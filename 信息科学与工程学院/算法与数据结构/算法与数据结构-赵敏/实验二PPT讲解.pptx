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261" r:id="rId5"/>
    <p:sldId id="376" r:id="rId6"/>
    <p:sldId id="375" r:id="rId7"/>
    <p:sldId id="258" r:id="rId8"/>
    <p:sldId id="377" r:id="rId9"/>
    <p:sldId id="387" r:id="rId10"/>
    <p:sldId id="388" r:id="rId11"/>
    <p:sldId id="391" r:id="rId12"/>
    <p:sldId id="393" r:id="rId13"/>
    <p:sldId id="394" r:id="rId14"/>
    <p:sldId id="396" r:id="rId15"/>
    <p:sldId id="259" r:id="rId16"/>
    <p:sldId id="382" r:id="rId17"/>
    <p:sldId id="383" r:id="rId18"/>
    <p:sldId id="384" r:id="rId19"/>
    <p:sldId id="385" r:id="rId20"/>
    <p:sldId id="397" r:id="rId21"/>
    <p:sldId id="398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题" id="{6379f393-68fa-486a-8682-5bad1b016eca}">
          <p14:sldIdLst>
            <p14:sldId id="260"/>
            <p14:sldId id="261"/>
            <p14:sldId id="376"/>
            <p14:sldId id="375"/>
          </p14:sldIdLst>
        </p14:section>
        <p14:section name="第二题" id="{c0cea433-0263-46d2-918c-72597f775a6c}">
          <p14:sldIdLst>
            <p14:sldId id="377"/>
            <p14:sldId id="387"/>
            <p14:sldId id="388"/>
            <p14:sldId id="391"/>
            <p14:sldId id="393"/>
            <p14:sldId id="394"/>
            <p14:sldId id="396"/>
            <p14:sldId id="258"/>
          </p14:sldIdLst>
        </p14:section>
        <p14:section name="第三题" id="{6c4517f4-13b4-4fe1-b743-ce450e9333ab}">
          <p14:sldIdLst>
            <p14:sldId id="259"/>
            <p14:sldId id="382"/>
            <p14:sldId id="383"/>
            <p14:sldId id="384"/>
            <p14:sldId id="385"/>
            <p14:sldId id="397"/>
            <p14:sldId id="39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374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tags" Target="../tags/tag40.xml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80.xml"/><Relationship Id="rId20" Type="http://schemas.openxmlformats.org/officeDocument/2006/relationships/tags" Target="../tags/tag79.xml"/><Relationship Id="rId2" Type="http://schemas.openxmlformats.org/officeDocument/2006/relationships/tags" Target="../tags/tag61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tags" Target="../tags/tag6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101.xml"/><Relationship Id="rId20" Type="http://schemas.openxmlformats.org/officeDocument/2006/relationships/tags" Target="../tags/tag100.xml"/><Relationship Id="rId2" Type="http://schemas.openxmlformats.org/officeDocument/2006/relationships/tags" Target="../tags/tag82.xml"/><Relationship Id="rId19" Type="http://schemas.openxmlformats.org/officeDocument/2006/relationships/tags" Target="../tags/tag99.xml"/><Relationship Id="rId18" Type="http://schemas.openxmlformats.org/officeDocument/2006/relationships/tags" Target="../tags/tag98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122.xml"/><Relationship Id="rId20" Type="http://schemas.openxmlformats.org/officeDocument/2006/relationships/tags" Target="../tags/tag121.xml"/><Relationship Id="rId2" Type="http://schemas.openxmlformats.org/officeDocument/2006/relationships/tags" Target="../tags/tag103.xml"/><Relationship Id="rId19" Type="http://schemas.openxmlformats.org/officeDocument/2006/relationships/tags" Target="../tags/tag120.xml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tags" Target="../tags/tag10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144.xml"/><Relationship Id="rId21" Type="http://schemas.openxmlformats.org/officeDocument/2006/relationships/tags" Target="../tags/tag143.xml"/><Relationship Id="rId20" Type="http://schemas.openxmlformats.org/officeDocument/2006/relationships/tags" Target="../tags/tag142.xml"/><Relationship Id="rId2" Type="http://schemas.openxmlformats.org/officeDocument/2006/relationships/tags" Target="../tags/tag124.xml"/><Relationship Id="rId19" Type="http://schemas.openxmlformats.org/officeDocument/2006/relationships/tags" Target="../tags/tag141.xml"/><Relationship Id="rId18" Type="http://schemas.openxmlformats.org/officeDocument/2006/relationships/tags" Target="../tags/tag140.xml"/><Relationship Id="rId17" Type="http://schemas.openxmlformats.org/officeDocument/2006/relationships/tags" Target="../tags/tag139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tags" Target="../tags/tag12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68.xml"/><Relationship Id="rId23" Type="http://schemas.openxmlformats.org/officeDocument/2006/relationships/tags" Target="../tags/tag167.xml"/><Relationship Id="rId22" Type="http://schemas.openxmlformats.org/officeDocument/2006/relationships/tags" Target="../tags/tag166.xml"/><Relationship Id="rId21" Type="http://schemas.openxmlformats.org/officeDocument/2006/relationships/tags" Target="../tags/tag165.xml"/><Relationship Id="rId20" Type="http://schemas.openxmlformats.org/officeDocument/2006/relationships/tags" Target="../tags/tag164.xml"/><Relationship Id="rId2" Type="http://schemas.openxmlformats.org/officeDocument/2006/relationships/tags" Target="../tags/tag146.xml"/><Relationship Id="rId19" Type="http://schemas.openxmlformats.org/officeDocument/2006/relationships/tags" Target="../tags/tag163.xml"/><Relationship Id="rId18" Type="http://schemas.openxmlformats.org/officeDocument/2006/relationships/tags" Target="../tags/tag162.xml"/><Relationship Id="rId17" Type="http://schemas.openxmlformats.org/officeDocument/2006/relationships/tags" Target="../tags/tag161.xml"/><Relationship Id="rId16" Type="http://schemas.openxmlformats.org/officeDocument/2006/relationships/tags" Target="../tags/tag160.xml"/><Relationship Id="rId15" Type="http://schemas.openxmlformats.org/officeDocument/2006/relationships/tags" Target="../tags/tag159.xml"/><Relationship Id="rId14" Type="http://schemas.openxmlformats.org/officeDocument/2006/relationships/tags" Target="../tags/tag158.xml"/><Relationship Id="rId13" Type="http://schemas.openxmlformats.org/officeDocument/2006/relationships/tags" Target="../tags/tag157.xml"/><Relationship Id="rId12" Type="http://schemas.openxmlformats.org/officeDocument/2006/relationships/tags" Target="../tags/tag156.xml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tags" Target="../tags/tag14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190.xml"/><Relationship Id="rId21" Type="http://schemas.openxmlformats.org/officeDocument/2006/relationships/tags" Target="../tags/tag189.xml"/><Relationship Id="rId20" Type="http://schemas.openxmlformats.org/officeDocument/2006/relationships/tags" Target="../tags/tag188.xml"/><Relationship Id="rId2" Type="http://schemas.openxmlformats.org/officeDocument/2006/relationships/tags" Target="../tags/tag170.xml"/><Relationship Id="rId19" Type="http://schemas.openxmlformats.org/officeDocument/2006/relationships/tags" Target="../tags/tag187.xml"/><Relationship Id="rId18" Type="http://schemas.openxmlformats.org/officeDocument/2006/relationships/tags" Target="../tags/tag186.xml"/><Relationship Id="rId17" Type="http://schemas.openxmlformats.org/officeDocument/2006/relationships/tags" Target="../tags/tag185.xml"/><Relationship Id="rId16" Type="http://schemas.openxmlformats.org/officeDocument/2006/relationships/tags" Target="../tags/tag184.xml"/><Relationship Id="rId15" Type="http://schemas.openxmlformats.org/officeDocument/2006/relationships/tags" Target="../tags/tag183.xml"/><Relationship Id="rId14" Type="http://schemas.openxmlformats.org/officeDocument/2006/relationships/tags" Target="../tags/tag182.xml"/><Relationship Id="rId13" Type="http://schemas.openxmlformats.org/officeDocument/2006/relationships/tags" Target="../tags/tag181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tags" Target="../tags/tag16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13.xml"/><Relationship Id="rId22" Type="http://schemas.openxmlformats.org/officeDocument/2006/relationships/tags" Target="../tags/tag212.xml"/><Relationship Id="rId21" Type="http://schemas.openxmlformats.org/officeDocument/2006/relationships/tags" Target="../tags/tag211.xml"/><Relationship Id="rId20" Type="http://schemas.openxmlformats.org/officeDocument/2006/relationships/tags" Target="../tags/tag210.xml"/><Relationship Id="rId2" Type="http://schemas.openxmlformats.org/officeDocument/2006/relationships/tags" Target="../tags/tag192.xml"/><Relationship Id="rId19" Type="http://schemas.openxmlformats.org/officeDocument/2006/relationships/tags" Target="../tags/tag209.xml"/><Relationship Id="rId18" Type="http://schemas.openxmlformats.org/officeDocument/2006/relationships/tags" Target="../tags/tag208.xml"/><Relationship Id="rId17" Type="http://schemas.openxmlformats.org/officeDocument/2006/relationships/tags" Target="../tags/tag207.xml"/><Relationship Id="rId16" Type="http://schemas.openxmlformats.org/officeDocument/2006/relationships/tags" Target="../tags/tag206.xml"/><Relationship Id="rId15" Type="http://schemas.openxmlformats.org/officeDocument/2006/relationships/tags" Target="../tags/tag205.xml"/><Relationship Id="rId14" Type="http://schemas.openxmlformats.org/officeDocument/2006/relationships/tags" Target="../tags/tag204.xml"/><Relationship Id="rId13" Type="http://schemas.openxmlformats.org/officeDocument/2006/relationships/tags" Target="../tags/tag203.xml"/><Relationship Id="rId12" Type="http://schemas.openxmlformats.org/officeDocument/2006/relationships/tags" Target="../tags/tag202.xml"/><Relationship Id="rId11" Type="http://schemas.openxmlformats.org/officeDocument/2006/relationships/tags" Target="../tags/tag201.xml"/><Relationship Id="rId10" Type="http://schemas.openxmlformats.org/officeDocument/2006/relationships/tags" Target="../tags/tag200.xml"/><Relationship Id="rId1" Type="http://schemas.openxmlformats.org/officeDocument/2006/relationships/tags" Target="../tags/tag19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235.xml"/><Relationship Id="rId21" Type="http://schemas.openxmlformats.org/officeDocument/2006/relationships/tags" Target="../tags/tag234.xml"/><Relationship Id="rId20" Type="http://schemas.openxmlformats.org/officeDocument/2006/relationships/tags" Target="../tags/tag233.xml"/><Relationship Id="rId2" Type="http://schemas.openxmlformats.org/officeDocument/2006/relationships/tags" Target="../tags/tag215.xml"/><Relationship Id="rId19" Type="http://schemas.openxmlformats.org/officeDocument/2006/relationships/tags" Target="../tags/tag232.xml"/><Relationship Id="rId18" Type="http://schemas.openxmlformats.org/officeDocument/2006/relationships/tags" Target="../tags/tag231.xml"/><Relationship Id="rId17" Type="http://schemas.openxmlformats.org/officeDocument/2006/relationships/tags" Target="../tags/tag230.xml"/><Relationship Id="rId16" Type="http://schemas.openxmlformats.org/officeDocument/2006/relationships/tags" Target="../tags/tag229.xml"/><Relationship Id="rId15" Type="http://schemas.openxmlformats.org/officeDocument/2006/relationships/tags" Target="../tags/tag228.xml"/><Relationship Id="rId14" Type="http://schemas.openxmlformats.org/officeDocument/2006/relationships/tags" Target="../tags/tag227.xml"/><Relationship Id="rId13" Type="http://schemas.openxmlformats.org/officeDocument/2006/relationships/tags" Target="../tags/tag226.xml"/><Relationship Id="rId12" Type="http://schemas.openxmlformats.org/officeDocument/2006/relationships/tags" Target="../tags/tag225.xml"/><Relationship Id="rId11" Type="http://schemas.openxmlformats.org/officeDocument/2006/relationships/tags" Target="../tags/tag224.xml"/><Relationship Id="rId10" Type="http://schemas.openxmlformats.org/officeDocument/2006/relationships/tags" Target="../tags/tag223.xml"/><Relationship Id="rId1" Type="http://schemas.openxmlformats.org/officeDocument/2006/relationships/tags" Target="../tags/tag21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44.xml"/><Relationship Id="rId8" Type="http://schemas.openxmlformats.org/officeDocument/2006/relationships/tags" Target="../tags/tag243.xml"/><Relationship Id="rId7" Type="http://schemas.openxmlformats.org/officeDocument/2006/relationships/tags" Target="../tags/tag242.xml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58.xml"/><Relationship Id="rId22" Type="http://schemas.openxmlformats.org/officeDocument/2006/relationships/tags" Target="../tags/tag257.xml"/><Relationship Id="rId21" Type="http://schemas.openxmlformats.org/officeDocument/2006/relationships/tags" Target="../tags/tag256.xml"/><Relationship Id="rId20" Type="http://schemas.openxmlformats.org/officeDocument/2006/relationships/tags" Target="../tags/tag255.xml"/><Relationship Id="rId2" Type="http://schemas.openxmlformats.org/officeDocument/2006/relationships/tags" Target="../tags/tag237.xml"/><Relationship Id="rId19" Type="http://schemas.openxmlformats.org/officeDocument/2006/relationships/tags" Target="../tags/tag254.xml"/><Relationship Id="rId18" Type="http://schemas.openxmlformats.org/officeDocument/2006/relationships/tags" Target="../tags/tag253.xml"/><Relationship Id="rId17" Type="http://schemas.openxmlformats.org/officeDocument/2006/relationships/tags" Target="../tags/tag252.xml"/><Relationship Id="rId16" Type="http://schemas.openxmlformats.org/officeDocument/2006/relationships/tags" Target="../tags/tag251.xml"/><Relationship Id="rId15" Type="http://schemas.openxmlformats.org/officeDocument/2006/relationships/tags" Target="../tags/tag250.xml"/><Relationship Id="rId14" Type="http://schemas.openxmlformats.org/officeDocument/2006/relationships/tags" Target="../tags/tag249.xml"/><Relationship Id="rId13" Type="http://schemas.openxmlformats.org/officeDocument/2006/relationships/tags" Target="../tags/tag248.xml"/><Relationship Id="rId12" Type="http://schemas.openxmlformats.org/officeDocument/2006/relationships/tags" Target="../tags/tag247.xml"/><Relationship Id="rId11" Type="http://schemas.openxmlformats.org/officeDocument/2006/relationships/tags" Target="../tags/tag246.xml"/><Relationship Id="rId10" Type="http://schemas.openxmlformats.org/officeDocument/2006/relationships/tags" Target="../tags/tag245.xml"/><Relationship Id="rId1" Type="http://schemas.openxmlformats.org/officeDocument/2006/relationships/tags" Target="../tags/tag23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81.xml"/><Relationship Id="rId22" Type="http://schemas.openxmlformats.org/officeDocument/2006/relationships/tags" Target="../tags/tag280.xml"/><Relationship Id="rId21" Type="http://schemas.openxmlformats.org/officeDocument/2006/relationships/tags" Target="../tags/tag279.xml"/><Relationship Id="rId20" Type="http://schemas.openxmlformats.org/officeDocument/2006/relationships/tags" Target="../tags/tag278.xml"/><Relationship Id="rId2" Type="http://schemas.openxmlformats.org/officeDocument/2006/relationships/tags" Target="../tags/tag260.xml"/><Relationship Id="rId19" Type="http://schemas.openxmlformats.org/officeDocument/2006/relationships/tags" Target="../tags/tag277.xml"/><Relationship Id="rId18" Type="http://schemas.openxmlformats.org/officeDocument/2006/relationships/tags" Target="../tags/tag276.xml"/><Relationship Id="rId17" Type="http://schemas.openxmlformats.org/officeDocument/2006/relationships/tags" Target="../tags/tag275.xml"/><Relationship Id="rId16" Type="http://schemas.openxmlformats.org/officeDocument/2006/relationships/tags" Target="../tags/tag274.xml"/><Relationship Id="rId15" Type="http://schemas.openxmlformats.org/officeDocument/2006/relationships/tags" Target="../tags/tag273.xml"/><Relationship Id="rId14" Type="http://schemas.openxmlformats.org/officeDocument/2006/relationships/tags" Target="../tags/tag272.xml"/><Relationship Id="rId13" Type="http://schemas.openxmlformats.org/officeDocument/2006/relationships/tags" Target="../tags/tag271.xml"/><Relationship Id="rId12" Type="http://schemas.openxmlformats.org/officeDocument/2006/relationships/tags" Target="../tags/tag270.xml"/><Relationship Id="rId11" Type="http://schemas.openxmlformats.org/officeDocument/2006/relationships/tags" Target="../tags/tag269.xml"/><Relationship Id="rId10" Type="http://schemas.openxmlformats.org/officeDocument/2006/relationships/tags" Target="../tags/tag268.xml"/><Relationship Id="rId1" Type="http://schemas.openxmlformats.org/officeDocument/2006/relationships/tags" Target="../tags/tag25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90.xml"/><Relationship Id="rId8" Type="http://schemas.openxmlformats.org/officeDocument/2006/relationships/tags" Target="../tags/tag289.xml"/><Relationship Id="rId7" Type="http://schemas.openxmlformats.org/officeDocument/2006/relationships/tags" Target="../tags/tag288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304.xml"/><Relationship Id="rId22" Type="http://schemas.openxmlformats.org/officeDocument/2006/relationships/tags" Target="../tags/tag303.xml"/><Relationship Id="rId21" Type="http://schemas.openxmlformats.org/officeDocument/2006/relationships/tags" Target="../tags/tag302.xml"/><Relationship Id="rId20" Type="http://schemas.openxmlformats.org/officeDocument/2006/relationships/tags" Target="../tags/tag301.xml"/><Relationship Id="rId2" Type="http://schemas.openxmlformats.org/officeDocument/2006/relationships/tags" Target="../tags/tag283.xml"/><Relationship Id="rId19" Type="http://schemas.openxmlformats.org/officeDocument/2006/relationships/tags" Target="../tags/tag300.xml"/><Relationship Id="rId18" Type="http://schemas.openxmlformats.org/officeDocument/2006/relationships/tags" Target="../tags/tag299.xml"/><Relationship Id="rId17" Type="http://schemas.openxmlformats.org/officeDocument/2006/relationships/tags" Target="../tags/tag298.xml"/><Relationship Id="rId16" Type="http://schemas.openxmlformats.org/officeDocument/2006/relationships/tags" Target="../tags/tag297.xml"/><Relationship Id="rId15" Type="http://schemas.openxmlformats.org/officeDocument/2006/relationships/tags" Target="../tags/tag296.xml"/><Relationship Id="rId14" Type="http://schemas.openxmlformats.org/officeDocument/2006/relationships/tags" Target="../tags/tag295.xml"/><Relationship Id="rId13" Type="http://schemas.openxmlformats.org/officeDocument/2006/relationships/tags" Target="../tags/tag294.xml"/><Relationship Id="rId12" Type="http://schemas.openxmlformats.org/officeDocument/2006/relationships/tags" Target="../tags/tag293.xml"/><Relationship Id="rId11" Type="http://schemas.openxmlformats.org/officeDocument/2006/relationships/tags" Target="../tags/tag292.xml"/><Relationship Id="rId10" Type="http://schemas.openxmlformats.org/officeDocument/2006/relationships/tags" Target="../tags/tag291.xml"/><Relationship Id="rId1" Type="http://schemas.openxmlformats.org/officeDocument/2006/relationships/tags" Target="../tags/tag28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13.xml"/><Relationship Id="rId8" Type="http://schemas.openxmlformats.org/officeDocument/2006/relationships/tags" Target="../tags/tag312.xml"/><Relationship Id="rId7" Type="http://schemas.openxmlformats.org/officeDocument/2006/relationships/tags" Target="../tags/tag311.xml"/><Relationship Id="rId6" Type="http://schemas.openxmlformats.org/officeDocument/2006/relationships/tags" Target="../tags/tag310.xml"/><Relationship Id="rId5" Type="http://schemas.openxmlformats.org/officeDocument/2006/relationships/tags" Target="../tags/tag309.xml"/><Relationship Id="rId4" Type="http://schemas.openxmlformats.org/officeDocument/2006/relationships/tags" Target="../tags/tag308.xml"/><Relationship Id="rId3" Type="http://schemas.openxmlformats.org/officeDocument/2006/relationships/tags" Target="../tags/tag307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327.xml"/><Relationship Id="rId22" Type="http://schemas.openxmlformats.org/officeDocument/2006/relationships/tags" Target="../tags/tag326.xml"/><Relationship Id="rId21" Type="http://schemas.openxmlformats.org/officeDocument/2006/relationships/tags" Target="../tags/tag325.xml"/><Relationship Id="rId20" Type="http://schemas.openxmlformats.org/officeDocument/2006/relationships/tags" Target="../tags/tag324.xml"/><Relationship Id="rId2" Type="http://schemas.openxmlformats.org/officeDocument/2006/relationships/tags" Target="../tags/tag306.xml"/><Relationship Id="rId19" Type="http://schemas.openxmlformats.org/officeDocument/2006/relationships/tags" Target="../tags/tag323.xml"/><Relationship Id="rId18" Type="http://schemas.openxmlformats.org/officeDocument/2006/relationships/tags" Target="../tags/tag322.xml"/><Relationship Id="rId17" Type="http://schemas.openxmlformats.org/officeDocument/2006/relationships/tags" Target="../tags/tag321.xml"/><Relationship Id="rId16" Type="http://schemas.openxmlformats.org/officeDocument/2006/relationships/tags" Target="../tags/tag320.xml"/><Relationship Id="rId15" Type="http://schemas.openxmlformats.org/officeDocument/2006/relationships/tags" Target="../tags/tag319.xml"/><Relationship Id="rId14" Type="http://schemas.openxmlformats.org/officeDocument/2006/relationships/tags" Target="../tags/tag318.xml"/><Relationship Id="rId13" Type="http://schemas.openxmlformats.org/officeDocument/2006/relationships/tags" Target="../tags/tag317.xml"/><Relationship Id="rId12" Type="http://schemas.openxmlformats.org/officeDocument/2006/relationships/tags" Target="../tags/tag316.xml"/><Relationship Id="rId11" Type="http://schemas.openxmlformats.org/officeDocument/2006/relationships/tags" Target="../tags/tag315.xml"/><Relationship Id="rId10" Type="http://schemas.openxmlformats.org/officeDocument/2006/relationships/tags" Target="../tags/tag314.xml"/><Relationship Id="rId1" Type="http://schemas.openxmlformats.org/officeDocument/2006/relationships/tags" Target="../tags/tag30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36.xml"/><Relationship Id="rId8" Type="http://schemas.openxmlformats.org/officeDocument/2006/relationships/tags" Target="../tags/tag335.xml"/><Relationship Id="rId7" Type="http://schemas.openxmlformats.org/officeDocument/2006/relationships/tags" Target="../tags/tag334.xml"/><Relationship Id="rId6" Type="http://schemas.openxmlformats.org/officeDocument/2006/relationships/tags" Target="../tags/tag333.xml"/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350.xml"/><Relationship Id="rId22" Type="http://schemas.openxmlformats.org/officeDocument/2006/relationships/tags" Target="../tags/tag349.xml"/><Relationship Id="rId21" Type="http://schemas.openxmlformats.org/officeDocument/2006/relationships/tags" Target="../tags/tag348.xml"/><Relationship Id="rId20" Type="http://schemas.openxmlformats.org/officeDocument/2006/relationships/tags" Target="../tags/tag347.xml"/><Relationship Id="rId2" Type="http://schemas.openxmlformats.org/officeDocument/2006/relationships/tags" Target="../tags/tag329.xml"/><Relationship Id="rId19" Type="http://schemas.openxmlformats.org/officeDocument/2006/relationships/tags" Target="../tags/tag346.xml"/><Relationship Id="rId18" Type="http://schemas.openxmlformats.org/officeDocument/2006/relationships/tags" Target="../tags/tag345.xml"/><Relationship Id="rId17" Type="http://schemas.openxmlformats.org/officeDocument/2006/relationships/tags" Target="../tags/tag344.xml"/><Relationship Id="rId16" Type="http://schemas.openxmlformats.org/officeDocument/2006/relationships/tags" Target="../tags/tag343.xml"/><Relationship Id="rId15" Type="http://schemas.openxmlformats.org/officeDocument/2006/relationships/tags" Target="../tags/tag342.xml"/><Relationship Id="rId14" Type="http://schemas.openxmlformats.org/officeDocument/2006/relationships/tags" Target="../tags/tag341.xml"/><Relationship Id="rId13" Type="http://schemas.openxmlformats.org/officeDocument/2006/relationships/tags" Target="../tags/tag340.xml"/><Relationship Id="rId12" Type="http://schemas.openxmlformats.org/officeDocument/2006/relationships/tags" Target="../tags/tag339.xml"/><Relationship Id="rId11" Type="http://schemas.openxmlformats.org/officeDocument/2006/relationships/tags" Target="../tags/tag338.xml"/><Relationship Id="rId10" Type="http://schemas.openxmlformats.org/officeDocument/2006/relationships/tags" Target="../tags/tag337.xml"/><Relationship Id="rId1" Type="http://schemas.openxmlformats.org/officeDocument/2006/relationships/tags" Target="../tags/tag32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59.xml"/><Relationship Id="rId8" Type="http://schemas.openxmlformats.org/officeDocument/2006/relationships/tags" Target="../tags/tag358.xml"/><Relationship Id="rId7" Type="http://schemas.openxmlformats.org/officeDocument/2006/relationships/tags" Target="../tags/tag357.xml"/><Relationship Id="rId6" Type="http://schemas.openxmlformats.org/officeDocument/2006/relationships/tags" Target="../tags/tag356.xml"/><Relationship Id="rId5" Type="http://schemas.openxmlformats.org/officeDocument/2006/relationships/tags" Target="../tags/tag355.xml"/><Relationship Id="rId4" Type="http://schemas.openxmlformats.org/officeDocument/2006/relationships/tags" Target="../tags/tag354.xml"/><Relationship Id="rId3" Type="http://schemas.openxmlformats.org/officeDocument/2006/relationships/tags" Target="../tags/tag353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373.xml"/><Relationship Id="rId22" Type="http://schemas.openxmlformats.org/officeDocument/2006/relationships/tags" Target="../tags/tag372.xml"/><Relationship Id="rId21" Type="http://schemas.openxmlformats.org/officeDocument/2006/relationships/tags" Target="../tags/tag371.xml"/><Relationship Id="rId20" Type="http://schemas.openxmlformats.org/officeDocument/2006/relationships/tags" Target="../tags/tag370.xml"/><Relationship Id="rId2" Type="http://schemas.openxmlformats.org/officeDocument/2006/relationships/tags" Target="../tags/tag352.xml"/><Relationship Id="rId19" Type="http://schemas.openxmlformats.org/officeDocument/2006/relationships/tags" Target="../tags/tag369.xml"/><Relationship Id="rId18" Type="http://schemas.openxmlformats.org/officeDocument/2006/relationships/tags" Target="../tags/tag368.xml"/><Relationship Id="rId17" Type="http://schemas.openxmlformats.org/officeDocument/2006/relationships/tags" Target="../tags/tag367.xml"/><Relationship Id="rId16" Type="http://schemas.openxmlformats.org/officeDocument/2006/relationships/tags" Target="../tags/tag366.xml"/><Relationship Id="rId15" Type="http://schemas.openxmlformats.org/officeDocument/2006/relationships/tags" Target="../tags/tag365.xml"/><Relationship Id="rId14" Type="http://schemas.openxmlformats.org/officeDocument/2006/relationships/tags" Target="../tags/tag364.xml"/><Relationship Id="rId13" Type="http://schemas.openxmlformats.org/officeDocument/2006/relationships/tags" Target="../tags/tag363.xml"/><Relationship Id="rId12" Type="http://schemas.openxmlformats.org/officeDocument/2006/relationships/tags" Target="../tags/tag362.xml"/><Relationship Id="rId11" Type="http://schemas.openxmlformats.org/officeDocument/2006/relationships/tags" Target="../tags/tag361.xml"/><Relationship Id="rId10" Type="http://schemas.openxmlformats.org/officeDocument/2006/relationships/tags" Target="../tags/tag360.xml"/><Relationship Id="rId1" Type="http://schemas.openxmlformats.org/officeDocument/2006/relationships/tags" Target="../tags/tag3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75030" y="553085"/>
            <a:ext cx="10178415" cy="1308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编写程序，根据给定的一棵二叉树的</a:t>
            </a:r>
            <a:r>
              <a:rPr lang="zh-CN" altLang="en-US" sz="2400" b="1">
                <a:solidFill>
                  <a:schemeClr val="tx2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后序遍历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zh-CN" altLang="en-US" sz="2400" b="1">
                <a:solidFill>
                  <a:schemeClr val="tx2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中序遍历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结果：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（1）输出该二叉树的</a:t>
            </a:r>
            <a:r>
              <a:rPr lang="zh-CN" altLang="en-US" sz="2400" b="1">
                <a:solidFill>
                  <a:schemeClr val="tx2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前序遍历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结果；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（2）判断给定的二叉树是否是</a:t>
            </a:r>
            <a:r>
              <a:rPr lang="zh-CN" altLang="en-US" sz="2400" b="1">
                <a:solidFill>
                  <a:schemeClr val="tx2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二叉搜索树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454785" y="337185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>
            <p:custDataLst>
              <p:tags r:id="rId1"/>
            </p:custDataLst>
          </p:nvPr>
        </p:nvSpPr>
        <p:spPr>
          <a:xfrm rot="19740000">
            <a:off x="1041400" y="404939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>
            <p:custDataLst>
              <p:tags r:id="rId2"/>
            </p:custDataLst>
          </p:nvPr>
        </p:nvSpPr>
        <p:spPr>
          <a:xfrm rot="1200000">
            <a:off x="1913255" y="404939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>
            <a:endCxn id="13" idx="7"/>
          </p:cNvCxnSpPr>
          <p:nvPr/>
        </p:nvCxnSpPr>
        <p:spPr>
          <a:xfrm flipH="1">
            <a:off x="1286510" y="3714115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12" idx="5"/>
            <a:endCxn id="14" idx="1"/>
          </p:cNvCxnSpPr>
          <p:nvPr/>
        </p:nvCxnSpPr>
        <p:spPr>
          <a:xfrm>
            <a:off x="1793240" y="371411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椭圆 17"/>
          <p:cNvSpPr/>
          <p:nvPr>
            <p:custDataLst>
              <p:tags r:id="rId3"/>
            </p:custDataLst>
          </p:nvPr>
        </p:nvSpPr>
        <p:spPr>
          <a:xfrm rot="19740000">
            <a:off x="622300" y="472440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4"/>
            </p:custDataLst>
          </p:nvPr>
        </p:nvSpPr>
        <p:spPr>
          <a:xfrm rot="1200000">
            <a:off x="1494155" y="472440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18" idx="7"/>
          </p:cNvCxnSpPr>
          <p:nvPr>
            <p:custDataLst>
              <p:tags r:id="rId5"/>
            </p:custDataLst>
          </p:nvPr>
        </p:nvCxnSpPr>
        <p:spPr>
          <a:xfrm flipH="1">
            <a:off x="867410" y="4388485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19" idx="1"/>
          </p:cNvCxnSpPr>
          <p:nvPr>
            <p:custDataLst>
              <p:tags r:id="rId6"/>
            </p:custDataLst>
          </p:nvPr>
        </p:nvCxnSpPr>
        <p:spPr>
          <a:xfrm>
            <a:off x="1374140" y="438912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7"/>
            </p:custDataLst>
          </p:nvPr>
        </p:nvSpPr>
        <p:spPr>
          <a:xfrm rot="1200000">
            <a:off x="2347595" y="474281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8"/>
            </p:custDataLst>
          </p:nvPr>
        </p:nvCxnSpPr>
        <p:spPr>
          <a:xfrm>
            <a:off x="2227580" y="440753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1451610" y="340423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18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9"/>
            </p:custDataLst>
          </p:nvPr>
        </p:nvSpPr>
        <p:spPr>
          <a:xfrm>
            <a:off x="1017270" y="406844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10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0"/>
            </p:custDataLst>
          </p:nvPr>
        </p:nvSpPr>
        <p:spPr>
          <a:xfrm>
            <a:off x="1889760" y="406844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20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1"/>
            </p:custDataLst>
          </p:nvPr>
        </p:nvSpPr>
        <p:spPr>
          <a:xfrm>
            <a:off x="598170" y="474916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7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2"/>
            </p:custDataLst>
          </p:nvPr>
        </p:nvSpPr>
        <p:spPr>
          <a:xfrm>
            <a:off x="1532890" y="47586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5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3"/>
            </p:custDataLst>
          </p:nvPr>
        </p:nvSpPr>
        <p:spPr>
          <a:xfrm>
            <a:off x="2305050" y="474345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22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449320" y="2449830"/>
            <a:ext cx="28492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后序遍历：</a:t>
            </a:r>
            <a:r>
              <a:rPr lang="zh-CN" altLang="en-US"/>
              <a:t>左右</a:t>
            </a:r>
            <a:r>
              <a:rPr lang="zh-CN" altLang="en-US"/>
              <a:t>根</a:t>
            </a:r>
            <a:endParaRPr lang="zh-CN" altLang="en-US"/>
          </a:p>
          <a:p>
            <a:r>
              <a:rPr lang="zh-CN" altLang="en-US">
                <a:solidFill>
                  <a:schemeClr val="accent1"/>
                </a:solidFill>
              </a:rPr>
              <a:t>中序遍历：</a:t>
            </a:r>
            <a:r>
              <a:rPr lang="zh-CN" altLang="en-US"/>
              <a:t>左根</a:t>
            </a:r>
            <a:r>
              <a:rPr lang="zh-CN" altLang="en-US"/>
              <a:t>右</a:t>
            </a:r>
            <a:endParaRPr lang="zh-CN" altLang="en-US"/>
          </a:p>
          <a:p>
            <a:r>
              <a:rPr lang="zh-CN" altLang="en-US">
                <a:solidFill>
                  <a:schemeClr val="accent1"/>
                </a:solidFill>
              </a:rPr>
              <a:t>前序遍历：</a:t>
            </a:r>
            <a:r>
              <a:rPr lang="zh-CN" altLang="en-US"/>
              <a:t>根</a:t>
            </a:r>
            <a:r>
              <a:rPr lang="zh-CN" altLang="en-US"/>
              <a:t>左右</a:t>
            </a:r>
            <a:endParaRPr lang="zh-CN" altLang="en-US"/>
          </a:p>
        </p:txBody>
      </p:sp>
      <p:sp>
        <p:nvSpPr>
          <p:cNvPr id="70" name="文本框 69"/>
          <p:cNvSpPr txBox="1"/>
          <p:nvPr>
            <p:custDataLst>
              <p:tags r:id="rId14"/>
            </p:custDataLst>
          </p:nvPr>
        </p:nvSpPr>
        <p:spPr>
          <a:xfrm>
            <a:off x="3486785" y="3728720"/>
            <a:ext cx="33623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后序遍历：</a:t>
            </a:r>
            <a:r>
              <a:rPr lang="en-US" altLang="zh-CN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7    5  10  22  20  18</a:t>
            </a:r>
            <a:endParaRPr lang="zh-CN" altLang="en-US">
              <a:solidFill>
                <a:schemeClr val="accent1"/>
              </a:solidFill>
            </a:endParaRPr>
          </a:p>
          <a:p>
            <a:r>
              <a:rPr lang="zh-CN" altLang="en-US">
                <a:solidFill>
                  <a:schemeClr val="accent1"/>
                </a:solidFill>
              </a:rPr>
              <a:t>中序遍历：</a:t>
            </a:r>
            <a:r>
              <a:rPr lang="en-US" altLang="zh-CN">
                <a:solidFill>
                  <a:schemeClr val="accent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7 </a:t>
            </a:r>
            <a:r>
              <a:rPr lang="en-US" altLang="zh-CN">
                <a:solidFill>
                  <a:schemeClr val="tx1"/>
                </a:solidFill>
              </a:rPr>
              <a:t>  10  5   18  20  22</a:t>
            </a:r>
            <a:endParaRPr lang="zh-CN" altLang="en-US"/>
          </a:p>
          <a:p>
            <a:r>
              <a:rPr lang="zh-CN" altLang="en-US">
                <a:solidFill>
                  <a:schemeClr val="accent1"/>
                </a:solidFill>
              </a:rPr>
              <a:t>前序遍历：</a:t>
            </a:r>
            <a:r>
              <a:rPr lang="en-US" altLang="zh-CN">
                <a:solidFill>
                  <a:schemeClr val="tx1"/>
                </a:solidFill>
              </a:rPr>
              <a:t>18  10  7    5   20  22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3496310" y="5111750"/>
            <a:ext cx="7800975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>
                <a:solidFill>
                  <a:srgbClr val="0070C0"/>
                </a:solidFill>
                <a:sym typeface="+mn-ea"/>
              </a:rPr>
              <a:t>二叉搜索树：</a:t>
            </a:r>
            <a:endParaRPr lang="zh-CN" altLang="en-US">
              <a:solidFill>
                <a:srgbClr val="0070C0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1. 非空左子树的所有键值小于其根结点的键值。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2. 非空右子树的所有键值大于其根结点的键值。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3. 左、右子树都是二叉搜索树。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023225" y="1748790"/>
            <a:ext cx="3784600" cy="2687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0070C0"/>
                </a:solidFill>
              </a:rPr>
              <a:t>程序</a:t>
            </a:r>
            <a:r>
              <a:rPr lang="zh-CN" altLang="en-US">
                <a:solidFill>
                  <a:srgbClr val="0070C0"/>
                </a:solidFill>
              </a:rPr>
              <a:t>流程</a:t>
            </a:r>
            <a:endParaRPr lang="zh-CN" altLang="en-US">
              <a:solidFill>
                <a:srgbClr val="0070C0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①读入后序遍历和</a:t>
            </a:r>
            <a:r>
              <a:rPr lang="zh-CN" altLang="en-US">
                <a:solidFill>
                  <a:schemeClr val="tx1"/>
                </a:solidFill>
              </a:rPr>
              <a:t>中序遍历的结果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②基于</a:t>
            </a:r>
            <a:r>
              <a:rPr lang="zh-CN" altLang="en-US">
                <a:solidFill>
                  <a:schemeClr val="tx1"/>
                </a:solidFill>
              </a:rPr>
              <a:t>后序遍历和</a:t>
            </a:r>
            <a:r>
              <a:rPr lang="zh-CN" altLang="en-US">
                <a:solidFill>
                  <a:schemeClr val="tx1"/>
                </a:solidFill>
              </a:rPr>
              <a:t>中序遍历的结果</a:t>
            </a:r>
            <a:r>
              <a:rPr lang="zh-CN" altLang="en-US">
                <a:solidFill>
                  <a:schemeClr val="tx1"/>
                </a:solidFill>
              </a:rPr>
              <a:t>构造二叉树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③输出前序遍历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④判断是否为二叉搜索</a:t>
            </a:r>
            <a:r>
              <a:rPr lang="zh-CN" altLang="en-US">
                <a:solidFill>
                  <a:schemeClr val="tx1"/>
                </a:solidFill>
              </a:rPr>
              <a:t>树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52475" y="343535"/>
            <a:ext cx="1628140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0070C0"/>
                </a:solidFill>
                <a:sym typeface="+mn-ea"/>
              </a:rPr>
              <a:t>构造二叉树</a:t>
            </a:r>
            <a:endParaRPr lang="zh-CN" altLang="en-US" sz="2000" b="1">
              <a:solidFill>
                <a:srgbClr val="0070C0"/>
              </a:solidFill>
            </a:endParaRPr>
          </a:p>
          <a:p>
            <a:r>
              <a:rPr lang="en-US" altLang="zh-CN" sz="2000" b="1">
                <a:solidFill>
                  <a:srgbClr val="0070C0"/>
                </a:solidFill>
              </a:rPr>
              <a:t> </a:t>
            </a:r>
            <a:endParaRPr lang="en-US" altLang="zh-CN" sz="2000" b="1">
              <a:solidFill>
                <a:srgbClr val="0070C0"/>
              </a:solidFill>
            </a:endParaRPr>
          </a:p>
        </p:txBody>
      </p:sp>
      <p:sp>
        <p:nvSpPr>
          <p:cNvPr id="5" name="椭圆 4"/>
          <p:cNvSpPr/>
          <p:nvPr>
            <p:custDataLst>
              <p:tags r:id="rId2"/>
            </p:custDataLst>
          </p:nvPr>
        </p:nvSpPr>
        <p:spPr>
          <a:xfrm>
            <a:off x="2360930" y="105791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 rot="19740000">
            <a:off x="1947545" y="173545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>
            <p:custDataLst>
              <p:tags r:id="rId4"/>
            </p:custDataLst>
          </p:nvPr>
        </p:nvSpPr>
        <p:spPr>
          <a:xfrm rot="1200000">
            <a:off x="2819400" y="173545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endCxn id="6" idx="7"/>
          </p:cNvCxnSpPr>
          <p:nvPr>
            <p:custDataLst>
              <p:tags r:id="rId5"/>
            </p:custDataLst>
          </p:nvPr>
        </p:nvCxnSpPr>
        <p:spPr>
          <a:xfrm flipH="1">
            <a:off x="2192655" y="1400175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5" idx="5"/>
            <a:endCxn id="14" idx="1"/>
          </p:cNvCxnSpPr>
          <p:nvPr>
            <p:custDataLst>
              <p:tags r:id="rId6"/>
            </p:custDataLst>
          </p:nvPr>
        </p:nvCxnSpPr>
        <p:spPr>
          <a:xfrm>
            <a:off x="2699385" y="140017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椭圆 17"/>
          <p:cNvSpPr/>
          <p:nvPr>
            <p:custDataLst>
              <p:tags r:id="rId7"/>
            </p:custDataLst>
          </p:nvPr>
        </p:nvSpPr>
        <p:spPr>
          <a:xfrm rot="19740000">
            <a:off x="1528445" y="241046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8"/>
            </p:custDataLst>
          </p:nvPr>
        </p:nvSpPr>
        <p:spPr>
          <a:xfrm rot="1200000">
            <a:off x="2400300" y="241046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18" idx="7"/>
          </p:cNvCxnSpPr>
          <p:nvPr>
            <p:custDataLst>
              <p:tags r:id="rId9"/>
            </p:custDataLst>
          </p:nvPr>
        </p:nvCxnSpPr>
        <p:spPr>
          <a:xfrm flipH="1">
            <a:off x="1773555" y="2074545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19" idx="1"/>
          </p:cNvCxnSpPr>
          <p:nvPr>
            <p:custDataLst>
              <p:tags r:id="rId10"/>
            </p:custDataLst>
          </p:nvPr>
        </p:nvCxnSpPr>
        <p:spPr>
          <a:xfrm>
            <a:off x="2280285" y="207518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1"/>
            </p:custDataLst>
          </p:nvPr>
        </p:nvSpPr>
        <p:spPr>
          <a:xfrm rot="1200000">
            <a:off x="3253740" y="242887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2"/>
            </p:custDataLst>
          </p:nvPr>
        </p:nvCxnSpPr>
        <p:spPr>
          <a:xfrm>
            <a:off x="3133725" y="209359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2357755" y="109029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18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1923415" y="175450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10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5"/>
            </p:custDataLst>
          </p:nvPr>
        </p:nvSpPr>
        <p:spPr>
          <a:xfrm>
            <a:off x="2795905" y="175450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20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6"/>
            </p:custDataLst>
          </p:nvPr>
        </p:nvSpPr>
        <p:spPr>
          <a:xfrm>
            <a:off x="1504315" y="243522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7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7"/>
            </p:custDataLst>
          </p:nvPr>
        </p:nvSpPr>
        <p:spPr>
          <a:xfrm>
            <a:off x="2439035" y="244475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5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8"/>
            </p:custDataLst>
          </p:nvPr>
        </p:nvSpPr>
        <p:spPr>
          <a:xfrm>
            <a:off x="3211195" y="242951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22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9" name="文本框 68"/>
          <p:cNvSpPr txBox="1"/>
          <p:nvPr>
            <p:custDataLst>
              <p:tags r:id="rId19"/>
            </p:custDataLst>
          </p:nvPr>
        </p:nvSpPr>
        <p:spPr>
          <a:xfrm>
            <a:off x="185420" y="5939155"/>
            <a:ext cx="2195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后序遍历：</a:t>
            </a:r>
            <a:r>
              <a:rPr lang="zh-CN" altLang="en-US">
                <a:solidFill>
                  <a:srgbClr val="FF0000"/>
                </a:solidFill>
              </a:rPr>
              <a:t>左右根</a:t>
            </a:r>
            <a:endParaRPr lang="zh-CN" altLang="en-US"/>
          </a:p>
          <a:p>
            <a:r>
              <a:rPr lang="zh-CN" altLang="en-US">
                <a:solidFill>
                  <a:schemeClr val="tx1"/>
                </a:solidFill>
              </a:rPr>
              <a:t>中序遍历：</a:t>
            </a:r>
            <a:r>
              <a:rPr lang="zh-CN" altLang="en-US">
                <a:solidFill>
                  <a:srgbClr val="FF0000"/>
                </a:solidFill>
              </a:rPr>
              <a:t>左根右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0" name="文本框 69"/>
          <p:cNvSpPr txBox="1"/>
          <p:nvPr>
            <p:custDataLst>
              <p:tags r:id="rId20"/>
            </p:custDataLst>
          </p:nvPr>
        </p:nvSpPr>
        <p:spPr>
          <a:xfrm>
            <a:off x="928370" y="3855720"/>
            <a:ext cx="3485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70C0"/>
                </a:solidFill>
                <a:sym typeface="+mn-ea"/>
              </a:rPr>
              <a:t>post_order[]</a:t>
            </a:r>
            <a:r>
              <a:rPr lang="zh-CN" altLang="en-US">
                <a:solidFill>
                  <a:srgbClr val="0070C0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7    5  10  22  20  </a:t>
            </a:r>
            <a:r>
              <a:rPr lang="en-US" altLang="zh-CN">
                <a:solidFill>
                  <a:srgbClr val="00B050"/>
                </a:solidFill>
              </a:rPr>
              <a:t>18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04900" y="4626610"/>
            <a:ext cx="32569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0070C0"/>
                </a:solidFill>
                <a:sym typeface="+mn-ea"/>
              </a:rPr>
              <a:t>In_order[]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：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</a:t>
            </a:r>
            <a:r>
              <a:rPr lang="zh-CN" altLang="en-US">
                <a:sym typeface="+mn-ea"/>
              </a:rPr>
              <a:t>7 </a:t>
            </a:r>
            <a:r>
              <a:rPr lang="en-US" altLang="zh-CN">
                <a:sym typeface="+mn-ea"/>
              </a:rPr>
              <a:t>  10  5   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18</a:t>
            </a:r>
            <a:r>
              <a:rPr lang="en-US" altLang="zh-CN">
                <a:sym typeface="+mn-ea"/>
              </a:rPr>
              <a:t>  20  22</a:t>
            </a:r>
            <a:endParaRPr lang="en-US" altLang="zh-CN"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5387340" y="803275"/>
            <a:ext cx="4698365" cy="1121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</a:t>
            </a:r>
            <a:r>
              <a:rPr lang="zh-CN" altLang="en-US">
                <a:sym typeface="+mn-ea"/>
              </a:rPr>
              <a:t>二叉树</a:t>
            </a:r>
            <a:r>
              <a:rPr lang="zh-CN" altLang="en-US">
                <a:sym typeface="+mn-ea"/>
              </a:rPr>
              <a:t>结点个数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num=6</a:t>
            </a:r>
            <a:endParaRPr lang="zh-CN" altLang="en-US"/>
          </a:p>
          <a:p>
            <a:r>
              <a:rPr lang="en-US" altLang="zh-CN"/>
              <a:t>   </a:t>
            </a:r>
            <a:r>
              <a:rPr lang="zh-CN" altLang="en-US"/>
              <a:t>后序遍历</a:t>
            </a:r>
            <a:r>
              <a:rPr lang="en-US" altLang="zh-CN"/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post_order[]</a:t>
            </a:r>
            <a:endParaRPr lang="en-US" altLang="zh-CN">
              <a:solidFill>
                <a:srgbClr val="0070C0"/>
              </a:solidFill>
              <a:sym typeface="+mn-ea"/>
            </a:endParaRPr>
          </a:p>
          <a:p>
            <a:r>
              <a:rPr lang="en-US" altLang="zh-CN">
                <a:sym typeface="+mn-ea"/>
              </a:rPr>
              <a:t>   </a:t>
            </a:r>
            <a:r>
              <a:rPr lang="zh-CN" altLang="en-US">
                <a:sym typeface="+mn-ea"/>
              </a:rPr>
              <a:t>中序遍历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In_order[]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  <p:sp>
        <p:nvSpPr>
          <p:cNvPr id="91" name="上箭头 90"/>
          <p:cNvSpPr/>
          <p:nvPr/>
        </p:nvSpPr>
        <p:spPr>
          <a:xfrm>
            <a:off x="3320415" y="5046345"/>
            <a:ext cx="171450" cy="29400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2" name="直接连接符 91"/>
          <p:cNvCxnSpPr/>
          <p:nvPr/>
        </p:nvCxnSpPr>
        <p:spPr>
          <a:xfrm>
            <a:off x="2411095" y="5031740"/>
            <a:ext cx="727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flipV="1">
            <a:off x="3634740" y="5043805"/>
            <a:ext cx="507365" cy="5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4" name="文本框 93"/>
          <p:cNvSpPr txBox="1"/>
          <p:nvPr/>
        </p:nvSpPr>
        <p:spPr>
          <a:xfrm>
            <a:off x="2439035" y="5123180"/>
            <a:ext cx="7219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FF0000"/>
                </a:solidFill>
              </a:rPr>
              <a:t>左子树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594100" y="5121910"/>
            <a:ext cx="7219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FF0000"/>
                </a:solidFill>
              </a:rPr>
              <a:t>右子树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928370" y="3291840"/>
            <a:ext cx="3372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70C0"/>
                </a:solidFill>
              </a:rPr>
              <a:t>数组下标：</a:t>
            </a:r>
            <a:r>
              <a:rPr lang="en-US" altLang="zh-CN">
                <a:solidFill>
                  <a:srgbClr val="0070C0"/>
                </a:solidFill>
              </a:rPr>
              <a:t>i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/>
              <a:t>   0    1   2    3     4    5</a:t>
            </a:r>
            <a:endParaRPr lang="en-US" altLang="zh-CN"/>
          </a:p>
        </p:txBody>
      </p:sp>
      <p:cxnSp>
        <p:nvCxnSpPr>
          <p:cNvPr id="97" name="直接连接符 96"/>
          <p:cNvCxnSpPr/>
          <p:nvPr/>
        </p:nvCxnSpPr>
        <p:spPr>
          <a:xfrm>
            <a:off x="2403475" y="4229100"/>
            <a:ext cx="727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 flipV="1">
            <a:off x="3288665" y="4216400"/>
            <a:ext cx="507365" cy="5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2440940" y="4251325"/>
            <a:ext cx="7219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FF0000"/>
                </a:solidFill>
              </a:rPr>
              <a:t>左子树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3211195" y="4261485"/>
            <a:ext cx="7219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FF0000"/>
                </a:solidFill>
              </a:rPr>
              <a:t>右子树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5431790" y="1924685"/>
            <a:ext cx="6096000" cy="1592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②</a:t>
            </a:r>
            <a:r>
              <a:rPr lang="zh-CN" altLang="en-US">
                <a:sym typeface="+mn-ea"/>
              </a:rPr>
              <a:t>从后序遍历中找到</a:t>
            </a:r>
            <a:r>
              <a:rPr lang="zh-CN" altLang="en-US">
                <a:sym typeface="+mn-ea"/>
              </a:rPr>
              <a:t>根结点：</a:t>
            </a:r>
            <a:endParaRPr lang="zh-CN" altLang="en-US"/>
          </a:p>
          <a:p>
            <a:r>
              <a:rPr lang="en-US" altLang="zh-CN">
                <a:solidFill>
                  <a:schemeClr val="accent1"/>
                </a:solidFill>
                <a:sym typeface="+mn-ea"/>
              </a:rPr>
              <a:t>post_order[num-1] =&gt; 18</a:t>
            </a:r>
            <a:endParaRPr lang="en-US" altLang="zh-CN">
              <a:solidFill>
                <a:schemeClr val="accent1"/>
              </a:solidFill>
            </a:endParaRPr>
          </a:p>
          <a:p>
            <a:endParaRPr lang="en-US" altLang="zh-CN"/>
          </a:p>
          <a:p>
            <a:r>
              <a:rPr lang="zh-CN" altLang="en-US">
                <a:sym typeface="+mn-ea"/>
              </a:rPr>
              <a:t>③从中序遍历中找到根结点，切出左右子树，根节点所在位置（数组</a:t>
            </a:r>
            <a:r>
              <a:rPr lang="zh-CN" altLang="en-US">
                <a:sym typeface="+mn-ea"/>
              </a:rPr>
              <a:t>下标）标记为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p</a:t>
            </a:r>
            <a:endParaRPr lang="zh-CN" altLang="en-US"/>
          </a:p>
          <a:p>
            <a:endParaRPr lang="zh-CN" altLang="en-US"/>
          </a:p>
          <a:p>
            <a:endParaRPr lang="en-US" altLang="zh-CN">
              <a:sym typeface="+mn-ea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5431790" y="3660140"/>
            <a:ext cx="6096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④左子树</a:t>
            </a:r>
            <a:r>
              <a:rPr lang="zh-CN" altLang="en-US">
                <a:sym typeface="+mn-ea"/>
              </a:rPr>
              <a:t>结点个数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p</a:t>
            </a:r>
            <a:endParaRPr lang="en-US" altLang="zh-CN"/>
          </a:p>
          <a:p>
            <a:r>
              <a:rPr lang="en-US" altLang="zh-CN">
                <a:sym typeface="+mn-ea"/>
              </a:rPr>
              <a:t>     </a:t>
            </a:r>
            <a:r>
              <a:rPr lang="zh-CN" altLang="en-US">
                <a:sym typeface="+mn-ea"/>
              </a:rPr>
              <a:t>中序遍历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In_order[0]</a:t>
            </a:r>
            <a:r>
              <a:rPr lang="en-US" altLang="zh-CN">
                <a:sym typeface="+mn-ea"/>
              </a:rPr>
              <a:t>~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 </a:t>
            </a:r>
            <a:r>
              <a:rPr lang="zh-CN" altLang="en-US">
                <a:sym typeface="+mn-ea"/>
              </a:rPr>
              <a:t>后序遍历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post_order[0]</a:t>
            </a:r>
            <a:r>
              <a:rPr lang="en-US" altLang="zh-CN">
                <a:sym typeface="+mn-ea"/>
              </a:rPr>
              <a:t>~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⑤右子树</a:t>
            </a:r>
            <a:r>
              <a:rPr lang="zh-CN" altLang="en-US">
                <a:sym typeface="+mn-ea"/>
              </a:rPr>
              <a:t>结点个数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num-p-1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中序遍历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In_order[p+1]</a:t>
            </a:r>
            <a:r>
              <a:rPr lang="en-US" altLang="zh-CN">
                <a:sym typeface="+mn-ea"/>
              </a:rPr>
              <a:t>~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后序遍历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post_order[p]</a:t>
            </a:r>
            <a:r>
              <a:rPr lang="en-US" altLang="zh-CN">
                <a:sym typeface="+mn-ea"/>
              </a:rPr>
              <a:t>~</a:t>
            </a:r>
            <a:endParaRPr lang="en-US" altLang="zh-CN">
              <a:sym typeface="+mn-ea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272155" y="5419090"/>
            <a:ext cx="36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70C0"/>
                </a:solidFill>
              </a:rPr>
              <a:t>p</a:t>
            </a:r>
            <a:endParaRPr lang="en-US" altLang="zh-CN">
              <a:solidFill>
                <a:srgbClr val="0070C0"/>
              </a:solidFill>
            </a:endParaRPr>
          </a:p>
        </p:txBody>
      </p:sp>
      <p:sp>
        <p:nvSpPr>
          <p:cNvPr id="121" name="右箭头 120"/>
          <p:cNvSpPr/>
          <p:nvPr/>
        </p:nvSpPr>
        <p:spPr>
          <a:xfrm>
            <a:off x="8729345" y="4030980"/>
            <a:ext cx="896620" cy="19113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2" name="右箭头 121"/>
          <p:cNvSpPr/>
          <p:nvPr/>
        </p:nvSpPr>
        <p:spPr>
          <a:xfrm>
            <a:off x="8729345" y="5121910"/>
            <a:ext cx="896620" cy="19113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8856980" y="3731260"/>
            <a:ext cx="641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②</a:t>
            </a:r>
            <a:r>
              <a:rPr lang="zh-CN" altLang="en-US"/>
              <a:t>③</a:t>
            </a:r>
            <a:endParaRPr lang="zh-CN" altLang="en-US"/>
          </a:p>
        </p:txBody>
      </p:sp>
      <p:sp>
        <p:nvSpPr>
          <p:cNvPr id="124" name="文本框 123"/>
          <p:cNvSpPr txBox="1"/>
          <p:nvPr/>
        </p:nvSpPr>
        <p:spPr>
          <a:xfrm>
            <a:off x="8856980" y="4761230"/>
            <a:ext cx="641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②</a:t>
            </a:r>
            <a:r>
              <a:rPr lang="zh-CN" altLang="en-US"/>
              <a:t>③</a:t>
            </a:r>
            <a:endParaRPr lang="zh-CN" altLang="en-US"/>
          </a:p>
        </p:txBody>
      </p:sp>
      <p:sp>
        <p:nvSpPr>
          <p:cNvPr id="125" name="文本框 124"/>
          <p:cNvSpPr txBox="1"/>
          <p:nvPr/>
        </p:nvSpPr>
        <p:spPr>
          <a:xfrm>
            <a:off x="9732010" y="3942715"/>
            <a:ext cx="2249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找到左子树的根</a:t>
            </a:r>
            <a:r>
              <a:rPr lang="zh-CN" altLang="en-US"/>
              <a:t>结点</a:t>
            </a:r>
            <a:endParaRPr lang="zh-CN" altLang="en-US"/>
          </a:p>
        </p:txBody>
      </p:sp>
      <p:sp>
        <p:nvSpPr>
          <p:cNvPr id="126" name="文本框 125"/>
          <p:cNvSpPr txBox="1"/>
          <p:nvPr/>
        </p:nvSpPr>
        <p:spPr>
          <a:xfrm>
            <a:off x="9732010" y="5031740"/>
            <a:ext cx="2249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找到</a:t>
            </a:r>
            <a:r>
              <a:rPr lang="zh-CN" altLang="en-US"/>
              <a:t>右子树的根</a:t>
            </a:r>
            <a:r>
              <a:rPr lang="zh-CN" altLang="en-US"/>
              <a:t>结点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94" grpId="0"/>
      <p:bldP spid="106" grpId="0"/>
      <p:bldP spid="95" grpId="0"/>
      <p:bldP spid="91" grpId="0" animBg="1"/>
      <p:bldP spid="101" grpId="0"/>
      <p:bldP spid="100" grpId="0"/>
      <p:bldP spid="104" grpId="1"/>
      <p:bldP spid="94" grpId="1"/>
      <p:bldP spid="106" grpId="1"/>
      <p:bldP spid="95" grpId="1"/>
      <p:bldP spid="91" grpId="1" animBg="1"/>
      <p:bldP spid="101" grpId="1"/>
      <p:bldP spid="100" grpId="1"/>
      <p:bldP spid="105" grpId="0"/>
      <p:bldP spid="105" grpId="1"/>
      <p:bldP spid="121" grpId="0" animBg="1"/>
      <p:bldP spid="122" grpId="0" animBg="1"/>
      <p:bldP spid="123" grpId="0"/>
      <p:bldP spid="124" grpId="0"/>
      <p:bldP spid="125" grpId="0"/>
      <p:bldP spid="126" grpId="0"/>
      <p:bldP spid="121" grpId="1" animBg="1"/>
      <p:bldP spid="122" grpId="1" animBg="1"/>
      <p:bldP spid="123" grpId="1"/>
      <p:bldP spid="124" grpId="1"/>
      <p:bldP spid="125" grpId="1"/>
      <p:bldP spid="12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52475" y="343535"/>
            <a:ext cx="1628140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0070C0"/>
                </a:solidFill>
                <a:sym typeface="+mn-ea"/>
              </a:rPr>
              <a:t>构造二叉树</a:t>
            </a:r>
            <a:endParaRPr lang="zh-CN" altLang="en-US" sz="2000" b="1">
              <a:solidFill>
                <a:srgbClr val="0070C0"/>
              </a:solidFill>
            </a:endParaRPr>
          </a:p>
          <a:p>
            <a:r>
              <a:rPr lang="en-US" altLang="zh-CN" sz="2000" b="1">
                <a:solidFill>
                  <a:srgbClr val="0070C0"/>
                </a:solidFill>
              </a:rPr>
              <a:t> </a:t>
            </a:r>
            <a:endParaRPr lang="en-US" altLang="zh-CN" sz="2000" b="1">
              <a:solidFill>
                <a:srgbClr val="0070C0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638810" y="1028700"/>
            <a:ext cx="443928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r>
              <a:rPr lang="zh-CN" altLang="en-US">
                <a:sym typeface="+mn-ea"/>
              </a:rPr>
              <a:t>二叉树</a:t>
            </a:r>
            <a:r>
              <a:rPr lang="zh-CN" altLang="en-US">
                <a:sym typeface="+mn-ea"/>
              </a:rPr>
              <a:t>结点个数：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num=6</a:t>
            </a:r>
            <a:endParaRPr lang="zh-CN" altLang="en-US"/>
          </a:p>
          <a:p>
            <a:r>
              <a:rPr lang="en-US" altLang="zh-CN"/>
              <a:t>   </a:t>
            </a:r>
            <a:r>
              <a:rPr lang="zh-CN" altLang="en-US"/>
              <a:t>后序遍历</a:t>
            </a:r>
            <a:r>
              <a:rPr lang="en-US" altLang="zh-CN"/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post_order[]</a:t>
            </a:r>
            <a:endParaRPr lang="en-US" altLang="zh-CN">
              <a:solidFill>
                <a:srgbClr val="0070C0"/>
              </a:solidFill>
              <a:sym typeface="+mn-ea"/>
            </a:endParaRPr>
          </a:p>
          <a:p>
            <a:r>
              <a:rPr lang="en-US" altLang="zh-CN">
                <a:sym typeface="+mn-ea"/>
              </a:rPr>
              <a:t>   </a:t>
            </a:r>
            <a:r>
              <a:rPr lang="zh-CN" altLang="en-US">
                <a:sym typeface="+mn-ea"/>
              </a:rPr>
              <a:t>中序遍历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In_order[]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</a:t>
            </a:r>
            <a:r>
              <a:rPr lang="zh-CN" altLang="en-US">
                <a:sym typeface="+mn-ea"/>
              </a:rPr>
              <a:t>从后序遍历中找到</a:t>
            </a:r>
            <a:r>
              <a:rPr lang="zh-CN" altLang="en-US"/>
              <a:t>根结点：</a:t>
            </a:r>
            <a:endParaRPr lang="zh-CN" altLang="en-US"/>
          </a:p>
          <a:p>
            <a:r>
              <a:rPr lang="en-US" altLang="zh-CN">
                <a:solidFill>
                  <a:schemeClr val="accent1"/>
                </a:solidFill>
              </a:rPr>
              <a:t>post_order[num-1] =&gt; 18</a:t>
            </a:r>
            <a:endParaRPr lang="en-US" altLang="zh-CN">
              <a:solidFill>
                <a:schemeClr val="accent1"/>
              </a:solidFill>
            </a:endParaRPr>
          </a:p>
          <a:p>
            <a:endParaRPr lang="en-US" altLang="zh-CN"/>
          </a:p>
          <a:p>
            <a:r>
              <a:rPr lang="zh-CN" altLang="en-US"/>
              <a:t>③从中序遍历中找到根结点，切出左右子树，根节点所在数组下标设为</a:t>
            </a:r>
            <a:r>
              <a:rPr lang="en-US" altLang="zh-CN">
                <a:solidFill>
                  <a:srgbClr val="0070C0"/>
                </a:solidFill>
              </a:rPr>
              <a:t>p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④左子树</a:t>
            </a:r>
            <a:r>
              <a:rPr lang="zh-CN" altLang="en-US"/>
              <a:t>结点个数</a:t>
            </a:r>
            <a:r>
              <a:rPr lang="en-US" altLang="zh-CN"/>
              <a:t> =&gt; </a:t>
            </a:r>
            <a:r>
              <a:rPr lang="en-US" altLang="zh-CN">
                <a:solidFill>
                  <a:srgbClr val="0070C0"/>
                </a:solidFill>
              </a:rPr>
              <a:t>p</a:t>
            </a:r>
            <a:endParaRPr lang="en-US" altLang="zh-CN"/>
          </a:p>
          <a:p>
            <a:r>
              <a:rPr lang="en-US" altLang="zh-CN"/>
              <a:t>     </a:t>
            </a:r>
            <a:r>
              <a:rPr lang="zh-CN" altLang="en-US">
                <a:sym typeface="+mn-ea"/>
              </a:rPr>
              <a:t>中序遍历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In_order[0]</a:t>
            </a:r>
            <a:r>
              <a:rPr lang="en-US" altLang="zh-CN">
                <a:sym typeface="+mn-ea"/>
              </a:rPr>
              <a:t>~</a:t>
            </a:r>
            <a:endParaRPr lang="en-US" altLang="zh-CN">
              <a:sym typeface="+mn-ea"/>
            </a:endParaRPr>
          </a:p>
          <a:p>
            <a:r>
              <a:rPr lang="en-US" altLang="zh-CN"/>
              <a:t>     </a:t>
            </a:r>
            <a:r>
              <a:rPr lang="zh-CN" altLang="en-US"/>
              <a:t>后序遍历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post_order[0]</a:t>
            </a:r>
            <a:r>
              <a:rPr lang="en-US" altLang="zh-CN">
                <a:sym typeface="+mn-ea"/>
              </a:rPr>
              <a:t>~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⑤右</a:t>
            </a:r>
            <a:r>
              <a:rPr lang="zh-CN" altLang="en-US">
                <a:sym typeface="+mn-ea"/>
              </a:rPr>
              <a:t>子树</a:t>
            </a:r>
            <a:r>
              <a:rPr lang="zh-CN" altLang="en-US">
                <a:sym typeface="+mn-ea"/>
              </a:rPr>
              <a:t>结点个数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num-p-1</a:t>
            </a:r>
            <a:endParaRPr lang="zh-CN" altLang="en-US">
              <a:sym typeface="+mn-ea"/>
            </a:endParaRPr>
          </a:p>
          <a:p>
            <a:r>
              <a:rPr lang="en-US" altLang="zh-CN"/>
              <a:t>    </a:t>
            </a:r>
            <a:r>
              <a:rPr lang="zh-CN" altLang="en-US"/>
              <a:t>右</a:t>
            </a:r>
            <a:r>
              <a:rPr lang="zh-CN" altLang="en-US">
                <a:sym typeface="+mn-ea"/>
              </a:rPr>
              <a:t>子树的中序遍历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In_order[p+1]</a:t>
            </a:r>
            <a:r>
              <a:rPr lang="en-US" altLang="zh-CN">
                <a:sym typeface="+mn-ea"/>
              </a:rPr>
              <a:t>~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右子树的后序遍历</a:t>
            </a:r>
            <a:r>
              <a:rPr lang="en-US" altLang="zh-CN">
                <a:sym typeface="+mn-ea"/>
              </a:rPr>
              <a:t> =&gt; 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post_order[p]</a:t>
            </a:r>
            <a:r>
              <a:rPr lang="en-US" altLang="zh-CN">
                <a:sym typeface="+mn-ea"/>
              </a:rPr>
              <a:t>~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5589905" y="890270"/>
            <a:ext cx="641096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BinTree binTree_create(</a:t>
            </a:r>
            <a:r>
              <a:rPr lang="en-US" altLang="zh-CN">
                <a:solidFill>
                  <a:srgbClr val="FF0000"/>
                </a:solidFill>
              </a:rPr>
              <a:t>int</a:t>
            </a:r>
            <a:r>
              <a:rPr lang="zh-CN" altLang="en-US">
                <a:solidFill>
                  <a:srgbClr val="FF0000"/>
                </a:solidFill>
              </a:rPr>
              <a:t> In_order[],</a:t>
            </a:r>
            <a:r>
              <a:rPr lang="en-US" altLang="zh-CN">
                <a:solidFill>
                  <a:srgbClr val="FF0000"/>
                </a:solidFill>
              </a:rPr>
              <a:t>int</a:t>
            </a:r>
            <a:r>
              <a:rPr lang="zh-CN" altLang="en-US">
                <a:solidFill>
                  <a:srgbClr val="FF0000"/>
                </a:solidFill>
              </a:rPr>
              <a:t> post_order[],int num)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BinTree T;</a:t>
            </a:r>
            <a:endParaRPr lang="zh-CN" altLang="en-US"/>
          </a:p>
          <a:p>
            <a:r>
              <a:rPr lang="zh-CN" altLang="en-US"/>
              <a:t>    int p;</a:t>
            </a:r>
            <a:endParaRPr lang="zh-CN" altLang="en-US"/>
          </a:p>
          <a:p>
            <a:r>
              <a:rPr lang="zh-CN" altLang="en-US"/>
              <a:t>    if(!num) return NULL;</a:t>
            </a:r>
            <a:endParaRPr lang="zh-CN" altLang="en-US"/>
          </a:p>
          <a:p>
            <a:r>
              <a:rPr lang="zh-CN" altLang="en-US"/>
              <a:t>    T = (BinTree)malloc(sizeof(struct TNode));</a:t>
            </a:r>
            <a:endParaRPr lang="zh-CN" altLang="en-US"/>
          </a:p>
          <a:p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// 后序遍历的最后一个结点为根结点</a:t>
            </a:r>
            <a:endParaRPr lang="zh-CN" altLang="en-US"/>
          </a:p>
          <a:p>
            <a:r>
              <a:rPr lang="zh-CN" altLang="en-US"/>
              <a:t>    T-&gt;data = post_order[num-1]; </a:t>
            </a:r>
            <a:endParaRPr lang="zh-CN" altLang="en-US"/>
          </a:p>
          <a:p>
            <a:r>
              <a:rPr lang="zh-CN" altLang="en-US"/>
              <a:t>    T-&gt;left = T-&gt;right = NULL;</a:t>
            </a:r>
            <a:endParaRPr lang="zh-CN" altLang="en-US"/>
          </a:p>
          <a:p>
            <a:r>
              <a:rPr lang="zh-CN" altLang="en-US"/>
              <a:t>    // 从中序遍历中</a:t>
            </a:r>
            <a:r>
              <a:rPr lang="zh-CN" altLang="en-US"/>
              <a:t>定位到根结点，切出左右子树</a:t>
            </a:r>
            <a:endParaRPr lang="zh-CN" altLang="en-US"/>
          </a:p>
          <a:p>
            <a:r>
              <a:rPr lang="zh-CN" altLang="en-US"/>
              <a:t>    for(p = 0;p &lt; num;p++) {</a:t>
            </a:r>
            <a:endParaRPr lang="zh-CN" altLang="en-US"/>
          </a:p>
          <a:p>
            <a:r>
              <a:rPr lang="zh-CN" altLang="en-US"/>
              <a:t>        if(In_order[p] == post_order[num-1])</a:t>
            </a:r>
            <a:endParaRPr lang="zh-CN" altLang="en-US"/>
          </a:p>
          <a:p>
            <a:r>
              <a:rPr lang="zh-CN" altLang="en-US"/>
              <a:t>            break;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>
                <a:solidFill>
                  <a:srgbClr val="FF0000"/>
                </a:solidFill>
              </a:rPr>
              <a:t>T-&gt;left = binTree_create(In_order, post_order, p);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>
                <a:solidFill>
                  <a:srgbClr val="FF0000"/>
                </a:solidFill>
              </a:rPr>
              <a:t>T-&gt;right = binTree_create(In_order+p+1, post_order+p, num-p-1);</a:t>
            </a:r>
            <a:endParaRPr lang="zh-CN" altLang="en-US"/>
          </a:p>
          <a:p>
            <a:r>
              <a:rPr lang="zh-CN" altLang="en-US"/>
              <a:t>    return T;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52475" y="343535"/>
            <a:ext cx="140525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1"/>
                </a:solidFill>
              </a:rPr>
              <a:t>前序</a:t>
            </a:r>
            <a:r>
              <a:rPr lang="zh-CN" altLang="en-US" sz="2000" b="1">
                <a:solidFill>
                  <a:schemeClr val="accent1"/>
                </a:solidFill>
              </a:rPr>
              <a:t>遍历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0" y="1169670"/>
            <a:ext cx="379031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// 前序遍历二叉树</a:t>
            </a:r>
            <a:endParaRPr lang="zh-CN" altLang="en-US"/>
          </a:p>
          <a:p>
            <a:r>
              <a:rPr lang="zh-CN" altLang="en-US"/>
              <a:t>void pre_order(BinTree H)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if(H)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printf("%d ",H-&gt;data);</a:t>
            </a:r>
            <a:endParaRPr lang="zh-CN" altLang="en-US"/>
          </a:p>
          <a:p>
            <a:r>
              <a:rPr lang="zh-CN" altLang="en-US"/>
              <a:t>        pre_order(H-&gt;left);</a:t>
            </a:r>
            <a:endParaRPr lang="zh-CN" altLang="en-US"/>
          </a:p>
          <a:p>
            <a:r>
              <a:rPr lang="zh-CN" altLang="en-US"/>
              <a:t>        pre_order(H-&gt;right);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553710" y="343535"/>
            <a:ext cx="231965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1"/>
                </a:solidFill>
              </a:rPr>
              <a:t>判断二叉搜</a:t>
            </a:r>
            <a:r>
              <a:rPr lang="zh-CN" altLang="en-US" sz="2000" b="1">
                <a:solidFill>
                  <a:schemeClr val="accent1"/>
                </a:solidFill>
              </a:rPr>
              <a:t>索树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069965" y="2708275"/>
            <a:ext cx="37052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中序遍历的序列是一个</a:t>
            </a:r>
            <a:r>
              <a:rPr lang="zh-CN" altLang="en-US">
                <a:solidFill>
                  <a:srgbClr val="0070C0"/>
                </a:solidFill>
              </a:rPr>
              <a:t>递增序列</a:t>
            </a:r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682105" y="1262380"/>
            <a:ext cx="13303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二叉搜索</a:t>
            </a:r>
            <a:r>
              <a:rPr lang="zh-CN" altLang="en-US"/>
              <a:t>树</a:t>
            </a:r>
            <a:endParaRPr lang="zh-CN" altLang="en-US"/>
          </a:p>
        </p:txBody>
      </p:sp>
      <p:sp>
        <p:nvSpPr>
          <p:cNvPr id="8" name="上下箭头 7"/>
          <p:cNvSpPr/>
          <p:nvPr/>
        </p:nvSpPr>
        <p:spPr>
          <a:xfrm>
            <a:off x="7362825" y="1833245"/>
            <a:ext cx="198120" cy="834390"/>
          </a:xfrm>
          <a:prstGeom prst="up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721600" y="2098675"/>
            <a:ext cx="1179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充要条件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85825" y="398780"/>
            <a:ext cx="10498455" cy="1083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2.编写算法计算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二叉树最大的宽度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（二叉树的最大宽度是指二叉树所有层中结点个数的最大值）。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1"/>
            </p:custDataLst>
          </p:nvPr>
        </p:nvSpPr>
        <p:spPr>
          <a:xfrm>
            <a:off x="2031365" y="260540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 rot="19740000">
            <a:off x="1617980" y="328295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3"/>
            </p:custDataLst>
          </p:nvPr>
        </p:nvSpPr>
        <p:spPr>
          <a:xfrm rot="1200000">
            <a:off x="2489835" y="328295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9" idx="7"/>
          </p:cNvCxnSpPr>
          <p:nvPr>
            <p:custDataLst>
              <p:tags r:id="rId4"/>
            </p:custDataLst>
          </p:nvPr>
        </p:nvCxnSpPr>
        <p:spPr>
          <a:xfrm flipH="1">
            <a:off x="1863090" y="294767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8" idx="5"/>
            <a:endCxn id="30" idx="1"/>
          </p:cNvCxnSpPr>
          <p:nvPr>
            <p:custDataLst>
              <p:tags r:id="rId5"/>
            </p:custDataLst>
          </p:nvPr>
        </p:nvCxnSpPr>
        <p:spPr>
          <a:xfrm>
            <a:off x="2369820" y="294767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6"/>
            </p:custDataLst>
          </p:nvPr>
        </p:nvSpPr>
        <p:spPr>
          <a:xfrm rot="19740000">
            <a:off x="1198880" y="395795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7"/>
            </p:custDataLst>
          </p:nvPr>
        </p:nvSpPr>
        <p:spPr>
          <a:xfrm rot="1200000">
            <a:off x="2070735" y="395795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8"/>
            </p:custDataLst>
          </p:nvPr>
        </p:nvCxnSpPr>
        <p:spPr>
          <a:xfrm flipH="1">
            <a:off x="1443990" y="36220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9"/>
            </p:custDataLst>
          </p:nvPr>
        </p:nvCxnSpPr>
        <p:spPr>
          <a:xfrm>
            <a:off x="1950720" y="362267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0"/>
            </p:custDataLst>
          </p:nvPr>
        </p:nvSpPr>
        <p:spPr>
          <a:xfrm rot="1200000">
            <a:off x="2924175" y="397637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1"/>
            </p:custDataLst>
          </p:nvPr>
        </p:nvCxnSpPr>
        <p:spPr>
          <a:xfrm>
            <a:off x="2804160" y="364109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2"/>
            </p:custDataLst>
          </p:nvPr>
        </p:nvSpPr>
        <p:spPr>
          <a:xfrm>
            <a:off x="2028190" y="2637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3"/>
            </p:custDataLst>
          </p:nvPr>
        </p:nvSpPr>
        <p:spPr>
          <a:xfrm>
            <a:off x="159385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4"/>
            </p:custDataLst>
          </p:nvPr>
        </p:nvSpPr>
        <p:spPr>
          <a:xfrm>
            <a:off x="246634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5"/>
            </p:custDataLst>
          </p:nvPr>
        </p:nvSpPr>
        <p:spPr>
          <a:xfrm>
            <a:off x="1174750" y="398272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6"/>
            </p:custDataLst>
          </p:nvPr>
        </p:nvSpPr>
        <p:spPr>
          <a:xfrm>
            <a:off x="2109470" y="399224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7"/>
            </p:custDataLst>
          </p:nvPr>
        </p:nvSpPr>
        <p:spPr>
          <a:xfrm>
            <a:off x="2881630" y="397700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5" name="椭圆 34"/>
          <p:cNvSpPr/>
          <p:nvPr>
            <p:custDataLst>
              <p:tags r:id="rId18"/>
            </p:custDataLst>
          </p:nvPr>
        </p:nvSpPr>
        <p:spPr>
          <a:xfrm rot="1200000">
            <a:off x="3359785" y="468249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连接符 35"/>
          <p:cNvCxnSpPr>
            <a:endCxn id="35" idx="1"/>
          </p:cNvCxnSpPr>
          <p:nvPr>
            <p:custDataLst>
              <p:tags r:id="rId19"/>
            </p:custDataLst>
          </p:nvPr>
        </p:nvCxnSpPr>
        <p:spPr>
          <a:xfrm>
            <a:off x="3239770" y="434721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>
            <p:custDataLst>
              <p:tags r:id="rId20"/>
            </p:custDataLst>
          </p:nvPr>
        </p:nvSpPr>
        <p:spPr>
          <a:xfrm>
            <a:off x="3317240" y="468312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g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 txBox="1"/>
          <p:nvPr>
            <p:custDataLst>
              <p:tags r:id="rId21"/>
            </p:custDataLst>
          </p:nvPr>
        </p:nvSpPr>
        <p:spPr>
          <a:xfrm>
            <a:off x="1123950" y="5573395"/>
            <a:ext cx="39376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前序遍历：</a:t>
            </a:r>
            <a:r>
              <a:rPr lang="en-US" altLang="zh-CN"/>
              <a:t>abd##e##c#f#g##</a:t>
            </a:r>
            <a:endParaRPr lang="en-US" altLang="zh-CN"/>
          </a:p>
          <a:p>
            <a:r>
              <a:rPr lang="zh-CN" altLang="en-US"/>
              <a:t>（左孩子或右孩子为空</a:t>
            </a:r>
            <a:r>
              <a:rPr lang="en-US" altLang="zh-CN"/>
              <a:t> =&gt; </a:t>
            </a:r>
            <a:r>
              <a:rPr lang="zh-CN" altLang="en-US"/>
              <a:t>#）</a:t>
            </a:r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7033895" y="2743200"/>
            <a:ext cx="3784600" cy="1371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0070C0"/>
                </a:solidFill>
              </a:rPr>
              <a:t>程序</a:t>
            </a:r>
            <a:r>
              <a:rPr lang="zh-CN" altLang="en-US">
                <a:solidFill>
                  <a:srgbClr val="0070C0"/>
                </a:solidFill>
              </a:rPr>
              <a:t>流程</a:t>
            </a:r>
            <a:endParaRPr lang="zh-CN" altLang="en-US">
              <a:solidFill>
                <a:srgbClr val="0070C0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①根据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前序遍历结果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构造二叉树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②求二叉树的最大</a:t>
            </a:r>
            <a:r>
              <a:rPr lang="zh-CN" altLang="en-US">
                <a:solidFill>
                  <a:schemeClr val="tx1"/>
                </a:solidFill>
              </a:rPr>
              <a:t>宽度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52475" y="343535"/>
            <a:ext cx="271081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0070C0"/>
                </a:solidFill>
                <a:sym typeface="+mn-ea"/>
              </a:rPr>
              <a:t>求二叉树的最大宽度</a:t>
            </a:r>
            <a:endParaRPr lang="zh-CN" altLang="en-US" sz="2000" b="1">
              <a:solidFill>
                <a:srgbClr val="0070C0"/>
              </a:solidFill>
            </a:endParaRPr>
          </a:p>
          <a:p>
            <a:r>
              <a:rPr lang="en-US" altLang="zh-CN" sz="2000" b="1">
                <a:solidFill>
                  <a:srgbClr val="0070C0"/>
                </a:solidFill>
              </a:rPr>
              <a:t> </a:t>
            </a:r>
            <a:endParaRPr lang="en-US" altLang="zh-CN" sz="2000" b="1">
              <a:solidFill>
                <a:srgbClr val="0070C0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52475" y="960755"/>
            <a:ext cx="436372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r>
              <a:rPr lang="zh-CN" altLang="en-US">
                <a:sym typeface="+mn-ea"/>
              </a:rPr>
              <a:t>求二叉树的深度</a:t>
            </a:r>
            <a:r>
              <a:rPr lang="en-US" altLang="zh-CN">
                <a:sym typeface="+mn-ea"/>
              </a:rPr>
              <a:t>depth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②构造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width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数组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=&gt; </a:t>
            </a:r>
            <a:r>
              <a:rPr lang="zh-CN" altLang="en-US">
                <a:sym typeface="+mn-ea"/>
              </a:rPr>
              <a:t>存放每一层的</a:t>
            </a:r>
            <a:r>
              <a:rPr lang="zh-CN" altLang="en-US">
                <a:sym typeface="+mn-ea"/>
              </a:rPr>
              <a:t>结点数，数组</a:t>
            </a:r>
            <a:r>
              <a:rPr lang="zh-CN" altLang="en-US">
                <a:sym typeface="+mn-ea"/>
              </a:rPr>
              <a:t>元素初始化为</a:t>
            </a:r>
            <a:r>
              <a:rPr lang="en-US" altLang="zh-CN">
                <a:sym typeface="+mn-ea"/>
              </a:rPr>
              <a:t>0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0070C0"/>
                </a:solidFill>
                <a:sym typeface="+mn-ea"/>
              </a:rPr>
              <a:t>数组下标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层（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1~depth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）</a:t>
            </a:r>
            <a:endParaRPr lang="zh-CN" altLang="en-US">
              <a:solidFill>
                <a:srgbClr val="0070C0"/>
              </a:solidFill>
              <a:sym typeface="+mn-ea"/>
            </a:endParaRPr>
          </a:p>
          <a:p>
            <a:r>
              <a:rPr lang="en-US" altLang="zh-CN">
                <a:solidFill>
                  <a:srgbClr val="0070C0"/>
                </a:solidFill>
                <a:sym typeface="+mn-ea"/>
              </a:rPr>
              <a:t>width[i]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层有多少结点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③统计二叉树每一层的结点数</a:t>
            </a:r>
            <a:r>
              <a:rPr lang="en-US" altLang="zh-CN">
                <a:sym typeface="+mn-ea"/>
              </a:rPr>
              <a:t> =&gt; width[i]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i:1~depth</a:t>
            </a:r>
            <a:r>
              <a:rPr lang="zh-CN" altLang="en-US">
                <a:sym typeface="+mn-ea"/>
              </a:rPr>
              <a:t>）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④最大宽度</a:t>
            </a:r>
            <a:r>
              <a:rPr lang="en-US" altLang="zh-CN">
                <a:sym typeface="+mn-ea"/>
              </a:rPr>
              <a:t> =&gt; width[i]</a:t>
            </a:r>
            <a:r>
              <a:rPr lang="zh-CN" altLang="en-US">
                <a:sym typeface="+mn-ea"/>
              </a:rPr>
              <a:t>中</a:t>
            </a:r>
            <a:r>
              <a:rPr lang="zh-CN" altLang="en-US">
                <a:sym typeface="+mn-ea"/>
              </a:rPr>
              <a:t>的最大值</a:t>
            </a:r>
            <a:endParaRPr lang="zh-CN" altLang="en-US"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1960880" y="418147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 rot="19740000">
            <a:off x="1547495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4"/>
            </p:custDataLst>
          </p:nvPr>
        </p:nvSpPr>
        <p:spPr>
          <a:xfrm rot="1200000">
            <a:off x="2419350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9" idx="7"/>
          </p:cNvCxnSpPr>
          <p:nvPr>
            <p:custDataLst>
              <p:tags r:id="rId5"/>
            </p:custDataLst>
          </p:nvPr>
        </p:nvCxnSpPr>
        <p:spPr>
          <a:xfrm flipH="1">
            <a:off x="1792605" y="45237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8" idx="5"/>
            <a:endCxn id="30" idx="1"/>
          </p:cNvCxnSpPr>
          <p:nvPr>
            <p:custDataLst>
              <p:tags r:id="rId6"/>
            </p:custDataLst>
          </p:nvPr>
        </p:nvCxnSpPr>
        <p:spPr>
          <a:xfrm>
            <a:off x="2299335" y="452374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7"/>
            </p:custDataLst>
          </p:nvPr>
        </p:nvSpPr>
        <p:spPr>
          <a:xfrm rot="19740000">
            <a:off x="1128395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8"/>
            </p:custDataLst>
          </p:nvPr>
        </p:nvSpPr>
        <p:spPr>
          <a:xfrm rot="1200000">
            <a:off x="2000250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9"/>
            </p:custDataLst>
          </p:nvPr>
        </p:nvCxnSpPr>
        <p:spPr>
          <a:xfrm flipH="1">
            <a:off x="1373505" y="519811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10"/>
            </p:custDataLst>
          </p:nvPr>
        </p:nvCxnSpPr>
        <p:spPr>
          <a:xfrm>
            <a:off x="1880235" y="519874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1"/>
            </p:custDataLst>
          </p:nvPr>
        </p:nvSpPr>
        <p:spPr>
          <a:xfrm rot="1200000">
            <a:off x="2853690" y="555244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2"/>
            </p:custDataLst>
          </p:nvPr>
        </p:nvCxnSpPr>
        <p:spPr>
          <a:xfrm>
            <a:off x="2733675" y="521716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1957705" y="421386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152336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5"/>
            </p:custDataLst>
          </p:nvPr>
        </p:nvSpPr>
        <p:spPr>
          <a:xfrm>
            <a:off x="239585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6"/>
            </p:custDataLst>
          </p:nvPr>
        </p:nvSpPr>
        <p:spPr>
          <a:xfrm>
            <a:off x="1104265" y="5558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7"/>
            </p:custDataLst>
          </p:nvPr>
        </p:nvSpPr>
        <p:spPr>
          <a:xfrm>
            <a:off x="2038985" y="556831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8"/>
            </p:custDataLst>
          </p:nvPr>
        </p:nvSpPr>
        <p:spPr>
          <a:xfrm>
            <a:off x="2811145" y="555307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5" name="椭圆 34"/>
          <p:cNvSpPr/>
          <p:nvPr>
            <p:custDataLst>
              <p:tags r:id="rId19"/>
            </p:custDataLst>
          </p:nvPr>
        </p:nvSpPr>
        <p:spPr>
          <a:xfrm rot="1200000">
            <a:off x="3289300" y="625856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连接符 35"/>
          <p:cNvCxnSpPr>
            <a:endCxn id="35" idx="1"/>
          </p:cNvCxnSpPr>
          <p:nvPr>
            <p:custDataLst>
              <p:tags r:id="rId20"/>
            </p:custDataLst>
          </p:nvPr>
        </p:nvCxnSpPr>
        <p:spPr>
          <a:xfrm>
            <a:off x="3169285" y="592328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>
            <p:custDataLst>
              <p:tags r:id="rId21"/>
            </p:custDataLst>
          </p:nvPr>
        </p:nvSpPr>
        <p:spPr>
          <a:xfrm>
            <a:off x="3246755" y="625919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g</a:t>
            </a:r>
            <a:endParaRPr lang="en-US" altLang="zh-CN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52475" y="343535"/>
            <a:ext cx="271081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0070C0"/>
                </a:solidFill>
                <a:sym typeface="+mn-ea"/>
              </a:rPr>
              <a:t>求二叉树的最大宽度</a:t>
            </a:r>
            <a:endParaRPr lang="zh-CN" altLang="en-US" sz="2000" b="1">
              <a:solidFill>
                <a:srgbClr val="0070C0"/>
              </a:solidFill>
            </a:endParaRPr>
          </a:p>
          <a:p>
            <a:r>
              <a:rPr lang="en-US" altLang="zh-CN" sz="2000" b="1">
                <a:solidFill>
                  <a:srgbClr val="0070C0"/>
                </a:solidFill>
              </a:rPr>
              <a:t> </a:t>
            </a:r>
            <a:endParaRPr lang="en-US" altLang="zh-CN" sz="2000" b="1">
              <a:solidFill>
                <a:srgbClr val="0070C0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52475" y="960755"/>
            <a:ext cx="436372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r>
              <a:rPr lang="zh-CN" altLang="en-US">
                <a:sym typeface="+mn-ea"/>
              </a:rPr>
              <a:t>求二叉树的深度</a:t>
            </a:r>
            <a:r>
              <a:rPr lang="en-US" altLang="zh-CN">
                <a:sym typeface="+mn-ea"/>
              </a:rPr>
              <a:t>depth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②构造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width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数组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=&gt; </a:t>
            </a:r>
            <a:r>
              <a:rPr lang="zh-CN" altLang="en-US">
                <a:sym typeface="+mn-ea"/>
              </a:rPr>
              <a:t>存放每一层的</a:t>
            </a:r>
            <a:r>
              <a:rPr lang="zh-CN" altLang="en-US">
                <a:sym typeface="+mn-ea"/>
              </a:rPr>
              <a:t>结点数，数组</a:t>
            </a:r>
            <a:r>
              <a:rPr lang="zh-CN" altLang="en-US">
                <a:sym typeface="+mn-ea"/>
              </a:rPr>
              <a:t>元素初始化为</a:t>
            </a:r>
            <a:r>
              <a:rPr lang="en-US" altLang="zh-CN">
                <a:sym typeface="+mn-ea"/>
              </a:rPr>
              <a:t>0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0070C0"/>
                </a:solidFill>
                <a:sym typeface="+mn-ea"/>
              </a:rPr>
              <a:t>数组下标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层（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1~depth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）</a:t>
            </a:r>
            <a:endParaRPr lang="zh-CN" altLang="en-US">
              <a:solidFill>
                <a:srgbClr val="0070C0"/>
              </a:solidFill>
              <a:sym typeface="+mn-ea"/>
            </a:endParaRPr>
          </a:p>
          <a:p>
            <a:r>
              <a:rPr lang="en-US" altLang="zh-CN">
                <a:solidFill>
                  <a:srgbClr val="0070C0"/>
                </a:solidFill>
                <a:sym typeface="+mn-ea"/>
              </a:rPr>
              <a:t>width[i]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层有多少结点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highlight>
                  <a:srgbClr val="FFFF00"/>
                </a:highlight>
                <a:sym typeface="+mn-ea"/>
              </a:rPr>
              <a:t>③统计二叉树每一层的结点数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=&gt; width[i]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i:1~depth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endParaRPr lang="en-US" altLang="zh-CN">
              <a:highlight>
                <a:srgbClr val="FFFF00"/>
              </a:highlight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④最大宽度</a:t>
            </a:r>
            <a:r>
              <a:rPr lang="en-US" altLang="zh-CN">
                <a:sym typeface="+mn-ea"/>
              </a:rPr>
              <a:t> =&gt; width[i]</a:t>
            </a:r>
            <a:r>
              <a:rPr lang="zh-CN" altLang="en-US">
                <a:sym typeface="+mn-ea"/>
              </a:rPr>
              <a:t>中</a:t>
            </a:r>
            <a:r>
              <a:rPr lang="zh-CN" altLang="en-US">
                <a:sym typeface="+mn-ea"/>
              </a:rPr>
              <a:t>的最大值</a:t>
            </a:r>
            <a:endParaRPr lang="zh-CN" altLang="en-US"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1960880" y="418147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 rot="19740000">
            <a:off x="1547495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4"/>
            </p:custDataLst>
          </p:nvPr>
        </p:nvSpPr>
        <p:spPr>
          <a:xfrm rot="1200000">
            <a:off x="2419350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9" idx="7"/>
          </p:cNvCxnSpPr>
          <p:nvPr>
            <p:custDataLst>
              <p:tags r:id="rId5"/>
            </p:custDataLst>
          </p:nvPr>
        </p:nvCxnSpPr>
        <p:spPr>
          <a:xfrm flipH="1">
            <a:off x="1792605" y="45237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8" idx="5"/>
            <a:endCxn id="30" idx="1"/>
          </p:cNvCxnSpPr>
          <p:nvPr>
            <p:custDataLst>
              <p:tags r:id="rId6"/>
            </p:custDataLst>
          </p:nvPr>
        </p:nvCxnSpPr>
        <p:spPr>
          <a:xfrm>
            <a:off x="2299335" y="452374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7"/>
            </p:custDataLst>
          </p:nvPr>
        </p:nvSpPr>
        <p:spPr>
          <a:xfrm rot="19740000">
            <a:off x="1128395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8"/>
            </p:custDataLst>
          </p:nvPr>
        </p:nvSpPr>
        <p:spPr>
          <a:xfrm rot="1200000">
            <a:off x="2000250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9"/>
            </p:custDataLst>
          </p:nvPr>
        </p:nvCxnSpPr>
        <p:spPr>
          <a:xfrm flipH="1">
            <a:off x="1373505" y="519811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10"/>
            </p:custDataLst>
          </p:nvPr>
        </p:nvCxnSpPr>
        <p:spPr>
          <a:xfrm>
            <a:off x="1880235" y="519874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1"/>
            </p:custDataLst>
          </p:nvPr>
        </p:nvSpPr>
        <p:spPr>
          <a:xfrm rot="1200000">
            <a:off x="2853690" y="555244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2"/>
            </p:custDataLst>
          </p:nvPr>
        </p:nvCxnSpPr>
        <p:spPr>
          <a:xfrm>
            <a:off x="2733675" y="521716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1957705" y="421386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152336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5"/>
            </p:custDataLst>
          </p:nvPr>
        </p:nvSpPr>
        <p:spPr>
          <a:xfrm>
            <a:off x="239585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6"/>
            </p:custDataLst>
          </p:nvPr>
        </p:nvSpPr>
        <p:spPr>
          <a:xfrm>
            <a:off x="1104265" y="5558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7"/>
            </p:custDataLst>
          </p:nvPr>
        </p:nvSpPr>
        <p:spPr>
          <a:xfrm>
            <a:off x="2038985" y="556831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8"/>
            </p:custDataLst>
          </p:nvPr>
        </p:nvSpPr>
        <p:spPr>
          <a:xfrm>
            <a:off x="2811145" y="555307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5" name="椭圆 34"/>
          <p:cNvSpPr/>
          <p:nvPr>
            <p:custDataLst>
              <p:tags r:id="rId19"/>
            </p:custDataLst>
          </p:nvPr>
        </p:nvSpPr>
        <p:spPr>
          <a:xfrm rot="1200000">
            <a:off x="3289300" y="625856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连接符 35"/>
          <p:cNvCxnSpPr>
            <a:endCxn id="35" idx="1"/>
          </p:cNvCxnSpPr>
          <p:nvPr>
            <p:custDataLst>
              <p:tags r:id="rId20"/>
            </p:custDataLst>
          </p:nvPr>
        </p:nvCxnSpPr>
        <p:spPr>
          <a:xfrm>
            <a:off x="3169285" y="592328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>
            <p:custDataLst>
              <p:tags r:id="rId21"/>
            </p:custDataLst>
          </p:nvPr>
        </p:nvSpPr>
        <p:spPr>
          <a:xfrm>
            <a:off x="3246755" y="625919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g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82055" y="1188085"/>
            <a:ext cx="479171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// 统计每一层的结点数</a:t>
            </a:r>
            <a:endParaRPr lang="zh-CN" altLang="en-US"/>
          </a:p>
          <a:p>
            <a:r>
              <a:rPr lang="zh-CN" altLang="en-US"/>
              <a:t>void MaxWidth(BinTree T, int i, int width[])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if (T == NULL)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return 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  else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</a:t>
            </a:r>
            <a:r>
              <a:rPr lang="zh-CN" altLang="en-US">
                <a:solidFill>
                  <a:srgbClr val="FF0000"/>
                </a:solidFill>
              </a:rPr>
              <a:t>width[i]++;</a:t>
            </a:r>
            <a:endParaRPr lang="zh-CN" altLang="en-US"/>
          </a:p>
          <a:p>
            <a:r>
              <a:rPr lang="zh-CN" altLang="en-US"/>
              <a:t>        MaxWidth(T-&gt;lchild, i+1, width);</a:t>
            </a:r>
            <a:endParaRPr lang="zh-CN" altLang="en-US"/>
          </a:p>
          <a:p>
            <a:r>
              <a:rPr lang="zh-CN" altLang="en-US"/>
              <a:t>        MaxWidth(T-&gt;rchild, i+1, width);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5193030" y="2983230"/>
            <a:ext cx="865505" cy="2222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3" grpId="1" animBg="1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52475" y="343535"/>
            <a:ext cx="271081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0070C0"/>
                </a:solidFill>
                <a:sym typeface="+mn-ea"/>
              </a:rPr>
              <a:t>求二叉树的最大宽度</a:t>
            </a:r>
            <a:endParaRPr lang="zh-CN" altLang="en-US" sz="2000" b="1">
              <a:solidFill>
                <a:srgbClr val="0070C0"/>
              </a:solidFill>
            </a:endParaRPr>
          </a:p>
          <a:p>
            <a:r>
              <a:rPr lang="en-US" altLang="zh-CN" sz="2000" b="1">
                <a:solidFill>
                  <a:srgbClr val="0070C0"/>
                </a:solidFill>
              </a:rPr>
              <a:t> </a:t>
            </a:r>
            <a:endParaRPr lang="en-US" altLang="zh-CN" sz="2000" b="1">
              <a:solidFill>
                <a:srgbClr val="0070C0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52475" y="960755"/>
            <a:ext cx="436372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r>
              <a:rPr lang="zh-CN" altLang="en-US">
                <a:sym typeface="+mn-ea"/>
              </a:rPr>
              <a:t>求二叉树的深度</a:t>
            </a:r>
            <a:r>
              <a:rPr lang="en-US" altLang="zh-CN">
                <a:sym typeface="+mn-ea"/>
              </a:rPr>
              <a:t>depth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②构造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width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数组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=&gt; </a:t>
            </a:r>
            <a:r>
              <a:rPr lang="zh-CN" altLang="en-US">
                <a:sym typeface="+mn-ea"/>
              </a:rPr>
              <a:t>存放每一层的</a:t>
            </a:r>
            <a:r>
              <a:rPr lang="zh-CN" altLang="en-US">
                <a:sym typeface="+mn-ea"/>
              </a:rPr>
              <a:t>结点数，数组</a:t>
            </a:r>
            <a:r>
              <a:rPr lang="zh-CN" altLang="en-US">
                <a:sym typeface="+mn-ea"/>
              </a:rPr>
              <a:t>元素初始化为</a:t>
            </a:r>
            <a:r>
              <a:rPr lang="en-US" altLang="zh-CN">
                <a:sym typeface="+mn-ea"/>
              </a:rPr>
              <a:t>0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0070C0"/>
                </a:solidFill>
                <a:sym typeface="+mn-ea"/>
              </a:rPr>
              <a:t>数组下标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层（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1~depth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）</a:t>
            </a:r>
            <a:endParaRPr lang="zh-CN" altLang="en-US">
              <a:solidFill>
                <a:srgbClr val="0070C0"/>
              </a:solidFill>
              <a:sym typeface="+mn-ea"/>
            </a:endParaRPr>
          </a:p>
          <a:p>
            <a:r>
              <a:rPr lang="en-US" altLang="zh-CN">
                <a:solidFill>
                  <a:srgbClr val="0070C0"/>
                </a:solidFill>
                <a:sym typeface="+mn-ea"/>
              </a:rPr>
              <a:t>width[i]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层有多少结点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highlight>
                  <a:srgbClr val="FFFF00"/>
                </a:highlight>
                <a:sym typeface="+mn-ea"/>
              </a:rPr>
              <a:t>③统计二叉树每一层的结点数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=&gt; width[i]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i:1~depth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endParaRPr lang="en-US" altLang="zh-CN">
              <a:highlight>
                <a:srgbClr val="FFFF00"/>
              </a:highlight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④最大宽度</a:t>
            </a:r>
            <a:r>
              <a:rPr lang="en-US" altLang="zh-CN">
                <a:sym typeface="+mn-ea"/>
              </a:rPr>
              <a:t> =&gt; width[i]</a:t>
            </a:r>
            <a:r>
              <a:rPr lang="zh-CN" altLang="en-US">
                <a:sym typeface="+mn-ea"/>
              </a:rPr>
              <a:t>中</a:t>
            </a:r>
            <a:r>
              <a:rPr lang="zh-CN" altLang="en-US">
                <a:sym typeface="+mn-ea"/>
              </a:rPr>
              <a:t>的最大值</a:t>
            </a:r>
            <a:endParaRPr lang="zh-CN" altLang="en-US"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1960880" y="418147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 rot="19740000">
            <a:off x="1547495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4"/>
            </p:custDataLst>
          </p:nvPr>
        </p:nvSpPr>
        <p:spPr>
          <a:xfrm rot="1200000">
            <a:off x="2419350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9" idx="7"/>
          </p:cNvCxnSpPr>
          <p:nvPr>
            <p:custDataLst>
              <p:tags r:id="rId5"/>
            </p:custDataLst>
          </p:nvPr>
        </p:nvCxnSpPr>
        <p:spPr>
          <a:xfrm flipH="1">
            <a:off x="1792605" y="45237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8" idx="5"/>
            <a:endCxn id="30" idx="1"/>
          </p:cNvCxnSpPr>
          <p:nvPr>
            <p:custDataLst>
              <p:tags r:id="rId6"/>
            </p:custDataLst>
          </p:nvPr>
        </p:nvCxnSpPr>
        <p:spPr>
          <a:xfrm>
            <a:off x="2299335" y="452374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7"/>
            </p:custDataLst>
          </p:nvPr>
        </p:nvSpPr>
        <p:spPr>
          <a:xfrm rot="19740000">
            <a:off x="1128395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8"/>
            </p:custDataLst>
          </p:nvPr>
        </p:nvSpPr>
        <p:spPr>
          <a:xfrm rot="1200000">
            <a:off x="2000250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9"/>
            </p:custDataLst>
          </p:nvPr>
        </p:nvCxnSpPr>
        <p:spPr>
          <a:xfrm flipH="1">
            <a:off x="1373505" y="519811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10"/>
            </p:custDataLst>
          </p:nvPr>
        </p:nvCxnSpPr>
        <p:spPr>
          <a:xfrm>
            <a:off x="1880235" y="519874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1"/>
            </p:custDataLst>
          </p:nvPr>
        </p:nvSpPr>
        <p:spPr>
          <a:xfrm rot="1200000">
            <a:off x="2853690" y="555244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2"/>
            </p:custDataLst>
          </p:nvPr>
        </p:nvCxnSpPr>
        <p:spPr>
          <a:xfrm>
            <a:off x="2733675" y="521716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1957705" y="421386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152336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5"/>
            </p:custDataLst>
          </p:nvPr>
        </p:nvSpPr>
        <p:spPr>
          <a:xfrm>
            <a:off x="239585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6"/>
            </p:custDataLst>
          </p:nvPr>
        </p:nvSpPr>
        <p:spPr>
          <a:xfrm>
            <a:off x="1104265" y="5558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7"/>
            </p:custDataLst>
          </p:nvPr>
        </p:nvSpPr>
        <p:spPr>
          <a:xfrm>
            <a:off x="2038985" y="556831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8"/>
            </p:custDataLst>
          </p:nvPr>
        </p:nvSpPr>
        <p:spPr>
          <a:xfrm>
            <a:off x="2811145" y="555307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5" name="椭圆 34"/>
          <p:cNvSpPr/>
          <p:nvPr>
            <p:custDataLst>
              <p:tags r:id="rId19"/>
            </p:custDataLst>
          </p:nvPr>
        </p:nvSpPr>
        <p:spPr>
          <a:xfrm rot="1200000">
            <a:off x="3289300" y="625856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连接符 35"/>
          <p:cNvCxnSpPr>
            <a:endCxn id="35" idx="1"/>
          </p:cNvCxnSpPr>
          <p:nvPr>
            <p:custDataLst>
              <p:tags r:id="rId20"/>
            </p:custDataLst>
          </p:nvPr>
        </p:nvCxnSpPr>
        <p:spPr>
          <a:xfrm>
            <a:off x="3169285" y="592328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>
            <p:custDataLst>
              <p:tags r:id="rId21"/>
            </p:custDataLst>
          </p:nvPr>
        </p:nvSpPr>
        <p:spPr>
          <a:xfrm>
            <a:off x="3246755" y="625919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g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82055" y="1188085"/>
            <a:ext cx="479171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// 统计每一层的结点数</a:t>
            </a:r>
            <a:endParaRPr lang="zh-CN" altLang="en-US"/>
          </a:p>
          <a:p>
            <a:r>
              <a:rPr lang="zh-CN" altLang="en-US"/>
              <a:t>void MaxWidth(BinTree T, int i, int width[])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if (T == NULL)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return 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  else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</a:t>
            </a:r>
            <a:r>
              <a:rPr lang="zh-CN" altLang="en-US">
                <a:solidFill>
                  <a:srgbClr val="FF0000"/>
                </a:solidFill>
              </a:rPr>
              <a:t>width[i]++;</a:t>
            </a:r>
            <a:endParaRPr lang="zh-CN" altLang="en-US"/>
          </a:p>
          <a:p>
            <a:r>
              <a:rPr lang="zh-CN" altLang="en-US"/>
              <a:t>        MaxWidth(T-&gt;lchild, i+1, width);</a:t>
            </a:r>
            <a:endParaRPr lang="zh-CN" altLang="en-US"/>
          </a:p>
          <a:p>
            <a:r>
              <a:rPr lang="zh-CN" altLang="en-US"/>
              <a:t>        MaxWidth(T-&gt;rchild, i+1, width);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5193030" y="2983230"/>
            <a:ext cx="865505" cy="2222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921115" y="1858010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1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0365" y="4150995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width[1]=1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08390" y="3592830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095105" y="3592830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3510" y="4848860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width[2]=1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58420" y="5571490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width[3]=1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921115" y="2226310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921115" y="2594610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481820" y="3592830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4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/>
      <p:bldP spid="3" grpId="1" animBg="1"/>
      <p:bldP spid="4" grpId="1"/>
      <p:bldP spid="6" grpId="0"/>
      <p:bldP spid="5" grpId="0"/>
      <p:bldP spid="7" grpId="0"/>
      <p:bldP spid="6" grpId="1"/>
      <p:bldP spid="5" grpId="1"/>
      <p:bldP spid="7" grpId="1"/>
      <p:bldP spid="15" grpId="0"/>
      <p:bldP spid="12" grpId="0"/>
      <p:bldP spid="11" grpId="0"/>
      <p:bldP spid="15" grpId="1"/>
      <p:bldP spid="12" grpId="1"/>
      <p:bldP spid="11" grpId="1"/>
      <p:bldP spid="14" grpId="0"/>
      <p:bldP spid="17" grpId="0"/>
      <p:bldP spid="18" grpId="0"/>
      <p:bldP spid="14" grpId="1"/>
      <p:bldP spid="17" grpId="1"/>
      <p:bldP spid="1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52475" y="343535"/>
            <a:ext cx="271081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0070C0"/>
                </a:solidFill>
                <a:sym typeface="+mn-ea"/>
              </a:rPr>
              <a:t>求二叉树的最大宽度</a:t>
            </a:r>
            <a:endParaRPr lang="zh-CN" altLang="en-US" sz="2000" b="1">
              <a:solidFill>
                <a:srgbClr val="0070C0"/>
              </a:solidFill>
            </a:endParaRPr>
          </a:p>
          <a:p>
            <a:r>
              <a:rPr lang="en-US" altLang="zh-CN" sz="2000" b="1">
                <a:solidFill>
                  <a:srgbClr val="0070C0"/>
                </a:solidFill>
              </a:rPr>
              <a:t> </a:t>
            </a:r>
            <a:endParaRPr lang="en-US" altLang="zh-CN" sz="2000" b="1">
              <a:solidFill>
                <a:srgbClr val="0070C0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52475" y="960755"/>
            <a:ext cx="436372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r>
              <a:rPr lang="zh-CN" altLang="en-US">
                <a:sym typeface="+mn-ea"/>
              </a:rPr>
              <a:t>求二叉树的深度</a:t>
            </a:r>
            <a:r>
              <a:rPr lang="en-US" altLang="zh-CN">
                <a:sym typeface="+mn-ea"/>
              </a:rPr>
              <a:t>depth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②构造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width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数组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=&gt; </a:t>
            </a:r>
            <a:r>
              <a:rPr lang="zh-CN" altLang="en-US">
                <a:sym typeface="+mn-ea"/>
              </a:rPr>
              <a:t>存放每一层的</a:t>
            </a:r>
            <a:r>
              <a:rPr lang="zh-CN" altLang="en-US">
                <a:sym typeface="+mn-ea"/>
              </a:rPr>
              <a:t>结点数，数组</a:t>
            </a:r>
            <a:r>
              <a:rPr lang="zh-CN" altLang="en-US">
                <a:sym typeface="+mn-ea"/>
              </a:rPr>
              <a:t>元素初始化为</a:t>
            </a:r>
            <a:r>
              <a:rPr lang="en-US" altLang="zh-CN">
                <a:sym typeface="+mn-ea"/>
              </a:rPr>
              <a:t>0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0070C0"/>
                </a:solidFill>
                <a:sym typeface="+mn-ea"/>
              </a:rPr>
              <a:t>数组下标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层（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1~depth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）</a:t>
            </a:r>
            <a:endParaRPr lang="zh-CN" altLang="en-US">
              <a:solidFill>
                <a:srgbClr val="0070C0"/>
              </a:solidFill>
              <a:sym typeface="+mn-ea"/>
            </a:endParaRPr>
          </a:p>
          <a:p>
            <a:r>
              <a:rPr lang="en-US" altLang="zh-CN">
                <a:solidFill>
                  <a:srgbClr val="0070C0"/>
                </a:solidFill>
                <a:sym typeface="+mn-ea"/>
              </a:rPr>
              <a:t>width[i]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层有多少结点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highlight>
                  <a:srgbClr val="FFFF00"/>
                </a:highlight>
                <a:sym typeface="+mn-ea"/>
              </a:rPr>
              <a:t>③统计二叉树每一层的结点数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=&gt; width[i]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i:1~depth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endParaRPr lang="en-US" altLang="zh-CN">
              <a:highlight>
                <a:srgbClr val="FFFF00"/>
              </a:highlight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④最大宽度</a:t>
            </a:r>
            <a:r>
              <a:rPr lang="en-US" altLang="zh-CN">
                <a:sym typeface="+mn-ea"/>
              </a:rPr>
              <a:t> =&gt; width[i]</a:t>
            </a:r>
            <a:r>
              <a:rPr lang="zh-CN" altLang="en-US">
                <a:sym typeface="+mn-ea"/>
              </a:rPr>
              <a:t>中</a:t>
            </a:r>
            <a:r>
              <a:rPr lang="zh-CN" altLang="en-US">
                <a:sym typeface="+mn-ea"/>
              </a:rPr>
              <a:t>的最大值</a:t>
            </a:r>
            <a:endParaRPr lang="zh-CN" altLang="en-US"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1960880" y="418147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 rot="19740000">
            <a:off x="1547495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4"/>
            </p:custDataLst>
          </p:nvPr>
        </p:nvSpPr>
        <p:spPr>
          <a:xfrm rot="1200000">
            <a:off x="2419350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9" idx="7"/>
          </p:cNvCxnSpPr>
          <p:nvPr>
            <p:custDataLst>
              <p:tags r:id="rId5"/>
            </p:custDataLst>
          </p:nvPr>
        </p:nvCxnSpPr>
        <p:spPr>
          <a:xfrm flipH="1">
            <a:off x="1792605" y="45237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8" idx="5"/>
            <a:endCxn id="30" idx="1"/>
          </p:cNvCxnSpPr>
          <p:nvPr>
            <p:custDataLst>
              <p:tags r:id="rId6"/>
            </p:custDataLst>
          </p:nvPr>
        </p:nvCxnSpPr>
        <p:spPr>
          <a:xfrm>
            <a:off x="2299335" y="452374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7"/>
            </p:custDataLst>
          </p:nvPr>
        </p:nvSpPr>
        <p:spPr>
          <a:xfrm rot="19740000">
            <a:off x="1128395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8"/>
            </p:custDataLst>
          </p:nvPr>
        </p:nvSpPr>
        <p:spPr>
          <a:xfrm rot="1200000">
            <a:off x="2000250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9"/>
            </p:custDataLst>
          </p:nvPr>
        </p:nvCxnSpPr>
        <p:spPr>
          <a:xfrm flipH="1">
            <a:off x="1373505" y="519811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10"/>
            </p:custDataLst>
          </p:nvPr>
        </p:nvCxnSpPr>
        <p:spPr>
          <a:xfrm>
            <a:off x="1880235" y="519874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1"/>
            </p:custDataLst>
          </p:nvPr>
        </p:nvSpPr>
        <p:spPr>
          <a:xfrm rot="1200000">
            <a:off x="2853690" y="555244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2"/>
            </p:custDataLst>
          </p:nvPr>
        </p:nvCxnSpPr>
        <p:spPr>
          <a:xfrm>
            <a:off x="2733675" y="521716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1957705" y="421386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152336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5"/>
            </p:custDataLst>
          </p:nvPr>
        </p:nvSpPr>
        <p:spPr>
          <a:xfrm>
            <a:off x="239585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6"/>
            </p:custDataLst>
          </p:nvPr>
        </p:nvSpPr>
        <p:spPr>
          <a:xfrm>
            <a:off x="1104265" y="5558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7"/>
            </p:custDataLst>
          </p:nvPr>
        </p:nvSpPr>
        <p:spPr>
          <a:xfrm>
            <a:off x="2038985" y="556831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8"/>
            </p:custDataLst>
          </p:nvPr>
        </p:nvSpPr>
        <p:spPr>
          <a:xfrm>
            <a:off x="2811145" y="555307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5" name="椭圆 34"/>
          <p:cNvSpPr/>
          <p:nvPr>
            <p:custDataLst>
              <p:tags r:id="rId19"/>
            </p:custDataLst>
          </p:nvPr>
        </p:nvSpPr>
        <p:spPr>
          <a:xfrm rot="1200000">
            <a:off x="3289300" y="625856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连接符 35"/>
          <p:cNvCxnSpPr>
            <a:endCxn id="35" idx="1"/>
          </p:cNvCxnSpPr>
          <p:nvPr>
            <p:custDataLst>
              <p:tags r:id="rId20"/>
            </p:custDataLst>
          </p:nvPr>
        </p:nvCxnSpPr>
        <p:spPr>
          <a:xfrm>
            <a:off x="3169285" y="592328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>
            <p:custDataLst>
              <p:tags r:id="rId21"/>
            </p:custDataLst>
          </p:nvPr>
        </p:nvSpPr>
        <p:spPr>
          <a:xfrm>
            <a:off x="3246755" y="625919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g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82055" y="1188085"/>
            <a:ext cx="479171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// 统计每一层的结点数</a:t>
            </a:r>
            <a:endParaRPr lang="zh-CN" altLang="en-US"/>
          </a:p>
          <a:p>
            <a:r>
              <a:rPr lang="zh-CN" altLang="en-US"/>
              <a:t>void MaxWidth(BinTree T, int i, int width[])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if (T == NULL)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return 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  else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</a:t>
            </a:r>
            <a:r>
              <a:rPr lang="zh-CN" altLang="en-US">
                <a:solidFill>
                  <a:srgbClr val="FF0000"/>
                </a:solidFill>
              </a:rPr>
              <a:t>width[i]++;</a:t>
            </a:r>
            <a:endParaRPr lang="zh-CN" altLang="en-US"/>
          </a:p>
          <a:p>
            <a:r>
              <a:rPr lang="zh-CN" altLang="en-US"/>
              <a:t>        MaxWidth(T-&gt;lchild, i+1, width);</a:t>
            </a:r>
            <a:endParaRPr lang="zh-CN" altLang="en-US"/>
          </a:p>
          <a:p>
            <a:r>
              <a:rPr lang="zh-CN" altLang="en-US"/>
              <a:t>        MaxWidth(T-&gt;rchild, i+1, width);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5193030" y="2983230"/>
            <a:ext cx="865505" cy="2222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80365" y="4150995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width[1]=1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08390" y="3592830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3510" y="4848860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width[2]=1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58420" y="5571490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width[3]=1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22"/>
            </p:custDataLst>
          </p:nvPr>
        </p:nvSpPr>
        <p:spPr>
          <a:xfrm>
            <a:off x="9154160" y="4509770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0" bldLvl="0" animBg="1"/>
      <p:bldP spid="4" grpId="0"/>
      <p:bldP spid="3" grpId="1" animBg="1"/>
      <p:bldP spid="4" grpId="1"/>
      <p:bldP spid="6" grpId="0"/>
      <p:bldP spid="7" grpId="0"/>
      <p:bldP spid="6" grpId="1"/>
      <p:bldP spid="7" grpId="1"/>
      <p:bldP spid="12" grpId="0"/>
      <p:bldP spid="12" grpId="1"/>
      <p:bldP spid="14" grpId="0"/>
      <p:bldP spid="1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52475" y="343535"/>
            <a:ext cx="271081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0070C0"/>
                </a:solidFill>
                <a:sym typeface="+mn-ea"/>
              </a:rPr>
              <a:t>求二叉树的最大宽度</a:t>
            </a:r>
            <a:endParaRPr lang="zh-CN" altLang="en-US" sz="2000" b="1">
              <a:solidFill>
                <a:srgbClr val="0070C0"/>
              </a:solidFill>
            </a:endParaRPr>
          </a:p>
          <a:p>
            <a:r>
              <a:rPr lang="en-US" altLang="zh-CN" sz="2000" b="1">
                <a:solidFill>
                  <a:srgbClr val="0070C0"/>
                </a:solidFill>
              </a:rPr>
              <a:t> </a:t>
            </a:r>
            <a:endParaRPr lang="en-US" altLang="zh-CN" sz="2000" b="1">
              <a:solidFill>
                <a:srgbClr val="0070C0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52475" y="960755"/>
            <a:ext cx="436372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r>
              <a:rPr lang="zh-CN" altLang="en-US">
                <a:sym typeface="+mn-ea"/>
              </a:rPr>
              <a:t>求二叉树的深度</a:t>
            </a:r>
            <a:r>
              <a:rPr lang="en-US" altLang="zh-CN">
                <a:sym typeface="+mn-ea"/>
              </a:rPr>
              <a:t>depth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②构造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width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数组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=&gt; </a:t>
            </a:r>
            <a:r>
              <a:rPr lang="zh-CN" altLang="en-US">
                <a:sym typeface="+mn-ea"/>
              </a:rPr>
              <a:t>存放每一层的</a:t>
            </a:r>
            <a:r>
              <a:rPr lang="zh-CN" altLang="en-US">
                <a:sym typeface="+mn-ea"/>
              </a:rPr>
              <a:t>结点数，数组</a:t>
            </a:r>
            <a:r>
              <a:rPr lang="zh-CN" altLang="en-US">
                <a:sym typeface="+mn-ea"/>
              </a:rPr>
              <a:t>元素初始化为</a:t>
            </a:r>
            <a:r>
              <a:rPr lang="en-US" altLang="zh-CN">
                <a:sym typeface="+mn-ea"/>
              </a:rPr>
              <a:t>0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0070C0"/>
                </a:solidFill>
                <a:sym typeface="+mn-ea"/>
              </a:rPr>
              <a:t>数组下标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层（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1~depth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）</a:t>
            </a:r>
            <a:endParaRPr lang="zh-CN" altLang="en-US">
              <a:solidFill>
                <a:srgbClr val="0070C0"/>
              </a:solidFill>
              <a:sym typeface="+mn-ea"/>
            </a:endParaRPr>
          </a:p>
          <a:p>
            <a:r>
              <a:rPr lang="en-US" altLang="zh-CN">
                <a:solidFill>
                  <a:srgbClr val="0070C0"/>
                </a:solidFill>
                <a:sym typeface="+mn-ea"/>
              </a:rPr>
              <a:t>width[i]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层有多少结点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highlight>
                  <a:srgbClr val="FFFF00"/>
                </a:highlight>
                <a:sym typeface="+mn-ea"/>
              </a:rPr>
              <a:t>③统计二叉树每一层的结点数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=&gt; width[i]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i:1~depth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endParaRPr lang="en-US" altLang="zh-CN">
              <a:highlight>
                <a:srgbClr val="FFFF00"/>
              </a:highlight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④最大宽度</a:t>
            </a:r>
            <a:r>
              <a:rPr lang="en-US" altLang="zh-CN">
                <a:sym typeface="+mn-ea"/>
              </a:rPr>
              <a:t> =&gt; width[i]</a:t>
            </a:r>
            <a:r>
              <a:rPr lang="zh-CN" altLang="en-US">
                <a:sym typeface="+mn-ea"/>
              </a:rPr>
              <a:t>中</a:t>
            </a:r>
            <a:r>
              <a:rPr lang="zh-CN" altLang="en-US">
                <a:sym typeface="+mn-ea"/>
              </a:rPr>
              <a:t>的最大值</a:t>
            </a:r>
            <a:endParaRPr lang="zh-CN" altLang="en-US"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1960880" y="418147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 rot="19740000">
            <a:off x="1547495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4"/>
            </p:custDataLst>
          </p:nvPr>
        </p:nvSpPr>
        <p:spPr>
          <a:xfrm rot="1200000">
            <a:off x="2419350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9" idx="7"/>
          </p:cNvCxnSpPr>
          <p:nvPr>
            <p:custDataLst>
              <p:tags r:id="rId5"/>
            </p:custDataLst>
          </p:nvPr>
        </p:nvCxnSpPr>
        <p:spPr>
          <a:xfrm flipH="1">
            <a:off x="1792605" y="45237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8" idx="5"/>
            <a:endCxn id="30" idx="1"/>
          </p:cNvCxnSpPr>
          <p:nvPr>
            <p:custDataLst>
              <p:tags r:id="rId6"/>
            </p:custDataLst>
          </p:nvPr>
        </p:nvCxnSpPr>
        <p:spPr>
          <a:xfrm>
            <a:off x="2299335" y="452374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7"/>
            </p:custDataLst>
          </p:nvPr>
        </p:nvSpPr>
        <p:spPr>
          <a:xfrm rot="19740000">
            <a:off x="1128395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8"/>
            </p:custDataLst>
          </p:nvPr>
        </p:nvSpPr>
        <p:spPr>
          <a:xfrm rot="1200000">
            <a:off x="2000250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9"/>
            </p:custDataLst>
          </p:nvPr>
        </p:nvCxnSpPr>
        <p:spPr>
          <a:xfrm flipH="1">
            <a:off x="1373505" y="519811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10"/>
            </p:custDataLst>
          </p:nvPr>
        </p:nvCxnSpPr>
        <p:spPr>
          <a:xfrm>
            <a:off x="1880235" y="519874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1"/>
            </p:custDataLst>
          </p:nvPr>
        </p:nvSpPr>
        <p:spPr>
          <a:xfrm rot="1200000">
            <a:off x="2853690" y="555244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2"/>
            </p:custDataLst>
          </p:nvPr>
        </p:nvCxnSpPr>
        <p:spPr>
          <a:xfrm>
            <a:off x="2733675" y="521716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1957705" y="421386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152336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5"/>
            </p:custDataLst>
          </p:nvPr>
        </p:nvSpPr>
        <p:spPr>
          <a:xfrm>
            <a:off x="239585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6"/>
            </p:custDataLst>
          </p:nvPr>
        </p:nvSpPr>
        <p:spPr>
          <a:xfrm>
            <a:off x="1104265" y="5558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7"/>
            </p:custDataLst>
          </p:nvPr>
        </p:nvSpPr>
        <p:spPr>
          <a:xfrm>
            <a:off x="2038985" y="556831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8"/>
            </p:custDataLst>
          </p:nvPr>
        </p:nvSpPr>
        <p:spPr>
          <a:xfrm>
            <a:off x="2811145" y="555307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5" name="椭圆 34"/>
          <p:cNvSpPr/>
          <p:nvPr>
            <p:custDataLst>
              <p:tags r:id="rId19"/>
            </p:custDataLst>
          </p:nvPr>
        </p:nvSpPr>
        <p:spPr>
          <a:xfrm rot="1200000">
            <a:off x="3289300" y="625856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连接符 35"/>
          <p:cNvCxnSpPr>
            <a:endCxn id="35" idx="1"/>
          </p:cNvCxnSpPr>
          <p:nvPr>
            <p:custDataLst>
              <p:tags r:id="rId20"/>
            </p:custDataLst>
          </p:nvPr>
        </p:nvCxnSpPr>
        <p:spPr>
          <a:xfrm>
            <a:off x="3169285" y="592328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>
            <p:custDataLst>
              <p:tags r:id="rId21"/>
            </p:custDataLst>
          </p:nvPr>
        </p:nvSpPr>
        <p:spPr>
          <a:xfrm>
            <a:off x="3246755" y="625919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g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82055" y="1188085"/>
            <a:ext cx="479171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// 统计每一层的结点数</a:t>
            </a:r>
            <a:endParaRPr lang="zh-CN" altLang="en-US"/>
          </a:p>
          <a:p>
            <a:r>
              <a:rPr lang="zh-CN" altLang="en-US"/>
              <a:t>void MaxWidth(BinTree T, int i, int width[])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if (T == NULL)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return 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  else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</a:t>
            </a:r>
            <a:r>
              <a:rPr lang="zh-CN" altLang="en-US">
                <a:solidFill>
                  <a:srgbClr val="FF0000"/>
                </a:solidFill>
              </a:rPr>
              <a:t>width[i]++;</a:t>
            </a:r>
            <a:endParaRPr lang="zh-CN" altLang="en-US"/>
          </a:p>
          <a:p>
            <a:r>
              <a:rPr lang="zh-CN" altLang="en-US"/>
              <a:t>        MaxWidth(T-&gt;lchild, i+1, width);</a:t>
            </a:r>
            <a:endParaRPr lang="zh-CN" altLang="en-US"/>
          </a:p>
          <a:p>
            <a:r>
              <a:rPr lang="zh-CN" altLang="en-US"/>
              <a:t>        MaxWidth(T-&gt;rchild, i+1, width);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5193030" y="2983230"/>
            <a:ext cx="865505" cy="2222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80365" y="4150995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width[1]=1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08390" y="3592830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3510" y="4848860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width[2]=1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58420" y="5571490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width[3]=2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14435" y="1864995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22"/>
            </p:custDataLst>
          </p:nvPr>
        </p:nvSpPr>
        <p:spPr>
          <a:xfrm>
            <a:off x="9154160" y="4509770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23"/>
            </p:custDataLst>
          </p:nvPr>
        </p:nvSpPr>
        <p:spPr>
          <a:xfrm>
            <a:off x="9620885" y="4497705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4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24"/>
            </p:custDataLst>
          </p:nvPr>
        </p:nvSpPr>
        <p:spPr>
          <a:xfrm>
            <a:off x="9568815" y="3536315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4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0" bldLvl="0" animBg="1"/>
      <p:bldP spid="4" grpId="0"/>
      <p:bldP spid="3" grpId="1" animBg="1"/>
      <p:bldP spid="4" grpId="1"/>
      <p:bldP spid="6" grpId="0"/>
      <p:bldP spid="7" grpId="0"/>
      <p:bldP spid="6" grpId="1"/>
      <p:bldP spid="7" grpId="1"/>
      <p:bldP spid="12" grpId="0"/>
      <p:bldP spid="12" grpId="1"/>
      <p:bldP spid="14" grpId="0"/>
      <p:bldP spid="17" grpId="0"/>
      <p:bldP spid="14" grpId="1"/>
      <p:bldP spid="1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52475" y="343535"/>
            <a:ext cx="271081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0070C0"/>
                </a:solidFill>
                <a:sym typeface="+mn-ea"/>
              </a:rPr>
              <a:t>求二叉树的最大宽度</a:t>
            </a:r>
            <a:endParaRPr lang="zh-CN" altLang="en-US" sz="2000" b="1">
              <a:solidFill>
                <a:srgbClr val="0070C0"/>
              </a:solidFill>
            </a:endParaRPr>
          </a:p>
          <a:p>
            <a:r>
              <a:rPr lang="en-US" altLang="zh-CN" sz="2000" b="1">
                <a:solidFill>
                  <a:srgbClr val="0070C0"/>
                </a:solidFill>
              </a:rPr>
              <a:t> </a:t>
            </a:r>
            <a:endParaRPr lang="en-US" altLang="zh-CN" sz="2000" b="1">
              <a:solidFill>
                <a:srgbClr val="0070C0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52475" y="960755"/>
            <a:ext cx="436372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r>
              <a:rPr lang="zh-CN" altLang="en-US">
                <a:sym typeface="+mn-ea"/>
              </a:rPr>
              <a:t>求二叉树的深度</a:t>
            </a:r>
            <a:r>
              <a:rPr lang="en-US" altLang="zh-CN">
                <a:sym typeface="+mn-ea"/>
              </a:rPr>
              <a:t>depth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②构造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width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数组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=&gt; </a:t>
            </a:r>
            <a:r>
              <a:rPr lang="zh-CN" altLang="en-US">
                <a:sym typeface="+mn-ea"/>
              </a:rPr>
              <a:t>存放每一层的</a:t>
            </a:r>
            <a:r>
              <a:rPr lang="zh-CN" altLang="en-US">
                <a:sym typeface="+mn-ea"/>
              </a:rPr>
              <a:t>结点数，数组</a:t>
            </a:r>
            <a:r>
              <a:rPr lang="zh-CN" altLang="en-US">
                <a:sym typeface="+mn-ea"/>
              </a:rPr>
              <a:t>元素初始化为</a:t>
            </a:r>
            <a:r>
              <a:rPr lang="en-US" altLang="zh-CN">
                <a:sym typeface="+mn-ea"/>
              </a:rPr>
              <a:t>0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0070C0"/>
                </a:solidFill>
                <a:sym typeface="+mn-ea"/>
              </a:rPr>
              <a:t>数组下标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层（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1~depth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）</a:t>
            </a:r>
            <a:endParaRPr lang="zh-CN" altLang="en-US">
              <a:solidFill>
                <a:srgbClr val="0070C0"/>
              </a:solidFill>
              <a:sym typeface="+mn-ea"/>
            </a:endParaRPr>
          </a:p>
          <a:p>
            <a:r>
              <a:rPr lang="en-US" altLang="zh-CN">
                <a:solidFill>
                  <a:srgbClr val="0070C0"/>
                </a:solidFill>
                <a:sym typeface="+mn-ea"/>
              </a:rPr>
              <a:t>width[i]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层有多少结点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highlight>
                  <a:srgbClr val="FFFF00"/>
                </a:highlight>
                <a:sym typeface="+mn-ea"/>
              </a:rPr>
              <a:t>③统计二叉树每一层的结点数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=&gt; width[i]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i:1~depth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endParaRPr lang="en-US" altLang="zh-CN">
              <a:highlight>
                <a:srgbClr val="FFFF00"/>
              </a:highlight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④最大宽度</a:t>
            </a:r>
            <a:r>
              <a:rPr lang="en-US" altLang="zh-CN">
                <a:sym typeface="+mn-ea"/>
              </a:rPr>
              <a:t> =&gt; width[i]</a:t>
            </a:r>
            <a:r>
              <a:rPr lang="zh-CN" altLang="en-US">
                <a:sym typeface="+mn-ea"/>
              </a:rPr>
              <a:t>中</a:t>
            </a:r>
            <a:r>
              <a:rPr lang="zh-CN" altLang="en-US">
                <a:sym typeface="+mn-ea"/>
              </a:rPr>
              <a:t>的最大值</a:t>
            </a:r>
            <a:endParaRPr lang="zh-CN" altLang="en-US"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1960880" y="418147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 rot="19740000">
            <a:off x="1547495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4"/>
            </p:custDataLst>
          </p:nvPr>
        </p:nvSpPr>
        <p:spPr>
          <a:xfrm rot="1200000">
            <a:off x="2419350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9" idx="7"/>
          </p:cNvCxnSpPr>
          <p:nvPr>
            <p:custDataLst>
              <p:tags r:id="rId5"/>
            </p:custDataLst>
          </p:nvPr>
        </p:nvCxnSpPr>
        <p:spPr>
          <a:xfrm flipH="1">
            <a:off x="1792605" y="45237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8" idx="5"/>
            <a:endCxn id="30" idx="1"/>
          </p:cNvCxnSpPr>
          <p:nvPr>
            <p:custDataLst>
              <p:tags r:id="rId6"/>
            </p:custDataLst>
          </p:nvPr>
        </p:nvCxnSpPr>
        <p:spPr>
          <a:xfrm>
            <a:off x="2299335" y="452374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7"/>
            </p:custDataLst>
          </p:nvPr>
        </p:nvSpPr>
        <p:spPr>
          <a:xfrm rot="19740000">
            <a:off x="1128395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8"/>
            </p:custDataLst>
          </p:nvPr>
        </p:nvSpPr>
        <p:spPr>
          <a:xfrm rot="1200000">
            <a:off x="2000250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9"/>
            </p:custDataLst>
          </p:nvPr>
        </p:nvCxnSpPr>
        <p:spPr>
          <a:xfrm flipH="1">
            <a:off x="1373505" y="519811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10"/>
            </p:custDataLst>
          </p:nvPr>
        </p:nvCxnSpPr>
        <p:spPr>
          <a:xfrm>
            <a:off x="1880235" y="519874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1"/>
            </p:custDataLst>
          </p:nvPr>
        </p:nvSpPr>
        <p:spPr>
          <a:xfrm rot="1200000">
            <a:off x="2853690" y="555244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2"/>
            </p:custDataLst>
          </p:nvPr>
        </p:nvCxnSpPr>
        <p:spPr>
          <a:xfrm>
            <a:off x="2733675" y="521716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1957705" y="421386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152336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5"/>
            </p:custDataLst>
          </p:nvPr>
        </p:nvSpPr>
        <p:spPr>
          <a:xfrm>
            <a:off x="239585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6"/>
            </p:custDataLst>
          </p:nvPr>
        </p:nvSpPr>
        <p:spPr>
          <a:xfrm>
            <a:off x="1104265" y="5558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7"/>
            </p:custDataLst>
          </p:nvPr>
        </p:nvSpPr>
        <p:spPr>
          <a:xfrm>
            <a:off x="2038985" y="556831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8"/>
            </p:custDataLst>
          </p:nvPr>
        </p:nvSpPr>
        <p:spPr>
          <a:xfrm>
            <a:off x="2811145" y="555307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5" name="椭圆 34"/>
          <p:cNvSpPr/>
          <p:nvPr>
            <p:custDataLst>
              <p:tags r:id="rId19"/>
            </p:custDataLst>
          </p:nvPr>
        </p:nvSpPr>
        <p:spPr>
          <a:xfrm rot="1200000">
            <a:off x="3289300" y="625856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连接符 35"/>
          <p:cNvCxnSpPr>
            <a:endCxn id="35" idx="1"/>
          </p:cNvCxnSpPr>
          <p:nvPr>
            <p:custDataLst>
              <p:tags r:id="rId20"/>
            </p:custDataLst>
          </p:nvPr>
        </p:nvCxnSpPr>
        <p:spPr>
          <a:xfrm>
            <a:off x="3169285" y="592328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>
            <p:custDataLst>
              <p:tags r:id="rId21"/>
            </p:custDataLst>
          </p:nvPr>
        </p:nvSpPr>
        <p:spPr>
          <a:xfrm>
            <a:off x="3246755" y="625919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g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82055" y="1188085"/>
            <a:ext cx="479171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// 统计每一层的结点数</a:t>
            </a:r>
            <a:endParaRPr lang="zh-CN" altLang="en-US"/>
          </a:p>
          <a:p>
            <a:r>
              <a:rPr lang="zh-CN" altLang="en-US"/>
              <a:t>void MaxWidth(BinTree T, int i, int width[])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if (T == NULL)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return 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  else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</a:t>
            </a:r>
            <a:r>
              <a:rPr lang="zh-CN" altLang="en-US">
                <a:solidFill>
                  <a:srgbClr val="FF0000"/>
                </a:solidFill>
              </a:rPr>
              <a:t>width[i]++;</a:t>
            </a:r>
            <a:endParaRPr lang="zh-CN" altLang="en-US"/>
          </a:p>
          <a:p>
            <a:r>
              <a:rPr lang="zh-CN" altLang="en-US"/>
              <a:t>        MaxWidth(T-&gt;lchild, i+1, width);</a:t>
            </a:r>
            <a:endParaRPr lang="zh-CN" altLang="en-US"/>
          </a:p>
          <a:p>
            <a:r>
              <a:rPr lang="zh-CN" altLang="en-US"/>
              <a:t>        MaxWidth(T-&gt;rchild, i+1, width);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5193030" y="2983230"/>
            <a:ext cx="865505" cy="2222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80365" y="4150995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width[1]=1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3510" y="4848860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width[2]=1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58420" y="5571490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width[3]=2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2"/>
            </p:custDataLst>
          </p:nvPr>
        </p:nvSpPr>
        <p:spPr>
          <a:xfrm>
            <a:off x="8773160" y="4519295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0" bldLvl="0" animBg="1"/>
      <p:bldP spid="4" grpId="0"/>
      <p:bldP spid="3" grpId="1" animBg="1"/>
      <p:bldP spid="4" grpId="1"/>
      <p:bldP spid="6" grpId="0"/>
      <p:bldP spid="6" grpId="1"/>
      <p:bldP spid="12" grpId="0"/>
      <p:bldP spid="12" grpId="1"/>
      <p:bldP spid="14" grpId="0"/>
      <p:bldP spid="1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52475" y="343535"/>
            <a:ext cx="271081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0070C0"/>
                </a:solidFill>
                <a:sym typeface="+mn-ea"/>
              </a:rPr>
              <a:t>求二叉树的最大宽度</a:t>
            </a:r>
            <a:endParaRPr lang="zh-CN" altLang="en-US" sz="2000" b="1">
              <a:solidFill>
                <a:srgbClr val="0070C0"/>
              </a:solidFill>
            </a:endParaRPr>
          </a:p>
          <a:p>
            <a:r>
              <a:rPr lang="en-US" altLang="zh-CN" sz="2000" b="1">
                <a:solidFill>
                  <a:srgbClr val="0070C0"/>
                </a:solidFill>
              </a:rPr>
              <a:t> </a:t>
            </a:r>
            <a:endParaRPr lang="en-US" altLang="zh-CN" sz="2000" b="1">
              <a:solidFill>
                <a:srgbClr val="0070C0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52475" y="960755"/>
            <a:ext cx="436372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①</a:t>
            </a:r>
            <a:r>
              <a:rPr lang="zh-CN" altLang="en-US">
                <a:sym typeface="+mn-ea"/>
              </a:rPr>
              <a:t>求二叉树的深度</a:t>
            </a:r>
            <a:r>
              <a:rPr lang="en-US" altLang="zh-CN">
                <a:sym typeface="+mn-ea"/>
              </a:rPr>
              <a:t>depth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②构造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width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数组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=&gt; </a:t>
            </a:r>
            <a:r>
              <a:rPr lang="zh-CN" altLang="en-US">
                <a:sym typeface="+mn-ea"/>
              </a:rPr>
              <a:t>存放每一层的</a:t>
            </a:r>
            <a:r>
              <a:rPr lang="zh-CN" altLang="en-US">
                <a:sym typeface="+mn-ea"/>
              </a:rPr>
              <a:t>结点数，数组</a:t>
            </a:r>
            <a:r>
              <a:rPr lang="zh-CN" altLang="en-US">
                <a:sym typeface="+mn-ea"/>
              </a:rPr>
              <a:t>元素初始化为</a:t>
            </a:r>
            <a:r>
              <a:rPr lang="en-US" altLang="zh-CN">
                <a:sym typeface="+mn-ea"/>
              </a:rPr>
              <a:t>0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0070C0"/>
                </a:solidFill>
                <a:sym typeface="+mn-ea"/>
              </a:rPr>
              <a:t>数组下标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层（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1~depth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）</a:t>
            </a:r>
            <a:endParaRPr lang="zh-CN" altLang="en-US">
              <a:solidFill>
                <a:srgbClr val="0070C0"/>
              </a:solidFill>
              <a:sym typeface="+mn-ea"/>
            </a:endParaRPr>
          </a:p>
          <a:p>
            <a:r>
              <a:rPr lang="en-US" altLang="zh-CN">
                <a:solidFill>
                  <a:srgbClr val="0070C0"/>
                </a:solidFill>
                <a:sym typeface="+mn-ea"/>
              </a:rPr>
              <a:t>width[i] =&gt;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二叉树的第</a:t>
            </a:r>
            <a:r>
              <a:rPr lang="en-US" altLang="zh-CN">
                <a:solidFill>
                  <a:srgbClr val="0070C0"/>
                </a:solidFill>
                <a:sym typeface="+mn-ea"/>
              </a:rPr>
              <a:t> i </a:t>
            </a:r>
            <a:r>
              <a:rPr lang="zh-CN" altLang="en-US">
                <a:solidFill>
                  <a:srgbClr val="0070C0"/>
                </a:solidFill>
                <a:sym typeface="+mn-ea"/>
              </a:rPr>
              <a:t>层有多少结点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highlight>
                  <a:srgbClr val="FFFF00"/>
                </a:highlight>
                <a:sym typeface="+mn-ea"/>
              </a:rPr>
              <a:t>③统计二叉树每一层的结点数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=&gt; width[i]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（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i:1~depth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）</a:t>
            </a:r>
            <a:endParaRPr lang="en-US" altLang="zh-CN">
              <a:highlight>
                <a:srgbClr val="FFFF00"/>
              </a:highlight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④最大宽度</a:t>
            </a:r>
            <a:r>
              <a:rPr lang="en-US" altLang="zh-CN">
                <a:sym typeface="+mn-ea"/>
              </a:rPr>
              <a:t> =&gt; width[i]</a:t>
            </a:r>
            <a:r>
              <a:rPr lang="zh-CN" altLang="en-US">
                <a:sym typeface="+mn-ea"/>
              </a:rPr>
              <a:t>中</a:t>
            </a:r>
            <a:r>
              <a:rPr lang="zh-CN" altLang="en-US">
                <a:sym typeface="+mn-ea"/>
              </a:rPr>
              <a:t>的最大值</a:t>
            </a:r>
            <a:endParaRPr lang="zh-CN" altLang="en-US"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>
            <a:off x="1960880" y="418147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 rot="19740000">
            <a:off x="1547495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4"/>
            </p:custDataLst>
          </p:nvPr>
        </p:nvSpPr>
        <p:spPr>
          <a:xfrm rot="1200000">
            <a:off x="2419350" y="485902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9" idx="7"/>
          </p:cNvCxnSpPr>
          <p:nvPr>
            <p:custDataLst>
              <p:tags r:id="rId5"/>
            </p:custDataLst>
          </p:nvPr>
        </p:nvCxnSpPr>
        <p:spPr>
          <a:xfrm flipH="1">
            <a:off x="1792605" y="45237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8" idx="5"/>
            <a:endCxn id="30" idx="1"/>
          </p:cNvCxnSpPr>
          <p:nvPr>
            <p:custDataLst>
              <p:tags r:id="rId6"/>
            </p:custDataLst>
          </p:nvPr>
        </p:nvCxnSpPr>
        <p:spPr>
          <a:xfrm>
            <a:off x="2299335" y="452374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7"/>
            </p:custDataLst>
          </p:nvPr>
        </p:nvSpPr>
        <p:spPr>
          <a:xfrm rot="19740000">
            <a:off x="1128395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8"/>
            </p:custDataLst>
          </p:nvPr>
        </p:nvSpPr>
        <p:spPr>
          <a:xfrm rot="1200000">
            <a:off x="2000250" y="553402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9"/>
            </p:custDataLst>
          </p:nvPr>
        </p:nvCxnSpPr>
        <p:spPr>
          <a:xfrm flipH="1">
            <a:off x="1373505" y="519811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10"/>
            </p:custDataLst>
          </p:nvPr>
        </p:nvCxnSpPr>
        <p:spPr>
          <a:xfrm>
            <a:off x="1880235" y="519874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1"/>
            </p:custDataLst>
          </p:nvPr>
        </p:nvSpPr>
        <p:spPr>
          <a:xfrm rot="1200000">
            <a:off x="2853690" y="555244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2"/>
            </p:custDataLst>
          </p:nvPr>
        </p:nvCxnSpPr>
        <p:spPr>
          <a:xfrm>
            <a:off x="2733675" y="521716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1957705" y="421386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152336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5"/>
            </p:custDataLst>
          </p:nvPr>
        </p:nvSpPr>
        <p:spPr>
          <a:xfrm>
            <a:off x="2395855" y="487807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6"/>
            </p:custDataLst>
          </p:nvPr>
        </p:nvSpPr>
        <p:spPr>
          <a:xfrm>
            <a:off x="1104265" y="5558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7"/>
            </p:custDataLst>
          </p:nvPr>
        </p:nvSpPr>
        <p:spPr>
          <a:xfrm>
            <a:off x="2038985" y="556831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8"/>
            </p:custDataLst>
          </p:nvPr>
        </p:nvSpPr>
        <p:spPr>
          <a:xfrm>
            <a:off x="2811145" y="555307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5" name="椭圆 34"/>
          <p:cNvSpPr/>
          <p:nvPr>
            <p:custDataLst>
              <p:tags r:id="rId19"/>
            </p:custDataLst>
          </p:nvPr>
        </p:nvSpPr>
        <p:spPr>
          <a:xfrm rot="1200000">
            <a:off x="3289300" y="625856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连接符 35"/>
          <p:cNvCxnSpPr>
            <a:endCxn id="35" idx="1"/>
          </p:cNvCxnSpPr>
          <p:nvPr>
            <p:custDataLst>
              <p:tags r:id="rId20"/>
            </p:custDataLst>
          </p:nvPr>
        </p:nvCxnSpPr>
        <p:spPr>
          <a:xfrm>
            <a:off x="3169285" y="592328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>
            <p:custDataLst>
              <p:tags r:id="rId21"/>
            </p:custDataLst>
          </p:nvPr>
        </p:nvSpPr>
        <p:spPr>
          <a:xfrm>
            <a:off x="3246755" y="625919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g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82055" y="1188085"/>
            <a:ext cx="479171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// 统计每一层的结点数</a:t>
            </a:r>
            <a:endParaRPr lang="zh-CN" altLang="en-US"/>
          </a:p>
          <a:p>
            <a:r>
              <a:rPr lang="zh-CN" altLang="en-US"/>
              <a:t>void MaxWidth(BinTree T, int i, int width[])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if (T == NULL)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return 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  else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</a:t>
            </a:r>
            <a:r>
              <a:rPr lang="zh-CN" altLang="en-US">
                <a:solidFill>
                  <a:srgbClr val="FF0000"/>
                </a:solidFill>
              </a:rPr>
              <a:t>width[i]++;</a:t>
            </a:r>
            <a:endParaRPr lang="zh-CN" altLang="en-US"/>
          </a:p>
          <a:p>
            <a:r>
              <a:rPr lang="zh-CN" altLang="en-US"/>
              <a:t>        MaxWidth(T-&gt;lchild, i+1, width);</a:t>
            </a:r>
            <a:endParaRPr lang="zh-CN" altLang="en-US"/>
          </a:p>
          <a:p>
            <a:r>
              <a:rPr lang="zh-CN" altLang="en-US"/>
              <a:t>        MaxWidth(T-&gt;rchild, i+1, width);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5193030" y="2983230"/>
            <a:ext cx="865505" cy="2222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80365" y="4150995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width[1]=1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3510" y="4848860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width[2]=2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58420" y="5571490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width[3]=3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2"/>
            </p:custDataLst>
          </p:nvPr>
        </p:nvSpPr>
        <p:spPr>
          <a:xfrm>
            <a:off x="8773160" y="4519295"/>
            <a:ext cx="339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23"/>
            </p:custDataLst>
          </p:nvPr>
        </p:nvSpPr>
        <p:spPr>
          <a:xfrm>
            <a:off x="-58420" y="6239510"/>
            <a:ext cx="128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width[4]=1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3" grpId="0" bldLvl="0" animBg="1"/>
      <p:bldP spid="4" grpId="0"/>
      <p:bldP spid="3" grpId="1" animBg="1"/>
      <p:bldP spid="4" grpId="1"/>
      <p:bldP spid="6" grpId="0"/>
      <p:bldP spid="6" grpId="1"/>
      <p:bldP spid="12" grpId="0"/>
      <p:bldP spid="12" grpId="1"/>
      <p:bldP spid="14" grpId="0"/>
      <p:bldP spid="14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33145" y="492125"/>
            <a:ext cx="9370695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3.设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顺序存储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的二叉树中有编号为i和j的两个结点，请设计算法求出它们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最近的公共祖先结点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的编号。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椭圆 2"/>
          <p:cNvSpPr/>
          <p:nvPr>
            <p:custDataLst>
              <p:tags r:id="rId1"/>
            </p:custDataLst>
          </p:nvPr>
        </p:nvSpPr>
        <p:spPr>
          <a:xfrm>
            <a:off x="2031365" y="260540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 rot="19740000">
            <a:off x="1617980" y="328295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3"/>
            </p:custDataLst>
          </p:nvPr>
        </p:nvSpPr>
        <p:spPr>
          <a:xfrm rot="1200000">
            <a:off x="2489835" y="328295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4" idx="7"/>
          </p:cNvCxnSpPr>
          <p:nvPr>
            <p:custDataLst>
              <p:tags r:id="rId4"/>
            </p:custDataLst>
          </p:nvPr>
        </p:nvCxnSpPr>
        <p:spPr>
          <a:xfrm flipH="1">
            <a:off x="1863090" y="294767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3" idx="5"/>
            <a:endCxn id="30" idx="1"/>
          </p:cNvCxnSpPr>
          <p:nvPr>
            <p:custDataLst>
              <p:tags r:id="rId5"/>
            </p:custDataLst>
          </p:nvPr>
        </p:nvCxnSpPr>
        <p:spPr>
          <a:xfrm>
            <a:off x="2369820" y="294767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6"/>
            </p:custDataLst>
          </p:nvPr>
        </p:nvSpPr>
        <p:spPr>
          <a:xfrm rot="19740000">
            <a:off x="1198880" y="395795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7"/>
            </p:custDataLst>
          </p:nvPr>
        </p:nvSpPr>
        <p:spPr>
          <a:xfrm rot="1200000">
            <a:off x="2070735" y="395795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8"/>
            </p:custDataLst>
          </p:nvPr>
        </p:nvCxnSpPr>
        <p:spPr>
          <a:xfrm flipH="1">
            <a:off x="1443990" y="36220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9"/>
            </p:custDataLst>
          </p:nvPr>
        </p:nvCxnSpPr>
        <p:spPr>
          <a:xfrm>
            <a:off x="1950720" y="362267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0"/>
            </p:custDataLst>
          </p:nvPr>
        </p:nvSpPr>
        <p:spPr>
          <a:xfrm rot="1200000">
            <a:off x="2924175" y="397637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1"/>
            </p:custDataLst>
          </p:nvPr>
        </p:nvCxnSpPr>
        <p:spPr>
          <a:xfrm>
            <a:off x="2804160" y="364109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2"/>
            </p:custDataLst>
          </p:nvPr>
        </p:nvSpPr>
        <p:spPr>
          <a:xfrm>
            <a:off x="2028190" y="2637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3"/>
            </p:custDataLst>
          </p:nvPr>
        </p:nvSpPr>
        <p:spPr>
          <a:xfrm>
            <a:off x="159385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4"/>
            </p:custDataLst>
          </p:nvPr>
        </p:nvSpPr>
        <p:spPr>
          <a:xfrm>
            <a:off x="246634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5"/>
            </p:custDataLst>
          </p:nvPr>
        </p:nvSpPr>
        <p:spPr>
          <a:xfrm>
            <a:off x="1174750" y="398272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6"/>
            </p:custDataLst>
          </p:nvPr>
        </p:nvSpPr>
        <p:spPr>
          <a:xfrm>
            <a:off x="2109470" y="3992245"/>
            <a:ext cx="312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7"/>
            </p:custDataLst>
          </p:nvPr>
        </p:nvSpPr>
        <p:spPr>
          <a:xfrm>
            <a:off x="2881630" y="3977005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242695" y="5389245"/>
            <a:ext cx="4773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编号：</a:t>
            </a:r>
            <a:r>
              <a:rPr lang="en-US" altLang="zh-CN"/>
              <a:t>1   2   3   4   5   6   7  </a:t>
            </a:r>
            <a:endParaRPr lang="en-US" altLang="zh-CN"/>
          </a:p>
          <a:p>
            <a:r>
              <a:rPr lang="zh-CN" altLang="en-US"/>
              <a:t>数据：</a:t>
            </a:r>
            <a:r>
              <a:rPr lang="en-US" altLang="zh-CN"/>
              <a:t>a   b   c   d   e    #   f   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1356995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18"/>
            </p:custDataLst>
          </p:nvPr>
        </p:nvSpPr>
        <p:spPr>
          <a:xfrm>
            <a:off x="2287270" y="220853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5" name="文本框 44"/>
          <p:cNvSpPr txBox="1"/>
          <p:nvPr>
            <p:custDataLst>
              <p:tags r:id="rId19"/>
            </p:custDataLst>
          </p:nvPr>
        </p:nvSpPr>
        <p:spPr>
          <a:xfrm>
            <a:off x="2795270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93281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220408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9" name="文本框 48"/>
          <p:cNvSpPr txBox="1"/>
          <p:nvPr>
            <p:custDataLst>
              <p:tags r:id="rId22"/>
            </p:custDataLst>
          </p:nvPr>
        </p:nvSpPr>
        <p:spPr>
          <a:xfrm>
            <a:off x="3242310" y="3622040"/>
            <a:ext cx="34480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51" name="文本框 50"/>
          <p:cNvSpPr txBox="1"/>
          <p:nvPr/>
        </p:nvSpPr>
        <p:spPr>
          <a:xfrm>
            <a:off x="7257415" y="1889125"/>
            <a:ext cx="4103370" cy="3611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①比较</a:t>
            </a:r>
            <a:r>
              <a:rPr lang="en-US" altLang="zh-CN"/>
              <a:t> i </a:t>
            </a:r>
            <a:r>
              <a:rPr lang="zh-CN" altLang="en-US"/>
              <a:t>和</a:t>
            </a:r>
            <a:r>
              <a:rPr lang="en-US" altLang="zh-CN"/>
              <a:t> j </a:t>
            </a:r>
            <a:r>
              <a:rPr lang="zh-CN" altLang="en-US"/>
              <a:t>的</a:t>
            </a:r>
            <a:r>
              <a:rPr lang="zh-CN" altLang="en-US"/>
              <a:t>大小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②如果</a:t>
            </a:r>
            <a:r>
              <a:rPr lang="en-US" altLang="zh-CN"/>
              <a:t> i &gt; j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找</a:t>
            </a:r>
            <a:r>
              <a:rPr lang="en-US" altLang="zh-CN"/>
              <a:t> i </a:t>
            </a:r>
            <a:r>
              <a:rPr lang="zh-CN" altLang="en-US"/>
              <a:t>结点的</a:t>
            </a:r>
            <a:r>
              <a:rPr lang="zh-CN" altLang="en-US"/>
              <a:t>父结点</a:t>
            </a:r>
            <a:r>
              <a:rPr lang="en-US" altLang="zh-CN"/>
              <a:t> =&gt; i/2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更新</a:t>
            </a:r>
            <a:r>
              <a:rPr lang="en-US" altLang="zh-CN"/>
              <a:t> i = i/2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③如果</a:t>
            </a:r>
            <a:r>
              <a:rPr lang="en-US" altLang="zh-CN">
                <a:sym typeface="+mn-ea"/>
              </a:rPr>
              <a:t> i &lt; j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找</a:t>
            </a:r>
            <a:r>
              <a:rPr lang="en-US" altLang="zh-CN">
                <a:sym typeface="+mn-ea"/>
              </a:rPr>
              <a:t> j </a:t>
            </a:r>
            <a:r>
              <a:rPr lang="zh-CN" altLang="en-US">
                <a:sym typeface="+mn-ea"/>
              </a:rPr>
              <a:t>结点的</a:t>
            </a:r>
            <a:r>
              <a:rPr lang="zh-CN" altLang="en-US">
                <a:sym typeface="+mn-ea"/>
              </a:rPr>
              <a:t>父结点</a:t>
            </a:r>
            <a:r>
              <a:rPr lang="en-US" altLang="zh-CN">
                <a:sym typeface="+mn-ea"/>
              </a:rPr>
              <a:t> =&gt; j/2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>
                <a:sym typeface="+mn-ea"/>
              </a:rPr>
              <a:t>更新</a:t>
            </a:r>
            <a:r>
              <a:rPr lang="en-US" altLang="zh-CN">
                <a:sym typeface="+mn-ea"/>
              </a:rPr>
              <a:t> j = j/2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zh-CN" altLang="en-US">
                <a:sym typeface="+mn-ea"/>
              </a:rPr>
              <a:t>④循环执行</a:t>
            </a:r>
            <a:r>
              <a:rPr lang="zh-CN" altLang="en-US">
                <a:sym typeface="+mn-ea"/>
              </a:rPr>
              <a:t>②③，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直到</a:t>
            </a:r>
            <a:r>
              <a:rPr lang="en-US" altLang="zh-CN">
                <a:sym typeface="+mn-ea"/>
              </a:rPr>
              <a:t> i = j</a:t>
            </a:r>
            <a:r>
              <a:rPr lang="zh-CN" altLang="en-US">
                <a:sym typeface="+mn-ea"/>
              </a:rPr>
              <a:t>，</a:t>
            </a:r>
            <a:r>
              <a:rPr lang="zh-CN" altLang="en-US">
                <a:sym typeface="+mn-ea"/>
              </a:rPr>
              <a:t>跳出循环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=&gt;</a:t>
            </a:r>
            <a:r>
              <a:rPr lang="zh-CN" altLang="en-US">
                <a:sym typeface="+mn-ea"/>
              </a:rPr>
              <a:t>找到最近的公共祖先结点</a:t>
            </a:r>
            <a:r>
              <a:rPr lang="en-US" altLang="zh-CN">
                <a:sym typeface="+mn-ea"/>
              </a:rPr>
              <a:t> i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33145" y="492125"/>
            <a:ext cx="9370695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3.设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顺序存储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的二叉树中有编号为i和j的两个结点，请设计算法求出它们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最近的公共祖先结点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的编号。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椭圆 2"/>
          <p:cNvSpPr/>
          <p:nvPr>
            <p:custDataLst>
              <p:tags r:id="rId1"/>
            </p:custDataLst>
          </p:nvPr>
        </p:nvSpPr>
        <p:spPr>
          <a:xfrm>
            <a:off x="2031365" y="260540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 rot="19740000">
            <a:off x="1617980" y="328295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3"/>
            </p:custDataLst>
          </p:nvPr>
        </p:nvSpPr>
        <p:spPr>
          <a:xfrm rot="1200000">
            <a:off x="2489835" y="328295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4" idx="7"/>
          </p:cNvCxnSpPr>
          <p:nvPr>
            <p:custDataLst>
              <p:tags r:id="rId4"/>
            </p:custDataLst>
          </p:nvPr>
        </p:nvCxnSpPr>
        <p:spPr>
          <a:xfrm flipH="1">
            <a:off x="1863090" y="294767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3" idx="5"/>
            <a:endCxn id="30" idx="1"/>
          </p:cNvCxnSpPr>
          <p:nvPr>
            <p:custDataLst>
              <p:tags r:id="rId5"/>
            </p:custDataLst>
          </p:nvPr>
        </p:nvCxnSpPr>
        <p:spPr>
          <a:xfrm>
            <a:off x="2369820" y="294767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6"/>
            </p:custDataLst>
          </p:nvPr>
        </p:nvSpPr>
        <p:spPr>
          <a:xfrm rot="19740000">
            <a:off x="1198880" y="3957955"/>
            <a:ext cx="396240" cy="400685"/>
          </a:xfrm>
          <a:prstGeom prst="ellipse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34" name="椭圆 33"/>
          <p:cNvSpPr/>
          <p:nvPr>
            <p:custDataLst>
              <p:tags r:id="rId7"/>
            </p:custDataLst>
          </p:nvPr>
        </p:nvSpPr>
        <p:spPr>
          <a:xfrm rot="1200000">
            <a:off x="2070735" y="395795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8"/>
            </p:custDataLst>
          </p:nvPr>
        </p:nvCxnSpPr>
        <p:spPr>
          <a:xfrm flipH="1">
            <a:off x="1443990" y="36220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9"/>
            </p:custDataLst>
          </p:nvPr>
        </p:nvCxnSpPr>
        <p:spPr>
          <a:xfrm>
            <a:off x="1950720" y="362267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0"/>
            </p:custDataLst>
          </p:nvPr>
        </p:nvSpPr>
        <p:spPr>
          <a:xfrm rot="1200000">
            <a:off x="2924175" y="3976370"/>
            <a:ext cx="396240" cy="400685"/>
          </a:xfrm>
          <a:prstGeom prst="ellipse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noFill/>
              <a:highlight>
                <a:srgbClr val="FFFF00"/>
              </a:highlight>
            </a:endParaRPr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1"/>
            </p:custDataLst>
          </p:nvPr>
        </p:nvCxnSpPr>
        <p:spPr>
          <a:xfrm>
            <a:off x="2804160" y="364109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2"/>
            </p:custDataLst>
          </p:nvPr>
        </p:nvSpPr>
        <p:spPr>
          <a:xfrm>
            <a:off x="2028190" y="2637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3"/>
            </p:custDataLst>
          </p:nvPr>
        </p:nvSpPr>
        <p:spPr>
          <a:xfrm>
            <a:off x="159385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4"/>
            </p:custDataLst>
          </p:nvPr>
        </p:nvSpPr>
        <p:spPr>
          <a:xfrm>
            <a:off x="246634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5"/>
            </p:custDataLst>
          </p:nvPr>
        </p:nvSpPr>
        <p:spPr>
          <a:xfrm>
            <a:off x="1174750" y="398272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6"/>
            </p:custDataLst>
          </p:nvPr>
        </p:nvSpPr>
        <p:spPr>
          <a:xfrm>
            <a:off x="2109470" y="3992245"/>
            <a:ext cx="312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7"/>
            </p:custDataLst>
          </p:nvPr>
        </p:nvSpPr>
        <p:spPr>
          <a:xfrm>
            <a:off x="2881630" y="399923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242695" y="5389245"/>
            <a:ext cx="4773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编号：</a:t>
            </a:r>
            <a:r>
              <a:rPr lang="en-US" altLang="zh-CN"/>
              <a:t>1   2   3   4   5   6   7 </a:t>
            </a:r>
            <a:endParaRPr lang="zh-CN" altLang="en-US"/>
          </a:p>
          <a:p>
            <a:r>
              <a:rPr lang="zh-CN" altLang="en-US"/>
              <a:t>数据：</a:t>
            </a:r>
            <a:r>
              <a:rPr lang="en-US" altLang="zh-CN"/>
              <a:t>a   b   c   d   e    #   f 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1356995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18"/>
            </p:custDataLst>
          </p:nvPr>
        </p:nvSpPr>
        <p:spPr>
          <a:xfrm>
            <a:off x="2287270" y="220853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5" name="文本框 44"/>
          <p:cNvSpPr txBox="1"/>
          <p:nvPr>
            <p:custDataLst>
              <p:tags r:id="rId19"/>
            </p:custDataLst>
          </p:nvPr>
        </p:nvSpPr>
        <p:spPr>
          <a:xfrm>
            <a:off x="2795270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93281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220408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9" name="文本框 48"/>
          <p:cNvSpPr txBox="1"/>
          <p:nvPr>
            <p:custDataLst>
              <p:tags r:id="rId22"/>
            </p:custDataLst>
          </p:nvPr>
        </p:nvSpPr>
        <p:spPr>
          <a:xfrm>
            <a:off x="3242310" y="3622040"/>
            <a:ext cx="34480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630420" y="2579370"/>
            <a:ext cx="1618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例：</a:t>
            </a:r>
            <a:r>
              <a:rPr lang="en-US" altLang="zh-CN">
                <a:solidFill>
                  <a:srgbClr val="FF0000"/>
                </a:solidFill>
              </a:rPr>
              <a:t>i=4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j=7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3"/>
            </p:custDataLst>
          </p:nvPr>
        </p:nvSpPr>
        <p:spPr>
          <a:xfrm>
            <a:off x="7257415" y="1889125"/>
            <a:ext cx="4103370" cy="3611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highlight>
                  <a:srgbClr val="FFFF00"/>
                </a:highlight>
              </a:rPr>
              <a:t>①比较</a:t>
            </a:r>
            <a:r>
              <a:rPr lang="en-US" altLang="zh-CN">
                <a:highlight>
                  <a:srgbClr val="FFFF00"/>
                </a:highlight>
              </a:rPr>
              <a:t> i </a:t>
            </a:r>
            <a:r>
              <a:rPr lang="zh-CN" altLang="en-US">
                <a:highlight>
                  <a:srgbClr val="FFFF00"/>
                </a:highlight>
              </a:rPr>
              <a:t>和</a:t>
            </a:r>
            <a:r>
              <a:rPr lang="en-US" altLang="zh-CN">
                <a:highlight>
                  <a:srgbClr val="FFFF00"/>
                </a:highlight>
              </a:rPr>
              <a:t> j </a:t>
            </a:r>
            <a:r>
              <a:rPr lang="zh-CN" altLang="en-US">
                <a:highlight>
                  <a:srgbClr val="FFFF00"/>
                </a:highlight>
              </a:rPr>
              <a:t>的大小</a:t>
            </a:r>
            <a:endParaRPr lang="zh-CN" altLang="en-US">
              <a:highlight>
                <a:srgbClr val="FFFF00"/>
              </a:highlight>
            </a:endParaRPr>
          </a:p>
          <a:p>
            <a:endParaRPr lang="zh-CN" altLang="en-US"/>
          </a:p>
          <a:p>
            <a:r>
              <a:rPr lang="zh-CN" altLang="en-US"/>
              <a:t>②如果</a:t>
            </a:r>
            <a:r>
              <a:rPr lang="en-US" altLang="zh-CN"/>
              <a:t> i &gt; j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找</a:t>
            </a:r>
            <a:r>
              <a:rPr lang="en-US" altLang="zh-CN"/>
              <a:t> i </a:t>
            </a:r>
            <a:r>
              <a:rPr lang="zh-CN" altLang="en-US"/>
              <a:t>结点的</a:t>
            </a:r>
            <a:r>
              <a:rPr lang="zh-CN" altLang="en-US"/>
              <a:t>父结点</a:t>
            </a:r>
            <a:r>
              <a:rPr lang="en-US" altLang="zh-CN"/>
              <a:t> =&gt; i/2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更新</a:t>
            </a:r>
            <a:r>
              <a:rPr lang="en-US" altLang="zh-CN"/>
              <a:t> i = i/2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③如果</a:t>
            </a:r>
            <a:r>
              <a:rPr lang="en-US" altLang="zh-CN">
                <a:sym typeface="+mn-ea"/>
              </a:rPr>
              <a:t> i &lt; j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找</a:t>
            </a:r>
            <a:r>
              <a:rPr lang="en-US" altLang="zh-CN">
                <a:sym typeface="+mn-ea"/>
              </a:rPr>
              <a:t> j </a:t>
            </a:r>
            <a:r>
              <a:rPr lang="zh-CN" altLang="en-US">
                <a:sym typeface="+mn-ea"/>
              </a:rPr>
              <a:t>结点的</a:t>
            </a:r>
            <a:r>
              <a:rPr lang="zh-CN" altLang="en-US">
                <a:sym typeface="+mn-ea"/>
              </a:rPr>
              <a:t>父结点</a:t>
            </a:r>
            <a:r>
              <a:rPr lang="en-US" altLang="zh-CN">
                <a:sym typeface="+mn-ea"/>
              </a:rPr>
              <a:t> =&gt; j/2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>
                <a:sym typeface="+mn-ea"/>
              </a:rPr>
              <a:t>更新</a:t>
            </a:r>
            <a:r>
              <a:rPr lang="en-US" altLang="zh-CN">
                <a:sym typeface="+mn-ea"/>
              </a:rPr>
              <a:t> j = j/2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zh-CN" altLang="en-US">
                <a:sym typeface="+mn-ea"/>
              </a:rPr>
              <a:t>④循环执行</a:t>
            </a:r>
            <a:r>
              <a:rPr lang="zh-CN" altLang="en-US">
                <a:sym typeface="+mn-ea"/>
              </a:rPr>
              <a:t>②③，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直到</a:t>
            </a:r>
            <a:r>
              <a:rPr lang="en-US" altLang="zh-CN">
                <a:sym typeface="+mn-ea"/>
              </a:rPr>
              <a:t> i = j</a:t>
            </a:r>
            <a:r>
              <a:rPr lang="zh-CN" altLang="en-US">
                <a:sym typeface="+mn-ea"/>
              </a:rPr>
              <a:t>，</a:t>
            </a:r>
            <a:r>
              <a:rPr lang="zh-CN" altLang="en-US">
                <a:sym typeface="+mn-ea"/>
              </a:rPr>
              <a:t>跳出循环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=&gt;</a:t>
            </a:r>
            <a:r>
              <a:rPr lang="zh-CN" altLang="en-US">
                <a:sym typeface="+mn-ea"/>
              </a:rPr>
              <a:t>找到最近的公共祖先结点</a:t>
            </a:r>
            <a:r>
              <a:rPr lang="en-US" altLang="zh-CN">
                <a:sym typeface="+mn-ea"/>
              </a:rPr>
              <a:t> i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33145" y="492125"/>
            <a:ext cx="9370695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3.设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顺序存储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的二叉树中有编号为i和j的两个结点，请设计算法求出它们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最近的公共祖先结点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的编号。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椭圆 2"/>
          <p:cNvSpPr/>
          <p:nvPr>
            <p:custDataLst>
              <p:tags r:id="rId1"/>
            </p:custDataLst>
          </p:nvPr>
        </p:nvSpPr>
        <p:spPr>
          <a:xfrm>
            <a:off x="2031365" y="260540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 rot="19740000">
            <a:off x="1617980" y="3282950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3"/>
            </p:custDataLst>
          </p:nvPr>
        </p:nvSpPr>
        <p:spPr>
          <a:xfrm rot="1200000">
            <a:off x="2489835" y="3282950"/>
            <a:ext cx="396240" cy="400685"/>
          </a:xfrm>
          <a:prstGeom prst="ellipse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4" idx="7"/>
          </p:cNvCxnSpPr>
          <p:nvPr>
            <p:custDataLst>
              <p:tags r:id="rId4"/>
            </p:custDataLst>
          </p:nvPr>
        </p:nvCxnSpPr>
        <p:spPr>
          <a:xfrm flipH="1">
            <a:off x="1863090" y="294767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3" idx="5"/>
            <a:endCxn id="30" idx="1"/>
          </p:cNvCxnSpPr>
          <p:nvPr>
            <p:custDataLst>
              <p:tags r:id="rId5"/>
            </p:custDataLst>
          </p:nvPr>
        </p:nvCxnSpPr>
        <p:spPr>
          <a:xfrm>
            <a:off x="2369820" y="294767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6"/>
            </p:custDataLst>
          </p:nvPr>
        </p:nvSpPr>
        <p:spPr>
          <a:xfrm rot="19740000">
            <a:off x="1198880" y="3957955"/>
            <a:ext cx="396240" cy="400685"/>
          </a:xfrm>
          <a:prstGeom prst="ellipse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34" name="椭圆 33"/>
          <p:cNvSpPr/>
          <p:nvPr>
            <p:custDataLst>
              <p:tags r:id="rId7"/>
            </p:custDataLst>
          </p:nvPr>
        </p:nvSpPr>
        <p:spPr>
          <a:xfrm rot="1200000">
            <a:off x="2070735" y="395795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8"/>
            </p:custDataLst>
          </p:nvPr>
        </p:nvCxnSpPr>
        <p:spPr>
          <a:xfrm flipH="1">
            <a:off x="1443990" y="36220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9"/>
            </p:custDataLst>
          </p:nvPr>
        </p:nvCxnSpPr>
        <p:spPr>
          <a:xfrm>
            <a:off x="1950720" y="362267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0"/>
            </p:custDataLst>
          </p:nvPr>
        </p:nvSpPr>
        <p:spPr>
          <a:xfrm rot="1200000">
            <a:off x="2924175" y="3976370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noFill/>
              <a:highlight>
                <a:srgbClr val="FFFF00"/>
              </a:highlight>
            </a:endParaRPr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1"/>
            </p:custDataLst>
          </p:nvPr>
        </p:nvCxnSpPr>
        <p:spPr>
          <a:xfrm>
            <a:off x="2804160" y="364109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2"/>
            </p:custDataLst>
          </p:nvPr>
        </p:nvSpPr>
        <p:spPr>
          <a:xfrm>
            <a:off x="2028190" y="2637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3"/>
            </p:custDataLst>
          </p:nvPr>
        </p:nvSpPr>
        <p:spPr>
          <a:xfrm>
            <a:off x="159385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4"/>
            </p:custDataLst>
          </p:nvPr>
        </p:nvSpPr>
        <p:spPr>
          <a:xfrm>
            <a:off x="246634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5"/>
            </p:custDataLst>
          </p:nvPr>
        </p:nvSpPr>
        <p:spPr>
          <a:xfrm>
            <a:off x="1174750" y="398272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6"/>
            </p:custDataLst>
          </p:nvPr>
        </p:nvSpPr>
        <p:spPr>
          <a:xfrm>
            <a:off x="2109470" y="3992245"/>
            <a:ext cx="312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7"/>
            </p:custDataLst>
          </p:nvPr>
        </p:nvSpPr>
        <p:spPr>
          <a:xfrm>
            <a:off x="2881630" y="399923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242695" y="5389245"/>
            <a:ext cx="4773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编号：</a:t>
            </a:r>
            <a:r>
              <a:rPr lang="en-US" altLang="zh-CN"/>
              <a:t>1   2   3   4   5   6   7 </a:t>
            </a:r>
            <a:endParaRPr lang="zh-CN" altLang="en-US"/>
          </a:p>
          <a:p>
            <a:r>
              <a:rPr lang="zh-CN" altLang="en-US"/>
              <a:t>数据：</a:t>
            </a:r>
            <a:r>
              <a:rPr lang="en-US" altLang="zh-CN"/>
              <a:t>a   b   c   d   e    #   f  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1356995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18"/>
            </p:custDataLst>
          </p:nvPr>
        </p:nvSpPr>
        <p:spPr>
          <a:xfrm>
            <a:off x="2287270" y="220853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5" name="文本框 44"/>
          <p:cNvSpPr txBox="1"/>
          <p:nvPr>
            <p:custDataLst>
              <p:tags r:id="rId19"/>
            </p:custDataLst>
          </p:nvPr>
        </p:nvSpPr>
        <p:spPr>
          <a:xfrm>
            <a:off x="2795270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93281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220408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9" name="文本框 48"/>
          <p:cNvSpPr txBox="1"/>
          <p:nvPr>
            <p:custDataLst>
              <p:tags r:id="rId22"/>
            </p:custDataLst>
          </p:nvPr>
        </p:nvSpPr>
        <p:spPr>
          <a:xfrm>
            <a:off x="3242310" y="3622040"/>
            <a:ext cx="34480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630420" y="2579370"/>
            <a:ext cx="16186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例：</a:t>
            </a:r>
            <a:r>
              <a:rPr lang="en-US" altLang="zh-CN">
                <a:solidFill>
                  <a:srgbClr val="FF0000"/>
                </a:solidFill>
              </a:rPr>
              <a:t>i=4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j=7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i=4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j=3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3"/>
            </p:custDataLst>
          </p:nvPr>
        </p:nvSpPr>
        <p:spPr>
          <a:xfrm>
            <a:off x="7257415" y="1889125"/>
            <a:ext cx="4103370" cy="3611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①比较</a:t>
            </a:r>
            <a:r>
              <a:rPr lang="en-US" altLang="zh-CN"/>
              <a:t> i </a:t>
            </a:r>
            <a:r>
              <a:rPr lang="zh-CN" altLang="en-US"/>
              <a:t>和</a:t>
            </a:r>
            <a:r>
              <a:rPr lang="en-US" altLang="zh-CN"/>
              <a:t> j </a:t>
            </a:r>
            <a:r>
              <a:rPr lang="zh-CN" altLang="en-US"/>
              <a:t>的</a:t>
            </a:r>
            <a:r>
              <a:rPr lang="zh-CN" altLang="en-US"/>
              <a:t>大小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②如果</a:t>
            </a:r>
            <a:r>
              <a:rPr lang="en-US" altLang="zh-CN"/>
              <a:t> i &gt; j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找</a:t>
            </a:r>
            <a:r>
              <a:rPr lang="en-US" altLang="zh-CN"/>
              <a:t> i </a:t>
            </a:r>
            <a:r>
              <a:rPr lang="zh-CN" altLang="en-US"/>
              <a:t>结点的</a:t>
            </a:r>
            <a:r>
              <a:rPr lang="zh-CN" altLang="en-US"/>
              <a:t>父结点</a:t>
            </a:r>
            <a:r>
              <a:rPr lang="en-US" altLang="zh-CN"/>
              <a:t> =&gt; i/2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更新</a:t>
            </a:r>
            <a:r>
              <a:rPr lang="en-US" altLang="zh-CN"/>
              <a:t> i = i/2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highlight>
                  <a:srgbClr val="FFFF00"/>
                </a:highlight>
                <a:sym typeface="+mn-ea"/>
              </a:rPr>
              <a:t>③如果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i &lt; j</a:t>
            </a:r>
            <a:endParaRPr lang="zh-CN" altLang="en-US">
              <a:highlight>
                <a:srgbClr val="FFFF00"/>
              </a:highlight>
              <a:sym typeface="+mn-ea"/>
            </a:endParaRPr>
          </a:p>
          <a:p>
            <a:r>
              <a:rPr lang="en-US" altLang="zh-CN">
                <a:highlight>
                  <a:srgbClr val="FFFF00"/>
                </a:highlight>
                <a:sym typeface="+mn-ea"/>
              </a:rPr>
              <a:t>   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找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j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结点的父结点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=&gt; j/2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en-US" altLang="zh-CN">
                <a:highlight>
                  <a:srgbClr val="FFFF00"/>
                </a:highlight>
              </a:rPr>
              <a:t>   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更新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j = j/2</a:t>
            </a:r>
            <a:endParaRPr lang="en-US" altLang="zh-CN">
              <a:highlight>
                <a:srgbClr val="FFFF00"/>
              </a:highlight>
              <a:sym typeface="+mn-ea"/>
            </a:endParaRPr>
          </a:p>
          <a:p>
            <a:endParaRPr lang="en-US" altLang="zh-CN"/>
          </a:p>
          <a:p>
            <a:r>
              <a:rPr lang="zh-CN" altLang="en-US">
                <a:highlight>
                  <a:srgbClr val="FFFF00"/>
                </a:highlight>
                <a:sym typeface="+mn-ea"/>
              </a:rPr>
              <a:t>④循环执行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②③</a:t>
            </a:r>
            <a:r>
              <a:rPr lang="zh-CN" altLang="en-US">
                <a:sym typeface="+mn-ea"/>
              </a:rPr>
              <a:t>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直到</a:t>
            </a:r>
            <a:r>
              <a:rPr lang="en-US" altLang="zh-CN">
                <a:sym typeface="+mn-ea"/>
              </a:rPr>
              <a:t> i = j</a:t>
            </a:r>
            <a:r>
              <a:rPr lang="zh-CN" altLang="en-US">
                <a:sym typeface="+mn-ea"/>
              </a:rPr>
              <a:t>，</a:t>
            </a:r>
            <a:r>
              <a:rPr lang="zh-CN" altLang="en-US">
                <a:sym typeface="+mn-ea"/>
              </a:rPr>
              <a:t>跳出循环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=&gt;</a:t>
            </a:r>
            <a:r>
              <a:rPr lang="zh-CN" altLang="en-US">
                <a:sym typeface="+mn-ea"/>
              </a:rPr>
              <a:t>找到最近的公共祖先结点</a:t>
            </a:r>
            <a:r>
              <a:rPr lang="en-US" altLang="zh-CN">
                <a:sym typeface="+mn-ea"/>
              </a:rPr>
              <a:t> i</a:t>
            </a:r>
            <a:endParaRPr lang="zh-CN" altLang="en-US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33145" y="492125"/>
            <a:ext cx="9370695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3.设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顺序存储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的二叉树中有编号为i和j的两个结点，请设计算法求出它们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最近的公共祖先结点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的编号。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椭圆 2"/>
          <p:cNvSpPr/>
          <p:nvPr>
            <p:custDataLst>
              <p:tags r:id="rId1"/>
            </p:custDataLst>
          </p:nvPr>
        </p:nvSpPr>
        <p:spPr>
          <a:xfrm>
            <a:off x="2031365" y="260540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 rot="19740000">
            <a:off x="1617980" y="3282950"/>
            <a:ext cx="396240" cy="400685"/>
          </a:xfrm>
          <a:prstGeom prst="ellipse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3"/>
            </p:custDataLst>
          </p:nvPr>
        </p:nvSpPr>
        <p:spPr>
          <a:xfrm rot="1200000">
            <a:off x="2489835" y="3282950"/>
            <a:ext cx="396240" cy="400685"/>
          </a:xfrm>
          <a:prstGeom prst="ellipse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4" idx="7"/>
          </p:cNvCxnSpPr>
          <p:nvPr>
            <p:custDataLst>
              <p:tags r:id="rId4"/>
            </p:custDataLst>
          </p:nvPr>
        </p:nvCxnSpPr>
        <p:spPr>
          <a:xfrm flipH="1">
            <a:off x="1863090" y="294767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3" idx="5"/>
            <a:endCxn id="30" idx="1"/>
          </p:cNvCxnSpPr>
          <p:nvPr>
            <p:custDataLst>
              <p:tags r:id="rId5"/>
            </p:custDataLst>
          </p:nvPr>
        </p:nvCxnSpPr>
        <p:spPr>
          <a:xfrm>
            <a:off x="2369820" y="294767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6"/>
            </p:custDataLst>
          </p:nvPr>
        </p:nvSpPr>
        <p:spPr>
          <a:xfrm rot="19740000">
            <a:off x="1198880" y="3957955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34" name="椭圆 33"/>
          <p:cNvSpPr/>
          <p:nvPr>
            <p:custDataLst>
              <p:tags r:id="rId7"/>
            </p:custDataLst>
          </p:nvPr>
        </p:nvSpPr>
        <p:spPr>
          <a:xfrm rot="1200000">
            <a:off x="2070735" y="395795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8"/>
            </p:custDataLst>
          </p:nvPr>
        </p:nvCxnSpPr>
        <p:spPr>
          <a:xfrm flipH="1">
            <a:off x="1443990" y="36220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9"/>
            </p:custDataLst>
          </p:nvPr>
        </p:nvCxnSpPr>
        <p:spPr>
          <a:xfrm>
            <a:off x="1950720" y="362267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0"/>
            </p:custDataLst>
          </p:nvPr>
        </p:nvSpPr>
        <p:spPr>
          <a:xfrm rot="1200000">
            <a:off x="2924175" y="3976370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noFill/>
              <a:highlight>
                <a:srgbClr val="FFFF00"/>
              </a:highlight>
            </a:endParaRPr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1"/>
            </p:custDataLst>
          </p:nvPr>
        </p:nvCxnSpPr>
        <p:spPr>
          <a:xfrm>
            <a:off x="2804160" y="364109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2"/>
            </p:custDataLst>
          </p:nvPr>
        </p:nvSpPr>
        <p:spPr>
          <a:xfrm>
            <a:off x="2028190" y="2637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3"/>
            </p:custDataLst>
          </p:nvPr>
        </p:nvSpPr>
        <p:spPr>
          <a:xfrm>
            <a:off x="159385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4"/>
            </p:custDataLst>
          </p:nvPr>
        </p:nvSpPr>
        <p:spPr>
          <a:xfrm>
            <a:off x="246634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5"/>
            </p:custDataLst>
          </p:nvPr>
        </p:nvSpPr>
        <p:spPr>
          <a:xfrm>
            <a:off x="1174750" y="398272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6"/>
            </p:custDataLst>
          </p:nvPr>
        </p:nvSpPr>
        <p:spPr>
          <a:xfrm>
            <a:off x="2109470" y="3992245"/>
            <a:ext cx="312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7"/>
            </p:custDataLst>
          </p:nvPr>
        </p:nvSpPr>
        <p:spPr>
          <a:xfrm>
            <a:off x="2881630" y="399923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242695" y="5389245"/>
            <a:ext cx="4773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编号：</a:t>
            </a:r>
            <a:r>
              <a:rPr lang="en-US" altLang="zh-CN"/>
              <a:t>1   2   3   4   5   6   7  </a:t>
            </a:r>
            <a:endParaRPr lang="zh-CN" altLang="en-US"/>
          </a:p>
          <a:p>
            <a:r>
              <a:rPr lang="zh-CN" altLang="en-US"/>
              <a:t>数据：</a:t>
            </a:r>
            <a:r>
              <a:rPr lang="en-US" altLang="zh-CN"/>
              <a:t>a   b   c   d   e    #   f    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1356995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18"/>
            </p:custDataLst>
          </p:nvPr>
        </p:nvSpPr>
        <p:spPr>
          <a:xfrm>
            <a:off x="2287270" y="220853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5" name="文本框 44"/>
          <p:cNvSpPr txBox="1"/>
          <p:nvPr>
            <p:custDataLst>
              <p:tags r:id="rId19"/>
            </p:custDataLst>
          </p:nvPr>
        </p:nvSpPr>
        <p:spPr>
          <a:xfrm>
            <a:off x="2795270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93281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220408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9" name="文本框 48"/>
          <p:cNvSpPr txBox="1"/>
          <p:nvPr>
            <p:custDataLst>
              <p:tags r:id="rId22"/>
            </p:custDataLst>
          </p:nvPr>
        </p:nvSpPr>
        <p:spPr>
          <a:xfrm>
            <a:off x="3242310" y="3622040"/>
            <a:ext cx="34480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630420" y="2579370"/>
            <a:ext cx="16186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例：</a:t>
            </a:r>
            <a:r>
              <a:rPr lang="en-US" altLang="zh-CN">
                <a:solidFill>
                  <a:srgbClr val="FF0000"/>
                </a:solidFill>
              </a:rPr>
              <a:t>i=4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j=7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i=4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j=3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i=2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j=3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3"/>
            </p:custDataLst>
          </p:nvPr>
        </p:nvSpPr>
        <p:spPr>
          <a:xfrm>
            <a:off x="7257415" y="1889125"/>
            <a:ext cx="4103370" cy="3611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①比较</a:t>
            </a:r>
            <a:r>
              <a:rPr lang="en-US" altLang="zh-CN"/>
              <a:t> i </a:t>
            </a:r>
            <a:r>
              <a:rPr lang="zh-CN" altLang="en-US"/>
              <a:t>和</a:t>
            </a:r>
            <a:r>
              <a:rPr lang="en-US" altLang="zh-CN"/>
              <a:t> j </a:t>
            </a:r>
            <a:r>
              <a:rPr lang="zh-CN" altLang="en-US"/>
              <a:t>的</a:t>
            </a:r>
            <a:r>
              <a:rPr lang="zh-CN" altLang="en-US"/>
              <a:t>大小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highlight>
                  <a:srgbClr val="FFFF00"/>
                </a:highlight>
              </a:rPr>
              <a:t>②如果</a:t>
            </a:r>
            <a:r>
              <a:rPr lang="en-US" altLang="zh-CN">
                <a:highlight>
                  <a:srgbClr val="FFFF00"/>
                </a:highlight>
              </a:rPr>
              <a:t> i &gt; j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en-US" altLang="zh-CN">
                <a:highlight>
                  <a:srgbClr val="FFFF00"/>
                </a:highlight>
              </a:rPr>
              <a:t>    </a:t>
            </a:r>
            <a:r>
              <a:rPr lang="zh-CN" altLang="en-US">
                <a:highlight>
                  <a:srgbClr val="FFFF00"/>
                </a:highlight>
              </a:rPr>
              <a:t>找</a:t>
            </a:r>
            <a:r>
              <a:rPr lang="en-US" altLang="zh-CN">
                <a:highlight>
                  <a:srgbClr val="FFFF00"/>
                </a:highlight>
              </a:rPr>
              <a:t> i </a:t>
            </a:r>
            <a:r>
              <a:rPr lang="zh-CN" altLang="en-US">
                <a:highlight>
                  <a:srgbClr val="FFFF00"/>
                </a:highlight>
              </a:rPr>
              <a:t>结点的父结点</a:t>
            </a:r>
            <a:r>
              <a:rPr lang="en-US" altLang="zh-CN">
                <a:highlight>
                  <a:srgbClr val="FFFF00"/>
                </a:highlight>
              </a:rPr>
              <a:t> =&gt; i/2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en-US" altLang="zh-CN">
                <a:highlight>
                  <a:srgbClr val="FFFF00"/>
                </a:highlight>
              </a:rPr>
              <a:t>    </a:t>
            </a:r>
            <a:r>
              <a:rPr lang="zh-CN" altLang="en-US">
                <a:highlight>
                  <a:srgbClr val="FFFF00"/>
                </a:highlight>
              </a:rPr>
              <a:t>更新</a:t>
            </a:r>
            <a:r>
              <a:rPr lang="en-US" altLang="zh-CN">
                <a:highlight>
                  <a:srgbClr val="FFFF00"/>
                </a:highlight>
              </a:rPr>
              <a:t> i = i/2</a:t>
            </a:r>
            <a:endParaRPr lang="en-US" altLang="zh-CN">
              <a:highlight>
                <a:srgbClr val="FFFF00"/>
              </a:highlight>
            </a:endParaRPr>
          </a:p>
          <a:p>
            <a:endParaRPr lang="en-US" altLang="zh-CN"/>
          </a:p>
          <a:p>
            <a:r>
              <a:rPr lang="zh-CN" altLang="en-US">
                <a:sym typeface="+mn-ea"/>
              </a:rPr>
              <a:t>③如果</a:t>
            </a:r>
            <a:r>
              <a:rPr lang="en-US" altLang="zh-CN">
                <a:sym typeface="+mn-ea"/>
              </a:rPr>
              <a:t> i &lt; j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找</a:t>
            </a:r>
            <a:r>
              <a:rPr lang="en-US" altLang="zh-CN">
                <a:sym typeface="+mn-ea"/>
              </a:rPr>
              <a:t> j </a:t>
            </a:r>
            <a:r>
              <a:rPr lang="zh-CN" altLang="en-US">
                <a:sym typeface="+mn-ea"/>
              </a:rPr>
              <a:t>结点的父结点</a:t>
            </a:r>
            <a:r>
              <a:rPr lang="en-US" altLang="zh-CN">
                <a:sym typeface="+mn-ea"/>
              </a:rPr>
              <a:t> =&gt; j/2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>
                <a:sym typeface="+mn-ea"/>
              </a:rPr>
              <a:t>更新</a:t>
            </a:r>
            <a:r>
              <a:rPr lang="en-US" altLang="zh-CN">
                <a:sym typeface="+mn-ea"/>
              </a:rPr>
              <a:t> j = j/2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zh-CN" altLang="en-US">
                <a:highlight>
                  <a:srgbClr val="FFFF00"/>
                </a:highlight>
                <a:sym typeface="+mn-ea"/>
              </a:rPr>
              <a:t>④循环执行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②③</a:t>
            </a:r>
            <a:r>
              <a:rPr lang="zh-CN" altLang="en-US">
                <a:sym typeface="+mn-ea"/>
              </a:rPr>
              <a:t>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直到</a:t>
            </a:r>
            <a:r>
              <a:rPr lang="en-US" altLang="zh-CN">
                <a:sym typeface="+mn-ea"/>
              </a:rPr>
              <a:t> i = j</a:t>
            </a:r>
            <a:r>
              <a:rPr lang="zh-CN" altLang="en-US">
                <a:sym typeface="+mn-ea"/>
              </a:rPr>
              <a:t>，</a:t>
            </a:r>
            <a:r>
              <a:rPr lang="zh-CN" altLang="en-US">
                <a:sym typeface="+mn-ea"/>
              </a:rPr>
              <a:t>跳出循环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=&gt;</a:t>
            </a:r>
            <a:r>
              <a:rPr lang="zh-CN" altLang="en-US">
                <a:sym typeface="+mn-ea"/>
              </a:rPr>
              <a:t>找到最近的公共祖先结点</a:t>
            </a:r>
            <a:r>
              <a:rPr lang="en-US" altLang="zh-CN">
                <a:sym typeface="+mn-ea"/>
              </a:rPr>
              <a:t> i</a:t>
            </a:r>
            <a:endParaRPr lang="zh-CN" altLang="en-US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33145" y="492125"/>
            <a:ext cx="9370695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3.设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顺序存储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的二叉树中有编号为i和j的两个结点，请设计算法求出它们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最近的公共祖先结点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的编号。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椭圆 2"/>
          <p:cNvSpPr/>
          <p:nvPr>
            <p:custDataLst>
              <p:tags r:id="rId1"/>
            </p:custDataLst>
          </p:nvPr>
        </p:nvSpPr>
        <p:spPr>
          <a:xfrm>
            <a:off x="2031365" y="2605405"/>
            <a:ext cx="396240" cy="400685"/>
          </a:xfrm>
          <a:prstGeom prst="ellipse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 rot="19740000">
            <a:off x="1617980" y="3282950"/>
            <a:ext cx="396240" cy="400685"/>
          </a:xfrm>
          <a:prstGeom prst="ellipse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3"/>
            </p:custDataLst>
          </p:nvPr>
        </p:nvSpPr>
        <p:spPr>
          <a:xfrm rot="1200000">
            <a:off x="2489835" y="3282950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4" idx="7"/>
          </p:cNvCxnSpPr>
          <p:nvPr>
            <p:custDataLst>
              <p:tags r:id="rId4"/>
            </p:custDataLst>
          </p:nvPr>
        </p:nvCxnSpPr>
        <p:spPr>
          <a:xfrm flipH="1">
            <a:off x="1863090" y="294767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3" idx="5"/>
            <a:endCxn id="30" idx="1"/>
          </p:cNvCxnSpPr>
          <p:nvPr>
            <p:custDataLst>
              <p:tags r:id="rId5"/>
            </p:custDataLst>
          </p:nvPr>
        </p:nvCxnSpPr>
        <p:spPr>
          <a:xfrm>
            <a:off x="2369820" y="294767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6"/>
            </p:custDataLst>
          </p:nvPr>
        </p:nvSpPr>
        <p:spPr>
          <a:xfrm rot="19740000">
            <a:off x="1198880" y="3957955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34" name="椭圆 33"/>
          <p:cNvSpPr/>
          <p:nvPr>
            <p:custDataLst>
              <p:tags r:id="rId7"/>
            </p:custDataLst>
          </p:nvPr>
        </p:nvSpPr>
        <p:spPr>
          <a:xfrm rot="1200000">
            <a:off x="2070735" y="395795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8"/>
            </p:custDataLst>
          </p:nvPr>
        </p:nvCxnSpPr>
        <p:spPr>
          <a:xfrm flipH="1">
            <a:off x="1443990" y="36220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9"/>
            </p:custDataLst>
          </p:nvPr>
        </p:nvCxnSpPr>
        <p:spPr>
          <a:xfrm>
            <a:off x="1950720" y="362267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0"/>
            </p:custDataLst>
          </p:nvPr>
        </p:nvSpPr>
        <p:spPr>
          <a:xfrm rot="1200000">
            <a:off x="2924175" y="3976370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noFill/>
              <a:highlight>
                <a:srgbClr val="FFFF00"/>
              </a:highlight>
            </a:endParaRPr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1"/>
            </p:custDataLst>
          </p:nvPr>
        </p:nvCxnSpPr>
        <p:spPr>
          <a:xfrm>
            <a:off x="2804160" y="364109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2"/>
            </p:custDataLst>
          </p:nvPr>
        </p:nvSpPr>
        <p:spPr>
          <a:xfrm>
            <a:off x="2028190" y="2637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3"/>
            </p:custDataLst>
          </p:nvPr>
        </p:nvSpPr>
        <p:spPr>
          <a:xfrm>
            <a:off x="159385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4"/>
            </p:custDataLst>
          </p:nvPr>
        </p:nvSpPr>
        <p:spPr>
          <a:xfrm>
            <a:off x="246634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5"/>
            </p:custDataLst>
          </p:nvPr>
        </p:nvSpPr>
        <p:spPr>
          <a:xfrm>
            <a:off x="1174750" y="398272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6"/>
            </p:custDataLst>
          </p:nvPr>
        </p:nvSpPr>
        <p:spPr>
          <a:xfrm>
            <a:off x="2109470" y="3992245"/>
            <a:ext cx="312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7"/>
            </p:custDataLst>
          </p:nvPr>
        </p:nvSpPr>
        <p:spPr>
          <a:xfrm>
            <a:off x="2881630" y="399923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242695" y="5389245"/>
            <a:ext cx="4773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编号：</a:t>
            </a:r>
            <a:r>
              <a:rPr lang="en-US" altLang="zh-CN"/>
              <a:t>1   2   3   4   5   6   7 </a:t>
            </a:r>
            <a:endParaRPr lang="zh-CN" altLang="en-US"/>
          </a:p>
          <a:p>
            <a:r>
              <a:rPr lang="zh-CN" altLang="en-US"/>
              <a:t>数据：</a:t>
            </a:r>
            <a:r>
              <a:rPr lang="en-US" altLang="zh-CN"/>
              <a:t>a   b   c   d   e    #   f   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1356995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18"/>
            </p:custDataLst>
          </p:nvPr>
        </p:nvSpPr>
        <p:spPr>
          <a:xfrm>
            <a:off x="2287270" y="220853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5" name="文本框 44"/>
          <p:cNvSpPr txBox="1"/>
          <p:nvPr>
            <p:custDataLst>
              <p:tags r:id="rId19"/>
            </p:custDataLst>
          </p:nvPr>
        </p:nvSpPr>
        <p:spPr>
          <a:xfrm>
            <a:off x="2795270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93281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220408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9" name="文本框 48"/>
          <p:cNvSpPr txBox="1"/>
          <p:nvPr>
            <p:custDataLst>
              <p:tags r:id="rId22"/>
            </p:custDataLst>
          </p:nvPr>
        </p:nvSpPr>
        <p:spPr>
          <a:xfrm>
            <a:off x="3242310" y="3622040"/>
            <a:ext cx="34480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630420" y="2579370"/>
            <a:ext cx="16186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例：</a:t>
            </a:r>
            <a:r>
              <a:rPr lang="en-US" altLang="zh-CN">
                <a:solidFill>
                  <a:srgbClr val="FF0000"/>
                </a:solidFill>
              </a:rPr>
              <a:t>i=4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j=7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i=4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j=3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i=2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j=3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i=2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j=1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3"/>
            </p:custDataLst>
          </p:nvPr>
        </p:nvSpPr>
        <p:spPr>
          <a:xfrm>
            <a:off x="7257415" y="1889125"/>
            <a:ext cx="4103370" cy="3611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①比较</a:t>
            </a:r>
            <a:r>
              <a:rPr lang="en-US" altLang="zh-CN"/>
              <a:t> i </a:t>
            </a:r>
            <a:r>
              <a:rPr lang="zh-CN" altLang="en-US"/>
              <a:t>和</a:t>
            </a:r>
            <a:r>
              <a:rPr lang="en-US" altLang="zh-CN"/>
              <a:t> j </a:t>
            </a:r>
            <a:r>
              <a:rPr lang="zh-CN" altLang="en-US"/>
              <a:t>的</a:t>
            </a:r>
            <a:r>
              <a:rPr lang="zh-CN" altLang="en-US"/>
              <a:t>大小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②如果</a:t>
            </a:r>
            <a:r>
              <a:rPr lang="en-US" altLang="zh-CN"/>
              <a:t> i &gt; j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找</a:t>
            </a:r>
            <a:r>
              <a:rPr lang="en-US" altLang="zh-CN"/>
              <a:t> i </a:t>
            </a:r>
            <a:r>
              <a:rPr lang="zh-CN" altLang="en-US"/>
              <a:t>结点的父结点</a:t>
            </a:r>
            <a:r>
              <a:rPr lang="en-US" altLang="zh-CN"/>
              <a:t> =&gt; i/2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更新</a:t>
            </a:r>
            <a:r>
              <a:rPr lang="en-US" altLang="zh-CN"/>
              <a:t> i = i/2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highlight>
                  <a:srgbClr val="FFFF00"/>
                </a:highlight>
                <a:sym typeface="+mn-ea"/>
              </a:rPr>
              <a:t>③如果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i &lt; j</a:t>
            </a:r>
            <a:endParaRPr lang="zh-CN" altLang="en-US">
              <a:highlight>
                <a:srgbClr val="FFFF00"/>
              </a:highlight>
              <a:sym typeface="+mn-ea"/>
            </a:endParaRPr>
          </a:p>
          <a:p>
            <a:r>
              <a:rPr lang="en-US" altLang="zh-CN">
                <a:highlight>
                  <a:srgbClr val="FFFF00"/>
                </a:highlight>
                <a:sym typeface="+mn-ea"/>
              </a:rPr>
              <a:t>   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找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j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结点的父结点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=&gt; j/2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en-US" altLang="zh-CN">
                <a:highlight>
                  <a:srgbClr val="FFFF00"/>
                </a:highlight>
              </a:rPr>
              <a:t>   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更新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j = j/2</a:t>
            </a:r>
            <a:endParaRPr lang="en-US" altLang="zh-CN">
              <a:highlight>
                <a:srgbClr val="FFFF00"/>
              </a:highlight>
              <a:sym typeface="+mn-ea"/>
            </a:endParaRPr>
          </a:p>
          <a:p>
            <a:endParaRPr lang="en-US" altLang="zh-CN"/>
          </a:p>
          <a:p>
            <a:r>
              <a:rPr lang="zh-CN" altLang="en-US">
                <a:highlight>
                  <a:srgbClr val="FFFF00"/>
                </a:highlight>
                <a:sym typeface="+mn-ea"/>
              </a:rPr>
              <a:t>④循环执行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②③，</a:t>
            </a:r>
            <a:endParaRPr lang="zh-CN" altLang="en-US">
              <a:highlight>
                <a:srgbClr val="FFFF00"/>
              </a:highlight>
              <a:sym typeface="+mn-ea"/>
            </a:endParaRPr>
          </a:p>
          <a:p>
            <a:r>
              <a:rPr lang="zh-CN" altLang="en-US">
                <a:sym typeface="+mn-ea"/>
              </a:rPr>
              <a:t>直到</a:t>
            </a:r>
            <a:r>
              <a:rPr lang="en-US" altLang="zh-CN">
                <a:sym typeface="+mn-ea"/>
              </a:rPr>
              <a:t> i = j</a:t>
            </a:r>
            <a:r>
              <a:rPr lang="zh-CN" altLang="en-US">
                <a:sym typeface="+mn-ea"/>
              </a:rPr>
              <a:t>，</a:t>
            </a:r>
            <a:r>
              <a:rPr lang="zh-CN" altLang="en-US">
                <a:sym typeface="+mn-ea"/>
              </a:rPr>
              <a:t>跳出循环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=&gt;</a:t>
            </a:r>
            <a:r>
              <a:rPr lang="zh-CN" altLang="en-US">
                <a:sym typeface="+mn-ea"/>
              </a:rPr>
              <a:t>找到最近的公共祖先结点</a:t>
            </a:r>
            <a:r>
              <a:rPr lang="en-US" altLang="zh-CN">
                <a:sym typeface="+mn-ea"/>
              </a:rPr>
              <a:t> i</a:t>
            </a:r>
            <a:endParaRPr lang="zh-CN" altLang="en-US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33145" y="492125"/>
            <a:ext cx="9370695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3.设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顺序存储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的二叉树中有编号为i和j的两个结点，请设计算法求出它们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最近的公共祖先结点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的编号。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椭圆 2"/>
          <p:cNvSpPr/>
          <p:nvPr>
            <p:custDataLst>
              <p:tags r:id="rId1"/>
            </p:custDataLst>
          </p:nvPr>
        </p:nvSpPr>
        <p:spPr>
          <a:xfrm>
            <a:off x="2031365" y="2605405"/>
            <a:ext cx="396240" cy="400685"/>
          </a:xfrm>
          <a:prstGeom prst="ellipse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 rot="19740000">
            <a:off x="1617980" y="3282950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3"/>
            </p:custDataLst>
          </p:nvPr>
        </p:nvSpPr>
        <p:spPr>
          <a:xfrm rot="1200000">
            <a:off x="2489835" y="3282950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4" idx="7"/>
          </p:cNvCxnSpPr>
          <p:nvPr>
            <p:custDataLst>
              <p:tags r:id="rId4"/>
            </p:custDataLst>
          </p:nvPr>
        </p:nvCxnSpPr>
        <p:spPr>
          <a:xfrm flipH="1">
            <a:off x="1863090" y="294767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3" idx="5"/>
            <a:endCxn id="30" idx="1"/>
          </p:cNvCxnSpPr>
          <p:nvPr>
            <p:custDataLst>
              <p:tags r:id="rId5"/>
            </p:custDataLst>
          </p:nvPr>
        </p:nvCxnSpPr>
        <p:spPr>
          <a:xfrm>
            <a:off x="2369820" y="294767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6"/>
            </p:custDataLst>
          </p:nvPr>
        </p:nvSpPr>
        <p:spPr>
          <a:xfrm rot="19740000">
            <a:off x="1198880" y="3957955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34" name="椭圆 33"/>
          <p:cNvSpPr/>
          <p:nvPr>
            <p:custDataLst>
              <p:tags r:id="rId7"/>
            </p:custDataLst>
          </p:nvPr>
        </p:nvSpPr>
        <p:spPr>
          <a:xfrm rot="1200000">
            <a:off x="2070735" y="395795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8"/>
            </p:custDataLst>
          </p:nvPr>
        </p:nvCxnSpPr>
        <p:spPr>
          <a:xfrm flipH="1">
            <a:off x="1443990" y="36220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9"/>
            </p:custDataLst>
          </p:nvPr>
        </p:nvCxnSpPr>
        <p:spPr>
          <a:xfrm>
            <a:off x="1950720" y="362267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0"/>
            </p:custDataLst>
          </p:nvPr>
        </p:nvSpPr>
        <p:spPr>
          <a:xfrm rot="1200000">
            <a:off x="2924175" y="3976370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noFill/>
              <a:highlight>
                <a:srgbClr val="FFFF00"/>
              </a:highlight>
            </a:endParaRPr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1"/>
            </p:custDataLst>
          </p:nvPr>
        </p:nvCxnSpPr>
        <p:spPr>
          <a:xfrm>
            <a:off x="2804160" y="364109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2"/>
            </p:custDataLst>
          </p:nvPr>
        </p:nvSpPr>
        <p:spPr>
          <a:xfrm>
            <a:off x="2028190" y="2637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3"/>
            </p:custDataLst>
          </p:nvPr>
        </p:nvSpPr>
        <p:spPr>
          <a:xfrm>
            <a:off x="159385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4"/>
            </p:custDataLst>
          </p:nvPr>
        </p:nvSpPr>
        <p:spPr>
          <a:xfrm>
            <a:off x="246634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5"/>
            </p:custDataLst>
          </p:nvPr>
        </p:nvSpPr>
        <p:spPr>
          <a:xfrm>
            <a:off x="1174750" y="398272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6"/>
            </p:custDataLst>
          </p:nvPr>
        </p:nvSpPr>
        <p:spPr>
          <a:xfrm>
            <a:off x="2109470" y="3992245"/>
            <a:ext cx="312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7"/>
            </p:custDataLst>
          </p:nvPr>
        </p:nvSpPr>
        <p:spPr>
          <a:xfrm>
            <a:off x="2881630" y="399923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242695" y="5389245"/>
            <a:ext cx="4773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编号：</a:t>
            </a:r>
            <a:r>
              <a:rPr lang="en-US" altLang="zh-CN"/>
              <a:t>1   2   3   4   5   6   7   </a:t>
            </a:r>
            <a:endParaRPr lang="zh-CN" altLang="en-US"/>
          </a:p>
          <a:p>
            <a:r>
              <a:rPr lang="zh-CN" altLang="en-US"/>
              <a:t>数据：</a:t>
            </a:r>
            <a:r>
              <a:rPr lang="en-US" altLang="zh-CN"/>
              <a:t>a   b   c   d   e    #   f    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1356995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18"/>
            </p:custDataLst>
          </p:nvPr>
        </p:nvSpPr>
        <p:spPr>
          <a:xfrm>
            <a:off x="2287270" y="220853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5" name="文本框 44"/>
          <p:cNvSpPr txBox="1"/>
          <p:nvPr>
            <p:custDataLst>
              <p:tags r:id="rId19"/>
            </p:custDataLst>
          </p:nvPr>
        </p:nvSpPr>
        <p:spPr>
          <a:xfrm>
            <a:off x="2795270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93281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220408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9" name="文本框 48"/>
          <p:cNvSpPr txBox="1"/>
          <p:nvPr>
            <p:custDataLst>
              <p:tags r:id="rId22"/>
            </p:custDataLst>
          </p:nvPr>
        </p:nvSpPr>
        <p:spPr>
          <a:xfrm>
            <a:off x="3242310" y="3622040"/>
            <a:ext cx="34480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630420" y="2579370"/>
            <a:ext cx="16186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例：</a:t>
            </a:r>
            <a:r>
              <a:rPr lang="en-US" altLang="zh-CN">
                <a:solidFill>
                  <a:srgbClr val="FF0000"/>
                </a:solidFill>
              </a:rPr>
              <a:t>i=4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j=7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i=4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j=3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i=2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j=3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i=2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j=1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i=1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j=1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3"/>
            </p:custDataLst>
          </p:nvPr>
        </p:nvSpPr>
        <p:spPr>
          <a:xfrm>
            <a:off x="7257415" y="1889125"/>
            <a:ext cx="4103370" cy="3611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①比较</a:t>
            </a:r>
            <a:r>
              <a:rPr lang="en-US" altLang="zh-CN"/>
              <a:t> i </a:t>
            </a:r>
            <a:r>
              <a:rPr lang="zh-CN" altLang="en-US"/>
              <a:t>和</a:t>
            </a:r>
            <a:r>
              <a:rPr lang="en-US" altLang="zh-CN"/>
              <a:t> j </a:t>
            </a:r>
            <a:r>
              <a:rPr lang="zh-CN" altLang="en-US"/>
              <a:t>的</a:t>
            </a:r>
            <a:r>
              <a:rPr lang="zh-CN" altLang="en-US"/>
              <a:t>大小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highlight>
                  <a:srgbClr val="FFFF00"/>
                </a:highlight>
              </a:rPr>
              <a:t>②如果</a:t>
            </a:r>
            <a:r>
              <a:rPr lang="en-US" altLang="zh-CN">
                <a:highlight>
                  <a:srgbClr val="FFFF00"/>
                </a:highlight>
              </a:rPr>
              <a:t> i &gt; j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en-US" altLang="zh-CN">
                <a:highlight>
                  <a:srgbClr val="FFFF00"/>
                </a:highlight>
              </a:rPr>
              <a:t>    </a:t>
            </a:r>
            <a:r>
              <a:rPr lang="zh-CN" altLang="en-US">
                <a:highlight>
                  <a:srgbClr val="FFFF00"/>
                </a:highlight>
              </a:rPr>
              <a:t>找</a:t>
            </a:r>
            <a:r>
              <a:rPr lang="en-US" altLang="zh-CN">
                <a:highlight>
                  <a:srgbClr val="FFFF00"/>
                </a:highlight>
              </a:rPr>
              <a:t> i </a:t>
            </a:r>
            <a:r>
              <a:rPr lang="zh-CN" altLang="en-US">
                <a:highlight>
                  <a:srgbClr val="FFFF00"/>
                </a:highlight>
              </a:rPr>
              <a:t>结点的父结点</a:t>
            </a:r>
            <a:r>
              <a:rPr lang="en-US" altLang="zh-CN">
                <a:highlight>
                  <a:srgbClr val="FFFF00"/>
                </a:highlight>
              </a:rPr>
              <a:t> =&gt; i/2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en-US" altLang="zh-CN">
                <a:highlight>
                  <a:srgbClr val="FFFF00"/>
                </a:highlight>
              </a:rPr>
              <a:t>    </a:t>
            </a:r>
            <a:r>
              <a:rPr lang="zh-CN" altLang="en-US">
                <a:highlight>
                  <a:srgbClr val="FFFF00"/>
                </a:highlight>
              </a:rPr>
              <a:t>更新</a:t>
            </a:r>
            <a:r>
              <a:rPr lang="en-US" altLang="zh-CN">
                <a:highlight>
                  <a:srgbClr val="FFFF00"/>
                </a:highlight>
              </a:rPr>
              <a:t> i = i/2</a:t>
            </a:r>
            <a:endParaRPr lang="en-US" altLang="zh-CN">
              <a:highlight>
                <a:srgbClr val="FFFF00"/>
              </a:highlight>
            </a:endParaRPr>
          </a:p>
          <a:p>
            <a:endParaRPr lang="en-US" altLang="zh-CN"/>
          </a:p>
          <a:p>
            <a:r>
              <a:rPr lang="zh-CN" altLang="en-US">
                <a:sym typeface="+mn-ea"/>
              </a:rPr>
              <a:t>③如果</a:t>
            </a:r>
            <a:r>
              <a:rPr lang="en-US" altLang="zh-CN">
                <a:sym typeface="+mn-ea"/>
              </a:rPr>
              <a:t> i &lt; j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找</a:t>
            </a:r>
            <a:r>
              <a:rPr lang="en-US" altLang="zh-CN">
                <a:sym typeface="+mn-ea"/>
              </a:rPr>
              <a:t> j </a:t>
            </a:r>
            <a:r>
              <a:rPr lang="zh-CN" altLang="en-US">
                <a:sym typeface="+mn-ea"/>
              </a:rPr>
              <a:t>结点的父结点</a:t>
            </a:r>
            <a:r>
              <a:rPr lang="en-US" altLang="zh-CN">
                <a:sym typeface="+mn-ea"/>
              </a:rPr>
              <a:t> =&gt; j/2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>
                <a:sym typeface="+mn-ea"/>
              </a:rPr>
              <a:t>更新</a:t>
            </a:r>
            <a:r>
              <a:rPr lang="en-US" altLang="zh-CN">
                <a:sym typeface="+mn-ea"/>
              </a:rPr>
              <a:t> j = j/2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zh-CN" altLang="en-US">
                <a:sym typeface="+mn-ea"/>
              </a:rPr>
              <a:t>④循环执行</a:t>
            </a:r>
            <a:r>
              <a:rPr lang="zh-CN" altLang="en-US">
                <a:sym typeface="+mn-ea"/>
              </a:rPr>
              <a:t>②③，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直到</a:t>
            </a:r>
            <a:r>
              <a:rPr lang="en-US" altLang="zh-CN">
                <a:sym typeface="+mn-ea"/>
              </a:rPr>
              <a:t> i = j</a:t>
            </a:r>
            <a:r>
              <a:rPr lang="zh-CN" altLang="en-US">
                <a:sym typeface="+mn-ea"/>
              </a:rPr>
              <a:t>，</a:t>
            </a:r>
            <a:r>
              <a:rPr lang="zh-CN" altLang="en-US">
                <a:sym typeface="+mn-ea"/>
              </a:rPr>
              <a:t>跳出循环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=&gt;</a:t>
            </a:r>
            <a:r>
              <a:rPr lang="zh-CN" altLang="en-US">
                <a:sym typeface="+mn-ea"/>
              </a:rPr>
              <a:t>找到最近的公共祖先结点</a:t>
            </a:r>
            <a:r>
              <a:rPr lang="en-US" altLang="zh-CN">
                <a:sym typeface="+mn-ea"/>
              </a:rPr>
              <a:t> i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033145" y="492125"/>
            <a:ext cx="9370695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3.设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顺序存储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的二叉树中有编号为i和j的两个结点，请设计算法求出它们</a:t>
            </a:r>
            <a:r>
              <a:rPr lang="zh-CN" altLang="en-US" sz="24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最近的公共祖先结点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的编号。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椭圆 2"/>
          <p:cNvSpPr/>
          <p:nvPr>
            <p:custDataLst>
              <p:tags r:id="rId1"/>
            </p:custDataLst>
          </p:nvPr>
        </p:nvSpPr>
        <p:spPr>
          <a:xfrm>
            <a:off x="2031365" y="2605405"/>
            <a:ext cx="396240" cy="400685"/>
          </a:xfrm>
          <a:prstGeom prst="ellipse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 rot="19740000">
            <a:off x="1617980" y="3282950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3"/>
            </p:custDataLst>
          </p:nvPr>
        </p:nvSpPr>
        <p:spPr>
          <a:xfrm rot="1200000">
            <a:off x="2489835" y="3282950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endCxn id="4" idx="7"/>
          </p:cNvCxnSpPr>
          <p:nvPr>
            <p:custDataLst>
              <p:tags r:id="rId4"/>
            </p:custDataLst>
          </p:nvPr>
        </p:nvCxnSpPr>
        <p:spPr>
          <a:xfrm flipH="1">
            <a:off x="1863090" y="294767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3" idx="5"/>
            <a:endCxn id="30" idx="1"/>
          </p:cNvCxnSpPr>
          <p:nvPr>
            <p:custDataLst>
              <p:tags r:id="rId5"/>
            </p:custDataLst>
          </p:nvPr>
        </p:nvCxnSpPr>
        <p:spPr>
          <a:xfrm>
            <a:off x="2369820" y="294767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6"/>
            </p:custDataLst>
          </p:nvPr>
        </p:nvSpPr>
        <p:spPr>
          <a:xfrm rot="19740000">
            <a:off x="1198880" y="3957955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34" name="椭圆 33"/>
          <p:cNvSpPr/>
          <p:nvPr>
            <p:custDataLst>
              <p:tags r:id="rId7"/>
            </p:custDataLst>
          </p:nvPr>
        </p:nvSpPr>
        <p:spPr>
          <a:xfrm rot="1200000">
            <a:off x="2070735" y="3957955"/>
            <a:ext cx="396240" cy="400685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3" idx="7"/>
          </p:cNvCxnSpPr>
          <p:nvPr>
            <p:custDataLst>
              <p:tags r:id="rId8"/>
            </p:custDataLst>
          </p:nvPr>
        </p:nvCxnSpPr>
        <p:spPr>
          <a:xfrm flipH="1">
            <a:off x="1443990" y="3622040"/>
            <a:ext cx="226060" cy="342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endCxn id="34" idx="1"/>
          </p:cNvCxnSpPr>
          <p:nvPr>
            <p:custDataLst>
              <p:tags r:id="rId9"/>
            </p:custDataLst>
          </p:nvPr>
        </p:nvCxnSpPr>
        <p:spPr>
          <a:xfrm>
            <a:off x="1950720" y="3622675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椭圆 42"/>
          <p:cNvSpPr/>
          <p:nvPr>
            <p:custDataLst>
              <p:tags r:id="rId10"/>
            </p:custDataLst>
          </p:nvPr>
        </p:nvSpPr>
        <p:spPr>
          <a:xfrm rot="1200000">
            <a:off x="2924175" y="3976370"/>
            <a:ext cx="396240" cy="400685"/>
          </a:xfrm>
          <a:prstGeom prst="ellipse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noFill/>
              <a:highlight>
                <a:srgbClr val="FFFF00"/>
              </a:highlight>
            </a:endParaRPr>
          </a:p>
        </p:txBody>
      </p:sp>
      <p:cxnSp>
        <p:nvCxnSpPr>
          <p:cNvPr id="44" name="直接连接符 43"/>
          <p:cNvCxnSpPr>
            <a:endCxn id="43" idx="1"/>
          </p:cNvCxnSpPr>
          <p:nvPr>
            <p:custDataLst>
              <p:tags r:id="rId11"/>
            </p:custDataLst>
          </p:nvPr>
        </p:nvCxnSpPr>
        <p:spPr>
          <a:xfrm>
            <a:off x="2804160" y="3641090"/>
            <a:ext cx="234950" cy="354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>
            <p:custDataLst>
              <p:tags r:id="rId12"/>
            </p:custDataLst>
          </p:nvPr>
        </p:nvSpPr>
        <p:spPr>
          <a:xfrm>
            <a:off x="2028190" y="263779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a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7" name="文本框 56"/>
          <p:cNvSpPr txBox="1"/>
          <p:nvPr>
            <p:custDataLst>
              <p:tags r:id="rId13"/>
            </p:custDataLst>
          </p:nvPr>
        </p:nvSpPr>
        <p:spPr>
          <a:xfrm>
            <a:off x="159385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b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58" name="文本框 57"/>
          <p:cNvSpPr txBox="1"/>
          <p:nvPr>
            <p:custDataLst>
              <p:tags r:id="rId14"/>
            </p:custDataLst>
          </p:nvPr>
        </p:nvSpPr>
        <p:spPr>
          <a:xfrm>
            <a:off x="2466340" y="330200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c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6" name="文本框 65"/>
          <p:cNvSpPr txBox="1"/>
          <p:nvPr>
            <p:custDataLst>
              <p:tags r:id="rId15"/>
            </p:custDataLst>
          </p:nvPr>
        </p:nvSpPr>
        <p:spPr>
          <a:xfrm>
            <a:off x="1174750" y="398272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d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7" name="文本框 66"/>
          <p:cNvSpPr txBox="1"/>
          <p:nvPr>
            <p:custDataLst>
              <p:tags r:id="rId16"/>
            </p:custDataLst>
          </p:nvPr>
        </p:nvSpPr>
        <p:spPr>
          <a:xfrm>
            <a:off x="2109470" y="3992245"/>
            <a:ext cx="312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e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17"/>
            </p:custDataLst>
          </p:nvPr>
        </p:nvSpPr>
        <p:spPr>
          <a:xfrm>
            <a:off x="2881630" y="3999230"/>
            <a:ext cx="49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  f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242695" y="5389245"/>
            <a:ext cx="4773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编号：</a:t>
            </a:r>
            <a:r>
              <a:rPr lang="en-US" altLang="zh-CN"/>
              <a:t>1   2   3   4   5   6   7 </a:t>
            </a:r>
            <a:endParaRPr lang="zh-CN" altLang="en-US"/>
          </a:p>
          <a:p>
            <a:r>
              <a:rPr lang="zh-CN" altLang="en-US"/>
              <a:t>数据：</a:t>
            </a:r>
            <a:r>
              <a:rPr lang="en-US" altLang="zh-CN"/>
              <a:t>a   b   c   d   e    #   f  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1356995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18"/>
            </p:custDataLst>
          </p:nvPr>
        </p:nvSpPr>
        <p:spPr>
          <a:xfrm>
            <a:off x="2287270" y="220853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45" name="文本框 44"/>
          <p:cNvSpPr txBox="1"/>
          <p:nvPr>
            <p:custDataLst>
              <p:tags r:id="rId19"/>
            </p:custDataLst>
          </p:nvPr>
        </p:nvSpPr>
        <p:spPr>
          <a:xfrm>
            <a:off x="2795270" y="2914650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93281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2204085" y="3589655"/>
            <a:ext cx="39941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49" name="文本框 48"/>
          <p:cNvSpPr txBox="1"/>
          <p:nvPr>
            <p:custDataLst>
              <p:tags r:id="rId22"/>
            </p:custDataLst>
          </p:nvPr>
        </p:nvSpPr>
        <p:spPr>
          <a:xfrm>
            <a:off x="3242310" y="3622040"/>
            <a:ext cx="344805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630420" y="2579370"/>
            <a:ext cx="16186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例：</a:t>
            </a:r>
            <a:r>
              <a:rPr lang="en-US" altLang="zh-CN">
                <a:solidFill>
                  <a:srgbClr val="FF0000"/>
                </a:solidFill>
              </a:rPr>
              <a:t>i=4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j=7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i=4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j=3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i=2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j=3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i=2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j=1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i=1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j=1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 =&gt; 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3"/>
            </p:custDataLst>
          </p:nvPr>
        </p:nvSpPr>
        <p:spPr>
          <a:xfrm>
            <a:off x="7257415" y="1889125"/>
            <a:ext cx="4103370" cy="3691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①比较</a:t>
            </a:r>
            <a:r>
              <a:rPr lang="en-US" altLang="zh-CN"/>
              <a:t> i </a:t>
            </a:r>
            <a:r>
              <a:rPr lang="zh-CN" altLang="en-US"/>
              <a:t>和</a:t>
            </a:r>
            <a:r>
              <a:rPr lang="en-US" altLang="zh-CN"/>
              <a:t> j </a:t>
            </a:r>
            <a:r>
              <a:rPr lang="zh-CN" altLang="en-US"/>
              <a:t>的</a:t>
            </a:r>
            <a:r>
              <a:rPr lang="zh-CN" altLang="en-US"/>
              <a:t>大小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②如果</a:t>
            </a:r>
            <a:r>
              <a:rPr lang="en-US" altLang="zh-CN"/>
              <a:t> i &gt; j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找</a:t>
            </a:r>
            <a:r>
              <a:rPr lang="en-US" altLang="zh-CN"/>
              <a:t> i </a:t>
            </a:r>
            <a:r>
              <a:rPr lang="zh-CN" altLang="en-US"/>
              <a:t>结点的父结点</a:t>
            </a:r>
            <a:r>
              <a:rPr lang="en-US" altLang="zh-CN"/>
              <a:t> =&gt; i/2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更新</a:t>
            </a:r>
            <a:r>
              <a:rPr lang="en-US" altLang="zh-CN"/>
              <a:t> i = i/2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③如果</a:t>
            </a:r>
            <a:r>
              <a:rPr lang="en-US" altLang="zh-CN">
                <a:sym typeface="+mn-ea"/>
              </a:rPr>
              <a:t> i &lt; j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找</a:t>
            </a:r>
            <a:r>
              <a:rPr lang="en-US" altLang="zh-CN">
                <a:sym typeface="+mn-ea"/>
              </a:rPr>
              <a:t> j </a:t>
            </a:r>
            <a:r>
              <a:rPr lang="zh-CN" altLang="en-US">
                <a:sym typeface="+mn-ea"/>
              </a:rPr>
              <a:t>结点的父结点</a:t>
            </a:r>
            <a:r>
              <a:rPr lang="en-US" altLang="zh-CN">
                <a:sym typeface="+mn-ea"/>
              </a:rPr>
              <a:t> =&gt; j/2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>
                <a:sym typeface="+mn-ea"/>
              </a:rPr>
              <a:t>更新</a:t>
            </a:r>
            <a:r>
              <a:rPr lang="en-US" altLang="zh-CN">
                <a:sym typeface="+mn-ea"/>
              </a:rPr>
              <a:t> j = j/2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zh-CN" altLang="en-US">
                <a:sym typeface="+mn-ea"/>
              </a:rPr>
              <a:t>④循环执行</a:t>
            </a:r>
            <a:r>
              <a:rPr lang="zh-CN" altLang="en-US">
                <a:sym typeface="+mn-ea"/>
              </a:rPr>
              <a:t>②③，</a:t>
            </a:r>
            <a:endParaRPr lang="zh-CN" altLang="en-US">
              <a:sym typeface="+mn-ea"/>
            </a:endParaRPr>
          </a:p>
          <a:p>
            <a:r>
              <a:rPr lang="zh-CN" altLang="en-US">
                <a:highlight>
                  <a:srgbClr val="FFFF00"/>
                </a:highlight>
                <a:sym typeface="+mn-ea"/>
              </a:rPr>
              <a:t>直到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i = j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，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跳出循环</a:t>
            </a:r>
            <a:endParaRPr lang="zh-CN" altLang="en-US">
              <a:highlight>
                <a:srgbClr val="FFFF00"/>
              </a:highlight>
              <a:sym typeface="+mn-ea"/>
            </a:endParaRPr>
          </a:p>
          <a:p>
            <a:r>
              <a:rPr lang="en-US" altLang="zh-CN">
                <a:highlight>
                  <a:srgbClr val="FFFF00"/>
                </a:highlight>
                <a:sym typeface="+mn-ea"/>
              </a:rPr>
              <a:t>=&gt;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找到最近的公共祖先结点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 i</a:t>
            </a:r>
            <a:endParaRPr lang="en-US" altLang="zh-CN">
              <a:highlight>
                <a:srgbClr val="FFFF00"/>
              </a:highlight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commondata" val="eyJoZGlkIjoiZGFhOGUxOGY3NTc0OWFlNzFiNzA1MGEzOWQyOWU5YTU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6730</Words>
  <Application>WPS 演示</Application>
  <PresentationFormat>宽屏</PresentationFormat>
  <Paragraphs>858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Calibri</vt:lpstr>
      <vt:lpstr>Arial Unicode MS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Edge Runner</dc:creator>
  <cp:lastModifiedBy>fyx</cp:lastModifiedBy>
  <cp:revision>993</cp:revision>
  <dcterms:created xsi:type="dcterms:W3CDTF">2023-10-18T15:40:00Z</dcterms:created>
  <dcterms:modified xsi:type="dcterms:W3CDTF">2023-11-05T10:47:46Z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A534D43EC2B441918E054D0F5A68D6B4_12</vt:lpwstr>
  </property>
  <property fmtid="{D5CDD505-2E9C-101B-9397-08002B2CF9AE}" pid="3" name="KSOProductBuildVer">
    <vt:lpwstr>2052-12.1.0.15712</vt:lpwstr>
  </property>
</Properties>
</file>