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通信电子线路知识梳理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2024</a:t>
            </a:r>
            <a:r>
              <a:rPr lang="zh-CN" altLang="en-US"/>
              <a:t>年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知识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第一章绪论</a:t>
            </a:r>
            <a:r>
              <a:rPr lang="en-US" altLang="zh-CN"/>
              <a:t>——</a:t>
            </a:r>
            <a:r>
              <a:rPr lang="zh-CN" altLang="en-US"/>
              <a:t>了解电波传播的</a:t>
            </a:r>
            <a:r>
              <a:rPr lang="zh-CN" altLang="en-US"/>
              <a:t>三种方式</a:t>
            </a:r>
            <a:endParaRPr lang="zh-CN" altLang="en-US"/>
          </a:p>
          <a:p>
            <a:r>
              <a:rPr lang="zh-CN" altLang="en-US"/>
              <a:t>第二章选频网络与阻抗变换网络</a:t>
            </a:r>
            <a:r>
              <a:rPr lang="en-US" altLang="zh-CN"/>
              <a:t>——</a:t>
            </a:r>
            <a:r>
              <a:rPr lang="zh-CN" altLang="en-US"/>
              <a:t>基本概念，不考</a:t>
            </a:r>
            <a:r>
              <a:rPr lang="zh-CN" altLang="en-US"/>
              <a:t>计算题</a:t>
            </a:r>
            <a:endParaRPr lang="zh-CN" altLang="en-US"/>
          </a:p>
          <a:p>
            <a:r>
              <a:rPr lang="zh-CN" altLang="en-US"/>
              <a:t>第三章高频小信号放大器</a:t>
            </a:r>
            <a:r>
              <a:rPr lang="en-US" altLang="zh-CN"/>
              <a:t>——</a:t>
            </a:r>
            <a:r>
              <a:rPr lang="zh-CN" altLang="en-US"/>
              <a:t>重点（基本概念</a:t>
            </a:r>
            <a:r>
              <a:rPr lang="en-US" altLang="zh-CN"/>
              <a:t>+Y</a:t>
            </a:r>
            <a:r>
              <a:rPr lang="zh-CN" altLang="en-US"/>
              <a:t>参数等效电路及相关</a:t>
            </a:r>
            <a:r>
              <a:rPr lang="zh-CN" altLang="en-US"/>
              <a:t>计算）</a:t>
            </a:r>
            <a:endParaRPr lang="zh-CN" altLang="en-US"/>
          </a:p>
          <a:p>
            <a:r>
              <a:rPr lang="zh-CN" altLang="en-US"/>
              <a:t>第四章高频功率放大器</a:t>
            </a:r>
            <a:r>
              <a:rPr lang="en-US" altLang="zh-CN"/>
              <a:t>——</a:t>
            </a:r>
            <a:r>
              <a:rPr lang="zh-CN" altLang="en-US"/>
              <a:t>重点（谐振功放的基本概念和相关计算</a:t>
            </a:r>
            <a:r>
              <a:rPr lang="en-US" altLang="zh-CN"/>
              <a:t>+</a:t>
            </a:r>
            <a:r>
              <a:rPr lang="zh-CN" altLang="en-US"/>
              <a:t>传输线变压器和魔</a:t>
            </a:r>
            <a:r>
              <a:rPr lang="en-US" altLang="zh-CN"/>
              <a:t>T</a:t>
            </a:r>
            <a:r>
              <a:rPr lang="zh-CN" altLang="en-US"/>
              <a:t>网络）</a:t>
            </a:r>
            <a:endParaRPr lang="zh-CN" altLang="en-US"/>
          </a:p>
          <a:p>
            <a:r>
              <a:rPr lang="zh-CN" altLang="en-US"/>
              <a:t>第五章正弦波振荡器</a:t>
            </a:r>
            <a:r>
              <a:rPr lang="en-US" altLang="zh-CN"/>
              <a:t>——</a:t>
            </a:r>
            <a:r>
              <a:rPr lang="zh-CN" altLang="en-US"/>
              <a:t>重点（基本概念</a:t>
            </a:r>
            <a:r>
              <a:rPr lang="en-US" altLang="zh-CN"/>
              <a:t>+</a:t>
            </a:r>
            <a:r>
              <a:rPr lang="zh-CN" altLang="en-US"/>
              <a:t>三点式振荡器及其改进电路</a:t>
            </a:r>
            <a:r>
              <a:rPr lang="en-US" altLang="zh-CN"/>
              <a:t>+</a:t>
            </a:r>
            <a:r>
              <a:rPr lang="zh-CN" altLang="en-US"/>
              <a:t>晶体振荡器</a:t>
            </a:r>
            <a:r>
              <a:rPr lang="en-US" altLang="zh-CN"/>
              <a:t>+</a:t>
            </a:r>
            <a:r>
              <a:rPr lang="zh-CN" altLang="en-US"/>
              <a:t>文氏桥振荡器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第六章频谱搬移电路</a:t>
            </a:r>
            <a:r>
              <a:rPr lang="en-US" altLang="zh-CN"/>
              <a:t>——</a:t>
            </a:r>
            <a:r>
              <a:rPr lang="zh-CN" altLang="en-US"/>
              <a:t>重点（基本原理和概念，幅度调制解调）</a:t>
            </a:r>
            <a:endParaRPr lang="zh-CN" altLang="en-US"/>
          </a:p>
          <a:p>
            <a:r>
              <a:rPr lang="zh-CN" altLang="en-US"/>
              <a:t>第七章角度调制与解调电路</a:t>
            </a:r>
            <a:r>
              <a:rPr lang="en-US" altLang="zh-CN"/>
              <a:t>——</a:t>
            </a:r>
            <a:r>
              <a:rPr lang="zh-CN" altLang="en-US"/>
              <a:t>重点（基本原理和概念，频率</a:t>
            </a:r>
            <a:r>
              <a:rPr lang="zh-CN" altLang="en-US"/>
              <a:t>相位调制解调）</a:t>
            </a:r>
            <a:endParaRPr lang="zh-CN" altLang="en-US"/>
          </a:p>
          <a:p>
            <a:r>
              <a:rPr lang="zh-CN" altLang="en-US" b="1">
                <a:sym typeface="+mn-ea"/>
              </a:rPr>
              <a:t>综合能力：要能够运用各单元电路设计发射机和接收机系统，绘制原理框图，计算主要参数。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第二章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选频网络与阻抗变换网络</a:t>
            </a:r>
            <a:endParaRPr lang="zh-CN" altLang="en-US"/>
          </a:p>
          <a:p>
            <a:pPr lvl="1"/>
            <a:r>
              <a:rPr lang="en-US" altLang="zh-CN"/>
              <a:t>LC</a:t>
            </a:r>
            <a:r>
              <a:rPr lang="zh-CN" altLang="en-US"/>
              <a:t>谐振回路（</a:t>
            </a:r>
            <a:r>
              <a:rPr lang="zh-CN" altLang="en-US">
                <a:sym typeface="+mn-ea"/>
              </a:rPr>
              <a:t>电路分析的基础，要掌握，重点是</a:t>
            </a:r>
            <a:r>
              <a:rPr lang="en-US" altLang="zh-CN"/>
              <a:t>Q</a:t>
            </a:r>
            <a:r>
              <a:rPr lang="zh-CN" altLang="en-US"/>
              <a:t>值，广义失谐量，频率响应，带宽和矩形</a:t>
            </a:r>
            <a:r>
              <a:rPr lang="zh-CN" altLang="en-US"/>
              <a:t>系数相关概念和</a:t>
            </a:r>
            <a:r>
              <a:rPr lang="zh-CN" altLang="en-US"/>
              <a:t>推导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阻抗变换网络（电路分析的</a:t>
            </a:r>
            <a:r>
              <a:rPr lang="zh-CN" altLang="en-US"/>
              <a:t>基础，要掌握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耦合回路（</a:t>
            </a:r>
            <a:r>
              <a:rPr lang="zh-CN" altLang="en-US">
                <a:sym typeface="+mn-ea"/>
              </a:rPr>
              <a:t>电路分析的基础，要掌握，重点是互感耦合回路，反射阻抗、耦合系数、耦合因子、耦合回路的谐振状态</a:t>
            </a:r>
            <a:r>
              <a:rPr lang="zh-CN" altLang="en-US">
                <a:sym typeface="+mn-ea"/>
              </a:rPr>
              <a:t>相关概念和推导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第三章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高频小信号放大器</a:t>
            </a:r>
            <a:endParaRPr lang="zh-CN" altLang="en-US"/>
          </a:p>
          <a:p>
            <a:pPr lvl="1"/>
            <a:r>
              <a:rPr lang="zh-CN" altLang="en-US"/>
              <a:t>高频小信号谐振放大器（晶体管高频等效电路，单调谐小信号放大器的</a:t>
            </a:r>
            <a:r>
              <a:rPr lang="en-US" altLang="zh-CN"/>
              <a:t> </a:t>
            </a:r>
            <a:r>
              <a:rPr lang="zh-CN" altLang="en-US"/>
              <a:t>增益和带宽计算，</a:t>
            </a:r>
            <a:r>
              <a:rPr lang="zh-CN" altLang="en-US">
                <a:sym typeface="+mn-ea"/>
              </a:rPr>
              <a:t>级联放大器的带宽和噪声系数计算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稳定性（理解原因和单向化</a:t>
            </a:r>
            <a:r>
              <a:rPr lang="zh-CN" altLang="en-US"/>
              <a:t>方法）</a:t>
            </a:r>
            <a:endParaRPr lang="zh-CN" altLang="en-US"/>
          </a:p>
          <a:p>
            <a:pPr lvl="1"/>
            <a:r>
              <a:rPr lang="zh-CN" altLang="en-US"/>
              <a:t>集成宽频带放大器（不考</a:t>
            </a:r>
            <a:r>
              <a:rPr lang="zh-CN" altLang="en-US"/>
              <a:t>）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第四章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高频功率放大器</a:t>
            </a:r>
            <a:endParaRPr lang="zh-CN" altLang="en-US"/>
          </a:p>
          <a:p>
            <a:pPr lvl="1"/>
            <a:r>
              <a:rPr lang="zh-CN" altLang="en-US"/>
              <a:t>谐振功率放大器的原理与应用（工作原理，增益、功率、效率、导通角相关概念及其计算，</a:t>
            </a:r>
            <a:r>
              <a:rPr lang="zh-CN" altLang="en-US"/>
              <a:t>几种工作状态的定义和划分</a:t>
            </a:r>
            <a:r>
              <a:rPr lang="zh-CN" altLang="en-US"/>
              <a:t>，外部特性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谐振功放的实际电路（馈电分类和</a:t>
            </a:r>
            <a:r>
              <a:rPr lang="zh-CN" altLang="en-US"/>
              <a:t>特点，常用滤波匹配网络</a:t>
            </a:r>
            <a:r>
              <a:rPr lang="zh-CN" altLang="en-US"/>
              <a:t>分类）</a:t>
            </a:r>
            <a:endParaRPr lang="zh-CN" altLang="en-US"/>
          </a:p>
          <a:p>
            <a:pPr lvl="1"/>
            <a:r>
              <a:rPr lang="zh-CN" altLang="en-US"/>
              <a:t>宽带高频功放（传输线变压器的阻抗变换关系</a:t>
            </a:r>
            <a:r>
              <a:rPr lang="zh-CN" altLang="en-US"/>
              <a:t>分析）</a:t>
            </a:r>
            <a:endParaRPr lang="zh-CN" altLang="en-US"/>
          </a:p>
          <a:p>
            <a:pPr lvl="1"/>
            <a:r>
              <a:rPr lang="zh-CN" altLang="en-US"/>
              <a:t>功率合成器（魔</a:t>
            </a:r>
            <a:r>
              <a:rPr lang="en-US" altLang="zh-CN"/>
              <a:t>T</a:t>
            </a:r>
            <a:r>
              <a:rPr lang="zh-CN" altLang="en-US"/>
              <a:t>网络的性质和特点）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第五章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正弦波振荡器</a:t>
            </a:r>
            <a:endParaRPr lang="zh-CN" altLang="en-US"/>
          </a:p>
          <a:p>
            <a:pPr lvl="1"/>
            <a:r>
              <a:rPr lang="zh-CN" altLang="en-US"/>
              <a:t>反馈型振荡器的基本原理（理解反馈振荡的起振、平衡、稳定</a:t>
            </a:r>
            <a:r>
              <a:rPr lang="zh-CN" altLang="en-US"/>
              <a:t>条件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en-US" altLang="zh-CN"/>
              <a:t>LC</a:t>
            </a:r>
            <a:r>
              <a:rPr lang="zh-CN" altLang="en-US"/>
              <a:t>正</a:t>
            </a:r>
            <a:r>
              <a:rPr lang="zh-CN" altLang="en-US" sz="2400"/>
              <a:t>弦</a:t>
            </a:r>
            <a:r>
              <a:rPr lang="zh-CN" altLang="en-US"/>
              <a:t>波振荡器（三点式振荡电路，</a:t>
            </a:r>
            <a:r>
              <a:rPr lang="zh-CN" altLang="en-US"/>
              <a:t>熟练理解和运用</a:t>
            </a:r>
            <a:r>
              <a:rPr lang="en-US" altLang="zh-CN"/>
              <a:t>“</a:t>
            </a:r>
            <a:r>
              <a:rPr lang="zh-CN" altLang="en-US"/>
              <a:t>射同基反</a:t>
            </a:r>
            <a:r>
              <a:rPr lang="en-US" altLang="zh-CN"/>
              <a:t>”</a:t>
            </a:r>
            <a:r>
              <a:rPr lang="zh-CN" altLang="en-US"/>
              <a:t>准则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振荡器的频率稳定度（理解稳频原理和稳频措施，</a:t>
            </a:r>
            <a:r>
              <a:rPr lang="zh-CN" altLang="en-US">
                <a:sym typeface="+mn-ea"/>
              </a:rPr>
              <a:t>理解克拉泼和西勒振荡电路的改进机理和优缺点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en-US" altLang="zh-CN"/>
              <a:t>LC</a:t>
            </a:r>
            <a:r>
              <a:rPr lang="zh-CN" altLang="en-US"/>
              <a:t>振荡器设计考虑（理解振荡器设计时要考虑的主要</a:t>
            </a:r>
            <a:r>
              <a:rPr lang="zh-CN" altLang="en-US"/>
              <a:t>因素）</a:t>
            </a:r>
            <a:endParaRPr lang="zh-CN" altLang="en-US"/>
          </a:p>
          <a:p>
            <a:pPr lvl="1"/>
            <a:r>
              <a:rPr lang="zh-CN" altLang="en-US"/>
              <a:t>晶体振荡器（理解石英晶体振荡器在稳定度上的优点，以及如何进一步提高其频率稳定的措施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en-US" altLang="zh-CN"/>
              <a:t>RC</a:t>
            </a:r>
            <a:r>
              <a:rPr lang="zh-CN" altLang="en-US"/>
              <a:t>正弦波振荡器（</a:t>
            </a:r>
            <a:r>
              <a:rPr lang="zh-CN" altLang="en-US"/>
              <a:t>理解</a:t>
            </a:r>
            <a:r>
              <a:rPr lang="zh-CN" altLang="en-US"/>
              <a:t>文氏桥振荡器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第六章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频谱搬移电路</a:t>
            </a:r>
            <a:endParaRPr lang="zh-CN" altLang="en-US"/>
          </a:p>
          <a:p>
            <a:pPr lvl="1"/>
            <a:r>
              <a:rPr lang="zh-CN" altLang="en-US"/>
              <a:t>基本原理及电路组成模型（</a:t>
            </a:r>
            <a:r>
              <a:rPr lang="zh-CN" altLang="en-US"/>
              <a:t>重点掌握标准表达式，调制指数定义，分类及其时域和频谱特点，会画图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乘法器电路（非线性器件</a:t>
            </a:r>
            <a:r>
              <a:rPr lang="en-US" altLang="zh-CN"/>
              <a:t>+</a:t>
            </a:r>
            <a:r>
              <a:rPr lang="zh-CN" altLang="en-US"/>
              <a:t>二极管电路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振幅调制电路（</a:t>
            </a:r>
            <a:r>
              <a:rPr lang="zh-CN" altLang="en-US"/>
              <a:t>理解分类，掌握二极管调制电路</a:t>
            </a:r>
            <a:r>
              <a:rPr lang="zh-CN" altLang="en-US">
                <a:sym typeface="+mn-ea"/>
              </a:rPr>
              <a:t>，框图和相关约束条件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振幅解调电路（</a:t>
            </a:r>
            <a:r>
              <a:rPr lang="zh-CN" altLang="en-US">
                <a:sym typeface="+mn-ea"/>
              </a:rPr>
              <a:t>理解分类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重点掌握乘积型同步检波器的原理、组成框图和失真类型</a:t>
            </a:r>
            <a:r>
              <a:rPr lang="zh-CN" altLang="en-US">
                <a:sym typeface="+mn-ea"/>
              </a:rPr>
              <a:t>；掌握包络检波器的原理、组成</a:t>
            </a:r>
            <a:r>
              <a:rPr lang="zh-CN" altLang="en-US">
                <a:sym typeface="+mn-ea"/>
              </a:rPr>
              <a:t>和失真类型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混频电路（性能指标定义，混频器的干扰和</a:t>
            </a:r>
            <a:r>
              <a:rPr lang="zh-CN" altLang="en-US"/>
              <a:t>失真</a:t>
            </a:r>
            <a:r>
              <a:rPr lang="zh-CN" altLang="en-US"/>
              <a:t>）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第七章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角度调制与解调</a:t>
            </a:r>
            <a:endParaRPr lang="zh-CN" altLang="en-US"/>
          </a:p>
          <a:p>
            <a:pPr lvl="1"/>
            <a:r>
              <a:rPr lang="zh-CN" altLang="en-US"/>
              <a:t>角度调制信号的基本形式（重点掌握数学表达式，基本概念，带宽，能量，</a:t>
            </a:r>
            <a:r>
              <a:rPr lang="zh-CN" altLang="en-US">
                <a:sym typeface="+mn-ea"/>
              </a:rPr>
              <a:t>时域和频谱特点，会画图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调频信号的产生方法（</a:t>
            </a:r>
            <a:r>
              <a:rPr lang="zh-CN" altLang="en-US">
                <a:sym typeface="+mn-ea"/>
              </a:rPr>
              <a:t>了解分类，理解指标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直接调频电路（</a:t>
            </a:r>
            <a:r>
              <a:rPr lang="zh-CN" altLang="en-US"/>
              <a:t>掌握</a:t>
            </a:r>
            <a:r>
              <a:rPr lang="zh-CN" altLang="en-US">
                <a:sym typeface="+mn-ea"/>
              </a:rPr>
              <a:t>直接调频电路的原理和优缺点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间接调频电路（矢量合成法</a:t>
            </a:r>
            <a:r>
              <a:rPr lang="en-US" altLang="zh-CN"/>
              <a:t>+</a:t>
            </a:r>
            <a:r>
              <a:rPr lang="zh-CN" altLang="en-US"/>
              <a:t>可变相移法，</a:t>
            </a:r>
            <a:r>
              <a:rPr lang="zh-CN" altLang="en-US"/>
              <a:t>重点掌握间接调频的</a:t>
            </a:r>
            <a:r>
              <a:rPr lang="zh-CN" altLang="en-US"/>
              <a:t>方法、框图和相关约束</a:t>
            </a:r>
            <a:r>
              <a:rPr lang="zh-CN" altLang="en-US"/>
              <a:t>条件）</a:t>
            </a:r>
            <a:endParaRPr lang="zh-CN" altLang="en-US"/>
          </a:p>
          <a:p>
            <a:pPr lvl="1"/>
            <a:r>
              <a:rPr lang="zh-CN" altLang="en-US"/>
              <a:t>扩展最大频偏的方法（理解框图和相关约束条件，以及如何综合运用倍频器和变频器</a:t>
            </a:r>
            <a:r>
              <a:rPr lang="zh-CN" altLang="en-US"/>
              <a:t>设计实现目标载波和带宽的调频</a:t>
            </a:r>
            <a:r>
              <a:rPr lang="zh-CN" altLang="en-US"/>
              <a:t>信号）</a:t>
            </a:r>
            <a:endParaRPr lang="zh-CN" altLang="en-US"/>
          </a:p>
          <a:p>
            <a:pPr lvl="1"/>
            <a:r>
              <a:rPr lang="zh-CN" altLang="en-US"/>
              <a:t>调频波解调电路（理解斜率鉴频器</a:t>
            </a:r>
            <a:r>
              <a:rPr lang="en-US" altLang="zh-CN"/>
              <a:t>+</a:t>
            </a:r>
            <a:r>
              <a:rPr lang="zh-CN" altLang="en-US"/>
              <a:t>相位鉴频器，框图和相关约束</a:t>
            </a:r>
            <a:r>
              <a:rPr lang="zh-CN" altLang="en-US"/>
              <a:t>条件）</a:t>
            </a:r>
            <a:endParaRPr lang="zh-CN" altLang="en-US"/>
          </a:p>
          <a:p>
            <a:pPr marL="457200" lvl="1" indent="0">
              <a:buNone/>
            </a:pPr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习题讲解举例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0" name="文本框 99"/>
          <p:cNvSpPr txBox="1"/>
          <p:nvPr/>
        </p:nvSpPr>
        <p:spPr>
          <a:xfrm>
            <a:off x="3556000" y="-1932939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b="0">
                <a:latin typeface="等线" panose="02010600030101010101" charset="-122"/>
              </a:rPr>
              <a:t>1. </a:t>
            </a:r>
            <a:endParaRPr lang="en-US" altLang="en-US" b="0">
              <a:latin typeface="等线" panose="02010600030101010101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7268210" y="2513330"/>
            <a:ext cx="4288790" cy="2789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939800" y="1409065"/>
            <a:ext cx="10946765" cy="415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/>
            <a:r>
              <a:rPr lang="en-US" altLang="zh-CN" sz="2400" b="0">
                <a:ea typeface="等线" panose="02010600030101010101" charset="-122"/>
              </a:rPr>
              <a:t>    </a:t>
            </a:r>
            <a:r>
              <a:rPr lang="zh-CN" sz="2400" b="0">
                <a:ea typeface="等线" panose="02010600030101010101" charset="-122"/>
              </a:rPr>
              <a:t>如图所示某单调谐回路中频放大器。已知工作频率</a:t>
            </a:r>
            <a:r>
              <a:rPr lang="en-US" sz="2400" b="0" i="1">
                <a:latin typeface="等线" panose="02010600030101010101" charset="-122"/>
              </a:rPr>
              <a:t>f</a:t>
            </a:r>
            <a:r>
              <a:rPr lang="en-US" sz="2400" b="0" baseline="-25000">
                <a:latin typeface="等线" panose="02010600030101010101" charset="-122"/>
              </a:rPr>
              <a:t>0</a:t>
            </a:r>
            <a:r>
              <a:rPr lang="en-US" sz="2400" b="0">
                <a:latin typeface="等线" panose="02010600030101010101" charset="-122"/>
              </a:rPr>
              <a:t>=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10.7</a:t>
            </a:r>
            <a:r>
              <a:rPr lang="zh-CN" sz="2400" b="0">
                <a:ea typeface="等线" panose="02010600030101010101" charset="-122"/>
              </a:rPr>
              <a:t>MHz，回路电容C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=56</a:t>
            </a:r>
            <a:r>
              <a:rPr lang="zh-CN" sz="2400" b="0">
                <a:ea typeface="等线" panose="02010600030101010101" charset="-122"/>
              </a:rPr>
              <a:t>pF，调谐回路采用中频变压器，L</a:t>
            </a:r>
            <a:r>
              <a:rPr lang="en-US" sz="2400" b="0" baseline="-25000">
                <a:latin typeface="等线" panose="02010600030101010101" charset="-122"/>
              </a:rPr>
              <a:t>1-3</a:t>
            </a:r>
            <a:r>
              <a:rPr lang="en-US" sz="2400" b="0">
                <a:latin typeface="等线" panose="02010600030101010101" charset="-122"/>
              </a:rPr>
              <a:t>=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4</a:t>
            </a:r>
            <a:r>
              <a:rPr lang="zh-CN" sz="2400" b="0">
                <a:ea typeface="等线" panose="02010600030101010101" charset="-122"/>
              </a:rPr>
              <a:t>uH，电感品质因数Q</a:t>
            </a:r>
            <a:r>
              <a:rPr lang="en-US" sz="2400" b="0" baseline="-25000">
                <a:latin typeface="等线" panose="02010600030101010101" charset="-122"/>
              </a:rPr>
              <a:t>0</a:t>
            </a:r>
            <a:r>
              <a:rPr lang="en-US" sz="2400" b="0">
                <a:latin typeface="等线" panose="02010600030101010101" charset="-122"/>
              </a:rPr>
              <a:t>=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5</a:t>
            </a:r>
            <a:r>
              <a:rPr lang="zh-CN" sz="2400" b="0">
                <a:ea typeface="等线" panose="02010600030101010101" charset="-122"/>
              </a:rPr>
              <a:t>0，其抽头匝数分别为N</a:t>
            </a:r>
            <a:r>
              <a:rPr lang="en-US" sz="2400" b="0" baseline="-25000">
                <a:latin typeface="等线" panose="02010600030101010101" charset="-122"/>
              </a:rPr>
              <a:t>23</a:t>
            </a:r>
            <a:r>
              <a:rPr lang="en-US" sz="2400" b="0">
                <a:latin typeface="等线" panose="02010600030101010101" charset="-122"/>
              </a:rPr>
              <a:t>=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6</a:t>
            </a:r>
            <a:r>
              <a:rPr lang="zh-CN" sz="2400" b="0">
                <a:ea typeface="等线" panose="02010600030101010101" charset="-122"/>
              </a:rPr>
              <a:t>，</a:t>
            </a:r>
            <a:r>
              <a:rPr lang="en-US" sz="2400" b="0">
                <a:latin typeface="等线" panose="02010600030101010101" charset="-122"/>
              </a:rPr>
              <a:t>N</a:t>
            </a:r>
            <a:r>
              <a:rPr lang="en-US" sz="2400" b="0" baseline="-25000">
                <a:latin typeface="等线" panose="02010600030101010101" charset="-122"/>
              </a:rPr>
              <a:t>13</a:t>
            </a:r>
            <a:r>
              <a:rPr lang="en-US" sz="2400" b="0">
                <a:latin typeface="等线" panose="02010600030101010101" charset="-122"/>
              </a:rPr>
              <a:t>=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2</a:t>
            </a:r>
            <a:r>
              <a:rPr lang="zh-CN" sz="2400" b="0">
                <a:ea typeface="等线" panose="02010600030101010101" charset="-122"/>
              </a:rPr>
              <a:t>0，N</a:t>
            </a:r>
            <a:r>
              <a:rPr lang="en-US" sz="2400" b="0" baseline="-25000">
                <a:latin typeface="等线" panose="02010600030101010101" charset="-122"/>
              </a:rPr>
              <a:t>45</a:t>
            </a:r>
            <a:r>
              <a:rPr lang="en-US" sz="2400" b="0">
                <a:latin typeface="等线" panose="02010600030101010101" charset="-122"/>
              </a:rPr>
              <a:t>=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6</a:t>
            </a:r>
            <a:r>
              <a:rPr lang="zh-CN" sz="2400" b="0">
                <a:ea typeface="等线" panose="02010600030101010101" charset="-122"/>
              </a:rPr>
              <a:t>。所用晶体管的具体参数为：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y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ie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 = </a:t>
            </a:r>
            <a:r>
              <a:rPr lang="en-US" sz="2400" b="0">
                <a:latin typeface="等线" panose="02010600030101010101" charset="-122"/>
              </a:rPr>
              <a:t>(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0.15 + j1.45) mS;  y</a:t>
            </a:r>
            <a:r>
              <a:rPr lang="en-US" sz="2400" b="0" baseline="-25000">
                <a:latin typeface="等线" panose="02010600030101010101" charset="-122"/>
              </a:rPr>
              <a:t>o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e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 = (0.082 + j0.73)mS; y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fe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 = </a:t>
            </a:r>
            <a:r>
              <a:rPr lang="en-US" sz="2400" b="0">
                <a:latin typeface="等线" panose="02010600030101010101" charset="-122"/>
              </a:rPr>
              <a:t>(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38 – j4.2) mS.</a:t>
            </a:r>
            <a:r>
              <a:rPr lang="zh-CN" sz="2400" b="0">
                <a:ea typeface="等线" panose="02010600030101010101" charset="-122"/>
              </a:rPr>
              <a:t>试求：</a:t>
            </a:r>
            <a:r>
              <a:rPr lang="en-US" sz="2400" b="0">
                <a:latin typeface="等线" panose="02010600030101010101" charset="-122"/>
              </a:rPr>
              <a:t>(1) </a:t>
            </a:r>
            <a:r>
              <a:rPr lang="zh-CN" sz="2400" b="0">
                <a:ea typeface="等线" panose="02010600030101010101" charset="-122"/>
              </a:rPr>
              <a:t>画出交流通路，并求出接入系数p1和p2</a:t>
            </a:r>
            <a:r>
              <a:rPr lang="en-US" sz="2400" b="0">
                <a:latin typeface="等线" panose="02010600030101010101" charset="-122"/>
              </a:rPr>
              <a:t>(2) </a:t>
            </a:r>
            <a:r>
              <a:rPr lang="zh-CN" sz="2400" b="0">
                <a:ea typeface="等线" panose="02010600030101010101" charset="-122"/>
              </a:rPr>
              <a:t>单级放大器电压增益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A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v0</a:t>
            </a:r>
            <a:r>
              <a:rPr lang="zh-CN" sz="2400" b="0">
                <a:ea typeface="等线" panose="02010600030101010101" charset="-122"/>
              </a:rPr>
              <a:t>和带宽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BW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0.7</a:t>
            </a:r>
            <a:r>
              <a:rPr lang="zh-CN" sz="2400" b="0">
                <a:ea typeface="等线" panose="02010600030101010101" charset="-122"/>
              </a:rPr>
              <a:t>；</a:t>
            </a:r>
            <a:r>
              <a:rPr lang="en-US" sz="2400" b="0">
                <a:latin typeface="等线" panose="02010600030101010101" charset="-122"/>
              </a:rPr>
              <a:t>(3) </a:t>
            </a:r>
            <a:r>
              <a:rPr lang="zh-CN" sz="2400" b="0">
                <a:ea typeface="等线" panose="02010600030101010101" charset="-122"/>
              </a:rPr>
              <a:t>三级放大器总电压增益</a:t>
            </a:r>
            <a:r>
              <a:rPr lang="en-US" sz="2400" b="0">
                <a:latin typeface="等线" panose="02010600030101010101" charset="-122"/>
              </a:rPr>
              <a:t>(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A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v0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)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3</a:t>
            </a:r>
            <a:r>
              <a:rPr lang="zh-CN" sz="2400" b="0">
                <a:ea typeface="等线" panose="02010600030101010101" charset="-122"/>
              </a:rPr>
              <a:t>和带宽</a:t>
            </a:r>
            <a:r>
              <a:rPr lang="en-US" sz="2400" b="0">
                <a:latin typeface="等线" panose="02010600030101010101" charset="-122"/>
              </a:rPr>
              <a:t>(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BW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0.7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)</a:t>
            </a:r>
            <a:r>
              <a:rPr lang="en-US" sz="2400" b="0" baseline="-25000">
                <a:latin typeface="等线" panose="02010600030101010101" charset="-122"/>
                <a:cs typeface="Times New Roman" panose="02020603050405020304" charset="0"/>
              </a:rPr>
              <a:t>3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. </a:t>
            </a:r>
            <a:endParaRPr lang="zh-CN" sz="2400" b="0">
              <a:ea typeface="等线" panose="02010600030101010101" charset="-122"/>
            </a:endParaRPr>
          </a:p>
          <a:p>
            <a:endParaRPr lang="zh-CN" altLang="en-US" sz="2400" b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习题讲解举例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00" name="文本框 99"/>
          <p:cNvSpPr txBox="1"/>
          <p:nvPr/>
        </p:nvSpPr>
        <p:spPr>
          <a:xfrm>
            <a:off x="3556000" y="-1932939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b="0">
                <a:latin typeface="等线" panose="02010600030101010101" charset="-122"/>
              </a:rPr>
              <a:t>1. </a:t>
            </a:r>
            <a:endParaRPr lang="en-US" altLang="en-US" b="0">
              <a:latin typeface="等线" panose="0201060003010101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184900" y="2988945"/>
            <a:ext cx="5484495" cy="31362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" name="文本框 108"/>
          <p:cNvSpPr txBox="1"/>
          <p:nvPr/>
        </p:nvSpPr>
        <p:spPr>
          <a:xfrm>
            <a:off x="1245235" y="1407795"/>
            <a:ext cx="10456545" cy="415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</a:rPr>
              <a:t>如图所示的高频功率放大器工作于临界状态，中介回路与天线回路均已经调谐好，已知晶体管的转移特性斜率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 g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=0.8A/V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V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bb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=1V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V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be(on)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=0.6V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</a:t>
            </a:r>
            <a:r>
              <a:rPr 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θ</a:t>
            </a:r>
            <a:r>
              <a:rPr lang="en-US" altLang="zh-CN" sz="2400" b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c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=70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°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V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cc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=24V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，集电极电压利用效率</a:t>
            </a:r>
            <a:r>
              <a:rPr 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ξ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=0.9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，中介回路空载品质因数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Q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0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=100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，有载品质因数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Q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e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=10</a:t>
            </a:r>
            <a:r>
              <a:rPr lang="zh-CN" sz="2400" b="1">
                <a:ea typeface="宋体" panose="02010600030101010101" pitchFamily="2" charset="-122"/>
                <a:sym typeface="+mn-ea"/>
              </a:rPr>
              <a:t>。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【</a:t>
            </a:r>
            <a:r>
              <a:rPr 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α</a:t>
            </a:r>
            <a:r>
              <a:rPr lang="en-US" altLang="zh-CN" sz="2400" b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0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(70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°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)=0.253,</a:t>
            </a:r>
            <a:r>
              <a:rPr 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α</a:t>
            </a:r>
            <a:r>
              <a:rPr lang="en-US" altLang="zh-CN" sz="2400" b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(70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°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)=0.437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】试求：</a:t>
            </a:r>
            <a:r>
              <a:rPr lang="en-US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(1) 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基极输入信号幅度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V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；</a:t>
            </a:r>
            <a:r>
              <a:rPr lang="en-US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(2) 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集电极输出功率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P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o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；</a:t>
            </a:r>
            <a:r>
              <a:rPr lang="en-US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(3) 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集电极效率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;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  <a:p>
            <a:pPr indent="0"/>
            <a:r>
              <a:rPr lang="en-US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(4) 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当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V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cc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V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bb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M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不变，增大</a:t>
            </a:r>
            <a:r>
              <a:rPr lang="en-US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M</a:t>
            </a:r>
            <a:r>
              <a:rPr lang="en-US" sz="2400" b="1" baseline="-25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时，</a:t>
            </a:r>
            <a:endParaRPr lang="zh-CN" sz="2400" b="1"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  <a:p>
            <a:pPr indent="0"/>
            <a:r>
              <a:rPr lang="zh-CN" sz="2400" b="1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放大器工作状态将如何变化？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习题讲解举例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00" name="文本框 99"/>
          <p:cNvSpPr txBox="1"/>
          <p:nvPr/>
        </p:nvSpPr>
        <p:spPr>
          <a:xfrm>
            <a:off x="3556000" y="-1932939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b="0">
                <a:latin typeface="等线" panose="02010600030101010101" charset="-122"/>
              </a:rPr>
              <a:t>1. </a:t>
            </a:r>
            <a:endParaRPr lang="en-US" altLang="en-US" b="0">
              <a:latin typeface="等线" panose="02010600030101010101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111250" y="1595755"/>
            <a:ext cx="1024255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/>
            <a:r>
              <a:rPr lang="zh-CN" sz="2400" b="0">
                <a:ea typeface="等线" panose="02010600030101010101" charset="-122"/>
              </a:rPr>
              <a:t>已知某调相角波u（t）=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24</a:t>
            </a:r>
            <a:r>
              <a:rPr lang="en-US" sz="2400" b="0">
                <a:latin typeface="等线" panose="02010600030101010101" charset="-122"/>
              </a:rPr>
              <a:t>cos(10</a:t>
            </a:r>
            <a:r>
              <a:rPr lang="en-US" sz="2400" b="0" baseline="30000">
                <a:latin typeface="等线" panose="02010600030101010101" charset="-122"/>
              </a:rPr>
              <a:t>6</a:t>
            </a:r>
            <a:r>
              <a:rPr lang="en-US" sz="2400" b="0">
                <a:latin typeface="等线" panose="02010600030101010101" charset="-122"/>
              </a:rPr>
              <a:t>πt + 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2</a:t>
            </a:r>
            <a:r>
              <a:rPr lang="en-US" sz="2400" b="0">
                <a:latin typeface="等线" panose="02010600030101010101" charset="-122"/>
              </a:rPr>
              <a:t>cos</a:t>
            </a:r>
            <a:r>
              <a:rPr lang="en-US" sz="2400" b="0">
                <a:latin typeface="等线" panose="02010600030101010101" charset="-122"/>
                <a:cs typeface="Times New Roman" panose="02020603050405020304" charset="0"/>
              </a:rPr>
              <a:t>1</a:t>
            </a:r>
            <a:r>
              <a:rPr lang="zh-CN" sz="2400" b="0">
                <a:ea typeface="等线" panose="02010600030101010101" charset="-122"/>
              </a:rPr>
              <a:t>000πt)（V），求: </a:t>
            </a:r>
            <a:endParaRPr lang="zh-CN" sz="2400" b="0">
              <a:ea typeface="等线" panose="02010600030101010101" charset="-122"/>
            </a:endParaRPr>
          </a:p>
          <a:p>
            <a:pPr marL="228600" indent="-228600"/>
            <a:r>
              <a:rPr lang="zh-CN" sz="2400" b="0">
                <a:ea typeface="等线" panose="02010600030101010101" charset="-122"/>
              </a:rPr>
              <a:t>（1）最大频偏；</a:t>
            </a:r>
            <a:endParaRPr lang="zh-CN" sz="2400" b="0">
              <a:ea typeface="等线" panose="02010600030101010101" charset="-122"/>
            </a:endParaRPr>
          </a:p>
          <a:p>
            <a:pPr marL="228600" indent="-228600"/>
            <a:r>
              <a:rPr lang="zh-CN" sz="2400" b="0">
                <a:ea typeface="等线" panose="02010600030101010101" charset="-122"/>
              </a:rPr>
              <a:t>（2）最大相偏；</a:t>
            </a:r>
            <a:endParaRPr lang="zh-CN" sz="2400" b="0">
              <a:ea typeface="等线" panose="02010600030101010101" charset="-122"/>
            </a:endParaRPr>
          </a:p>
          <a:p>
            <a:pPr marL="228600" indent="-228600"/>
            <a:r>
              <a:rPr lang="zh-CN" sz="2400" b="0">
                <a:ea typeface="等线" panose="02010600030101010101" charset="-122"/>
              </a:rPr>
              <a:t>（3）信号带宽；</a:t>
            </a:r>
            <a:endParaRPr lang="zh-CN" sz="2400" b="0">
              <a:ea typeface="等线" panose="02010600030101010101" charset="-122"/>
            </a:endParaRPr>
          </a:p>
          <a:p>
            <a:pPr marL="228600" indent="-228600"/>
            <a:r>
              <a:rPr lang="zh-CN" sz="2400" b="0">
                <a:ea typeface="等线" panose="02010600030101010101" charset="-122"/>
              </a:rPr>
              <a:t>（4）此信号在单位电阻上的功率；</a:t>
            </a:r>
            <a:endParaRPr lang="zh-CN" sz="2400" b="0">
              <a:ea typeface="等线" panose="02010600030101010101" charset="-122"/>
            </a:endParaRPr>
          </a:p>
          <a:p>
            <a:pPr marL="228600" indent="-228600"/>
            <a:r>
              <a:rPr lang="zh-CN" sz="2400" b="0">
                <a:ea typeface="等线" panose="02010600030101010101" charset="-122"/>
              </a:rPr>
              <a:t>（5）画出信号的大致频谱图</a:t>
            </a:r>
            <a:r>
              <a:rPr lang="en-US" altLang="zh-CN" sz="2400" b="0">
                <a:ea typeface="等线" panose="02010600030101010101" charset="-122"/>
              </a:rPr>
              <a:t>.</a:t>
            </a:r>
            <a:endParaRPr lang="zh-CN" sz="2400" b="0">
              <a:ea typeface="等线" panose="02010600030101010101" charset="-122"/>
            </a:endParaRPr>
          </a:p>
          <a:p>
            <a:endParaRPr lang="zh-CN" altLang="en-US" sz="2400" b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95ce732-cc0d-4221-b7b3-55a242453275"/>
  <p:tag name="COMMONDATA" val="eyJoZGlkIjoiMjgwNWI2ZDE2YTg2MjM2MTdjMjQ4MTQ2OTViNGNkMTUifQ=="/>
  <p:tag name="commondata" val="eyJoZGlkIjoiOWUxMzMwZDMyZjZmOTU5ZmU2YmYwY2EwZmYwMjlhND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1926</Words>
  <Application>WPS 演示</Application>
  <PresentationFormat>宽屏</PresentationFormat>
  <Paragraphs>115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等线</vt:lpstr>
      <vt:lpstr>Times New Roman</vt:lpstr>
      <vt:lpstr>微软雅黑</vt:lpstr>
      <vt:lpstr>Calibri Light</vt:lpstr>
      <vt:lpstr>Calibri</vt:lpstr>
      <vt:lpstr>Arial Unicode MS</vt:lpstr>
      <vt:lpstr>Office 主题</vt:lpstr>
      <vt:lpstr>通信电子线路知识梳理</vt:lpstr>
      <vt:lpstr>知识要点</vt:lpstr>
      <vt:lpstr>第二章</vt:lpstr>
      <vt:lpstr>第三章</vt:lpstr>
      <vt:lpstr>第四章</vt:lpstr>
      <vt:lpstr>第五章</vt:lpstr>
      <vt:lpstr>第六章</vt:lpstr>
      <vt:lpstr>第七章</vt:lpstr>
      <vt:lpstr>习题讲解举例1</vt:lpstr>
      <vt:lpstr>习题讲解举例2</vt:lpstr>
      <vt:lpstr>习题讲解举例3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BreezeerLing</dc:creator>
  <cp:lastModifiedBy>凌</cp:lastModifiedBy>
  <cp:revision>59</cp:revision>
  <dcterms:created xsi:type="dcterms:W3CDTF">2018-12-27T03:56:00Z</dcterms:created>
  <dcterms:modified xsi:type="dcterms:W3CDTF">2024-12-05T13:06:23Z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E0DCCB408F944DC69F157EA3F9BA496D</vt:lpwstr>
  </property>
</Properties>
</file>