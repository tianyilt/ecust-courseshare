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audio2.wav" ContentType="audio/wav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audio3.wav" ContentType="audio/wav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940" r:id="rId1"/>
  </p:sldMasterIdLst>
  <p:notesMasterIdLst>
    <p:notesMasterId r:id="rId74"/>
  </p:notesMasterIdLst>
  <p:handoutMasterIdLst>
    <p:handoutMasterId r:id="rId75"/>
  </p:handoutMasterIdLst>
  <p:sldIdLst>
    <p:sldId id="3470" r:id="rId2"/>
    <p:sldId id="3471" r:id="rId3"/>
    <p:sldId id="3472" r:id="rId4"/>
    <p:sldId id="3512" r:id="rId5"/>
    <p:sldId id="3513" r:id="rId6"/>
    <p:sldId id="3483" r:id="rId7"/>
    <p:sldId id="3484" r:id="rId8"/>
    <p:sldId id="3514" r:id="rId9"/>
    <p:sldId id="3515" r:id="rId10"/>
    <p:sldId id="3485" r:id="rId11"/>
    <p:sldId id="3486" r:id="rId12"/>
    <p:sldId id="3487" r:id="rId13"/>
    <p:sldId id="3488" r:id="rId14"/>
    <p:sldId id="3489" r:id="rId15"/>
    <p:sldId id="3490" r:id="rId16"/>
    <p:sldId id="3491" r:id="rId17"/>
    <p:sldId id="3492" r:id="rId18"/>
    <p:sldId id="3493" r:id="rId19"/>
    <p:sldId id="3516" r:id="rId20"/>
    <p:sldId id="3517" r:id="rId21"/>
    <p:sldId id="3518" r:id="rId22"/>
    <p:sldId id="3519" r:id="rId23"/>
    <p:sldId id="3494" r:id="rId24"/>
    <p:sldId id="3495" r:id="rId25"/>
    <p:sldId id="3520" r:id="rId26"/>
    <p:sldId id="3496" r:id="rId27"/>
    <p:sldId id="3497" r:id="rId28"/>
    <p:sldId id="3498" r:id="rId29"/>
    <p:sldId id="3499" r:id="rId30"/>
    <p:sldId id="3500" r:id="rId31"/>
    <p:sldId id="3501" r:id="rId32"/>
    <p:sldId id="3539" r:id="rId33"/>
    <p:sldId id="3502" r:id="rId34"/>
    <p:sldId id="3503" r:id="rId35"/>
    <p:sldId id="3504" r:id="rId36"/>
    <p:sldId id="3505" r:id="rId37"/>
    <p:sldId id="3506" r:id="rId38"/>
    <p:sldId id="3507" r:id="rId39"/>
    <p:sldId id="3508" r:id="rId40"/>
    <p:sldId id="3509" r:id="rId41"/>
    <p:sldId id="3510" r:id="rId42"/>
    <p:sldId id="3557" r:id="rId43"/>
    <p:sldId id="3563" r:id="rId44"/>
    <p:sldId id="3540" r:id="rId45"/>
    <p:sldId id="3529" r:id="rId46"/>
    <p:sldId id="3530" r:id="rId47"/>
    <p:sldId id="3531" r:id="rId48"/>
    <p:sldId id="3532" r:id="rId49"/>
    <p:sldId id="3533" r:id="rId50"/>
    <p:sldId id="3549" r:id="rId51"/>
    <p:sldId id="3541" r:id="rId52"/>
    <p:sldId id="3542" r:id="rId53"/>
    <p:sldId id="3543" r:id="rId54"/>
    <p:sldId id="3544" r:id="rId55"/>
    <p:sldId id="3545" r:id="rId56"/>
    <p:sldId id="3546" r:id="rId57"/>
    <p:sldId id="3547" r:id="rId58"/>
    <p:sldId id="3548" r:id="rId59"/>
    <p:sldId id="3534" r:id="rId60"/>
    <p:sldId id="3535" r:id="rId61"/>
    <p:sldId id="3551" r:id="rId62"/>
    <p:sldId id="3552" r:id="rId63"/>
    <p:sldId id="3550" r:id="rId64"/>
    <p:sldId id="3536" r:id="rId65"/>
    <p:sldId id="3558" r:id="rId66"/>
    <p:sldId id="3559" r:id="rId67"/>
    <p:sldId id="3511" r:id="rId68"/>
    <p:sldId id="3568" r:id="rId69"/>
    <p:sldId id="3569" r:id="rId70"/>
    <p:sldId id="3570" r:id="rId71"/>
    <p:sldId id="3571" r:id="rId72"/>
    <p:sldId id="3561" r:id="rId73"/>
  </p:sldIdLst>
  <p:sldSz cx="12858750" cy="7232650"/>
  <p:notesSz cx="6858000" cy="9144000"/>
  <p:custDataLst>
    <p:tags r:id="rId7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763" indent="-1825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638" indent="-5540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588" userDrawn="1">
          <p15:clr>
            <a:srgbClr val="A4A3A4"/>
          </p15:clr>
        </p15:guide>
        <p15:guide id="7" pos="376" userDrawn="1">
          <p15:clr>
            <a:srgbClr val="A4A3A4"/>
          </p15:clr>
        </p15:guide>
        <p15:guide id="8" pos="13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616161"/>
    <a:srgbClr val="00BE9C"/>
    <a:srgbClr val="FFFFFF"/>
    <a:srgbClr val="297E9B"/>
    <a:srgbClr val="900000"/>
    <a:srgbClr val="0FC7D3"/>
    <a:srgbClr val="EC206C"/>
    <a:srgbClr val="BC148E"/>
    <a:srgbClr val="0A1A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5" autoAdjust="0"/>
    <p:restoredTop sz="86049" autoAdjust="0"/>
  </p:normalViewPr>
  <p:slideViewPr>
    <p:cSldViewPr>
      <p:cViewPr varScale="1">
        <p:scale>
          <a:sx n="56" d="100"/>
          <a:sy n="56" d="100"/>
        </p:scale>
        <p:origin x="744" y="60"/>
      </p:cViewPr>
      <p:guideLst>
        <p:guide orient="horz" pos="328"/>
        <p:guide pos="4050"/>
        <p:guide orient="horz" pos="4183"/>
        <p:guide pos="7588"/>
        <p:guide pos="376"/>
        <p:guide pos="1350"/>
      </p:guideLst>
    </p:cSldViewPr>
  </p:slideViewPr>
  <p:outlineViewPr>
    <p:cViewPr>
      <p:scale>
        <a:sx n="100" d="100"/>
        <a:sy n="100" d="100"/>
      </p:scale>
      <p:origin x="0" y="-1441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742FC-62BB-4B81-9CA5-3B750A4B4580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E82F1-5B17-4D95-A6D6-EB96F2D7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5143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2024/10/14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493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6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788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view/64778.htm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798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738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540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643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fld id="{C085984A-267B-4D64-97C8-B433AEB3B235}" type="slidenum">
              <a:rPr lang="en-US" altLang="zh-CN" sz="1200" b="0" smtClean="0">
                <a:latin typeface="Times New Roman" pitchFamily="18" charset="0"/>
                <a:ea typeface="宋体" pitchFamily="2" charset="-122"/>
              </a:rPr>
              <a:pPr/>
              <a:t>7</a:t>
            </a:fld>
            <a:endParaRPr lang="en-US" altLang="zh-CN" sz="1200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食堂</a:t>
            </a:r>
            <a:r>
              <a:rPr lang="en-US" altLang="zh-CN"/>
              <a:t>11</a:t>
            </a:r>
            <a:r>
              <a:rPr lang="zh-CN" altLang="en-US"/>
              <a:t>点</a:t>
            </a:r>
          </a:p>
        </p:txBody>
      </p:sp>
    </p:spTree>
    <p:extLst>
      <p:ext uri="{BB962C8B-B14F-4D97-AF65-F5344CB8AC3E}">
        <p14:creationId xmlns:p14="http://schemas.microsoft.com/office/powerpoint/2010/main" val="3235768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2024-10-14</a:t>
            </a:r>
            <a:r>
              <a:rPr lang="zh-CN" altLang="en-US" dirty="0"/>
              <a:t>周一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174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rand()%m</a:t>
            </a:r>
            <a:r>
              <a:rPr lang="zh-CN" altLang="en-US" sz="14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是产生一个 </a:t>
            </a:r>
            <a:r>
              <a:rPr lang="en-US" altLang="zh-CN" sz="14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0 </a:t>
            </a:r>
            <a:r>
              <a:rPr lang="zh-CN" altLang="en-US" sz="14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到 </a:t>
            </a:r>
            <a:r>
              <a:rPr lang="en-US" altLang="zh-CN" sz="14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 - 1 </a:t>
            </a:r>
            <a:r>
              <a:rPr lang="zh-CN" altLang="en-US" sz="14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的随机数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17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10-21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67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95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496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fld id="{D9AB4466-A539-4DD4-8118-C7B96E2560E1}" type="slidenum">
              <a:rPr lang="en-US" altLang="zh-CN" sz="1200" b="0" smtClean="0">
                <a:latin typeface="Times New Roman" pitchFamily="18" charset="0"/>
                <a:ea typeface="宋体" pitchFamily="2" charset="-122"/>
              </a:rPr>
              <a:pPr/>
              <a:t>33</a:t>
            </a:fld>
            <a:endParaRPr lang="en-US" altLang="zh-CN" sz="1200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参考书上</a:t>
            </a:r>
            <a:r>
              <a:rPr lang="en-US" altLang="zh-CN"/>
              <a:t>52</a:t>
            </a:r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0538298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934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#include &lt;</a:t>
            </a:r>
            <a:r>
              <a:rPr lang="en-US" altLang="zh-CN" sz="3200" b="1" dirty="0" err="1">
                <a:latin typeface="Times New Roman" pitchFamily="18" charset="0"/>
                <a:ea typeface="隶书" pitchFamily="49" charset="-122"/>
              </a:rPr>
              <a:t>stdio.h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  void main(  )</a:t>
            </a:r>
          </a:p>
          <a:p>
            <a:pPr>
              <a:spcBef>
                <a:spcPts val="600"/>
              </a:spcBef>
            </a:pP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  {    </a:t>
            </a:r>
            <a:r>
              <a:rPr lang="en-US" altLang="zh-CN" sz="3200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sz="3200" b="1" dirty="0" err="1">
                <a:latin typeface="Times New Roman" pitchFamily="18" charset="0"/>
                <a:ea typeface="隶书" pitchFamily="49" charset="-122"/>
              </a:rPr>
              <a:t>i,j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        for(</a:t>
            </a:r>
            <a:r>
              <a:rPr lang="en-US" altLang="zh-CN" sz="3200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=1;i&lt;10;i++)</a:t>
            </a:r>
          </a:p>
          <a:p>
            <a:pPr>
              <a:spcBef>
                <a:spcPts val="600"/>
              </a:spcBef>
            </a:pP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              for(j=</a:t>
            </a:r>
            <a:r>
              <a:rPr lang="en-US" altLang="zh-CN" sz="3200" b="1" dirty="0" err="1">
                <a:latin typeface="Times New Roman" pitchFamily="18" charset="0"/>
                <a:ea typeface="隶书" pitchFamily="49" charset="-122"/>
              </a:rPr>
              <a:t>i;j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&lt;10;j++)</a:t>
            </a:r>
          </a:p>
          <a:p>
            <a:pPr>
              <a:spcBef>
                <a:spcPts val="600"/>
              </a:spcBef>
            </a:pPr>
            <a:r>
              <a:rPr lang="zh-CN" altLang="en-US" sz="3200" b="1" dirty="0">
                <a:latin typeface="Times New Roman" pitchFamily="18" charset="0"/>
                <a:ea typeface="隶书" pitchFamily="49" charset="-122"/>
              </a:rPr>
              <a:t>　  　　    </a:t>
            </a:r>
            <a:r>
              <a:rPr lang="en-US" altLang="zh-CN" sz="3200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("%4d",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*j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              </a:t>
            </a:r>
            <a:r>
              <a:rPr lang="en-US" altLang="zh-CN" sz="3200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("\n");</a:t>
            </a:r>
          </a:p>
          <a:p>
            <a:pPr>
              <a:spcBef>
                <a:spcPts val="600"/>
              </a:spcBef>
            </a:pP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           }     </a:t>
            </a:r>
          </a:p>
          <a:p>
            <a:pPr>
              <a:spcBef>
                <a:spcPts val="600"/>
              </a:spcBef>
            </a:pPr>
            <a:r>
              <a:rPr lang="en-US" altLang="zh-CN" sz="3200" b="1" dirty="0">
                <a:latin typeface="Times New Roman" pitchFamily="18" charset="0"/>
                <a:ea typeface="隶书" pitchFamily="49" charset="-122"/>
              </a:rPr>
              <a:t>   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862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  void main(  )</a:t>
            </a:r>
          </a:p>
          <a:p>
            <a:r>
              <a:rPr lang="en-US" altLang="zh-CN" dirty="0"/>
              <a:t>  {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i,j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    for(</a:t>
            </a:r>
            <a:r>
              <a:rPr lang="en-US" altLang="zh-CN" dirty="0" err="1"/>
              <a:t>i</a:t>
            </a:r>
            <a:r>
              <a:rPr lang="en-US" altLang="zh-CN" dirty="0"/>
              <a:t>=1;i&lt;10;i++) </a:t>
            </a:r>
          </a:p>
          <a:p>
            <a:r>
              <a:rPr lang="en-US" altLang="zh-CN" dirty="0"/>
              <a:t>           {   for(j=1;j&lt;</a:t>
            </a:r>
            <a:r>
              <a:rPr lang="en-US" altLang="zh-CN" dirty="0" err="1"/>
              <a:t>i;j</a:t>
            </a:r>
            <a:r>
              <a:rPr lang="en-US" altLang="zh-CN" dirty="0"/>
              <a:t>++)</a:t>
            </a:r>
          </a:p>
          <a:p>
            <a:r>
              <a:rPr lang="en-US" altLang="zh-CN" dirty="0"/>
              <a:t>                   </a:t>
            </a:r>
            <a:r>
              <a:rPr lang="en-US" altLang="zh-CN" dirty="0" err="1"/>
              <a:t>printf</a:t>
            </a:r>
            <a:r>
              <a:rPr lang="en-US" altLang="zh-CN" dirty="0"/>
              <a:t>("%4c",' ‘);</a:t>
            </a:r>
          </a:p>
          <a:p>
            <a:r>
              <a:rPr lang="en-US" altLang="zh-CN" dirty="0"/>
              <a:t>               for(j=</a:t>
            </a:r>
            <a:r>
              <a:rPr lang="en-US" altLang="zh-CN" dirty="0" err="1"/>
              <a:t>i;j</a:t>
            </a:r>
            <a:r>
              <a:rPr lang="en-US" altLang="zh-CN" dirty="0"/>
              <a:t>&lt;10;j++)</a:t>
            </a:r>
          </a:p>
          <a:p>
            <a:r>
              <a:rPr lang="en-US" altLang="zh-CN" dirty="0"/>
              <a:t>                   </a:t>
            </a:r>
            <a:r>
              <a:rPr lang="en-US" altLang="zh-CN" dirty="0" err="1"/>
              <a:t>printf</a:t>
            </a:r>
            <a:r>
              <a:rPr lang="en-US" altLang="zh-CN" dirty="0"/>
              <a:t>("%4d",i*j);</a:t>
            </a:r>
          </a:p>
          <a:p>
            <a:r>
              <a:rPr lang="en-US" altLang="zh-CN" dirty="0"/>
              <a:t>               </a:t>
            </a:r>
            <a:r>
              <a:rPr lang="en-US" altLang="zh-CN" dirty="0" err="1"/>
              <a:t>printf</a:t>
            </a:r>
            <a:r>
              <a:rPr lang="en-US" altLang="zh-CN" dirty="0"/>
              <a:t>("\n");</a:t>
            </a:r>
          </a:p>
          <a:p>
            <a:r>
              <a:rPr lang="en-US" altLang="zh-CN" dirty="0"/>
              <a:t>           }     </a:t>
            </a:r>
          </a:p>
          <a:p>
            <a:r>
              <a:rPr lang="en-US" altLang="zh-CN" dirty="0"/>
              <a:t>   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60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118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0589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直到输入</a:t>
            </a:r>
            <a:r>
              <a:rPr lang="en-US" altLang="zh-CN" dirty="0"/>
              <a:t>0</a:t>
            </a:r>
            <a:r>
              <a:rPr lang="zh-CN" altLang="en-US" dirty="0"/>
              <a:t>为止，复习</a:t>
            </a:r>
            <a:r>
              <a:rPr lang="en-US" altLang="zh-CN" dirty="0"/>
              <a:t>do…while</a:t>
            </a:r>
            <a:r>
              <a:rPr lang="zh-CN" altLang="en-US" dirty="0"/>
              <a:t>循环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2183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8728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fld id="{8934BD4F-68A2-4B53-BC8D-ED9360087748}" type="slidenum">
              <a:rPr lang="en-US" altLang="zh-CN" sz="1200" b="0" smtClean="0">
                <a:latin typeface="Times New Roman" pitchFamily="18" charset="0"/>
                <a:ea typeface="宋体" charset="-122"/>
              </a:rPr>
              <a:pPr/>
              <a:t>53</a:t>
            </a:fld>
            <a:endParaRPr lang="en-US" altLang="zh-CN" sz="1200" b="0">
              <a:latin typeface="Times New Roman" pitchFamily="18" charset="0"/>
              <a:ea typeface="宋体" charset="-122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kumimoji="1" lang="en-US" altLang="zh-CN" b="1">
              <a:solidFill>
                <a:srgbClr val="FF000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01773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3870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fld id="{DB40FCFB-33A0-467C-B951-E1BA0F3F5C1A}" type="slidenum">
              <a:rPr lang="en-US" altLang="zh-CN" sz="1200" b="0" smtClean="0">
                <a:latin typeface="Times New Roman" pitchFamily="18" charset="0"/>
                <a:ea typeface="宋体" charset="-122"/>
              </a:rPr>
              <a:pPr/>
              <a:t>55</a:t>
            </a:fld>
            <a:endParaRPr lang="en-US" altLang="zh-CN" sz="1200" b="0">
              <a:latin typeface="Times New Roman" pitchFamily="18" charset="0"/>
              <a:ea typeface="宋体" charset="-122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kumimoji="1" lang="en-US" altLang="zh-CN" b="1">
                <a:solidFill>
                  <a:srgbClr val="FF0000"/>
                </a:solidFill>
                <a:ea typeface="宋体" charset="-122"/>
              </a:rPr>
              <a:t>(</a:t>
            </a:r>
            <a:r>
              <a:rPr kumimoji="1" lang="zh-CN" altLang="en-US" b="1">
                <a:solidFill>
                  <a:srgbClr val="FF0000"/>
                </a:solidFill>
                <a:ea typeface="宋体" charset="-122"/>
              </a:rPr>
              <a:t>课本</a:t>
            </a:r>
            <a:r>
              <a:rPr kumimoji="1" lang="en-US" altLang="zh-CN" b="1">
                <a:solidFill>
                  <a:srgbClr val="FF0000"/>
                </a:solidFill>
                <a:ea typeface="宋体" charset="-122"/>
              </a:rPr>
              <a:t>61</a:t>
            </a:r>
            <a:r>
              <a:rPr kumimoji="1" lang="zh-CN" altLang="en-US" b="1">
                <a:solidFill>
                  <a:srgbClr val="FF0000"/>
                </a:solidFill>
                <a:ea typeface="宋体" charset="-122"/>
              </a:rPr>
              <a:t>页例</a:t>
            </a:r>
            <a:r>
              <a:rPr kumimoji="1" lang="en-US" altLang="zh-CN" b="1">
                <a:solidFill>
                  <a:srgbClr val="FF0000"/>
                </a:solidFill>
                <a:ea typeface="宋体" charset="-122"/>
              </a:rPr>
              <a:t>5.4)</a:t>
            </a:r>
          </a:p>
          <a:p>
            <a:pPr eaLnBrk="1" hangingPunct="1"/>
            <a:r>
              <a:rPr lang="zh-CN" altLang="en-US">
                <a:ea typeface="宋体" charset="-122"/>
              </a:rPr>
              <a:t>辗转相除法是</a:t>
            </a:r>
            <a:r>
              <a:rPr lang="zh-CN" altLang="en-US">
                <a:ea typeface="宋体" charset="-122"/>
                <a:hlinkClick r:id="rId3" action="ppaction://hlinkfile"/>
              </a:rPr>
              <a:t>古希腊</a:t>
            </a:r>
            <a:r>
              <a:rPr lang="zh-CN" altLang="en-US">
                <a:ea typeface="宋体" charset="-122"/>
              </a:rPr>
              <a:t>求两个正整数的最大公约数的，也叫</a:t>
            </a:r>
            <a:r>
              <a:rPr lang="zh-CN" altLang="en-US" b="1">
                <a:ea typeface="宋体" charset="-122"/>
              </a:rPr>
              <a:t>欧几里德算法</a:t>
            </a:r>
            <a:r>
              <a:rPr lang="zh-CN" altLang="en-US">
                <a:ea typeface="宋体" charset="-122"/>
              </a:rPr>
              <a:t>，其方法是用较大的数除以较小的数，上面较小的除数和得出的余数构成新的一对数，继续做上面的除法，直到出现能够整除的两个数，其中较小的数（即除数）就是最大公约数。</a:t>
            </a:r>
            <a:endParaRPr kumimoji="1" lang="en-US" altLang="zh-CN" b="1">
              <a:solidFill>
                <a:srgbClr val="FF000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14637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8641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fld id="{D202C9E6-AADB-48A9-9F2D-C1EDCC424EE6}" type="slidenum">
              <a:rPr lang="en-US" altLang="zh-CN" sz="1200" b="0" smtClean="0">
                <a:latin typeface="Times New Roman" pitchFamily="18" charset="0"/>
                <a:ea typeface="宋体" charset="-122"/>
              </a:rPr>
              <a:pPr/>
              <a:t>58</a:t>
            </a:fld>
            <a:endParaRPr lang="en-US" altLang="zh-CN" sz="1200" b="0">
              <a:latin typeface="Times New Roman" pitchFamily="18" charset="0"/>
              <a:ea typeface="宋体" charset="-122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输入时</a:t>
            </a:r>
            <a:r>
              <a:rPr lang="en-US" altLang="zh-CN">
                <a:ea typeface="宋体" charset="-122"/>
              </a:rPr>
              <a:t>10</a:t>
            </a:r>
            <a:r>
              <a:rPr lang="zh-CN" altLang="en-US">
                <a:ea typeface="宋体" charset="-122"/>
              </a:rPr>
              <a:t>个字符连续输入</a:t>
            </a:r>
            <a:r>
              <a:rPr lang="en-US" altLang="zh-CN">
                <a:ea typeface="宋体" charset="-122"/>
              </a:rPr>
              <a:t>,</a:t>
            </a:r>
            <a:r>
              <a:rPr lang="zh-CN" altLang="en-US">
                <a:ea typeface="宋体" charset="-122"/>
              </a:rPr>
              <a:t>不能隔空格</a:t>
            </a:r>
          </a:p>
        </p:txBody>
      </p:sp>
    </p:spTree>
    <p:extLst>
      <p:ext uri="{BB962C8B-B14F-4D97-AF65-F5344CB8AC3E}">
        <p14:creationId xmlns:p14="http://schemas.microsoft.com/office/powerpoint/2010/main" val="4752679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fld id="{D3DF4202-B12C-47BF-B95B-397F518AA338}" type="slidenum">
              <a:rPr lang="en-US" altLang="zh-CN" sz="1200" b="0" smtClean="0">
                <a:latin typeface="Times New Roman" pitchFamily="18" charset="0"/>
                <a:ea typeface="宋体" charset="-122"/>
              </a:rPr>
              <a:pPr/>
              <a:t>60</a:t>
            </a:fld>
            <a:endParaRPr lang="en-US" altLang="zh-CN" sz="1200" b="0"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51053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10-28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866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fld id="{D3DF4202-B12C-47BF-B95B-397F518AA338}" type="slidenum">
              <a:rPr lang="en-US" altLang="zh-CN" sz="1200" b="0" smtClean="0">
                <a:latin typeface="Times New Roman" pitchFamily="18" charset="0"/>
                <a:ea typeface="宋体" charset="-122"/>
              </a:rPr>
              <a:pPr/>
              <a:t>62</a:t>
            </a:fld>
            <a:endParaRPr lang="en-US" altLang="zh-CN" sz="1200" b="0"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08709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9777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dirty="0">
                <a:ea typeface="宋体" charset="-122"/>
              </a:rPr>
              <a:t>#include&lt;</a:t>
            </a:r>
            <a:r>
              <a:rPr lang="en-US" altLang="zh-CN" dirty="0" err="1">
                <a:ea typeface="宋体" charset="-122"/>
              </a:rPr>
              <a:t>stdlib.h</a:t>
            </a:r>
            <a:r>
              <a:rPr lang="en-US" altLang="zh-CN" dirty="0">
                <a:ea typeface="宋体" charset="-122"/>
              </a:rPr>
              <a:t>&gt;</a:t>
            </a:r>
          </a:p>
          <a:p>
            <a:r>
              <a:rPr lang="en-US" altLang="zh-CN" dirty="0">
                <a:ea typeface="宋体" charset="-122"/>
              </a:rPr>
              <a:t>#include&lt;</a:t>
            </a:r>
            <a:r>
              <a:rPr lang="en-US" altLang="zh-CN" dirty="0" err="1">
                <a:ea typeface="宋体" charset="-122"/>
              </a:rPr>
              <a:t>time.h</a:t>
            </a:r>
            <a:r>
              <a:rPr lang="en-US" altLang="zh-CN" dirty="0">
                <a:ea typeface="宋体" charset="-122"/>
              </a:rPr>
              <a:t>&gt;</a:t>
            </a:r>
          </a:p>
          <a:p>
            <a:r>
              <a:rPr lang="en-US" altLang="zh-CN" dirty="0" err="1">
                <a:ea typeface="宋体" charset="-122"/>
              </a:rPr>
              <a:t>srand</a:t>
            </a:r>
            <a:r>
              <a:rPr lang="en-US" altLang="zh-CN">
                <a:ea typeface="宋体" charset="-122"/>
              </a:rPr>
              <a:t>((unsigned)time(NULL));</a:t>
            </a:r>
          </a:p>
          <a:p>
            <a:r>
              <a:rPr lang="en-US" altLang="zh-CN" dirty="0">
                <a:ea typeface="宋体" charset="-122"/>
              </a:rPr>
              <a:t>ran=rand()%100;</a:t>
            </a:r>
            <a:endParaRPr lang="zh-CN" altLang="en-US" dirty="0">
              <a:ea typeface="宋体" charset="-122"/>
            </a:endParaRPr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fld id="{F76B65B8-34FB-477F-AAB1-29FAB4E6A331}" type="slidenum">
              <a:rPr lang="en-US" altLang="zh-CN" sz="1200" b="0" smtClean="0">
                <a:latin typeface="Times New Roman" pitchFamily="18" charset="0"/>
                <a:ea typeface="宋体" charset="-122"/>
              </a:rPr>
              <a:pPr/>
              <a:t>64</a:t>
            </a:fld>
            <a:endParaRPr lang="en-US" altLang="zh-CN" sz="1200" b="0"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66226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300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53" y="1"/>
            <a:ext cx="12858044" cy="7232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17"/>
          </a:p>
        </p:txBody>
      </p:sp>
      <p:grpSp>
        <p:nvGrpSpPr>
          <p:cNvPr id="3" name="Group 59">
            <a:extLst>
              <a:ext uri="{FF2B5EF4-FFF2-40B4-BE49-F238E27FC236}">
                <a16:creationId xmlns:a16="http://schemas.microsoft.com/office/drawing/2014/main" id="{DC2BAD7C-E598-470B-8F98-45F271E6A4FB}"/>
              </a:ext>
            </a:extLst>
          </p:cNvPr>
          <p:cNvGrpSpPr/>
          <p:nvPr userDrawn="1"/>
        </p:nvGrpSpPr>
        <p:grpSpPr>
          <a:xfrm>
            <a:off x="11109895" y="5488533"/>
            <a:ext cx="1515473" cy="1515473"/>
            <a:chOff x="4247511" y="1566336"/>
            <a:chExt cx="2152126" cy="2152127"/>
          </a:xfrm>
          <a:effectLst>
            <a:outerShdw blurRad="50800" dist="38100" sx="103000" sy="103000" algn="l" rotWithShape="0">
              <a:prstClr val="black">
                <a:alpha val="40000"/>
              </a:prstClr>
            </a:outerShdw>
          </a:effectLst>
        </p:grpSpPr>
        <p:sp>
          <p:nvSpPr>
            <p:cNvPr id="4" name="Freeform 490">
              <a:extLst>
                <a:ext uri="{FF2B5EF4-FFF2-40B4-BE49-F238E27FC236}">
                  <a16:creationId xmlns:a16="http://schemas.microsoft.com/office/drawing/2014/main" id="{F2C3373B-0ED6-4530-AA4A-CA9F73D890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47511" y="1566336"/>
              <a:ext cx="2152126" cy="2152127"/>
            </a:xfrm>
            <a:custGeom>
              <a:avLst/>
              <a:gdLst>
                <a:gd name="T0" fmla="*/ 1225 w 1229"/>
                <a:gd name="T1" fmla="*/ 665 h 1229"/>
                <a:gd name="T2" fmla="*/ 1201 w 1229"/>
                <a:gd name="T3" fmla="*/ 629 h 1229"/>
                <a:gd name="T4" fmla="*/ 1101 w 1229"/>
                <a:gd name="T5" fmla="*/ 598 h 1229"/>
                <a:gd name="T6" fmla="*/ 1039 w 1229"/>
                <a:gd name="T7" fmla="*/ 535 h 1229"/>
                <a:gd name="T8" fmla="*/ 1046 w 1229"/>
                <a:gd name="T9" fmla="*/ 447 h 1229"/>
                <a:gd name="T10" fmla="*/ 1146 w 1229"/>
                <a:gd name="T11" fmla="*/ 354 h 1229"/>
                <a:gd name="T12" fmla="*/ 1152 w 1229"/>
                <a:gd name="T13" fmla="*/ 314 h 1229"/>
                <a:gd name="T14" fmla="*/ 1082 w 1229"/>
                <a:gd name="T15" fmla="*/ 216 h 1229"/>
                <a:gd name="T16" fmla="*/ 1031 w 1229"/>
                <a:gd name="T17" fmla="*/ 209 h 1229"/>
                <a:gd name="T18" fmla="*/ 920 w 1229"/>
                <a:gd name="T19" fmla="*/ 266 h 1229"/>
                <a:gd name="T20" fmla="*/ 848 w 1229"/>
                <a:gd name="T21" fmla="*/ 253 h 1229"/>
                <a:gd name="T22" fmla="*/ 802 w 1229"/>
                <a:gd name="T23" fmla="*/ 206 h 1229"/>
                <a:gd name="T24" fmla="*/ 806 w 1229"/>
                <a:gd name="T25" fmla="*/ 53 h 1229"/>
                <a:gd name="T26" fmla="*/ 782 w 1229"/>
                <a:gd name="T27" fmla="*/ 24 h 1229"/>
                <a:gd name="T28" fmla="*/ 663 w 1229"/>
                <a:gd name="T29" fmla="*/ 4 h 1229"/>
                <a:gd name="T30" fmla="*/ 628 w 1229"/>
                <a:gd name="T31" fmla="*/ 29 h 1229"/>
                <a:gd name="T32" fmla="*/ 586 w 1229"/>
                <a:gd name="T33" fmla="*/ 164 h 1229"/>
                <a:gd name="T34" fmla="*/ 535 w 1229"/>
                <a:gd name="T35" fmla="*/ 192 h 1229"/>
                <a:gd name="T36" fmla="*/ 457 w 1229"/>
                <a:gd name="T37" fmla="*/ 192 h 1229"/>
                <a:gd name="T38" fmla="*/ 363 w 1229"/>
                <a:gd name="T39" fmla="*/ 90 h 1229"/>
                <a:gd name="T40" fmla="*/ 325 w 1229"/>
                <a:gd name="T41" fmla="*/ 79 h 1229"/>
                <a:gd name="T42" fmla="*/ 218 w 1229"/>
                <a:gd name="T43" fmla="*/ 152 h 1229"/>
                <a:gd name="T44" fmla="*/ 210 w 1229"/>
                <a:gd name="T45" fmla="*/ 202 h 1229"/>
                <a:gd name="T46" fmla="*/ 264 w 1229"/>
                <a:gd name="T47" fmla="*/ 309 h 1229"/>
                <a:gd name="T48" fmla="*/ 253 w 1229"/>
                <a:gd name="T49" fmla="*/ 389 h 1229"/>
                <a:gd name="T50" fmla="*/ 195 w 1229"/>
                <a:gd name="T51" fmla="*/ 431 h 1229"/>
                <a:gd name="T52" fmla="*/ 73 w 1229"/>
                <a:gd name="T53" fmla="*/ 421 h 1229"/>
                <a:gd name="T54" fmla="*/ 25 w 1229"/>
                <a:gd name="T55" fmla="*/ 459 h 1229"/>
                <a:gd name="T56" fmla="*/ 6 w 1229"/>
                <a:gd name="T57" fmla="*/ 563 h 1229"/>
                <a:gd name="T58" fmla="*/ 36 w 1229"/>
                <a:gd name="T59" fmla="*/ 607 h 1229"/>
                <a:gd name="T60" fmla="*/ 148 w 1229"/>
                <a:gd name="T61" fmla="*/ 644 h 1229"/>
                <a:gd name="T62" fmla="*/ 195 w 1229"/>
                <a:gd name="T63" fmla="*/ 714 h 1229"/>
                <a:gd name="T64" fmla="*/ 183 w 1229"/>
                <a:gd name="T65" fmla="*/ 783 h 1229"/>
                <a:gd name="T66" fmla="*/ 97 w 1229"/>
                <a:gd name="T67" fmla="*/ 865 h 1229"/>
                <a:gd name="T68" fmla="*/ 87 w 1229"/>
                <a:gd name="T69" fmla="*/ 920 h 1229"/>
                <a:gd name="T70" fmla="*/ 149 w 1229"/>
                <a:gd name="T71" fmla="*/ 1008 h 1229"/>
                <a:gd name="T72" fmla="*/ 201 w 1229"/>
                <a:gd name="T73" fmla="*/ 1021 h 1229"/>
                <a:gd name="T74" fmla="*/ 315 w 1229"/>
                <a:gd name="T75" fmla="*/ 963 h 1229"/>
                <a:gd name="T76" fmla="*/ 400 w 1229"/>
                <a:gd name="T77" fmla="*/ 987 h 1229"/>
                <a:gd name="T78" fmla="*/ 430 w 1229"/>
                <a:gd name="T79" fmla="*/ 1046 h 1229"/>
                <a:gd name="T80" fmla="*/ 425 w 1229"/>
                <a:gd name="T81" fmla="*/ 1163 h 1229"/>
                <a:gd name="T82" fmla="*/ 455 w 1229"/>
                <a:gd name="T83" fmla="*/ 1202 h 1229"/>
                <a:gd name="T84" fmla="*/ 566 w 1229"/>
                <a:gd name="T85" fmla="*/ 1221 h 1229"/>
                <a:gd name="T86" fmla="*/ 610 w 1229"/>
                <a:gd name="T87" fmla="*/ 1199 h 1229"/>
                <a:gd name="T88" fmla="*/ 649 w 1229"/>
                <a:gd name="T89" fmla="*/ 1075 h 1229"/>
                <a:gd name="T90" fmla="*/ 716 w 1229"/>
                <a:gd name="T91" fmla="*/ 1034 h 1229"/>
                <a:gd name="T92" fmla="*/ 794 w 1229"/>
                <a:gd name="T93" fmla="*/ 1054 h 1229"/>
                <a:gd name="T94" fmla="*/ 866 w 1229"/>
                <a:gd name="T95" fmla="*/ 1133 h 1229"/>
                <a:gd name="T96" fmla="*/ 911 w 1229"/>
                <a:gd name="T97" fmla="*/ 1147 h 1229"/>
                <a:gd name="T98" fmla="*/ 1015 w 1229"/>
                <a:gd name="T99" fmla="*/ 1076 h 1229"/>
                <a:gd name="T100" fmla="*/ 1024 w 1229"/>
                <a:gd name="T101" fmla="*/ 1032 h 1229"/>
                <a:gd name="T102" fmla="*/ 961 w 1229"/>
                <a:gd name="T103" fmla="*/ 895 h 1229"/>
                <a:gd name="T104" fmla="*/ 989 w 1229"/>
                <a:gd name="T105" fmla="*/ 831 h 1229"/>
                <a:gd name="T106" fmla="*/ 1045 w 1229"/>
                <a:gd name="T107" fmla="*/ 798 h 1229"/>
                <a:gd name="T108" fmla="*/ 1154 w 1229"/>
                <a:gd name="T109" fmla="*/ 801 h 1229"/>
                <a:gd name="T110" fmla="*/ 1197 w 1229"/>
                <a:gd name="T111" fmla="*/ 785 h 1229"/>
                <a:gd name="T112" fmla="*/ 1225 w 1229"/>
                <a:gd name="T113" fmla="*/ 665 h 1229"/>
                <a:gd name="T114" fmla="*/ 596 w 1229"/>
                <a:gd name="T115" fmla="*/ 729 h 1229"/>
                <a:gd name="T116" fmla="*/ 499 w 1229"/>
                <a:gd name="T117" fmla="*/ 592 h 1229"/>
                <a:gd name="T118" fmla="*/ 636 w 1229"/>
                <a:gd name="T119" fmla="*/ 495 h 1229"/>
                <a:gd name="T120" fmla="*/ 733 w 1229"/>
                <a:gd name="T121" fmla="*/ 632 h 1229"/>
                <a:gd name="T122" fmla="*/ 596 w 1229"/>
                <a:gd name="T123" fmla="*/ 729 h 1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29" h="1229">
                  <a:moveTo>
                    <a:pt x="1225" y="665"/>
                  </a:moveTo>
                  <a:cubicBezTo>
                    <a:pt x="1229" y="635"/>
                    <a:pt x="1201" y="629"/>
                    <a:pt x="1201" y="629"/>
                  </a:cubicBezTo>
                  <a:cubicBezTo>
                    <a:pt x="1201" y="629"/>
                    <a:pt x="1154" y="612"/>
                    <a:pt x="1101" y="598"/>
                  </a:cubicBezTo>
                  <a:cubicBezTo>
                    <a:pt x="1048" y="583"/>
                    <a:pt x="1039" y="535"/>
                    <a:pt x="1039" y="535"/>
                  </a:cubicBezTo>
                  <a:cubicBezTo>
                    <a:pt x="1013" y="473"/>
                    <a:pt x="1046" y="447"/>
                    <a:pt x="1046" y="447"/>
                  </a:cubicBezTo>
                  <a:cubicBezTo>
                    <a:pt x="1146" y="354"/>
                    <a:pt x="1146" y="354"/>
                    <a:pt x="1146" y="354"/>
                  </a:cubicBezTo>
                  <a:cubicBezTo>
                    <a:pt x="1166" y="334"/>
                    <a:pt x="1152" y="314"/>
                    <a:pt x="1152" y="314"/>
                  </a:cubicBezTo>
                  <a:cubicBezTo>
                    <a:pt x="1082" y="216"/>
                    <a:pt x="1082" y="216"/>
                    <a:pt x="1082" y="216"/>
                  </a:cubicBezTo>
                  <a:cubicBezTo>
                    <a:pt x="1062" y="189"/>
                    <a:pt x="1031" y="209"/>
                    <a:pt x="1031" y="209"/>
                  </a:cubicBezTo>
                  <a:cubicBezTo>
                    <a:pt x="920" y="266"/>
                    <a:pt x="920" y="266"/>
                    <a:pt x="920" y="266"/>
                  </a:cubicBezTo>
                  <a:cubicBezTo>
                    <a:pt x="899" y="275"/>
                    <a:pt x="848" y="253"/>
                    <a:pt x="848" y="253"/>
                  </a:cubicBezTo>
                  <a:cubicBezTo>
                    <a:pt x="818" y="239"/>
                    <a:pt x="802" y="206"/>
                    <a:pt x="802" y="206"/>
                  </a:cubicBezTo>
                  <a:cubicBezTo>
                    <a:pt x="806" y="53"/>
                    <a:pt x="806" y="53"/>
                    <a:pt x="806" y="53"/>
                  </a:cubicBezTo>
                  <a:cubicBezTo>
                    <a:pt x="807" y="32"/>
                    <a:pt x="782" y="24"/>
                    <a:pt x="782" y="24"/>
                  </a:cubicBezTo>
                  <a:cubicBezTo>
                    <a:pt x="663" y="4"/>
                    <a:pt x="663" y="4"/>
                    <a:pt x="663" y="4"/>
                  </a:cubicBezTo>
                  <a:cubicBezTo>
                    <a:pt x="635" y="0"/>
                    <a:pt x="628" y="29"/>
                    <a:pt x="628" y="29"/>
                  </a:cubicBezTo>
                  <a:cubicBezTo>
                    <a:pt x="626" y="35"/>
                    <a:pt x="586" y="164"/>
                    <a:pt x="586" y="164"/>
                  </a:cubicBezTo>
                  <a:cubicBezTo>
                    <a:pt x="578" y="177"/>
                    <a:pt x="535" y="192"/>
                    <a:pt x="535" y="192"/>
                  </a:cubicBezTo>
                  <a:cubicBezTo>
                    <a:pt x="494" y="211"/>
                    <a:pt x="457" y="192"/>
                    <a:pt x="457" y="192"/>
                  </a:cubicBezTo>
                  <a:cubicBezTo>
                    <a:pt x="363" y="90"/>
                    <a:pt x="363" y="90"/>
                    <a:pt x="363" y="90"/>
                  </a:cubicBezTo>
                  <a:cubicBezTo>
                    <a:pt x="350" y="72"/>
                    <a:pt x="325" y="79"/>
                    <a:pt x="325" y="79"/>
                  </a:cubicBezTo>
                  <a:cubicBezTo>
                    <a:pt x="218" y="152"/>
                    <a:pt x="218" y="152"/>
                    <a:pt x="218" y="152"/>
                  </a:cubicBezTo>
                  <a:cubicBezTo>
                    <a:pt x="196" y="170"/>
                    <a:pt x="210" y="202"/>
                    <a:pt x="210" y="202"/>
                  </a:cubicBezTo>
                  <a:cubicBezTo>
                    <a:pt x="264" y="309"/>
                    <a:pt x="264" y="309"/>
                    <a:pt x="264" y="309"/>
                  </a:cubicBezTo>
                  <a:cubicBezTo>
                    <a:pt x="284" y="340"/>
                    <a:pt x="253" y="389"/>
                    <a:pt x="253" y="389"/>
                  </a:cubicBezTo>
                  <a:cubicBezTo>
                    <a:pt x="235" y="421"/>
                    <a:pt x="195" y="431"/>
                    <a:pt x="195" y="431"/>
                  </a:cubicBezTo>
                  <a:cubicBezTo>
                    <a:pt x="73" y="421"/>
                    <a:pt x="73" y="421"/>
                    <a:pt x="73" y="421"/>
                  </a:cubicBezTo>
                  <a:cubicBezTo>
                    <a:pt x="30" y="419"/>
                    <a:pt x="25" y="459"/>
                    <a:pt x="25" y="459"/>
                  </a:cubicBezTo>
                  <a:cubicBezTo>
                    <a:pt x="6" y="563"/>
                    <a:pt x="6" y="563"/>
                    <a:pt x="6" y="563"/>
                  </a:cubicBezTo>
                  <a:cubicBezTo>
                    <a:pt x="0" y="600"/>
                    <a:pt x="36" y="607"/>
                    <a:pt x="36" y="607"/>
                  </a:cubicBezTo>
                  <a:cubicBezTo>
                    <a:pt x="148" y="644"/>
                    <a:pt x="148" y="644"/>
                    <a:pt x="148" y="644"/>
                  </a:cubicBezTo>
                  <a:cubicBezTo>
                    <a:pt x="189" y="655"/>
                    <a:pt x="195" y="714"/>
                    <a:pt x="195" y="714"/>
                  </a:cubicBezTo>
                  <a:cubicBezTo>
                    <a:pt x="208" y="764"/>
                    <a:pt x="183" y="783"/>
                    <a:pt x="183" y="783"/>
                  </a:cubicBezTo>
                  <a:cubicBezTo>
                    <a:pt x="97" y="865"/>
                    <a:pt x="97" y="865"/>
                    <a:pt x="97" y="865"/>
                  </a:cubicBezTo>
                  <a:cubicBezTo>
                    <a:pt x="67" y="888"/>
                    <a:pt x="87" y="920"/>
                    <a:pt x="87" y="920"/>
                  </a:cubicBezTo>
                  <a:cubicBezTo>
                    <a:pt x="149" y="1008"/>
                    <a:pt x="149" y="1008"/>
                    <a:pt x="149" y="1008"/>
                  </a:cubicBezTo>
                  <a:cubicBezTo>
                    <a:pt x="179" y="1038"/>
                    <a:pt x="201" y="1021"/>
                    <a:pt x="201" y="1021"/>
                  </a:cubicBezTo>
                  <a:cubicBezTo>
                    <a:pt x="315" y="963"/>
                    <a:pt x="315" y="963"/>
                    <a:pt x="315" y="963"/>
                  </a:cubicBezTo>
                  <a:cubicBezTo>
                    <a:pt x="356" y="943"/>
                    <a:pt x="400" y="987"/>
                    <a:pt x="400" y="987"/>
                  </a:cubicBezTo>
                  <a:cubicBezTo>
                    <a:pt x="437" y="1013"/>
                    <a:pt x="430" y="1046"/>
                    <a:pt x="430" y="1046"/>
                  </a:cubicBezTo>
                  <a:cubicBezTo>
                    <a:pt x="425" y="1163"/>
                    <a:pt x="425" y="1163"/>
                    <a:pt x="425" y="1163"/>
                  </a:cubicBezTo>
                  <a:cubicBezTo>
                    <a:pt x="422" y="1190"/>
                    <a:pt x="455" y="1202"/>
                    <a:pt x="455" y="1202"/>
                  </a:cubicBezTo>
                  <a:cubicBezTo>
                    <a:pt x="566" y="1221"/>
                    <a:pt x="566" y="1221"/>
                    <a:pt x="566" y="1221"/>
                  </a:cubicBezTo>
                  <a:cubicBezTo>
                    <a:pt x="605" y="1229"/>
                    <a:pt x="610" y="1199"/>
                    <a:pt x="610" y="1199"/>
                  </a:cubicBezTo>
                  <a:cubicBezTo>
                    <a:pt x="649" y="1075"/>
                    <a:pt x="649" y="1075"/>
                    <a:pt x="649" y="1075"/>
                  </a:cubicBezTo>
                  <a:cubicBezTo>
                    <a:pt x="661" y="1042"/>
                    <a:pt x="716" y="1034"/>
                    <a:pt x="716" y="1034"/>
                  </a:cubicBezTo>
                  <a:cubicBezTo>
                    <a:pt x="769" y="1019"/>
                    <a:pt x="794" y="1054"/>
                    <a:pt x="794" y="1054"/>
                  </a:cubicBezTo>
                  <a:cubicBezTo>
                    <a:pt x="866" y="1133"/>
                    <a:pt x="866" y="1133"/>
                    <a:pt x="866" y="1133"/>
                  </a:cubicBezTo>
                  <a:cubicBezTo>
                    <a:pt x="880" y="1157"/>
                    <a:pt x="911" y="1147"/>
                    <a:pt x="911" y="1147"/>
                  </a:cubicBezTo>
                  <a:cubicBezTo>
                    <a:pt x="1015" y="1076"/>
                    <a:pt x="1015" y="1076"/>
                    <a:pt x="1015" y="1076"/>
                  </a:cubicBezTo>
                  <a:cubicBezTo>
                    <a:pt x="1039" y="1054"/>
                    <a:pt x="1024" y="1032"/>
                    <a:pt x="1024" y="1032"/>
                  </a:cubicBezTo>
                  <a:cubicBezTo>
                    <a:pt x="961" y="895"/>
                    <a:pt x="961" y="895"/>
                    <a:pt x="961" y="895"/>
                  </a:cubicBezTo>
                  <a:cubicBezTo>
                    <a:pt x="952" y="871"/>
                    <a:pt x="989" y="831"/>
                    <a:pt x="989" y="831"/>
                  </a:cubicBezTo>
                  <a:cubicBezTo>
                    <a:pt x="1014" y="796"/>
                    <a:pt x="1045" y="798"/>
                    <a:pt x="1045" y="798"/>
                  </a:cubicBezTo>
                  <a:cubicBezTo>
                    <a:pt x="1154" y="801"/>
                    <a:pt x="1154" y="801"/>
                    <a:pt x="1154" y="801"/>
                  </a:cubicBezTo>
                  <a:cubicBezTo>
                    <a:pt x="1194" y="807"/>
                    <a:pt x="1197" y="785"/>
                    <a:pt x="1197" y="785"/>
                  </a:cubicBezTo>
                  <a:cubicBezTo>
                    <a:pt x="1197" y="785"/>
                    <a:pt x="1220" y="696"/>
                    <a:pt x="1225" y="665"/>
                  </a:cubicBezTo>
                  <a:close/>
                  <a:moveTo>
                    <a:pt x="596" y="729"/>
                  </a:moveTo>
                  <a:cubicBezTo>
                    <a:pt x="531" y="718"/>
                    <a:pt x="488" y="657"/>
                    <a:pt x="499" y="592"/>
                  </a:cubicBezTo>
                  <a:cubicBezTo>
                    <a:pt x="510" y="528"/>
                    <a:pt x="571" y="484"/>
                    <a:pt x="636" y="495"/>
                  </a:cubicBezTo>
                  <a:cubicBezTo>
                    <a:pt x="701" y="507"/>
                    <a:pt x="744" y="568"/>
                    <a:pt x="733" y="632"/>
                  </a:cubicBezTo>
                  <a:cubicBezTo>
                    <a:pt x="722" y="697"/>
                    <a:pt x="660" y="740"/>
                    <a:pt x="596" y="7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" name="Freeform 492">
              <a:extLst>
                <a:ext uri="{FF2B5EF4-FFF2-40B4-BE49-F238E27FC236}">
                  <a16:creationId xmlns:a16="http://schemas.microsoft.com/office/drawing/2014/main" id="{471A31C8-4949-45C7-87B8-86200ED2FA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93297" y="2041048"/>
              <a:ext cx="288826" cy="294010"/>
            </a:xfrm>
            <a:custGeom>
              <a:avLst/>
              <a:gdLst>
                <a:gd name="T0" fmla="*/ 128 w 165"/>
                <a:gd name="T1" fmla="*/ 26 h 168"/>
                <a:gd name="T2" fmla="*/ 25 w 165"/>
                <a:gd name="T3" fmla="*/ 37 h 168"/>
                <a:gd name="T4" fmla="*/ 36 w 165"/>
                <a:gd name="T5" fmla="*/ 142 h 168"/>
                <a:gd name="T6" fmla="*/ 140 w 165"/>
                <a:gd name="T7" fmla="*/ 130 h 168"/>
                <a:gd name="T8" fmla="*/ 128 w 165"/>
                <a:gd name="T9" fmla="*/ 26 h 168"/>
                <a:gd name="T10" fmla="*/ 50 w 165"/>
                <a:gd name="T11" fmla="*/ 124 h 168"/>
                <a:gd name="T12" fmla="*/ 42 w 165"/>
                <a:gd name="T13" fmla="*/ 51 h 168"/>
                <a:gd name="T14" fmla="*/ 114 w 165"/>
                <a:gd name="T15" fmla="*/ 43 h 168"/>
                <a:gd name="T16" fmla="*/ 122 w 165"/>
                <a:gd name="T17" fmla="*/ 116 h 168"/>
                <a:gd name="T18" fmla="*/ 50 w 165"/>
                <a:gd name="T19" fmla="*/ 1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" h="168">
                  <a:moveTo>
                    <a:pt x="128" y="26"/>
                  </a:moveTo>
                  <a:cubicBezTo>
                    <a:pt x="97" y="0"/>
                    <a:pt x="50" y="5"/>
                    <a:pt x="25" y="37"/>
                  </a:cubicBezTo>
                  <a:cubicBezTo>
                    <a:pt x="0" y="69"/>
                    <a:pt x="5" y="116"/>
                    <a:pt x="36" y="142"/>
                  </a:cubicBezTo>
                  <a:cubicBezTo>
                    <a:pt x="68" y="168"/>
                    <a:pt x="114" y="163"/>
                    <a:pt x="140" y="130"/>
                  </a:cubicBezTo>
                  <a:cubicBezTo>
                    <a:pt x="165" y="98"/>
                    <a:pt x="160" y="51"/>
                    <a:pt x="128" y="26"/>
                  </a:cubicBezTo>
                  <a:close/>
                  <a:moveTo>
                    <a:pt x="50" y="124"/>
                  </a:moveTo>
                  <a:cubicBezTo>
                    <a:pt x="28" y="107"/>
                    <a:pt x="25" y="74"/>
                    <a:pt x="42" y="51"/>
                  </a:cubicBezTo>
                  <a:cubicBezTo>
                    <a:pt x="60" y="29"/>
                    <a:pt x="92" y="25"/>
                    <a:pt x="114" y="43"/>
                  </a:cubicBezTo>
                  <a:cubicBezTo>
                    <a:pt x="136" y="61"/>
                    <a:pt x="140" y="94"/>
                    <a:pt x="122" y="116"/>
                  </a:cubicBezTo>
                  <a:cubicBezTo>
                    <a:pt x="105" y="139"/>
                    <a:pt x="72" y="142"/>
                    <a:pt x="50" y="1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Freeform 493">
              <a:extLst>
                <a:ext uri="{FF2B5EF4-FFF2-40B4-BE49-F238E27FC236}">
                  <a16:creationId xmlns:a16="http://schemas.microsoft.com/office/drawing/2014/main" id="{0E035425-6727-41EE-B4ED-8A8C195B7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113" y="2272109"/>
              <a:ext cx="91091" cy="108865"/>
            </a:xfrm>
            <a:custGeom>
              <a:avLst/>
              <a:gdLst>
                <a:gd name="T0" fmla="*/ 20 w 52"/>
                <a:gd name="T1" fmla="*/ 56 h 62"/>
                <a:gd name="T2" fmla="*/ 5 w 52"/>
                <a:gd name="T3" fmla="*/ 58 h 62"/>
                <a:gd name="T4" fmla="*/ 5 w 52"/>
                <a:gd name="T5" fmla="*/ 58 h 62"/>
                <a:gd name="T6" fmla="*/ 3 w 52"/>
                <a:gd name="T7" fmla="*/ 43 h 62"/>
                <a:gd name="T8" fmla="*/ 31 w 52"/>
                <a:gd name="T9" fmla="*/ 6 h 62"/>
                <a:gd name="T10" fmla="*/ 46 w 52"/>
                <a:gd name="T11" fmla="*/ 4 h 62"/>
                <a:gd name="T12" fmla="*/ 46 w 52"/>
                <a:gd name="T13" fmla="*/ 4 h 62"/>
                <a:gd name="T14" fmla="*/ 48 w 52"/>
                <a:gd name="T15" fmla="*/ 20 h 62"/>
                <a:gd name="T16" fmla="*/ 20 w 52"/>
                <a:gd name="T17" fmla="*/ 56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62">
                  <a:moveTo>
                    <a:pt x="20" y="56"/>
                  </a:moveTo>
                  <a:cubicBezTo>
                    <a:pt x="17" y="61"/>
                    <a:pt x="10" y="62"/>
                    <a:pt x="5" y="58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0" y="54"/>
                    <a:pt x="0" y="47"/>
                    <a:pt x="3" y="43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5" y="1"/>
                    <a:pt x="42" y="0"/>
                    <a:pt x="46" y="4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51" y="8"/>
                    <a:pt x="52" y="15"/>
                    <a:pt x="48" y="20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Freeform 494">
              <a:extLst>
                <a:ext uri="{FF2B5EF4-FFF2-40B4-BE49-F238E27FC236}">
                  <a16:creationId xmlns:a16="http://schemas.microsoft.com/office/drawing/2014/main" id="{3724699B-B980-44C8-AC82-34B2C8912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501" y="2106219"/>
              <a:ext cx="70355" cy="47397"/>
            </a:xfrm>
            <a:custGeom>
              <a:avLst/>
              <a:gdLst>
                <a:gd name="T0" fmla="*/ 8 w 40"/>
                <a:gd name="T1" fmla="*/ 26 h 27"/>
                <a:gd name="T2" fmla="*/ 9 w 40"/>
                <a:gd name="T3" fmla="*/ 25 h 27"/>
                <a:gd name="T4" fmla="*/ 34 w 40"/>
                <a:gd name="T5" fmla="*/ 10 h 27"/>
                <a:gd name="T6" fmla="*/ 32 w 40"/>
                <a:gd name="T7" fmla="*/ 1 h 27"/>
                <a:gd name="T8" fmla="*/ 32 w 40"/>
                <a:gd name="T9" fmla="*/ 0 h 27"/>
                <a:gd name="T10" fmla="*/ 2 w 40"/>
                <a:gd name="T11" fmla="*/ 19 h 27"/>
                <a:gd name="T12" fmla="*/ 1 w 40"/>
                <a:gd name="T13" fmla="*/ 19 h 27"/>
                <a:gd name="T14" fmla="*/ 8 w 40"/>
                <a:gd name="T15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27">
                  <a:moveTo>
                    <a:pt x="8" y="26"/>
                  </a:moveTo>
                  <a:cubicBezTo>
                    <a:pt x="9" y="26"/>
                    <a:pt x="9" y="25"/>
                    <a:pt x="9" y="25"/>
                  </a:cubicBezTo>
                  <a:cubicBezTo>
                    <a:pt x="16" y="17"/>
                    <a:pt x="25" y="12"/>
                    <a:pt x="34" y="10"/>
                  </a:cubicBezTo>
                  <a:cubicBezTo>
                    <a:pt x="40" y="4"/>
                    <a:pt x="32" y="1"/>
                    <a:pt x="32" y="1"/>
                  </a:cubicBezTo>
                  <a:cubicBezTo>
                    <a:pt x="32" y="1"/>
                    <a:pt x="32" y="1"/>
                    <a:pt x="32" y="0"/>
                  </a:cubicBezTo>
                  <a:cubicBezTo>
                    <a:pt x="21" y="3"/>
                    <a:pt x="10" y="9"/>
                    <a:pt x="2" y="19"/>
                  </a:cubicBezTo>
                  <a:cubicBezTo>
                    <a:pt x="2" y="19"/>
                    <a:pt x="1" y="19"/>
                    <a:pt x="1" y="19"/>
                  </a:cubicBezTo>
                  <a:cubicBezTo>
                    <a:pt x="0" y="27"/>
                    <a:pt x="8" y="26"/>
                    <a:pt x="8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" name="Freeform 522">
              <a:extLst>
                <a:ext uri="{FF2B5EF4-FFF2-40B4-BE49-F238E27FC236}">
                  <a16:creationId xmlns:a16="http://schemas.microsoft.com/office/drawing/2014/main" id="{44B08724-8B36-4DD1-A677-5045F9B7E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7242" y="2869758"/>
              <a:ext cx="251797" cy="174777"/>
            </a:xfrm>
            <a:custGeom>
              <a:avLst/>
              <a:gdLst>
                <a:gd name="T0" fmla="*/ 296 w 340"/>
                <a:gd name="T1" fmla="*/ 96 h 236"/>
                <a:gd name="T2" fmla="*/ 319 w 340"/>
                <a:gd name="T3" fmla="*/ 52 h 236"/>
                <a:gd name="T4" fmla="*/ 340 w 340"/>
                <a:gd name="T5" fmla="*/ 4 h 236"/>
                <a:gd name="T6" fmla="*/ 286 w 340"/>
                <a:gd name="T7" fmla="*/ 2 h 236"/>
                <a:gd name="T8" fmla="*/ 232 w 340"/>
                <a:gd name="T9" fmla="*/ 0 h 236"/>
                <a:gd name="T10" fmla="*/ 253 w 340"/>
                <a:gd name="T11" fmla="*/ 26 h 236"/>
                <a:gd name="T12" fmla="*/ 2 w 340"/>
                <a:gd name="T13" fmla="*/ 175 h 236"/>
                <a:gd name="T14" fmla="*/ 0 w 340"/>
                <a:gd name="T15" fmla="*/ 236 h 236"/>
                <a:gd name="T16" fmla="*/ 272 w 340"/>
                <a:gd name="T17" fmla="*/ 66 h 236"/>
                <a:gd name="T18" fmla="*/ 296 w 340"/>
                <a:gd name="T19" fmla="*/ 9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0" h="236">
                  <a:moveTo>
                    <a:pt x="296" y="96"/>
                  </a:moveTo>
                  <a:lnTo>
                    <a:pt x="319" y="52"/>
                  </a:lnTo>
                  <a:lnTo>
                    <a:pt x="340" y="4"/>
                  </a:lnTo>
                  <a:lnTo>
                    <a:pt x="286" y="2"/>
                  </a:lnTo>
                  <a:lnTo>
                    <a:pt x="232" y="0"/>
                  </a:lnTo>
                  <a:lnTo>
                    <a:pt x="253" y="26"/>
                  </a:lnTo>
                  <a:lnTo>
                    <a:pt x="2" y="175"/>
                  </a:lnTo>
                  <a:lnTo>
                    <a:pt x="0" y="236"/>
                  </a:lnTo>
                  <a:lnTo>
                    <a:pt x="272" y="66"/>
                  </a:lnTo>
                  <a:lnTo>
                    <a:pt x="296" y="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Freeform 523">
              <a:extLst>
                <a:ext uri="{FF2B5EF4-FFF2-40B4-BE49-F238E27FC236}">
                  <a16:creationId xmlns:a16="http://schemas.microsoft.com/office/drawing/2014/main" id="{D56640E4-0B1D-4F65-9211-686401410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9425" y="2953443"/>
              <a:ext cx="68133" cy="239948"/>
            </a:xfrm>
            <a:custGeom>
              <a:avLst/>
              <a:gdLst>
                <a:gd name="T0" fmla="*/ 39 w 39"/>
                <a:gd name="T1" fmla="*/ 125 h 137"/>
                <a:gd name="T2" fmla="*/ 26 w 39"/>
                <a:gd name="T3" fmla="*/ 137 h 137"/>
                <a:gd name="T4" fmla="*/ 13 w 39"/>
                <a:gd name="T5" fmla="*/ 137 h 137"/>
                <a:gd name="T6" fmla="*/ 0 w 39"/>
                <a:gd name="T7" fmla="*/ 125 h 137"/>
                <a:gd name="T8" fmla="*/ 0 w 39"/>
                <a:gd name="T9" fmla="*/ 13 h 137"/>
                <a:gd name="T10" fmla="*/ 13 w 39"/>
                <a:gd name="T11" fmla="*/ 0 h 137"/>
                <a:gd name="T12" fmla="*/ 26 w 39"/>
                <a:gd name="T13" fmla="*/ 0 h 137"/>
                <a:gd name="T14" fmla="*/ 39 w 39"/>
                <a:gd name="T15" fmla="*/ 13 h 137"/>
                <a:gd name="T16" fmla="*/ 39 w 39"/>
                <a:gd name="T17" fmla="*/ 12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137">
                  <a:moveTo>
                    <a:pt x="39" y="125"/>
                  </a:moveTo>
                  <a:cubicBezTo>
                    <a:pt x="39" y="132"/>
                    <a:pt x="33" y="137"/>
                    <a:pt x="26" y="137"/>
                  </a:cubicBezTo>
                  <a:cubicBezTo>
                    <a:pt x="13" y="137"/>
                    <a:pt x="13" y="137"/>
                    <a:pt x="13" y="137"/>
                  </a:cubicBezTo>
                  <a:cubicBezTo>
                    <a:pt x="6" y="137"/>
                    <a:pt x="0" y="132"/>
                    <a:pt x="0" y="12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3" y="0"/>
                    <a:pt x="39" y="6"/>
                    <a:pt x="39" y="13"/>
                  </a:cubicBezTo>
                  <a:lnTo>
                    <a:pt x="39" y="1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Freeform 524">
              <a:extLst>
                <a:ext uri="{FF2B5EF4-FFF2-40B4-BE49-F238E27FC236}">
                  <a16:creationId xmlns:a16="http://schemas.microsoft.com/office/drawing/2014/main" id="{384DCB1D-0417-448E-B8A3-F5B7D6620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9815" y="3004543"/>
              <a:ext cx="66652" cy="188848"/>
            </a:xfrm>
            <a:custGeom>
              <a:avLst/>
              <a:gdLst>
                <a:gd name="T0" fmla="*/ 38 w 38"/>
                <a:gd name="T1" fmla="*/ 96 h 108"/>
                <a:gd name="T2" fmla="*/ 26 w 38"/>
                <a:gd name="T3" fmla="*/ 108 h 108"/>
                <a:gd name="T4" fmla="*/ 13 w 38"/>
                <a:gd name="T5" fmla="*/ 108 h 108"/>
                <a:gd name="T6" fmla="*/ 0 w 38"/>
                <a:gd name="T7" fmla="*/ 96 h 108"/>
                <a:gd name="T8" fmla="*/ 0 w 38"/>
                <a:gd name="T9" fmla="*/ 12 h 108"/>
                <a:gd name="T10" fmla="*/ 13 w 38"/>
                <a:gd name="T11" fmla="*/ 0 h 108"/>
                <a:gd name="T12" fmla="*/ 26 w 38"/>
                <a:gd name="T13" fmla="*/ 0 h 108"/>
                <a:gd name="T14" fmla="*/ 38 w 38"/>
                <a:gd name="T15" fmla="*/ 12 h 108"/>
                <a:gd name="T16" fmla="*/ 38 w 38"/>
                <a:gd name="T17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108">
                  <a:moveTo>
                    <a:pt x="38" y="96"/>
                  </a:moveTo>
                  <a:cubicBezTo>
                    <a:pt x="38" y="103"/>
                    <a:pt x="33" y="108"/>
                    <a:pt x="26" y="108"/>
                  </a:cubicBezTo>
                  <a:cubicBezTo>
                    <a:pt x="13" y="108"/>
                    <a:pt x="13" y="108"/>
                    <a:pt x="13" y="108"/>
                  </a:cubicBezTo>
                  <a:cubicBezTo>
                    <a:pt x="6" y="108"/>
                    <a:pt x="0" y="103"/>
                    <a:pt x="0" y="9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3" y="0"/>
                    <a:pt x="38" y="6"/>
                    <a:pt x="38" y="12"/>
                  </a:cubicBezTo>
                  <a:lnTo>
                    <a:pt x="38" y="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Freeform 525">
              <a:extLst>
                <a:ext uri="{FF2B5EF4-FFF2-40B4-BE49-F238E27FC236}">
                  <a16:creationId xmlns:a16="http://schemas.microsoft.com/office/drawing/2014/main" id="{7A32D4F2-8745-4596-A2CB-5875DC47C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3540" y="3051200"/>
              <a:ext cx="79242" cy="148857"/>
            </a:xfrm>
            <a:custGeom>
              <a:avLst/>
              <a:gdLst>
                <a:gd name="T0" fmla="*/ 29 w 45"/>
                <a:gd name="T1" fmla="*/ 85 h 85"/>
                <a:gd name="T2" fmla="*/ 15 w 45"/>
                <a:gd name="T3" fmla="*/ 85 h 85"/>
                <a:gd name="T4" fmla="*/ 0 w 45"/>
                <a:gd name="T5" fmla="*/ 69 h 85"/>
                <a:gd name="T6" fmla="*/ 0 w 45"/>
                <a:gd name="T7" fmla="*/ 16 h 85"/>
                <a:gd name="T8" fmla="*/ 15 w 45"/>
                <a:gd name="T9" fmla="*/ 0 h 85"/>
                <a:gd name="T10" fmla="*/ 29 w 45"/>
                <a:gd name="T11" fmla="*/ 0 h 85"/>
                <a:gd name="T12" fmla="*/ 45 w 45"/>
                <a:gd name="T13" fmla="*/ 16 h 85"/>
                <a:gd name="T14" fmla="*/ 45 w 45"/>
                <a:gd name="T15" fmla="*/ 69 h 85"/>
                <a:gd name="T16" fmla="*/ 29 w 45"/>
                <a:gd name="T17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85">
                  <a:moveTo>
                    <a:pt x="29" y="85"/>
                  </a:moveTo>
                  <a:cubicBezTo>
                    <a:pt x="15" y="85"/>
                    <a:pt x="15" y="85"/>
                    <a:pt x="15" y="85"/>
                  </a:cubicBezTo>
                  <a:cubicBezTo>
                    <a:pt x="7" y="85"/>
                    <a:pt x="0" y="78"/>
                    <a:pt x="0" y="6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7" y="0"/>
                    <a:pt x="45" y="7"/>
                    <a:pt x="45" y="16"/>
                  </a:cubicBezTo>
                  <a:cubicBezTo>
                    <a:pt x="45" y="69"/>
                    <a:pt x="45" y="69"/>
                    <a:pt x="45" y="69"/>
                  </a:cubicBezTo>
                  <a:cubicBezTo>
                    <a:pt x="45" y="78"/>
                    <a:pt x="37" y="85"/>
                    <a:pt x="29" y="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Freeform 526">
              <a:extLst>
                <a:ext uri="{FF2B5EF4-FFF2-40B4-BE49-F238E27FC236}">
                  <a16:creationId xmlns:a16="http://schemas.microsoft.com/office/drawing/2014/main" id="{CF79C88F-A102-45B5-845B-1CA09391B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006" y="2144729"/>
              <a:ext cx="138489" cy="134786"/>
            </a:xfrm>
            <a:custGeom>
              <a:avLst/>
              <a:gdLst>
                <a:gd name="T0" fmla="*/ 41 w 79"/>
                <a:gd name="T1" fmla="*/ 76 h 77"/>
                <a:gd name="T2" fmla="*/ 78 w 79"/>
                <a:gd name="T3" fmla="*/ 37 h 77"/>
                <a:gd name="T4" fmla="*/ 38 w 79"/>
                <a:gd name="T5" fmla="*/ 0 h 77"/>
                <a:gd name="T6" fmla="*/ 1 w 79"/>
                <a:gd name="T7" fmla="*/ 40 h 77"/>
                <a:gd name="T8" fmla="*/ 41 w 79"/>
                <a:gd name="T9" fmla="*/ 7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77">
                  <a:moveTo>
                    <a:pt x="41" y="76"/>
                  </a:moveTo>
                  <a:cubicBezTo>
                    <a:pt x="62" y="76"/>
                    <a:pt x="79" y="58"/>
                    <a:pt x="78" y="37"/>
                  </a:cubicBezTo>
                  <a:cubicBezTo>
                    <a:pt x="78" y="16"/>
                    <a:pt x="60" y="0"/>
                    <a:pt x="38" y="0"/>
                  </a:cubicBezTo>
                  <a:cubicBezTo>
                    <a:pt x="17" y="1"/>
                    <a:pt x="0" y="19"/>
                    <a:pt x="1" y="40"/>
                  </a:cubicBezTo>
                  <a:cubicBezTo>
                    <a:pt x="2" y="61"/>
                    <a:pt x="20" y="77"/>
                    <a:pt x="41" y="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" name="Freeform 527">
              <a:extLst>
                <a:ext uri="{FF2B5EF4-FFF2-40B4-BE49-F238E27FC236}">
                  <a16:creationId xmlns:a16="http://schemas.microsoft.com/office/drawing/2014/main" id="{D940767C-6235-432E-B83A-A064658D9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5354" y="2288402"/>
              <a:ext cx="273274" cy="197735"/>
            </a:xfrm>
            <a:custGeom>
              <a:avLst/>
              <a:gdLst>
                <a:gd name="T0" fmla="*/ 119 w 156"/>
                <a:gd name="T1" fmla="*/ 0 h 113"/>
                <a:gd name="T2" fmla="*/ 80 w 156"/>
                <a:gd name="T3" fmla="*/ 46 h 113"/>
                <a:gd name="T4" fmla="*/ 37 w 156"/>
                <a:gd name="T5" fmla="*/ 1 h 113"/>
                <a:gd name="T6" fmla="*/ 1 w 156"/>
                <a:gd name="T7" fmla="*/ 50 h 113"/>
                <a:gd name="T8" fmla="*/ 3 w 156"/>
                <a:gd name="T9" fmla="*/ 113 h 113"/>
                <a:gd name="T10" fmla="*/ 156 w 156"/>
                <a:gd name="T11" fmla="*/ 113 h 113"/>
                <a:gd name="T12" fmla="*/ 154 w 156"/>
                <a:gd name="T13" fmla="*/ 45 h 113"/>
                <a:gd name="T14" fmla="*/ 119 w 156"/>
                <a:gd name="T15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6" h="113">
                  <a:moveTo>
                    <a:pt x="119" y="0"/>
                  </a:moveTo>
                  <a:cubicBezTo>
                    <a:pt x="80" y="46"/>
                    <a:pt x="80" y="46"/>
                    <a:pt x="80" y="46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11" y="11"/>
                    <a:pt x="0" y="26"/>
                    <a:pt x="1" y="50"/>
                  </a:cubicBezTo>
                  <a:cubicBezTo>
                    <a:pt x="3" y="113"/>
                    <a:pt x="3" y="113"/>
                    <a:pt x="3" y="113"/>
                  </a:cubicBezTo>
                  <a:cubicBezTo>
                    <a:pt x="156" y="113"/>
                    <a:pt x="156" y="113"/>
                    <a:pt x="156" y="113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3" y="23"/>
                    <a:pt x="144" y="9"/>
                    <a:pt x="1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Freeform 534">
              <a:extLst>
                <a:ext uri="{FF2B5EF4-FFF2-40B4-BE49-F238E27FC236}">
                  <a16:creationId xmlns:a16="http://schemas.microsoft.com/office/drawing/2014/main" id="{C1FEA2E0-2560-4101-A4F4-465CC9ADA9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51846" y="2769779"/>
              <a:ext cx="159225" cy="268090"/>
            </a:xfrm>
            <a:custGeom>
              <a:avLst/>
              <a:gdLst>
                <a:gd name="T0" fmla="*/ 54 w 91"/>
                <a:gd name="T1" fmla="*/ 71 h 153"/>
                <a:gd name="T2" fmla="*/ 91 w 91"/>
                <a:gd name="T3" fmla="*/ 25 h 153"/>
                <a:gd name="T4" fmla="*/ 91 w 91"/>
                <a:gd name="T5" fmla="*/ 25 h 153"/>
                <a:gd name="T6" fmla="*/ 91 w 91"/>
                <a:gd name="T7" fmla="*/ 0 h 153"/>
                <a:gd name="T8" fmla="*/ 46 w 91"/>
                <a:gd name="T9" fmla="*/ 0 h 153"/>
                <a:gd name="T10" fmla="*/ 45 w 91"/>
                <a:gd name="T11" fmla="*/ 0 h 153"/>
                <a:gd name="T12" fmla="*/ 0 w 91"/>
                <a:gd name="T13" fmla="*/ 0 h 153"/>
                <a:gd name="T14" fmla="*/ 0 w 91"/>
                <a:gd name="T15" fmla="*/ 25 h 153"/>
                <a:gd name="T16" fmla="*/ 0 w 91"/>
                <a:gd name="T17" fmla="*/ 25 h 153"/>
                <a:gd name="T18" fmla="*/ 37 w 91"/>
                <a:gd name="T19" fmla="*/ 71 h 153"/>
                <a:gd name="T20" fmla="*/ 42 w 91"/>
                <a:gd name="T21" fmla="*/ 77 h 153"/>
                <a:gd name="T22" fmla="*/ 40 w 91"/>
                <a:gd name="T23" fmla="*/ 82 h 153"/>
                <a:gd name="T24" fmla="*/ 0 w 91"/>
                <a:gd name="T25" fmla="*/ 128 h 153"/>
                <a:gd name="T26" fmla="*/ 0 w 91"/>
                <a:gd name="T27" fmla="*/ 128 h 153"/>
                <a:gd name="T28" fmla="*/ 0 w 91"/>
                <a:gd name="T29" fmla="*/ 153 h 153"/>
                <a:gd name="T30" fmla="*/ 45 w 91"/>
                <a:gd name="T31" fmla="*/ 153 h 153"/>
                <a:gd name="T32" fmla="*/ 46 w 91"/>
                <a:gd name="T33" fmla="*/ 153 h 153"/>
                <a:gd name="T34" fmla="*/ 91 w 91"/>
                <a:gd name="T35" fmla="*/ 153 h 153"/>
                <a:gd name="T36" fmla="*/ 91 w 91"/>
                <a:gd name="T37" fmla="*/ 128 h 153"/>
                <a:gd name="T38" fmla="*/ 91 w 91"/>
                <a:gd name="T39" fmla="*/ 128 h 153"/>
                <a:gd name="T40" fmla="*/ 51 w 91"/>
                <a:gd name="T41" fmla="*/ 82 h 153"/>
                <a:gd name="T42" fmla="*/ 49 w 91"/>
                <a:gd name="T43" fmla="*/ 77 h 153"/>
                <a:gd name="T44" fmla="*/ 54 w 91"/>
                <a:gd name="T45" fmla="*/ 71 h 153"/>
                <a:gd name="T46" fmla="*/ 14 w 91"/>
                <a:gd name="T47" fmla="*/ 127 h 153"/>
                <a:gd name="T48" fmla="*/ 14 w 91"/>
                <a:gd name="T49" fmla="*/ 124 h 153"/>
                <a:gd name="T50" fmla="*/ 14 w 91"/>
                <a:gd name="T51" fmla="*/ 124 h 153"/>
                <a:gd name="T52" fmla="*/ 42 w 91"/>
                <a:gd name="T53" fmla="*/ 92 h 153"/>
                <a:gd name="T54" fmla="*/ 14 w 91"/>
                <a:gd name="T55" fmla="*/ 127 h 153"/>
                <a:gd name="T56" fmla="*/ 80 w 91"/>
                <a:gd name="T57" fmla="*/ 124 h 153"/>
                <a:gd name="T58" fmla="*/ 80 w 91"/>
                <a:gd name="T59" fmla="*/ 126 h 153"/>
                <a:gd name="T60" fmla="*/ 52 w 91"/>
                <a:gd name="T61" fmla="*/ 92 h 153"/>
                <a:gd name="T62" fmla="*/ 80 w 91"/>
                <a:gd name="T63" fmla="*/ 124 h 153"/>
                <a:gd name="T64" fmla="*/ 42 w 91"/>
                <a:gd name="T65" fmla="*/ 41 h 153"/>
                <a:gd name="T66" fmla="*/ 18 w 91"/>
                <a:gd name="T67" fmla="*/ 45 h 153"/>
                <a:gd name="T68" fmla="*/ 14 w 91"/>
                <a:gd name="T69" fmla="*/ 28 h 153"/>
                <a:gd name="T70" fmla="*/ 14 w 91"/>
                <a:gd name="T71" fmla="*/ 28 h 153"/>
                <a:gd name="T72" fmla="*/ 14 w 91"/>
                <a:gd name="T73" fmla="*/ 11 h 153"/>
                <a:gd name="T74" fmla="*/ 19 w 91"/>
                <a:gd name="T75" fmla="*/ 11 h 153"/>
                <a:gd name="T76" fmla="*/ 75 w 91"/>
                <a:gd name="T77" fmla="*/ 11 h 153"/>
                <a:gd name="T78" fmla="*/ 80 w 91"/>
                <a:gd name="T79" fmla="*/ 11 h 153"/>
                <a:gd name="T80" fmla="*/ 80 w 91"/>
                <a:gd name="T81" fmla="*/ 28 h 153"/>
                <a:gd name="T82" fmla="*/ 79 w 91"/>
                <a:gd name="T83" fmla="*/ 37 h 153"/>
                <a:gd name="T84" fmla="*/ 60 w 91"/>
                <a:gd name="T85" fmla="*/ 43 h 153"/>
                <a:gd name="T86" fmla="*/ 42 w 91"/>
                <a:gd name="T87" fmla="*/ 4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1" h="153">
                  <a:moveTo>
                    <a:pt x="54" y="71"/>
                  </a:moveTo>
                  <a:cubicBezTo>
                    <a:pt x="75" y="66"/>
                    <a:pt x="91" y="48"/>
                    <a:pt x="91" y="25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48"/>
                    <a:pt x="16" y="66"/>
                    <a:pt x="37" y="71"/>
                  </a:cubicBezTo>
                  <a:cubicBezTo>
                    <a:pt x="39" y="72"/>
                    <a:pt x="41" y="75"/>
                    <a:pt x="42" y="77"/>
                  </a:cubicBezTo>
                  <a:cubicBezTo>
                    <a:pt x="42" y="79"/>
                    <a:pt x="41" y="80"/>
                    <a:pt x="40" y="82"/>
                  </a:cubicBezTo>
                  <a:cubicBezTo>
                    <a:pt x="17" y="85"/>
                    <a:pt x="0" y="104"/>
                    <a:pt x="0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45" y="153"/>
                    <a:pt x="45" y="153"/>
                    <a:pt x="45" y="153"/>
                  </a:cubicBezTo>
                  <a:cubicBezTo>
                    <a:pt x="46" y="153"/>
                    <a:pt x="46" y="153"/>
                    <a:pt x="46" y="153"/>
                  </a:cubicBezTo>
                  <a:cubicBezTo>
                    <a:pt x="91" y="153"/>
                    <a:pt x="91" y="153"/>
                    <a:pt x="91" y="153"/>
                  </a:cubicBezTo>
                  <a:cubicBezTo>
                    <a:pt x="91" y="128"/>
                    <a:pt x="91" y="128"/>
                    <a:pt x="91" y="128"/>
                  </a:cubicBezTo>
                  <a:cubicBezTo>
                    <a:pt x="91" y="128"/>
                    <a:pt x="91" y="128"/>
                    <a:pt x="91" y="128"/>
                  </a:cubicBezTo>
                  <a:cubicBezTo>
                    <a:pt x="91" y="104"/>
                    <a:pt x="74" y="85"/>
                    <a:pt x="51" y="82"/>
                  </a:cubicBezTo>
                  <a:cubicBezTo>
                    <a:pt x="50" y="80"/>
                    <a:pt x="49" y="79"/>
                    <a:pt x="49" y="77"/>
                  </a:cubicBezTo>
                  <a:cubicBezTo>
                    <a:pt x="50" y="75"/>
                    <a:pt x="51" y="72"/>
                    <a:pt x="54" y="71"/>
                  </a:cubicBezTo>
                  <a:close/>
                  <a:moveTo>
                    <a:pt x="14" y="127"/>
                  </a:moveTo>
                  <a:cubicBezTo>
                    <a:pt x="14" y="124"/>
                    <a:pt x="14" y="124"/>
                    <a:pt x="14" y="124"/>
                  </a:cubicBezTo>
                  <a:cubicBezTo>
                    <a:pt x="14" y="124"/>
                    <a:pt x="14" y="124"/>
                    <a:pt x="14" y="124"/>
                  </a:cubicBezTo>
                  <a:cubicBezTo>
                    <a:pt x="14" y="108"/>
                    <a:pt x="26" y="95"/>
                    <a:pt x="42" y="92"/>
                  </a:cubicBezTo>
                  <a:cubicBezTo>
                    <a:pt x="41" y="98"/>
                    <a:pt x="38" y="114"/>
                    <a:pt x="14" y="127"/>
                  </a:cubicBezTo>
                  <a:close/>
                  <a:moveTo>
                    <a:pt x="80" y="124"/>
                  </a:moveTo>
                  <a:cubicBezTo>
                    <a:pt x="80" y="126"/>
                    <a:pt x="80" y="126"/>
                    <a:pt x="80" y="126"/>
                  </a:cubicBezTo>
                  <a:cubicBezTo>
                    <a:pt x="70" y="120"/>
                    <a:pt x="51" y="106"/>
                    <a:pt x="52" y="92"/>
                  </a:cubicBezTo>
                  <a:cubicBezTo>
                    <a:pt x="67" y="94"/>
                    <a:pt x="80" y="108"/>
                    <a:pt x="80" y="124"/>
                  </a:cubicBezTo>
                  <a:close/>
                  <a:moveTo>
                    <a:pt x="42" y="41"/>
                  </a:moveTo>
                  <a:cubicBezTo>
                    <a:pt x="32" y="37"/>
                    <a:pt x="23" y="42"/>
                    <a:pt x="18" y="45"/>
                  </a:cubicBezTo>
                  <a:cubicBezTo>
                    <a:pt x="16" y="40"/>
                    <a:pt x="14" y="34"/>
                    <a:pt x="14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31"/>
                    <a:pt x="79" y="34"/>
                    <a:pt x="79" y="37"/>
                  </a:cubicBezTo>
                  <a:cubicBezTo>
                    <a:pt x="73" y="37"/>
                    <a:pt x="63" y="41"/>
                    <a:pt x="60" y="43"/>
                  </a:cubicBezTo>
                  <a:cubicBezTo>
                    <a:pt x="55" y="45"/>
                    <a:pt x="55" y="47"/>
                    <a:pt x="42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Freeform 535">
              <a:extLst>
                <a:ext uri="{FF2B5EF4-FFF2-40B4-BE49-F238E27FC236}">
                  <a16:creationId xmlns:a16="http://schemas.microsoft.com/office/drawing/2014/main" id="{AF27CC8D-DA3E-43DD-96E3-AF40D01C5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553" y="3046016"/>
              <a:ext cx="194773" cy="35548"/>
            </a:xfrm>
            <a:custGeom>
              <a:avLst/>
              <a:gdLst>
                <a:gd name="T0" fmla="*/ 103 w 111"/>
                <a:gd name="T1" fmla="*/ 0 h 20"/>
                <a:gd name="T2" fmla="*/ 7 w 111"/>
                <a:gd name="T3" fmla="*/ 0 h 20"/>
                <a:gd name="T4" fmla="*/ 0 w 111"/>
                <a:gd name="T5" fmla="*/ 10 h 20"/>
                <a:gd name="T6" fmla="*/ 7 w 111"/>
                <a:gd name="T7" fmla="*/ 20 h 20"/>
                <a:gd name="T8" fmla="*/ 103 w 111"/>
                <a:gd name="T9" fmla="*/ 20 h 20"/>
                <a:gd name="T10" fmla="*/ 111 w 111"/>
                <a:gd name="T11" fmla="*/ 10 h 20"/>
                <a:gd name="T12" fmla="*/ 103 w 111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20">
                  <a:moveTo>
                    <a:pt x="10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5"/>
                    <a:pt x="0" y="10"/>
                  </a:cubicBezTo>
                  <a:cubicBezTo>
                    <a:pt x="0" y="16"/>
                    <a:pt x="3" y="20"/>
                    <a:pt x="7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7" y="20"/>
                    <a:pt x="111" y="16"/>
                    <a:pt x="111" y="10"/>
                  </a:cubicBezTo>
                  <a:cubicBezTo>
                    <a:pt x="111" y="5"/>
                    <a:pt x="107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Freeform 536">
              <a:extLst>
                <a:ext uri="{FF2B5EF4-FFF2-40B4-BE49-F238E27FC236}">
                  <a16:creationId xmlns:a16="http://schemas.microsoft.com/office/drawing/2014/main" id="{8A16134D-FC0A-4D63-B22A-57610C651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553" y="2723863"/>
              <a:ext cx="194773" cy="35548"/>
            </a:xfrm>
            <a:custGeom>
              <a:avLst/>
              <a:gdLst>
                <a:gd name="T0" fmla="*/ 7 w 111"/>
                <a:gd name="T1" fmla="*/ 20 h 20"/>
                <a:gd name="T2" fmla="*/ 103 w 111"/>
                <a:gd name="T3" fmla="*/ 20 h 20"/>
                <a:gd name="T4" fmla="*/ 111 w 111"/>
                <a:gd name="T5" fmla="*/ 10 h 20"/>
                <a:gd name="T6" fmla="*/ 103 w 111"/>
                <a:gd name="T7" fmla="*/ 0 h 20"/>
                <a:gd name="T8" fmla="*/ 7 w 111"/>
                <a:gd name="T9" fmla="*/ 0 h 20"/>
                <a:gd name="T10" fmla="*/ 0 w 111"/>
                <a:gd name="T11" fmla="*/ 10 h 20"/>
                <a:gd name="T12" fmla="*/ 7 w 111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20">
                  <a:moveTo>
                    <a:pt x="7" y="20"/>
                  </a:moveTo>
                  <a:cubicBezTo>
                    <a:pt x="103" y="20"/>
                    <a:pt x="103" y="20"/>
                    <a:pt x="103" y="20"/>
                  </a:cubicBezTo>
                  <a:cubicBezTo>
                    <a:pt x="107" y="20"/>
                    <a:pt x="111" y="16"/>
                    <a:pt x="111" y="10"/>
                  </a:cubicBezTo>
                  <a:cubicBezTo>
                    <a:pt x="111" y="5"/>
                    <a:pt x="107" y="0"/>
                    <a:pt x="103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5"/>
                    <a:pt x="0" y="10"/>
                  </a:cubicBezTo>
                  <a:cubicBezTo>
                    <a:pt x="0" y="16"/>
                    <a:pt x="3" y="20"/>
                    <a:pt x="7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Freeform 537">
              <a:extLst>
                <a:ext uri="{FF2B5EF4-FFF2-40B4-BE49-F238E27FC236}">
                  <a16:creationId xmlns:a16="http://schemas.microsoft.com/office/drawing/2014/main" id="{C07052C3-5229-44A3-B9C7-B25D6CE7BC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93297" y="2823842"/>
              <a:ext cx="225877" cy="224396"/>
            </a:xfrm>
            <a:custGeom>
              <a:avLst/>
              <a:gdLst>
                <a:gd name="T0" fmla="*/ 65 w 129"/>
                <a:gd name="T1" fmla="*/ 0 h 128"/>
                <a:gd name="T2" fmla="*/ 0 w 129"/>
                <a:gd name="T3" fmla="*/ 64 h 128"/>
                <a:gd name="T4" fmla="*/ 65 w 129"/>
                <a:gd name="T5" fmla="*/ 128 h 128"/>
                <a:gd name="T6" fmla="*/ 129 w 129"/>
                <a:gd name="T7" fmla="*/ 64 h 128"/>
                <a:gd name="T8" fmla="*/ 65 w 129"/>
                <a:gd name="T9" fmla="*/ 0 h 128"/>
                <a:gd name="T10" fmla="*/ 65 w 129"/>
                <a:gd name="T11" fmla="*/ 114 h 128"/>
                <a:gd name="T12" fmla="*/ 14 w 129"/>
                <a:gd name="T13" fmla="*/ 64 h 128"/>
                <a:gd name="T14" fmla="*/ 65 w 129"/>
                <a:gd name="T15" fmla="*/ 13 h 128"/>
                <a:gd name="T16" fmla="*/ 115 w 129"/>
                <a:gd name="T17" fmla="*/ 64 h 128"/>
                <a:gd name="T18" fmla="*/ 65 w 129"/>
                <a:gd name="T19" fmla="*/ 11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9" h="128">
                  <a:moveTo>
                    <a:pt x="65" y="0"/>
                  </a:moveTo>
                  <a:cubicBezTo>
                    <a:pt x="29" y="0"/>
                    <a:pt x="0" y="28"/>
                    <a:pt x="0" y="64"/>
                  </a:cubicBezTo>
                  <a:cubicBezTo>
                    <a:pt x="0" y="99"/>
                    <a:pt x="29" y="128"/>
                    <a:pt x="65" y="128"/>
                  </a:cubicBezTo>
                  <a:cubicBezTo>
                    <a:pt x="100" y="128"/>
                    <a:pt x="129" y="99"/>
                    <a:pt x="129" y="64"/>
                  </a:cubicBezTo>
                  <a:cubicBezTo>
                    <a:pt x="129" y="28"/>
                    <a:pt x="100" y="0"/>
                    <a:pt x="65" y="0"/>
                  </a:cubicBezTo>
                  <a:close/>
                  <a:moveTo>
                    <a:pt x="65" y="114"/>
                  </a:moveTo>
                  <a:cubicBezTo>
                    <a:pt x="37" y="114"/>
                    <a:pt x="14" y="92"/>
                    <a:pt x="14" y="64"/>
                  </a:cubicBezTo>
                  <a:cubicBezTo>
                    <a:pt x="14" y="36"/>
                    <a:pt x="37" y="13"/>
                    <a:pt x="65" y="13"/>
                  </a:cubicBezTo>
                  <a:cubicBezTo>
                    <a:pt x="92" y="13"/>
                    <a:pt x="115" y="36"/>
                    <a:pt x="115" y="64"/>
                  </a:cubicBezTo>
                  <a:cubicBezTo>
                    <a:pt x="115" y="92"/>
                    <a:pt x="92" y="114"/>
                    <a:pt x="65" y="1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Freeform 538">
              <a:extLst>
                <a:ext uri="{FF2B5EF4-FFF2-40B4-BE49-F238E27FC236}">
                  <a16:creationId xmlns:a16="http://schemas.microsoft.com/office/drawing/2014/main" id="{4CB25AE2-5D69-402F-B717-4904108B0D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72539" y="2869758"/>
              <a:ext cx="69615" cy="132564"/>
            </a:xfrm>
            <a:custGeom>
              <a:avLst/>
              <a:gdLst>
                <a:gd name="T0" fmla="*/ 18 w 40"/>
                <a:gd name="T1" fmla="*/ 76 h 76"/>
                <a:gd name="T2" fmla="*/ 18 w 40"/>
                <a:gd name="T3" fmla="*/ 69 h 76"/>
                <a:gd name="T4" fmla="*/ 9 w 40"/>
                <a:gd name="T5" fmla="*/ 66 h 76"/>
                <a:gd name="T6" fmla="*/ 3 w 40"/>
                <a:gd name="T7" fmla="*/ 60 h 76"/>
                <a:gd name="T8" fmla="*/ 0 w 40"/>
                <a:gd name="T9" fmla="*/ 51 h 76"/>
                <a:gd name="T10" fmla="*/ 7 w 40"/>
                <a:gd name="T11" fmla="*/ 49 h 76"/>
                <a:gd name="T12" fmla="*/ 10 w 40"/>
                <a:gd name="T13" fmla="*/ 58 h 76"/>
                <a:gd name="T14" fmla="*/ 18 w 40"/>
                <a:gd name="T15" fmla="*/ 63 h 76"/>
                <a:gd name="T16" fmla="*/ 18 w 40"/>
                <a:gd name="T17" fmla="*/ 39 h 76"/>
                <a:gd name="T18" fmla="*/ 8 w 40"/>
                <a:gd name="T19" fmla="*/ 35 h 76"/>
                <a:gd name="T20" fmla="*/ 3 w 40"/>
                <a:gd name="T21" fmla="*/ 29 h 76"/>
                <a:gd name="T22" fmla="*/ 1 w 40"/>
                <a:gd name="T23" fmla="*/ 21 h 76"/>
                <a:gd name="T24" fmla="*/ 7 w 40"/>
                <a:gd name="T25" fmla="*/ 8 h 76"/>
                <a:gd name="T26" fmla="*/ 18 w 40"/>
                <a:gd name="T27" fmla="*/ 4 h 76"/>
                <a:gd name="T28" fmla="*/ 18 w 40"/>
                <a:gd name="T29" fmla="*/ 0 h 76"/>
                <a:gd name="T30" fmla="*/ 22 w 40"/>
                <a:gd name="T31" fmla="*/ 0 h 76"/>
                <a:gd name="T32" fmla="*/ 22 w 40"/>
                <a:gd name="T33" fmla="*/ 4 h 76"/>
                <a:gd name="T34" fmla="*/ 33 w 40"/>
                <a:gd name="T35" fmla="*/ 8 h 76"/>
                <a:gd name="T36" fmla="*/ 39 w 40"/>
                <a:gd name="T37" fmla="*/ 19 h 76"/>
                <a:gd name="T38" fmla="*/ 31 w 40"/>
                <a:gd name="T39" fmla="*/ 20 h 76"/>
                <a:gd name="T40" fmla="*/ 28 w 40"/>
                <a:gd name="T41" fmla="*/ 14 h 76"/>
                <a:gd name="T42" fmla="*/ 22 w 40"/>
                <a:gd name="T43" fmla="*/ 10 h 76"/>
                <a:gd name="T44" fmla="*/ 22 w 40"/>
                <a:gd name="T45" fmla="*/ 32 h 76"/>
                <a:gd name="T46" fmla="*/ 30 w 40"/>
                <a:gd name="T47" fmla="*/ 34 h 76"/>
                <a:gd name="T48" fmla="*/ 36 w 40"/>
                <a:gd name="T49" fmla="*/ 38 h 76"/>
                <a:gd name="T50" fmla="*/ 39 w 40"/>
                <a:gd name="T51" fmla="*/ 43 h 76"/>
                <a:gd name="T52" fmla="*/ 40 w 40"/>
                <a:gd name="T53" fmla="*/ 50 h 76"/>
                <a:gd name="T54" fmla="*/ 35 w 40"/>
                <a:gd name="T55" fmla="*/ 63 h 76"/>
                <a:gd name="T56" fmla="*/ 22 w 40"/>
                <a:gd name="T57" fmla="*/ 69 h 76"/>
                <a:gd name="T58" fmla="*/ 22 w 40"/>
                <a:gd name="T59" fmla="*/ 76 h 76"/>
                <a:gd name="T60" fmla="*/ 18 w 40"/>
                <a:gd name="T61" fmla="*/ 76 h 76"/>
                <a:gd name="T62" fmla="*/ 18 w 40"/>
                <a:gd name="T63" fmla="*/ 10 h 76"/>
                <a:gd name="T64" fmla="*/ 11 w 40"/>
                <a:gd name="T65" fmla="*/ 14 h 76"/>
                <a:gd name="T66" fmla="*/ 9 w 40"/>
                <a:gd name="T67" fmla="*/ 21 h 76"/>
                <a:gd name="T68" fmla="*/ 11 w 40"/>
                <a:gd name="T69" fmla="*/ 27 h 76"/>
                <a:gd name="T70" fmla="*/ 18 w 40"/>
                <a:gd name="T71" fmla="*/ 31 h 76"/>
                <a:gd name="T72" fmla="*/ 18 w 40"/>
                <a:gd name="T73" fmla="*/ 10 h 76"/>
                <a:gd name="T74" fmla="*/ 22 w 40"/>
                <a:gd name="T75" fmla="*/ 63 h 76"/>
                <a:gd name="T76" fmla="*/ 30 w 40"/>
                <a:gd name="T77" fmla="*/ 59 h 76"/>
                <a:gd name="T78" fmla="*/ 33 w 40"/>
                <a:gd name="T79" fmla="*/ 51 h 76"/>
                <a:gd name="T80" fmla="*/ 31 w 40"/>
                <a:gd name="T81" fmla="*/ 44 h 76"/>
                <a:gd name="T82" fmla="*/ 22 w 40"/>
                <a:gd name="T83" fmla="*/ 40 h 76"/>
                <a:gd name="T84" fmla="*/ 22 w 40"/>
                <a:gd name="T85" fmla="*/ 63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" h="76">
                  <a:moveTo>
                    <a:pt x="18" y="76"/>
                  </a:moveTo>
                  <a:cubicBezTo>
                    <a:pt x="18" y="69"/>
                    <a:pt x="18" y="69"/>
                    <a:pt x="18" y="69"/>
                  </a:cubicBezTo>
                  <a:cubicBezTo>
                    <a:pt x="14" y="68"/>
                    <a:pt x="11" y="68"/>
                    <a:pt x="9" y="66"/>
                  </a:cubicBezTo>
                  <a:cubicBezTo>
                    <a:pt x="6" y="65"/>
                    <a:pt x="4" y="63"/>
                    <a:pt x="3" y="60"/>
                  </a:cubicBezTo>
                  <a:cubicBezTo>
                    <a:pt x="1" y="58"/>
                    <a:pt x="0" y="54"/>
                    <a:pt x="0" y="51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53"/>
                    <a:pt x="9" y="56"/>
                    <a:pt x="10" y="58"/>
                  </a:cubicBezTo>
                  <a:cubicBezTo>
                    <a:pt x="12" y="61"/>
                    <a:pt x="15" y="62"/>
                    <a:pt x="18" y="63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5" y="38"/>
                    <a:pt x="12" y="37"/>
                    <a:pt x="8" y="35"/>
                  </a:cubicBezTo>
                  <a:cubicBezTo>
                    <a:pt x="6" y="34"/>
                    <a:pt x="4" y="32"/>
                    <a:pt x="3" y="29"/>
                  </a:cubicBezTo>
                  <a:cubicBezTo>
                    <a:pt x="2" y="27"/>
                    <a:pt x="1" y="24"/>
                    <a:pt x="1" y="21"/>
                  </a:cubicBezTo>
                  <a:cubicBezTo>
                    <a:pt x="1" y="16"/>
                    <a:pt x="3" y="12"/>
                    <a:pt x="7" y="8"/>
                  </a:cubicBezTo>
                  <a:cubicBezTo>
                    <a:pt x="9" y="6"/>
                    <a:pt x="13" y="5"/>
                    <a:pt x="18" y="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7" y="5"/>
                    <a:pt x="30" y="6"/>
                    <a:pt x="33" y="8"/>
                  </a:cubicBezTo>
                  <a:cubicBezTo>
                    <a:pt x="36" y="11"/>
                    <a:pt x="38" y="14"/>
                    <a:pt x="39" y="19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17"/>
                    <a:pt x="30" y="15"/>
                    <a:pt x="28" y="14"/>
                  </a:cubicBezTo>
                  <a:cubicBezTo>
                    <a:pt x="27" y="12"/>
                    <a:pt x="25" y="11"/>
                    <a:pt x="22" y="10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6" y="33"/>
                    <a:pt x="29" y="34"/>
                    <a:pt x="30" y="34"/>
                  </a:cubicBezTo>
                  <a:cubicBezTo>
                    <a:pt x="32" y="35"/>
                    <a:pt x="34" y="37"/>
                    <a:pt x="36" y="38"/>
                  </a:cubicBezTo>
                  <a:cubicBezTo>
                    <a:pt x="37" y="40"/>
                    <a:pt x="38" y="41"/>
                    <a:pt x="39" y="43"/>
                  </a:cubicBezTo>
                  <a:cubicBezTo>
                    <a:pt x="40" y="46"/>
                    <a:pt x="40" y="48"/>
                    <a:pt x="40" y="50"/>
                  </a:cubicBezTo>
                  <a:cubicBezTo>
                    <a:pt x="40" y="55"/>
                    <a:pt x="39" y="60"/>
                    <a:pt x="35" y="63"/>
                  </a:cubicBezTo>
                  <a:cubicBezTo>
                    <a:pt x="32" y="67"/>
                    <a:pt x="28" y="69"/>
                    <a:pt x="22" y="69"/>
                  </a:cubicBezTo>
                  <a:cubicBezTo>
                    <a:pt x="22" y="76"/>
                    <a:pt x="22" y="76"/>
                    <a:pt x="22" y="76"/>
                  </a:cubicBezTo>
                  <a:lnTo>
                    <a:pt x="18" y="76"/>
                  </a:lnTo>
                  <a:close/>
                  <a:moveTo>
                    <a:pt x="18" y="10"/>
                  </a:moveTo>
                  <a:cubicBezTo>
                    <a:pt x="15" y="11"/>
                    <a:pt x="13" y="12"/>
                    <a:pt x="11" y="14"/>
                  </a:cubicBezTo>
                  <a:cubicBezTo>
                    <a:pt x="9" y="16"/>
                    <a:pt x="9" y="18"/>
                    <a:pt x="9" y="21"/>
                  </a:cubicBezTo>
                  <a:cubicBezTo>
                    <a:pt x="9" y="23"/>
                    <a:pt x="9" y="25"/>
                    <a:pt x="11" y="27"/>
                  </a:cubicBezTo>
                  <a:cubicBezTo>
                    <a:pt x="12" y="29"/>
                    <a:pt x="15" y="30"/>
                    <a:pt x="18" y="31"/>
                  </a:cubicBezTo>
                  <a:lnTo>
                    <a:pt x="18" y="10"/>
                  </a:lnTo>
                  <a:close/>
                  <a:moveTo>
                    <a:pt x="22" y="63"/>
                  </a:moveTo>
                  <a:cubicBezTo>
                    <a:pt x="25" y="62"/>
                    <a:pt x="28" y="61"/>
                    <a:pt x="30" y="59"/>
                  </a:cubicBezTo>
                  <a:cubicBezTo>
                    <a:pt x="32" y="57"/>
                    <a:pt x="33" y="54"/>
                    <a:pt x="33" y="51"/>
                  </a:cubicBezTo>
                  <a:cubicBezTo>
                    <a:pt x="33" y="48"/>
                    <a:pt x="32" y="46"/>
                    <a:pt x="31" y="44"/>
                  </a:cubicBezTo>
                  <a:cubicBezTo>
                    <a:pt x="29" y="42"/>
                    <a:pt x="26" y="41"/>
                    <a:pt x="22" y="40"/>
                  </a:cubicBezTo>
                  <a:lnTo>
                    <a:pt x="22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743" tIns="41872" rIns="83743" bIns="41872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17A1D172-F406-438B-8064-F5069EDC4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406996" y="2428726"/>
            <a:ext cx="7216725" cy="239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86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页脚占位符 6">
            <a:extLst>
              <a:ext uri="{FF2B5EF4-FFF2-40B4-BE49-F238E27FC236}">
                <a16:creationId xmlns:a16="http://schemas.microsoft.com/office/drawing/2014/main" id="{CCE60519-BFC8-4B90-ADA4-62B174EAC0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1B06C2D-3D41-4567-ACCA-431CDFED32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/>
          <a:lstStyle/>
          <a:p>
            <a:fld id="{118D5ACA-62CA-46DB-AD6B-12EDD6D51A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163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7A1A-06BB-49BC-9C6B-7762F8EC9684}" type="datetimeFigureOut">
              <a:rPr lang="zh-CN" altLang="en-US" smtClean="0"/>
              <a:pPr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811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F64AD55-F65D-4674-9C05-5FF0FD994FF3}"/>
              </a:ext>
            </a:extLst>
          </p:cNvPr>
          <p:cNvGrpSpPr/>
          <p:nvPr userDrawn="1"/>
        </p:nvGrpSpPr>
        <p:grpSpPr>
          <a:xfrm>
            <a:off x="-164" y="0"/>
            <a:ext cx="2600415" cy="1288338"/>
            <a:chOff x="12536" y="0"/>
            <a:chExt cx="1374618" cy="2253704"/>
          </a:xfrm>
          <a:gradFill>
            <a:gsLst>
              <a:gs pos="0">
                <a:srgbClr val="FF0000"/>
              </a:gs>
              <a:gs pos="61000">
                <a:schemeClr val="bg1"/>
              </a:gs>
              <a:gs pos="100000">
                <a:srgbClr val="FF0000"/>
              </a:gs>
            </a:gsLst>
            <a:lin ang="5400000" scaled="1"/>
          </a:gradFill>
        </p:grpSpPr>
        <p:sp>
          <p:nvSpPr>
            <p:cNvPr id="17" name="五边形 9">
              <a:extLst>
                <a:ext uri="{FF2B5EF4-FFF2-40B4-BE49-F238E27FC236}">
                  <a16:creationId xmlns:a16="http://schemas.microsoft.com/office/drawing/2014/main" id="{74122E1F-4D45-49E8-9198-2855F174B25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5400000">
              <a:off x="-499188" y="511724"/>
              <a:ext cx="2253704" cy="1230256"/>
            </a:xfrm>
            <a:prstGeom prst="homePlate">
              <a:avLst>
                <a:gd name="adj" fmla="val 26948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" name="直角三角形 10">
              <a:extLst>
                <a:ext uri="{FF2B5EF4-FFF2-40B4-BE49-F238E27FC236}">
                  <a16:creationId xmlns:a16="http://schemas.microsoft.com/office/drawing/2014/main" id="{095F3014-69AE-426F-BBD0-0900547F79A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40080" y="1627"/>
              <a:ext cx="147074" cy="423258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496BC53-C55A-4CD4-B513-FAE2E8799F6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320" y="14180"/>
            <a:ext cx="2327320" cy="921231"/>
          </a:xfrm>
          <a:prstGeom prst="rect">
            <a:avLst/>
          </a:prstGeom>
        </p:spPr>
      </p:pic>
      <p:sp>
        <p:nvSpPr>
          <p:cNvPr id="8" name="直角三角形 7">
            <a:extLst>
              <a:ext uri="{FF2B5EF4-FFF2-40B4-BE49-F238E27FC236}">
                <a16:creationId xmlns:a16="http://schemas.microsoft.com/office/drawing/2014/main" id="{02EF9955-29CA-4134-9685-008689F60D06}"/>
              </a:ext>
            </a:extLst>
          </p:cNvPr>
          <p:cNvSpPr/>
          <p:nvPr userDrawn="1"/>
        </p:nvSpPr>
        <p:spPr>
          <a:xfrm flipH="1" flipV="1">
            <a:off x="-1321" y="922909"/>
            <a:ext cx="1167217" cy="378678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直角三角形 40">
            <a:extLst>
              <a:ext uri="{FF2B5EF4-FFF2-40B4-BE49-F238E27FC236}">
                <a16:creationId xmlns:a16="http://schemas.microsoft.com/office/drawing/2014/main" id="{39501143-5E4E-4F3A-91D4-37377C0687E9}"/>
              </a:ext>
            </a:extLst>
          </p:cNvPr>
          <p:cNvSpPr/>
          <p:nvPr userDrawn="1"/>
        </p:nvSpPr>
        <p:spPr>
          <a:xfrm flipV="1">
            <a:off x="1163404" y="914095"/>
            <a:ext cx="1167217" cy="378678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010AFCB3-E80D-415B-B4E8-32F686AF71F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1954954" y="4086602"/>
            <a:ext cx="5094310" cy="117279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319546D-AC9A-4666-8248-2865E00A37B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632604" y="159941"/>
            <a:ext cx="113347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92" r:id="rId2"/>
    <p:sldLayoutId id="2147483993" r:id="rId3"/>
  </p:sldLayoutIdLst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4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6.bin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7"/>
          <p:cNvSpPr>
            <a:spLocks noChangeArrowheads="1"/>
          </p:cNvSpPr>
          <p:nvPr/>
        </p:nvSpPr>
        <p:spPr bwMode="auto">
          <a:xfrm>
            <a:off x="353" y="1629021"/>
            <a:ext cx="12858044" cy="3976283"/>
          </a:xfrm>
          <a:prstGeom prst="rect">
            <a:avLst/>
          </a:prstGeom>
          <a:blipFill dpi="0" rotWithShape="0">
            <a:blip r:embed="rId3"/>
            <a:srcRect/>
            <a:stretch>
              <a:fillRect b="-81895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96" tIns="49557" rIns="95096" bIns="49557" anchor="ctr"/>
          <a:lstStyle/>
          <a:p>
            <a:pPr algn="ctr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031" name="直接连接符 25"/>
          <p:cNvSpPr>
            <a:spLocks noChangeShapeType="1"/>
          </p:cNvSpPr>
          <p:nvPr/>
        </p:nvSpPr>
        <p:spPr bwMode="auto">
          <a:xfrm>
            <a:off x="308695" y="4696445"/>
            <a:ext cx="6224767" cy="0"/>
          </a:xfrm>
          <a:prstGeom prst="line">
            <a:avLst/>
          </a:prstGeom>
          <a:noFill/>
          <a:ln w="6350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2" name="Group 6"/>
          <p:cNvGrpSpPr/>
          <p:nvPr/>
        </p:nvGrpSpPr>
        <p:grpSpPr bwMode="auto">
          <a:xfrm>
            <a:off x="8187311" y="1289153"/>
            <a:ext cx="4589050" cy="3368540"/>
            <a:chOff x="0" y="0"/>
            <a:chExt cx="8460" cy="6208"/>
          </a:xfrm>
        </p:grpSpPr>
        <p:sp>
          <p:nvSpPr>
            <p:cNvPr id="1034" name="五边形 9"/>
            <p:cNvSpPr>
              <a:spLocks noChangeArrowheads="1"/>
            </p:cNvSpPr>
            <p:nvPr/>
          </p:nvSpPr>
          <p:spPr bwMode="auto">
            <a:xfrm rot="5400000">
              <a:off x="-1970" y="1970"/>
              <a:ext cx="6208" cy="2268"/>
            </a:xfrm>
            <a:prstGeom prst="homePlate">
              <a:avLst>
                <a:gd name="adj" fmla="val 6843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035" name="直角三角形 10"/>
            <p:cNvSpPr>
              <a:spLocks noChangeArrowheads="1"/>
            </p:cNvSpPr>
            <p:nvPr/>
          </p:nvSpPr>
          <p:spPr bwMode="auto">
            <a:xfrm>
              <a:off x="2263" y="3"/>
              <a:ext cx="552" cy="633"/>
            </a:xfrm>
            <a:prstGeom prst="rtTriangle">
              <a:avLst/>
            </a:prstGeom>
            <a:solidFill>
              <a:srgbClr val="3F3F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036" name="五边形 12"/>
            <p:cNvSpPr>
              <a:spLocks noChangeArrowheads="1"/>
            </p:cNvSpPr>
            <p:nvPr/>
          </p:nvSpPr>
          <p:spPr bwMode="auto">
            <a:xfrm rot="5400000">
              <a:off x="853" y="1970"/>
              <a:ext cx="6208" cy="2268"/>
            </a:xfrm>
            <a:prstGeom prst="homePlate">
              <a:avLst>
                <a:gd name="adj" fmla="val 6843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037" name="直角三角形 13"/>
            <p:cNvSpPr>
              <a:spLocks noChangeArrowheads="1"/>
            </p:cNvSpPr>
            <p:nvPr/>
          </p:nvSpPr>
          <p:spPr bwMode="auto">
            <a:xfrm>
              <a:off x="5085" y="3"/>
              <a:ext cx="551" cy="633"/>
            </a:xfrm>
            <a:prstGeom prst="rtTriangle">
              <a:avLst/>
            </a:prstGeom>
            <a:solidFill>
              <a:srgbClr val="3F3F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038" name="五边形 15"/>
            <p:cNvSpPr>
              <a:spLocks noChangeArrowheads="1"/>
            </p:cNvSpPr>
            <p:nvPr/>
          </p:nvSpPr>
          <p:spPr bwMode="auto">
            <a:xfrm rot="5400000">
              <a:off x="3676" y="1967"/>
              <a:ext cx="6208" cy="2271"/>
            </a:xfrm>
            <a:prstGeom prst="homePlate">
              <a:avLst>
                <a:gd name="adj" fmla="val 6834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039" name="直角三角形 16"/>
            <p:cNvSpPr>
              <a:spLocks noChangeArrowheads="1"/>
            </p:cNvSpPr>
            <p:nvPr/>
          </p:nvSpPr>
          <p:spPr bwMode="auto">
            <a:xfrm>
              <a:off x="7910" y="3"/>
              <a:ext cx="551" cy="633"/>
            </a:xfrm>
            <a:prstGeom prst="rtTriangle">
              <a:avLst/>
            </a:prstGeom>
            <a:solidFill>
              <a:srgbClr val="3F3F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pic>
          <p:nvPicPr>
            <p:cNvPr id="1040" name="Picture 5" descr="E:\Design Area\CSO\Processing\presentation\bizpro\asd\images\01_Main-Background_Light_03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" y="1628"/>
              <a:ext cx="2064" cy="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1" name="Picture 6" descr="E:\Design Area\CSO\Processing\presentation\bizpro\asd\images\01_Main-Background_Light_05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54" y="1662"/>
              <a:ext cx="2064" cy="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2" name="Picture 7" descr="E:\Design Area\CSO\Processing\presentation\bizpro\asd\images\01_Main-Background_Light_07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4" y="1662"/>
              <a:ext cx="2064" cy="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文本框 22"/>
          <p:cNvSpPr>
            <a:spLocks noChangeArrowheads="1"/>
          </p:cNvSpPr>
          <p:nvPr/>
        </p:nvSpPr>
        <p:spPr bwMode="auto">
          <a:xfrm>
            <a:off x="164679" y="2176165"/>
            <a:ext cx="7644424" cy="2405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435" tIns="48218" rIns="96435" bIns="482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5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第五章 </a:t>
            </a:r>
            <a:endParaRPr lang="en-US" altLang="zh-CN" sz="5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5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5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循环结构程序设计</a:t>
            </a:r>
            <a:endParaRPr lang="zh-CN" altLang="zh-CN" sz="5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7"/>
          <p:cNvSpPr>
            <a:spLocks noChangeArrowheads="1"/>
          </p:cNvSpPr>
          <p:nvPr/>
        </p:nvSpPr>
        <p:spPr bwMode="auto">
          <a:xfrm>
            <a:off x="668735" y="4803917"/>
            <a:ext cx="5529483" cy="32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109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THE TEACHER SPEAKING LESSON PPT</a:t>
            </a:r>
          </a:p>
        </p:txBody>
      </p:sp>
    </p:spTree>
    <p:extLst>
      <p:ext uri="{BB962C8B-B14F-4D97-AF65-F5344CB8AC3E}">
        <p14:creationId xmlns:p14="http://schemas.microsoft.com/office/powerpoint/2010/main" val="426660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animBg="1"/>
      <p:bldP spid="1031" grpId="0" animBg="1"/>
      <p:bldP spid="17" grpId="0" bldLvl="0" autoUpdateAnimBg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57"/>
          <p:cNvGrpSpPr/>
          <p:nvPr/>
        </p:nvGrpSpPr>
        <p:grpSpPr bwMode="auto">
          <a:xfrm>
            <a:off x="2240400" y="1649537"/>
            <a:ext cx="3860880" cy="3838996"/>
            <a:chOff x="0" y="0"/>
            <a:chExt cx="4846320" cy="4437330"/>
          </a:xfrm>
        </p:grpSpPr>
        <p:sp>
          <p:nvSpPr>
            <p:cNvPr id="2060" name="Freeform 5"/>
            <p:cNvSpPr>
              <a:spLocks noChangeArrowheads="1"/>
            </p:cNvSpPr>
            <p:nvPr/>
          </p:nvSpPr>
          <p:spPr bwMode="auto">
            <a:xfrm>
              <a:off x="400195" y="2192278"/>
              <a:ext cx="4446125" cy="738822"/>
            </a:xfrm>
            <a:custGeom>
              <a:avLst/>
              <a:gdLst>
                <a:gd name="T0" fmla="*/ 4297834 w 1709"/>
                <a:gd name="T1" fmla="*/ 738822 h 284"/>
                <a:gd name="T2" fmla="*/ 148291 w 1709"/>
                <a:gd name="T3" fmla="*/ 738822 h 284"/>
                <a:gd name="T4" fmla="*/ 0 w 1709"/>
                <a:gd name="T5" fmla="*/ 590537 h 284"/>
                <a:gd name="T6" fmla="*/ 0 w 1709"/>
                <a:gd name="T7" fmla="*/ 145683 h 284"/>
                <a:gd name="T8" fmla="*/ 148291 w 1709"/>
                <a:gd name="T9" fmla="*/ 0 h 284"/>
                <a:gd name="T10" fmla="*/ 4297834 w 1709"/>
                <a:gd name="T11" fmla="*/ 0 h 284"/>
                <a:gd name="T12" fmla="*/ 4446125 w 1709"/>
                <a:gd name="T13" fmla="*/ 145683 h 284"/>
                <a:gd name="T14" fmla="*/ 4446125 w 1709"/>
                <a:gd name="T15" fmla="*/ 590537 h 284"/>
                <a:gd name="T16" fmla="*/ 4297834 w 1709"/>
                <a:gd name="T17" fmla="*/ 738822 h 2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09"/>
                <a:gd name="T28" fmla="*/ 0 h 284"/>
                <a:gd name="T29" fmla="*/ 1709 w 1709"/>
                <a:gd name="T30" fmla="*/ 284 h 2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09" h="284">
                  <a:moveTo>
                    <a:pt x="1652" y="284"/>
                  </a:moveTo>
                  <a:cubicBezTo>
                    <a:pt x="57" y="284"/>
                    <a:pt x="57" y="284"/>
                    <a:pt x="57" y="284"/>
                  </a:cubicBezTo>
                  <a:cubicBezTo>
                    <a:pt x="26" y="284"/>
                    <a:pt x="0" y="258"/>
                    <a:pt x="0" y="22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1652" y="0"/>
                    <a:pt x="1652" y="0"/>
                    <a:pt x="1652" y="0"/>
                  </a:cubicBezTo>
                  <a:cubicBezTo>
                    <a:pt x="1683" y="0"/>
                    <a:pt x="1709" y="25"/>
                    <a:pt x="1709" y="56"/>
                  </a:cubicBezTo>
                  <a:cubicBezTo>
                    <a:pt x="1709" y="227"/>
                    <a:pt x="1709" y="227"/>
                    <a:pt x="1709" y="227"/>
                  </a:cubicBezTo>
                  <a:cubicBezTo>
                    <a:pt x="1709" y="258"/>
                    <a:pt x="1683" y="284"/>
                    <a:pt x="1652" y="284"/>
                  </a:cubicBez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Rectangle 6"/>
            <p:cNvSpPr>
              <a:spLocks noChangeArrowheads="1"/>
            </p:cNvSpPr>
            <p:nvPr/>
          </p:nvSpPr>
          <p:spPr bwMode="auto">
            <a:xfrm>
              <a:off x="400195" y="2561689"/>
              <a:ext cx="4446125" cy="369411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2" name="Freeform 7"/>
            <p:cNvSpPr>
              <a:spLocks noChangeArrowheads="1"/>
            </p:cNvSpPr>
            <p:nvPr/>
          </p:nvSpPr>
          <p:spPr bwMode="auto">
            <a:xfrm>
              <a:off x="931224" y="2237355"/>
              <a:ext cx="531029" cy="626679"/>
            </a:xfrm>
            <a:custGeom>
              <a:avLst/>
              <a:gdLst>
                <a:gd name="T0" fmla="*/ 484174 w 204"/>
                <a:gd name="T1" fmla="*/ 626679 h 241"/>
                <a:gd name="T2" fmla="*/ 46856 w 204"/>
                <a:gd name="T3" fmla="*/ 626679 h 241"/>
                <a:gd name="T4" fmla="*/ 0 w 204"/>
                <a:gd name="T5" fmla="*/ 579873 h 241"/>
                <a:gd name="T6" fmla="*/ 0 w 204"/>
                <a:gd name="T7" fmla="*/ 44206 h 241"/>
                <a:gd name="T8" fmla="*/ 46856 w 204"/>
                <a:gd name="T9" fmla="*/ 0 h 241"/>
                <a:gd name="T10" fmla="*/ 484174 w 204"/>
                <a:gd name="T11" fmla="*/ 0 h 241"/>
                <a:gd name="T12" fmla="*/ 531029 w 204"/>
                <a:gd name="T13" fmla="*/ 44206 h 241"/>
                <a:gd name="T14" fmla="*/ 531029 w 204"/>
                <a:gd name="T15" fmla="*/ 579873 h 241"/>
                <a:gd name="T16" fmla="*/ 484174 w 204"/>
                <a:gd name="T17" fmla="*/ 626679 h 2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04"/>
                <a:gd name="T28" fmla="*/ 0 h 241"/>
                <a:gd name="T29" fmla="*/ 204 w 204"/>
                <a:gd name="T30" fmla="*/ 241 h 24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04" h="241">
                  <a:moveTo>
                    <a:pt x="186" y="241"/>
                  </a:moveTo>
                  <a:cubicBezTo>
                    <a:pt x="18" y="241"/>
                    <a:pt x="18" y="241"/>
                    <a:pt x="18" y="241"/>
                  </a:cubicBezTo>
                  <a:cubicBezTo>
                    <a:pt x="8" y="241"/>
                    <a:pt x="0" y="233"/>
                    <a:pt x="0" y="22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96" y="0"/>
                    <a:pt x="204" y="8"/>
                    <a:pt x="204" y="17"/>
                  </a:cubicBezTo>
                  <a:cubicBezTo>
                    <a:pt x="204" y="223"/>
                    <a:pt x="204" y="223"/>
                    <a:pt x="204" y="223"/>
                  </a:cubicBezTo>
                  <a:cubicBezTo>
                    <a:pt x="204" y="233"/>
                    <a:pt x="196" y="241"/>
                    <a:pt x="186" y="2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" name="Freeform 8"/>
            <p:cNvSpPr>
              <a:spLocks noChangeArrowheads="1"/>
            </p:cNvSpPr>
            <p:nvPr/>
          </p:nvSpPr>
          <p:spPr bwMode="auto">
            <a:xfrm>
              <a:off x="0" y="2931100"/>
              <a:ext cx="4682504" cy="1134619"/>
            </a:xfrm>
            <a:custGeom>
              <a:avLst/>
              <a:gdLst>
                <a:gd name="T0" fmla="*/ 4461386 w 1800"/>
                <a:gd name="T1" fmla="*/ 1038333 h 436"/>
                <a:gd name="T2" fmla="*/ 4461386 w 1800"/>
                <a:gd name="T3" fmla="*/ 96286 h 436"/>
                <a:gd name="T4" fmla="*/ 4682504 w 1800"/>
                <a:gd name="T5" fmla="*/ 96286 h 436"/>
                <a:gd name="T6" fmla="*/ 4682504 w 1800"/>
                <a:gd name="T7" fmla="*/ 0 h 436"/>
                <a:gd name="T8" fmla="*/ 179496 w 1800"/>
                <a:gd name="T9" fmla="*/ 0 h 436"/>
                <a:gd name="T10" fmla="*/ 0 w 1800"/>
                <a:gd name="T11" fmla="*/ 176959 h 436"/>
                <a:gd name="T12" fmla="*/ 0 w 1800"/>
                <a:gd name="T13" fmla="*/ 957660 h 436"/>
                <a:gd name="T14" fmla="*/ 179496 w 1800"/>
                <a:gd name="T15" fmla="*/ 1134619 h 436"/>
                <a:gd name="T16" fmla="*/ 4682504 w 1800"/>
                <a:gd name="T17" fmla="*/ 1134619 h 436"/>
                <a:gd name="T18" fmla="*/ 4682504 w 1800"/>
                <a:gd name="T19" fmla="*/ 1038333 h 436"/>
                <a:gd name="T20" fmla="*/ 4461386 w 1800"/>
                <a:gd name="T21" fmla="*/ 1038333 h 4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00"/>
                <a:gd name="T34" fmla="*/ 0 h 436"/>
                <a:gd name="T35" fmla="*/ 1800 w 1800"/>
                <a:gd name="T36" fmla="*/ 436 h 4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00" h="436">
                  <a:moveTo>
                    <a:pt x="1715" y="399"/>
                  </a:moveTo>
                  <a:cubicBezTo>
                    <a:pt x="1715" y="37"/>
                    <a:pt x="1715" y="37"/>
                    <a:pt x="1715" y="37"/>
                  </a:cubicBezTo>
                  <a:cubicBezTo>
                    <a:pt x="1800" y="37"/>
                    <a:pt x="1800" y="37"/>
                    <a:pt x="1800" y="37"/>
                  </a:cubicBezTo>
                  <a:cubicBezTo>
                    <a:pt x="1800" y="0"/>
                    <a:pt x="1800" y="0"/>
                    <a:pt x="180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1" y="0"/>
                    <a:pt x="0" y="30"/>
                    <a:pt x="0" y="68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0" y="405"/>
                    <a:pt x="31" y="436"/>
                    <a:pt x="69" y="436"/>
                  </a:cubicBezTo>
                  <a:cubicBezTo>
                    <a:pt x="1800" y="436"/>
                    <a:pt x="1800" y="436"/>
                    <a:pt x="1800" y="436"/>
                  </a:cubicBezTo>
                  <a:cubicBezTo>
                    <a:pt x="1800" y="399"/>
                    <a:pt x="1800" y="399"/>
                    <a:pt x="1800" y="399"/>
                  </a:cubicBezTo>
                  <a:lnTo>
                    <a:pt x="1715" y="3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" name="Freeform 9"/>
            <p:cNvSpPr>
              <a:spLocks noChangeArrowheads="1"/>
            </p:cNvSpPr>
            <p:nvPr/>
          </p:nvSpPr>
          <p:spPr bwMode="auto">
            <a:xfrm>
              <a:off x="119839" y="3027851"/>
              <a:ext cx="4446125" cy="941118"/>
            </a:xfrm>
            <a:custGeom>
              <a:avLst/>
              <a:gdLst>
                <a:gd name="T0" fmla="*/ 4446125 w 1709"/>
                <a:gd name="T1" fmla="*/ 0 h 362"/>
                <a:gd name="T2" fmla="*/ 166502 w 1709"/>
                <a:gd name="T3" fmla="*/ 0 h 362"/>
                <a:gd name="T4" fmla="*/ 0 w 1709"/>
                <a:gd name="T5" fmla="*/ 145587 h 362"/>
                <a:gd name="T6" fmla="*/ 0 w 1709"/>
                <a:gd name="T7" fmla="*/ 792931 h 362"/>
                <a:gd name="T8" fmla="*/ 166502 w 1709"/>
                <a:gd name="T9" fmla="*/ 941118 h 362"/>
                <a:gd name="T10" fmla="*/ 4446125 w 1709"/>
                <a:gd name="T11" fmla="*/ 941118 h 362"/>
                <a:gd name="T12" fmla="*/ 4446125 w 1709"/>
                <a:gd name="T13" fmla="*/ 0 h 3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09"/>
                <a:gd name="T22" fmla="*/ 0 h 362"/>
                <a:gd name="T23" fmla="*/ 1709 w 1709"/>
                <a:gd name="T24" fmla="*/ 362 h 3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09" h="362">
                  <a:moveTo>
                    <a:pt x="1709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29" y="0"/>
                    <a:pt x="0" y="25"/>
                    <a:pt x="0" y="56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36"/>
                    <a:pt x="29" y="362"/>
                    <a:pt x="64" y="362"/>
                  </a:cubicBezTo>
                  <a:cubicBezTo>
                    <a:pt x="1709" y="362"/>
                    <a:pt x="1709" y="362"/>
                    <a:pt x="1709" y="362"/>
                  </a:cubicBezTo>
                  <a:lnTo>
                    <a:pt x="17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" name="Rectangle 10"/>
            <p:cNvSpPr>
              <a:spLocks noChangeArrowheads="1"/>
            </p:cNvSpPr>
            <p:nvPr/>
          </p:nvSpPr>
          <p:spPr bwMode="auto">
            <a:xfrm>
              <a:off x="283655" y="3082822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6" name="Rectangle 11"/>
            <p:cNvSpPr>
              <a:spLocks noChangeArrowheads="1"/>
            </p:cNvSpPr>
            <p:nvPr/>
          </p:nvSpPr>
          <p:spPr bwMode="auto">
            <a:xfrm>
              <a:off x="283655" y="3155385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7" name="Rectangle 12"/>
            <p:cNvSpPr>
              <a:spLocks noChangeArrowheads="1"/>
            </p:cNvSpPr>
            <p:nvPr/>
          </p:nvSpPr>
          <p:spPr bwMode="auto">
            <a:xfrm>
              <a:off x="283655" y="3227948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8" name="Rectangle 13"/>
            <p:cNvSpPr>
              <a:spLocks noChangeArrowheads="1"/>
            </p:cNvSpPr>
            <p:nvPr/>
          </p:nvSpPr>
          <p:spPr bwMode="auto">
            <a:xfrm>
              <a:off x="283655" y="3303810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9" name="Rectangle 14"/>
            <p:cNvSpPr>
              <a:spLocks noChangeArrowheads="1"/>
            </p:cNvSpPr>
            <p:nvPr/>
          </p:nvSpPr>
          <p:spPr bwMode="auto">
            <a:xfrm>
              <a:off x="283655" y="3376373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0" name="Rectangle 15"/>
            <p:cNvSpPr>
              <a:spLocks noChangeArrowheads="1"/>
            </p:cNvSpPr>
            <p:nvPr/>
          </p:nvSpPr>
          <p:spPr bwMode="auto">
            <a:xfrm>
              <a:off x="283655" y="3448935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1" name="Rectangle 16"/>
            <p:cNvSpPr>
              <a:spLocks noChangeArrowheads="1"/>
            </p:cNvSpPr>
            <p:nvPr/>
          </p:nvSpPr>
          <p:spPr bwMode="auto">
            <a:xfrm>
              <a:off x="283655" y="3524796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2" name="Rectangle 17"/>
            <p:cNvSpPr>
              <a:spLocks noChangeArrowheads="1"/>
            </p:cNvSpPr>
            <p:nvPr/>
          </p:nvSpPr>
          <p:spPr bwMode="auto">
            <a:xfrm>
              <a:off x="283655" y="3597359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3" name="Rectangle 18"/>
            <p:cNvSpPr>
              <a:spLocks noChangeArrowheads="1"/>
            </p:cNvSpPr>
            <p:nvPr/>
          </p:nvSpPr>
          <p:spPr bwMode="auto">
            <a:xfrm>
              <a:off x="283655" y="3669922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4" name="Rectangle 19"/>
            <p:cNvSpPr>
              <a:spLocks noChangeArrowheads="1"/>
            </p:cNvSpPr>
            <p:nvPr/>
          </p:nvSpPr>
          <p:spPr bwMode="auto">
            <a:xfrm>
              <a:off x="283655" y="3745784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5" name="Rectangle 20"/>
            <p:cNvSpPr>
              <a:spLocks noChangeArrowheads="1"/>
            </p:cNvSpPr>
            <p:nvPr/>
          </p:nvSpPr>
          <p:spPr bwMode="auto">
            <a:xfrm>
              <a:off x="283655" y="3818346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6" name="Rectangle 21"/>
            <p:cNvSpPr>
              <a:spLocks noChangeArrowheads="1"/>
            </p:cNvSpPr>
            <p:nvPr/>
          </p:nvSpPr>
          <p:spPr bwMode="auto">
            <a:xfrm>
              <a:off x="283655" y="3890909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7" name="Freeform 22"/>
            <p:cNvSpPr>
              <a:spLocks noChangeArrowheads="1"/>
            </p:cNvSpPr>
            <p:nvPr/>
          </p:nvSpPr>
          <p:spPr bwMode="auto">
            <a:xfrm>
              <a:off x="283655" y="3473123"/>
              <a:ext cx="683850" cy="964207"/>
            </a:xfrm>
            <a:custGeom>
              <a:avLst/>
              <a:gdLst>
                <a:gd name="T0" fmla="*/ 0 w 622"/>
                <a:gd name="T1" fmla="*/ 0 h 877"/>
                <a:gd name="T2" fmla="*/ 683850 w 622"/>
                <a:gd name="T3" fmla="*/ 0 h 877"/>
                <a:gd name="T4" fmla="*/ 683850 w 622"/>
                <a:gd name="T5" fmla="*/ 964207 h 877"/>
                <a:gd name="T6" fmla="*/ 343024 w 622"/>
                <a:gd name="T7" fmla="*/ 714635 h 877"/>
                <a:gd name="T8" fmla="*/ 0 w 622"/>
                <a:gd name="T9" fmla="*/ 964207 h 877"/>
                <a:gd name="T10" fmla="*/ 0 w 622"/>
                <a:gd name="T11" fmla="*/ 0 h 8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2"/>
                <a:gd name="T19" fmla="*/ 0 h 877"/>
                <a:gd name="T20" fmla="*/ 622 w 622"/>
                <a:gd name="T21" fmla="*/ 877 h 8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2" h="877">
                  <a:moveTo>
                    <a:pt x="0" y="0"/>
                  </a:moveTo>
                  <a:lnTo>
                    <a:pt x="622" y="0"/>
                  </a:lnTo>
                  <a:lnTo>
                    <a:pt x="622" y="877"/>
                  </a:lnTo>
                  <a:lnTo>
                    <a:pt x="312" y="650"/>
                  </a:lnTo>
                  <a:lnTo>
                    <a:pt x="0" y="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" name="Rectangle 23"/>
            <p:cNvSpPr>
              <a:spLocks noChangeArrowheads="1"/>
            </p:cNvSpPr>
            <p:nvPr/>
          </p:nvSpPr>
          <p:spPr bwMode="auto">
            <a:xfrm>
              <a:off x="283655" y="3473123"/>
              <a:ext cx="683850" cy="196800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9" name="Freeform 24"/>
            <p:cNvSpPr>
              <a:spLocks noChangeArrowheads="1"/>
            </p:cNvSpPr>
            <p:nvPr/>
          </p:nvSpPr>
          <p:spPr bwMode="auto">
            <a:xfrm>
              <a:off x="967505" y="2723307"/>
              <a:ext cx="458466" cy="101148"/>
            </a:xfrm>
            <a:custGeom>
              <a:avLst/>
              <a:gdLst>
                <a:gd name="T0" fmla="*/ 408973 w 176"/>
                <a:gd name="T1" fmla="*/ 0 h 39"/>
                <a:gd name="T2" fmla="*/ 49493 w 176"/>
                <a:gd name="T3" fmla="*/ 0 h 39"/>
                <a:gd name="T4" fmla="*/ 0 w 176"/>
                <a:gd name="T5" fmla="*/ 49277 h 39"/>
                <a:gd name="T6" fmla="*/ 0 w 176"/>
                <a:gd name="T7" fmla="*/ 51871 h 39"/>
                <a:gd name="T8" fmla="*/ 49493 w 176"/>
                <a:gd name="T9" fmla="*/ 101148 h 39"/>
                <a:gd name="T10" fmla="*/ 408973 w 176"/>
                <a:gd name="T11" fmla="*/ 101148 h 39"/>
                <a:gd name="T12" fmla="*/ 458466 w 176"/>
                <a:gd name="T13" fmla="*/ 51871 h 39"/>
                <a:gd name="T14" fmla="*/ 458466 w 176"/>
                <a:gd name="T15" fmla="*/ 49277 h 39"/>
                <a:gd name="T16" fmla="*/ 408973 w 176"/>
                <a:gd name="T17" fmla="*/ 0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6"/>
                <a:gd name="T28" fmla="*/ 0 h 39"/>
                <a:gd name="T29" fmla="*/ 176 w 176"/>
                <a:gd name="T30" fmla="*/ 39 h 3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6" h="39">
                  <a:moveTo>
                    <a:pt x="157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30"/>
                    <a:pt x="9" y="39"/>
                    <a:pt x="19" y="39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68" y="39"/>
                    <a:pt x="176" y="30"/>
                    <a:pt x="176" y="20"/>
                  </a:cubicBezTo>
                  <a:cubicBezTo>
                    <a:pt x="176" y="19"/>
                    <a:pt x="176" y="19"/>
                    <a:pt x="176" y="19"/>
                  </a:cubicBezTo>
                  <a:cubicBezTo>
                    <a:pt x="176" y="8"/>
                    <a:pt x="168" y="0"/>
                    <a:pt x="15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" name="Freeform 25"/>
            <p:cNvSpPr>
              <a:spLocks noChangeArrowheads="1"/>
            </p:cNvSpPr>
            <p:nvPr/>
          </p:nvSpPr>
          <p:spPr bwMode="auto">
            <a:xfrm>
              <a:off x="967505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1" name="Freeform 26"/>
            <p:cNvSpPr>
              <a:spLocks noChangeArrowheads="1"/>
            </p:cNvSpPr>
            <p:nvPr/>
          </p:nvSpPr>
          <p:spPr bwMode="auto">
            <a:xfrm>
              <a:off x="1053261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2" name="Freeform 27"/>
            <p:cNvSpPr>
              <a:spLocks noChangeArrowheads="1"/>
            </p:cNvSpPr>
            <p:nvPr/>
          </p:nvSpPr>
          <p:spPr bwMode="auto">
            <a:xfrm>
              <a:off x="1146714" y="2291228"/>
              <a:ext cx="34083" cy="397996"/>
            </a:xfrm>
            <a:custGeom>
              <a:avLst/>
              <a:gdLst>
                <a:gd name="T0" fmla="*/ 18352 w 13"/>
                <a:gd name="T1" fmla="*/ 397996 h 153"/>
                <a:gd name="T2" fmla="*/ 18352 w 13"/>
                <a:gd name="T3" fmla="*/ 397996 h 153"/>
                <a:gd name="T4" fmla="*/ 0 w 13"/>
                <a:gd name="T5" fmla="*/ 379787 h 153"/>
                <a:gd name="T6" fmla="*/ 0 w 13"/>
                <a:gd name="T7" fmla="*/ 18209 h 153"/>
                <a:gd name="T8" fmla="*/ 18352 w 13"/>
                <a:gd name="T9" fmla="*/ 0 h 153"/>
                <a:gd name="T10" fmla="*/ 18352 w 13"/>
                <a:gd name="T11" fmla="*/ 0 h 153"/>
                <a:gd name="T12" fmla="*/ 34083 w 13"/>
                <a:gd name="T13" fmla="*/ 18209 h 153"/>
                <a:gd name="T14" fmla="*/ 34083 w 13"/>
                <a:gd name="T15" fmla="*/ 379787 h 153"/>
                <a:gd name="T16" fmla="*/ 18352 w 13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"/>
                <a:gd name="T28" fmla="*/ 0 h 153"/>
                <a:gd name="T29" fmla="*/ 13 w 13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3" y="3"/>
                    <a:pt x="13" y="7"/>
                  </a:cubicBezTo>
                  <a:cubicBezTo>
                    <a:pt x="13" y="146"/>
                    <a:pt x="13" y="146"/>
                    <a:pt x="13" y="146"/>
                  </a:cubicBezTo>
                  <a:cubicBezTo>
                    <a:pt x="13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3" name="Freeform 28"/>
            <p:cNvSpPr>
              <a:spLocks noChangeArrowheads="1"/>
            </p:cNvSpPr>
            <p:nvPr/>
          </p:nvSpPr>
          <p:spPr bwMode="auto">
            <a:xfrm>
              <a:off x="1365501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4" name="Freeform 29"/>
            <p:cNvSpPr>
              <a:spLocks noChangeArrowheads="1"/>
            </p:cNvSpPr>
            <p:nvPr/>
          </p:nvSpPr>
          <p:spPr bwMode="auto">
            <a:xfrm>
              <a:off x="626679" y="0"/>
              <a:ext cx="1550207" cy="2192278"/>
            </a:xfrm>
            <a:custGeom>
              <a:avLst/>
              <a:gdLst>
                <a:gd name="T0" fmla="*/ 1550207 w 1410"/>
                <a:gd name="T1" fmla="*/ 2192278 h 1994"/>
                <a:gd name="T2" fmla="*/ 0 w 1410"/>
                <a:gd name="T3" fmla="*/ 2192278 h 1994"/>
                <a:gd name="T4" fmla="*/ 0 w 1410"/>
                <a:gd name="T5" fmla="*/ 0 h 1994"/>
                <a:gd name="T6" fmla="*/ 1550207 w 1410"/>
                <a:gd name="T7" fmla="*/ 228683 h 1994"/>
                <a:gd name="T8" fmla="*/ 1550207 w 1410"/>
                <a:gd name="T9" fmla="*/ 2192278 h 19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10"/>
                <a:gd name="T16" fmla="*/ 0 h 1994"/>
                <a:gd name="T17" fmla="*/ 1410 w 1410"/>
                <a:gd name="T18" fmla="*/ 1994 h 19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10" h="1994">
                  <a:moveTo>
                    <a:pt x="1410" y="1994"/>
                  </a:moveTo>
                  <a:lnTo>
                    <a:pt x="0" y="1994"/>
                  </a:lnTo>
                  <a:lnTo>
                    <a:pt x="0" y="0"/>
                  </a:lnTo>
                  <a:lnTo>
                    <a:pt x="1410" y="208"/>
                  </a:lnTo>
                  <a:lnTo>
                    <a:pt x="1410" y="1994"/>
                  </a:ln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5" name="Freeform 30"/>
            <p:cNvSpPr>
              <a:spLocks noChangeArrowheads="1"/>
            </p:cNvSpPr>
            <p:nvPr/>
          </p:nvSpPr>
          <p:spPr bwMode="auto">
            <a:xfrm>
              <a:off x="790496" y="93453"/>
              <a:ext cx="1386391" cy="2098826"/>
            </a:xfrm>
            <a:custGeom>
              <a:avLst/>
              <a:gdLst>
                <a:gd name="T0" fmla="*/ 0 w 1261"/>
                <a:gd name="T1" fmla="*/ 0 h 1909"/>
                <a:gd name="T2" fmla="*/ 1386391 w 1261"/>
                <a:gd name="T3" fmla="*/ 218788 h 1909"/>
                <a:gd name="T4" fmla="*/ 1386391 w 1261"/>
                <a:gd name="T5" fmla="*/ 2098826 h 1909"/>
                <a:gd name="T6" fmla="*/ 0 w 1261"/>
                <a:gd name="T7" fmla="*/ 2098826 h 1909"/>
                <a:gd name="T8" fmla="*/ 0 w 1261"/>
                <a:gd name="T9" fmla="*/ 0 h 19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61"/>
                <a:gd name="T16" fmla="*/ 0 h 1909"/>
                <a:gd name="T17" fmla="*/ 1261 w 1261"/>
                <a:gd name="T18" fmla="*/ 1909 h 19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61" h="1909">
                  <a:moveTo>
                    <a:pt x="0" y="0"/>
                  </a:moveTo>
                  <a:lnTo>
                    <a:pt x="1261" y="199"/>
                  </a:lnTo>
                  <a:lnTo>
                    <a:pt x="1261" y="1909"/>
                  </a:lnTo>
                  <a:lnTo>
                    <a:pt x="0" y="1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6" name="Rectangle 31"/>
            <p:cNvSpPr>
              <a:spLocks noChangeArrowheads="1"/>
            </p:cNvSpPr>
            <p:nvPr/>
          </p:nvSpPr>
          <p:spPr bwMode="auto">
            <a:xfrm>
              <a:off x="2176886" y="230882"/>
              <a:ext cx="1776691" cy="1961396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7" name="Rectangle 32"/>
            <p:cNvSpPr>
              <a:spLocks noChangeArrowheads="1"/>
            </p:cNvSpPr>
            <p:nvPr/>
          </p:nvSpPr>
          <p:spPr bwMode="auto">
            <a:xfrm>
              <a:off x="2176886" y="230882"/>
              <a:ext cx="1776691" cy="196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8" name="Rectangle 33"/>
            <p:cNvSpPr>
              <a:spLocks noChangeArrowheads="1"/>
            </p:cNvSpPr>
            <p:nvPr/>
          </p:nvSpPr>
          <p:spPr bwMode="auto">
            <a:xfrm>
              <a:off x="2176886" y="312240"/>
              <a:ext cx="1725018" cy="18800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9" name="Rectangle 34"/>
            <p:cNvSpPr>
              <a:spLocks noChangeArrowheads="1"/>
            </p:cNvSpPr>
            <p:nvPr/>
          </p:nvSpPr>
          <p:spPr bwMode="auto">
            <a:xfrm>
              <a:off x="2176886" y="312240"/>
              <a:ext cx="1725018" cy="188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0" name="Rectangle 35"/>
            <p:cNvSpPr>
              <a:spLocks noChangeArrowheads="1"/>
            </p:cNvSpPr>
            <p:nvPr/>
          </p:nvSpPr>
          <p:spPr bwMode="auto">
            <a:xfrm>
              <a:off x="689348" y="93453"/>
              <a:ext cx="101148" cy="2098826"/>
            </a:xfrm>
            <a:prstGeom prst="rect">
              <a:avLst/>
            </a:prstGeom>
            <a:solidFill>
              <a:srgbClr val="CF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1" name="Freeform 36"/>
            <p:cNvSpPr>
              <a:spLocks noChangeArrowheads="1"/>
            </p:cNvSpPr>
            <p:nvPr/>
          </p:nvSpPr>
          <p:spPr bwMode="auto">
            <a:xfrm>
              <a:off x="689348" y="93453"/>
              <a:ext cx="101148" cy="2098826"/>
            </a:xfrm>
            <a:custGeom>
              <a:avLst/>
              <a:gdLst>
                <a:gd name="T0" fmla="*/ 101148 w 92"/>
                <a:gd name="T1" fmla="*/ 0 h 1909"/>
                <a:gd name="T2" fmla="*/ 0 w 92"/>
                <a:gd name="T3" fmla="*/ 0 h 1909"/>
                <a:gd name="T4" fmla="*/ 0 w 92"/>
                <a:gd name="T5" fmla="*/ 2098826 h 1909"/>
                <a:gd name="T6" fmla="*/ 101148 w 92"/>
                <a:gd name="T7" fmla="*/ 2098826 h 19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1909"/>
                <a:gd name="T14" fmla="*/ 92 w 92"/>
                <a:gd name="T15" fmla="*/ 1909 h 19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1909">
                  <a:moveTo>
                    <a:pt x="92" y="0"/>
                  </a:moveTo>
                  <a:lnTo>
                    <a:pt x="0" y="0"/>
                  </a:lnTo>
                  <a:lnTo>
                    <a:pt x="0" y="1909"/>
                  </a:lnTo>
                  <a:lnTo>
                    <a:pt x="92" y="190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2" name="Rectangle 37"/>
            <p:cNvSpPr>
              <a:spLocks noChangeArrowheads="1"/>
            </p:cNvSpPr>
            <p:nvPr/>
          </p:nvSpPr>
          <p:spPr bwMode="auto">
            <a:xfrm>
              <a:off x="2187880" y="312240"/>
              <a:ext cx="67066" cy="1880038"/>
            </a:xfrm>
            <a:prstGeom prst="rect">
              <a:avLst/>
            </a:prstGeom>
            <a:solidFill>
              <a:srgbClr val="EC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3" name="Rectangle 38"/>
            <p:cNvSpPr>
              <a:spLocks noChangeArrowheads="1"/>
            </p:cNvSpPr>
            <p:nvPr/>
          </p:nvSpPr>
          <p:spPr bwMode="auto">
            <a:xfrm>
              <a:off x="2187880" y="312240"/>
              <a:ext cx="67066" cy="188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4" name="Freeform 39"/>
            <p:cNvSpPr>
              <a:spLocks noChangeArrowheads="1"/>
            </p:cNvSpPr>
            <p:nvPr/>
          </p:nvSpPr>
          <p:spPr bwMode="auto">
            <a:xfrm>
              <a:off x="2320913" y="423284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5" name="Freeform 40"/>
            <p:cNvSpPr>
              <a:spLocks noChangeArrowheads="1"/>
            </p:cNvSpPr>
            <p:nvPr/>
          </p:nvSpPr>
          <p:spPr bwMode="auto">
            <a:xfrm>
              <a:off x="2320913" y="512338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6" name="Freeform 41"/>
            <p:cNvSpPr>
              <a:spLocks noChangeArrowheads="1"/>
            </p:cNvSpPr>
            <p:nvPr/>
          </p:nvSpPr>
          <p:spPr bwMode="auto">
            <a:xfrm>
              <a:off x="2320913" y="761910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6039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6039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7" name="Freeform 42"/>
            <p:cNvSpPr>
              <a:spLocks noChangeArrowheads="1"/>
            </p:cNvSpPr>
            <p:nvPr/>
          </p:nvSpPr>
          <p:spPr bwMode="auto">
            <a:xfrm>
              <a:off x="2320913" y="910334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8" name="Freeform 43"/>
            <p:cNvSpPr>
              <a:spLocks noChangeArrowheads="1"/>
            </p:cNvSpPr>
            <p:nvPr/>
          </p:nvSpPr>
          <p:spPr bwMode="auto">
            <a:xfrm>
              <a:off x="2286830" y="1308330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3436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9" name="Freeform 44"/>
            <p:cNvSpPr>
              <a:spLocks noChangeArrowheads="1"/>
            </p:cNvSpPr>
            <p:nvPr/>
          </p:nvSpPr>
          <p:spPr bwMode="auto">
            <a:xfrm>
              <a:off x="2286830" y="1424871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6039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6039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0" name="Freeform 45"/>
            <p:cNvSpPr>
              <a:spLocks noChangeArrowheads="1"/>
            </p:cNvSpPr>
            <p:nvPr/>
          </p:nvSpPr>
          <p:spPr bwMode="auto">
            <a:xfrm>
              <a:off x="2286830" y="1542511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6039 h 19"/>
                <a:gd name="T6" fmla="*/ 0 w 546"/>
                <a:gd name="T7" fmla="*/ 26039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6039 h 19"/>
                <a:gd name="T14" fmla="*/ 1420473 w 546"/>
                <a:gd name="T15" fmla="*/ 26039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10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1" name="Freeform 46"/>
            <p:cNvSpPr>
              <a:spLocks noChangeArrowheads="1"/>
            </p:cNvSpPr>
            <p:nvPr/>
          </p:nvSpPr>
          <p:spPr bwMode="auto">
            <a:xfrm>
              <a:off x="2286830" y="1666747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3436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2" name="Freeform 47"/>
            <p:cNvSpPr>
              <a:spLocks noChangeArrowheads="1"/>
            </p:cNvSpPr>
            <p:nvPr/>
          </p:nvSpPr>
          <p:spPr bwMode="auto">
            <a:xfrm>
              <a:off x="918031" y="1576593"/>
              <a:ext cx="1161006" cy="131932"/>
            </a:xfrm>
            <a:custGeom>
              <a:avLst/>
              <a:gdLst>
                <a:gd name="T0" fmla="*/ 1137578 w 446"/>
                <a:gd name="T1" fmla="*/ 0 h 51"/>
                <a:gd name="T2" fmla="*/ 23428 w 446"/>
                <a:gd name="T3" fmla="*/ 77607 h 51"/>
                <a:gd name="T4" fmla="*/ 0 w 446"/>
                <a:gd name="T5" fmla="*/ 106063 h 51"/>
                <a:gd name="T6" fmla="*/ 23428 w 446"/>
                <a:gd name="T7" fmla="*/ 129345 h 51"/>
                <a:gd name="T8" fmla="*/ 1137578 w 446"/>
                <a:gd name="T9" fmla="*/ 46564 h 51"/>
                <a:gd name="T10" fmla="*/ 1161006 w 446"/>
                <a:gd name="T11" fmla="*/ 20695 h 51"/>
                <a:gd name="T12" fmla="*/ 1137578 w 446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51"/>
                <a:gd name="T23" fmla="*/ 446 w 44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51">
                  <a:moveTo>
                    <a:pt x="437" y="0"/>
                  </a:moveTo>
                  <a:cubicBezTo>
                    <a:pt x="294" y="10"/>
                    <a:pt x="152" y="20"/>
                    <a:pt x="9" y="30"/>
                  </a:cubicBezTo>
                  <a:cubicBezTo>
                    <a:pt x="4" y="31"/>
                    <a:pt x="0" y="36"/>
                    <a:pt x="0" y="41"/>
                  </a:cubicBezTo>
                  <a:cubicBezTo>
                    <a:pt x="0" y="47"/>
                    <a:pt x="4" y="51"/>
                    <a:pt x="9" y="50"/>
                  </a:cubicBezTo>
                  <a:cubicBezTo>
                    <a:pt x="152" y="40"/>
                    <a:pt x="294" y="29"/>
                    <a:pt x="437" y="18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4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3" name="Freeform 48"/>
            <p:cNvSpPr>
              <a:spLocks noChangeArrowheads="1"/>
            </p:cNvSpPr>
            <p:nvPr/>
          </p:nvSpPr>
          <p:spPr bwMode="auto">
            <a:xfrm>
              <a:off x="918031" y="1493036"/>
              <a:ext cx="1161006" cy="122038"/>
            </a:xfrm>
            <a:custGeom>
              <a:avLst/>
              <a:gdLst>
                <a:gd name="T0" fmla="*/ 1137578 w 446"/>
                <a:gd name="T1" fmla="*/ 2597 h 47"/>
                <a:gd name="T2" fmla="*/ 23428 w 446"/>
                <a:gd name="T3" fmla="*/ 67510 h 47"/>
                <a:gd name="T4" fmla="*/ 0 w 446"/>
                <a:gd name="T5" fmla="*/ 96072 h 47"/>
                <a:gd name="T6" fmla="*/ 23428 w 446"/>
                <a:gd name="T7" fmla="*/ 119441 h 47"/>
                <a:gd name="T8" fmla="*/ 1137578 w 446"/>
                <a:gd name="T9" fmla="*/ 46738 h 47"/>
                <a:gd name="T10" fmla="*/ 1161006 w 446"/>
                <a:gd name="T11" fmla="*/ 23369 h 47"/>
                <a:gd name="T12" fmla="*/ 1137578 w 446"/>
                <a:gd name="T13" fmla="*/ 2597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47"/>
                <a:gd name="T23" fmla="*/ 446 w 446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47">
                  <a:moveTo>
                    <a:pt x="437" y="1"/>
                  </a:moveTo>
                  <a:cubicBezTo>
                    <a:pt x="294" y="9"/>
                    <a:pt x="152" y="18"/>
                    <a:pt x="9" y="26"/>
                  </a:cubicBezTo>
                  <a:cubicBezTo>
                    <a:pt x="4" y="26"/>
                    <a:pt x="0" y="31"/>
                    <a:pt x="0" y="37"/>
                  </a:cubicBezTo>
                  <a:cubicBezTo>
                    <a:pt x="0" y="42"/>
                    <a:pt x="4" y="47"/>
                    <a:pt x="9" y="46"/>
                  </a:cubicBezTo>
                  <a:cubicBezTo>
                    <a:pt x="152" y="37"/>
                    <a:pt x="294" y="28"/>
                    <a:pt x="437" y="18"/>
                  </a:cubicBezTo>
                  <a:cubicBezTo>
                    <a:pt x="442" y="18"/>
                    <a:pt x="446" y="14"/>
                    <a:pt x="446" y="9"/>
                  </a:cubicBezTo>
                  <a:cubicBezTo>
                    <a:pt x="446" y="4"/>
                    <a:pt x="442" y="0"/>
                    <a:pt x="437" y="1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4" name="Freeform 49"/>
            <p:cNvSpPr>
              <a:spLocks noChangeArrowheads="1"/>
            </p:cNvSpPr>
            <p:nvPr/>
          </p:nvSpPr>
          <p:spPr bwMode="auto">
            <a:xfrm>
              <a:off x="918031" y="1261055"/>
              <a:ext cx="1161006" cy="85756"/>
            </a:xfrm>
            <a:custGeom>
              <a:avLst/>
              <a:gdLst>
                <a:gd name="T0" fmla="*/ 1137578 w 446"/>
                <a:gd name="T1" fmla="*/ 0 h 33"/>
                <a:gd name="T2" fmla="*/ 23428 w 446"/>
                <a:gd name="T3" fmla="*/ 33783 h 33"/>
                <a:gd name="T4" fmla="*/ 0 w 446"/>
                <a:gd name="T5" fmla="*/ 59769 h 33"/>
                <a:gd name="T6" fmla="*/ 23428 w 446"/>
                <a:gd name="T7" fmla="*/ 85756 h 33"/>
                <a:gd name="T8" fmla="*/ 1137578 w 446"/>
                <a:gd name="T9" fmla="*/ 44177 h 33"/>
                <a:gd name="T10" fmla="*/ 1161006 w 446"/>
                <a:gd name="T11" fmla="*/ 20789 h 33"/>
                <a:gd name="T12" fmla="*/ 1137578 w 446"/>
                <a:gd name="T13" fmla="*/ 0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3"/>
                <a:gd name="T23" fmla="*/ 446 w 446"/>
                <a:gd name="T24" fmla="*/ 33 h 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3">
                  <a:moveTo>
                    <a:pt x="437" y="0"/>
                  </a:moveTo>
                  <a:cubicBezTo>
                    <a:pt x="294" y="4"/>
                    <a:pt x="152" y="8"/>
                    <a:pt x="9" y="13"/>
                  </a:cubicBezTo>
                  <a:cubicBezTo>
                    <a:pt x="4" y="13"/>
                    <a:pt x="0" y="17"/>
                    <a:pt x="0" y="23"/>
                  </a:cubicBezTo>
                  <a:cubicBezTo>
                    <a:pt x="0" y="29"/>
                    <a:pt x="4" y="33"/>
                    <a:pt x="9" y="33"/>
                  </a:cubicBezTo>
                  <a:cubicBezTo>
                    <a:pt x="152" y="28"/>
                    <a:pt x="294" y="22"/>
                    <a:pt x="437" y="17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3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5" name="Freeform 50"/>
            <p:cNvSpPr>
              <a:spLocks noChangeArrowheads="1"/>
            </p:cNvSpPr>
            <p:nvPr/>
          </p:nvSpPr>
          <p:spPr bwMode="auto">
            <a:xfrm>
              <a:off x="918031" y="1123625"/>
              <a:ext cx="1161006" cy="67066"/>
            </a:xfrm>
            <a:custGeom>
              <a:avLst/>
              <a:gdLst>
                <a:gd name="T0" fmla="*/ 1137578 w 446"/>
                <a:gd name="T1" fmla="*/ 0 h 26"/>
                <a:gd name="T2" fmla="*/ 23428 w 446"/>
                <a:gd name="T3" fmla="*/ 12897 h 26"/>
                <a:gd name="T4" fmla="*/ 0 w 446"/>
                <a:gd name="T5" fmla="*/ 41271 h 26"/>
                <a:gd name="T6" fmla="*/ 23428 w 446"/>
                <a:gd name="T7" fmla="*/ 64487 h 26"/>
                <a:gd name="T8" fmla="*/ 1137578 w 446"/>
                <a:gd name="T9" fmla="*/ 43851 h 26"/>
                <a:gd name="T10" fmla="*/ 1161006 w 446"/>
                <a:gd name="T11" fmla="*/ 20636 h 26"/>
                <a:gd name="T12" fmla="*/ 1137578 w 446"/>
                <a:gd name="T13" fmla="*/ 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26"/>
                <a:gd name="T23" fmla="*/ 446 w 446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26">
                  <a:moveTo>
                    <a:pt x="437" y="0"/>
                  </a:moveTo>
                  <a:cubicBezTo>
                    <a:pt x="294" y="2"/>
                    <a:pt x="152" y="3"/>
                    <a:pt x="9" y="5"/>
                  </a:cubicBezTo>
                  <a:cubicBezTo>
                    <a:pt x="4" y="5"/>
                    <a:pt x="0" y="10"/>
                    <a:pt x="0" y="16"/>
                  </a:cubicBezTo>
                  <a:cubicBezTo>
                    <a:pt x="0" y="21"/>
                    <a:pt x="4" y="26"/>
                    <a:pt x="9" y="25"/>
                  </a:cubicBezTo>
                  <a:cubicBezTo>
                    <a:pt x="152" y="23"/>
                    <a:pt x="294" y="20"/>
                    <a:pt x="437" y="17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4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6" name="Freeform 51"/>
            <p:cNvSpPr>
              <a:spLocks noChangeArrowheads="1"/>
            </p:cNvSpPr>
            <p:nvPr/>
          </p:nvSpPr>
          <p:spPr bwMode="auto">
            <a:xfrm>
              <a:off x="889445" y="712435"/>
              <a:ext cx="1159907" cy="83557"/>
            </a:xfrm>
            <a:custGeom>
              <a:avLst/>
              <a:gdLst>
                <a:gd name="T0" fmla="*/ 1136501 w 446"/>
                <a:gd name="T1" fmla="*/ 39167 h 32"/>
                <a:gd name="T2" fmla="*/ 26007 w 446"/>
                <a:gd name="T3" fmla="*/ 0 h 32"/>
                <a:gd name="T4" fmla="*/ 0 w 446"/>
                <a:gd name="T5" fmla="*/ 26112 h 32"/>
                <a:gd name="T6" fmla="*/ 26007 w 446"/>
                <a:gd name="T7" fmla="*/ 52223 h 32"/>
                <a:gd name="T8" fmla="*/ 1136501 w 446"/>
                <a:gd name="T9" fmla="*/ 83557 h 32"/>
                <a:gd name="T10" fmla="*/ 1159907 w 446"/>
                <a:gd name="T11" fmla="*/ 62668 h 32"/>
                <a:gd name="T12" fmla="*/ 1136501 w 446"/>
                <a:gd name="T13" fmla="*/ 3916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2"/>
                <a:gd name="T23" fmla="*/ 446 w 446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2">
                  <a:moveTo>
                    <a:pt x="437" y="15"/>
                  </a:moveTo>
                  <a:cubicBezTo>
                    <a:pt x="294" y="10"/>
                    <a:pt x="152" y="5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52" y="24"/>
                    <a:pt x="294" y="28"/>
                    <a:pt x="437" y="32"/>
                  </a:cubicBezTo>
                  <a:cubicBezTo>
                    <a:pt x="442" y="32"/>
                    <a:pt x="446" y="29"/>
                    <a:pt x="446" y="24"/>
                  </a:cubicBezTo>
                  <a:cubicBezTo>
                    <a:pt x="446" y="19"/>
                    <a:pt x="442" y="15"/>
                    <a:pt x="437" y="15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7" name="Freeform 52"/>
            <p:cNvSpPr>
              <a:spLocks noChangeArrowheads="1"/>
            </p:cNvSpPr>
            <p:nvPr/>
          </p:nvSpPr>
          <p:spPr bwMode="auto">
            <a:xfrm>
              <a:off x="889445" y="587100"/>
              <a:ext cx="1159907" cy="98949"/>
            </a:xfrm>
            <a:custGeom>
              <a:avLst/>
              <a:gdLst>
                <a:gd name="T0" fmla="*/ 1136501 w 446"/>
                <a:gd name="T1" fmla="*/ 52078 h 38"/>
                <a:gd name="T2" fmla="*/ 26007 w 446"/>
                <a:gd name="T3" fmla="*/ 0 h 38"/>
                <a:gd name="T4" fmla="*/ 0 w 446"/>
                <a:gd name="T5" fmla="*/ 23435 h 38"/>
                <a:gd name="T6" fmla="*/ 26007 w 446"/>
                <a:gd name="T7" fmla="*/ 52078 h 38"/>
                <a:gd name="T8" fmla="*/ 1136501 w 446"/>
                <a:gd name="T9" fmla="*/ 98949 h 38"/>
                <a:gd name="T10" fmla="*/ 1159907 w 446"/>
                <a:gd name="T11" fmla="*/ 75514 h 38"/>
                <a:gd name="T12" fmla="*/ 1136501 w 446"/>
                <a:gd name="T13" fmla="*/ 5207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8"/>
                <a:gd name="T23" fmla="*/ 446 w 446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8">
                  <a:moveTo>
                    <a:pt x="437" y="20"/>
                  </a:moveTo>
                  <a:cubicBezTo>
                    <a:pt x="294" y="13"/>
                    <a:pt x="152" y="7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2" y="26"/>
                    <a:pt x="294" y="32"/>
                    <a:pt x="437" y="38"/>
                  </a:cubicBezTo>
                  <a:cubicBezTo>
                    <a:pt x="442" y="38"/>
                    <a:pt x="446" y="34"/>
                    <a:pt x="446" y="29"/>
                  </a:cubicBezTo>
                  <a:cubicBezTo>
                    <a:pt x="446" y="25"/>
                    <a:pt x="442" y="20"/>
                    <a:pt x="437" y="2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8" name="Freeform 53"/>
            <p:cNvSpPr>
              <a:spLocks noChangeArrowheads="1"/>
            </p:cNvSpPr>
            <p:nvPr/>
          </p:nvSpPr>
          <p:spPr bwMode="auto">
            <a:xfrm>
              <a:off x="889445" y="459565"/>
              <a:ext cx="1159907" cy="117640"/>
            </a:xfrm>
            <a:custGeom>
              <a:avLst/>
              <a:gdLst>
                <a:gd name="T0" fmla="*/ 1136501 w 446"/>
                <a:gd name="T1" fmla="*/ 70584 h 45"/>
                <a:gd name="T2" fmla="*/ 26007 w 446"/>
                <a:gd name="T3" fmla="*/ 0 h 45"/>
                <a:gd name="T4" fmla="*/ 0 w 446"/>
                <a:gd name="T5" fmla="*/ 26142 h 45"/>
                <a:gd name="T6" fmla="*/ 26007 w 446"/>
                <a:gd name="T7" fmla="*/ 54899 h 45"/>
                <a:gd name="T8" fmla="*/ 1136501 w 446"/>
                <a:gd name="T9" fmla="*/ 115026 h 45"/>
                <a:gd name="T10" fmla="*/ 1159907 w 446"/>
                <a:gd name="T11" fmla="*/ 94112 h 45"/>
                <a:gd name="T12" fmla="*/ 1136501 w 446"/>
                <a:gd name="T13" fmla="*/ 705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45"/>
                <a:gd name="T23" fmla="*/ 446 w 446"/>
                <a:gd name="T24" fmla="*/ 45 h 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45">
                  <a:moveTo>
                    <a:pt x="437" y="27"/>
                  </a:moveTo>
                  <a:cubicBezTo>
                    <a:pt x="294" y="18"/>
                    <a:pt x="152" y="9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1"/>
                  </a:cubicBezTo>
                  <a:cubicBezTo>
                    <a:pt x="152" y="29"/>
                    <a:pt x="294" y="36"/>
                    <a:pt x="437" y="44"/>
                  </a:cubicBezTo>
                  <a:cubicBezTo>
                    <a:pt x="442" y="45"/>
                    <a:pt x="446" y="41"/>
                    <a:pt x="446" y="36"/>
                  </a:cubicBezTo>
                  <a:cubicBezTo>
                    <a:pt x="446" y="31"/>
                    <a:pt x="442" y="27"/>
                    <a:pt x="437" y="27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9" name="Freeform 54"/>
            <p:cNvSpPr>
              <a:spLocks noChangeArrowheads="1"/>
            </p:cNvSpPr>
            <p:nvPr/>
          </p:nvSpPr>
          <p:spPr bwMode="auto">
            <a:xfrm>
              <a:off x="889445" y="329831"/>
              <a:ext cx="1159907" cy="133032"/>
            </a:xfrm>
            <a:custGeom>
              <a:avLst/>
              <a:gdLst>
                <a:gd name="T0" fmla="*/ 1136501 w 446"/>
                <a:gd name="T1" fmla="*/ 86080 h 51"/>
                <a:gd name="T2" fmla="*/ 26007 w 446"/>
                <a:gd name="T3" fmla="*/ 0 h 51"/>
                <a:gd name="T4" fmla="*/ 0 w 446"/>
                <a:gd name="T5" fmla="*/ 23476 h 51"/>
                <a:gd name="T6" fmla="*/ 26007 w 446"/>
                <a:gd name="T7" fmla="*/ 52169 h 51"/>
                <a:gd name="T8" fmla="*/ 1136501 w 446"/>
                <a:gd name="T9" fmla="*/ 130424 h 51"/>
                <a:gd name="T10" fmla="*/ 1159907 w 446"/>
                <a:gd name="T11" fmla="*/ 109556 h 51"/>
                <a:gd name="T12" fmla="*/ 1136501 w 446"/>
                <a:gd name="T13" fmla="*/ 8608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51"/>
                <a:gd name="T23" fmla="*/ 446 w 44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51">
                  <a:moveTo>
                    <a:pt x="437" y="33"/>
                  </a:moveTo>
                  <a:cubicBezTo>
                    <a:pt x="294" y="22"/>
                    <a:pt x="152" y="11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2" y="30"/>
                    <a:pt x="294" y="40"/>
                    <a:pt x="437" y="50"/>
                  </a:cubicBezTo>
                  <a:cubicBezTo>
                    <a:pt x="442" y="51"/>
                    <a:pt x="446" y="47"/>
                    <a:pt x="446" y="42"/>
                  </a:cubicBezTo>
                  <a:cubicBezTo>
                    <a:pt x="446" y="37"/>
                    <a:pt x="442" y="33"/>
                    <a:pt x="437" y="3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0" name="Freeform 55"/>
            <p:cNvSpPr>
              <a:spLocks noChangeArrowheads="1"/>
            </p:cNvSpPr>
            <p:nvPr/>
          </p:nvSpPr>
          <p:spPr bwMode="auto">
            <a:xfrm>
              <a:off x="2187880" y="312240"/>
              <a:ext cx="98949" cy="1175299"/>
            </a:xfrm>
            <a:custGeom>
              <a:avLst/>
              <a:gdLst>
                <a:gd name="T0" fmla="*/ 0 w 90"/>
                <a:gd name="T1" fmla="*/ 0 h 1069"/>
                <a:gd name="T2" fmla="*/ 0 w 90"/>
                <a:gd name="T3" fmla="*/ 1175299 h 1069"/>
                <a:gd name="T4" fmla="*/ 49475 w 90"/>
                <a:gd name="T5" fmla="*/ 1136819 h 1069"/>
                <a:gd name="T6" fmla="*/ 98949 w 90"/>
                <a:gd name="T7" fmla="*/ 1175299 h 1069"/>
                <a:gd name="T8" fmla="*/ 98949 w 90"/>
                <a:gd name="T9" fmla="*/ 0 h 1069"/>
                <a:gd name="T10" fmla="*/ 0 w 90"/>
                <a:gd name="T11" fmla="*/ 0 h 10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0"/>
                <a:gd name="T19" fmla="*/ 0 h 1069"/>
                <a:gd name="T20" fmla="*/ 90 w 90"/>
                <a:gd name="T21" fmla="*/ 1069 h 10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0" h="1069">
                  <a:moveTo>
                    <a:pt x="0" y="0"/>
                  </a:moveTo>
                  <a:lnTo>
                    <a:pt x="0" y="1069"/>
                  </a:lnTo>
                  <a:lnTo>
                    <a:pt x="45" y="1034"/>
                  </a:lnTo>
                  <a:lnTo>
                    <a:pt x="90" y="1069"/>
                  </a:lnTo>
                  <a:lnTo>
                    <a:pt x="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1" name="文本框 56"/>
            <p:cNvSpPr>
              <a:spLocks noChangeArrowheads="1"/>
            </p:cNvSpPr>
            <p:nvPr/>
          </p:nvSpPr>
          <p:spPr bwMode="auto">
            <a:xfrm>
              <a:off x="967504" y="3097115"/>
              <a:ext cx="3878816" cy="818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3375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  </a:t>
              </a:r>
              <a:r>
                <a:rPr lang="zh-CN" altLang="en-US" sz="4000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目  录</a:t>
              </a:r>
              <a:endParaRPr lang="en-US" altLang="zh-CN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696952" y="447973"/>
            <a:ext cx="841118" cy="841118"/>
            <a:chOff x="3529981" y="507683"/>
            <a:chExt cx="598350" cy="598350"/>
          </a:xfrm>
        </p:grpSpPr>
        <p:sp>
          <p:nvSpPr>
            <p:cNvPr id="65" name="椭圆 64"/>
            <p:cNvSpPr/>
            <p:nvPr/>
          </p:nvSpPr>
          <p:spPr>
            <a:xfrm>
              <a:off x="3529981" y="507683"/>
              <a:ext cx="598350" cy="59835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>
              <a:solidFill>
                <a:schemeClr val="bg1"/>
              </a:solidFill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50">
                <a:solidFill>
                  <a:schemeClr val="accent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6" name="TextBox 4"/>
            <p:cNvSpPr txBox="1"/>
            <p:nvPr/>
          </p:nvSpPr>
          <p:spPr>
            <a:xfrm>
              <a:off x="3576317" y="558577"/>
              <a:ext cx="530353" cy="49656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3937" dirty="0">
                  <a:solidFill>
                    <a:schemeClr val="accent1"/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01</a:t>
              </a:r>
              <a:endParaRPr lang="zh-CN" altLang="en-US" sz="3937" dirty="0">
                <a:solidFill>
                  <a:schemeClr val="accent1"/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67" name="矩形 66"/>
          <p:cNvSpPr/>
          <p:nvPr/>
        </p:nvSpPr>
        <p:spPr>
          <a:xfrm>
            <a:off x="7909599" y="595393"/>
            <a:ext cx="3416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自动售货机问题</a:t>
            </a:r>
          </a:p>
        </p:txBody>
      </p:sp>
      <p:sp>
        <p:nvSpPr>
          <p:cNvPr id="68" name="矩形 67"/>
          <p:cNvSpPr/>
          <p:nvPr/>
        </p:nvSpPr>
        <p:spPr>
          <a:xfrm>
            <a:off x="7951339" y="1654319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三种循环结构</a:t>
            </a:r>
          </a:p>
        </p:txBody>
      </p:sp>
      <p:sp>
        <p:nvSpPr>
          <p:cNvPr id="69" name="矩形 68"/>
          <p:cNvSpPr/>
          <p:nvPr/>
        </p:nvSpPr>
        <p:spPr>
          <a:xfrm>
            <a:off x="7909600" y="3772173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辅助控制语句</a:t>
            </a:r>
          </a:p>
        </p:txBody>
      </p:sp>
      <p:grpSp>
        <p:nvGrpSpPr>
          <p:cNvPr id="70" name="组合 69"/>
          <p:cNvGrpSpPr/>
          <p:nvPr/>
        </p:nvGrpSpPr>
        <p:grpSpPr>
          <a:xfrm>
            <a:off x="6745113" y="1556846"/>
            <a:ext cx="841118" cy="841118"/>
            <a:chOff x="3529981" y="507683"/>
            <a:chExt cx="598350" cy="598350"/>
          </a:xfrm>
        </p:grpSpPr>
        <p:sp>
          <p:nvSpPr>
            <p:cNvPr id="71" name="椭圆 70"/>
            <p:cNvSpPr/>
            <p:nvPr/>
          </p:nvSpPr>
          <p:spPr>
            <a:xfrm>
              <a:off x="3529981" y="507683"/>
              <a:ext cx="598350" cy="59835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>
              <a:solidFill>
                <a:schemeClr val="bg1"/>
              </a:solidFill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50">
                <a:solidFill>
                  <a:schemeClr val="accent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2" name="TextBox 48"/>
            <p:cNvSpPr txBox="1"/>
            <p:nvPr/>
          </p:nvSpPr>
          <p:spPr>
            <a:xfrm>
              <a:off x="3567571" y="598214"/>
              <a:ext cx="530353" cy="49656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3937" dirty="0">
                  <a:solidFill>
                    <a:schemeClr val="accent1"/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02</a:t>
              </a:r>
              <a:endParaRPr lang="zh-CN" altLang="en-US" sz="3937" dirty="0">
                <a:solidFill>
                  <a:schemeClr val="accent1"/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6753095" y="3654316"/>
            <a:ext cx="841118" cy="841118"/>
            <a:chOff x="3529981" y="507683"/>
            <a:chExt cx="598350" cy="598350"/>
          </a:xfrm>
        </p:grpSpPr>
        <p:sp>
          <p:nvSpPr>
            <p:cNvPr id="74" name="椭圆 73"/>
            <p:cNvSpPr/>
            <p:nvPr/>
          </p:nvSpPr>
          <p:spPr>
            <a:xfrm>
              <a:off x="3529981" y="507683"/>
              <a:ext cx="598350" cy="59835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>
              <a:solidFill>
                <a:schemeClr val="bg1"/>
              </a:solidFill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50">
                <a:solidFill>
                  <a:schemeClr val="accent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5" name="TextBox 51"/>
            <p:cNvSpPr txBox="1"/>
            <p:nvPr/>
          </p:nvSpPr>
          <p:spPr>
            <a:xfrm>
              <a:off x="3570639" y="582835"/>
              <a:ext cx="530353" cy="49656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3937" dirty="0">
                  <a:solidFill>
                    <a:schemeClr val="accent1"/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04</a:t>
              </a:r>
              <a:endParaRPr lang="zh-CN" altLang="en-US" sz="3937" dirty="0">
                <a:solidFill>
                  <a:schemeClr val="accent1"/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6742015" y="2613673"/>
            <a:ext cx="841118" cy="841118"/>
            <a:chOff x="3529981" y="507683"/>
            <a:chExt cx="598350" cy="598350"/>
          </a:xfrm>
        </p:grpSpPr>
        <p:sp>
          <p:nvSpPr>
            <p:cNvPr id="77" name="椭圆 76"/>
            <p:cNvSpPr/>
            <p:nvPr/>
          </p:nvSpPr>
          <p:spPr>
            <a:xfrm>
              <a:off x="3529981" y="507683"/>
              <a:ext cx="598350" cy="59835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>
              <a:solidFill>
                <a:schemeClr val="bg1"/>
              </a:solidFill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50">
                <a:solidFill>
                  <a:schemeClr val="accent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TextBox 57"/>
            <p:cNvSpPr txBox="1"/>
            <p:nvPr/>
          </p:nvSpPr>
          <p:spPr>
            <a:xfrm>
              <a:off x="3578518" y="582851"/>
              <a:ext cx="530353" cy="49656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3937" dirty="0">
                  <a:solidFill>
                    <a:schemeClr val="accent1"/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03</a:t>
              </a:r>
              <a:endParaRPr lang="zh-CN" altLang="en-US" sz="3937" dirty="0">
                <a:solidFill>
                  <a:schemeClr val="accent1"/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79" name="矩形 78"/>
          <p:cNvSpPr/>
          <p:nvPr/>
        </p:nvSpPr>
        <p:spPr>
          <a:xfrm>
            <a:off x="7909599" y="2713247"/>
            <a:ext cx="2492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循环的嵌套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C1B87D5-880D-422A-BE17-4C46A760DEDE}"/>
              </a:ext>
            </a:extLst>
          </p:cNvPr>
          <p:cNvSpPr/>
          <p:nvPr/>
        </p:nvSpPr>
        <p:spPr>
          <a:xfrm>
            <a:off x="7925056" y="5917400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综合案例</a:t>
            </a: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1939A15D-26AF-4DBA-A7D4-F5F25B347027}"/>
              </a:ext>
            </a:extLst>
          </p:cNvPr>
          <p:cNvGrpSpPr/>
          <p:nvPr/>
        </p:nvGrpSpPr>
        <p:grpSpPr>
          <a:xfrm>
            <a:off x="6768551" y="5799543"/>
            <a:ext cx="841118" cy="841118"/>
            <a:chOff x="3529981" y="507683"/>
            <a:chExt cx="598350" cy="598350"/>
          </a:xfrm>
        </p:grpSpPr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36651BF8-FB82-4830-833B-515B222A8873}"/>
                </a:ext>
              </a:extLst>
            </p:cNvPr>
            <p:cNvSpPr/>
            <p:nvPr/>
          </p:nvSpPr>
          <p:spPr>
            <a:xfrm>
              <a:off x="3529981" y="507683"/>
              <a:ext cx="598350" cy="59835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>
              <a:solidFill>
                <a:schemeClr val="bg1"/>
              </a:solidFill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50">
                <a:solidFill>
                  <a:schemeClr val="accent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3" name="TextBox 51">
              <a:extLst>
                <a:ext uri="{FF2B5EF4-FFF2-40B4-BE49-F238E27FC236}">
                  <a16:creationId xmlns:a16="http://schemas.microsoft.com/office/drawing/2014/main" id="{B530D4AC-06EA-4F5D-A80B-F46496CAE672}"/>
                </a:ext>
              </a:extLst>
            </p:cNvPr>
            <p:cNvSpPr txBox="1"/>
            <p:nvPr/>
          </p:nvSpPr>
          <p:spPr>
            <a:xfrm>
              <a:off x="3570573" y="582774"/>
              <a:ext cx="530484" cy="49668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3937" dirty="0">
                  <a:solidFill>
                    <a:schemeClr val="accent1"/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06</a:t>
              </a:r>
              <a:endParaRPr lang="zh-CN" altLang="en-US" sz="3937" dirty="0">
                <a:solidFill>
                  <a:schemeClr val="accent1"/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982971BD-AE28-4E03-AF90-DCF821AC2A98}"/>
              </a:ext>
            </a:extLst>
          </p:cNvPr>
          <p:cNvGrpSpPr/>
          <p:nvPr/>
        </p:nvGrpSpPr>
        <p:grpSpPr>
          <a:xfrm>
            <a:off x="6757471" y="4758900"/>
            <a:ext cx="841118" cy="841118"/>
            <a:chOff x="3529981" y="507683"/>
            <a:chExt cx="598350" cy="598350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FB391162-026E-400A-B51C-5C857AE80F51}"/>
                </a:ext>
              </a:extLst>
            </p:cNvPr>
            <p:cNvSpPr/>
            <p:nvPr/>
          </p:nvSpPr>
          <p:spPr>
            <a:xfrm>
              <a:off x="3529981" y="507683"/>
              <a:ext cx="598350" cy="59835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>
              <a:solidFill>
                <a:schemeClr val="bg1"/>
              </a:solidFill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50">
                <a:solidFill>
                  <a:schemeClr val="accent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6" name="TextBox 57">
              <a:extLst>
                <a:ext uri="{FF2B5EF4-FFF2-40B4-BE49-F238E27FC236}">
                  <a16:creationId xmlns:a16="http://schemas.microsoft.com/office/drawing/2014/main" id="{C81945BF-588C-4A59-9910-6E4FE0C716FF}"/>
                </a:ext>
              </a:extLst>
            </p:cNvPr>
            <p:cNvSpPr txBox="1"/>
            <p:nvPr/>
          </p:nvSpPr>
          <p:spPr>
            <a:xfrm>
              <a:off x="3578453" y="582790"/>
              <a:ext cx="530484" cy="49668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3937" dirty="0">
                  <a:solidFill>
                    <a:schemeClr val="accent1"/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05</a:t>
              </a:r>
              <a:endParaRPr lang="zh-CN" altLang="en-US" sz="3937" dirty="0">
                <a:solidFill>
                  <a:schemeClr val="accent1"/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87" name="矩形 86">
            <a:extLst>
              <a:ext uri="{FF2B5EF4-FFF2-40B4-BE49-F238E27FC236}">
                <a16:creationId xmlns:a16="http://schemas.microsoft.com/office/drawing/2014/main" id="{137929F1-FF2E-4A52-8816-B59F3AD42767}"/>
              </a:ext>
            </a:extLst>
          </p:cNvPr>
          <p:cNvSpPr/>
          <p:nvPr/>
        </p:nvSpPr>
        <p:spPr>
          <a:xfrm>
            <a:off x="7925055" y="4858474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应用举例</a:t>
            </a:r>
          </a:p>
        </p:txBody>
      </p:sp>
    </p:spTree>
    <p:extLst>
      <p:ext uri="{BB962C8B-B14F-4D97-AF65-F5344CB8AC3E}">
        <p14:creationId xmlns:p14="http://schemas.microsoft.com/office/powerpoint/2010/main" val="4132115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3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2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3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7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9" presetID="2" presetClass="entr" presetSubtype="3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1" dur="10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2" dur="10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6" dur="10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28" presetID="2" presetClass="entr" presetSubtype="3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0" dur="1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1" dur="1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37" presetID="2" presetClass="entr" presetSubtype="3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9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40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7000"/>
                                </p:stCondLst>
                                <p:childTnLst>
                                  <p:par>
                                    <p:cTn id="4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10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8000"/>
                                </p:stCondLst>
                                <p:childTnLst>
                                  <p:par>
                                    <p:cTn id="46" presetID="2" presetClass="entr" presetSubtype="3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48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49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9000"/>
                                </p:stCondLst>
                                <p:childTnLst>
                                  <p:par>
                                    <p:cTn id="5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3" dur="10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5" presetID="2" presetClass="entr" presetSubtype="3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57" dur="1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58" dur="1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9" fill="hold">
                                <p:stCondLst>
                                  <p:cond delay="11000"/>
                                </p:stCondLst>
                                <p:childTnLst>
                                  <p:par>
                                    <p:cTn id="6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2" dur="10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/>
          <p:bldP spid="68" grpId="0"/>
          <p:bldP spid="69" grpId="0"/>
          <p:bldP spid="79" grpId="0"/>
          <p:bldP spid="80" grpId="0"/>
          <p:bldP spid="8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3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7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9" presetID="2" presetClass="entr" presetSubtype="3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10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10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6" dur="10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28" presetID="2" presetClass="entr" presetSubtype="3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1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1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37" presetID="2" presetClass="entr" presetSubtype="3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7000"/>
                                </p:stCondLst>
                                <p:childTnLst>
                                  <p:par>
                                    <p:cTn id="4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10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8000"/>
                                </p:stCondLst>
                                <p:childTnLst>
                                  <p:par>
                                    <p:cTn id="46" presetID="2" presetClass="entr" presetSubtype="3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9000"/>
                                </p:stCondLst>
                                <p:childTnLst>
                                  <p:par>
                                    <p:cTn id="5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3" dur="10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5" presetID="2" presetClass="entr" presetSubtype="3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1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1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9" fill="hold">
                                <p:stCondLst>
                                  <p:cond delay="11000"/>
                                </p:stCondLst>
                                <p:childTnLst>
                                  <p:par>
                                    <p:cTn id="6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2" dur="10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7" grpId="0"/>
          <p:bldP spid="68" grpId="0"/>
          <p:bldP spid="69" grpId="0"/>
          <p:bldP spid="79" grpId="0"/>
          <p:bldP spid="80" grpId="0"/>
          <p:bldP spid="87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57"/>
          <p:cNvGrpSpPr/>
          <p:nvPr/>
        </p:nvGrpSpPr>
        <p:grpSpPr bwMode="auto">
          <a:xfrm>
            <a:off x="4478903" y="1168053"/>
            <a:ext cx="3900943" cy="3838996"/>
            <a:chOff x="0" y="0"/>
            <a:chExt cx="4846320" cy="4437330"/>
          </a:xfrm>
        </p:grpSpPr>
        <p:sp>
          <p:nvSpPr>
            <p:cNvPr id="2060" name="Freeform 5"/>
            <p:cNvSpPr>
              <a:spLocks noChangeArrowheads="1"/>
            </p:cNvSpPr>
            <p:nvPr/>
          </p:nvSpPr>
          <p:spPr bwMode="auto">
            <a:xfrm>
              <a:off x="400195" y="2192278"/>
              <a:ext cx="4446125" cy="738822"/>
            </a:xfrm>
            <a:custGeom>
              <a:avLst/>
              <a:gdLst>
                <a:gd name="T0" fmla="*/ 4297834 w 1709"/>
                <a:gd name="T1" fmla="*/ 738822 h 284"/>
                <a:gd name="T2" fmla="*/ 148291 w 1709"/>
                <a:gd name="T3" fmla="*/ 738822 h 284"/>
                <a:gd name="T4" fmla="*/ 0 w 1709"/>
                <a:gd name="T5" fmla="*/ 590537 h 284"/>
                <a:gd name="T6" fmla="*/ 0 w 1709"/>
                <a:gd name="T7" fmla="*/ 145683 h 284"/>
                <a:gd name="T8" fmla="*/ 148291 w 1709"/>
                <a:gd name="T9" fmla="*/ 0 h 284"/>
                <a:gd name="T10" fmla="*/ 4297834 w 1709"/>
                <a:gd name="T11" fmla="*/ 0 h 284"/>
                <a:gd name="T12" fmla="*/ 4446125 w 1709"/>
                <a:gd name="T13" fmla="*/ 145683 h 284"/>
                <a:gd name="T14" fmla="*/ 4446125 w 1709"/>
                <a:gd name="T15" fmla="*/ 590537 h 284"/>
                <a:gd name="T16" fmla="*/ 4297834 w 1709"/>
                <a:gd name="T17" fmla="*/ 738822 h 2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09"/>
                <a:gd name="T28" fmla="*/ 0 h 284"/>
                <a:gd name="T29" fmla="*/ 1709 w 1709"/>
                <a:gd name="T30" fmla="*/ 284 h 2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09" h="284">
                  <a:moveTo>
                    <a:pt x="1652" y="284"/>
                  </a:moveTo>
                  <a:cubicBezTo>
                    <a:pt x="57" y="284"/>
                    <a:pt x="57" y="284"/>
                    <a:pt x="57" y="284"/>
                  </a:cubicBezTo>
                  <a:cubicBezTo>
                    <a:pt x="26" y="284"/>
                    <a:pt x="0" y="258"/>
                    <a:pt x="0" y="22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1652" y="0"/>
                    <a:pt x="1652" y="0"/>
                    <a:pt x="1652" y="0"/>
                  </a:cubicBezTo>
                  <a:cubicBezTo>
                    <a:pt x="1683" y="0"/>
                    <a:pt x="1709" y="25"/>
                    <a:pt x="1709" y="56"/>
                  </a:cubicBezTo>
                  <a:cubicBezTo>
                    <a:pt x="1709" y="227"/>
                    <a:pt x="1709" y="227"/>
                    <a:pt x="1709" y="227"/>
                  </a:cubicBezTo>
                  <a:cubicBezTo>
                    <a:pt x="1709" y="258"/>
                    <a:pt x="1683" y="284"/>
                    <a:pt x="1652" y="284"/>
                  </a:cubicBez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Rectangle 6"/>
            <p:cNvSpPr>
              <a:spLocks noChangeArrowheads="1"/>
            </p:cNvSpPr>
            <p:nvPr/>
          </p:nvSpPr>
          <p:spPr bwMode="auto">
            <a:xfrm>
              <a:off x="400195" y="2561689"/>
              <a:ext cx="4446125" cy="369411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2" name="Freeform 7"/>
            <p:cNvSpPr>
              <a:spLocks noChangeArrowheads="1"/>
            </p:cNvSpPr>
            <p:nvPr/>
          </p:nvSpPr>
          <p:spPr bwMode="auto">
            <a:xfrm>
              <a:off x="931224" y="2237355"/>
              <a:ext cx="531029" cy="626679"/>
            </a:xfrm>
            <a:custGeom>
              <a:avLst/>
              <a:gdLst>
                <a:gd name="T0" fmla="*/ 484174 w 204"/>
                <a:gd name="T1" fmla="*/ 626679 h 241"/>
                <a:gd name="T2" fmla="*/ 46856 w 204"/>
                <a:gd name="T3" fmla="*/ 626679 h 241"/>
                <a:gd name="T4" fmla="*/ 0 w 204"/>
                <a:gd name="T5" fmla="*/ 579873 h 241"/>
                <a:gd name="T6" fmla="*/ 0 w 204"/>
                <a:gd name="T7" fmla="*/ 44206 h 241"/>
                <a:gd name="T8" fmla="*/ 46856 w 204"/>
                <a:gd name="T9" fmla="*/ 0 h 241"/>
                <a:gd name="T10" fmla="*/ 484174 w 204"/>
                <a:gd name="T11" fmla="*/ 0 h 241"/>
                <a:gd name="T12" fmla="*/ 531029 w 204"/>
                <a:gd name="T13" fmla="*/ 44206 h 241"/>
                <a:gd name="T14" fmla="*/ 531029 w 204"/>
                <a:gd name="T15" fmla="*/ 579873 h 241"/>
                <a:gd name="T16" fmla="*/ 484174 w 204"/>
                <a:gd name="T17" fmla="*/ 626679 h 2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04"/>
                <a:gd name="T28" fmla="*/ 0 h 241"/>
                <a:gd name="T29" fmla="*/ 204 w 204"/>
                <a:gd name="T30" fmla="*/ 241 h 24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04" h="241">
                  <a:moveTo>
                    <a:pt x="186" y="241"/>
                  </a:moveTo>
                  <a:cubicBezTo>
                    <a:pt x="18" y="241"/>
                    <a:pt x="18" y="241"/>
                    <a:pt x="18" y="241"/>
                  </a:cubicBezTo>
                  <a:cubicBezTo>
                    <a:pt x="8" y="241"/>
                    <a:pt x="0" y="233"/>
                    <a:pt x="0" y="22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96" y="0"/>
                    <a:pt x="204" y="8"/>
                    <a:pt x="204" y="17"/>
                  </a:cubicBezTo>
                  <a:cubicBezTo>
                    <a:pt x="204" y="223"/>
                    <a:pt x="204" y="223"/>
                    <a:pt x="204" y="223"/>
                  </a:cubicBezTo>
                  <a:cubicBezTo>
                    <a:pt x="204" y="233"/>
                    <a:pt x="196" y="241"/>
                    <a:pt x="186" y="2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" name="Freeform 8"/>
            <p:cNvSpPr>
              <a:spLocks noChangeArrowheads="1"/>
            </p:cNvSpPr>
            <p:nvPr/>
          </p:nvSpPr>
          <p:spPr bwMode="auto">
            <a:xfrm>
              <a:off x="0" y="2931100"/>
              <a:ext cx="4682504" cy="1134619"/>
            </a:xfrm>
            <a:custGeom>
              <a:avLst/>
              <a:gdLst>
                <a:gd name="T0" fmla="*/ 4461386 w 1800"/>
                <a:gd name="T1" fmla="*/ 1038333 h 436"/>
                <a:gd name="T2" fmla="*/ 4461386 w 1800"/>
                <a:gd name="T3" fmla="*/ 96286 h 436"/>
                <a:gd name="T4" fmla="*/ 4682504 w 1800"/>
                <a:gd name="T5" fmla="*/ 96286 h 436"/>
                <a:gd name="T6" fmla="*/ 4682504 w 1800"/>
                <a:gd name="T7" fmla="*/ 0 h 436"/>
                <a:gd name="T8" fmla="*/ 179496 w 1800"/>
                <a:gd name="T9" fmla="*/ 0 h 436"/>
                <a:gd name="T10" fmla="*/ 0 w 1800"/>
                <a:gd name="T11" fmla="*/ 176959 h 436"/>
                <a:gd name="T12" fmla="*/ 0 w 1800"/>
                <a:gd name="T13" fmla="*/ 957660 h 436"/>
                <a:gd name="T14" fmla="*/ 179496 w 1800"/>
                <a:gd name="T15" fmla="*/ 1134619 h 436"/>
                <a:gd name="T16" fmla="*/ 4682504 w 1800"/>
                <a:gd name="T17" fmla="*/ 1134619 h 436"/>
                <a:gd name="T18" fmla="*/ 4682504 w 1800"/>
                <a:gd name="T19" fmla="*/ 1038333 h 436"/>
                <a:gd name="T20" fmla="*/ 4461386 w 1800"/>
                <a:gd name="T21" fmla="*/ 1038333 h 4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00"/>
                <a:gd name="T34" fmla="*/ 0 h 436"/>
                <a:gd name="T35" fmla="*/ 1800 w 1800"/>
                <a:gd name="T36" fmla="*/ 436 h 4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00" h="436">
                  <a:moveTo>
                    <a:pt x="1715" y="399"/>
                  </a:moveTo>
                  <a:cubicBezTo>
                    <a:pt x="1715" y="37"/>
                    <a:pt x="1715" y="37"/>
                    <a:pt x="1715" y="37"/>
                  </a:cubicBezTo>
                  <a:cubicBezTo>
                    <a:pt x="1800" y="37"/>
                    <a:pt x="1800" y="37"/>
                    <a:pt x="1800" y="37"/>
                  </a:cubicBezTo>
                  <a:cubicBezTo>
                    <a:pt x="1800" y="0"/>
                    <a:pt x="1800" y="0"/>
                    <a:pt x="180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1" y="0"/>
                    <a:pt x="0" y="30"/>
                    <a:pt x="0" y="68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0" y="405"/>
                    <a:pt x="31" y="436"/>
                    <a:pt x="69" y="436"/>
                  </a:cubicBezTo>
                  <a:cubicBezTo>
                    <a:pt x="1800" y="436"/>
                    <a:pt x="1800" y="436"/>
                    <a:pt x="1800" y="436"/>
                  </a:cubicBezTo>
                  <a:cubicBezTo>
                    <a:pt x="1800" y="399"/>
                    <a:pt x="1800" y="399"/>
                    <a:pt x="1800" y="399"/>
                  </a:cubicBezTo>
                  <a:lnTo>
                    <a:pt x="1715" y="3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" name="Freeform 9"/>
            <p:cNvSpPr>
              <a:spLocks noChangeArrowheads="1"/>
            </p:cNvSpPr>
            <p:nvPr/>
          </p:nvSpPr>
          <p:spPr bwMode="auto">
            <a:xfrm>
              <a:off x="119839" y="3027851"/>
              <a:ext cx="4446125" cy="941118"/>
            </a:xfrm>
            <a:custGeom>
              <a:avLst/>
              <a:gdLst>
                <a:gd name="T0" fmla="*/ 4446125 w 1709"/>
                <a:gd name="T1" fmla="*/ 0 h 362"/>
                <a:gd name="T2" fmla="*/ 166502 w 1709"/>
                <a:gd name="T3" fmla="*/ 0 h 362"/>
                <a:gd name="T4" fmla="*/ 0 w 1709"/>
                <a:gd name="T5" fmla="*/ 145587 h 362"/>
                <a:gd name="T6" fmla="*/ 0 w 1709"/>
                <a:gd name="T7" fmla="*/ 792931 h 362"/>
                <a:gd name="T8" fmla="*/ 166502 w 1709"/>
                <a:gd name="T9" fmla="*/ 941118 h 362"/>
                <a:gd name="T10" fmla="*/ 4446125 w 1709"/>
                <a:gd name="T11" fmla="*/ 941118 h 362"/>
                <a:gd name="T12" fmla="*/ 4446125 w 1709"/>
                <a:gd name="T13" fmla="*/ 0 h 3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09"/>
                <a:gd name="T22" fmla="*/ 0 h 362"/>
                <a:gd name="T23" fmla="*/ 1709 w 1709"/>
                <a:gd name="T24" fmla="*/ 362 h 3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09" h="362">
                  <a:moveTo>
                    <a:pt x="1709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29" y="0"/>
                    <a:pt x="0" y="25"/>
                    <a:pt x="0" y="56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36"/>
                    <a:pt x="29" y="362"/>
                    <a:pt x="64" y="362"/>
                  </a:cubicBezTo>
                  <a:cubicBezTo>
                    <a:pt x="1709" y="362"/>
                    <a:pt x="1709" y="362"/>
                    <a:pt x="1709" y="362"/>
                  </a:cubicBezTo>
                  <a:lnTo>
                    <a:pt x="17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" name="Rectangle 10"/>
            <p:cNvSpPr>
              <a:spLocks noChangeArrowheads="1"/>
            </p:cNvSpPr>
            <p:nvPr/>
          </p:nvSpPr>
          <p:spPr bwMode="auto">
            <a:xfrm>
              <a:off x="283655" y="3082822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6" name="Rectangle 11"/>
            <p:cNvSpPr>
              <a:spLocks noChangeArrowheads="1"/>
            </p:cNvSpPr>
            <p:nvPr/>
          </p:nvSpPr>
          <p:spPr bwMode="auto">
            <a:xfrm>
              <a:off x="283655" y="3155385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7" name="Rectangle 12"/>
            <p:cNvSpPr>
              <a:spLocks noChangeArrowheads="1"/>
            </p:cNvSpPr>
            <p:nvPr/>
          </p:nvSpPr>
          <p:spPr bwMode="auto">
            <a:xfrm>
              <a:off x="283655" y="3227948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8" name="Rectangle 13"/>
            <p:cNvSpPr>
              <a:spLocks noChangeArrowheads="1"/>
            </p:cNvSpPr>
            <p:nvPr/>
          </p:nvSpPr>
          <p:spPr bwMode="auto">
            <a:xfrm>
              <a:off x="283655" y="3303810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9" name="Rectangle 14"/>
            <p:cNvSpPr>
              <a:spLocks noChangeArrowheads="1"/>
            </p:cNvSpPr>
            <p:nvPr/>
          </p:nvSpPr>
          <p:spPr bwMode="auto">
            <a:xfrm>
              <a:off x="283655" y="3376373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0" name="Rectangle 15"/>
            <p:cNvSpPr>
              <a:spLocks noChangeArrowheads="1"/>
            </p:cNvSpPr>
            <p:nvPr/>
          </p:nvSpPr>
          <p:spPr bwMode="auto">
            <a:xfrm>
              <a:off x="283655" y="3448935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1" name="Rectangle 16"/>
            <p:cNvSpPr>
              <a:spLocks noChangeArrowheads="1"/>
            </p:cNvSpPr>
            <p:nvPr/>
          </p:nvSpPr>
          <p:spPr bwMode="auto">
            <a:xfrm>
              <a:off x="283655" y="3524796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2" name="Rectangle 17"/>
            <p:cNvSpPr>
              <a:spLocks noChangeArrowheads="1"/>
            </p:cNvSpPr>
            <p:nvPr/>
          </p:nvSpPr>
          <p:spPr bwMode="auto">
            <a:xfrm>
              <a:off x="283655" y="3597359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3" name="Rectangle 18"/>
            <p:cNvSpPr>
              <a:spLocks noChangeArrowheads="1"/>
            </p:cNvSpPr>
            <p:nvPr/>
          </p:nvSpPr>
          <p:spPr bwMode="auto">
            <a:xfrm>
              <a:off x="283655" y="3669922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4" name="Rectangle 19"/>
            <p:cNvSpPr>
              <a:spLocks noChangeArrowheads="1"/>
            </p:cNvSpPr>
            <p:nvPr/>
          </p:nvSpPr>
          <p:spPr bwMode="auto">
            <a:xfrm>
              <a:off x="283655" y="3745784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5" name="Rectangle 20"/>
            <p:cNvSpPr>
              <a:spLocks noChangeArrowheads="1"/>
            </p:cNvSpPr>
            <p:nvPr/>
          </p:nvSpPr>
          <p:spPr bwMode="auto">
            <a:xfrm>
              <a:off x="283655" y="3818346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6" name="Rectangle 21"/>
            <p:cNvSpPr>
              <a:spLocks noChangeArrowheads="1"/>
            </p:cNvSpPr>
            <p:nvPr/>
          </p:nvSpPr>
          <p:spPr bwMode="auto">
            <a:xfrm>
              <a:off x="283655" y="3890909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7" name="Freeform 22"/>
            <p:cNvSpPr>
              <a:spLocks noChangeArrowheads="1"/>
            </p:cNvSpPr>
            <p:nvPr/>
          </p:nvSpPr>
          <p:spPr bwMode="auto">
            <a:xfrm>
              <a:off x="283655" y="3473123"/>
              <a:ext cx="683850" cy="964207"/>
            </a:xfrm>
            <a:custGeom>
              <a:avLst/>
              <a:gdLst>
                <a:gd name="T0" fmla="*/ 0 w 622"/>
                <a:gd name="T1" fmla="*/ 0 h 877"/>
                <a:gd name="T2" fmla="*/ 683850 w 622"/>
                <a:gd name="T3" fmla="*/ 0 h 877"/>
                <a:gd name="T4" fmla="*/ 683850 w 622"/>
                <a:gd name="T5" fmla="*/ 964207 h 877"/>
                <a:gd name="T6" fmla="*/ 343024 w 622"/>
                <a:gd name="T7" fmla="*/ 714635 h 877"/>
                <a:gd name="T8" fmla="*/ 0 w 622"/>
                <a:gd name="T9" fmla="*/ 964207 h 877"/>
                <a:gd name="T10" fmla="*/ 0 w 622"/>
                <a:gd name="T11" fmla="*/ 0 h 8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2"/>
                <a:gd name="T19" fmla="*/ 0 h 877"/>
                <a:gd name="T20" fmla="*/ 622 w 622"/>
                <a:gd name="T21" fmla="*/ 877 h 8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2" h="877">
                  <a:moveTo>
                    <a:pt x="0" y="0"/>
                  </a:moveTo>
                  <a:lnTo>
                    <a:pt x="622" y="0"/>
                  </a:lnTo>
                  <a:lnTo>
                    <a:pt x="622" y="877"/>
                  </a:lnTo>
                  <a:lnTo>
                    <a:pt x="312" y="650"/>
                  </a:lnTo>
                  <a:lnTo>
                    <a:pt x="0" y="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" name="Rectangle 23"/>
            <p:cNvSpPr>
              <a:spLocks noChangeArrowheads="1"/>
            </p:cNvSpPr>
            <p:nvPr/>
          </p:nvSpPr>
          <p:spPr bwMode="auto">
            <a:xfrm>
              <a:off x="283655" y="3473123"/>
              <a:ext cx="683850" cy="196800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9" name="Freeform 24"/>
            <p:cNvSpPr>
              <a:spLocks noChangeArrowheads="1"/>
            </p:cNvSpPr>
            <p:nvPr/>
          </p:nvSpPr>
          <p:spPr bwMode="auto">
            <a:xfrm>
              <a:off x="967505" y="2723307"/>
              <a:ext cx="458466" cy="101148"/>
            </a:xfrm>
            <a:custGeom>
              <a:avLst/>
              <a:gdLst>
                <a:gd name="T0" fmla="*/ 408973 w 176"/>
                <a:gd name="T1" fmla="*/ 0 h 39"/>
                <a:gd name="T2" fmla="*/ 49493 w 176"/>
                <a:gd name="T3" fmla="*/ 0 h 39"/>
                <a:gd name="T4" fmla="*/ 0 w 176"/>
                <a:gd name="T5" fmla="*/ 49277 h 39"/>
                <a:gd name="T6" fmla="*/ 0 w 176"/>
                <a:gd name="T7" fmla="*/ 51871 h 39"/>
                <a:gd name="T8" fmla="*/ 49493 w 176"/>
                <a:gd name="T9" fmla="*/ 101148 h 39"/>
                <a:gd name="T10" fmla="*/ 408973 w 176"/>
                <a:gd name="T11" fmla="*/ 101148 h 39"/>
                <a:gd name="T12" fmla="*/ 458466 w 176"/>
                <a:gd name="T13" fmla="*/ 51871 h 39"/>
                <a:gd name="T14" fmla="*/ 458466 w 176"/>
                <a:gd name="T15" fmla="*/ 49277 h 39"/>
                <a:gd name="T16" fmla="*/ 408973 w 176"/>
                <a:gd name="T17" fmla="*/ 0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6"/>
                <a:gd name="T28" fmla="*/ 0 h 39"/>
                <a:gd name="T29" fmla="*/ 176 w 176"/>
                <a:gd name="T30" fmla="*/ 39 h 3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6" h="39">
                  <a:moveTo>
                    <a:pt x="157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30"/>
                    <a:pt x="9" y="39"/>
                    <a:pt x="19" y="39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68" y="39"/>
                    <a:pt x="176" y="30"/>
                    <a:pt x="176" y="20"/>
                  </a:cubicBezTo>
                  <a:cubicBezTo>
                    <a:pt x="176" y="19"/>
                    <a:pt x="176" y="19"/>
                    <a:pt x="176" y="19"/>
                  </a:cubicBezTo>
                  <a:cubicBezTo>
                    <a:pt x="176" y="8"/>
                    <a:pt x="168" y="0"/>
                    <a:pt x="15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" name="Freeform 25"/>
            <p:cNvSpPr>
              <a:spLocks noChangeArrowheads="1"/>
            </p:cNvSpPr>
            <p:nvPr/>
          </p:nvSpPr>
          <p:spPr bwMode="auto">
            <a:xfrm>
              <a:off x="967505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1" name="Freeform 26"/>
            <p:cNvSpPr>
              <a:spLocks noChangeArrowheads="1"/>
            </p:cNvSpPr>
            <p:nvPr/>
          </p:nvSpPr>
          <p:spPr bwMode="auto">
            <a:xfrm>
              <a:off x="1053261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2" name="Freeform 27"/>
            <p:cNvSpPr>
              <a:spLocks noChangeArrowheads="1"/>
            </p:cNvSpPr>
            <p:nvPr/>
          </p:nvSpPr>
          <p:spPr bwMode="auto">
            <a:xfrm>
              <a:off x="1146714" y="2291228"/>
              <a:ext cx="34083" cy="397996"/>
            </a:xfrm>
            <a:custGeom>
              <a:avLst/>
              <a:gdLst>
                <a:gd name="T0" fmla="*/ 18352 w 13"/>
                <a:gd name="T1" fmla="*/ 397996 h 153"/>
                <a:gd name="T2" fmla="*/ 18352 w 13"/>
                <a:gd name="T3" fmla="*/ 397996 h 153"/>
                <a:gd name="T4" fmla="*/ 0 w 13"/>
                <a:gd name="T5" fmla="*/ 379787 h 153"/>
                <a:gd name="T6" fmla="*/ 0 w 13"/>
                <a:gd name="T7" fmla="*/ 18209 h 153"/>
                <a:gd name="T8" fmla="*/ 18352 w 13"/>
                <a:gd name="T9" fmla="*/ 0 h 153"/>
                <a:gd name="T10" fmla="*/ 18352 w 13"/>
                <a:gd name="T11" fmla="*/ 0 h 153"/>
                <a:gd name="T12" fmla="*/ 34083 w 13"/>
                <a:gd name="T13" fmla="*/ 18209 h 153"/>
                <a:gd name="T14" fmla="*/ 34083 w 13"/>
                <a:gd name="T15" fmla="*/ 379787 h 153"/>
                <a:gd name="T16" fmla="*/ 18352 w 13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"/>
                <a:gd name="T28" fmla="*/ 0 h 153"/>
                <a:gd name="T29" fmla="*/ 13 w 13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3" y="3"/>
                    <a:pt x="13" y="7"/>
                  </a:cubicBezTo>
                  <a:cubicBezTo>
                    <a:pt x="13" y="146"/>
                    <a:pt x="13" y="146"/>
                    <a:pt x="13" y="146"/>
                  </a:cubicBezTo>
                  <a:cubicBezTo>
                    <a:pt x="13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3" name="Freeform 28"/>
            <p:cNvSpPr>
              <a:spLocks noChangeArrowheads="1"/>
            </p:cNvSpPr>
            <p:nvPr/>
          </p:nvSpPr>
          <p:spPr bwMode="auto">
            <a:xfrm>
              <a:off x="1365501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4" name="Freeform 29"/>
            <p:cNvSpPr>
              <a:spLocks noChangeArrowheads="1"/>
            </p:cNvSpPr>
            <p:nvPr/>
          </p:nvSpPr>
          <p:spPr bwMode="auto">
            <a:xfrm>
              <a:off x="626679" y="0"/>
              <a:ext cx="1550207" cy="2192278"/>
            </a:xfrm>
            <a:custGeom>
              <a:avLst/>
              <a:gdLst>
                <a:gd name="T0" fmla="*/ 1550207 w 1410"/>
                <a:gd name="T1" fmla="*/ 2192278 h 1994"/>
                <a:gd name="T2" fmla="*/ 0 w 1410"/>
                <a:gd name="T3" fmla="*/ 2192278 h 1994"/>
                <a:gd name="T4" fmla="*/ 0 w 1410"/>
                <a:gd name="T5" fmla="*/ 0 h 1994"/>
                <a:gd name="T6" fmla="*/ 1550207 w 1410"/>
                <a:gd name="T7" fmla="*/ 228683 h 1994"/>
                <a:gd name="T8" fmla="*/ 1550207 w 1410"/>
                <a:gd name="T9" fmla="*/ 2192278 h 19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10"/>
                <a:gd name="T16" fmla="*/ 0 h 1994"/>
                <a:gd name="T17" fmla="*/ 1410 w 1410"/>
                <a:gd name="T18" fmla="*/ 1994 h 19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10" h="1994">
                  <a:moveTo>
                    <a:pt x="1410" y="1994"/>
                  </a:moveTo>
                  <a:lnTo>
                    <a:pt x="0" y="1994"/>
                  </a:lnTo>
                  <a:lnTo>
                    <a:pt x="0" y="0"/>
                  </a:lnTo>
                  <a:lnTo>
                    <a:pt x="1410" y="208"/>
                  </a:lnTo>
                  <a:lnTo>
                    <a:pt x="1410" y="1994"/>
                  </a:ln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5" name="Freeform 30"/>
            <p:cNvSpPr>
              <a:spLocks noChangeArrowheads="1"/>
            </p:cNvSpPr>
            <p:nvPr/>
          </p:nvSpPr>
          <p:spPr bwMode="auto">
            <a:xfrm>
              <a:off x="790496" y="93453"/>
              <a:ext cx="1386391" cy="2098826"/>
            </a:xfrm>
            <a:custGeom>
              <a:avLst/>
              <a:gdLst>
                <a:gd name="T0" fmla="*/ 0 w 1261"/>
                <a:gd name="T1" fmla="*/ 0 h 1909"/>
                <a:gd name="T2" fmla="*/ 1386391 w 1261"/>
                <a:gd name="T3" fmla="*/ 218788 h 1909"/>
                <a:gd name="T4" fmla="*/ 1386391 w 1261"/>
                <a:gd name="T5" fmla="*/ 2098826 h 1909"/>
                <a:gd name="T6" fmla="*/ 0 w 1261"/>
                <a:gd name="T7" fmla="*/ 2098826 h 1909"/>
                <a:gd name="T8" fmla="*/ 0 w 1261"/>
                <a:gd name="T9" fmla="*/ 0 h 19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61"/>
                <a:gd name="T16" fmla="*/ 0 h 1909"/>
                <a:gd name="T17" fmla="*/ 1261 w 1261"/>
                <a:gd name="T18" fmla="*/ 1909 h 19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61" h="1909">
                  <a:moveTo>
                    <a:pt x="0" y="0"/>
                  </a:moveTo>
                  <a:lnTo>
                    <a:pt x="1261" y="199"/>
                  </a:lnTo>
                  <a:lnTo>
                    <a:pt x="1261" y="1909"/>
                  </a:lnTo>
                  <a:lnTo>
                    <a:pt x="0" y="1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6" name="Rectangle 31"/>
            <p:cNvSpPr>
              <a:spLocks noChangeArrowheads="1"/>
            </p:cNvSpPr>
            <p:nvPr/>
          </p:nvSpPr>
          <p:spPr bwMode="auto">
            <a:xfrm>
              <a:off x="2176886" y="230882"/>
              <a:ext cx="1776691" cy="1961396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7" name="Rectangle 32"/>
            <p:cNvSpPr>
              <a:spLocks noChangeArrowheads="1"/>
            </p:cNvSpPr>
            <p:nvPr/>
          </p:nvSpPr>
          <p:spPr bwMode="auto">
            <a:xfrm>
              <a:off x="2176886" y="230882"/>
              <a:ext cx="1776691" cy="196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8" name="Rectangle 33"/>
            <p:cNvSpPr>
              <a:spLocks noChangeArrowheads="1"/>
            </p:cNvSpPr>
            <p:nvPr/>
          </p:nvSpPr>
          <p:spPr bwMode="auto">
            <a:xfrm>
              <a:off x="2176886" y="312240"/>
              <a:ext cx="1725018" cy="18800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9" name="Rectangle 34"/>
            <p:cNvSpPr>
              <a:spLocks noChangeArrowheads="1"/>
            </p:cNvSpPr>
            <p:nvPr/>
          </p:nvSpPr>
          <p:spPr bwMode="auto">
            <a:xfrm>
              <a:off x="2176886" y="312240"/>
              <a:ext cx="1725018" cy="188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0" name="Rectangle 35"/>
            <p:cNvSpPr>
              <a:spLocks noChangeArrowheads="1"/>
            </p:cNvSpPr>
            <p:nvPr/>
          </p:nvSpPr>
          <p:spPr bwMode="auto">
            <a:xfrm>
              <a:off x="689348" y="93453"/>
              <a:ext cx="101148" cy="2098826"/>
            </a:xfrm>
            <a:prstGeom prst="rect">
              <a:avLst/>
            </a:prstGeom>
            <a:solidFill>
              <a:srgbClr val="CF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1" name="Freeform 36"/>
            <p:cNvSpPr>
              <a:spLocks noChangeArrowheads="1"/>
            </p:cNvSpPr>
            <p:nvPr/>
          </p:nvSpPr>
          <p:spPr bwMode="auto">
            <a:xfrm>
              <a:off x="689348" y="93453"/>
              <a:ext cx="101148" cy="2098826"/>
            </a:xfrm>
            <a:custGeom>
              <a:avLst/>
              <a:gdLst>
                <a:gd name="T0" fmla="*/ 101148 w 92"/>
                <a:gd name="T1" fmla="*/ 0 h 1909"/>
                <a:gd name="T2" fmla="*/ 0 w 92"/>
                <a:gd name="T3" fmla="*/ 0 h 1909"/>
                <a:gd name="T4" fmla="*/ 0 w 92"/>
                <a:gd name="T5" fmla="*/ 2098826 h 1909"/>
                <a:gd name="T6" fmla="*/ 101148 w 92"/>
                <a:gd name="T7" fmla="*/ 2098826 h 19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1909"/>
                <a:gd name="T14" fmla="*/ 92 w 92"/>
                <a:gd name="T15" fmla="*/ 1909 h 19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1909">
                  <a:moveTo>
                    <a:pt x="92" y="0"/>
                  </a:moveTo>
                  <a:lnTo>
                    <a:pt x="0" y="0"/>
                  </a:lnTo>
                  <a:lnTo>
                    <a:pt x="0" y="1909"/>
                  </a:lnTo>
                  <a:lnTo>
                    <a:pt x="92" y="190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2" name="Rectangle 37"/>
            <p:cNvSpPr>
              <a:spLocks noChangeArrowheads="1"/>
            </p:cNvSpPr>
            <p:nvPr/>
          </p:nvSpPr>
          <p:spPr bwMode="auto">
            <a:xfrm>
              <a:off x="2187880" y="312240"/>
              <a:ext cx="67066" cy="1880038"/>
            </a:xfrm>
            <a:prstGeom prst="rect">
              <a:avLst/>
            </a:prstGeom>
            <a:solidFill>
              <a:srgbClr val="EC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3" name="Rectangle 38"/>
            <p:cNvSpPr>
              <a:spLocks noChangeArrowheads="1"/>
            </p:cNvSpPr>
            <p:nvPr/>
          </p:nvSpPr>
          <p:spPr bwMode="auto">
            <a:xfrm>
              <a:off x="2187880" y="312240"/>
              <a:ext cx="67066" cy="188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4" name="Freeform 39"/>
            <p:cNvSpPr>
              <a:spLocks noChangeArrowheads="1"/>
            </p:cNvSpPr>
            <p:nvPr/>
          </p:nvSpPr>
          <p:spPr bwMode="auto">
            <a:xfrm>
              <a:off x="2320913" y="423284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5" name="Freeform 40"/>
            <p:cNvSpPr>
              <a:spLocks noChangeArrowheads="1"/>
            </p:cNvSpPr>
            <p:nvPr/>
          </p:nvSpPr>
          <p:spPr bwMode="auto">
            <a:xfrm>
              <a:off x="2320913" y="512338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6" name="Freeform 41"/>
            <p:cNvSpPr>
              <a:spLocks noChangeArrowheads="1"/>
            </p:cNvSpPr>
            <p:nvPr/>
          </p:nvSpPr>
          <p:spPr bwMode="auto">
            <a:xfrm>
              <a:off x="2320913" y="761910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6039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6039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7" name="Freeform 42"/>
            <p:cNvSpPr>
              <a:spLocks noChangeArrowheads="1"/>
            </p:cNvSpPr>
            <p:nvPr/>
          </p:nvSpPr>
          <p:spPr bwMode="auto">
            <a:xfrm>
              <a:off x="2320913" y="910334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8" name="Freeform 43"/>
            <p:cNvSpPr>
              <a:spLocks noChangeArrowheads="1"/>
            </p:cNvSpPr>
            <p:nvPr/>
          </p:nvSpPr>
          <p:spPr bwMode="auto">
            <a:xfrm>
              <a:off x="2286830" y="1308330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3436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9" name="Freeform 44"/>
            <p:cNvSpPr>
              <a:spLocks noChangeArrowheads="1"/>
            </p:cNvSpPr>
            <p:nvPr/>
          </p:nvSpPr>
          <p:spPr bwMode="auto">
            <a:xfrm>
              <a:off x="2286830" y="1424871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6039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6039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0" name="Freeform 45"/>
            <p:cNvSpPr>
              <a:spLocks noChangeArrowheads="1"/>
            </p:cNvSpPr>
            <p:nvPr/>
          </p:nvSpPr>
          <p:spPr bwMode="auto">
            <a:xfrm>
              <a:off x="2286830" y="1542511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6039 h 19"/>
                <a:gd name="T6" fmla="*/ 0 w 546"/>
                <a:gd name="T7" fmla="*/ 26039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6039 h 19"/>
                <a:gd name="T14" fmla="*/ 1420473 w 546"/>
                <a:gd name="T15" fmla="*/ 26039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10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1" name="Freeform 46"/>
            <p:cNvSpPr>
              <a:spLocks noChangeArrowheads="1"/>
            </p:cNvSpPr>
            <p:nvPr/>
          </p:nvSpPr>
          <p:spPr bwMode="auto">
            <a:xfrm>
              <a:off x="2286830" y="1666747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3436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2" name="Freeform 47"/>
            <p:cNvSpPr>
              <a:spLocks noChangeArrowheads="1"/>
            </p:cNvSpPr>
            <p:nvPr/>
          </p:nvSpPr>
          <p:spPr bwMode="auto">
            <a:xfrm>
              <a:off x="918031" y="1576593"/>
              <a:ext cx="1161006" cy="131932"/>
            </a:xfrm>
            <a:custGeom>
              <a:avLst/>
              <a:gdLst>
                <a:gd name="T0" fmla="*/ 1137578 w 446"/>
                <a:gd name="T1" fmla="*/ 0 h 51"/>
                <a:gd name="T2" fmla="*/ 23428 w 446"/>
                <a:gd name="T3" fmla="*/ 77607 h 51"/>
                <a:gd name="T4" fmla="*/ 0 w 446"/>
                <a:gd name="T5" fmla="*/ 106063 h 51"/>
                <a:gd name="T6" fmla="*/ 23428 w 446"/>
                <a:gd name="T7" fmla="*/ 129345 h 51"/>
                <a:gd name="T8" fmla="*/ 1137578 w 446"/>
                <a:gd name="T9" fmla="*/ 46564 h 51"/>
                <a:gd name="T10" fmla="*/ 1161006 w 446"/>
                <a:gd name="T11" fmla="*/ 20695 h 51"/>
                <a:gd name="T12" fmla="*/ 1137578 w 446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51"/>
                <a:gd name="T23" fmla="*/ 446 w 44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51">
                  <a:moveTo>
                    <a:pt x="437" y="0"/>
                  </a:moveTo>
                  <a:cubicBezTo>
                    <a:pt x="294" y="10"/>
                    <a:pt x="152" y="20"/>
                    <a:pt x="9" y="30"/>
                  </a:cubicBezTo>
                  <a:cubicBezTo>
                    <a:pt x="4" y="31"/>
                    <a:pt x="0" y="36"/>
                    <a:pt x="0" y="41"/>
                  </a:cubicBezTo>
                  <a:cubicBezTo>
                    <a:pt x="0" y="47"/>
                    <a:pt x="4" y="51"/>
                    <a:pt x="9" y="50"/>
                  </a:cubicBezTo>
                  <a:cubicBezTo>
                    <a:pt x="152" y="40"/>
                    <a:pt x="294" y="29"/>
                    <a:pt x="437" y="18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4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3" name="Freeform 48"/>
            <p:cNvSpPr>
              <a:spLocks noChangeArrowheads="1"/>
            </p:cNvSpPr>
            <p:nvPr/>
          </p:nvSpPr>
          <p:spPr bwMode="auto">
            <a:xfrm>
              <a:off x="918031" y="1493036"/>
              <a:ext cx="1161006" cy="122038"/>
            </a:xfrm>
            <a:custGeom>
              <a:avLst/>
              <a:gdLst>
                <a:gd name="T0" fmla="*/ 1137578 w 446"/>
                <a:gd name="T1" fmla="*/ 2597 h 47"/>
                <a:gd name="T2" fmla="*/ 23428 w 446"/>
                <a:gd name="T3" fmla="*/ 67510 h 47"/>
                <a:gd name="T4" fmla="*/ 0 w 446"/>
                <a:gd name="T5" fmla="*/ 96072 h 47"/>
                <a:gd name="T6" fmla="*/ 23428 w 446"/>
                <a:gd name="T7" fmla="*/ 119441 h 47"/>
                <a:gd name="T8" fmla="*/ 1137578 w 446"/>
                <a:gd name="T9" fmla="*/ 46738 h 47"/>
                <a:gd name="T10" fmla="*/ 1161006 w 446"/>
                <a:gd name="T11" fmla="*/ 23369 h 47"/>
                <a:gd name="T12" fmla="*/ 1137578 w 446"/>
                <a:gd name="T13" fmla="*/ 2597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47"/>
                <a:gd name="T23" fmla="*/ 446 w 446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47">
                  <a:moveTo>
                    <a:pt x="437" y="1"/>
                  </a:moveTo>
                  <a:cubicBezTo>
                    <a:pt x="294" y="9"/>
                    <a:pt x="152" y="18"/>
                    <a:pt x="9" y="26"/>
                  </a:cubicBezTo>
                  <a:cubicBezTo>
                    <a:pt x="4" y="26"/>
                    <a:pt x="0" y="31"/>
                    <a:pt x="0" y="37"/>
                  </a:cubicBezTo>
                  <a:cubicBezTo>
                    <a:pt x="0" y="42"/>
                    <a:pt x="4" y="47"/>
                    <a:pt x="9" y="46"/>
                  </a:cubicBezTo>
                  <a:cubicBezTo>
                    <a:pt x="152" y="37"/>
                    <a:pt x="294" y="28"/>
                    <a:pt x="437" y="18"/>
                  </a:cubicBezTo>
                  <a:cubicBezTo>
                    <a:pt x="442" y="18"/>
                    <a:pt x="446" y="14"/>
                    <a:pt x="446" y="9"/>
                  </a:cubicBezTo>
                  <a:cubicBezTo>
                    <a:pt x="446" y="4"/>
                    <a:pt x="442" y="0"/>
                    <a:pt x="437" y="1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4" name="Freeform 49"/>
            <p:cNvSpPr>
              <a:spLocks noChangeArrowheads="1"/>
            </p:cNvSpPr>
            <p:nvPr/>
          </p:nvSpPr>
          <p:spPr bwMode="auto">
            <a:xfrm>
              <a:off x="918031" y="1261055"/>
              <a:ext cx="1161006" cy="85756"/>
            </a:xfrm>
            <a:custGeom>
              <a:avLst/>
              <a:gdLst>
                <a:gd name="T0" fmla="*/ 1137578 w 446"/>
                <a:gd name="T1" fmla="*/ 0 h 33"/>
                <a:gd name="T2" fmla="*/ 23428 w 446"/>
                <a:gd name="T3" fmla="*/ 33783 h 33"/>
                <a:gd name="T4" fmla="*/ 0 w 446"/>
                <a:gd name="T5" fmla="*/ 59769 h 33"/>
                <a:gd name="T6" fmla="*/ 23428 w 446"/>
                <a:gd name="T7" fmla="*/ 85756 h 33"/>
                <a:gd name="T8" fmla="*/ 1137578 w 446"/>
                <a:gd name="T9" fmla="*/ 44177 h 33"/>
                <a:gd name="T10" fmla="*/ 1161006 w 446"/>
                <a:gd name="T11" fmla="*/ 20789 h 33"/>
                <a:gd name="T12" fmla="*/ 1137578 w 446"/>
                <a:gd name="T13" fmla="*/ 0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3"/>
                <a:gd name="T23" fmla="*/ 446 w 446"/>
                <a:gd name="T24" fmla="*/ 33 h 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3">
                  <a:moveTo>
                    <a:pt x="437" y="0"/>
                  </a:moveTo>
                  <a:cubicBezTo>
                    <a:pt x="294" y="4"/>
                    <a:pt x="152" y="8"/>
                    <a:pt x="9" y="13"/>
                  </a:cubicBezTo>
                  <a:cubicBezTo>
                    <a:pt x="4" y="13"/>
                    <a:pt x="0" y="17"/>
                    <a:pt x="0" y="23"/>
                  </a:cubicBezTo>
                  <a:cubicBezTo>
                    <a:pt x="0" y="29"/>
                    <a:pt x="4" y="33"/>
                    <a:pt x="9" y="33"/>
                  </a:cubicBezTo>
                  <a:cubicBezTo>
                    <a:pt x="152" y="28"/>
                    <a:pt x="294" y="22"/>
                    <a:pt x="437" y="17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3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5" name="Freeform 50"/>
            <p:cNvSpPr>
              <a:spLocks noChangeArrowheads="1"/>
            </p:cNvSpPr>
            <p:nvPr/>
          </p:nvSpPr>
          <p:spPr bwMode="auto">
            <a:xfrm>
              <a:off x="918031" y="1123625"/>
              <a:ext cx="1161006" cy="67066"/>
            </a:xfrm>
            <a:custGeom>
              <a:avLst/>
              <a:gdLst>
                <a:gd name="T0" fmla="*/ 1137578 w 446"/>
                <a:gd name="T1" fmla="*/ 0 h 26"/>
                <a:gd name="T2" fmla="*/ 23428 w 446"/>
                <a:gd name="T3" fmla="*/ 12897 h 26"/>
                <a:gd name="T4" fmla="*/ 0 w 446"/>
                <a:gd name="T5" fmla="*/ 41271 h 26"/>
                <a:gd name="T6" fmla="*/ 23428 w 446"/>
                <a:gd name="T7" fmla="*/ 64487 h 26"/>
                <a:gd name="T8" fmla="*/ 1137578 w 446"/>
                <a:gd name="T9" fmla="*/ 43851 h 26"/>
                <a:gd name="T10" fmla="*/ 1161006 w 446"/>
                <a:gd name="T11" fmla="*/ 20636 h 26"/>
                <a:gd name="T12" fmla="*/ 1137578 w 446"/>
                <a:gd name="T13" fmla="*/ 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26"/>
                <a:gd name="T23" fmla="*/ 446 w 446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26">
                  <a:moveTo>
                    <a:pt x="437" y="0"/>
                  </a:moveTo>
                  <a:cubicBezTo>
                    <a:pt x="294" y="2"/>
                    <a:pt x="152" y="3"/>
                    <a:pt x="9" y="5"/>
                  </a:cubicBezTo>
                  <a:cubicBezTo>
                    <a:pt x="4" y="5"/>
                    <a:pt x="0" y="10"/>
                    <a:pt x="0" y="16"/>
                  </a:cubicBezTo>
                  <a:cubicBezTo>
                    <a:pt x="0" y="21"/>
                    <a:pt x="4" y="26"/>
                    <a:pt x="9" y="25"/>
                  </a:cubicBezTo>
                  <a:cubicBezTo>
                    <a:pt x="152" y="23"/>
                    <a:pt x="294" y="20"/>
                    <a:pt x="437" y="17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4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6" name="Freeform 51"/>
            <p:cNvSpPr>
              <a:spLocks noChangeArrowheads="1"/>
            </p:cNvSpPr>
            <p:nvPr/>
          </p:nvSpPr>
          <p:spPr bwMode="auto">
            <a:xfrm>
              <a:off x="889445" y="712435"/>
              <a:ext cx="1159907" cy="83557"/>
            </a:xfrm>
            <a:custGeom>
              <a:avLst/>
              <a:gdLst>
                <a:gd name="T0" fmla="*/ 1136501 w 446"/>
                <a:gd name="T1" fmla="*/ 39167 h 32"/>
                <a:gd name="T2" fmla="*/ 26007 w 446"/>
                <a:gd name="T3" fmla="*/ 0 h 32"/>
                <a:gd name="T4" fmla="*/ 0 w 446"/>
                <a:gd name="T5" fmla="*/ 26112 h 32"/>
                <a:gd name="T6" fmla="*/ 26007 w 446"/>
                <a:gd name="T7" fmla="*/ 52223 h 32"/>
                <a:gd name="T8" fmla="*/ 1136501 w 446"/>
                <a:gd name="T9" fmla="*/ 83557 h 32"/>
                <a:gd name="T10" fmla="*/ 1159907 w 446"/>
                <a:gd name="T11" fmla="*/ 62668 h 32"/>
                <a:gd name="T12" fmla="*/ 1136501 w 446"/>
                <a:gd name="T13" fmla="*/ 3916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2"/>
                <a:gd name="T23" fmla="*/ 446 w 446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2">
                  <a:moveTo>
                    <a:pt x="437" y="15"/>
                  </a:moveTo>
                  <a:cubicBezTo>
                    <a:pt x="294" y="10"/>
                    <a:pt x="152" y="5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52" y="24"/>
                    <a:pt x="294" y="28"/>
                    <a:pt x="437" y="32"/>
                  </a:cubicBezTo>
                  <a:cubicBezTo>
                    <a:pt x="442" y="32"/>
                    <a:pt x="446" y="29"/>
                    <a:pt x="446" y="24"/>
                  </a:cubicBezTo>
                  <a:cubicBezTo>
                    <a:pt x="446" y="19"/>
                    <a:pt x="442" y="15"/>
                    <a:pt x="437" y="15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7" name="Freeform 52"/>
            <p:cNvSpPr>
              <a:spLocks noChangeArrowheads="1"/>
            </p:cNvSpPr>
            <p:nvPr/>
          </p:nvSpPr>
          <p:spPr bwMode="auto">
            <a:xfrm>
              <a:off x="889445" y="587100"/>
              <a:ext cx="1159907" cy="98949"/>
            </a:xfrm>
            <a:custGeom>
              <a:avLst/>
              <a:gdLst>
                <a:gd name="T0" fmla="*/ 1136501 w 446"/>
                <a:gd name="T1" fmla="*/ 52078 h 38"/>
                <a:gd name="T2" fmla="*/ 26007 w 446"/>
                <a:gd name="T3" fmla="*/ 0 h 38"/>
                <a:gd name="T4" fmla="*/ 0 w 446"/>
                <a:gd name="T5" fmla="*/ 23435 h 38"/>
                <a:gd name="T6" fmla="*/ 26007 w 446"/>
                <a:gd name="T7" fmla="*/ 52078 h 38"/>
                <a:gd name="T8" fmla="*/ 1136501 w 446"/>
                <a:gd name="T9" fmla="*/ 98949 h 38"/>
                <a:gd name="T10" fmla="*/ 1159907 w 446"/>
                <a:gd name="T11" fmla="*/ 75514 h 38"/>
                <a:gd name="T12" fmla="*/ 1136501 w 446"/>
                <a:gd name="T13" fmla="*/ 5207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8"/>
                <a:gd name="T23" fmla="*/ 446 w 446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8">
                  <a:moveTo>
                    <a:pt x="437" y="20"/>
                  </a:moveTo>
                  <a:cubicBezTo>
                    <a:pt x="294" y="13"/>
                    <a:pt x="152" y="7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2" y="26"/>
                    <a:pt x="294" y="32"/>
                    <a:pt x="437" y="38"/>
                  </a:cubicBezTo>
                  <a:cubicBezTo>
                    <a:pt x="442" y="38"/>
                    <a:pt x="446" y="34"/>
                    <a:pt x="446" y="29"/>
                  </a:cubicBezTo>
                  <a:cubicBezTo>
                    <a:pt x="446" y="25"/>
                    <a:pt x="442" y="20"/>
                    <a:pt x="437" y="2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8" name="Freeform 53"/>
            <p:cNvSpPr>
              <a:spLocks noChangeArrowheads="1"/>
            </p:cNvSpPr>
            <p:nvPr/>
          </p:nvSpPr>
          <p:spPr bwMode="auto">
            <a:xfrm>
              <a:off x="889445" y="459565"/>
              <a:ext cx="1159907" cy="117640"/>
            </a:xfrm>
            <a:custGeom>
              <a:avLst/>
              <a:gdLst>
                <a:gd name="T0" fmla="*/ 1136501 w 446"/>
                <a:gd name="T1" fmla="*/ 70584 h 45"/>
                <a:gd name="T2" fmla="*/ 26007 w 446"/>
                <a:gd name="T3" fmla="*/ 0 h 45"/>
                <a:gd name="T4" fmla="*/ 0 w 446"/>
                <a:gd name="T5" fmla="*/ 26142 h 45"/>
                <a:gd name="T6" fmla="*/ 26007 w 446"/>
                <a:gd name="T7" fmla="*/ 54899 h 45"/>
                <a:gd name="T8" fmla="*/ 1136501 w 446"/>
                <a:gd name="T9" fmla="*/ 115026 h 45"/>
                <a:gd name="T10" fmla="*/ 1159907 w 446"/>
                <a:gd name="T11" fmla="*/ 94112 h 45"/>
                <a:gd name="T12" fmla="*/ 1136501 w 446"/>
                <a:gd name="T13" fmla="*/ 705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45"/>
                <a:gd name="T23" fmla="*/ 446 w 446"/>
                <a:gd name="T24" fmla="*/ 45 h 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45">
                  <a:moveTo>
                    <a:pt x="437" y="27"/>
                  </a:moveTo>
                  <a:cubicBezTo>
                    <a:pt x="294" y="18"/>
                    <a:pt x="152" y="9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1"/>
                  </a:cubicBezTo>
                  <a:cubicBezTo>
                    <a:pt x="152" y="29"/>
                    <a:pt x="294" y="36"/>
                    <a:pt x="437" y="44"/>
                  </a:cubicBezTo>
                  <a:cubicBezTo>
                    <a:pt x="442" y="45"/>
                    <a:pt x="446" y="41"/>
                    <a:pt x="446" y="36"/>
                  </a:cubicBezTo>
                  <a:cubicBezTo>
                    <a:pt x="446" y="31"/>
                    <a:pt x="442" y="27"/>
                    <a:pt x="437" y="27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9" name="Freeform 54"/>
            <p:cNvSpPr>
              <a:spLocks noChangeArrowheads="1"/>
            </p:cNvSpPr>
            <p:nvPr/>
          </p:nvSpPr>
          <p:spPr bwMode="auto">
            <a:xfrm>
              <a:off x="889445" y="329831"/>
              <a:ext cx="1159907" cy="133032"/>
            </a:xfrm>
            <a:custGeom>
              <a:avLst/>
              <a:gdLst>
                <a:gd name="T0" fmla="*/ 1136501 w 446"/>
                <a:gd name="T1" fmla="*/ 86080 h 51"/>
                <a:gd name="T2" fmla="*/ 26007 w 446"/>
                <a:gd name="T3" fmla="*/ 0 h 51"/>
                <a:gd name="T4" fmla="*/ 0 w 446"/>
                <a:gd name="T5" fmla="*/ 23476 h 51"/>
                <a:gd name="T6" fmla="*/ 26007 w 446"/>
                <a:gd name="T7" fmla="*/ 52169 h 51"/>
                <a:gd name="T8" fmla="*/ 1136501 w 446"/>
                <a:gd name="T9" fmla="*/ 130424 h 51"/>
                <a:gd name="T10" fmla="*/ 1159907 w 446"/>
                <a:gd name="T11" fmla="*/ 109556 h 51"/>
                <a:gd name="T12" fmla="*/ 1136501 w 446"/>
                <a:gd name="T13" fmla="*/ 8608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51"/>
                <a:gd name="T23" fmla="*/ 446 w 44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51">
                  <a:moveTo>
                    <a:pt x="437" y="33"/>
                  </a:moveTo>
                  <a:cubicBezTo>
                    <a:pt x="294" y="22"/>
                    <a:pt x="152" y="11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2" y="30"/>
                    <a:pt x="294" y="40"/>
                    <a:pt x="437" y="50"/>
                  </a:cubicBezTo>
                  <a:cubicBezTo>
                    <a:pt x="442" y="51"/>
                    <a:pt x="446" y="47"/>
                    <a:pt x="446" y="42"/>
                  </a:cubicBezTo>
                  <a:cubicBezTo>
                    <a:pt x="446" y="37"/>
                    <a:pt x="442" y="33"/>
                    <a:pt x="437" y="3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0" name="Freeform 55"/>
            <p:cNvSpPr>
              <a:spLocks noChangeArrowheads="1"/>
            </p:cNvSpPr>
            <p:nvPr/>
          </p:nvSpPr>
          <p:spPr bwMode="auto">
            <a:xfrm>
              <a:off x="2187880" y="312240"/>
              <a:ext cx="98949" cy="1175299"/>
            </a:xfrm>
            <a:custGeom>
              <a:avLst/>
              <a:gdLst>
                <a:gd name="T0" fmla="*/ 0 w 90"/>
                <a:gd name="T1" fmla="*/ 0 h 1069"/>
                <a:gd name="T2" fmla="*/ 0 w 90"/>
                <a:gd name="T3" fmla="*/ 1175299 h 1069"/>
                <a:gd name="T4" fmla="*/ 49475 w 90"/>
                <a:gd name="T5" fmla="*/ 1136819 h 1069"/>
                <a:gd name="T6" fmla="*/ 98949 w 90"/>
                <a:gd name="T7" fmla="*/ 1175299 h 1069"/>
                <a:gd name="T8" fmla="*/ 98949 w 90"/>
                <a:gd name="T9" fmla="*/ 0 h 1069"/>
                <a:gd name="T10" fmla="*/ 0 w 90"/>
                <a:gd name="T11" fmla="*/ 0 h 10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0"/>
                <a:gd name="T19" fmla="*/ 0 h 1069"/>
                <a:gd name="T20" fmla="*/ 90 w 90"/>
                <a:gd name="T21" fmla="*/ 1069 h 10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0" h="1069">
                  <a:moveTo>
                    <a:pt x="0" y="0"/>
                  </a:moveTo>
                  <a:lnTo>
                    <a:pt x="0" y="1069"/>
                  </a:lnTo>
                  <a:lnTo>
                    <a:pt x="45" y="1034"/>
                  </a:lnTo>
                  <a:lnTo>
                    <a:pt x="90" y="1069"/>
                  </a:lnTo>
                  <a:lnTo>
                    <a:pt x="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1" name="文本框 56"/>
            <p:cNvSpPr>
              <a:spLocks noChangeArrowheads="1"/>
            </p:cNvSpPr>
            <p:nvPr/>
          </p:nvSpPr>
          <p:spPr bwMode="auto">
            <a:xfrm>
              <a:off x="401843" y="3097115"/>
              <a:ext cx="3878816" cy="707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3375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01</a:t>
              </a:r>
            </a:p>
          </p:txBody>
        </p:sp>
      </p:grpSp>
      <p:sp>
        <p:nvSpPr>
          <p:cNvPr id="80" name="TextBox 4"/>
          <p:cNvSpPr txBox="1"/>
          <p:nvPr/>
        </p:nvSpPr>
        <p:spPr>
          <a:xfrm>
            <a:off x="3809708" y="5077435"/>
            <a:ext cx="5239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自动售货机问题</a:t>
            </a:r>
            <a:endParaRPr lang="en-US" altLang="zh-CN" sz="4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7" name="Picture 3">
            <a:extLst>
              <a:ext uri="{FF2B5EF4-FFF2-40B4-BE49-F238E27FC236}">
                <a16:creationId xmlns:a16="http://schemas.microsoft.com/office/drawing/2014/main" id="{66F592B5-88AA-4C81-A580-12BD77C16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439" y="375667"/>
            <a:ext cx="4379871" cy="6471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979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2C122BF-F374-4119-B0E0-3D1013FA33CB}"/>
              </a:ext>
            </a:extLst>
          </p:cNvPr>
          <p:cNvGrpSpPr/>
          <p:nvPr/>
        </p:nvGrpSpPr>
        <p:grpSpPr>
          <a:xfrm flipH="1">
            <a:off x="6062643" y="4624437"/>
            <a:ext cx="4550414" cy="1359683"/>
            <a:chOff x="3821326" y="3817808"/>
            <a:chExt cx="2607421" cy="1359683"/>
          </a:xfrm>
        </p:grpSpPr>
        <p:sp>
          <p:nvSpPr>
            <p:cNvPr id="3" name="Freeform 3720">
              <a:extLst>
                <a:ext uri="{FF2B5EF4-FFF2-40B4-BE49-F238E27FC236}">
                  <a16:creationId xmlns:a16="http://schemas.microsoft.com/office/drawing/2014/main" id="{513331A3-6FAF-4FA7-A338-E2C620F6D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326" y="3846737"/>
              <a:ext cx="2607421" cy="1330754"/>
            </a:xfrm>
            <a:custGeom>
              <a:avLst/>
              <a:gdLst>
                <a:gd name="T0" fmla="*/ 876 w 876"/>
                <a:gd name="T1" fmla="*/ 154 h 447"/>
                <a:gd name="T2" fmla="*/ 797 w 876"/>
                <a:gd name="T3" fmla="*/ 75 h 447"/>
                <a:gd name="T4" fmla="*/ 233 w 876"/>
                <a:gd name="T5" fmla="*/ 75 h 447"/>
                <a:gd name="T6" fmla="*/ 233 w 876"/>
                <a:gd name="T7" fmla="*/ 25 h 447"/>
                <a:gd name="T8" fmla="*/ 207 w 876"/>
                <a:gd name="T9" fmla="*/ 13 h 447"/>
                <a:gd name="T10" fmla="*/ 14 w 876"/>
                <a:gd name="T11" fmla="*/ 187 h 447"/>
                <a:gd name="T12" fmla="*/ 14 w 876"/>
                <a:gd name="T13" fmla="*/ 235 h 447"/>
                <a:gd name="T14" fmla="*/ 207 w 876"/>
                <a:gd name="T15" fmla="*/ 409 h 447"/>
                <a:gd name="T16" fmla="*/ 233 w 876"/>
                <a:gd name="T17" fmla="*/ 397 h 447"/>
                <a:gd name="T18" fmla="*/ 233 w 876"/>
                <a:gd name="T19" fmla="*/ 353 h 447"/>
                <a:gd name="T20" fmla="*/ 743 w 876"/>
                <a:gd name="T21" fmla="*/ 353 h 447"/>
                <a:gd name="T22" fmla="*/ 775 w 876"/>
                <a:gd name="T23" fmla="*/ 353 h 447"/>
                <a:gd name="T24" fmla="*/ 876 w 876"/>
                <a:gd name="T25" fmla="*/ 447 h 447"/>
                <a:gd name="T26" fmla="*/ 876 w 876"/>
                <a:gd name="T27" fmla="*/ 282 h 447"/>
                <a:gd name="T28" fmla="*/ 876 w 876"/>
                <a:gd name="T29" fmla="*/ 282 h 447"/>
                <a:gd name="T30" fmla="*/ 876 w 876"/>
                <a:gd name="T31" fmla="*/ 274 h 447"/>
                <a:gd name="T32" fmla="*/ 876 w 876"/>
                <a:gd name="T33" fmla="*/ 154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447">
                  <a:moveTo>
                    <a:pt x="876" y="154"/>
                  </a:moveTo>
                  <a:cubicBezTo>
                    <a:pt x="876" y="110"/>
                    <a:pt x="841" y="75"/>
                    <a:pt x="797" y="75"/>
                  </a:cubicBezTo>
                  <a:cubicBezTo>
                    <a:pt x="233" y="75"/>
                    <a:pt x="233" y="75"/>
                    <a:pt x="233" y="75"/>
                  </a:cubicBezTo>
                  <a:cubicBezTo>
                    <a:pt x="233" y="25"/>
                    <a:pt x="233" y="25"/>
                    <a:pt x="233" y="25"/>
                  </a:cubicBezTo>
                  <a:cubicBezTo>
                    <a:pt x="233" y="6"/>
                    <a:pt x="221" y="0"/>
                    <a:pt x="207" y="13"/>
                  </a:cubicBezTo>
                  <a:cubicBezTo>
                    <a:pt x="14" y="187"/>
                    <a:pt x="14" y="187"/>
                    <a:pt x="14" y="187"/>
                  </a:cubicBezTo>
                  <a:cubicBezTo>
                    <a:pt x="0" y="200"/>
                    <a:pt x="0" y="222"/>
                    <a:pt x="14" y="235"/>
                  </a:cubicBezTo>
                  <a:cubicBezTo>
                    <a:pt x="207" y="409"/>
                    <a:pt x="207" y="409"/>
                    <a:pt x="207" y="409"/>
                  </a:cubicBezTo>
                  <a:cubicBezTo>
                    <a:pt x="221" y="422"/>
                    <a:pt x="233" y="417"/>
                    <a:pt x="233" y="397"/>
                  </a:cubicBezTo>
                  <a:cubicBezTo>
                    <a:pt x="233" y="353"/>
                    <a:pt x="233" y="353"/>
                    <a:pt x="233" y="353"/>
                  </a:cubicBezTo>
                  <a:cubicBezTo>
                    <a:pt x="743" y="353"/>
                    <a:pt x="743" y="353"/>
                    <a:pt x="743" y="353"/>
                  </a:cubicBezTo>
                  <a:cubicBezTo>
                    <a:pt x="775" y="353"/>
                    <a:pt x="775" y="353"/>
                    <a:pt x="775" y="353"/>
                  </a:cubicBezTo>
                  <a:cubicBezTo>
                    <a:pt x="829" y="353"/>
                    <a:pt x="873" y="395"/>
                    <a:pt x="876" y="447"/>
                  </a:cubicBezTo>
                  <a:cubicBezTo>
                    <a:pt x="876" y="282"/>
                    <a:pt x="876" y="282"/>
                    <a:pt x="876" y="282"/>
                  </a:cubicBezTo>
                  <a:cubicBezTo>
                    <a:pt x="876" y="282"/>
                    <a:pt x="876" y="282"/>
                    <a:pt x="876" y="282"/>
                  </a:cubicBezTo>
                  <a:cubicBezTo>
                    <a:pt x="876" y="279"/>
                    <a:pt x="876" y="277"/>
                    <a:pt x="876" y="274"/>
                  </a:cubicBezTo>
                  <a:lnTo>
                    <a:pt x="876" y="154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/>
          </p:spPr>
          <p:txBody>
            <a:bodyPr vert="horz" wrap="square" lIns="96430" tIns="48216" rIns="96430" bIns="48216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49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Freeform 3721">
              <a:extLst>
                <a:ext uri="{FF2B5EF4-FFF2-40B4-BE49-F238E27FC236}">
                  <a16:creationId xmlns:a16="http://schemas.microsoft.com/office/drawing/2014/main" id="{902CD1F7-B59D-4B7C-B2C7-ACB2E5EE7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326" y="3817808"/>
              <a:ext cx="2607421" cy="1329495"/>
            </a:xfrm>
            <a:custGeom>
              <a:avLst/>
              <a:gdLst>
                <a:gd name="T0" fmla="*/ 876 w 876"/>
                <a:gd name="T1" fmla="*/ 154 h 447"/>
                <a:gd name="T2" fmla="*/ 797 w 876"/>
                <a:gd name="T3" fmla="*/ 75 h 447"/>
                <a:gd name="T4" fmla="*/ 233 w 876"/>
                <a:gd name="T5" fmla="*/ 75 h 447"/>
                <a:gd name="T6" fmla="*/ 233 w 876"/>
                <a:gd name="T7" fmla="*/ 25 h 447"/>
                <a:gd name="T8" fmla="*/ 207 w 876"/>
                <a:gd name="T9" fmla="*/ 13 h 447"/>
                <a:gd name="T10" fmla="*/ 14 w 876"/>
                <a:gd name="T11" fmla="*/ 187 h 447"/>
                <a:gd name="T12" fmla="*/ 14 w 876"/>
                <a:gd name="T13" fmla="*/ 235 h 447"/>
                <a:gd name="T14" fmla="*/ 207 w 876"/>
                <a:gd name="T15" fmla="*/ 409 h 447"/>
                <a:gd name="T16" fmla="*/ 233 w 876"/>
                <a:gd name="T17" fmla="*/ 397 h 447"/>
                <a:gd name="T18" fmla="*/ 233 w 876"/>
                <a:gd name="T19" fmla="*/ 353 h 447"/>
                <a:gd name="T20" fmla="*/ 743 w 876"/>
                <a:gd name="T21" fmla="*/ 353 h 447"/>
                <a:gd name="T22" fmla="*/ 775 w 876"/>
                <a:gd name="T23" fmla="*/ 353 h 447"/>
                <a:gd name="T24" fmla="*/ 876 w 876"/>
                <a:gd name="T25" fmla="*/ 447 h 447"/>
                <a:gd name="T26" fmla="*/ 876 w 876"/>
                <a:gd name="T27" fmla="*/ 282 h 447"/>
                <a:gd name="T28" fmla="*/ 876 w 876"/>
                <a:gd name="T29" fmla="*/ 282 h 447"/>
                <a:gd name="T30" fmla="*/ 876 w 876"/>
                <a:gd name="T31" fmla="*/ 274 h 447"/>
                <a:gd name="T32" fmla="*/ 876 w 876"/>
                <a:gd name="T33" fmla="*/ 154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447">
                  <a:moveTo>
                    <a:pt x="876" y="154"/>
                  </a:moveTo>
                  <a:cubicBezTo>
                    <a:pt x="876" y="110"/>
                    <a:pt x="841" y="75"/>
                    <a:pt x="797" y="75"/>
                  </a:cubicBezTo>
                  <a:cubicBezTo>
                    <a:pt x="233" y="75"/>
                    <a:pt x="233" y="75"/>
                    <a:pt x="233" y="75"/>
                  </a:cubicBezTo>
                  <a:cubicBezTo>
                    <a:pt x="233" y="25"/>
                    <a:pt x="233" y="25"/>
                    <a:pt x="233" y="25"/>
                  </a:cubicBezTo>
                  <a:cubicBezTo>
                    <a:pt x="233" y="5"/>
                    <a:pt x="221" y="0"/>
                    <a:pt x="207" y="13"/>
                  </a:cubicBezTo>
                  <a:cubicBezTo>
                    <a:pt x="14" y="187"/>
                    <a:pt x="14" y="187"/>
                    <a:pt x="14" y="187"/>
                  </a:cubicBezTo>
                  <a:cubicBezTo>
                    <a:pt x="0" y="200"/>
                    <a:pt x="0" y="222"/>
                    <a:pt x="14" y="235"/>
                  </a:cubicBezTo>
                  <a:cubicBezTo>
                    <a:pt x="207" y="409"/>
                    <a:pt x="207" y="409"/>
                    <a:pt x="207" y="409"/>
                  </a:cubicBezTo>
                  <a:cubicBezTo>
                    <a:pt x="221" y="422"/>
                    <a:pt x="233" y="417"/>
                    <a:pt x="233" y="397"/>
                  </a:cubicBezTo>
                  <a:cubicBezTo>
                    <a:pt x="233" y="353"/>
                    <a:pt x="233" y="353"/>
                    <a:pt x="233" y="353"/>
                  </a:cubicBezTo>
                  <a:cubicBezTo>
                    <a:pt x="743" y="353"/>
                    <a:pt x="743" y="353"/>
                    <a:pt x="743" y="353"/>
                  </a:cubicBezTo>
                  <a:cubicBezTo>
                    <a:pt x="775" y="353"/>
                    <a:pt x="775" y="353"/>
                    <a:pt x="775" y="353"/>
                  </a:cubicBezTo>
                  <a:cubicBezTo>
                    <a:pt x="829" y="353"/>
                    <a:pt x="873" y="395"/>
                    <a:pt x="876" y="447"/>
                  </a:cubicBezTo>
                  <a:cubicBezTo>
                    <a:pt x="876" y="282"/>
                    <a:pt x="876" y="282"/>
                    <a:pt x="876" y="282"/>
                  </a:cubicBezTo>
                  <a:cubicBezTo>
                    <a:pt x="876" y="282"/>
                    <a:pt x="876" y="282"/>
                    <a:pt x="876" y="282"/>
                  </a:cubicBezTo>
                  <a:cubicBezTo>
                    <a:pt x="876" y="279"/>
                    <a:pt x="876" y="277"/>
                    <a:pt x="876" y="274"/>
                  </a:cubicBezTo>
                  <a:lnTo>
                    <a:pt x="876" y="15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/>
          </p:spPr>
          <p:txBody>
            <a:bodyPr vert="horz" wrap="square" lIns="96430" tIns="48216" rIns="96430" bIns="48216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49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02CFA83-F571-4828-8EA7-156628C8DE45}"/>
              </a:ext>
            </a:extLst>
          </p:cNvPr>
          <p:cNvGrpSpPr/>
          <p:nvPr/>
        </p:nvGrpSpPr>
        <p:grpSpPr>
          <a:xfrm>
            <a:off x="596727" y="2245622"/>
            <a:ext cx="5471979" cy="1389871"/>
            <a:chOff x="4050244" y="1659421"/>
            <a:chExt cx="2378502" cy="1241451"/>
          </a:xfrm>
        </p:grpSpPr>
        <p:sp>
          <p:nvSpPr>
            <p:cNvPr id="6" name="Freeform 3723">
              <a:extLst>
                <a:ext uri="{FF2B5EF4-FFF2-40B4-BE49-F238E27FC236}">
                  <a16:creationId xmlns:a16="http://schemas.microsoft.com/office/drawing/2014/main" id="{7DCD33AE-425C-42B6-8912-84AA8090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244" y="1685836"/>
              <a:ext cx="2378502" cy="1215036"/>
            </a:xfrm>
            <a:custGeom>
              <a:avLst/>
              <a:gdLst>
                <a:gd name="T0" fmla="*/ 799 w 799"/>
                <a:gd name="T1" fmla="*/ 140 h 408"/>
                <a:gd name="T2" fmla="*/ 727 w 799"/>
                <a:gd name="T3" fmla="*/ 68 h 408"/>
                <a:gd name="T4" fmla="*/ 212 w 799"/>
                <a:gd name="T5" fmla="*/ 68 h 408"/>
                <a:gd name="T6" fmla="*/ 212 w 799"/>
                <a:gd name="T7" fmla="*/ 23 h 408"/>
                <a:gd name="T8" fmla="*/ 188 w 799"/>
                <a:gd name="T9" fmla="*/ 12 h 408"/>
                <a:gd name="T10" fmla="*/ 13 w 799"/>
                <a:gd name="T11" fmla="*/ 171 h 408"/>
                <a:gd name="T12" fmla="*/ 13 w 799"/>
                <a:gd name="T13" fmla="*/ 214 h 408"/>
                <a:gd name="T14" fmla="*/ 188 w 799"/>
                <a:gd name="T15" fmla="*/ 373 h 408"/>
                <a:gd name="T16" fmla="*/ 212 w 799"/>
                <a:gd name="T17" fmla="*/ 362 h 408"/>
                <a:gd name="T18" fmla="*/ 212 w 799"/>
                <a:gd name="T19" fmla="*/ 322 h 408"/>
                <a:gd name="T20" fmla="*/ 677 w 799"/>
                <a:gd name="T21" fmla="*/ 322 h 408"/>
                <a:gd name="T22" fmla="*/ 707 w 799"/>
                <a:gd name="T23" fmla="*/ 322 h 408"/>
                <a:gd name="T24" fmla="*/ 799 w 799"/>
                <a:gd name="T25" fmla="*/ 408 h 408"/>
                <a:gd name="T26" fmla="*/ 799 w 799"/>
                <a:gd name="T27" fmla="*/ 257 h 408"/>
                <a:gd name="T28" fmla="*/ 799 w 799"/>
                <a:gd name="T29" fmla="*/ 257 h 408"/>
                <a:gd name="T30" fmla="*/ 799 w 799"/>
                <a:gd name="T31" fmla="*/ 250 h 408"/>
                <a:gd name="T32" fmla="*/ 799 w 799"/>
                <a:gd name="T33" fmla="*/ 14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99" h="408">
                  <a:moveTo>
                    <a:pt x="799" y="140"/>
                  </a:moveTo>
                  <a:cubicBezTo>
                    <a:pt x="799" y="100"/>
                    <a:pt x="767" y="68"/>
                    <a:pt x="727" y="68"/>
                  </a:cubicBezTo>
                  <a:cubicBezTo>
                    <a:pt x="212" y="68"/>
                    <a:pt x="212" y="68"/>
                    <a:pt x="212" y="68"/>
                  </a:cubicBezTo>
                  <a:cubicBezTo>
                    <a:pt x="212" y="23"/>
                    <a:pt x="212" y="23"/>
                    <a:pt x="212" y="23"/>
                  </a:cubicBezTo>
                  <a:cubicBezTo>
                    <a:pt x="212" y="5"/>
                    <a:pt x="201" y="0"/>
                    <a:pt x="188" y="12"/>
                  </a:cubicBezTo>
                  <a:cubicBezTo>
                    <a:pt x="13" y="171"/>
                    <a:pt x="13" y="171"/>
                    <a:pt x="13" y="171"/>
                  </a:cubicBezTo>
                  <a:cubicBezTo>
                    <a:pt x="0" y="183"/>
                    <a:pt x="0" y="202"/>
                    <a:pt x="13" y="214"/>
                  </a:cubicBezTo>
                  <a:cubicBezTo>
                    <a:pt x="188" y="373"/>
                    <a:pt x="188" y="373"/>
                    <a:pt x="188" y="373"/>
                  </a:cubicBezTo>
                  <a:cubicBezTo>
                    <a:pt x="201" y="385"/>
                    <a:pt x="212" y="380"/>
                    <a:pt x="212" y="362"/>
                  </a:cubicBezTo>
                  <a:cubicBezTo>
                    <a:pt x="212" y="322"/>
                    <a:pt x="212" y="322"/>
                    <a:pt x="212" y="322"/>
                  </a:cubicBezTo>
                  <a:cubicBezTo>
                    <a:pt x="677" y="322"/>
                    <a:pt x="677" y="322"/>
                    <a:pt x="677" y="322"/>
                  </a:cubicBezTo>
                  <a:cubicBezTo>
                    <a:pt x="707" y="322"/>
                    <a:pt x="707" y="322"/>
                    <a:pt x="707" y="322"/>
                  </a:cubicBezTo>
                  <a:cubicBezTo>
                    <a:pt x="756" y="322"/>
                    <a:pt x="796" y="360"/>
                    <a:pt x="799" y="408"/>
                  </a:cubicBezTo>
                  <a:cubicBezTo>
                    <a:pt x="799" y="257"/>
                    <a:pt x="799" y="257"/>
                    <a:pt x="799" y="257"/>
                  </a:cubicBezTo>
                  <a:cubicBezTo>
                    <a:pt x="799" y="257"/>
                    <a:pt x="799" y="257"/>
                    <a:pt x="799" y="257"/>
                  </a:cubicBezTo>
                  <a:cubicBezTo>
                    <a:pt x="799" y="255"/>
                    <a:pt x="799" y="252"/>
                    <a:pt x="799" y="250"/>
                  </a:cubicBezTo>
                  <a:lnTo>
                    <a:pt x="799" y="14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/>
          </p:spPr>
          <p:txBody>
            <a:bodyPr vert="horz" wrap="square" lIns="96430" tIns="48216" rIns="96430" bIns="48216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49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Freeform 3724">
              <a:extLst>
                <a:ext uri="{FF2B5EF4-FFF2-40B4-BE49-F238E27FC236}">
                  <a16:creationId xmlns:a16="http://schemas.microsoft.com/office/drawing/2014/main" id="{25FAE099-CEF7-4351-9A3F-E623BBACA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244" y="1659421"/>
              <a:ext cx="2378502" cy="1213777"/>
            </a:xfrm>
            <a:custGeom>
              <a:avLst/>
              <a:gdLst>
                <a:gd name="T0" fmla="*/ 799 w 799"/>
                <a:gd name="T1" fmla="*/ 140 h 408"/>
                <a:gd name="T2" fmla="*/ 727 w 799"/>
                <a:gd name="T3" fmla="*/ 68 h 408"/>
                <a:gd name="T4" fmla="*/ 212 w 799"/>
                <a:gd name="T5" fmla="*/ 68 h 408"/>
                <a:gd name="T6" fmla="*/ 212 w 799"/>
                <a:gd name="T7" fmla="*/ 23 h 408"/>
                <a:gd name="T8" fmla="*/ 188 w 799"/>
                <a:gd name="T9" fmla="*/ 12 h 408"/>
                <a:gd name="T10" fmla="*/ 13 w 799"/>
                <a:gd name="T11" fmla="*/ 171 h 408"/>
                <a:gd name="T12" fmla="*/ 13 w 799"/>
                <a:gd name="T13" fmla="*/ 214 h 408"/>
                <a:gd name="T14" fmla="*/ 188 w 799"/>
                <a:gd name="T15" fmla="*/ 373 h 408"/>
                <a:gd name="T16" fmla="*/ 212 w 799"/>
                <a:gd name="T17" fmla="*/ 362 h 408"/>
                <a:gd name="T18" fmla="*/ 212 w 799"/>
                <a:gd name="T19" fmla="*/ 322 h 408"/>
                <a:gd name="T20" fmla="*/ 677 w 799"/>
                <a:gd name="T21" fmla="*/ 322 h 408"/>
                <a:gd name="T22" fmla="*/ 707 w 799"/>
                <a:gd name="T23" fmla="*/ 322 h 408"/>
                <a:gd name="T24" fmla="*/ 799 w 799"/>
                <a:gd name="T25" fmla="*/ 408 h 408"/>
                <a:gd name="T26" fmla="*/ 799 w 799"/>
                <a:gd name="T27" fmla="*/ 257 h 408"/>
                <a:gd name="T28" fmla="*/ 799 w 799"/>
                <a:gd name="T29" fmla="*/ 257 h 408"/>
                <a:gd name="T30" fmla="*/ 799 w 799"/>
                <a:gd name="T31" fmla="*/ 250 h 408"/>
                <a:gd name="T32" fmla="*/ 799 w 799"/>
                <a:gd name="T33" fmla="*/ 14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99" h="408">
                  <a:moveTo>
                    <a:pt x="799" y="140"/>
                  </a:moveTo>
                  <a:cubicBezTo>
                    <a:pt x="799" y="100"/>
                    <a:pt x="767" y="68"/>
                    <a:pt x="727" y="68"/>
                  </a:cubicBezTo>
                  <a:cubicBezTo>
                    <a:pt x="212" y="68"/>
                    <a:pt x="212" y="68"/>
                    <a:pt x="212" y="68"/>
                  </a:cubicBezTo>
                  <a:cubicBezTo>
                    <a:pt x="212" y="23"/>
                    <a:pt x="212" y="23"/>
                    <a:pt x="212" y="23"/>
                  </a:cubicBezTo>
                  <a:cubicBezTo>
                    <a:pt x="212" y="5"/>
                    <a:pt x="201" y="0"/>
                    <a:pt x="188" y="12"/>
                  </a:cubicBezTo>
                  <a:cubicBezTo>
                    <a:pt x="13" y="171"/>
                    <a:pt x="13" y="171"/>
                    <a:pt x="13" y="171"/>
                  </a:cubicBezTo>
                  <a:cubicBezTo>
                    <a:pt x="0" y="183"/>
                    <a:pt x="0" y="202"/>
                    <a:pt x="13" y="214"/>
                  </a:cubicBezTo>
                  <a:cubicBezTo>
                    <a:pt x="188" y="373"/>
                    <a:pt x="188" y="373"/>
                    <a:pt x="188" y="373"/>
                  </a:cubicBezTo>
                  <a:cubicBezTo>
                    <a:pt x="201" y="385"/>
                    <a:pt x="212" y="380"/>
                    <a:pt x="212" y="362"/>
                  </a:cubicBezTo>
                  <a:cubicBezTo>
                    <a:pt x="212" y="322"/>
                    <a:pt x="212" y="322"/>
                    <a:pt x="212" y="322"/>
                  </a:cubicBezTo>
                  <a:cubicBezTo>
                    <a:pt x="677" y="322"/>
                    <a:pt x="677" y="322"/>
                    <a:pt x="677" y="322"/>
                  </a:cubicBezTo>
                  <a:cubicBezTo>
                    <a:pt x="707" y="322"/>
                    <a:pt x="707" y="322"/>
                    <a:pt x="707" y="322"/>
                  </a:cubicBezTo>
                  <a:cubicBezTo>
                    <a:pt x="756" y="322"/>
                    <a:pt x="796" y="360"/>
                    <a:pt x="799" y="408"/>
                  </a:cubicBezTo>
                  <a:cubicBezTo>
                    <a:pt x="799" y="257"/>
                    <a:pt x="799" y="257"/>
                    <a:pt x="799" y="257"/>
                  </a:cubicBezTo>
                  <a:cubicBezTo>
                    <a:pt x="799" y="257"/>
                    <a:pt x="799" y="257"/>
                    <a:pt x="799" y="257"/>
                  </a:cubicBezTo>
                  <a:cubicBezTo>
                    <a:pt x="799" y="254"/>
                    <a:pt x="799" y="252"/>
                    <a:pt x="799" y="250"/>
                  </a:cubicBezTo>
                  <a:lnTo>
                    <a:pt x="799" y="14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/>
          </p:spPr>
          <p:txBody>
            <a:bodyPr vert="horz" wrap="square" lIns="96430" tIns="48216" rIns="96430" bIns="48216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49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E0E8B629-F4B4-4285-87D5-418DD146C9ED}"/>
              </a:ext>
            </a:extLst>
          </p:cNvPr>
          <p:cNvGrpSpPr/>
          <p:nvPr/>
        </p:nvGrpSpPr>
        <p:grpSpPr>
          <a:xfrm>
            <a:off x="956767" y="3679674"/>
            <a:ext cx="5111938" cy="1448819"/>
            <a:chOff x="3359712" y="2561263"/>
            <a:chExt cx="3069033" cy="1601181"/>
          </a:xfrm>
        </p:grpSpPr>
        <p:sp>
          <p:nvSpPr>
            <p:cNvPr id="9" name="Freeform 3729">
              <a:extLst>
                <a:ext uri="{FF2B5EF4-FFF2-40B4-BE49-F238E27FC236}">
                  <a16:creationId xmlns:a16="http://schemas.microsoft.com/office/drawing/2014/main" id="{25D474DA-5A1F-4872-9137-9BC322A10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9712" y="2593967"/>
              <a:ext cx="3069033" cy="1568477"/>
            </a:xfrm>
            <a:custGeom>
              <a:avLst/>
              <a:gdLst>
                <a:gd name="T0" fmla="*/ 1031 w 1031"/>
                <a:gd name="T1" fmla="*/ 181 h 527"/>
                <a:gd name="T2" fmla="*/ 938 w 1031"/>
                <a:gd name="T3" fmla="*/ 88 h 527"/>
                <a:gd name="T4" fmla="*/ 274 w 1031"/>
                <a:gd name="T5" fmla="*/ 88 h 527"/>
                <a:gd name="T6" fmla="*/ 274 w 1031"/>
                <a:gd name="T7" fmla="*/ 30 h 527"/>
                <a:gd name="T8" fmla="*/ 243 w 1031"/>
                <a:gd name="T9" fmla="*/ 16 h 527"/>
                <a:gd name="T10" fmla="*/ 17 w 1031"/>
                <a:gd name="T11" fmla="*/ 221 h 527"/>
                <a:gd name="T12" fmla="*/ 17 w 1031"/>
                <a:gd name="T13" fmla="*/ 277 h 527"/>
                <a:gd name="T14" fmla="*/ 243 w 1031"/>
                <a:gd name="T15" fmla="*/ 482 h 527"/>
                <a:gd name="T16" fmla="*/ 274 w 1031"/>
                <a:gd name="T17" fmla="*/ 468 h 527"/>
                <a:gd name="T18" fmla="*/ 274 w 1031"/>
                <a:gd name="T19" fmla="*/ 416 h 527"/>
                <a:gd name="T20" fmla="*/ 874 w 1031"/>
                <a:gd name="T21" fmla="*/ 416 h 527"/>
                <a:gd name="T22" fmla="*/ 912 w 1031"/>
                <a:gd name="T23" fmla="*/ 416 h 527"/>
                <a:gd name="T24" fmla="*/ 1031 w 1031"/>
                <a:gd name="T25" fmla="*/ 527 h 527"/>
                <a:gd name="T26" fmla="*/ 1031 w 1031"/>
                <a:gd name="T27" fmla="*/ 332 h 527"/>
                <a:gd name="T28" fmla="*/ 1031 w 1031"/>
                <a:gd name="T29" fmla="*/ 332 h 527"/>
                <a:gd name="T30" fmla="*/ 1031 w 1031"/>
                <a:gd name="T31" fmla="*/ 323 h 527"/>
                <a:gd name="T32" fmla="*/ 1031 w 1031"/>
                <a:gd name="T33" fmla="*/ 181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31" h="527">
                  <a:moveTo>
                    <a:pt x="1031" y="181"/>
                  </a:moveTo>
                  <a:cubicBezTo>
                    <a:pt x="1031" y="130"/>
                    <a:pt x="990" y="88"/>
                    <a:pt x="938" y="88"/>
                  </a:cubicBezTo>
                  <a:cubicBezTo>
                    <a:pt x="274" y="88"/>
                    <a:pt x="274" y="88"/>
                    <a:pt x="274" y="88"/>
                  </a:cubicBezTo>
                  <a:cubicBezTo>
                    <a:pt x="274" y="30"/>
                    <a:pt x="274" y="30"/>
                    <a:pt x="274" y="30"/>
                  </a:cubicBezTo>
                  <a:cubicBezTo>
                    <a:pt x="274" y="7"/>
                    <a:pt x="260" y="0"/>
                    <a:pt x="243" y="16"/>
                  </a:cubicBezTo>
                  <a:cubicBezTo>
                    <a:pt x="17" y="221"/>
                    <a:pt x="17" y="221"/>
                    <a:pt x="17" y="221"/>
                  </a:cubicBezTo>
                  <a:cubicBezTo>
                    <a:pt x="0" y="236"/>
                    <a:pt x="0" y="261"/>
                    <a:pt x="17" y="277"/>
                  </a:cubicBezTo>
                  <a:cubicBezTo>
                    <a:pt x="243" y="482"/>
                    <a:pt x="243" y="482"/>
                    <a:pt x="243" y="482"/>
                  </a:cubicBezTo>
                  <a:cubicBezTo>
                    <a:pt x="260" y="497"/>
                    <a:pt x="274" y="491"/>
                    <a:pt x="274" y="468"/>
                  </a:cubicBezTo>
                  <a:cubicBezTo>
                    <a:pt x="274" y="416"/>
                    <a:pt x="274" y="416"/>
                    <a:pt x="274" y="416"/>
                  </a:cubicBezTo>
                  <a:cubicBezTo>
                    <a:pt x="874" y="416"/>
                    <a:pt x="874" y="416"/>
                    <a:pt x="874" y="416"/>
                  </a:cubicBezTo>
                  <a:cubicBezTo>
                    <a:pt x="912" y="416"/>
                    <a:pt x="912" y="416"/>
                    <a:pt x="912" y="416"/>
                  </a:cubicBezTo>
                  <a:cubicBezTo>
                    <a:pt x="975" y="416"/>
                    <a:pt x="1027" y="465"/>
                    <a:pt x="1031" y="527"/>
                  </a:cubicBezTo>
                  <a:cubicBezTo>
                    <a:pt x="1031" y="332"/>
                    <a:pt x="1031" y="332"/>
                    <a:pt x="1031" y="332"/>
                  </a:cubicBezTo>
                  <a:cubicBezTo>
                    <a:pt x="1031" y="332"/>
                    <a:pt x="1031" y="332"/>
                    <a:pt x="1031" y="332"/>
                  </a:cubicBezTo>
                  <a:cubicBezTo>
                    <a:pt x="1031" y="329"/>
                    <a:pt x="1031" y="326"/>
                    <a:pt x="1031" y="323"/>
                  </a:cubicBezTo>
                  <a:lnTo>
                    <a:pt x="1031" y="18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/>
          </p:spPr>
          <p:txBody>
            <a:bodyPr vert="horz" wrap="square" lIns="96430" tIns="48216" rIns="96430" bIns="48216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49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Freeform 3730">
              <a:extLst>
                <a:ext uri="{FF2B5EF4-FFF2-40B4-BE49-F238E27FC236}">
                  <a16:creationId xmlns:a16="http://schemas.microsoft.com/office/drawing/2014/main" id="{0BB286FF-ABA4-4C77-98A9-37ADA7F39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9712" y="2561263"/>
              <a:ext cx="3069033" cy="1565963"/>
            </a:xfrm>
            <a:custGeom>
              <a:avLst/>
              <a:gdLst>
                <a:gd name="T0" fmla="*/ 1031 w 1031"/>
                <a:gd name="T1" fmla="*/ 180 h 526"/>
                <a:gd name="T2" fmla="*/ 938 w 1031"/>
                <a:gd name="T3" fmla="*/ 87 h 526"/>
                <a:gd name="T4" fmla="*/ 274 w 1031"/>
                <a:gd name="T5" fmla="*/ 87 h 526"/>
                <a:gd name="T6" fmla="*/ 274 w 1031"/>
                <a:gd name="T7" fmla="*/ 29 h 526"/>
                <a:gd name="T8" fmla="*/ 243 w 1031"/>
                <a:gd name="T9" fmla="*/ 15 h 526"/>
                <a:gd name="T10" fmla="*/ 17 w 1031"/>
                <a:gd name="T11" fmla="*/ 220 h 526"/>
                <a:gd name="T12" fmla="*/ 17 w 1031"/>
                <a:gd name="T13" fmla="*/ 276 h 526"/>
                <a:gd name="T14" fmla="*/ 243 w 1031"/>
                <a:gd name="T15" fmla="*/ 481 h 526"/>
                <a:gd name="T16" fmla="*/ 274 w 1031"/>
                <a:gd name="T17" fmla="*/ 467 h 526"/>
                <a:gd name="T18" fmla="*/ 274 w 1031"/>
                <a:gd name="T19" fmla="*/ 415 h 526"/>
                <a:gd name="T20" fmla="*/ 874 w 1031"/>
                <a:gd name="T21" fmla="*/ 415 h 526"/>
                <a:gd name="T22" fmla="*/ 912 w 1031"/>
                <a:gd name="T23" fmla="*/ 415 h 526"/>
                <a:gd name="T24" fmla="*/ 1031 w 1031"/>
                <a:gd name="T25" fmla="*/ 526 h 526"/>
                <a:gd name="T26" fmla="*/ 1031 w 1031"/>
                <a:gd name="T27" fmla="*/ 331 h 526"/>
                <a:gd name="T28" fmla="*/ 1031 w 1031"/>
                <a:gd name="T29" fmla="*/ 331 h 526"/>
                <a:gd name="T30" fmla="*/ 1031 w 1031"/>
                <a:gd name="T31" fmla="*/ 322 h 526"/>
                <a:gd name="T32" fmla="*/ 1031 w 1031"/>
                <a:gd name="T33" fmla="*/ 18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31" h="526">
                  <a:moveTo>
                    <a:pt x="1031" y="180"/>
                  </a:moveTo>
                  <a:cubicBezTo>
                    <a:pt x="1031" y="129"/>
                    <a:pt x="990" y="87"/>
                    <a:pt x="938" y="87"/>
                  </a:cubicBezTo>
                  <a:cubicBezTo>
                    <a:pt x="274" y="87"/>
                    <a:pt x="274" y="87"/>
                    <a:pt x="274" y="87"/>
                  </a:cubicBezTo>
                  <a:cubicBezTo>
                    <a:pt x="274" y="29"/>
                    <a:pt x="274" y="29"/>
                    <a:pt x="274" y="29"/>
                  </a:cubicBezTo>
                  <a:cubicBezTo>
                    <a:pt x="274" y="6"/>
                    <a:pt x="260" y="0"/>
                    <a:pt x="243" y="15"/>
                  </a:cubicBezTo>
                  <a:cubicBezTo>
                    <a:pt x="17" y="220"/>
                    <a:pt x="17" y="220"/>
                    <a:pt x="17" y="220"/>
                  </a:cubicBezTo>
                  <a:cubicBezTo>
                    <a:pt x="0" y="235"/>
                    <a:pt x="0" y="261"/>
                    <a:pt x="17" y="276"/>
                  </a:cubicBezTo>
                  <a:cubicBezTo>
                    <a:pt x="243" y="481"/>
                    <a:pt x="243" y="481"/>
                    <a:pt x="243" y="481"/>
                  </a:cubicBezTo>
                  <a:cubicBezTo>
                    <a:pt x="260" y="496"/>
                    <a:pt x="274" y="490"/>
                    <a:pt x="274" y="467"/>
                  </a:cubicBezTo>
                  <a:cubicBezTo>
                    <a:pt x="274" y="415"/>
                    <a:pt x="274" y="415"/>
                    <a:pt x="274" y="415"/>
                  </a:cubicBezTo>
                  <a:cubicBezTo>
                    <a:pt x="874" y="415"/>
                    <a:pt x="874" y="415"/>
                    <a:pt x="874" y="415"/>
                  </a:cubicBezTo>
                  <a:cubicBezTo>
                    <a:pt x="912" y="415"/>
                    <a:pt x="912" y="415"/>
                    <a:pt x="912" y="415"/>
                  </a:cubicBezTo>
                  <a:cubicBezTo>
                    <a:pt x="975" y="415"/>
                    <a:pt x="1027" y="464"/>
                    <a:pt x="1031" y="526"/>
                  </a:cubicBezTo>
                  <a:cubicBezTo>
                    <a:pt x="1031" y="331"/>
                    <a:pt x="1031" y="331"/>
                    <a:pt x="1031" y="331"/>
                  </a:cubicBezTo>
                  <a:cubicBezTo>
                    <a:pt x="1031" y="331"/>
                    <a:pt x="1031" y="331"/>
                    <a:pt x="1031" y="331"/>
                  </a:cubicBezTo>
                  <a:cubicBezTo>
                    <a:pt x="1031" y="328"/>
                    <a:pt x="1031" y="325"/>
                    <a:pt x="1031" y="322"/>
                  </a:cubicBezTo>
                  <a:lnTo>
                    <a:pt x="1031" y="18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/>
          </p:spPr>
          <p:txBody>
            <a:bodyPr vert="horz" wrap="square" lIns="96430" tIns="48216" rIns="96430" bIns="48216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49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B5A4B4E-E471-4B21-A2E4-E4C0B770F2F4}"/>
              </a:ext>
            </a:extLst>
          </p:cNvPr>
          <p:cNvGrpSpPr/>
          <p:nvPr/>
        </p:nvGrpSpPr>
        <p:grpSpPr>
          <a:xfrm>
            <a:off x="6068705" y="1929915"/>
            <a:ext cx="4753158" cy="1241449"/>
            <a:chOff x="6428745" y="1195294"/>
            <a:chExt cx="2381016" cy="1241449"/>
          </a:xfrm>
        </p:grpSpPr>
        <p:sp>
          <p:nvSpPr>
            <p:cNvPr id="15" name="Freeform 3735">
              <a:extLst>
                <a:ext uri="{FF2B5EF4-FFF2-40B4-BE49-F238E27FC236}">
                  <a16:creationId xmlns:a16="http://schemas.microsoft.com/office/drawing/2014/main" id="{611C5161-1DE7-455B-ABC7-CC5E95FAB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8745" y="1221707"/>
              <a:ext cx="2381016" cy="1215036"/>
            </a:xfrm>
            <a:custGeom>
              <a:avLst/>
              <a:gdLst>
                <a:gd name="T0" fmla="*/ 0 w 800"/>
                <a:gd name="T1" fmla="*/ 140 h 408"/>
                <a:gd name="T2" fmla="*/ 72 w 800"/>
                <a:gd name="T3" fmla="*/ 68 h 408"/>
                <a:gd name="T4" fmla="*/ 587 w 800"/>
                <a:gd name="T5" fmla="*/ 68 h 408"/>
                <a:gd name="T6" fmla="*/ 587 w 800"/>
                <a:gd name="T7" fmla="*/ 23 h 408"/>
                <a:gd name="T8" fmla="*/ 611 w 800"/>
                <a:gd name="T9" fmla="*/ 12 h 408"/>
                <a:gd name="T10" fmla="*/ 786 w 800"/>
                <a:gd name="T11" fmla="*/ 171 h 408"/>
                <a:gd name="T12" fmla="*/ 786 w 800"/>
                <a:gd name="T13" fmla="*/ 214 h 408"/>
                <a:gd name="T14" fmla="*/ 611 w 800"/>
                <a:gd name="T15" fmla="*/ 373 h 408"/>
                <a:gd name="T16" fmla="*/ 587 w 800"/>
                <a:gd name="T17" fmla="*/ 362 h 408"/>
                <a:gd name="T18" fmla="*/ 587 w 800"/>
                <a:gd name="T19" fmla="*/ 322 h 408"/>
                <a:gd name="T20" fmla="*/ 122 w 800"/>
                <a:gd name="T21" fmla="*/ 322 h 408"/>
                <a:gd name="T22" fmla="*/ 92 w 800"/>
                <a:gd name="T23" fmla="*/ 322 h 408"/>
                <a:gd name="T24" fmla="*/ 0 w 800"/>
                <a:gd name="T25" fmla="*/ 408 h 408"/>
                <a:gd name="T26" fmla="*/ 0 w 800"/>
                <a:gd name="T27" fmla="*/ 257 h 408"/>
                <a:gd name="T28" fmla="*/ 0 w 800"/>
                <a:gd name="T29" fmla="*/ 257 h 408"/>
                <a:gd name="T30" fmla="*/ 0 w 800"/>
                <a:gd name="T31" fmla="*/ 250 h 408"/>
                <a:gd name="T32" fmla="*/ 0 w 800"/>
                <a:gd name="T33" fmla="*/ 14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00" h="408">
                  <a:moveTo>
                    <a:pt x="0" y="140"/>
                  </a:moveTo>
                  <a:cubicBezTo>
                    <a:pt x="0" y="100"/>
                    <a:pt x="32" y="68"/>
                    <a:pt x="72" y="68"/>
                  </a:cubicBezTo>
                  <a:cubicBezTo>
                    <a:pt x="587" y="68"/>
                    <a:pt x="587" y="68"/>
                    <a:pt x="587" y="68"/>
                  </a:cubicBezTo>
                  <a:cubicBezTo>
                    <a:pt x="587" y="23"/>
                    <a:pt x="587" y="23"/>
                    <a:pt x="587" y="23"/>
                  </a:cubicBezTo>
                  <a:cubicBezTo>
                    <a:pt x="587" y="5"/>
                    <a:pt x="598" y="0"/>
                    <a:pt x="611" y="12"/>
                  </a:cubicBezTo>
                  <a:cubicBezTo>
                    <a:pt x="786" y="171"/>
                    <a:pt x="786" y="171"/>
                    <a:pt x="786" y="171"/>
                  </a:cubicBezTo>
                  <a:cubicBezTo>
                    <a:pt x="800" y="183"/>
                    <a:pt x="800" y="202"/>
                    <a:pt x="786" y="214"/>
                  </a:cubicBezTo>
                  <a:cubicBezTo>
                    <a:pt x="611" y="373"/>
                    <a:pt x="611" y="373"/>
                    <a:pt x="611" y="373"/>
                  </a:cubicBezTo>
                  <a:cubicBezTo>
                    <a:pt x="598" y="385"/>
                    <a:pt x="587" y="380"/>
                    <a:pt x="587" y="362"/>
                  </a:cubicBezTo>
                  <a:cubicBezTo>
                    <a:pt x="587" y="322"/>
                    <a:pt x="587" y="322"/>
                    <a:pt x="587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92" y="322"/>
                    <a:pt x="92" y="322"/>
                    <a:pt x="92" y="322"/>
                  </a:cubicBezTo>
                  <a:cubicBezTo>
                    <a:pt x="43" y="322"/>
                    <a:pt x="3" y="360"/>
                    <a:pt x="0" y="408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0" y="255"/>
                    <a:pt x="0" y="252"/>
                    <a:pt x="0" y="250"/>
                  </a:cubicBezTo>
                  <a:lnTo>
                    <a:pt x="0" y="14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/>
          </p:spPr>
          <p:txBody>
            <a:bodyPr vert="horz" wrap="square" lIns="96430" tIns="48216" rIns="96430" bIns="48216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49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Freeform 3736">
              <a:extLst>
                <a:ext uri="{FF2B5EF4-FFF2-40B4-BE49-F238E27FC236}">
                  <a16:creationId xmlns:a16="http://schemas.microsoft.com/office/drawing/2014/main" id="{D9B619A8-E2FC-4A89-8A5D-9A3F4E8CF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8745" y="1195294"/>
              <a:ext cx="2381016" cy="1213777"/>
            </a:xfrm>
            <a:custGeom>
              <a:avLst/>
              <a:gdLst>
                <a:gd name="T0" fmla="*/ 0 w 800"/>
                <a:gd name="T1" fmla="*/ 140 h 408"/>
                <a:gd name="T2" fmla="*/ 72 w 800"/>
                <a:gd name="T3" fmla="*/ 68 h 408"/>
                <a:gd name="T4" fmla="*/ 587 w 800"/>
                <a:gd name="T5" fmla="*/ 68 h 408"/>
                <a:gd name="T6" fmla="*/ 587 w 800"/>
                <a:gd name="T7" fmla="*/ 23 h 408"/>
                <a:gd name="T8" fmla="*/ 611 w 800"/>
                <a:gd name="T9" fmla="*/ 12 h 408"/>
                <a:gd name="T10" fmla="*/ 786 w 800"/>
                <a:gd name="T11" fmla="*/ 171 h 408"/>
                <a:gd name="T12" fmla="*/ 786 w 800"/>
                <a:gd name="T13" fmla="*/ 214 h 408"/>
                <a:gd name="T14" fmla="*/ 611 w 800"/>
                <a:gd name="T15" fmla="*/ 373 h 408"/>
                <a:gd name="T16" fmla="*/ 587 w 800"/>
                <a:gd name="T17" fmla="*/ 362 h 408"/>
                <a:gd name="T18" fmla="*/ 587 w 800"/>
                <a:gd name="T19" fmla="*/ 322 h 408"/>
                <a:gd name="T20" fmla="*/ 122 w 800"/>
                <a:gd name="T21" fmla="*/ 322 h 408"/>
                <a:gd name="T22" fmla="*/ 92 w 800"/>
                <a:gd name="T23" fmla="*/ 322 h 408"/>
                <a:gd name="T24" fmla="*/ 0 w 800"/>
                <a:gd name="T25" fmla="*/ 408 h 408"/>
                <a:gd name="T26" fmla="*/ 0 w 800"/>
                <a:gd name="T27" fmla="*/ 257 h 408"/>
                <a:gd name="T28" fmla="*/ 0 w 800"/>
                <a:gd name="T29" fmla="*/ 257 h 408"/>
                <a:gd name="T30" fmla="*/ 0 w 800"/>
                <a:gd name="T31" fmla="*/ 250 h 408"/>
                <a:gd name="T32" fmla="*/ 0 w 800"/>
                <a:gd name="T33" fmla="*/ 14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00" h="408">
                  <a:moveTo>
                    <a:pt x="0" y="140"/>
                  </a:moveTo>
                  <a:cubicBezTo>
                    <a:pt x="0" y="100"/>
                    <a:pt x="32" y="68"/>
                    <a:pt x="72" y="68"/>
                  </a:cubicBezTo>
                  <a:cubicBezTo>
                    <a:pt x="587" y="68"/>
                    <a:pt x="587" y="68"/>
                    <a:pt x="587" y="68"/>
                  </a:cubicBezTo>
                  <a:cubicBezTo>
                    <a:pt x="587" y="23"/>
                    <a:pt x="587" y="23"/>
                    <a:pt x="587" y="23"/>
                  </a:cubicBezTo>
                  <a:cubicBezTo>
                    <a:pt x="587" y="5"/>
                    <a:pt x="598" y="0"/>
                    <a:pt x="611" y="12"/>
                  </a:cubicBezTo>
                  <a:cubicBezTo>
                    <a:pt x="786" y="171"/>
                    <a:pt x="786" y="171"/>
                    <a:pt x="786" y="171"/>
                  </a:cubicBezTo>
                  <a:cubicBezTo>
                    <a:pt x="800" y="183"/>
                    <a:pt x="800" y="202"/>
                    <a:pt x="786" y="214"/>
                  </a:cubicBezTo>
                  <a:cubicBezTo>
                    <a:pt x="611" y="373"/>
                    <a:pt x="611" y="373"/>
                    <a:pt x="611" y="373"/>
                  </a:cubicBezTo>
                  <a:cubicBezTo>
                    <a:pt x="598" y="385"/>
                    <a:pt x="587" y="380"/>
                    <a:pt x="587" y="362"/>
                  </a:cubicBezTo>
                  <a:cubicBezTo>
                    <a:pt x="587" y="322"/>
                    <a:pt x="587" y="322"/>
                    <a:pt x="587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92" y="322"/>
                    <a:pt x="92" y="322"/>
                    <a:pt x="92" y="322"/>
                  </a:cubicBezTo>
                  <a:cubicBezTo>
                    <a:pt x="43" y="322"/>
                    <a:pt x="3" y="360"/>
                    <a:pt x="0" y="408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0" y="254"/>
                    <a:pt x="0" y="252"/>
                    <a:pt x="0" y="250"/>
                  </a:cubicBezTo>
                  <a:lnTo>
                    <a:pt x="0" y="14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/>
          </p:spPr>
          <p:txBody>
            <a:bodyPr vert="horz" wrap="square" lIns="96430" tIns="48216" rIns="96430" bIns="48216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49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C7F9F43-7C3B-4B85-A3A8-DD6ECB161CCB}"/>
              </a:ext>
            </a:extLst>
          </p:cNvPr>
          <p:cNvGrpSpPr/>
          <p:nvPr/>
        </p:nvGrpSpPr>
        <p:grpSpPr>
          <a:xfrm>
            <a:off x="6068707" y="3105375"/>
            <a:ext cx="5905284" cy="1519062"/>
            <a:chOff x="6428747" y="2097136"/>
            <a:chExt cx="3070292" cy="1601181"/>
          </a:xfrm>
        </p:grpSpPr>
        <p:sp>
          <p:nvSpPr>
            <p:cNvPr id="18" name="Freeform 3741">
              <a:extLst>
                <a:ext uri="{FF2B5EF4-FFF2-40B4-BE49-F238E27FC236}">
                  <a16:creationId xmlns:a16="http://schemas.microsoft.com/office/drawing/2014/main" id="{DDBE920B-2504-49E1-B76D-22CE24ED3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8747" y="2129840"/>
              <a:ext cx="3070292" cy="1568477"/>
            </a:xfrm>
            <a:custGeom>
              <a:avLst/>
              <a:gdLst>
                <a:gd name="T0" fmla="*/ 0 w 1032"/>
                <a:gd name="T1" fmla="*/ 181 h 527"/>
                <a:gd name="T2" fmla="*/ 93 w 1032"/>
                <a:gd name="T3" fmla="*/ 88 h 527"/>
                <a:gd name="T4" fmla="*/ 757 w 1032"/>
                <a:gd name="T5" fmla="*/ 88 h 527"/>
                <a:gd name="T6" fmla="*/ 757 w 1032"/>
                <a:gd name="T7" fmla="*/ 30 h 527"/>
                <a:gd name="T8" fmla="*/ 788 w 1032"/>
                <a:gd name="T9" fmla="*/ 16 h 527"/>
                <a:gd name="T10" fmla="*/ 1014 w 1032"/>
                <a:gd name="T11" fmla="*/ 221 h 527"/>
                <a:gd name="T12" fmla="*/ 1014 w 1032"/>
                <a:gd name="T13" fmla="*/ 277 h 527"/>
                <a:gd name="T14" fmla="*/ 788 w 1032"/>
                <a:gd name="T15" fmla="*/ 482 h 527"/>
                <a:gd name="T16" fmla="*/ 757 w 1032"/>
                <a:gd name="T17" fmla="*/ 468 h 527"/>
                <a:gd name="T18" fmla="*/ 757 w 1032"/>
                <a:gd name="T19" fmla="*/ 416 h 527"/>
                <a:gd name="T20" fmla="*/ 157 w 1032"/>
                <a:gd name="T21" fmla="*/ 416 h 527"/>
                <a:gd name="T22" fmla="*/ 119 w 1032"/>
                <a:gd name="T23" fmla="*/ 416 h 527"/>
                <a:gd name="T24" fmla="*/ 0 w 1032"/>
                <a:gd name="T25" fmla="*/ 527 h 527"/>
                <a:gd name="T26" fmla="*/ 0 w 1032"/>
                <a:gd name="T27" fmla="*/ 332 h 527"/>
                <a:gd name="T28" fmla="*/ 1 w 1032"/>
                <a:gd name="T29" fmla="*/ 332 h 527"/>
                <a:gd name="T30" fmla="*/ 0 w 1032"/>
                <a:gd name="T31" fmla="*/ 323 h 527"/>
                <a:gd name="T32" fmla="*/ 0 w 1032"/>
                <a:gd name="T33" fmla="*/ 181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32" h="527">
                  <a:moveTo>
                    <a:pt x="0" y="181"/>
                  </a:moveTo>
                  <a:cubicBezTo>
                    <a:pt x="0" y="130"/>
                    <a:pt x="42" y="88"/>
                    <a:pt x="93" y="88"/>
                  </a:cubicBezTo>
                  <a:cubicBezTo>
                    <a:pt x="757" y="88"/>
                    <a:pt x="757" y="88"/>
                    <a:pt x="757" y="88"/>
                  </a:cubicBezTo>
                  <a:cubicBezTo>
                    <a:pt x="757" y="30"/>
                    <a:pt x="757" y="30"/>
                    <a:pt x="757" y="30"/>
                  </a:cubicBezTo>
                  <a:cubicBezTo>
                    <a:pt x="757" y="7"/>
                    <a:pt x="771" y="0"/>
                    <a:pt x="788" y="16"/>
                  </a:cubicBezTo>
                  <a:cubicBezTo>
                    <a:pt x="1014" y="221"/>
                    <a:pt x="1014" y="221"/>
                    <a:pt x="1014" y="221"/>
                  </a:cubicBezTo>
                  <a:cubicBezTo>
                    <a:pt x="1032" y="236"/>
                    <a:pt x="1032" y="261"/>
                    <a:pt x="1014" y="277"/>
                  </a:cubicBezTo>
                  <a:cubicBezTo>
                    <a:pt x="788" y="482"/>
                    <a:pt x="788" y="482"/>
                    <a:pt x="788" y="482"/>
                  </a:cubicBezTo>
                  <a:cubicBezTo>
                    <a:pt x="771" y="497"/>
                    <a:pt x="757" y="491"/>
                    <a:pt x="757" y="468"/>
                  </a:cubicBezTo>
                  <a:cubicBezTo>
                    <a:pt x="757" y="416"/>
                    <a:pt x="757" y="416"/>
                    <a:pt x="757" y="416"/>
                  </a:cubicBezTo>
                  <a:cubicBezTo>
                    <a:pt x="157" y="416"/>
                    <a:pt x="157" y="416"/>
                    <a:pt x="157" y="416"/>
                  </a:cubicBezTo>
                  <a:cubicBezTo>
                    <a:pt x="119" y="416"/>
                    <a:pt x="119" y="416"/>
                    <a:pt x="119" y="416"/>
                  </a:cubicBezTo>
                  <a:cubicBezTo>
                    <a:pt x="56" y="416"/>
                    <a:pt x="4" y="465"/>
                    <a:pt x="0" y="527"/>
                  </a:cubicBezTo>
                  <a:cubicBezTo>
                    <a:pt x="0" y="332"/>
                    <a:pt x="0" y="332"/>
                    <a:pt x="0" y="332"/>
                  </a:cubicBezTo>
                  <a:cubicBezTo>
                    <a:pt x="1" y="332"/>
                    <a:pt x="1" y="332"/>
                    <a:pt x="1" y="332"/>
                  </a:cubicBezTo>
                  <a:cubicBezTo>
                    <a:pt x="0" y="329"/>
                    <a:pt x="0" y="326"/>
                    <a:pt x="0" y="323"/>
                  </a:cubicBezTo>
                  <a:lnTo>
                    <a:pt x="0" y="18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/>
          </p:spPr>
          <p:txBody>
            <a:bodyPr vert="horz" wrap="square" lIns="96430" tIns="48216" rIns="96430" bIns="48216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49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Freeform 3742">
              <a:extLst>
                <a:ext uri="{FF2B5EF4-FFF2-40B4-BE49-F238E27FC236}">
                  <a16:creationId xmlns:a16="http://schemas.microsoft.com/office/drawing/2014/main" id="{C239EFF3-D1B8-4FD7-8D4E-5D04B5BB7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8747" y="2097136"/>
              <a:ext cx="3070292" cy="1565963"/>
            </a:xfrm>
            <a:custGeom>
              <a:avLst/>
              <a:gdLst>
                <a:gd name="T0" fmla="*/ 0 w 1032"/>
                <a:gd name="T1" fmla="*/ 180 h 526"/>
                <a:gd name="T2" fmla="*/ 93 w 1032"/>
                <a:gd name="T3" fmla="*/ 87 h 526"/>
                <a:gd name="T4" fmla="*/ 757 w 1032"/>
                <a:gd name="T5" fmla="*/ 87 h 526"/>
                <a:gd name="T6" fmla="*/ 757 w 1032"/>
                <a:gd name="T7" fmla="*/ 29 h 526"/>
                <a:gd name="T8" fmla="*/ 788 w 1032"/>
                <a:gd name="T9" fmla="*/ 15 h 526"/>
                <a:gd name="T10" fmla="*/ 1014 w 1032"/>
                <a:gd name="T11" fmla="*/ 220 h 526"/>
                <a:gd name="T12" fmla="*/ 1014 w 1032"/>
                <a:gd name="T13" fmla="*/ 276 h 526"/>
                <a:gd name="T14" fmla="*/ 788 w 1032"/>
                <a:gd name="T15" fmla="*/ 481 h 526"/>
                <a:gd name="T16" fmla="*/ 757 w 1032"/>
                <a:gd name="T17" fmla="*/ 467 h 526"/>
                <a:gd name="T18" fmla="*/ 757 w 1032"/>
                <a:gd name="T19" fmla="*/ 415 h 526"/>
                <a:gd name="T20" fmla="*/ 157 w 1032"/>
                <a:gd name="T21" fmla="*/ 415 h 526"/>
                <a:gd name="T22" fmla="*/ 119 w 1032"/>
                <a:gd name="T23" fmla="*/ 415 h 526"/>
                <a:gd name="T24" fmla="*/ 0 w 1032"/>
                <a:gd name="T25" fmla="*/ 526 h 526"/>
                <a:gd name="T26" fmla="*/ 0 w 1032"/>
                <a:gd name="T27" fmla="*/ 331 h 526"/>
                <a:gd name="T28" fmla="*/ 1 w 1032"/>
                <a:gd name="T29" fmla="*/ 331 h 526"/>
                <a:gd name="T30" fmla="*/ 0 w 1032"/>
                <a:gd name="T31" fmla="*/ 322 h 526"/>
                <a:gd name="T32" fmla="*/ 0 w 1032"/>
                <a:gd name="T33" fmla="*/ 18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32" h="526">
                  <a:moveTo>
                    <a:pt x="0" y="180"/>
                  </a:moveTo>
                  <a:cubicBezTo>
                    <a:pt x="0" y="129"/>
                    <a:pt x="42" y="87"/>
                    <a:pt x="93" y="87"/>
                  </a:cubicBezTo>
                  <a:cubicBezTo>
                    <a:pt x="757" y="87"/>
                    <a:pt x="757" y="87"/>
                    <a:pt x="757" y="87"/>
                  </a:cubicBezTo>
                  <a:cubicBezTo>
                    <a:pt x="757" y="29"/>
                    <a:pt x="757" y="29"/>
                    <a:pt x="757" y="29"/>
                  </a:cubicBezTo>
                  <a:cubicBezTo>
                    <a:pt x="757" y="6"/>
                    <a:pt x="771" y="0"/>
                    <a:pt x="788" y="15"/>
                  </a:cubicBezTo>
                  <a:cubicBezTo>
                    <a:pt x="1014" y="220"/>
                    <a:pt x="1014" y="220"/>
                    <a:pt x="1014" y="220"/>
                  </a:cubicBezTo>
                  <a:cubicBezTo>
                    <a:pt x="1032" y="235"/>
                    <a:pt x="1032" y="261"/>
                    <a:pt x="1014" y="276"/>
                  </a:cubicBezTo>
                  <a:cubicBezTo>
                    <a:pt x="788" y="481"/>
                    <a:pt x="788" y="481"/>
                    <a:pt x="788" y="481"/>
                  </a:cubicBezTo>
                  <a:cubicBezTo>
                    <a:pt x="771" y="496"/>
                    <a:pt x="757" y="490"/>
                    <a:pt x="757" y="467"/>
                  </a:cubicBezTo>
                  <a:cubicBezTo>
                    <a:pt x="757" y="415"/>
                    <a:pt x="757" y="415"/>
                    <a:pt x="757" y="415"/>
                  </a:cubicBezTo>
                  <a:cubicBezTo>
                    <a:pt x="157" y="415"/>
                    <a:pt x="157" y="415"/>
                    <a:pt x="157" y="415"/>
                  </a:cubicBezTo>
                  <a:cubicBezTo>
                    <a:pt x="119" y="415"/>
                    <a:pt x="119" y="415"/>
                    <a:pt x="119" y="415"/>
                  </a:cubicBezTo>
                  <a:cubicBezTo>
                    <a:pt x="56" y="415"/>
                    <a:pt x="4" y="464"/>
                    <a:pt x="0" y="526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1" y="331"/>
                    <a:pt x="1" y="331"/>
                    <a:pt x="1" y="331"/>
                  </a:cubicBezTo>
                  <a:cubicBezTo>
                    <a:pt x="0" y="328"/>
                    <a:pt x="0" y="325"/>
                    <a:pt x="0" y="322"/>
                  </a:cubicBezTo>
                  <a:lnTo>
                    <a:pt x="0" y="1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 vert="horz" wrap="square" lIns="96430" tIns="48216" rIns="96430" bIns="48216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49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905ADB1-2C13-4AE7-9DF5-4D396583D64C}"/>
              </a:ext>
            </a:extLst>
          </p:cNvPr>
          <p:cNvGrpSpPr/>
          <p:nvPr/>
        </p:nvGrpSpPr>
        <p:grpSpPr>
          <a:xfrm>
            <a:off x="1187397" y="2579749"/>
            <a:ext cx="705474" cy="628870"/>
            <a:chOff x="4261556" y="2688368"/>
            <a:chExt cx="586135" cy="586135"/>
          </a:xfrm>
        </p:grpSpPr>
        <p:sp>
          <p:nvSpPr>
            <p:cNvPr id="21" name="Oval 3725">
              <a:extLst>
                <a:ext uri="{FF2B5EF4-FFF2-40B4-BE49-F238E27FC236}">
                  <a16:creationId xmlns:a16="http://schemas.microsoft.com/office/drawing/2014/main" id="{23680EAC-8C16-4BAF-8978-561548454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1556" y="2688368"/>
              <a:ext cx="586135" cy="5861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6430" tIns="48216" rIns="96430" bIns="48216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endParaRPr lang="en-GB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  <p:sp>
          <p:nvSpPr>
            <p:cNvPr id="25" name="Oval 3746">
              <a:extLst>
                <a:ext uri="{FF2B5EF4-FFF2-40B4-BE49-F238E27FC236}">
                  <a16:creationId xmlns:a16="http://schemas.microsoft.com/office/drawing/2014/main" id="{12701BC2-9B30-45DA-B93E-37C718D33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7076" y="2748113"/>
              <a:ext cx="23899" cy="2389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xtLst/>
          </p:spPr>
          <p:txBody>
            <a:bodyPr vert="horz" wrap="square" lIns="96430" tIns="48216" rIns="96430" bIns="48216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949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8" name="Oval 3737">
            <a:extLst>
              <a:ext uri="{FF2B5EF4-FFF2-40B4-BE49-F238E27FC236}">
                <a16:creationId xmlns:a16="http://schemas.microsoft.com/office/drawing/2014/main" id="{6A414062-69F6-45D3-A8BD-FEB63D311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5891" y="2224241"/>
            <a:ext cx="589908" cy="586135"/>
          </a:xfrm>
          <a:prstGeom prst="ellipse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6430" tIns="48216" rIns="96430" bIns="48216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en-GB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2" name="Oval 3722">
            <a:extLst>
              <a:ext uri="{FF2B5EF4-FFF2-40B4-BE49-F238E27FC236}">
                <a16:creationId xmlns:a16="http://schemas.microsoft.com/office/drawing/2014/main" id="{9A9155DA-443B-463A-9B73-7A72E9DB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7223" y="4971665"/>
            <a:ext cx="642736" cy="588876"/>
          </a:xfrm>
          <a:prstGeom prst="ellipse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6430" tIns="48216" rIns="96430" bIns="48216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5</a:t>
            </a:r>
            <a:endParaRPr lang="en-GB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8" name="Oval 3743">
            <a:extLst>
              <a:ext uri="{FF2B5EF4-FFF2-40B4-BE49-F238E27FC236}">
                <a16:creationId xmlns:a16="http://schemas.microsoft.com/office/drawing/2014/main" id="{7DF4A65E-BBC1-4E81-889D-0D17D743D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9981" y="3393890"/>
            <a:ext cx="755938" cy="755938"/>
          </a:xfrm>
          <a:prstGeom prst="ellipse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6430" tIns="48216" rIns="96430" bIns="48216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en-GB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5" name="Oval 3731">
            <a:extLst>
              <a:ext uri="{FF2B5EF4-FFF2-40B4-BE49-F238E27FC236}">
                <a16:creationId xmlns:a16="http://schemas.microsoft.com/office/drawing/2014/main" id="{B5608335-732D-4C9A-9CF2-88F5C7A4F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578" y="3973165"/>
            <a:ext cx="758455" cy="755938"/>
          </a:xfrm>
          <a:prstGeom prst="ellipse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6430" tIns="48216" rIns="96430" bIns="48216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4</a:t>
            </a:r>
            <a:endParaRPr lang="en-GB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9" name="TextBox 74">
            <a:extLst>
              <a:ext uri="{FF2B5EF4-FFF2-40B4-BE49-F238E27FC236}">
                <a16:creationId xmlns:a16="http://schemas.microsoft.com/office/drawing/2014/main" id="{C6245D2E-E5FD-4273-A447-800B1F18A8E2}"/>
              </a:ext>
            </a:extLst>
          </p:cNvPr>
          <p:cNvSpPr txBox="1"/>
          <p:nvPr/>
        </p:nvSpPr>
        <p:spPr>
          <a:xfrm>
            <a:off x="2396927" y="4083519"/>
            <a:ext cx="3506088" cy="565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计算总价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单价*数量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78">
            <a:extLst>
              <a:ext uri="{FF2B5EF4-FFF2-40B4-BE49-F238E27FC236}">
                <a16:creationId xmlns:a16="http://schemas.microsoft.com/office/drawing/2014/main" id="{66503A8B-F5EA-4EA6-A977-C1F51322C89B}"/>
              </a:ext>
            </a:extLst>
          </p:cNvPr>
          <p:cNvSpPr txBox="1"/>
          <p:nvPr/>
        </p:nvSpPr>
        <p:spPr>
          <a:xfrm>
            <a:off x="6141343" y="3585661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根据商品序号确定商品单价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79">
            <a:extLst>
              <a:ext uri="{FF2B5EF4-FFF2-40B4-BE49-F238E27FC236}">
                <a16:creationId xmlns:a16="http://schemas.microsoft.com/office/drawing/2014/main" id="{B0C0D82C-E996-4349-AB02-3BF2E40197ED}"/>
              </a:ext>
            </a:extLst>
          </p:cNvPr>
          <p:cNvSpPr txBox="1"/>
          <p:nvPr/>
        </p:nvSpPr>
        <p:spPr>
          <a:xfrm>
            <a:off x="6211593" y="2251869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显示商品和价格列表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Box 80">
            <a:extLst>
              <a:ext uri="{FF2B5EF4-FFF2-40B4-BE49-F238E27FC236}">
                <a16:creationId xmlns:a16="http://schemas.microsoft.com/office/drawing/2014/main" id="{6241A931-ECFF-42E5-9AD6-F2E1474077AA}"/>
              </a:ext>
            </a:extLst>
          </p:cNvPr>
          <p:cNvSpPr txBox="1"/>
          <p:nvPr/>
        </p:nvSpPr>
        <p:spPr>
          <a:xfrm>
            <a:off x="1903151" y="2626780"/>
            <a:ext cx="4356666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顾客输入商品序号和数量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Box 81">
            <a:extLst>
              <a:ext uri="{FF2B5EF4-FFF2-40B4-BE49-F238E27FC236}">
                <a16:creationId xmlns:a16="http://schemas.microsoft.com/office/drawing/2014/main" id="{B9065D37-9AAD-486B-9F81-FCF254DC9FA4}"/>
              </a:ext>
            </a:extLst>
          </p:cNvPr>
          <p:cNvSpPr txBox="1"/>
          <p:nvPr/>
        </p:nvSpPr>
        <p:spPr>
          <a:xfrm>
            <a:off x="6158616" y="4994937"/>
            <a:ext cx="3057247" cy="565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输出购买商品总价</a:t>
            </a:r>
          </a:p>
        </p:txBody>
      </p:sp>
      <p:sp>
        <p:nvSpPr>
          <p:cNvPr id="65" name="Rectangle 2">
            <a:extLst>
              <a:ext uri="{FF2B5EF4-FFF2-40B4-BE49-F238E27FC236}">
                <a16:creationId xmlns:a16="http://schemas.microsoft.com/office/drawing/2014/main" id="{A6A92398-015C-498A-9C34-4CB36E281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804" y="375965"/>
            <a:ext cx="8197003" cy="1205442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自动售货机问题</a:t>
            </a:r>
          </a:p>
        </p:txBody>
      </p:sp>
    </p:spTree>
    <p:extLst>
      <p:ext uri="{BB962C8B-B14F-4D97-AF65-F5344CB8AC3E}">
        <p14:creationId xmlns:p14="http://schemas.microsoft.com/office/powerpoint/2010/main" val="407860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2" grpId="0" animBg="1"/>
      <p:bldP spid="48" grpId="0" animBg="1"/>
      <p:bldP spid="55" grpId="0" animBg="1"/>
      <p:bldP spid="59" grpId="0"/>
      <p:bldP spid="61" grpId="0"/>
      <p:bldP spid="62" grpId="0"/>
      <p:bldP spid="63" grpId="0"/>
      <p:bldP spid="6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57"/>
          <p:cNvGrpSpPr/>
          <p:nvPr/>
        </p:nvGrpSpPr>
        <p:grpSpPr bwMode="auto">
          <a:xfrm>
            <a:off x="4478903" y="375965"/>
            <a:ext cx="3900943" cy="3838996"/>
            <a:chOff x="0" y="0"/>
            <a:chExt cx="4846320" cy="4437330"/>
          </a:xfrm>
        </p:grpSpPr>
        <p:sp>
          <p:nvSpPr>
            <p:cNvPr id="2060" name="Freeform 5"/>
            <p:cNvSpPr>
              <a:spLocks noChangeArrowheads="1"/>
            </p:cNvSpPr>
            <p:nvPr/>
          </p:nvSpPr>
          <p:spPr bwMode="auto">
            <a:xfrm>
              <a:off x="400195" y="2192278"/>
              <a:ext cx="4446125" cy="738822"/>
            </a:xfrm>
            <a:custGeom>
              <a:avLst/>
              <a:gdLst>
                <a:gd name="T0" fmla="*/ 4297834 w 1709"/>
                <a:gd name="T1" fmla="*/ 738822 h 284"/>
                <a:gd name="T2" fmla="*/ 148291 w 1709"/>
                <a:gd name="T3" fmla="*/ 738822 h 284"/>
                <a:gd name="T4" fmla="*/ 0 w 1709"/>
                <a:gd name="T5" fmla="*/ 590537 h 284"/>
                <a:gd name="T6" fmla="*/ 0 w 1709"/>
                <a:gd name="T7" fmla="*/ 145683 h 284"/>
                <a:gd name="T8" fmla="*/ 148291 w 1709"/>
                <a:gd name="T9" fmla="*/ 0 h 284"/>
                <a:gd name="T10" fmla="*/ 4297834 w 1709"/>
                <a:gd name="T11" fmla="*/ 0 h 284"/>
                <a:gd name="T12" fmla="*/ 4446125 w 1709"/>
                <a:gd name="T13" fmla="*/ 145683 h 284"/>
                <a:gd name="T14" fmla="*/ 4446125 w 1709"/>
                <a:gd name="T15" fmla="*/ 590537 h 284"/>
                <a:gd name="T16" fmla="*/ 4297834 w 1709"/>
                <a:gd name="T17" fmla="*/ 738822 h 2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09"/>
                <a:gd name="T28" fmla="*/ 0 h 284"/>
                <a:gd name="T29" fmla="*/ 1709 w 1709"/>
                <a:gd name="T30" fmla="*/ 284 h 2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09" h="284">
                  <a:moveTo>
                    <a:pt x="1652" y="284"/>
                  </a:moveTo>
                  <a:cubicBezTo>
                    <a:pt x="57" y="284"/>
                    <a:pt x="57" y="284"/>
                    <a:pt x="57" y="284"/>
                  </a:cubicBezTo>
                  <a:cubicBezTo>
                    <a:pt x="26" y="284"/>
                    <a:pt x="0" y="258"/>
                    <a:pt x="0" y="22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1652" y="0"/>
                    <a:pt x="1652" y="0"/>
                    <a:pt x="1652" y="0"/>
                  </a:cubicBezTo>
                  <a:cubicBezTo>
                    <a:pt x="1683" y="0"/>
                    <a:pt x="1709" y="25"/>
                    <a:pt x="1709" y="56"/>
                  </a:cubicBezTo>
                  <a:cubicBezTo>
                    <a:pt x="1709" y="227"/>
                    <a:pt x="1709" y="227"/>
                    <a:pt x="1709" y="227"/>
                  </a:cubicBezTo>
                  <a:cubicBezTo>
                    <a:pt x="1709" y="258"/>
                    <a:pt x="1683" y="284"/>
                    <a:pt x="1652" y="284"/>
                  </a:cubicBez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Rectangle 6"/>
            <p:cNvSpPr>
              <a:spLocks noChangeArrowheads="1"/>
            </p:cNvSpPr>
            <p:nvPr/>
          </p:nvSpPr>
          <p:spPr bwMode="auto">
            <a:xfrm>
              <a:off x="400195" y="2561689"/>
              <a:ext cx="4446125" cy="369411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2" name="Freeform 7"/>
            <p:cNvSpPr>
              <a:spLocks noChangeArrowheads="1"/>
            </p:cNvSpPr>
            <p:nvPr/>
          </p:nvSpPr>
          <p:spPr bwMode="auto">
            <a:xfrm>
              <a:off x="931224" y="2237355"/>
              <a:ext cx="531029" cy="626679"/>
            </a:xfrm>
            <a:custGeom>
              <a:avLst/>
              <a:gdLst>
                <a:gd name="T0" fmla="*/ 484174 w 204"/>
                <a:gd name="T1" fmla="*/ 626679 h 241"/>
                <a:gd name="T2" fmla="*/ 46856 w 204"/>
                <a:gd name="T3" fmla="*/ 626679 h 241"/>
                <a:gd name="T4" fmla="*/ 0 w 204"/>
                <a:gd name="T5" fmla="*/ 579873 h 241"/>
                <a:gd name="T6" fmla="*/ 0 w 204"/>
                <a:gd name="T7" fmla="*/ 44206 h 241"/>
                <a:gd name="T8" fmla="*/ 46856 w 204"/>
                <a:gd name="T9" fmla="*/ 0 h 241"/>
                <a:gd name="T10" fmla="*/ 484174 w 204"/>
                <a:gd name="T11" fmla="*/ 0 h 241"/>
                <a:gd name="T12" fmla="*/ 531029 w 204"/>
                <a:gd name="T13" fmla="*/ 44206 h 241"/>
                <a:gd name="T14" fmla="*/ 531029 w 204"/>
                <a:gd name="T15" fmla="*/ 579873 h 241"/>
                <a:gd name="T16" fmla="*/ 484174 w 204"/>
                <a:gd name="T17" fmla="*/ 626679 h 2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04"/>
                <a:gd name="T28" fmla="*/ 0 h 241"/>
                <a:gd name="T29" fmla="*/ 204 w 204"/>
                <a:gd name="T30" fmla="*/ 241 h 24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04" h="241">
                  <a:moveTo>
                    <a:pt x="186" y="241"/>
                  </a:moveTo>
                  <a:cubicBezTo>
                    <a:pt x="18" y="241"/>
                    <a:pt x="18" y="241"/>
                    <a:pt x="18" y="241"/>
                  </a:cubicBezTo>
                  <a:cubicBezTo>
                    <a:pt x="8" y="241"/>
                    <a:pt x="0" y="233"/>
                    <a:pt x="0" y="22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96" y="0"/>
                    <a:pt x="204" y="8"/>
                    <a:pt x="204" y="17"/>
                  </a:cubicBezTo>
                  <a:cubicBezTo>
                    <a:pt x="204" y="223"/>
                    <a:pt x="204" y="223"/>
                    <a:pt x="204" y="223"/>
                  </a:cubicBezTo>
                  <a:cubicBezTo>
                    <a:pt x="204" y="233"/>
                    <a:pt x="196" y="241"/>
                    <a:pt x="186" y="2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" name="Freeform 8"/>
            <p:cNvSpPr>
              <a:spLocks noChangeArrowheads="1"/>
            </p:cNvSpPr>
            <p:nvPr/>
          </p:nvSpPr>
          <p:spPr bwMode="auto">
            <a:xfrm>
              <a:off x="0" y="2931100"/>
              <a:ext cx="4682504" cy="1134619"/>
            </a:xfrm>
            <a:custGeom>
              <a:avLst/>
              <a:gdLst>
                <a:gd name="T0" fmla="*/ 4461386 w 1800"/>
                <a:gd name="T1" fmla="*/ 1038333 h 436"/>
                <a:gd name="T2" fmla="*/ 4461386 w 1800"/>
                <a:gd name="T3" fmla="*/ 96286 h 436"/>
                <a:gd name="T4" fmla="*/ 4682504 w 1800"/>
                <a:gd name="T5" fmla="*/ 96286 h 436"/>
                <a:gd name="T6" fmla="*/ 4682504 w 1800"/>
                <a:gd name="T7" fmla="*/ 0 h 436"/>
                <a:gd name="T8" fmla="*/ 179496 w 1800"/>
                <a:gd name="T9" fmla="*/ 0 h 436"/>
                <a:gd name="T10" fmla="*/ 0 w 1800"/>
                <a:gd name="T11" fmla="*/ 176959 h 436"/>
                <a:gd name="T12" fmla="*/ 0 w 1800"/>
                <a:gd name="T13" fmla="*/ 957660 h 436"/>
                <a:gd name="T14" fmla="*/ 179496 w 1800"/>
                <a:gd name="T15" fmla="*/ 1134619 h 436"/>
                <a:gd name="T16" fmla="*/ 4682504 w 1800"/>
                <a:gd name="T17" fmla="*/ 1134619 h 436"/>
                <a:gd name="T18" fmla="*/ 4682504 w 1800"/>
                <a:gd name="T19" fmla="*/ 1038333 h 436"/>
                <a:gd name="T20" fmla="*/ 4461386 w 1800"/>
                <a:gd name="T21" fmla="*/ 1038333 h 4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00"/>
                <a:gd name="T34" fmla="*/ 0 h 436"/>
                <a:gd name="T35" fmla="*/ 1800 w 1800"/>
                <a:gd name="T36" fmla="*/ 436 h 4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00" h="436">
                  <a:moveTo>
                    <a:pt x="1715" y="399"/>
                  </a:moveTo>
                  <a:cubicBezTo>
                    <a:pt x="1715" y="37"/>
                    <a:pt x="1715" y="37"/>
                    <a:pt x="1715" y="37"/>
                  </a:cubicBezTo>
                  <a:cubicBezTo>
                    <a:pt x="1800" y="37"/>
                    <a:pt x="1800" y="37"/>
                    <a:pt x="1800" y="37"/>
                  </a:cubicBezTo>
                  <a:cubicBezTo>
                    <a:pt x="1800" y="0"/>
                    <a:pt x="1800" y="0"/>
                    <a:pt x="180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1" y="0"/>
                    <a:pt x="0" y="30"/>
                    <a:pt x="0" y="68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0" y="405"/>
                    <a:pt x="31" y="436"/>
                    <a:pt x="69" y="436"/>
                  </a:cubicBezTo>
                  <a:cubicBezTo>
                    <a:pt x="1800" y="436"/>
                    <a:pt x="1800" y="436"/>
                    <a:pt x="1800" y="436"/>
                  </a:cubicBezTo>
                  <a:cubicBezTo>
                    <a:pt x="1800" y="399"/>
                    <a:pt x="1800" y="399"/>
                    <a:pt x="1800" y="399"/>
                  </a:cubicBezTo>
                  <a:lnTo>
                    <a:pt x="1715" y="3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" name="Freeform 9"/>
            <p:cNvSpPr>
              <a:spLocks noChangeArrowheads="1"/>
            </p:cNvSpPr>
            <p:nvPr/>
          </p:nvSpPr>
          <p:spPr bwMode="auto">
            <a:xfrm>
              <a:off x="119839" y="3027851"/>
              <a:ext cx="4446125" cy="941118"/>
            </a:xfrm>
            <a:custGeom>
              <a:avLst/>
              <a:gdLst>
                <a:gd name="T0" fmla="*/ 4446125 w 1709"/>
                <a:gd name="T1" fmla="*/ 0 h 362"/>
                <a:gd name="T2" fmla="*/ 166502 w 1709"/>
                <a:gd name="T3" fmla="*/ 0 h 362"/>
                <a:gd name="T4" fmla="*/ 0 w 1709"/>
                <a:gd name="T5" fmla="*/ 145587 h 362"/>
                <a:gd name="T6" fmla="*/ 0 w 1709"/>
                <a:gd name="T7" fmla="*/ 792931 h 362"/>
                <a:gd name="T8" fmla="*/ 166502 w 1709"/>
                <a:gd name="T9" fmla="*/ 941118 h 362"/>
                <a:gd name="T10" fmla="*/ 4446125 w 1709"/>
                <a:gd name="T11" fmla="*/ 941118 h 362"/>
                <a:gd name="T12" fmla="*/ 4446125 w 1709"/>
                <a:gd name="T13" fmla="*/ 0 h 3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09"/>
                <a:gd name="T22" fmla="*/ 0 h 362"/>
                <a:gd name="T23" fmla="*/ 1709 w 1709"/>
                <a:gd name="T24" fmla="*/ 362 h 3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09" h="362">
                  <a:moveTo>
                    <a:pt x="1709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29" y="0"/>
                    <a:pt x="0" y="25"/>
                    <a:pt x="0" y="56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36"/>
                    <a:pt x="29" y="362"/>
                    <a:pt x="64" y="362"/>
                  </a:cubicBezTo>
                  <a:cubicBezTo>
                    <a:pt x="1709" y="362"/>
                    <a:pt x="1709" y="362"/>
                    <a:pt x="1709" y="362"/>
                  </a:cubicBezTo>
                  <a:lnTo>
                    <a:pt x="17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" name="Rectangle 10"/>
            <p:cNvSpPr>
              <a:spLocks noChangeArrowheads="1"/>
            </p:cNvSpPr>
            <p:nvPr/>
          </p:nvSpPr>
          <p:spPr bwMode="auto">
            <a:xfrm>
              <a:off x="283655" y="3082822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6" name="Rectangle 11"/>
            <p:cNvSpPr>
              <a:spLocks noChangeArrowheads="1"/>
            </p:cNvSpPr>
            <p:nvPr/>
          </p:nvSpPr>
          <p:spPr bwMode="auto">
            <a:xfrm>
              <a:off x="283655" y="3155385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7" name="Rectangle 12"/>
            <p:cNvSpPr>
              <a:spLocks noChangeArrowheads="1"/>
            </p:cNvSpPr>
            <p:nvPr/>
          </p:nvSpPr>
          <p:spPr bwMode="auto">
            <a:xfrm>
              <a:off x="283655" y="3227948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8" name="Rectangle 13"/>
            <p:cNvSpPr>
              <a:spLocks noChangeArrowheads="1"/>
            </p:cNvSpPr>
            <p:nvPr/>
          </p:nvSpPr>
          <p:spPr bwMode="auto">
            <a:xfrm>
              <a:off x="283655" y="3303810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9" name="Rectangle 14"/>
            <p:cNvSpPr>
              <a:spLocks noChangeArrowheads="1"/>
            </p:cNvSpPr>
            <p:nvPr/>
          </p:nvSpPr>
          <p:spPr bwMode="auto">
            <a:xfrm>
              <a:off x="283655" y="3376373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0" name="Rectangle 15"/>
            <p:cNvSpPr>
              <a:spLocks noChangeArrowheads="1"/>
            </p:cNvSpPr>
            <p:nvPr/>
          </p:nvSpPr>
          <p:spPr bwMode="auto">
            <a:xfrm>
              <a:off x="283655" y="3448935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1" name="Rectangle 16"/>
            <p:cNvSpPr>
              <a:spLocks noChangeArrowheads="1"/>
            </p:cNvSpPr>
            <p:nvPr/>
          </p:nvSpPr>
          <p:spPr bwMode="auto">
            <a:xfrm>
              <a:off x="283655" y="3524796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2" name="Rectangle 17"/>
            <p:cNvSpPr>
              <a:spLocks noChangeArrowheads="1"/>
            </p:cNvSpPr>
            <p:nvPr/>
          </p:nvSpPr>
          <p:spPr bwMode="auto">
            <a:xfrm>
              <a:off x="283655" y="3597359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3" name="Rectangle 18"/>
            <p:cNvSpPr>
              <a:spLocks noChangeArrowheads="1"/>
            </p:cNvSpPr>
            <p:nvPr/>
          </p:nvSpPr>
          <p:spPr bwMode="auto">
            <a:xfrm>
              <a:off x="283655" y="3669922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4" name="Rectangle 19"/>
            <p:cNvSpPr>
              <a:spLocks noChangeArrowheads="1"/>
            </p:cNvSpPr>
            <p:nvPr/>
          </p:nvSpPr>
          <p:spPr bwMode="auto">
            <a:xfrm>
              <a:off x="283655" y="3745784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5" name="Rectangle 20"/>
            <p:cNvSpPr>
              <a:spLocks noChangeArrowheads="1"/>
            </p:cNvSpPr>
            <p:nvPr/>
          </p:nvSpPr>
          <p:spPr bwMode="auto">
            <a:xfrm>
              <a:off x="283655" y="3818346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6" name="Rectangle 21"/>
            <p:cNvSpPr>
              <a:spLocks noChangeArrowheads="1"/>
            </p:cNvSpPr>
            <p:nvPr/>
          </p:nvSpPr>
          <p:spPr bwMode="auto">
            <a:xfrm>
              <a:off x="283655" y="3890909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7" name="Freeform 22"/>
            <p:cNvSpPr>
              <a:spLocks noChangeArrowheads="1"/>
            </p:cNvSpPr>
            <p:nvPr/>
          </p:nvSpPr>
          <p:spPr bwMode="auto">
            <a:xfrm>
              <a:off x="283655" y="3473123"/>
              <a:ext cx="683850" cy="964207"/>
            </a:xfrm>
            <a:custGeom>
              <a:avLst/>
              <a:gdLst>
                <a:gd name="T0" fmla="*/ 0 w 622"/>
                <a:gd name="T1" fmla="*/ 0 h 877"/>
                <a:gd name="T2" fmla="*/ 683850 w 622"/>
                <a:gd name="T3" fmla="*/ 0 h 877"/>
                <a:gd name="T4" fmla="*/ 683850 w 622"/>
                <a:gd name="T5" fmla="*/ 964207 h 877"/>
                <a:gd name="T6" fmla="*/ 343024 w 622"/>
                <a:gd name="T7" fmla="*/ 714635 h 877"/>
                <a:gd name="T8" fmla="*/ 0 w 622"/>
                <a:gd name="T9" fmla="*/ 964207 h 877"/>
                <a:gd name="T10" fmla="*/ 0 w 622"/>
                <a:gd name="T11" fmla="*/ 0 h 8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2"/>
                <a:gd name="T19" fmla="*/ 0 h 877"/>
                <a:gd name="T20" fmla="*/ 622 w 622"/>
                <a:gd name="T21" fmla="*/ 877 h 8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2" h="877">
                  <a:moveTo>
                    <a:pt x="0" y="0"/>
                  </a:moveTo>
                  <a:lnTo>
                    <a:pt x="622" y="0"/>
                  </a:lnTo>
                  <a:lnTo>
                    <a:pt x="622" y="877"/>
                  </a:lnTo>
                  <a:lnTo>
                    <a:pt x="312" y="650"/>
                  </a:lnTo>
                  <a:lnTo>
                    <a:pt x="0" y="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" name="Rectangle 23"/>
            <p:cNvSpPr>
              <a:spLocks noChangeArrowheads="1"/>
            </p:cNvSpPr>
            <p:nvPr/>
          </p:nvSpPr>
          <p:spPr bwMode="auto">
            <a:xfrm>
              <a:off x="283655" y="3473123"/>
              <a:ext cx="683850" cy="196800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9" name="Freeform 24"/>
            <p:cNvSpPr>
              <a:spLocks noChangeArrowheads="1"/>
            </p:cNvSpPr>
            <p:nvPr/>
          </p:nvSpPr>
          <p:spPr bwMode="auto">
            <a:xfrm>
              <a:off x="967505" y="2723307"/>
              <a:ext cx="458466" cy="101148"/>
            </a:xfrm>
            <a:custGeom>
              <a:avLst/>
              <a:gdLst>
                <a:gd name="T0" fmla="*/ 408973 w 176"/>
                <a:gd name="T1" fmla="*/ 0 h 39"/>
                <a:gd name="T2" fmla="*/ 49493 w 176"/>
                <a:gd name="T3" fmla="*/ 0 h 39"/>
                <a:gd name="T4" fmla="*/ 0 w 176"/>
                <a:gd name="T5" fmla="*/ 49277 h 39"/>
                <a:gd name="T6" fmla="*/ 0 w 176"/>
                <a:gd name="T7" fmla="*/ 51871 h 39"/>
                <a:gd name="T8" fmla="*/ 49493 w 176"/>
                <a:gd name="T9" fmla="*/ 101148 h 39"/>
                <a:gd name="T10" fmla="*/ 408973 w 176"/>
                <a:gd name="T11" fmla="*/ 101148 h 39"/>
                <a:gd name="T12" fmla="*/ 458466 w 176"/>
                <a:gd name="T13" fmla="*/ 51871 h 39"/>
                <a:gd name="T14" fmla="*/ 458466 w 176"/>
                <a:gd name="T15" fmla="*/ 49277 h 39"/>
                <a:gd name="T16" fmla="*/ 408973 w 176"/>
                <a:gd name="T17" fmla="*/ 0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6"/>
                <a:gd name="T28" fmla="*/ 0 h 39"/>
                <a:gd name="T29" fmla="*/ 176 w 176"/>
                <a:gd name="T30" fmla="*/ 39 h 3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6" h="39">
                  <a:moveTo>
                    <a:pt x="157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30"/>
                    <a:pt x="9" y="39"/>
                    <a:pt x="19" y="39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68" y="39"/>
                    <a:pt x="176" y="30"/>
                    <a:pt x="176" y="20"/>
                  </a:cubicBezTo>
                  <a:cubicBezTo>
                    <a:pt x="176" y="19"/>
                    <a:pt x="176" y="19"/>
                    <a:pt x="176" y="19"/>
                  </a:cubicBezTo>
                  <a:cubicBezTo>
                    <a:pt x="176" y="8"/>
                    <a:pt x="168" y="0"/>
                    <a:pt x="15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" name="Freeform 25"/>
            <p:cNvSpPr>
              <a:spLocks noChangeArrowheads="1"/>
            </p:cNvSpPr>
            <p:nvPr/>
          </p:nvSpPr>
          <p:spPr bwMode="auto">
            <a:xfrm>
              <a:off x="967505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1" name="Freeform 26"/>
            <p:cNvSpPr>
              <a:spLocks noChangeArrowheads="1"/>
            </p:cNvSpPr>
            <p:nvPr/>
          </p:nvSpPr>
          <p:spPr bwMode="auto">
            <a:xfrm>
              <a:off x="1053261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2" name="Freeform 27"/>
            <p:cNvSpPr>
              <a:spLocks noChangeArrowheads="1"/>
            </p:cNvSpPr>
            <p:nvPr/>
          </p:nvSpPr>
          <p:spPr bwMode="auto">
            <a:xfrm>
              <a:off x="1146714" y="2291228"/>
              <a:ext cx="34083" cy="397996"/>
            </a:xfrm>
            <a:custGeom>
              <a:avLst/>
              <a:gdLst>
                <a:gd name="T0" fmla="*/ 18352 w 13"/>
                <a:gd name="T1" fmla="*/ 397996 h 153"/>
                <a:gd name="T2" fmla="*/ 18352 w 13"/>
                <a:gd name="T3" fmla="*/ 397996 h 153"/>
                <a:gd name="T4" fmla="*/ 0 w 13"/>
                <a:gd name="T5" fmla="*/ 379787 h 153"/>
                <a:gd name="T6" fmla="*/ 0 w 13"/>
                <a:gd name="T7" fmla="*/ 18209 h 153"/>
                <a:gd name="T8" fmla="*/ 18352 w 13"/>
                <a:gd name="T9" fmla="*/ 0 h 153"/>
                <a:gd name="T10" fmla="*/ 18352 w 13"/>
                <a:gd name="T11" fmla="*/ 0 h 153"/>
                <a:gd name="T12" fmla="*/ 34083 w 13"/>
                <a:gd name="T13" fmla="*/ 18209 h 153"/>
                <a:gd name="T14" fmla="*/ 34083 w 13"/>
                <a:gd name="T15" fmla="*/ 379787 h 153"/>
                <a:gd name="T16" fmla="*/ 18352 w 13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"/>
                <a:gd name="T28" fmla="*/ 0 h 153"/>
                <a:gd name="T29" fmla="*/ 13 w 13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3" y="3"/>
                    <a:pt x="13" y="7"/>
                  </a:cubicBezTo>
                  <a:cubicBezTo>
                    <a:pt x="13" y="146"/>
                    <a:pt x="13" y="146"/>
                    <a:pt x="13" y="146"/>
                  </a:cubicBezTo>
                  <a:cubicBezTo>
                    <a:pt x="13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3" name="Freeform 28"/>
            <p:cNvSpPr>
              <a:spLocks noChangeArrowheads="1"/>
            </p:cNvSpPr>
            <p:nvPr/>
          </p:nvSpPr>
          <p:spPr bwMode="auto">
            <a:xfrm>
              <a:off x="1365501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4" name="Freeform 29"/>
            <p:cNvSpPr>
              <a:spLocks noChangeArrowheads="1"/>
            </p:cNvSpPr>
            <p:nvPr/>
          </p:nvSpPr>
          <p:spPr bwMode="auto">
            <a:xfrm>
              <a:off x="626679" y="0"/>
              <a:ext cx="1550207" cy="2192278"/>
            </a:xfrm>
            <a:custGeom>
              <a:avLst/>
              <a:gdLst>
                <a:gd name="T0" fmla="*/ 1550207 w 1410"/>
                <a:gd name="T1" fmla="*/ 2192278 h 1994"/>
                <a:gd name="T2" fmla="*/ 0 w 1410"/>
                <a:gd name="T3" fmla="*/ 2192278 h 1994"/>
                <a:gd name="T4" fmla="*/ 0 w 1410"/>
                <a:gd name="T5" fmla="*/ 0 h 1994"/>
                <a:gd name="T6" fmla="*/ 1550207 w 1410"/>
                <a:gd name="T7" fmla="*/ 228683 h 1994"/>
                <a:gd name="T8" fmla="*/ 1550207 w 1410"/>
                <a:gd name="T9" fmla="*/ 2192278 h 19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10"/>
                <a:gd name="T16" fmla="*/ 0 h 1994"/>
                <a:gd name="T17" fmla="*/ 1410 w 1410"/>
                <a:gd name="T18" fmla="*/ 1994 h 19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10" h="1994">
                  <a:moveTo>
                    <a:pt x="1410" y="1994"/>
                  </a:moveTo>
                  <a:lnTo>
                    <a:pt x="0" y="1994"/>
                  </a:lnTo>
                  <a:lnTo>
                    <a:pt x="0" y="0"/>
                  </a:lnTo>
                  <a:lnTo>
                    <a:pt x="1410" y="208"/>
                  </a:lnTo>
                  <a:lnTo>
                    <a:pt x="1410" y="1994"/>
                  </a:ln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5" name="Freeform 30"/>
            <p:cNvSpPr>
              <a:spLocks noChangeArrowheads="1"/>
            </p:cNvSpPr>
            <p:nvPr/>
          </p:nvSpPr>
          <p:spPr bwMode="auto">
            <a:xfrm>
              <a:off x="790496" y="93453"/>
              <a:ext cx="1386391" cy="2098826"/>
            </a:xfrm>
            <a:custGeom>
              <a:avLst/>
              <a:gdLst>
                <a:gd name="T0" fmla="*/ 0 w 1261"/>
                <a:gd name="T1" fmla="*/ 0 h 1909"/>
                <a:gd name="T2" fmla="*/ 1386391 w 1261"/>
                <a:gd name="T3" fmla="*/ 218788 h 1909"/>
                <a:gd name="T4" fmla="*/ 1386391 w 1261"/>
                <a:gd name="T5" fmla="*/ 2098826 h 1909"/>
                <a:gd name="T6" fmla="*/ 0 w 1261"/>
                <a:gd name="T7" fmla="*/ 2098826 h 1909"/>
                <a:gd name="T8" fmla="*/ 0 w 1261"/>
                <a:gd name="T9" fmla="*/ 0 h 19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61"/>
                <a:gd name="T16" fmla="*/ 0 h 1909"/>
                <a:gd name="T17" fmla="*/ 1261 w 1261"/>
                <a:gd name="T18" fmla="*/ 1909 h 19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61" h="1909">
                  <a:moveTo>
                    <a:pt x="0" y="0"/>
                  </a:moveTo>
                  <a:lnTo>
                    <a:pt x="1261" y="199"/>
                  </a:lnTo>
                  <a:lnTo>
                    <a:pt x="1261" y="1909"/>
                  </a:lnTo>
                  <a:lnTo>
                    <a:pt x="0" y="1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6" name="Rectangle 31"/>
            <p:cNvSpPr>
              <a:spLocks noChangeArrowheads="1"/>
            </p:cNvSpPr>
            <p:nvPr/>
          </p:nvSpPr>
          <p:spPr bwMode="auto">
            <a:xfrm>
              <a:off x="2176886" y="230882"/>
              <a:ext cx="1776691" cy="1961396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7" name="Rectangle 32"/>
            <p:cNvSpPr>
              <a:spLocks noChangeArrowheads="1"/>
            </p:cNvSpPr>
            <p:nvPr/>
          </p:nvSpPr>
          <p:spPr bwMode="auto">
            <a:xfrm>
              <a:off x="2176886" y="230882"/>
              <a:ext cx="1776691" cy="196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8" name="Rectangle 33"/>
            <p:cNvSpPr>
              <a:spLocks noChangeArrowheads="1"/>
            </p:cNvSpPr>
            <p:nvPr/>
          </p:nvSpPr>
          <p:spPr bwMode="auto">
            <a:xfrm>
              <a:off x="2176886" y="312240"/>
              <a:ext cx="1725018" cy="18800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9" name="Rectangle 34"/>
            <p:cNvSpPr>
              <a:spLocks noChangeArrowheads="1"/>
            </p:cNvSpPr>
            <p:nvPr/>
          </p:nvSpPr>
          <p:spPr bwMode="auto">
            <a:xfrm>
              <a:off x="2176886" y="312240"/>
              <a:ext cx="1725018" cy="188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0" name="Rectangle 35"/>
            <p:cNvSpPr>
              <a:spLocks noChangeArrowheads="1"/>
            </p:cNvSpPr>
            <p:nvPr/>
          </p:nvSpPr>
          <p:spPr bwMode="auto">
            <a:xfrm>
              <a:off x="689348" y="93453"/>
              <a:ext cx="101148" cy="2098826"/>
            </a:xfrm>
            <a:prstGeom prst="rect">
              <a:avLst/>
            </a:prstGeom>
            <a:solidFill>
              <a:srgbClr val="CF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1" name="Freeform 36"/>
            <p:cNvSpPr>
              <a:spLocks noChangeArrowheads="1"/>
            </p:cNvSpPr>
            <p:nvPr/>
          </p:nvSpPr>
          <p:spPr bwMode="auto">
            <a:xfrm>
              <a:off x="689348" y="93453"/>
              <a:ext cx="101148" cy="2098826"/>
            </a:xfrm>
            <a:custGeom>
              <a:avLst/>
              <a:gdLst>
                <a:gd name="T0" fmla="*/ 101148 w 92"/>
                <a:gd name="T1" fmla="*/ 0 h 1909"/>
                <a:gd name="T2" fmla="*/ 0 w 92"/>
                <a:gd name="T3" fmla="*/ 0 h 1909"/>
                <a:gd name="T4" fmla="*/ 0 w 92"/>
                <a:gd name="T5" fmla="*/ 2098826 h 1909"/>
                <a:gd name="T6" fmla="*/ 101148 w 92"/>
                <a:gd name="T7" fmla="*/ 2098826 h 19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1909"/>
                <a:gd name="T14" fmla="*/ 92 w 92"/>
                <a:gd name="T15" fmla="*/ 1909 h 19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1909">
                  <a:moveTo>
                    <a:pt x="92" y="0"/>
                  </a:moveTo>
                  <a:lnTo>
                    <a:pt x="0" y="0"/>
                  </a:lnTo>
                  <a:lnTo>
                    <a:pt x="0" y="1909"/>
                  </a:lnTo>
                  <a:lnTo>
                    <a:pt x="92" y="190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2" name="Rectangle 37"/>
            <p:cNvSpPr>
              <a:spLocks noChangeArrowheads="1"/>
            </p:cNvSpPr>
            <p:nvPr/>
          </p:nvSpPr>
          <p:spPr bwMode="auto">
            <a:xfrm>
              <a:off x="2187880" y="312240"/>
              <a:ext cx="67066" cy="1880038"/>
            </a:xfrm>
            <a:prstGeom prst="rect">
              <a:avLst/>
            </a:prstGeom>
            <a:solidFill>
              <a:srgbClr val="EC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3" name="Rectangle 38"/>
            <p:cNvSpPr>
              <a:spLocks noChangeArrowheads="1"/>
            </p:cNvSpPr>
            <p:nvPr/>
          </p:nvSpPr>
          <p:spPr bwMode="auto">
            <a:xfrm>
              <a:off x="2187880" y="312240"/>
              <a:ext cx="67066" cy="188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4" name="Freeform 39"/>
            <p:cNvSpPr>
              <a:spLocks noChangeArrowheads="1"/>
            </p:cNvSpPr>
            <p:nvPr/>
          </p:nvSpPr>
          <p:spPr bwMode="auto">
            <a:xfrm>
              <a:off x="2320913" y="423284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5" name="Freeform 40"/>
            <p:cNvSpPr>
              <a:spLocks noChangeArrowheads="1"/>
            </p:cNvSpPr>
            <p:nvPr/>
          </p:nvSpPr>
          <p:spPr bwMode="auto">
            <a:xfrm>
              <a:off x="2320913" y="512338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6" name="Freeform 41"/>
            <p:cNvSpPr>
              <a:spLocks noChangeArrowheads="1"/>
            </p:cNvSpPr>
            <p:nvPr/>
          </p:nvSpPr>
          <p:spPr bwMode="auto">
            <a:xfrm>
              <a:off x="2320913" y="761910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6039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6039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7" name="Freeform 42"/>
            <p:cNvSpPr>
              <a:spLocks noChangeArrowheads="1"/>
            </p:cNvSpPr>
            <p:nvPr/>
          </p:nvSpPr>
          <p:spPr bwMode="auto">
            <a:xfrm>
              <a:off x="2320913" y="910334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8" name="Freeform 43"/>
            <p:cNvSpPr>
              <a:spLocks noChangeArrowheads="1"/>
            </p:cNvSpPr>
            <p:nvPr/>
          </p:nvSpPr>
          <p:spPr bwMode="auto">
            <a:xfrm>
              <a:off x="2286830" y="1308330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3436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9" name="Freeform 44"/>
            <p:cNvSpPr>
              <a:spLocks noChangeArrowheads="1"/>
            </p:cNvSpPr>
            <p:nvPr/>
          </p:nvSpPr>
          <p:spPr bwMode="auto">
            <a:xfrm>
              <a:off x="2286830" y="1424871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6039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6039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0" name="Freeform 45"/>
            <p:cNvSpPr>
              <a:spLocks noChangeArrowheads="1"/>
            </p:cNvSpPr>
            <p:nvPr/>
          </p:nvSpPr>
          <p:spPr bwMode="auto">
            <a:xfrm>
              <a:off x="2286830" y="1542511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6039 h 19"/>
                <a:gd name="T6" fmla="*/ 0 w 546"/>
                <a:gd name="T7" fmla="*/ 26039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6039 h 19"/>
                <a:gd name="T14" fmla="*/ 1420473 w 546"/>
                <a:gd name="T15" fmla="*/ 26039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10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1" name="Freeform 46"/>
            <p:cNvSpPr>
              <a:spLocks noChangeArrowheads="1"/>
            </p:cNvSpPr>
            <p:nvPr/>
          </p:nvSpPr>
          <p:spPr bwMode="auto">
            <a:xfrm>
              <a:off x="2286830" y="1666747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3436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2" name="Freeform 47"/>
            <p:cNvSpPr>
              <a:spLocks noChangeArrowheads="1"/>
            </p:cNvSpPr>
            <p:nvPr/>
          </p:nvSpPr>
          <p:spPr bwMode="auto">
            <a:xfrm>
              <a:off x="918031" y="1576593"/>
              <a:ext cx="1161006" cy="131932"/>
            </a:xfrm>
            <a:custGeom>
              <a:avLst/>
              <a:gdLst>
                <a:gd name="T0" fmla="*/ 1137578 w 446"/>
                <a:gd name="T1" fmla="*/ 0 h 51"/>
                <a:gd name="T2" fmla="*/ 23428 w 446"/>
                <a:gd name="T3" fmla="*/ 77607 h 51"/>
                <a:gd name="T4" fmla="*/ 0 w 446"/>
                <a:gd name="T5" fmla="*/ 106063 h 51"/>
                <a:gd name="T6" fmla="*/ 23428 w 446"/>
                <a:gd name="T7" fmla="*/ 129345 h 51"/>
                <a:gd name="T8" fmla="*/ 1137578 w 446"/>
                <a:gd name="T9" fmla="*/ 46564 h 51"/>
                <a:gd name="T10" fmla="*/ 1161006 w 446"/>
                <a:gd name="T11" fmla="*/ 20695 h 51"/>
                <a:gd name="T12" fmla="*/ 1137578 w 446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51"/>
                <a:gd name="T23" fmla="*/ 446 w 44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51">
                  <a:moveTo>
                    <a:pt x="437" y="0"/>
                  </a:moveTo>
                  <a:cubicBezTo>
                    <a:pt x="294" y="10"/>
                    <a:pt x="152" y="20"/>
                    <a:pt x="9" y="30"/>
                  </a:cubicBezTo>
                  <a:cubicBezTo>
                    <a:pt x="4" y="31"/>
                    <a:pt x="0" y="36"/>
                    <a:pt x="0" y="41"/>
                  </a:cubicBezTo>
                  <a:cubicBezTo>
                    <a:pt x="0" y="47"/>
                    <a:pt x="4" y="51"/>
                    <a:pt x="9" y="50"/>
                  </a:cubicBezTo>
                  <a:cubicBezTo>
                    <a:pt x="152" y="40"/>
                    <a:pt x="294" y="29"/>
                    <a:pt x="437" y="18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4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3" name="Freeform 48"/>
            <p:cNvSpPr>
              <a:spLocks noChangeArrowheads="1"/>
            </p:cNvSpPr>
            <p:nvPr/>
          </p:nvSpPr>
          <p:spPr bwMode="auto">
            <a:xfrm>
              <a:off x="918031" y="1493036"/>
              <a:ext cx="1161006" cy="122038"/>
            </a:xfrm>
            <a:custGeom>
              <a:avLst/>
              <a:gdLst>
                <a:gd name="T0" fmla="*/ 1137578 w 446"/>
                <a:gd name="T1" fmla="*/ 2597 h 47"/>
                <a:gd name="T2" fmla="*/ 23428 w 446"/>
                <a:gd name="T3" fmla="*/ 67510 h 47"/>
                <a:gd name="T4" fmla="*/ 0 w 446"/>
                <a:gd name="T5" fmla="*/ 96072 h 47"/>
                <a:gd name="T6" fmla="*/ 23428 w 446"/>
                <a:gd name="T7" fmla="*/ 119441 h 47"/>
                <a:gd name="T8" fmla="*/ 1137578 w 446"/>
                <a:gd name="T9" fmla="*/ 46738 h 47"/>
                <a:gd name="T10" fmla="*/ 1161006 w 446"/>
                <a:gd name="T11" fmla="*/ 23369 h 47"/>
                <a:gd name="T12" fmla="*/ 1137578 w 446"/>
                <a:gd name="T13" fmla="*/ 2597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47"/>
                <a:gd name="T23" fmla="*/ 446 w 446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47">
                  <a:moveTo>
                    <a:pt x="437" y="1"/>
                  </a:moveTo>
                  <a:cubicBezTo>
                    <a:pt x="294" y="9"/>
                    <a:pt x="152" y="18"/>
                    <a:pt x="9" y="26"/>
                  </a:cubicBezTo>
                  <a:cubicBezTo>
                    <a:pt x="4" y="26"/>
                    <a:pt x="0" y="31"/>
                    <a:pt x="0" y="37"/>
                  </a:cubicBezTo>
                  <a:cubicBezTo>
                    <a:pt x="0" y="42"/>
                    <a:pt x="4" y="47"/>
                    <a:pt x="9" y="46"/>
                  </a:cubicBezTo>
                  <a:cubicBezTo>
                    <a:pt x="152" y="37"/>
                    <a:pt x="294" y="28"/>
                    <a:pt x="437" y="18"/>
                  </a:cubicBezTo>
                  <a:cubicBezTo>
                    <a:pt x="442" y="18"/>
                    <a:pt x="446" y="14"/>
                    <a:pt x="446" y="9"/>
                  </a:cubicBezTo>
                  <a:cubicBezTo>
                    <a:pt x="446" y="4"/>
                    <a:pt x="442" y="0"/>
                    <a:pt x="437" y="1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4" name="Freeform 49"/>
            <p:cNvSpPr>
              <a:spLocks noChangeArrowheads="1"/>
            </p:cNvSpPr>
            <p:nvPr/>
          </p:nvSpPr>
          <p:spPr bwMode="auto">
            <a:xfrm>
              <a:off x="918031" y="1261055"/>
              <a:ext cx="1161006" cy="85756"/>
            </a:xfrm>
            <a:custGeom>
              <a:avLst/>
              <a:gdLst>
                <a:gd name="T0" fmla="*/ 1137578 w 446"/>
                <a:gd name="T1" fmla="*/ 0 h 33"/>
                <a:gd name="T2" fmla="*/ 23428 w 446"/>
                <a:gd name="T3" fmla="*/ 33783 h 33"/>
                <a:gd name="T4" fmla="*/ 0 w 446"/>
                <a:gd name="T5" fmla="*/ 59769 h 33"/>
                <a:gd name="T6" fmla="*/ 23428 w 446"/>
                <a:gd name="T7" fmla="*/ 85756 h 33"/>
                <a:gd name="T8" fmla="*/ 1137578 w 446"/>
                <a:gd name="T9" fmla="*/ 44177 h 33"/>
                <a:gd name="T10" fmla="*/ 1161006 w 446"/>
                <a:gd name="T11" fmla="*/ 20789 h 33"/>
                <a:gd name="T12" fmla="*/ 1137578 w 446"/>
                <a:gd name="T13" fmla="*/ 0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3"/>
                <a:gd name="T23" fmla="*/ 446 w 446"/>
                <a:gd name="T24" fmla="*/ 33 h 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3">
                  <a:moveTo>
                    <a:pt x="437" y="0"/>
                  </a:moveTo>
                  <a:cubicBezTo>
                    <a:pt x="294" y="4"/>
                    <a:pt x="152" y="8"/>
                    <a:pt x="9" y="13"/>
                  </a:cubicBezTo>
                  <a:cubicBezTo>
                    <a:pt x="4" y="13"/>
                    <a:pt x="0" y="17"/>
                    <a:pt x="0" y="23"/>
                  </a:cubicBezTo>
                  <a:cubicBezTo>
                    <a:pt x="0" y="29"/>
                    <a:pt x="4" y="33"/>
                    <a:pt x="9" y="33"/>
                  </a:cubicBezTo>
                  <a:cubicBezTo>
                    <a:pt x="152" y="28"/>
                    <a:pt x="294" y="22"/>
                    <a:pt x="437" y="17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3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5" name="Freeform 50"/>
            <p:cNvSpPr>
              <a:spLocks noChangeArrowheads="1"/>
            </p:cNvSpPr>
            <p:nvPr/>
          </p:nvSpPr>
          <p:spPr bwMode="auto">
            <a:xfrm>
              <a:off x="918031" y="1123625"/>
              <a:ext cx="1161006" cy="67066"/>
            </a:xfrm>
            <a:custGeom>
              <a:avLst/>
              <a:gdLst>
                <a:gd name="T0" fmla="*/ 1137578 w 446"/>
                <a:gd name="T1" fmla="*/ 0 h 26"/>
                <a:gd name="T2" fmla="*/ 23428 w 446"/>
                <a:gd name="T3" fmla="*/ 12897 h 26"/>
                <a:gd name="T4" fmla="*/ 0 w 446"/>
                <a:gd name="T5" fmla="*/ 41271 h 26"/>
                <a:gd name="T6" fmla="*/ 23428 w 446"/>
                <a:gd name="T7" fmla="*/ 64487 h 26"/>
                <a:gd name="T8" fmla="*/ 1137578 w 446"/>
                <a:gd name="T9" fmla="*/ 43851 h 26"/>
                <a:gd name="T10" fmla="*/ 1161006 w 446"/>
                <a:gd name="T11" fmla="*/ 20636 h 26"/>
                <a:gd name="T12" fmla="*/ 1137578 w 446"/>
                <a:gd name="T13" fmla="*/ 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26"/>
                <a:gd name="T23" fmla="*/ 446 w 446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26">
                  <a:moveTo>
                    <a:pt x="437" y="0"/>
                  </a:moveTo>
                  <a:cubicBezTo>
                    <a:pt x="294" y="2"/>
                    <a:pt x="152" y="3"/>
                    <a:pt x="9" y="5"/>
                  </a:cubicBezTo>
                  <a:cubicBezTo>
                    <a:pt x="4" y="5"/>
                    <a:pt x="0" y="10"/>
                    <a:pt x="0" y="16"/>
                  </a:cubicBezTo>
                  <a:cubicBezTo>
                    <a:pt x="0" y="21"/>
                    <a:pt x="4" y="26"/>
                    <a:pt x="9" y="25"/>
                  </a:cubicBezTo>
                  <a:cubicBezTo>
                    <a:pt x="152" y="23"/>
                    <a:pt x="294" y="20"/>
                    <a:pt x="437" y="17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4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6" name="Freeform 51"/>
            <p:cNvSpPr>
              <a:spLocks noChangeArrowheads="1"/>
            </p:cNvSpPr>
            <p:nvPr/>
          </p:nvSpPr>
          <p:spPr bwMode="auto">
            <a:xfrm>
              <a:off x="889445" y="712435"/>
              <a:ext cx="1159907" cy="83557"/>
            </a:xfrm>
            <a:custGeom>
              <a:avLst/>
              <a:gdLst>
                <a:gd name="T0" fmla="*/ 1136501 w 446"/>
                <a:gd name="T1" fmla="*/ 39167 h 32"/>
                <a:gd name="T2" fmla="*/ 26007 w 446"/>
                <a:gd name="T3" fmla="*/ 0 h 32"/>
                <a:gd name="T4" fmla="*/ 0 w 446"/>
                <a:gd name="T5" fmla="*/ 26112 h 32"/>
                <a:gd name="T6" fmla="*/ 26007 w 446"/>
                <a:gd name="T7" fmla="*/ 52223 h 32"/>
                <a:gd name="T8" fmla="*/ 1136501 w 446"/>
                <a:gd name="T9" fmla="*/ 83557 h 32"/>
                <a:gd name="T10" fmla="*/ 1159907 w 446"/>
                <a:gd name="T11" fmla="*/ 62668 h 32"/>
                <a:gd name="T12" fmla="*/ 1136501 w 446"/>
                <a:gd name="T13" fmla="*/ 3916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2"/>
                <a:gd name="T23" fmla="*/ 446 w 446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2">
                  <a:moveTo>
                    <a:pt x="437" y="15"/>
                  </a:moveTo>
                  <a:cubicBezTo>
                    <a:pt x="294" y="10"/>
                    <a:pt x="152" y="5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52" y="24"/>
                    <a:pt x="294" y="28"/>
                    <a:pt x="437" y="32"/>
                  </a:cubicBezTo>
                  <a:cubicBezTo>
                    <a:pt x="442" y="32"/>
                    <a:pt x="446" y="29"/>
                    <a:pt x="446" y="24"/>
                  </a:cubicBezTo>
                  <a:cubicBezTo>
                    <a:pt x="446" y="19"/>
                    <a:pt x="442" y="15"/>
                    <a:pt x="437" y="15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7" name="Freeform 52"/>
            <p:cNvSpPr>
              <a:spLocks noChangeArrowheads="1"/>
            </p:cNvSpPr>
            <p:nvPr/>
          </p:nvSpPr>
          <p:spPr bwMode="auto">
            <a:xfrm>
              <a:off x="889445" y="587100"/>
              <a:ext cx="1159907" cy="98949"/>
            </a:xfrm>
            <a:custGeom>
              <a:avLst/>
              <a:gdLst>
                <a:gd name="T0" fmla="*/ 1136501 w 446"/>
                <a:gd name="T1" fmla="*/ 52078 h 38"/>
                <a:gd name="T2" fmla="*/ 26007 w 446"/>
                <a:gd name="T3" fmla="*/ 0 h 38"/>
                <a:gd name="T4" fmla="*/ 0 w 446"/>
                <a:gd name="T5" fmla="*/ 23435 h 38"/>
                <a:gd name="T6" fmla="*/ 26007 w 446"/>
                <a:gd name="T7" fmla="*/ 52078 h 38"/>
                <a:gd name="T8" fmla="*/ 1136501 w 446"/>
                <a:gd name="T9" fmla="*/ 98949 h 38"/>
                <a:gd name="T10" fmla="*/ 1159907 w 446"/>
                <a:gd name="T11" fmla="*/ 75514 h 38"/>
                <a:gd name="T12" fmla="*/ 1136501 w 446"/>
                <a:gd name="T13" fmla="*/ 5207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8"/>
                <a:gd name="T23" fmla="*/ 446 w 446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8">
                  <a:moveTo>
                    <a:pt x="437" y="20"/>
                  </a:moveTo>
                  <a:cubicBezTo>
                    <a:pt x="294" y="13"/>
                    <a:pt x="152" y="7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2" y="26"/>
                    <a:pt x="294" y="32"/>
                    <a:pt x="437" y="38"/>
                  </a:cubicBezTo>
                  <a:cubicBezTo>
                    <a:pt x="442" y="38"/>
                    <a:pt x="446" y="34"/>
                    <a:pt x="446" y="29"/>
                  </a:cubicBezTo>
                  <a:cubicBezTo>
                    <a:pt x="446" y="25"/>
                    <a:pt x="442" y="20"/>
                    <a:pt x="437" y="2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8" name="Freeform 53"/>
            <p:cNvSpPr>
              <a:spLocks noChangeArrowheads="1"/>
            </p:cNvSpPr>
            <p:nvPr/>
          </p:nvSpPr>
          <p:spPr bwMode="auto">
            <a:xfrm>
              <a:off x="889445" y="459565"/>
              <a:ext cx="1159907" cy="117640"/>
            </a:xfrm>
            <a:custGeom>
              <a:avLst/>
              <a:gdLst>
                <a:gd name="T0" fmla="*/ 1136501 w 446"/>
                <a:gd name="T1" fmla="*/ 70584 h 45"/>
                <a:gd name="T2" fmla="*/ 26007 w 446"/>
                <a:gd name="T3" fmla="*/ 0 h 45"/>
                <a:gd name="T4" fmla="*/ 0 w 446"/>
                <a:gd name="T5" fmla="*/ 26142 h 45"/>
                <a:gd name="T6" fmla="*/ 26007 w 446"/>
                <a:gd name="T7" fmla="*/ 54899 h 45"/>
                <a:gd name="T8" fmla="*/ 1136501 w 446"/>
                <a:gd name="T9" fmla="*/ 115026 h 45"/>
                <a:gd name="T10" fmla="*/ 1159907 w 446"/>
                <a:gd name="T11" fmla="*/ 94112 h 45"/>
                <a:gd name="T12" fmla="*/ 1136501 w 446"/>
                <a:gd name="T13" fmla="*/ 705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45"/>
                <a:gd name="T23" fmla="*/ 446 w 446"/>
                <a:gd name="T24" fmla="*/ 45 h 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45">
                  <a:moveTo>
                    <a:pt x="437" y="27"/>
                  </a:moveTo>
                  <a:cubicBezTo>
                    <a:pt x="294" y="18"/>
                    <a:pt x="152" y="9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1"/>
                  </a:cubicBezTo>
                  <a:cubicBezTo>
                    <a:pt x="152" y="29"/>
                    <a:pt x="294" y="36"/>
                    <a:pt x="437" y="44"/>
                  </a:cubicBezTo>
                  <a:cubicBezTo>
                    <a:pt x="442" y="45"/>
                    <a:pt x="446" y="41"/>
                    <a:pt x="446" y="36"/>
                  </a:cubicBezTo>
                  <a:cubicBezTo>
                    <a:pt x="446" y="31"/>
                    <a:pt x="442" y="27"/>
                    <a:pt x="437" y="27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9" name="Freeform 54"/>
            <p:cNvSpPr>
              <a:spLocks noChangeArrowheads="1"/>
            </p:cNvSpPr>
            <p:nvPr/>
          </p:nvSpPr>
          <p:spPr bwMode="auto">
            <a:xfrm>
              <a:off x="889445" y="329831"/>
              <a:ext cx="1159907" cy="133032"/>
            </a:xfrm>
            <a:custGeom>
              <a:avLst/>
              <a:gdLst>
                <a:gd name="T0" fmla="*/ 1136501 w 446"/>
                <a:gd name="T1" fmla="*/ 86080 h 51"/>
                <a:gd name="T2" fmla="*/ 26007 w 446"/>
                <a:gd name="T3" fmla="*/ 0 h 51"/>
                <a:gd name="T4" fmla="*/ 0 w 446"/>
                <a:gd name="T5" fmla="*/ 23476 h 51"/>
                <a:gd name="T6" fmla="*/ 26007 w 446"/>
                <a:gd name="T7" fmla="*/ 52169 h 51"/>
                <a:gd name="T8" fmla="*/ 1136501 w 446"/>
                <a:gd name="T9" fmla="*/ 130424 h 51"/>
                <a:gd name="T10" fmla="*/ 1159907 w 446"/>
                <a:gd name="T11" fmla="*/ 109556 h 51"/>
                <a:gd name="T12" fmla="*/ 1136501 w 446"/>
                <a:gd name="T13" fmla="*/ 8608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51"/>
                <a:gd name="T23" fmla="*/ 446 w 44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51">
                  <a:moveTo>
                    <a:pt x="437" y="33"/>
                  </a:moveTo>
                  <a:cubicBezTo>
                    <a:pt x="294" y="22"/>
                    <a:pt x="152" y="11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2" y="30"/>
                    <a:pt x="294" y="40"/>
                    <a:pt x="437" y="50"/>
                  </a:cubicBezTo>
                  <a:cubicBezTo>
                    <a:pt x="442" y="51"/>
                    <a:pt x="446" y="47"/>
                    <a:pt x="446" y="42"/>
                  </a:cubicBezTo>
                  <a:cubicBezTo>
                    <a:pt x="446" y="37"/>
                    <a:pt x="442" y="33"/>
                    <a:pt x="437" y="3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0" name="Freeform 55"/>
            <p:cNvSpPr>
              <a:spLocks noChangeArrowheads="1"/>
            </p:cNvSpPr>
            <p:nvPr/>
          </p:nvSpPr>
          <p:spPr bwMode="auto">
            <a:xfrm>
              <a:off x="2187880" y="312240"/>
              <a:ext cx="98949" cy="1175299"/>
            </a:xfrm>
            <a:custGeom>
              <a:avLst/>
              <a:gdLst>
                <a:gd name="T0" fmla="*/ 0 w 90"/>
                <a:gd name="T1" fmla="*/ 0 h 1069"/>
                <a:gd name="T2" fmla="*/ 0 w 90"/>
                <a:gd name="T3" fmla="*/ 1175299 h 1069"/>
                <a:gd name="T4" fmla="*/ 49475 w 90"/>
                <a:gd name="T5" fmla="*/ 1136819 h 1069"/>
                <a:gd name="T6" fmla="*/ 98949 w 90"/>
                <a:gd name="T7" fmla="*/ 1175299 h 1069"/>
                <a:gd name="T8" fmla="*/ 98949 w 90"/>
                <a:gd name="T9" fmla="*/ 0 h 1069"/>
                <a:gd name="T10" fmla="*/ 0 w 90"/>
                <a:gd name="T11" fmla="*/ 0 h 10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0"/>
                <a:gd name="T19" fmla="*/ 0 h 1069"/>
                <a:gd name="T20" fmla="*/ 90 w 90"/>
                <a:gd name="T21" fmla="*/ 1069 h 10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0" h="1069">
                  <a:moveTo>
                    <a:pt x="0" y="0"/>
                  </a:moveTo>
                  <a:lnTo>
                    <a:pt x="0" y="1069"/>
                  </a:lnTo>
                  <a:lnTo>
                    <a:pt x="45" y="1034"/>
                  </a:lnTo>
                  <a:lnTo>
                    <a:pt x="90" y="1069"/>
                  </a:lnTo>
                  <a:lnTo>
                    <a:pt x="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1" name="文本框 56"/>
            <p:cNvSpPr>
              <a:spLocks noChangeArrowheads="1"/>
            </p:cNvSpPr>
            <p:nvPr/>
          </p:nvSpPr>
          <p:spPr bwMode="auto">
            <a:xfrm>
              <a:off x="401843" y="3097115"/>
              <a:ext cx="3878816" cy="707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3375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02</a:t>
              </a:r>
            </a:p>
          </p:txBody>
        </p:sp>
      </p:grpSp>
      <p:sp>
        <p:nvSpPr>
          <p:cNvPr id="80" name="TextBox 4"/>
          <p:cNvSpPr txBox="1"/>
          <p:nvPr/>
        </p:nvSpPr>
        <p:spPr>
          <a:xfrm>
            <a:off x="3809708" y="4192389"/>
            <a:ext cx="5239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三种循环结构</a:t>
            </a:r>
            <a:endParaRPr lang="en-US" altLang="zh-CN" sz="4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B4C2305-E5C5-4ECA-93DF-D43A93BAB08E}"/>
              </a:ext>
            </a:extLst>
          </p:cNvPr>
          <p:cNvSpPr txBox="1"/>
          <p:nvPr/>
        </p:nvSpPr>
        <p:spPr>
          <a:xfrm>
            <a:off x="5170590" y="4947569"/>
            <a:ext cx="379499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altLang="zh-CN" sz="2800" b="1" dirty="0">
                <a:latin typeface="Times New Roman" pitchFamily="18" charset="0"/>
              </a:rPr>
              <a:t>5.2.1    while</a:t>
            </a:r>
            <a:r>
              <a:rPr lang="zh-CN" altLang="en-US" sz="2800" b="1" dirty="0">
                <a:latin typeface="Times New Roman" pitchFamily="18" charset="0"/>
              </a:rPr>
              <a:t>语句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D80339-CE67-4BD4-B717-E3A49C4C923B}"/>
              </a:ext>
            </a:extLst>
          </p:cNvPr>
          <p:cNvSpPr/>
          <p:nvPr/>
        </p:nvSpPr>
        <p:spPr>
          <a:xfrm>
            <a:off x="5056869" y="5529210"/>
            <a:ext cx="336021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altLang="zh-CN" sz="2800" b="1" dirty="0">
                <a:latin typeface="Times New Roman" pitchFamily="18" charset="0"/>
              </a:rPr>
              <a:t>5.2.2    </a:t>
            </a:r>
            <a:r>
              <a:rPr lang="en-US" altLang="zh-CN" sz="2800" b="1" dirty="0" err="1">
                <a:latin typeface="Times New Roman" pitchFamily="18" charset="0"/>
              </a:rPr>
              <a:t>do_while</a:t>
            </a:r>
            <a:r>
              <a:rPr lang="zh-CN" altLang="en-US" sz="2800" b="1" dirty="0">
                <a:latin typeface="Times New Roman" pitchFamily="18" charset="0"/>
              </a:rPr>
              <a:t>语句</a:t>
            </a: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53DA3159-5382-4EA5-B2F8-6A2B40962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7148" y="6136605"/>
            <a:ext cx="5024635" cy="746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altLang="zh-CN" sz="2800" b="1" dirty="0">
                <a:latin typeface="Times New Roman" pitchFamily="18" charset="0"/>
              </a:rPr>
              <a:t>5.2.3    for</a:t>
            </a:r>
            <a:r>
              <a:rPr lang="zh-CN" altLang="en-US" sz="2800" b="1" dirty="0">
                <a:latin typeface="Times New Roman" pitchFamily="18" charset="0"/>
              </a:rPr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339576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57" grpId="0"/>
      <p:bldP spid="2" grpId="0"/>
      <p:bldP spid="62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4161220" y="426771"/>
            <a:ext cx="4220944" cy="988289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5.2.1 while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</a:t>
            </a:r>
          </a:p>
        </p:txBody>
      </p:sp>
      <p:sp>
        <p:nvSpPr>
          <p:cNvPr id="10249" name="Line 10"/>
          <p:cNvSpPr>
            <a:spLocks noChangeShapeType="1"/>
          </p:cNvSpPr>
          <p:nvPr/>
        </p:nvSpPr>
        <p:spPr bwMode="auto">
          <a:xfrm>
            <a:off x="9262480" y="2636934"/>
            <a:ext cx="0" cy="6579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 useBgFill="1">
        <p:nvSpPr>
          <p:cNvPr id="10250" name="AutoShape 11"/>
          <p:cNvSpPr>
            <a:spLocks noChangeArrowheads="1"/>
          </p:cNvSpPr>
          <p:nvPr/>
        </p:nvSpPr>
        <p:spPr bwMode="auto">
          <a:xfrm>
            <a:off x="7952174" y="3299927"/>
            <a:ext cx="2603372" cy="679735"/>
          </a:xfrm>
          <a:prstGeom prst="flowChartDecision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表达式</a:t>
            </a:r>
          </a:p>
        </p:txBody>
      </p:sp>
      <p:sp>
        <p:nvSpPr>
          <p:cNvPr id="10251" name="Line 12"/>
          <p:cNvSpPr>
            <a:spLocks noChangeShapeType="1"/>
          </p:cNvSpPr>
          <p:nvPr/>
        </p:nvSpPr>
        <p:spPr bwMode="auto">
          <a:xfrm>
            <a:off x="9262480" y="3981336"/>
            <a:ext cx="0" cy="6445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252" name="Line 14"/>
          <p:cNvSpPr>
            <a:spLocks noChangeShapeType="1"/>
          </p:cNvSpPr>
          <p:nvPr/>
        </p:nvSpPr>
        <p:spPr bwMode="auto">
          <a:xfrm>
            <a:off x="9262480" y="5195149"/>
            <a:ext cx="0" cy="3599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253" name="Line 15"/>
          <p:cNvSpPr>
            <a:spLocks noChangeShapeType="1"/>
          </p:cNvSpPr>
          <p:nvPr/>
        </p:nvSpPr>
        <p:spPr bwMode="auto">
          <a:xfrm flipH="1">
            <a:off x="7647010" y="5556782"/>
            <a:ext cx="161547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254" name="Line 16"/>
          <p:cNvSpPr>
            <a:spLocks noChangeShapeType="1"/>
          </p:cNvSpPr>
          <p:nvPr/>
        </p:nvSpPr>
        <p:spPr bwMode="auto">
          <a:xfrm flipV="1">
            <a:off x="7643562" y="3027028"/>
            <a:ext cx="0" cy="25130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255" name="Line 17"/>
          <p:cNvSpPr>
            <a:spLocks noChangeShapeType="1"/>
          </p:cNvSpPr>
          <p:nvPr/>
        </p:nvSpPr>
        <p:spPr bwMode="auto">
          <a:xfrm>
            <a:off x="7647010" y="3010286"/>
            <a:ext cx="161547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256" name="Line 19"/>
          <p:cNvSpPr>
            <a:spLocks noChangeShapeType="1"/>
          </p:cNvSpPr>
          <p:nvPr/>
        </p:nvSpPr>
        <p:spPr bwMode="auto">
          <a:xfrm>
            <a:off x="10896915" y="3633098"/>
            <a:ext cx="0" cy="21647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257" name="Line 20"/>
          <p:cNvSpPr>
            <a:spLocks noChangeShapeType="1"/>
          </p:cNvSpPr>
          <p:nvPr/>
        </p:nvSpPr>
        <p:spPr bwMode="auto">
          <a:xfrm flipH="1">
            <a:off x="9248688" y="5797870"/>
            <a:ext cx="164133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258" name="Line 21"/>
          <p:cNvSpPr>
            <a:spLocks noChangeShapeType="1"/>
          </p:cNvSpPr>
          <p:nvPr/>
        </p:nvSpPr>
        <p:spPr bwMode="auto">
          <a:xfrm>
            <a:off x="9248688" y="5797870"/>
            <a:ext cx="0" cy="65629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259" name="Text Box 22"/>
          <p:cNvSpPr txBox="1">
            <a:spLocks noChangeArrowheads="1"/>
          </p:cNvSpPr>
          <p:nvPr/>
        </p:nvSpPr>
        <p:spPr bwMode="auto">
          <a:xfrm>
            <a:off x="10422791" y="3155944"/>
            <a:ext cx="543088" cy="524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假</a:t>
            </a:r>
          </a:p>
        </p:txBody>
      </p:sp>
      <p:sp>
        <p:nvSpPr>
          <p:cNvPr id="10260" name="Text Box 23"/>
          <p:cNvSpPr txBox="1">
            <a:spLocks noChangeArrowheads="1"/>
          </p:cNvSpPr>
          <p:nvPr/>
        </p:nvSpPr>
        <p:spPr bwMode="auto">
          <a:xfrm>
            <a:off x="9146966" y="3931110"/>
            <a:ext cx="731013" cy="524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真</a:t>
            </a:r>
          </a:p>
        </p:txBody>
      </p:sp>
      <p:sp>
        <p:nvSpPr>
          <p:cNvPr id="10261" name="Text Box 13"/>
          <p:cNvSpPr txBox="1">
            <a:spLocks noChangeArrowheads="1"/>
          </p:cNvSpPr>
          <p:nvPr/>
        </p:nvSpPr>
        <p:spPr bwMode="auto">
          <a:xfrm>
            <a:off x="8398712" y="4639307"/>
            <a:ext cx="1717191" cy="5240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循环体</a:t>
            </a:r>
          </a:p>
        </p:txBody>
      </p:sp>
      <p:sp>
        <p:nvSpPr>
          <p:cNvPr id="10248" name="Line 18"/>
          <p:cNvSpPr>
            <a:spLocks noChangeShapeType="1"/>
          </p:cNvSpPr>
          <p:nvPr/>
        </p:nvSpPr>
        <p:spPr bwMode="auto">
          <a:xfrm>
            <a:off x="10496927" y="3633098"/>
            <a:ext cx="3913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8196475" y="2064414"/>
            <a:ext cx="2072627" cy="5232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初始值</a:t>
            </a:r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>
            <a:off x="9232788" y="1384077"/>
            <a:ext cx="0" cy="6579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AC21565-B565-4D15-BF78-6AA3913B086A}"/>
              </a:ext>
            </a:extLst>
          </p:cNvPr>
          <p:cNvSpPr txBox="1"/>
          <p:nvPr/>
        </p:nvSpPr>
        <p:spPr>
          <a:xfrm>
            <a:off x="92671" y="223238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</a:t>
            </a:r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2813050" y="1782453"/>
            <a:ext cx="3053786" cy="4487575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265767" bIns="189833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初始值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while(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表达式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循环体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28" name="AutoShape 3">
            <a:extLst>
              <a:ext uri="{FF2B5EF4-FFF2-40B4-BE49-F238E27FC236}">
                <a16:creationId xmlns:a16="http://schemas.microsoft.com/office/drawing/2014/main" id="{B106BF0B-AE15-4711-B934-557B58E86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396" y="4043241"/>
            <a:ext cx="1706563" cy="601662"/>
          </a:xfrm>
          <a:prstGeom prst="wedgeRectCallout">
            <a:avLst>
              <a:gd name="adj1" fmla="val 88154"/>
              <a:gd name="adj2" fmla="val -149885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关键字</a:t>
            </a:r>
          </a:p>
        </p:txBody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880C688E-C404-4D77-A6BC-887CD1C3D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993" y="642817"/>
            <a:ext cx="2016224" cy="823046"/>
          </a:xfrm>
          <a:prstGeom prst="wedgeRectCallout">
            <a:avLst>
              <a:gd name="adj1" fmla="val 65329"/>
              <a:gd name="adj2" fmla="val 24573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判别循环体执行与否的条件</a:t>
            </a:r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B161E6A1-6B69-43EE-8293-EAFA6D780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050" y="6486054"/>
            <a:ext cx="3214511" cy="586655"/>
          </a:xfrm>
          <a:prstGeom prst="wedgeRectCallout">
            <a:avLst>
              <a:gd name="adj1" fmla="val 1949"/>
              <a:gd name="adj2" fmla="val -292771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需要重复执行的动作</a:t>
            </a:r>
          </a:p>
        </p:txBody>
      </p:sp>
    </p:spTree>
    <p:extLst>
      <p:ext uri="{BB962C8B-B14F-4D97-AF65-F5344CB8AC3E}">
        <p14:creationId xmlns:p14="http://schemas.microsoft.com/office/powerpoint/2010/main" val="1691686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 animBg="1"/>
      <p:bldP spid="10250" grpId="0" animBg="1"/>
      <p:bldP spid="10251" grpId="0" animBg="1"/>
      <p:bldP spid="10252" grpId="0" animBg="1"/>
      <p:bldP spid="10253" grpId="0" animBg="1"/>
      <p:bldP spid="10254" grpId="0" animBg="1"/>
      <p:bldP spid="10255" grpId="0" animBg="1"/>
      <p:bldP spid="10256" grpId="0" animBg="1"/>
      <p:bldP spid="10257" grpId="0" animBg="1"/>
      <p:bldP spid="10258" grpId="0" animBg="1"/>
      <p:bldP spid="10259" grpId="0"/>
      <p:bldP spid="10260" grpId="0"/>
      <p:bldP spid="10261" grpId="0" animBg="1"/>
      <p:bldP spid="10248" grpId="0" animBg="1"/>
      <p:bldP spid="22" grpId="0" animBg="1"/>
      <p:bldP spid="23" grpId="0" animBg="1"/>
      <p:bldP spid="28" grpId="0" animBg="1" autoUpdateAnimBg="0"/>
      <p:bldP spid="29" grpId="0" animBg="1" autoUpdateAnimBg="0"/>
      <p:bldP spid="30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81" name="Text Box 5"/>
          <p:cNvSpPr txBox="1">
            <a:spLocks noChangeArrowheads="1"/>
          </p:cNvSpPr>
          <p:nvPr/>
        </p:nvSpPr>
        <p:spPr bwMode="auto">
          <a:xfrm>
            <a:off x="2813050" y="1649028"/>
            <a:ext cx="3053786" cy="4487575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265767" bIns="189833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初始值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while(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表达式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循环体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382984" name="Text Box 8"/>
          <p:cNvSpPr txBox="1">
            <a:spLocks noChangeArrowheads="1"/>
          </p:cNvSpPr>
          <p:nvPr/>
        </p:nvSpPr>
        <p:spPr bwMode="auto">
          <a:xfrm>
            <a:off x="6027561" y="1649029"/>
            <a:ext cx="4098502" cy="4487576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37967" rIns="18983" bIns="75933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b="1" dirty="0" err="1">
                <a:latin typeface="Times New Roman" pitchFamily="18" charset="0"/>
                <a:ea typeface="+mn-ea"/>
                <a:cs typeface="Times New Roman" pitchFamily="18" charset="0"/>
              </a:rPr>
              <a:t>int</a:t>
            </a:r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x=3</a:t>
            </a:r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while(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x&gt;0</a:t>
            </a:r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) 	 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{  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     </a:t>
            </a:r>
            <a:r>
              <a:rPr lang="en-US" altLang="zh-CN" b="1" dirty="0" err="1">
                <a:latin typeface="Times New Roman" pitchFamily="18" charset="0"/>
                <a:ea typeface="+mn-ea"/>
                <a:cs typeface="Times New Roman" pitchFamily="18" charset="0"/>
              </a:rPr>
              <a:t>printf</a:t>
            </a:r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("%</a:t>
            </a:r>
            <a:r>
              <a:rPr lang="en-US" altLang="zh-CN" b="1" dirty="0" err="1">
                <a:latin typeface="Times New Roman" pitchFamily="18" charset="0"/>
                <a:ea typeface="+mn-ea"/>
                <a:cs typeface="Times New Roman" pitchFamily="18" charset="0"/>
              </a:rPr>
              <a:t>d",x</a:t>
            </a:r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);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x--</a:t>
            </a:r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 } 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161220" y="426771"/>
            <a:ext cx="4220944" cy="988289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5.2.1 while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B106BF0B-AE15-4711-B934-557B58E86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396" y="3909816"/>
            <a:ext cx="1706563" cy="601662"/>
          </a:xfrm>
          <a:prstGeom prst="wedgeRectCallout">
            <a:avLst>
              <a:gd name="adj1" fmla="val 88154"/>
              <a:gd name="adj2" fmla="val -149885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关键字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880C688E-C404-4D77-A6BC-887CD1C3D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993" y="509392"/>
            <a:ext cx="2016224" cy="823046"/>
          </a:xfrm>
          <a:prstGeom prst="wedgeRectCallout">
            <a:avLst>
              <a:gd name="adj1" fmla="val 65329"/>
              <a:gd name="adj2" fmla="val 24573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判别循环体执行与否的条件</a:t>
            </a:r>
          </a:p>
        </p:txBody>
      </p:sp>
      <p:sp>
        <p:nvSpPr>
          <p:cNvPr id="9" name="AutoShape 13">
            <a:extLst>
              <a:ext uri="{FF2B5EF4-FFF2-40B4-BE49-F238E27FC236}">
                <a16:creationId xmlns:a16="http://schemas.microsoft.com/office/drawing/2014/main" id="{B161E6A1-6B69-43EE-8293-EAFA6D780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050" y="6352629"/>
            <a:ext cx="3214511" cy="586655"/>
          </a:xfrm>
          <a:prstGeom prst="wedgeRectCallout">
            <a:avLst>
              <a:gd name="adj1" fmla="val 1949"/>
              <a:gd name="adj2" fmla="val -292771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需要重复执行的动作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23342A-E402-4EC4-86AD-1927033148C1}"/>
              </a:ext>
            </a:extLst>
          </p:cNvPr>
          <p:cNvSpPr txBox="1"/>
          <p:nvPr/>
        </p:nvSpPr>
        <p:spPr>
          <a:xfrm>
            <a:off x="41871" y="223238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182175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2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2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29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2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29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29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29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2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2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29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29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  <p:bldP spid="9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4A341AB-A48A-44F3-8A20-0201CFBEE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8815" y="375965"/>
            <a:ext cx="8721725" cy="600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#include&lt;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void main( 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{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k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while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k&gt;2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（“ *”）；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k- -</a:t>
            </a:r>
            <a:r>
              <a:rPr lang="zh-CN" altLang="en-US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（”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＝％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d”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）；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}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3" name="Rectangle 43">
            <a:extLst>
              <a:ext uri="{FF2B5EF4-FFF2-40B4-BE49-F238E27FC236}">
                <a16:creationId xmlns:a16="http://schemas.microsoft.com/office/drawing/2014/main" id="{DB14326B-C6F4-4E02-9148-C1AFAB87A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6916" y="3479986"/>
            <a:ext cx="547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{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9D2BEE-AE5B-450D-B685-0927B9897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908" y="4145148"/>
            <a:ext cx="4810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}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D7F7C1-81EB-40FD-8EFC-7F0044423C30}"/>
              </a:ext>
            </a:extLst>
          </p:cNvPr>
          <p:cNvSpPr txBox="1"/>
          <p:nvPr/>
        </p:nvSpPr>
        <p:spPr>
          <a:xfrm>
            <a:off x="53321" y="159941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初体验一</a:t>
            </a:r>
          </a:p>
        </p:txBody>
      </p:sp>
      <p:sp>
        <p:nvSpPr>
          <p:cNvPr id="6" name="爆炸形: 8 pt  5">
            <a:extLst>
              <a:ext uri="{FF2B5EF4-FFF2-40B4-BE49-F238E27FC236}">
                <a16:creationId xmlns:a16="http://schemas.microsoft.com/office/drawing/2014/main" id="{E047E79A-AB7A-4DAB-A319-80AF1110B942}"/>
              </a:ext>
            </a:extLst>
          </p:cNvPr>
          <p:cNvSpPr/>
          <p:nvPr/>
        </p:nvSpPr>
        <p:spPr>
          <a:xfrm>
            <a:off x="8445599" y="1600101"/>
            <a:ext cx="2736304" cy="2472022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对吗？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D43A7294-474D-4B9D-A749-7D530DA26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3592" y="4288148"/>
            <a:ext cx="3240360" cy="1344402"/>
          </a:xfrm>
          <a:prstGeom prst="wedgeRoundRectCallout">
            <a:avLst>
              <a:gd name="adj1" fmla="val -136424"/>
              <a:gd name="adj2" fmla="val -31016"/>
              <a:gd name="adj3" fmla="val 16667"/>
            </a:avLst>
          </a:prstGeom>
          <a:solidFill>
            <a:srgbClr val="FFFF99"/>
          </a:solidFill>
          <a:ln w="38100">
            <a:solidFill>
              <a:srgbClr val="6BF50D"/>
            </a:solidFill>
            <a:miter lim="800000"/>
            <a:headEnd/>
            <a:tailEnd/>
          </a:ln>
        </p:spPr>
        <p:txBody>
          <a:bodyPr lIns="0" rIns="0"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循环体由多条语句构成要写成复合语句形式</a:t>
            </a:r>
          </a:p>
        </p:txBody>
      </p:sp>
    </p:spTree>
    <p:extLst>
      <p:ext uri="{BB962C8B-B14F-4D97-AF65-F5344CB8AC3E}">
        <p14:creationId xmlns:p14="http://schemas.microsoft.com/office/powerpoint/2010/main" val="23430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DD7F7C1-81EB-40FD-8EFC-7F0044423C30}"/>
              </a:ext>
            </a:extLst>
          </p:cNvPr>
          <p:cNvSpPr txBox="1"/>
          <p:nvPr/>
        </p:nvSpPr>
        <p:spPr>
          <a:xfrm>
            <a:off x="53321" y="159941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初体验二</a:t>
            </a:r>
          </a:p>
        </p:txBody>
      </p:sp>
      <p:sp>
        <p:nvSpPr>
          <p:cNvPr id="6" name="爆炸形: 8 pt  5">
            <a:extLst>
              <a:ext uri="{FF2B5EF4-FFF2-40B4-BE49-F238E27FC236}">
                <a16:creationId xmlns:a16="http://schemas.microsoft.com/office/drawing/2014/main" id="{E047E79A-AB7A-4DAB-A319-80AF1110B942}"/>
              </a:ext>
            </a:extLst>
          </p:cNvPr>
          <p:cNvSpPr/>
          <p:nvPr/>
        </p:nvSpPr>
        <p:spPr>
          <a:xfrm>
            <a:off x="8445599" y="1600101"/>
            <a:ext cx="2736304" cy="2472022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对吗？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A674DF7-2A8A-482E-A05D-B8CE6F84A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871" y="638324"/>
            <a:ext cx="8721725" cy="600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#include&lt;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stdio.h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void main( 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{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k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；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while(k&gt;2)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(“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*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”)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k++</a:t>
            </a:r>
            <a:r>
              <a:rPr lang="zh-CN" altLang="en-US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(“k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＝％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d”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k)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；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}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A3D6F996-45B7-4C35-954C-9293B1D3B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575" y="4696296"/>
            <a:ext cx="3997325" cy="1728341"/>
          </a:xfrm>
          <a:prstGeom prst="wedgeRoundRectCallout">
            <a:avLst>
              <a:gd name="adj1" fmla="val -145063"/>
              <a:gd name="adj2" fmla="val -35874"/>
              <a:gd name="adj3" fmla="val 16667"/>
            </a:avLst>
          </a:prstGeom>
          <a:solidFill>
            <a:srgbClr val="FFFF99"/>
          </a:solidFill>
          <a:ln w="38100">
            <a:solidFill>
              <a:srgbClr val="6BF50D"/>
            </a:solidFill>
            <a:miter lim="800000"/>
            <a:headEnd/>
            <a:tailEnd/>
          </a:ln>
        </p:spPr>
        <p:txBody>
          <a:bodyPr lIns="0" rIns="0"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循环体中应该有不断修改表达式的值，</a:t>
            </a:r>
            <a:r>
              <a:rPr kumimoji="0" lang="zh-CN" altLang="en-US" sz="24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使循环能够趋于结束</a:t>
            </a:r>
            <a:r>
              <a:rPr kumimoji="0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，否则将造成死循环。</a:t>
            </a:r>
          </a:p>
        </p:txBody>
      </p:sp>
    </p:spTree>
    <p:extLst>
      <p:ext uri="{BB962C8B-B14F-4D97-AF65-F5344CB8AC3E}">
        <p14:creationId xmlns:p14="http://schemas.microsoft.com/office/powerpoint/2010/main" val="2487236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6" name="Rectangle 6"/>
          <p:cNvSpPr>
            <a:spLocks noChangeArrowheads="1"/>
          </p:cNvSpPr>
          <p:nvPr/>
        </p:nvSpPr>
        <p:spPr bwMode="auto">
          <a:xfrm>
            <a:off x="3214864" y="2752229"/>
            <a:ext cx="7554101" cy="592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循环体为多语句、单语句或空语句 </a:t>
            </a:r>
          </a:p>
        </p:txBody>
      </p:sp>
      <p:sp>
        <p:nvSpPr>
          <p:cNvPr id="358414" name="Rectangle 14"/>
          <p:cNvSpPr>
            <a:spLocks noChangeArrowheads="1"/>
          </p:cNvSpPr>
          <p:nvPr/>
        </p:nvSpPr>
        <p:spPr bwMode="auto">
          <a:xfrm>
            <a:off x="3214865" y="3688709"/>
            <a:ext cx="7079792" cy="592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4917" tIns="49357" rIns="94917" bIns="49357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循环体中应有使循环趋向结束的语句</a:t>
            </a:r>
          </a:p>
        </p:txBody>
      </p:sp>
      <p:sp>
        <p:nvSpPr>
          <p:cNvPr id="358416" name="Text Box 16"/>
          <p:cNvSpPr txBox="1">
            <a:spLocks noChangeArrowheads="1"/>
          </p:cNvSpPr>
          <p:nvPr/>
        </p:nvSpPr>
        <p:spPr bwMode="auto">
          <a:xfrm>
            <a:off x="3777403" y="2881235"/>
            <a:ext cx="4098502" cy="2236764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37967" rIns="18983" bIns="75933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x=3;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while(</a:t>
            </a:r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x&gt;5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) 	  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{    </a:t>
            </a:r>
            <a:r>
              <a:rPr lang="en-US" altLang="zh-CN" sz="3375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("%</a:t>
            </a:r>
            <a:r>
              <a:rPr lang="en-US" altLang="zh-CN" sz="3375" dirty="0" err="1">
                <a:latin typeface="Times New Roman" pitchFamily="18" charset="0"/>
                <a:ea typeface="隶书" pitchFamily="49" charset="-122"/>
              </a:rPr>
              <a:t>d",x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); 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} </a:t>
            </a:r>
          </a:p>
        </p:txBody>
      </p:sp>
      <p:sp>
        <p:nvSpPr>
          <p:cNvPr id="358409" name="Rectangle 9"/>
          <p:cNvSpPr>
            <a:spLocks noChangeArrowheads="1"/>
          </p:cNvSpPr>
          <p:nvPr/>
        </p:nvSpPr>
        <p:spPr bwMode="auto">
          <a:xfrm>
            <a:off x="3214864" y="935972"/>
            <a:ext cx="7232650" cy="592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先判断表达式的值，后执行循环体</a:t>
            </a:r>
          </a:p>
        </p:txBody>
      </p:sp>
      <p:sp>
        <p:nvSpPr>
          <p:cNvPr id="358410" name="Rectangle 10"/>
          <p:cNvSpPr>
            <a:spLocks noChangeArrowheads="1"/>
          </p:cNvSpPr>
          <p:nvPr/>
        </p:nvSpPr>
        <p:spPr bwMode="auto">
          <a:xfrm>
            <a:off x="3214864" y="1816125"/>
            <a:ext cx="7313013" cy="592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ü"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循环体有可能一次也不执行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413" name="Text Box 13"/>
          <p:cNvSpPr txBox="1">
            <a:spLocks noChangeArrowheads="1"/>
          </p:cNvSpPr>
          <p:nvPr/>
        </p:nvSpPr>
        <p:spPr bwMode="auto">
          <a:xfrm>
            <a:off x="5089995" y="3609052"/>
            <a:ext cx="2812697" cy="1848344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37967" rIns="18983" bIns="75933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x=3;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while</a:t>
            </a:r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(--x&gt;0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) </a:t>
            </a:r>
          </a:p>
          <a:p>
            <a:r>
              <a:rPr lang="zh-CN" altLang="en-US" sz="3375" dirty="0">
                <a:latin typeface="Times New Roman" pitchFamily="18" charset="0"/>
                <a:ea typeface="隶书" pitchFamily="49" charset="-122"/>
              </a:rPr>
              <a:t>　</a:t>
            </a:r>
            <a:r>
              <a:rPr lang="zh-CN" altLang="en-US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; </a:t>
            </a:r>
          </a:p>
        </p:txBody>
      </p:sp>
      <p:sp>
        <p:nvSpPr>
          <p:cNvPr id="358415" name="Text Box 15"/>
          <p:cNvSpPr txBox="1">
            <a:spLocks noChangeArrowheads="1"/>
          </p:cNvSpPr>
          <p:nvPr/>
        </p:nvSpPr>
        <p:spPr bwMode="auto">
          <a:xfrm>
            <a:off x="3828033" y="4451684"/>
            <a:ext cx="4098502" cy="2236764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37967" rIns="18983" bIns="75933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x=3;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while(</a:t>
            </a:r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x&gt;0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) 	  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{  </a:t>
            </a:r>
            <a:r>
              <a:rPr lang="en-US" altLang="zh-CN" sz="3375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("%</a:t>
            </a:r>
            <a:r>
              <a:rPr lang="en-US" altLang="zh-CN" sz="3375" dirty="0" err="1">
                <a:latin typeface="Times New Roman" pitchFamily="18" charset="0"/>
                <a:ea typeface="隶书" pitchFamily="49" charset="-122"/>
              </a:rPr>
              <a:t>d",x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); 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} </a:t>
            </a:r>
          </a:p>
        </p:txBody>
      </p:sp>
      <p:sp>
        <p:nvSpPr>
          <p:cNvPr id="358412" name="Text Box 12"/>
          <p:cNvSpPr txBox="1">
            <a:spLocks noChangeArrowheads="1"/>
          </p:cNvSpPr>
          <p:nvPr/>
        </p:nvSpPr>
        <p:spPr bwMode="auto">
          <a:xfrm>
            <a:off x="4258123" y="3609052"/>
            <a:ext cx="4259227" cy="1848344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37967" rIns="18983" bIns="75933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x=3;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while(</a:t>
            </a:r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x&gt;0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) 	  </a:t>
            </a:r>
          </a:p>
          <a:p>
            <a:r>
              <a:rPr lang="zh-CN" altLang="en-US" sz="3375" dirty="0">
                <a:latin typeface="Times New Roman" pitchFamily="18" charset="0"/>
                <a:ea typeface="隶书" pitchFamily="49" charset="-122"/>
              </a:rPr>
              <a:t>　</a:t>
            </a:r>
            <a:r>
              <a:rPr lang="en-US" altLang="zh-CN" sz="3375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("%</a:t>
            </a:r>
            <a:r>
              <a:rPr lang="en-US" altLang="zh-CN" sz="3375" dirty="0" err="1">
                <a:latin typeface="Times New Roman" pitchFamily="18" charset="0"/>
                <a:ea typeface="隶书" pitchFamily="49" charset="-122"/>
              </a:rPr>
              <a:t>d",x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--); 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</a:t>
            </a:r>
          </a:p>
        </p:txBody>
      </p:sp>
      <p:sp>
        <p:nvSpPr>
          <p:cNvPr id="358411" name="Text Box 11"/>
          <p:cNvSpPr txBox="1">
            <a:spLocks noChangeArrowheads="1"/>
          </p:cNvSpPr>
          <p:nvPr/>
        </p:nvSpPr>
        <p:spPr bwMode="auto">
          <a:xfrm>
            <a:off x="4447093" y="3609052"/>
            <a:ext cx="4098502" cy="2812697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37967" rIns="18983" bIns="75933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x=3;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while(</a:t>
            </a:r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x&gt;0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) 	  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{  </a:t>
            </a:r>
            <a:r>
              <a:rPr lang="en-US" altLang="zh-CN" sz="3375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("%</a:t>
            </a:r>
            <a:r>
              <a:rPr lang="en-US" altLang="zh-CN" sz="3375" dirty="0" err="1">
                <a:latin typeface="Times New Roman" pitchFamily="18" charset="0"/>
                <a:ea typeface="隶书" pitchFamily="49" charset="-122"/>
              </a:rPr>
              <a:t>d",x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); 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</a:t>
            </a:r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x--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;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} </a:t>
            </a:r>
          </a:p>
        </p:txBody>
      </p:sp>
      <p:grpSp>
        <p:nvGrpSpPr>
          <p:cNvPr id="358417" name="Group 17"/>
          <p:cNvGrpSpPr>
            <a:grpSpLocks/>
          </p:cNvGrpSpPr>
          <p:nvPr/>
        </p:nvGrpSpPr>
        <p:grpSpPr bwMode="auto">
          <a:xfrm>
            <a:off x="7313366" y="4762083"/>
            <a:ext cx="1446530" cy="1446530"/>
            <a:chOff x="4344" y="3540"/>
            <a:chExt cx="240" cy="240"/>
          </a:xfrm>
        </p:grpSpPr>
        <p:sp>
          <p:nvSpPr>
            <p:cNvPr id="12302" name="Line 18"/>
            <p:cNvSpPr>
              <a:spLocks noChangeShapeType="1"/>
            </p:cNvSpPr>
            <p:nvPr/>
          </p:nvSpPr>
          <p:spPr bwMode="auto">
            <a:xfrm flipH="1">
              <a:off x="4344" y="3540"/>
              <a:ext cx="240" cy="24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17" tIns="49357" rIns="94917" bIns="49357" anchor="ctr"/>
            <a:lstStyle/>
            <a:p>
              <a:endParaRPr lang="zh-CN" altLang="en-US"/>
            </a:p>
          </p:txBody>
        </p:sp>
        <p:sp>
          <p:nvSpPr>
            <p:cNvPr id="12303" name="Line 19"/>
            <p:cNvSpPr>
              <a:spLocks noChangeShapeType="1"/>
            </p:cNvSpPr>
            <p:nvPr/>
          </p:nvSpPr>
          <p:spPr bwMode="auto">
            <a:xfrm>
              <a:off x="4356" y="3540"/>
              <a:ext cx="228" cy="21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17" tIns="49357" rIns="94917" bIns="49357" anchor="ctr"/>
            <a:lstStyle/>
            <a:p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92DCF9C-B776-46B4-B1C1-26E8C0D89217}"/>
              </a:ext>
            </a:extLst>
          </p:cNvPr>
          <p:cNvSpPr txBox="1"/>
          <p:nvPr/>
        </p:nvSpPr>
        <p:spPr>
          <a:xfrm>
            <a:off x="341353" y="231949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总  结</a:t>
            </a:r>
          </a:p>
        </p:txBody>
      </p:sp>
    </p:spTree>
    <p:extLst>
      <p:ext uri="{BB962C8B-B14F-4D97-AF65-F5344CB8AC3E}">
        <p14:creationId xmlns:p14="http://schemas.microsoft.com/office/powerpoint/2010/main" val="324183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84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84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584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584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58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58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6" grpId="0" build="p" autoUpdateAnimBg="0"/>
      <p:bldP spid="358414" grpId="0" autoUpdateAnimBg="0"/>
      <p:bldP spid="358416" grpId="0" animBg="1" autoUpdateAnimBg="0"/>
      <p:bldP spid="358409" grpId="0" autoUpdateAnimBg="0"/>
      <p:bldP spid="358410" grpId="0" autoUpdateAnimBg="0"/>
      <p:bldP spid="358413" grpId="0" animBg="1" autoUpdateAnimBg="0"/>
      <p:bldP spid="358415" grpId="0" animBg="1" autoUpdateAnimBg="0"/>
      <p:bldP spid="358412" grpId="0" animBg="1" autoUpdateAnimBg="0"/>
      <p:bldP spid="358411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Text Box 2"/>
          <p:cNvSpPr txBox="1">
            <a:spLocks noChangeArrowheads="1"/>
          </p:cNvSpPr>
          <p:nvPr/>
        </p:nvSpPr>
        <p:spPr bwMode="auto">
          <a:xfrm>
            <a:off x="4190271" y="1384077"/>
            <a:ext cx="4224068" cy="4774035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3375" b="1" dirty="0">
                <a:solidFill>
                  <a:schemeClr val="bg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/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#include &lt;</a:t>
            </a:r>
            <a:r>
              <a:rPr lang="en-US" altLang="zh-CN" sz="3375" b="1" dirty="0" err="1">
                <a:latin typeface="Times New Roman" pitchFamily="18" charset="0"/>
                <a:ea typeface="+mn-ea"/>
                <a:cs typeface="Times New Roman" pitchFamily="18" charset="0"/>
              </a:rPr>
              <a:t>stdio.h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&gt;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void main( )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{ 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   </a:t>
            </a:r>
            <a:r>
              <a:rPr lang="en-US" altLang="zh-CN" sz="3375" b="1" dirty="0" err="1">
                <a:latin typeface="Times New Roman" pitchFamily="18" charset="0"/>
                <a:ea typeface="+mn-ea"/>
                <a:cs typeface="Times New Roman" pitchFamily="18" charset="0"/>
              </a:rPr>
              <a:t>int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altLang="zh-CN" sz="3375" b="1" dirty="0" err="1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=1,sum=0;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   while(</a:t>
            </a:r>
            <a:r>
              <a:rPr lang="en-US" altLang="zh-CN" sz="3375" b="1" dirty="0" err="1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&lt;=100)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   {  sum=</a:t>
            </a:r>
            <a:r>
              <a:rPr lang="en-US" altLang="zh-CN" sz="3375" b="1" dirty="0" err="1">
                <a:latin typeface="Times New Roman" pitchFamily="18" charset="0"/>
                <a:ea typeface="+mn-ea"/>
                <a:cs typeface="Times New Roman" pitchFamily="18" charset="0"/>
              </a:rPr>
              <a:t>sum+i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       </a:t>
            </a:r>
            <a:r>
              <a:rPr lang="en-US" altLang="zh-CN" sz="3375" b="1" dirty="0" err="1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++;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    }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   </a:t>
            </a:r>
            <a:r>
              <a:rPr lang="en-US" altLang="zh-CN" sz="3375" b="1" dirty="0" err="1">
                <a:latin typeface="Times New Roman" pitchFamily="18" charset="0"/>
                <a:ea typeface="+mn-ea"/>
                <a:cs typeface="Times New Roman" pitchFamily="18" charset="0"/>
              </a:rPr>
              <a:t>printf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("%</a:t>
            </a:r>
            <a:r>
              <a:rPr lang="en-US" altLang="zh-CN" sz="3375" b="1" dirty="0" err="1">
                <a:latin typeface="Times New Roman" pitchFamily="18" charset="0"/>
                <a:ea typeface="+mn-ea"/>
                <a:cs typeface="Times New Roman" pitchFamily="18" charset="0"/>
              </a:rPr>
              <a:t>d",sum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}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794845" y="1571828"/>
            <a:ext cx="4858751" cy="2193546"/>
            <a:chOff x="3970338" y="1851025"/>
            <a:chExt cx="4360864" cy="2079921"/>
          </a:xfrm>
        </p:grpSpPr>
        <p:sp>
          <p:nvSpPr>
            <p:cNvPr id="359437" name="Oval 13"/>
            <p:cNvSpPr>
              <a:spLocks noChangeArrowheads="1"/>
            </p:cNvSpPr>
            <p:nvPr/>
          </p:nvSpPr>
          <p:spPr bwMode="auto">
            <a:xfrm>
              <a:off x="3970338" y="3428704"/>
              <a:ext cx="1295400" cy="502242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9357" rIns="94917" bIns="49357" anchor="ctr">
              <a:spAutoFit/>
            </a:bodyPr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59459" name="Group 35"/>
            <p:cNvGrpSpPr>
              <a:grpSpLocks/>
            </p:cNvGrpSpPr>
            <p:nvPr/>
          </p:nvGrpSpPr>
          <p:grpSpPr bwMode="auto">
            <a:xfrm>
              <a:off x="5186364" y="1851025"/>
              <a:ext cx="3144838" cy="1722438"/>
              <a:chOff x="3245" y="1085"/>
              <a:chExt cx="1981" cy="1085"/>
            </a:xfrm>
          </p:grpSpPr>
          <p:sp>
            <p:nvSpPr>
              <p:cNvPr id="13328" name="Line 14"/>
              <p:cNvSpPr>
                <a:spLocks noChangeShapeType="1"/>
              </p:cNvSpPr>
              <p:nvPr/>
            </p:nvSpPr>
            <p:spPr bwMode="auto">
              <a:xfrm flipH="1">
                <a:off x="3245" y="1296"/>
                <a:ext cx="883" cy="87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9357" rIns="94917" bIns="49357" anchor="ctr">
                <a:spAutoFit/>
              </a:bodyPr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329" name="Text Box 15"/>
              <p:cNvSpPr txBox="1">
                <a:spLocks noChangeArrowheads="1"/>
              </p:cNvSpPr>
              <p:nvPr/>
            </p:nvSpPr>
            <p:spPr bwMode="auto">
              <a:xfrm>
                <a:off x="4135" y="1085"/>
                <a:ext cx="1091" cy="37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3375">
                    <a:latin typeface="Times New Roman" pitchFamily="18" charset="0"/>
                    <a:ea typeface="+mn-ea"/>
                    <a:cs typeface="Times New Roman" pitchFamily="18" charset="0"/>
                  </a:rPr>
                  <a:t>循环条件</a:t>
                </a:r>
              </a:p>
            </p:txBody>
          </p:sp>
        </p:grpSp>
      </p:grpSp>
      <p:sp>
        <p:nvSpPr>
          <p:cNvPr id="13321" name="Text Box 22"/>
          <p:cNvSpPr txBox="1">
            <a:spLocks noChangeArrowheads="1"/>
          </p:cNvSpPr>
          <p:nvPr/>
        </p:nvSpPr>
        <p:spPr bwMode="auto">
          <a:xfrm>
            <a:off x="3110258" y="384037"/>
            <a:ext cx="286328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</a:t>
            </a:r>
            <a:r>
              <a:rPr lang="zh-CN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循环求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332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955117"/>
              </p:ext>
            </p:extLst>
          </p:nvPr>
        </p:nvGraphicFramePr>
        <p:xfrm>
          <a:off x="5933952" y="159941"/>
          <a:ext cx="1143495" cy="99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5" name="Equation" r:id="rId3" imgW="457200" imgH="520700" progId="Equation.3">
                  <p:embed/>
                </p:oleObj>
              </mc:Choice>
              <mc:Fallback>
                <p:oleObj name="Equation" r:id="rId3" imgW="457200" imgH="520700" progId="Equation.3">
                  <p:embed/>
                  <p:pic>
                    <p:nvPicPr>
                      <p:cNvPr id="1332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3952" y="159941"/>
                        <a:ext cx="1143495" cy="99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500150" y="6324041"/>
            <a:ext cx="7699544" cy="5847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如何修改该程序为计算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1*2*3….10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之积？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9A4A1A-B7B0-43A0-BCA5-8A4CCD865707}"/>
              </a:ext>
            </a:extLst>
          </p:cNvPr>
          <p:cNvSpPr txBox="1"/>
          <p:nvPr/>
        </p:nvSpPr>
        <p:spPr>
          <a:xfrm>
            <a:off x="258459" y="231949"/>
            <a:ext cx="1831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案例一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5D8C16A-A972-4714-890C-FB210CCAD206}"/>
              </a:ext>
            </a:extLst>
          </p:cNvPr>
          <p:cNvGrpSpPr/>
          <p:nvPr/>
        </p:nvGrpSpPr>
        <p:grpSpPr>
          <a:xfrm>
            <a:off x="1820863" y="2693545"/>
            <a:ext cx="4104456" cy="619463"/>
            <a:chOff x="2456503" y="2693545"/>
            <a:chExt cx="3468816" cy="619463"/>
          </a:xfrm>
        </p:grpSpPr>
        <p:grpSp>
          <p:nvGrpSpPr>
            <p:cNvPr id="359455" name="Group 31"/>
            <p:cNvGrpSpPr>
              <a:grpSpLocks/>
            </p:cNvGrpSpPr>
            <p:nvPr/>
          </p:nvGrpSpPr>
          <p:grpSpPr bwMode="auto">
            <a:xfrm>
              <a:off x="2456503" y="2693545"/>
              <a:ext cx="2638578" cy="619463"/>
              <a:chOff x="336" y="1840"/>
              <a:chExt cx="1576" cy="370"/>
            </a:xfrm>
          </p:grpSpPr>
          <p:sp>
            <p:nvSpPr>
              <p:cNvPr id="13330" name="Line 4"/>
              <p:cNvSpPr>
                <a:spLocks noChangeShapeType="1"/>
              </p:cNvSpPr>
              <p:nvPr/>
            </p:nvSpPr>
            <p:spPr bwMode="auto">
              <a:xfrm>
                <a:off x="1432" y="2056"/>
                <a:ext cx="480" cy="1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49357" rIns="94917" bIns="49357" anchor="ctr">
                <a:spAutoFit/>
              </a:bodyPr>
              <a:lstStyle/>
              <a:p>
                <a:endParaRPr lang="zh-CN" altLang="en-US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331" name="Text Box 5"/>
              <p:cNvSpPr txBox="1">
                <a:spLocks noChangeArrowheads="1"/>
              </p:cNvSpPr>
              <p:nvPr/>
            </p:nvSpPr>
            <p:spPr bwMode="auto">
              <a:xfrm>
                <a:off x="336" y="1840"/>
                <a:ext cx="1091" cy="37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3375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循环初值</a:t>
                </a:r>
              </a:p>
            </p:txBody>
          </p:sp>
        </p:grpSp>
        <p:sp>
          <p:nvSpPr>
            <p:cNvPr id="24" name="Oval 13">
              <a:extLst>
                <a:ext uri="{FF2B5EF4-FFF2-40B4-BE49-F238E27FC236}">
                  <a16:creationId xmlns:a16="http://schemas.microsoft.com/office/drawing/2014/main" id="{5FD4846E-F3F5-4222-80AC-DE12C145D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5499" y="2829472"/>
              <a:ext cx="769820" cy="4812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49357" rIns="94917" bIns="49357" anchor="ctr">
              <a:spAutoFit/>
            </a:bodyPr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0A80FAF-6336-4DF1-86F7-75D1EFF10C0D}"/>
              </a:ext>
            </a:extLst>
          </p:cNvPr>
          <p:cNvGrpSpPr/>
          <p:nvPr/>
        </p:nvGrpSpPr>
        <p:grpSpPr>
          <a:xfrm>
            <a:off x="2540943" y="3919090"/>
            <a:ext cx="3323575" cy="1138472"/>
            <a:chOff x="2540943" y="3919090"/>
            <a:chExt cx="3323575" cy="1138472"/>
          </a:xfrm>
        </p:grpSpPr>
        <p:grpSp>
          <p:nvGrpSpPr>
            <p:cNvPr id="359454" name="Group 30"/>
            <p:cNvGrpSpPr>
              <a:grpSpLocks/>
            </p:cNvGrpSpPr>
            <p:nvPr/>
          </p:nvGrpSpPr>
          <p:grpSpPr bwMode="auto">
            <a:xfrm>
              <a:off x="2540943" y="3919090"/>
              <a:ext cx="2509663" cy="1138472"/>
              <a:chOff x="552" y="2551"/>
              <a:chExt cx="1680" cy="680"/>
            </a:xfrm>
          </p:grpSpPr>
          <p:sp>
            <p:nvSpPr>
              <p:cNvPr id="13324" name="Text Box 11"/>
              <p:cNvSpPr txBox="1">
                <a:spLocks noChangeArrowheads="1"/>
              </p:cNvSpPr>
              <p:nvPr/>
            </p:nvSpPr>
            <p:spPr bwMode="auto">
              <a:xfrm>
                <a:off x="552" y="2551"/>
                <a:ext cx="933" cy="68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C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3375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循环变</a:t>
                </a:r>
              </a:p>
              <a:p>
                <a:pPr eaLnBrk="1" hangingPunct="1"/>
                <a:r>
                  <a:rPr lang="zh-CN" altLang="en-US" sz="3375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量增值</a:t>
                </a:r>
              </a:p>
            </p:txBody>
          </p:sp>
          <p:sp>
            <p:nvSpPr>
              <p:cNvPr id="13325" name="Line 26"/>
              <p:cNvSpPr>
                <a:spLocks noChangeShapeType="1"/>
              </p:cNvSpPr>
              <p:nvPr/>
            </p:nvSpPr>
            <p:spPr bwMode="auto">
              <a:xfrm>
                <a:off x="1485" y="2871"/>
                <a:ext cx="747" cy="1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4917" tIns="49357" rIns="94917" bIns="49357">
                <a:spAutoFit/>
              </a:bodyPr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5" name="Oval 13">
              <a:extLst>
                <a:ext uri="{FF2B5EF4-FFF2-40B4-BE49-F238E27FC236}">
                  <a16:creationId xmlns:a16="http://schemas.microsoft.com/office/drawing/2014/main" id="{88A228DA-9AF0-4AED-B98F-22A68F80B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223" y="4166768"/>
              <a:ext cx="803295" cy="529679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49357" rIns="94917" bIns="49357" anchor="ctr">
              <a:spAutoFit/>
            </a:bodyPr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303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9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9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94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9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94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9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9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9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94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9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09413" y="578655"/>
            <a:ext cx="5225904" cy="811475"/>
          </a:xfrm>
          <a:prstGeom prst="rect">
            <a:avLst/>
          </a:prstGeom>
          <a:effectLst/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5.2.2 </a:t>
            </a:r>
            <a:r>
              <a:rPr lang="en-US" altLang="zh-CN" sz="4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do_while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237556" y="1528093"/>
            <a:ext cx="3368283" cy="5264815"/>
            <a:chOff x="2548936" y="1124744"/>
            <a:chExt cx="3193807" cy="5352342"/>
          </a:xfrm>
        </p:grpSpPr>
        <p:grpSp>
          <p:nvGrpSpPr>
            <p:cNvPr id="361510" name="Group 38"/>
            <p:cNvGrpSpPr>
              <a:grpSpLocks/>
            </p:cNvGrpSpPr>
            <p:nvPr/>
          </p:nvGrpSpPr>
          <p:grpSpPr bwMode="auto">
            <a:xfrm>
              <a:off x="2548936" y="2042542"/>
              <a:ext cx="3193807" cy="4434544"/>
              <a:chOff x="2966" y="976"/>
              <a:chExt cx="1854" cy="2573"/>
            </a:xfrm>
          </p:grpSpPr>
          <p:sp>
            <p:nvSpPr>
              <p:cNvPr id="14341" name="Line 39"/>
              <p:cNvSpPr>
                <a:spLocks noChangeShapeType="1"/>
              </p:cNvSpPr>
              <p:nvPr/>
            </p:nvSpPr>
            <p:spPr bwMode="auto">
              <a:xfrm>
                <a:off x="4073" y="1796"/>
                <a:ext cx="0" cy="4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b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endParaRPr>
              </a:p>
            </p:txBody>
          </p:sp>
          <p:grpSp>
            <p:nvGrpSpPr>
              <p:cNvPr id="14342" name="Group 40"/>
              <p:cNvGrpSpPr>
                <a:grpSpLocks/>
              </p:cNvGrpSpPr>
              <p:nvPr/>
            </p:nvGrpSpPr>
            <p:grpSpPr bwMode="auto">
              <a:xfrm>
                <a:off x="2966" y="976"/>
                <a:ext cx="1854" cy="2573"/>
                <a:chOff x="2966" y="976"/>
                <a:chExt cx="1854" cy="2573"/>
              </a:xfrm>
            </p:grpSpPr>
            <p:sp>
              <p:nvSpPr>
                <p:cNvPr id="14343" name="Rectangle 41"/>
                <p:cNvSpPr>
                  <a:spLocks noChangeArrowheads="1"/>
                </p:cNvSpPr>
                <p:nvPr/>
              </p:nvSpPr>
              <p:spPr bwMode="auto">
                <a:xfrm>
                  <a:off x="2966" y="3236"/>
                  <a:ext cx="106" cy="3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hlink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4917" tIns="49357" rIns="94917" bIns="49357">
                  <a:spAutoFit/>
                </a:bodyPr>
                <a:lstStyle/>
                <a:p>
                  <a:endPara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344" name="Line 42"/>
                <p:cNvSpPr>
                  <a:spLocks noChangeShapeType="1"/>
                </p:cNvSpPr>
                <p:nvPr/>
              </p:nvSpPr>
              <p:spPr bwMode="auto">
                <a:xfrm>
                  <a:off x="4065" y="976"/>
                  <a:ext cx="0" cy="56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b="1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endParaRPr>
                </a:p>
              </p:txBody>
            </p:sp>
            <p:sp useBgFill="1">
              <p:nvSpPr>
                <p:cNvPr id="14345" name="AutoShape 43"/>
                <p:cNvSpPr>
                  <a:spLocks noChangeArrowheads="1"/>
                </p:cNvSpPr>
                <p:nvPr/>
              </p:nvSpPr>
              <p:spPr bwMode="auto">
                <a:xfrm>
                  <a:off x="3310" y="2271"/>
                  <a:ext cx="1510" cy="472"/>
                </a:xfrm>
                <a:prstGeom prst="flowChartDecision">
                  <a:avLst/>
                </a:prstGeom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2800" b="1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rPr>
                    <a:t>表达式</a:t>
                  </a:r>
                </a:p>
              </p:txBody>
            </p:sp>
            <p:sp>
              <p:nvSpPr>
                <p:cNvPr id="14346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3038" y="1212"/>
                  <a:ext cx="0" cy="1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b="1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347" name="Line 45"/>
                <p:cNvSpPr>
                  <a:spLocks noChangeShapeType="1"/>
                </p:cNvSpPr>
                <p:nvPr/>
              </p:nvSpPr>
              <p:spPr bwMode="auto">
                <a:xfrm>
                  <a:off x="3038" y="1201"/>
                  <a:ext cx="10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b="1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348" name="Line 46"/>
                <p:cNvSpPr>
                  <a:spLocks noChangeShapeType="1"/>
                </p:cNvSpPr>
                <p:nvPr/>
              </p:nvSpPr>
              <p:spPr bwMode="auto">
                <a:xfrm>
                  <a:off x="4070" y="2746"/>
                  <a:ext cx="3" cy="64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b="1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349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4069" y="2907"/>
                  <a:ext cx="299" cy="30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>
                    <a:defRPr sz="27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>
                    <a:defRPr sz="23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lang="zh-CN" altLang="en-US" sz="2800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rPr>
                    <a:t>假</a:t>
                  </a:r>
                </a:p>
              </p:txBody>
            </p:sp>
            <p:sp>
              <p:nvSpPr>
                <p:cNvPr id="14350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2982" y="2201"/>
                  <a:ext cx="424" cy="30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>
                    <a:defRPr sz="27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>
                    <a:defRPr sz="23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lang="zh-CN" altLang="en-US" sz="2800" b="1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rPr>
                    <a:t>真</a:t>
                  </a:r>
                </a:p>
              </p:txBody>
            </p:sp>
            <p:sp>
              <p:nvSpPr>
                <p:cNvPr id="14351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574" y="1464"/>
                  <a:ext cx="996" cy="30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>
                    <a:defRPr sz="27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>
                    <a:defRPr sz="23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 b="1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rPr>
                    <a:t>循环体</a:t>
                  </a:r>
                </a:p>
              </p:txBody>
            </p:sp>
            <p:sp>
              <p:nvSpPr>
                <p:cNvPr id="14352" name="Line 50"/>
                <p:cNvSpPr>
                  <a:spLocks noChangeShapeType="1"/>
                </p:cNvSpPr>
                <p:nvPr/>
              </p:nvSpPr>
              <p:spPr bwMode="auto">
                <a:xfrm>
                  <a:off x="3046" y="2504"/>
                  <a:ext cx="29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b="1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3470830" y="1751939"/>
              <a:ext cx="1965266" cy="5319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初始值</a:t>
              </a:r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4453463" y="1124744"/>
              <a:ext cx="0" cy="623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4DC8B77C-4A3B-4116-8C16-D18E75707616}"/>
              </a:ext>
            </a:extLst>
          </p:cNvPr>
          <p:cNvSpPr txBox="1"/>
          <p:nvPr/>
        </p:nvSpPr>
        <p:spPr>
          <a:xfrm>
            <a:off x="164679" y="49833"/>
            <a:ext cx="2016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do-while</a:t>
            </a: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2628937" y="1873709"/>
            <a:ext cx="3535962" cy="4694944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265767" bIns="189833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初始值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  </a:t>
            </a: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循环体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}while(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表达式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2360696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7" name="Text Box 3"/>
          <p:cNvSpPr txBox="1">
            <a:spLocks noChangeArrowheads="1"/>
          </p:cNvSpPr>
          <p:nvPr/>
        </p:nvSpPr>
        <p:spPr bwMode="auto">
          <a:xfrm>
            <a:off x="2396927" y="1657685"/>
            <a:ext cx="3535962" cy="4694944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265767" bIns="189833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初始值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  </a:t>
            </a: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循环体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}while(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表达式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 </a:t>
            </a:r>
          </a:p>
        </p:txBody>
      </p:sp>
      <p:sp>
        <p:nvSpPr>
          <p:cNvPr id="385028" name="Text Box 4"/>
          <p:cNvSpPr txBox="1">
            <a:spLocks noChangeArrowheads="1"/>
          </p:cNvSpPr>
          <p:nvPr/>
        </p:nvSpPr>
        <p:spPr bwMode="auto">
          <a:xfrm>
            <a:off x="6711914" y="1657685"/>
            <a:ext cx="3965933" cy="4694944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37967" rIns="18983" bIns="75933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x=3;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do	  </a:t>
            </a:r>
          </a:p>
          <a:p>
            <a:pPr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{   </a:t>
            </a:r>
          </a:p>
          <a:p>
            <a:pPr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     </a:t>
            </a:r>
            <a:r>
              <a:rPr lang="en-US" altLang="zh-CN" sz="3600" b="1" dirty="0" err="1">
                <a:latin typeface="Times New Roman" pitchFamily="18" charset="0"/>
                <a:ea typeface="+mn-ea"/>
                <a:cs typeface="Times New Roman" pitchFamily="18" charset="0"/>
              </a:rPr>
              <a:t>printf</a:t>
            </a: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("%</a:t>
            </a:r>
            <a:r>
              <a:rPr lang="en-US" altLang="zh-CN" sz="3600" b="1" dirty="0" err="1">
                <a:latin typeface="Times New Roman" pitchFamily="18" charset="0"/>
                <a:ea typeface="+mn-ea"/>
                <a:cs typeface="Times New Roman" pitchFamily="18" charset="0"/>
              </a:rPr>
              <a:t>d",x</a:t>
            </a: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);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x--;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  }while(</a:t>
            </a: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x&gt;0</a:t>
            </a: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); </a:t>
            </a:r>
          </a:p>
        </p:txBody>
      </p:sp>
      <p:sp>
        <p:nvSpPr>
          <p:cNvPr id="6" name="矩形 5"/>
          <p:cNvSpPr/>
          <p:nvPr/>
        </p:nvSpPr>
        <p:spPr>
          <a:xfrm>
            <a:off x="3809413" y="578655"/>
            <a:ext cx="5225904" cy="811475"/>
          </a:xfrm>
          <a:prstGeom prst="rect">
            <a:avLst/>
          </a:prstGeom>
          <a:effectLst/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5.2.2 </a:t>
            </a:r>
            <a:r>
              <a:rPr lang="en-US" altLang="zh-CN" sz="4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do_while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FCC9C3-F5AC-4A59-8AD2-F6772F5B26AE}"/>
              </a:ext>
            </a:extLst>
          </p:cNvPr>
          <p:cNvSpPr txBox="1"/>
          <p:nvPr/>
        </p:nvSpPr>
        <p:spPr>
          <a:xfrm>
            <a:off x="164679" y="49833"/>
            <a:ext cx="2016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do-while</a:t>
            </a: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367162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5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5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5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5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5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5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5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5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5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5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5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190079" y="134541"/>
            <a:ext cx="1938261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说  明</a:t>
            </a:r>
          </a:p>
        </p:txBody>
      </p:sp>
      <p:sp>
        <p:nvSpPr>
          <p:cNvPr id="386051" name="Rectangle 3"/>
          <p:cNvSpPr>
            <a:spLocks noChangeArrowheads="1"/>
          </p:cNvSpPr>
          <p:nvPr/>
        </p:nvSpPr>
        <p:spPr bwMode="auto">
          <a:xfrm>
            <a:off x="2859928" y="935972"/>
            <a:ext cx="7232650" cy="592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先执行循环体，再判断表达式的值</a:t>
            </a:r>
          </a:p>
        </p:txBody>
      </p:sp>
      <p:sp>
        <p:nvSpPr>
          <p:cNvPr id="386052" name="Text Box 4"/>
          <p:cNvSpPr txBox="1">
            <a:spLocks noChangeArrowheads="1"/>
          </p:cNvSpPr>
          <p:nvPr/>
        </p:nvSpPr>
        <p:spPr bwMode="auto">
          <a:xfrm>
            <a:off x="3695471" y="2837397"/>
            <a:ext cx="4178864" cy="2812697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37967" rIns="18983" bIns="75933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x=-3;</a:t>
            </a:r>
          </a:p>
          <a:p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do	  </a:t>
            </a:r>
          </a:p>
          <a:p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{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("%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d",x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); </a:t>
            </a:r>
          </a:p>
          <a:p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x--;</a:t>
            </a:r>
          </a:p>
          <a:p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}while(</a:t>
            </a:r>
            <a:r>
              <a:rPr lang="en-US" altLang="zh-CN" sz="3375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x&gt;0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); </a:t>
            </a:r>
          </a:p>
        </p:txBody>
      </p:sp>
      <p:sp>
        <p:nvSpPr>
          <p:cNvPr id="386053" name="Rectangle 5"/>
          <p:cNvSpPr>
            <a:spLocks noChangeArrowheads="1"/>
          </p:cNvSpPr>
          <p:nvPr/>
        </p:nvSpPr>
        <p:spPr bwMode="auto">
          <a:xfrm>
            <a:off x="2859928" y="1960141"/>
            <a:ext cx="5223581" cy="592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循环体最少执行一次</a:t>
            </a:r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6054" name="Rectangle 6"/>
          <p:cNvSpPr>
            <a:spLocks noChangeArrowheads="1"/>
          </p:cNvSpPr>
          <p:nvPr/>
        </p:nvSpPr>
        <p:spPr bwMode="auto">
          <a:xfrm>
            <a:off x="2859929" y="3030581"/>
            <a:ext cx="7518943" cy="592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习惯上将循环体用一对大括号括起来 </a:t>
            </a:r>
          </a:p>
        </p:txBody>
      </p:sp>
      <p:sp>
        <p:nvSpPr>
          <p:cNvPr id="386057" name="Text Box 9"/>
          <p:cNvSpPr txBox="1">
            <a:spLocks noChangeArrowheads="1"/>
          </p:cNvSpPr>
          <p:nvPr/>
        </p:nvSpPr>
        <p:spPr bwMode="auto">
          <a:xfrm>
            <a:off x="3743919" y="3791883"/>
            <a:ext cx="4500316" cy="2330521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37967" rIns="18983" bIns="75933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x=3;</a:t>
            </a:r>
          </a:p>
          <a:p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do	  </a:t>
            </a:r>
          </a:p>
          <a:p>
            <a:r>
              <a:rPr lang="zh-CN" altLang="en-US" sz="3375" b="1" dirty="0">
                <a:latin typeface="Times New Roman" pitchFamily="18" charset="0"/>
                <a:ea typeface="隶书" pitchFamily="49" charset="-122"/>
              </a:rPr>
              <a:t>　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("%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d",x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--); </a:t>
            </a:r>
          </a:p>
          <a:p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while(x&gt;0); </a:t>
            </a:r>
          </a:p>
        </p:txBody>
      </p:sp>
      <p:grpSp>
        <p:nvGrpSpPr>
          <p:cNvPr id="386061" name="Group 13"/>
          <p:cNvGrpSpPr>
            <a:grpSpLocks/>
          </p:cNvGrpSpPr>
          <p:nvPr/>
        </p:nvGrpSpPr>
        <p:grpSpPr bwMode="auto">
          <a:xfrm>
            <a:off x="3754672" y="5060948"/>
            <a:ext cx="4249183" cy="1073179"/>
            <a:chOff x="1206" y="2544"/>
            <a:chExt cx="2538" cy="641"/>
          </a:xfrm>
        </p:grpSpPr>
        <p:sp>
          <p:nvSpPr>
            <p:cNvPr id="16394" name="Rectangle 11"/>
            <p:cNvSpPr>
              <a:spLocks noChangeArrowheads="1"/>
            </p:cNvSpPr>
            <p:nvPr/>
          </p:nvSpPr>
          <p:spPr bwMode="auto">
            <a:xfrm>
              <a:off x="3024" y="2544"/>
              <a:ext cx="720" cy="6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4917" tIns="49357" rIns="94917" bIns="49357">
              <a:spAutoFit/>
            </a:bodyPr>
            <a:lstStyle/>
            <a:p>
              <a:r>
                <a:rPr lang="zh-CN" altLang="en-US" sz="6328">
                  <a:solidFill>
                    <a:srgbClr val="C00000"/>
                  </a:solidFill>
                  <a:latin typeface="Times New Roman" pitchFamily="18" charset="0"/>
                </a:rPr>
                <a:t>？</a:t>
              </a:r>
              <a:r>
                <a:rPr lang="zh-CN" altLang="en-US" sz="3375">
                  <a:solidFill>
                    <a:srgbClr val="C00000"/>
                  </a:solidFill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16395" name="Rectangle 12"/>
            <p:cNvSpPr>
              <a:spLocks noChangeArrowheads="1"/>
            </p:cNvSpPr>
            <p:nvPr/>
          </p:nvSpPr>
          <p:spPr bwMode="auto">
            <a:xfrm>
              <a:off x="1206" y="2700"/>
              <a:ext cx="1337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17" tIns="49357" rIns="94917" bIns="49357">
              <a:spAutoFit/>
            </a:bodyPr>
            <a:lstStyle/>
            <a:p>
              <a:r>
                <a:rPr lang="en-US" altLang="zh-CN" sz="3375" dirty="0">
                  <a:solidFill>
                    <a:srgbClr val="C00000"/>
                  </a:solidFill>
                  <a:latin typeface="Times New Roman" pitchFamily="18" charset="0"/>
                </a:rPr>
                <a:t>while(x&gt;0);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9304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60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8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86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1" grpId="0" autoUpdateAnimBg="0"/>
      <p:bldP spid="386052" grpId="0" animBg="1" autoUpdateAnimBg="0"/>
      <p:bldP spid="386053" grpId="0" autoUpdateAnimBg="0"/>
      <p:bldP spid="386054" grpId="0" autoUpdateAnimBg="0"/>
      <p:bldP spid="386057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8" name="Rectangle 6"/>
          <p:cNvSpPr>
            <a:spLocks noChangeArrowheads="1"/>
          </p:cNvSpPr>
          <p:nvPr/>
        </p:nvSpPr>
        <p:spPr bwMode="auto">
          <a:xfrm>
            <a:off x="2935269" y="1378473"/>
            <a:ext cx="8174626" cy="653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循环体中应有使循环趋于结束的语句 </a:t>
            </a:r>
          </a:p>
        </p:txBody>
      </p:sp>
      <p:sp>
        <p:nvSpPr>
          <p:cNvPr id="387079" name="Rectangle 7"/>
          <p:cNvSpPr>
            <a:spLocks noChangeArrowheads="1"/>
          </p:cNvSpPr>
          <p:nvPr/>
        </p:nvSpPr>
        <p:spPr bwMode="auto">
          <a:xfrm>
            <a:off x="2935269" y="2463041"/>
            <a:ext cx="6689323" cy="653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ü"/>
            </a:pP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末尾的分号不能省略 </a:t>
            </a:r>
          </a:p>
        </p:txBody>
      </p:sp>
      <p:sp>
        <p:nvSpPr>
          <p:cNvPr id="387081" name="Text Box 9"/>
          <p:cNvSpPr txBox="1">
            <a:spLocks noChangeArrowheads="1"/>
          </p:cNvSpPr>
          <p:nvPr/>
        </p:nvSpPr>
        <p:spPr bwMode="auto">
          <a:xfrm>
            <a:off x="3616678" y="3290260"/>
            <a:ext cx="4500316" cy="2126265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37967" rIns="18983" bIns="75933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3375">
                <a:latin typeface="Times New Roman" pitchFamily="18" charset="0"/>
                <a:ea typeface="隶书" pitchFamily="49" charset="-122"/>
              </a:rPr>
              <a:t>int x=3;</a:t>
            </a:r>
          </a:p>
          <a:p>
            <a:r>
              <a:rPr lang="en-US" altLang="zh-CN" sz="3375">
                <a:latin typeface="Times New Roman" pitchFamily="18" charset="0"/>
                <a:ea typeface="隶书" pitchFamily="49" charset="-122"/>
              </a:rPr>
              <a:t>do	  </a:t>
            </a:r>
          </a:p>
          <a:p>
            <a:r>
              <a:rPr lang="en-US" altLang="zh-CN" sz="3375">
                <a:latin typeface="Times New Roman" pitchFamily="18" charset="0"/>
                <a:ea typeface="隶书" pitchFamily="49" charset="-122"/>
              </a:rPr>
              <a:t>{  printf("%d",x--); </a:t>
            </a:r>
          </a:p>
          <a:p>
            <a:r>
              <a:rPr lang="en-US" altLang="zh-CN" sz="3375">
                <a:latin typeface="Times New Roman" pitchFamily="18" charset="0"/>
                <a:ea typeface="隶书" pitchFamily="49" charset="-122"/>
              </a:rPr>
              <a:t>}while(x&gt;0) </a:t>
            </a:r>
          </a:p>
        </p:txBody>
      </p:sp>
      <p:grpSp>
        <p:nvGrpSpPr>
          <p:cNvPr id="387082" name="Group 10"/>
          <p:cNvGrpSpPr>
            <a:grpSpLocks/>
          </p:cNvGrpSpPr>
          <p:nvPr/>
        </p:nvGrpSpPr>
        <p:grpSpPr bwMode="auto">
          <a:xfrm>
            <a:off x="8848502" y="3871215"/>
            <a:ext cx="1125079" cy="964353"/>
            <a:chOff x="4344" y="3540"/>
            <a:chExt cx="240" cy="240"/>
          </a:xfrm>
        </p:grpSpPr>
        <p:sp>
          <p:nvSpPr>
            <p:cNvPr id="17420" name="Line 11"/>
            <p:cNvSpPr>
              <a:spLocks noChangeShapeType="1"/>
            </p:cNvSpPr>
            <p:nvPr/>
          </p:nvSpPr>
          <p:spPr bwMode="auto">
            <a:xfrm flipH="1">
              <a:off x="4344" y="3540"/>
              <a:ext cx="240" cy="24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17" tIns="49357" rIns="94917" bIns="49357" anchor="ctr"/>
            <a:lstStyle/>
            <a:p>
              <a:endParaRPr lang="zh-CN" altLang="en-US"/>
            </a:p>
          </p:txBody>
        </p:sp>
        <p:sp>
          <p:nvSpPr>
            <p:cNvPr id="17421" name="Line 12"/>
            <p:cNvSpPr>
              <a:spLocks noChangeShapeType="1"/>
            </p:cNvSpPr>
            <p:nvPr/>
          </p:nvSpPr>
          <p:spPr bwMode="auto">
            <a:xfrm>
              <a:off x="4356" y="3540"/>
              <a:ext cx="228" cy="21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17" tIns="49357" rIns="94917" bIns="49357" anchor="ctr"/>
            <a:lstStyle/>
            <a:p>
              <a:endParaRPr lang="zh-CN" altLang="en-US"/>
            </a:p>
          </p:txBody>
        </p:sp>
      </p:grpSp>
      <p:sp>
        <p:nvSpPr>
          <p:cNvPr id="387085" name="Rectangle 13"/>
          <p:cNvSpPr>
            <a:spLocks noChangeArrowheads="1"/>
          </p:cNvSpPr>
          <p:nvPr/>
        </p:nvSpPr>
        <p:spPr bwMode="auto">
          <a:xfrm>
            <a:off x="2888517" y="5544651"/>
            <a:ext cx="6522525" cy="6190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4917" tIns="49357" rIns="94917" bIns="49357" anchor="ctr">
            <a:spAutoFit/>
          </a:bodyPr>
          <a:lstStyle/>
          <a:p>
            <a:pPr algn="ctr"/>
            <a:r>
              <a:rPr lang="en-US" altLang="zh-CN" sz="3375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syntax error : missing ';' before '}'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7ED1809-8150-4B6F-901C-CAF65CD5B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9" y="134541"/>
            <a:ext cx="1938261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说  明</a:t>
            </a:r>
          </a:p>
        </p:txBody>
      </p:sp>
    </p:spTree>
    <p:extLst>
      <p:ext uri="{BB962C8B-B14F-4D97-AF65-F5344CB8AC3E}">
        <p14:creationId xmlns:p14="http://schemas.microsoft.com/office/powerpoint/2010/main" val="14742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7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87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87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8" grpId="0" autoUpdateAnimBg="0"/>
      <p:bldP spid="387079" grpId="0" autoUpdateAnimBg="0"/>
      <p:bldP spid="387081" grpId="0" animBg="1" autoUpdateAnimBg="0"/>
      <p:bldP spid="387085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2871305" y="599373"/>
            <a:ext cx="458811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do…while</a:t>
            </a:r>
            <a:r>
              <a:rPr lang="zh-CN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循环求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62500" name="Text Box 4"/>
          <p:cNvSpPr txBox="1">
            <a:spLocks noChangeArrowheads="1"/>
          </p:cNvSpPr>
          <p:nvPr/>
        </p:nvSpPr>
        <p:spPr bwMode="auto">
          <a:xfrm>
            <a:off x="3477047" y="1600101"/>
            <a:ext cx="5584001" cy="5293407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#include &lt;</a:t>
            </a:r>
            <a:r>
              <a:rPr lang="en-US" altLang="zh-CN" sz="3375" b="1" dirty="0" err="1">
                <a:latin typeface="Times New Roman" pitchFamily="18" charset="0"/>
                <a:ea typeface="+mn-ea"/>
                <a:cs typeface="Times New Roman" pitchFamily="18" charset="0"/>
              </a:rPr>
              <a:t>stdio.h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&gt;</a:t>
            </a:r>
          </a:p>
          <a:p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void main( )</a:t>
            </a:r>
          </a:p>
          <a:p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 {    </a:t>
            </a:r>
          </a:p>
          <a:p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      </a:t>
            </a:r>
            <a:r>
              <a:rPr lang="en-US" altLang="zh-CN" sz="3375" b="1" dirty="0" err="1">
                <a:latin typeface="Times New Roman" pitchFamily="18" charset="0"/>
                <a:ea typeface="+mn-ea"/>
                <a:cs typeface="Times New Roman" pitchFamily="18" charset="0"/>
              </a:rPr>
              <a:t>int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altLang="zh-CN" sz="3375" b="1" dirty="0" err="1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=1,sum=0;</a:t>
            </a:r>
          </a:p>
          <a:p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      do</a:t>
            </a:r>
          </a:p>
          <a:p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      {</a:t>
            </a:r>
          </a:p>
          <a:p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	    </a:t>
            </a:r>
            <a:r>
              <a:rPr lang="en-US" altLang="zh-CN" sz="3375" b="1" dirty="0" err="1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++;</a:t>
            </a:r>
          </a:p>
          <a:p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       }while(             );</a:t>
            </a:r>
          </a:p>
          <a:p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      </a:t>
            </a:r>
            <a:r>
              <a:rPr lang="en-US" altLang="zh-CN" sz="3375" b="1" dirty="0" err="1">
                <a:latin typeface="Times New Roman" pitchFamily="18" charset="0"/>
                <a:ea typeface="+mn-ea"/>
                <a:cs typeface="Times New Roman" pitchFamily="18" charset="0"/>
              </a:rPr>
              <a:t>printf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("%</a:t>
            </a:r>
            <a:r>
              <a:rPr lang="en-US" altLang="zh-CN" sz="3375" b="1" dirty="0" err="1">
                <a:latin typeface="Times New Roman" pitchFamily="18" charset="0"/>
                <a:ea typeface="+mn-ea"/>
                <a:cs typeface="Times New Roman" pitchFamily="18" charset="0"/>
              </a:rPr>
              <a:t>d",sum</a:t>
            </a:r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);</a:t>
            </a:r>
          </a:p>
          <a:p>
            <a:r>
              <a:rPr lang="en-US" altLang="zh-CN" sz="3375" b="1" dirty="0">
                <a:latin typeface="Times New Roman" pitchFamily="18" charset="0"/>
                <a:ea typeface="+mn-ea"/>
                <a:cs typeface="Times New Roman" pitchFamily="18" charset="0"/>
              </a:rPr>
              <a:t>    }</a:t>
            </a:r>
          </a:p>
        </p:txBody>
      </p:sp>
      <p:graphicFrame>
        <p:nvGraphicFramePr>
          <p:cNvPr id="18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406905"/>
              </p:ext>
            </p:extLst>
          </p:nvPr>
        </p:nvGraphicFramePr>
        <p:xfrm>
          <a:off x="7437487" y="459921"/>
          <a:ext cx="1143496" cy="996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9" name="Equation" r:id="rId3" imgW="457200" imgH="520700" progId="Equation.3">
                  <p:embed/>
                </p:oleObj>
              </mc:Choice>
              <mc:Fallback>
                <p:oleObj name="Equation" r:id="rId3" imgW="457200" imgH="520700" progId="Equation.3">
                  <p:embed/>
                  <p:pic>
                    <p:nvPicPr>
                      <p:cNvPr id="184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7487" y="459921"/>
                        <a:ext cx="1143496" cy="996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3BE7AEB9-F0EB-4884-BEA8-F45379186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9" y="134541"/>
            <a:ext cx="1938261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5E8B20-C027-493A-A838-B62544200D31}"/>
              </a:ext>
            </a:extLst>
          </p:cNvPr>
          <p:cNvSpPr/>
          <p:nvPr/>
        </p:nvSpPr>
        <p:spPr>
          <a:xfrm>
            <a:off x="5781303" y="5263798"/>
            <a:ext cx="13821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&lt;=100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002DC0-25E0-45EB-9355-06DB1436D32D}"/>
              </a:ext>
            </a:extLst>
          </p:cNvPr>
          <p:cNvSpPr/>
          <p:nvPr/>
        </p:nvSpPr>
        <p:spPr>
          <a:xfrm>
            <a:off x="4731425" y="4179689"/>
            <a:ext cx="26340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latin typeface="Times New Roman" pitchFamily="18" charset="0"/>
                <a:cs typeface="Times New Roman" pitchFamily="18" charset="0"/>
              </a:rPr>
              <a:t>sum=</a:t>
            </a:r>
            <a:r>
              <a:rPr lang="en-US" altLang="zh-CN" sz="3600" b="1" dirty="0" err="1">
                <a:latin typeface="Times New Roman" pitchFamily="18" charset="0"/>
                <a:cs typeface="Times New Roman" pitchFamily="18" charset="0"/>
              </a:rPr>
              <a:t>sum+i</a:t>
            </a:r>
            <a:r>
              <a:rPr lang="en-US" altLang="zh-CN" sz="3600" b="1" dirty="0">
                <a:latin typeface="Times New Roman" pitchFamily="18" charset="0"/>
                <a:cs typeface="Times New Roman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20288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25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25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25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25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25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25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25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25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25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2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50"/>
          <p:cNvSpPr txBox="1">
            <a:spLocks noChangeArrowheads="1"/>
          </p:cNvSpPr>
          <p:nvPr/>
        </p:nvSpPr>
        <p:spPr bwMode="auto">
          <a:xfrm>
            <a:off x="3621063" y="571665"/>
            <a:ext cx="548810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</a:t>
            </a:r>
            <a:r>
              <a:rPr lang="zh-CN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do…while</a:t>
            </a:r>
            <a:r>
              <a:rPr lang="zh-CN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比较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2784171" y="1528451"/>
            <a:ext cx="3348179" cy="5472250"/>
            <a:chOff x="2895600" y="873212"/>
            <a:chExt cx="3174744" cy="5410708"/>
          </a:xfrm>
        </p:grpSpPr>
        <p:grpSp>
          <p:nvGrpSpPr>
            <p:cNvPr id="36" name="Group 29"/>
            <p:cNvGrpSpPr>
              <a:grpSpLocks/>
            </p:cNvGrpSpPr>
            <p:nvPr/>
          </p:nvGrpSpPr>
          <p:grpSpPr bwMode="auto">
            <a:xfrm>
              <a:off x="2895600" y="2061171"/>
              <a:ext cx="3174744" cy="4222749"/>
              <a:chOff x="1824" y="1008"/>
              <a:chExt cx="1942" cy="2660"/>
            </a:xfrm>
          </p:grpSpPr>
          <p:sp>
            <p:nvSpPr>
              <p:cNvPr id="39" name="Rectangle 24"/>
              <p:cNvSpPr>
                <a:spLocks noChangeArrowheads="1"/>
              </p:cNvSpPr>
              <p:nvPr/>
            </p:nvSpPr>
            <p:spPr bwMode="auto">
              <a:xfrm>
                <a:off x="1880" y="3314"/>
                <a:ext cx="111" cy="3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4917" tIns="49357" rIns="94917" bIns="49357">
                <a:spAutoFit/>
              </a:bodyPr>
              <a:lstStyle/>
              <a:p>
                <a:endParaRPr lang="zh-CN" altLang="en-US" sz="3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0" name="Group 28"/>
              <p:cNvGrpSpPr>
                <a:grpSpLocks/>
              </p:cNvGrpSpPr>
              <p:nvPr/>
            </p:nvGrpSpPr>
            <p:grpSpPr bwMode="auto">
              <a:xfrm>
                <a:off x="1824" y="1008"/>
                <a:ext cx="1942" cy="2280"/>
                <a:chOff x="1872" y="1104"/>
                <a:chExt cx="1942" cy="2280"/>
              </a:xfrm>
            </p:grpSpPr>
            <p:grpSp>
              <p:nvGrpSpPr>
                <p:cNvPr id="41" name="Group 27"/>
                <p:cNvGrpSpPr>
                  <a:grpSpLocks/>
                </p:cNvGrpSpPr>
                <p:nvPr/>
              </p:nvGrpSpPr>
              <p:grpSpPr bwMode="auto">
                <a:xfrm>
                  <a:off x="1872" y="1104"/>
                  <a:ext cx="1942" cy="2280"/>
                  <a:chOff x="1864" y="1104"/>
                  <a:chExt cx="1942" cy="2280"/>
                </a:xfrm>
              </p:grpSpPr>
              <p:sp>
                <p:nvSpPr>
                  <p:cNvPr id="43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2803" y="1104"/>
                    <a:ext cx="0" cy="39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320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 useBgFill="1">
                <p:nvSpPr>
                  <p:cNvPr id="44" name="AutoShape 11"/>
                  <p:cNvSpPr>
                    <a:spLocks noChangeArrowheads="1"/>
                  </p:cNvSpPr>
                  <p:nvPr/>
                </p:nvSpPr>
                <p:spPr bwMode="auto">
                  <a:xfrm>
                    <a:off x="2043" y="1500"/>
                    <a:ext cx="1510" cy="406"/>
                  </a:xfrm>
                  <a:prstGeom prst="flowChartDecision">
                    <a:avLst/>
                  </a:prstGeom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3200" dirty="0">
                        <a:latin typeface="Times New Roman" pitchFamily="18" charset="0"/>
                        <a:cs typeface="Times New Roman" pitchFamily="18" charset="0"/>
                      </a:rPr>
                      <a:t>表达式</a:t>
                    </a:r>
                  </a:p>
                </p:txBody>
              </p:sp>
              <p:sp>
                <p:nvSpPr>
                  <p:cNvPr id="45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2803" y="1907"/>
                    <a:ext cx="0" cy="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320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6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803" y="2632"/>
                    <a:ext cx="0" cy="21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320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7" name="Line 1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66" y="2848"/>
                    <a:ext cx="93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320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8" name="Line 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64" y="1337"/>
                    <a:ext cx="0" cy="150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320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9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1866" y="1327"/>
                    <a:ext cx="93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320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0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3751" y="1699"/>
                    <a:ext cx="0" cy="129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320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1" name="Line 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95" y="2992"/>
                    <a:ext cx="95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320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2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2795" y="2992"/>
                    <a:ext cx="0" cy="3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320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3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61" y="1396"/>
                    <a:ext cx="345" cy="3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32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>
                      <a:defRPr sz="27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>
                      <a:defRPr sz="23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eaLnBrk="0" hangingPunct="0"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eaLnBrk="0" hangingPunct="0"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eaLnBrk="0" hangingPunct="0"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eaLnBrk="0" hangingPunct="0"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>
                        <a:latin typeface="Times New Roman" pitchFamily="18" charset="0"/>
                        <a:ea typeface="+mn-ea"/>
                        <a:cs typeface="Times New Roman" pitchFamily="18" charset="0"/>
                      </a:rPr>
                      <a:t>假</a:t>
                    </a:r>
                  </a:p>
                </p:txBody>
              </p:sp>
              <p:sp>
                <p:nvSpPr>
                  <p:cNvPr id="54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36" y="1859"/>
                    <a:ext cx="424" cy="3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defRPr sz="32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>
                      <a:defRPr sz="27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>
                      <a:defRPr sz="23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eaLnBrk="0" hangingPunct="0"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eaLnBrk="0" hangingPunct="0"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eaLnBrk="0" hangingPunct="0"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eaLnBrk="0" hangingPunct="0"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>
                        <a:latin typeface="Times New Roman" pitchFamily="18" charset="0"/>
                        <a:ea typeface="+mn-ea"/>
                        <a:cs typeface="Times New Roman" pitchFamily="18" charset="0"/>
                      </a:rPr>
                      <a:t>真</a:t>
                    </a:r>
                  </a:p>
                </p:txBody>
              </p:sp>
              <p:sp>
                <p:nvSpPr>
                  <p:cNvPr id="55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02" y="2282"/>
                    <a:ext cx="996" cy="349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defRPr sz="32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>
                      <a:defRPr sz="27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>
                      <a:defRPr sz="23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eaLnBrk="0" hangingPunct="0"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eaLnBrk="0" hangingPunct="0"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eaLnBrk="0" hangingPunct="0"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eaLnBrk="0" hangingPunct="0"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dirty="0">
                        <a:latin typeface="Times New Roman" pitchFamily="18" charset="0"/>
                        <a:ea typeface="+mn-ea"/>
                        <a:cs typeface="Times New Roman" pitchFamily="18" charset="0"/>
                      </a:rPr>
                      <a:t>循环体</a:t>
                    </a:r>
                  </a:p>
                </p:txBody>
              </p:sp>
            </p:grpSp>
            <p:sp>
              <p:nvSpPr>
                <p:cNvPr id="42" name="Line 18"/>
                <p:cNvSpPr>
                  <a:spLocks noChangeShapeType="1"/>
                </p:cNvSpPr>
                <p:nvPr/>
              </p:nvSpPr>
              <p:spPr bwMode="auto">
                <a:xfrm>
                  <a:off x="3527" y="169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32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37" name="Text Box 13"/>
            <p:cNvSpPr txBox="1">
              <a:spLocks noChangeArrowheads="1"/>
            </p:cNvSpPr>
            <p:nvPr/>
          </p:nvSpPr>
          <p:spPr bwMode="auto">
            <a:xfrm>
              <a:off x="3419872" y="1489124"/>
              <a:ext cx="1965266" cy="5544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Times New Roman" pitchFamily="18" charset="0"/>
                  <a:ea typeface="+mn-ea"/>
                  <a:cs typeface="Times New Roman" pitchFamily="18" charset="0"/>
                </a:rPr>
                <a:t>初始值</a:t>
              </a:r>
            </a:p>
          </p:txBody>
        </p:sp>
        <p:sp>
          <p:nvSpPr>
            <p:cNvPr id="38" name="Line 10"/>
            <p:cNvSpPr>
              <a:spLocks noChangeShapeType="1"/>
            </p:cNvSpPr>
            <p:nvPr/>
          </p:nvSpPr>
          <p:spPr bwMode="auto">
            <a:xfrm>
              <a:off x="4402505" y="873212"/>
              <a:ext cx="0" cy="623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478472" y="1565898"/>
            <a:ext cx="3368283" cy="5434804"/>
            <a:chOff x="2548936" y="1124744"/>
            <a:chExt cx="3193807" cy="5374748"/>
          </a:xfrm>
        </p:grpSpPr>
        <p:grpSp>
          <p:nvGrpSpPr>
            <p:cNvPr id="57" name="Group 38"/>
            <p:cNvGrpSpPr>
              <a:grpSpLocks/>
            </p:cNvGrpSpPr>
            <p:nvPr/>
          </p:nvGrpSpPr>
          <p:grpSpPr bwMode="auto">
            <a:xfrm>
              <a:off x="2548936" y="2042542"/>
              <a:ext cx="3193807" cy="4456950"/>
              <a:chOff x="2966" y="976"/>
              <a:chExt cx="1854" cy="2586"/>
            </a:xfrm>
          </p:grpSpPr>
          <p:sp>
            <p:nvSpPr>
              <p:cNvPr id="60" name="Line 39"/>
              <p:cNvSpPr>
                <a:spLocks noChangeShapeType="1"/>
              </p:cNvSpPr>
              <p:nvPr/>
            </p:nvSpPr>
            <p:spPr bwMode="auto">
              <a:xfrm>
                <a:off x="4073" y="1796"/>
                <a:ext cx="0" cy="4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2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61" name="Group 40"/>
              <p:cNvGrpSpPr>
                <a:grpSpLocks/>
              </p:cNvGrpSpPr>
              <p:nvPr/>
            </p:nvGrpSpPr>
            <p:grpSpPr bwMode="auto">
              <a:xfrm>
                <a:off x="2966" y="976"/>
                <a:ext cx="1854" cy="2586"/>
                <a:chOff x="2966" y="976"/>
                <a:chExt cx="1854" cy="2586"/>
              </a:xfrm>
            </p:grpSpPr>
            <p:sp>
              <p:nvSpPr>
                <p:cNvPr id="62" name="Rectangle 41"/>
                <p:cNvSpPr>
                  <a:spLocks noChangeArrowheads="1"/>
                </p:cNvSpPr>
                <p:nvPr/>
              </p:nvSpPr>
              <p:spPr bwMode="auto">
                <a:xfrm>
                  <a:off x="2966" y="3236"/>
                  <a:ext cx="106" cy="3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hlink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4917" tIns="49357" rIns="94917" bIns="49357">
                  <a:spAutoFit/>
                </a:bodyPr>
                <a:lstStyle/>
                <a:p>
                  <a:endParaRPr lang="zh-CN" altLang="en-US" sz="3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3" name="Line 42"/>
                <p:cNvSpPr>
                  <a:spLocks noChangeShapeType="1"/>
                </p:cNvSpPr>
                <p:nvPr/>
              </p:nvSpPr>
              <p:spPr bwMode="auto">
                <a:xfrm>
                  <a:off x="4065" y="976"/>
                  <a:ext cx="0" cy="56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32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 useBgFill="1">
              <p:nvSpPr>
                <p:cNvPr id="64" name="AutoShape 43"/>
                <p:cNvSpPr>
                  <a:spLocks noChangeArrowheads="1"/>
                </p:cNvSpPr>
                <p:nvPr/>
              </p:nvSpPr>
              <p:spPr bwMode="auto">
                <a:xfrm>
                  <a:off x="3310" y="2271"/>
                  <a:ext cx="1510" cy="472"/>
                </a:xfrm>
                <a:prstGeom prst="flowChartDecision">
                  <a:avLst/>
                </a:prstGeom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3200">
                      <a:latin typeface="Times New Roman" pitchFamily="18" charset="0"/>
                      <a:cs typeface="Times New Roman" pitchFamily="18" charset="0"/>
                    </a:rPr>
                    <a:t>表达式</a:t>
                  </a:r>
                </a:p>
              </p:txBody>
            </p:sp>
            <p:sp>
              <p:nvSpPr>
                <p:cNvPr id="65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3038" y="1212"/>
                  <a:ext cx="0" cy="1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32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6" name="Line 45"/>
                <p:cNvSpPr>
                  <a:spLocks noChangeShapeType="1"/>
                </p:cNvSpPr>
                <p:nvPr/>
              </p:nvSpPr>
              <p:spPr bwMode="auto">
                <a:xfrm>
                  <a:off x="3038" y="1201"/>
                  <a:ext cx="10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32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7" name="Line 46"/>
                <p:cNvSpPr>
                  <a:spLocks noChangeShapeType="1"/>
                </p:cNvSpPr>
                <p:nvPr/>
              </p:nvSpPr>
              <p:spPr bwMode="auto">
                <a:xfrm>
                  <a:off x="4070" y="2746"/>
                  <a:ext cx="0" cy="46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32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8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4055" y="2752"/>
                  <a:ext cx="328" cy="3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>
                    <a:defRPr sz="27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>
                    <a:defRPr sz="23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lang="zh-CN" altLang="en-US">
                      <a:latin typeface="Times New Roman" pitchFamily="18" charset="0"/>
                      <a:ea typeface="+mn-ea"/>
                      <a:cs typeface="Times New Roman" pitchFamily="18" charset="0"/>
                    </a:rPr>
                    <a:t>假</a:t>
                  </a:r>
                </a:p>
              </p:txBody>
            </p:sp>
            <p:sp>
              <p:nvSpPr>
                <p:cNvPr id="69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2982" y="2194"/>
                  <a:ext cx="424" cy="3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>
                    <a:defRPr sz="27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>
                    <a:defRPr sz="23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lang="zh-CN" altLang="en-US">
                      <a:latin typeface="Times New Roman" pitchFamily="18" charset="0"/>
                      <a:ea typeface="+mn-ea"/>
                      <a:cs typeface="Times New Roman" pitchFamily="18" charset="0"/>
                    </a:rPr>
                    <a:t>真</a:t>
                  </a:r>
                </a:p>
              </p:txBody>
            </p:sp>
            <p:sp>
              <p:nvSpPr>
                <p:cNvPr id="70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574" y="1457"/>
                  <a:ext cx="996" cy="32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>
                    <a:defRPr sz="27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>
                    <a:defRPr sz="23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eaLnBrk="0" hangingPunct="0"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zh-CN" altLang="en-US">
                      <a:latin typeface="Times New Roman" pitchFamily="18" charset="0"/>
                      <a:ea typeface="+mn-ea"/>
                      <a:cs typeface="Times New Roman" pitchFamily="18" charset="0"/>
                    </a:rPr>
                    <a:t>循环体</a:t>
                  </a:r>
                </a:p>
              </p:txBody>
            </p:sp>
            <p:sp>
              <p:nvSpPr>
                <p:cNvPr id="71" name="Line 50"/>
                <p:cNvSpPr>
                  <a:spLocks noChangeShapeType="1"/>
                </p:cNvSpPr>
                <p:nvPr/>
              </p:nvSpPr>
              <p:spPr bwMode="auto">
                <a:xfrm>
                  <a:off x="3046" y="2504"/>
                  <a:ext cx="29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32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58" name="Text Box 13"/>
            <p:cNvSpPr txBox="1">
              <a:spLocks noChangeArrowheads="1"/>
            </p:cNvSpPr>
            <p:nvPr/>
          </p:nvSpPr>
          <p:spPr bwMode="auto">
            <a:xfrm>
              <a:off x="3470830" y="1740656"/>
              <a:ext cx="1965266" cy="5544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Times New Roman" pitchFamily="18" charset="0"/>
                  <a:ea typeface="+mn-ea"/>
                  <a:cs typeface="Times New Roman" pitchFamily="18" charset="0"/>
                </a:rPr>
                <a:t>初始值</a:t>
              </a:r>
            </a:p>
          </p:txBody>
        </p:sp>
        <p:sp>
          <p:nvSpPr>
            <p:cNvPr id="59" name="Line 10"/>
            <p:cNvSpPr>
              <a:spLocks noChangeShapeType="1"/>
            </p:cNvSpPr>
            <p:nvPr/>
          </p:nvSpPr>
          <p:spPr bwMode="auto">
            <a:xfrm>
              <a:off x="4453463" y="1124744"/>
              <a:ext cx="0" cy="623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2" name="Rectangle 2">
            <a:extLst>
              <a:ext uri="{FF2B5EF4-FFF2-40B4-BE49-F238E27FC236}">
                <a16:creationId xmlns:a16="http://schemas.microsoft.com/office/drawing/2014/main" id="{65EFEA33-CCBC-4222-85EE-63A1FDFA3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9" y="134541"/>
            <a:ext cx="1938261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  较</a:t>
            </a:r>
          </a:p>
        </p:txBody>
      </p:sp>
    </p:spTree>
    <p:extLst>
      <p:ext uri="{BB962C8B-B14F-4D97-AF65-F5344CB8AC3E}">
        <p14:creationId xmlns:p14="http://schemas.microsoft.com/office/powerpoint/2010/main" val="42238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3" name="Text Box 3"/>
          <p:cNvSpPr txBox="1">
            <a:spLocks noChangeArrowheads="1"/>
          </p:cNvSpPr>
          <p:nvPr/>
        </p:nvSpPr>
        <p:spPr bwMode="auto">
          <a:xfrm>
            <a:off x="6783392" y="1096045"/>
            <a:ext cx="4470519" cy="4774035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#include "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stdio.h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"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void main( )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{ 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i,sum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=0;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scanf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("%d",&amp;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 do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 {   sum+=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    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++;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  }while(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&lt;=10)</a:t>
            </a:r>
            <a:r>
              <a:rPr lang="en-US" altLang="zh-CN" sz="3375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("%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d",sum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}</a:t>
            </a:r>
          </a:p>
        </p:txBody>
      </p:sp>
      <p:sp>
        <p:nvSpPr>
          <p:cNvPr id="363524" name="Text Box 4"/>
          <p:cNvSpPr txBox="1">
            <a:spLocks noChangeArrowheads="1"/>
          </p:cNvSpPr>
          <p:nvPr/>
        </p:nvSpPr>
        <p:spPr bwMode="auto">
          <a:xfrm>
            <a:off x="2250511" y="1096045"/>
            <a:ext cx="4322880" cy="4774035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#include "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stdio.h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"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void main( )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{ 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i,sum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=0;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scanf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("%d",&amp;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while(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&lt;=10)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{    sum+=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    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++;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}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("%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d",sum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}</a:t>
            </a:r>
          </a:p>
        </p:txBody>
      </p:sp>
      <p:sp>
        <p:nvSpPr>
          <p:cNvPr id="363525" name="Rectangle 5"/>
          <p:cNvSpPr>
            <a:spLocks noChangeArrowheads="1"/>
          </p:cNvSpPr>
          <p:nvPr/>
        </p:nvSpPr>
        <p:spPr bwMode="auto">
          <a:xfrm>
            <a:off x="2471848" y="6097420"/>
            <a:ext cx="8438092" cy="592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若为变量 </a:t>
            </a:r>
            <a:r>
              <a:rPr lang="en-US" altLang="zh-CN" sz="32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输入值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，则两者结果分别为？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AC37CC4-AF6A-45FE-91F4-15813CBF3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9" y="134541"/>
            <a:ext cx="1938261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 fontScale="92500"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比较实例</a:t>
            </a:r>
          </a:p>
        </p:txBody>
      </p:sp>
    </p:spTree>
    <p:extLst>
      <p:ext uri="{BB962C8B-B14F-4D97-AF65-F5344CB8AC3E}">
        <p14:creationId xmlns:p14="http://schemas.microsoft.com/office/powerpoint/2010/main" val="82527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635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635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3" grpId="0" animBg="1" autoUpdateAnimBg="0"/>
      <p:bldP spid="363524" grpId="0" animBg="1" autoUpdateAnimBg="0"/>
      <p:bldP spid="36352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47B6C6A-89E8-47B8-9530-FB9B2590C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847" y="1240061"/>
            <a:ext cx="972108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latinLnBrk="1" hangingPunct="1">
              <a:lnSpc>
                <a:spcPct val="200000"/>
              </a:lnSpc>
            </a:pP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要求根据输入的三边长求三角形的面积。如果输入的三边长无法构成三角形，则重复输入，直到能够构成三角形，并完成面积的计算。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ECC1C2-099E-4F22-8700-D8A96CC6B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9" y="134541"/>
            <a:ext cx="1938261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案例三</a:t>
            </a:r>
          </a:p>
        </p:txBody>
      </p:sp>
    </p:spTree>
    <p:extLst>
      <p:ext uri="{BB962C8B-B14F-4D97-AF65-F5344CB8AC3E}">
        <p14:creationId xmlns:p14="http://schemas.microsoft.com/office/powerpoint/2010/main" val="2605714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7F93D1F-BBC9-4DE2-93F4-4AA65DBC0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0360" y="362223"/>
            <a:ext cx="8929688" cy="649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#include&lt;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&gt; </a:t>
            </a:r>
          </a:p>
          <a:p>
            <a:pPr eaLnBrk="1" hangingPunct="1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#include&lt;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math.h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&gt;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　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eaLnBrk="1" hangingPunct="1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void main(  )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｛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eaLnBrk="1" hangingPunct="1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float    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a,b,c,s,area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；</a:t>
            </a:r>
          </a:p>
          <a:p>
            <a:pPr eaLnBrk="1" hangingPunct="1"/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 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scanf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("%f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%f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%f"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&amp;a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&amp;b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&amp;c)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；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eaLnBrk="1" hangingPunct="1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 while</a:t>
            </a:r>
          </a:p>
          <a:p>
            <a:pPr eaLnBrk="1" hangingPunct="1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      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printf</a:t>
            </a:r>
            <a:r>
              <a:rPr lang="en-US" altLang="zh-CN" sz="28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(“</a:t>
            </a:r>
            <a:r>
              <a:rPr lang="zh-CN" altLang="en-US" sz="28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输入三角形三边无效，请重新输入：</a:t>
            </a:r>
            <a:r>
              <a:rPr lang="en-US" altLang="zh-CN" sz="28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”)</a:t>
            </a:r>
            <a:r>
              <a:rPr lang="zh-CN" altLang="en-US" sz="28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；</a:t>
            </a:r>
            <a:endParaRPr lang="en-US" altLang="zh-CN" sz="28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eaLnBrk="1" hangingPunct="1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      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scanf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("%f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%f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%f"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&amp;a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&amp;b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&amp;c)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；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eaLnBrk="1" hangingPunct="1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 s= (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a+b+c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) /2 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；</a:t>
            </a:r>
          </a:p>
          <a:p>
            <a:pPr eaLnBrk="1" hangingPunct="1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 area=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sqrt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(s*(s-a)*(s-b)*(s-c))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；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eaLnBrk="1" hangingPunct="1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 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(“a=%7.2f,b=%7.2f,c =%7.2f\n”,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a,b,c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)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；</a:t>
            </a:r>
          </a:p>
          <a:p>
            <a:pPr eaLnBrk="1" hangingPunct="1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 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(“area=%7.2f\n”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area)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；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eaLnBrk="1" hangingPunct="1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}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　   　</a:t>
            </a:r>
            <a:endParaRPr lang="zh-CN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529A22-108A-4388-B9B2-E4ACE9CA0FC5}"/>
              </a:ext>
            </a:extLst>
          </p:cNvPr>
          <p:cNvSpPr/>
          <p:nvPr/>
        </p:nvSpPr>
        <p:spPr>
          <a:xfrm>
            <a:off x="4572669" y="2809974"/>
            <a:ext cx="5722937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&gt;c&amp;&amp;</a:t>
            </a:r>
            <a:r>
              <a:rPr lang="en-US" altLang="zh-CN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a+c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&gt;b&amp;&amp;</a:t>
            </a:r>
            <a:r>
              <a:rPr lang="en-US" altLang="zh-CN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b+c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&gt;a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7732D1-93C5-4DD2-B6C4-0D463A7E8801}"/>
              </a:ext>
            </a:extLst>
          </p:cNvPr>
          <p:cNvSpPr/>
          <p:nvPr/>
        </p:nvSpPr>
        <p:spPr>
          <a:xfrm>
            <a:off x="4102769" y="2848074"/>
            <a:ext cx="355600" cy="646113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solidFill>
                  <a:srgbClr val="FF0000"/>
                </a:solidFill>
                <a:ea typeface="方正姚体" panose="02010601030101010101" pitchFamily="2" charset="-122"/>
                <a:cs typeface="Times New Roman" pitchFamily="18" charset="0"/>
              </a:rPr>
              <a:t>!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方正姚体" panose="02010601030101010101" pitchFamily="2" charset="-122"/>
              <a:cs typeface="Times New Roman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E4CC5B-E6C2-484A-BF42-C6AEB72E65D8}"/>
              </a:ext>
            </a:extLst>
          </p:cNvPr>
          <p:cNvSpPr/>
          <p:nvPr/>
        </p:nvSpPr>
        <p:spPr>
          <a:xfrm>
            <a:off x="3886869" y="2738537"/>
            <a:ext cx="355600" cy="646112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方正姚体" panose="02010601030101010101" pitchFamily="2" charset="-122"/>
                <a:cs typeface="Times New Roman" pitchFamily="18" charset="0"/>
              </a:rPr>
              <a:t>(</a:t>
            </a:r>
            <a:endParaRPr lang="en-US" altLang="zh-CN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方正姚体" panose="02010601030101010101" pitchFamily="2" charset="-122"/>
              <a:cs typeface="Times New Roman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2718B8-B165-4B12-9DA4-F1793A2F2DEA}"/>
              </a:ext>
            </a:extLst>
          </p:cNvPr>
          <p:cNvSpPr/>
          <p:nvPr/>
        </p:nvSpPr>
        <p:spPr>
          <a:xfrm>
            <a:off x="9571706" y="2738537"/>
            <a:ext cx="355600" cy="646112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solidFill>
                  <a:schemeClr val="tx1"/>
                </a:solidFill>
                <a:ea typeface="方正姚体" panose="02010601030101010101" pitchFamily="2" charset="-122"/>
                <a:cs typeface="Times New Roman" pitchFamily="18" charset="0"/>
              </a:rPr>
              <a:t>)</a:t>
            </a:r>
            <a:endParaRPr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方正姚体" panose="02010601030101010101" pitchFamily="2" charset="-122"/>
              <a:cs typeface="Times New Roman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A6FCCE-06F5-4433-9E37-8DC37E84312B}"/>
              </a:ext>
            </a:extLst>
          </p:cNvPr>
          <p:cNvSpPr/>
          <p:nvPr/>
        </p:nvSpPr>
        <p:spPr>
          <a:xfrm>
            <a:off x="3018506" y="3314799"/>
            <a:ext cx="355600" cy="646113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solidFill>
                  <a:schemeClr val="tx1"/>
                </a:solidFill>
                <a:ea typeface="方正姚体" panose="02010601030101010101" pitchFamily="2" charset="-122"/>
                <a:cs typeface="Times New Roman" pitchFamily="18" charset="0"/>
              </a:rPr>
              <a:t>{</a:t>
            </a:r>
            <a:endParaRPr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方正姚体" panose="02010601030101010101" pitchFamily="2" charset="-122"/>
              <a:cs typeface="Times New Roman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35FAA8-2C95-4539-BCAB-682775460810}"/>
              </a:ext>
            </a:extLst>
          </p:cNvPr>
          <p:cNvSpPr/>
          <p:nvPr/>
        </p:nvSpPr>
        <p:spPr>
          <a:xfrm>
            <a:off x="10724231" y="3787418"/>
            <a:ext cx="355600" cy="646112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solidFill>
                  <a:schemeClr val="tx1"/>
                </a:solidFill>
                <a:ea typeface="方正姚体" panose="02010601030101010101" pitchFamily="2" charset="-122"/>
                <a:cs typeface="Times New Roman" pitchFamily="18" charset="0"/>
              </a:rPr>
              <a:t>}</a:t>
            </a:r>
            <a:endParaRPr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方正姚体" panose="02010601030101010101" pitchFamily="2" charset="-122"/>
              <a:cs typeface="Times New Roman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307932-92D8-4B9F-A965-806DF317F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669" y="2792512"/>
            <a:ext cx="320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(</a:t>
            </a:r>
            <a:endParaRPr lang="zh-CN" altLang="en-US" sz="3200" b="1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566F8E-16FA-483A-A412-B72402E68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2781" y="2809974"/>
            <a:ext cx="320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)</a:t>
            </a:r>
            <a:endParaRPr lang="zh-CN" altLang="en-US" sz="32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圆角矩形标注 24">
            <a:extLst>
              <a:ext uri="{FF2B5EF4-FFF2-40B4-BE49-F238E27FC236}">
                <a16:creationId xmlns:a16="http://schemas.microsoft.com/office/drawing/2014/main" id="{B3E26838-4B26-4F2B-82D4-7FBDFEF33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3644" y="435074"/>
            <a:ext cx="1476375" cy="511175"/>
          </a:xfrm>
          <a:prstGeom prst="wedgeRoundRectCallout">
            <a:avLst>
              <a:gd name="adj1" fmla="val -52634"/>
              <a:gd name="adj2" fmla="val 428486"/>
              <a:gd name="adj3" fmla="val 16667"/>
            </a:avLst>
          </a:prstGeom>
          <a:solidFill>
            <a:srgbClr val="FFFF00"/>
          </a:solidFill>
          <a:ln w="50800" algn="ctr">
            <a:solidFill>
              <a:srgbClr val="FF3399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知识点</a:t>
            </a:r>
            <a:r>
              <a:rPr lang="en-US" altLang="zh-CN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1</a:t>
            </a:r>
            <a:endParaRPr lang="zh-CN" altLang="en-US" sz="2400" b="1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15" name="圆角矩形标注 25">
            <a:extLst>
              <a:ext uri="{FF2B5EF4-FFF2-40B4-BE49-F238E27FC236}">
                <a16:creationId xmlns:a16="http://schemas.microsoft.com/office/drawing/2014/main" id="{6DDF8E33-8882-4B3E-AB9E-1FA27576D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794" y="2482949"/>
            <a:ext cx="1476375" cy="511175"/>
          </a:xfrm>
          <a:prstGeom prst="wedgeRoundRectCallout">
            <a:avLst>
              <a:gd name="adj1" fmla="val 26833"/>
              <a:gd name="adj2" fmla="val 249468"/>
              <a:gd name="adj3" fmla="val 16667"/>
            </a:avLst>
          </a:prstGeom>
          <a:solidFill>
            <a:srgbClr val="FFFF00"/>
          </a:solidFill>
          <a:ln w="50800" algn="ctr">
            <a:solidFill>
              <a:srgbClr val="FF3399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知识点</a:t>
            </a:r>
            <a:r>
              <a:rPr lang="en-US" altLang="zh-CN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2</a:t>
            </a:r>
            <a:endParaRPr lang="zh-CN" altLang="en-US" sz="2400" b="1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16" name="圆角矩形标注 26">
            <a:extLst>
              <a:ext uri="{FF2B5EF4-FFF2-40B4-BE49-F238E27FC236}">
                <a16:creationId xmlns:a16="http://schemas.microsoft.com/office/drawing/2014/main" id="{3EE7FF95-06FA-4707-A8D3-C440AC9F5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3106" y="852587"/>
            <a:ext cx="1476375" cy="511175"/>
          </a:xfrm>
          <a:prstGeom prst="wedgeRoundRectCallout">
            <a:avLst>
              <a:gd name="adj1" fmla="val -310889"/>
              <a:gd name="adj2" fmla="val 745995"/>
              <a:gd name="adj3" fmla="val 16667"/>
            </a:avLst>
          </a:prstGeom>
          <a:solidFill>
            <a:srgbClr val="FFFF00"/>
          </a:solidFill>
          <a:ln w="50800" algn="ctr">
            <a:solidFill>
              <a:srgbClr val="FF3399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知识点</a:t>
            </a:r>
            <a:r>
              <a:rPr lang="en-US" altLang="zh-CN" sz="2400" b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3</a:t>
            </a:r>
            <a:endParaRPr lang="zh-CN" altLang="en-US" sz="2400" b="1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17" name="圆角矩形标注 27">
            <a:extLst>
              <a:ext uri="{FF2B5EF4-FFF2-40B4-BE49-F238E27FC236}">
                <a16:creationId xmlns:a16="http://schemas.microsoft.com/office/drawing/2014/main" id="{5971FAB0-D044-49A2-B3F8-ED7F46CEC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3168" y="1020862"/>
            <a:ext cx="1682751" cy="919401"/>
          </a:xfrm>
          <a:prstGeom prst="wedgeRoundRectCallout">
            <a:avLst>
              <a:gd name="adj1" fmla="val -192021"/>
              <a:gd name="adj2" fmla="val 155475"/>
              <a:gd name="adj3" fmla="val 16667"/>
            </a:avLst>
          </a:prstGeom>
          <a:solidFill>
            <a:srgbClr val="FFFF00"/>
          </a:solidFill>
          <a:ln w="50800" algn="ctr">
            <a:solidFill>
              <a:srgbClr val="FF3399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zh-CN" altLang="en-US" sz="24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重复做什么动作？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C7573C4E-B47E-4B8A-9394-7CAB79993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9" y="134541"/>
            <a:ext cx="1938261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案例三</a:t>
            </a:r>
          </a:p>
        </p:txBody>
      </p:sp>
    </p:spTree>
    <p:extLst>
      <p:ext uri="{BB962C8B-B14F-4D97-AF65-F5344CB8AC3E}">
        <p14:creationId xmlns:p14="http://schemas.microsoft.com/office/powerpoint/2010/main" val="399236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 animBg="1"/>
      <p:bldP spid="15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5B31058-75EA-4C41-9BA5-73DCF22D3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6010" y="341694"/>
            <a:ext cx="9215933" cy="637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【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拓展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】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验证码、密钥、序列号生成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  <a:endParaRPr lang="zh-CN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问题描述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：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生成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4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位数字验证码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问题的分析：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 1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4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位数字之间是否有关系？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 2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、每位数字如何做到随机？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知识补充：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1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rand( )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函数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	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rand(  )%m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：产生一个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到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m-1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的随机数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2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srand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(seed)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函数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;</a:t>
            </a:r>
            <a:endParaRPr lang="zh-CN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E3115C-6CAD-4135-9012-219DA84EB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9" y="134541"/>
            <a:ext cx="1938261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案例四</a:t>
            </a:r>
          </a:p>
        </p:txBody>
      </p:sp>
    </p:spTree>
    <p:extLst>
      <p:ext uri="{BB962C8B-B14F-4D97-AF65-F5344CB8AC3E}">
        <p14:creationId xmlns:p14="http://schemas.microsoft.com/office/powerpoint/2010/main" val="337726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303896A-6ECC-410D-8CFA-37F735BBE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2034" y="159941"/>
            <a:ext cx="8351837" cy="6952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#include &lt;</a:t>
            </a:r>
            <a:r>
              <a:rPr lang="en-US" altLang="zh-CN" sz="36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stdio.h</a:t>
            </a: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&gt;</a:t>
            </a:r>
            <a:endParaRPr lang="zh-CN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#include &lt;</a:t>
            </a:r>
            <a:r>
              <a:rPr lang="en-US" altLang="zh-CN" sz="36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stdlib.h</a:t>
            </a: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&gt;</a:t>
            </a:r>
            <a:endParaRPr lang="zh-CN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#include &lt;</a:t>
            </a:r>
            <a:r>
              <a:rPr lang="en-US" altLang="zh-CN" sz="36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time.h</a:t>
            </a: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&gt;</a:t>
            </a:r>
            <a:endParaRPr lang="zh-CN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void  main(  )</a:t>
            </a:r>
            <a:endParaRPr lang="zh-CN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	</a:t>
            </a:r>
            <a:r>
              <a:rPr lang="en-US" altLang="zh-CN" sz="36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int</a:t>
            </a: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i=1;</a:t>
            </a:r>
            <a:endParaRPr lang="zh-CN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	</a:t>
            </a:r>
            <a:r>
              <a:rPr lang="en-US" altLang="zh-CN" sz="36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srand</a:t>
            </a: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((unsigned)time(NULL));</a:t>
            </a:r>
            <a:endParaRPr lang="zh-CN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	while(i&lt;=4)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	        </a:t>
            </a:r>
            <a:r>
              <a:rPr lang="en-US" altLang="zh-CN" sz="36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printf</a:t>
            </a: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("%</a:t>
            </a:r>
            <a:r>
              <a:rPr lang="en-US" altLang="zh-CN" sz="36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d",rand</a:t>
            </a: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(  )%10); 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             i++;  </a:t>
            </a:r>
            <a:endParaRPr lang="zh-CN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36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}</a:t>
            </a:r>
            <a:endParaRPr lang="zh-CN" altLang="zh-CN" sz="36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3" name="圆角矩形标注 2">
            <a:extLst>
              <a:ext uri="{FF2B5EF4-FFF2-40B4-BE49-F238E27FC236}">
                <a16:creationId xmlns:a16="http://schemas.microsoft.com/office/drawing/2014/main" id="{969B2DAD-1592-49D5-BA9D-95BE391B7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7237" y="286740"/>
            <a:ext cx="2556594" cy="1940957"/>
          </a:xfrm>
          <a:prstGeom prst="wedgeRoundRectCallout">
            <a:avLst>
              <a:gd name="adj1" fmla="val -131582"/>
              <a:gd name="adj2" fmla="val 171826"/>
              <a:gd name="adj3" fmla="val 16667"/>
            </a:avLst>
          </a:prstGeom>
          <a:solidFill>
            <a:srgbClr val="FFFF00"/>
          </a:solidFill>
          <a:ln w="50800" algn="ctr">
            <a:solidFill>
              <a:srgbClr val="FF3399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zh-CN" altLang="en-US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循环</a:t>
            </a:r>
            <a:r>
              <a:rPr lang="en-US" altLang="zh-CN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4</a:t>
            </a:r>
            <a:r>
              <a:rPr lang="zh-CN" altLang="en-US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次生成</a:t>
            </a:r>
            <a:r>
              <a:rPr lang="en-US" altLang="zh-CN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4</a:t>
            </a:r>
            <a:r>
              <a:rPr lang="zh-CN" altLang="en-US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位数字验证码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58E7098-AFCB-4522-86F4-4ACF69FEF248}"/>
              </a:ext>
            </a:extLst>
          </p:cNvPr>
          <p:cNvCxnSpPr>
            <a:cxnSpLocks/>
          </p:cNvCxnSpPr>
          <p:nvPr/>
        </p:nvCxnSpPr>
        <p:spPr bwMode="auto">
          <a:xfrm>
            <a:off x="4909145" y="4391581"/>
            <a:ext cx="4328542" cy="0"/>
          </a:xfrm>
          <a:prstGeom prst="line">
            <a:avLst/>
          </a:prstGeom>
          <a:solidFill>
            <a:srgbClr val="FFFFCC"/>
          </a:solidFill>
          <a:ln w="50800" cap="flat" cmpd="sng" algn="ctr">
            <a:solidFill>
              <a:srgbClr val="FF33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5431A7C-03F9-4B97-BD78-1E5159AB66F4}"/>
              </a:ext>
            </a:extLst>
          </p:cNvPr>
          <p:cNvCxnSpPr>
            <a:cxnSpLocks/>
          </p:cNvCxnSpPr>
          <p:nvPr/>
        </p:nvCxnSpPr>
        <p:spPr bwMode="auto">
          <a:xfrm>
            <a:off x="7005439" y="5750615"/>
            <a:ext cx="2448272" cy="0"/>
          </a:xfrm>
          <a:prstGeom prst="line">
            <a:avLst/>
          </a:prstGeom>
          <a:solidFill>
            <a:srgbClr val="FFFFCC"/>
          </a:solidFill>
          <a:ln w="50800" cap="flat" cmpd="sng" algn="ctr">
            <a:solidFill>
              <a:srgbClr val="FF33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B44E739A-A7A6-4B40-9605-EC69D61E7A89}"/>
              </a:ext>
            </a:extLst>
          </p:cNvPr>
          <p:cNvSpPr/>
          <p:nvPr/>
        </p:nvSpPr>
        <p:spPr>
          <a:xfrm>
            <a:off x="2756967" y="2969994"/>
            <a:ext cx="4812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{</a:t>
            </a:r>
            <a:endParaRPr lang="zh-CN" altLang="en-US" sz="3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DE3A81-A0A7-4225-B2A5-7772AEA87F8E}"/>
              </a:ext>
            </a:extLst>
          </p:cNvPr>
          <p:cNvSpPr/>
          <p:nvPr/>
        </p:nvSpPr>
        <p:spPr>
          <a:xfrm>
            <a:off x="3909417" y="5111661"/>
            <a:ext cx="365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{</a:t>
            </a:r>
            <a:endParaRPr lang="zh-CN" altLang="en-US" sz="3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E670AF-9B48-4A7F-B20B-444AFA321A74}"/>
              </a:ext>
            </a:extLst>
          </p:cNvPr>
          <p:cNvSpPr/>
          <p:nvPr/>
        </p:nvSpPr>
        <p:spPr>
          <a:xfrm>
            <a:off x="5559513" y="5748774"/>
            <a:ext cx="365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}</a:t>
            </a:r>
            <a:endParaRPr lang="zh-CN" altLang="en-US" sz="36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572AADE-9AFA-4246-8A90-F3E418C8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9" y="134541"/>
            <a:ext cx="1938261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  码</a:t>
            </a:r>
          </a:p>
        </p:txBody>
      </p:sp>
    </p:spTree>
    <p:extLst>
      <p:ext uri="{BB962C8B-B14F-4D97-AF65-F5344CB8AC3E}">
        <p14:creationId xmlns:p14="http://schemas.microsoft.com/office/powerpoint/2010/main" val="391048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Text Box 2"/>
          <p:cNvSpPr txBox="1">
            <a:spLocks noChangeArrowheads="1"/>
          </p:cNvSpPr>
          <p:nvPr/>
        </p:nvSpPr>
        <p:spPr bwMode="auto">
          <a:xfrm>
            <a:off x="2612951" y="519981"/>
            <a:ext cx="8512672" cy="676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797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r>
              <a:rPr lang="zh-CN" altLang="en-US" sz="3797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sz="3797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</a:t>
            </a:r>
            <a:r>
              <a:rPr lang="zh-CN" altLang="en-US" sz="3797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循环打印</a:t>
            </a:r>
            <a:r>
              <a:rPr lang="en-US" altLang="zh-CN" sz="3797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1~9</a:t>
            </a:r>
            <a:r>
              <a:rPr lang="zh-CN" altLang="en-US" sz="3797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的平方</a:t>
            </a:r>
          </a:p>
        </p:txBody>
      </p:sp>
      <p:sp>
        <p:nvSpPr>
          <p:cNvPr id="404483" name="Text Box 3"/>
          <p:cNvSpPr txBox="1">
            <a:spLocks noChangeArrowheads="1"/>
          </p:cNvSpPr>
          <p:nvPr/>
        </p:nvSpPr>
        <p:spPr bwMode="auto">
          <a:xfrm>
            <a:off x="2396927" y="1354368"/>
            <a:ext cx="8424936" cy="5070269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 #include &lt;</a:t>
            </a:r>
            <a:r>
              <a:rPr lang="en-US" altLang="zh-CN" sz="3600" b="1" dirty="0" err="1">
                <a:latin typeface="Times New Roman" pitchFamily="18" charset="0"/>
                <a:ea typeface="幼圆" pitchFamily="49" charset="-122"/>
              </a:rPr>
              <a:t>stdio.h</a:t>
            </a: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 void main(  )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       </a:t>
            </a:r>
            <a:r>
              <a:rPr lang="en-US" altLang="zh-CN" sz="3600" b="1" dirty="0" err="1">
                <a:latin typeface="Times New Roman" pitchFamily="18" charset="0"/>
                <a:ea typeface="幼圆" pitchFamily="49" charset="-122"/>
              </a:rPr>
              <a:t>int</a:t>
            </a: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 </a:t>
            </a:r>
            <a:r>
              <a:rPr lang="en-US" altLang="zh-CN" sz="3600" b="1" dirty="0" err="1">
                <a:latin typeface="Times New Roman" pitchFamily="18" charset="0"/>
                <a:ea typeface="幼圆" pitchFamily="49" charset="-122"/>
              </a:rPr>
              <a:t>i</a:t>
            </a: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=1;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       while(</a:t>
            </a:r>
            <a:r>
              <a:rPr lang="en-US" altLang="zh-CN" sz="3600" b="1" dirty="0" err="1">
                <a:latin typeface="Times New Roman" pitchFamily="18" charset="0"/>
                <a:ea typeface="幼圆" pitchFamily="49" charset="-122"/>
              </a:rPr>
              <a:t>i</a:t>
            </a: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&lt;=9)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             </a:t>
            </a:r>
            <a:r>
              <a:rPr lang="en-US" altLang="zh-CN" sz="3600" b="1" dirty="0" err="1">
                <a:latin typeface="Times New Roman" pitchFamily="18" charset="0"/>
                <a:ea typeface="幼圆" pitchFamily="49" charset="-122"/>
              </a:rPr>
              <a:t>printf</a:t>
            </a: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("%d*%d=%d\n",</a:t>
            </a:r>
            <a:r>
              <a:rPr lang="en-US" altLang="zh-CN" sz="3600" b="1" dirty="0" err="1">
                <a:latin typeface="Times New Roman" pitchFamily="18" charset="0"/>
                <a:ea typeface="幼圆" pitchFamily="49" charset="-122"/>
              </a:rPr>
              <a:t>i,i,i</a:t>
            </a: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*</a:t>
            </a:r>
            <a:r>
              <a:rPr lang="en-US" altLang="zh-CN" sz="3600" b="1" dirty="0" err="1">
                <a:latin typeface="Times New Roman" pitchFamily="18" charset="0"/>
                <a:ea typeface="幼圆" pitchFamily="49" charset="-122"/>
              </a:rPr>
              <a:t>i</a:t>
            </a: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              </a:t>
            </a:r>
            <a:r>
              <a:rPr lang="en-US" altLang="zh-CN" sz="3600" b="1" dirty="0" err="1">
                <a:latin typeface="Times New Roman" pitchFamily="18" charset="0"/>
                <a:ea typeface="幼圆" pitchFamily="49" charset="-122"/>
              </a:rPr>
              <a:t>i</a:t>
            </a: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++;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            }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  <a:ea typeface="幼圆" pitchFamily="49" charset="-122"/>
              </a:rPr>
              <a:t>     }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B805002-6C42-4462-8047-301B532BF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9" y="134541"/>
            <a:ext cx="1938261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练 习</a:t>
            </a:r>
          </a:p>
        </p:txBody>
      </p:sp>
      <p:sp>
        <p:nvSpPr>
          <p:cNvPr id="2" name="矩形 1"/>
          <p:cNvSpPr/>
          <p:nvPr/>
        </p:nvSpPr>
        <p:spPr>
          <a:xfrm>
            <a:off x="2468669" y="2608213"/>
            <a:ext cx="5966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prstClr val="black"/>
                </a:solidFill>
                <a:latin typeface="Times New Roman" pitchFamily="18" charset="0"/>
                <a:ea typeface="幼圆" pitchFamily="49" charset="-122"/>
              </a:rPr>
              <a:t> { 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453477" y="3880698"/>
            <a:ext cx="4812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prstClr val="black"/>
                </a:solidFill>
                <a:latin typeface="Times New Roman" pitchFamily="18" charset="0"/>
                <a:ea typeface="幼圆" pitchFamily="49" charset="-122"/>
              </a:rPr>
              <a:t>{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982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4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4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04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4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4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4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2" grpId="0"/>
      <p:bldP spid="2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Text Box 2"/>
          <p:cNvSpPr txBox="1">
            <a:spLocks noChangeArrowheads="1"/>
          </p:cNvSpPr>
          <p:nvPr/>
        </p:nvSpPr>
        <p:spPr bwMode="auto">
          <a:xfrm>
            <a:off x="2507860" y="113989"/>
            <a:ext cx="8602035" cy="148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3797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endParaRPr lang="en-US" altLang="zh-CN" sz="3797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3797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sz="3797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</a:t>
            </a:r>
            <a:r>
              <a:rPr lang="zh-CN" altLang="en-US" sz="3797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循环打印</a:t>
            </a:r>
            <a:r>
              <a:rPr lang="en-US" altLang="zh-CN" sz="3797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1000</a:t>
            </a:r>
            <a:r>
              <a:rPr lang="zh-CN" altLang="en-US" sz="3797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内的所有水仙花数</a:t>
            </a:r>
          </a:p>
        </p:txBody>
      </p:sp>
      <p:sp>
        <p:nvSpPr>
          <p:cNvPr id="405507" name="Text Box 3"/>
          <p:cNvSpPr txBox="1">
            <a:spLocks noChangeArrowheads="1"/>
          </p:cNvSpPr>
          <p:nvPr/>
        </p:nvSpPr>
        <p:spPr bwMode="auto">
          <a:xfrm>
            <a:off x="3117007" y="1592008"/>
            <a:ext cx="6552728" cy="5552709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 #include "</a:t>
            </a:r>
            <a:r>
              <a:rPr lang="en-US" altLang="zh-CN" sz="2953" b="1" dirty="0" err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stdio.h</a:t>
            </a: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"</a:t>
            </a:r>
          </a:p>
          <a:p>
            <a:pPr>
              <a:spcBef>
                <a:spcPts val="0"/>
              </a:spcBef>
            </a:pP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 void main( )</a:t>
            </a:r>
          </a:p>
          <a:p>
            <a:pPr>
              <a:spcBef>
                <a:spcPts val="0"/>
              </a:spcBef>
            </a:pP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       </a:t>
            </a:r>
            <a:r>
              <a:rPr lang="en-US" altLang="zh-CN" sz="2953" b="1" dirty="0" err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int</a:t>
            </a: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</a:t>
            </a:r>
            <a:r>
              <a:rPr lang="en-US" altLang="zh-CN" sz="2953" b="1" dirty="0" err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a,b,c,i</a:t>
            </a: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=100; </a:t>
            </a:r>
          </a:p>
          <a:p>
            <a:pPr>
              <a:spcBef>
                <a:spcPts val="0"/>
              </a:spcBef>
            </a:pP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       while(</a:t>
            </a:r>
            <a:r>
              <a:rPr lang="en-US" altLang="zh-CN" sz="2953" b="1" dirty="0" err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i</a:t>
            </a: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&lt;1000)</a:t>
            </a:r>
          </a:p>
          <a:p>
            <a:pPr>
              <a:spcBef>
                <a:spcPts val="0"/>
              </a:spcBef>
            </a:pP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            a=</a:t>
            </a:r>
            <a:r>
              <a:rPr lang="en-US" altLang="zh-CN" sz="2953" b="1" dirty="0" err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i</a:t>
            </a: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/100;</a:t>
            </a:r>
          </a:p>
          <a:p>
            <a:pPr>
              <a:spcBef>
                <a:spcPts val="0"/>
              </a:spcBef>
            </a:pP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            b=(</a:t>
            </a:r>
            <a:r>
              <a:rPr lang="en-US" altLang="zh-CN" sz="2953" b="1" dirty="0" err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i</a:t>
            </a: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-a*100)/10;</a:t>
            </a:r>
          </a:p>
          <a:p>
            <a:pPr>
              <a:spcBef>
                <a:spcPts val="0"/>
              </a:spcBef>
            </a:pP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            c=i%10;</a:t>
            </a:r>
          </a:p>
          <a:p>
            <a:pPr>
              <a:spcBef>
                <a:spcPts val="0"/>
              </a:spcBef>
            </a:pP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            if(</a:t>
            </a:r>
            <a:r>
              <a:rPr lang="en-US" altLang="zh-CN" sz="2953" b="1" dirty="0" err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i</a:t>
            </a: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==a*a*</a:t>
            </a:r>
            <a:r>
              <a:rPr lang="en-US" altLang="zh-CN" sz="2953" b="1" dirty="0" err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a+b</a:t>
            </a: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*b*</a:t>
            </a:r>
            <a:r>
              <a:rPr lang="en-US" altLang="zh-CN" sz="2953" b="1" dirty="0" err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b+c</a:t>
            </a: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*c*c)</a:t>
            </a:r>
          </a:p>
          <a:p>
            <a:pPr>
              <a:spcBef>
                <a:spcPts val="0"/>
              </a:spcBef>
            </a:pP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                </a:t>
            </a:r>
            <a:r>
              <a:rPr lang="en-US" altLang="zh-CN" sz="2953" b="1" dirty="0" err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printf</a:t>
            </a: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("%d\n",</a:t>
            </a:r>
            <a:r>
              <a:rPr lang="en-US" altLang="zh-CN" sz="2953" b="1" dirty="0" err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i</a:t>
            </a: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);</a:t>
            </a:r>
          </a:p>
          <a:p>
            <a:pPr>
              <a:spcBef>
                <a:spcPts val="0"/>
              </a:spcBef>
            </a:pP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            </a:t>
            </a:r>
            <a:r>
              <a:rPr lang="en-US" altLang="zh-CN" sz="2953" b="1" dirty="0" err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i</a:t>
            </a: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++;</a:t>
            </a:r>
          </a:p>
          <a:p>
            <a:pPr>
              <a:spcBef>
                <a:spcPts val="0"/>
              </a:spcBef>
            </a:pP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          }</a:t>
            </a:r>
          </a:p>
          <a:p>
            <a:pPr>
              <a:spcBef>
                <a:spcPts val="0"/>
              </a:spcBef>
            </a:pPr>
            <a:r>
              <a:rPr lang="en-US" altLang="zh-CN" sz="2953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    }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6B8060A-2000-495F-B5C6-7F2A277C4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9" y="134541"/>
            <a:ext cx="1938261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练  习</a:t>
            </a:r>
          </a:p>
        </p:txBody>
      </p:sp>
      <p:sp>
        <p:nvSpPr>
          <p:cNvPr id="2" name="矩形 1"/>
          <p:cNvSpPr/>
          <p:nvPr/>
        </p:nvSpPr>
        <p:spPr>
          <a:xfrm>
            <a:off x="3431333" y="2480808"/>
            <a:ext cx="333746" cy="5467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953" b="1" dirty="0">
                <a:solidFill>
                  <a:prstClr val="black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{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935389" y="3400301"/>
            <a:ext cx="333746" cy="5467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953" b="1" dirty="0">
                <a:solidFill>
                  <a:prstClr val="black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{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719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5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5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5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5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5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5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5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6" grpId="0"/>
      <p:bldP spid="2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796006F-62E3-49B5-A50A-C9672CAAA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9" y="134541"/>
            <a:ext cx="1938261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17821C-24E6-4176-89CB-18FF767FB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807" y="2685445"/>
            <a:ext cx="1005934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   表达式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表达式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表达式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         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       </a:t>
            </a: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循环体；           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40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1792AAD9-D194-49A9-B3FE-222E9EBF9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807" y="1726619"/>
            <a:ext cx="3860552" cy="669925"/>
          </a:xfrm>
          <a:prstGeom prst="wedgeRectCallout">
            <a:avLst>
              <a:gd name="adj1" fmla="val 27367"/>
              <a:gd name="adj2" fmla="val 131989"/>
            </a:avLst>
          </a:prstGeom>
          <a:solidFill>
            <a:srgbClr val="FFFF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给循环控制变量赋初值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E8980609-01D3-4900-A0FE-A1699AB46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932" y="1459944"/>
            <a:ext cx="3521843" cy="647700"/>
          </a:xfrm>
          <a:prstGeom prst="wedgeRectCallout">
            <a:avLst>
              <a:gd name="adj1" fmla="val -36615"/>
              <a:gd name="adj2" fmla="val 179412"/>
            </a:avLst>
          </a:prstGeom>
          <a:solidFill>
            <a:srgbClr val="FFFF99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结束循环的控制条件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C0AC9AA1-CCF2-4D21-B289-316C75D50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805488"/>
            <a:ext cx="2938189" cy="576262"/>
          </a:xfrm>
          <a:prstGeom prst="wedgeRectCallout">
            <a:avLst>
              <a:gd name="adj1" fmla="val 114220"/>
              <a:gd name="adj2" fmla="val -436501"/>
            </a:avLst>
          </a:prstGeom>
          <a:solidFill>
            <a:srgbClr val="FFFF99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修改循环变量值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847274-370B-4960-94F5-1C15694497D6}"/>
              </a:ext>
            </a:extLst>
          </p:cNvPr>
          <p:cNvSpPr/>
          <p:nvPr/>
        </p:nvSpPr>
        <p:spPr>
          <a:xfrm>
            <a:off x="2705461" y="261523"/>
            <a:ext cx="725230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5.2.3  for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语句的语法形式和语义</a:t>
            </a:r>
          </a:p>
        </p:txBody>
      </p:sp>
    </p:spTree>
    <p:extLst>
      <p:ext uri="{BB962C8B-B14F-4D97-AF65-F5344CB8AC3E}">
        <p14:creationId xmlns:p14="http://schemas.microsoft.com/office/powerpoint/2010/main" val="270293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>
            <a:extLst>
              <a:ext uri="{FF2B5EF4-FFF2-40B4-BE49-F238E27FC236}">
                <a16:creationId xmlns:a16="http://schemas.microsoft.com/office/drawing/2014/main" id="{0516E82F-E570-42F1-BA90-FA1C4D853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9" y="134541"/>
            <a:ext cx="1938261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</a:t>
            </a:r>
          </a:p>
        </p:txBody>
      </p:sp>
      <p:grpSp>
        <p:nvGrpSpPr>
          <p:cNvPr id="27" name="Group 12">
            <a:extLst>
              <a:ext uri="{FF2B5EF4-FFF2-40B4-BE49-F238E27FC236}">
                <a16:creationId xmlns:a16="http://schemas.microsoft.com/office/drawing/2014/main" id="{9808294C-C4BE-4241-9AED-1A1A4019FD56}"/>
              </a:ext>
            </a:extLst>
          </p:cNvPr>
          <p:cNvGrpSpPr>
            <a:grpSpLocks/>
          </p:cNvGrpSpPr>
          <p:nvPr/>
        </p:nvGrpSpPr>
        <p:grpSpPr bwMode="auto">
          <a:xfrm>
            <a:off x="6861423" y="303957"/>
            <a:ext cx="5241801" cy="6578327"/>
            <a:chOff x="975" y="1207"/>
            <a:chExt cx="3810" cy="2782"/>
          </a:xfrm>
        </p:grpSpPr>
        <p:pic>
          <p:nvPicPr>
            <p:cNvPr id="28" name="Picture 8" descr="5">
              <a:extLst>
                <a:ext uri="{FF2B5EF4-FFF2-40B4-BE49-F238E27FC236}">
                  <a16:creationId xmlns:a16="http://schemas.microsoft.com/office/drawing/2014/main" id="{11E5AD2C-8972-4A6A-BA9F-10A1D29B95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" y="1207"/>
              <a:ext cx="3810" cy="2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10">
              <a:extLst>
                <a:ext uri="{FF2B5EF4-FFF2-40B4-BE49-F238E27FC236}">
                  <a16:creationId xmlns:a16="http://schemas.microsoft.com/office/drawing/2014/main" id="{D2DAF1C9-03D4-4BE7-8831-DF0CB3F42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2432"/>
              <a:ext cx="1270" cy="272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>
                  <a:solidFill>
                    <a:schemeClr val="bg1"/>
                  </a:solidFill>
                  <a:ea typeface="黑体" panose="02010609060101010101" pitchFamily="49" charset="-122"/>
                </a:rPr>
                <a:t>循环体</a:t>
              </a:r>
            </a:p>
          </p:txBody>
        </p:sp>
      </p:grpSp>
      <p:sp>
        <p:nvSpPr>
          <p:cNvPr id="30" name="Text Box 1028">
            <a:extLst>
              <a:ext uri="{FF2B5EF4-FFF2-40B4-BE49-F238E27FC236}">
                <a16:creationId xmlns:a16="http://schemas.microsoft.com/office/drawing/2014/main" id="{D7238AC6-8075-4125-BD08-0E807E6BA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783" y="2392189"/>
            <a:ext cx="5665333" cy="1865126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for(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表达式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表达式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表达式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循环体；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26892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100" name="Text Box 1028"/>
          <p:cNvSpPr txBox="1">
            <a:spLocks noChangeArrowheads="1"/>
          </p:cNvSpPr>
          <p:nvPr/>
        </p:nvSpPr>
        <p:spPr bwMode="auto">
          <a:xfrm>
            <a:off x="3616678" y="1240061"/>
            <a:ext cx="5665333" cy="1865126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for(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表达式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表达式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表达式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循环体；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388101" name="Text Box 1029"/>
          <p:cNvSpPr txBox="1">
            <a:spLocks noChangeArrowheads="1"/>
          </p:cNvSpPr>
          <p:nvPr/>
        </p:nvSpPr>
        <p:spPr bwMode="auto">
          <a:xfrm>
            <a:off x="3632975" y="3338344"/>
            <a:ext cx="6826326" cy="3135433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11390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sum=0;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for(</a:t>
            </a:r>
            <a:r>
              <a:rPr lang="en-US" altLang="zh-CN" sz="3600" b="1" dirty="0" err="1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=1; </a:t>
            </a:r>
            <a:r>
              <a:rPr lang="en-US" altLang="zh-CN" sz="3600" b="1" dirty="0" err="1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&lt;=100; </a:t>
            </a:r>
            <a:r>
              <a:rPr lang="en-US" altLang="zh-CN" sz="3600" b="1" dirty="0" err="1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++</a:t>
            </a:r>
            <a:r>
              <a:rPr lang="zh-CN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{</a:t>
            </a:r>
            <a:r>
              <a:rPr lang="zh-CN" altLang="en-US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　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sum=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sum+i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zh-CN" altLang="en-US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　 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printf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"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%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d,%d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\n</a:t>
            </a: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"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i,sum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}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981103" y="355947"/>
            <a:ext cx="499882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5.2.3 for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语句例子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AE9021B-3680-4C74-BB9D-90B79A88C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9" y="134541"/>
            <a:ext cx="1938261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</a:t>
            </a:r>
          </a:p>
        </p:txBody>
      </p:sp>
      <p:sp>
        <p:nvSpPr>
          <p:cNvPr id="9" name="Text Box 1030"/>
          <p:cNvSpPr txBox="1">
            <a:spLocks noChangeArrowheads="1"/>
          </p:cNvSpPr>
          <p:nvPr/>
        </p:nvSpPr>
        <p:spPr bwMode="auto">
          <a:xfrm>
            <a:off x="3620027" y="3328293"/>
            <a:ext cx="6841796" cy="2504491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6950" tIns="11390" rIns="56950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for(</a:t>
            </a: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sum=0, </a:t>
            </a:r>
            <a:r>
              <a:rPr lang="en-US" altLang="zh-CN" sz="3600" b="1" dirty="0" err="1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=1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 </a:t>
            </a:r>
            <a:r>
              <a:rPr lang="en-US" altLang="zh-CN" sz="3600" b="1" dirty="0" err="1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&lt;=100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 </a:t>
            </a:r>
            <a:r>
              <a:rPr lang="en-US" altLang="zh-CN" sz="3600" b="1" dirty="0" err="1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++</a:t>
            </a:r>
            <a:r>
              <a:rPr lang="zh-CN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{     sum=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sum+i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 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printf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"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%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d,%d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\n</a:t>
            </a: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"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i,sum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979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88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8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8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8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8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8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388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388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388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388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388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38810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00" grpId="0" animBg="1" autoUpdateAnimBg="0"/>
      <p:bldP spid="388101" grpId="0" build="allAtOnce" animBg="1"/>
      <p:bldP spid="9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81" name="Text Box 13"/>
          <p:cNvSpPr txBox="1">
            <a:spLocks noChangeArrowheads="1"/>
          </p:cNvSpPr>
          <p:nvPr/>
        </p:nvSpPr>
        <p:spPr bwMode="auto">
          <a:xfrm>
            <a:off x="3616678" y="4655034"/>
            <a:ext cx="6087480" cy="2273659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6950" tIns="11390" rIns="56950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for(</a:t>
            </a:r>
            <a:r>
              <a:rPr lang="en-US" altLang="zh-CN" sz="3600" b="1" dirty="0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sum=0, </a:t>
            </a:r>
            <a:r>
              <a:rPr lang="en-US" altLang="zh-CN" sz="3600" b="1" dirty="0" err="1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600" b="1" dirty="0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=1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3600" b="1" dirty="0" err="1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600" b="1" dirty="0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&lt;=100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3600" b="1" dirty="0" err="1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600" b="1" dirty="0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++</a:t>
            </a:r>
            <a:r>
              <a:rPr lang="zh-CN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3600" b="1" dirty="0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{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600" b="1" dirty="0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"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%d\n</a:t>
            </a:r>
            <a:r>
              <a:rPr lang="en-US" altLang="zh-CN" sz="3600" b="1" dirty="0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"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       sum=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sum+i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3600" b="1" dirty="0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380703" y="88181"/>
            <a:ext cx="1584176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说  明</a:t>
            </a:r>
          </a:p>
        </p:txBody>
      </p:sp>
      <p:sp>
        <p:nvSpPr>
          <p:cNvPr id="365575" name="Rectangle 7"/>
          <p:cNvSpPr>
            <a:spLocks noChangeArrowheads="1"/>
          </p:cNvSpPr>
          <p:nvPr/>
        </p:nvSpPr>
        <p:spPr bwMode="auto">
          <a:xfrm>
            <a:off x="3455953" y="549295"/>
            <a:ext cx="6010466" cy="562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三个表达式必须用分号隔开</a:t>
            </a:r>
          </a:p>
        </p:txBody>
      </p:sp>
      <p:sp>
        <p:nvSpPr>
          <p:cNvPr id="365580" name="Rectangle 12"/>
          <p:cNvSpPr>
            <a:spLocks noChangeArrowheads="1"/>
          </p:cNvSpPr>
          <p:nvPr/>
        </p:nvSpPr>
        <p:spPr bwMode="auto">
          <a:xfrm>
            <a:off x="3455952" y="3907134"/>
            <a:ext cx="6087480" cy="562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循环体为单语句、复合语句</a:t>
            </a:r>
          </a:p>
        </p:txBody>
      </p:sp>
      <p:sp>
        <p:nvSpPr>
          <p:cNvPr id="365582" name="Text Box 14"/>
          <p:cNvSpPr txBox="1">
            <a:spLocks noChangeArrowheads="1"/>
          </p:cNvSpPr>
          <p:nvPr/>
        </p:nvSpPr>
        <p:spPr bwMode="auto">
          <a:xfrm>
            <a:off x="4098855" y="4695045"/>
            <a:ext cx="4744653" cy="1165663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6950" tIns="11390" rIns="56950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3600" b="1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for(</a:t>
            </a:r>
            <a:r>
              <a:rPr lang="en-US" altLang="zh-CN" sz="3600" b="1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i=1</a:t>
            </a:r>
            <a:r>
              <a:rPr lang="en-US" altLang="zh-CN" sz="3600" b="1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3600" b="1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i&lt;=100</a:t>
            </a:r>
            <a:r>
              <a:rPr lang="en-US" altLang="zh-CN" sz="3600" b="1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3600" b="1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i++</a:t>
            </a:r>
            <a:r>
              <a:rPr lang="zh-CN" altLang="zh-CN" sz="3600" b="1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sz="3600" b="1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　   </a:t>
            </a:r>
            <a:r>
              <a:rPr lang="en-US" altLang="zh-CN" sz="3600" b="1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printf(</a:t>
            </a:r>
            <a:r>
              <a:rPr lang="en-US" altLang="zh-CN" sz="3600" b="1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"</a:t>
            </a:r>
            <a:r>
              <a:rPr lang="en-US" altLang="zh-CN" sz="3600" b="1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%d\n</a:t>
            </a:r>
            <a:r>
              <a:rPr lang="en-US" altLang="zh-CN" sz="3600" b="1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"</a:t>
            </a:r>
            <a:r>
              <a:rPr lang="en-US" altLang="zh-CN" sz="3600" b="1">
                <a:solidFill>
                  <a:srgbClr val="0000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, i);</a:t>
            </a:r>
          </a:p>
        </p:txBody>
      </p:sp>
      <p:grpSp>
        <p:nvGrpSpPr>
          <p:cNvPr id="365585" name="Group 17"/>
          <p:cNvGrpSpPr>
            <a:grpSpLocks/>
          </p:cNvGrpSpPr>
          <p:nvPr/>
        </p:nvGrpSpPr>
        <p:grpSpPr bwMode="auto">
          <a:xfrm>
            <a:off x="3579804" y="5174074"/>
            <a:ext cx="384198" cy="1751237"/>
            <a:chOff x="1179" y="1944"/>
            <a:chExt cx="206" cy="1046"/>
          </a:xfrm>
        </p:grpSpPr>
        <p:sp>
          <p:nvSpPr>
            <p:cNvPr id="25609" name="Rectangle 15"/>
            <p:cNvSpPr>
              <a:spLocks noChangeArrowheads="1"/>
            </p:cNvSpPr>
            <p:nvPr/>
          </p:nvSpPr>
          <p:spPr bwMode="auto">
            <a:xfrm>
              <a:off x="1179" y="1944"/>
              <a:ext cx="200" cy="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17" tIns="49357" rIns="94917" bIns="49357">
              <a:spAutoFit/>
            </a:bodyPr>
            <a:lstStyle/>
            <a:p>
              <a:r>
                <a:rPr lang="en-US" altLang="zh-CN" sz="36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</a:p>
          </p:txBody>
        </p:sp>
        <p:sp>
          <p:nvSpPr>
            <p:cNvPr id="25610" name="Rectangle 16"/>
            <p:cNvSpPr>
              <a:spLocks noChangeArrowheads="1"/>
            </p:cNvSpPr>
            <p:nvPr/>
          </p:nvSpPr>
          <p:spPr bwMode="auto">
            <a:xfrm>
              <a:off x="1181" y="2600"/>
              <a:ext cx="204" cy="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4917" tIns="49357" rIns="94917" bIns="49357">
              <a:spAutoFit/>
            </a:bodyPr>
            <a:lstStyle/>
            <a:p>
              <a:r>
                <a:rPr lang="en-US" altLang="zh-CN" sz="36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</p:txBody>
        </p:sp>
      </p:grpSp>
      <p:sp>
        <p:nvSpPr>
          <p:cNvPr id="10" name="Text Box 1030"/>
          <p:cNvSpPr txBox="1">
            <a:spLocks noChangeArrowheads="1"/>
          </p:cNvSpPr>
          <p:nvPr/>
        </p:nvSpPr>
        <p:spPr bwMode="auto">
          <a:xfrm>
            <a:off x="3620027" y="1255850"/>
            <a:ext cx="6841796" cy="2504491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6950" tIns="11390" rIns="56950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for(sum=0, </a:t>
            </a:r>
            <a:r>
              <a:rPr lang="en-US" altLang="zh-CN" sz="3600" b="1" dirty="0" err="1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=1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altLang="zh-CN" sz="3600" b="1" dirty="0" err="1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&lt;=100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altLang="zh-CN" sz="3600" b="1" dirty="0" err="1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++</a:t>
            </a:r>
            <a:r>
              <a:rPr lang="zh-CN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{     sum=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sum+i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 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printf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"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%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d,%d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\n</a:t>
            </a: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"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i,sum</a:t>
            </a: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7587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655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655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65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81" grpId="0" animBg="1" autoUpdateAnimBg="0"/>
      <p:bldP spid="365575" grpId="0" autoUpdateAnimBg="0"/>
      <p:bldP spid="365580" grpId="0" autoUpdateAnimBg="0"/>
      <p:bldP spid="365582" grpId="0" animBg="1" autoUpdateAnimBg="0"/>
      <p:bldP spid="10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1604839" y="899648"/>
            <a:ext cx="7110540" cy="5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三个表达式必须用分号隔开</a:t>
            </a:r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1604839" y="1816125"/>
            <a:ext cx="7200799" cy="5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循环体为单语句、复合语句</a:t>
            </a:r>
          </a:p>
        </p:txBody>
      </p:sp>
      <p:sp>
        <p:nvSpPr>
          <p:cNvPr id="389125" name="Rectangle 5"/>
          <p:cNvSpPr>
            <a:spLocks noChangeArrowheads="1"/>
          </p:cNvSpPr>
          <p:nvPr/>
        </p:nvSpPr>
        <p:spPr bwMode="auto">
          <a:xfrm>
            <a:off x="1622490" y="2727914"/>
            <a:ext cx="5887005" cy="528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三个表达式</a:t>
            </a:r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都可以省略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126" name="Rectangle 6"/>
          <p:cNvSpPr>
            <a:spLocks noChangeArrowheads="1"/>
          </p:cNvSpPr>
          <p:nvPr/>
        </p:nvSpPr>
        <p:spPr bwMode="auto">
          <a:xfrm>
            <a:off x="2209937" y="3668985"/>
            <a:ext cx="4473382" cy="16577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 algn="just"/>
            <a:r>
              <a:rPr lang="en-US" altLang="zh-CN" sz="3375" b="1" dirty="0" err="1">
                <a:latin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</a:rPr>
              <a:t>=0;</a:t>
            </a:r>
          </a:p>
          <a:p>
            <a:r>
              <a:rPr lang="en-US" altLang="zh-CN" sz="3375" b="1" dirty="0">
                <a:latin typeface="Times New Roman" pitchFamily="18" charset="0"/>
              </a:rPr>
              <a:t>for(;</a:t>
            </a:r>
            <a:r>
              <a:rPr lang="en-US" altLang="zh-CN" sz="3375" b="1" dirty="0" err="1">
                <a:latin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</a:rPr>
              <a:t>&lt;10;i++) </a:t>
            </a:r>
          </a:p>
          <a:p>
            <a:r>
              <a:rPr lang="zh-CN" altLang="en-US" sz="3375" b="1" dirty="0">
                <a:latin typeface="Times New Roman" pitchFamily="18" charset="0"/>
              </a:rPr>
              <a:t>　  </a:t>
            </a:r>
            <a:r>
              <a:rPr lang="en-US" altLang="zh-CN" sz="3375" b="1" dirty="0" err="1">
                <a:latin typeface="Times New Roman" pitchFamily="18" charset="0"/>
              </a:rPr>
              <a:t>printf</a:t>
            </a:r>
            <a:r>
              <a:rPr lang="en-US" altLang="zh-CN" sz="3375" b="1" dirty="0">
                <a:latin typeface="Times New Roman" pitchFamily="18" charset="0"/>
              </a:rPr>
              <a:t>("%d", </a:t>
            </a:r>
            <a:r>
              <a:rPr lang="en-US" altLang="zh-CN" sz="3375" b="1" dirty="0" err="1">
                <a:latin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</a:rPr>
              <a:t>);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8706BA9D-82E5-4F24-9273-98FCEF8DA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703" y="88181"/>
            <a:ext cx="1584176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说  明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2206303" y="3667125"/>
            <a:ext cx="6235662" cy="1138424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r>
              <a:rPr lang="en-US" altLang="zh-CN" sz="3375" b="1">
                <a:latin typeface="Times New Roman" pitchFamily="18" charset="0"/>
              </a:rPr>
              <a:t>i=0;</a:t>
            </a:r>
          </a:p>
          <a:p>
            <a:r>
              <a:rPr lang="en-US" altLang="zh-CN" sz="3375" b="1">
                <a:latin typeface="Times New Roman" pitchFamily="18" charset="0"/>
              </a:rPr>
              <a:t>for(;i&lt;10;) printf("%d", i++); 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2209936" y="3660613"/>
            <a:ext cx="5143737" cy="3215916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r>
              <a:rPr lang="en-US" altLang="zh-CN" sz="3375" b="1" dirty="0">
                <a:latin typeface="Times New Roman" pitchFamily="18" charset="0"/>
              </a:rPr>
              <a:t>x=1;</a:t>
            </a:r>
          </a:p>
          <a:p>
            <a:r>
              <a:rPr lang="en-US" altLang="zh-CN" sz="3375" b="1" dirty="0">
                <a:latin typeface="Times New Roman" pitchFamily="18" charset="0"/>
              </a:rPr>
              <a:t>for( </a:t>
            </a:r>
            <a:r>
              <a:rPr lang="zh-CN" altLang="en-US" sz="3375" b="1" dirty="0">
                <a:latin typeface="Times New Roman" pitchFamily="18" charset="0"/>
              </a:rPr>
              <a:t>； ；</a:t>
            </a:r>
            <a:r>
              <a:rPr lang="en-US" altLang="zh-CN" sz="3375" b="1" dirty="0">
                <a:latin typeface="Times New Roman" pitchFamily="18" charset="0"/>
              </a:rPr>
              <a:t>)</a:t>
            </a:r>
          </a:p>
          <a:p>
            <a:r>
              <a:rPr lang="en-US" altLang="zh-CN" sz="3375" b="1" dirty="0">
                <a:latin typeface="Times New Roman" pitchFamily="18" charset="0"/>
              </a:rPr>
              <a:t>{    x+=1</a:t>
            </a:r>
            <a:r>
              <a:rPr lang="zh-CN" altLang="en-US" sz="3375" b="1" dirty="0">
                <a:latin typeface="Times New Roman" pitchFamily="18" charset="0"/>
              </a:rPr>
              <a:t>；</a:t>
            </a:r>
          </a:p>
          <a:p>
            <a:r>
              <a:rPr lang="zh-CN" altLang="en-US" sz="3375" b="1" dirty="0">
                <a:latin typeface="Times New Roman" pitchFamily="18" charset="0"/>
              </a:rPr>
              <a:t>      </a:t>
            </a:r>
            <a:r>
              <a:rPr lang="en-US" altLang="zh-CN" sz="3375" b="1" dirty="0">
                <a:latin typeface="Times New Roman" pitchFamily="18" charset="0"/>
              </a:rPr>
              <a:t>if(x&gt;10)   </a:t>
            </a:r>
            <a:r>
              <a:rPr lang="en-US" altLang="zh-CN" sz="3375" b="1" dirty="0">
                <a:solidFill>
                  <a:srgbClr val="C00000"/>
                </a:solidFill>
                <a:latin typeface="Times New Roman" pitchFamily="18" charset="0"/>
              </a:rPr>
              <a:t>break;</a:t>
            </a:r>
          </a:p>
          <a:p>
            <a:r>
              <a:rPr lang="en-US" altLang="zh-CN" sz="3375" b="1" dirty="0">
                <a:latin typeface="Times New Roman" pitchFamily="18" charset="0"/>
              </a:rPr>
              <a:t>      </a:t>
            </a:r>
            <a:r>
              <a:rPr lang="en-US" altLang="zh-CN" sz="3375" b="1" dirty="0" err="1">
                <a:latin typeface="Times New Roman" pitchFamily="18" charset="0"/>
              </a:rPr>
              <a:t>printf</a:t>
            </a:r>
            <a:r>
              <a:rPr lang="en-US" altLang="zh-CN" sz="3375" b="1" dirty="0">
                <a:latin typeface="Times New Roman" pitchFamily="18" charset="0"/>
              </a:rPr>
              <a:t>("%</a:t>
            </a:r>
            <a:r>
              <a:rPr lang="en-US" altLang="zh-CN" sz="3375" b="1" dirty="0" err="1">
                <a:latin typeface="Times New Roman" pitchFamily="18" charset="0"/>
              </a:rPr>
              <a:t>f,",x</a:t>
            </a:r>
            <a:r>
              <a:rPr lang="en-US" altLang="zh-CN" sz="3375" b="1" dirty="0">
                <a:latin typeface="Times New Roman" pitchFamily="18" charset="0"/>
              </a:rPr>
              <a:t>);</a:t>
            </a:r>
          </a:p>
          <a:p>
            <a:r>
              <a:rPr lang="en-US" altLang="zh-CN" sz="3375" b="1" dirty="0">
                <a:latin typeface="Times New Roman" pitchFamily="18" charset="0"/>
              </a:rPr>
              <a:t>}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808294C-C4BE-4241-9AED-1A1A4019FD56}"/>
              </a:ext>
            </a:extLst>
          </p:cNvPr>
          <p:cNvGrpSpPr>
            <a:grpSpLocks/>
          </p:cNvGrpSpPr>
          <p:nvPr/>
        </p:nvGrpSpPr>
        <p:grpSpPr bwMode="auto">
          <a:xfrm>
            <a:off x="8715379" y="303957"/>
            <a:ext cx="3618652" cy="6578327"/>
            <a:chOff x="975" y="1207"/>
            <a:chExt cx="3810" cy="2782"/>
          </a:xfrm>
        </p:grpSpPr>
        <p:pic>
          <p:nvPicPr>
            <p:cNvPr id="14" name="Picture 8" descr="5">
              <a:extLst>
                <a:ext uri="{FF2B5EF4-FFF2-40B4-BE49-F238E27FC236}">
                  <a16:creationId xmlns:a16="http://schemas.microsoft.com/office/drawing/2014/main" id="{11E5AD2C-8972-4A6A-BA9F-10A1D29B95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" y="1207"/>
              <a:ext cx="3810" cy="2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D2DAF1C9-03D4-4BE7-8831-DF0CB3F42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2432"/>
              <a:ext cx="1270" cy="272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>
                  <a:solidFill>
                    <a:schemeClr val="bg1"/>
                  </a:solidFill>
                  <a:ea typeface="黑体" panose="02010609060101010101" pitchFamily="49" charset="-122"/>
                </a:rPr>
                <a:t>循环体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8714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9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9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9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389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389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389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  <p:bldP spid="389125" grpId="0" autoUpdateAnimBg="0"/>
      <p:bldP spid="389126" grpId="0" build="allAtOnce"/>
      <p:bldP spid="11" grpId="0" animBg="1" autoUpdateAnimBg="0"/>
      <p:bldP spid="11" grpId="1" animBg="1"/>
      <p:bldP spid="12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Text Box 2"/>
          <p:cNvSpPr txBox="1">
            <a:spLocks noChangeArrowheads="1"/>
          </p:cNvSpPr>
          <p:nvPr/>
        </p:nvSpPr>
        <p:spPr bwMode="auto">
          <a:xfrm>
            <a:off x="2900983" y="1384077"/>
            <a:ext cx="6840760" cy="5553094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#include&lt;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stdio.h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&gt;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void main( 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{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i,sum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=0;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for(                            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   sum=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sum+i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("%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d",sum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);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}</a:t>
            </a:r>
          </a:p>
        </p:txBody>
      </p:sp>
      <p:sp>
        <p:nvSpPr>
          <p:cNvPr id="27653" name="Text Box 7"/>
          <p:cNvSpPr txBox="1">
            <a:spLocks noChangeArrowheads="1"/>
          </p:cNvSpPr>
          <p:nvPr/>
        </p:nvSpPr>
        <p:spPr bwMode="auto">
          <a:xfrm>
            <a:off x="2965262" y="375965"/>
            <a:ext cx="4328209" cy="811475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>
            <a:defPPr>
              <a:defRPr lang="zh-CN"/>
            </a:defPPr>
            <a:lvl1pPr>
              <a:spcBef>
                <a:spcPct val="0"/>
              </a:spcBef>
              <a:defRPr sz="44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zh-CN" altLang="en-US" sz="4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sz="4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zh-CN" sz="4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循环求</a:t>
            </a:r>
            <a:r>
              <a:rPr lang="zh-CN" altLang="en-US" sz="4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765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665383"/>
              </p:ext>
            </p:extLst>
          </p:nvPr>
        </p:nvGraphicFramePr>
        <p:xfrm>
          <a:off x="5997327" y="303957"/>
          <a:ext cx="1143496" cy="996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3" name="Equation" r:id="rId3" imgW="457200" imgH="520700" progId="Equation.3">
                  <p:embed/>
                </p:oleObj>
              </mc:Choice>
              <mc:Fallback>
                <p:oleObj name="Equation" r:id="rId3" imgW="457200" imgH="520700" progId="Equation.3">
                  <p:embed/>
                  <p:pic>
                    <p:nvPicPr>
                      <p:cNvPr id="2765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7327" y="303957"/>
                        <a:ext cx="1143496" cy="996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71DC73E-39EB-4D53-B1CC-B1C40D9F1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695" y="88181"/>
            <a:ext cx="172819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B1F7B3-D81A-4336-B031-966BF1647D59}"/>
              </a:ext>
            </a:extLst>
          </p:cNvPr>
          <p:cNvSpPr/>
          <p:nvPr/>
        </p:nvSpPr>
        <p:spPr>
          <a:xfrm>
            <a:off x="4125119" y="3688333"/>
            <a:ext cx="3230372" cy="9233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=1</a:t>
            </a: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;</a:t>
            </a: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i&lt;=100</a:t>
            </a: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;</a:t>
            </a: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i++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16734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6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65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6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65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65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6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6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Text Box 2"/>
          <p:cNvSpPr txBox="1">
            <a:spLocks noChangeArrowheads="1"/>
          </p:cNvSpPr>
          <p:nvPr/>
        </p:nvSpPr>
        <p:spPr bwMode="auto">
          <a:xfrm>
            <a:off x="8589615" y="1848344"/>
            <a:ext cx="3491004" cy="3977663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main( )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{  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=1;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 for(;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&lt;=100;)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 {  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      sum=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sum+i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;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      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++;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  } 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  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("%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d",sum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);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}</a:t>
            </a:r>
          </a:p>
        </p:txBody>
      </p:sp>
      <p:sp>
        <p:nvSpPr>
          <p:cNvPr id="368643" name="Text Box 3"/>
          <p:cNvSpPr txBox="1">
            <a:spLocks noChangeArrowheads="1"/>
          </p:cNvSpPr>
          <p:nvPr/>
        </p:nvSpPr>
        <p:spPr bwMode="auto">
          <a:xfrm>
            <a:off x="4961750" y="1848344"/>
            <a:ext cx="3411841" cy="3977663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main( )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{  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=1,sum=0;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for( ; ;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++)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{   sum=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sum+i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;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     if(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&gt;100) 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         break;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}</a:t>
            </a:r>
            <a:endParaRPr lang="en-US" altLang="zh-CN" sz="2800" b="1" dirty="0">
              <a:solidFill>
                <a:srgbClr val="FF5555"/>
              </a:solidFill>
              <a:latin typeface="Times New Roman" pitchFamily="18" charset="0"/>
              <a:ea typeface="隶书" pitchFamily="49" charset="-122"/>
            </a:endParaRP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("%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d",sum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);</a:t>
            </a:r>
          </a:p>
          <a:p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}</a:t>
            </a:r>
          </a:p>
        </p:txBody>
      </p:sp>
      <p:sp>
        <p:nvSpPr>
          <p:cNvPr id="28677" name="Text Box 4"/>
          <p:cNvSpPr txBox="1">
            <a:spLocks noChangeArrowheads="1"/>
          </p:cNvSpPr>
          <p:nvPr/>
        </p:nvSpPr>
        <p:spPr bwMode="auto">
          <a:xfrm>
            <a:off x="2801511" y="591989"/>
            <a:ext cx="3411840" cy="811475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>
            <a:defPPr>
              <a:defRPr lang="zh-CN"/>
            </a:defPPr>
            <a:lvl1pPr>
              <a:spcBef>
                <a:spcPct val="0"/>
              </a:spcBef>
              <a:defRPr sz="44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zh-CN" altLang="en-US" sz="4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sz="4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zh-CN" sz="4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循环求</a:t>
            </a:r>
            <a:r>
              <a:rPr lang="zh-CN" altLang="en-US" sz="4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5866836" y="562540"/>
          <a:ext cx="1143496" cy="996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7" name="Equation" r:id="rId4" imgW="457200" imgH="520700" progId="Equation.3">
                  <p:embed/>
                </p:oleObj>
              </mc:Choice>
              <mc:Fallback>
                <p:oleObj name="Equation" r:id="rId4" imgW="457200" imgH="520700" progId="Equation.3">
                  <p:embed/>
                  <p:pic>
                    <p:nvPicPr>
                      <p:cNvPr id="286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6836" y="562540"/>
                        <a:ext cx="1143496" cy="996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31FD123-D374-4A6D-993D-851C29119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71" y="88181"/>
            <a:ext cx="216024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 fontScale="85000" lnSpcReduction="10000"/>
          </a:bodyPr>
          <a:lstStyle/>
          <a:p>
            <a:pPr algn="ctr">
              <a:spcBef>
                <a:spcPct val="0"/>
              </a:spcBef>
            </a:pPr>
            <a:r>
              <a:rPr lang="zh-CN" altLang="en-US" sz="4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自学</a:t>
            </a:r>
            <a:r>
              <a:rPr lang="en-US" altLang="zh-CN" sz="4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变形</a:t>
            </a:r>
            <a:endParaRPr lang="zh-CN" altLang="en-US" sz="3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277FD52-903E-4887-BBE2-30379A460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783" y="1848344"/>
            <a:ext cx="3600400" cy="4039218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#include&lt;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stdio.h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&gt;</a:t>
            </a:r>
          </a:p>
          <a:p>
            <a:pPr>
              <a:spcBef>
                <a:spcPts val="1200"/>
              </a:spcBef>
            </a:pP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main( )</a:t>
            </a:r>
          </a:p>
          <a:p>
            <a:pPr>
              <a:spcBef>
                <a:spcPts val="1200"/>
              </a:spcBef>
            </a:pP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{  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=1,sum=0;</a:t>
            </a:r>
          </a:p>
          <a:p>
            <a:pPr>
              <a:spcBef>
                <a:spcPts val="1200"/>
              </a:spcBef>
            </a:pP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  for(</a:t>
            </a:r>
            <a:r>
              <a:rPr lang="en-US" altLang="zh-CN" sz="2800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;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&lt;=100</a:t>
            </a:r>
            <a:r>
              <a:rPr lang="en-US" altLang="zh-CN" sz="2800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;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i++)</a:t>
            </a:r>
          </a:p>
          <a:p>
            <a:pPr>
              <a:spcBef>
                <a:spcPts val="1200"/>
              </a:spcBef>
            </a:pP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     sum=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sum+i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;</a:t>
            </a:r>
          </a:p>
          <a:p>
            <a:pPr>
              <a:spcBef>
                <a:spcPts val="1200"/>
              </a:spcBef>
            </a:pP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  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("%</a:t>
            </a:r>
            <a:r>
              <a:rPr lang="en-US" altLang="zh-CN" sz="2800" b="1" dirty="0" err="1">
                <a:latin typeface="Times New Roman" pitchFamily="18" charset="0"/>
                <a:ea typeface="隶书" pitchFamily="49" charset="-122"/>
              </a:rPr>
              <a:t>d",sum</a:t>
            </a: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);</a:t>
            </a:r>
          </a:p>
          <a:p>
            <a:pPr>
              <a:spcBef>
                <a:spcPts val="1200"/>
              </a:spcBef>
            </a:pPr>
            <a:r>
              <a:rPr lang="en-US" altLang="zh-CN" sz="2800" b="1" dirty="0">
                <a:latin typeface="Times New Roman" pitchFamily="18" charset="0"/>
                <a:ea typeface="隶书" pitchFamily="49" charset="-122"/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388094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686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686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2" grpId="0" animBg="1" autoUpdateAnimBg="0"/>
      <p:bldP spid="368643" grpId="0" animBg="1" autoUpdateAnimBg="0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57"/>
          <p:cNvGrpSpPr/>
          <p:nvPr/>
        </p:nvGrpSpPr>
        <p:grpSpPr bwMode="auto">
          <a:xfrm>
            <a:off x="4478903" y="964223"/>
            <a:ext cx="3900943" cy="3838996"/>
            <a:chOff x="0" y="0"/>
            <a:chExt cx="4846320" cy="4437330"/>
          </a:xfrm>
        </p:grpSpPr>
        <p:sp>
          <p:nvSpPr>
            <p:cNvPr id="2060" name="Freeform 5"/>
            <p:cNvSpPr>
              <a:spLocks noChangeArrowheads="1"/>
            </p:cNvSpPr>
            <p:nvPr/>
          </p:nvSpPr>
          <p:spPr bwMode="auto">
            <a:xfrm>
              <a:off x="400195" y="2192278"/>
              <a:ext cx="4446125" cy="738822"/>
            </a:xfrm>
            <a:custGeom>
              <a:avLst/>
              <a:gdLst>
                <a:gd name="T0" fmla="*/ 4297834 w 1709"/>
                <a:gd name="T1" fmla="*/ 738822 h 284"/>
                <a:gd name="T2" fmla="*/ 148291 w 1709"/>
                <a:gd name="T3" fmla="*/ 738822 h 284"/>
                <a:gd name="T4" fmla="*/ 0 w 1709"/>
                <a:gd name="T5" fmla="*/ 590537 h 284"/>
                <a:gd name="T6" fmla="*/ 0 w 1709"/>
                <a:gd name="T7" fmla="*/ 145683 h 284"/>
                <a:gd name="T8" fmla="*/ 148291 w 1709"/>
                <a:gd name="T9" fmla="*/ 0 h 284"/>
                <a:gd name="T10" fmla="*/ 4297834 w 1709"/>
                <a:gd name="T11" fmla="*/ 0 h 284"/>
                <a:gd name="T12" fmla="*/ 4446125 w 1709"/>
                <a:gd name="T13" fmla="*/ 145683 h 284"/>
                <a:gd name="T14" fmla="*/ 4446125 w 1709"/>
                <a:gd name="T15" fmla="*/ 590537 h 284"/>
                <a:gd name="T16" fmla="*/ 4297834 w 1709"/>
                <a:gd name="T17" fmla="*/ 738822 h 2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09"/>
                <a:gd name="T28" fmla="*/ 0 h 284"/>
                <a:gd name="T29" fmla="*/ 1709 w 1709"/>
                <a:gd name="T30" fmla="*/ 284 h 2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09" h="284">
                  <a:moveTo>
                    <a:pt x="1652" y="284"/>
                  </a:moveTo>
                  <a:cubicBezTo>
                    <a:pt x="57" y="284"/>
                    <a:pt x="57" y="284"/>
                    <a:pt x="57" y="284"/>
                  </a:cubicBezTo>
                  <a:cubicBezTo>
                    <a:pt x="26" y="284"/>
                    <a:pt x="0" y="258"/>
                    <a:pt x="0" y="22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1652" y="0"/>
                    <a:pt x="1652" y="0"/>
                    <a:pt x="1652" y="0"/>
                  </a:cubicBezTo>
                  <a:cubicBezTo>
                    <a:pt x="1683" y="0"/>
                    <a:pt x="1709" y="25"/>
                    <a:pt x="1709" y="56"/>
                  </a:cubicBezTo>
                  <a:cubicBezTo>
                    <a:pt x="1709" y="227"/>
                    <a:pt x="1709" y="227"/>
                    <a:pt x="1709" y="227"/>
                  </a:cubicBezTo>
                  <a:cubicBezTo>
                    <a:pt x="1709" y="258"/>
                    <a:pt x="1683" y="284"/>
                    <a:pt x="1652" y="284"/>
                  </a:cubicBez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Rectangle 6"/>
            <p:cNvSpPr>
              <a:spLocks noChangeArrowheads="1"/>
            </p:cNvSpPr>
            <p:nvPr/>
          </p:nvSpPr>
          <p:spPr bwMode="auto">
            <a:xfrm>
              <a:off x="400195" y="2561689"/>
              <a:ext cx="4446125" cy="369411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2" name="Freeform 7"/>
            <p:cNvSpPr>
              <a:spLocks noChangeArrowheads="1"/>
            </p:cNvSpPr>
            <p:nvPr/>
          </p:nvSpPr>
          <p:spPr bwMode="auto">
            <a:xfrm>
              <a:off x="931224" y="2237355"/>
              <a:ext cx="531029" cy="626679"/>
            </a:xfrm>
            <a:custGeom>
              <a:avLst/>
              <a:gdLst>
                <a:gd name="T0" fmla="*/ 484174 w 204"/>
                <a:gd name="T1" fmla="*/ 626679 h 241"/>
                <a:gd name="T2" fmla="*/ 46856 w 204"/>
                <a:gd name="T3" fmla="*/ 626679 h 241"/>
                <a:gd name="T4" fmla="*/ 0 w 204"/>
                <a:gd name="T5" fmla="*/ 579873 h 241"/>
                <a:gd name="T6" fmla="*/ 0 w 204"/>
                <a:gd name="T7" fmla="*/ 44206 h 241"/>
                <a:gd name="T8" fmla="*/ 46856 w 204"/>
                <a:gd name="T9" fmla="*/ 0 h 241"/>
                <a:gd name="T10" fmla="*/ 484174 w 204"/>
                <a:gd name="T11" fmla="*/ 0 h 241"/>
                <a:gd name="T12" fmla="*/ 531029 w 204"/>
                <a:gd name="T13" fmla="*/ 44206 h 241"/>
                <a:gd name="T14" fmla="*/ 531029 w 204"/>
                <a:gd name="T15" fmla="*/ 579873 h 241"/>
                <a:gd name="T16" fmla="*/ 484174 w 204"/>
                <a:gd name="T17" fmla="*/ 626679 h 2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04"/>
                <a:gd name="T28" fmla="*/ 0 h 241"/>
                <a:gd name="T29" fmla="*/ 204 w 204"/>
                <a:gd name="T30" fmla="*/ 241 h 24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04" h="241">
                  <a:moveTo>
                    <a:pt x="186" y="241"/>
                  </a:moveTo>
                  <a:cubicBezTo>
                    <a:pt x="18" y="241"/>
                    <a:pt x="18" y="241"/>
                    <a:pt x="18" y="241"/>
                  </a:cubicBezTo>
                  <a:cubicBezTo>
                    <a:pt x="8" y="241"/>
                    <a:pt x="0" y="233"/>
                    <a:pt x="0" y="22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96" y="0"/>
                    <a:pt x="204" y="8"/>
                    <a:pt x="204" y="17"/>
                  </a:cubicBezTo>
                  <a:cubicBezTo>
                    <a:pt x="204" y="223"/>
                    <a:pt x="204" y="223"/>
                    <a:pt x="204" y="223"/>
                  </a:cubicBezTo>
                  <a:cubicBezTo>
                    <a:pt x="204" y="233"/>
                    <a:pt x="196" y="241"/>
                    <a:pt x="186" y="2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" name="Freeform 8"/>
            <p:cNvSpPr>
              <a:spLocks noChangeArrowheads="1"/>
            </p:cNvSpPr>
            <p:nvPr/>
          </p:nvSpPr>
          <p:spPr bwMode="auto">
            <a:xfrm>
              <a:off x="0" y="2931100"/>
              <a:ext cx="4682504" cy="1134619"/>
            </a:xfrm>
            <a:custGeom>
              <a:avLst/>
              <a:gdLst>
                <a:gd name="T0" fmla="*/ 4461386 w 1800"/>
                <a:gd name="T1" fmla="*/ 1038333 h 436"/>
                <a:gd name="T2" fmla="*/ 4461386 w 1800"/>
                <a:gd name="T3" fmla="*/ 96286 h 436"/>
                <a:gd name="T4" fmla="*/ 4682504 w 1800"/>
                <a:gd name="T5" fmla="*/ 96286 h 436"/>
                <a:gd name="T6" fmla="*/ 4682504 w 1800"/>
                <a:gd name="T7" fmla="*/ 0 h 436"/>
                <a:gd name="T8" fmla="*/ 179496 w 1800"/>
                <a:gd name="T9" fmla="*/ 0 h 436"/>
                <a:gd name="T10" fmla="*/ 0 w 1800"/>
                <a:gd name="T11" fmla="*/ 176959 h 436"/>
                <a:gd name="T12" fmla="*/ 0 w 1800"/>
                <a:gd name="T13" fmla="*/ 957660 h 436"/>
                <a:gd name="T14" fmla="*/ 179496 w 1800"/>
                <a:gd name="T15" fmla="*/ 1134619 h 436"/>
                <a:gd name="T16" fmla="*/ 4682504 w 1800"/>
                <a:gd name="T17" fmla="*/ 1134619 h 436"/>
                <a:gd name="T18" fmla="*/ 4682504 w 1800"/>
                <a:gd name="T19" fmla="*/ 1038333 h 436"/>
                <a:gd name="T20" fmla="*/ 4461386 w 1800"/>
                <a:gd name="T21" fmla="*/ 1038333 h 4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00"/>
                <a:gd name="T34" fmla="*/ 0 h 436"/>
                <a:gd name="T35" fmla="*/ 1800 w 1800"/>
                <a:gd name="T36" fmla="*/ 436 h 4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00" h="436">
                  <a:moveTo>
                    <a:pt x="1715" y="399"/>
                  </a:moveTo>
                  <a:cubicBezTo>
                    <a:pt x="1715" y="37"/>
                    <a:pt x="1715" y="37"/>
                    <a:pt x="1715" y="37"/>
                  </a:cubicBezTo>
                  <a:cubicBezTo>
                    <a:pt x="1800" y="37"/>
                    <a:pt x="1800" y="37"/>
                    <a:pt x="1800" y="37"/>
                  </a:cubicBezTo>
                  <a:cubicBezTo>
                    <a:pt x="1800" y="0"/>
                    <a:pt x="1800" y="0"/>
                    <a:pt x="180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1" y="0"/>
                    <a:pt x="0" y="30"/>
                    <a:pt x="0" y="68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0" y="405"/>
                    <a:pt x="31" y="436"/>
                    <a:pt x="69" y="436"/>
                  </a:cubicBezTo>
                  <a:cubicBezTo>
                    <a:pt x="1800" y="436"/>
                    <a:pt x="1800" y="436"/>
                    <a:pt x="1800" y="436"/>
                  </a:cubicBezTo>
                  <a:cubicBezTo>
                    <a:pt x="1800" y="399"/>
                    <a:pt x="1800" y="399"/>
                    <a:pt x="1800" y="399"/>
                  </a:cubicBezTo>
                  <a:lnTo>
                    <a:pt x="1715" y="3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" name="Freeform 9"/>
            <p:cNvSpPr>
              <a:spLocks noChangeArrowheads="1"/>
            </p:cNvSpPr>
            <p:nvPr/>
          </p:nvSpPr>
          <p:spPr bwMode="auto">
            <a:xfrm>
              <a:off x="119839" y="3027851"/>
              <a:ext cx="4446125" cy="941118"/>
            </a:xfrm>
            <a:custGeom>
              <a:avLst/>
              <a:gdLst>
                <a:gd name="T0" fmla="*/ 4446125 w 1709"/>
                <a:gd name="T1" fmla="*/ 0 h 362"/>
                <a:gd name="T2" fmla="*/ 166502 w 1709"/>
                <a:gd name="T3" fmla="*/ 0 h 362"/>
                <a:gd name="T4" fmla="*/ 0 w 1709"/>
                <a:gd name="T5" fmla="*/ 145587 h 362"/>
                <a:gd name="T6" fmla="*/ 0 w 1709"/>
                <a:gd name="T7" fmla="*/ 792931 h 362"/>
                <a:gd name="T8" fmla="*/ 166502 w 1709"/>
                <a:gd name="T9" fmla="*/ 941118 h 362"/>
                <a:gd name="T10" fmla="*/ 4446125 w 1709"/>
                <a:gd name="T11" fmla="*/ 941118 h 362"/>
                <a:gd name="T12" fmla="*/ 4446125 w 1709"/>
                <a:gd name="T13" fmla="*/ 0 h 3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09"/>
                <a:gd name="T22" fmla="*/ 0 h 362"/>
                <a:gd name="T23" fmla="*/ 1709 w 1709"/>
                <a:gd name="T24" fmla="*/ 362 h 3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09" h="362">
                  <a:moveTo>
                    <a:pt x="1709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29" y="0"/>
                    <a:pt x="0" y="25"/>
                    <a:pt x="0" y="56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36"/>
                    <a:pt x="29" y="362"/>
                    <a:pt x="64" y="362"/>
                  </a:cubicBezTo>
                  <a:cubicBezTo>
                    <a:pt x="1709" y="362"/>
                    <a:pt x="1709" y="362"/>
                    <a:pt x="1709" y="362"/>
                  </a:cubicBezTo>
                  <a:lnTo>
                    <a:pt x="17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" name="Rectangle 10"/>
            <p:cNvSpPr>
              <a:spLocks noChangeArrowheads="1"/>
            </p:cNvSpPr>
            <p:nvPr/>
          </p:nvSpPr>
          <p:spPr bwMode="auto">
            <a:xfrm>
              <a:off x="283655" y="3082822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6" name="Rectangle 11"/>
            <p:cNvSpPr>
              <a:spLocks noChangeArrowheads="1"/>
            </p:cNvSpPr>
            <p:nvPr/>
          </p:nvSpPr>
          <p:spPr bwMode="auto">
            <a:xfrm>
              <a:off x="283655" y="3155385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7" name="Rectangle 12"/>
            <p:cNvSpPr>
              <a:spLocks noChangeArrowheads="1"/>
            </p:cNvSpPr>
            <p:nvPr/>
          </p:nvSpPr>
          <p:spPr bwMode="auto">
            <a:xfrm>
              <a:off x="283655" y="3227948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8" name="Rectangle 13"/>
            <p:cNvSpPr>
              <a:spLocks noChangeArrowheads="1"/>
            </p:cNvSpPr>
            <p:nvPr/>
          </p:nvSpPr>
          <p:spPr bwMode="auto">
            <a:xfrm>
              <a:off x="283655" y="3303810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9" name="Rectangle 14"/>
            <p:cNvSpPr>
              <a:spLocks noChangeArrowheads="1"/>
            </p:cNvSpPr>
            <p:nvPr/>
          </p:nvSpPr>
          <p:spPr bwMode="auto">
            <a:xfrm>
              <a:off x="283655" y="3376373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0" name="Rectangle 15"/>
            <p:cNvSpPr>
              <a:spLocks noChangeArrowheads="1"/>
            </p:cNvSpPr>
            <p:nvPr/>
          </p:nvSpPr>
          <p:spPr bwMode="auto">
            <a:xfrm>
              <a:off x="283655" y="3448935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1" name="Rectangle 16"/>
            <p:cNvSpPr>
              <a:spLocks noChangeArrowheads="1"/>
            </p:cNvSpPr>
            <p:nvPr/>
          </p:nvSpPr>
          <p:spPr bwMode="auto">
            <a:xfrm>
              <a:off x="283655" y="3524796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2" name="Rectangle 17"/>
            <p:cNvSpPr>
              <a:spLocks noChangeArrowheads="1"/>
            </p:cNvSpPr>
            <p:nvPr/>
          </p:nvSpPr>
          <p:spPr bwMode="auto">
            <a:xfrm>
              <a:off x="283655" y="3597359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3" name="Rectangle 18"/>
            <p:cNvSpPr>
              <a:spLocks noChangeArrowheads="1"/>
            </p:cNvSpPr>
            <p:nvPr/>
          </p:nvSpPr>
          <p:spPr bwMode="auto">
            <a:xfrm>
              <a:off x="283655" y="3669922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4" name="Rectangle 19"/>
            <p:cNvSpPr>
              <a:spLocks noChangeArrowheads="1"/>
            </p:cNvSpPr>
            <p:nvPr/>
          </p:nvSpPr>
          <p:spPr bwMode="auto">
            <a:xfrm>
              <a:off x="283655" y="3745784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5" name="Rectangle 20"/>
            <p:cNvSpPr>
              <a:spLocks noChangeArrowheads="1"/>
            </p:cNvSpPr>
            <p:nvPr/>
          </p:nvSpPr>
          <p:spPr bwMode="auto">
            <a:xfrm>
              <a:off x="283655" y="3818346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6" name="Rectangle 21"/>
            <p:cNvSpPr>
              <a:spLocks noChangeArrowheads="1"/>
            </p:cNvSpPr>
            <p:nvPr/>
          </p:nvSpPr>
          <p:spPr bwMode="auto">
            <a:xfrm>
              <a:off x="283655" y="3890909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7" name="Freeform 22"/>
            <p:cNvSpPr>
              <a:spLocks noChangeArrowheads="1"/>
            </p:cNvSpPr>
            <p:nvPr/>
          </p:nvSpPr>
          <p:spPr bwMode="auto">
            <a:xfrm>
              <a:off x="283655" y="3473123"/>
              <a:ext cx="683850" cy="964207"/>
            </a:xfrm>
            <a:custGeom>
              <a:avLst/>
              <a:gdLst>
                <a:gd name="T0" fmla="*/ 0 w 622"/>
                <a:gd name="T1" fmla="*/ 0 h 877"/>
                <a:gd name="T2" fmla="*/ 683850 w 622"/>
                <a:gd name="T3" fmla="*/ 0 h 877"/>
                <a:gd name="T4" fmla="*/ 683850 w 622"/>
                <a:gd name="T5" fmla="*/ 964207 h 877"/>
                <a:gd name="T6" fmla="*/ 343024 w 622"/>
                <a:gd name="T7" fmla="*/ 714635 h 877"/>
                <a:gd name="T8" fmla="*/ 0 w 622"/>
                <a:gd name="T9" fmla="*/ 964207 h 877"/>
                <a:gd name="T10" fmla="*/ 0 w 622"/>
                <a:gd name="T11" fmla="*/ 0 h 8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2"/>
                <a:gd name="T19" fmla="*/ 0 h 877"/>
                <a:gd name="T20" fmla="*/ 622 w 622"/>
                <a:gd name="T21" fmla="*/ 877 h 8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2" h="877">
                  <a:moveTo>
                    <a:pt x="0" y="0"/>
                  </a:moveTo>
                  <a:lnTo>
                    <a:pt x="622" y="0"/>
                  </a:lnTo>
                  <a:lnTo>
                    <a:pt x="622" y="877"/>
                  </a:lnTo>
                  <a:lnTo>
                    <a:pt x="312" y="650"/>
                  </a:lnTo>
                  <a:lnTo>
                    <a:pt x="0" y="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" name="Rectangle 23"/>
            <p:cNvSpPr>
              <a:spLocks noChangeArrowheads="1"/>
            </p:cNvSpPr>
            <p:nvPr/>
          </p:nvSpPr>
          <p:spPr bwMode="auto">
            <a:xfrm>
              <a:off x="283655" y="3473123"/>
              <a:ext cx="683850" cy="196800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9" name="Freeform 24"/>
            <p:cNvSpPr>
              <a:spLocks noChangeArrowheads="1"/>
            </p:cNvSpPr>
            <p:nvPr/>
          </p:nvSpPr>
          <p:spPr bwMode="auto">
            <a:xfrm>
              <a:off x="967505" y="2723307"/>
              <a:ext cx="458466" cy="101148"/>
            </a:xfrm>
            <a:custGeom>
              <a:avLst/>
              <a:gdLst>
                <a:gd name="T0" fmla="*/ 408973 w 176"/>
                <a:gd name="T1" fmla="*/ 0 h 39"/>
                <a:gd name="T2" fmla="*/ 49493 w 176"/>
                <a:gd name="T3" fmla="*/ 0 h 39"/>
                <a:gd name="T4" fmla="*/ 0 w 176"/>
                <a:gd name="T5" fmla="*/ 49277 h 39"/>
                <a:gd name="T6" fmla="*/ 0 w 176"/>
                <a:gd name="T7" fmla="*/ 51871 h 39"/>
                <a:gd name="T8" fmla="*/ 49493 w 176"/>
                <a:gd name="T9" fmla="*/ 101148 h 39"/>
                <a:gd name="T10" fmla="*/ 408973 w 176"/>
                <a:gd name="T11" fmla="*/ 101148 h 39"/>
                <a:gd name="T12" fmla="*/ 458466 w 176"/>
                <a:gd name="T13" fmla="*/ 51871 h 39"/>
                <a:gd name="T14" fmla="*/ 458466 w 176"/>
                <a:gd name="T15" fmla="*/ 49277 h 39"/>
                <a:gd name="T16" fmla="*/ 408973 w 176"/>
                <a:gd name="T17" fmla="*/ 0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6"/>
                <a:gd name="T28" fmla="*/ 0 h 39"/>
                <a:gd name="T29" fmla="*/ 176 w 176"/>
                <a:gd name="T30" fmla="*/ 39 h 3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6" h="39">
                  <a:moveTo>
                    <a:pt x="157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30"/>
                    <a:pt x="9" y="39"/>
                    <a:pt x="19" y="39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68" y="39"/>
                    <a:pt x="176" y="30"/>
                    <a:pt x="176" y="20"/>
                  </a:cubicBezTo>
                  <a:cubicBezTo>
                    <a:pt x="176" y="19"/>
                    <a:pt x="176" y="19"/>
                    <a:pt x="176" y="19"/>
                  </a:cubicBezTo>
                  <a:cubicBezTo>
                    <a:pt x="176" y="8"/>
                    <a:pt x="168" y="0"/>
                    <a:pt x="15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" name="Freeform 25"/>
            <p:cNvSpPr>
              <a:spLocks noChangeArrowheads="1"/>
            </p:cNvSpPr>
            <p:nvPr/>
          </p:nvSpPr>
          <p:spPr bwMode="auto">
            <a:xfrm>
              <a:off x="967505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1" name="Freeform 26"/>
            <p:cNvSpPr>
              <a:spLocks noChangeArrowheads="1"/>
            </p:cNvSpPr>
            <p:nvPr/>
          </p:nvSpPr>
          <p:spPr bwMode="auto">
            <a:xfrm>
              <a:off x="1053261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2" name="Freeform 27"/>
            <p:cNvSpPr>
              <a:spLocks noChangeArrowheads="1"/>
            </p:cNvSpPr>
            <p:nvPr/>
          </p:nvSpPr>
          <p:spPr bwMode="auto">
            <a:xfrm>
              <a:off x="1146714" y="2291228"/>
              <a:ext cx="34083" cy="397996"/>
            </a:xfrm>
            <a:custGeom>
              <a:avLst/>
              <a:gdLst>
                <a:gd name="T0" fmla="*/ 18352 w 13"/>
                <a:gd name="T1" fmla="*/ 397996 h 153"/>
                <a:gd name="T2" fmla="*/ 18352 w 13"/>
                <a:gd name="T3" fmla="*/ 397996 h 153"/>
                <a:gd name="T4" fmla="*/ 0 w 13"/>
                <a:gd name="T5" fmla="*/ 379787 h 153"/>
                <a:gd name="T6" fmla="*/ 0 w 13"/>
                <a:gd name="T7" fmla="*/ 18209 h 153"/>
                <a:gd name="T8" fmla="*/ 18352 w 13"/>
                <a:gd name="T9" fmla="*/ 0 h 153"/>
                <a:gd name="T10" fmla="*/ 18352 w 13"/>
                <a:gd name="T11" fmla="*/ 0 h 153"/>
                <a:gd name="T12" fmla="*/ 34083 w 13"/>
                <a:gd name="T13" fmla="*/ 18209 h 153"/>
                <a:gd name="T14" fmla="*/ 34083 w 13"/>
                <a:gd name="T15" fmla="*/ 379787 h 153"/>
                <a:gd name="T16" fmla="*/ 18352 w 13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"/>
                <a:gd name="T28" fmla="*/ 0 h 153"/>
                <a:gd name="T29" fmla="*/ 13 w 13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3" y="3"/>
                    <a:pt x="13" y="7"/>
                  </a:cubicBezTo>
                  <a:cubicBezTo>
                    <a:pt x="13" y="146"/>
                    <a:pt x="13" y="146"/>
                    <a:pt x="13" y="146"/>
                  </a:cubicBezTo>
                  <a:cubicBezTo>
                    <a:pt x="13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3" name="Freeform 28"/>
            <p:cNvSpPr>
              <a:spLocks noChangeArrowheads="1"/>
            </p:cNvSpPr>
            <p:nvPr/>
          </p:nvSpPr>
          <p:spPr bwMode="auto">
            <a:xfrm>
              <a:off x="1365501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4" name="Freeform 29"/>
            <p:cNvSpPr>
              <a:spLocks noChangeArrowheads="1"/>
            </p:cNvSpPr>
            <p:nvPr/>
          </p:nvSpPr>
          <p:spPr bwMode="auto">
            <a:xfrm>
              <a:off x="626679" y="0"/>
              <a:ext cx="1550207" cy="2192278"/>
            </a:xfrm>
            <a:custGeom>
              <a:avLst/>
              <a:gdLst>
                <a:gd name="T0" fmla="*/ 1550207 w 1410"/>
                <a:gd name="T1" fmla="*/ 2192278 h 1994"/>
                <a:gd name="T2" fmla="*/ 0 w 1410"/>
                <a:gd name="T3" fmla="*/ 2192278 h 1994"/>
                <a:gd name="T4" fmla="*/ 0 w 1410"/>
                <a:gd name="T5" fmla="*/ 0 h 1994"/>
                <a:gd name="T6" fmla="*/ 1550207 w 1410"/>
                <a:gd name="T7" fmla="*/ 228683 h 1994"/>
                <a:gd name="T8" fmla="*/ 1550207 w 1410"/>
                <a:gd name="T9" fmla="*/ 2192278 h 19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10"/>
                <a:gd name="T16" fmla="*/ 0 h 1994"/>
                <a:gd name="T17" fmla="*/ 1410 w 1410"/>
                <a:gd name="T18" fmla="*/ 1994 h 19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10" h="1994">
                  <a:moveTo>
                    <a:pt x="1410" y="1994"/>
                  </a:moveTo>
                  <a:lnTo>
                    <a:pt x="0" y="1994"/>
                  </a:lnTo>
                  <a:lnTo>
                    <a:pt x="0" y="0"/>
                  </a:lnTo>
                  <a:lnTo>
                    <a:pt x="1410" y="208"/>
                  </a:lnTo>
                  <a:lnTo>
                    <a:pt x="1410" y="1994"/>
                  </a:ln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5" name="Freeform 30"/>
            <p:cNvSpPr>
              <a:spLocks noChangeArrowheads="1"/>
            </p:cNvSpPr>
            <p:nvPr/>
          </p:nvSpPr>
          <p:spPr bwMode="auto">
            <a:xfrm>
              <a:off x="790496" y="93453"/>
              <a:ext cx="1386391" cy="2098826"/>
            </a:xfrm>
            <a:custGeom>
              <a:avLst/>
              <a:gdLst>
                <a:gd name="T0" fmla="*/ 0 w 1261"/>
                <a:gd name="T1" fmla="*/ 0 h 1909"/>
                <a:gd name="T2" fmla="*/ 1386391 w 1261"/>
                <a:gd name="T3" fmla="*/ 218788 h 1909"/>
                <a:gd name="T4" fmla="*/ 1386391 w 1261"/>
                <a:gd name="T5" fmla="*/ 2098826 h 1909"/>
                <a:gd name="T6" fmla="*/ 0 w 1261"/>
                <a:gd name="T7" fmla="*/ 2098826 h 1909"/>
                <a:gd name="T8" fmla="*/ 0 w 1261"/>
                <a:gd name="T9" fmla="*/ 0 h 19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61"/>
                <a:gd name="T16" fmla="*/ 0 h 1909"/>
                <a:gd name="T17" fmla="*/ 1261 w 1261"/>
                <a:gd name="T18" fmla="*/ 1909 h 19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61" h="1909">
                  <a:moveTo>
                    <a:pt x="0" y="0"/>
                  </a:moveTo>
                  <a:lnTo>
                    <a:pt x="1261" y="199"/>
                  </a:lnTo>
                  <a:lnTo>
                    <a:pt x="1261" y="1909"/>
                  </a:lnTo>
                  <a:lnTo>
                    <a:pt x="0" y="1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6" name="Rectangle 31"/>
            <p:cNvSpPr>
              <a:spLocks noChangeArrowheads="1"/>
            </p:cNvSpPr>
            <p:nvPr/>
          </p:nvSpPr>
          <p:spPr bwMode="auto">
            <a:xfrm>
              <a:off x="2176886" y="230882"/>
              <a:ext cx="1776691" cy="1961396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7" name="Rectangle 32"/>
            <p:cNvSpPr>
              <a:spLocks noChangeArrowheads="1"/>
            </p:cNvSpPr>
            <p:nvPr/>
          </p:nvSpPr>
          <p:spPr bwMode="auto">
            <a:xfrm>
              <a:off x="2176886" y="230882"/>
              <a:ext cx="1776691" cy="196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8" name="Rectangle 33"/>
            <p:cNvSpPr>
              <a:spLocks noChangeArrowheads="1"/>
            </p:cNvSpPr>
            <p:nvPr/>
          </p:nvSpPr>
          <p:spPr bwMode="auto">
            <a:xfrm>
              <a:off x="2176886" y="312240"/>
              <a:ext cx="1725018" cy="18800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9" name="Rectangle 34"/>
            <p:cNvSpPr>
              <a:spLocks noChangeArrowheads="1"/>
            </p:cNvSpPr>
            <p:nvPr/>
          </p:nvSpPr>
          <p:spPr bwMode="auto">
            <a:xfrm>
              <a:off x="2176886" y="312240"/>
              <a:ext cx="1725018" cy="188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0" name="Rectangle 35"/>
            <p:cNvSpPr>
              <a:spLocks noChangeArrowheads="1"/>
            </p:cNvSpPr>
            <p:nvPr/>
          </p:nvSpPr>
          <p:spPr bwMode="auto">
            <a:xfrm>
              <a:off x="689348" y="93453"/>
              <a:ext cx="101148" cy="2098826"/>
            </a:xfrm>
            <a:prstGeom prst="rect">
              <a:avLst/>
            </a:prstGeom>
            <a:solidFill>
              <a:srgbClr val="CF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1" name="Freeform 36"/>
            <p:cNvSpPr>
              <a:spLocks noChangeArrowheads="1"/>
            </p:cNvSpPr>
            <p:nvPr/>
          </p:nvSpPr>
          <p:spPr bwMode="auto">
            <a:xfrm>
              <a:off x="689348" y="93453"/>
              <a:ext cx="101148" cy="2098826"/>
            </a:xfrm>
            <a:custGeom>
              <a:avLst/>
              <a:gdLst>
                <a:gd name="T0" fmla="*/ 101148 w 92"/>
                <a:gd name="T1" fmla="*/ 0 h 1909"/>
                <a:gd name="T2" fmla="*/ 0 w 92"/>
                <a:gd name="T3" fmla="*/ 0 h 1909"/>
                <a:gd name="T4" fmla="*/ 0 w 92"/>
                <a:gd name="T5" fmla="*/ 2098826 h 1909"/>
                <a:gd name="T6" fmla="*/ 101148 w 92"/>
                <a:gd name="T7" fmla="*/ 2098826 h 19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1909"/>
                <a:gd name="T14" fmla="*/ 92 w 92"/>
                <a:gd name="T15" fmla="*/ 1909 h 19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1909">
                  <a:moveTo>
                    <a:pt x="92" y="0"/>
                  </a:moveTo>
                  <a:lnTo>
                    <a:pt x="0" y="0"/>
                  </a:lnTo>
                  <a:lnTo>
                    <a:pt x="0" y="1909"/>
                  </a:lnTo>
                  <a:lnTo>
                    <a:pt x="92" y="190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2" name="Rectangle 37"/>
            <p:cNvSpPr>
              <a:spLocks noChangeArrowheads="1"/>
            </p:cNvSpPr>
            <p:nvPr/>
          </p:nvSpPr>
          <p:spPr bwMode="auto">
            <a:xfrm>
              <a:off x="2187880" y="312240"/>
              <a:ext cx="67066" cy="1880038"/>
            </a:xfrm>
            <a:prstGeom prst="rect">
              <a:avLst/>
            </a:prstGeom>
            <a:solidFill>
              <a:srgbClr val="EC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3" name="Rectangle 38"/>
            <p:cNvSpPr>
              <a:spLocks noChangeArrowheads="1"/>
            </p:cNvSpPr>
            <p:nvPr/>
          </p:nvSpPr>
          <p:spPr bwMode="auto">
            <a:xfrm>
              <a:off x="2187880" y="312240"/>
              <a:ext cx="67066" cy="188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4" name="Freeform 39"/>
            <p:cNvSpPr>
              <a:spLocks noChangeArrowheads="1"/>
            </p:cNvSpPr>
            <p:nvPr/>
          </p:nvSpPr>
          <p:spPr bwMode="auto">
            <a:xfrm>
              <a:off x="2320913" y="423284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5" name="Freeform 40"/>
            <p:cNvSpPr>
              <a:spLocks noChangeArrowheads="1"/>
            </p:cNvSpPr>
            <p:nvPr/>
          </p:nvSpPr>
          <p:spPr bwMode="auto">
            <a:xfrm>
              <a:off x="2320913" y="512338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6" name="Freeform 41"/>
            <p:cNvSpPr>
              <a:spLocks noChangeArrowheads="1"/>
            </p:cNvSpPr>
            <p:nvPr/>
          </p:nvSpPr>
          <p:spPr bwMode="auto">
            <a:xfrm>
              <a:off x="2320913" y="761910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6039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6039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7" name="Freeform 42"/>
            <p:cNvSpPr>
              <a:spLocks noChangeArrowheads="1"/>
            </p:cNvSpPr>
            <p:nvPr/>
          </p:nvSpPr>
          <p:spPr bwMode="auto">
            <a:xfrm>
              <a:off x="2320913" y="910334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8" name="Freeform 43"/>
            <p:cNvSpPr>
              <a:spLocks noChangeArrowheads="1"/>
            </p:cNvSpPr>
            <p:nvPr/>
          </p:nvSpPr>
          <p:spPr bwMode="auto">
            <a:xfrm>
              <a:off x="2286830" y="1308330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3436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9" name="Freeform 44"/>
            <p:cNvSpPr>
              <a:spLocks noChangeArrowheads="1"/>
            </p:cNvSpPr>
            <p:nvPr/>
          </p:nvSpPr>
          <p:spPr bwMode="auto">
            <a:xfrm>
              <a:off x="2286830" y="1424871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6039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6039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0" name="Freeform 45"/>
            <p:cNvSpPr>
              <a:spLocks noChangeArrowheads="1"/>
            </p:cNvSpPr>
            <p:nvPr/>
          </p:nvSpPr>
          <p:spPr bwMode="auto">
            <a:xfrm>
              <a:off x="2286830" y="1542511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6039 h 19"/>
                <a:gd name="T6" fmla="*/ 0 w 546"/>
                <a:gd name="T7" fmla="*/ 26039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6039 h 19"/>
                <a:gd name="T14" fmla="*/ 1420473 w 546"/>
                <a:gd name="T15" fmla="*/ 26039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10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1" name="Freeform 46"/>
            <p:cNvSpPr>
              <a:spLocks noChangeArrowheads="1"/>
            </p:cNvSpPr>
            <p:nvPr/>
          </p:nvSpPr>
          <p:spPr bwMode="auto">
            <a:xfrm>
              <a:off x="2286830" y="1666747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3436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2" name="Freeform 47"/>
            <p:cNvSpPr>
              <a:spLocks noChangeArrowheads="1"/>
            </p:cNvSpPr>
            <p:nvPr/>
          </p:nvSpPr>
          <p:spPr bwMode="auto">
            <a:xfrm>
              <a:off x="918031" y="1576593"/>
              <a:ext cx="1161006" cy="131932"/>
            </a:xfrm>
            <a:custGeom>
              <a:avLst/>
              <a:gdLst>
                <a:gd name="T0" fmla="*/ 1137578 w 446"/>
                <a:gd name="T1" fmla="*/ 0 h 51"/>
                <a:gd name="T2" fmla="*/ 23428 w 446"/>
                <a:gd name="T3" fmla="*/ 77607 h 51"/>
                <a:gd name="T4" fmla="*/ 0 w 446"/>
                <a:gd name="T5" fmla="*/ 106063 h 51"/>
                <a:gd name="T6" fmla="*/ 23428 w 446"/>
                <a:gd name="T7" fmla="*/ 129345 h 51"/>
                <a:gd name="T8" fmla="*/ 1137578 w 446"/>
                <a:gd name="T9" fmla="*/ 46564 h 51"/>
                <a:gd name="T10" fmla="*/ 1161006 w 446"/>
                <a:gd name="T11" fmla="*/ 20695 h 51"/>
                <a:gd name="T12" fmla="*/ 1137578 w 446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51"/>
                <a:gd name="T23" fmla="*/ 446 w 44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51">
                  <a:moveTo>
                    <a:pt x="437" y="0"/>
                  </a:moveTo>
                  <a:cubicBezTo>
                    <a:pt x="294" y="10"/>
                    <a:pt x="152" y="20"/>
                    <a:pt x="9" y="30"/>
                  </a:cubicBezTo>
                  <a:cubicBezTo>
                    <a:pt x="4" y="31"/>
                    <a:pt x="0" y="36"/>
                    <a:pt x="0" y="41"/>
                  </a:cubicBezTo>
                  <a:cubicBezTo>
                    <a:pt x="0" y="47"/>
                    <a:pt x="4" y="51"/>
                    <a:pt x="9" y="50"/>
                  </a:cubicBezTo>
                  <a:cubicBezTo>
                    <a:pt x="152" y="40"/>
                    <a:pt x="294" y="29"/>
                    <a:pt x="437" y="18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4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3" name="Freeform 48"/>
            <p:cNvSpPr>
              <a:spLocks noChangeArrowheads="1"/>
            </p:cNvSpPr>
            <p:nvPr/>
          </p:nvSpPr>
          <p:spPr bwMode="auto">
            <a:xfrm>
              <a:off x="918031" y="1493036"/>
              <a:ext cx="1161006" cy="122038"/>
            </a:xfrm>
            <a:custGeom>
              <a:avLst/>
              <a:gdLst>
                <a:gd name="T0" fmla="*/ 1137578 w 446"/>
                <a:gd name="T1" fmla="*/ 2597 h 47"/>
                <a:gd name="T2" fmla="*/ 23428 w 446"/>
                <a:gd name="T3" fmla="*/ 67510 h 47"/>
                <a:gd name="T4" fmla="*/ 0 w 446"/>
                <a:gd name="T5" fmla="*/ 96072 h 47"/>
                <a:gd name="T6" fmla="*/ 23428 w 446"/>
                <a:gd name="T7" fmla="*/ 119441 h 47"/>
                <a:gd name="T8" fmla="*/ 1137578 w 446"/>
                <a:gd name="T9" fmla="*/ 46738 h 47"/>
                <a:gd name="T10" fmla="*/ 1161006 w 446"/>
                <a:gd name="T11" fmla="*/ 23369 h 47"/>
                <a:gd name="T12" fmla="*/ 1137578 w 446"/>
                <a:gd name="T13" fmla="*/ 2597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47"/>
                <a:gd name="T23" fmla="*/ 446 w 446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47">
                  <a:moveTo>
                    <a:pt x="437" y="1"/>
                  </a:moveTo>
                  <a:cubicBezTo>
                    <a:pt x="294" y="9"/>
                    <a:pt x="152" y="18"/>
                    <a:pt x="9" y="26"/>
                  </a:cubicBezTo>
                  <a:cubicBezTo>
                    <a:pt x="4" y="26"/>
                    <a:pt x="0" y="31"/>
                    <a:pt x="0" y="37"/>
                  </a:cubicBezTo>
                  <a:cubicBezTo>
                    <a:pt x="0" y="42"/>
                    <a:pt x="4" y="47"/>
                    <a:pt x="9" y="46"/>
                  </a:cubicBezTo>
                  <a:cubicBezTo>
                    <a:pt x="152" y="37"/>
                    <a:pt x="294" y="28"/>
                    <a:pt x="437" y="18"/>
                  </a:cubicBezTo>
                  <a:cubicBezTo>
                    <a:pt x="442" y="18"/>
                    <a:pt x="446" y="14"/>
                    <a:pt x="446" y="9"/>
                  </a:cubicBezTo>
                  <a:cubicBezTo>
                    <a:pt x="446" y="4"/>
                    <a:pt x="442" y="0"/>
                    <a:pt x="437" y="1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4" name="Freeform 49"/>
            <p:cNvSpPr>
              <a:spLocks noChangeArrowheads="1"/>
            </p:cNvSpPr>
            <p:nvPr/>
          </p:nvSpPr>
          <p:spPr bwMode="auto">
            <a:xfrm>
              <a:off x="918031" y="1261055"/>
              <a:ext cx="1161006" cy="85756"/>
            </a:xfrm>
            <a:custGeom>
              <a:avLst/>
              <a:gdLst>
                <a:gd name="T0" fmla="*/ 1137578 w 446"/>
                <a:gd name="T1" fmla="*/ 0 h 33"/>
                <a:gd name="T2" fmla="*/ 23428 w 446"/>
                <a:gd name="T3" fmla="*/ 33783 h 33"/>
                <a:gd name="T4" fmla="*/ 0 w 446"/>
                <a:gd name="T5" fmla="*/ 59769 h 33"/>
                <a:gd name="T6" fmla="*/ 23428 w 446"/>
                <a:gd name="T7" fmla="*/ 85756 h 33"/>
                <a:gd name="T8" fmla="*/ 1137578 w 446"/>
                <a:gd name="T9" fmla="*/ 44177 h 33"/>
                <a:gd name="T10" fmla="*/ 1161006 w 446"/>
                <a:gd name="T11" fmla="*/ 20789 h 33"/>
                <a:gd name="T12" fmla="*/ 1137578 w 446"/>
                <a:gd name="T13" fmla="*/ 0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3"/>
                <a:gd name="T23" fmla="*/ 446 w 446"/>
                <a:gd name="T24" fmla="*/ 33 h 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3">
                  <a:moveTo>
                    <a:pt x="437" y="0"/>
                  </a:moveTo>
                  <a:cubicBezTo>
                    <a:pt x="294" y="4"/>
                    <a:pt x="152" y="8"/>
                    <a:pt x="9" y="13"/>
                  </a:cubicBezTo>
                  <a:cubicBezTo>
                    <a:pt x="4" y="13"/>
                    <a:pt x="0" y="17"/>
                    <a:pt x="0" y="23"/>
                  </a:cubicBezTo>
                  <a:cubicBezTo>
                    <a:pt x="0" y="29"/>
                    <a:pt x="4" y="33"/>
                    <a:pt x="9" y="33"/>
                  </a:cubicBezTo>
                  <a:cubicBezTo>
                    <a:pt x="152" y="28"/>
                    <a:pt x="294" y="22"/>
                    <a:pt x="437" y="17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3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5" name="Freeform 50"/>
            <p:cNvSpPr>
              <a:spLocks noChangeArrowheads="1"/>
            </p:cNvSpPr>
            <p:nvPr/>
          </p:nvSpPr>
          <p:spPr bwMode="auto">
            <a:xfrm>
              <a:off x="918031" y="1123625"/>
              <a:ext cx="1161006" cy="67066"/>
            </a:xfrm>
            <a:custGeom>
              <a:avLst/>
              <a:gdLst>
                <a:gd name="T0" fmla="*/ 1137578 w 446"/>
                <a:gd name="T1" fmla="*/ 0 h 26"/>
                <a:gd name="T2" fmla="*/ 23428 w 446"/>
                <a:gd name="T3" fmla="*/ 12897 h 26"/>
                <a:gd name="T4" fmla="*/ 0 w 446"/>
                <a:gd name="T5" fmla="*/ 41271 h 26"/>
                <a:gd name="T6" fmla="*/ 23428 w 446"/>
                <a:gd name="T7" fmla="*/ 64487 h 26"/>
                <a:gd name="T8" fmla="*/ 1137578 w 446"/>
                <a:gd name="T9" fmla="*/ 43851 h 26"/>
                <a:gd name="T10" fmla="*/ 1161006 w 446"/>
                <a:gd name="T11" fmla="*/ 20636 h 26"/>
                <a:gd name="T12" fmla="*/ 1137578 w 446"/>
                <a:gd name="T13" fmla="*/ 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26"/>
                <a:gd name="T23" fmla="*/ 446 w 446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26">
                  <a:moveTo>
                    <a:pt x="437" y="0"/>
                  </a:moveTo>
                  <a:cubicBezTo>
                    <a:pt x="294" y="2"/>
                    <a:pt x="152" y="3"/>
                    <a:pt x="9" y="5"/>
                  </a:cubicBezTo>
                  <a:cubicBezTo>
                    <a:pt x="4" y="5"/>
                    <a:pt x="0" y="10"/>
                    <a:pt x="0" y="16"/>
                  </a:cubicBezTo>
                  <a:cubicBezTo>
                    <a:pt x="0" y="21"/>
                    <a:pt x="4" y="26"/>
                    <a:pt x="9" y="25"/>
                  </a:cubicBezTo>
                  <a:cubicBezTo>
                    <a:pt x="152" y="23"/>
                    <a:pt x="294" y="20"/>
                    <a:pt x="437" y="17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4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6" name="Freeform 51"/>
            <p:cNvSpPr>
              <a:spLocks noChangeArrowheads="1"/>
            </p:cNvSpPr>
            <p:nvPr/>
          </p:nvSpPr>
          <p:spPr bwMode="auto">
            <a:xfrm>
              <a:off x="889445" y="712435"/>
              <a:ext cx="1159907" cy="83557"/>
            </a:xfrm>
            <a:custGeom>
              <a:avLst/>
              <a:gdLst>
                <a:gd name="T0" fmla="*/ 1136501 w 446"/>
                <a:gd name="T1" fmla="*/ 39167 h 32"/>
                <a:gd name="T2" fmla="*/ 26007 w 446"/>
                <a:gd name="T3" fmla="*/ 0 h 32"/>
                <a:gd name="T4" fmla="*/ 0 w 446"/>
                <a:gd name="T5" fmla="*/ 26112 h 32"/>
                <a:gd name="T6" fmla="*/ 26007 w 446"/>
                <a:gd name="T7" fmla="*/ 52223 h 32"/>
                <a:gd name="T8" fmla="*/ 1136501 w 446"/>
                <a:gd name="T9" fmla="*/ 83557 h 32"/>
                <a:gd name="T10" fmla="*/ 1159907 w 446"/>
                <a:gd name="T11" fmla="*/ 62668 h 32"/>
                <a:gd name="T12" fmla="*/ 1136501 w 446"/>
                <a:gd name="T13" fmla="*/ 3916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2"/>
                <a:gd name="T23" fmla="*/ 446 w 446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2">
                  <a:moveTo>
                    <a:pt x="437" y="15"/>
                  </a:moveTo>
                  <a:cubicBezTo>
                    <a:pt x="294" y="10"/>
                    <a:pt x="152" y="5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52" y="24"/>
                    <a:pt x="294" y="28"/>
                    <a:pt x="437" y="32"/>
                  </a:cubicBezTo>
                  <a:cubicBezTo>
                    <a:pt x="442" y="32"/>
                    <a:pt x="446" y="29"/>
                    <a:pt x="446" y="24"/>
                  </a:cubicBezTo>
                  <a:cubicBezTo>
                    <a:pt x="446" y="19"/>
                    <a:pt x="442" y="15"/>
                    <a:pt x="437" y="15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7" name="Freeform 52"/>
            <p:cNvSpPr>
              <a:spLocks noChangeArrowheads="1"/>
            </p:cNvSpPr>
            <p:nvPr/>
          </p:nvSpPr>
          <p:spPr bwMode="auto">
            <a:xfrm>
              <a:off x="889445" y="587100"/>
              <a:ext cx="1159907" cy="98949"/>
            </a:xfrm>
            <a:custGeom>
              <a:avLst/>
              <a:gdLst>
                <a:gd name="T0" fmla="*/ 1136501 w 446"/>
                <a:gd name="T1" fmla="*/ 52078 h 38"/>
                <a:gd name="T2" fmla="*/ 26007 w 446"/>
                <a:gd name="T3" fmla="*/ 0 h 38"/>
                <a:gd name="T4" fmla="*/ 0 w 446"/>
                <a:gd name="T5" fmla="*/ 23435 h 38"/>
                <a:gd name="T6" fmla="*/ 26007 w 446"/>
                <a:gd name="T7" fmla="*/ 52078 h 38"/>
                <a:gd name="T8" fmla="*/ 1136501 w 446"/>
                <a:gd name="T9" fmla="*/ 98949 h 38"/>
                <a:gd name="T10" fmla="*/ 1159907 w 446"/>
                <a:gd name="T11" fmla="*/ 75514 h 38"/>
                <a:gd name="T12" fmla="*/ 1136501 w 446"/>
                <a:gd name="T13" fmla="*/ 5207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8"/>
                <a:gd name="T23" fmla="*/ 446 w 446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8">
                  <a:moveTo>
                    <a:pt x="437" y="20"/>
                  </a:moveTo>
                  <a:cubicBezTo>
                    <a:pt x="294" y="13"/>
                    <a:pt x="152" y="7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2" y="26"/>
                    <a:pt x="294" y="32"/>
                    <a:pt x="437" y="38"/>
                  </a:cubicBezTo>
                  <a:cubicBezTo>
                    <a:pt x="442" y="38"/>
                    <a:pt x="446" y="34"/>
                    <a:pt x="446" y="29"/>
                  </a:cubicBezTo>
                  <a:cubicBezTo>
                    <a:pt x="446" y="25"/>
                    <a:pt x="442" y="20"/>
                    <a:pt x="437" y="2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8" name="Freeform 53"/>
            <p:cNvSpPr>
              <a:spLocks noChangeArrowheads="1"/>
            </p:cNvSpPr>
            <p:nvPr/>
          </p:nvSpPr>
          <p:spPr bwMode="auto">
            <a:xfrm>
              <a:off x="889445" y="459565"/>
              <a:ext cx="1159907" cy="117640"/>
            </a:xfrm>
            <a:custGeom>
              <a:avLst/>
              <a:gdLst>
                <a:gd name="T0" fmla="*/ 1136501 w 446"/>
                <a:gd name="T1" fmla="*/ 70584 h 45"/>
                <a:gd name="T2" fmla="*/ 26007 w 446"/>
                <a:gd name="T3" fmla="*/ 0 h 45"/>
                <a:gd name="T4" fmla="*/ 0 w 446"/>
                <a:gd name="T5" fmla="*/ 26142 h 45"/>
                <a:gd name="T6" fmla="*/ 26007 w 446"/>
                <a:gd name="T7" fmla="*/ 54899 h 45"/>
                <a:gd name="T8" fmla="*/ 1136501 w 446"/>
                <a:gd name="T9" fmla="*/ 115026 h 45"/>
                <a:gd name="T10" fmla="*/ 1159907 w 446"/>
                <a:gd name="T11" fmla="*/ 94112 h 45"/>
                <a:gd name="T12" fmla="*/ 1136501 w 446"/>
                <a:gd name="T13" fmla="*/ 705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45"/>
                <a:gd name="T23" fmla="*/ 446 w 446"/>
                <a:gd name="T24" fmla="*/ 45 h 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45">
                  <a:moveTo>
                    <a:pt x="437" y="27"/>
                  </a:moveTo>
                  <a:cubicBezTo>
                    <a:pt x="294" y="18"/>
                    <a:pt x="152" y="9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1"/>
                  </a:cubicBezTo>
                  <a:cubicBezTo>
                    <a:pt x="152" y="29"/>
                    <a:pt x="294" y="36"/>
                    <a:pt x="437" y="44"/>
                  </a:cubicBezTo>
                  <a:cubicBezTo>
                    <a:pt x="442" y="45"/>
                    <a:pt x="446" y="41"/>
                    <a:pt x="446" y="36"/>
                  </a:cubicBezTo>
                  <a:cubicBezTo>
                    <a:pt x="446" y="31"/>
                    <a:pt x="442" y="27"/>
                    <a:pt x="437" y="27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9" name="Freeform 54"/>
            <p:cNvSpPr>
              <a:spLocks noChangeArrowheads="1"/>
            </p:cNvSpPr>
            <p:nvPr/>
          </p:nvSpPr>
          <p:spPr bwMode="auto">
            <a:xfrm>
              <a:off x="889445" y="329831"/>
              <a:ext cx="1159907" cy="133032"/>
            </a:xfrm>
            <a:custGeom>
              <a:avLst/>
              <a:gdLst>
                <a:gd name="T0" fmla="*/ 1136501 w 446"/>
                <a:gd name="T1" fmla="*/ 86080 h 51"/>
                <a:gd name="T2" fmla="*/ 26007 w 446"/>
                <a:gd name="T3" fmla="*/ 0 h 51"/>
                <a:gd name="T4" fmla="*/ 0 w 446"/>
                <a:gd name="T5" fmla="*/ 23476 h 51"/>
                <a:gd name="T6" fmla="*/ 26007 w 446"/>
                <a:gd name="T7" fmla="*/ 52169 h 51"/>
                <a:gd name="T8" fmla="*/ 1136501 w 446"/>
                <a:gd name="T9" fmla="*/ 130424 h 51"/>
                <a:gd name="T10" fmla="*/ 1159907 w 446"/>
                <a:gd name="T11" fmla="*/ 109556 h 51"/>
                <a:gd name="T12" fmla="*/ 1136501 w 446"/>
                <a:gd name="T13" fmla="*/ 8608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51"/>
                <a:gd name="T23" fmla="*/ 446 w 44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51">
                  <a:moveTo>
                    <a:pt x="437" y="33"/>
                  </a:moveTo>
                  <a:cubicBezTo>
                    <a:pt x="294" y="22"/>
                    <a:pt x="152" y="11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2" y="30"/>
                    <a:pt x="294" y="40"/>
                    <a:pt x="437" y="50"/>
                  </a:cubicBezTo>
                  <a:cubicBezTo>
                    <a:pt x="442" y="51"/>
                    <a:pt x="446" y="47"/>
                    <a:pt x="446" y="42"/>
                  </a:cubicBezTo>
                  <a:cubicBezTo>
                    <a:pt x="446" y="37"/>
                    <a:pt x="442" y="33"/>
                    <a:pt x="437" y="3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0" name="Freeform 55"/>
            <p:cNvSpPr>
              <a:spLocks noChangeArrowheads="1"/>
            </p:cNvSpPr>
            <p:nvPr/>
          </p:nvSpPr>
          <p:spPr bwMode="auto">
            <a:xfrm>
              <a:off x="2187880" y="312240"/>
              <a:ext cx="98949" cy="1175299"/>
            </a:xfrm>
            <a:custGeom>
              <a:avLst/>
              <a:gdLst>
                <a:gd name="T0" fmla="*/ 0 w 90"/>
                <a:gd name="T1" fmla="*/ 0 h 1069"/>
                <a:gd name="T2" fmla="*/ 0 w 90"/>
                <a:gd name="T3" fmla="*/ 1175299 h 1069"/>
                <a:gd name="T4" fmla="*/ 49475 w 90"/>
                <a:gd name="T5" fmla="*/ 1136819 h 1069"/>
                <a:gd name="T6" fmla="*/ 98949 w 90"/>
                <a:gd name="T7" fmla="*/ 1175299 h 1069"/>
                <a:gd name="T8" fmla="*/ 98949 w 90"/>
                <a:gd name="T9" fmla="*/ 0 h 1069"/>
                <a:gd name="T10" fmla="*/ 0 w 90"/>
                <a:gd name="T11" fmla="*/ 0 h 10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0"/>
                <a:gd name="T19" fmla="*/ 0 h 1069"/>
                <a:gd name="T20" fmla="*/ 90 w 90"/>
                <a:gd name="T21" fmla="*/ 1069 h 10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0" h="1069">
                  <a:moveTo>
                    <a:pt x="0" y="0"/>
                  </a:moveTo>
                  <a:lnTo>
                    <a:pt x="0" y="1069"/>
                  </a:lnTo>
                  <a:lnTo>
                    <a:pt x="45" y="1034"/>
                  </a:lnTo>
                  <a:lnTo>
                    <a:pt x="90" y="1069"/>
                  </a:lnTo>
                  <a:lnTo>
                    <a:pt x="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1" name="文本框 56"/>
            <p:cNvSpPr>
              <a:spLocks noChangeArrowheads="1"/>
            </p:cNvSpPr>
            <p:nvPr/>
          </p:nvSpPr>
          <p:spPr bwMode="auto">
            <a:xfrm>
              <a:off x="401843" y="3097115"/>
              <a:ext cx="3878816" cy="707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3375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03</a:t>
              </a:r>
            </a:p>
          </p:txBody>
        </p:sp>
      </p:grpSp>
      <p:sp>
        <p:nvSpPr>
          <p:cNvPr id="80" name="TextBox 4"/>
          <p:cNvSpPr txBox="1"/>
          <p:nvPr/>
        </p:nvSpPr>
        <p:spPr>
          <a:xfrm>
            <a:off x="3809708" y="5068679"/>
            <a:ext cx="5239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循环的嵌套</a:t>
            </a:r>
            <a:endParaRPr lang="en-US" altLang="zh-CN" sz="5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64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4845826" y="362707"/>
            <a:ext cx="3167098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循环的嵌套</a:t>
            </a:r>
          </a:p>
        </p:txBody>
      </p:sp>
      <p:sp>
        <p:nvSpPr>
          <p:cNvPr id="367619" name="Rectangle 3"/>
          <p:cNvSpPr>
            <a:spLocks noChangeArrowheads="1"/>
          </p:cNvSpPr>
          <p:nvPr/>
        </p:nvSpPr>
        <p:spPr bwMode="auto">
          <a:xfrm>
            <a:off x="1768334" y="1356020"/>
            <a:ext cx="8598817" cy="81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723900" lvl="2" indent="-635000"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三种循环可互相嵌套，层数不限</a:t>
            </a:r>
          </a:p>
        </p:txBody>
      </p:sp>
      <p:sp>
        <p:nvSpPr>
          <p:cNvPr id="367631" name="Text Box 15"/>
          <p:cNvSpPr txBox="1">
            <a:spLocks noChangeArrowheads="1"/>
          </p:cNvSpPr>
          <p:nvPr/>
        </p:nvSpPr>
        <p:spPr bwMode="auto">
          <a:xfrm>
            <a:off x="1705881" y="2410884"/>
            <a:ext cx="2491246" cy="3735289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while( )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{    ……</a:t>
            </a:r>
          </a:p>
          <a:p>
            <a:r>
              <a:rPr lang="zh-CN" altLang="en-US" sz="3375" dirty="0">
                <a:latin typeface="Times New Roman" pitchFamily="18" charset="0"/>
                <a:ea typeface="隶书" pitchFamily="49" charset="-122"/>
              </a:rPr>
              <a:t>　 </a:t>
            </a:r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while( )</a:t>
            </a:r>
          </a:p>
          <a:p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 </a:t>
            </a:r>
            <a:r>
              <a:rPr lang="zh-CN" altLang="en-US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　</a:t>
            </a:r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{    ……</a:t>
            </a:r>
          </a:p>
          <a:p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 </a:t>
            </a:r>
            <a:r>
              <a:rPr lang="zh-CN" altLang="en-US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　 </a:t>
            </a:r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}</a:t>
            </a:r>
          </a:p>
          <a:p>
            <a:r>
              <a:rPr lang="zh-CN" altLang="en-US" sz="3375" dirty="0">
                <a:latin typeface="Times New Roman" pitchFamily="18" charset="0"/>
                <a:ea typeface="隶书" pitchFamily="49" charset="-122"/>
              </a:rPr>
              <a:t>　 </a:t>
            </a: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…...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}</a:t>
            </a:r>
          </a:p>
        </p:txBody>
      </p:sp>
      <p:sp>
        <p:nvSpPr>
          <p:cNvPr id="367632" name="Text Box 16"/>
          <p:cNvSpPr txBox="1">
            <a:spLocks noChangeArrowheads="1"/>
          </p:cNvSpPr>
          <p:nvPr/>
        </p:nvSpPr>
        <p:spPr bwMode="auto">
          <a:xfrm>
            <a:off x="5143571" y="2410884"/>
            <a:ext cx="2571609" cy="3735289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while( )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{    ……</a:t>
            </a:r>
          </a:p>
          <a:p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      do</a:t>
            </a:r>
          </a:p>
          <a:p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      {    ……</a:t>
            </a:r>
          </a:p>
          <a:p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       }while( );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    …...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}</a:t>
            </a:r>
          </a:p>
        </p:txBody>
      </p:sp>
      <p:sp>
        <p:nvSpPr>
          <p:cNvPr id="367633" name="Text Box 17"/>
          <p:cNvSpPr txBox="1">
            <a:spLocks noChangeArrowheads="1"/>
          </p:cNvSpPr>
          <p:nvPr/>
        </p:nvSpPr>
        <p:spPr bwMode="auto">
          <a:xfrm>
            <a:off x="8610294" y="2410884"/>
            <a:ext cx="2571609" cy="3735289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while( )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{    ……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  </a:t>
            </a:r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</a:rPr>
              <a:t>for( ; ; )</a:t>
            </a:r>
          </a:p>
          <a:p>
            <a:r>
              <a:rPr lang="en-US" altLang="zh-CN" sz="3375" dirty="0">
                <a:solidFill>
                  <a:srgbClr val="C00000"/>
                </a:solidFill>
                <a:latin typeface="宋体" pitchFamily="2" charset="-122"/>
              </a:rPr>
              <a:t>  </a:t>
            </a:r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{</a:t>
            </a:r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</a:rPr>
              <a:t>    </a:t>
            </a:r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……</a:t>
            </a:r>
            <a:endParaRPr lang="en-US" altLang="zh-CN" sz="3375" dirty="0">
              <a:solidFill>
                <a:srgbClr val="C00000"/>
              </a:solidFill>
              <a:latin typeface="Times New Roman" pitchFamily="18" charset="0"/>
            </a:endParaRPr>
          </a:p>
          <a:p>
            <a:r>
              <a:rPr lang="en-US" altLang="zh-CN" sz="3375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     }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   …….</a:t>
            </a:r>
          </a:p>
          <a:p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}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4EE0E7D-8C0D-468D-83CB-E8053D6E3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703" y="88181"/>
            <a:ext cx="1584176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嵌  套</a:t>
            </a:r>
          </a:p>
        </p:txBody>
      </p:sp>
    </p:spTree>
    <p:extLst>
      <p:ext uri="{BB962C8B-B14F-4D97-AF65-F5344CB8AC3E}">
        <p14:creationId xmlns:p14="http://schemas.microsoft.com/office/powerpoint/2010/main" val="206630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676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676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676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19" grpId="0" build="p" bldLvl="3" autoUpdateAnimBg="0"/>
      <p:bldP spid="367631" grpId="0" animBg="1" autoUpdateAnimBg="0"/>
      <p:bldP spid="367632" grpId="0" animBg="1" autoUpdateAnimBg="0"/>
      <p:bldP spid="367633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5084955" y="310292"/>
            <a:ext cx="3167098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循环的嵌套</a:t>
            </a:r>
          </a:p>
        </p:txBody>
      </p:sp>
      <p:sp>
        <p:nvSpPr>
          <p:cNvPr id="369689" name="Text Box 25"/>
          <p:cNvSpPr txBox="1">
            <a:spLocks noChangeArrowheads="1"/>
          </p:cNvSpPr>
          <p:nvPr/>
        </p:nvSpPr>
        <p:spPr bwMode="auto">
          <a:xfrm>
            <a:off x="4454889" y="2847540"/>
            <a:ext cx="2893060" cy="4098850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for( ; ;)</a:t>
            </a:r>
          </a:p>
          <a:p>
            <a:pPr>
              <a:lnSpc>
                <a:spcPct val="70000"/>
              </a:lnSpc>
            </a:pP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{    ……</a:t>
            </a:r>
          </a:p>
          <a:p>
            <a:pPr>
              <a:lnSpc>
                <a:spcPct val="70000"/>
              </a:lnSpc>
            </a:pP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      do</a:t>
            </a:r>
          </a:p>
          <a:p>
            <a:pPr>
              <a:lnSpc>
                <a:spcPct val="70000"/>
              </a:lnSpc>
            </a:pP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      {   ……</a:t>
            </a:r>
          </a:p>
          <a:p>
            <a:pPr>
              <a:lnSpc>
                <a:spcPct val="70000"/>
              </a:lnSpc>
            </a:pP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      }while();</a:t>
            </a:r>
          </a:p>
          <a:p>
            <a:pPr>
              <a:lnSpc>
                <a:spcPct val="70000"/>
              </a:lnSpc>
            </a:pP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      ……</a:t>
            </a:r>
          </a:p>
          <a:p>
            <a:pPr>
              <a:lnSpc>
                <a:spcPct val="70000"/>
              </a:lnSpc>
            </a:pP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      while()</a:t>
            </a:r>
          </a:p>
          <a:p>
            <a:pPr>
              <a:lnSpc>
                <a:spcPct val="70000"/>
              </a:lnSpc>
            </a:pP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      {   ……</a:t>
            </a:r>
          </a:p>
          <a:p>
            <a:pPr>
              <a:lnSpc>
                <a:spcPct val="70000"/>
              </a:lnSpc>
            </a:pP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      }</a:t>
            </a:r>
          </a:p>
          <a:p>
            <a:pPr>
              <a:lnSpc>
                <a:spcPct val="70000"/>
              </a:lnSpc>
            </a:pP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      …...</a:t>
            </a:r>
          </a:p>
          <a:p>
            <a:pPr>
              <a:lnSpc>
                <a:spcPct val="70000"/>
              </a:lnSpc>
            </a:pPr>
            <a:r>
              <a:rPr lang="en-US" altLang="zh-CN" sz="3375" dirty="0">
                <a:latin typeface="Times New Roman" pitchFamily="18" charset="0"/>
                <a:ea typeface="隶书" pitchFamily="49" charset="-122"/>
              </a:rPr>
              <a:t>   }</a:t>
            </a:r>
          </a:p>
        </p:txBody>
      </p:sp>
      <p:sp>
        <p:nvSpPr>
          <p:cNvPr id="369700" name="Rectangle 36"/>
          <p:cNvSpPr>
            <a:spLocks noChangeArrowheads="1"/>
          </p:cNvSpPr>
          <p:nvPr/>
        </p:nvSpPr>
        <p:spPr bwMode="auto">
          <a:xfrm>
            <a:off x="2732687" y="1940105"/>
            <a:ext cx="6127662" cy="703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多层循环之间不能互相交叉</a:t>
            </a:r>
          </a:p>
        </p:txBody>
      </p:sp>
      <p:sp>
        <p:nvSpPr>
          <p:cNvPr id="30726" name="Rectangle 37"/>
          <p:cNvSpPr>
            <a:spLocks noChangeArrowheads="1"/>
          </p:cNvSpPr>
          <p:nvPr/>
        </p:nvSpPr>
        <p:spPr bwMode="auto">
          <a:xfrm>
            <a:off x="1768334" y="1168053"/>
            <a:ext cx="8909513" cy="827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lvl="2"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三种循环可互相合理嵌套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层数不限</a:t>
            </a:r>
          </a:p>
        </p:txBody>
      </p:sp>
      <p:grpSp>
        <p:nvGrpSpPr>
          <p:cNvPr id="369703" name="Group 39"/>
          <p:cNvGrpSpPr>
            <a:grpSpLocks/>
          </p:cNvGrpSpPr>
          <p:nvPr/>
        </p:nvGrpSpPr>
        <p:grpSpPr bwMode="auto">
          <a:xfrm>
            <a:off x="5099466" y="3532295"/>
            <a:ext cx="3825605" cy="887339"/>
            <a:chOff x="2184" y="1943"/>
            <a:chExt cx="2285" cy="530"/>
          </a:xfrm>
        </p:grpSpPr>
        <p:sp>
          <p:nvSpPr>
            <p:cNvPr id="30740" name="Freeform 28"/>
            <p:cNvSpPr>
              <a:spLocks/>
            </p:cNvSpPr>
            <p:nvPr/>
          </p:nvSpPr>
          <p:spPr bwMode="auto">
            <a:xfrm>
              <a:off x="2184" y="2248"/>
              <a:ext cx="1128" cy="225"/>
            </a:xfrm>
            <a:custGeom>
              <a:avLst/>
              <a:gdLst>
                <a:gd name="T0" fmla="*/ 85 w 848"/>
                <a:gd name="T1" fmla="*/ 0 h 744"/>
                <a:gd name="T2" fmla="*/ 4194 w 848"/>
                <a:gd name="T3" fmla="*/ 76 h 744"/>
                <a:gd name="T4" fmla="*/ 7014 w 848"/>
                <a:gd name="T5" fmla="*/ 177 h 744"/>
                <a:gd name="T6" fmla="*/ 7957 w 848"/>
                <a:gd name="T7" fmla="*/ 352 h 744"/>
                <a:gd name="T8" fmla="*/ 8190 w 848"/>
                <a:gd name="T9" fmla="*/ 502 h 744"/>
                <a:gd name="T10" fmla="*/ 8076 w 848"/>
                <a:gd name="T11" fmla="*/ 732 h 744"/>
                <a:gd name="T12" fmla="*/ 7835 w 848"/>
                <a:gd name="T13" fmla="*/ 882 h 744"/>
                <a:gd name="T14" fmla="*/ 7720 w 848"/>
                <a:gd name="T15" fmla="*/ 954 h 744"/>
                <a:gd name="T16" fmla="*/ 7605 w 848"/>
                <a:gd name="T17" fmla="*/ 1508 h 744"/>
                <a:gd name="T18" fmla="*/ 6780 w 848"/>
                <a:gd name="T19" fmla="*/ 1557 h 744"/>
                <a:gd name="T20" fmla="*/ 665 w 848"/>
                <a:gd name="T21" fmla="*/ 1457 h 744"/>
                <a:gd name="T22" fmla="*/ 434 w 848"/>
                <a:gd name="T23" fmla="*/ 1306 h 744"/>
                <a:gd name="T24" fmla="*/ 315 w 848"/>
                <a:gd name="T25" fmla="*/ 1229 h 744"/>
                <a:gd name="T26" fmla="*/ 85 w 848"/>
                <a:gd name="T27" fmla="*/ 0 h 7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48" h="744">
                  <a:moveTo>
                    <a:pt x="8" y="0"/>
                  </a:moveTo>
                  <a:cubicBezTo>
                    <a:pt x="156" y="37"/>
                    <a:pt x="251" y="29"/>
                    <a:pt x="428" y="36"/>
                  </a:cubicBezTo>
                  <a:cubicBezTo>
                    <a:pt x="521" y="59"/>
                    <a:pt x="620" y="72"/>
                    <a:pt x="716" y="84"/>
                  </a:cubicBezTo>
                  <a:cubicBezTo>
                    <a:pt x="762" y="115"/>
                    <a:pt x="791" y="121"/>
                    <a:pt x="812" y="168"/>
                  </a:cubicBezTo>
                  <a:cubicBezTo>
                    <a:pt x="822" y="191"/>
                    <a:pt x="836" y="240"/>
                    <a:pt x="836" y="240"/>
                  </a:cubicBezTo>
                  <a:cubicBezTo>
                    <a:pt x="832" y="276"/>
                    <a:pt x="831" y="312"/>
                    <a:pt x="824" y="348"/>
                  </a:cubicBezTo>
                  <a:cubicBezTo>
                    <a:pt x="819" y="373"/>
                    <a:pt x="808" y="396"/>
                    <a:pt x="800" y="420"/>
                  </a:cubicBezTo>
                  <a:cubicBezTo>
                    <a:pt x="796" y="432"/>
                    <a:pt x="788" y="456"/>
                    <a:pt x="788" y="456"/>
                  </a:cubicBezTo>
                  <a:cubicBezTo>
                    <a:pt x="798" y="529"/>
                    <a:pt x="848" y="662"/>
                    <a:pt x="776" y="720"/>
                  </a:cubicBezTo>
                  <a:cubicBezTo>
                    <a:pt x="768" y="726"/>
                    <a:pt x="695" y="743"/>
                    <a:pt x="692" y="744"/>
                  </a:cubicBezTo>
                  <a:cubicBezTo>
                    <a:pt x="480" y="735"/>
                    <a:pt x="279" y="708"/>
                    <a:pt x="68" y="696"/>
                  </a:cubicBezTo>
                  <a:cubicBezTo>
                    <a:pt x="60" y="672"/>
                    <a:pt x="52" y="648"/>
                    <a:pt x="44" y="624"/>
                  </a:cubicBezTo>
                  <a:cubicBezTo>
                    <a:pt x="40" y="612"/>
                    <a:pt x="32" y="588"/>
                    <a:pt x="32" y="588"/>
                  </a:cubicBezTo>
                  <a:cubicBezTo>
                    <a:pt x="0" y="329"/>
                    <a:pt x="21" y="524"/>
                    <a:pt x="8" y="0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9357" rIns="94917" bIns="49357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41" name="Text Box 29"/>
            <p:cNvSpPr txBox="1">
              <a:spLocks noChangeArrowheads="1"/>
            </p:cNvSpPr>
            <p:nvPr/>
          </p:nvSpPr>
          <p:spPr bwMode="auto">
            <a:xfrm>
              <a:off x="3636" y="1943"/>
              <a:ext cx="833" cy="370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9357" rIns="94917" bIns="49357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375">
                  <a:latin typeface="Times New Roman" pitchFamily="18" charset="0"/>
                  <a:ea typeface="隶书" pitchFamily="49" charset="-122"/>
                </a:rPr>
                <a:t>内循环</a:t>
              </a:r>
            </a:p>
          </p:txBody>
        </p:sp>
        <p:sp>
          <p:nvSpPr>
            <p:cNvPr id="30742" name="Line 38"/>
            <p:cNvSpPr>
              <a:spLocks noChangeShapeType="1"/>
            </p:cNvSpPr>
            <p:nvPr/>
          </p:nvSpPr>
          <p:spPr bwMode="auto">
            <a:xfrm flipH="1">
              <a:off x="3264" y="2160"/>
              <a:ext cx="384" cy="19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4917" tIns="49357" rIns="94917" bIns="49357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69705" name="Group 41"/>
          <p:cNvGrpSpPr>
            <a:grpSpLocks/>
          </p:cNvGrpSpPr>
          <p:nvPr/>
        </p:nvGrpSpPr>
        <p:grpSpPr bwMode="auto">
          <a:xfrm>
            <a:off x="5097792" y="4941997"/>
            <a:ext cx="3805513" cy="882317"/>
            <a:chOff x="2208" y="2826"/>
            <a:chExt cx="2273" cy="527"/>
          </a:xfrm>
        </p:grpSpPr>
        <p:sp>
          <p:nvSpPr>
            <p:cNvPr id="30737" name="Freeform 34"/>
            <p:cNvSpPr>
              <a:spLocks/>
            </p:cNvSpPr>
            <p:nvPr/>
          </p:nvSpPr>
          <p:spPr bwMode="auto">
            <a:xfrm>
              <a:off x="2208" y="3128"/>
              <a:ext cx="1056" cy="225"/>
            </a:xfrm>
            <a:custGeom>
              <a:avLst/>
              <a:gdLst>
                <a:gd name="T0" fmla="*/ 46 w 848"/>
                <a:gd name="T1" fmla="*/ 0 h 744"/>
                <a:gd name="T2" fmla="*/ 2478 w 848"/>
                <a:gd name="T3" fmla="*/ 76 h 744"/>
                <a:gd name="T4" fmla="*/ 4143 w 848"/>
                <a:gd name="T5" fmla="*/ 177 h 744"/>
                <a:gd name="T6" fmla="*/ 4697 w 848"/>
                <a:gd name="T7" fmla="*/ 352 h 744"/>
                <a:gd name="T8" fmla="*/ 4834 w 848"/>
                <a:gd name="T9" fmla="*/ 502 h 744"/>
                <a:gd name="T10" fmla="*/ 4764 w 848"/>
                <a:gd name="T11" fmla="*/ 732 h 744"/>
                <a:gd name="T12" fmla="*/ 4624 w 848"/>
                <a:gd name="T13" fmla="*/ 882 h 744"/>
                <a:gd name="T14" fmla="*/ 4558 w 848"/>
                <a:gd name="T15" fmla="*/ 954 h 744"/>
                <a:gd name="T16" fmla="*/ 4484 w 848"/>
                <a:gd name="T17" fmla="*/ 1508 h 744"/>
                <a:gd name="T18" fmla="*/ 4001 w 848"/>
                <a:gd name="T19" fmla="*/ 1557 h 744"/>
                <a:gd name="T20" fmla="*/ 394 w 848"/>
                <a:gd name="T21" fmla="*/ 1457 h 744"/>
                <a:gd name="T22" fmla="*/ 254 w 848"/>
                <a:gd name="T23" fmla="*/ 1306 h 744"/>
                <a:gd name="T24" fmla="*/ 186 w 848"/>
                <a:gd name="T25" fmla="*/ 1229 h 744"/>
                <a:gd name="T26" fmla="*/ 46 w 848"/>
                <a:gd name="T27" fmla="*/ 0 h 7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48" h="744">
                  <a:moveTo>
                    <a:pt x="8" y="0"/>
                  </a:moveTo>
                  <a:cubicBezTo>
                    <a:pt x="156" y="37"/>
                    <a:pt x="251" y="29"/>
                    <a:pt x="428" y="36"/>
                  </a:cubicBezTo>
                  <a:cubicBezTo>
                    <a:pt x="521" y="59"/>
                    <a:pt x="620" y="72"/>
                    <a:pt x="716" y="84"/>
                  </a:cubicBezTo>
                  <a:cubicBezTo>
                    <a:pt x="762" y="115"/>
                    <a:pt x="791" y="121"/>
                    <a:pt x="812" y="168"/>
                  </a:cubicBezTo>
                  <a:cubicBezTo>
                    <a:pt x="822" y="191"/>
                    <a:pt x="836" y="240"/>
                    <a:pt x="836" y="240"/>
                  </a:cubicBezTo>
                  <a:cubicBezTo>
                    <a:pt x="832" y="276"/>
                    <a:pt x="831" y="312"/>
                    <a:pt x="824" y="348"/>
                  </a:cubicBezTo>
                  <a:cubicBezTo>
                    <a:pt x="819" y="373"/>
                    <a:pt x="808" y="396"/>
                    <a:pt x="800" y="420"/>
                  </a:cubicBezTo>
                  <a:cubicBezTo>
                    <a:pt x="796" y="432"/>
                    <a:pt x="788" y="456"/>
                    <a:pt x="788" y="456"/>
                  </a:cubicBezTo>
                  <a:cubicBezTo>
                    <a:pt x="798" y="529"/>
                    <a:pt x="848" y="662"/>
                    <a:pt x="776" y="720"/>
                  </a:cubicBezTo>
                  <a:cubicBezTo>
                    <a:pt x="768" y="726"/>
                    <a:pt x="695" y="743"/>
                    <a:pt x="692" y="744"/>
                  </a:cubicBezTo>
                  <a:cubicBezTo>
                    <a:pt x="480" y="735"/>
                    <a:pt x="279" y="708"/>
                    <a:pt x="68" y="696"/>
                  </a:cubicBezTo>
                  <a:cubicBezTo>
                    <a:pt x="60" y="672"/>
                    <a:pt x="52" y="648"/>
                    <a:pt x="44" y="624"/>
                  </a:cubicBezTo>
                  <a:cubicBezTo>
                    <a:pt x="40" y="612"/>
                    <a:pt x="32" y="588"/>
                    <a:pt x="32" y="588"/>
                  </a:cubicBezTo>
                  <a:cubicBezTo>
                    <a:pt x="0" y="329"/>
                    <a:pt x="21" y="524"/>
                    <a:pt x="8" y="0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9357" rIns="94917" bIns="49357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38" name="Text Box 35"/>
            <p:cNvSpPr txBox="1">
              <a:spLocks noChangeArrowheads="1"/>
            </p:cNvSpPr>
            <p:nvPr/>
          </p:nvSpPr>
          <p:spPr bwMode="auto">
            <a:xfrm>
              <a:off x="3648" y="2826"/>
              <a:ext cx="833" cy="370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9357" rIns="94917" bIns="49357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375">
                  <a:latin typeface="Times New Roman" pitchFamily="18" charset="0"/>
                  <a:ea typeface="隶书" pitchFamily="49" charset="-122"/>
                </a:rPr>
                <a:t>内循环</a:t>
              </a:r>
            </a:p>
          </p:txBody>
        </p:sp>
        <p:sp>
          <p:nvSpPr>
            <p:cNvPr id="30739" name="Line 40"/>
            <p:cNvSpPr>
              <a:spLocks noChangeShapeType="1"/>
            </p:cNvSpPr>
            <p:nvPr/>
          </p:nvSpPr>
          <p:spPr bwMode="auto">
            <a:xfrm flipH="1">
              <a:off x="3216" y="3056"/>
              <a:ext cx="432" cy="20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4917" tIns="49357" rIns="94917" bIns="49357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69716" name="Group 52"/>
          <p:cNvGrpSpPr>
            <a:grpSpLocks/>
          </p:cNvGrpSpPr>
          <p:nvPr/>
        </p:nvGrpSpPr>
        <p:grpSpPr bwMode="auto">
          <a:xfrm>
            <a:off x="4578782" y="2577990"/>
            <a:ext cx="4344615" cy="4344613"/>
            <a:chOff x="2426" y="1297"/>
            <a:chExt cx="2595" cy="2595"/>
          </a:xfrm>
        </p:grpSpPr>
        <p:grpSp>
          <p:nvGrpSpPr>
            <p:cNvPr id="30730" name="Group 46"/>
            <p:cNvGrpSpPr>
              <a:grpSpLocks/>
            </p:cNvGrpSpPr>
            <p:nvPr/>
          </p:nvGrpSpPr>
          <p:grpSpPr bwMode="auto">
            <a:xfrm>
              <a:off x="2426" y="1297"/>
              <a:ext cx="2595" cy="407"/>
              <a:chOff x="1872" y="1322"/>
              <a:chExt cx="2595" cy="434"/>
            </a:xfrm>
          </p:grpSpPr>
          <p:sp>
            <p:nvSpPr>
              <p:cNvPr id="30734" name="Line 31"/>
              <p:cNvSpPr>
                <a:spLocks noChangeShapeType="1"/>
              </p:cNvSpPr>
              <p:nvPr/>
            </p:nvSpPr>
            <p:spPr bwMode="auto">
              <a:xfrm flipV="1">
                <a:off x="2880" y="1552"/>
                <a:ext cx="741" cy="176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9357" rIns="94917" bIns="49357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735" name="Text Box 32"/>
              <p:cNvSpPr txBox="1">
                <a:spLocks noChangeArrowheads="1"/>
              </p:cNvSpPr>
              <p:nvPr/>
            </p:nvSpPr>
            <p:spPr bwMode="auto">
              <a:xfrm>
                <a:off x="3634" y="1322"/>
                <a:ext cx="833" cy="39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C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3375">
                    <a:latin typeface="Times New Roman" pitchFamily="18" charset="0"/>
                    <a:ea typeface="隶书" pitchFamily="49" charset="-122"/>
                  </a:rPr>
                  <a:t>外循环</a:t>
                </a:r>
              </a:p>
            </p:txBody>
          </p:sp>
          <p:sp>
            <p:nvSpPr>
              <p:cNvPr id="30736" name="Freeform 43"/>
              <p:cNvSpPr>
                <a:spLocks/>
              </p:cNvSpPr>
              <p:nvPr/>
            </p:nvSpPr>
            <p:spPr bwMode="auto">
              <a:xfrm>
                <a:off x="1872" y="1507"/>
                <a:ext cx="1056" cy="249"/>
              </a:xfrm>
              <a:custGeom>
                <a:avLst/>
                <a:gdLst>
                  <a:gd name="T0" fmla="*/ 46 w 848"/>
                  <a:gd name="T1" fmla="*/ 0 h 744"/>
                  <a:gd name="T2" fmla="*/ 2478 w 848"/>
                  <a:gd name="T3" fmla="*/ 0 h 744"/>
                  <a:gd name="T4" fmla="*/ 4143 w 848"/>
                  <a:gd name="T5" fmla="*/ 0 h 744"/>
                  <a:gd name="T6" fmla="*/ 4697 w 848"/>
                  <a:gd name="T7" fmla="*/ 0 h 744"/>
                  <a:gd name="T8" fmla="*/ 4834 w 848"/>
                  <a:gd name="T9" fmla="*/ 0 h 744"/>
                  <a:gd name="T10" fmla="*/ 4764 w 848"/>
                  <a:gd name="T11" fmla="*/ 0 h 744"/>
                  <a:gd name="T12" fmla="*/ 4624 w 848"/>
                  <a:gd name="T13" fmla="*/ 0 h 744"/>
                  <a:gd name="T14" fmla="*/ 4558 w 848"/>
                  <a:gd name="T15" fmla="*/ 0 h 744"/>
                  <a:gd name="T16" fmla="*/ 4484 w 848"/>
                  <a:gd name="T17" fmla="*/ 0 h 744"/>
                  <a:gd name="T18" fmla="*/ 4001 w 848"/>
                  <a:gd name="T19" fmla="*/ 0 h 744"/>
                  <a:gd name="T20" fmla="*/ 394 w 848"/>
                  <a:gd name="T21" fmla="*/ 0 h 744"/>
                  <a:gd name="T22" fmla="*/ 254 w 848"/>
                  <a:gd name="T23" fmla="*/ 0 h 744"/>
                  <a:gd name="T24" fmla="*/ 186 w 848"/>
                  <a:gd name="T25" fmla="*/ 0 h 744"/>
                  <a:gd name="T26" fmla="*/ 46 w 848"/>
                  <a:gd name="T27" fmla="*/ 0 h 74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48" h="744">
                    <a:moveTo>
                      <a:pt x="8" y="0"/>
                    </a:moveTo>
                    <a:cubicBezTo>
                      <a:pt x="156" y="37"/>
                      <a:pt x="251" y="29"/>
                      <a:pt x="428" y="36"/>
                    </a:cubicBezTo>
                    <a:cubicBezTo>
                      <a:pt x="521" y="59"/>
                      <a:pt x="620" y="72"/>
                      <a:pt x="716" y="84"/>
                    </a:cubicBezTo>
                    <a:cubicBezTo>
                      <a:pt x="762" y="115"/>
                      <a:pt x="791" y="121"/>
                      <a:pt x="812" y="168"/>
                    </a:cubicBezTo>
                    <a:cubicBezTo>
                      <a:pt x="822" y="191"/>
                      <a:pt x="836" y="240"/>
                      <a:pt x="836" y="240"/>
                    </a:cubicBezTo>
                    <a:cubicBezTo>
                      <a:pt x="832" y="276"/>
                      <a:pt x="831" y="312"/>
                      <a:pt x="824" y="348"/>
                    </a:cubicBezTo>
                    <a:cubicBezTo>
                      <a:pt x="819" y="373"/>
                      <a:pt x="808" y="396"/>
                      <a:pt x="800" y="420"/>
                    </a:cubicBezTo>
                    <a:cubicBezTo>
                      <a:pt x="796" y="432"/>
                      <a:pt x="788" y="456"/>
                      <a:pt x="788" y="456"/>
                    </a:cubicBezTo>
                    <a:cubicBezTo>
                      <a:pt x="798" y="529"/>
                      <a:pt x="848" y="662"/>
                      <a:pt x="776" y="720"/>
                    </a:cubicBezTo>
                    <a:cubicBezTo>
                      <a:pt x="768" y="726"/>
                      <a:pt x="695" y="743"/>
                      <a:pt x="692" y="744"/>
                    </a:cubicBezTo>
                    <a:cubicBezTo>
                      <a:pt x="480" y="735"/>
                      <a:pt x="279" y="708"/>
                      <a:pt x="68" y="696"/>
                    </a:cubicBezTo>
                    <a:cubicBezTo>
                      <a:pt x="60" y="672"/>
                      <a:pt x="52" y="648"/>
                      <a:pt x="44" y="624"/>
                    </a:cubicBezTo>
                    <a:cubicBezTo>
                      <a:pt x="40" y="612"/>
                      <a:pt x="32" y="588"/>
                      <a:pt x="32" y="588"/>
                    </a:cubicBezTo>
                    <a:cubicBezTo>
                      <a:pt x="0" y="329"/>
                      <a:pt x="21" y="524"/>
                      <a:pt x="8" y="0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9357" rIns="94917" bIns="49357" anchor="ctr">
                <a:spAutoFit/>
              </a:bodyPr>
              <a:lstStyle/>
              <a:p>
                <a:endParaRPr lang="zh-CN" altLang="en-US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30731" name="Group 49"/>
            <p:cNvGrpSpPr>
              <a:grpSpLocks/>
            </p:cNvGrpSpPr>
            <p:nvPr/>
          </p:nvGrpSpPr>
          <p:grpSpPr bwMode="auto">
            <a:xfrm>
              <a:off x="2490" y="1591"/>
              <a:ext cx="239" cy="2301"/>
              <a:chOff x="1936" y="1633"/>
              <a:chExt cx="239" cy="2453"/>
            </a:xfrm>
          </p:grpSpPr>
          <p:sp>
            <p:nvSpPr>
              <p:cNvPr id="30732" name="Rectangle 47"/>
              <p:cNvSpPr>
                <a:spLocks noChangeArrowheads="1"/>
              </p:cNvSpPr>
              <p:nvPr/>
            </p:nvSpPr>
            <p:spPr bwMode="auto">
              <a:xfrm>
                <a:off x="1936" y="1633"/>
                <a:ext cx="239" cy="3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4917" tIns="49357" rIns="94917" bIns="49357">
                <a:spAutoFit/>
              </a:bodyPr>
              <a:lstStyle/>
              <a:p>
                <a:r>
                  <a:rPr lang="en-US" altLang="zh-CN" sz="3375" dirty="0">
                    <a:solidFill>
                      <a:srgbClr val="C00000"/>
                    </a:solidFill>
                    <a:latin typeface="Times New Roman" pitchFamily="18" charset="0"/>
                  </a:rPr>
                  <a:t>{</a:t>
                </a:r>
              </a:p>
            </p:txBody>
          </p:sp>
          <p:sp>
            <p:nvSpPr>
              <p:cNvPr id="30733" name="Rectangle 48"/>
              <p:cNvSpPr>
                <a:spLocks noChangeArrowheads="1"/>
              </p:cNvSpPr>
              <p:nvPr/>
            </p:nvSpPr>
            <p:spPr bwMode="auto">
              <a:xfrm>
                <a:off x="1936" y="3741"/>
                <a:ext cx="239" cy="3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4917" tIns="49357" rIns="94917" bIns="49357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CN" sz="3375" dirty="0">
                    <a:solidFill>
                      <a:srgbClr val="C00000"/>
                    </a:solidFill>
                    <a:latin typeface="Times New Roman" pitchFamily="18" charset="0"/>
                  </a:rPr>
                  <a:t>}</a:t>
                </a:r>
              </a:p>
            </p:txBody>
          </p:sp>
        </p:grpSp>
      </p:grpSp>
      <p:sp>
        <p:nvSpPr>
          <p:cNvPr id="23" name="Rectangle 6">
            <a:extLst>
              <a:ext uri="{FF2B5EF4-FFF2-40B4-BE49-F238E27FC236}">
                <a16:creationId xmlns:a16="http://schemas.microsoft.com/office/drawing/2014/main" id="{E3F37F83-8D05-4712-9FED-5B4F98771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703" y="88181"/>
            <a:ext cx="1584176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要  点</a:t>
            </a:r>
          </a:p>
        </p:txBody>
      </p:sp>
    </p:spTree>
    <p:extLst>
      <p:ext uri="{BB962C8B-B14F-4D97-AF65-F5344CB8AC3E}">
        <p14:creationId xmlns:p14="http://schemas.microsoft.com/office/powerpoint/2010/main" val="236902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696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6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6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89" grpId="0" animBg="1" autoUpdateAnimBg="0"/>
      <p:bldP spid="369700" grpId="0" autoUpdateAnimBg="0"/>
      <p:bldP spid="307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4907286" y="231949"/>
            <a:ext cx="3167098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循环的嵌套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2732687" y="1872232"/>
            <a:ext cx="5975308" cy="61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多层循环之间不能互相交叉</a:t>
            </a:r>
          </a:p>
        </p:txBody>
      </p:sp>
      <p:sp>
        <p:nvSpPr>
          <p:cNvPr id="31749" name="Rectangle 4"/>
          <p:cNvSpPr>
            <a:spLocks noChangeArrowheads="1"/>
          </p:cNvSpPr>
          <p:nvPr/>
        </p:nvSpPr>
        <p:spPr bwMode="auto">
          <a:xfrm>
            <a:off x="1768334" y="1051122"/>
            <a:ext cx="8598817" cy="681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lvl="2"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三种循环可互相嵌套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层数不限</a:t>
            </a:r>
          </a:p>
        </p:txBody>
      </p:sp>
      <p:sp>
        <p:nvSpPr>
          <p:cNvPr id="400389" name="Rectangle 5"/>
          <p:cNvSpPr>
            <a:spLocks noChangeArrowheads="1"/>
          </p:cNvSpPr>
          <p:nvPr/>
        </p:nvSpPr>
        <p:spPr bwMode="auto">
          <a:xfrm>
            <a:off x="2732688" y="2707573"/>
            <a:ext cx="8101573" cy="482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Char char="ü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双层循环总次数等于内外层次数之积</a:t>
            </a:r>
          </a:p>
        </p:txBody>
      </p:sp>
      <p:sp>
        <p:nvSpPr>
          <p:cNvPr id="400390" name="Rectangle 6"/>
          <p:cNvSpPr>
            <a:spLocks noChangeArrowheads="1"/>
          </p:cNvSpPr>
          <p:nvPr/>
        </p:nvSpPr>
        <p:spPr bwMode="auto">
          <a:xfrm>
            <a:off x="3616678" y="3342120"/>
            <a:ext cx="4982492" cy="186554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375" b="1" dirty="0">
                <a:solidFill>
                  <a:srgbClr val="C00000"/>
                </a:solidFill>
                <a:latin typeface="Times New Roman" pitchFamily="18" charset="0"/>
              </a:rPr>
              <a:t>for(</a:t>
            </a:r>
            <a:r>
              <a:rPr lang="en-US" altLang="zh-CN" sz="3375" b="1" dirty="0" err="1">
                <a:solidFill>
                  <a:srgbClr val="C00000"/>
                </a:solidFill>
                <a:latin typeface="Times New Roman" pitchFamily="18" charset="0"/>
              </a:rPr>
              <a:t>i</a:t>
            </a:r>
            <a:r>
              <a:rPr lang="en-US" altLang="zh-CN" sz="3375" b="1" dirty="0">
                <a:solidFill>
                  <a:srgbClr val="C00000"/>
                </a:solidFill>
                <a:latin typeface="Times New Roman" pitchFamily="18" charset="0"/>
              </a:rPr>
              <a:t>=1;i&lt;=2;i++)</a:t>
            </a:r>
          </a:p>
          <a:p>
            <a:pPr>
              <a:spcBef>
                <a:spcPct val="20000"/>
              </a:spcBef>
            </a:pPr>
            <a:r>
              <a:rPr lang="en-US" altLang="zh-CN" sz="3375" b="1" dirty="0">
                <a:latin typeface="Times New Roman" pitchFamily="18" charset="0"/>
              </a:rPr>
              <a:t>   for(j=1;j&lt;=3;j++)</a:t>
            </a:r>
          </a:p>
          <a:p>
            <a:pPr>
              <a:spcBef>
                <a:spcPct val="20000"/>
              </a:spcBef>
            </a:pPr>
            <a:r>
              <a:rPr lang="en-US" altLang="zh-CN" sz="3375" b="1" dirty="0">
                <a:solidFill>
                  <a:srgbClr val="FF5555"/>
                </a:solidFill>
                <a:latin typeface="Times New Roman" pitchFamily="18" charset="0"/>
              </a:rPr>
              <a:t>	 </a:t>
            </a:r>
            <a:r>
              <a:rPr lang="en-US" altLang="zh-CN" sz="3375" b="1" dirty="0" err="1">
                <a:latin typeface="Times New Roman" pitchFamily="18" charset="0"/>
              </a:rPr>
              <a:t>printf</a:t>
            </a:r>
            <a:r>
              <a:rPr lang="en-US" altLang="zh-CN" sz="3375" b="1" dirty="0">
                <a:latin typeface="Times New Roman" pitchFamily="18" charset="0"/>
              </a:rPr>
              <a:t>("%d\n",</a:t>
            </a:r>
            <a:r>
              <a:rPr lang="en-US" altLang="zh-CN" sz="3375" b="1" dirty="0" err="1">
                <a:latin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</a:rPr>
              <a:t>*j);</a:t>
            </a:r>
          </a:p>
        </p:txBody>
      </p:sp>
      <p:sp>
        <p:nvSpPr>
          <p:cNvPr id="400391" name="Rectangle 7"/>
          <p:cNvSpPr>
            <a:spLocks noChangeArrowheads="1"/>
          </p:cNvSpPr>
          <p:nvPr/>
        </p:nvSpPr>
        <p:spPr bwMode="auto">
          <a:xfrm>
            <a:off x="3527944" y="5170373"/>
            <a:ext cx="3053786" cy="1865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375" b="1" dirty="0">
                <a:latin typeface="Times New Roman" pitchFamily="18" charset="0"/>
              </a:rPr>
              <a:t>j=1   </a:t>
            </a:r>
            <a:r>
              <a:rPr lang="en-US" altLang="zh-CN" sz="3375" b="1" dirty="0" err="1">
                <a:latin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</a:rPr>
              <a:t>*j=1</a:t>
            </a:r>
          </a:p>
          <a:p>
            <a:pPr>
              <a:spcBef>
                <a:spcPct val="20000"/>
              </a:spcBef>
            </a:pPr>
            <a:r>
              <a:rPr lang="en-US" altLang="zh-CN" sz="3375" b="1" dirty="0">
                <a:latin typeface="Times New Roman" pitchFamily="18" charset="0"/>
              </a:rPr>
              <a:t>j=2   </a:t>
            </a:r>
            <a:r>
              <a:rPr lang="en-US" altLang="zh-CN" sz="3375" b="1" dirty="0" err="1">
                <a:latin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</a:rPr>
              <a:t>*j=2</a:t>
            </a:r>
          </a:p>
          <a:p>
            <a:pPr>
              <a:spcBef>
                <a:spcPct val="20000"/>
              </a:spcBef>
            </a:pPr>
            <a:r>
              <a:rPr lang="en-US" altLang="zh-CN" sz="3375" b="1" dirty="0">
                <a:latin typeface="Times New Roman" pitchFamily="18" charset="0"/>
              </a:rPr>
              <a:t>j=3   </a:t>
            </a:r>
            <a:r>
              <a:rPr lang="en-US" altLang="zh-CN" sz="3375" b="1" dirty="0" err="1">
                <a:latin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</a:rPr>
              <a:t>*j=3</a:t>
            </a:r>
          </a:p>
        </p:txBody>
      </p:sp>
      <p:sp>
        <p:nvSpPr>
          <p:cNvPr id="400392" name="Rectangle 8"/>
          <p:cNvSpPr>
            <a:spLocks noChangeArrowheads="1"/>
          </p:cNvSpPr>
          <p:nvPr/>
        </p:nvSpPr>
        <p:spPr bwMode="auto">
          <a:xfrm>
            <a:off x="2089786" y="5193813"/>
            <a:ext cx="1353865" cy="619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4917" tIns="49357" rIns="94917" bIns="49357">
            <a:spAutoFit/>
          </a:bodyPr>
          <a:lstStyle/>
          <a:p>
            <a:r>
              <a:rPr lang="zh-CN" altLang="en-US" sz="3375" b="1">
                <a:solidFill>
                  <a:srgbClr val="C00000"/>
                </a:solidFill>
                <a:latin typeface="Times New Roman" pitchFamily="18" charset="0"/>
              </a:rPr>
              <a:t>当</a:t>
            </a:r>
            <a:r>
              <a:rPr lang="en-US" altLang="zh-CN" sz="3375" b="1">
                <a:solidFill>
                  <a:srgbClr val="C00000"/>
                </a:solidFill>
                <a:latin typeface="Times New Roman" pitchFamily="18" charset="0"/>
              </a:rPr>
              <a:t>i=1:</a:t>
            </a:r>
          </a:p>
        </p:txBody>
      </p:sp>
      <p:sp>
        <p:nvSpPr>
          <p:cNvPr id="400393" name="Rectangle 9"/>
          <p:cNvSpPr>
            <a:spLocks noChangeArrowheads="1"/>
          </p:cNvSpPr>
          <p:nvPr/>
        </p:nvSpPr>
        <p:spPr bwMode="auto">
          <a:xfrm>
            <a:off x="5828330" y="5213904"/>
            <a:ext cx="1353865" cy="619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4917" tIns="49357" rIns="94917" bIns="49357">
            <a:spAutoFit/>
          </a:bodyPr>
          <a:lstStyle/>
          <a:p>
            <a:r>
              <a:rPr lang="zh-CN" altLang="en-US" sz="3375" b="1" dirty="0">
                <a:solidFill>
                  <a:srgbClr val="C00000"/>
                </a:solidFill>
                <a:latin typeface="Times New Roman" pitchFamily="18" charset="0"/>
              </a:rPr>
              <a:t>当</a:t>
            </a:r>
            <a:r>
              <a:rPr lang="en-US" altLang="zh-CN" sz="3375" b="1" dirty="0" err="1">
                <a:solidFill>
                  <a:srgbClr val="C00000"/>
                </a:solidFill>
                <a:latin typeface="Times New Roman" pitchFamily="18" charset="0"/>
              </a:rPr>
              <a:t>i</a:t>
            </a:r>
            <a:r>
              <a:rPr lang="en-US" altLang="zh-CN" sz="3375" b="1" dirty="0">
                <a:solidFill>
                  <a:srgbClr val="C00000"/>
                </a:solidFill>
                <a:latin typeface="Times New Roman" pitchFamily="18" charset="0"/>
              </a:rPr>
              <a:t>=2:</a:t>
            </a:r>
          </a:p>
        </p:txBody>
      </p:sp>
      <p:sp>
        <p:nvSpPr>
          <p:cNvPr id="400394" name="Rectangle 10"/>
          <p:cNvSpPr>
            <a:spLocks noChangeArrowheads="1"/>
          </p:cNvSpPr>
          <p:nvPr/>
        </p:nvSpPr>
        <p:spPr bwMode="auto">
          <a:xfrm>
            <a:off x="7233003" y="5170373"/>
            <a:ext cx="3053786" cy="1865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375" b="1" dirty="0">
                <a:latin typeface="Times New Roman" pitchFamily="18" charset="0"/>
              </a:rPr>
              <a:t>j=1   </a:t>
            </a:r>
            <a:r>
              <a:rPr lang="en-US" altLang="zh-CN" sz="3375" b="1" dirty="0" err="1">
                <a:latin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</a:rPr>
              <a:t>*j=2</a:t>
            </a:r>
          </a:p>
          <a:p>
            <a:pPr>
              <a:spcBef>
                <a:spcPct val="20000"/>
              </a:spcBef>
            </a:pPr>
            <a:r>
              <a:rPr lang="en-US" altLang="zh-CN" sz="3375" b="1" dirty="0">
                <a:latin typeface="Times New Roman" pitchFamily="18" charset="0"/>
              </a:rPr>
              <a:t>j=2   </a:t>
            </a:r>
            <a:r>
              <a:rPr lang="en-US" altLang="zh-CN" sz="3375" b="1" dirty="0" err="1">
                <a:latin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</a:rPr>
              <a:t>*j=4</a:t>
            </a:r>
          </a:p>
          <a:p>
            <a:pPr>
              <a:spcBef>
                <a:spcPct val="20000"/>
              </a:spcBef>
            </a:pPr>
            <a:r>
              <a:rPr lang="en-US" altLang="zh-CN" sz="3375" b="1" dirty="0">
                <a:latin typeface="Times New Roman" pitchFamily="18" charset="0"/>
              </a:rPr>
              <a:t>j=3   </a:t>
            </a:r>
            <a:r>
              <a:rPr lang="en-US" altLang="zh-CN" sz="3375" b="1" dirty="0" err="1">
                <a:latin typeface="Times New Roman" pitchFamily="18" charset="0"/>
              </a:rPr>
              <a:t>i</a:t>
            </a:r>
            <a:r>
              <a:rPr lang="en-US" altLang="zh-CN" sz="3375" b="1" dirty="0">
                <a:latin typeface="Times New Roman" pitchFamily="18" charset="0"/>
              </a:rPr>
              <a:t>*j=6</a:t>
            </a:r>
          </a:p>
        </p:txBody>
      </p:sp>
      <p:sp>
        <p:nvSpPr>
          <p:cNvPr id="400395" name="Rectangle 11"/>
          <p:cNvSpPr>
            <a:spLocks noChangeArrowheads="1"/>
          </p:cNvSpPr>
          <p:nvPr/>
        </p:nvSpPr>
        <p:spPr bwMode="auto">
          <a:xfrm>
            <a:off x="9998822" y="1676164"/>
            <a:ext cx="642902" cy="360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 algn="ctr"/>
            <a:r>
              <a:rPr lang="en-US" altLang="zh-CN" sz="3797" dirty="0">
                <a:solidFill>
                  <a:srgbClr val="C00000"/>
                </a:solidFill>
                <a:latin typeface="Times New Roman" pitchFamily="18" charset="0"/>
              </a:rPr>
              <a:t>1</a:t>
            </a:r>
          </a:p>
          <a:p>
            <a:pPr algn="ctr"/>
            <a:r>
              <a:rPr lang="en-US" altLang="zh-CN" sz="3797" dirty="0">
                <a:solidFill>
                  <a:srgbClr val="C00000"/>
                </a:solidFill>
                <a:latin typeface="Times New Roman" pitchFamily="18" charset="0"/>
              </a:rPr>
              <a:t>2</a:t>
            </a:r>
          </a:p>
          <a:p>
            <a:pPr algn="ctr"/>
            <a:r>
              <a:rPr lang="en-US" altLang="zh-CN" sz="3797" dirty="0">
                <a:solidFill>
                  <a:srgbClr val="C00000"/>
                </a:solidFill>
                <a:latin typeface="Times New Roman" pitchFamily="18" charset="0"/>
              </a:rPr>
              <a:t>3</a:t>
            </a:r>
          </a:p>
          <a:p>
            <a:pPr algn="ctr"/>
            <a:r>
              <a:rPr lang="en-US" altLang="zh-CN" sz="3797" dirty="0">
                <a:solidFill>
                  <a:srgbClr val="C00000"/>
                </a:solidFill>
                <a:latin typeface="Times New Roman" pitchFamily="18" charset="0"/>
              </a:rPr>
              <a:t>2</a:t>
            </a:r>
          </a:p>
          <a:p>
            <a:pPr algn="ctr"/>
            <a:r>
              <a:rPr lang="en-US" altLang="zh-CN" sz="3797" dirty="0">
                <a:solidFill>
                  <a:srgbClr val="C00000"/>
                </a:solidFill>
                <a:latin typeface="Times New Roman" pitchFamily="18" charset="0"/>
              </a:rPr>
              <a:t>4</a:t>
            </a:r>
          </a:p>
          <a:p>
            <a:pPr algn="ctr"/>
            <a:r>
              <a:rPr lang="en-US" altLang="zh-CN" sz="3797" dirty="0">
                <a:solidFill>
                  <a:srgbClr val="C00000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3664AE8B-5BE8-4307-8901-AAA0CE405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703" y="88181"/>
            <a:ext cx="1584176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要  点</a:t>
            </a:r>
          </a:p>
        </p:txBody>
      </p:sp>
    </p:spTree>
    <p:extLst>
      <p:ext uri="{BB962C8B-B14F-4D97-AF65-F5344CB8AC3E}">
        <p14:creationId xmlns:p14="http://schemas.microsoft.com/office/powerpoint/2010/main" val="230005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0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0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0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00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00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00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00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0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00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00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00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00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00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00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400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00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00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31749" grpId="0"/>
      <p:bldP spid="400389" grpId="0" autoUpdateAnimBg="0"/>
      <p:bldP spid="400391" grpId="0" uiExpand="1" build="p" autoUpdateAnimBg="0"/>
      <p:bldP spid="400392" grpId="0" autoUpdateAnimBg="0"/>
      <p:bldP spid="400393" grpId="0" autoUpdateAnimBg="0"/>
      <p:bldP spid="400394" grpId="0" build="p" autoUpdateAnimBg="0"/>
      <p:bldP spid="400395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964879" y="519981"/>
            <a:ext cx="9286664" cy="811475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>
            <a:defPPr>
              <a:defRPr lang="zh-CN"/>
            </a:defPPr>
            <a:lvl1pPr>
              <a:spcBef>
                <a:spcPct val="0"/>
              </a:spcBef>
              <a:defRPr sz="44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ctr"/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用双重循环打印出如下运行结果</a:t>
            </a:r>
          </a:p>
        </p:txBody>
      </p:sp>
      <p:sp>
        <p:nvSpPr>
          <p:cNvPr id="392196" name="Rectangle 4"/>
          <p:cNvSpPr>
            <a:spLocks noChangeArrowheads="1"/>
          </p:cNvSpPr>
          <p:nvPr/>
        </p:nvSpPr>
        <p:spPr bwMode="auto">
          <a:xfrm>
            <a:off x="4982845" y="1858389"/>
            <a:ext cx="2330521" cy="3079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5695" dirty="0">
                <a:latin typeface="Times New Roman" pitchFamily="18" charset="0"/>
              </a:rPr>
              <a:t> *****</a:t>
            </a:r>
          </a:p>
          <a:p>
            <a:pPr>
              <a:lnSpc>
                <a:spcPct val="85000"/>
              </a:lnSpc>
            </a:pPr>
            <a:r>
              <a:rPr lang="en-US" altLang="zh-CN" sz="5695" dirty="0">
                <a:latin typeface="Times New Roman" pitchFamily="18" charset="0"/>
              </a:rPr>
              <a:t> *****</a:t>
            </a:r>
          </a:p>
          <a:p>
            <a:pPr>
              <a:lnSpc>
                <a:spcPct val="85000"/>
              </a:lnSpc>
            </a:pPr>
            <a:r>
              <a:rPr lang="en-US" altLang="zh-CN" sz="5695" dirty="0">
                <a:latin typeface="Times New Roman" pitchFamily="18" charset="0"/>
              </a:rPr>
              <a:t> *****</a:t>
            </a:r>
          </a:p>
          <a:p>
            <a:pPr>
              <a:lnSpc>
                <a:spcPct val="85000"/>
              </a:lnSpc>
            </a:pPr>
            <a:r>
              <a:rPr lang="en-US" altLang="zh-CN" sz="5695" dirty="0">
                <a:latin typeface="Times New Roman" pitchFamily="18" charset="0"/>
              </a:rPr>
              <a:t> *****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5731CE0-8B13-4C78-AEDF-5A1E78147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dist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案例六</a:t>
            </a:r>
          </a:p>
        </p:txBody>
      </p:sp>
    </p:spTree>
    <p:extLst>
      <p:ext uri="{BB962C8B-B14F-4D97-AF65-F5344CB8AC3E}">
        <p14:creationId xmlns:p14="http://schemas.microsoft.com/office/powerpoint/2010/main" val="3506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6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ChangeArrowheads="1"/>
          </p:cNvSpPr>
          <p:nvPr/>
        </p:nvSpPr>
        <p:spPr bwMode="auto">
          <a:xfrm>
            <a:off x="5856080" y="231949"/>
            <a:ext cx="5685863" cy="6747652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void  main( 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{  </a:t>
            </a:r>
            <a:r>
              <a:rPr lang="en-US" altLang="zh-CN" sz="3600" b="1" dirty="0" err="1">
                <a:latin typeface="Times New Roman" pitchFamily="18" charset="0"/>
              </a:rPr>
              <a:t>int</a:t>
            </a:r>
            <a:r>
              <a:rPr lang="en-US" altLang="zh-CN" sz="3600" b="1" dirty="0">
                <a:latin typeface="Times New Roman" pitchFamily="18" charset="0"/>
              </a:rPr>
              <a:t> </a:t>
            </a:r>
            <a:r>
              <a:rPr lang="en-US" altLang="zh-CN" sz="3600" b="1" dirty="0" err="1">
                <a:latin typeface="Times New Roman" pitchFamily="18" charset="0"/>
              </a:rPr>
              <a:t>i,j</a:t>
            </a:r>
            <a:r>
              <a:rPr lang="en-US" altLang="zh-CN" sz="36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   for(</a:t>
            </a:r>
            <a:r>
              <a:rPr lang="en-US" altLang="zh-CN" sz="3600" b="1" dirty="0" err="1">
                <a:latin typeface="Times New Roman" pitchFamily="18" charset="0"/>
              </a:rPr>
              <a:t>i</a:t>
            </a:r>
            <a:r>
              <a:rPr lang="en-US" altLang="zh-CN" sz="3600" b="1" dirty="0">
                <a:latin typeface="Times New Roman" pitchFamily="18" charset="0"/>
              </a:rPr>
              <a:t>=1;i&lt;=4;i++)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         </a:t>
            </a: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for(j=1;j&lt;=5;j++)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	      </a:t>
            </a:r>
            <a:r>
              <a:rPr lang="en-US" altLang="zh-CN" sz="3600" b="1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printf</a:t>
            </a: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("*");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         </a:t>
            </a:r>
            <a:r>
              <a:rPr lang="en-US" altLang="zh-CN" sz="3600" b="1" dirty="0" err="1">
                <a:latin typeface="Times New Roman" pitchFamily="18" charset="0"/>
              </a:rPr>
              <a:t>printf</a:t>
            </a:r>
            <a:r>
              <a:rPr lang="en-US" altLang="zh-CN" sz="3600" b="1" dirty="0">
                <a:latin typeface="Times New Roman" pitchFamily="18" charset="0"/>
              </a:rPr>
              <a:t>("\n");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      }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   }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F7F09A-35A6-4B0E-AAFC-F942AEC65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  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42EDE0-45E6-4A05-9EFB-44651BB18082}"/>
              </a:ext>
            </a:extLst>
          </p:cNvPr>
          <p:cNvSpPr/>
          <p:nvPr/>
        </p:nvSpPr>
        <p:spPr>
          <a:xfrm>
            <a:off x="6192777" y="2897986"/>
            <a:ext cx="5966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latin typeface="Times New Roman" pitchFamily="18" charset="0"/>
              </a:rPr>
              <a:t> { </a:t>
            </a:r>
            <a:endParaRPr lang="zh-CN" altLang="en-US" sz="36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956767" y="1744117"/>
            <a:ext cx="4248472" cy="4218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目的：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的图形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85000"/>
              </a:lnSpc>
            </a:pPr>
            <a:r>
              <a:rPr lang="en-US" altLang="zh-CN" sz="5695" b="1" dirty="0">
                <a:latin typeface="Times New Roman" pitchFamily="18" charset="0"/>
              </a:rPr>
              <a:t>*****</a:t>
            </a:r>
          </a:p>
          <a:p>
            <a:pPr algn="ctr">
              <a:lnSpc>
                <a:spcPct val="85000"/>
              </a:lnSpc>
            </a:pPr>
            <a:r>
              <a:rPr lang="en-US" altLang="zh-CN" sz="5695" b="1" dirty="0">
                <a:latin typeface="Times New Roman" pitchFamily="18" charset="0"/>
              </a:rPr>
              <a:t>*****</a:t>
            </a:r>
          </a:p>
          <a:p>
            <a:pPr algn="ctr">
              <a:lnSpc>
                <a:spcPct val="85000"/>
              </a:lnSpc>
            </a:pPr>
            <a:r>
              <a:rPr lang="en-US" altLang="zh-CN" sz="5695" b="1" dirty="0">
                <a:latin typeface="Times New Roman" pitchFamily="18" charset="0"/>
              </a:rPr>
              <a:t>*****</a:t>
            </a:r>
          </a:p>
          <a:p>
            <a:pPr algn="ctr">
              <a:lnSpc>
                <a:spcPct val="85000"/>
              </a:lnSpc>
            </a:pPr>
            <a:r>
              <a:rPr lang="en-US" altLang="zh-CN" sz="5695" b="1" dirty="0">
                <a:latin typeface="Times New Roman" pitchFamily="18" charset="0"/>
              </a:rPr>
              <a:t>*****</a:t>
            </a:r>
          </a:p>
        </p:txBody>
      </p:sp>
    </p:spTree>
    <p:extLst>
      <p:ext uri="{BB962C8B-B14F-4D97-AF65-F5344CB8AC3E}">
        <p14:creationId xmlns:p14="http://schemas.microsoft.com/office/powerpoint/2010/main" val="309398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3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3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3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3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3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3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3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93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1" name="Rectangle 3"/>
          <p:cNvSpPr>
            <a:spLocks noChangeArrowheads="1"/>
          </p:cNvSpPr>
          <p:nvPr/>
        </p:nvSpPr>
        <p:spPr bwMode="auto">
          <a:xfrm>
            <a:off x="2583874" y="736005"/>
            <a:ext cx="9941162" cy="715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编写程序，打印出如下运行结果</a:t>
            </a:r>
            <a:endParaRPr lang="zh-CN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6532" name="Rectangle 4"/>
          <p:cNvSpPr>
            <a:spLocks noChangeArrowheads="1"/>
          </p:cNvSpPr>
          <p:nvPr/>
        </p:nvSpPr>
        <p:spPr bwMode="auto">
          <a:xfrm>
            <a:off x="5421263" y="2330521"/>
            <a:ext cx="1958843" cy="3631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5400" dirty="0">
                <a:latin typeface="Times New Roman" pitchFamily="18" charset="0"/>
              </a:rPr>
              <a:t>*</a:t>
            </a:r>
          </a:p>
          <a:p>
            <a:pPr>
              <a:lnSpc>
                <a:spcPct val="85000"/>
              </a:lnSpc>
            </a:pPr>
            <a:r>
              <a:rPr lang="en-US" altLang="zh-CN" sz="5400" dirty="0">
                <a:latin typeface="Times New Roman" pitchFamily="18" charset="0"/>
              </a:rPr>
              <a:t>**</a:t>
            </a:r>
          </a:p>
          <a:p>
            <a:pPr>
              <a:lnSpc>
                <a:spcPct val="85000"/>
              </a:lnSpc>
            </a:pPr>
            <a:r>
              <a:rPr lang="en-US" altLang="zh-CN" sz="5400" dirty="0">
                <a:latin typeface="Times New Roman" pitchFamily="18" charset="0"/>
              </a:rPr>
              <a:t>***</a:t>
            </a:r>
          </a:p>
          <a:p>
            <a:pPr>
              <a:lnSpc>
                <a:spcPct val="85000"/>
              </a:lnSpc>
            </a:pPr>
            <a:r>
              <a:rPr lang="en-US" altLang="zh-CN" sz="5400" dirty="0">
                <a:latin typeface="Times New Roman" pitchFamily="18" charset="0"/>
              </a:rPr>
              <a:t>****</a:t>
            </a:r>
          </a:p>
          <a:p>
            <a:pPr>
              <a:lnSpc>
                <a:spcPct val="85000"/>
              </a:lnSpc>
            </a:pPr>
            <a:r>
              <a:rPr lang="en-US" altLang="zh-CN" sz="5400" dirty="0">
                <a:latin typeface="Times New Roman" pitchFamily="18" charset="0"/>
              </a:rPr>
              <a:t>*****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C4C3FD-3226-413B-B90A-788732607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练 习 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8733631" y="2104157"/>
            <a:ext cx="3168352" cy="1393999"/>
          </a:xfrm>
          <a:prstGeom prst="wedgeRoundRectCallout">
            <a:avLst>
              <a:gd name="adj1" fmla="val -99105"/>
              <a:gd name="adj2" fmla="val 99421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窍门：找规律</a:t>
            </a:r>
          </a:p>
        </p:txBody>
      </p:sp>
    </p:spTree>
    <p:extLst>
      <p:ext uri="{BB962C8B-B14F-4D97-AF65-F5344CB8AC3E}">
        <p14:creationId xmlns:p14="http://schemas.microsoft.com/office/powerpoint/2010/main" val="205295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6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1" grpId="0" autoUpdateAnimBg="0"/>
      <p:bldP spid="406532" grpId="0" autoUpdateAnimBg="0"/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5" name="Rectangle 3"/>
          <p:cNvSpPr>
            <a:spLocks noChangeArrowheads="1"/>
          </p:cNvSpPr>
          <p:nvPr/>
        </p:nvSpPr>
        <p:spPr bwMode="auto">
          <a:xfrm>
            <a:off x="5205239" y="231949"/>
            <a:ext cx="5811969" cy="6624541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4000" b="1" dirty="0">
                <a:latin typeface="Times New Roman" pitchFamily="18" charset="0"/>
              </a:rPr>
              <a:t>#include&lt;</a:t>
            </a:r>
            <a:r>
              <a:rPr lang="en-US" altLang="zh-CN" sz="4000" b="1" dirty="0" err="1">
                <a:latin typeface="Times New Roman" pitchFamily="18" charset="0"/>
              </a:rPr>
              <a:t>stdio.h</a:t>
            </a:r>
            <a:r>
              <a:rPr lang="en-US" altLang="zh-CN" sz="4000" b="1" dirty="0">
                <a:latin typeface="Times New Roman" pitchFamily="18" charset="0"/>
              </a:rPr>
              <a:t>&gt;</a:t>
            </a:r>
          </a:p>
          <a:p>
            <a:pPr>
              <a:spcBef>
                <a:spcPct val="20000"/>
              </a:spcBef>
            </a:pPr>
            <a:r>
              <a:rPr lang="en-US" altLang="zh-CN" sz="4000" b="1" dirty="0">
                <a:latin typeface="Times New Roman" pitchFamily="18" charset="0"/>
              </a:rPr>
              <a:t>void main( )</a:t>
            </a:r>
          </a:p>
          <a:p>
            <a:pPr>
              <a:spcBef>
                <a:spcPct val="20000"/>
              </a:spcBef>
            </a:pPr>
            <a:r>
              <a:rPr lang="en-US" altLang="zh-CN" sz="4000" b="1" dirty="0">
                <a:latin typeface="Times New Roman" pitchFamily="18" charset="0"/>
              </a:rPr>
              <a:t>{</a:t>
            </a:r>
            <a:r>
              <a:rPr lang="zh-CN" altLang="en-US" sz="4000" b="1" dirty="0">
                <a:latin typeface="Times New Roman" pitchFamily="18" charset="0"/>
              </a:rPr>
              <a:t>　</a:t>
            </a:r>
            <a:r>
              <a:rPr lang="en-US" altLang="zh-CN" sz="4000" b="1" dirty="0" err="1">
                <a:latin typeface="Times New Roman" pitchFamily="18" charset="0"/>
              </a:rPr>
              <a:t>int</a:t>
            </a:r>
            <a:r>
              <a:rPr lang="en-US" altLang="zh-CN" sz="4000" b="1" dirty="0">
                <a:latin typeface="Times New Roman" pitchFamily="18" charset="0"/>
              </a:rPr>
              <a:t> </a:t>
            </a:r>
            <a:r>
              <a:rPr lang="en-US" altLang="zh-CN" sz="4000" b="1" dirty="0" err="1">
                <a:latin typeface="Times New Roman" pitchFamily="18" charset="0"/>
              </a:rPr>
              <a:t>i,j</a:t>
            </a:r>
            <a:r>
              <a:rPr lang="en-US" altLang="zh-CN" sz="4000" b="1" dirty="0">
                <a:latin typeface="Times New Roman" pitchFamily="18" charset="0"/>
              </a:rPr>
              <a:t>;</a:t>
            </a:r>
          </a:p>
          <a:p>
            <a:pPr>
              <a:spcBef>
                <a:spcPct val="20000"/>
              </a:spcBef>
            </a:pPr>
            <a:r>
              <a:rPr lang="en-US" altLang="zh-CN" sz="4000" b="1" dirty="0">
                <a:latin typeface="Times New Roman" pitchFamily="18" charset="0"/>
              </a:rPr>
              <a:t>      for(</a:t>
            </a:r>
            <a:r>
              <a:rPr lang="en-US" altLang="zh-CN" sz="4000" b="1" dirty="0" err="1">
                <a:latin typeface="Times New Roman" pitchFamily="18" charset="0"/>
              </a:rPr>
              <a:t>i</a:t>
            </a:r>
            <a:r>
              <a:rPr lang="en-US" altLang="zh-CN" sz="4000" b="1" dirty="0">
                <a:latin typeface="Times New Roman" pitchFamily="18" charset="0"/>
              </a:rPr>
              <a:t>=1;i&lt;=5;i++)</a:t>
            </a:r>
          </a:p>
          <a:p>
            <a:pPr>
              <a:spcBef>
                <a:spcPct val="20000"/>
              </a:spcBef>
            </a:pPr>
            <a:r>
              <a:rPr lang="en-US" altLang="zh-CN" sz="4000" b="1" dirty="0">
                <a:latin typeface="Times New Roman" pitchFamily="18" charset="0"/>
              </a:rPr>
              <a:t>         for(j=1;         ;</a:t>
            </a:r>
            <a:r>
              <a:rPr lang="en-US" altLang="zh-CN" sz="4000" b="1" dirty="0" err="1">
                <a:latin typeface="Times New Roman" pitchFamily="18" charset="0"/>
              </a:rPr>
              <a:t>j++</a:t>
            </a:r>
            <a:r>
              <a:rPr lang="en-US" altLang="zh-CN" sz="4000" b="1" dirty="0">
                <a:latin typeface="Times New Roman" pitchFamily="18" charset="0"/>
              </a:rPr>
              <a:t>)</a:t>
            </a:r>
          </a:p>
          <a:p>
            <a:pPr>
              <a:spcBef>
                <a:spcPct val="20000"/>
              </a:spcBef>
            </a:pPr>
            <a:r>
              <a:rPr lang="en-US" altLang="zh-CN" sz="4000" b="1" dirty="0">
                <a:latin typeface="Times New Roman" pitchFamily="18" charset="0"/>
              </a:rPr>
              <a:t>	     </a:t>
            </a:r>
            <a:r>
              <a:rPr lang="en-US" altLang="zh-CN" sz="4000" b="1" dirty="0" err="1">
                <a:latin typeface="Times New Roman" pitchFamily="18" charset="0"/>
              </a:rPr>
              <a:t>printf</a:t>
            </a:r>
            <a:r>
              <a:rPr lang="en-US" altLang="zh-CN" sz="4000" b="1" dirty="0">
                <a:latin typeface="Times New Roman" pitchFamily="18" charset="0"/>
              </a:rPr>
              <a:t>("*");</a:t>
            </a:r>
          </a:p>
          <a:p>
            <a:pPr>
              <a:spcBef>
                <a:spcPct val="20000"/>
              </a:spcBef>
            </a:pPr>
            <a:r>
              <a:rPr lang="en-US" altLang="zh-CN" sz="4000" b="1" dirty="0">
                <a:latin typeface="Times New Roman" pitchFamily="18" charset="0"/>
              </a:rPr>
              <a:t>          </a:t>
            </a:r>
            <a:r>
              <a:rPr lang="en-US" altLang="zh-CN" sz="4000" b="1" dirty="0" err="1">
                <a:latin typeface="Times New Roman" pitchFamily="18" charset="0"/>
              </a:rPr>
              <a:t>printf</a:t>
            </a:r>
            <a:r>
              <a:rPr lang="en-US" altLang="zh-CN" sz="4000" b="1" dirty="0">
                <a:latin typeface="Times New Roman" pitchFamily="18" charset="0"/>
              </a:rPr>
              <a:t>("\n");</a:t>
            </a:r>
          </a:p>
          <a:p>
            <a:pPr>
              <a:spcBef>
                <a:spcPct val="20000"/>
              </a:spcBef>
            </a:pPr>
            <a:r>
              <a:rPr lang="en-US" altLang="zh-CN" sz="4000" b="1" dirty="0">
                <a:latin typeface="Times New Roman" pitchFamily="18" charset="0"/>
              </a:rPr>
              <a:t>      }</a:t>
            </a:r>
          </a:p>
          <a:p>
            <a:pPr>
              <a:spcBef>
                <a:spcPct val="20000"/>
              </a:spcBef>
            </a:pPr>
            <a:r>
              <a:rPr lang="en-US" altLang="zh-CN" sz="4000" b="1" dirty="0">
                <a:latin typeface="Times New Roman" pitchFamily="18" charset="0"/>
              </a:rPr>
              <a:t>}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B08F810-DC61-4D5E-88AC-494DA9CD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 fontScale="77500" lnSpcReduction="20000"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练习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代码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748855" y="2032149"/>
            <a:ext cx="1958843" cy="3631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5400" dirty="0">
                <a:latin typeface="Times New Roman" pitchFamily="18" charset="0"/>
              </a:rPr>
              <a:t>*</a:t>
            </a:r>
          </a:p>
          <a:p>
            <a:pPr>
              <a:lnSpc>
                <a:spcPct val="85000"/>
              </a:lnSpc>
            </a:pPr>
            <a:r>
              <a:rPr lang="en-US" altLang="zh-CN" sz="5400" dirty="0">
                <a:latin typeface="Times New Roman" pitchFamily="18" charset="0"/>
              </a:rPr>
              <a:t>**</a:t>
            </a:r>
          </a:p>
          <a:p>
            <a:pPr>
              <a:lnSpc>
                <a:spcPct val="85000"/>
              </a:lnSpc>
            </a:pPr>
            <a:r>
              <a:rPr lang="en-US" altLang="zh-CN" sz="5400" dirty="0">
                <a:latin typeface="Times New Roman" pitchFamily="18" charset="0"/>
              </a:rPr>
              <a:t>***</a:t>
            </a:r>
          </a:p>
          <a:p>
            <a:pPr>
              <a:lnSpc>
                <a:spcPct val="85000"/>
              </a:lnSpc>
            </a:pPr>
            <a:r>
              <a:rPr lang="en-US" altLang="zh-CN" sz="5400" dirty="0">
                <a:latin typeface="Times New Roman" pitchFamily="18" charset="0"/>
              </a:rPr>
              <a:t>****</a:t>
            </a:r>
          </a:p>
          <a:p>
            <a:pPr>
              <a:lnSpc>
                <a:spcPct val="85000"/>
              </a:lnSpc>
            </a:pPr>
            <a:r>
              <a:rPr lang="en-US" altLang="zh-CN" sz="5400" dirty="0">
                <a:latin typeface="Times New Roman" pitchFamily="18" charset="0"/>
              </a:rPr>
              <a:t>*****</a:t>
            </a:r>
          </a:p>
        </p:txBody>
      </p:sp>
      <p:sp>
        <p:nvSpPr>
          <p:cNvPr id="2" name="矩形 1"/>
          <p:cNvSpPr/>
          <p:nvPr/>
        </p:nvSpPr>
        <p:spPr>
          <a:xfrm>
            <a:off x="5858258" y="3124463"/>
            <a:ext cx="64312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prstClr val="black"/>
                </a:solidFill>
                <a:latin typeface="Times New Roman" pitchFamily="18" charset="0"/>
              </a:rPr>
              <a:t> { 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8182967" y="3196471"/>
            <a:ext cx="108234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latin typeface="Times New Roman" pitchFamily="18" charset="0"/>
              </a:rPr>
              <a:t>j&lt;=</a:t>
            </a:r>
            <a:r>
              <a:rPr lang="en-US" altLang="zh-CN" sz="4000" b="1" dirty="0" err="1">
                <a:solidFill>
                  <a:srgbClr val="C00000"/>
                </a:solidFill>
                <a:latin typeface="Times New Roman" pitchFamily="18" charset="0"/>
              </a:rPr>
              <a:t>i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73850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7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7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2" grpId="0"/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2604769" y="651335"/>
            <a:ext cx="7425006" cy="715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循环嵌套输出九九表</a:t>
            </a:r>
          </a:p>
        </p:txBody>
      </p:sp>
      <p:grpSp>
        <p:nvGrpSpPr>
          <p:cNvPr id="408579" name="Group 3"/>
          <p:cNvGrpSpPr>
            <a:grpSpLocks/>
          </p:cNvGrpSpPr>
          <p:nvPr/>
        </p:nvGrpSpPr>
        <p:grpSpPr bwMode="auto">
          <a:xfrm>
            <a:off x="3069207" y="2032149"/>
            <a:ext cx="6581378" cy="3319429"/>
            <a:chOff x="864" y="1242"/>
            <a:chExt cx="3931" cy="1854"/>
          </a:xfrm>
        </p:grpSpPr>
        <p:grpSp>
          <p:nvGrpSpPr>
            <p:cNvPr id="36870" name="Group 4"/>
            <p:cNvGrpSpPr>
              <a:grpSpLocks/>
            </p:cNvGrpSpPr>
            <p:nvPr/>
          </p:nvGrpSpPr>
          <p:grpSpPr bwMode="auto">
            <a:xfrm>
              <a:off x="864" y="1242"/>
              <a:ext cx="3794" cy="365"/>
              <a:chOff x="1123" y="718"/>
              <a:chExt cx="3924" cy="420"/>
            </a:xfrm>
          </p:grpSpPr>
          <p:sp>
            <p:nvSpPr>
              <p:cNvPr id="36902" name="Text Box 5"/>
              <p:cNvSpPr txBox="1">
                <a:spLocks noChangeArrowheads="1"/>
              </p:cNvSpPr>
              <p:nvPr/>
            </p:nvSpPr>
            <p:spPr bwMode="auto">
              <a:xfrm>
                <a:off x="1123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36903" name="Text Box 6"/>
              <p:cNvSpPr txBox="1">
                <a:spLocks noChangeArrowheads="1"/>
              </p:cNvSpPr>
              <p:nvPr/>
            </p:nvSpPr>
            <p:spPr bwMode="auto">
              <a:xfrm>
                <a:off x="1587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36904" name="Text Box 7"/>
              <p:cNvSpPr txBox="1">
                <a:spLocks noChangeArrowheads="1"/>
              </p:cNvSpPr>
              <p:nvPr/>
            </p:nvSpPr>
            <p:spPr bwMode="auto">
              <a:xfrm>
                <a:off x="2052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36905" name="Text Box 8"/>
              <p:cNvSpPr txBox="1">
                <a:spLocks noChangeArrowheads="1"/>
              </p:cNvSpPr>
              <p:nvPr/>
            </p:nvSpPr>
            <p:spPr bwMode="auto">
              <a:xfrm>
                <a:off x="2517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36906" name="Text Box 9"/>
              <p:cNvSpPr txBox="1">
                <a:spLocks noChangeArrowheads="1"/>
              </p:cNvSpPr>
              <p:nvPr/>
            </p:nvSpPr>
            <p:spPr bwMode="auto">
              <a:xfrm>
                <a:off x="2983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36907" name="Text Box 10"/>
              <p:cNvSpPr txBox="1">
                <a:spLocks noChangeArrowheads="1"/>
              </p:cNvSpPr>
              <p:nvPr/>
            </p:nvSpPr>
            <p:spPr bwMode="auto">
              <a:xfrm>
                <a:off x="3447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36908" name="Text Box 11"/>
              <p:cNvSpPr txBox="1">
                <a:spLocks noChangeArrowheads="1"/>
              </p:cNvSpPr>
              <p:nvPr/>
            </p:nvSpPr>
            <p:spPr bwMode="auto">
              <a:xfrm>
                <a:off x="3913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7</a:t>
                </a:r>
              </a:p>
            </p:txBody>
          </p:sp>
          <p:sp>
            <p:nvSpPr>
              <p:cNvPr id="36909" name="Text Box 12"/>
              <p:cNvSpPr txBox="1">
                <a:spLocks noChangeArrowheads="1"/>
              </p:cNvSpPr>
              <p:nvPr/>
            </p:nvSpPr>
            <p:spPr bwMode="auto">
              <a:xfrm>
                <a:off x="4377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36910" name="Text Box 13"/>
              <p:cNvSpPr txBox="1">
                <a:spLocks noChangeArrowheads="1"/>
              </p:cNvSpPr>
              <p:nvPr/>
            </p:nvSpPr>
            <p:spPr bwMode="auto">
              <a:xfrm>
                <a:off x="4845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9</a:t>
                </a:r>
              </a:p>
            </p:txBody>
          </p:sp>
        </p:grpSp>
        <p:grpSp>
          <p:nvGrpSpPr>
            <p:cNvPr id="36871" name="Group 14"/>
            <p:cNvGrpSpPr>
              <a:grpSpLocks/>
            </p:cNvGrpSpPr>
            <p:nvPr/>
          </p:nvGrpSpPr>
          <p:grpSpPr bwMode="auto">
            <a:xfrm>
              <a:off x="864" y="1579"/>
              <a:ext cx="3931" cy="365"/>
              <a:chOff x="1123" y="718"/>
              <a:chExt cx="4064" cy="420"/>
            </a:xfrm>
          </p:grpSpPr>
          <p:sp>
            <p:nvSpPr>
              <p:cNvPr id="36893" name="Text Box 15"/>
              <p:cNvSpPr txBox="1">
                <a:spLocks noChangeArrowheads="1"/>
              </p:cNvSpPr>
              <p:nvPr/>
            </p:nvSpPr>
            <p:spPr bwMode="auto">
              <a:xfrm>
                <a:off x="1123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36894" name="Text Box 16"/>
              <p:cNvSpPr txBox="1">
                <a:spLocks noChangeArrowheads="1"/>
              </p:cNvSpPr>
              <p:nvPr/>
            </p:nvSpPr>
            <p:spPr bwMode="auto">
              <a:xfrm>
                <a:off x="1588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36895" name="Text Box 17"/>
              <p:cNvSpPr txBox="1">
                <a:spLocks noChangeArrowheads="1"/>
              </p:cNvSpPr>
              <p:nvPr/>
            </p:nvSpPr>
            <p:spPr bwMode="auto">
              <a:xfrm>
                <a:off x="2053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36896" name="Text Box 18"/>
              <p:cNvSpPr txBox="1">
                <a:spLocks noChangeArrowheads="1"/>
              </p:cNvSpPr>
              <p:nvPr/>
            </p:nvSpPr>
            <p:spPr bwMode="auto">
              <a:xfrm>
                <a:off x="2516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36897" name="Text Box 19"/>
              <p:cNvSpPr txBox="1">
                <a:spLocks noChangeArrowheads="1"/>
              </p:cNvSpPr>
              <p:nvPr/>
            </p:nvSpPr>
            <p:spPr bwMode="auto">
              <a:xfrm>
                <a:off x="2983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10</a:t>
                </a:r>
              </a:p>
            </p:txBody>
          </p:sp>
          <p:sp>
            <p:nvSpPr>
              <p:cNvPr id="36898" name="Text Box 20"/>
              <p:cNvSpPr txBox="1">
                <a:spLocks noChangeArrowheads="1"/>
              </p:cNvSpPr>
              <p:nvPr/>
            </p:nvSpPr>
            <p:spPr bwMode="auto">
              <a:xfrm>
                <a:off x="3448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12</a:t>
                </a:r>
              </a:p>
            </p:txBody>
          </p:sp>
          <p:sp>
            <p:nvSpPr>
              <p:cNvPr id="36899" name="Text Box 21"/>
              <p:cNvSpPr txBox="1">
                <a:spLocks noChangeArrowheads="1"/>
              </p:cNvSpPr>
              <p:nvPr/>
            </p:nvSpPr>
            <p:spPr bwMode="auto">
              <a:xfrm>
                <a:off x="3913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14</a:t>
                </a:r>
              </a:p>
            </p:txBody>
          </p:sp>
          <p:sp>
            <p:nvSpPr>
              <p:cNvPr id="36900" name="Text Box 22"/>
              <p:cNvSpPr txBox="1">
                <a:spLocks noChangeArrowheads="1"/>
              </p:cNvSpPr>
              <p:nvPr/>
            </p:nvSpPr>
            <p:spPr bwMode="auto">
              <a:xfrm>
                <a:off x="4379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16</a:t>
                </a:r>
              </a:p>
            </p:txBody>
          </p:sp>
          <p:sp>
            <p:nvSpPr>
              <p:cNvPr id="36901" name="Text Box 23"/>
              <p:cNvSpPr txBox="1">
                <a:spLocks noChangeArrowheads="1"/>
              </p:cNvSpPr>
              <p:nvPr/>
            </p:nvSpPr>
            <p:spPr bwMode="auto">
              <a:xfrm>
                <a:off x="4843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18</a:t>
                </a:r>
              </a:p>
            </p:txBody>
          </p:sp>
        </p:grpSp>
        <p:grpSp>
          <p:nvGrpSpPr>
            <p:cNvPr id="36872" name="Group 24"/>
            <p:cNvGrpSpPr>
              <a:grpSpLocks/>
            </p:cNvGrpSpPr>
            <p:nvPr/>
          </p:nvGrpSpPr>
          <p:grpSpPr bwMode="auto">
            <a:xfrm>
              <a:off x="864" y="1914"/>
              <a:ext cx="3931" cy="365"/>
              <a:chOff x="1123" y="718"/>
              <a:chExt cx="4064" cy="421"/>
            </a:xfrm>
          </p:grpSpPr>
          <p:sp>
            <p:nvSpPr>
              <p:cNvPr id="36884" name="Text Box 25"/>
              <p:cNvSpPr txBox="1">
                <a:spLocks noChangeArrowheads="1"/>
              </p:cNvSpPr>
              <p:nvPr/>
            </p:nvSpPr>
            <p:spPr bwMode="auto">
              <a:xfrm>
                <a:off x="1123" y="718"/>
                <a:ext cx="202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36885" name="Text Box 26"/>
              <p:cNvSpPr txBox="1">
                <a:spLocks noChangeArrowheads="1"/>
              </p:cNvSpPr>
              <p:nvPr/>
            </p:nvSpPr>
            <p:spPr bwMode="auto">
              <a:xfrm>
                <a:off x="1588" y="718"/>
                <a:ext cx="202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36886" name="Text Box 27"/>
              <p:cNvSpPr txBox="1">
                <a:spLocks noChangeArrowheads="1"/>
              </p:cNvSpPr>
              <p:nvPr/>
            </p:nvSpPr>
            <p:spPr bwMode="auto">
              <a:xfrm>
                <a:off x="2053" y="718"/>
                <a:ext cx="202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9</a:t>
                </a:r>
              </a:p>
            </p:txBody>
          </p:sp>
          <p:sp>
            <p:nvSpPr>
              <p:cNvPr id="36887" name="Text Box 28"/>
              <p:cNvSpPr txBox="1">
                <a:spLocks noChangeArrowheads="1"/>
              </p:cNvSpPr>
              <p:nvPr/>
            </p:nvSpPr>
            <p:spPr bwMode="auto">
              <a:xfrm>
                <a:off x="2516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12</a:t>
                </a:r>
              </a:p>
            </p:txBody>
          </p:sp>
          <p:sp>
            <p:nvSpPr>
              <p:cNvPr id="36888" name="Text Box 29"/>
              <p:cNvSpPr txBox="1">
                <a:spLocks noChangeArrowheads="1"/>
              </p:cNvSpPr>
              <p:nvPr/>
            </p:nvSpPr>
            <p:spPr bwMode="auto">
              <a:xfrm>
                <a:off x="2983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15</a:t>
                </a:r>
              </a:p>
            </p:txBody>
          </p:sp>
          <p:sp>
            <p:nvSpPr>
              <p:cNvPr id="36889" name="Text Box 30"/>
              <p:cNvSpPr txBox="1">
                <a:spLocks noChangeArrowheads="1"/>
              </p:cNvSpPr>
              <p:nvPr/>
            </p:nvSpPr>
            <p:spPr bwMode="auto">
              <a:xfrm>
                <a:off x="3448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18</a:t>
                </a:r>
              </a:p>
            </p:txBody>
          </p:sp>
          <p:sp>
            <p:nvSpPr>
              <p:cNvPr id="36890" name="Text Box 31"/>
              <p:cNvSpPr txBox="1">
                <a:spLocks noChangeArrowheads="1"/>
              </p:cNvSpPr>
              <p:nvPr/>
            </p:nvSpPr>
            <p:spPr bwMode="auto">
              <a:xfrm>
                <a:off x="3913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21</a:t>
                </a:r>
              </a:p>
            </p:txBody>
          </p:sp>
          <p:sp>
            <p:nvSpPr>
              <p:cNvPr id="36891" name="Text Box 32"/>
              <p:cNvSpPr txBox="1">
                <a:spLocks noChangeArrowheads="1"/>
              </p:cNvSpPr>
              <p:nvPr/>
            </p:nvSpPr>
            <p:spPr bwMode="auto">
              <a:xfrm>
                <a:off x="4379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24</a:t>
                </a:r>
              </a:p>
            </p:txBody>
          </p:sp>
          <p:sp>
            <p:nvSpPr>
              <p:cNvPr id="36892" name="Text Box 33"/>
              <p:cNvSpPr txBox="1">
                <a:spLocks noChangeArrowheads="1"/>
              </p:cNvSpPr>
              <p:nvPr/>
            </p:nvSpPr>
            <p:spPr bwMode="auto">
              <a:xfrm>
                <a:off x="4843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27</a:t>
                </a:r>
              </a:p>
            </p:txBody>
          </p:sp>
        </p:grpSp>
        <p:grpSp>
          <p:nvGrpSpPr>
            <p:cNvPr id="36873" name="Group 34"/>
            <p:cNvGrpSpPr>
              <a:grpSpLocks/>
            </p:cNvGrpSpPr>
            <p:nvPr/>
          </p:nvGrpSpPr>
          <p:grpSpPr bwMode="auto">
            <a:xfrm>
              <a:off x="864" y="2731"/>
              <a:ext cx="3931" cy="365"/>
              <a:chOff x="1123" y="719"/>
              <a:chExt cx="4064" cy="420"/>
            </a:xfrm>
          </p:grpSpPr>
          <p:sp>
            <p:nvSpPr>
              <p:cNvPr id="36875" name="Text Box 35"/>
              <p:cNvSpPr txBox="1">
                <a:spLocks noChangeArrowheads="1"/>
              </p:cNvSpPr>
              <p:nvPr/>
            </p:nvSpPr>
            <p:spPr bwMode="auto">
              <a:xfrm>
                <a:off x="1123" y="719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9</a:t>
                </a:r>
              </a:p>
            </p:txBody>
          </p:sp>
          <p:sp>
            <p:nvSpPr>
              <p:cNvPr id="36876" name="Text Box 36"/>
              <p:cNvSpPr txBox="1">
                <a:spLocks noChangeArrowheads="1"/>
              </p:cNvSpPr>
              <p:nvPr/>
            </p:nvSpPr>
            <p:spPr bwMode="auto">
              <a:xfrm>
                <a:off x="1588" y="719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18</a:t>
                </a:r>
              </a:p>
            </p:txBody>
          </p:sp>
          <p:sp>
            <p:nvSpPr>
              <p:cNvPr id="36877" name="Text Box 37"/>
              <p:cNvSpPr txBox="1">
                <a:spLocks noChangeArrowheads="1"/>
              </p:cNvSpPr>
              <p:nvPr/>
            </p:nvSpPr>
            <p:spPr bwMode="auto">
              <a:xfrm>
                <a:off x="2053" y="719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27</a:t>
                </a:r>
              </a:p>
            </p:txBody>
          </p:sp>
          <p:sp>
            <p:nvSpPr>
              <p:cNvPr id="36878" name="Text Box 38"/>
              <p:cNvSpPr txBox="1">
                <a:spLocks noChangeArrowheads="1"/>
              </p:cNvSpPr>
              <p:nvPr/>
            </p:nvSpPr>
            <p:spPr bwMode="auto">
              <a:xfrm>
                <a:off x="2516" y="719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36</a:t>
                </a:r>
              </a:p>
            </p:txBody>
          </p:sp>
          <p:sp>
            <p:nvSpPr>
              <p:cNvPr id="36879" name="Text Box 39"/>
              <p:cNvSpPr txBox="1">
                <a:spLocks noChangeArrowheads="1"/>
              </p:cNvSpPr>
              <p:nvPr/>
            </p:nvSpPr>
            <p:spPr bwMode="auto">
              <a:xfrm>
                <a:off x="2983" y="719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45</a:t>
                </a:r>
              </a:p>
            </p:txBody>
          </p:sp>
          <p:sp>
            <p:nvSpPr>
              <p:cNvPr id="36880" name="Text Box 40"/>
              <p:cNvSpPr txBox="1">
                <a:spLocks noChangeArrowheads="1"/>
              </p:cNvSpPr>
              <p:nvPr/>
            </p:nvSpPr>
            <p:spPr bwMode="auto">
              <a:xfrm>
                <a:off x="3448" y="719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54</a:t>
                </a:r>
              </a:p>
            </p:txBody>
          </p:sp>
          <p:sp>
            <p:nvSpPr>
              <p:cNvPr id="36881" name="Text Box 41"/>
              <p:cNvSpPr txBox="1">
                <a:spLocks noChangeArrowheads="1"/>
              </p:cNvSpPr>
              <p:nvPr/>
            </p:nvSpPr>
            <p:spPr bwMode="auto">
              <a:xfrm>
                <a:off x="3913" y="719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63</a:t>
                </a:r>
              </a:p>
            </p:txBody>
          </p:sp>
          <p:sp>
            <p:nvSpPr>
              <p:cNvPr id="36882" name="Text Box 42"/>
              <p:cNvSpPr txBox="1">
                <a:spLocks noChangeArrowheads="1"/>
              </p:cNvSpPr>
              <p:nvPr/>
            </p:nvSpPr>
            <p:spPr bwMode="auto">
              <a:xfrm>
                <a:off x="4379" y="719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72</a:t>
                </a:r>
              </a:p>
            </p:txBody>
          </p:sp>
          <p:sp>
            <p:nvSpPr>
              <p:cNvPr id="36883" name="Text Box 43"/>
              <p:cNvSpPr txBox="1">
                <a:spLocks noChangeArrowheads="1"/>
              </p:cNvSpPr>
              <p:nvPr/>
            </p:nvSpPr>
            <p:spPr bwMode="auto">
              <a:xfrm>
                <a:off x="4843" y="719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81</a:t>
                </a:r>
              </a:p>
            </p:txBody>
          </p:sp>
        </p:grpSp>
        <p:sp>
          <p:nvSpPr>
            <p:cNvPr id="36874" name="Text Box 44"/>
            <p:cNvSpPr txBox="1">
              <a:spLocks noChangeArrowheads="1"/>
            </p:cNvSpPr>
            <p:nvPr/>
          </p:nvSpPr>
          <p:spPr bwMode="auto">
            <a:xfrm>
              <a:off x="864" y="2199"/>
              <a:ext cx="906" cy="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9357" rIns="94917" bIns="49357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latin typeface="Times New Roman" pitchFamily="18" charset="0"/>
                  <a:ea typeface="+mn-ea"/>
                  <a:cs typeface="Times New Roman" pitchFamily="18" charset="0"/>
                </a:rPr>
                <a:t>………………</a:t>
              </a:r>
            </a:p>
          </p:txBody>
        </p:sp>
      </p:grpSp>
      <p:sp>
        <p:nvSpPr>
          <p:cNvPr id="47" name="Rectangle 6">
            <a:extLst>
              <a:ext uri="{FF2B5EF4-FFF2-40B4-BE49-F238E27FC236}">
                <a16:creationId xmlns:a16="http://schemas.microsoft.com/office/drawing/2014/main" id="{E02C9274-5556-41E8-B9F0-21CA050C1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练 习 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01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Text Box 2"/>
          <p:cNvSpPr txBox="1">
            <a:spLocks noChangeArrowheads="1"/>
          </p:cNvSpPr>
          <p:nvPr/>
        </p:nvSpPr>
        <p:spPr bwMode="auto">
          <a:xfrm>
            <a:off x="2900983" y="519981"/>
            <a:ext cx="7344816" cy="6255209"/>
          </a:xfrm>
          <a:prstGeom prst="rect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  #include&lt;</a:t>
            </a:r>
            <a:r>
              <a:rPr lang="en-US" altLang="zh-CN" sz="4000" b="1" dirty="0" err="1">
                <a:latin typeface="Times New Roman" pitchFamily="18" charset="0"/>
                <a:ea typeface="隶书" pitchFamily="49" charset="-122"/>
              </a:rPr>
              <a:t>stdio.h</a:t>
            </a: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  void main(  )</a:t>
            </a:r>
          </a:p>
          <a:p>
            <a:pPr>
              <a:spcBef>
                <a:spcPts val="600"/>
              </a:spcBef>
            </a:pP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  {    </a:t>
            </a:r>
            <a:r>
              <a:rPr lang="en-US" altLang="zh-CN" sz="4000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sz="4000" b="1" dirty="0" err="1">
                <a:latin typeface="Times New Roman" pitchFamily="18" charset="0"/>
                <a:ea typeface="隶书" pitchFamily="49" charset="-122"/>
              </a:rPr>
              <a:t>i,j</a:t>
            </a: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        for(</a:t>
            </a:r>
            <a:r>
              <a:rPr lang="en-US" altLang="zh-CN" sz="4000" b="1" dirty="0" err="1"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=1;i&lt;10;i++)</a:t>
            </a:r>
          </a:p>
          <a:p>
            <a:pPr>
              <a:spcBef>
                <a:spcPts val="600"/>
              </a:spcBef>
            </a:pP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              for(j=1;j&lt;10;j++)</a:t>
            </a:r>
          </a:p>
          <a:p>
            <a:pPr>
              <a:spcBef>
                <a:spcPts val="600"/>
              </a:spcBef>
            </a:pPr>
            <a:r>
              <a:rPr lang="zh-CN" altLang="en-US" sz="4000" b="1" dirty="0">
                <a:latin typeface="Times New Roman" pitchFamily="18" charset="0"/>
                <a:ea typeface="隶书" pitchFamily="49" charset="-122"/>
              </a:rPr>
              <a:t>　  　　    </a:t>
            </a:r>
            <a:r>
              <a:rPr lang="en-US" altLang="zh-CN" sz="4000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("%4d",</a:t>
            </a:r>
            <a:r>
              <a:rPr lang="en-US" altLang="zh-CN" sz="4000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sz="4000" b="1" dirty="0" err="1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i</a:t>
            </a:r>
            <a:r>
              <a:rPr lang="en-US" altLang="zh-CN" sz="4000" b="1" dirty="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*j</a:t>
            </a: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              </a:t>
            </a:r>
            <a:r>
              <a:rPr lang="en-US" altLang="zh-CN" sz="4000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("\n");</a:t>
            </a:r>
          </a:p>
          <a:p>
            <a:pPr>
              <a:spcBef>
                <a:spcPts val="600"/>
              </a:spcBef>
            </a:pP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           }     </a:t>
            </a:r>
          </a:p>
          <a:p>
            <a:pPr>
              <a:spcBef>
                <a:spcPts val="600"/>
              </a:spcBef>
            </a:pPr>
            <a:r>
              <a:rPr lang="en-US" altLang="zh-CN" sz="4000" b="1" dirty="0">
                <a:latin typeface="Times New Roman" pitchFamily="18" charset="0"/>
                <a:ea typeface="隶书" pitchFamily="49" charset="-122"/>
              </a:rPr>
              <a:t>   }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83C38B-1F5F-49DB-AD44-19BABB959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 fontScale="77500" lnSpcReduction="20000"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练习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代码</a:t>
            </a:r>
          </a:p>
        </p:txBody>
      </p:sp>
      <p:sp>
        <p:nvSpPr>
          <p:cNvPr id="2" name="矩形 1"/>
          <p:cNvSpPr/>
          <p:nvPr/>
        </p:nvSpPr>
        <p:spPr>
          <a:xfrm>
            <a:off x="4098515" y="3217679"/>
            <a:ext cx="38664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prstClr val="black"/>
                </a:solidFill>
                <a:latin typeface="Times New Roman" pitchFamily="18" charset="0"/>
                <a:ea typeface="隶书" pitchFamily="49" charset="-122"/>
              </a:rPr>
              <a:t>{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104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9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9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9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9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9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9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9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2324919" y="651335"/>
            <a:ext cx="9217024" cy="715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如果要打印出如下九九表如何处理？</a:t>
            </a:r>
          </a:p>
        </p:txBody>
      </p:sp>
      <p:grpSp>
        <p:nvGrpSpPr>
          <p:cNvPr id="408579" name="Group 3"/>
          <p:cNvGrpSpPr>
            <a:grpSpLocks/>
          </p:cNvGrpSpPr>
          <p:nvPr/>
        </p:nvGrpSpPr>
        <p:grpSpPr bwMode="auto">
          <a:xfrm>
            <a:off x="3064185" y="1510582"/>
            <a:ext cx="6357031" cy="5346103"/>
            <a:chOff x="861" y="1242"/>
            <a:chExt cx="3797" cy="1854"/>
          </a:xfrm>
        </p:grpSpPr>
        <p:grpSp>
          <p:nvGrpSpPr>
            <p:cNvPr id="36870" name="Group 4"/>
            <p:cNvGrpSpPr>
              <a:grpSpLocks/>
            </p:cNvGrpSpPr>
            <p:nvPr/>
          </p:nvGrpSpPr>
          <p:grpSpPr bwMode="auto">
            <a:xfrm>
              <a:off x="864" y="1242"/>
              <a:ext cx="3794" cy="365"/>
              <a:chOff x="1123" y="718"/>
              <a:chExt cx="3924" cy="420"/>
            </a:xfrm>
          </p:grpSpPr>
          <p:sp>
            <p:nvSpPr>
              <p:cNvPr id="36902" name="Text Box 5"/>
              <p:cNvSpPr txBox="1">
                <a:spLocks noChangeArrowheads="1"/>
              </p:cNvSpPr>
              <p:nvPr/>
            </p:nvSpPr>
            <p:spPr bwMode="auto">
              <a:xfrm>
                <a:off x="1123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36903" name="Text Box 6"/>
              <p:cNvSpPr txBox="1">
                <a:spLocks noChangeArrowheads="1"/>
              </p:cNvSpPr>
              <p:nvPr/>
            </p:nvSpPr>
            <p:spPr bwMode="auto">
              <a:xfrm>
                <a:off x="1587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36904" name="Text Box 7"/>
              <p:cNvSpPr txBox="1">
                <a:spLocks noChangeArrowheads="1"/>
              </p:cNvSpPr>
              <p:nvPr/>
            </p:nvSpPr>
            <p:spPr bwMode="auto">
              <a:xfrm>
                <a:off x="2052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36905" name="Text Box 8"/>
              <p:cNvSpPr txBox="1">
                <a:spLocks noChangeArrowheads="1"/>
              </p:cNvSpPr>
              <p:nvPr/>
            </p:nvSpPr>
            <p:spPr bwMode="auto">
              <a:xfrm>
                <a:off x="2517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36906" name="Text Box 9"/>
              <p:cNvSpPr txBox="1">
                <a:spLocks noChangeArrowheads="1"/>
              </p:cNvSpPr>
              <p:nvPr/>
            </p:nvSpPr>
            <p:spPr bwMode="auto">
              <a:xfrm>
                <a:off x="2983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36907" name="Text Box 10"/>
              <p:cNvSpPr txBox="1">
                <a:spLocks noChangeArrowheads="1"/>
              </p:cNvSpPr>
              <p:nvPr/>
            </p:nvSpPr>
            <p:spPr bwMode="auto">
              <a:xfrm>
                <a:off x="3447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36908" name="Text Box 11"/>
              <p:cNvSpPr txBox="1">
                <a:spLocks noChangeArrowheads="1"/>
              </p:cNvSpPr>
              <p:nvPr/>
            </p:nvSpPr>
            <p:spPr bwMode="auto">
              <a:xfrm>
                <a:off x="3913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7</a:t>
                </a:r>
              </a:p>
            </p:txBody>
          </p:sp>
          <p:sp>
            <p:nvSpPr>
              <p:cNvPr id="36909" name="Text Box 12"/>
              <p:cNvSpPr txBox="1">
                <a:spLocks noChangeArrowheads="1"/>
              </p:cNvSpPr>
              <p:nvPr/>
            </p:nvSpPr>
            <p:spPr bwMode="auto">
              <a:xfrm>
                <a:off x="4377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36910" name="Text Box 13"/>
              <p:cNvSpPr txBox="1">
                <a:spLocks noChangeArrowheads="1"/>
              </p:cNvSpPr>
              <p:nvPr/>
            </p:nvSpPr>
            <p:spPr bwMode="auto">
              <a:xfrm>
                <a:off x="4845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9</a:t>
                </a:r>
              </a:p>
            </p:txBody>
          </p:sp>
        </p:grpSp>
        <p:grpSp>
          <p:nvGrpSpPr>
            <p:cNvPr id="36871" name="Group 14"/>
            <p:cNvGrpSpPr>
              <a:grpSpLocks/>
            </p:cNvGrpSpPr>
            <p:nvPr/>
          </p:nvGrpSpPr>
          <p:grpSpPr bwMode="auto">
            <a:xfrm>
              <a:off x="893" y="1579"/>
              <a:ext cx="3481" cy="365"/>
              <a:chOff x="1148" y="718"/>
              <a:chExt cx="3599" cy="420"/>
            </a:xfrm>
          </p:grpSpPr>
          <p:sp>
            <p:nvSpPr>
              <p:cNvPr id="36894" name="Text Box 16"/>
              <p:cNvSpPr txBox="1">
                <a:spLocks noChangeArrowheads="1"/>
              </p:cNvSpPr>
              <p:nvPr/>
            </p:nvSpPr>
            <p:spPr bwMode="auto">
              <a:xfrm>
                <a:off x="1148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36895" name="Text Box 17"/>
              <p:cNvSpPr txBox="1">
                <a:spLocks noChangeArrowheads="1"/>
              </p:cNvSpPr>
              <p:nvPr/>
            </p:nvSpPr>
            <p:spPr bwMode="auto">
              <a:xfrm>
                <a:off x="1613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36896" name="Text Box 18"/>
              <p:cNvSpPr txBox="1">
                <a:spLocks noChangeArrowheads="1"/>
              </p:cNvSpPr>
              <p:nvPr/>
            </p:nvSpPr>
            <p:spPr bwMode="auto">
              <a:xfrm>
                <a:off x="2076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36897" name="Text Box 19"/>
              <p:cNvSpPr txBox="1">
                <a:spLocks noChangeArrowheads="1"/>
              </p:cNvSpPr>
              <p:nvPr/>
            </p:nvSpPr>
            <p:spPr bwMode="auto">
              <a:xfrm>
                <a:off x="2543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10</a:t>
                </a:r>
              </a:p>
            </p:txBody>
          </p:sp>
          <p:sp>
            <p:nvSpPr>
              <p:cNvPr id="36898" name="Text Box 20"/>
              <p:cNvSpPr txBox="1">
                <a:spLocks noChangeArrowheads="1"/>
              </p:cNvSpPr>
              <p:nvPr/>
            </p:nvSpPr>
            <p:spPr bwMode="auto">
              <a:xfrm>
                <a:off x="3008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12</a:t>
                </a:r>
              </a:p>
            </p:txBody>
          </p:sp>
          <p:sp>
            <p:nvSpPr>
              <p:cNvPr id="36899" name="Text Box 21"/>
              <p:cNvSpPr txBox="1">
                <a:spLocks noChangeArrowheads="1"/>
              </p:cNvSpPr>
              <p:nvPr/>
            </p:nvSpPr>
            <p:spPr bwMode="auto">
              <a:xfrm>
                <a:off x="3473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14</a:t>
                </a:r>
              </a:p>
            </p:txBody>
          </p:sp>
          <p:sp>
            <p:nvSpPr>
              <p:cNvPr id="36900" name="Text Box 22"/>
              <p:cNvSpPr txBox="1">
                <a:spLocks noChangeArrowheads="1"/>
              </p:cNvSpPr>
              <p:nvPr/>
            </p:nvSpPr>
            <p:spPr bwMode="auto">
              <a:xfrm>
                <a:off x="3939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16</a:t>
                </a:r>
              </a:p>
            </p:txBody>
          </p:sp>
          <p:sp>
            <p:nvSpPr>
              <p:cNvPr id="36901" name="Text Box 23"/>
              <p:cNvSpPr txBox="1">
                <a:spLocks noChangeArrowheads="1"/>
              </p:cNvSpPr>
              <p:nvPr/>
            </p:nvSpPr>
            <p:spPr bwMode="auto">
              <a:xfrm>
                <a:off x="4403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18</a:t>
                </a:r>
              </a:p>
            </p:txBody>
          </p:sp>
        </p:grpSp>
        <p:grpSp>
          <p:nvGrpSpPr>
            <p:cNvPr id="36872" name="Group 24"/>
            <p:cNvGrpSpPr>
              <a:grpSpLocks/>
            </p:cNvGrpSpPr>
            <p:nvPr/>
          </p:nvGrpSpPr>
          <p:grpSpPr bwMode="auto">
            <a:xfrm>
              <a:off x="872" y="1914"/>
              <a:ext cx="3031" cy="365"/>
              <a:chOff x="1119" y="718"/>
              <a:chExt cx="3134" cy="421"/>
            </a:xfrm>
          </p:grpSpPr>
          <p:sp>
            <p:nvSpPr>
              <p:cNvPr id="36886" name="Text Box 27"/>
              <p:cNvSpPr txBox="1">
                <a:spLocks noChangeArrowheads="1"/>
              </p:cNvSpPr>
              <p:nvPr/>
            </p:nvSpPr>
            <p:spPr bwMode="auto">
              <a:xfrm>
                <a:off x="1119" y="718"/>
                <a:ext cx="202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9</a:t>
                </a:r>
              </a:p>
            </p:txBody>
          </p:sp>
          <p:sp>
            <p:nvSpPr>
              <p:cNvPr id="36887" name="Text Box 28"/>
              <p:cNvSpPr txBox="1">
                <a:spLocks noChangeArrowheads="1"/>
              </p:cNvSpPr>
              <p:nvPr/>
            </p:nvSpPr>
            <p:spPr bwMode="auto">
              <a:xfrm>
                <a:off x="1582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12</a:t>
                </a:r>
              </a:p>
            </p:txBody>
          </p:sp>
          <p:sp>
            <p:nvSpPr>
              <p:cNvPr id="36888" name="Text Box 29"/>
              <p:cNvSpPr txBox="1">
                <a:spLocks noChangeArrowheads="1"/>
              </p:cNvSpPr>
              <p:nvPr/>
            </p:nvSpPr>
            <p:spPr bwMode="auto">
              <a:xfrm>
                <a:off x="2049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15</a:t>
                </a:r>
              </a:p>
            </p:txBody>
          </p:sp>
          <p:sp>
            <p:nvSpPr>
              <p:cNvPr id="36889" name="Text Box 30"/>
              <p:cNvSpPr txBox="1">
                <a:spLocks noChangeArrowheads="1"/>
              </p:cNvSpPr>
              <p:nvPr/>
            </p:nvSpPr>
            <p:spPr bwMode="auto">
              <a:xfrm>
                <a:off x="2514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18</a:t>
                </a:r>
              </a:p>
            </p:txBody>
          </p:sp>
          <p:sp>
            <p:nvSpPr>
              <p:cNvPr id="36890" name="Text Box 31"/>
              <p:cNvSpPr txBox="1">
                <a:spLocks noChangeArrowheads="1"/>
              </p:cNvSpPr>
              <p:nvPr/>
            </p:nvSpPr>
            <p:spPr bwMode="auto">
              <a:xfrm>
                <a:off x="2979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21</a:t>
                </a:r>
              </a:p>
            </p:txBody>
          </p:sp>
          <p:sp>
            <p:nvSpPr>
              <p:cNvPr id="36891" name="Text Box 32"/>
              <p:cNvSpPr txBox="1">
                <a:spLocks noChangeArrowheads="1"/>
              </p:cNvSpPr>
              <p:nvPr/>
            </p:nvSpPr>
            <p:spPr bwMode="auto">
              <a:xfrm>
                <a:off x="3445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24</a:t>
                </a:r>
              </a:p>
            </p:txBody>
          </p:sp>
          <p:sp>
            <p:nvSpPr>
              <p:cNvPr id="36892" name="Text Box 33"/>
              <p:cNvSpPr txBox="1">
                <a:spLocks noChangeArrowheads="1"/>
              </p:cNvSpPr>
              <p:nvPr/>
            </p:nvSpPr>
            <p:spPr bwMode="auto">
              <a:xfrm>
                <a:off x="3909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27</a:t>
                </a:r>
              </a:p>
            </p:txBody>
          </p:sp>
        </p:grpSp>
        <p:sp>
          <p:nvSpPr>
            <p:cNvPr id="36883" name="Text Box 43"/>
            <p:cNvSpPr txBox="1">
              <a:spLocks noChangeArrowheads="1"/>
            </p:cNvSpPr>
            <p:nvPr/>
          </p:nvSpPr>
          <p:spPr bwMode="auto">
            <a:xfrm>
              <a:off x="861" y="2731"/>
              <a:ext cx="33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9357" rIns="94917" bIns="49357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3600" b="1" dirty="0">
                  <a:latin typeface="Times New Roman" pitchFamily="18" charset="0"/>
                  <a:ea typeface="+mn-ea"/>
                  <a:cs typeface="Times New Roman" pitchFamily="18" charset="0"/>
                </a:rPr>
                <a:t>81</a:t>
              </a:r>
            </a:p>
          </p:txBody>
        </p:sp>
        <p:sp>
          <p:nvSpPr>
            <p:cNvPr id="36874" name="Text Box 44"/>
            <p:cNvSpPr txBox="1">
              <a:spLocks noChangeArrowheads="1"/>
            </p:cNvSpPr>
            <p:nvPr/>
          </p:nvSpPr>
          <p:spPr bwMode="auto">
            <a:xfrm>
              <a:off x="864" y="2199"/>
              <a:ext cx="906" cy="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9357" rIns="94917" bIns="49357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latin typeface="Times New Roman" pitchFamily="18" charset="0"/>
                  <a:ea typeface="+mn-ea"/>
                  <a:cs typeface="Times New Roman" pitchFamily="18" charset="0"/>
                </a:rPr>
                <a:t>………………</a:t>
              </a:r>
            </a:p>
          </p:txBody>
        </p:sp>
      </p:grpSp>
      <p:sp>
        <p:nvSpPr>
          <p:cNvPr id="47" name="Rectangle 6">
            <a:extLst>
              <a:ext uri="{FF2B5EF4-FFF2-40B4-BE49-F238E27FC236}">
                <a16:creationId xmlns:a16="http://schemas.microsoft.com/office/drawing/2014/main" id="{E02C9274-5556-41E8-B9F0-21CA050C1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思  考 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8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2324919" y="651335"/>
            <a:ext cx="9217024" cy="715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如果要打印出如下九九表如何处理？</a:t>
            </a:r>
          </a:p>
        </p:txBody>
      </p:sp>
      <p:grpSp>
        <p:nvGrpSpPr>
          <p:cNvPr id="408579" name="Group 3"/>
          <p:cNvGrpSpPr>
            <a:grpSpLocks/>
          </p:cNvGrpSpPr>
          <p:nvPr/>
        </p:nvGrpSpPr>
        <p:grpSpPr bwMode="auto">
          <a:xfrm>
            <a:off x="3069207" y="1510582"/>
            <a:ext cx="6588075" cy="5346103"/>
            <a:chOff x="864" y="1242"/>
            <a:chExt cx="3935" cy="1854"/>
          </a:xfrm>
        </p:grpSpPr>
        <p:grpSp>
          <p:nvGrpSpPr>
            <p:cNvPr id="36870" name="Group 4"/>
            <p:cNvGrpSpPr>
              <a:grpSpLocks/>
            </p:cNvGrpSpPr>
            <p:nvPr/>
          </p:nvGrpSpPr>
          <p:grpSpPr bwMode="auto">
            <a:xfrm>
              <a:off x="864" y="1242"/>
              <a:ext cx="3794" cy="365"/>
              <a:chOff x="1123" y="718"/>
              <a:chExt cx="3924" cy="420"/>
            </a:xfrm>
          </p:grpSpPr>
          <p:sp>
            <p:nvSpPr>
              <p:cNvPr id="36902" name="Text Box 5"/>
              <p:cNvSpPr txBox="1">
                <a:spLocks noChangeArrowheads="1"/>
              </p:cNvSpPr>
              <p:nvPr/>
            </p:nvSpPr>
            <p:spPr bwMode="auto">
              <a:xfrm>
                <a:off x="1123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36903" name="Text Box 6"/>
              <p:cNvSpPr txBox="1">
                <a:spLocks noChangeArrowheads="1"/>
              </p:cNvSpPr>
              <p:nvPr/>
            </p:nvSpPr>
            <p:spPr bwMode="auto">
              <a:xfrm>
                <a:off x="1587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36904" name="Text Box 7"/>
              <p:cNvSpPr txBox="1">
                <a:spLocks noChangeArrowheads="1"/>
              </p:cNvSpPr>
              <p:nvPr/>
            </p:nvSpPr>
            <p:spPr bwMode="auto">
              <a:xfrm>
                <a:off x="2052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36905" name="Text Box 8"/>
              <p:cNvSpPr txBox="1">
                <a:spLocks noChangeArrowheads="1"/>
              </p:cNvSpPr>
              <p:nvPr/>
            </p:nvSpPr>
            <p:spPr bwMode="auto">
              <a:xfrm>
                <a:off x="2517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36906" name="Text Box 9"/>
              <p:cNvSpPr txBox="1">
                <a:spLocks noChangeArrowheads="1"/>
              </p:cNvSpPr>
              <p:nvPr/>
            </p:nvSpPr>
            <p:spPr bwMode="auto">
              <a:xfrm>
                <a:off x="2983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36907" name="Text Box 10"/>
              <p:cNvSpPr txBox="1">
                <a:spLocks noChangeArrowheads="1"/>
              </p:cNvSpPr>
              <p:nvPr/>
            </p:nvSpPr>
            <p:spPr bwMode="auto">
              <a:xfrm>
                <a:off x="3447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36908" name="Text Box 11"/>
              <p:cNvSpPr txBox="1">
                <a:spLocks noChangeArrowheads="1"/>
              </p:cNvSpPr>
              <p:nvPr/>
            </p:nvSpPr>
            <p:spPr bwMode="auto">
              <a:xfrm>
                <a:off x="3913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7</a:t>
                </a:r>
              </a:p>
            </p:txBody>
          </p:sp>
          <p:sp>
            <p:nvSpPr>
              <p:cNvPr id="36909" name="Text Box 12"/>
              <p:cNvSpPr txBox="1">
                <a:spLocks noChangeArrowheads="1"/>
              </p:cNvSpPr>
              <p:nvPr/>
            </p:nvSpPr>
            <p:spPr bwMode="auto">
              <a:xfrm>
                <a:off x="4377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36910" name="Text Box 13"/>
              <p:cNvSpPr txBox="1">
                <a:spLocks noChangeArrowheads="1"/>
              </p:cNvSpPr>
              <p:nvPr/>
            </p:nvSpPr>
            <p:spPr bwMode="auto">
              <a:xfrm>
                <a:off x="4845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9</a:t>
                </a:r>
              </a:p>
            </p:txBody>
          </p:sp>
        </p:grpSp>
        <p:grpSp>
          <p:nvGrpSpPr>
            <p:cNvPr id="36871" name="Group 14"/>
            <p:cNvGrpSpPr>
              <a:grpSpLocks/>
            </p:cNvGrpSpPr>
            <p:nvPr/>
          </p:nvGrpSpPr>
          <p:grpSpPr bwMode="auto">
            <a:xfrm>
              <a:off x="1314" y="1579"/>
              <a:ext cx="3481" cy="365"/>
              <a:chOff x="1588" y="718"/>
              <a:chExt cx="3599" cy="420"/>
            </a:xfrm>
          </p:grpSpPr>
          <p:sp>
            <p:nvSpPr>
              <p:cNvPr id="36894" name="Text Box 16"/>
              <p:cNvSpPr txBox="1">
                <a:spLocks noChangeArrowheads="1"/>
              </p:cNvSpPr>
              <p:nvPr/>
            </p:nvSpPr>
            <p:spPr bwMode="auto">
              <a:xfrm>
                <a:off x="1588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36895" name="Text Box 17"/>
              <p:cNvSpPr txBox="1">
                <a:spLocks noChangeArrowheads="1"/>
              </p:cNvSpPr>
              <p:nvPr/>
            </p:nvSpPr>
            <p:spPr bwMode="auto">
              <a:xfrm>
                <a:off x="2053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36896" name="Text Box 18"/>
              <p:cNvSpPr txBox="1">
                <a:spLocks noChangeArrowheads="1"/>
              </p:cNvSpPr>
              <p:nvPr/>
            </p:nvSpPr>
            <p:spPr bwMode="auto">
              <a:xfrm>
                <a:off x="2516" y="718"/>
                <a:ext cx="202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36897" name="Text Box 19"/>
              <p:cNvSpPr txBox="1">
                <a:spLocks noChangeArrowheads="1"/>
              </p:cNvSpPr>
              <p:nvPr/>
            </p:nvSpPr>
            <p:spPr bwMode="auto">
              <a:xfrm>
                <a:off x="2983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10</a:t>
                </a:r>
              </a:p>
            </p:txBody>
          </p:sp>
          <p:sp>
            <p:nvSpPr>
              <p:cNvPr id="36898" name="Text Box 20"/>
              <p:cNvSpPr txBox="1">
                <a:spLocks noChangeArrowheads="1"/>
              </p:cNvSpPr>
              <p:nvPr/>
            </p:nvSpPr>
            <p:spPr bwMode="auto">
              <a:xfrm>
                <a:off x="3448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12</a:t>
                </a:r>
              </a:p>
            </p:txBody>
          </p:sp>
          <p:sp>
            <p:nvSpPr>
              <p:cNvPr id="36899" name="Text Box 21"/>
              <p:cNvSpPr txBox="1">
                <a:spLocks noChangeArrowheads="1"/>
              </p:cNvSpPr>
              <p:nvPr/>
            </p:nvSpPr>
            <p:spPr bwMode="auto">
              <a:xfrm>
                <a:off x="3913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14</a:t>
                </a:r>
              </a:p>
            </p:txBody>
          </p:sp>
          <p:sp>
            <p:nvSpPr>
              <p:cNvPr id="36900" name="Text Box 22"/>
              <p:cNvSpPr txBox="1">
                <a:spLocks noChangeArrowheads="1"/>
              </p:cNvSpPr>
              <p:nvPr/>
            </p:nvSpPr>
            <p:spPr bwMode="auto">
              <a:xfrm>
                <a:off x="4379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16</a:t>
                </a:r>
              </a:p>
            </p:txBody>
          </p:sp>
          <p:sp>
            <p:nvSpPr>
              <p:cNvPr id="36901" name="Text Box 23"/>
              <p:cNvSpPr txBox="1">
                <a:spLocks noChangeArrowheads="1"/>
              </p:cNvSpPr>
              <p:nvPr/>
            </p:nvSpPr>
            <p:spPr bwMode="auto">
              <a:xfrm>
                <a:off x="4843" y="718"/>
                <a:ext cx="344" cy="4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18</a:t>
                </a:r>
              </a:p>
            </p:txBody>
          </p:sp>
        </p:grpSp>
        <p:grpSp>
          <p:nvGrpSpPr>
            <p:cNvPr id="36872" name="Group 24"/>
            <p:cNvGrpSpPr>
              <a:grpSpLocks/>
            </p:cNvGrpSpPr>
            <p:nvPr/>
          </p:nvGrpSpPr>
          <p:grpSpPr bwMode="auto">
            <a:xfrm>
              <a:off x="1764" y="1914"/>
              <a:ext cx="3031" cy="365"/>
              <a:chOff x="2053" y="718"/>
              <a:chExt cx="3134" cy="421"/>
            </a:xfrm>
          </p:grpSpPr>
          <p:sp>
            <p:nvSpPr>
              <p:cNvPr id="36886" name="Text Box 27"/>
              <p:cNvSpPr txBox="1">
                <a:spLocks noChangeArrowheads="1"/>
              </p:cNvSpPr>
              <p:nvPr/>
            </p:nvSpPr>
            <p:spPr bwMode="auto">
              <a:xfrm>
                <a:off x="2053" y="718"/>
                <a:ext cx="202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9</a:t>
                </a:r>
              </a:p>
            </p:txBody>
          </p:sp>
          <p:sp>
            <p:nvSpPr>
              <p:cNvPr id="36887" name="Text Box 28"/>
              <p:cNvSpPr txBox="1">
                <a:spLocks noChangeArrowheads="1"/>
              </p:cNvSpPr>
              <p:nvPr/>
            </p:nvSpPr>
            <p:spPr bwMode="auto">
              <a:xfrm>
                <a:off x="2516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12</a:t>
                </a:r>
              </a:p>
            </p:txBody>
          </p:sp>
          <p:sp>
            <p:nvSpPr>
              <p:cNvPr id="36888" name="Text Box 29"/>
              <p:cNvSpPr txBox="1">
                <a:spLocks noChangeArrowheads="1"/>
              </p:cNvSpPr>
              <p:nvPr/>
            </p:nvSpPr>
            <p:spPr bwMode="auto">
              <a:xfrm>
                <a:off x="2983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15</a:t>
                </a:r>
              </a:p>
            </p:txBody>
          </p:sp>
          <p:sp>
            <p:nvSpPr>
              <p:cNvPr id="36889" name="Text Box 30"/>
              <p:cNvSpPr txBox="1">
                <a:spLocks noChangeArrowheads="1"/>
              </p:cNvSpPr>
              <p:nvPr/>
            </p:nvSpPr>
            <p:spPr bwMode="auto">
              <a:xfrm>
                <a:off x="3448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18</a:t>
                </a:r>
              </a:p>
            </p:txBody>
          </p:sp>
          <p:sp>
            <p:nvSpPr>
              <p:cNvPr id="36890" name="Text Box 31"/>
              <p:cNvSpPr txBox="1">
                <a:spLocks noChangeArrowheads="1"/>
              </p:cNvSpPr>
              <p:nvPr/>
            </p:nvSpPr>
            <p:spPr bwMode="auto">
              <a:xfrm>
                <a:off x="3913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21</a:t>
                </a:r>
              </a:p>
            </p:txBody>
          </p:sp>
          <p:sp>
            <p:nvSpPr>
              <p:cNvPr id="36891" name="Text Box 32"/>
              <p:cNvSpPr txBox="1">
                <a:spLocks noChangeArrowheads="1"/>
              </p:cNvSpPr>
              <p:nvPr/>
            </p:nvSpPr>
            <p:spPr bwMode="auto">
              <a:xfrm>
                <a:off x="4379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24</a:t>
                </a:r>
              </a:p>
            </p:txBody>
          </p:sp>
          <p:sp>
            <p:nvSpPr>
              <p:cNvPr id="36892" name="Text Box 33"/>
              <p:cNvSpPr txBox="1">
                <a:spLocks noChangeArrowheads="1"/>
              </p:cNvSpPr>
              <p:nvPr/>
            </p:nvSpPr>
            <p:spPr bwMode="auto">
              <a:xfrm>
                <a:off x="4843" y="718"/>
                <a:ext cx="344" cy="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9357" rIns="94917" bIns="49357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>
                  <a:defRPr sz="27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>
                  <a:defRPr sz="23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>
                    <a:latin typeface="Times New Roman" pitchFamily="18" charset="0"/>
                    <a:ea typeface="+mn-ea"/>
                    <a:cs typeface="Times New Roman" pitchFamily="18" charset="0"/>
                  </a:rPr>
                  <a:t>27</a:t>
                </a:r>
              </a:p>
            </p:txBody>
          </p:sp>
        </p:grpSp>
        <p:sp>
          <p:nvSpPr>
            <p:cNvPr id="36883" name="Text Box 43"/>
            <p:cNvSpPr txBox="1">
              <a:spLocks noChangeArrowheads="1"/>
            </p:cNvSpPr>
            <p:nvPr/>
          </p:nvSpPr>
          <p:spPr bwMode="auto">
            <a:xfrm>
              <a:off x="4466" y="2731"/>
              <a:ext cx="33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9357" rIns="94917" bIns="49357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3600" b="1" dirty="0">
                  <a:latin typeface="Times New Roman" pitchFamily="18" charset="0"/>
                  <a:ea typeface="+mn-ea"/>
                  <a:cs typeface="Times New Roman" pitchFamily="18" charset="0"/>
                </a:rPr>
                <a:t>81</a:t>
              </a:r>
            </a:p>
          </p:txBody>
        </p:sp>
        <p:sp>
          <p:nvSpPr>
            <p:cNvPr id="36874" name="Text Box 44"/>
            <p:cNvSpPr txBox="1">
              <a:spLocks noChangeArrowheads="1"/>
            </p:cNvSpPr>
            <p:nvPr/>
          </p:nvSpPr>
          <p:spPr bwMode="auto">
            <a:xfrm>
              <a:off x="864" y="2199"/>
              <a:ext cx="906" cy="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9357" rIns="94917" bIns="49357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latin typeface="Times New Roman" pitchFamily="18" charset="0"/>
                  <a:ea typeface="+mn-ea"/>
                  <a:cs typeface="Times New Roman" pitchFamily="18" charset="0"/>
                </a:rPr>
                <a:t>………………</a:t>
              </a:r>
            </a:p>
          </p:txBody>
        </p:sp>
      </p:grpSp>
      <p:sp>
        <p:nvSpPr>
          <p:cNvPr id="47" name="Rectangle 6">
            <a:extLst>
              <a:ext uri="{FF2B5EF4-FFF2-40B4-BE49-F238E27FC236}">
                <a16:creationId xmlns:a16="http://schemas.microsoft.com/office/drawing/2014/main" id="{E02C9274-5556-41E8-B9F0-21CA050C1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思  考  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87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57"/>
          <p:cNvGrpSpPr/>
          <p:nvPr/>
        </p:nvGrpSpPr>
        <p:grpSpPr bwMode="auto">
          <a:xfrm>
            <a:off x="4478903" y="964223"/>
            <a:ext cx="3900943" cy="3838996"/>
            <a:chOff x="0" y="0"/>
            <a:chExt cx="4846320" cy="4437330"/>
          </a:xfrm>
        </p:grpSpPr>
        <p:sp>
          <p:nvSpPr>
            <p:cNvPr id="2060" name="Freeform 5"/>
            <p:cNvSpPr>
              <a:spLocks noChangeArrowheads="1"/>
            </p:cNvSpPr>
            <p:nvPr/>
          </p:nvSpPr>
          <p:spPr bwMode="auto">
            <a:xfrm>
              <a:off x="400195" y="2192278"/>
              <a:ext cx="4446125" cy="738822"/>
            </a:xfrm>
            <a:custGeom>
              <a:avLst/>
              <a:gdLst>
                <a:gd name="T0" fmla="*/ 4297834 w 1709"/>
                <a:gd name="T1" fmla="*/ 738822 h 284"/>
                <a:gd name="T2" fmla="*/ 148291 w 1709"/>
                <a:gd name="T3" fmla="*/ 738822 h 284"/>
                <a:gd name="T4" fmla="*/ 0 w 1709"/>
                <a:gd name="T5" fmla="*/ 590537 h 284"/>
                <a:gd name="T6" fmla="*/ 0 w 1709"/>
                <a:gd name="T7" fmla="*/ 145683 h 284"/>
                <a:gd name="T8" fmla="*/ 148291 w 1709"/>
                <a:gd name="T9" fmla="*/ 0 h 284"/>
                <a:gd name="T10" fmla="*/ 4297834 w 1709"/>
                <a:gd name="T11" fmla="*/ 0 h 284"/>
                <a:gd name="T12" fmla="*/ 4446125 w 1709"/>
                <a:gd name="T13" fmla="*/ 145683 h 284"/>
                <a:gd name="T14" fmla="*/ 4446125 w 1709"/>
                <a:gd name="T15" fmla="*/ 590537 h 284"/>
                <a:gd name="T16" fmla="*/ 4297834 w 1709"/>
                <a:gd name="T17" fmla="*/ 738822 h 2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09"/>
                <a:gd name="T28" fmla="*/ 0 h 284"/>
                <a:gd name="T29" fmla="*/ 1709 w 1709"/>
                <a:gd name="T30" fmla="*/ 284 h 2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09" h="284">
                  <a:moveTo>
                    <a:pt x="1652" y="284"/>
                  </a:moveTo>
                  <a:cubicBezTo>
                    <a:pt x="57" y="284"/>
                    <a:pt x="57" y="284"/>
                    <a:pt x="57" y="284"/>
                  </a:cubicBezTo>
                  <a:cubicBezTo>
                    <a:pt x="26" y="284"/>
                    <a:pt x="0" y="258"/>
                    <a:pt x="0" y="22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1652" y="0"/>
                    <a:pt x="1652" y="0"/>
                    <a:pt x="1652" y="0"/>
                  </a:cubicBezTo>
                  <a:cubicBezTo>
                    <a:pt x="1683" y="0"/>
                    <a:pt x="1709" y="25"/>
                    <a:pt x="1709" y="56"/>
                  </a:cubicBezTo>
                  <a:cubicBezTo>
                    <a:pt x="1709" y="227"/>
                    <a:pt x="1709" y="227"/>
                    <a:pt x="1709" y="227"/>
                  </a:cubicBezTo>
                  <a:cubicBezTo>
                    <a:pt x="1709" y="258"/>
                    <a:pt x="1683" y="284"/>
                    <a:pt x="1652" y="284"/>
                  </a:cubicBez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Rectangle 6"/>
            <p:cNvSpPr>
              <a:spLocks noChangeArrowheads="1"/>
            </p:cNvSpPr>
            <p:nvPr/>
          </p:nvSpPr>
          <p:spPr bwMode="auto">
            <a:xfrm>
              <a:off x="400195" y="2561689"/>
              <a:ext cx="4446125" cy="369411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2" name="Freeform 7"/>
            <p:cNvSpPr>
              <a:spLocks noChangeArrowheads="1"/>
            </p:cNvSpPr>
            <p:nvPr/>
          </p:nvSpPr>
          <p:spPr bwMode="auto">
            <a:xfrm>
              <a:off x="931224" y="2237355"/>
              <a:ext cx="531029" cy="626679"/>
            </a:xfrm>
            <a:custGeom>
              <a:avLst/>
              <a:gdLst>
                <a:gd name="T0" fmla="*/ 484174 w 204"/>
                <a:gd name="T1" fmla="*/ 626679 h 241"/>
                <a:gd name="T2" fmla="*/ 46856 w 204"/>
                <a:gd name="T3" fmla="*/ 626679 h 241"/>
                <a:gd name="T4" fmla="*/ 0 w 204"/>
                <a:gd name="T5" fmla="*/ 579873 h 241"/>
                <a:gd name="T6" fmla="*/ 0 w 204"/>
                <a:gd name="T7" fmla="*/ 44206 h 241"/>
                <a:gd name="T8" fmla="*/ 46856 w 204"/>
                <a:gd name="T9" fmla="*/ 0 h 241"/>
                <a:gd name="T10" fmla="*/ 484174 w 204"/>
                <a:gd name="T11" fmla="*/ 0 h 241"/>
                <a:gd name="T12" fmla="*/ 531029 w 204"/>
                <a:gd name="T13" fmla="*/ 44206 h 241"/>
                <a:gd name="T14" fmla="*/ 531029 w 204"/>
                <a:gd name="T15" fmla="*/ 579873 h 241"/>
                <a:gd name="T16" fmla="*/ 484174 w 204"/>
                <a:gd name="T17" fmla="*/ 626679 h 2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04"/>
                <a:gd name="T28" fmla="*/ 0 h 241"/>
                <a:gd name="T29" fmla="*/ 204 w 204"/>
                <a:gd name="T30" fmla="*/ 241 h 24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04" h="241">
                  <a:moveTo>
                    <a:pt x="186" y="241"/>
                  </a:moveTo>
                  <a:cubicBezTo>
                    <a:pt x="18" y="241"/>
                    <a:pt x="18" y="241"/>
                    <a:pt x="18" y="241"/>
                  </a:cubicBezTo>
                  <a:cubicBezTo>
                    <a:pt x="8" y="241"/>
                    <a:pt x="0" y="233"/>
                    <a:pt x="0" y="22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96" y="0"/>
                    <a:pt x="204" y="8"/>
                    <a:pt x="204" y="17"/>
                  </a:cubicBezTo>
                  <a:cubicBezTo>
                    <a:pt x="204" y="223"/>
                    <a:pt x="204" y="223"/>
                    <a:pt x="204" y="223"/>
                  </a:cubicBezTo>
                  <a:cubicBezTo>
                    <a:pt x="204" y="233"/>
                    <a:pt x="196" y="241"/>
                    <a:pt x="186" y="2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" name="Freeform 8"/>
            <p:cNvSpPr>
              <a:spLocks noChangeArrowheads="1"/>
            </p:cNvSpPr>
            <p:nvPr/>
          </p:nvSpPr>
          <p:spPr bwMode="auto">
            <a:xfrm>
              <a:off x="0" y="2931100"/>
              <a:ext cx="4682504" cy="1134619"/>
            </a:xfrm>
            <a:custGeom>
              <a:avLst/>
              <a:gdLst>
                <a:gd name="T0" fmla="*/ 4461386 w 1800"/>
                <a:gd name="T1" fmla="*/ 1038333 h 436"/>
                <a:gd name="T2" fmla="*/ 4461386 w 1800"/>
                <a:gd name="T3" fmla="*/ 96286 h 436"/>
                <a:gd name="T4" fmla="*/ 4682504 w 1800"/>
                <a:gd name="T5" fmla="*/ 96286 h 436"/>
                <a:gd name="T6" fmla="*/ 4682504 w 1800"/>
                <a:gd name="T7" fmla="*/ 0 h 436"/>
                <a:gd name="T8" fmla="*/ 179496 w 1800"/>
                <a:gd name="T9" fmla="*/ 0 h 436"/>
                <a:gd name="T10" fmla="*/ 0 w 1800"/>
                <a:gd name="T11" fmla="*/ 176959 h 436"/>
                <a:gd name="T12" fmla="*/ 0 w 1800"/>
                <a:gd name="T13" fmla="*/ 957660 h 436"/>
                <a:gd name="T14" fmla="*/ 179496 w 1800"/>
                <a:gd name="T15" fmla="*/ 1134619 h 436"/>
                <a:gd name="T16" fmla="*/ 4682504 w 1800"/>
                <a:gd name="T17" fmla="*/ 1134619 h 436"/>
                <a:gd name="T18" fmla="*/ 4682504 w 1800"/>
                <a:gd name="T19" fmla="*/ 1038333 h 436"/>
                <a:gd name="T20" fmla="*/ 4461386 w 1800"/>
                <a:gd name="T21" fmla="*/ 1038333 h 4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00"/>
                <a:gd name="T34" fmla="*/ 0 h 436"/>
                <a:gd name="T35" fmla="*/ 1800 w 1800"/>
                <a:gd name="T36" fmla="*/ 436 h 4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00" h="436">
                  <a:moveTo>
                    <a:pt x="1715" y="399"/>
                  </a:moveTo>
                  <a:cubicBezTo>
                    <a:pt x="1715" y="37"/>
                    <a:pt x="1715" y="37"/>
                    <a:pt x="1715" y="37"/>
                  </a:cubicBezTo>
                  <a:cubicBezTo>
                    <a:pt x="1800" y="37"/>
                    <a:pt x="1800" y="37"/>
                    <a:pt x="1800" y="37"/>
                  </a:cubicBezTo>
                  <a:cubicBezTo>
                    <a:pt x="1800" y="0"/>
                    <a:pt x="1800" y="0"/>
                    <a:pt x="180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1" y="0"/>
                    <a:pt x="0" y="30"/>
                    <a:pt x="0" y="68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0" y="405"/>
                    <a:pt x="31" y="436"/>
                    <a:pt x="69" y="436"/>
                  </a:cubicBezTo>
                  <a:cubicBezTo>
                    <a:pt x="1800" y="436"/>
                    <a:pt x="1800" y="436"/>
                    <a:pt x="1800" y="436"/>
                  </a:cubicBezTo>
                  <a:cubicBezTo>
                    <a:pt x="1800" y="399"/>
                    <a:pt x="1800" y="399"/>
                    <a:pt x="1800" y="399"/>
                  </a:cubicBezTo>
                  <a:lnTo>
                    <a:pt x="1715" y="3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" name="Freeform 9"/>
            <p:cNvSpPr>
              <a:spLocks noChangeArrowheads="1"/>
            </p:cNvSpPr>
            <p:nvPr/>
          </p:nvSpPr>
          <p:spPr bwMode="auto">
            <a:xfrm>
              <a:off x="119839" y="3027851"/>
              <a:ext cx="4446125" cy="941118"/>
            </a:xfrm>
            <a:custGeom>
              <a:avLst/>
              <a:gdLst>
                <a:gd name="T0" fmla="*/ 4446125 w 1709"/>
                <a:gd name="T1" fmla="*/ 0 h 362"/>
                <a:gd name="T2" fmla="*/ 166502 w 1709"/>
                <a:gd name="T3" fmla="*/ 0 h 362"/>
                <a:gd name="T4" fmla="*/ 0 w 1709"/>
                <a:gd name="T5" fmla="*/ 145587 h 362"/>
                <a:gd name="T6" fmla="*/ 0 w 1709"/>
                <a:gd name="T7" fmla="*/ 792931 h 362"/>
                <a:gd name="T8" fmla="*/ 166502 w 1709"/>
                <a:gd name="T9" fmla="*/ 941118 h 362"/>
                <a:gd name="T10" fmla="*/ 4446125 w 1709"/>
                <a:gd name="T11" fmla="*/ 941118 h 362"/>
                <a:gd name="T12" fmla="*/ 4446125 w 1709"/>
                <a:gd name="T13" fmla="*/ 0 h 3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09"/>
                <a:gd name="T22" fmla="*/ 0 h 362"/>
                <a:gd name="T23" fmla="*/ 1709 w 1709"/>
                <a:gd name="T24" fmla="*/ 362 h 3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09" h="362">
                  <a:moveTo>
                    <a:pt x="1709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29" y="0"/>
                    <a:pt x="0" y="25"/>
                    <a:pt x="0" y="56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36"/>
                    <a:pt x="29" y="362"/>
                    <a:pt x="64" y="362"/>
                  </a:cubicBezTo>
                  <a:cubicBezTo>
                    <a:pt x="1709" y="362"/>
                    <a:pt x="1709" y="362"/>
                    <a:pt x="1709" y="362"/>
                  </a:cubicBezTo>
                  <a:lnTo>
                    <a:pt x="17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" name="Rectangle 10"/>
            <p:cNvSpPr>
              <a:spLocks noChangeArrowheads="1"/>
            </p:cNvSpPr>
            <p:nvPr/>
          </p:nvSpPr>
          <p:spPr bwMode="auto">
            <a:xfrm>
              <a:off x="283655" y="3082822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6" name="Rectangle 11"/>
            <p:cNvSpPr>
              <a:spLocks noChangeArrowheads="1"/>
            </p:cNvSpPr>
            <p:nvPr/>
          </p:nvSpPr>
          <p:spPr bwMode="auto">
            <a:xfrm>
              <a:off x="283655" y="3155385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7" name="Rectangle 12"/>
            <p:cNvSpPr>
              <a:spLocks noChangeArrowheads="1"/>
            </p:cNvSpPr>
            <p:nvPr/>
          </p:nvSpPr>
          <p:spPr bwMode="auto">
            <a:xfrm>
              <a:off x="283655" y="3227948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8" name="Rectangle 13"/>
            <p:cNvSpPr>
              <a:spLocks noChangeArrowheads="1"/>
            </p:cNvSpPr>
            <p:nvPr/>
          </p:nvSpPr>
          <p:spPr bwMode="auto">
            <a:xfrm>
              <a:off x="283655" y="3303810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9" name="Rectangle 14"/>
            <p:cNvSpPr>
              <a:spLocks noChangeArrowheads="1"/>
            </p:cNvSpPr>
            <p:nvPr/>
          </p:nvSpPr>
          <p:spPr bwMode="auto">
            <a:xfrm>
              <a:off x="283655" y="3376373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0" name="Rectangle 15"/>
            <p:cNvSpPr>
              <a:spLocks noChangeArrowheads="1"/>
            </p:cNvSpPr>
            <p:nvPr/>
          </p:nvSpPr>
          <p:spPr bwMode="auto">
            <a:xfrm>
              <a:off x="283655" y="3448935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1" name="Rectangle 16"/>
            <p:cNvSpPr>
              <a:spLocks noChangeArrowheads="1"/>
            </p:cNvSpPr>
            <p:nvPr/>
          </p:nvSpPr>
          <p:spPr bwMode="auto">
            <a:xfrm>
              <a:off x="283655" y="3524796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2" name="Rectangle 17"/>
            <p:cNvSpPr>
              <a:spLocks noChangeArrowheads="1"/>
            </p:cNvSpPr>
            <p:nvPr/>
          </p:nvSpPr>
          <p:spPr bwMode="auto">
            <a:xfrm>
              <a:off x="283655" y="3597359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3" name="Rectangle 18"/>
            <p:cNvSpPr>
              <a:spLocks noChangeArrowheads="1"/>
            </p:cNvSpPr>
            <p:nvPr/>
          </p:nvSpPr>
          <p:spPr bwMode="auto">
            <a:xfrm>
              <a:off x="283655" y="3669922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4" name="Rectangle 19"/>
            <p:cNvSpPr>
              <a:spLocks noChangeArrowheads="1"/>
            </p:cNvSpPr>
            <p:nvPr/>
          </p:nvSpPr>
          <p:spPr bwMode="auto">
            <a:xfrm>
              <a:off x="283655" y="3745784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5" name="Rectangle 20"/>
            <p:cNvSpPr>
              <a:spLocks noChangeArrowheads="1"/>
            </p:cNvSpPr>
            <p:nvPr/>
          </p:nvSpPr>
          <p:spPr bwMode="auto">
            <a:xfrm>
              <a:off x="283655" y="3818346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6" name="Rectangle 21"/>
            <p:cNvSpPr>
              <a:spLocks noChangeArrowheads="1"/>
            </p:cNvSpPr>
            <p:nvPr/>
          </p:nvSpPr>
          <p:spPr bwMode="auto">
            <a:xfrm>
              <a:off x="283655" y="3890909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7" name="Freeform 22"/>
            <p:cNvSpPr>
              <a:spLocks noChangeArrowheads="1"/>
            </p:cNvSpPr>
            <p:nvPr/>
          </p:nvSpPr>
          <p:spPr bwMode="auto">
            <a:xfrm>
              <a:off x="283655" y="3473123"/>
              <a:ext cx="683850" cy="964207"/>
            </a:xfrm>
            <a:custGeom>
              <a:avLst/>
              <a:gdLst>
                <a:gd name="T0" fmla="*/ 0 w 622"/>
                <a:gd name="T1" fmla="*/ 0 h 877"/>
                <a:gd name="T2" fmla="*/ 683850 w 622"/>
                <a:gd name="T3" fmla="*/ 0 h 877"/>
                <a:gd name="T4" fmla="*/ 683850 w 622"/>
                <a:gd name="T5" fmla="*/ 964207 h 877"/>
                <a:gd name="T6" fmla="*/ 343024 w 622"/>
                <a:gd name="T7" fmla="*/ 714635 h 877"/>
                <a:gd name="T8" fmla="*/ 0 w 622"/>
                <a:gd name="T9" fmla="*/ 964207 h 877"/>
                <a:gd name="T10" fmla="*/ 0 w 622"/>
                <a:gd name="T11" fmla="*/ 0 h 8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2"/>
                <a:gd name="T19" fmla="*/ 0 h 877"/>
                <a:gd name="T20" fmla="*/ 622 w 622"/>
                <a:gd name="T21" fmla="*/ 877 h 8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2" h="877">
                  <a:moveTo>
                    <a:pt x="0" y="0"/>
                  </a:moveTo>
                  <a:lnTo>
                    <a:pt x="622" y="0"/>
                  </a:lnTo>
                  <a:lnTo>
                    <a:pt x="622" y="877"/>
                  </a:lnTo>
                  <a:lnTo>
                    <a:pt x="312" y="650"/>
                  </a:lnTo>
                  <a:lnTo>
                    <a:pt x="0" y="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" name="Rectangle 23"/>
            <p:cNvSpPr>
              <a:spLocks noChangeArrowheads="1"/>
            </p:cNvSpPr>
            <p:nvPr/>
          </p:nvSpPr>
          <p:spPr bwMode="auto">
            <a:xfrm>
              <a:off x="283655" y="3473123"/>
              <a:ext cx="683850" cy="196800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9" name="Freeform 24"/>
            <p:cNvSpPr>
              <a:spLocks noChangeArrowheads="1"/>
            </p:cNvSpPr>
            <p:nvPr/>
          </p:nvSpPr>
          <p:spPr bwMode="auto">
            <a:xfrm>
              <a:off x="967505" y="2723307"/>
              <a:ext cx="458466" cy="101148"/>
            </a:xfrm>
            <a:custGeom>
              <a:avLst/>
              <a:gdLst>
                <a:gd name="T0" fmla="*/ 408973 w 176"/>
                <a:gd name="T1" fmla="*/ 0 h 39"/>
                <a:gd name="T2" fmla="*/ 49493 w 176"/>
                <a:gd name="T3" fmla="*/ 0 h 39"/>
                <a:gd name="T4" fmla="*/ 0 w 176"/>
                <a:gd name="T5" fmla="*/ 49277 h 39"/>
                <a:gd name="T6" fmla="*/ 0 w 176"/>
                <a:gd name="T7" fmla="*/ 51871 h 39"/>
                <a:gd name="T8" fmla="*/ 49493 w 176"/>
                <a:gd name="T9" fmla="*/ 101148 h 39"/>
                <a:gd name="T10" fmla="*/ 408973 w 176"/>
                <a:gd name="T11" fmla="*/ 101148 h 39"/>
                <a:gd name="T12" fmla="*/ 458466 w 176"/>
                <a:gd name="T13" fmla="*/ 51871 h 39"/>
                <a:gd name="T14" fmla="*/ 458466 w 176"/>
                <a:gd name="T15" fmla="*/ 49277 h 39"/>
                <a:gd name="T16" fmla="*/ 408973 w 176"/>
                <a:gd name="T17" fmla="*/ 0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6"/>
                <a:gd name="T28" fmla="*/ 0 h 39"/>
                <a:gd name="T29" fmla="*/ 176 w 176"/>
                <a:gd name="T30" fmla="*/ 39 h 3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6" h="39">
                  <a:moveTo>
                    <a:pt x="157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30"/>
                    <a:pt x="9" y="39"/>
                    <a:pt x="19" y="39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68" y="39"/>
                    <a:pt x="176" y="30"/>
                    <a:pt x="176" y="20"/>
                  </a:cubicBezTo>
                  <a:cubicBezTo>
                    <a:pt x="176" y="19"/>
                    <a:pt x="176" y="19"/>
                    <a:pt x="176" y="19"/>
                  </a:cubicBezTo>
                  <a:cubicBezTo>
                    <a:pt x="176" y="8"/>
                    <a:pt x="168" y="0"/>
                    <a:pt x="15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" name="Freeform 25"/>
            <p:cNvSpPr>
              <a:spLocks noChangeArrowheads="1"/>
            </p:cNvSpPr>
            <p:nvPr/>
          </p:nvSpPr>
          <p:spPr bwMode="auto">
            <a:xfrm>
              <a:off x="967505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1" name="Freeform 26"/>
            <p:cNvSpPr>
              <a:spLocks noChangeArrowheads="1"/>
            </p:cNvSpPr>
            <p:nvPr/>
          </p:nvSpPr>
          <p:spPr bwMode="auto">
            <a:xfrm>
              <a:off x="1053261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2" name="Freeform 27"/>
            <p:cNvSpPr>
              <a:spLocks noChangeArrowheads="1"/>
            </p:cNvSpPr>
            <p:nvPr/>
          </p:nvSpPr>
          <p:spPr bwMode="auto">
            <a:xfrm>
              <a:off x="1146714" y="2291228"/>
              <a:ext cx="34083" cy="397996"/>
            </a:xfrm>
            <a:custGeom>
              <a:avLst/>
              <a:gdLst>
                <a:gd name="T0" fmla="*/ 18352 w 13"/>
                <a:gd name="T1" fmla="*/ 397996 h 153"/>
                <a:gd name="T2" fmla="*/ 18352 w 13"/>
                <a:gd name="T3" fmla="*/ 397996 h 153"/>
                <a:gd name="T4" fmla="*/ 0 w 13"/>
                <a:gd name="T5" fmla="*/ 379787 h 153"/>
                <a:gd name="T6" fmla="*/ 0 w 13"/>
                <a:gd name="T7" fmla="*/ 18209 h 153"/>
                <a:gd name="T8" fmla="*/ 18352 w 13"/>
                <a:gd name="T9" fmla="*/ 0 h 153"/>
                <a:gd name="T10" fmla="*/ 18352 w 13"/>
                <a:gd name="T11" fmla="*/ 0 h 153"/>
                <a:gd name="T12" fmla="*/ 34083 w 13"/>
                <a:gd name="T13" fmla="*/ 18209 h 153"/>
                <a:gd name="T14" fmla="*/ 34083 w 13"/>
                <a:gd name="T15" fmla="*/ 379787 h 153"/>
                <a:gd name="T16" fmla="*/ 18352 w 13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"/>
                <a:gd name="T28" fmla="*/ 0 h 153"/>
                <a:gd name="T29" fmla="*/ 13 w 13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3" y="3"/>
                    <a:pt x="13" y="7"/>
                  </a:cubicBezTo>
                  <a:cubicBezTo>
                    <a:pt x="13" y="146"/>
                    <a:pt x="13" y="146"/>
                    <a:pt x="13" y="146"/>
                  </a:cubicBezTo>
                  <a:cubicBezTo>
                    <a:pt x="13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3" name="Freeform 28"/>
            <p:cNvSpPr>
              <a:spLocks noChangeArrowheads="1"/>
            </p:cNvSpPr>
            <p:nvPr/>
          </p:nvSpPr>
          <p:spPr bwMode="auto">
            <a:xfrm>
              <a:off x="1365501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4" name="Freeform 29"/>
            <p:cNvSpPr>
              <a:spLocks noChangeArrowheads="1"/>
            </p:cNvSpPr>
            <p:nvPr/>
          </p:nvSpPr>
          <p:spPr bwMode="auto">
            <a:xfrm>
              <a:off x="626679" y="0"/>
              <a:ext cx="1550207" cy="2192278"/>
            </a:xfrm>
            <a:custGeom>
              <a:avLst/>
              <a:gdLst>
                <a:gd name="T0" fmla="*/ 1550207 w 1410"/>
                <a:gd name="T1" fmla="*/ 2192278 h 1994"/>
                <a:gd name="T2" fmla="*/ 0 w 1410"/>
                <a:gd name="T3" fmla="*/ 2192278 h 1994"/>
                <a:gd name="T4" fmla="*/ 0 w 1410"/>
                <a:gd name="T5" fmla="*/ 0 h 1994"/>
                <a:gd name="T6" fmla="*/ 1550207 w 1410"/>
                <a:gd name="T7" fmla="*/ 228683 h 1994"/>
                <a:gd name="T8" fmla="*/ 1550207 w 1410"/>
                <a:gd name="T9" fmla="*/ 2192278 h 19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10"/>
                <a:gd name="T16" fmla="*/ 0 h 1994"/>
                <a:gd name="T17" fmla="*/ 1410 w 1410"/>
                <a:gd name="T18" fmla="*/ 1994 h 19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10" h="1994">
                  <a:moveTo>
                    <a:pt x="1410" y="1994"/>
                  </a:moveTo>
                  <a:lnTo>
                    <a:pt x="0" y="1994"/>
                  </a:lnTo>
                  <a:lnTo>
                    <a:pt x="0" y="0"/>
                  </a:lnTo>
                  <a:lnTo>
                    <a:pt x="1410" y="208"/>
                  </a:lnTo>
                  <a:lnTo>
                    <a:pt x="1410" y="1994"/>
                  </a:ln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5" name="Freeform 30"/>
            <p:cNvSpPr>
              <a:spLocks noChangeArrowheads="1"/>
            </p:cNvSpPr>
            <p:nvPr/>
          </p:nvSpPr>
          <p:spPr bwMode="auto">
            <a:xfrm>
              <a:off x="790496" y="93453"/>
              <a:ext cx="1386391" cy="2098826"/>
            </a:xfrm>
            <a:custGeom>
              <a:avLst/>
              <a:gdLst>
                <a:gd name="T0" fmla="*/ 0 w 1261"/>
                <a:gd name="T1" fmla="*/ 0 h 1909"/>
                <a:gd name="T2" fmla="*/ 1386391 w 1261"/>
                <a:gd name="T3" fmla="*/ 218788 h 1909"/>
                <a:gd name="T4" fmla="*/ 1386391 w 1261"/>
                <a:gd name="T5" fmla="*/ 2098826 h 1909"/>
                <a:gd name="T6" fmla="*/ 0 w 1261"/>
                <a:gd name="T7" fmla="*/ 2098826 h 1909"/>
                <a:gd name="T8" fmla="*/ 0 w 1261"/>
                <a:gd name="T9" fmla="*/ 0 h 19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61"/>
                <a:gd name="T16" fmla="*/ 0 h 1909"/>
                <a:gd name="T17" fmla="*/ 1261 w 1261"/>
                <a:gd name="T18" fmla="*/ 1909 h 19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61" h="1909">
                  <a:moveTo>
                    <a:pt x="0" y="0"/>
                  </a:moveTo>
                  <a:lnTo>
                    <a:pt x="1261" y="199"/>
                  </a:lnTo>
                  <a:lnTo>
                    <a:pt x="1261" y="1909"/>
                  </a:lnTo>
                  <a:lnTo>
                    <a:pt x="0" y="1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6" name="Rectangle 31"/>
            <p:cNvSpPr>
              <a:spLocks noChangeArrowheads="1"/>
            </p:cNvSpPr>
            <p:nvPr/>
          </p:nvSpPr>
          <p:spPr bwMode="auto">
            <a:xfrm>
              <a:off x="2176886" y="230882"/>
              <a:ext cx="1776691" cy="1961396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7" name="Rectangle 32"/>
            <p:cNvSpPr>
              <a:spLocks noChangeArrowheads="1"/>
            </p:cNvSpPr>
            <p:nvPr/>
          </p:nvSpPr>
          <p:spPr bwMode="auto">
            <a:xfrm>
              <a:off x="2176886" y="230882"/>
              <a:ext cx="1776691" cy="196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8" name="Rectangle 33"/>
            <p:cNvSpPr>
              <a:spLocks noChangeArrowheads="1"/>
            </p:cNvSpPr>
            <p:nvPr/>
          </p:nvSpPr>
          <p:spPr bwMode="auto">
            <a:xfrm>
              <a:off x="2176886" y="312240"/>
              <a:ext cx="1725018" cy="18800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9" name="Rectangle 34"/>
            <p:cNvSpPr>
              <a:spLocks noChangeArrowheads="1"/>
            </p:cNvSpPr>
            <p:nvPr/>
          </p:nvSpPr>
          <p:spPr bwMode="auto">
            <a:xfrm>
              <a:off x="2176886" y="312240"/>
              <a:ext cx="1725018" cy="188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0" name="Rectangle 35"/>
            <p:cNvSpPr>
              <a:spLocks noChangeArrowheads="1"/>
            </p:cNvSpPr>
            <p:nvPr/>
          </p:nvSpPr>
          <p:spPr bwMode="auto">
            <a:xfrm>
              <a:off x="689348" y="93453"/>
              <a:ext cx="101148" cy="2098826"/>
            </a:xfrm>
            <a:prstGeom prst="rect">
              <a:avLst/>
            </a:prstGeom>
            <a:solidFill>
              <a:srgbClr val="CF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1" name="Freeform 36"/>
            <p:cNvSpPr>
              <a:spLocks noChangeArrowheads="1"/>
            </p:cNvSpPr>
            <p:nvPr/>
          </p:nvSpPr>
          <p:spPr bwMode="auto">
            <a:xfrm>
              <a:off x="689348" y="93453"/>
              <a:ext cx="101148" cy="2098826"/>
            </a:xfrm>
            <a:custGeom>
              <a:avLst/>
              <a:gdLst>
                <a:gd name="T0" fmla="*/ 101148 w 92"/>
                <a:gd name="T1" fmla="*/ 0 h 1909"/>
                <a:gd name="T2" fmla="*/ 0 w 92"/>
                <a:gd name="T3" fmla="*/ 0 h 1909"/>
                <a:gd name="T4" fmla="*/ 0 w 92"/>
                <a:gd name="T5" fmla="*/ 2098826 h 1909"/>
                <a:gd name="T6" fmla="*/ 101148 w 92"/>
                <a:gd name="T7" fmla="*/ 2098826 h 19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1909"/>
                <a:gd name="T14" fmla="*/ 92 w 92"/>
                <a:gd name="T15" fmla="*/ 1909 h 19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1909">
                  <a:moveTo>
                    <a:pt x="92" y="0"/>
                  </a:moveTo>
                  <a:lnTo>
                    <a:pt x="0" y="0"/>
                  </a:lnTo>
                  <a:lnTo>
                    <a:pt x="0" y="1909"/>
                  </a:lnTo>
                  <a:lnTo>
                    <a:pt x="92" y="190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2" name="Rectangle 37"/>
            <p:cNvSpPr>
              <a:spLocks noChangeArrowheads="1"/>
            </p:cNvSpPr>
            <p:nvPr/>
          </p:nvSpPr>
          <p:spPr bwMode="auto">
            <a:xfrm>
              <a:off x="2187880" y="312240"/>
              <a:ext cx="67066" cy="1880038"/>
            </a:xfrm>
            <a:prstGeom prst="rect">
              <a:avLst/>
            </a:prstGeom>
            <a:solidFill>
              <a:srgbClr val="EC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3" name="Rectangle 38"/>
            <p:cNvSpPr>
              <a:spLocks noChangeArrowheads="1"/>
            </p:cNvSpPr>
            <p:nvPr/>
          </p:nvSpPr>
          <p:spPr bwMode="auto">
            <a:xfrm>
              <a:off x="2187880" y="312240"/>
              <a:ext cx="67066" cy="188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4" name="Freeform 39"/>
            <p:cNvSpPr>
              <a:spLocks noChangeArrowheads="1"/>
            </p:cNvSpPr>
            <p:nvPr/>
          </p:nvSpPr>
          <p:spPr bwMode="auto">
            <a:xfrm>
              <a:off x="2320913" y="423284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5" name="Freeform 40"/>
            <p:cNvSpPr>
              <a:spLocks noChangeArrowheads="1"/>
            </p:cNvSpPr>
            <p:nvPr/>
          </p:nvSpPr>
          <p:spPr bwMode="auto">
            <a:xfrm>
              <a:off x="2320913" y="512338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6" name="Freeform 41"/>
            <p:cNvSpPr>
              <a:spLocks noChangeArrowheads="1"/>
            </p:cNvSpPr>
            <p:nvPr/>
          </p:nvSpPr>
          <p:spPr bwMode="auto">
            <a:xfrm>
              <a:off x="2320913" y="761910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6039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6039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7" name="Freeform 42"/>
            <p:cNvSpPr>
              <a:spLocks noChangeArrowheads="1"/>
            </p:cNvSpPr>
            <p:nvPr/>
          </p:nvSpPr>
          <p:spPr bwMode="auto">
            <a:xfrm>
              <a:off x="2320913" y="910334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8" name="Freeform 43"/>
            <p:cNvSpPr>
              <a:spLocks noChangeArrowheads="1"/>
            </p:cNvSpPr>
            <p:nvPr/>
          </p:nvSpPr>
          <p:spPr bwMode="auto">
            <a:xfrm>
              <a:off x="2286830" y="1308330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3436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9" name="Freeform 44"/>
            <p:cNvSpPr>
              <a:spLocks noChangeArrowheads="1"/>
            </p:cNvSpPr>
            <p:nvPr/>
          </p:nvSpPr>
          <p:spPr bwMode="auto">
            <a:xfrm>
              <a:off x="2286830" y="1424871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6039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6039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0" name="Freeform 45"/>
            <p:cNvSpPr>
              <a:spLocks noChangeArrowheads="1"/>
            </p:cNvSpPr>
            <p:nvPr/>
          </p:nvSpPr>
          <p:spPr bwMode="auto">
            <a:xfrm>
              <a:off x="2286830" y="1542511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6039 h 19"/>
                <a:gd name="T6" fmla="*/ 0 w 546"/>
                <a:gd name="T7" fmla="*/ 26039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6039 h 19"/>
                <a:gd name="T14" fmla="*/ 1420473 w 546"/>
                <a:gd name="T15" fmla="*/ 26039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10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1" name="Freeform 46"/>
            <p:cNvSpPr>
              <a:spLocks noChangeArrowheads="1"/>
            </p:cNvSpPr>
            <p:nvPr/>
          </p:nvSpPr>
          <p:spPr bwMode="auto">
            <a:xfrm>
              <a:off x="2286830" y="1666747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3436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2" name="Freeform 47"/>
            <p:cNvSpPr>
              <a:spLocks noChangeArrowheads="1"/>
            </p:cNvSpPr>
            <p:nvPr/>
          </p:nvSpPr>
          <p:spPr bwMode="auto">
            <a:xfrm>
              <a:off x="918031" y="1576593"/>
              <a:ext cx="1161006" cy="131932"/>
            </a:xfrm>
            <a:custGeom>
              <a:avLst/>
              <a:gdLst>
                <a:gd name="T0" fmla="*/ 1137578 w 446"/>
                <a:gd name="T1" fmla="*/ 0 h 51"/>
                <a:gd name="T2" fmla="*/ 23428 w 446"/>
                <a:gd name="T3" fmla="*/ 77607 h 51"/>
                <a:gd name="T4" fmla="*/ 0 w 446"/>
                <a:gd name="T5" fmla="*/ 106063 h 51"/>
                <a:gd name="T6" fmla="*/ 23428 w 446"/>
                <a:gd name="T7" fmla="*/ 129345 h 51"/>
                <a:gd name="T8" fmla="*/ 1137578 w 446"/>
                <a:gd name="T9" fmla="*/ 46564 h 51"/>
                <a:gd name="T10" fmla="*/ 1161006 w 446"/>
                <a:gd name="T11" fmla="*/ 20695 h 51"/>
                <a:gd name="T12" fmla="*/ 1137578 w 446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51"/>
                <a:gd name="T23" fmla="*/ 446 w 44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51">
                  <a:moveTo>
                    <a:pt x="437" y="0"/>
                  </a:moveTo>
                  <a:cubicBezTo>
                    <a:pt x="294" y="10"/>
                    <a:pt x="152" y="20"/>
                    <a:pt x="9" y="30"/>
                  </a:cubicBezTo>
                  <a:cubicBezTo>
                    <a:pt x="4" y="31"/>
                    <a:pt x="0" y="36"/>
                    <a:pt x="0" y="41"/>
                  </a:cubicBezTo>
                  <a:cubicBezTo>
                    <a:pt x="0" y="47"/>
                    <a:pt x="4" y="51"/>
                    <a:pt x="9" y="50"/>
                  </a:cubicBezTo>
                  <a:cubicBezTo>
                    <a:pt x="152" y="40"/>
                    <a:pt x="294" y="29"/>
                    <a:pt x="437" y="18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4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3" name="Freeform 48"/>
            <p:cNvSpPr>
              <a:spLocks noChangeArrowheads="1"/>
            </p:cNvSpPr>
            <p:nvPr/>
          </p:nvSpPr>
          <p:spPr bwMode="auto">
            <a:xfrm>
              <a:off x="918031" y="1493036"/>
              <a:ext cx="1161006" cy="122038"/>
            </a:xfrm>
            <a:custGeom>
              <a:avLst/>
              <a:gdLst>
                <a:gd name="T0" fmla="*/ 1137578 w 446"/>
                <a:gd name="T1" fmla="*/ 2597 h 47"/>
                <a:gd name="T2" fmla="*/ 23428 w 446"/>
                <a:gd name="T3" fmla="*/ 67510 h 47"/>
                <a:gd name="T4" fmla="*/ 0 w 446"/>
                <a:gd name="T5" fmla="*/ 96072 h 47"/>
                <a:gd name="T6" fmla="*/ 23428 w 446"/>
                <a:gd name="T7" fmla="*/ 119441 h 47"/>
                <a:gd name="T8" fmla="*/ 1137578 w 446"/>
                <a:gd name="T9" fmla="*/ 46738 h 47"/>
                <a:gd name="T10" fmla="*/ 1161006 w 446"/>
                <a:gd name="T11" fmla="*/ 23369 h 47"/>
                <a:gd name="T12" fmla="*/ 1137578 w 446"/>
                <a:gd name="T13" fmla="*/ 2597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47"/>
                <a:gd name="T23" fmla="*/ 446 w 446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47">
                  <a:moveTo>
                    <a:pt x="437" y="1"/>
                  </a:moveTo>
                  <a:cubicBezTo>
                    <a:pt x="294" y="9"/>
                    <a:pt x="152" y="18"/>
                    <a:pt x="9" y="26"/>
                  </a:cubicBezTo>
                  <a:cubicBezTo>
                    <a:pt x="4" y="26"/>
                    <a:pt x="0" y="31"/>
                    <a:pt x="0" y="37"/>
                  </a:cubicBezTo>
                  <a:cubicBezTo>
                    <a:pt x="0" y="42"/>
                    <a:pt x="4" y="47"/>
                    <a:pt x="9" y="46"/>
                  </a:cubicBezTo>
                  <a:cubicBezTo>
                    <a:pt x="152" y="37"/>
                    <a:pt x="294" y="28"/>
                    <a:pt x="437" y="18"/>
                  </a:cubicBezTo>
                  <a:cubicBezTo>
                    <a:pt x="442" y="18"/>
                    <a:pt x="446" y="14"/>
                    <a:pt x="446" y="9"/>
                  </a:cubicBezTo>
                  <a:cubicBezTo>
                    <a:pt x="446" y="4"/>
                    <a:pt x="442" y="0"/>
                    <a:pt x="437" y="1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4" name="Freeform 49"/>
            <p:cNvSpPr>
              <a:spLocks noChangeArrowheads="1"/>
            </p:cNvSpPr>
            <p:nvPr/>
          </p:nvSpPr>
          <p:spPr bwMode="auto">
            <a:xfrm>
              <a:off x="918031" y="1261055"/>
              <a:ext cx="1161006" cy="85756"/>
            </a:xfrm>
            <a:custGeom>
              <a:avLst/>
              <a:gdLst>
                <a:gd name="T0" fmla="*/ 1137578 w 446"/>
                <a:gd name="T1" fmla="*/ 0 h 33"/>
                <a:gd name="T2" fmla="*/ 23428 w 446"/>
                <a:gd name="T3" fmla="*/ 33783 h 33"/>
                <a:gd name="T4" fmla="*/ 0 w 446"/>
                <a:gd name="T5" fmla="*/ 59769 h 33"/>
                <a:gd name="T6" fmla="*/ 23428 w 446"/>
                <a:gd name="T7" fmla="*/ 85756 h 33"/>
                <a:gd name="T8" fmla="*/ 1137578 w 446"/>
                <a:gd name="T9" fmla="*/ 44177 h 33"/>
                <a:gd name="T10" fmla="*/ 1161006 w 446"/>
                <a:gd name="T11" fmla="*/ 20789 h 33"/>
                <a:gd name="T12" fmla="*/ 1137578 w 446"/>
                <a:gd name="T13" fmla="*/ 0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3"/>
                <a:gd name="T23" fmla="*/ 446 w 446"/>
                <a:gd name="T24" fmla="*/ 33 h 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3">
                  <a:moveTo>
                    <a:pt x="437" y="0"/>
                  </a:moveTo>
                  <a:cubicBezTo>
                    <a:pt x="294" y="4"/>
                    <a:pt x="152" y="8"/>
                    <a:pt x="9" y="13"/>
                  </a:cubicBezTo>
                  <a:cubicBezTo>
                    <a:pt x="4" y="13"/>
                    <a:pt x="0" y="17"/>
                    <a:pt x="0" y="23"/>
                  </a:cubicBezTo>
                  <a:cubicBezTo>
                    <a:pt x="0" y="29"/>
                    <a:pt x="4" y="33"/>
                    <a:pt x="9" y="33"/>
                  </a:cubicBezTo>
                  <a:cubicBezTo>
                    <a:pt x="152" y="28"/>
                    <a:pt x="294" y="22"/>
                    <a:pt x="437" y="17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3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5" name="Freeform 50"/>
            <p:cNvSpPr>
              <a:spLocks noChangeArrowheads="1"/>
            </p:cNvSpPr>
            <p:nvPr/>
          </p:nvSpPr>
          <p:spPr bwMode="auto">
            <a:xfrm>
              <a:off x="918031" y="1123625"/>
              <a:ext cx="1161006" cy="67066"/>
            </a:xfrm>
            <a:custGeom>
              <a:avLst/>
              <a:gdLst>
                <a:gd name="T0" fmla="*/ 1137578 w 446"/>
                <a:gd name="T1" fmla="*/ 0 h 26"/>
                <a:gd name="T2" fmla="*/ 23428 w 446"/>
                <a:gd name="T3" fmla="*/ 12897 h 26"/>
                <a:gd name="T4" fmla="*/ 0 w 446"/>
                <a:gd name="T5" fmla="*/ 41271 h 26"/>
                <a:gd name="T6" fmla="*/ 23428 w 446"/>
                <a:gd name="T7" fmla="*/ 64487 h 26"/>
                <a:gd name="T8" fmla="*/ 1137578 w 446"/>
                <a:gd name="T9" fmla="*/ 43851 h 26"/>
                <a:gd name="T10" fmla="*/ 1161006 w 446"/>
                <a:gd name="T11" fmla="*/ 20636 h 26"/>
                <a:gd name="T12" fmla="*/ 1137578 w 446"/>
                <a:gd name="T13" fmla="*/ 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26"/>
                <a:gd name="T23" fmla="*/ 446 w 446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26">
                  <a:moveTo>
                    <a:pt x="437" y="0"/>
                  </a:moveTo>
                  <a:cubicBezTo>
                    <a:pt x="294" y="2"/>
                    <a:pt x="152" y="3"/>
                    <a:pt x="9" y="5"/>
                  </a:cubicBezTo>
                  <a:cubicBezTo>
                    <a:pt x="4" y="5"/>
                    <a:pt x="0" y="10"/>
                    <a:pt x="0" y="16"/>
                  </a:cubicBezTo>
                  <a:cubicBezTo>
                    <a:pt x="0" y="21"/>
                    <a:pt x="4" y="26"/>
                    <a:pt x="9" y="25"/>
                  </a:cubicBezTo>
                  <a:cubicBezTo>
                    <a:pt x="152" y="23"/>
                    <a:pt x="294" y="20"/>
                    <a:pt x="437" y="17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4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6" name="Freeform 51"/>
            <p:cNvSpPr>
              <a:spLocks noChangeArrowheads="1"/>
            </p:cNvSpPr>
            <p:nvPr/>
          </p:nvSpPr>
          <p:spPr bwMode="auto">
            <a:xfrm>
              <a:off x="889445" y="712435"/>
              <a:ext cx="1159907" cy="83557"/>
            </a:xfrm>
            <a:custGeom>
              <a:avLst/>
              <a:gdLst>
                <a:gd name="T0" fmla="*/ 1136501 w 446"/>
                <a:gd name="T1" fmla="*/ 39167 h 32"/>
                <a:gd name="T2" fmla="*/ 26007 w 446"/>
                <a:gd name="T3" fmla="*/ 0 h 32"/>
                <a:gd name="T4" fmla="*/ 0 w 446"/>
                <a:gd name="T5" fmla="*/ 26112 h 32"/>
                <a:gd name="T6" fmla="*/ 26007 w 446"/>
                <a:gd name="T7" fmla="*/ 52223 h 32"/>
                <a:gd name="T8" fmla="*/ 1136501 w 446"/>
                <a:gd name="T9" fmla="*/ 83557 h 32"/>
                <a:gd name="T10" fmla="*/ 1159907 w 446"/>
                <a:gd name="T11" fmla="*/ 62668 h 32"/>
                <a:gd name="T12" fmla="*/ 1136501 w 446"/>
                <a:gd name="T13" fmla="*/ 3916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2"/>
                <a:gd name="T23" fmla="*/ 446 w 446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2">
                  <a:moveTo>
                    <a:pt x="437" y="15"/>
                  </a:moveTo>
                  <a:cubicBezTo>
                    <a:pt x="294" y="10"/>
                    <a:pt x="152" y="5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52" y="24"/>
                    <a:pt x="294" y="28"/>
                    <a:pt x="437" y="32"/>
                  </a:cubicBezTo>
                  <a:cubicBezTo>
                    <a:pt x="442" y="32"/>
                    <a:pt x="446" y="29"/>
                    <a:pt x="446" y="24"/>
                  </a:cubicBezTo>
                  <a:cubicBezTo>
                    <a:pt x="446" y="19"/>
                    <a:pt x="442" y="15"/>
                    <a:pt x="437" y="15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7" name="Freeform 52"/>
            <p:cNvSpPr>
              <a:spLocks noChangeArrowheads="1"/>
            </p:cNvSpPr>
            <p:nvPr/>
          </p:nvSpPr>
          <p:spPr bwMode="auto">
            <a:xfrm>
              <a:off x="889445" y="587100"/>
              <a:ext cx="1159907" cy="98949"/>
            </a:xfrm>
            <a:custGeom>
              <a:avLst/>
              <a:gdLst>
                <a:gd name="T0" fmla="*/ 1136501 w 446"/>
                <a:gd name="T1" fmla="*/ 52078 h 38"/>
                <a:gd name="T2" fmla="*/ 26007 w 446"/>
                <a:gd name="T3" fmla="*/ 0 h 38"/>
                <a:gd name="T4" fmla="*/ 0 w 446"/>
                <a:gd name="T5" fmla="*/ 23435 h 38"/>
                <a:gd name="T6" fmla="*/ 26007 w 446"/>
                <a:gd name="T7" fmla="*/ 52078 h 38"/>
                <a:gd name="T8" fmla="*/ 1136501 w 446"/>
                <a:gd name="T9" fmla="*/ 98949 h 38"/>
                <a:gd name="T10" fmla="*/ 1159907 w 446"/>
                <a:gd name="T11" fmla="*/ 75514 h 38"/>
                <a:gd name="T12" fmla="*/ 1136501 w 446"/>
                <a:gd name="T13" fmla="*/ 5207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8"/>
                <a:gd name="T23" fmla="*/ 446 w 446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8">
                  <a:moveTo>
                    <a:pt x="437" y="20"/>
                  </a:moveTo>
                  <a:cubicBezTo>
                    <a:pt x="294" y="13"/>
                    <a:pt x="152" y="7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2" y="26"/>
                    <a:pt x="294" y="32"/>
                    <a:pt x="437" y="38"/>
                  </a:cubicBezTo>
                  <a:cubicBezTo>
                    <a:pt x="442" y="38"/>
                    <a:pt x="446" y="34"/>
                    <a:pt x="446" y="29"/>
                  </a:cubicBezTo>
                  <a:cubicBezTo>
                    <a:pt x="446" y="25"/>
                    <a:pt x="442" y="20"/>
                    <a:pt x="437" y="2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8" name="Freeform 53"/>
            <p:cNvSpPr>
              <a:spLocks noChangeArrowheads="1"/>
            </p:cNvSpPr>
            <p:nvPr/>
          </p:nvSpPr>
          <p:spPr bwMode="auto">
            <a:xfrm>
              <a:off x="889445" y="459565"/>
              <a:ext cx="1159907" cy="117640"/>
            </a:xfrm>
            <a:custGeom>
              <a:avLst/>
              <a:gdLst>
                <a:gd name="T0" fmla="*/ 1136501 w 446"/>
                <a:gd name="T1" fmla="*/ 70584 h 45"/>
                <a:gd name="T2" fmla="*/ 26007 w 446"/>
                <a:gd name="T3" fmla="*/ 0 h 45"/>
                <a:gd name="T4" fmla="*/ 0 w 446"/>
                <a:gd name="T5" fmla="*/ 26142 h 45"/>
                <a:gd name="T6" fmla="*/ 26007 w 446"/>
                <a:gd name="T7" fmla="*/ 54899 h 45"/>
                <a:gd name="T8" fmla="*/ 1136501 w 446"/>
                <a:gd name="T9" fmla="*/ 115026 h 45"/>
                <a:gd name="T10" fmla="*/ 1159907 w 446"/>
                <a:gd name="T11" fmla="*/ 94112 h 45"/>
                <a:gd name="T12" fmla="*/ 1136501 w 446"/>
                <a:gd name="T13" fmla="*/ 705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45"/>
                <a:gd name="T23" fmla="*/ 446 w 446"/>
                <a:gd name="T24" fmla="*/ 45 h 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45">
                  <a:moveTo>
                    <a:pt x="437" y="27"/>
                  </a:moveTo>
                  <a:cubicBezTo>
                    <a:pt x="294" y="18"/>
                    <a:pt x="152" y="9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1"/>
                  </a:cubicBezTo>
                  <a:cubicBezTo>
                    <a:pt x="152" y="29"/>
                    <a:pt x="294" y="36"/>
                    <a:pt x="437" y="44"/>
                  </a:cubicBezTo>
                  <a:cubicBezTo>
                    <a:pt x="442" y="45"/>
                    <a:pt x="446" y="41"/>
                    <a:pt x="446" y="36"/>
                  </a:cubicBezTo>
                  <a:cubicBezTo>
                    <a:pt x="446" y="31"/>
                    <a:pt x="442" y="27"/>
                    <a:pt x="437" y="27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9" name="Freeform 54"/>
            <p:cNvSpPr>
              <a:spLocks noChangeArrowheads="1"/>
            </p:cNvSpPr>
            <p:nvPr/>
          </p:nvSpPr>
          <p:spPr bwMode="auto">
            <a:xfrm>
              <a:off x="889445" y="329831"/>
              <a:ext cx="1159907" cy="133032"/>
            </a:xfrm>
            <a:custGeom>
              <a:avLst/>
              <a:gdLst>
                <a:gd name="T0" fmla="*/ 1136501 w 446"/>
                <a:gd name="T1" fmla="*/ 86080 h 51"/>
                <a:gd name="T2" fmla="*/ 26007 w 446"/>
                <a:gd name="T3" fmla="*/ 0 h 51"/>
                <a:gd name="T4" fmla="*/ 0 w 446"/>
                <a:gd name="T5" fmla="*/ 23476 h 51"/>
                <a:gd name="T6" fmla="*/ 26007 w 446"/>
                <a:gd name="T7" fmla="*/ 52169 h 51"/>
                <a:gd name="T8" fmla="*/ 1136501 w 446"/>
                <a:gd name="T9" fmla="*/ 130424 h 51"/>
                <a:gd name="T10" fmla="*/ 1159907 w 446"/>
                <a:gd name="T11" fmla="*/ 109556 h 51"/>
                <a:gd name="T12" fmla="*/ 1136501 w 446"/>
                <a:gd name="T13" fmla="*/ 8608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51"/>
                <a:gd name="T23" fmla="*/ 446 w 44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51">
                  <a:moveTo>
                    <a:pt x="437" y="33"/>
                  </a:moveTo>
                  <a:cubicBezTo>
                    <a:pt x="294" y="22"/>
                    <a:pt x="152" y="11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2" y="30"/>
                    <a:pt x="294" y="40"/>
                    <a:pt x="437" y="50"/>
                  </a:cubicBezTo>
                  <a:cubicBezTo>
                    <a:pt x="442" y="51"/>
                    <a:pt x="446" y="47"/>
                    <a:pt x="446" y="42"/>
                  </a:cubicBezTo>
                  <a:cubicBezTo>
                    <a:pt x="446" y="37"/>
                    <a:pt x="442" y="33"/>
                    <a:pt x="437" y="3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0" name="Freeform 55"/>
            <p:cNvSpPr>
              <a:spLocks noChangeArrowheads="1"/>
            </p:cNvSpPr>
            <p:nvPr/>
          </p:nvSpPr>
          <p:spPr bwMode="auto">
            <a:xfrm>
              <a:off x="2187880" y="312240"/>
              <a:ext cx="98949" cy="1175299"/>
            </a:xfrm>
            <a:custGeom>
              <a:avLst/>
              <a:gdLst>
                <a:gd name="T0" fmla="*/ 0 w 90"/>
                <a:gd name="T1" fmla="*/ 0 h 1069"/>
                <a:gd name="T2" fmla="*/ 0 w 90"/>
                <a:gd name="T3" fmla="*/ 1175299 h 1069"/>
                <a:gd name="T4" fmla="*/ 49475 w 90"/>
                <a:gd name="T5" fmla="*/ 1136819 h 1069"/>
                <a:gd name="T6" fmla="*/ 98949 w 90"/>
                <a:gd name="T7" fmla="*/ 1175299 h 1069"/>
                <a:gd name="T8" fmla="*/ 98949 w 90"/>
                <a:gd name="T9" fmla="*/ 0 h 1069"/>
                <a:gd name="T10" fmla="*/ 0 w 90"/>
                <a:gd name="T11" fmla="*/ 0 h 10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0"/>
                <a:gd name="T19" fmla="*/ 0 h 1069"/>
                <a:gd name="T20" fmla="*/ 90 w 90"/>
                <a:gd name="T21" fmla="*/ 1069 h 10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0" h="1069">
                  <a:moveTo>
                    <a:pt x="0" y="0"/>
                  </a:moveTo>
                  <a:lnTo>
                    <a:pt x="0" y="1069"/>
                  </a:lnTo>
                  <a:lnTo>
                    <a:pt x="45" y="1034"/>
                  </a:lnTo>
                  <a:lnTo>
                    <a:pt x="90" y="1069"/>
                  </a:lnTo>
                  <a:lnTo>
                    <a:pt x="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1" name="文本框 56"/>
            <p:cNvSpPr>
              <a:spLocks noChangeArrowheads="1"/>
            </p:cNvSpPr>
            <p:nvPr/>
          </p:nvSpPr>
          <p:spPr bwMode="auto">
            <a:xfrm>
              <a:off x="401843" y="3097115"/>
              <a:ext cx="3878816" cy="707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3375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04</a:t>
              </a:r>
            </a:p>
          </p:txBody>
        </p:sp>
      </p:grpSp>
      <p:sp>
        <p:nvSpPr>
          <p:cNvPr id="80" name="TextBox 4"/>
          <p:cNvSpPr txBox="1"/>
          <p:nvPr/>
        </p:nvSpPr>
        <p:spPr>
          <a:xfrm>
            <a:off x="3809708" y="5068679"/>
            <a:ext cx="56440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循环的中断与转移</a:t>
            </a:r>
            <a:endParaRPr lang="en-US" altLang="zh-CN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136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3239820" y="642902"/>
            <a:ext cx="6112079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循环的中断与转移 </a:t>
            </a:r>
          </a:p>
        </p:txBody>
      </p:sp>
      <p:sp>
        <p:nvSpPr>
          <p:cNvPr id="488451" name="Rectangle 3"/>
          <p:cNvSpPr>
            <a:spLocks noChangeArrowheads="1"/>
          </p:cNvSpPr>
          <p:nvPr/>
        </p:nvSpPr>
        <p:spPr bwMode="auto">
          <a:xfrm>
            <a:off x="2036887" y="1600101"/>
            <a:ext cx="7949218" cy="222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itchFamily="2" charset="2"/>
              <a:buChar char="v"/>
            </a:pP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循环中断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</a:pPr>
            <a:r>
              <a:rPr lang="zh-CN" altLang="en-US" sz="3200" b="1" dirty="0">
                <a:solidFill>
                  <a:srgbClr val="FF555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　 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形式：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break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</a:pP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　 作用：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跳出当前循环体，中断当前循环</a:t>
            </a:r>
          </a:p>
        </p:txBody>
      </p:sp>
      <p:sp>
        <p:nvSpPr>
          <p:cNvPr id="488452" name="Rectangle 4"/>
          <p:cNvSpPr>
            <a:spLocks noChangeArrowheads="1"/>
          </p:cNvSpPr>
          <p:nvPr/>
        </p:nvSpPr>
        <p:spPr bwMode="auto">
          <a:xfrm>
            <a:off x="2050280" y="4279921"/>
            <a:ext cx="8505061" cy="222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itchFamily="2" charset="2"/>
              <a:buChar char="v"/>
            </a:pP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循环转移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</a:pPr>
            <a:r>
              <a:rPr lang="zh-CN" altLang="en-US" sz="3200" b="1" dirty="0">
                <a:solidFill>
                  <a:srgbClr val="FF555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　 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形式：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continue;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　 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作用：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结束本次循环，转入循环条件判断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3DE33D-6C22-4636-A913-558FC829A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71" y="88181"/>
            <a:ext cx="216024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 fontScale="77500" lnSpcReduction="20000"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中断与转移</a:t>
            </a:r>
          </a:p>
        </p:txBody>
      </p:sp>
    </p:spTree>
    <p:extLst>
      <p:ext uri="{BB962C8B-B14F-4D97-AF65-F5344CB8AC3E}">
        <p14:creationId xmlns:p14="http://schemas.microsoft.com/office/powerpoint/2010/main" val="393181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8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8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1" grpId="0" build="p" autoUpdateAnimBg="0"/>
      <p:bldP spid="488452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17411" name="Text Box 2"/>
          <p:cNvSpPr txBox="1">
            <a:spLocks noChangeArrowheads="1"/>
          </p:cNvSpPr>
          <p:nvPr/>
        </p:nvSpPr>
        <p:spPr bwMode="auto">
          <a:xfrm>
            <a:off x="2396927" y="303957"/>
            <a:ext cx="9793088" cy="1440160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Autofit/>
          </a:bodyPr>
          <a:lstStyle>
            <a:defPPr>
              <a:defRPr lang="zh-CN"/>
            </a:defPPr>
            <a:lvl1pPr>
              <a:spcBef>
                <a:spcPct val="0"/>
              </a:spcBef>
              <a:defRPr sz="44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r>
              <a:rPr lang="zh-CN" altLang="zh-CN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输出圆面积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，半径从</a:t>
            </a:r>
            <a:r>
              <a:rPr lang="en-US" altLang="zh-CN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开始，不能大于</a:t>
            </a:r>
            <a:r>
              <a:rPr lang="en-US" altLang="zh-CN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面积大于100时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终止。</a:t>
            </a:r>
          </a:p>
        </p:txBody>
      </p:sp>
      <p:sp>
        <p:nvSpPr>
          <p:cNvPr id="489475" name="Text Box 3"/>
          <p:cNvSpPr txBox="1">
            <a:spLocks noChangeArrowheads="1"/>
          </p:cNvSpPr>
          <p:nvPr/>
        </p:nvSpPr>
        <p:spPr bwMode="auto">
          <a:xfrm>
            <a:off x="2324919" y="1744117"/>
            <a:ext cx="8856984" cy="527955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  #define  PI  3.14159</a:t>
            </a:r>
          </a:p>
          <a:p>
            <a:pPr>
              <a:lnSpc>
                <a:spcPct val="85000"/>
              </a:lnSpc>
            </a:pP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  void main(  )</a:t>
            </a:r>
          </a:p>
          <a:p>
            <a:pPr>
              <a:lnSpc>
                <a:spcPct val="85000"/>
              </a:lnSpc>
            </a:pP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   {</a:t>
            </a:r>
            <a:r>
              <a:rPr lang="zh-CN" altLang="en-US" sz="3600" b="1" dirty="0">
                <a:latin typeface="Times New Roman" pitchFamily="18" charset="0"/>
                <a:ea typeface="隶书" pitchFamily="49" charset="-122"/>
              </a:rPr>
              <a:t>　 </a:t>
            </a:r>
            <a:r>
              <a:rPr lang="en-US" altLang="zh-CN" sz="3600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  r;</a:t>
            </a:r>
          </a:p>
          <a:p>
            <a:pPr>
              <a:lnSpc>
                <a:spcPct val="85000"/>
              </a:lnSpc>
            </a:pP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         double  area;</a:t>
            </a:r>
          </a:p>
          <a:p>
            <a:pPr>
              <a:lnSpc>
                <a:spcPct val="85000"/>
              </a:lnSpc>
            </a:pP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         for(r=1;r&lt;=10;r++)</a:t>
            </a:r>
          </a:p>
          <a:p>
            <a:pPr>
              <a:lnSpc>
                <a:spcPct val="85000"/>
              </a:lnSpc>
            </a:pP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         {   area=PI*r*r;</a:t>
            </a:r>
          </a:p>
          <a:p>
            <a:pPr>
              <a:lnSpc>
                <a:spcPct val="85000"/>
              </a:lnSpc>
            </a:pP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       </a:t>
            </a:r>
            <a:r>
              <a:rPr lang="en-US" altLang="zh-CN" sz="3600" b="1" dirty="0">
                <a:solidFill>
                  <a:srgbClr val="FFFFFF"/>
                </a:solidFill>
                <a:latin typeface="Times New Roman" pitchFamily="18" charset="0"/>
                <a:ea typeface="隶书" pitchFamily="49" charset="-122"/>
              </a:rPr>
              <a:t>I  f  (area&gt;100)</a:t>
            </a:r>
          </a:p>
          <a:p>
            <a:pPr>
              <a:lnSpc>
                <a:spcPct val="85000"/>
              </a:lnSpc>
            </a:pPr>
            <a:r>
              <a:rPr lang="en-US" altLang="zh-CN" sz="3600" b="1" dirty="0">
                <a:solidFill>
                  <a:srgbClr val="FFFFFF"/>
                </a:solidFill>
                <a:latin typeface="Times New Roman" pitchFamily="18" charset="0"/>
                <a:ea typeface="隶书" pitchFamily="49" charset="-122"/>
              </a:rPr>
              <a:t>        	  </a:t>
            </a:r>
            <a:r>
              <a:rPr lang="zh-CN" altLang="en-US" sz="3600" b="1" dirty="0">
                <a:solidFill>
                  <a:srgbClr val="FFFFFF"/>
                </a:solidFill>
                <a:latin typeface="Times New Roman" pitchFamily="18" charset="0"/>
                <a:ea typeface="隶书" pitchFamily="49" charset="-122"/>
              </a:rPr>
              <a:t>　    </a:t>
            </a:r>
            <a:r>
              <a:rPr lang="en-US" altLang="zh-CN" sz="3600" b="1" dirty="0">
                <a:solidFill>
                  <a:srgbClr val="FFFFFF"/>
                </a:solidFill>
                <a:latin typeface="Times New Roman" pitchFamily="18" charset="0"/>
                <a:ea typeface="隶书" pitchFamily="49" charset="-122"/>
              </a:rPr>
              <a:t>break;</a:t>
            </a:r>
          </a:p>
          <a:p>
            <a:pPr>
              <a:lnSpc>
                <a:spcPct val="85000"/>
              </a:lnSpc>
            </a:pP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              </a:t>
            </a:r>
            <a:r>
              <a:rPr lang="en-US" altLang="zh-CN" sz="3600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("r=%</a:t>
            </a:r>
            <a:r>
              <a:rPr lang="en-US" altLang="zh-CN" sz="3600" b="1" dirty="0" err="1">
                <a:latin typeface="Times New Roman" pitchFamily="18" charset="0"/>
                <a:ea typeface="隶书" pitchFamily="49" charset="-122"/>
              </a:rPr>
              <a:t>d,area</a:t>
            </a: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=%lf\n",</a:t>
            </a:r>
            <a:r>
              <a:rPr lang="en-US" altLang="zh-CN" sz="3600" b="1" dirty="0" err="1">
                <a:latin typeface="Times New Roman" pitchFamily="18" charset="0"/>
                <a:ea typeface="隶书" pitchFamily="49" charset="-122"/>
              </a:rPr>
              <a:t>r,area</a:t>
            </a: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         }</a:t>
            </a:r>
          </a:p>
          <a:p>
            <a:pPr>
              <a:lnSpc>
                <a:spcPct val="85000"/>
              </a:lnSpc>
            </a:pPr>
            <a:r>
              <a:rPr lang="en-US" altLang="zh-CN" sz="3600" b="1" dirty="0">
                <a:latin typeface="Times New Roman" pitchFamily="18" charset="0"/>
                <a:ea typeface="隶书" pitchFamily="49" charset="-122"/>
              </a:rPr>
              <a:t>   }</a:t>
            </a:r>
          </a:p>
        </p:txBody>
      </p:sp>
      <p:sp>
        <p:nvSpPr>
          <p:cNvPr id="489476" name="Rectangle 4"/>
          <p:cNvSpPr>
            <a:spLocks noChangeArrowheads="1"/>
          </p:cNvSpPr>
          <p:nvPr/>
        </p:nvSpPr>
        <p:spPr bwMode="auto">
          <a:xfrm>
            <a:off x="3790814" y="4517099"/>
            <a:ext cx="3070609" cy="1138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3375" b="1" dirty="0">
                <a:solidFill>
                  <a:srgbClr val="C00000"/>
                </a:solidFill>
                <a:latin typeface="Times New Roman" pitchFamily="18" charset="0"/>
              </a:rPr>
              <a:t>if(area&gt;100)</a:t>
            </a:r>
            <a:r>
              <a:rPr lang="zh-CN" altLang="en-US" sz="3375" b="1" dirty="0">
                <a:solidFill>
                  <a:srgbClr val="C00000"/>
                </a:solidFill>
                <a:latin typeface="Times New Roman" pitchFamily="18" charset="0"/>
              </a:rPr>
              <a:t>　   </a:t>
            </a:r>
            <a:r>
              <a:rPr lang="en-US" altLang="zh-CN" sz="3375" b="1" dirty="0">
                <a:solidFill>
                  <a:srgbClr val="C00000"/>
                </a:solidFill>
                <a:latin typeface="Times New Roman" pitchFamily="18" charset="0"/>
              </a:rPr>
              <a:t>        </a:t>
            </a:r>
          </a:p>
          <a:p>
            <a:pPr>
              <a:spcBef>
                <a:spcPts val="0"/>
              </a:spcBef>
            </a:pPr>
            <a:r>
              <a:rPr lang="en-US" altLang="zh-CN" sz="3375" b="1" dirty="0">
                <a:solidFill>
                  <a:srgbClr val="C00000"/>
                </a:solidFill>
                <a:latin typeface="Times New Roman" pitchFamily="18" charset="0"/>
              </a:rPr>
              <a:t>    break;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11E595-D272-49A2-BF69-ABF9FC3F0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案例七</a:t>
            </a:r>
          </a:p>
        </p:txBody>
      </p:sp>
    </p:spTree>
    <p:extLst>
      <p:ext uri="{BB962C8B-B14F-4D97-AF65-F5344CB8AC3E}">
        <p14:creationId xmlns:p14="http://schemas.microsoft.com/office/powerpoint/2010/main" val="71049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9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89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9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9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2396927" y="231949"/>
            <a:ext cx="9073008" cy="1296144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Autofit/>
          </a:bodyPr>
          <a:lstStyle>
            <a:defPPr>
              <a:defRPr lang="zh-CN"/>
            </a:defPPr>
            <a:lvl1pPr>
              <a:spcBef>
                <a:spcPct val="0"/>
              </a:spcBef>
              <a:defRPr sz="44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求输入整数的总和及正数个数，以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作为结束符号。</a:t>
            </a:r>
            <a:endParaRPr lang="zh-CN" altLang="en-US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0499" name="Text Box 3"/>
          <p:cNvSpPr txBox="1">
            <a:spLocks noChangeArrowheads="1"/>
          </p:cNvSpPr>
          <p:nvPr/>
        </p:nvSpPr>
        <p:spPr bwMode="auto">
          <a:xfrm>
            <a:off x="2252911" y="1600101"/>
            <a:ext cx="8695474" cy="5434472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9357" rIns="94917" bIns="49357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ts val="3164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#include&lt;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stdio.h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&gt;</a:t>
            </a:r>
          </a:p>
          <a:p>
            <a:pPr>
              <a:lnSpc>
                <a:spcPts val="3164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void main(  )</a:t>
            </a:r>
          </a:p>
          <a:p>
            <a:pPr>
              <a:lnSpc>
                <a:spcPts val="3164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{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a,num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=0,sum=0;</a:t>
            </a:r>
          </a:p>
          <a:p>
            <a:pPr>
              <a:lnSpc>
                <a:spcPts val="3164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do</a:t>
            </a:r>
          </a:p>
          <a:p>
            <a:pPr>
              <a:lnSpc>
                <a:spcPts val="3164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{   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scanf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("%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d,",&amp;a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); </a:t>
            </a:r>
          </a:p>
          <a:p>
            <a:pPr>
              <a:lnSpc>
                <a:spcPts val="3164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       sum+=a;</a:t>
            </a:r>
          </a:p>
          <a:p>
            <a:pPr>
              <a:lnSpc>
                <a:spcPts val="3164"/>
              </a:lnSpc>
            </a:pPr>
            <a:endParaRPr lang="en-US" altLang="zh-CN" sz="3375" b="1" dirty="0">
              <a:latin typeface="Times New Roman" pitchFamily="18" charset="0"/>
              <a:ea typeface="隶书" pitchFamily="49" charset="-122"/>
            </a:endParaRPr>
          </a:p>
          <a:p>
            <a:pPr>
              <a:lnSpc>
                <a:spcPts val="3164"/>
              </a:lnSpc>
            </a:pPr>
            <a:endParaRPr lang="en-US" altLang="zh-CN" sz="3375" b="1" dirty="0">
              <a:latin typeface="Times New Roman" pitchFamily="18" charset="0"/>
              <a:ea typeface="隶书" pitchFamily="49" charset="-122"/>
            </a:endParaRPr>
          </a:p>
          <a:p>
            <a:pPr>
              <a:lnSpc>
                <a:spcPts val="3164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     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num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++;</a:t>
            </a:r>
          </a:p>
          <a:p>
            <a:pPr>
              <a:lnSpc>
                <a:spcPts val="3164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 }while( a!=0 );</a:t>
            </a:r>
          </a:p>
          <a:p>
            <a:pPr>
              <a:lnSpc>
                <a:spcPts val="3164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("plus number:%d\n",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num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);</a:t>
            </a:r>
          </a:p>
          <a:p>
            <a:pPr>
              <a:lnSpc>
                <a:spcPts val="3164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   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("sum is:%d\</a:t>
            </a:r>
            <a:r>
              <a:rPr lang="en-US" altLang="zh-CN" sz="3375" b="1" dirty="0" err="1">
                <a:latin typeface="Times New Roman" pitchFamily="18" charset="0"/>
                <a:ea typeface="隶书" pitchFamily="49" charset="-122"/>
              </a:rPr>
              <a:t>n",sum</a:t>
            </a: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);</a:t>
            </a:r>
          </a:p>
          <a:p>
            <a:pPr>
              <a:lnSpc>
                <a:spcPts val="3164"/>
              </a:lnSpc>
            </a:pPr>
            <a:r>
              <a:rPr lang="en-US" altLang="zh-CN" sz="3375" b="1" dirty="0">
                <a:latin typeface="Times New Roman" pitchFamily="18" charset="0"/>
                <a:ea typeface="隶书" pitchFamily="49" charset="-122"/>
              </a:rPr>
              <a:t>   }</a:t>
            </a:r>
          </a:p>
        </p:txBody>
      </p:sp>
      <p:sp>
        <p:nvSpPr>
          <p:cNvPr id="490500" name="Rectangle 4"/>
          <p:cNvSpPr>
            <a:spLocks noChangeArrowheads="1"/>
          </p:cNvSpPr>
          <p:nvPr/>
        </p:nvSpPr>
        <p:spPr bwMode="auto">
          <a:xfrm>
            <a:off x="3433208" y="3904357"/>
            <a:ext cx="4821767" cy="1138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r>
              <a:rPr lang="en-US" altLang="zh-CN" sz="3375" b="1" dirty="0">
                <a:solidFill>
                  <a:srgbClr val="C00000"/>
                </a:solidFill>
                <a:latin typeface="Times New Roman" pitchFamily="18" charset="0"/>
              </a:rPr>
              <a:t>if(a&lt;0) </a:t>
            </a:r>
          </a:p>
          <a:p>
            <a:r>
              <a:rPr lang="en-US" altLang="zh-CN" sz="3375" b="1" dirty="0">
                <a:solidFill>
                  <a:srgbClr val="C00000"/>
                </a:solidFill>
                <a:latin typeface="Times New Roman" pitchFamily="18" charset="0"/>
              </a:rPr>
              <a:t>    continue;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7AFA8A-BB50-4C80-AF51-A34EF9CF9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案例八</a:t>
            </a:r>
          </a:p>
        </p:txBody>
      </p:sp>
    </p:spTree>
    <p:extLst>
      <p:ext uri="{BB962C8B-B14F-4D97-AF65-F5344CB8AC3E}">
        <p14:creationId xmlns:p14="http://schemas.microsoft.com/office/powerpoint/2010/main" val="342564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0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0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0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0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05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0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0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90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497666" name="Rectangle 2"/>
          <p:cNvSpPr>
            <a:spLocks noChangeArrowheads="1"/>
          </p:cNvSpPr>
          <p:nvPr/>
        </p:nvSpPr>
        <p:spPr bwMode="auto">
          <a:xfrm>
            <a:off x="1460823" y="1388920"/>
            <a:ext cx="10081120" cy="453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 algn="just">
              <a:lnSpc>
                <a:spcPct val="200000"/>
              </a:lnSpc>
              <a:spcBef>
                <a:spcPts val="633"/>
              </a:spcBef>
            </a:pP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提示：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判断整数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是否为素数，最简单的方法就是用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x-1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之间的所有整数逐一去除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，若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能被其中任意一个数整除，则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就不是素数，否则就为素数。 </a:t>
            </a: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2324919" y="495069"/>
            <a:ext cx="9112804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判断一个整数是否为素数</a:t>
            </a:r>
            <a:endParaRPr lang="zh-CN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652063E-2981-41C8-A9BB-2AE593C5B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案例九</a:t>
            </a:r>
          </a:p>
        </p:txBody>
      </p:sp>
    </p:spTree>
    <p:extLst>
      <p:ext uri="{BB962C8B-B14F-4D97-AF65-F5344CB8AC3E}">
        <p14:creationId xmlns:p14="http://schemas.microsoft.com/office/powerpoint/2010/main" val="1022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7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6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487426" name="Rectangle 2"/>
          <p:cNvSpPr>
            <a:spLocks noChangeArrowheads="1"/>
          </p:cNvSpPr>
          <p:nvPr/>
        </p:nvSpPr>
        <p:spPr bwMode="auto">
          <a:xfrm>
            <a:off x="2684959" y="375965"/>
            <a:ext cx="8568952" cy="642598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sz="3200" b="1" dirty="0">
                <a:latin typeface="Times New Roman" pitchFamily="18" charset="0"/>
              </a:rPr>
              <a:t>#include&lt;</a:t>
            </a:r>
            <a:r>
              <a:rPr lang="en-US" altLang="zh-CN" sz="3200" b="1" dirty="0" err="1">
                <a:latin typeface="Times New Roman" pitchFamily="18" charset="0"/>
              </a:rPr>
              <a:t>math.h</a:t>
            </a:r>
            <a:r>
              <a:rPr lang="en-US" altLang="zh-CN" sz="3200" b="1" dirty="0">
                <a:latin typeface="Times New Roman" pitchFamily="18" charset="0"/>
              </a:rPr>
              <a:t>&gt;           </a:t>
            </a:r>
          </a:p>
          <a:p>
            <a:pPr>
              <a:spcBef>
                <a:spcPts val="0"/>
              </a:spcBef>
            </a:pPr>
            <a:r>
              <a:rPr lang="en-US" altLang="zh-CN" sz="3200" b="1" dirty="0">
                <a:latin typeface="Times New Roman" pitchFamily="18" charset="0"/>
              </a:rPr>
              <a:t>#include&lt;</a:t>
            </a:r>
            <a:r>
              <a:rPr lang="en-US" altLang="zh-CN" sz="3200" b="1" dirty="0" err="1">
                <a:latin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altLang="zh-CN" sz="3200" b="1" dirty="0">
                <a:latin typeface="Times New Roman" pitchFamily="18" charset="0"/>
              </a:rPr>
              <a:t>void main(</a:t>
            </a:r>
            <a:r>
              <a:rPr lang="zh-CN" altLang="en-US" sz="3200" b="1" dirty="0">
                <a:latin typeface="Times New Roman" pitchFamily="18" charset="0"/>
              </a:rPr>
              <a:t> </a:t>
            </a:r>
            <a:r>
              <a:rPr lang="en-US" altLang="zh-CN" sz="3200" b="1" dirty="0">
                <a:latin typeface="Times New Roman" pitchFamily="18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altLang="zh-CN" sz="3200" b="1" dirty="0">
                <a:latin typeface="Times New Roman" pitchFamily="18" charset="0"/>
              </a:rPr>
              <a:t>{  </a:t>
            </a:r>
            <a:r>
              <a:rPr lang="en-US" altLang="zh-CN" sz="3200" b="1" dirty="0" err="1">
                <a:latin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</a:rPr>
              <a:t> </a:t>
            </a:r>
            <a:r>
              <a:rPr lang="en-US" altLang="zh-CN" sz="3200" b="1" dirty="0" err="1">
                <a:latin typeface="Times New Roman" pitchFamily="18" charset="0"/>
              </a:rPr>
              <a:t>k,n,i</a:t>
            </a:r>
            <a:r>
              <a:rPr lang="en-US" altLang="zh-CN" sz="3200" b="1" dirty="0">
                <a:latin typeface="Times New Roman" pitchFamily="18" charset="0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CN" sz="3200" b="1" dirty="0">
                <a:latin typeface="Times New Roman" pitchFamily="18" charset="0"/>
              </a:rPr>
              <a:t>    </a:t>
            </a:r>
            <a:r>
              <a:rPr lang="en-US" altLang="zh-CN" sz="3200" b="1" dirty="0" err="1">
                <a:latin typeface="Times New Roman" pitchFamily="18" charset="0"/>
              </a:rPr>
              <a:t>scanf</a:t>
            </a:r>
            <a:r>
              <a:rPr lang="en-US" altLang="zh-CN" sz="3200" b="1" dirty="0">
                <a:latin typeface="Times New Roman" pitchFamily="18" charset="0"/>
              </a:rPr>
              <a:t>("%</a:t>
            </a:r>
            <a:r>
              <a:rPr lang="en-US" altLang="zh-CN" sz="3200" b="1" dirty="0" err="1">
                <a:latin typeface="Times New Roman" pitchFamily="18" charset="0"/>
              </a:rPr>
              <a:t>d",&amp;n</a:t>
            </a:r>
            <a:r>
              <a:rPr lang="en-US" altLang="zh-CN" sz="3200" b="1" dirty="0">
                <a:latin typeface="Times New Roman" pitchFamily="18" charset="0"/>
              </a:rPr>
              <a:t>);</a:t>
            </a:r>
          </a:p>
          <a:p>
            <a:pPr>
              <a:spcBef>
                <a:spcPts val="0"/>
              </a:spcBef>
            </a:pPr>
            <a:r>
              <a:rPr lang="en-US" altLang="zh-CN" sz="3200" b="1" dirty="0">
                <a:latin typeface="Times New Roman" pitchFamily="18" charset="0"/>
              </a:rPr>
              <a:t>    k=(</a:t>
            </a:r>
            <a:r>
              <a:rPr lang="en-US" altLang="zh-CN" sz="3200" b="1" dirty="0" err="1">
                <a:latin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</a:rPr>
              <a:t>)sqrt(n);</a:t>
            </a:r>
          </a:p>
          <a:p>
            <a:pPr>
              <a:spcBef>
                <a:spcPts val="0"/>
              </a:spcBef>
            </a:pPr>
            <a:r>
              <a:rPr lang="en-US" altLang="zh-CN" sz="3200" b="1" dirty="0">
                <a:latin typeface="Times New Roman" pitchFamily="18" charset="0"/>
              </a:rPr>
              <a:t>    for(</a:t>
            </a:r>
            <a:r>
              <a:rPr lang="en-US" altLang="zh-CN" sz="3200" b="1" dirty="0" err="1">
                <a:latin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</a:rPr>
              <a:t>=2;   </a:t>
            </a:r>
            <a:r>
              <a:rPr lang="en-US" altLang="zh-CN" sz="3200" b="1" dirty="0" err="1">
                <a:latin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</a:rPr>
              <a:t>&lt;n;    </a:t>
            </a:r>
            <a:r>
              <a:rPr lang="en-US" altLang="zh-CN" sz="3200" b="1" dirty="0" err="1">
                <a:latin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</a:rPr>
              <a:t>++)                 </a:t>
            </a:r>
          </a:p>
          <a:p>
            <a:pPr>
              <a:spcBef>
                <a:spcPts val="0"/>
              </a:spcBef>
            </a:pPr>
            <a:r>
              <a:rPr lang="en-US" altLang="zh-CN" sz="3200" b="1" dirty="0">
                <a:latin typeface="Times New Roman" pitchFamily="18" charset="0"/>
              </a:rPr>
              <a:t>       if(</a:t>
            </a:r>
            <a:r>
              <a:rPr lang="en-US" altLang="zh-CN" sz="3200" b="1" dirty="0" err="1">
                <a:latin typeface="Times New Roman" pitchFamily="18" charset="0"/>
              </a:rPr>
              <a:t>n%i</a:t>
            </a:r>
            <a:r>
              <a:rPr lang="en-US" altLang="zh-CN" sz="3200" b="1" dirty="0">
                <a:latin typeface="Times New Roman" pitchFamily="18" charset="0"/>
              </a:rPr>
              <a:t>==0)    break;</a:t>
            </a:r>
          </a:p>
          <a:p>
            <a:pPr>
              <a:spcBef>
                <a:spcPts val="0"/>
              </a:spcBef>
            </a:pPr>
            <a:r>
              <a:rPr lang="en-US" altLang="zh-CN" sz="3200" b="1" dirty="0">
                <a:latin typeface="Times New Roman" pitchFamily="18" charset="0"/>
              </a:rPr>
              <a:t>    if(</a:t>
            </a:r>
            <a:r>
              <a:rPr lang="en-US" altLang="zh-CN" sz="3200" b="1" dirty="0" err="1">
                <a:latin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</a:rPr>
              <a:t>&gt;k)</a:t>
            </a:r>
          </a:p>
          <a:p>
            <a:pPr>
              <a:spcBef>
                <a:spcPts val="0"/>
              </a:spcBef>
            </a:pPr>
            <a:r>
              <a:rPr lang="en-US" altLang="zh-CN" sz="3200" b="1" dirty="0">
                <a:latin typeface="Times New Roman" pitchFamily="18" charset="0"/>
              </a:rPr>
              <a:t>       </a:t>
            </a:r>
            <a:r>
              <a:rPr lang="en-US" altLang="zh-CN" sz="3200" b="1" dirty="0" err="1">
                <a:latin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</a:rPr>
              <a:t>("%3d is a prime!\</a:t>
            </a:r>
            <a:r>
              <a:rPr lang="en-US" altLang="zh-CN" sz="3200" b="1" dirty="0" err="1">
                <a:latin typeface="Times New Roman" pitchFamily="18" charset="0"/>
              </a:rPr>
              <a:t>n",n</a:t>
            </a:r>
            <a:r>
              <a:rPr lang="en-US" altLang="zh-CN" sz="3200" b="1" dirty="0">
                <a:latin typeface="Times New Roman" pitchFamily="18" charset="0"/>
              </a:rPr>
              <a:t>);</a:t>
            </a:r>
          </a:p>
          <a:p>
            <a:pPr>
              <a:spcBef>
                <a:spcPts val="0"/>
              </a:spcBef>
            </a:pPr>
            <a:r>
              <a:rPr lang="en-US" altLang="zh-CN" sz="3200" b="1" dirty="0">
                <a:latin typeface="Times New Roman" pitchFamily="18" charset="0"/>
              </a:rPr>
              <a:t>    else</a:t>
            </a:r>
          </a:p>
          <a:p>
            <a:pPr>
              <a:spcBef>
                <a:spcPts val="0"/>
              </a:spcBef>
            </a:pPr>
            <a:r>
              <a:rPr lang="en-US" altLang="zh-CN" sz="3200" b="1" dirty="0">
                <a:latin typeface="Times New Roman" pitchFamily="18" charset="0"/>
              </a:rPr>
              <a:t>       </a:t>
            </a:r>
            <a:r>
              <a:rPr lang="en-US" altLang="zh-CN" sz="3200" b="1" dirty="0" err="1">
                <a:latin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</a:rPr>
              <a:t>("%3d isn't  prime!\</a:t>
            </a:r>
            <a:r>
              <a:rPr lang="en-US" altLang="zh-CN" sz="3200" b="1" dirty="0" err="1">
                <a:latin typeface="Times New Roman" pitchFamily="18" charset="0"/>
              </a:rPr>
              <a:t>n",n</a:t>
            </a:r>
            <a:r>
              <a:rPr lang="en-US" altLang="zh-CN" sz="3200" b="1" dirty="0">
                <a:latin typeface="Times New Roman" pitchFamily="18" charset="0"/>
              </a:rPr>
              <a:t>);</a:t>
            </a:r>
          </a:p>
          <a:p>
            <a:pPr>
              <a:spcBef>
                <a:spcPts val="0"/>
              </a:spcBef>
            </a:pPr>
            <a:r>
              <a:rPr lang="en-US" altLang="zh-CN" sz="3200" b="1" dirty="0">
                <a:latin typeface="Times New Roman" pitchFamily="18" charset="0"/>
              </a:rPr>
              <a:t>}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66C90A7-3A22-4D75-8A57-45A08CE1A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案例八代码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616649" y="3300824"/>
            <a:ext cx="1223962" cy="576262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&lt;=k;</a:t>
            </a:r>
          </a:p>
        </p:txBody>
      </p:sp>
    </p:spTree>
    <p:extLst>
      <p:ext uri="{BB962C8B-B14F-4D97-AF65-F5344CB8AC3E}">
        <p14:creationId xmlns:p14="http://schemas.microsoft.com/office/powerpoint/2010/main" val="50697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7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7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74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7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74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74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74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74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7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874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87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7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87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57"/>
          <p:cNvGrpSpPr/>
          <p:nvPr/>
        </p:nvGrpSpPr>
        <p:grpSpPr bwMode="auto">
          <a:xfrm>
            <a:off x="4478903" y="964223"/>
            <a:ext cx="3900943" cy="3838996"/>
            <a:chOff x="0" y="0"/>
            <a:chExt cx="4846320" cy="4437330"/>
          </a:xfrm>
        </p:grpSpPr>
        <p:sp>
          <p:nvSpPr>
            <p:cNvPr id="2060" name="Freeform 5"/>
            <p:cNvSpPr>
              <a:spLocks noChangeArrowheads="1"/>
            </p:cNvSpPr>
            <p:nvPr/>
          </p:nvSpPr>
          <p:spPr bwMode="auto">
            <a:xfrm>
              <a:off x="400195" y="2192278"/>
              <a:ext cx="4446125" cy="738822"/>
            </a:xfrm>
            <a:custGeom>
              <a:avLst/>
              <a:gdLst>
                <a:gd name="T0" fmla="*/ 4297834 w 1709"/>
                <a:gd name="T1" fmla="*/ 738822 h 284"/>
                <a:gd name="T2" fmla="*/ 148291 w 1709"/>
                <a:gd name="T3" fmla="*/ 738822 h 284"/>
                <a:gd name="T4" fmla="*/ 0 w 1709"/>
                <a:gd name="T5" fmla="*/ 590537 h 284"/>
                <a:gd name="T6" fmla="*/ 0 w 1709"/>
                <a:gd name="T7" fmla="*/ 145683 h 284"/>
                <a:gd name="T8" fmla="*/ 148291 w 1709"/>
                <a:gd name="T9" fmla="*/ 0 h 284"/>
                <a:gd name="T10" fmla="*/ 4297834 w 1709"/>
                <a:gd name="T11" fmla="*/ 0 h 284"/>
                <a:gd name="T12" fmla="*/ 4446125 w 1709"/>
                <a:gd name="T13" fmla="*/ 145683 h 284"/>
                <a:gd name="T14" fmla="*/ 4446125 w 1709"/>
                <a:gd name="T15" fmla="*/ 590537 h 284"/>
                <a:gd name="T16" fmla="*/ 4297834 w 1709"/>
                <a:gd name="T17" fmla="*/ 738822 h 2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09"/>
                <a:gd name="T28" fmla="*/ 0 h 284"/>
                <a:gd name="T29" fmla="*/ 1709 w 1709"/>
                <a:gd name="T30" fmla="*/ 284 h 2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09" h="284">
                  <a:moveTo>
                    <a:pt x="1652" y="284"/>
                  </a:moveTo>
                  <a:cubicBezTo>
                    <a:pt x="57" y="284"/>
                    <a:pt x="57" y="284"/>
                    <a:pt x="57" y="284"/>
                  </a:cubicBezTo>
                  <a:cubicBezTo>
                    <a:pt x="26" y="284"/>
                    <a:pt x="0" y="258"/>
                    <a:pt x="0" y="22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1652" y="0"/>
                    <a:pt x="1652" y="0"/>
                    <a:pt x="1652" y="0"/>
                  </a:cubicBezTo>
                  <a:cubicBezTo>
                    <a:pt x="1683" y="0"/>
                    <a:pt x="1709" y="25"/>
                    <a:pt x="1709" y="56"/>
                  </a:cubicBezTo>
                  <a:cubicBezTo>
                    <a:pt x="1709" y="227"/>
                    <a:pt x="1709" y="227"/>
                    <a:pt x="1709" y="227"/>
                  </a:cubicBezTo>
                  <a:cubicBezTo>
                    <a:pt x="1709" y="258"/>
                    <a:pt x="1683" y="284"/>
                    <a:pt x="1652" y="284"/>
                  </a:cubicBez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Rectangle 6"/>
            <p:cNvSpPr>
              <a:spLocks noChangeArrowheads="1"/>
            </p:cNvSpPr>
            <p:nvPr/>
          </p:nvSpPr>
          <p:spPr bwMode="auto">
            <a:xfrm>
              <a:off x="400195" y="2561689"/>
              <a:ext cx="4446125" cy="369411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2" name="Freeform 7"/>
            <p:cNvSpPr>
              <a:spLocks noChangeArrowheads="1"/>
            </p:cNvSpPr>
            <p:nvPr/>
          </p:nvSpPr>
          <p:spPr bwMode="auto">
            <a:xfrm>
              <a:off x="931224" y="2237355"/>
              <a:ext cx="531029" cy="626679"/>
            </a:xfrm>
            <a:custGeom>
              <a:avLst/>
              <a:gdLst>
                <a:gd name="T0" fmla="*/ 484174 w 204"/>
                <a:gd name="T1" fmla="*/ 626679 h 241"/>
                <a:gd name="T2" fmla="*/ 46856 w 204"/>
                <a:gd name="T3" fmla="*/ 626679 h 241"/>
                <a:gd name="T4" fmla="*/ 0 w 204"/>
                <a:gd name="T5" fmla="*/ 579873 h 241"/>
                <a:gd name="T6" fmla="*/ 0 w 204"/>
                <a:gd name="T7" fmla="*/ 44206 h 241"/>
                <a:gd name="T8" fmla="*/ 46856 w 204"/>
                <a:gd name="T9" fmla="*/ 0 h 241"/>
                <a:gd name="T10" fmla="*/ 484174 w 204"/>
                <a:gd name="T11" fmla="*/ 0 h 241"/>
                <a:gd name="T12" fmla="*/ 531029 w 204"/>
                <a:gd name="T13" fmla="*/ 44206 h 241"/>
                <a:gd name="T14" fmla="*/ 531029 w 204"/>
                <a:gd name="T15" fmla="*/ 579873 h 241"/>
                <a:gd name="T16" fmla="*/ 484174 w 204"/>
                <a:gd name="T17" fmla="*/ 626679 h 2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04"/>
                <a:gd name="T28" fmla="*/ 0 h 241"/>
                <a:gd name="T29" fmla="*/ 204 w 204"/>
                <a:gd name="T30" fmla="*/ 241 h 24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04" h="241">
                  <a:moveTo>
                    <a:pt x="186" y="241"/>
                  </a:moveTo>
                  <a:cubicBezTo>
                    <a:pt x="18" y="241"/>
                    <a:pt x="18" y="241"/>
                    <a:pt x="18" y="241"/>
                  </a:cubicBezTo>
                  <a:cubicBezTo>
                    <a:pt x="8" y="241"/>
                    <a:pt x="0" y="233"/>
                    <a:pt x="0" y="22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96" y="0"/>
                    <a:pt x="204" y="8"/>
                    <a:pt x="204" y="17"/>
                  </a:cubicBezTo>
                  <a:cubicBezTo>
                    <a:pt x="204" y="223"/>
                    <a:pt x="204" y="223"/>
                    <a:pt x="204" y="223"/>
                  </a:cubicBezTo>
                  <a:cubicBezTo>
                    <a:pt x="204" y="233"/>
                    <a:pt x="196" y="241"/>
                    <a:pt x="186" y="2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" name="Freeform 8"/>
            <p:cNvSpPr>
              <a:spLocks noChangeArrowheads="1"/>
            </p:cNvSpPr>
            <p:nvPr/>
          </p:nvSpPr>
          <p:spPr bwMode="auto">
            <a:xfrm>
              <a:off x="0" y="2931100"/>
              <a:ext cx="4682504" cy="1134619"/>
            </a:xfrm>
            <a:custGeom>
              <a:avLst/>
              <a:gdLst>
                <a:gd name="T0" fmla="*/ 4461386 w 1800"/>
                <a:gd name="T1" fmla="*/ 1038333 h 436"/>
                <a:gd name="T2" fmla="*/ 4461386 w 1800"/>
                <a:gd name="T3" fmla="*/ 96286 h 436"/>
                <a:gd name="T4" fmla="*/ 4682504 w 1800"/>
                <a:gd name="T5" fmla="*/ 96286 h 436"/>
                <a:gd name="T6" fmla="*/ 4682504 w 1800"/>
                <a:gd name="T7" fmla="*/ 0 h 436"/>
                <a:gd name="T8" fmla="*/ 179496 w 1800"/>
                <a:gd name="T9" fmla="*/ 0 h 436"/>
                <a:gd name="T10" fmla="*/ 0 w 1800"/>
                <a:gd name="T11" fmla="*/ 176959 h 436"/>
                <a:gd name="T12" fmla="*/ 0 w 1800"/>
                <a:gd name="T13" fmla="*/ 957660 h 436"/>
                <a:gd name="T14" fmla="*/ 179496 w 1800"/>
                <a:gd name="T15" fmla="*/ 1134619 h 436"/>
                <a:gd name="T16" fmla="*/ 4682504 w 1800"/>
                <a:gd name="T17" fmla="*/ 1134619 h 436"/>
                <a:gd name="T18" fmla="*/ 4682504 w 1800"/>
                <a:gd name="T19" fmla="*/ 1038333 h 436"/>
                <a:gd name="T20" fmla="*/ 4461386 w 1800"/>
                <a:gd name="T21" fmla="*/ 1038333 h 4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00"/>
                <a:gd name="T34" fmla="*/ 0 h 436"/>
                <a:gd name="T35" fmla="*/ 1800 w 1800"/>
                <a:gd name="T36" fmla="*/ 436 h 4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00" h="436">
                  <a:moveTo>
                    <a:pt x="1715" y="399"/>
                  </a:moveTo>
                  <a:cubicBezTo>
                    <a:pt x="1715" y="37"/>
                    <a:pt x="1715" y="37"/>
                    <a:pt x="1715" y="37"/>
                  </a:cubicBezTo>
                  <a:cubicBezTo>
                    <a:pt x="1800" y="37"/>
                    <a:pt x="1800" y="37"/>
                    <a:pt x="1800" y="37"/>
                  </a:cubicBezTo>
                  <a:cubicBezTo>
                    <a:pt x="1800" y="0"/>
                    <a:pt x="1800" y="0"/>
                    <a:pt x="180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1" y="0"/>
                    <a:pt x="0" y="30"/>
                    <a:pt x="0" y="68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0" y="405"/>
                    <a:pt x="31" y="436"/>
                    <a:pt x="69" y="436"/>
                  </a:cubicBezTo>
                  <a:cubicBezTo>
                    <a:pt x="1800" y="436"/>
                    <a:pt x="1800" y="436"/>
                    <a:pt x="1800" y="436"/>
                  </a:cubicBezTo>
                  <a:cubicBezTo>
                    <a:pt x="1800" y="399"/>
                    <a:pt x="1800" y="399"/>
                    <a:pt x="1800" y="399"/>
                  </a:cubicBezTo>
                  <a:lnTo>
                    <a:pt x="1715" y="3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" name="Freeform 9"/>
            <p:cNvSpPr>
              <a:spLocks noChangeArrowheads="1"/>
            </p:cNvSpPr>
            <p:nvPr/>
          </p:nvSpPr>
          <p:spPr bwMode="auto">
            <a:xfrm>
              <a:off x="119839" y="3027851"/>
              <a:ext cx="4446125" cy="941118"/>
            </a:xfrm>
            <a:custGeom>
              <a:avLst/>
              <a:gdLst>
                <a:gd name="T0" fmla="*/ 4446125 w 1709"/>
                <a:gd name="T1" fmla="*/ 0 h 362"/>
                <a:gd name="T2" fmla="*/ 166502 w 1709"/>
                <a:gd name="T3" fmla="*/ 0 h 362"/>
                <a:gd name="T4" fmla="*/ 0 w 1709"/>
                <a:gd name="T5" fmla="*/ 145587 h 362"/>
                <a:gd name="T6" fmla="*/ 0 w 1709"/>
                <a:gd name="T7" fmla="*/ 792931 h 362"/>
                <a:gd name="T8" fmla="*/ 166502 w 1709"/>
                <a:gd name="T9" fmla="*/ 941118 h 362"/>
                <a:gd name="T10" fmla="*/ 4446125 w 1709"/>
                <a:gd name="T11" fmla="*/ 941118 h 362"/>
                <a:gd name="T12" fmla="*/ 4446125 w 1709"/>
                <a:gd name="T13" fmla="*/ 0 h 3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09"/>
                <a:gd name="T22" fmla="*/ 0 h 362"/>
                <a:gd name="T23" fmla="*/ 1709 w 1709"/>
                <a:gd name="T24" fmla="*/ 362 h 3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09" h="362">
                  <a:moveTo>
                    <a:pt x="1709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29" y="0"/>
                    <a:pt x="0" y="25"/>
                    <a:pt x="0" y="56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36"/>
                    <a:pt x="29" y="362"/>
                    <a:pt x="64" y="362"/>
                  </a:cubicBezTo>
                  <a:cubicBezTo>
                    <a:pt x="1709" y="362"/>
                    <a:pt x="1709" y="362"/>
                    <a:pt x="1709" y="362"/>
                  </a:cubicBezTo>
                  <a:lnTo>
                    <a:pt x="17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" name="Rectangle 10"/>
            <p:cNvSpPr>
              <a:spLocks noChangeArrowheads="1"/>
            </p:cNvSpPr>
            <p:nvPr/>
          </p:nvSpPr>
          <p:spPr bwMode="auto">
            <a:xfrm>
              <a:off x="283655" y="3082822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6" name="Rectangle 11"/>
            <p:cNvSpPr>
              <a:spLocks noChangeArrowheads="1"/>
            </p:cNvSpPr>
            <p:nvPr/>
          </p:nvSpPr>
          <p:spPr bwMode="auto">
            <a:xfrm>
              <a:off x="283655" y="3155385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7" name="Rectangle 12"/>
            <p:cNvSpPr>
              <a:spLocks noChangeArrowheads="1"/>
            </p:cNvSpPr>
            <p:nvPr/>
          </p:nvSpPr>
          <p:spPr bwMode="auto">
            <a:xfrm>
              <a:off x="283655" y="3227948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8" name="Rectangle 13"/>
            <p:cNvSpPr>
              <a:spLocks noChangeArrowheads="1"/>
            </p:cNvSpPr>
            <p:nvPr/>
          </p:nvSpPr>
          <p:spPr bwMode="auto">
            <a:xfrm>
              <a:off x="283655" y="3303810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9" name="Rectangle 14"/>
            <p:cNvSpPr>
              <a:spLocks noChangeArrowheads="1"/>
            </p:cNvSpPr>
            <p:nvPr/>
          </p:nvSpPr>
          <p:spPr bwMode="auto">
            <a:xfrm>
              <a:off x="283655" y="3376373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0" name="Rectangle 15"/>
            <p:cNvSpPr>
              <a:spLocks noChangeArrowheads="1"/>
            </p:cNvSpPr>
            <p:nvPr/>
          </p:nvSpPr>
          <p:spPr bwMode="auto">
            <a:xfrm>
              <a:off x="283655" y="3448935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1" name="Rectangle 16"/>
            <p:cNvSpPr>
              <a:spLocks noChangeArrowheads="1"/>
            </p:cNvSpPr>
            <p:nvPr/>
          </p:nvSpPr>
          <p:spPr bwMode="auto">
            <a:xfrm>
              <a:off x="283655" y="3524796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2" name="Rectangle 17"/>
            <p:cNvSpPr>
              <a:spLocks noChangeArrowheads="1"/>
            </p:cNvSpPr>
            <p:nvPr/>
          </p:nvSpPr>
          <p:spPr bwMode="auto">
            <a:xfrm>
              <a:off x="283655" y="3597359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3" name="Rectangle 18"/>
            <p:cNvSpPr>
              <a:spLocks noChangeArrowheads="1"/>
            </p:cNvSpPr>
            <p:nvPr/>
          </p:nvSpPr>
          <p:spPr bwMode="auto">
            <a:xfrm>
              <a:off x="283655" y="3669922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4" name="Rectangle 19"/>
            <p:cNvSpPr>
              <a:spLocks noChangeArrowheads="1"/>
            </p:cNvSpPr>
            <p:nvPr/>
          </p:nvSpPr>
          <p:spPr bwMode="auto">
            <a:xfrm>
              <a:off x="283655" y="3745784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5" name="Rectangle 20"/>
            <p:cNvSpPr>
              <a:spLocks noChangeArrowheads="1"/>
            </p:cNvSpPr>
            <p:nvPr/>
          </p:nvSpPr>
          <p:spPr bwMode="auto">
            <a:xfrm>
              <a:off x="283655" y="3818346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6" name="Rectangle 21"/>
            <p:cNvSpPr>
              <a:spLocks noChangeArrowheads="1"/>
            </p:cNvSpPr>
            <p:nvPr/>
          </p:nvSpPr>
          <p:spPr bwMode="auto">
            <a:xfrm>
              <a:off x="283655" y="3890909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7" name="Freeform 22"/>
            <p:cNvSpPr>
              <a:spLocks noChangeArrowheads="1"/>
            </p:cNvSpPr>
            <p:nvPr/>
          </p:nvSpPr>
          <p:spPr bwMode="auto">
            <a:xfrm>
              <a:off x="283655" y="3473123"/>
              <a:ext cx="683850" cy="964207"/>
            </a:xfrm>
            <a:custGeom>
              <a:avLst/>
              <a:gdLst>
                <a:gd name="T0" fmla="*/ 0 w 622"/>
                <a:gd name="T1" fmla="*/ 0 h 877"/>
                <a:gd name="T2" fmla="*/ 683850 w 622"/>
                <a:gd name="T3" fmla="*/ 0 h 877"/>
                <a:gd name="T4" fmla="*/ 683850 w 622"/>
                <a:gd name="T5" fmla="*/ 964207 h 877"/>
                <a:gd name="T6" fmla="*/ 343024 w 622"/>
                <a:gd name="T7" fmla="*/ 714635 h 877"/>
                <a:gd name="T8" fmla="*/ 0 w 622"/>
                <a:gd name="T9" fmla="*/ 964207 h 877"/>
                <a:gd name="T10" fmla="*/ 0 w 622"/>
                <a:gd name="T11" fmla="*/ 0 h 8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2"/>
                <a:gd name="T19" fmla="*/ 0 h 877"/>
                <a:gd name="T20" fmla="*/ 622 w 622"/>
                <a:gd name="T21" fmla="*/ 877 h 8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2" h="877">
                  <a:moveTo>
                    <a:pt x="0" y="0"/>
                  </a:moveTo>
                  <a:lnTo>
                    <a:pt x="622" y="0"/>
                  </a:lnTo>
                  <a:lnTo>
                    <a:pt x="622" y="877"/>
                  </a:lnTo>
                  <a:lnTo>
                    <a:pt x="312" y="650"/>
                  </a:lnTo>
                  <a:lnTo>
                    <a:pt x="0" y="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" name="Rectangle 23"/>
            <p:cNvSpPr>
              <a:spLocks noChangeArrowheads="1"/>
            </p:cNvSpPr>
            <p:nvPr/>
          </p:nvSpPr>
          <p:spPr bwMode="auto">
            <a:xfrm>
              <a:off x="283655" y="3473123"/>
              <a:ext cx="683850" cy="196800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9" name="Freeform 24"/>
            <p:cNvSpPr>
              <a:spLocks noChangeArrowheads="1"/>
            </p:cNvSpPr>
            <p:nvPr/>
          </p:nvSpPr>
          <p:spPr bwMode="auto">
            <a:xfrm>
              <a:off x="967505" y="2723307"/>
              <a:ext cx="458466" cy="101148"/>
            </a:xfrm>
            <a:custGeom>
              <a:avLst/>
              <a:gdLst>
                <a:gd name="T0" fmla="*/ 408973 w 176"/>
                <a:gd name="T1" fmla="*/ 0 h 39"/>
                <a:gd name="T2" fmla="*/ 49493 w 176"/>
                <a:gd name="T3" fmla="*/ 0 h 39"/>
                <a:gd name="T4" fmla="*/ 0 w 176"/>
                <a:gd name="T5" fmla="*/ 49277 h 39"/>
                <a:gd name="T6" fmla="*/ 0 w 176"/>
                <a:gd name="T7" fmla="*/ 51871 h 39"/>
                <a:gd name="T8" fmla="*/ 49493 w 176"/>
                <a:gd name="T9" fmla="*/ 101148 h 39"/>
                <a:gd name="T10" fmla="*/ 408973 w 176"/>
                <a:gd name="T11" fmla="*/ 101148 h 39"/>
                <a:gd name="T12" fmla="*/ 458466 w 176"/>
                <a:gd name="T13" fmla="*/ 51871 h 39"/>
                <a:gd name="T14" fmla="*/ 458466 w 176"/>
                <a:gd name="T15" fmla="*/ 49277 h 39"/>
                <a:gd name="T16" fmla="*/ 408973 w 176"/>
                <a:gd name="T17" fmla="*/ 0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6"/>
                <a:gd name="T28" fmla="*/ 0 h 39"/>
                <a:gd name="T29" fmla="*/ 176 w 176"/>
                <a:gd name="T30" fmla="*/ 39 h 3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6" h="39">
                  <a:moveTo>
                    <a:pt x="157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30"/>
                    <a:pt x="9" y="39"/>
                    <a:pt x="19" y="39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68" y="39"/>
                    <a:pt x="176" y="30"/>
                    <a:pt x="176" y="20"/>
                  </a:cubicBezTo>
                  <a:cubicBezTo>
                    <a:pt x="176" y="19"/>
                    <a:pt x="176" y="19"/>
                    <a:pt x="176" y="19"/>
                  </a:cubicBezTo>
                  <a:cubicBezTo>
                    <a:pt x="176" y="8"/>
                    <a:pt x="168" y="0"/>
                    <a:pt x="15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" name="Freeform 25"/>
            <p:cNvSpPr>
              <a:spLocks noChangeArrowheads="1"/>
            </p:cNvSpPr>
            <p:nvPr/>
          </p:nvSpPr>
          <p:spPr bwMode="auto">
            <a:xfrm>
              <a:off x="967505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1" name="Freeform 26"/>
            <p:cNvSpPr>
              <a:spLocks noChangeArrowheads="1"/>
            </p:cNvSpPr>
            <p:nvPr/>
          </p:nvSpPr>
          <p:spPr bwMode="auto">
            <a:xfrm>
              <a:off x="1053261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2" name="Freeform 27"/>
            <p:cNvSpPr>
              <a:spLocks noChangeArrowheads="1"/>
            </p:cNvSpPr>
            <p:nvPr/>
          </p:nvSpPr>
          <p:spPr bwMode="auto">
            <a:xfrm>
              <a:off x="1146714" y="2291228"/>
              <a:ext cx="34083" cy="397996"/>
            </a:xfrm>
            <a:custGeom>
              <a:avLst/>
              <a:gdLst>
                <a:gd name="T0" fmla="*/ 18352 w 13"/>
                <a:gd name="T1" fmla="*/ 397996 h 153"/>
                <a:gd name="T2" fmla="*/ 18352 w 13"/>
                <a:gd name="T3" fmla="*/ 397996 h 153"/>
                <a:gd name="T4" fmla="*/ 0 w 13"/>
                <a:gd name="T5" fmla="*/ 379787 h 153"/>
                <a:gd name="T6" fmla="*/ 0 w 13"/>
                <a:gd name="T7" fmla="*/ 18209 h 153"/>
                <a:gd name="T8" fmla="*/ 18352 w 13"/>
                <a:gd name="T9" fmla="*/ 0 h 153"/>
                <a:gd name="T10" fmla="*/ 18352 w 13"/>
                <a:gd name="T11" fmla="*/ 0 h 153"/>
                <a:gd name="T12" fmla="*/ 34083 w 13"/>
                <a:gd name="T13" fmla="*/ 18209 h 153"/>
                <a:gd name="T14" fmla="*/ 34083 w 13"/>
                <a:gd name="T15" fmla="*/ 379787 h 153"/>
                <a:gd name="T16" fmla="*/ 18352 w 13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"/>
                <a:gd name="T28" fmla="*/ 0 h 153"/>
                <a:gd name="T29" fmla="*/ 13 w 13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3" y="3"/>
                    <a:pt x="13" y="7"/>
                  </a:cubicBezTo>
                  <a:cubicBezTo>
                    <a:pt x="13" y="146"/>
                    <a:pt x="13" y="146"/>
                    <a:pt x="13" y="146"/>
                  </a:cubicBezTo>
                  <a:cubicBezTo>
                    <a:pt x="13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3" name="Freeform 28"/>
            <p:cNvSpPr>
              <a:spLocks noChangeArrowheads="1"/>
            </p:cNvSpPr>
            <p:nvPr/>
          </p:nvSpPr>
          <p:spPr bwMode="auto">
            <a:xfrm>
              <a:off x="1365501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4" name="Freeform 29"/>
            <p:cNvSpPr>
              <a:spLocks noChangeArrowheads="1"/>
            </p:cNvSpPr>
            <p:nvPr/>
          </p:nvSpPr>
          <p:spPr bwMode="auto">
            <a:xfrm>
              <a:off x="626679" y="0"/>
              <a:ext cx="1550207" cy="2192278"/>
            </a:xfrm>
            <a:custGeom>
              <a:avLst/>
              <a:gdLst>
                <a:gd name="T0" fmla="*/ 1550207 w 1410"/>
                <a:gd name="T1" fmla="*/ 2192278 h 1994"/>
                <a:gd name="T2" fmla="*/ 0 w 1410"/>
                <a:gd name="T3" fmla="*/ 2192278 h 1994"/>
                <a:gd name="T4" fmla="*/ 0 w 1410"/>
                <a:gd name="T5" fmla="*/ 0 h 1994"/>
                <a:gd name="T6" fmla="*/ 1550207 w 1410"/>
                <a:gd name="T7" fmla="*/ 228683 h 1994"/>
                <a:gd name="T8" fmla="*/ 1550207 w 1410"/>
                <a:gd name="T9" fmla="*/ 2192278 h 19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10"/>
                <a:gd name="T16" fmla="*/ 0 h 1994"/>
                <a:gd name="T17" fmla="*/ 1410 w 1410"/>
                <a:gd name="T18" fmla="*/ 1994 h 19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10" h="1994">
                  <a:moveTo>
                    <a:pt x="1410" y="1994"/>
                  </a:moveTo>
                  <a:lnTo>
                    <a:pt x="0" y="1994"/>
                  </a:lnTo>
                  <a:lnTo>
                    <a:pt x="0" y="0"/>
                  </a:lnTo>
                  <a:lnTo>
                    <a:pt x="1410" y="208"/>
                  </a:lnTo>
                  <a:lnTo>
                    <a:pt x="1410" y="1994"/>
                  </a:ln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5" name="Freeform 30"/>
            <p:cNvSpPr>
              <a:spLocks noChangeArrowheads="1"/>
            </p:cNvSpPr>
            <p:nvPr/>
          </p:nvSpPr>
          <p:spPr bwMode="auto">
            <a:xfrm>
              <a:off x="790496" y="93453"/>
              <a:ext cx="1386391" cy="2098826"/>
            </a:xfrm>
            <a:custGeom>
              <a:avLst/>
              <a:gdLst>
                <a:gd name="T0" fmla="*/ 0 w 1261"/>
                <a:gd name="T1" fmla="*/ 0 h 1909"/>
                <a:gd name="T2" fmla="*/ 1386391 w 1261"/>
                <a:gd name="T3" fmla="*/ 218788 h 1909"/>
                <a:gd name="T4" fmla="*/ 1386391 w 1261"/>
                <a:gd name="T5" fmla="*/ 2098826 h 1909"/>
                <a:gd name="T6" fmla="*/ 0 w 1261"/>
                <a:gd name="T7" fmla="*/ 2098826 h 1909"/>
                <a:gd name="T8" fmla="*/ 0 w 1261"/>
                <a:gd name="T9" fmla="*/ 0 h 19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61"/>
                <a:gd name="T16" fmla="*/ 0 h 1909"/>
                <a:gd name="T17" fmla="*/ 1261 w 1261"/>
                <a:gd name="T18" fmla="*/ 1909 h 19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61" h="1909">
                  <a:moveTo>
                    <a:pt x="0" y="0"/>
                  </a:moveTo>
                  <a:lnTo>
                    <a:pt x="1261" y="199"/>
                  </a:lnTo>
                  <a:lnTo>
                    <a:pt x="1261" y="1909"/>
                  </a:lnTo>
                  <a:lnTo>
                    <a:pt x="0" y="1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6" name="Rectangle 31"/>
            <p:cNvSpPr>
              <a:spLocks noChangeArrowheads="1"/>
            </p:cNvSpPr>
            <p:nvPr/>
          </p:nvSpPr>
          <p:spPr bwMode="auto">
            <a:xfrm>
              <a:off x="2176886" y="230882"/>
              <a:ext cx="1776691" cy="1961396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7" name="Rectangle 32"/>
            <p:cNvSpPr>
              <a:spLocks noChangeArrowheads="1"/>
            </p:cNvSpPr>
            <p:nvPr/>
          </p:nvSpPr>
          <p:spPr bwMode="auto">
            <a:xfrm>
              <a:off x="2176886" y="230882"/>
              <a:ext cx="1776691" cy="196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8" name="Rectangle 33"/>
            <p:cNvSpPr>
              <a:spLocks noChangeArrowheads="1"/>
            </p:cNvSpPr>
            <p:nvPr/>
          </p:nvSpPr>
          <p:spPr bwMode="auto">
            <a:xfrm>
              <a:off x="2176886" y="312240"/>
              <a:ext cx="1725018" cy="18800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9" name="Rectangle 34"/>
            <p:cNvSpPr>
              <a:spLocks noChangeArrowheads="1"/>
            </p:cNvSpPr>
            <p:nvPr/>
          </p:nvSpPr>
          <p:spPr bwMode="auto">
            <a:xfrm>
              <a:off x="2176886" y="312240"/>
              <a:ext cx="1725018" cy="188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0" name="Rectangle 35"/>
            <p:cNvSpPr>
              <a:spLocks noChangeArrowheads="1"/>
            </p:cNvSpPr>
            <p:nvPr/>
          </p:nvSpPr>
          <p:spPr bwMode="auto">
            <a:xfrm>
              <a:off x="689348" y="93453"/>
              <a:ext cx="101148" cy="2098826"/>
            </a:xfrm>
            <a:prstGeom prst="rect">
              <a:avLst/>
            </a:prstGeom>
            <a:solidFill>
              <a:srgbClr val="CF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1" name="Freeform 36"/>
            <p:cNvSpPr>
              <a:spLocks noChangeArrowheads="1"/>
            </p:cNvSpPr>
            <p:nvPr/>
          </p:nvSpPr>
          <p:spPr bwMode="auto">
            <a:xfrm>
              <a:off x="689348" y="93453"/>
              <a:ext cx="101148" cy="2098826"/>
            </a:xfrm>
            <a:custGeom>
              <a:avLst/>
              <a:gdLst>
                <a:gd name="T0" fmla="*/ 101148 w 92"/>
                <a:gd name="T1" fmla="*/ 0 h 1909"/>
                <a:gd name="T2" fmla="*/ 0 w 92"/>
                <a:gd name="T3" fmla="*/ 0 h 1909"/>
                <a:gd name="T4" fmla="*/ 0 w 92"/>
                <a:gd name="T5" fmla="*/ 2098826 h 1909"/>
                <a:gd name="T6" fmla="*/ 101148 w 92"/>
                <a:gd name="T7" fmla="*/ 2098826 h 19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1909"/>
                <a:gd name="T14" fmla="*/ 92 w 92"/>
                <a:gd name="T15" fmla="*/ 1909 h 19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1909">
                  <a:moveTo>
                    <a:pt x="92" y="0"/>
                  </a:moveTo>
                  <a:lnTo>
                    <a:pt x="0" y="0"/>
                  </a:lnTo>
                  <a:lnTo>
                    <a:pt x="0" y="1909"/>
                  </a:lnTo>
                  <a:lnTo>
                    <a:pt x="92" y="190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2" name="Rectangle 37"/>
            <p:cNvSpPr>
              <a:spLocks noChangeArrowheads="1"/>
            </p:cNvSpPr>
            <p:nvPr/>
          </p:nvSpPr>
          <p:spPr bwMode="auto">
            <a:xfrm>
              <a:off x="2187880" y="312240"/>
              <a:ext cx="67066" cy="1880038"/>
            </a:xfrm>
            <a:prstGeom prst="rect">
              <a:avLst/>
            </a:prstGeom>
            <a:solidFill>
              <a:srgbClr val="EC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3" name="Rectangle 38"/>
            <p:cNvSpPr>
              <a:spLocks noChangeArrowheads="1"/>
            </p:cNvSpPr>
            <p:nvPr/>
          </p:nvSpPr>
          <p:spPr bwMode="auto">
            <a:xfrm>
              <a:off x="2187880" y="312240"/>
              <a:ext cx="67066" cy="188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4" name="Freeform 39"/>
            <p:cNvSpPr>
              <a:spLocks noChangeArrowheads="1"/>
            </p:cNvSpPr>
            <p:nvPr/>
          </p:nvSpPr>
          <p:spPr bwMode="auto">
            <a:xfrm>
              <a:off x="2320913" y="423284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5" name="Freeform 40"/>
            <p:cNvSpPr>
              <a:spLocks noChangeArrowheads="1"/>
            </p:cNvSpPr>
            <p:nvPr/>
          </p:nvSpPr>
          <p:spPr bwMode="auto">
            <a:xfrm>
              <a:off x="2320913" y="512338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6" name="Freeform 41"/>
            <p:cNvSpPr>
              <a:spLocks noChangeArrowheads="1"/>
            </p:cNvSpPr>
            <p:nvPr/>
          </p:nvSpPr>
          <p:spPr bwMode="auto">
            <a:xfrm>
              <a:off x="2320913" y="761910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6039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6039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7" name="Freeform 42"/>
            <p:cNvSpPr>
              <a:spLocks noChangeArrowheads="1"/>
            </p:cNvSpPr>
            <p:nvPr/>
          </p:nvSpPr>
          <p:spPr bwMode="auto">
            <a:xfrm>
              <a:off x="2320913" y="910334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8" name="Freeform 43"/>
            <p:cNvSpPr>
              <a:spLocks noChangeArrowheads="1"/>
            </p:cNvSpPr>
            <p:nvPr/>
          </p:nvSpPr>
          <p:spPr bwMode="auto">
            <a:xfrm>
              <a:off x="2286830" y="1308330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3436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9" name="Freeform 44"/>
            <p:cNvSpPr>
              <a:spLocks noChangeArrowheads="1"/>
            </p:cNvSpPr>
            <p:nvPr/>
          </p:nvSpPr>
          <p:spPr bwMode="auto">
            <a:xfrm>
              <a:off x="2286830" y="1424871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6039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6039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0" name="Freeform 45"/>
            <p:cNvSpPr>
              <a:spLocks noChangeArrowheads="1"/>
            </p:cNvSpPr>
            <p:nvPr/>
          </p:nvSpPr>
          <p:spPr bwMode="auto">
            <a:xfrm>
              <a:off x="2286830" y="1542511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6039 h 19"/>
                <a:gd name="T6" fmla="*/ 0 w 546"/>
                <a:gd name="T7" fmla="*/ 26039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6039 h 19"/>
                <a:gd name="T14" fmla="*/ 1420473 w 546"/>
                <a:gd name="T15" fmla="*/ 26039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10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1" name="Freeform 46"/>
            <p:cNvSpPr>
              <a:spLocks noChangeArrowheads="1"/>
            </p:cNvSpPr>
            <p:nvPr/>
          </p:nvSpPr>
          <p:spPr bwMode="auto">
            <a:xfrm>
              <a:off x="2286830" y="1666747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3436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2" name="Freeform 47"/>
            <p:cNvSpPr>
              <a:spLocks noChangeArrowheads="1"/>
            </p:cNvSpPr>
            <p:nvPr/>
          </p:nvSpPr>
          <p:spPr bwMode="auto">
            <a:xfrm>
              <a:off x="918031" y="1576593"/>
              <a:ext cx="1161006" cy="131932"/>
            </a:xfrm>
            <a:custGeom>
              <a:avLst/>
              <a:gdLst>
                <a:gd name="T0" fmla="*/ 1137578 w 446"/>
                <a:gd name="T1" fmla="*/ 0 h 51"/>
                <a:gd name="T2" fmla="*/ 23428 w 446"/>
                <a:gd name="T3" fmla="*/ 77607 h 51"/>
                <a:gd name="T4" fmla="*/ 0 w 446"/>
                <a:gd name="T5" fmla="*/ 106063 h 51"/>
                <a:gd name="T6" fmla="*/ 23428 w 446"/>
                <a:gd name="T7" fmla="*/ 129345 h 51"/>
                <a:gd name="T8" fmla="*/ 1137578 w 446"/>
                <a:gd name="T9" fmla="*/ 46564 h 51"/>
                <a:gd name="T10" fmla="*/ 1161006 w 446"/>
                <a:gd name="T11" fmla="*/ 20695 h 51"/>
                <a:gd name="T12" fmla="*/ 1137578 w 446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51"/>
                <a:gd name="T23" fmla="*/ 446 w 44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51">
                  <a:moveTo>
                    <a:pt x="437" y="0"/>
                  </a:moveTo>
                  <a:cubicBezTo>
                    <a:pt x="294" y="10"/>
                    <a:pt x="152" y="20"/>
                    <a:pt x="9" y="30"/>
                  </a:cubicBezTo>
                  <a:cubicBezTo>
                    <a:pt x="4" y="31"/>
                    <a:pt x="0" y="36"/>
                    <a:pt x="0" y="41"/>
                  </a:cubicBezTo>
                  <a:cubicBezTo>
                    <a:pt x="0" y="47"/>
                    <a:pt x="4" y="51"/>
                    <a:pt x="9" y="50"/>
                  </a:cubicBezTo>
                  <a:cubicBezTo>
                    <a:pt x="152" y="40"/>
                    <a:pt x="294" y="29"/>
                    <a:pt x="437" y="18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4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3" name="Freeform 48"/>
            <p:cNvSpPr>
              <a:spLocks noChangeArrowheads="1"/>
            </p:cNvSpPr>
            <p:nvPr/>
          </p:nvSpPr>
          <p:spPr bwMode="auto">
            <a:xfrm>
              <a:off x="918031" y="1493036"/>
              <a:ext cx="1161006" cy="122038"/>
            </a:xfrm>
            <a:custGeom>
              <a:avLst/>
              <a:gdLst>
                <a:gd name="T0" fmla="*/ 1137578 w 446"/>
                <a:gd name="T1" fmla="*/ 2597 h 47"/>
                <a:gd name="T2" fmla="*/ 23428 w 446"/>
                <a:gd name="T3" fmla="*/ 67510 h 47"/>
                <a:gd name="T4" fmla="*/ 0 w 446"/>
                <a:gd name="T5" fmla="*/ 96072 h 47"/>
                <a:gd name="T6" fmla="*/ 23428 w 446"/>
                <a:gd name="T7" fmla="*/ 119441 h 47"/>
                <a:gd name="T8" fmla="*/ 1137578 w 446"/>
                <a:gd name="T9" fmla="*/ 46738 h 47"/>
                <a:gd name="T10" fmla="*/ 1161006 w 446"/>
                <a:gd name="T11" fmla="*/ 23369 h 47"/>
                <a:gd name="T12" fmla="*/ 1137578 w 446"/>
                <a:gd name="T13" fmla="*/ 2597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47"/>
                <a:gd name="T23" fmla="*/ 446 w 446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47">
                  <a:moveTo>
                    <a:pt x="437" y="1"/>
                  </a:moveTo>
                  <a:cubicBezTo>
                    <a:pt x="294" y="9"/>
                    <a:pt x="152" y="18"/>
                    <a:pt x="9" y="26"/>
                  </a:cubicBezTo>
                  <a:cubicBezTo>
                    <a:pt x="4" y="26"/>
                    <a:pt x="0" y="31"/>
                    <a:pt x="0" y="37"/>
                  </a:cubicBezTo>
                  <a:cubicBezTo>
                    <a:pt x="0" y="42"/>
                    <a:pt x="4" y="47"/>
                    <a:pt x="9" y="46"/>
                  </a:cubicBezTo>
                  <a:cubicBezTo>
                    <a:pt x="152" y="37"/>
                    <a:pt x="294" y="28"/>
                    <a:pt x="437" y="18"/>
                  </a:cubicBezTo>
                  <a:cubicBezTo>
                    <a:pt x="442" y="18"/>
                    <a:pt x="446" y="14"/>
                    <a:pt x="446" y="9"/>
                  </a:cubicBezTo>
                  <a:cubicBezTo>
                    <a:pt x="446" y="4"/>
                    <a:pt x="442" y="0"/>
                    <a:pt x="437" y="1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4" name="Freeform 49"/>
            <p:cNvSpPr>
              <a:spLocks noChangeArrowheads="1"/>
            </p:cNvSpPr>
            <p:nvPr/>
          </p:nvSpPr>
          <p:spPr bwMode="auto">
            <a:xfrm>
              <a:off x="918031" y="1261055"/>
              <a:ext cx="1161006" cy="85756"/>
            </a:xfrm>
            <a:custGeom>
              <a:avLst/>
              <a:gdLst>
                <a:gd name="T0" fmla="*/ 1137578 w 446"/>
                <a:gd name="T1" fmla="*/ 0 h 33"/>
                <a:gd name="T2" fmla="*/ 23428 w 446"/>
                <a:gd name="T3" fmla="*/ 33783 h 33"/>
                <a:gd name="T4" fmla="*/ 0 w 446"/>
                <a:gd name="T5" fmla="*/ 59769 h 33"/>
                <a:gd name="T6" fmla="*/ 23428 w 446"/>
                <a:gd name="T7" fmla="*/ 85756 h 33"/>
                <a:gd name="T8" fmla="*/ 1137578 w 446"/>
                <a:gd name="T9" fmla="*/ 44177 h 33"/>
                <a:gd name="T10" fmla="*/ 1161006 w 446"/>
                <a:gd name="T11" fmla="*/ 20789 h 33"/>
                <a:gd name="T12" fmla="*/ 1137578 w 446"/>
                <a:gd name="T13" fmla="*/ 0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3"/>
                <a:gd name="T23" fmla="*/ 446 w 446"/>
                <a:gd name="T24" fmla="*/ 33 h 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3">
                  <a:moveTo>
                    <a:pt x="437" y="0"/>
                  </a:moveTo>
                  <a:cubicBezTo>
                    <a:pt x="294" y="4"/>
                    <a:pt x="152" y="8"/>
                    <a:pt x="9" y="13"/>
                  </a:cubicBezTo>
                  <a:cubicBezTo>
                    <a:pt x="4" y="13"/>
                    <a:pt x="0" y="17"/>
                    <a:pt x="0" y="23"/>
                  </a:cubicBezTo>
                  <a:cubicBezTo>
                    <a:pt x="0" y="29"/>
                    <a:pt x="4" y="33"/>
                    <a:pt x="9" y="33"/>
                  </a:cubicBezTo>
                  <a:cubicBezTo>
                    <a:pt x="152" y="28"/>
                    <a:pt x="294" y="22"/>
                    <a:pt x="437" y="17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3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5" name="Freeform 50"/>
            <p:cNvSpPr>
              <a:spLocks noChangeArrowheads="1"/>
            </p:cNvSpPr>
            <p:nvPr/>
          </p:nvSpPr>
          <p:spPr bwMode="auto">
            <a:xfrm>
              <a:off x="918031" y="1123625"/>
              <a:ext cx="1161006" cy="67066"/>
            </a:xfrm>
            <a:custGeom>
              <a:avLst/>
              <a:gdLst>
                <a:gd name="T0" fmla="*/ 1137578 w 446"/>
                <a:gd name="T1" fmla="*/ 0 h 26"/>
                <a:gd name="T2" fmla="*/ 23428 w 446"/>
                <a:gd name="T3" fmla="*/ 12897 h 26"/>
                <a:gd name="T4" fmla="*/ 0 w 446"/>
                <a:gd name="T5" fmla="*/ 41271 h 26"/>
                <a:gd name="T6" fmla="*/ 23428 w 446"/>
                <a:gd name="T7" fmla="*/ 64487 h 26"/>
                <a:gd name="T8" fmla="*/ 1137578 w 446"/>
                <a:gd name="T9" fmla="*/ 43851 h 26"/>
                <a:gd name="T10" fmla="*/ 1161006 w 446"/>
                <a:gd name="T11" fmla="*/ 20636 h 26"/>
                <a:gd name="T12" fmla="*/ 1137578 w 446"/>
                <a:gd name="T13" fmla="*/ 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26"/>
                <a:gd name="T23" fmla="*/ 446 w 446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26">
                  <a:moveTo>
                    <a:pt x="437" y="0"/>
                  </a:moveTo>
                  <a:cubicBezTo>
                    <a:pt x="294" y="2"/>
                    <a:pt x="152" y="3"/>
                    <a:pt x="9" y="5"/>
                  </a:cubicBezTo>
                  <a:cubicBezTo>
                    <a:pt x="4" y="5"/>
                    <a:pt x="0" y="10"/>
                    <a:pt x="0" y="16"/>
                  </a:cubicBezTo>
                  <a:cubicBezTo>
                    <a:pt x="0" y="21"/>
                    <a:pt x="4" y="26"/>
                    <a:pt x="9" y="25"/>
                  </a:cubicBezTo>
                  <a:cubicBezTo>
                    <a:pt x="152" y="23"/>
                    <a:pt x="294" y="20"/>
                    <a:pt x="437" y="17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4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6" name="Freeform 51"/>
            <p:cNvSpPr>
              <a:spLocks noChangeArrowheads="1"/>
            </p:cNvSpPr>
            <p:nvPr/>
          </p:nvSpPr>
          <p:spPr bwMode="auto">
            <a:xfrm>
              <a:off x="889445" y="712435"/>
              <a:ext cx="1159907" cy="83557"/>
            </a:xfrm>
            <a:custGeom>
              <a:avLst/>
              <a:gdLst>
                <a:gd name="T0" fmla="*/ 1136501 w 446"/>
                <a:gd name="T1" fmla="*/ 39167 h 32"/>
                <a:gd name="T2" fmla="*/ 26007 w 446"/>
                <a:gd name="T3" fmla="*/ 0 h 32"/>
                <a:gd name="T4" fmla="*/ 0 w 446"/>
                <a:gd name="T5" fmla="*/ 26112 h 32"/>
                <a:gd name="T6" fmla="*/ 26007 w 446"/>
                <a:gd name="T7" fmla="*/ 52223 h 32"/>
                <a:gd name="T8" fmla="*/ 1136501 w 446"/>
                <a:gd name="T9" fmla="*/ 83557 h 32"/>
                <a:gd name="T10" fmla="*/ 1159907 w 446"/>
                <a:gd name="T11" fmla="*/ 62668 h 32"/>
                <a:gd name="T12" fmla="*/ 1136501 w 446"/>
                <a:gd name="T13" fmla="*/ 3916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2"/>
                <a:gd name="T23" fmla="*/ 446 w 446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2">
                  <a:moveTo>
                    <a:pt x="437" y="15"/>
                  </a:moveTo>
                  <a:cubicBezTo>
                    <a:pt x="294" y="10"/>
                    <a:pt x="152" y="5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52" y="24"/>
                    <a:pt x="294" y="28"/>
                    <a:pt x="437" y="32"/>
                  </a:cubicBezTo>
                  <a:cubicBezTo>
                    <a:pt x="442" y="32"/>
                    <a:pt x="446" y="29"/>
                    <a:pt x="446" y="24"/>
                  </a:cubicBezTo>
                  <a:cubicBezTo>
                    <a:pt x="446" y="19"/>
                    <a:pt x="442" y="15"/>
                    <a:pt x="437" y="15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7" name="Freeform 52"/>
            <p:cNvSpPr>
              <a:spLocks noChangeArrowheads="1"/>
            </p:cNvSpPr>
            <p:nvPr/>
          </p:nvSpPr>
          <p:spPr bwMode="auto">
            <a:xfrm>
              <a:off x="889445" y="587100"/>
              <a:ext cx="1159907" cy="98949"/>
            </a:xfrm>
            <a:custGeom>
              <a:avLst/>
              <a:gdLst>
                <a:gd name="T0" fmla="*/ 1136501 w 446"/>
                <a:gd name="T1" fmla="*/ 52078 h 38"/>
                <a:gd name="T2" fmla="*/ 26007 w 446"/>
                <a:gd name="T3" fmla="*/ 0 h 38"/>
                <a:gd name="T4" fmla="*/ 0 w 446"/>
                <a:gd name="T5" fmla="*/ 23435 h 38"/>
                <a:gd name="T6" fmla="*/ 26007 w 446"/>
                <a:gd name="T7" fmla="*/ 52078 h 38"/>
                <a:gd name="T8" fmla="*/ 1136501 w 446"/>
                <a:gd name="T9" fmla="*/ 98949 h 38"/>
                <a:gd name="T10" fmla="*/ 1159907 w 446"/>
                <a:gd name="T11" fmla="*/ 75514 h 38"/>
                <a:gd name="T12" fmla="*/ 1136501 w 446"/>
                <a:gd name="T13" fmla="*/ 5207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8"/>
                <a:gd name="T23" fmla="*/ 446 w 446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8">
                  <a:moveTo>
                    <a:pt x="437" y="20"/>
                  </a:moveTo>
                  <a:cubicBezTo>
                    <a:pt x="294" y="13"/>
                    <a:pt x="152" y="7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2" y="26"/>
                    <a:pt x="294" y="32"/>
                    <a:pt x="437" y="38"/>
                  </a:cubicBezTo>
                  <a:cubicBezTo>
                    <a:pt x="442" y="38"/>
                    <a:pt x="446" y="34"/>
                    <a:pt x="446" y="29"/>
                  </a:cubicBezTo>
                  <a:cubicBezTo>
                    <a:pt x="446" y="25"/>
                    <a:pt x="442" y="20"/>
                    <a:pt x="437" y="2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8" name="Freeform 53"/>
            <p:cNvSpPr>
              <a:spLocks noChangeArrowheads="1"/>
            </p:cNvSpPr>
            <p:nvPr/>
          </p:nvSpPr>
          <p:spPr bwMode="auto">
            <a:xfrm>
              <a:off x="889445" y="459565"/>
              <a:ext cx="1159907" cy="117640"/>
            </a:xfrm>
            <a:custGeom>
              <a:avLst/>
              <a:gdLst>
                <a:gd name="T0" fmla="*/ 1136501 w 446"/>
                <a:gd name="T1" fmla="*/ 70584 h 45"/>
                <a:gd name="T2" fmla="*/ 26007 w 446"/>
                <a:gd name="T3" fmla="*/ 0 h 45"/>
                <a:gd name="T4" fmla="*/ 0 w 446"/>
                <a:gd name="T5" fmla="*/ 26142 h 45"/>
                <a:gd name="T6" fmla="*/ 26007 w 446"/>
                <a:gd name="T7" fmla="*/ 54899 h 45"/>
                <a:gd name="T8" fmla="*/ 1136501 w 446"/>
                <a:gd name="T9" fmla="*/ 115026 h 45"/>
                <a:gd name="T10" fmla="*/ 1159907 w 446"/>
                <a:gd name="T11" fmla="*/ 94112 h 45"/>
                <a:gd name="T12" fmla="*/ 1136501 w 446"/>
                <a:gd name="T13" fmla="*/ 705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45"/>
                <a:gd name="T23" fmla="*/ 446 w 446"/>
                <a:gd name="T24" fmla="*/ 45 h 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45">
                  <a:moveTo>
                    <a:pt x="437" y="27"/>
                  </a:moveTo>
                  <a:cubicBezTo>
                    <a:pt x="294" y="18"/>
                    <a:pt x="152" y="9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1"/>
                  </a:cubicBezTo>
                  <a:cubicBezTo>
                    <a:pt x="152" y="29"/>
                    <a:pt x="294" y="36"/>
                    <a:pt x="437" y="44"/>
                  </a:cubicBezTo>
                  <a:cubicBezTo>
                    <a:pt x="442" y="45"/>
                    <a:pt x="446" y="41"/>
                    <a:pt x="446" y="36"/>
                  </a:cubicBezTo>
                  <a:cubicBezTo>
                    <a:pt x="446" y="31"/>
                    <a:pt x="442" y="27"/>
                    <a:pt x="437" y="27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9" name="Freeform 54"/>
            <p:cNvSpPr>
              <a:spLocks noChangeArrowheads="1"/>
            </p:cNvSpPr>
            <p:nvPr/>
          </p:nvSpPr>
          <p:spPr bwMode="auto">
            <a:xfrm>
              <a:off x="889445" y="329831"/>
              <a:ext cx="1159907" cy="133032"/>
            </a:xfrm>
            <a:custGeom>
              <a:avLst/>
              <a:gdLst>
                <a:gd name="T0" fmla="*/ 1136501 w 446"/>
                <a:gd name="T1" fmla="*/ 86080 h 51"/>
                <a:gd name="T2" fmla="*/ 26007 w 446"/>
                <a:gd name="T3" fmla="*/ 0 h 51"/>
                <a:gd name="T4" fmla="*/ 0 w 446"/>
                <a:gd name="T5" fmla="*/ 23476 h 51"/>
                <a:gd name="T6" fmla="*/ 26007 w 446"/>
                <a:gd name="T7" fmla="*/ 52169 h 51"/>
                <a:gd name="T8" fmla="*/ 1136501 w 446"/>
                <a:gd name="T9" fmla="*/ 130424 h 51"/>
                <a:gd name="T10" fmla="*/ 1159907 w 446"/>
                <a:gd name="T11" fmla="*/ 109556 h 51"/>
                <a:gd name="T12" fmla="*/ 1136501 w 446"/>
                <a:gd name="T13" fmla="*/ 8608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51"/>
                <a:gd name="T23" fmla="*/ 446 w 44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51">
                  <a:moveTo>
                    <a:pt x="437" y="33"/>
                  </a:moveTo>
                  <a:cubicBezTo>
                    <a:pt x="294" y="22"/>
                    <a:pt x="152" y="11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2" y="30"/>
                    <a:pt x="294" y="40"/>
                    <a:pt x="437" y="50"/>
                  </a:cubicBezTo>
                  <a:cubicBezTo>
                    <a:pt x="442" y="51"/>
                    <a:pt x="446" y="47"/>
                    <a:pt x="446" y="42"/>
                  </a:cubicBezTo>
                  <a:cubicBezTo>
                    <a:pt x="446" y="37"/>
                    <a:pt x="442" y="33"/>
                    <a:pt x="437" y="3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0" name="Freeform 55"/>
            <p:cNvSpPr>
              <a:spLocks noChangeArrowheads="1"/>
            </p:cNvSpPr>
            <p:nvPr/>
          </p:nvSpPr>
          <p:spPr bwMode="auto">
            <a:xfrm>
              <a:off x="2187880" y="312240"/>
              <a:ext cx="98949" cy="1175299"/>
            </a:xfrm>
            <a:custGeom>
              <a:avLst/>
              <a:gdLst>
                <a:gd name="T0" fmla="*/ 0 w 90"/>
                <a:gd name="T1" fmla="*/ 0 h 1069"/>
                <a:gd name="T2" fmla="*/ 0 w 90"/>
                <a:gd name="T3" fmla="*/ 1175299 h 1069"/>
                <a:gd name="T4" fmla="*/ 49475 w 90"/>
                <a:gd name="T5" fmla="*/ 1136819 h 1069"/>
                <a:gd name="T6" fmla="*/ 98949 w 90"/>
                <a:gd name="T7" fmla="*/ 1175299 h 1069"/>
                <a:gd name="T8" fmla="*/ 98949 w 90"/>
                <a:gd name="T9" fmla="*/ 0 h 1069"/>
                <a:gd name="T10" fmla="*/ 0 w 90"/>
                <a:gd name="T11" fmla="*/ 0 h 10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0"/>
                <a:gd name="T19" fmla="*/ 0 h 1069"/>
                <a:gd name="T20" fmla="*/ 90 w 90"/>
                <a:gd name="T21" fmla="*/ 1069 h 10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0" h="1069">
                  <a:moveTo>
                    <a:pt x="0" y="0"/>
                  </a:moveTo>
                  <a:lnTo>
                    <a:pt x="0" y="1069"/>
                  </a:lnTo>
                  <a:lnTo>
                    <a:pt x="45" y="1034"/>
                  </a:lnTo>
                  <a:lnTo>
                    <a:pt x="90" y="1069"/>
                  </a:lnTo>
                  <a:lnTo>
                    <a:pt x="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1" name="文本框 56"/>
            <p:cNvSpPr>
              <a:spLocks noChangeArrowheads="1"/>
            </p:cNvSpPr>
            <p:nvPr/>
          </p:nvSpPr>
          <p:spPr bwMode="auto">
            <a:xfrm>
              <a:off x="401843" y="3097115"/>
              <a:ext cx="3878816" cy="707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3375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05</a:t>
              </a:r>
            </a:p>
          </p:txBody>
        </p:sp>
      </p:grpSp>
      <p:sp>
        <p:nvSpPr>
          <p:cNvPr id="80" name="TextBox 4"/>
          <p:cNvSpPr txBox="1"/>
          <p:nvPr/>
        </p:nvSpPr>
        <p:spPr>
          <a:xfrm>
            <a:off x="3809708" y="5068679"/>
            <a:ext cx="56440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应用举例</a:t>
            </a:r>
            <a:endParaRPr lang="en-US" altLang="zh-CN" sz="5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975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2517988" y="447973"/>
            <a:ext cx="9528011" cy="811475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>
            <a:defPPr>
              <a:defRPr lang="zh-CN"/>
            </a:defPPr>
            <a:lvl1pPr>
              <a:spcBef>
                <a:spcPct val="0"/>
              </a:spcBef>
              <a:defRPr sz="440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用双重循环打印出如下运行结果</a:t>
            </a:r>
          </a:p>
        </p:txBody>
      </p:sp>
      <p:sp>
        <p:nvSpPr>
          <p:cNvPr id="509955" name="Rectangle 3"/>
          <p:cNvSpPr>
            <a:spLocks noChangeArrowheads="1"/>
          </p:cNvSpPr>
          <p:nvPr/>
        </p:nvSpPr>
        <p:spPr bwMode="auto">
          <a:xfrm>
            <a:off x="4982845" y="1858389"/>
            <a:ext cx="3877504" cy="3079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17" tIns="49357" rIns="94917" bIns="49357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5695" dirty="0">
                <a:latin typeface="Times New Roman" pitchFamily="18" charset="0"/>
              </a:rPr>
              <a:t> *****</a:t>
            </a:r>
          </a:p>
          <a:p>
            <a:pPr>
              <a:lnSpc>
                <a:spcPct val="85000"/>
              </a:lnSpc>
            </a:pPr>
            <a:r>
              <a:rPr lang="en-US" altLang="zh-CN" sz="5695" dirty="0">
                <a:latin typeface="Times New Roman" pitchFamily="18" charset="0"/>
              </a:rPr>
              <a:t>   *****</a:t>
            </a:r>
          </a:p>
          <a:p>
            <a:pPr>
              <a:lnSpc>
                <a:spcPct val="85000"/>
              </a:lnSpc>
            </a:pPr>
            <a:r>
              <a:rPr lang="en-US" altLang="zh-CN" sz="5695" dirty="0">
                <a:latin typeface="Times New Roman" pitchFamily="18" charset="0"/>
              </a:rPr>
              <a:t>     *****</a:t>
            </a:r>
          </a:p>
          <a:p>
            <a:pPr>
              <a:lnSpc>
                <a:spcPct val="85000"/>
              </a:lnSpc>
            </a:pPr>
            <a:r>
              <a:rPr lang="en-US" altLang="zh-CN" sz="5695" dirty="0">
                <a:latin typeface="Times New Roman" pitchFamily="18" charset="0"/>
              </a:rPr>
              <a:t>       *****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1EE90E9-381A-46C2-A554-E64C6CB16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案例十</a:t>
            </a:r>
          </a:p>
        </p:txBody>
      </p:sp>
    </p:spTree>
    <p:extLst>
      <p:ext uri="{BB962C8B-B14F-4D97-AF65-F5344CB8AC3E}">
        <p14:creationId xmlns:p14="http://schemas.microsoft.com/office/powerpoint/2010/main" val="197654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55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10978" name="Rectangle 2"/>
          <p:cNvSpPr>
            <a:spLocks noChangeArrowheads="1"/>
          </p:cNvSpPr>
          <p:nvPr/>
        </p:nvSpPr>
        <p:spPr bwMode="auto">
          <a:xfrm>
            <a:off x="2612951" y="159941"/>
            <a:ext cx="6264696" cy="6747652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#include&lt;</a:t>
            </a:r>
            <a:r>
              <a:rPr lang="en-US" altLang="zh-CN" sz="3600" b="1" dirty="0" err="1">
                <a:latin typeface="Times New Roman" pitchFamily="18" charset="0"/>
              </a:rPr>
              <a:t>stdio.h</a:t>
            </a:r>
            <a:r>
              <a:rPr lang="en-US" altLang="zh-CN" sz="3600" b="1" dirty="0">
                <a:latin typeface="Times New Roman" pitchFamily="18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altLang="zh-CN" sz="3600" b="1" dirty="0" err="1">
                <a:latin typeface="Times New Roman" pitchFamily="18" charset="0"/>
              </a:rPr>
              <a:t>int</a:t>
            </a:r>
            <a:r>
              <a:rPr lang="en-US" altLang="zh-CN" sz="3600" b="1" dirty="0">
                <a:latin typeface="Times New Roman" pitchFamily="18" charset="0"/>
              </a:rPr>
              <a:t> main( )</a:t>
            </a:r>
          </a:p>
          <a:p>
            <a:pPr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{  </a:t>
            </a:r>
            <a:r>
              <a:rPr lang="en-US" altLang="zh-CN" sz="3600" b="1" dirty="0" err="1">
                <a:latin typeface="Times New Roman" pitchFamily="18" charset="0"/>
              </a:rPr>
              <a:t>int</a:t>
            </a:r>
            <a:r>
              <a:rPr lang="en-US" altLang="zh-CN" sz="3600" b="1" dirty="0">
                <a:latin typeface="Times New Roman" pitchFamily="18" charset="0"/>
              </a:rPr>
              <a:t> </a:t>
            </a:r>
            <a:r>
              <a:rPr lang="en-US" altLang="zh-CN" sz="3600" b="1" dirty="0" err="1">
                <a:latin typeface="Times New Roman" pitchFamily="18" charset="0"/>
              </a:rPr>
              <a:t>i,j</a:t>
            </a:r>
            <a:r>
              <a:rPr lang="en-US" altLang="zh-CN" sz="3600" b="1" dirty="0">
                <a:latin typeface="Times New Roman" pitchFamily="18" charset="0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   for(</a:t>
            </a:r>
            <a:r>
              <a:rPr lang="en-US" altLang="zh-CN" sz="3600" b="1" dirty="0" err="1">
                <a:latin typeface="Times New Roman" pitchFamily="18" charset="0"/>
              </a:rPr>
              <a:t>i</a:t>
            </a:r>
            <a:r>
              <a:rPr lang="en-US" altLang="zh-CN" sz="3600" b="1" dirty="0">
                <a:latin typeface="Times New Roman" pitchFamily="18" charset="0"/>
              </a:rPr>
              <a:t>=1;i&lt;=4;i++)</a:t>
            </a:r>
          </a:p>
          <a:p>
            <a:pPr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        </a:t>
            </a: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</a:rPr>
              <a:t>for(j=1;j&lt;</a:t>
            </a:r>
            <a:r>
              <a:rPr lang="en-US" altLang="zh-CN" sz="3600" b="1" dirty="0" err="1">
                <a:solidFill>
                  <a:srgbClr val="C00000"/>
                </a:solidFill>
                <a:latin typeface="Times New Roman" pitchFamily="18" charset="0"/>
              </a:rPr>
              <a:t>i;j</a:t>
            </a: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</a:rPr>
              <a:t>++)</a:t>
            </a:r>
          </a:p>
          <a:p>
            <a:pPr>
              <a:spcBef>
                <a:spcPts val="0"/>
              </a:spcBef>
            </a:pP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</a:rPr>
              <a:t>             </a:t>
            </a:r>
            <a:r>
              <a:rPr lang="en-US" altLang="zh-CN" sz="3600" b="1" dirty="0" err="1">
                <a:solidFill>
                  <a:srgbClr val="C00000"/>
                </a:solidFill>
                <a:latin typeface="Times New Roman" pitchFamily="18" charset="0"/>
              </a:rPr>
              <a:t>printf</a:t>
            </a: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</a:rPr>
              <a:t>(" ");</a:t>
            </a:r>
          </a:p>
          <a:p>
            <a:pPr>
              <a:spcBef>
                <a:spcPts val="0"/>
              </a:spcBef>
            </a:pP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</a:rPr>
              <a:t>        for(j=1;j&lt;=5;j++)</a:t>
            </a:r>
          </a:p>
          <a:p>
            <a:pPr>
              <a:spcBef>
                <a:spcPts val="0"/>
              </a:spcBef>
            </a:pP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</a:rPr>
              <a:t>	    </a:t>
            </a:r>
            <a:r>
              <a:rPr lang="en-US" altLang="zh-CN" sz="3600" b="1" dirty="0" err="1">
                <a:solidFill>
                  <a:srgbClr val="C00000"/>
                </a:solidFill>
                <a:latin typeface="Times New Roman" pitchFamily="18" charset="0"/>
              </a:rPr>
              <a:t>printf</a:t>
            </a: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</a:rPr>
              <a:t>("*");</a:t>
            </a:r>
          </a:p>
          <a:p>
            <a:pPr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        </a:t>
            </a:r>
            <a:r>
              <a:rPr lang="en-US" altLang="zh-CN" sz="3600" b="1" dirty="0" err="1">
                <a:latin typeface="Times New Roman" pitchFamily="18" charset="0"/>
              </a:rPr>
              <a:t>printf</a:t>
            </a:r>
            <a:r>
              <a:rPr lang="en-US" altLang="zh-CN" sz="3600" b="1" dirty="0">
                <a:latin typeface="Times New Roman" pitchFamily="18" charset="0"/>
              </a:rPr>
              <a:t>("\n");</a:t>
            </a:r>
          </a:p>
          <a:p>
            <a:pPr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      }</a:t>
            </a:r>
          </a:p>
          <a:p>
            <a:pPr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   return 0;</a:t>
            </a:r>
          </a:p>
          <a:p>
            <a:pPr>
              <a:spcBef>
                <a:spcPts val="0"/>
              </a:spcBef>
            </a:pPr>
            <a:r>
              <a:rPr lang="en-US" altLang="zh-CN" sz="3600" b="1" dirty="0">
                <a:latin typeface="Times New Roman" pitchFamily="18" charset="0"/>
              </a:rPr>
              <a:t>  }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4A73CD5-9068-4756-B609-395286F08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案例十代码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D8E8A4-67C3-4CBE-8DB0-16603848CE75}"/>
              </a:ext>
            </a:extLst>
          </p:cNvPr>
          <p:cNvSpPr/>
          <p:nvPr/>
        </p:nvSpPr>
        <p:spPr>
          <a:xfrm>
            <a:off x="3117007" y="2317234"/>
            <a:ext cx="365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latin typeface="Times New Roman" pitchFamily="18" charset="0"/>
              </a:rPr>
              <a:t>{</a:t>
            </a:r>
            <a:endParaRPr lang="zh-CN" altLang="en-US" sz="3600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9125262" y="1688985"/>
            <a:ext cx="3424793" cy="307946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/>
        </p:spPr>
        <p:txBody>
          <a:bodyPr wrap="square" lIns="94917" tIns="49357" rIns="94917" bIns="49357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5695" dirty="0">
                <a:solidFill>
                  <a:schemeClr val="bg1"/>
                </a:solidFill>
                <a:latin typeface="Times New Roman" pitchFamily="18" charset="0"/>
              </a:rPr>
              <a:t>*****</a:t>
            </a:r>
          </a:p>
          <a:p>
            <a:pPr>
              <a:lnSpc>
                <a:spcPct val="85000"/>
              </a:lnSpc>
            </a:pPr>
            <a:r>
              <a:rPr lang="en-US" altLang="zh-CN" sz="5695" dirty="0">
                <a:solidFill>
                  <a:schemeClr val="bg1"/>
                </a:solidFill>
                <a:latin typeface="Times New Roman" pitchFamily="18" charset="0"/>
              </a:rPr>
              <a:t>  *****</a:t>
            </a:r>
          </a:p>
          <a:p>
            <a:pPr>
              <a:lnSpc>
                <a:spcPct val="85000"/>
              </a:lnSpc>
            </a:pPr>
            <a:r>
              <a:rPr lang="en-US" altLang="zh-CN" sz="5695" dirty="0">
                <a:solidFill>
                  <a:schemeClr val="bg1"/>
                </a:solidFill>
                <a:latin typeface="Times New Roman" pitchFamily="18" charset="0"/>
              </a:rPr>
              <a:t>    *****</a:t>
            </a:r>
          </a:p>
          <a:p>
            <a:pPr>
              <a:lnSpc>
                <a:spcPct val="85000"/>
              </a:lnSpc>
            </a:pPr>
            <a:r>
              <a:rPr lang="en-US" altLang="zh-CN" sz="5695" dirty="0">
                <a:solidFill>
                  <a:schemeClr val="bg1"/>
                </a:solidFill>
                <a:latin typeface="Times New Roman" pitchFamily="18" charset="0"/>
              </a:rPr>
              <a:t>      *****</a:t>
            </a:r>
          </a:p>
        </p:txBody>
      </p:sp>
    </p:spTree>
    <p:extLst>
      <p:ext uri="{BB962C8B-B14F-4D97-AF65-F5344CB8AC3E}">
        <p14:creationId xmlns:p14="http://schemas.microsoft.com/office/powerpoint/2010/main" val="18113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0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0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0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0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0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0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0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0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0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10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10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0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7D5BD3-1F1C-4CE3-84DA-783B49548D2A}" type="slidenum">
              <a:rPr lang="en-US" altLang="zh-CN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2324919" y="447973"/>
            <a:ext cx="10068420" cy="1684921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 fontScale="92500" lnSpcReduction="10000"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编写程序，用下列公式计算</a:t>
            </a:r>
            <a:r>
              <a:rPr lang="el-GR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Π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的近似值，直到最后一项的绝对值小于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sz="4000" b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-6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为止。</a:t>
            </a:r>
          </a:p>
        </p:txBody>
      </p:sp>
      <p:sp>
        <p:nvSpPr>
          <p:cNvPr id="10244" name="Rectangle 2"/>
          <p:cNvSpPr>
            <a:spLocks noChangeArrowheads="1"/>
          </p:cNvSpPr>
          <p:nvPr/>
        </p:nvSpPr>
        <p:spPr bwMode="auto">
          <a:xfrm>
            <a:off x="1607609" y="-188338"/>
            <a:ext cx="191752" cy="376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4917" tIns="49357" rIns="94917" bIns="49357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961322"/>
              </p:ext>
            </p:extLst>
          </p:nvPr>
        </p:nvGraphicFramePr>
        <p:xfrm>
          <a:off x="2036887" y="2608213"/>
          <a:ext cx="9936707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1" name="公式" r:id="rId4" imgW="2019300" imgH="406400" progId="Equation.3">
                  <p:embed/>
                </p:oleObj>
              </mc:Choice>
              <mc:Fallback>
                <p:oleObj name="公式" r:id="rId4" imgW="2019300" imgH="406400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6887" y="2608213"/>
                        <a:ext cx="9936707" cy="20162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C61A4C0-7E77-4CC4-9627-9E45A1534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 fontScale="92500"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案例十一</a:t>
            </a:r>
          </a:p>
        </p:txBody>
      </p:sp>
    </p:spTree>
    <p:extLst>
      <p:ext uri="{BB962C8B-B14F-4D97-AF65-F5344CB8AC3E}">
        <p14:creationId xmlns:p14="http://schemas.microsoft.com/office/powerpoint/2010/main" val="3694642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3158128" y="1419493"/>
            <a:ext cx="7087671" cy="5509200"/>
          </a:xfrm>
          <a:prstGeom prst="rect">
            <a:avLst/>
          </a:prstGeom>
          <a:noFill/>
          <a:ln w="635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math.h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void main(  )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{    float n=1,t=1,sum=0,flag=1;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while(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fabs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(t)&gt;=1e-6)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     sum=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sum+t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      flag=-flag;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	    n=n+2;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	    t=flag*1.0/n;       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("pi=%f\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n",sum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*4 );</a:t>
            </a:r>
          </a:p>
          <a:p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 }</a:t>
            </a:r>
            <a:endParaRPr lang="zh-CN" alt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C40EE2-6653-4077-8D0A-ECBB2261B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案例十一代码</a:t>
            </a:r>
          </a:p>
        </p:txBody>
      </p:sp>
      <p:sp>
        <p:nvSpPr>
          <p:cNvPr id="2" name="矩形 1"/>
          <p:cNvSpPr/>
          <p:nvPr/>
        </p:nvSpPr>
        <p:spPr>
          <a:xfrm>
            <a:off x="3846563" y="3859054"/>
            <a:ext cx="4491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{ 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7149455" y="5333325"/>
            <a:ext cx="3465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880234"/>
              </p:ext>
            </p:extLst>
          </p:nvPr>
        </p:nvGraphicFramePr>
        <p:xfrm>
          <a:off x="3548931" y="88181"/>
          <a:ext cx="6192812" cy="1256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3" name="公式" r:id="rId4" imgW="2019300" imgH="406400" progId="Equation.3">
                  <p:embed/>
                </p:oleObj>
              </mc:Choice>
              <mc:Fallback>
                <p:oleObj name="公式" r:id="rId4" imgW="2019300" imgH="40640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931" y="88181"/>
                        <a:ext cx="6192812" cy="1256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253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2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2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BAB259-B831-4390-AA59-6F63FF23F48D}" type="slidenum">
              <a:rPr lang="en-US" altLang="zh-CN"/>
              <a:pPr>
                <a:defRPr/>
              </a:pPr>
              <a:t>55</a:t>
            </a:fld>
            <a:endParaRPr lang="en-US" altLang="zh-CN"/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2468935" y="318473"/>
            <a:ext cx="9433048" cy="1533038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 fontScale="92500" lnSpcReduction="10000"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编写程序，计算两个正整数</a:t>
            </a:r>
            <a:r>
              <a:rPr lang="en-US" altLang="zh-CN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的最大公约数和最小公倍数。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8C8427-DC57-4B68-B1B9-AF98E7073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 fontScale="92500"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案例十二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F4F869-BA3D-4C3E-B82D-B12B93F2C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105" y="1997884"/>
            <a:ext cx="1072887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计算最大公约数的算法：</a:t>
            </a:r>
          </a:p>
          <a:p>
            <a:pPr algn="l">
              <a:spcBef>
                <a:spcPct val="50000"/>
              </a:spcBef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q=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m%n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algn="l">
              <a:spcBef>
                <a:spcPct val="50000"/>
              </a:spcBef>
              <a:defRPr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）判断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值是否为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，若是，则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的值即为最大公约数，否则令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，返回（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34F5588-0422-457F-82E4-9907D10CF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7580" y="4696445"/>
            <a:ext cx="10010427" cy="156966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计算最小公倍数的算法：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两个数之积除以它们的最大公约数。</a:t>
            </a:r>
          </a:p>
        </p:txBody>
      </p:sp>
    </p:spTree>
    <p:extLst>
      <p:ext uri="{BB962C8B-B14F-4D97-AF65-F5344CB8AC3E}">
        <p14:creationId xmlns:p14="http://schemas.microsoft.com/office/powerpoint/2010/main" val="129206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482306" name="Rectangle 2"/>
          <p:cNvSpPr>
            <a:spLocks noChangeArrowheads="1"/>
          </p:cNvSpPr>
          <p:nvPr/>
        </p:nvSpPr>
        <p:spPr bwMode="auto">
          <a:xfrm>
            <a:off x="2756967" y="591023"/>
            <a:ext cx="8352928" cy="6193654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r>
              <a:rPr lang="en-US" altLang="zh-CN" sz="3600" b="1" dirty="0">
                <a:latin typeface="Times New Roman" pitchFamily="18" charset="0"/>
              </a:rPr>
              <a:t>  #include&lt;</a:t>
            </a:r>
            <a:r>
              <a:rPr lang="en-US" altLang="zh-CN" sz="3600" b="1" dirty="0" err="1">
                <a:latin typeface="Times New Roman" pitchFamily="18" charset="0"/>
              </a:rPr>
              <a:t>stdio.h</a:t>
            </a:r>
            <a:r>
              <a:rPr lang="en-US" altLang="zh-CN" sz="3600" b="1" dirty="0">
                <a:latin typeface="Times New Roman" pitchFamily="18" charset="0"/>
              </a:rPr>
              <a:t>&gt;</a:t>
            </a:r>
          </a:p>
          <a:p>
            <a:r>
              <a:rPr lang="en-US" altLang="zh-CN" sz="3600" b="1" dirty="0">
                <a:latin typeface="Times New Roman" pitchFamily="18" charset="0"/>
              </a:rPr>
              <a:t>  void main(  ) </a:t>
            </a:r>
          </a:p>
          <a:p>
            <a:r>
              <a:rPr lang="en-US" altLang="zh-CN" sz="3600" b="1" dirty="0">
                <a:latin typeface="Times New Roman" pitchFamily="18" charset="0"/>
              </a:rPr>
              <a:t>  {</a:t>
            </a:r>
            <a:r>
              <a:rPr lang="zh-CN" altLang="en-US" sz="3600" b="1" dirty="0">
                <a:latin typeface="Times New Roman" pitchFamily="18" charset="0"/>
              </a:rPr>
              <a:t>　</a:t>
            </a:r>
            <a:r>
              <a:rPr lang="en-US" altLang="zh-CN" sz="3600" b="1" dirty="0" err="1">
                <a:latin typeface="Times New Roman" pitchFamily="18" charset="0"/>
              </a:rPr>
              <a:t>int</a:t>
            </a:r>
            <a:r>
              <a:rPr lang="en-US" altLang="zh-CN" sz="3600" b="1" dirty="0">
                <a:latin typeface="Times New Roman" pitchFamily="18" charset="0"/>
              </a:rPr>
              <a:t> </a:t>
            </a:r>
            <a:r>
              <a:rPr lang="en-US" altLang="zh-CN" sz="3600" b="1" dirty="0" err="1">
                <a:latin typeface="Times New Roman" pitchFamily="18" charset="0"/>
              </a:rPr>
              <a:t>m,n,q,r,temp</a:t>
            </a:r>
            <a:r>
              <a:rPr lang="en-US" altLang="zh-CN" sz="3600" b="1" dirty="0">
                <a:latin typeface="Times New Roman" pitchFamily="18" charset="0"/>
              </a:rPr>
              <a:t>;</a:t>
            </a:r>
          </a:p>
          <a:p>
            <a:r>
              <a:rPr lang="en-US" altLang="zh-CN" sz="3600" b="1" dirty="0">
                <a:latin typeface="Times New Roman" pitchFamily="18" charset="0"/>
              </a:rPr>
              <a:t>        </a:t>
            </a:r>
            <a:r>
              <a:rPr lang="en-US" altLang="zh-CN" sz="3600" b="1" dirty="0" err="1">
                <a:latin typeface="Times New Roman" pitchFamily="18" charset="0"/>
              </a:rPr>
              <a:t>scanf</a:t>
            </a:r>
            <a:r>
              <a:rPr lang="en-US" altLang="zh-CN" sz="3600" b="1" dirty="0">
                <a:latin typeface="Times New Roman" pitchFamily="18" charset="0"/>
              </a:rPr>
              <a:t>("%</a:t>
            </a:r>
            <a:r>
              <a:rPr lang="en-US" altLang="zh-CN" sz="3600" b="1" dirty="0" err="1">
                <a:latin typeface="Times New Roman" pitchFamily="18" charset="0"/>
              </a:rPr>
              <a:t>d,%d",&amp;m,&amp;n</a:t>
            </a:r>
            <a:r>
              <a:rPr lang="en-US" altLang="zh-CN" sz="3600" b="1" dirty="0">
                <a:latin typeface="Times New Roman" pitchFamily="18" charset="0"/>
              </a:rPr>
              <a:t>);</a:t>
            </a:r>
          </a:p>
          <a:p>
            <a:r>
              <a:rPr lang="en-US" altLang="zh-CN" sz="3600" b="1" dirty="0">
                <a:latin typeface="Times New Roman" pitchFamily="18" charset="0"/>
              </a:rPr>
              <a:t>        if(n</a:t>
            </a:r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</a:rPr>
              <a:t>&gt;</a:t>
            </a:r>
            <a:r>
              <a:rPr lang="en-US" altLang="zh-CN" sz="3600" b="1" dirty="0">
                <a:latin typeface="Times New Roman" pitchFamily="18" charset="0"/>
              </a:rPr>
              <a:t>m)</a:t>
            </a:r>
          </a:p>
          <a:p>
            <a:r>
              <a:rPr lang="en-US" altLang="zh-CN" sz="3600" b="1" dirty="0">
                <a:latin typeface="Times New Roman" pitchFamily="18" charset="0"/>
              </a:rPr>
              <a:t>           {</a:t>
            </a:r>
            <a:r>
              <a:rPr lang="zh-CN" altLang="en-US" sz="3600" b="1" dirty="0">
                <a:latin typeface="Times New Roman" pitchFamily="18" charset="0"/>
              </a:rPr>
              <a:t> </a:t>
            </a:r>
            <a:r>
              <a:rPr lang="en-US" altLang="zh-CN" sz="3600" b="1" dirty="0">
                <a:latin typeface="Times New Roman" pitchFamily="18" charset="0"/>
              </a:rPr>
              <a:t>temp=</a:t>
            </a:r>
            <a:r>
              <a:rPr lang="en-US" altLang="zh-CN" sz="3600" b="1" dirty="0" err="1">
                <a:latin typeface="Times New Roman" pitchFamily="18" charset="0"/>
              </a:rPr>
              <a:t>n;n</a:t>
            </a:r>
            <a:r>
              <a:rPr lang="en-US" altLang="zh-CN" sz="3600" b="1" dirty="0">
                <a:latin typeface="Times New Roman" pitchFamily="18" charset="0"/>
              </a:rPr>
              <a:t>=</a:t>
            </a:r>
            <a:r>
              <a:rPr lang="en-US" altLang="zh-CN" sz="3600" b="1" dirty="0" err="1">
                <a:latin typeface="Times New Roman" pitchFamily="18" charset="0"/>
              </a:rPr>
              <a:t>m;m</a:t>
            </a:r>
            <a:r>
              <a:rPr lang="en-US" altLang="zh-CN" sz="3600" b="1" dirty="0">
                <a:latin typeface="Times New Roman" pitchFamily="18" charset="0"/>
              </a:rPr>
              <a:t>=temp; }</a:t>
            </a:r>
          </a:p>
          <a:p>
            <a:r>
              <a:rPr lang="en-US" altLang="zh-CN" sz="3600" b="1" dirty="0">
                <a:latin typeface="Times New Roman" pitchFamily="18" charset="0"/>
              </a:rPr>
              <a:t>        r=m*n;</a:t>
            </a:r>
          </a:p>
          <a:p>
            <a:r>
              <a:rPr lang="en-US" altLang="zh-CN" sz="3600" b="1" dirty="0">
                <a:latin typeface="Times New Roman" pitchFamily="18" charset="0"/>
              </a:rPr>
              <a:t>        while((q=</a:t>
            </a:r>
            <a:r>
              <a:rPr lang="en-US" altLang="zh-CN" sz="3600" b="1" dirty="0" err="1">
                <a:latin typeface="Times New Roman" pitchFamily="18" charset="0"/>
              </a:rPr>
              <a:t>m%n</a:t>
            </a:r>
            <a:r>
              <a:rPr lang="en-US" altLang="zh-CN" sz="3600" b="1" dirty="0">
                <a:latin typeface="Times New Roman" pitchFamily="18" charset="0"/>
              </a:rPr>
              <a:t>)!=0)</a:t>
            </a:r>
          </a:p>
          <a:p>
            <a:r>
              <a:rPr lang="en-US" altLang="zh-CN" sz="3600" b="1" dirty="0">
                <a:latin typeface="Times New Roman" pitchFamily="18" charset="0"/>
              </a:rPr>
              <a:t>            {  m=</a:t>
            </a:r>
            <a:r>
              <a:rPr lang="en-US" altLang="zh-CN" sz="3600" b="1" dirty="0" err="1">
                <a:latin typeface="Times New Roman" pitchFamily="18" charset="0"/>
              </a:rPr>
              <a:t>n;n</a:t>
            </a:r>
            <a:r>
              <a:rPr lang="en-US" altLang="zh-CN" sz="3600" b="1" dirty="0">
                <a:latin typeface="Times New Roman" pitchFamily="18" charset="0"/>
              </a:rPr>
              <a:t>=q;  }</a:t>
            </a:r>
          </a:p>
          <a:p>
            <a:r>
              <a:rPr lang="zh-CN" altLang="en-US" sz="3600" b="1" dirty="0">
                <a:latin typeface="Times New Roman" pitchFamily="18" charset="0"/>
              </a:rPr>
              <a:t>　    </a:t>
            </a:r>
            <a:r>
              <a:rPr lang="en-US" altLang="zh-CN" sz="3600" b="1" dirty="0" err="1">
                <a:latin typeface="Times New Roman" pitchFamily="18" charset="0"/>
              </a:rPr>
              <a:t>printf</a:t>
            </a:r>
            <a:r>
              <a:rPr lang="en-US" altLang="zh-CN" sz="3600" b="1" dirty="0">
                <a:latin typeface="Times New Roman" pitchFamily="18" charset="0"/>
              </a:rPr>
              <a:t>("%d\</a:t>
            </a:r>
            <a:r>
              <a:rPr lang="en-US" altLang="zh-CN" sz="3600" b="1" dirty="0" err="1">
                <a:latin typeface="Times New Roman" pitchFamily="18" charset="0"/>
              </a:rPr>
              <a:t>t,%d</a:t>
            </a:r>
            <a:r>
              <a:rPr lang="en-US" altLang="zh-CN" sz="3600" b="1" dirty="0">
                <a:latin typeface="Times New Roman" pitchFamily="18" charset="0"/>
              </a:rPr>
              <a:t>\</a:t>
            </a:r>
            <a:r>
              <a:rPr lang="en-US" altLang="zh-CN" sz="3600" b="1" dirty="0" err="1">
                <a:latin typeface="Times New Roman" pitchFamily="18" charset="0"/>
              </a:rPr>
              <a:t>n",r</a:t>
            </a:r>
            <a:r>
              <a:rPr lang="en-US" altLang="zh-CN" sz="3600" b="1" dirty="0">
                <a:latin typeface="Times New Roman" pitchFamily="18" charset="0"/>
              </a:rPr>
              <a:t>/</a:t>
            </a:r>
            <a:r>
              <a:rPr lang="en-US" altLang="zh-CN" sz="3600" b="1" dirty="0" err="1">
                <a:latin typeface="Times New Roman" pitchFamily="18" charset="0"/>
              </a:rPr>
              <a:t>n,n</a:t>
            </a:r>
            <a:r>
              <a:rPr lang="en-US" altLang="zh-CN" sz="3600" b="1" dirty="0">
                <a:latin typeface="Times New Roman" pitchFamily="18" charset="0"/>
              </a:rPr>
              <a:t>);</a:t>
            </a:r>
          </a:p>
          <a:p>
            <a:r>
              <a:rPr lang="en-US" altLang="zh-CN" sz="3600" b="1" dirty="0">
                <a:latin typeface="Times New Roman" pitchFamily="18" charset="0"/>
              </a:rPr>
              <a:t>   }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566385F-5BF9-4C06-86DC-17F8ABE73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案例十二代码</a:t>
            </a:r>
          </a:p>
        </p:txBody>
      </p:sp>
    </p:spTree>
    <p:extLst>
      <p:ext uri="{BB962C8B-B14F-4D97-AF65-F5344CB8AC3E}">
        <p14:creationId xmlns:p14="http://schemas.microsoft.com/office/powerpoint/2010/main" val="331407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2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2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2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2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23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23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2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2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23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82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2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39F48E-E897-43E3-AD4E-C4EFE21543C0}" type="slidenum">
              <a:rPr lang="en-US" altLang="zh-CN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493574" name="Rectangle 6"/>
          <p:cNvSpPr>
            <a:spLocks noChangeArrowheads="1"/>
          </p:cNvSpPr>
          <p:nvPr/>
        </p:nvSpPr>
        <p:spPr bwMode="auto">
          <a:xfrm>
            <a:off x="2396927" y="2397897"/>
            <a:ext cx="9289032" cy="2592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程序分析：</a:t>
            </a: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循环次数已知，适合用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循环。</a:t>
            </a: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对离散值处理，适合用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switch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结构。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96927" y="447973"/>
            <a:ext cx="9745914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有十个人投选票给</a:t>
            </a:r>
            <a:r>
              <a:rPr lang="en-US" altLang="zh-C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Candy</a:t>
            </a:r>
            <a:r>
              <a:rPr lang="zh-CN" alt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Tiger</a:t>
            </a:r>
            <a:r>
              <a:rPr lang="zh-CN" alt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Gwen</a:t>
            </a:r>
            <a:r>
              <a:rPr lang="zh-CN" alt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三名班长侯选人，计算出三人得票数。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430F524-54D0-4D9B-AA01-05FF0E8C5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87" y="88181"/>
            <a:ext cx="1800200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 fontScale="92500"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案例十三</a:t>
            </a:r>
          </a:p>
        </p:txBody>
      </p:sp>
    </p:spTree>
    <p:extLst>
      <p:ext uri="{BB962C8B-B14F-4D97-AF65-F5344CB8AC3E}">
        <p14:creationId xmlns:p14="http://schemas.microsoft.com/office/powerpoint/2010/main" val="72779489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3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3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35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4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36A1FE-F8B2-41D4-88D2-B5E68A651758}" type="slidenum">
              <a:rPr lang="en-US" altLang="zh-CN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494597" name="Rectangle 5"/>
          <p:cNvSpPr>
            <a:spLocks noChangeArrowheads="1"/>
          </p:cNvSpPr>
          <p:nvPr/>
        </p:nvSpPr>
        <p:spPr bwMode="auto">
          <a:xfrm>
            <a:off x="2612951" y="159941"/>
            <a:ext cx="7992888" cy="6993873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r>
              <a:rPr lang="en-US" altLang="zh-CN" sz="3200" b="1" dirty="0">
                <a:latin typeface="Times New Roman" pitchFamily="18" charset="0"/>
              </a:rPr>
              <a:t>  #include "</a:t>
            </a:r>
            <a:r>
              <a:rPr lang="en-US" altLang="zh-CN" sz="3200" b="1" dirty="0" err="1">
                <a:latin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</a:rPr>
              <a:t>"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</a:t>
            </a:r>
            <a:r>
              <a:rPr lang="en-US" altLang="zh-CN" sz="3200" b="1" dirty="0" err="1">
                <a:latin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</a:rPr>
              <a:t> main(  )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{  </a:t>
            </a:r>
            <a:r>
              <a:rPr lang="en-US" altLang="zh-CN" sz="3200" b="1" dirty="0" err="1">
                <a:latin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</a:rPr>
              <a:t> c=0,t=0,g=0,i;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    char x;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    for(</a:t>
            </a:r>
            <a:r>
              <a:rPr lang="en-US" altLang="zh-CN" sz="3200" b="1" dirty="0" err="1">
                <a:latin typeface="Times New Roman" pitchFamily="18" charset="0"/>
              </a:rPr>
              <a:t>i</a:t>
            </a:r>
            <a:r>
              <a:rPr lang="en-US" altLang="zh-CN" sz="3200" b="1" dirty="0">
                <a:latin typeface="Times New Roman" pitchFamily="18" charset="0"/>
              </a:rPr>
              <a:t>=1;i&lt;=10;i++)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       </a:t>
            </a:r>
            <a:r>
              <a:rPr lang="en-US" altLang="zh-CN" sz="3200" b="1" dirty="0" err="1">
                <a:latin typeface="Times New Roman" pitchFamily="18" charset="0"/>
              </a:rPr>
              <a:t>scanf</a:t>
            </a:r>
            <a:r>
              <a:rPr lang="en-US" altLang="zh-CN" sz="3200" b="1" dirty="0">
                <a:latin typeface="Times New Roman" pitchFamily="18" charset="0"/>
              </a:rPr>
              <a:t>("%</a:t>
            </a:r>
            <a:r>
              <a:rPr lang="en-US" altLang="zh-CN" sz="3200" b="1" dirty="0" err="1">
                <a:latin typeface="Times New Roman" pitchFamily="18" charset="0"/>
              </a:rPr>
              <a:t>c",&amp;x</a:t>
            </a:r>
            <a:r>
              <a:rPr lang="en-US" altLang="zh-CN" sz="3200" b="1" dirty="0">
                <a:latin typeface="Times New Roman" pitchFamily="18" charset="0"/>
              </a:rPr>
              <a:t>);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         switch(x)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         {   case 'c': </a:t>
            </a:r>
            <a:r>
              <a:rPr lang="en-US" altLang="zh-CN" sz="3200" b="1" dirty="0" err="1">
                <a:latin typeface="Times New Roman" pitchFamily="18" charset="0"/>
              </a:rPr>
              <a:t>c++</a:t>
            </a:r>
            <a:r>
              <a:rPr lang="en-US" altLang="zh-CN" sz="3200" b="1" dirty="0">
                <a:latin typeface="Times New Roman" pitchFamily="18" charset="0"/>
              </a:rPr>
              <a:t>;break;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              case 't': t++;break;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              case 'g': g++;break;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         }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      }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     </a:t>
            </a:r>
            <a:r>
              <a:rPr lang="en-US" altLang="zh-CN" sz="3200" b="1" dirty="0" err="1">
                <a:latin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</a:rPr>
              <a:t>("c=%</a:t>
            </a:r>
            <a:r>
              <a:rPr lang="en-US" altLang="zh-CN" sz="3200" b="1" dirty="0" err="1">
                <a:latin typeface="Times New Roman" pitchFamily="18" charset="0"/>
              </a:rPr>
              <a:t>d,t</a:t>
            </a:r>
            <a:r>
              <a:rPr lang="en-US" altLang="zh-CN" sz="3200" b="1" dirty="0">
                <a:latin typeface="Times New Roman" pitchFamily="18" charset="0"/>
              </a:rPr>
              <a:t>=%</a:t>
            </a:r>
            <a:r>
              <a:rPr lang="en-US" altLang="zh-CN" sz="3200" b="1" dirty="0" err="1">
                <a:latin typeface="Times New Roman" pitchFamily="18" charset="0"/>
              </a:rPr>
              <a:t>d,g</a:t>
            </a:r>
            <a:r>
              <a:rPr lang="en-US" altLang="zh-CN" sz="3200" b="1" dirty="0">
                <a:latin typeface="Times New Roman" pitchFamily="18" charset="0"/>
              </a:rPr>
              <a:t>=%d",</a:t>
            </a:r>
            <a:r>
              <a:rPr lang="en-US" altLang="zh-CN" sz="3200" b="1" dirty="0" err="1">
                <a:latin typeface="Times New Roman" pitchFamily="18" charset="0"/>
              </a:rPr>
              <a:t>c,t,g</a:t>
            </a:r>
            <a:r>
              <a:rPr lang="en-US" altLang="zh-CN" sz="3200" b="1" dirty="0">
                <a:latin typeface="Times New Roman" pitchFamily="18" charset="0"/>
              </a:rPr>
              <a:t>);</a:t>
            </a:r>
          </a:p>
          <a:p>
            <a:r>
              <a:rPr lang="en-US" altLang="zh-CN" sz="3200" b="1" dirty="0">
                <a:latin typeface="Times New Roman" pitchFamily="18" charset="0"/>
              </a:rPr>
              <a:t>   }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BB5E36F-8B1F-4050-81F9-93DAC4C61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案例十三代码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399F1F-54F4-40DA-9F2A-8AB0A34E18C1}"/>
              </a:ext>
            </a:extLst>
          </p:cNvPr>
          <p:cNvSpPr/>
          <p:nvPr/>
        </p:nvSpPr>
        <p:spPr>
          <a:xfrm>
            <a:off x="3249093" y="2620913"/>
            <a:ext cx="3465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Times New Roman" pitchFamily="18" charset="0"/>
              </a:rPr>
              <a:t>{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93744179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45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45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45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45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45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45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45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45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45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45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45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45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94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945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F250FB-9A8D-4137-8B4A-2485CF3A5851}" type="slidenum">
              <a:rPr lang="en-US" altLang="zh-CN"/>
              <a:pPr>
                <a:defRPr/>
              </a:pPr>
              <a:t>59</a:t>
            </a:fld>
            <a:endParaRPr lang="en-US" altLang="zh-CN"/>
          </a:p>
        </p:txBody>
      </p:sp>
      <p:sp>
        <p:nvSpPr>
          <p:cNvPr id="498690" name="Rectangle 2"/>
          <p:cNvSpPr>
            <a:spLocks noChangeArrowheads="1"/>
          </p:cNvSpPr>
          <p:nvPr/>
        </p:nvSpPr>
        <p:spPr bwMode="auto">
          <a:xfrm>
            <a:off x="1100783" y="1096045"/>
            <a:ext cx="10657184" cy="2315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提示：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Fibonacci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数列的特点是第一、二次项的值都为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，从第三项开始，每一项都是前两项之和。</a:t>
            </a:r>
            <a:r>
              <a:rPr kumimoji="0"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2840449" y="287873"/>
            <a:ext cx="7405127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Fibonacci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数列的前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项。 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981103" y="4048373"/>
            <a:ext cx="469872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4400" dirty="0">
                <a:solidFill>
                  <a:srgbClr val="C00000"/>
                </a:solidFill>
                <a:latin typeface="Times New Roman" pitchFamily="18" charset="0"/>
              </a:rPr>
              <a:t>1, 1, 2, 3, 5, 8, 13…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85C72F-0270-40EB-8D1A-BEA7B07F7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案例十四</a:t>
            </a:r>
          </a:p>
        </p:txBody>
      </p:sp>
    </p:spTree>
    <p:extLst>
      <p:ext uri="{BB962C8B-B14F-4D97-AF65-F5344CB8AC3E}">
        <p14:creationId xmlns:p14="http://schemas.microsoft.com/office/powerpoint/2010/main" val="245935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8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0" grpId="0" build="p" autoUpdateAnimBg="0"/>
      <p:bldP spid="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A9279-51C7-48BA-AFCC-85B1CE1018C9}" type="slidenum">
              <a:rPr lang="en-US" altLang="zh-CN"/>
              <a:pPr>
                <a:defRPr/>
              </a:pPr>
              <a:t>60</a:t>
            </a:fld>
            <a:endParaRPr lang="en-US" altLang="zh-CN"/>
          </a:p>
        </p:txBody>
      </p:sp>
      <p:sp>
        <p:nvSpPr>
          <p:cNvPr id="495618" name="Rectangle 2"/>
          <p:cNvSpPr>
            <a:spLocks noChangeArrowheads="1"/>
          </p:cNvSpPr>
          <p:nvPr/>
        </p:nvSpPr>
        <p:spPr bwMode="auto">
          <a:xfrm>
            <a:off x="2904655" y="380516"/>
            <a:ext cx="6261024" cy="6332153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</a:rPr>
              <a:t>#include&lt;</a:t>
            </a:r>
            <a:r>
              <a:rPr lang="en-US" altLang="zh-CN" sz="3600" b="1" dirty="0" err="1">
                <a:latin typeface="Times New Roman" pitchFamily="18" charset="0"/>
              </a:rPr>
              <a:t>math.h</a:t>
            </a:r>
            <a:r>
              <a:rPr lang="en-US" altLang="zh-CN" sz="3600" b="1" dirty="0">
                <a:latin typeface="Times New Roman" pitchFamily="18" charset="0"/>
              </a:rPr>
              <a:t>&gt;  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</a:rPr>
              <a:t>void main( )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</a:rPr>
              <a:t>{   </a:t>
            </a:r>
            <a:r>
              <a:rPr lang="en-US" altLang="zh-CN" sz="3600" b="1" dirty="0" err="1">
                <a:latin typeface="Times New Roman" pitchFamily="18" charset="0"/>
              </a:rPr>
              <a:t>int</a:t>
            </a:r>
            <a:r>
              <a:rPr lang="en-US" altLang="zh-CN" sz="3600" b="1" dirty="0">
                <a:latin typeface="Times New Roman" pitchFamily="18" charset="0"/>
              </a:rPr>
              <a:t> i,f1=1,f2=1;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</a:rPr>
              <a:t>    for(</a:t>
            </a:r>
            <a:r>
              <a:rPr lang="en-US" altLang="zh-CN" sz="3600" b="1" dirty="0" err="1">
                <a:latin typeface="Times New Roman" pitchFamily="18" charset="0"/>
              </a:rPr>
              <a:t>i</a:t>
            </a:r>
            <a:r>
              <a:rPr lang="en-US" altLang="zh-CN" sz="3600" b="1" dirty="0">
                <a:latin typeface="Times New Roman" pitchFamily="18" charset="0"/>
              </a:rPr>
              <a:t>=1;i&lt;=10;i++)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</a:rPr>
              <a:t>    {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</a:rPr>
              <a:t>         </a:t>
            </a:r>
            <a:r>
              <a:rPr lang="en-US" altLang="zh-CN" sz="3600" b="1" dirty="0" err="1">
                <a:latin typeface="Times New Roman" pitchFamily="18" charset="0"/>
              </a:rPr>
              <a:t>printf</a:t>
            </a:r>
            <a:r>
              <a:rPr lang="en-US" altLang="zh-CN" sz="3600" b="1" dirty="0">
                <a:latin typeface="Times New Roman" pitchFamily="18" charset="0"/>
              </a:rPr>
              <a:t>("%d\</a:t>
            </a:r>
            <a:r>
              <a:rPr lang="en-US" altLang="zh-CN" sz="3600" b="1" dirty="0" err="1">
                <a:latin typeface="Times New Roman" pitchFamily="18" charset="0"/>
              </a:rPr>
              <a:t>t%d</a:t>
            </a:r>
            <a:r>
              <a:rPr lang="en-US" altLang="zh-CN" sz="3600" b="1" dirty="0">
                <a:latin typeface="Times New Roman" pitchFamily="18" charset="0"/>
              </a:rPr>
              <a:t>\t",f1,f2);   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</a:rPr>
              <a:t>         f1=f1+f2;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</a:rPr>
              <a:t>         f2=f1+f2;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>
                <a:latin typeface="Times New Roman" pitchFamily="18" charset="0"/>
              </a:rPr>
              <a:t> }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A1B56DC-D73E-4EAC-9A00-23359E364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案例十四代码</a:t>
            </a:r>
          </a:p>
        </p:txBody>
      </p:sp>
    </p:spTree>
    <p:extLst>
      <p:ext uri="{BB962C8B-B14F-4D97-AF65-F5344CB8AC3E}">
        <p14:creationId xmlns:p14="http://schemas.microsoft.com/office/powerpoint/2010/main" val="1337082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5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5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5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5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56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5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5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5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5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5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498690" name="Rectangle 2"/>
          <p:cNvSpPr>
            <a:spLocks noChangeArrowheads="1"/>
          </p:cNvSpPr>
          <p:nvPr/>
        </p:nvSpPr>
        <p:spPr bwMode="auto">
          <a:xfrm>
            <a:off x="1460823" y="495069"/>
            <a:ext cx="10657184" cy="6057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问题描述：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用牛顿迭代法求方程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f(x)=2x</a:t>
            </a:r>
            <a:r>
              <a:rPr lang="en-US" altLang="zh-CN" sz="32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-4x</a:t>
            </a:r>
            <a:r>
              <a:rPr lang="en-US" altLang="zh-CN" sz="32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+3x-7=0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x=2.5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附近的实根，直到满足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|x</a:t>
            </a:r>
            <a:r>
              <a:rPr lang="en-US" altLang="zh-CN" sz="32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-x</a:t>
            </a:r>
            <a:r>
              <a:rPr lang="en-US" altLang="zh-CN" sz="32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|&lt;10</a:t>
            </a:r>
            <a:r>
              <a:rPr lang="en-US" altLang="zh-CN" sz="32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-6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为止。 牛顿迭代公式为：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=x</a:t>
            </a:r>
            <a:r>
              <a:rPr lang="en-US" altLang="zh-CN" sz="32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-f(x</a:t>
            </a:r>
            <a:r>
              <a:rPr lang="en-US" altLang="zh-CN" sz="32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)/f’ (x</a:t>
            </a:r>
            <a:r>
              <a:rPr lang="en-US" altLang="zh-CN" sz="32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 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算法分析：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 牛顿迭代法认为，以任意一个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的初值开始，都可以根据牛顿迭代公式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=x</a:t>
            </a:r>
            <a:r>
              <a:rPr lang="en-US" altLang="zh-CN" sz="32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-f(x</a:t>
            </a:r>
            <a:r>
              <a:rPr lang="en-US" altLang="zh-CN" sz="32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)/f’(x</a:t>
            </a:r>
            <a:r>
              <a:rPr lang="en-US" altLang="zh-CN" sz="32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求出一串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的序列，这个序列将越来越趋向于某一个值，这个值就是方程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f(x)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的一个实根。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85C72F-0270-40EB-8D1A-BEA7B07F7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数学问题</a:t>
            </a:r>
          </a:p>
        </p:txBody>
      </p:sp>
    </p:spTree>
    <p:extLst>
      <p:ext uri="{BB962C8B-B14F-4D97-AF65-F5344CB8AC3E}">
        <p14:creationId xmlns:p14="http://schemas.microsoft.com/office/powerpoint/2010/main" val="119204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8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8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0" grpId="0" build="p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A1B56DC-D73E-4EAC-9A00-23359E364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编写代码</a:t>
            </a:r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735E4D3E-D00E-4BE3-8326-A4433041B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927" y="159941"/>
            <a:ext cx="8748712" cy="69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#include&lt;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stdio.h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&gt; 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#include&lt;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math.h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&gt; 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void main( ) 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 {  float x=2. 5,x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,f,f2;   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     do{  x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=x;            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            f=2*x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*x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*x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-4*x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*x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+3*x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-7;            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            f2=6*x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*x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-8*x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+3;           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            x=x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-f/f2; 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          }while(fabs(x-x</a:t>
            </a:r>
            <a:r>
              <a:rPr lang="en-US" altLang="zh-CN" sz="36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)&gt;=1e</a:t>
            </a:r>
            <a:r>
              <a:rPr lang="en-US" altLang="zh-CN" sz="36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-6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);    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(“%</a:t>
            </a:r>
            <a:r>
              <a:rPr lang="en-US" altLang="zh-CN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f”,x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    }</a:t>
            </a:r>
            <a:endParaRPr lang="zh-CN" altLang="en-US" sz="3600" b="1" dirty="0">
              <a:solidFill>
                <a:srgbClr val="000000"/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9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57"/>
          <p:cNvGrpSpPr/>
          <p:nvPr/>
        </p:nvGrpSpPr>
        <p:grpSpPr bwMode="auto">
          <a:xfrm>
            <a:off x="4478903" y="964223"/>
            <a:ext cx="3900943" cy="3838996"/>
            <a:chOff x="0" y="0"/>
            <a:chExt cx="4846320" cy="4437330"/>
          </a:xfrm>
        </p:grpSpPr>
        <p:sp>
          <p:nvSpPr>
            <p:cNvPr id="2060" name="Freeform 5"/>
            <p:cNvSpPr>
              <a:spLocks noChangeArrowheads="1"/>
            </p:cNvSpPr>
            <p:nvPr/>
          </p:nvSpPr>
          <p:spPr bwMode="auto">
            <a:xfrm>
              <a:off x="400195" y="2192278"/>
              <a:ext cx="4446125" cy="738822"/>
            </a:xfrm>
            <a:custGeom>
              <a:avLst/>
              <a:gdLst>
                <a:gd name="T0" fmla="*/ 4297834 w 1709"/>
                <a:gd name="T1" fmla="*/ 738822 h 284"/>
                <a:gd name="T2" fmla="*/ 148291 w 1709"/>
                <a:gd name="T3" fmla="*/ 738822 h 284"/>
                <a:gd name="T4" fmla="*/ 0 w 1709"/>
                <a:gd name="T5" fmla="*/ 590537 h 284"/>
                <a:gd name="T6" fmla="*/ 0 w 1709"/>
                <a:gd name="T7" fmla="*/ 145683 h 284"/>
                <a:gd name="T8" fmla="*/ 148291 w 1709"/>
                <a:gd name="T9" fmla="*/ 0 h 284"/>
                <a:gd name="T10" fmla="*/ 4297834 w 1709"/>
                <a:gd name="T11" fmla="*/ 0 h 284"/>
                <a:gd name="T12" fmla="*/ 4446125 w 1709"/>
                <a:gd name="T13" fmla="*/ 145683 h 284"/>
                <a:gd name="T14" fmla="*/ 4446125 w 1709"/>
                <a:gd name="T15" fmla="*/ 590537 h 284"/>
                <a:gd name="T16" fmla="*/ 4297834 w 1709"/>
                <a:gd name="T17" fmla="*/ 738822 h 2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09"/>
                <a:gd name="T28" fmla="*/ 0 h 284"/>
                <a:gd name="T29" fmla="*/ 1709 w 1709"/>
                <a:gd name="T30" fmla="*/ 284 h 2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09" h="284">
                  <a:moveTo>
                    <a:pt x="1652" y="284"/>
                  </a:moveTo>
                  <a:cubicBezTo>
                    <a:pt x="57" y="284"/>
                    <a:pt x="57" y="284"/>
                    <a:pt x="57" y="284"/>
                  </a:cubicBezTo>
                  <a:cubicBezTo>
                    <a:pt x="26" y="284"/>
                    <a:pt x="0" y="258"/>
                    <a:pt x="0" y="22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1652" y="0"/>
                    <a:pt x="1652" y="0"/>
                    <a:pt x="1652" y="0"/>
                  </a:cubicBezTo>
                  <a:cubicBezTo>
                    <a:pt x="1683" y="0"/>
                    <a:pt x="1709" y="25"/>
                    <a:pt x="1709" y="56"/>
                  </a:cubicBezTo>
                  <a:cubicBezTo>
                    <a:pt x="1709" y="227"/>
                    <a:pt x="1709" y="227"/>
                    <a:pt x="1709" y="227"/>
                  </a:cubicBezTo>
                  <a:cubicBezTo>
                    <a:pt x="1709" y="258"/>
                    <a:pt x="1683" y="284"/>
                    <a:pt x="1652" y="284"/>
                  </a:cubicBez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Rectangle 6"/>
            <p:cNvSpPr>
              <a:spLocks noChangeArrowheads="1"/>
            </p:cNvSpPr>
            <p:nvPr/>
          </p:nvSpPr>
          <p:spPr bwMode="auto">
            <a:xfrm>
              <a:off x="400195" y="2561689"/>
              <a:ext cx="4446125" cy="369411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2" name="Freeform 7"/>
            <p:cNvSpPr>
              <a:spLocks noChangeArrowheads="1"/>
            </p:cNvSpPr>
            <p:nvPr/>
          </p:nvSpPr>
          <p:spPr bwMode="auto">
            <a:xfrm>
              <a:off x="931224" y="2237355"/>
              <a:ext cx="531029" cy="626679"/>
            </a:xfrm>
            <a:custGeom>
              <a:avLst/>
              <a:gdLst>
                <a:gd name="T0" fmla="*/ 484174 w 204"/>
                <a:gd name="T1" fmla="*/ 626679 h 241"/>
                <a:gd name="T2" fmla="*/ 46856 w 204"/>
                <a:gd name="T3" fmla="*/ 626679 h 241"/>
                <a:gd name="T4" fmla="*/ 0 w 204"/>
                <a:gd name="T5" fmla="*/ 579873 h 241"/>
                <a:gd name="T6" fmla="*/ 0 w 204"/>
                <a:gd name="T7" fmla="*/ 44206 h 241"/>
                <a:gd name="T8" fmla="*/ 46856 w 204"/>
                <a:gd name="T9" fmla="*/ 0 h 241"/>
                <a:gd name="T10" fmla="*/ 484174 w 204"/>
                <a:gd name="T11" fmla="*/ 0 h 241"/>
                <a:gd name="T12" fmla="*/ 531029 w 204"/>
                <a:gd name="T13" fmla="*/ 44206 h 241"/>
                <a:gd name="T14" fmla="*/ 531029 w 204"/>
                <a:gd name="T15" fmla="*/ 579873 h 241"/>
                <a:gd name="T16" fmla="*/ 484174 w 204"/>
                <a:gd name="T17" fmla="*/ 626679 h 2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04"/>
                <a:gd name="T28" fmla="*/ 0 h 241"/>
                <a:gd name="T29" fmla="*/ 204 w 204"/>
                <a:gd name="T30" fmla="*/ 241 h 24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04" h="241">
                  <a:moveTo>
                    <a:pt x="186" y="241"/>
                  </a:moveTo>
                  <a:cubicBezTo>
                    <a:pt x="18" y="241"/>
                    <a:pt x="18" y="241"/>
                    <a:pt x="18" y="241"/>
                  </a:cubicBezTo>
                  <a:cubicBezTo>
                    <a:pt x="8" y="241"/>
                    <a:pt x="0" y="233"/>
                    <a:pt x="0" y="22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96" y="0"/>
                    <a:pt x="204" y="8"/>
                    <a:pt x="204" y="17"/>
                  </a:cubicBezTo>
                  <a:cubicBezTo>
                    <a:pt x="204" y="223"/>
                    <a:pt x="204" y="223"/>
                    <a:pt x="204" y="223"/>
                  </a:cubicBezTo>
                  <a:cubicBezTo>
                    <a:pt x="204" y="233"/>
                    <a:pt x="196" y="241"/>
                    <a:pt x="186" y="2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" name="Freeform 8"/>
            <p:cNvSpPr>
              <a:spLocks noChangeArrowheads="1"/>
            </p:cNvSpPr>
            <p:nvPr/>
          </p:nvSpPr>
          <p:spPr bwMode="auto">
            <a:xfrm>
              <a:off x="0" y="2931100"/>
              <a:ext cx="4682504" cy="1134619"/>
            </a:xfrm>
            <a:custGeom>
              <a:avLst/>
              <a:gdLst>
                <a:gd name="T0" fmla="*/ 4461386 w 1800"/>
                <a:gd name="T1" fmla="*/ 1038333 h 436"/>
                <a:gd name="T2" fmla="*/ 4461386 w 1800"/>
                <a:gd name="T3" fmla="*/ 96286 h 436"/>
                <a:gd name="T4" fmla="*/ 4682504 w 1800"/>
                <a:gd name="T5" fmla="*/ 96286 h 436"/>
                <a:gd name="T6" fmla="*/ 4682504 w 1800"/>
                <a:gd name="T7" fmla="*/ 0 h 436"/>
                <a:gd name="T8" fmla="*/ 179496 w 1800"/>
                <a:gd name="T9" fmla="*/ 0 h 436"/>
                <a:gd name="T10" fmla="*/ 0 w 1800"/>
                <a:gd name="T11" fmla="*/ 176959 h 436"/>
                <a:gd name="T12" fmla="*/ 0 w 1800"/>
                <a:gd name="T13" fmla="*/ 957660 h 436"/>
                <a:gd name="T14" fmla="*/ 179496 w 1800"/>
                <a:gd name="T15" fmla="*/ 1134619 h 436"/>
                <a:gd name="T16" fmla="*/ 4682504 w 1800"/>
                <a:gd name="T17" fmla="*/ 1134619 h 436"/>
                <a:gd name="T18" fmla="*/ 4682504 w 1800"/>
                <a:gd name="T19" fmla="*/ 1038333 h 436"/>
                <a:gd name="T20" fmla="*/ 4461386 w 1800"/>
                <a:gd name="T21" fmla="*/ 1038333 h 4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00"/>
                <a:gd name="T34" fmla="*/ 0 h 436"/>
                <a:gd name="T35" fmla="*/ 1800 w 1800"/>
                <a:gd name="T36" fmla="*/ 436 h 4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00" h="436">
                  <a:moveTo>
                    <a:pt x="1715" y="399"/>
                  </a:moveTo>
                  <a:cubicBezTo>
                    <a:pt x="1715" y="37"/>
                    <a:pt x="1715" y="37"/>
                    <a:pt x="1715" y="37"/>
                  </a:cubicBezTo>
                  <a:cubicBezTo>
                    <a:pt x="1800" y="37"/>
                    <a:pt x="1800" y="37"/>
                    <a:pt x="1800" y="37"/>
                  </a:cubicBezTo>
                  <a:cubicBezTo>
                    <a:pt x="1800" y="0"/>
                    <a:pt x="1800" y="0"/>
                    <a:pt x="180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1" y="0"/>
                    <a:pt x="0" y="30"/>
                    <a:pt x="0" y="68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0" y="405"/>
                    <a:pt x="31" y="436"/>
                    <a:pt x="69" y="436"/>
                  </a:cubicBezTo>
                  <a:cubicBezTo>
                    <a:pt x="1800" y="436"/>
                    <a:pt x="1800" y="436"/>
                    <a:pt x="1800" y="436"/>
                  </a:cubicBezTo>
                  <a:cubicBezTo>
                    <a:pt x="1800" y="399"/>
                    <a:pt x="1800" y="399"/>
                    <a:pt x="1800" y="399"/>
                  </a:cubicBezTo>
                  <a:lnTo>
                    <a:pt x="1715" y="3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" name="Freeform 9"/>
            <p:cNvSpPr>
              <a:spLocks noChangeArrowheads="1"/>
            </p:cNvSpPr>
            <p:nvPr/>
          </p:nvSpPr>
          <p:spPr bwMode="auto">
            <a:xfrm>
              <a:off x="119839" y="3027851"/>
              <a:ext cx="4446125" cy="941118"/>
            </a:xfrm>
            <a:custGeom>
              <a:avLst/>
              <a:gdLst>
                <a:gd name="T0" fmla="*/ 4446125 w 1709"/>
                <a:gd name="T1" fmla="*/ 0 h 362"/>
                <a:gd name="T2" fmla="*/ 166502 w 1709"/>
                <a:gd name="T3" fmla="*/ 0 h 362"/>
                <a:gd name="T4" fmla="*/ 0 w 1709"/>
                <a:gd name="T5" fmla="*/ 145587 h 362"/>
                <a:gd name="T6" fmla="*/ 0 w 1709"/>
                <a:gd name="T7" fmla="*/ 792931 h 362"/>
                <a:gd name="T8" fmla="*/ 166502 w 1709"/>
                <a:gd name="T9" fmla="*/ 941118 h 362"/>
                <a:gd name="T10" fmla="*/ 4446125 w 1709"/>
                <a:gd name="T11" fmla="*/ 941118 h 362"/>
                <a:gd name="T12" fmla="*/ 4446125 w 1709"/>
                <a:gd name="T13" fmla="*/ 0 h 3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09"/>
                <a:gd name="T22" fmla="*/ 0 h 362"/>
                <a:gd name="T23" fmla="*/ 1709 w 1709"/>
                <a:gd name="T24" fmla="*/ 362 h 3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09" h="362">
                  <a:moveTo>
                    <a:pt x="1709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29" y="0"/>
                    <a:pt x="0" y="25"/>
                    <a:pt x="0" y="56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36"/>
                    <a:pt x="29" y="362"/>
                    <a:pt x="64" y="362"/>
                  </a:cubicBezTo>
                  <a:cubicBezTo>
                    <a:pt x="1709" y="362"/>
                    <a:pt x="1709" y="362"/>
                    <a:pt x="1709" y="362"/>
                  </a:cubicBezTo>
                  <a:lnTo>
                    <a:pt x="17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" name="Rectangle 10"/>
            <p:cNvSpPr>
              <a:spLocks noChangeArrowheads="1"/>
            </p:cNvSpPr>
            <p:nvPr/>
          </p:nvSpPr>
          <p:spPr bwMode="auto">
            <a:xfrm>
              <a:off x="283655" y="3082822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6" name="Rectangle 11"/>
            <p:cNvSpPr>
              <a:spLocks noChangeArrowheads="1"/>
            </p:cNvSpPr>
            <p:nvPr/>
          </p:nvSpPr>
          <p:spPr bwMode="auto">
            <a:xfrm>
              <a:off x="283655" y="3155385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7" name="Rectangle 12"/>
            <p:cNvSpPr>
              <a:spLocks noChangeArrowheads="1"/>
            </p:cNvSpPr>
            <p:nvPr/>
          </p:nvSpPr>
          <p:spPr bwMode="auto">
            <a:xfrm>
              <a:off x="283655" y="3227948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8" name="Rectangle 13"/>
            <p:cNvSpPr>
              <a:spLocks noChangeArrowheads="1"/>
            </p:cNvSpPr>
            <p:nvPr/>
          </p:nvSpPr>
          <p:spPr bwMode="auto">
            <a:xfrm>
              <a:off x="283655" y="3303810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69" name="Rectangle 14"/>
            <p:cNvSpPr>
              <a:spLocks noChangeArrowheads="1"/>
            </p:cNvSpPr>
            <p:nvPr/>
          </p:nvSpPr>
          <p:spPr bwMode="auto">
            <a:xfrm>
              <a:off x="283655" y="3376373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0" name="Rectangle 15"/>
            <p:cNvSpPr>
              <a:spLocks noChangeArrowheads="1"/>
            </p:cNvSpPr>
            <p:nvPr/>
          </p:nvSpPr>
          <p:spPr bwMode="auto">
            <a:xfrm>
              <a:off x="283655" y="3448935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1" name="Rectangle 16"/>
            <p:cNvSpPr>
              <a:spLocks noChangeArrowheads="1"/>
            </p:cNvSpPr>
            <p:nvPr/>
          </p:nvSpPr>
          <p:spPr bwMode="auto">
            <a:xfrm>
              <a:off x="283655" y="3524796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2" name="Rectangle 17"/>
            <p:cNvSpPr>
              <a:spLocks noChangeArrowheads="1"/>
            </p:cNvSpPr>
            <p:nvPr/>
          </p:nvSpPr>
          <p:spPr bwMode="auto">
            <a:xfrm>
              <a:off x="283655" y="3597359"/>
              <a:ext cx="4282309" cy="23089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3" name="Rectangle 18"/>
            <p:cNvSpPr>
              <a:spLocks noChangeArrowheads="1"/>
            </p:cNvSpPr>
            <p:nvPr/>
          </p:nvSpPr>
          <p:spPr bwMode="auto">
            <a:xfrm>
              <a:off x="283655" y="3669922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4" name="Rectangle 19"/>
            <p:cNvSpPr>
              <a:spLocks noChangeArrowheads="1"/>
            </p:cNvSpPr>
            <p:nvPr/>
          </p:nvSpPr>
          <p:spPr bwMode="auto">
            <a:xfrm>
              <a:off x="283655" y="3745784"/>
              <a:ext cx="4282309" cy="20890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5" name="Rectangle 20"/>
            <p:cNvSpPr>
              <a:spLocks noChangeArrowheads="1"/>
            </p:cNvSpPr>
            <p:nvPr/>
          </p:nvSpPr>
          <p:spPr bwMode="auto">
            <a:xfrm>
              <a:off x="283655" y="3818346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6" name="Rectangle 21"/>
            <p:cNvSpPr>
              <a:spLocks noChangeArrowheads="1"/>
            </p:cNvSpPr>
            <p:nvPr/>
          </p:nvSpPr>
          <p:spPr bwMode="auto">
            <a:xfrm>
              <a:off x="283655" y="3890909"/>
              <a:ext cx="4282309" cy="24188"/>
            </a:xfrm>
            <a:prstGeom prst="rect">
              <a:avLst/>
            </a:pr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7" name="Freeform 22"/>
            <p:cNvSpPr>
              <a:spLocks noChangeArrowheads="1"/>
            </p:cNvSpPr>
            <p:nvPr/>
          </p:nvSpPr>
          <p:spPr bwMode="auto">
            <a:xfrm>
              <a:off x="283655" y="3473123"/>
              <a:ext cx="683850" cy="964207"/>
            </a:xfrm>
            <a:custGeom>
              <a:avLst/>
              <a:gdLst>
                <a:gd name="T0" fmla="*/ 0 w 622"/>
                <a:gd name="T1" fmla="*/ 0 h 877"/>
                <a:gd name="T2" fmla="*/ 683850 w 622"/>
                <a:gd name="T3" fmla="*/ 0 h 877"/>
                <a:gd name="T4" fmla="*/ 683850 w 622"/>
                <a:gd name="T5" fmla="*/ 964207 h 877"/>
                <a:gd name="T6" fmla="*/ 343024 w 622"/>
                <a:gd name="T7" fmla="*/ 714635 h 877"/>
                <a:gd name="T8" fmla="*/ 0 w 622"/>
                <a:gd name="T9" fmla="*/ 964207 h 877"/>
                <a:gd name="T10" fmla="*/ 0 w 622"/>
                <a:gd name="T11" fmla="*/ 0 h 8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2"/>
                <a:gd name="T19" fmla="*/ 0 h 877"/>
                <a:gd name="T20" fmla="*/ 622 w 622"/>
                <a:gd name="T21" fmla="*/ 877 h 8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2" h="877">
                  <a:moveTo>
                    <a:pt x="0" y="0"/>
                  </a:moveTo>
                  <a:lnTo>
                    <a:pt x="622" y="0"/>
                  </a:lnTo>
                  <a:lnTo>
                    <a:pt x="622" y="877"/>
                  </a:lnTo>
                  <a:lnTo>
                    <a:pt x="312" y="650"/>
                  </a:lnTo>
                  <a:lnTo>
                    <a:pt x="0" y="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" name="Rectangle 23"/>
            <p:cNvSpPr>
              <a:spLocks noChangeArrowheads="1"/>
            </p:cNvSpPr>
            <p:nvPr/>
          </p:nvSpPr>
          <p:spPr bwMode="auto">
            <a:xfrm>
              <a:off x="283655" y="3473123"/>
              <a:ext cx="683850" cy="196800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79" name="Freeform 24"/>
            <p:cNvSpPr>
              <a:spLocks noChangeArrowheads="1"/>
            </p:cNvSpPr>
            <p:nvPr/>
          </p:nvSpPr>
          <p:spPr bwMode="auto">
            <a:xfrm>
              <a:off x="967505" y="2723307"/>
              <a:ext cx="458466" cy="101148"/>
            </a:xfrm>
            <a:custGeom>
              <a:avLst/>
              <a:gdLst>
                <a:gd name="T0" fmla="*/ 408973 w 176"/>
                <a:gd name="T1" fmla="*/ 0 h 39"/>
                <a:gd name="T2" fmla="*/ 49493 w 176"/>
                <a:gd name="T3" fmla="*/ 0 h 39"/>
                <a:gd name="T4" fmla="*/ 0 w 176"/>
                <a:gd name="T5" fmla="*/ 49277 h 39"/>
                <a:gd name="T6" fmla="*/ 0 w 176"/>
                <a:gd name="T7" fmla="*/ 51871 h 39"/>
                <a:gd name="T8" fmla="*/ 49493 w 176"/>
                <a:gd name="T9" fmla="*/ 101148 h 39"/>
                <a:gd name="T10" fmla="*/ 408973 w 176"/>
                <a:gd name="T11" fmla="*/ 101148 h 39"/>
                <a:gd name="T12" fmla="*/ 458466 w 176"/>
                <a:gd name="T13" fmla="*/ 51871 h 39"/>
                <a:gd name="T14" fmla="*/ 458466 w 176"/>
                <a:gd name="T15" fmla="*/ 49277 h 39"/>
                <a:gd name="T16" fmla="*/ 408973 w 176"/>
                <a:gd name="T17" fmla="*/ 0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6"/>
                <a:gd name="T28" fmla="*/ 0 h 39"/>
                <a:gd name="T29" fmla="*/ 176 w 176"/>
                <a:gd name="T30" fmla="*/ 39 h 3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6" h="39">
                  <a:moveTo>
                    <a:pt x="157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30"/>
                    <a:pt x="9" y="39"/>
                    <a:pt x="19" y="39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68" y="39"/>
                    <a:pt x="176" y="30"/>
                    <a:pt x="176" y="20"/>
                  </a:cubicBezTo>
                  <a:cubicBezTo>
                    <a:pt x="176" y="19"/>
                    <a:pt x="176" y="19"/>
                    <a:pt x="176" y="19"/>
                  </a:cubicBezTo>
                  <a:cubicBezTo>
                    <a:pt x="176" y="8"/>
                    <a:pt x="168" y="0"/>
                    <a:pt x="15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" name="Freeform 25"/>
            <p:cNvSpPr>
              <a:spLocks noChangeArrowheads="1"/>
            </p:cNvSpPr>
            <p:nvPr/>
          </p:nvSpPr>
          <p:spPr bwMode="auto">
            <a:xfrm>
              <a:off x="967505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1" name="Freeform 26"/>
            <p:cNvSpPr>
              <a:spLocks noChangeArrowheads="1"/>
            </p:cNvSpPr>
            <p:nvPr/>
          </p:nvSpPr>
          <p:spPr bwMode="auto">
            <a:xfrm>
              <a:off x="1053261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2" name="Freeform 27"/>
            <p:cNvSpPr>
              <a:spLocks noChangeArrowheads="1"/>
            </p:cNvSpPr>
            <p:nvPr/>
          </p:nvSpPr>
          <p:spPr bwMode="auto">
            <a:xfrm>
              <a:off x="1146714" y="2291228"/>
              <a:ext cx="34083" cy="397996"/>
            </a:xfrm>
            <a:custGeom>
              <a:avLst/>
              <a:gdLst>
                <a:gd name="T0" fmla="*/ 18352 w 13"/>
                <a:gd name="T1" fmla="*/ 397996 h 153"/>
                <a:gd name="T2" fmla="*/ 18352 w 13"/>
                <a:gd name="T3" fmla="*/ 397996 h 153"/>
                <a:gd name="T4" fmla="*/ 0 w 13"/>
                <a:gd name="T5" fmla="*/ 379787 h 153"/>
                <a:gd name="T6" fmla="*/ 0 w 13"/>
                <a:gd name="T7" fmla="*/ 18209 h 153"/>
                <a:gd name="T8" fmla="*/ 18352 w 13"/>
                <a:gd name="T9" fmla="*/ 0 h 153"/>
                <a:gd name="T10" fmla="*/ 18352 w 13"/>
                <a:gd name="T11" fmla="*/ 0 h 153"/>
                <a:gd name="T12" fmla="*/ 34083 w 13"/>
                <a:gd name="T13" fmla="*/ 18209 h 153"/>
                <a:gd name="T14" fmla="*/ 34083 w 13"/>
                <a:gd name="T15" fmla="*/ 379787 h 153"/>
                <a:gd name="T16" fmla="*/ 18352 w 13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"/>
                <a:gd name="T28" fmla="*/ 0 h 153"/>
                <a:gd name="T29" fmla="*/ 13 w 13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3" y="3"/>
                    <a:pt x="13" y="7"/>
                  </a:cubicBezTo>
                  <a:cubicBezTo>
                    <a:pt x="13" y="146"/>
                    <a:pt x="13" y="146"/>
                    <a:pt x="13" y="146"/>
                  </a:cubicBezTo>
                  <a:cubicBezTo>
                    <a:pt x="13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3" name="Freeform 28"/>
            <p:cNvSpPr>
              <a:spLocks noChangeArrowheads="1"/>
            </p:cNvSpPr>
            <p:nvPr/>
          </p:nvSpPr>
          <p:spPr bwMode="auto">
            <a:xfrm>
              <a:off x="1365501" y="2291228"/>
              <a:ext cx="36282" cy="397996"/>
            </a:xfrm>
            <a:custGeom>
              <a:avLst/>
              <a:gdLst>
                <a:gd name="T0" fmla="*/ 18141 w 14"/>
                <a:gd name="T1" fmla="*/ 397996 h 153"/>
                <a:gd name="T2" fmla="*/ 18141 w 14"/>
                <a:gd name="T3" fmla="*/ 397996 h 153"/>
                <a:gd name="T4" fmla="*/ 0 w 14"/>
                <a:gd name="T5" fmla="*/ 379787 h 153"/>
                <a:gd name="T6" fmla="*/ 0 w 14"/>
                <a:gd name="T7" fmla="*/ 18209 h 153"/>
                <a:gd name="T8" fmla="*/ 18141 w 14"/>
                <a:gd name="T9" fmla="*/ 0 h 153"/>
                <a:gd name="T10" fmla="*/ 18141 w 14"/>
                <a:gd name="T11" fmla="*/ 0 h 153"/>
                <a:gd name="T12" fmla="*/ 36282 w 14"/>
                <a:gd name="T13" fmla="*/ 18209 h 153"/>
                <a:gd name="T14" fmla="*/ 36282 w 14"/>
                <a:gd name="T15" fmla="*/ 379787 h 153"/>
                <a:gd name="T16" fmla="*/ 18141 w 14"/>
                <a:gd name="T17" fmla="*/ 397996 h 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153"/>
                <a:gd name="T29" fmla="*/ 14 w 14"/>
                <a:gd name="T30" fmla="*/ 153 h 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153">
                  <a:moveTo>
                    <a:pt x="7" y="153"/>
                  </a:moveTo>
                  <a:cubicBezTo>
                    <a:pt x="7" y="153"/>
                    <a:pt x="7" y="153"/>
                    <a:pt x="7" y="153"/>
                  </a:cubicBezTo>
                  <a:cubicBezTo>
                    <a:pt x="3" y="153"/>
                    <a:pt x="0" y="150"/>
                    <a:pt x="0" y="1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14" y="150"/>
                    <a:pt x="11" y="153"/>
                    <a:pt x="7" y="15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4" name="Freeform 29"/>
            <p:cNvSpPr>
              <a:spLocks noChangeArrowheads="1"/>
            </p:cNvSpPr>
            <p:nvPr/>
          </p:nvSpPr>
          <p:spPr bwMode="auto">
            <a:xfrm>
              <a:off x="626679" y="0"/>
              <a:ext cx="1550207" cy="2192278"/>
            </a:xfrm>
            <a:custGeom>
              <a:avLst/>
              <a:gdLst>
                <a:gd name="T0" fmla="*/ 1550207 w 1410"/>
                <a:gd name="T1" fmla="*/ 2192278 h 1994"/>
                <a:gd name="T2" fmla="*/ 0 w 1410"/>
                <a:gd name="T3" fmla="*/ 2192278 h 1994"/>
                <a:gd name="T4" fmla="*/ 0 w 1410"/>
                <a:gd name="T5" fmla="*/ 0 h 1994"/>
                <a:gd name="T6" fmla="*/ 1550207 w 1410"/>
                <a:gd name="T7" fmla="*/ 228683 h 1994"/>
                <a:gd name="T8" fmla="*/ 1550207 w 1410"/>
                <a:gd name="T9" fmla="*/ 2192278 h 19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10"/>
                <a:gd name="T16" fmla="*/ 0 h 1994"/>
                <a:gd name="T17" fmla="*/ 1410 w 1410"/>
                <a:gd name="T18" fmla="*/ 1994 h 19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10" h="1994">
                  <a:moveTo>
                    <a:pt x="1410" y="1994"/>
                  </a:moveTo>
                  <a:lnTo>
                    <a:pt x="0" y="1994"/>
                  </a:lnTo>
                  <a:lnTo>
                    <a:pt x="0" y="0"/>
                  </a:lnTo>
                  <a:lnTo>
                    <a:pt x="1410" y="208"/>
                  </a:lnTo>
                  <a:lnTo>
                    <a:pt x="1410" y="1994"/>
                  </a:lnTo>
                  <a:close/>
                </a:path>
              </a:pathLst>
            </a:custGeom>
            <a:solidFill>
              <a:srgbClr val="6B9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5" name="Freeform 30"/>
            <p:cNvSpPr>
              <a:spLocks noChangeArrowheads="1"/>
            </p:cNvSpPr>
            <p:nvPr/>
          </p:nvSpPr>
          <p:spPr bwMode="auto">
            <a:xfrm>
              <a:off x="790496" y="93453"/>
              <a:ext cx="1386391" cy="2098826"/>
            </a:xfrm>
            <a:custGeom>
              <a:avLst/>
              <a:gdLst>
                <a:gd name="T0" fmla="*/ 0 w 1261"/>
                <a:gd name="T1" fmla="*/ 0 h 1909"/>
                <a:gd name="T2" fmla="*/ 1386391 w 1261"/>
                <a:gd name="T3" fmla="*/ 218788 h 1909"/>
                <a:gd name="T4" fmla="*/ 1386391 w 1261"/>
                <a:gd name="T5" fmla="*/ 2098826 h 1909"/>
                <a:gd name="T6" fmla="*/ 0 w 1261"/>
                <a:gd name="T7" fmla="*/ 2098826 h 1909"/>
                <a:gd name="T8" fmla="*/ 0 w 1261"/>
                <a:gd name="T9" fmla="*/ 0 h 19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61"/>
                <a:gd name="T16" fmla="*/ 0 h 1909"/>
                <a:gd name="T17" fmla="*/ 1261 w 1261"/>
                <a:gd name="T18" fmla="*/ 1909 h 19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61" h="1909">
                  <a:moveTo>
                    <a:pt x="0" y="0"/>
                  </a:moveTo>
                  <a:lnTo>
                    <a:pt x="1261" y="199"/>
                  </a:lnTo>
                  <a:lnTo>
                    <a:pt x="1261" y="1909"/>
                  </a:lnTo>
                  <a:lnTo>
                    <a:pt x="0" y="1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6" name="Rectangle 31"/>
            <p:cNvSpPr>
              <a:spLocks noChangeArrowheads="1"/>
            </p:cNvSpPr>
            <p:nvPr/>
          </p:nvSpPr>
          <p:spPr bwMode="auto">
            <a:xfrm>
              <a:off x="2176886" y="230882"/>
              <a:ext cx="1776691" cy="1961396"/>
            </a:xfrm>
            <a:prstGeom prst="rect">
              <a:avLst/>
            </a:prstGeom>
            <a:solidFill>
              <a:srgbClr val="4F7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7" name="Rectangle 32"/>
            <p:cNvSpPr>
              <a:spLocks noChangeArrowheads="1"/>
            </p:cNvSpPr>
            <p:nvPr/>
          </p:nvSpPr>
          <p:spPr bwMode="auto">
            <a:xfrm>
              <a:off x="2176886" y="230882"/>
              <a:ext cx="1776691" cy="196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8" name="Rectangle 33"/>
            <p:cNvSpPr>
              <a:spLocks noChangeArrowheads="1"/>
            </p:cNvSpPr>
            <p:nvPr/>
          </p:nvSpPr>
          <p:spPr bwMode="auto">
            <a:xfrm>
              <a:off x="2176886" y="312240"/>
              <a:ext cx="1725018" cy="18800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89" name="Rectangle 34"/>
            <p:cNvSpPr>
              <a:spLocks noChangeArrowheads="1"/>
            </p:cNvSpPr>
            <p:nvPr/>
          </p:nvSpPr>
          <p:spPr bwMode="auto">
            <a:xfrm>
              <a:off x="2176886" y="312240"/>
              <a:ext cx="1725018" cy="188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0" name="Rectangle 35"/>
            <p:cNvSpPr>
              <a:spLocks noChangeArrowheads="1"/>
            </p:cNvSpPr>
            <p:nvPr/>
          </p:nvSpPr>
          <p:spPr bwMode="auto">
            <a:xfrm>
              <a:off x="689348" y="93453"/>
              <a:ext cx="101148" cy="2098826"/>
            </a:xfrm>
            <a:prstGeom prst="rect">
              <a:avLst/>
            </a:prstGeom>
            <a:solidFill>
              <a:srgbClr val="CF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1" name="Freeform 36"/>
            <p:cNvSpPr>
              <a:spLocks noChangeArrowheads="1"/>
            </p:cNvSpPr>
            <p:nvPr/>
          </p:nvSpPr>
          <p:spPr bwMode="auto">
            <a:xfrm>
              <a:off x="689348" y="93453"/>
              <a:ext cx="101148" cy="2098826"/>
            </a:xfrm>
            <a:custGeom>
              <a:avLst/>
              <a:gdLst>
                <a:gd name="T0" fmla="*/ 101148 w 92"/>
                <a:gd name="T1" fmla="*/ 0 h 1909"/>
                <a:gd name="T2" fmla="*/ 0 w 92"/>
                <a:gd name="T3" fmla="*/ 0 h 1909"/>
                <a:gd name="T4" fmla="*/ 0 w 92"/>
                <a:gd name="T5" fmla="*/ 2098826 h 1909"/>
                <a:gd name="T6" fmla="*/ 101148 w 92"/>
                <a:gd name="T7" fmla="*/ 2098826 h 19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1909"/>
                <a:gd name="T14" fmla="*/ 92 w 92"/>
                <a:gd name="T15" fmla="*/ 1909 h 19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1909">
                  <a:moveTo>
                    <a:pt x="92" y="0"/>
                  </a:moveTo>
                  <a:lnTo>
                    <a:pt x="0" y="0"/>
                  </a:lnTo>
                  <a:lnTo>
                    <a:pt x="0" y="1909"/>
                  </a:lnTo>
                  <a:lnTo>
                    <a:pt x="92" y="190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2" name="Rectangle 37"/>
            <p:cNvSpPr>
              <a:spLocks noChangeArrowheads="1"/>
            </p:cNvSpPr>
            <p:nvPr/>
          </p:nvSpPr>
          <p:spPr bwMode="auto">
            <a:xfrm>
              <a:off x="2187880" y="312240"/>
              <a:ext cx="67066" cy="1880038"/>
            </a:xfrm>
            <a:prstGeom prst="rect">
              <a:avLst/>
            </a:prstGeom>
            <a:solidFill>
              <a:srgbClr val="EC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3" name="Rectangle 38"/>
            <p:cNvSpPr>
              <a:spLocks noChangeArrowheads="1"/>
            </p:cNvSpPr>
            <p:nvPr/>
          </p:nvSpPr>
          <p:spPr bwMode="auto">
            <a:xfrm>
              <a:off x="2187880" y="312240"/>
              <a:ext cx="67066" cy="188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94" name="Freeform 39"/>
            <p:cNvSpPr>
              <a:spLocks noChangeArrowheads="1"/>
            </p:cNvSpPr>
            <p:nvPr/>
          </p:nvSpPr>
          <p:spPr bwMode="auto">
            <a:xfrm>
              <a:off x="2320913" y="423284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5" name="Freeform 40"/>
            <p:cNvSpPr>
              <a:spLocks noChangeArrowheads="1"/>
            </p:cNvSpPr>
            <p:nvPr/>
          </p:nvSpPr>
          <p:spPr bwMode="auto">
            <a:xfrm>
              <a:off x="2320913" y="512338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6" name="Freeform 41"/>
            <p:cNvSpPr>
              <a:spLocks noChangeArrowheads="1"/>
            </p:cNvSpPr>
            <p:nvPr/>
          </p:nvSpPr>
          <p:spPr bwMode="auto">
            <a:xfrm>
              <a:off x="2320913" y="761910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6039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6039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7" name="Freeform 42"/>
            <p:cNvSpPr>
              <a:spLocks noChangeArrowheads="1"/>
            </p:cNvSpPr>
            <p:nvPr/>
          </p:nvSpPr>
          <p:spPr bwMode="auto">
            <a:xfrm>
              <a:off x="2320913" y="910334"/>
              <a:ext cx="1419374" cy="49475"/>
            </a:xfrm>
            <a:custGeom>
              <a:avLst/>
              <a:gdLst>
                <a:gd name="T0" fmla="*/ 1395978 w 546"/>
                <a:gd name="T1" fmla="*/ 49475 h 19"/>
                <a:gd name="T2" fmla="*/ 23396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396 w 546"/>
                <a:gd name="T9" fmla="*/ 0 h 19"/>
                <a:gd name="T10" fmla="*/ 1395978 w 546"/>
                <a:gd name="T11" fmla="*/ 0 h 19"/>
                <a:gd name="T12" fmla="*/ 1419374 w 546"/>
                <a:gd name="T13" fmla="*/ 23436 h 19"/>
                <a:gd name="T14" fmla="*/ 1419374 w 546"/>
                <a:gd name="T15" fmla="*/ 23436 h 19"/>
                <a:gd name="T16" fmla="*/ 1395978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7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42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2" y="19"/>
                    <a:pt x="537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8" name="Freeform 43"/>
            <p:cNvSpPr>
              <a:spLocks noChangeArrowheads="1"/>
            </p:cNvSpPr>
            <p:nvPr/>
          </p:nvSpPr>
          <p:spPr bwMode="auto">
            <a:xfrm>
              <a:off x="2286830" y="1308330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3436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9" name="Freeform 44"/>
            <p:cNvSpPr>
              <a:spLocks noChangeArrowheads="1"/>
            </p:cNvSpPr>
            <p:nvPr/>
          </p:nvSpPr>
          <p:spPr bwMode="auto">
            <a:xfrm>
              <a:off x="2286830" y="1424871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6039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6039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0" name="Freeform 45"/>
            <p:cNvSpPr>
              <a:spLocks noChangeArrowheads="1"/>
            </p:cNvSpPr>
            <p:nvPr/>
          </p:nvSpPr>
          <p:spPr bwMode="auto">
            <a:xfrm>
              <a:off x="2286830" y="1542511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6039 h 19"/>
                <a:gd name="T6" fmla="*/ 0 w 546"/>
                <a:gd name="T7" fmla="*/ 26039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6039 h 19"/>
                <a:gd name="T14" fmla="*/ 1420473 w 546"/>
                <a:gd name="T15" fmla="*/ 26039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10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46" y="15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1" name="Freeform 46"/>
            <p:cNvSpPr>
              <a:spLocks noChangeArrowheads="1"/>
            </p:cNvSpPr>
            <p:nvPr/>
          </p:nvSpPr>
          <p:spPr bwMode="auto">
            <a:xfrm>
              <a:off x="2286830" y="1666747"/>
              <a:ext cx="1420473" cy="49475"/>
            </a:xfrm>
            <a:custGeom>
              <a:avLst/>
              <a:gdLst>
                <a:gd name="T0" fmla="*/ 1394457 w 546"/>
                <a:gd name="T1" fmla="*/ 49475 h 19"/>
                <a:gd name="T2" fmla="*/ 23414 w 546"/>
                <a:gd name="T3" fmla="*/ 49475 h 19"/>
                <a:gd name="T4" fmla="*/ 0 w 546"/>
                <a:gd name="T5" fmla="*/ 23436 h 19"/>
                <a:gd name="T6" fmla="*/ 0 w 546"/>
                <a:gd name="T7" fmla="*/ 23436 h 19"/>
                <a:gd name="T8" fmla="*/ 23414 w 546"/>
                <a:gd name="T9" fmla="*/ 0 h 19"/>
                <a:gd name="T10" fmla="*/ 1394457 w 546"/>
                <a:gd name="T11" fmla="*/ 0 h 19"/>
                <a:gd name="T12" fmla="*/ 1420473 w 546"/>
                <a:gd name="T13" fmla="*/ 23436 h 19"/>
                <a:gd name="T14" fmla="*/ 1420473 w 546"/>
                <a:gd name="T15" fmla="*/ 23436 h 19"/>
                <a:gd name="T16" fmla="*/ 1394457 w 546"/>
                <a:gd name="T17" fmla="*/ 49475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46"/>
                <a:gd name="T28" fmla="*/ 0 h 19"/>
                <a:gd name="T29" fmla="*/ 546 w 546"/>
                <a:gd name="T30" fmla="*/ 19 h 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46" h="19">
                  <a:moveTo>
                    <a:pt x="536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1" y="0"/>
                    <a:pt x="546" y="4"/>
                    <a:pt x="546" y="9"/>
                  </a:cubicBezTo>
                  <a:cubicBezTo>
                    <a:pt x="546" y="9"/>
                    <a:pt x="546" y="9"/>
                    <a:pt x="546" y="9"/>
                  </a:cubicBezTo>
                  <a:cubicBezTo>
                    <a:pt x="546" y="14"/>
                    <a:pt x="541" y="19"/>
                    <a:pt x="536" y="19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2" name="Freeform 47"/>
            <p:cNvSpPr>
              <a:spLocks noChangeArrowheads="1"/>
            </p:cNvSpPr>
            <p:nvPr/>
          </p:nvSpPr>
          <p:spPr bwMode="auto">
            <a:xfrm>
              <a:off x="918031" y="1576593"/>
              <a:ext cx="1161006" cy="131932"/>
            </a:xfrm>
            <a:custGeom>
              <a:avLst/>
              <a:gdLst>
                <a:gd name="T0" fmla="*/ 1137578 w 446"/>
                <a:gd name="T1" fmla="*/ 0 h 51"/>
                <a:gd name="T2" fmla="*/ 23428 w 446"/>
                <a:gd name="T3" fmla="*/ 77607 h 51"/>
                <a:gd name="T4" fmla="*/ 0 w 446"/>
                <a:gd name="T5" fmla="*/ 106063 h 51"/>
                <a:gd name="T6" fmla="*/ 23428 w 446"/>
                <a:gd name="T7" fmla="*/ 129345 h 51"/>
                <a:gd name="T8" fmla="*/ 1137578 w 446"/>
                <a:gd name="T9" fmla="*/ 46564 h 51"/>
                <a:gd name="T10" fmla="*/ 1161006 w 446"/>
                <a:gd name="T11" fmla="*/ 20695 h 51"/>
                <a:gd name="T12" fmla="*/ 1137578 w 446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51"/>
                <a:gd name="T23" fmla="*/ 446 w 44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51">
                  <a:moveTo>
                    <a:pt x="437" y="0"/>
                  </a:moveTo>
                  <a:cubicBezTo>
                    <a:pt x="294" y="10"/>
                    <a:pt x="152" y="20"/>
                    <a:pt x="9" y="30"/>
                  </a:cubicBezTo>
                  <a:cubicBezTo>
                    <a:pt x="4" y="31"/>
                    <a:pt x="0" y="36"/>
                    <a:pt x="0" y="41"/>
                  </a:cubicBezTo>
                  <a:cubicBezTo>
                    <a:pt x="0" y="47"/>
                    <a:pt x="4" y="51"/>
                    <a:pt x="9" y="50"/>
                  </a:cubicBezTo>
                  <a:cubicBezTo>
                    <a:pt x="152" y="40"/>
                    <a:pt x="294" y="29"/>
                    <a:pt x="437" y="18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4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3" name="Freeform 48"/>
            <p:cNvSpPr>
              <a:spLocks noChangeArrowheads="1"/>
            </p:cNvSpPr>
            <p:nvPr/>
          </p:nvSpPr>
          <p:spPr bwMode="auto">
            <a:xfrm>
              <a:off x="918031" y="1493036"/>
              <a:ext cx="1161006" cy="122038"/>
            </a:xfrm>
            <a:custGeom>
              <a:avLst/>
              <a:gdLst>
                <a:gd name="T0" fmla="*/ 1137578 w 446"/>
                <a:gd name="T1" fmla="*/ 2597 h 47"/>
                <a:gd name="T2" fmla="*/ 23428 w 446"/>
                <a:gd name="T3" fmla="*/ 67510 h 47"/>
                <a:gd name="T4" fmla="*/ 0 w 446"/>
                <a:gd name="T5" fmla="*/ 96072 h 47"/>
                <a:gd name="T6" fmla="*/ 23428 w 446"/>
                <a:gd name="T7" fmla="*/ 119441 h 47"/>
                <a:gd name="T8" fmla="*/ 1137578 w 446"/>
                <a:gd name="T9" fmla="*/ 46738 h 47"/>
                <a:gd name="T10" fmla="*/ 1161006 w 446"/>
                <a:gd name="T11" fmla="*/ 23369 h 47"/>
                <a:gd name="T12" fmla="*/ 1137578 w 446"/>
                <a:gd name="T13" fmla="*/ 2597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47"/>
                <a:gd name="T23" fmla="*/ 446 w 446"/>
                <a:gd name="T24" fmla="*/ 47 h 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47">
                  <a:moveTo>
                    <a:pt x="437" y="1"/>
                  </a:moveTo>
                  <a:cubicBezTo>
                    <a:pt x="294" y="9"/>
                    <a:pt x="152" y="18"/>
                    <a:pt x="9" y="26"/>
                  </a:cubicBezTo>
                  <a:cubicBezTo>
                    <a:pt x="4" y="26"/>
                    <a:pt x="0" y="31"/>
                    <a:pt x="0" y="37"/>
                  </a:cubicBezTo>
                  <a:cubicBezTo>
                    <a:pt x="0" y="42"/>
                    <a:pt x="4" y="47"/>
                    <a:pt x="9" y="46"/>
                  </a:cubicBezTo>
                  <a:cubicBezTo>
                    <a:pt x="152" y="37"/>
                    <a:pt x="294" y="28"/>
                    <a:pt x="437" y="18"/>
                  </a:cubicBezTo>
                  <a:cubicBezTo>
                    <a:pt x="442" y="18"/>
                    <a:pt x="446" y="14"/>
                    <a:pt x="446" y="9"/>
                  </a:cubicBezTo>
                  <a:cubicBezTo>
                    <a:pt x="446" y="4"/>
                    <a:pt x="442" y="0"/>
                    <a:pt x="437" y="1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4" name="Freeform 49"/>
            <p:cNvSpPr>
              <a:spLocks noChangeArrowheads="1"/>
            </p:cNvSpPr>
            <p:nvPr/>
          </p:nvSpPr>
          <p:spPr bwMode="auto">
            <a:xfrm>
              <a:off x="918031" y="1261055"/>
              <a:ext cx="1161006" cy="85756"/>
            </a:xfrm>
            <a:custGeom>
              <a:avLst/>
              <a:gdLst>
                <a:gd name="T0" fmla="*/ 1137578 w 446"/>
                <a:gd name="T1" fmla="*/ 0 h 33"/>
                <a:gd name="T2" fmla="*/ 23428 w 446"/>
                <a:gd name="T3" fmla="*/ 33783 h 33"/>
                <a:gd name="T4" fmla="*/ 0 w 446"/>
                <a:gd name="T5" fmla="*/ 59769 h 33"/>
                <a:gd name="T6" fmla="*/ 23428 w 446"/>
                <a:gd name="T7" fmla="*/ 85756 h 33"/>
                <a:gd name="T8" fmla="*/ 1137578 w 446"/>
                <a:gd name="T9" fmla="*/ 44177 h 33"/>
                <a:gd name="T10" fmla="*/ 1161006 w 446"/>
                <a:gd name="T11" fmla="*/ 20789 h 33"/>
                <a:gd name="T12" fmla="*/ 1137578 w 446"/>
                <a:gd name="T13" fmla="*/ 0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3"/>
                <a:gd name="T23" fmla="*/ 446 w 446"/>
                <a:gd name="T24" fmla="*/ 33 h 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3">
                  <a:moveTo>
                    <a:pt x="437" y="0"/>
                  </a:moveTo>
                  <a:cubicBezTo>
                    <a:pt x="294" y="4"/>
                    <a:pt x="152" y="8"/>
                    <a:pt x="9" y="13"/>
                  </a:cubicBezTo>
                  <a:cubicBezTo>
                    <a:pt x="4" y="13"/>
                    <a:pt x="0" y="17"/>
                    <a:pt x="0" y="23"/>
                  </a:cubicBezTo>
                  <a:cubicBezTo>
                    <a:pt x="0" y="29"/>
                    <a:pt x="4" y="33"/>
                    <a:pt x="9" y="33"/>
                  </a:cubicBezTo>
                  <a:cubicBezTo>
                    <a:pt x="152" y="28"/>
                    <a:pt x="294" y="22"/>
                    <a:pt x="437" y="17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3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5" name="Freeform 50"/>
            <p:cNvSpPr>
              <a:spLocks noChangeArrowheads="1"/>
            </p:cNvSpPr>
            <p:nvPr/>
          </p:nvSpPr>
          <p:spPr bwMode="auto">
            <a:xfrm>
              <a:off x="918031" y="1123625"/>
              <a:ext cx="1161006" cy="67066"/>
            </a:xfrm>
            <a:custGeom>
              <a:avLst/>
              <a:gdLst>
                <a:gd name="T0" fmla="*/ 1137578 w 446"/>
                <a:gd name="T1" fmla="*/ 0 h 26"/>
                <a:gd name="T2" fmla="*/ 23428 w 446"/>
                <a:gd name="T3" fmla="*/ 12897 h 26"/>
                <a:gd name="T4" fmla="*/ 0 w 446"/>
                <a:gd name="T5" fmla="*/ 41271 h 26"/>
                <a:gd name="T6" fmla="*/ 23428 w 446"/>
                <a:gd name="T7" fmla="*/ 64487 h 26"/>
                <a:gd name="T8" fmla="*/ 1137578 w 446"/>
                <a:gd name="T9" fmla="*/ 43851 h 26"/>
                <a:gd name="T10" fmla="*/ 1161006 w 446"/>
                <a:gd name="T11" fmla="*/ 20636 h 26"/>
                <a:gd name="T12" fmla="*/ 1137578 w 446"/>
                <a:gd name="T13" fmla="*/ 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26"/>
                <a:gd name="T23" fmla="*/ 446 w 446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26">
                  <a:moveTo>
                    <a:pt x="437" y="0"/>
                  </a:moveTo>
                  <a:cubicBezTo>
                    <a:pt x="294" y="2"/>
                    <a:pt x="152" y="3"/>
                    <a:pt x="9" y="5"/>
                  </a:cubicBezTo>
                  <a:cubicBezTo>
                    <a:pt x="4" y="5"/>
                    <a:pt x="0" y="10"/>
                    <a:pt x="0" y="16"/>
                  </a:cubicBezTo>
                  <a:cubicBezTo>
                    <a:pt x="0" y="21"/>
                    <a:pt x="4" y="26"/>
                    <a:pt x="9" y="25"/>
                  </a:cubicBezTo>
                  <a:cubicBezTo>
                    <a:pt x="152" y="23"/>
                    <a:pt x="294" y="20"/>
                    <a:pt x="437" y="17"/>
                  </a:cubicBezTo>
                  <a:cubicBezTo>
                    <a:pt x="442" y="17"/>
                    <a:pt x="446" y="13"/>
                    <a:pt x="446" y="8"/>
                  </a:cubicBezTo>
                  <a:cubicBezTo>
                    <a:pt x="446" y="4"/>
                    <a:pt x="442" y="0"/>
                    <a:pt x="437" y="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6" name="Freeform 51"/>
            <p:cNvSpPr>
              <a:spLocks noChangeArrowheads="1"/>
            </p:cNvSpPr>
            <p:nvPr/>
          </p:nvSpPr>
          <p:spPr bwMode="auto">
            <a:xfrm>
              <a:off x="889445" y="712435"/>
              <a:ext cx="1159907" cy="83557"/>
            </a:xfrm>
            <a:custGeom>
              <a:avLst/>
              <a:gdLst>
                <a:gd name="T0" fmla="*/ 1136501 w 446"/>
                <a:gd name="T1" fmla="*/ 39167 h 32"/>
                <a:gd name="T2" fmla="*/ 26007 w 446"/>
                <a:gd name="T3" fmla="*/ 0 h 32"/>
                <a:gd name="T4" fmla="*/ 0 w 446"/>
                <a:gd name="T5" fmla="*/ 26112 h 32"/>
                <a:gd name="T6" fmla="*/ 26007 w 446"/>
                <a:gd name="T7" fmla="*/ 52223 h 32"/>
                <a:gd name="T8" fmla="*/ 1136501 w 446"/>
                <a:gd name="T9" fmla="*/ 83557 h 32"/>
                <a:gd name="T10" fmla="*/ 1159907 w 446"/>
                <a:gd name="T11" fmla="*/ 62668 h 32"/>
                <a:gd name="T12" fmla="*/ 1136501 w 446"/>
                <a:gd name="T13" fmla="*/ 3916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2"/>
                <a:gd name="T23" fmla="*/ 446 w 446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2">
                  <a:moveTo>
                    <a:pt x="437" y="15"/>
                  </a:moveTo>
                  <a:cubicBezTo>
                    <a:pt x="294" y="10"/>
                    <a:pt x="152" y="5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52" y="24"/>
                    <a:pt x="294" y="28"/>
                    <a:pt x="437" y="32"/>
                  </a:cubicBezTo>
                  <a:cubicBezTo>
                    <a:pt x="442" y="32"/>
                    <a:pt x="446" y="29"/>
                    <a:pt x="446" y="24"/>
                  </a:cubicBezTo>
                  <a:cubicBezTo>
                    <a:pt x="446" y="19"/>
                    <a:pt x="442" y="15"/>
                    <a:pt x="437" y="15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7" name="Freeform 52"/>
            <p:cNvSpPr>
              <a:spLocks noChangeArrowheads="1"/>
            </p:cNvSpPr>
            <p:nvPr/>
          </p:nvSpPr>
          <p:spPr bwMode="auto">
            <a:xfrm>
              <a:off x="889445" y="587100"/>
              <a:ext cx="1159907" cy="98949"/>
            </a:xfrm>
            <a:custGeom>
              <a:avLst/>
              <a:gdLst>
                <a:gd name="T0" fmla="*/ 1136501 w 446"/>
                <a:gd name="T1" fmla="*/ 52078 h 38"/>
                <a:gd name="T2" fmla="*/ 26007 w 446"/>
                <a:gd name="T3" fmla="*/ 0 h 38"/>
                <a:gd name="T4" fmla="*/ 0 w 446"/>
                <a:gd name="T5" fmla="*/ 23435 h 38"/>
                <a:gd name="T6" fmla="*/ 26007 w 446"/>
                <a:gd name="T7" fmla="*/ 52078 h 38"/>
                <a:gd name="T8" fmla="*/ 1136501 w 446"/>
                <a:gd name="T9" fmla="*/ 98949 h 38"/>
                <a:gd name="T10" fmla="*/ 1159907 w 446"/>
                <a:gd name="T11" fmla="*/ 75514 h 38"/>
                <a:gd name="T12" fmla="*/ 1136501 w 446"/>
                <a:gd name="T13" fmla="*/ 5207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38"/>
                <a:gd name="T23" fmla="*/ 446 w 446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38">
                  <a:moveTo>
                    <a:pt x="437" y="20"/>
                  </a:moveTo>
                  <a:cubicBezTo>
                    <a:pt x="294" y="13"/>
                    <a:pt x="152" y="7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2" y="26"/>
                    <a:pt x="294" y="32"/>
                    <a:pt x="437" y="38"/>
                  </a:cubicBezTo>
                  <a:cubicBezTo>
                    <a:pt x="442" y="38"/>
                    <a:pt x="446" y="34"/>
                    <a:pt x="446" y="29"/>
                  </a:cubicBezTo>
                  <a:cubicBezTo>
                    <a:pt x="446" y="25"/>
                    <a:pt x="442" y="20"/>
                    <a:pt x="437" y="20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8" name="Freeform 53"/>
            <p:cNvSpPr>
              <a:spLocks noChangeArrowheads="1"/>
            </p:cNvSpPr>
            <p:nvPr/>
          </p:nvSpPr>
          <p:spPr bwMode="auto">
            <a:xfrm>
              <a:off x="889445" y="459565"/>
              <a:ext cx="1159907" cy="117640"/>
            </a:xfrm>
            <a:custGeom>
              <a:avLst/>
              <a:gdLst>
                <a:gd name="T0" fmla="*/ 1136501 w 446"/>
                <a:gd name="T1" fmla="*/ 70584 h 45"/>
                <a:gd name="T2" fmla="*/ 26007 w 446"/>
                <a:gd name="T3" fmla="*/ 0 h 45"/>
                <a:gd name="T4" fmla="*/ 0 w 446"/>
                <a:gd name="T5" fmla="*/ 26142 h 45"/>
                <a:gd name="T6" fmla="*/ 26007 w 446"/>
                <a:gd name="T7" fmla="*/ 54899 h 45"/>
                <a:gd name="T8" fmla="*/ 1136501 w 446"/>
                <a:gd name="T9" fmla="*/ 115026 h 45"/>
                <a:gd name="T10" fmla="*/ 1159907 w 446"/>
                <a:gd name="T11" fmla="*/ 94112 h 45"/>
                <a:gd name="T12" fmla="*/ 1136501 w 446"/>
                <a:gd name="T13" fmla="*/ 705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45"/>
                <a:gd name="T23" fmla="*/ 446 w 446"/>
                <a:gd name="T24" fmla="*/ 45 h 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45">
                  <a:moveTo>
                    <a:pt x="437" y="27"/>
                  </a:moveTo>
                  <a:cubicBezTo>
                    <a:pt x="294" y="18"/>
                    <a:pt x="152" y="9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1"/>
                  </a:cubicBezTo>
                  <a:cubicBezTo>
                    <a:pt x="152" y="29"/>
                    <a:pt x="294" y="36"/>
                    <a:pt x="437" y="44"/>
                  </a:cubicBezTo>
                  <a:cubicBezTo>
                    <a:pt x="442" y="45"/>
                    <a:pt x="446" y="41"/>
                    <a:pt x="446" y="36"/>
                  </a:cubicBezTo>
                  <a:cubicBezTo>
                    <a:pt x="446" y="31"/>
                    <a:pt x="442" y="27"/>
                    <a:pt x="437" y="27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9" name="Freeform 54"/>
            <p:cNvSpPr>
              <a:spLocks noChangeArrowheads="1"/>
            </p:cNvSpPr>
            <p:nvPr/>
          </p:nvSpPr>
          <p:spPr bwMode="auto">
            <a:xfrm>
              <a:off x="889445" y="329831"/>
              <a:ext cx="1159907" cy="133032"/>
            </a:xfrm>
            <a:custGeom>
              <a:avLst/>
              <a:gdLst>
                <a:gd name="T0" fmla="*/ 1136501 w 446"/>
                <a:gd name="T1" fmla="*/ 86080 h 51"/>
                <a:gd name="T2" fmla="*/ 26007 w 446"/>
                <a:gd name="T3" fmla="*/ 0 h 51"/>
                <a:gd name="T4" fmla="*/ 0 w 446"/>
                <a:gd name="T5" fmla="*/ 23476 h 51"/>
                <a:gd name="T6" fmla="*/ 26007 w 446"/>
                <a:gd name="T7" fmla="*/ 52169 h 51"/>
                <a:gd name="T8" fmla="*/ 1136501 w 446"/>
                <a:gd name="T9" fmla="*/ 130424 h 51"/>
                <a:gd name="T10" fmla="*/ 1159907 w 446"/>
                <a:gd name="T11" fmla="*/ 109556 h 51"/>
                <a:gd name="T12" fmla="*/ 1136501 w 446"/>
                <a:gd name="T13" fmla="*/ 8608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6"/>
                <a:gd name="T22" fmla="*/ 0 h 51"/>
                <a:gd name="T23" fmla="*/ 446 w 44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6" h="51">
                  <a:moveTo>
                    <a:pt x="437" y="33"/>
                  </a:moveTo>
                  <a:cubicBezTo>
                    <a:pt x="294" y="22"/>
                    <a:pt x="152" y="11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2" y="30"/>
                    <a:pt x="294" y="40"/>
                    <a:pt x="437" y="50"/>
                  </a:cubicBezTo>
                  <a:cubicBezTo>
                    <a:pt x="442" y="51"/>
                    <a:pt x="446" y="47"/>
                    <a:pt x="446" y="42"/>
                  </a:cubicBezTo>
                  <a:cubicBezTo>
                    <a:pt x="446" y="37"/>
                    <a:pt x="442" y="33"/>
                    <a:pt x="437" y="33"/>
                  </a:cubicBezTo>
                  <a:close/>
                </a:path>
              </a:pathLst>
            </a:custGeom>
            <a:solidFill>
              <a:srgbClr val="EC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0" name="Freeform 55"/>
            <p:cNvSpPr>
              <a:spLocks noChangeArrowheads="1"/>
            </p:cNvSpPr>
            <p:nvPr/>
          </p:nvSpPr>
          <p:spPr bwMode="auto">
            <a:xfrm>
              <a:off x="2187880" y="312240"/>
              <a:ext cx="98949" cy="1175299"/>
            </a:xfrm>
            <a:custGeom>
              <a:avLst/>
              <a:gdLst>
                <a:gd name="T0" fmla="*/ 0 w 90"/>
                <a:gd name="T1" fmla="*/ 0 h 1069"/>
                <a:gd name="T2" fmla="*/ 0 w 90"/>
                <a:gd name="T3" fmla="*/ 1175299 h 1069"/>
                <a:gd name="T4" fmla="*/ 49475 w 90"/>
                <a:gd name="T5" fmla="*/ 1136819 h 1069"/>
                <a:gd name="T6" fmla="*/ 98949 w 90"/>
                <a:gd name="T7" fmla="*/ 1175299 h 1069"/>
                <a:gd name="T8" fmla="*/ 98949 w 90"/>
                <a:gd name="T9" fmla="*/ 0 h 1069"/>
                <a:gd name="T10" fmla="*/ 0 w 90"/>
                <a:gd name="T11" fmla="*/ 0 h 10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0"/>
                <a:gd name="T19" fmla="*/ 0 h 1069"/>
                <a:gd name="T20" fmla="*/ 90 w 90"/>
                <a:gd name="T21" fmla="*/ 1069 h 10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0" h="1069">
                  <a:moveTo>
                    <a:pt x="0" y="0"/>
                  </a:moveTo>
                  <a:lnTo>
                    <a:pt x="0" y="1069"/>
                  </a:lnTo>
                  <a:lnTo>
                    <a:pt x="45" y="1034"/>
                  </a:lnTo>
                  <a:lnTo>
                    <a:pt x="90" y="1069"/>
                  </a:lnTo>
                  <a:lnTo>
                    <a:pt x="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1" name="文本框 56"/>
            <p:cNvSpPr>
              <a:spLocks noChangeArrowheads="1"/>
            </p:cNvSpPr>
            <p:nvPr/>
          </p:nvSpPr>
          <p:spPr bwMode="auto">
            <a:xfrm>
              <a:off x="401843" y="3097115"/>
              <a:ext cx="3878816" cy="707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3375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06</a:t>
              </a:r>
            </a:p>
          </p:txBody>
        </p:sp>
      </p:grpSp>
      <p:sp>
        <p:nvSpPr>
          <p:cNvPr id="80" name="TextBox 4"/>
          <p:cNvSpPr txBox="1"/>
          <p:nvPr/>
        </p:nvSpPr>
        <p:spPr>
          <a:xfrm>
            <a:off x="3809708" y="5068679"/>
            <a:ext cx="56440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综合实例</a:t>
            </a:r>
            <a:endParaRPr lang="en-US" altLang="zh-CN" sz="60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020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25604" name="矩形 2"/>
          <p:cNvSpPr>
            <a:spLocks noChangeArrowheads="1"/>
          </p:cNvSpPr>
          <p:nvPr/>
        </p:nvSpPr>
        <p:spPr bwMode="auto">
          <a:xfrm>
            <a:off x="1388815" y="495069"/>
            <a:ext cx="10605309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提示：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生成一个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之间的随机数，然后让用户尝试猜测这个数字。程序给出猜测方向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更大或更小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的提示，用户继续进行猜测，直到用户猜测成功或输入一个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0-100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以外的数字退出游戏。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317" y="3760341"/>
            <a:ext cx="4231274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58C9E807-5596-4295-8252-29669E9B3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思考题一</a:t>
            </a:r>
          </a:p>
        </p:txBody>
      </p:sp>
    </p:spTree>
    <p:extLst>
      <p:ext uri="{BB962C8B-B14F-4D97-AF65-F5344CB8AC3E}">
        <p14:creationId xmlns:p14="http://schemas.microsoft.com/office/powerpoint/2010/main" val="301684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48855" y="952029"/>
            <a:ext cx="8208912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time.h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main( )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ran,guess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srand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((unsigned)time(NULL));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ran=rand( )%101;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请输入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0-100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之间的数字：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d",&amp;guess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8C9E807-5596-4295-8252-29669E9B3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 fontScale="85000" lnSpcReduction="10000"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思考题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代码</a:t>
            </a:r>
          </a:p>
        </p:txBody>
      </p:sp>
    </p:spTree>
    <p:extLst>
      <p:ext uri="{BB962C8B-B14F-4D97-AF65-F5344CB8AC3E}">
        <p14:creationId xmlns:p14="http://schemas.microsoft.com/office/powerpoint/2010/main" val="417362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52912" y="290592"/>
            <a:ext cx="1044116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while(guess&gt;=0 &amp;&amp; guess&lt;=100)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if(guess==ran)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恭喜！猜测成功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%d\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n",guess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     break;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else if(guess&gt;ran)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您输入的数字太大，请重试：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      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d",&amp;guess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	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   else if(guess&lt;ran)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您输入的数字太小，请重试：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       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d",&amp;guess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	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if(guess&lt;0||guess&gt;100)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好遗憾，欢迎下次再来！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  <a:endParaRPr lang="zh-CN" altLang="en-US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8C9E807-5596-4295-8252-29669E9B3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代码（续）</a:t>
            </a:r>
          </a:p>
        </p:txBody>
      </p:sp>
    </p:spTree>
    <p:extLst>
      <p:ext uri="{BB962C8B-B14F-4D97-AF65-F5344CB8AC3E}">
        <p14:creationId xmlns:p14="http://schemas.microsoft.com/office/powerpoint/2010/main" val="188434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2100694" y="159941"/>
            <a:ext cx="8197003" cy="1205442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自动售货机问题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3059970" y="1425314"/>
            <a:ext cx="7166494" cy="5270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 marL="542434" indent="-542434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Font typeface="+mj-lt"/>
              <a:buAutoNum type="arabicPeriod"/>
            </a:pP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显示商品和价格列表</a:t>
            </a:r>
            <a:endParaRPr lang="en-US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2434" indent="-542434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Font typeface="+mj-lt"/>
              <a:buAutoNum type="arabicPeriod"/>
            </a:pP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顾客输入商品序号和数量</a:t>
            </a:r>
            <a:endParaRPr lang="en-US" altLang="zh-CN" sz="32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2434" indent="-542434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Font typeface="+mj-lt"/>
              <a:buAutoNum type="arabicPeriod"/>
            </a:pP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根据商品序号确定商品单价</a:t>
            </a:r>
            <a:endParaRPr lang="en-US" altLang="zh-CN" sz="32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2434" indent="-542434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Font typeface="+mj-lt"/>
              <a:buAutoNum type="arabicPeriod"/>
            </a:pP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计算总价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单价*数量</a:t>
            </a:r>
            <a:endParaRPr lang="en-US" altLang="zh-CN" sz="32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2434" indent="-542434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Font typeface="+mj-lt"/>
              <a:buAutoNum type="arabicPeriod"/>
            </a:pP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输出购买商品总价</a:t>
            </a:r>
            <a:endParaRPr lang="en-US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2434" indent="-542434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Font typeface="+mj-lt"/>
              <a:buAutoNum type="arabicPeriod"/>
            </a:pP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判断是否继续购买</a:t>
            </a:r>
            <a:endParaRPr lang="en-US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具体程序参看教材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P120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5-2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82FFBD-88BB-4E0C-8A8B-9E73A244E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思考题三</a:t>
            </a:r>
          </a:p>
        </p:txBody>
      </p:sp>
    </p:spTree>
    <p:extLst>
      <p:ext uri="{BB962C8B-B14F-4D97-AF65-F5344CB8AC3E}">
        <p14:creationId xmlns:p14="http://schemas.microsoft.com/office/powerpoint/2010/main" val="35236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482FFBD-88BB-4E0C-8A8B-9E73A244E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  码</a:t>
            </a:r>
          </a:p>
        </p:txBody>
      </p:sp>
      <p:sp>
        <p:nvSpPr>
          <p:cNvPr id="3" name="矩形 2"/>
          <p:cNvSpPr/>
          <p:nvPr/>
        </p:nvSpPr>
        <p:spPr>
          <a:xfrm>
            <a:off x="2324919" y="447973"/>
            <a:ext cx="9505056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main(  )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order;     //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商品序号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Qty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     //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数量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float price;   //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商品单价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float total;   //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商品总价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本自动售货机共有如下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种商品：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("1--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冰红茶（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3.0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元）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("2--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乐（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2.5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元）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("3--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雪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碧（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2.5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元）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("4--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橙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汁（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3.0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元）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("5--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矿泉水（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2.0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元）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07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482FFBD-88BB-4E0C-8A8B-9E73A244E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  码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续</a:t>
            </a:r>
          </a:p>
        </p:txBody>
      </p:sp>
      <p:sp>
        <p:nvSpPr>
          <p:cNvPr id="3" name="矩形 2"/>
          <p:cNvSpPr/>
          <p:nvPr/>
        </p:nvSpPr>
        <p:spPr>
          <a:xfrm>
            <a:off x="2252911" y="158189"/>
            <a:ext cx="972108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请输入您选择的商品序号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:\n");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d",&amp;order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请输入您购买该商品的数量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:\n");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("%d",&amp;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Qty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switch(order)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{    case 1:price=3.0;break;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case 2:price=2.5;break;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case 3:price=2.5;break;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case 4:price=3.0;break;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case 5:price=2.0;break;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default:printf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输入序号有误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\n");price=0;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}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total=price*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Qty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您需要付款：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%f\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n",total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return 0;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70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482FFBD-88BB-4E0C-8A8B-9E73A244E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修改代码</a:t>
            </a:r>
          </a:p>
        </p:txBody>
      </p:sp>
      <p:sp>
        <p:nvSpPr>
          <p:cNvPr id="3" name="矩形 2"/>
          <p:cNvSpPr/>
          <p:nvPr/>
        </p:nvSpPr>
        <p:spPr>
          <a:xfrm>
            <a:off x="2324919" y="447973"/>
            <a:ext cx="9505056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main(  )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order;     //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商品序号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Qty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     //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数量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float price;   //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商品单价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float total;   //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商品总价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本自动售货机共有如下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种商品：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("1--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冰红茶（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3.0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元）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("2--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乐（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2.5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元）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("3--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雪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碧（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2.5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元）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("4--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橙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汁（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3.0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元）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  <a:endParaRPr lang="zh-CN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("5--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矿泉水（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2.0</a:t>
            </a:r>
            <a:r>
              <a:rPr lang="zh-CN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元）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</a:t>
            </a:r>
          </a:p>
          <a:p>
            <a:pPr>
              <a:spcBef>
                <a:spcPts val="12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("0--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退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\n");</a:t>
            </a:r>
            <a:endParaRPr lang="zh-CN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115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68935" y="35078"/>
            <a:ext cx="9721080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while(choice!=0) 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请输入您选择的商品序号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:\n");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d",&amp;order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请输入您购买该商品的数量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:\n");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("%d",&amp;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Qty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);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switch(order)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{    case 1:price=3.0;break;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case 2:price=2.5;break;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case 3:price=2.5;break;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case 4:price=3.0;break;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case 5:price=2.0;break;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default:printf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输入序号有误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\n");price=0;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}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total=price*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Qty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按【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】结束购买，其他键继续购买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");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("%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d",&amp;choice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您需要付款：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%f\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n",total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return 0;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12951" y="375965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7367" y="5488533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08795" y="4793853"/>
            <a:ext cx="2772508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total+=price*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Qty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1484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2100694" y="159941"/>
            <a:ext cx="8197003" cy="1205442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随机发放红包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3059970" y="1425314"/>
            <a:ext cx="7166494" cy="838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917" tIns="49357" rIns="94917" bIns="49357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具体程序参看教材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P151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5-27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82FFBD-88BB-4E0C-8A8B-9E73A244E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79" y="88181"/>
            <a:ext cx="2075532" cy="813776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6435" tIns="48218" rIns="96435" bIns="48218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思考题四</a:t>
            </a:r>
          </a:p>
        </p:txBody>
      </p:sp>
    </p:spTree>
    <p:extLst>
      <p:ext uri="{BB962C8B-B14F-4D97-AF65-F5344CB8AC3E}">
        <p14:creationId xmlns:p14="http://schemas.microsoft.com/office/powerpoint/2010/main" val="243075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conveyor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F15E29B8-0268-447F-A0F4-5D64E4FB41C2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PRESENTATION_TITLE" val="373"/>
</p:tagLst>
</file>

<file path=ppt/theme/theme1.xml><?xml version="1.0" encoding="utf-8"?>
<a:theme xmlns:a="http://schemas.openxmlformats.org/drawingml/2006/main" name="1_自定义设计方案">
  <a:themeElements>
    <a:clrScheme name="自定义 23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53935"/>
      </a:accent1>
      <a:accent2>
        <a:srgbClr val="DBDCDC"/>
      </a:accent2>
      <a:accent3>
        <a:srgbClr val="E53935"/>
      </a:accent3>
      <a:accent4>
        <a:srgbClr val="DBDCDC"/>
      </a:accent4>
      <a:accent5>
        <a:srgbClr val="E53935"/>
      </a:accent5>
      <a:accent6>
        <a:srgbClr val="DBDCDC"/>
      </a:accent6>
      <a:hlink>
        <a:srgbClr val="E53935"/>
      </a:hlink>
      <a:folHlink>
        <a:srgbClr val="DBDCDC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36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E53935"/>
    </a:accent1>
    <a:accent2>
      <a:srgbClr val="DBDCDC"/>
    </a:accent2>
    <a:accent3>
      <a:srgbClr val="E53935"/>
    </a:accent3>
    <a:accent4>
      <a:srgbClr val="DBDCDC"/>
    </a:accent4>
    <a:accent5>
      <a:srgbClr val="E53935"/>
    </a:accent5>
    <a:accent6>
      <a:srgbClr val="DBDCDC"/>
    </a:accent6>
    <a:hlink>
      <a:srgbClr val="E53935"/>
    </a:hlink>
    <a:folHlink>
      <a:srgbClr val="DBDCD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5444</Words>
  <Application>Microsoft Office PowerPoint</Application>
  <PresentationFormat>自定义</PresentationFormat>
  <Paragraphs>976</Paragraphs>
  <Slides>72</Slides>
  <Notes>29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87" baseType="lpstr">
      <vt:lpstr>方正姚体</vt:lpstr>
      <vt:lpstr>黑体</vt:lpstr>
      <vt:lpstr>楷体_GB2312</vt:lpstr>
      <vt:lpstr>隶书</vt:lpstr>
      <vt:lpstr>宋体</vt:lpstr>
      <vt:lpstr>微软雅黑</vt:lpstr>
      <vt:lpstr>幼圆</vt:lpstr>
      <vt:lpstr>Arial</vt:lpstr>
      <vt:lpstr>Calibri</vt:lpstr>
      <vt:lpstr>Calibri Light</vt:lpstr>
      <vt:lpstr>Times New Roman</vt:lpstr>
      <vt:lpstr>Wingdings</vt:lpstr>
      <vt:lpstr>1_自定义设计方案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373</dc:title>
  <dc:creator/>
  <cp:lastModifiedBy/>
  <cp:revision>1</cp:revision>
  <dcterms:created xsi:type="dcterms:W3CDTF">2016-10-17T14:00:15Z</dcterms:created>
  <dcterms:modified xsi:type="dcterms:W3CDTF">2024-10-14T09:09:24Z</dcterms:modified>
</cp:coreProperties>
</file>