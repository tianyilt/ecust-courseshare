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audio2.wav" ContentType="audio/x-wav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73" r:id="rId3"/>
    <p:sldId id="346" r:id="rId4"/>
    <p:sldId id="347" r:id="rId5"/>
    <p:sldId id="323" r:id="rId6"/>
    <p:sldId id="293" r:id="rId7"/>
    <p:sldId id="295" r:id="rId8"/>
    <p:sldId id="324" r:id="rId9"/>
    <p:sldId id="275" r:id="rId10"/>
    <p:sldId id="301" r:id="rId11"/>
    <p:sldId id="302" r:id="rId12"/>
    <p:sldId id="326" r:id="rId13"/>
    <p:sldId id="325" r:id="rId14"/>
    <p:sldId id="327" r:id="rId15"/>
    <p:sldId id="306" r:id="rId16"/>
    <p:sldId id="328" r:id="rId17"/>
    <p:sldId id="308" r:id="rId18"/>
    <p:sldId id="329" r:id="rId19"/>
    <p:sldId id="310" r:id="rId20"/>
    <p:sldId id="311" r:id="rId21"/>
    <p:sldId id="276" r:id="rId22"/>
    <p:sldId id="334" r:id="rId23"/>
    <p:sldId id="331" r:id="rId24"/>
    <p:sldId id="333" r:id="rId25"/>
    <p:sldId id="335" r:id="rId26"/>
    <p:sldId id="337" r:id="rId27"/>
    <p:sldId id="336" r:id="rId28"/>
    <p:sldId id="340" r:id="rId29"/>
    <p:sldId id="341" r:id="rId30"/>
    <p:sldId id="342" r:id="rId31"/>
    <p:sldId id="343" r:id="rId32"/>
    <p:sldId id="344" r:id="rId33"/>
    <p:sldId id="339" r:id="rId34"/>
    <p:sldId id="338" r:id="rId35"/>
    <p:sldId id="318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2216184931@qq.com" initials="2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298"/>
    <a:srgbClr val="66CCFF"/>
    <a:srgbClr val="4188CE"/>
    <a:srgbClr val="9EDAE4"/>
    <a:srgbClr val="FCEC2D"/>
    <a:srgbClr val="7F44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5" autoAdjust="0"/>
    <p:restoredTop sz="88111" autoAdjust="0"/>
  </p:normalViewPr>
  <p:slideViewPr>
    <p:cSldViewPr snapToGrid="0">
      <p:cViewPr>
        <p:scale>
          <a:sx n="25" d="100"/>
          <a:sy n="25" d="100"/>
        </p:scale>
        <p:origin x="2060" y="8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9C1360-E31E-45B9-B178-F3ED8054F03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CB93C6F8-91CF-4461-97C7-07DC77CF4BA0}">
      <dgm:prSet phldrT="[文本]" custT="1"/>
      <dgm:spPr>
        <a:solidFill>
          <a:srgbClr val="FF9298"/>
        </a:solidFill>
      </dgm:spPr>
      <dgm:t>
        <a:bodyPr/>
        <a:lstStyle/>
        <a:p>
          <a:r>
            <a:rPr lang="zh-CN" altLang="en-US" sz="2400" dirty="0">
              <a:solidFill>
                <a:srgbClr val="002060"/>
              </a:solidFill>
              <a:latin typeface="+mn-ea"/>
              <a:ea typeface="+mn-ea"/>
            </a:rPr>
            <a:t>打开文件</a:t>
          </a:r>
        </a:p>
      </dgm:t>
    </dgm:pt>
    <dgm:pt modelId="{88BAC3BF-9828-473A-9361-E4FCDD6FAA1E}" type="parTrans" cxnId="{BECD0612-FE19-4671-964E-F40698E3117D}">
      <dgm:prSet/>
      <dgm:spPr/>
      <dgm:t>
        <a:bodyPr/>
        <a:lstStyle/>
        <a:p>
          <a:endParaRPr lang="zh-CN" altLang="en-US">
            <a:latin typeface="+mn-ea"/>
            <a:ea typeface="+mn-ea"/>
          </a:endParaRPr>
        </a:p>
      </dgm:t>
    </dgm:pt>
    <dgm:pt modelId="{9BCA06AD-478C-45E4-B9CF-8FCDC5D771C3}" type="sibTrans" cxnId="{BECD0612-FE19-4671-964E-F40698E3117D}">
      <dgm:prSet/>
      <dgm:spPr>
        <a:solidFill>
          <a:srgbClr val="66CCFF"/>
        </a:solidFill>
      </dgm:spPr>
      <dgm:t>
        <a:bodyPr/>
        <a:lstStyle/>
        <a:p>
          <a:endParaRPr lang="zh-CN" altLang="en-US">
            <a:latin typeface="+mn-ea"/>
            <a:ea typeface="+mn-ea"/>
          </a:endParaRPr>
        </a:p>
      </dgm:t>
    </dgm:pt>
    <dgm:pt modelId="{51F4CB4E-1D7B-4397-B8BB-1B9EF16D9294}">
      <dgm:prSet phldrT="[文本]" custT="1"/>
      <dgm:spPr>
        <a:solidFill>
          <a:srgbClr val="FF929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91440" tIns="91440" rIns="91440" bIns="91440" numCol="1" spcCol="1270" anchor="ctr" anchorCtr="0"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rgbClr val="00206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读写文件</a:t>
          </a:r>
        </a:p>
      </dgm:t>
    </dgm:pt>
    <dgm:pt modelId="{AA2DA64E-D55A-46C5-85A9-38B1195BF312}" type="parTrans" cxnId="{65140DCE-CD87-46D8-B89F-8BA0B87CA447}">
      <dgm:prSet/>
      <dgm:spPr/>
      <dgm:t>
        <a:bodyPr/>
        <a:lstStyle/>
        <a:p>
          <a:endParaRPr lang="zh-CN" altLang="en-US">
            <a:latin typeface="+mn-ea"/>
            <a:ea typeface="+mn-ea"/>
          </a:endParaRPr>
        </a:p>
      </dgm:t>
    </dgm:pt>
    <dgm:pt modelId="{97BE9B85-A402-46C8-8F35-315C94F4D701}" type="sibTrans" cxnId="{65140DCE-CD87-46D8-B89F-8BA0B87CA447}">
      <dgm:prSet/>
      <dgm:spPr>
        <a:solidFill>
          <a:srgbClr val="66CCFF"/>
        </a:solidFill>
      </dgm:spPr>
      <dgm:t>
        <a:bodyPr/>
        <a:lstStyle/>
        <a:p>
          <a:endParaRPr lang="zh-CN" altLang="en-US" dirty="0">
            <a:latin typeface="+mn-ea"/>
            <a:ea typeface="+mn-ea"/>
          </a:endParaRPr>
        </a:p>
      </dgm:t>
    </dgm:pt>
    <dgm:pt modelId="{111B16BF-DB90-4ED4-AA8D-03CC013B2BC5}">
      <dgm:prSet phldrT="[文本]" custT="1"/>
      <dgm:spPr>
        <a:solidFill>
          <a:srgbClr val="FF929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91440" tIns="91440" rIns="91440" bIns="91440" numCol="1" spcCol="1270" anchor="ctr" anchorCtr="0"/>
        <a:lstStyle/>
        <a:p>
          <a:pPr algn="ctr"/>
          <a:r>
            <a:rPr lang="zh-CN" altLang="en-US" sz="2400" dirty="0">
              <a:solidFill>
                <a:srgbClr val="002060"/>
              </a:solidFill>
              <a:latin typeface="+mn-ea"/>
              <a:ea typeface="+mn-ea"/>
            </a:rPr>
            <a:t>关闭文件</a:t>
          </a:r>
        </a:p>
      </dgm:t>
    </dgm:pt>
    <dgm:pt modelId="{E72CCFB2-EBB3-4644-B783-3C361BBC7DF7}" type="parTrans" cxnId="{7F46E9EB-953B-4A74-8144-0689A802B5ED}">
      <dgm:prSet/>
      <dgm:spPr/>
      <dgm:t>
        <a:bodyPr/>
        <a:lstStyle/>
        <a:p>
          <a:endParaRPr lang="zh-CN" altLang="en-US">
            <a:latin typeface="+mn-ea"/>
            <a:ea typeface="+mn-ea"/>
          </a:endParaRPr>
        </a:p>
      </dgm:t>
    </dgm:pt>
    <dgm:pt modelId="{0C47B12F-8D3E-4A30-9C9C-F51F15296A7B}" type="sibTrans" cxnId="{7F46E9EB-953B-4A74-8144-0689A802B5ED}">
      <dgm:prSet/>
      <dgm:spPr/>
      <dgm:t>
        <a:bodyPr/>
        <a:lstStyle/>
        <a:p>
          <a:endParaRPr lang="zh-CN" altLang="en-US">
            <a:latin typeface="+mn-ea"/>
            <a:ea typeface="+mn-ea"/>
          </a:endParaRPr>
        </a:p>
      </dgm:t>
    </dgm:pt>
    <dgm:pt modelId="{202A9DAC-A0A3-4909-850F-596AB045F188}" type="pres">
      <dgm:prSet presAssocID="{B29C1360-E31E-45B9-B178-F3ED8054F032}" presName="Name0" presStyleCnt="0">
        <dgm:presLayoutVars>
          <dgm:dir/>
          <dgm:resizeHandles val="exact"/>
        </dgm:presLayoutVars>
      </dgm:prSet>
      <dgm:spPr/>
    </dgm:pt>
    <dgm:pt modelId="{7F12C970-5907-4354-BDE4-3F92A9CA01C4}" type="pres">
      <dgm:prSet presAssocID="{CB93C6F8-91CF-4461-97C7-07DC77CF4BA0}" presName="node" presStyleLbl="node1" presStyleIdx="0" presStyleCnt="3" custScaleY="43364">
        <dgm:presLayoutVars>
          <dgm:bulletEnabled val="1"/>
        </dgm:presLayoutVars>
      </dgm:prSet>
      <dgm:spPr/>
    </dgm:pt>
    <dgm:pt modelId="{AEC21081-572E-4286-856E-0F156B554131}" type="pres">
      <dgm:prSet presAssocID="{9BCA06AD-478C-45E4-B9CF-8FCDC5D771C3}" presName="sibTrans" presStyleLbl="sibTrans2D1" presStyleIdx="0" presStyleCnt="2"/>
      <dgm:spPr/>
    </dgm:pt>
    <dgm:pt modelId="{5BEED3E7-DF65-46C9-8C49-E33DD8511D45}" type="pres">
      <dgm:prSet presAssocID="{9BCA06AD-478C-45E4-B9CF-8FCDC5D771C3}" presName="connectorText" presStyleLbl="sibTrans2D1" presStyleIdx="0" presStyleCnt="2"/>
      <dgm:spPr/>
    </dgm:pt>
    <dgm:pt modelId="{26728BDE-558E-42EE-8D1B-D7EB78050A9E}" type="pres">
      <dgm:prSet presAssocID="{51F4CB4E-1D7B-4397-B8BB-1B9EF16D9294}" presName="node" presStyleLbl="node1" presStyleIdx="1" presStyleCnt="3" custScaleY="44009" custLinFactNeighborX="-2788" custLinFactNeighborY="1788">
        <dgm:presLayoutVars>
          <dgm:bulletEnabled val="1"/>
        </dgm:presLayoutVars>
      </dgm:prSet>
      <dgm:spPr>
        <a:xfrm>
          <a:off x="2417823" y="632542"/>
          <a:ext cx="1734382" cy="504065"/>
        </a:xfrm>
        <a:prstGeom prst="roundRect">
          <a:avLst>
            <a:gd name="adj" fmla="val 10000"/>
          </a:avLst>
        </a:prstGeom>
      </dgm:spPr>
    </dgm:pt>
    <dgm:pt modelId="{589B47FB-2388-4880-B1EF-D9E20D097D8D}" type="pres">
      <dgm:prSet presAssocID="{97BE9B85-A402-46C8-8F35-315C94F4D701}" presName="sibTrans" presStyleLbl="sibTrans2D1" presStyleIdx="1" presStyleCnt="2"/>
      <dgm:spPr/>
    </dgm:pt>
    <dgm:pt modelId="{76417DB2-C54D-415F-A127-881CB7034213}" type="pres">
      <dgm:prSet presAssocID="{97BE9B85-A402-46C8-8F35-315C94F4D701}" presName="connectorText" presStyleLbl="sibTrans2D1" presStyleIdx="1" presStyleCnt="2"/>
      <dgm:spPr/>
    </dgm:pt>
    <dgm:pt modelId="{691F2AB9-4686-4368-AA22-0473B1D3F1ED}" type="pres">
      <dgm:prSet presAssocID="{111B16BF-DB90-4ED4-AA8D-03CC013B2BC5}" presName="node" presStyleLbl="node1" presStyleIdx="2" presStyleCnt="3" custScaleY="47925">
        <dgm:presLayoutVars>
          <dgm:bulletEnabled val="1"/>
        </dgm:presLayoutVars>
      </dgm:prSet>
      <dgm:spPr>
        <a:xfrm>
          <a:off x="4865300" y="589219"/>
          <a:ext cx="1734382" cy="549752"/>
        </a:xfrm>
        <a:prstGeom prst="roundRect">
          <a:avLst>
            <a:gd name="adj" fmla="val 10000"/>
          </a:avLst>
        </a:prstGeom>
      </dgm:spPr>
    </dgm:pt>
  </dgm:ptLst>
  <dgm:cxnLst>
    <dgm:cxn modelId="{28E3E406-0B76-4046-A6EC-944F3B975EDA}" type="presOf" srcId="{B29C1360-E31E-45B9-B178-F3ED8054F032}" destId="{202A9DAC-A0A3-4909-850F-596AB045F188}" srcOrd="0" destOrd="0" presId="urn:microsoft.com/office/officeart/2005/8/layout/process1"/>
    <dgm:cxn modelId="{BECD0612-FE19-4671-964E-F40698E3117D}" srcId="{B29C1360-E31E-45B9-B178-F3ED8054F032}" destId="{CB93C6F8-91CF-4461-97C7-07DC77CF4BA0}" srcOrd="0" destOrd="0" parTransId="{88BAC3BF-9828-473A-9361-E4FCDD6FAA1E}" sibTransId="{9BCA06AD-478C-45E4-B9CF-8FCDC5D771C3}"/>
    <dgm:cxn modelId="{5DF68229-3B62-4ACB-884A-96D52FA00DD4}" type="presOf" srcId="{97BE9B85-A402-46C8-8F35-315C94F4D701}" destId="{589B47FB-2388-4880-B1EF-D9E20D097D8D}" srcOrd="0" destOrd="0" presId="urn:microsoft.com/office/officeart/2005/8/layout/process1"/>
    <dgm:cxn modelId="{63178F44-AEF7-4047-9D53-87A4F7EA84D4}" type="presOf" srcId="{51F4CB4E-1D7B-4397-B8BB-1B9EF16D9294}" destId="{26728BDE-558E-42EE-8D1B-D7EB78050A9E}" srcOrd="0" destOrd="0" presId="urn:microsoft.com/office/officeart/2005/8/layout/process1"/>
    <dgm:cxn modelId="{B9D70758-8FC2-4C98-9E3D-90FA07931EFE}" type="presOf" srcId="{97BE9B85-A402-46C8-8F35-315C94F4D701}" destId="{76417DB2-C54D-415F-A127-881CB7034213}" srcOrd="1" destOrd="0" presId="urn:microsoft.com/office/officeart/2005/8/layout/process1"/>
    <dgm:cxn modelId="{1F6DF8C8-619C-495F-91EC-799B2A020F6D}" type="presOf" srcId="{CB93C6F8-91CF-4461-97C7-07DC77CF4BA0}" destId="{7F12C970-5907-4354-BDE4-3F92A9CA01C4}" srcOrd="0" destOrd="0" presId="urn:microsoft.com/office/officeart/2005/8/layout/process1"/>
    <dgm:cxn modelId="{65140DCE-CD87-46D8-B89F-8BA0B87CA447}" srcId="{B29C1360-E31E-45B9-B178-F3ED8054F032}" destId="{51F4CB4E-1D7B-4397-B8BB-1B9EF16D9294}" srcOrd="1" destOrd="0" parTransId="{AA2DA64E-D55A-46C5-85A9-38B1195BF312}" sibTransId="{97BE9B85-A402-46C8-8F35-315C94F4D701}"/>
    <dgm:cxn modelId="{7F46E9EB-953B-4A74-8144-0689A802B5ED}" srcId="{B29C1360-E31E-45B9-B178-F3ED8054F032}" destId="{111B16BF-DB90-4ED4-AA8D-03CC013B2BC5}" srcOrd="2" destOrd="0" parTransId="{E72CCFB2-EBB3-4644-B783-3C361BBC7DF7}" sibTransId="{0C47B12F-8D3E-4A30-9C9C-F51F15296A7B}"/>
    <dgm:cxn modelId="{9189B7EF-261F-45DB-9DB8-06290BCE5D18}" type="presOf" srcId="{9BCA06AD-478C-45E4-B9CF-8FCDC5D771C3}" destId="{AEC21081-572E-4286-856E-0F156B554131}" srcOrd="0" destOrd="0" presId="urn:microsoft.com/office/officeart/2005/8/layout/process1"/>
    <dgm:cxn modelId="{EEEF4FF1-98CC-4BD8-96B3-72E1EFEC88BF}" type="presOf" srcId="{9BCA06AD-478C-45E4-B9CF-8FCDC5D771C3}" destId="{5BEED3E7-DF65-46C9-8C49-E33DD8511D45}" srcOrd="1" destOrd="0" presId="urn:microsoft.com/office/officeart/2005/8/layout/process1"/>
    <dgm:cxn modelId="{ED664EF3-040B-4781-BCFE-C8BC70CD4842}" type="presOf" srcId="{111B16BF-DB90-4ED4-AA8D-03CC013B2BC5}" destId="{691F2AB9-4686-4368-AA22-0473B1D3F1ED}" srcOrd="0" destOrd="0" presId="urn:microsoft.com/office/officeart/2005/8/layout/process1"/>
    <dgm:cxn modelId="{B38F3910-0FD5-4445-A204-DFAA3711A0D4}" type="presParOf" srcId="{202A9DAC-A0A3-4909-850F-596AB045F188}" destId="{7F12C970-5907-4354-BDE4-3F92A9CA01C4}" srcOrd="0" destOrd="0" presId="urn:microsoft.com/office/officeart/2005/8/layout/process1"/>
    <dgm:cxn modelId="{BAE74892-B921-4BB1-AFB9-8F3DF230DCC6}" type="presParOf" srcId="{202A9DAC-A0A3-4909-850F-596AB045F188}" destId="{AEC21081-572E-4286-856E-0F156B554131}" srcOrd="1" destOrd="0" presId="urn:microsoft.com/office/officeart/2005/8/layout/process1"/>
    <dgm:cxn modelId="{16136BA8-ED5A-4508-9335-BC3170D418AA}" type="presParOf" srcId="{AEC21081-572E-4286-856E-0F156B554131}" destId="{5BEED3E7-DF65-46C9-8C49-E33DD8511D45}" srcOrd="0" destOrd="0" presId="urn:microsoft.com/office/officeart/2005/8/layout/process1"/>
    <dgm:cxn modelId="{579F4806-3FC6-485B-BAE4-29DF09FA8DBB}" type="presParOf" srcId="{202A9DAC-A0A3-4909-850F-596AB045F188}" destId="{26728BDE-558E-42EE-8D1B-D7EB78050A9E}" srcOrd="2" destOrd="0" presId="urn:microsoft.com/office/officeart/2005/8/layout/process1"/>
    <dgm:cxn modelId="{B9F2F282-6D4A-4BA0-81ED-B2177628093B}" type="presParOf" srcId="{202A9DAC-A0A3-4909-850F-596AB045F188}" destId="{589B47FB-2388-4880-B1EF-D9E20D097D8D}" srcOrd="3" destOrd="0" presId="urn:microsoft.com/office/officeart/2005/8/layout/process1"/>
    <dgm:cxn modelId="{FF6945CE-1B16-4BFC-9E87-3C8589A070F7}" type="presParOf" srcId="{589B47FB-2388-4880-B1EF-D9E20D097D8D}" destId="{76417DB2-C54D-415F-A127-881CB7034213}" srcOrd="0" destOrd="0" presId="urn:microsoft.com/office/officeart/2005/8/layout/process1"/>
    <dgm:cxn modelId="{47FC5245-FC32-400A-ACA3-96D9D4CB7B0F}" type="presParOf" srcId="{202A9DAC-A0A3-4909-850F-596AB045F188}" destId="{691F2AB9-4686-4368-AA22-0473B1D3F1ED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12C970-5907-4354-BDE4-3F92A9CA01C4}">
      <dsp:nvSpPr>
        <dsp:cNvPr id="0" name=""/>
        <dsp:cNvSpPr/>
      </dsp:nvSpPr>
      <dsp:spPr>
        <a:xfrm>
          <a:off x="9029" y="616146"/>
          <a:ext cx="1734382" cy="495898"/>
        </a:xfrm>
        <a:prstGeom prst="roundRect">
          <a:avLst>
            <a:gd name="adj" fmla="val 10000"/>
          </a:avLst>
        </a:prstGeom>
        <a:solidFill>
          <a:srgbClr val="FF929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rgbClr val="002060"/>
              </a:solidFill>
              <a:latin typeface="+mn-ea"/>
              <a:ea typeface="+mn-ea"/>
            </a:rPr>
            <a:t>打开文件</a:t>
          </a:r>
        </a:p>
      </dsp:txBody>
      <dsp:txXfrm>
        <a:off x="23553" y="630670"/>
        <a:ext cx="1705334" cy="466850"/>
      </dsp:txXfrm>
    </dsp:sp>
    <dsp:sp modelId="{AEC21081-572E-4286-856E-0F156B554131}">
      <dsp:nvSpPr>
        <dsp:cNvPr id="0" name=""/>
        <dsp:cNvSpPr/>
      </dsp:nvSpPr>
      <dsp:spPr>
        <a:xfrm rot="29227">
          <a:off x="1912008" y="659358"/>
          <a:ext cx="357450" cy="430126"/>
        </a:xfrm>
        <a:prstGeom prst="rightArrow">
          <a:avLst>
            <a:gd name="adj1" fmla="val 60000"/>
            <a:gd name="adj2" fmla="val 50000"/>
          </a:avLst>
        </a:prstGeom>
        <a:solidFill>
          <a:srgbClr val="66CCF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600" kern="1200">
            <a:latin typeface="+mn-ea"/>
            <a:ea typeface="+mn-ea"/>
          </a:endParaRPr>
        </a:p>
      </dsp:txBody>
      <dsp:txXfrm>
        <a:off x="1912010" y="744927"/>
        <a:ext cx="250215" cy="258076"/>
      </dsp:txXfrm>
    </dsp:sp>
    <dsp:sp modelId="{26728BDE-558E-42EE-8D1B-D7EB78050A9E}">
      <dsp:nvSpPr>
        <dsp:cNvPr id="0" name=""/>
        <dsp:cNvSpPr/>
      </dsp:nvSpPr>
      <dsp:spPr>
        <a:xfrm>
          <a:off x="2417823" y="632542"/>
          <a:ext cx="1734382" cy="504065"/>
        </a:xfrm>
        <a:prstGeom prst="roundRect">
          <a:avLst>
            <a:gd name="adj" fmla="val 10000"/>
          </a:avLst>
        </a:prstGeom>
        <a:solidFill>
          <a:srgbClr val="FF929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rgbClr val="00206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读写文件</a:t>
          </a:r>
        </a:p>
      </dsp:txBody>
      <dsp:txXfrm>
        <a:off x="2432587" y="647306"/>
        <a:ext cx="1704854" cy="474537"/>
      </dsp:txXfrm>
    </dsp:sp>
    <dsp:sp modelId="{589B47FB-2388-4880-B1EF-D9E20D097D8D}">
      <dsp:nvSpPr>
        <dsp:cNvPr id="0" name=""/>
        <dsp:cNvSpPr/>
      </dsp:nvSpPr>
      <dsp:spPr>
        <a:xfrm rot="21571235">
          <a:off x="4330472" y="659182"/>
          <a:ext cx="377953" cy="430126"/>
        </a:xfrm>
        <a:prstGeom prst="rightArrow">
          <a:avLst>
            <a:gd name="adj1" fmla="val 60000"/>
            <a:gd name="adj2" fmla="val 50000"/>
          </a:avLst>
        </a:prstGeom>
        <a:solidFill>
          <a:srgbClr val="66CCF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600" kern="1200" dirty="0">
            <a:latin typeface="+mn-ea"/>
            <a:ea typeface="+mn-ea"/>
          </a:endParaRPr>
        </a:p>
      </dsp:txBody>
      <dsp:txXfrm>
        <a:off x="4330474" y="745681"/>
        <a:ext cx="264567" cy="258076"/>
      </dsp:txXfrm>
    </dsp:sp>
    <dsp:sp modelId="{691F2AB9-4686-4368-AA22-0473B1D3F1ED}">
      <dsp:nvSpPr>
        <dsp:cNvPr id="0" name=""/>
        <dsp:cNvSpPr/>
      </dsp:nvSpPr>
      <dsp:spPr>
        <a:xfrm>
          <a:off x="4865300" y="589219"/>
          <a:ext cx="1734382" cy="549752"/>
        </a:xfrm>
        <a:prstGeom prst="roundRect">
          <a:avLst>
            <a:gd name="adj" fmla="val 10000"/>
          </a:avLst>
        </a:prstGeom>
        <a:solidFill>
          <a:srgbClr val="FF929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rgbClr val="002060"/>
              </a:solidFill>
              <a:latin typeface="+mn-ea"/>
              <a:ea typeface="+mn-ea"/>
            </a:rPr>
            <a:t>关闭文件</a:t>
          </a:r>
        </a:p>
      </dsp:txBody>
      <dsp:txXfrm>
        <a:off x="4881402" y="605321"/>
        <a:ext cx="1702178" cy="5175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496912-90C4-4438-AF34-25C9CEAB4562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C0728-7020-43D6-B0A0-41472BF757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261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    Hel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C0728-7020-43D6-B0A0-41472BF757D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594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    Hel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C0728-7020-43D6-B0A0-41472BF757D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707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    Hel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C0728-7020-43D6-B0A0-41472BF757D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5391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    Hel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C0728-7020-43D6-B0A0-41472BF757D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7738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    Hel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C0728-7020-43D6-B0A0-41472BF757D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165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    Hel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C0728-7020-43D6-B0A0-41472BF757D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4531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dirty="0"/>
              <a:t>9-28</a:t>
            </a:r>
            <a:r>
              <a:rPr lang="zh-CN" altLang="en-US"/>
              <a:t>，周一、周四班级</a:t>
            </a:r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fld id="{5E33ED91-39CF-4D1C-BAD3-8C2FF5174009}" type="slidenum">
              <a:rPr lang="en-US" altLang="zh-CN" sz="1200" b="0" smtClean="0">
                <a:latin typeface="Times New Roman" pitchFamily="18" charset="0"/>
                <a:ea typeface="宋体" pitchFamily="2" charset="-122"/>
              </a:rPr>
              <a:pPr/>
              <a:t>19</a:t>
            </a:fld>
            <a:endParaRPr lang="en-US" altLang="zh-CN" sz="1200" b="0"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62907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    Hel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C0728-7020-43D6-B0A0-41472BF757D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5550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    Hel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C0728-7020-43D6-B0A0-41472BF757D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0827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    Hel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C0728-7020-43D6-B0A0-41472BF757D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443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    Hel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C0728-7020-43D6-B0A0-41472BF757D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14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A5C7B21-76F2-43EF-8431-A81119DF07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5045" t="5627" r="29332" b="18040"/>
          <a:stretch/>
        </p:blipFill>
        <p:spPr>
          <a:xfrm>
            <a:off x="-1" y="1"/>
            <a:ext cx="12192001" cy="6858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07AA3E8-8FB1-4D1A-8B47-25F40D09D2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69403" y="-1086823"/>
            <a:ext cx="2187639" cy="176347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6EF84FD-A939-43D3-AA16-FB8242FF903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08261" y="-1275884"/>
            <a:ext cx="2602304" cy="266925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176B417-8963-4242-B7BF-F1BB13E0663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704124" y="4821643"/>
            <a:ext cx="3408247" cy="349497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42E5E36-B964-4910-8B90-4B5E097E788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387517" y="6180681"/>
            <a:ext cx="2653564" cy="214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154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6B7A127-41D1-4444-839C-00DDF109A4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5045" t="5627" r="29332" b="18040"/>
          <a:stretch/>
        </p:blipFill>
        <p:spPr>
          <a:xfrm>
            <a:off x="-1" y="1"/>
            <a:ext cx="12192001" cy="6858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13D2F6A-40EF-4AF4-AA65-6E50EBC9D5A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69403" y="-1086823"/>
            <a:ext cx="2187639" cy="176347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9F23351-E5B8-4894-86F6-6D6AE1E77B4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08261" y="-1275884"/>
            <a:ext cx="2602304" cy="266925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4DA8810-92CA-4233-8E06-CE7DFA32E49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704124" y="4821643"/>
            <a:ext cx="3408247" cy="349497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5CEDA5C-E1AE-441B-8F3C-6BBF25ECA73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387517" y="6180681"/>
            <a:ext cx="2653564" cy="2143261"/>
          </a:xfrm>
          <a:prstGeom prst="rect">
            <a:avLst/>
          </a:prstGeo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B578127-9063-467E-B235-3E047C11C663}"/>
              </a:ext>
            </a:extLst>
          </p:cNvPr>
          <p:cNvCxnSpPr/>
          <p:nvPr userDrawn="1"/>
        </p:nvCxnSpPr>
        <p:spPr>
          <a:xfrm>
            <a:off x="391886" y="508000"/>
            <a:ext cx="0" cy="4731657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B556EE0D-875C-429D-A05D-F6BD9FA0E904}"/>
              </a:ext>
            </a:extLst>
          </p:cNvPr>
          <p:cNvCxnSpPr>
            <a:cxnSpLocks/>
          </p:cNvCxnSpPr>
          <p:nvPr userDrawn="1"/>
        </p:nvCxnSpPr>
        <p:spPr>
          <a:xfrm>
            <a:off x="391886" y="508000"/>
            <a:ext cx="148771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E3EB83F-A396-4986-9697-8051B98E9A2D}"/>
              </a:ext>
            </a:extLst>
          </p:cNvPr>
          <p:cNvCxnSpPr>
            <a:stCxn id="9" idx="2"/>
          </p:cNvCxnSpPr>
          <p:nvPr userDrawn="1"/>
        </p:nvCxnSpPr>
        <p:spPr>
          <a:xfrm>
            <a:off x="11809413" y="1393372"/>
            <a:ext cx="47629" cy="515257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20F48FC-9AEE-4236-A744-36FFD230553E}"/>
              </a:ext>
            </a:extLst>
          </p:cNvPr>
          <p:cNvCxnSpPr/>
          <p:nvPr userDrawn="1"/>
        </p:nvCxnSpPr>
        <p:spPr>
          <a:xfrm flipH="1">
            <a:off x="2336426" y="6531429"/>
            <a:ext cx="9520616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BC32429-C474-426C-9863-5B20A05F902C}"/>
              </a:ext>
            </a:extLst>
          </p:cNvPr>
          <p:cNvCxnSpPr>
            <a:cxnSpLocks/>
          </p:cNvCxnSpPr>
          <p:nvPr userDrawn="1"/>
        </p:nvCxnSpPr>
        <p:spPr>
          <a:xfrm>
            <a:off x="8475260" y="522514"/>
            <a:ext cx="995311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010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A2554D-E00D-4F2B-8FCF-0014DD19F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BFC058-02F5-4D94-8684-D0A40E533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4DF4BD-5AF2-43EC-87FE-4A679A3B2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23DB9-45C1-4329-AEB2-1E95EAA5CA52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63A3-31C4-4BC2-B2EC-95FA55A93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92669E-F8B2-41B3-B8E3-6E9120884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4839-CE23-4666-89A7-366CB64777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01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2135C9-CF4D-4AE8-8696-2D429780C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94B9DB-8AC5-4186-961C-8BED686F4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4D1A37-43BC-466D-9F82-48C32B2BD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377561-EA47-40ED-B6FC-CC184DC1C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23DB9-45C1-4329-AEB2-1E95EAA5CA52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820B0B-7D9D-4FC4-8543-FCBD05163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0DC815-5E70-43B6-AA16-D3239E017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4839-CE23-4666-89A7-366CB64777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45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D0EDC9-1A73-42AA-8745-502763E4B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F86954-55C2-42AE-833B-BDBEEE534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A70DF1-CA01-4183-B6C9-076140BA2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F26DD1B-9545-4C51-A542-DF90F3B6CC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863CE88-80F9-4EAC-85AD-C6332CDA67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577C429-DF31-4FAC-A849-5788C3AAD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23DB9-45C1-4329-AEB2-1E95EAA5CA52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D00E609-8FED-4FDC-93F5-0E96BBE67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288325-F91B-44FD-9938-50A5CDB83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4839-CE23-4666-89A7-366CB64777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9252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F3E849-788C-4AC1-B190-A568F7EBA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05D9C2E-5074-4D1C-8290-CB12A4FF1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23DB9-45C1-4329-AEB2-1E95EAA5CA52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6B9C461-1B03-4818-8F18-CC1220585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EFBCEB-8D52-4BCC-A7D8-4F1CBE322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4839-CE23-4666-89A7-366CB64777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680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D957E9-2E1B-4F1C-8CC4-FD62F7FB4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23DB9-45C1-4329-AEB2-1E95EAA5CA52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273C6CE-6CDE-4599-9639-FAA1B9192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A2A6-FD89-4D05-8A12-7BEFAA801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4839-CE23-4666-89A7-366CB64777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8646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0AD25E-928F-470E-B000-5A62F8786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6A24C1-7461-4662-9C6D-B8423639E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8A609A-7C26-4507-B98B-95BD12667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32158C-9B78-4828-B0C2-3D8405C93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23DB9-45C1-4329-AEB2-1E95EAA5CA52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79A512-8162-4735-A1A4-E44D32F62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6C5A8D-DBD7-4625-BD26-FD79F1408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4839-CE23-4666-89A7-366CB64777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177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6EE06A-B1FF-4F22-9E78-C8A04E8F9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A058D7F-BA34-4BBA-BFBF-2C292297CA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ADADD00-3071-4449-8230-31F9CBD6B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771CF1-29ED-4559-A683-49265234E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23DB9-45C1-4329-AEB2-1E95EAA5CA52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AE489D-B37A-4888-96B4-4868BD84F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A41C15-7B7A-4199-A360-606091D7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4839-CE23-4666-89A7-366CB64777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827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8A86BF-DFE1-443D-8BC4-15314662E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7E92ED-ABA6-4EB5-9C63-78F74F568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82BC6C-2011-4DE6-8986-65FB64CDD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23DB9-45C1-4329-AEB2-1E95EAA5CA52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B3F33B-FED9-42FC-B9A4-0E3EA701F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C25926-DB92-48AB-BD17-C9B155FF8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4839-CE23-4666-89A7-366CB64777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951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329A86E-F507-464A-A5A9-580400382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7F0EE4-6A43-4675-863D-257CEC861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417696-AB1C-4075-8830-B61FB9766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23DB9-45C1-4329-AEB2-1E95EAA5CA52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051549-02BC-4BD5-B2E1-038FF4BF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5CA508-2937-4699-B32F-7BF95560B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4839-CE23-4666-89A7-366CB64777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6274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87A1A-06BB-49BC-9C6B-7762F8EC9684}" type="datetimeFigureOut">
              <a:rPr lang="zh-CN" altLang="en-US" smtClean="0"/>
              <a:pPr/>
              <a:t>2024/9/14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5C84-A73A-4047-92FA-5505D3FE458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088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7F51DDC-80ED-41DC-AF19-677CFDFA4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D96A16-0BFE-40D5-B271-34389C3C3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251566-64F4-43A8-9764-AA031880CB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23DB9-45C1-4329-AEB2-1E95EAA5CA52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7BCD7C-8B3C-4AE0-865E-9C354116DB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B8DF59-AB1F-47E8-B845-D84DC04E16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44839-CE23-4666-89A7-366CB64777E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7D2DF88-7238-4EA5-AE88-A31B9E5D67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l="25045" t="5627" r="29332" b="18040"/>
          <a:stretch/>
        </p:blipFill>
        <p:spPr>
          <a:xfrm>
            <a:off x="-1" y="1"/>
            <a:ext cx="12192001" cy="6858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D0C6E92-D5F6-47C5-9D33-D9D8FFBB885E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669403" y="-1086823"/>
            <a:ext cx="2187639" cy="176347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F9282A7-B7F5-4B30-A8A2-71BB5C9D0850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508261" y="-1275884"/>
            <a:ext cx="2602304" cy="266925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6B869AC-3927-4ED2-9B55-1F655DBFAFAE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-1704124" y="4821643"/>
            <a:ext cx="3408247" cy="349497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EE8A011-F9DC-4CC3-A01E-A41DEE697040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-387517" y="6180681"/>
            <a:ext cx="2653564" cy="214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759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7.emf"/><Relationship Id="rId7" Type="http://schemas.openxmlformats.org/officeDocument/2006/relationships/image" Target="../media/image5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11" Type="http://schemas.openxmlformats.org/officeDocument/2006/relationships/image" Target="../media/image11.emf"/><Relationship Id="rId5" Type="http://schemas.openxmlformats.org/officeDocument/2006/relationships/image" Target="../media/image3.emf"/><Relationship Id="rId10" Type="http://schemas.openxmlformats.org/officeDocument/2006/relationships/image" Target="../media/image10.emf"/><Relationship Id="rId4" Type="http://schemas.openxmlformats.org/officeDocument/2006/relationships/image" Target="../media/image2.emf"/><Relationship Id="rId9" Type="http://schemas.openxmlformats.org/officeDocument/2006/relationships/image" Target="../media/image9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B8A6252-0CC4-45C3-AE40-811F1680B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06" y="448696"/>
            <a:ext cx="2789843" cy="2791059"/>
          </a:xfrm>
          <a:prstGeom prst="rect">
            <a:avLst/>
          </a:prstGeom>
          <a:effectLst>
            <a:outerShdw blurRad="254000" dist="127000" sx="102000" sy="102000" algn="ctr" rotWithShape="0">
              <a:prstClr val="black">
                <a:alpha val="1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41E92B2-72CA-461D-AF64-C658040AB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8756" y="1242415"/>
            <a:ext cx="879750" cy="88013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63B6E8F-3037-4F64-8BD3-71E7D0201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6575" y="188543"/>
            <a:ext cx="3399799" cy="274060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480A7BD-906A-41DF-830A-6CEE09165B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9622" y="-192091"/>
            <a:ext cx="4044228" cy="414827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11F26B9-3975-48F3-A518-510BC3F9D7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38" y="2496249"/>
            <a:ext cx="3408247" cy="349497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6501A9D-D42D-4514-BF99-9C2DD0AE9A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8596" y="4139500"/>
            <a:ext cx="2653564" cy="214326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48A93E5-613A-4085-8A09-ACF7175B58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920028">
            <a:off x="2915852" y="5458443"/>
            <a:ext cx="884623" cy="74527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E467862-11AC-4A4D-9C0A-ADFEA4947E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7186" y="5342735"/>
            <a:ext cx="2390095" cy="106788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7751A9E-7002-4178-824F-A65944F845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6147" y="866636"/>
            <a:ext cx="913658" cy="7515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09AA947-5BA0-486D-BCB3-0B9EA845BC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73138" y="4444376"/>
            <a:ext cx="1013625" cy="1014067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6B3D9E15-C86A-4F26-8637-80FEDAB7EDB4}"/>
              </a:ext>
            </a:extLst>
          </p:cNvPr>
          <p:cNvSpPr txBox="1"/>
          <p:nvPr/>
        </p:nvSpPr>
        <p:spPr>
          <a:xfrm>
            <a:off x="3539774" y="2718766"/>
            <a:ext cx="53032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dirty="0">
                <a:solidFill>
                  <a:srgbClr val="00206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输入和输出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0C2F0AE-05A5-4BF7-93BB-89E8D6744606}"/>
              </a:ext>
            </a:extLst>
          </p:cNvPr>
          <p:cNvSpPr txBox="1"/>
          <p:nvPr/>
        </p:nvSpPr>
        <p:spPr>
          <a:xfrm>
            <a:off x="1162474" y="1327506"/>
            <a:ext cx="22621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>
                <a:solidFill>
                  <a:srgbClr val="4188C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zh-CN" altLang="en-US" sz="5400" b="1" dirty="0">
                <a:solidFill>
                  <a:srgbClr val="FCEC2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altLang="en-US" sz="5400" b="1" dirty="0">
                <a:solidFill>
                  <a:srgbClr val="9EDAE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383700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3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3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2" presetID="17" presetClass="entr" presetSubtype="1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7" presetID="31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3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5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8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40" presetID="2" presetClass="entr" presetSubtype="4" fill="hold" nodeType="afterEffect" p14:presetBounceEnd="79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9000">
                                          <p:cBhvr additive="base">
                                            <p:cTn id="42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9000">
                                          <p:cBhvr additive="base">
                                            <p:cTn id="43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4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5" presetID="4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1" dur="500" tmFilter="0,0; .5, 1; 1, 1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2" fill="hold">
                                <p:stCondLst>
                                  <p:cond delay="3600"/>
                                </p:stCondLst>
                                <p:childTnLst>
                                  <p:par>
                                    <p:cTn id="53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7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8" fill="hold">
                                <p:stCondLst>
                                  <p:cond delay="4100"/>
                                </p:stCondLst>
                                <p:childTnLst>
                                  <p:par>
                                    <p:cTn id="59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" grpId="0"/>
          <p:bldP spid="1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3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3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2" presetID="17" presetClass="entr" presetSubtype="1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7" presetID="31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3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5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8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40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4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5" presetID="4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1" dur="500" tmFilter="0,0; .5, 1; 1, 1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2" fill="hold">
                                <p:stCondLst>
                                  <p:cond delay="3600"/>
                                </p:stCondLst>
                                <p:childTnLst>
                                  <p:par>
                                    <p:cTn id="53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7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8" fill="hold">
                                <p:stCondLst>
                                  <p:cond delay="4100"/>
                                </p:stCondLst>
                                <p:childTnLst>
                                  <p:par>
                                    <p:cTn id="59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" grpId="0"/>
          <p:bldP spid="17" grpId="0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>
            <a:extLst>
              <a:ext uri="{FF2B5EF4-FFF2-40B4-BE49-F238E27FC236}">
                <a16:creationId xmlns:a16="http://schemas.microsoft.com/office/drawing/2014/main" id="{F8BD5D4E-A213-42AE-9692-C82D98610A8B}"/>
              </a:ext>
            </a:extLst>
          </p:cNvPr>
          <p:cNvGrpSpPr/>
          <p:nvPr/>
        </p:nvGrpSpPr>
        <p:grpSpPr>
          <a:xfrm>
            <a:off x="3864322" y="2923935"/>
            <a:ext cx="569663" cy="740125"/>
            <a:chOff x="3864322" y="2923935"/>
            <a:chExt cx="569663" cy="740125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A88594A4-8024-4D79-8B6A-119E33052351}"/>
                </a:ext>
              </a:extLst>
            </p:cNvPr>
            <p:cNvGrpSpPr/>
            <p:nvPr/>
          </p:nvGrpSpPr>
          <p:grpSpPr>
            <a:xfrm rot="9469324">
              <a:off x="3864322" y="2923935"/>
              <a:ext cx="569663" cy="740125"/>
              <a:chOff x="4020870" y="2194485"/>
              <a:chExt cx="1102258" cy="143209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11" name="等腰三角形 43">
                <a:extLst>
                  <a:ext uri="{FF2B5EF4-FFF2-40B4-BE49-F238E27FC236}">
                    <a16:creationId xmlns:a16="http://schemas.microsoft.com/office/drawing/2014/main" id="{4AEC74B8-DAE4-43E1-9F33-CED290A20CAE}"/>
                  </a:ext>
                </a:extLst>
              </p:cNvPr>
              <p:cNvSpPr/>
              <p:nvPr/>
            </p:nvSpPr>
            <p:spPr>
              <a:xfrm>
                <a:off x="4020870" y="2194485"/>
                <a:ext cx="1102258" cy="1432090"/>
              </a:xfrm>
              <a:custGeom>
                <a:avLst/>
                <a:gdLst/>
                <a:ahLst/>
                <a:cxnLst/>
                <a:rect l="l" t="t" r="r" b="b"/>
                <a:pathLst>
                  <a:path w="1102258" h="1432090">
                    <a:moveTo>
                      <a:pt x="761620" y="431870"/>
                    </a:moveTo>
                    <a:lnTo>
                      <a:pt x="856659" y="621949"/>
                    </a:lnTo>
                    <a:lnTo>
                      <a:pt x="234710" y="621949"/>
                    </a:lnTo>
                    <a:lnTo>
                      <a:pt x="325695" y="439980"/>
                    </a:lnTo>
                    <a:cubicBezTo>
                      <a:pt x="163858" y="520416"/>
                      <a:pt x="53779" y="687834"/>
                      <a:pt x="53779" y="880961"/>
                    </a:cubicBezTo>
                    <a:cubicBezTo>
                      <a:pt x="53779" y="1155639"/>
                      <a:pt x="276450" y="1378310"/>
                      <a:pt x="551128" y="1378310"/>
                    </a:cubicBezTo>
                    <a:cubicBezTo>
                      <a:pt x="825806" y="1378310"/>
                      <a:pt x="1048477" y="1155639"/>
                      <a:pt x="1048477" y="880961"/>
                    </a:cubicBezTo>
                    <a:cubicBezTo>
                      <a:pt x="1048477" y="681767"/>
                      <a:pt x="931374" y="509923"/>
                      <a:pt x="761620" y="431870"/>
                    </a:cubicBezTo>
                    <a:close/>
                    <a:moveTo>
                      <a:pt x="545685" y="0"/>
                    </a:moveTo>
                    <a:lnTo>
                      <a:pt x="726120" y="360871"/>
                    </a:lnTo>
                    <a:cubicBezTo>
                      <a:pt x="945108" y="431845"/>
                      <a:pt x="1102258" y="638051"/>
                      <a:pt x="1102258" y="880961"/>
                    </a:cubicBezTo>
                    <a:cubicBezTo>
                      <a:pt x="1102258" y="1185341"/>
                      <a:pt x="855509" y="1432090"/>
                      <a:pt x="551129" y="1432090"/>
                    </a:cubicBezTo>
                    <a:cubicBezTo>
                      <a:pt x="246749" y="1432090"/>
                      <a:pt x="0" y="1185341"/>
                      <a:pt x="0" y="880961"/>
                    </a:cubicBezTo>
                    <a:cubicBezTo>
                      <a:pt x="0" y="642821"/>
                      <a:pt x="151038" y="439958"/>
                      <a:pt x="363249" y="36487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14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 dirty="0">
                  <a:solidFill>
                    <a:schemeClr val="tx1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12" name="等腰三角形 42">
                <a:extLst>
                  <a:ext uri="{FF2B5EF4-FFF2-40B4-BE49-F238E27FC236}">
                    <a16:creationId xmlns:a16="http://schemas.microsoft.com/office/drawing/2014/main" id="{069338C0-6245-487D-AD9C-345095D7B761}"/>
                  </a:ext>
                </a:extLst>
              </p:cNvPr>
              <p:cNvSpPr/>
              <p:nvPr/>
            </p:nvSpPr>
            <p:spPr>
              <a:xfrm>
                <a:off x="4044928" y="2251925"/>
                <a:ext cx="1054142" cy="1350592"/>
              </a:xfrm>
              <a:custGeom>
                <a:avLst/>
                <a:gdLst/>
                <a:ahLst/>
                <a:cxnLst/>
                <a:rect l="l" t="t" r="r" b="b"/>
                <a:pathLst>
                  <a:path w="1054142" h="1350592">
                    <a:moveTo>
                      <a:pt x="521627" y="0"/>
                    </a:moveTo>
                    <a:lnTo>
                      <a:pt x="682907" y="322559"/>
                    </a:lnTo>
                    <a:cubicBezTo>
                      <a:pt x="898294" y="386795"/>
                      <a:pt x="1054142" y="586958"/>
                      <a:pt x="1054142" y="823521"/>
                    </a:cubicBezTo>
                    <a:cubicBezTo>
                      <a:pt x="1054142" y="1114614"/>
                      <a:pt x="818164" y="1350592"/>
                      <a:pt x="527071" y="1350592"/>
                    </a:cubicBezTo>
                    <a:cubicBezTo>
                      <a:pt x="235978" y="1350592"/>
                      <a:pt x="0" y="1114614"/>
                      <a:pt x="0" y="823521"/>
                    </a:cubicBezTo>
                    <a:cubicBezTo>
                      <a:pt x="0" y="591722"/>
                      <a:pt x="149634" y="394871"/>
                      <a:pt x="358347" y="32656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43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5" name="TextBox 34">
              <a:extLst>
                <a:ext uri="{FF2B5EF4-FFF2-40B4-BE49-F238E27FC236}">
                  <a16:creationId xmlns:a16="http://schemas.microsoft.com/office/drawing/2014/main" id="{E94AA5E2-D6DF-45F2-87DB-4675244F4F02}"/>
                </a:ext>
              </a:extLst>
            </p:cNvPr>
            <p:cNvSpPr txBox="1"/>
            <p:nvPr/>
          </p:nvSpPr>
          <p:spPr>
            <a:xfrm>
              <a:off x="3900983" y="2996511"/>
              <a:ext cx="3658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D1A9E37E-5192-422E-9C96-CB9153491245}"/>
              </a:ext>
            </a:extLst>
          </p:cNvPr>
          <p:cNvGrpSpPr/>
          <p:nvPr/>
        </p:nvGrpSpPr>
        <p:grpSpPr>
          <a:xfrm>
            <a:off x="7527375" y="4699777"/>
            <a:ext cx="569663" cy="740125"/>
            <a:chOff x="7527375" y="4699777"/>
            <a:chExt cx="569663" cy="740125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C8DC8B5-84A7-42C5-97D6-A11A7263955C}"/>
                </a:ext>
              </a:extLst>
            </p:cNvPr>
            <p:cNvGrpSpPr/>
            <p:nvPr/>
          </p:nvGrpSpPr>
          <p:grpSpPr>
            <a:xfrm rot="13303882">
              <a:off x="7527375" y="4699777"/>
              <a:ext cx="569663" cy="740125"/>
              <a:chOff x="4020870" y="2194485"/>
              <a:chExt cx="1102258" cy="143209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4" name="等腰三角形 43">
                <a:extLst>
                  <a:ext uri="{FF2B5EF4-FFF2-40B4-BE49-F238E27FC236}">
                    <a16:creationId xmlns:a16="http://schemas.microsoft.com/office/drawing/2014/main" id="{ACE14070-048D-40FD-A6C5-9358E956EDFB}"/>
                  </a:ext>
                </a:extLst>
              </p:cNvPr>
              <p:cNvSpPr/>
              <p:nvPr/>
            </p:nvSpPr>
            <p:spPr>
              <a:xfrm>
                <a:off x="4020870" y="2194485"/>
                <a:ext cx="1102258" cy="1432090"/>
              </a:xfrm>
              <a:custGeom>
                <a:avLst/>
                <a:gdLst/>
                <a:ahLst/>
                <a:cxnLst/>
                <a:rect l="l" t="t" r="r" b="b"/>
                <a:pathLst>
                  <a:path w="1102258" h="1432090">
                    <a:moveTo>
                      <a:pt x="761620" y="431870"/>
                    </a:moveTo>
                    <a:lnTo>
                      <a:pt x="856659" y="621949"/>
                    </a:lnTo>
                    <a:lnTo>
                      <a:pt x="234710" y="621949"/>
                    </a:lnTo>
                    <a:lnTo>
                      <a:pt x="325695" y="439980"/>
                    </a:lnTo>
                    <a:cubicBezTo>
                      <a:pt x="163858" y="520416"/>
                      <a:pt x="53779" y="687834"/>
                      <a:pt x="53779" y="880961"/>
                    </a:cubicBezTo>
                    <a:cubicBezTo>
                      <a:pt x="53779" y="1155639"/>
                      <a:pt x="276450" y="1378310"/>
                      <a:pt x="551128" y="1378310"/>
                    </a:cubicBezTo>
                    <a:cubicBezTo>
                      <a:pt x="825806" y="1378310"/>
                      <a:pt x="1048477" y="1155639"/>
                      <a:pt x="1048477" y="880961"/>
                    </a:cubicBezTo>
                    <a:cubicBezTo>
                      <a:pt x="1048477" y="681767"/>
                      <a:pt x="931374" y="509923"/>
                      <a:pt x="761620" y="431870"/>
                    </a:cubicBezTo>
                    <a:close/>
                    <a:moveTo>
                      <a:pt x="545685" y="0"/>
                    </a:moveTo>
                    <a:lnTo>
                      <a:pt x="726120" y="360871"/>
                    </a:lnTo>
                    <a:cubicBezTo>
                      <a:pt x="945108" y="431845"/>
                      <a:pt x="1102258" y="638051"/>
                      <a:pt x="1102258" y="880961"/>
                    </a:cubicBezTo>
                    <a:cubicBezTo>
                      <a:pt x="1102258" y="1185341"/>
                      <a:pt x="855509" y="1432090"/>
                      <a:pt x="551129" y="1432090"/>
                    </a:cubicBezTo>
                    <a:cubicBezTo>
                      <a:pt x="246749" y="1432090"/>
                      <a:pt x="0" y="1185341"/>
                      <a:pt x="0" y="880961"/>
                    </a:cubicBezTo>
                    <a:cubicBezTo>
                      <a:pt x="0" y="642821"/>
                      <a:pt x="151038" y="439958"/>
                      <a:pt x="363249" y="36487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14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 dirty="0">
                  <a:solidFill>
                    <a:schemeClr val="tx1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5" name="等腰三角形 42">
                <a:extLst>
                  <a:ext uri="{FF2B5EF4-FFF2-40B4-BE49-F238E27FC236}">
                    <a16:creationId xmlns:a16="http://schemas.microsoft.com/office/drawing/2014/main" id="{7CAB2768-38BC-4B6D-8E91-2B34CCE5B8D3}"/>
                  </a:ext>
                </a:extLst>
              </p:cNvPr>
              <p:cNvSpPr/>
              <p:nvPr/>
            </p:nvSpPr>
            <p:spPr>
              <a:xfrm>
                <a:off x="4044928" y="2251925"/>
                <a:ext cx="1054142" cy="1350592"/>
              </a:xfrm>
              <a:custGeom>
                <a:avLst/>
                <a:gdLst/>
                <a:ahLst/>
                <a:cxnLst/>
                <a:rect l="l" t="t" r="r" b="b"/>
                <a:pathLst>
                  <a:path w="1054142" h="1350592">
                    <a:moveTo>
                      <a:pt x="521627" y="0"/>
                    </a:moveTo>
                    <a:lnTo>
                      <a:pt x="682907" y="322559"/>
                    </a:lnTo>
                    <a:cubicBezTo>
                      <a:pt x="898294" y="386795"/>
                      <a:pt x="1054142" y="586958"/>
                      <a:pt x="1054142" y="823521"/>
                    </a:cubicBezTo>
                    <a:cubicBezTo>
                      <a:pt x="1054142" y="1114614"/>
                      <a:pt x="818164" y="1350592"/>
                      <a:pt x="527071" y="1350592"/>
                    </a:cubicBezTo>
                    <a:cubicBezTo>
                      <a:pt x="235978" y="1350592"/>
                      <a:pt x="0" y="1114614"/>
                      <a:pt x="0" y="823521"/>
                    </a:cubicBezTo>
                    <a:cubicBezTo>
                      <a:pt x="0" y="591722"/>
                      <a:pt x="149634" y="394871"/>
                      <a:pt x="358347" y="32656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43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6" name="TextBox 36">
              <a:extLst>
                <a:ext uri="{FF2B5EF4-FFF2-40B4-BE49-F238E27FC236}">
                  <a16:creationId xmlns:a16="http://schemas.microsoft.com/office/drawing/2014/main" id="{704F855A-E94C-43E9-B687-62F80C4E0CB3}"/>
                </a:ext>
              </a:extLst>
            </p:cNvPr>
            <p:cNvSpPr txBox="1"/>
            <p:nvPr/>
          </p:nvSpPr>
          <p:spPr>
            <a:xfrm>
              <a:off x="7693247" y="4773843"/>
              <a:ext cx="3658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64285F55-A365-4C84-A16F-E5F192FA8FDD}"/>
              </a:ext>
            </a:extLst>
          </p:cNvPr>
          <p:cNvGrpSpPr/>
          <p:nvPr/>
        </p:nvGrpSpPr>
        <p:grpSpPr>
          <a:xfrm>
            <a:off x="7595118" y="3356725"/>
            <a:ext cx="532218" cy="684464"/>
            <a:chOff x="7595118" y="3356725"/>
            <a:chExt cx="532218" cy="684464"/>
          </a:xfrm>
        </p:grpSpPr>
        <p:sp>
          <p:nvSpPr>
            <p:cNvPr id="9" name="椭圆 34">
              <a:extLst>
                <a:ext uri="{FF2B5EF4-FFF2-40B4-BE49-F238E27FC236}">
                  <a16:creationId xmlns:a16="http://schemas.microsoft.com/office/drawing/2014/main" id="{C0262446-D734-4095-B038-A42E9EB0492E}"/>
                </a:ext>
              </a:extLst>
            </p:cNvPr>
            <p:cNvSpPr/>
            <p:nvPr/>
          </p:nvSpPr>
          <p:spPr>
            <a:xfrm rot="13009338">
              <a:off x="7595118" y="3356725"/>
              <a:ext cx="532218" cy="684464"/>
            </a:xfrm>
            <a:custGeom>
              <a:avLst/>
              <a:gdLst/>
              <a:ahLst/>
              <a:cxnLst/>
              <a:rect l="l" t="t" r="r" b="b"/>
              <a:pathLst>
                <a:path w="1118836" h="1438889">
                  <a:moveTo>
                    <a:pt x="548270" y="0"/>
                  </a:moveTo>
                  <a:lnTo>
                    <a:pt x="721662" y="346785"/>
                  </a:lnTo>
                  <a:cubicBezTo>
                    <a:pt x="951885" y="413972"/>
                    <a:pt x="1118836" y="627225"/>
                    <a:pt x="1118836" y="879471"/>
                  </a:cubicBezTo>
                  <a:cubicBezTo>
                    <a:pt x="1118836" y="1188429"/>
                    <a:pt x="868376" y="1438889"/>
                    <a:pt x="559418" y="1438889"/>
                  </a:cubicBezTo>
                  <a:cubicBezTo>
                    <a:pt x="250460" y="1438889"/>
                    <a:pt x="0" y="1188429"/>
                    <a:pt x="0" y="879471"/>
                  </a:cubicBezTo>
                  <a:cubicBezTo>
                    <a:pt x="0" y="636984"/>
                    <a:pt x="154283" y="430531"/>
                    <a:pt x="370781" y="354978"/>
                  </a:cubicBezTo>
                  <a:close/>
                </a:path>
              </a:pathLst>
            </a:custGeom>
            <a:solidFill>
              <a:srgbClr val="FCEC2D"/>
            </a:solidFill>
            <a:ln>
              <a:noFill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 dirty="0">
                <a:ea typeface="微软雅黑" panose="020B0503020204020204" pitchFamily="34" charset="-122"/>
              </a:endParaRPr>
            </a:p>
          </p:txBody>
        </p:sp>
        <p:sp>
          <p:nvSpPr>
            <p:cNvPr id="17" name="TextBox 37">
              <a:extLst>
                <a:ext uri="{FF2B5EF4-FFF2-40B4-BE49-F238E27FC236}">
                  <a16:creationId xmlns:a16="http://schemas.microsoft.com/office/drawing/2014/main" id="{2CBD8630-1AA4-4CA0-AFF6-EF502F3B6278}"/>
                </a:ext>
              </a:extLst>
            </p:cNvPr>
            <p:cNvSpPr txBox="1"/>
            <p:nvPr/>
          </p:nvSpPr>
          <p:spPr>
            <a:xfrm>
              <a:off x="7719961" y="3400991"/>
              <a:ext cx="3658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588A7601-0B11-4AD8-9233-9FCF9025C9D4}"/>
              </a:ext>
            </a:extLst>
          </p:cNvPr>
          <p:cNvGrpSpPr/>
          <p:nvPr/>
        </p:nvGrpSpPr>
        <p:grpSpPr>
          <a:xfrm>
            <a:off x="4981750" y="1892670"/>
            <a:ext cx="532218" cy="684464"/>
            <a:chOff x="4981750" y="1892670"/>
            <a:chExt cx="532218" cy="684464"/>
          </a:xfrm>
        </p:grpSpPr>
        <p:sp>
          <p:nvSpPr>
            <p:cNvPr id="2" name="椭圆 34">
              <a:extLst>
                <a:ext uri="{FF2B5EF4-FFF2-40B4-BE49-F238E27FC236}">
                  <a16:creationId xmlns:a16="http://schemas.microsoft.com/office/drawing/2014/main" id="{2EDBA712-F66A-4A97-9F21-70ACDDDBAFD6}"/>
                </a:ext>
              </a:extLst>
            </p:cNvPr>
            <p:cNvSpPr/>
            <p:nvPr/>
          </p:nvSpPr>
          <p:spPr>
            <a:xfrm rot="10190714">
              <a:off x="4981750" y="1892670"/>
              <a:ext cx="532218" cy="684464"/>
            </a:xfrm>
            <a:custGeom>
              <a:avLst/>
              <a:gdLst/>
              <a:ahLst/>
              <a:cxnLst/>
              <a:rect l="l" t="t" r="r" b="b"/>
              <a:pathLst>
                <a:path w="1118836" h="1438889">
                  <a:moveTo>
                    <a:pt x="548270" y="0"/>
                  </a:moveTo>
                  <a:lnTo>
                    <a:pt x="721662" y="346785"/>
                  </a:lnTo>
                  <a:cubicBezTo>
                    <a:pt x="951885" y="413972"/>
                    <a:pt x="1118836" y="627225"/>
                    <a:pt x="1118836" y="879471"/>
                  </a:cubicBezTo>
                  <a:cubicBezTo>
                    <a:pt x="1118836" y="1188429"/>
                    <a:pt x="868376" y="1438889"/>
                    <a:pt x="559418" y="1438889"/>
                  </a:cubicBezTo>
                  <a:cubicBezTo>
                    <a:pt x="250460" y="1438889"/>
                    <a:pt x="0" y="1188429"/>
                    <a:pt x="0" y="879471"/>
                  </a:cubicBezTo>
                  <a:cubicBezTo>
                    <a:pt x="0" y="636984"/>
                    <a:pt x="154283" y="430531"/>
                    <a:pt x="370781" y="354978"/>
                  </a:cubicBezTo>
                  <a:close/>
                </a:path>
              </a:pathLst>
            </a:custGeom>
            <a:solidFill>
              <a:srgbClr val="9EDAE4"/>
            </a:solidFill>
            <a:ln>
              <a:noFill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 dirty="0">
                <a:ea typeface="微软雅黑" panose="020B0503020204020204" pitchFamily="34" charset="-122"/>
              </a:endParaRPr>
            </a:p>
          </p:txBody>
        </p:sp>
        <p:sp>
          <p:nvSpPr>
            <p:cNvPr id="18" name="TextBox 38">
              <a:extLst>
                <a:ext uri="{FF2B5EF4-FFF2-40B4-BE49-F238E27FC236}">
                  <a16:creationId xmlns:a16="http://schemas.microsoft.com/office/drawing/2014/main" id="{4D6FE70D-A2B7-4AEC-BA97-19014A6891B7}"/>
                </a:ext>
              </a:extLst>
            </p:cNvPr>
            <p:cNvSpPr txBox="1"/>
            <p:nvPr/>
          </p:nvSpPr>
          <p:spPr>
            <a:xfrm>
              <a:off x="5049723" y="1921492"/>
              <a:ext cx="3658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0D4B04BA-9E2C-4D7A-8833-F412476018C1}"/>
              </a:ext>
            </a:extLst>
          </p:cNvPr>
          <p:cNvGrpSpPr/>
          <p:nvPr/>
        </p:nvGrpSpPr>
        <p:grpSpPr>
          <a:xfrm>
            <a:off x="4141196" y="4854998"/>
            <a:ext cx="684464" cy="535417"/>
            <a:chOff x="4141196" y="4854998"/>
            <a:chExt cx="684464" cy="535417"/>
          </a:xfrm>
        </p:grpSpPr>
        <p:sp>
          <p:nvSpPr>
            <p:cNvPr id="13" name="椭圆 34">
              <a:extLst>
                <a:ext uri="{FF2B5EF4-FFF2-40B4-BE49-F238E27FC236}">
                  <a16:creationId xmlns:a16="http://schemas.microsoft.com/office/drawing/2014/main" id="{2F32C259-FFC6-4C0E-8974-76B37B2AE69C}"/>
                </a:ext>
              </a:extLst>
            </p:cNvPr>
            <p:cNvSpPr/>
            <p:nvPr/>
          </p:nvSpPr>
          <p:spPr>
            <a:xfrm rot="8068240">
              <a:off x="4217319" y="4782074"/>
              <a:ext cx="532218" cy="684464"/>
            </a:xfrm>
            <a:custGeom>
              <a:avLst/>
              <a:gdLst/>
              <a:ahLst/>
              <a:cxnLst/>
              <a:rect l="l" t="t" r="r" b="b"/>
              <a:pathLst>
                <a:path w="1118836" h="1438889">
                  <a:moveTo>
                    <a:pt x="548270" y="0"/>
                  </a:moveTo>
                  <a:lnTo>
                    <a:pt x="721662" y="346785"/>
                  </a:lnTo>
                  <a:cubicBezTo>
                    <a:pt x="951885" y="413972"/>
                    <a:pt x="1118836" y="627225"/>
                    <a:pt x="1118836" y="879471"/>
                  </a:cubicBezTo>
                  <a:cubicBezTo>
                    <a:pt x="1118836" y="1188429"/>
                    <a:pt x="868376" y="1438889"/>
                    <a:pt x="559418" y="1438889"/>
                  </a:cubicBezTo>
                  <a:cubicBezTo>
                    <a:pt x="250460" y="1438889"/>
                    <a:pt x="0" y="1188429"/>
                    <a:pt x="0" y="879471"/>
                  </a:cubicBezTo>
                  <a:cubicBezTo>
                    <a:pt x="0" y="636984"/>
                    <a:pt x="154283" y="430531"/>
                    <a:pt x="370781" y="354978"/>
                  </a:cubicBezTo>
                  <a:close/>
                </a:path>
              </a:pathLst>
            </a:custGeom>
            <a:solidFill>
              <a:srgbClr val="FF9298"/>
            </a:solidFill>
            <a:ln>
              <a:noFill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 dirty="0">
                <a:ea typeface="微软雅黑" panose="020B0503020204020204" pitchFamily="34" charset="-122"/>
              </a:endParaRPr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50314CC0-40AA-4839-927E-E54597A06BE3}"/>
                </a:ext>
              </a:extLst>
            </p:cNvPr>
            <p:cNvGrpSpPr/>
            <p:nvPr/>
          </p:nvGrpSpPr>
          <p:grpSpPr>
            <a:xfrm>
              <a:off x="4220717" y="4854998"/>
              <a:ext cx="365806" cy="461665"/>
              <a:chOff x="4220717" y="4854998"/>
              <a:chExt cx="365806" cy="461665"/>
            </a:xfrm>
          </p:grpSpPr>
          <p:sp>
            <p:nvSpPr>
              <p:cNvPr id="14" name="TextBox 33">
                <a:extLst>
                  <a:ext uri="{FF2B5EF4-FFF2-40B4-BE49-F238E27FC236}">
                    <a16:creationId xmlns:a16="http://schemas.microsoft.com/office/drawing/2014/main" id="{862DE625-99E7-4CF1-A22B-FC097A47D79F}"/>
                  </a:ext>
                </a:extLst>
              </p:cNvPr>
              <p:cNvSpPr txBox="1"/>
              <p:nvPr/>
            </p:nvSpPr>
            <p:spPr>
              <a:xfrm>
                <a:off x="4357269" y="5036953"/>
                <a:ext cx="34289" cy="248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013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TextBox 39">
                <a:extLst>
                  <a:ext uri="{FF2B5EF4-FFF2-40B4-BE49-F238E27FC236}">
                    <a16:creationId xmlns:a16="http://schemas.microsoft.com/office/drawing/2014/main" id="{3931ACD6-56D9-43CA-8D67-9DF1732F9D69}"/>
                  </a:ext>
                </a:extLst>
              </p:cNvPr>
              <p:cNvSpPr txBox="1"/>
              <p:nvPr/>
            </p:nvSpPr>
            <p:spPr>
              <a:xfrm>
                <a:off x="4220717" y="4854998"/>
                <a:ext cx="3658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24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0" name="TextBox 40">
            <a:extLst>
              <a:ext uri="{FF2B5EF4-FFF2-40B4-BE49-F238E27FC236}">
                <a16:creationId xmlns:a16="http://schemas.microsoft.com/office/drawing/2014/main" id="{82D9E183-EAB8-4315-8ACF-00C3FFFB498F}"/>
              </a:ext>
            </a:extLst>
          </p:cNvPr>
          <p:cNvSpPr txBox="1"/>
          <p:nvPr/>
        </p:nvSpPr>
        <p:spPr>
          <a:xfrm>
            <a:off x="1613540" y="5380211"/>
            <a:ext cx="3286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标准数据的输出</a:t>
            </a:r>
          </a:p>
        </p:txBody>
      </p:sp>
      <p:sp>
        <p:nvSpPr>
          <p:cNvPr id="21" name="TextBox 41">
            <a:extLst>
              <a:ext uri="{FF2B5EF4-FFF2-40B4-BE49-F238E27FC236}">
                <a16:creationId xmlns:a16="http://schemas.microsoft.com/office/drawing/2014/main" id="{E397436B-47C6-48C7-8748-A5E4C2AC6066}"/>
              </a:ext>
            </a:extLst>
          </p:cNvPr>
          <p:cNvSpPr txBox="1"/>
          <p:nvPr/>
        </p:nvSpPr>
        <p:spPr>
          <a:xfrm>
            <a:off x="532589" y="2949672"/>
            <a:ext cx="3428437" cy="688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标准数据的输入</a:t>
            </a:r>
          </a:p>
          <a:p>
            <a:pPr algn="ctr"/>
            <a:endParaRPr lang="zh-CN" altLang="en-US" sz="675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Box 42">
            <a:extLst>
              <a:ext uri="{FF2B5EF4-FFF2-40B4-BE49-F238E27FC236}">
                <a16:creationId xmlns:a16="http://schemas.microsoft.com/office/drawing/2014/main" id="{BE2E6802-21DC-40C9-B72F-7DB7FA970E8B}"/>
              </a:ext>
            </a:extLst>
          </p:cNvPr>
          <p:cNvSpPr txBox="1"/>
          <p:nvPr/>
        </p:nvSpPr>
        <p:spPr>
          <a:xfrm>
            <a:off x="1994399" y="1358217"/>
            <a:ext cx="3117973" cy="732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字符格式的输出</a:t>
            </a:r>
          </a:p>
        </p:txBody>
      </p:sp>
      <p:sp>
        <p:nvSpPr>
          <p:cNvPr id="23" name="TextBox 43">
            <a:extLst>
              <a:ext uri="{FF2B5EF4-FFF2-40B4-BE49-F238E27FC236}">
                <a16:creationId xmlns:a16="http://schemas.microsoft.com/office/drawing/2014/main" id="{AD89A3DD-DD69-47AC-B84A-27123984FBF1}"/>
              </a:ext>
            </a:extLst>
          </p:cNvPr>
          <p:cNvSpPr txBox="1"/>
          <p:nvPr/>
        </p:nvSpPr>
        <p:spPr>
          <a:xfrm>
            <a:off x="7239251" y="1416505"/>
            <a:ext cx="3238242" cy="688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字符格式的输入</a:t>
            </a:r>
            <a:endParaRPr lang="en-US" altLang="zh-CN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675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46">
            <a:extLst>
              <a:ext uri="{FF2B5EF4-FFF2-40B4-BE49-F238E27FC236}">
                <a16:creationId xmlns:a16="http://schemas.microsoft.com/office/drawing/2014/main" id="{750D88C4-BC61-4DD8-AC90-C33C30901DC5}"/>
              </a:ext>
            </a:extLst>
          </p:cNvPr>
          <p:cNvSpPr txBox="1"/>
          <p:nvPr/>
        </p:nvSpPr>
        <p:spPr>
          <a:xfrm>
            <a:off x="8253542" y="2882777"/>
            <a:ext cx="3238242" cy="732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文件格式的输出</a:t>
            </a:r>
            <a:endParaRPr lang="en-US" altLang="zh-CN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47">
            <a:extLst>
              <a:ext uri="{FF2B5EF4-FFF2-40B4-BE49-F238E27FC236}">
                <a16:creationId xmlns:a16="http://schemas.microsoft.com/office/drawing/2014/main" id="{C9131F84-D5F2-4E2B-9FF6-19336FE56CA9}"/>
              </a:ext>
            </a:extLst>
          </p:cNvPr>
          <p:cNvSpPr txBox="1"/>
          <p:nvPr/>
        </p:nvSpPr>
        <p:spPr>
          <a:xfrm>
            <a:off x="8126711" y="5208833"/>
            <a:ext cx="3053145" cy="688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文件格式的输入</a:t>
            </a:r>
            <a:endParaRPr lang="en-US" altLang="zh-CN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675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DF20B02F-AEB0-41F5-AA84-FBB6925BE3D3}"/>
              </a:ext>
            </a:extLst>
          </p:cNvPr>
          <p:cNvGrpSpPr/>
          <p:nvPr/>
        </p:nvGrpSpPr>
        <p:grpSpPr>
          <a:xfrm>
            <a:off x="6708820" y="1987468"/>
            <a:ext cx="569663" cy="740125"/>
            <a:chOff x="6708820" y="1987468"/>
            <a:chExt cx="569663" cy="740125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BA61870F-A715-472B-8431-1305D7518726}"/>
                </a:ext>
              </a:extLst>
            </p:cNvPr>
            <p:cNvGrpSpPr/>
            <p:nvPr/>
          </p:nvGrpSpPr>
          <p:grpSpPr>
            <a:xfrm rot="11594412">
              <a:off x="6708820" y="1987468"/>
              <a:ext cx="569663" cy="740125"/>
              <a:chOff x="4020870" y="2194485"/>
              <a:chExt cx="1102258" cy="143209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7" name="等腰三角形 43">
                <a:extLst>
                  <a:ext uri="{FF2B5EF4-FFF2-40B4-BE49-F238E27FC236}">
                    <a16:creationId xmlns:a16="http://schemas.microsoft.com/office/drawing/2014/main" id="{93F81E11-6C0D-433A-9788-2053108ADE28}"/>
                  </a:ext>
                </a:extLst>
              </p:cNvPr>
              <p:cNvSpPr/>
              <p:nvPr/>
            </p:nvSpPr>
            <p:spPr>
              <a:xfrm>
                <a:off x="4020870" y="2194485"/>
                <a:ext cx="1102258" cy="1432090"/>
              </a:xfrm>
              <a:custGeom>
                <a:avLst/>
                <a:gdLst/>
                <a:ahLst/>
                <a:cxnLst/>
                <a:rect l="l" t="t" r="r" b="b"/>
                <a:pathLst>
                  <a:path w="1102258" h="1432090">
                    <a:moveTo>
                      <a:pt x="761620" y="431870"/>
                    </a:moveTo>
                    <a:lnTo>
                      <a:pt x="856659" y="621949"/>
                    </a:lnTo>
                    <a:lnTo>
                      <a:pt x="234710" y="621949"/>
                    </a:lnTo>
                    <a:lnTo>
                      <a:pt x="325695" y="439980"/>
                    </a:lnTo>
                    <a:cubicBezTo>
                      <a:pt x="163858" y="520416"/>
                      <a:pt x="53779" y="687834"/>
                      <a:pt x="53779" y="880961"/>
                    </a:cubicBezTo>
                    <a:cubicBezTo>
                      <a:pt x="53779" y="1155639"/>
                      <a:pt x="276450" y="1378310"/>
                      <a:pt x="551128" y="1378310"/>
                    </a:cubicBezTo>
                    <a:cubicBezTo>
                      <a:pt x="825806" y="1378310"/>
                      <a:pt x="1048477" y="1155639"/>
                      <a:pt x="1048477" y="880961"/>
                    </a:cubicBezTo>
                    <a:cubicBezTo>
                      <a:pt x="1048477" y="681767"/>
                      <a:pt x="931374" y="509923"/>
                      <a:pt x="761620" y="431870"/>
                    </a:cubicBezTo>
                    <a:close/>
                    <a:moveTo>
                      <a:pt x="545685" y="0"/>
                    </a:moveTo>
                    <a:lnTo>
                      <a:pt x="726120" y="360871"/>
                    </a:lnTo>
                    <a:cubicBezTo>
                      <a:pt x="945108" y="431845"/>
                      <a:pt x="1102258" y="638051"/>
                      <a:pt x="1102258" y="880961"/>
                    </a:cubicBezTo>
                    <a:cubicBezTo>
                      <a:pt x="1102258" y="1185341"/>
                      <a:pt x="855509" y="1432090"/>
                      <a:pt x="551129" y="1432090"/>
                    </a:cubicBezTo>
                    <a:cubicBezTo>
                      <a:pt x="246749" y="1432090"/>
                      <a:pt x="0" y="1185341"/>
                      <a:pt x="0" y="880961"/>
                    </a:cubicBezTo>
                    <a:cubicBezTo>
                      <a:pt x="0" y="642821"/>
                      <a:pt x="151038" y="439958"/>
                      <a:pt x="363249" y="36487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14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 dirty="0">
                  <a:solidFill>
                    <a:schemeClr val="tx1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8" name="等腰三角形 42">
                <a:extLst>
                  <a:ext uri="{FF2B5EF4-FFF2-40B4-BE49-F238E27FC236}">
                    <a16:creationId xmlns:a16="http://schemas.microsoft.com/office/drawing/2014/main" id="{3B6DFA49-1754-41BA-B547-E87E1F9350AB}"/>
                  </a:ext>
                </a:extLst>
              </p:cNvPr>
              <p:cNvSpPr/>
              <p:nvPr/>
            </p:nvSpPr>
            <p:spPr>
              <a:xfrm>
                <a:off x="4044928" y="2251925"/>
                <a:ext cx="1054142" cy="1350592"/>
              </a:xfrm>
              <a:custGeom>
                <a:avLst/>
                <a:gdLst/>
                <a:ahLst/>
                <a:cxnLst/>
                <a:rect l="l" t="t" r="r" b="b"/>
                <a:pathLst>
                  <a:path w="1054142" h="1350592">
                    <a:moveTo>
                      <a:pt x="521627" y="0"/>
                    </a:moveTo>
                    <a:lnTo>
                      <a:pt x="682907" y="322559"/>
                    </a:lnTo>
                    <a:cubicBezTo>
                      <a:pt x="898294" y="386795"/>
                      <a:pt x="1054142" y="586958"/>
                      <a:pt x="1054142" y="823521"/>
                    </a:cubicBezTo>
                    <a:cubicBezTo>
                      <a:pt x="1054142" y="1114614"/>
                      <a:pt x="818164" y="1350592"/>
                      <a:pt x="527071" y="1350592"/>
                    </a:cubicBezTo>
                    <a:cubicBezTo>
                      <a:pt x="235978" y="1350592"/>
                      <a:pt x="0" y="1114614"/>
                      <a:pt x="0" y="823521"/>
                    </a:cubicBezTo>
                    <a:cubicBezTo>
                      <a:pt x="0" y="591722"/>
                      <a:pt x="149634" y="394871"/>
                      <a:pt x="358347" y="32656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43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6" name="TextBox 35">
              <a:extLst>
                <a:ext uri="{FF2B5EF4-FFF2-40B4-BE49-F238E27FC236}">
                  <a16:creationId xmlns:a16="http://schemas.microsoft.com/office/drawing/2014/main" id="{DF9E9C9B-4532-4D33-8613-803C5DA7FD79}"/>
                </a:ext>
              </a:extLst>
            </p:cNvPr>
            <p:cNvSpPr txBox="1"/>
            <p:nvPr/>
          </p:nvSpPr>
          <p:spPr>
            <a:xfrm>
              <a:off x="6820090" y="2064338"/>
              <a:ext cx="3658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99794B34-47F1-433A-9FC4-6E1AECD63D70}"/>
              </a:ext>
            </a:extLst>
          </p:cNvPr>
          <p:cNvGrpSpPr/>
          <p:nvPr/>
        </p:nvGrpSpPr>
        <p:grpSpPr>
          <a:xfrm>
            <a:off x="5153108" y="3177036"/>
            <a:ext cx="1768928" cy="1769699"/>
            <a:chOff x="5105011" y="2333071"/>
            <a:chExt cx="2358571" cy="2359599"/>
          </a:xfrm>
          <a:effectLst>
            <a:outerShdw blurRad="254000" sx="102000" sy="102000" algn="ctr" rotWithShape="0">
              <a:prstClr val="black">
                <a:alpha val="40000"/>
              </a:prstClr>
            </a:outerShdw>
          </a:effectLst>
        </p:grpSpPr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31BE67DC-4431-4EFE-8CCB-E1456ACEA0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05011" y="2333071"/>
              <a:ext cx="2358571" cy="2359599"/>
            </a:xfrm>
            <a:prstGeom prst="rect">
              <a:avLst/>
            </a:prstGeom>
          </p:spPr>
        </p:pic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53EA260A-CA6F-43B7-9C65-1764115250EB}"/>
                </a:ext>
              </a:extLst>
            </p:cNvPr>
            <p:cNvSpPr txBox="1"/>
            <p:nvPr/>
          </p:nvSpPr>
          <p:spPr>
            <a:xfrm>
              <a:off x="5340662" y="3093538"/>
              <a:ext cx="1887696" cy="7797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b="1" dirty="0">
                  <a:solidFill>
                    <a:srgbClr val="4188C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第二章</a:t>
              </a:r>
            </a:p>
          </p:txBody>
        </p:sp>
      </p:grpSp>
      <p:sp>
        <p:nvSpPr>
          <p:cNvPr id="30" name="矩形 29">
            <a:extLst>
              <a:ext uri="{FF2B5EF4-FFF2-40B4-BE49-F238E27FC236}">
                <a16:creationId xmlns:a16="http://schemas.microsoft.com/office/drawing/2014/main" id="{B5043D71-5E20-41C4-BE08-A2554B4AF969}"/>
              </a:ext>
            </a:extLst>
          </p:cNvPr>
          <p:cNvSpPr/>
          <p:nvPr/>
        </p:nvSpPr>
        <p:spPr>
          <a:xfrm>
            <a:off x="2774416" y="50386"/>
            <a:ext cx="492481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85423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966788"/>
            <a:ext cx="9305925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0774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EF2FD1E-DB40-4F97-9739-CB31E5F82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99" y="739298"/>
            <a:ext cx="12041543" cy="540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74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EE9E1A-96DE-423D-9C88-0B34DBBAD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2422" y="2265822"/>
            <a:ext cx="7561262" cy="6477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zh-CN" sz="3200" b="1" dirty="0">
                <a:solidFill>
                  <a:srgbClr val="FF0000"/>
                </a:solidFill>
              </a:rPr>
              <a:t>功能：</a:t>
            </a:r>
            <a:r>
              <a:rPr lang="zh-CN" altLang="zh-CN" sz="3200" b="1" dirty="0"/>
              <a:t>按指定</a:t>
            </a:r>
            <a:r>
              <a:rPr lang="zh-CN" altLang="en-US" sz="3200" b="1" dirty="0"/>
              <a:t>的</a:t>
            </a:r>
            <a:r>
              <a:rPr lang="zh-CN" altLang="zh-CN" sz="3200" b="1" dirty="0"/>
              <a:t>格式向显示器输出数据</a:t>
            </a:r>
            <a:r>
              <a:rPr lang="zh-CN" altLang="en-US" sz="3200" b="1" dirty="0"/>
              <a:t>。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4C35199-B393-4296-BCEC-DEA3596C50F7}"/>
              </a:ext>
            </a:extLst>
          </p:cNvPr>
          <p:cNvSpPr txBox="1">
            <a:spLocks noChangeArrowheads="1"/>
          </p:cNvSpPr>
          <p:nvPr/>
        </p:nvSpPr>
        <p:spPr>
          <a:xfrm>
            <a:off x="992074" y="512898"/>
            <a:ext cx="8180170" cy="838200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5000"/>
              </a:lnSpc>
              <a:buClr>
                <a:schemeClr val="hlink"/>
              </a:buClr>
            </a:pPr>
            <a:r>
              <a:rPr lang="en-US" altLang="zh-CN" sz="3600" b="1" dirty="0">
                <a:latin typeface="Arial" charset="0"/>
                <a:ea typeface="+mn-ea"/>
                <a:cs typeface="+mn-cs"/>
              </a:rPr>
              <a:t> </a:t>
            </a:r>
            <a:r>
              <a:rPr lang="zh-CN" altLang="en-US" sz="43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标准格式输出函数</a:t>
            </a:r>
            <a:r>
              <a:rPr lang="en-US" altLang="zh-CN" sz="43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sz="4300" b="1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lang="en-US" altLang="zh-CN" sz="43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FE40C7C-3E1B-402F-9604-0D0039A87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835" y="1692859"/>
            <a:ext cx="7974013" cy="53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zh-CN" altLang="en-US" sz="3200" b="1" dirty="0">
                <a:solidFill>
                  <a:srgbClr val="FF0000"/>
                </a:solidFill>
              </a:rPr>
              <a:t>格式：</a:t>
            </a:r>
            <a:r>
              <a:rPr lang="en-US" altLang="zh-CN" sz="3200" b="1" dirty="0" err="1">
                <a:solidFill>
                  <a:srgbClr val="0000FF"/>
                </a:solidFill>
                <a:latin typeface="Times New Roman" pitchFamily="18" charset="0"/>
              </a:rPr>
              <a:t>printf</a:t>
            </a:r>
            <a:r>
              <a:rPr lang="en-US" altLang="zh-CN" sz="3200" b="1" dirty="0">
                <a:latin typeface="Times New Roman" pitchFamily="18" charset="0"/>
              </a:rPr>
              <a:t>(</a:t>
            </a:r>
            <a:r>
              <a:rPr lang="zh-CN" altLang="en-US" sz="3200" b="1" dirty="0">
                <a:latin typeface="Times New Roman" pitchFamily="18" charset="0"/>
              </a:rPr>
              <a:t>格式控制字符串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</a:rPr>
              <a:t>, </a:t>
            </a:r>
            <a:r>
              <a:rPr lang="zh-CN" altLang="en-US" sz="3200" b="1" dirty="0">
                <a:latin typeface="Times New Roman" pitchFamily="18" charset="0"/>
              </a:rPr>
              <a:t>输出项列表</a:t>
            </a:r>
            <a:r>
              <a:rPr lang="en-US" altLang="zh-CN" sz="3200" b="1" dirty="0">
                <a:latin typeface="Times New Roman" pitchFamily="18" charset="0"/>
              </a:rPr>
              <a:t>)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F52025D-F5A9-40EC-BD47-7F7702A75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932" y="2914093"/>
            <a:ext cx="1412864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说明</a:t>
            </a:r>
            <a:r>
              <a:rPr lang="zh-CN" altLang="zh-CN" sz="3200" b="1" dirty="0">
                <a:solidFill>
                  <a:srgbClr val="FF0000"/>
                </a:solidFill>
              </a:rPr>
              <a:t>：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A921BECA-2A67-47FB-8491-C487BD0B5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7335" y="2914093"/>
            <a:ext cx="6774909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buClr>
                <a:srgbClr val="0000FF"/>
              </a:buClr>
              <a:buFont typeface="Wingdings" pitchFamily="2" charset="2"/>
              <a:buChar char="Ø"/>
            </a:pPr>
            <a:r>
              <a:rPr lang="zh-CN" altLang="en-US" sz="3200" b="1" dirty="0"/>
              <a:t> 输出项可以是常量、变量和表达式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E8FEFEDE-11B0-4FA3-A438-CD3A26D54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7151" y="3612048"/>
            <a:ext cx="5976938" cy="2617787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en-US" altLang="zh-CN" sz="3200" dirty="0">
                <a:latin typeface="Times New Roman" pitchFamily="18" charset="0"/>
              </a:rPr>
              <a:t>#include &lt;</a:t>
            </a:r>
            <a:r>
              <a:rPr lang="en-US" altLang="zh-CN" sz="3200" dirty="0" err="1">
                <a:latin typeface="Times New Roman" pitchFamily="18" charset="0"/>
              </a:rPr>
              <a:t>stdio.h</a:t>
            </a:r>
            <a:r>
              <a:rPr lang="en-US" altLang="zh-CN" sz="3200" dirty="0">
                <a:latin typeface="Times New Roman" pitchFamily="18" charset="0"/>
              </a:rPr>
              <a:t>&gt;</a:t>
            </a:r>
          </a:p>
          <a:p>
            <a:r>
              <a:rPr lang="en-US" altLang="zh-CN" sz="3200" dirty="0">
                <a:latin typeface="Times New Roman" pitchFamily="18" charset="0"/>
              </a:rPr>
              <a:t>void main()</a:t>
            </a:r>
          </a:p>
          <a:p>
            <a:r>
              <a:rPr lang="en-US" altLang="zh-CN" sz="3200" dirty="0">
                <a:latin typeface="Times New Roman" pitchFamily="18" charset="0"/>
              </a:rPr>
              <a:t>{  </a:t>
            </a:r>
            <a:r>
              <a:rPr lang="en-US" altLang="zh-CN" sz="3200" dirty="0" err="1">
                <a:latin typeface="Times New Roman" pitchFamily="18" charset="0"/>
              </a:rPr>
              <a:t>int</a:t>
            </a:r>
            <a:r>
              <a:rPr lang="en-US" altLang="zh-CN" sz="3200" dirty="0">
                <a:latin typeface="Times New Roman" pitchFamily="18" charset="0"/>
              </a:rPr>
              <a:t> a=2;</a:t>
            </a:r>
          </a:p>
          <a:p>
            <a:r>
              <a:rPr lang="en-US" altLang="zh-CN" sz="3200" dirty="0">
                <a:latin typeface="Times New Roman" pitchFamily="18" charset="0"/>
              </a:rPr>
              <a:t>    </a:t>
            </a:r>
            <a:r>
              <a:rPr lang="en-US" altLang="zh-CN" sz="3200" dirty="0" err="1">
                <a:latin typeface="Times New Roman" pitchFamily="18" charset="0"/>
              </a:rPr>
              <a:t>printf</a:t>
            </a:r>
            <a:r>
              <a:rPr lang="en-US" altLang="zh-CN" sz="3200" dirty="0">
                <a:latin typeface="Times New Roman" pitchFamily="18" charset="0"/>
              </a:rPr>
              <a:t>("%</a:t>
            </a:r>
            <a:r>
              <a:rPr lang="en-US" altLang="zh-CN" sz="3200" dirty="0" err="1">
                <a:latin typeface="Times New Roman" pitchFamily="18" charset="0"/>
              </a:rPr>
              <a:t>d,%d,%d</a:t>
            </a:r>
            <a:r>
              <a:rPr lang="en-US" altLang="zh-CN" sz="3200" dirty="0">
                <a:latin typeface="Times New Roman" pitchFamily="18" charset="0"/>
              </a:rPr>
              <a:t>" </a:t>
            </a:r>
            <a:r>
              <a:rPr lang="en-US" altLang="zh-CN" sz="3600" dirty="0">
                <a:solidFill>
                  <a:srgbClr val="FF0000"/>
                </a:solidFill>
                <a:latin typeface="Times New Roman" pitchFamily="18" charset="0"/>
              </a:rPr>
              <a:t>,</a:t>
            </a:r>
            <a:r>
              <a:rPr lang="en-US" altLang="zh-CN" sz="3200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CN" sz="3200" dirty="0">
                <a:latin typeface="Times New Roman" pitchFamily="18" charset="0"/>
              </a:rPr>
              <a:t>3,a,a+3);</a:t>
            </a:r>
          </a:p>
          <a:p>
            <a:r>
              <a:rPr lang="en-US" altLang="zh-CN" sz="3200" dirty="0">
                <a:latin typeface="Times New Roman" pitchFamily="18" charset="0"/>
              </a:rPr>
              <a:t>}</a:t>
            </a:r>
          </a:p>
        </p:txBody>
      </p:sp>
      <p:cxnSp>
        <p:nvCxnSpPr>
          <p:cNvPr id="9" name="直接箭头连接符 8"/>
          <p:cNvCxnSpPr/>
          <p:nvPr/>
        </p:nvCxnSpPr>
        <p:spPr>
          <a:xfrm>
            <a:off x="6621517" y="2183273"/>
            <a:ext cx="15766" cy="331200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3719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 autoUpdateAnimBg="0"/>
      <p:bldP spid="5" grpId="0" autoUpdateAnimBg="0"/>
      <p:bldP spid="6" grpId="0"/>
      <p:bldP spid="7" grpId="0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title"/>
          </p:nvPr>
        </p:nvSpPr>
        <p:spPr>
          <a:xfrm>
            <a:off x="991715" y="409080"/>
            <a:ext cx="7974011" cy="838200"/>
          </a:xfr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25000"/>
              </a:lnSpc>
              <a:buClr>
                <a:schemeClr val="hlink"/>
              </a:buClr>
            </a:pPr>
            <a:r>
              <a:rPr lang="en-US" altLang="zh-CN" sz="3600" b="1" dirty="0">
                <a:latin typeface="Arial" charset="0"/>
                <a:ea typeface="+mn-ea"/>
                <a:cs typeface="+mn-cs"/>
              </a:rPr>
              <a:t> </a:t>
            </a:r>
            <a:r>
              <a:rPr lang="zh-CN" altLang="en-US" sz="43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标准格式输出函数</a:t>
            </a:r>
            <a:r>
              <a:rPr lang="en-US" altLang="zh-CN" sz="43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sz="4300" b="1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lang="en-US" altLang="zh-CN" sz="43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991714" y="1484313"/>
            <a:ext cx="7974012" cy="53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zh-CN" altLang="en-US" sz="3200" b="1" dirty="0">
                <a:solidFill>
                  <a:srgbClr val="FF0000"/>
                </a:solidFill>
              </a:rPr>
              <a:t>格式：</a:t>
            </a:r>
            <a:r>
              <a:rPr lang="en-US" altLang="zh-CN" sz="3200" b="1" dirty="0" err="1">
                <a:solidFill>
                  <a:srgbClr val="0000FF"/>
                </a:solidFill>
                <a:latin typeface="Times New Roman" pitchFamily="18" charset="0"/>
              </a:rPr>
              <a:t>printf</a:t>
            </a:r>
            <a:r>
              <a:rPr lang="en-US" altLang="zh-CN" sz="3200" b="1" dirty="0">
                <a:latin typeface="Times New Roman" pitchFamily="18" charset="0"/>
              </a:rPr>
              <a:t>(</a:t>
            </a:r>
            <a:r>
              <a:rPr lang="zh-CN" altLang="en-US" sz="3200" b="1" dirty="0">
                <a:latin typeface="Times New Roman" pitchFamily="18" charset="0"/>
              </a:rPr>
              <a:t>格式控制字符串，输出项列表</a:t>
            </a:r>
            <a:r>
              <a:rPr lang="en-US" altLang="zh-CN" sz="3200" b="1" dirty="0">
                <a:latin typeface="Times New Roman" pitchFamily="18" charset="0"/>
              </a:rPr>
              <a:t>)</a:t>
            </a:r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1008383" y="2118689"/>
            <a:ext cx="1412864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说明</a:t>
            </a:r>
            <a:r>
              <a:rPr lang="zh-CN" altLang="zh-CN" sz="3200" b="1" dirty="0">
                <a:solidFill>
                  <a:srgbClr val="FF0000"/>
                </a:solidFill>
              </a:rPr>
              <a:t>：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390153" name="Rectangle 9"/>
          <p:cNvSpPr>
            <a:spLocks noChangeArrowheads="1"/>
          </p:cNvSpPr>
          <p:nvPr/>
        </p:nvSpPr>
        <p:spPr bwMode="auto">
          <a:xfrm>
            <a:off x="2192959" y="2035748"/>
            <a:ext cx="3491959" cy="83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50000"/>
              </a:lnSpc>
              <a:buClr>
                <a:srgbClr val="0000FF"/>
              </a:buClr>
              <a:buFont typeface="Wingdings" pitchFamily="2" charset="2"/>
              <a:buChar char="Ø"/>
            </a:pPr>
            <a:r>
              <a:rPr lang="zh-CN" altLang="en-US" sz="3200" b="1" dirty="0"/>
              <a:t> 格式控制字符串</a:t>
            </a:r>
          </a:p>
        </p:txBody>
      </p:sp>
      <p:sp>
        <p:nvSpPr>
          <p:cNvPr id="390154" name="Rectangle 10"/>
          <p:cNvSpPr>
            <a:spLocks noChangeArrowheads="1"/>
          </p:cNvSpPr>
          <p:nvPr/>
        </p:nvSpPr>
        <p:spPr bwMode="auto">
          <a:xfrm>
            <a:off x="3171875" y="5605748"/>
            <a:ext cx="5832475" cy="648512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en-US" altLang="zh-CN" sz="3600" dirty="0" err="1">
                <a:latin typeface="Times New Roman" pitchFamily="18" charset="0"/>
              </a:rPr>
              <a:t>printf</a:t>
            </a:r>
            <a:r>
              <a:rPr lang="en-US" altLang="zh-CN" sz="3600" dirty="0">
                <a:latin typeface="Times New Roman" pitchFamily="18" charset="0"/>
              </a:rPr>
              <a:t>("x=</a:t>
            </a:r>
            <a:r>
              <a:rPr lang="en-US" altLang="zh-CN" sz="3600" dirty="0">
                <a:solidFill>
                  <a:srgbClr val="0000FF"/>
                </a:solidFill>
                <a:latin typeface="Times New Roman" pitchFamily="18" charset="0"/>
              </a:rPr>
              <a:t>%d</a:t>
            </a:r>
            <a:r>
              <a:rPr lang="en-US" altLang="zh-CN" sz="3600" dirty="0">
                <a:latin typeface="Times New Roman" pitchFamily="18" charset="0"/>
              </a:rPr>
              <a:t>, y=</a:t>
            </a:r>
            <a:r>
              <a:rPr lang="en-US" altLang="zh-CN" sz="3600" dirty="0">
                <a:solidFill>
                  <a:srgbClr val="0000FF"/>
                </a:solidFill>
                <a:latin typeface="Times New Roman" pitchFamily="18" charset="0"/>
              </a:rPr>
              <a:t>%f</a:t>
            </a:r>
            <a:r>
              <a:rPr lang="en-US" altLang="zh-CN" sz="3600" dirty="0">
                <a:solidFill>
                  <a:srgbClr val="FF0000"/>
                </a:solidFill>
                <a:latin typeface="Times New Roman" pitchFamily="18" charset="0"/>
              </a:rPr>
              <a:t>\n</a:t>
            </a:r>
            <a:r>
              <a:rPr lang="en-US" altLang="zh-CN" sz="3600" dirty="0">
                <a:latin typeface="Times New Roman" pitchFamily="18" charset="0"/>
              </a:rPr>
              <a:t>"  </a:t>
            </a:r>
            <a:r>
              <a:rPr lang="en-US" altLang="zh-CN" sz="3600" dirty="0">
                <a:solidFill>
                  <a:srgbClr val="FF0000"/>
                </a:solidFill>
                <a:latin typeface="Times New Roman" pitchFamily="18" charset="0"/>
              </a:rPr>
              <a:t>,</a:t>
            </a:r>
            <a:r>
              <a:rPr lang="en-US" altLang="zh-CN" sz="3600" dirty="0">
                <a:latin typeface="Times New Roman" pitchFamily="18" charset="0"/>
              </a:rPr>
              <a:t>  x, y);</a:t>
            </a:r>
          </a:p>
        </p:txBody>
      </p:sp>
      <p:sp>
        <p:nvSpPr>
          <p:cNvPr id="11" name="Rectangle 1026">
            <a:extLst>
              <a:ext uri="{FF2B5EF4-FFF2-40B4-BE49-F238E27FC236}">
                <a16:creationId xmlns:a16="http://schemas.microsoft.com/office/drawing/2014/main" id="{82A65BF4-9C6C-49F4-85CB-82DD73549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0337" y="3017433"/>
            <a:ext cx="27336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5000"/>
              </a:spcBef>
            </a:pPr>
            <a:r>
              <a:rPr lang="zh-CN" altLang="en-US" sz="3200">
                <a:latin typeface="楷体_GB2312" pitchFamily="49" charset="-122"/>
              </a:rPr>
              <a:t>格式字符</a:t>
            </a:r>
            <a:r>
              <a:rPr lang="zh-CN" altLang="en-US" sz="3200" b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endParaRPr lang="zh-CN" altLang="zh-CN" sz="3200" b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1027">
            <a:extLst>
              <a:ext uri="{FF2B5EF4-FFF2-40B4-BE49-F238E27FC236}">
                <a16:creationId xmlns:a16="http://schemas.microsoft.com/office/drawing/2014/main" id="{EC40238F-A352-42B5-B56A-8A281123C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075" y="3231746"/>
            <a:ext cx="596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200">
                <a:latin typeface="楷体_GB2312" pitchFamily="49" charset="-122"/>
              </a:rPr>
              <a:t>％</a:t>
            </a:r>
          </a:p>
        </p:txBody>
      </p:sp>
      <p:sp>
        <p:nvSpPr>
          <p:cNvPr id="13" name="Rectangle 1028">
            <a:extLst>
              <a:ext uri="{FF2B5EF4-FFF2-40B4-BE49-F238E27FC236}">
                <a16:creationId xmlns:a16="http://schemas.microsoft.com/office/drawing/2014/main" id="{3C8874E6-27EB-49B4-BC79-CBDA419E0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012" y="3147608"/>
            <a:ext cx="2659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chemeClr val="hlink"/>
                </a:solidFill>
                <a:latin typeface="楷体_GB2312" pitchFamily="49" charset="-122"/>
              </a:rPr>
              <a:t>[</a:t>
            </a:r>
            <a:r>
              <a:rPr lang="en-US" altLang="zh-CN" sz="3200">
                <a:latin typeface="楷体_GB2312" pitchFamily="49" charset="-122"/>
              </a:rPr>
              <a:t> </a:t>
            </a:r>
            <a:r>
              <a:rPr lang="zh-CN" altLang="en-US" sz="3200">
                <a:latin typeface="楷体_GB2312" pitchFamily="49" charset="-122"/>
              </a:rPr>
              <a:t>格式修饰 </a:t>
            </a:r>
            <a:r>
              <a:rPr lang="en-US" altLang="zh-CN" sz="3200">
                <a:solidFill>
                  <a:schemeClr val="hlink"/>
                </a:solidFill>
                <a:latin typeface="楷体_GB2312" pitchFamily="49" charset="-122"/>
              </a:rPr>
              <a:t>]</a:t>
            </a:r>
          </a:p>
        </p:txBody>
      </p:sp>
      <p:sp>
        <p:nvSpPr>
          <p:cNvPr id="14" name="AutoShape 1029">
            <a:extLst>
              <a:ext uri="{FF2B5EF4-FFF2-40B4-BE49-F238E27FC236}">
                <a16:creationId xmlns:a16="http://schemas.microsoft.com/office/drawing/2014/main" id="{151A50E8-E06F-4E9C-B47B-51B4ABC46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387" y="4160433"/>
            <a:ext cx="2962275" cy="1071563"/>
          </a:xfrm>
          <a:prstGeom prst="wedgeRectCallout">
            <a:avLst>
              <a:gd name="adj1" fmla="val -5648"/>
              <a:gd name="adj2" fmla="val -86343"/>
            </a:avLst>
          </a:prstGeom>
          <a:solidFill>
            <a:srgbClr val="FFFF99"/>
          </a:solidFill>
          <a:ln w="38100">
            <a:solidFill>
              <a:srgbClr val="FF9298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33CC"/>
                </a:solidFill>
                <a:latin typeface="楷体_GB2312" pitchFamily="49" charset="-122"/>
              </a:rPr>
              <a:t>格式说明总是由</a:t>
            </a:r>
            <a:r>
              <a:rPr lang="zh-CN" altLang="en-US" sz="2800">
                <a:solidFill>
                  <a:srgbClr val="0033CC"/>
                </a:solidFill>
              </a:rPr>
              <a:t>“</a:t>
            </a:r>
            <a:r>
              <a:rPr lang="zh-CN" altLang="en-US" sz="2800">
                <a:solidFill>
                  <a:srgbClr val="0033CC"/>
                </a:solidFill>
                <a:latin typeface="楷体_GB2312" pitchFamily="49" charset="-122"/>
              </a:rPr>
              <a:t>％</a:t>
            </a:r>
            <a:r>
              <a:rPr lang="zh-CN" altLang="en-US" sz="2800">
                <a:solidFill>
                  <a:srgbClr val="0033CC"/>
                </a:solidFill>
              </a:rPr>
              <a:t>”</a:t>
            </a:r>
            <a:r>
              <a:rPr lang="zh-CN" altLang="en-US" sz="2800">
                <a:solidFill>
                  <a:srgbClr val="0033CC"/>
                </a:solidFill>
                <a:latin typeface="楷体_GB2312" pitchFamily="49" charset="-122"/>
              </a:rPr>
              <a:t>字符开始</a:t>
            </a:r>
          </a:p>
        </p:txBody>
      </p:sp>
      <p:sp>
        <p:nvSpPr>
          <p:cNvPr id="15" name="AutoShape 1030">
            <a:extLst>
              <a:ext uri="{FF2B5EF4-FFF2-40B4-BE49-F238E27FC236}">
                <a16:creationId xmlns:a16="http://schemas.microsoft.com/office/drawing/2014/main" id="{25D8EEC3-D5FF-4FAD-BA02-F4D8D170B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200" y="4160433"/>
            <a:ext cx="3514725" cy="985838"/>
          </a:xfrm>
          <a:prstGeom prst="wedgeRectCallout">
            <a:avLst>
              <a:gd name="adj1" fmla="val -3852"/>
              <a:gd name="adj2" fmla="val -88958"/>
            </a:avLst>
          </a:prstGeom>
          <a:solidFill>
            <a:srgbClr val="FFFF99"/>
          </a:solidFill>
          <a:ln w="38100">
            <a:solidFill>
              <a:srgbClr val="FF9298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800">
                <a:solidFill>
                  <a:srgbClr val="0033CC"/>
                </a:solidFill>
              </a:rPr>
              <a:t>标志、类型修饰、输出最小宽度和精度</a:t>
            </a:r>
          </a:p>
        </p:txBody>
      </p:sp>
      <p:sp>
        <p:nvSpPr>
          <p:cNvPr id="16" name="AutoShape 1031">
            <a:extLst>
              <a:ext uri="{FF2B5EF4-FFF2-40B4-BE49-F238E27FC236}">
                <a16:creationId xmlns:a16="http://schemas.microsoft.com/office/drawing/2014/main" id="{E6B99496-8782-41D9-995C-BBE0FAD72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8112" y="4160433"/>
            <a:ext cx="1771650" cy="928688"/>
          </a:xfrm>
          <a:prstGeom prst="wedgeRectCallout">
            <a:avLst>
              <a:gd name="adj1" fmla="val -48560"/>
              <a:gd name="adj2" fmla="val -111699"/>
            </a:avLst>
          </a:prstGeom>
          <a:solidFill>
            <a:srgbClr val="FFFF99"/>
          </a:solidFill>
          <a:ln w="38100">
            <a:solidFill>
              <a:srgbClr val="FF9298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800">
                <a:solidFill>
                  <a:srgbClr val="0033CC"/>
                </a:solidFill>
              </a:rPr>
              <a:t>说明输出项类型</a:t>
            </a:r>
          </a:p>
        </p:txBody>
      </p:sp>
    </p:spTree>
    <p:extLst>
      <p:ext uri="{BB962C8B-B14F-4D97-AF65-F5344CB8AC3E}">
        <p14:creationId xmlns:p14="http://schemas.microsoft.com/office/powerpoint/2010/main" val="2042142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0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90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3" grpId="0"/>
      <p:bldP spid="12294" grpId="0"/>
      <p:bldP spid="390153" grpId="0" build="p"/>
      <p:bldP spid="390154" grpId="0" animBg="1"/>
      <p:bldP spid="11" grpId="0" build="p" autoUpdateAnimBg="0"/>
      <p:bldP spid="12" grpId="0" build="p" autoUpdateAnimBg="0"/>
      <p:bldP spid="13" grpId="0" build="p" autoUpdateAnimBg="0"/>
      <p:bldP spid="14" grpId="0" animBg="1" autoUpdateAnimBg="0"/>
      <p:bldP spid="15" grpId="0" animBg="1" autoUpdateAnimBg="0"/>
      <p:bldP spid="16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8C062F-9844-4D01-8944-18940F6246B2}" type="slidenum">
              <a:rPr lang="en-US" altLang="zh-CN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14339" name="Rectangle 41"/>
          <p:cNvSpPr>
            <a:spLocks noChangeArrowheads="1"/>
          </p:cNvSpPr>
          <p:nvPr/>
        </p:nvSpPr>
        <p:spPr bwMode="auto">
          <a:xfrm>
            <a:off x="1882804" y="464682"/>
            <a:ext cx="774059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 fontScale="92500"/>
          </a:bodyPr>
          <a:lstStyle/>
          <a:p>
            <a:pPr>
              <a:lnSpc>
                <a:spcPct val="125000"/>
              </a:lnSpc>
              <a:spcBef>
                <a:spcPct val="0"/>
              </a:spcBef>
              <a:buClr>
                <a:schemeClr val="hlink"/>
              </a:buClr>
            </a:pPr>
            <a:r>
              <a:rPr lang="en-US" altLang="zh-CN" sz="3600" b="1" dirty="0">
                <a:latin typeface="Arial" charset="0"/>
              </a:rPr>
              <a:t> </a:t>
            </a:r>
            <a:r>
              <a:rPr lang="zh-CN" altLang="en-US" sz="43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标准格式输出函数</a:t>
            </a:r>
            <a:r>
              <a:rPr lang="en-US" altLang="zh-CN" sz="43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sz="4300" b="1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lang="en-US" altLang="zh-CN" sz="43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</a:t>
            </a:r>
            <a:endParaRPr lang="en-US" altLang="zh-CN" sz="43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362540" name="Group 44"/>
          <p:cNvGrpSpPr>
            <a:grpSpLocks/>
          </p:cNvGrpSpPr>
          <p:nvPr/>
        </p:nvGrpSpPr>
        <p:grpSpPr bwMode="auto">
          <a:xfrm>
            <a:off x="2309814" y="1700216"/>
            <a:ext cx="5380038" cy="649288"/>
            <a:chOff x="474" y="1132"/>
            <a:chExt cx="3389" cy="409"/>
          </a:xfrm>
        </p:grpSpPr>
        <p:sp>
          <p:nvSpPr>
            <p:cNvPr id="14377" name="Text Box 3"/>
            <p:cNvSpPr txBox="1">
              <a:spLocks noChangeArrowheads="1"/>
            </p:cNvSpPr>
            <p:nvPr/>
          </p:nvSpPr>
          <p:spPr bwMode="auto">
            <a:xfrm>
              <a:off x="474" y="1132"/>
              <a:ext cx="405" cy="4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sz="1800" dirty="0">
                  <a:latin typeface="Times New Roman" pitchFamily="18" charset="0"/>
                  <a:ea typeface="+mn-ea"/>
                  <a:cs typeface="Times New Roman" pitchFamily="18" charset="0"/>
                </a:rPr>
                <a:t>格式</a:t>
              </a:r>
            </a:p>
            <a:p>
              <a:pPr algn="ctr" eaLnBrk="1" hangingPunct="1"/>
              <a:r>
                <a:rPr lang="zh-CN" altLang="en-US" sz="1800" dirty="0">
                  <a:latin typeface="Times New Roman" pitchFamily="18" charset="0"/>
                  <a:ea typeface="+mn-ea"/>
                  <a:cs typeface="Times New Roman" pitchFamily="18" charset="0"/>
                </a:rPr>
                <a:t>字符</a:t>
              </a:r>
            </a:p>
          </p:txBody>
        </p:sp>
        <p:sp>
          <p:nvSpPr>
            <p:cNvPr id="14378" name="Text Box 4"/>
            <p:cNvSpPr txBox="1">
              <a:spLocks noChangeArrowheads="1"/>
            </p:cNvSpPr>
            <p:nvPr/>
          </p:nvSpPr>
          <p:spPr bwMode="auto">
            <a:xfrm>
              <a:off x="2109" y="1207"/>
              <a:ext cx="1754" cy="2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65000"/>
                </a:lnSpc>
              </a:pPr>
              <a:r>
                <a:rPr lang="zh-CN" altLang="en-US" sz="2800">
                  <a:latin typeface="Times New Roman" pitchFamily="18" charset="0"/>
                  <a:ea typeface="+mn-ea"/>
                  <a:cs typeface="Times New Roman" pitchFamily="18" charset="0"/>
                </a:rPr>
                <a:t>功                     能</a:t>
              </a:r>
            </a:p>
          </p:txBody>
        </p:sp>
      </p:grpSp>
      <p:grpSp>
        <p:nvGrpSpPr>
          <p:cNvPr id="362541" name="Group 45"/>
          <p:cNvGrpSpPr>
            <a:grpSpLocks/>
          </p:cNvGrpSpPr>
          <p:nvPr/>
        </p:nvGrpSpPr>
        <p:grpSpPr bwMode="auto">
          <a:xfrm>
            <a:off x="2182813" y="2287264"/>
            <a:ext cx="4443412" cy="550863"/>
            <a:chOff x="415" y="1465"/>
            <a:chExt cx="2799" cy="347"/>
          </a:xfrm>
        </p:grpSpPr>
        <p:sp>
          <p:nvSpPr>
            <p:cNvPr id="14375" name="Text Box 6"/>
            <p:cNvSpPr txBox="1">
              <a:spLocks noChangeArrowheads="1"/>
            </p:cNvSpPr>
            <p:nvPr/>
          </p:nvSpPr>
          <p:spPr bwMode="auto">
            <a:xfrm>
              <a:off x="415" y="1465"/>
              <a:ext cx="522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%c</a:t>
              </a:r>
            </a:p>
          </p:txBody>
        </p:sp>
        <p:sp>
          <p:nvSpPr>
            <p:cNvPr id="14376" name="Text Box 7"/>
            <p:cNvSpPr txBox="1">
              <a:spLocks noChangeArrowheads="1"/>
            </p:cNvSpPr>
            <p:nvPr/>
          </p:nvSpPr>
          <p:spPr bwMode="auto">
            <a:xfrm>
              <a:off x="1002" y="1481"/>
              <a:ext cx="2212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dirty="0">
                  <a:solidFill>
                    <a:srgbClr val="FF0000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输出一个字符</a:t>
              </a:r>
            </a:p>
          </p:txBody>
        </p:sp>
      </p:grpSp>
      <p:grpSp>
        <p:nvGrpSpPr>
          <p:cNvPr id="362539" name="Group 43"/>
          <p:cNvGrpSpPr>
            <a:grpSpLocks/>
          </p:cNvGrpSpPr>
          <p:nvPr/>
        </p:nvGrpSpPr>
        <p:grpSpPr bwMode="auto">
          <a:xfrm>
            <a:off x="2057400" y="1648461"/>
            <a:ext cx="8142288" cy="4647564"/>
            <a:chOff x="336" y="1080"/>
            <a:chExt cx="4944" cy="2940"/>
          </a:xfrm>
        </p:grpSpPr>
        <p:sp>
          <p:nvSpPr>
            <p:cNvPr id="14364" name="Line 15"/>
            <p:cNvSpPr>
              <a:spLocks noChangeShapeType="1"/>
            </p:cNvSpPr>
            <p:nvPr/>
          </p:nvSpPr>
          <p:spPr bwMode="auto">
            <a:xfrm>
              <a:off x="1020" y="1080"/>
              <a:ext cx="1" cy="294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sz="280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4365" name="Group 16"/>
            <p:cNvGrpSpPr>
              <a:grpSpLocks/>
            </p:cNvGrpSpPr>
            <p:nvPr/>
          </p:nvGrpSpPr>
          <p:grpSpPr bwMode="auto">
            <a:xfrm>
              <a:off x="336" y="1080"/>
              <a:ext cx="4944" cy="2940"/>
              <a:chOff x="336" y="1080"/>
              <a:chExt cx="5088" cy="2304"/>
            </a:xfrm>
          </p:grpSpPr>
          <p:sp>
            <p:nvSpPr>
              <p:cNvPr id="14366" name="Rectangle 17"/>
              <p:cNvSpPr>
                <a:spLocks noChangeArrowheads="1"/>
              </p:cNvSpPr>
              <p:nvPr/>
            </p:nvSpPr>
            <p:spPr bwMode="auto">
              <a:xfrm>
                <a:off x="341" y="1080"/>
                <a:ext cx="5080" cy="2304"/>
              </a:xfrm>
              <a:prstGeom prst="rect">
                <a:avLst/>
              </a:prstGeom>
              <a:noFill/>
              <a:ln w="3810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algn="ctr" eaLnBrk="1" hangingPunct="1"/>
                <a:endParaRPr lang="zh-CN" altLang="zh-CN" sz="28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367" name="Line 18"/>
              <p:cNvSpPr>
                <a:spLocks noChangeShapeType="1"/>
              </p:cNvSpPr>
              <p:nvPr/>
            </p:nvSpPr>
            <p:spPr bwMode="auto">
              <a:xfrm flipV="1">
                <a:off x="336" y="1416"/>
                <a:ext cx="5088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 sz="28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368" name="Line 19"/>
              <p:cNvSpPr>
                <a:spLocks noChangeShapeType="1"/>
              </p:cNvSpPr>
              <p:nvPr/>
            </p:nvSpPr>
            <p:spPr bwMode="auto">
              <a:xfrm>
                <a:off x="336" y="1648"/>
                <a:ext cx="5066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 sz="28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369" name="Line 20"/>
              <p:cNvSpPr>
                <a:spLocks noChangeShapeType="1"/>
              </p:cNvSpPr>
              <p:nvPr/>
            </p:nvSpPr>
            <p:spPr bwMode="auto">
              <a:xfrm>
                <a:off x="336" y="2152"/>
                <a:ext cx="5066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 sz="28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370" name="Line 21"/>
              <p:cNvSpPr>
                <a:spLocks noChangeShapeType="1"/>
              </p:cNvSpPr>
              <p:nvPr/>
            </p:nvSpPr>
            <p:spPr bwMode="auto">
              <a:xfrm>
                <a:off x="344" y="2383"/>
                <a:ext cx="5066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 sz="28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371" name="Line 22"/>
              <p:cNvSpPr>
                <a:spLocks noChangeShapeType="1"/>
              </p:cNvSpPr>
              <p:nvPr/>
            </p:nvSpPr>
            <p:spPr bwMode="auto">
              <a:xfrm>
                <a:off x="336" y="1904"/>
                <a:ext cx="5086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 sz="28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372" name="Line 23"/>
              <p:cNvSpPr>
                <a:spLocks noChangeShapeType="1"/>
              </p:cNvSpPr>
              <p:nvPr/>
            </p:nvSpPr>
            <p:spPr bwMode="auto">
              <a:xfrm>
                <a:off x="358" y="2607"/>
                <a:ext cx="5066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 sz="28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373" name="Line 24"/>
              <p:cNvSpPr>
                <a:spLocks noChangeShapeType="1"/>
              </p:cNvSpPr>
              <p:nvPr/>
            </p:nvSpPr>
            <p:spPr bwMode="auto">
              <a:xfrm>
                <a:off x="336" y="2856"/>
                <a:ext cx="5066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 sz="28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374" name="Line 25"/>
              <p:cNvSpPr>
                <a:spLocks noChangeShapeType="1"/>
              </p:cNvSpPr>
              <p:nvPr/>
            </p:nvSpPr>
            <p:spPr bwMode="auto">
              <a:xfrm>
                <a:off x="336" y="3136"/>
                <a:ext cx="5066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 sz="280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362549" name="Group 53"/>
          <p:cNvGrpSpPr>
            <a:grpSpLocks/>
          </p:cNvGrpSpPr>
          <p:nvPr/>
        </p:nvGrpSpPr>
        <p:grpSpPr bwMode="auto">
          <a:xfrm>
            <a:off x="2119422" y="4717506"/>
            <a:ext cx="6781800" cy="525463"/>
            <a:chOff x="377" y="3657"/>
            <a:chExt cx="4272" cy="331"/>
          </a:xfrm>
        </p:grpSpPr>
        <p:sp>
          <p:nvSpPr>
            <p:cNvPr id="14362" name="Text Box 27"/>
            <p:cNvSpPr txBox="1">
              <a:spLocks noChangeArrowheads="1"/>
            </p:cNvSpPr>
            <p:nvPr/>
          </p:nvSpPr>
          <p:spPr bwMode="auto">
            <a:xfrm>
              <a:off x="377" y="3657"/>
              <a:ext cx="541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latin typeface="Times New Roman" pitchFamily="18" charset="0"/>
                  <a:ea typeface="+mn-ea"/>
                  <a:cs typeface="Times New Roman" pitchFamily="18" charset="0"/>
                </a:rPr>
                <a:t>%e</a:t>
              </a:r>
            </a:p>
          </p:txBody>
        </p:sp>
        <p:sp>
          <p:nvSpPr>
            <p:cNvPr id="14363" name="Text Box 28"/>
            <p:cNvSpPr txBox="1">
              <a:spLocks noChangeArrowheads="1"/>
            </p:cNvSpPr>
            <p:nvPr/>
          </p:nvSpPr>
          <p:spPr bwMode="auto">
            <a:xfrm>
              <a:off x="1018" y="3657"/>
              <a:ext cx="3631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zh-CN" sz="2800" dirty="0">
                  <a:latin typeface="Times New Roman" pitchFamily="18" charset="0"/>
                  <a:ea typeface="+mn-ea"/>
                  <a:cs typeface="Times New Roman" pitchFamily="18" charset="0"/>
                </a:rPr>
                <a:t>输出</a:t>
              </a:r>
              <a:r>
                <a:rPr lang="zh-CN" altLang="en-US" sz="2800" dirty="0">
                  <a:latin typeface="Times New Roman" pitchFamily="18" charset="0"/>
                  <a:ea typeface="+mn-ea"/>
                  <a:cs typeface="Times New Roman" pitchFamily="18" charset="0"/>
                </a:rPr>
                <a:t>一个</a:t>
              </a:r>
              <a:r>
                <a:rPr lang="zh-CN" altLang="zh-CN" sz="2800" dirty="0">
                  <a:latin typeface="Times New Roman" pitchFamily="18" charset="0"/>
                  <a:ea typeface="+mn-ea"/>
                  <a:cs typeface="Times New Roman" pitchFamily="18" charset="0"/>
                </a:rPr>
                <a:t>指数形式的实数</a:t>
              </a:r>
              <a:endParaRPr lang="zh-CN" altLang="en-US" sz="2800" dirty="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grpSp>
        <p:nvGrpSpPr>
          <p:cNvPr id="362548" name="Group 52"/>
          <p:cNvGrpSpPr>
            <a:grpSpLocks/>
          </p:cNvGrpSpPr>
          <p:nvPr/>
        </p:nvGrpSpPr>
        <p:grpSpPr bwMode="auto">
          <a:xfrm>
            <a:off x="2101850" y="3703638"/>
            <a:ext cx="6273800" cy="538162"/>
            <a:chOff x="364" y="2387"/>
            <a:chExt cx="3952" cy="339"/>
          </a:xfrm>
        </p:grpSpPr>
        <p:sp>
          <p:nvSpPr>
            <p:cNvPr id="14360" name="Text Box 30"/>
            <p:cNvSpPr txBox="1">
              <a:spLocks noChangeArrowheads="1"/>
            </p:cNvSpPr>
            <p:nvPr/>
          </p:nvSpPr>
          <p:spPr bwMode="auto">
            <a:xfrm>
              <a:off x="364" y="2395"/>
              <a:ext cx="528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latin typeface="Times New Roman" pitchFamily="18" charset="0"/>
                  <a:ea typeface="+mn-ea"/>
                  <a:cs typeface="Times New Roman" pitchFamily="18" charset="0"/>
                </a:rPr>
                <a:t>%u</a:t>
              </a:r>
            </a:p>
          </p:txBody>
        </p:sp>
        <p:sp>
          <p:nvSpPr>
            <p:cNvPr id="14361" name="Text Box 31"/>
            <p:cNvSpPr txBox="1">
              <a:spLocks noChangeArrowheads="1"/>
            </p:cNvSpPr>
            <p:nvPr/>
          </p:nvSpPr>
          <p:spPr bwMode="auto">
            <a:xfrm>
              <a:off x="1012" y="2387"/>
              <a:ext cx="3304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zh-CN" sz="2800">
                  <a:latin typeface="Times New Roman" pitchFamily="18" charset="0"/>
                  <a:ea typeface="+mn-ea"/>
                  <a:cs typeface="Times New Roman" pitchFamily="18" charset="0"/>
                </a:rPr>
                <a:t>输出</a:t>
              </a:r>
              <a:r>
                <a:rPr lang="zh-CN" altLang="en-US" sz="2800">
                  <a:latin typeface="Times New Roman" pitchFamily="18" charset="0"/>
                  <a:ea typeface="+mn-ea"/>
                  <a:cs typeface="Times New Roman" pitchFamily="18" charset="0"/>
                </a:rPr>
                <a:t>一个十进制无符号整数</a:t>
              </a:r>
              <a:endParaRPr lang="zh-CN" altLang="en-US" sz="2800">
                <a:solidFill>
                  <a:srgbClr val="FF5555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grpSp>
        <p:nvGrpSpPr>
          <p:cNvPr id="362542" name="Group 46"/>
          <p:cNvGrpSpPr>
            <a:grpSpLocks/>
          </p:cNvGrpSpPr>
          <p:nvPr/>
        </p:nvGrpSpPr>
        <p:grpSpPr bwMode="auto">
          <a:xfrm>
            <a:off x="2208214" y="2728913"/>
            <a:ext cx="4941887" cy="569912"/>
            <a:chOff x="431" y="1773"/>
            <a:chExt cx="3113" cy="359"/>
          </a:xfrm>
        </p:grpSpPr>
        <p:sp>
          <p:nvSpPr>
            <p:cNvPr id="14358" name="Text Box 39"/>
            <p:cNvSpPr txBox="1">
              <a:spLocks noChangeArrowheads="1"/>
            </p:cNvSpPr>
            <p:nvPr/>
          </p:nvSpPr>
          <p:spPr bwMode="auto">
            <a:xfrm>
              <a:off x="431" y="1801"/>
              <a:ext cx="391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latin typeface="Times New Roman" pitchFamily="18" charset="0"/>
                  <a:ea typeface="+mn-ea"/>
                  <a:cs typeface="Times New Roman" pitchFamily="18" charset="0"/>
                </a:rPr>
                <a:t>%s</a:t>
              </a:r>
            </a:p>
          </p:txBody>
        </p:sp>
        <p:sp>
          <p:nvSpPr>
            <p:cNvPr id="14359" name="Text Box 40"/>
            <p:cNvSpPr txBox="1">
              <a:spLocks noChangeArrowheads="1"/>
            </p:cNvSpPr>
            <p:nvPr/>
          </p:nvSpPr>
          <p:spPr bwMode="auto">
            <a:xfrm>
              <a:off x="1005" y="1773"/>
              <a:ext cx="2539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zh-CN" sz="2800">
                  <a:latin typeface="Times New Roman" pitchFamily="18" charset="0"/>
                  <a:ea typeface="+mn-ea"/>
                  <a:cs typeface="Times New Roman" pitchFamily="18" charset="0"/>
                </a:rPr>
                <a:t>输出一个</a:t>
              </a:r>
              <a:r>
                <a:rPr lang="zh-CN" altLang="en-US" sz="2800">
                  <a:latin typeface="Times New Roman" pitchFamily="18" charset="0"/>
                  <a:ea typeface="+mn-ea"/>
                  <a:cs typeface="Times New Roman" pitchFamily="18" charset="0"/>
                </a:rPr>
                <a:t>字符串</a:t>
              </a:r>
            </a:p>
          </p:txBody>
        </p:sp>
      </p:grpSp>
      <p:grpSp>
        <p:nvGrpSpPr>
          <p:cNvPr id="362547" name="Group 51"/>
          <p:cNvGrpSpPr>
            <a:grpSpLocks/>
          </p:cNvGrpSpPr>
          <p:nvPr/>
        </p:nvGrpSpPr>
        <p:grpSpPr bwMode="auto">
          <a:xfrm>
            <a:off x="2135189" y="3246439"/>
            <a:ext cx="7705725" cy="550862"/>
            <a:chOff x="385" y="2099"/>
            <a:chExt cx="4854" cy="347"/>
          </a:xfrm>
        </p:grpSpPr>
        <p:sp>
          <p:nvSpPr>
            <p:cNvPr id="14356" name="Text Box 48"/>
            <p:cNvSpPr txBox="1">
              <a:spLocks noChangeArrowheads="1"/>
            </p:cNvSpPr>
            <p:nvPr/>
          </p:nvSpPr>
          <p:spPr bwMode="auto">
            <a:xfrm>
              <a:off x="385" y="2115"/>
              <a:ext cx="645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%d</a:t>
              </a:r>
            </a:p>
          </p:txBody>
        </p:sp>
        <p:sp>
          <p:nvSpPr>
            <p:cNvPr id="14357" name="Text Box 49"/>
            <p:cNvSpPr txBox="1">
              <a:spLocks noChangeArrowheads="1"/>
            </p:cNvSpPr>
            <p:nvPr/>
          </p:nvSpPr>
          <p:spPr bwMode="auto">
            <a:xfrm>
              <a:off x="1008" y="2099"/>
              <a:ext cx="4231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dirty="0">
                  <a:solidFill>
                    <a:srgbClr val="FF0000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输出有符号十进制整数</a:t>
              </a:r>
              <a:r>
                <a:rPr lang="en-US" altLang="zh-CN" sz="2800" dirty="0">
                  <a:solidFill>
                    <a:srgbClr val="0000FF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(</a:t>
              </a:r>
              <a:r>
                <a:rPr lang="zh-CN" altLang="en-US" sz="2800" dirty="0">
                  <a:solidFill>
                    <a:srgbClr val="0000FF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不显示正号</a:t>
              </a:r>
              <a:r>
                <a:rPr lang="en-US" altLang="zh-CN" sz="2800" dirty="0">
                  <a:solidFill>
                    <a:srgbClr val="0000FF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)</a:t>
              </a:r>
            </a:p>
          </p:txBody>
        </p:sp>
      </p:grpSp>
      <p:grpSp>
        <p:nvGrpSpPr>
          <p:cNvPr id="362553" name="Group 57"/>
          <p:cNvGrpSpPr>
            <a:grpSpLocks/>
          </p:cNvGrpSpPr>
          <p:nvPr/>
        </p:nvGrpSpPr>
        <p:grpSpPr bwMode="auto">
          <a:xfrm>
            <a:off x="2122488" y="4197351"/>
            <a:ext cx="7802562" cy="531813"/>
            <a:chOff x="369" y="2698"/>
            <a:chExt cx="4915" cy="335"/>
          </a:xfrm>
        </p:grpSpPr>
        <p:sp>
          <p:nvSpPr>
            <p:cNvPr id="14354" name="Text Box 55"/>
            <p:cNvSpPr txBox="1">
              <a:spLocks noChangeArrowheads="1"/>
            </p:cNvSpPr>
            <p:nvPr/>
          </p:nvSpPr>
          <p:spPr bwMode="auto">
            <a:xfrm>
              <a:off x="1001" y="2698"/>
              <a:ext cx="4283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zh-CN" sz="2800">
                  <a:solidFill>
                    <a:srgbClr val="FF0000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输出</a:t>
              </a:r>
              <a:r>
                <a:rPr lang="zh-CN" altLang="en-US" sz="2800">
                  <a:solidFill>
                    <a:srgbClr val="FF0000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一个</a:t>
              </a:r>
              <a:r>
                <a:rPr lang="zh-CN" altLang="zh-CN" sz="2800">
                  <a:solidFill>
                    <a:srgbClr val="FF0000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实数，小数位数默认为6位</a:t>
              </a:r>
              <a:endParaRPr lang="zh-CN" altLang="en-US" sz="280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14355" name="Text Box 56"/>
            <p:cNvSpPr txBox="1">
              <a:spLocks noChangeArrowheads="1"/>
            </p:cNvSpPr>
            <p:nvPr/>
          </p:nvSpPr>
          <p:spPr bwMode="auto">
            <a:xfrm>
              <a:off x="369" y="2702"/>
              <a:ext cx="523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%f</a:t>
              </a:r>
            </a:p>
          </p:txBody>
        </p:sp>
      </p:grpSp>
      <p:grpSp>
        <p:nvGrpSpPr>
          <p:cNvPr id="362557" name="Group 61"/>
          <p:cNvGrpSpPr>
            <a:grpSpLocks/>
          </p:cNvGrpSpPr>
          <p:nvPr/>
        </p:nvGrpSpPr>
        <p:grpSpPr bwMode="auto">
          <a:xfrm>
            <a:off x="2133600" y="5211764"/>
            <a:ext cx="8185150" cy="534987"/>
            <a:chOff x="384" y="3337"/>
            <a:chExt cx="5156" cy="337"/>
          </a:xfrm>
        </p:grpSpPr>
        <p:sp>
          <p:nvSpPr>
            <p:cNvPr id="14352" name="Text Box 59"/>
            <p:cNvSpPr txBox="1">
              <a:spLocks noChangeArrowheads="1"/>
            </p:cNvSpPr>
            <p:nvPr/>
          </p:nvSpPr>
          <p:spPr bwMode="auto">
            <a:xfrm>
              <a:off x="384" y="3337"/>
              <a:ext cx="516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latin typeface="Times New Roman" pitchFamily="18" charset="0"/>
                  <a:ea typeface="+mn-ea"/>
                  <a:cs typeface="Times New Roman" pitchFamily="18" charset="0"/>
                </a:rPr>
                <a:t>%o</a:t>
              </a:r>
            </a:p>
          </p:txBody>
        </p:sp>
        <p:sp>
          <p:nvSpPr>
            <p:cNvPr id="14353" name="Text Box 60"/>
            <p:cNvSpPr txBox="1">
              <a:spLocks noChangeArrowheads="1"/>
            </p:cNvSpPr>
            <p:nvPr/>
          </p:nvSpPr>
          <p:spPr bwMode="auto">
            <a:xfrm>
              <a:off x="1016" y="3343"/>
              <a:ext cx="4524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zh-CN" sz="2800">
                  <a:latin typeface="Times New Roman" pitchFamily="18" charset="0"/>
                  <a:ea typeface="+mn-ea"/>
                  <a:cs typeface="Times New Roman" pitchFamily="18" charset="0"/>
                </a:rPr>
                <a:t>输出</a:t>
              </a:r>
              <a:r>
                <a:rPr lang="zh-CN" altLang="en-US" sz="2800">
                  <a:latin typeface="Times New Roman" pitchFamily="18" charset="0"/>
                  <a:ea typeface="+mn-ea"/>
                  <a:cs typeface="Times New Roman" pitchFamily="18" charset="0"/>
                </a:rPr>
                <a:t>无符号八进制整数</a:t>
              </a:r>
              <a:r>
                <a:rPr lang="en-US" altLang="zh-CN" sz="2800">
                  <a:latin typeface="Times New Roman" pitchFamily="18" charset="0"/>
                  <a:ea typeface="+mn-ea"/>
                  <a:cs typeface="Times New Roman" pitchFamily="18" charset="0"/>
                </a:rPr>
                <a:t>(</a:t>
              </a:r>
              <a:r>
                <a:rPr lang="zh-CN" altLang="en-US" sz="2800">
                  <a:latin typeface="Times New Roman" pitchFamily="18" charset="0"/>
                  <a:ea typeface="+mn-ea"/>
                  <a:cs typeface="Times New Roman" pitchFamily="18" charset="0"/>
                </a:rPr>
                <a:t>不输出前缀</a:t>
              </a: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0</a:t>
              </a:r>
              <a:r>
                <a:rPr lang="zh-CN" altLang="en-US" sz="2800">
                  <a:latin typeface="Times New Roman" pitchFamily="18" charset="0"/>
                  <a:ea typeface="+mn-ea"/>
                  <a:cs typeface="Times New Roman" pitchFamily="18" charset="0"/>
                </a:rPr>
                <a:t>）</a:t>
              </a:r>
            </a:p>
          </p:txBody>
        </p:sp>
      </p:grpSp>
      <p:grpSp>
        <p:nvGrpSpPr>
          <p:cNvPr id="362561" name="Group 65"/>
          <p:cNvGrpSpPr>
            <a:grpSpLocks/>
          </p:cNvGrpSpPr>
          <p:nvPr/>
        </p:nvGrpSpPr>
        <p:grpSpPr bwMode="auto">
          <a:xfrm>
            <a:off x="2122488" y="5730877"/>
            <a:ext cx="8763000" cy="528638"/>
            <a:chOff x="377" y="3655"/>
            <a:chExt cx="5520" cy="333"/>
          </a:xfrm>
        </p:grpSpPr>
        <p:sp>
          <p:nvSpPr>
            <p:cNvPr id="14350" name="Text Box 63"/>
            <p:cNvSpPr txBox="1">
              <a:spLocks noChangeArrowheads="1"/>
            </p:cNvSpPr>
            <p:nvPr/>
          </p:nvSpPr>
          <p:spPr bwMode="auto">
            <a:xfrm>
              <a:off x="377" y="3655"/>
              <a:ext cx="523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latin typeface="Times New Roman" pitchFamily="18" charset="0"/>
                  <a:ea typeface="+mn-ea"/>
                  <a:cs typeface="Times New Roman" pitchFamily="18" charset="0"/>
                </a:rPr>
                <a:t>%x</a:t>
              </a:r>
            </a:p>
          </p:txBody>
        </p:sp>
        <p:sp>
          <p:nvSpPr>
            <p:cNvPr id="14351" name="Text Box 64"/>
            <p:cNvSpPr txBox="1">
              <a:spLocks noChangeArrowheads="1"/>
            </p:cNvSpPr>
            <p:nvPr/>
          </p:nvSpPr>
          <p:spPr bwMode="auto">
            <a:xfrm>
              <a:off x="1020" y="3657"/>
              <a:ext cx="4877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zh-CN" sz="2800">
                  <a:latin typeface="Times New Roman" pitchFamily="18" charset="0"/>
                  <a:ea typeface="+mn-ea"/>
                  <a:cs typeface="Times New Roman" pitchFamily="18" charset="0"/>
                </a:rPr>
                <a:t>输出</a:t>
              </a:r>
              <a:r>
                <a:rPr lang="zh-CN" altLang="en-US" sz="2800">
                  <a:latin typeface="Times New Roman" pitchFamily="18" charset="0"/>
                  <a:ea typeface="+mn-ea"/>
                  <a:cs typeface="Times New Roman" pitchFamily="18" charset="0"/>
                </a:rPr>
                <a:t>无符号十六进制整数</a:t>
              </a:r>
              <a:r>
                <a:rPr lang="en-US" altLang="zh-CN" sz="2800">
                  <a:latin typeface="Times New Roman" pitchFamily="18" charset="0"/>
                  <a:ea typeface="+mn-ea"/>
                  <a:cs typeface="Times New Roman" pitchFamily="18" charset="0"/>
                </a:rPr>
                <a:t>(</a:t>
              </a:r>
              <a:r>
                <a:rPr lang="zh-CN" altLang="en-US" sz="2800">
                  <a:latin typeface="Times New Roman" pitchFamily="18" charset="0"/>
                  <a:ea typeface="+mn-ea"/>
                  <a:cs typeface="Times New Roman" pitchFamily="18" charset="0"/>
                </a:rPr>
                <a:t>不输前缀</a:t>
              </a: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0x</a:t>
              </a:r>
              <a:r>
                <a:rPr lang="en-US" altLang="zh-CN" sz="2800">
                  <a:latin typeface="Times New Roman" pitchFamily="18" charset="0"/>
                  <a:ea typeface="+mn-ea"/>
                  <a:cs typeface="Times New Roman" pitchFamily="18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8258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6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6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6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6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6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62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6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62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62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C4E7A96-48B8-4301-BD6C-2E99D5B3DB4D}"/>
              </a:ext>
            </a:extLst>
          </p:cNvPr>
          <p:cNvGrpSpPr/>
          <p:nvPr/>
        </p:nvGrpSpPr>
        <p:grpSpPr>
          <a:xfrm>
            <a:off x="712191" y="3578690"/>
            <a:ext cx="11011238" cy="2661760"/>
            <a:chOff x="1264428" y="1152525"/>
            <a:chExt cx="6847285" cy="2795588"/>
          </a:xfrm>
        </p:grpSpPr>
        <p:sp>
          <p:nvSpPr>
            <p:cNvPr id="3" name="圆角矩形 7">
              <a:extLst>
                <a:ext uri="{FF2B5EF4-FFF2-40B4-BE49-F238E27FC236}">
                  <a16:creationId xmlns:a16="http://schemas.microsoft.com/office/drawing/2014/main" id="{981E9555-7BC2-4491-88A4-0B08973A47F2}"/>
                </a:ext>
              </a:extLst>
            </p:cNvPr>
            <p:cNvSpPr/>
            <p:nvPr/>
          </p:nvSpPr>
          <p:spPr bwMode="auto">
            <a:xfrm>
              <a:off x="1264428" y="1152525"/>
              <a:ext cx="6847285" cy="2795588"/>
            </a:xfrm>
            <a:prstGeom prst="roundRect">
              <a:avLst>
                <a:gd name="adj" fmla="val 99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4" name="圆角矩形 8">
              <a:extLst>
                <a:ext uri="{FF2B5EF4-FFF2-40B4-BE49-F238E27FC236}">
                  <a16:creationId xmlns:a16="http://schemas.microsoft.com/office/drawing/2014/main" id="{BBD03E70-6689-4420-81C9-13868BB91252}"/>
                </a:ext>
              </a:extLst>
            </p:cNvPr>
            <p:cNvSpPr/>
            <p:nvPr/>
          </p:nvSpPr>
          <p:spPr bwMode="auto">
            <a:xfrm>
              <a:off x="1473978" y="1362076"/>
              <a:ext cx="6428185" cy="2306241"/>
            </a:xfrm>
            <a:prstGeom prst="roundRect">
              <a:avLst>
                <a:gd name="adj" fmla="val 11474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</p:grpSp>
      <p:sp>
        <p:nvSpPr>
          <p:cNvPr id="5" name="矩形 1">
            <a:extLst>
              <a:ext uri="{FF2B5EF4-FFF2-40B4-BE49-F238E27FC236}">
                <a16:creationId xmlns:a16="http://schemas.microsoft.com/office/drawing/2014/main" id="{34CDE02D-8BDE-4E47-8AA0-AFD591B27802}"/>
              </a:ext>
            </a:extLst>
          </p:cNvPr>
          <p:cNvSpPr/>
          <p:nvPr/>
        </p:nvSpPr>
        <p:spPr>
          <a:xfrm>
            <a:off x="712778" y="3416627"/>
            <a:ext cx="1174112" cy="157163"/>
          </a:xfrm>
          <a:custGeom>
            <a:avLst/>
            <a:gdLst>
              <a:gd name="connsiteX0" fmla="*/ 0 w 1565482"/>
              <a:gd name="connsiteY0" fmla="*/ 0 h 247650"/>
              <a:gd name="connsiteX1" fmla="*/ 15654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  <a:gd name="connsiteX0" fmla="*/ 0 w 1565482"/>
              <a:gd name="connsiteY0" fmla="*/ 0 h 247650"/>
              <a:gd name="connsiteX1" fmla="*/ 12987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5482" h="247650">
                <a:moveTo>
                  <a:pt x="0" y="0"/>
                </a:moveTo>
                <a:lnTo>
                  <a:pt x="1298782" y="0"/>
                </a:lnTo>
                <a:lnTo>
                  <a:pt x="1565482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solidFill>
            <a:srgbClr val="9ED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6" name="矩形 2">
            <a:extLst>
              <a:ext uri="{FF2B5EF4-FFF2-40B4-BE49-F238E27FC236}">
                <a16:creationId xmlns:a16="http://schemas.microsoft.com/office/drawing/2014/main" id="{D6C035B7-21C5-41F9-9A8E-0E8E6F590B74}"/>
              </a:ext>
            </a:extLst>
          </p:cNvPr>
          <p:cNvSpPr/>
          <p:nvPr/>
        </p:nvSpPr>
        <p:spPr>
          <a:xfrm>
            <a:off x="655337" y="3423771"/>
            <a:ext cx="1028069" cy="771525"/>
          </a:xfrm>
          <a:custGeom>
            <a:avLst/>
            <a:gdLst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323133 w 1323133"/>
              <a:gd name="connsiteY2" fmla="*/ 1198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085008 w 1323133"/>
              <a:gd name="connsiteY2" fmla="*/ 817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47625 w 1370758"/>
              <a:gd name="connsiteY0" fmla="*/ 0 h 827194"/>
              <a:gd name="connsiteX1" fmla="*/ 1370758 w 1370758"/>
              <a:gd name="connsiteY1" fmla="*/ 0 h 827194"/>
              <a:gd name="connsiteX2" fmla="*/ 1132633 w 1370758"/>
              <a:gd name="connsiteY2" fmla="*/ 817669 h 827194"/>
              <a:gd name="connsiteX3" fmla="*/ 0 w 1370758"/>
              <a:gd name="connsiteY3" fmla="*/ 827194 h 827194"/>
              <a:gd name="connsiteX4" fmla="*/ 47625 w 1370758"/>
              <a:gd name="connsiteY4" fmla="*/ 0 h 827194"/>
              <a:gd name="connsiteX0" fmla="*/ 47625 w 1370758"/>
              <a:gd name="connsiteY0" fmla="*/ 0 h 836719"/>
              <a:gd name="connsiteX1" fmla="*/ 1370758 w 1370758"/>
              <a:gd name="connsiteY1" fmla="*/ 0 h 836719"/>
              <a:gd name="connsiteX2" fmla="*/ 875458 w 1370758"/>
              <a:gd name="connsiteY2" fmla="*/ 836719 h 836719"/>
              <a:gd name="connsiteX3" fmla="*/ 0 w 1370758"/>
              <a:gd name="connsiteY3" fmla="*/ 827194 h 836719"/>
              <a:gd name="connsiteX4" fmla="*/ 47625 w 1370758"/>
              <a:gd name="connsiteY4" fmla="*/ 0 h 836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0758" h="836719">
                <a:moveTo>
                  <a:pt x="47625" y="0"/>
                </a:moveTo>
                <a:lnTo>
                  <a:pt x="1370758" y="0"/>
                </a:lnTo>
                <a:lnTo>
                  <a:pt x="875458" y="836719"/>
                </a:lnTo>
                <a:lnTo>
                  <a:pt x="0" y="827194"/>
                </a:lnTo>
                <a:lnTo>
                  <a:pt x="47625" y="0"/>
                </a:lnTo>
                <a:close/>
              </a:path>
            </a:pathLst>
          </a:custGeom>
          <a:solidFill>
            <a:srgbClr val="FF92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C8AB9E-6A43-4FAB-B4EF-5BC1C0C4730B}"/>
              </a:ext>
            </a:extLst>
          </p:cNvPr>
          <p:cNvSpPr txBox="1"/>
          <p:nvPr/>
        </p:nvSpPr>
        <p:spPr>
          <a:xfrm>
            <a:off x="712193" y="355103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29EDAA-0F79-4DA5-9454-E061D9227995}"/>
              </a:ext>
            </a:extLst>
          </p:cNvPr>
          <p:cNvSpPr/>
          <p:nvPr/>
        </p:nvSpPr>
        <p:spPr>
          <a:xfrm>
            <a:off x="1683406" y="3766472"/>
            <a:ext cx="4035008" cy="2289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sz="2800" dirty="0">
                <a:latin typeface="Times New Roman" pitchFamily="18" charset="0"/>
                <a:ea typeface="隶书" pitchFamily="49" charset="-122"/>
              </a:rPr>
              <a:t>#include &lt;</a:t>
            </a:r>
            <a:r>
              <a:rPr lang="en-US" altLang="zh-CN" sz="2800" dirty="0" err="1">
                <a:latin typeface="Times New Roman" pitchFamily="18" charset="0"/>
                <a:ea typeface="隶书" pitchFamily="49" charset="-122"/>
              </a:rPr>
              <a:t>stdio.h</a:t>
            </a:r>
            <a:r>
              <a:rPr lang="en-US" altLang="zh-CN" sz="2800" dirty="0">
                <a:latin typeface="Times New Roman" pitchFamily="18" charset="0"/>
                <a:ea typeface="隶书" pitchFamily="49" charset="-122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n-US" altLang="zh-CN" sz="2800" dirty="0">
                <a:latin typeface="Times New Roman" pitchFamily="18" charset="0"/>
                <a:ea typeface="隶书" pitchFamily="49" charset="-122"/>
              </a:rPr>
              <a:t>void main(  )</a:t>
            </a:r>
          </a:p>
          <a:p>
            <a:pPr>
              <a:lnSpc>
                <a:spcPct val="85000"/>
              </a:lnSpc>
            </a:pPr>
            <a:r>
              <a:rPr lang="en-US" altLang="zh-CN" sz="2800" dirty="0">
                <a:latin typeface="Times New Roman" pitchFamily="18" charset="0"/>
                <a:ea typeface="隶书" pitchFamily="49" charset="-122"/>
              </a:rPr>
              <a:t>{  </a:t>
            </a:r>
            <a:r>
              <a:rPr lang="en-US" altLang="zh-CN" sz="2800" dirty="0" err="1">
                <a:latin typeface="Times New Roman" pitchFamily="18" charset="0"/>
                <a:ea typeface="隶书" pitchFamily="49" charset="-122"/>
              </a:rPr>
              <a:t>int</a:t>
            </a:r>
            <a:r>
              <a:rPr lang="en-US" altLang="zh-CN" sz="2800" dirty="0">
                <a:latin typeface="Times New Roman" pitchFamily="18" charset="0"/>
                <a:ea typeface="隶书" pitchFamily="49" charset="-122"/>
              </a:rPr>
              <a:t> a=123;</a:t>
            </a:r>
          </a:p>
          <a:p>
            <a:pPr>
              <a:lnSpc>
                <a:spcPct val="85000"/>
              </a:lnSpc>
            </a:pPr>
            <a:r>
              <a:rPr lang="en-US" altLang="zh-CN" sz="2800" dirty="0">
                <a:latin typeface="Times New Roman" pitchFamily="18" charset="0"/>
                <a:ea typeface="隶书" pitchFamily="49" charset="-122"/>
              </a:rPr>
              <a:t>    long b=500000;</a:t>
            </a:r>
          </a:p>
          <a:p>
            <a:pPr>
              <a:lnSpc>
                <a:spcPct val="85000"/>
              </a:lnSpc>
            </a:pPr>
            <a:r>
              <a:rPr lang="en-US" altLang="zh-CN" sz="2800" dirty="0">
                <a:latin typeface="Times New Roman" pitchFamily="18" charset="0"/>
                <a:ea typeface="隶书" pitchFamily="49" charset="-122"/>
              </a:rPr>
              <a:t>   </a:t>
            </a:r>
            <a:r>
              <a:rPr lang="en-US" altLang="zh-CN" sz="2800" dirty="0" err="1">
                <a:latin typeface="Times New Roman" pitchFamily="18" charset="0"/>
                <a:ea typeface="隶书" pitchFamily="49" charset="-122"/>
              </a:rPr>
              <a:t>printf</a:t>
            </a:r>
            <a:r>
              <a:rPr lang="en-US" altLang="zh-CN" sz="2800" dirty="0">
                <a:latin typeface="Times New Roman" pitchFamily="18" charset="0"/>
                <a:ea typeface="隶书" pitchFamily="49" charset="-122"/>
              </a:rPr>
              <a:t>("%5d,%ld",a,b);</a:t>
            </a:r>
          </a:p>
          <a:p>
            <a:pPr>
              <a:lnSpc>
                <a:spcPct val="85000"/>
              </a:lnSpc>
            </a:pPr>
            <a:r>
              <a:rPr lang="en-US" altLang="zh-CN" sz="2800" dirty="0">
                <a:latin typeface="Times New Roman" pitchFamily="18" charset="0"/>
                <a:ea typeface="隶书" pitchFamily="49" charset="-122"/>
              </a:rPr>
              <a:t>}</a:t>
            </a:r>
          </a:p>
        </p:txBody>
      </p:sp>
      <p:sp>
        <p:nvSpPr>
          <p:cNvPr id="9" name="Rectangle 41">
            <a:extLst>
              <a:ext uri="{FF2B5EF4-FFF2-40B4-BE49-F238E27FC236}">
                <a16:creationId xmlns:a16="http://schemas.microsoft.com/office/drawing/2014/main" id="{8EA6C94A-995E-46F8-A68A-CBC393645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3531" y="100717"/>
            <a:ext cx="60452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25000"/>
              </a:lnSpc>
              <a:spcBef>
                <a:spcPct val="0"/>
              </a:spcBef>
              <a:buClr>
                <a:schemeClr val="hlink"/>
              </a:buClr>
            </a:pPr>
            <a:r>
              <a:rPr lang="en-US" altLang="zh-CN" sz="3600" b="1" dirty="0">
                <a:latin typeface="Arial" charset="0"/>
              </a:rPr>
              <a:t> </a:t>
            </a:r>
            <a:r>
              <a:rPr lang="zh-CN" altLang="en-US" sz="43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小 试 牛 刀</a:t>
            </a:r>
            <a:endParaRPr lang="en-US" altLang="zh-CN" sz="43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FA4AB25-20EC-4D2A-AA60-0E4B4850E8A4}"/>
              </a:ext>
            </a:extLst>
          </p:cNvPr>
          <p:cNvGrpSpPr/>
          <p:nvPr/>
        </p:nvGrpSpPr>
        <p:grpSpPr>
          <a:xfrm>
            <a:off x="714463" y="905999"/>
            <a:ext cx="10671985" cy="2287570"/>
            <a:chOff x="1264428" y="1152525"/>
            <a:chExt cx="6847285" cy="2795588"/>
          </a:xfrm>
        </p:grpSpPr>
        <p:sp>
          <p:nvSpPr>
            <p:cNvPr id="18" name="圆角矩形 7">
              <a:extLst>
                <a:ext uri="{FF2B5EF4-FFF2-40B4-BE49-F238E27FC236}">
                  <a16:creationId xmlns:a16="http://schemas.microsoft.com/office/drawing/2014/main" id="{10110AF3-C5F5-4A48-825F-12F8A564F765}"/>
                </a:ext>
              </a:extLst>
            </p:cNvPr>
            <p:cNvSpPr/>
            <p:nvPr/>
          </p:nvSpPr>
          <p:spPr bwMode="auto">
            <a:xfrm>
              <a:off x="1264428" y="1152525"/>
              <a:ext cx="6847285" cy="2795588"/>
            </a:xfrm>
            <a:prstGeom prst="roundRect">
              <a:avLst>
                <a:gd name="adj" fmla="val 99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19" name="圆角矩形 8">
              <a:extLst>
                <a:ext uri="{FF2B5EF4-FFF2-40B4-BE49-F238E27FC236}">
                  <a16:creationId xmlns:a16="http://schemas.microsoft.com/office/drawing/2014/main" id="{4302431F-3543-4A6D-A759-4A8AF336A3BA}"/>
                </a:ext>
              </a:extLst>
            </p:cNvPr>
            <p:cNvSpPr/>
            <p:nvPr/>
          </p:nvSpPr>
          <p:spPr bwMode="auto">
            <a:xfrm>
              <a:off x="1473978" y="1362076"/>
              <a:ext cx="6428185" cy="2306241"/>
            </a:xfrm>
            <a:prstGeom prst="roundRect">
              <a:avLst>
                <a:gd name="adj" fmla="val 11474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</p:grpSp>
      <p:sp>
        <p:nvSpPr>
          <p:cNvPr id="20" name="矩形 1">
            <a:extLst>
              <a:ext uri="{FF2B5EF4-FFF2-40B4-BE49-F238E27FC236}">
                <a16:creationId xmlns:a16="http://schemas.microsoft.com/office/drawing/2014/main" id="{61F84703-DFD7-45A2-B576-12E8D9A03D3A}"/>
              </a:ext>
            </a:extLst>
          </p:cNvPr>
          <p:cNvSpPr/>
          <p:nvPr/>
        </p:nvSpPr>
        <p:spPr>
          <a:xfrm>
            <a:off x="715050" y="743936"/>
            <a:ext cx="1174112" cy="157163"/>
          </a:xfrm>
          <a:custGeom>
            <a:avLst/>
            <a:gdLst>
              <a:gd name="connsiteX0" fmla="*/ 0 w 1565482"/>
              <a:gd name="connsiteY0" fmla="*/ 0 h 247650"/>
              <a:gd name="connsiteX1" fmla="*/ 15654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  <a:gd name="connsiteX0" fmla="*/ 0 w 1565482"/>
              <a:gd name="connsiteY0" fmla="*/ 0 h 247650"/>
              <a:gd name="connsiteX1" fmla="*/ 12987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5482" h="247650">
                <a:moveTo>
                  <a:pt x="0" y="0"/>
                </a:moveTo>
                <a:lnTo>
                  <a:pt x="1298782" y="0"/>
                </a:lnTo>
                <a:lnTo>
                  <a:pt x="1565482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solidFill>
            <a:srgbClr val="9ED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21" name="矩形 2">
            <a:extLst>
              <a:ext uri="{FF2B5EF4-FFF2-40B4-BE49-F238E27FC236}">
                <a16:creationId xmlns:a16="http://schemas.microsoft.com/office/drawing/2014/main" id="{FF4E90EF-D3B3-4EE0-8C04-E8B9AE591668}"/>
              </a:ext>
            </a:extLst>
          </p:cNvPr>
          <p:cNvSpPr/>
          <p:nvPr/>
        </p:nvSpPr>
        <p:spPr>
          <a:xfrm>
            <a:off x="657609" y="751080"/>
            <a:ext cx="1028069" cy="771525"/>
          </a:xfrm>
          <a:custGeom>
            <a:avLst/>
            <a:gdLst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323133 w 1323133"/>
              <a:gd name="connsiteY2" fmla="*/ 1198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085008 w 1323133"/>
              <a:gd name="connsiteY2" fmla="*/ 817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47625 w 1370758"/>
              <a:gd name="connsiteY0" fmla="*/ 0 h 827194"/>
              <a:gd name="connsiteX1" fmla="*/ 1370758 w 1370758"/>
              <a:gd name="connsiteY1" fmla="*/ 0 h 827194"/>
              <a:gd name="connsiteX2" fmla="*/ 1132633 w 1370758"/>
              <a:gd name="connsiteY2" fmla="*/ 817669 h 827194"/>
              <a:gd name="connsiteX3" fmla="*/ 0 w 1370758"/>
              <a:gd name="connsiteY3" fmla="*/ 827194 h 827194"/>
              <a:gd name="connsiteX4" fmla="*/ 47625 w 1370758"/>
              <a:gd name="connsiteY4" fmla="*/ 0 h 827194"/>
              <a:gd name="connsiteX0" fmla="*/ 47625 w 1370758"/>
              <a:gd name="connsiteY0" fmla="*/ 0 h 836719"/>
              <a:gd name="connsiteX1" fmla="*/ 1370758 w 1370758"/>
              <a:gd name="connsiteY1" fmla="*/ 0 h 836719"/>
              <a:gd name="connsiteX2" fmla="*/ 875458 w 1370758"/>
              <a:gd name="connsiteY2" fmla="*/ 836719 h 836719"/>
              <a:gd name="connsiteX3" fmla="*/ 0 w 1370758"/>
              <a:gd name="connsiteY3" fmla="*/ 827194 h 836719"/>
              <a:gd name="connsiteX4" fmla="*/ 47625 w 1370758"/>
              <a:gd name="connsiteY4" fmla="*/ 0 h 836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0758" h="836719">
                <a:moveTo>
                  <a:pt x="47625" y="0"/>
                </a:moveTo>
                <a:lnTo>
                  <a:pt x="1370758" y="0"/>
                </a:lnTo>
                <a:lnTo>
                  <a:pt x="875458" y="836719"/>
                </a:lnTo>
                <a:lnTo>
                  <a:pt x="0" y="827194"/>
                </a:lnTo>
                <a:lnTo>
                  <a:pt x="47625" y="0"/>
                </a:lnTo>
                <a:close/>
              </a:path>
            </a:pathLst>
          </a:custGeom>
          <a:solidFill>
            <a:srgbClr val="FF92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F68FA30-0FA4-4081-A646-A52543B7C0A8}"/>
              </a:ext>
            </a:extLst>
          </p:cNvPr>
          <p:cNvSpPr txBox="1"/>
          <p:nvPr/>
        </p:nvSpPr>
        <p:spPr>
          <a:xfrm>
            <a:off x="714465" y="87834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76AE099-0F09-4F6B-BD96-F358E35A2F44}"/>
              </a:ext>
            </a:extLst>
          </p:cNvPr>
          <p:cNvSpPr/>
          <p:nvPr/>
        </p:nvSpPr>
        <p:spPr>
          <a:xfrm>
            <a:off x="1685678" y="1038011"/>
            <a:ext cx="6639456" cy="192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sz="2800" dirty="0">
                <a:latin typeface="Times New Roman" pitchFamily="18" charset="0"/>
                <a:ea typeface="隶书" pitchFamily="49" charset="-122"/>
              </a:rPr>
              <a:t>#include &lt;</a:t>
            </a:r>
            <a:r>
              <a:rPr lang="en-US" altLang="zh-CN" sz="2800" dirty="0" err="1">
                <a:latin typeface="Times New Roman" pitchFamily="18" charset="0"/>
                <a:ea typeface="隶书" pitchFamily="49" charset="-122"/>
              </a:rPr>
              <a:t>stdio.h</a:t>
            </a:r>
            <a:r>
              <a:rPr lang="en-US" altLang="zh-CN" sz="2800" dirty="0">
                <a:latin typeface="Times New Roman" pitchFamily="18" charset="0"/>
                <a:ea typeface="隶书" pitchFamily="49" charset="-122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n-US" altLang="zh-CN" sz="2800" dirty="0">
                <a:latin typeface="Times New Roman" pitchFamily="18" charset="0"/>
                <a:ea typeface="隶书" pitchFamily="49" charset="-122"/>
              </a:rPr>
              <a:t>void main(  )</a:t>
            </a:r>
          </a:p>
          <a:p>
            <a:pPr>
              <a:lnSpc>
                <a:spcPct val="85000"/>
              </a:lnSpc>
            </a:pPr>
            <a:r>
              <a:rPr lang="en-US" altLang="zh-CN" sz="2800" dirty="0">
                <a:latin typeface="Times New Roman" pitchFamily="18" charset="0"/>
                <a:ea typeface="隶书" pitchFamily="49" charset="-122"/>
              </a:rPr>
              <a:t>{  </a:t>
            </a:r>
          </a:p>
          <a:p>
            <a:pPr>
              <a:lnSpc>
                <a:spcPct val="85000"/>
              </a:lnSpc>
            </a:pPr>
            <a:r>
              <a:rPr lang="en-US" altLang="zh-CN" sz="2800" dirty="0">
                <a:latin typeface="Times New Roman" pitchFamily="18" charset="0"/>
                <a:ea typeface="隶书" pitchFamily="49" charset="-122"/>
              </a:rPr>
              <a:t>     </a:t>
            </a:r>
            <a:r>
              <a:rPr lang="en-US" altLang="zh-CN" sz="2800" dirty="0" err="1">
                <a:latin typeface="Times New Roman" pitchFamily="18" charset="0"/>
                <a:ea typeface="隶书" pitchFamily="49" charset="-122"/>
              </a:rPr>
              <a:t>printf</a:t>
            </a:r>
            <a:r>
              <a:rPr lang="en-US" altLang="zh-CN" sz="2800" dirty="0">
                <a:latin typeface="Times New Roman" pitchFamily="18" charset="0"/>
                <a:ea typeface="隶书" pitchFamily="49" charset="-122"/>
              </a:rPr>
              <a:t>(“</a:t>
            </a:r>
            <a:r>
              <a:rPr lang="en-US" altLang="zh-CN" sz="2800" dirty="0" err="1">
                <a:latin typeface="Times New Roman" pitchFamily="18" charset="0"/>
                <a:ea typeface="隶书" pitchFamily="49" charset="-122"/>
              </a:rPr>
              <a:t>Hello,everyone</a:t>
            </a:r>
            <a:r>
              <a:rPr lang="en-US" altLang="zh-CN" sz="2800" dirty="0">
                <a:latin typeface="Times New Roman" pitchFamily="18" charset="0"/>
                <a:ea typeface="隶书" pitchFamily="49" charset="-122"/>
              </a:rPr>
              <a:t>!!!”);</a:t>
            </a:r>
          </a:p>
          <a:p>
            <a:pPr>
              <a:lnSpc>
                <a:spcPct val="85000"/>
              </a:lnSpc>
            </a:pPr>
            <a:r>
              <a:rPr lang="en-US" altLang="zh-CN" sz="2800" dirty="0">
                <a:latin typeface="Times New Roman" pitchFamily="18" charset="0"/>
                <a:ea typeface="隶书" pitchFamily="49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74495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  <p:bldP spid="20" grpId="0" animBg="1"/>
      <p:bldP spid="21" grpId="0" animBg="1"/>
      <p:bldP spid="22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C4E7A96-48B8-4301-BD6C-2E99D5B3DB4D}"/>
              </a:ext>
            </a:extLst>
          </p:cNvPr>
          <p:cNvGrpSpPr/>
          <p:nvPr/>
        </p:nvGrpSpPr>
        <p:grpSpPr>
          <a:xfrm>
            <a:off x="712191" y="3646926"/>
            <a:ext cx="11011238" cy="2661760"/>
            <a:chOff x="1264428" y="1152525"/>
            <a:chExt cx="6847285" cy="2795588"/>
          </a:xfrm>
        </p:grpSpPr>
        <p:sp>
          <p:nvSpPr>
            <p:cNvPr id="3" name="圆角矩形 7">
              <a:extLst>
                <a:ext uri="{FF2B5EF4-FFF2-40B4-BE49-F238E27FC236}">
                  <a16:creationId xmlns:a16="http://schemas.microsoft.com/office/drawing/2014/main" id="{981E9555-7BC2-4491-88A4-0B08973A47F2}"/>
                </a:ext>
              </a:extLst>
            </p:cNvPr>
            <p:cNvSpPr/>
            <p:nvPr/>
          </p:nvSpPr>
          <p:spPr bwMode="auto">
            <a:xfrm>
              <a:off x="1264428" y="1152525"/>
              <a:ext cx="6847285" cy="2795588"/>
            </a:xfrm>
            <a:prstGeom prst="roundRect">
              <a:avLst>
                <a:gd name="adj" fmla="val 99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4" name="圆角矩形 8">
              <a:extLst>
                <a:ext uri="{FF2B5EF4-FFF2-40B4-BE49-F238E27FC236}">
                  <a16:creationId xmlns:a16="http://schemas.microsoft.com/office/drawing/2014/main" id="{BBD03E70-6689-4420-81C9-13868BB91252}"/>
                </a:ext>
              </a:extLst>
            </p:cNvPr>
            <p:cNvSpPr/>
            <p:nvPr/>
          </p:nvSpPr>
          <p:spPr bwMode="auto">
            <a:xfrm>
              <a:off x="1473978" y="1362076"/>
              <a:ext cx="6428185" cy="2306241"/>
            </a:xfrm>
            <a:prstGeom prst="roundRect">
              <a:avLst>
                <a:gd name="adj" fmla="val 11474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</p:grpSp>
      <p:sp>
        <p:nvSpPr>
          <p:cNvPr id="5" name="矩形 1">
            <a:extLst>
              <a:ext uri="{FF2B5EF4-FFF2-40B4-BE49-F238E27FC236}">
                <a16:creationId xmlns:a16="http://schemas.microsoft.com/office/drawing/2014/main" id="{34CDE02D-8BDE-4E47-8AA0-AFD591B27802}"/>
              </a:ext>
            </a:extLst>
          </p:cNvPr>
          <p:cNvSpPr/>
          <p:nvPr/>
        </p:nvSpPr>
        <p:spPr>
          <a:xfrm>
            <a:off x="712778" y="3484863"/>
            <a:ext cx="1174112" cy="157163"/>
          </a:xfrm>
          <a:custGeom>
            <a:avLst/>
            <a:gdLst>
              <a:gd name="connsiteX0" fmla="*/ 0 w 1565482"/>
              <a:gd name="connsiteY0" fmla="*/ 0 h 247650"/>
              <a:gd name="connsiteX1" fmla="*/ 15654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  <a:gd name="connsiteX0" fmla="*/ 0 w 1565482"/>
              <a:gd name="connsiteY0" fmla="*/ 0 h 247650"/>
              <a:gd name="connsiteX1" fmla="*/ 12987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5482" h="247650">
                <a:moveTo>
                  <a:pt x="0" y="0"/>
                </a:moveTo>
                <a:lnTo>
                  <a:pt x="1298782" y="0"/>
                </a:lnTo>
                <a:lnTo>
                  <a:pt x="1565482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solidFill>
            <a:srgbClr val="9ED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6" name="矩形 2">
            <a:extLst>
              <a:ext uri="{FF2B5EF4-FFF2-40B4-BE49-F238E27FC236}">
                <a16:creationId xmlns:a16="http://schemas.microsoft.com/office/drawing/2014/main" id="{D6C035B7-21C5-41F9-9A8E-0E8E6F590B74}"/>
              </a:ext>
            </a:extLst>
          </p:cNvPr>
          <p:cNvSpPr/>
          <p:nvPr/>
        </p:nvSpPr>
        <p:spPr>
          <a:xfrm>
            <a:off x="655337" y="3492007"/>
            <a:ext cx="1028069" cy="771525"/>
          </a:xfrm>
          <a:custGeom>
            <a:avLst/>
            <a:gdLst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323133 w 1323133"/>
              <a:gd name="connsiteY2" fmla="*/ 1198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085008 w 1323133"/>
              <a:gd name="connsiteY2" fmla="*/ 817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47625 w 1370758"/>
              <a:gd name="connsiteY0" fmla="*/ 0 h 827194"/>
              <a:gd name="connsiteX1" fmla="*/ 1370758 w 1370758"/>
              <a:gd name="connsiteY1" fmla="*/ 0 h 827194"/>
              <a:gd name="connsiteX2" fmla="*/ 1132633 w 1370758"/>
              <a:gd name="connsiteY2" fmla="*/ 817669 h 827194"/>
              <a:gd name="connsiteX3" fmla="*/ 0 w 1370758"/>
              <a:gd name="connsiteY3" fmla="*/ 827194 h 827194"/>
              <a:gd name="connsiteX4" fmla="*/ 47625 w 1370758"/>
              <a:gd name="connsiteY4" fmla="*/ 0 h 827194"/>
              <a:gd name="connsiteX0" fmla="*/ 47625 w 1370758"/>
              <a:gd name="connsiteY0" fmla="*/ 0 h 836719"/>
              <a:gd name="connsiteX1" fmla="*/ 1370758 w 1370758"/>
              <a:gd name="connsiteY1" fmla="*/ 0 h 836719"/>
              <a:gd name="connsiteX2" fmla="*/ 875458 w 1370758"/>
              <a:gd name="connsiteY2" fmla="*/ 836719 h 836719"/>
              <a:gd name="connsiteX3" fmla="*/ 0 w 1370758"/>
              <a:gd name="connsiteY3" fmla="*/ 827194 h 836719"/>
              <a:gd name="connsiteX4" fmla="*/ 47625 w 1370758"/>
              <a:gd name="connsiteY4" fmla="*/ 0 h 836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0758" h="836719">
                <a:moveTo>
                  <a:pt x="47625" y="0"/>
                </a:moveTo>
                <a:lnTo>
                  <a:pt x="1370758" y="0"/>
                </a:lnTo>
                <a:lnTo>
                  <a:pt x="875458" y="836719"/>
                </a:lnTo>
                <a:lnTo>
                  <a:pt x="0" y="827194"/>
                </a:lnTo>
                <a:lnTo>
                  <a:pt x="47625" y="0"/>
                </a:lnTo>
                <a:close/>
              </a:path>
            </a:pathLst>
          </a:custGeom>
          <a:solidFill>
            <a:srgbClr val="FF92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C8AB9E-6A43-4FAB-B4EF-5BC1C0C4730B}"/>
              </a:ext>
            </a:extLst>
          </p:cNvPr>
          <p:cNvSpPr txBox="1"/>
          <p:nvPr/>
        </p:nvSpPr>
        <p:spPr>
          <a:xfrm>
            <a:off x="712193" y="361927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29EDAA-0F79-4DA5-9454-E061D9227995}"/>
              </a:ext>
            </a:extLst>
          </p:cNvPr>
          <p:cNvSpPr/>
          <p:nvPr/>
        </p:nvSpPr>
        <p:spPr>
          <a:xfrm>
            <a:off x="1683405" y="3834708"/>
            <a:ext cx="841593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sz="3200" dirty="0">
                <a:latin typeface="Times New Roman" pitchFamily="18" charset="0"/>
                <a:ea typeface="隶书" pitchFamily="49" charset="-122"/>
              </a:rPr>
              <a:t>#include &lt;</a:t>
            </a:r>
            <a:r>
              <a:rPr lang="en-US" altLang="zh-CN" sz="3200" dirty="0" err="1">
                <a:latin typeface="Times New Roman" pitchFamily="18" charset="0"/>
                <a:ea typeface="隶书" pitchFamily="49" charset="-122"/>
              </a:rPr>
              <a:t>stdio.h</a:t>
            </a:r>
            <a:r>
              <a:rPr lang="en-US" altLang="zh-CN" sz="3200" dirty="0">
                <a:latin typeface="Times New Roman" pitchFamily="18" charset="0"/>
                <a:ea typeface="隶书" pitchFamily="49" charset="-122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n-US" altLang="zh-CN" sz="3200" dirty="0">
                <a:latin typeface="Times New Roman" pitchFamily="18" charset="0"/>
                <a:ea typeface="隶书" pitchFamily="49" charset="-122"/>
              </a:rPr>
              <a:t>void main(  )</a:t>
            </a:r>
          </a:p>
          <a:p>
            <a:pPr>
              <a:lnSpc>
                <a:spcPct val="85000"/>
              </a:lnSpc>
            </a:pPr>
            <a:r>
              <a:rPr lang="en-US" altLang="zh-CN" sz="3200" dirty="0">
                <a:latin typeface="Times New Roman" pitchFamily="18" charset="0"/>
                <a:ea typeface="隶书" pitchFamily="49" charset="-122"/>
              </a:rPr>
              <a:t>{  char string[ ]=“</a:t>
            </a:r>
            <a:r>
              <a:rPr lang="en-US" altLang="zh-CN" sz="3200" dirty="0" err="1">
                <a:latin typeface="Times New Roman" pitchFamily="18" charset="0"/>
                <a:ea typeface="隶书" pitchFamily="49" charset="-122"/>
              </a:rPr>
              <a:t>Hello,everyone</a:t>
            </a:r>
            <a:r>
              <a:rPr lang="en-US" altLang="zh-CN" sz="3200" dirty="0">
                <a:latin typeface="Times New Roman" pitchFamily="18" charset="0"/>
                <a:ea typeface="隶书" pitchFamily="49" charset="-122"/>
              </a:rPr>
              <a:t>!”;</a:t>
            </a:r>
          </a:p>
          <a:p>
            <a:pPr>
              <a:lnSpc>
                <a:spcPct val="85000"/>
              </a:lnSpc>
            </a:pPr>
            <a:r>
              <a:rPr lang="en-US" altLang="zh-CN" sz="3200" dirty="0">
                <a:latin typeface="Times New Roman" pitchFamily="18" charset="0"/>
                <a:ea typeface="隶书" pitchFamily="49" charset="-122"/>
              </a:rPr>
              <a:t>    </a:t>
            </a:r>
            <a:r>
              <a:rPr lang="en-US" altLang="zh-CN" sz="3200" dirty="0" err="1">
                <a:latin typeface="Times New Roman" pitchFamily="18" charset="0"/>
                <a:ea typeface="隶书" pitchFamily="49" charset="-122"/>
              </a:rPr>
              <a:t>printf</a:t>
            </a:r>
            <a:r>
              <a:rPr lang="en-US" altLang="zh-CN" sz="3200" dirty="0">
                <a:latin typeface="Times New Roman" pitchFamily="18" charset="0"/>
                <a:ea typeface="隶书" pitchFamily="49" charset="-122"/>
              </a:rPr>
              <a:t>("%8.3s",string);</a:t>
            </a:r>
          </a:p>
          <a:p>
            <a:pPr>
              <a:lnSpc>
                <a:spcPct val="85000"/>
              </a:lnSpc>
            </a:pPr>
            <a:r>
              <a:rPr lang="en-US" altLang="zh-CN" sz="3200" dirty="0">
                <a:latin typeface="Times New Roman" pitchFamily="18" charset="0"/>
                <a:ea typeface="隶书" pitchFamily="49" charset="-122"/>
              </a:rPr>
              <a:t> }</a:t>
            </a:r>
          </a:p>
        </p:txBody>
      </p:sp>
      <p:sp>
        <p:nvSpPr>
          <p:cNvPr id="9" name="Rectangle 41">
            <a:extLst>
              <a:ext uri="{FF2B5EF4-FFF2-40B4-BE49-F238E27FC236}">
                <a16:creationId xmlns:a16="http://schemas.microsoft.com/office/drawing/2014/main" id="{8EA6C94A-995E-46F8-A68A-CBC393645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6016" y="112216"/>
            <a:ext cx="60452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25000"/>
              </a:lnSpc>
              <a:spcBef>
                <a:spcPct val="0"/>
              </a:spcBef>
              <a:buClr>
                <a:schemeClr val="hlink"/>
              </a:buClr>
            </a:pPr>
            <a:r>
              <a:rPr lang="en-US" altLang="zh-CN" sz="3600" b="1" dirty="0">
                <a:latin typeface="Arial" charset="0"/>
              </a:rPr>
              <a:t> </a:t>
            </a:r>
            <a:r>
              <a:rPr lang="zh-CN" altLang="en-US" sz="43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小 试 牛 刀</a:t>
            </a:r>
            <a:endParaRPr lang="en-US" altLang="zh-CN" sz="43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A249953-A469-4942-A217-661D30E319EF}"/>
              </a:ext>
            </a:extLst>
          </p:cNvPr>
          <p:cNvGrpSpPr/>
          <p:nvPr/>
        </p:nvGrpSpPr>
        <p:grpSpPr>
          <a:xfrm>
            <a:off x="714463" y="878705"/>
            <a:ext cx="10671985" cy="2287570"/>
            <a:chOff x="1264428" y="1152525"/>
            <a:chExt cx="6847285" cy="2795588"/>
          </a:xfrm>
        </p:grpSpPr>
        <p:sp>
          <p:nvSpPr>
            <p:cNvPr id="18" name="圆角矩形 7">
              <a:extLst>
                <a:ext uri="{FF2B5EF4-FFF2-40B4-BE49-F238E27FC236}">
                  <a16:creationId xmlns:a16="http://schemas.microsoft.com/office/drawing/2014/main" id="{09E697EE-219B-4A71-9302-AF76BC27D223}"/>
                </a:ext>
              </a:extLst>
            </p:cNvPr>
            <p:cNvSpPr/>
            <p:nvPr/>
          </p:nvSpPr>
          <p:spPr bwMode="auto">
            <a:xfrm>
              <a:off x="1264428" y="1152525"/>
              <a:ext cx="6847285" cy="2795588"/>
            </a:xfrm>
            <a:prstGeom prst="roundRect">
              <a:avLst>
                <a:gd name="adj" fmla="val 99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19" name="圆角矩形 8">
              <a:extLst>
                <a:ext uri="{FF2B5EF4-FFF2-40B4-BE49-F238E27FC236}">
                  <a16:creationId xmlns:a16="http://schemas.microsoft.com/office/drawing/2014/main" id="{3133F25E-C758-4E47-9DD9-E59C16ADDD8F}"/>
                </a:ext>
              </a:extLst>
            </p:cNvPr>
            <p:cNvSpPr/>
            <p:nvPr/>
          </p:nvSpPr>
          <p:spPr bwMode="auto">
            <a:xfrm>
              <a:off x="1473978" y="1362076"/>
              <a:ext cx="6428185" cy="2306241"/>
            </a:xfrm>
            <a:prstGeom prst="roundRect">
              <a:avLst>
                <a:gd name="adj" fmla="val 11474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</p:grpSp>
      <p:sp>
        <p:nvSpPr>
          <p:cNvPr id="20" name="矩形 1">
            <a:extLst>
              <a:ext uri="{FF2B5EF4-FFF2-40B4-BE49-F238E27FC236}">
                <a16:creationId xmlns:a16="http://schemas.microsoft.com/office/drawing/2014/main" id="{22DAFAEB-F085-4172-AF1D-9D68D94C4650}"/>
              </a:ext>
            </a:extLst>
          </p:cNvPr>
          <p:cNvSpPr/>
          <p:nvPr/>
        </p:nvSpPr>
        <p:spPr>
          <a:xfrm>
            <a:off x="715050" y="716642"/>
            <a:ext cx="1174112" cy="157163"/>
          </a:xfrm>
          <a:custGeom>
            <a:avLst/>
            <a:gdLst>
              <a:gd name="connsiteX0" fmla="*/ 0 w 1565482"/>
              <a:gd name="connsiteY0" fmla="*/ 0 h 247650"/>
              <a:gd name="connsiteX1" fmla="*/ 15654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  <a:gd name="connsiteX0" fmla="*/ 0 w 1565482"/>
              <a:gd name="connsiteY0" fmla="*/ 0 h 247650"/>
              <a:gd name="connsiteX1" fmla="*/ 12987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5482" h="247650">
                <a:moveTo>
                  <a:pt x="0" y="0"/>
                </a:moveTo>
                <a:lnTo>
                  <a:pt x="1298782" y="0"/>
                </a:lnTo>
                <a:lnTo>
                  <a:pt x="1565482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solidFill>
            <a:srgbClr val="9ED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21" name="矩形 2">
            <a:extLst>
              <a:ext uri="{FF2B5EF4-FFF2-40B4-BE49-F238E27FC236}">
                <a16:creationId xmlns:a16="http://schemas.microsoft.com/office/drawing/2014/main" id="{212FB927-3BD9-4D38-BF23-B4E04C51F504}"/>
              </a:ext>
            </a:extLst>
          </p:cNvPr>
          <p:cNvSpPr/>
          <p:nvPr/>
        </p:nvSpPr>
        <p:spPr>
          <a:xfrm>
            <a:off x="657609" y="723786"/>
            <a:ext cx="1028069" cy="771525"/>
          </a:xfrm>
          <a:custGeom>
            <a:avLst/>
            <a:gdLst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323133 w 1323133"/>
              <a:gd name="connsiteY2" fmla="*/ 1198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085008 w 1323133"/>
              <a:gd name="connsiteY2" fmla="*/ 817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47625 w 1370758"/>
              <a:gd name="connsiteY0" fmla="*/ 0 h 827194"/>
              <a:gd name="connsiteX1" fmla="*/ 1370758 w 1370758"/>
              <a:gd name="connsiteY1" fmla="*/ 0 h 827194"/>
              <a:gd name="connsiteX2" fmla="*/ 1132633 w 1370758"/>
              <a:gd name="connsiteY2" fmla="*/ 817669 h 827194"/>
              <a:gd name="connsiteX3" fmla="*/ 0 w 1370758"/>
              <a:gd name="connsiteY3" fmla="*/ 827194 h 827194"/>
              <a:gd name="connsiteX4" fmla="*/ 47625 w 1370758"/>
              <a:gd name="connsiteY4" fmla="*/ 0 h 827194"/>
              <a:gd name="connsiteX0" fmla="*/ 47625 w 1370758"/>
              <a:gd name="connsiteY0" fmla="*/ 0 h 836719"/>
              <a:gd name="connsiteX1" fmla="*/ 1370758 w 1370758"/>
              <a:gd name="connsiteY1" fmla="*/ 0 h 836719"/>
              <a:gd name="connsiteX2" fmla="*/ 875458 w 1370758"/>
              <a:gd name="connsiteY2" fmla="*/ 836719 h 836719"/>
              <a:gd name="connsiteX3" fmla="*/ 0 w 1370758"/>
              <a:gd name="connsiteY3" fmla="*/ 827194 h 836719"/>
              <a:gd name="connsiteX4" fmla="*/ 47625 w 1370758"/>
              <a:gd name="connsiteY4" fmla="*/ 0 h 836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0758" h="836719">
                <a:moveTo>
                  <a:pt x="47625" y="0"/>
                </a:moveTo>
                <a:lnTo>
                  <a:pt x="1370758" y="0"/>
                </a:lnTo>
                <a:lnTo>
                  <a:pt x="875458" y="836719"/>
                </a:lnTo>
                <a:lnTo>
                  <a:pt x="0" y="827194"/>
                </a:lnTo>
                <a:lnTo>
                  <a:pt x="47625" y="0"/>
                </a:lnTo>
                <a:close/>
              </a:path>
            </a:pathLst>
          </a:custGeom>
          <a:solidFill>
            <a:srgbClr val="FF92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52CCD85-8D0F-49EB-B3C2-54302362E2F9}"/>
              </a:ext>
            </a:extLst>
          </p:cNvPr>
          <p:cNvSpPr txBox="1"/>
          <p:nvPr/>
        </p:nvSpPr>
        <p:spPr>
          <a:xfrm>
            <a:off x="714465" y="85105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CFA0946-B8A4-41DB-B9EC-1EAF60853AD6}"/>
              </a:ext>
            </a:extLst>
          </p:cNvPr>
          <p:cNvSpPr/>
          <p:nvPr/>
        </p:nvSpPr>
        <p:spPr>
          <a:xfrm>
            <a:off x="1685678" y="1121079"/>
            <a:ext cx="403500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accent1"/>
              </a:buClr>
            </a:pPr>
            <a:r>
              <a:rPr lang="en-US" altLang="zh-CN" sz="2800" dirty="0">
                <a:latin typeface="Times New Roman" pitchFamily="18" charset="0"/>
              </a:rPr>
              <a:t>float x=3.5;</a:t>
            </a:r>
          </a:p>
          <a:p>
            <a:pPr>
              <a:buClr>
                <a:schemeClr val="accent1"/>
              </a:buClr>
            </a:pPr>
            <a:r>
              <a:rPr lang="en-US" altLang="zh-CN" sz="2800" dirty="0" err="1">
                <a:latin typeface="Times New Roman" pitchFamily="18" charset="0"/>
              </a:rPr>
              <a:t>int</a:t>
            </a:r>
            <a:r>
              <a:rPr lang="en-US" altLang="zh-CN" sz="2800" dirty="0">
                <a:latin typeface="Times New Roman" pitchFamily="18" charset="0"/>
              </a:rPr>
              <a:t> y=12345;</a:t>
            </a:r>
          </a:p>
          <a:p>
            <a:pPr>
              <a:buClr>
                <a:schemeClr val="accent1"/>
              </a:buClr>
            </a:pPr>
            <a:r>
              <a:rPr lang="en-US" altLang="zh-CN" sz="2800" dirty="0" err="1">
                <a:latin typeface="Times New Roman" pitchFamily="18" charset="0"/>
              </a:rPr>
              <a:t>printf</a:t>
            </a:r>
            <a:r>
              <a:rPr lang="en-US" altLang="zh-CN" sz="2800" dirty="0">
                <a:latin typeface="Times New Roman" pitchFamily="18" charset="0"/>
              </a:rPr>
              <a:t>("%</a:t>
            </a:r>
            <a:r>
              <a:rPr lang="en-US" altLang="zh-CN" sz="2800" dirty="0">
                <a:solidFill>
                  <a:srgbClr val="FF0000"/>
                </a:solidFill>
                <a:latin typeface="Times New Roman" pitchFamily="18" charset="0"/>
              </a:rPr>
              <a:t>6.2f</a:t>
            </a:r>
            <a:r>
              <a:rPr lang="en-US" altLang="zh-CN" sz="2800" dirty="0">
                <a:latin typeface="Times New Roman" pitchFamily="18" charset="0"/>
              </a:rPr>
              <a:t> \n", x);</a:t>
            </a:r>
          </a:p>
          <a:p>
            <a:pPr>
              <a:buClr>
                <a:schemeClr val="accent1"/>
              </a:buClr>
            </a:pPr>
            <a:r>
              <a:rPr lang="en-US" altLang="zh-CN" sz="2800" dirty="0" err="1">
                <a:latin typeface="Times New Roman" pitchFamily="18" charset="0"/>
              </a:rPr>
              <a:t>printf</a:t>
            </a:r>
            <a:r>
              <a:rPr lang="en-US" altLang="zh-CN" sz="2800" dirty="0">
                <a:latin typeface="Times New Roman" pitchFamily="18" charset="0"/>
              </a:rPr>
              <a:t>("%</a:t>
            </a:r>
            <a:r>
              <a:rPr lang="en-US" altLang="zh-CN" sz="2800" dirty="0">
                <a:solidFill>
                  <a:srgbClr val="FF0000"/>
                </a:solidFill>
                <a:latin typeface="Times New Roman" pitchFamily="18" charset="0"/>
              </a:rPr>
              <a:t>3d</a:t>
            </a:r>
            <a:r>
              <a:rPr lang="en-US" altLang="zh-CN" sz="2800" dirty="0">
                <a:latin typeface="Times New Roman" pitchFamily="18" charset="0"/>
              </a:rPr>
              <a:t> \n", y);</a:t>
            </a:r>
          </a:p>
        </p:txBody>
      </p:sp>
    </p:spTree>
    <p:extLst>
      <p:ext uri="{BB962C8B-B14F-4D97-AF65-F5344CB8AC3E}">
        <p14:creationId xmlns:p14="http://schemas.microsoft.com/office/powerpoint/2010/main" val="1706074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  <p:bldP spid="20" grpId="0" animBg="1"/>
      <p:bldP spid="21" grpId="0" animBg="1"/>
      <p:bldP spid="22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ChangeArrowheads="1"/>
          </p:cNvSpPr>
          <p:nvPr/>
        </p:nvSpPr>
        <p:spPr bwMode="auto">
          <a:xfrm>
            <a:off x="2053915" y="454880"/>
            <a:ext cx="7365692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  <a:buClr>
                <a:schemeClr val="hlink"/>
              </a:buClr>
            </a:pPr>
            <a:r>
              <a:rPr lang="zh-CN" altLang="en-US" sz="4000" b="1" dirty="0">
                <a:solidFill>
                  <a:srgbClr val="002060"/>
                </a:solidFill>
                <a:latin typeface="Arial" charset="0"/>
              </a:rPr>
              <a:t>标准格式输入函数</a:t>
            </a:r>
            <a:r>
              <a:rPr lang="en-US" altLang="zh-CN" sz="4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sz="4000" b="1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scanf</a:t>
            </a:r>
            <a:r>
              <a:rPr lang="en-US" altLang="zh-CN" sz="4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</a:t>
            </a:r>
            <a:endParaRPr lang="zh-CN" altLang="en-US" sz="4000" b="1" dirty="0">
              <a:solidFill>
                <a:srgbClr val="002060"/>
              </a:solidFill>
              <a:latin typeface="Arial" charset="0"/>
            </a:endParaRPr>
          </a:p>
        </p:txBody>
      </p:sp>
      <p:sp>
        <p:nvSpPr>
          <p:cNvPr id="314372" name="Rectangle 4"/>
          <p:cNvSpPr>
            <a:spLocks noChangeArrowheads="1"/>
          </p:cNvSpPr>
          <p:nvPr/>
        </p:nvSpPr>
        <p:spPr bwMode="auto">
          <a:xfrm>
            <a:off x="1998249" y="1782846"/>
            <a:ext cx="7477025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</a:rPr>
              <a:t>格式：</a:t>
            </a:r>
            <a:r>
              <a:rPr lang="zh-CN" altLang="en-US" sz="3200" b="1" dirty="0">
                <a:solidFill>
                  <a:srgbClr val="FF5555"/>
                </a:solidFill>
                <a:latin typeface="Times New Roman" pitchFamily="18" charset="0"/>
              </a:rPr>
              <a:t> </a:t>
            </a:r>
            <a:r>
              <a:rPr lang="en-US" altLang="zh-CN" sz="3200" b="1" dirty="0" err="1">
                <a:solidFill>
                  <a:srgbClr val="0000FF"/>
                </a:solidFill>
                <a:latin typeface="Times New Roman" pitchFamily="18" charset="0"/>
              </a:rPr>
              <a:t>scanf</a:t>
            </a:r>
            <a:r>
              <a:rPr lang="en-US" altLang="zh-CN" sz="3200" b="1" dirty="0">
                <a:latin typeface="Times New Roman" pitchFamily="18" charset="0"/>
              </a:rPr>
              <a:t>(</a:t>
            </a:r>
            <a:r>
              <a:rPr lang="zh-CN" altLang="en-US" sz="3200" b="1" dirty="0">
                <a:latin typeface="Times New Roman" pitchFamily="18" charset="0"/>
              </a:rPr>
              <a:t>格式控制字符串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</a:rPr>
              <a:t>,</a:t>
            </a:r>
            <a:r>
              <a:rPr lang="en-US" altLang="zh-CN" sz="3200" b="1" dirty="0">
                <a:latin typeface="Times New Roman" pitchFamily="18" charset="0"/>
              </a:rPr>
              <a:t>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itchFamily="18" charset="0"/>
              </a:rPr>
              <a:t>地址列表</a:t>
            </a:r>
            <a:r>
              <a:rPr lang="en-US" altLang="zh-CN" sz="3200" b="1" dirty="0">
                <a:latin typeface="Times New Roman" pitchFamily="18" charset="0"/>
              </a:rPr>
              <a:t>) </a:t>
            </a:r>
          </a:p>
        </p:txBody>
      </p:sp>
      <p:sp>
        <p:nvSpPr>
          <p:cNvPr id="314373" name="Rectangle 5"/>
          <p:cNvSpPr>
            <a:spLocks noChangeArrowheads="1"/>
          </p:cNvSpPr>
          <p:nvPr/>
        </p:nvSpPr>
        <p:spPr bwMode="auto">
          <a:xfrm>
            <a:off x="1998248" y="2705705"/>
            <a:ext cx="7583488" cy="1570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zh-CN" sz="3200" b="1" dirty="0">
                <a:solidFill>
                  <a:srgbClr val="FF0000"/>
                </a:solidFill>
                <a:latin typeface="Times New Roman" pitchFamily="18" charset="0"/>
              </a:rPr>
              <a:t>功能：</a:t>
            </a:r>
            <a:r>
              <a:rPr lang="zh-CN" altLang="zh-CN" sz="3200" b="1" dirty="0">
                <a:latin typeface="Times New Roman" pitchFamily="18" charset="0"/>
              </a:rPr>
              <a:t>按指定格式从键盘读入数据，存入</a:t>
            </a:r>
            <a:endParaRPr lang="zh-CN" altLang="en-US" sz="3200" b="1" dirty="0">
              <a:latin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3200" b="1" dirty="0">
                <a:latin typeface="Times New Roman" pitchFamily="18" charset="0"/>
              </a:rPr>
              <a:t>            </a:t>
            </a:r>
            <a:r>
              <a:rPr lang="zh-CN" altLang="zh-CN" sz="3200" b="1" dirty="0">
                <a:latin typeface="Times New Roman" pitchFamily="18" charset="0"/>
              </a:rPr>
              <a:t>地址表指定的存储单元中</a:t>
            </a:r>
            <a:endParaRPr lang="zh-CN" altLang="en-US" sz="3200" b="1" dirty="0">
              <a:latin typeface="Times New Roman" pitchFamily="18" charset="0"/>
            </a:endParaRPr>
          </a:p>
        </p:txBody>
      </p:sp>
      <p:sp>
        <p:nvSpPr>
          <p:cNvPr id="314374" name="Text Box 6"/>
          <p:cNvSpPr txBox="1">
            <a:spLocks noChangeArrowheads="1"/>
          </p:cNvSpPr>
          <p:nvPr/>
        </p:nvSpPr>
        <p:spPr bwMode="auto">
          <a:xfrm>
            <a:off x="1998299" y="4373648"/>
            <a:ext cx="5040313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例子：</a:t>
            </a:r>
            <a:r>
              <a:rPr lang="en-US" altLang="zh-CN" b="1" dirty="0" err="1">
                <a:latin typeface="Times New Roman" pitchFamily="18" charset="0"/>
                <a:ea typeface="+mn-ea"/>
                <a:cs typeface="Times New Roman" pitchFamily="18" charset="0"/>
              </a:rPr>
              <a:t>int</a:t>
            </a:r>
            <a:r>
              <a:rPr lang="en-US" altLang="zh-CN" b="1" dirty="0">
                <a:latin typeface="Times New Roman" pitchFamily="18" charset="0"/>
                <a:ea typeface="+mn-ea"/>
                <a:cs typeface="Times New Roman" pitchFamily="18" charset="0"/>
              </a:rPr>
              <a:t> a;         </a:t>
            </a:r>
            <a:r>
              <a:rPr lang="zh-CN" altLang="en-US" b="1" dirty="0">
                <a:latin typeface="Times New Roman" pitchFamily="18" charset="0"/>
                <a:ea typeface="+mn-ea"/>
                <a:cs typeface="Times New Roman" pitchFamily="18" charset="0"/>
              </a:rPr>
              <a:t>　　　　</a:t>
            </a:r>
          </a:p>
          <a:p>
            <a:pPr eaLnBrk="1" hangingPunct="1"/>
            <a:r>
              <a:rPr lang="zh-CN" altLang="en-US" b="1" dirty="0">
                <a:latin typeface="Times New Roman" pitchFamily="18" charset="0"/>
                <a:ea typeface="+mn-ea"/>
                <a:cs typeface="Times New Roman" pitchFamily="18" charset="0"/>
              </a:rPr>
              <a:t>　　　</a:t>
            </a:r>
            <a:r>
              <a:rPr lang="en-US" altLang="zh-CN" b="1" dirty="0" err="1">
                <a:latin typeface="Times New Roman" pitchFamily="18" charset="0"/>
                <a:ea typeface="+mn-ea"/>
                <a:cs typeface="Times New Roman" pitchFamily="18" charset="0"/>
              </a:rPr>
              <a:t>scanf</a:t>
            </a:r>
            <a:r>
              <a:rPr lang="en-US" altLang="zh-CN" b="1" dirty="0">
                <a:latin typeface="Times New Roman" pitchFamily="18" charset="0"/>
                <a:ea typeface="+mn-ea"/>
                <a:cs typeface="Times New Roman" pitchFamily="18" charset="0"/>
              </a:rPr>
              <a:t>("%</a:t>
            </a:r>
            <a:r>
              <a:rPr lang="en-US" altLang="zh-CN" b="1" dirty="0" err="1">
                <a:latin typeface="Times New Roman" pitchFamily="18" charset="0"/>
                <a:ea typeface="+mn-ea"/>
                <a:cs typeface="Times New Roman" pitchFamily="18" charset="0"/>
              </a:rPr>
              <a:t>d",</a:t>
            </a:r>
            <a:r>
              <a:rPr lang="en-US" altLang="zh-CN" b="1" dirty="0" err="1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&amp;</a:t>
            </a:r>
            <a:r>
              <a:rPr lang="en-US" altLang="zh-CN" b="1" dirty="0" err="1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en-US" altLang="zh-CN" b="1" dirty="0">
                <a:latin typeface="Times New Roman" pitchFamily="18" charset="0"/>
                <a:ea typeface="+mn-ea"/>
                <a:cs typeface="Times New Roman" pitchFamily="18" charset="0"/>
              </a:rPr>
              <a:t>);</a:t>
            </a:r>
            <a:endParaRPr lang="en-US" altLang="zh-CN" b="1" dirty="0">
              <a:latin typeface="Times New Roman" pitchFamily="18" charset="0"/>
              <a:ea typeface="+mn-ea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314376" name="Rectangle 8"/>
          <p:cNvSpPr>
            <a:spLocks noChangeArrowheads="1"/>
          </p:cNvSpPr>
          <p:nvPr/>
        </p:nvSpPr>
        <p:spPr bwMode="auto">
          <a:xfrm>
            <a:off x="3295237" y="5656348"/>
            <a:ext cx="2808287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1" hangingPunct="1"/>
            <a:r>
              <a:rPr lang="zh-CN" altLang="zh-CN" sz="3600" b="1">
                <a:latin typeface="Times New Roman" pitchFamily="18" charset="0"/>
              </a:rPr>
              <a:t>输入：</a:t>
            </a:r>
            <a:r>
              <a:rPr lang="zh-CN" altLang="en-US" sz="3600" b="1">
                <a:latin typeface="Times New Roman" pitchFamily="18" charset="0"/>
              </a:rPr>
              <a:t> </a:t>
            </a:r>
            <a:r>
              <a:rPr lang="zh-CN" altLang="zh-CN" sz="3600" b="1">
                <a:solidFill>
                  <a:srgbClr val="FF0000"/>
                </a:solidFill>
                <a:latin typeface="Times New Roman" pitchFamily="18" charset="0"/>
              </a:rPr>
              <a:t>10</a:t>
            </a:r>
            <a:r>
              <a:rPr lang="zh-CN" altLang="zh-CN" sz="3600" b="1">
                <a:solidFill>
                  <a:srgbClr val="FF5555"/>
                </a:solidFill>
                <a:latin typeface="Times New Roman" pitchFamily="18" charset="0"/>
              </a:rPr>
              <a:t> </a:t>
            </a:r>
            <a:r>
              <a:rPr lang="en-US" altLang="zh-CN" sz="3600" b="1">
                <a:latin typeface="Times New Roman" pitchFamily="18" charset="0"/>
                <a:sym typeface="Symbol" pitchFamily="18" charset="2"/>
              </a:rPr>
              <a:t></a:t>
            </a:r>
          </a:p>
        </p:txBody>
      </p:sp>
    </p:spTree>
    <p:extLst>
      <p:ext uri="{BB962C8B-B14F-4D97-AF65-F5344CB8AC3E}">
        <p14:creationId xmlns:p14="http://schemas.microsoft.com/office/powerpoint/2010/main" val="12820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4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4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4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143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4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2" grpId="0" autoUpdateAnimBg="0"/>
      <p:bldP spid="314373" grpId="0" build="p" autoUpdateAnimBg="0"/>
      <p:bldP spid="314374" grpId="0"/>
      <p:bldP spid="314376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465" name="Group 49"/>
          <p:cNvGrpSpPr>
            <a:grpSpLocks/>
          </p:cNvGrpSpPr>
          <p:nvPr/>
        </p:nvGrpSpPr>
        <p:grpSpPr bwMode="auto">
          <a:xfrm>
            <a:off x="2048880" y="1588379"/>
            <a:ext cx="6430963" cy="738188"/>
            <a:chOff x="336" y="1141"/>
            <a:chExt cx="3699" cy="465"/>
          </a:xfrm>
        </p:grpSpPr>
        <p:sp>
          <p:nvSpPr>
            <p:cNvPr id="22569" name="Text Box 7"/>
            <p:cNvSpPr txBox="1">
              <a:spLocks noChangeArrowheads="1"/>
            </p:cNvSpPr>
            <p:nvPr/>
          </p:nvSpPr>
          <p:spPr bwMode="auto">
            <a:xfrm>
              <a:off x="336" y="1159"/>
              <a:ext cx="628" cy="4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sz="2000" dirty="0">
                  <a:latin typeface="Times New Roman" pitchFamily="18" charset="0"/>
                  <a:ea typeface="+mn-ea"/>
                  <a:cs typeface="Times New Roman" pitchFamily="18" charset="0"/>
                </a:rPr>
                <a:t>格式</a:t>
              </a:r>
            </a:p>
            <a:p>
              <a:pPr algn="ctr" eaLnBrk="1" hangingPunct="1"/>
              <a:r>
                <a:rPr lang="zh-CN" altLang="en-US" sz="2000" dirty="0">
                  <a:latin typeface="Times New Roman" pitchFamily="18" charset="0"/>
                  <a:ea typeface="+mn-ea"/>
                  <a:cs typeface="Times New Roman" pitchFamily="18" charset="0"/>
                </a:rPr>
                <a:t>字符</a:t>
              </a:r>
            </a:p>
          </p:txBody>
        </p:sp>
        <p:sp>
          <p:nvSpPr>
            <p:cNvPr id="22570" name="Text Box 8"/>
            <p:cNvSpPr txBox="1">
              <a:spLocks noChangeArrowheads="1"/>
            </p:cNvSpPr>
            <p:nvPr/>
          </p:nvSpPr>
          <p:spPr bwMode="auto">
            <a:xfrm>
              <a:off x="2135" y="1141"/>
              <a:ext cx="1900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latin typeface="Times New Roman" pitchFamily="18" charset="0"/>
                  <a:ea typeface="+mn-ea"/>
                  <a:cs typeface="Times New Roman" pitchFamily="18" charset="0"/>
                </a:rPr>
                <a:t>功                     能</a:t>
              </a:r>
            </a:p>
          </p:txBody>
        </p:sp>
      </p:grpSp>
      <p:grpSp>
        <p:nvGrpSpPr>
          <p:cNvPr id="316466" name="Group 50"/>
          <p:cNvGrpSpPr>
            <a:grpSpLocks/>
          </p:cNvGrpSpPr>
          <p:nvPr/>
        </p:nvGrpSpPr>
        <p:grpSpPr bwMode="auto">
          <a:xfrm>
            <a:off x="2071105" y="2190038"/>
            <a:ext cx="5040313" cy="612774"/>
            <a:chOff x="521" y="1344"/>
            <a:chExt cx="3175" cy="386"/>
          </a:xfrm>
        </p:grpSpPr>
        <p:sp>
          <p:nvSpPr>
            <p:cNvPr id="22567" name="Text Box 10"/>
            <p:cNvSpPr txBox="1">
              <a:spLocks noChangeArrowheads="1"/>
            </p:cNvSpPr>
            <p:nvPr/>
          </p:nvSpPr>
          <p:spPr bwMode="auto">
            <a:xfrm>
              <a:off x="521" y="1360"/>
              <a:ext cx="60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%c</a:t>
              </a:r>
            </a:p>
          </p:txBody>
        </p:sp>
        <p:sp>
          <p:nvSpPr>
            <p:cNvPr id="22568" name="Text Box 16"/>
            <p:cNvSpPr txBox="1">
              <a:spLocks noChangeArrowheads="1"/>
            </p:cNvSpPr>
            <p:nvPr/>
          </p:nvSpPr>
          <p:spPr bwMode="auto">
            <a:xfrm>
              <a:off x="1132" y="1344"/>
              <a:ext cx="2564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 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用于输入一个字符</a:t>
              </a:r>
            </a:p>
          </p:txBody>
        </p:sp>
      </p:grpSp>
      <p:grpSp>
        <p:nvGrpSpPr>
          <p:cNvPr id="316467" name="Group 51"/>
          <p:cNvGrpSpPr>
            <a:grpSpLocks/>
          </p:cNvGrpSpPr>
          <p:nvPr/>
        </p:nvGrpSpPr>
        <p:grpSpPr bwMode="auto">
          <a:xfrm>
            <a:off x="2033005" y="3126663"/>
            <a:ext cx="8247063" cy="615949"/>
            <a:chOff x="452" y="2051"/>
            <a:chExt cx="5195" cy="388"/>
          </a:xfrm>
        </p:grpSpPr>
        <p:sp>
          <p:nvSpPr>
            <p:cNvPr id="22565" name="Text Box 6"/>
            <p:cNvSpPr txBox="1">
              <a:spLocks noChangeArrowheads="1"/>
            </p:cNvSpPr>
            <p:nvPr/>
          </p:nvSpPr>
          <p:spPr bwMode="auto">
            <a:xfrm>
              <a:off x="452" y="2069"/>
              <a:ext cx="543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%d</a:t>
              </a:r>
            </a:p>
          </p:txBody>
        </p:sp>
        <p:sp>
          <p:nvSpPr>
            <p:cNvPr id="22566" name="Text Box 17"/>
            <p:cNvSpPr txBox="1">
              <a:spLocks noChangeArrowheads="1"/>
            </p:cNvSpPr>
            <p:nvPr/>
          </p:nvSpPr>
          <p:spPr bwMode="auto">
            <a:xfrm>
              <a:off x="1162" y="2051"/>
              <a:ext cx="448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zh-CN">
                  <a:solidFill>
                    <a:srgbClr val="FF0000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用于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输入一个十进制整数</a:t>
              </a:r>
              <a:r>
                <a:rPr lang="en-US" altLang="zh-CN">
                  <a:solidFill>
                    <a:srgbClr val="0000FF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(</a:t>
              </a:r>
              <a:r>
                <a:rPr lang="zh-CN" altLang="en-US">
                  <a:solidFill>
                    <a:srgbClr val="0000FF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有符号</a:t>
              </a:r>
              <a:r>
                <a:rPr lang="en-US" altLang="zh-CN">
                  <a:solidFill>
                    <a:srgbClr val="0000FF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)</a:t>
              </a:r>
            </a:p>
          </p:txBody>
        </p:sp>
      </p:grpSp>
      <p:sp>
        <p:nvSpPr>
          <p:cNvPr id="22534" name="Rectangle 23"/>
          <p:cNvSpPr>
            <a:spLocks noChangeArrowheads="1"/>
          </p:cNvSpPr>
          <p:nvPr/>
        </p:nvSpPr>
        <p:spPr bwMode="auto">
          <a:xfrm>
            <a:off x="1690371" y="372360"/>
            <a:ext cx="7351027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  <a:buClr>
                <a:schemeClr val="hlink"/>
              </a:buClr>
            </a:pPr>
            <a:r>
              <a:rPr lang="zh-CN" altLang="en-US" sz="4000" b="1" dirty="0">
                <a:solidFill>
                  <a:srgbClr val="002060"/>
                </a:solidFill>
                <a:latin typeface="Arial" charset="0"/>
              </a:rPr>
              <a:t>标准格式输入函数</a:t>
            </a:r>
            <a:r>
              <a:rPr lang="en-US" altLang="zh-CN" sz="4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scanf</a:t>
            </a:r>
            <a:r>
              <a:rPr lang="en-US" altLang="zh-CN" sz="40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 )</a:t>
            </a:r>
            <a:endParaRPr lang="zh-CN" altLang="en-US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6469" name="Group 53"/>
          <p:cNvGrpSpPr>
            <a:grpSpLocks/>
          </p:cNvGrpSpPr>
          <p:nvPr/>
        </p:nvGrpSpPr>
        <p:grpSpPr bwMode="auto">
          <a:xfrm>
            <a:off x="2071104" y="4051962"/>
            <a:ext cx="6840538" cy="630238"/>
            <a:chOff x="476" y="2614"/>
            <a:chExt cx="4309" cy="397"/>
          </a:xfrm>
        </p:grpSpPr>
        <p:sp>
          <p:nvSpPr>
            <p:cNvPr id="22563" name="Text Box 18"/>
            <p:cNvSpPr txBox="1">
              <a:spLocks noChangeArrowheads="1"/>
            </p:cNvSpPr>
            <p:nvPr/>
          </p:nvSpPr>
          <p:spPr bwMode="auto">
            <a:xfrm>
              <a:off x="1157" y="2614"/>
              <a:ext cx="3628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zh-CN" dirty="0">
                  <a:solidFill>
                    <a:srgbClr val="FF0000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用于输入</a:t>
              </a:r>
              <a:r>
                <a:rPr lang="zh-CN" altLang="en-US" dirty="0">
                  <a:solidFill>
                    <a:srgbClr val="FF0000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一个普通形式的</a:t>
              </a:r>
              <a:r>
                <a:rPr lang="zh-CN" altLang="zh-CN" dirty="0">
                  <a:solidFill>
                    <a:srgbClr val="FF0000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实数</a:t>
              </a:r>
              <a:endParaRPr lang="zh-CN" altLang="en-US" dirty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2564" name="Text Box 24"/>
            <p:cNvSpPr txBox="1">
              <a:spLocks noChangeArrowheads="1"/>
            </p:cNvSpPr>
            <p:nvPr/>
          </p:nvSpPr>
          <p:spPr bwMode="auto">
            <a:xfrm>
              <a:off x="476" y="2641"/>
              <a:ext cx="512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%f</a:t>
              </a:r>
            </a:p>
          </p:txBody>
        </p:sp>
      </p:grpSp>
      <p:grpSp>
        <p:nvGrpSpPr>
          <p:cNvPr id="316464" name="Group 48"/>
          <p:cNvGrpSpPr>
            <a:grpSpLocks/>
          </p:cNvGrpSpPr>
          <p:nvPr/>
        </p:nvGrpSpPr>
        <p:grpSpPr bwMode="auto">
          <a:xfrm>
            <a:off x="1848855" y="1585202"/>
            <a:ext cx="8215313" cy="4522788"/>
            <a:chOff x="336" y="1080"/>
            <a:chExt cx="5088" cy="2304"/>
          </a:xfrm>
        </p:grpSpPr>
        <p:sp>
          <p:nvSpPr>
            <p:cNvPr id="22552" name="Line 5"/>
            <p:cNvSpPr>
              <a:spLocks noChangeShapeType="1"/>
            </p:cNvSpPr>
            <p:nvPr/>
          </p:nvSpPr>
          <p:spPr bwMode="auto">
            <a:xfrm>
              <a:off x="1199" y="1080"/>
              <a:ext cx="1" cy="2304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2553" name="Group 47"/>
            <p:cNvGrpSpPr>
              <a:grpSpLocks/>
            </p:cNvGrpSpPr>
            <p:nvPr/>
          </p:nvGrpSpPr>
          <p:grpSpPr bwMode="auto">
            <a:xfrm>
              <a:off x="336" y="1080"/>
              <a:ext cx="5088" cy="2304"/>
              <a:chOff x="336" y="1080"/>
              <a:chExt cx="5088" cy="2304"/>
            </a:xfrm>
          </p:grpSpPr>
          <p:sp>
            <p:nvSpPr>
              <p:cNvPr id="22554" name="Rectangle 3"/>
              <p:cNvSpPr>
                <a:spLocks noChangeArrowheads="1"/>
              </p:cNvSpPr>
              <p:nvPr/>
            </p:nvSpPr>
            <p:spPr bwMode="auto">
              <a:xfrm>
                <a:off x="341" y="1080"/>
                <a:ext cx="5080" cy="2304"/>
              </a:xfrm>
              <a:prstGeom prst="rect">
                <a:avLst/>
              </a:prstGeom>
              <a:noFill/>
              <a:ln w="38100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algn="ctr" eaLnBrk="1" hangingPunct="1"/>
                <a:endParaRPr lang="zh-CN" altLang="zh-CN" sz="32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2555" name="Line 4"/>
              <p:cNvSpPr>
                <a:spLocks noChangeShapeType="1"/>
              </p:cNvSpPr>
              <p:nvPr/>
            </p:nvSpPr>
            <p:spPr bwMode="auto">
              <a:xfrm flipV="1">
                <a:off x="336" y="1416"/>
                <a:ext cx="5088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2556" name="Line 9"/>
              <p:cNvSpPr>
                <a:spLocks noChangeShapeType="1"/>
              </p:cNvSpPr>
              <p:nvPr/>
            </p:nvSpPr>
            <p:spPr bwMode="auto">
              <a:xfrm>
                <a:off x="336" y="1648"/>
                <a:ext cx="5066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2557" name="Line 14"/>
              <p:cNvSpPr>
                <a:spLocks noChangeShapeType="1"/>
              </p:cNvSpPr>
              <p:nvPr/>
            </p:nvSpPr>
            <p:spPr bwMode="auto">
              <a:xfrm>
                <a:off x="336" y="2152"/>
                <a:ext cx="5066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2558" name="Line 15"/>
              <p:cNvSpPr>
                <a:spLocks noChangeShapeType="1"/>
              </p:cNvSpPr>
              <p:nvPr/>
            </p:nvSpPr>
            <p:spPr bwMode="auto">
              <a:xfrm>
                <a:off x="344" y="2383"/>
                <a:ext cx="5066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2559" name="Line 21"/>
              <p:cNvSpPr>
                <a:spLocks noChangeShapeType="1"/>
              </p:cNvSpPr>
              <p:nvPr/>
            </p:nvSpPr>
            <p:spPr bwMode="auto">
              <a:xfrm>
                <a:off x="336" y="1904"/>
                <a:ext cx="5086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2560" name="Line 27"/>
              <p:cNvSpPr>
                <a:spLocks noChangeShapeType="1"/>
              </p:cNvSpPr>
              <p:nvPr/>
            </p:nvSpPr>
            <p:spPr bwMode="auto">
              <a:xfrm>
                <a:off x="358" y="2607"/>
                <a:ext cx="5066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2561" name="Line 28"/>
              <p:cNvSpPr>
                <a:spLocks noChangeShapeType="1"/>
              </p:cNvSpPr>
              <p:nvPr/>
            </p:nvSpPr>
            <p:spPr bwMode="auto">
              <a:xfrm>
                <a:off x="336" y="2856"/>
                <a:ext cx="5066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2562" name="Line 30"/>
              <p:cNvSpPr>
                <a:spLocks noChangeShapeType="1"/>
              </p:cNvSpPr>
              <p:nvPr/>
            </p:nvSpPr>
            <p:spPr bwMode="auto">
              <a:xfrm>
                <a:off x="336" y="3136"/>
                <a:ext cx="5066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316470" name="Group 54"/>
          <p:cNvGrpSpPr>
            <a:grpSpLocks/>
          </p:cNvGrpSpPr>
          <p:nvPr/>
        </p:nvGrpSpPr>
        <p:grpSpPr bwMode="auto">
          <a:xfrm>
            <a:off x="2071104" y="4515731"/>
            <a:ext cx="7183438" cy="617538"/>
            <a:chOff x="476" y="2886"/>
            <a:chExt cx="4525" cy="389"/>
          </a:xfrm>
        </p:grpSpPr>
        <p:sp>
          <p:nvSpPr>
            <p:cNvPr id="22550" name="Text Box 25"/>
            <p:cNvSpPr txBox="1">
              <a:spLocks noChangeArrowheads="1"/>
            </p:cNvSpPr>
            <p:nvPr/>
          </p:nvSpPr>
          <p:spPr bwMode="auto">
            <a:xfrm>
              <a:off x="476" y="2905"/>
              <a:ext cx="573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latin typeface="Times New Roman" pitchFamily="18" charset="0"/>
                  <a:ea typeface="+mn-ea"/>
                  <a:cs typeface="Times New Roman" pitchFamily="18" charset="0"/>
                </a:rPr>
                <a:t>%e</a:t>
              </a:r>
            </a:p>
          </p:txBody>
        </p:sp>
        <p:sp>
          <p:nvSpPr>
            <p:cNvPr id="22551" name="Text Box 31"/>
            <p:cNvSpPr txBox="1">
              <a:spLocks noChangeArrowheads="1"/>
            </p:cNvSpPr>
            <p:nvPr/>
          </p:nvSpPr>
          <p:spPr bwMode="auto">
            <a:xfrm>
              <a:off x="1156" y="2886"/>
              <a:ext cx="384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zh-CN">
                  <a:latin typeface="Times New Roman" pitchFamily="18" charset="0"/>
                  <a:ea typeface="+mn-ea"/>
                  <a:cs typeface="Times New Roman" pitchFamily="18" charset="0"/>
                </a:rPr>
                <a:t>用于输入</a:t>
              </a:r>
              <a:r>
                <a:rPr lang="zh-CN" altLang="en-US">
                  <a:latin typeface="Times New Roman" pitchFamily="18" charset="0"/>
                  <a:ea typeface="+mn-ea"/>
                  <a:cs typeface="Times New Roman" pitchFamily="18" charset="0"/>
                </a:rPr>
                <a:t>一个</a:t>
              </a:r>
              <a:r>
                <a:rPr lang="zh-CN" altLang="zh-CN">
                  <a:latin typeface="Times New Roman" pitchFamily="18" charset="0"/>
                  <a:ea typeface="+mn-ea"/>
                  <a:cs typeface="Times New Roman" pitchFamily="18" charset="0"/>
                </a:rPr>
                <a:t>指数形式的实数</a:t>
              </a:r>
              <a:endParaRPr lang="zh-CN" altLang="en-US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grpSp>
        <p:nvGrpSpPr>
          <p:cNvPr id="316468" name="Group 52"/>
          <p:cNvGrpSpPr>
            <a:grpSpLocks/>
          </p:cNvGrpSpPr>
          <p:nvPr/>
        </p:nvGrpSpPr>
        <p:grpSpPr bwMode="auto">
          <a:xfrm>
            <a:off x="2036180" y="3615394"/>
            <a:ext cx="7883525" cy="600074"/>
            <a:chOff x="454" y="2339"/>
            <a:chExt cx="4966" cy="378"/>
          </a:xfrm>
        </p:grpSpPr>
        <p:sp>
          <p:nvSpPr>
            <p:cNvPr id="22548" name="Text Box 26"/>
            <p:cNvSpPr txBox="1">
              <a:spLocks noChangeArrowheads="1"/>
            </p:cNvSpPr>
            <p:nvPr/>
          </p:nvSpPr>
          <p:spPr bwMode="auto">
            <a:xfrm>
              <a:off x="454" y="2347"/>
              <a:ext cx="688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latin typeface="Times New Roman" pitchFamily="18" charset="0"/>
                  <a:ea typeface="+mn-ea"/>
                  <a:cs typeface="Times New Roman" pitchFamily="18" charset="0"/>
                </a:rPr>
                <a:t>%u</a:t>
              </a:r>
            </a:p>
          </p:txBody>
        </p:sp>
        <p:sp>
          <p:nvSpPr>
            <p:cNvPr id="22549" name="Text Box 32"/>
            <p:cNvSpPr txBox="1">
              <a:spLocks noChangeArrowheads="1"/>
            </p:cNvSpPr>
            <p:nvPr/>
          </p:nvSpPr>
          <p:spPr bwMode="auto">
            <a:xfrm>
              <a:off x="1156" y="2339"/>
              <a:ext cx="4264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zh-CN" dirty="0">
                  <a:latin typeface="Times New Roman" pitchFamily="18" charset="0"/>
                  <a:ea typeface="+mn-ea"/>
                  <a:cs typeface="Times New Roman" pitchFamily="18" charset="0"/>
                </a:rPr>
                <a:t>用于输入</a:t>
              </a:r>
              <a:r>
                <a:rPr lang="zh-CN" altLang="en-US" dirty="0">
                  <a:latin typeface="Times New Roman" pitchFamily="18" charset="0"/>
                  <a:ea typeface="+mn-ea"/>
                  <a:cs typeface="Times New Roman" pitchFamily="18" charset="0"/>
                </a:rPr>
                <a:t>一个十进制整数</a:t>
              </a:r>
              <a:r>
                <a:rPr lang="en-US" altLang="zh-CN" dirty="0">
                  <a:solidFill>
                    <a:srgbClr val="FF0000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(</a:t>
              </a:r>
              <a:r>
                <a:rPr lang="zh-CN" altLang="en-US" dirty="0">
                  <a:solidFill>
                    <a:srgbClr val="FF0000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无符号</a:t>
              </a:r>
              <a:r>
                <a:rPr lang="en-US" altLang="zh-CN" dirty="0">
                  <a:solidFill>
                    <a:srgbClr val="FF0000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)</a:t>
              </a:r>
            </a:p>
          </p:txBody>
        </p:sp>
      </p:grpSp>
      <p:grpSp>
        <p:nvGrpSpPr>
          <p:cNvPr id="316471" name="Group 55"/>
          <p:cNvGrpSpPr>
            <a:grpSpLocks/>
          </p:cNvGrpSpPr>
          <p:nvPr/>
        </p:nvGrpSpPr>
        <p:grpSpPr bwMode="auto">
          <a:xfrm>
            <a:off x="2071104" y="5028486"/>
            <a:ext cx="8064500" cy="606424"/>
            <a:chOff x="476" y="3249"/>
            <a:chExt cx="5080" cy="382"/>
          </a:xfrm>
        </p:grpSpPr>
        <p:sp>
          <p:nvSpPr>
            <p:cNvPr id="22546" name="Text Box 33"/>
            <p:cNvSpPr txBox="1">
              <a:spLocks noChangeArrowheads="1"/>
            </p:cNvSpPr>
            <p:nvPr/>
          </p:nvSpPr>
          <p:spPr bwMode="auto">
            <a:xfrm>
              <a:off x="476" y="3249"/>
              <a:ext cx="680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latin typeface="Times New Roman" pitchFamily="18" charset="0"/>
                  <a:ea typeface="+mn-ea"/>
                  <a:cs typeface="Times New Roman" pitchFamily="18" charset="0"/>
                </a:rPr>
                <a:t>%o</a:t>
              </a:r>
            </a:p>
          </p:txBody>
        </p:sp>
        <p:sp>
          <p:nvSpPr>
            <p:cNvPr id="22547" name="Text Box 34"/>
            <p:cNvSpPr txBox="1">
              <a:spLocks noChangeArrowheads="1"/>
            </p:cNvSpPr>
            <p:nvPr/>
          </p:nvSpPr>
          <p:spPr bwMode="auto">
            <a:xfrm>
              <a:off x="1156" y="3261"/>
              <a:ext cx="4400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zh-CN">
                  <a:latin typeface="Times New Roman" pitchFamily="18" charset="0"/>
                  <a:ea typeface="+mn-ea"/>
                  <a:cs typeface="Times New Roman" pitchFamily="18" charset="0"/>
                </a:rPr>
                <a:t>输入</a:t>
              </a:r>
              <a:r>
                <a:rPr lang="zh-CN" altLang="en-US">
                  <a:latin typeface="Times New Roman" pitchFamily="18" charset="0"/>
                  <a:ea typeface="+mn-ea"/>
                  <a:cs typeface="Times New Roman" pitchFamily="18" charset="0"/>
                </a:rPr>
                <a:t>无符号八进制整数</a:t>
              </a:r>
              <a:r>
                <a:rPr lang="en-US" altLang="zh-CN">
                  <a:latin typeface="Times New Roman" pitchFamily="18" charset="0"/>
                  <a:ea typeface="+mn-ea"/>
                  <a:cs typeface="Times New Roman" pitchFamily="18" charset="0"/>
                </a:rPr>
                <a:t>(</a:t>
              </a:r>
              <a:r>
                <a:rPr lang="zh-CN" altLang="en-US">
                  <a:latin typeface="Times New Roman" pitchFamily="18" charset="0"/>
                  <a:ea typeface="+mn-ea"/>
                  <a:cs typeface="Times New Roman" pitchFamily="18" charset="0"/>
                </a:rPr>
                <a:t>带前导符</a:t>
              </a: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0</a:t>
              </a:r>
              <a:r>
                <a:rPr lang="en-US" altLang="zh-CN">
                  <a:latin typeface="Times New Roman" pitchFamily="18" charset="0"/>
                  <a:ea typeface="+mn-ea"/>
                  <a:cs typeface="Times New Roman" pitchFamily="18" charset="0"/>
                </a:rPr>
                <a:t>)</a:t>
              </a:r>
            </a:p>
          </p:txBody>
        </p:sp>
      </p:grpSp>
      <p:grpSp>
        <p:nvGrpSpPr>
          <p:cNvPr id="316472" name="Group 56"/>
          <p:cNvGrpSpPr>
            <a:grpSpLocks/>
          </p:cNvGrpSpPr>
          <p:nvPr/>
        </p:nvGrpSpPr>
        <p:grpSpPr bwMode="auto">
          <a:xfrm>
            <a:off x="2071105" y="5530135"/>
            <a:ext cx="8137525" cy="593724"/>
            <a:chOff x="476" y="3565"/>
            <a:chExt cx="5126" cy="374"/>
          </a:xfrm>
        </p:grpSpPr>
        <p:sp>
          <p:nvSpPr>
            <p:cNvPr id="22544" name="Text Box 35"/>
            <p:cNvSpPr txBox="1">
              <a:spLocks noChangeArrowheads="1"/>
            </p:cNvSpPr>
            <p:nvPr/>
          </p:nvSpPr>
          <p:spPr bwMode="auto">
            <a:xfrm>
              <a:off x="476" y="3569"/>
              <a:ext cx="544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latin typeface="Times New Roman" pitchFamily="18" charset="0"/>
                  <a:ea typeface="+mn-ea"/>
                  <a:cs typeface="Times New Roman" pitchFamily="18" charset="0"/>
                </a:rPr>
                <a:t>%x</a:t>
              </a:r>
            </a:p>
          </p:txBody>
        </p:sp>
        <p:sp>
          <p:nvSpPr>
            <p:cNvPr id="22545" name="Text Box 36"/>
            <p:cNvSpPr txBox="1">
              <a:spLocks noChangeArrowheads="1"/>
            </p:cNvSpPr>
            <p:nvPr/>
          </p:nvSpPr>
          <p:spPr bwMode="auto">
            <a:xfrm>
              <a:off x="1156" y="3565"/>
              <a:ext cx="4446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zh-CN">
                  <a:latin typeface="Times New Roman" pitchFamily="18" charset="0"/>
                  <a:ea typeface="+mn-ea"/>
                  <a:cs typeface="Times New Roman" pitchFamily="18" charset="0"/>
                </a:rPr>
                <a:t>输入</a:t>
              </a:r>
              <a:r>
                <a:rPr lang="zh-CN" altLang="en-US">
                  <a:latin typeface="Times New Roman" pitchFamily="18" charset="0"/>
                  <a:ea typeface="+mn-ea"/>
                  <a:cs typeface="Times New Roman" pitchFamily="18" charset="0"/>
                </a:rPr>
                <a:t>无符号十六进制整数</a:t>
              </a:r>
              <a:r>
                <a:rPr lang="en-US" altLang="zh-CN">
                  <a:latin typeface="Times New Roman" pitchFamily="18" charset="0"/>
                  <a:ea typeface="+mn-ea"/>
                  <a:cs typeface="Times New Roman" pitchFamily="18" charset="0"/>
                </a:rPr>
                <a:t>(</a:t>
              </a:r>
              <a:r>
                <a:rPr lang="zh-CN" altLang="en-US">
                  <a:latin typeface="Times New Roman" pitchFamily="18" charset="0"/>
                  <a:ea typeface="+mn-ea"/>
                  <a:cs typeface="Times New Roman" pitchFamily="18" charset="0"/>
                </a:rPr>
                <a:t>带前导符</a:t>
              </a: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  <a:ea typeface="+mn-ea"/>
                  <a:cs typeface="Times New Roman" pitchFamily="18" charset="0"/>
                </a:rPr>
                <a:t>0x</a:t>
              </a:r>
              <a:r>
                <a:rPr lang="en-US" altLang="zh-CN">
                  <a:latin typeface="Times New Roman" pitchFamily="18" charset="0"/>
                  <a:ea typeface="+mn-ea"/>
                  <a:cs typeface="Times New Roman" pitchFamily="18" charset="0"/>
                </a:rPr>
                <a:t>)</a:t>
              </a:r>
            </a:p>
          </p:txBody>
        </p:sp>
      </p:grpSp>
      <p:grpSp>
        <p:nvGrpSpPr>
          <p:cNvPr id="316456" name="Group 40"/>
          <p:cNvGrpSpPr>
            <a:grpSpLocks/>
          </p:cNvGrpSpPr>
          <p:nvPr/>
        </p:nvGrpSpPr>
        <p:grpSpPr bwMode="auto">
          <a:xfrm>
            <a:off x="2083805" y="2671054"/>
            <a:ext cx="5027613" cy="593726"/>
            <a:chOff x="624" y="1278"/>
            <a:chExt cx="3107" cy="374"/>
          </a:xfrm>
        </p:grpSpPr>
        <p:sp>
          <p:nvSpPr>
            <p:cNvPr id="22542" name="Text Box 37"/>
            <p:cNvSpPr txBox="1">
              <a:spLocks noChangeArrowheads="1"/>
            </p:cNvSpPr>
            <p:nvPr/>
          </p:nvSpPr>
          <p:spPr bwMode="auto">
            <a:xfrm>
              <a:off x="624" y="1282"/>
              <a:ext cx="422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latin typeface="Times New Roman" pitchFamily="18" charset="0"/>
                  <a:ea typeface="+mn-ea"/>
                  <a:cs typeface="Times New Roman" pitchFamily="18" charset="0"/>
                </a:rPr>
                <a:t>%s</a:t>
              </a:r>
            </a:p>
          </p:txBody>
        </p:sp>
        <p:sp>
          <p:nvSpPr>
            <p:cNvPr id="22543" name="Text Box 38"/>
            <p:cNvSpPr txBox="1">
              <a:spLocks noChangeArrowheads="1"/>
            </p:cNvSpPr>
            <p:nvPr/>
          </p:nvSpPr>
          <p:spPr bwMode="auto">
            <a:xfrm>
              <a:off x="1304" y="1278"/>
              <a:ext cx="2427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zh-CN">
                  <a:latin typeface="Times New Roman" pitchFamily="18" charset="0"/>
                  <a:ea typeface="+mn-ea"/>
                  <a:cs typeface="Times New Roman" pitchFamily="18" charset="0"/>
                </a:rPr>
                <a:t>用于输入</a:t>
              </a:r>
              <a:r>
                <a:rPr lang="zh-CN" altLang="en-US">
                  <a:latin typeface="Times New Roman" pitchFamily="18" charset="0"/>
                  <a:ea typeface="+mn-ea"/>
                  <a:cs typeface="Times New Roman" pitchFamily="18" charset="0"/>
                </a:rPr>
                <a:t>一个字符串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9946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6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6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6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16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6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16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16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16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16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16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C4E7A96-48B8-4301-BD6C-2E99D5B3DB4D}"/>
              </a:ext>
            </a:extLst>
          </p:cNvPr>
          <p:cNvGrpSpPr/>
          <p:nvPr/>
        </p:nvGrpSpPr>
        <p:grpSpPr>
          <a:xfrm>
            <a:off x="712191" y="3646926"/>
            <a:ext cx="11011238" cy="2332369"/>
            <a:chOff x="1264428" y="1152525"/>
            <a:chExt cx="6847285" cy="2795588"/>
          </a:xfrm>
        </p:grpSpPr>
        <p:sp>
          <p:nvSpPr>
            <p:cNvPr id="3" name="圆角矩形 7">
              <a:extLst>
                <a:ext uri="{FF2B5EF4-FFF2-40B4-BE49-F238E27FC236}">
                  <a16:creationId xmlns:a16="http://schemas.microsoft.com/office/drawing/2014/main" id="{981E9555-7BC2-4491-88A4-0B08973A47F2}"/>
                </a:ext>
              </a:extLst>
            </p:cNvPr>
            <p:cNvSpPr/>
            <p:nvPr/>
          </p:nvSpPr>
          <p:spPr bwMode="auto">
            <a:xfrm>
              <a:off x="1264428" y="1152525"/>
              <a:ext cx="6847285" cy="2795588"/>
            </a:xfrm>
            <a:prstGeom prst="roundRect">
              <a:avLst>
                <a:gd name="adj" fmla="val 99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4" name="圆角矩形 8">
              <a:extLst>
                <a:ext uri="{FF2B5EF4-FFF2-40B4-BE49-F238E27FC236}">
                  <a16:creationId xmlns:a16="http://schemas.microsoft.com/office/drawing/2014/main" id="{BBD03E70-6689-4420-81C9-13868BB91252}"/>
                </a:ext>
              </a:extLst>
            </p:cNvPr>
            <p:cNvSpPr/>
            <p:nvPr/>
          </p:nvSpPr>
          <p:spPr bwMode="auto">
            <a:xfrm>
              <a:off x="1473978" y="1362076"/>
              <a:ext cx="6428185" cy="2306241"/>
            </a:xfrm>
            <a:prstGeom prst="roundRect">
              <a:avLst>
                <a:gd name="adj" fmla="val 11474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</p:grpSp>
      <p:sp>
        <p:nvSpPr>
          <p:cNvPr id="5" name="矩形 1">
            <a:extLst>
              <a:ext uri="{FF2B5EF4-FFF2-40B4-BE49-F238E27FC236}">
                <a16:creationId xmlns:a16="http://schemas.microsoft.com/office/drawing/2014/main" id="{34CDE02D-8BDE-4E47-8AA0-AFD591B27802}"/>
              </a:ext>
            </a:extLst>
          </p:cNvPr>
          <p:cNvSpPr/>
          <p:nvPr/>
        </p:nvSpPr>
        <p:spPr>
          <a:xfrm>
            <a:off x="712778" y="3484863"/>
            <a:ext cx="1174112" cy="157163"/>
          </a:xfrm>
          <a:custGeom>
            <a:avLst/>
            <a:gdLst>
              <a:gd name="connsiteX0" fmla="*/ 0 w 1565482"/>
              <a:gd name="connsiteY0" fmla="*/ 0 h 247650"/>
              <a:gd name="connsiteX1" fmla="*/ 15654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  <a:gd name="connsiteX0" fmla="*/ 0 w 1565482"/>
              <a:gd name="connsiteY0" fmla="*/ 0 h 247650"/>
              <a:gd name="connsiteX1" fmla="*/ 12987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5482" h="247650">
                <a:moveTo>
                  <a:pt x="0" y="0"/>
                </a:moveTo>
                <a:lnTo>
                  <a:pt x="1298782" y="0"/>
                </a:lnTo>
                <a:lnTo>
                  <a:pt x="1565482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solidFill>
            <a:srgbClr val="9ED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6" name="矩形 2">
            <a:extLst>
              <a:ext uri="{FF2B5EF4-FFF2-40B4-BE49-F238E27FC236}">
                <a16:creationId xmlns:a16="http://schemas.microsoft.com/office/drawing/2014/main" id="{D6C035B7-21C5-41F9-9A8E-0E8E6F590B74}"/>
              </a:ext>
            </a:extLst>
          </p:cNvPr>
          <p:cNvSpPr/>
          <p:nvPr/>
        </p:nvSpPr>
        <p:spPr>
          <a:xfrm>
            <a:off x="655337" y="3492007"/>
            <a:ext cx="1028069" cy="771525"/>
          </a:xfrm>
          <a:custGeom>
            <a:avLst/>
            <a:gdLst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323133 w 1323133"/>
              <a:gd name="connsiteY2" fmla="*/ 1198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085008 w 1323133"/>
              <a:gd name="connsiteY2" fmla="*/ 817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47625 w 1370758"/>
              <a:gd name="connsiteY0" fmla="*/ 0 h 827194"/>
              <a:gd name="connsiteX1" fmla="*/ 1370758 w 1370758"/>
              <a:gd name="connsiteY1" fmla="*/ 0 h 827194"/>
              <a:gd name="connsiteX2" fmla="*/ 1132633 w 1370758"/>
              <a:gd name="connsiteY2" fmla="*/ 817669 h 827194"/>
              <a:gd name="connsiteX3" fmla="*/ 0 w 1370758"/>
              <a:gd name="connsiteY3" fmla="*/ 827194 h 827194"/>
              <a:gd name="connsiteX4" fmla="*/ 47625 w 1370758"/>
              <a:gd name="connsiteY4" fmla="*/ 0 h 827194"/>
              <a:gd name="connsiteX0" fmla="*/ 47625 w 1370758"/>
              <a:gd name="connsiteY0" fmla="*/ 0 h 836719"/>
              <a:gd name="connsiteX1" fmla="*/ 1370758 w 1370758"/>
              <a:gd name="connsiteY1" fmla="*/ 0 h 836719"/>
              <a:gd name="connsiteX2" fmla="*/ 875458 w 1370758"/>
              <a:gd name="connsiteY2" fmla="*/ 836719 h 836719"/>
              <a:gd name="connsiteX3" fmla="*/ 0 w 1370758"/>
              <a:gd name="connsiteY3" fmla="*/ 827194 h 836719"/>
              <a:gd name="connsiteX4" fmla="*/ 47625 w 1370758"/>
              <a:gd name="connsiteY4" fmla="*/ 0 h 836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0758" h="836719">
                <a:moveTo>
                  <a:pt x="47625" y="0"/>
                </a:moveTo>
                <a:lnTo>
                  <a:pt x="1370758" y="0"/>
                </a:lnTo>
                <a:lnTo>
                  <a:pt x="875458" y="836719"/>
                </a:lnTo>
                <a:lnTo>
                  <a:pt x="0" y="827194"/>
                </a:lnTo>
                <a:lnTo>
                  <a:pt x="47625" y="0"/>
                </a:lnTo>
                <a:close/>
              </a:path>
            </a:pathLst>
          </a:custGeom>
          <a:solidFill>
            <a:srgbClr val="FF92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C8AB9E-6A43-4FAB-B4EF-5BC1C0C4730B}"/>
              </a:ext>
            </a:extLst>
          </p:cNvPr>
          <p:cNvSpPr txBox="1"/>
          <p:nvPr/>
        </p:nvSpPr>
        <p:spPr>
          <a:xfrm>
            <a:off x="712193" y="361927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29EDAA-0F79-4DA5-9454-E061D9227995}"/>
              </a:ext>
            </a:extLst>
          </p:cNvPr>
          <p:cNvSpPr/>
          <p:nvPr/>
        </p:nvSpPr>
        <p:spPr>
          <a:xfrm>
            <a:off x="1683405" y="4039428"/>
            <a:ext cx="841593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scanf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("%</a:t>
            </a:r>
            <a:r>
              <a:rPr lang="en-US" altLang="zh-C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,%</a:t>
            </a:r>
            <a:r>
              <a:rPr lang="en-US" altLang="zh-C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,%</a:t>
            </a:r>
            <a:r>
              <a:rPr lang="en-US" altLang="zh-C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",&amp;</a:t>
            </a:r>
            <a:r>
              <a:rPr lang="en-US" altLang="zh-CN" sz="3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yy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,&amp;mm,&amp;</a:t>
            </a:r>
            <a:r>
              <a:rPr lang="en-US" altLang="zh-CN" sz="3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dd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);</a:t>
            </a:r>
          </a:p>
          <a:p>
            <a:r>
              <a:rPr lang="zh-CN" altLang="zh-C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输入</a:t>
            </a:r>
            <a:r>
              <a:rPr lang="zh-CN" altLang="zh-CN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1999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 </a:t>
            </a:r>
            <a:r>
              <a:rPr lang="zh-CN" altLang="zh-CN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10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 </a:t>
            </a:r>
            <a:r>
              <a:rPr lang="zh-CN" altLang="zh-CN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15 </a:t>
            </a:r>
            <a:r>
              <a:rPr lang="zh-CN" altLang="zh-CN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zh-CN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</a:t>
            </a:r>
            <a:endParaRPr lang="en-US" altLang="zh-CN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r>
              <a:rPr lang="zh-CN" altLang="zh-CN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则1999</a:t>
            </a:r>
            <a:r>
              <a:rPr lang="en-US" altLang="zh-CN" sz="3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yy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 10 mm, 15 </a:t>
            </a:r>
            <a:r>
              <a:rPr lang="en-US" altLang="zh-CN" sz="3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dd</a:t>
            </a:r>
            <a:endParaRPr lang="en-US" altLang="zh-CN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9" name="Rectangle 41">
            <a:extLst>
              <a:ext uri="{FF2B5EF4-FFF2-40B4-BE49-F238E27FC236}">
                <a16:creationId xmlns:a16="http://schemas.microsoft.com/office/drawing/2014/main" id="{8EA6C94A-995E-46F8-A68A-CBC393645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6890" y="115971"/>
            <a:ext cx="60452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25000"/>
              </a:lnSpc>
              <a:spcBef>
                <a:spcPct val="0"/>
              </a:spcBef>
              <a:buClr>
                <a:schemeClr val="hlink"/>
              </a:buClr>
            </a:pPr>
            <a:r>
              <a:rPr lang="en-US" altLang="zh-CN" sz="3600" b="1" dirty="0">
                <a:latin typeface="Arial" charset="0"/>
              </a:rPr>
              <a:t> </a:t>
            </a:r>
            <a:r>
              <a:rPr lang="zh-CN" altLang="en-US" sz="43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小 试 牛 刀</a:t>
            </a:r>
            <a:endParaRPr lang="en-US" altLang="zh-CN" sz="43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A249953-A469-4942-A217-661D30E319EF}"/>
              </a:ext>
            </a:extLst>
          </p:cNvPr>
          <p:cNvGrpSpPr/>
          <p:nvPr/>
        </p:nvGrpSpPr>
        <p:grpSpPr>
          <a:xfrm>
            <a:off x="714463" y="878705"/>
            <a:ext cx="10671985" cy="2172961"/>
            <a:chOff x="1264428" y="1152525"/>
            <a:chExt cx="6847285" cy="2795588"/>
          </a:xfrm>
        </p:grpSpPr>
        <p:sp>
          <p:nvSpPr>
            <p:cNvPr id="18" name="圆角矩形 7">
              <a:extLst>
                <a:ext uri="{FF2B5EF4-FFF2-40B4-BE49-F238E27FC236}">
                  <a16:creationId xmlns:a16="http://schemas.microsoft.com/office/drawing/2014/main" id="{09E697EE-219B-4A71-9302-AF76BC27D223}"/>
                </a:ext>
              </a:extLst>
            </p:cNvPr>
            <p:cNvSpPr/>
            <p:nvPr/>
          </p:nvSpPr>
          <p:spPr bwMode="auto">
            <a:xfrm>
              <a:off x="1264428" y="1152525"/>
              <a:ext cx="6847285" cy="2795588"/>
            </a:xfrm>
            <a:prstGeom prst="roundRect">
              <a:avLst>
                <a:gd name="adj" fmla="val 99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19" name="圆角矩形 8">
              <a:extLst>
                <a:ext uri="{FF2B5EF4-FFF2-40B4-BE49-F238E27FC236}">
                  <a16:creationId xmlns:a16="http://schemas.microsoft.com/office/drawing/2014/main" id="{3133F25E-C758-4E47-9DD9-E59C16ADDD8F}"/>
                </a:ext>
              </a:extLst>
            </p:cNvPr>
            <p:cNvSpPr/>
            <p:nvPr/>
          </p:nvSpPr>
          <p:spPr bwMode="auto">
            <a:xfrm>
              <a:off x="1473978" y="1362076"/>
              <a:ext cx="6428185" cy="2306241"/>
            </a:xfrm>
            <a:prstGeom prst="roundRect">
              <a:avLst>
                <a:gd name="adj" fmla="val 11474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</p:grpSp>
      <p:sp>
        <p:nvSpPr>
          <p:cNvPr id="20" name="矩形 1">
            <a:extLst>
              <a:ext uri="{FF2B5EF4-FFF2-40B4-BE49-F238E27FC236}">
                <a16:creationId xmlns:a16="http://schemas.microsoft.com/office/drawing/2014/main" id="{22DAFAEB-F085-4172-AF1D-9D68D94C4650}"/>
              </a:ext>
            </a:extLst>
          </p:cNvPr>
          <p:cNvSpPr/>
          <p:nvPr/>
        </p:nvSpPr>
        <p:spPr>
          <a:xfrm>
            <a:off x="715050" y="716642"/>
            <a:ext cx="1174112" cy="157163"/>
          </a:xfrm>
          <a:custGeom>
            <a:avLst/>
            <a:gdLst>
              <a:gd name="connsiteX0" fmla="*/ 0 w 1565482"/>
              <a:gd name="connsiteY0" fmla="*/ 0 h 247650"/>
              <a:gd name="connsiteX1" fmla="*/ 15654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  <a:gd name="connsiteX0" fmla="*/ 0 w 1565482"/>
              <a:gd name="connsiteY0" fmla="*/ 0 h 247650"/>
              <a:gd name="connsiteX1" fmla="*/ 12987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5482" h="247650">
                <a:moveTo>
                  <a:pt x="0" y="0"/>
                </a:moveTo>
                <a:lnTo>
                  <a:pt x="1298782" y="0"/>
                </a:lnTo>
                <a:lnTo>
                  <a:pt x="1565482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solidFill>
            <a:srgbClr val="9ED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21" name="矩形 2">
            <a:extLst>
              <a:ext uri="{FF2B5EF4-FFF2-40B4-BE49-F238E27FC236}">
                <a16:creationId xmlns:a16="http://schemas.microsoft.com/office/drawing/2014/main" id="{212FB927-3BD9-4D38-BF23-B4E04C51F504}"/>
              </a:ext>
            </a:extLst>
          </p:cNvPr>
          <p:cNvSpPr/>
          <p:nvPr/>
        </p:nvSpPr>
        <p:spPr>
          <a:xfrm>
            <a:off x="657609" y="723786"/>
            <a:ext cx="1028069" cy="771525"/>
          </a:xfrm>
          <a:custGeom>
            <a:avLst/>
            <a:gdLst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323133 w 1323133"/>
              <a:gd name="connsiteY2" fmla="*/ 1198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085008 w 1323133"/>
              <a:gd name="connsiteY2" fmla="*/ 817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47625 w 1370758"/>
              <a:gd name="connsiteY0" fmla="*/ 0 h 827194"/>
              <a:gd name="connsiteX1" fmla="*/ 1370758 w 1370758"/>
              <a:gd name="connsiteY1" fmla="*/ 0 h 827194"/>
              <a:gd name="connsiteX2" fmla="*/ 1132633 w 1370758"/>
              <a:gd name="connsiteY2" fmla="*/ 817669 h 827194"/>
              <a:gd name="connsiteX3" fmla="*/ 0 w 1370758"/>
              <a:gd name="connsiteY3" fmla="*/ 827194 h 827194"/>
              <a:gd name="connsiteX4" fmla="*/ 47625 w 1370758"/>
              <a:gd name="connsiteY4" fmla="*/ 0 h 827194"/>
              <a:gd name="connsiteX0" fmla="*/ 47625 w 1370758"/>
              <a:gd name="connsiteY0" fmla="*/ 0 h 836719"/>
              <a:gd name="connsiteX1" fmla="*/ 1370758 w 1370758"/>
              <a:gd name="connsiteY1" fmla="*/ 0 h 836719"/>
              <a:gd name="connsiteX2" fmla="*/ 875458 w 1370758"/>
              <a:gd name="connsiteY2" fmla="*/ 836719 h 836719"/>
              <a:gd name="connsiteX3" fmla="*/ 0 w 1370758"/>
              <a:gd name="connsiteY3" fmla="*/ 827194 h 836719"/>
              <a:gd name="connsiteX4" fmla="*/ 47625 w 1370758"/>
              <a:gd name="connsiteY4" fmla="*/ 0 h 836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0758" h="836719">
                <a:moveTo>
                  <a:pt x="47625" y="0"/>
                </a:moveTo>
                <a:lnTo>
                  <a:pt x="1370758" y="0"/>
                </a:lnTo>
                <a:lnTo>
                  <a:pt x="875458" y="836719"/>
                </a:lnTo>
                <a:lnTo>
                  <a:pt x="0" y="827194"/>
                </a:lnTo>
                <a:lnTo>
                  <a:pt x="47625" y="0"/>
                </a:lnTo>
                <a:close/>
              </a:path>
            </a:pathLst>
          </a:custGeom>
          <a:solidFill>
            <a:srgbClr val="FF92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52CCD85-8D0F-49EB-B3C2-54302362E2F9}"/>
              </a:ext>
            </a:extLst>
          </p:cNvPr>
          <p:cNvSpPr txBox="1"/>
          <p:nvPr/>
        </p:nvSpPr>
        <p:spPr>
          <a:xfrm>
            <a:off x="714465" y="85105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CFA0946-B8A4-41DB-B9EC-1EAF60853AD6}"/>
              </a:ext>
            </a:extLst>
          </p:cNvPr>
          <p:cNvSpPr/>
          <p:nvPr/>
        </p:nvSpPr>
        <p:spPr>
          <a:xfrm>
            <a:off x="1685677" y="1134727"/>
            <a:ext cx="673499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scanf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("%</a:t>
            </a:r>
            <a:r>
              <a:rPr lang="en-US" altLang="zh-CN" sz="3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</a:t>
            </a:r>
            <a:r>
              <a:rPr lang="en-US" altLang="zh-CN" sz="3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%</a:t>
            </a:r>
            <a:r>
              <a:rPr lang="en-US" altLang="zh-CN" sz="3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</a:t>
            </a:r>
            <a:r>
              <a:rPr lang="en-US" altLang="zh-CN" sz="3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%</a:t>
            </a:r>
            <a:r>
              <a:rPr lang="en-US" altLang="zh-CN" sz="3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",&amp;</a:t>
            </a:r>
            <a:r>
              <a:rPr lang="en-US" altLang="zh-CN" sz="3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yy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,&amp;mm,&amp;</a:t>
            </a:r>
            <a:r>
              <a:rPr lang="en-US" altLang="zh-CN" sz="3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dd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);</a:t>
            </a:r>
          </a:p>
          <a:p>
            <a:r>
              <a:rPr lang="zh-CN" altLang="zh-C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输入</a:t>
            </a:r>
            <a:r>
              <a:rPr lang="zh-CN" altLang="zh-CN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1999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</a:t>
            </a:r>
            <a:r>
              <a:rPr lang="zh-CN" altLang="zh-CN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10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</a:t>
            </a:r>
            <a:r>
              <a:rPr lang="zh-CN" altLang="zh-CN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15 </a:t>
            </a:r>
            <a:r>
              <a:rPr lang="zh-CN" altLang="zh-CN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zh-CN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</a:t>
            </a:r>
            <a:endParaRPr lang="en-US" altLang="zh-CN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r>
              <a:rPr lang="zh-CN" altLang="zh-CN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则1999</a:t>
            </a:r>
            <a:r>
              <a:rPr lang="en-US" altLang="zh-CN" sz="3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yy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 10 mm, 15 </a:t>
            </a:r>
            <a:r>
              <a:rPr lang="en-US" altLang="zh-CN" sz="3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dd</a:t>
            </a:r>
            <a:endParaRPr lang="en-US" altLang="zh-CN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18163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20" grpId="0" animBg="1"/>
      <p:bldP spid="21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C4E7A96-48B8-4301-BD6C-2E99D5B3DB4D}"/>
              </a:ext>
            </a:extLst>
          </p:cNvPr>
          <p:cNvGrpSpPr/>
          <p:nvPr/>
        </p:nvGrpSpPr>
        <p:grpSpPr>
          <a:xfrm>
            <a:off x="712191" y="3654220"/>
            <a:ext cx="11011238" cy="2332369"/>
            <a:chOff x="1264428" y="1152525"/>
            <a:chExt cx="6847285" cy="2795588"/>
          </a:xfrm>
        </p:grpSpPr>
        <p:sp>
          <p:nvSpPr>
            <p:cNvPr id="3" name="圆角矩形 7">
              <a:extLst>
                <a:ext uri="{FF2B5EF4-FFF2-40B4-BE49-F238E27FC236}">
                  <a16:creationId xmlns:a16="http://schemas.microsoft.com/office/drawing/2014/main" id="{981E9555-7BC2-4491-88A4-0B08973A47F2}"/>
                </a:ext>
              </a:extLst>
            </p:cNvPr>
            <p:cNvSpPr/>
            <p:nvPr/>
          </p:nvSpPr>
          <p:spPr bwMode="auto">
            <a:xfrm>
              <a:off x="1264428" y="1152525"/>
              <a:ext cx="6847285" cy="2795588"/>
            </a:xfrm>
            <a:prstGeom prst="roundRect">
              <a:avLst>
                <a:gd name="adj" fmla="val 99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4" name="圆角矩形 8">
              <a:extLst>
                <a:ext uri="{FF2B5EF4-FFF2-40B4-BE49-F238E27FC236}">
                  <a16:creationId xmlns:a16="http://schemas.microsoft.com/office/drawing/2014/main" id="{BBD03E70-6689-4420-81C9-13868BB91252}"/>
                </a:ext>
              </a:extLst>
            </p:cNvPr>
            <p:cNvSpPr/>
            <p:nvPr/>
          </p:nvSpPr>
          <p:spPr bwMode="auto">
            <a:xfrm>
              <a:off x="1473978" y="1362076"/>
              <a:ext cx="6428185" cy="2306241"/>
            </a:xfrm>
            <a:prstGeom prst="roundRect">
              <a:avLst>
                <a:gd name="adj" fmla="val 11474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</p:grpSp>
      <p:sp>
        <p:nvSpPr>
          <p:cNvPr id="5" name="矩形 1">
            <a:extLst>
              <a:ext uri="{FF2B5EF4-FFF2-40B4-BE49-F238E27FC236}">
                <a16:creationId xmlns:a16="http://schemas.microsoft.com/office/drawing/2014/main" id="{34CDE02D-8BDE-4E47-8AA0-AFD591B27802}"/>
              </a:ext>
            </a:extLst>
          </p:cNvPr>
          <p:cNvSpPr/>
          <p:nvPr/>
        </p:nvSpPr>
        <p:spPr>
          <a:xfrm>
            <a:off x="712778" y="3492157"/>
            <a:ext cx="1174112" cy="157163"/>
          </a:xfrm>
          <a:custGeom>
            <a:avLst/>
            <a:gdLst>
              <a:gd name="connsiteX0" fmla="*/ 0 w 1565482"/>
              <a:gd name="connsiteY0" fmla="*/ 0 h 247650"/>
              <a:gd name="connsiteX1" fmla="*/ 15654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  <a:gd name="connsiteX0" fmla="*/ 0 w 1565482"/>
              <a:gd name="connsiteY0" fmla="*/ 0 h 247650"/>
              <a:gd name="connsiteX1" fmla="*/ 12987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5482" h="247650">
                <a:moveTo>
                  <a:pt x="0" y="0"/>
                </a:moveTo>
                <a:lnTo>
                  <a:pt x="1298782" y="0"/>
                </a:lnTo>
                <a:lnTo>
                  <a:pt x="1565482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solidFill>
            <a:srgbClr val="9ED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6" name="矩形 2">
            <a:extLst>
              <a:ext uri="{FF2B5EF4-FFF2-40B4-BE49-F238E27FC236}">
                <a16:creationId xmlns:a16="http://schemas.microsoft.com/office/drawing/2014/main" id="{D6C035B7-21C5-41F9-9A8E-0E8E6F590B74}"/>
              </a:ext>
            </a:extLst>
          </p:cNvPr>
          <p:cNvSpPr/>
          <p:nvPr/>
        </p:nvSpPr>
        <p:spPr>
          <a:xfrm>
            <a:off x="655337" y="3499301"/>
            <a:ext cx="1028069" cy="771525"/>
          </a:xfrm>
          <a:custGeom>
            <a:avLst/>
            <a:gdLst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323133 w 1323133"/>
              <a:gd name="connsiteY2" fmla="*/ 1198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085008 w 1323133"/>
              <a:gd name="connsiteY2" fmla="*/ 817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47625 w 1370758"/>
              <a:gd name="connsiteY0" fmla="*/ 0 h 827194"/>
              <a:gd name="connsiteX1" fmla="*/ 1370758 w 1370758"/>
              <a:gd name="connsiteY1" fmla="*/ 0 h 827194"/>
              <a:gd name="connsiteX2" fmla="*/ 1132633 w 1370758"/>
              <a:gd name="connsiteY2" fmla="*/ 817669 h 827194"/>
              <a:gd name="connsiteX3" fmla="*/ 0 w 1370758"/>
              <a:gd name="connsiteY3" fmla="*/ 827194 h 827194"/>
              <a:gd name="connsiteX4" fmla="*/ 47625 w 1370758"/>
              <a:gd name="connsiteY4" fmla="*/ 0 h 827194"/>
              <a:gd name="connsiteX0" fmla="*/ 47625 w 1370758"/>
              <a:gd name="connsiteY0" fmla="*/ 0 h 836719"/>
              <a:gd name="connsiteX1" fmla="*/ 1370758 w 1370758"/>
              <a:gd name="connsiteY1" fmla="*/ 0 h 836719"/>
              <a:gd name="connsiteX2" fmla="*/ 875458 w 1370758"/>
              <a:gd name="connsiteY2" fmla="*/ 836719 h 836719"/>
              <a:gd name="connsiteX3" fmla="*/ 0 w 1370758"/>
              <a:gd name="connsiteY3" fmla="*/ 827194 h 836719"/>
              <a:gd name="connsiteX4" fmla="*/ 47625 w 1370758"/>
              <a:gd name="connsiteY4" fmla="*/ 0 h 836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0758" h="836719">
                <a:moveTo>
                  <a:pt x="47625" y="0"/>
                </a:moveTo>
                <a:lnTo>
                  <a:pt x="1370758" y="0"/>
                </a:lnTo>
                <a:lnTo>
                  <a:pt x="875458" y="836719"/>
                </a:lnTo>
                <a:lnTo>
                  <a:pt x="0" y="827194"/>
                </a:lnTo>
                <a:lnTo>
                  <a:pt x="47625" y="0"/>
                </a:lnTo>
                <a:close/>
              </a:path>
            </a:pathLst>
          </a:custGeom>
          <a:solidFill>
            <a:srgbClr val="FF92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C8AB9E-6A43-4FAB-B4EF-5BC1C0C4730B}"/>
              </a:ext>
            </a:extLst>
          </p:cNvPr>
          <p:cNvSpPr txBox="1"/>
          <p:nvPr/>
        </p:nvSpPr>
        <p:spPr>
          <a:xfrm>
            <a:off x="712193" y="362656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p:sp>
        <p:nvSpPr>
          <p:cNvPr id="9" name="Rectangle 41">
            <a:extLst>
              <a:ext uri="{FF2B5EF4-FFF2-40B4-BE49-F238E27FC236}">
                <a16:creationId xmlns:a16="http://schemas.microsoft.com/office/drawing/2014/main" id="{8EA6C94A-995E-46F8-A68A-CBC393645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3406" y="100007"/>
            <a:ext cx="60452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25000"/>
              </a:lnSpc>
              <a:spcBef>
                <a:spcPct val="0"/>
              </a:spcBef>
              <a:buClr>
                <a:schemeClr val="hlink"/>
              </a:buClr>
            </a:pPr>
            <a:r>
              <a:rPr lang="en-US" altLang="zh-CN" sz="3600" b="1" dirty="0">
                <a:latin typeface="Arial" charset="0"/>
              </a:rPr>
              <a:t> </a:t>
            </a:r>
            <a:r>
              <a:rPr lang="zh-CN" altLang="en-US" sz="43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小 试 牛 刀</a:t>
            </a:r>
            <a:endParaRPr lang="en-US" altLang="zh-CN" sz="43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A249953-A469-4942-A217-661D30E319EF}"/>
              </a:ext>
            </a:extLst>
          </p:cNvPr>
          <p:cNvGrpSpPr/>
          <p:nvPr/>
        </p:nvGrpSpPr>
        <p:grpSpPr>
          <a:xfrm>
            <a:off x="714463" y="981535"/>
            <a:ext cx="10671985" cy="2172961"/>
            <a:chOff x="1264428" y="1152525"/>
            <a:chExt cx="6847285" cy="2795588"/>
          </a:xfrm>
        </p:grpSpPr>
        <p:sp>
          <p:nvSpPr>
            <p:cNvPr id="18" name="圆角矩形 7">
              <a:extLst>
                <a:ext uri="{FF2B5EF4-FFF2-40B4-BE49-F238E27FC236}">
                  <a16:creationId xmlns:a16="http://schemas.microsoft.com/office/drawing/2014/main" id="{09E697EE-219B-4A71-9302-AF76BC27D223}"/>
                </a:ext>
              </a:extLst>
            </p:cNvPr>
            <p:cNvSpPr/>
            <p:nvPr/>
          </p:nvSpPr>
          <p:spPr bwMode="auto">
            <a:xfrm>
              <a:off x="1264428" y="1152525"/>
              <a:ext cx="6847285" cy="2795588"/>
            </a:xfrm>
            <a:prstGeom prst="roundRect">
              <a:avLst>
                <a:gd name="adj" fmla="val 99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19" name="圆角矩形 8">
              <a:extLst>
                <a:ext uri="{FF2B5EF4-FFF2-40B4-BE49-F238E27FC236}">
                  <a16:creationId xmlns:a16="http://schemas.microsoft.com/office/drawing/2014/main" id="{3133F25E-C758-4E47-9DD9-E59C16ADDD8F}"/>
                </a:ext>
              </a:extLst>
            </p:cNvPr>
            <p:cNvSpPr/>
            <p:nvPr/>
          </p:nvSpPr>
          <p:spPr bwMode="auto">
            <a:xfrm>
              <a:off x="1473978" y="1362076"/>
              <a:ext cx="6428185" cy="2306241"/>
            </a:xfrm>
            <a:prstGeom prst="roundRect">
              <a:avLst>
                <a:gd name="adj" fmla="val 11474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</p:grpSp>
      <p:sp>
        <p:nvSpPr>
          <p:cNvPr id="20" name="矩形 1">
            <a:extLst>
              <a:ext uri="{FF2B5EF4-FFF2-40B4-BE49-F238E27FC236}">
                <a16:creationId xmlns:a16="http://schemas.microsoft.com/office/drawing/2014/main" id="{22DAFAEB-F085-4172-AF1D-9D68D94C4650}"/>
              </a:ext>
            </a:extLst>
          </p:cNvPr>
          <p:cNvSpPr/>
          <p:nvPr/>
        </p:nvSpPr>
        <p:spPr>
          <a:xfrm>
            <a:off x="715050" y="819472"/>
            <a:ext cx="1174112" cy="157163"/>
          </a:xfrm>
          <a:custGeom>
            <a:avLst/>
            <a:gdLst>
              <a:gd name="connsiteX0" fmla="*/ 0 w 1565482"/>
              <a:gd name="connsiteY0" fmla="*/ 0 h 247650"/>
              <a:gd name="connsiteX1" fmla="*/ 15654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  <a:gd name="connsiteX0" fmla="*/ 0 w 1565482"/>
              <a:gd name="connsiteY0" fmla="*/ 0 h 247650"/>
              <a:gd name="connsiteX1" fmla="*/ 12987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5482" h="247650">
                <a:moveTo>
                  <a:pt x="0" y="0"/>
                </a:moveTo>
                <a:lnTo>
                  <a:pt x="1298782" y="0"/>
                </a:lnTo>
                <a:lnTo>
                  <a:pt x="1565482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solidFill>
            <a:srgbClr val="9ED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21" name="矩形 2">
            <a:extLst>
              <a:ext uri="{FF2B5EF4-FFF2-40B4-BE49-F238E27FC236}">
                <a16:creationId xmlns:a16="http://schemas.microsoft.com/office/drawing/2014/main" id="{212FB927-3BD9-4D38-BF23-B4E04C51F504}"/>
              </a:ext>
            </a:extLst>
          </p:cNvPr>
          <p:cNvSpPr/>
          <p:nvPr/>
        </p:nvSpPr>
        <p:spPr>
          <a:xfrm>
            <a:off x="657609" y="826616"/>
            <a:ext cx="1028069" cy="771525"/>
          </a:xfrm>
          <a:custGeom>
            <a:avLst/>
            <a:gdLst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323133 w 1323133"/>
              <a:gd name="connsiteY2" fmla="*/ 1198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085008 w 1323133"/>
              <a:gd name="connsiteY2" fmla="*/ 817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47625 w 1370758"/>
              <a:gd name="connsiteY0" fmla="*/ 0 h 827194"/>
              <a:gd name="connsiteX1" fmla="*/ 1370758 w 1370758"/>
              <a:gd name="connsiteY1" fmla="*/ 0 h 827194"/>
              <a:gd name="connsiteX2" fmla="*/ 1132633 w 1370758"/>
              <a:gd name="connsiteY2" fmla="*/ 817669 h 827194"/>
              <a:gd name="connsiteX3" fmla="*/ 0 w 1370758"/>
              <a:gd name="connsiteY3" fmla="*/ 827194 h 827194"/>
              <a:gd name="connsiteX4" fmla="*/ 47625 w 1370758"/>
              <a:gd name="connsiteY4" fmla="*/ 0 h 827194"/>
              <a:gd name="connsiteX0" fmla="*/ 47625 w 1370758"/>
              <a:gd name="connsiteY0" fmla="*/ 0 h 836719"/>
              <a:gd name="connsiteX1" fmla="*/ 1370758 w 1370758"/>
              <a:gd name="connsiteY1" fmla="*/ 0 h 836719"/>
              <a:gd name="connsiteX2" fmla="*/ 875458 w 1370758"/>
              <a:gd name="connsiteY2" fmla="*/ 836719 h 836719"/>
              <a:gd name="connsiteX3" fmla="*/ 0 w 1370758"/>
              <a:gd name="connsiteY3" fmla="*/ 827194 h 836719"/>
              <a:gd name="connsiteX4" fmla="*/ 47625 w 1370758"/>
              <a:gd name="connsiteY4" fmla="*/ 0 h 836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0758" h="836719">
                <a:moveTo>
                  <a:pt x="47625" y="0"/>
                </a:moveTo>
                <a:lnTo>
                  <a:pt x="1370758" y="0"/>
                </a:lnTo>
                <a:lnTo>
                  <a:pt x="875458" y="836719"/>
                </a:lnTo>
                <a:lnTo>
                  <a:pt x="0" y="827194"/>
                </a:lnTo>
                <a:lnTo>
                  <a:pt x="47625" y="0"/>
                </a:lnTo>
                <a:close/>
              </a:path>
            </a:pathLst>
          </a:custGeom>
          <a:solidFill>
            <a:srgbClr val="FF92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52CCD85-8D0F-49EB-B3C2-54302362E2F9}"/>
              </a:ext>
            </a:extLst>
          </p:cNvPr>
          <p:cNvSpPr txBox="1"/>
          <p:nvPr/>
        </p:nvSpPr>
        <p:spPr>
          <a:xfrm>
            <a:off x="714465" y="95388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CFA0946-B8A4-41DB-B9EC-1EAF60853AD6}"/>
              </a:ext>
            </a:extLst>
          </p:cNvPr>
          <p:cNvSpPr/>
          <p:nvPr/>
        </p:nvSpPr>
        <p:spPr>
          <a:xfrm>
            <a:off x="1683406" y="4010301"/>
            <a:ext cx="673499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long a;</a:t>
            </a:r>
          </a:p>
          <a:p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double b;</a:t>
            </a:r>
          </a:p>
          <a:p>
            <a:r>
              <a:rPr lang="en-US" altLang="zh-CN" sz="3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scanf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("%</a:t>
            </a:r>
            <a:r>
              <a:rPr lang="en-US" altLang="zh-CN" sz="3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ld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,%</a:t>
            </a:r>
            <a:r>
              <a:rPr lang="en-US" altLang="zh-CN" sz="3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lf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  <a:sym typeface="Wingdings 3" pitchFamily="18" charset="2"/>
              </a:rPr>
              <a:t>, &amp;a, &amp;b);</a:t>
            </a:r>
            <a:endParaRPr lang="en-US" altLang="zh-CN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29EDAA-0F79-4DA5-9454-E061D9227995}"/>
              </a:ext>
            </a:extLst>
          </p:cNvPr>
          <p:cNvSpPr/>
          <p:nvPr/>
        </p:nvSpPr>
        <p:spPr>
          <a:xfrm>
            <a:off x="1683406" y="1263215"/>
            <a:ext cx="841593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 err="1">
                <a:latin typeface="Times New Roman" pitchFamily="18" charset="0"/>
                <a:cs typeface="Times New Roman" pitchFamily="18" charset="0"/>
              </a:rPr>
              <a:t>scanf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("</a:t>
            </a:r>
            <a:r>
              <a:rPr lang="en-US" altLang="zh-C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x=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%</a:t>
            </a:r>
            <a:r>
              <a:rPr lang="en-US" altLang="zh-CN" sz="3200" dirty="0" err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zh-CN" sz="3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,y</a:t>
            </a:r>
            <a:r>
              <a:rPr lang="en-US" altLang="zh-C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%d", &amp;</a:t>
            </a:r>
            <a:r>
              <a:rPr lang="en-US" altLang="zh-CN" sz="3200" dirty="0" err="1">
                <a:latin typeface="Times New Roman" pitchFamily="18" charset="0"/>
                <a:cs typeface="Times New Roman" pitchFamily="18" charset="0"/>
              </a:rPr>
              <a:t>x,&amp;y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则输入数据的格式为应该为：</a:t>
            </a:r>
          </a:p>
          <a:p>
            <a:r>
              <a:rPr lang="en-US" altLang="zh-C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x=3, y=4</a:t>
            </a:r>
            <a:endParaRPr lang="en-US" altLang="zh-CN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60400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20" grpId="0" animBg="1"/>
      <p:bldP spid="21" grpId="0" animBg="1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C4E7A96-48B8-4301-BD6C-2E99D5B3DB4D}"/>
              </a:ext>
            </a:extLst>
          </p:cNvPr>
          <p:cNvGrpSpPr/>
          <p:nvPr/>
        </p:nvGrpSpPr>
        <p:grpSpPr>
          <a:xfrm>
            <a:off x="712191" y="3886231"/>
            <a:ext cx="11011238" cy="2254152"/>
            <a:chOff x="1264428" y="1152525"/>
            <a:chExt cx="6847285" cy="2795588"/>
          </a:xfrm>
        </p:grpSpPr>
        <p:sp>
          <p:nvSpPr>
            <p:cNvPr id="3" name="圆角矩形 7">
              <a:extLst>
                <a:ext uri="{FF2B5EF4-FFF2-40B4-BE49-F238E27FC236}">
                  <a16:creationId xmlns:a16="http://schemas.microsoft.com/office/drawing/2014/main" id="{981E9555-7BC2-4491-88A4-0B08973A47F2}"/>
                </a:ext>
              </a:extLst>
            </p:cNvPr>
            <p:cNvSpPr/>
            <p:nvPr/>
          </p:nvSpPr>
          <p:spPr bwMode="auto">
            <a:xfrm>
              <a:off x="1264428" y="1152525"/>
              <a:ext cx="6847285" cy="2795588"/>
            </a:xfrm>
            <a:prstGeom prst="roundRect">
              <a:avLst>
                <a:gd name="adj" fmla="val 99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4" name="圆角矩形 8">
              <a:extLst>
                <a:ext uri="{FF2B5EF4-FFF2-40B4-BE49-F238E27FC236}">
                  <a16:creationId xmlns:a16="http://schemas.microsoft.com/office/drawing/2014/main" id="{BBD03E70-6689-4420-81C9-13868BB91252}"/>
                </a:ext>
              </a:extLst>
            </p:cNvPr>
            <p:cNvSpPr/>
            <p:nvPr/>
          </p:nvSpPr>
          <p:spPr bwMode="auto">
            <a:xfrm>
              <a:off x="1473978" y="1362076"/>
              <a:ext cx="6428185" cy="2306241"/>
            </a:xfrm>
            <a:prstGeom prst="roundRect">
              <a:avLst>
                <a:gd name="adj" fmla="val 11474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</p:grpSp>
      <p:sp>
        <p:nvSpPr>
          <p:cNvPr id="5" name="矩形 1">
            <a:extLst>
              <a:ext uri="{FF2B5EF4-FFF2-40B4-BE49-F238E27FC236}">
                <a16:creationId xmlns:a16="http://schemas.microsoft.com/office/drawing/2014/main" id="{34CDE02D-8BDE-4E47-8AA0-AFD591B27802}"/>
              </a:ext>
            </a:extLst>
          </p:cNvPr>
          <p:cNvSpPr/>
          <p:nvPr/>
        </p:nvSpPr>
        <p:spPr>
          <a:xfrm>
            <a:off x="712778" y="3724167"/>
            <a:ext cx="1174112" cy="157163"/>
          </a:xfrm>
          <a:custGeom>
            <a:avLst/>
            <a:gdLst>
              <a:gd name="connsiteX0" fmla="*/ 0 w 1565482"/>
              <a:gd name="connsiteY0" fmla="*/ 0 h 247650"/>
              <a:gd name="connsiteX1" fmla="*/ 15654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  <a:gd name="connsiteX0" fmla="*/ 0 w 1565482"/>
              <a:gd name="connsiteY0" fmla="*/ 0 h 247650"/>
              <a:gd name="connsiteX1" fmla="*/ 12987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5482" h="247650">
                <a:moveTo>
                  <a:pt x="0" y="0"/>
                </a:moveTo>
                <a:lnTo>
                  <a:pt x="1298782" y="0"/>
                </a:lnTo>
                <a:lnTo>
                  <a:pt x="1565482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solidFill>
            <a:srgbClr val="9ED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6" name="矩形 2">
            <a:extLst>
              <a:ext uri="{FF2B5EF4-FFF2-40B4-BE49-F238E27FC236}">
                <a16:creationId xmlns:a16="http://schemas.microsoft.com/office/drawing/2014/main" id="{D6C035B7-21C5-41F9-9A8E-0E8E6F590B74}"/>
              </a:ext>
            </a:extLst>
          </p:cNvPr>
          <p:cNvSpPr/>
          <p:nvPr/>
        </p:nvSpPr>
        <p:spPr>
          <a:xfrm>
            <a:off x="655337" y="3731311"/>
            <a:ext cx="1028069" cy="771525"/>
          </a:xfrm>
          <a:custGeom>
            <a:avLst/>
            <a:gdLst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323133 w 1323133"/>
              <a:gd name="connsiteY2" fmla="*/ 1198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085008 w 1323133"/>
              <a:gd name="connsiteY2" fmla="*/ 817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47625 w 1370758"/>
              <a:gd name="connsiteY0" fmla="*/ 0 h 827194"/>
              <a:gd name="connsiteX1" fmla="*/ 1370758 w 1370758"/>
              <a:gd name="connsiteY1" fmla="*/ 0 h 827194"/>
              <a:gd name="connsiteX2" fmla="*/ 1132633 w 1370758"/>
              <a:gd name="connsiteY2" fmla="*/ 817669 h 827194"/>
              <a:gd name="connsiteX3" fmla="*/ 0 w 1370758"/>
              <a:gd name="connsiteY3" fmla="*/ 827194 h 827194"/>
              <a:gd name="connsiteX4" fmla="*/ 47625 w 1370758"/>
              <a:gd name="connsiteY4" fmla="*/ 0 h 827194"/>
              <a:gd name="connsiteX0" fmla="*/ 47625 w 1370758"/>
              <a:gd name="connsiteY0" fmla="*/ 0 h 836719"/>
              <a:gd name="connsiteX1" fmla="*/ 1370758 w 1370758"/>
              <a:gd name="connsiteY1" fmla="*/ 0 h 836719"/>
              <a:gd name="connsiteX2" fmla="*/ 875458 w 1370758"/>
              <a:gd name="connsiteY2" fmla="*/ 836719 h 836719"/>
              <a:gd name="connsiteX3" fmla="*/ 0 w 1370758"/>
              <a:gd name="connsiteY3" fmla="*/ 827194 h 836719"/>
              <a:gd name="connsiteX4" fmla="*/ 47625 w 1370758"/>
              <a:gd name="connsiteY4" fmla="*/ 0 h 836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0758" h="836719">
                <a:moveTo>
                  <a:pt x="47625" y="0"/>
                </a:moveTo>
                <a:lnTo>
                  <a:pt x="1370758" y="0"/>
                </a:lnTo>
                <a:lnTo>
                  <a:pt x="875458" y="836719"/>
                </a:lnTo>
                <a:lnTo>
                  <a:pt x="0" y="827194"/>
                </a:lnTo>
                <a:lnTo>
                  <a:pt x="47625" y="0"/>
                </a:lnTo>
                <a:close/>
              </a:path>
            </a:pathLst>
          </a:custGeom>
          <a:solidFill>
            <a:srgbClr val="FF92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C8AB9E-6A43-4FAB-B4EF-5BC1C0C4730B}"/>
              </a:ext>
            </a:extLst>
          </p:cNvPr>
          <p:cNvSpPr txBox="1"/>
          <p:nvPr/>
        </p:nvSpPr>
        <p:spPr>
          <a:xfrm>
            <a:off x="712193" y="385857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29EDAA-0F79-4DA5-9454-E061D9227995}"/>
              </a:ext>
            </a:extLst>
          </p:cNvPr>
          <p:cNvSpPr/>
          <p:nvPr/>
        </p:nvSpPr>
        <p:spPr>
          <a:xfrm>
            <a:off x="1683405" y="4164432"/>
            <a:ext cx="841593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float a;</a:t>
            </a:r>
          </a:p>
          <a:p>
            <a:r>
              <a:rPr lang="en-US" altLang="zh-CN" sz="3200" dirty="0" err="1">
                <a:latin typeface="Times New Roman" pitchFamily="18" charset="0"/>
                <a:cs typeface="Times New Roman" pitchFamily="18" charset="0"/>
              </a:rPr>
              <a:t>scanf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("%f\n", &amp;a);</a:t>
            </a:r>
          </a:p>
          <a:p>
            <a:pPr>
              <a:lnSpc>
                <a:spcPct val="150000"/>
              </a:lnSpc>
            </a:pPr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错误原因：输入不可添加回车符</a:t>
            </a:r>
            <a:endParaRPr lang="en-US" altLang="zh-CN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9" name="Rectangle 41">
            <a:extLst>
              <a:ext uri="{FF2B5EF4-FFF2-40B4-BE49-F238E27FC236}">
                <a16:creationId xmlns:a16="http://schemas.microsoft.com/office/drawing/2014/main" id="{8EA6C94A-995E-46F8-A68A-CBC393645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3302" y="100717"/>
            <a:ext cx="60452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algn="ctr">
              <a:lnSpc>
                <a:spcPct val="125000"/>
              </a:lnSpc>
              <a:spcBef>
                <a:spcPct val="0"/>
              </a:spcBef>
              <a:buClr>
                <a:schemeClr val="hlink"/>
              </a:buClr>
            </a:pPr>
            <a:r>
              <a:rPr lang="zh-CN" altLang="en-US" sz="6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错误示例</a:t>
            </a:r>
            <a:endParaRPr lang="en-US" altLang="zh-CN" sz="69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A249953-A469-4942-A217-661D30E319EF}"/>
              </a:ext>
            </a:extLst>
          </p:cNvPr>
          <p:cNvGrpSpPr/>
          <p:nvPr/>
        </p:nvGrpSpPr>
        <p:grpSpPr>
          <a:xfrm>
            <a:off x="714463" y="1390967"/>
            <a:ext cx="10671985" cy="2254153"/>
            <a:chOff x="1264428" y="1152525"/>
            <a:chExt cx="6847285" cy="2795588"/>
          </a:xfrm>
        </p:grpSpPr>
        <p:sp>
          <p:nvSpPr>
            <p:cNvPr id="18" name="圆角矩形 7">
              <a:extLst>
                <a:ext uri="{FF2B5EF4-FFF2-40B4-BE49-F238E27FC236}">
                  <a16:creationId xmlns:a16="http://schemas.microsoft.com/office/drawing/2014/main" id="{09E697EE-219B-4A71-9302-AF76BC27D223}"/>
                </a:ext>
              </a:extLst>
            </p:cNvPr>
            <p:cNvSpPr/>
            <p:nvPr/>
          </p:nvSpPr>
          <p:spPr bwMode="auto">
            <a:xfrm>
              <a:off x="1264428" y="1152525"/>
              <a:ext cx="6847285" cy="2795588"/>
            </a:xfrm>
            <a:prstGeom prst="roundRect">
              <a:avLst>
                <a:gd name="adj" fmla="val 99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19" name="圆角矩形 8">
              <a:extLst>
                <a:ext uri="{FF2B5EF4-FFF2-40B4-BE49-F238E27FC236}">
                  <a16:creationId xmlns:a16="http://schemas.microsoft.com/office/drawing/2014/main" id="{3133F25E-C758-4E47-9DD9-E59C16ADDD8F}"/>
                </a:ext>
              </a:extLst>
            </p:cNvPr>
            <p:cNvSpPr/>
            <p:nvPr/>
          </p:nvSpPr>
          <p:spPr bwMode="auto">
            <a:xfrm>
              <a:off x="1473978" y="1362076"/>
              <a:ext cx="6428185" cy="2306241"/>
            </a:xfrm>
            <a:prstGeom prst="roundRect">
              <a:avLst>
                <a:gd name="adj" fmla="val 11474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</p:grpSp>
      <p:sp>
        <p:nvSpPr>
          <p:cNvPr id="20" name="矩形 1">
            <a:extLst>
              <a:ext uri="{FF2B5EF4-FFF2-40B4-BE49-F238E27FC236}">
                <a16:creationId xmlns:a16="http://schemas.microsoft.com/office/drawing/2014/main" id="{22DAFAEB-F085-4172-AF1D-9D68D94C4650}"/>
              </a:ext>
            </a:extLst>
          </p:cNvPr>
          <p:cNvSpPr/>
          <p:nvPr/>
        </p:nvSpPr>
        <p:spPr>
          <a:xfrm>
            <a:off x="715050" y="1228904"/>
            <a:ext cx="1174112" cy="157163"/>
          </a:xfrm>
          <a:custGeom>
            <a:avLst/>
            <a:gdLst>
              <a:gd name="connsiteX0" fmla="*/ 0 w 1565482"/>
              <a:gd name="connsiteY0" fmla="*/ 0 h 247650"/>
              <a:gd name="connsiteX1" fmla="*/ 15654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  <a:gd name="connsiteX0" fmla="*/ 0 w 1565482"/>
              <a:gd name="connsiteY0" fmla="*/ 0 h 247650"/>
              <a:gd name="connsiteX1" fmla="*/ 12987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5482" h="247650">
                <a:moveTo>
                  <a:pt x="0" y="0"/>
                </a:moveTo>
                <a:lnTo>
                  <a:pt x="1298782" y="0"/>
                </a:lnTo>
                <a:lnTo>
                  <a:pt x="1565482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solidFill>
            <a:srgbClr val="9ED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21" name="矩形 2">
            <a:extLst>
              <a:ext uri="{FF2B5EF4-FFF2-40B4-BE49-F238E27FC236}">
                <a16:creationId xmlns:a16="http://schemas.microsoft.com/office/drawing/2014/main" id="{212FB927-3BD9-4D38-BF23-B4E04C51F504}"/>
              </a:ext>
            </a:extLst>
          </p:cNvPr>
          <p:cNvSpPr/>
          <p:nvPr/>
        </p:nvSpPr>
        <p:spPr>
          <a:xfrm>
            <a:off x="657609" y="1236048"/>
            <a:ext cx="1028069" cy="771525"/>
          </a:xfrm>
          <a:custGeom>
            <a:avLst/>
            <a:gdLst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323133 w 1323133"/>
              <a:gd name="connsiteY2" fmla="*/ 1198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085008 w 1323133"/>
              <a:gd name="connsiteY2" fmla="*/ 817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47625 w 1370758"/>
              <a:gd name="connsiteY0" fmla="*/ 0 h 827194"/>
              <a:gd name="connsiteX1" fmla="*/ 1370758 w 1370758"/>
              <a:gd name="connsiteY1" fmla="*/ 0 h 827194"/>
              <a:gd name="connsiteX2" fmla="*/ 1132633 w 1370758"/>
              <a:gd name="connsiteY2" fmla="*/ 817669 h 827194"/>
              <a:gd name="connsiteX3" fmla="*/ 0 w 1370758"/>
              <a:gd name="connsiteY3" fmla="*/ 827194 h 827194"/>
              <a:gd name="connsiteX4" fmla="*/ 47625 w 1370758"/>
              <a:gd name="connsiteY4" fmla="*/ 0 h 827194"/>
              <a:gd name="connsiteX0" fmla="*/ 47625 w 1370758"/>
              <a:gd name="connsiteY0" fmla="*/ 0 h 836719"/>
              <a:gd name="connsiteX1" fmla="*/ 1370758 w 1370758"/>
              <a:gd name="connsiteY1" fmla="*/ 0 h 836719"/>
              <a:gd name="connsiteX2" fmla="*/ 875458 w 1370758"/>
              <a:gd name="connsiteY2" fmla="*/ 836719 h 836719"/>
              <a:gd name="connsiteX3" fmla="*/ 0 w 1370758"/>
              <a:gd name="connsiteY3" fmla="*/ 827194 h 836719"/>
              <a:gd name="connsiteX4" fmla="*/ 47625 w 1370758"/>
              <a:gd name="connsiteY4" fmla="*/ 0 h 836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0758" h="836719">
                <a:moveTo>
                  <a:pt x="47625" y="0"/>
                </a:moveTo>
                <a:lnTo>
                  <a:pt x="1370758" y="0"/>
                </a:lnTo>
                <a:lnTo>
                  <a:pt x="875458" y="836719"/>
                </a:lnTo>
                <a:lnTo>
                  <a:pt x="0" y="827194"/>
                </a:lnTo>
                <a:lnTo>
                  <a:pt x="47625" y="0"/>
                </a:lnTo>
                <a:close/>
              </a:path>
            </a:pathLst>
          </a:custGeom>
          <a:solidFill>
            <a:srgbClr val="FF92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52CCD85-8D0F-49EB-B3C2-54302362E2F9}"/>
              </a:ext>
            </a:extLst>
          </p:cNvPr>
          <p:cNvSpPr txBox="1"/>
          <p:nvPr/>
        </p:nvSpPr>
        <p:spPr>
          <a:xfrm>
            <a:off x="714465" y="136331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CFA0946-B8A4-41DB-B9EC-1EAF60853AD6}"/>
              </a:ext>
            </a:extLst>
          </p:cNvPr>
          <p:cNvSpPr/>
          <p:nvPr/>
        </p:nvSpPr>
        <p:spPr>
          <a:xfrm>
            <a:off x="1685677" y="1659689"/>
            <a:ext cx="6734991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float a;</a:t>
            </a:r>
          </a:p>
          <a:p>
            <a:r>
              <a:rPr lang="en-US" altLang="zh-CN" sz="3200" dirty="0" err="1">
                <a:latin typeface="Times New Roman" pitchFamily="18" charset="0"/>
                <a:cs typeface="Times New Roman" pitchFamily="18" charset="0"/>
              </a:rPr>
              <a:t>scanf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("%</a:t>
            </a:r>
            <a:r>
              <a:rPr lang="en-US" altLang="zh-C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5.2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f", &amp;a);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错误原因：输入不能指定精度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0" name="爆炸形: 8 pt  9">
            <a:extLst>
              <a:ext uri="{FF2B5EF4-FFF2-40B4-BE49-F238E27FC236}">
                <a16:creationId xmlns:a16="http://schemas.microsoft.com/office/drawing/2014/main" id="{7B2AB7D1-F2B0-4CC4-A7B3-88DA3F9F4D89}"/>
              </a:ext>
            </a:extLst>
          </p:cNvPr>
          <p:cNvSpPr/>
          <p:nvPr/>
        </p:nvSpPr>
        <p:spPr>
          <a:xfrm>
            <a:off x="2099707" y="81411"/>
            <a:ext cx="1852597" cy="1332648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Bodoni MT Black" panose="02070A03080606020203" pitchFamily="18" charset="0"/>
              </a:rPr>
              <a:t>！！！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9C782EE-4BAA-4C98-9F71-9340A07F991D}"/>
              </a:ext>
            </a:extLst>
          </p:cNvPr>
          <p:cNvGrpSpPr/>
          <p:nvPr/>
        </p:nvGrpSpPr>
        <p:grpSpPr>
          <a:xfrm>
            <a:off x="7607300" y="1982990"/>
            <a:ext cx="1181100" cy="1055812"/>
            <a:chOff x="7607300" y="1814388"/>
            <a:chExt cx="1181100" cy="1055812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055EE46C-FCA9-428A-B453-DEFE0F335107}"/>
                </a:ext>
              </a:extLst>
            </p:cNvPr>
            <p:cNvCxnSpPr/>
            <p:nvPr/>
          </p:nvCxnSpPr>
          <p:spPr>
            <a:xfrm>
              <a:off x="7607300" y="1872277"/>
              <a:ext cx="1181100" cy="997923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8F760425-856F-4F05-A58C-86E0B0C413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83500" y="1814388"/>
              <a:ext cx="976668" cy="105151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1080404-AA13-4A91-B561-FBDE7F26881A}"/>
              </a:ext>
            </a:extLst>
          </p:cNvPr>
          <p:cNvGrpSpPr/>
          <p:nvPr/>
        </p:nvGrpSpPr>
        <p:grpSpPr>
          <a:xfrm>
            <a:off x="7620000" y="4268990"/>
            <a:ext cx="1181100" cy="1055812"/>
            <a:chOff x="7607300" y="1814388"/>
            <a:chExt cx="1181100" cy="1055812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78F60463-2D13-4754-988E-63ECD6528DA5}"/>
                </a:ext>
              </a:extLst>
            </p:cNvPr>
            <p:cNvCxnSpPr/>
            <p:nvPr/>
          </p:nvCxnSpPr>
          <p:spPr>
            <a:xfrm>
              <a:off x="7607300" y="1872277"/>
              <a:ext cx="1181100" cy="997923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5F1CE10-90D9-4BFE-A5CA-B65F93D728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83500" y="1814388"/>
              <a:ext cx="976668" cy="105151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5523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20" grpId="0" animBg="1"/>
      <p:bldP spid="21" grpId="0" animBg="1"/>
      <p:bldP spid="22" grpId="0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1462088" y="939805"/>
            <a:ext cx="7148512" cy="838200"/>
          </a:xfr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125000"/>
              </a:lnSpc>
              <a:buClr>
                <a:schemeClr val="hlink"/>
              </a:buClr>
            </a:pP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字符数据的输出</a:t>
            </a:r>
            <a: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lang="en-US" altLang="zh-CN" sz="3600" b="1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putchar</a:t>
            </a:r>
            <a: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  )</a:t>
            </a:r>
            <a:endParaRPr lang="zh-CN" altLang="en-US" sz="3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7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62087" y="2111370"/>
            <a:ext cx="9479181" cy="3658809"/>
          </a:xfrm>
        </p:spPr>
        <p:txBody>
          <a:bodyPr>
            <a:noAutofit/>
          </a:bodyPr>
          <a:lstStyle/>
          <a:p>
            <a:pPr marL="609600" indent="-609600">
              <a:lnSpc>
                <a:spcPct val="150000"/>
              </a:lnSpc>
              <a:buNone/>
            </a:pPr>
            <a:r>
              <a:rPr lang="zh-CN" alt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格式：</a:t>
            </a:r>
            <a:r>
              <a:rPr lang="en-US" altLang="zh-CN" sz="3600" b="1" dirty="0" err="1">
                <a:latin typeface="Times New Roman" pitchFamily="18" charset="0"/>
                <a:cs typeface="Times New Roman" pitchFamily="18" charset="0"/>
              </a:rPr>
              <a:t>putchar</a:t>
            </a:r>
            <a:r>
              <a:rPr lang="en-US" altLang="zh-CN" sz="3600" b="1" dirty="0">
                <a:latin typeface="Times New Roman" pitchFamily="18" charset="0"/>
                <a:cs typeface="Times New Roman" pitchFamily="18" charset="0"/>
              </a:rPr>
              <a:t>(c)</a:t>
            </a:r>
            <a:r>
              <a:rPr lang="zh-CN" altLang="en-US" sz="3600" b="1" dirty="0">
                <a:latin typeface="Times New Roman" pitchFamily="18" charset="0"/>
                <a:cs typeface="Times New Roman" pitchFamily="18" charset="0"/>
              </a:rPr>
              <a:t>；</a:t>
            </a:r>
          </a:p>
          <a:p>
            <a:pPr marL="609600" indent="-609600">
              <a:lnSpc>
                <a:spcPct val="150000"/>
              </a:lnSpc>
              <a:buNone/>
            </a:pPr>
            <a:r>
              <a:rPr kumimoji="1" lang="zh-CN" alt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参数</a:t>
            </a:r>
            <a:r>
              <a:rPr kumimoji="1" lang="en-US" altLang="zh-CN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kumimoji="1" lang="en-US" altLang="zh-CN" sz="3600" b="1" dirty="0">
                <a:latin typeface="Times New Roman" pitchFamily="18" charset="0"/>
                <a:cs typeface="Times New Roman" pitchFamily="18" charset="0"/>
              </a:rPr>
              <a:t> c</a:t>
            </a:r>
            <a:r>
              <a:rPr kumimoji="1" lang="zh-CN" altLang="en-US" sz="3600" b="1" dirty="0">
                <a:latin typeface="Times New Roman" pitchFamily="18" charset="0"/>
                <a:cs typeface="Times New Roman" pitchFamily="18" charset="0"/>
              </a:rPr>
              <a:t>为字符常量、变量或表达式</a:t>
            </a:r>
          </a:p>
          <a:p>
            <a:pPr marL="609600" indent="-609600">
              <a:lnSpc>
                <a:spcPct val="150000"/>
              </a:lnSpc>
              <a:buNone/>
            </a:pPr>
            <a:r>
              <a:rPr kumimoji="1" lang="zh-CN" altLang="zh-CN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功能：</a:t>
            </a:r>
            <a:r>
              <a:rPr kumimoji="1" lang="zh-CN" altLang="zh-CN" sz="3600" b="1" dirty="0">
                <a:latin typeface="Times New Roman" pitchFamily="18" charset="0"/>
                <a:cs typeface="Times New Roman" pitchFamily="18" charset="0"/>
              </a:rPr>
              <a:t>把</a:t>
            </a:r>
            <a:r>
              <a:rPr kumimoji="1" lang="zh-CN" altLang="en-US" sz="3600" b="1" dirty="0">
                <a:latin typeface="Times New Roman" pitchFamily="18" charset="0"/>
                <a:cs typeface="Times New Roman" pitchFamily="18" charset="0"/>
              </a:rPr>
              <a:t>参数</a:t>
            </a:r>
            <a:r>
              <a:rPr kumimoji="1" lang="en-US" altLang="zh-CN" sz="3600" b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kumimoji="1" lang="zh-CN" altLang="en-US" sz="3600" b="1" dirty="0">
                <a:latin typeface="Times New Roman" pitchFamily="18" charset="0"/>
                <a:cs typeface="Times New Roman" pitchFamily="18" charset="0"/>
              </a:rPr>
              <a:t>所表示的内容</a:t>
            </a:r>
            <a:r>
              <a:rPr kumimoji="1" lang="zh-CN" altLang="zh-CN" sz="3600" b="1" dirty="0">
                <a:latin typeface="Times New Roman" pitchFamily="18" charset="0"/>
                <a:cs typeface="Times New Roman" pitchFamily="18" charset="0"/>
              </a:rPr>
              <a:t>输出到显示器上</a:t>
            </a:r>
            <a:r>
              <a:rPr kumimoji="1" lang="zh-CN" altLang="en-US" sz="3600" b="1" dirty="0">
                <a:latin typeface="Times New Roman" pitchFamily="18" charset="0"/>
                <a:cs typeface="Times New Roman" pitchFamily="18" charset="0"/>
              </a:rPr>
              <a:t>。</a:t>
            </a:r>
          </a:p>
          <a:p>
            <a:pPr marL="609600" indent="-609600">
              <a:lnSpc>
                <a:spcPct val="150000"/>
              </a:lnSpc>
              <a:buNone/>
            </a:pPr>
            <a:endParaRPr lang="en-US" altLang="zh-CN" sz="36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765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7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7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7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47" grpId="0" build="p" bldLvl="5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1">
            <a:extLst>
              <a:ext uri="{FF2B5EF4-FFF2-40B4-BE49-F238E27FC236}">
                <a16:creationId xmlns:a16="http://schemas.microsoft.com/office/drawing/2014/main" id="{8EA6C94A-995E-46F8-A68A-CBC393645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2860" y="177038"/>
            <a:ext cx="60452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25000"/>
              </a:lnSpc>
              <a:spcBef>
                <a:spcPct val="0"/>
              </a:spcBef>
              <a:buClr>
                <a:schemeClr val="hlink"/>
              </a:buClr>
            </a:pPr>
            <a:r>
              <a:rPr lang="en-US" altLang="zh-CN" sz="3600" b="1" dirty="0">
                <a:latin typeface="Arial" charset="0"/>
              </a:rPr>
              <a:t> </a:t>
            </a:r>
            <a:r>
              <a:rPr lang="zh-CN" altLang="en-US" sz="43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小 试 牛 刀</a:t>
            </a:r>
            <a:endParaRPr lang="en-US" altLang="zh-CN" sz="43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A249953-A469-4942-A217-661D30E319EF}"/>
              </a:ext>
            </a:extLst>
          </p:cNvPr>
          <p:cNvGrpSpPr/>
          <p:nvPr/>
        </p:nvGrpSpPr>
        <p:grpSpPr>
          <a:xfrm>
            <a:off x="765263" y="876433"/>
            <a:ext cx="10671985" cy="5562467"/>
            <a:chOff x="1264428" y="1152525"/>
            <a:chExt cx="6847285" cy="2795588"/>
          </a:xfrm>
        </p:grpSpPr>
        <p:sp>
          <p:nvSpPr>
            <p:cNvPr id="18" name="圆角矩形 7">
              <a:extLst>
                <a:ext uri="{FF2B5EF4-FFF2-40B4-BE49-F238E27FC236}">
                  <a16:creationId xmlns:a16="http://schemas.microsoft.com/office/drawing/2014/main" id="{09E697EE-219B-4A71-9302-AF76BC27D223}"/>
                </a:ext>
              </a:extLst>
            </p:cNvPr>
            <p:cNvSpPr/>
            <p:nvPr/>
          </p:nvSpPr>
          <p:spPr bwMode="auto">
            <a:xfrm>
              <a:off x="1264428" y="1152525"/>
              <a:ext cx="6847285" cy="2795588"/>
            </a:xfrm>
            <a:prstGeom prst="roundRect">
              <a:avLst>
                <a:gd name="adj" fmla="val 99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19" name="圆角矩形 8">
              <a:extLst>
                <a:ext uri="{FF2B5EF4-FFF2-40B4-BE49-F238E27FC236}">
                  <a16:creationId xmlns:a16="http://schemas.microsoft.com/office/drawing/2014/main" id="{3133F25E-C758-4E47-9DD9-E59C16ADDD8F}"/>
                </a:ext>
              </a:extLst>
            </p:cNvPr>
            <p:cNvSpPr/>
            <p:nvPr/>
          </p:nvSpPr>
          <p:spPr bwMode="auto">
            <a:xfrm>
              <a:off x="1473978" y="1362076"/>
              <a:ext cx="6428185" cy="2306241"/>
            </a:xfrm>
            <a:prstGeom prst="roundRect">
              <a:avLst>
                <a:gd name="adj" fmla="val 11474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</p:grpSp>
      <p:sp>
        <p:nvSpPr>
          <p:cNvPr id="20" name="矩形 1">
            <a:extLst>
              <a:ext uri="{FF2B5EF4-FFF2-40B4-BE49-F238E27FC236}">
                <a16:creationId xmlns:a16="http://schemas.microsoft.com/office/drawing/2014/main" id="{22DAFAEB-F085-4172-AF1D-9D68D94C4650}"/>
              </a:ext>
            </a:extLst>
          </p:cNvPr>
          <p:cNvSpPr/>
          <p:nvPr/>
        </p:nvSpPr>
        <p:spPr>
          <a:xfrm>
            <a:off x="765850" y="714370"/>
            <a:ext cx="1174112" cy="157163"/>
          </a:xfrm>
          <a:custGeom>
            <a:avLst/>
            <a:gdLst>
              <a:gd name="connsiteX0" fmla="*/ 0 w 1565482"/>
              <a:gd name="connsiteY0" fmla="*/ 0 h 247650"/>
              <a:gd name="connsiteX1" fmla="*/ 15654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  <a:gd name="connsiteX0" fmla="*/ 0 w 1565482"/>
              <a:gd name="connsiteY0" fmla="*/ 0 h 247650"/>
              <a:gd name="connsiteX1" fmla="*/ 12987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5482" h="247650">
                <a:moveTo>
                  <a:pt x="0" y="0"/>
                </a:moveTo>
                <a:lnTo>
                  <a:pt x="1298782" y="0"/>
                </a:lnTo>
                <a:lnTo>
                  <a:pt x="1565482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solidFill>
            <a:srgbClr val="9ED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21" name="矩形 2">
            <a:extLst>
              <a:ext uri="{FF2B5EF4-FFF2-40B4-BE49-F238E27FC236}">
                <a16:creationId xmlns:a16="http://schemas.microsoft.com/office/drawing/2014/main" id="{212FB927-3BD9-4D38-BF23-B4E04C51F504}"/>
              </a:ext>
            </a:extLst>
          </p:cNvPr>
          <p:cNvSpPr/>
          <p:nvPr/>
        </p:nvSpPr>
        <p:spPr>
          <a:xfrm>
            <a:off x="708409" y="721514"/>
            <a:ext cx="1028069" cy="771525"/>
          </a:xfrm>
          <a:custGeom>
            <a:avLst/>
            <a:gdLst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323133 w 1323133"/>
              <a:gd name="connsiteY2" fmla="*/ 1198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085008 w 1323133"/>
              <a:gd name="connsiteY2" fmla="*/ 817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47625 w 1370758"/>
              <a:gd name="connsiteY0" fmla="*/ 0 h 827194"/>
              <a:gd name="connsiteX1" fmla="*/ 1370758 w 1370758"/>
              <a:gd name="connsiteY1" fmla="*/ 0 h 827194"/>
              <a:gd name="connsiteX2" fmla="*/ 1132633 w 1370758"/>
              <a:gd name="connsiteY2" fmla="*/ 817669 h 827194"/>
              <a:gd name="connsiteX3" fmla="*/ 0 w 1370758"/>
              <a:gd name="connsiteY3" fmla="*/ 827194 h 827194"/>
              <a:gd name="connsiteX4" fmla="*/ 47625 w 1370758"/>
              <a:gd name="connsiteY4" fmla="*/ 0 h 827194"/>
              <a:gd name="connsiteX0" fmla="*/ 47625 w 1370758"/>
              <a:gd name="connsiteY0" fmla="*/ 0 h 836719"/>
              <a:gd name="connsiteX1" fmla="*/ 1370758 w 1370758"/>
              <a:gd name="connsiteY1" fmla="*/ 0 h 836719"/>
              <a:gd name="connsiteX2" fmla="*/ 875458 w 1370758"/>
              <a:gd name="connsiteY2" fmla="*/ 836719 h 836719"/>
              <a:gd name="connsiteX3" fmla="*/ 0 w 1370758"/>
              <a:gd name="connsiteY3" fmla="*/ 827194 h 836719"/>
              <a:gd name="connsiteX4" fmla="*/ 47625 w 1370758"/>
              <a:gd name="connsiteY4" fmla="*/ 0 h 836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0758" h="836719">
                <a:moveTo>
                  <a:pt x="47625" y="0"/>
                </a:moveTo>
                <a:lnTo>
                  <a:pt x="1370758" y="0"/>
                </a:lnTo>
                <a:lnTo>
                  <a:pt x="875458" y="836719"/>
                </a:lnTo>
                <a:lnTo>
                  <a:pt x="0" y="827194"/>
                </a:lnTo>
                <a:lnTo>
                  <a:pt x="47625" y="0"/>
                </a:lnTo>
                <a:close/>
              </a:path>
            </a:pathLst>
          </a:custGeom>
          <a:solidFill>
            <a:srgbClr val="FF92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52CCD85-8D0F-49EB-B3C2-54302362E2F9}"/>
              </a:ext>
            </a:extLst>
          </p:cNvPr>
          <p:cNvSpPr txBox="1"/>
          <p:nvPr/>
        </p:nvSpPr>
        <p:spPr>
          <a:xfrm>
            <a:off x="765265" y="84878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29EDAA-0F79-4DA5-9454-E061D9227995}"/>
              </a:ext>
            </a:extLst>
          </p:cNvPr>
          <p:cNvSpPr/>
          <p:nvPr/>
        </p:nvSpPr>
        <p:spPr>
          <a:xfrm>
            <a:off x="1734206" y="1158113"/>
            <a:ext cx="8415937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＃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include &lt;</a:t>
            </a:r>
            <a:r>
              <a:rPr lang="en-US" altLang="zh-CN" sz="28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stdio.h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void main( )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{   char   ch1, ch2;  </a:t>
            </a:r>
            <a:r>
              <a:rPr lang="en-US" altLang="zh-CN" sz="28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j;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ch1=‘C’; ch2=‘h’; j=105;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28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putchar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(ch1);</a:t>
            </a:r>
            <a:endParaRPr lang="zh-CN" altLang="zh-CN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28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putchar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(ch2);</a:t>
            </a:r>
            <a:endParaRPr lang="zh-CN" altLang="zh-CN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28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putchar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(j);</a:t>
            </a:r>
            <a:endParaRPr lang="zh-CN" altLang="zh-CN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28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putchar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(‘n’);</a:t>
            </a:r>
            <a:endParaRPr lang="zh-CN" altLang="zh-CN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28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putchar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(‘\141’);</a:t>
            </a:r>
            <a:endParaRPr lang="zh-CN" altLang="zh-CN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28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putchar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(‘\n’);</a:t>
            </a:r>
            <a:endParaRPr lang="zh-CN" altLang="zh-CN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}</a:t>
            </a:r>
          </a:p>
        </p:txBody>
      </p:sp>
      <p:sp>
        <p:nvSpPr>
          <p:cNvPr id="24" name="AutoShape 9">
            <a:extLst>
              <a:ext uri="{FF2B5EF4-FFF2-40B4-BE49-F238E27FC236}">
                <a16:creationId xmlns:a16="http://schemas.microsoft.com/office/drawing/2014/main" id="{B6A2B718-1558-42E4-B209-3DB78D54B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1975" y="2886075"/>
            <a:ext cx="2071688" cy="500063"/>
          </a:xfrm>
          <a:prstGeom prst="wedgeRectCallout">
            <a:avLst>
              <a:gd name="adj1" fmla="val -101426"/>
              <a:gd name="adj2" fmla="val 8208"/>
            </a:avLst>
          </a:prstGeom>
          <a:solidFill>
            <a:srgbClr val="FFFF99"/>
          </a:solidFill>
          <a:ln w="9525">
            <a:solidFill>
              <a:schemeClr val="accent2">
                <a:lumMod val="75000"/>
              </a:schemeClr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800">
                <a:latin typeface="楷体_GB2312" pitchFamily="49" charset="-122"/>
              </a:rPr>
              <a:t>输出字符</a:t>
            </a:r>
            <a:r>
              <a:rPr lang="en-US" altLang="zh-CN" sz="2800">
                <a:latin typeface="楷体_GB2312" pitchFamily="49" charset="-122"/>
              </a:rPr>
              <a:t>C</a:t>
            </a:r>
          </a:p>
        </p:txBody>
      </p:sp>
      <p:sp>
        <p:nvSpPr>
          <p:cNvPr id="25" name="AutoShape 10">
            <a:extLst>
              <a:ext uri="{FF2B5EF4-FFF2-40B4-BE49-F238E27FC236}">
                <a16:creationId xmlns:a16="http://schemas.microsoft.com/office/drawing/2014/main" id="{162C5A78-6754-4564-8BD7-98C6B2C3F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4425" y="3529013"/>
            <a:ext cx="2090738" cy="500062"/>
          </a:xfrm>
          <a:prstGeom prst="wedgeRectCallout">
            <a:avLst>
              <a:gd name="adj1" fmla="val -132796"/>
              <a:gd name="adj2" fmla="val -33690"/>
            </a:avLst>
          </a:prstGeom>
          <a:solidFill>
            <a:srgbClr val="FFFF99"/>
          </a:solidFill>
          <a:ln w="9525">
            <a:solidFill>
              <a:schemeClr val="accent2">
                <a:lumMod val="75000"/>
              </a:schemeClr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800">
                <a:latin typeface="楷体_GB2312" pitchFamily="49" charset="-122"/>
              </a:rPr>
              <a:t>输出字符</a:t>
            </a:r>
            <a:r>
              <a:rPr lang="en-US" altLang="zh-CN" sz="2800">
                <a:latin typeface="楷体_GB2312" pitchFamily="49" charset="-122"/>
              </a:rPr>
              <a:t>h</a:t>
            </a:r>
          </a:p>
        </p:txBody>
      </p:sp>
      <p:sp>
        <p:nvSpPr>
          <p:cNvPr id="26" name="AutoShape 11">
            <a:extLst>
              <a:ext uri="{FF2B5EF4-FFF2-40B4-BE49-F238E27FC236}">
                <a16:creationId xmlns:a16="http://schemas.microsoft.com/office/drawing/2014/main" id="{FB4A12FB-8882-4FAC-B4E7-AF2413533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8700" y="4122738"/>
            <a:ext cx="2176463" cy="477837"/>
          </a:xfrm>
          <a:prstGeom prst="wedgeRectCallout">
            <a:avLst>
              <a:gd name="adj1" fmla="val -142228"/>
              <a:gd name="adj2" fmla="val -78494"/>
            </a:avLst>
          </a:prstGeom>
          <a:solidFill>
            <a:srgbClr val="FFFF99"/>
          </a:solidFill>
          <a:ln w="9525">
            <a:solidFill>
              <a:schemeClr val="accent2">
                <a:lumMod val="75000"/>
              </a:schemeClr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800">
                <a:latin typeface="楷体_GB2312" pitchFamily="49" charset="-122"/>
              </a:rPr>
              <a:t>输出字符</a:t>
            </a:r>
            <a:r>
              <a:rPr lang="en-US" altLang="zh-CN" sz="2800">
                <a:latin typeface="楷体_GB2312" pitchFamily="49" charset="-122"/>
              </a:rPr>
              <a:t>i</a:t>
            </a:r>
          </a:p>
        </p:txBody>
      </p:sp>
      <p:sp>
        <p:nvSpPr>
          <p:cNvPr id="27" name="AutoShape 12">
            <a:extLst>
              <a:ext uri="{FF2B5EF4-FFF2-40B4-BE49-F238E27FC236}">
                <a16:creationId xmlns:a16="http://schemas.microsoft.com/office/drawing/2014/main" id="{A44DFD85-4EB7-42F9-845D-16DDBE94C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9700" y="4673600"/>
            <a:ext cx="2224088" cy="498475"/>
          </a:xfrm>
          <a:prstGeom prst="wedgeRectCallout">
            <a:avLst>
              <a:gd name="adj1" fmla="val -146247"/>
              <a:gd name="adj2" fmla="val -103333"/>
            </a:avLst>
          </a:prstGeom>
          <a:solidFill>
            <a:srgbClr val="FFFF99"/>
          </a:solidFill>
          <a:ln w="9525">
            <a:solidFill>
              <a:schemeClr val="accent2">
                <a:lumMod val="75000"/>
              </a:schemeClr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800">
                <a:latin typeface="楷体_GB2312" pitchFamily="49" charset="-122"/>
              </a:rPr>
              <a:t>输出字符</a:t>
            </a:r>
            <a:r>
              <a:rPr lang="en-US" altLang="zh-CN" sz="2800">
                <a:latin typeface="楷体_GB2312" pitchFamily="49" charset="-122"/>
              </a:rPr>
              <a:t>n</a:t>
            </a:r>
          </a:p>
        </p:txBody>
      </p:sp>
      <p:sp>
        <p:nvSpPr>
          <p:cNvPr id="28" name="AutoShape 13">
            <a:extLst>
              <a:ext uri="{FF2B5EF4-FFF2-40B4-BE49-F238E27FC236}">
                <a16:creationId xmlns:a16="http://schemas.microsoft.com/office/drawing/2014/main" id="{B471C5EC-6DE6-4191-B4CE-7A7CD6BEA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5363" y="5249863"/>
            <a:ext cx="5024776" cy="566737"/>
          </a:xfrm>
          <a:prstGeom prst="wedgeRectCallout">
            <a:avLst>
              <a:gd name="adj1" fmla="val -74708"/>
              <a:gd name="adj2" fmla="val -105713"/>
            </a:avLst>
          </a:prstGeom>
          <a:solidFill>
            <a:srgbClr val="FFFF99"/>
          </a:solidFill>
          <a:ln w="9525">
            <a:solidFill>
              <a:schemeClr val="accent2">
                <a:lumMod val="75000"/>
              </a:schemeClr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2800" dirty="0">
                <a:latin typeface="楷体_GB2312" pitchFamily="49" charset="-122"/>
              </a:rPr>
              <a:t>输出字符</a:t>
            </a:r>
            <a:r>
              <a:rPr lang="en-US" altLang="zh-CN" sz="2800" dirty="0">
                <a:latin typeface="楷体_GB2312" pitchFamily="49" charset="-122"/>
              </a:rPr>
              <a:t>a</a:t>
            </a:r>
            <a:r>
              <a:rPr lang="zh-CN" altLang="en-US" sz="2800" dirty="0">
                <a:latin typeface="楷体_GB2312" pitchFamily="49" charset="-122"/>
              </a:rPr>
              <a:t>，</a:t>
            </a:r>
            <a:r>
              <a:rPr lang="en-US" altLang="zh-CN" sz="2800" dirty="0">
                <a:latin typeface="楷体_GB2312" pitchFamily="49" charset="-122"/>
              </a:rPr>
              <a:t>\141</a:t>
            </a:r>
            <a:r>
              <a:rPr lang="zh-CN" altLang="en-US" sz="2800" dirty="0">
                <a:latin typeface="楷体_GB2312" pitchFamily="49" charset="-122"/>
              </a:rPr>
              <a:t>是转义字符</a:t>
            </a:r>
          </a:p>
        </p:txBody>
      </p:sp>
    </p:spTree>
    <p:extLst>
      <p:ext uri="{BB962C8B-B14F-4D97-AF65-F5344CB8AC3E}">
        <p14:creationId xmlns:p14="http://schemas.microsoft.com/office/powerpoint/2010/main" val="616023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/>
      <p:bldP spid="24" grpId="0" animBg="1" autoUpdateAnimBg="0"/>
      <p:bldP spid="25" grpId="0" animBg="1" autoUpdateAnimBg="0"/>
      <p:bldP spid="26" grpId="0" animBg="1" autoUpdateAnimBg="0"/>
      <p:bldP spid="27" grpId="0" animBg="1" autoUpdateAnimBg="0"/>
      <p:bldP spid="28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24" name="Rectangle 8"/>
          <p:cNvSpPr>
            <a:spLocks noChangeArrowheads="1"/>
          </p:cNvSpPr>
          <p:nvPr/>
        </p:nvSpPr>
        <p:spPr bwMode="auto">
          <a:xfrm>
            <a:off x="1557846" y="2126076"/>
            <a:ext cx="8396286" cy="334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zh-CN" altLang="en-US" sz="3600" b="1" dirty="0">
                <a:solidFill>
                  <a:srgbClr val="FF0000"/>
                </a:solidFill>
                <a:latin typeface="Times New Roman" pitchFamily="18" charset="0"/>
              </a:rPr>
              <a:t>格式：</a:t>
            </a:r>
            <a:r>
              <a:rPr lang="en-US" altLang="zh-CN" sz="3600" b="1" dirty="0">
                <a:latin typeface="Times New Roman" pitchFamily="18" charset="0"/>
              </a:rPr>
              <a:t>c=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itchFamily="18" charset="0"/>
              </a:rPr>
              <a:t>getchar</a:t>
            </a:r>
            <a:r>
              <a:rPr lang="en-US" altLang="zh-CN" sz="3600" b="1" dirty="0">
                <a:solidFill>
                  <a:srgbClr val="FF0000"/>
                </a:solidFill>
                <a:latin typeface="Times New Roman" pitchFamily="18" charset="0"/>
              </a:rPr>
              <a:t>( )</a:t>
            </a:r>
            <a:r>
              <a:rPr lang="zh-CN" altLang="en-US" sz="3600" b="1" dirty="0">
                <a:latin typeface="Times New Roman" pitchFamily="18" charset="0"/>
              </a:rPr>
              <a:t>；</a:t>
            </a:r>
          </a:p>
          <a:p>
            <a:pPr marL="609600" indent="-609600">
              <a:lnSpc>
                <a:spcPct val="150000"/>
              </a:lnSpc>
              <a:spcBef>
                <a:spcPts val="600"/>
              </a:spcBef>
            </a:pPr>
            <a:r>
              <a:rPr lang="zh-CN" altLang="zh-CN" sz="3600" b="1" dirty="0">
                <a:solidFill>
                  <a:srgbClr val="FF0000"/>
                </a:solidFill>
                <a:latin typeface="Times New Roman" pitchFamily="18" charset="0"/>
              </a:rPr>
              <a:t>功能：</a:t>
            </a:r>
            <a:r>
              <a:rPr lang="zh-CN" altLang="zh-CN" sz="3600" b="1" dirty="0">
                <a:latin typeface="Times New Roman" pitchFamily="18" charset="0"/>
              </a:rPr>
              <a:t>从键盘读入一个字符</a:t>
            </a:r>
          </a:p>
          <a:p>
            <a:pPr marL="609600" indent="-609600">
              <a:lnSpc>
                <a:spcPct val="150000"/>
              </a:lnSpc>
              <a:spcBef>
                <a:spcPts val="600"/>
              </a:spcBef>
            </a:pPr>
            <a:r>
              <a:rPr lang="zh-CN" altLang="zh-CN" sz="3600" b="1" dirty="0">
                <a:solidFill>
                  <a:srgbClr val="FF0000"/>
                </a:solidFill>
                <a:latin typeface="Times New Roman" pitchFamily="18" charset="0"/>
              </a:rPr>
              <a:t>返值：</a:t>
            </a:r>
            <a:r>
              <a:rPr lang="zh-CN" altLang="en-US" sz="3600" b="1" dirty="0">
                <a:latin typeface="Times New Roman" pitchFamily="18" charset="0"/>
              </a:rPr>
              <a:t>若程序</a:t>
            </a:r>
            <a:r>
              <a:rPr lang="zh-CN" altLang="zh-CN" sz="3600" b="1" dirty="0">
                <a:latin typeface="Times New Roman" pitchFamily="18" charset="0"/>
              </a:rPr>
              <a:t>正常</a:t>
            </a:r>
            <a:r>
              <a:rPr lang="zh-CN" altLang="en-US" sz="3600" b="1" dirty="0">
                <a:latin typeface="Times New Roman" pitchFamily="18" charset="0"/>
              </a:rPr>
              <a:t>运行</a:t>
            </a:r>
            <a:r>
              <a:rPr lang="zh-CN" altLang="zh-CN" sz="3600" b="1" dirty="0">
                <a:latin typeface="Times New Roman" pitchFamily="18" charset="0"/>
              </a:rPr>
              <a:t>，</a:t>
            </a:r>
            <a:r>
              <a:rPr lang="zh-CN" altLang="en-US" sz="3600" b="1" dirty="0">
                <a:latin typeface="Times New Roman" pitchFamily="18" charset="0"/>
              </a:rPr>
              <a:t>则</a:t>
            </a:r>
            <a:r>
              <a:rPr lang="en-US" altLang="zh-CN" sz="3600" b="1" dirty="0">
                <a:latin typeface="Times New Roman" pitchFamily="18" charset="0"/>
              </a:rPr>
              <a:t>c</a:t>
            </a:r>
            <a:r>
              <a:rPr lang="zh-CN" altLang="en-US" sz="3600" b="1" dirty="0">
                <a:latin typeface="Times New Roman" pitchFamily="18" charset="0"/>
              </a:rPr>
              <a:t>得到字符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BB27509-6B87-4ADF-BA08-E71E674939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57846" y="778438"/>
            <a:ext cx="8189912" cy="838200"/>
          </a:xfr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algn="l">
              <a:lnSpc>
                <a:spcPct val="125000"/>
              </a:lnSpc>
              <a:buClr>
                <a:schemeClr val="hlink"/>
              </a:buClr>
            </a:pPr>
            <a:r>
              <a:rPr lang="zh-CN" altLang="en-US" sz="4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字符数据的输入</a:t>
            </a:r>
            <a:r>
              <a:rPr lang="en-US" altLang="zh-CN" sz="4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lang="en-US" altLang="zh-CN" sz="4000" b="1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getchar</a:t>
            </a:r>
            <a:r>
              <a:rPr lang="en-US" altLang="zh-CN" sz="4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  )</a:t>
            </a:r>
            <a:endParaRPr lang="zh-CN" altLang="en-US" sz="40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382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08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08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08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24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1">
            <a:extLst>
              <a:ext uri="{FF2B5EF4-FFF2-40B4-BE49-F238E27FC236}">
                <a16:creationId xmlns:a16="http://schemas.microsoft.com/office/drawing/2014/main" id="{8EA6C94A-995E-46F8-A68A-CBC393645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162" y="221359"/>
            <a:ext cx="60452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25000"/>
              </a:lnSpc>
              <a:spcBef>
                <a:spcPct val="0"/>
              </a:spcBef>
              <a:buClr>
                <a:schemeClr val="hlink"/>
              </a:buClr>
            </a:pPr>
            <a:r>
              <a:rPr lang="en-US" altLang="zh-CN" sz="3600" b="1" dirty="0">
                <a:latin typeface="Arial" charset="0"/>
              </a:rPr>
              <a:t> </a:t>
            </a:r>
            <a:r>
              <a:rPr lang="zh-CN" altLang="en-US" sz="43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小 试 牛 刀</a:t>
            </a:r>
            <a:endParaRPr lang="en-US" altLang="zh-CN" sz="43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A249953-A469-4942-A217-661D30E319EF}"/>
              </a:ext>
            </a:extLst>
          </p:cNvPr>
          <p:cNvGrpSpPr/>
          <p:nvPr/>
        </p:nvGrpSpPr>
        <p:grpSpPr>
          <a:xfrm>
            <a:off x="714463" y="952633"/>
            <a:ext cx="10671985" cy="5209952"/>
            <a:chOff x="1264428" y="1152525"/>
            <a:chExt cx="6847285" cy="2795588"/>
          </a:xfrm>
        </p:grpSpPr>
        <p:sp>
          <p:nvSpPr>
            <p:cNvPr id="18" name="圆角矩形 7">
              <a:extLst>
                <a:ext uri="{FF2B5EF4-FFF2-40B4-BE49-F238E27FC236}">
                  <a16:creationId xmlns:a16="http://schemas.microsoft.com/office/drawing/2014/main" id="{09E697EE-219B-4A71-9302-AF76BC27D223}"/>
                </a:ext>
              </a:extLst>
            </p:cNvPr>
            <p:cNvSpPr/>
            <p:nvPr/>
          </p:nvSpPr>
          <p:spPr bwMode="auto">
            <a:xfrm>
              <a:off x="1264428" y="1152525"/>
              <a:ext cx="6847285" cy="2795588"/>
            </a:xfrm>
            <a:prstGeom prst="roundRect">
              <a:avLst>
                <a:gd name="adj" fmla="val 99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lnSpc>
                  <a:spcPct val="150000"/>
                </a:lnSpc>
                <a:defRPr/>
              </a:pPr>
              <a:endParaRPr lang="en-US" sz="1013"/>
            </a:p>
          </p:txBody>
        </p:sp>
        <p:sp>
          <p:nvSpPr>
            <p:cNvPr id="19" name="圆角矩形 8">
              <a:extLst>
                <a:ext uri="{FF2B5EF4-FFF2-40B4-BE49-F238E27FC236}">
                  <a16:creationId xmlns:a16="http://schemas.microsoft.com/office/drawing/2014/main" id="{3133F25E-C758-4E47-9DD9-E59C16ADDD8F}"/>
                </a:ext>
              </a:extLst>
            </p:cNvPr>
            <p:cNvSpPr/>
            <p:nvPr/>
          </p:nvSpPr>
          <p:spPr bwMode="auto">
            <a:xfrm>
              <a:off x="1473978" y="1362076"/>
              <a:ext cx="6428185" cy="2306241"/>
            </a:xfrm>
            <a:prstGeom prst="roundRect">
              <a:avLst>
                <a:gd name="adj" fmla="val 11474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lnSpc>
                  <a:spcPct val="150000"/>
                </a:lnSpc>
                <a:defRPr/>
              </a:pPr>
              <a:endParaRPr lang="en-US" sz="1013"/>
            </a:p>
          </p:txBody>
        </p:sp>
      </p:grpSp>
      <p:sp>
        <p:nvSpPr>
          <p:cNvPr id="20" name="矩形 1">
            <a:extLst>
              <a:ext uri="{FF2B5EF4-FFF2-40B4-BE49-F238E27FC236}">
                <a16:creationId xmlns:a16="http://schemas.microsoft.com/office/drawing/2014/main" id="{22DAFAEB-F085-4172-AF1D-9D68D94C4650}"/>
              </a:ext>
            </a:extLst>
          </p:cNvPr>
          <p:cNvSpPr/>
          <p:nvPr/>
        </p:nvSpPr>
        <p:spPr>
          <a:xfrm>
            <a:off x="715050" y="790570"/>
            <a:ext cx="1174112" cy="157163"/>
          </a:xfrm>
          <a:custGeom>
            <a:avLst/>
            <a:gdLst>
              <a:gd name="connsiteX0" fmla="*/ 0 w 1565482"/>
              <a:gd name="connsiteY0" fmla="*/ 0 h 247650"/>
              <a:gd name="connsiteX1" fmla="*/ 15654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  <a:gd name="connsiteX0" fmla="*/ 0 w 1565482"/>
              <a:gd name="connsiteY0" fmla="*/ 0 h 247650"/>
              <a:gd name="connsiteX1" fmla="*/ 12987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5482" h="247650">
                <a:moveTo>
                  <a:pt x="0" y="0"/>
                </a:moveTo>
                <a:lnTo>
                  <a:pt x="1298782" y="0"/>
                </a:lnTo>
                <a:lnTo>
                  <a:pt x="1565482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solidFill>
            <a:srgbClr val="9ED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21" name="矩形 2">
            <a:extLst>
              <a:ext uri="{FF2B5EF4-FFF2-40B4-BE49-F238E27FC236}">
                <a16:creationId xmlns:a16="http://schemas.microsoft.com/office/drawing/2014/main" id="{212FB927-3BD9-4D38-BF23-B4E04C51F504}"/>
              </a:ext>
            </a:extLst>
          </p:cNvPr>
          <p:cNvSpPr/>
          <p:nvPr/>
        </p:nvSpPr>
        <p:spPr>
          <a:xfrm>
            <a:off x="657609" y="797714"/>
            <a:ext cx="1028069" cy="771525"/>
          </a:xfrm>
          <a:custGeom>
            <a:avLst/>
            <a:gdLst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323133 w 1323133"/>
              <a:gd name="connsiteY2" fmla="*/ 1198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085008 w 1323133"/>
              <a:gd name="connsiteY2" fmla="*/ 817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47625 w 1370758"/>
              <a:gd name="connsiteY0" fmla="*/ 0 h 827194"/>
              <a:gd name="connsiteX1" fmla="*/ 1370758 w 1370758"/>
              <a:gd name="connsiteY1" fmla="*/ 0 h 827194"/>
              <a:gd name="connsiteX2" fmla="*/ 1132633 w 1370758"/>
              <a:gd name="connsiteY2" fmla="*/ 817669 h 827194"/>
              <a:gd name="connsiteX3" fmla="*/ 0 w 1370758"/>
              <a:gd name="connsiteY3" fmla="*/ 827194 h 827194"/>
              <a:gd name="connsiteX4" fmla="*/ 47625 w 1370758"/>
              <a:gd name="connsiteY4" fmla="*/ 0 h 827194"/>
              <a:gd name="connsiteX0" fmla="*/ 47625 w 1370758"/>
              <a:gd name="connsiteY0" fmla="*/ 0 h 836719"/>
              <a:gd name="connsiteX1" fmla="*/ 1370758 w 1370758"/>
              <a:gd name="connsiteY1" fmla="*/ 0 h 836719"/>
              <a:gd name="connsiteX2" fmla="*/ 875458 w 1370758"/>
              <a:gd name="connsiteY2" fmla="*/ 836719 h 836719"/>
              <a:gd name="connsiteX3" fmla="*/ 0 w 1370758"/>
              <a:gd name="connsiteY3" fmla="*/ 827194 h 836719"/>
              <a:gd name="connsiteX4" fmla="*/ 47625 w 1370758"/>
              <a:gd name="connsiteY4" fmla="*/ 0 h 836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0758" h="836719">
                <a:moveTo>
                  <a:pt x="47625" y="0"/>
                </a:moveTo>
                <a:lnTo>
                  <a:pt x="1370758" y="0"/>
                </a:lnTo>
                <a:lnTo>
                  <a:pt x="875458" y="836719"/>
                </a:lnTo>
                <a:lnTo>
                  <a:pt x="0" y="827194"/>
                </a:lnTo>
                <a:lnTo>
                  <a:pt x="47625" y="0"/>
                </a:lnTo>
                <a:close/>
              </a:path>
            </a:pathLst>
          </a:custGeom>
          <a:solidFill>
            <a:srgbClr val="FF92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52CCD85-8D0F-49EB-B3C2-54302362E2F9}"/>
              </a:ext>
            </a:extLst>
          </p:cNvPr>
          <p:cNvSpPr txBox="1"/>
          <p:nvPr/>
        </p:nvSpPr>
        <p:spPr>
          <a:xfrm>
            <a:off x="714465" y="92498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29EDAA-0F79-4DA5-9454-E061D9227995}"/>
              </a:ext>
            </a:extLst>
          </p:cNvPr>
          <p:cNvSpPr/>
          <p:nvPr/>
        </p:nvSpPr>
        <p:spPr>
          <a:xfrm>
            <a:off x="1683406" y="1234313"/>
            <a:ext cx="8415937" cy="4130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00FF"/>
              </a:buClr>
            </a:pP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#include&lt;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stdio.h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&gt;</a:t>
            </a:r>
          </a:p>
          <a:p>
            <a:pPr>
              <a:spcBef>
                <a:spcPct val="20000"/>
              </a:spcBef>
              <a:buClr>
                <a:srgbClr val="0000FF"/>
              </a:buClr>
            </a:pPr>
            <a:r>
              <a:rPr lang="en-US" altLang="zh-CN" sz="3200" b="1" dirty="0">
                <a:latin typeface="Times New Roman" pitchFamily="18" charset="0"/>
                <a:ea typeface="隶书" pitchFamily="49" charset="-122"/>
              </a:rPr>
              <a:t>void main()</a:t>
            </a:r>
          </a:p>
          <a:p>
            <a:pPr>
              <a:spcBef>
                <a:spcPct val="20000"/>
              </a:spcBef>
              <a:buClr>
                <a:srgbClr val="0000FF"/>
              </a:buClr>
            </a:pPr>
            <a:r>
              <a:rPr lang="en-US" altLang="zh-CN" sz="3200" b="1" dirty="0">
                <a:latin typeface="Times New Roman" pitchFamily="18" charset="0"/>
                <a:ea typeface="隶书" pitchFamily="49" charset="-122"/>
              </a:rPr>
              <a:t>{</a:t>
            </a:r>
            <a:r>
              <a:rPr lang="zh-CN" altLang="en-US" sz="3200" b="1" dirty="0">
                <a:latin typeface="Times New Roman" pitchFamily="18" charset="0"/>
                <a:ea typeface="隶书" pitchFamily="49" charset="-122"/>
              </a:rPr>
              <a:t>　</a:t>
            </a:r>
            <a:endParaRPr lang="en-US" altLang="zh-CN" sz="3200" b="1" dirty="0">
              <a:latin typeface="Times New Roman" pitchFamily="18" charset="0"/>
              <a:ea typeface="隶书" pitchFamily="49" charset="-122"/>
            </a:endParaRPr>
          </a:p>
          <a:p>
            <a:pPr>
              <a:spcBef>
                <a:spcPct val="20000"/>
              </a:spcBef>
              <a:buClr>
                <a:srgbClr val="0000FF"/>
              </a:buClr>
            </a:pPr>
            <a:r>
              <a:rPr lang="en-US" altLang="zh-CN" sz="3200" b="1" dirty="0">
                <a:latin typeface="Times New Roman" pitchFamily="18" charset="0"/>
                <a:ea typeface="隶书" pitchFamily="49" charset="-122"/>
              </a:rPr>
              <a:t>      char c;</a:t>
            </a:r>
          </a:p>
          <a:p>
            <a:pPr>
              <a:spcBef>
                <a:spcPct val="20000"/>
              </a:spcBef>
              <a:buClr>
                <a:srgbClr val="0000FF"/>
              </a:buClr>
            </a:pPr>
            <a:r>
              <a:rPr lang="en-US" altLang="zh-CN" sz="3200" b="1" dirty="0">
                <a:latin typeface="Times New Roman" pitchFamily="18" charset="0"/>
                <a:ea typeface="隶书" pitchFamily="49" charset="-122"/>
              </a:rPr>
              <a:t>  </a:t>
            </a:r>
            <a:r>
              <a:rPr lang="zh-CN" altLang="en-US" sz="3200" b="1" dirty="0">
                <a:latin typeface="Times New Roman" pitchFamily="18" charset="0"/>
                <a:ea typeface="隶书" pitchFamily="49" charset="-122"/>
              </a:rPr>
              <a:t>　</a:t>
            </a:r>
            <a:r>
              <a:rPr lang="en-US" altLang="zh-CN" sz="3200" b="1" dirty="0">
                <a:latin typeface="Times New Roman" pitchFamily="18" charset="0"/>
                <a:ea typeface="隶书" pitchFamily="49" charset="-122"/>
              </a:rPr>
              <a:t>c=</a:t>
            </a:r>
            <a:r>
              <a:rPr lang="en-US" altLang="zh-CN" sz="3200" b="1" dirty="0" err="1">
                <a:latin typeface="Times New Roman" pitchFamily="18" charset="0"/>
                <a:ea typeface="隶书" pitchFamily="49" charset="-122"/>
              </a:rPr>
              <a:t>getchar</a:t>
            </a:r>
            <a:r>
              <a:rPr lang="en-US" altLang="zh-CN" sz="3200" b="1" dirty="0">
                <a:latin typeface="Times New Roman" pitchFamily="18" charset="0"/>
                <a:ea typeface="隶书" pitchFamily="49" charset="-122"/>
              </a:rPr>
              <a:t>();</a:t>
            </a:r>
          </a:p>
          <a:p>
            <a:pPr>
              <a:spcBef>
                <a:spcPct val="20000"/>
              </a:spcBef>
              <a:buClr>
                <a:srgbClr val="0000FF"/>
              </a:buClr>
            </a:pPr>
            <a:r>
              <a:rPr lang="en-US" altLang="zh-CN" sz="3200" b="1" dirty="0">
                <a:latin typeface="Times New Roman" pitchFamily="18" charset="0"/>
                <a:ea typeface="隶书" pitchFamily="49" charset="-122"/>
              </a:rPr>
              <a:t>  </a:t>
            </a:r>
            <a:r>
              <a:rPr lang="zh-CN" altLang="en-US" sz="3200" b="1" dirty="0">
                <a:latin typeface="Times New Roman" pitchFamily="18" charset="0"/>
                <a:ea typeface="隶书" pitchFamily="49" charset="-122"/>
              </a:rPr>
              <a:t>　</a:t>
            </a:r>
            <a:r>
              <a:rPr lang="en-US" altLang="zh-CN" sz="3200" b="1" dirty="0" err="1">
                <a:latin typeface="Times New Roman" pitchFamily="18" charset="0"/>
                <a:ea typeface="隶书" pitchFamily="49" charset="-122"/>
              </a:rPr>
              <a:t>putchar</a:t>
            </a:r>
            <a:r>
              <a:rPr lang="en-US" altLang="zh-CN" sz="3200" b="1" dirty="0">
                <a:latin typeface="Times New Roman" pitchFamily="18" charset="0"/>
                <a:ea typeface="隶书" pitchFamily="49" charset="-122"/>
              </a:rPr>
              <a:t>(c);</a:t>
            </a:r>
          </a:p>
          <a:p>
            <a:pPr>
              <a:spcBef>
                <a:spcPct val="20000"/>
              </a:spcBef>
              <a:buClr>
                <a:srgbClr val="0000FF"/>
              </a:buClr>
            </a:pPr>
            <a:r>
              <a:rPr lang="en-US" altLang="zh-CN" sz="3200" b="1" dirty="0">
                <a:latin typeface="Times New Roman" pitchFamily="18" charset="0"/>
                <a:ea typeface="隶书" pitchFamily="49" charset="-122"/>
              </a:rPr>
              <a:t>}</a:t>
            </a:r>
          </a:p>
        </p:txBody>
      </p:sp>
      <p:sp>
        <p:nvSpPr>
          <p:cNvPr id="24" name="Text Box 3">
            <a:extLst>
              <a:ext uri="{FF2B5EF4-FFF2-40B4-BE49-F238E27FC236}">
                <a16:creationId xmlns:a16="http://schemas.microsoft.com/office/drawing/2014/main" id="{14F27E43-48FE-416D-B639-30D31F3C2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3742" y="2252631"/>
            <a:ext cx="1752600" cy="1349375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  <a:ea typeface="+mn-ea"/>
                <a:cs typeface="Times New Roman" pitchFamily="18" charset="0"/>
              </a:rPr>
              <a:t>键入：</a:t>
            </a:r>
            <a:r>
              <a:rPr lang="en-US" altLang="zh-CN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</a:p>
          <a:p>
            <a:pPr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  <a:ea typeface="+mn-ea"/>
                <a:cs typeface="Times New Roman" pitchFamily="18" charset="0"/>
              </a:rPr>
              <a:t>输出：</a:t>
            </a:r>
            <a:r>
              <a:rPr lang="en-US" altLang="zh-CN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875330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/>
      <p:bldP spid="24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3469462" y="318315"/>
            <a:ext cx="4114800" cy="113823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6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文 件 概 述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929066" y="1747622"/>
            <a:ext cx="71199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3200" b="1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文件：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指存储在外部介质上数据的集合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3148266" y="2332424"/>
            <a:ext cx="4648200" cy="2802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程序与数据分离</a:t>
            </a:r>
          </a:p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长期保存数据</a:t>
            </a:r>
          </a:p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数据共享</a:t>
            </a:r>
          </a:p>
          <a:p>
            <a:pPr eaLnBrk="1" hangingPunct="1"/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16"/>
          <p:cNvSpPr>
            <a:spLocks noChangeArrowheads="1"/>
          </p:cNvSpPr>
          <p:nvPr/>
        </p:nvSpPr>
        <p:spPr bwMode="auto">
          <a:xfrm>
            <a:off x="1929067" y="2543084"/>
            <a:ext cx="14081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用处：</a:t>
            </a:r>
          </a:p>
        </p:txBody>
      </p:sp>
      <p:graphicFrame>
        <p:nvGraphicFramePr>
          <p:cNvPr id="13" name="图示 12"/>
          <p:cNvGraphicFramePr/>
          <p:nvPr>
            <p:extLst>
              <p:ext uri="{D42A27DB-BD31-4B8C-83A1-F6EECF244321}">
                <p14:modId xmlns:p14="http://schemas.microsoft.com/office/powerpoint/2010/main" val="1030368148"/>
              </p:ext>
            </p:extLst>
          </p:nvPr>
        </p:nvGraphicFramePr>
        <p:xfrm>
          <a:off x="2222506" y="4487300"/>
          <a:ext cx="6608712" cy="1728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34686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build="p" autoUpdateAnimBg="0"/>
      <p:bldP spid="8" grpId="0" autoUpdateAnimBg="0"/>
      <p:bldGraphic spid="13" grpId="0">
        <p:bldAsOne/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ChangeArrowheads="1"/>
          </p:cNvSpPr>
          <p:nvPr/>
        </p:nvSpPr>
        <p:spPr bwMode="auto">
          <a:xfrm>
            <a:off x="331788" y="112862"/>
            <a:ext cx="9320212" cy="1238101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</a:pP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文件的打开与关闭</a:t>
            </a:r>
            <a: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——</a:t>
            </a:r>
            <a:r>
              <a:rPr lang="en-US" altLang="zh-CN" sz="3600" b="1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fopen</a:t>
            </a:r>
            <a: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( )</a:t>
            </a: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和</a:t>
            </a:r>
            <a:r>
              <a:rPr lang="en-US" altLang="zh-CN" sz="3600" b="1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fclose</a:t>
            </a:r>
            <a: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( )</a:t>
            </a:r>
            <a:endParaRPr lang="zh-CN" altLang="en-US" sz="3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893888" y="5106989"/>
            <a:ext cx="6697662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200" b="1" dirty="0">
                <a:solidFill>
                  <a:srgbClr val="FF3300"/>
                </a:solidFill>
              </a:rPr>
              <a:t>文件关闭：</a:t>
            </a:r>
            <a:endParaRPr lang="en-US" altLang="zh-CN" sz="3200" b="1" dirty="0">
              <a:solidFill>
                <a:schemeClr val="tx2"/>
              </a:solidFill>
              <a:latin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itchFamily="18" charset="0"/>
              </a:rPr>
              <a:t>        </a:t>
            </a:r>
            <a:r>
              <a:rPr lang="en-US" altLang="zh-CN" sz="3200" b="1" dirty="0" err="1">
                <a:latin typeface="Times New Roman" pitchFamily="18" charset="0"/>
              </a:rPr>
              <a:t>fclose</a:t>
            </a:r>
            <a:r>
              <a:rPr lang="en-US" altLang="zh-CN" sz="3200" b="1" dirty="0">
                <a:latin typeface="Times New Roman" pitchFamily="18" charset="0"/>
              </a:rPr>
              <a:t>(</a:t>
            </a:r>
            <a:r>
              <a:rPr lang="en-US" altLang="zh-CN" sz="3200" b="1" dirty="0" err="1">
                <a:latin typeface="Times New Roman" pitchFamily="18" charset="0"/>
              </a:rPr>
              <a:t>fp</a:t>
            </a:r>
            <a:r>
              <a:rPr lang="en-US" altLang="zh-CN" sz="3200" b="1" dirty="0">
                <a:latin typeface="Times New Roman" pitchFamily="18" charset="0"/>
              </a:rPr>
              <a:t>)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885950" y="1311275"/>
            <a:ext cx="7100888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打开方式一</a:t>
            </a:r>
            <a:r>
              <a:rPr lang="en-US" altLang="zh-CN" sz="3200" b="1" dirty="0">
                <a:solidFill>
                  <a:srgbClr val="FF0000"/>
                </a:solidFill>
              </a:rPr>
              <a:t>: </a:t>
            </a:r>
            <a:r>
              <a:rPr lang="zh-CN" altLang="en-US" sz="3200" b="1" dirty="0"/>
              <a:t>打开指定位置的文件</a:t>
            </a:r>
            <a:endParaRPr lang="en-US" altLang="zh-CN" sz="3200" b="1" dirty="0"/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latin typeface="Times New Roman" pitchFamily="18" charset="0"/>
              </a:rPr>
              <a:t>        FILE  *</a:t>
            </a:r>
            <a:r>
              <a:rPr lang="en-US" altLang="zh-CN" sz="3200" b="1" dirty="0" err="1">
                <a:latin typeface="Times New Roman" pitchFamily="18" charset="0"/>
              </a:rPr>
              <a:t>fp</a:t>
            </a:r>
            <a:r>
              <a:rPr lang="en-US" altLang="zh-CN" sz="3200" b="1" dirty="0">
                <a:latin typeface="Times New Roman" pitchFamily="18" charset="0"/>
              </a:rPr>
              <a:t>;</a:t>
            </a:r>
          </a:p>
          <a:p>
            <a:r>
              <a:rPr lang="en-US" altLang="zh-CN" sz="3200" b="1" dirty="0">
                <a:latin typeface="Times New Roman" pitchFamily="18" charset="0"/>
              </a:rPr>
              <a:t>        </a:t>
            </a:r>
            <a:r>
              <a:rPr lang="en-US" altLang="zh-CN" sz="3200" b="1" dirty="0" err="1">
                <a:latin typeface="Times New Roman" pitchFamily="18" charset="0"/>
              </a:rPr>
              <a:t>fp</a:t>
            </a:r>
            <a:r>
              <a:rPr lang="en-US" altLang="zh-CN" sz="3200" b="1" dirty="0">
                <a:latin typeface="Times New Roman" pitchFamily="18" charset="0"/>
              </a:rPr>
              <a:t>= </a:t>
            </a:r>
            <a:r>
              <a:rPr lang="en-US" altLang="zh-CN" sz="3200" b="1" dirty="0" err="1">
                <a:latin typeface="Times New Roman" pitchFamily="18" charset="0"/>
              </a:rPr>
              <a:t>fopen</a:t>
            </a:r>
            <a:r>
              <a:rPr lang="en-US" altLang="zh-CN" sz="3200" b="1" dirty="0">
                <a:latin typeface="Times New Roman" pitchFamily="18" charset="0"/>
              </a:rPr>
              <a:t> ("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</a:rPr>
              <a:t>c:\\test.txt</a:t>
            </a:r>
            <a:r>
              <a:rPr lang="en-US" altLang="zh-CN" sz="3200" b="1" dirty="0">
                <a:latin typeface="Times New Roman" pitchFamily="18" charset="0"/>
              </a:rPr>
              <a:t>", "</a:t>
            </a:r>
            <a:r>
              <a:rPr lang="en-US" altLang="zh-CN" sz="3200" b="1" dirty="0">
                <a:solidFill>
                  <a:srgbClr val="FF3300"/>
                </a:solidFill>
                <a:latin typeface="Times New Roman" pitchFamily="18" charset="0"/>
              </a:rPr>
              <a:t>r</a:t>
            </a:r>
            <a:r>
              <a:rPr lang="en-US" altLang="zh-CN" sz="3200" b="1" dirty="0">
                <a:latin typeface="Times New Roman" pitchFamily="18" charset="0"/>
              </a:rPr>
              <a:t>");</a:t>
            </a:r>
            <a:r>
              <a:rPr lang="en-US" altLang="zh-CN" sz="3200" b="1" dirty="0"/>
              <a:t> 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871664" y="3222625"/>
            <a:ext cx="7032625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200" b="1" dirty="0">
                <a:solidFill>
                  <a:srgbClr val="FF3300"/>
                </a:solidFill>
              </a:rPr>
              <a:t>打开方式二：</a:t>
            </a:r>
            <a:r>
              <a:rPr lang="zh-CN" altLang="en-US" sz="3200" b="1" dirty="0"/>
              <a:t>打开当前目录下的文件</a:t>
            </a:r>
            <a:endParaRPr lang="en-US" altLang="zh-CN" sz="3200" b="1" dirty="0"/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latin typeface="Times New Roman" pitchFamily="18" charset="0"/>
              </a:rPr>
              <a:t>        FILE  *</a:t>
            </a:r>
            <a:r>
              <a:rPr lang="en-US" altLang="zh-CN" sz="3200" b="1" dirty="0" err="1">
                <a:latin typeface="Times New Roman" pitchFamily="18" charset="0"/>
              </a:rPr>
              <a:t>fp</a:t>
            </a:r>
            <a:r>
              <a:rPr lang="en-US" altLang="zh-CN" sz="3200" b="1" dirty="0">
                <a:latin typeface="Times New Roman" pitchFamily="18" charset="0"/>
              </a:rPr>
              <a:t>;</a:t>
            </a:r>
          </a:p>
          <a:p>
            <a:r>
              <a:rPr lang="en-US" altLang="zh-CN" sz="3200" b="1" dirty="0">
                <a:latin typeface="Times New Roman" pitchFamily="18" charset="0"/>
              </a:rPr>
              <a:t>        </a:t>
            </a:r>
            <a:r>
              <a:rPr lang="en-US" altLang="zh-CN" sz="3200" b="1" dirty="0" err="1">
                <a:latin typeface="Times New Roman" pitchFamily="18" charset="0"/>
              </a:rPr>
              <a:t>fq</a:t>
            </a:r>
            <a:r>
              <a:rPr lang="en-US" altLang="zh-CN" sz="3200" b="1" dirty="0">
                <a:latin typeface="Times New Roman" pitchFamily="18" charset="0"/>
              </a:rPr>
              <a:t>= </a:t>
            </a:r>
            <a:r>
              <a:rPr lang="en-US" altLang="zh-CN" sz="3200" b="1" dirty="0" err="1">
                <a:latin typeface="Times New Roman" pitchFamily="18" charset="0"/>
              </a:rPr>
              <a:t>fopen</a:t>
            </a:r>
            <a:r>
              <a:rPr lang="en-US" altLang="zh-CN" sz="3200" b="1" dirty="0">
                <a:latin typeface="Times New Roman" pitchFamily="18" charset="0"/>
              </a:rPr>
              <a:t> ("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</a:rPr>
              <a:t>test.txt</a:t>
            </a:r>
            <a:r>
              <a:rPr lang="en-US" altLang="zh-CN" sz="3200" b="1" dirty="0">
                <a:latin typeface="Times New Roman" pitchFamily="18" charset="0"/>
              </a:rPr>
              <a:t>", "</a:t>
            </a:r>
            <a:r>
              <a:rPr lang="en-US" altLang="zh-CN" sz="3200" b="1" dirty="0">
                <a:solidFill>
                  <a:srgbClr val="FF3300"/>
                </a:solidFill>
                <a:latin typeface="Times New Roman" pitchFamily="18" charset="0"/>
              </a:rPr>
              <a:t>w</a:t>
            </a:r>
            <a:r>
              <a:rPr lang="en-US" altLang="zh-CN" sz="3200" b="1" dirty="0">
                <a:latin typeface="Times New Roman" pitchFamily="18" charset="0"/>
              </a:rPr>
              <a:t>");</a:t>
            </a:r>
            <a:r>
              <a:rPr lang="en-US" altLang="zh-CN" sz="32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82312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build="p"/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F8DBB21-5018-4811-9F1A-289E2028334B}"/>
              </a:ext>
            </a:extLst>
          </p:cNvPr>
          <p:cNvGrpSpPr/>
          <p:nvPr/>
        </p:nvGrpSpPr>
        <p:grpSpPr>
          <a:xfrm>
            <a:off x="644978" y="781396"/>
            <a:ext cx="7432222" cy="2413656"/>
            <a:chOff x="1264428" y="1152525"/>
            <a:chExt cx="6847285" cy="2795588"/>
          </a:xfrm>
        </p:grpSpPr>
        <p:sp>
          <p:nvSpPr>
            <p:cNvPr id="3" name="圆角矩形 7">
              <a:extLst>
                <a:ext uri="{FF2B5EF4-FFF2-40B4-BE49-F238E27FC236}">
                  <a16:creationId xmlns:a16="http://schemas.microsoft.com/office/drawing/2014/main" id="{33FC3508-4FA8-4C11-A220-91F35873F175}"/>
                </a:ext>
              </a:extLst>
            </p:cNvPr>
            <p:cNvSpPr/>
            <p:nvPr/>
          </p:nvSpPr>
          <p:spPr bwMode="auto">
            <a:xfrm>
              <a:off x="1264428" y="1152525"/>
              <a:ext cx="6847285" cy="2795588"/>
            </a:xfrm>
            <a:prstGeom prst="roundRect">
              <a:avLst>
                <a:gd name="adj" fmla="val 99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4" name="圆角矩形 8">
              <a:extLst>
                <a:ext uri="{FF2B5EF4-FFF2-40B4-BE49-F238E27FC236}">
                  <a16:creationId xmlns:a16="http://schemas.microsoft.com/office/drawing/2014/main" id="{36BA1D4D-17B3-4870-B190-0DBAF91375F2}"/>
                </a:ext>
              </a:extLst>
            </p:cNvPr>
            <p:cNvSpPr/>
            <p:nvPr/>
          </p:nvSpPr>
          <p:spPr bwMode="auto">
            <a:xfrm>
              <a:off x="1473978" y="1362076"/>
              <a:ext cx="6428185" cy="2306241"/>
            </a:xfrm>
            <a:prstGeom prst="roundRect">
              <a:avLst>
                <a:gd name="adj" fmla="val 11474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D11A54D-E5B7-46C7-A8B4-1909AFC13E83}"/>
              </a:ext>
            </a:extLst>
          </p:cNvPr>
          <p:cNvGrpSpPr/>
          <p:nvPr/>
        </p:nvGrpSpPr>
        <p:grpSpPr>
          <a:xfrm>
            <a:off x="588123" y="778877"/>
            <a:ext cx="2688473" cy="771525"/>
            <a:chOff x="588123" y="682625"/>
            <a:chExt cx="1208713" cy="771525"/>
          </a:xfrm>
        </p:grpSpPr>
        <p:sp>
          <p:nvSpPr>
            <p:cNvPr id="5" name="矩形 1">
              <a:extLst>
                <a:ext uri="{FF2B5EF4-FFF2-40B4-BE49-F238E27FC236}">
                  <a16:creationId xmlns:a16="http://schemas.microsoft.com/office/drawing/2014/main" id="{CA2690CB-0D19-4D08-A3F8-4664CEF45472}"/>
                </a:ext>
              </a:extLst>
            </p:cNvPr>
            <p:cNvSpPr/>
            <p:nvPr/>
          </p:nvSpPr>
          <p:spPr>
            <a:xfrm>
              <a:off x="622724" y="688181"/>
              <a:ext cx="1174112" cy="157163"/>
            </a:xfrm>
            <a:custGeom>
              <a:avLst/>
              <a:gdLst>
                <a:gd name="connsiteX0" fmla="*/ 0 w 1565482"/>
                <a:gd name="connsiteY0" fmla="*/ 0 h 247650"/>
                <a:gd name="connsiteX1" fmla="*/ 1565482 w 1565482"/>
                <a:gd name="connsiteY1" fmla="*/ 0 h 247650"/>
                <a:gd name="connsiteX2" fmla="*/ 1565482 w 1565482"/>
                <a:gd name="connsiteY2" fmla="*/ 247650 h 247650"/>
                <a:gd name="connsiteX3" fmla="*/ 0 w 1565482"/>
                <a:gd name="connsiteY3" fmla="*/ 247650 h 247650"/>
                <a:gd name="connsiteX4" fmla="*/ 0 w 1565482"/>
                <a:gd name="connsiteY4" fmla="*/ 0 h 247650"/>
                <a:gd name="connsiteX0" fmla="*/ 0 w 1565482"/>
                <a:gd name="connsiteY0" fmla="*/ 0 h 247650"/>
                <a:gd name="connsiteX1" fmla="*/ 1298782 w 1565482"/>
                <a:gd name="connsiteY1" fmla="*/ 0 h 247650"/>
                <a:gd name="connsiteX2" fmla="*/ 1565482 w 1565482"/>
                <a:gd name="connsiteY2" fmla="*/ 247650 h 247650"/>
                <a:gd name="connsiteX3" fmla="*/ 0 w 1565482"/>
                <a:gd name="connsiteY3" fmla="*/ 247650 h 247650"/>
                <a:gd name="connsiteX4" fmla="*/ 0 w 1565482"/>
                <a:gd name="connsiteY4" fmla="*/ 0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5482" h="247650">
                  <a:moveTo>
                    <a:pt x="0" y="0"/>
                  </a:moveTo>
                  <a:lnTo>
                    <a:pt x="1298782" y="0"/>
                  </a:lnTo>
                  <a:lnTo>
                    <a:pt x="1565482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 dirty="0">
                <a:ea typeface="微软雅黑" panose="020B0503020204020204" pitchFamily="34" charset="-122"/>
              </a:endParaRPr>
            </a:p>
          </p:txBody>
        </p:sp>
        <p:sp>
          <p:nvSpPr>
            <p:cNvPr id="6" name="矩形 2">
              <a:extLst>
                <a:ext uri="{FF2B5EF4-FFF2-40B4-BE49-F238E27FC236}">
                  <a16:creationId xmlns:a16="http://schemas.microsoft.com/office/drawing/2014/main" id="{5B0A396D-6E4F-4E94-838F-D3B2D7C6737F}"/>
                </a:ext>
              </a:extLst>
            </p:cNvPr>
            <p:cNvSpPr/>
            <p:nvPr/>
          </p:nvSpPr>
          <p:spPr>
            <a:xfrm>
              <a:off x="588123" y="682625"/>
              <a:ext cx="1028069" cy="771525"/>
            </a:xfrm>
            <a:custGeom>
              <a:avLst/>
              <a:gdLst>
                <a:gd name="connsiteX0" fmla="*/ 0 w 1323133"/>
                <a:gd name="connsiteY0" fmla="*/ 0 h 1198669"/>
                <a:gd name="connsiteX1" fmla="*/ 1323133 w 1323133"/>
                <a:gd name="connsiteY1" fmla="*/ 0 h 1198669"/>
                <a:gd name="connsiteX2" fmla="*/ 1323133 w 1323133"/>
                <a:gd name="connsiteY2" fmla="*/ 1198669 h 1198669"/>
                <a:gd name="connsiteX3" fmla="*/ 0 w 1323133"/>
                <a:gd name="connsiteY3" fmla="*/ 1198669 h 1198669"/>
                <a:gd name="connsiteX4" fmla="*/ 0 w 1323133"/>
                <a:gd name="connsiteY4" fmla="*/ 0 h 1198669"/>
                <a:gd name="connsiteX0" fmla="*/ 0 w 1323133"/>
                <a:gd name="connsiteY0" fmla="*/ 0 h 1198669"/>
                <a:gd name="connsiteX1" fmla="*/ 1323133 w 1323133"/>
                <a:gd name="connsiteY1" fmla="*/ 0 h 1198669"/>
                <a:gd name="connsiteX2" fmla="*/ 1085008 w 1323133"/>
                <a:gd name="connsiteY2" fmla="*/ 817669 h 1198669"/>
                <a:gd name="connsiteX3" fmla="*/ 0 w 1323133"/>
                <a:gd name="connsiteY3" fmla="*/ 1198669 h 1198669"/>
                <a:gd name="connsiteX4" fmla="*/ 0 w 1323133"/>
                <a:gd name="connsiteY4" fmla="*/ 0 h 1198669"/>
                <a:gd name="connsiteX0" fmla="*/ 47625 w 1370758"/>
                <a:gd name="connsiteY0" fmla="*/ 0 h 827194"/>
                <a:gd name="connsiteX1" fmla="*/ 1370758 w 1370758"/>
                <a:gd name="connsiteY1" fmla="*/ 0 h 827194"/>
                <a:gd name="connsiteX2" fmla="*/ 1132633 w 1370758"/>
                <a:gd name="connsiteY2" fmla="*/ 817669 h 827194"/>
                <a:gd name="connsiteX3" fmla="*/ 0 w 1370758"/>
                <a:gd name="connsiteY3" fmla="*/ 827194 h 827194"/>
                <a:gd name="connsiteX4" fmla="*/ 47625 w 1370758"/>
                <a:gd name="connsiteY4" fmla="*/ 0 h 827194"/>
                <a:gd name="connsiteX0" fmla="*/ 47625 w 1370758"/>
                <a:gd name="connsiteY0" fmla="*/ 0 h 836719"/>
                <a:gd name="connsiteX1" fmla="*/ 1370758 w 1370758"/>
                <a:gd name="connsiteY1" fmla="*/ 0 h 836719"/>
                <a:gd name="connsiteX2" fmla="*/ 875458 w 1370758"/>
                <a:gd name="connsiteY2" fmla="*/ 836719 h 836719"/>
                <a:gd name="connsiteX3" fmla="*/ 0 w 1370758"/>
                <a:gd name="connsiteY3" fmla="*/ 827194 h 836719"/>
                <a:gd name="connsiteX4" fmla="*/ 47625 w 1370758"/>
                <a:gd name="connsiteY4" fmla="*/ 0 h 836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0758" h="836719">
                  <a:moveTo>
                    <a:pt x="47625" y="0"/>
                  </a:moveTo>
                  <a:lnTo>
                    <a:pt x="1370758" y="0"/>
                  </a:lnTo>
                  <a:lnTo>
                    <a:pt x="875458" y="836719"/>
                  </a:lnTo>
                  <a:lnTo>
                    <a:pt x="0" y="827194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FF929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FFDA955D-534E-46C9-BEED-F18C261F718E}"/>
              </a:ext>
            </a:extLst>
          </p:cNvPr>
          <p:cNvSpPr txBox="1"/>
          <p:nvPr/>
        </p:nvSpPr>
        <p:spPr>
          <a:xfrm>
            <a:off x="581479" y="906143"/>
            <a:ext cx="18213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933450" algn="l"/>
              </a:tabLst>
            </a:pPr>
            <a:r>
              <a:rPr lang="en-US" altLang="zh-CN" sz="2800" b="1" dirty="0" err="1">
                <a:solidFill>
                  <a:srgbClr val="002060"/>
                </a:solidFill>
                <a:latin typeface="Times New Roman" pitchFamily="18" charset="0"/>
              </a:rPr>
              <a:t>fscanf</a:t>
            </a:r>
            <a:r>
              <a:rPr lang="zh-CN" altLang="en-US" sz="2800" b="1" dirty="0">
                <a:solidFill>
                  <a:srgbClr val="002060"/>
                </a:solidFill>
                <a:latin typeface="Times New Roman" pitchFamily="18" charset="0"/>
              </a:rPr>
              <a:t>函数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E8AD1C0-5D6E-482D-90E8-AD781D7129A3}"/>
              </a:ext>
            </a:extLst>
          </p:cNvPr>
          <p:cNvGrpSpPr/>
          <p:nvPr/>
        </p:nvGrpSpPr>
        <p:grpSpPr>
          <a:xfrm>
            <a:off x="3989742" y="3700149"/>
            <a:ext cx="7884758" cy="2452205"/>
            <a:chOff x="1264428" y="1152525"/>
            <a:chExt cx="6847285" cy="2795588"/>
          </a:xfrm>
        </p:grpSpPr>
        <p:sp>
          <p:nvSpPr>
            <p:cNvPr id="15" name="圆角矩形 7">
              <a:extLst>
                <a:ext uri="{FF2B5EF4-FFF2-40B4-BE49-F238E27FC236}">
                  <a16:creationId xmlns:a16="http://schemas.microsoft.com/office/drawing/2014/main" id="{1A5E7E07-BEF1-451B-B46B-CD4E154C6EF6}"/>
                </a:ext>
              </a:extLst>
            </p:cNvPr>
            <p:cNvSpPr/>
            <p:nvPr/>
          </p:nvSpPr>
          <p:spPr bwMode="auto">
            <a:xfrm>
              <a:off x="1264428" y="1152525"/>
              <a:ext cx="6847285" cy="2795588"/>
            </a:xfrm>
            <a:prstGeom prst="roundRect">
              <a:avLst>
                <a:gd name="adj" fmla="val 99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16" name="圆角矩形 8">
              <a:extLst>
                <a:ext uri="{FF2B5EF4-FFF2-40B4-BE49-F238E27FC236}">
                  <a16:creationId xmlns:a16="http://schemas.microsoft.com/office/drawing/2014/main" id="{5A6DF6AE-F82D-4ED5-A758-1EC7B3104FF5}"/>
                </a:ext>
              </a:extLst>
            </p:cNvPr>
            <p:cNvSpPr/>
            <p:nvPr/>
          </p:nvSpPr>
          <p:spPr bwMode="auto">
            <a:xfrm>
              <a:off x="1473978" y="1362076"/>
              <a:ext cx="6428185" cy="2306241"/>
            </a:xfrm>
            <a:prstGeom prst="roundRect">
              <a:avLst>
                <a:gd name="adj" fmla="val 11474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A39B202-9D7F-471F-91F9-D931CC5B0471}"/>
              </a:ext>
            </a:extLst>
          </p:cNvPr>
          <p:cNvGrpSpPr/>
          <p:nvPr/>
        </p:nvGrpSpPr>
        <p:grpSpPr>
          <a:xfrm>
            <a:off x="3932882" y="3538086"/>
            <a:ext cx="3471218" cy="778669"/>
            <a:chOff x="5741872" y="3377666"/>
            <a:chExt cx="1213268" cy="778669"/>
          </a:xfrm>
        </p:grpSpPr>
        <p:sp>
          <p:nvSpPr>
            <p:cNvPr id="17" name="矩形 1">
              <a:extLst>
                <a:ext uri="{FF2B5EF4-FFF2-40B4-BE49-F238E27FC236}">
                  <a16:creationId xmlns:a16="http://schemas.microsoft.com/office/drawing/2014/main" id="{EFD382A9-1850-468B-9947-3B8952AFB580}"/>
                </a:ext>
              </a:extLst>
            </p:cNvPr>
            <p:cNvSpPr/>
            <p:nvPr/>
          </p:nvSpPr>
          <p:spPr>
            <a:xfrm>
              <a:off x="5781028" y="3377666"/>
              <a:ext cx="1174112" cy="157163"/>
            </a:xfrm>
            <a:custGeom>
              <a:avLst/>
              <a:gdLst>
                <a:gd name="connsiteX0" fmla="*/ 0 w 1565482"/>
                <a:gd name="connsiteY0" fmla="*/ 0 h 247650"/>
                <a:gd name="connsiteX1" fmla="*/ 1565482 w 1565482"/>
                <a:gd name="connsiteY1" fmla="*/ 0 h 247650"/>
                <a:gd name="connsiteX2" fmla="*/ 1565482 w 1565482"/>
                <a:gd name="connsiteY2" fmla="*/ 247650 h 247650"/>
                <a:gd name="connsiteX3" fmla="*/ 0 w 1565482"/>
                <a:gd name="connsiteY3" fmla="*/ 247650 h 247650"/>
                <a:gd name="connsiteX4" fmla="*/ 0 w 1565482"/>
                <a:gd name="connsiteY4" fmla="*/ 0 h 247650"/>
                <a:gd name="connsiteX0" fmla="*/ 0 w 1565482"/>
                <a:gd name="connsiteY0" fmla="*/ 0 h 247650"/>
                <a:gd name="connsiteX1" fmla="*/ 1298782 w 1565482"/>
                <a:gd name="connsiteY1" fmla="*/ 0 h 247650"/>
                <a:gd name="connsiteX2" fmla="*/ 1565482 w 1565482"/>
                <a:gd name="connsiteY2" fmla="*/ 247650 h 247650"/>
                <a:gd name="connsiteX3" fmla="*/ 0 w 1565482"/>
                <a:gd name="connsiteY3" fmla="*/ 247650 h 247650"/>
                <a:gd name="connsiteX4" fmla="*/ 0 w 1565482"/>
                <a:gd name="connsiteY4" fmla="*/ 0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5482" h="247650">
                  <a:moveTo>
                    <a:pt x="0" y="0"/>
                  </a:moveTo>
                  <a:lnTo>
                    <a:pt x="1298782" y="0"/>
                  </a:lnTo>
                  <a:lnTo>
                    <a:pt x="1565482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5B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 dirty="0">
                <a:ea typeface="微软雅黑" panose="020B0503020204020204" pitchFamily="34" charset="-122"/>
              </a:endParaRPr>
            </a:p>
          </p:txBody>
        </p:sp>
        <p:sp>
          <p:nvSpPr>
            <p:cNvPr id="18" name="矩形 2">
              <a:extLst>
                <a:ext uri="{FF2B5EF4-FFF2-40B4-BE49-F238E27FC236}">
                  <a16:creationId xmlns:a16="http://schemas.microsoft.com/office/drawing/2014/main" id="{5D015D8D-03EE-41A2-B0D1-29C44B57D653}"/>
                </a:ext>
              </a:extLst>
            </p:cNvPr>
            <p:cNvSpPr/>
            <p:nvPr/>
          </p:nvSpPr>
          <p:spPr>
            <a:xfrm>
              <a:off x="5741872" y="3384810"/>
              <a:ext cx="1028069" cy="771525"/>
            </a:xfrm>
            <a:custGeom>
              <a:avLst/>
              <a:gdLst>
                <a:gd name="connsiteX0" fmla="*/ 0 w 1323133"/>
                <a:gd name="connsiteY0" fmla="*/ 0 h 1198669"/>
                <a:gd name="connsiteX1" fmla="*/ 1323133 w 1323133"/>
                <a:gd name="connsiteY1" fmla="*/ 0 h 1198669"/>
                <a:gd name="connsiteX2" fmla="*/ 1323133 w 1323133"/>
                <a:gd name="connsiteY2" fmla="*/ 1198669 h 1198669"/>
                <a:gd name="connsiteX3" fmla="*/ 0 w 1323133"/>
                <a:gd name="connsiteY3" fmla="*/ 1198669 h 1198669"/>
                <a:gd name="connsiteX4" fmla="*/ 0 w 1323133"/>
                <a:gd name="connsiteY4" fmla="*/ 0 h 1198669"/>
                <a:gd name="connsiteX0" fmla="*/ 0 w 1323133"/>
                <a:gd name="connsiteY0" fmla="*/ 0 h 1198669"/>
                <a:gd name="connsiteX1" fmla="*/ 1323133 w 1323133"/>
                <a:gd name="connsiteY1" fmla="*/ 0 h 1198669"/>
                <a:gd name="connsiteX2" fmla="*/ 1085008 w 1323133"/>
                <a:gd name="connsiteY2" fmla="*/ 817669 h 1198669"/>
                <a:gd name="connsiteX3" fmla="*/ 0 w 1323133"/>
                <a:gd name="connsiteY3" fmla="*/ 1198669 h 1198669"/>
                <a:gd name="connsiteX4" fmla="*/ 0 w 1323133"/>
                <a:gd name="connsiteY4" fmla="*/ 0 h 1198669"/>
                <a:gd name="connsiteX0" fmla="*/ 47625 w 1370758"/>
                <a:gd name="connsiteY0" fmla="*/ 0 h 827194"/>
                <a:gd name="connsiteX1" fmla="*/ 1370758 w 1370758"/>
                <a:gd name="connsiteY1" fmla="*/ 0 h 827194"/>
                <a:gd name="connsiteX2" fmla="*/ 1132633 w 1370758"/>
                <a:gd name="connsiteY2" fmla="*/ 817669 h 827194"/>
                <a:gd name="connsiteX3" fmla="*/ 0 w 1370758"/>
                <a:gd name="connsiteY3" fmla="*/ 827194 h 827194"/>
                <a:gd name="connsiteX4" fmla="*/ 47625 w 1370758"/>
                <a:gd name="connsiteY4" fmla="*/ 0 h 827194"/>
                <a:gd name="connsiteX0" fmla="*/ 47625 w 1370758"/>
                <a:gd name="connsiteY0" fmla="*/ 0 h 836719"/>
                <a:gd name="connsiteX1" fmla="*/ 1370758 w 1370758"/>
                <a:gd name="connsiteY1" fmla="*/ 0 h 836719"/>
                <a:gd name="connsiteX2" fmla="*/ 875458 w 1370758"/>
                <a:gd name="connsiteY2" fmla="*/ 836719 h 836719"/>
                <a:gd name="connsiteX3" fmla="*/ 0 w 1370758"/>
                <a:gd name="connsiteY3" fmla="*/ 827194 h 836719"/>
                <a:gd name="connsiteX4" fmla="*/ 47625 w 1370758"/>
                <a:gd name="connsiteY4" fmla="*/ 0 h 836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0758" h="836719">
                  <a:moveTo>
                    <a:pt x="47625" y="0"/>
                  </a:moveTo>
                  <a:lnTo>
                    <a:pt x="1370758" y="0"/>
                  </a:lnTo>
                  <a:lnTo>
                    <a:pt x="875458" y="836719"/>
                  </a:lnTo>
                  <a:lnTo>
                    <a:pt x="0" y="827194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FF929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01A54FAE-718E-4314-B938-6CEB9F734BE3}"/>
              </a:ext>
            </a:extLst>
          </p:cNvPr>
          <p:cNvSpPr txBox="1"/>
          <p:nvPr/>
        </p:nvSpPr>
        <p:spPr>
          <a:xfrm>
            <a:off x="4167543" y="3672496"/>
            <a:ext cx="1953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933450" algn="l"/>
              </a:tabLst>
            </a:pPr>
            <a:r>
              <a:rPr lang="en-US" altLang="zh-CN" sz="2800" b="1" dirty="0" err="1">
                <a:latin typeface="Times New Roman" pitchFamily="18" charset="0"/>
              </a:rPr>
              <a:t>fprintf</a:t>
            </a:r>
            <a:r>
              <a:rPr lang="zh-CN" altLang="en-US" sz="2800" b="1" dirty="0">
                <a:latin typeface="Times New Roman" pitchFamily="18" charset="0"/>
              </a:rPr>
              <a:t>函数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01D39AA-ACBE-48CC-9E2B-E01FA99358D2}"/>
              </a:ext>
            </a:extLst>
          </p:cNvPr>
          <p:cNvSpPr/>
          <p:nvPr/>
        </p:nvSpPr>
        <p:spPr>
          <a:xfrm>
            <a:off x="854192" y="1474440"/>
            <a:ext cx="695630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形式：</a:t>
            </a:r>
            <a:r>
              <a:rPr lang="en-US" altLang="zh-CN" sz="28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fscanf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</a:t>
            </a:r>
            <a:r>
              <a:rPr lang="en-US" altLang="zh-CN" sz="28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fp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,"%</a:t>
            </a:r>
            <a:r>
              <a:rPr lang="en-US" altLang="zh-CN" sz="28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d",&amp;x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功能</a:t>
            </a:r>
            <a:r>
              <a:rPr lang="zh-CN" altLang="en-US" sz="2800" b="1" dirty="0">
                <a:solidFill>
                  <a:srgbClr val="FF3300"/>
                </a:solidFill>
                <a:latin typeface="Times New Roman" pitchFamily="18" charset="0"/>
                <a:ea typeface="宋体" pitchFamily="2" charset="-122"/>
              </a:rPr>
              <a:t>：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从文件中读取一个整数存入变量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中</a:t>
            </a:r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4D5DB1B-3FC8-4F17-9DA5-02A23101F551}"/>
              </a:ext>
            </a:extLst>
          </p:cNvPr>
          <p:cNvSpPr/>
          <p:nvPr/>
        </p:nvSpPr>
        <p:spPr>
          <a:xfrm>
            <a:off x="4218342" y="4409356"/>
            <a:ext cx="714214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3300"/>
                </a:solidFill>
                <a:latin typeface="Times New Roman" pitchFamily="18" charset="0"/>
              </a:rPr>
              <a:t>形式：</a:t>
            </a:r>
            <a:r>
              <a:rPr lang="zh-CN" altLang="en-US" sz="2800" b="1" dirty="0">
                <a:solidFill>
                  <a:srgbClr val="FF33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sz="2800" b="1" dirty="0" err="1">
                <a:latin typeface="Times New Roman" pitchFamily="18" charset="0"/>
              </a:rPr>
              <a:t>fprintf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800" b="1" dirty="0" err="1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,"%</a:t>
            </a:r>
            <a:r>
              <a:rPr lang="en-US" altLang="zh-CN" sz="2800" b="1" dirty="0" err="1">
                <a:latin typeface="Times New Roman" pitchFamily="18" charset="0"/>
                <a:cs typeface="Times New Roman" pitchFamily="18" charset="0"/>
              </a:rPr>
              <a:t>d",x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3300"/>
                </a:solidFill>
                <a:latin typeface="Times New Roman" pitchFamily="18" charset="0"/>
              </a:rPr>
              <a:t>功能： </a:t>
            </a:r>
            <a:r>
              <a:rPr lang="zh-CN" altLang="en-US" sz="2800" b="1" dirty="0"/>
              <a:t>将整数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en-US" sz="2800" b="1" dirty="0"/>
              <a:t>的值写入指针</a:t>
            </a:r>
            <a:r>
              <a:rPr lang="en-US" altLang="zh-CN" sz="2800" b="1" dirty="0" err="1">
                <a:latin typeface="Times New Roman" pitchFamily="18" charset="0"/>
              </a:rPr>
              <a:t>fp</a:t>
            </a:r>
            <a:r>
              <a:rPr lang="zh-CN" altLang="en-US" sz="2800" b="1" dirty="0"/>
              <a:t>所指文件中 </a:t>
            </a: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85DB7D2A-216D-41D5-AF9A-1082B1793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554" y="53651"/>
            <a:ext cx="9370296" cy="805273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文件的格式化读写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sz="3200" b="1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fscanf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3200" b="1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fprintf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0267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9" grpId="0"/>
      <p:bldP spid="20" grpId="0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1">
            <a:extLst>
              <a:ext uri="{FF2B5EF4-FFF2-40B4-BE49-F238E27FC236}">
                <a16:creationId xmlns:a16="http://schemas.microsoft.com/office/drawing/2014/main" id="{8EA6C94A-995E-46F8-A68A-CBC393645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4002" y="100717"/>
            <a:ext cx="60452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25000"/>
              </a:lnSpc>
              <a:spcBef>
                <a:spcPct val="0"/>
              </a:spcBef>
              <a:buClr>
                <a:schemeClr val="hlink"/>
              </a:buClr>
            </a:pP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格式化写入文本文件内容</a:t>
            </a:r>
            <a:endParaRPr lang="en-US" altLang="zh-CN" sz="3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A249953-A469-4942-A217-661D30E319EF}"/>
              </a:ext>
            </a:extLst>
          </p:cNvPr>
          <p:cNvGrpSpPr/>
          <p:nvPr/>
        </p:nvGrpSpPr>
        <p:grpSpPr>
          <a:xfrm>
            <a:off x="714463" y="939933"/>
            <a:ext cx="10671985" cy="5209952"/>
            <a:chOff x="1264428" y="1152525"/>
            <a:chExt cx="6847285" cy="2795588"/>
          </a:xfrm>
        </p:grpSpPr>
        <p:sp>
          <p:nvSpPr>
            <p:cNvPr id="18" name="圆角矩形 7">
              <a:extLst>
                <a:ext uri="{FF2B5EF4-FFF2-40B4-BE49-F238E27FC236}">
                  <a16:creationId xmlns:a16="http://schemas.microsoft.com/office/drawing/2014/main" id="{09E697EE-219B-4A71-9302-AF76BC27D223}"/>
                </a:ext>
              </a:extLst>
            </p:cNvPr>
            <p:cNvSpPr/>
            <p:nvPr/>
          </p:nvSpPr>
          <p:spPr bwMode="auto">
            <a:xfrm>
              <a:off x="1264428" y="1152525"/>
              <a:ext cx="6847285" cy="2795588"/>
            </a:xfrm>
            <a:prstGeom prst="roundRect">
              <a:avLst>
                <a:gd name="adj" fmla="val 99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lnSpc>
                  <a:spcPct val="150000"/>
                </a:lnSpc>
                <a:defRPr/>
              </a:pPr>
              <a:endParaRPr lang="en-US" sz="1013"/>
            </a:p>
          </p:txBody>
        </p:sp>
        <p:sp>
          <p:nvSpPr>
            <p:cNvPr id="19" name="圆角矩形 8">
              <a:extLst>
                <a:ext uri="{FF2B5EF4-FFF2-40B4-BE49-F238E27FC236}">
                  <a16:creationId xmlns:a16="http://schemas.microsoft.com/office/drawing/2014/main" id="{3133F25E-C758-4E47-9DD9-E59C16ADDD8F}"/>
                </a:ext>
              </a:extLst>
            </p:cNvPr>
            <p:cNvSpPr/>
            <p:nvPr/>
          </p:nvSpPr>
          <p:spPr bwMode="auto">
            <a:xfrm>
              <a:off x="1473978" y="1362076"/>
              <a:ext cx="6428185" cy="2306241"/>
            </a:xfrm>
            <a:prstGeom prst="roundRect">
              <a:avLst>
                <a:gd name="adj" fmla="val 11474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lnSpc>
                  <a:spcPct val="150000"/>
                </a:lnSpc>
                <a:defRPr/>
              </a:pPr>
              <a:endParaRPr lang="en-US" sz="1013"/>
            </a:p>
          </p:txBody>
        </p:sp>
      </p:grpSp>
      <p:sp>
        <p:nvSpPr>
          <p:cNvPr id="20" name="矩形 1">
            <a:extLst>
              <a:ext uri="{FF2B5EF4-FFF2-40B4-BE49-F238E27FC236}">
                <a16:creationId xmlns:a16="http://schemas.microsoft.com/office/drawing/2014/main" id="{22DAFAEB-F085-4172-AF1D-9D68D94C4650}"/>
              </a:ext>
            </a:extLst>
          </p:cNvPr>
          <p:cNvSpPr/>
          <p:nvPr/>
        </p:nvSpPr>
        <p:spPr>
          <a:xfrm>
            <a:off x="715050" y="790570"/>
            <a:ext cx="1174112" cy="157163"/>
          </a:xfrm>
          <a:custGeom>
            <a:avLst/>
            <a:gdLst>
              <a:gd name="connsiteX0" fmla="*/ 0 w 1565482"/>
              <a:gd name="connsiteY0" fmla="*/ 0 h 247650"/>
              <a:gd name="connsiteX1" fmla="*/ 15654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  <a:gd name="connsiteX0" fmla="*/ 0 w 1565482"/>
              <a:gd name="connsiteY0" fmla="*/ 0 h 247650"/>
              <a:gd name="connsiteX1" fmla="*/ 12987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5482" h="247650">
                <a:moveTo>
                  <a:pt x="0" y="0"/>
                </a:moveTo>
                <a:lnTo>
                  <a:pt x="1298782" y="0"/>
                </a:lnTo>
                <a:lnTo>
                  <a:pt x="1565482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solidFill>
            <a:srgbClr val="9ED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21" name="矩形 2">
            <a:extLst>
              <a:ext uri="{FF2B5EF4-FFF2-40B4-BE49-F238E27FC236}">
                <a16:creationId xmlns:a16="http://schemas.microsoft.com/office/drawing/2014/main" id="{212FB927-3BD9-4D38-BF23-B4E04C51F504}"/>
              </a:ext>
            </a:extLst>
          </p:cNvPr>
          <p:cNvSpPr/>
          <p:nvPr/>
        </p:nvSpPr>
        <p:spPr>
          <a:xfrm>
            <a:off x="657609" y="797714"/>
            <a:ext cx="1028069" cy="771525"/>
          </a:xfrm>
          <a:custGeom>
            <a:avLst/>
            <a:gdLst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323133 w 1323133"/>
              <a:gd name="connsiteY2" fmla="*/ 1198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085008 w 1323133"/>
              <a:gd name="connsiteY2" fmla="*/ 817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47625 w 1370758"/>
              <a:gd name="connsiteY0" fmla="*/ 0 h 827194"/>
              <a:gd name="connsiteX1" fmla="*/ 1370758 w 1370758"/>
              <a:gd name="connsiteY1" fmla="*/ 0 h 827194"/>
              <a:gd name="connsiteX2" fmla="*/ 1132633 w 1370758"/>
              <a:gd name="connsiteY2" fmla="*/ 817669 h 827194"/>
              <a:gd name="connsiteX3" fmla="*/ 0 w 1370758"/>
              <a:gd name="connsiteY3" fmla="*/ 827194 h 827194"/>
              <a:gd name="connsiteX4" fmla="*/ 47625 w 1370758"/>
              <a:gd name="connsiteY4" fmla="*/ 0 h 827194"/>
              <a:gd name="connsiteX0" fmla="*/ 47625 w 1370758"/>
              <a:gd name="connsiteY0" fmla="*/ 0 h 836719"/>
              <a:gd name="connsiteX1" fmla="*/ 1370758 w 1370758"/>
              <a:gd name="connsiteY1" fmla="*/ 0 h 836719"/>
              <a:gd name="connsiteX2" fmla="*/ 875458 w 1370758"/>
              <a:gd name="connsiteY2" fmla="*/ 836719 h 836719"/>
              <a:gd name="connsiteX3" fmla="*/ 0 w 1370758"/>
              <a:gd name="connsiteY3" fmla="*/ 827194 h 836719"/>
              <a:gd name="connsiteX4" fmla="*/ 47625 w 1370758"/>
              <a:gd name="connsiteY4" fmla="*/ 0 h 836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0758" h="836719">
                <a:moveTo>
                  <a:pt x="47625" y="0"/>
                </a:moveTo>
                <a:lnTo>
                  <a:pt x="1370758" y="0"/>
                </a:lnTo>
                <a:lnTo>
                  <a:pt x="875458" y="836719"/>
                </a:lnTo>
                <a:lnTo>
                  <a:pt x="0" y="827194"/>
                </a:lnTo>
                <a:lnTo>
                  <a:pt x="47625" y="0"/>
                </a:lnTo>
                <a:close/>
              </a:path>
            </a:pathLst>
          </a:custGeom>
          <a:solidFill>
            <a:srgbClr val="FF92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52CCD85-8D0F-49EB-B3C2-54302362E2F9}"/>
              </a:ext>
            </a:extLst>
          </p:cNvPr>
          <p:cNvSpPr txBox="1"/>
          <p:nvPr/>
        </p:nvSpPr>
        <p:spPr>
          <a:xfrm>
            <a:off x="635635" y="924980"/>
            <a:ext cx="989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29EDAA-0F79-4DA5-9454-E061D9227995}"/>
              </a:ext>
            </a:extLst>
          </p:cNvPr>
          <p:cNvSpPr/>
          <p:nvPr/>
        </p:nvSpPr>
        <p:spPr>
          <a:xfrm>
            <a:off x="1683406" y="1234313"/>
            <a:ext cx="841593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#include&lt;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main()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{      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x;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      FILE *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scanf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("%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d",&amp;x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fopen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("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test.txt","w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");</a:t>
            </a: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fprintf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,"%d", x);</a:t>
            </a: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fclose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      return 0;     }</a:t>
            </a:r>
            <a:endParaRPr lang="en-US" altLang="zh-CN" sz="3200" b="1" dirty="0">
              <a:latin typeface="Times New Roman" pitchFamily="18" charset="0"/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562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1">
            <a:extLst>
              <a:ext uri="{FF2B5EF4-FFF2-40B4-BE49-F238E27FC236}">
                <a16:creationId xmlns:a16="http://schemas.microsoft.com/office/drawing/2014/main" id="{8EA6C94A-995E-46F8-A68A-CBC393645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6918" y="107151"/>
            <a:ext cx="707068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125000"/>
              </a:lnSpc>
              <a:spcBef>
                <a:spcPct val="0"/>
              </a:spcBef>
              <a:buClr>
                <a:schemeClr val="hlink"/>
              </a:buClr>
            </a:pP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格式化读文本文件内容并显示</a:t>
            </a:r>
            <a:endParaRPr lang="en-US" altLang="zh-CN" sz="3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A249953-A469-4942-A217-661D30E319EF}"/>
              </a:ext>
            </a:extLst>
          </p:cNvPr>
          <p:cNvGrpSpPr/>
          <p:nvPr/>
        </p:nvGrpSpPr>
        <p:grpSpPr>
          <a:xfrm>
            <a:off x="714463" y="952633"/>
            <a:ext cx="10671985" cy="5209952"/>
            <a:chOff x="1264428" y="1152525"/>
            <a:chExt cx="6847285" cy="2795588"/>
          </a:xfrm>
        </p:grpSpPr>
        <p:sp>
          <p:nvSpPr>
            <p:cNvPr id="18" name="圆角矩形 7">
              <a:extLst>
                <a:ext uri="{FF2B5EF4-FFF2-40B4-BE49-F238E27FC236}">
                  <a16:creationId xmlns:a16="http://schemas.microsoft.com/office/drawing/2014/main" id="{09E697EE-219B-4A71-9302-AF76BC27D223}"/>
                </a:ext>
              </a:extLst>
            </p:cNvPr>
            <p:cNvSpPr/>
            <p:nvPr/>
          </p:nvSpPr>
          <p:spPr bwMode="auto">
            <a:xfrm>
              <a:off x="1264428" y="1152525"/>
              <a:ext cx="6847285" cy="2795588"/>
            </a:xfrm>
            <a:prstGeom prst="roundRect">
              <a:avLst>
                <a:gd name="adj" fmla="val 99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lnSpc>
                  <a:spcPct val="150000"/>
                </a:lnSpc>
                <a:defRPr/>
              </a:pPr>
              <a:endParaRPr lang="en-US" sz="1013"/>
            </a:p>
          </p:txBody>
        </p:sp>
        <p:sp>
          <p:nvSpPr>
            <p:cNvPr id="19" name="圆角矩形 8">
              <a:extLst>
                <a:ext uri="{FF2B5EF4-FFF2-40B4-BE49-F238E27FC236}">
                  <a16:creationId xmlns:a16="http://schemas.microsoft.com/office/drawing/2014/main" id="{3133F25E-C758-4E47-9DD9-E59C16ADDD8F}"/>
                </a:ext>
              </a:extLst>
            </p:cNvPr>
            <p:cNvSpPr/>
            <p:nvPr/>
          </p:nvSpPr>
          <p:spPr bwMode="auto">
            <a:xfrm>
              <a:off x="1473978" y="1362076"/>
              <a:ext cx="6428185" cy="2306241"/>
            </a:xfrm>
            <a:prstGeom prst="roundRect">
              <a:avLst>
                <a:gd name="adj" fmla="val 11474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lnSpc>
                  <a:spcPct val="150000"/>
                </a:lnSpc>
                <a:defRPr/>
              </a:pPr>
              <a:endParaRPr lang="en-US" sz="1013"/>
            </a:p>
          </p:txBody>
        </p:sp>
      </p:grpSp>
      <p:sp>
        <p:nvSpPr>
          <p:cNvPr id="20" name="矩形 1">
            <a:extLst>
              <a:ext uri="{FF2B5EF4-FFF2-40B4-BE49-F238E27FC236}">
                <a16:creationId xmlns:a16="http://schemas.microsoft.com/office/drawing/2014/main" id="{22DAFAEB-F085-4172-AF1D-9D68D94C4650}"/>
              </a:ext>
            </a:extLst>
          </p:cNvPr>
          <p:cNvSpPr/>
          <p:nvPr/>
        </p:nvSpPr>
        <p:spPr>
          <a:xfrm>
            <a:off x="715050" y="790570"/>
            <a:ext cx="1174112" cy="157163"/>
          </a:xfrm>
          <a:custGeom>
            <a:avLst/>
            <a:gdLst>
              <a:gd name="connsiteX0" fmla="*/ 0 w 1565482"/>
              <a:gd name="connsiteY0" fmla="*/ 0 h 247650"/>
              <a:gd name="connsiteX1" fmla="*/ 15654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  <a:gd name="connsiteX0" fmla="*/ 0 w 1565482"/>
              <a:gd name="connsiteY0" fmla="*/ 0 h 247650"/>
              <a:gd name="connsiteX1" fmla="*/ 12987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5482" h="247650">
                <a:moveTo>
                  <a:pt x="0" y="0"/>
                </a:moveTo>
                <a:lnTo>
                  <a:pt x="1298782" y="0"/>
                </a:lnTo>
                <a:lnTo>
                  <a:pt x="1565482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solidFill>
            <a:srgbClr val="9ED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21" name="矩形 2">
            <a:extLst>
              <a:ext uri="{FF2B5EF4-FFF2-40B4-BE49-F238E27FC236}">
                <a16:creationId xmlns:a16="http://schemas.microsoft.com/office/drawing/2014/main" id="{212FB927-3BD9-4D38-BF23-B4E04C51F504}"/>
              </a:ext>
            </a:extLst>
          </p:cNvPr>
          <p:cNvSpPr/>
          <p:nvPr/>
        </p:nvSpPr>
        <p:spPr>
          <a:xfrm>
            <a:off x="657609" y="797714"/>
            <a:ext cx="1028069" cy="771525"/>
          </a:xfrm>
          <a:custGeom>
            <a:avLst/>
            <a:gdLst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323133 w 1323133"/>
              <a:gd name="connsiteY2" fmla="*/ 1198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085008 w 1323133"/>
              <a:gd name="connsiteY2" fmla="*/ 817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47625 w 1370758"/>
              <a:gd name="connsiteY0" fmla="*/ 0 h 827194"/>
              <a:gd name="connsiteX1" fmla="*/ 1370758 w 1370758"/>
              <a:gd name="connsiteY1" fmla="*/ 0 h 827194"/>
              <a:gd name="connsiteX2" fmla="*/ 1132633 w 1370758"/>
              <a:gd name="connsiteY2" fmla="*/ 817669 h 827194"/>
              <a:gd name="connsiteX3" fmla="*/ 0 w 1370758"/>
              <a:gd name="connsiteY3" fmla="*/ 827194 h 827194"/>
              <a:gd name="connsiteX4" fmla="*/ 47625 w 1370758"/>
              <a:gd name="connsiteY4" fmla="*/ 0 h 827194"/>
              <a:gd name="connsiteX0" fmla="*/ 47625 w 1370758"/>
              <a:gd name="connsiteY0" fmla="*/ 0 h 836719"/>
              <a:gd name="connsiteX1" fmla="*/ 1370758 w 1370758"/>
              <a:gd name="connsiteY1" fmla="*/ 0 h 836719"/>
              <a:gd name="connsiteX2" fmla="*/ 875458 w 1370758"/>
              <a:gd name="connsiteY2" fmla="*/ 836719 h 836719"/>
              <a:gd name="connsiteX3" fmla="*/ 0 w 1370758"/>
              <a:gd name="connsiteY3" fmla="*/ 827194 h 836719"/>
              <a:gd name="connsiteX4" fmla="*/ 47625 w 1370758"/>
              <a:gd name="connsiteY4" fmla="*/ 0 h 836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0758" h="836719">
                <a:moveTo>
                  <a:pt x="47625" y="0"/>
                </a:moveTo>
                <a:lnTo>
                  <a:pt x="1370758" y="0"/>
                </a:lnTo>
                <a:lnTo>
                  <a:pt x="875458" y="836719"/>
                </a:lnTo>
                <a:lnTo>
                  <a:pt x="0" y="827194"/>
                </a:lnTo>
                <a:lnTo>
                  <a:pt x="47625" y="0"/>
                </a:lnTo>
                <a:close/>
              </a:path>
            </a:pathLst>
          </a:custGeom>
          <a:solidFill>
            <a:srgbClr val="FF92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52CCD85-8D0F-49EB-B3C2-54302362E2F9}"/>
              </a:ext>
            </a:extLst>
          </p:cNvPr>
          <p:cNvSpPr txBox="1"/>
          <p:nvPr/>
        </p:nvSpPr>
        <p:spPr>
          <a:xfrm>
            <a:off x="619869" y="924980"/>
            <a:ext cx="989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29EDAA-0F79-4DA5-9454-E061D9227995}"/>
              </a:ext>
            </a:extLst>
          </p:cNvPr>
          <p:cNvSpPr/>
          <p:nvPr/>
        </p:nvSpPr>
        <p:spPr>
          <a:xfrm>
            <a:off x="1683406" y="1208913"/>
            <a:ext cx="841593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#include&lt;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main()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{      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x;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      FILE *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fopen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("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test.txt","r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");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fscanf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,"%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d",&amp;x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("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你的红包数是：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%d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元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\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n",x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fclose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      return 0;     }</a:t>
            </a:r>
            <a:endParaRPr lang="en-US" altLang="zh-CN" sz="3200" b="1" dirty="0">
              <a:latin typeface="Times New Roman" pitchFamily="18" charset="0"/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2637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F8DBB21-5018-4811-9F1A-289E2028334B}"/>
              </a:ext>
            </a:extLst>
          </p:cNvPr>
          <p:cNvGrpSpPr/>
          <p:nvPr/>
        </p:nvGrpSpPr>
        <p:grpSpPr>
          <a:xfrm>
            <a:off x="644978" y="1066144"/>
            <a:ext cx="7432222" cy="2128293"/>
            <a:chOff x="1264428" y="1152525"/>
            <a:chExt cx="6847285" cy="2795588"/>
          </a:xfrm>
        </p:grpSpPr>
        <p:sp>
          <p:nvSpPr>
            <p:cNvPr id="3" name="圆角矩形 7">
              <a:extLst>
                <a:ext uri="{FF2B5EF4-FFF2-40B4-BE49-F238E27FC236}">
                  <a16:creationId xmlns:a16="http://schemas.microsoft.com/office/drawing/2014/main" id="{33FC3508-4FA8-4C11-A220-91F35873F175}"/>
                </a:ext>
              </a:extLst>
            </p:cNvPr>
            <p:cNvSpPr/>
            <p:nvPr/>
          </p:nvSpPr>
          <p:spPr bwMode="auto">
            <a:xfrm>
              <a:off x="1264428" y="1152525"/>
              <a:ext cx="6847285" cy="2795588"/>
            </a:xfrm>
            <a:prstGeom prst="roundRect">
              <a:avLst>
                <a:gd name="adj" fmla="val 99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4" name="圆角矩形 8">
              <a:extLst>
                <a:ext uri="{FF2B5EF4-FFF2-40B4-BE49-F238E27FC236}">
                  <a16:creationId xmlns:a16="http://schemas.microsoft.com/office/drawing/2014/main" id="{36BA1D4D-17B3-4870-B190-0DBAF91375F2}"/>
                </a:ext>
              </a:extLst>
            </p:cNvPr>
            <p:cNvSpPr/>
            <p:nvPr/>
          </p:nvSpPr>
          <p:spPr bwMode="auto">
            <a:xfrm>
              <a:off x="1473978" y="1362076"/>
              <a:ext cx="6428185" cy="2306241"/>
            </a:xfrm>
            <a:prstGeom prst="roundRect">
              <a:avLst>
                <a:gd name="adj" fmla="val 11474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D11A54D-E5B7-46C7-A8B4-1909AFC13E83}"/>
              </a:ext>
            </a:extLst>
          </p:cNvPr>
          <p:cNvGrpSpPr/>
          <p:nvPr/>
        </p:nvGrpSpPr>
        <p:grpSpPr>
          <a:xfrm>
            <a:off x="588123" y="1063625"/>
            <a:ext cx="2688473" cy="771525"/>
            <a:chOff x="588123" y="682625"/>
            <a:chExt cx="1208713" cy="771525"/>
          </a:xfrm>
        </p:grpSpPr>
        <p:sp>
          <p:nvSpPr>
            <p:cNvPr id="5" name="矩形 1">
              <a:extLst>
                <a:ext uri="{FF2B5EF4-FFF2-40B4-BE49-F238E27FC236}">
                  <a16:creationId xmlns:a16="http://schemas.microsoft.com/office/drawing/2014/main" id="{CA2690CB-0D19-4D08-A3F8-4664CEF45472}"/>
                </a:ext>
              </a:extLst>
            </p:cNvPr>
            <p:cNvSpPr/>
            <p:nvPr/>
          </p:nvSpPr>
          <p:spPr>
            <a:xfrm>
              <a:off x="622724" y="688181"/>
              <a:ext cx="1174112" cy="157163"/>
            </a:xfrm>
            <a:custGeom>
              <a:avLst/>
              <a:gdLst>
                <a:gd name="connsiteX0" fmla="*/ 0 w 1565482"/>
                <a:gd name="connsiteY0" fmla="*/ 0 h 247650"/>
                <a:gd name="connsiteX1" fmla="*/ 1565482 w 1565482"/>
                <a:gd name="connsiteY1" fmla="*/ 0 h 247650"/>
                <a:gd name="connsiteX2" fmla="*/ 1565482 w 1565482"/>
                <a:gd name="connsiteY2" fmla="*/ 247650 h 247650"/>
                <a:gd name="connsiteX3" fmla="*/ 0 w 1565482"/>
                <a:gd name="connsiteY3" fmla="*/ 247650 h 247650"/>
                <a:gd name="connsiteX4" fmla="*/ 0 w 1565482"/>
                <a:gd name="connsiteY4" fmla="*/ 0 h 247650"/>
                <a:gd name="connsiteX0" fmla="*/ 0 w 1565482"/>
                <a:gd name="connsiteY0" fmla="*/ 0 h 247650"/>
                <a:gd name="connsiteX1" fmla="*/ 1298782 w 1565482"/>
                <a:gd name="connsiteY1" fmla="*/ 0 h 247650"/>
                <a:gd name="connsiteX2" fmla="*/ 1565482 w 1565482"/>
                <a:gd name="connsiteY2" fmla="*/ 247650 h 247650"/>
                <a:gd name="connsiteX3" fmla="*/ 0 w 1565482"/>
                <a:gd name="connsiteY3" fmla="*/ 247650 h 247650"/>
                <a:gd name="connsiteX4" fmla="*/ 0 w 1565482"/>
                <a:gd name="connsiteY4" fmla="*/ 0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5482" h="247650">
                  <a:moveTo>
                    <a:pt x="0" y="0"/>
                  </a:moveTo>
                  <a:lnTo>
                    <a:pt x="1298782" y="0"/>
                  </a:lnTo>
                  <a:lnTo>
                    <a:pt x="1565482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 dirty="0">
                <a:ea typeface="微软雅黑" panose="020B0503020204020204" pitchFamily="34" charset="-122"/>
              </a:endParaRPr>
            </a:p>
          </p:txBody>
        </p:sp>
        <p:sp>
          <p:nvSpPr>
            <p:cNvPr id="6" name="矩形 2">
              <a:extLst>
                <a:ext uri="{FF2B5EF4-FFF2-40B4-BE49-F238E27FC236}">
                  <a16:creationId xmlns:a16="http://schemas.microsoft.com/office/drawing/2014/main" id="{5B0A396D-6E4F-4E94-838F-D3B2D7C6737F}"/>
                </a:ext>
              </a:extLst>
            </p:cNvPr>
            <p:cNvSpPr/>
            <p:nvPr/>
          </p:nvSpPr>
          <p:spPr>
            <a:xfrm>
              <a:off x="588123" y="682625"/>
              <a:ext cx="1028069" cy="771525"/>
            </a:xfrm>
            <a:custGeom>
              <a:avLst/>
              <a:gdLst>
                <a:gd name="connsiteX0" fmla="*/ 0 w 1323133"/>
                <a:gd name="connsiteY0" fmla="*/ 0 h 1198669"/>
                <a:gd name="connsiteX1" fmla="*/ 1323133 w 1323133"/>
                <a:gd name="connsiteY1" fmla="*/ 0 h 1198669"/>
                <a:gd name="connsiteX2" fmla="*/ 1323133 w 1323133"/>
                <a:gd name="connsiteY2" fmla="*/ 1198669 h 1198669"/>
                <a:gd name="connsiteX3" fmla="*/ 0 w 1323133"/>
                <a:gd name="connsiteY3" fmla="*/ 1198669 h 1198669"/>
                <a:gd name="connsiteX4" fmla="*/ 0 w 1323133"/>
                <a:gd name="connsiteY4" fmla="*/ 0 h 1198669"/>
                <a:gd name="connsiteX0" fmla="*/ 0 w 1323133"/>
                <a:gd name="connsiteY0" fmla="*/ 0 h 1198669"/>
                <a:gd name="connsiteX1" fmla="*/ 1323133 w 1323133"/>
                <a:gd name="connsiteY1" fmla="*/ 0 h 1198669"/>
                <a:gd name="connsiteX2" fmla="*/ 1085008 w 1323133"/>
                <a:gd name="connsiteY2" fmla="*/ 817669 h 1198669"/>
                <a:gd name="connsiteX3" fmla="*/ 0 w 1323133"/>
                <a:gd name="connsiteY3" fmla="*/ 1198669 h 1198669"/>
                <a:gd name="connsiteX4" fmla="*/ 0 w 1323133"/>
                <a:gd name="connsiteY4" fmla="*/ 0 h 1198669"/>
                <a:gd name="connsiteX0" fmla="*/ 47625 w 1370758"/>
                <a:gd name="connsiteY0" fmla="*/ 0 h 827194"/>
                <a:gd name="connsiteX1" fmla="*/ 1370758 w 1370758"/>
                <a:gd name="connsiteY1" fmla="*/ 0 h 827194"/>
                <a:gd name="connsiteX2" fmla="*/ 1132633 w 1370758"/>
                <a:gd name="connsiteY2" fmla="*/ 817669 h 827194"/>
                <a:gd name="connsiteX3" fmla="*/ 0 w 1370758"/>
                <a:gd name="connsiteY3" fmla="*/ 827194 h 827194"/>
                <a:gd name="connsiteX4" fmla="*/ 47625 w 1370758"/>
                <a:gd name="connsiteY4" fmla="*/ 0 h 827194"/>
                <a:gd name="connsiteX0" fmla="*/ 47625 w 1370758"/>
                <a:gd name="connsiteY0" fmla="*/ 0 h 836719"/>
                <a:gd name="connsiteX1" fmla="*/ 1370758 w 1370758"/>
                <a:gd name="connsiteY1" fmla="*/ 0 h 836719"/>
                <a:gd name="connsiteX2" fmla="*/ 875458 w 1370758"/>
                <a:gd name="connsiteY2" fmla="*/ 836719 h 836719"/>
                <a:gd name="connsiteX3" fmla="*/ 0 w 1370758"/>
                <a:gd name="connsiteY3" fmla="*/ 827194 h 836719"/>
                <a:gd name="connsiteX4" fmla="*/ 47625 w 1370758"/>
                <a:gd name="connsiteY4" fmla="*/ 0 h 836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0758" h="836719">
                  <a:moveTo>
                    <a:pt x="47625" y="0"/>
                  </a:moveTo>
                  <a:lnTo>
                    <a:pt x="1370758" y="0"/>
                  </a:lnTo>
                  <a:lnTo>
                    <a:pt x="875458" y="836719"/>
                  </a:lnTo>
                  <a:lnTo>
                    <a:pt x="0" y="827194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FF929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FFDA955D-534E-46C9-BEED-F18C261F718E}"/>
              </a:ext>
            </a:extLst>
          </p:cNvPr>
          <p:cNvSpPr txBox="1"/>
          <p:nvPr/>
        </p:nvSpPr>
        <p:spPr>
          <a:xfrm>
            <a:off x="581479" y="119089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933450" algn="l"/>
              </a:tabLst>
            </a:pPr>
            <a:r>
              <a:rPr lang="zh-CN" altLang="en-US" sz="2800" b="1" dirty="0">
                <a:solidFill>
                  <a:srgbClr val="002060"/>
                </a:solidFill>
                <a:latin typeface="Times New Roman" pitchFamily="18" charset="0"/>
              </a:rPr>
              <a:t>相同之处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E8AD1C0-5D6E-482D-90E8-AD781D7129A3}"/>
              </a:ext>
            </a:extLst>
          </p:cNvPr>
          <p:cNvGrpSpPr/>
          <p:nvPr/>
        </p:nvGrpSpPr>
        <p:grpSpPr>
          <a:xfrm>
            <a:off x="3011842" y="3781029"/>
            <a:ext cx="8595958" cy="2452205"/>
            <a:chOff x="1264428" y="1152525"/>
            <a:chExt cx="6847285" cy="2795588"/>
          </a:xfrm>
        </p:grpSpPr>
        <p:sp>
          <p:nvSpPr>
            <p:cNvPr id="15" name="圆角矩形 7">
              <a:extLst>
                <a:ext uri="{FF2B5EF4-FFF2-40B4-BE49-F238E27FC236}">
                  <a16:creationId xmlns:a16="http://schemas.microsoft.com/office/drawing/2014/main" id="{1A5E7E07-BEF1-451B-B46B-CD4E154C6EF6}"/>
                </a:ext>
              </a:extLst>
            </p:cNvPr>
            <p:cNvSpPr/>
            <p:nvPr/>
          </p:nvSpPr>
          <p:spPr bwMode="auto">
            <a:xfrm>
              <a:off x="1264428" y="1152525"/>
              <a:ext cx="6847285" cy="2795588"/>
            </a:xfrm>
            <a:prstGeom prst="roundRect">
              <a:avLst>
                <a:gd name="adj" fmla="val 99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16" name="圆角矩形 8">
              <a:extLst>
                <a:ext uri="{FF2B5EF4-FFF2-40B4-BE49-F238E27FC236}">
                  <a16:creationId xmlns:a16="http://schemas.microsoft.com/office/drawing/2014/main" id="{5A6DF6AE-F82D-4ED5-A758-1EC7B3104FF5}"/>
                </a:ext>
              </a:extLst>
            </p:cNvPr>
            <p:cNvSpPr/>
            <p:nvPr/>
          </p:nvSpPr>
          <p:spPr bwMode="auto">
            <a:xfrm>
              <a:off x="1473978" y="1362076"/>
              <a:ext cx="6428185" cy="2306241"/>
            </a:xfrm>
            <a:prstGeom prst="roundRect">
              <a:avLst>
                <a:gd name="adj" fmla="val 11474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A39B202-9D7F-471F-91F9-D931CC5B0471}"/>
              </a:ext>
            </a:extLst>
          </p:cNvPr>
          <p:cNvGrpSpPr/>
          <p:nvPr/>
        </p:nvGrpSpPr>
        <p:grpSpPr>
          <a:xfrm>
            <a:off x="2954982" y="3618966"/>
            <a:ext cx="3471218" cy="778669"/>
            <a:chOff x="5741872" y="3377666"/>
            <a:chExt cx="1213268" cy="778669"/>
          </a:xfrm>
        </p:grpSpPr>
        <p:sp>
          <p:nvSpPr>
            <p:cNvPr id="17" name="矩形 1">
              <a:extLst>
                <a:ext uri="{FF2B5EF4-FFF2-40B4-BE49-F238E27FC236}">
                  <a16:creationId xmlns:a16="http://schemas.microsoft.com/office/drawing/2014/main" id="{EFD382A9-1850-468B-9947-3B8952AFB580}"/>
                </a:ext>
              </a:extLst>
            </p:cNvPr>
            <p:cNvSpPr/>
            <p:nvPr/>
          </p:nvSpPr>
          <p:spPr>
            <a:xfrm>
              <a:off x="5781028" y="3377666"/>
              <a:ext cx="1174112" cy="157163"/>
            </a:xfrm>
            <a:custGeom>
              <a:avLst/>
              <a:gdLst>
                <a:gd name="connsiteX0" fmla="*/ 0 w 1565482"/>
                <a:gd name="connsiteY0" fmla="*/ 0 h 247650"/>
                <a:gd name="connsiteX1" fmla="*/ 1565482 w 1565482"/>
                <a:gd name="connsiteY1" fmla="*/ 0 h 247650"/>
                <a:gd name="connsiteX2" fmla="*/ 1565482 w 1565482"/>
                <a:gd name="connsiteY2" fmla="*/ 247650 h 247650"/>
                <a:gd name="connsiteX3" fmla="*/ 0 w 1565482"/>
                <a:gd name="connsiteY3" fmla="*/ 247650 h 247650"/>
                <a:gd name="connsiteX4" fmla="*/ 0 w 1565482"/>
                <a:gd name="connsiteY4" fmla="*/ 0 h 247650"/>
                <a:gd name="connsiteX0" fmla="*/ 0 w 1565482"/>
                <a:gd name="connsiteY0" fmla="*/ 0 h 247650"/>
                <a:gd name="connsiteX1" fmla="*/ 1298782 w 1565482"/>
                <a:gd name="connsiteY1" fmla="*/ 0 h 247650"/>
                <a:gd name="connsiteX2" fmla="*/ 1565482 w 1565482"/>
                <a:gd name="connsiteY2" fmla="*/ 247650 h 247650"/>
                <a:gd name="connsiteX3" fmla="*/ 0 w 1565482"/>
                <a:gd name="connsiteY3" fmla="*/ 247650 h 247650"/>
                <a:gd name="connsiteX4" fmla="*/ 0 w 1565482"/>
                <a:gd name="connsiteY4" fmla="*/ 0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5482" h="247650">
                  <a:moveTo>
                    <a:pt x="0" y="0"/>
                  </a:moveTo>
                  <a:lnTo>
                    <a:pt x="1298782" y="0"/>
                  </a:lnTo>
                  <a:lnTo>
                    <a:pt x="1565482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5B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 dirty="0">
                <a:ea typeface="微软雅黑" panose="020B0503020204020204" pitchFamily="34" charset="-122"/>
              </a:endParaRPr>
            </a:p>
          </p:txBody>
        </p:sp>
        <p:sp>
          <p:nvSpPr>
            <p:cNvPr id="18" name="矩形 2">
              <a:extLst>
                <a:ext uri="{FF2B5EF4-FFF2-40B4-BE49-F238E27FC236}">
                  <a16:creationId xmlns:a16="http://schemas.microsoft.com/office/drawing/2014/main" id="{5D015D8D-03EE-41A2-B0D1-29C44B57D653}"/>
                </a:ext>
              </a:extLst>
            </p:cNvPr>
            <p:cNvSpPr/>
            <p:nvPr/>
          </p:nvSpPr>
          <p:spPr>
            <a:xfrm>
              <a:off x="5741872" y="3384810"/>
              <a:ext cx="1028069" cy="771525"/>
            </a:xfrm>
            <a:custGeom>
              <a:avLst/>
              <a:gdLst>
                <a:gd name="connsiteX0" fmla="*/ 0 w 1323133"/>
                <a:gd name="connsiteY0" fmla="*/ 0 h 1198669"/>
                <a:gd name="connsiteX1" fmla="*/ 1323133 w 1323133"/>
                <a:gd name="connsiteY1" fmla="*/ 0 h 1198669"/>
                <a:gd name="connsiteX2" fmla="*/ 1323133 w 1323133"/>
                <a:gd name="connsiteY2" fmla="*/ 1198669 h 1198669"/>
                <a:gd name="connsiteX3" fmla="*/ 0 w 1323133"/>
                <a:gd name="connsiteY3" fmla="*/ 1198669 h 1198669"/>
                <a:gd name="connsiteX4" fmla="*/ 0 w 1323133"/>
                <a:gd name="connsiteY4" fmla="*/ 0 h 1198669"/>
                <a:gd name="connsiteX0" fmla="*/ 0 w 1323133"/>
                <a:gd name="connsiteY0" fmla="*/ 0 h 1198669"/>
                <a:gd name="connsiteX1" fmla="*/ 1323133 w 1323133"/>
                <a:gd name="connsiteY1" fmla="*/ 0 h 1198669"/>
                <a:gd name="connsiteX2" fmla="*/ 1085008 w 1323133"/>
                <a:gd name="connsiteY2" fmla="*/ 817669 h 1198669"/>
                <a:gd name="connsiteX3" fmla="*/ 0 w 1323133"/>
                <a:gd name="connsiteY3" fmla="*/ 1198669 h 1198669"/>
                <a:gd name="connsiteX4" fmla="*/ 0 w 1323133"/>
                <a:gd name="connsiteY4" fmla="*/ 0 h 1198669"/>
                <a:gd name="connsiteX0" fmla="*/ 47625 w 1370758"/>
                <a:gd name="connsiteY0" fmla="*/ 0 h 827194"/>
                <a:gd name="connsiteX1" fmla="*/ 1370758 w 1370758"/>
                <a:gd name="connsiteY1" fmla="*/ 0 h 827194"/>
                <a:gd name="connsiteX2" fmla="*/ 1132633 w 1370758"/>
                <a:gd name="connsiteY2" fmla="*/ 817669 h 827194"/>
                <a:gd name="connsiteX3" fmla="*/ 0 w 1370758"/>
                <a:gd name="connsiteY3" fmla="*/ 827194 h 827194"/>
                <a:gd name="connsiteX4" fmla="*/ 47625 w 1370758"/>
                <a:gd name="connsiteY4" fmla="*/ 0 h 827194"/>
                <a:gd name="connsiteX0" fmla="*/ 47625 w 1370758"/>
                <a:gd name="connsiteY0" fmla="*/ 0 h 836719"/>
                <a:gd name="connsiteX1" fmla="*/ 1370758 w 1370758"/>
                <a:gd name="connsiteY1" fmla="*/ 0 h 836719"/>
                <a:gd name="connsiteX2" fmla="*/ 875458 w 1370758"/>
                <a:gd name="connsiteY2" fmla="*/ 836719 h 836719"/>
                <a:gd name="connsiteX3" fmla="*/ 0 w 1370758"/>
                <a:gd name="connsiteY3" fmla="*/ 827194 h 836719"/>
                <a:gd name="connsiteX4" fmla="*/ 47625 w 1370758"/>
                <a:gd name="connsiteY4" fmla="*/ 0 h 836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0758" h="836719">
                  <a:moveTo>
                    <a:pt x="47625" y="0"/>
                  </a:moveTo>
                  <a:lnTo>
                    <a:pt x="1370758" y="0"/>
                  </a:lnTo>
                  <a:lnTo>
                    <a:pt x="875458" y="836719"/>
                  </a:lnTo>
                  <a:lnTo>
                    <a:pt x="0" y="827194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FF929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01A54FAE-718E-4314-B938-6CEB9F734BE3}"/>
              </a:ext>
            </a:extLst>
          </p:cNvPr>
          <p:cNvSpPr txBox="1"/>
          <p:nvPr/>
        </p:nvSpPr>
        <p:spPr>
          <a:xfrm>
            <a:off x="3189643" y="3753376"/>
            <a:ext cx="1953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933450" algn="l"/>
              </a:tabLst>
            </a:pPr>
            <a:r>
              <a:rPr lang="zh-CN" altLang="en-US" sz="2800" b="1" dirty="0">
                <a:latin typeface="Times New Roman" pitchFamily="18" charset="0"/>
              </a:rPr>
              <a:t>不同之处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01D39AA-ACBE-48CC-9E2B-E01FA99358D2}"/>
              </a:ext>
            </a:extLst>
          </p:cNvPr>
          <p:cNvSpPr/>
          <p:nvPr/>
        </p:nvSpPr>
        <p:spPr>
          <a:xfrm>
            <a:off x="892292" y="1962388"/>
            <a:ext cx="465760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都是格式读、写函数；</a:t>
            </a:r>
            <a:endParaRPr lang="en-US" altLang="zh-CN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4D5DB1B-3FC8-4F17-9DA5-02A23101F551}"/>
              </a:ext>
            </a:extLst>
          </p:cNvPr>
          <p:cNvSpPr/>
          <p:nvPr/>
        </p:nvSpPr>
        <p:spPr>
          <a:xfrm>
            <a:off x="3240442" y="4490236"/>
            <a:ext cx="796095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scanf</a:t>
            </a: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函数和</a:t>
            </a:r>
            <a:r>
              <a:rPr lang="en-US" altLang="zh-CN" sz="2800" b="1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函数的读、写对象为终端，而</a:t>
            </a:r>
            <a:r>
              <a:rPr lang="en-US" altLang="zh-CN" sz="2800" b="1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fscanf</a:t>
            </a: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函数和</a:t>
            </a:r>
            <a:r>
              <a:rPr lang="en-US" altLang="zh-CN" sz="2800" b="1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fprintf</a:t>
            </a: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函数的读、写对象为磁盘。</a:t>
            </a:r>
            <a:endParaRPr lang="zh-CN" altLang="en-US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85DB7D2A-216D-41D5-AF9A-1082B1793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900" y="-39635"/>
            <a:ext cx="10744200" cy="1238101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>
              <a:defRPr/>
            </a:pPr>
            <a:r>
              <a:rPr lang="en-US" altLang="zh-CN" sz="3200" b="1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fscanf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3200" b="1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fprintf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函数与</a:t>
            </a:r>
            <a:r>
              <a:rPr lang="en-US" altLang="zh-CN" sz="3200" b="1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scanf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3200" b="1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函数的区别</a:t>
            </a:r>
          </a:p>
        </p:txBody>
      </p:sp>
    </p:spTree>
    <p:extLst>
      <p:ext uri="{BB962C8B-B14F-4D97-AF65-F5344CB8AC3E}">
        <p14:creationId xmlns:p14="http://schemas.microsoft.com/office/powerpoint/2010/main" val="89245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9" grpId="0"/>
      <p:bldP spid="20" grpId="0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F8DBB21-5018-4811-9F1A-289E2028334B}"/>
              </a:ext>
            </a:extLst>
          </p:cNvPr>
          <p:cNvGrpSpPr/>
          <p:nvPr/>
        </p:nvGrpSpPr>
        <p:grpSpPr>
          <a:xfrm>
            <a:off x="644978" y="685144"/>
            <a:ext cx="7432222" cy="2413656"/>
            <a:chOff x="1264428" y="1152525"/>
            <a:chExt cx="6847285" cy="2795588"/>
          </a:xfrm>
        </p:grpSpPr>
        <p:sp>
          <p:nvSpPr>
            <p:cNvPr id="3" name="圆角矩形 7">
              <a:extLst>
                <a:ext uri="{FF2B5EF4-FFF2-40B4-BE49-F238E27FC236}">
                  <a16:creationId xmlns:a16="http://schemas.microsoft.com/office/drawing/2014/main" id="{33FC3508-4FA8-4C11-A220-91F35873F175}"/>
                </a:ext>
              </a:extLst>
            </p:cNvPr>
            <p:cNvSpPr/>
            <p:nvPr/>
          </p:nvSpPr>
          <p:spPr bwMode="auto">
            <a:xfrm>
              <a:off x="1264428" y="1152525"/>
              <a:ext cx="6847285" cy="2795588"/>
            </a:xfrm>
            <a:prstGeom prst="roundRect">
              <a:avLst>
                <a:gd name="adj" fmla="val 99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4" name="圆角矩形 8">
              <a:extLst>
                <a:ext uri="{FF2B5EF4-FFF2-40B4-BE49-F238E27FC236}">
                  <a16:creationId xmlns:a16="http://schemas.microsoft.com/office/drawing/2014/main" id="{36BA1D4D-17B3-4870-B190-0DBAF91375F2}"/>
                </a:ext>
              </a:extLst>
            </p:cNvPr>
            <p:cNvSpPr/>
            <p:nvPr/>
          </p:nvSpPr>
          <p:spPr bwMode="auto">
            <a:xfrm>
              <a:off x="1473978" y="1362076"/>
              <a:ext cx="6428185" cy="2306241"/>
            </a:xfrm>
            <a:prstGeom prst="roundRect">
              <a:avLst>
                <a:gd name="adj" fmla="val 11474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D11A54D-E5B7-46C7-A8B4-1909AFC13E83}"/>
              </a:ext>
            </a:extLst>
          </p:cNvPr>
          <p:cNvGrpSpPr/>
          <p:nvPr/>
        </p:nvGrpSpPr>
        <p:grpSpPr>
          <a:xfrm>
            <a:off x="588123" y="682625"/>
            <a:ext cx="2688473" cy="771525"/>
            <a:chOff x="588123" y="682625"/>
            <a:chExt cx="1208713" cy="771525"/>
          </a:xfrm>
        </p:grpSpPr>
        <p:sp>
          <p:nvSpPr>
            <p:cNvPr id="5" name="矩形 1">
              <a:extLst>
                <a:ext uri="{FF2B5EF4-FFF2-40B4-BE49-F238E27FC236}">
                  <a16:creationId xmlns:a16="http://schemas.microsoft.com/office/drawing/2014/main" id="{CA2690CB-0D19-4D08-A3F8-4664CEF45472}"/>
                </a:ext>
              </a:extLst>
            </p:cNvPr>
            <p:cNvSpPr/>
            <p:nvPr/>
          </p:nvSpPr>
          <p:spPr>
            <a:xfrm>
              <a:off x="622724" y="688181"/>
              <a:ext cx="1174112" cy="157163"/>
            </a:xfrm>
            <a:custGeom>
              <a:avLst/>
              <a:gdLst>
                <a:gd name="connsiteX0" fmla="*/ 0 w 1565482"/>
                <a:gd name="connsiteY0" fmla="*/ 0 h 247650"/>
                <a:gd name="connsiteX1" fmla="*/ 1565482 w 1565482"/>
                <a:gd name="connsiteY1" fmla="*/ 0 h 247650"/>
                <a:gd name="connsiteX2" fmla="*/ 1565482 w 1565482"/>
                <a:gd name="connsiteY2" fmla="*/ 247650 h 247650"/>
                <a:gd name="connsiteX3" fmla="*/ 0 w 1565482"/>
                <a:gd name="connsiteY3" fmla="*/ 247650 h 247650"/>
                <a:gd name="connsiteX4" fmla="*/ 0 w 1565482"/>
                <a:gd name="connsiteY4" fmla="*/ 0 h 247650"/>
                <a:gd name="connsiteX0" fmla="*/ 0 w 1565482"/>
                <a:gd name="connsiteY0" fmla="*/ 0 h 247650"/>
                <a:gd name="connsiteX1" fmla="*/ 1298782 w 1565482"/>
                <a:gd name="connsiteY1" fmla="*/ 0 h 247650"/>
                <a:gd name="connsiteX2" fmla="*/ 1565482 w 1565482"/>
                <a:gd name="connsiteY2" fmla="*/ 247650 h 247650"/>
                <a:gd name="connsiteX3" fmla="*/ 0 w 1565482"/>
                <a:gd name="connsiteY3" fmla="*/ 247650 h 247650"/>
                <a:gd name="connsiteX4" fmla="*/ 0 w 1565482"/>
                <a:gd name="connsiteY4" fmla="*/ 0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5482" h="247650">
                  <a:moveTo>
                    <a:pt x="0" y="0"/>
                  </a:moveTo>
                  <a:lnTo>
                    <a:pt x="1298782" y="0"/>
                  </a:lnTo>
                  <a:lnTo>
                    <a:pt x="1565482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 dirty="0">
                <a:ea typeface="微软雅黑" panose="020B0503020204020204" pitchFamily="34" charset="-122"/>
              </a:endParaRPr>
            </a:p>
          </p:txBody>
        </p:sp>
        <p:sp>
          <p:nvSpPr>
            <p:cNvPr id="6" name="矩形 2">
              <a:extLst>
                <a:ext uri="{FF2B5EF4-FFF2-40B4-BE49-F238E27FC236}">
                  <a16:creationId xmlns:a16="http://schemas.microsoft.com/office/drawing/2014/main" id="{5B0A396D-6E4F-4E94-838F-D3B2D7C6737F}"/>
                </a:ext>
              </a:extLst>
            </p:cNvPr>
            <p:cNvSpPr/>
            <p:nvPr/>
          </p:nvSpPr>
          <p:spPr>
            <a:xfrm>
              <a:off x="588123" y="682625"/>
              <a:ext cx="1028069" cy="771525"/>
            </a:xfrm>
            <a:custGeom>
              <a:avLst/>
              <a:gdLst>
                <a:gd name="connsiteX0" fmla="*/ 0 w 1323133"/>
                <a:gd name="connsiteY0" fmla="*/ 0 h 1198669"/>
                <a:gd name="connsiteX1" fmla="*/ 1323133 w 1323133"/>
                <a:gd name="connsiteY1" fmla="*/ 0 h 1198669"/>
                <a:gd name="connsiteX2" fmla="*/ 1323133 w 1323133"/>
                <a:gd name="connsiteY2" fmla="*/ 1198669 h 1198669"/>
                <a:gd name="connsiteX3" fmla="*/ 0 w 1323133"/>
                <a:gd name="connsiteY3" fmla="*/ 1198669 h 1198669"/>
                <a:gd name="connsiteX4" fmla="*/ 0 w 1323133"/>
                <a:gd name="connsiteY4" fmla="*/ 0 h 1198669"/>
                <a:gd name="connsiteX0" fmla="*/ 0 w 1323133"/>
                <a:gd name="connsiteY0" fmla="*/ 0 h 1198669"/>
                <a:gd name="connsiteX1" fmla="*/ 1323133 w 1323133"/>
                <a:gd name="connsiteY1" fmla="*/ 0 h 1198669"/>
                <a:gd name="connsiteX2" fmla="*/ 1085008 w 1323133"/>
                <a:gd name="connsiteY2" fmla="*/ 817669 h 1198669"/>
                <a:gd name="connsiteX3" fmla="*/ 0 w 1323133"/>
                <a:gd name="connsiteY3" fmla="*/ 1198669 h 1198669"/>
                <a:gd name="connsiteX4" fmla="*/ 0 w 1323133"/>
                <a:gd name="connsiteY4" fmla="*/ 0 h 1198669"/>
                <a:gd name="connsiteX0" fmla="*/ 47625 w 1370758"/>
                <a:gd name="connsiteY0" fmla="*/ 0 h 827194"/>
                <a:gd name="connsiteX1" fmla="*/ 1370758 w 1370758"/>
                <a:gd name="connsiteY1" fmla="*/ 0 h 827194"/>
                <a:gd name="connsiteX2" fmla="*/ 1132633 w 1370758"/>
                <a:gd name="connsiteY2" fmla="*/ 817669 h 827194"/>
                <a:gd name="connsiteX3" fmla="*/ 0 w 1370758"/>
                <a:gd name="connsiteY3" fmla="*/ 827194 h 827194"/>
                <a:gd name="connsiteX4" fmla="*/ 47625 w 1370758"/>
                <a:gd name="connsiteY4" fmla="*/ 0 h 827194"/>
                <a:gd name="connsiteX0" fmla="*/ 47625 w 1370758"/>
                <a:gd name="connsiteY0" fmla="*/ 0 h 836719"/>
                <a:gd name="connsiteX1" fmla="*/ 1370758 w 1370758"/>
                <a:gd name="connsiteY1" fmla="*/ 0 h 836719"/>
                <a:gd name="connsiteX2" fmla="*/ 875458 w 1370758"/>
                <a:gd name="connsiteY2" fmla="*/ 836719 h 836719"/>
                <a:gd name="connsiteX3" fmla="*/ 0 w 1370758"/>
                <a:gd name="connsiteY3" fmla="*/ 827194 h 836719"/>
                <a:gd name="connsiteX4" fmla="*/ 47625 w 1370758"/>
                <a:gd name="connsiteY4" fmla="*/ 0 h 836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0758" h="836719">
                  <a:moveTo>
                    <a:pt x="47625" y="0"/>
                  </a:moveTo>
                  <a:lnTo>
                    <a:pt x="1370758" y="0"/>
                  </a:lnTo>
                  <a:lnTo>
                    <a:pt x="875458" y="836719"/>
                  </a:lnTo>
                  <a:lnTo>
                    <a:pt x="0" y="827194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FF929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FFDA955D-534E-46C9-BEED-F18C261F718E}"/>
              </a:ext>
            </a:extLst>
          </p:cNvPr>
          <p:cNvSpPr txBox="1"/>
          <p:nvPr/>
        </p:nvSpPr>
        <p:spPr>
          <a:xfrm>
            <a:off x="581479" y="809891"/>
            <a:ext cx="1640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933450" algn="l"/>
              </a:tabLst>
            </a:pPr>
            <a:r>
              <a:rPr lang="en-US" altLang="zh-CN" sz="2800" b="1" dirty="0" err="1">
                <a:latin typeface="Times New Roman" pitchFamily="18" charset="0"/>
              </a:rPr>
              <a:t>fgetc</a:t>
            </a:r>
            <a:r>
              <a:rPr lang="zh-CN" altLang="en-US" sz="2800" b="1" dirty="0">
                <a:latin typeface="Times New Roman" pitchFamily="18" charset="0"/>
              </a:rPr>
              <a:t>函数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E8AD1C0-5D6E-482D-90E8-AD781D7129A3}"/>
              </a:ext>
            </a:extLst>
          </p:cNvPr>
          <p:cNvGrpSpPr/>
          <p:nvPr/>
        </p:nvGrpSpPr>
        <p:grpSpPr>
          <a:xfrm>
            <a:off x="3989742" y="3539729"/>
            <a:ext cx="7884758" cy="2452205"/>
            <a:chOff x="1264428" y="1152525"/>
            <a:chExt cx="6847285" cy="2795588"/>
          </a:xfrm>
        </p:grpSpPr>
        <p:sp>
          <p:nvSpPr>
            <p:cNvPr id="15" name="圆角矩形 7">
              <a:extLst>
                <a:ext uri="{FF2B5EF4-FFF2-40B4-BE49-F238E27FC236}">
                  <a16:creationId xmlns:a16="http://schemas.microsoft.com/office/drawing/2014/main" id="{1A5E7E07-BEF1-451B-B46B-CD4E154C6EF6}"/>
                </a:ext>
              </a:extLst>
            </p:cNvPr>
            <p:cNvSpPr/>
            <p:nvPr/>
          </p:nvSpPr>
          <p:spPr bwMode="auto">
            <a:xfrm>
              <a:off x="1264428" y="1152525"/>
              <a:ext cx="6847285" cy="2795588"/>
            </a:xfrm>
            <a:prstGeom prst="roundRect">
              <a:avLst>
                <a:gd name="adj" fmla="val 99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  <p:sp>
          <p:nvSpPr>
            <p:cNvPr id="16" name="圆角矩形 8">
              <a:extLst>
                <a:ext uri="{FF2B5EF4-FFF2-40B4-BE49-F238E27FC236}">
                  <a16:creationId xmlns:a16="http://schemas.microsoft.com/office/drawing/2014/main" id="{5A6DF6AE-F82D-4ED5-A758-1EC7B3104FF5}"/>
                </a:ext>
              </a:extLst>
            </p:cNvPr>
            <p:cNvSpPr/>
            <p:nvPr/>
          </p:nvSpPr>
          <p:spPr bwMode="auto">
            <a:xfrm>
              <a:off x="1473978" y="1362076"/>
              <a:ext cx="6428185" cy="2306241"/>
            </a:xfrm>
            <a:prstGeom prst="roundRect">
              <a:avLst>
                <a:gd name="adj" fmla="val 11474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A39B202-9D7F-471F-91F9-D931CC5B0471}"/>
              </a:ext>
            </a:extLst>
          </p:cNvPr>
          <p:cNvGrpSpPr/>
          <p:nvPr/>
        </p:nvGrpSpPr>
        <p:grpSpPr>
          <a:xfrm>
            <a:off x="3932882" y="3377666"/>
            <a:ext cx="3242618" cy="778669"/>
            <a:chOff x="5741872" y="3377666"/>
            <a:chExt cx="1213268" cy="778669"/>
          </a:xfrm>
        </p:grpSpPr>
        <p:sp>
          <p:nvSpPr>
            <p:cNvPr id="17" name="矩形 1">
              <a:extLst>
                <a:ext uri="{FF2B5EF4-FFF2-40B4-BE49-F238E27FC236}">
                  <a16:creationId xmlns:a16="http://schemas.microsoft.com/office/drawing/2014/main" id="{EFD382A9-1850-468B-9947-3B8952AFB580}"/>
                </a:ext>
              </a:extLst>
            </p:cNvPr>
            <p:cNvSpPr/>
            <p:nvPr/>
          </p:nvSpPr>
          <p:spPr>
            <a:xfrm>
              <a:off x="5781028" y="3377666"/>
              <a:ext cx="1174112" cy="157163"/>
            </a:xfrm>
            <a:custGeom>
              <a:avLst/>
              <a:gdLst>
                <a:gd name="connsiteX0" fmla="*/ 0 w 1565482"/>
                <a:gd name="connsiteY0" fmla="*/ 0 h 247650"/>
                <a:gd name="connsiteX1" fmla="*/ 1565482 w 1565482"/>
                <a:gd name="connsiteY1" fmla="*/ 0 h 247650"/>
                <a:gd name="connsiteX2" fmla="*/ 1565482 w 1565482"/>
                <a:gd name="connsiteY2" fmla="*/ 247650 h 247650"/>
                <a:gd name="connsiteX3" fmla="*/ 0 w 1565482"/>
                <a:gd name="connsiteY3" fmla="*/ 247650 h 247650"/>
                <a:gd name="connsiteX4" fmla="*/ 0 w 1565482"/>
                <a:gd name="connsiteY4" fmla="*/ 0 h 247650"/>
                <a:gd name="connsiteX0" fmla="*/ 0 w 1565482"/>
                <a:gd name="connsiteY0" fmla="*/ 0 h 247650"/>
                <a:gd name="connsiteX1" fmla="*/ 1298782 w 1565482"/>
                <a:gd name="connsiteY1" fmla="*/ 0 h 247650"/>
                <a:gd name="connsiteX2" fmla="*/ 1565482 w 1565482"/>
                <a:gd name="connsiteY2" fmla="*/ 247650 h 247650"/>
                <a:gd name="connsiteX3" fmla="*/ 0 w 1565482"/>
                <a:gd name="connsiteY3" fmla="*/ 247650 h 247650"/>
                <a:gd name="connsiteX4" fmla="*/ 0 w 1565482"/>
                <a:gd name="connsiteY4" fmla="*/ 0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5482" h="247650">
                  <a:moveTo>
                    <a:pt x="0" y="0"/>
                  </a:moveTo>
                  <a:lnTo>
                    <a:pt x="1298782" y="0"/>
                  </a:lnTo>
                  <a:lnTo>
                    <a:pt x="1565482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5B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 dirty="0">
                <a:ea typeface="微软雅黑" panose="020B0503020204020204" pitchFamily="34" charset="-122"/>
              </a:endParaRPr>
            </a:p>
          </p:txBody>
        </p:sp>
        <p:sp>
          <p:nvSpPr>
            <p:cNvPr id="18" name="矩形 2">
              <a:extLst>
                <a:ext uri="{FF2B5EF4-FFF2-40B4-BE49-F238E27FC236}">
                  <a16:creationId xmlns:a16="http://schemas.microsoft.com/office/drawing/2014/main" id="{5D015D8D-03EE-41A2-B0D1-29C44B57D653}"/>
                </a:ext>
              </a:extLst>
            </p:cNvPr>
            <p:cNvSpPr/>
            <p:nvPr/>
          </p:nvSpPr>
          <p:spPr>
            <a:xfrm>
              <a:off x="5741872" y="3384810"/>
              <a:ext cx="1028069" cy="771525"/>
            </a:xfrm>
            <a:custGeom>
              <a:avLst/>
              <a:gdLst>
                <a:gd name="connsiteX0" fmla="*/ 0 w 1323133"/>
                <a:gd name="connsiteY0" fmla="*/ 0 h 1198669"/>
                <a:gd name="connsiteX1" fmla="*/ 1323133 w 1323133"/>
                <a:gd name="connsiteY1" fmla="*/ 0 h 1198669"/>
                <a:gd name="connsiteX2" fmla="*/ 1323133 w 1323133"/>
                <a:gd name="connsiteY2" fmla="*/ 1198669 h 1198669"/>
                <a:gd name="connsiteX3" fmla="*/ 0 w 1323133"/>
                <a:gd name="connsiteY3" fmla="*/ 1198669 h 1198669"/>
                <a:gd name="connsiteX4" fmla="*/ 0 w 1323133"/>
                <a:gd name="connsiteY4" fmla="*/ 0 h 1198669"/>
                <a:gd name="connsiteX0" fmla="*/ 0 w 1323133"/>
                <a:gd name="connsiteY0" fmla="*/ 0 h 1198669"/>
                <a:gd name="connsiteX1" fmla="*/ 1323133 w 1323133"/>
                <a:gd name="connsiteY1" fmla="*/ 0 h 1198669"/>
                <a:gd name="connsiteX2" fmla="*/ 1085008 w 1323133"/>
                <a:gd name="connsiteY2" fmla="*/ 817669 h 1198669"/>
                <a:gd name="connsiteX3" fmla="*/ 0 w 1323133"/>
                <a:gd name="connsiteY3" fmla="*/ 1198669 h 1198669"/>
                <a:gd name="connsiteX4" fmla="*/ 0 w 1323133"/>
                <a:gd name="connsiteY4" fmla="*/ 0 h 1198669"/>
                <a:gd name="connsiteX0" fmla="*/ 47625 w 1370758"/>
                <a:gd name="connsiteY0" fmla="*/ 0 h 827194"/>
                <a:gd name="connsiteX1" fmla="*/ 1370758 w 1370758"/>
                <a:gd name="connsiteY1" fmla="*/ 0 h 827194"/>
                <a:gd name="connsiteX2" fmla="*/ 1132633 w 1370758"/>
                <a:gd name="connsiteY2" fmla="*/ 817669 h 827194"/>
                <a:gd name="connsiteX3" fmla="*/ 0 w 1370758"/>
                <a:gd name="connsiteY3" fmla="*/ 827194 h 827194"/>
                <a:gd name="connsiteX4" fmla="*/ 47625 w 1370758"/>
                <a:gd name="connsiteY4" fmla="*/ 0 h 827194"/>
                <a:gd name="connsiteX0" fmla="*/ 47625 w 1370758"/>
                <a:gd name="connsiteY0" fmla="*/ 0 h 836719"/>
                <a:gd name="connsiteX1" fmla="*/ 1370758 w 1370758"/>
                <a:gd name="connsiteY1" fmla="*/ 0 h 836719"/>
                <a:gd name="connsiteX2" fmla="*/ 875458 w 1370758"/>
                <a:gd name="connsiteY2" fmla="*/ 836719 h 836719"/>
                <a:gd name="connsiteX3" fmla="*/ 0 w 1370758"/>
                <a:gd name="connsiteY3" fmla="*/ 827194 h 836719"/>
                <a:gd name="connsiteX4" fmla="*/ 47625 w 1370758"/>
                <a:gd name="connsiteY4" fmla="*/ 0 h 836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0758" h="836719">
                  <a:moveTo>
                    <a:pt x="47625" y="0"/>
                  </a:moveTo>
                  <a:lnTo>
                    <a:pt x="1370758" y="0"/>
                  </a:lnTo>
                  <a:lnTo>
                    <a:pt x="875458" y="836719"/>
                  </a:lnTo>
                  <a:lnTo>
                    <a:pt x="0" y="827194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FF929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01A54FAE-718E-4314-B938-6CEB9F734BE3}"/>
              </a:ext>
            </a:extLst>
          </p:cNvPr>
          <p:cNvSpPr txBox="1"/>
          <p:nvPr/>
        </p:nvSpPr>
        <p:spPr>
          <a:xfrm>
            <a:off x="4167543" y="3512076"/>
            <a:ext cx="1725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933450" algn="l"/>
              </a:tabLst>
            </a:pPr>
            <a:r>
              <a:rPr lang="en-US" altLang="zh-CN" sz="2800" b="1" dirty="0" err="1">
                <a:latin typeface="Times New Roman" pitchFamily="18" charset="0"/>
              </a:rPr>
              <a:t>fputc</a:t>
            </a:r>
            <a:r>
              <a:rPr lang="zh-CN" altLang="en-US" sz="2800" b="1" dirty="0">
                <a:latin typeface="Times New Roman" pitchFamily="18" charset="0"/>
              </a:rPr>
              <a:t>函数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01D39AA-ACBE-48CC-9E2B-E01FA99358D2}"/>
              </a:ext>
            </a:extLst>
          </p:cNvPr>
          <p:cNvSpPr/>
          <p:nvPr/>
        </p:nvSpPr>
        <p:spPr>
          <a:xfrm>
            <a:off x="854192" y="1378188"/>
            <a:ext cx="6956308" cy="1316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形式</a:t>
            </a:r>
            <a:r>
              <a:rPr lang="zh-CN" altLang="en-US" sz="2400" b="1" dirty="0">
                <a:solidFill>
                  <a:srgbClr val="FF33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</a:t>
            </a:r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sz="28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ch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=</a:t>
            </a:r>
            <a:r>
              <a:rPr lang="en-US" altLang="zh-CN" sz="28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fgetc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</a:t>
            </a:r>
            <a:r>
              <a:rPr lang="en-US" altLang="zh-CN" sz="28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fp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功能：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从</a:t>
            </a:r>
            <a:r>
              <a:rPr lang="en-US" altLang="zh-CN" sz="2800" b="1" dirty="0" err="1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所指文件中读一字符给变量</a:t>
            </a:r>
            <a:r>
              <a:rPr lang="en-US" altLang="zh-CN" sz="2800" b="1" dirty="0" err="1">
                <a:latin typeface="Times New Roman" pitchFamily="18" charset="0"/>
                <a:cs typeface="Times New Roman" pitchFamily="18" charset="0"/>
              </a:rPr>
              <a:t>ch</a:t>
            </a:r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4D5DB1B-3FC8-4F17-9DA5-02A23101F551}"/>
              </a:ext>
            </a:extLst>
          </p:cNvPr>
          <p:cNvSpPr/>
          <p:nvPr/>
        </p:nvSpPr>
        <p:spPr>
          <a:xfrm>
            <a:off x="4218342" y="4248936"/>
            <a:ext cx="7142144" cy="1316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形式</a:t>
            </a:r>
            <a:r>
              <a:rPr lang="zh-CN" altLang="en-US" sz="2400" b="1" dirty="0">
                <a:solidFill>
                  <a:srgbClr val="FF33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</a:t>
            </a:r>
            <a:r>
              <a:rPr lang="en-US" altLang="zh-CN" sz="24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fputc</a:t>
            </a:r>
            <a:r>
              <a:rPr lang="en-US" altLang="zh-CN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</a:t>
            </a:r>
            <a:r>
              <a:rPr lang="en-US" altLang="zh-CN" sz="24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c,fp</a:t>
            </a:r>
            <a:r>
              <a:rPr lang="en-US" altLang="zh-CN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); 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功能：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将一个字符写入指针</a:t>
            </a:r>
            <a:r>
              <a:rPr lang="en-US" altLang="zh-CN" sz="2800" b="1" dirty="0" err="1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所指文件中 </a:t>
            </a: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85DB7D2A-216D-41D5-AF9A-1082B1793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2197" y="-103135"/>
            <a:ext cx="3735053" cy="1238101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rgbClr val="002060"/>
                </a:solidFill>
                <a:latin typeface="Arial" pitchFamily="34" charset="0"/>
                <a:ea typeface="黑体" pitchFamily="49" charset="-122"/>
              </a:rPr>
              <a:t>文 件 的 读 写</a:t>
            </a:r>
          </a:p>
        </p:txBody>
      </p:sp>
    </p:spTree>
    <p:extLst>
      <p:ext uri="{BB962C8B-B14F-4D97-AF65-F5344CB8AC3E}">
        <p14:creationId xmlns:p14="http://schemas.microsoft.com/office/powerpoint/2010/main" val="3463492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9" grpId="0"/>
      <p:bldP spid="20" grpId="0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1">
            <a:extLst>
              <a:ext uri="{FF2B5EF4-FFF2-40B4-BE49-F238E27FC236}">
                <a16:creationId xmlns:a16="http://schemas.microsoft.com/office/drawing/2014/main" id="{8EA6C94A-995E-46F8-A68A-CBC393645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4002" y="126117"/>
            <a:ext cx="60452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25000"/>
              </a:lnSpc>
              <a:spcBef>
                <a:spcPct val="0"/>
              </a:spcBef>
              <a:buClr>
                <a:schemeClr val="hlink"/>
              </a:buClr>
            </a:pP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向文本文件中写入字符</a:t>
            </a:r>
            <a:endParaRPr lang="en-US" altLang="zh-CN" sz="3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A249953-A469-4942-A217-661D30E319EF}"/>
              </a:ext>
            </a:extLst>
          </p:cNvPr>
          <p:cNvGrpSpPr/>
          <p:nvPr/>
        </p:nvGrpSpPr>
        <p:grpSpPr>
          <a:xfrm>
            <a:off x="777527" y="939933"/>
            <a:ext cx="10671985" cy="5209952"/>
            <a:chOff x="1264428" y="1152525"/>
            <a:chExt cx="6847285" cy="2795588"/>
          </a:xfrm>
        </p:grpSpPr>
        <p:sp>
          <p:nvSpPr>
            <p:cNvPr id="18" name="圆角矩形 7">
              <a:extLst>
                <a:ext uri="{FF2B5EF4-FFF2-40B4-BE49-F238E27FC236}">
                  <a16:creationId xmlns:a16="http://schemas.microsoft.com/office/drawing/2014/main" id="{09E697EE-219B-4A71-9302-AF76BC27D223}"/>
                </a:ext>
              </a:extLst>
            </p:cNvPr>
            <p:cNvSpPr/>
            <p:nvPr/>
          </p:nvSpPr>
          <p:spPr bwMode="auto">
            <a:xfrm>
              <a:off x="1264428" y="1152525"/>
              <a:ext cx="6847285" cy="2795588"/>
            </a:xfrm>
            <a:prstGeom prst="roundRect">
              <a:avLst>
                <a:gd name="adj" fmla="val 99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lnSpc>
                  <a:spcPct val="150000"/>
                </a:lnSpc>
                <a:defRPr/>
              </a:pPr>
              <a:endParaRPr lang="en-US" sz="1013"/>
            </a:p>
          </p:txBody>
        </p:sp>
        <p:sp>
          <p:nvSpPr>
            <p:cNvPr id="19" name="圆角矩形 8">
              <a:extLst>
                <a:ext uri="{FF2B5EF4-FFF2-40B4-BE49-F238E27FC236}">
                  <a16:creationId xmlns:a16="http://schemas.microsoft.com/office/drawing/2014/main" id="{3133F25E-C758-4E47-9DD9-E59C16ADDD8F}"/>
                </a:ext>
              </a:extLst>
            </p:cNvPr>
            <p:cNvSpPr/>
            <p:nvPr/>
          </p:nvSpPr>
          <p:spPr bwMode="auto">
            <a:xfrm>
              <a:off x="1473978" y="1362076"/>
              <a:ext cx="6428185" cy="2306241"/>
            </a:xfrm>
            <a:prstGeom prst="roundRect">
              <a:avLst>
                <a:gd name="adj" fmla="val 11474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lnSpc>
                  <a:spcPct val="150000"/>
                </a:lnSpc>
                <a:defRPr/>
              </a:pPr>
              <a:endParaRPr lang="en-US" sz="1013"/>
            </a:p>
          </p:txBody>
        </p:sp>
      </p:grpSp>
      <p:sp>
        <p:nvSpPr>
          <p:cNvPr id="20" name="矩形 1">
            <a:extLst>
              <a:ext uri="{FF2B5EF4-FFF2-40B4-BE49-F238E27FC236}">
                <a16:creationId xmlns:a16="http://schemas.microsoft.com/office/drawing/2014/main" id="{22DAFAEB-F085-4172-AF1D-9D68D94C4650}"/>
              </a:ext>
            </a:extLst>
          </p:cNvPr>
          <p:cNvSpPr/>
          <p:nvPr/>
        </p:nvSpPr>
        <p:spPr>
          <a:xfrm>
            <a:off x="778114" y="790570"/>
            <a:ext cx="1174112" cy="157163"/>
          </a:xfrm>
          <a:custGeom>
            <a:avLst/>
            <a:gdLst>
              <a:gd name="connsiteX0" fmla="*/ 0 w 1565482"/>
              <a:gd name="connsiteY0" fmla="*/ 0 h 247650"/>
              <a:gd name="connsiteX1" fmla="*/ 15654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  <a:gd name="connsiteX0" fmla="*/ 0 w 1565482"/>
              <a:gd name="connsiteY0" fmla="*/ 0 h 247650"/>
              <a:gd name="connsiteX1" fmla="*/ 12987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5482" h="247650">
                <a:moveTo>
                  <a:pt x="0" y="0"/>
                </a:moveTo>
                <a:lnTo>
                  <a:pt x="1298782" y="0"/>
                </a:lnTo>
                <a:lnTo>
                  <a:pt x="1565482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solidFill>
            <a:srgbClr val="9ED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21" name="矩形 2">
            <a:extLst>
              <a:ext uri="{FF2B5EF4-FFF2-40B4-BE49-F238E27FC236}">
                <a16:creationId xmlns:a16="http://schemas.microsoft.com/office/drawing/2014/main" id="{212FB927-3BD9-4D38-BF23-B4E04C51F504}"/>
              </a:ext>
            </a:extLst>
          </p:cNvPr>
          <p:cNvSpPr/>
          <p:nvPr/>
        </p:nvSpPr>
        <p:spPr>
          <a:xfrm>
            <a:off x="720673" y="797714"/>
            <a:ext cx="1028069" cy="771525"/>
          </a:xfrm>
          <a:custGeom>
            <a:avLst/>
            <a:gdLst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323133 w 1323133"/>
              <a:gd name="connsiteY2" fmla="*/ 1198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085008 w 1323133"/>
              <a:gd name="connsiteY2" fmla="*/ 817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47625 w 1370758"/>
              <a:gd name="connsiteY0" fmla="*/ 0 h 827194"/>
              <a:gd name="connsiteX1" fmla="*/ 1370758 w 1370758"/>
              <a:gd name="connsiteY1" fmla="*/ 0 h 827194"/>
              <a:gd name="connsiteX2" fmla="*/ 1132633 w 1370758"/>
              <a:gd name="connsiteY2" fmla="*/ 817669 h 827194"/>
              <a:gd name="connsiteX3" fmla="*/ 0 w 1370758"/>
              <a:gd name="connsiteY3" fmla="*/ 827194 h 827194"/>
              <a:gd name="connsiteX4" fmla="*/ 47625 w 1370758"/>
              <a:gd name="connsiteY4" fmla="*/ 0 h 827194"/>
              <a:gd name="connsiteX0" fmla="*/ 47625 w 1370758"/>
              <a:gd name="connsiteY0" fmla="*/ 0 h 836719"/>
              <a:gd name="connsiteX1" fmla="*/ 1370758 w 1370758"/>
              <a:gd name="connsiteY1" fmla="*/ 0 h 836719"/>
              <a:gd name="connsiteX2" fmla="*/ 875458 w 1370758"/>
              <a:gd name="connsiteY2" fmla="*/ 836719 h 836719"/>
              <a:gd name="connsiteX3" fmla="*/ 0 w 1370758"/>
              <a:gd name="connsiteY3" fmla="*/ 827194 h 836719"/>
              <a:gd name="connsiteX4" fmla="*/ 47625 w 1370758"/>
              <a:gd name="connsiteY4" fmla="*/ 0 h 836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0758" h="836719">
                <a:moveTo>
                  <a:pt x="47625" y="0"/>
                </a:moveTo>
                <a:lnTo>
                  <a:pt x="1370758" y="0"/>
                </a:lnTo>
                <a:lnTo>
                  <a:pt x="875458" y="836719"/>
                </a:lnTo>
                <a:lnTo>
                  <a:pt x="0" y="827194"/>
                </a:lnTo>
                <a:lnTo>
                  <a:pt x="47625" y="0"/>
                </a:lnTo>
                <a:close/>
              </a:path>
            </a:pathLst>
          </a:custGeom>
          <a:solidFill>
            <a:srgbClr val="FF92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52CCD85-8D0F-49EB-B3C2-54302362E2F9}"/>
              </a:ext>
            </a:extLst>
          </p:cNvPr>
          <p:cNvSpPr txBox="1"/>
          <p:nvPr/>
        </p:nvSpPr>
        <p:spPr>
          <a:xfrm>
            <a:off x="777529" y="92498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29EDAA-0F79-4DA5-9454-E061D9227995}"/>
              </a:ext>
            </a:extLst>
          </p:cNvPr>
          <p:cNvSpPr/>
          <p:nvPr/>
        </p:nvSpPr>
        <p:spPr>
          <a:xfrm>
            <a:off x="1746470" y="1386645"/>
            <a:ext cx="8415937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#include &lt;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</a:rPr>
              <a:t>stdio.h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&gt;</a:t>
            </a:r>
          </a:p>
          <a:p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void main( )</a:t>
            </a:r>
          </a:p>
          <a:p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{   FILE *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</a:rPr>
              <a:t>fp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;</a:t>
            </a:r>
          </a:p>
          <a:p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    char 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</a:rPr>
              <a:t>ch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;</a:t>
            </a:r>
          </a:p>
          <a:p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    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</a:rPr>
              <a:t>ch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=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();</a:t>
            </a:r>
          </a:p>
          <a:p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   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fp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=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fopen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("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test.txt","w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");</a:t>
            </a:r>
          </a:p>
          <a:p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   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fputc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ch,fp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);</a:t>
            </a:r>
          </a:p>
          <a:p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   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fclose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fp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);       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}</a:t>
            </a:r>
            <a:endParaRPr lang="en-US" altLang="zh-CN" sz="3200" b="1" dirty="0">
              <a:latin typeface="Times New Roman" pitchFamily="18" charset="0"/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260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1">
            <a:extLst>
              <a:ext uri="{FF2B5EF4-FFF2-40B4-BE49-F238E27FC236}">
                <a16:creationId xmlns:a16="http://schemas.microsoft.com/office/drawing/2014/main" id="{8EA6C94A-995E-46F8-A68A-CBC393645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0902" y="100717"/>
            <a:ext cx="7119398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125000"/>
              </a:lnSpc>
              <a:spcBef>
                <a:spcPct val="0"/>
              </a:spcBef>
              <a:buClr>
                <a:schemeClr val="hlink"/>
              </a:buClr>
            </a:pP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读文本文件中字符内容并显示</a:t>
            </a:r>
            <a:endParaRPr lang="en-US" altLang="zh-CN" sz="3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A249953-A469-4942-A217-661D30E319EF}"/>
              </a:ext>
            </a:extLst>
          </p:cNvPr>
          <p:cNvGrpSpPr/>
          <p:nvPr/>
        </p:nvGrpSpPr>
        <p:grpSpPr>
          <a:xfrm>
            <a:off x="714463" y="939933"/>
            <a:ext cx="10671985" cy="5209952"/>
            <a:chOff x="1264428" y="1152525"/>
            <a:chExt cx="6847285" cy="2795588"/>
          </a:xfrm>
        </p:grpSpPr>
        <p:sp>
          <p:nvSpPr>
            <p:cNvPr id="18" name="圆角矩形 7">
              <a:extLst>
                <a:ext uri="{FF2B5EF4-FFF2-40B4-BE49-F238E27FC236}">
                  <a16:creationId xmlns:a16="http://schemas.microsoft.com/office/drawing/2014/main" id="{09E697EE-219B-4A71-9302-AF76BC27D223}"/>
                </a:ext>
              </a:extLst>
            </p:cNvPr>
            <p:cNvSpPr/>
            <p:nvPr/>
          </p:nvSpPr>
          <p:spPr bwMode="auto">
            <a:xfrm>
              <a:off x="1264428" y="1152525"/>
              <a:ext cx="6847285" cy="2795588"/>
            </a:xfrm>
            <a:prstGeom prst="roundRect">
              <a:avLst>
                <a:gd name="adj" fmla="val 99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lnSpc>
                  <a:spcPct val="150000"/>
                </a:lnSpc>
                <a:defRPr/>
              </a:pPr>
              <a:endParaRPr lang="en-US" sz="1013"/>
            </a:p>
          </p:txBody>
        </p:sp>
        <p:sp>
          <p:nvSpPr>
            <p:cNvPr id="19" name="圆角矩形 8">
              <a:extLst>
                <a:ext uri="{FF2B5EF4-FFF2-40B4-BE49-F238E27FC236}">
                  <a16:creationId xmlns:a16="http://schemas.microsoft.com/office/drawing/2014/main" id="{3133F25E-C758-4E47-9DD9-E59C16ADDD8F}"/>
                </a:ext>
              </a:extLst>
            </p:cNvPr>
            <p:cNvSpPr/>
            <p:nvPr/>
          </p:nvSpPr>
          <p:spPr bwMode="auto">
            <a:xfrm>
              <a:off x="1473978" y="1362076"/>
              <a:ext cx="6428185" cy="2306241"/>
            </a:xfrm>
            <a:prstGeom prst="roundRect">
              <a:avLst>
                <a:gd name="adj" fmla="val 11474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lnSpc>
                  <a:spcPct val="150000"/>
                </a:lnSpc>
                <a:defRPr/>
              </a:pPr>
              <a:endParaRPr lang="en-US" sz="1013"/>
            </a:p>
          </p:txBody>
        </p:sp>
      </p:grpSp>
      <p:sp>
        <p:nvSpPr>
          <p:cNvPr id="20" name="矩形 1">
            <a:extLst>
              <a:ext uri="{FF2B5EF4-FFF2-40B4-BE49-F238E27FC236}">
                <a16:creationId xmlns:a16="http://schemas.microsoft.com/office/drawing/2014/main" id="{22DAFAEB-F085-4172-AF1D-9D68D94C4650}"/>
              </a:ext>
            </a:extLst>
          </p:cNvPr>
          <p:cNvSpPr/>
          <p:nvPr/>
        </p:nvSpPr>
        <p:spPr>
          <a:xfrm>
            <a:off x="715050" y="790570"/>
            <a:ext cx="1174112" cy="157163"/>
          </a:xfrm>
          <a:custGeom>
            <a:avLst/>
            <a:gdLst>
              <a:gd name="connsiteX0" fmla="*/ 0 w 1565482"/>
              <a:gd name="connsiteY0" fmla="*/ 0 h 247650"/>
              <a:gd name="connsiteX1" fmla="*/ 15654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  <a:gd name="connsiteX0" fmla="*/ 0 w 1565482"/>
              <a:gd name="connsiteY0" fmla="*/ 0 h 247650"/>
              <a:gd name="connsiteX1" fmla="*/ 12987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5482" h="247650">
                <a:moveTo>
                  <a:pt x="0" y="0"/>
                </a:moveTo>
                <a:lnTo>
                  <a:pt x="1298782" y="0"/>
                </a:lnTo>
                <a:lnTo>
                  <a:pt x="1565482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solidFill>
            <a:srgbClr val="9ED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21" name="矩形 2">
            <a:extLst>
              <a:ext uri="{FF2B5EF4-FFF2-40B4-BE49-F238E27FC236}">
                <a16:creationId xmlns:a16="http://schemas.microsoft.com/office/drawing/2014/main" id="{212FB927-3BD9-4D38-BF23-B4E04C51F504}"/>
              </a:ext>
            </a:extLst>
          </p:cNvPr>
          <p:cNvSpPr/>
          <p:nvPr/>
        </p:nvSpPr>
        <p:spPr>
          <a:xfrm>
            <a:off x="657609" y="797714"/>
            <a:ext cx="1028069" cy="771525"/>
          </a:xfrm>
          <a:custGeom>
            <a:avLst/>
            <a:gdLst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323133 w 1323133"/>
              <a:gd name="connsiteY2" fmla="*/ 1198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085008 w 1323133"/>
              <a:gd name="connsiteY2" fmla="*/ 817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47625 w 1370758"/>
              <a:gd name="connsiteY0" fmla="*/ 0 h 827194"/>
              <a:gd name="connsiteX1" fmla="*/ 1370758 w 1370758"/>
              <a:gd name="connsiteY1" fmla="*/ 0 h 827194"/>
              <a:gd name="connsiteX2" fmla="*/ 1132633 w 1370758"/>
              <a:gd name="connsiteY2" fmla="*/ 817669 h 827194"/>
              <a:gd name="connsiteX3" fmla="*/ 0 w 1370758"/>
              <a:gd name="connsiteY3" fmla="*/ 827194 h 827194"/>
              <a:gd name="connsiteX4" fmla="*/ 47625 w 1370758"/>
              <a:gd name="connsiteY4" fmla="*/ 0 h 827194"/>
              <a:gd name="connsiteX0" fmla="*/ 47625 w 1370758"/>
              <a:gd name="connsiteY0" fmla="*/ 0 h 836719"/>
              <a:gd name="connsiteX1" fmla="*/ 1370758 w 1370758"/>
              <a:gd name="connsiteY1" fmla="*/ 0 h 836719"/>
              <a:gd name="connsiteX2" fmla="*/ 875458 w 1370758"/>
              <a:gd name="connsiteY2" fmla="*/ 836719 h 836719"/>
              <a:gd name="connsiteX3" fmla="*/ 0 w 1370758"/>
              <a:gd name="connsiteY3" fmla="*/ 827194 h 836719"/>
              <a:gd name="connsiteX4" fmla="*/ 47625 w 1370758"/>
              <a:gd name="connsiteY4" fmla="*/ 0 h 836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0758" h="836719">
                <a:moveTo>
                  <a:pt x="47625" y="0"/>
                </a:moveTo>
                <a:lnTo>
                  <a:pt x="1370758" y="0"/>
                </a:lnTo>
                <a:lnTo>
                  <a:pt x="875458" y="836719"/>
                </a:lnTo>
                <a:lnTo>
                  <a:pt x="0" y="827194"/>
                </a:lnTo>
                <a:lnTo>
                  <a:pt x="47625" y="0"/>
                </a:lnTo>
                <a:close/>
              </a:path>
            </a:pathLst>
          </a:custGeom>
          <a:solidFill>
            <a:srgbClr val="FF92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52CCD85-8D0F-49EB-B3C2-54302362E2F9}"/>
              </a:ext>
            </a:extLst>
          </p:cNvPr>
          <p:cNvSpPr txBox="1"/>
          <p:nvPr/>
        </p:nvSpPr>
        <p:spPr>
          <a:xfrm>
            <a:off x="714465" y="92498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29EDAA-0F79-4DA5-9454-E061D9227995}"/>
              </a:ext>
            </a:extLst>
          </p:cNvPr>
          <p:cNvSpPr/>
          <p:nvPr/>
        </p:nvSpPr>
        <p:spPr>
          <a:xfrm>
            <a:off x="1685678" y="1528972"/>
            <a:ext cx="8415937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#include &lt;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stdio.h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&gt;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void main( )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{  FILE *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fp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char 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ch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3200" b="1" dirty="0" err="1">
                <a:solidFill>
                  <a:srgbClr val="FF33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fp</a:t>
            </a:r>
            <a:r>
              <a:rPr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3200" b="1" dirty="0" err="1">
                <a:solidFill>
                  <a:srgbClr val="FF33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fopen</a:t>
            </a:r>
            <a:r>
              <a:rPr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sz="3200" b="1" dirty="0" err="1">
                <a:solidFill>
                  <a:srgbClr val="FF33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test.txt","r</a:t>
            </a:r>
            <a:r>
              <a:rPr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");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r>
              <a:rPr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3200" b="1" dirty="0" err="1">
                <a:solidFill>
                  <a:srgbClr val="FF33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ch</a:t>
            </a:r>
            <a:r>
              <a:rPr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3200" b="1" dirty="0" err="1">
                <a:solidFill>
                  <a:srgbClr val="FF33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fgetc</a:t>
            </a:r>
            <a:r>
              <a:rPr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3200" b="1" dirty="0" err="1">
                <a:solidFill>
                  <a:srgbClr val="FF33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fp</a:t>
            </a:r>
            <a:r>
              <a:rPr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);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putchar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ch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);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3200" b="1" dirty="0" err="1">
                <a:solidFill>
                  <a:srgbClr val="FF33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fclose</a:t>
            </a:r>
            <a:r>
              <a:rPr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3200" b="1" dirty="0" err="1">
                <a:solidFill>
                  <a:srgbClr val="FF33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fp</a:t>
            </a:r>
            <a:r>
              <a:rPr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);    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}</a:t>
            </a:r>
            <a:endParaRPr lang="en-US" altLang="zh-CN" sz="3200" b="1" dirty="0">
              <a:latin typeface="Times New Roman" panose="02020603050405020304" pitchFamily="18" charset="0"/>
              <a:ea typeface="隶书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338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2195280" y="173419"/>
            <a:ext cx="6239272" cy="815104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algn="ctr">
              <a:spcBef>
                <a:spcPct val="0"/>
              </a:spcBef>
              <a:defRPr sz="440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zh-CN" altLang="en-US" sz="4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编译预处理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942207" y="1354138"/>
            <a:ext cx="2554288" cy="1514475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Aft>
                <a:spcPct val="50000"/>
              </a:spcAft>
            </a:pPr>
            <a:r>
              <a:rPr lang="en-US" altLang="zh-CN" sz="2400" dirty="0">
                <a:latin typeface="楷体_GB2312" pitchFamily="49" charset="-122"/>
              </a:rPr>
              <a:t>C</a:t>
            </a:r>
            <a:r>
              <a:rPr lang="zh-CN" altLang="en-US" sz="2400" dirty="0">
                <a:latin typeface="楷体_GB2312" pitchFamily="49" charset="-122"/>
              </a:rPr>
              <a:t>源程序</a:t>
            </a:r>
          </a:p>
          <a:p>
            <a:pPr eaLnBrk="1" hangingPunct="1"/>
            <a:endParaRPr lang="zh-CN" altLang="en-US" sz="2400" dirty="0">
              <a:latin typeface="楷体_GB2312" pitchFamily="49" charset="-122"/>
            </a:endParaRPr>
          </a:p>
          <a:p>
            <a:pPr eaLnBrk="1" hangingPunct="1"/>
            <a:endParaRPr lang="en-US" altLang="zh-CN" sz="2400" dirty="0">
              <a:latin typeface="楷体_GB2312" pitchFamily="49" charset="-122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798245" y="1427163"/>
            <a:ext cx="1690687" cy="922337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Aft>
                <a:spcPct val="50000"/>
              </a:spcAft>
            </a:pPr>
            <a:r>
              <a:rPr lang="zh-CN" altLang="en-US" sz="2400" dirty="0">
                <a:latin typeface="楷体_GB2312" pitchFamily="49" charset="-122"/>
              </a:rPr>
              <a:t>目标程序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9028807" y="1427163"/>
            <a:ext cx="1496888" cy="922337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Aft>
                <a:spcPct val="50000"/>
              </a:spcAft>
            </a:pPr>
            <a:r>
              <a:rPr lang="zh-CN" altLang="en-US" sz="2400">
                <a:latin typeface="楷体_GB2312" pitchFamily="49" charset="-122"/>
              </a:rPr>
              <a:t>执行程序</a:t>
            </a:r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4496495" y="1914525"/>
            <a:ext cx="131445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7488932" y="1887538"/>
            <a:ext cx="1547813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2088257" y="3902075"/>
            <a:ext cx="2159000" cy="923925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Aft>
                <a:spcPct val="50000"/>
              </a:spcAft>
            </a:pPr>
            <a:r>
              <a:rPr lang="zh-CN" altLang="en-US" sz="2400">
                <a:latin typeface="楷体_GB2312" pitchFamily="49" charset="-122"/>
              </a:rPr>
              <a:t>编译预处理</a:t>
            </a:r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3180457" y="2870200"/>
            <a:ext cx="0" cy="1038225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Group 20"/>
          <p:cNvGrpSpPr>
            <a:grpSpLocks/>
          </p:cNvGrpSpPr>
          <p:nvPr/>
        </p:nvGrpSpPr>
        <p:grpSpPr bwMode="auto">
          <a:xfrm>
            <a:off x="3180457" y="1887538"/>
            <a:ext cx="2011363" cy="3375025"/>
            <a:chOff x="1020" y="1090"/>
            <a:chExt cx="1267" cy="2126"/>
          </a:xfrm>
        </p:grpSpPr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1020" y="3199"/>
              <a:ext cx="1267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 flipV="1">
              <a:off x="2287" y="1090"/>
              <a:ext cx="0" cy="212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 flipV="1">
              <a:off x="1020" y="2942"/>
              <a:ext cx="0" cy="274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4650482" y="1389063"/>
            <a:ext cx="10064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楷体_GB2312" pitchFamily="49" charset="-122"/>
                <a:cs typeface="Times New Roman" pitchFamily="18" charset="0"/>
              </a:rPr>
              <a:t>编译</a:t>
            </a: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7717383" y="1353716"/>
            <a:ext cx="10064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楷体_GB2312" pitchFamily="49" charset="-122"/>
                <a:cs typeface="Times New Roman" pitchFamily="18" charset="0"/>
              </a:rPr>
              <a:t>链接</a:t>
            </a:r>
          </a:p>
        </p:txBody>
      </p:sp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2029520" y="1930400"/>
            <a:ext cx="23749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 dirty="0">
                <a:latin typeface="楷体_GB2312" pitchFamily="49" charset="-122"/>
              </a:rPr>
              <a:t>（无预处理命令）</a:t>
            </a:r>
          </a:p>
        </p:txBody>
      </p:sp>
      <p:sp>
        <p:nvSpPr>
          <p:cNvPr id="17" name="Rectangle 19"/>
          <p:cNvSpPr>
            <a:spLocks noChangeArrowheads="1"/>
          </p:cNvSpPr>
          <p:nvPr/>
        </p:nvSpPr>
        <p:spPr bwMode="auto">
          <a:xfrm>
            <a:off x="1879181" y="2362200"/>
            <a:ext cx="26597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 dirty="0">
                <a:latin typeface="楷体_GB2312" pitchFamily="49" charset="-122"/>
              </a:rPr>
              <a:t>（有预处理命令）</a:t>
            </a:r>
          </a:p>
        </p:txBody>
      </p:sp>
      <p:sp>
        <p:nvSpPr>
          <p:cNvPr id="18" name="Text Box 15"/>
          <p:cNvSpPr txBox="1">
            <a:spLocks noChangeArrowheads="1"/>
          </p:cNvSpPr>
          <p:nvPr/>
        </p:nvSpPr>
        <p:spPr bwMode="auto">
          <a:xfrm>
            <a:off x="3004911" y="5609411"/>
            <a:ext cx="626447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dirty="0"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ea typeface="方正姚体" panose="02010601030101010101" pitchFamily="2" charset="-122"/>
                <a:cs typeface="Times New Roman" panose="02020603050405020304" pitchFamily="18" charset="0"/>
              </a:rPr>
              <a:t>编译预处理的执行过程</a:t>
            </a:r>
          </a:p>
        </p:txBody>
      </p:sp>
    </p:spTree>
    <p:extLst>
      <p:ext uri="{BB962C8B-B14F-4D97-AF65-F5344CB8AC3E}">
        <p14:creationId xmlns:p14="http://schemas.microsoft.com/office/powerpoint/2010/main" val="42963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4" grpId="0"/>
      <p:bldP spid="15" grpId="0"/>
      <p:bldP spid="16" grpId="0"/>
      <p:bldP spid="17" grpId="0"/>
      <p:bldP spid="1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431367" y="999060"/>
            <a:ext cx="7991475" cy="5463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编译预处理命令有三种：</a:t>
            </a:r>
          </a:p>
          <a:p>
            <a:pPr lvl="2" algn="l" eaLnBrk="1" hangingPunct="1">
              <a:lnSpc>
                <a:spcPct val="150000"/>
              </a:lnSpc>
              <a:spcBef>
                <a:spcPts val="600"/>
              </a:spcBef>
              <a:buClr>
                <a:srgbClr val="FF3399"/>
              </a:buClr>
              <a:buBlip>
                <a:blip r:embed="rId2"/>
              </a:buBlip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文件包含</a:t>
            </a:r>
          </a:p>
          <a:p>
            <a:pPr lvl="2" algn="l" eaLnBrk="1" hangingPunct="1">
              <a:lnSpc>
                <a:spcPct val="150000"/>
              </a:lnSpc>
              <a:spcBef>
                <a:spcPts val="600"/>
              </a:spcBef>
              <a:buClr>
                <a:srgbClr val="FF3399"/>
              </a:buClr>
              <a:buFont typeface="Wingdings" pitchFamily="2" charset="2"/>
              <a:buBlip>
                <a:blip r:embed="rId2"/>
              </a:buBlip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宏定义</a:t>
            </a:r>
          </a:p>
          <a:p>
            <a:pPr lvl="3" algn="l" eaLnBrk="1" hangingPunct="1">
              <a:lnSpc>
                <a:spcPct val="150000"/>
              </a:lnSpc>
              <a:spcBef>
                <a:spcPts val="600"/>
              </a:spcBef>
              <a:buClr>
                <a:srgbClr val="FF3399"/>
              </a:buClr>
              <a:buFont typeface="Wingdings" pitchFamily="2" charset="2"/>
              <a:buBlip>
                <a:blip r:embed="rId3"/>
              </a:buBlip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 无参数宏定义</a:t>
            </a:r>
          </a:p>
          <a:p>
            <a:pPr lvl="3" algn="l" eaLnBrk="1" hangingPunct="1">
              <a:lnSpc>
                <a:spcPct val="150000"/>
              </a:lnSpc>
              <a:spcBef>
                <a:spcPts val="600"/>
              </a:spcBef>
              <a:buClr>
                <a:srgbClr val="FF3399"/>
              </a:buClr>
              <a:buFont typeface="Wingdings" pitchFamily="2" charset="2"/>
              <a:buBlip>
                <a:blip r:embed="rId3"/>
              </a:buBlip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 有参数宏定义</a:t>
            </a:r>
          </a:p>
          <a:p>
            <a:pPr lvl="2" algn="l" eaLnBrk="1" hangingPunct="1">
              <a:lnSpc>
                <a:spcPct val="150000"/>
              </a:lnSpc>
              <a:spcBef>
                <a:spcPts val="600"/>
              </a:spcBef>
              <a:buClr>
                <a:srgbClr val="FF3399"/>
              </a:buClr>
              <a:buFont typeface="Wingdings" pitchFamily="2" charset="2"/>
              <a:buBlip>
                <a:blip r:embed="rId2"/>
              </a:buBlip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条件编译  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195280" y="173419"/>
            <a:ext cx="6239272" cy="815104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algn="ctr">
              <a:spcBef>
                <a:spcPct val="0"/>
              </a:spcBef>
              <a:defRPr sz="440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zh-CN" altLang="en-US" sz="4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编 译 预 处 理</a:t>
            </a:r>
          </a:p>
        </p:txBody>
      </p:sp>
    </p:spTree>
    <p:extLst>
      <p:ext uri="{BB962C8B-B14F-4D97-AF65-F5344CB8AC3E}">
        <p14:creationId xmlns:p14="http://schemas.microsoft.com/office/powerpoint/2010/main" val="901021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323209" y="1003743"/>
            <a:ext cx="9665356" cy="435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200000"/>
              </a:lnSpc>
            </a:pPr>
            <a:r>
              <a:rPr lang="en-US" altLang="zh-CN" dirty="0">
                <a:ea typeface="方正姚体" panose="0201060103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dirty="0">
                <a:ea typeface="方正姚体" panose="02010601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ea typeface="方正姚体" panose="02010601030101010101" pitchFamily="2" charset="-122"/>
                <a:cs typeface="Times New Roman" panose="02020603050405020304" pitchFamily="18" charset="0"/>
              </a:rPr>
              <a:t>】 #include &lt;</a:t>
            </a:r>
            <a:r>
              <a:rPr lang="en-US" altLang="zh-CN" dirty="0" err="1">
                <a:ea typeface="方正姚体" panose="02010601030101010101" pitchFamily="2" charset="-122"/>
                <a:cs typeface="Times New Roman" panose="02020603050405020304" pitchFamily="18" charset="0"/>
              </a:rPr>
              <a:t>stdio.h</a:t>
            </a:r>
            <a:r>
              <a:rPr lang="en-US" altLang="zh-CN" dirty="0">
                <a:ea typeface="方正姚体" panose="02010601030101010101" pitchFamily="2" charset="-122"/>
                <a:cs typeface="Times New Roman" panose="02020603050405020304" pitchFamily="18" charset="0"/>
              </a:rPr>
              <a:t>&gt;</a:t>
            </a:r>
          </a:p>
          <a:p>
            <a:pPr algn="l" eaLnBrk="1" hangingPunct="1">
              <a:lnSpc>
                <a:spcPct val="200000"/>
              </a:lnSpc>
            </a:pPr>
            <a:r>
              <a:rPr lang="en-US" altLang="zh-CN">
                <a:ea typeface="方正姚体" panose="02010601030101010101" pitchFamily="2" charset="-122"/>
                <a:cs typeface="Times New Roman" panose="02020603050405020304" pitchFamily="18" charset="0"/>
              </a:rPr>
              <a:t>             void main</a:t>
            </a:r>
            <a:r>
              <a:rPr lang="en-US" altLang="zh-CN" dirty="0">
                <a:ea typeface="方正姚体" panose="02010601030101010101" pitchFamily="2" charset="-122"/>
                <a:cs typeface="Times New Roman" panose="02020603050405020304" pitchFamily="18" charset="0"/>
              </a:rPr>
              <a:t>(  )</a:t>
            </a:r>
          </a:p>
          <a:p>
            <a:pPr algn="l" eaLnBrk="1" hangingPunct="1">
              <a:lnSpc>
                <a:spcPct val="200000"/>
              </a:lnSpc>
            </a:pPr>
            <a:r>
              <a:rPr lang="en-US" altLang="zh-CN" dirty="0">
                <a:ea typeface="方正姚体" panose="02010601030101010101" pitchFamily="2" charset="-122"/>
                <a:cs typeface="Times New Roman" panose="02020603050405020304" pitchFamily="18" charset="0"/>
              </a:rPr>
              <a:t>               {    </a:t>
            </a:r>
            <a:r>
              <a:rPr lang="en-US" altLang="zh-CN" dirty="0" err="1">
                <a:ea typeface="方正姚体" panose="02010601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altLang="zh-CN" dirty="0">
                <a:ea typeface="方正姚体" panose="02010601030101010101" pitchFamily="2" charset="-122"/>
                <a:cs typeface="Times New Roman" panose="02020603050405020304" pitchFamily="18" charset="0"/>
              </a:rPr>
              <a:t>("This is a C program.\n");</a:t>
            </a:r>
          </a:p>
          <a:p>
            <a:pPr algn="l" eaLnBrk="1" hangingPunct="1">
              <a:lnSpc>
                <a:spcPct val="200000"/>
              </a:lnSpc>
            </a:pPr>
            <a:r>
              <a:rPr lang="en-US" altLang="zh-CN" dirty="0">
                <a:ea typeface="方正姚体" panose="02010601030101010101" pitchFamily="2" charset="-122"/>
                <a:cs typeface="Times New Roman" panose="02020603050405020304" pitchFamily="18" charset="0"/>
              </a:rPr>
              <a:t>               }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195280" y="173419"/>
            <a:ext cx="6239272" cy="815104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algn="ctr">
              <a:spcBef>
                <a:spcPct val="0"/>
              </a:spcBef>
              <a:defRPr sz="440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zh-CN" altLang="en-US" sz="4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编译预处理</a:t>
            </a:r>
            <a:r>
              <a:rPr lang="en-US" altLang="zh-CN" sz="4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lang="zh-CN" altLang="en-US" sz="40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文件包含</a:t>
            </a:r>
          </a:p>
        </p:txBody>
      </p:sp>
    </p:spTree>
    <p:extLst>
      <p:ext uri="{BB962C8B-B14F-4D97-AF65-F5344CB8AC3E}">
        <p14:creationId xmlns:p14="http://schemas.microsoft.com/office/powerpoint/2010/main" val="2654387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075724" y="1118348"/>
            <a:ext cx="9849780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无参数宏定义的格式为：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＃</a:t>
            </a:r>
            <a:r>
              <a:rPr lang="en-US" altLang="zh-CN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define    &lt;</a:t>
            </a:r>
            <a:r>
              <a:rPr lang="zh-CN" altLang="en-US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宏名</a:t>
            </a:r>
            <a:r>
              <a:rPr lang="en-US" altLang="zh-CN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&gt;    &lt;</a:t>
            </a:r>
            <a:r>
              <a:rPr lang="zh-CN" altLang="en-US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字符串</a:t>
            </a:r>
            <a:r>
              <a:rPr lang="en-US" altLang="zh-CN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&gt;</a:t>
            </a:r>
          </a:p>
          <a:p>
            <a:pPr algn="l" eaLnBrk="1" hangingPunct="1">
              <a:lnSpc>
                <a:spcPct val="150000"/>
              </a:lnSpc>
            </a:pPr>
            <a:r>
              <a:rPr lang="en-US" altLang="zh-CN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】</a:t>
            </a:r>
            <a:r>
              <a:rPr lang="zh-CN" altLang="en-US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编程序完成半径为</a:t>
            </a:r>
            <a:r>
              <a:rPr lang="en-US" altLang="zh-CN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4cm</a:t>
            </a:r>
            <a:r>
              <a:rPr lang="zh-CN" altLang="en-US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的圆面积的计算。</a:t>
            </a:r>
            <a:r>
              <a:rPr lang="en-US" altLang="zh-CN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          </a:t>
            </a:r>
          </a:p>
          <a:p>
            <a:pPr algn="l" eaLnBrk="1" hangingPunct="1">
              <a:lnSpc>
                <a:spcPct val="150000"/>
              </a:lnSpc>
            </a:pPr>
            <a:r>
              <a:rPr lang="en-US" altLang="zh-CN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        void  main( )</a:t>
            </a:r>
          </a:p>
          <a:p>
            <a:pPr algn="l" eaLnBrk="1" hangingPunct="1">
              <a:lnSpc>
                <a:spcPct val="150000"/>
              </a:lnSpc>
            </a:pPr>
            <a:r>
              <a:rPr lang="en-US" altLang="zh-CN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            {  float area; </a:t>
            </a:r>
          </a:p>
          <a:p>
            <a:pPr algn="l" eaLnBrk="1" hangingPunct="1">
              <a:lnSpc>
                <a:spcPct val="150000"/>
              </a:lnSpc>
            </a:pPr>
            <a:r>
              <a:rPr lang="en-US" altLang="zh-CN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               area=3.1415926*4*4;</a:t>
            </a:r>
          </a:p>
          <a:p>
            <a:pPr algn="l" eaLnBrk="1" hangingPunct="1">
              <a:lnSpc>
                <a:spcPct val="150000"/>
              </a:lnSpc>
            </a:pPr>
            <a:r>
              <a:rPr lang="en-US" altLang="zh-CN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               </a:t>
            </a:r>
            <a:r>
              <a:rPr lang="en-US" altLang="zh-CN" sz="3200" dirty="0" err="1">
                <a:ea typeface="方正姚体" panose="02010601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altLang="zh-CN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(“area=%.2f”,area);   }  </a:t>
            </a: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7688010" y="1118348"/>
            <a:ext cx="2158329" cy="965200"/>
          </a:xfrm>
          <a:prstGeom prst="wedgeRoundRectCallout">
            <a:avLst>
              <a:gd name="adj1" fmla="val -213593"/>
              <a:gd name="adj2" fmla="val 49273"/>
              <a:gd name="adj3" fmla="val 16667"/>
            </a:avLst>
          </a:prstGeom>
          <a:solidFill>
            <a:srgbClr val="FFC0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/>
          <a:lstStyle>
            <a:lvl1pPr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ea typeface="方正姚体" panose="02010601030101010101" pitchFamily="2" charset="-122"/>
                <a:cs typeface="Times New Roman" panose="02020603050405020304" pitchFamily="18" charset="0"/>
              </a:rPr>
              <a:t>宏名一般用大写字母表示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195280" y="173419"/>
            <a:ext cx="6239272" cy="815104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algn="ctr">
              <a:spcBef>
                <a:spcPct val="0"/>
              </a:spcBef>
              <a:defRPr sz="440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zh-CN" altLang="en-US" sz="4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编译预处理</a:t>
            </a:r>
            <a:r>
              <a:rPr lang="en-US" altLang="zh-CN" sz="4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lang="zh-CN" altLang="en-US" sz="40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宏定义</a:t>
            </a:r>
            <a:endParaRPr lang="zh-CN" altLang="en-US" sz="3200" b="1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169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611560" y="920676"/>
            <a:ext cx="10755378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zh-CN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】 #include&lt;</a:t>
            </a:r>
            <a:r>
              <a:rPr lang="en-US" altLang="zh-CN" sz="3200" dirty="0" err="1">
                <a:ea typeface="方正姚体" panose="02010601030101010101" pitchFamily="2" charset="-122"/>
                <a:cs typeface="Times New Roman" panose="02020603050405020304" pitchFamily="18" charset="0"/>
              </a:rPr>
              <a:t>stdio.h</a:t>
            </a:r>
            <a:r>
              <a:rPr lang="en-US" altLang="zh-CN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&gt;</a:t>
            </a:r>
            <a:endParaRPr lang="zh-CN" altLang="en-US" sz="3200" dirty="0"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pPr algn="l" eaLnBrk="1" hangingPunct="1">
              <a:lnSpc>
                <a:spcPct val="150000"/>
              </a:lnSpc>
            </a:pPr>
            <a:r>
              <a:rPr lang="zh-CN" altLang="en-US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en-US" altLang="zh-CN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#define  PI  3.1415926</a:t>
            </a:r>
          </a:p>
          <a:p>
            <a:pPr algn="l" eaLnBrk="1" hangingPunct="1">
              <a:lnSpc>
                <a:spcPct val="150000"/>
              </a:lnSpc>
            </a:pPr>
            <a:r>
              <a:rPr lang="en-US" altLang="zh-CN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             #define R 4.0</a:t>
            </a:r>
          </a:p>
          <a:p>
            <a:pPr algn="l" eaLnBrk="1" hangingPunct="1">
              <a:lnSpc>
                <a:spcPct val="150000"/>
              </a:lnSpc>
            </a:pPr>
            <a:r>
              <a:rPr lang="en-US" altLang="zh-CN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             void main( )</a:t>
            </a:r>
          </a:p>
          <a:p>
            <a:pPr algn="l" eaLnBrk="1" hangingPunct="1">
              <a:lnSpc>
                <a:spcPct val="150000"/>
              </a:lnSpc>
            </a:pPr>
            <a:r>
              <a:rPr lang="en-US" altLang="zh-CN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               {  float area; </a:t>
            </a:r>
          </a:p>
          <a:p>
            <a:pPr algn="l" eaLnBrk="1" hangingPunct="1">
              <a:lnSpc>
                <a:spcPct val="150000"/>
              </a:lnSpc>
            </a:pPr>
            <a:r>
              <a:rPr lang="en-US" altLang="zh-CN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                  area=PI*R*R;</a:t>
            </a:r>
          </a:p>
          <a:p>
            <a:pPr algn="l" eaLnBrk="1" hangingPunct="1">
              <a:lnSpc>
                <a:spcPct val="150000"/>
              </a:lnSpc>
            </a:pPr>
            <a:r>
              <a:rPr lang="en-US" altLang="zh-CN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                  </a:t>
            </a:r>
            <a:r>
              <a:rPr lang="en-US" altLang="zh-CN" sz="3200" dirty="0" err="1">
                <a:ea typeface="方正姚体" panose="02010601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altLang="zh-CN" sz="3200" dirty="0">
                <a:ea typeface="方正姚体" panose="02010601030101010101" pitchFamily="2" charset="-122"/>
                <a:cs typeface="Times New Roman" panose="02020603050405020304" pitchFamily="18" charset="0"/>
              </a:rPr>
              <a:t>(“area=%.2f”,area);            }  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195280" y="173419"/>
            <a:ext cx="6239272" cy="815104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algn="ctr">
              <a:spcBef>
                <a:spcPct val="0"/>
              </a:spcBef>
              <a:defRPr sz="440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zh-CN" altLang="en-US" sz="36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 用 宏 的 好 处</a:t>
            </a:r>
          </a:p>
        </p:txBody>
      </p:sp>
    </p:spTree>
    <p:extLst>
      <p:ext uri="{BB962C8B-B14F-4D97-AF65-F5344CB8AC3E}">
        <p14:creationId xmlns:p14="http://schemas.microsoft.com/office/powerpoint/2010/main" val="2732663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320840" y="234579"/>
            <a:ext cx="4992137" cy="1246859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algn="ctr">
              <a:spcBef>
                <a:spcPct val="0"/>
              </a:spcBef>
              <a:defRPr sz="440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l"/>
            <a:r>
              <a:rPr lang="zh-CN" altLang="en-US" sz="4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综合案例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918446" y="1481438"/>
            <a:ext cx="9744166" cy="4895828"/>
          </a:xfrm>
          <a:prstGeom prst="rect">
            <a:avLst/>
          </a:prstGeom>
          <a:solidFill>
            <a:schemeClr val="bg1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ACTIVITY "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动漫主题活动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Organization "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动漫社团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year,month,day,hour,minute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char choice;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FILE *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("\t1 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显示通知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\n\t2 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保存文件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\n");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请选择：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choice=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getchar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请输入活动时间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月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日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)\n");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("%d/%d/%d/%d/%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d",&amp;year,&amp;month,&amp;day,&amp;hour,&amp;minute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930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320842" y="336887"/>
            <a:ext cx="850232" cy="946485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algn="ctr">
              <a:spcBef>
                <a:spcPct val="0"/>
              </a:spcBef>
              <a:defRPr sz="440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l"/>
            <a:r>
              <a:rPr lang="zh-CN" altLang="en-US" sz="4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续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308845" y="57470"/>
            <a:ext cx="10642523" cy="6742488"/>
          </a:xfrm>
          <a:prstGeom prst="rect">
            <a:avLst/>
          </a:prstGeom>
          <a:solidFill>
            <a:schemeClr val="bg1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if(choice=='1')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 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关于《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%s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》的通知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n",ACTIVITY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   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兹定于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%4d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%02d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月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%02d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日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%02d:%02d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%s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开展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&lt;%s&gt;,\n",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year,month,day,hour,minute,Organization,ACTIVITY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特邀请您光临指导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.\n\n\t\t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此致敬礼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!\n\n");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("\t\t\t\t\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t%s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社团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\n\n\t\t\t\t\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t%d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/%d/%d\n\n",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ACTIVITY,year,month,day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  }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fopen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tongzhi.txt","w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,"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关于《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%s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》的通知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n",ACTIVITY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,"   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兹定于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%4d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%02d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月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%02d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日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%02d:%02d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%s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开展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&lt;%s&gt;,\n",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year,month,day,hour,minute,Organization,ACTIVITY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,"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特邀请您光临指导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.\n\n\t\t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此致敬礼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!\n\n");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,"\t\t\t\t\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t%s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社团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\n\n\t\t\t\t\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t%d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/%d/%d\n\n",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ACTIVITY,year,month,day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("\n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保存文件成功。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\n");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fclose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 }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0;    }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762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24590" y="1085614"/>
            <a:ext cx="3046742" cy="3376031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algn="ctr">
              <a:spcBef>
                <a:spcPct val="0"/>
              </a:spcBef>
              <a:defRPr sz="440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l"/>
            <a:r>
              <a:rPr lang="zh-CN" altLang="en-US" sz="4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综合案例</a:t>
            </a:r>
            <a:endParaRPr lang="en-US" altLang="zh-CN" sz="4800" b="1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l"/>
            <a:r>
              <a:rPr lang="zh-CN" altLang="en-US" sz="36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暂时不看</a:t>
            </a:r>
            <a:endParaRPr lang="en-US" altLang="zh-CN" sz="3600" b="1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l"/>
            <a:r>
              <a:rPr lang="zh-CN" altLang="en-US" sz="36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学完第</a:t>
            </a:r>
            <a:r>
              <a:rPr lang="en-US" altLang="zh-CN" sz="36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36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章再回来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961184" y="521642"/>
            <a:ext cx="9006226" cy="5819158"/>
          </a:xfrm>
          <a:prstGeom prst="rect">
            <a:avLst/>
          </a:prstGeom>
          <a:solidFill>
            <a:schemeClr val="bg1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just"/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#include&lt;</a:t>
            </a:r>
            <a:r>
              <a:rPr lang="en-US" altLang="zh-CN" sz="2400" b="1" kern="100" dirty="0" err="1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stdio.h</a:t>
            </a:r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&gt;                                                       </a:t>
            </a:r>
            <a:endParaRPr lang="zh-CN" altLang="zh-CN" sz="3600" b="1" kern="100" dirty="0">
              <a:solidFill>
                <a:srgbClr val="FF0000"/>
              </a:solidFill>
              <a:latin typeface="Times New Roman" pitchFamily="18" charset="0"/>
              <a:ea typeface="等线" panose="02010600030101010101" pitchFamily="2" charset="-122"/>
              <a:cs typeface="Times New Roman" pitchFamily="18" charset="0"/>
            </a:endParaRPr>
          </a:p>
          <a:p>
            <a:pPr algn="just"/>
            <a:r>
              <a:rPr lang="en-US" altLang="zh-CN" sz="2400" b="1" kern="100" dirty="0" err="1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int</a:t>
            </a:r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 main(  )</a:t>
            </a:r>
            <a:endParaRPr lang="zh-CN" altLang="zh-CN" sz="2400" b="1" kern="100" dirty="0">
              <a:latin typeface="Times New Roman" pitchFamily="18" charset="0"/>
              <a:ea typeface="等线" panose="02010600030101010101" pitchFamily="2" charset="-122"/>
              <a:cs typeface="Times New Roman" pitchFamily="18" charset="0"/>
            </a:endParaRPr>
          </a:p>
          <a:p>
            <a:pPr algn="just"/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{     float </a:t>
            </a:r>
            <a:r>
              <a:rPr lang="en-US" altLang="zh-CN" sz="2400" b="1" kern="100" dirty="0" err="1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comp_s,eng_s,maths_s,sum</a:t>
            </a:r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;</a:t>
            </a:r>
            <a:endParaRPr lang="zh-CN" altLang="zh-CN" sz="2400" b="1" kern="100" dirty="0">
              <a:latin typeface="Times New Roman" pitchFamily="18" charset="0"/>
              <a:ea typeface="等线" panose="02010600030101010101" pitchFamily="2" charset="-122"/>
              <a:cs typeface="Times New Roman" pitchFamily="18" charset="0"/>
            </a:endParaRPr>
          </a:p>
          <a:p>
            <a:pPr algn="just"/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      FILE *</a:t>
            </a:r>
            <a:r>
              <a:rPr lang="en-US" altLang="zh-CN" sz="2400" b="1" kern="100" dirty="0" err="1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fp</a:t>
            </a:r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;</a:t>
            </a:r>
            <a:endParaRPr lang="zh-CN" altLang="zh-CN" sz="2400" b="1" kern="100" dirty="0">
              <a:latin typeface="Times New Roman" pitchFamily="18" charset="0"/>
              <a:ea typeface="等线" panose="02010600030101010101" pitchFamily="2" charset="-122"/>
              <a:cs typeface="Times New Roman" pitchFamily="18" charset="0"/>
            </a:endParaRPr>
          </a:p>
          <a:p>
            <a:pPr algn="just"/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      </a:t>
            </a:r>
            <a:r>
              <a:rPr lang="en-US" altLang="zh-CN" sz="2400" b="1" kern="100" dirty="0" err="1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fp</a:t>
            </a:r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=</a:t>
            </a:r>
            <a:r>
              <a:rPr lang="en-US" altLang="zh-CN" sz="2400" b="1" kern="100" dirty="0" err="1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fopen</a:t>
            </a:r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("</a:t>
            </a:r>
            <a:r>
              <a:rPr lang="en-US" altLang="zh-CN" sz="2400" b="1" kern="100" dirty="0" err="1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list.txt","r</a:t>
            </a:r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");</a:t>
            </a:r>
            <a:endParaRPr lang="zh-CN" altLang="zh-CN" sz="2400" b="1" kern="100" dirty="0">
              <a:latin typeface="Times New Roman" pitchFamily="18" charset="0"/>
              <a:ea typeface="等线" panose="02010600030101010101" pitchFamily="2" charset="-122"/>
              <a:cs typeface="Times New Roman" pitchFamily="18" charset="0"/>
            </a:endParaRPr>
          </a:p>
          <a:p>
            <a:pPr algn="just"/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      </a:t>
            </a:r>
            <a:r>
              <a:rPr lang="en-US" altLang="zh-CN" sz="2400" b="1" kern="100" dirty="0" err="1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printf</a:t>
            </a:r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("\t\t\t</a:t>
            </a:r>
            <a:r>
              <a:rPr lang="zh-CN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成绩报表</a:t>
            </a:r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\t\n\n");</a:t>
            </a:r>
            <a:endParaRPr lang="zh-CN" altLang="zh-CN" sz="2400" b="1" kern="100" dirty="0">
              <a:latin typeface="Times New Roman" pitchFamily="18" charset="0"/>
              <a:ea typeface="等线" panose="02010600030101010101" pitchFamily="2" charset="-122"/>
              <a:cs typeface="Times New Roman" pitchFamily="18" charset="0"/>
            </a:endParaRPr>
          </a:p>
          <a:p>
            <a:pPr algn="just"/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      </a:t>
            </a:r>
            <a:r>
              <a:rPr lang="en-US" altLang="zh-CN" sz="2400" b="1" kern="100" dirty="0" err="1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printf</a:t>
            </a:r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(" |      </a:t>
            </a:r>
            <a:r>
              <a:rPr lang="zh-CN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计算机</a:t>
            </a:r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|        </a:t>
            </a:r>
            <a:r>
              <a:rPr lang="zh-CN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英语</a:t>
            </a:r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|        </a:t>
            </a:r>
            <a:r>
              <a:rPr lang="zh-CN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高数</a:t>
            </a:r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|       </a:t>
            </a:r>
            <a:r>
              <a:rPr lang="zh-CN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总分</a:t>
            </a:r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|\n");</a:t>
            </a:r>
            <a:endParaRPr lang="zh-CN" altLang="zh-CN" sz="2400" b="1" kern="100" dirty="0">
              <a:latin typeface="Times New Roman" pitchFamily="18" charset="0"/>
              <a:ea typeface="等线" panose="02010600030101010101" pitchFamily="2" charset="-122"/>
              <a:cs typeface="Times New Roman" pitchFamily="18" charset="0"/>
            </a:endParaRPr>
          </a:p>
          <a:p>
            <a:pPr algn="just"/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      </a:t>
            </a:r>
            <a:r>
              <a:rPr lang="en-US" altLang="zh-CN" sz="2400" b="1" kern="100" dirty="0" err="1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printf</a:t>
            </a:r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("     ------------------------------------------------\n");</a:t>
            </a:r>
            <a:endParaRPr lang="zh-CN" altLang="zh-CN" sz="2400" b="1" kern="100" dirty="0">
              <a:latin typeface="Times New Roman" pitchFamily="18" charset="0"/>
              <a:ea typeface="等线" panose="02010600030101010101" pitchFamily="2" charset="-122"/>
              <a:cs typeface="Times New Roman" pitchFamily="18" charset="0"/>
            </a:endParaRPr>
          </a:p>
          <a:p>
            <a:pPr algn="just"/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     while(</a:t>
            </a:r>
            <a:r>
              <a:rPr lang="en-US" altLang="zh-CN" sz="2400" b="1" kern="100" dirty="0" err="1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fscanf</a:t>
            </a:r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(</a:t>
            </a:r>
            <a:r>
              <a:rPr lang="en-US" altLang="zh-CN" sz="2400" b="1" kern="100" dirty="0" err="1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fp</a:t>
            </a:r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,"%f,%f,%f",&amp;comp_s,&amp;eng_s,&amp;</a:t>
            </a:r>
            <a:r>
              <a:rPr lang="en-US" altLang="zh-CN" sz="2400" b="1" kern="100" dirty="0" err="1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maths_s</a:t>
            </a:r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)!=-1)</a:t>
            </a:r>
            <a:endParaRPr lang="zh-CN" altLang="zh-CN" sz="2400" b="1" kern="100" dirty="0">
              <a:latin typeface="Times New Roman" pitchFamily="18" charset="0"/>
              <a:ea typeface="等线" panose="02010600030101010101" pitchFamily="2" charset="-122"/>
              <a:cs typeface="Times New Roman" pitchFamily="18" charset="0"/>
            </a:endParaRPr>
          </a:p>
          <a:p>
            <a:pPr algn="just"/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      {   sum=</a:t>
            </a:r>
            <a:r>
              <a:rPr lang="en-US" altLang="zh-CN" sz="2400" b="1" kern="100" dirty="0" err="1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comp_s+eng_s+maths_s</a:t>
            </a:r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;</a:t>
            </a:r>
            <a:endParaRPr lang="zh-CN" altLang="zh-CN" sz="2400" b="1" kern="100" dirty="0">
              <a:latin typeface="Times New Roman" pitchFamily="18" charset="0"/>
              <a:ea typeface="等线" panose="02010600030101010101" pitchFamily="2" charset="-122"/>
              <a:cs typeface="Times New Roman" pitchFamily="18" charset="0"/>
            </a:endParaRPr>
          </a:p>
          <a:p>
            <a:pPr algn="just"/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           </a:t>
            </a:r>
            <a:r>
              <a:rPr lang="en-US" altLang="zh-CN" sz="2400" b="1" kern="100" dirty="0" err="1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printf</a:t>
            </a:r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(" |%12.1f|%12.1f|%12.1f|%12.1f\n",</a:t>
            </a:r>
            <a:r>
              <a:rPr lang="en-US" altLang="zh-CN" sz="2400" b="1" kern="100" dirty="0" err="1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comp_s,eng_s,maths_s,sum</a:t>
            </a:r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);</a:t>
            </a:r>
            <a:endParaRPr lang="zh-CN" altLang="zh-CN" sz="2400" b="1" kern="100" dirty="0">
              <a:latin typeface="Times New Roman" pitchFamily="18" charset="0"/>
              <a:ea typeface="等线" panose="02010600030101010101" pitchFamily="2" charset="-122"/>
              <a:cs typeface="Times New Roman" pitchFamily="18" charset="0"/>
            </a:endParaRPr>
          </a:p>
          <a:p>
            <a:pPr algn="just"/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           </a:t>
            </a:r>
            <a:r>
              <a:rPr lang="en-US" altLang="zh-CN" sz="2400" b="1" kern="100" dirty="0" err="1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printf</a:t>
            </a:r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("     ---------------------------------------------\n");     }</a:t>
            </a:r>
            <a:endParaRPr lang="zh-CN" altLang="zh-CN" sz="2400" b="1" kern="100" dirty="0">
              <a:latin typeface="Times New Roman" pitchFamily="18" charset="0"/>
              <a:ea typeface="等线" panose="02010600030101010101" pitchFamily="2" charset="-122"/>
              <a:cs typeface="Times New Roman" pitchFamily="18" charset="0"/>
            </a:endParaRPr>
          </a:p>
          <a:p>
            <a:pPr algn="just"/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     </a:t>
            </a:r>
            <a:r>
              <a:rPr lang="en-US" altLang="zh-CN" sz="2400" b="1" kern="100" dirty="0" err="1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fclose</a:t>
            </a:r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(</a:t>
            </a:r>
            <a:r>
              <a:rPr lang="en-US" altLang="zh-CN" sz="2400" b="1" kern="100" dirty="0" err="1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fp</a:t>
            </a:r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);</a:t>
            </a:r>
            <a:endParaRPr lang="zh-CN" altLang="zh-CN" sz="2400" b="1" kern="100" dirty="0">
              <a:latin typeface="Times New Roman" pitchFamily="18" charset="0"/>
              <a:ea typeface="等线" panose="02010600030101010101" pitchFamily="2" charset="-122"/>
              <a:cs typeface="Times New Roman" pitchFamily="18" charset="0"/>
            </a:endParaRPr>
          </a:p>
          <a:p>
            <a:pPr algn="just"/>
            <a:r>
              <a:rPr lang="en-US" altLang="zh-CN" sz="2400" b="1" kern="100" dirty="0"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     return 0;     }</a:t>
            </a:r>
            <a:endParaRPr lang="zh-CN" altLang="zh-CN" sz="2400" b="1" kern="100" dirty="0">
              <a:latin typeface="Times New Roman" pitchFamily="18" charset="0"/>
              <a:ea typeface="等线" panose="02010600030101010101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469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989</TotalTime>
  <Words>2310</Words>
  <Application>Microsoft Office PowerPoint</Application>
  <PresentationFormat>宽屏</PresentationFormat>
  <Paragraphs>362</Paragraphs>
  <Slides>35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1" baseType="lpstr">
      <vt:lpstr>等线</vt:lpstr>
      <vt:lpstr>等线 Light</vt:lpstr>
      <vt:lpstr>方正姚体</vt:lpstr>
      <vt:lpstr>黑体</vt:lpstr>
      <vt:lpstr>华文隶书</vt:lpstr>
      <vt:lpstr>楷体_GB2312</vt:lpstr>
      <vt:lpstr>隶书</vt:lpstr>
      <vt:lpstr>宋体</vt:lpstr>
      <vt:lpstr>微软雅黑</vt:lpstr>
      <vt:lpstr>Arial</vt:lpstr>
      <vt:lpstr>Bodoni MT Black</vt:lpstr>
      <vt:lpstr>Symbol</vt:lpstr>
      <vt:lpstr>Times New Roman</vt:lpstr>
      <vt:lpstr>Wingdings</vt:lpstr>
      <vt:lpstr>Wingdings 3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标准格式输出函数——printf( 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字符数据的输出——putchar(  )</vt:lpstr>
      <vt:lpstr>PowerPoint 演示文稿</vt:lpstr>
      <vt:lpstr>字符数据的输入——getchar(  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hxj</dc:creator>
  <cp:lastModifiedBy>2216184931@qq.com</cp:lastModifiedBy>
  <cp:revision>90</cp:revision>
  <dcterms:created xsi:type="dcterms:W3CDTF">2017-07-17T05:18:09Z</dcterms:created>
  <dcterms:modified xsi:type="dcterms:W3CDTF">2024-09-13T23:44:11Z</dcterms:modified>
</cp:coreProperties>
</file>