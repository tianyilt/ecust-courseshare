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</p:sldMasterIdLst>
  <p:notesMasterIdLst>
    <p:notesMasterId r:id="rId19"/>
  </p:notesMasterIdLst>
  <p:sldIdLst>
    <p:sldId id="1016" r:id="rId2"/>
    <p:sldId id="660" r:id="rId3"/>
    <p:sldId id="1012" r:id="rId4"/>
    <p:sldId id="661" r:id="rId5"/>
    <p:sldId id="662" r:id="rId6"/>
    <p:sldId id="835" r:id="rId7"/>
    <p:sldId id="1011" r:id="rId8"/>
    <p:sldId id="1010" r:id="rId9"/>
    <p:sldId id="594" r:id="rId10"/>
    <p:sldId id="951" r:id="rId11"/>
    <p:sldId id="595" r:id="rId12"/>
    <p:sldId id="596" r:id="rId13"/>
    <p:sldId id="638" r:id="rId14"/>
    <p:sldId id="888" r:id="rId15"/>
    <p:sldId id="1018" r:id="rId16"/>
    <p:sldId id="820" r:id="rId17"/>
    <p:sldId id="646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99"/>
    <a:srgbClr val="FFCC00"/>
    <a:srgbClr val="D92517"/>
    <a:srgbClr val="FFFF99"/>
    <a:srgbClr val="000404"/>
    <a:srgbClr val="9904E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3" autoAdjust="0"/>
    <p:restoredTop sz="93003" autoAdjust="0"/>
  </p:normalViewPr>
  <p:slideViewPr>
    <p:cSldViewPr>
      <p:cViewPr varScale="1">
        <p:scale>
          <a:sx n="81" d="100"/>
          <a:sy n="81" d="100"/>
        </p:scale>
        <p:origin x="159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0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2" name="Rectangle 2">
            <a:extLst>
              <a:ext uri="{FF2B5EF4-FFF2-40B4-BE49-F238E27FC236}">
                <a16:creationId xmlns:a16="http://schemas.microsoft.com/office/drawing/2014/main" id="{373E1C6A-3748-4AE1-9092-A85FA366CD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CDF73786-6ECB-4D2E-B069-003CC525D32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FontTx/>
              <a:buNone/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6485" name="Rectangle 5">
            <a:extLst>
              <a:ext uri="{FF2B5EF4-FFF2-40B4-BE49-F238E27FC236}">
                <a16:creationId xmlns:a16="http://schemas.microsoft.com/office/drawing/2014/main" id="{D9EF95D6-DECC-444B-8EB6-172DABB24E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16486" name="Rectangle 6">
            <a:extLst>
              <a:ext uri="{FF2B5EF4-FFF2-40B4-BE49-F238E27FC236}">
                <a16:creationId xmlns:a16="http://schemas.microsoft.com/office/drawing/2014/main" id="{137EDD5C-5B03-4BEB-A38F-E229FCFF3A3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6487" name="Rectangle 7">
            <a:extLst>
              <a:ext uri="{FF2B5EF4-FFF2-40B4-BE49-F238E27FC236}">
                <a16:creationId xmlns:a16="http://schemas.microsoft.com/office/drawing/2014/main" id="{F3C8DB31-A193-4FD4-9CFF-6C3476C8FE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48DCB5C-770C-41E3-8340-10263F1051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zh-CN" altLang="en-US" smtClean="0"/>
              <a:t>周二</a:t>
            </a:r>
            <a:r>
              <a:rPr lang="en-US" altLang="zh-CN" smtClean="0"/>
              <a:t>12</a:t>
            </a: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87F6CB-D8B7-4493-A5DC-3D5BACBAFB59}" type="slidenum">
              <a:rPr lang="en-US" altLang="zh-CN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121FFE-1DC3-435A-A597-B5C620A64CCC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112FE-3E83-45D6-A94E-8FF2EF5701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1913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18816-863D-4D59-B74E-5D972E6AC356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4A4FA-45B9-4A25-BE08-BCBDD3DE6B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927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36479-ECD0-46ED-BB40-AF441206B6DF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797F2-2793-4B3E-9727-F6CC66BDFB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01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977C4-BEBF-476D-9145-3BBB2376F55A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080CD-662F-4D1E-9F26-1D3D964D3C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95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95D7E-6A6B-432A-9309-5816919BCA3F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D6DC5-5F2D-460C-8629-81B8B96F74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1E2B31-4B74-45BB-9E41-EA6F2D525C4A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CE790-6DFC-4C0F-83BE-CA1402631C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89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C4FEF-DF52-4386-B425-13A11668468C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3D385-DDFD-4718-BAFD-17C2A26254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587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0B7F8D-7B81-4DB5-B039-01F75F6C2F81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7A7A-3367-4DEA-9EC5-5F5B5FC9A9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090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95CB5B-7728-4EFD-9A1D-A851184F645B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85176-66DA-4CB8-B46A-6C6F096AC5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911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C8370-F841-42E7-8E2B-4B1BFC34304D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B6455-356A-4AED-B5C8-0B7091AFAF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698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B27FD-28CB-438E-BBB4-3C3BBF5068B8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244C5-93FF-4F81-BEEA-0F8DCAAEBD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45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4294967295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802820" name="Rectangle 4">
            <a:extLst>
              <a:ext uri="{FF2B5EF4-FFF2-40B4-BE49-F238E27FC236}">
                <a16:creationId xmlns:a16="http://schemas.microsoft.com/office/drawing/2014/main" id="{B57056EC-B898-4E85-84E0-004E39E688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2425" y="6478588"/>
            <a:ext cx="2289175" cy="268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buFontTx/>
              <a:buNone/>
              <a:defRPr kumimoji="0" sz="1400">
                <a:solidFill>
                  <a:srgbClr val="0033CC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3FA7B5E-AB16-46DE-9A8D-334BB7DFE628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802821" name="Rectangle 5">
            <a:extLst>
              <a:ext uri="{FF2B5EF4-FFF2-40B4-BE49-F238E27FC236}">
                <a16:creationId xmlns:a16="http://schemas.microsoft.com/office/drawing/2014/main" id="{6EA4DA7D-81FA-478A-83E4-B502943318E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buFontTx/>
              <a:buNone/>
              <a:defRPr kumimoji="0" sz="1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2822" name="Rectangle 6">
            <a:extLst>
              <a:ext uri="{FF2B5EF4-FFF2-40B4-BE49-F238E27FC236}">
                <a16:creationId xmlns:a16="http://schemas.microsoft.com/office/drawing/2014/main" id="{887ACC39-E1EA-4CDD-A3B4-013F82095F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Font typeface="Arial" panose="020B0604020202020204" pitchFamily="34" charset="0"/>
              <a:buNone/>
              <a:defRPr sz="1400" b="0" smtClean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2F9813A-B8D5-44D1-811B-5E9A40C2B7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02823" name="Text Box 7">
            <a:extLst>
              <a:ext uri="{FF2B5EF4-FFF2-40B4-BE49-F238E27FC236}">
                <a16:creationId xmlns:a16="http://schemas.microsoft.com/office/drawing/2014/main" id="{4F827605-76B3-4C21-817C-C5F989C89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0" y="6416675"/>
            <a:ext cx="2663825" cy="3968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00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隶书" panose="02010509060101010101" pitchFamily="49" charset="-122"/>
                <a:cs typeface="宋体" panose="02010600030101010101" pitchFamily="2" charset="-122"/>
              </a:rPr>
              <a:t>华东理工大学出版社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600" smtClean="0">
                <a:latin typeface="方正姚体" panose="02010601030101010101" pitchFamily="2" charset="-122"/>
                <a:ea typeface="方正姚体" panose="02010601030101010101" pitchFamily="2" charset="-122"/>
              </a:rPr>
              <a:t>指针数组和数组指针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EB2C83-1F4A-4E97-A587-E93F882472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FB5E327-1020-4EED-8749-E21132A6C178}" type="datetime1">
              <a:rPr lang="zh-CN" altLang="en-US" smtClean="0"/>
              <a:pPr>
                <a:defRPr/>
              </a:pPr>
              <a:t>2025/12/26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>
            <a:extLst>
              <a:ext uri="{FF2B5EF4-FFF2-40B4-BE49-F238E27FC236}">
                <a16:creationId xmlns:a16="http://schemas.microsoft.com/office/drawing/2014/main" id="{F5A2B0EC-4E1C-4FAB-9CC2-24B337C1B65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6B5A6CE-A4B2-4E0F-BE98-342C9766288B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446466" name="Text Box 2"/>
          <p:cNvSpPr txBox="1">
            <a:spLocks noChangeArrowheads="1"/>
          </p:cNvSpPr>
          <p:nvPr/>
        </p:nvSpPr>
        <p:spPr bwMode="auto">
          <a:xfrm>
            <a:off x="368300" y="277813"/>
            <a:ext cx="78755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一维数组名为一级指针常量，直接指向变量； </a:t>
            </a:r>
          </a:p>
        </p:txBody>
      </p:sp>
      <p:sp>
        <p:nvSpPr>
          <p:cNvPr id="738306" name="Text Box 2"/>
          <p:cNvSpPr txBox="1">
            <a:spLocks noChangeArrowheads="1"/>
          </p:cNvSpPr>
          <p:nvPr/>
        </p:nvSpPr>
        <p:spPr bwMode="auto">
          <a:xfrm>
            <a:off x="368300" y="1268413"/>
            <a:ext cx="8243888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D92517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二维数组的数组名是个二级指针，当将其作为一维数组使用时，达到了行指针的目的，比如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int a[2][3]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，那么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a[0]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就是第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行的首地址，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a[1]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就是第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行的首地址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……</a:t>
            </a:r>
            <a:endParaRPr lang="zh-CN" altLang="en-US" sz="2800">
              <a:solidFill>
                <a:srgbClr val="000000"/>
              </a:solidFill>
              <a:latin typeface="Times New Roman" panose="02020603050405020304" pitchFamily="18" charset="0"/>
              <a:ea typeface="方正姚体" panose="02010601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8307" name="Text Box 3"/>
          <p:cNvSpPr txBox="1">
            <a:spLocks noChangeArrowheads="1"/>
          </p:cNvSpPr>
          <p:nvPr/>
        </p:nvSpPr>
        <p:spPr bwMode="auto">
          <a:xfrm>
            <a:off x="411163" y="4149725"/>
            <a:ext cx="81597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D92517"/>
              </a:buClr>
              <a:buSzTx/>
              <a:buFont typeface="Wingdings" panose="05000000000000000000" pitchFamily="2" charset="2"/>
              <a:buChar char="Ø"/>
            </a:pP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数组指针（指向一维数组的指针变量）也可以达到行指针相同的移动效果；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6" grpId="0"/>
      <p:bldP spid="738306" grpId="0"/>
      <p:bldP spid="73830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>
            <a:extLst>
              <a:ext uri="{FF2B5EF4-FFF2-40B4-BE49-F238E27FC236}">
                <a16:creationId xmlns:a16="http://schemas.microsoft.com/office/drawing/2014/main" id="{98258880-A6FD-49B3-943D-F261B0D19A2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xfrm>
            <a:off x="85725" y="6524625"/>
            <a:ext cx="2289175" cy="268288"/>
          </a:xfrm>
        </p:spPr>
        <p:txBody>
          <a:bodyPr/>
          <a:lstStyle/>
          <a:p>
            <a:pPr>
              <a:defRPr/>
            </a:pPr>
            <a:fld id="{639AC3E7-F333-4D26-8E14-9570D9D6AA4B}" type="datetime1">
              <a:rPr lang="zh-CN" altLang="en-US"/>
              <a:pPr>
                <a:defRPr/>
              </a:pPr>
              <a:t>2025/12/26</a:t>
            </a:fld>
            <a:endParaRPr lang="en-US" altLang="zh-CN" dirty="0"/>
          </a:p>
        </p:txBody>
      </p:sp>
      <p:sp>
        <p:nvSpPr>
          <p:cNvPr id="633858" name="Text Box 1026"/>
          <p:cNvSpPr txBox="1">
            <a:spLocks noChangeArrowheads="1"/>
          </p:cNvSpPr>
          <p:nvPr/>
        </p:nvSpPr>
        <p:spPr bwMode="auto">
          <a:xfrm>
            <a:off x="107950" y="260350"/>
            <a:ext cx="88931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  指针数组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数组的每一个下标变量都是一个指针变量，字符型指针数组的定义形式为：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char *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数组名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长度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]</a:t>
            </a:r>
          </a:p>
        </p:txBody>
      </p:sp>
      <p:sp>
        <p:nvSpPr>
          <p:cNvPr id="633911" name="AutoShape 1079"/>
          <p:cNvSpPr>
            <a:spLocks noChangeArrowheads="1"/>
          </p:cNvSpPr>
          <p:nvPr/>
        </p:nvSpPr>
        <p:spPr bwMode="auto">
          <a:xfrm>
            <a:off x="179388" y="3284538"/>
            <a:ext cx="6696075" cy="649287"/>
          </a:xfrm>
          <a:prstGeom prst="wedgeRectCallout">
            <a:avLst>
              <a:gd name="adj1" fmla="val 7829"/>
              <a:gd name="adj2" fmla="val -186273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区别于</a:t>
            </a:r>
            <a:r>
              <a:rPr lang="zh-CN" altLang="en-US" sz="160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数组指针</a:t>
            </a:r>
            <a:r>
              <a:rPr lang="zh-CN" altLang="en-US" sz="1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（指向数组元素的指针变量）：</a:t>
            </a:r>
            <a:r>
              <a:rPr lang="en-US" altLang="zh-CN" sz="1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char </a:t>
            </a:r>
            <a:r>
              <a:rPr lang="zh-CN" altLang="en-US" sz="1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（*指针名）</a:t>
            </a:r>
            <a:r>
              <a:rPr lang="en-US" altLang="zh-CN" sz="1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[N]</a:t>
            </a:r>
          </a:p>
        </p:txBody>
      </p:sp>
      <p:sp>
        <p:nvSpPr>
          <p:cNvPr id="633912" name="AutoShape 1080"/>
          <p:cNvSpPr>
            <a:spLocks noChangeArrowheads="1"/>
          </p:cNvSpPr>
          <p:nvPr/>
        </p:nvSpPr>
        <p:spPr bwMode="auto">
          <a:xfrm>
            <a:off x="7164388" y="2924175"/>
            <a:ext cx="1836737" cy="1079500"/>
          </a:xfrm>
          <a:prstGeom prst="wedgeRectCallout">
            <a:avLst>
              <a:gd name="adj1" fmla="val -115745"/>
              <a:gd name="adj2" fmla="val -93088"/>
            </a:avLst>
          </a:prstGeom>
          <a:solidFill>
            <a:srgbClr val="FFFF99"/>
          </a:solidFill>
          <a:ln w="38100">
            <a:solidFill>
              <a:srgbClr val="FF00FF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[ ]</a:t>
            </a:r>
            <a:r>
              <a:rPr lang="zh-CN" altLang="en-US" sz="24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优先次序高于*</a:t>
            </a:r>
          </a:p>
        </p:txBody>
      </p:sp>
      <p:graphicFrame>
        <p:nvGraphicFramePr>
          <p:cNvPr id="6" name="Group 118">
            <a:extLst>
              <a:ext uri="{FF2B5EF4-FFF2-40B4-BE49-F238E27FC236}">
                <a16:creationId xmlns:a16="http://schemas.microsoft.com/office/drawing/2014/main" id="{F88106A0-F329-4F79-B79F-C2D650CF6B83}"/>
              </a:ext>
            </a:extLst>
          </p:cNvPr>
          <p:cNvGraphicFramePr>
            <a:graphicFrameLocks noGrp="1"/>
          </p:cNvGraphicFramePr>
          <p:nvPr/>
        </p:nvGraphicFramePr>
        <p:xfrm>
          <a:off x="112713" y="4875213"/>
          <a:ext cx="8974137" cy="822325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021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386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527" marB="455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527" marB="455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Box 101"/>
          <p:cNvSpPr txBox="1">
            <a:spLocks noChangeArrowheads="1"/>
          </p:cNvSpPr>
          <p:nvPr/>
        </p:nvSpPr>
        <p:spPr bwMode="auto">
          <a:xfrm>
            <a:off x="160338" y="5981700"/>
            <a:ext cx="1819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state[0]</a:t>
            </a:r>
          </a:p>
        </p:txBody>
      </p:sp>
      <p:sp>
        <p:nvSpPr>
          <p:cNvPr id="8" name="Text Box 102"/>
          <p:cNvSpPr txBox="1">
            <a:spLocks noChangeArrowheads="1"/>
          </p:cNvSpPr>
          <p:nvPr/>
        </p:nvSpPr>
        <p:spPr bwMode="auto">
          <a:xfrm>
            <a:off x="2374900" y="5981700"/>
            <a:ext cx="1765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state[1]</a:t>
            </a:r>
          </a:p>
        </p:txBody>
      </p:sp>
      <p:sp>
        <p:nvSpPr>
          <p:cNvPr id="9" name="Text Box 103"/>
          <p:cNvSpPr txBox="1">
            <a:spLocks noChangeArrowheads="1"/>
          </p:cNvSpPr>
          <p:nvPr/>
        </p:nvSpPr>
        <p:spPr bwMode="auto">
          <a:xfrm>
            <a:off x="6126163" y="5981700"/>
            <a:ext cx="1758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state[2]</a:t>
            </a:r>
          </a:p>
        </p:txBody>
      </p:sp>
      <p:sp>
        <p:nvSpPr>
          <p:cNvPr id="10" name="Line 104"/>
          <p:cNvSpPr>
            <a:spLocks noChangeShapeType="1"/>
          </p:cNvSpPr>
          <p:nvPr/>
        </p:nvSpPr>
        <p:spPr bwMode="auto">
          <a:xfrm flipH="1" flipV="1">
            <a:off x="317500" y="5332413"/>
            <a:ext cx="76200" cy="762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05"/>
          <p:cNvSpPr>
            <a:spLocks noChangeShapeType="1"/>
          </p:cNvSpPr>
          <p:nvPr/>
        </p:nvSpPr>
        <p:spPr bwMode="auto">
          <a:xfrm flipV="1">
            <a:off x="2908300" y="5332413"/>
            <a:ext cx="0" cy="762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06"/>
          <p:cNvSpPr>
            <a:spLocks noChangeShapeType="1"/>
          </p:cNvSpPr>
          <p:nvPr/>
        </p:nvSpPr>
        <p:spPr bwMode="auto">
          <a:xfrm flipV="1">
            <a:off x="6718300" y="5332413"/>
            <a:ext cx="0" cy="76200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Rectangle 107"/>
          <p:cNvSpPr>
            <a:spLocks noChangeArrowheads="1"/>
          </p:cNvSpPr>
          <p:nvPr/>
        </p:nvSpPr>
        <p:spPr bwMode="auto">
          <a:xfrm>
            <a:off x="682625" y="4319588"/>
            <a:ext cx="79216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】char *state[3]={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China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American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zh-CN" altLang="en-US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， </a:t>
            </a: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Japan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sz="20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3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3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33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33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912" grpId="0" animBg="1"/>
      <p:bldP spid="7" grpId="0"/>
      <p:bldP spid="8" grpId="0"/>
      <p:bldP spid="9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>
            <a:extLst>
              <a:ext uri="{FF2B5EF4-FFF2-40B4-BE49-F238E27FC236}">
                <a16:creationId xmlns:a16="http://schemas.microsoft.com/office/drawing/2014/main" id="{CFD0C23F-1153-4995-9188-C4308B45DB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CC6038-DFEC-4A79-B6BD-F1B527C1F3DC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468313" y="406400"/>
            <a:ext cx="82804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数组指针定义形式为：</a:t>
            </a:r>
          </a:p>
          <a:p>
            <a:pPr algn="ctr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数据类型     （*指针名）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[N]</a:t>
            </a:r>
          </a:p>
        </p:txBody>
      </p:sp>
      <p:sp>
        <p:nvSpPr>
          <p:cNvPr id="447491" name="AutoShape 3"/>
          <p:cNvSpPr>
            <a:spLocks noChangeArrowheads="1"/>
          </p:cNvSpPr>
          <p:nvPr/>
        </p:nvSpPr>
        <p:spPr bwMode="auto">
          <a:xfrm>
            <a:off x="4643438" y="3933825"/>
            <a:ext cx="4176712" cy="1223963"/>
          </a:xfrm>
          <a:prstGeom prst="wedgeRectCallout">
            <a:avLst>
              <a:gd name="adj1" fmla="val 15602"/>
              <a:gd name="adj2" fmla="val -183852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代表指针变量所指向的一维数组的长度</a:t>
            </a:r>
          </a:p>
        </p:txBody>
      </p:sp>
      <p:sp>
        <p:nvSpPr>
          <p:cNvPr id="447492" name="AutoShape 4"/>
          <p:cNvSpPr>
            <a:spLocks noChangeArrowheads="1"/>
          </p:cNvSpPr>
          <p:nvPr/>
        </p:nvSpPr>
        <p:spPr bwMode="auto">
          <a:xfrm>
            <a:off x="468313" y="3860800"/>
            <a:ext cx="3313112" cy="1008063"/>
          </a:xfrm>
          <a:prstGeom prst="wedgeRectCallout">
            <a:avLst>
              <a:gd name="adj1" fmla="val 78894"/>
              <a:gd name="adj2" fmla="val -219134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圆括号不能省略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1" grpId="0" animBg="1"/>
      <p:bldP spid="44749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>
            <a:extLst>
              <a:ext uri="{FF2B5EF4-FFF2-40B4-BE49-F238E27FC236}">
                <a16:creationId xmlns:a16="http://schemas.microsoft.com/office/drawing/2014/main" id="{94CA8521-570E-4B23-B8D3-8F3F18481A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476A96E-06DE-42C4-A599-6527E3266451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684213" y="908050"/>
            <a:ext cx="8056562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3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 int a[4][3],b[3][5]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3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int (*pa)[3],(*pb)[5]=b[0];</a:t>
            </a:r>
          </a:p>
          <a:p>
            <a:pPr eaLnBrk="1" hangingPunct="1">
              <a:lnSpc>
                <a:spcPct val="30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pa=a+1;</a:t>
            </a:r>
          </a:p>
        </p:txBody>
      </p:sp>
      <p:sp>
        <p:nvSpPr>
          <p:cNvPr id="448516" name="AutoShape 4"/>
          <p:cNvSpPr>
            <a:spLocks noChangeArrowheads="1"/>
          </p:cNvSpPr>
          <p:nvPr/>
        </p:nvSpPr>
        <p:spPr bwMode="auto">
          <a:xfrm>
            <a:off x="4140200" y="4718050"/>
            <a:ext cx="4752975" cy="2024063"/>
          </a:xfrm>
          <a:prstGeom prst="wedgeRectCallout">
            <a:avLst>
              <a:gd name="adj1" fmla="val -21176"/>
              <a:gd name="adj2" fmla="val -86551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指向长度为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的一维数组的指针变量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，并在定义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的同时初始化，使其指向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数组的首元素</a:t>
            </a:r>
          </a:p>
        </p:txBody>
      </p:sp>
      <p:sp>
        <p:nvSpPr>
          <p:cNvPr id="448517" name="AutoShape 5"/>
          <p:cNvSpPr>
            <a:spLocks noChangeArrowheads="1"/>
          </p:cNvSpPr>
          <p:nvPr/>
        </p:nvSpPr>
        <p:spPr bwMode="auto">
          <a:xfrm>
            <a:off x="5364163" y="260350"/>
            <a:ext cx="2482850" cy="936625"/>
          </a:xfrm>
          <a:prstGeom prst="wedgeRectCallout">
            <a:avLst>
              <a:gd name="adj1" fmla="val -74296"/>
              <a:gd name="adj2" fmla="val 118815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列的二维数组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</a:p>
        </p:txBody>
      </p:sp>
      <p:sp>
        <p:nvSpPr>
          <p:cNvPr id="448518" name="AutoShape 6"/>
          <p:cNvSpPr>
            <a:spLocks noChangeArrowheads="1"/>
          </p:cNvSpPr>
          <p:nvPr/>
        </p:nvSpPr>
        <p:spPr bwMode="auto">
          <a:xfrm>
            <a:off x="5076825" y="2276475"/>
            <a:ext cx="3879850" cy="990600"/>
          </a:xfrm>
          <a:prstGeom prst="wedgeRectCallout">
            <a:avLst>
              <a:gd name="adj1" fmla="val -86458"/>
              <a:gd name="adj2" fmla="val 89745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指向长度为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的一维数组的指针变量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pa</a:t>
            </a:r>
          </a:p>
        </p:txBody>
      </p:sp>
      <p:sp>
        <p:nvSpPr>
          <p:cNvPr id="448519" name="AutoShape 7"/>
          <p:cNvSpPr>
            <a:spLocks noChangeArrowheads="1"/>
          </p:cNvSpPr>
          <p:nvPr/>
        </p:nvSpPr>
        <p:spPr bwMode="auto">
          <a:xfrm>
            <a:off x="527050" y="260350"/>
            <a:ext cx="2244725" cy="1008063"/>
          </a:xfrm>
          <a:prstGeom prst="wedgeRectCallout">
            <a:avLst>
              <a:gd name="adj1" fmla="val 60255"/>
              <a:gd name="adj2" fmla="val 118819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列的二维数组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448520" name="AutoShape 8"/>
          <p:cNvSpPr>
            <a:spLocks noChangeArrowheads="1"/>
          </p:cNvSpPr>
          <p:nvPr/>
        </p:nvSpPr>
        <p:spPr bwMode="auto">
          <a:xfrm>
            <a:off x="106363" y="4076700"/>
            <a:ext cx="3889375" cy="1203325"/>
          </a:xfrm>
          <a:prstGeom prst="wedgeRectCallout">
            <a:avLst>
              <a:gd name="adj1" fmla="val 5713"/>
              <a:gd name="adj2" fmla="val 112005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数组指针变量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pa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指向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数组的第二行，即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a[1]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6" grpId="0" animBg="1"/>
      <p:bldP spid="448517" grpId="0" animBg="1"/>
      <p:bldP spid="448518" grpId="0" animBg="1"/>
      <p:bldP spid="448519" grpId="0" animBg="1"/>
      <p:bldP spid="4485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日期占位符 1">
            <a:extLst>
              <a:ext uri="{FF2B5EF4-FFF2-40B4-BE49-F238E27FC236}">
                <a16:creationId xmlns:a16="http://schemas.microsoft.com/office/drawing/2014/main" id="{72182919-49DF-4101-BA4E-9CDBE1F4839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33919BC-7BAC-4F5D-A924-8A9BADC097EE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graphicFrame>
        <p:nvGraphicFramePr>
          <p:cNvPr id="737284" name="Group 4">
            <a:extLst>
              <a:ext uri="{FF2B5EF4-FFF2-40B4-BE49-F238E27FC236}">
                <a16:creationId xmlns:a16="http://schemas.microsoft.com/office/drawing/2014/main" id="{22027B07-52F8-49B4-B588-C53B0A338EA3}"/>
              </a:ext>
            </a:extLst>
          </p:cNvPr>
          <p:cNvGraphicFramePr>
            <a:graphicFrameLocks noGrp="1"/>
          </p:cNvGraphicFramePr>
          <p:nvPr/>
        </p:nvGraphicFramePr>
        <p:xfrm>
          <a:off x="3419475" y="1939925"/>
          <a:ext cx="2651125" cy="3144838"/>
        </p:xfrm>
        <a:graphic>
          <a:graphicData uri="http://schemas.openxmlformats.org/drawingml/2006/table">
            <a:tbl>
              <a:tblPr/>
              <a:tblGrid>
                <a:gridCol w="884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2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4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9808" name="AutoShape 48"/>
          <p:cNvSpPr>
            <a:spLocks/>
          </p:cNvSpPr>
          <p:nvPr/>
        </p:nvSpPr>
        <p:spPr bwMode="auto">
          <a:xfrm>
            <a:off x="3348038" y="2133600"/>
            <a:ext cx="152400" cy="2690813"/>
          </a:xfrm>
          <a:prstGeom prst="leftBracket">
            <a:avLst>
              <a:gd name="adj" fmla="val 147054"/>
            </a:avLst>
          </a:prstGeom>
          <a:noFill/>
          <a:ln w="38100">
            <a:solidFill>
              <a:srgbClr val="FF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zh-CN" sz="1800"/>
          </a:p>
        </p:txBody>
      </p:sp>
      <p:sp>
        <p:nvSpPr>
          <p:cNvPr id="629809" name="AutoShape 49"/>
          <p:cNvSpPr>
            <a:spLocks/>
          </p:cNvSpPr>
          <p:nvPr/>
        </p:nvSpPr>
        <p:spPr bwMode="auto">
          <a:xfrm>
            <a:off x="6011863" y="2133600"/>
            <a:ext cx="152400" cy="2667000"/>
          </a:xfrm>
          <a:prstGeom prst="rightBracket">
            <a:avLst>
              <a:gd name="adj" fmla="val 145833"/>
            </a:avLst>
          </a:prstGeom>
          <a:noFill/>
          <a:ln w="38100">
            <a:solidFill>
              <a:srgbClr val="FF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29813" name="Text Box 53"/>
          <p:cNvSpPr txBox="1">
            <a:spLocks noChangeArrowheads="1"/>
          </p:cNvSpPr>
          <p:nvPr/>
        </p:nvSpPr>
        <p:spPr bwMode="auto">
          <a:xfrm>
            <a:off x="395288" y="333375"/>
            <a:ext cx="845978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D92517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     </a:t>
            </a:r>
            <a:r>
              <a:rPr lang="zh-CN" altLang="en-US" b="0">
                <a:solidFill>
                  <a:srgbClr val="D92517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思考题：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是二维数组，如果有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；那么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p+1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指向的是什么？</a:t>
            </a:r>
          </a:p>
        </p:txBody>
      </p:sp>
      <p:sp>
        <p:nvSpPr>
          <p:cNvPr id="629814" name="AutoShape 54"/>
          <p:cNvSpPr>
            <a:spLocks noChangeArrowheads="1"/>
          </p:cNvSpPr>
          <p:nvPr/>
        </p:nvSpPr>
        <p:spPr bwMode="auto">
          <a:xfrm>
            <a:off x="539750" y="1484313"/>
            <a:ext cx="1414463" cy="533400"/>
          </a:xfrm>
          <a:prstGeom prst="wedgeRectCallout">
            <a:avLst>
              <a:gd name="adj1" fmla="val 146185"/>
              <a:gd name="adj2" fmla="val 82440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数 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</a:p>
        </p:txBody>
      </p:sp>
      <p:sp>
        <p:nvSpPr>
          <p:cNvPr id="629815" name="AutoShape 55"/>
          <p:cNvSpPr>
            <a:spLocks noChangeArrowheads="1"/>
          </p:cNvSpPr>
          <p:nvPr/>
        </p:nvSpPr>
        <p:spPr bwMode="auto">
          <a:xfrm>
            <a:off x="6588125" y="1268413"/>
            <a:ext cx="2262188" cy="2160587"/>
          </a:xfrm>
          <a:prstGeom prst="wedgeRectCallout">
            <a:avLst>
              <a:gd name="adj1" fmla="val -129782"/>
              <a:gd name="adj2" fmla="val 1421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如果定义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  *p;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那么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是指针变量，所以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p+1</a:t>
            </a: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指向为元素</a:t>
            </a:r>
            <a:r>
              <a:rPr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629816" name="AutoShape 56"/>
          <p:cNvSpPr>
            <a:spLocks noChangeArrowheads="1"/>
          </p:cNvSpPr>
          <p:nvPr/>
        </p:nvSpPr>
        <p:spPr bwMode="auto">
          <a:xfrm>
            <a:off x="179388" y="2276475"/>
            <a:ext cx="2332037" cy="3167063"/>
          </a:xfrm>
          <a:prstGeom prst="wedgeRectCallout">
            <a:avLst>
              <a:gd name="adj1" fmla="val 100296"/>
              <a:gd name="adj2" fmla="val -23630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如果定义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int  (*p)[3];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那么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是数组指针，所以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p+1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所指向为第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行</a:t>
            </a:r>
          </a:p>
        </p:txBody>
      </p:sp>
      <p:sp>
        <p:nvSpPr>
          <p:cNvPr id="737282" name="Text Box 2"/>
          <p:cNvSpPr txBox="1">
            <a:spLocks noChangeArrowheads="1"/>
          </p:cNvSpPr>
          <p:nvPr/>
        </p:nvSpPr>
        <p:spPr bwMode="auto">
          <a:xfrm>
            <a:off x="827088" y="5661025"/>
            <a:ext cx="7561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分析下面两个程序的运行结果。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9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9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9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9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808" grpId="0" animBg="1"/>
      <p:bldP spid="629809" grpId="0" animBg="1"/>
      <p:bldP spid="629813" grpId="0" build="p"/>
      <p:bldP spid="629814" grpId="0" animBg="1"/>
      <p:bldP spid="629815" grpId="0" animBg="1"/>
      <p:bldP spid="629816" grpId="0" animBg="1"/>
      <p:bldP spid="7372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747EB9D8-4251-4C6F-948C-AD03DF0CB27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0D7928A-AD89-4939-BDAC-48B790461D61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pic>
        <p:nvPicPr>
          <p:cNvPr id="977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013" y="5084763"/>
            <a:ext cx="874712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7923" name="Text Box 3"/>
          <p:cNvSpPr txBox="1">
            <a:spLocks noChangeArrowheads="1"/>
          </p:cNvSpPr>
          <p:nvPr/>
        </p:nvSpPr>
        <p:spPr bwMode="auto">
          <a:xfrm>
            <a:off x="1825625" y="5229225"/>
            <a:ext cx="3232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输出结果为：</a:t>
            </a:r>
          </a:p>
        </p:txBody>
      </p:sp>
      <p:pic>
        <p:nvPicPr>
          <p:cNvPr id="9779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431800"/>
            <a:ext cx="8786813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7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>
            <a:extLst>
              <a:ext uri="{FF2B5EF4-FFF2-40B4-BE49-F238E27FC236}">
                <a16:creationId xmlns:a16="http://schemas.microsoft.com/office/drawing/2014/main" id="{AAF32766-D61E-4772-A1C1-BCC5E8CCD5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C8B9857-E0FE-4C60-8E83-41412E09FDBB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976898" name="Text Box 2"/>
          <p:cNvSpPr txBox="1">
            <a:spLocks noChangeArrowheads="1"/>
          </p:cNvSpPr>
          <p:nvPr/>
        </p:nvSpPr>
        <p:spPr bwMode="auto">
          <a:xfrm>
            <a:off x="1835150" y="5410200"/>
            <a:ext cx="2655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输出结果为：</a:t>
            </a:r>
          </a:p>
        </p:txBody>
      </p:sp>
      <p:pic>
        <p:nvPicPr>
          <p:cNvPr id="9768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5373688"/>
            <a:ext cx="12128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765175"/>
            <a:ext cx="8829675" cy="434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68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7FDEA7DA-EA65-4014-A68F-A46C3A441BD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DBF087A-C913-45BA-8508-0BD9963F4B48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375810" name="Text Box 2"/>
          <p:cNvSpPr txBox="1">
            <a:spLocks noChangeArrowheads="1"/>
          </p:cNvSpPr>
          <p:nvPr/>
        </p:nvSpPr>
        <p:spPr bwMode="auto">
          <a:xfrm>
            <a:off x="468313" y="1844675"/>
            <a:ext cx="8316912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有宏参数定义指用一个带参数的宏名代表一个字符串，预处理时不再是简单的字符串替换，还要进行参数替换，语法为：</a:t>
            </a:r>
          </a:p>
        </p:txBody>
      </p:sp>
      <p:sp>
        <p:nvSpPr>
          <p:cNvPr id="375811" name="Text Box 3">
            <a:extLst>
              <a:ext uri="{FF2B5EF4-FFF2-40B4-BE49-F238E27FC236}">
                <a16:creationId xmlns:a16="http://schemas.microsoft.com/office/drawing/2014/main" id="{9D311F55-03D1-4619-B994-5493794FC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88913"/>
            <a:ext cx="7707312" cy="854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80000"/>
              </a:lnSpc>
              <a:defRPr/>
            </a:pP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带参数宏与函数的区别</a:t>
            </a:r>
            <a:r>
              <a:rPr kumimoji="1" lang="zh-CN" altLang="en-US" dirty="0">
                <a:solidFill>
                  <a:srgbClr val="FF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75812" name="Text Box 4"/>
          <p:cNvSpPr txBox="1">
            <a:spLocks noChangeArrowheads="1"/>
          </p:cNvSpPr>
          <p:nvPr/>
        </p:nvSpPr>
        <p:spPr bwMode="auto">
          <a:xfrm>
            <a:off x="684213" y="1052513"/>
            <a:ext cx="77073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有参数宏定义</a:t>
            </a:r>
          </a:p>
        </p:txBody>
      </p:sp>
      <p:sp>
        <p:nvSpPr>
          <p:cNvPr id="375813" name="Rectangle 5">
            <a:extLst>
              <a:ext uri="{FF2B5EF4-FFF2-40B4-BE49-F238E27FC236}">
                <a16:creationId xmlns:a16="http://schemas.microsoft.com/office/drawing/2014/main" id="{E922C765-E869-4250-B4F6-A47EE764D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406900"/>
            <a:ext cx="7499350" cy="14652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250000"/>
              </a:lnSpc>
              <a:spcBef>
                <a:spcPct val="50000"/>
              </a:spcBef>
              <a:defRPr/>
            </a:pPr>
            <a:r>
              <a:rPr kumimoji="1" lang="en-US" altLang="zh-CN" sz="36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#define   </a:t>
            </a:r>
            <a:r>
              <a:rPr kumimoji="1" lang="zh-CN" altLang="en-US" sz="36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宏名（参数表）  字符串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0" grpId="0"/>
      <p:bldP spid="375811" grpId="0"/>
      <p:bldP spid="375812" grpId="0"/>
      <p:bldP spid="3758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>
            <a:extLst>
              <a:ext uri="{FF2B5EF4-FFF2-40B4-BE49-F238E27FC236}">
                <a16:creationId xmlns:a16="http://schemas.microsoft.com/office/drawing/2014/main" id="{AB31FE10-D4EA-43E1-A40B-E19B906976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E290A12-0CFE-4625-8DD0-E13093782CBE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888834" name="Text Box 2"/>
          <p:cNvSpPr txBox="1">
            <a:spLocks noChangeArrowheads="1"/>
          </p:cNvSpPr>
          <p:nvPr/>
        </p:nvSpPr>
        <p:spPr bwMode="auto">
          <a:xfrm>
            <a:off x="250825" y="1439863"/>
            <a:ext cx="85344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】#define  S(a,b)  (a&gt;b) ? a : b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main( 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{  int x,y;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scanf(</a:t>
            </a:r>
            <a:r>
              <a:rPr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%d,%d</a:t>
            </a:r>
            <a:r>
              <a:rPr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,&amp;x,&amp;y);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printf(</a:t>
            </a:r>
            <a:r>
              <a:rPr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%d</a:t>
            </a:r>
            <a:r>
              <a:rPr lang="en-US" altLang="zh-CN" sz="36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,S(x,y));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}</a:t>
            </a:r>
          </a:p>
        </p:txBody>
      </p:sp>
      <p:sp>
        <p:nvSpPr>
          <p:cNvPr id="888835" name="Text Box 3"/>
          <p:cNvSpPr txBox="1">
            <a:spLocks noChangeArrowheads="1"/>
          </p:cNvSpPr>
          <p:nvPr/>
        </p:nvSpPr>
        <p:spPr bwMode="auto">
          <a:xfrm>
            <a:off x="611188" y="260350"/>
            <a:ext cx="7273925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80000"/>
              </a:lnSpc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思考题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程序的功能是什么？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8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8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8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88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88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88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88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>
            <a:extLst>
              <a:ext uri="{FF2B5EF4-FFF2-40B4-BE49-F238E27FC236}">
                <a16:creationId xmlns:a16="http://schemas.microsoft.com/office/drawing/2014/main" id="{5262AD8F-2453-4FDA-AEDD-03ACEB37FA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8E0ACDE-E9FC-41B7-8256-AFDD7593D818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376834" name="Text Box 2">
            <a:extLst>
              <a:ext uri="{FF2B5EF4-FFF2-40B4-BE49-F238E27FC236}">
                <a16:creationId xmlns:a16="http://schemas.microsoft.com/office/drawing/2014/main" id="{1A63C40A-8C72-4C8D-B080-A39837E98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1625"/>
            <a:ext cx="8129588" cy="6007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使用说明：</a:t>
            </a:r>
          </a:p>
          <a:p>
            <a:pPr lvl="1" eaLnBrk="1" hangingPunct="1">
              <a:lnSpc>
                <a:spcPct val="135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 宏名与其右边的左圆括号之间不能有空格；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kumimoji="1" lang="en-US" altLang="zh-CN" dirty="0">
                <a:latin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dirty="0">
                <a:latin typeface="楷体_GB2312" pitchFamily="49" charset="-122"/>
                <a:cs typeface="Times New Roman" panose="02020603050405020304" pitchFamily="18" charset="0"/>
              </a:rPr>
              <a:t>】#define  S</a:t>
            </a:r>
            <a:r>
              <a:rPr kumimoji="1" lang="en-US" altLang="zh-CN" dirty="0">
                <a:latin typeface="Times New Roman" panose="02020603050405020304"/>
                <a:cs typeface="Times New Roman" panose="02020603050405020304" pitchFamily="18" charset="0"/>
              </a:rPr>
              <a:t>   </a:t>
            </a:r>
            <a:r>
              <a:rPr kumimoji="1" lang="en-US" altLang="zh-CN" dirty="0">
                <a:solidFill>
                  <a:srgbClr val="D9251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( c)   c*c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kumimoji="1" lang="en-US" altLang="zh-CN" dirty="0"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如果</a:t>
            </a:r>
            <a:r>
              <a:rPr kumimoji="1" lang="en-US" altLang="zh-CN" dirty="0">
                <a:latin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后带有空格，那么</a:t>
            </a:r>
            <a:r>
              <a:rPr kumimoji="1" lang="en-US" altLang="zh-CN" dirty="0">
                <a:latin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则表示为符号常量（即不带参数的宏名），它所代替的字符串为</a:t>
            </a:r>
            <a:r>
              <a:rPr kumimoji="1" lang="zh-CN" altLang="en-US" dirty="0">
                <a:latin typeface="Times New Roman" panose="02020603050405020304"/>
                <a:cs typeface="Times New Roman" panose="02020603050405020304" pitchFamily="18" charset="0"/>
              </a:rPr>
              <a:t>“</a:t>
            </a:r>
            <a:r>
              <a:rPr kumimoji="1" lang="en-US" altLang="zh-CN" dirty="0">
                <a:latin typeface="楷体_GB2312" pitchFamily="49" charset="-122"/>
                <a:cs typeface="Times New Roman" panose="02020603050405020304" pitchFamily="18" charset="0"/>
              </a:rPr>
              <a:t>(c) c*c</a:t>
            </a:r>
            <a:r>
              <a:rPr kumimoji="1" lang="en-US" altLang="zh-CN" dirty="0">
                <a:latin typeface="Times New Roman" panose="02020603050405020304"/>
                <a:cs typeface="Times New Roman" panose="02020603050405020304" pitchFamily="18" charset="0"/>
              </a:rPr>
              <a:t>”</a:t>
            </a: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lvl="1" eaLnBrk="1" hangingPunct="1">
              <a:lnSpc>
                <a:spcPct val="135000"/>
              </a:lnSpc>
              <a:buClr>
                <a:srgbClr val="FF3300"/>
              </a:buClr>
              <a:buFont typeface="Wingdings" panose="05000000000000000000" pitchFamily="2" charset="2"/>
              <a:buChar char="Ø"/>
              <a:defRPr/>
            </a:pPr>
            <a:r>
              <a:rPr kumimoji="1" lang="zh-CN" altLang="en-US" dirty="0">
                <a:latin typeface="楷体_GB2312" pitchFamily="49" charset="-122"/>
                <a:cs typeface="Times New Roman" panose="02020603050405020304" pitchFamily="18" charset="0"/>
              </a:rPr>
              <a:t> 当参数为表达式时，对参数表达式加括号可以防止二义性；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68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68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68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68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68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D4F1ED9-BDCC-4DCB-90E7-2059BE36BC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BFDE129-1FFB-40F7-8788-32976EB345E2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377858" name="Text Box 2"/>
          <p:cNvSpPr txBox="1">
            <a:spLocks noChangeArrowheads="1"/>
          </p:cNvSpPr>
          <p:nvPr/>
        </p:nvSpPr>
        <p:spPr bwMode="auto">
          <a:xfrm>
            <a:off x="188913" y="188913"/>
            <a:ext cx="8415337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b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写出下列程序运行的结果。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#define  S(c)  c*c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main( 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{  int m=5,n=8,k;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k=10*S(m+n);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 printf(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%d\n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,k);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}</a:t>
            </a:r>
          </a:p>
        </p:txBody>
      </p:sp>
      <p:sp>
        <p:nvSpPr>
          <p:cNvPr id="377859" name="Text Box 3"/>
          <p:cNvSpPr txBox="1">
            <a:spLocks noChangeArrowheads="1"/>
          </p:cNvSpPr>
          <p:nvPr/>
        </p:nvSpPr>
        <p:spPr bwMode="auto">
          <a:xfrm>
            <a:off x="744538" y="5213350"/>
            <a:ext cx="74993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宏代换就是不进行运算，而是直接替换，</a:t>
            </a: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因此结果为：</a:t>
            </a:r>
          </a:p>
        </p:txBody>
      </p:sp>
      <p:sp>
        <p:nvSpPr>
          <p:cNvPr id="377860" name="Text Box 4"/>
          <p:cNvSpPr txBox="1">
            <a:spLocks noChangeArrowheads="1"/>
          </p:cNvSpPr>
          <p:nvPr/>
        </p:nvSpPr>
        <p:spPr bwMode="auto">
          <a:xfrm>
            <a:off x="755650" y="4581525"/>
            <a:ext cx="302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运行结果为：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98</a:t>
            </a:r>
          </a:p>
        </p:txBody>
      </p:sp>
      <p:sp>
        <p:nvSpPr>
          <p:cNvPr id="377861" name="AutoShape 5"/>
          <p:cNvSpPr>
            <a:spLocks noChangeArrowheads="1"/>
          </p:cNvSpPr>
          <p:nvPr/>
        </p:nvSpPr>
        <p:spPr bwMode="auto">
          <a:xfrm>
            <a:off x="5651500" y="1268413"/>
            <a:ext cx="3313113" cy="752475"/>
          </a:xfrm>
          <a:prstGeom prst="wedgeRectCallout">
            <a:avLst>
              <a:gd name="adj1" fmla="val -51102"/>
              <a:gd name="adj2" fmla="val 239028"/>
            </a:avLst>
          </a:prstGeom>
          <a:solidFill>
            <a:srgbClr val="FFFF99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k=10*S((m+n))</a:t>
            </a:r>
          </a:p>
        </p:txBody>
      </p:sp>
      <p:sp>
        <p:nvSpPr>
          <p:cNvPr id="377862" name="Rectangle 6"/>
          <p:cNvSpPr>
            <a:spLocks noChangeArrowheads="1"/>
          </p:cNvSpPr>
          <p:nvPr/>
        </p:nvSpPr>
        <p:spPr bwMode="auto">
          <a:xfrm>
            <a:off x="3297238" y="5899150"/>
            <a:ext cx="2825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10*5+8*5+8=98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7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7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7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7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7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78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78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77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77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7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8" grpId="0" build="p"/>
      <p:bldP spid="377859" grpId="0" build="p"/>
      <p:bldP spid="377860" grpId="0" build="p"/>
      <p:bldP spid="377861" grpId="0" animBg="1"/>
      <p:bldP spid="3778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>
            <a:extLst>
              <a:ext uri="{FF2B5EF4-FFF2-40B4-BE49-F238E27FC236}">
                <a16:creationId xmlns:a16="http://schemas.microsoft.com/office/drawing/2014/main" id="{1ECE9A08-3153-4577-9127-F3E6DC0F8EC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4DB78A6-CC22-400F-96F9-1DD6EDBF1B93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graphicFrame>
        <p:nvGraphicFramePr>
          <p:cNvPr id="420866" name="Object 1026"/>
          <p:cNvGraphicFramePr>
            <a:graphicFrameLocks noChangeAspect="1"/>
          </p:cNvGraphicFramePr>
          <p:nvPr/>
        </p:nvGraphicFramePr>
        <p:xfrm>
          <a:off x="339725" y="1125538"/>
          <a:ext cx="8458200" cy="35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r:id="rId3" imgW="1876190" imgH="781159" progId="Paint.Picture">
                  <p:embed/>
                </p:oleObj>
              </mc:Choice>
              <mc:Fallback>
                <p:oleObj r:id="rId3" imgW="1876190" imgH="781159" progId="Paint.Picture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" y="1125538"/>
                        <a:ext cx="8458200" cy="352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7" name="Object 1027"/>
          <p:cNvGraphicFramePr>
            <a:graphicFrameLocks noChangeAspect="1"/>
          </p:cNvGraphicFramePr>
          <p:nvPr/>
        </p:nvGraphicFramePr>
        <p:xfrm>
          <a:off x="3236913" y="4797425"/>
          <a:ext cx="464820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r:id="rId5" imgW="380852" imgH="114467" progId="Paint.Picture">
                  <p:embed/>
                </p:oleObj>
              </mc:Choice>
              <mc:Fallback>
                <p:oleObj r:id="rId5" imgW="380852" imgH="114467" progId="Paint.Picture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4797425"/>
                        <a:ext cx="4648200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68" name="Text Box 1028"/>
          <p:cNvSpPr txBox="1">
            <a:spLocks noChangeArrowheads="1"/>
          </p:cNvSpPr>
          <p:nvPr/>
        </p:nvSpPr>
        <p:spPr bwMode="auto">
          <a:xfrm>
            <a:off x="468313" y="260350"/>
            <a:ext cx="353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修正后的程序：</a:t>
            </a:r>
          </a:p>
        </p:txBody>
      </p:sp>
      <p:sp>
        <p:nvSpPr>
          <p:cNvPr id="420869" name="Text Box 1029"/>
          <p:cNvSpPr txBox="1">
            <a:spLocks noChangeArrowheads="1"/>
          </p:cNvSpPr>
          <p:nvPr/>
        </p:nvSpPr>
        <p:spPr bwMode="auto">
          <a:xfrm>
            <a:off x="395288" y="5013325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运行结果为：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68" grpId="0"/>
      <p:bldP spid="4208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>
            <a:extLst>
              <a:ext uri="{FF2B5EF4-FFF2-40B4-BE49-F238E27FC236}">
                <a16:creationId xmlns:a16="http://schemas.microsoft.com/office/drawing/2014/main" id="{65E04DBB-9E95-4749-94EA-93106F598DE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F640A75-B679-4E5A-8A11-E955C9B7CE7B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786434" name="Text Box 2">
            <a:extLst>
              <a:ext uri="{FF2B5EF4-FFF2-40B4-BE49-F238E27FC236}">
                <a16:creationId xmlns:a16="http://schemas.microsoft.com/office/drawing/2014/main" id="{4C54E077-108A-44C7-BB7D-BC13C1E2E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03238"/>
            <a:ext cx="8208963" cy="4294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15000"/>
              </a:spcBef>
              <a:defRPr/>
            </a:pPr>
            <a:r>
              <a:rPr kumimoji="1" lang="zh-CN" altLang="en-US" sz="3600" dirty="0">
                <a:latin typeface="楷体_GB2312" pitchFamily="49" charset="-122"/>
                <a:cs typeface="Times New Roman" panose="02020603050405020304" pitchFamily="18" charset="0"/>
              </a:rPr>
              <a:t>有参数宏与函数的区别</a:t>
            </a:r>
          </a:p>
          <a:p>
            <a:pPr eaLnBrk="1" hangingPunct="1">
              <a:lnSpc>
                <a:spcPct val="150000"/>
              </a:lnSpc>
              <a:spcBef>
                <a:spcPct val="15000"/>
              </a:spcBef>
              <a:defRPr/>
            </a:pPr>
            <a:r>
              <a:rPr kumimoji="1" lang="zh-CN" altLang="en-US" sz="3600" dirty="0">
                <a:latin typeface="楷体_GB2312" pitchFamily="49" charset="-122"/>
                <a:cs typeface="Times New Roman" panose="02020603050405020304" pitchFamily="18" charset="0"/>
              </a:rPr>
              <a:t>    （</a:t>
            </a:r>
            <a:r>
              <a:rPr kumimoji="1" lang="en-US" altLang="zh-CN" sz="3600" dirty="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3600" dirty="0">
                <a:latin typeface="楷体_GB2312" pitchFamily="49" charset="-122"/>
                <a:cs typeface="Times New Roman" panose="02020603050405020304" pitchFamily="18" charset="0"/>
              </a:rPr>
              <a:t>）在程序控制上，调用带参数宏时，</a:t>
            </a:r>
            <a:r>
              <a:rPr kumimoji="1" lang="zh-CN" altLang="en-US" sz="36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宏实参只是简单的对宏形参进行原形替换</a:t>
            </a:r>
            <a:r>
              <a:rPr kumimoji="1" lang="zh-CN" altLang="en-US" sz="3600" dirty="0">
                <a:latin typeface="楷体_GB2312" pitchFamily="49" charset="-122"/>
                <a:cs typeface="Times New Roman" panose="02020603050405020304" pitchFamily="18" charset="0"/>
              </a:rPr>
              <a:t>；调用函数时，</a:t>
            </a:r>
            <a:r>
              <a:rPr kumimoji="1" lang="zh-CN" altLang="en-US" sz="36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则是先求出实参表达式的值，再代入形参变量中</a:t>
            </a:r>
            <a:r>
              <a:rPr kumimoji="1" lang="zh-CN" altLang="en-US" sz="3600" dirty="0"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>
            <a:extLst>
              <a:ext uri="{FF2B5EF4-FFF2-40B4-BE49-F238E27FC236}">
                <a16:creationId xmlns:a16="http://schemas.microsoft.com/office/drawing/2014/main" id="{66FA2C6F-EA4A-4BE1-A901-38F9AF911D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F441D7C-C76F-4575-B4C4-443E7980A328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994307" name="Line 3"/>
          <p:cNvSpPr>
            <a:spLocks noChangeShapeType="1"/>
          </p:cNvSpPr>
          <p:nvPr/>
        </p:nvSpPr>
        <p:spPr bwMode="auto">
          <a:xfrm>
            <a:off x="1912938" y="1125538"/>
            <a:ext cx="3738562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4308" name="Line 4"/>
          <p:cNvSpPr>
            <a:spLocks noChangeShapeType="1"/>
          </p:cNvSpPr>
          <p:nvPr/>
        </p:nvSpPr>
        <p:spPr bwMode="auto">
          <a:xfrm>
            <a:off x="1933575" y="1773238"/>
            <a:ext cx="3646488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4309" name="Line 5"/>
          <p:cNvSpPr>
            <a:spLocks noChangeShapeType="1"/>
          </p:cNvSpPr>
          <p:nvPr/>
        </p:nvSpPr>
        <p:spPr bwMode="auto">
          <a:xfrm>
            <a:off x="2068513" y="2924175"/>
            <a:ext cx="1350962" cy="0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4310" name="Text Box 6"/>
          <p:cNvSpPr txBox="1">
            <a:spLocks noChangeArrowheads="1"/>
          </p:cNvSpPr>
          <p:nvPr/>
        </p:nvSpPr>
        <p:spPr bwMode="auto">
          <a:xfrm>
            <a:off x="539750" y="404813"/>
            <a:ext cx="8208963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】#define F(a,b) a*b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int g(int a,int b)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{ return a*b;}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main( 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{  printf(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%d\n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,F(3+1,7-2));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  printf(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%d\n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,g(3+1,7-2)); 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     }</a:t>
            </a:r>
          </a:p>
        </p:txBody>
      </p:sp>
      <p:pic>
        <p:nvPicPr>
          <p:cNvPr id="9943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4508500"/>
            <a:ext cx="1727200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4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9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9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9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>
            <a:extLst>
              <a:ext uri="{FF2B5EF4-FFF2-40B4-BE49-F238E27FC236}">
                <a16:creationId xmlns:a16="http://schemas.microsoft.com/office/drawing/2014/main" id="{3F0E4A12-9052-4CB4-A7C5-BB301FC257D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AA12248-FD9D-444A-976E-17150A06BB84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613378" name="Text Box 2"/>
          <p:cNvSpPr txBox="1">
            <a:spLocks noChangeArrowheads="1"/>
          </p:cNvSpPr>
          <p:nvPr/>
        </p:nvSpPr>
        <p:spPr bwMode="auto">
          <a:xfrm>
            <a:off x="468313" y="601663"/>
            <a:ext cx="8135937" cy="460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）宏参数没有固定的数据类型，定义时不涉及类型，宏名和宏参数均无类型；</a:t>
            </a:r>
          </a:p>
          <a:p>
            <a:pPr eaLnBrk="1" hangingPunct="1">
              <a:lnSpc>
                <a:spcPct val="150000"/>
              </a:lnSpc>
              <a:spcBef>
                <a:spcPct val="25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）函数调用是在程序运行时发生的，并动态分配所用的内存单元；而宏调用是在编译预处理时进行的，不分配内存单元，不进行值传送，也无值返回；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3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>
            <a:extLst>
              <a:ext uri="{FF2B5EF4-FFF2-40B4-BE49-F238E27FC236}">
                <a16:creationId xmlns:a16="http://schemas.microsoft.com/office/drawing/2014/main" id="{838FF8D0-AC5F-4EAE-AB47-07B2BE405DA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4B9CCE2-CAF7-4074-8563-1BE391BCCF8A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432130" name="Text Box 2"/>
          <p:cNvSpPr txBox="1">
            <a:spLocks noChangeArrowheads="1"/>
          </p:cNvSpPr>
          <p:nvPr/>
        </p:nvSpPr>
        <p:spPr bwMode="auto">
          <a:xfrm>
            <a:off x="684213" y="333375"/>
            <a:ext cx="7983537" cy="600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）使用函数调用不增加运行程序的长度，但每使用一次宏调用，都会使运行程序篇幅有所增长，使编译、链接后的执行程序也增长；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）宏定义主要用于需要少量参数的简单表达式中，而且调用时不作数据类型检查；</a:t>
            </a:r>
          </a:p>
          <a:p>
            <a:pPr eaLnBrk="1" hangingPunct="1">
              <a:lnSpc>
                <a:spcPct val="135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  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）使用函数不会带来副作用，但宏若使用不当，可能会带来副作用。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2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2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2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诗情画意">
  <a:themeElements>
    <a:clrScheme name="诗情画意 10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4503D9"/>
      </a:hlink>
      <a:folHlink>
        <a:srgbClr val="6521FD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3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9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4503D9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10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4503D9"/>
        </a:hlink>
        <a:folHlink>
          <a:srgbClr val="6521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CDESIGNN</Template>
  <TotalTime>32</TotalTime>
  <Pages>0</Pages>
  <Words>954</Words>
  <Characters>0</Characters>
  <Application>Microsoft Office PowerPoint</Application>
  <DocSecurity>0</DocSecurity>
  <PresentationFormat>全屏显示(4:3)</PresentationFormat>
  <Lines>0</Lines>
  <Paragraphs>128</Paragraphs>
  <Slides>17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Times New Roman</vt:lpstr>
      <vt:lpstr>楷体_GB2312</vt:lpstr>
      <vt:lpstr>Arial</vt:lpstr>
      <vt:lpstr>宋体</vt:lpstr>
      <vt:lpstr>Wingdings</vt:lpstr>
      <vt:lpstr>Tahoma</vt:lpstr>
      <vt:lpstr>隶书</vt:lpstr>
      <vt:lpstr>方正姚体</vt:lpstr>
      <vt:lpstr>华文行楷</vt:lpstr>
      <vt:lpstr>黑体</vt:lpstr>
      <vt:lpstr>诗情画意</vt:lpstr>
      <vt:lpstr>Bitmap Image</vt:lpstr>
      <vt:lpstr>指针数组和数组指针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华东理工大学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赵敏</dc:creator>
  <cp:keywords/>
  <dc:description/>
  <cp:lastModifiedBy>wf zhou</cp:lastModifiedBy>
  <cp:revision>4963</cp:revision>
  <dcterms:created xsi:type="dcterms:W3CDTF">2005-01-18T02:21:46Z</dcterms:created>
  <dcterms:modified xsi:type="dcterms:W3CDTF">2025-12-26T08:26:52Z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2052-10.1.0.5975</vt:lpwstr>
  </property>
</Properties>
</file>