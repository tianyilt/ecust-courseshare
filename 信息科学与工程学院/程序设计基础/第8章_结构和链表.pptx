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74"/>
  </p:notesMasterIdLst>
  <p:sldIdLst>
    <p:sldId id="699" r:id="rId2"/>
    <p:sldId id="843" r:id="rId3"/>
    <p:sldId id="700" r:id="rId4"/>
    <p:sldId id="701" r:id="rId5"/>
    <p:sldId id="702" r:id="rId6"/>
    <p:sldId id="703" r:id="rId7"/>
    <p:sldId id="704" r:id="rId8"/>
    <p:sldId id="705" r:id="rId9"/>
    <p:sldId id="706" r:id="rId10"/>
    <p:sldId id="707" r:id="rId11"/>
    <p:sldId id="708" r:id="rId12"/>
    <p:sldId id="709" r:id="rId13"/>
    <p:sldId id="1020" r:id="rId14"/>
    <p:sldId id="1030" r:id="rId15"/>
    <p:sldId id="1021" r:id="rId16"/>
    <p:sldId id="723" r:id="rId17"/>
    <p:sldId id="724" r:id="rId18"/>
    <p:sldId id="725" r:id="rId19"/>
    <p:sldId id="726" r:id="rId20"/>
    <p:sldId id="727" r:id="rId21"/>
    <p:sldId id="728" r:id="rId22"/>
    <p:sldId id="845" r:id="rId23"/>
    <p:sldId id="729" r:id="rId24"/>
    <p:sldId id="846" r:id="rId25"/>
    <p:sldId id="847" r:id="rId26"/>
    <p:sldId id="849" r:id="rId27"/>
    <p:sldId id="730" r:id="rId28"/>
    <p:sldId id="1022" r:id="rId29"/>
    <p:sldId id="850" r:id="rId30"/>
    <p:sldId id="732" r:id="rId31"/>
    <p:sldId id="751" r:id="rId32"/>
    <p:sldId id="851" r:id="rId33"/>
    <p:sldId id="752" r:id="rId34"/>
    <p:sldId id="964" r:id="rId35"/>
    <p:sldId id="754" r:id="rId36"/>
    <p:sldId id="1023" r:id="rId37"/>
    <p:sldId id="755" r:id="rId38"/>
    <p:sldId id="756" r:id="rId39"/>
    <p:sldId id="963" r:id="rId40"/>
    <p:sldId id="757" r:id="rId41"/>
    <p:sldId id="1024" r:id="rId42"/>
    <p:sldId id="758" r:id="rId43"/>
    <p:sldId id="759" r:id="rId44"/>
    <p:sldId id="1025" r:id="rId45"/>
    <p:sldId id="760" r:id="rId46"/>
    <p:sldId id="781" r:id="rId47"/>
    <p:sldId id="761" r:id="rId48"/>
    <p:sldId id="762" r:id="rId49"/>
    <p:sldId id="763" r:id="rId50"/>
    <p:sldId id="852" r:id="rId51"/>
    <p:sldId id="853" r:id="rId52"/>
    <p:sldId id="965" r:id="rId53"/>
    <p:sldId id="764" r:id="rId54"/>
    <p:sldId id="1012" r:id="rId55"/>
    <p:sldId id="765" r:id="rId56"/>
    <p:sldId id="766" r:id="rId57"/>
    <p:sldId id="767" r:id="rId58"/>
    <p:sldId id="1009" r:id="rId59"/>
    <p:sldId id="768" r:id="rId60"/>
    <p:sldId id="769" r:id="rId61"/>
    <p:sldId id="733" r:id="rId62"/>
    <p:sldId id="734" r:id="rId63"/>
    <p:sldId id="1026" r:id="rId64"/>
    <p:sldId id="966" r:id="rId65"/>
    <p:sldId id="735" r:id="rId66"/>
    <p:sldId id="1027" r:id="rId67"/>
    <p:sldId id="737" r:id="rId68"/>
    <p:sldId id="968" r:id="rId69"/>
    <p:sldId id="738" r:id="rId70"/>
    <p:sldId id="739" r:id="rId71"/>
    <p:sldId id="1031" r:id="rId72"/>
    <p:sldId id="969" r:id="rId7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99"/>
    <a:srgbClr val="FFCC00"/>
    <a:srgbClr val="D92517"/>
    <a:srgbClr val="FFFF99"/>
    <a:srgbClr val="000404"/>
    <a:srgbClr val="9904E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3" autoAdjust="0"/>
    <p:restoredTop sz="81358" autoAdjust="0"/>
  </p:normalViewPr>
  <p:slideViewPr>
    <p:cSldViewPr>
      <p:cViewPr varScale="1">
        <p:scale>
          <a:sx n="71" d="100"/>
          <a:sy n="71" d="100"/>
        </p:scale>
        <p:origin x="188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0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>
            <a:extLst>
              <a:ext uri="{FF2B5EF4-FFF2-40B4-BE49-F238E27FC236}">
                <a16:creationId xmlns:a16="http://schemas.microsoft.com/office/drawing/2014/main" id="{D7D44DD4-4419-409C-A75F-43A3F0A286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82BD2F10-418F-425E-9660-14A4D354FF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6485" name="Rectangle 5">
            <a:extLst>
              <a:ext uri="{FF2B5EF4-FFF2-40B4-BE49-F238E27FC236}">
                <a16:creationId xmlns:a16="http://schemas.microsoft.com/office/drawing/2014/main" id="{2DAE8E7B-C578-42F3-B55E-E11681096DA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16486" name="Rectangle 6">
            <a:extLst>
              <a:ext uri="{FF2B5EF4-FFF2-40B4-BE49-F238E27FC236}">
                <a16:creationId xmlns:a16="http://schemas.microsoft.com/office/drawing/2014/main" id="{E8BE8E58-A67C-4BD8-A5BA-9CB54024E4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6487" name="Rectangle 7">
            <a:extLst>
              <a:ext uri="{FF2B5EF4-FFF2-40B4-BE49-F238E27FC236}">
                <a16:creationId xmlns:a16="http://schemas.microsoft.com/office/drawing/2014/main" id="{197ABF62-04AC-42AC-81B0-D515F93417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770C083-E63D-4C09-9BEA-D1BDCC9CDA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BA2DD-8F74-4D61-80E6-CE250945C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727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93B10-37EF-42B3-B69B-6AAC0BA61D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75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6D021-00E6-4650-B1C1-C42EBA875E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220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555507-9616-4403-8F6A-8A9E961DE0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78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CC936-7E4C-4314-9BA4-E124D972B4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71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5B9B2-4B5E-48A3-810D-08050C6BBF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04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18C0F25-6BEE-4C09-BF46-F288F419EF3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391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72557-9CC8-44D1-8D34-3C7F57D59A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774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C38537-5CEE-4408-B7DA-70AD826CBC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83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6518B-E1D6-48EF-BDFF-12092B4E50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5977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98C13-2503-461D-AC3F-4F627DFF21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670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02821" name="Rectangle 5">
            <a:extLst>
              <a:ext uri="{FF2B5EF4-FFF2-40B4-BE49-F238E27FC236}">
                <a16:creationId xmlns:a16="http://schemas.microsoft.com/office/drawing/2014/main" id="{2DDED2F9-910D-4F6A-B178-F9AACDFEE0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kumimoji="0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2822" name="Rectangle 6">
            <a:extLst>
              <a:ext uri="{FF2B5EF4-FFF2-40B4-BE49-F238E27FC236}">
                <a16:creationId xmlns:a16="http://schemas.microsoft.com/office/drawing/2014/main" id="{8506BCCE-99AE-4680-B130-3B927AE8E0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kumimoji="0" sz="14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2A727A8-05D2-4C76-A665-4A9FA797AF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02823" name="Text Box 7">
            <a:extLst>
              <a:ext uri="{FF2B5EF4-FFF2-40B4-BE49-F238E27FC236}">
                <a16:creationId xmlns:a16="http://schemas.microsoft.com/office/drawing/2014/main" id="{AB8F1816-EEE8-4AF3-BC98-A8977B28E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45250" y="6416675"/>
            <a:ext cx="2663825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ea typeface="隶书" pitchFamily="49" charset="-122"/>
                <a:cs typeface="宋体" pitchFamily="2" charset="-122"/>
              </a:rPr>
              <a:t>华东理工大学出版社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4" r:id="rId7"/>
    <p:sldLayoutId id="2147483750" r:id="rId8"/>
    <p:sldLayoutId id="2147483751" r:id="rId9"/>
    <p:sldLayoutId id="2147483752" r:id="rId10"/>
    <p:sldLayoutId id="2147483753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3" name="Text Box 3">
            <a:extLst>
              <a:ext uri="{FF2B5EF4-FFF2-40B4-BE49-F238E27FC236}">
                <a16:creationId xmlns:a16="http://schemas.microsoft.com/office/drawing/2014/main" id="{3575AB59-489B-43C2-AC69-4F96EBA44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05038"/>
            <a:ext cx="7772400" cy="1208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dist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5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彩云" pitchFamily="2" charset="-122"/>
                <a:ea typeface="华文彩云" pitchFamily="2" charset="-122"/>
              </a:rPr>
              <a:t>结构与其他自定义类型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4213" name="Group 3077">
            <a:extLst>
              <a:ext uri="{FF2B5EF4-FFF2-40B4-BE49-F238E27FC236}">
                <a16:creationId xmlns:a16="http://schemas.microsoft.com/office/drawing/2014/main" id="{E7AB2C89-8BBD-485C-A370-DCEAB8710C30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2492375"/>
          <a:ext cx="8247062" cy="3811588"/>
        </p:xfrm>
        <a:graphic>
          <a:graphicData uri="http://schemas.openxmlformats.org/drawingml/2006/table">
            <a:tbl>
              <a:tblPr/>
              <a:tblGrid>
                <a:gridCol w="1649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9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08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学 号</a:t>
                      </a:r>
                    </a:p>
                  </a:txBody>
                  <a:tcPr marT="33028" marB="330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姓 名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性 别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高考分数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生 源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8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010031</a:t>
                      </a:r>
                    </a:p>
                  </a:txBody>
                  <a:tcPr marT="33028" marB="330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张三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女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567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北京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8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010032</a:t>
                      </a:r>
                    </a:p>
                  </a:txBody>
                  <a:tcPr marT="33028" marB="330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李四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女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539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深圳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8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010033</a:t>
                      </a:r>
                    </a:p>
                  </a:txBody>
                  <a:tcPr marT="33028" marB="330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王五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男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460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上海</a:t>
                      </a: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楷体_GB2312" pitchFamily="49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T="33028" marB="3302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楷体_GB2312" pitchFamily="49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楷体_GB2312" pitchFamily="49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楷体_GB2312" pitchFamily="49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3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楷体_GB2312" pitchFamily="49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3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T="33028" marB="3302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9023" name="Rectangle 3119">
            <a:extLst>
              <a:ext uri="{FF2B5EF4-FFF2-40B4-BE49-F238E27FC236}">
                <a16:creationId xmlns:a16="http://schemas.microsoft.com/office/drawing/2014/main" id="{74358A56-B7DA-435A-8513-4FB834D01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5888"/>
            <a:ext cx="8351837" cy="22875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思考：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如果要存储若干学生的信息（如下表）使用数组可以吗？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902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Text Box 2">
            <a:extLst>
              <a:ext uri="{FF2B5EF4-FFF2-40B4-BE49-F238E27FC236}">
                <a16:creationId xmlns:a16="http://schemas.microsoft.com/office/drawing/2014/main" id="{7C6DB2F8-E60E-4CF8-81B2-0C2CA5E99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01613"/>
            <a:ext cx="7467600" cy="900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20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结构类型的认识</a:t>
            </a:r>
            <a:endParaRPr lang="zh-CN" altLang="en-US" dirty="0"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639025" name="Text Box 49">
            <a:extLst>
              <a:ext uri="{FF2B5EF4-FFF2-40B4-BE49-F238E27FC236}">
                <a16:creationId xmlns:a16="http://schemas.microsoft.com/office/drawing/2014/main" id="{1488DF11-A8B2-476D-9CED-9A4B6CED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96975"/>
            <a:ext cx="8210550" cy="47275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b="0" dirty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回顾：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b="0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使用数组的好处是可以用一个变量定义逻辑上相关的一批数据，使每个分量具有相同的名字、不同的下标，但有一个限制，即一个数组变量包含的所有成分元素必须为同一类型，例如：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int a[3]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6" grpId="0"/>
      <p:bldP spid="6390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Text Box 2"/>
          <p:cNvSpPr txBox="1">
            <a:spLocks noChangeArrowheads="1"/>
          </p:cNvSpPr>
          <p:nvPr/>
        </p:nvSpPr>
        <p:spPr bwMode="auto">
          <a:xfrm>
            <a:off x="323850" y="260350"/>
            <a:ext cx="50403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定义结构类型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student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：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8451" name="Text Box 3">
            <a:extLst>
              <a:ext uri="{FF2B5EF4-FFF2-40B4-BE49-F238E27FC236}">
                <a16:creationId xmlns:a16="http://schemas.microsoft.com/office/drawing/2014/main" id="{D655F32C-2CEB-49F2-BA61-C437901D4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125538"/>
            <a:ext cx="7696200" cy="521493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student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{  long num;</a:t>
            </a: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       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  <a:cs typeface="Times New Roman" pitchFamily="18" charset="0"/>
              </a:rPr>
              <a:t>/*</a:t>
            </a:r>
            <a:r>
              <a:rPr lang="zh-CN" altLang="en-US" dirty="0">
                <a:solidFill>
                  <a:srgbClr val="D92517"/>
                </a:solidFill>
                <a:latin typeface="楷体_GB2312" pitchFamily="49" charset="-122"/>
                <a:cs typeface="Times New Roman" pitchFamily="18" charset="0"/>
              </a:rPr>
              <a:t>学号*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  <a:cs typeface="Times New Roman" pitchFamily="18" charset="0"/>
              </a:rPr>
              <a:t>/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    </a:t>
            </a:r>
            <a:r>
              <a:rPr lang="en-US" altLang="zh-CN" dirty="0">
                <a:latin typeface="楷体_GB2312" pitchFamily="49" charset="-122"/>
              </a:rPr>
              <a:t>char name[6];</a:t>
            </a:r>
            <a:r>
              <a:rPr lang="en-US" altLang="zh-CN" dirty="0">
                <a:ea typeface="黑体" pitchFamily="2" charset="-122"/>
              </a:rPr>
              <a:t>       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/*</a:t>
            </a:r>
            <a:r>
              <a:rPr lang="zh-CN" altLang="en-US" dirty="0">
                <a:solidFill>
                  <a:srgbClr val="D92517"/>
                </a:solidFill>
                <a:latin typeface="楷体_GB2312" pitchFamily="49" charset="-122"/>
              </a:rPr>
              <a:t>姓名*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latin typeface="楷体_GB2312" pitchFamily="49" charset="-122"/>
              </a:rPr>
              <a:t>         char sex;</a:t>
            </a:r>
            <a:r>
              <a:rPr lang="en-US" altLang="zh-CN" dirty="0">
                <a:ea typeface="黑体" pitchFamily="2" charset="-122"/>
              </a:rPr>
              <a:t>               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/*</a:t>
            </a:r>
            <a:r>
              <a:rPr lang="zh-CN" altLang="en-US" dirty="0">
                <a:solidFill>
                  <a:srgbClr val="D92517"/>
                </a:solidFill>
                <a:latin typeface="楷体_GB2312" pitchFamily="49" charset="-122"/>
              </a:rPr>
              <a:t>性别*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latin typeface="楷体_GB2312" pitchFamily="49" charset="-122"/>
              </a:rPr>
              <a:t>         int score;    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/*</a:t>
            </a:r>
            <a:r>
              <a:rPr lang="zh-CN" altLang="en-US" dirty="0">
                <a:solidFill>
                  <a:srgbClr val="D92517"/>
                </a:solidFill>
                <a:latin typeface="楷体_GB2312" pitchFamily="49" charset="-122"/>
              </a:rPr>
              <a:t>高考分数*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latin typeface="楷体_GB2312" pitchFamily="49" charset="-122"/>
              </a:rPr>
              <a:t>         char *place;</a:t>
            </a:r>
            <a:r>
              <a:rPr lang="en-US" altLang="zh-CN" dirty="0">
                <a:ea typeface="黑体" pitchFamily="2" charset="-122"/>
              </a:rPr>
              <a:t>         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/*</a:t>
            </a:r>
            <a:r>
              <a:rPr lang="zh-CN" altLang="en-US" dirty="0">
                <a:solidFill>
                  <a:srgbClr val="D92517"/>
                </a:solidFill>
                <a:latin typeface="楷体_GB2312" pitchFamily="49" charset="-122"/>
              </a:rPr>
              <a:t>生源*</a:t>
            </a:r>
            <a:r>
              <a:rPr lang="en-US" altLang="zh-CN" dirty="0">
                <a:solidFill>
                  <a:srgbClr val="D92517"/>
                </a:solidFill>
                <a:latin typeface="楷体_GB2312" pitchFamily="49" charset="-122"/>
              </a:rPr>
              <a:t>/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>
                <a:latin typeface="楷体_GB2312" pitchFamily="49" charset="-122"/>
              </a:rPr>
              <a:t>       };</a:t>
            </a:r>
            <a:r>
              <a:rPr lang="en-US" altLang="zh-CN" b="0" dirty="0">
                <a:ea typeface="黑体" pitchFamily="2" charset="-122"/>
              </a:rPr>
              <a:t>    </a:t>
            </a:r>
            <a:endParaRPr lang="en-US" altLang="zh-CN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8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8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8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8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8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8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8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4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Text Box 2">
            <a:extLst>
              <a:ext uri="{FF2B5EF4-FFF2-40B4-BE49-F238E27FC236}">
                <a16:creationId xmlns:a16="http://schemas.microsoft.com/office/drawing/2014/main" id="{B27B6834-730B-43DA-B116-2BC8B1F66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7696200" cy="22875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结构类型的定义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形式：</a:t>
            </a:r>
            <a:r>
              <a:rPr lang="en-US" altLang="zh-CN" dirty="0" err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结构名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        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{   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成员表列</a:t>
            </a:r>
            <a:r>
              <a:rPr lang="zh-CN" altLang="en-US" dirty="0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；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} </a:t>
            </a:r>
            <a:r>
              <a:rPr lang="en-US" altLang="zh-CN" dirty="0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;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</a:t>
            </a:r>
          </a:p>
        </p:txBody>
      </p:sp>
      <p:sp>
        <p:nvSpPr>
          <p:cNvPr id="489475" name="AutoShape 3"/>
          <p:cNvSpPr>
            <a:spLocks noChangeArrowheads="1"/>
          </p:cNvSpPr>
          <p:nvPr/>
        </p:nvSpPr>
        <p:spPr bwMode="auto">
          <a:xfrm>
            <a:off x="3995738" y="4221163"/>
            <a:ext cx="4968875" cy="1422400"/>
          </a:xfrm>
          <a:prstGeom prst="wedgeRectCallout">
            <a:avLst>
              <a:gd name="adj1" fmla="val -75685"/>
              <a:gd name="adj2" fmla="val -86829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 date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{ int year,month,day;};</a:t>
            </a:r>
          </a:p>
        </p:txBody>
      </p:sp>
      <p:sp>
        <p:nvSpPr>
          <p:cNvPr id="489476" name="Text Box 4">
            <a:extLst>
              <a:ext uri="{FF2B5EF4-FFF2-40B4-BE49-F238E27FC236}">
                <a16:creationId xmlns:a16="http://schemas.microsoft.com/office/drawing/2014/main" id="{C6E48DFB-9CBD-48D9-AD91-6009031EF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36838"/>
            <a:ext cx="8208963" cy="3749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【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】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定义代表日期信息的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date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结构类型。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date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{  int year </a:t>
            </a:r>
            <a:r>
              <a:rPr lang="en-US" altLang="zh-CN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int month </a:t>
            </a:r>
            <a:r>
              <a:rPr lang="en-US" altLang="zh-CN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int day </a:t>
            </a:r>
            <a:r>
              <a:rPr lang="en-US" altLang="zh-CN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}</a:t>
            </a:r>
            <a:r>
              <a:rPr lang="en-US" altLang="zh-CN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 ; 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94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94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94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94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94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94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474" grpId="0"/>
      <p:bldP spid="48947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Text Box 2">
            <a:extLst>
              <a:ext uri="{FF2B5EF4-FFF2-40B4-BE49-F238E27FC236}">
                <a16:creationId xmlns:a16="http://schemas.microsoft.com/office/drawing/2014/main" id="{3D3A3ADC-5F38-4BA3-B5BA-1152E111F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484313"/>
            <a:ext cx="6985000" cy="401478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</a:t>
            </a: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medicine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{  char *code;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char *name;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float price;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char *place;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struct date  validity;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};</a:t>
            </a:r>
          </a:p>
        </p:txBody>
      </p:sp>
      <p:graphicFrame>
        <p:nvGraphicFramePr>
          <p:cNvPr id="490547" name="Group 51">
            <a:extLst>
              <a:ext uri="{FF2B5EF4-FFF2-40B4-BE49-F238E27FC236}">
                <a16:creationId xmlns:a16="http://schemas.microsoft.com/office/drawing/2014/main" id="{6590EAA1-E45D-479B-BD56-37E358463EC1}"/>
              </a:ext>
            </a:extLst>
          </p:cNvPr>
          <p:cNvGraphicFramePr>
            <a:graphicFrameLocks noGrp="1"/>
          </p:cNvGraphicFramePr>
          <p:nvPr/>
        </p:nvGraphicFramePr>
        <p:xfrm>
          <a:off x="282575" y="5432425"/>
          <a:ext cx="8610600" cy="1236663"/>
        </p:xfrm>
        <a:graphic>
          <a:graphicData uri="http://schemas.openxmlformats.org/drawingml/2006/table">
            <a:tbl>
              <a:tblPr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36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code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price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place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validity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year    month  day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0535" name="Line 39"/>
          <p:cNvSpPr>
            <a:spLocks noChangeShapeType="1"/>
          </p:cNvSpPr>
          <p:nvPr/>
        </p:nvSpPr>
        <p:spPr bwMode="auto">
          <a:xfrm>
            <a:off x="6113463" y="6022975"/>
            <a:ext cx="2743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0536" name="Line 40"/>
          <p:cNvSpPr>
            <a:spLocks noChangeShapeType="1"/>
          </p:cNvSpPr>
          <p:nvPr/>
        </p:nvSpPr>
        <p:spPr bwMode="auto">
          <a:xfrm flipH="1">
            <a:off x="6877050" y="6022975"/>
            <a:ext cx="15875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0537" name="Line 41"/>
          <p:cNvSpPr>
            <a:spLocks noChangeShapeType="1"/>
          </p:cNvSpPr>
          <p:nvPr/>
        </p:nvSpPr>
        <p:spPr bwMode="auto">
          <a:xfrm>
            <a:off x="8172450" y="6022975"/>
            <a:ext cx="0" cy="719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0538" name="Text Box 42"/>
          <p:cNvSpPr txBox="1">
            <a:spLocks noChangeArrowheads="1"/>
          </p:cNvSpPr>
          <p:nvPr/>
        </p:nvSpPr>
        <p:spPr bwMode="auto">
          <a:xfrm>
            <a:off x="179388" y="1049338"/>
            <a:ext cx="3816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结构类型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medicine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490542" name="Line 46"/>
          <p:cNvSpPr>
            <a:spLocks noChangeShapeType="1"/>
          </p:cNvSpPr>
          <p:nvPr/>
        </p:nvSpPr>
        <p:spPr bwMode="auto">
          <a:xfrm>
            <a:off x="2339975" y="4941888"/>
            <a:ext cx="23034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8" name="Rectangle 48"/>
          <p:cNvSpPr>
            <a:spLocks noChangeArrowheads="1"/>
          </p:cNvSpPr>
          <p:nvPr/>
        </p:nvSpPr>
        <p:spPr bwMode="auto">
          <a:xfrm>
            <a:off x="250825" y="260350"/>
            <a:ext cx="8424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定义代表药品信息的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medicine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结构类型。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0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04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04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04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04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04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04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9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9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9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9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Text Box 2">
            <a:extLst>
              <a:ext uri="{FF2B5EF4-FFF2-40B4-BE49-F238E27FC236}">
                <a16:creationId xmlns:a16="http://schemas.microsoft.com/office/drawing/2014/main" id="{7DDD679D-D65E-4ABB-B0F8-BF11EB447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7696200" cy="12382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结构变量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1.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结构变量的定义</a:t>
            </a:r>
          </a:p>
        </p:txBody>
      </p:sp>
      <p:sp>
        <p:nvSpPr>
          <p:cNvPr id="491523" name="Text Box 3">
            <a:extLst>
              <a:ext uri="{FF2B5EF4-FFF2-40B4-BE49-F238E27FC236}">
                <a16:creationId xmlns:a16="http://schemas.microsoft.com/office/drawing/2014/main" id="{FB7C64BA-BF20-4EAC-A4CA-C48CB6D6E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613025"/>
            <a:ext cx="7777162" cy="35036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student</a:t>
            </a:r>
          </a:p>
          <a:p>
            <a:pPr eaLnBrk="1" hangingPunct="1"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{  long num;</a:t>
            </a:r>
          </a:p>
          <a:p>
            <a:pPr eaLnBrk="1" hangingPunct="1"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char name[6];</a:t>
            </a:r>
          </a:p>
          <a:p>
            <a:pPr eaLnBrk="1" hangingPunct="1"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char sex;</a:t>
            </a:r>
          </a:p>
          <a:p>
            <a:pPr eaLnBrk="1" hangingPunct="1"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int score;</a:t>
            </a:r>
          </a:p>
          <a:p>
            <a:pPr eaLnBrk="1" hangingPunct="1"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char place[12];</a:t>
            </a:r>
          </a:p>
          <a:p>
            <a:pPr eaLnBrk="1" hangingPunct="1"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};</a:t>
            </a:r>
          </a:p>
        </p:txBody>
      </p:sp>
      <p:sp>
        <p:nvSpPr>
          <p:cNvPr id="491524" name="Text Box 4"/>
          <p:cNvSpPr txBox="1">
            <a:spLocks noChangeArrowheads="1"/>
          </p:cNvSpPr>
          <p:nvPr/>
        </p:nvSpPr>
        <p:spPr bwMode="auto">
          <a:xfrm>
            <a:off x="539750" y="1820863"/>
            <a:ext cx="84963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）先定义结构类型，再声明该类型的变量</a:t>
            </a:r>
          </a:p>
        </p:txBody>
      </p:sp>
      <p:sp>
        <p:nvSpPr>
          <p:cNvPr id="491525" name="Text Box 5">
            <a:extLst>
              <a:ext uri="{FF2B5EF4-FFF2-40B4-BE49-F238E27FC236}">
                <a16:creationId xmlns:a16="http://schemas.microsoft.com/office/drawing/2014/main" id="{689D174B-0B92-41EA-8739-48F41D2A7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710238"/>
            <a:ext cx="7273925" cy="8239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5000"/>
              </a:spcBef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student  zhang,zhao,wang;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/>
      <p:bldP spid="491524" grpId="0"/>
      <p:bldP spid="4915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Text Box 2"/>
          <p:cNvSpPr txBox="1">
            <a:spLocks noChangeArrowheads="1"/>
          </p:cNvSpPr>
          <p:nvPr/>
        </p:nvSpPr>
        <p:spPr bwMode="auto">
          <a:xfrm>
            <a:off x="395288" y="188913"/>
            <a:ext cx="76962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）定义结构类型的同时声明变量</a:t>
            </a:r>
          </a:p>
        </p:txBody>
      </p:sp>
      <p:sp>
        <p:nvSpPr>
          <p:cNvPr id="733186" name="Text Box 2">
            <a:extLst>
              <a:ext uri="{FF2B5EF4-FFF2-40B4-BE49-F238E27FC236}">
                <a16:creationId xmlns:a16="http://schemas.microsoft.com/office/drawing/2014/main" id="{8C94CD6F-6B32-466C-AF06-2FF29A91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81075"/>
            <a:ext cx="7561262" cy="521493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   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student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{  long num;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   char name[6];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   char sex;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   int score;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   char place[12];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 } xia,ding,li;</a:t>
            </a:r>
          </a:p>
        </p:txBody>
      </p:sp>
      <p:sp>
        <p:nvSpPr>
          <p:cNvPr id="733187" name="Line 3"/>
          <p:cNvSpPr>
            <a:spLocks noChangeShapeType="1"/>
          </p:cNvSpPr>
          <p:nvPr/>
        </p:nvSpPr>
        <p:spPr bwMode="auto">
          <a:xfrm>
            <a:off x="2266950" y="6196013"/>
            <a:ext cx="23050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3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3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3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3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3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2000" fill="hold"/>
                                        <p:tgtEl>
                                          <p:spTgt spid="73318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Text Box 2"/>
          <p:cNvSpPr txBox="1">
            <a:spLocks noChangeArrowheads="1"/>
          </p:cNvSpPr>
          <p:nvPr/>
        </p:nvSpPr>
        <p:spPr bwMode="auto">
          <a:xfrm>
            <a:off x="122238" y="160338"/>
            <a:ext cx="8893175" cy="228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2.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结构变量的引用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结构变量通常都以成员的形式加以引用，结构变量成员的标记形式为：</a:t>
            </a:r>
          </a:p>
        </p:txBody>
      </p:sp>
      <p:sp>
        <p:nvSpPr>
          <p:cNvPr id="493571" name="AutoShape 3"/>
          <p:cNvSpPr>
            <a:spLocks noChangeArrowheads="1"/>
          </p:cNvSpPr>
          <p:nvPr/>
        </p:nvSpPr>
        <p:spPr bwMode="auto">
          <a:xfrm>
            <a:off x="3505200" y="3759200"/>
            <a:ext cx="2506663" cy="533400"/>
          </a:xfrm>
          <a:prstGeom prst="wedgeRectCallout">
            <a:avLst>
              <a:gd name="adj1" fmla="val 8074"/>
              <a:gd name="adj2" fmla="val -173213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成员运算符</a:t>
            </a:r>
          </a:p>
        </p:txBody>
      </p:sp>
      <p:sp>
        <p:nvSpPr>
          <p:cNvPr id="493572" name="Rectangle 4">
            <a:extLst>
              <a:ext uri="{FF2B5EF4-FFF2-40B4-BE49-F238E27FC236}">
                <a16:creationId xmlns:a16="http://schemas.microsoft.com/office/drawing/2014/main" id="{DF583CD1-1494-4500-8DA4-0442A3D83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365625"/>
            <a:ext cx="7237412" cy="2043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【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例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】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设有如下说明：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>
                <a:latin typeface="楷体_GB2312" pitchFamily="49" charset="-122"/>
                <a:cs typeface="Times New Roman" pitchFamily="18" charset="0"/>
              </a:rPr>
              <a:t>       </a:t>
            </a: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date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   { int year,month,day;};</a:t>
            </a:r>
          </a:p>
        </p:txBody>
      </p:sp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901700" y="2420938"/>
            <a:ext cx="74866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结构变量名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成员名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/>
      <p:bldP spid="493571" grpId="0" animBg="1"/>
      <p:bldP spid="493572" grpId="0"/>
      <p:bldP spid="49357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Text Box 2"/>
          <p:cNvSpPr txBox="1">
            <a:spLocks noChangeArrowheads="1"/>
          </p:cNvSpPr>
          <p:nvPr/>
        </p:nvSpPr>
        <p:spPr bwMode="auto">
          <a:xfrm>
            <a:off x="611188" y="4603750"/>
            <a:ext cx="8202612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以下语句序列是对药品结构变量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drug1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drug2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进行赋值、输入和输出运算：</a:t>
            </a:r>
          </a:p>
        </p:txBody>
      </p:sp>
      <p:sp>
        <p:nvSpPr>
          <p:cNvPr id="494595" name="Text Box 3">
            <a:extLst>
              <a:ext uri="{FF2B5EF4-FFF2-40B4-BE49-F238E27FC236}">
                <a16:creationId xmlns:a16="http://schemas.microsoft.com/office/drawing/2014/main" id="{9873C51F-4F70-431B-A1D9-DB82B3E63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8913"/>
            <a:ext cx="7502525" cy="43592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ea typeface="黑体" pitchFamily="2" charset="-122"/>
              </a:rPr>
              <a:t>   </a:t>
            </a: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 medicine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{  char *code;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char *name;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float price;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char *place;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  struct date validity;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  } drug1,drug2;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4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Text Box 2"/>
          <p:cNvSpPr txBox="1">
            <a:spLocks noChangeArrowheads="1"/>
          </p:cNvSpPr>
          <p:nvPr/>
        </p:nvSpPr>
        <p:spPr bwMode="auto">
          <a:xfrm>
            <a:off x="684213" y="765175"/>
            <a:ext cx="7239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drug1.name=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penicillin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95619" name="Line 3"/>
          <p:cNvSpPr>
            <a:spLocks noChangeShapeType="1"/>
          </p:cNvSpPr>
          <p:nvPr/>
        </p:nvSpPr>
        <p:spPr bwMode="auto">
          <a:xfrm>
            <a:off x="212725" y="5156200"/>
            <a:ext cx="4359275" cy="1588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5620" name="Line 4"/>
          <p:cNvSpPr>
            <a:spLocks noChangeShapeType="1"/>
          </p:cNvSpPr>
          <p:nvPr/>
        </p:nvSpPr>
        <p:spPr bwMode="auto">
          <a:xfrm>
            <a:off x="3492500" y="4149725"/>
            <a:ext cx="4103688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5621" name="Line 5"/>
          <p:cNvSpPr>
            <a:spLocks noChangeShapeType="1"/>
          </p:cNvSpPr>
          <p:nvPr/>
        </p:nvSpPr>
        <p:spPr bwMode="auto">
          <a:xfrm>
            <a:off x="4716463" y="5148263"/>
            <a:ext cx="3959225" cy="9525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2162" name="Text Box 2"/>
          <p:cNvSpPr txBox="1">
            <a:spLocks noChangeArrowheads="1"/>
          </p:cNvSpPr>
          <p:nvPr/>
        </p:nvSpPr>
        <p:spPr bwMode="auto">
          <a:xfrm>
            <a:off x="684213" y="1268413"/>
            <a:ext cx="4079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drug1.price=6.38;</a:t>
            </a:r>
          </a:p>
        </p:txBody>
      </p:sp>
      <p:sp>
        <p:nvSpPr>
          <p:cNvPr id="732163" name="Text Box 3"/>
          <p:cNvSpPr txBox="1">
            <a:spLocks noChangeArrowheads="1"/>
          </p:cNvSpPr>
          <p:nvPr/>
        </p:nvSpPr>
        <p:spPr bwMode="auto">
          <a:xfrm>
            <a:off x="684213" y="1844675"/>
            <a:ext cx="6672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drug2.name=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vitamine C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32164" name="Text Box 4"/>
          <p:cNvSpPr txBox="1">
            <a:spLocks noChangeArrowheads="1"/>
          </p:cNvSpPr>
          <p:nvPr/>
        </p:nvSpPr>
        <p:spPr bwMode="auto">
          <a:xfrm>
            <a:off x="850900" y="2492375"/>
            <a:ext cx="78247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if(drug2.code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＝＝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99103x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drug2.price=drug2.price-7.5;</a:t>
            </a:r>
          </a:p>
        </p:txBody>
      </p:sp>
      <p:sp>
        <p:nvSpPr>
          <p:cNvPr id="732165" name="Text Box 5"/>
          <p:cNvSpPr txBox="1">
            <a:spLocks noChangeArrowheads="1"/>
          </p:cNvSpPr>
          <p:nvPr/>
        </p:nvSpPr>
        <p:spPr bwMode="auto">
          <a:xfrm>
            <a:off x="431800" y="3644900"/>
            <a:ext cx="88931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scanf(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%d%d%d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,&amp;drug1.validity.year,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&amp;drug1.validity.month,&amp;drug1.validity.day);</a:t>
            </a:r>
          </a:p>
        </p:txBody>
      </p:sp>
      <p:sp>
        <p:nvSpPr>
          <p:cNvPr id="732166" name="Text Box 6"/>
          <p:cNvSpPr txBox="1">
            <a:spLocks noChangeArrowheads="1"/>
          </p:cNvSpPr>
          <p:nvPr/>
        </p:nvSpPr>
        <p:spPr bwMode="auto">
          <a:xfrm>
            <a:off x="709613" y="5229225"/>
            <a:ext cx="63833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puts(drug1.name);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puts(drug2.name);</a:t>
            </a:r>
          </a:p>
        </p:txBody>
      </p:sp>
      <p:sp>
        <p:nvSpPr>
          <p:cNvPr id="732167" name="AutoShape 7"/>
          <p:cNvSpPr>
            <a:spLocks noChangeArrowheads="1"/>
          </p:cNvSpPr>
          <p:nvPr/>
        </p:nvSpPr>
        <p:spPr bwMode="auto">
          <a:xfrm>
            <a:off x="2266950" y="115888"/>
            <a:ext cx="2305050" cy="533400"/>
          </a:xfrm>
          <a:prstGeom prst="wedgeRectCallout">
            <a:avLst>
              <a:gd name="adj1" fmla="val -48005"/>
              <a:gd name="adj2" fmla="val 129167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成员运算符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9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9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3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18" grpId="0"/>
      <p:bldP spid="732162" grpId="0"/>
      <p:bldP spid="732163" grpId="0"/>
      <p:bldP spid="732164" grpId="0"/>
      <p:bldP spid="732165" grpId="0"/>
      <p:bldP spid="732166" grpId="0"/>
      <p:bldP spid="73216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Text Box 2"/>
          <p:cNvSpPr txBox="1">
            <a:spLocks noChangeArrowheads="1"/>
          </p:cNvSpPr>
          <p:nvPr/>
        </p:nvSpPr>
        <p:spPr bwMode="auto">
          <a:xfrm>
            <a:off x="323850" y="173038"/>
            <a:ext cx="8153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结构变量的初始化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结构变量在定义时被赋初值。</a:t>
            </a:r>
          </a:p>
        </p:txBody>
      </p:sp>
      <p:sp>
        <p:nvSpPr>
          <p:cNvPr id="509955" name="Text Box 3">
            <a:extLst>
              <a:ext uri="{FF2B5EF4-FFF2-40B4-BE49-F238E27FC236}">
                <a16:creationId xmlns:a16="http://schemas.microsoft.com/office/drawing/2014/main" id="{A0D5B869-2181-4DF3-9C6F-06DA13841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8153400" cy="53594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        struct medicine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{ char  *code;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    char  *name;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    float  price;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    char  *place;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ea typeface="黑体" pitchFamily="2" charset="-122"/>
              </a:rPr>
              <a:t>              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struct  date</a:t>
            </a:r>
            <a:r>
              <a:rPr lang="en-US" altLang="zh-CN" dirty="0">
                <a:ea typeface="黑体" pitchFamily="2" charset="-122"/>
              </a:rPr>
              <a:t>   </a:t>
            </a:r>
            <a:r>
              <a:rPr lang="en-US" altLang="zh-CN" dirty="0">
                <a:latin typeface="楷体_GB2312" pitchFamily="49" charset="-122"/>
              </a:rPr>
              <a:t>validity; 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2" grpId="0"/>
      <p:bldP spid="5099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691" name="Text Box 3">
            <a:extLst>
              <a:ext uri="{FF2B5EF4-FFF2-40B4-BE49-F238E27FC236}">
                <a16:creationId xmlns:a16="http://schemas.microsoft.com/office/drawing/2014/main" id="{82A657D1-D5E0-4DDB-98AD-A9C6AD1FF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88913"/>
            <a:ext cx="8153400" cy="3749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 medicine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{ char  *code;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    char  *name;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    float  price;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    char  *place;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ea typeface="黑体" pitchFamily="2" charset="-122"/>
              </a:rPr>
              <a:t>              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struct  date</a:t>
            </a:r>
            <a:r>
              <a:rPr lang="en-US" altLang="zh-CN" dirty="0">
                <a:ea typeface="黑体" pitchFamily="2" charset="-122"/>
              </a:rPr>
              <a:t>   </a:t>
            </a:r>
            <a:r>
              <a:rPr lang="en-US" altLang="zh-CN" dirty="0">
                <a:latin typeface="楷体_GB2312" pitchFamily="49" charset="-122"/>
              </a:rPr>
              <a:t>validity;  };</a:t>
            </a:r>
          </a:p>
        </p:txBody>
      </p:sp>
      <p:sp>
        <p:nvSpPr>
          <p:cNvPr id="1010692" name="Text Box 4">
            <a:extLst>
              <a:ext uri="{FF2B5EF4-FFF2-40B4-BE49-F238E27FC236}">
                <a16:creationId xmlns:a16="http://schemas.microsoft.com/office/drawing/2014/main" id="{CD70F586-CFF6-4918-A425-D28B1FA13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05263"/>
            <a:ext cx="8496300" cy="21955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3200" b="1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  medicine</a:t>
            </a:r>
            <a:r>
              <a:rPr lang="en-US" altLang="zh-CN"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drug1,drug2=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3000">
                <a:latin typeface="楷体_GB2312" pitchFamily="49" charset="-122"/>
                <a:cs typeface="Times New Roman" pitchFamily="18" charset="0"/>
              </a:rPr>
              <a:t>{</a:t>
            </a:r>
            <a:r>
              <a:rPr lang="en-US" altLang="zh-CN" sz="3000">
                <a:cs typeface="Times New Roman" pitchFamily="18" charset="0"/>
              </a:rPr>
              <a:t>“</a:t>
            </a:r>
            <a:r>
              <a:rPr lang="en-US" altLang="zh-CN" sz="3000">
                <a:latin typeface="楷体_GB2312" pitchFamily="49" charset="-122"/>
                <a:cs typeface="Times New Roman" pitchFamily="18" charset="0"/>
              </a:rPr>
              <a:t>01-56p</a:t>
            </a:r>
            <a:r>
              <a:rPr lang="en-US" altLang="zh-CN" sz="3000">
                <a:cs typeface="Times New Roman" pitchFamily="18" charset="0"/>
              </a:rPr>
              <a:t>”</a:t>
            </a:r>
            <a:r>
              <a:rPr lang="en-US" altLang="zh-CN" sz="3000">
                <a:latin typeface="楷体_GB2312" pitchFamily="49" charset="-122"/>
                <a:cs typeface="Times New Roman" pitchFamily="18" charset="0"/>
              </a:rPr>
              <a:t>,</a:t>
            </a:r>
            <a:r>
              <a:rPr lang="en-US" altLang="zh-CN" sz="3000">
                <a:cs typeface="Times New Roman" pitchFamily="18" charset="0"/>
              </a:rPr>
              <a:t>“</a:t>
            </a:r>
            <a:r>
              <a:rPr lang="en-US" altLang="zh-CN" sz="3000">
                <a:latin typeface="楷体_GB2312" pitchFamily="49" charset="-122"/>
                <a:cs typeface="Times New Roman" pitchFamily="18" charset="0"/>
              </a:rPr>
              <a:t>vitamine C</a:t>
            </a:r>
            <a:r>
              <a:rPr lang="en-US" altLang="zh-CN" sz="3000">
                <a:cs typeface="Times New Roman" pitchFamily="18" charset="0"/>
              </a:rPr>
              <a:t>”</a:t>
            </a:r>
            <a:r>
              <a:rPr lang="en-US" altLang="zh-CN" sz="3000">
                <a:latin typeface="楷体_GB2312" pitchFamily="49" charset="-122"/>
                <a:cs typeface="Times New Roman" pitchFamily="18" charset="0"/>
              </a:rPr>
              <a:t>, 22.65, “Shanghai</a:t>
            </a:r>
            <a:r>
              <a:rPr lang="en-US" altLang="zh-CN" sz="3000">
                <a:cs typeface="Times New Roman" pitchFamily="18" charset="0"/>
              </a:rPr>
              <a:t>”</a:t>
            </a:r>
            <a:r>
              <a:rPr lang="en-US" altLang="zh-CN" sz="3000">
                <a:latin typeface="楷体_GB2312" pitchFamily="49" charset="-122"/>
                <a:cs typeface="Times New Roman" pitchFamily="18" charset="0"/>
              </a:rPr>
              <a:t>, {2002,12,31}};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0691" grpId="0"/>
      <p:bldP spid="101069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Text Box 2"/>
          <p:cNvSpPr txBox="1">
            <a:spLocks noChangeArrowheads="1"/>
          </p:cNvSpPr>
          <p:nvPr/>
        </p:nvSpPr>
        <p:spPr bwMode="auto">
          <a:xfrm>
            <a:off x="395288" y="550863"/>
            <a:ext cx="6832600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结构数组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结构数组的定义</a:t>
            </a:r>
            <a:endParaRPr lang="zh-CN" altLang="en-US">
              <a:solidFill>
                <a:srgbClr val="D92517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1138" name="Text Box 2">
            <a:extLst>
              <a:ext uri="{FF2B5EF4-FFF2-40B4-BE49-F238E27FC236}">
                <a16:creationId xmlns:a16="http://schemas.microsoft.com/office/drawing/2014/main" id="{4F2BE611-8DAE-4D04-A8D7-7C5C46618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16150"/>
            <a:ext cx="8388350" cy="272573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形式：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结构类型  数组名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[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常量表达式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]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b="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     </a:t>
            </a: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 date</a:t>
            </a:r>
          </a:p>
          <a:p>
            <a:pPr eaLnBrk="1" hangingPunct="1">
              <a:lnSpc>
                <a:spcPct val="180000"/>
              </a:lnSpc>
              <a:defRPr/>
            </a:pP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             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{ int year,month,day; } ;</a:t>
            </a: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                 </a:t>
            </a:r>
            <a:endParaRPr lang="en-US" altLang="zh-CN" dirty="0">
              <a:solidFill>
                <a:srgbClr val="D92517"/>
              </a:solidFill>
              <a:latin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715" name="Text Box 3">
            <a:extLst>
              <a:ext uri="{FF2B5EF4-FFF2-40B4-BE49-F238E27FC236}">
                <a16:creationId xmlns:a16="http://schemas.microsoft.com/office/drawing/2014/main" id="{6F108F01-1271-4598-A940-0D5CDCB6F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5888"/>
            <a:ext cx="7345363" cy="3749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 medicine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ea typeface="黑体" pitchFamily="2" charset="-122"/>
                <a:cs typeface="Times New Roman" pitchFamily="18" charset="0"/>
              </a:rPr>
              <a:t>   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{ char *code;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char *name;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float price;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char *place;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        struct date validity;};</a:t>
            </a:r>
            <a:endParaRPr lang="en-US" altLang="zh-CN" dirty="0">
              <a:solidFill>
                <a:srgbClr val="D92517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sp>
        <p:nvSpPr>
          <p:cNvPr id="1011716" name="Text Box 4">
            <a:extLst>
              <a:ext uri="{FF2B5EF4-FFF2-40B4-BE49-F238E27FC236}">
                <a16:creationId xmlns:a16="http://schemas.microsoft.com/office/drawing/2014/main" id="{C412F6A5-6ADF-4954-A416-5024937C9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789363"/>
            <a:ext cx="5722937" cy="701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struct medicine drug[10];</a:t>
            </a:r>
          </a:p>
        </p:txBody>
      </p:sp>
      <p:sp>
        <p:nvSpPr>
          <p:cNvPr id="1011717" name="Text Box 5"/>
          <p:cNvSpPr txBox="1">
            <a:spLocks noChangeArrowheads="1"/>
          </p:cNvSpPr>
          <p:nvPr/>
        </p:nvSpPr>
        <p:spPr bwMode="auto">
          <a:xfrm>
            <a:off x="468313" y="4508500"/>
            <a:ext cx="84963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2.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结构数组的引用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结构数组是以下标变量的成员名形式加以引用的。其标记形式为：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1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1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1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1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1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11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1716" grpId="0"/>
      <p:bldP spid="10117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9" name="AutoShape 3"/>
          <p:cNvSpPr>
            <a:spLocks noChangeArrowheads="1"/>
          </p:cNvSpPr>
          <p:nvPr/>
        </p:nvSpPr>
        <p:spPr bwMode="auto">
          <a:xfrm>
            <a:off x="3563938" y="2203450"/>
            <a:ext cx="5472112" cy="3817938"/>
          </a:xfrm>
          <a:prstGeom prst="wedgeRectCallout">
            <a:avLst>
              <a:gd name="adj1" fmla="val -50347"/>
              <a:gd name="adj2" fmla="val 1212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for(i=0;i&lt;N;i++)</a:t>
            </a:r>
          </a:p>
          <a:p>
            <a:pPr eaLnBrk="1" hangingPunct="1">
              <a:lnSpc>
                <a:spcPct val="1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{  gets(p[i].name);     scanf(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%ld%d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,&amp;p[i].num,&amp;p[i].score);}</a:t>
            </a:r>
          </a:p>
        </p:txBody>
      </p:sp>
      <p:sp>
        <p:nvSpPr>
          <p:cNvPr id="512003" name="Text Box 3"/>
          <p:cNvSpPr txBox="1">
            <a:spLocks noChangeArrowheads="1"/>
          </p:cNvSpPr>
          <p:nvPr/>
        </p:nvSpPr>
        <p:spPr bwMode="auto">
          <a:xfrm>
            <a:off x="611188" y="115888"/>
            <a:ext cx="76962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结构数组名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[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下标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].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成员名</a:t>
            </a:r>
          </a:p>
        </p:txBody>
      </p:sp>
      <p:sp>
        <p:nvSpPr>
          <p:cNvPr id="512004" name="Text Box 4"/>
          <p:cNvSpPr txBox="1">
            <a:spLocks noChangeArrowheads="1"/>
          </p:cNvSpPr>
          <p:nvPr/>
        </p:nvSpPr>
        <p:spPr bwMode="auto">
          <a:xfrm>
            <a:off x="179388" y="981075"/>
            <a:ext cx="3960812" cy="521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#define N 100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 student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{  char *name;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long num;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int score;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} p[N];</a:t>
            </a:r>
          </a:p>
        </p:txBody>
      </p:sp>
      <p:sp>
        <p:nvSpPr>
          <p:cNvPr id="512005" name="Text Box 5"/>
          <p:cNvSpPr txBox="1">
            <a:spLocks noChangeArrowheads="1"/>
          </p:cNvSpPr>
          <p:nvPr/>
        </p:nvSpPr>
        <p:spPr bwMode="auto">
          <a:xfrm>
            <a:off x="3276600" y="981075"/>
            <a:ext cx="56880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对数组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p[N]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赋初值的语句如下：</a:t>
            </a:r>
          </a:p>
        </p:txBody>
      </p:sp>
      <p:sp>
        <p:nvSpPr>
          <p:cNvPr id="512006" name="Line 6"/>
          <p:cNvSpPr>
            <a:spLocks noChangeShapeType="1"/>
          </p:cNvSpPr>
          <p:nvPr/>
        </p:nvSpPr>
        <p:spPr bwMode="auto">
          <a:xfrm>
            <a:off x="5364163" y="4149725"/>
            <a:ext cx="20891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07" name="Line 7"/>
          <p:cNvSpPr>
            <a:spLocks noChangeShapeType="1"/>
          </p:cNvSpPr>
          <p:nvPr/>
        </p:nvSpPr>
        <p:spPr bwMode="auto">
          <a:xfrm>
            <a:off x="5219700" y="5013325"/>
            <a:ext cx="6477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08" name="Line 8"/>
          <p:cNvSpPr>
            <a:spLocks noChangeShapeType="1"/>
          </p:cNvSpPr>
          <p:nvPr/>
        </p:nvSpPr>
        <p:spPr bwMode="auto">
          <a:xfrm>
            <a:off x="6843713" y="5027613"/>
            <a:ext cx="1871662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09" name="Line 9"/>
          <p:cNvSpPr>
            <a:spLocks noChangeShapeType="1"/>
          </p:cNvSpPr>
          <p:nvPr/>
        </p:nvSpPr>
        <p:spPr bwMode="auto">
          <a:xfrm>
            <a:off x="6156325" y="5005388"/>
            <a:ext cx="3587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10" name="Line 10"/>
          <p:cNvSpPr>
            <a:spLocks noChangeShapeType="1"/>
          </p:cNvSpPr>
          <p:nvPr/>
        </p:nvSpPr>
        <p:spPr bwMode="auto">
          <a:xfrm>
            <a:off x="4284663" y="5876925"/>
            <a:ext cx="2159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0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0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1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3" grpId="0"/>
      <p:bldP spid="512004" grpId="0"/>
      <p:bldP spid="5120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Text Box 2"/>
          <p:cNvSpPr txBox="1">
            <a:spLocks noChangeArrowheads="1"/>
          </p:cNvSpPr>
          <p:nvPr/>
        </p:nvSpPr>
        <p:spPr bwMode="auto">
          <a:xfrm>
            <a:off x="395288" y="115888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结构数组的初始化</a:t>
            </a:r>
          </a:p>
        </p:txBody>
      </p:sp>
      <p:sp>
        <p:nvSpPr>
          <p:cNvPr id="730114" name="Text Box 2"/>
          <p:cNvSpPr txBox="1">
            <a:spLocks noChangeArrowheads="1"/>
          </p:cNvSpPr>
          <p:nvPr/>
        </p:nvSpPr>
        <p:spPr bwMode="auto">
          <a:xfrm>
            <a:off x="395288" y="765175"/>
            <a:ext cx="84597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与结构变量一样，结构数组也允许定义时被初始化。</a:t>
            </a:r>
          </a:p>
        </p:txBody>
      </p:sp>
      <p:sp>
        <p:nvSpPr>
          <p:cNvPr id="730115" name="Text Box 3"/>
          <p:cNvSpPr txBox="1">
            <a:spLocks noChangeArrowheads="1"/>
          </p:cNvSpPr>
          <p:nvPr/>
        </p:nvSpPr>
        <p:spPr bwMode="auto">
          <a:xfrm>
            <a:off x="827088" y="1878013"/>
            <a:ext cx="7848600" cy="4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 struct student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{ char *name;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long num;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int score;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}p[ ]=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{ {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Zhang san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,1001,536},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{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Li si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,1002,494},</a:t>
            </a: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{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Wang wu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,1003,501} }; </a:t>
            </a:r>
          </a:p>
        </p:txBody>
      </p:sp>
      <p:sp>
        <p:nvSpPr>
          <p:cNvPr id="730116" name="Line 4"/>
          <p:cNvSpPr>
            <a:spLocks noChangeShapeType="1"/>
          </p:cNvSpPr>
          <p:nvPr/>
        </p:nvSpPr>
        <p:spPr bwMode="auto">
          <a:xfrm>
            <a:off x="2987675" y="5300663"/>
            <a:ext cx="41767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0117" name="Line 5"/>
          <p:cNvSpPr>
            <a:spLocks noChangeShapeType="1"/>
          </p:cNvSpPr>
          <p:nvPr/>
        </p:nvSpPr>
        <p:spPr bwMode="auto">
          <a:xfrm>
            <a:off x="3060700" y="5876925"/>
            <a:ext cx="35274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0118" name="Line 6"/>
          <p:cNvSpPr>
            <a:spLocks noChangeShapeType="1"/>
          </p:cNvSpPr>
          <p:nvPr/>
        </p:nvSpPr>
        <p:spPr bwMode="auto">
          <a:xfrm>
            <a:off x="3060700" y="6453188"/>
            <a:ext cx="42481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2" grpId="0"/>
      <p:bldP spid="730114" grpId="0"/>
      <p:bldP spid="7301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Text Box 2050"/>
          <p:cNvSpPr txBox="1">
            <a:spLocks noChangeArrowheads="1"/>
          </p:cNvSpPr>
          <p:nvPr/>
        </p:nvSpPr>
        <p:spPr bwMode="auto">
          <a:xfrm>
            <a:off x="539750" y="188913"/>
            <a:ext cx="84597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经过初始化以后，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数组的存储结构和内容如下图所示：</a:t>
            </a:r>
          </a:p>
        </p:txBody>
      </p:sp>
      <p:graphicFrame>
        <p:nvGraphicFramePr>
          <p:cNvPr id="513060" name="Group 2084">
            <a:extLst>
              <a:ext uri="{FF2B5EF4-FFF2-40B4-BE49-F238E27FC236}">
                <a16:creationId xmlns:a16="http://schemas.microsoft.com/office/drawing/2014/main" id="{E6423265-0CE6-46C0-A032-E0C9455312E2}"/>
              </a:ext>
            </a:extLst>
          </p:cNvPr>
          <p:cNvGraphicFramePr>
            <a:graphicFrameLocks noGrp="1"/>
          </p:cNvGraphicFramePr>
          <p:nvPr/>
        </p:nvGraphicFramePr>
        <p:xfrm>
          <a:off x="2446338" y="1268413"/>
          <a:ext cx="2819400" cy="5211762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Zhang san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1001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536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Li si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1002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494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Wang wu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1003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501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EB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13051" name="Text Box 2075"/>
          <p:cNvSpPr txBox="1">
            <a:spLocks noChangeArrowheads="1"/>
          </p:cNvSpPr>
          <p:nvPr/>
        </p:nvSpPr>
        <p:spPr bwMode="auto">
          <a:xfrm>
            <a:off x="5435600" y="1773238"/>
            <a:ext cx="91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p[0]</a:t>
            </a:r>
          </a:p>
        </p:txBody>
      </p:sp>
      <p:sp>
        <p:nvSpPr>
          <p:cNvPr id="513052" name="Text Box 2076"/>
          <p:cNvSpPr txBox="1">
            <a:spLocks noChangeArrowheads="1"/>
          </p:cNvSpPr>
          <p:nvPr/>
        </p:nvSpPr>
        <p:spPr bwMode="auto">
          <a:xfrm>
            <a:off x="5435600" y="3500438"/>
            <a:ext cx="91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p[1]</a:t>
            </a:r>
          </a:p>
        </p:txBody>
      </p:sp>
      <p:sp>
        <p:nvSpPr>
          <p:cNvPr id="513053" name="Text Box 2077"/>
          <p:cNvSpPr txBox="1">
            <a:spLocks noChangeArrowheads="1"/>
          </p:cNvSpPr>
          <p:nvPr/>
        </p:nvSpPr>
        <p:spPr bwMode="auto">
          <a:xfrm>
            <a:off x="5478463" y="5297488"/>
            <a:ext cx="914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p[2]</a:t>
            </a:r>
          </a:p>
        </p:txBody>
      </p:sp>
      <p:sp>
        <p:nvSpPr>
          <p:cNvPr id="513054" name="AutoShape 2078"/>
          <p:cNvSpPr>
            <a:spLocks/>
          </p:cNvSpPr>
          <p:nvPr/>
        </p:nvSpPr>
        <p:spPr bwMode="auto">
          <a:xfrm>
            <a:off x="5283200" y="1268413"/>
            <a:ext cx="152400" cy="1698625"/>
          </a:xfrm>
          <a:prstGeom prst="rightBrace">
            <a:avLst>
              <a:gd name="adj1" fmla="val 92882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055" name="AutoShape 2079"/>
          <p:cNvSpPr>
            <a:spLocks/>
          </p:cNvSpPr>
          <p:nvPr/>
        </p:nvSpPr>
        <p:spPr bwMode="auto">
          <a:xfrm>
            <a:off x="5292725" y="2997200"/>
            <a:ext cx="165100" cy="1727200"/>
          </a:xfrm>
          <a:prstGeom prst="rightBrace">
            <a:avLst>
              <a:gd name="adj1" fmla="val 87179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3056" name="AutoShape 2080"/>
          <p:cNvSpPr>
            <a:spLocks/>
          </p:cNvSpPr>
          <p:nvPr/>
        </p:nvSpPr>
        <p:spPr bwMode="auto">
          <a:xfrm>
            <a:off x="5292725" y="4759325"/>
            <a:ext cx="203200" cy="1693863"/>
          </a:xfrm>
          <a:prstGeom prst="rightBrace">
            <a:avLst>
              <a:gd name="adj1" fmla="val 69466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1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1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6" grpId="0" autoUpdateAnimBg="0"/>
      <p:bldP spid="513051" grpId="0" autoUpdateAnimBg="0"/>
      <p:bldP spid="513052" grpId="0" autoUpdateAnimBg="0"/>
      <p:bldP spid="513053" grpId="0" autoUpdateAnimBg="0"/>
      <p:bldP spid="513054" grpId="0" animBg="1"/>
      <p:bldP spid="513055" grpId="0" animBg="1"/>
      <p:bldP spid="5130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Text Box 2"/>
          <p:cNvSpPr txBox="1">
            <a:spLocks noChangeArrowheads="1"/>
          </p:cNvSpPr>
          <p:nvPr/>
        </p:nvSpPr>
        <p:spPr bwMode="auto">
          <a:xfrm>
            <a:off x="179388" y="188913"/>
            <a:ext cx="3743325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结构指针</a:t>
            </a:r>
          </a:p>
        </p:txBody>
      </p:sp>
      <p:sp>
        <p:nvSpPr>
          <p:cNvPr id="514051" name="Text Box 3">
            <a:extLst>
              <a:ext uri="{FF2B5EF4-FFF2-40B4-BE49-F238E27FC236}">
                <a16:creationId xmlns:a16="http://schemas.microsoft.com/office/drawing/2014/main" id="{548EAF68-6916-4CB8-BF67-265AD7CAF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81075"/>
            <a:ext cx="8413750" cy="13112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  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定义一个指针，使其指向结构变量，这样的指针称为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cs typeface="Times New Roman" pitchFamily="18" charset="0"/>
              </a:rPr>
              <a:t>“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结构指针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cs typeface="Times New Roman" pitchFamily="18" charset="0"/>
              </a:rPr>
              <a:t>”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514052" name="Text Box 4">
            <a:extLst>
              <a:ext uri="{FF2B5EF4-FFF2-40B4-BE49-F238E27FC236}">
                <a16:creationId xmlns:a16="http://schemas.microsoft.com/office/drawing/2014/main" id="{4BCB5630-7A2D-42E1-AF0C-4E1D3F971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49500"/>
            <a:ext cx="7696200" cy="13112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1.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结构指针的定义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b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     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形式：</a:t>
            </a:r>
            <a:r>
              <a:rPr lang="zh-CN" altLang="en-US" b="0">
                <a:latin typeface="黑体" pitchFamily="2" charset="-122"/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结构类型  *指针名</a:t>
            </a:r>
          </a:p>
        </p:txBody>
      </p:sp>
      <p:sp>
        <p:nvSpPr>
          <p:cNvPr id="514053" name="Text Box 5"/>
          <p:cNvSpPr txBox="1">
            <a:spLocks noChangeArrowheads="1"/>
          </p:cNvSpPr>
          <p:nvPr/>
        </p:nvSpPr>
        <p:spPr bwMode="auto">
          <a:xfrm>
            <a:off x="539750" y="3573463"/>
            <a:ext cx="80645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】struct product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{  char code[5];char name[20];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float price;int stock;};</a:t>
            </a:r>
          </a:p>
        </p:txBody>
      </p:sp>
      <p:sp>
        <p:nvSpPr>
          <p:cNvPr id="514054" name="Text Box 6"/>
          <p:cNvSpPr txBox="1">
            <a:spLocks noChangeArrowheads="1"/>
          </p:cNvSpPr>
          <p:nvPr/>
        </p:nvSpPr>
        <p:spPr bwMode="auto">
          <a:xfrm>
            <a:off x="971550" y="5680075"/>
            <a:ext cx="7848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struct product x,y[2],*px=&amp;x,*py=y;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0" grpId="0"/>
      <p:bldP spid="514051" grpId="0"/>
      <p:bldP spid="514052" grpId="0"/>
      <p:bldP spid="514053" grpId="0"/>
      <p:bldP spid="51405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5" name="Rectangle 3"/>
          <p:cNvSpPr>
            <a:spLocks noChangeArrowheads="1"/>
          </p:cNvSpPr>
          <p:nvPr/>
        </p:nvSpPr>
        <p:spPr bwMode="auto">
          <a:xfrm>
            <a:off x="107950" y="1955800"/>
            <a:ext cx="1219200" cy="53340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5076" name="Rectangle 4"/>
          <p:cNvSpPr>
            <a:spLocks noChangeArrowheads="1"/>
          </p:cNvSpPr>
          <p:nvPr/>
        </p:nvSpPr>
        <p:spPr bwMode="auto">
          <a:xfrm>
            <a:off x="3940175" y="1955800"/>
            <a:ext cx="1219200" cy="53340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16153" name="Group 57">
            <a:extLst>
              <a:ext uri="{FF2B5EF4-FFF2-40B4-BE49-F238E27FC236}">
                <a16:creationId xmlns:a16="http://schemas.microsoft.com/office/drawing/2014/main" id="{2B2C88FB-14B1-4AC5-80C4-10F3BE122841}"/>
              </a:ext>
            </a:extLst>
          </p:cNvPr>
          <p:cNvGraphicFramePr>
            <a:graphicFrameLocks noGrp="1"/>
          </p:cNvGraphicFramePr>
          <p:nvPr/>
        </p:nvGraphicFramePr>
        <p:xfrm>
          <a:off x="1860550" y="1955800"/>
          <a:ext cx="1919288" cy="2316163"/>
        </p:xfrm>
        <a:graphic>
          <a:graphicData uri="http://schemas.openxmlformats.org/drawingml/2006/table">
            <a:tbl>
              <a:tblPr/>
              <a:tblGrid>
                <a:gridCol w="191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F0103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电冰箱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2050.00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160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16155" name="Group 59">
            <a:extLst>
              <a:ext uri="{FF2B5EF4-FFF2-40B4-BE49-F238E27FC236}">
                <a16:creationId xmlns:a16="http://schemas.microsoft.com/office/drawing/2014/main" id="{3E52E9E9-839A-4199-9DFE-8F083E99ED37}"/>
              </a:ext>
            </a:extLst>
          </p:cNvPr>
          <p:cNvGraphicFramePr>
            <a:graphicFrameLocks noGrp="1"/>
          </p:cNvGraphicFramePr>
          <p:nvPr/>
        </p:nvGraphicFramePr>
        <p:xfrm>
          <a:off x="5651500" y="1955800"/>
          <a:ext cx="1754188" cy="4637088"/>
        </p:xfrm>
        <a:graphic>
          <a:graphicData uri="http://schemas.openxmlformats.org/drawingml/2006/table">
            <a:tbl>
              <a:tblPr/>
              <a:tblGrid>
                <a:gridCol w="1754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T0216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电视机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1900.00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290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W3008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洗衣机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768.50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6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93</a:t>
                      </a:r>
                    </a:p>
                  </a:txBody>
                  <a:tcPr marT="41337" marB="413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114" name="Text Box 42"/>
          <p:cNvSpPr txBox="1">
            <a:spLocks noChangeArrowheads="1"/>
          </p:cNvSpPr>
          <p:nvPr/>
        </p:nvSpPr>
        <p:spPr bwMode="auto">
          <a:xfrm>
            <a:off x="225425" y="13414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px</a:t>
            </a:r>
          </a:p>
        </p:txBody>
      </p:sp>
      <p:sp>
        <p:nvSpPr>
          <p:cNvPr id="515115" name="Text Box 43"/>
          <p:cNvSpPr txBox="1">
            <a:spLocks noChangeArrowheads="1"/>
          </p:cNvSpPr>
          <p:nvPr/>
        </p:nvSpPr>
        <p:spPr bwMode="auto">
          <a:xfrm>
            <a:off x="2182813" y="13414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15116" name="Text Box 44"/>
          <p:cNvSpPr txBox="1">
            <a:spLocks noChangeArrowheads="1"/>
          </p:cNvSpPr>
          <p:nvPr/>
        </p:nvSpPr>
        <p:spPr bwMode="auto">
          <a:xfrm>
            <a:off x="3886200" y="13414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py</a:t>
            </a:r>
          </a:p>
        </p:txBody>
      </p:sp>
      <p:sp>
        <p:nvSpPr>
          <p:cNvPr id="515117" name="Text Box 45"/>
          <p:cNvSpPr txBox="1">
            <a:spLocks noChangeArrowheads="1"/>
          </p:cNvSpPr>
          <p:nvPr/>
        </p:nvSpPr>
        <p:spPr bwMode="auto">
          <a:xfrm>
            <a:off x="6321425" y="13414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515118" name="Line 46"/>
          <p:cNvSpPr>
            <a:spLocks noChangeShapeType="1"/>
          </p:cNvSpPr>
          <p:nvPr/>
        </p:nvSpPr>
        <p:spPr bwMode="auto">
          <a:xfrm>
            <a:off x="793750" y="2201863"/>
            <a:ext cx="1066800" cy="238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19" name="Line 47"/>
          <p:cNvSpPr>
            <a:spLocks noChangeShapeType="1"/>
          </p:cNvSpPr>
          <p:nvPr/>
        </p:nvSpPr>
        <p:spPr bwMode="auto">
          <a:xfrm>
            <a:off x="4660900" y="2201863"/>
            <a:ext cx="990600" cy="1746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1" name="AutoShape 49"/>
          <p:cNvSpPr>
            <a:spLocks/>
          </p:cNvSpPr>
          <p:nvPr/>
        </p:nvSpPr>
        <p:spPr bwMode="auto">
          <a:xfrm>
            <a:off x="7481888" y="1955800"/>
            <a:ext cx="228600" cy="2409825"/>
          </a:xfrm>
          <a:prstGeom prst="rightBrace">
            <a:avLst>
              <a:gd name="adj1" fmla="val 74963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5122" name="AutoShape 50"/>
          <p:cNvSpPr>
            <a:spLocks/>
          </p:cNvSpPr>
          <p:nvPr/>
        </p:nvSpPr>
        <p:spPr bwMode="auto">
          <a:xfrm>
            <a:off x="7481888" y="454025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5123" name="Text Box 51"/>
          <p:cNvSpPr txBox="1">
            <a:spLocks noChangeArrowheads="1"/>
          </p:cNvSpPr>
          <p:nvPr/>
        </p:nvSpPr>
        <p:spPr bwMode="auto">
          <a:xfrm>
            <a:off x="7812088" y="2706688"/>
            <a:ext cx="114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y[0]</a:t>
            </a:r>
          </a:p>
        </p:txBody>
      </p:sp>
      <p:sp>
        <p:nvSpPr>
          <p:cNvPr id="515124" name="Text Box 52"/>
          <p:cNvSpPr txBox="1">
            <a:spLocks noChangeArrowheads="1"/>
          </p:cNvSpPr>
          <p:nvPr/>
        </p:nvSpPr>
        <p:spPr bwMode="auto">
          <a:xfrm>
            <a:off x="7847013" y="4794250"/>
            <a:ext cx="1108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y[1]</a:t>
            </a:r>
          </a:p>
        </p:txBody>
      </p:sp>
      <p:sp>
        <p:nvSpPr>
          <p:cNvPr id="516145" name="Text Box 49"/>
          <p:cNvSpPr txBox="1">
            <a:spLocks noChangeArrowheads="1"/>
          </p:cNvSpPr>
          <p:nvPr/>
        </p:nvSpPr>
        <p:spPr bwMode="auto">
          <a:xfrm>
            <a:off x="3851275" y="620713"/>
            <a:ext cx="2087563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*px=&amp;x,</a:t>
            </a:r>
          </a:p>
        </p:txBody>
      </p:sp>
      <p:sp>
        <p:nvSpPr>
          <p:cNvPr id="516150" name="Text Box 54"/>
          <p:cNvSpPr txBox="1">
            <a:spLocks noChangeArrowheads="1"/>
          </p:cNvSpPr>
          <p:nvPr/>
        </p:nvSpPr>
        <p:spPr bwMode="auto">
          <a:xfrm>
            <a:off x="179388" y="115888"/>
            <a:ext cx="8497887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具体的执行过程为：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 product x,y[2],</a:t>
            </a:r>
          </a:p>
        </p:txBody>
      </p:sp>
      <p:sp>
        <p:nvSpPr>
          <p:cNvPr id="516151" name="Text Box 55"/>
          <p:cNvSpPr txBox="1">
            <a:spLocks noChangeArrowheads="1"/>
          </p:cNvSpPr>
          <p:nvPr/>
        </p:nvSpPr>
        <p:spPr bwMode="auto">
          <a:xfrm>
            <a:off x="5508625" y="620713"/>
            <a:ext cx="1763713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*py=y;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1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1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5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5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1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1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1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1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1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1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1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1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075" grpId="0" animBg="1"/>
      <p:bldP spid="515076" grpId="0" animBg="1"/>
      <p:bldP spid="515114" grpId="0"/>
      <p:bldP spid="515115" grpId="0"/>
      <p:bldP spid="515116" grpId="0"/>
      <p:bldP spid="515117" grpId="0"/>
      <p:bldP spid="515121" grpId="0" animBg="1"/>
      <p:bldP spid="515122" grpId="0" animBg="1"/>
      <p:bldP spid="515123" grpId="0"/>
      <p:bldP spid="515124" grpId="0"/>
      <p:bldP spid="516145" grpId="0"/>
      <p:bldP spid="516150" grpId="0"/>
      <p:bldP spid="51615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Text Box 2">
            <a:extLst>
              <a:ext uri="{FF2B5EF4-FFF2-40B4-BE49-F238E27FC236}">
                <a16:creationId xmlns:a16="http://schemas.microsoft.com/office/drawing/2014/main" id="{68682A88-4535-4D1E-B7CC-549D7676C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268413"/>
            <a:ext cx="8054975" cy="45974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spcBef>
                <a:spcPct val="50000"/>
              </a:spcBef>
              <a:defRPr/>
            </a:pPr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形式：</a:t>
            </a:r>
            <a:r>
              <a:rPr lang="zh-CN" altLang="en-US" sz="3600" b="0">
                <a:latin typeface="黑体" pitchFamily="2" charset="-122"/>
                <a:ea typeface="黑体" pitchFamily="2" charset="-122"/>
                <a:cs typeface="Times New Roman" pitchFamily="18" charset="0"/>
              </a:rPr>
              <a:t>     </a:t>
            </a:r>
            <a:r>
              <a:rPr lang="zh-CN" altLang="en-US" sz="3600">
                <a:latin typeface="楷体_GB2312" pitchFamily="49" charset="-122"/>
                <a:cs typeface="Times New Roman" pitchFamily="18" charset="0"/>
              </a:rPr>
              <a:t>指针名</a:t>
            </a:r>
            <a:r>
              <a:rPr lang="en-US" altLang="zh-CN" sz="3600">
                <a:latin typeface="楷体_GB2312" pitchFamily="49" charset="-122"/>
                <a:cs typeface="Times New Roman" pitchFamily="18" charset="0"/>
              </a:rPr>
              <a:t>-&gt;</a:t>
            </a:r>
            <a:r>
              <a:rPr lang="zh-CN" altLang="en-US" sz="3600">
                <a:latin typeface="楷体_GB2312" pitchFamily="49" charset="-122"/>
                <a:cs typeface="Times New Roman" pitchFamily="18" charset="0"/>
              </a:rPr>
              <a:t>成员名</a:t>
            </a:r>
          </a:p>
          <a:p>
            <a:pPr eaLnBrk="1" hangingPunct="1">
              <a:lnSpc>
                <a:spcPct val="180000"/>
              </a:lnSpc>
              <a:spcBef>
                <a:spcPct val="50000"/>
              </a:spcBef>
              <a:defRPr/>
            </a:pPr>
            <a:r>
              <a:rPr lang="zh-CN" altLang="en-US" sz="360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或</a:t>
            </a:r>
            <a:r>
              <a:rPr lang="zh-CN" altLang="en-US" sz="3600" b="0">
                <a:latin typeface="华文行楷" pitchFamily="2" charset="-122"/>
                <a:ea typeface="华文行楷" pitchFamily="2" charset="-122"/>
              </a:rPr>
              <a:t> </a:t>
            </a:r>
            <a:r>
              <a:rPr lang="zh-CN" altLang="en-US" sz="3600" b="0">
                <a:latin typeface="黑体" pitchFamily="2" charset="-122"/>
                <a:ea typeface="黑体" pitchFamily="2" charset="-122"/>
              </a:rPr>
              <a:t>        </a:t>
            </a:r>
            <a:r>
              <a:rPr lang="zh-CN" altLang="en-US" sz="3600">
                <a:latin typeface="楷体_GB2312" pitchFamily="49" charset="-122"/>
              </a:rPr>
              <a:t>（*指针名）</a:t>
            </a:r>
            <a:r>
              <a:rPr lang="en-US" altLang="zh-CN" sz="3600">
                <a:latin typeface="楷体_GB2312" pitchFamily="49" charset="-122"/>
              </a:rPr>
              <a:t>.</a:t>
            </a:r>
            <a:r>
              <a:rPr lang="zh-CN" altLang="en-US" sz="3600">
                <a:latin typeface="楷体_GB2312" pitchFamily="49" charset="-122"/>
              </a:rPr>
              <a:t>成员名</a:t>
            </a:r>
          </a:p>
          <a:p>
            <a:pPr eaLnBrk="1" hangingPunct="1">
              <a:lnSpc>
                <a:spcPct val="180000"/>
              </a:lnSpc>
              <a:spcBef>
                <a:spcPct val="50000"/>
              </a:spcBef>
              <a:defRPr/>
            </a:pPr>
            <a:r>
              <a:rPr lang="zh-CN" altLang="en-US" sz="3600">
                <a:latin typeface="楷体_GB2312" pitchFamily="49" charset="-122"/>
              </a:rPr>
              <a:t>    </a:t>
            </a:r>
            <a:r>
              <a:rPr lang="en-US" altLang="zh-CN" sz="3600">
                <a:latin typeface="楷体_GB2312" pitchFamily="49" charset="-122"/>
              </a:rPr>
              <a:t>【</a:t>
            </a:r>
            <a:r>
              <a:rPr lang="zh-CN" altLang="en-US" sz="3600">
                <a:latin typeface="楷体_GB2312" pitchFamily="49" charset="-122"/>
              </a:rPr>
              <a:t>例</a:t>
            </a:r>
            <a:r>
              <a:rPr lang="en-US" altLang="zh-CN" sz="3600">
                <a:latin typeface="楷体_GB2312" pitchFamily="49" charset="-122"/>
              </a:rPr>
              <a:t>】</a:t>
            </a:r>
            <a:r>
              <a:rPr lang="zh-CN" altLang="en-US" sz="3600">
                <a:latin typeface="楷体_GB2312" pitchFamily="49" charset="-122"/>
              </a:rPr>
              <a:t>以上图为例，则以下语句都是通过结构指针引用结构变量的成员。</a:t>
            </a:r>
          </a:p>
        </p:txBody>
      </p:sp>
      <p:sp>
        <p:nvSpPr>
          <p:cNvPr id="641075" name="Text Box 51"/>
          <p:cNvSpPr txBox="1">
            <a:spLocks noChangeArrowheads="1"/>
          </p:cNvSpPr>
          <p:nvPr/>
        </p:nvSpPr>
        <p:spPr bwMode="auto">
          <a:xfrm>
            <a:off x="611188" y="260350"/>
            <a:ext cx="69723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通过结构指针引用结构变量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6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6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7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323850" y="722313"/>
            <a:ext cx="1219200" cy="53340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4211638" y="711200"/>
            <a:ext cx="1219200" cy="533400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902154" name="Group 10">
            <a:extLst>
              <a:ext uri="{FF2B5EF4-FFF2-40B4-BE49-F238E27FC236}">
                <a16:creationId xmlns:a16="http://schemas.microsoft.com/office/drawing/2014/main" id="{77A98F86-5AC8-4475-BD43-773FF2F8770A}"/>
              </a:ext>
            </a:extLst>
          </p:cNvPr>
          <p:cNvGraphicFramePr>
            <a:graphicFrameLocks noGrp="1"/>
          </p:cNvGraphicFramePr>
          <p:nvPr/>
        </p:nvGraphicFramePr>
        <p:xfrm>
          <a:off x="2076450" y="722313"/>
          <a:ext cx="1841500" cy="2316162"/>
        </p:xfrm>
        <a:graphic>
          <a:graphicData uri="http://schemas.openxmlformats.org/drawingml/2006/table">
            <a:tbl>
              <a:tblPr/>
              <a:tblGrid>
                <a:gridCol w="18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F0103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电冰箱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2050.00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160</a:t>
                      </a:r>
                    </a:p>
                  </a:txBody>
                  <a:tcPr marT="45690" marB="456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02155" name="Group 11">
            <a:extLst>
              <a:ext uri="{FF2B5EF4-FFF2-40B4-BE49-F238E27FC236}">
                <a16:creationId xmlns:a16="http://schemas.microsoft.com/office/drawing/2014/main" id="{54A4AFC2-7ED2-4076-AAD1-7A881BBD7521}"/>
              </a:ext>
            </a:extLst>
          </p:cNvPr>
          <p:cNvGraphicFramePr>
            <a:graphicFrameLocks noGrp="1"/>
          </p:cNvGraphicFramePr>
          <p:nvPr/>
        </p:nvGraphicFramePr>
        <p:xfrm>
          <a:off x="5940425" y="711200"/>
          <a:ext cx="1831975" cy="4632325"/>
        </p:xfrm>
        <a:graphic>
          <a:graphicData uri="http://schemas.openxmlformats.org/drawingml/2006/table">
            <a:tbl>
              <a:tblPr/>
              <a:tblGrid>
                <a:gridCol w="183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T0216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电视机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1900.00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290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W3008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洗衣机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768.50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0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93</a:t>
                      </a:r>
                    </a:p>
                  </a:txBody>
                  <a:tcPr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636" name="Text Box 39"/>
          <p:cNvSpPr txBox="1">
            <a:spLocks noChangeArrowheads="1"/>
          </p:cNvSpPr>
          <p:nvPr/>
        </p:nvSpPr>
        <p:spPr bwMode="auto">
          <a:xfrm>
            <a:off x="534988" y="11588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px</a:t>
            </a:r>
          </a:p>
        </p:txBody>
      </p:sp>
      <p:sp>
        <p:nvSpPr>
          <p:cNvPr id="25637" name="Text Box 40"/>
          <p:cNvSpPr txBox="1">
            <a:spLocks noChangeArrowheads="1"/>
          </p:cNvSpPr>
          <p:nvPr/>
        </p:nvSpPr>
        <p:spPr bwMode="auto">
          <a:xfrm>
            <a:off x="2555875" y="11588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5638" name="Text Box 41"/>
          <p:cNvSpPr txBox="1">
            <a:spLocks noChangeArrowheads="1"/>
          </p:cNvSpPr>
          <p:nvPr/>
        </p:nvSpPr>
        <p:spPr bwMode="auto">
          <a:xfrm>
            <a:off x="4432300" y="117475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py</a:t>
            </a:r>
          </a:p>
        </p:txBody>
      </p:sp>
      <p:sp>
        <p:nvSpPr>
          <p:cNvPr id="25639" name="Text Box 42"/>
          <p:cNvSpPr txBox="1">
            <a:spLocks noChangeArrowheads="1"/>
          </p:cNvSpPr>
          <p:nvPr/>
        </p:nvSpPr>
        <p:spPr bwMode="auto">
          <a:xfrm>
            <a:off x="6659563" y="117475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5640" name="Line 43"/>
          <p:cNvSpPr>
            <a:spLocks noChangeShapeType="1"/>
          </p:cNvSpPr>
          <p:nvPr/>
        </p:nvSpPr>
        <p:spPr bwMode="auto">
          <a:xfrm>
            <a:off x="1009650" y="968375"/>
            <a:ext cx="1066800" cy="23813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1" name="Line 44"/>
          <p:cNvSpPr>
            <a:spLocks noChangeShapeType="1"/>
          </p:cNvSpPr>
          <p:nvPr/>
        </p:nvSpPr>
        <p:spPr bwMode="auto">
          <a:xfrm>
            <a:off x="4956175" y="957263"/>
            <a:ext cx="990600" cy="1746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2" name="AutoShape 45"/>
          <p:cNvSpPr>
            <a:spLocks/>
          </p:cNvSpPr>
          <p:nvPr/>
        </p:nvSpPr>
        <p:spPr bwMode="auto">
          <a:xfrm>
            <a:off x="7843838" y="711200"/>
            <a:ext cx="233362" cy="2212975"/>
          </a:xfrm>
          <a:prstGeom prst="rightBrace">
            <a:avLst>
              <a:gd name="adj1" fmla="val 75074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43" name="AutoShape 46"/>
          <p:cNvSpPr>
            <a:spLocks/>
          </p:cNvSpPr>
          <p:nvPr/>
        </p:nvSpPr>
        <p:spPr bwMode="auto">
          <a:xfrm>
            <a:off x="7807325" y="3038475"/>
            <a:ext cx="233363" cy="2262188"/>
          </a:xfrm>
          <a:prstGeom prst="rightBrace">
            <a:avLst>
              <a:gd name="adj1" fmla="val 75083"/>
              <a:gd name="adj2" fmla="val 50000"/>
            </a:avLst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4" name="Text Box 47"/>
          <p:cNvSpPr txBox="1">
            <a:spLocks noChangeArrowheads="1"/>
          </p:cNvSpPr>
          <p:nvPr/>
        </p:nvSpPr>
        <p:spPr bwMode="auto">
          <a:xfrm>
            <a:off x="8072438" y="1412875"/>
            <a:ext cx="9636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y[0]</a:t>
            </a:r>
          </a:p>
        </p:txBody>
      </p:sp>
      <p:sp>
        <p:nvSpPr>
          <p:cNvPr id="25645" name="Text Box 48"/>
          <p:cNvSpPr txBox="1">
            <a:spLocks noChangeArrowheads="1"/>
          </p:cNvSpPr>
          <p:nvPr/>
        </p:nvSpPr>
        <p:spPr bwMode="auto">
          <a:xfrm>
            <a:off x="8107363" y="3497263"/>
            <a:ext cx="9286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y[1]</a:t>
            </a:r>
          </a:p>
        </p:txBody>
      </p:sp>
      <p:sp>
        <p:nvSpPr>
          <p:cNvPr id="641073" name="Rectangle 49"/>
          <p:cNvSpPr>
            <a:spLocks noChangeArrowheads="1"/>
          </p:cNvSpPr>
          <p:nvPr/>
        </p:nvSpPr>
        <p:spPr bwMode="auto">
          <a:xfrm>
            <a:off x="179388" y="4652963"/>
            <a:ext cx="3816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(*px).price-=200; </a:t>
            </a:r>
          </a:p>
        </p:txBody>
      </p:sp>
      <p:sp>
        <p:nvSpPr>
          <p:cNvPr id="641074" name="AutoShape 50"/>
          <p:cNvSpPr>
            <a:spLocks noChangeArrowheads="1"/>
          </p:cNvSpPr>
          <p:nvPr/>
        </p:nvSpPr>
        <p:spPr bwMode="auto">
          <a:xfrm>
            <a:off x="1746250" y="4365625"/>
            <a:ext cx="304800" cy="431800"/>
          </a:xfrm>
          <a:prstGeom prst="upDownArrow">
            <a:avLst>
              <a:gd name="adj1" fmla="val 50000"/>
              <a:gd name="adj2" fmla="val 28333"/>
            </a:avLst>
          </a:prstGeom>
          <a:solidFill>
            <a:srgbClr val="FF00FF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2145" name="Rectangle 1"/>
          <p:cNvSpPr>
            <a:spLocks noChangeArrowheads="1"/>
          </p:cNvSpPr>
          <p:nvPr/>
        </p:nvSpPr>
        <p:spPr bwMode="auto">
          <a:xfrm>
            <a:off x="293688" y="3857625"/>
            <a:ext cx="3917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&gt;price-=200; </a:t>
            </a:r>
            <a:endParaRPr lang="en-US" altLang="zh-CN">
              <a:solidFill>
                <a:srgbClr val="D92517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02146" name="Rectangle 2"/>
          <p:cNvSpPr>
            <a:spLocks noChangeArrowheads="1"/>
          </p:cNvSpPr>
          <p:nvPr/>
        </p:nvSpPr>
        <p:spPr bwMode="auto">
          <a:xfrm>
            <a:off x="179388" y="5880100"/>
            <a:ext cx="4562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(++py)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&gt;stock+=10;</a:t>
            </a:r>
          </a:p>
        </p:txBody>
      </p:sp>
      <p:sp>
        <p:nvSpPr>
          <p:cNvPr id="902149" name="Rectangle 5"/>
          <p:cNvSpPr>
            <a:spLocks noChangeArrowheads="1"/>
          </p:cNvSpPr>
          <p:nvPr/>
        </p:nvSpPr>
        <p:spPr bwMode="auto">
          <a:xfrm>
            <a:off x="2071688" y="1855788"/>
            <a:ext cx="1846262" cy="576262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1850</a:t>
            </a:r>
          </a:p>
        </p:txBody>
      </p:sp>
      <p:sp>
        <p:nvSpPr>
          <p:cNvPr id="902150" name="Rectangle 6"/>
          <p:cNvSpPr>
            <a:spLocks noChangeArrowheads="1"/>
          </p:cNvSpPr>
          <p:nvPr/>
        </p:nvSpPr>
        <p:spPr bwMode="auto">
          <a:xfrm>
            <a:off x="395288" y="3281363"/>
            <a:ext cx="4041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/*</a:t>
            </a:r>
            <a:r>
              <a:rPr lang="zh-CN" altLang="en-US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电冰箱降价</a:t>
            </a:r>
            <a:r>
              <a:rPr lang="en-US" altLang="zh-CN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200</a:t>
            </a:r>
            <a:r>
              <a:rPr lang="zh-CN" altLang="en-US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元*</a:t>
            </a:r>
            <a:r>
              <a:rPr lang="en-US" altLang="zh-CN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902151" name="Rectangle 7"/>
          <p:cNvSpPr>
            <a:spLocks noChangeArrowheads="1"/>
          </p:cNvSpPr>
          <p:nvPr/>
        </p:nvSpPr>
        <p:spPr bwMode="auto">
          <a:xfrm>
            <a:off x="323850" y="5303838"/>
            <a:ext cx="3838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/*</a:t>
            </a:r>
            <a:r>
              <a:rPr lang="zh-CN" altLang="en-US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洗衣机库存加</a:t>
            </a:r>
            <a:r>
              <a:rPr lang="en-US" altLang="zh-CN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10*/</a:t>
            </a:r>
          </a:p>
        </p:txBody>
      </p:sp>
      <p:sp>
        <p:nvSpPr>
          <p:cNvPr id="902152" name="Rectangle 8"/>
          <p:cNvSpPr>
            <a:spLocks noChangeArrowheads="1"/>
          </p:cNvSpPr>
          <p:nvPr/>
        </p:nvSpPr>
        <p:spPr bwMode="auto">
          <a:xfrm>
            <a:off x="5954713" y="4164013"/>
            <a:ext cx="1800225" cy="576262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103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0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4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4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0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0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0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73" grpId="0"/>
      <p:bldP spid="641074" grpId="0" animBg="1"/>
      <p:bldP spid="902145" grpId="0"/>
      <p:bldP spid="902146" grpId="0"/>
      <p:bldP spid="902149" grpId="0" animBg="1"/>
      <p:bldP spid="902150" grpId="0"/>
      <p:bldP spid="902151" grpId="0"/>
      <p:bldP spid="9021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Text Box 2"/>
          <p:cNvSpPr txBox="1">
            <a:spLocks noChangeArrowheads="1"/>
          </p:cNvSpPr>
          <p:nvPr/>
        </p:nvSpPr>
        <p:spPr bwMode="auto">
          <a:xfrm>
            <a:off x="366713" y="1052513"/>
            <a:ext cx="8382000" cy="506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7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结构指针作为函数的参数使得结构变量也能像普通变量一样实现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传地址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调用。调用发生时，实参传递给形参的是自身结构的存储地址，使形式参数直接指向了实在实参，形参不再另占内存单元，从而使函数体中对形式参数所作的改变就是对实在参数所作。</a:t>
            </a:r>
          </a:p>
        </p:txBody>
      </p:sp>
      <p:sp>
        <p:nvSpPr>
          <p:cNvPr id="517123" name="Text Box 3"/>
          <p:cNvSpPr txBox="1">
            <a:spLocks noChangeArrowheads="1"/>
          </p:cNvSpPr>
          <p:nvPr/>
        </p:nvSpPr>
        <p:spPr bwMode="auto">
          <a:xfrm>
            <a:off x="395288" y="188913"/>
            <a:ext cx="76200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结构指针作为函数的参数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7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1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Text Box 2"/>
          <p:cNvSpPr txBox="1">
            <a:spLocks noChangeArrowheads="1"/>
          </p:cNvSpPr>
          <p:nvPr/>
        </p:nvSpPr>
        <p:spPr bwMode="auto">
          <a:xfrm>
            <a:off x="395288" y="115888"/>
            <a:ext cx="85693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名学生的三门单科考试成绩，求每一门课程的总平均分。</a:t>
            </a:r>
          </a:p>
        </p:txBody>
      </p:sp>
      <p:graphicFrame>
        <p:nvGraphicFramePr>
          <p:cNvPr id="642052" name="Object 4"/>
          <p:cNvGraphicFramePr>
            <a:graphicFrameLocks noChangeAspect="1"/>
          </p:cNvGraphicFramePr>
          <p:nvPr/>
        </p:nvGraphicFramePr>
        <p:xfrm>
          <a:off x="323850" y="1773238"/>
          <a:ext cx="8497888" cy="460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位图图像" r:id="rId3" imgW="1438095" imgH="695238" progId="Paint.Picture">
                  <p:embed/>
                </p:oleObj>
              </mc:Choice>
              <mc:Fallback>
                <p:oleObj name="位图图像" r:id="rId3" imgW="1438095" imgH="69523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773238"/>
                        <a:ext cx="8497888" cy="460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60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位图图像" r:id="rId3" imgW="4828571" imgH="2085714" progId="Paint.Picture">
                  <p:embed/>
                </p:oleObj>
              </mc:Choice>
              <mc:Fallback>
                <p:oleObj name="位图图像" r:id="rId3" imgW="4828571" imgH="2085714" progId="Paint.Picture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algn="ctr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5" name="Line 61"/>
          <p:cNvSpPr>
            <a:spLocks noChangeShapeType="1"/>
          </p:cNvSpPr>
          <p:nvPr/>
        </p:nvSpPr>
        <p:spPr bwMode="auto">
          <a:xfrm>
            <a:off x="496888" y="1081088"/>
            <a:ext cx="23034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76" name="Line 62"/>
          <p:cNvSpPr>
            <a:spLocks noChangeShapeType="1"/>
          </p:cNvSpPr>
          <p:nvPr/>
        </p:nvSpPr>
        <p:spPr bwMode="auto">
          <a:xfrm>
            <a:off x="1116013" y="2205038"/>
            <a:ext cx="32400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77" name="Line 63"/>
          <p:cNvSpPr>
            <a:spLocks noChangeShapeType="1"/>
          </p:cNvSpPr>
          <p:nvPr/>
        </p:nvSpPr>
        <p:spPr bwMode="auto">
          <a:xfrm>
            <a:off x="1116013" y="2997200"/>
            <a:ext cx="65516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78" name="Line 64"/>
          <p:cNvSpPr>
            <a:spLocks noChangeShapeType="1"/>
          </p:cNvSpPr>
          <p:nvPr/>
        </p:nvSpPr>
        <p:spPr bwMode="auto">
          <a:xfrm>
            <a:off x="1116013" y="3357563"/>
            <a:ext cx="22320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79" name="Line 65"/>
          <p:cNvSpPr>
            <a:spLocks noChangeShapeType="1"/>
          </p:cNvSpPr>
          <p:nvPr/>
        </p:nvSpPr>
        <p:spPr bwMode="auto">
          <a:xfrm>
            <a:off x="684213" y="5229225"/>
            <a:ext cx="3743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680" name="Line 66"/>
          <p:cNvSpPr>
            <a:spLocks noChangeShapeType="1"/>
          </p:cNvSpPr>
          <p:nvPr/>
        </p:nvSpPr>
        <p:spPr bwMode="auto">
          <a:xfrm>
            <a:off x="6084888" y="3789363"/>
            <a:ext cx="28082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468313" y="260350"/>
            <a:ext cx="327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运行结果为：</a:t>
            </a:r>
          </a:p>
        </p:txBody>
      </p:sp>
      <p:graphicFrame>
        <p:nvGraphicFramePr>
          <p:cNvPr id="29699" name="Object 3"/>
          <p:cNvGraphicFramePr>
            <a:graphicFrameLocks noChangeAspect="1"/>
          </p:cNvGraphicFramePr>
          <p:nvPr/>
        </p:nvGraphicFramePr>
        <p:xfrm>
          <a:off x="228600" y="990600"/>
          <a:ext cx="86868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位图图像" r:id="rId3" imgW="2952381" imgH="1495634" progId="Paint.Picture">
                  <p:embed/>
                </p:oleObj>
              </mc:Choice>
              <mc:Fallback>
                <p:oleObj name="位图图像" r:id="rId3" imgW="2952381" imgH="149563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86868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Text Box 2">
            <a:extLst>
              <a:ext uri="{FF2B5EF4-FFF2-40B4-BE49-F238E27FC236}">
                <a16:creationId xmlns:a16="http://schemas.microsoft.com/office/drawing/2014/main" id="{05CB2FB6-BD50-44D9-88FE-F09840C2B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5888"/>
            <a:ext cx="8496300" cy="29194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动态数据结构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“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链表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</a:rPr>
              <a:t>”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    常用的动态数据结构有链表、树、图等等。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zh-CN" altLang="en-US" dirty="0"/>
              <a:t>特点：需之则有，不需则无</a:t>
            </a:r>
          </a:p>
        </p:txBody>
      </p:sp>
      <p:sp>
        <p:nvSpPr>
          <p:cNvPr id="518147" name="Text Box 3"/>
          <p:cNvSpPr txBox="1">
            <a:spLocks noChangeArrowheads="1"/>
          </p:cNvSpPr>
          <p:nvPr/>
        </p:nvSpPr>
        <p:spPr bwMode="auto">
          <a:xfrm>
            <a:off x="827088" y="2997200"/>
            <a:ext cx="7620000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链表概述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什么是链表</a:t>
            </a:r>
          </a:p>
        </p:txBody>
      </p:sp>
      <p:sp>
        <p:nvSpPr>
          <p:cNvPr id="518148" name="Text Box 4"/>
          <p:cNvSpPr txBox="1">
            <a:spLocks noChangeArrowheads="1"/>
          </p:cNvSpPr>
          <p:nvPr/>
        </p:nvSpPr>
        <p:spPr bwMode="auto">
          <a:xfrm>
            <a:off x="357188" y="4797425"/>
            <a:ext cx="8604250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chemeClr val="hlin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顺序存储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将逻辑上相邻的数据分配在物理上相邻的存储单元中，数据之间的逻辑关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46" grpId="0"/>
      <p:bldP spid="518147" grpId="0"/>
      <p:bldP spid="5181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64" name="Text Box 4"/>
          <p:cNvSpPr txBox="1">
            <a:spLocks noChangeArrowheads="1"/>
          </p:cNvSpPr>
          <p:nvPr/>
        </p:nvSpPr>
        <p:spPr bwMode="auto">
          <a:xfrm>
            <a:off x="755650" y="333375"/>
            <a:ext cx="762000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通过存储单元的邻接关系来体现；</a:t>
            </a:r>
          </a:p>
        </p:txBody>
      </p:sp>
      <p:sp>
        <p:nvSpPr>
          <p:cNvPr id="1013765" name="Text Box 5"/>
          <p:cNvSpPr txBox="1">
            <a:spLocks noChangeArrowheads="1"/>
          </p:cNvSpPr>
          <p:nvPr/>
        </p:nvSpPr>
        <p:spPr bwMode="auto">
          <a:xfrm>
            <a:off x="684213" y="1600200"/>
            <a:ext cx="7920037" cy="398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chemeClr val="hlin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链接存储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将逻辑上相邻的数据分配在物理上离散的存储单元中，然后在每一个存储单元中粘贴一张标有相邻者存储地址的标签，使数据之间的逻辑关系通过地址的链接关系来体现。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64" grpId="0"/>
      <p:bldP spid="101376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Text Box 2"/>
          <p:cNvSpPr txBox="1">
            <a:spLocks noChangeArrowheads="1"/>
          </p:cNvSpPr>
          <p:nvPr/>
        </p:nvSpPr>
        <p:spPr bwMode="auto">
          <a:xfrm>
            <a:off x="179388" y="115888"/>
            <a:ext cx="8820150" cy="167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链表实例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下图表示存放整数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17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19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的链表：</a:t>
            </a:r>
          </a:p>
        </p:txBody>
      </p:sp>
      <p:sp>
        <p:nvSpPr>
          <p:cNvPr id="646147" name="Text Box 3"/>
          <p:cNvSpPr txBox="1">
            <a:spLocks noChangeArrowheads="1"/>
          </p:cNvSpPr>
          <p:nvPr/>
        </p:nvSpPr>
        <p:spPr bwMode="auto">
          <a:xfrm>
            <a:off x="922338" y="3048000"/>
            <a:ext cx="1201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646148" name="Text Box 4"/>
          <p:cNvSpPr txBox="1">
            <a:spLocks noChangeArrowheads="1"/>
          </p:cNvSpPr>
          <p:nvPr/>
        </p:nvSpPr>
        <p:spPr bwMode="auto">
          <a:xfrm>
            <a:off x="2339975" y="3068638"/>
            <a:ext cx="1336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1079</a:t>
            </a:r>
          </a:p>
        </p:txBody>
      </p:sp>
      <p:sp>
        <p:nvSpPr>
          <p:cNvPr id="646149" name="Text Box 5"/>
          <p:cNvSpPr txBox="1">
            <a:spLocks noChangeArrowheads="1"/>
          </p:cNvSpPr>
          <p:nvPr/>
        </p:nvSpPr>
        <p:spPr bwMode="auto">
          <a:xfrm>
            <a:off x="3779838" y="3082925"/>
            <a:ext cx="14017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1153</a:t>
            </a:r>
          </a:p>
        </p:txBody>
      </p:sp>
      <p:sp>
        <p:nvSpPr>
          <p:cNvPr id="646150" name="Text Box 6"/>
          <p:cNvSpPr txBox="1">
            <a:spLocks noChangeArrowheads="1"/>
          </p:cNvSpPr>
          <p:nvPr/>
        </p:nvSpPr>
        <p:spPr bwMode="auto">
          <a:xfrm>
            <a:off x="5267325" y="3100388"/>
            <a:ext cx="12493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1286</a:t>
            </a:r>
          </a:p>
        </p:txBody>
      </p:sp>
      <p:sp>
        <p:nvSpPr>
          <p:cNvPr id="646151" name="Text Box 7"/>
          <p:cNvSpPr txBox="1">
            <a:spLocks noChangeArrowheads="1"/>
          </p:cNvSpPr>
          <p:nvPr/>
        </p:nvSpPr>
        <p:spPr bwMode="auto">
          <a:xfrm>
            <a:off x="6804025" y="3117850"/>
            <a:ext cx="1238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1390</a:t>
            </a:r>
          </a:p>
        </p:txBody>
      </p:sp>
      <p:graphicFrame>
        <p:nvGraphicFramePr>
          <p:cNvPr id="646152" name="Group 8">
            <a:extLst>
              <a:ext uri="{FF2B5EF4-FFF2-40B4-BE49-F238E27FC236}">
                <a16:creationId xmlns:a16="http://schemas.microsoft.com/office/drawing/2014/main" id="{6FA10624-8D80-4363-B18A-3753632AF9DB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657600"/>
          <a:ext cx="990600" cy="508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158" name="Group 14">
            <a:extLst>
              <a:ext uri="{FF2B5EF4-FFF2-40B4-BE49-F238E27FC236}">
                <a16:creationId xmlns:a16="http://schemas.microsoft.com/office/drawing/2014/main" id="{A1324C15-B4D6-4514-85CF-A7627057BCE1}"/>
              </a:ext>
            </a:extLst>
          </p:cNvPr>
          <p:cNvGraphicFramePr>
            <a:graphicFrameLocks noGrp="1"/>
          </p:cNvGraphicFramePr>
          <p:nvPr/>
        </p:nvGraphicFramePr>
        <p:xfrm>
          <a:off x="2514600" y="3657600"/>
          <a:ext cx="990600" cy="1066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6166" name="Group 22">
            <a:extLst>
              <a:ext uri="{FF2B5EF4-FFF2-40B4-BE49-F238E27FC236}">
                <a16:creationId xmlns:a16="http://schemas.microsoft.com/office/drawing/2014/main" id="{7A90DDFB-C29D-41AD-BAFD-25F7E023D8C8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657600"/>
          <a:ext cx="990600" cy="1066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6174" name="Group 30">
            <a:extLst>
              <a:ext uri="{FF2B5EF4-FFF2-40B4-BE49-F238E27FC236}">
                <a16:creationId xmlns:a16="http://schemas.microsoft.com/office/drawing/2014/main" id="{696F9AD8-5149-43A3-B2FF-70D132778A68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3657600"/>
          <a:ext cx="990600" cy="10668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46182" name="Group 38">
            <a:extLst>
              <a:ext uri="{FF2B5EF4-FFF2-40B4-BE49-F238E27FC236}">
                <a16:creationId xmlns:a16="http://schemas.microsoft.com/office/drawing/2014/main" id="{25EBB74D-5922-4209-8540-7C5B0F613445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3657600"/>
          <a:ext cx="1219200" cy="10668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6190" name="Line 46"/>
          <p:cNvSpPr>
            <a:spLocks noChangeShapeType="1"/>
          </p:cNvSpPr>
          <p:nvPr/>
        </p:nvSpPr>
        <p:spPr bwMode="auto">
          <a:xfrm>
            <a:off x="1905000" y="3903663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191" name="Line 47"/>
          <p:cNvSpPr>
            <a:spLocks noChangeShapeType="1"/>
          </p:cNvSpPr>
          <p:nvPr/>
        </p:nvSpPr>
        <p:spPr bwMode="auto">
          <a:xfrm flipV="1">
            <a:off x="3352800" y="3886200"/>
            <a:ext cx="609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192" name="Line 48"/>
          <p:cNvSpPr>
            <a:spLocks noChangeShapeType="1"/>
          </p:cNvSpPr>
          <p:nvPr/>
        </p:nvSpPr>
        <p:spPr bwMode="auto">
          <a:xfrm flipV="1">
            <a:off x="4800600" y="3886200"/>
            <a:ext cx="609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193" name="Line 49"/>
          <p:cNvSpPr>
            <a:spLocks noChangeShapeType="1"/>
          </p:cNvSpPr>
          <p:nvPr/>
        </p:nvSpPr>
        <p:spPr bwMode="auto">
          <a:xfrm flipV="1">
            <a:off x="6213475" y="3962400"/>
            <a:ext cx="609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6194" name="AutoShape 50"/>
          <p:cNvSpPr>
            <a:spLocks noChangeArrowheads="1"/>
          </p:cNvSpPr>
          <p:nvPr/>
        </p:nvSpPr>
        <p:spPr bwMode="auto">
          <a:xfrm>
            <a:off x="2057400" y="5486400"/>
            <a:ext cx="1722438" cy="533400"/>
          </a:xfrm>
          <a:prstGeom prst="wedgeRectCallout">
            <a:avLst>
              <a:gd name="adj1" fmla="val 1611"/>
              <a:gd name="adj2" fmla="val -186310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头结点</a:t>
            </a:r>
          </a:p>
        </p:txBody>
      </p:sp>
      <p:sp>
        <p:nvSpPr>
          <p:cNvPr id="646195" name="AutoShape 51"/>
          <p:cNvSpPr>
            <a:spLocks noChangeArrowheads="1"/>
          </p:cNvSpPr>
          <p:nvPr/>
        </p:nvSpPr>
        <p:spPr bwMode="auto">
          <a:xfrm>
            <a:off x="7164388" y="2057400"/>
            <a:ext cx="1655762" cy="609600"/>
          </a:xfrm>
          <a:prstGeom prst="wedgeRectCallout">
            <a:avLst>
              <a:gd name="adj1" fmla="val -13662"/>
              <a:gd name="adj2" fmla="val 194792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末结点</a:t>
            </a:r>
          </a:p>
        </p:txBody>
      </p:sp>
      <p:sp>
        <p:nvSpPr>
          <p:cNvPr id="646196" name="AutoShape 52"/>
          <p:cNvSpPr>
            <a:spLocks noChangeArrowheads="1"/>
          </p:cNvSpPr>
          <p:nvPr/>
        </p:nvSpPr>
        <p:spPr bwMode="auto">
          <a:xfrm>
            <a:off x="323850" y="1844675"/>
            <a:ext cx="1511300" cy="609600"/>
          </a:xfrm>
          <a:prstGeom prst="wedgeRectCallout">
            <a:avLst>
              <a:gd name="adj1" fmla="val 16704"/>
              <a:gd name="adj2" fmla="val 171093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头指针</a:t>
            </a:r>
          </a:p>
        </p:txBody>
      </p:sp>
      <p:sp>
        <p:nvSpPr>
          <p:cNvPr id="646197" name="AutoShape 53"/>
          <p:cNvSpPr>
            <a:spLocks noChangeArrowheads="1"/>
          </p:cNvSpPr>
          <p:nvPr/>
        </p:nvSpPr>
        <p:spPr bwMode="auto">
          <a:xfrm>
            <a:off x="4067175" y="2133600"/>
            <a:ext cx="1512888" cy="533400"/>
          </a:xfrm>
          <a:prstGeom prst="wedgeRectCallout">
            <a:avLst>
              <a:gd name="adj1" fmla="val 50315"/>
              <a:gd name="adj2" fmla="val 230356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数据域</a:t>
            </a:r>
          </a:p>
        </p:txBody>
      </p:sp>
      <p:sp>
        <p:nvSpPr>
          <p:cNvPr id="646198" name="AutoShape 54"/>
          <p:cNvSpPr>
            <a:spLocks noChangeArrowheads="1"/>
          </p:cNvSpPr>
          <p:nvPr/>
        </p:nvSpPr>
        <p:spPr bwMode="auto">
          <a:xfrm>
            <a:off x="6445250" y="5632450"/>
            <a:ext cx="1582738" cy="533400"/>
          </a:xfrm>
          <a:prstGeom prst="wedgeRectCallout">
            <a:avLst>
              <a:gd name="adj1" fmla="val -79889"/>
              <a:gd name="adj2" fmla="val -201486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指针域</a:t>
            </a:r>
          </a:p>
        </p:txBody>
      </p:sp>
      <p:sp>
        <p:nvSpPr>
          <p:cNvPr id="729090" name="Rectangle 2"/>
          <p:cNvSpPr>
            <a:spLocks noChangeArrowheads="1"/>
          </p:cNvSpPr>
          <p:nvPr/>
        </p:nvSpPr>
        <p:spPr bwMode="auto">
          <a:xfrm>
            <a:off x="900113" y="3657600"/>
            <a:ext cx="1163637" cy="504825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1079</a:t>
            </a:r>
          </a:p>
        </p:txBody>
      </p:sp>
      <p:sp>
        <p:nvSpPr>
          <p:cNvPr id="729091" name="Rectangle 3"/>
          <p:cNvSpPr>
            <a:spLocks noChangeArrowheads="1"/>
          </p:cNvSpPr>
          <p:nvPr/>
        </p:nvSpPr>
        <p:spPr bwMode="auto">
          <a:xfrm>
            <a:off x="2500313" y="4175125"/>
            <a:ext cx="1008062" cy="549275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1153</a:t>
            </a:r>
          </a:p>
        </p:txBody>
      </p:sp>
      <p:sp>
        <p:nvSpPr>
          <p:cNvPr id="729092" name="Rectangle 4"/>
          <p:cNvSpPr>
            <a:spLocks noChangeArrowheads="1"/>
          </p:cNvSpPr>
          <p:nvPr/>
        </p:nvSpPr>
        <p:spPr bwMode="auto">
          <a:xfrm>
            <a:off x="3957638" y="4183063"/>
            <a:ext cx="1008062" cy="528637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1286</a:t>
            </a:r>
          </a:p>
        </p:txBody>
      </p:sp>
      <p:sp>
        <p:nvSpPr>
          <p:cNvPr id="729093" name="Rectangle 5"/>
          <p:cNvSpPr>
            <a:spLocks noChangeArrowheads="1"/>
          </p:cNvSpPr>
          <p:nvPr/>
        </p:nvSpPr>
        <p:spPr bwMode="auto">
          <a:xfrm>
            <a:off x="5397500" y="4157663"/>
            <a:ext cx="1008063" cy="576262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1390</a:t>
            </a:r>
          </a:p>
        </p:txBody>
      </p:sp>
      <p:sp>
        <p:nvSpPr>
          <p:cNvPr id="729094" name="Rectangle 6"/>
          <p:cNvSpPr>
            <a:spLocks noChangeArrowheads="1"/>
          </p:cNvSpPr>
          <p:nvPr/>
        </p:nvSpPr>
        <p:spPr bwMode="auto">
          <a:xfrm>
            <a:off x="6851650" y="4183063"/>
            <a:ext cx="1223963" cy="528637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729095" name="Rectangle 7"/>
          <p:cNvSpPr>
            <a:spLocks noChangeArrowheads="1"/>
          </p:cNvSpPr>
          <p:nvPr/>
        </p:nvSpPr>
        <p:spPr bwMode="auto">
          <a:xfrm>
            <a:off x="3949700" y="3657600"/>
            <a:ext cx="1008063" cy="504825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13</a:t>
            </a:r>
          </a:p>
        </p:txBody>
      </p:sp>
      <p:sp>
        <p:nvSpPr>
          <p:cNvPr id="729096" name="Rectangle 8"/>
          <p:cNvSpPr>
            <a:spLocks noChangeArrowheads="1"/>
          </p:cNvSpPr>
          <p:nvPr/>
        </p:nvSpPr>
        <p:spPr bwMode="auto">
          <a:xfrm>
            <a:off x="5402263" y="3644900"/>
            <a:ext cx="1008062" cy="504825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17</a:t>
            </a:r>
          </a:p>
        </p:txBody>
      </p:sp>
      <p:sp>
        <p:nvSpPr>
          <p:cNvPr id="729097" name="Rectangle 9"/>
          <p:cNvSpPr>
            <a:spLocks noChangeArrowheads="1"/>
          </p:cNvSpPr>
          <p:nvPr/>
        </p:nvSpPr>
        <p:spPr bwMode="auto">
          <a:xfrm>
            <a:off x="6851650" y="3665538"/>
            <a:ext cx="1223963" cy="484187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19</a:t>
            </a:r>
          </a:p>
        </p:txBody>
      </p:sp>
      <p:sp>
        <p:nvSpPr>
          <p:cNvPr id="729098" name="Rectangle 10"/>
          <p:cNvSpPr>
            <a:spLocks noChangeArrowheads="1"/>
          </p:cNvSpPr>
          <p:nvPr/>
        </p:nvSpPr>
        <p:spPr bwMode="auto">
          <a:xfrm>
            <a:off x="2497138" y="3665538"/>
            <a:ext cx="1008062" cy="504825"/>
          </a:xfrm>
          <a:prstGeom prst="rect">
            <a:avLst/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rgbClr val="000000"/>
                </a:solidFill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4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4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4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4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4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4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4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4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6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4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2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72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46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7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64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7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64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7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64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72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64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64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64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64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64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7" grpId="0"/>
      <p:bldP spid="646148" grpId="0"/>
      <p:bldP spid="646149" grpId="0"/>
      <p:bldP spid="646150" grpId="0"/>
      <p:bldP spid="646151" grpId="0"/>
      <p:bldP spid="646194" grpId="0" animBg="1"/>
      <p:bldP spid="646195" grpId="0" animBg="1"/>
      <p:bldP spid="646196" grpId="0" animBg="1"/>
      <p:bldP spid="646197" grpId="0" animBg="1"/>
      <p:bldP spid="646198" grpId="0" animBg="1"/>
      <p:bldP spid="729090" grpId="0" animBg="1"/>
      <p:bldP spid="729091" grpId="0" animBg="1"/>
      <p:bldP spid="729092" grpId="0" animBg="1"/>
      <p:bldP spid="729093" grpId="0" animBg="1"/>
      <p:bldP spid="729094" grpId="0" animBg="1"/>
      <p:bldP spid="729095" grpId="0" animBg="1"/>
      <p:bldP spid="729096" grpId="0" animBg="1"/>
      <p:bldP spid="729097" grpId="0" animBg="1"/>
      <p:bldP spid="72909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Text Box 2"/>
          <p:cNvSpPr txBox="1">
            <a:spLocks noChangeArrowheads="1"/>
          </p:cNvSpPr>
          <p:nvPr/>
        </p:nvSpPr>
        <p:spPr bwMode="auto">
          <a:xfrm>
            <a:off x="468313" y="476250"/>
            <a:ext cx="63357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单链表结点的类型定义</a:t>
            </a:r>
          </a:p>
        </p:txBody>
      </p:sp>
      <p:graphicFrame>
        <p:nvGraphicFramePr>
          <p:cNvPr id="520213" name="Group 21">
            <a:extLst>
              <a:ext uri="{FF2B5EF4-FFF2-40B4-BE49-F238E27FC236}">
                <a16:creationId xmlns:a16="http://schemas.microsoft.com/office/drawing/2014/main" id="{3924C5C3-DBC0-452B-A0EE-FC445FECCD01}"/>
              </a:ext>
            </a:extLst>
          </p:cNvPr>
          <p:cNvGraphicFramePr>
            <a:graphicFrameLocks noGrp="1"/>
          </p:cNvGraphicFramePr>
          <p:nvPr/>
        </p:nvGraphicFramePr>
        <p:xfrm>
          <a:off x="3419475" y="2730500"/>
          <a:ext cx="1728788" cy="1206500"/>
        </p:xfrm>
        <a:graphic>
          <a:graphicData uri="http://schemas.openxmlformats.org/drawingml/2006/table">
            <a:tbl>
              <a:tblPr/>
              <a:tblGrid>
                <a:gridCol w="172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72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2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1153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0206" name="AutoShape 14"/>
          <p:cNvSpPr>
            <a:spLocks noChangeArrowheads="1"/>
          </p:cNvSpPr>
          <p:nvPr/>
        </p:nvSpPr>
        <p:spPr bwMode="auto">
          <a:xfrm>
            <a:off x="684213" y="1484313"/>
            <a:ext cx="3598862" cy="604837"/>
          </a:xfrm>
          <a:prstGeom prst="wedgeRectCallout">
            <a:avLst>
              <a:gd name="adj1" fmla="val 45588"/>
              <a:gd name="adj2" fmla="val 145278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数据域：存储数据</a:t>
            </a:r>
          </a:p>
        </p:txBody>
      </p:sp>
      <p:sp>
        <p:nvSpPr>
          <p:cNvPr id="520207" name="AutoShape 15"/>
          <p:cNvSpPr>
            <a:spLocks noChangeArrowheads="1"/>
          </p:cNvSpPr>
          <p:nvPr/>
        </p:nvSpPr>
        <p:spPr bwMode="auto">
          <a:xfrm>
            <a:off x="2411413" y="5516563"/>
            <a:ext cx="5832475" cy="669925"/>
          </a:xfrm>
          <a:prstGeom prst="wedgeRectCallout">
            <a:avLst>
              <a:gd name="adj1" fmla="val -15486"/>
              <a:gd name="adj2" fmla="val -279384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指针域：存储后续结点的地址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194" grpId="0" autoUpdateAnimBg="0"/>
      <p:bldP spid="520206" grpId="0" animBg="1" autoUpdateAnimBg="0"/>
      <p:bldP spid="52020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Text Box 2"/>
          <p:cNvSpPr txBox="1">
            <a:spLocks noChangeArrowheads="1"/>
          </p:cNvSpPr>
          <p:nvPr/>
        </p:nvSpPr>
        <p:spPr bwMode="auto">
          <a:xfrm>
            <a:off x="468313" y="404813"/>
            <a:ext cx="6169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单链表结点的类型定义：</a:t>
            </a:r>
          </a:p>
        </p:txBody>
      </p:sp>
      <p:sp>
        <p:nvSpPr>
          <p:cNvPr id="539651" name="Text Box 3">
            <a:extLst>
              <a:ext uri="{FF2B5EF4-FFF2-40B4-BE49-F238E27FC236}">
                <a16:creationId xmlns:a16="http://schemas.microsoft.com/office/drawing/2014/main" id="{B868FCFE-9A18-4826-A306-F940C8D29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908050"/>
            <a:ext cx="8040688" cy="29194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cs typeface="Times New Roman" pitchFamily="18" charset="0"/>
              </a:rPr>
              <a:t> 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结构名</a:t>
            </a:r>
            <a:r>
              <a:rPr lang="zh-CN" altLang="en-US" b="0">
                <a:ea typeface="黑体" pitchFamily="2" charset="-122"/>
                <a:cs typeface="Times New Roman" pitchFamily="18" charset="0"/>
              </a:rPr>
              <a:t>                            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zh-CN" altLang="en-US" b="0">
                <a:ea typeface="黑体" pitchFamily="2" charset="-122"/>
                <a:cs typeface="Times New Roman" pitchFamily="18" charset="0"/>
              </a:rPr>
              <a:t>     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{  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数据成员表列；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zh-CN" altLang="en-US">
                <a:latin typeface="楷体_GB2312" pitchFamily="49" charset="-122"/>
                <a:cs typeface="Times New Roman" pitchFamily="18" charset="0"/>
              </a:rPr>
              <a:t>     </a:t>
            </a:r>
            <a:r>
              <a:rPr lang="en-US" altLang="zh-CN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struct</a:t>
            </a:r>
            <a:r>
              <a:rPr lang="en-US" altLang="zh-CN" b="0">
                <a:ea typeface="黑体" pitchFamily="2" charset="-122"/>
              </a:rPr>
              <a:t>  </a:t>
            </a:r>
            <a:r>
              <a:rPr lang="zh-CN" altLang="en-US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结构名</a:t>
            </a:r>
            <a:r>
              <a:rPr lang="zh-CN" altLang="en-US" b="0">
                <a:ea typeface="黑体" pitchFamily="2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*指针名； </a:t>
            </a:r>
            <a:r>
              <a:rPr lang="en-US" altLang="zh-CN">
                <a:latin typeface="楷体_GB2312" pitchFamily="49" charset="-122"/>
              </a:rPr>
              <a:t>};    </a:t>
            </a:r>
          </a:p>
        </p:txBody>
      </p:sp>
      <p:sp>
        <p:nvSpPr>
          <p:cNvPr id="539652" name="Text Box 4"/>
          <p:cNvSpPr txBox="1">
            <a:spLocks noChangeArrowheads="1"/>
          </p:cNvSpPr>
          <p:nvPr/>
        </p:nvSpPr>
        <p:spPr bwMode="auto">
          <a:xfrm>
            <a:off x="827088" y="4365625"/>
            <a:ext cx="12303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539653" name="Text Box 5"/>
          <p:cNvSpPr txBox="1">
            <a:spLocks noChangeArrowheads="1"/>
          </p:cNvSpPr>
          <p:nvPr/>
        </p:nvSpPr>
        <p:spPr bwMode="auto">
          <a:xfrm>
            <a:off x="2268538" y="4383088"/>
            <a:ext cx="11652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1079</a:t>
            </a:r>
          </a:p>
        </p:txBody>
      </p:sp>
      <p:sp>
        <p:nvSpPr>
          <p:cNvPr id="539654" name="Text Box 6"/>
          <p:cNvSpPr txBox="1">
            <a:spLocks noChangeArrowheads="1"/>
          </p:cNvSpPr>
          <p:nvPr/>
        </p:nvSpPr>
        <p:spPr bwMode="auto">
          <a:xfrm>
            <a:off x="3779838" y="4400550"/>
            <a:ext cx="11731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1153</a:t>
            </a:r>
          </a:p>
        </p:txBody>
      </p:sp>
      <p:sp>
        <p:nvSpPr>
          <p:cNvPr id="539655" name="Text Box 7"/>
          <p:cNvSpPr txBox="1">
            <a:spLocks noChangeArrowheads="1"/>
          </p:cNvSpPr>
          <p:nvPr/>
        </p:nvSpPr>
        <p:spPr bwMode="auto">
          <a:xfrm>
            <a:off x="5148263" y="4418013"/>
            <a:ext cx="12525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1286</a:t>
            </a:r>
          </a:p>
        </p:txBody>
      </p:sp>
      <p:sp>
        <p:nvSpPr>
          <p:cNvPr id="539656" name="Text Box 8"/>
          <p:cNvSpPr txBox="1">
            <a:spLocks noChangeArrowheads="1"/>
          </p:cNvSpPr>
          <p:nvPr/>
        </p:nvSpPr>
        <p:spPr bwMode="auto">
          <a:xfrm>
            <a:off x="6934200" y="4435475"/>
            <a:ext cx="1238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1390</a:t>
            </a:r>
          </a:p>
        </p:txBody>
      </p:sp>
      <p:graphicFrame>
        <p:nvGraphicFramePr>
          <p:cNvPr id="539705" name="Group 57">
            <a:extLst>
              <a:ext uri="{FF2B5EF4-FFF2-40B4-BE49-F238E27FC236}">
                <a16:creationId xmlns:a16="http://schemas.microsoft.com/office/drawing/2014/main" id="{B93F1274-EAF5-47F9-AD9E-F095314C4B88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4975225"/>
          <a:ext cx="1301750" cy="579438"/>
        </p:xfrm>
        <a:graphic>
          <a:graphicData uri="http://schemas.openxmlformats.org/drawingml/2006/table">
            <a:tbl>
              <a:tblPr/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1079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9706" name="Group 58">
            <a:extLst>
              <a:ext uri="{FF2B5EF4-FFF2-40B4-BE49-F238E27FC236}">
                <a16:creationId xmlns:a16="http://schemas.microsoft.com/office/drawing/2014/main" id="{9917FD7D-968F-4C0B-B90F-7941DAE76A75}"/>
              </a:ext>
            </a:extLst>
          </p:cNvPr>
          <p:cNvGraphicFramePr>
            <a:graphicFrameLocks noGrp="1"/>
          </p:cNvGraphicFramePr>
          <p:nvPr/>
        </p:nvGraphicFramePr>
        <p:xfrm>
          <a:off x="2268538" y="4975225"/>
          <a:ext cx="1236662" cy="1158875"/>
        </p:xfrm>
        <a:graphic>
          <a:graphicData uri="http://schemas.openxmlformats.org/drawingml/2006/table">
            <a:tbl>
              <a:tblPr/>
              <a:tblGrid>
                <a:gridCol w="1236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1153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9707" name="Group 59">
            <a:extLst>
              <a:ext uri="{FF2B5EF4-FFF2-40B4-BE49-F238E27FC236}">
                <a16:creationId xmlns:a16="http://schemas.microsoft.com/office/drawing/2014/main" id="{284F3FF7-A93B-4FC4-A984-D404900231EC}"/>
              </a:ext>
            </a:extLst>
          </p:cNvPr>
          <p:cNvGraphicFramePr>
            <a:graphicFrameLocks noGrp="1"/>
          </p:cNvGraphicFramePr>
          <p:nvPr/>
        </p:nvGraphicFramePr>
        <p:xfrm>
          <a:off x="3779838" y="4975225"/>
          <a:ext cx="1173162" cy="1158875"/>
        </p:xfrm>
        <a:graphic>
          <a:graphicData uri="http://schemas.openxmlformats.org/drawingml/2006/table">
            <a:tbl>
              <a:tblPr/>
              <a:tblGrid>
                <a:gridCol w="1173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1286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9708" name="Group 60">
            <a:extLst>
              <a:ext uri="{FF2B5EF4-FFF2-40B4-BE49-F238E27FC236}">
                <a16:creationId xmlns:a16="http://schemas.microsoft.com/office/drawing/2014/main" id="{4F95FE33-27D6-4609-B7F1-43E84F1A0F62}"/>
              </a:ext>
            </a:extLst>
          </p:cNvPr>
          <p:cNvGraphicFramePr>
            <a:graphicFrameLocks noGrp="1"/>
          </p:cNvGraphicFramePr>
          <p:nvPr/>
        </p:nvGraphicFramePr>
        <p:xfrm>
          <a:off x="5219700" y="4975225"/>
          <a:ext cx="1181100" cy="1158875"/>
        </p:xfrm>
        <a:graphic>
          <a:graphicData uri="http://schemas.openxmlformats.org/drawingml/2006/table">
            <a:tbl>
              <a:tblPr/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1390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39709" name="Group 61">
            <a:extLst>
              <a:ext uri="{FF2B5EF4-FFF2-40B4-BE49-F238E27FC236}">
                <a16:creationId xmlns:a16="http://schemas.microsoft.com/office/drawing/2014/main" id="{69663721-CEB7-48F7-8535-F5FCE568DD6B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4975225"/>
          <a:ext cx="1530350" cy="1158875"/>
        </p:xfrm>
        <a:graphic>
          <a:graphicData uri="http://schemas.openxmlformats.org/drawingml/2006/table">
            <a:tbl>
              <a:tblPr/>
              <a:tblGrid>
                <a:gridCol w="15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9695" name="Line 47"/>
          <p:cNvSpPr>
            <a:spLocks noChangeShapeType="1"/>
          </p:cNvSpPr>
          <p:nvPr/>
        </p:nvSpPr>
        <p:spPr bwMode="auto">
          <a:xfrm>
            <a:off x="1905000" y="5221288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9696" name="Line 48"/>
          <p:cNvSpPr>
            <a:spLocks noChangeShapeType="1"/>
          </p:cNvSpPr>
          <p:nvPr/>
        </p:nvSpPr>
        <p:spPr bwMode="auto">
          <a:xfrm flipV="1">
            <a:off x="3352800" y="5203825"/>
            <a:ext cx="609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9697" name="Line 49"/>
          <p:cNvSpPr>
            <a:spLocks noChangeShapeType="1"/>
          </p:cNvSpPr>
          <p:nvPr/>
        </p:nvSpPr>
        <p:spPr bwMode="auto">
          <a:xfrm flipV="1">
            <a:off x="4800600" y="5203825"/>
            <a:ext cx="609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9698" name="Line 50"/>
          <p:cNvSpPr>
            <a:spLocks noChangeShapeType="1"/>
          </p:cNvSpPr>
          <p:nvPr/>
        </p:nvSpPr>
        <p:spPr bwMode="auto">
          <a:xfrm flipV="1">
            <a:off x="6213475" y="5280025"/>
            <a:ext cx="6096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9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39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3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3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3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53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3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3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9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3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3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3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0" grpId="0"/>
      <p:bldP spid="539652" grpId="0"/>
      <p:bldP spid="539653" grpId="0"/>
      <p:bldP spid="539654" grpId="0"/>
      <p:bldP spid="539655" grpId="0"/>
      <p:bldP spid="53965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Text Box 2"/>
          <p:cNvSpPr txBox="1">
            <a:spLocks noChangeArrowheads="1"/>
          </p:cNvSpPr>
          <p:nvPr/>
        </p:nvSpPr>
        <p:spPr bwMode="auto">
          <a:xfrm>
            <a:off x="250825" y="303213"/>
            <a:ext cx="8497888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定义素数链表的结点类型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 prime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47171" name="Text Box 3"/>
          <p:cNvSpPr txBox="1">
            <a:spLocks noChangeArrowheads="1"/>
          </p:cNvSpPr>
          <p:nvPr/>
        </p:nvSpPr>
        <p:spPr bwMode="auto">
          <a:xfrm>
            <a:off x="325438" y="4935538"/>
            <a:ext cx="20859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素数链表：</a:t>
            </a:r>
          </a:p>
        </p:txBody>
      </p:sp>
      <p:sp>
        <p:nvSpPr>
          <p:cNvPr id="647172" name="Text Box 4"/>
          <p:cNvSpPr txBox="1">
            <a:spLocks noChangeArrowheads="1"/>
          </p:cNvSpPr>
          <p:nvPr/>
        </p:nvSpPr>
        <p:spPr bwMode="auto">
          <a:xfrm>
            <a:off x="93663" y="5559425"/>
            <a:ext cx="1309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</a:t>
            </a:r>
          </a:p>
        </p:txBody>
      </p:sp>
      <p:graphicFrame>
        <p:nvGraphicFramePr>
          <p:cNvPr id="647213" name="Group 45">
            <a:extLst>
              <a:ext uri="{FF2B5EF4-FFF2-40B4-BE49-F238E27FC236}">
                <a16:creationId xmlns:a16="http://schemas.microsoft.com/office/drawing/2014/main" id="{4CF2160C-DC4B-4724-9AF2-D60099A44D79}"/>
              </a:ext>
            </a:extLst>
          </p:cNvPr>
          <p:cNvGraphicFramePr>
            <a:graphicFrameLocks noGrp="1"/>
          </p:cNvGraphicFramePr>
          <p:nvPr/>
        </p:nvGraphicFramePr>
        <p:xfrm>
          <a:off x="1652588" y="5584825"/>
          <a:ext cx="1219200" cy="5794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11</a:t>
                      </a:r>
                    </a:p>
                  </a:txBody>
                  <a:tcPr marT="24845" marB="248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24845" marB="248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212" name="Group 44">
            <a:extLst>
              <a:ext uri="{FF2B5EF4-FFF2-40B4-BE49-F238E27FC236}">
                <a16:creationId xmlns:a16="http://schemas.microsoft.com/office/drawing/2014/main" id="{1E5A8DD2-2C57-47A7-B6ED-EC527DCAC9AB}"/>
              </a:ext>
            </a:extLst>
          </p:cNvPr>
          <p:cNvGraphicFramePr>
            <a:graphicFrameLocks noGrp="1"/>
          </p:cNvGraphicFramePr>
          <p:nvPr/>
        </p:nvGraphicFramePr>
        <p:xfrm>
          <a:off x="3328988" y="5584825"/>
          <a:ext cx="1295400" cy="579438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13</a:t>
                      </a:r>
                    </a:p>
                  </a:txBody>
                  <a:tcPr marT="24845" marB="248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24845" marB="248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211" name="Group 43">
            <a:extLst>
              <a:ext uri="{FF2B5EF4-FFF2-40B4-BE49-F238E27FC236}">
                <a16:creationId xmlns:a16="http://schemas.microsoft.com/office/drawing/2014/main" id="{EF47A3DE-70E2-4B51-BDAC-154F83C8F691}"/>
              </a:ext>
            </a:extLst>
          </p:cNvPr>
          <p:cNvGraphicFramePr>
            <a:graphicFrameLocks noGrp="1"/>
          </p:cNvGraphicFramePr>
          <p:nvPr/>
        </p:nvGraphicFramePr>
        <p:xfrm>
          <a:off x="5157788" y="5584825"/>
          <a:ext cx="1447800" cy="579438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17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210" name="Group 42">
            <a:extLst>
              <a:ext uri="{FF2B5EF4-FFF2-40B4-BE49-F238E27FC236}">
                <a16:creationId xmlns:a16="http://schemas.microsoft.com/office/drawing/2014/main" id="{286D76DB-4223-461C-B9B0-B5EE0DC36308}"/>
              </a:ext>
            </a:extLst>
          </p:cNvPr>
          <p:cNvGraphicFramePr>
            <a:graphicFrameLocks noGrp="1"/>
          </p:cNvGraphicFramePr>
          <p:nvPr/>
        </p:nvGraphicFramePr>
        <p:xfrm>
          <a:off x="7062788" y="5586413"/>
          <a:ext cx="1828800" cy="579437"/>
        </p:xfrm>
        <a:graphic>
          <a:graphicData uri="http://schemas.openxmlformats.org/drawingml/2006/table">
            <a:tbl>
              <a:tblPr/>
              <a:tblGrid>
                <a:gridCol w="744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T="24845" marB="248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T="24845" marB="248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7205" name="Line 37"/>
          <p:cNvSpPr>
            <a:spLocks noChangeShapeType="1"/>
          </p:cNvSpPr>
          <p:nvPr/>
        </p:nvSpPr>
        <p:spPr bwMode="auto">
          <a:xfrm>
            <a:off x="1195388" y="5813425"/>
            <a:ext cx="4572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7206" name="Line 38"/>
          <p:cNvSpPr>
            <a:spLocks noChangeShapeType="1"/>
          </p:cNvSpPr>
          <p:nvPr/>
        </p:nvSpPr>
        <p:spPr bwMode="auto">
          <a:xfrm>
            <a:off x="2566988" y="5813425"/>
            <a:ext cx="7620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7207" name="Line 39"/>
          <p:cNvSpPr>
            <a:spLocks noChangeShapeType="1"/>
          </p:cNvSpPr>
          <p:nvPr/>
        </p:nvSpPr>
        <p:spPr bwMode="auto">
          <a:xfrm>
            <a:off x="4243388" y="5813425"/>
            <a:ext cx="9144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7208" name="Line 40"/>
          <p:cNvSpPr>
            <a:spLocks noChangeShapeType="1"/>
          </p:cNvSpPr>
          <p:nvPr/>
        </p:nvSpPr>
        <p:spPr bwMode="auto">
          <a:xfrm>
            <a:off x="6224588" y="5813425"/>
            <a:ext cx="8382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7209" name="Text Box 41"/>
          <p:cNvSpPr txBox="1">
            <a:spLocks noChangeArrowheads="1"/>
          </p:cNvSpPr>
          <p:nvPr/>
        </p:nvSpPr>
        <p:spPr bwMode="auto">
          <a:xfrm>
            <a:off x="323850" y="1095375"/>
            <a:ext cx="8496300" cy="375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要求素数链表结点只包含一个数据成员，因此结点类型可定义为： 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prime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{   int data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  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>
                <a:solidFill>
                  <a:srgbClr val="00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prime</a:t>
            </a: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*next; 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72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72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72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72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4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4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4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4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4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4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4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0" grpId="0"/>
      <p:bldP spid="647171" grpId="0"/>
      <p:bldP spid="64717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717" name="Text Box 45"/>
          <p:cNvSpPr txBox="1">
            <a:spLocks noChangeArrowheads="1"/>
          </p:cNvSpPr>
          <p:nvPr/>
        </p:nvSpPr>
        <p:spPr bwMode="auto">
          <a:xfrm>
            <a:off x="514350" y="115888"/>
            <a:ext cx="830580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定义学生链表的结点类型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 student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设一个学生记录包括学号、姓名、性别和高考成绩，学生链表的结点类型可定义为：</a:t>
            </a:r>
          </a:p>
        </p:txBody>
      </p:sp>
      <p:sp>
        <p:nvSpPr>
          <p:cNvPr id="540719" name="Text Box 47"/>
          <p:cNvSpPr txBox="1">
            <a:spLocks noChangeArrowheads="1"/>
          </p:cNvSpPr>
          <p:nvPr/>
        </p:nvSpPr>
        <p:spPr bwMode="auto">
          <a:xfrm>
            <a:off x="539750" y="3141663"/>
            <a:ext cx="7993063" cy="350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struct student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{  long num;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char  *name;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char  sex;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int score;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struct  student  *next;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717" grpId="0"/>
      <p:bldP spid="54071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7" name="Text Box 3"/>
          <p:cNvSpPr txBox="1">
            <a:spLocks noChangeArrowheads="1"/>
          </p:cNvSpPr>
          <p:nvPr/>
        </p:nvSpPr>
        <p:spPr bwMode="auto">
          <a:xfrm>
            <a:off x="4716463" y="195263"/>
            <a:ext cx="4021137" cy="22256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struct student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{  long num;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char  *name;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char  sex;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int score;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struct  student  *next;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};</a:t>
            </a:r>
          </a:p>
        </p:txBody>
      </p:sp>
      <p:graphicFrame>
        <p:nvGraphicFramePr>
          <p:cNvPr id="907268" name="Group 4">
            <a:extLst>
              <a:ext uri="{FF2B5EF4-FFF2-40B4-BE49-F238E27FC236}">
                <a16:creationId xmlns:a16="http://schemas.microsoft.com/office/drawing/2014/main" id="{A0342426-C738-4561-94E5-2211C81A805B}"/>
              </a:ext>
            </a:extLst>
          </p:cNvPr>
          <p:cNvGraphicFramePr>
            <a:graphicFrameLocks noGrp="1"/>
          </p:cNvGraphicFramePr>
          <p:nvPr/>
        </p:nvGraphicFramePr>
        <p:xfrm>
          <a:off x="5365750" y="3860800"/>
          <a:ext cx="1219200" cy="2413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1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010201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倪桂兰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568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7282" name="Rectangle 18"/>
          <p:cNvSpPr>
            <a:spLocks noChangeArrowheads="1"/>
          </p:cNvSpPr>
          <p:nvPr/>
        </p:nvSpPr>
        <p:spPr bwMode="auto">
          <a:xfrm>
            <a:off x="179388" y="188913"/>
            <a:ext cx="4451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struct student *p,*q;</a:t>
            </a:r>
          </a:p>
        </p:txBody>
      </p:sp>
      <p:sp>
        <p:nvSpPr>
          <p:cNvPr id="907283" name="Rectangle 19"/>
          <p:cNvSpPr>
            <a:spLocks noChangeArrowheads="1"/>
          </p:cNvSpPr>
          <p:nvPr/>
        </p:nvSpPr>
        <p:spPr bwMode="auto">
          <a:xfrm>
            <a:off x="179388" y="625475"/>
            <a:ext cx="384175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p-&gt;num=010201;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p-&gt;name=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倪桂兰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p-&gt;sex=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‘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女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p-&gt;score=568;</a:t>
            </a:r>
          </a:p>
        </p:txBody>
      </p:sp>
      <p:graphicFrame>
        <p:nvGraphicFramePr>
          <p:cNvPr id="907284" name="Group 20">
            <a:extLst>
              <a:ext uri="{FF2B5EF4-FFF2-40B4-BE49-F238E27FC236}">
                <a16:creationId xmlns:a16="http://schemas.microsoft.com/office/drawing/2014/main" id="{0D3755C8-22E5-4FD7-B111-272FF5A7E88F}"/>
              </a:ext>
            </a:extLst>
          </p:cNvPr>
          <p:cNvGraphicFramePr>
            <a:graphicFrameLocks noGrp="1"/>
          </p:cNvGraphicFramePr>
          <p:nvPr/>
        </p:nvGraphicFramePr>
        <p:xfrm>
          <a:off x="7529513" y="3860800"/>
          <a:ext cx="1219200" cy="2413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1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010202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刘宁宁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544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6013450" y="3573463"/>
            <a:ext cx="1787525" cy="2879725"/>
            <a:chOff x="1525" y="1872"/>
            <a:chExt cx="1222" cy="1968"/>
          </a:xfrm>
        </p:grpSpPr>
        <p:sp>
          <p:nvSpPr>
            <p:cNvPr id="37930" name="Line 35"/>
            <p:cNvSpPr>
              <a:spLocks noChangeShapeType="1"/>
            </p:cNvSpPr>
            <p:nvPr/>
          </p:nvSpPr>
          <p:spPr bwMode="auto">
            <a:xfrm>
              <a:off x="1536" y="3456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Line 36"/>
            <p:cNvSpPr>
              <a:spLocks noChangeShapeType="1"/>
            </p:cNvSpPr>
            <p:nvPr/>
          </p:nvSpPr>
          <p:spPr bwMode="auto">
            <a:xfrm>
              <a:off x="1525" y="3840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Line 37"/>
            <p:cNvSpPr>
              <a:spLocks noChangeShapeType="1"/>
            </p:cNvSpPr>
            <p:nvPr/>
          </p:nvSpPr>
          <p:spPr bwMode="auto">
            <a:xfrm flipV="1">
              <a:off x="2134" y="1872"/>
              <a:ext cx="0" cy="19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3" name="Line 38"/>
            <p:cNvSpPr>
              <a:spLocks noChangeShapeType="1"/>
            </p:cNvSpPr>
            <p:nvPr/>
          </p:nvSpPr>
          <p:spPr bwMode="auto">
            <a:xfrm>
              <a:off x="2123" y="1872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4" name="Line 39"/>
            <p:cNvSpPr>
              <a:spLocks noChangeShapeType="1"/>
            </p:cNvSpPr>
            <p:nvPr/>
          </p:nvSpPr>
          <p:spPr bwMode="auto">
            <a:xfrm>
              <a:off x="2736" y="1872"/>
              <a:ext cx="0" cy="1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4384675" y="3795713"/>
            <a:ext cx="981075" cy="396875"/>
            <a:chOff x="2580" y="2300"/>
            <a:chExt cx="618" cy="250"/>
          </a:xfrm>
        </p:grpSpPr>
        <p:sp>
          <p:nvSpPr>
            <p:cNvPr id="37928" name="Text Box 41"/>
            <p:cNvSpPr txBox="1">
              <a:spLocks noChangeArrowheads="1"/>
            </p:cNvSpPr>
            <p:nvPr/>
          </p:nvSpPr>
          <p:spPr bwMode="auto">
            <a:xfrm>
              <a:off x="2580" y="2300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7929" name="Line 42"/>
            <p:cNvSpPr>
              <a:spLocks noChangeShapeType="1"/>
            </p:cNvSpPr>
            <p:nvPr/>
          </p:nvSpPr>
          <p:spPr bwMode="auto">
            <a:xfrm>
              <a:off x="2835" y="2432"/>
              <a:ext cx="3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7307" name="Rectangle 43"/>
          <p:cNvSpPr>
            <a:spLocks noChangeArrowheads="1"/>
          </p:cNvSpPr>
          <p:nvPr/>
        </p:nvSpPr>
        <p:spPr bwMode="auto">
          <a:xfrm>
            <a:off x="179388" y="3429000"/>
            <a:ext cx="384175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q-&gt;num=010202;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q-&gt;name=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刘宁宁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q-&gt;sex=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‘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女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q-&gt;score=544;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8172450" y="2940050"/>
            <a:ext cx="431800" cy="906463"/>
            <a:chOff x="4966" y="1126"/>
            <a:chExt cx="272" cy="571"/>
          </a:xfrm>
        </p:grpSpPr>
        <p:sp>
          <p:nvSpPr>
            <p:cNvPr id="37926" name="Line 44"/>
            <p:cNvSpPr>
              <a:spLocks noChangeShapeType="1"/>
            </p:cNvSpPr>
            <p:nvPr/>
          </p:nvSpPr>
          <p:spPr bwMode="auto">
            <a:xfrm>
              <a:off x="5103" y="1380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7" name="Text Box 45"/>
            <p:cNvSpPr txBox="1">
              <a:spLocks noChangeArrowheads="1"/>
            </p:cNvSpPr>
            <p:nvPr/>
          </p:nvSpPr>
          <p:spPr bwMode="auto">
            <a:xfrm>
              <a:off x="4966" y="1126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907311" name="Rectangle 47"/>
          <p:cNvSpPr>
            <a:spLocks noChangeArrowheads="1"/>
          </p:cNvSpPr>
          <p:nvPr/>
        </p:nvSpPr>
        <p:spPr bwMode="auto">
          <a:xfrm>
            <a:off x="4643438" y="2636838"/>
            <a:ext cx="2216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p-&gt;next=q;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0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0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0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67" grpId="0" animBg="1"/>
      <p:bldP spid="907282" grpId="0"/>
      <p:bldP spid="907283" grpId="0"/>
      <p:bldP spid="907307" grpId="0"/>
      <p:bldP spid="9073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Text Box 2"/>
          <p:cNvSpPr txBox="1">
            <a:spLocks noChangeArrowheads="1"/>
          </p:cNvSpPr>
          <p:nvPr/>
        </p:nvSpPr>
        <p:spPr bwMode="auto">
          <a:xfrm>
            <a:off x="539750" y="188913"/>
            <a:ext cx="76962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动态存储分配函数</a:t>
            </a:r>
          </a:p>
        </p:txBody>
      </p:sp>
      <p:sp>
        <p:nvSpPr>
          <p:cNvPr id="542724" name="Text Box 4">
            <a:extLst>
              <a:ext uri="{FF2B5EF4-FFF2-40B4-BE49-F238E27FC236}">
                <a16:creationId xmlns:a16="http://schemas.microsoft.com/office/drawing/2014/main" id="{51E5CC24-C353-4CFF-BBCE-2BF1E8764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49338"/>
            <a:ext cx="8388350" cy="49720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1.malloc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函数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b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函数原型：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void *malloc(unsigned size)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b="0">
                <a:latin typeface="黑体" pitchFamily="2" charset="-122"/>
                <a:ea typeface="黑体" pitchFamily="2" charset="-122"/>
                <a:cs typeface="Times New Roman" pitchFamily="18" charset="0"/>
              </a:rPr>
              <a:t>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函数功能：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在内存的动态存储区中分配一块长度为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size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字节的连续空间，并返回该存储区域的首地址；若函数调用失败，返回空指针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NULL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2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87" name="Text Box 3">
            <a:extLst>
              <a:ext uri="{FF2B5EF4-FFF2-40B4-BE49-F238E27FC236}">
                <a16:creationId xmlns:a16="http://schemas.microsoft.com/office/drawing/2014/main" id="{BA23F8D7-62C8-4743-B840-2D2E1E402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33375"/>
            <a:ext cx="7920038" cy="58943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2.calloc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函数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b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函数原型：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void *calloc(unsigned n,unsigned size)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en-US" altLang="zh-CN"/>
              <a:t>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函数功能：</a:t>
            </a:r>
            <a:r>
              <a:rPr lang="zh-CN" altLang="en-US"/>
              <a:t>在内存的动态存储区中分配长度为</a:t>
            </a:r>
            <a:r>
              <a:rPr lang="en-US" altLang="zh-CN"/>
              <a:t>size</a:t>
            </a:r>
            <a:r>
              <a:rPr lang="zh-CN" altLang="en-US"/>
              <a:t>字节的连续空间</a:t>
            </a:r>
            <a:r>
              <a:rPr lang="en-US" altLang="zh-CN"/>
              <a:t>n</a:t>
            </a:r>
            <a:r>
              <a:rPr lang="zh-CN" altLang="en-US"/>
              <a:t>块，并返回该存储区域的首地址。若函数调用失败，就返回空指针</a:t>
            </a:r>
            <a:r>
              <a:rPr lang="en-US" altLang="zh-CN"/>
              <a:t>NULL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4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78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7" name="Text Box 3">
            <a:extLst>
              <a:ext uri="{FF2B5EF4-FFF2-40B4-BE49-F238E27FC236}">
                <a16:creationId xmlns:a16="http://schemas.microsoft.com/office/drawing/2014/main" id="{72EE589C-DF15-4F5C-A59A-6FA53C3F9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0850"/>
            <a:ext cx="7848600" cy="3698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en-US" altLang="zh-CN">
                <a:latin typeface="楷体_GB2312" pitchFamily="49" charset="-122"/>
                <a:cs typeface="Times New Roman" pitchFamily="18" charset="0"/>
              </a:rPr>
              <a:t>  3.free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函数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zh-CN" altLang="en-US" b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函数原型：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void free(void *p)</a:t>
            </a:r>
          </a:p>
          <a:p>
            <a:pPr eaLnBrk="1" hangingPunct="1">
              <a:lnSpc>
                <a:spcPct val="160000"/>
              </a:lnSpc>
              <a:spcBef>
                <a:spcPct val="50000"/>
              </a:spcBef>
              <a:defRPr/>
            </a:pPr>
            <a:r>
              <a:rPr lang="en-US" altLang="zh-CN" b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函数功能：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释放当前正被指针</a:t>
            </a:r>
            <a:r>
              <a:rPr lang="en-US" altLang="zh-CN">
                <a:latin typeface="楷体_GB2312" pitchFamily="49" charset="-122"/>
                <a:cs typeface="Times New Roman" pitchFamily="18" charset="0"/>
              </a:rPr>
              <a:t>p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所指向的内存区域，将它归还给系统以作它用。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3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3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1" name="Text Box 3"/>
          <p:cNvSpPr txBox="1">
            <a:spLocks noChangeArrowheads="1"/>
          </p:cNvSpPr>
          <p:nvPr/>
        </p:nvSpPr>
        <p:spPr bwMode="auto">
          <a:xfrm>
            <a:off x="396875" y="355600"/>
            <a:ext cx="3817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创建链表</a:t>
            </a:r>
          </a:p>
        </p:txBody>
      </p:sp>
      <p:sp>
        <p:nvSpPr>
          <p:cNvPr id="544772" name="Text Box 4"/>
          <p:cNvSpPr txBox="1">
            <a:spLocks noChangeArrowheads="1"/>
          </p:cNvSpPr>
          <p:nvPr/>
        </p:nvSpPr>
        <p:spPr bwMode="auto">
          <a:xfrm>
            <a:off x="323850" y="1003300"/>
            <a:ext cx="8497888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创建链表从空表开始，循环地将新结点逐一产生出来，并按预定的链接关系插入到链表中去的过程。</a:t>
            </a:r>
          </a:p>
        </p:txBody>
      </p:sp>
      <p:graphicFrame>
        <p:nvGraphicFramePr>
          <p:cNvPr id="544774" name="Group 6">
            <a:extLst>
              <a:ext uri="{FF2B5EF4-FFF2-40B4-BE49-F238E27FC236}">
                <a16:creationId xmlns:a16="http://schemas.microsoft.com/office/drawing/2014/main" id="{CADA80CF-C5CD-4133-ABBC-1FF703538A37}"/>
              </a:ext>
            </a:extLst>
          </p:cNvPr>
          <p:cNvGraphicFramePr>
            <a:graphicFrameLocks noGrp="1"/>
          </p:cNvGraphicFramePr>
          <p:nvPr/>
        </p:nvGraphicFramePr>
        <p:xfrm>
          <a:off x="2068513" y="3514725"/>
          <a:ext cx="1219200" cy="2413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1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010201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倪桂兰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568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4788" name="Group 20">
            <a:extLst>
              <a:ext uri="{FF2B5EF4-FFF2-40B4-BE49-F238E27FC236}">
                <a16:creationId xmlns:a16="http://schemas.microsoft.com/office/drawing/2014/main" id="{F99542E1-E007-49BF-9AD5-B636824FE62E}"/>
              </a:ext>
            </a:extLst>
          </p:cNvPr>
          <p:cNvGraphicFramePr>
            <a:graphicFrameLocks noGrp="1"/>
          </p:cNvGraphicFramePr>
          <p:nvPr/>
        </p:nvGraphicFramePr>
        <p:xfrm>
          <a:off x="3884613" y="3502025"/>
          <a:ext cx="1219200" cy="24130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1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010202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刘宁宁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女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544</a:t>
                      </a: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0068" marB="400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4802" name="Group 34">
            <a:extLst>
              <a:ext uri="{FF2B5EF4-FFF2-40B4-BE49-F238E27FC236}">
                <a16:creationId xmlns:a16="http://schemas.microsoft.com/office/drawing/2014/main" id="{7CA600B2-2B53-4A80-9A70-5280FE7A8E21}"/>
              </a:ext>
            </a:extLst>
          </p:cNvPr>
          <p:cNvGraphicFramePr>
            <a:graphicFrameLocks noGrp="1"/>
          </p:cNvGraphicFramePr>
          <p:nvPr/>
        </p:nvGraphicFramePr>
        <p:xfrm>
          <a:off x="7529513" y="3505200"/>
          <a:ext cx="1219200" cy="2387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3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010230</a:t>
                      </a:r>
                    </a:p>
                  </a:txBody>
                  <a:tcPr marT="39646" marB="39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潘俊</a:t>
                      </a:r>
                    </a:p>
                  </a:txBody>
                  <a:tcPr marT="39646" marB="39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男</a:t>
                      </a:r>
                    </a:p>
                  </a:txBody>
                  <a:tcPr marT="39646" marB="39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626</a:t>
                      </a:r>
                    </a:p>
                  </a:txBody>
                  <a:tcPr marT="39646" marB="39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NULL</a:t>
                      </a:r>
                    </a:p>
                  </a:txBody>
                  <a:tcPr marT="39646" marB="396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4816" name="Rectangle 48"/>
          <p:cNvSpPr>
            <a:spLocks noChangeArrowheads="1"/>
          </p:cNvSpPr>
          <p:nvPr/>
        </p:nvSpPr>
        <p:spPr bwMode="auto">
          <a:xfrm>
            <a:off x="468313" y="3513138"/>
            <a:ext cx="838200" cy="533400"/>
          </a:xfrm>
          <a:prstGeom prst="rect">
            <a:avLst/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544817" name="Line 49"/>
          <p:cNvSpPr>
            <a:spLocks noChangeShapeType="1"/>
          </p:cNvSpPr>
          <p:nvPr/>
        </p:nvSpPr>
        <p:spPr bwMode="auto">
          <a:xfrm>
            <a:off x="1306513" y="3717925"/>
            <a:ext cx="76200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2719388" y="3184525"/>
            <a:ext cx="1787525" cy="3124200"/>
            <a:chOff x="1525" y="1872"/>
            <a:chExt cx="1222" cy="1968"/>
          </a:xfrm>
        </p:grpSpPr>
        <p:sp>
          <p:nvSpPr>
            <p:cNvPr id="42046" name="Line 51"/>
            <p:cNvSpPr>
              <a:spLocks noChangeShapeType="1"/>
            </p:cNvSpPr>
            <p:nvPr/>
          </p:nvSpPr>
          <p:spPr bwMode="auto">
            <a:xfrm>
              <a:off x="1536" y="3456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7" name="Line 52"/>
            <p:cNvSpPr>
              <a:spLocks noChangeShapeType="1"/>
            </p:cNvSpPr>
            <p:nvPr/>
          </p:nvSpPr>
          <p:spPr bwMode="auto">
            <a:xfrm>
              <a:off x="1525" y="3840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8" name="Line 53"/>
            <p:cNvSpPr>
              <a:spLocks noChangeShapeType="1"/>
            </p:cNvSpPr>
            <p:nvPr/>
          </p:nvSpPr>
          <p:spPr bwMode="auto">
            <a:xfrm flipV="1">
              <a:off x="2134" y="1872"/>
              <a:ext cx="0" cy="19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9" name="Line 54"/>
            <p:cNvSpPr>
              <a:spLocks noChangeShapeType="1"/>
            </p:cNvSpPr>
            <p:nvPr/>
          </p:nvSpPr>
          <p:spPr bwMode="auto">
            <a:xfrm>
              <a:off x="2123" y="1872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0" name="Line 55"/>
            <p:cNvSpPr>
              <a:spLocks noChangeShapeType="1"/>
            </p:cNvSpPr>
            <p:nvPr/>
          </p:nvSpPr>
          <p:spPr bwMode="auto">
            <a:xfrm>
              <a:off x="2736" y="1872"/>
              <a:ext cx="0" cy="1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56"/>
          <p:cNvGrpSpPr>
            <a:grpSpLocks/>
          </p:cNvGrpSpPr>
          <p:nvPr/>
        </p:nvGrpSpPr>
        <p:grpSpPr bwMode="auto">
          <a:xfrm>
            <a:off x="4548188" y="3184525"/>
            <a:ext cx="1939925" cy="3124200"/>
            <a:chOff x="1525" y="1872"/>
            <a:chExt cx="1222" cy="1968"/>
          </a:xfrm>
        </p:grpSpPr>
        <p:sp>
          <p:nvSpPr>
            <p:cNvPr id="42041" name="Line 57"/>
            <p:cNvSpPr>
              <a:spLocks noChangeShapeType="1"/>
            </p:cNvSpPr>
            <p:nvPr/>
          </p:nvSpPr>
          <p:spPr bwMode="auto">
            <a:xfrm>
              <a:off x="1536" y="3456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2" name="Line 58"/>
            <p:cNvSpPr>
              <a:spLocks noChangeShapeType="1"/>
            </p:cNvSpPr>
            <p:nvPr/>
          </p:nvSpPr>
          <p:spPr bwMode="auto">
            <a:xfrm>
              <a:off x="1525" y="3840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3" name="Line 59"/>
            <p:cNvSpPr>
              <a:spLocks noChangeShapeType="1"/>
            </p:cNvSpPr>
            <p:nvPr/>
          </p:nvSpPr>
          <p:spPr bwMode="auto">
            <a:xfrm flipV="1">
              <a:off x="2134" y="1872"/>
              <a:ext cx="0" cy="19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4" name="Line 60"/>
            <p:cNvSpPr>
              <a:spLocks noChangeShapeType="1"/>
            </p:cNvSpPr>
            <p:nvPr/>
          </p:nvSpPr>
          <p:spPr bwMode="auto">
            <a:xfrm>
              <a:off x="2123" y="1872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5" name="Line 61"/>
            <p:cNvSpPr>
              <a:spLocks noChangeShapeType="1"/>
            </p:cNvSpPr>
            <p:nvPr/>
          </p:nvSpPr>
          <p:spPr bwMode="auto">
            <a:xfrm>
              <a:off x="2736" y="1872"/>
              <a:ext cx="0" cy="1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6224588" y="3184525"/>
            <a:ext cx="1939925" cy="3124200"/>
            <a:chOff x="1525" y="1872"/>
            <a:chExt cx="1222" cy="1968"/>
          </a:xfrm>
        </p:grpSpPr>
        <p:sp>
          <p:nvSpPr>
            <p:cNvPr id="42036" name="Line 63"/>
            <p:cNvSpPr>
              <a:spLocks noChangeShapeType="1"/>
            </p:cNvSpPr>
            <p:nvPr/>
          </p:nvSpPr>
          <p:spPr bwMode="auto">
            <a:xfrm>
              <a:off x="1536" y="3456"/>
              <a:ext cx="0" cy="38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7" name="Line 64"/>
            <p:cNvSpPr>
              <a:spLocks noChangeShapeType="1"/>
            </p:cNvSpPr>
            <p:nvPr/>
          </p:nvSpPr>
          <p:spPr bwMode="auto">
            <a:xfrm>
              <a:off x="1525" y="3840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8" name="Line 65"/>
            <p:cNvSpPr>
              <a:spLocks noChangeShapeType="1"/>
            </p:cNvSpPr>
            <p:nvPr/>
          </p:nvSpPr>
          <p:spPr bwMode="auto">
            <a:xfrm flipV="1">
              <a:off x="2134" y="1872"/>
              <a:ext cx="0" cy="196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9" name="Line 66"/>
            <p:cNvSpPr>
              <a:spLocks noChangeShapeType="1"/>
            </p:cNvSpPr>
            <p:nvPr/>
          </p:nvSpPr>
          <p:spPr bwMode="auto">
            <a:xfrm>
              <a:off x="2123" y="1872"/>
              <a:ext cx="624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0" name="Line 67"/>
            <p:cNvSpPr>
              <a:spLocks noChangeShapeType="1"/>
            </p:cNvSpPr>
            <p:nvPr/>
          </p:nvSpPr>
          <p:spPr bwMode="auto">
            <a:xfrm>
              <a:off x="2736" y="1872"/>
              <a:ext cx="0" cy="19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4836" name="Text Box 68"/>
          <p:cNvSpPr txBox="1">
            <a:spLocks noChangeArrowheads="1"/>
          </p:cNvSpPr>
          <p:nvPr/>
        </p:nvSpPr>
        <p:spPr bwMode="auto">
          <a:xfrm>
            <a:off x="6107113" y="4403725"/>
            <a:ext cx="6096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000000"/>
                </a:solidFill>
                <a:ea typeface="楷体_GB2312" pitchFamily="49" charset="-122"/>
                <a:cs typeface="Times New Roman" panose="02020603050405020304" pitchFamily="18" charset="0"/>
              </a:rPr>
              <a:t>…</a:t>
            </a:r>
            <a:endParaRPr kumimoji="0" lang="en-US" altLang="zh-CN" sz="240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4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4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4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4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1" grpId="0"/>
      <p:bldP spid="544772" grpId="0"/>
      <p:bldP spid="544816" grpId="0" animBg="1"/>
      <p:bldP spid="5448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2" name="Text Box 2"/>
          <p:cNvSpPr txBox="1">
            <a:spLocks noChangeArrowheads="1"/>
          </p:cNvSpPr>
          <p:nvPr/>
        </p:nvSpPr>
        <p:spPr bwMode="auto">
          <a:xfrm>
            <a:off x="288925" y="371475"/>
            <a:ext cx="8675688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结点插入通常有两种预定关系：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rgbClr val="FF66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栈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式结构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32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新结点总是从表首插入，使得最先插入到链表中去的结点被挤压到链尾，成为末结点，而最后插入的结点成为链表的头结点；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rgbClr val="FF66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“队列”式结构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新结点是从表尾插入；</a:t>
            </a:r>
            <a:endParaRPr lang="zh-CN" altLang="en-US" sz="32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6246" name="Text Box 6"/>
          <p:cNvSpPr txBox="1">
            <a:spLocks noChangeArrowheads="1"/>
          </p:cNvSpPr>
          <p:nvPr/>
        </p:nvSpPr>
        <p:spPr bwMode="auto">
          <a:xfrm>
            <a:off x="754063" y="5053013"/>
            <a:ext cx="49688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）创建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栈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式链表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6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6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6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6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246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339975" y="5516563"/>
            <a:ext cx="4681538" cy="720725"/>
            <a:chOff x="2592" y="1968"/>
            <a:chExt cx="1872" cy="384"/>
          </a:xfrm>
        </p:grpSpPr>
        <p:sp>
          <p:nvSpPr>
            <p:cNvPr id="44043" name="Rectangle 4"/>
            <p:cNvSpPr>
              <a:spLocks noChangeArrowheads="1"/>
            </p:cNvSpPr>
            <p:nvPr/>
          </p:nvSpPr>
          <p:spPr bwMode="auto">
            <a:xfrm>
              <a:off x="2592" y="1968"/>
              <a:ext cx="1872" cy="38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4044" name="Line 6"/>
            <p:cNvSpPr>
              <a:spLocks noChangeShapeType="1"/>
            </p:cNvSpPr>
            <p:nvPr/>
          </p:nvSpPr>
          <p:spPr bwMode="auto">
            <a:xfrm>
              <a:off x="2736" y="2171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Rectangle 20"/>
            <p:cNvSpPr>
              <a:spLocks noChangeArrowheads="1"/>
            </p:cNvSpPr>
            <p:nvPr/>
          </p:nvSpPr>
          <p:spPr bwMode="auto">
            <a:xfrm>
              <a:off x="3275" y="2027"/>
              <a:ext cx="1008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4046" name="Line 21"/>
            <p:cNvSpPr>
              <a:spLocks noChangeShapeType="1"/>
            </p:cNvSpPr>
            <p:nvPr/>
          </p:nvSpPr>
          <p:spPr bwMode="auto">
            <a:xfrm>
              <a:off x="3755" y="201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5828" name="Text Box 36"/>
          <p:cNvSpPr txBox="1">
            <a:spLocks noChangeArrowheads="1"/>
          </p:cNvSpPr>
          <p:nvPr/>
        </p:nvSpPr>
        <p:spPr bwMode="auto">
          <a:xfrm>
            <a:off x="179388" y="144463"/>
            <a:ext cx="8748712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head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为链表头指针，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为创建动态结点的工作指针，则：</a:t>
            </a:r>
          </a:p>
        </p:txBody>
      </p:sp>
      <p:sp>
        <p:nvSpPr>
          <p:cNvPr id="545829" name="Text Box 37"/>
          <p:cNvSpPr txBox="1">
            <a:spLocks noChangeArrowheads="1"/>
          </p:cNvSpPr>
          <p:nvPr/>
        </p:nvSpPr>
        <p:spPr bwMode="auto">
          <a:xfrm>
            <a:off x="971550" y="1741488"/>
            <a:ext cx="65532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①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建空表：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head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NULL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</a:p>
        </p:txBody>
      </p:sp>
      <p:sp>
        <p:nvSpPr>
          <p:cNvPr id="545830" name="Text Box 38"/>
          <p:cNvSpPr txBox="1">
            <a:spLocks noChangeArrowheads="1"/>
          </p:cNvSpPr>
          <p:nvPr/>
        </p:nvSpPr>
        <p:spPr bwMode="auto">
          <a:xfrm>
            <a:off x="942975" y="3716338"/>
            <a:ext cx="7516813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②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创建新结点，并对结点的数据域赋值： </a:t>
            </a: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p=(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结点类型*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)malloc(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结点长度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 </a:t>
            </a:r>
          </a:p>
        </p:txBody>
      </p:sp>
      <p:sp>
        <p:nvSpPr>
          <p:cNvPr id="545834" name="Line 42"/>
          <p:cNvSpPr>
            <a:spLocks noChangeShapeType="1"/>
          </p:cNvSpPr>
          <p:nvPr/>
        </p:nvSpPr>
        <p:spPr bwMode="auto">
          <a:xfrm>
            <a:off x="1592263" y="908050"/>
            <a:ext cx="33115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971550" y="2924175"/>
            <a:ext cx="3932238" cy="673100"/>
            <a:chOff x="2916" y="1038"/>
            <a:chExt cx="1688" cy="336"/>
          </a:xfrm>
        </p:grpSpPr>
        <p:sp>
          <p:nvSpPr>
            <p:cNvPr id="44040" name="Rectangle 3"/>
            <p:cNvSpPr>
              <a:spLocks noChangeArrowheads="1"/>
            </p:cNvSpPr>
            <p:nvPr/>
          </p:nvSpPr>
          <p:spPr bwMode="auto">
            <a:xfrm>
              <a:off x="2916" y="1038"/>
              <a:ext cx="1688" cy="33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  <a:r>
                <a:rPr lang="en-US" altLang="zh-CN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4041" name="Line 43"/>
            <p:cNvSpPr>
              <a:spLocks noChangeShapeType="1"/>
            </p:cNvSpPr>
            <p:nvPr/>
          </p:nvSpPr>
          <p:spPr bwMode="auto">
            <a:xfrm>
              <a:off x="3334" y="1207"/>
              <a:ext cx="45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Rectangle 44"/>
            <p:cNvSpPr>
              <a:spLocks noChangeArrowheads="1"/>
            </p:cNvSpPr>
            <p:nvPr/>
          </p:nvSpPr>
          <p:spPr bwMode="auto">
            <a:xfrm>
              <a:off x="3833" y="1080"/>
              <a:ext cx="590" cy="227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>
                  <a:solidFill>
                    <a:srgbClr val="00040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NULL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28" grpId="0"/>
      <p:bldP spid="545829" grpId="0"/>
      <p:bldP spid="5458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18" name="Text Box 10"/>
          <p:cNvSpPr txBox="1">
            <a:spLocks noChangeArrowheads="1"/>
          </p:cNvSpPr>
          <p:nvPr/>
        </p:nvSpPr>
        <p:spPr bwMode="auto">
          <a:xfrm>
            <a:off x="439738" y="485775"/>
            <a:ext cx="40386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③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新结点进栈：    </a:t>
            </a:r>
          </a:p>
        </p:txBody>
      </p:sp>
      <p:sp>
        <p:nvSpPr>
          <p:cNvPr id="1015819" name="Text Box 11"/>
          <p:cNvSpPr txBox="1">
            <a:spLocks noChangeArrowheads="1"/>
          </p:cNvSpPr>
          <p:nvPr/>
        </p:nvSpPr>
        <p:spPr bwMode="auto">
          <a:xfrm>
            <a:off x="396875" y="3036888"/>
            <a:ext cx="6551613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④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重复②、③步骤若干次；</a:t>
            </a:r>
          </a:p>
        </p:txBody>
      </p:sp>
      <p:sp>
        <p:nvSpPr>
          <p:cNvPr id="1015825" name="Rectangle 17"/>
          <p:cNvSpPr>
            <a:spLocks noChangeArrowheads="1"/>
          </p:cNvSpPr>
          <p:nvPr/>
        </p:nvSpPr>
        <p:spPr bwMode="auto">
          <a:xfrm>
            <a:off x="2316163" y="1641475"/>
            <a:ext cx="4343400" cy="1066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solidFill>
                <a:srgbClr val="00040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5826" name="Line 18"/>
          <p:cNvSpPr>
            <a:spLocks noChangeShapeType="1"/>
          </p:cNvSpPr>
          <p:nvPr/>
        </p:nvSpPr>
        <p:spPr bwMode="auto">
          <a:xfrm>
            <a:off x="2544763" y="2420938"/>
            <a:ext cx="8382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5827" name="Rectangle 19"/>
          <p:cNvSpPr>
            <a:spLocks noChangeArrowheads="1"/>
          </p:cNvSpPr>
          <p:nvPr/>
        </p:nvSpPr>
        <p:spPr bwMode="auto">
          <a:xfrm>
            <a:off x="3400425" y="2070100"/>
            <a:ext cx="1735138" cy="598488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</a:rPr>
              <a:t>   </a:t>
            </a: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015829" name="Line 21"/>
          <p:cNvSpPr>
            <a:spLocks noChangeShapeType="1"/>
          </p:cNvSpPr>
          <p:nvPr/>
        </p:nvSpPr>
        <p:spPr bwMode="auto">
          <a:xfrm>
            <a:off x="5299075" y="1849438"/>
            <a:ext cx="690563" cy="3683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5830" name="Line 22"/>
          <p:cNvSpPr>
            <a:spLocks noChangeShapeType="1"/>
          </p:cNvSpPr>
          <p:nvPr/>
        </p:nvSpPr>
        <p:spPr bwMode="auto">
          <a:xfrm>
            <a:off x="4765675" y="2433638"/>
            <a:ext cx="720725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5831" name="Rectangle 23"/>
          <p:cNvSpPr>
            <a:spLocks noChangeArrowheads="1"/>
          </p:cNvSpPr>
          <p:nvPr/>
        </p:nvSpPr>
        <p:spPr bwMode="auto">
          <a:xfrm>
            <a:off x="5486400" y="2214563"/>
            <a:ext cx="1060450" cy="473075"/>
          </a:xfrm>
          <a:prstGeom prst="rect">
            <a:avLst/>
          </a:prstGeom>
          <a:solidFill>
            <a:srgbClr val="FFFF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80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2411413" y="4364038"/>
            <a:ext cx="4176712" cy="936625"/>
            <a:chOff x="1296" y="3566"/>
            <a:chExt cx="1872" cy="590"/>
          </a:xfrm>
        </p:grpSpPr>
        <p:sp>
          <p:nvSpPr>
            <p:cNvPr id="45074" name="Rectangle 25"/>
            <p:cNvSpPr>
              <a:spLocks noChangeArrowheads="1"/>
            </p:cNvSpPr>
            <p:nvPr/>
          </p:nvSpPr>
          <p:spPr bwMode="auto">
            <a:xfrm>
              <a:off x="1296" y="3566"/>
              <a:ext cx="1872" cy="59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5075" name="Line 26"/>
            <p:cNvSpPr>
              <a:spLocks noChangeShapeType="1"/>
            </p:cNvSpPr>
            <p:nvPr/>
          </p:nvSpPr>
          <p:spPr bwMode="auto">
            <a:xfrm>
              <a:off x="1440" y="3975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Rectangle 27"/>
            <p:cNvSpPr>
              <a:spLocks noChangeArrowheads="1"/>
            </p:cNvSpPr>
            <p:nvPr/>
          </p:nvSpPr>
          <p:spPr bwMode="auto">
            <a:xfrm>
              <a:off x="1979" y="3831"/>
              <a:ext cx="1093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3     NULL</a:t>
              </a:r>
            </a:p>
          </p:txBody>
        </p:sp>
        <p:sp>
          <p:nvSpPr>
            <p:cNvPr id="45077" name="Line 28"/>
            <p:cNvSpPr>
              <a:spLocks noChangeShapeType="1"/>
            </p:cNvSpPr>
            <p:nvPr/>
          </p:nvSpPr>
          <p:spPr bwMode="auto">
            <a:xfrm>
              <a:off x="2459" y="382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Line 29"/>
            <p:cNvSpPr>
              <a:spLocks noChangeShapeType="1"/>
            </p:cNvSpPr>
            <p:nvPr/>
          </p:nvSpPr>
          <p:spPr bwMode="auto">
            <a:xfrm>
              <a:off x="1488" y="3820"/>
              <a:ext cx="480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5840" name="Rectangle 32"/>
          <p:cNvSpPr>
            <a:spLocks noChangeArrowheads="1"/>
          </p:cNvSpPr>
          <p:nvPr/>
        </p:nvSpPr>
        <p:spPr bwMode="auto">
          <a:xfrm>
            <a:off x="4262438" y="1495425"/>
            <a:ext cx="12303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ea typeface="楷体_GB2312" pitchFamily="49" charset="-122"/>
              </a:rPr>
              <a:t>head</a:t>
            </a:r>
          </a:p>
        </p:txBody>
      </p:sp>
      <p:sp>
        <p:nvSpPr>
          <p:cNvPr id="1015841" name="Rectangle 33"/>
          <p:cNvSpPr>
            <a:spLocks noChangeArrowheads="1"/>
          </p:cNvSpPr>
          <p:nvPr/>
        </p:nvSpPr>
        <p:spPr bwMode="auto">
          <a:xfrm>
            <a:off x="2136775" y="2070100"/>
            <a:ext cx="325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</a:p>
        </p:txBody>
      </p:sp>
      <p:sp>
        <p:nvSpPr>
          <p:cNvPr id="1015842" name="Rectangle 34"/>
          <p:cNvSpPr>
            <a:spLocks noChangeArrowheads="1"/>
          </p:cNvSpPr>
          <p:nvPr/>
        </p:nvSpPr>
        <p:spPr bwMode="auto">
          <a:xfrm>
            <a:off x="3679825" y="698500"/>
            <a:ext cx="2722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p-&gt;next=head;</a:t>
            </a:r>
          </a:p>
        </p:txBody>
      </p:sp>
      <p:sp>
        <p:nvSpPr>
          <p:cNvPr id="1015843" name="Rectangle 35"/>
          <p:cNvSpPr>
            <a:spLocks noChangeArrowheads="1"/>
          </p:cNvSpPr>
          <p:nvPr/>
        </p:nvSpPr>
        <p:spPr bwMode="auto">
          <a:xfrm>
            <a:off x="6777038" y="695325"/>
            <a:ext cx="16113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head=p;</a:t>
            </a:r>
          </a:p>
        </p:txBody>
      </p:sp>
      <p:sp>
        <p:nvSpPr>
          <p:cNvPr id="1015844" name="Line 36"/>
          <p:cNvSpPr>
            <a:spLocks noChangeShapeType="1"/>
          </p:cNvSpPr>
          <p:nvPr/>
        </p:nvSpPr>
        <p:spPr bwMode="auto">
          <a:xfrm>
            <a:off x="2686050" y="2065338"/>
            <a:ext cx="690563" cy="3683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5845" name="Rectangle 37"/>
          <p:cNvSpPr>
            <a:spLocks noChangeArrowheads="1"/>
          </p:cNvSpPr>
          <p:nvPr/>
        </p:nvSpPr>
        <p:spPr bwMode="auto">
          <a:xfrm>
            <a:off x="1560513" y="1706563"/>
            <a:ext cx="1282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ea typeface="楷体_GB2312" pitchFamily="49" charset="-122"/>
              </a:rPr>
              <a:t>head</a:t>
            </a:r>
          </a:p>
        </p:txBody>
      </p:sp>
      <p:sp>
        <p:nvSpPr>
          <p:cNvPr id="1015846" name="Line 38"/>
          <p:cNvSpPr>
            <a:spLocks noChangeShapeType="1"/>
          </p:cNvSpPr>
          <p:nvPr/>
        </p:nvSpPr>
        <p:spPr bwMode="auto">
          <a:xfrm>
            <a:off x="4117975" y="2070100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1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1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1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1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1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1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01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1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1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1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015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015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015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015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01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01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01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18" grpId="0"/>
      <p:bldP spid="1015819" grpId="0"/>
      <p:bldP spid="1015825" grpId="0" animBg="1"/>
      <p:bldP spid="1015827" grpId="0" animBg="1"/>
      <p:bldP spid="1015831" grpId="0" animBg="1"/>
      <p:bldP spid="1015840" grpId="0"/>
      <p:bldP spid="1015841" grpId="0"/>
      <p:bldP spid="1015842" grpId="0"/>
      <p:bldP spid="1015843" grpId="0"/>
      <p:bldP spid="101584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331788" y="404813"/>
            <a:ext cx="7696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用上述步骤往链表中插入两个结点：</a:t>
            </a:r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2057400" y="1371600"/>
            <a:ext cx="1922463" cy="5334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404"/>
                </a:solidFill>
                <a:latin typeface="Times New Roman" panose="02020603050405020304" pitchFamily="18" charset="0"/>
              </a:rPr>
              <a:t>head = NULL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57400" y="1963738"/>
            <a:ext cx="2971800" cy="609600"/>
            <a:chOff x="2592" y="1968"/>
            <a:chExt cx="1872" cy="384"/>
          </a:xfrm>
        </p:grpSpPr>
        <p:sp>
          <p:nvSpPr>
            <p:cNvPr id="46118" name="Rectangle 5"/>
            <p:cNvSpPr>
              <a:spLocks noChangeArrowheads="1"/>
            </p:cNvSpPr>
            <p:nvPr/>
          </p:nvSpPr>
          <p:spPr bwMode="auto">
            <a:xfrm>
              <a:off x="2592" y="1968"/>
              <a:ext cx="1872" cy="384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6119" name="Line 6"/>
            <p:cNvSpPr>
              <a:spLocks noChangeShapeType="1"/>
            </p:cNvSpPr>
            <p:nvPr/>
          </p:nvSpPr>
          <p:spPr bwMode="auto">
            <a:xfrm>
              <a:off x="2736" y="2171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0" name="Rectangle 7"/>
            <p:cNvSpPr>
              <a:spLocks noChangeArrowheads="1"/>
            </p:cNvSpPr>
            <p:nvPr/>
          </p:nvSpPr>
          <p:spPr bwMode="auto">
            <a:xfrm>
              <a:off x="3275" y="2027"/>
              <a:ext cx="1008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6121" name="Line 8"/>
            <p:cNvSpPr>
              <a:spLocks noChangeShapeType="1"/>
            </p:cNvSpPr>
            <p:nvPr/>
          </p:nvSpPr>
          <p:spPr bwMode="auto">
            <a:xfrm>
              <a:off x="3755" y="201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057400" y="2625725"/>
            <a:ext cx="2971800" cy="1066800"/>
            <a:chOff x="3168" y="2496"/>
            <a:chExt cx="1872" cy="672"/>
          </a:xfrm>
        </p:grpSpPr>
        <p:sp>
          <p:nvSpPr>
            <p:cNvPr id="46113" name="Rectangle 10"/>
            <p:cNvSpPr>
              <a:spLocks noChangeArrowheads="1"/>
            </p:cNvSpPr>
            <p:nvPr/>
          </p:nvSpPr>
          <p:spPr bwMode="auto">
            <a:xfrm>
              <a:off x="3168" y="2496"/>
              <a:ext cx="1872" cy="67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6114" name="Line 11"/>
            <p:cNvSpPr>
              <a:spLocks noChangeShapeType="1"/>
            </p:cNvSpPr>
            <p:nvPr/>
          </p:nvSpPr>
          <p:spPr bwMode="auto">
            <a:xfrm>
              <a:off x="3312" y="2987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Rectangle 12"/>
            <p:cNvSpPr>
              <a:spLocks noChangeArrowheads="1"/>
            </p:cNvSpPr>
            <p:nvPr/>
          </p:nvSpPr>
          <p:spPr bwMode="auto">
            <a:xfrm>
              <a:off x="3851" y="2843"/>
              <a:ext cx="1093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3     NULL</a:t>
              </a:r>
            </a:p>
          </p:txBody>
        </p:sp>
        <p:sp>
          <p:nvSpPr>
            <p:cNvPr id="46116" name="Line 13"/>
            <p:cNvSpPr>
              <a:spLocks noChangeShapeType="1"/>
            </p:cNvSpPr>
            <p:nvPr/>
          </p:nvSpPr>
          <p:spPr bwMode="auto">
            <a:xfrm>
              <a:off x="4331" y="283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Line 14"/>
            <p:cNvSpPr>
              <a:spLocks noChangeShapeType="1"/>
            </p:cNvSpPr>
            <p:nvPr/>
          </p:nvSpPr>
          <p:spPr bwMode="auto">
            <a:xfrm>
              <a:off x="3360" y="2832"/>
              <a:ext cx="480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6832" name="Rectangle 16"/>
          <p:cNvSpPr>
            <a:spLocks noChangeArrowheads="1"/>
          </p:cNvSpPr>
          <p:nvPr/>
        </p:nvSpPr>
        <p:spPr bwMode="auto">
          <a:xfrm>
            <a:off x="1441450" y="1447800"/>
            <a:ext cx="439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①</a:t>
            </a:r>
          </a:p>
        </p:txBody>
      </p:sp>
      <p:sp>
        <p:nvSpPr>
          <p:cNvPr id="546833" name="Rectangle 17"/>
          <p:cNvSpPr>
            <a:spLocks noChangeArrowheads="1"/>
          </p:cNvSpPr>
          <p:nvPr/>
        </p:nvSpPr>
        <p:spPr bwMode="auto">
          <a:xfrm>
            <a:off x="1433513" y="2060575"/>
            <a:ext cx="4397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②</a:t>
            </a:r>
          </a:p>
        </p:txBody>
      </p:sp>
      <p:sp>
        <p:nvSpPr>
          <p:cNvPr id="546834" name="Rectangle 18"/>
          <p:cNvSpPr>
            <a:spLocks noChangeArrowheads="1"/>
          </p:cNvSpPr>
          <p:nvPr/>
        </p:nvSpPr>
        <p:spPr bwMode="auto">
          <a:xfrm>
            <a:off x="1447800" y="2947988"/>
            <a:ext cx="4397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③</a:t>
            </a:r>
          </a:p>
        </p:txBody>
      </p:sp>
      <p:sp>
        <p:nvSpPr>
          <p:cNvPr id="546835" name="Rectangle 19"/>
          <p:cNvSpPr>
            <a:spLocks noChangeArrowheads="1"/>
          </p:cNvSpPr>
          <p:nvPr/>
        </p:nvSpPr>
        <p:spPr bwMode="auto">
          <a:xfrm>
            <a:off x="1465263" y="5746750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③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‘</a:t>
            </a:r>
            <a:endParaRPr lang="en-US" altLang="zh-CN" sz="20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6836" name="Rectangle 20"/>
          <p:cNvSpPr>
            <a:spLocks noChangeArrowheads="1"/>
          </p:cNvSpPr>
          <p:nvPr/>
        </p:nvSpPr>
        <p:spPr bwMode="auto">
          <a:xfrm>
            <a:off x="1447800" y="4392613"/>
            <a:ext cx="523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②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‘</a:t>
            </a:r>
            <a:endParaRPr lang="en-US" altLang="zh-CN" sz="200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2057400" y="3733800"/>
            <a:ext cx="4419600" cy="1676400"/>
            <a:chOff x="1296" y="2400"/>
            <a:chExt cx="2784" cy="1056"/>
          </a:xfrm>
        </p:grpSpPr>
        <p:sp>
          <p:nvSpPr>
            <p:cNvPr id="46103" name="Rectangle 22"/>
            <p:cNvSpPr>
              <a:spLocks noChangeArrowheads="1"/>
            </p:cNvSpPr>
            <p:nvPr/>
          </p:nvSpPr>
          <p:spPr bwMode="auto">
            <a:xfrm>
              <a:off x="1296" y="2400"/>
              <a:ext cx="2784" cy="105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6104" name="Rectangle 24"/>
            <p:cNvSpPr>
              <a:spLocks noChangeArrowheads="1"/>
            </p:cNvSpPr>
            <p:nvPr/>
          </p:nvSpPr>
          <p:spPr bwMode="auto">
            <a:xfrm>
              <a:off x="2843" y="2555"/>
              <a:ext cx="1141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3      NULL</a:t>
              </a:r>
            </a:p>
          </p:txBody>
        </p:sp>
        <p:sp>
          <p:nvSpPr>
            <p:cNvPr id="46105" name="Line 25"/>
            <p:cNvSpPr>
              <a:spLocks noChangeShapeType="1"/>
            </p:cNvSpPr>
            <p:nvPr/>
          </p:nvSpPr>
          <p:spPr bwMode="auto">
            <a:xfrm>
              <a:off x="3323" y="2544"/>
              <a:ext cx="1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Rectangle 27"/>
            <p:cNvSpPr>
              <a:spLocks noChangeArrowheads="1"/>
            </p:cNvSpPr>
            <p:nvPr/>
          </p:nvSpPr>
          <p:spPr bwMode="auto">
            <a:xfrm>
              <a:off x="1344" y="2544"/>
              <a:ext cx="511" cy="28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</p:txBody>
        </p:sp>
        <p:sp>
          <p:nvSpPr>
            <p:cNvPr id="46107" name="Line 28"/>
            <p:cNvSpPr>
              <a:spLocks noChangeShapeType="1"/>
            </p:cNvSpPr>
            <p:nvPr/>
          </p:nvSpPr>
          <p:spPr bwMode="auto">
            <a:xfrm>
              <a:off x="1824" y="2688"/>
              <a:ext cx="96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108" name="Group 29"/>
            <p:cNvGrpSpPr>
              <a:grpSpLocks/>
            </p:cNvGrpSpPr>
            <p:nvPr/>
          </p:nvGrpSpPr>
          <p:grpSpPr bwMode="auto">
            <a:xfrm>
              <a:off x="1344" y="2976"/>
              <a:ext cx="1872" cy="384"/>
              <a:chOff x="2592" y="1968"/>
              <a:chExt cx="1872" cy="384"/>
            </a:xfrm>
          </p:grpSpPr>
          <p:sp>
            <p:nvSpPr>
              <p:cNvPr id="46109" name="Rectangle 30"/>
              <p:cNvSpPr>
                <a:spLocks noChangeArrowheads="1"/>
              </p:cNvSpPr>
              <p:nvPr/>
            </p:nvSpPr>
            <p:spPr bwMode="auto">
              <a:xfrm>
                <a:off x="2592" y="1968"/>
                <a:ext cx="1872" cy="384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0404"/>
                    </a:solidFill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46110" name="Line 31"/>
              <p:cNvSpPr>
                <a:spLocks noChangeShapeType="1"/>
              </p:cNvSpPr>
              <p:nvPr/>
            </p:nvSpPr>
            <p:spPr bwMode="auto">
              <a:xfrm>
                <a:off x="2736" y="2171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11" name="Rectangle 32"/>
              <p:cNvSpPr>
                <a:spLocks noChangeArrowheads="1"/>
              </p:cNvSpPr>
              <p:nvPr/>
            </p:nvSpPr>
            <p:spPr bwMode="auto">
              <a:xfrm>
                <a:off x="3275" y="2027"/>
                <a:ext cx="1008" cy="288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b="0">
                    <a:latin typeface="Times New Roman" panose="02020603050405020304" pitchFamily="18" charset="0"/>
                  </a:rPr>
                  <a:t>   </a:t>
                </a:r>
                <a:r>
                  <a:rPr lang="en-US" altLang="zh-CN" sz="2400">
                    <a:solidFill>
                      <a:srgbClr val="000404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6112" name="Line 33"/>
              <p:cNvSpPr>
                <a:spLocks noChangeShapeType="1"/>
              </p:cNvSpPr>
              <p:nvPr/>
            </p:nvSpPr>
            <p:spPr bwMode="auto">
              <a:xfrm>
                <a:off x="3755" y="201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2057400" y="5445125"/>
            <a:ext cx="5257800" cy="862013"/>
            <a:chOff x="1296" y="3552"/>
            <a:chExt cx="3312" cy="624"/>
          </a:xfrm>
        </p:grpSpPr>
        <p:sp>
          <p:nvSpPr>
            <p:cNvPr id="46094" name="Rectangle 35"/>
            <p:cNvSpPr>
              <a:spLocks noChangeArrowheads="1"/>
            </p:cNvSpPr>
            <p:nvPr/>
          </p:nvSpPr>
          <p:spPr bwMode="auto">
            <a:xfrm>
              <a:off x="1296" y="3600"/>
              <a:ext cx="3312" cy="576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46095" name="Line 36"/>
            <p:cNvSpPr>
              <a:spLocks noChangeShapeType="1"/>
            </p:cNvSpPr>
            <p:nvPr/>
          </p:nvSpPr>
          <p:spPr bwMode="auto">
            <a:xfrm>
              <a:off x="2939" y="3925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Rectangle 37"/>
            <p:cNvSpPr>
              <a:spLocks noChangeArrowheads="1"/>
            </p:cNvSpPr>
            <p:nvPr/>
          </p:nvSpPr>
          <p:spPr bwMode="auto">
            <a:xfrm>
              <a:off x="2112" y="3792"/>
              <a:ext cx="1008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6097" name="Rectangle 39"/>
            <p:cNvSpPr>
              <a:spLocks noChangeArrowheads="1"/>
            </p:cNvSpPr>
            <p:nvPr/>
          </p:nvSpPr>
          <p:spPr bwMode="auto">
            <a:xfrm>
              <a:off x="3504" y="3781"/>
              <a:ext cx="1008" cy="288"/>
            </a:xfrm>
            <a:prstGeom prst="rect">
              <a:avLst/>
            </a:prstGeom>
            <a:solidFill>
              <a:srgbClr val="FFFF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</a:rPr>
                <a:t>   </a:t>
              </a: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3   NULL</a:t>
              </a:r>
            </a:p>
          </p:txBody>
        </p:sp>
        <p:sp>
          <p:nvSpPr>
            <p:cNvPr id="46098" name="Line 40"/>
            <p:cNvSpPr>
              <a:spLocks noChangeShapeType="1"/>
            </p:cNvSpPr>
            <p:nvPr/>
          </p:nvSpPr>
          <p:spPr bwMode="auto">
            <a:xfrm>
              <a:off x="2544" y="3781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Line 41"/>
            <p:cNvSpPr>
              <a:spLocks noChangeShapeType="1"/>
            </p:cNvSpPr>
            <p:nvPr/>
          </p:nvSpPr>
          <p:spPr bwMode="auto">
            <a:xfrm>
              <a:off x="1488" y="3973"/>
              <a:ext cx="57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Rectangle 42"/>
            <p:cNvSpPr>
              <a:spLocks noChangeArrowheads="1"/>
            </p:cNvSpPr>
            <p:nvPr/>
          </p:nvSpPr>
          <p:spPr bwMode="auto">
            <a:xfrm>
              <a:off x="1296" y="3552"/>
              <a:ext cx="511" cy="33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</p:txBody>
        </p:sp>
        <p:sp>
          <p:nvSpPr>
            <p:cNvPr id="46101" name="Rectangle 43"/>
            <p:cNvSpPr>
              <a:spLocks noChangeArrowheads="1"/>
            </p:cNvSpPr>
            <p:nvPr/>
          </p:nvSpPr>
          <p:spPr bwMode="auto">
            <a:xfrm>
              <a:off x="1296" y="3817"/>
              <a:ext cx="223" cy="33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6102" name="Line 44"/>
            <p:cNvSpPr>
              <a:spLocks noChangeShapeType="1"/>
            </p:cNvSpPr>
            <p:nvPr/>
          </p:nvSpPr>
          <p:spPr bwMode="auto">
            <a:xfrm>
              <a:off x="1488" y="3792"/>
              <a:ext cx="576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6863" name="Line 47"/>
          <p:cNvSpPr>
            <a:spLocks noChangeShapeType="1"/>
          </p:cNvSpPr>
          <p:nvPr/>
        </p:nvSpPr>
        <p:spPr bwMode="auto">
          <a:xfrm>
            <a:off x="6148388" y="5780088"/>
            <a:ext cx="7937" cy="385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6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6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6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6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46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9" grpId="0" animBg="1" autoUpdateAnimBg="0"/>
      <p:bldP spid="546832" grpId="0" build="p" autoUpdateAnimBg="0"/>
      <p:bldP spid="546833" grpId="0" build="p" autoUpdateAnimBg="0"/>
      <p:bldP spid="546834" grpId="0" build="p" autoUpdateAnimBg="0"/>
      <p:bldP spid="546835" grpId="0" build="p" autoUpdateAnimBg="0"/>
      <p:bldP spid="546836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Text Box 2"/>
          <p:cNvSpPr txBox="1">
            <a:spLocks noChangeArrowheads="1"/>
          </p:cNvSpPr>
          <p:nvPr/>
        </p:nvSpPr>
        <p:spPr bwMode="auto">
          <a:xfrm>
            <a:off x="395288" y="1036638"/>
            <a:ext cx="8353425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3600" b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编写程序，建立一个存储字符及其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ASCII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码的链表，规定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ASCII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码的范围为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[m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n]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32&lt;m&lt;n&lt;126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程序最后输出链表中全部结点的内容。</a:t>
            </a:r>
          </a:p>
        </p:txBody>
      </p:sp>
      <p:sp>
        <p:nvSpPr>
          <p:cNvPr id="547850" name="Line 10"/>
          <p:cNvSpPr>
            <a:spLocks noChangeShapeType="1"/>
          </p:cNvSpPr>
          <p:nvPr/>
        </p:nvSpPr>
        <p:spPr bwMode="auto">
          <a:xfrm>
            <a:off x="6877050" y="2060575"/>
            <a:ext cx="172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7851" name="Line 11"/>
          <p:cNvSpPr>
            <a:spLocks noChangeShapeType="1"/>
          </p:cNvSpPr>
          <p:nvPr/>
        </p:nvSpPr>
        <p:spPr bwMode="auto">
          <a:xfrm>
            <a:off x="1403350" y="3068638"/>
            <a:ext cx="1584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7852" name="Line 12"/>
          <p:cNvSpPr>
            <a:spLocks noChangeShapeType="1"/>
          </p:cNvSpPr>
          <p:nvPr/>
        </p:nvSpPr>
        <p:spPr bwMode="auto">
          <a:xfrm>
            <a:off x="3492500" y="3068638"/>
            <a:ext cx="10080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7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7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7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4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4938" y="107950"/>
            <a:ext cx="8915400" cy="6705600"/>
            <a:chOff x="85" y="1440"/>
            <a:chExt cx="5616" cy="2688"/>
          </a:xfrm>
        </p:grpSpPr>
        <p:graphicFrame>
          <p:nvGraphicFramePr>
            <p:cNvPr id="48134" name="Object 4"/>
            <p:cNvGraphicFramePr>
              <a:graphicFrameLocks noChangeAspect="1"/>
            </p:cNvGraphicFramePr>
            <p:nvPr/>
          </p:nvGraphicFramePr>
          <p:xfrm>
            <a:off x="85" y="1440"/>
            <a:ext cx="5616" cy="2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37" name="位图图像" r:id="rId3" imgW="2400635" imgH="923810" progId="Paint.Picture">
                    <p:embed/>
                  </p:oleObj>
                </mc:Choice>
                <mc:Fallback>
                  <p:oleObj name="位图图像" r:id="rId3" imgW="2400635" imgH="923810" progId="Paint.Picture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" y="1440"/>
                          <a:ext cx="5616" cy="2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FF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35" name="Line 5"/>
            <p:cNvSpPr>
              <a:spLocks noChangeShapeType="1"/>
            </p:cNvSpPr>
            <p:nvPr/>
          </p:nvSpPr>
          <p:spPr bwMode="auto">
            <a:xfrm>
              <a:off x="1344" y="2426"/>
              <a:ext cx="1056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36" name="Line 6"/>
            <p:cNvSpPr>
              <a:spLocks noChangeShapeType="1"/>
            </p:cNvSpPr>
            <p:nvPr/>
          </p:nvSpPr>
          <p:spPr bwMode="auto">
            <a:xfrm>
              <a:off x="1872" y="3434"/>
              <a:ext cx="110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16839" name="AutoShape 7"/>
          <p:cNvSpPr>
            <a:spLocks noChangeArrowheads="1"/>
          </p:cNvSpPr>
          <p:nvPr/>
        </p:nvSpPr>
        <p:spPr bwMode="auto">
          <a:xfrm>
            <a:off x="5562600" y="2492375"/>
            <a:ext cx="2322513" cy="571500"/>
          </a:xfrm>
          <a:prstGeom prst="wedgeRectCallout">
            <a:avLst>
              <a:gd name="adj1" fmla="val -152940"/>
              <a:gd name="adj2" fmla="val 53273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字符的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ASCII</a:t>
            </a: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码</a:t>
            </a:r>
          </a:p>
        </p:txBody>
      </p:sp>
      <p:sp>
        <p:nvSpPr>
          <p:cNvPr id="1016840" name="AutoShape 8"/>
          <p:cNvSpPr>
            <a:spLocks noChangeArrowheads="1"/>
          </p:cNvSpPr>
          <p:nvPr/>
        </p:nvSpPr>
        <p:spPr bwMode="auto">
          <a:xfrm>
            <a:off x="5334000" y="3429000"/>
            <a:ext cx="990600" cy="571500"/>
          </a:xfrm>
          <a:prstGeom prst="wedgeRectCallout">
            <a:avLst>
              <a:gd name="adj1" fmla="val -291347"/>
              <a:gd name="adj2" fmla="val 24704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字符</a:t>
            </a:r>
          </a:p>
        </p:txBody>
      </p:sp>
      <p:sp>
        <p:nvSpPr>
          <p:cNvPr id="1016844" name="Line 12"/>
          <p:cNvSpPr>
            <a:spLocks noChangeShapeType="1"/>
          </p:cNvSpPr>
          <p:nvPr/>
        </p:nvSpPr>
        <p:spPr bwMode="auto">
          <a:xfrm>
            <a:off x="142875" y="1773238"/>
            <a:ext cx="88201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1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1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6839" grpId="0" animBg="1"/>
      <p:bldP spid="101684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4" name="Object 3"/>
          <p:cNvGraphicFramePr>
            <a:graphicFrameLocks noChangeAspect="1"/>
          </p:cNvGraphicFramePr>
          <p:nvPr/>
        </p:nvGraphicFramePr>
        <p:xfrm>
          <a:off x="34925" y="14288"/>
          <a:ext cx="9109075" cy="684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0" name="位图图像" r:id="rId3" imgW="2742857" imgH="1390844" progId="Paint.Picture">
                  <p:embed/>
                </p:oleObj>
              </mc:Choice>
              <mc:Fallback>
                <p:oleObj name="位图图像" r:id="rId3" imgW="2742857" imgH="139084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4288"/>
                        <a:ext cx="9109075" cy="684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868" name="AutoShape 4"/>
          <p:cNvSpPr>
            <a:spLocks noChangeArrowheads="1"/>
          </p:cNvSpPr>
          <p:nvPr/>
        </p:nvSpPr>
        <p:spPr bwMode="auto">
          <a:xfrm>
            <a:off x="3419475" y="1268413"/>
            <a:ext cx="5629275" cy="609600"/>
          </a:xfrm>
          <a:prstGeom prst="wedgeRectCallout">
            <a:avLst>
              <a:gd name="adj1" fmla="val -32120"/>
              <a:gd name="adj2" fmla="val 148176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栈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式链表的特点：先进后出</a:t>
            </a:r>
          </a:p>
        </p:txBody>
      </p:sp>
      <p:sp>
        <p:nvSpPr>
          <p:cNvPr id="548869" name="Line 5"/>
          <p:cNvSpPr>
            <a:spLocks noChangeShapeType="1"/>
          </p:cNvSpPr>
          <p:nvPr/>
        </p:nvSpPr>
        <p:spPr bwMode="auto">
          <a:xfrm flipV="1">
            <a:off x="34925" y="620713"/>
            <a:ext cx="3671888" cy="14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8870" name="Line 6"/>
          <p:cNvSpPr>
            <a:spLocks noChangeShapeType="1"/>
          </p:cNvSpPr>
          <p:nvPr/>
        </p:nvSpPr>
        <p:spPr bwMode="auto">
          <a:xfrm>
            <a:off x="1619250" y="4005263"/>
            <a:ext cx="14398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8872" name="Line 8"/>
          <p:cNvSpPr>
            <a:spLocks noChangeShapeType="1"/>
          </p:cNvSpPr>
          <p:nvPr/>
        </p:nvSpPr>
        <p:spPr bwMode="auto">
          <a:xfrm>
            <a:off x="3417888" y="4005263"/>
            <a:ext cx="9366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48873" name="Line 9"/>
          <p:cNvSpPr>
            <a:spLocks noChangeShapeType="1"/>
          </p:cNvSpPr>
          <p:nvPr/>
        </p:nvSpPr>
        <p:spPr bwMode="auto">
          <a:xfrm>
            <a:off x="4687888" y="4005263"/>
            <a:ext cx="1428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8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8" name="Object 2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0" name="位图图像" r:id="rId3" imgW="3258005" imgH="1390844" progId="Paint.Picture">
                  <p:embed/>
                </p:oleObj>
              </mc:Choice>
              <mc:Fallback>
                <p:oleObj name="位图图像" r:id="rId3" imgW="3258005" imgH="139084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0371" name="AutoShape 3"/>
          <p:cNvSpPr>
            <a:spLocks noChangeArrowheads="1"/>
          </p:cNvSpPr>
          <p:nvPr/>
        </p:nvSpPr>
        <p:spPr bwMode="auto">
          <a:xfrm>
            <a:off x="5435600" y="5516563"/>
            <a:ext cx="2084388" cy="550862"/>
          </a:xfrm>
          <a:prstGeom prst="wedgeRectCallout">
            <a:avLst>
              <a:gd name="adj1" fmla="val -145583"/>
              <a:gd name="adj2" fmla="val -74208"/>
            </a:avLst>
          </a:prstGeom>
          <a:solidFill>
            <a:srgbClr val="FFFF00"/>
          </a:solidFill>
          <a:ln w="38100" algn="ctr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指针后移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0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0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1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Text Box 2"/>
          <p:cNvSpPr txBox="1">
            <a:spLocks noChangeArrowheads="1"/>
          </p:cNvSpPr>
          <p:nvPr/>
        </p:nvSpPr>
        <p:spPr bwMode="auto">
          <a:xfrm>
            <a:off x="611188" y="260350"/>
            <a:ext cx="1981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运行程序：</a:t>
            </a:r>
          </a:p>
        </p:txBody>
      </p:sp>
      <p:graphicFrame>
        <p:nvGraphicFramePr>
          <p:cNvPr id="549891" name="Object 3"/>
          <p:cNvGraphicFramePr>
            <a:graphicFrameLocks noChangeAspect="1"/>
          </p:cNvGraphicFramePr>
          <p:nvPr/>
        </p:nvGraphicFramePr>
        <p:xfrm>
          <a:off x="468313" y="908050"/>
          <a:ext cx="828357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5" name="位图图像" r:id="rId3" imgW="2066667" imgH="323981" progId="Paint.Picture">
                  <p:embed/>
                </p:oleObj>
              </mc:Choice>
              <mc:Fallback>
                <p:oleObj name="位图图像" r:id="rId3" imgW="2066667" imgH="323981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08050"/>
                        <a:ext cx="8283575" cy="1412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892" name="Object 4"/>
          <p:cNvGraphicFramePr>
            <a:graphicFrameLocks noChangeAspect="1"/>
          </p:cNvGraphicFramePr>
          <p:nvPr/>
        </p:nvGraphicFramePr>
        <p:xfrm>
          <a:off x="1447800" y="2438400"/>
          <a:ext cx="6248400" cy="40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6" name="位图图像" r:id="rId5" imgW="1590897" imgH="1038370" progId="Paint.Picture">
                  <p:embed/>
                </p:oleObj>
              </mc:Choice>
              <mc:Fallback>
                <p:oleObj name="位图图像" r:id="rId5" imgW="1590897" imgH="103837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248400" cy="407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89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Text Box 1026"/>
          <p:cNvSpPr txBox="1">
            <a:spLocks noChangeArrowheads="1"/>
          </p:cNvSpPr>
          <p:nvPr/>
        </p:nvSpPr>
        <p:spPr bwMode="auto">
          <a:xfrm>
            <a:off x="395288" y="404813"/>
            <a:ext cx="7696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创建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队列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式链表</a:t>
            </a:r>
          </a:p>
        </p:txBody>
      </p:sp>
      <p:sp>
        <p:nvSpPr>
          <p:cNvPr id="550915" name="Text Box 1027"/>
          <p:cNvSpPr txBox="1">
            <a:spLocks noChangeArrowheads="1"/>
          </p:cNvSpPr>
          <p:nvPr/>
        </p:nvSpPr>
        <p:spPr bwMode="auto">
          <a:xfrm>
            <a:off x="323850" y="908050"/>
            <a:ext cx="860425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队列式链表结点插入位置在链尾，头指针一旦指向了首结点后，就不会再动，而新结点插入链表时必须与末结点拉链，这就需要增加一个跟踪末结点的指针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50916" name="Text Box 1028"/>
          <p:cNvSpPr txBox="1">
            <a:spLocks noChangeArrowheads="1"/>
          </p:cNvSpPr>
          <p:nvPr/>
        </p:nvSpPr>
        <p:spPr bwMode="auto">
          <a:xfrm>
            <a:off x="323850" y="3873500"/>
            <a:ext cx="8131175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现在假设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为头指针，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为创建新结点的工作指针，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为跟踪末结点的指针。</a:t>
            </a:r>
          </a:p>
        </p:txBody>
      </p:sp>
      <p:sp>
        <p:nvSpPr>
          <p:cNvPr id="550917" name="Text Box 1029"/>
          <p:cNvSpPr txBox="1">
            <a:spLocks noChangeArrowheads="1"/>
          </p:cNvSpPr>
          <p:nvPr/>
        </p:nvSpPr>
        <p:spPr bwMode="auto">
          <a:xfrm>
            <a:off x="1122363" y="5657850"/>
            <a:ext cx="59705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创建队列式链表的算法步骤：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4" grpId="0"/>
      <p:bldP spid="550915" grpId="0"/>
      <p:bldP spid="550916" grpId="0"/>
      <p:bldP spid="55091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Text Box 2"/>
          <p:cNvSpPr txBox="1">
            <a:spLocks noChangeArrowheads="1"/>
          </p:cNvSpPr>
          <p:nvPr/>
        </p:nvSpPr>
        <p:spPr bwMode="auto">
          <a:xfrm>
            <a:off x="250825" y="2295525"/>
            <a:ext cx="81375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②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对末结点指针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初始化：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2057400" y="1595438"/>
            <a:ext cx="4243388" cy="609600"/>
            <a:chOff x="1296" y="1237"/>
            <a:chExt cx="2352" cy="384"/>
          </a:xfrm>
        </p:grpSpPr>
        <p:sp>
          <p:nvSpPr>
            <p:cNvPr id="53265" name="Rectangle 5"/>
            <p:cNvSpPr>
              <a:spLocks noChangeArrowheads="1"/>
            </p:cNvSpPr>
            <p:nvPr/>
          </p:nvSpPr>
          <p:spPr bwMode="auto">
            <a:xfrm>
              <a:off x="1296" y="1237"/>
              <a:ext cx="2352" cy="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</p:txBody>
        </p:sp>
        <p:sp>
          <p:nvSpPr>
            <p:cNvPr id="53266" name="Line 6"/>
            <p:cNvSpPr>
              <a:spLocks noChangeShapeType="1"/>
            </p:cNvSpPr>
            <p:nvPr/>
          </p:nvSpPr>
          <p:spPr bwMode="auto">
            <a:xfrm>
              <a:off x="1824" y="1440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Rectangle 7"/>
            <p:cNvSpPr>
              <a:spLocks noChangeArrowheads="1"/>
            </p:cNvSpPr>
            <p:nvPr/>
          </p:nvSpPr>
          <p:spPr bwMode="auto">
            <a:xfrm>
              <a:off x="2400" y="1296"/>
              <a:ext cx="1008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3268" name="Line 8"/>
            <p:cNvSpPr>
              <a:spLocks noChangeShapeType="1"/>
            </p:cNvSpPr>
            <p:nvPr/>
          </p:nvSpPr>
          <p:spPr bwMode="auto">
            <a:xfrm>
              <a:off x="2880" y="129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1985963" y="3154363"/>
            <a:ext cx="5106987" cy="1066800"/>
            <a:chOff x="1296" y="2064"/>
            <a:chExt cx="2832" cy="672"/>
          </a:xfrm>
        </p:grpSpPr>
        <p:sp>
          <p:nvSpPr>
            <p:cNvPr id="53260" name="Rectangle 10"/>
            <p:cNvSpPr>
              <a:spLocks noChangeArrowheads="1"/>
            </p:cNvSpPr>
            <p:nvPr/>
          </p:nvSpPr>
          <p:spPr bwMode="auto">
            <a:xfrm>
              <a:off x="1296" y="2064"/>
              <a:ext cx="2832" cy="67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     last</a:t>
              </a:r>
            </a:p>
          </p:txBody>
        </p:sp>
        <p:sp>
          <p:nvSpPr>
            <p:cNvPr id="53261" name="Line 11"/>
            <p:cNvSpPr>
              <a:spLocks noChangeShapeType="1"/>
            </p:cNvSpPr>
            <p:nvPr/>
          </p:nvSpPr>
          <p:spPr bwMode="auto">
            <a:xfrm>
              <a:off x="1968" y="2470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2" name="Rectangle 12"/>
            <p:cNvSpPr>
              <a:spLocks noChangeArrowheads="1"/>
            </p:cNvSpPr>
            <p:nvPr/>
          </p:nvSpPr>
          <p:spPr bwMode="auto">
            <a:xfrm>
              <a:off x="2555" y="2315"/>
              <a:ext cx="1093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3263" name="Line 13"/>
            <p:cNvSpPr>
              <a:spLocks noChangeShapeType="1"/>
            </p:cNvSpPr>
            <p:nvPr/>
          </p:nvSpPr>
          <p:spPr bwMode="auto">
            <a:xfrm>
              <a:off x="2987" y="230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4" name="Line 14"/>
            <p:cNvSpPr>
              <a:spLocks noChangeShapeType="1"/>
            </p:cNvSpPr>
            <p:nvPr/>
          </p:nvSpPr>
          <p:spPr bwMode="auto">
            <a:xfrm>
              <a:off x="2016" y="2315"/>
              <a:ext cx="480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2392363" y="5772150"/>
            <a:ext cx="4267200" cy="609600"/>
            <a:chOff x="1296" y="3264"/>
            <a:chExt cx="2688" cy="384"/>
          </a:xfrm>
        </p:grpSpPr>
        <p:sp>
          <p:nvSpPr>
            <p:cNvPr id="53256" name="Rectangle 42"/>
            <p:cNvSpPr>
              <a:spLocks noChangeArrowheads="1"/>
            </p:cNvSpPr>
            <p:nvPr/>
          </p:nvSpPr>
          <p:spPr bwMode="auto">
            <a:xfrm>
              <a:off x="1296" y="3264"/>
              <a:ext cx="2688" cy="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53257" name="Line 43"/>
            <p:cNvSpPr>
              <a:spLocks noChangeShapeType="1"/>
            </p:cNvSpPr>
            <p:nvPr/>
          </p:nvSpPr>
          <p:spPr bwMode="auto">
            <a:xfrm>
              <a:off x="1488" y="3456"/>
              <a:ext cx="1296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58" name="Rectangle 44"/>
            <p:cNvSpPr>
              <a:spLocks noChangeArrowheads="1"/>
            </p:cNvSpPr>
            <p:nvPr/>
          </p:nvSpPr>
          <p:spPr bwMode="auto">
            <a:xfrm>
              <a:off x="2832" y="3323"/>
              <a:ext cx="1008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3259" name="Line 45"/>
            <p:cNvSpPr>
              <a:spLocks noChangeShapeType="1"/>
            </p:cNvSpPr>
            <p:nvPr/>
          </p:nvSpPr>
          <p:spPr bwMode="auto">
            <a:xfrm>
              <a:off x="3312" y="331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1984" name="Text Box 48"/>
          <p:cNvSpPr txBox="1">
            <a:spLocks noChangeArrowheads="1"/>
          </p:cNvSpPr>
          <p:nvPr/>
        </p:nvSpPr>
        <p:spPr bwMode="auto">
          <a:xfrm>
            <a:off x="250825" y="115888"/>
            <a:ext cx="85328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①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创建首结点，并对数据域赋值：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＝（结点类型*）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malloc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（结点长度）；</a:t>
            </a:r>
          </a:p>
        </p:txBody>
      </p:sp>
      <p:sp>
        <p:nvSpPr>
          <p:cNvPr id="551985" name="Text Box 49"/>
          <p:cNvSpPr txBox="1">
            <a:spLocks noChangeArrowheads="1"/>
          </p:cNvSpPr>
          <p:nvPr/>
        </p:nvSpPr>
        <p:spPr bwMode="auto">
          <a:xfrm>
            <a:off x="250825" y="4278313"/>
            <a:ext cx="86042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③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开辟后续新结点：</a:t>
            </a:r>
          </a:p>
          <a:p>
            <a:pPr algn="ctr"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p=(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结点类型*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 malloc(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结点长度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8" grpId="0"/>
      <p:bldP spid="551984" grpId="0"/>
      <p:bldP spid="55198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Text Box 2"/>
          <p:cNvSpPr txBox="1">
            <a:spLocks noChangeArrowheads="1"/>
          </p:cNvSpPr>
          <p:nvPr/>
        </p:nvSpPr>
        <p:spPr bwMode="auto">
          <a:xfrm>
            <a:off x="539750" y="157163"/>
            <a:ext cx="7696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④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新结点插入表尾：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last-&gt;next=p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900113" y="765175"/>
            <a:ext cx="7313612" cy="2663825"/>
            <a:chOff x="768" y="706"/>
            <a:chExt cx="4368" cy="1358"/>
          </a:xfrm>
        </p:grpSpPr>
        <p:sp>
          <p:nvSpPr>
            <p:cNvPr id="54296" name="Rectangle 4"/>
            <p:cNvSpPr>
              <a:spLocks noChangeArrowheads="1"/>
            </p:cNvSpPr>
            <p:nvPr/>
          </p:nvSpPr>
          <p:spPr bwMode="auto">
            <a:xfrm>
              <a:off x="768" y="720"/>
              <a:ext cx="4368" cy="134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54297" name="Line 5"/>
            <p:cNvSpPr>
              <a:spLocks noChangeShapeType="1"/>
            </p:cNvSpPr>
            <p:nvPr/>
          </p:nvSpPr>
          <p:spPr bwMode="auto">
            <a:xfrm>
              <a:off x="1440" y="1126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8" name="Rectangle 6"/>
            <p:cNvSpPr>
              <a:spLocks noChangeArrowheads="1"/>
            </p:cNvSpPr>
            <p:nvPr/>
          </p:nvSpPr>
          <p:spPr bwMode="auto">
            <a:xfrm>
              <a:off x="1994" y="971"/>
              <a:ext cx="1093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 3</a:t>
              </a:r>
            </a:p>
          </p:txBody>
        </p:sp>
        <p:sp>
          <p:nvSpPr>
            <p:cNvPr id="54299" name="Line 7"/>
            <p:cNvSpPr>
              <a:spLocks noChangeShapeType="1"/>
            </p:cNvSpPr>
            <p:nvPr/>
          </p:nvSpPr>
          <p:spPr bwMode="auto">
            <a:xfrm>
              <a:off x="2426" y="96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0" name="Line 8"/>
            <p:cNvSpPr>
              <a:spLocks noChangeShapeType="1"/>
            </p:cNvSpPr>
            <p:nvPr/>
          </p:nvSpPr>
          <p:spPr bwMode="auto">
            <a:xfrm>
              <a:off x="1488" y="971"/>
              <a:ext cx="480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1" name="Rectangle 9"/>
            <p:cNvSpPr>
              <a:spLocks noChangeArrowheads="1"/>
            </p:cNvSpPr>
            <p:nvPr/>
          </p:nvSpPr>
          <p:spPr bwMode="auto">
            <a:xfrm>
              <a:off x="952" y="706"/>
              <a:ext cx="669" cy="29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head</a:t>
              </a:r>
            </a:p>
          </p:txBody>
        </p:sp>
        <p:sp>
          <p:nvSpPr>
            <p:cNvPr id="54302" name="Rectangle 10"/>
            <p:cNvSpPr>
              <a:spLocks noChangeArrowheads="1"/>
            </p:cNvSpPr>
            <p:nvPr/>
          </p:nvSpPr>
          <p:spPr bwMode="auto">
            <a:xfrm>
              <a:off x="1032" y="931"/>
              <a:ext cx="474" cy="29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last</a:t>
              </a:r>
            </a:p>
          </p:txBody>
        </p:sp>
        <p:sp>
          <p:nvSpPr>
            <p:cNvPr id="54303" name="Rectangle 11"/>
            <p:cNvSpPr>
              <a:spLocks noChangeArrowheads="1"/>
            </p:cNvSpPr>
            <p:nvPr/>
          </p:nvSpPr>
          <p:spPr bwMode="auto">
            <a:xfrm>
              <a:off x="3659" y="1673"/>
              <a:ext cx="1093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 5</a:t>
              </a:r>
            </a:p>
          </p:txBody>
        </p:sp>
        <p:sp>
          <p:nvSpPr>
            <p:cNvPr id="54304" name="Line 12"/>
            <p:cNvSpPr>
              <a:spLocks noChangeShapeType="1"/>
            </p:cNvSpPr>
            <p:nvPr/>
          </p:nvSpPr>
          <p:spPr bwMode="auto">
            <a:xfrm>
              <a:off x="4124" y="168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5" name="Line 13"/>
            <p:cNvSpPr>
              <a:spLocks noChangeShapeType="1"/>
            </p:cNvSpPr>
            <p:nvPr/>
          </p:nvSpPr>
          <p:spPr bwMode="auto">
            <a:xfrm>
              <a:off x="1488" y="1905"/>
              <a:ext cx="216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6" name="Rectangle 16"/>
            <p:cNvSpPr>
              <a:spLocks noChangeArrowheads="1"/>
            </p:cNvSpPr>
            <p:nvPr/>
          </p:nvSpPr>
          <p:spPr bwMode="auto">
            <a:xfrm>
              <a:off x="1217" y="1629"/>
              <a:ext cx="245" cy="29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4343400" y="1752600"/>
            <a:ext cx="1668463" cy="1389063"/>
            <a:chOff x="2736" y="1104"/>
            <a:chExt cx="912" cy="672"/>
          </a:xfrm>
        </p:grpSpPr>
        <p:sp>
          <p:nvSpPr>
            <p:cNvPr id="54293" name="Line 17"/>
            <p:cNvSpPr>
              <a:spLocks noChangeShapeType="1"/>
            </p:cNvSpPr>
            <p:nvPr/>
          </p:nvSpPr>
          <p:spPr bwMode="auto">
            <a:xfrm>
              <a:off x="2736" y="1104"/>
              <a:ext cx="55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4" name="Line 18"/>
            <p:cNvSpPr>
              <a:spLocks noChangeShapeType="1"/>
            </p:cNvSpPr>
            <p:nvPr/>
          </p:nvSpPr>
          <p:spPr bwMode="auto">
            <a:xfrm>
              <a:off x="3264" y="1104"/>
              <a:ext cx="0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5" name="Line 19"/>
            <p:cNvSpPr>
              <a:spLocks noChangeShapeType="1"/>
            </p:cNvSpPr>
            <p:nvPr/>
          </p:nvSpPr>
          <p:spPr bwMode="auto">
            <a:xfrm>
              <a:off x="3264" y="1761"/>
              <a:ext cx="38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107950" y="4237038"/>
            <a:ext cx="8893175" cy="2576512"/>
            <a:chOff x="768" y="2387"/>
            <a:chExt cx="4368" cy="1623"/>
          </a:xfrm>
        </p:grpSpPr>
        <p:sp>
          <p:nvSpPr>
            <p:cNvPr id="54279" name="Rectangle 23"/>
            <p:cNvSpPr>
              <a:spLocks noChangeArrowheads="1"/>
            </p:cNvSpPr>
            <p:nvPr/>
          </p:nvSpPr>
          <p:spPr bwMode="auto">
            <a:xfrm>
              <a:off x="768" y="2387"/>
              <a:ext cx="4368" cy="159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54280" name="Line 24"/>
            <p:cNvSpPr>
              <a:spLocks noChangeShapeType="1"/>
            </p:cNvSpPr>
            <p:nvPr/>
          </p:nvSpPr>
          <p:spPr bwMode="auto">
            <a:xfrm>
              <a:off x="1440" y="2869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1" name="Rectangle 25"/>
            <p:cNvSpPr>
              <a:spLocks noChangeArrowheads="1"/>
            </p:cNvSpPr>
            <p:nvPr/>
          </p:nvSpPr>
          <p:spPr bwMode="auto">
            <a:xfrm>
              <a:off x="1994" y="2747"/>
              <a:ext cx="1093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4282" name="Line 26"/>
            <p:cNvSpPr>
              <a:spLocks noChangeShapeType="1"/>
            </p:cNvSpPr>
            <p:nvPr/>
          </p:nvSpPr>
          <p:spPr bwMode="auto">
            <a:xfrm>
              <a:off x="2426" y="273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3" name="Rectangle 28"/>
            <p:cNvSpPr>
              <a:spLocks noChangeArrowheads="1"/>
            </p:cNvSpPr>
            <p:nvPr/>
          </p:nvSpPr>
          <p:spPr bwMode="auto">
            <a:xfrm>
              <a:off x="881" y="2652"/>
              <a:ext cx="551" cy="3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 head</a:t>
              </a:r>
            </a:p>
          </p:txBody>
        </p:sp>
        <p:sp>
          <p:nvSpPr>
            <p:cNvPr id="54284" name="Rectangle 30"/>
            <p:cNvSpPr>
              <a:spLocks noChangeArrowheads="1"/>
            </p:cNvSpPr>
            <p:nvPr/>
          </p:nvSpPr>
          <p:spPr bwMode="auto">
            <a:xfrm>
              <a:off x="3659" y="3449"/>
              <a:ext cx="1093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5" name="Line 31"/>
            <p:cNvSpPr>
              <a:spLocks noChangeShapeType="1"/>
            </p:cNvSpPr>
            <p:nvPr/>
          </p:nvSpPr>
          <p:spPr bwMode="auto">
            <a:xfrm>
              <a:off x="4124" y="346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6" name="Line 32"/>
            <p:cNvSpPr>
              <a:spLocks noChangeShapeType="1"/>
            </p:cNvSpPr>
            <p:nvPr/>
          </p:nvSpPr>
          <p:spPr bwMode="auto">
            <a:xfrm>
              <a:off x="1488" y="3604"/>
              <a:ext cx="2160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7" name="Rectangle 33"/>
            <p:cNvSpPr>
              <a:spLocks noChangeArrowheads="1"/>
            </p:cNvSpPr>
            <p:nvPr/>
          </p:nvSpPr>
          <p:spPr bwMode="auto">
            <a:xfrm>
              <a:off x="1217" y="3328"/>
              <a:ext cx="201" cy="3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54288" name="Line 34"/>
            <p:cNvSpPr>
              <a:spLocks noChangeShapeType="1"/>
            </p:cNvSpPr>
            <p:nvPr/>
          </p:nvSpPr>
          <p:spPr bwMode="auto">
            <a:xfrm>
              <a:off x="2736" y="2880"/>
              <a:ext cx="528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9" name="Line 35"/>
            <p:cNvSpPr>
              <a:spLocks noChangeShapeType="1"/>
            </p:cNvSpPr>
            <p:nvPr/>
          </p:nvSpPr>
          <p:spPr bwMode="auto">
            <a:xfrm>
              <a:off x="3264" y="2880"/>
              <a:ext cx="0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36"/>
            <p:cNvSpPr>
              <a:spLocks noChangeShapeType="1"/>
            </p:cNvSpPr>
            <p:nvPr/>
          </p:nvSpPr>
          <p:spPr bwMode="auto">
            <a:xfrm>
              <a:off x="3264" y="3537"/>
              <a:ext cx="384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1" name="Line 37"/>
            <p:cNvSpPr>
              <a:spLocks noChangeShapeType="1"/>
            </p:cNvSpPr>
            <p:nvPr/>
          </p:nvSpPr>
          <p:spPr bwMode="auto">
            <a:xfrm>
              <a:off x="2976" y="3685"/>
              <a:ext cx="67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2" name="Rectangle 38"/>
            <p:cNvSpPr>
              <a:spLocks noChangeArrowheads="1"/>
            </p:cNvSpPr>
            <p:nvPr/>
          </p:nvSpPr>
          <p:spPr bwMode="auto">
            <a:xfrm>
              <a:off x="2572" y="3645"/>
              <a:ext cx="404" cy="36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last</a:t>
              </a:r>
            </a:p>
          </p:txBody>
        </p:sp>
      </p:grpSp>
      <p:sp>
        <p:nvSpPr>
          <p:cNvPr id="648232" name="Text Box 40"/>
          <p:cNvSpPr txBox="1">
            <a:spLocks noChangeArrowheads="1"/>
          </p:cNvSpPr>
          <p:nvPr/>
        </p:nvSpPr>
        <p:spPr bwMode="auto">
          <a:xfrm>
            <a:off x="539750" y="3671888"/>
            <a:ext cx="84248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⑤ last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指针后移至末结点：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last-&gt;next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4" grpId="0"/>
      <p:bldP spid="64823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Text Box 2"/>
          <p:cNvSpPr txBox="1">
            <a:spLocks noChangeArrowheads="1"/>
          </p:cNvSpPr>
          <p:nvPr/>
        </p:nvSpPr>
        <p:spPr bwMode="auto">
          <a:xfrm>
            <a:off x="539750" y="330200"/>
            <a:ext cx="822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⑥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重复③、④、⑤步骤若干次，如下所示；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051050" y="2243138"/>
            <a:ext cx="4705350" cy="609600"/>
            <a:chOff x="1296" y="3264"/>
            <a:chExt cx="2688" cy="384"/>
          </a:xfrm>
        </p:grpSpPr>
        <p:sp>
          <p:nvSpPr>
            <p:cNvPr id="55330" name="Rectangle 20"/>
            <p:cNvSpPr>
              <a:spLocks noChangeArrowheads="1"/>
            </p:cNvSpPr>
            <p:nvPr/>
          </p:nvSpPr>
          <p:spPr bwMode="auto">
            <a:xfrm>
              <a:off x="1296" y="3264"/>
              <a:ext cx="2688" cy="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55331" name="Line 21"/>
            <p:cNvSpPr>
              <a:spLocks noChangeShapeType="1"/>
            </p:cNvSpPr>
            <p:nvPr/>
          </p:nvSpPr>
          <p:spPr bwMode="auto">
            <a:xfrm>
              <a:off x="1488" y="3456"/>
              <a:ext cx="1296" cy="11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2" name="Rectangle 22"/>
            <p:cNvSpPr>
              <a:spLocks noChangeArrowheads="1"/>
            </p:cNvSpPr>
            <p:nvPr/>
          </p:nvSpPr>
          <p:spPr bwMode="auto">
            <a:xfrm>
              <a:off x="2832" y="3323"/>
              <a:ext cx="1008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</a:rPr>
                <a:t>   </a:t>
              </a: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5333" name="Line 23"/>
            <p:cNvSpPr>
              <a:spLocks noChangeShapeType="1"/>
            </p:cNvSpPr>
            <p:nvPr/>
          </p:nvSpPr>
          <p:spPr bwMode="auto">
            <a:xfrm>
              <a:off x="3312" y="331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9240" name="Text Box 24"/>
          <p:cNvSpPr txBox="1">
            <a:spLocks noChangeArrowheads="1"/>
          </p:cNvSpPr>
          <p:nvPr/>
        </p:nvSpPr>
        <p:spPr bwMode="auto">
          <a:xfrm>
            <a:off x="539750" y="1052513"/>
            <a:ext cx="820896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③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开辟后续新结点：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p=(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结点类型*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 malloc(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结点长度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649241" name="Text Box 25"/>
          <p:cNvSpPr txBox="1">
            <a:spLocks noChangeArrowheads="1"/>
          </p:cNvSpPr>
          <p:nvPr/>
        </p:nvSpPr>
        <p:spPr bwMode="auto">
          <a:xfrm>
            <a:off x="547688" y="2994025"/>
            <a:ext cx="7696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④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新结点插入表尾：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last-&gt;next=p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grpSp>
        <p:nvGrpSpPr>
          <p:cNvPr id="3" name="Group 73"/>
          <p:cNvGrpSpPr>
            <a:grpSpLocks/>
          </p:cNvGrpSpPr>
          <p:nvPr/>
        </p:nvGrpSpPr>
        <p:grpSpPr bwMode="auto">
          <a:xfrm>
            <a:off x="288925" y="3702050"/>
            <a:ext cx="8604250" cy="2535238"/>
            <a:chOff x="158" y="2296"/>
            <a:chExt cx="5398" cy="1597"/>
          </a:xfrm>
        </p:grpSpPr>
        <p:sp>
          <p:nvSpPr>
            <p:cNvPr id="55305" name="Rectangle 44"/>
            <p:cNvSpPr>
              <a:spLocks noChangeArrowheads="1"/>
            </p:cNvSpPr>
            <p:nvPr/>
          </p:nvSpPr>
          <p:spPr bwMode="auto">
            <a:xfrm>
              <a:off x="158" y="2296"/>
              <a:ext cx="5398" cy="159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55306" name="Line 45"/>
            <p:cNvSpPr>
              <a:spLocks noChangeShapeType="1"/>
            </p:cNvSpPr>
            <p:nvPr/>
          </p:nvSpPr>
          <p:spPr bwMode="auto">
            <a:xfrm>
              <a:off x="660" y="2778"/>
              <a:ext cx="3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Rectangle 46"/>
            <p:cNvSpPr>
              <a:spLocks noChangeArrowheads="1"/>
            </p:cNvSpPr>
            <p:nvPr/>
          </p:nvSpPr>
          <p:spPr bwMode="auto">
            <a:xfrm>
              <a:off x="1075" y="2656"/>
              <a:ext cx="817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308" name="Line 47"/>
            <p:cNvSpPr>
              <a:spLocks noChangeShapeType="1"/>
            </p:cNvSpPr>
            <p:nvPr/>
          </p:nvSpPr>
          <p:spPr bwMode="auto">
            <a:xfrm>
              <a:off x="1398" y="2645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Rectangle 48"/>
            <p:cNvSpPr>
              <a:spLocks noChangeArrowheads="1"/>
            </p:cNvSpPr>
            <p:nvPr/>
          </p:nvSpPr>
          <p:spPr bwMode="auto">
            <a:xfrm>
              <a:off x="242" y="2591"/>
              <a:ext cx="630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 head</a:t>
              </a:r>
            </a:p>
          </p:txBody>
        </p:sp>
        <p:sp>
          <p:nvSpPr>
            <p:cNvPr id="55310" name="Rectangle 49"/>
            <p:cNvSpPr>
              <a:spLocks noChangeArrowheads="1"/>
            </p:cNvSpPr>
            <p:nvPr/>
          </p:nvSpPr>
          <p:spPr bwMode="auto">
            <a:xfrm>
              <a:off x="2320" y="3358"/>
              <a:ext cx="817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5311" name="Line 50"/>
            <p:cNvSpPr>
              <a:spLocks noChangeShapeType="1"/>
            </p:cNvSpPr>
            <p:nvPr/>
          </p:nvSpPr>
          <p:spPr bwMode="auto">
            <a:xfrm>
              <a:off x="2667" y="3369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51"/>
            <p:cNvSpPr>
              <a:spLocks noChangeShapeType="1"/>
            </p:cNvSpPr>
            <p:nvPr/>
          </p:nvSpPr>
          <p:spPr bwMode="auto">
            <a:xfrm>
              <a:off x="696" y="3513"/>
              <a:ext cx="161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Rectangle 52"/>
            <p:cNvSpPr>
              <a:spLocks noChangeArrowheads="1"/>
            </p:cNvSpPr>
            <p:nvPr/>
          </p:nvSpPr>
          <p:spPr bwMode="auto">
            <a:xfrm>
              <a:off x="494" y="3267"/>
              <a:ext cx="240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55314" name="Line 53"/>
            <p:cNvSpPr>
              <a:spLocks noChangeShapeType="1"/>
            </p:cNvSpPr>
            <p:nvPr/>
          </p:nvSpPr>
          <p:spPr bwMode="auto">
            <a:xfrm>
              <a:off x="1629" y="2789"/>
              <a:ext cx="3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54"/>
            <p:cNvSpPr>
              <a:spLocks noChangeShapeType="1"/>
            </p:cNvSpPr>
            <p:nvPr/>
          </p:nvSpPr>
          <p:spPr bwMode="auto">
            <a:xfrm>
              <a:off x="2024" y="2789"/>
              <a:ext cx="0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55"/>
            <p:cNvSpPr>
              <a:spLocks noChangeShapeType="1"/>
            </p:cNvSpPr>
            <p:nvPr/>
          </p:nvSpPr>
          <p:spPr bwMode="auto">
            <a:xfrm>
              <a:off x="2024" y="3446"/>
              <a:ext cx="28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56"/>
            <p:cNvSpPr>
              <a:spLocks noChangeShapeType="1"/>
            </p:cNvSpPr>
            <p:nvPr/>
          </p:nvSpPr>
          <p:spPr bwMode="auto">
            <a:xfrm>
              <a:off x="1809" y="3594"/>
              <a:ext cx="50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Rectangle 57"/>
            <p:cNvSpPr>
              <a:spLocks noChangeArrowheads="1"/>
            </p:cNvSpPr>
            <p:nvPr/>
          </p:nvSpPr>
          <p:spPr bwMode="auto">
            <a:xfrm>
              <a:off x="1428" y="3550"/>
              <a:ext cx="454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last</a:t>
              </a:r>
            </a:p>
          </p:txBody>
        </p:sp>
        <p:grpSp>
          <p:nvGrpSpPr>
            <p:cNvPr id="55319" name="Group 63"/>
            <p:cNvGrpSpPr>
              <a:grpSpLocks/>
            </p:cNvGrpSpPr>
            <p:nvPr/>
          </p:nvGrpSpPr>
          <p:grpSpPr bwMode="auto">
            <a:xfrm>
              <a:off x="3696" y="3273"/>
              <a:ext cx="1101" cy="384"/>
              <a:chOff x="3775" y="3182"/>
              <a:chExt cx="1101" cy="384"/>
            </a:xfrm>
          </p:grpSpPr>
          <p:sp>
            <p:nvSpPr>
              <p:cNvPr id="55326" name="Rectangle 59"/>
              <p:cNvSpPr>
                <a:spLocks noChangeArrowheads="1"/>
              </p:cNvSpPr>
              <p:nvPr/>
            </p:nvSpPr>
            <p:spPr bwMode="auto">
              <a:xfrm>
                <a:off x="3775" y="3182"/>
                <a:ext cx="1101" cy="38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000404"/>
                    </a:solidFill>
                    <a:latin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55327" name="Line 60"/>
              <p:cNvSpPr>
                <a:spLocks noChangeShapeType="1"/>
              </p:cNvSpPr>
              <p:nvPr/>
            </p:nvSpPr>
            <p:spPr bwMode="auto">
              <a:xfrm>
                <a:off x="3969" y="3385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28" name="Rectangle 61"/>
              <p:cNvSpPr>
                <a:spLocks noChangeArrowheads="1"/>
              </p:cNvSpPr>
              <p:nvPr/>
            </p:nvSpPr>
            <p:spPr bwMode="auto">
              <a:xfrm>
                <a:off x="4332" y="3241"/>
                <a:ext cx="453" cy="288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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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solidFill>
                      <a:srgbClr val="000404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55329" name="Line 62"/>
              <p:cNvSpPr>
                <a:spLocks noChangeShapeType="1"/>
              </p:cNvSpPr>
              <p:nvPr/>
            </p:nvSpPr>
            <p:spPr bwMode="auto">
              <a:xfrm>
                <a:off x="4558" y="323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5320" name="Group 71"/>
            <p:cNvGrpSpPr>
              <a:grpSpLocks/>
            </p:cNvGrpSpPr>
            <p:nvPr/>
          </p:nvGrpSpPr>
          <p:grpSpPr bwMode="auto">
            <a:xfrm>
              <a:off x="2943" y="3140"/>
              <a:ext cx="1389" cy="362"/>
              <a:chOff x="2943" y="3140"/>
              <a:chExt cx="1389" cy="362"/>
            </a:xfrm>
          </p:grpSpPr>
          <p:sp>
            <p:nvSpPr>
              <p:cNvPr id="55321" name="Line 67"/>
              <p:cNvSpPr>
                <a:spLocks noChangeShapeType="1"/>
              </p:cNvSpPr>
              <p:nvPr/>
            </p:nvSpPr>
            <p:spPr bwMode="auto">
              <a:xfrm>
                <a:off x="3633" y="3140"/>
                <a:ext cx="0" cy="36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5322" name="Group 70"/>
              <p:cNvGrpSpPr>
                <a:grpSpLocks/>
              </p:cNvGrpSpPr>
              <p:nvPr/>
            </p:nvGrpSpPr>
            <p:grpSpPr bwMode="auto">
              <a:xfrm>
                <a:off x="2943" y="3140"/>
                <a:ext cx="1389" cy="353"/>
                <a:chOff x="2943" y="3140"/>
                <a:chExt cx="1389" cy="353"/>
              </a:xfrm>
            </p:grpSpPr>
            <p:sp>
              <p:nvSpPr>
                <p:cNvPr id="55323" name="Line 66"/>
                <p:cNvSpPr>
                  <a:spLocks noChangeShapeType="1"/>
                </p:cNvSpPr>
                <p:nvPr/>
              </p:nvSpPr>
              <p:spPr bwMode="auto">
                <a:xfrm>
                  <a:off x="2943" y="3493"/>
                  <a:ext cx="68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24" name="Line 68"/>
                <p:cNvSpPr>
                  <a:spLocks noChangeShapeType="1"/>
                </p:cNvSpPr>
                <p:nvPr/>
              </p:nvSpPr>
              <p:spPr bwMode="auto">
                <a:xfrm>
                  <a:off x="3642" y="3149"/>
                  <a:ext cx="68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25" name="Line 69"/>
                <p:cNvSpPr>
                  <a:spLocks noChangeShapeType="1"/>
                </p:cNvSpPr>
                <p:nvPr/>
              </p:nvSpPr>
              <p:spPr bwMode="auto">
                <a:xfrm>
                  <a:off x="4332" y="3140"/>
                  <a:ext cx="0" cy="181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9288" name="Rectangle 72"/>
          <p:cNvSpPr>
            <a:spLocks noChangeArrowheads="1"/>
          </p:cNvSpPr>
          <p:nvPr/>
        </p:nvSpPr>
        <p:spPr bwMode="auto">
          <a:xfrm>
            <a:off x="828675" y="5575300"/>
            <a:ext cx="2881313" cy="1444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49291" name="Rectangle 75"/>
          <p:cNvSpPr>
            <a:spLocks noChangeArrowheads="1"/>
          </p:cNvSpPr>
          <p:nvPr/>
        </p:nvSpPr>
        <p:spPr bwMode="auto">
          <a:xfrm>
            <a:off x="887413" y="5373688"/>
            <a:ext cx="230187" cy="346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49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18" grpId="0"/>
      <p:bldP spid="649240" grpId="0"/>
      <p:bldP spid="649241" grpId="0"/>
      <p:bldP spid="649288" grpId="0" animBg="1"/>
      <p:bldP spid="64929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1" name="Text Box 3"/>
          <p:cNvSpPr txBox="1">
            <a:spLocks noChangeArrowheads="1"/>
          </p:cNvSpPr>
          <p:nvPr/>
        </p:nvSpPr>
        <p:spPr bwMode="auto">
          <a:xfrm>
            <a:off x="323850" y="3860800"/>
            <a:ext cx="8189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⑦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终止链表的延伸：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last-&gt;next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NULL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908307" name="Text Box 19"/>
          <p:cNvSpPr txBox="1">
            <a:spLocks noChangeArrowheads="1"/>
          </p:cNvSpPr>
          <p:nvPr/>
        </p:nvSpPr>
        <p:spPr bwMode="auto">
          <a:xfrm>
            <a:off x="179388" y="260350"/>
            <a:ext cx="882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⑤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’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last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指针后移至末结点：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last-&gt;next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323850" y="965200"/>
            <a:ext cx="8569325" cy="2535238"/>
            <a:chOff x="204" y="1117"/>
            <a:chExt cx="5398" cy="1597"/>
          </a:xfrm>
        </p:grpSpPr>
        <p:sp>
          <p:nvSpPr>
            <p:cNvPr id="56356" name="Rectangle 21"/>
            <p:cNvSpPr>
              <a:spLocks noChangeArrowheads="1"/>
            </p:cNvSpPr>
            <p:nvPr/>
          </p:nvSpPr>
          <p:spPr bwMode="auto">
            <a:xfrm>
              <a:off x="204" y="1117"/>
              <a:ext cx="5398" cy="159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>
                <a:latin typeface="Times New Roman" panose="02020603050405020304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     </a:t>
              </a:r>
            </a:p>
          </p:txBody>
        </p:sp>
        <p:sp>
          <p:nvSpPr>
            <p:cNvPr id="56357" name="Line 22"/>
            <p:cNvSpPr>
              <a:spLocks noChangeShapeType="1"/>
            </p:cNvSpPr>
            <p:nvPr/>
          </p:nvSpPr>
          <p:spPr bwMode="auto">
            <a:xfrm>
              <a:off x="706" y="1599"/>
              <a:ext cx="3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8" name="Rectangle 23"/>
            <p:cNvSpPr>
              <a:spLocks noChangeArrowheads="1"/>
            </p:cNvSpPr>
            <p:nvPr/>
          </p:nvSpPr>
          <p:spPr bwMode="auto">
            <a:xfrm>
              <a:off x="1121" y="1477"/>
              <a:ext cx="817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6359" name="Line 24"/>
            <p:cNvSpPr>
              <a:spLocks noChangeShapeType="1"/>
            </p:cNvSpPr>
            <p:nvPr/>
          </p:nvSpPr>
          <p:spPr bwMode="auto">
            <a:xfrm>
              <a:off x="1444" y="1466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0" name="Rectangle 25"/>
            <p:cNvSpPr>
              <a:spLocks noChangeArrowheads="1"/>
            </p:cNvSpPr>
            <p:nvPr/>
          </p:nvSpPr>
          <p:spPr bwMode="auto">
            <a:xfrm>
              <a:off x="288" y="1412"/>
              <a:ext cx="633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 head</a:t>
              </a:r>
            </a:p>
          </p:txBody>
        </p:sp>
        <p:sp>
          <p:nvSpPr>
            <p:cNvPr id="56361" name="Rectangle 26"/>
            <p:cNvSpPr>
              <a:spLocks noChangeArrowheads="1"/>
            </p:cNvSpPr>
            <p:nvPr/>
          </p:nvSpPr>
          <p:spPr bwMode="auto">
            <a:xfrm>
              <a:off x="2366" y="2179"/>
              <a:ext cx="817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 b="0">
                  <a:latin typeface="Times New Roman" panose="02020603050405020304" pitchFamily="18" charset="0"/>
                </a:rPr>
                <a:t> </a:t>
              </a: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6362" name="Line 27"/>
            <p:cNvSpPr>
              <a:spLocks noChangeShapeType="1"/>
            </p:cNvSpPr>
            <p:nvPr/>
          </p:nvSpPr>
          <p:spPr bwMode="auto">
            <a:xfrm>
              <a:off x="2713" y="2190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3" name="Line 30"/>
            <p:cNvSpPr>
              <a:spLocks noChangeShapeType="1"/>
            </p:cNvSpPr>
            <p:nvPr/>
          </p:nvSpPr>
          <p:spPr bwMode="auto">
            <a:xfrm>
              <a:off x="1675" y="1610"/>
              <a:ext cx="395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4" name="Line 31"/>
            <p:cNvSpPr>
              <a:spLocks noChangeShapeType="1"/>
            </p:cNvSpPr>
            <p:nvPr/>
          </p:nvSpPr>
          <p:spPr bwMode="auto">
            <a:xfrm>
              <a:off x="2070" y="1610"/>
              <a:ext cx="0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5" name="Line 32"/>
            <p:cNvSpPr>
              <a:spLocks noChangeShapeType="1"/>
            </p:cNvSpPr>
            <p:nvPr/>
          </p:nvSpPr>
          <p:spPr bwMode="auto">
            <a:xfrm>
              <a:off x="2070" y="2267"/>
              <a:ext cx="287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6" name="Line 33"/>
            <p:cNvSpPr>
              <a:spLocks noChangeShapeType="1"/>
            </p:cNvSpPr>
            <p:nvPr/>
          </p:nvSpPr>
          <p:spPr bwMode="auto">
            <a:xfrm>
              <a:off x="3793" y="2378"/>
              <a:ext cx="50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Rectangle 34"/>
            <p:cNvSpPr>
              <a:spLocks noChangeArrowheads="1"/>
            </p:cNvSpPr>
            <p:nvPr/>
          </p:nvSpPr>
          <p:spPr bwMode="auto">
            <a:xfrm>
              <a:off x="3403" y="2296"/>
              <a:ext cx="454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last</a:t>
              </a:r>
            </a:p>
          </p:txBody>
        </p:sp>
        <p:sp>
          <p:nvSpPr>
            <p:cNvPr id="56368" name="Rectangle 36"/>
            <p:cNvSpPr>
              <a:spLocks noChangeArrowheads="1"/>
            </p:cNvSpPr>
            <p:nvPr/>
          </p:nvSpPr>
          <p:spPr bwMode="auto">
            <a:xfrm>
              <a:off x="3742" y="1979"/>
              <a:ext cx="272" cy="38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56369" name="Line 37"/>
            <p:cNvSpPr>
              <a:spLocks noChangeShapeType="1"/>
            </p:cNvSpPr>
            <p:nvPr/>
          </p:nvSpPr>
          <p:spPr bwMode="auto">
            <a:xfrm>
              <a:off x="3936" y="2251"/>
              <a:ext cx="363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Rectangle 38"/>
            <p:cNvSpPr>
              <a:spLocks noChangeArrowheads="1"/>
            </p:cNvSpPr>
            <p:nvPr/>
          </p:nvSpPr>
          <p:spPr bwMode="auto">
            <a:xfrm>
              <a:off x="4299" y="2153"/>
              <a:ext cx="453" cy="288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6371" name="Line 39"/>
            <p:cNvSpPr>
              <a:spLocks noChangeShapeType="1"/>
            </p:cNvSpPr>
            <p:nvPr/>
          </p:nvSpPr>
          <p:spPr bwMode="auto">
            <a:xfrm>
              <a:off x="4525" y="2142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372" name="Group 40"/>
            <p:cNvGrpSpPr>
              <a:grpSpLocks/>
            </p:cNvGrpSpPr>
            <p:nvPr/>
          </p:nvGrpSpPr>
          <p:grpSpPr bwMode="auto">
            <a:xfrm>
              <a:off x="2989" y="1961"/>
              <a:ext cx="1389" cy="362"/>
              <a:chOff x="2943" y="3140"/>
              <a:chExt cx="1389" cy="362"/>
            </a:xfrm>
          </p:grpSpPr>
          <p:sp>
            <p:nvSpPr>
              <p:cNvPr id="56375" name="Line 41"/>
              <p:cNvSpPr>
                <a:spLocks noChangeShapeType="1"/>
              </p:cNvSpPr>
              <p:nvPr/>
            </p:nvSpPr>
            <p:spPr bwMode="auto">
              <a:xfrm>
                <a:off x="3633" y="3140"/>
                <a:ext cx="0" cy="36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6376" name="Group 42"/>
              <p:cNvGrpSpPr>
                <a:grpSpLocks/>
              </p:cNvGrpSpPr>
              <p:nvPr/>
            </p:nvGrpSpPr>
            <p:grpSpPr bwMode="auto">
              <a:xfrm>
                <a:off x="2943" y="3140"/>
                <a:ext cx="1389" cy="353"/>
                <a:chOff x="2943" y="3140"/>
                <a:chExt cx="1389" cy="353"/>
              </a:xfrm>
            </p:grpSpPr>
            <p:sp>
              <p:nvSpPr>
                <p:cNvPr id="56377" name="Line 43"/>
                <p:cNvSpPr>
                  <a:spLocks noChangeShapeType="1"/>
                </p:cNvSpPr>
                <p:nvPr/>
              </p:nvSpPr>
              <p:spPr bwMode="auto">
                <a:xfrm>
                  <a:off x="2943" y="3493"/>
                  <a:ext cx="68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8" name="Line 44"/>
                <p:cNvSpPr>
                  <a:spLocks noChangeShapeType="1"/>
                </p:cNvSpPr>
                <p:nvPr/>
              </p:nvSpPr>
              <p:spPr bwMode="auto">
                <a:xfrm>
                  <a:off x="3642" y="3149"/>
                  <a:ext cx="681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379" name="Line 45"/>
                <p:cNvSpPr>
                  <a:spLocks noChangeShapeType="1"/>
                </p:cNvSpPr>
                <p:nvPr/>
              </p:nvSpPr>
              <p:spPr bwMode="auto">
                <a:xfrm>
                  <a:off x="4332" y="3140"/>
                  <a:ext cx="0" cy="181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6373" name="Line 48"/>
            <p:cNvSpPr>
              <a:spLocks noChangeShapeType="1"/>
            </p:cNvSpPr>
            <p:nvPr/>
          </p:nvSpPr>
          <p:spPr bwMode="auto">
            <a:xfrm>
              <a:off x="1864" y="2423"/>
              <a:ext cx="502" cy="0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4" name="Rectangle 49"/>
            <p:cNvSpPr>
              <a:spLocks noChangeArrowheads="1"/>
            </p:cNvSpPr>
            <p:nvPr/>
          </p:nvSpPr>
          <p:spPr bwMode="auto">
            <a:xfrm>
              <a:off x="1474" y="2280"/>
              <a:ext cx="454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chemeClr val="tx2"/>
                  </a:solidFill>
                  <a:latin typeface="Times New Roman" panose="02020603050405020304" pitchFamily="18" charset="0"/>
                </a:rPr>
                <a:t>last</a:t>
              </a:r>
            </a:p>
          </p:txBody>
        </p:sp>
      </p:grpSp>
      <p:sp>
        <p:nvSpPr>
          <p:cNvPr id="908339" name="Rectangle 51"/>
          <p:cNvSpPr>
            <a:spLocks noChangeArrowheads="1"/>
          </p:cNvSpPr>
          <p:nvPr/>
        </p:nvSpPr>
        <p:spPr bwMode="auto">
          <a:xfrm>
            <a:off x="2297113" y="2849563"/>
            <a:ext cx="1439862" cy="5048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8340" name="Rectangle 52"/>
          <p:cNvSpPr>
            <a:spLocks noChangeArrowheads="1"/>
          </p:cNvSpPr>
          <p:nvPr/>
        </p:nvSpPr>
        <p:spPr bwMode="auto">
          <a:xfrm>
            <a:off x="325438" y="5473700"/>
            <a:ext cx="11509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</a:p>
        </p:txBody>
      </p:sp>
      <p:graphicFrame>
        <p:nvGraphicFramePr>
          <p:cNvPr id="908377" name="Group 89">
            <a:extLst>
              <a:ext uri="{FF2B5EF4-FFF2-40B4-BE49-F238E27FC236}">
                <a16:creationId xmlns:a16="http://schemas.microsoft.com/office/drawing/2014/main" id="{4E1197AF-B9EA-4B35-A8E1-C3B095A28D17}"/>
              </a:ext>
            </a:extLst>
          </p:cNvPr>
          <p:cNvGraphicFramePr>
            <a:graphicFrameLocks noGrp="1"/>
          </p:cNvGraphicFramePr>
          <p:nvPr/>
        </p:nvGraphicFramePr>
        <p:xfrm>
          <a:off x="1812925" y="5402263"/>
          <a:ext cx="1390650" cy="581025"/>
        </p:xfrm>
        <a:graphic>
          <a:graphicData uri="http://schemas.openxmlformats.org/drawingml/2006/table">
            <a:tbl>
              <a:tblPr/>
              <a:tblGrid>
                <a:gridCol w="69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90000" marR="90000" marT="46710" marB="4671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90000" marR="90000" marT="46710" marB="46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8378" name="Group 90">
            <a:extLst>
              <a:ext uri="{FF2B5EF4-FFF2-40B4-BE49-F238E27FC236}">
                <a16:creationId xmlns:a16="http://schemas.microsoft.com/office/drawing/2014/main" id="{3547438A-835B-46CE-BDC2-1A912593358E}"/>
              </a:ext>
            </a:extLst>
          </p:cNvPr>
          <p:cNvGraphicFramePr>
            <a:graphicFrameLocks noGrp="1"/>
          </p:cNvGraphicFramePr>
          <p:nvPr/>
        </p:nvGraphicFramePr>
        <p:xfrm>
          <a:off x="3971925" y="5402263"/>
          <a:ext cx="1392238" cy="581025"/>
        </p:xfrm>
        <a:graphic>
          <a:graphicData uri="http://schemas.openxmlformats.org/drawingml/2006/table">
            <a:tbl>
              <a:tblPr/>
              <a:tblGrid>
                <a:gridCol w="69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90000" marR="90000" marT="46710" marB="4671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marL="90000" marR="90000" marT="46710" marB="46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08383" name="Group 95">
            <a:extLst>
              <a:ext uri="{FF2B5EF4-FFF2-40B4-BE49-F238E27FC236}">
                <a16:creationId xmlns:a16="http://schemas.microsoft.com/office/drawing/2014/main" id="{1B9C6E70-042A-453A-B553-E62AEF3D0EB6}"/>
              </a:ext>
            </a:extLst>
          </p:cNvPr>
          <p:cNvGraphicFramePr>
            <a:graphicFrameLocks noGrp="1"/>
          </p:cNvGraphicFramePr>
          <p:nvPr/>
        </p:nvGraphicFramePr>
        <p:xfrm>
          <a:off x="6134100" y="5402263"/>
          <a:ext cx="2649538" cy="581025"/>
        </p:xfrm>
        <a:graphic>
          <a:graphicData uri="http://schemas.openxmlformats.org/drawingml/2006/table">
            <a:tbl>
              <a:tblPr/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marL="90000" marR="90000" marT="46710" marB="4671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NULL</a:t>
                      </a:r>
                    </a:p>
                  </a:txBody>
                  <a:tcPr marL="90000" marR="90000" marT="46710" marB="4671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8368" name="Line 80"/>
          <p:cNvSpPr>
            <a:spLocks noChangeShapeType="1"/>
          </p:cNvSpPr>
          <p:nvPr/>
        </p:nvSpPr>
        <p:spPr bwMode="auto">
          <a:xfrm>
            <a:off x="1417638" y="5703888"/>
            <a:ext cx="360362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8369" name="Line 81"/>
          <p:cNvSpPr>
            <a:spLocks noChangeShapeType="1"/>
          </p:cNvSpPr>
          <p:nvPr/>
        </p:nvSpPr>
        <p:spPr bwMode="auto">
          <a:xfrm>
            <a:off x="2843213" y="5703888"/>
            <a:ext cx="1152525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8370" name="Line 82"/>
          <p:cNvSpPr>
            <a:spLocks noChangeShapeType="1"/>
          </p:cNvSpPr>
          <p:nvPr/>
        </p:nvSpPr>
        <p:spPr bwMode="auto">
          <a:xfrm>
            <a:off x="5003800" y="5703888"/>
            <a:ext cx="1152525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8371" name="Rectangle 83"/>
          <p:cNvSpPr>
            <a:spLocks noChangeArrowheads="1"/>
          </p:cNvSpPr>
          <p:nvPr/>
        </p:nvSpPr>
        <p:spPr bwMode="auto">
          <a:xfrm>
            <a:off x="5076825" y="4652963"/>
            <a:ext cx="10080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</a:p>
        </p:txBody>
      </p:sp>
      <p:sp>
        <p:nvSpPr>
          <p:cNvPr id="908372" name="Line 84"/>
          <p:cNvSpPr>
            <a:spLocks noChangeShapeType="1"/>
          </p:cNvSpPr>
          <p:nvPr/>
        </p:nvSpPr>
        <p:spPr bwMode="auto">
          <a:xfrm>
            <a:off x="5580063" y="5084763"/>
            <a:ext cx="576262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0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0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0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0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0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0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0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/>
      <p:bldP spid="908307" grpId="0"/>
      <p:bldP spid="908339" grpId="0" animBg="1"/>
      <p:bldP spid="908340" grpId="0"/>
      <p:bldP spid="90837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Text Box 2"/>
          <p:cNvSpPr txBox="1">
            <a:spLocks noChangeArrowheads="1"/>
          </p:cNvSpPr>
          <p:nvPr/>
        </p:nvSpPr>
        <p:spPr bwMode="auto">
          <a:xfrm>
            <a:off x="468313" y="260350"/>
            <a:ext cx="7848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结点的删除与插入</a:t>
            </a:r>
          </a:p>
        </p:txBody>
      </p:sp>
      <p:sp>
        <p:nvSpPr>
          <p:cNvPr id="552964" name="Text Box 4"/>
          <p:cNvSpPr txBox="1">
            <a:spLocks noChangeArrowheads="1"/>
          </p:cNvSpPr>
          <p:nvPr/>
        </p:nvSpPr>
        <p:spPr bwMode="auto">
          <a:xfrm>
            <a:off x="538163" y="836613"/>
            <a:ext cx="8137525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1.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删除结点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删除结点</a:t>
            </a:r>
            <a:r>
              <a:rPr lang="en-US" altLang="zh-CN" sz="3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解除该结点的链接关系，使之与链表脱钩，再调用</a:t>
            </a:r>
            <a:r>
              <a:rPr lang="en-US" altLang="zh-CN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free</a:t>
            </a:r>
            <a:r>
              <a:rPr lang="zh-CN" altLang="en-US" sz="3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函数收回它的存储空间。</a:t>
            </a:r>
          </a:p>
        </p:txBody>
      </p:sp>
      <p:graphicFrame>
        <p:nvGraphicFramePr>
          <p:cNvPr id="553038" name="Group 78">
            <a:extLst>
              <a:ext uri="{FF2B5EF4-FFF2-40B4-BE49-F238E27FC236}">
                <a16:creationId xmlns:a16="http://schemas.microsoft.com/office/drawing/2014/main" id="{35750DAA-9F6E-4FFA-9D80-551647BBC70B}"/>
              </a:ext>
            </a:extLst>
          </p:cNvPr>
          <p:cNvGraphicFramePr>
            <a:graphicFrameLocks noGrp="1"/>
          </p:cNvGraphicFramePr>
          <p:nvPr/>
        </p:nvGraphicFramePr>
        <p:xfrm>
          <a:off x="215900" y="4795838"/>
          <a:ext cx="1258888" cy="579437"/>
        </p:xfrm>
        <a:graphic>
          <a:graphicData uri="http://schemas.openxmlformats.org/drawingml/2006/table">
            <a:tbl>
              <a:tblPr/>
              <a:tblGrid>
                <a:gridCol w="630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3039" name="Group 79">
            <a:extLst>
              <a:ext uri="{FF2B5EF4-FFF2-40B4-BE49-F238E27FC236}">
                <a16:creationId xmlns:a16="http://schemas.microsoft.com/office/drawing/2014/main" id="{D8E67223-F00E-4D2D-AD67-14586BED9E60}"/>
              </a:ext>
            </a:extLst>
          </p:cNvPr>
          <p:cNvGraphicFramePr>
            <a:graphicFrameLocks noGrp="1"/>
          </p:cNvGraphicFramePr>
          <p:nvPr/>
        </p:nvGraphicFramePr>
        <p:xfrm>
          <a:off x="1871663" y="4795838"/>
          <a:ext cx="1279525" cy="579437"/>
        </p:xfrm>
        <a:graphic>
          <a:graphicData uri="http://schemas.openxmlformats.org/drawingml/2006/table">
            <a:tbl>
              <a:tblPr/>
              <a:tblGrid>
                <a:gridCol w="639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3040" name="Group 80">
            <a:extLst>
              <a:ext uri="{FF2B5EF4-FFF2-40B4-BE49-F238E27FC236}">
                <a16:creationId xmlns:a16="http://schemas.microsoft.com/office/drawing/2014/main" id="{60E20260-2CA1-49B0-AC7C-E72667157C8B}"/>
              </a:ext>
            </a:extLst>
          </p:cNvPr>
          <p:cNvGraphicFramePr>
            <a:graphicFrameLocks noGrp="1"/>
          </p:cNvGraphicFramePr>
          <p:nvPr/>
        </p:nvGraphicFramePr>
        <p:xfrm>
          <a:off x="3455988" y="4795838"/>
          <a:ext cx="1371600" cy="579437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3041" name="Group 81">
            <a:extLst>
              <a:ext uri="{FF2B5EF4-FFF2-40B4-BE49-F238E27FC236}">
                <a16:creationId xmlns:a16="http://schemas.microsoft.com/office/drawing/2014/main" id="{6AAA85FA-5AFA-4585-80E7-AC59DD64A173}"/>
              </a:ext>
            </a:extLst>
          </p:cNvPr>
          <p:cNvGraphicFramePr>
            <a:graphicFrameLocks noGrp="1"/>
          </p:cNvGraphicFramePr>
          <p:nvPr/>
        </p:nvGraphicFramePr>
        <p:xfrm>
          <a:off x="5256213" y="4795838"/>
          <a:ext cx="1247775" cy="579437"/>
        </p:xfrm>
        <a:graphic>
          <a:graphicData uri="http://schemas.openxmlformats.org/drawingml/2006/table">
            <a:tbl>
              <a:tblPr/>
              <a:tblGrid>
                <a:gridCol w="6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3042" name="Group 82">
            <a:extLst>
              <a:ext uri="{FF2B5EF4-FFF2-40B4-BE49-F238E27FC236}">
                <a16:creationId xmlns:a16="http://schemas.microsoft.com/office/drawing/2014/main" id="{27E605FA-2406-4AA2-A1BA-8C274AF17DDB}"/>
              </a:ext>
            </a:extLst>
          </p:cNvPr>
          <p:cNvGraphicFramePr>
            <a:graphicFrameLocks noGrp="1"/>
          </p:cNvGraphicFramePr>
          <p:nvPr/>
        </p:nvGraphicFramePr>
        <p:xfrm>
          <a:off x="6769100" y="4795838"/>
          <a:ext cx="2195513" cy="579437"/>
        </p:xfrm>
        <a:graphic>
          <a:graphicData uri="http://schemas.openxmlformats.org/drawingml/2006/table">
            <a:tbl>
              <a:tblPr/>
              <a:tblGrid>
                <a:gridCol w="879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97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3009" name="Text Box 49"/>
          <p:cNvSpPr txBox="1">
            <a:spLocks noChangeArrowheads="1"/>
          </p:cNvSpPr>
          <p:nvPr/>
        </p:nvSpPr>
        <p:spPr bwMode="auto">
          <a:xfrm>
            <a:off x="179388" y="3797300"/>
            <a:ext cx="1404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</a:t>
            </a:r>
          </a:p>
        </p:txBody>
      </p:sp>
      <p:sp>
        <p:nvSpPr>
          <p:cNvPr id="553010" name="Line 50"/>
          <p:cNvSpPr>
            <a:spLocks noChangeShapeType="1"/>
          </p:cNvSpPr>
          <p:nvPr/>
        </p:nvSpPr>
        <p:spPr bwMode="auto">
          <a:xfrm>
            <a:off x="636588" y="4338638"/>
            <a:ext cx="0" cy="4572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1" name="Line 51"/>
          <p:cNvSpPr>
            <a:spLocks noChangeShapeType="1"/>
          </p:cNvSpPr>
          <p:nvPr/>
        </p:nvSpPr>
        <p:spPr bwMode="auto">
          <a:xfrm>
            <a:off x="1116013" y="5081588"/>
            <a:ext cx="762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2" name="Line 52"/>
          <p:cNvSpPr>
            <a:spLocks noChangeShapeType="1"/>
          </p:cNvSpPr>
          <p:nvPr/>
        </p:nvSpPr>
        <p:spPr bwMode="auto">
          <a:xfrm>
            <a:off x="2686050" y="5078413"/>
            <a:ext cx="762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3" name="Line 53"/>
          <p:cNvSpPr>
            <a:spLocks noChangeShapeType="1"/>
          </p:cNvSpPr>
          <p:nvPr/>
        </p:nvSpPr>
        <p:spPr bwMode="auto">
          <a:xfrm>
            <a:off x="4557713" y="5092700"/>
            <a:ext cx="6858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14" name="Line 54"/>
          <p:cNvSpPr>
            <a:spLocks noChangeShapeType="1"/>
          </p:cNvSpPr>
          <p:nvPr/>
        </p:nvSpPr>
        <p:spPr bwMode="auto">
          <a:xfrm>
            <a:off x="6011863" y="5092700"/>
            <a:ext cx="762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5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5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5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5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5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2" grpId="0"/>
      <p:bldP spid="552964" grpId="0"/>
      <p:bldP spid="55300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8" name="Text Box 4"/>
          <p:cNvSpPr txBox="1">
            <a:spLocks noChangeArrowheads="1"/>
          </p:cNvSpPr>
          <p:nvPr/>
        </p:nvSpPr>
        <p:spPr bwMode="auto">
          <a:xfrm>
            <a:off x="468313" y="476250"/>
            <a:ext cx="7848600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）被删结点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为链表首结点</a:t>
            </a:r>
            <a:endParaRPr lang="zh-CN" altLang="en-US">
              <a:solidFill>
                <a:srgbClr val="D92517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8949" name="Text Box 5"/>
          <p:cNvSpPr txBox="1">
            <a:spLocks noChangeArrowheads="1"/>
          </p:cNvSpPr>
          <p:nvPr/>
        </p:nvSpPr>
        <p:spPr bwMode="auto">
          <a:xfrm>
            <a:off x="971550" y="1628775"/>
            <a:ext cx="7848600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p=head;    </a:t>
            </a:r>
            <a:r>
              <a:rPr lang="en-US" altLang="zh-CN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/*</a:t>
            </a:r>
            <a:r>
              <a:rPr lang="zh-CN" altLang="en-US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指针指向首结点*</a:t>
            </a:r>
            <a:r>
              <a:rPr lang="en-US" altLang="zh-CN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978950" name="Text Box 6"/>
          <p:cNvSpPr txBox="1">
            <a:spLocks noChangeArrowheads="1"/>
          </p:cNvSpPr>
          <p:nvPr/>
        </p:nvSpPr>
        <p:spPr bwMode="auto">
          <a:xfrm>
            <a:off x="434975" y="3035300"/>
            <a:ext cx="8458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head=head-&gt;next;  </a:t>
            </a:r>
            <a:r>
              <a:rPr lang="en-US" altLang="zh-CN" sz="2800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/*</a:t>
            </a:r>
            <a:r>
              <a:rPr lang="zh-CN" altLang="en-US" sz="2800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头指针后移一个结点*</a:t>
            </a:r>
            <a:r>
              <a:rPr lang="en-US" altLang="zh-CN" sz="2800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978951" name="Text Box 7"/>
          <p:cNvSpPr txBox="1">
            <a:spLocks noChangeArrowheads="1"/>
          </p:cNvSpPr>
          <p:nvPr/>
        </p:nvSpPr>
        <p:spPr bwMode="auto">
          <a:xfrm>
            <a:off x="827088" y="4475163"/>
            <a:ext cx="784860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free(p);    </a:t>
            </a:r>
            <a:r>
              <a:rPr lang="en-US" altLang="zh-CN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/*</a:t>
            </a:r>
            <a:r>
              <a:rPr lang="zh-CN" altLang="en-US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收回首结点的存储空间*</a:t>
            </a:r>
            <a:r>
              <a:rPr lang="en-US" altLang="zh-CN">
                <a:solidFill>
                  <a:srgbClr val="D9251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7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8948" grpId="0"/>
      <p:bldP spid="978949" grpId="0"/>
      <p:bldP spid="978950" grpId="0"/>
      <p:bldP spid="97895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Text Box 1026"/>
          <p:cNvSpPr txBox="1">
            <a:spLocks noChangeArrowheads="1"/>
          </p:cNvSpPr>
          <p:nvPr/>
        </p:nvSpPr>
        <p:spPr bwMode="auto">
          <a:xfrm>
            <a:off x="1908175" y="688975"/>
            <a:ext cx="50403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删除学生链表的首结点</a:t>
            </a:r>
          </a:p>
        </p:txBody>
      </p:sp>
      <p:graphicFrame>
        <p:nvGraphicFramePr>
          <p:cNvPr id="554068" name="Group 1108">
            <a:extLst>
              <a:ext uri="{FF2B5EF4-FFF2-40B4-BE49-F238E27FC236}">
                <a16:creationId xmlns:a16="http://schemas.microsoft.com/office/drawing/2014/main" id="{B3D5A3D6-903D-446E-93AD-FCDA6D6E1695}"/>
              </a:ext>
            </a:extLst>
          </p:cNvPr>
          <p:cNvGraphicFramePr>
            <a:graphicFrameLocks noGrp="1"/>
          </p:cNvGraphicFramePr>
          <p:nvPr/>
        </p:nvGraphicFramePr>
        <p:xfrm>
          <a:off x="1509713" y="3152775"/>
          <a:ext cx="10668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倪兰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568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黑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4063" name="Group 1103">
            <a:extLst>
              <a:ext uri="{FF2B5EF4-FFF2-40B4-BE49-F238E27FC236}">
                <a16:creationId xmlns:a16="http://schemas.microsoft.com/office/drawing/2014/main" id="{6A56D704-C998-4C09-AA88-15ED94707E30}"/>
              </a:ext>
            </a:extLst>
          </p:cNvPr>
          <p:cNvGraphicFramePr>
            <a:graphicFrameLocks noGrp="1"/>
          </p:cNvGraphicFramePr>
          <p:nvPr/>
        </p:nvGraphicFramePr>
        <p:xfrm>
          <a:off x="3033713" y="3149600"/>
          <a:ext cx="10668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1002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王 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537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4064" name="Group 1104">
            <a:extLst>
              <a:ext uri="{FF2B5EF4-FFF2-40B4-BE49-F238E27FC236}">
                <a16:creationId xmlns:a16="http://schemas.microsoft.com/office/drawing/2014/main" id="{B55C02B9-3CF2-41E6-A817-64C0CCE08D56}"/>
              </a:ext>
            </a:extLst>
          </p:cNvPr>
          <p:cNvGraphicFramePr>
            <a:graphicFrameLocks noGrp="1"/>
          </p:cNvGraphicFramePr>
          <p:nvPr/>
        </p:nvGraphicFramePr>
        <p:xfrm>
          <a:off x="4633913" y="3149600"/>
          <a:ext cx="10668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1003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刘宁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女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544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4071" name="Group 1111">
            <a:extLst>
              <a:ext uri="{FF2B5EF4-FFF2-40B4-BE49-F238E27FC236}">
                <a16:creationId xmlns:a16="http://schemas.microsoft.com/office/drawing/2014/main" id="{04A4EA9F-BC90-4162-BB7D-F3E21F330E7D}"/>
              </a:ext>
            </a:extLst>
          </p:cNvPr>
          <p:cNvGraphicFramePr>
            <a:graphicFrameLocks noGrp="1"/>
          </p:cNvGraphicFramePr>
          <p:nvPr/>
        </p:nvGraphicFramePr>
        <p:xfrm>
          <a:off x="6157913" y="3149600"/>
          <a:ext cx="10668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1004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应 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499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4072" name="Group 1112">
            <a:extLst>
              <a:ext uri="{FF2B5EF4-FFF2-40B4-BE49-F238E27FC236}">
                <a16:creationId xmlns:a16="http://schemas.microsoft.com/office/drawing/2014/main" id="{5461A57F-D33F-47BE-B918-260FBB20988E}"/>
              </a:ext>
            </a:extLst>
          </p:cNvPr>
          <p:cNvGraphicFramePr>
            <a:graphicFrameLocks noGrp="1"/>
          </p:cNvGraphicFramePr>
          <p:nvPr/>
        </p:nvGraphicFramePr>
        <p:xfrm>
          <a:off x="7681913" y="3149600"/>
          <a:ext cx="1066800" cy="22860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100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潘 俊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626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Arial" charset="0"/>
                          <a:ea typeface="黑体" pitchFamily="2" charset="-122"/>
                        </a:rPr>
                        <a:t>NULL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9465" name="Group 1163"/>
          <p:cNvGrpSpPr>
            <a:grpSpLocks/>
          </p:cNvGrpSpPr>
          <p:nvPr/>
        </p:nvGrpSpPr>
        <p:grpSpPr bwMode="auto">
          <a:xfrm>
            <a:off x="595313" y="2235200"/>
            <a:ext cx="914400" cy="1066800"/>
            <a:chOff x="288" y="672"/>
            <a:chExt cx="576" cy="672"/>
          </a:xfrm>
        </p:grpSpPr>
        <p:sp>
          <p:nvSpPr>
            <p:cNvPr id="59508" name="Text Box 1099"/>
            <p:cNvSpPr txBox="1">
              <a:spLocks noChangeArrowheads="1"/>
            </p:cNvSpPr>
            <p:nvPr/>
          </p:nvSpPr>
          <p:spPr bwMode="auto">
            <a:xfrm>
              <a:off x="288" y="67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head</a:t>
              </a:r>
            </a:p>
          </p:txBody>
        </p:sp>
        <p:grpSp>
          <p:nvGrpSpPr>
            <p:cNvPr id="59509" name="Group 1137"/>
            <p:cNvGrpSpPr>
              <a:grpSpLocks/>
            </p:cNvGrpSpPr>
            <p:nvPr/>
          </p:nvGrpSpPr>
          <p:grpSpPr bwMode="auto">
            <a:xfrm>
              <a:off x="576" y="912"/>
              <a:ext cx="288" cy="432"/>
              <a:chOff x="384" y="1200"/>
              <a:chExt cx="288" cy="432"/>
            </a:xfrm>
          </p:grpSpPr>
          <p:sp>
            <p:nvSpPr>
              <p:cNvPr id="59510" name="Line 1100"/>
              <p:cNvSpPr>
                <a:spLocks noChangeShapeType="1"/>
              </p:cNvSpPr>
              <p:nvPr/>
            </p:nvSpPr>
            <p:spPr bwMode="auto">
              <a:xfrm>
                <a:off x="384" y="1200"/>
                <a:ext cx="0" cy="432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511" name="Line 1101"/>
              <p:cNvSpPr>
                <a:spLocks noChangeShapeType="1"/>
              </p:cNvSpPr>
              <p:nvPr/>
            </p:nvSpPr>
            <p:spPr bwMode="auto">
              <a:xfrm>
                <a:off x="384" y="1621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9466" name="Group 1149"/>
          <p:cNvGrpSpPr>
            <a:grpSpLocks/>
          </p:cNvGrpSpPr>
          <p:nvPr/>
        </p:nvGrpSpPr>
        <p:grpSpPr bwMode="auto">
          <a:xfrm>
            <a:off x="2078038" y="2522538"/>
            <a:ext cx="1295400" cy="3200400"/>
            <a:chOff x="1222" y="864"/>
            <a:chExt cx="816" cy="2016"/>
          </a:xfrm>
        </p:grpSpPr>
        <p:sp>
          <p:nvSpPr>
            <p:cNvPr id="59503" name="Line 1113"/>
            <p:cNvSpPr>
              <a:spLocks noChangeShapeType="1"/>
            </p:cNvSpPr>
            <p:nvPr/>
          </p:nvSpPr>
          <p:spPr bwMode="auto">
            <a:xfrm>
              <a:off x="1222" y="2544"/>
              <a:ext cx="0" cy="33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4" name="Line 1114"/>
            <p:cNvSpPr>
              <a:spLocks noChangeShapeType="1"/>
            </p:cNvSpPr>
            <p:nvPr/>
          </p:nvSpPr>
          <p:spPr bwMode="auto">
            <a:xfrm>
              <a:off x="1222" y="2869"/>
              <a:ext cx="387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5" name="Line 1115"/>
            <p:cNvSpPr>
              <a:spLocks noChangeShapeType="1"/>
            </p:cNvSpPr>
            <p:nvPr/>
          </p:nvSpPr>
          <p:spPr bwMode="auto">
            <a:xfrm flipV="1">
              <a:off x="1609" y="864"/>
              <a:ext cx="0" cy="201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6" name="Line 1116"/>
            <p:cNvSpPr>
              <a:spLocks noChangeShapeType="1"/>
            </p:cNvSpPr>
            <p:nvPr/>
          </p:nvSpPr>
          <p:spPr bwMode="auto">
            <a:xfrm>
              <a:off x="1609" y="875"/>
              <a:ext cx="429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7" name="Line 1117"/>
            <p:cNvSpPr>
              <a:spLocks noChangeShapeType="1"/>
            </p:cNvSpPr>
            <p:nvPr/>
          </p:nvSpPr>
          <p:spPr bwMode="auto">
            <a:xfrm>
              <a:off x="2038" y="864"/>
              <a:ext cx="0" cy="3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67" name="Group 1152"/>
          <p:cNvGrpSpPr>
            <a:grpSpLocks/>
          </p:cNvGrpSpPr>
          <p:nvPr/>
        </p:nvGrpSpPr>
        <p:grpSpPr bwMode="auto">
          <a:xfrm>
            <a:off x="3567113" y="2522538"/>
            <a:ext cx="1600200" cy="3200400"/>
            <a:chOff x="2160" y="864"/>
            <a:chExt cx="1008" cy="2016"/>
          </a:xfrm>
        </p:grpSpPr>
        <p:sp>
          <p:nvSpPr>
            <p:cNvPr id="59498" name="Line 1120"/>
            <p:cNvSpPr>
              <a:spLocks noChangeShapeType="1"/>
            </p:cNvSpPr>
            <p:nvPr/>
          </p:nvSpPr>
          <p:spPr bwMode="auto">
            <a:xfrm>
              <a:off x="2160" y="2544"/>
              <a:ext cx="0" cy="33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9" name="Line 1121"/>
            <p:cNvSpPr>
              <a:spLocks noChangeShapeType="1"/>
            </p:cNvSpPr>
            <p:nvPr/>
          </p:nvSpPr>
          <p:spPr bwMode="auto">
            <a:xfrm>
              <a:off x="2160" y="2869"/>
              <a:ext cx="477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0" name="Line 1122"/>
            <p:cNvSpPr>
              <a:spLocks noChangeShapeType="1"/>
            </p:cNvSpPr>
            <p:nvPr/>
          </p:nvSpPr>
          <p:spPr bwMode="auto">
            <a:xfrm flipV="1">
              <a:off x="2637" y="864"/>
              <a:ext cx="0" cy="201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1" name="Line 1123"/>
            <p:cNvSpPr>
              <a:spLocks noChangeShapeType="1"/>
            </p:cNvSpPr>
            <p:nvPr/>
          </p:nvSpPr>
          <p:spPr bwMode="auto">
            <a:xfrm>
              <a:off x="2637" y="875"/>
              <a:ext cx="531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502" name="Line 1124"/>
            <p:cNvSpPr>
              <a:spLocks noChangeShapeType="1"/>
            </p:cNvSpPr>
            <p:nvPr/>
          </p:nvSpPr>
          <p:spPr bwMode="auto">
            <a:xfrm>
              <a:off x="3168" y="864"/>
              <a:ext cx="0" cy="3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68" name="Group 1151"/>
          <p:cNvGrpSpPr>
            <a:grpSpLocks/>
          </p:cNvGrpSpPr>
          <p:nvPr/>
        </p:nvGrpSpPr>
        <p:grpSpPr bwMode="auto">
          <a:xfrm>
            <a:off x="5243513" y="2522538"/>
            <a:ext cx="1447800" cy="3200400"/>
            <a:chOff x="3194" y="864"/>
            <a:chExt cx="912" cy="2016"/>
          </a:xfrm>
        </p:grpSpPr>
        <p:sp>
          <p:nvSpPr>
            <p:cNvPr id="59493" name="Line 1126"/>
            <p:cNvSpPr>
              <a:spLocks noChangeShapeType="1"/>
            </p:cNvSpPr>
            <p:nvPr/>
          </p:nvSpPr>
          <p:spPr bwMode="auto">
            <a:xfrm>
              <a:off x="3194" y="2544"/>
              <a:ext cx="0" cy="33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4" name="Line 1127"/>
            <p:cNvSpPr>
              <a:spLocks noChangeShapeType="1"/>
            </p:cNvSpPr>
            <p:nvPr/>
          </p:nvSpPr>
          <p:spPr bwMode="auto">
            <a:xfrm>
              <a:off x="3194" y="2869"/>
              <a:ext cx="43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5" name="Line 1128"/>
            <p:cNvSpPr>
              <a:spLocks noChangeShapeType="1"/>
            </p:cNvSpPr>
            <p:nvPr/>
          </p:nvSpPr>
          <p:spPr bwMode="auto">
            <a:xfrm flipV="1">
              <a:off x="3626" y="864"/>
              <a:ext cx="0" cy="201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6" name="Line 1129"/>
            <p:cNvSpPr>
              <a:spLocks noChangeShapeType="1"/>
            </p:cNvSpPr>
            <p:nvPr/>
          </p:nvSpPr>
          <p:spPr bwMode="auto">
            <a:xfrm>
              <a:off x="3626" y="875"/>
              <a:ext cx="48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7" name="Line 1130"/>
            <p:cNvSpPr>
              <a:spLocks noChangeShapeType="1"/>
            </p:cNvSpPr>
            <p:nvPr/>
          </p:nvSpPr>
          <p:spPr bwMode="auto">
            <a:xfrm>
              <a:off x="4106" y="864"/>
              <a:ext cx="0" cy="3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69" name="Group 1150"/>
          <p:cNvGrpSpPr>
            <a:grpSpLocks/>
          </p:cNvGrpSpPr>
          <p:nvPr/>
        </p:nvGrpSpPr>
        <p:grpSpPr bwMode="auto">
          <a:xfrm>
            <a:off x="6743700" y="2522538"/>
            <a:ext cx="1447800" cy="3200400"/>
            <a:chOff x="4150" y="864"/>
            <a:chExt cx="912" cy="2016"/>
          </a:xfrm>
        </p:grpSpPr>
        <p:sp>
          <p:nvSpPr>
            <p:cNvPr id="59488" name="Line 1132"/>
            <p:cNvSpPr>
              <a:spLocks noChangeShapeType="1"/>
            </p:cNvSpPr>
            <p:nvPr/>
          </p:nvSpPr>
          <p:spPr bwMode="auto">
            <a:xfrm>
              <a:off x="4150" y="2544"/>
              <a:ext cx="0" cy="33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89" name="Line 1133"/>
            <p:cNvSpPr>
              <a:spLocks noChangeShapeType="1"/>
            </p:cNvSpPr>
            <p:nvPr/>
          </p:nvSpPr>
          <p:spPr bwMode="auto">
            <a:xfrm>
              <a:off x="4150" y="2869"/>
              <a:ext cx="43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0" name="Line 1134"/>
            <p:cNvSpPr>
              <a:spLocks noChangeShapeType="1"/>
            </p:cNvSpPr>
            <p:nvPr/>
          </p:nvSpPr>
          <p:spPr bwMode="auto">
            <a:xfrm flipV="1">
              <a:off x="4582" y="864"/>
              <a:ext cx="0" cy="201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1" name="Line 1135"/>
            <p:cNvSpPr>
              <a:spLocks noChangeShapeType="1"/>
            </p:cNvSpPr>
            <p:nvPr/>
          </p:nvSpPr>
          <p:spPr bwMode="auto">
            <a:xfrm>
              <a:off x="4582" y="875"/>
              <a:ext cx="48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92" name="Line 1136"/>
            <p:cNvSpPr>
              <a:spLocks noChangeShapeType="1"/>
            </p:cNvSpPr>
            <p:nvPr/>
          </p:nvSpPr>
          <p:spPr bwMode="auto">
            <a:xfrm>
              <a:off x="5062" y="864"/>
              <a:ext cx="0" cy="3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159"/>
          <p:cNvGrpSpPr>
            <a:grpSpLocks/>
          </p:cNvGrpSpPr>
          <p:nvPr/>
        </p:nvGrpSpPr>
        <p:grpSpPr bwMode="auto">
          <a:xfrm>
            <a:off x="1433513" y="2006600"/>
            <a:ext cx="1295400" cy="1066800"/>
            <a:chOff x="816" y="528"/>
            <a:chExt cx="816" cy="672"/>
          </a:xfrm>
        </p:grpSpPr>
        <p:sp>
          <p:nvSpPr>
            <p:cNvPr id="59486" name="Text Box 1138"/>
            <p:cNvSpPr txBox="1">
              <a:spLocks noChangeArrowheads="1"/>
            </p:cNvSpPr>
            <p:nvPr/>
          </p:nvSpPr>
          <p:spPr bwMode="auto">
            <a:xfrm>
              <a:off x="816" y="528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head</a:t>
              </a:r>
            </a:p>
          </p:txBody>
        </p:sp>
        <p:sp>
          <p:nvSpPr>
            <p:cNvPr id="59487" name="Line 1140"/>
            <p:cNvSpPr>
              <a:spLocks noChangeShapeType="1"/>
            </p:cNvSpPr>
            <p:nvPr/>
          </p:nvSpPr>
          <p:spPr bwMode="auto">
            <a:xfrm>
              <a:off x="1152" y="816"/>
              <a:ext cx="3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164"/>
          <p:cNvGrpSpPr>
            <a:grpSpLocks/>
          </p:cNvGrpSpPr>
          <p:nvPr/>
        </p:nvGrpSpPr>
        <p:grpSpPr bwMode="auto">
          <a:xfrm>
            <a:off x="2339975" y="1925638"/>
            <a:ext cx="4176713" cy="1143000"/>
            <a:chOff x="1632" y="480"/>
            <a:chExt cx="2016" cy="720"/>
          </a:xfrm>
        </p:grpSpPr>
        <p:sp>
          <p:nvSpPr>
            <p:cNvPr id="59484" name="Text Box 1142"/>
            <p:cNvSpPr txBox="1">
              <a:spLocks noChangeArrowheads="1"/>
            </p:cNvSpPr>
            <p:nvPr/>
          </p:nvSpPr>
          <p:spPr bwMode="auto">
            <a:xfrm>
              <a:off x="1632" y="480"/>
              <a:ext cx="20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head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＝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head</a:t>
              </a:r>
              <a:r>
                <a:rPr lang="zh-CN" altLang="en-US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&gt;next</a:t>
              </a:r>
            </a:p>
          </p:txBody>
        </p:sp>
        <p:sp>
          <p:nvSpPr>
            <p:cNvPr id="59485" name="Line 1143"/>
            <p:cNvSpPr>
              <a:spLocks noChangeShapeType="1"/>
            </p:cNvSpPr>
            <p:nvPr/>
          </p:nvSpPr>
          <p:spPr bwMode="auto">
            <a:xfrm>
              <a:off x="2256" y="768"/>
              <a:ext cx="0" cy="43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1162"/>
          <p:cNvGrpSpPr>
            <a:grpSpLocks/>
          </p:cNvGrpSpPr>
          <p:nvPr/>
        </p:nvGrpSpPr>
        <p:grpSpPr bwMode="auto">
          <a:xfrm>
            <a:off x="388938" y="2463800"/>
            <a:ext cx="3124200" cy="3292475"/>
            <a:chOff x="144" y="854"/>
            <a:chExt cx="1968" cy="2074"/>
          </a:xfrm>
        </p:grpSpPr>
        <p:sp>
          <p:nvSpPr>
            <p:cNvPr id="59482" name="Text Box 1148"/>
            <p:cNvSpPr txBox="1">
              <a:spLocks noChangeArrowheads="1"/>
            </p:cNvSpPr>
            <p:nvPr/>
          </p:nvSpPr>
          <p:spPr bwMode="auto">
            <a:xfrm>
              <a:off x="288" y="854"/>
              <a:ext cx="1824" cy="20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10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×</a:t>
              </a:r>
            </a:p>
          </p:txBody>
        </p:sp>
        <p:sp>
          <p:nvSpPr>
            <p:cNvPr id="59483" name="Text Box 1161"/>
            <p:cNvSpPr txBox="1">
              <a:spLocks noChangeArrowheads="1"/>
            </p:cNvSpPr>
            <p:nvPr/>
          </p:nvSpPr>
          <p:spPr bwMode="auto">
            <a:xfrm>
              <a:off x="144" y="1824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free(p)</a:t>
              </a:r>
            </a:p>
          </p:txBody>
        </p:sp>
      </p:grpSp>
      <p:grpSp>
        <p:nvGrpSpPr>
          <p:cNvPr id="11" name="Group 1165"/>
          <p:cNvGrpSpPr>
            <a:grpSpLocks/>
          </p:cNvGrpSpPr>
          <p:nvPr/>
        </p:nvGrpSpPr>
        <p:grpSpPr bwMode="auto">
          <a:xfrm>
            <a:off x="2076450" y="2509838"/>
            <a:ext cx="1295400" cy="3214687"/>
            <a:chOff x="1222" y="864"/>
            <a:chExt cx="816" cy="2016"/>
          </a:xfrm>
        </p:grpSpPr>
        <p:sp>
          <p:nvSpPr>
            <p:cNvPr id="59477" name="Line 1166"/>
            <p:cNvSpPr>
              <a:spLocks noChangeShapeType="1"/>
            </p:cNvSpPr>
            <p:nvPr/>
          </p:nvSpPr>
          <p:spPr bwMode="auto">
            <a:xfrm>
              <a:off x="1222" y="2544"/>
              <a:ext cx="0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78" name="Line 1167"/>
            <p:cNvSpPr>
              <a:spLocks noChangeShapeType="1"/>
            </p:cNvSpPr>
            <p:nvPr/>
          </p:nvSpPr>
          <p:spPr bwMode="auto">
            <a:xfrm>
              <a:off x="1222" y="2869"/>
              <a:ext cx="38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79" name="Line 1168"/>
            <p:cNvSpPr>
              <a:spLocks noChangeShapeType="1"/>
            </p:cNvSpPr>
            <p:nvPr/>
          </p:nvSpPr>
          <p:spPr bwMode="auto">
            <a:xfrm flipV="1">
              <a:off x="1609" y="864"/>
              <a:ext cx="0" cy="201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80" name="Line 1169"/>
            <p:cNvSpPr>
              <a:spLocks noChangeShapeType="1"/>
            </p:cNvSpPr>
            <p:nvPr/>
          </p:nvSpPr>
          <p:spPr bwMode="auto">
            <a:xfrm>
              <a:off x="1609" y="875"/>
              <a:ext cx="429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81" name="Line 1170"/>
            <p:cNvSpPr>
              <a:spLocks noChangeShapeType="1"/>
            </p:cNvSpPr>
            <p:nvPr/>
          </p:nvSpPr>
          <p:spPr bwMode="auto">
            <a:xfrm>
              <a:off x="2038" y="864"/>
              <a:ext cx="0" cy="3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175"/>
          <p:cNvGrpSpPr>
            <a:grpSpLocks/>
          </p:cNvGrpSpPr>
          <p:nvPr/>
        </p:nvGrpSpPr>
        <p:grpSpPr bwMode="auto">
          <a:xfrm>
            <a:off x="461963" y="1701800"/>
            <a:ext cx="3024187" cy="4248150"/>
            <a:chOff x="204" y="300"/>
            <a:chExt cx="1905" cy="2676"/>
          </a:xfrm>
        </p:grpSpPr>
        <p:sp>
          <p:nvSpPr>
            <p:cNvPr id="59475" name="Rectangle 1173"/>
            <p:cNvSpPr>
              <a:spLocks noChangeArrowheads="1"/>
            </p:cNvSpPr>
            <p:nvPr/>
          </p:nvSpPr>
          <p:spPr bwMode="auto">
            <a:xfrm>
              <a:off x="204" y="300"/>
              <a:ext cx="1542" cy="2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476" name="Rectangle 1174"/>
            <p:cNvSpPr>
              <a:spLocks noChangeArrowheads="1"/>
            </p:cNvSpPr>
            <p:nvPr/>
          </p:nvSpPr>
          <p:spPr bwMode="auto">
            <a:xfrm>
              <a:off x="1519" y="754"/>
              <a:ext cx="590" cy="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Text Box 2"/>
          <p:cNvSpPr txBox="1">
            <a:spLocks noChangeArrowheads="1"/>
          </p:cNvSpPr>
          <p:nvPr/>
        </p:nvSpPr>
        <p:spPr bwMode="auto">
          <a:xfrm>
            <a:off x="323850" y="296863"/>
            <a:ext cx="792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）被删结点为链表的中间结点或末结点</a:t>
            </a:r>
          </a:p>
        </p:txBody>
      </p:sp>
      <p:sp>
        <p:nvSpPr>
          <p:cNvPr id="555090" name="Text Box 82"/>
          <p:cNvSpPr txBox="1">
            <a:spLocks noChangeArrowheads="1"/>
          </p:cNvSpPr>
          <p:nvPr/>
        </p:nvSpPr>
        <p:spPr bwMode="auto">
          <a:xfrm>
            <a:off x="395288" y="2632075"/>
            <a:ext cx="8569325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借助两个工作指针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pre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，寻找被删结点的过程如下：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指针从头至尾对链表的结点逐一扫描，而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pre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指针总是跟踪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当前所指结点的前驱结点，与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指针保持同步移动，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指针一旦找到了被删结点，执行下面的语句即可实现删除：</a:t>
            </a:r>
          </a:p>
        </p:txBody>
      </p:sp>
      <p:graphicFrame>
        <p:nvGraphicFramePr>
          <p:cNvPr id="555138" name="Group 130">
            <a:extLst>
              <a:ext uri="{FF2B5EF4-FFF2-40B4-BE49-F238E27FC236}">
                <a16:creationId xmlns:a16="http://schemas.microsoft.com/office/drawing/2014/main" id="{FD310277-3064-4515-BA77-9CE9304CF0FF}"/>
              </a:ext>
            </a:extLst>
          </p:cNvPr>
          <p:cNvGraphicFramePr>
            <a:graphicFrameLocks noGrp="1"/>
          </p:cNvGraphicFramePr>
          <p:nvPr/>
        </p:nvGraphicFramePr>
        <p:xfrm>
          <a:off x="552450" y="1962150"/>
          <a:ext cx="1066800" cy="457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146" name="Group 138">
            <a:extLst>
              <a:ext uri="{FF2B5EF4-FFF2-40B4-BE49-F238E27FC236}">
                <a16:creationId xmlns:a16="http://schemas.microsoft.com/office/drawing/2014/main" id="{DC2D3911-AE7E-4547-A598-1344777F27C5}"/>
              </a:ext>
            </a:extLst>
          </p:cNvPr>
          <p:cNvGraphicFramePr>
            <a:graphicFrameLocks noGrp="1"/>
          </p:cNvGraphicFramePr>
          <p:nvPr/>
        </p:nvGraphicFramePr>
        <p:xfrm>
          <a:off x="2152650" y="1962150"/>
          <a:ext cx="1143000" cy="4572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154" name="Group 146">
            <a:extLst>
              <a:ext uri="{FF2B5EF4-FFF2-40B4-BE49-F238E27FC236}">
                <a16:creationId xmlns:a16="http://schemas.microsoft.com/office/drawing/2014/main" id="{F4226B51-2897-4260-8684-E36E7B9B181C}"/>
              </a:ext>
            </a:extLst>
          </p:cNvPr>
          <p:cNvGraphicFramePr>
            <a:graphicFrameLocks noGrp="1"/>
          </p:cNvGraphicFramePr>
          <p:nvPr/>
        </p:nvGraphicFramePr>
        <p:xfrm>
          <a:off x="3752850" y="1962150"/>
          <a:ext cx="1219200" cy="457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162" name="Group 154">
            <a:extLst>
              <a:ext uri="{FF2B5EF4-FFF2-40B4-BE49-F238E27FC236}">
                <a16:creationId xmlns:a16="http://schemas.microsoft.com/office/drawing/2014/main" id="{8AD73292-5030-44F3-8F3D-FE8B63EA44A4}"/>
              </a:ext>
            </a:extLst>
          </p:cNvPr>
          <p:cNvGraphicFramePr>
            <a:graphicFrameLocks noGrp="1"/>
          </p:cNvGraphicFramePr>
          <p:nvPr/>
        </p:nvGraphicFramePr>
        <p:xfrm>
          <a:off x="5429250" y="1962150"/>
          <a:ext cx="1219200" cy="457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170" name="Group 162">
            <a:extLst>
              <a:ext uri="{FF2B5EF4-FFF2-40B4-BE49-F238E27FC236}">
                <a16:creationId xmlns:a16="http://schemas.microsoft.com/office/drawing/2014/main" id="{0769AC46-34BE-4F23-90ED-07D299EA9E0D}"/>
              </a:ext>
            </a:extLst>
          </p:cNvPr>
          <p:cNvGraphicFramePr>
            <a:graphicFrameLocks noGrp="1"/>
          </p:cNvGraphicFramePr>
          <p:nvPr/>
        </p:nvGraphicFramePr>
        <p:xfrm>
          <a:off x="7105650" y="1962150"/>
          <a:ext cx="1752600" cy="457200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5178" name="Text Box 170"/>
          <p:cNvSpPr txBox="1">
            <a:spLocks noChangeArrowheads="1"/>
          </p:cNvSpPr>
          <p:nvPr/>
        </p:nvSpPr>
        <p:spPr bwMode="auto">
          <a:xfrm>
            <a:off x="179388" y="1047750"/>
            <a:ext cx="1058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000404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555179" name="Line 171"/>
          <p:cNvSpPr>
            <a:spLocks noChangeShapeType="1"/>
          </p:cNvSpPr>
          <p:nvPr/>
        </p:nvSpPr>
        <p:spPr bwMode="auto">
          <a:xfrm>
            <a:off x="781050" y="1504950"/>
            <a:ext cx="0" cy="4572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5180" name="Line 172"/>
          <p:cNvSpPr>
            <a:spLocks noChangeShapeType="1"/>
          </p:cNvSpPr>
          <p:nvPr/>
        </p:nvSpPr>
        <p:spPr bwMode="auto">
          <a:xfrm>
            <a:off x="1373188" y="2190750"/>
            <a:ext cx="762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5181" name="Line 173"/>
          <p:cNvSpPr>
            <a:spLocks noChangeShapeType="1"/>
          </p:cNvSpPr>
          <p:nvPr/>
        </p:nvSpPr>
        <p:spPr bwMode="auto">
          <a:xfrm>
            <a:off x="2990850" y="2190750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5182" name="Line 174"/>
          <p:cNvSpPr>
            <a:spLocks noChangeShapeType="1"/>
          </p:cNvSpPr>
          <p:nvPr/>
        </p:nvSpPr>
        <p:spPr bwMode="auto">
          <a:xfrm>
            <a:off x="4702175" y="2190750"/>
            <a:ext cx="6858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5183" name="Line 175"/>
          <p:cNvSpPr>
            <a:spLocks noChangeShapeType="1"/>
          </p:cNvSpPr>
          <p:nvPr/>
        </p:nvSpPr>
        <p:spPr bwMode="auto">
          <a:xfrm>
            <a:off x="6343650" y="2190750"/>
            <a:ext cx="762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76"/>
          <p:cNvGrpSpPr>
            <a:grpSpLocks/>
          </p:cNvGrpSpPr>
          <p:nvPr/>
        </p:nvGrpSpPr>
        <p:grpSpPr bwMode="auto">
          <a:xfrm>
            <a:off x="1390650" y="1047750"/>
            <a:ext cx="914400" cy="1066800"/>
            <a:chOff x="960" y="2736"/>
            <a:chExt cx="576" cy="672"/>
          </a:xfrm>
        </p:grpSpPr>
        <p:sp>
          <p:nvSpPr>
            <p:cNvPr id="60470" name="Line 177"/>
            <p:cNvSpPr>
              <a:spLocks noChangeShapeType="1"/>
            </p:cNvSpPr>
            <p:nvPr/>
          </p:nvSpPr>
          <p:spPr bwMode="auto">
            <a:xfrm>
              <a:off x="1200" y="2976"/>
              <a:ext cx="192" cy="43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1" name="Text Box 178"/>
            <p:cNvSpPr txBox="1">
              <a:spLocks noChangeArrowheads="1"/>
            </p:cNvSpPr>
            <p:nvPr/>
          </p:nvSpPr>
          <p:spPr bwMode="auto">
            <a:xfrm>
              <a:off x="960" y="2736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pre</a:t>
              </a:r>
            </a:p>
          </p:txBody>
        </p:sp>
      </p:grpSp>
      <p:grpSp>
        <p:nvGrpSpPr>
          <p:cNvPr id="3" name="Group 179"/>
          <p:cNvGrpSpPr>
            <a:grpSpLocks/>
          </p:cNvGrpSpPr>
          <p:nvPr/>
        </p:nvGrpSpPr>
        <p:grpSpPr bwMode="auto">
          <a:xfrm>
            <a:off x="2914650" y="1047750"/>
            <a:ext cx="914400" cy="1066800"/>
            <a:chOff x="1920" y="2736"/>
            <a:chExt cx="576" cy="672"/>
          </a:xfrm>
        </p:grpSpPr>
        <p:sp>
          <p:nvSpPr>
            <p:cNvPr id="60468" name="Text Box 180"/>
            <p:cNvSpPr txBox="1">
              <a:spLocks noChangeArrowheads="1"/>
            </p:cNvSpPr>
            <p:nvPr/>
          </p:nvSpPr>
          <p:spPr bwMode="auto">
            <a:xfrm>
              <a:off x="1920" y="2736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0469" name="Line 181"/>
            <p:cNvSpPr>
              <a:spLocks noChangeShapeType="1"/>
            </p:cNvSpPr>
            <p:nvPr/>
          </p:nvSpPr>
          <p:spPr bwMode="auto">
            <a:xfrm>
              <a:off x="2208" y="3024"/>
              <a:ext cx="192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5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5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5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5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5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5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5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0" grpId="0"/>
      <p:bldP spid="555090" grpId="0"/>
      <p:bldP spid="55517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137" name="Text Box 105"/>
          <p:cNvSpPr txBox="1">
            <a:spLocks noChangeArrowheads="1"/>
          </p:cNvSpPr>
          <p:nvPr/>
        </p:nvSpPr>
        <p:spPr bwMode="auto">
          <a:xfrm>
            <a:off x="468313" y="3286125"/>
            <a:ext cx="8424862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结点删除。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创建偶数（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～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之间）链表，并删除指定偶数，要求输出创建的链表以及删除后的结果。</a:t>
            </a:r>
            <a:endParaRPr lang="zh-CN" altLang="en-US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6200" name="Group 168">
            <a:extLst>
              <a:ext uri="{FF2B5EF4-FFF2-40B4-BE49-F238E27FC236}">
                <a16:creationId xmlns:a16="http://schemas.microsoft.com/office/drawing/2014/main" id="{7685C8B0-93FE-4EF8-ABB1-7D0B2EB29B9F}"/>
              </a:ext>
            </a:extLst>
          </p:cNvPr>
          <p:cNvGraphicFramePr>
            <a:graphicFrameLocks noGrp="1"/>
          </p:cNvGraphicFramePr>
          <p:nvPr/>
        </p:nvGraphicFramePr>
        <p:xfrm>
          <a:off x="144463" y="1608138"/>
          <a:ext cx="1366837" cy="517525"/>
        </p:xfrm>
        <a:graphic>
          <a:graphicData uri="http://schemas.openxmlformats.org/drawingml/2006/table">
            <a:tbl>
              <a:tblPr/>
              <a:tblGrid>
                <a:gridCol w="684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T="45471" marB="4547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471" marB="4547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202" name="Group 170">
            <a:extLst>
              <a:ext uri="{FF2B5EF4-FFF2-40B4-BE49-F238E27FC236}">
                <a16:creationId xmlns:a16="http://schemas.microsoft.com/office/drawing/2014/main" id="{7F0DAF36-2920-4486-805E-13CA719F8A1D}"/>
              </a:ext>
            </a:extLst>
          </p:cNvPr>
          <p:cNvGraphicFramePr>
            <a:graphicFrameLocks noGrp="1"/>
          </p:cNvGraphicFramePr>
          <p:nvPr/>
        </p:nvGraphicFramePr>
        <p:xfrm>
          <a:off x="1871663" y="1608138"/>
          <a:ext cx="1316037" cy="579437"/>
        </p:xfrm>
        <a:graphic>
          <a:graphicData uri="http://schemas.openxmlformats.org/drawingml/2006/table">
            <a:tbl>
              <a:tblPr/>
              <a:tblGrid>
                <a:gridCol w="65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154" name="Group 122">
            <a:extLst>
              <a:ext uri="{FF2B5EF4-FFF2-40B4-BE49-F238E27FC236}">
                <a16:creationId xmlns:a16="http://schemas.microsoft.com/office/drawing/2014/main" id="{AF2A76D5-5245-42DE-A1EE-EC831638D72A}"/>
              </a:ext>
            </a:extLst>
          </p:cNvPr>
          <p:cNvGraphicFramePr>
            <a:graphicFrameLocks noGrp="1"/>
          </p:cNvGraphicFramePr>
          <p:nvPr/>
        </p:nvGraphicFramePr>
        <p:xfrm>
          <a:off x="3644900" y="1608138"/>
          <a:ext cx="1219200" cy="457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203" name="Group 171">
            <a:extLst>
              <a:ext uri="{FF2B5EF4-FFF2-40B4-BE49-F238E27FC236}">
                <a16:creationId xmlns:a16="http://schemas.microsoft.com/office/drawing/2014/main" id="{86E6FDF7-8547-4741-A028-098899444E92}"/>
              </a:ext>
            </a:extLst>
          </p:cNvPr>
          <p:cNvGraphicFramePr>
            <a:graphicFrameLocks noGrp="1"/>
          </p:cNvGraphicFramePr>
          <p:nvPr/>
        </p:nvGraphicFramePr>
        <p:xfrm>
          <a:off x="5321300" y="1608138"/>
          <a:ext cx="1219200" cy="5794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205" name="Group 173">
            <a:extLst>
              <a:ext uri="{FF2B5EF4-FFF2-40B4-BE49-F238E27FC236}">
                <a16:creationId xmlns:a16="http://schemas.microsoft.com/office/drawing/2014/main" id="{79C5515D-ED9D-4B25-ADFB-49A675EE7F3B}"/>
              </a:ext>
            </a:extLst>
          </p:cNvPr>
          <p:cNvGraphicFramePr>
            <a:graphicFrameLocks noGrp="1"/>
          </p:cNvGraphicFramePr>
          <p:nvPr/>
        </p:nvGraphicFramePr>
        <p:xfrm>
          <a:off x="6697663" y="1608138"/>
          <a:ext cx="2266950" cy="579437"/>
        </p:xfrm>
        <a:graphic>
          <a:graphicData uri="http://schemas.openxmlformats.org/drawingml/2006/table">
            <a:tbl>
              <a:tblPr/>
              <a:tblGrid>
                <a:gridCol w="90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97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6178" name="Text Box 146"/>
          <p:cNvSpPr txBox="1">
            <a:spLocks noChangeArrowheads="1"/>
          </p:cNvSpPr>
          <p:nvPr/>
        </p:nvSpPr>
        <p:spPr bwMode="auto">
          <a:xfrm>
            <a:off x="144463" y="62230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556179" name="Line 147"/>
          <p:cNvSpPr>
            <a:spLocks noChangeShapeType="1"/>
          </p:cNvSpPr>
          <p:nvPr/>
        </p:nvSpPr>
        <p:spPr bwMode="auto">
          <a:xfrm>
            <a:off x="673100" y="1150938"/>
            <a:ext cx="0" cy="45720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6180" name="Line 148"/>
          <p:cNvSpPr>
            <a:spLocks noChangeShapeType="1"/>
          </p:cNvSpPr>
          <p:nvPr/>
        </p:nvSpPr>
        <p:spPr bwMode="auto">
          <a:xfrm>
            <a:off x="1116013" y="1836738"/>
            <a:ext cx="7620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6181" name="Line 149"/>
          <p:cNvSpPr>
            <a:spLocks noChangeShapeType="1"/>
          </p:cNvSpPr>
          <p:nvPr/>
        </p:nvSpPr>
        <p:spPr bwMode="auto">
          <a:xfrm>
            <a:off x="2882900" y="1836738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6182" name="Line 150"/>
          <p:cNvSpPr>
            <a:spLocks noChangeShapeType="1"/>
          </p:cNvSpPr>
          <p:nvPr/>
        </p:nvSpPr>
        <p:spPr bwMode="auto">
          <a:xfrm>
            <a:off x="4594225" y="1836738"/>
            <a:ext cx="685800" cy="0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6183" name="Line 151"/>
          <p:cNvSpPr>
            <a:spLocks noChangeShapeType="1"/>
          </p:cNvSpPr>
          <p:nvPr/>
        </p:nvSpPr>
        <p:spPr bwMode="auto">
          <a:xfrm flipV="1">
            <a:off x="6156325" y="1836738"/>
            <a:ext cx="546100" cy="9525"/>
          </a:xfrm>
          <a:prstGeom prst="line">
            <a:avLst/>
          </a:prstGeom>
          <a:noFill/>
          <a:ln w="38100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52"/>
          <p:cNvGrpSpPr>
            <a:grpSpLocks/>
          </p:cNvGrpSpPr>
          <p:nvPr/>
        </p:nvGrpSpPr>
        <p:grpSpPr bwMode="auto">
          <a:xfrm>
            <a:off x="1282700" y="333375"/>
            <a:ext cx="914400" cy="1355725"/>
            <a:chOff x="960" y="2736"/>
            <a:chExt cx="576" cy="672"/>
          </a:xfrm>
        </p:grpSpPr>
        <p:sp>
          <p:nvSpPr>
            <p:cNvPr id="61502" name="Line 153"/>
            <p:cNvSpPr>
              <a:spLocks noChangeShapeType="1"/>
            </p:cNvSpPr>
            <p:nvPr/>
          </p:nvSpPr>
          <p:spPr bwMode="auto">
            <a:xfrm>
              <a:off x="1200" y="2976"/>
              <a:ext cx="192" cy="43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3" name="Text Box 154"/>
            <p:cNvSpPr txBox="1">
              <a:spLocks noChangeArrowheads="1"/>
            </p:cNvSpPr>
            <p:nvPr/>
          </p:nvSpPr>
          <p:spPr bwMode="auto">
            <a:xfrm>
              <a:off x="960" y="2736"/>
              <a:ext cx="57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pre</a:t>
              </a:r>
            </a:p>
          </p:txBody>
        </p:sp>
      </p:grpSp>
      <p:grpSp>
        <p:nvGrpSpPr>
          <p:cNvPr id="3" name="Group 155"/>
          <p:cNvGrpSpPr>
            <a:grpSpLocks/>
          </p:cNvGrpSpPr>
          <p:nvPr/>
        </p:nvGrpSpPr>
        <p:grpSpPr bwMode="auto">
          <a:xfrm>
            <a:off x="2806700" y="333375"/>
            <a:ext cx="914400" cy="1355725"/>
            <a:chOff x="1920" y="2736"/>
            <a:chExt cx="576" cy="672"/>
          </a:xfrm>
        </p:grpSpPr>
        <p:sp>
          <p:nvSpPr>
            <p:cNvPr id="61500" name="Text Box 156"/>
            <p:cNvSpPr txBox="1">
              <a:spLocks noChangeArrowheads="1"/>
            </p:cNvSpPr>
            <p:nvPr/>
          </p:nvSpPr>
          <p:spPr bwMode="auto">
            <a:xfrm>
              <a:off x="1920" y="2736"/>
              <a:ext cx="57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1501" name="Line 157"/>
            <p:cNvSpPr>
              <a:spLocks noChangeShapeType="1"/>
            </p:cNvSpPr>
            <p:nvPr/>
          </p:nvSpPr>
          <p:spPr bwMode="auto">
            <a:xfrm>
              <a:off x="2208" y="3024"/>
              <a:ext cx="192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8"/>
          <p:cNvGrpSpPr>
            <a:grpSpLocks/>
          </p:cNvGrpSpPr>
          <p:nvPr/>
        </p:nvGrpSpPr>
        <p:grpSpPr bwMode="auto">
          <a:xfrm>
            <a:off x="2882900" y="1836738"/>
            <a:ext cx="2403475" cy="609600"/>
            <a:chOff x="1968" y="3456"/>
            <a:chExt cx="1514" cy="384"/>
          </a:xfrm>
        </p:grpSpPr>
        <p:sp>
          <p:nvSpPr>
            <p:cNvPr id="61495" name="Line 159"/>
            <p:cNvSpPr>
              <a:spLocks noChangeShapeType="1"/>
            </p:cNvSpPr>
            <p:nvPr/>
          </p:nvSpPr>
          <p:spPr bwMode="auto">
            <a:xfrm>
              <a:off x="1968" y="3456"/>
              <a:ext cx="288" cy="0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6" name="Line 160"/>
            <p:cNvSpPr>
              <a:spLocks noChangeShapeType="1"/>
            </p:cNvSpPr>
            <p:nvPr/>
          </p:nvSpPr>
          <p:spPr bwMode="auto">
            <a:xfrm>
              <a:off x="2256" y="3456"/>
              <a:ext cx="0" cy="384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7" name="Line 161"/>
            <p:cNvSpPr>
              <a:spLocks noChangeShapeType="1"/>
            </p:cNvSpPr>
            <p:nvPr/>
          </p:nvSpPr>
          <p:spPr bwMode="auto">
            <a:xfrm>
              <a:off x="2256" y="3829"/>
              <a:ext cx="1056" cy="0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8" name="Line 162"/>
            <p:cNvSpPr>
              <a:spLocks noChangeShapeType="1"/>
            </p:cNvSpPr>
            <p:nvPr/>
          </p:nvSpPr>
          <p:spPr bwMode="auto">
            <a:xfrm flipV="1">
              <a:off x="3301" y="3552"/>
              <a:ext cx="0" cy="288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9" name="Line 163"/>
            <p:cNvSpPr>
              <a:spLocks noChangeShapeType="1"/>
            </p:cNvSpPr>
            <p:nvPr/>
          </p:nvSpPr>
          <p:spPr bwMode="auto">
            <a:xfrm>
              <a:off x="3290" y="3552"/>
              <a:ext cx="192" cy="0"/>
            </a:xfrm>
            <a:prstGeom prst="line">
              <a:avLst/>
            </a:prstGeom>
            <a:noFill/>
            <a:ln w="38100">
              <a:solidFill>
                <a:srgbClr val="00040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6196" name="Rectangle 164"/>
          <p:cNvSpPr>
            <a:spLocks noChangeArrowheads="1"/>
          </p:cNvSpPr>
          <p:nvPr/>
        </p:nvSpPr>
        <p:spPr bwMode="auto">
          <a:xfrm>
            <a:off x="3394075" y="1150938"/>
            <a:ext cx="1524000" cy="1219200"/>
          </a:xfrm>
          <a:prstGeom prst="rect">
            <a:avLst/>
          </a:prstGeom>
          <a:solidFill>
            <a:srgbClr val="000000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56197" name="Text Box 165"/>
          <p:cNvSpPr txBox="1">
            <a:spLocks noChangeArrowheads="1"/>
          </p:cNvSpPr>
          <p:nvPr/>
        </p:nvSpPr>
        <p:spPr bwMode="auto">
          <a:xfrm>
            <a:off x="611188" y="2778125"/>
            <a:ext cx="51133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pre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&gt;next=p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&gt;next;</a:t>
            </a:r>
          </a:p>
        </p:txBody>
      </p:sp>
      <p:sp>
        <p:nvSpPr>
          <p:cNvPr id="556198" name="Text Box 166"/>
          <p:cNvSpPr txBox="1">
            <a:spLocks noChangeArrowheads="1"/>
          </p:cNvSpPr>
          <p:nvPr/>
        </p:nvSpPr>
        <p:spPr bwMode="auto">
          <a:xfrm>
            <a:off x="5364163" y="2771775"/>
            <a:ext cx="22367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free(p);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6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5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5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5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5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5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5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56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561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5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56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56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178" grpId="0"/>
      <p:bldP spid="556196" grpId="0" animBg="1"/>
      <p:bldP spid="556197" grpId="0" build="p" autoUpdateAnimBg="0"/>
      <p:bldP spid="556198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Text Box 2"/>
          <p:cNvSpPr txBox="1">
            <a:spLocks noChangeArrowheads="1"/>
          </p:cNvSpPr>
          <p:nvPr/>
        </p:nvSpPr>
        <p:spPr bwMode="auto">
          <a:xfrm>
            <a:off x="685800" y="188913"/>
            <a:ext cx="76962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结点的插入</a:t>
            </a:r>
          </a:p>
        </p:txBody>
      </p:sp>
      <p:graphicFrame>
        <p:nvGraphicFramePr>
          <p:cNvPr id="968769" name="Group 65">
            <a:extLst>
              <a:ext uri="{FF2B5EF4-FFF2-40B4-BE49-F238E27FC236}">
                <a16:creationId xmlns:a16="http://schemas.microsoft.com/office/drawing/2014/main" id="{BD139C16-D064-42FC-9D7A-22BC58F3651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5275263"/>
          <a:ext cx="1066800" cy="579437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8770" name="Group 66">
            <a:extLst>
              <a:ext uri="{FF2B5EF4-FFF2-40B4-BE49-F238E27FC236}">
                <a16:creationId xmlns:a16="http://schemas.microsoft.com/office/drawing/2014/main" id="{EA7FB996-2867-496A-B6DE-21476E878601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5275263"/>
          <a:ext cx="1143000" cy="579437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&gt;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8771" name="Group 67">
            <a:extLst>
              <a:ext uri="{FF2B5EF4-FFF2-40B4-BE49-F238E27FC236}">
                <a16:creationId xmlns:a16="http://schemas.microsoft.com/office/drawing/2014/main" id="{FEE5FE41-ADB9-4F93-B2F6-A1A39B5E9286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5275263"/>
          <a:ext cx="1219200" cy="57943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=</a:t>
                      </a: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8772" name="Group 68">
            <a:extLst>
              <a:ext uri="{FF2B5EF4-FFF2-40B4-BE49-F238E27FC236}">
                <a16:creationId xmlns:a16="http://schemas.microsoft.com/office/drawing/2014/main" id="{D0309E01-6D3B-42A7-82E0-BF90A1521834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5275263"/>
          <a:ext cx="1066800" cy="579437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?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68773" name="Group 69">
            <a:extLst>
              <a:ext uri="{FF2B5EF4-FFF2-40B4-BE49-F238E27FC236}">
                <a16:creationId xmlns:a16="http://schemas.microsoft.com/office/drawing/2014/main" id="{417CDC08-C2BC-4008-91D2-D6DBD6045206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5275263"/>
          <a:ext cx="1752600" cy="579437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&amp;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NULL</a:t>
                      </a: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8747" name="Text Box 43"/>
          <p:cNvSpPr txBox="1">
            <a:spLocks noChangeArrowheads="1"/>
          </p:cNvSpPr>
          <p:nvPr/>
        </p:nvSpPr>
        <p:spPr bwMode="auto">
          <a:xfrm>
            <a:off x="179388" y="4292600"/>
            <a:ext cx="15224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968748" name="Line 44"/>
          <p:cNvSpPr>
            <a:spLocks noChangeShapeType="1"/>
          </p:cNvSpPr>
          <p:nvPr/>
        </p:nvSpPr>
        <p:spPr bwMode="auto">
          <a:xfrm>
            <a:off x="914400" y="4818063"/>
            <a:ext cx="0" cy="457200"/>
          </a:xfrm>
          <a:prstGeom prst="line">
            <a:avLst/>
          </a:prstGeom>
          <a:noFill/>
          <a:ln w="412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8749" name="Line 45"/>
          <p:cNvSpPr>
            <a:spLocks noChangeShapeType="1"/>
          </p:cNvSpPr>
          <p:nvPr/>
        </p:nvSpPr>
        <p:spPr bwMode="auto">
          <a:xfrm>
            <a:off x="1506538" y="5503863"/>
            <a:ext cx="762000" cy="0"/>
          </a:xfrm>
          <a:prstGeom prst="line">
            <a:avLst/>
          </a:prstGeom>
          <a:noFill/>
          <a:ln w="412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8750" name="Line 46"/>
          <p:cNvSpPr>
            <a:spLocks noChangeShapeType="1"/>
          </p:cNvSpPr>
          <p:nvPr/>
        </p:nvSpPr>
        <p:spPr bwMode="auto">
          <a:xfrm>
            <a:off x="3124200" y="5503863"/>
            <a:ext cx="762000" cy="0"/>
          </a:xfrm>
          <a:prstGeom prst="line">
            <a:avLst/>
          </a:prstGeom>
          <a:noFill/>
          <a:ln w="412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8751" name="Line 47"/>
          <p:cNvSpPr>
            <a:spLocks noChangeShapeType="1"/>
          </p:cNvSpPr>
          <p:nvPr/>
        </p:nvSpPr>
        <p:spPr bwMode="auto">
          <a:xfrm>
            <a:off x="4835525" y="5503863"/>
            <a:ext cx="685800" cy="0"/>
          </a:xfrm>
          <a:prstGeom prst="line">
            <a:avLst/>
          </a:prstGeom>
          <a:noFill/>
          <a:ln w="41275">
            <a:solidFill>
              <a:srgbClr val="0033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3081338" y="4221163"/>
            <a:ext cx="914400" cy="1282700"/>
            <a:chOff x="1920" y="2736"/>
            <a:chExt cx="576" cy="672"/>
          </a:xfrm>
        </p:grpSpPr>
        <p:sp>
          <p:nvSpPr>
            <p:cNvPr id="62525" name="Text Box 49"/>
            <p:cNvSpPr txBox="1">
              <a:spLocks noChangeArrowheads="1"/>
            </p:cNvSpPr>
            <p:nvPr/>
          </p:nvSpPr>
          <p:spPr bwMode="auto">
            <a:xfrm>
              <a:off x="1920" y="2736"/>
              <a:ext cx="576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2526" name="Line 50"/>
            <p:cNvSpPr>
              <a:spLocks noChangeShapeType="1"/>
            </p:cNvSpPr>
            <p:nvPr/>
          </p:nvSpPr>
          <p:spPr bwMode="auto">
            <a:xfrm>
              <a:off x="2208" y="3024"/>
              <a:ext cx="192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68755" name="Text Box 51"/>
          <p:cNvSpPr txBox="1">
            <a:spLocks noChangeArrowheads="1"/>
          </p:cNvSpPr>
          <p:nvPr/>
        </p:nvSpPr>
        <p:spPr bwMode="auto">
          <a:xfrm>
            <a:off x="6629400" y="527526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68756" name="Text Box 52"/>
          <p:cNvSpPr txBox="1">
            <a:spLocks noChangeArrowheads="1"/>
          </p:cNvSpPr>
          <p:nvPr/>
        </p:nvSpPr>
        <p:spPr bwMode="auto">
          <a:xfrm>
            <a:off x="2051050" y="3532188"/>
            <a:ext cx="1851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insert</a:t>
            </a:r>
          </a:p>
        </p:txBody>
      </p:sp>
      <p:graphicFrame>
        <p:nvGraphicFramePr>
          <p:cNvPr id="968768" name="Group 64">
            <a:extLst>
              <a:ext uri="{FF2B5EF4-FFF2-40B4-BE49-F238E27FC236}">
                <a16:creationId xmlns:a16="http://schemas.microsoft.com/office/drawing/2014/main" id="{EB4D41F2-1DEF-4EDD-AF97-99B580D98E14}"/>
              </a:ext>
            </a:extLst>
          </p:cNvPr>
          <p:cNvGraphicFramePr>
            <a:graphicFrameLocks noGrp="1"/>
          </p:cNvGraphicFramePr>
          <p:nvPr/>
        </p:nvGraphicFramePr>
        <p:xfrm>
          <a:off x="4787900" y="3578225"/>
          <a:ext cx="1619250" cy="579438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*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8765" name="Line 61"/>
          <p:cNvSpPr>
            <a:spLocks noChangeShapeType="1"/>
          </p:cNvSpPr>
          <p:nvPr/>
        </p:nvSpPr>
        <p:spPr bwMode="auto">
          <a:xfrm>
            <a:off x="3563938" y="3860800"/>
            <a:ext cx="1249362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8766" name="Text Box 62"/>
          <p:cNvSpPr txBox="1">
            <a:spLocks noChangeArrowheads="1"/>
          </p:cNvSpPr>
          <p:nvPr/>
        </p:nvSpPr>
        <p:spPr bwMode="auto">
          <a:xfrm>
            <a:off x="468313" y="908050"/>
            <a:ext cx="8278812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将下图中的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insert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指针指向的结点插入到头指针为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head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的链表中，且指针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已经指向插入点。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68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6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6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6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6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6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6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68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6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6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6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68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96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8706" grpId="0"/>
      <p:bldP spid="968747" grpId="0"/>
      <p:bldP spid="968755" grpId="0"/>
      <p:bldP spid="968756" grpId="0"/>
      <p:bldP spid="96876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Text Box 2"/>
          <p:cNvSpPr txBox="1">
            <a:spLocks noChangeArrowheads="1"/>
          </p:cNvSpPr>
          <p:nvPr/>
        </p:nvSpPr>
        <p:spPr bwMode="auto">
          <a:xfrm>
            <a:off x="685800" y="260350"/>
            <a:ext cx="76962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）在已知结点之后插入</a:t>
            </a:r>
          </a:p>
        </p:txBody>
      </p:sp>
      <p:graphicFrame>
        <p:nvGraphicFramePr>
          <p:cNvPr id="557128" name="Group 72">
            <a:extLst>
              <a:ext uri="{FF2B5EF4-FFF2-40B4-BE49-F238E27FC236}">
                <a16:creationId xmlns:a16="http://schemas.microsoft.com/office/drawing/2014/main" id="{0EE6AB79-F57A-4B02-BC8C-9F76823BA34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3441700"/>
          <a:ext cx="1066800" cy="5794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129" name="Group 73">
            <a:extLst>
              <a:ext uri="{FF2B5EF4-FFF2-40B4-BE49-F238E27FC236}">
                <a16:creationId xmlns:a16="http://schemas.microsoft.com/office/drawing/2014/main" id="{31F629F0-1EA2-4B50-BE47-313569104430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3441700"/>
          <a:ext cx="1143000" cy="579438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&gt;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130" name="Group 74">
            <a:extLst>
              <a:ext uri="{FF2B5EF4-FFF2-40B4-BE49-F238E27FC236}">
                <a16:creationId xmlns:a16="http://schemas.microsoft.com/office/drawing/2014/main" id="{A89DF60C-84F3-4DE6-B477-D254B9E1537C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3441700"/>
          <a:ext cx="1219200" cy="5794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=</a:t>
                      </a: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131" name="Group 75">
            <a:extLst>
              <a:ext uri="{FF2B5EF4-FFF2-40B4-BE49-F238E27FC236}">
                <a16:creationId xmlns:a16="http://schemas.microsoft.com/office/drawing/2014/main" id="{6728645E-D890-435F-8F7B-CB3330A7F263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3441700"/>
          <a:ext cx="1066800" cy="5794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?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132" name="Group 76">
            <a:extLst>
              <a:ext uri="{FF2B5EF4-FFF2-40B4-BE49-F238E27FC236}">
                <a16:creationId xmlns:a16="http://schemas.microsoft.com/office/drawing/2014/main" id="{1C5858F2-40A8-46A0-987D-BE500FA06C4B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3441700"/>
          <a:ext cx="1752600" cy="579438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&amp;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NULL</a:t>
                      </a: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7099" name="Text Box 43"/>
          <p:cNvSpPr txBox="1">
            <a:spLocks noChangeArrowheads="1"/>
          </p:cNvSpPr>
          <p:nvPr/>
        </p:nvSpPr>
        <p:spPr bwMode="auto">
          <a:xfrm>
            <a:off x="323850" y="2527300"/>
            <a:ext cx="123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557100" name="Line 44"/>
          <p:cNvSpPr>
            <a:spLocks noChangeShapeType="1"/>
          </p:cNvSpPr>
          <p:nvPr/>
        </p:nvSpPr>
        <p:spPr bwMode="auto">
          <a:xfrm>
            <a:off x="914400" y="2984500"/>
            <a:ext cx="0" cy="45720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101" name="Line 45"/>
          <p:cNvSpPr>
            <a:spLocks noChangeShapeType="1"/>
          </p:cNvSpPr>
          <p:nvPr/>
        </p:nvSpPr>
        <p:spPr bwMode="auto">
          <a:xfrm>
            <a:off x="1506538" y="3670300"/>
            <a:ext cx="7620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102" name="Line 46"/>
          <p:cNvSpPr>
            <a:spLocks noChangeShapeType="1"/>
          </p:cNvSpPr>
          <p:nvPr/>
        </p:nvSpPr>
        <p:spPr bwMode="auto">
          <a:xfrm>
            <a:off x="3124200" y="3670300"/>
            <a:ext cx="7620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103" name="Line 47"/>
          <p:cNvSpPr>
            <a:spLocks noChangeShapeType="1"/>
          </p:cNvSpPr>
          <p:nvPr/>
        </p:nvSpPr>
        <p:spPr bwMode="auto">
          <a:xfrm>
            <a:off x="4835525" y="3670300"/>
            <a:ext cx="685800" cy="0"/>
          </a:xfrm>
          <a:prstGeom prst="line">
            <a:avLst/>
          </a:prstGeom>
          <a:noFill/>
          <a:ln w="38100">
            <a:solidFill>
              <a:srgbClr val="1DA1E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3048000" y="2276475"/>
            <a:ext cx="914400" cy="1317625"/>
            <a:chOff x="1920" y="2736"/>
            <a:chExt cx="576" cy="672"/>
          </a:xfrm>
        </p:grpSpPr>
        <p:sp>
          <p:nvSpPr>
            <p:cNvPr id="63556" name="Text Box 49"/>
            <p:cNvSpPr txBox="1">
              <a:spLocks noChangeArrowheads="1"/>
            </p:cNvSpPr>
            <p:nvPr/>
          </p:nvSpPr>
          <p:spPr bwMode="auto">
            <a:xfrm>
              <a:off x="1920" y="2736"/>
              <a:ext cx="576" cy="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>
                  <a:solidFill>
                    <a:srgbClr val="000404"/>
                  </a:solidFill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63557" name="Line 50"/>
            <p:cNvSpPr>
              <a:spLocks noChangeShapeType="1"/>
            </p:cNvSpPr>
            <p:nvPr/>
          </p:nvSpPr>
          <p:spPr bwMode="auto">
            <a:xfrm>
              <a:off x="2208" y="3024"/>
              <a:ext cx="192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7107" name="Text Box 51"/>
          <p:cNvSpPr txBox="1">
            <a:spLocks noChangeArrowheads="1"/>
          </p:cNvSpPr>
          <p:nvPr/>
        </p:nvSpPr>
        <p:spPr bwMode="auto">
          <a:xfrm>
            <a:off x="6629400" y="34417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57108" name="Text Box 52"/>
          <p:cNvSpPr txBox="1">
            <a:spLocks noChangeArrowheads="1"/>
          </p:cNvSpPr>
          <p:nvPr/>
        </p:nvSpPr>
        <p:spPr bwMode="auto">
          <a:xfrm>
            <a:off x="2916238" y="1196975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insert</a:t>
            </a:r>
          </a:p>
        </p:txBody>
      </p:sp>
      <p:graphicFrame>
        <p:nvGraphicFramePr>
          <p:cNvPr id="557109" name="Group 53">
            <a:extLst>
              <a:ext uri="{FF2B5EF4-FFF2-40B4-BE49-F238E27FC236}">
                <a16:creationId xmlns:a16="http://schemas.microsoft.com/office/drawing/2014/main" id="{EAA23F72-A03C-4D51-9824-2DFB9B6A6188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1401763"/>
          <a:ext cx="1066800" cy="457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7117" name="Line 61"/>
          <p:cNvSpPr>
            <a:spLocks noChangeShapeType="1"/>
          </p:cNvSpPr>
          <p:nvPr/>
        </p:nvSpPr>
        <p:spPr bwMode="auto">
          <a:xfrm>
            <a:off x="4114800" y="1536700"/>
            <a:ext cx="10668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65"/>
          <p:cNvGrpSpPr>
            <a:grpSpLocks/>
          </p:cNvGrpSpPr>
          <p:nvPr/>
        </p:nvGrpSpPr>
        <p:grpSpPr bwMode="auto">
          <a:xfrm>
            <a:off x="4824413" y="1689100"/>
            <a:ext cx="457200" cy="2057400"/>
            <a:chOff x="3039" y="1248"/>
            <a:chExt cx="288" cy="1440"/>
          </a:xfrm>
        </p:grpSpPr>
        <p:sp>
          <p:nvSpPr>
            <p:cNvPr id="63554" name="Line 63"/>
            <p:cNvSpPr>
              <a:spLocks noChangeShapeType="1"/>
            </p:cNvSpPr>
            <p:nvPr/>
          </p:nvSpPr>
          <p:spPr bwMode="auto">
            <a:xfrm flipV="1">
              <a:off x="3050" y="1248"/>
              <a:ext cx="0" cy="144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55" name="Line 64"/>
            <p:cNvSpPr>
              <a:spLocks noChangeShapeType="1"/>
            </p:cNvSpPr>
            <p:nvPr/>
          </p:nvSpPr>
          <p:spPr bwMode="auto">
            <a:xfrm>
              <a:off x="3039" y="1248"/>
              <a:ext cx="288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7123" name="Line 67"/>
          <p:cNvSpPr>
            <a:spLocks noChangeShapeType="1"/>
          </p:cNvSpPr>
          <p:nvPr/>
        </p:nvSpPr>
        <p:spPr bwMode="auto">
          <a:xfrm flipH="1">
            <a:off x="5867400" y="1612900"/>
            <a:ext cx="381000" cy="1828800"/>
          </a:xfrm>
          <a:prstGeom prst="line">
            <a:avLst/>
          </a:prstGeom>
          <a:noFill/>
          <a:ln w="38100">
            <a:solidFill>
              <a:srgbClr val="99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7124" name="Text Box 68"/>
          <p:cNvSpPr txBox="1">
            <a:spLocks noChangeArrowheads="1"/>
          </p:cNvSpPr>
          <p:nvPr/>
        </p:nvSpPr>
        <p:spPr bwMode="auto">
          <a:xfrm>
            <a:off x="1981200" y="5010150"/>
            <a:ext cx="34591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&gt;next=insert;</a:t>
            </a:r>
          </a:p>
        </p:txBody>
      </p:sp>
      <p:sp>
        <p:nvSpPr>
          <p:cNvPr id="557125" name="Text Box 69"/>
          <p:cNvSpPr txBox="1">
            <a:spLocks noChangeArrowheads="1"/>
          </p:cNvSpPr>
          <p:nvPr/>
        </p:nvSpPr>
        <p:spPr bwMode="auto">
          <a:xfrm>
            <a:off x="4865688" y="3406775"/>
            <a:ext cx="661987" cy="5191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800" b="0">
              <a:latin typeface="Times New Roman" panose="02020603050405020304" pitchFamily="18" charset="0"/>
            </a:endParaRPr>
          </a:p>
        </p:txBody>
      </p:sp>
      <p:sp>
        <p:nvSpPr>
          <p:cNvPr id="557126" name="Rectangle 70"/>
          <p:cNvSpPr>
            <a:spLocks noChangeArrowheads="1"/>
          </p:cNvSpPr>
          <p:nvPr/>
        </p:nvSpPr>
        <p:spPr bwMode="auto">
          <a:xfrm>
            <a:off x="1981200" y="4362450"/>
            <a:ext cx="4891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insert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&gt;next=p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&gt;next;</a:t>
            </a:r>
          </a:p>
        </p:txBody>
      </p:sp>
      <p:sp>
        <p:nvSpPr>
          <p:cNvPr id="557127" name="Text Box 71"/>
          <p:cNvSpPr txBox="1">
            <a:spLocks noChangeArrowheads="1"/>
          </p:cNvSpPr>
          <p:nvPr/>
        </p:nvSpPr>
        <p:spPr bwMode="auto">
          <a:xfrm>
            <a:off x="762000" y="5657850"/>
            <a:ext cx="7935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思考：上述两个拉链语句的次序能颠倒吗？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5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5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7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5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5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57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57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5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57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57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5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5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57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57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55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57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8" grpId="0"/>
      <p:bldP spid="557099" grpId="0"/>
      <p:bldP spid="557107" grpId="0"/>
      <p:bldP spid="557108" grpId="0"/>
      <p:bldP spid="557124" grpId="0" build="p" autoUpdateAnimBg="0"/>
      <p:bldP spid="557125" grpId="0" animBg="1" autoUpdateAnimBg="0"/>
      <p:bldP spid="557126" grpId="0" build="p" autoUpdateAnimBg="0"/>
      <p:bldP spid="557127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Text Box 2"/>
          <p:cNvSpPr txBox="1">
            <a:spLocks noChangeArrowheads="1"/>
          </p:cNvSpPr>
          <p:nvPr/>
        </p:nvSpPr>
        <p:spPr bwMode="auto">
          <a:xfrm>
            <a:off x="539750" y="115888"/>
            <a:ext cx="7696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）在已知结点之前插入</a:t>
            </a:r>
          </a:p>
        </p:txBody>
      </p:sp>
      <p:graphicFrame>
        <p:nvGraphicFramePr>
          <p:cNvPr id="558167" name="Group 87">
            <a:extLst>
              <a:ext uri="{FF2B5EF4-FFF2-40B4-BE49-F238E27FC236}">
                <a16:creationId xmlns:a16="http://schemas.microsoft.com/office/drawing/2014/main" id="{7669E734-F369-475A-B323-B46C0022BDC1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644775"/>
          <a:ext cx="1066800" cy="5794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+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8168" name="Group 88">
            <a:extLst>
              <a:ext uri="{FF2B5EF4-FFF2-40B4-BE49-F238E27FC236}">
                <a16:creationId xmlns:a16="http://schemas.microsoft.com/office/drawing/2014/main" id="{0E23703E-E406-43CF-A581-1A832539AF17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2644775"/>
          <a:ext cx="1143000" cy="579438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&gt;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8169" name="Group 89">
            <a:extLst>
              <a:ext uri="{FF2B5EF4-FFF2-40B4-BE49-F238E27FC236}">
                <a16:creationId xmlns:a16="http://schemas.microsoft.com/office/drawing/2014/main" id="{206C997D-0B94-46E4-95E8-D8C27725DB79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2644775"/>
          <a:ext cx="1219200" cy="579438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=</a:t>
                      </a: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8170" name="Group 90">
            <a:extLst>
              <a:ext uri="{FF2B5EF4-FFF2-40B4-BE49-F238E27FC236}">
                <a16:creationId xmlns:a16="http://schemas.microsoft.com/office/drawing/2014/main" id="{0940D944-BD90-42DE-91F2-7D4FAAF57939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2644775"/>
          <a:ext cx="1066800" cy="579438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?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404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8171" name="Group 91">
            <a:extLst>
              <a:ext uri="{FF2B5EF4-FFF2-40B4-BE49-F238E27FC236}">
                <a16:creationId xmlns:a16="http://schemas.microsoft.com/office/drawing/2014/main" id="{2B44B28E-0EC4-4B04-979B-6DD7C7248C39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2644775"/>
          <a:ext cx="1752600" cy="579438"/>
        </p:xfrm>
        <a:graphic>
          <a:graphicData uri="http://schemas.openxmlformats.org/drawingml/2006/table">
            <a:tbl>
              <a:tblPr/>
              <a:tblGrid>
                <a:gridCol w="70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&amp;</a:t>
                      </a: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NULL</a:t>
                      </a:r>
                    </a:p>
                  </a:txBody>
                  <a:tcPr marT="45745" marB="4574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8123" name="Text Box 43"/>
          <p:cNvSpPr txBox="1">
            <a:spLocks noChangeArrowheads="1"/>
          </p:cNvSpPr>
          <p:nvPr/>
        </p:nvSpPr>
        <p:spPr bwMode="auto">
          <a:xfrm>
            <a:off x="312738" y="1657350"/>
            <a:ext cx="123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head</a:t>
            </a:r>
          </a:p>
        </p:txBody>
      </p:sp>
      <p:sp>
        <p:nvSpPr>
          <p:cNvPr id="558124" name="Line 44"/>
          <p:cNvSpPr>
            <a:spLocks noChangeShapeType="1"/>
          </p:cNvSpPr>
          <p:nvPr/>
        </p:nvSpPr>
        <p:spPr bwMode="auto">
          <a:xfrm>
            <a:off x="914400" y="2187575"/>
            <a:ext cx="0" cy="45720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25" name="Line 45"/>
          <p:cNvSpPr>
            <a:spLocks noChangeShapeType="1"/>
          </p:cNvSpPr>
          <p:nvPr/>
        </p:nvSpPr>
        <p:spPr bwMode="auto">
          <a:xfrm>
            <a:off x="1506538" y="2873375"/>
            <a:ext cx="7620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26" name="Line 46"/>
          <p:cNvSpPr>
            <a:spLocks noChangeShapeType="1"/>
          </p:cNvSpPr>
          <p:nvPr/>
        </p:nvSpPr>
        <p:spPr bwMode="auto">
          <a:xfrm>
            <a:off x="3124200" y="2914650"/>
            <a:ext cx="762000" cy="0"/>
          </a:xfrm>
          <a:prstGeom prst="line">
            <a:avLst/>
          </a:prstGeom>
          <a:noFill/>
          <a:ln w="38100">
            <a:solidFill>
              <a:srgbClr val="1DA1E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27" name="Line 47"/>
          <p:cNvSpPr>
            <a:spLocks noChangeShapeType="1"/>
          </p:cNvSpPr>
          <p:nvPr/>
        </p:nvSpPr>
        <p:spPr bwMode="auto">
          <a:xfrm>
            <a:off x="4835525" y="2873375"/>
            <a:ext cx="685800" cy="0"/>
          </a:xfrm>
          <a:prstGeom prst="line">
            <a:avLst/>
          </a:prstGeom>
          <a:noFill/>
          <a:ln w="3810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31" name="Text Box 51"/>
          <p:cNvSpPr txBox="1">
            <a:spLocks noChangeArrowheads="1"/>
          </p:cNvSpPr>
          <p:nvPr/>
        </p:nvSpPr>
        <p:spPr bwMode="auto">
          <a:xfrm>
            <a:off x="6629400" y="26447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58132" name="Text Box 52"/>
          <p:cNvSpPr txBox="1">
            <a:spLocks noChangeArrowheads="1"/>
          </p:cNvSpPr>
          <p:nvPr/>
        </p:nvSpPr>
        <p:spPr bwMode="auto">
          <a:xfrm>
            <a:off x="2484438" y="981075"/>
            <a:ext cx="121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insert</a:t>
            </a:r>
          </a:p>
        </p:txBody>
      </p:sp>
      <p:graphicFrame>
        <p:nvGraphicFramePr>
          <p:cNvPr id="558133" name="Group 53">
            <a:extLst>
              <a:ext uri="{FF2B5EF4-FFF2-40B4-BE49-F238E27FC236}">
                <a16:creationId xmlns:a16="http://schemas.microsoft.com/office/drawing/2014/main" id="{00AC467D-8B1A-4F6A-9E4A-E0CC7FE155C1}"/>
              </a:ext>
            </a:extLst>
          </p:cNvPr>
          <p:cNvGraphicFramePr>
            <a:graphicFrameLocks noGrp="1"/>
          </p:cNvGraphicFramePr>
          <p:nvPr/>
        </p:nvGraphicFramePr>
        <p:xfrm>
          <a:off x="5029200" y="1138238"/>
          <a:ext cx="1066800" cy="4572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404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8141" name="Line 61"/>
          <p:cNvSpPr>
            <a:spLocks noChangeShapeType="1"/>
          </p:cNvSpPr>
          <p:nvPr/>
        </p:nvSpPr>
        <p:spPr bwMode="auto">
          <a:xfrm>
            <a:off x="3733800" y="1273175"/>
            <a:ext cx="1066800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46" name="Text Box 66"/>
          <p:cNvSpPr txBox="1">
            <a:spLocks noChangeArrowheads="1"/>
          </p:cNvSpPr>
          <p:nvPr/>
        </p:nvSpPr>
        <p:spPr bwMode="auto">
          <a:xfrm>
            <a:off x="4813300" y="4292600"/>
            <a:ext cx="3359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zh-CN" altLang="en-US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&gt;next=p;</a:t>
            </a:r>
          </a:p>
        </p:txBody>
      </p:sp>
      <p:sp>
        <p:nvSpPr>
          <p:cNvPr id="558147" name="Text Box 67"/>
          <p:cNvSpPr txBox="1">
            <a:spLocks noChangeArrowheads="1"/>
          </p:cNvSpPr>
          <p:nvPr/>
        </p:nvSpPr>
        <p:spPr bwMode="auto">
          <a:xfrm>
            <a:off x="1295400" y="3670300"/>
            <a:ext cx="914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pre</a:t>
            </a:r>
          </a:p>
        </p:txBody>
      </p:sp>
      <p:sp>
        <p:nvSpPr>
          <p:cNvPr id="558148" name="Line 68"/>
          <p:cNvSpPr>
            <a:spLocks noChangeShapeType="1"/>
          </p:cNvSpPr>
          <p:nvPr/>
        </p:nvSpPr>
        <p:spPr bwMode="auto">
          <a:xfrm flipV="1">
            <a:off x="1835150" y="3213100"/>
            <a:ext cx="649288" cy="533400"/>
          </a:xfrm>
          <a:prstGeom prst="line">
            <a:avLst/>
          </a:prstGeom>
          <a:noFill/>
          <a:ln w="41275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8149" name="Text Box 69"/>
          <p:cNvSpPr txBox="1">
            <a:spLocks noChangeArrowheads="1"/>
          </p:cNvSpPr>
          <p:nvPr/>
        </p:nvSpPr>
        <p:spPr bwMode="auto">
          <a:xfrm>
            <a:off x="3089275" y="3644900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558150" name="Line 70"/>
          <p:cNvSpPr>
            <a:spLocks noChangeShapeType="1"/>
          </p:cNvSpPr>
          <p:nvPr/>
        </p:nvSpPr>
        <p:spPr bwMode="auto">
          <a:xfrm flipV="1">
            <a:off x="3335338" y="3213100"/>
            <a:ext cx="855662" cy="533400"/>
          </a:xfrm>
          <a:prstGeom prst="line">
            <a:avLst/>
          </a:prstGeom>
          <a:noFill/>
          <a:ln w="41275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0"/>
          <p:cNvGrpSpPr>
            <a:grpSpLocks/>
          </p:cNvGrpSpPr>
          <p:nvPr/>
        </p:nvGrpSpPr>
        <p:grpSpPr bwMode="auto">
          <a:xfrm>
            <a:off x="3200400" y="1443038"/>
            <a:ext cx="1752600" cy="1371600"/>
            <a:chOff x="2016" y="1211"/>
            <a:chExt cx="1104" cy="864"/>
          </a:xfrm>
        </p:grpSpPr>
        <p:sp>
          <p:nvSpPr>
            <p:cNvPr id="64586" name="Line 71"/>
            <p:cNvSpPr>
              <a:spLocks noChangeShapeType="1"/>
            </p:cNvSpPr>
            <p:nvPr/>
          </p:nvSpPr>
          <p:spPr bwMode="auto">
            <a:xfrm>
              <a:off x="2016" y="2064"/>
              <a:ext cx="288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7" name="Line 73"/>
            <p:cNvSpPr>
              <a:spLocks noChangeShapeType="1"/>
            </p:cNvSpPr>
            <p:nvPr/>
          </p:nvSpPr>
          <p:spPr bwMode="auto">
            <a:xfrm>
              <a:off x="2304" y="1226"/>
              <a:ext cx="816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8" name="Line 74"/>
            <p:cNvSpPr>
              <a:spLocks noChangeShapeType="1"/>
            </p:cNvSpPr>
            <p:nvPr/>
          </p:nvSpPr>
          <p:spPr bwMode="auto">
            <a:xfrm flipV="1">
              <a:off x="2304" y="1211"/>
              <a:ext cx="0" cy="864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4191000" y="1349375"/>
            <a:ext cx="2286000" cy="1295400"/>
            <a:chOff x="2640" y="1152"/>
            <a:chExt cx="1440" cy="816"/>
          </a:xfrm>
        </p:grpSpPr>
        <p:sp>
          <p:nvSpPr>
            <p:cNvPr id="64582" name="Line 75"/>
            <p:cNvSpPr>
              <a:spLocks noChangeShapeType="1"/>
            </p:cNvSpPr>
            <p:nvPr/>
          </p:nvSpPr>
          <p:spPr bwMode="auto">
            <a:xfrm>
              <a:off x="3648" y="1152"/>
              <a:ext cx="43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3" name="Line 77"/>
            <p:cNvSpPr>
              <a:spLocks noChangeShapeType="1"/>
            </p:cNvSpPr>
            <p:nvPr/>
          </p:nvSpPr>
          <p:spPr bwMode="auto">
            <a:xfrm flipH="1">
              <a:off x="2640" y="1632"/>
              <a:ext cx="1440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4" name="Line 78"/>
            <p:cNvSpPr>
              <a:spLocks noChangeShapeType="1"/>
            </p:cNvSpPr>
            <p:nvPr/>
          </p:nvSpPr>
          <p:spPr bwMode="auto">
            <a:xfrm>
              <a:off x="2640" y="1632"/>
              <a:ext cx="0" cy="336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85" name="Line 79"/>
            <p:cNvSpPr>
              <a:spLocks noChangeShapeType="1"/>
            </p:cNvSpPr>
            <p:nvPr/>
          </p:nvSpPr>
          <p:spPr bwMode="auto">
            <a:xfrm>
              <a:off x="4065" y="1152"/>
              <a:ext cx="0" cy="48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8162" name="Rectangle 82"/>
          <p:cNvSpPr>
            <a:spLocks noChangeArrowheads="1"/>
          </p:cNvSpPr>
          <p:nvPr/>
        </p:nvSpPr>
        <p:spPr bwMode="auto">
          <a:xfrm>
            <a:off x="827088" y="4292600"/>
            <a:ext cx="3816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zh-CN" altLang="en-US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</a:t>
            </a:r>
            <a:r>
              <a:rPr lang="en-US" altLang="zh-CN">
                <a:solidFill>
                  <a:srgbClr val="0004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&gt;next=insert;</a:t>
            </a:r>
          </a:p>
        </p:txBody>
      </p:sp>
      <p:sp>
        <p:nvSpPr>
          <p:cNvPr id="558163" name="Rectangle 83"/>
          <p:cNvSpPr>
            <a:spLocks noChangeArrowheads="1"/>
          </p:cNvSpPr>
          <p:nvPr/>
        </p:nvSpPr>
        <p:spPr bwMode="auto">
          <a:xfrm>
            <a:off x="755650" y="5084763"/>
            <a:ext cx="7931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思考：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上述两个拉链语句的次序能颠倒吗？</a:t>
            </a:r>
          </a:p>
        </p:txBody>
      </p:sp>
      <p:sp>
        <p:nvSpPr>
          <p:cNvPr id="558164" name="Text Box 84"/>
          <p:cNvSpPr txBox="1">
            <a:spLocks noChangeArrowheads="1"/>
          </p:cNvSpPr>
          <p:nvPr/>
        </p:nvSpPr>
        <p:spPr bwMode="auto">
          <a:xfrm>
            <a:off x="3132138" y="2844800"/>
            <a:ext cx="765175" cy="39687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2000" b="0">
              <a:latin typeface="Times New Roman" panose="02020603050405020304" pitchFamily="18" charset="0"/>
            </a:endParaRPr>
          </a:p>
        </p:txBody>
      </p:sp>
      <p:sp>
        <p:nvSpPr>
          <p:cNvPr id="558165" name="Text Box 85"/>
          <p:cNvSpPr txBox="1">
            <a:spLocks noChangeArrowheads="1"/>
          </p:cNvSpPr>
          <p:nvPr/>
        </p:nvSpPr>
        <p:spPr bwMode="auto">
          <a:xfrm>
            <a:off x="612775" y="5802313"/>
            <a:ext cx="799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思考题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结点插入的操作。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5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5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5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5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5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5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5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5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5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55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5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5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55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58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5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55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558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558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82" grpId="0" autoUpdateAnimBg="0"/>
      <p:bldP spid="558123" grpId="0" autoUpdateAnimBg="0"/>
      <p:bldP spid="558131" grpId="0" autoUpdateAnimBg="0"/>
      <p:bldP spid="558132" grpId="0" autoUpdateAnimBg="0"/>
      <p:bldP spid="558146" grpId="0" build="p" autoUpdateAnimBg="0"/>
      <p:bldP spid="558147" grpId="0" autoUpdateAnimBg="0"/>
      <p:bldP spid="558149" grpId="0" autoUpdateAnimBg="0"/>
      <p:bldP spid="558162" grpId="0" build="p" autoUpdateAnimBg="0"/>
      <p:bldP spid="558163" grpId="0" build="p" autoUpdateAnimBg="0"/>
      <p:bldP spid="558164" grpId="0" animBg="1" autoUpdateAnimBg="0"/>
      <p:bldP spid="558165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Text Box 2">
            <a:extLst>
              <a:ext uri="{FF2B5EF4-FFF2-40B4-BE49-F238E27FC236}">
                <a16:creationId xmlns:a16="http://schemas.microsoft.com/office/drawing/2014/main" id="{6051D199-267F-4F26-9C75-41F43B45B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0350"/>
            <a:ext cx="7620000" cy="715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5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共用体类型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21219" name="Text Box 3"/>
          <p:cNvSpPr txBox="1">
            <a:spLocks noChangeArrowheads="1"/>
          </p:cNvSpPr>
          <p:nvPr/>
        </p:nvSpPr>
        <p:spPr bwMode="auto">
          <a:xfrm>
            <a:off x="179388" y="1196975"/>
            <a:ext cx="87487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共用体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同一块内存区域不同时刻存储不同类型的数据，是一种内存覆盖技术。共用体能使多个类型不同的变量共享一块内存区域，这些变量在不同的时间去占用这一片内存。</a:t>
            </a:r>
          </a:p>
        </p:txBody>
      </p:sp>
      <p:sp>
        <p:nvSpPr>
          <p:cNvPr id="521220" name="Text Box 4">
            <a:extLst>
              <a:ext uri="{FF2B5EF4-FFF2-40B4-BE49-F238E27FC236}">
                <a16:creationId xmlns:a16="http://schemas.microsoft.com/office/drawing/2014/main" id="{A0970AC9-19EF-4F8E-8AC0-3C8D81CF5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3789363"/>
            <a:ext cx="7620000" cy="219233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共用体类型的定义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0" dirty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形式：</a:t>
            </a:r>
            <a:r>
              <a:rPr lang="zh-CN" altLang="en-US" b="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union   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共用体名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               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{  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成员表列  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};</a:t>
            </a:r>
          </a:p>
        </p:txBody>
      </p:sp>
      <p:sp>
        <p:nvSpPr>
          <p:cNvPr id="521221" name="AutoShape 5"/>
          <p:cNvSpPr>
            <a:spLocks noChangeArrowheads="1"/>
          </p:cNvSpPr>
          <p:nvPr/>
        </p:nvSpPr>
        <p:spPr bwMode="auto">
          <a:xfrm>
            <a:off x="5940425" y="3716338"/>
            <a:ext cx="2879725" cy="1152525"/>
          </a:xfrm>
          <a:prstGeom prst="wedgeRoundRectCallout">
            <a:avLst>
              <a:gd name="adj1" fmla="val -143606"/>
              <a:gd name="adj2" fmla="val 49449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>
                <a:solidFill>
                  <a:srgbClr val="000000"/>
                </a:solidFill>
                <a:ea typeface="楷体_GB2312" pitchFamily="49" charset="-122"/>
              </a:rPr>
              <a:t>关键字，代表共用体类型</a:t>
            </a:r>
          </a:p>
        </p:txBody>
      </p:sp>
      <p:sp>
        <p:nvSpPr>
          <p:cNvPr id="521222" name="AutoShape 6"/>
          <p:cNvSpPr>
            <a:spLocks noChangeArrowheads="1"/>
          </p:cNvSpPr>
          <p:nvPr/>
        </p:nvSpPr>
        <p:spPr bwMode="auto">
          <a:xfrm>
            <a:off x="539750" y="5661025"/>
            <a:ext cx="2952750" cy="719138"/>
          </a:xfrm>
          <a:prstGeom prst="wedgeRoundRectCallout">
            <a:avLst>
              <a:gd name="adj1" fmla="val 93065"/>
              <a:gd name="adj2" fmla="val -134769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>
                <a:solidFill>
                  <a:srgbClr val="000000"/>
                </a:solidFill>
                <a:ea typeface="楷体_GB2312" pitchFamily="49" charset="-122"/>
              </a:rPr>
              <a:t>有时也会省略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8" grpId="0" autoUpdateAnimBg="0"/>
      <p:bldP spid="521219" grpId="0" autoUpdateAnimBg="0"/>
      <p:bldP spid="521220" grpId="0" autoUpdateAnimBg="0"/>
      <p:bldP spid="521221" grpId="0" animBg="1" autoUpdateAnimBg="0"/>
      <p:bldP spid="521222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Text Box 2"/>
          <p:cNvSpPr txBox="1">
            <a:spLocks noChangeArrowheads="1"/>
          </p:cNvSpPr>
          <p:nvPr/>
        </p:nvSpPr>
        <p:spPr bwMode="auto">
          <a:xfrm>
            <a:off x="763588" y="188913"/>
            <a:ext cx="76962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  union  student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{  long num;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char name[10];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int score;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} zhang , lin;</a:t>
            </a:r>
          </a:p>
        </p:txBody>
      </p:sp>
      <p:sp>
        <p:nvSpPr>
          <p:cNvPr id="522244" name="Text Box 4"/>
          <p:cNvSpPr txBox="1">
            <a:spLocks noChangeArrowheads="1"/>
          </p:cNvSpPr>
          <p:nvPr/>
        </p:nvSpPr>
        <p:spPr bwMode="auto">
          <a:xfrm>
            <a:off x="468313" y="3357563"/>
            <a:ext cx="838835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这种类型使长度为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个字节的内存区域（最长成员所占的字节数）既能存储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long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型数据，又能存储字符串和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int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型数据，并在定义类型的同时也定义了两个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union student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类型的变量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zhang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lin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42" grpId="0" autoUpdateAnimBg="0"/>
      <p:bldP spid="522244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908" name="Text Box 4"/>
          <p:cNvSpPr txBox="1">
            <a:spLocks noChangeArrowheads="1"/>
          </p:cNvSpPr>
          <p:nvPr/>
        </p:nvSpPr>
        <p:spPr bwMode="auto">
          <a:xfrm>
            <a:off x="755650" y="433388"/>
            <a:ext cx="78486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思考题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】zhang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lin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所占据的存储字节均为多少？如果将上述类型改为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struct student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，则变量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zhang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lin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又占据多少字节？</a:t>
            </a:r>
          </a:p>
        </p:txBody>
      </p:sp>
      <p:sp>
        <p:nvSpPr>
          <p:cNvPr id="1019909" name="Text Box 5">
            <a:extLst>
              <a:ext uri="{FF2B5EF4-FFF2-40B4-BE49-F238E27FC236}">
                <a16:creationId xmlns:a16="http://schemas.microsoft.com/office/drawing/2014/main" id="{8BD9B416-74E4-42D1-9CEB-C2E1B0F81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3838575"/>
            <a:ext cx="7696200" cy="16779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25000"/>
              </a:spcBef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共用体变量的引用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defRPr/>
            </a:pPr>
            <a:r>
              <a:rPr lang="zh-CN" altLang="en-US" b="0" dirty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形式：</a:t>
            </a:r>
            <a:r>
              <a:rPr lang="zh-CN" altLang="en-US" b="0" dirty="0">
                <a:latin typeface="黑体" pitchFamily="2" charset="-122"/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共用体变量名</a:t>
            </a:r>
            <a:r>
              <a:rPr lang="en-US" altLang="zh-CN" dirty="0">
                <a:latin typeface="楷体_GB2312" pitchFamily="49" charset="-122"/>
                <a:cs typeface="Times New Roman" pitchFamily="18" charset="0"/>
              </a:rPr>
              <a:t>.</a:t>
            </a: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成员名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9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9908" grpId="0" autoUpdateAnimBg="0"/>
      <p:bldP spid="101990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6" name="Text Box 4"/>
          <p:cNvSpPr txBox="1">
            <a:spLocks noChangeArrowheads="1"/>
          </p:cNvSpPr>
          <p:nvPr/>
        </p:nvSpPr>
        <p:spPr bwMode="auto">
          <a:xfrm>
            <a:off x="755650" y="4508500"/>
            <a:ext cx="8137525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】zhang.name=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wangfen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    lin.score=83;</a:t>
            </a:r>
          </a:p>
        </p:txBody>
      </p:sp>
      <p:sp>
        <p:nvSpPr>
          <p:cNvPr id="909318" name="Text Box 6"/>
          <p:cNvSpPr txBox="1">
            <a:spLocks noChangeArrowheads="1"/>
          </p:cNvSpPr>
          <p:nvPr/>
        </p:nvSpPr>
        <p:spPr bwMode="auto">
          <a:xfrm>
            <a:off x="684213" y="188913"/>
            <a:ext cx="7407275" cy="424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 union  student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 {  long num;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    char name[10];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    int score;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    } zhang , lin;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6" grpId="0" autoUpdateAnimBg="0"/>
      <p:bldP spid="90931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7" name="Text Box 3"/>
          <p:cNvSpPr txBox="1">
            <a:spLocks noChangeArrowheads="1"/>
          </p:cNvSpPr>
          <p:nvPr/>
        </p:nvSpPr>
        <p:spPr bwMode="auto">
          <a:xfrm>
            <a:off x="685800" y="3405188"/>
            <a:ext cx="820737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）任何时刻，只有一个成员的值被存储：</a:t>
            </a:r>
          </a:p>
          <a:p>
            <a:pPr algn="ctr"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lin.num=990011;  lin.score=83; </a:t>
            </a:r>
          </a:p>
        </p:txBody>
      </p:sp>
      <p:sp>
        <p:nvSpPr>
          <p:cNvPr id="523270" name="Text Box 6"/>
          <p:cNvSpPr txBox="1">
            <a:spLocks noChangeArrowheads="1"/>
          </p:cNvSpPr>
          <p:nvPr/>
        </p:nvSpPr>
        <p:spPr bwMode="auto">
          <a:xfrm>
            <a:off x="684213" y="701675"/>
            <a:ext cx="81343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共用体变量的所有成员共享一段内存，长度为最长成员的字节数，使用时要注意以下一些问题：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7" grpId="0" autoUpdateAnimBg="0"/>
      <p:bldP spid="523270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931" name="Text Box 3"/>
          <p:cNvSpPr txBox="1">
            <a:spLocks noChangeArrowheads="1"/>
          </p:cNvSpPr>
          <p:nvPr/>
        </p:nvSpPr>
        <p:spPr bwMode="auto">
          <a:xfrm>
            <a:off x="468313" y="44450"/>
            <a:ext cx="838835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）共用体变量和各成员具有相同的存储地址，即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&amp;zhang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&amp;zhang.num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&amp;zhang.name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&amp;zhang.score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为同一个地址值；</a:t>
            </a:r>
          </a:p>
        </p:txBody>
      </p:sp>
      <p:sp>
        <p:nvSpPr>
          <p:cNvPr id="1020932" name="Text Box 4"/>
          <p:cNvSpPr txBox="1">
            <a:spLocks noChangeArrowheads="1"/>
          </p:cNvSpPr>
          <p:nvPr/>
        </p:nvSpPr>
        <p:spPr bwMode="auto">
          <a:xfrm>
            <a:off x="539750" y="3581400"/>
            <a:ext cx="8208963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）不能对共用体变量以整体形式引用，下面语句均错：</a:t>
            </a:r>
          </a:p>
          <a:p>
            <a:pPr algn="ctr" eaLnBrk="1" hangingPunct="1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scanf(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%ld%s%d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,&amp;lin);  zhang=lin;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0931" grpId="0" autoUpdateAnimBg="0"/>
      <p:bldP spid="1020932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Text Box 2">
            <a:extLst>
              <a:ext uri="{FF2B5EF4-FFF2-40B4-BE49-F238E27FC236}">
                <a16:creationId xmlns:a16="http://schemas.microsoft.com/office/drawing/2014/main" id="{367D641C-0888-46D6-9585-E08B1440A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60350"/>
            <a:ext cx="5546725" cy="18161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枚举类型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latin typeface="楷体_GB2312" pitchFamily="49" charset="-122"/>
                <a:cs typeface="Times New Roman" pitchFamily="18" charset="0"/>
              </a:rPr>
              <a:t>枚举类型的定义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25315" name="Text Box 3">
            <a:extLst>
              <a:ext uri="{FF2B5EF4-FFF2-40B4-BE49-F238E27FC236}">
                <a16:creationId xmlns:a16="http://schemas.microsoft.com/office/drawing/2014/main" id="{C76E8259-5B23-46F0-BBD4-CF6CFD52B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276475"/>
            <a:ext cx="7418387" cy="18002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b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形式：</a:t>
            </a:r>
            <a:r>
              <a:rPr lang="zh-CN" altLang="en-US" b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>
                <a:solidFill>
                  <a:srgbClr val="D92517"/>
                </a:solidFill>
                <a:ea typeface="黑体" pitchFamily="2" charset="-122"/>
              </a:rPr>
              <a:t>enum</a:t>
            </a:r>
            <a:r>
              <a:rPr lang="en-US" altLang="zh-CN" b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>
                <a:latin typeface="楷体_GB2312" pitchFamily="49" charset="-122"/>
              </a:rPr>
              <a:t>枚举名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>
                <a:latin typeface="楷体_GB2312" pitchFamily="49" charset="-122"/>
              </a:rPr>
              <a:t>                 </a:t>
            </a:r>
            <a:r>
              <a:rPr lang="en-US" altLang="zh-CN">
                <a:latin typeface="楷体_GB2312" pitchFamily="49" charset="-122"/>
              </a:rPr>
              <a:t>{ </a:t>
            </a:r>
            <a:r>
              <a:rPr lang="zh-CN" altLang="en-US">
                <a:latin typeface="楷体_GB2312" pitchFamily="49" charset="-122"/>
              </a:rPr>
              <a:t>枚举值表列 </a:t>
            </a:r>
            <a:r>
              <a:rPr lang="en-US" altLang="zh-CN">
                <a:latin typeface="楷体_GB2312" pitchFamily="49" charset="-122"/>
              </a:rPr>
              <a:t>};</a:t>
            </a:r>
          </a:p>
        </p:txBody>
      </p:sp>
      <p:sp>
        <p:nvSpPr>
          <p:cNvPr id="525318" name="AutoShape 6"/>
          <p:cNvSpPr>
            <a:spLocks noChangeArrowheads="1"/>
          </p:cNvSpPr>
          <p:nvPr/>
        </p:nvSpPr>
        <p:spPr bwMode="auto">
          <a:xfrm>
            <a:off x="5867400" y="620713"/>
            <a:ext cx="2700338" cy="1584325"/>
          </a:xfrm>
          <a:prstGeom prst="wedgeRoundRectCallout">
            <a:avLst>
              <a:gd name="adj1" fmla="val -117491"/>
              <a:gd name="adj2" fmla="val 78255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enum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为关键字，代表枚举类型</a:t>
            </a:r>
          </a:p>
        </p:txBody>
      </p:sp>
      <p:sp>
        <p:nvSpPr>
          <p:cNvPr id="525319" name="AutoShape 7"/>
          <p:cNvSpPr>
            <a:spLocks noChangeArrowheads="1"/>
          </p:cNvSpPr>
          <p:nvPr/>
        </p:nvSpPr>
        <p:spPr bwMode="auto">
          <a:xfrm>
            <a:off x="250825" y="4365625"/>
            <a:ext cx="6121400" cy="1943100"/>
          </a:xfrm>
          <a:prstGeom prst="wedgeRoundRectCallout">
            <a:avLst>
              <a:gd name="adj1" fmla="val 43389"/>
              <a:gd name="adj2" fmla="val -67972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花括号中列出的枚举值均为常量标识符，代表具有该枚举类型的变量可以取的全部值。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25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5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5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5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4" grpId="0"/>
      <p:bldP spid="525315" grpId="0"/>
      <p:bldP spid="525318" grpId="0" animBg="1"/>
      <p:bldP spid="5253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4" name="Text Box 4"/>
          <p:cNvSpPr txBox="1">
            <a:spLocks noChangeArrowheads="1"/>
          </p:cNvSpPr>
          <p:nvPr/>
        </p:nvSpPr>
        <p:spPr bwMode="auto">
          <a:xfrm>
            <a:off x="395288" y="277813"/>
            <a:ext cx="8283575" cy="228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】enum  weekday { Sunday,Monday,Tueday,Wedday,Thrday,Friday,Satday};</a:t>
            </a:r>
          </a:p>
        </p:txBody>
      </p:sp>
      <p:sp>
        <p:nvSpPr>
          <p:cNvPr id="911365" name="Text Box 5"/>
          <p:cNvSpPr txBox="1">
            <a:spLocks noChangeArrowheads="1"/>
          </p:cNvSpPr>
          <p:nvPr/>
        </p:nvSpPr>
        <p:spPr bwMode="auto">
          <a:xfrm>
            <a:off x="323850" y="3422650"/>
            <a:ext cx="83518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】enum color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{ red,green,blue,yellow } col1,col2; </a:t>
            </a:r>
          </a:p>
        </p:txBody>
      </p:sp>
      <p:sp>
        <p:nvSpPr>
          <p:cNvPr id="911366" name="Text Box 6"/>
          <p:cNvSpPr txBox="1">
            <a:spLocks noChangeArrowheads="1"/>
          </p:cNvSpPr>
          <p:nvPr/>
        </p:nvSpPr>
        <p:spPr bwMode="auto">
          <a:xfrm>
            <a:off x="323850" y="2605088"/>
            <a:ext cx="828357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思考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上面的枚举定义代表什么意思？ </a:t>
            </a:r>
          </a:p>
        </p:txBody>
      </p:sp>
      <p:sp>
        <p:nvSpPr>
          <p:cNvPr id="911367" name="Text Box 7"/>
          <p:cNvSpPr txBox="1">
            <a:spLocks noChangeArrowheads="1"/>
          </p:cNvSpPr>
          <p:nvPr/>
        </p:nvSpPr>
        <p:spPr bwMode="auto">
          <a:xfrm>
            <a:off x="323850" y="5300663"/>
            <a:ext cx="85693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思考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上面的枚举定义又代表什么意思呢？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64" grpId="0"/>
      <p:bldP spid="911365" grpId="0"/>
      <p:bldP spid="911366" grpId="0"/>
      <p:bldP spid="911367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Text Box 2"/>
          <p:cNvSpPr txBox="1">
            <a:spLocks noChangeArrowheads="1"/>
          </p:cNvSpPr>
          <p:nvPr/>
        </p:nvSpPr>
        <p:spPr bwMode="auto">
          <a:xfrm>
            <a:off x="468313" y="260350"/>
            <a:ext cx="76962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枚举类型的使用规则</a:t>
            </a:r>
          </a:p>
        </p:txBody>
      </p:sp>
      <p:sp>
        <p:nvSpPr>
          <p:cNvPr id="526339" name="Text Box 3"/>
          <p:cNvSpPr txBox="1">
            <a:spLocks noChangeArrowheads="1"/>
          </p:cNvSpPr>
          <p:nvPr/>
        </p:nvSpPr>
        <p:spPr bwMode="auto">
          <a:xfrm>
            <a:off x="179388" y="1076325"/>
            <a:ext cx="8713787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）枚举类型是用户标识符，不是字符串，不能加双引号；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】enum  sex   { 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male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female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};</a:t>
            </a:r>
          </a:p>
        </p:txBody>
      </p:sp>
      <p:sp>
        <p:nvSpPr>
          <p:cNvPr id="526340" name="Text Box 4"/>
          <p:cNvSpPr txBox="1">
            <a:spLocks noChangeArrowheads="1"/>
          </p:cNvSpPr>
          <p:nvPr/>
        </p:nvSpPr>
        <p:spPr bwMode="auto">
          <a:xfrm>
            <a:off x="250825" y="3789363"/>
            <a:ext cx="8569325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）枚举值表列中的每一个枚举值对应于一个整数序号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语言中，枚举值按自左向右的顺序依次被编号为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…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但能够以初始化方式指定特别值，如：</a:t>
            </a:r>
          </a:p>
        </p:txBody>
      </p:sp>
      <p:sp>
        <p:nvSpPr>
          <p:cNvPr id="526341" name="Text Box 5"/>
          <p:cNvSpPr txBox="1">
            <a:spLocks noChangeArrowheads="1"/>
          </p:cNvSpPr>
          <p:nvPr/>
        </p:nvSpPr>
        <p:spPr bwMode="auto">
          <a:xfrm>
            <a:off x="395288" y="2997200"/>
            <a:ext cx="80645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应改写为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enum  sex  { male,female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6338" grpId="0"/>
      <p:bldP spid="526339" grpId="0"/>
      <p:bldP spid="526340" grpId="0"/>
      <p:bldP spid="52634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9" name="Text Box 9"/>
          <p:cNvSpPr txBox="1">
            <a:spLocks noChangeArrowheads="1"/>
          </p:cNvSpPr>
          <p:nvPr/>
        </p:nvSpPr>
        <p:spPr bwMode="auto">
          <a:xfrm>
            <a:off x="539750" y="260350"/>
            <a:ext cx="83534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】enum color  { red, green, blue=8, yellow };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Text Box 2">
            <a:extLst>
              <a:ext uri="{FF2B5EF4-FFF2-40B4-BE49-F238E27FC236}">
                <a16:creationId xmlns:a16="http://schemas.microsoft.com/office/drawing/2014/main" id="{0D36302E-94AF-4541-8EC9-78E9ED808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765175"/>
            <a:ext cx="4887912" cy="8239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类型自定义</a:t>
            </a:r>
            <a:endParaRPr lang="zh-CN" altLang="en-US" dirty="0">
              <a:latin typeface="楷体_GB2312" pitchFamily="49" charset="-122"/>
            </a:endParaRPr>
          </a:p>
        </p:txBody>
      </p:sp>
      <p:sp>
        <p:nvSpPr>
          <p:cNvPr id="527363" name="Text Box 3"/>
          <p:cNvSpPr txBox="1">
            <a:spLocks noChangeArrowheads="1"/>
          </p:cNvSpPr>
          <p:nvPr/>
        </p:nvSpPr>
        <p:spPr bwMode="auto">
          <a:xfrm>
            <a:off x="838200" y="3625850"/>
            <a:ext cx="76962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typedef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语句的形式</a:t>
            </a:r>
          </a:p>
        </p:txBody>
      </p:sp>
      <p:sp>
        <p:nvSpPr>
          <p:cNvPr id="527366" name="Text Box 6">
            <a:extLst>
              <a:ext uri="{FF2B5EF4-FFF2-40B4-BE49-F238E27FC236}">
                <a16:creationId xmlns:a16="http://schemas.microsoft.com/office/drawing/2014/main" id="{9A4F078B-3488-401E-B5C3-B247B9D25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521200"/>
            <a:ext cx="7848600" cy="8239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形式：</a:t>
            </a:r>
            <a:r>
              <a:rPr lang="en-US" altLang="zh-CN">
                <a:solidFill>
                  <a:srgbClr val="D92517"/>
                </a:solidFill>
                <a:ea typeface="黑体" pitchFamily="2" charset="-122"/>
                <a:cs typeface="Times New Roman" pitchFamily="18" charset="0"/>
              </a:rPr>
              <a:t>typedef</a:t>
            </a:r>
            <a:r>
              <a:rPr lang="en-US" altLang="zh-CN" b="0">
                <a:latin typeface="黑体" pitchFamily="2" charset="-122"/>
                <a:ea typeface="黑体" pitchFamily="2" charset="-122"/>
                <a:cs typeface="Times New Roman" pitchFamily="18" charset="0"/>
              </a:rPr>
              <a:t>   </a:t>
            </a:r>
            <a:r>
              <a:rPr lang="zh-CN" altLang="en-US">
                <a:latin typeface="楷体_GB2312" pitchFamily="49" charset="-122"/>
                <a:cs typeface="Times New Roman" pitchFamily="18" charset="0"/>
              </a:rPr>
              <a:t>现有类型名  新类型名；</a:t>
            </a:r>
          </a:p>
        </p:txBody>
      </p:sp>
      <p:sp>
        <p:nvSpPr>
          <p:cNvPr id="527367" name="AutoShape 7"/>
          <p:cNvSpPr>
            <a:spLocks noChangeArrowheads="1"/>
          </p:cNvSpPr>
          <p:nvPr/>
        </p:nvSpPr>
        <p:spPr bwMode="auto">
          <a:xfrm>
            <a:off x="5435600" y="1570038"/>
            <a:ext cx="3382963" cy="1077912"/>
          </a:xfrm>
          <a:prstGeom prst="wedgeRoundRectCallout">
            <a:avLst>
              <a:gd name="adj1" fmla="val -99509"/>
              <a:gd name="adj2" fmla="val -72093"/>
              <a:gd name="adj3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>
                <a:solidFill>
                  <a:srgbClr val="000000"/>
                </a:solidFill>
                <a:ea typeface="楷体_GB2312" pitchFamily="49" charset="-122"/>
              </a:rPr>
              <a:t>为现有的类型取一个新的别名</a:t>
            </a:r>
          </a:p>
        </p:txBody>
      </p:sp>
      <p:sp>
        <p:nvSpPr>
          <p:cNvPr id="527368" name="Text Box 8">
            <a:extLst>
              <a:ext uri="{FF2B5EF4-FFF2-40B4-BE49-F238E27FC236}">
                <a16:creationId xmlns:a16="http://schemas.microsoft.com/office/drawing/2014/main" id="{D241A254-E558-4DCB-A7EF-AD6F3D2CD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617788"/>
            <a:ext cx="7748588" cy="8239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【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问题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】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itchFamily="18" charset="0"/>
              </a:rPr>
              <a:t>为什么要引入类型自定义？</a:t>
            </a:r>
            <a:endParaRPr lang="zh-CN" altLang="en-US">
              <a:latin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7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7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2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2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/>
      <p:bldP spid="527363" grpId="0"/>
      <p:bldP spid="527366" grpId="0"/>
      <p:bldP spid="527367" grpId="0" animBg="1"/>
      <p:bldP spid="52736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8" name="Text Box 4"/>
          <p:cNvSpPr txBox="1">
            <a:spLocks noChangeArrowheads="1"/>
          </p:cNvSpPr>
          <p:nvPr/>
        </p:nvSpPr>
        <p:spPr bwMode="auto">
          <a:xfrm>
            <a:off x="539750" y="260350"/>
            <a:ext cx="7704138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】typedef struct student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{   long num;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    char name[10];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       int score;}STUD;</a:t>
            </a:r>
          </a:p>
        </p:txBody>
      </p:sp>
      <p:sp>
        <p:nvSpPr>
          <p:cNvPr id="912390" name="Text Box 6"/>
          <p:cNvSpPr txBox="1">
            <a:spLocks noChangeArrowheads="1"/>
          </p:cNvSpPr>
          <p:nvPr/>
        </p:nvSpPr>
        <p:spPr bwMode="auto">
          <a:xfrm>
            <a:off x="1835150" y="2852738"/>
            <a:ext cx="6840538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typedef int ARR[3][4];</a:t>
            </a:r>
          </a:p>
        </p:txBody>
      </p:sp>
      <p:sp>
        <p:nvSpPr>
          <p:cNvPr id="912391" name="Text Box 7"/>
          <p:cNvSpPr txBox="1">
            <a:spLocks noChangeArrowheads="1"/>
          </p:cNvSpPr>
          <p:nvPr/>
        </p:nvSpPr>
        <p:spPr bwMode="auto">
          <a:xfrm>
            <a:off x="1849438" y="4076700"/>
            <a:ext cx="5675312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typedef char* STRING;</a:t>
            </a:r>
          </a:p>
        </p:txBody>
      </p:sp>
      <p:sp>
        <p:nvSpPr>
          <p:cNvPr id="912392" name="Text Box 8"/>
          <p:cNvSpPr txBox="1">
            <a:spLocks noChangeArrowheads="1"/>
          </p:cNvSpPr>
          <p:nvPr/>
        </p:nvSpPr>
        <p:spPr bwMode="auto">
          <a:xfrm>
            <a:off x="1908175" y="5157788"/>
            <a:ext cx="388937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STRING x, y;</a:t>
            </a:r>
          </a:p>
        </p:txBody>
      </p:sp>
      <p:sp>
        <p:nvSpPr>
          <p:cNvPr id="912393" name="Text Box 9"/>
          <p:cNvSpPr txBox="1">
            <a:spLocks noChangeArrowheads="1"/>
          </p:cNvSpPr>
          <p:nvPr/>
        </p:nvSpPr>
        <p:spPr bwMode="auto">
          <a:xfrm>
            <a:off x="1908175" y="3519488"/>
            <a:ext cx="352742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ARR  a, b, c;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8" grpId="0"/>
      <p:bldP spid="912390" grpId="0"/>
      <p:bldP spid="912391" grpId="0"/>
      <p:bldP spid="912392" grpId="0"/>
      <p:bldP spid="912393" grpId="0"/>
    </p:bldLst>
  </p:timing>
</p:sld>
</file>

<file path=ppt/theme/theme1.xml><?xml version="1.0" encoding="utf-8"?>
<a:theme xmlns:a="http://schemas.openxmlformats.org/drawingml/2006/main" name="诗情画意">
  <a:themeElements>
    <a:clrScheme name="诗情画意 10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4503D9"/>
      </a:hlink>
      <a:folHlink>
        <a:srgbClr val="6521FD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9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4503D9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10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4503D9"/>
        </a:hlink>
        <a:folHlink>
          <a:srgbClr val="6521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CDESIGNN</Template>
  <TotalTime>95299</TotalTime>
  <Words>3418</Words>
  <Application>Microsoft Office PowerPoint</Application>
  <PresentationFormat>全屏显示(4:3)</PresentationFormat>
  <Paragraphs>646</Paragraphs>
  <Slides>72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4" baseType="lpstr">
      <vt:lpstr>Times New Roman</vt:lpstr>
      <vt:lpstr>楷体_GB2312</vt:lpstr>
      <vt:lpstr>Arial</vt:lpstr>
      <vt:lpstr>宋体</vt:lpstr>
      <vt:lpstr>Wingdings</vt:lpstr>
      <vt:lpstr>Tahoma</vt:lpstr>
      <vt:lpstr>隶书</vt:lpstr>
      <vt:lpstr>华文彩云</vt:lpstr>
      <vt:lpstr>黑体</vt:lpstr>
      <vt:lpstr>华文行楷</vt:lpstr>
      <vt:lpstr>诗情画意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华东理工大学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赵敏</dc:creator>
  <cp:lastModifiedBy>wf zhou</cp:lastModifiedBy>
  <cp:revision>4983</cp:revision>
  <dcterms:created xsi:type="dcterms:W3CDTF">2005-01-18T02:21:46Z</dcterms:created>
  <dcterms:modified xsi:type="dcterms:W3CDTF">2025-12-26T08:23:42Z</dcterms:modified>
</cp:coreProperties>
</file>