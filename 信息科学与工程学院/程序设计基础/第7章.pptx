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6"/>
  </p:notesMasterIdLst>
  <p:sldIdLst>
    <p:sldId id="256" r:id="rId2"/>
    <p:sldId id="257" r:id="rId3"/>
    <p:sldId id="259" r:id="rId4"/>
    <p:sldId id="284" r:id="rId5"/>
    <p:sldId id="302" r:id="rId6"/>
    <p:sldId id="304" r:id="rId7"/>
    <p:sldId id="305" r:id="rId8"/>
    <p:sldId id="306" r:id="rId9"/>
    <p:sldId id="285" r:id="rId10"/>
    <p:sldId id="287" r:id="rId11"/>
    <p:sldId id="307" r:id="rId12"/>
    <p:sldId id="288" r:id="rId13"/>
    <p:sldId id="291" r:id="rId14"/>
    <p:sldId id="308" r:id="rId15"/>
    <p:sldId id="292" r:id="rId16"/>
    <p:sldId id="295" r:id="rId17"/>
    <p:sldId id="296" r:id="rId18"/>
    <p:sldId id="309" r:id="rId19"/>
    <p:sldId id="299" r:id="rId20"/>
    <p:sldId id="404" r:id="rId21"/>
    <p:sldId id="406" r:id="rId22"/>
    <p:sldId id="405" r:id="rId23"/>
    <p:sldId id="310" r:id="rId24"/>
    <p:sldId id="311" r:id="rId25"/>
    <p:sldId id="312" r:id="rId26"/>
    <p:sldId id="313" r:id="rId27"/>
    <p:sldId id="314" r:id="rId28"/>
    <p:sldId id="315" r:id="rId29"/>
    <p:sldId id="330" r:id="rId30"/>
    <p:sldId id="319" r:id="rId31"/>
    <p:sldId id="332" r:id="rId32"/>
    <p:sldId id="333" r:id="rId33"/>
    <p:sldId id="334" r:id="rId34"/>
    <p:sldId id="335" r:id="rId35"/>
    <p:sldId id="336" r:id="rId36"/>
    <p:sldId id="331" r:id="rId37"/>
    <p:sldId id="338" r:id="rId38"/>
    <p:sldId id="339" r:id="rId39"/>
    <p:sldId id="340" r:id="rId40"/>
    <p:sldId id="341" r:id="rId41"/>
    <p:sldId id="342" r:id="rId42"/>
    <p:sldId id="343" r:id="rId43"/>
    <p:sldId id="344" r:id="rId44"/>
    <p:sldId id="345" r:id="rId45"/>
    <p:sldId id="346" r:id="rId46"/>
    <p:sldId id="347" r:id="rId47"/>
    <p:sldId id="348" r:id="rId48"/>
    <p:sldId id="349" r:id="rId49"/>
    <p:sldId id="350" r:id="rId50"/>
    <p:sldId id="395" r:id="rId51"/>
    <p:sldId id="396" r:id="rId52"/>
    <p:sldId id="353" r:id="rId53"/>
    <p:sldId id="398" r:id="rId54"/>
    <p:sldId id="399" r:id="rId55"/>
    <p:sldId id="397" r:id="rId56"/>
    <p:sldId id="354" r:id="rId57"/>
    <p:sldId id="355" r:id="rId58"/>
    <p:sldId id="400" r:id="rId59"/>
    <p:sldId id="357" r:id="rId60"/>
    <p:sldId id="359" r:id="rId61"/>
    <p:sldId id="401" r:id="rId62"/>
    <p:sldId id="402" r:id="rId63"/>
    <p:sldId id="403" r:id="rId64"/>
    <p:sldId id="361" r:id="rId65"/>
    <p:sldId id="362" r:id="rId66"/>
    <p:sldId id="363" r:id="rId67"/>
    <p:sldId id="364" r:id="rId68"/>
    <p:sldId id="365" r:id="rId69"/>
    <p:sldId id="366" r:id="rId70"/>
    <p:sldId id="367" r:id="rId71"/>
    <p:sldId id="368" r:id="rId72"/>
    <p:sldId id="369" r:id="rId73"/>
    <p:sldId id="370" r:id="rId74"/>
    <p:sldId id="371" r:id="rId75"/>
    <p:sldId id="372" r:id="rId76"/>
    <p:sldId id="373" r:id="rId77"/>
    <p:sldId id="374" r:id="rId78"/>
    <p:sldId id="375" r:id="rId79"/>
    <p:sldId id="376" r:id="rId80"/>
    <p:sldId id="377" r:id="rId81"/>
    <p:sldId id="378" r:id="rId82"/>
    <p:sldId id="379" r:id="rId83"/>
    <p:sldId id="380" r:id="rId84"/>
    <p:sldId id="381" r:id="rId85"/>
    <p:sldId id="382" r:id="rId86"/>
    <p:sldId id="383" r:id="rId87"/>
    <p:sldId id="384" r:id="rId88"/>
    <p:sldId id="385" r:id="rId89"/>
    <p:sldId id="386" r:id="rId90"/>
    <p:sldId id="387" r:id="rId91"/>
    <p:sldId id="388" r:id="rId92"/>
    <p:sldId id="389" r:id="rId93"/>
    <p:sldId id="390" r:id="rId94"/>
    <p:sldId id="391" r:id="rId95"/>
    <p:sldId id="392" r:id="rId96"/>
    <p:sldId id="393" r:id="rId97"/>
    <p:sldId id="410" r:id="rId98"/>
    <p:sldId id="407" r:id="rId99"/>
    <p:sldId id="408" r:id="rId100"/>
    <p:sldId id="409" r:id="rId101"/>
    <p:sldId id="411" r:id="rId102"/>
    <p:sldId id="412" r:id="rId103"/>
    <p:sldId id="413" r:id="rId104"/>
    <p:sldId id="414" r:id="rId105"/>
  </p:sldIdLst>
  <p:sldSz cx="12192000" cy="6858000"/>
  <p:notesSz cx="6858000" cy="9144000"/>
  <p:custDataLst>
    <p:tags r:id="rId10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3366FF"/>
    <a:srgbClr val="FEBD01"/>
    <a:srgbClr val="FC6495"/>
    <a:srgbClr val="00B0F0"/>
    <a:srgbClr val="FF0000"/>
    <a:srgbClr val="4BA9C3"/>
    <a:srgbClr val="8FCD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381" autoAdjust="0"/>
  </p:normalViewPr>
  <p:slideViewPr>
    <p:cSldViewPr snapToGrid="0" showGuides="1">
      <p:cViewPr varScale="1">
        <p:scale>
          <a:sx n="61" d="100"/>
          <a:sy n="61" d="100"/>
        </p:scale>
        <p:origin x="788" y="56"/>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gs" Target="tags/tag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B36A60-8FC3-410C-9C0C-4E1909C105F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zh-CN" altLang="en-US"/>
        </a:p>
      </dgm:t>
    </dgm:pt>
    <dgm:pt modelId="{EFDC4874-CC8F-4DAD-B18A-F58139059340}">
      <dgm:prSet phldrT="[文本]" custT="1"/>
      <dgm:spPr/>
      <dgm:t>
        <a:bodyPr/>
        <a:lstStyle/>
        <a:p>
          <a:r>
            <a:rPr lang="zh-CN" altLang="en-US" sz="2800" b="1" dirty="0">
              <a:solidFill>
                <a:schemeClr val="tx1"/>
              </a:solidFill>
            </a:rPr>
            <a:t>购买一注福利彩票双色球</a:t>
          </a:r>
        </a:p>
      </dgm:t>
    </dgm:pt>
    <dgm:pt modelId="{ACD73324-0EC7-4F6C-A42A-B4A3A391D6A0}" type="parTrans" cxnId="{60B36D12-220B-45F1-B130-8A80C4E9A539}">
      <dgm:prSet/>
      <dgm:spPr/>
      <dgm:t>
        <a:bodyPr/>
        <a:lstStyle/>
        <a:p>
          <a:endParaRPr lang="zh-CN" altLang="en-US" sz="1800"/>
        </a:p>
      </dgm:t>
    </dgm:pt>
    <dgm:pt modelId="{A00EA3D6-13AB-4EAF-9ACD-A2118E050F60}" type="sibTrans" cxnId="{60B36D12-220B-45F1-B130-8A80C4E9A539}">
      <dgm:prSet custT="1"/>
      <dgm:spPr/>
      <dgm:t>
        <a:bodyPr/>
        <a:lstStyle/>
        <a:p>
          <a:endParaRPr lang="zh-CN" altLang="en-US" sz="1800"/>
        </a:p>
      </dgm:t>
    </dgm:pt>
    <dgm:pt modelId="{6F92CFAD-A333-4B70-9F54-30E1896D0B37}">
      <dgm:prSet phldrT="[文本]" custT="1"/>
      <dgm:spPr/>
      <dgm:t>
        <a:bodyPr/>
        <a:lstStyle/>
        <a:p>
          <a:r>
            <a:rPr lang="zh-CN" altLang="en-US" sz="2800" b="1" dirty="0">
              <a:solidFill>
                <a:schemeClr val="tx1"/>
              </a:solidFill>
            </a:rPr>
            <a:t>机选</a:t>
          </a:r>
        </a:p>
      </dgm:t>
    </dgm:pt>
    <dgm:pt modelId="{34A161F1-BE91-47E7-968A-35E95C5CABA6}" type="parTrans" cxnId="{BD2B05DE-E77A-4F32-AED6-A2AC7E73143F}">
      <dgm:prSet/>
      <dgm:spPr/>
      <dgm:t>
        <a:bodyPr/>
        <a:lstStyle/>
        <a:p>
          <a:endParaRPr lang="zh-CN" altLang="en-US" sz="1800"/>
        </a:p>
      </dgm:t>
    </dgm:pt>
    <dgm:pt modelId="{0FEEDC24-7E39-4668-BF03-494A227B675D}" type="sibTrans" cxnId="{BD2B05DE-E77A-4F32-AED6-A2AC7E73143F}">
      <dgm:prSet custT="1"/>
      <dgm:spPr/>
      <dgm:t>
        <a:bodyPr/>
        <a:lstStyle/>
        <a:p>
          <a:endParaRPr lang="zh-CN" altLang="en-US" sz="1800"/>
        </a:p>
      </dgm:t>
    </dgm:pt>
    <dgm:pt modelId="{BD80AB08-66D9-4DF3-B332-008C2E3C46A1}">
      <dgm:prSet phldrT="[文本]" custT="1"/>
      <dgm:spPr/>
      <dgm:t>
        <a:bodyPr/>
        <a:lstStyle/>
        <a:p>
          <a:r>
            <a:rPr lang="zh-CN" altLang="en-US" sz="2800" b="1" dirty="0">
              <a:solidFill>
                <a:schemeClr val="tx1"/>
              </a:solidFill>
            </a:rPr>
            <a:t>自选</a:t>
          </a:r>
        </a:p>
      </dgm:t>
    </dgm:pt>
    <dgm:pt modelId="{C20C9637-0A97-4B92-BF91-5AB1DFA68C7F}" type="parTrans" cxnId="{D8DDF349-2DE5-4FBF-86AB-06C3A0B2E5EE}">
      <dgm:prSet/>
      <dgm:spPr/>
      <dgm:t>
        <a:bodyPr/>
        <a:lstStyle/>
        <a:p>
          <a:endParaRPr lang="zh-CN" altLang="en-US" sz="1800"/>
        </a:p>
      </dgm:t>
    </dgm:pt>
    <dgm:pt modelId="{2FF7BBCE-C119-431B-A50C-F74CAF0A3D96}" type="sibTrans" cxnId="{D8DDF349-2DE5-4FBF-86AB-06C3A0B2E5EE}">
      <dgm:prSet custT="1"/>
      <dgm:spPr/>
      <dgm:t>
        <a:bodyPr/>
        <a:lstStyle/>
        <a:p>
          <a:endParaRPr lang="zh-CN" altLang="en-US" sz="1800"/>
        </a:p>
      </dgm:t>
    </dgm:pt>
    <dgm:pt modelId="{258A9EFC-827A-4ECD-B834-41232895E157}">
      <dgm:prSet phldrT="[文本]" custT="1"/>
      <dgm:spPr/>
      <dgm:t>
        <a:bodyPr/>
        <a:lstStyle/>
        <a:p>
          <a:r>
            <a:rPr lang="zh-CN" altLang="en-US" sz="2800" b="1" dirty="0">
              <a:solidFill>
                <a:schemeClr val="tx1"/>
              </a:solidFill>
            </a:rPr>
            <a:t>显示</a:t>
          </a:r>
        </a:p>
      </dgm:t>
    </dgm:pt>
    <dgm:pt modelId="{1616357D-D46E-4DB7-842F-4FEDD4D9CB8B}" type="parTrans" cxnId="{33E13FAB-2E93-4C52-ABB4-F73374D6FE09}">
      <dgm:prSet/>
      <dgm:spPr/>
      <dgm:t>
        <a:bodyPr/>
        <a:lstStyle/>
        <a:p>
          <a:endParaRPr lang="zh-CN" altLang="en-US" sz="1800"/>
        </a:p>
      </dgm:t>
    </dgm:pt>
    <dgm:pt modelId="{019FFBB4-E5A3-4A69-87C6-2E02C20061B5}" type="sibTrans" cxnId="{33E13FAB-2E93-4C52-ABB4-F73374D6FE09}">
      <dgm:prSet custT="1"/>
      <dgm:spPr/>
      <dgm:t>
        <a:bodyPr/>
        <a:lstStyle/>
        <a:p>
          <a:endParaRPr lang="zh-CN" altLang="en-US" sz="1800"/>
        </a:p>
      </dgm:t>
    </dgm:pt>
    <dgm:pt modelId="{E9A492C1-84EF-45C1-BDD1-45230D66CE9C}">
      <dgm:prSet phldrT="[文本]" custT="1"/>
      <dgm:spPr/>
      <dgm:t>
        <a:bodyPr/>
        <a:lstStyle/>
        <a:p>
          <a:r>
            <a:rPr lang="zh-CN" altLang="en-US" sz="2800" b="1" dirty="0">
              <a:solidFill>
                <a:schemeClr val="tx1"/>
              </a:solidFill>
            </a:rPr>
            <a:t>保存</a:t>
          </a:r>
        </a:p>
      </dgm:t>
    </dgm:pt>
    <dgm:pt modelId="{DCA39486-6AB9-4889-B577-DF85F270A27C}" type="parTrans" cxnId="{A87AF5F5-CC89-4504-804D-AC3366A44368}">
      <dgm:prSet/>
      <dgm:spPr/>
      <dgm:t>
        <a:bodyPr/>
        <a:lstStyle/>
        <a:p>
          <a:endParaRPr lang="zh-CN" altLang="en-US"/>
        </a:p>
      </dgm:t>
    </dgm:pt>
    <dgm:pt modelId="{658E1980-659B-46E2-AB75-F91ABBBBCA1A}" type="sibTrans" cxnId="{A87AF5F5-CC89-4504-804D-AC3366A44368}">
      <dgm:prSet/>
      <dgm:spPr/>
      <dgm:t>
        <a:bodyPr/>
        <a:lstStyle/>
        <a:p>
          <a:endParaRPr lang="zh-CN" altLang="en-US"/>
        </a:p>
      </dgm:t>
    </dgm:pt>
    <dgm:pt modelId="{84AAAA19-DBD6-42C6-A475-B0E9BADD8E0A}" type="pres">
      <dgm:prSet presAssocID="{9DB36A60-8FC3-410C-9C0C-4E1909C105FA}" presName="hierChild1" presStyleCnt="0">
        <dgm:presLayoutVars>
          <dgm:orgChart val="1"/>
          <dgm:chPref val="1"/>
          <dgm:dir/>
          <dgm:animOne val="branch"/>
          <dgm:animLvl val="lvl"/>
          <dgm:resizeHandles/>
        </dgm:presLayoutVars>
      </dgm:prSet>
      <dgm:spPr/>
    </dgm:pt>
    <dgm:pt modelId="{0BB64E96-717C-4B17-B923-BAFC2A4EB7D4}" type="pres">
      <dgm:prSet presAssocID="{EFDC4874-CC8F-4DAD-B18A-F58139059340}" presName="hierRoot1" presStyleCnt="0">
        <dgm:presLayoutVars>
          <dgm:hierBranch val="init"/>
        </dgm:presLayoutVars>
      </dgm:prSet>
      <dgm:spPr/>
    </dgm:pt>
    <dgm:pt modelId="{2F3A247B-4A15-4B17-B69B-55835D8D8B6E}" type="pres">
      <dgm:prSet presAssocID="{EFDC4874-CC8F-4DAD-B18A-F58139059340}" presName="rootComposite1" presStyleCnt="0"/>
      <dgm:spPr/>
    </dgm:pt>
    <dgm:pt modelId="{5DB775D6-2C64-4964-A017-61E5D1D82691}" type="pres">
      <dgm:prSet presAssocID="{EFDC4874-CC8F-4DAD-B18A-F58139059340}" presName="rootText1" presStyleLbl="node0" presStyleIdx="0" presStyleCnt="1" custScaleX="244775">
        <dgm:presLayoutVars>
          <dgm:chPref val="3"/>
        </dgm:presLayoutVars>
      </dgm:prSet>
      <dgm:spPr/>
    </dgm:pt>
    <dgm:pt modelId="{694F8B7A-DF6E-4796-AFC1-2B8588E9427D}" type="pres">
      <dgm:prSet presAssocID="{EFDC4874-CC8F-4DAD-B18A-F58139059340}" presName="rootConnector1" presStyleLbl="node1" presStyleIdx="0" presStyleCnt="0"/>
      <dgm:spPr/>
    </dgm:pt>
    <dgm:pt modelId="{209BC2FE-8056-4A2D-8250-ED67FC2D1272}" type="pres">
      <dgm:prSet presAssocID="{EFDC4874-CC8F-4DAD-B18A-F58139059340}" presName="hierChild2" presStyleCnt="0"/>
      <dgm:spPr/>
    </dgm:pt>
    <dgm:pt modelId="{F0530392-2EE4-48EA-9A27-0E5B73AABC63}" type="pres">
      <dgm:prSet presAssocID="{34A161F1-BE91-47E7-968A-35E95C5CABA6}" presName="Name37" presStyleLbl="parChTrans1D2" presStyleIdx="0" presStyleCnt="4"/>
      <dgm:spPr/>
    </dgm:pt>
    <dgm:pt modelId="{F1391CF2-3846-4841-96C8-EF264F96765B}" type="pres">
      <dgm:prSet presAssocID="{6F92CFAD-A333-4B70-9F54-30E1896D0B37}" presName="hierRoot2" presStyleCnt="0">
        <dgm:presLayoutVars>
          <dgm:hierBranch val="init"/>
        </dgm:presLayoutVars>
      </dgm:prSet>
      <dgm:spPr/>
    </dgm:pt>
    <dgm:pt modelId="{53E8C24C-3D44-4361-B02F-6CF5E3C3C466}" type="pres">
      <dgm:prSet presAssocID="{6F92CFAD-A333-4B70-9F54-30E1896D0B37}" presName="rootComposite" presStyleCnt="0"/>
      <dgm:spPr/>
    </dgm:pt>
    <dgm:pt modelId="{4510064D-D2DA-433C-8760-304A1FF15B2C}" type="pres">
      <dgm:prSet presAssocID="{6F92CFAD-A333-4B70-9F54-30E1896D0B37}" presName="rootText" presStyleLbl="node2" presStyleIdx="0" presStyleCnt="4">
        <dgm:presLayoutVars>
          <dgm:chPref val="3"/>
        </dgm:presLayoutVars>
      </dgm:prSet>
      <dgm:spPr/>
    </dgm:pt>
    <dgm:pt modelId="{9CA1BD43-E2E1-4DEF-8E54-C4D34A06A787}" type="pres">
      <dgm:prSet presAssocID="{6F92CFAD-A333-4B70-9F54-30E1896D0B37}" presName="rootConnector" presStyleLbl="node2" presStyleIdx="0" presStyleCnt="4"/>
      <dgm:spPr/>
    </dgm:pt>
    <dgm:pt modelId="{F5F36348-D823-4163-ADC9-0C4FC0EA3EBC}" type="pres">
      <dgm:prSet presAssocID="{6F92CFAD-A333-4B70-9F54-30E1896D0B37}" presName="hierChild4" presStyleCnt="0"/>
      <dgm:spPr/>
    </dgm:pt>
    <dgm:pt modelId="{225B830F-E1AD-4113-9CCB-33CADBF0A854}" type="pres">
      <dgm:prSet presAssocID="{6F92CFAD-A333-4B70-9F54-30E1896D0B37}" presName="hierChild5" presStyleCnt="0"/>
      <dgm:spPr/>
    </dgm:pt>
    <dgm:pt modelId="{C21F02E2-4687-44A7-B17E-31FFE39D8F6B}" type="pres">
      <dgm:prSet presAssocID="{C20C9637-0A97-4B92-BF91-5AB1DFA68C7F}" presName="Name37" presStyleLbl="parChTrans1D2" presStyleIdx="1" presStyleCnt="4"/>
      <dgm:spPr/>
    </dgm:pt>
    <dgm:pt modelId="{8ACC306A-D85E-41E4-905F-CF79F079D669}" type="pres">
      <dgm:prSet presAssocID="{BD80AB08-66D9-4DF3-B332-008C2E3C46A1}" presName="hierRoot2" presStyleCnt="0">
        <dgm:presLayoutVars>
          <dgm:hierBranch val="init"/>
        </dgm:presLayoutVars>
      </dgm:prSet>
      <dgm:spPr/>
    </dgm:pt>
    <dgm:pt modelId="{8C4A647D-599D-471F-9C4C-CA00277A0064}" type="pres">
      <dgm:prSet presAssocID="{BD80AB08-66D9-4DF3-B332-008C2E3C46A1}" presName="rootComposite" presStyleCnt="0"/>
      <dgm:spPr/>
    </dgm:pt>
    <dgm:pt modelId="{8E687C13-5EE3-4416-828B-A1C6EDB97F14}" type="pres">
      <dgm:prSet presAssocID="{BD80AB08-66D9-4DF3-B332-008C2E3C46A1}" presName="rootText" presStyleLbl="node2" presStyleIdx="1" presStyleCnt="4">
        <dgm:presLayoutVars>
          <dgm:chPref val="3"/>
        </dgm:presLayoutVars>
      </dgm:prSet>
      <dgm:spPr/>
    </dgm:pt>
    <dgm:pt modelId="{C2FC0622-8F6B-4A2C-AD1C-6AA3D804DCDE}" type="pres">
      <dgm:prSet presAssocID="{BD80AB08-66D9-4DF3-B332-008C2E3C46A1}" presName="rootConnector" presStyleLbl="node2" presStyleIdx="1" presStyleCnt="4"/>
      <dgm:spPr/>
    </dgm:pt>
    <dgm:pt modelId="{04C5072B-BC6C-41DC-B49A-69485723EEDB}" type="pres">
      <dgm:prSet presAssocID="{BD80AB08-66D9-4DF3-B332-008C2E3C46A1}" presName="hierChild4" presStyleCnt="0"/>
      <dgm:spPr/>
    </dgm:pt>
    <dgm:pt modelId="{B782040D-8FE1-49A2-AE1C-9F0168103876}" type="pres">
      <dgm:prSet presAssocID="{BD80AB08-66D9-4DF3-B332-008C2E3C46A1}" presName="hierChild5" presStyleCnt="0"/>
      <dgm:spPr/>
    </dgm:pt>
    <dgm:pt modelId="{83482B6B-136A-4C8F-AE9D-8FB256E8FD51}" type="pres">
      <dgm:prSet presAssocID="{1616357D-D46E-4DB7-842F-4FEDD4D9CB8B}" presName="Name37" presStyleLbl="parChTrans1D2" presStyleIdx="2" presStyleCnt="4"/>
      <dgm:spPr/>
    </dgm:pt>
    <dgm:pt modelId="{25223E14-4BD5-4A05-A617-9B2057622592}" type="pres">
      <dgm:prSet presAssocID="{258A9EFC-827A-4ECD-B834-41232895E157}" presName="hierRoot2" presStyleCnt="0">
        <dgm:presLayoutVars>
          <dgm:hierBranch val="init"/>
        </dgm:presLayoutVars>
      </dgm:prSet>
      <dgm:spPr/>
    </dgm:pt>
    <dgm:pt modelId="{A3ECDF2D-2861-49FB-93EF-4D95FD19B0F3}" type="pres">
      <dgm:prSet presAssocID="{258A9EFC-827A-4ECD-B834-41232895E157}" presName="rootComposite" presStyleCnt="0"/>
      <dgm:spPr/>
    </dgm:pt>
    <dgm:pt modelId="{879090F8-4D63-4A97-936F-BE6E8EC3C60F}" type="pres">
      <dgm:prSet presAssocID="{258A9EFC-827A-4ECD-B834-41232895E157}" presName="rootText" presStyleLbl="node2" presStyleIdx="2" presStyleCnt="4">
        <dgm:presLayoutVars>
          <dgm:chPref val="3"/>
        </dgm:presLayoutVars>
      </dgm:prSet>
      <dgm:spPr/>
    </dgm:pt>
    <dgm:pt modelId="{6D54E0DB-2B58-4587-A790-BECC6F6E8A56}" type="pres">
      <dgm:prSet presAssocID="{258A9EFC-827A-4ECD-B834-41232895E157}" presName="rootConnector" presStyleLbl="node2" presStyleIdx="2" presStyleCnt="4"/>
      <dgm:spPr/>
    </dgm:pt>
    <dgm:pt modelId="{8855093F-6BB4-4DA1-852D-21041DAB5A38}" type="pres">
      <dgm:prSet presAssocID="{258A9EFC-827A-4ECD-B834-41232895E157}" presName="hierChild4" presStyleCnt="0"/>
      <dgm:spPr/>
    </dgm:pt>
    <dgm:pt modelId="{6E5E66E4-ADEB-4672-9F06-21C17D13C2B3}" type="pres">
      <dgm:prSet presAssocID="{258A9EFC-827A-4ECD-B834-41232895E157}" presName="hierChild5" presStyleCnt="0"/>
      <dgm:spPr/>
    </dgm:pt>
    <dgm:pt modelId="{5583751E-7F2B-44FE-9F94-04B7BE83796E}" type="pres">
      <dgm:prSet presAssocID="{DCA39486-6AB9-4889-B577-DF85F270A27C}" presName="Name37" presStyleLbl="parChTrans1D2" presStyleIdx="3" presStyleCnt="4"/>
      <dgm:spPr/>
    </dgm:pt>
    <dgm:pt modelId="{D2121E47-F88B-4793-B784-4F7B7659BF56}" type="pres">
      <dgm:prSet presAssocID="{E9A492C1-84EF-45C1-BDD1-45230D66CE9C}" presName="hierRoot2" presStyleCnt="0">
        <dgm:presLayoutVars>
          <dgm:hierBranch val="init"/>
        </dgm:presLayoutVars>
      </dgm:prSet>
      <dgm:spPr/>
    </dgm:pt>
    <dgm:pt modelId="{8B6EC2B8-F0CA-4E1A-BAB4-9A7BCBFE4416}" type="pres">
      <dgm:prSet presAssocID="{E9A492C1-84EF-45C1-BDD1-45230D66CE9C}" presName="rootComposite" presStyleCnt="0"/>
      <dgm:spPr/>
    </dgm:pt>
    <dgm:pt modelId="{828D91FE-0C84-45B3-94AA-79CF660706F4}" type="pres">
      <dgm:prSet presAssocID="{E9A492C1-84EF-45C1-BDD1-45230D66CE9C}" presName="rootText" presStyleLbl="node2" presStyleIdx="3" presStyleCnt="4">
        <dgm:presLayoutVars>
          <dgm:chPref val="3"/>
        </dgm:presLayoutVars>
      </dgm:prSet>
      <dgm:spPr/>
    </dgm:pt>
    <dgm:pt modelId="{EA3EE492-07F3-4311-A227-1CBB63D227E3}" type="pres">
      <dgm:prSet presAssocID="{E9A492C1-84EF-45C1-BDD1-45230D66CE9C}" presName="rootConnector" presStyleLbl="node2" presStyleIdx="3" presStyleCnt="4"/>
      <dgm:spPr/>
    </dgm:pt>
    <dgm:pt modelId="{94E3A614-C125-45C3-A579-2B6AFB2A9543}" type="pres">
      <dgm:prSet presAssocID="{E9A492C1-84EF-45C1-BDD1-45230D66CE9C}" presName="hierChild4" presStyleCnt="0"/>
      <dgm:spPr/>
    </dgm:pt>
    <dgm:pt modelId="{FB02EBC5-9C47-4C59-B6A4-1B19BC98F813}" type="pres">
      <dgm:prSet presAssocID="{E9A492C1-84EF-45C1-BDD1-45230D66CE9C}" presName="hierChild5" presStyleCnt="0"/>
      <dgm:spPr/>
    </dgm:pt>
    <dgm:pt modelId="{6740101C-5731-4424-A7C0-6D40B7CDC264}" type="pres">
      <dgm:prSet presAssocID="{EFDC4874-CC8F-4DAD-B18A-F58139059340}" presName="hierChild3" presStyleCnt="0"/>
      <dgm:spPr/>
    </dgm:pt>
  </dgm:ptLst>
  <dgm:cxnLst>
    <dgm:cxn modelId="{A32A6B0A-BC82-4AB9-AB3F-9EA4D8142016}" type="presOf" srcId="{6F92CFAD-A333-4B70-9F54-30E1896D0B37}" destId="{4510064D-D2DA-433C-8760-304A1FF15B2C}" srcOrd="0" destOrd="0" presId="urn:microsoft.com/office/officeart/2005/8/layout/orgChart1"/>
    <dgm:cxn modelId="{60B36D12-220B-45F1-B130-8A80C4E9A539}" srcId="{9DB36A60-8FC3-410C-9C0C-4E1909C105FA}" destId="{EFDC4874-CC8F-4DAD-B18A-F58139059340}" srcOrd="0" destOrd="0" parTransId="{ACD73324-0EC7-4F6C-A42A-B4A3A391D6A0}" sibTransId="{A00EA3D6-13AB-4EAF-9ACD-A2118E050F60}"/>
    <dgm:cxn modelId="{D8DDF349-2DE5-4FBF-86AB-06C3A0B2E5EE}" srcId="{EFDC4874-CC8F-4DAD-B18A-F58139059340}" destId="{BD80AB08-66D9-4DF3-B332-008C2E3C46A1}" srcOrd="1" destOrd="0" parTransId="{C20C9637-0A97-4B92-BF91-5AB1DFA68C7F}" sibTransId="{2FF7BBCE-C119-431B-A50C-F74CAF0A3D96}"/>
    <dgm:cxn modelId="{B1D82C4B-CBF6-4A33-A4DB-E8C55C7A399A}" type="presOf" srcId="{BD80AB08-66D9-4DF3-B332-008C2E3C46A1}" destId="{C2FC0622-8F6B-4A2C-AD1C-6AA3D804DCDE}" srcOrd="1" destOrd="0" presId="urn:microsoft.com/office/officeart/2005/8/layout/orgChart1"/>
    <dgm:cxn modelId="{BD1D626D-70D0-4CE8-AA10-22ECEA873649}" type="presOf" srcId="{6F92CFAD-A333-4B70-9F54-30E1896D0B37}" destId="{9CA1BD43-E2E1-4DEF-8E54-C4D34A06A787}" srcOrd="1" destOrd="0" presId="urn:microsoft.com/office/officeart/2005/8/layout/orgChart1"/>
    <dgm:cxn modelId="{919F8779-09ED-49E6-813C-5B7E596F0F53}" type="presOf" srcId="{9DB36A60-8FC3-410C-9C0C-4E1909C105FA}" destId="{84AAAA19-DBD6-42C6-A475-B0E9BADD8E0A}" srcOrd="0" destOrd="0" presId="urn:microsoft.com/office/officeart/2005/8/layout/orgChart1"/>
    <dgm:cxn modelId="{D0D3DA80-9352-4015-8E90-A7EF090B0118}" type="presOf" srcId="{EFDC4874-CC8F-4DAD-B18A-F58139059340}" destId="{5DB775D6-2C64-4964-A017-61E5D1D82691}" srcOrd="0" destOrd="0" presId="urn:microsoft.com/office/officeart/2005/8/layout/orgChart1"/>
    <dgm:cxn modelId="{09759D84-06FC-4B46-9FAC-7E3DB4AE4710}" type="presOf" srcId="{E9A492C1-84EF-45C1-BDD1-45230D66CE9C}" destId="{828D91FE-0C84-45B3-94AA-79CF660706F4}" srcOrd="0" destOrd="0" presId="urn:microsoft.com/office/officeart/2005/8/layout/orgChart1"/>
    <dgm:cxn modelId="{A0874D8C-5DE2-4307-9B1A-668F4BD7057F}" type="presOf" srcId="{DCA39486-6AB9-4889-B577-DF85F270A27C}" destId="{5583751E-7F2B-44FE-9F94-04B7BE83796E}" srcOrd="0" destOrd="0" presId="urn:microsoft.com/office/officeart/2005/8/layout/orgChart1"/>
    <dgm:cxn modelId="{FA23E88D-4730-42F5-BCF8-35E25C8E28C3}" type="presOf" srcId="{BD80AB08-66D9-4DF3-B332-008C2E3C46A1}" destId="{8E687C13-5EE3-4416-828B-A1C6EDB97F14}" srcOrd="0" destOrd="0" presId="urn:microsoft.com/office/officeart/2005/8/layout/orgChart1"/>
    <dgm:cxn modelId="{33E13FAB-2E93-4C52-ABB4-F73374D6FE09}" srcId="{EFDC4874-CC8F-4DAD-B18A-F58139059340}" destId="{258A9EFC-827A-4ECD-B834-41232895E157}" srcOrd="2" destOrd="0" parTransId="{1616357D-D46E-4DB7-842F-4FEDD4D9CB8B}" sibTransId="{019FFBB4-E5A3-4A69-87C6-2E02C20061B5}"/>
    <dgm:cxn modelId="{559C53CC-B9D9-4241-954B-87A70B7536D0}" type="presOf" srcId="{258A9EFC-827A-4ECD-B834-41232895E157}" destId="{879090F8-4D63-4A97-936F-BE6E8EC3C60F}" srcOrd="0" destOrd="0" presId="urn:microsoft.com/office/officeart/2005/8/layout/orgChart1"/>
    <dgm:cxn modelId="{50926FD0-DB0C-41FB-934B-20B42BC449EB}" type="presOf" srcId="{258A9EFC-827A-4ECD-B834-41232895E157}" destId="{6D54E0DB-2B58-4587-A790-BECC6F6E8A56}" srcOrd="1" destOrd="0" presId="urn:microsoft.com/office/officeart/2005/8/layout/orgChart1"/>
    <dgm:cxn modelId="{B4682AD8-402A-40F9-AFA6-6A4FC4641115}" type="presOf" srcId="{E9A492C1-84EF-45C1-BDD1-45230D66CE9C}" destId="{EA3EE492-07F3-4311-A227-1CBB63D227E3}" srcOrd="1" destOrd="0" presId="urn:microsoft.com/office/officeart/2005/8/layout/orgChart1"/>
    <dgm:cxn modelId="{AF78BEDD-9675-4F96-83C7-C386CEC33EBC}" type="presOf" srcId="{C20C9637-0A97-4B92-BF91-5AB1DFA68C7F}" destId="{C21F02E2-4687-44A7-B17E-31FFE39D8F6B}" srcOrd="0" destOrd="0" presId="urn:microsoft.com/office/officeart/2005/8/layout/orgChart1"/>
    <dgm:cxn modelId="{BD2B05DE-E77A-4F32-AED6-A2AC7E73143F}" srcId="{EFDC4874-CC8F-4DAD-B18A-F58139059340}" destId="{6F92CFAD-A333-4B70-9F54-30E1896D0B37}" srcOrd="0" destOrd="0" parTransId="{34A161F1-BE91-47E7-968A-35E95C5CABA6}" sibTransId="{0FEEDC24-7E39-4668-BF03-494A227B675D}"/>
    <dgm:cxn modelId="{A87AF5F5-CC89-4504-804D-AC3366A44368}" srcId="{EFDC4874-CC8F-4DAD-B18A-F58139059340}" destId="{E9A492C1-84EF-45C1-BDD1-45230D66CE9C}" srcOrd="3" destOrd="0" parTransId="{DCA39486-6AB9-4889-B577-DF85F270A27C}" sibTransId="{658E1980-659B-46E2-AB75-F91ABBBBCA1A}"/>
    <dgm:cxn modelId="{5D7AF3FA-E840-404D-87C9-145F3B814B78}" type="presOf" srcId="{1616357D-D46E-4DB7-842F-4FEDD4D9CB8B}" destId="{83482B6B-136A-4C8F-AE9D-8FB256E8FD51}" srcOrd="0" destOrd="0" presId="urn:microsoft.com/office/officeart/2005/8/layout/orgChart1"/>
    <dgm:cxn modelId="{229950FF-8B8E-45E7-8B8B-6AE149C72C58}" type="presOf" srcId="{EFDC4874-CC8F-4DAD-B18A-F58139059340}" destId="{694F8B7A-DF6E-4796-AFC1-2B8588E9427D}" srcOrd="1" destOrd="0" presId="urn:microsoft.com/office/officeart/2005/8/layout/orgChart1"/>
    <dgm:cxn modelId="{5F3EC6FF-E582-405D-A135-187D104A362F}" type="presOf" srcId="{34A161F1-BE91-47E7-968A-35E95C5CABA6}" destId="{F0530392-2EE4-48EA-9A27-0E5B73AABC63}" srcOrd="0" destOrd="0" presId="urn:microsoft.com/office/officeart/2005/8/layout/orgChart1"/>
    <dgm:cxn modelId="{72CFACEF-AB5C-4CA0-B971-0B9A9A14BDDC}" type="presParOf" srcId="{84AAAA19-DBD6-42C6-A475-B0E9BADD8E0A}" destId="{0BB64E96-717C-4B17-B923-BAFC2A4EB7D4}" srcOrd="0" destOrd="0" presId="urn:microsoft.com/office/officeart/2005/8/layout/orgChart1"/>
    <dgm:cxn modelId="{A8905011-7412-4D38-9D70-E81EFE9FBD02}" type="presParOf" srcId="{0BB64E96-717C-4B17-B923-BAFC2A4EB7D4}" destId="{2F3A247B-4A15-4B17-B69B-55835D8D8B6E}" srcOrd="0" destOrd="0" presId="urn:microsoft.com/office/officeart/2005/8/layout/orgChart1"/>
    <dgm:cxn modelId="{E638C0B8-6A9C-4DD8-9B05-DF51D10C86E3}" type="presParOf" srcId="{2F3A247B-4A15-4B17-B69B-55835D8D8B6E}" destId="{5DB775D6-2C64-4964-A017-61E5D1D82691}" srcOrd="0" destOrd="0" presId="urn:microsoft.com/office/officeart/2005/8/layout/orgChart1"/>
    <dgm:cxn modelId="{5D1A0692-ADE3-4D05-9C2F-66B536BEAB58}" type="presParOf" srcId="{2F3A247B-4A15-4B17-B69B-55835D8D8B6E}" destId="{694F8B7A-DF6E-4796-AFC1-2B8588E9427D}" srcOrd="1" destOrd="0" presId="urn:microsoft.com/office/officeart/2005/8/layout/orgChart1"/>
    <dgm:cxn modelId="{D131B3A1-D770-4457-B001-B9EBC8941F4E}" type="presParOf" srcId="{0BB64E96-717C-4B17-B923-BAFC2A4EB7D4}" destId="{209BC2FE-8056-4A2D-8250-ED67FC2D1272}" srcOrd="1" destOrd="0" presId="urn:microsoft.com/office/officeart/2005/8/layout/orgChart1"/>
    <dgm:cxn modelId="{D9AB54FB-FA8E-43A4-B242-BCBF0E50C054}" type="presParOf" srcId="{209BC2FE-8056-4A2D-8250-ED67FC2D1272}" destId="{F0530392-2EE4-48EA-9A27-0E5B73AABC63}" srcOrd="0" destOrd="0" presId="urn:microsoft.com/office/officeart/2005/8/layout/orgChart1"/>
    <dgm:cxn modelId="{E67DAA3F-D294-4A39-9751-4F1F3FB0A879}" type="presParOf" srcId="{209BC2FE-8056-4A2D-8250-ED67FC2D1272}" destId="{F1391CF2-3846-4841-96C8-EF264F96765B}" srcOrd="1" destOrd="0" presId="urn:microsoft.com/office/officeart/2005/8/layout/orgChart1"/>
    <dgm:cxn modelId="{7883DA2A-7EDA-45D8-9A3E-DAC273CD3D34}" type="presParOf" srcId="{F1391CF2-3846-4841-96C8-EF264F96765B}" destId="{53E8C24C-3D44-4361-B02F-6CF5E3C3C466}" srcOrd="0" destOrd="0" presId="urn:microsoft.com/office/officeart/2005/8/layout/orgChart1"/>
    <dgm:cxn modelId="{3339D9DC-6B62-42B4-8604-1F89B9CF496E}" type="presParOf" srcId="{53E8C24C-3D44-4361-B02F-6CF5E3C3C466}" destId="{4510064D-D2DA-433C-8760-304A1FF15B2C}" srcOrd="0" destOrd="0" presId="urn:microsoft.com/office/officeart/2005/8/layout/orgChart1"/>
    <dgm:cxn modelId="{38E3DE09-A9AF-474A-A644-265F04AFD437}" type="presParOf" srcId="{53E8C24C-3D44-4361-B02F-6CF5E3C3C466}" destId="{9CA1BD43-E2E1-4DEF-8E54-C4D34A06A787}" srcOrd="1" destOrd="0" presId="urn:microsoft.com/office/officeart/2005/8/layout/orgChart1"/>
    <dgm:cxn modelId="{F2240AAD-5EC5-4E24-9E9D-4B98C16A2635}" type="presParOf" srcId="{F1391CF2-3846-4841-96C8-EF264F96765B}" destId="{F5F36348-D823-4163-ADC9-0C4FC0EA3EBC}" srcOrd="1" destOrd="0" presId="urn:microsoft.com/office/officeart/2005/8/layout/orgChart1"/>
    <dgm:cxn modelId="{B2748973-1F0B-427D-BA38-97C900747EA8}" type="presParOf" srcId="{F1391CF2-3846-4841-96C8-EF264F96765B}" destId="{225B830F-E1AD-4113-9CCB-33CADBF0A854}" srcOrd="2" destOrd="0" presId="urn:microsoft.com/office/officeart/2005/8/layout/orgChart1"/>
    <dgm:cxn modelId="{D48B58AD-0D48-4AA7-A327-8560DF930365}" type="presParOf" srcId="{209BC2FE-8056-4A2D-8250-ED67FC2D1272}" destId="{C21F02E2-4687-44A7-B17E-31FFE39D8F6B}" srcOrd="2" destOrd="0" presId="urn:microsoft.com/office/officeart/2005/8/layout/orgChart1"/>
    <dgm:cxn modelId="{24DA2852-DA3F-4548-82B6-701D4689C544}" type="presParOf" srcId="{209BC2FE-8056-4A2D-8250-ED67FC2D1272}" destId="{8ACC306A-D85E-41E4-905F-CF79F079D669}" srcOrd="3" destOrd="0" presId="urn:microsoft.com/office/officeart/2005/8/layout/orgChart1"/>
    <dgm:cxn modelId="{63587A96-0BC9-4330-BCB7-8EFDFC6B2745}" type="presParOf" srcId="{8ACC306A-D85E-41E4-905F-CF79F079D669}" destId="{8C4A647D-599D-471F-9C4C-CA00277A0064}" srcOrd="0" destOrd="0" presId="urn:microsoft.com/office/officeart/2005/8/layout/orgChart1"/>
    <dgm:cxn modelId="{DE895206-D701-4B60-9008-A11473163C8C}" type="presParOf" srcId="{8C4A647D-599D-471F-9C4C-CA00277A0064}" destId="{8E687C13-5EE3-4416-828B-A1C6EDB97F14}" srcOrd="0" destOrd="0" presId="urn:microsoft.com/office/officeart/2005/8/layout/orgChart1"/>
    <dgm:cxn modelId="{37F02832-9E08-48EC-9DDC-717584562CC4}" type="presParOf" srcId="{8C4A647D-599D-471F-9C4C-CA00277A0064}" destId="{C2FC0622-8F6B-4A2C-AD1C-6AA3D804DCDE}" srcOrd="1" destOrd="0" presId="urn:microsoft.com/office/officeart/2005/8/layout/orgChart1"/>
    <dgm:cxn modelId="{552F8662-BCF7-4644-A2D0-A0008A8AA405}" type="presParOf" srcId="{8ACC306A-D85E-41E4-905F-CF79F079D669}" destId="{04C5072B-BC6C-41DC-B49A-69485723EEDB}" srcOrd="1" destOrd="0" presId="urn:microsoft.com/office/officeart/2005/8/layout/orgChart1"/>
    <dgm:cxn modelId="{A55FD825-1B98-48E4-BF01-EB536114796A}" type="presParOf" srcId="{8ACC306A-D85E-41E4-905F-CF79F079D669}" destId="{B782040D-8FE1-49A2-AE1C-9F0168103876}" srcOrd="2" destOrd="0" presId="urn:microsoft.com/office/officeart/2005/8/layout/orgChart1"/>
    <dgm:cxn modelId="{8DF7D386-38AA-468B-ABD8-64859A405A26}" type="presParOf" srcId="{209BC2FE-8056-4A2D-8250-ED67FC2D1272}" destId="{83482B6B-136A-4C8F-AE9D-8FB256E8FD51}" srcOrd="4" destOrd="0" presId="urn:microsoft.com/office/officeart/2005/8/layout/orgChart1"/>
    <dgm:cxn modelId="{AC97CFCF-075C-447D-9F63-82210DAC64BE}" type="presParOf" srcId="{209BC2FE-8056-4A2D-8250-ED67FC2D1272}" destId="{25223E14-4BD5-4A05-A617-9B2057622592}" srcOrd="5" destOrd="0" presId="urn:microsoft.com/office/officeart/2005/8/layout/orgChart1"/>
    <dgm:cxn modelId="{99EF9C25-8B99-4BE6-A08B-5055E6E3FD48}" type="presParOf" srcId="{25223E14-4BD5-4A05-A617-9B2057622592}" destId="{A3ECDF2D-2861-49FB-93EF-4D95FD19B0F3}" srcOrd="0" destOrd="0" presId="urn:microsoft.com/office/officeart/2005/8/layout/orgChart1"/>
    <dgm:cxn modelId="{F0A80948-5345-4C01-B55E-8DF5809E4D88}" type="presParOf" srcId="{A3ECDF2D-2861-49FB-93EF-4D95FD19B0F3}" destId="{879090F8-4D63-4A97-936F-BE6E8EC3C60F}" srcOrd="0" destOrd="0" presId="urn:microsoft.com/office/officeart/2005/8/layout/orgChart1"/>
    <dgm:cxn modelId="{7409695D-0B54-4290-9001-847476E2CF01}" type="presParOf" srcId="{A3ECDF2D-2861-49FB-93EF-4D95FD19B0F3}" destId="{6D54E0DB-2B58-4587-A790-BECC6F6E8A56}" srcOrd="1" destOrd="0" presId="urn:microsoft.com/office/officeart/2005/8/layout/orgChart1"/>
    <dgm:cxn modelId="{A8A73FA6-5330-4C90-8B6D-A2C3CA1FBE5C}" type="presParOf" srcId="{25223E14-4BD5-4A05-A617-9B2057622592}" destId="{8855093F-6BB4-4DA1-852D-21041DAB5A38}" srcOrd="1" destOrd="0" presId="urn:microsoft.com/office/officeart/2005/8/layout/orgChart1"/>
    <dgm:cxn modelId="{020731C1-C14F-44F9-85AF-7E0ABF7966A2}" type="presParOf" srcId="{25223E14-4BD5-4A05-A617-9B2057622592}" destId="{6E5E66E4-ADEB-4672-9F06-21C17D13C2B3}" srcOrd="2" destOrd="0" presId="urn:microsoft.com/office/officeart/2005/8/layout/orgChart1"/>
    <dgm:cxn modelId="{B5CEC5A1-535A-4209-8A10-C1AA414539CD}" type="presParOf" srcId="{209BC2FE-8056-4A2D-8250-ED67FC2D1272}" destId="{5583751E-7F2B-44FE-9F94-04B7BE83796E}" srcOrd="6" destOrd="0" presId="urn:microsoft.com/office/officeart/2005/8/layout/orgChart1"/>
    <dgm:cxn modelId="{CD49A74D-110B-40A5-8B40-6ED530B5B000}" type="presParOf" srcId="{209BC2FE-8056-4A2D-8250-ED67FC2D1272}" destId="{D2121E47-F88B-4793-B784-4F7B7659BF56}" srcOrd="7" destOrd="0" presId="urn:microsoft.com/office/officeart/2005/8/layout/orgChart1"/>
    <dgm:cxn modelId="{352CD888-E939-4802-BFC5-49FA26E330D1}" type="presParOf" srcId="{D2121E47-F88B-4793-B784-4F7B7659BF56}" destId="{8B6EC2B8-F0CA-4E1A-BAB4-9A7BCBFE4416}" srcOrd="0" destOrd="0" presId="urn:microsoft.com/office/officeart/2005/8/layout/orgChart1"/>
    <dgm:cxn modelId="{6EFE7A77-B569-425C-B13F-C0AA540BCAB5}" type="presParOf" srcId="{8B6EC2B8-F0CA-4E1A-BAB4-9A7BCBFE4416}" destId="{828D91FE-0C84-45B3-94AA-79CF660706F4}" srcOrd="0" destOrd="0" presId="urn:microsoft.com/office/officeart/2005/8/layout/orgChart1"/>
    <dgm:cxn modelId="{431B26D0-EAB5-4F11-9E25-7406EF09F021}" type="presParOf" srcId="{8B6EC2B8-F0CA-4E1A-BAB4-9A7BCBFE4416}" destId="{EA3EE492-07F3-4311-A227-1CBB63D227E3}" srcOrd="1" destOrd="0" presId="urn:microsoft.com/office/officeart/2005/8/layout/orgChart1"/>
    <dgm:cxn modelId="{14223106-4ADF-4B72-B34A-A890073E4336}" type="presParOf" srcId="{D2121E47-F88B-4793-B784-4F7B7659BF56}" destId="{94E3A614-C125-45C3-A579-2B6AFB2A9543}" srcOrd="1" destOrd="0" presId="urn:microsoft.com/office/officeart/2005/8/layout/orgChart1"/>
    <dgm:cxn modelId="{765968EB-B198-4556-9E30-6CB8E49D4818}" type="presParOf" srcId="{D2121E47-F88B-4793-B784-4F7B7659BF56}" destId="{FB02EBC5-9C47-4C59-B6A4-1B19BC98F813}" srcOrd="2" destOrd="0" presId="urn:microsoft.com/office/officeart/2005/8/layout/orgChart1"/>
    <dgm:cxn modelId="{394D1EE3-C055-46FC-9F41-9D5676C94F83}" type="presParOf" srcId="{0BB64E96-717C-4B17-B923-BAFC2A4EB7D4}" destId="{6740101C-5731-4424-A7C0-6D40B7CDC26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83751E-7F2B-44FE-9F94-04B7BE83796E}">
      <dsp:nvSpPr>
        <dsp:cNvPr id="0" name=""/>
        <dsp:cNvSpPr/>
      </dsp:nvSpPr>
      <dsp:spPr>
        <a:xfrm>
          <a:off x="4064000" y="1011778"/>
          <a:ext cx="3182949" cy="368275"/>
        </a:xfrm>
        <a:custGeom>
          <a:avLst/>
          <a:gdLst/>
          <a:ahLst/>
          <a:cxnLst/>
          <a:rect l="0" t="0" r="0" b="0"/>
          <a:pathLst>
            <a:path>
              <a:moveTo>
                <a:pt x="0" y="0"/>
              </a:moveTo>
              <a:lnTo>
                <a:pt x="0" y="184137"/>
              </a:lnTo>
              <a:lnTo>
                <a:pt x="3182949" y="184137"/>
              </a:lnTo>
              <a:lnTo>
                <a:pt x="3182949" y="36827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482B6B-136A-4C8F-AE9D-8FB256E8FD51}">
      <dsp:nvSpPr>
        <dsp:cNvPr id="0" name=""/>
        <dsp:cNvSpPr/>
      </dsp:nvSpPr>
      <dsp:spPr>
        <a:xfrm>
          <a:off x="4064000" y="1011778"/>
          <a:ext cx="1060983" cy="368275"/>
        </a:xfrm>
        <a:custGeom>
          <a:avLst/>
          <a:gdLst/>
          <a:ahLst/>
          <a:cxnLst/>
          <a:rect l="0" t="0" r="0" b="0"/>
          <a:pathLst>
            <a:path>
              <a:moveTo>
                <a:pt x="0" y="0"/>
              </a:moveTo>
              <a:lnTo>
                <a:pt x="0" y="184137"/>
              </a:lnTo>
              <a:lnTo>
                <a:pt x="1060983" y="184137"/>
              </a:lnTo>
              <a:lnTo>
                <a:pt x="1060983" y="36827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1F02E2-4687-44A7-B17E-31FFE39D8F6B}">
      <dsp:nvSpPr>
        <dsp:cNvPr id="0" name=""/>
        <dsp:cNvSpPr/>
      </dsp:nvSpPr>
      <dsp:spPr>
        <a:xfrm>
          <a:off x="3003016" y="1011778"/>
          <a:ext cx="1060983" cy="368275"/>
        </a:xfrm>
        <a:custGeom>
          <a:avLst/>
          <a:gdLst/>
          <a:ahLst/>
          <a:cxnLst/>
          <a:rect l="0" t="0" r="0" b="0"/>
          <a:pathLst>
            <a:path>
              <a:moveTo>
                <a:pt x="1060983" y="0"/>
              </a:moveTo>
              <a:lnTo>
                <a:pt x="1060983" y="184137"/>
              </a:lnTo>
              <a:lnTo>
                <a:pt x="0" y="184137"/>
              </a:lnTo>
              <a:lnTo>
                <a:pt x="0" y="36827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530392-2EE4-48EA-9A27-0E5B73AABC63}">
      <dsp:nvSpPr>
        <dsp:cNvPr id="0" name=""/>
        <dsp:cNvSpPr/>
      </dsp:nvSpPr>
      <dsp:spPr>
        <a:xfrm>
          <a:off x="881050" y="1011778"/>
          <a:ext cx="3182949" cy="368275"/>
        </a:xfrm>
        <a:custGeom>
          <a:avLst/>
          <a:gdLst/>
          <a:ahLst/>
          <a:cxnLst/>
          <a:rect l="0" t="0" r="0" b="0"/>
          <a:pathLst>
            <a:path>
              <a:moveTo>
                <a:pt x="3182949" y="0"/>
              </a:moveTo>
              <a:lnTo>
                <a:pt x="3182949" y="184137"/>
              </a:lnTo>
              <a:lnTo>
                <a:pt x="0" y="184137"/>
              </a:lnTo>
              <a:lnTo>
                <a:pt x="0" y="36827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B775D6-2C64-4964-A017-61E5D1D82691}">
      <dsp:nvSpPr>
        <dsp:cNvPr id="0" name=""/>
        <dsp:cNvSpPr/>
      </dsp:nvSpPr>
      <dsp:spPr>
        <a:xfrm>
          <a:off x="1917700" y="134933"/>
          <a:ext cx="4292598" cy="8768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chemeClr val="tx1"/>
              </a:solidFill>
            </a:rPr>
            <a:t>购买一注福利彩票双色球</a:t>
          </a:r>
        </a:p>
      </dsp:txBody>
      <dsp:txXfrm>
        <a:off x="1917700" y="134933"/>
        <a:ext cx="4292598" cy="876845"/>
      </dsp:txXfrm>
    </dsp:sp>
    <dsp:sp modelId="{4510064D-D2DA-433C-8760-304A1FF15B2C}">
      <dsp:nvSpPr>
        <dsp:cNvPr id="0" name=""/>
        <dsp:cNvSpPr/>
      </dsp:nvSpPr>
      <dsp:spPr>
        <a:xfrm>
          <a:off x="4204" y="1380054"/>
          <a:ext cx="1753691" cy="8768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chemeClr val="tx1"/>
              </a:solidFill>
            </a:rPr>
            <a:t>机选</a:t>
          </a:r>
        </a:p>
      </dsp:txBody>
      <dsp:txXfrm>
        <a:off x="4204" y="1380054"/>
        <a:ext cx="1753691" cy="876845"/>
      </dsp:txXfrm>
    </dsp:sp>
    <dsp:sp modelId="{8E687C13-5EE3-4416-828B-A1C6EDB97F14}">
      <dsp:nvSpPr>
        <dsp:cNvPr id="0" name=""/>
        <dsp:cNvSpPr/>
      </dsp:nvSpPr>
      <dsp:spPr>
        <a:xfrm>
          <a:off x="2126170" y="1380054"/>
          <a:ext cx="1753691" cy="8768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chemeClr val="tx1"/>
              </a:solidFill>
            </a:rPr>
            <a:t>自选</a:t>
          </a:r>
        </a:p>
      </dsp:txBody>
      <dsp:txXfrm>
        <a:off x="2126170" y="1380054"/>
        <a:ext cx="1753691" cy="876845"/>
      </dsp:txXfrm>
    </dsp:sp>
    <dsp:sp modelId="{879090F8-4D63-4A97-936F-BE6E8EC3C60F}">
      <dsp:nvSpPr>
        <dsp:cNvPr id="0" name=""/>
        <dsp:cNvSpPr/>
      </dsp:nvSpPr>
      <dsp:spPr>
        <a:xfrm>
          <a:off x="4248137" y="1380054"/>
          <a:ext cx="1753691" cy="8768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chemeClr val="tx1"/>
              </a:solidFill>
            </a:rPr>
            <a:t>显示</a:t>
          </a:r>
        </a:p>
      </dsp:txBody>
      <dsp:txXfrm>
        <a:off x="4248137" y="1380054"/>
        <a:ext cx="1753691" cy="876845"/>
      </dsp:txXfrm>
    </dsp:sp>
    <dsp:sp modelId="{828D91FE-0C84-45B3-94AA-79CF660706F4}">
      <dsp:nvSpPr>
        <dsp:cNvPr id="0" name=""/>
        <dsp:cNvSpPr/>
      </dsp:nvSpPr>
      <dsp:spPr>
        <a:xfrm>
          <a:off x="6370104" y="1380054"/>
          <a:ext cx="1753691" cy="8768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chemeClr val="tx1"/>
              </a:solidFill>
            </a:rPr>
            <a:t>保存</a:t>
          </a:r>
        </a:p>
      </dsp:txBody>
      <dsp:txXfrm>
        <a:off x="6370104" y="1380054"/>
        <a:ext cx="1753691" cy="87684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 Id="rId5" Type="http://schemas.openxmlformats.org/officeDocument/2006/relationships/image" Target="../media/image16.wmf"/><Relationship Id="rId4" Type="http://schemas.openxmlformats.org/officeDocument/2006/relationships/image" Target="../media/image1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12333-29BF-4658-8F4E-EDB611A1387E}" type="datetimeFigureOut">
              <a:rPr lang="zh-CN" altLang="en-US" smtClean="0"/>
              <a:t>2024/12/2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46A813-2E9A-4513-B7D8-91B578B72090}" type="slidenum">
              <a:rPr lang="zh-CN" altLang="en-US" smtClean="0"/>
              <a:t>‹#›</a:t>
            </a:fld>
            <a:endParaRPr lang="zh-CN" altLang="en-US"/>
          </a:p>
        </p:txBody>
      </p:sp>
    </p:spTree>
    <p:extLst>
      <p:ext uri="{BB962C8B-B14F-4D97-AF65-F5344CB8AC3E}">
        <p14:creationId xmlns:p14="http://schemas.microsoft.com/office/powerpoint/2010/main" val="4034383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46A813-2E9A-4513-B7D8-91B578B72090}" type="slidenum">
              <a:rPr lang="zh-CN" altLang="en-US" smtClean="0"/>
              <a:t>1</a:t>
            </a:fld>
            <a:endParaRPr lang="zh-CN" altLang="en-US"/>
          </a:p>
        </p:txBody>
      </p:sp>
    </p:spTree>
    <p:extLst>
      <p:ext uri="{BB962C8B-B14F-4D97-AF65-F5344CB8AC3E}">
        <p14:creationId xmlns:p14="http://schemas.microsoft.com/office/powerpoint/2010/main" val="120943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46A813-2E9A-4513-B7D8-91B578B72090}" type="slidenum">
              <a:rPr lang="zh-CN" altLang="en-US" smtClean="0"/>
              <a:t>2</a:t>
            </a:fld>
            <a:endParaRPr lang="zh-CN" altLang="en-US"/>
          </a:p>
        </p:txBody>
      </p:sp>
    </p:spTree>
    <p:extLst>
      <p:ext uri="{BB962C8B-B14F-4D97-AF65-F5344CB8AC3E}">
        <p14:creationId xmlns:p14="http://schemas.microsoft.com/office/powerpoint/2010/main" val="4049294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46A813-2E9A-4513-B7D8-91B578B72090}" type="slidenum">
              <a:rPr lang="zh-CN" altLang="en-US" smtClean="0"/>
              <a:t>3</a:t>
            </a:fld>
            <a:endParaRPr lang="zh-CN" altLang="en-US"/>
          </a:p>
        </p:txBody>
      </p:sp>
    </p:spTree>
    <p:extLst>
      <p:ext uri="{BB962C8B-B14F-4D97-AF65-F5344CB8AC3E}">
        <p14:creationId xmlns:p14="http://schemas.microsoft.com/office/powerpoint/2010/main" val="3227095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pitchFamily="2" charset="-122"/>
              </a:defRPr>
            </a:lvl1pPr>
            <a:lvl2pPr marL="742950" indent="-285750">
              <a:defRPr sz="1200">
                <a:solidFill>
                  <a:schemeClr val="tx1"/>
                </a:solidFill>
                <a:latin typeface="Times New Roman" pitchFamily="18" charset="0"/>
                <a:ea typeface="宋体" pitchFamily="2" charset="-122"/>
              </a:defRPr>
            </a:lvl2pPr>
            <a:lvl3pPr marL="1143000" indent="-228600">
              <a:defRPr sz="1200">
                <a:solidFill>
                  <a:schemeClr val="tx1"/>
                </a:solidFill>
                <a:latin typeface="Times New Roman" pitchFamily="18" charset="0"/>
                <a:ea typeface="宋体" pitchFamily="2" charset="-122"/>
              </a:defRPr>
            </a:lvl3pPr>
            <a:lvl4pPr marL="1600200" indent="-228600">
              <a:defRPr sz="1200">
                <a:solidFill>
                  <a:schemeClr val="tx1"/>
                </a:solidFill>
                <a:latin typeface="Times New Roman" pitchFamily="18" charset="0"/>
                <a:ea typeface="宋体" pitchFamily="2" charset="-122"/>
              </a:defRPr>
            </a:lvl4pPr>
            <a:lvl5pPr marL="2057400" indent="-228600">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fld id="{DBDEC09A-60CF-4CD2-AAEC-46746DF11541}" type="slidenum">
              <a:rPr lang="en-US" altLang="zh-CN" smtClean="0"/>
              <a:pPr/>
              <a:t>4</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r>
              <a:rPr lang="zh-CN" altLang="en-US" b="1"/>
              <a:t>是将一个大型程序按照其功能分解成</a:t>
            </a:r>
          </a:p>
          <a:p>
            <a:pPr eaLnBrk="1" hangingPunct="1"/>
            <a:r>
              <a:rPr lang="zh-CN" altLang="en-US" b="1"/>
              <a:t>若干个相对独立的功能模块分别进行设计，</a:t>
            </a:r>
          </a:p>
          <a:p>
            <a:pPr eaLnBrk="1" hangingPunct="1"/>
            <a:r>
              <a:rPr lang="zh-CN" altLang="en-US" b="1"/>
              <a:t>最后把这些功能模块按层次关系进行组装。</a:t>
            </a:r>
          </a:p>
          <a:p>
            <a:pPr eaLnBrk="1" hangingPunct="1"/>
            <a:endParaRPr lang="en-US" altLang="zh-CN"/>
          </a:p>
        </p:txBody>
      </p:sp>
    </p:spTree>
    <p:extLst>
      <p:ext uri="{BB962C8B-B14F-4D97-AF65-F5344CB8AC3E}">
        <p14:creationId xmlns:p14="http://schemas.microsoft.com/office/powerpoint/2010/main" val="3762769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pitchFamily="2" charset="-122"/>
              </a:defRPr>
            </a:lvl1pPr>
            <a:lvl2pPr marL="742950" indent="-285750">
              <a:defRPr sz="1200">
                <a:solidFill>
                  <a:schemeClr val="tx1"/>
                </a:solidFill>
                <a:latin typeface="Times New Roman" pitchFamily="18" charset="0"/>
                <a:ea typeface="宋体" pitchFamily="2" charset="-122"/>
              </a:defRPr>
            </a:lvl2pPr>
            <a:lvl3pPr marL="1143000" indent="-228600">
              <a:defRPr sz="1200">
                <a:solidFill>
                  <a:schemeClr val="tx1"/>
                </a:solidFill>
                <a:latin typeface="Times New Roman" pitchFamily="18" charset="0"/>
                <a:ea typeface="宋体" pitchFamily="2" charset="-122"/>
              </a:defRPr>
            </a:lvl3pPr>
            <a:lvl4pPr marL="1600200" indent="-228600">
              <a:defRPr sz="1200">
                <a:solidFill>
                  <a:schemeClr val="tx1"/>
                </a:solidFill>
                <a:latin typeface="Times New Roman" pitchFamily="18" charset="0"/>
                <a:ea typeface="宋体" pitchFamily="2" charset="-122"/>
              </a:defRPr>
            </a:lvl4pPr>
            <a:lvl5pPr marL="2057400" indent="-228600">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fld id="{DBDEC09A-60CF-4CD2-AAEC-46746DF11541}" type="slidenum">
              <a:rPr lang="en-US" altLang="zh-CN" smtClean="0"/>
              <a:pPr/>
              <a:t>5</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r>
              <a:rPr lang="zh-CN" altLang="en-US" b="1"/>
              <a:t>是将一个大型程序按照其功能分解成</a:t>
            </a:r>
          </a:p>
          <a:p>
            <a:pPr eaLnBrk="1" hangingPunct="1"/>
            <a:r>
              <a:rPr lang="zh-CN" altLang="en-US" b="1"/>
              <a:t>若干个相对独立的功能模块分别进行设计，</a:t>
            </a:r>
          </a:p>
          <a:p>
            <a:pPr eaLnBrk="1" hangingPunct="1"/>
            <a:r>
              <a:rPr lang="zh-CN" altLang="en-US" b="1"/>
              <a:t>最后把这些功能模块按层次关系进行组装。</a:t>
            </a:r>
          </a:p>
          <a:p>
            <a:pPr eaLnBrk="1" hangingPunct="1"/>
            <a:endParaRPr lang="en-US" altLang="zh-CN"/>
          </a:p>
        </p:txBody>
      </p:sp>
    </p:spTree>
    <p:extLst>
      <p:ext uri="{BB962C8B-B14F-4D97-AF65-F5344CB8AC3E}">
        <p14:creationId xmlns:p14="http://schemas.microsoft.com/office/powerpoint/2010/main" val="2988188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pitchFamily="2" charset="-122"/>
              </a:defRPr>
            </a:lvl1pPr>
            <a:lvl2pPr marL="742950" indent="-285750">
              <a:defRPr sz="1200">
                <a:solidFill>
                  <a:schemeClr val="tx1"/>
                </a:solidFill>
                <a:latin typeface="Times New Roman" pitchFamily="18" charset="0"/>
                <a:ea typeface="宋体" pitchFamily="2" charset="-122"/>
              </a:defRPr>
            </a:lvl2pPr>
            <a:lvl3pPr marL="1143000" indent="-228600">
              <a:defRPr sz="1200">
                <a:solidFill>
                  <a:schemeClr val="tx1"/>
                </a:solidFill>
                <a:latin typeface="Times New Roman" pitchFamily="18" charset="0"/>
                <a:ea typeface="宋体" pitchFamily="2" charset="-122"/>
              </a:defRPr>
            </a:lvl3pPr>
            <a:lvl4pPr marL="1600200" indent="-228600">
              <a:defRPr sz="1200">
                <a:solidFill>
                  <a:schemeClr val="tx1"/>
                </a:solidFill>
                <a:latin typeface="Times New Roman" pitchFamily="18" charset="0"/>
                <a:ea typeface="宋体" pitchFamily="2" charset="-122"/>
              </a:defRPr>
            </a:lvl4pPr>
            <a:lvl5pPr marL="2057400" indent="-228600">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fld id="{DBDEC09A-60CF-4CD2-AAEC-46746DF11541}" type="slidenum">
              <a:rPr lang="en-US" altLang="zh-CN" smtClean="0"/>
              <a:pPr/>
              <a:t>6</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r>
              <a:rPr lang="zh-CN" altLang="en-US" b="1" dirty="0"/>
              <a:t>是将一个大型程序按照其功能分解成若干个相对独立的功能模块分别进行设计，最后把这些功能模块按层次关系进行组装。</a:t>
            </a:r>
          </a:p>
          <a:p>
            <a:pPr eaLnBrk="1" hangingPunct="1"/>
            <a:endParaRPr lang="en-US" altLang="zh-CN" dirty="0"/>
          </a:p>
        </p:txBody>
      </p:sp>
    </p:spTree>
    <p:extLst>
      <p:ext uri="{BB962C8B-B14F-4D97-AF65-F5344CB8AC3E}">
        <p14:creationId xmlns:p14="http://schemas.microsoft.com/office/powerpoint/2010/main" val="355224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746A813-2E9A-4513-B7D8-91B578B72090}" type="slidenum">
              <a:rPr lang="zh-CN" altLang="en-US" smtClean="0"/>
              <a:t>7</a:t>
            </a:fld>
            <a:endParaRPr lang="zh-CN" altLang="en-US"/>
          </a:p>
        </p:txBody>
      </p:sp>
    </p:spTree>
    <p:extLst>
      <p:ext uri="{BB962C8B-B14F-4D97-AF65-F5344CB8AC3E}">
        <p14:creationId xmlns:p14="http://schemas.microsoft.com/office/powerpoint/2010/main" val="175595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pitchFamily="2" charset="-122"/>
              </a:defRPr>
            </a:lvl1pPr>
            <a:lvl2pPr marL="742950" indent="-285750">
              <a:defRPr sz="1200">
                <a:solidFill>
                  <a:schemeClr val="tx1"/>
                </a:solidFill>
                <a:latin typeface="Times New Roman" pitchFamily="18" charset="0"/>
                <a:ea typeface="宋体" pitchFamily="2" charset="-122"/>
              </a:defRPr>
            </a:lvl2pPr>
            <a:lvl3pPr marL="1143000" indent="-228600">
              <a:defRPr sz="1200">
                <a:solidFill>
                  <a:schemeClr val="tx1"/>
                </a:solidFill>
                <a:latin typeface="Times New Roman" pitchFamily="18" charset="0"/>
                <a:ea typeface="宋体" pitchFamily="2" charset="-122"/>
              </a:defRPr>
            </a:lvl3pPr>
            <a:lvl4pPr marL="1600200" indent="-228600">
              <a:defRPr sz="1200">
                <a:solidFill>
                  <a:schemeClr val="tx1"/>
                </a:solidFill>
                <a:latin typeface="Times New Roman" pitchFamily="18" charset="0"/>
                <a:ea typeface="宋体" pitchFamily="2" charset="-122"/>
              </a:defRPr>
            </a:lvl4pPr>
            <a:lvl5pPr marL="2057400" indent="-228600">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fld id="{F13D594A-1D79-41E4-917B-0EB4FBFB3677}" type="slidenum">
              <a:rPr lang="en-US" altLang="zh-CN" smtClean="0"/>
              <a:pPr/>
              <a:t>9</a:t>
            </a:fld>
            <a:endParaRPr lang="en-US" altLang="zh-CN"/>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pPr eaLnBrk="1" hangingPunct="1"/>
            <a:r>
              <a:rPr lang="zh-CN" altLang="en-US"/>
              <a:t>可以说Ｃ程序的全部工作都是由各式各样的函数完成的，所以也把Ｃ语言称为函数式语言。 </a:t>
            </a:r>
          </a:p>
        </p:txBody>
      </p:sp>
    </p:spTree>
    <p:extLst>
      <p:ext uri="{BB962C8B-B14F-4D97-AF65-F5344CB8AC3E}">
        <p14:creationId xmlns:p14="http://schemas.microsoft.com/office/powerpoint/2010/main" val="3897483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pitchFamily="2" charset="-122"/>
              </a:defRPr>
            </a:lvl1pPr>
            <a:lvl2pPr marL="742950" indent="-285750">
              <a:defRPr sz="1200">
                <a:solidFill>
                  <a:schemeClr val="tx1"/>
                </a:solidFill>
                <a:latin typeface="Times New Roman" pitchFamily="18" charset="0"/>
                <a:ea typeface="宋体" pitchFamily="2" charset="-122"/>
              </a:defRPr>
            </a:lvl2pPr>
            <a:lvl3pPr marL="1143000" indent="-228600">
              <a:defRPr sz="1200">
                <a:solidFill>
                  <a:schemeClr val="tx1"/>
                </a:solidFill>
                <a:latin typeface="Times New Roman" pitchFamily="18" charset="0"/>
                <a:ea typeface="宋体" pitchFamily="2" charset="-122"/>
              </a:defRPr>
            </a:lvl3pPr>
            <a:lvl4pPr marL="1600200" indent="-228600">
              <a:defRPr sz="1200">
                <a:solidFill>
                  <a:schemeClr val="tx1"/>
                </a:solidFill>
                <a:latin typeface="Times New Roman" pitchFamily="18" charset="0"/>
                <a:ea typeface="宋体" pitchFamily="2" charset="-122"/>
              </a:defRPr>
            </a:lvl4pPr>
            <a:lvl5pPr marL="2057400" indent="-228600">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fld id="{18824C39-C739-49E3-927D-75E6AFEE7A96}" type="slidenum">
              <a:rPr lang="en-US" altLang="zh-CN" smtClean="0"/>
              <a:pPr/>
              <a:t>10</a:t>
            </a:fld>
            <a:endParaRPr lang="en-US" altLang="zh-CN"/>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r>
              <a:rPr lang="zh-CN" altLang="en-US"/>
              <a:t>库函数： </a:t>
            </a:r>
            <a:r>
              <a:rPr lang="en-US" altLang="zh-CN"/>
              <a:t>printf</a:t>
            </a:r>
            <a:r>
              <a:rPr lang="zh-CN" altLang="en-US"/>
              <a:t>、</a:t>
            </a:r>
            <a:r>
              <a:rPr lang="en-US" altLang="zh-CN"/>
              <a:t>scanf</a:t>
            </a:r>
            <a:r>
              <a:rPr lang="zh-CN" altLang="en-US"/>
              <a:t>、</a:t>
            </a:r>
            <a:r>
              <a:rPr lang="en-US" altLang="zh-CN"/>
              <a:t>getchar</a:t>
            </a:r>
            <a:r>
              <a:rPr lang="zh-CN" altLang="en-US"/>
              <a:t>、</a:t>
            </a:r>
            <a:r>
              <a:rPr lang="en-US" altLang="zh-CN"/>
              <a:t>putchar</a:t>
            </a:r>
            <a:r>
              <a:rPr lang="zh-CN" altLang="en-US"/>
              <a:t>、</a:t>
            </a:r>
            <a:r>
              <a:rPr lang="en-US" altLang="zh-CN"/>
              <a:t>gets</a:t>
            </a:r>
            <a:r>
              <a:rPr lang="zh-CN" altLang="en-US"/>
              <a:t>、</a:t>
            </a:r>
            <a:r>
              <a:rPr lang="en-US" altLang="zh-CN"/>
              <a:t>puts </a:t>
            </a:r>
          </a:p>
          <a:p>
            <a:pPr eaLnBrk="1" hangingPunct="1"/>
            <a:r>
              <a:rPr lang="zh-CN" altLang="en-US"/>
              <a:t>用户定义函数：由用户按需要写的函数。 </a:t>
            </a:r>
          </a:p>
        </p:txBody>
      </p:sp>
    </p:spTree>
    <p:extLst>
      <p:ext uri="{BB962C8B-B14F-4D97-AF65-F5344CB8AC3E}">
        <p14:creationId xmlns:p14="http://schemas.microsoft.com/office/powerpoint/2010/main" val="2993952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6E283265-0870-44F2-8764-05C8D4801F5D}" type="slidenum">
              <a:rPr lang="en-US" altLang="zh-CN" smtClean="0"/>
              <a:pPr/>
              <a:t>13</a:t>
            </a:fld>
            <a:endParaRPr lang="en-US" altLang="zh-CN"/>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lvl="1" eaLnBrk="1" hangingPunct="1">
              <a:spcBef>
                <a:spcPct val="50000"/>
              </a:spcBef>
              <a:buClr>
                <a:srgbClr val="6699FF"/>
              </a:buClr>
              <a:buFont typeface="Wingdings" pitchFamily="2" charset="2"/>
              <a:buNone/>
            </a:pPr>
            <a:r>
              <a:rPr kumimoji="1" lang="zh-CN" altLang="en-US" sz="2400" b="1">
                <a:latin typeface="Arial" charset="0"/>
                <a:ea typeface="宋体" charset="-122"/>
              </a:rPr>
              <a:t>课本</a:t>
            </a:r>
            <a:r>
              <a:rPr kumimoji="1" lang="en-US" altLang="zh-CN" sz="2400" b="1">
                <a:latin typeface="Arial" charset="0"/>
                <a:ea typeface="宋体" charset="-122"/>
              </a:rPr>
              <a:t>89</a:t>
            </a:r>
            <a:r>
              <a:rPr kumimoji="1" lang="zh-CN" altLang="en-US" sz="2400" b="1">
                <a:latin typeface="Arial" charset="0"/>
                <a:ea typeface="宋体" charset="-122"/>
              </a:rPr>
              <a:t>页</a:t>
            </a:r>
          </a:p>
          <a:p>
            <a:pPr lvl="1" eaLnBrk="1" hangingPunct="1">
              <a:spcBef>
                <a:spcPct val="50000"/>
              </a:spcBef>
              <a:buClr>
                <a:srgbClr val="6699FF"/>
              </a:buClr>
              <a:buFont typeface="Wingdings" pitchFamily="2" charset="2"/>
              <a:buNone/>
            </a:pPr>
            <a:r>
              <a:rPr kumimoji="1" lang="zh-CN" altLang="en-US" sz="2400" b="1">
                <a:latin typeface="Arial" charset="0"/>
                <a:ea typeface="宋体" charset="-122"/>
              </a:rPr>
              <a:t>由字母、数字、下划线组成，且第一个字符必须是字母或下划线</a:t>
            </a:r>
          </a:p>
          <a:p>
            <a:pPr lvl="1" eaLnBrk="1" hangingPunct="1">
              <a:spcBef>
                <a:spcPct val="50000"/>
              </a:spcBef>
              <a:buClr>
                <a:srgbClr val="6699FF"/>
              </a:buClr>
              <a:buFont typeface="Wingdings" pitchFamily="2" charset="2"/>
              <a:buNone/>
            </a:pPr>
            <a:r>
              <a:rPr kumimoji="1" lang="zh-CN" altLang="en-US" sz="2400" b="1">
                <a:latin typeface="Arial" charset="0"/>
                <a:ea typeface="宋体" charset="-122"/>
              </a:rPr>
              <a:t>不能使用关键字</a:t>
            </a:r>
            <a:r>
              <a:rPr kumimoji="1" lang="en-US" altLang="zh-CN" sz="2400" b="1">
                <a:latin typeface="Arial" charset="0"/>
                <a:ea typeface="宋体" charset="-122"/>
              </a:rPr>
              <a:t>(P7)</a:t>
            </a:r>
          </a:p>
          <a:p>
            <a:pPr lvl="1" eaLnBrk="1" hangingPunct="1">
              <a:spcBef>
                <a:spcPct val="50000"/>
              </a:spcBef>
              <a:buClr>
                <a:srgbClr val="6699FF"/>
              </a:buClr>
              <a:buFont typeface="Wingdings" pitchFamily="2" charset="2"/>
              <a:buNone/>
            </a:pPr>
            <a:r>
              <a:rPr kumimoji="1" lang="zh-CN" altLang="en-US" sz="2400" b="1">
                <a:latin typeface="Arial" charset="0"/>
                <a:ea typeface="宋体" charset="-122"/>
              </a:rPr>
              <a:t>函数类型：代表该函数返回值的类型，可以是</a:t>
            </a:r>
            <a:r>
              <a:rPr kumimoji="1" lang="en-US" altLang="zh-CN" sz="2400" b="1">
                <a:latin typeface="Arial" charset="0"/>
                <a:ea typeface="宋体" charset="-122"/>
              </a:rPr>
              <a:t>int,float,char</a:t>
            </a:r>
            <a:r>
              <a:rPr kumimoji="1" lang="zh-CN" altLang="en-US" sz="2400" b="1">
                <a:latin typeface="Arial" charset="0"/>
                <a:ea typeface="宋体" charset="-122"/>
              </a:rPr>
              <a:t>等标准的预定义类型，也可以是用户自己定义的数据类型，甚至是无值型</a:t>
            </a:r>
            <a:r>
              <a:rPr kumimoji="1" lang="en-US" altLang="zh-CN" sz="2400" b="1">
                <a:latin typeface="Arial" charset="0"/>
                <a:ea typeface="宋体" charset="-122"/>
              </a:rPr>
              <a:t>void</a:t>
            </a:r>
            <a:r>
              <a:rPr kumimoji="1" lang="zh-CN" altLang="en-US" sz="2400" b="1">
                <a:latin typeface="Arial" charset="0"/>
                <a:ea typeface="宋体" charset="-122"/>
              </a:rPr>
              <a:t>（表示函数无值返回），若省略，将自动被默认为</a:t>
            </a:r>
            <a:r>
              <a:rPr kumimoji="1" lang="en-US" altLang="zh-CN" sz="2400" b="1">
                <a:latin typeface="Arial" charset="0"/>
                <a:ea typeface="宋体" charset="-122"/>
              </a:rPr>
              <a:t>int</a:t>
            </a:r>
            <a:r>
              <a:rPr kumimoji="1" lang="zh-CN" altLang="en-US" sz="2400" b="1">
                <a:latin typeface="Arial" charset="0"/>
                <a:ea typeface="宋体" charset="-122"/>
              </a:rPr>
              <a:t>型。</a:t>
            </a:r>
          </a:p>
          <a:p>
            <a:pPr lvl="1" eaLnBrk="1" hangingPunct="1">
              <a:spcBef>
                <a:spcPct val="50000"/>
              </a:spcBef>
              <a:buClr>
                <a:srgbClr val="6699FF"/>
              </a:buClr>
              <a:buFont typeface="Wingdings" pitchFamily="2" charset="2"/>
              <a:buNone/>
            </a:pPr>
            <a:r>
              <a:rPr kumimoji="1" lang="zh-CN" altLang="en-US" sz="2400" b="1">
                <a:latin typeface="Arial" charset="0"/>
                <a:ea typeface="宋体" charset="-122"/>
              </a:rPr>
              <a:t>函数名：必须为用户标识符，命名规则与变量名相同，一个</a:t>
            </a:r>
            <a:r>
              <a:rPr kumimoji="1" lang="en-US" altLang="zh-CN" sz="2400" b="1">
                <a:latin typeface="Arial" charset="0"/>
                <a:ea typeface="宋体" charset="-122"/>
              </a:rPr>
              <a:t>C</a:t>
            </a:r>
            <a:r>
              <a:rPr kumimoji="1" lang="zh-CN" altLang="en-US" sz="2400" b="1">
                <a:latin typeface="Arial" charset="0"/>
                <a:ea typeface="宋体" charset="-122"/>
              </a:rPr>
              <a:t>程序只能有一个函数名字叫</a:t>
            </a:r>
            <a:r>
              <a:rPr kumimoji="1" lang="en-US" altLang="zh-CN" sz="2400" b="1">
                <a:latin typeface="Arial" charset="0"/>
                <a:ea typeface="宋体" charset="-122"/>
              </a:rPr>
              <a:t>main</a:t>
            </a:r>
            <a:r>
              <a:rPr kumimoji="1" lang="zh-CN" altLang="en-US" sz="2400" b="1">
                <a:latin typeface="Arial" charset="0"/>
                <a:ea typeface="宋体" charset="-122"/>
              </a:rPr>
              <a:t>，其余函数的名字可以随意命名</a:t>
            </a:r>
            <a:r>
              <a:rPr kumimoji="1" lang="en-US" altLang="zh-CN" sz="2400" b="1">
                <a:latin typeface="Arial" charset="0"/>
                <a:ea typeface="宋体" charset="-122"/>
              </a:rPr>
              <a:t>,</a:t>
            </a:r>
            <a:r>
              <a:rPr kumimoji="1" lang="zh-CN" altLang="en-US" sz="2400" b="1">
                <a:latin typeface="Arial" charset="0"/>
                <a:ea typeface="宋体" charset="-122"/>
              </a:rPr>
              <a:t>建议最好能表达函数的功能。</a:t>
            </a:r>
          </a:p>
          <a:p>
            <a:pPr lvl="1" eaLnBrk="1" hangingPunct="1">
              <a:spcBef>
                <a:spcPct val="50000"/>
              </a:spcBef>
              <a:buClr>
                <a:srgbClr val="6699FF"/>
              </a:buClr>
              <a:buFont typeface="Wingdings" pitchFamily="2" charset="2"/>
              <a:buNone/>
            </a:pPr>
            <a:r>
              <a:rPr kumimoji="1" lang="zh-CN" altLang="en-US" sz="2400" b="1">
                <a:latin typeface="Arial" charset="0"/>
                <a:ea typeface="宋体" charset="-122"/>
              </a:rPr>
              <a:t>形式参数列表：代表函数的自变量，形式参数与形式参数之间必须用逗号分隔。函数可以没有参数，这表示定义一个无参函数，此时形式参数列表消失，但一对圆括号不能省略。</a:t>
            </a:r>
          </a:p>
          <a:p>
            <a:pPr lvl="1" eaLnBrk="1" hangingPunct="1">
              <a:spcBef>
                <a:spcPct val="50000"/>
              </a:spcBef>
              <a:buClr>
                <a:srgbClr val="6699FF"/>
              </a:buClr>
              <a:buFont typeface="Wingdings" pitchFamily="2" charset="2"/>
              <a:buNone/>
            </a:pPr>
            <a:r>
              <a:rPr kumimoji="1" lang="zh-CN" altLang="en-US" sz="2400" b="1">
                <a:latin typeface="Arial" charset="0"/>
                <a:ea typeface="宋体" charset="-122"/>
              </a:rPr>
              <a:t>函数体：函数体必须起始于左花括号，结束于右花括号，其中给出的是实现函数功能的语句序列。</a:t>
            </a:r>
          </a:p>
          <a:p>
            <a:pPr eaLnBrk="1" hangingPunct="1"/>
            <a:endParaRPr lang="en-US" altLang="zh-CN">
              <a:ea typeface="宋体" charset="-122"/>
            </a:endParaRPr>
          </a:p>
        </p:txBody>
      </p:sp>
    </p:spTree>
    <p:extLst>
      <p:ext uri="{BB962C8B-B14F-4D97-AF65-F5344CB8AC3E}">
        <p14:creationId xmlns:p14="http://schemas.microsoft.com/office/powerpoint/2010/main" val="805116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E2D5C624-9D9F-48BE-84D2-FE680A67D8C6}" type="slidenum">
              <a:rPr lang="en-US" altLang="zh-CN" smtClean="0"/>
              <a:pPr/>
              <a:t>14</a:t>
            </a:fld>
            <a:endParaRPr lang="en-US" altLang="zh-CN"/>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algn="just" eaLnBrk="1" hangingPunct="1"/>
            <a:r>
              <a:rPr lang="zh-CN" altLang="en-US">
                <a:ea typeface="宋体" charset="-122"/>
              </a:rPr>
              <a:t>第一行函数头的句末不能加分号。</a:t>
            </a:r>
          </a:p>
          <a:p>
            <a:pPr eaLnBrk="1" hangingPunct="1"/>
            <a:endParaRPr lang="en-US" altLang="zh-CN">
              <a:ea typeface="宋体" charset="-122"/>
            </a:endParaRPr>
          </a:p>
        </p:txBody>
      </p:sp>
    </p:spTree>
    <p:extLst>
      <p:ext uri="{BB962C8B-B14F-4D97-AF65-F5344CB8AC3E}">
        <p14:creationId xmlns:p14="http://schemas.microsoft.com/office/powerpoint/2010/main" val="1606911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E2D5C624-9D9F-48BE-84D2-FE680A67D8C6}" type="slidenum">
              <a:rPr lang="en-US" altLang="zh-CN" smtClean="0"/>
              <a:pPr/>
              <a:t>15</a:t>
            </a:fld>
            <a:endParaRPr lang="en-US" altLang="zh-CN"/>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algn="just" eaLnBrk="1" hangingPunct="1"/>
            <a:r>
              <a:rPr lang="zh-CN" altLang="en-US">
                <a:ea typeface="宋体" charset="-122"/>
              </a:rPr>
              <a:t>第一行函数头的句末不能加分号。</a:t>
            </a:r>
          </a:p>
          <a:p>
            <a:pPr eaLnBrk="1" hangingPunct="1"/>
            <a:endParaRPr lang="en-US" altLang="zh-CN">
              <a:ea typeface="宋体" charset="-122"/>
            </a:endParaRPr>
          </a:p>
        </p:txBody>
      </p:sp>
    </p:spTree>
    <p:extLst>
      <p:ext uri="{BB962C8B-B14F-4D97-AF65-F5344CB8AC3E}">
        <p14:creationId xmlns:p14="http://schemas.microsoft.com/office/powerpoint/2010/main" val="3249070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746A813-2E9A-4513-B7D8-91B578B72090}" type="slidenum">
              <a:rPr lang="zh-CN" altLang="en-US" smtClean="0"/>
              <a:t>21</a:t>
            </a:fld>
            <a:endParaRPr lang="zh-CN" altLang="en-US"/>
          </a:p>
        </p:txBody>
      </p:sp>
    </p:spTree>
    <p:extLst>
      <p:ext uri="{BB962C8B-B14F-4D97-AF65-F5344CB8AC3E}">
        <p14:creationId xmlns:p14="http://schemas.microsoft.com/office/powerpoint/2010/main" val="609061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6E283265-0870-44F2-8764-05C8D4801F5D}" type="slidenum">
              <a:rPr lang="en-US" altLang="zh-CN" smtClean="0"/>
              <a:pPr/>
              <a:t>23</a:t>
            </a:fld>
            <a:endParaRPr lang="en-US" altLang="zh-CN"/>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2451227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6E283265-0870-44F2-8764-05C8D4801F5D}" type="slidenum">
              <a:rPr lang="en-US" altLang="zh-CN" smtClean="0"/>
              <a:pPr/>
              <a:t>24</a:t>
            </a:fld>
            <a:endParaRPr lang="en-US" altLang="zh-CN"/>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13820727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6E283265-0870-44F2-8764-05C8D4801F5D}" type="slidenum">
              <a:rPr lang="en-US" altLang="zh-CN" smtClean="0"/>
              <a:pPr/>
              <a:t>25</a:t>
            </a:fld>
            <a:endParaRPr lang="en-US" altLang="zh-CN"/>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19072003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6E283265-0870-44F2-8764-05C8D4801F5D}" type="slidenum">
              <a:rPr lang="en-US" altLang="zh-CN" smtClean="0"/>
              <a:pPr/>
              <a:t>26</a:t>
            </a:fld>
            <a:endParaRPr lang="en-US" altLang="zh-CN"/>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2775991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6E283265-0870-44F2-8764-05C8D4801F5D}" type="slidenum">
              <a:rPr lang="en-US" altLang="zh-CN" smtClean="0"/>
              <a:pPr/>
              <a:t>27</a:t>
            </a:fld>
            <a:endParaRPr lang="en-US" altLang="zh-CN"/>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3593876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6E283265-0870-44F2-8764-05C8D4801F5D}" type="slidenum">
              <a:rPr lang="en-US" altLang="zh-CN" smtClean="0"/>
              <a:pPr/>
              <a:t>28</a:t>
            </a:fld>
            <a:endParaRPr lang="en-US" altLang="zh-CN"/>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en-US" altLang="zh-CN" dirty="0">
              <a:ea typeface="宋体" charset="-122"/>
            </a:endParaRPr>
          </a:p>
        </p:txBody>
      </p:sp>
    </p:spTree>
    <p:extLst>
      <p:ext uri="{BB962C8B-B14F-4D97-AF65-F5344CB8AC3E}">
        <p14:creationId xmlns:p14="http://schemas.microsoft.com/office/powerpoint/2010/main" val="1542712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46A813-2E9A-4513-B7D8-91B578B72090}" type="slidenum">
              <a:rPr lang="zh-CN" altLang="en-US" smtClean="0"/>
              <a:t>29</a:t>
            </a:fld>
            <a:endParaRPr lang="zh-CN" altLang="en-US"/>
          </a:p>
        </p:txBody>
      </p:sp>
    </p:spTree>
    <p:extLst>
      <p:ext uri="{BB962C8B-B14F-4D97-AF65-F5344CB8AC3E}">
        <p14:creationId xmlns:p14="http://schemas.microsoft.com/office/powerpoint/2010/main" val="3473974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B6691FFD-1742-4529-A562-216940DD369B}" type="slidenum">
              <a:rPr lang="en-US" altLang="zh-CN" smtClean="0"/>
              <a:pPr/>
              <a:t>30</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r>
              <a:rPr lang="zh-CN" altLang="en-US">
                <a:latin typeface="宋体" charset="-122"/>
                <a:ea typeface="宋体" charset="-122"/>
              </a:rPr>
              <a:t>在实在参数列表中，参数与参数之间用逗号分隔，而且必须保证实在参数与形式参数个数相同、类型一致、位置对应；</a:t>
            </a:r>
            <a:r>
              <a:rPr lang="zh-CN" altLang="en-US">
                <a:ea typeface="宋体" charset="-122"/>
              </a:rPr>
              <a:t> </a:t>
            </a:r>
          </a:p>
          <a:p>
            <a:pPr eaLnBrk="1" hangingPunct="1"/>
            <a:r>
              <a:rPr lang="zh-CN" altLang="en-US">
                <a:latin typeface="宋体" charset="-122"/>
                <a:ea typeface="宋体" charset="-122"/>
              </a:rPr>
              <a:t>函数允许没有参数，但是调用无参函数函数时，虽然没有实在参数列表，但一对圆括号不能省略</a:t>
            </a:r>
            <a:r>
              <a:rPr lang="zh-CN" altLang="en-US">
                <a:ea typeface="宋体" charset="-122"/>
              </a:rPr>
              <a:t> 。</a:t>
            </a:r>
          </a:p>
        </p:txBody>
      </p:sp>
    </p:spTree>
    <p:extLst>
      <p:ext uri="{BB962C8B-B14F-4D97-AF65-F5344CB8AC3E}">
        <p14:creationId xmlns:p14="http://schemas.microsoft.com/office/powerpoint/2010/main" val="38031613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B6691FFD-1742-4529-A562-216940DD369B}" type="slidenum">
              <a:rPr lang="en-US" altLang="zh-CN" smtClean="0"/>
              <a:pPr/>
              <a:t>31</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11170710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B6691FFD-1742-4529-A562-216940DD369B}" type="slidenum">
              <a:rPr lang="en-US" altLang="zh-CN" smtClean="0"/>
              <a:pPr/>
              <a:t>32</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1965594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B6691FFD-1742-4529-A562-216940DD369B}" type="slidenum">
              <a:rPr lang="en-US" altLang="zh-CN" smtClean="0"/>
              <a:pPr/>
              <a:t>33</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42284070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B6691FFD-1742-4529-A562-216940DD369B}" type="slidenum">
              <a:rPr lang="en-US" altLang="zh-CN" smtClean="0"/>
              <a:pPr/>
              <a:t>34</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1089112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B6691FFD-1742-4529-A562-216940DD369B}" type="slidenum">
              <a:rPr lang="en-US" altLang="zh-CN" smtClean="0"/>
              <a:pPr/>
              <a:t>35</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9325647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46A813-2E9A-4513-B7D8-91B578B72090}" type="slidenum">
              <a:rPr lang="zh-CN" altLang="en-US" smtClean="0"/>
              <a:t>36</a:t>
            </a:fld>
            <a:endParaRPr lang="zh-CN" altLang="en-US"/>
          </a:p>
        </p:txBody>
      </p:sp>
    </p:spTree>
    <p:extLst>
      <p:ext uri="{BB962C8B-B14F-4D97-AF65-F5344CB8AC3E}">
        <p14:creationId xmlns:p14="http://schemas.microsoft.com/office/powerpoint/2010/main" val="30138785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华文细黑" pitchFamily="2" charset="-122"/>
              </a:defRPr>
            </a:lvl1pPr>
            <a:lvl2pPr marL="742950" indent="-285750" eaLnBrk="0" hangingPunct="0">
              <a:defRPr>
                <a:solidFill>
                  <a:schemeClr val="tx1"/>
                </a:solidFill>
                <a:latin typeface="Arial" charset="0"/>
                <a:ea typeface="华文细黑" pitchFamily="2" charset="-122"/>
              </a:defRPr>
            </a:lvl2pPr>
            <a:lvl3pPr marL="1143000" indent="-228600" eaLnBrk="0" hangingPunct="0">
              <a:defRPr>
                <a:solidFill>
                  <a:schemeClr val="tx1"/>
                </a:solidFill>
                <a:latin typeface="Arial" charset="0"/>
                <a:ea typeface="华文细黑" pitchFamily="2" charset="-122"/>
              </a:defRPr>
            </a:lvl3pPr>
            <a:lvl4pPr marL="1600200" indent="-228600" eaLnBrk="0" hangingPunct="0">
              <a:defRPr>
                <a:solidFill>
                  <a:schemeClr val="tx1"/>
                </a:solidFill>
                <a:latin typeface="Arial" charset="0"/>
                <a:ea typeface="华文细黑" pitchFamily="2" charset="-122"/>
              </a:defRPr>
            </a:lvl4pPr>
            <a:lvl5pPr marL="2057400" indent="-228600" eaLnBrk="0" hangingPunct="0">
              <a:defRPr>
                <a:solidFill>
                  <a:schemeClr val="tx1"/>
                </a:solidFill>
                <a:latin typeface="Arial" charset="0"/>
                <a:ea typeface="华文细黑" pitchFamily="2" charset="-122"/>
              </a:defRPr>
            </a:lvl5pPr>
            <a:lvl6pPr marL="2514600" indent="-228600" algn="ctr" eaLnBrk="0" fontAlgn="base" hangingPunct="0">
              <a:spcBef>
                <a:spcPct val="0"/>
              </a:spcBef>
              <a:spcAft>
                <a:spcPct val="0"/>
              </a:spcAft>
              <a:defRPr>
                <a:solidFill>
                  <a:schemeClr val="tx1"/>
                </a:solidFill>
                <a:latin typeface="Arial" charset="0"/>
                <a:ea typeface="华文细黑" pitchFamily="2" charset="-122"/>
              </a:defRPr>
            </a:lvl6pPr>
            <a:lvl7pPr marL="2971800" indent="-228600" algn="ctr" eaLnBrk="0" fontAlgn="base" hangingPunct="0">
              <a:spcBef>
                <a:spcPct val="0"/>
              </a:spcBef>
              <a:spcAft>
                <a:spcPct val="0"/>
              </a:spcAft>
              <a:defRPr>
                <a:solidFill>
                  <a:schemeClr val="tx1"/>
                </a:solidFill>
                <a:latin typeface="Arial" charset="0"/>
                <a:ea typeface="华文细黑" pitchFamily="2" charset="-122"/>
              </a:defRPr>
            </a:lvl7pPr>
            <a:lvl8pPr marL="3429000" indent="-228600" algn="ctr" eaLnBrk="0" fontAlgn="base" hangingPunct="0">
              <a:spcBef>
                <a:spcPct val="0"/>
              </a:spcBef>
              <a:spcAft>
                <a:spcPct val="0"/>
              </a:spcAft>
              <a:defRPr>
                <a:solidFill>
                  <a:schemeClr val="tx1"/>
                </a:solidFill>
                <a:latin typeface="Arial" charset="0"/>
                <a:ea typeface="华文细黑" pitchFamily="2" charset="-122"/>
              </a:defRPr>
            </a:lvl8pPr>
            <a:lvl9pPr marL="3886200" indent="-228600" algn="ctr" eaLnBrk="0" fontAlgn="base" hangingPunct="0">
              <a:spcBef>
                <a:spcPct val="0"/>
              </a:spcBef>
              <a:spcAft>
                <a:spcPct val="0"/>
              </a:spcAft>
              <a:defRPr>
                <a:solidFill>
                  <a:schemeClr val="tx1"/>
                </a:solidFill>
                <a:latin typeface="Arial" charset="0"/>
                <a:ea typeface="华文细黑" pitchFamily="2" charset="-122"/>
              </a:defRPr>
            </a:lvl9pPr>
          </a:lstStyle>
          <a:p>
            <a:pPr eaLnBrk="1" hangingPunct="1"/>
            <a:fld id="{5A82140E-B522-4647-81D0-C468018E895D}" type="slidenum">
              <a:rPr lang="en-US" altLang="zh-CN" smtClean="0">
                <a:ea typeface="宋体" charset="-122"/>
              </a:rPr>
              <a:pPr eaLnBrk="1" hangingPunct="1"/>
              <a:t>44</a:t>
            </a:fld>
            <a:endParaRPr lang="en-US" altLang="zh-CN">
              <a:ea typeface="宋体" charset="-122"/>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ea typeface="宋体" charset="-122"/>
              </a:rPr>
              <a:t>1946</a:t>
            </a:r>
            <a:r>
              <a:rPr lang="zh-CN" altLang="en-US" dirty="0">
                <a:ea typeface="宋体" charset="-122"/>
              </a:rPr>
              <a:t>年，第一台电子计算机问世，应用领域迅速扩大，软硬件飞速发展，程序设计语言相继问世。</a:t>
            </a:r>
          </a:p>
          <a:p>
            <a:r>
              <a:rPr lang="zh-CN" altLang="en-US" dirty="0">
                <a:ea typeface="宋体" charset="-122"/>
              </a:rPr>
              <a:t>程序设计语言</a:t>
            </a:r>
            <a:r>
              <a:rPr lang="en-US" altLang="zh-CN" dirty="0">
                <a:ea typeface="宋体" charset="-122"/>
              </a:rPr>
              <a:t>:</a:t>
            </a:r>
            <a:r>
              <a:rPr lang="zh-CN" altLang="en-US" dirty="0">
                <a:ea typeface="宋体" charset="-122"/>
              </a:rPr>
              <a:t>将自然语言形式化为有格式的语言</a:t>
            </a:r>
          </a:p>
          <a:p>
            <a:r>
              <a:rPr lang="en-US" altLang="zh-CN" dirty="0">
                <a:ea typeface="宋体" charset="-122"/>
              </a:rPr>
              <a:t>1</a:t>
            </a:r>
            <a:r>
              <a:rPr lang="zh-CN" altLang="en-US" dirty="0">
                <a:ea typeface="宋体" charset="-122"/>
              </a:rPr>
              <a:t>。机器语言：</a:t>
            </a:r>
          </a:p>
          <a:p>
            <a:pPr lvl="2">
              <a:buClr>
                <a:schemeClr val="tx2"/>
              </a:buClr>
              <a:buFontTx/>
              <a:buChar char="•"/>
            </a:pPr>
            <a:r>
              <a:rPr lang="zh-CN" altLang="en-US" dirty="0">
                <a:ea typeface="宋体" charset="-122"/>
              </a:rPr>
              <a:t>计算机能够认识的语言</a:t>
            </a:r>
          </a:p>
          <a:p>
            <a:pPr lvl="2">
              <a:buClr>
                <a:schemeClr val="tx2"/>
              </a:buClr>
              <a:buFontTx/>
              <a:buChar char="•"/>
            </a:pPr>
            <a:r>
              <a:rPr lang="zh-CN" altLang="en-US" dirty="0">
                <a:ea typeface="宋体" charset="-122"/>
              </a:rPr>
              <a:t>计算机的基础是数字电路</a:t>
            </a:r>
          </a:p>
          <a:p>
            <a:pPr lvl="2">
              <a:buClr>
                <a:schemeClr val="tx2"/>
              </a:buClr>
              <a:buFontTx/>
              <a:buChar char="•"/>
            </a:pPr>
            <a:r>
              <a:rPr lang="zh-CN" altLang="en-US" dirty="0">
                <a:ea typeface="宋体" charset="-122"/>
              </a:rPr>
              <a:t>机器语言就是数字电路里的电信号</a:t>
            </a:r>
          </a:p>
          <a:p>
            <a:pPr lvl="2">
              <a:buClr>
                <a:schemeClr val="tx2"/>
              </a:buClr>
              <a:buFontTx/>
              <a:buChar char="•"/>
            </a:pPr>
            <a:r>
              <a:rPr lang="zh-CN" altLang="en-US" dirty="0">
                <a:ea typeface="宋体" charset="-122"/>
              </a:rPr>
              <a:t>将在</a:t>
            </a:r>
            <a:r>
              <a:rPr lang="en-US" altLang="zh-CN" dirty="0">
                <a:ea typeface="宋体" charset="-122"/>
              </a:rPr>
              <a:t>《</a:t>
            </a:r>
            <a:r>
              <a:rPr lang="zh-CN" altLang="en-US" dirty="0">
                <a:ea typeface="宋体" charset="-122"/>
              </a:rPr>
              <a:t>计算机组成</a:t>
            </a:r>
            <a:r>
              <a:rPr lang="en-US" altLang="zh-CN" dirty="0">
                <a:ea typeface="宋体" charset="-122"/>
              </a:rPr>
              <a:t>》</a:t>
            </a:r>
            <a:r>
              <a:rPr lang="zh-CN" altLang="en-US" dirty="0">
                <a:ea typeface="宋体" charset="-122"/>
              </a:rPr>
              <a:t>课程中学习</a:t>
            </a:r>
          </a:p>
          <a:p>
            <a:pPr lvl="2">
              <a:buClr>
                <a:schemeClr val="tx2"/>
              </a:buClr>
              <a:buFontTx/>
              <a:buChar char="•"/>
            </a:pPr>
            <a:r>
              <a:rPr lang="zh-CN" altLang="en-US" dirty="0">
                <a:ea typeface="宋体" charset="-122"/>
              </a:rPr>
              <a:t>都是二进制文件</a:t>
            </a:r>
          </a:p>
          <a:p>
            <a:pPr lvl="2">
              <a:buClr>
                <a:schemeClr val="tx2"/>
              </a:buClr>
              <a:buFontTx/>
              <a:buChar char="•"/>
            </a:pPr>
            <a:r>
              <a:rPr lang="zh-CN" altLang="en-US" dirty="0">
                <a:ea typeface="宋体" charset="-122"/>
              </a:rPr>
              <a:t>一条机器语言成为一条指令</a:t>
            </a:r>
          </a:p>
          <a:p>
            <a:pPr lvl="2">
              <a:buClr>
                <a:schemeClr val="tx2"/>
              </a:buClr>
              <a:buFontTx/>
              <a:buChar char="•"/>
            </a:pPr>
            <a:r>
              <a:rPr lang="zh-CN" altLang="en-US" dirty="0">
                <a:ea typeface="宋体" charset="-122"/>
              </a:rPr>
              <a:t>指令是不可分割的最小功能单元</a:t>
            </a:r>
          </a:p>
          <a:p>
            <a:r>
              <a:rPr lang="zh-CN" altLang="en-US" dirty="0">
                <a:ea typeface="宋体" charset="-122"/>
              </a:rPr>
              <a:t>定义：一种</a:t>
            </a:r>
            <a:r>
              <a:rPr lang="en-US" altLang="zh-CN" dirty="0">
                <a:ea typeface="宋体" charset="-122"/>
              </a:rPr>
              <a:t>CPU</a:t>
            </a:r>
            <a:r>
              <a:rPr lang="zh-CN" altLang="en-US" dirty="0">
                <a:ea typeface="宋体" charset="-122"/>
              </a:rPr>
              <a:t>的指令系统，由该</a:t>
            </a:r>
            <a:r>
              <a:rPr lang="en-US" altLang="zh-CN" dirty="0">
                <a:ea typeface="宋体" charset="-122"/>
              </a:rPr>
              <a:t>CPU</a:t>
            </a:r>
            <a:r>
              <a:rPr lang="zh-CN" altLang="en-US" dirty="0">
                <a:ea typeface="宋体" charset="-122"/>
              </a:rPr>
              <a:t>可识别的</a:t>
            </a:r>
            <a:r>
              <a:rPr lang="en-US" altLang="zh-CN" dirty="0">
                <a:ea typeface="宋体" charset="-122"/>
              </a:rPr>
              <a:t>0</a:t>
            </a:r>
            <a:r>
              <a:rPr lang="zh-CN" altLang="en-US" dirty="0">
                <a:ea typeface="宋体" charset="-122"/>
              </a:rPr>
              <a:t>、</a:t>
            </a:r>
            <a:r>
              <a:rPr lang="en-US" altLang="zh-CN" dirty="0">
                <a:ea typeface="宋体" charset="-122"/>
              </a:rPr>
              <a:t>1</a:t>
            </a:r>
            <a:r>
              <a:rPr lang="zh-CN" altLang="en-US" dirty="0">
                <a:ea typeface="宋体" charset="-122"/>
              </a:rPr>
              <a:t>序列构成的指令码组成。</a:t>
            </a:r>
          </a:p>
          <a:p>
            <a:r>
              <a:rPr lang="zh-CN" altLang="en-US" dirty="0">
                <a:ea typeface="宋体" charset="-122"/>
              </a:rPr>
              <a:t>特点：</a:t>
            </a:r>
          </a:p>
          <a:p>
            <a:r>
              <a:rPr lang="zh-CN" altLang="en-US" dirty="0">
                <a:ea typeface="宋体" charset="-122"/>
              </a:rPr>
              <a:t>执行效率高</a:t>
            </a:r>
          </a:p>
          <a:p>
            <a:r>
              <a:rPr lang="zh-CN" altLang="en-US" dirty="0">
                <a:ea typeface="宋体" charset="-122"/>
              </a:rPr>
              <a:t>不直观，不易查错，生产效率低。</a:t>
            </a:r>
          </a:p>
          <a:p>
            <a:r>
              <a:rPr lang="en-US" altLang="zh-CN" dirty="0">
                <a:ea typeface="宋体" charset="-122"/>
              </a:rPr>
              <a:t>2</a:t>
            </a:r>
            <a:r>
              <a:rPr lang="zh-CN" altLang="en-US" dirty="0">
                <a:ea typeface="宋体" charset="-122"/>
              </a:rPr>
              <a:t>。汇编语言</a:t>
            </a:r>
          </a:p>
          <a:p>
            <a:r>
              <a:rPr lang="zh-CN" altLang="en-US" dirty="0">
                <a:ea typeface="宋体" charset="-122"/>
              </a:rPr>
              <a:t>定义：用助记符号描述的指令系统</a:t>
            </a:r>
          </a:p>
          <a:p>
            <a:r>
              <a:rPr lang="zh-CN" altLang="en-US" dirty="0">
                <a:ea typeface="宋体" charset="-122"/>
              </a:rPr>
              <a:t>特点：</a:t>
            </a:r>
          </a:p>
          <a:p>
            <a:r>
              <a:rPr lang="zh-CN" altLang="en-US" dirty="0">
                <a:ea typeface="宋体" charset="-122"/>
              </a:rPr>
              <a:t>生产效率高，质量好，执行效率较高；</a:t>
            </a:r>
          </a:p>
          <a:p>
            <a:r>
              <a:rPr lang="zh-CN" altLang="en-US" dirty="0">
                <a:ea typeface="宋体" charset="-122"/>
              </a:rPr>
              <a:t>要经汇编程序汇编成目标程序（机器语言）才能执行，依赖硬件。</a:t>
            </a:r>
          </a:p>
          <a:p>
            <a:r>
              <a:rPr lang="zh-CN" altLang="en-US" dirty="0">
                <a:ea typeface="宋体" charset="-122"/>
              </a:rPr>
              <a:t>（面向机器的语言</a:t>
            </a:r>
            <a:r>
              <a:rPr lang="en-US" altLang="zh-CN" dirty="0">
                <a:ea typeface="宋体" charset="-122"/>
              </a:rPr>
              <a:t>----</a:t>
            </a:r>
            <a:r>
              <a:rPr lang="zh-CN" altLang="en-US" dirty="0">
                <a:ea typeface="宋体" charset="-122"/>
              </a:rPr>
              <a:t>依</a:t>
            </a:r>
            <a:r>
              <a:rPr lang="en-US" altLang="zh-CN" dirty="0">
                <a:ea typeface="宋体" charset="-122"/>
              </a:rPr>
              <a:t>CPU</a:t>
            </a:r>
            <a:r>
              <a:rPr lang="zh-CN" altLang="en-US" dirty="0">
                <a:ea typeface="宋体" charset="-122"/>
              </a:rPr>
              <a:t>不同而异）</a:t>
            </a:r>
          </a:p>
          <a:p>
            <a:r>
              <a:rPr lang="en-US" altLang="zh-CN" dirty="0">
                <a:ea typeface="宋体" charset="-122"/>
              </a:rPr>
              <a:t>3</a:t>
            </a:r>
            <a:r>
              <a:rPr lang="zh-CN" altLang="en-US" dirty="0">
                <a:ea typeface="宋体" charset="-122"/>
              </a:rPr>
              <a:t>。高级语言</a:t>
            </a:r>
          </a:p>
          <a:p>
            <a:r>
              <a:rPr lang="zh-CN" altLang="en-US" dirty="0">
                <a:ea typeface="宋体" charset="-122"/>
              </a:rPr>
              <a:t>特点：</a:t>
            </a:r>
          </a:p>
          <a:p>
            <a:r>
              <a:rPr lang="zh-CN" altLang="en-US" dirty="0">
                <a:ea typeface="宋体" charset="-122"/>
              </a:rPr>
              <a:t>编程效率高，不必考虑硬件；</a:t>
            </a:r>
          </a:p>
          <a:p>
            <a:r>
              <a:rPr lang="zh-CN" altLang="en-US" dirty="0">
                <a:ea typeface="宋体" charset="-122"/>
              </a:rPr>
              <a:t>执行效率低，要经编译、连接后才能执行。</a:t>
            </a:r>
          </a:p>
          <a:p>
            <a:r>
              <a:rPr lang="zh-CN" altLang="en-US" dirty="0">
                <a:ea typeface="宋体" charset="-122"/>
              </a:rPr>
              <a:t>面向过程的程序设计语言</a:t>
            </a:r>
          </a:p>
          <a:p>
            <a:r>
              <a:rPr lang="zh-CN" altLang="en-US" dirty="0">
                <a:ea typeface="宋体" charset="-122"/>
              </a:rPr>
              <a:t>认为解题过程是数据被加工的过程</a:t>
            </a:r>
          </a:p>
          <a:p>
            <a:r>
              <a:rPr lang="zh-CN" altLang="en-US" dirty="0">
                <a:ea typeface="宋体" charset="-122"/>
              </a:rPr>
              <a:t>程序</a:t>
            </a:r>
            <a:r>
              <a:rPr lang="en-US" altLang="zh-CN" dirty="0">
                <a:ea typeface="宋体" charset="-122"/>
              </a:rPr>
              <a:t>=</a:t>
            </a:r>
            <a:r>
              <a:rPr lang="zh-CN" altLang="en-US" dirty="0">
                <a:ea typeface="宋体" charset="-122"/>
              </a:rPr>
              <a:t>数据结构</a:t>
            </a:r>
            <a:r>
              <a:rPr lang="en-US" altLang="zh-CN" dirty="0">
                <a:ea typeface="宋体" charset="-122"/>
              </a:rPr>
              <a:t>+</a:t>
            </a:r>
            <a:r>
              <a:rPr lang="zh-CN" altLang="en-US" dirty="0">
                <a:ea typeface="宋体" charset="-122"/>
              </a:rPr>
              <a:t>算法</a:t>
            </a:r>
          </a:p>
          <a:p>
            <a:r>
              <a:rPr lang="en-US" altLang="zh-CN" dirty="0">
                <a:ea typeface="宋体" charset="-122"/>
              </a:rPr>
              <a:t>C</a:t>
            </a:r>
            <a:r>
              <a:rPr lang="zh-CN" altLang="en-US" dirty="0">
                <a:ea typeface="宋体" charset="-122"/>
              </a:rPr>
              <a:t>语言是面向过程的高级语言</a:t>
            </a:r>
          </a:p>
          <a:p>
            <a:r>
              <a:rPr lang="zh-CN" altLang="en-US" dirty="0">
                <a:ea typeface="宋体" charset="-122"/>
              </a:rPr>
              <a:t>           面向对象的程序设计语言</a:t>
            </a:r>
          </a:p>
          <a:p>
            <a:r>
              <a:rPr lang="zh-CN" altLang="en-US" dirty="0">
                <a:ea typeface="宋体" charset="-122"/>
              </a:rPr>
              <a:t>一种结构模拟方法。认为：现实世界由对象组成，对象是数据和方法的封装体；客观世界可以分类，每个对象是类的一个实例。</a:t>
            </a:r>
          </a:p>
          <a:p>
            <a:r>
              <a:rPr lang="zh-CN" altLang="en-US" dirty="0">
                <a:ea typeface="宋体" charset="-122"/>
              </a:rPr>
              <a:t>特点：比面向过程的语言更清晰、易懂，适宜编更大规模程序，是程序设计的主流</a:t>
            </a:r>
          </a:p>
          <a:p>
            <a:endParaRPr lang="zh-CN" altLang="en-US" dirty="0">
              <a:ea typeface="宋体" charset="-122"/>
            </a:endParaRPr>
          </a:p>
          <a:p>
            <a:r>
              <a:rPr lang="zh-CN" altLang="en-US" dirty="0">
                <a:ea typeface="宋体" charset="-122"/>
              </a:rPr>
              <a:t>程序设计语言基本成分：</a:t>
            </a:r>
          </a:p>
          <a:p>
            <a:r>
              <a:rPr lang="zh-CN" altLang="en-US" dirty="0">
                <a:ea typeface="宋体" charset="-122"/>
              </a:rPr>
              <a:t>。数据成分</a:t>
            </a:r>
          </a:p>
          <a:p>
            <a:r>
              <a:rPr lang="zh-CN" altLang="en-US" dirty="0">
                <a:ea typeface="宋体" charset="-122"/>
              </a:rPr>
              <a:t>。运算成分</a:t>
            </a:r>
          </a:p>
          <a:p>
            <a:r>
              <a:rPr lang="zh-CN" altLang="en-US" dirty="0">
                <a:ea typeface="宋体" charset="-122"/>
              </a:rPr>
              <a:t>。控制成分</a:t>
            </a:r>
          </a:p>
          <a:p>
            <a:r>
              <a:rPr lang="zh-CN" altLang="en-US" dirty="0">
                <a:ea typeface="宋体" charset="-122"/>
              </a:rPr>
              <a:t>。传输成分	</a:t>
            </a:r>
          </a:p>
          <a:p>
            <a:endParaRPr lang="zh-CN" altLang="en-US" dirty="0">
              <a:ea typeface="宋体" charset="-122"/>
            </a:endParaRPr>
          </a:p>
          <a:p>
            <a:r>
              <a:rPr lang="zh-CN" altLang="en-US" dirty="0">
                <a:ea typeface="宋体" charset="-122"/>
              </a:rPr>
              <a:t>程序设计语言定义：用于书写计算机程序的语言。通常指实现高级语言。</a:t>
            </a:r>
          </a:p>
          <a:p>
            <a:r>
              <a:rPr lang="zh-CN" altLang="en-US" dirty="0">
                <a:ea typeface="宋体" charset="-122"/>
              </a:rPr>
              <a:t>语言的基础是一组记号与一组规则。</a:t>
            </a:r>
          </a:p>
          <a:p>
            <a:r>
              <a:rPr lang="zh-CN" altLang="en-US" dirty="0">
                <a:ea typeface="宋体" charset="-122"/>
              </a:rPr>
              <a:t>程序设计语言包括：</a:t>
            </a:r>
          </a:p>
          <a:p>
            <a:r>
              <a:rPr lang="zh-CN" altLang="en-US" dirty="0">
                <a:ea typeface="宋体" charset="-122"/>
              </a:rPr>
              <a:t>语法：记号的组合规则</a:t>
            </a:r>
          </a:p>
          <a:p>
            <a:r>
              <a:rPr lang="zh-CN" altLang="en-US" dirty="0">
                <a:ea typeface="宋体" charset="-122"/>
              </a:rPr>
              <a:t>语义：记号的特定意义</a:t>
            </a:r>
          </a:p>
          <a:p>
            <a:r>
              <a:rPr lang="zh-CN" altLang="en-US" dirty="0">
                <a:ea typeface="宋体" charset="-122"/>
              </a:rPr>
              <a:t>语用：程序与使用者的关系</a:t>
            </a:r>
          </a:p>
          <a:p>
            <a:endParaRPr lang="zh-CN" altLang="en-US" dirty="0">
              <a:ea typeface="宋体" charset="-122"/>
            </a:endParaRPr>
          </a:p>
          <a:p>
            <a:endParaRPr lang="en-US" altLang="zh-CN" dirty="0">
              <a:ea typeface="宋体" charset="-122"/>
            </a:endParaRPr>
          </a:p>
        </p:txBody>
      </p:sp>
    </p:spTree>
    <p:extLst>
      <p:ext uri="{BB962C8B-B14F-4D97-AF65-F5344CB8AC3E}">
        <p14:creationId xmlns:p14="http://schemas.microsoft.com/office/powerpoint/2010/main" val="39259036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746A813-2E9A-4513-B7D8-91B578B72090}" type="slidenum">
              <a:rPr lang="zh-CN" altLang="en-US" smtClean="0"/>
              <a:t>48</a:t>
            </a:fld>
            <a:endParaRPr lang="zh-CN" altLang="en-US"/>
          </a:p>
        </p:txBody>
      </p:sp>
    </p:spTree>
    <p:extLst>
      <p:ext uri="{BB962C8B-B14F-4D97-AF65-F5344CB8AC3E}">
        <p14:creationId xmlns:p14="http://schemas.microsoft.com/office/powerpoint/2010/main" val="42794968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413DF842-615D-4186-9B0F-908F89356961}" type="slidenum">
              <a:rPr lang="en-US" altLang="zh-CN" smtClean="0"/>
              <a:pPr/>
              <a:t>49</a:t>
            </a:fld>
            <a:endParaRPr lang="en-US" altLang="zh-CN"/>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r>
              <a:rPr lang="zh-CN" altLang="en-US">
                <a:ea typeface="宋体" charset="-122"/>
              </a:rPr>
              <a:t>在</a:t>
            </a:r>
            <a:r>
              <a:rPr lang="en-US" altLang="zh-CN">
                <a:ea typeface="宋体" charset="-122"/>
              </a:rPr>
              <a:t>C</a:t>
            </a:r>
            <a:r>
              <a:rPr lang="zh-CN" altLang="en-US">
                <a:ea typeface="宋体" charset="-122"/>
              </a:rPr>
              <a:t>中不允许函数中再定义函数，即不允许函数嵌套定义。但是，在</a:t>
            </a:r>
            <a:r>
              <a:rPr lang="en-US" altLang="zh-CN">
                <a:ea typeface="宋体" charset="-122"/>
              </a:rPr>
              <a:t>C</a:t>
            </a:r>
            <a:r>
              <a:rPr lang="zh-CN" altLang="en-US">
                <a:ea typeface="宋体" charset="-122"/>
              </a:rPr>
              <a:t>中允许函数递归调用，即允许一函数在定义中调用它自己。</a:t>
            </a:r>
          </a:p>
          <a:p>
            <a:pPr eaLnBrk="1" hangingPunct="1"/>
            <a:r>
              <a:rPr lang="zh-CN" altLang="en-US">
                <a:ea typeface="宋体" charset="-122"/>
              </a:rPr>
              <a:t>函数的递归调用可使一个程序变得简洁，以提高程序的可读性，但递归调用 并不加快速度，由于递归调用过程中要进行栈处理，它把一些中间的数据放置到堆栈空间中去，因此要增加一些存贮空间。</a:t>
            </a:r>
          </a:p>
          <a:p>
            <a:pPr eaLnBrk="1" hangingPunct="1"/>
            <a:endParaRPr lang="zh-CN" altLang="en-US">
              <a:ea typeface="宋体" charset="-122"/>
            </a:endParaRPr>
          </a:p>
          <a:p>
            <a:pPr eaLnBrk="1" hangingPunct="1"/>
            <a:r>
              <a:rPr lang="zh-CN" altLang="en-US">
                <a:ea typeface="宋体" charset="-122"/>
              </a:rPr>
              <a:t>为了防止递归调用无终止地进行，必须在函数内有终止递归调用的手段。常用的办法是加条件判断，满足某种条件后就不再作递归调用，然后逐层返回。 </a:t>
            </a:r>
          </a:p>
        </p:txBody>
      </p:sp>
    </p:spTree>
    <p:extLst>
      <p:ext uri="{BB962C8B-B14F-4D97-AF65-F5344CB8AC3E}">
        <p14:creationId xmlns:p14="http://schemas.microsoft.com/office/powerpoint/2010/main" val="30902245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413DF842-615D-4186-9B0F-908F89356961}" type="slidenum">
              <a:rPr lang="en-US" altLang="zh-CN" smtClean="0"/>
              <a:pPr/>
              <a:t>52</a:t>
            </a:fld>
            <a:endParaRPr lang="en-US" altLang="zh-CN"/>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r>
              <a:rPr lang="zh-CN" altLang="en-US" dirty="0">
                <a:ea typeface="宋体" charset="-122"/>
              </a:rPr>
              <a:t>在</a:t>
            </a:r>
            <a:r>
              <a:rPr lang="en-US" altLang="zh-CN" dirty="0">
                <a:ea typeface="宋体" charset="-122"/>
              </a:rPr>
              <a:t>C</a:t>
            </a:r>
            <a:r>
              <a:rPr lang="zh-CN" altLang="en-US" dirty="0">
                <a:ea typeface="宋体" charset="-122"/>
              </a:rPr>
              <a:t>中不允许函数中再定义函数，即不允许函数嵌套定义。但是，在</a:t>
            </a:r>
            <a:r>
              <a:rPr lang="en-US" altLang="zh-CN" dirty="0">
                <a:ea typeface="宋体" charset="-122"/>
              </a:rPr>
              <a:t>C</a:t>
            </a:r>
            <a:r>
              <a:rPr lang="zh-CN" altLang="en-US" dirty="0">
                <a:ea typeface="宋体" charset="-122"/>
              </a:rPr>
              <a:t>中允许函数递归调用，即允许一函数在定义中调用它自己。</a:t>
            </a:r>
          </a:p>
          <a:p>
            <a:pPr eaLnBrk="1" hangingPunct="1"/>
            <a:r>
              <a:rPr lang="zh-CN" altLang="en-US" dirty="0">
                <a:ea typeface="宋体" charset="-122"/>
              </a:rPr>
              <a:t>函数的递归调用可使一个程序变得简洁，以提高程序的可读性，但递归调用 并不加快速度，由于递归调用过程中要进行栈处理，它把一些中间的数据放置到堆栈空间中去，因此要增加一些存贮空间。</a:t>
            </a:r>
          </a:p>
          <a:p>
            <a:pPr eaLnBrk="1" hangingPunct="1"/>
            <a:endParaRPr lang="zh-CN" altLang="en-US" dirty="0">
              <a:ea typeface="宋体" charset="-122"/>
            </a:endParaRPr>
          </a:p>
          <a:p>
            <a:pPr eaLnBrk="1" hangingPunct="1"/>
            <a:r>
              <a:rPr lang="zh-CN" altLang="en-US" dirty="0">
                <a:ea typeface="宋体" charset="-122"/>
              </a:rPr>
              <a:t>为了防止递归调用无终止地进行，必须在函数内有终止递归调用的手段。常用的办法是加条件判断，满足某种条件后就不再作递归调用，然后逐层返回。 </a:t>
            </a:r>
          </a:p>
        </p:txBody>
      </p:sp>
    </p:spTree>
    <p:extLst>
      <p:ext uri="{BB962C8B-B14F-4D97-AF65-F5344CB8AC3E}">
        <p14:creationId xmlns:p14="http://schemas.microsoft.com/office/powerpoint/2010/main" val="21370335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413DF842-615D-4186-9B0F-908F89356961}" type="slidenum">
              <a:rPr lang="en-US" altLang="zh-CN" smtClean="0"/>
              <a:pPr/>
              <a:t>55</a:t>
            </a:fld>
            <a:endParaRPr lang="en-US" altLang="zh-CN"/>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r>
              <a:rPr lang="zh-CN" altLang="en-US" dirty="0">
                <a:ea typeface="宋体" charset="-122"/>
              </a:rPr>
              <a:t>在</a:t>
            </a:r>
            <a:r>
              <a:rPr lang="en-US" altLang="zh-CN" dirty="0">
                <a:ea typeface="宋体" charset="-122"/>
              </a:rPr>
              <a:t>C</a:t>
            </a:r>
            <a:r>
              <a:rPr lang="zh-CN" altLang="en-US" dirty="0">
                <a:ea typeface="宋体" charset="-122"/>
              </a:rPr>
              <a:t>中不允许函数中再定义函数，即不允许函数嵌套定义。但是，在</a:t>
            </a:r>
            <a:r>
              <a:rPr lang="en-US" altLang="zh-CN" dirty="0">
                <a:ea typeface="宋体" charset="-122"/>
              </a:rPr>
              <a:t>C</a:t>
            </a:r>
            <a:r>
              <a:rPr lang="zh-CN" altLang="en-US" dirty="0">
                <a:ea typeface="宋体" charset="-122"/>
              </a:rPr>
              <a:t>中允许函数递归调用，即允许一函数在定义中调用它自己。</a:t>
            </a:r>
          </a:p>
          <a:p>
            <a:pPr eaLnBrk="1" hangingPunct="1"/>
            <a:r>
              <a:rPr lang="zh-CN" altLang="en-US" dirty="0">
                <a:ea typeface="宋体" charset="-122"/>
              </a:rPr>
              <a:t>函数的递归调用可使一个程序变得简洁，以提高程序的可读性，但递归调用 并不加快速度，由于递归调用过程中要进行栈处理，它把一些中间的数据放置到堆栈空间中去，因此要增加一些存贮空间。</a:t>
            </a:r>
          </a:p>
          <a:p>
            <a:pPr eaLnBrk="1" hangingPunct="1"/>
            <a:endParaRPr lang="zh-CN" altLang="en-US" dirty="0">
              <a:ea typeface="宋体" charset="-122"/>
            </a:endParaRPr>
          </a:p>
          <a:p>
            <a:pPr eaLnBrk="1" hangingPunct="1"/>
            <a:r>
              <a:rPr lang="zh-CN" altLang="en-US" dirty="0">
                <a:ea typeface="宋体" charset="-122"/>
              </a:rPr>
              <a:t>为了防止递归调用无终止地进行，必须在函数内有终止递归调用的手段。常用的办法是加条件判断，满足某种条件后就不再作递归调用，然后逐层返回。 </a:t>
            </a:r>
          </a:p>
        </p:txBody>
      </p:sp>
    </p:spTree>
    <p:extLst>
      <p:ext uri="{BB962C8B-B14F-4D97-AF65-F5344CB8AC3E}">
        <p14:creationId xmlns:p14="http://schemas.microsoft.com/office/powerpoint/2010/main" val="26575250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noFill/>
        </p:spPr>
        <p:txBody>
          <a:bodyPr/>
          <a:lstStyle/>
          <a:p>
            <a:r>
              <a:rPr lang="zh-CN" altLang="en-US">
                <a:ea typeface="宋体" charset="-122"/>
              </a:rPr>
              <a:t>从主函数用阶乘实现开始，到子函数，到递归。</a:t>
            </a:r>
          </a:p>
        </p:txBody>
      </p:sp>
      <p:sp>
        <p:nvSpPr>
          <p:cNvPr id="57348" name="灯片编号占位符 3"/>
          <p:cNvSpPr>
            <a:spLocks noGrp="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551600FE-ABB1-42E2-A35E-86C5520E6EF5}" type="slidenum">
              <a:rPr lang="en-US" altLang="zh-CN" smtClean="0"/>
              <a:pPr/>
              <a:t>56</a:t>
            </a:fld>
            <a:endParaRPr lang="en-US" altLang="zh-CN"/>
          </a:p>
        </p:txBody>
      </p:sp>
    </p:spTree>
    <p:extLst>
      <p:ext uri="{BB962C8B-B14F-4D97-AF65-F5344CB8AC3E}">
        <p14:creationId xmlns:p14="http://schemas.microsoft.com/office/powerpoint/2010/main" val="9476797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46A813-2E9A-4513-B7D8-91B578B72090}" type="slidenum">
              <a:rPr lang="zh-CN" altLang="en-US" smtClean="0"/>
              <a:t>58</a:t>
            </a:fld>
            <a:endParaRPr lang="zh-CN" altLang="en-US"/>
          </a:p>
        </p:txBody>
      </p:sp>
    </p:spTree>
    <p:extLst>
      <p:ext uri="{BB962C8B-B14F-4D97-AF65-F5344CB8AC3E}">
        <p14:creationId xmlns:p14="http://schemas.microsoft.com/office/powerpoint/2010/main" val="8319691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E1D1267D-8CC6-4D40-BE4D-57A65DE9154B}" type="slidenum">
              <a:rPr lang="en-US" altLang="zh-CN" smtClean="0"/>
              <a:pPr/>
              <a:t>64</a:t>
            </a:fld>
            <a:endParaRPr lang="en-US" altLang="zh-CN"/>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marL="228600" indent="-228600" algn="just">
              <a:spcBef>
                <a:spcPct val="0"/>
              </a:spcBef>
            </a:pPr>
            <a:r>
              <a:rPr kumimoji="1" lang="zh-CN" altLang="en-US" sz="2400" b="1">
                <a:ea typeface="楷体_GB2312" pitchFamily="49" charset="-122"/>
              </a:rPr>
              <a:t>只有在本函数内才能使用的变量，称为局部变量。</a:t>
            </a:r>
          </a:p>
          <a:p>
            <a:pPr marL="228600" indent="-228600" algn="just">
              <a:spcBef>
                <a:spcPct val="0"/>
              </a:spcBef>
            </a:pPr>
            <a:r>
              <a:rPr kumimoji="1" lang="zh-CN" altLang="en-US" sz="2400" b="1">
                <a:ea typeface="楷体_GB2312" pitchFamily="49" charset="-122"/>
              </a:rPr>
              <a:t>如：</a:t>
            </a:r>
            <a:r>
              <a:rPr kumimoji="1" lang="en-US" altLang="zh-CN" sz="2400" b="1">
                <a:ea typeface="宋体" charset="-122"/>
                <a:cs typeface="Times New Roman" pitchFamily="18" charset="0"/>
              </a:rPr>
              <a:t>float f1(int a)</a:t>
            </a:r>
            <a:endParaRPr kumimoji="1" lang="en-US" altLang="zh-CN" sz="2400" b="1">
              <a:ea typeface="楷体_GB2312" pitchFamily="49" charset="-122"/>
            </a:endParaRPr>
          </a:p>
          <a:p>
            <a:pPr marL="228600" indent="-228600" algn="just">
              <a:spcBef>
                <a:spcPct val="0"/>
              </a:spcBef>
            </a:pPr>
            <a:r>
              <a:rPr kumimoji="1" lang="en-US" altLang="zh-CN" sz="2400" b="1">
                <a:ea typeface="宋体" charset="-122"/>
                <a:cs typeface="Times New Roman" pitchFamily="18" charset="0"/>
              </a:rPr>
              <a:t>    {</a:t>
            </a:r>
            <a:r>
              <a:rPr kumimoji="1" lang="en-US" altLang="zh-CN" sz="2400" b="1">
                <a:ea typeface="楷体_GB2312" pitchFamily="49" charset="-122"/>
              </a:rPr>
              <a:t> </a:t>
            </a:r>
            <a:r>
              <a:rPr kumimoji="1" lang="en-US" altLang="zh-CN" sz="2400" b="1">
                <a:ea typeface="宋体" charset="-122"/>
                <a:cs typeface="Times New Roman" pitchFamily="18" charset="0"/>
              </a:rPr>
              <a:t> int b,c;</a:t>
            </a:r>
            <a:endParaRPr kumimoji="1" lang="en-US" altLang="zh-CN" sz="2400" b="1">
              <a:ea typeface="楷体_GB2312" pitchFamily="49" charset="-122"/>
            </a:endParaRPr>
          </a:p>
          <a:p>
            <a:pPr marL="228600" indent="-228600" algn="just">
              <a:spcBef>
                <a:spcPct val="0"/>
              </a:spcBef>
            </a:pPr>
            <a:r>
              <a:rPr kumimoji="1" lang="en-US" altLang="zh-CN" sz="2400" b="1">
                <a:ea typeface="宋体" charset="-122"/>
                <a:cs typeface="Times New Roman" pitchFamily="18" charset="0"/>
              </a:rPr>
              <a:t>    </a:t>
            </a:r>
            <a:r>
              <a:rPr kumimoji="1" lang="en-US" altLang="zh-CN" sz="2400" b="1">
                <a:ea typeface="楷体_GB2312" pitchFamily="49" charset="-122"/>
              </a:rPr>
              <a:t>…</a:t>
            </a:r>
            <a:r>
              <a:rPr kumimoji="1" lang="en-US" altLang="zh-CN" sz="2400" b="1">
                <a:ea typeface="宋体" charset="-122"/>
                <a:cs typeface="Times New Roman" pitchFamily="18" charset="0"/>
              </a:rPr>
              <a:t> }</a:t>
            </a:r>
            <a:endParaRPr kumimoji="1" lang="en-US" altLang="zh-CN" sz="2400" b="1">
              <a:ea typeface="楷体_GB2312" pitchFamily="49" charset="-122"/>
            </a:endParaRPr>
          </a:p>
          <a:p>
            <a:pPr marL="228600" indent="-228600" eaLnBrk="1" hangingPunct="1"/>
            <a:r>
              <a:rPr kumimoji="1" lang="zh-CN" altLang="en-US" b="1">
                <a:ea typeface="宋体" charset="-122"/>
              </a:rPr>
              <a:t>主函数中定义的变量也只能在主函数中使用，不能在其它函数中使用。同时，主函数中也不能使用其它函数中定义的变量。因为主函数也是一个函数，它与其它函数是平行关系。这一点是与其它语言不同的，应予以注意。</a:t>
            </a:r>
          </a:p>
          <a:p>
            <a:pPr marL="228600" indent="-228600" eaLnBrk="1" hangingPunct="1"/>
            <a:r>
              <a:rPr kumimoji="1" lang="zh-CN" altLang="en-US" b="1">
                <a:ea typeface="宋体" charset="-122"/>
              </a:rPr>
              <a:t>形参变量是属于被调函数的局部变量，实参变量是属于主调函数的局部变量。</a:t>
            </a:r>
          </a:p>
          <a:p>
            <a:pPr marL="228600" indent="-228600" eaLnBrk="1" hangingPunct="1"/>
            <a:r>
              <a:rPr kumimoji="1" lang="zh-CN" altLang="en-US" b="1">
                <a:ea typeface="宋体" charset="-122"/>
              </a:rPr>
              <a:t>允许在不同的函数中使用相同的变量名，它们代表不同的对象，分配不同的单元，互不干扰，也不会发生混淆。如在前例中，形参和实参的变量名都为</a:t>
            </a:r>
            <a:r>
              <a:rPr kumimoji="1" lang="en-US" altLang="zh-CN" b="1">
                <a:ea typeface="宋体" charset="-122"/>
              </a:rPr>
              <a:t>n</a:t>
            </a:r>
            <a:r>
              <a:rPr kumimoji="1" lang="zh-CN" altLang="en-US" b="1">
                <a:ea typeface="宋体" charset="-122"/>
              </a:rPr>
              <a:t>，是完全允许的。</a:t>
            </a:r>
          </a:p>
          <a:p>
            <a:pPr marL="228600" indent="-228600" eaLnBrk="1" hangingPunct="1"/>
            <a:r>
              <a:rPr kumimoji="1" lang="zh-CN" altLang="en-US" b="1">
                <a:ea typeface="宋体" charset="-122"/>
              </a:rPr>
              <a:t>在复合语句中也可定义变量，其作用域只在复合语句范围内。</a:t>
            </a:r>
          </a:p>
        </p:txBody>
      </p:sp>
    </p:spTree>
    <p:extLst>
      <p:ext uri="{BB962C8B-B14F-4D97-AF65-F5344CB8AC3E}">
        <p14:creationId xmlns:p14="http://schemas.microsoft.com/office/powerpoint/2010/main" val="1010531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E1D1267D-8CC6-4D40-BE4D-57A65DE9154B}" type="slidenum">
              <a:rPr lang="en-US" altLang="zh-CN" smtClean="0"/>
              <a:pPr/>
              <a:t>65</a:t>
            </a:fld>
            <a:endParaRPr lang="en-US" altLang="zh-CN"/>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marL="228600" indent="-228600" algn="just">
              <a:spcBef>
                <a:spcPct val="0"/>
              </a:spcBef>
            </a:pPr>
            <a:r>
              <a:rPr kumimoji="1" lang="zh-CN" altLang="en-US" sz="2400" b="1">
                <a:ea typeface="楷体_GB2312" pitchFamily="49" charset="-122"/>
              </a:rPr>
              <a:t>只有在本函数内才能使用的变量，称为局部变量。</a:t>
            </a:r>
          </a:p>
          <a:p>
            <a:pPr marL="228600" indent="-228600" algn="just">
              <a:spcBef>
                <a:spcPct val="0"/>
              </a:spcBef>
            </a:pPr>
            <a:r>
              <a:rPr kumimoji="1" lang="zh-CN" altLang="en-US" sz="2400" b="1">
                <a:ea typeface="楷体_GB2312" pitchFamily="49" charset="-122"/>
              </a:rPr>
              <a:t>如：</a:t>
            </a:r>
            <a:r>
              <a:rPr kumimoji="1" lang="en-US" altLang="zh-CN" sz="2400" b="1">
                <a:ea typeface="宋体" charset="-122"/>
                <a:cs typeface="Times New Roman" pitchFamily="18" charset="0"/>
              </a:rPr>
              <a:t>float f1(int a)</a:t>
            </a:r>
            <a:endParaRPr kumimoji="1" lang="en-US" altLang="zh-CN" sz="2400" b="1">
              <a:ea typeface="楷体_GB2312" pitchFamily="49" charset="-122"/>
            </a:endParaRPr>
          </a:p>
          <a:p>
            <a:pPr marL="228600" indent="-228600" algn="just">
              <a:spcBef>
                <a:spcPct val="0"/>
              </a:spcBef>
            </a:pPr>
            <a:r>
              <a:rPr kumimoji="1" lang="en-US" altLang="zh-CN" sz="2400" b="1">
                <a:ea typeface="宋体" charset="-122"/>
                <a:cs typeface="Times New Roman" pitchFamily="18" charset="0"/>
              </a:rPr>
              <a:t>    {</a:t>
            </a:r>
            <a:r>
              <a:rPr kumimoji="1" lang="en-US" altLang="zh-CN" sz="2400" b="1">
                <a:ea typeface="楷体_GB2312" pitchFamily="49" charset="-122"/>
              </a:rPr>
              <a:t> </a:t>
            </a:r>
            <a:r>
              <a:rPr kumimoji="1" lang="en-US" altLang="zh-CN" sz="2400" b="1">
                <a:ea typeface="宋体" charset="-122"/>
                <a:cs typeface="Times New Roman" pitchFamily="18" charset="0"/>
              </a:rPr>
              <a:t> int b,c;</a:t>
            </a:r>
            <a:endParaRPr kumimoji="1" lang="en-US" altLang="zh-CN" sz="2400" b="1">
              <a:ea typeface="楷体_GB2312" pitchFamily="49" charset="-122"/>
            </a:endParaRPr>
          </a:p>
          <a:p>
            <a:pPr marL="228600" indent="-228600" algn="just">
              <a:spcBef>
                <a:spcPct val="0"/>
              </a:spcBef>
            </a:pPr>
            <a:r>
              <a:rPr kumimoji="1" lang="en-US" altLang="zh-CN" sz="2400" b="1">
                <a:ea typeface="宋体" charset="-122"/>
                <a:cs typeface="Times New Roman" pitchFamily="18" charset="0"/>
              </a:rPr>
              <a:t>    </a:t>
            </a:r>
            <a:r>
              <a:rPr kumimoji="1" lang="en-US" altLang="zh-CN" sz="2400" b="1">
                <a:ea typeface="楷体_GB2312" pitchFamily="49" charset="-122"/>
              </a:rPr>
              <a:t>…</a:t>
            </a:r>
            <a:r>
              <a:rPr kumimoji="1" lang="en-US" altLang="zh-CN" sz="2400" b="1">
                <a:ea typeface="宋体" charset="-122"/>
                <a:cs typeface="Times New Roman" pitchFamily="18" charset="0"/>
              </a:rPr>
              <a:t> }</a:t>
            </a:r>
            <a:endParaRPr kumimoji="1" lang="en-US" altLang="zh-CN" sz="2400" b="1">
              <a:ea typeface="楷体_GB2312" pitchFamily="49" charset="-122"/>
            </a:endParaRPr>
          </a:p>
          <a:p>
            <a:pPr marL="228600" indent="-228600" eaLnBrk="1" hangingPunct="1"/>
            <a:r>
              <a:rPr kumimoji="1" lang="zh-CN" altLang="en-US" b="1">
                <a:ea typeface="宋体" charset="-122"/>
              </a:rPr>
              <a:t>主函数中定义的变量也只能在主函数中使用，不能在其它函数中使用。同时，主函数中也不能使用其它函数中定义的变量。因为主函数也是一个函数，它与其它函数是平行关系。这一点是与其它语言不同的，应予以注意。</a:t>
            </a:r>
          </a:p>
          <a:p>
            <a:pPr marL="228600" indent="-228600" eaLnBrk="1" hangingPunct="1"/>
            <a:r>
              <a:rPr kumimoji="1" lang="zh-CN" altLang="en-US" b="1">
                <a:ea typeface="宋体" charset="-122"/>
              </a:rPr>
              <a:t>形参变量是属于被调函数的局部变量，实参变量是属于主调函数的局部变量。</a:t>
            </a:r>
          </a:p>
          <a:p>
            <a:pPr marL="228600" indent="-228600" eaLnBrk="1" hangingPunct="1"/>
            <a:r>
              <a:rPr kumimoji="1" lang="zh-CN" altLang="en-US" b="1">
                <a:ea typeface="宋体" charset="-122"/>
              </a:rPr>
              <a:t>允许在不同的函数中使用相同的变量名，它们代表不同的对象，分配不同的单元，互不干扰，也不会发生混淆。如在前例中，形参和实参的变量名都为</a:t>
            </a:r>
            <a:r>
              <a:rPr kumimoji="1" lang="en-US" altLang="zh-CN" b="1">
                <a:ea typeface="宋体" charset="-122"/>
              </a:rPr>
              <a:t>n</a:t>
            </a:r>
            <a:r>
              <a:rPr kumimoji="1" lang="zh-CN" altLang="en-US" b="1">
                <a:ea typeface="宋体" charset="-122"/>
              </a:rPr>
              <a:t>，是完全允许的。</a:t>
            </a:r>
          </a:p>
          <a:p>
            <a:pPr marL="228600" indent="-228600" eaLnBrk="1" hangingPunct="1"/>
            <a:r>
              <a:rPr kumimoji="1" lang="zh-CN" altLang="en-US" b="1">
                <a:ea typeface="宋体" charset="-122"/>
              </a:rPr>
              <a:t>在复合语句中也可定义变量，其作用域只在复合语句范围内。</a:t>
            </a:r>
          </a:p>
        </p:txBody>
      </p:sp>
    </p:spTree>
    <p:extLst>
      <p:ext uri="{BB962C8B-B14F-4D97-AF65-F5344CB8AC3E}">
        <p14:creationId xmlns:p14="http://schemas.microsoft.com/office/powerpoint/2010/main" val="41240799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25D9A316-DA21-4AD4-925A-5B40AD2F6093}" type="slidenum">
              <a:rPr lang="en-US" altLang="zh-CN" smtClean="0"/>
              <a:pPr/>
              <a:t>73</a:t>
            </a:fld>
            <a:endParaRPr lang="en-US" altLang="zh-CN"/>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p:spPr>
        <p:txBody>
          <a:bodyPr/>
          <a:lstStyle/>
          <a:p>
            <a:pPr eaLnBrk="1" hangingPunct="1"/>
            <a:r>
              <a:rPr lang="zh-CN" altLang="en-US">
                <a:ea typeface="宋体" charset="-122"/>
              </a:rPr>
              <a:t>全局变量也称为外部变量，它是在函数外部定义的变量。它不属于哪一个函数，它属于一个源程序文件。其作用域是整个源程序。在函数中使用全局变量，一般应作全局变量说明。 只有在函数内经过说明的全局变量才能使用。全局变量的说明符为</a:t>
            </a:r>
            <a:r>
              <a:rPr lang="en-US" altLang="zh-CN">
                <a:ea typeface="宋体" charset="-122"/>
              </a:rPr>
              <a:t>extern</a:t>
            </a:r>
            <a:r>
              <a:rPr lang="zh-CN" altLang="en-US">
                <a:ea typeface="宋体" charset="-122"/>
              </a:rPr>
              <a:t>。但在一个函数之前定义的全局变量，在该函数内使用可不再加以说明。</a:t>
            </a:r>
          </a:p>
        </p:txBody>
      </p:sp>
    </p:spTree>
    <p:extLst>
      <p:ext uri="{BB962C8B-B14F-4D97-AF65-F5344CB8AC3E}">
        <p14:creationId xmlns:p14="http://schemas.microsoft.com/office/powerpoint/2010/main" val="21258036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D25C0CD4-EE71-4C88-BDD3-7AD2BDF9CB89}" type="slidenum">
              <a:rPr lang="en-US" altLang="zh-CN" smtClean="0"/>
              <a:pPr/>
              <a:t>78</a:t>
            </a:fld>
            <a:endParaRPr lang="en-US" altLang="zh-CN"/>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pPr eaLnBrk="1" hangingPunct="1"/>
            <a:r>
              <a:rPr lang="en-US" altLang="zh-CN" sz="1000">
                <a:ea typeface="宋体" charset="-122"/>
              </a:rPr>
              <a:t>【</a:t>
            </a:r>
            <a:r>
              <a:rPr lang="zh-CN" altLang="en-US" sz="1000">
                <a:ea typeface="宋体" charset="-122"/>
              </a:rPr>
              <a:t>例</a:t>
            </a:r>
            <a:r>
              <a:rPr lang="en-US" altLang="zh-CN" sz="1000">
                <a:ea typeface="宋体" charset="-122"/>
              </a:rPr>
              <a:t>8.13】</a:t>
            </a:r>
            <a:r>
              <a:rPr lang="zh-CN" altLang="en-US" sz="1000">
                <a:ea typeface="宋体" charset="-122"/>
              </a:rPr>
              <a:t>输入正方体的长宽高</a:t>
            </a:r>
            <a:r>
              <a:rPr lang="en-US" altLang="zh-CN" sz="1000">
                <a:ea typeface="宋体" charset="-122"/>
              </a:rPr>
              <a:t>l,w,h</a:t>
            </a:r>
            <a:r>
              <a:rPr lang="zh-CN" altLang="en-US" sz="1000">
                <a:ea typeface="宋体" charset="-122"/>
              </a:rPr>
              <a:t>。求体积及三个面</a:t>
            </a:r>
            <a:r>
              <a:rPr lang="en-US" altLang="zh-CN" sz="1000">
                <a:ea typeface="宋体" charset="-122"/>
              </a:rPr>
              <a:t>x*y,x*z,y*z</a:t>
            </a:r>
            <a:r>
              <a:rPr lang="zh-CN" altLang="en-US" sz="1000">
                <a:ea typeface="宋体" charset="-122"/>
              </a:rPr>
              <a:t>的面积。</a:t>
            </a:r>
          </a:p>
          <a:p>
            <a:pPr eaLnBrk="1" hangingPunct="1"/>
            <a:r>
              <a:rPr lang="en-US" altLang="zh-CN" sz="1000">
                <a:ea typeface="宋体" charset="-122"/>
              </a:rPr>
              <a:t>int s1,s2,s3;</a:t>
            </a:r>
          </a:p>
          <a:p>
            <a:pPr eaLnBrk="1" hangingPunct="1"/>
            <a:r>
              <a:rPr lang="en-US" altLang="zh-CN" sz="1000">
                <a:ea typeface="宋体" charset="-122"/>
              </a:rPr>
              <a:t>int vs( int a,int b,int c)</a:t>
            </a:r>
          </a:p>
          <a:p>
            <a:pPr eaLnBrk="1" hangingPunct="1"/>
            <a:r>
              <a:rPr lang="en-US" altLang="zh-CN" sz="1000">
                <a:ea typeface="宋体" charset="-122"/>
              </a:rPr>
              <a:t>{</a:t>
            </a:r>
          </a:p>
          <a:p>
            <a:pPr eaLnBrk="1" hangingPunct="1"/>
            <a:r>
              <a:rPr lang="en-US" altLang="zh-CN" sz="1000">
                <a:ea typeface="宋体" charset="-122"/>
              </a:rPr>
              <a:t>    int v;</a:t>
            </a:r>
          </a:p>
          <a:p>
            <a:pPr eaLnBrk="1" hangingPunct="1"/>
            <a:r>
              <a:rPr lang="en-US" altLang="zh-CN" sz="1000">
                <a:ea typeface="宋体" charset="-122"/>
              </a:rPr>
              <a:t>    v=a*b*c;</a:t>
            </a:r>
          </a:p>
          <a:p>
            <a:pPr eaLnBrk="1" hangingPunct="1"/>
            <a:r>
              <a:rPr lang="en-US" altLang="zh-CN" sz="1000">
                <a:ea typeface="宋体" charset="-122"/>
              </a:rPr>
              <a:t>    s1=a*b;</a:t>
            </a:r>
          </a:p>
          <a:p>
            <a:pPr eaLnBrk="1" hangingPunct="1"/>
            <a:r>
              <a:rPr lang="en-US" altLang="zh-CN" sz="1000">
                <a:ea typeface="宋体" charset="-122"/>
              </a:rPr>
              <a:t>    s2=b*c;</a:t>
            </a:r>
          </a:p>
          <a:p>
            <a:pPr eaLnBrk="1" hangingPunct="1"/>
            <a:r>
              <a:rPr lang="en-US" altLang="zh-CN" sz="1000">
                <a:ea typeface="宋体" charset="-122"/>
              </a:rPr>
              <a:t>    s3=a*c;</a:t>
            </a:r>
          </a:p>
          <a:p>
            <a:pPr eaLnBrk="1" hangingPunct="1"/>
            <a:r>
              <a:rPr lang="en-US" altLang="zh-CN" sz="1000">
                <a:ea typeface="宋体" charset="-122"/>
              </a:rPr>
              <a:t>    return v;</a:t>
            </a:r>
          </a:p>
          <a:p>
            <a:pPr eaLnBrk="1" hangingPunct="1"/>
            <a:r>
              <a:rPr lang="en-US" altLang="zh-CN" sz="1000">
                <a:ea typeface="宋体" charset="-122"/>
              </a:rPr>
              <a:t>}</a:t>
            </a:r>
          </a:p>
          <a:p>
            <a:pPr eaLnBrk="1" hangingPunct="1"/>
            <a:r>
              <a:rPr lang="en-US" altLang="zh-CN" sz="1000">
                <a:ea typeface="宋体" charset="-122"/>
              </a:rPr>
              <a:t>main()</a:t>
            </a:r>
          </a:p>
          <a:p>
            <a:pPr eaLnBrk="1" hangingPunct="1"/>
            <a:r>
              <a:rPr lang="en-US" altLang="zh-CN" sz="1000">
                <a:ea typeface="宋体" charset="-122"/>
              </a:rPr>
              <a:t>{</a:t>
            </a:r>
          </a:p>
          <a:p>
            <a:pPr eaLnBrk="1" hangingPunct="1"/>
            <a:r>
              <a:rPr lang="en-US" altLang="zh-CN" sz="1000">
                <a:ea typeface="宋体" charset="-122"/>
              </a:rPr>
              <a:t> int v,l,w,h;</a:t>
            </a:r>
          </a:p>
          <a:p>
            <a:pPr eaLnBrk="1" hangingPunct="1"/>
            <a:r>
              <a:rPr lang="en-US" altLang="zh-CN" sz="1000">
                <a:ea typeface="宋体" charset="-122"/>
              </a:rPr>
              <a:t> printf("\ninput length,width and height\n");</a:t>
            </a:r>
          </a:p>
          <a:p>
            <a:pPr eaLnBrk="1" hangingPunct="1"/>
            <a:r>
              <a:rPr lang="en-US" altLang="zh-CN" sz="1000">
                <a:ea typeface="宋体" charset="-122"/>
              </a:rPr>
              <a:t> scanf("%d%d%d",&amp;l,&amp;w,&amp;h);</a:t>
            </a:r>
          </a:p>
          <a:p>
            <a:pPr eaLnBrk="1" hangingPunct="1"/>
            <a:r>
              <a:rPr lang="en-US" altLang="zh-CN" sz="1000">
                <a:ea typeface="宋体" charset="-122"/>
              </a:rPr>
              <a:t> v=vs(l,w,h);</a:t>
            </a:r>
          </a:p>
          <a:p>
            <a:pPr eaLnBrk="1" hangingPunct="1"/>
            <a:r>
              <a:rPr lang="en-US" altLang="zh-CN" sz="1000">
                <a:ea typeface="宋体" charset="-122"/>
              </a:rPr>
              <a:t> printf("\nv=%d,s1=%d,s2=%d,s3=%d\n",v,s1,s2,s3);</a:t>
            </a:r>
          </a:p>
          <a:p>
            <a:pPr eaLnBrk="1" hangingPunct="1"/>
            <a:r>
              <a:rPr lang="en-US" altLang="zh-CN" sz="1000">
                <a:ea typeface="宋体" charset="-122"/>
              </a:rPr>
              <a:t>}</a:t>
            </a:r>
          </a:p>
        </p:txBody>
      </p:sp>
    </p:spTree>
    <p:extLst>
      <p:ext uri="{BB962C8B-B14F-4D97-AF65-F5344CB8AC3E}">
        <p14:creationId xmlns:p14="http://schemas.microsoft.com/office/powerpoint/2010/main" val="30588639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AD4C95FD-C18A-497B-807C-CF37BD3A47F5}" type="slidenum">
              <a:rPr lang="en-US" altLang="zh-CN" smtClean="0"/>
              <a:pPr/>
              <a:t>80</a:t>
            </a:fld>
            <a:endParaRPr lang="en-US" altLang="zh-CN"/>
          </a:p>
        </p:txBody>
      </p:sp>
      <p:sp>
        <p:nvSpPr>
          <p:cNvPr id="63491" name="Rectangle 2"/>
          <p:cNvSpPr>
            <a:spLocks noGrp="1" noRot="1" noChangeAspect="1" noChangeArrowheads="1" noTextEdit="1"/>
          </p:cNvSpPr>
          <p:nvPr>
            <p:ph type="sldImg"/>
          </p:nvPr>
        </p:nvSpPr>
        <p:spPr>
          <a:ln/>
        </p:spPr>
      </p:sp>
      <p:sp>
        <p:nvSpPr>
          <p:cNvPr id="572419" name="Rectangle 3"/>
          <p:cNvSpPr>
            <a:spLocks noGrp="1" noChangeArrowheads="1"/>
          </p:cNvSpPr>
          <p:nvPr>
            <p:ph type="body" idx="1"/>
          </p:nvPr>
        </p:nvSpPr>
        <p:spPr/>
        <p:txBody>
          <a:bodyPr/>
          <a:lstStyle/>
          <a:p>
            <a:pPr marL="228600" indent="-228600">
              <a:lnSpc>
                <a:spcPct val="95000"/>
              </a:lnSpc>
              <a:spcBef>
                <a:spcPct val="50000"/>
              </a:spcBef>
              <a:buClr>
                <a:srgbClr val="FFCC66"/>
              </a:buClr>
              <a:buSzPct val="80000"/>
              <a:buFont typeface="Monotype Sorts" pitchFamily="2" charset="2"/>
              <a:buChar char=""/>
              <a:defRPr/>
            </a:pPr>
            <a:r>
              <a:rPr lang="zh-CN" altLang="en-US" sz="3200" b="1" dirty="0">
                <a:solidFill>
                  <a:srgbClr val="3366FF"/>
                </a:solidFill>
                <a:effectLst>
                  <a:outerShdw blurRad="38100" dist="38100" dir="2700000" algn="tl">
                    <a:srgbClr val="C0C0C0"/>
                  </a:outerShdw>
                </a:effectLst>
                <a:ea typeface="隶书" pitchFamily="49" charset="-122"/>
              </a:rPr>
              <a:t>内存中供用户使用的存储空间分为三部分：</a:t>
            </a:r>
          </a:p>
          <a:p>
            <a:pPr marL="228600" indent="-228600" eaLnBrk="1" hangingPunct="1">
              <a:defRPr/>
            </a:pPr>
            <a:r>
              <a:rPr lang="zh-CN" altLang="en-US" dirty="0"/>
              <a:t>数据分别存放在静态存储区和动态存储区中，全局变量全部存放在静态存储区中，在程序开始执行时给全局变量分配存储单元，程序执行完毕释放这些空间。</a:t>
            </a:r>
          </a:p>
          <a:p>
            <a:pPr marL="228600" indent="-228600" eaLnBrk="1" hangingPunct="1">
              <a:defRPr/>
            </a:pPr>
            <a:endParaRPr lang="zh-CN" altLang="en-US" dirty="0"/>
          </a:p>
          <a:p>
            <a:pPr marL="228600" indent="-228600" eaLnBrk="1" hangingPunct="1">
              <a:defRPr/>
            </a:pPr>
            <a:r>
              <a:rPr lang="zh-CN" altLang="en-US" dirty="0"/>
              <a:t>静态存储方式：是指在程序运行期间分配固定的存储空间的方式。</a:t>
            </a:r>
          </a:p>
          <a:p>
            <a:pPr marL="228600" indent="-228600" eaLnBrk="1" hangingPunct="1">
              <a:defRPr/>
            </a:pPr>
            <a:r>
              <a:rPr lang="zh-CN" altLang="en-US" dirty="0"/>
              <a:t>动态存储方式：是在程序运行期间根据需要进行动态的分配存储空间的方式。</a:t>
            </a:r>
          </a:p>
          <a:p>
            <a:pPr marL="228600" indent="-228600" eaLnBrk="1" hangingPunct="1">
              <a:defRPr/>
            </a:pPr>
            <a:endParaRPr lang="zh-CN" altLang="en-US" dirty="0"/>
          </a:p>
          <a:p>
            <a:pPr marL="228600" indent="-228600" eaLnBrk="1" hangingPunct="1">
              <a:defRPr/>
            </a:pPr>
            <a:r>
              <a:rPr lang="zh-CN" altLang="en-US" dirty="0"/>
              <a:t>动态存储区存放以下数据：</a:t>
            </a:r>
          </a:p>
          <a:p>
            <a:pPr marL="228600" indent="-228600" eaLnBrk="1" hangingPunct="1">
              <a:defRPr/>
            </a:pPr>
            <a:r>
              <a:rPr lang="zh-CN" altLang="en-US" dirty="0"/>
              <a:t>函数形式参数；</a:t>
            </a:r>
          </a:p>
          <a:p>
            <a:pPr marL="228600" indent="-228600" eaLnBrk="1" hangingPunct="1">
              <a:defRPr/>
            </a:pPr>
            <a:r>
              <a:rPr lang="zh-CN" altLang="en-US" dirty="0"/>
              <a:t>自动变量（未加</a:t>
            </a:r>
            <a:r>
              <a:rPr lang="en-US" altLang="zh-CN" dirty="0"/>
              <a:t>static</a:t>
            </a:r>
            <a:r>
              <a:rPr lang="zh-CN" altLang="en-US" dirty="0"/>
              <a:t>声明的局部变量）；</a:t>
            </a:r>
          </a:p>
          <a:p>
            <a:pPr marL="228600" indent="-228600" eaLnBrk="1" hangingPunct="1">
              <a:defRPr/>
            </a:pPr>
            <a:r>
              <a:rPr lang="zh-CN" altLang="en-US" dirty="0"/>
              <a:t>函数调用实的现场保护和返回地址；</a:t>
            </a:r>
          </a:p>
        </p:txBody>
      </p:sp>
    </p:spTree>
    <p:extLst>
      <p:ext uri="{BB962C8B-B14F-4D97-AF65-F5344CB8AC3E}">
        <p14:creationId xmlns:p14="http://schemas.microsoft.com/office/powerpoint/2010/main" val="38248932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BCC835F5-166F-4676-BA88-7D505733FCDC}" type="slidenum">
              <a:rPr lang="en-US" altLang="zh-CN" smtClean="0"/>
              <a:pPr/>
              <a:t>81</a:t>
            </a:fld>
            <a:endParaRPr lang="en-US" altLang="zh-CN"/>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p:spPr>
        <p:txBody>
          <a:bodyPr/>
          <a:lstStyle/>
          <a:p>
            <a:pPr eaLnBrk="1" hangingPunct="1"/>
            <a:r>
              <a:rPr lang="zh-CN" altLang="en-US">
                <a:ea typeface="宋体" charset="-122"/>
              </a:rPr>
              <a:t>函数中的局部变量，如果不用</a:t>
            </a:r>
            <a:r>
              <a:rPr lang="en-US" altLang="zh-CN">
                <a:ea typeface="宋体" charset="-122"/>
              </a:rPr>
              <a:t>static</a:t>
            </a:r>
            <a:r>
              <a:rPr lang="zh-CN" altLang="en-US">
                <a:ea typeface="宋体" charset="-122"/>
              </a:rPr>
              <a:t>加以声明，编译系统对它们是动态地分配存储空间的。</a:t>
            </a:r>
          </a:p>
        </p:txBody>
      </p:sp>
    </p:spTree>
    <p:extLst>
      <p:ext uri="{BB962C8B-B14F-4D97-AF65-F5344CB8AC3E}">
        <p14:creationId xmlns:p14="http://schemas.microsoft.com/office/powerpoint/2010/main" val="29981579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D3744CB8-81D7-45EB-944B-3E5473453ED3}" type="slidenum">
              <a:rPr lang="en-US" altLang="zh-CN" smtClean="0"/>
              <a:pPr/>
              <a:t>84</a:t>
            </a:fld>
            <a:endParaRPr lang="en-US" altLang="zh-CN"/>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pPr algn="just" eaLnBrk="1" hangingPunct="1">
              <a:spcBef>
                <a:spcPct val="0"/>
              </a:spcBef>
            </a:pPr>
            <a:r>
              <a:rPr lang="zh-CN" altLang="en-US" b="1">
                <a:ea typeface="宋体" charset="-122"/>
              </a:rPr>
              <a:t>自动变量和寄存器变量属于动态存储方式，外部变量和静态内部变量属于静态存储方式。</a:t>
            </a:r>
          </a:p>
          <a:p>
            <a:pPr algn="just" eaLnBrk="1" hangingPunct="1">
              <a:spcBef>
                <a:spcPct val="0"/>
              </a:spcBef>
            </a:pPr>
            <a:r>
              <a:rPr kumimoji="1" lang="en-US" altLang="zh-CN" sz="2400" b="1">
                <a:latin typeface="仿宋_GB2312" pitchFamily="49" charset="-122"/>
                <a:ea typeface="仿宋_GB2312" pitchFamily="49" charset="-122"/>
              </a:rPr>
              <a:t>2</a:t>
            </a:r>
            <a:r>
              <a:rPr kumimoji="1" lang="zh-CN" altLang="en-US" sz="2400" b="1">
                <a:latin typeface="仿宋_GB2312" pitchFamily="49" charset="-122"/>
                <a:ea typeface="仿宋_GB2312" pitchFamily="49" charset="-122"/>
              </a:rPr>
              <a:t>．动态存储──自动局部变量（又称自动变量）</a:t>
            </a:r>
          </a:p>
          <a:p>
            <a:pPr algn="just" eaLnBrk="1" hangingPunct="1">
              <a:spcBef>
                <a:spcPct val="0"/>
              </a:spcBef>
            </a:pPr>
            <a:r>
              <a:rPr kumimoji="1" lang="zh-CN" altLang="en-US" sz="2400" b="1">
                <a:latin typeface="仿宋_GB2312" pitchFamily="49" charset="-122"/>
                <a:ea typeface="仿宋_GB2312" pitchFamily="49" charset="-122"/>
              </a:rPr>
              <a:t>（</a:t>
            </a:r>
            <a:r>
              <a:rPr kumimoji="1" lang="en-US" altLang="zh-CN" sz="2400" b="1">
                <a:latin typeface="仿宋_GB2312" pitchFamily="49" charset="-122"/>
                <a:ea typeface="仿宋_GB2312" pitchFamily="49" charset="-122"/>
              </a:rPr>
              <a:t>1</a:t>
            </a:r>
            <a:r>
              <a:rPr kumimoji="1" lang="zh-CN" altLang="en-US" sz="2400" b="1">
                <a:latin typeface="仿宋_GB2312" pitchFamily="49" charset="-122"/>
                <a:ea typeface="仿宋_GB2312" pitchFamily="49" charset="-122"/>
              </a:rPr>
              <a:t>）定义格式</a:t>
            </a:r>
            <a:r>
              <a:rPr kumimoji="1" lang="zh-CN" altLang="en-US" sz="2400" b="1">
                <a:solidFill>
                  <a:schemeClr val="accent2"/>
                </a:solidFill>
                <a:latin typeface="仿宋_GB2312" pitchFamily="49" charset="-122"/>
                <a:ea typeface="仿宋_GB2312" pitchFamily="49" charset="-122"/>
              </a:rPr>
              <a:t>：</a:t>
            </a:r>
            <a:r>
              <a:rPr kumimoji="1" lang="en-US" altLang="zh-CN" sz="2400" b="1">
                <a:solidFill>
                  <a:schemeClr val="hlink"/>
                </a:solidFill>
                <a:latin typeface="仿宋_GB2312" pitchFamily="49" charset="-122"/>
                <a:ea typeface="仿宋_GB2312" pitchFamily="49" charset="-122"/>
              </a:rPr>
              <a:t>[auto]  </a:t>
            </a:r>
            <a:r>
              <a:rPr kumimoji="1" lang="zh-CN" altLang="en-US" sz="2400" b="1">
                <a:solidFill>
                  <a:schemeClr val="hlink"/>
                </a:solidFill>
                <a:latin typeface="仿宋_GB2312" pitchFamily="49" charset="-122"/>
                <a:ea typeface="仿宋_GB2312" pitchFamily="49" charset="-122"/>
              </a:rPr>
              <a:t>数据类型  变量表；</a:t>
            </a:r>
            <a:r>
              <a:rPr kumimoji="1" lang="zh-CN" altLang="en-US" sz="2400" b="1">
                <a:latin typeface="仿宋_GB2312" pitchFamily="49" charset="-122"/>
                <a:ea typeface="仿宋_GB2312" pitchFamily="49" charset="-122"/>
              </a:rPr>
              <a:t>	</a:t>
            </a:r>
          </a:p>
          <a:p>
            <a:pPr algn="just" eaLnBrk="1" hangingPunct="1">
              <a:spcBef>
                <a:spcPct val="0"/>
              </a:spcBef>
            </a:pPr>
            <a:r>
              <a:rPr kumimoji="1" lang="zh-CN" altLang="en-US" sz="2400" b="1">
                <a:latin typeface="仿宋_GB2312" pitchFamily="49" charset="-122"/>
                <a:ea typeface="仿宋_GB2312" pitchFamily="49" charset="-122"/>
              </a:rPr>
              <a:t>（</a:t>
            </a:r>
            <a:r>
              <a:rPr kumimoji="1" lang="en-US" altLang="zh-CN" sz="2400" b="1">
                <a:latin typeface="仿宋_GB2312" pitchFamily="49" charset="-122"/>
                <a:ea typeface="仿宋_GB2312" pitchFamily="49" charset="-122"/>
              </a:rPr>
              <a:t>2</a:t>
            </a:r>
            <a:r>
              <a:rPr kumimoji="1" lang="zh-CN" altLang="en-US" sz="2400" b="1">
                <a:latin typeface="仿宋_GB2312" pitchFamily="49" charset="-122"/>
                <a:ea typeface="仿宋_GB2312" pitchFamily="49" charset="-122"/>
              </a:rPr>
              <a:t>）存储特点</a:t>
            </a:r>
          </a:p>
          <a:p>
            <a:pPr algn="just" eaLnBrk="1" hangingPunct="1">
              <a:spcBef>
                <a:spcPct val="0"/>
              </a:spcBef>
            </a:pPr>
            <a:r>
              <a:rPr kumimoji="1" lang="en-US" altLang="zh-CN" sz="2400" b="1">
                <a:latin typeface="仿宋_GB2312" pitchFamily="49" charset="-122"/>
                <a:ea typeface="仿宋_GB2312" pitchFamily="49" charset="-122"/>
              </a:rPr>
              <a:t>a</a:t>
            </a:r>
            <a:r>
              <a:rPr kumimoji="1" lang="zh-CN" altLang="en-US" sz="2400" b="1">
                <a:latin typeface="仿宋_GB2312" pitchFamily="49" charset="-122"/>
                <a:ea typeface="仿宋_GB2312" pitchFamily="49" charset="-122"/>
              </a:rPr>
              <a:t>）自动变量属于动态存储方式。在函数中定义的自动变量，只在该函数内有效；函数被调用时分配存储空间，调用结束就释放。</a:t>
            </a:r>
          </a:p>
          <a:p>
            <a:pPr algn="just" eaLnBrk="1" hangingPunct="1">
              <a:spcBef>
                <a:spcPct val="0"/>
              </a:spcBef>
            </a:pPr>
            <a:r>
              <a:rPr kumimoji="1" lang="zh-CN" altLang="en-US" sz="2400" b="1">
                <a:latin typeface="仿宋_GB2312" pitchFamily="49" charset="-122"/>
                <a:ea typeface="仿宋_GB2312" pitchFamily="49" charset="-122"/>
              </a:rPr>
              <a:t>在复合语句中定义的自动变量，只在该复合语句中有效；退出复合语句后，也不能再使用，否则将引起错误。</a:t>
            </a:r>
          </a:p>
          <a:p>
            <a:pPr algn="just" eaLnBrk="1" hangingPunct="1">
              <a:spcBef>
                <a:spcPct val="0"/>
              </a:spcBef>
            </a:pPr>
            <a:r>
              <a:rPr kumimoji="1" lang="en-US" altLang="zh-CN" sz="2400" b="1">
                <a:latin typeface="仿宋_GB2312" pitchFamily="49" charset="-122"/>
                <a:ea typeface="仿宋_GB2312" pitchFamily="49" charset="-122"/>
              </a:rPr>
              <a:t>b</a:t>
            </a:r>
            <a:r>
              <a:rPr kumimoji="1" lang="zh-CN" altLang="en-US" sz="2400" b="1">
                <a:latin typeface="仿宋_GB2312" pitchFamily="49" charset="-122"/>
                <a:ea typeface="仿宋_GB2312" pitchFamily="49" charset="-122"/>
              </a:rPr>
              <a:t>）定义而不初始化，则其值是不确定的。如果初始化，则赋初值操作是在调用时进行的，且每次调用都要重新赋一次初值。</a:t>
            </a:r>
          </a:p>
          <a:p>
            <a:pPr algn="just" eaLnBrk="1" hangingPunct="1">
              <a:spcBef>
                <a:spcPct val="0"/>
              </a:spcBef>
            </a:pPr>
            <a:r>
              <a:rPr kumimoji="1" lang="en-US" altLang="zh-CN" sz="2400" b="1">
                <a:latin typeface="仿宋_GB2312" pitchFamily="49" charset="-122"/>
                <a:ea typeface="仿宋_GB2312" pitchFamily="49" charset="-122"/>
              </a:rPr>
              <a:t>c</a:t>
            </a:r>
            <a:r>
              <a:rPr kumimoji="1" lang="zh-CN" altLang="en-US" sz="2400" b="1">
                <a:latin typeface="仿宋_GB2312" pitchFamily="49" charset="-122"/>
                <a:ea typeface="仿宋_GB2312" pitchFamily="49" charset="-122"/>
              </a:rPr>
              <a:t>）由于自动变量的作用域和生存期，都局限于定义它的个体内（函数或复合语句），因此不同的个体中允许使用同名的变量而不会混淆。即使在函数内定义的自动变量，也可与该函数内部的复合语句中定义的自动变量同名。</a:t>
            </a:r>
          </a:p>
          <a:p>
            <a:pPr algn="just" eaLnBrk="1" hangingPunct="1">
              <a:spcBef>
                <a:spcPct val="0"/>
              </a:spcBef>
            </a:pPr>
            <a:r>
              <a:rPr kumimoji="1" lang="zh-CN" altLang="en-US" sz="2400" b="1" i="1">
                <a:latin typeface="仿宋_GB2312" pitchFamily="49" charset="-122"/>
                <a:ea typeface="仿宋_GB2312" pitchFamily="49" charset="-122"/>
              </a:rPr>
              <a:t>建议：</a:t>
            </a:r>
            <a:r>
              <a:rPr kumimoji="1" lang="zh-CN" altLang="en-US" sz="2400" b="1">
                <a:latin typeface="仿宋_GB2312" pitchFamily="49" charset="-122"/>
                <a:ea typeface="仿宋_GB2312" pitchFamily="49" charset="-122"/>
              </a:rPr>
              <a:t>系统不会混淆，并不意味着人也不会混淆，所以尽量少用同名自动变量！</a:t>
            </a:r>
            <a:r>
              <a:rPr kumimoji="1" lang="zh-CN" altLang="en-US" sz="2000">
                <a:ea typeface="宋体" charset="-122"/>
              </a:rPr>
              <a:t> </a:t>
            </a:r>
          </a:p>
          <a:p>
            <a:pPr eaLnBrk="1" hangingPunct="1"/>
            <a:endParaRPr lang="zh-CN" altLang="en-US">
              <a:ea typeface="宋体" charset="-122"/>
            </a:endParaRPr>
          </a:p>
          <a:p>
            <a:pPr eaLnBrk="1" hangingPunct="1"/>
            <a:endParaRPr lang="en-US" altLang="zh-CN">
              <a:ea typeface="宋体" charset="-122"/>
            </a:endParaRPr>
          </a:p>
        </p:txBody>
      </p:sp>
    </p:spTree>
    <p:extLst>
      <p:ext uri="{BB962C8B-B14F-4D97-AF65-F5344CB8AC3E}">
        <p14:creationId xmlns:p14="http://schemas.microsoft.com/office/powerpoint/2010/main" val="13847916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E67A1759-9BCC-40E7-B566-692E300DD10A}" type="slidenum">
              <a:rPr lang="en-US" altLang="zh-CN" smtClean="0"/>
              <a:pPr/>
              <a:t>86</a:t>
            </a:fld>
            <a:endParaRPr lang="en-US" altLang="zh-CN"/>
          </a:p>
        </p:txBody>
      </p:sp>
      <p:sp>
        <p:nvSpPr>
          <p:cNvPr id="66563"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pPr marL="228600" indent="-228600" eaLnBrk="1" hangingPunct="1">
              <a:defRPr/>
            </a:pPr>
            <a:r>
              <a:rPr lang="zh-CN" altLang="en-US"/>
              <a:t>现代编译器有能力自动把普通变量优化为寄存器变量，并且可以忽略用户的指定，所以一般无需特别声明变量为</a:t>
            </a:r>
            <a:r>
              <a:rPr lang="en-US" altLang="zh-CN">
                <a:latin typeface="Courier New" pitchFamily="49" charset="0"/>
              </a:rPr>
              <a:t>register </a:t>
            </a:r>
          </a:p>
          <a:p>
            <a:pPr marL="228600" indent="-228600" eaLnBrk="1" hangingPunct="1">
              <a:spcBef>
                <a:spcPct val="0"/>
              </a:spcBef>
              <a:defRPr/>
            </a:pPr>
            <a:r>
              <a:rPr kumimoji="1" lang="en-US" altLang="zh-CN" sz="3600" b="1">
                <a:solidFill>
                  <a:srgbClr val="00FF00"/>
                </a:solidFill>
                <a:effectLst>
                  <a:outerShdw blurRad="38100" dist="38100" dir="2700000" algn="tl">
                    <a:srgbClr val="C0C0C0"/>
                  </a:outerShdw>
                </a:effectLst>
              </a:rPr>
              <a:t>⒈</a:t>
            </a:r>
            <a:r>
              <a:rPr kumimoji="1" lang="zh-CN" altLang="en-US" sz="3600" b="1">
                <a:solidFill>
                  <a:srgbClr val="00FF00"/>
                </a:solidFill>
                <a:effectLst>
                  <a:outerShdw blurRad="38100" dist="38100" dir="2700000" algn="tl">
                    <a:srgbClr val="C0C0C0"/>
                  </a:outerShdw>
                </a:effectLst>
                <a:ea typeface="华文新魏" pitchFamily="2" charset="-122"/>
              </a:rPr>
              <a:t>只有</a:t>
            </a:r>
            <a:r>
              <a:rPr kumimoji="1" lang="zh-CN" altLang="en-US" sz="3600" b="1">
                <a:solidFill>
                  <a:srgbClr val="FF0000"/>
                </a:solidFill>
                <a:effectLst>
                  <a:outerShdw blurRad="38100" dist="38100" dir="2700000" algn="tl">
                    <a:srgbClr val="C0C0C0"/>
                  </a:outerShdw>
                </a:effectLst>
                <a:ea typeface="华文新魏" pitchFamily="2" charset="-122"/>
              </a:rPr>
              <a:t>局部自动变量</a:t>
            </a:r>
            <a:r>
              <a:rPr kumimoji="1" lang="zh-CN" altLang="en-US" sz="3600" b="1">
                <a:solidFill>
                  <a:srgbClr val="00FF00"/>
                </a:solidFill>
                <a:effectLst>
                  <a:outerShdw blurRad="38100" dist="38100" dir="2700000" algn="tl">
                    <a:srgbClr val="C0C0C0"/>
                  </a:outerShdw>
                </a:effectLst>
                <a:ea typeface="华文新魏" pitchFamily="2" charset="-122"/>
              </a:rPr>
              <a:t>和</a:t>
            </a:r>
            <a:r>
              <a:rPr kumimoji="1" lang="zh-CN" altLang="en-US" sz="3600" b="1">
                <a:solidFill>
                  <a:srgbClr val="FF0000"/>
                </a:solidFill>
                <a:effectLst>
                  <a:outerShdw blurRad="38100" dist="38100" dir="2700000" algn="tl">
                    <a:srgbClr val="C0C0C0"/>
                  </a:outerShdw>
                </a:effectLst>
                <a:ea typeface="华文新魏" pitchFamily="2" charset="-122"/>
              </a:rPr>
              <a:t>形参</a:t>
            </a:r>
            <a:r>
              <a:rPr kumimoji="1" lang="zh-CN" altLang="en-US" sz="3600" b="1">
                <a:solidFill>
                  <a:srgbClr val="00FF00"/>
                </a:solidFill>
                <a:effectLst>
                  <a:outerShdw blurRad="38100" dist="38100" dir="2700000" algn="tl">
                    <a:srgbClr val="C0C0C0"/>
                  </a:outerShdw>
                </a:effectLst>
                <a:ea typeface="华文新魏" pitchFamily="2" charset="-122"/>
              </a:rPr>
              <a:t>可以作为寄</a:t>
            </a:r>
          </a:p>
          <a:p>
            <a:pPr marL="228600" indent="-228600" eaLnBrk="1" hangingPunct="1">
              <a:spcBef>
                <a:spcPct val="0"/>
              </a:spcBef>
              <a:defRPr/>
            </a:pPr>
            <a:r>
              <a:rPr kumimoji="1" lang="zh-CN" altLang="en-US" sz="3600" b="1">
                <a:solidFill>
                  <a:srgbClr val="00FF00"/>
                </a:solidFill>
                <a:effectLst>
                  <a:outerShdw blurRad="38100" dist="38100" dir="2700000" algn="tl">
                    <a:srgbClr val="C0C0C0"/>
                  </a:outerShdw>
                </a:effectLst>
                <a:ea typeface="华文新魏" pitchFamily="2" charset="-122"/>
              </a:rPr>
              <a:t>存器变量，其他 </a:t>
            </a:r>
            <a:r>
              <a:rPr kumimoji="1" lang="en-US" altLang="zh-CN" sz="3600" b="1">
                <a:solidFill>
                  <a:srgbClr val="00FF00"/>
                </a:solidFill>
                <a:effectLst>
                  <a:outerShdw blurRad="38100" dist="38100" dir="2700000" algn="tl">
                    <a:srgbClr val="C0C0C0"/>
                  </a:outerShdw>
                </a:effectLst>
                <a:ea typeface="华文新魏" pitchFamily="2" charset="-122"/>
              </a:rPr>
              <a:t>( </a:t>
            </a:r>
            <a:r>
              <a:rPr kumimoji="1" lang="zh-CN" altLang="en-US" sz="3600" b="1">
                <a:solidFill>
                  <a:srgbClr val="00FF00"/>
                </a:solidFill>
                <a:effectLst>
                  <a:outerShdw blurRad="38100" dist="38100" dir="2700000" algn="tl">
                    <a:srgbClr val="C0C0C0"/>
                  </a:outerShdw>
                </a:effectLst>
                <a:ea typeface="华文新魏" pitchFamily="2" charset="-122"/>
              </a:rPr>
              <a:t>如</a:t>
            </a:r>
            <a:r>
              <a:rPr kumimoji="1" lang="zh-CN" altLang="en-US" sz="3600" b="1">
                <a:solidFill>
                  <a:srgbClr val="FF0000"/>
                </a:solidFill>
                <a:effectLst>
                  <a:outerShdw blurRad="38100" dist="38100" dir="2700000" algn="tl">
                    <a:srgbClr val="C0C0C0"/>
                  </a:outerShdw>
                </a:effectLst>
                <a:ea typeface="华文新魏" pitchFamily="2" charset="-122"/>
              </a:rPr>
              <a:t>全局变量、局部静</a:t>
            </a:r>
          </a:p>
          <a:p>
            <a:pPr marL="228600" indent="-228600" eaLnBrk="1" hangingPunct="1">
              <a:spcBef>
                <a:spcPct val="0"/>
              </a:spcBef>
              <a:defRPr/>
            </a:pPr>
            <a:r>
              <a:rPr kumimoji="1" lang="zh-CN" altLang="en-US" sz="3600" b="1">
                <a:solidFill>
                  <a:srgbClr val="FF0000"/>
                </a:solidFill>
                <a:effectLst>
                  <a:outerShdw blurRad="38100" dist="38100" dir="2700000" algn="tl">
                    <a:srgbClr val="C0C0C0"/>
                  </a:outerShdw>
                </a:effectLst>
                <a:ea typeface="华文新魏" pitchFamily="2" charset="-122"/>
              </a:rPr>
              <a:t>态变量</a:t>
            </a:r>
            <a:r>
              <a:rPr kumimoji="1" lang="en-US" altLang="zh-CN" sz="3600" b="1">
                <a:solidFill>
                  <a:srgbClr val="00FF00"/>
                </a:solidFill>
                <a:effectLst>
                  <a:outerShdw blurRad="38100" dist="38100" dir="2700000" algn="tl">
                    <a:srgbClr val="C0C0C0"/>
                  </a:outerShdw>
                </a:effectLst>
                <a:ea typeface="华文新魏" pitchFamily="2" charset="-122"/>
              </a:rPr>
              <a:t>)</a:t>
            </a:r>
            <a:r>
              <a:rPr kumimoji="1" lang="zh-CN" altLang="en-US" sz="3600" b="1">
                <a:solidFill>
                  <a:srgbClr val="00FF00"/>
                </a:solidFill>
                <a:effectLst>
                  <a:outerShdw blurRad="38100" dist="38100" dir="2700000" algn="tl">
                    <a:srgbClr val="C0C0C0"/>
                  </a:outerShdw>
                </a:effectLst>
                <a:ea typeface="华文新魏" pitchFamily="2" charset="-122"/>
              </a:rPr>
              <a:t>不行。并且寄存器变量一般只</a:t>
            </a:r>
          </a:p>
          <a:p>
            <a:pPr marL="228600" indent="-228600" eaLnBrk="1" hangingPunct="1">
              <a:spcBef>
                <a:spcPct val="0"/>
              </a:spcBef>
              <a:defRPr/>
            </a:pPr>
            <a:r>
              <a:rPr kumimoji="1" lang="zh-CN" altLang="en-US" sz="3600" b="1">
                <a:solidFill>
                  <a:srgbClr val="00FF00"/>
                </a:solidFill>
                <a:effectLst>
                  <a:outerShdw blurRad="38100" dist="38100" dir="2700000" algn="tl">
                    <a:srgbClr val="C0C0C0"/>
                  </a:outerShdw>
                </a:effectLst>
                <a:ea typeface="华文新魏" pitchFamily="2" charset="-122"/>
              </a:rPr>
              <a:t>限于</a:t>
            </a:r>
            <a:r>
              <a:rPr kumimoji="1" lang="zh-CN" altLang="en-US" sz="3600" b="1">
                <a:solidFill>
                  <a:srgbClr val="FF0000"/>
                </a:solidFill>
                <a:effectLst>
                  <a:outerShdw blurRad="38100" dist="38100" dir="2700000" algn="tl">
                    <a:srgbClr val="C0C0C0"/>
                  </a:outerShdw>
                </a:effectLst>
                <a:ea typeface="华文新魏" pitchFamily="2" charset="-122"/>
              </a:rPr>
              <a:t>整形、字符型和指向整形、字符型</a:t>
            </a:r>
          </a:p>
          <a:p>
            <a:pPr marL="228600" indent="-228600" eaLnBrk="1" hangingPunct="1">
              <a:spcBef>
                <a:spcPct val="0"/>
              </a:spcBef>
              <a:defRPr/>
            </a:pPr>
            <a:r>
              <a:rPr kumimoji="1" lang="zh-CN" altLang="en-US" sz="3600" b="1">
                <a:solidFill>
                  <a:srgbClr val="FF0000"/>
                </a:solidFill>
                <a:effectLst>
                  <a:outerShdw blurRad="38100" dist="38100" dir="2700000" algn="tl">
                    <a:srgbClr val="C0C0C0"/>
                  </a:outerShdw>
                </a:effectLst>
                <a:ea typeface="华文新魏" pitchFamily="2" charset="-122"/>
              </a:rPr>
              <a:t>的指针</a:t>
            </a:r>
            <a:r>
              <a:rPr kumimoji="1" lang="zh-CN" altLang="en-US" sz="3600" b="1">
                <a:solidFill>
                  <a:srgbClr val="00FF00"/>
                </a:solidFill>
                <a:effectLst>
                  <a:outerShdw blurRad="38100" dist="38100" dir="2700000" algn="tl">
                    <a:srgbClr val="C0C0C0"/>
                  </a:outerShdw>
                </a:effectLst>
                <a:ea typeface="华文新魏" pitchFamily="2" charset="-122"/>
              </a:rPr>
              <a:t>。</a:t>
            </a:r>
          </a:p>
          <a:p>
            <a:pPr marL="228600" indent="-228600" eaLnBrk="1" hangingPunct="1">
              <a:defRPr/>
            </a:pPr>
            <a:endParaRPr lang="zh-CN" altLang="en-US"/>
          </a:p>
          <a:p>
            <a:pPr marL="228600" indent="-228600" eaLnBrk="1" hangingPunct="1">
              <a:defRPr/>
            </a:pPr>
            <a:r>
              <a:rPr lang="zh-CN" altLang="en-US"/>
              <a:t>只有局部自动变量和形式参数可以作为寄存器变量；</a:t>
            </a:r>
          </a:p>
          <a:p>
            <a:pPr marL="228600" indent="-228600" eaLnBrk="1" hangingPunct="1">
              <a:defRPr/>
            </a:pPr>
            <a:r>
              <a:rPr lang="zh-CN" altLang="en-US"/>
              <a:t>一个计算机系统中的寄存器数目有限，不能定义任意多个寄存器变量；</a:t>
            </a:r>
          </a:p>
          <a:p>
            <a:pPr marL="228600" indent="-228600" eaLnBrk="1" hangingPunct="1">
              <a:defRPr/>
            </a:pPr>
            <a:r>
              <a:rPr lang="zh-CN" altLang="en-US"/>
              <a:t>局部静态变量不能定义为寄存器变量。</a:t>
            </a:r>
          </a:p>
        </p:txBody>
      </p:sp>
    </p:spTree>
    <p:extLst>
      <p:ext uri="{BB962C8B-B14F-4D97-AF65-F5344CB8AC3E}">
        <p14:creationId xmlns:p14="http://schemas.microsoft.com/office/powerpoint/2010/main" val="6451606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454CF684-80E4-41D8-B85A-60C79ED8632F}" type="slidenum">
              <a:rPr lang="en-US" altLang="zh-CN" smtClean="0"/>
              <a:pPr/>
              <a:t>87</a:t>
            </a:fld>
            <a:endParaRPr lang="en-US" altLang="zh-CN"/>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p:spPr>
        <p:txBody>
          <a:bodyPr/>
          <a:lstStyle/>
          <a:p>
            <a:pPr eaLnBrk="1" hangingPunct="1"/>
            <a:r>
              <a:rPr lang="en-US" altLang="zh-CN">
                <a:ea typeface="宋体" charset="-122"/>
              </a:rPr>
              <a:t>1</a:t>
            </a:r>
            <a:r>
              <a:rPr lang="zh-CN" altLang="en-US">
                <a:ea typeface="宋体" charset="-122"/>
              </a:rPr>
              <a:t>。靜态局部变量在静态存储区分配内存单元，在整个程序运行期间都不释放</a:t>
            </a:r>
          </a:p>
          <a:p>
            <a:pPr eaLnBrk="1" hangingPunct="1"/>
            <a:r>
              <a:rPr lang="en-US" altLang="zh-CN">
                <a:ea typeface="宋体" charset="-122"/>
              </a:rPr>
              <a:t>2</a:t>
            </a:r>
            <a:r>
              <a:rPr lang="zh-CN" altLang="en-US">
                <a:ea typeface="宋体" charset="-122"/>
              </a:rPr>
              <a:t>。为静态局部变量赋初值是在编译时进行的，即只赋初值一次，在程序运行时已有初值。以后每次调用时不再重新赋初值而只是保留上次调用结束时的值。</a:t>
            </a:r>
          </a:p>
        </p:txBody>
      </p:sp>
    </p:spTree>
    <p:extLst>
      <p:ext uri="{BB962C8B-B14F-4D97-AF65-F5344CB8AC3E}">
        <p14:creationId xmlns:p14="http://schemas.microsoft.com/office/powerpoint/2010/main" val="35271250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670048B5-EFC7-4307-A8C2-59E25B8FE69F}" type="slidenum">
              <a:rPr lang="en-US" altLang="zh-CN" smtClean="0"/>
              <a:pPr/>
              <a:t>91</a:t>
            </a:fld>
            <a:endParaRPr lang="en-US" altLang="zh-CN"/>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r>
              <a:rPr lang="zh-CN" altLang="en-US">
                <a:ea typeface="宋体" charset="-122"/>
              </a:rPr>
              <a:t>如果在定义点之前的函数想引用该外部变量，则应该在引用之前用关键字</a:t>
            </a:r>
            <a:r>
              <a:rPr lang="en-US" altLang="zh-CN">
                <a:ea typeface="宋体" charset="-122"/>
              </a:rPr>
              <a:t>extern</a:t>
            </a:r>
            <a:r>
              <a:rPr lang="zh-CN" altLang="en-US">
                <a:ea typeface="宋体" charset="-122"/>
              </a:rPr>
              <a:t>对该变量作</a:t>
            </a:r>
            <a:r>
              <a:rPr lang="zh-CN" altLang="en-US">
                <a:latin typeface="Arial" charset="0"/>
                <a:ea typeface="宋体" charset="-122"/>
              </a:rPr>
              <a:t>“</a:t>
            </a:r>
            <a:r>
              <a:rPr lang="zh-CN" altLang="en-US">
                <a:ea typeface="宋体" charset="-122"/>
              </a:rPr>
              <a:t>外部变量声明</a:t>
            </a:r>
            <a:r>
              <a:rPr lang="zh-CN" altLang="en-US">
                <a:latin typeface="Arial" charset="0"/>
                <a:ea typeface="宋体" charset="-122"/>
              </a:rPr>
              <a:t>”</a:t>
            </a:r>
            <a:r>
              <a:rPr lang="zh-CN" altLang="en-US">
                <a:ea typeface="宋体" charset="-122"/>
              </a:rPr>
              <a:t>。表示该变量是一个已经定义的外部变量。有了此声明，就可以从</a:t>
            </a:r>
            <a:r>
              <a:rPr lang="zh-CN" altLang="en-US">
                <a:latin typeface="Arial" charset="0"/>
                <a:ea typeface="宋体" charset="-122"/>
              </a:rPr>
              <a:t>“</a:t>
            </a:r>
            <a:r>
              <a:rPr lang="zh-CN" altLang="en-US">
                <a:ea typeface="宋体" charset="-122"/>
              </a:rPr>
              <a:t>声明</a:t>
            </a:r>
            <a:r>
              <a:rPr lang="zh-CN" altLang="en-US">
                <a:latin typeface="Arial" charset="0"/>
                <a:ea typeface="宋体" charset="-122"/>
              </a:rPr>
              <a:t>”</a:t>
            </a:r>
            <a:r>
              <a:rPr lang="zh-CN" altLang="en-US">
                <a:ea typeface="宋体" charset="-122"/>
              </a:rPr>
              <a:t>处起，合法地使用该外部变量。</a:t>
            </a:r>
          </a:p>
          <a:p>
            <a:pPr eaLnBrk="1" hangingPunct="1"/>
            <a:endParaRPr lang="zh-CN" altLang="en-US">
              <a:ea typeface="宋体" charset="-122"/>
            </a:endParaRPr>
          </a:p>
          <a:p>
            <a:pPr algn="ctr" eaLnBrk="1" hangingPunct="1">
              <a:spcBef>
                <a:spcPct val="0"/>
              </a:spcBef>
              <a:buClr>
                <a:schemeClr val="hlink"/>
              </a:buClr>
              <a:buFont typeface="Wingdings" pitchFamily="2" charset="2"/>
              <a:buNone/>
            </a:pPr>
            <a:r>
              <a:rPr lang="zh-CN" altLang="en-US" b="1">
                <a:ea typeface="宋体" charset="-122"/>
              </a:rPr>
              <a:t>程序执行期间该变量始终存在</a:t>
            </a:r>
            <a:endParaRPr kumimoji="1" lang="zh-CN" altLang="en-US" b="1">
              <a:ea typeface="宋体" charset="-122"/>
            </a:endParaRPr>
          </a:p>
          <a:p>
            <a:pPr eaLnBrk="1" hangingPunct="1"/>
            <a:endParaRPr lang="en-US" altLang="zh-CN">
              <a:ea typeface="宋体" charset="-122"/>
            </a:endParaRPr>
          </a:p>
        </p:txBody>
      </p:sp>
    </p:spTree>
    <p:extLst>
      <p:ext uri="{BB962C8B-B14F-4D97-AF65-F5344CB8AC3E}">
        <p14:creationId xmlns:p14="http://schemas.microsoft.com/office/powerpoint/2010/main" val="17941060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C378AD43-3970-40B7-A3EF-B7DA30F63F9C}" type="slidenum">
              <a:rPr lang="en-US" altLang="zh-CN" smtClean="0"/>
              <a:pPr/>
              <a:t>92</a:t>
            </a:fld>
            <a:endParaRPr lang="en-US" altLang="zh-CN"/>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p:spPr>
        <p:txBody>
          <a:bodyPr/>
          <a:lstStyle/>
          <a:p>
            <a:pPr eaLnBrk="1" hangingPunct="1"/>
            <a:r>
              <a:rPr lang="zh-CN" altLang="en-US">
                <a:ea typeface="宋体" charset="-122"/>
              </a:rPr>
              <a:t>如果在定义点之前的函数想引用该外部变量，则应该在引用之前用关键字</a:t>
            </a:r>
            <a:r>
              <a:rPr lang="en-US" altLang="zh-CN">
                <a:ea typeface="宋体" charset="-122"/>
              </a:rPr>
              <a:t>extern</a:t>
            </a:r>
            <a:r>
              <a:rPr lang="zh-CN" altLang="en-US">
                <a:ea typeface="宋体" charset="-122"/>
              </a:rPr>
              <a:t>对该变量作</a:t>
            </a:r>
            <a:r>
              <a:rPr lang="zh-CN" altLang="en-US">
                <a:latin typeface="Arial" charset="0"/>
                <a:ea typeface="宋体" charset="-122"/>
              </a:rPr>
              <a:t>“</a:t>
            </a:r>
            <a:r>
              <a:rPr lang="zh-CN" altLang="en-US">
                <a:ea typeface="宋体" charset="-122"/>
              </a:rPr>
              <a:t>外部变量声明</a:t>
            </a:r>
            <a:r>
              <a:rPr lang="zh-CN" altLang="en-US">
                <a:latin typeface="Arial" charset="0"/>
                <a:ea typeface="宋体" charset="-122"/>
              </a:rPr>
              <a:t>”</a:t>
            </a:r>
            <a:r>
              <a:rPr lang="zh-CN" altLang="en-US">
                <a:ea typeface="宋体" charset="-122"/>
              </a:rPr>
              <a:t>。表示该变量是一个已经定义的外部变量。有了此声明，就可以从</a:t>
            </a:r>
            <a:r>
              <a:rPr lang="zh-CN" altLang="en-US">
                <a:latin typeface="Arial" charset="0"/>
                <a:ea typeface="宋体" charset="-122"/>
              </a:rPr>
              <a:t>“</a:t>
            </a:r>
            <a:r>
              <a:rPr lang="zh-CN" altLang="en-US">
                <a:ea typeface="宋体" charset="-122"/>
              </a:rPr>
              <a:t>声明</a:t>
            </a:r>
            <a:r>
              <a:rPr lang="zh-CN" altLang="en-US">
                <a:latin typeface="Arial" charset="0"/>
                <a:ea typeface="宋体" charset="-122"/>
              </a:rPr>
              <a:t>”</a:t>
            </a:r>
            <a:r>
              <a:rPr lang="zh-CN" altLang="en-US">
                <a:ea typeface="宋体" charset="-122"/>
              </a:rPr>
              <a:t>处起，合法地使用该外部变量。</a:t>
            </a:r>
          </a:p>
        </p:txBody>
      </p:sp>
    </p:spTree>
    <p:extLst>
      <p:ext uri="{BB962C8B-B14F-4D97-AF65-F5344CB8AC3E}">
        <p14:creationId xmlns:p14="http://schemas.microsoft.com/office/powerpoint/2010/main" val="26491602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23477176-0AE1-4859-90CE-B2066C9D4996}" type="slidenum">
              <a:rPr lang="en-US" altLang="zh-CN" smtClean="0"/>
              <a:pPr/>
              <a:t>93</a:t>
            </a:fld>
            <a:endParaRPr lang="en-US" altLang="zh-CN"/>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pPr algn="just">
              <a:spcBef>
                <a:spcPct val="0"/>
              </a:spcBef>
            </a:pPr>
            <a:r>
              <a:rPr kumimoji="1" lang="zh-CN" altLang="en-US" sz="2800">
                <a:ea typeface="楷体_GB2312" pitchFamily="49" charset="-122"/>
              </a:rPr>
              <a:t>外部变量是在函数的外部定义的</a:t>
            </a:r>
            <a:r>
              <a:rPr kumimoji="1" lang="en-US" altLang="zh-CN" sz="2800">
                <a:ea typeface="楷体_GB2312" pitchFamily="49" charset="-122"/>
              </a:rPr>
              <a:t>,</a:t>
            </a:r>
            <a:r>
              <a:rPr kumimoji="1" lang="zh-CN" altLang="en-US" sz="2800">
                <a:ea typeface="楷体_GB2312" pitchFamily="49" charset="-122"/>
              </a:rPr>
              <a:t>它的作用域为从变量的定义处开始</a:t>
            </a:r>
            <a:r>
              <a:rPr kumimoji="1" lang="en-US" altLang="zh-CN" sz="2800">
                <a:ea typeface="楷体_GB2312" pitchFamily="49" charset="-122"/>
              </a:rPr>
              <a:t>,</a:t>
            </a:r>
            <a:r>
              <a:rPr kumimoji="1" lang="zh-CN" altLang="en-US" sz="2800">
                <a:ea typeface="楷体_GB2312" pitchFamily="49" charset="-122"/>
              </a:rPr>
              <a:t>到本程序文件的末尾。</a:t>
            </a:r>
          </a:p>
          <a:p>
            <a:pPr algn="just">
              <a:spcBef>
                <a:spcPct val="0"/>
              </a:spcBef>
            </a:pPr>
            <a:endParaRPr kumimoji="1" lang="zh-CN" altLang="en-US" sz="2800">
              <a:ea typeface="楷体_GB2312" pitchFamily="49" charset="-122"/>
            </a:endParaRPr>
          </a:p>
          <a:p>
            <a:pPr eaLnBrk="1" hangingPunct="1">
              <a:lnSpc>
                <a:spcPct val="90000"/>
              </a:lnSpc>
            </a:pPr>
            <a:r>
              <a:rPr lang="zh-CN" altLang="en-US" sz="900" b="1">
                <a:ea typeface="宋体" charset="-122"/>
              </a:rPr>
              <a:t>外部变量属于静态存储方式： </a:t>
            </a:r>
          </a:p>
          <a:p>
            <a:pPr algn="just" eaLnBrk="1" hangingPunct="1">
              <a:lnSpc>
                <a:spcPct val="90000"/>
              </a:lnSpc>
            </a:pPr>
            <a:r>
              <a:rPr lang="zh-CN" altLang="en-US" sz="900" b="1">
                <a:ea typeface="宋体" charset="-122"/>
              </a:rPr>
              <a:t>（</a:t>
            </a:r>
            <a:r>
              <a:rPr lang="en-US" altLang="zh-CN" sz="900" b="1">
                <a:ea typeface="宋体" charset="-122"/>
              </a:rPr>
              <a:t>1</a:t>
            </a:r>
            <a:r>
              <a:rPr lang="zh-CN" altLang="en-US" sz="900" b="1">
                <a:ea typeface="宋体" charset="-122"/>
              </a:rPr>
              <a:t>）静态外部变量──只允许被本源文件中的函数引用</a:t>
            </a:r>
          </a:p>
          <a:p>
            <a:pPr algn="just" eaLnBrk="1" hangingPunct="1">
              <a:lnSpc>
                <a:spcPct val="90000"/>
              </a:lnSpc>
            </a:pPr>
            <a:r>
              <a:rPr lang="zh-CN" altLang="en-US" sz="900" b="1">
                <a:ea typeface="宋体" charset="-122"/>
              </a:rPr>
              <a:t>其定义格式为：  </a:t>
            </a:r>
            <a:r>
              <a:rPr lang="en-US" altLang="zh-CN" sz="900" b="1">
                <a:solidFill>
                  <a:schemeClr val="hlink"/>
                </a:solidFill>
                <a:ea typeface="宋体" charset="-122"/>
              </a:rPr>
              <a:t>static  </a:t>
            </a:r>
            <a:r>
              <a:rPr lang="zh-CN" altLang="en-US" sz="900" b="1">
                <a:solidFill>
                  <a:schemeClr val="hlink"/>
                </a:solidFill>
                <a:ea typeface="宋体" charset="-122"/>
              </a:rPr>
              <a:t>数据类型  外部变量表；</a:t>
            </a:r>
          </a:p>
          <a:p>
            <a:pPr algn="just" eaLnBrk="1" hangingPunct="1">
              <a:lnSpc>
                <a:spcPct val="90000"/>
              </a:lnSpc>
            </a:pPr>
            <a:r>
              <a:rPr lang="zh-CN" altLang="en-US" sz="900" b="1">
                <a:ea typeface="宋体" charset="-122"/>
              </a:rPr>
              <a:t>（</a:t>
            </a:r>
            <a:r>
              <a:rPr lang="en-US" altLang="zh-CN" sz="900" b="1">
                <a:ea typeface="宋体" charset="-122"/>
              </a:rPr>
              <a:t>2</a:t>
            </a:r>
            <a:r>
              <a:rPr lang="zh-CN" altLang="en-US" sz="900" b="1">
                <a:ea typeface="宋体" charset="-122"/>
              </a:rPr>
              <a:t>）非静态外部变量──允许被其它源文件中的函数引用</a:t>
            </a:r>
          </a:p>
          <a:p>
            <a:pPr algn="just" eaLnBrk="1" hangingPunct="1">
              <a:lnSpc>
                <a:spcPct val="90000"/>
              </a:lnSpc>
            </a:pPr>
            <a:r>
              <a:rPr lang="zh-CN" altLang="en-US" sz="900" b="1">
                <a:ea typeface="宋体" charset="-122"/>
              </a:rPr>
              <a:t>定义时缺省</a:t>
            </a:r>
            <a:r>
              <a:rPr lang="en-US" altLang="zh-CN" sz="900" b="1">
                <a:ea typeface="宋体" charset="-122"/>
              </a:rPr>
              <a:t>static</a:t>
            </a:r>
            <a:r>
              <a:rPr lang="zh-CN" altLang="en-US" sz="900" b="1">
                <a:ea typeface="宋体" charset="-122"/>
              </a:rPr>
              <a:t>关键字的外部变量，即为非静态外部变量。其它源文件中的函数，引用非静态外部变量时，需要在引用函数所在的源文件中进行说明：</a:t>
            </a:r>
          </a:p>
          <a:p>
            <a:pPr algn="just" eaLnBrk="1" hangingPunct="1">
              <a:lnSpc>
                <a:spcPct val="90000"/>
              </a:lnSpc>
            </a:pPr>
            <a:r>
              <a:rPr lang="en-US" altLang="zh-CN" sz="900" b="1">
                <a:solidFill>
                  <a:schemeClr val="hlink"/>
                </a:solidFill>
                <a:ea typeface="宋体" charset="-122"/>
              </a:rPr>
              <a:t>extern  </a:t>
            </a:r>
            <a:r>
              <a:rPr lang="zh-CN" altLang="en-US" sz="900" b="1">
                <a:solidFill>
                  <a:schemeClr val="hlink"/>
                </a:solidFill>
                <a:ea typeface="宋体" charset="-122"/>
              </a:rPr>
              <a:t>数据类型  外部变量表；</a:t>
            </a:r>
          </a:p>
          <a:p>
            <a:pPr eaLnBrk="1" hangingPunct="1">
              <a:lnSpc>
                <a:spcPct val="90000"/>
              </a:lnSpc>
            </a:pPr>
            <a:r>
              <a:rPr lang="zh-CN" altLang="en-US" sz="900" i="1">
                <a:ea typeface="宋体" charset="-122"/>
              </a:rPr>
              <a:t>注意</a:t>
            </a:r>
            <a:r>
              <a:rPr lang="zh-CN" altLang="en-US" sz="900" b="1">
                <a:ea typeface="宋体" charset="-122"/>
              </a:rPr>
              <a:t>：在函数内的</a:t>
            </a:r>
            <a:r>
              <a:rPr lang="en-US" altLang="zh-CN" sz="900" b="1">
                <a:ea typeface="宋体" charset="-122"/>
              </a:rPr>
              <a:t>extern</a:t>
            </a:r>
            <a:r>
              <a:rPr lang="zh-CN" altLang="en-US" sz="900" b="1">
                <a:ea typeface="宋体" charset="-122"/>
              </a:rPr>
              <a:t>变量说明，表示引用本源文件中的外部变量！而函数外（通常在文件开头）的</a:t>
            </a:r>
            <a:r>
              <a:rPr lang="en-US" altLang="zh-CN" sz="900" b="1">
                <a:ea typeface="宋体" charset="-122"/>
              </a:rPr>
              <a:t>extern</a:t>
            </a:r>
            <a:r>
              <a:rPr lang="zh-CN" altLang="en-US" sz="900" b="1">
                <a:ea typeface="宋体" charset="-122"/>
              </a:rPr>
              <a:t>变量</a:t>
            </a:r>
            <a:r>
              <a:rPr lang="zh-CN" altLang="en-US" sz="1000" b="1">
                <a:ea typeface="宋体" charset="-122"/>
              </a:rPr>
              <a:t>说明，表示引用其它文件中的外部变量。</a:t>
            </a:r>
          </a:p>
        </p:txBody>
      </p:sp>
    </p:spTree>
    <p:extLst>
      <p:ext uri="{BB962C8B-B14F-4D97-AF65-F5344CB8AC3E}">
        <p14:creationId xmlns:p14="http://schemas.microsoft.com/office/powerpoint/2010/main" val="39039960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253DB133-5344-44FB-BAFC-6501B82C8784}" type="slidenum">
              <a:rPr lang="en-US" altLang="zh-CN" smtClean="0"/>
              <a:pPr/>
              <a:t>95</a:t>
            </a:fld>
            <a:endParaRPr lang="en-US" altLang="zh-CN"/>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p:spPr>
        <p:txBody>
          <a:bodyPr/>
          <a:lstStyle/>
          <a:p>
            <a:pPr algn="just">
              <a:spcBef>
                <a:spcPct val="0"/>
              </a:spcBef>
            </a:pPr>
            <a:r>
              <a:rPr kumimoji="1" lang="zh-CN" altLang="en-US" sz="2800">
                <a:ea typeface="楷体_GB2312" pitchFamily="49" charset="-122"/>
              </a:rPr>
              <a:t>一、</a:t>
            </a:r>
            <a:r>
              <a:rPr kumimoji="1" lang="zh-CN" altLang="en-US" sz="2800">
                <a:ea typeface="宋体" charset="-122"/>
                <a:cs typeface="Times New Roman" pitchFamily="18" charset="0"/>
              </a:rPr>
              <a:t>    </a:t>
            </a:r>
            <a:r>
              <a:rPr kumimoji="1" lang="zh-CN" altLang="en-US" sz="2800">
                <a:ea typeface="楷体_GB2312" pitchFamily="49" charset="-122"/>
              </a:rPr>
              <a:t>内部函数</a:t>
            </a:r>
          </a:p>
          <a:p>
            <a:pPr algn="just">
              <a:spcBef>
                <a:spcPct val="0"/>
              </a:spcBef>
            </a:pPr>
            <a:r>
              <a:rPr kumimoji="1" lang="zh-CN" altLang="en-US" sz="2800">
                <a:ea typeface="楷体_GB2312" pitchFamily="49" charset="-122"/>
              </a:rPr>
              <a:t>如果一个函数只能被本文件中其他函数所调用，称为内部函数。（也称静态函数）</a:t>
            </a:r>
          </a:p>
          <a:p>
            <a:pPr algn="just">
              <a:spcBef>
                <a:spcPct val="0"/>
              </a:spcBef>
            </a:pPr>
            <a:r>
              <a:rPr kumimoji="1" lang="zh-CN" altLang="en-US" sz="2800">
                <a:ea typeface="楷体_GB2312" pitchFamily="49" charset="-122"/>
              </a:rPr>
              <a:t>在定义前加</a:t>
            </a:r>
            <a:r>
              <a:rPr kumimoji="1" lang="en-US" altLang="zh-CN" sz="2800">
                <a:ea typeface="宋体" charset="-122"/>
                <a:cs typeface="Times New Roman" pitchFamily="18" charset="0"/>
              </a:rPr>
              <a:t>static</a:t>
            </a:r>
            <a:endParaRPr kumimoji="1" lang="en-US" altLang="zh-CN" sz="2800">
              <a:ea typeface="楷体_GB2312" pitchFamily="49" charset="-122"/>
            </a:endParaRPr>
          </a:p>
          <a:p>
            <a:pPr algn="just">
              <a:spcBef>
                <a:spcPct val="0"/>
              </a:spcBef>
            </a:pPr>
            <a:r>
              <a:rPr kumimoji="1" lang="zh-CN" altLang="en-US" sz="2800">
                <a:ea typeface="楷体_GB2312" pitchFamily="49" charset="-122"/>
              </a:rPr>
              <a:t>二、</a:t>
            </a:r>
            <a:r>
              <a:rPr kumimoji="1" lang="zh-CN" altLang="en-US" sz="2800">
                <a:ea typeface="宋体" charset="-122"/>
                <a:cs typeface="Times New Roman" pitchFamily="18" charset="0"/>
              </a:rPr>
              <a:t>    </a:t>
            </a:r>
            <a:r>
              <a:rPr kumimoji="1" lang="zh-CN" altLang="en-US" sz="2800">
                <a:ea typeface="楷体_GB2312" pitchFamily="49" charset="-122"/>
              </a:rPr>
              <a:t>外部函数</a:t>
            </a:r>
          </a:p>
          <a:p>
            <a:pPr algn="just">
              <a:spcBef>
                <a:spcPct val="0"/>
              </a:spcBef>
            </a:pPr>
            <a:r>
              <a:rPr kumimoji="1" lang="en-US" altLang="zh-CN" sz="2800">
                <a:ea typeface="宋体" charset="-122"/>
                <a:cs typeface="Times New Roman" pitchFamily="18" charset="0"/>
              </a:rPr>
              <a:t>1)  </a:t>
            </a:r>
            <a:r>
              <a:rPr kumimoji="1" lang="zh-CN" altLang="en-US" sz="2800">
                <a:ea typeface="楷体_GB2312" pitchFamily="49" charset="-122"/>
              </a:rPr>
              <a:t>在定义时，如果首部左端冠以</a:t>
            </a:r>
            <a:r>
              <a:rPr kumimoji="1" lang="en-US" altLang="zh-CN" sz="2800">
                <a:ea typeface="宋体" charset="-122"/>
                <a:cs typeface="Times New Roman" pitchFamily="18" charset="0"/>
              </a:rPr>
              <a:t>extern </a:t>
            </a:r>
            <a:r>
              <a:rPr kumimoji="1" lang="zh-CN" altLang="en-US" sz="2800">
                <a:ea typeface="楷体_GB2312" pitchFamily="49" charset="-122"/>
              </a:rPr>
              <a:t>，则表明是</a:t>
            </a:r>
          </a:p>
          <a:p>
            <a:pPr algn="just">
              <a:spcBef>
                <a:spcPct val="0"/>
              </a:spcBef>
            </a:pPr>
            <a:r>
              <a:rPr kumimoji="1" lang="zh-CN" altLang="en-US" sz="2800">
                <a:ea typeface="楷体_GB2312" pitchFamily="49" charset="-122"/>
              </a:rPr>
              <a:t>     外部函数，可供其它文件调用。</a:t>
            </a:r>
          </a:p>
          <a:p>
            <a:pPr>
              <a:spcBef>
                <a:spcPct val="0"/>
              </a:spcBef>
            </a:pPr>
            <a:r>
              <a:rPr kumimoji="1" lang="en-US" altLang="zh-CN" sz="2800">
                <a:ea typeface="宋体" charset="-122"/>
              </a:rPr>
              <a:t>2) </a:t>
            </a:r>
            <a:r>
              <a:rPr kumimoji="1" lang="zh-CN" altLang="en-US" sz="2800">
                <a:ea typeface="宋体" charset="-122"/>
              </a:rPr>
              <a:t>在需要调用此文件中用</a:t>
            </a:r>
            <a:r>
              <a:rPr kumimoji="1" lang="en-US" altLang="zh-CN" sz="2800">
                <a:ea typeface="宋体" charset="-122"/>
              </a:rPr>
              <a:t>extern</a:t>
            </a:r>
            <a:r>
              <a:rPr kumimoji="1" lang="zh-CN" altLang="en-US" sz="2800">
                <a:ea typeface="宋体" charset="-122"/>
              </a:rPr>
              <a:t>声明所用的函数是外部</a:t>
            </a:r>
          </a:p>
          <a:p>
            <a:pPr>
              <a:spcBef>
                <a:spcPct val="0"/>
              </a:spcBef>
            </a:pPr>
            <a:r>
              <a:rPr kumimoji="1" lang="zh-CN" altLang="en-US" sz="2800">
                <a:ea typeface="宋体" charset="-122"/>
              </a:rPr>
              <a:t>    函数。 </a:t>
            </a:r>
          </a:p>
          <a:p>
            <a:pPr algn="just" eaLnBrk="1" hangingPunct="1">
              <a:lnSpc>
                <a:spcPct val="120000"/>
              </a:lnSpc>
            </a:pPr>
            <a:r>
              <a:rPr lang="zh-CN" altLang="en-US" sz="1000" b="1">
                <a:latin typeface="楷体_GB2312" pitchFamily="49" charset="-122"/>
                <a:ea typeface="楷体_GB2312" pitchFamily="49" charset="-122"/>
              </a:rPr>
              <a:t>关于局部变量的作用域还要说明以下几点：</a:t>
            </a:r>
          </a:p>
          <a:p>
            <a:pPr algn="just" eaLnBrk="1" hangingPunct="1">
              <a:lnSpc>
                <a:spcPct val="120000"/>
              </a:lnSpc>
            </a:pPr>
            <a:r>
              <a:rPr lang="en-US" altLang="zh-CN" sz="1000" b="1">
                <a:latin typeface="楷体_GB2312" pitchFamily="49" charset="-122"/>
                <a:ea typeface="楷体_GB2312" pitchFamily="49" charset="-122"/>
              </a:rPr>
              <a:t>1</a:t>
            </a:r>
            <a:r>
              <a:rPr lang="zh-CN" altLang="en-US" sz="1000" b="1">
                <a:latin typeface="楷体_GB2312" pitchFamily="49" charset="-122"/>
                <a:ea typeface="楷体_GB2312" pitchFamily="49" charset="-122"/>
              </a:rPr>
              <a:t>．主函数</a:t>
            </a:r>
            <a:r>
              <a:rPr lang="en-US" altLang="zh-CN" sz="1000" b="1">
                <a:latin typeface="楷体_GB2312" pitchFamily="49" charset="-122"/>
                <a:ea typeface="楷体_GB2312" pitchFamily="49" charset="-122"/>
              </a:rPr>
              <a:t>main()</a:t>
            </a:r>
            <a:r>
              <a:rPr lang="zh-CN" altLang="en-US" sz="1000" b="1">
                <a:latin typeface="楷体_GB2312" pitchFamily="49" charset="-122"/>
                <a:ea typeface="楷体_GB2312" pitchFamily="49" charset="-122"/>
              </a:rPr>
              <a:t>中定义的内部变量，也只能在主函数中</a:t>
            </a:r>
          </a:p>
          <a:p>
            <a:pPr algn="just" eaLnBrk="1" hangingPunct="1">
              <a:lnSpc>
                <a:spcPct val="120000"/>
              </a:lnSpc>
            </a:pPr>
            <a:r>
              <a:rPr lang="zh-CN" altLang="en-US" sz="1000" b="1">
                <a:latin typeface="楷体_GB2312" pitchFamily="49" charset="-122"/>
                <a:ea typeface="楷体_GB2312" pitchFamily="49" charset="-122"/>
              </a:rPr>
              <a:t>使用，其它函数不能使用。同时，主函数中也不能使用其它</a:t>
            </a:r>
          </a:p>
          <a:p>
            <a:pPr algn="just" eaLnBrk="1" hangingPunct="1">
              <a:lnSpc>
                <a:spcPct val="120000"/>
              </a:lnSpc>
            </a:pPr>
            <a:r>
              <a:rPr lang="zh-CN" altLang="en-US" sz="1000" b="1">
                <a:latin typeface="楷体_GB2312" pitchFamily="49" charset="-122"/>
                <a:ea typeface="楷体_GB2312" pitchFamily="49" charset="-122"/>
              </a:rPr>
              <a:t>函数中定义的内部变量。因为主函数也是一个函数，与其它</a:t>
            </a:r>
          </a:p>
          <a:p>
            <a:pPr algn="just" eaLnBrk="1" hangingPunct="1">
              <a:lnSpc>
                <a:spcPct val="120000"/>
              </a:lnSpc>
            </a:pPr>
            <a:r>
              <a:rPr lang="zh-CN" altLang="en-US" sz="1000" b="1">
                <a:latin typeface="楷体_GB2312" pitchFamily="49" charset="-122"/>
                <a:ea typeface="楷体_GB2312" pitchFamily="49" charset="-122"/>
              </a:rPr>
              <a:t>函数是平行关系。这一点是与其它语言不同的，应予以注意。</a:t>
            </a:r>
          </a:p>
          <a:p>
            <a:pPr algn="just" eaLnBrk="1" hangingPunct="1">
              <a:lnSpc>
                <a:spcPct val="120000"/>
              </a:lnSpc>
            </a:pPr>
            <a:r>
              <a:rPr lang="en-US" altLang="zh-CN" sz="1000" b="1">
                <a:latin typeface="楷体_GB2312" pitchFamily="49" charset="-122"/>
                <a:ea typeface="楷体_GB2312" pitchFamily="49" charset="-122"/>
              </a:rPr>
              <a:t>2</a:t>
            </a:r>
            <a:r>
              <a:rPr lang="zh-CN" altLang="en-US" sz="1000" b="1">
                <a:latin typeface="楷体_GB2312" pitchFamily="49" charset="-122"/>
                <a:ea typeface="楷体_GB2312" pitchFamily="49" charset="-122"/>
              </a:rPr>
              <a:t>．形参变量也是内部变量，属于被调用函数；实参变量，</a:t>
            </a:r>
          </a:p>
          <a:p>
            <a:pPr algn="just" eaLnBrk="1" hangingPunct="1">
              <a:lnSpc>
                <a:spcPct val="120000"/>
              </a:lnSpc>
            </a:pPr>
            <a:r>
              <a:rPr lang="zh-CN" altLang="en-US" sz="1000" b="1">
                <a:latin typeface="楷体_GB2312" pitchFamily="49" charset="-122"/>
                <a:ea typeface="楷体_GB2312" pitchFamily="49" charset="-122"/>
              </a:rPr>
              <a:t>则是调用函数的内部变量。</a:t>
            </a:r>
          </a:p>
          <a:p>
            <a:pPr algn="just" eaLnBrk="1" hangingPunct="1">
              <a:lnSpc>
                <a:spcPct val="120000"/>
              </a:lnSpc>
            </a:pPr>
            <a:r>
              <a:rPr lang="en-US" altLang="zh-CN" sz="1000" b="1">
                <a:latin typeface="楷体_GB2312" pitchFamily="49" charset="-122"/>
                <a:ea typeface="楷体_GB2312" pitchFamily="49" charset="-122"/>
              </a:rPr>
              <a:t>3</a:t>
            </a:r>
            <a:r>
              <a:rPr lang="zh-CN" altLang="en-US" sz="1000" b="1">
                <a:latin typeface="楷体_GB2312" pitchFamily="49" charset="-122"/>
                <a:ea typeface="楷体_GB2312" pitchFamily="49" charset="-122"/>
              </a:rPr>
              <a:t>．允许在不同的函数中使用相同的变量名，它们代表不同的</a:t>
            </a:r>
          </a:p>
          <a:p>
            <a:pPr algn="just" eaLnBrk="1" hangingPunct="1">
              <a:lnSpc>
                <a:spcPct val="120000"/>
              </a:lnSpc>
            </a:pPr>
            <a:r>
              <a:rPr lang="zh-CN" altLang="en-US" sz="1000" b="1">
                <a:latin typeface="楷体_GB2312" pitchFamily="49" charset="-122"/>
                <a:ea typeface="楷体_GB2312" pitchFamily="49" charset="-122"/>
              </a:rPr>
              <a:t>对象，分配不同的单元，互不干扰，也不会发生混淆。</a:t>
            </a:r>
          </a:p>
          <a:p>
            <a:pPr eaLnBrk="1" hangingPunct="1">
              <a:lnSpc>
                <a:spcPct val="120000"/>
              </a:lnSpc>
            </a:pPr>
            <a:r>
              <a:rPr lang="en-US" altLang="zh-CN" sz="1000" b="1">
                <a:latin typeface="楷体_GB2312" pitchFamily="49" charset="-122"/>
                <a:ea typeface="楷体_GB2312" pitchFamily="49" charset="-122"/>
              </a:rPr>
              <a:t>4</a:t>
            </a:r>
            <a:r>
              <a:rPr lang="zh-CN" altLang="en-US" sz="1000" b="1">
                <a:latin typeface="楷体_GB2312" pitchFamily="49" charset="-122"/>
                <a:ea typeface="楷体_GB2312" pitchFamily="49" charset="-122"/>
              </a:rPr>
              <a:t>．在复合语句中也可定义变量，其作用域只在复合语句范围</a:t>
            </a:r>
          </a:p>
          <a:p>
            <a:pPr eaLnBrk="1" hangingPunct="1">
              <a:lnSpc>
                <a:spcPct val="120000"/>
              </a:lnSpc>
            </a:pPr>
            <a:r>
              <a:rPr lang="zh-CN" altLang="en-US" sz="1000" b="1">
                <a:latin typeface="楷体_GB2312" pitchFamily="49" charset="-122"/>
                <a:ea typeface="楷体_GB2312" pitchFamily="49" charset="-122"/>
              </a:rPr>
              <a:t>内。</a:t>
            </a:r>
            <a:r>
              <a:rPr lang="zh-CN" altLang="en-US" b="1">
                <a:ea typeface="宋体" charset="-122"/>
              </a:rPr>
              <a:t> </a:t>
            </a:r>
            <a:endParaRPr lang="zh-CN" altLang="en-US" sz="1600" b="1">
              <a:ea typeface="宋体" charset="-122"/>
            </a:endParaRPr>
          </a:p>
          <a:p>
            <a:pPr algn="just" eaLnBrk="1" hangingPunct="1">
              <a:lnSpc>
                <a:spcPct val="130000"/>
              </a:lnSpc>
            </a:pPr>
            <a:r>
              <a:rPr lang="zh-CN" altLang="en-US" sz="1000" b="1">
                <a:ea typeface="楷体_GB2312" pitchFamily="49" charset="-122"/>
              </a:rPr>
              <a:t>在函数外部定义的变量称为外部变量。以此类推，在函数外部定义的数组就称为外部数组。</a:t>
            </a:r>
          </a:p>
          <a:p>
            <a:pPr algn="just" eaLnBrk="1" hangingPunct="1">
              <a:lnSpc>
                <a:spcPct val="130000"/>
              </a:lnSpc>
            </a:pPr>
            <a:r>
              <a:rPr lang="zh-CN" altLang="en-US" sz="1000" b="1">
                <a:ea typeface="楷体_GB2312" pitchFamily="49" charset="-122"/>
              </a:rPr>
              <a:t>外部变量不属于任何一个函数，其</a:t>
            </a:r>
            <a:r>
              <a:rPr lang="zh-CN" altLang="en-US" sz="1000" i="1">
                <a:ea typeface="楷体_GB2312" pitchFamily="49" charset="-122"/>
              </a:rPr>
              <a:t>作用域</a:t>
            </a:r>
            <a:r>
              <a:rPr lang="zh-CN" altLang="en-US" sz="1000" b="1">
                <a:ea typeface="楷体_GB2312" pitchFamily="49" charset="-122"/>
              </a:rPr>
              <a:t>是：从外部变量的定义位置开始，到本文件结束为止。</a:t>
            </a:r>
          </a:p>
          <a:p>
            <a:pPr algn="just" eaLnBrk="1" hangingPunct="1">
              <a:lnSpc>
                <a:spcPct val="130000"/>
              </a:lnSpc>
            </a:pPr>
            <a:r>
              <a:rPr lang="zh-CN" altLang="en-US" sz="1000" b="1">
                <a:ea typeface="楷体_GB2312" pitchFamily="49" charset="-122"/>
              </a:rPr>
              <a:t>外部变量可被作用域内的所有函数直接引用，所以外部变量又称全局变量。</a:t>
            </a:r>
          </a:p>
          <a:p>
            <a:pPr algn="just" eaLnBrk="1" hangingPunct="1">
              <a:spcBef>
                <a:spcPct val="0"/>
              </a:spcBef>
            </a:pPr>
            <a:r>
              <a:rPr lang="zh-CN" altLang="en-US" sz="1000" b="1">
                <a:ea typeface="仿宋_GB2312" pitchFamily="49" charset="-122"/>
              </a:rPr>
              <a:t>对于全局变量还有以下几点说明：</a:t>
            </a:r>
          </a:p>
          <a:p>
            <a:pPr algn="just" eaLnBrk="1" hangingPunct="1">
              <a:spcBef>
                <a:spcPct val="0"/>
              </a:spcBef>
            </a:pPr>
            <a:r>
              <a:rPr lang="zh-CN" altLang="en-US" sz="1000" b="1">
                <a:ea typeface="仿宋_GB2312" pitchFamily="49" charset="-122"/>
              </a:rPr>
              <a:t>（</a:t>
            </a:r>
            <a:r>
              <a:rPr lang="en-US" altLang="zh-CN" sz="1000" b="1">
                <a:ea typeface="仿宋_GB2312" pitchFamily="49" charset="-122"/>
              </a:rPr>
              <a:t>1</a:t>
            </a:r>
            <a:r>
              <a:rPr lang="zh-CN" altLang="en-US" sz="1000" b="1">
                <a:ea typeface="仿宋_GB2312" pitchFamily="49" charset="-122"/>
              </a:rPr>
              <a:t>）外部变量可加强函数模块之间的数据联系，但又使这些函数依赖这些外部变量，因而使得这些函数的独立性降低。</a:t>
            </a:r>
          </a:p>
          <a:p>
            <a:pPr algn="just" eaLnBrk="1" hangingPunct="1">
              <a:spcBef>
                <a:spcPct val="0"/>
              </a:spcBef>
            </a:pPr>
            <a:r>
              <a:rPr lang="zh-CN" altLang="en-US" sz="1000" b="1">
                <a:ea typeface="仿宋_GB2312" pitchFamily="49" charset="-122"/>
              </a:rPr>
              <a:t>从模块化程序设计的观点来看这是不利的，因此不是非用不可时，不要使用外部变量。</a:t>
            </a:r>
          </a:p>
          <a:p>
            <a:pPr algn="just" eaLnBrk="1" hangingPunct="1">
              <a:spcBef>
                <a:spcPct val="0"/>
              </a:spcBef>
            </a:pPr>
            <a:r>
              <a:rPr lang="zh-CN" altLang="en-US" sz="1000" b="1">
                <a:ea typeface="仿宋_GB2312" pitchFamily="49" charset="-122"/>
              </a:rPr>
              <a:t>（</a:t>
            </a:r>
            <a:r>
              <a:rPr lang="en-US" altLang="zh-CN" sz="1000" b="1">
                <a:ea typeface="仿宋_GB2312" pitchFamily="49" charset="-122"/>
              </a:rPr>
              <a:t>2</a:t>
            </a:r>
            <a:r>
              <a:rPr lang="zh-CN" altLang="en-US" sz="1000" b="1">
                <a:ea typeface="仿宋_GB2312" pitchFamily="49" charset="-122"/>
              </a:rPr>
              <a:t>）在同一源文件中，允许外部变量和内部变量同名。在内部变量的作用域内，外部变量将被屏蔽而不起作用。</a:t>
            </a:r>
          </a:p>
          <a:p>
            <a:pPr algn="just" eaLnBrk="1" hangingPunct="1">
              <a:spcBef>
                <a:spcPct val="0"/>
              </a:spcBef>
            </a:pPr>
            <a:r>
              <a:rPr lang="zh-CN" altLang="en-US" sz="1000" b="1">
                <a:ea typeface="仿宋_GB2312" pitchFamily="49" charset="-122"/>
              </a:rPr>
              <a:t>（</a:t>
            </a:r>
            <a:r>
              <a:rPr lang="en-US" altLang="zh-CN" sz="1000" b="1">
                <a:ea typeface="仿宋_GB2312" pitchFamily="49" charset="-122"/>
              </a:rPr>
              <a:t>3</a:t>
            </a:r>
            <a:r>
              <a:rPr lang="zh-CN" altLang="en-US" sz="1000" b="1">
                <a:ea typeface="仿宋_GB2312" pitchFamily="49" charset="-122"/>
              </a:rPr>
              <a:t>）外部变量的作用域是从定义点到本文件结束。</a:t>
            </a:r>
            <a:r>
              <a:rPr lang="zh-CN" altLang="en-US" sz="1000" b="1" u="sng">
                <a:ea typeface="仿宋_GB2312" pitchFamily="49" charset="-122"/>
              </a:rPr>
              <a:t>如果定义点之前的函数需要引用这些外部变量时，需要在函数内对被引用的外部变量进行说明。外部变量说明的一般形式为</a:t>
            </a:r>
            <a:r>
              <a:rPr lang="zh-CN" altLang="en-US" sz="1000" b="1">
                <a:ea typeface="仿宋_GB2312" pitchFamily="49" charset="-122"/>
              </a:rPr>
              <a:t>：</a:t>
            </a:r>
          </a:p>
          <a:p>
            <a:pPr algn="just" eaLnBrk="1" hangingPunct="1">
              <a:spcBef>
                <a:spcPct val="0"/>
              </a:spcBef>
            </a:pPr>
            <a:r>
              <a:rPr lang="en-US" altLang="zh-CN" sz="1000" b="1">
                <a:ea typeface="仿宋_GB2312" pitchFamily="49" charset="-122"/>
              </a:rPr>
              <a:t>extern  </a:t>
            </a:r>
            <a:r>
              <a:rPr lang="zh-CN" altLang="en-US" sz="1000" b="1">
                <a:ea typeface="仿宋_GB2312" pitchFamily="49" charset="-122"/>
              </a:rPr>
              <a:t>数据类型  外部变量</a:t>
            </a:r>
            <a:r>
              <a:rPr lang="en-US" altLang="zh-CN" sz="1000" b="1">
                <a:ea typeface="仿宋_GB2312" pitchFamily="49" charset="-122"/>
              </a:rPr>
              <a:t>[</a:t>
            </a:r>
            <a:r>
              <a:rPr lang="zh-CN" altLang="en-US" sz="1000" b="1">
                <a:ea typeface="仿宋_GB2312" pitchFamily="49" charset="-122"/>
              </a:rPr>
              <a:t>，外部变量</a:t>
            </a:r>
            <a:r>
              <a:rPr lang="en-US" altLang="zh-CN" sz="1000" b="1">
                <a:ea typeface="仿宋_GB2312" pitchFamily="49" charset="-122"/>
              </a:rPr>
              <a:t>2</a:t>
            </a:r>
            <a:r>
              <a:rPr lang="en-US" altLang="zh-CN" sz="1000" b="1">
                <a:latin typeface="Tahoma" pitchFamily="34" charset="0"/>
                <a:ea typeface="仿宋_GB2312" pitchFamily="49" charset="-122"/>
              </a:rPr>
              <a:t>……</a:t>
            </a:r>
            <a:r>
              <a:rPr lang="en-US" altLang="zh-CN" sz="1000" b="1">
                <a:ea typeface="仿宋_GB2312" pitchFamily="49" charset="-122"/>
              </a:rPr>
              <a:t>]</a:t>
            </a:r>
            <a:r>
              <a:rPr lang="zh-CN" altLang="en-US" sz="1000" b="1">
                <a:ea typeface="仿宋_GB2312" pitchFamily="49" charset="-122"/>
              </a:rPr>
              <a:t>； </a:t>
            </a:r>
            <a:endParaRPr lang="zh-CN" altLang="en-US" sz="1000" b="1" i="1">
              <a:ea typeface="仿宋_GB2312" pitchFamily="49" charset="-122"/>
            </a:endParaRPr>
          </a:p>
          <a:p>
            <a:pPr eaLnBrk="1" hangingPunct="1">
              <a:spcBef>
                <a:spcPct val="0"/>
              </a:spcBef>
            </a:pPr>
            <a:r>
              <a:rPr lang="zh-CN" altLang="en-US" sz="1000" i="1">
                <a:ea typeface="仿宋_GB2312" pitchFamily="49" charset="-122"/>
              </a:rPr>
              <a:t>注意</a:t>
            </a:r>
            <a:r>
              <a:rPr lang="zh-CN" altLang="en-US" sz="1000" b="1">
                <a:ea typeface="仿宋_GB2312" pitchFamily="49" charset="-122"/>
              </a:rPr>
              <a:t>：外部变量的定义和外部变量的说明是两回事。外部变量的定义，必须在所有的函数之外，且只能定义一次。而外部变量的说明，出现在要使用该外部变量的函数内，而且可以出现多次。</a:t>
            </a:r>
          </a:p>
          <a:p>
            <a:pPr eaLnBrk="1" hangingPunct="1"/>
            <a:endParaRPr lang="en-US" altLang="zh-CN">
              <a:ea typeface="宋体" charset="-122"/>
            </a:endParaRPr>
          </a:p>
        </p:txBody>
      </p:sp>
    </p:spTree>
    <p:extLst>
      <p:ext uri="{BB962C8B-B14F-4D97-AF65-F5344CB8AC3E}">
        <p14:creationId xmlns:p14="http://schemas.microsoft.com/office/powerpoint/2010/main" val="17227589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46A813-2E9A-4513-B7D8-91B578B72090}" type="slidenum">
              <a:rPr lang="zh-CN" altLang="en-US" smtClean="0"/>
              <a:t>97</a:t>
            </a:fld>
            <a:endParaRPr lang="zh-CN" altLang="en-US"/>
          </a:p>
        </p:txBody>
      </p:sp>
    </p:spTree>
    <p:extLst>
      <p:ext uri="{BB962C8B-B14F-4D97-AF65-F5344CB8AC3E}">
        <p14:creationId xmlns:p14="http://schemas.microsoft.com/office/powerpoint/2010/main" val="8319691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defRPr sz="1200">
                <a:solidFill>
                  <a:schemeClr val="tx1"/>
                </a:solidFill>
                <a:latin typeface="Times New Roman" pitchFamily="18" charset="0"/>
                <a:ea typeface="宋体" charset="-122"/>
              </a:defRPr>
            </a:lvl1pPr>
            <a:lvl2pPr marL="742950" indent="-285750">
              <a:defRPr sz="1200">
                <a:solidFill>
                  <a:schemeClr val="tx1"/>
                </a:solidFill>
                <a:latin typeface="Times New Roman" pitchFamily="18" charset="0"/>
                <a:ea typeface="宋体" charset="-122"/>
              </a:defRPr>
            </a:lvl2pPr>
            <a:lvl3pPr marL="1143000" indent="-228600">
              <a:defRPr sz="1200">
                <a:solidFill>
                  <a:schemeClr val="tx1"/>
                </a:solidFill>
                <a:latin typeface="Times New Roman" pitchFamily="18" charset="0"/>
                <a:ea typeface="宋体" charset="-122"/>
              </a:defRPr>
            </a:lvl3pPr>
            <a:lvl4pPr marL="1600200" indent="-228600">
              <a:defRPr sz="1200">
                <a:solidFill>
                  <a:schemeClr val="tx1"/>
                </a:solidFill>
                <a:latin typeface="Times New Roman" pitchFamily="18" charset="0"/>
                <a:ea typeface="宋体" charset="-122"/>
              </a:defRPr>
            </a:lvl4pPr>
            <a:lvl5pPr marL="2057400" indent="-228600">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fld id="{23477176-0AE1-4859-90CE-B2066C9D4996}" type="slidenum">
              <a:rPr lang="en-US" altLang="zh-CN" smtClean="0"/>
              <a:pPr/>
              <a:t>98</a:t>
            </a:fld>
            <a:endParaRPr lang="en-US" altLang="zh-CN"/>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pPr algn="just">
              <a:spcBef>
                <a:spcPct val="0"/>
              </a:spcBef>
            </a:pPr>
            <a:r>
              <a:rPr kumimoji="1" lang="zh-CN" altLang="en-US" sz="2800">
                <a:ea typeface="楷体_GB2312" pitchFamily="49" charset="-122"/>
              </a:rPr>
              <a:t>外部变量是在函数的外部定义的</a:t>
            </a:r>
            <a:r>
              <a:rPr kumimoji="1" lang="en-US" altLang="zh-CN" sz="2800">
                <a:ea typeface="楷体_GB2312" pitchFamily="49" charset="-122"/>
              </a:rPr>
              <a:t>,</a:t>
            </a:r>
            <a:r>
              <a:rPr kumimoji="1" lang="zh-CN" altLang="en-US" sz="2800">
                <a:ea typeface="楷体_GB2312" pitchFamily="49" charset="-122"/>
              </a:rPr>
              <a:t>它的作用域为从变量的定义处开始</a:t>
            </a:r>
            <a:r>
              <a:rPr kumimoji="1" lang="en-US" altLang="zh-CN" sz="2800">
                <a:ea typeface="楷体_GB2312" pitchFamily="49" charset="-122"/>
              </a:rPr>
              <a:t>,</a:t>
            </a:r>
            <a:r>
              <a:rPr kumimoji="1" lang="zh-CN" altLang="en-US" sz="2800">
                <a:ea typeface="楷体_GB2312" pitchFamily="49" charset="-122"/>
              </a:rPr>
              <a:t>到本程序文件的末尾。</a:t>
            </a:r>
          </a:p>
          <a:p>
            <a:pPr algn="just">
              <a:spcBef>
                <a:spcPct val="0"/>
              </a:spcBef>
            </a:pPr>
            <a:endParaRPr kumimoji="1" lang="zh-CN" altLang="en-US" sz="2800">
              <a:ea typeface="楷体_GB2312" pitchFamily="49" charset="-122"/>
            </a:endParaRPr>
          </a:p>
          <a:p>
            <a:pPr eaLnBrk="1" hangingPunct="1">
              <a:lnSpc>
                <a:spcPct val="90000"/>
              </a:lnSpc>
            </a:pPr>
            <a:r>
              <a:rPr lang="zh-CN" altLang="en-US" sz="900" b="1">
                <a:ea typeface="宋体" charset="-122"/>
              </a:rPr>
              <a:t>外部变量属于静态存储方式： </a:t>
            </a:r>
          </a:p>
          <a:p>
            <a:pPr algn="just" eaLnBrk="1" hangingPunct="1">
              <a:lnSpc>
                <a:spcPct val="90000"/>
              </a:lnSpc>
            </a:pPr>
            <a:r>
              <a:rPr lang="zh-CN" altLang="en-US" sz="900" b="1">
                <a:ea typeface="宋体" charset="-122"/>
              </a:rPr>
              <a:t>（</a:t>
            </a:r>
            <a:r>
              <a:rPr lang="en-US" altLang="zh-CN" sz="900" b="1">
                <a:ea typeface="宋体" charset="-122"/>
              </a:rPr>
              <a:t>1</a:t>
            </a:r>
            <a:r>
              <a:rPr lang="zh-CN" altLang="en-US" sz="900" b="1">
                <a:ea typeface="宋体" charset="-122"/>
              </a:rPr>
              <a:t>）静态外部变量──只允许被本源文件中的函数引用</a:t>
            </a:r>
          </a:p>
          <a:p>
            <a:pPr algn="just" eaLnBrk="1" hangingPunct="1">
              <a:lnSpc>
                <a:spcPct val="90000"/>
              </a:lnSpc>
            </a:pPr>
            <a:r>
              <a:rPr lang="zh-CN" altLang="en-US" sz="900" b="1">
                <a:ea typeface="宋体" charset="-122"/>
              </a:rPr>
              <a:t>其定义格式为：  </a:t>
            </a:r>
            <a:r>
              <a:rPr lang="en-US" altLang="zh-CN" sz="900" b="1">
                <a:solidFill>
                  <a:schemeClr val="hlink"/>
                </a:solidFill>
                <a:ea typeface="宋体" charset="-122"/>
              </a:rPr>
              <a:t>static  </a:t>
            </a:r>
            <a:r>
              <a:rPr lang="zh-CN" altLang="en-US" sz="900" b="1">
                <a:solidFill>
                  <a:schemeClr val="hlink"/>
                </a:solidFill>
                <a:ea typeface="宋体" charset="-122"/>
              </a:rPr>
              <a:t>数据类型  外部变量表；</a:t>
            </a:r>
          </a:p>
          <a:p>
            <a:pPr algn="just" eaLnBrk="1" hangingPunct="1">
              <a:lnSpc>
                <a:spcPct val="90000"/>
              </a:lnSpc>
            </a:pPr>
            <a:r>
              <a:rPr lang="zh-CN" altLang="en-US" sz="900" b="1">
                <a:ea typeface="宋体" charset="-122"/>
              </a:rPr>
              <a:t>（</a:t>
            </a:r>
            <a:r>
              <a:rPr lang="en-US" altLang="zh-CN" sz="900" b="1">
                <a:ea typeface="宋体" charset="-122"/>
              </a:rPr>
              <a:t>2</a:t>
            </a:r>
            <a:r>
              <a:rPr lang="zh-CN" altLang="en-US" sz="900" b="1">
                <a:ea typeface="宋体" charset="-122"/>
              </a:rPr>
              <a:t>）非静态外部变量──允许被其它源文件中的函数引用</a:t>
            </a:r>
          </a:p>
          <a:p>
            <a:pPr algn="just" eaLnBrk="1" hangingPunct="1">
              <a:lnSpc>
                <a:spcPct val="90000"/>
              </a:lnSpc>
            </a:pPr>
            <a:r>
              <a:rPr lang="zh-CN" altLang="en-US" sz="900" b="1">
                <a:ea typeface="宋体" charset="-122"/>
              </a:rPr>
              <a:t>定义时缺省</a:t>
            </a:r>
            <a:r>
              <a:rPr lang="en-US" altLang="zh-CN" sz="900" b="1">
                <a:ea typeface="宋体" charset="-122"/>
              </a:rPr>
              <a:t>static</a:t>
            </a:r>
            <a:r>
              <a:rPr lang="zh-CN" altLang="en-US" sz="900" b="1">
                <a:ea typeface="宋体" charset="-122"/>
              </a:rPr>
              <a:t>关键字的外部变量，即为非静态外部变量。其它源文件中的函数，引用非静态外部变量时，需要在引用函数所在的源文件中进行说明：</a:t>
            </a:r>
          </a:p>
          <a:p>
            <a:pPr algn="just" eaLnBrk="1" hangingPunct="1">
              <a:lnSpc>
                <a:spcPct val="90000"/>
              </a:lnSpc>
            </a:pPr>
            <a:r>
              <a:rPr lang="en-US" altLang="zh-CN" sz="900" b="1">
                <a:solidFill>
                  <a:schemeClr val="hlink"/>
                </a:solidFill>
                <a:ea typeface="宋体" charset="-122"/>
              </a:rPr>
              <a:t>extern  </a:t>
            </a:r>
            <a:r>
              <a:rPr lang="zh-CN" altLang="en-US" sz="900" b="1">
                <a:solidFill>
                  <a:schemeClr val="hlink"/>
                </a:solidFill>
                <a:ea typeface="宋体" charset="-122"/>
              </a:rPr>
              <a:t>数据类型  外部变量表；</a:t>
            </a:r>
          </a:p>
          <a:p>
            <a:pPr eaLnBrk="1" hangingPunct="1">
              <a:lnSpc>
                <a:spcPct val="90000"/>
              </a:lnSpc>
            </a:pPr>
            <a:r>
              <a:rPr lang="zh-CN" altLang="en-US" sz="900" i="1">
                <a:ea typeface="宋体" charset="-122"/>
              </a:rPr>
              <a:t>注意</a:t>
            </a:r>
            <a:r>
              <a:rPr lang="zh-CN" altLang="en-US" sz="900" b="1">
                <a:ea typeface="宋体" charset="-122"/>
              </a:rPr>
              <a:t>：在函数内的</a:t>
            </a:r>
            <a:r>
              <a:rPr lang="en-US" altLang="zh-CN" sz="900" b="1">
                <a:ea typeface="宋体" charset="-122"/>
              </a:rPr>
              <a:t>extern</a:t>
            </a:r>
            <a:r>
              <a:rPr lang="zh-CN" altLang="en-US" sz="900" b="1">
                <a:ea typeface="宋体" charset="-122"/>
              </a:rPr>
              <a:t>变量说明，表示引用本源文件中的外部变量！而函数外（通常在文件开头）的</a:t>
            </a:r>
            <a:r>
              <a:rPr lang="en-US" altLang="zh-CN" sz="900" b="1">
                <a:ea typeface="宋体" charset="-122"/>
              </a:rPr>
              <a:t>extern</a:t>
            </a:r>
            <a:r>
              <a:rPr lang="zh-CN" altLang="en-US" sz="900" b="1">
                <a:ea typeface="宋体" charset="-122"/>
              </a:rPr>
              <a:t>变量</a:t>
            </a:r>
            <a:r>
              <a:rPr lang="zh-CN" altLang="en-US" sz="1000" b="1">
                <a:ea typeface="宋体" charset="-122"/>
              </a:rPr>
              <a:t>说明，表示引用其它文件中的外部变量。</a:t>
            </a:r>
          </a:p>
        </p:txBody>
      </p:sp>
    </p:spTree>
    <p:extLst>
      <p:ext uri="{BB962C8B-B14F-4D97-AF65-F5344CB8AC3E}">
        <p14:creationId xmlns:p14="http://schemas.microsoft.com/office/powerpoint/2010/main" val="39039960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46A813-2E9A-4513-B7D8-91B578B72090}" type="slidenum">
              <a:rPr lang="zh-CN" altLang="en-US" smtClean="0"/>
              <a:t>101</a:t>
            </a:fld>
            <a:endParaRPr lang="zh-CN" altLang="en-US"/>
          </a:p>
        </p:txBody>
      </p:sp>
    </p:spTree>
    <p:extLst>
      <p:ext uri="{BB962C8B-B14F-4D97-AF65-F5344CB8AC3E}">
        <p14:creationId xmlns:p14="http://schemas.microsoft.com/office/powerpoint/2010/main" val="8319691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改写的程序：</a:t>
            </a:r>
            <a:endParaRPr lang="en-US" altLang="zh-CN" dirty="0"/>
          </a:p>
          <a:p>
            <a:r>
              <a:rPr lang="en-US" altLang="zh-CN" dirty="0"/>
              <a:t>#include&lt;</a:t>
            </a:r>
            <a:r>
              <a:rPr lang="en-US" altLang="zh-CN" dirty="0" err="1"/>
              <a:t>stdio.h</a:t>
            </a:r>
            <a:r>
              <a:rPr lang="en-US" altLang="zh-CN" dirty="0"/>
              <a:t>&gt;</a:t>
            </a:r>
          </a:p>
          <a:p>
            <a:r>
              <a:rPr lang="en-US" altLang="zh-CN" dirty="0"/>
              <a:t>char </a:t>
            </a:r>
            <a:r>
              <a:rPr lang="en-US" altLang="zh-CN" dirty="0" err="1"/>
              <a:t>na</a:t>
            </a:r>
            <a:r>
              <a:rPr lang="en-US" altLang="zh-CN" dirty="0"/>
              <a:t>[][8]={"Error","Jan","Feb","March","Apr","May","June","July","Aug","Sept","Oct","Nov","Dec"};</a:t>
            </a:r>
          </a:p>
          <a:p>
            <a:r>
              <a:rPr lang="en-US" altLang="zh-CN" dirty="0"/>
              <a:t>char *find(</a:t>
            </a:r>
            <a:r>
              <a:rPr lang="en-US" altLang="zh-CN" dirty="0" err="1"/>
              <a:t>int</a:t>
            </a:r>
            <a:r>
              <a:rPr lang="en-US" altLang="zh-CN" dirty="0"/>
              <a:t> n)</a:t>
            </a:r>
          </a:p>
          <a:p>
            <a:r>
              <a:rPr lang="en-US" altLang="zh-CN" dirty="0"/>
              <a:t>{   </a:t>
            </a:r>
          </a:p>
          <a:p>
            <a:r>
              <a:rPr lang="en-US" altLang="zh-CN" dirty="0"/>
              <a:t>    if(n&lt;1||n&gt;12) return </a:t>
            </a:r>
            <a:r>
              <a:rPr lang="en-US" altLang="zh-CN" dirty="0" err="1"/>
              <a:t>na</a:t>
            </a:r>
            <a:r>
              <a:rPr lang="en-US" altLang="zh-CN" dirty="0"/>
              <a:t>[0];</a:t>
            </a:r>
          </a:p>
          <a:p>
            <a:r>
              <a:rPr lang="en-US" altLang="zh-CN" dirty="0"/>
              <a:t>	else return </a:t>
            </a:r>
            <a:r>
              <a:rPr lang="en-US" altLang="zh-CN" dirty="0" err="1"/>
              <a:t>na</a:t>
            </a:r>
            <a:r>
              <a:rPr lang="en-US" altLang="zh-CN" dirty="0"/>
              <a:t>[n];</a:t>
            </a:r>
          </a:p>
          <a:p>
            <a:r>
              <a:rPr lang="en-US" altLang="zh-CN" dirty="0"/>
              <a:t>}</a:t>
            </a:r>
          </a:p>
          <a:p>
            <a:r>
              <a:rPr lang="en-US" altLang="zh-CN" dirty="0" err="1"/>
              <a:t>int</a:t>
            </a:r>
            <a:r>
              <a:rPr lang="en-US" altLang="zh-CN" dirty="0"/>
              <a:t> main()</a:t>
            </a:r>
          </a:p>
          <a:p>
            <a:r>
              <a:rPr lang="en-US" altLang="zh-CN" dirty="0"/>
              <a:t>{</a:t>
            </a:r>
          </a:p>
          <a:p>
            <a:r>
              <a:rPr lang="en-US" altLang="zh-CN" dirty="0"/>
              <a:t>   </a:t>
            </a:r>
            <a:r>
              <a:rPr lang="en-US" altLang="zh-CN" dirty="0" err="1"/>
              <a:t>int</a:t>
            </a:r>
            <a:r>
              <a:rPr lang="en-US" altLang="zh-CN" dirty="0"/>
              <a:t> </a:t>
            </a:r>
            <a:r>
              <a:rPr lang="en-US" altLang="zh-CN" dirty="0" err="1"/>
              <a:t>year,month,day</a:t>
            </a:r>
            <a:r>
              <a:rPr lang="en-US" altLang="zh-CN" dirty="0"/>
              <a:t>;</a:t>
            </a:r>
          </a:p>
          <a:p>
            <a:r>
              <a:rPr lang="en-US" altLang="zh-CN" dirty="0"/>
              <a:t>   char *p;</a:t>
            </a:r>
          </a:p>
          <a:p>
            <a:r>
              <a:rPr lang="en-US" altLang="zh-CN" dirty="0"/>
              <a:t>   </a:t>
            </a:r>
            <a:r>
              <a:rPr lang="en-US" altLang="zh-CN" dirty="0" err="1"/>
              <a:t>printf</a:t>
            </a:r>
            <a:r>
              <a:rPr lang="en-US" altLang="zh-CN" dirty="0"/>
              <a:t>("</a:t>
            </a:r>
            <a:r>
              <a:rPr lang="zh-CN" altLang="en-US" dirty="0"/>
              <a:t>请输入年月日：</a:t>
            </a:r>
            <a:r>
              <a:rPr lang="en-US" altLang="zh-CN" dirty="0"/>
              <a:t>");</a:t>
            </a:r>
          </a:p>
          <a:p>
            <a:r>
              <a:rPr lang="en-US" altLang="zh-CN" dirty="0"/>
              <a:t>   </a:t>
            </a:r>
            <a:r>
              <a:rPr lang="en-US" altLang="zh-CN" dirty="0" err="1"/>
              <a:t>scanf</a:t>
            </a:r>
            <a:r>
              <a:rPr lang="en-US" altLang="zh-CN" dirty="0"/>
              <a:t>("%</a:t>
            </a:r>
            <a:r>
              <a:rPr lang="en-US" altLang="zh-CN" dirty="0" err="1"/>
              <a:t>d%d%d</a:t>
            </a:r>
            <a:r>
              <a:rPr lang="en-US" altLang="zh-CN" dirty="0"/>
              <a:t>",&amp;</a:t>
            </a:r>
            <a:r>
              <a:rPr lang="en-US" altLang="zh-CN" dirty="0" err="1"/>
              <a:t>year,&amp;month,&amp;day</a:t>
            </a:r>
            <a:r>
              <a:rPr lang="en-US" altLang="zh-CN" dirty="0"/>
              <a:t>);</a:t>
            </a:r>
          </a:p>
          <a:p>
            <a:r>
              <a:rPr lang="en-US" altLang="zh-CN" dirty="0"/>
              <a:t>   p=find(month);</a:t>
            </a:r>
          </a:p>
          <a:p>
            <a:r>
              <a:rPr lang="en-US" altLang="zh-CN" dirty="0"/>
              <a:t>   </a:t>
            </a:r>
            <a:r>
              <a:rPr lang="en-US" altLang="zh-CN" dirty="0" err="1"/>
              <a:t>printf</a:t>
            </a:r>
            <a:r>
              <a:rPr lang="en-US" altLang="zh-CN" dirty="0"/>
              <a:t>("</a:t>
            </a:r>
            <a:r>
              <a:rPr lang="zh-CN" altLang="en-US" dirty="0"/>
              <a:t>美国时间格式为：</a:t>
            </a:r>
            <a:r>
              <a:rPr lang="en-US" altLang="zh-CN" dirty="0"/>
              <a:t>%s  %</a:t>
            </a:r>
            <a:r>
              <a:rPr lang="en-US" altLang="zh-CN" dirty="0" err="1"/>
              <a:t>d,%d</a:t>
            </a:r>
            <a:r>
              <a:rPr lang="en-US" altLang="zh-CN" dirty="0"/>
              <a:t>\n",</a:t>
            </a:r>
            <a:r>
              <a:rPr lang="en-US" altLang="zh-CN" dirty="0" err="1"/>
              <a:t>p,day,year</a:t>
            </a:r>
            <a:r>
              <a:rPr lang="en-US" altLang="zh-CN" dirty="0"/>
              <a:t>);</a:t>
            </a:r>
          </a:p>
          <a:p>
            <a:r>
              <a:rPr lang="en-US" altLang="zh-CN"/>
              <a:t>}</a:t>
            </a:r>
            <a:endParaRPr lang="zh-CN" altLang="en-US" dirty="0"/>
          </a:p>
        </p:txBody>
      </p:sp>
      <p:sp>
        <p:nvSpPr>
          <p:cNvPr id="4" name="灯片编号占位符 3"/>
          <p:cNvSpPr>
            <a:spLocks noGrp="1"/>
          </p:cNvSpPr>
          <p:nvPr>
            <p:ph type="sldNum" sz="quarter" idx="10"/>
          </p:nvPr>
        </p:nvSpPr>
        <p:spPr/>
        <p:txBody>
          <a:bodyPr/>
          <a:lstStyle/>
          <a:p>
            <a:fld id="{3746A813-2E9A-4513-B7D8-91B578B72090}" type="slidenum">
              <a:rPr lang="zh-CN" altLang="en-US" smtClean="0"/>
              <a:t>102</a:t>
            </a:fld>
            <a:endParaRPr lang="zh-CN" altLang="en-US"/>
          </a:p>
        </p:txBody>
      </p:sp>
    </p:spTree>
    <p:extLst>
      <p:ext uri="{BB962C8B-B14F-4D97-AF65-F5344CB8AC3E}">
        <p14:creationId xmlns:p14="http://schemas.microsoft.com/office/powerpoint/2010/main" val="476988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9621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477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51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3309144" y="2029636"/>
            <a:ext cx="1690688" cy="1690688"/>
          </a:xfrm>
          <a:custGeom>
            <a:avLst/>
            <a:gdLst>
              <a:gd name="connsiteX0" fmla="*/ 845344 w 1690688"/>
              <a:gd name="connsiteY0" fmla="*/ 0 h 1690688"/>
              <a:gd name="connsiteX1" fmla="*/ 1690688 w 1690688"/>
              <a:gd name="connsiteY1" fmla="*/ 845344 h 1690688"/>
              <a:gd name="connsiteX2" fmla="*/ 845344 w 1690688"/>
              <a:gd name="connsiteY2" fmla="*/ 1690688 h 1690688"/>
              <a:gd name="connsiteX3" fmla="*/ 0 w 1690688"/>
              <a:gd name="connsiteY3" fmla="*/ 845344 h 1690688"/>
              <a:gd name="connsiteX4" fmla="*/ 845344 w 1690688"/>
              <a:gd name="connsiteY4" fmla="*/ 0 h 1690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688" h="1690688">
                <a:moveTo>
                  <a:pt x="845344" y="0"/>
                </a:moveTo>
                <a:cubicBezTo>
                  <a:pt x="1312215" y="0"/>
                  <a:pt x="1690688" y="378473"/>
                  <a:pt x="1690688" y="845344"/>
                </a:cubicBezTo>
                <a:cubicBezTo>
                  <a:pt x="1690688" y="1312215"/>
                  <a:pt x="1312215" y="1690688"/>
                  <a:pt x="845344" y="1690688"/>
                </a:cubicBezTo>
                <a:cubicBezTo>
                  <a:pt x="378473" y="1690688"/>
                  <a:pt x="0" y="1312215"/>
                  <a:pt x="0" y="845344"/>
                </a:cubicBezTo>
                <a:cubicBezTo>
                  <a:pt x="0" y="378473"/>
                  <a:pt x="378473" y="0"/>
                  <a:pt x="845344" y="0"/>
                </a:cubicBezTo>
                <a:close/>
              </a:path>
            </a:pathLst>
          </a:custGeom>
          <a:ln w="38100">
            <a:solidFill>
              <a:schemeClr val="accent1"/>
            </a:solidFill>
          </a:ln>
        </p:spPr>
        <p:txBody>
          <a:bodyPr wrap="square">
            <a:noAutofit/>
          </a:bodyPr>
          <a:lstStyle/>
          <a:p>
            <a:endParaRPr lang="zh-CN" altLang="en-US"/>
          </a:p>
        </p:txBody>
      </p:sp>
      <p:sp>
        <p:nvSpPr>
          <p:cNvPr id="9" name="图片占位符 8"/>
          <p:cNvSpPr>
            <a:spLocks noGrp="1"/>
          </p:cNvSpPr>
          <p:nvPr>
            <p:ph type="pic" sz="quarter" idx="11"/>
          </p:nvPr>
        </p:nvSpPr>
        <p:spPr>
          <a:xfrm>
            <a:off x="7192169" y="2029636"/>
            <a:ext cx="1690688" cy="1690688"/>
          </a:xfrm>
          <a:custGeom>
            <a:avLst/>
            <a:gdLst>
              <a:gd name="connsiteX0" fmla="*/ 845344 w 1690688"/>
              <a:gd name="connsiteY0" fmla="*/ 0 h 1690688"/>
              <a:gd name="connsiteX1" fmla="*/ 1690688 w 1690688"/>
              <a:gd name="connsiteY1" fmla="*/ 845344 h 1690688"/>
              <a:gd name="connsiteX2" fmla="*/ 845344 w 1690688"/>
              <a:gd name="connsiteY2" fmla="*/ 1690688 h 1690688"/>
              <a:gd name="connsiteX3" fmla="*/ 0 w 1690688"/>
              <a:gd name="connsiteY3" fmla="*/ 845344 h 1690688"/>
              <a:gd name="connsiteX4" fmla="*/ 845344 w 1690688"/>
              <a:gd name="connsiteY4" fmla="*/ 0 h 1690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688" h="1690688">
                <a:moveTo>
                  <a:pt x="845344" y="0"/>
                </a:moveTo>
                <a:cubicBezTo>
                  <a:pt x="1312215" y="0"/>
                  <a:pt x="1690688" y="378473"/>
                  <a:pt x="1690688" y="845344"/>
                </a:cubicBezTo>
                <a:cubicBezTo>
                  <a:pt x="1690688" y="1312215"/>
                  <a:pt x="1312215" y="1690688"/>
                  <a:pt x="845344" y="1690688"/>
                </a:cubicBezTo>
                <a:cubicBezTo>
                  <a:pt x="378473" y="1690688"/>
                  <a:pt x="0" y="1312215"/>
                  <a:pt x="0" y="845344"/>
                </a:cubicBezTo>
                <a:cubicBezTo>
                  <a:pt x="0" y="378473"/>
                  <a:pt x="378473" y="0"/>
                  <a:pt x="845344" y="0"/>
                </a:cubicBezTo>
                <a:close/>
              </a:path>
            </a:pathLst>
          </a:custGeom>
          <a:ln w="38100">
            <a:solidFill>
              <a:schemeClr val="accent1"/>
            </a:solidFill>
          </a:ln>
        </p:spPr>
        <p:txBody>
          <a:bodyPr wrap="square">
            <a:noAutofit/>
          </a:bodyPr>
          <a:lstStyle/>
          <a:p>
            <a:endParaRPr lang="zh-CN" altLang="en-US"/>
          </a:p>
        </p:txBody>
      </p:sp>
    </p:spTree>
    <p:extLst>
      <p:ext uri="{BB962C8B-B14F-4D97-AF65-F5344CB8AC3E}">
        <p14:creationId xmlns:p14="http://schemas.microsoft.com/office/powerpoint/2010/main" val="549831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1309622" y="1880176"/>
            <a:ext cx="9462483" cy="3300980"/>
          </a:xfrm>
          <a:custGeom>
            <a:avLst/>
            <a:gdLst>
              <a:gd name="connsiteX0" fmla="*/ 8321436 w 9462483"/>
              <a:gd name="connsiteY0" fmla="*/ 2246028 h 3300980"/>
              <a:gd name="connsiteX1" fmla="*/ 9378424 w 9462483"/>
              <a:gd name="connsiteY1" fmla="*/ 2246028 h 3300980"/>
              <a:gd name="connsiteX2" fmla="*/ 9462483 w 9462483"/>
              <a:gd name="connsiteY2" fmla="*/ 2330087 h 3300980"/>
              <a:gd name="connsiteX3" fmla="*/ 9462483 w 9462483"/>
              <a:gd name="connsiteY3" fmla="*/ 3216922 h 3300980"/>
              <a:gd name="connsiteX4" fmla="*/ 9378424 w 9462483"/>
              <a:gd name="connsiteY4" fmla="*/ 3300980 h 3300980"/>
              <a:gd name="connsiteX5" fmla="*/ 8321436 w 9462483"/>
              <a:gd name="connsiteY5" fmla="*/ 3300980 h 3300980"/>
              <a:gd name="connsiteX6" fmla="*/ 8237378 w 9462483"/>
              <a:gd name="connsiteY6" fmla="*/ 3216922 h 3300980"/>
              <a:gd name="connsiteX7" fmla="*/ 8237378 w 9462483"/>
              <a:gd name="connsiteY7" fmla="*/ 2330087 h 3300980"/>
              <a:gd name="connsiteX8" fmla="*/ 8321436 w 9462483"/>
              <a:gd name="connsiteY8" fmla="*/ 2246028 h 3300980"/>
              <a:gd name="connsiteX9" fmla="*/ 6948864 w 9462483"/>
              <a:gd name="connsiteY9" fmla="*/ 2246028 h 3300980"/>
              <a:gd name="connsiteX10" fmla="*/ 8005852 w 9462483"/>
              <a:gd name="connsiteY10" fmla="*/ 2246028 h 3300980"/>
              <a:gd name="connsiteX11" fmla="*/ 8089911 w 9462483"/>
              <a:gd name="connsiteY11" fmla="*/ 2330087 h 3300980"/>
              <a:gd name="connsiteX12" fmla="*/ 8089911 w 9462483"/>
              <a:gd name="connsiteY12" fmla="*/ 3216922 h 3300980"/>
              <a:gd name="connsiteX13" fmla="*/ 8005852 w 9462483"/>
              <a:gd name="connsiteY13" fmla="*/ 3300980 h 3300980"/>
              <a:gd name="connsiteX14" fmla="*/ 6948864 w 9462483"/>
              <a:gd name="connsiteY14" fmla="*/ 3300980 h 3300980"/>
              <a:gd name="connsiteX15" fmla="*/ 6864805 w 9462483"/>
              <a:gd name="connsiteY15" fmla="*/ 3216922 h 3300980"/>
              <a:gd name="connsiteX16" fmla="*/ 6864805 w 9462483"/>
              <a:gd name="connsiteY16" fmla="*/ 2330087 h 3300980"/>
              <a:gd name="connsiteX17" fmla="*/ 6948864 w 9462483"/>
              <a:gd name="connsiteY17" fmla="*/ 2246028 h 3300980"/>
              <a:gd name="connsiteX18" fmla="*/ 5564622 w 9462483"/>
              <a:gd name="connsiteY18" fmla="*/ 2246028 h 3300980"/>
              <a:gd name="connsiteX19" fmla="*/ 6621610 w 9462483"/>
              <a:gd name="connsiteY19" fmla="*/ 2246028 h 3300980"/>
              <a:gd name="connsiteX20" fmla="*/ 6705669 w 9462483"/>
              <a:gd name="connsiteY20" fmla="*/ 2330087 h 3300980"/>
              <a:gd name="connsiteX21" fmla="*/ 6705669 w 9462483"/>
              <a:gd name="connsiteY21" fmla="*/ 3216921 h 3300980"/>
              <a:gd name="connsiteX22" fmla="*/ 6621610 w 9462483"/>
              <a:gd name="connsiteY22" fmla="*/ 3300980 h 3300980"/>
              <a:gd name="connsiteX23" fmla="*/ 5564622 w 9462483"/>
              <a:gd name="connsiteY23" fmla="*/ 3300980 h 3300980"/>
              <a:gd name="connsiteX24" fmla="*/ 5480563 w 9462483"/>
              <a:gd name="connsiteY24" fmla="*/ 3216921 h 3300980"/>
              <a:gd name="connsiteX25" fmla="*/ 5480563 w 9462483"/>
              <a:gd name="connsiteY25" fmla="*/ 2330087 h 3300980"/>
              <a:gd name="connsiteX26" fmla="*/ 5564622 w 9462483"/>
              <a:gd name="connsiteY26" fmla="*/ 2246028 h 3300980"/>
              <a:gd name="connsiteX27" fmla="*/ 4205665 w 9462483"/>
              <a:gd name="connsiteY27" fmla="*/ 2246028 h 3300980"/>
              <a:gd name="connsiteX28" fmla="*/ 5262653 w 9462483"/>
              <a:gd name="connsiteY28" fmla="*/ 2246028 h 3300980"/>
              <a:gd name="connsiteX29" fmla="*/ 5346712 w 9462483"/>
              <a:gd name="connsiteY29" fmla="*/ 2330087 h 3300980"/>
              <a:gd name="connsiteX30" fmla="*/ 5346712 w 9462483"/>
              <a:gd name="connsiteY30" fmla="*/ 3216921 h 3300980"/>
              <a:gd name="connsiteX31" fmla="*/ 5262653 w 9462483"/>
              <a:gd name="connsiteY31" fmla="*/ 3300980 h 3300980"/>
              <a:gd name="connsiteX32" fmla="*/ 4205665 w 9462483"/>
              <a:gd name="connsiteY32" fmla="*/ 3300980 h 3300980"/>
              <a:gd name="connsiteX33" fmla="*/ 4121606 w 9462483"/>
              <a:gd name="connsiteY33" fmla="*/ 3216921 h 3300980"/>
              <a:gd name="connsiteX34" fmla="*/ 4121606 w 9462483"/>
              <a:gd name="connsiteY34" fmla="*/ 2330087 h 3300980"/>
              <a:gd name="connsiteX35" fmla="*/ 4205665 w 9462483"/>
              <a:gd name="connsiteY35" fmla="*/ 2246028 h 3300980"/>
              <a:gd name="connsiteX36" fmla="*/ 8321436 w 9462483"/>
              <a:gd name="connsiteY36" fmla="*/ 1123014 h 3300980"/>
              <a:gd name="connsiteX37" fmla="*/ 9378424 w 9462483"/>
              <a:gd name="connsiteY37" fmla="*/ 1123014 h 3300980"/>
              <a:gd name="connsiteX38" fmla="*/ 9462483 w 9462483"/>
              <a:gd name="connsiteY38" fmla="*/ 1207073 h 3300980"/>
              <a:gd name="connsiteX39" fmla="*/ 9462483 w 9462483"/>
              <a:gd name="connsiteY39" fmla="*/ 2093908 h 3300980"/>
              <a:gd name="connsiteX40" fmla="*/ 9378424 w 9462483"/>
              <a:gd name="connsiteY40" fmla="*/ 2177966 h 3300980"/>
              <a:gd name="connsiteX41" fmla="*/ 8321436 w 9462483"/>
              <a:gd name="connsiteY41" fmla="*/ 2177966 h 3300980"/>
              <a:gd name="connsiteX42" fmla="*/ 8237378 w 9462483"/>
              <a:gd name="connsiteY42" fmla="*/ 2093908 h 3300980"/>
              <a:gd name="connsiteX43" fmla="*/ 8237378 w 9462483"/>
              <a:gd name="connsiteY43" fmla="*/ 1207073 h 3300980"/>
              <a:gd name="connsiteX44" fmla="*/ 8321436 w 9462483"/>
              <a:gd name="connsiteY44" fmla="*/ 1123014 h 3300980"/>
              <a:gd name="connsiteX45" fmla="*/ 6948864 w 9462483"/>
              <a:gd name="connsiteY45" fmla="*/ 1123014 h 3300980"/>
              <a:gd name="connsiteX46" fmla="*/ 8005852 w 9462483"/>
              <a:gd name="connsiteY46" fmla="*/ 1123014 h 3300980"/>
              <a:gd name="connsiteX47" fmla="*/ 8089911 w 9462483"/>
              <a:gd name="connsiteY47" fmla="*/ 1207073 h 3300980"/>
              <a:gd name="connsiteX48" fmla="*/ 8089911 w 9462483"/>
              <a:gd name="connsiteY48" fmla="*/ 2093908 h 3300980"/>
              <a:gd name="connsiteX49" fmla="*/ 8005852 w 9462483"/>
              <a:gd name="connsiteY49" fmla="*/ 2177966 h 3300980"/>
              <a:gd name="connsiteX50" fmla="*/ 6948864 w 9462483"/>
              <a:gd name="connsiteY50" fmla="*/ 2177966 h 3300980"/>
              <a:gd name="connsiteX51" fmla="*/ 6864805 w 9462483"/>
              <a:gd name="connsiteY51" fmla="*/ 2093908 h 3300980"/>
              <a:gd name="connsiteX52" fmla="*/ 6864805 w 9462483"/>
              <a:gd name="connsiteY52" fmla="*/ 1207073 h 3300980"/>
              <a:gd name="connsiteX53" fmla="*/ 6948864 w 9462483"/>
              <a:gd name="connsiteY53" fmla="*/ 1123014 h 3300980"/>
              <a:gd name="connsiteX54" fmla="*/ 5576292 w 9462483"/>
              <a:gd name="connsiteY54" fmla="*/ 1123014 h 3300980"/>
              <a:gd name="connsiteX55" fmla="*/ 6633280 w 9462483"/>
              <a:gd name="connsiteY55" fmla="*/ 1123014 h 3300980"/>
              <a:gd name="connsiteX56" fmla="*/ 6717339 w 9462483"/>
              <a:gd name="connsiteY56" fmla="*/ 1207073 h 3300980"/>
              <a:gd name="connsiteX57" fmla="*/ 6717339 w 9462483"/>
              <a:gd name="connsiteY57" fmla="*/ 2093908 h 3300980"/>
              <a:gd name="connsiteX58" fmla="*/ 6633280 w 9462483"/>
              <a:gd name="connsiteY58" fmla="*/ 2177966 h 3300980"/>
              <a:gd name="connsiteX59" fmla="*/ 5576292 w 9462483"/>
              <a:gd name="connsiteY59" fmla="*/ 2177966 h 3300980"/>
              <a:gd name="connsiteX60" fmla="*/ 5492233 w 9462483"/>
              <a:gd name="connsiteY60" fmla="*/ 2093908 h 3300980"/>
              <a:gd name="connsiteX61" fmla="*/ 5492233 w 9462483"/>
              <a:gd name="connsiteY61" fmla="*/ 1207073 h 3300980"/>
              <a:gd name="connsiteX62" fmla="*/ 5576292 w 9462483"/>
              <a:gd name="connsiteY62" fmla="*/ 1123014 h 3300980"/>
              <a:gd name="connsiteX63" fmla="*/ 4203721 w 9462483"/>
              <a:gd name="connsiteY63" fmla="*/ 1123014 h 3300980"/>
              <a:gd name="connsiteX64" fmla="*/ 5260708 w 9462483"/>
              <a:gd name="connsiteY64" fmla="*/ 1123014 h 3300980"/>
              <a:gd name="connsiteX65" fmla="*/ 5344767 w 9462483"/>
              <a:gd name="connsiteY65" fmla="*/ 1207073 h 3300980"/>
              <a:gd name="connsiteX66" fmla="*/ 5344767 w 9462483"/>
              <a:gd name="connsiteY66" fmla="*/ 2093908 h 3300980"/>
              <a:gd name="connsiteX67" fmla="*/ 5260708 w 9462483"/>
              <a:gd name="connsiteY67" fmla="*/ 2177966 h 3300980"/>
              <a:gd name="connsiteX68" fmla="*/ 4203721 w 9462483"/>
              <a:gd name="connsiteY68" fmla="*/ 2177966 h 3300980"/>
              <a:gd name="connsiteX69" fmla="*/ 4119661 w 9462483"/>
              <a:gd name="connsiteY69" fmla="*/ 2093908 h 3300980"/>
              <a:gd name="connsiteX70" fmla="*/ 4119661 w 9462483"/>
              <a:gd name="connsiteY70" fmla="*/ 1207073 h 3300980"/>
              <a:gd name="connsiteX71" fmla="*/ 4203721 w 9462483"/>
              <a:gd name="connsiteY71" fmla="*/ 1123014 h 3300980"/>
              <a:gd name="connsiteX72" fmla="*/ 2831148 w 9462483"/>
              <a:gd name="connsiteY72" fmla="*/ 1123014 h 3300980"/>
              <a:gd name="connsiteX73" fmla="*/ 3888136 w 9462483"/>
              <a:gd name="connsiteY73" fmla="*/ 1123014 h 3300980"/>
              <a:gd name="connsiteX74" fmla="*/ 3972195 w 9462483"/>
              <a:gd name="connsiteY74" fmla="*/ 1207073 h 3300980"/>
              <a:gd name="connsiteX75" fmla="*/ 3972195 w 9462483"/>
              <a:gd name="connsiteY75" fmla="*/ 2093908 h 3300980"/>
              <a:gd name="connsiteX76" fmla="*/ 3888136 w 9462483"/>
              <a:gd name="connsiteY76" fmla="*/ 2177966 h 3300980"/>
              <a:gd name="connsiteX77" fmla="*/ 2831148 w 9462483"/>
              <a:gd name="connsiteY77" fmla="*/ 2177966 h 3300980"/>
              <a:gd name="connsiteX78" fmla="*/ 2747090 w 9462483"/>
              <a:gd name="connsiteY78" fmla="*/ 2093908 h 3300980"/>
              <a:gd name="connsiteX79" fmla="*/ 2747090 w 9462483"/>
              <a:gd name="connsiteY79" fmla="*/ 1207073 h 3300980"/>
              <a:gd name="connsiteX80" fmla="*/ 2831148 w 9462483"/>
              <a:gd name="connsiteY80" fmla="*/ 1123014 h 3300980"/>
              <a:gd name="connsiteX81" fmla="*/ 1458577 w 9462483"/>
              <a:gd name="connsiteY81" fmla="*/ 1113286 h 3300980"/>
              <a:gd name="connsiteX82" fmla="*/ 2515565 w 9462483"/>
              <a:gd name="connsiteY82" fmla="*/ 1113286 h 3300980"/>
              <a:gd name="connsiteX83" fmla="*/ 2599624 w 9462483"/>
              <a:gd name="connsiteY83" fmla="*/ 1197345 h 3300980"/>
              <a:gd name="connsiteX84" fmla="*/ 2599624 w 9462483"/>
              <a:gd name="connsiteY84" fmla="*/ 2084179 h 3300980"/>
              <a:gd name="connsiteX85" fmla="*/ 2515565 w 9462483"/>
              <a:gd name="connsiteY85" fmla="*/ 2168238 h 3300980"/>
              <a:gd name="connsiteX86" fmla="*/ 1458577 w 9462483"/>
              <a:gd name="connsiteY86" fmla="*/ 2168238 h 3300980"/>
              <a:gd name="connsiteX87" fmla="*/ 1374519 w 9462483"/>
              <a:gd name="connsiteY87" fmla="*/ 2084179 h 3300980"/>
              <a:gd name="connsiteX88" fmla="*/ 1374519 w 9462483"/>
              <a:gd name="connsiteY88" fmla="*/ 1197345 h 3300980"/>
              <a:gd name="connsiteX89" fmla="*/ 1458577 w 9462483"/>
              <a:gd name="connsiteY89" fmla="*/ 1113286 h 3300980"/>
              <a:gd name="connsiteX90" fmla="*/ 96690 w 9462483"/>
              <a:gd name="connsiteY90" fmla="*/ 1113286 h 3300980"/>
              <a:gd name="connsiteX91" fmla="*/ 1153678 w 9462483"/>
              <a:gd name="connsiteY91" fmla="*/ 1113286 h 3300980"/>
              <a:gd name="connsiteX92" fmla="*/ 1237737 w 9462483"/>
              <a:gd name="connsiteY92" fmla="*/ 1197345 h 3300980"/>
              <a:gd name="connsiteX93" fmla="*/ 1237737 w 9462483"/>
              <a:gd name="connsiteY93" fmla="*/ 2084179 h 3300980"/>
              <a:gd name="connsiteX94" fmla="*/ 1153678 w 9462483"/>
              <a:gd name="connsiteY94" fmla="*/ 2168238 h 3300980"/>
              <a:gd name="connsiteX95" fmla="*/ 96690 w 9462483"/>
              <a:gd name="connsiteY95" fmla="*/ 2168238 h 3300980"/>
              <a:gd name="connsiteX96" fmla="*/ 12631 w 9462483"/>
              <a:gd name="connsiteY96" fmla="*/ 2084179 h 3300980"/>
              <a:gd name="connsiteX97" fmla="*/ 12631 w 9462483"/>
              <a:gd name="connsiteY97" fmla="*/ 1197345 h 3300980"/>
              <a:gd name="connsiteX98" fmla="*/ 96690 w 9462483"/>
              <a:gd name="connsiteY98" fmla="*/ 1113286 h 3300980"/>
              <a:gd name="connsiteX99" fmla="*/ 8321436 w 9462483"/>
              <a:gd name="connsiteY99" fmla="*/ 0 h 3300980"/>
              <a:gd name="connsiteX100" fmla="*/ 9378424 w 9462483"/>
              <a:gd name="connsiteY100" fmla="*/ 0 h 3300980"/>
              <a:gd name="connsiteX101" fmla="*/ 9462483 w 9462483"/>
              <a:gd name="connsiteY101" fmla="*/ 84059 h 3300980"/>
              <a:gd name="connsiteX102" fmla="*/ 9462483 w 9462483"/>
              <a:gd name="connsiteY102" fmla="*/ 970893 h 3300980"/>
              <a:gd name="connsiteX103" fmla="*/ 9378424 w 9462483"/>
              <a:gd name="connsiteY103" fmla="*/ 1054952 h 3300980"/>
              <a:gd name="connsiteX104" fmla="*/ 8321436 w 9462483"/>
              <a:gd name="connsiteY104" fmla="*/ 1054952 h 3300980"/>
              <a:gd name="connsiteX105" fmla="*/ 8237378 w 9462483"/>
              <a:gd name="connsiteY105" fmla="*/ 970893 h 3300980"/>
              <a:gd name="connsiteX106" fmla="*/ 8237378 w 9462483"/>
              <a:gd name="connsiteY106" fmla="*/ 84059 h 3300980"/>
              <a:gd name="connsiteX107" fmla="*/ 8321436 w 9462483"/>
              <a:gd name="connsiteY107" fmla="*/ 0 h 3300980"/>
              <a:gd name="connsiteX108" fmla="*/ 6948864 w 9462483"/>
              <a:gd name="connsiteY108" fmla="*/ 0 h 3300980"/>
              <a:gd name="connsiteX109" fmla="*/ 8005852 w 9462483"/>
              <a:gd name="connsiteY109" fmla="*/ 0 h 3300980"/>
              <a:gd name="connsiteX110" fmla="*/ 8089911 w 9462483"/>
              <a:gd name="connsiteY110" fmla="*/ 84059 h 3300980"/>
              <a:gd name="connsiteX111" fmla="*/ 8089911 w 9462483"/>
              <a:gd name="connsiteY111" fmla="*/ 970893 h 3300980"/>
              <a:gd name="connsiteX112" fmla="*/ 8005852 w 9462483"/>
              <a:gd name="connsiteY112" fmla="*/ 1054952 h 3300980"/>
              <a:gd name="connsiteX113" fmla="*/ 6948864 w 9462483"/>
              <a:gd name="connsiteY113" fmla="*/ 1054952 h 3300980"/>
              <a:gd name="connsiteX114" fmla="*/ 6864805 w 9462483"/>
              <a:gd name="connsiteY114" fmla="*/ 970893 h 3300980"/>
              <a:gd name="connsiteX115" fmla="*/ 6864805 w 9462483"/>
              <a:gd name="connsiteY115" fmla="*/ 84059 h 3300980"/>
              <a:gd name="connsiteX116" fmla="*/ 6948864 w 9462483"/>
              <a:gd name="connsiteY116" fmla="*/ 0 h 3300980"/>
              <a:gd name="connsiteX117" fmla="*/ 5576292 w 9462483"/>
              <a:gd name="connsiteY117" fmla="*/ 0 h 3300980"/>
              <a:gd name="connsiteX118" fmla="*/ 6633280 w 9462483"/>
              <a:gd name="connsiteY118" fmla="*/ 0 h 3300980"/>
              <a:gd name="connsiteX119" fmla="*/ 6717339 w 9462483"/>
              <a:gd name="connsiteY119" fmla="*/ 84059 h 3300980"/>
              <a:gd name="connsiteX120" fmla="*/ 6717339 w 9462483"/>
              <a:gd name="connsiteY120" fmla="*/ 970893 h 3300980"/>
              <a:gd name="connsiteX121" fmla="*/ 6633280 w 9462483"/>
              <a:gd name="connsiteY121" fmla="*/ 1054952 h 3300980"/>
              <a:gd name="connsiteX122" fmla="*/ 5576292 w 9462483"/>
              <a:gd name="connsiteY122" fmla="*/ 1054952 h 3300980"/>
              <a:gd name="connsiteX123" fmla="*/ 5492233 w 9462483"/>
              <a:gd name="connsiteY123" fmla="*/ 970893 h 3300980"/>
              <a:gd name="connsiteX124" fmla="*/ 5492233 w 9462483"/>
              <a:gd name="connsiteY124" fmla="*/ 84059 h 3300980"/>
              <a:gd name="connsiteX125" fmla="*/ 5576292 w 9462483"/>
              <a:gd name="connsiteY125" fmla="*/ 0 h 3300980"/>
              <a:gd name="connsiteX126" fmla="*/ 4203721 w 9462483"/>
              <a:gd name="connsiteY126" fmla="*/ 0 h 3300980"/>
              <a:gd name="connsiteX127" fmla="*/ 5260708 w 9462483"/>
              <a:gd name="connsiteY127" fmla="*/ 0 h 3300980"/>
              <a:gd name="connsiteX128" fmla="*/ 5344767 w 9462483"/>
              <a:gd name="connsiteY128" fmla="*/ 84059 h 3300980"/>
              <a:gd name="connsiteX129" fmla="*/ 5344767 w 9462483"/>
              <a:gd name="connsiteY129" fmla="*/ 970893 h 3300980"/>
              <a:gd name="connsiteX130" fmla="*/ 5260708 w 9462483"/>
              <a:gd name="connsiteY130" fmla="*/ 1054952 h 3300980"/>
              <a:gd name="connsiteX131" fmla="*/ 4203721 w 9462483"/>
              <a:gd name="connsiteY131" fmla="*/ 1054952 h 3300980"/>
              <a:gd name="connsiteX132" fmla="*/ 4119661 w 9462483"/>
              <a:gd name="connsiteY132" fmla="*/ 970893 h 3300980"/>
              <a:gd name="connsiteX133" fmla="*/ 4119661 w 9462483"/>
              <a:gd name="connsiteY133" fmla="*/ 84059 h 3300980"/>
              <a:gd name="connsiteX134" fmla="*/ 4203721 w 9462483"/>
              <a:gd name="connsiteY134" fmla="*/ 0 h 3300980"/>
              <a:gd name="connsiteX135" fmla="*/ 2831148 w 9462483"/>
              <a:gd name="connsiteY135" fmla="*/ 0 h 3300980"/>
              <a:gd name="connsiteX136" fmla="*/ 3888136 w 9462483"/>
              <a:gd name="connsiteY136" fmla="*/ 0 h 3300980"/>
              <a:gd name="connsiteX137" fmla="*/ 3972195 w 9462483"/>
              <a:gd name="connsiteY137" fmla="*/ 84059 h 3300980"/>
              <a:gd name="connsiteX138" fmla="*/ 3972195 w 9462483"/>
              <a:gd name="connsiteY138" fmla="*/ 970893 h 3300980"/>
              <a:gd name="connsiteX139" fmla="*/ 3888136 w 9462483"/>
              <a:gd name="connsiteY139" fmla="*/ 1054952 h 3300980"/>
              <a:gd name="connsiteX140" fmla="*/ 2831148 w 9462483"/>
              <a:gd name="connsiteY140" fmla="*/ 1054952 h 3300980"/>
              <a:gd name="connsiteX141" fmla="*/ 2747090 w 9462483"/>
              <a:gd name="connsiteY141" fmla="*/ 970893 h 3300980"/>
              <a:gd name="connsiteX142" fmla="*/ 2747090 w 9462483"/>
              <a:gd name="connsiteY142" fmla="*/ 84059 h 3300980"/>
              <a:gd name="connsiteX143" fmla="*/ 2831148 w 9462483"/>
              <a:gd name="connsiteY143" fmla="*/ 0 h 3300980"/>
              <a:gd name="connsiteX144" fmla="*/ 1458576 w 9462483"/>
              <a:gd name="connsiteY144" fmla="*/ 0 h 3300980"/>
              <a:gd name="connsiteX145" fmla="*/ 2515564 w 9462483"/>
              <a:gd name="connsiteY145" fmla="*/ 0 h 3300980"/>
              <a:gd name="connsiteX146" fmla="*/ 2599624 w 9462483"/>
              <a:gd name="connsiteY146" fmla="*/ 84059 h 3300980"/>
              <a:gd name="connsiteX147" fmla="*/ 2599624 w 9462483"/>
              <a:gd name="connsiteY147" fmla="*/ 970893 h 3300980"/>
              <a:gd name="connsiteX148" fmla="*/ 2515564 w 9462483"/>
              <a:gd name="connsiteY148" fmla="*/ 1054952 h 3300980"/>
              <a:gd name="connsiteX149" fmla="*/ 1458576 w 9462483"/>
              <a:gd name="connsiteY149" fmla="*/ 1054952 h 3300980"/>
              <a:gd name="connsiteX150" fmla="*/ 1374517 w 9462483"/>
              <a:gd name="connsiteY150" fmla="*/ 970893 h 3300980"/>
              <a:gd name="connsiteX151" fmla="*/ 1374517 w 9462483"/>
              <a:gd name="connsiteY151" fmla="*/ 84059 h 3300980"/>
              <a:gd name="connsiteX152" fmla="*/ 1458576 w 9462483"/>
              <a:gd name="connsiteY152" fmla="*/ 0 h 3300980"/>
              <a:gd name="connsiteX153" fmla="*/ 84059 w 9462483"/>
              <a:gd name="connsiteY153" fmla="*/ 0 h 3300980"/>
              <a:gd name="connsiteX154" fmla="*/ 1141047 w 9462483"/>
              <a:gd name="connsiteY154" fmla="*/ 0 h 3300980"/>
              <a:gd name="connsiteX155" fmla="*/ 1225106 w 9462483"/>
              <a:gd name="connsiteY155" fmla="*/ 84059 h 3300980"/>
              <a:gd name="connsiteX156" fmla="*/ 1225106 w 9462483"/>
              <a:gd name="connsiteY156" fmla="*/ 970893 h 3300980"/>
              <a:gd name="connsiteX157" fmla="*/ 1141047 w 9462483"/>
              <a:gd name="connsiteY157" fmla="*/ 1054952 h 3300980"/>
              <a:gd name="connsiteX158" fmla="*/ 84059 w 9462483"/>
              <a:gd name="connsiteY158" fmla="*/ 1054952 h 3300980"/>
              <a:gd name="connsiteX159" fmla="*/ 0 w 9462483"/>
              <a:gd name="connsiteY159" fmla="*/ 970893 h 3300980"/>
              <a:gd name="connsiteX160" fmla="*/ 0 w 9462483"/>
              <a:gd name="connsiteY160" fmla="*/ 84059 h 3300980"/>
              <a:gd name="connsiteX161" fmla="*/ 84059 w 9462483"/>
              <a:gd name="connsiteY161" fmla="*/ 0 h 330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9462483" h="3300980">
                <a:moveTo>
                  <a:pt x="8321436" y="2246028"/>
                </a:moveTo>
                <a:lnTo>
                  <a:pt x="9378424" y="2246028"/>
                </a:lnTo>
                <a:cubicBezTo>
                  <a:pt x="9424849" y="2246028"/>
                  <a:pt x="9462483" y="2283662"/>
                  <a:pt x="9462483" y="2330087"/>
                </a:cubicBezTo>
                <a:lnTo>
                  <a:pt x="9462483" y="3216922"/>
                </a:lnTo>
                <a:cubicBezTo>
                  <a:pt x="9462483" y="3263346"/>
                  <a:pt x="9424849" y="3300980"/>
                  <a:pt x="9378424" y="3300980"/>
                </a:cubicBezTo>
                <a:lnTo>
                  <a:pt x="8321436" y="3300980"/>
                </a:lnTo>
                <a:cubicBezTo>
                  <a:pt x="8275011" y="3300980"/>
                  <a:pt x="8237378" y="3263346"/>
                  <a:pt x="8237378" y="3216922"/>
                </a:cubicBezTo>
                <a:lnTo>
                  <a:pt x="8237378" y="2330087"/>
                </a:lnTo>
                <a:cubicBezTo>
                  <a:pt x="8237378" y="2283662"/>
                  <a:pt x="8275011" y="2246028"/>
                  <a:pt x="8321436" y="2246028"/>
                </a:cubicBezTo>
                <a:close/>
                <a:moveTo>
                  <a:pt x="6948864" y="2246028"/>
                </a:moveTo>
                <a:lnTo>
                  <a:pt x="8005852" y="2246028"/>
                </a:lnTo>
                <a:cubicBezTo>
                  <a:pt x="8052277" y="2246028"/>
                  <a:pt x="8089911" y="2283662"/>
                  <a:pt x="8089911" y="2330087"/>
                </a:cubicBezTo>
                <a:lnTo>
                  <a:pt x="8089911" y="3216922"/>
                </a:lnTo>
                <a:cubicBezTo>
                  <a:pt x="8089911" y="3263346"/>
                  <a:pt x="8052277" y="3300980"/>
                  <a:pt x="8005852" y="3300980"/>
                </a:cubicBezTo>
                <a:lnTo>
                  <a:pt x="6948864" y="3300980"/>
                </a:lnTo>
                <a:cubicBezTo>
                  <a:pt x="6902439" y="3300980"/>
                  <a:pt x="6864805" y="3263346"/>
                  <a:pt x="6864805" y="3216922"/>
                </a:cubicBezTo>
                <a:lnTo>
                  <a:pt x="6864805" y="2330087"/>
                </a:lnTo>
                <a:cubicBezTo>
                  <a:pt x="6864805" y="2283662"/>
                  <a:pt x="6902439" y="2246028"/>
                  <a:pt x="6948864" y="2246028"/>
                </a:cubicBezTo>
                <a:close/>
                <a:moveTo>
                  <a:pt x="5564622" y="2246028"/>
                </a:moveTo>
                <a:lnTo>
                  <a:pt x="6621610" y="2246028"/>
                </a:lnTo>
                <a:cubicBezTo>
                  <a:pt x="6668035" y="2246028"/>
                  <a:pt x="6705669" y="2283662"/>
                  <a:pt x="6705669" y="2330087"/>
                </a:cubicBezTo>
                <a:lnTo>
                  <a:pt x="6705669" y="3216921"/>
                </a:lnTo>
                <a:cubicBezTo>
                  <a:pt x="6705669" y="3263346"/>
                  <a:pt x="6668035" y="3300980"/>
                  <a:pt x="6621610" y="3300980"/>
                </a:cubicBezTo>
                <a:lnTo>
                  <a:pt x="5564622" y="3300980"/>
                </a:lnTo>
                <a:cubicBezTo>
                  <a:pt x="5518197" y="3300980"/>
                  <a:pt x="5480563" y="3263346"/>
                  <a:pt x="5480563" y="3216921"/>
                </a:cubicBezTo>
                <a:lnTo>
                  <a:pt x="5480563" y="2330087"/>
                </a:lnTo>
                <a:cubicBezTo>
                  <a:pt x="5480563" y="2283662"/>
                  <a:pt x="5518197" y="2246028"/>
                  <a:pt x="5564622" y="2246028"/>
                </a:cubicBezTo>
                <a:close/>
                <a:moveTo>
                  <a:pt x="4205665" y="2246028"/>
                </a:moveTo>
                <a:lnTo>
                  <a:pt x="5262653" y="2246028"/>
                </a:lnTo>
                <a:cubicBezTo>
                  <a:pt x="5309078" y="2246028"/>
                  <a:pt x="5346712" y="2283662"/>
                  <a:pt x="5346712" y="2330087"/>
                </a:cubicBezTo>
                <a:lnTo>
                  <a:pt x="5346712" y="3216921"/>
                </a:lnTo>
                <a:cubicBezTo>
                  <a:pt x="5346712" y="3263346"/>
                  <a:pt x="5309078" y="3300980"/>
                  <a:pt x="5262653" y="3300980"/>
                </a:cubicBezTo>
                <a:lnTo>
                  <a:pt x="4205665" y="3300980"/>
                </a:lnTo>
                <a:cubicBezTo>
                  <a:pt x="4159240" y="3300980"/>
                  <a:pt x="4121606" y="3263346"/>
                  <a:pt x="4121606" y="3216921"/>
                </a:cubicBezTo>
                <a:lnTo>
                  <a:pt x="4121606" y="2330087"/>
                </a:lnTo>
                <a:cubicBezTo>
                  <a:pt x="4121606" y="2283662"/>
                  <a:pt x="4159240" y="2246028"/>
                  <a:pt x="4205665" y="2246028"/>
                </a:cubicBezTo>
                <a:close/>
                <a:moveTo>
                  <a:pt x="8321436" y="1123014"/>
                </a:moveTo>
                <a:lnTo>
                  <a:pt x="9378424" y="1123014"/>
                </a:lnTo>
                <a:cubicBezTo>
                  <a:pt x="9424849" y="1123014"/>
                  <a:pt x="9462483" y="1160648"/>
                  <a:pt x="9462483" y="1207073"/>
                </a:cubicBezTo>
                <a:lnTo>
                  <a:pt x="9462483" y="2093908"/>
                </a:lnTo>
                <a:cubicBezTo>
                  <a:pt x="9462483" y="2140332"/>
                  <a:pt x="9424849" y="2177966"/>
                  <a:pt x="9378424" y="2177966"/>
                </a:cubicBezTo>
                <a:lnTo>
                  <a:pt x="8321436" y="2177966"/>
                </a:lnTo>
                <a:cubicBezTo>
                  <a:pt x="8275011" y="2177966"/>
                  <a:pt x="8237378" y="2140332"/>
                  <a:pt x="8237378" y="2093908"/>
                </a:cubicBezTo>
                <a:lnTo>
                  <a:pt x="8237378" y="1207073"/>
                </a:lnTo>
                <a:cubicBezTo>
                  <a:pt x="8237378" y="1160648"/>
                  <a:pt x="8275011" y="1123014"/>
                  <a:pt x="8321436" y="1123014"/>
                </a:cubicBezTo>
                <a:close/>
                <a:moveTo>
                  <a:pt x="6948864" y="1123014"/>
                </a:moveTo>
                <a:lnTo>
                  <a:pt x="8005852" y="1123014"/>
                </a:lnTo>
                <a:cubicBezTo>
                  <a:pt x="8052277" y="1123014"/>
                  <a:pt x="8089911" y="1160648"/>
                  <a:pt x="8089911" y="1207073"/>
                </a:cubicBezTo>
                <a:lnTo>
                  <a:pt x="8089911" y="2093908"/>
                </a:lnTo>
                <a:cubicBezTo>
                  <a:pt x="8089911" y="2140332"/>
                  <a:pt x="8052277" y="2177966"/>
                  <a:pt x="8005852" y="2177966"/>
                </a:cubicBezTo>
                <a:lnTo>
                  <a:pt x="6948864" y="2177966"/>
                </a:lnTo>
                <a:cubicBezTo>
                  <a:pt x="6902439" y="2177966"/>
                  <a:pt x="6864805" y="2140332"/>
                  <a:pt x="6864805" y="2093908"/>
                </a:cubicBezTo>
                <a:lnTo>
                  <a:pt x="6864805" y="1207073"/>
                </a:lnTo>
                <a:cubicBezTo>
                  <a:pt x="6864805" y="1160648"/>
                  <a:pt x="6902439" y="1123014"/>
                  <a:pt x="6948864" y="1123014"/>
                </a:cubicBezTo>
                <a:close/>
                <a:moveTo>
                  <a:pt x="5576292" y="1123014"/>
                </a:moveTo>
                <a:lnTo>
                  <a:pt x="6633280" y="1123014"/>
                </a:lnTo>
                <a:cubicBezTo>
                  <a:pt x="6679705" y="1123014"/>
                  <a:pt x="6717339" y="1160648"/>
                  <a:pt x="6717339" y="1207073"/>
                </a:cubicBezTo>
                <a:lnTo>
                  <a:pt x="6717339" y="2093908"/>
                </a:lnTo>
                <a:cubicBezTo>
                  <a:pt x="6717339" y="2140332"/>
                  <a:pt x="6679705" y="2177966"/>
                  <a:pt x="6633280" y="2177966"/>
                </a:cubicBezTo>
                <a:lnTo>
                  <a:pt x="5576292" y="2177966"/>
                </a:lnTo>
                <a:cubicBezTo>
                  <a:pt x="5529867" y="2177966"/>
                  <a:pt x="5492233" y="2140332"/>
                  <a:pt x="5492233" y="2093908"/>
                </a:cubicBezTo>
                <a:lnTo>
                  <a:pt x="5492233" y="1207073"/>
                </a:lnTo>
                <a:cubicBezTo>
                  <a:pt x="5492233" y="1160648"/>
                  <a:pt x="5529867" y="1123014"/>
                  <a:pt x="5576292" y="1123014"/>
                </a:cubicBezTo>
                <a:close/>
                <a:moveTo>
                  <a:pt x="4203721" y="1123014"/>
                </a:moveTo>
                <a:lnTo>
                  <a:pt x="5260708" y="1123014"/>
                </a:lnTo>
                <a:cubicBezTo>
                  <a:pt x="5307133" y="1123014"/>
                  <a:pt x="5344767" y="1160648"/>
                  <a:pt x="5344767" y="1207073"/>
                </a:cubicBezTo>
                <a:lnTo>
                  <a:pt x="5344767" y="2093908"/>
                </a:lnTo>
                <a:cubicBezTo>
                  <a:pt x="5344767" y="2140332"/>
                  <a:pt x="5307133" y="2177966"/>
                  <a:pt x="5260708" y="2177966"/>
                </a:cubicBezTo>
                <a:lnTo>
                  <a:pt x="4203721" y="2177966"/>
                </a:lnTo>
                <a:cubicBezTo>
                  <a:pt x="4157295" y="2177966"/>
                  <a:pt x="4119661" y="2140332"/>
                  <a:pt x="4119661" y="2093908"/>
                </a:cubicBezTo>
                <a:lnTo>
                  <a:pt x="4119661" y="1207073"/>
                </a:lnTo>
                <a:cubicBezTo>
                  <a:pt x="4119661" y="1160648"/>
                  <a:pt x="4157295" y="1123014"/>
                  <a:pt x="4203721" y="1123014"/>
                </a:cubicBezTo>
                <a:close/>
                <a:moveTo>
                  <a:pt x="2831148" y="1123014"/>
                </a:moveTo>
                <a:lnTo>
                  <a:pt x="3888136" y="1123014"/>
                </a:lnTo>
                <a:cubicBezTo>
                  <a:pt x="3934561" y="1123014"/>
                  <a:pt x="3972195" y="1160648"/>
                  <a:pt x="3972195" y="1207073"/>
                </a:cubicBezTo>
                <a:lnTo>
                  <a:pt x="3972195" y="2093908"/>
                </a:lnTo>
                <a:cubicBezTo>
                  <a:pt x="3972195" y="2140332"/>
                  <a:pt x="3934561" y="2177966"/>
                  <a:pt x="3888136" y="2177966"/>
                </a:cubicBezTo>
                <a:lnTo>
                  <a:pt x="2831148" y="2177966"/>
                </a:lnTo>
                <a:cubicBezTo>
                  <a:pt x="2784723" y="2177966"/>
                  <a:pt x="2747090" y="2140332"/>
                  <a:pt x="2747090" y="2093908"/>
                </a:cubicBezTo>
                <a:lnTo>
                  <a:pt x="2747090" y="1207073"/>
                </a:lnTo>
                <a:cubicBezTo>
                  <a:pt x="2747090" y="1160648"/>
                  <a:pt x="2784723" y="1123014"/>
                  <a:pt x="2831148" y="1123014"/>
                </a:cubicBezTo>
                <a:close/>
                <a:moveTo>
                  <a:pt x="1458577" y="1113286"/>
                </a:moveTo>
                <a:lnTo>
                  <a:pt x="2515565" y="1113286"/>
                </a:lnTo>
                <a:cubicBezTo>
                  <a:pt x="2561990" y="1113286"/>
                  <a:pt x="2599624" y="1150920"/>
                  <a:pt x="2599624" y="1197345"/>
                </a:cubicBezTo>
                <a:lnTo>
                  <a:pt x="2599624" y="2084179"/>
                </a:lnTo>
                <a:cubicBezTo>
                  <a:pt x="2599624" y="2130604"/>
                  <a:pt x="2561990" y="2168238"/>
                  <a:pt x="2515565" y="2168238"/>
                </a:cubicBezTo>
                <a:lnTo>
                  <a:pt x="1458577" y="2168238"/>
                </a:lnTo>
                <a:cubicBezTo>
                  <a:pt x="1412153" y="2168238"/>
                  <a:pt x="1374519" y="2130604"/>
                  <a:pt x="1374519" y="2084179"/>
                </a:cubicBezTo>
                <a:lnTo>
                  <a:pt x="1374519" y="1197345"/>
                </a:lnTo>
                <a:cubicBezTo>
                  <a:pt x="1374519" y="1150920"/>
                  <a:pt x="1412153" y="1113286"/>
                  <a:pt x="1458577" y="1113286"/>
                </a:cubicBezTo>
                <a:close/>
                <a:moveTo>
                  <a:pt x="96690" y="1113286"/>
                </a:moveTo>
                <a:lnTo>
                  <a:pt x="1153678" y="1113286"/>
                </a:lnTo>
                <a:cubicBezTo>
                  <a:pt x="1200103" y="1113286"/>
                  <a:pt x="1237737" y="1150920"/>
                  <a:pt x="1237737" y="1197345"/>
                </a:cubicBezTo>
                <a:lnTo>
                  <a:pt x="1237737" y="2084179"/>
                </a:lnTo>
                <a:cubicBezTo>
                  <a:pt x="1237737" y="2130604"/>
                  <a:pt x="1200103" y="2168238"/>
                  <a:pt x="1153678" y="2168238"/>
                </a:cubicBezTo>
                <a:lnTo>
                  <a:pt x="96690" y="2168238"/>
                </a:lnTo>
                <a:cubicBezTo>
                  <a:pt x="50265" y="2168238"/>
                  <a:pt x="12631" y="2130604"/>
                  <a:pt x="12631" y="2084179"/>
                </a:cubicBezTo>
                <a:lnTo>
                  <a:pt x="12631" y="1197345"/>
                </a:lnTo>
                <a:cubicBezTo>
                  <a:pt x="12631" y="1150920"/>
                  <a:pt x="50265" y="1113286"/>
                  <a:pt x="96690" y="1113286"/>
                </a:cubicBezTo>
                <a:close/>
                <a:moveTo>
                  <a:pt x="8321436" y="0"/>
                </a:moveTo>
                <a:lnTo>
                  <a:pt x="9378424" y="0"/>
                </a:lnTo>
                <a:cubicBezTo>
                  <a:pt x="9424849" y="0"/>
                  <a:pt x="9462483" y="37634"/>
                  <a:pt x="9462483" y="84059"/>
                </a:cubicBezTo>
                <a:lnTo>
                  <a:pt x="9462483" y="970893"/>
                </a:lnTo>
                <a:cubicBezTo>
                  <a:pt x="9462483" y="1017318"/>
                  <a:pt x="9424849" y="1054952"/>
                  <a:pt x="9378424" y="1054952"/>
                </a:cubicBezTo>
                <a:lnTo>
                  <a:pt x="8321436" y="1054952"/>
                </a:lnTo>
                <a:cubicBezTo>
                  <a:pt x="8275011" y="1054952"/>
                  <a:pt x="8237378" y="1017318"/>
                  <a:pt x="8237378" y="970893"/>
                </a:cubicBezTo>
                <a:lnTo>
                  <a:pt x="8237378" y="84059"/>
                </a:lnTo>
                <a:cubicBezTo>
                  <a:pt x="8237378" y="37634"/>
                  <a:pt x="8275011" y="0"/>
                  <a:pt x="8321436" y="0"/>
                </a:cubicBezTo>
                <a:close/>
                <a:moveTo>
                  <a:pt x="6948864" y="0"/>
                </a:moveTo>
                <a:lnTo>
                  <a:pt x="8005852" y="0"/>
                </a:lnTo>
                <a:cubicBezTo>
                  <a:pt x="8052277" y="0"/>
                  <a:pt x="8089911" y="37634"/>
                  <a:pt x="8089911" y="84059"/>
                </a:cubicBezTo>
                <a:lnTo>
                  <a:pt x="8089911" y="970893"/>
                </a:lnTo>
                <a:cubicBezTo>
                  <a:pt x="8089911" y="1017318"/>
                  <a:pt x="8052277" y="1054952"/>
                  <a:pt x="8005852" y="1054952"/>
                </a:cubicBezTo>
                <a:lnTo>
                  <a:pt x="6948864" y="1054952"/>
                </a:lnTo>
                <a:cubicBezTo>
                  <a:pt x="6902439" y="1054952"/>
                  <a:pt x="6864805" y="1017318"/>
                  <a:pt x="6864805" y="970893"/>
                </a:cubicBezTo>
                <a:lnTo>
                  <a:pt x="6864805" y="84059"/>
                </a:lnTo>
                <a:cubicBezTo>
                  <a:pt x="6864805" y="37634"/>
                  <a:pt x="6902439" y="0"/>
                  <a:pt x="6948864" y="0"/>
                </a:cubicBezTo>
                <a:close/>
                <a:moveTo>
                  <a:pt x="5576292" y="0"/>
                </a:moveTo>
                <a:lnTo>
                  <a:pt x="6633280" y="0"/>
                </a:lnTo>
                <a:cubicBezTo>
                  <a:pt x="6679705" y="0"/>
                  <a:pt x="6717339" y="37634"/>
                  <a:pt x="6717339" y="84059"/>
                </a:cubicBezTo>
                <a:lnTo>
                  <a:pt x="6717339" y="970893"/>
                </a:lnTo>
                <a:cubicBezTo>
                  <a:pt x="6717339" y="1017318"/>
                  <a:pt x="6679705" y="1054952"/>
                  <a:pt x="6633280" y="1054952"/>
                </a:cubicBezTo>
                <a:lnTo>
                  <a:pt x="5576292" y="1054952"/>
                </a:lnTo>
                <a:cubicBezTo>
                  <a:pt x="5529867" y="1054952"/>
                  <a:pt x="5492233" y="1017318"/>
                  <a:pt x="5492233" y="970893"/>
                </a:cubicBezTo>
                <a:lnTo>
                  <a:pt x="5492233" y="84059"/>
                </a:lnTo>
                <a:cubicBezTo>
                  <a:pt x="5492233" y="37634"/>
                  <a:pt x="5529867" y="0"/>
                  <a:pt x="5576292" y="0"/>
                </a:cubicBezTo>
                <a:close/>
                <a:moveTo>
                  <a:pt x="4203721" y="0"/>
                </a:moveTo>
                <a:lnTo>
                  <a:pt x="5260708" y="0"/>
                </a:lnTo>
                <a:cubicBezTo>
                  <a:pt x="5307133" y="0"/>
                  <a:pt x="5344767" y="37634"/>
                  <a:pt x="5344767" y="84059"/>
                </a:cubicBezTo>
                <a:lnTo>
                  <a:pt x="5344767" y="970893"/>
                </a:lnTo>
                <a:cubicBezTo>
                  <a:pt x="5344767" y="1017318"/>
                  <a:pt x="5307133" y="1054952"/>
                  <a:pt x="5260708" y="1054952"/>
                </a:cubicBezTo>
                <a:lnTo>
                  <a:pt x="4203721" y="1054952"/>
                </a:lnTo>
                <a:cubicBezTo>
                  <a:pt x="4157295" y="1054952"/>
                  <a:pt x="4119661" y="1017318"/>
                  <a:pt x="4119661" y="970893"/>
                </a:cubicBezTo>
                <a:lnTo>
                  <a:pt x="4119661" y="84059"/>
                </a:lnTo>
                <a:cubicBezTo>
                  <a:pt x="4119661" y="37634"/>
                  <a:pt x="4157295" y="0"/>
                  <a:pt x="4203721" y="0"/>
                </a:cubicBezTo>
                <a:close/>
                <a:moveTo>
                  <a:pt x="2831148" y="0"/>
                </a:moveTo>
                <a:lnTo>
                  <a:pt x="3888136" y="0"/>
                </a:lnTo>
                <a:cubicBezTo>
                  <a:pt x="3934561" y="0"/>
                  <a:pt x="3972195" y="37634"/>
                  <a:pt x="3972195" y="84059"/>
                </a:cubicBezTo>
                <a:lnTo>
                  <a:pt x="3972195" y="970893"/>
                </a:lnTo>
                <a:cubicBezTo>
                  <a:pt x="3972195" y="1017318"/>
                  <a:pt x="3934561" y="1054952"/>
                  <a:pt x="3888136" y="1054952"/>
                </a:cubicBezTo>
                <a:lnTo>
                  <a:pt x="2831148" y="1054952"/>
                </a:lnTo>
                <a:cubicBezTo>
                  <a:pt x="2784723" y="1054952"/>
                  <a:pt x="2747090" y="1017318"/>
                  <a:pt x="2747090" y="970893"/>
                </a:cubicBezTo>
                <a:lnTo>
                  <a:pt x="2747090" y="84059"/>
                </a:lnTo>
                <a:cubicBezTo>
                  <a:pt x="2747090" y="37634"/>
                  <a:pt x="2784723" y="0"/>
                  <a:pt x="2831148" y="0"/>
                </a:cubicBezTo>
                <a:close/>
                <a:moveTo>
                  <a:pt x="1458576" y="0"/>
                </a:moveTo>
                <a:lnTo>
                  <a:pt x="2515564" y="0"/>
                </a:lnTo>
                <a:cubicBezTo>
                  <a:pt x="2561989" y="0"/>
                  <a:pt x="2599624" y="37634"/>
                  <a:pt x="2599624" y="84059"/>
                </a:cubicBezTo>
                <a:lnTo>
                  <a:pt x="2599624" y="970893"/>
                </a:lnTo>
                <a:cubicBezTo>
                  <a:pt x="2599624" y="1017318"/>
                  <a:pt x="2561989" y="1054952"/>
                  <a:pt x="2515564" y="1054952"/>
                </a:cubicBezTo>
                <a:lnTo>
                  <a:pt x="1458576" y="1054952"/>
                </a:lnTo>
                <a:cubicBezTo>
                  <a:pt x="1412152" y="1054952"/>
                  <a:pt x="1374517" y="1017318"/>
                  <a:pt x="1374517" y="970893"/>
                </a:cubicBezTo>
                <a:lnTo>
                  <a:pt x="1374517" y="84059"/>
                </a:lnTo>
                <a:cubicBezTo>
                  <a:pt x="1374517" y="37634"/>
                  <a:pt x="1412152" y="0"/>
                  <a:pt x="1458576" y="0"/>
                </a:cubicBezTo>
                <a:close/>
                <a:moveTo>
                  <a:pt x="84059" y="0"/>
                </a:moveTo>
                <a:lnTo>
                  <a:pt x="1141047" y="0"/>
                </a:lnTo>
                <a:cubicBezTo>
                  <a:pt x="1187472" y="0"/>
                  <a:pt x="1225106" y="37634"/>
                  <a:pt x="1225106" y="84059"/>
                </a:cubicBezTo>
                <a:lnTo>
                  <a:pt x="1225106" y="970893"/>
                </a:lnTo>
                <a:cubicBezTo>
                  <a:pt x="1225106" y="1017318"/>
                  <a:pt x="1187472" y="1054952"/>
                  <a:pt x="1141047" y="1054952"/>
                </a:cubicBezTo>
                <a:lnTo>
                  <a:pt x="84059" y="1054952"/>
                </a:lnTo>
                <a:cubicBezTo>
                  <a:pt x="37634" y="1054952"/>
                  <a:pt x="0" y="1017318"/>
                  <a:pt x="0" y="970893"/>
                </a:cubicBezTo>
                <a:lnTo>
                  <a:pt x="0" y="84059"/>
                </a:lnTo>
                <a:cubicBezTo>
                  <a:pt x="0" y="37634"/>
                  <a:pt x="37634" y="0"/>
                  <a:pt x="84059" y="0"/>
                </a:cubicBezTo>
                <a:close/>
              </a:path>
            </a:pathLst>
          </a:custGeom>
        </p:spPr>
        <p:txBody>
          <a:bodyPr wrap="square">
            <a:noAutofit/>
          </a:bodyPr>
          <a:lstStyle/>
          <a:p>
            <a:endParaRPr lang="zh-CN" altLang="en-US"/>
          </a:p>
        </p:txBody>
      </p:sp>
    </p:spTree>
    <p:extLst>
      <p:ext uri="{BB962C8B-B14F-4D97-AF65-F5344CB8AC3E}">
        <p14:creationId xmlns:p14="http://schemas.microsoft.com/office/powerpoint/2010/main" val="1331397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6061039" y="1605019"/>
            <a:ext cx="2546387" cy="2049362"/>
          </a:xfrm>
          <a:custGeom>
            <a:avLst/>
            <a:gdLst>
              <a:gd name="connsiteX0" fmla="*/ 0 w 2546387"/>
              <a:gd name="connsiteY0" fmla="*/ 0 h 2049362"/>
              <a:gd name="connsiteX1" fmla="*/ 2546387 w 2546387"/>
              <a:gd name="connsiteY1" fmla="*/ 0 h 2049362"/>
              <a:gd name="connsiteX2" fmla="*/ 2546387 w 2546387"/>
              <a:gd name="connsiteY2" fmla="*/ 2049362 h 2049362"/>
              <a:gd name="connsiteX3" fmla="*/ 0 w 2546387"/>
              <a:gd name="connsiteY3" fmla="*/ 2049362 h 2049362"/>
            </a:gdLst>
            <a:ahLst/>
            <a:cxnLst>
              <a:cxn ang="0">
                <a:pos x="connsiteX0" y="connsiteY0"/>
              </a:cxn>
              <a:cxn ang="0">
                <a:pos x="connsiteX1" y="connsiteY1"/>
              </a:cxn>
              <a:cxn ang="0">
                <a:pos x="connsiteX2" y="connsiteY2"/>
              </a:cxn>
              <a:cxn ang="0">
                <a:pos x="connsiteX3" y="connsiteY3"/>
              </a:cxn>
            </a:cxnLst>
            <a:rect l="l" t="t" r="r" b="b"/>
            <a:pathLst>
              <a:path w="2546387" h="2049362">
                <a:moveTo>
                  <a:pt x="0" y="0"/>
                </a:moveTo>
                <a:lnTo>
                  <a:pt x="2546387" y="0"/>
                </a:lnTo>
                <a:lnTo>
                  <a:pt x="2546387" y="2049362"/>
                </a:lnTo>
                <a:lnTo>
                  <a:pt x="0" y="2049362"/>
                </a:lnTo>
                <a:close/>
              </a:path>
            </a:pathLst>
          </a:custGeom>
          <a:solidFill>
            <a:schemeClr val="tx1">
              <a:lumMod val="50000"/>
              <a:lumOff val="50000"/>
            </a:schemeClr>
          </a:solidFill>
          <a:ln w="31750">
            <a:solidFill>
              <a:srgbClr val="FFFFFF"/>
            </a:solidFill>
          </a:ln>
          <a:effectLst>
            <a:outerShdw blurRad="38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lang="zh-CN" altLang="en-US" sz="1800">
                <a:solidFill>
                  <a:schemeClr val="lt1"/>
                </a:solidFill>
              </a:defRPr>
            </a:lvl1pPr>
          </a:lstStyle>
          <a:p>
            <a:pPr marL="0" lvl="0" algn="ctr"/>
            <a:endParaRPr lang="zh-CN" altLang="en-US"/>
          </a:p>
        </p:txBody>
      </p:sp>
      <p:sp>
        <p:nvSpPr>
          <p:cNvPr id="12" name="图片占位符 11"/>
          <p:cNvSpPr>
            <a:spLocks noGrp="1"/>
          </p:cNvSpPr>
          <p:nvPr>
            <p:ph type="pic" sz="quarter" idx="11"/>
          </p:nvPr>
        </p:nvSpPr>
        <p:spPr>
          <a:xfrm>
            <a:off x="5042623" y="3513555"/>
            <a:ext cx="2036832" cy="1638654"/>
          </a:xfrm>
          <a:custGeom>
            <a:avLst/>
            <a:gdLst>
              <a:gd name="connsiteX0" fmla="*/ 0 w 2036832"/>
              <a:gd name="connsiteY0" fmla="*/ 0 h 1638654"/>
              <a:gd name="connsiteX1" fmla="*/ 2036832 w 2036832"/>
              <a:gd name="connsiteY1" fmla="*/ 0 h 1638654"/>
              <a:gd name="connsiteX2" fmla="*/ 2036832 w 2036832"/>
              <a:gd name="connsiteY2" fmla="*/ 1638654 h 1638654"/>
              <a:gd name="connsiteX3" fmla="*/ 0 w 2036832"/>
              <a:gd name="connsiteY3" fmla="*/ 1638654 h 1638654"/>
            </a:gdLst>
            <a:ahLst/>
            <a:cxnLst>
              <a:cxn ang="0">
                <a:pos x="connsiteX0" y="connsiteY0"/>
              </a:cxn>
              <a:cxn ang="0">
                <a:pos x="connsiteX1" y="connsiteY1"/>
              </a:cxn>
              <a:cxn ang="0">
                <a:pos x="connsiteX2" y="connsiteY2"/>
              </a:cxn>
              <a:cxn ang="0">
                <a:pos x="connsiteX3" y="connsiteY3"/>
              </a:cxn>
            </a:cxnLst>
            <a:rect l="l" t="t" r="r" b="b"/>
            <a:pathLst>
              <a:path w="2036832" h="1638654">
                <a:moveTo>
                  <a:pt x="0" y="0"/>
                </a:moveTo>
                <a:lnTo>
                  <a:pt x="2036832" y="0"/>
                </a:lnTo>
                <a:lnTo>
                  <a:pt x="2036832" y="1638654"/>
                </a:lnTo>
                <a:lnTo>
                  <a:pt x="0" y="1638654"/>
                </a:lnTo>
                <a:close/>
              </a:path>
            </a:pathLst>
          </a:custGeom>
          <a:solidFill>
            <a:schemeClr val="tx1">
              <a:lumMod val="50000"/>
              <a:lumOff val="50000"/>
            </a:schemeClr>
          </a:solidFill>
          <a:ln w="31750">
            <a:solidFill>
              <a:srgbClr val="FFFFFF"/>
            </a:solidFill>
          </a:ln>
          <a:effectLst>
            <a:outerShdw blurRad="38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lang="zh-CN" altLang="en-US" sz="1800">
                <a:solidFill>
                  <a:schemeClr val="lt1"/>
                </a:solidFill>
              </a:defRPr>
            </a:lvl1pPr>
          </a:lstStyle>
          <a:p>
            <a:pPr marL="0" lvl="0" algn="ctr"/>
            <a:endParaRPr lang="zh-CN" altLang="en-US"/>
          </a:p>
        </p:txBody>
      </p:sp>
      <p:sp>
        <p:nvSpPr>
          <p:cNvPr id="13" name="图片占位符 12"/>
          <p:cNvSpPr>
            <a:spLocks noGrp="1"/>
          </p:cNvSpPr>
          <p:nvPr>
            <p:ph type="pic" sz="quarter" idx="12"/>
          </p:nvPr>
        </p:nvSpPr>
        <p:spPr>
          <a:xfrm>
            <a:off x="7797206" y="3381375"/>
            <a:ext cx="3081004" cy="2549172"/>
          </a:xfrm>
          <a:custGeom>
            <a:avLst/>
            <a:gdLst>
              <a:gd name="connsiteX0" fmla="*/ 0 w 3081004"/>
              <a:gd name="connsiteY0" fmla="*/ 0 h 2549172"/>
              <a:gd name="connsiteX1" fmla="*/ 3081004 w 3081004"/>
              <a:gd name="connsiteY1" fmla="*/ 0 h 2549172"/>
              <a:gd name="connsiteX2" fmla="*/ 3081004 w 3081004"/>
              <a:gd name="connsiteY2" fmla="*/ 2549172 h 2549172"/>
              <a:gd name="connsiteX3" fmla="*/ 0 w 3081004"/>
              <a:gd name="connsiteY3" fmla="*/ 2549172 h 2549172"/>
            </a:gdLst>
            <a:ahLst/>
            <a:cxnLst>
              <a:cxn ang="0">
                <a:pos x="connsiteX0" y="connsiteY0"/>
              </a:cxn>
              <a:cxn ang="0">
                <a:pos x="connsiteX1" y="connsiteY1"/>
              </a:cxn>
              <a:cxn ang="0">
                <a:pos x="connsiteX2" y="connsiteY2"/>
              </a:cxn>
              <a:cxn ang="0">
                <a:pos x="connsiteX3" y="connsiteY3"/>
              </a:cxn>
            </a:cxnLst>
            <a:rect l="l" t="t" r="r" b="b"/>
            <a:pathLst>
              <a:path w="3081004" h="2549172">
                <a:moveTo>
                  <a:pt x="0" y="0"/>
                </a:moveTo>
                <a:lnTo>
                  <a:pt x="3081004" y="0"/>
                </a:lnTo>
                <a:lnTo>
                  <a:pt x="3081004" y="2549172"/>
                </a:lnTo>
                <a:lnTo>
                  <a:pt x="0" y="2549172"/>
                </a:lnTo>
                <a:close/>
              </a:path>
            </a:pathLst>
          </a:custGeom>
          <a:solidFill>
            <a:schemeClr val="tx1">
              <a:lumMod val="50000"/>
              <a:lumOff val="50000"/>
            </a:schemeClr>
          </a:solidFill>
          <a:ln w="31750">
            <a:solidFill>
              <a:srgbClr val="FFFFFF"/>
            </a:solidFill>
          </a:ln>
          <a:effectLst>
            <a:outerShdw blurRad="38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lang="zh-CN" altLang="en-US" sz="1800">
                <a:solidFill>
                  <a:schemeClr val="lt1"/>
                </a:solidFill>
              </a:defRPr>
            </a:lvl1pPr>
          </a:lstStyle>
          <a:p>
            <a:pPr marL="0" lvl="0" algn="ctr"/>
            <a:endParaRPr lang="zh-CN" altLang="en-US"/>
          </a:p>
        </p:txBody>
      </p:sp>
    </p:spTree>
    <p:extLst>
      <p:ext uri="{BB962C8B-B14F-4D97-AF65-F5344CB8AC3E}">
        <p14:creationId xmlns:p14="http://schemas.microsoft.com/office/powerpoint/2010/main" val="1635455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569398" y="2225407"/>
            <a:ext cx="2830844" cy="3344863"/>
          </a:xfrm>
          <a:custGeom>
            <a:avLst/>
            <a:gdLst>
              <a:gd name="connsiteX0" fmla="*/ 0 w 2830844"/>
              <a:gd name="connsiteY0" fmla="*/ 0 h 3344863"/>
              <a:gd name="connsiteX1" fmla="*/ 2830844 w 2830844"/>
              <a:gd name="connsiteY1" fmla="*/ 0 h 3344863"/>
              <a:gd name="connsiteX2" fmla="*/ 2830844 w 2830844"/>
              <a:gd name="connsiteY2" fmla="*/ 3344863 h 3344863"/>
              <a:gd name="connsiteX3" fmla="*/ 0 w 2830844"/>
              <a:gd name="connsiteY3" fmla="*/ 3344863 h 3344863"/>
            </a:gdLst>
            <a:ahLst/>
            <a:cxnLst>
              <a:cxn ang="0">
                <a:pos x="connsiteX0" y="connsiteY0"/>
              </a:cxn>
              <a:cxn ang="0">
                <a:pos x="connsiteX1" y="connsiteY1"/>
              </a:cxn>
              <a:cxn ang="0">
                <a:pos x="connsiteX2" y="connsiteY2"/>
              </a:cxn>
              <a:cxn ang="0">
                <a:pos x="connsiteX3" y="connsiteY3"/>
              </a:cxn>
            </a:cxnLst>
            <a:rect l="l" t="t" r="r" b="b"/>
            <a:pathLst>
              <a:path w="2830844" h="3344863">
                <a:moveTo>
                  <a:pt x="0" y="0"/>
                </a:moveTo>
                <a:lnTo>
                  <a:pt x="2830844" y="0"/>
                </a:lnTo>
                <a:lnTo>
                  <a:pt x="2830844" y="3344863"/>
                </a:lnTo>
                <a:lnTo>
                  <a:pt x="0" y="3344863"/>
                </a:ln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4687908" y="2225407"/>
            <a:ext cx="2830844" cy="3344863"/>
          </a:xfrm>
          <a:custGeom>
            <a:avLst/>
            <a:gdLst>
              <a:gd name="connsiteX0" fmla="*/ 0 w 2830844"/>
              <a:gd name="connsiteY0" fmla="*/ 0 h 3344863"/>
              <a:gd name="connsiteX1" fmla="*/ 2830844 w 2830844"/>
              <a:gd name="connsiteY1" fmla="*/ 0 h 3344863"/>
              <a:gd name="connsiteX2" fmla="*/ 2830844 w 2830844"/>
              <a:gd name="connsiteY2" fmla="*/ 3344863 h 3344863"/>
              <a:gd name="connsiteX3" fmla="*/ 0 w 2830844"/>
              <a:gd name="connsiteY3" fmla="*/ 3344863 h 3344863"/>
            </a:gdLst>
            <a:ahLst/>
            <a:cxnLst>
              <a:cxn ang="0">
                <a:pos x="connsiteX0" y="connsiteY0"/>
              </a:cxn>
              <a:cxn ang="0">
                <a:pos x="connsiteX1" y="connsiteY1"/>
              </a:cxn>
              <a:cxn ang="0">
                <a:pos x="connsiteX2" y="connsiteY2"/>
              </a:cxn>
              <a:cxn ang="0">
                <a:pos x="connsiteX3" y="connsiteY3"/>
              </a:cxn>
            </a:cxnLst>
            <a:rect l="l" t="t" r="r" b="b"/>
            <a:pathLst>
              <a:path w="2830844" h="3344863">
                <a:moveTo>
                  <a:pt x="0" y="0"/>
                </a:moveTo>
                <a:lnTo>
                  <a:pt x="2830844" y="0"/>
                </a:lnTo>
                <a:lnTo>
                  <a:pt x="2830844" y="3344863"/>
                </a:lnTo>
                <a:lnTo>
                  <a:pt x="0" y="3344863"/>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7791760" y="2225407"/>
            <a:ext cx="2830844" cy="3344863"/>
          </a:xfrm>
          <a:custGeom>
            <a:avLst/>
            <a:gdLst>
              <a:gd name="connsiteX0" fmla="*/ 0 w 2830844"/>
              <a:gd name="connsiteY0" fmla="*/ 0 h 3344863"/>
              <a:gd name="connsiteX1" fmla="*/ 2830844 w 2830844"/>
              <a:gd name="connsiteY1" fmla="*/ 0 h 3344863"/>
              <a:gd name="connsiteX2" fmla="*/ 2830844 w 2830844"/>
              <a:gd name="connsiteY2" fmla="*/ 3344863 h 3344863"/>
              <a:gd name="connsiteX3" fmla="*/ 0 w 2830844"/>
              <a:gd name="connsiteY3" fmla="*/ 3344863 h 3344863"/>
            </a:gdLst>
            <a:ahLst/>
            <a:cxnLst>
              <a:cxn ang="0">
                <a:pos x="connsiteX0" y="connsiteY0"/>
              </a:cxn>
              <a:cxn ang="0">
                <a:pos x="connsiteX1" y="connsiteY1"/>
              </a:cxn>
              <a:cxn ang="0">
                <a:pos x="connsiteX2" y="connsiteY2"/>
              </a:cxn>
              <a:cxn ang="0">
                <a:pos x="connsiteX3" y="connsiteY3"/>
              </a:cxn>
            </a:cxnLst>
            <a:rect l="l" t="t" r="r" b="b"/>
            <a:pathLst>
              <a:path w="2830844" h="3344863">
                <a:moveTo>
                  <a:pt x="0" y="0"/>
                </a:moveTo>
                <a:lnTo>
                  <a:pt x="2830844" y="0"/>
                </a:lnTo>
                <a:lnTo>
                  <a:pt x="2830844" y="3344863"/>
                </a:lnTo>
                <a:lnTo>
                  <a:pt x="0" y="3344863"/>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988145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1997413" y="1448998"/>
            <a:ext cx="8197174" cy="3413125"/>
          </a:xfrm>
          <a:custGeom>
            <a:avLst/>
            <a:gdLst>
              <a:gd name="connsiteX0" fmla="*/ 194719 w 8197174"/>
              <a:gd name="connsiteY0" fmla="*/ 0 h 3413125"/>
              <a:gd name="connsiteX1" fmla="*/ 8002455 w 8197174"/>
              <a:gd name="connsiteY1" fmla="*/ 0 h 3413125"/>
              <a:gd name="connsiteX2" fmla="*/ 8197174 w 8197174"/>
              <a:gd name="connsiteY2" fmla="*/ 194719 h 3413125"/>
              <a:gd name="connsiteX3" fmla="*/ 8197174 w 8197174"/>
              <a:gd name="connsiteY3" fmla="*/ 3218406 h 3413125"/>
              <a:gd name="connsiteX4" fmla="*/ 8002455 w 8197174"/>
              <a:gd name="connsiteY4" fmla="*/ 3413125 h 3413125"/>
              <a:gd name="connsiteX5" fmla="*/ 194719 w 8197174"/>
              <a:gd name="connsiteY5" fmla="*/ 3413125 h 3413125"/>
              <a:gd name="connsiteX6" fmla="*/ 0 w 8197174"/>
              <a:gd name="connsiteY6" fmla="*/ 3218406 h 3413125"/>
              <a:gd name="connsiteX7" fmla="*/ 0 w 8197174"/>
              <a:gd name="connsiteY7" fmla="*/ 194719 h 3413125"/>
              <a:gd name="connsiteX8" fmla="*/ 194719 w 8197174"/>
              <a:gd name="connsiteY8" fmla="*/ 0 h 341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97174" h="3413125">
                <a:moveTo>
                  <a:pt x="194719" y="0"/>
                </a:moveTo>
                <a:lnTo>
                  <a:pt x="8002455" y="0"/>
                </a:lnTo>
                <a:cubicBezTo>
                  <a:pt x="8109995" y="0"/>
                  <a:pt x="8197174" y="87179"/>
                  <a:pt x="8197174" y="194719"/>
                </a:cubicBezTo>
                <a:lnTo>
                  <a:pt x="8197174" y="3218406"/>
                </a:lnTo>
                <a:cubicBezTo>
                  <a:pt x="8197174" y="3325946"/>
                  <a:pt x="8109995" y="3413125"/>
                  <a:pt x="8002455" y="3413125"/>
                </a:cubicBezTo>
                <a:lnTo>
                  <a:pt x="194719" y="3413125"/>
                </a:lnTo>
                <a:cubicBezTo>
                  <a:pt x="87179" y="3413125"/>
                  <a:pt x="0" y="3325946"/>
                  <a:pt x="0" y="3218406"/>
                </a:cubicBezTo>
                <a:lnTo>
                  <a:pt x="0" y="194719"/>
                </a:lnTo>
                <a:cubicBezTo>
                  <a:pt x="0" y="87179"/>
                  <a:pt x="87179" y="0"/>
                  <a:pt x="194719" y="0"/>
                </a:cubicBezTo>
                <a:close/>
              </a:path>
            </a:pathLst>
          </a:custGeom>
          <a:ln w="19050">
            <a:solidFill>
              <a:schemeClr val="accent1"/>
            </a:solidFill>
          </a:ln>
        </p:spPr>
        <p:txBody>
          <a:bodyPr wrap="square">
            <a:noAutofit/>
          </a:bodyPr>
          <a:lstStyle/>
          <a:p>
            <a:endParaRPr lang="zh-CN" altLang="en-US"/>
          </a:p>
        </p:txBody>
      </p:sp>
    </p:spTree>
    <p:extLst>
      <p:ext uri="{BB962C8B-B14F-4D97-AF65-F5344CB8AC3E}">
        <p14:creationId xmlns:p14="http://schemas.microsoft.com/office/powerpoint/2010/main" val="727628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3" name="图片占位符 12"/>
          <p:cNvSpPr>
            <a:spLocks noGrp="1"/>
          </p:cNvSpPr>
          <p:nvPr>
            <p:ph type="pic" sz="quarter" idx="10"/>
          </p:nvPr>
        </p:nvSpPr>
        <p:spPr>
          <a:xfrm>
            <a:off x="1370859" y="2239169"/>
            <a:ext cx="2731241" cy="1895475"/>
          </a:xfrm>
          <a:custGeom>
            <a:avLst/>
            <a:gdLst>
              <a:gd name="connsiteX0" fmla="*/ 0 w 2731241"/>
              <a:gd name="connsiteY0" fmla="*/ 0 h 1895475"/>
              <a:gd name="connsiteX1" fmla="*/ 2731241 w 2731241"/>
              <a:gd name="connsiteY1" fmla="*/ 0 h 1895475"/>
              <a:gd name="connsiteX2" fmla="*/ 2731241 w 2731241"/>
              <a:gd name="connsiteY2" fmla="*/ 1895475 h 1895475"/>
              <a:gd name="connsiteX3" fmla="*/ 0 w 2731241"/>
              <a:gd name="connsiteY3" fmla="*/ 1895475 h 1895475"/>
            </a:gdLst>
            <a:ahLst/>
            <a:cxnLst>
              <a:cxn ang="0">
                <a:pos x="connsiteX0" y="connsiteY0"/>
              </a:cxn>
              <a:cxn ang="0">
                <a:pos x="connsiteX1" y="connsiteY1"/>
              </a:cxn>
              <a:cxn ang="0">
                <a:pos x="connsiteX2" y="connsiteY2"/>
              </a:cxn>
              <a:cxn ang="0">
                <a:pos x="connsiteX3" y="connsiteY3"/>
              </a:cxn>
            </a:cxnLst>
            <a:rect l="l" t="t" r="r" b="b"/>
            <a:pathLst>
              <a:path w="2731241" h="1895475">
                <a:moveTo>
                  <a:pt x="0" y="0"/>
                </a:moveTo>
                <a:lnTo>
                  <a:pt x="2731241" y="0"/>
                </a:lnTo>
                <a:lnTo>
                  <a:pt x="2731241" y="1895475"/>
                </a:lnTo>
                <a:lnTo>
                  <a:pt x="0" y="1895475"/>
                </a:lnTo>
                <a:close/>
              </a:path>
            </a:pathLst>
          </a:custGeom>
          <a:solidFill>
            <a:schemeClr val="accent3"/>
          </a:solidFill>
          <a:ln w="76200">
            <a:solidFill>
              <a:schemeClr val="accent2">
                <a:lumMod val="40000"/>
                <a:lumOff val="6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lang="zh-CN" altLang="en-US" sz="1800" dirty="0">
                <a:solidFill>
                  <a:schemeClr val="lt1"/>
                </a:solidFill>
              </a:defRPr>
            </a:lvl1pPr>
          </a:lstStyle>
          <a:p>
            <a:pPr marL="0" lvl="0" algn="ctr"/>
            <a:endParaRPr lang="zh-CN" altLang="en-US" dirty="0"/>
          </a:p>
        </p:txBody>
      </p:sp>
      <p:sp>
        <p:nvSpPr>
          <p:cNvPr id="15" name="图片占位符 14"/>
          <p:cNvSpPr>
            <a:spLocks noGrp="1"/>
          </p:cNvSpPr>
          <p:nvPr>
            <p:ph type="pic" sz="quarter" idx="11"/>
          </p:nvPr>
        </p:nvSpPr>
        <p:spPr>
          <a:xfrm>
            <a:off x="4270376" y="4045744"/>
            <a:ext cx="2551113" cy="1895475"/>
          </a:xfrm>
          <a:custGeom>
            <a:avLst/>
            <a:gdLst>
              <a:gd name="connsiteX0" fmla="*/ 0 w 2551113"/>
              <a:gd name="connsiteY0" fmla="*/ 0 h 1895475"/>
              <a:gd name="connsiteX1" fmla="*/ 2551113 w 2551113"/>
              <a:gd name="connsiteY1" fmla="*/ 0 h 1895475"/>
              <a:gd name="connsiteX2" fmla="*/ 2551113 w 2551113"/>
              <a:gd name="connsiteY2" fmla="*/ 1895475 h 1895475"/>
              <a:gd name="connsiteX3" fmla="*/ 0 w 2551113"/>
              <a:gd name="connsiteY3" fmla="*/ 1895475 h 1895475"/>
            </a:gdLst>
            <a:ahLst/>
            <a:cxnLst>
              <a:cxn ang="0">
                <a:pos x="connsiteX0" y="connsiteY0"/>
              </a:cxn>
              <a:cxn ang="0">
                <a:pos x="connsiteX1" y="connsiteY1"/>
              </a:cxn>
              <a:cxn ang="0">
                <a:pos x="connsiteX2" y="connsiteY2"/>
              </a:cxn>
              <a:cxn ang="0">
                <a:pos x="connsiteX3" y="connsiteY3"/>
              </a:cxn>
            </a:cxnLst>
            <a:rect l="l" t="t" r="r" b="b"/>
            <a:pathLst>
              <a:path w="2551113" h="1895475">
                <a:moveTo>
                  <a:pt x="0" y="0"/>
                </a:moveTo>
                <a:lnTo>
                  <a:pt x="2551113" y="0"/>
                </a:lnTo>
                <a:lnTo>
                  <a:pt x="2551113" y="1895475"/>
                </a:lnTo>
                <a:lnTo>
                  <a:pt x="0" y="1895475"/>
                </a:lnTo>
                <a:close/>
              </a:path>
            </a:pathLst>
          </a:custGeom>
          <a:solidFill>
            <a:schemeClr val="accent3"/>
          </a:solidFill>
          <a:ln w="76200">
            <a:solidFill>
              <a:schemeClr val="accent1">
                <a:lumMod val="20000"/>
                <a:lumOff val="8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lang="zh-CN" altLang="en-US" sz="1800">
                <a:solidFill>
                  <a:schemeClr val="lt1"/>
                </a:solidFill>
              </a:defRPr>
            </a:lvl1pPr>
          </a:lstStyle>
          <a:p>
            <a:pPr marL="0" lvl="0" algn="ctr"/>
            <a:endParaRPr lang="zh-CN" altLang="en-US"/>
          </a:p>
        </p:txBody>
      </p:sp>
      <p:sp>
        <p:nvSpPr>
          <p:cNvPr id="14" name="图片占位符 13"/>
          <p:cNvSpPr>
            <a:spLocks noGrp="1"/>
          </p:cNvSpPr>
          <p:nvPr>
            <p:ph type="pic" sz="quarter" idx="12"/>
          </p:nvPr>
        </p:nvSpPr>
        <p:spPr>
          <a:xfrm>
            <a:off x="7450138" y="1847057"/>
            <a:ext cx="3405930" cy="3248025"/>
          </a:xfrm>
          <a:custGeom>
            <a:avLst/>
            <a:gdLst>
              <a:gd name="connsiteX0" fmla="*/ 0 w 3405930"/>
              <a:gd name="connsiteY0" fmla="*/ 0 h 3248025"/>
              <a:gd name="connsiteX1" fmla="*/ 3405930 w 3405930"/>
              <a:gd name="connsiteY1" fmla="*/ 0 h 3248025"/>
              <a:gd name="connsiteX2" fmla="*/ 3405930 w 3405930"/>
              <a:gd name="connsiteY2" fmla="*/ 3248025 h 3248025"/>
              <a:gd name="connsiteX3" fmla="*/ 0 w 3405930"/>
              <a:gd name="connsiteY3" fmla="*/ 3248025 h 3248025"/>
            </a:gdLst>
            <a:ahLst/>
            <a:cxnLst>
              <a:cxn ang="0">
                <a:pos x="connsiteX0" y="connsiteY0"/>
              </a:cxn>
              <a:cxn ang="0">
                <a:pos x="connsiteX1" y="connsiteY1"/>
              </a:cxn>
              <a:cxn ang="0">
                <a:pos x="connsiteX2" y="connsiteY2"/>
              </a:cxn>
              <a:cxn ang="0">
                <a:pos x="connsiteX3" y="connsiteY3"/>
              </a:cxn>
            </a:cxnLst>
            <a:rect l="l" t="t" r="r" b="b"/>
            <a:pathLst>
              <a:path w="3405930" h="3248025">
                <a:moveTo>
                  <a:pt x="0" y="0"/>
                </a:moveTo>
                <a:lnTo>
                  <a:pt x="3405930" y="0"/>
                </a:lnTo>
                <a:lnTo>
                  <a:pt x="3405930" y="3248025"/>
                </a:lnTo>
                <a:lnTo>
                  <a:pt x="0" y="3248025"/>
                </a:lnTo>
                <a:close/>
              </a:path>
            </a:pathLst>
          </a:custGeom>
          <a:solidFill>
            <a:schemeClr val="accent3"/>
          </a:solidFill>
          <a:ln w="76200">
            <a:solidFill>
              <a:schemeClr val="accent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lang="zh-CN" altLang="en-US" sz="1800">
                <a:solidFill>
                  <a:schemeClr val="lt1"/>
                </a:solidFill>
              </a:defRPr>
            </a:lvl1pPr>
          </a:lstStyle>
          <a:p>
            <a:pPr marL="0" lvl="0" algn="ctr"/>
            <a:endParaRPr lang="zh-CN" altLang="en-US"/>
          </a:p>
        </p:txBody>
      </p:sp>
    </p:spTree>
    <p:extLst>
      <p:ext uri="{BB962C8B-B14F-4D97-AF65-F5344CB8AC3E}">
        <p14:creationId xmlns:p14="http://schemas.microsoft.com/office/powerpoint/2010/main" val="2441749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1802857" y="2195647"/>
            <a:ext cx="1446182" cy="1446180"/>
          </a:xfrm>
          <a:custGeom>
            <a:avLst/>
            <a:gdLst>
              <a:gd name="connsiteX0" fmla="*/ 723091 w 1446182"/>
              <a:gd name="connsiteY0" fmla="*/ 0 h 1446180"/>
              <a:gd name="connsiteX1" fmla="*/ 1446182 w 1446182"/>
              <a:gd name="connsiteY1" fmla="*/ 723090 h 1446180"/>
              <a:gd name="connsiteX2" fmla="*/ 723091 w 1446182"/>
              <a:gd name="connsiteY2" fmla="*/ 1446180 h 1446180"/>
              <a:gd name="connsiteX3" fmla="*/ 0 w 1446182"/>
              <a:gd name="connsiteY3" fmla="*/ 723090 h 1446180"/>
              <a:gd name="connsiteX4" fmla="*/ 723091 w 1446182"/>
              <a:gd name="connsiteY4" fmla="*/ 0 h 1446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182" h="1446180">
                <a:moveTo>
                  <a:pt x="723091" y="0"/>
                </a:moveTo>
                <a:cubicBezTo>
                  <a:pt x="1122443" y="0"/>
                  <a:pt x="1446182" y="323738"/>
                  <a:pt x="1446182" y="723090"/>
                </a:cubicBezTo>
                <a:cubicBezTo>
                  <a:pt x="1446182" y="1122442"/>
                  <a:pt x="1122443" y="1446180"/>
                  <a:pt x="723091" y="1446180"/>
                </a:cubicBezTo>
                <a:cubicBezTo>
                  <a:pt x="323739" y="1446180"/>
                  <a:pt x="0" y="1122442"/>
                  <a:pt x="0" y="723090"/>
                </a:cubicBezTo>
                <a:cubicBezTo>
                  <a:pt x="0" y="323738"/>
                  <a:pt x="323739" y="0"/>
                  <a:pt x="723091" y="0"/>
                </a:cubicBezTo>
                <a:close/>
              </a:path>
            </a:pathLst>
          </a:custGeom>
          <a:ln w="38100">
            <a:solidFill>
              <a:schemeClr val="accent1"/>
            </a:solidFill>
          </a:ln>
        </p:spPr>
        <p:txBody>
          <a:bodyPr wrap="square">
            <a:noAutofit/>
          </a:bodyPr>
          <a:lstStyle/>
          <a:p>
            <a:endParaRPr lang="zh-CN" altLang="en-US"/>
          </a:p>
        </p:txBody>
      </p:sp>
      <p:sp>
        <p:nvSpPr>
          <p:cNvPr id="13" name="图片占位符 12"/>
          <p:cNvSpPr>
            <a:spLocks noGrp="1"/>
          </p:cNvSpPr>
          <p:nvPr>
            <p:ph type="pic" sz="quarter" idx="11"/>
          </p:nvPr>
        </p:nvSpPr>
        <p:spPr>
          <a:xfrm>
            <a:off x="4182891" y="2195647"/>
            <a:ext cx="1446182" cy="1446180"/>
          </a:xfrm>
          <a:custGeom>
            <a:avLst/>
            <a:gdLst>
              <a:gd name="connsiteX0" fmla="*/ 723091 w 1446182"/>
              <a:gd name="connsiteY0" fmla="*/ 0 h 1446180"/>
              <a:gd name="connsiteX1" fmla="*/ 1446182 w 1446182"/>
              <a:gd name="connsiteY1" fmla="*/ 723090 h 1446180"/>
              <a:gd name="connsiteX2" fmla="*/ 723091 w 1446182"/>
              <a:gd name="connsiteY2" fmla="*/ 1446180 h 1446180"/>
              <a:gd name="connsiteX3" fmla="*/ 0 w 1446182"/>
              <a:gd name="connsiteY3" fmla="*/ 723090 h 1446180"/>
              <a:gd name="connsiteX4" fmla="*/ 723091 w 1446182"/>
              <a:gd name="connsiteY4" fmla="*/ 0 h 1446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182" h="1446180">
                <a:moveTo>
                  <a:pt x="723091" y="0"/>
                </a:moveTo>
                <a:cubicBezTo>
                  <a:pt x="1122443" y="0"/>
                  <a:pt x="1446182" y="323738"/>
                  <a:pt x="1446182" y="723090"/>
                </a:cubicBezTo>
                <a:cubicBezTo>
                  <a:pt x="1446182" y="1122442"/>
                  <a:pt x="1122443" y="1446180"/>
                  <a:pt x="723091" y="1446180"/>
                </a:cubicBezTo>
                <a:cubicBezTo>
                  <a:pt x="323739" y="1446180"/>
                  <a:pt x="0" y="1122442"/>
                  <a:pt x="0" y="723090"/>
                </a:cubicBezTo>
                <a:cubicBezTo>
                  <a:pt x="0" y="323738"/>
                  <a:pt x="323739" y="0"/>
                  <a:pt x="723091" y="0"/>
                </a:cubicBezTo>
                <a:close/>
              </a:path>
            </a:pathLst>
          </a:custGeom>
          <a:ln w="38100">
            <a:solidFill>
              <a:schemeClr val="accent2"/>
            </a:solidFill>
          </a:ln>
        </p:spPr>
        <p:txBody>
          <a:bodyPr wrap="square">
            <a:noAutofit/>
          </a:bodyPr>
          <a:lstStyle/>
          <a:p>
            <a:endParaRPr lang="zh-CN" altLang="en-US"/>
          </a:p>
        </p:txBody>
      </p:sp>
      <p:sp>
        <p:nvSpPr>
          <p:cNvPr id="14" name="图片占位符 13"/>
          <p:cNvSpPr>
            <a:spLocks noGrp="1"/>
          </p:cNvSpPr>
          <p:nvPr>
            <p:ph type="pic" sz="quarter" idx="12"/>
          </p:nvPr>
        </p:nvSpPr>
        <p:spPr>
          <a:xfrm>
            <a:off x="6562925" y="2195647"/>
            <a:ext cx="1446182" cy="1446180"/>
          </a:xfrm>
          <a:custGeom>
            <a:avLst/>
            <a:gdLst>
              <a:gd name="connsiteX0" fmla="*/ 723091 w 1446182"/>
              <a:gd name="connsiteY0" fmla="*/ 0 h 1446180"/>
              <a:gd name="connsiteX1" fmla="*/ 1446182 w 1446182"/>
              <a:gd name="connsiteY1" fmla="*/ 723090 h 1446180"/>
              <a:gd name="connsiteX2" fmla="*/ 723091 w 1446182"/>
              <a:gd name="connsiteY2" fmla="*/ 1446180 h 1446180"/>
              <a:gd name="connsiteX3" fmla="*/ 0 w 1446182"/>
              <a:gd name="connsiteY3" fmla="*/ 723090 h 1446180"/>
              <a:gd name="connsiteX4" fmla="*/ 723091 w 1446182"/>
              <a:gd name="connsiteY4" fmla="*/ 0 h 1446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182" h="1446180">
                <a:moveTo>
                  <a:pt x="723091" y="0"/>
                </a:moveTo>
                <a:cubicBezTo>
                  <a:pt x="1122443" y="0"/>
                  <a:pt x="1446182" y="323738"/>
                  <a:pt x="1446182" y="723090"/>
                </a:cubicBezTo>
                <a:cubicBezTo>
                  <a:pt x="1446182" y="1122442"/>
                  <a:pt x="1122443" y="1446180"/>
                  <a:pt x="723091" y="1446180"/>
                </a:cubicBezTo>
                <a:cubicBezTo>
                  <a:pt x="323739" y="1446180"/>
                  <a:pt x="0" y="1122442"/>
                  <a:pt x="0" y="723090"/>
                </a:cubicBezTo>
                <a:cubicBezTo>
                  <a:pt x="0" y="323738"/>
                  <a:pt x="323739" y="0"/>
                  <a:pt x="723091" y="0"/>
                </a:cubicBezTo>
                <a:close/>
              </a:path>
            </a:pathLst>
          </a:custGeom>
          <a:ln w="38100">
            <a:solidFill>
              <a:schemeClr val="accent3"/>
            </a:solidFill>
          </a:ln>
        </p:spPr>
        <p:txBody>
          <a:bodyPr wrap="square">
            <a:noAutofit/>
          </a:bodyPr>
          <a:lstStyle/>
          <a:p>
            <a:endParaRPr lang="zh-CN" altLang="en-US"/>
          </a:p>
        </p:txBody>
      </p:sp>
      <p:sp>
        <p:nvSpPr>
          <p:cNvPr id="15" name="图片占位符 14"/>
          <p:cNvSpPr>
            <a:spLocks noGrp="1"/>
          </p:cNvSpPr>
          <p:nvPr>
            <p:ph type="pic" sz="quarter" idx="13"/>
          </p:nvPr>
        </p:nvSpPr>
        <p:spPr>
          <a:xfrm>
            <a:off x="8942959" y="2195647"/>
            <a:ext cx="1446182" cy="1446180"/>
          </a:xfrm>
          <a:custGeom>
            <a:avLst/>
            <a:gdLst>
              <a:gd name="connsiteX0" fmla="*/ 723091 w 1446182"/>
              <a:gd name="connsiteY0" fmla="*/ 0 h 1446180"/>
              <a:gd name="connsiteX1" fmla="*/ 1446182 w 1446182"/>
              <a:gd name="connsiteY1" fmla="*/ 723090 h 1446180"/>
              <a:gd name="connsiteX2" fmla="*/ 723091 w 1446182"/>
              <a:gd name="connsiteY2" fmla="*/ 1446180 h 1446180"/>
              <a:gd name="connsiteX3" fmla="*/ 0 w 1446182"/>
              <a:gd name="connsiteY3" fmla="*/ 723090 h 1446180"/>
              <a:gd name="connsiteX4" fmla="*/ 723091 w 1446182"/>
              <a:gd name="connsiteY4" fmla="*/ 0 h 1446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182" h="1446180">
                <a:moveTo>
                  <a:pt x="723091" y="0"/>
                </a:moveTo>
                <a:cubicBezTo>
                  <a:pt x="1122443" y="0"/>
                  <a:pt x="1446182" y="323738"/>
                  <a:pt x="1446182" y="723090"/>
                </a:cubicBezTo>
                <a:cubicBezTo>
                  <a:pt x="1446182" y="1122442"/>
                  <a:pt x="1122443" y="1446180"/>
                  <a:pt x="723091" y="1446180"/>
                </a:cubicBezTo>
                <a:cubicBezTo>
                  <a:pt x="323739" y="1446180"/>
                  <a:pt x="0" y="1122442"/>
                  <a:pt x="0" y="723090"/>
                </a:cubicBezTo>
                <a:cubicBezTo>
                  <a:pt x="0" y="323738"/>
                  <a:pt x="323739" y="0"/>
                  <a:pt x="723091" y="0"/>
                </a:cubicBezTo>
                <a:close/>
              </a:path>
            </a:pathLst>
          </a:custGeom>
          <a:ln w="38100">
            <a:solidFill>
              <a:schemeClr val="accent4"/>
            </a:solidFill>
          </a:ln>
        </p:spPr>
        <p:txBody>
          <a:bodyPr wrap="square">
            <a:noAutofit/>
          </a:bodyPr>
          <a:lstStyle/>
          <a:p>
            <a:endParaRPr lang="zh-CN" altLang="en-US" dirty="0"/>
          </a:p>
        </p:txBody>
      </p:sp>
    </p:spTree>
    <p:extLst>
      <p:ext uri="{BB962C8B-B14F-4D97-AF65-F5344CB8AC3E}">
        <p14:creationId xmlns:p14="http://schemas.microsoft.com/office/powerpoint/2010/main" val="4215963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0187A1A-06BB-49BC-9C6B-7762F8EC9684}" type="datetimeFigureOut">
              <a:rPr lang="zh-CN" altLang="en-US" smtClean="0"/>
              <a:pPr/>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D5C84-A73A-4047-92FA-5505D3FE4586}" type="slidenum">
              <a:rPr lang="zh-CN" altLang="en-US" smtClean="0"/>
              <a:pPr/>
              <a:t>‹#›</a:t>
            </a:fld>
            <a:endParaRPr lang="zh-CN" altLang="en-US"/>
          </a:p>
        </p:txBody>
      </p:sp>
    </p:spTree>
    <p:extLst>
      <p:ext uri="{BB962C8B-B14F-4D97-AF65-F5344CB8AC3E}">
        <p14:creationId xmlns:p14="http://schemas.microsoft.com/office/powerpoint/2010/main" val="2972205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6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1"/>
          <p:cNvSpPr>
            <a:spLocks noGrp="1" noChangeArrowheads="1"/>
          </p:cNvSpPr>
          <p:nvPr>
            <p:ph type="sldNum" sz="quarter" idx="12"/>
          </p:nvPr>
        </p:nvSpPr>
        <p:spPr>
          <a:ln/>
        </p:spPr>
        <p:txBody>
          <a:bodyPr/>
          <a:lstStyle>
            <a:lvl1pPr>
              <a:defRPr/>
            </a:lvl1pPr>
          </a:lstStyle>
          <a:p>
            <a:pPr>
              <a:defRPr/>
            </a:pPr>
            <a:fld id="{8D09075C-B94D-46B3-BB01-6E9BB38D0DF4}" type="slidenum">
              <a:rPr lang="en-US" altLang="zh-CN"/>
              <a:pPr>
                <a:defRPr/>
              </a:pPr>
              <a:t>‹#›</a:t>
            </a:fld>
            <a:endParaRPr lang="en-US" altLang="zh-CN"/>
          </a:p>
        </p:txBody>
      </p:sp>
    </p:spTree>
    <p:extLst>
      <p:ext uri="{BB962C8B-B14F-4D97-AF65-F5344CB8AC3E}">
        <p14:creationId xmlns:p14="http://schemas.microsoft.com/office/powerpoint/2010/main" val="247005247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30B32BF-00E9-4E28-AD36-4C723244099B}"/>
              </a:ext>
            </a:extLst>
          </p:cNvPr>
          <p:cNvGrpSpPr/>
          <p:nvPr userDrawn="1"/>
        </p:nvGrpSpPr>
        <p:grpSpPr>
          <a:xfrm>
            <a:off x="0" y="316614"/>
            <a:ext cx="12192000" cy="457448"/>
            <a:chOff x="0" y="316614"/>
            <a:chExt cx="12192000" cy="457448"/>
          </a:xfrm>
        </p:grpSpPr>
        <p:sp>
          <p:nvSpPr>
            <p:cNvPr id="3" name="矩形 2">
              <a:extLst>
                <a:ext uri="{FF2B5EF4-FFF2-40B4-BE49-F238E27FC236}">
                  <a16:creationId xmlns:a16="http://schemas.microsoft.com/office/drawing/2014/main" id="{1C026653-28C0-41B1-8F4C-FB17CFF8FD3B}"/>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B3DFC97E-C8B4-4D56-AB09-120D268F46AC}"/>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A924C2AA-4050-47B2-921B-A61F2DED16C1}"/>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C6DC3324-CA14-4804-B40F-40EA90F4B7AE}"/>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Rectangle 2">
            <a:extLst>
              <a:ext uri="{FF2B5EF4-FFF2-40B4-BE49-F238E27FC236}">
                <a16:creationId xmlns:a16="http://schemas.microsoft.com/office/drawing/2014/main" id="{DB76A7A6-9AE9-4CD3-9677-95450A942005}"/>
              </a:ext>
            </a:extLst>
          </p:cNvPr>
          <p:cNvSpPr txBox="1">
            <a:spLocks noChangeArrowheads="1"/>
          </p:cNvSpPr>
          <p:nvPr userDrawn="1"/>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47690349"/>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62" r:id="rId4"/>
    <p:sldLayoutId id="2147483661" r:id="rId5"/>
    <p:sldLayoutId id="2147483660" r:id="rId6"/>
    <p:sldLayoutId id="2147483659" r:id="rId7"/>
    <p:sldLayoutId id="2147483658" r:id="rId8"/>
    <p:sldLayoutId id="2147483657" r:id="rId9"/>
    <p:sldLayoutId id="2147483656" r:id="rId10"/>
    <p:sldLayoutId id="2147483663" r:id="rId11"/>
    <p:sldLayoutId id="214748366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oleObject" Target="../embeddings/oleObject1.bin"/><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3.wav"/><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0.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1.wmf"/><Relationship Id="rId4" Type="http://schemas.openxmlformats.org/officeDocument/2006/relationships/oleObject" Target="../embeddings/oleObject2.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oleObject" Target="../embeddings/oleObject8.bin"/><Relationship Id="rId3" Type="http://schemas.openxmlformats.org/officeDocument/2006/relationships/audio" Target="../media/audio1.wav"/><Relationship Id="rId7" Type="http://schemas.openxmlformats.org/officeDocument/2006/relationships/image" Target="../media/image13.png"/><Relationship Id="rId12" Type="http://schemas.openxmlformats.org/officeDocument/2006/relationships/oleObject" Target="../embeddings/oleObject7.bin"/><Relationship Id="rId17" Type="http://schemas.openxmlformats.org/officeDocument/2006/relationships/image" Target="../media/image2.png"/><Relationship Id="rId2" Type="http://schemas.openxmlformats.org/officeDocument/2006/relationships/slideLayout" Target="../slideLayouts/slideLayout3.xml"/><Relationship Id="rId16" Type="http://schemas.openxmlformats.org/officeDocument/2006/relationships/image" Target="../media/image16.wmf"/><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15.png"/><Relationship Id="rId5" Type="http://schemas.openxmlformats.org/officeDocument/2006/relationships/image" Target="../media/image12.png"/><Relationship Id="rId15" Type="http://schemas.openxmlformats.org/officeDocument/2006/relationships/oleObject" Target="../embeddings/oleObject10.bin"/><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14.png"/><Relationship Id="rId14" Type="http://schemas.openxmlformats.org/officeDocument/2006/relationships/oleObject" Target="../embeddings/oleObject9.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3641912" y="0"/>
            <a:ext cx="9816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950759" y="0"/>
            <a:ext cx="9816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259606" y="0"/>
            <a:ext cx="98163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568452" y="0"/>
            <a:ext cx="9816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3"/>
          <a:stretch>
            <a:fillRect/>
          </a:stretch>
        </p:blipFill>
        <p:spPr>
          <a:xfrm>
            <a:off x="2212511" y="1755503"/>
            <a:ext cx="7766977" cy="3346994"/>
          </a:xfrm>
          <a:prstGeom prst="rect">
            <a:avLst/>
          </a:prstGeom>
        </p:spPr>
      </p:pic>
      <p:sp>
        <p:nvSpPr>
          <p:cNvPr id="18" name="文本框 17"/>
          <p:cNvSpPr txBox="1"/>
          <p:nvPr/>
        </p:nvSpPr>
        <p:spPr>
          <a:xfrm>
            <a:off x="3510199" y="2841605"/>
            <a:ext cx="5171609" cy="1107996"/>
          </a:xfrm>
          <a:prstGeom prst="rect">
            <a:avLst/>
          </a:prstGeom>
          <a:noFill/>
        </p:spPr>
        <p:txBody>
          <a:bodyPr wrap="none" rtlCol="0">
            <a:spAutoFit/>
          </a:bodyPr>
          <a:lstStyle/>
          <a:p>
            <a:pPr algn="ctr"/>
            <a:r>
              <a:rPr lang="zh-CN" altLang="en-US" sz="66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latin typeface="微软雅黑" panose="020B0503020204020204" pitchFamily="34" charset="-122"/>
                <a:ea typeface="微软雅黑" panose="020B0503020204020204" pitchFamily="34" charset="-122"/>
              </a:rPr>
              <a:t>第七章  函 数</a:t>
            </a:r>
          </a:p>
        </p:txBody>
      </p:sp>
      <p:sp>
        <p:nvSpPr>
          <p:cNvPr id="19" name="文本框 18"/>
          <p:cNvSpPr txBox="1"/>
          <p:nvPr/>
        </p:nvSpPr>
        <p:spPr>
          <a:xfrm>
            <a:off x="3483933" y="2505422"/>
            <a:ext cx="5197875" cy="373051"/>
          </a:xfrm>
          <a:prstGeom prst="rect">
            <a:avLst/>
          </a:prstGeom>
          <a:noFill/>
        </p:spPr>
        <p:txBody>
          <a:bodyPr wrap="square" rtlCol="0">
            <a:spAutoFit/>
          </a:bodyPr>
          <a:lstStyle/>
          <a:p>
            <a:pPr algn="dist">
              <a:lnSpc>
                <a:spcPct val="114000"/>
              </a:lnSpc>
            </a:pPr>
            <a:r>
              <a:rPr lang="en-US" altLang="zh-CN" sz="1600" dirty="0">
                <a:solidFill>
                  <a:schemeClr val="bg1">
                    <a:lumMod val="65000"/>
                  </a:schemeClr>
                </a:solidFill>
                <a:ea typeface="汉仪趣黑W" panose="00020600040101010101" pitchFamily="18" charset="-122"/>
              </a:rPr>
              <a:t>CHAPTER SEVEN FUNCTION</a:t>
            </a:r>
          </a:p>
        </p:txBody>
      </p:sp>
      <p:sp>
        <p:nvSpPr>
          <p:cNvPr id="26" name="椭圆 24"/>
          <p:cNvSpPr/>
          <p:nvPr/>
        </p:nvSpPr>
        <p:spPr>
          <a:xfrm>
            <a:off x="8383982" y="3771888"/>
            <a:ext cx="395980" cy="308697"/>
          </a:xfrm>
          <a:custGeom>
            <a:avLst/>
            <a:gdLst>
              <a:gd name="connsiteX0" fmla="*/ 257365 w 327025"/>
              <a:gd name="connsiteY0" fmla="*/ 42273 h 254942"/>
              <a:gd name="connsiteX1" fmla="*/ 263821 w 327025"/>
              <a:gd name="connsiteY1" fmla="*/ 43566 h 254942"/>
              <a:gd name="connsiteX2" fmla="*/ 262530 w 327025"/>
              <a:gd name="connsiteY2" fmla="*/ 50030 h 254942"/>
              <a:gd name="connsiteX3" fmla="*/ 81766 w 327025"/>
              <a:gd name="connsiteY3" fmla="*/ 171554 h 254942"/>
              <a:gd name="connsiteX4" fmla="*/ 81766 w 327025"/>
              <a:gd name="connsiteY4" fmla="*/ 237488 h 254942"/>
              <a:gd name="connsiteX5" fmla="*/ 98552 w 327025"/>
              <a:gd name="connsiteY5" fmla="*/ 220681 h 254942"/>
              <a:gd name="connsiteX6" fmla="*/ 106299 w 327025"/>
              <a:gd name="connsiteY6" fmla="*/ 220681 h 254942"/>
              <a:gd name="connsiteX7" fmla="*/ 106299 w 327025"/>
              <a:gd name="connsiteY7" fmla="*/ 228438 h 254942"/>
              <a:gd name="connsiteX8" fmla="*/ 80475 w 327025"/>
              <a:gd name="connsiteY8" fmla="*/ 253002 h 254942"/>
              <a:gd name="connsiteX9" fmla="*/ 72728 w 327025"/>
              <a:gd name="connsiteY9" fmla="*/ 253002 h 254942"/>
              <a:gd name="connsiteX10" fmla="*/ 71437 w 327025"/>
              <a:gd name="connsiteY10" fmla="*/ 249123 h 254942"/>
              <a:gd name="connsiteX11" fmla="*/ 71437 w 327025"/>
              <a:gd name="connsiteY11" fmla="*/ 177857 h 254942"/>
              <a:gd name="connsiteX12" fmla="*/ 71437 w 327025"/>
              <a:gd name="connsiteY12" fmla="*/ 170454 h 254942"/>
              <a:gd name="connsiteX13" fmla="*/ 72672 w 327025"/>
              <a:gd name="connsiteY13" fmla="*/ 171683 h 254942"/>
              <a:gd name="connsiteX14" fmla="*/ 80459 w 327025"/>
              <a:gd name="connsiteY14" fmla="*/ 171683 h 254942"/>
              <a:gd name="connsiteX15" fmla="*/ 80459 w 327025"/>
              <a:gd name="connsiteY15" fmla="*/ 165229 h 254942"/>
              <a:gd name="connsiteX16" fmla="*/ 79425 w 327025"/>
              <a:gd name="connsiteY16" fmla="*/ 164200 h 254942"/>
              <a:gd name="connsiteX17" fmla="*/ 77020 w 327025"/>
              <a:gd name="connsiteY17" fmla="*/ 161808 h 254942"/>
              <a:gd name="connsiteX18" fmla="*/ 134538 w 327025"/>
              <a:gd name="connsiteY18" fmla="*/ 123685 h 254942"/>
              <a:gd name="connsiteX19" fmla="*/ 257365 w 327025"/>
              <a:gd name="connsiteY19" fmla="*/ 42273 h 254942"/>
              <a:gd name="connsiteX20" fmla="*/ 321834 w 327025"/>
              <a:gd name="connsiteY20" fmla="*/ 0 h 254942"/>
              <a:gd name="connsiteX21" fmla="*/ 327025 w 327025"/>
              <a:gd name="connsiteY21" fmla="*/ 5164 h 254942"/>
              <a:gd name="connsiteX22" fmla="*/ 327025 w 327025"/>
              <a:gd name="connsiteY22" fmla="*/ 15490 h 254942"/>
              <a:gd name="connsiteX23" fmla="*/ 325727 w 327025"/>
              <a:gd name="connsiteY23" fmla="*/ 18072 h 254942"/>
              <a:gd name="connsiteX24" fmla="*/ 162215 w 327025"/>
              <a:gd name="connsiteY24" fmla="*/ 253006 h 254942"/>
              <a:gd name="connsiteX25" fmla="*/ 154429 w 327025"/>
              <a:gd name="connsiteY25" fmla="*/ 253006 h 254942"/>
              <a:gd name="connsiteX26" fmla="*/ 93436 w 327025"/>
              <a:gd name="connsiteY26" fmla="*/ 192337 h 254942"/>
              <a:gd name="connsiteX27" fmla="*/ 93436 w 327025"/>
              <a:gd name="connsiteY27" fmla="*/ 184591 h 254942"/>
              <a:gd name="connsiteX28" fmla="*/ 101222 w 327025"/>
              <a:gd name="connsiteY28" fmla="*/ 184591 h 254942"/>
              <a:gd name="connsiteX29" fmla="*/ 158322 w 327025"/>
              <a:gd name="connsiteY29" fmla="*/ 241389 h 254942"/>
              <a:gd name="connsiteX30" fmla="*/ 316643 w 327025"/>
              <a:gd name="connsiteY30" fmla="*/ 14199 h 254942"/>
              <a:gd name="connsiteX31" fmla="*/ 316643 w 327025"/>
              <a:gd name="connsiteY31" fmla="*/ 12909 h 254942"/>
              <a:gd name="connsiteX32" fmla="*/ 14275 w 327025"/>
              <a:gd name="connsiteY32" fmla="*/ 99395 h 254942"/>
              <a:gd name="connsiteX33" fmla="*/ 72186 w 327025"/>
              <a:gd name="connsiteY33" fmla="*/ 156999 h 254942"/>
              <a:gd name="connsiteX34" fmla="*/ 77020 w 327025"/>
              <a:gd name="connsiteY34" fmla="*/ 161808 h 254942"/>
              <a:gd name="connsiteX35" fmla="*/ 74019 w 327025"/>
              <a:gd name="connsiteY35" fmla="*/ 163797 h 254942"/>
              <a:gd name="connsiteX36" fmla="*/ 71437 w 327025"/>
              <a:gd name="connsiteY36" fmla="*/ 167676 h 254942"/>
              <a:gd name="connsiteX37" fmla="*/ 71437 w 327025"/>
              <a:gd name="connsiteY37" fmla="*/ 168948 h 254942"/>
              <a:gd name="connsiteX38" fmla="*/ 71437 w 327025"/>
              <a:gd name="connsiteY38" fmla="*/ 170454 h 254942"/>
              <a:gd name="connsiteX39" fmla="*/ 31409 w 327025"/>
              <a:gd name="connsiteY39" fmla="*/ 130638 h 254942"/>
              <a:gd name="connsiteX40" fmla="*/ 1298 w 327025"/>
              <a:gd name="connsiteY40" fmla="*/ 100686 h 254942"/>
              <a:gd name="connsiteX41" fmla="*/ 0 w 327025"/>
              <a:gd name="connsiteY41" fmla="*/ 98105 h 254942"/>
              <a:gd name="connsiteX42" fmla="*/ 3893 w 327025"/>
              <a:gd name="connsiteY42" fmla="*/ 92941 h 254942"/>
              <a:gd name="connsiteX43" fmla="*/ 320537 w 327025"/>
              <a:gd name="connsiteY43" fmla="*/ 1291 h 254942"/>
              <a:gd name="connsiteX44" fmla="*/ 321834 w 327025"/>
              <a:gd name="connsiteY44" fmla="*/ 0 h 25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27025" h="254942">
                <a:moveTo>
                  <a:pt x="257365" y="42273"/>
                </a:moveTo>
                <a:cubicBezTo>
                  <a:pt x="258656" y="39687"/>
                  <a:pt x="262530" y="40980"/>
                  <a:pt x="263821" y="43566"/>
                </a:cubicBezTo>
                <a:cubicBezTo>
                  <a:pt x="265112" y="44858"/>
                  <a:pt x="265112" y="48737"/>
                  <a:pt x="262530" y="50030"/>
                </a:cubicBezTo>
                <a:cubicBezTo>
                  <a:pt x="81766" y="171554"/>
                  <a:pt x="81766" y="171554"/>
                  <a:pt x="81766" y="171554"/>
                </a:cubicBezTo>
                <a:cubicBezTo>
                  <a:pt x="81766" y="237488"/>
                  <a:pt x="81766" y="237488"/>
                  <a:pt x="81766" y="237488"/>
                </a:cubicBezTo>
                <a:lnTo>
                  <a:pt x="98552" y="220681"/>
                </a:lnTo>
                <a:cubicBezTo>
                  <a:pt x="99843" y="218096"/>
                  <a:pt x="103716" y="218096"/>
                  <a:pt x="106299" y="220681"/>
                </a:cubicBezTo>
                <a:cubicBezTo>
                  <a:pt x="107590" y="221974"/>
                  <a:pt x="107590" y="225852"/>
                  <a:pt x="106299" y="228438"/>
                </a:cubicBezTo>
                <a:cubicBezTo>
                  <a:pt x="80475" y="253002"/>
                  <a:pt x="80475" y="253002"/>
                  <a:pt x="80475" y="253002"/>
                </a:cubicBezTo>
                <a:cubicBezTo>
                  <a:pt x="77893" y="255587"/>
                  <a:pt x="75311" y="255587"/>
                  <a:pt x="72728" y="253002"/>
                </a:cubicBezTo>
                <a:cubicBezTo>
                  <a:pt x="72728" y="251709"/>
                  <a:pt x="71437" y="250416"/>
                  <a:pt x="71437" y="249123"/>
                </a:cubicBezTo>
                <a:cubicBezTo>
                  <a:pt x="71437" y="208399"/>
                  <a:pt x="71437" y="188037"/>
                  <a:pt x="71437" y="177857"/>
                </a:cubicBezTo>
                <a:lnTo>
                  <a:pt x="71437" y="170454"/>
                </a:lnTo>
                <a:lnTo>
                  <a:pt x="72672" y="171683"/>
                </a:lnTo>
                <a:cubicBezTo>
                  <a:pt x="75268" y="174265"/>
                  <a:pt x="77863" y="174265"/>
                  <a:pt x="80459" y="171683"/>
                </a:cubicBezTo>
                <a:cubicBezTo>
                  <a:pt x="81756" y="170392"/>
                  <a:pt x="81756" y="166520"/>
                  <a:pt x="80459" y="165229"/>
                </a:cubicBezTo>
                <a:cubicBezTo>
                  <a:pt x="80459" y="165229"/>
                  <a:pt x="80459" y="165229"/>
                  <a:pt x="79425" y="164200"/>
                </a:cubicBezTo>
                <a:lnTo>
                  <a:pt x="77020" y="161808"/>
                </a:lnTo>
                <a:lnTo>
                  <a:pt x="134538" y="123685"/>
                </a:lnTo>
                <a:cubicBezTo>
                  <a:pt x="257365" y="42273"/>
                  <a:pt x="257365" y="42273"/>
                  <a:pt x="257365" y="42273"/>
                </a:cubicBezTo>
                <a:close/>
                <a:moveTo>
                  <a:pt x="321834" y="0"/>
                </a:moveTo>
                <a:cubicBezTo>
                  <a:pt x="324430" y="0"/>
                  <a:pt x="327025" y="2582"/>
                  <a:pt x="327025" y="5164"/>
                </a:cubicBezTo>
                <a:cubicBezTo>
                  <a:pt x="327025" y="15490"/>
                  <a:pt x="327025" y="15490"/>
                  <a:pt x="327025" y="15490"/>
                </a:cubicBezTo>
                <a:cubicBezTo>
                  <a:pt x="327025" y="16781"/>
                  <a:pt x="327025" y="18072"/>
                  <a:pt x="325727" y="18072"/>
                </a:cubicBezTo>
                <a:cubicBezTo>
                  <a:pt x="162215" y="253006"/>
                  <a:pt x="162215" y="253006"/>
                  <a:pt x="162215" y="253006"/>
                </a:cubicBezTo>
                <a:cubicBezTo>
                  <a:pt x="159619" y="255588"/>
                  <a:pt x="157024" y="255588"/>
                  <a:pt x="154429" y="253006"/>
                </a:cubicBezTo>
                <a:lnTo>
                  <a:pt x="93436" y="192337"/>
                </a:lnTo>
                <a:cubicBezTo>
                  <a:pt x="92138" y="189755"/>
                  <a:pt x="92138" y="187173"/>
                  <a:pt x="93436" y="184591"/>
                </a:cubicBezTo>
                <a:cubicBezTo>
                  <a:pt x="96031" y="183301"/>
                  <a:pt x="98627" y="183301"/>
                  <a:pt x="101222" y="184591"/>
                </a:cubicBezTo>
                <a:cubicBezTo>
                  <a:pt x="158322" y="241389"/>
                  <a:pt x="158322" y="241389"/>
                  <a:pt x="158322" y="241389"/>
                </a:cubicBezTo>
                <a:cubicBezTo>
                  <a:pt x="316643" y="14199"/>
                  <a:pt x="316643" y="14199"/>
                  <a:pt x="316643" y="14199"/>
                </a:cubicBezTo>
                <a:cubicBezTo>
                  <a:pt x="316643" y="12909"/>
                  <a:pt x="316643" y="12909"/>
                  <a:pt x="316643" y="12909"/>
                </a:cubicBezTo>
                <a:cubicBezTo>
                  <a:pt x="14275" y="99395"/>
                  <a:pt x="14275" y="99395"/>
                  <a:pt x="14275" y="99395"/>
                </a:cubicBezTo>
                <a:cubicBezTo>
                  <a:pt x="47367" y="132312"/>
                  <a:pt x="63913" y="148770"/>
                  <a:pt x="72186" y="156999"/>
                </a:cubicBezTo>
                <a:lnTo>
                  <a:pt x="77020" y="161808"/>
                </a:lnTo>
                <a:lnTo>
                  <a:pt x="74019" y="163797"/>
                </a:lnTo>
                <a:cubicBezTo>
                  <a:pt x="72728" y="165090"/>
                  <a:pt x="71437" y="166383"/>
                  <a:pt x="71437" y="167676"/>
                </a:cubicBezTo>
                <a:cubicBezTo>
                  <a:pt x="71437" y="167676"/>
                  <a:pt x="71437" y="167676"/>
                  <a:pt x="71437" y="168948"/>
                </a:cubicBezTo>
                <a:lnTo>
                  <a:pt x="71437" y="170454"/>
                </a:lnTo>
                <a:lnTo>
                  <a:pt x="31409" y="130638"/>
                </a:lnTo>
                <a:cubicBezTo>
                  <a:pt x="1298" y="100686"/>
                  <a:pt x="1298" y="100686"/>
                  <a:pt x="1298" y="100686"/>
                </a:cubicBezTo>
                <a:cubicBezTo>
                  <a:pt x="1298" y="100686"/>
                  <a:pt x="0" y="99395"/>
                  <a:pt x="0" y="98105"/>
                </a:cubicBezTo>
                <a:cubicBezTo>
                  <a:pt x="0" y="95523"/>
                  <a:pt x="1298" y="92941"/>
                  <a:pt x="3893" y="92941"/>
                </a:cubicBezTo>
                <a:cubicBezTo>
                  <a:pt x="320537" y="1291"/>
                  <a:pt x="320537" y="1291"/>
                  <a:pt x="320537" y="1291"/>
                </a:cubicBezTo>
                <a:cubicBezTo>
                  <a:pt x="320537" y="1291"/>
                  <a:pt x="321834" y="0"/>
                  <a:pt x="3218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7" name="任意多边形: 形状 26"/>
          <p:cNvSpPr/>
          <p:nvPr/>
        </p:nvSpPr>
        <p:spPr>
          <a:xfrm>
            <a:off x="3380489" y="3926237"/>
            <a:ext cx="5082363" cy="235940"/>
          </a:xfrm>
          <a:custGeom>
            <a:avLst/>
            <a:gdLst>
              <a:gd name="connsiteX0" fmla="*/ 0 w 5082363"/>
              <a:gd name="connsiteY0" fmla="*/ 11802 h 235940"/>
              <a:gd name="connsiteX1" fmla="*/ 1052623 w 5082363"/>
              <a:gd name="connsiteY1" fmla="*/ 139393 h 235940"/>
              <a:gd name="connsiteX2" fmla="*/ 2402958 w 5082363"/>
              <a:gd name="connsiteY2" fmla="*/ 1169 h 235940"/>
              <a:gd name="connsiteX3" fmla="*/ 4040372 w 5082363"/>
              <a:gd name="connsiteY3" fmla="*/ 235086 h 235940"/>
              <a:gd name="connsiteX4" fmla="*/ 5082363 w 5082363"/>
              <a:gd name="connsiteY4" fmla="*/ 64965 h 235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2363" h="235940">
                <a:moveTo>
                  <a:pt x="0" y="11802"/>
                </a:moveTo>
                <a:cubicBezTo>
                  <a:pt x="326065" y="76483"/>
                  <a:pt x="652130" y="141165"/>
                  <a:pt x="1052623" y="139393"/>
                </a:cubicBezTo>
                <a:cubicBezTo>
                  <a:pt x="1453116" y="137621"/>
                  <a:pt x="1905000" y="-14780"/>
                  <a:pt x="2402958" y="1169"/>
                </a:cubicBezTo>
                <a:cubicBezTo>
                  <a:pt x="2900916" y="17118"/>
                  <a:pt x="3593805" y="224453"/>
                  <a:pt x="4040372" y="235086"/>
                </a:cubicBezTo>
                <a:cubicBezTo>
                  <a:pt x="4486939" y="245719"/>
                  <a:pt x="4784651" y="155342"/>
                  <a:pt x="5082363" y="64965"/>
                </a:cubicBezTo>
              </a:path>
            </a:pathLst>
          </a:custGeom>
          <a:noFill/>
          <a:ln w="317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0657204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ppt_x"/>
                                          </p:val>
                                        </p:tav>
                                        <p:tav tm="100000">
                                          <p:val>
                                            <p:strVal val="#ppt_x"/>
                                          </p:val>
                                        </p:tav>
                                      </p:tavLst>
                                    </p:anim>
                                    <p:anim calcmode="lin" valueType="num">
                                      <p:cBhvr additive="base">
                                        <p:cTn id="8" dur="10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fill="hold"/>
                                        <p:tgtEl>
                                          <p:spTgt spid="12"/>
                                        </p:tgtEl>
                                        <p:attrNameLst>
                                          <p:attrName>ppt_x</p:attrName>
                                        </p:attrNameLst>
                                      </p:cBhvr>
                                      <p:tavLst>
                                        <p:tav tm="0">
                                          <p:val>
                                            <p:strVal val="#ppt_x"/>
                                          </p:val>
                                        </p:tav>
                                        <p:tav tm="100000">
                                          <p:val>
                                            <p:strVal val="#ppt_x"/>
                                          </p:val>
                                        </p:tav>
                                      </p:tavLst>
                                    </p:anim>
                                    <p:anim calcmode="lin" valueType="num">
                                      <p:cBhvr additive="base">
                                        <p:cTn id="12" dur="10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000" fill="hold"/>
                                        <p:tgtEl>
                                          <p:spTgt spid="13"/>
                                        </p:tgtEl>
                                        <p:attrNameLst>
                                          <p:attrName>ppt_x</p:attrName>
                                        </p:attrNameLst>
                                      </p:cBhvr>
                                      <p:tavLst>
                                        <p:tav tm="0">
                                          <p:val>
                                            <p:strVal val="#ppt_x"/>
                                          </p:val>
                                        </p:tav>
                                        <p:tav tm="100000">
                                          <p:val>
                                            <p:strVal val="#ppt_x"/>
                                          </p:val>
                                        </p:tav>
                                      </p:tavLst>
                                    </p:anim>
                                    <p:anim calcmode="lin" valueType="num">
                                      <p:cBhvr additive="base">
                                        <p:cTn id="16" dur="10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ppt_x"/>
                                          </p:val>
                                        </p:tav>
                                        <p:tav tm="100000">
                                          <p:val>
                                            <p:strVal val="#ppt_x"/>
                                          </p:val>
                                        </p:tav>
                                      </p:tavLst>
                                    </p:anim>
                                    <p:anim calcmode="lin" valueType="num">
                                      <p:cBhvr additive="base">
                                        <p:cTn id="20" dur="1000" fill="hold"/>
                                        <p:tgtEl>
                                          <p:spTgt spid="14"/>
                                        </p:tgtEl>
                                        <p:attrNameLst>
                                          <p:attrName>ppt_y</p:attrName>
                                        </p:attrNameLst>
                                      </p:cBhvr>
                                      <p:tavLst>
                                        <p:tav tm="0">
                                          <p:val>
                                            <p:strVal val="1+#ppt_h/2"/>
                                          </p:val>
                                        </p:tav>
                                        <p:tav tm="100000">
                                          <p:val>
                                            <p:strVal val="#ppt_y"/>
                                          </p:val>
                                        </p:tav>
                                      </p:tavLst>
                                    </p:anim>
                                  </p:childTnLst>
                                </p:cTn>
                              </p:par>
                            </p:childTnLst>
                          </p:cTn>
                        </p:par>
                        <p:par>
                          <p:cTn id="21" fill="hold">
                            <p:stCondLst>
                              <p:cond delay="1300"/>
                            </p:stCondLst>
                            <p:childTnLst>
                              <p:par>
                                <p:cTn id="22" presetID="47" presetClass="entr" presetSubtype="0"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par>
                          <p:cTn id="27" fill="hold">
                            <p:stCondLst>
                              <p:cond delay="2300"/>
                            </p:stCondLst>
                            <p:childTnLst>
                              <p:par>
                                <p:cTn id="28" presetID="53" presetClass="entr" presetSubtype="16"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 calcmode="lin" valueType="num">
                                      <p:cBhvr>
                                        <p:cTn id="30" dur="500" fill="hold"/>
                                        <p:tgtEl>
                                          <p:spTgt spid="18"/>
                                        </p:tgtEl>
                                        <p:attrNameLst>
                                          <p:attrName>ppt_w</p:attrName>
                                        </p:attrNameLst>
                                      </p:cBhvr>
                                      <p:tavLst>
                                        <p:tav tm="0">
                                          <p:val>
                                            <p:fltVal val="0"/>
                                          </p:val>
                                        </p:tav>
                                        <p:tav tm="100000">
                                          <p:val>
                                            <p:strVal val="#ppt_w"/>
                                          </p:val>
                                        </p:tav>
                                      </p:tavLst>
                                    </p:anim>
                                    <p:anim calcmode="lin" valueType="num">
                                      <p:cBhvr>
                                        <p:cTn id="31" dur="500" fill="hold"/>
                                        <p:tgtEl>
                                          <p:spTgt spid="18"/>
                                        </p:tgtEl>
                                        <p:attrNameLst>
                                          <p:attrName>ppt_h</p:attrName>
                                        </p:attrNameLst>
                                      </p:cBhvr>
                                      <p:tavLst>
                                        <p:tav tm="0">
                                          <p:val>
                                            <p:fltVal val="0"/>
                                          </p:val>
                                        </p:tav>
                                        <p:tav tm="100000">
                                          <p:val>
                                            <p:strVal val="#ppt_h"/>
                                          </p:val>
                                        </p:tav>
                                      </p:tavLst>
                                    </p:anim>
                                    <p:animEffect transition="in" filter="fade">
                                      <p:cBhvr>
                                        <p:cTn id="32" dur="500"/>
                                        <p:tgtEl>
                                          <p:spTgt spid="18"/>
                                        </p:tgtEl>
                                      </p:cBhvr>
                                    </p:animEffect>
                                  </p:childTnLst>
                                </p:cTn>
                              </p:par>
                            </p:childTnLst>
                          </p:cTn>
                        </p:par>
                        <p:par>
                          <p:cTn id="33" fill="hold">
                            <p:stCondLst>
                              <p:cond delay="2800"/>
                            </p:stCondLst>
                            <p:childTnLst>
                              <p:par>
                                <p:cTn id="34" presetID="14" presetClass="entr" presetSubtype="10"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randombar(horizontal)">
                                      <p:cBhvr>
                                        <p:cTn id="36" dur="500"/>
                                        <p:tgtEl>
                                          <p:spTgt spid="19"/>
                                        </p:tgtEl>
                                      </p:cBhvr>
                                    </p:animEffect>
                                  </p:childTnLst>
                                </p:cTn>
                              </p:par>
                            </p:childTnLst>
                          </p:cTn>
                        </p:par>
                        <p:par>
                          <p:cTn id="37" fill="hold">
                            <p:stCondLst>
                              <p:cond delay="3300"/>
                            </p:stCondLst>
                            <p:childTnLst>
                              <p:par>
                                <p:cTn id="38" presetID="22" presetClass="entr" presetSubtype="8" fill="hold" grpId="0"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500"/>
                                        <p:tgtEl>
                                          <p:spTgt spid="27"/>
                                        </p:tgtEl>
                                      </p:cBhvr>
                                    </p:animEffect>
                                  </p:childTnLst>
                                </p:cTn>
                              </p:par>
                            </p:childTnLst>
                          </p:cTn>
                        </p:par>
                        <p:par>
                          <p:cTn id="41" fill="hold">
                            <p:stCondLst>
                              <p:cond delay="3800"/>
                            </p:stCondLst>
                            <p:childTnLst>
                              <p:par>
                                <p:cTn id="42" presetID="10" presetClass="entr" presetSubtype="0" fill="hold" grpId="0" nodeType="after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8" grpId="0"/>
      <p:bldP spid="19" grpId="0"/>
      <p:bldP spid="26" grpId="0" animBg="1"/>
      <p:bldP spid="2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680998" y="0"/>
            <a:ext cx="465631" cy="5500914"/>
            <a:chOff x="680998" y="0"/>
            <a:chExt cx="465631" cy="5500914"/>
          </a:xfrm>
        </p:grpSpPr>
        <p:sp>
          <p:nvSpPr>
            <p:cNvPr id="2" name="矩形 1"/>
            <p:cNvSpPr/>
            <p:nvPr/>
          </p:nvSpPr>
          <p:spPr>
            <a:xfrm>
              <a:off x="680998" y="0"/>
              <a:ext cx="465631" cy="1277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80998" y="1382485"/>
              <a:ext cx="465631" cy="4118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1272417" y="1"/>
            <a:ext cx="465631" cy="3995056"/>
            <a:chOff x="1272417" y="1"/>
            <a:chExt cx="465631" cy="3995056"/>
          </a:xfrm>
        </p:grpSpPr>
        <p:sp>
          <p:nvSpPr>
            <p:cNvPr id="4" name="矩形 3"/>
            <p:cNvSpPr/>
            <p:nvPr/>
          </p:nvSpPr>
          <p:spPr>
            <a:xfrm>
              <a:off x="1272417" y="1"/>
              <a:ext cx="465631" cy="29935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272417" y="3098799"/>
              <a:ext cx="465631" cy="8962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1863836" y="0"/>
            <a:ext cx="465631" cy="4934858"/>
            <a:chOff x="1863836" y="0"/>
            <a:chExt cx="465631" cy="4934858"/>
          </a:xfrm>
        </p:grpSpPr>
        <p:sp>
          <p:nvSpPr>
            <p:cNvPr id="6" name="矩形 5"/>
            <p:cNvSpPr/>
            <p:nvPr/>
          </p:nvSpPr>
          <p:spPr>
            <a:xfrm>
              <a:off x="1863836" y="0"/>
              <a:ext cx="465631" cy="36321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863836" y="3737428"/>
              <a:ext cx="465631" cy="11974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2455255" y="0"/>
            <a:ext cx="465631" cy="4122057"/>
            <a:chOff x="2455255" y="0"/>
            <a:chExt cx="465631" cy="4122057"/>
          </a:xfrm>
        </p:grpSpPr>
        <p:sp>
          <p:nvSpPr>
            <p:cNvPr id="8" name="矩形 7"/>
            <p:cNvSpPr/>
            <p:nvPr/>
          </p:nvSpPr>
          <p:spPr>
            <a:xfrm>
              <a:off x="2455255" y="1872343"/>
              <a:ext cx="465631" cy="5653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455255" y="2542948"/>
              <a:ext cx="465631" cy="15791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455255" y="0"/>
              <a:ext cx="465631" cy="17671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4176000" y="30928"/>
            <a:ext cx="3741729" cy="900000"/>
          </a:xfrm>
          <a:prstGeom prst="rect">
            <a:avLst/>
          </a:prstGeom>
          <a:solidFill>
            <a:schemeClr val="bg1"/>
          </a:solidFill>
        </p:spPr>
        <p:txBody>
          <a:bodyPr wrap="none" rtlCol="0">
            <a:spAutoFit/>
          </a:bodyPr>
          <a:lstStyle/>
          <a:p>
            <a:pPr algn="ctr"/>
            <a:r>
              <a:rPr lang="en-US" altLang="zh-CN" sz="66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rPr>
              <a:t>CONTENT</a:t>
            </a:r>
            <a:endParaRPr lang="zh-CN" altLang="en-US" sz="66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endParaRPr>
          </a:p>
        </p:txBody>
      </p:sp>
      <p:grpSp>
        <p:nvGrpSpPr>
          <p:cNvPr id="14" name="组合 13"/>
          <p:cNvGrpSpPr/>
          <p:nvPr/>
        </p:nvGrpSpPr>
        <p:grpSpPr>
          <a:xfrm>
            <a:off x="3117822" y="1480596"/>
            <a:ext cx="4220215" cy="537503"/>
            <a:chOff x="5221553" y="2578679"/>
            <a:chExt cx="4659321" cy="593429"/>
          </a:xfrm>
        </p:grpSpPr>
        <p:sp>
          <p:nvSpPr>
            <p:cNvPr id="12" name="文本框 11"/>
            <p:cNvSpPr txBox="1"/>
            <p:nvPr/>
          </p:nvSpPr>
          <p:spPr>
            <a:xfrm>
              <a:off x="6052459" y="2578679"/>
              <a:ext cx="3828415" cy="577660"/>
            </a:xfrm>
            <a:prstGeom prst="rect">
              <a:avLst/>
            </a:prstGeom>
            <a:noFill/>
          </p:spPr>
          <p:txBody>
            <a:bodyPr wrap="square" rtlCol="0">
              <a:spAutoFit/>
            </a:bodyPr>
            <a:lstStyle/>
            <a:p>
              <a:r>
                <a:rPr lang="zh-CN" altLang="en-US" sz="2800" b="1" dirty="0">
                  <a:solidFill>
                    <a:srgbClr val="FC6495"/>
                  </a:solidFill>
                  <a:latin typeface="Times New Roman" pitchFamily="18" charset="0"/>
                  <a:cs typeface="Times New Roman" pitchFamily="18" charset="0"/>
                </a:rPr>
                <a:t>福利彩票问题</a:t>
              </a:r>
              <a:endParaRPr lang="zh-CN" altLang="en-US" sz="2800" b="1" dirty="0">
                <a:solidFill>
                  <a:srgbClr val="FC6495"/>
                </a:solidFill>
                <a:latin typeface="汉仪趣黑W" panose="00020600040101010101" pitchFamily="18" charset="-122"/>
                <a:ea typeface="汉仪趣黑W" panose="00020600040101010101" pitchFamily="18" charset="-122"/>
              </a:endParaRPr>
            </a:p>
          </p:txBody>
        </p:sp>
        <p:sp>
          <p:nvSpPr>
            <p:cNvPr id="13" name="矩形 12"/>
            <p:cNvSpPr/>
            <p:nvPr/>
          </p:nvSpPr>
          <p:spPr>
            <a:xfrm>
              <a:off x="5221553" y="2606052"/>
              <a:ext cx="566056" cy="566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1</a:t>
              </a:r>
              <a:endParaRPr lang="zh-CN" altLang="en-US" b="1" dirty="0"/>
            </a:p>
          </p:txBody>
        </p:sp>
      </p:grpSp>
      <p:grpSp>
        <p:nvGrpSpPr>
          <p:cNvPr id="15" name="组合 14"/>
          <p:cNvGrpSpPr/>
          <p:nvPr/>
        </p:nvGrpSpPr>
        <p:grpSpPr>
          <a:xfrm>
            <a:off x="3128449" y="2102777"/>
            <a:ext cx="2732627" cy="537503"/>
            <a:chOff x="5221553" y="2578679"/>
            <a:chExt cx="3016952" cy="593429"/>
          </a:xfrm>
        </p:grpSpPr>
        <p:sp>
          <p:nvSpPr>
            <p:cNvPr id="16" name="文本框 15"/>
            <p:cNvSpPr txBox="1"/>
            <p:nvPr/>
          </p:nvSpPr>
          <p:spPr>
            <a:xfrm>
              <a:off x="6052458" y="2578679"/>
              <a:ext cx="2186047" cy="577660"/>
            </a:xfrm>
            <a:prstGeom prst="rect">
              <a:avLst/>
            </a:prstGeom>
            <a:noFill/>
          </p:spPr>
          <p:txBody>
            <a:bodyPr wrap="none" rtlCol="0">
              <a:spAutoFit/>
            </a:bodyPr>
            <a:lstStyle/>
            <a:p>
              <a:pPr algn="ctr"/>
              <a:r>
                <a:rPr lang="zh-CN" altLang="en-US" sz="2800" b="1" dirty="0">
                  <a:solidFill>
                    <a:srgbClr val="FEBD01"/>
                  </a:solidFill>
                  <a:latin typeface="Times New Roman" pitchFamily="18" charset="0"/>
                  <a:cs typeface="Times New Roman" pitchFamily="18" charset="0"/>
                </a:rPr>
                <a:t>函数的概念</a:t>
              </a:r>
            </a:p>
          </p:txBody>
        </p:sp>
        <p:sp>
          <p:nvSpPr>
            <p:cNvPr id="17" name="矩形 16"/>
            <p:cNvSpPr/>
            <p:nvPr/>
          </p:nvSpPr>
          <p:spPr>
            <a:xfrm>
              <a:off x="5221553" y="2606052"/>
              <a:ext cx="566056" cy="5660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2</a:t>
              </a:r>
              <a:endParaRPr lang="zh-CN" altLang="en-US" b="1" dirty="0"/>
            </a:p>
          </p:txBody>
        </p:sp>
      </p:grpSp>
      <p:grpSp>
        <p:nvGrpSpPr>
          <p:cNvPr id="18" name="组合 17"/>
          <p:cNvGrpSpPr/>
          <p:nvPr/>
        </p:nvGrpSpPr>
        <p:grpSpPr>
          <a:xfrm>
            <a:off x="3128452" y="2714315"/>
            <a:ext cx="4527992" cy="537503"/>
            <a:chOff x="5221553" y="2578679"/>
            <a:chExt cx="4999122" cy="593429"/>
          </a:xfrm>
        </p:grpSpPr>
        <p:sp>
          <p:nvSpPr>
            <p:cNvPr id="19" name="文本框 18"/>
            <p:cNvSpPr txBox="1"/>
            <p:nvPr/>
          </p:nvSpPr>
          <p:spPr>
            <a:xfrm>
              <a:off x="6052459" y="2578679"/>
              <a:ext cx="4168216" cy="577660"/>
            </a:xfrm>
            <a:prstGeom prst="rect">
              <a:avLst/>
            </a:prstGeom>
            <a:noFill/>
          </p:spPr>
          <p:txBody>
            <a:bodyPr wrap="none" rtlCol="0">
              <a:spAutoFit/>
            </a:bodyPr>
            <a:lstStyle/>
            <a:p>
              <a:pPr algn="ctr"/>
              <a:r>
                <a:rPr lang="zh-CN" altLang="zh-CN" sz="2800" b="1" dirty="0">
                  <a:solidFill>
                    <a:srgbClr val="8FCD4C"/>
                  </a:solidFill>
                  <a:latin typeface="Times New Roman" pitchFamily="18" charset="0"/>
                  <a:cs typeface="Times New Roman" pitchFamily="18" charset="0"/>
                </a:rPr>
                <a:t>函数的调用和返回语句</a:t>
              </a:r>
              <a:endParaRPr lang="zh-CN" altLang="en-US" sz="2800" b="1" dirty="0">
                <a:solidFill>
                  <a:srgbClr val="8FCD4C"/>
                </a:solidFill>
                <a:latin typeface="汉仪趣黑W" panose="00020600040101010101" pitchFamily="18" charset="-122"/>
                <a:ea typeface="汉仪趣黑W" panose="00020600040101010101" pitchFamily="18" charset="-122"/>
              </a:endParaRPr>
            </a:p>
          </p:txBody>
        </p:sp>
        <p:sp>
          <p:nvSpPr>
            <p:cNvPr id="20" name="矩形 19"/>
            <p:cNvSpPr/>
            <p:nvPr/>
          </p:nvSpPr>
          <p:spPr>
            <a:xfrm>
              <a:off x="5221553" y="2606052"/>
              <a:ext cx="566056" cy="56605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3</a:t>
              </a:r>
              <a:endParaRPr lang="zh-CN" altLang="en-US" b="1" dirty="0"/>
            </a:p>
          </p:txBody>
        </p:sp>
      </p:grpSp>
      <p:grpSp>
        <p:nvGrpSpPr>
          <p:cNvPr id="21" name="组合 20"/>
          <p:cNvGrpSpPr/>
          <p:nvPr/>
        </p:nvGrpSpPr>
        <p:grpSpPr>
          <a:xfrm>
            <a:off x="3139085" y="3357756"/>
            <a:ext cx="3450775" cy="537503"/>
            <a:chOff x="5221553" y="2578679"/>
            <a:chExt cx="3809822" cy="593429"/>
          </a:xfrm>
        </p:grpSpPr>
        <p:sp>
          <p:nvSpPr>
            <p:cNvPr id="22" name="文本框 21"/>
            <p:cNvSpPr txBox="1"/>
            <p:nvPr/>
          </p:nvSpPr>
          <p:spPr>
            <a:xfrm>
              <a:off x="6052459" y="2578679"/>
              <a:ext cx="2978916" cy="577660"/>
            </a:xfrm>
            <a:prstGeom prst="rect">
              <a:avLst/>
            </a:prstGeom>
            <a:noFill/>
          </p:spPr>
          <p:txBody>
            <a:bodyPr wrap="none" rtlCol="0">
              <a:spAutoFit/>
            </a:bodyPr>
            <a:lstStyle/>
            <a:p>
              <a:pPr algn="ctr"/>
              <a:r>
                <a:rPr lang="zh-CN" altLang="zh-CN" sz="2800" b="1" dirty="0">
                  <a:solidFill>
                    <a:srgbClr val="4BA9C3"/>
                  </a:solidFill>
                  <a:latin typeface="Times New Roman" pitchFamily="18" charset="0"/>
                  <a:cs typeface="Times New Roman" pitchFamily="18" charset="0"/>
                </a:rPr>
                <a:t>函数的参数</a:t>
              </a:r>
              <a:r>
                <a:rPr lang="zh-CN" altLang="en-US" sz="2800" b="1" dirty="0">
                  <a:solidFill>
                    <a:srgbClr val="4BA9C3"/>
                  </a:solidFill>
                  <a:latin typeface="Times New Roman" pitchFamily="18" charset="0"/>
                  <a:cs typeface="Times New Roman" pitchFamily="18" charset="0"/>
                </a:rPr>
                <a:t>传递</a:t>
              </a:r>
              <a:endParaRPr lang="zh-CN" altLang="en-US" sz="2800" b="1" dirty="0">
                <a:solidFill>
                  <a:srgbClr val="4BA9C3"/>
                </a:solidFill>
                <a:latin typeface="汉仪趣黑W" panose="00020600040101010101" pitchFamily="18" charset="-122"/>
                <a:ea typeface="汉仪趣黑W" panose="00020600040101010101" pitchFamily="18" charset="-122"/>
              </a:endParaRPr>
            </a:p>
          </p:txBody>
        </p:sp>
        <p:sp>
          <p:nvSpPr>
            <p:cNvPr id="23" name="矩形 22"/>
            <p:cNvSpPr/>
            <p:nvPr/>
          </p:nvSpPr>
          <p:spPr>
            <a:xfrm>
              <a:off x="5221553" y="2606052"/>
              <a:ext cx="566056" cy="56605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4</a:t>
              </a:r>
              <a:endParaRPr lang="zh-CN" altLang="en-US" b="1" dirty="0"/>
            </a:p>
          </p:txBody>
        </p:sp>
      </p:grpSp>
      <p:grpSp>
        <p:nvGrpSpPr>
          <p:cNvPr id="28" name="组合 27">
            <a:extLst>
              <a:ext uri="{FF2B5EF4-FFF2-40B4-BE49-F238E27FC236}">
                <a16:creationId xmlns:a16="http://schemas.microsoft.com/office/drawing/2014/main" id="{2A63E4AA-DF8B-416F-A365-9EF28F612F48}"/>
              </a:ext>
            </a:extLst>
          </p:cNvPr>
          <p:cNvGrpSpPr/>
          <p:nvPr/>
        </p:nvGrpSpPr>
        <p:grpSpPr>
          <a:xfrm>
            <a:off x="3131988" y="3999261"/>
            <a:ext cx="3809846" cy="537503"/>
            <a:chOff x="5221553" y="2578679"/>
            <a:chExt cx="4206255" cy="593429"/>
          </a:xfrm>
        </p:grpSpPr>
        <p:sp>
          <p:nvSpPr>
            <p:cNvPr id="29" name="文本框 28">
              <a:extLst>
                <a:ext uri="{FF2B5EF4-FFF2-40B4-BE49-F238E27FC236}">
                  <a16:creationId xmlns:a16="http://schemas.microsoft.com/office/drawing/2014/main" id="{C51B7A71-AF68-41D1-AD7F-39D90C5183EA}"/>
                </a:ext>
              </a:extLst>
            </p:cNvPr>
            <p:cNvSpPr txBox="1"/>
            <p:nvPr/>
          </p:nvSpPr>
          <p:spPr>
            <a:xfrm>
              <a:off x="6052459" y="2578679"/>
              <a:ext cx="3375349" cy="577660"/>
            </a:xfrm>
            <a:prstGeom prst="rect">
              <a:avLst/>
            </a:prstGeom>
            <a:noFill/>
          </p:spPr>
          <p:txBody>
            <a:bodyPr wrap="none" rtlCol="0">
              <a:spAutoFit/>
            </a:bodyPr>
            <a:lstStyle/>
            <a:p>
              <a:pPr algn="ctr"/>
              <a:r>
                <a:rPr lang="zh-CN" altLang="zh-CN" sz="2800" b="1" dirty="0">
                  <a:solidFill>
                    <a:srgbClr val="FF0000"/>
                  </a:solidFill>
                  <a:latin typeface="Times New Roman" pitchFamily="18" charset="0"/>
                  <a:cs typeface="Times New Roman" pitchFamily="18" charset="0"/>
                </a:rPr>
                <a:t>函数的嵌套与递归</a:t>
              </a:r>
              <a:endParaRPr lang="zh-CN" altLang="en-US" sz="2800" b="1" dirty="0">
                <a:solidFill>
                  <a:srgbClr val="FF0000"/>
                </a:solidFill>
                <a:latin typeface="汉仪趣黑W" panose="00020600040101010101" pitchFamily="18" charset="-122"/>
                <a:ea typeface="汉仪趣黑W" panose="00020600040101010101" pitchFamily="18" charset="-122"/>
              </a:endParaRPr>
            </a:p>
          </p:txBody>
        </p:sp>
        <p:sp>
          <p:nvSpPr>
            <p:cNvPr id="30" name="矩形 29">
              <a:extLst>
                <a:ext uri="{FF2B5EF4-FFF2-40B4-BE49-F238E27FC236}">
                  <a16:creationId xmlns:a16="http://schemas.microsoft.com/office/drawing/2014/main" id="{E306E70B-A7F9-4A40-9BD5-179416BF0928}"/>
                </a:ext>
              </a:extLst>
            </p:cNvPr>
            <p:cNvSpPr/>
            <p:nvPr/>
          </p:nvSpPr>
          <p:spPr>
            <a:xfrm>
              <a:off x="5221553" y="2606052"/>
              <a:ext cx="566056" cy="56605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5</a:t>
              </a:r>
              <a:endParaRPr lang="zh-CN" altLang="en-US" b="1" dirty="0"/>
            </a:p>
          </p:txBody>
        </p:sp>
      </p:grpSp>
      <p:grpSp>
        <p:nvGrpSpPr>
          <p:cNvPr id="31" name="组合 30">
            <a:extLst>
              <a:ext uri="{FF2B5EF4-FFF2-40B4-BE49-F238E27FC236}">
                <a16:creationId xmlns:a16="http://schemas.microsoft.com/office/drawing/2014/main" id="{76BF8854-D71E-41C2-BBF5-27699757FDF6}"/>
              </a:ext>
            </a:extLst>
          </p:cNvPr>
          <p:cNvGrpSpPr/>
          <p:nvPr/>
        </p:nvGrpSpPr>
        <p:grpSpPr>
          <a:xfrm>
            <a:off x="3142628" y="4647843"/>
            <a:ext cx="4168920" cy="537503"/>
            <a:chOff x="5221553" y="2578679"/>
            <a:chExt cx="4602688" cy="593429"/>
          </a:xfrm>
        </p:grpSpPr>
        <p:sp>
          <p:nvSpPr>
            <p:cNvPr id="32" name="文本框 31">
              <a:extLst>
                <a:ext uri="{FF2B5EF4-FFF2-40B4-BE49-F238E27FC236}">
                  <a16:creationId xmlns:a16="http://schemas.microsoft.com/office/drawing/2014/main" id="{9EE440E7-E175-4071-96F6-5227555CEC58}"/>
                </a:ext>
              </a:extLst>
            </p:cNvPr>
            <p:cNvSpPr txBox="1"/>
            <p:nvPr/>
          </p:nvSpPr>
          <p:spPr>
            <a:xfrm>
              <a:off x="6052459" y="2578679"/>
              <a:ext cx="3771782" cy="577660"/>
            </a:xfrm>
            <a:prstGeom prst="rect">
              <a:avLst/>
            </a:prstGeom>
            <a:noFill/>
          </p:spPr>
          <p:txBody>
            <a:bodyPr wrap="none" rtlCol="0">
              <a:spAutoFit/>
            </a:bodyPr>
            <a:lstStyle/>
            <a:p>
              <a:pPr algn="ctr"/>
              <a:r>
                <a:rPr lang="zh-CN" altLang="zh-CN" sz="2800" b="1" dirty="0">
                  <a:solidFill>
                    <a:srgbClr val="00B0F0"/>
                  </a:solidFill>
                  <a:latin typeface="Times New Roman" pitchFamily="18" charset="0"/>
                  <a:cs typeface="Times New Roman" pitchFamily="18" charset="0"/>
                </a:rPr>
                <a:t>变量和函数的作用域</a:t>
              </a:r>
              <a:endParaRPr lang="zh-CN" altLang="en-US" sz="2800" b="1" dirty="0">
                <a:solidFill>
                  <a:srgbClr val="00B0F0"/>
                </a:solidFill>
                <a:latin typeface="汉仪趣黑W" panose="00020600040101010101" pitchFamily="18" charset="-122"/>
                <a:ea typeface="汉仪趣黑W" panose="00020600040101010101" pitchFamily="18" charset="-122"/>
              </a:endParaRPr>
            </a:p>
          </p:txBody>
        </p:sp>
        <p:sp>
          <p:nvSpPr>
            <p:cNvPr id="33" name="矩形 32">
              <a:extLst>
                <a:ext uri="{FF2B5EF4-FFF2-40B4-BE49-F238E27FC236}">
                  <a16:creationId xmlns:a16="http://schemas.microsoft.com/office/drawing/2014/main" id="{CECA10E1-03B7-43B8-BA22-723C8B29B8C5}"/>
                </a:ext>
              </a:extLst>
            </p:cNvPr>
            <p:cNvSpPr/>
            <p:nvPr/>
          </p:nvSpPr>
          <p:spPr>
            <a:xfrm>
              <a:off x="5221553" y="2606052"/>
              <a:ext cx="566056" cy="5660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6</a:t>
              </a:r>
              <a:endParaRPr lang="zh-CN" altLang="en-US" b="1" dirty="0"/>
            </a:p>
          </p:txBody>
        </p:sp>
      </p:grpSp>
      <p:grpSp>
        <p:nvGrpSpPr>
          <p:cNvPr id="34" name="组合 33">
            <a:extLst>
              <a:ext uri="{FF2B5EF4-FFF2-40B4-BE49-F238E27FC236}">
                <a16:creationId xmlns:a16="http://schemas.microsoft.com/office/drawing/2014/main" id="{6003072F-55FD-429C-BDC0-D7CACB710771}"/>
              </a:ext>
            </a:extLst>
          </p:cNvPr>
          <p:cNvGrpSpPr/>
          <p:nvPr/>
        </p:nvGrpSpPr>
        <p:grpSpPr>
          <a:xfrm>
            <a:off x="3153256" y="5296428"/>
            <a:ext cx="3450775" cy="537503"/>
            <a:chOff x="5221553" y="2578679"/>
            <a:chExt cx="3809822" cy="593429"/>
          </a:xfrm>
        </p:grpSpPr>
        <p:sp>
          <p:nvSpPr>
            <p:cNvPr id="35" name="文本框 34">
              <a:extLst>
                <a:ext uri="{FF2B5EF4-FFF2-40B4-BE49-F238E27FC236}">
                  <a16:creationId xmlns:a16="http://schemas.microsoft.com/office/drawing/2014/main" id="{7590CD1E-A520-4482-8186-E9B3B213C99E}"/>
                </a:ext>
              </a:extLst>
            </p:cNvPr>
            <p:cNvSpPr txBox="1"/>
            <p:nvPr/>
          </p:nvSpPr>
          <p:spPr>
            <a:xfrm>
              <a:off x="6052459" y="2578679"/>
              <a:ext cx="2978916" cy="577660"/>
            </a:xfrm>
            <a:prstGeom prst="rect">
              <a:avLst/>
            </a:prstGeom>
            <a:noFill/>
          </p:spPr>
          <p:txBody>
            <a:bodyPr wrap="none" rtlCol="0">
              <a:spAutoFit/>
            </a:bodyPr>
            <a:lstStyle/>
            <a:p>
              <a:pPr algn="ctr"/>
              <a:r>
                <a:rPr lang="zh-CN" altLang="zh-CN" sz="2800" b="1" dirty="0">
                  <a:solidFill>
                    <a:srgbClr val="FC6495"/>
                  </a:solidFill>
                  <a:latin typeface="Times New Roman" pitchFamily="18" charset="0"/>
                  <a:cs typeface="Times New Roman" pitchFamily="18" charset="0"/>
                </a:rPr>
                <a:t>模块化程序设计</a:t>
              </a:r>
              <a:endParaRPr lang="zh-CN" altLang="en-US" sz="2800" b="1" dirty="0">
                <a:solidFill>
                  <a:srgbClr val="FC6495"/>
                </a:solidFill>
                <a:latin typeface="汉仪趣黑W" panose="00020600040101010101" pitchFamily="18" charset="-122"/>
                <a:ea typeface="汉仪趣黑W" panose="00020600040101010101" pitchFamily="18" charset="-122"/>
              </a:endParaRPr>
            </a:p>
          </p:txBody>
        </p:sp>
        <p:sp>
          <p:nvSpPr>
            <p:cNvPr id="36" name="矩形 35">
              <a:extLst>
                <a:ext uri="{FF2B5EF4-FFF2-40B4-BE49-F238E27FC236}">
                  <a16:creationId xmlns:a16="http://schemas.microsoft.com/office/drawing/2014/main" id="{B2A18B2F-1BF5-4197-90F3-299D21CFD25C}"/>
                </a:ext>
              </a:extLst>
            </p:cNvPr>
            <p:cNvSpPr/>
            <p:nvPr/>
          </p:nvSpPr>
          <p:spPr>
            <a:xfrm>
              <a:off x="5221553" y="2606052"/>
              <a:ext cx="566056" cy="566056"/>
            </a:xfrm>
            <a:prstGeom prst="rect">
              <a:avLst/>
            </a:prstGeom>
            <a:solidFill>
              <a:srgbClr val="FC6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7</a:t>
              </a:r>
              <a:endParaRPr lang="zh-CN" altLang="en-US" b="1" dirty="0"/>
            </a:p>
          </p:txBody>
        </p:sp>
      </p:grpSp>
      <p:grpSp>
        <p:nvGrpSpPr>
          <p:cNvPr id="37" name="组合 36">
            <a:extLst>
              <a:ext uri="{FF2B5EF4-FFF2-40B4-BE49-F238E27FC236}">
                <a16:creationId xmlns:a16="http://schemas.microsoft.com/office/drawing/2014/main" id="{23D72F12-C1D7-4DDE-9A17-4CA5DC255683}"/>
              </a:ext>
            </a:extLst>
          </p:cNvPr>
          <p:cNvGrpSpPr/>
          <p:nvPr/>
        </p:nvGrpSpPr>
        <p:grpSpPr>
          <a:xfrm>
            <a:off x="3163884" y="5966283"/>
            <a:ext cx="2373556" cy="537503"/>
            <a:chOff x="5221553" y="2578679"/>
            <a:chExt cx="2620521" cy="593429"/>
          </a:xfrm>
        </p:grpSpPr>
        <p:sp>
          <p:nvSpPr>
            <p:cNvPr id="38" name="文本框 37">
              <a:extLst>
                <a:ext uri="{FF2B5EF4-FFF2-40B4-BE49-F238E27FC236}">
                  <a16:creationId xmlns:a16="http://schemas.microsoft.com/office/drawing/2014/main" id="{E36CCD60-BB5D-4EAA-912B-C4658B6F579A}"/>
                </a:ext>
              </a:extLst>
            </p:cNvPr>
            <p:cNvSpPr txBox="1"/>
            <p:nvPr/>
          </p:nvSpPr>
          <p:spPr>
            <a:xfrm>
              <a:off x="6052459" y="2578679"/>
              <a:ext cx="1789615" cy="577660"/>
            </a:xfrm>
            <a:prstGeom prst="rect">
              <a:avLst/>
            </a:prstGeom>
            <a:noFill/>
          </p:spPr>
          <p:txBody>
            <a:bodyPr wrap="none" rtlCol="0">
              <a:spAutoFit/>
            </a:bodyPr>
            <a:lstStyle/>
            <a:p>
              <a:pPr algn="ctr"/>
              <a:r>
                <a:rPr lang="zh-CN" altLang="zh-CN" sz="2800" b="1" dirty="0">
                  <a:solidFill>
                    <a:srgbClr val="FEBD01"/>
                  </a:solidFill>
                  <a:latin typeface="Times New Roman" pitchFamily="18" charset="0"/>
                  <a:cs typeface="Times New Roman" pitchFamily="18" charset="0"/>
                </a:rPr>
                <a:t>应用举例</a:t>
              </a:r>
              <a:endParaRPr lang="zh-CN" altLang="en-US" sz="2800" b="1" dirty="0">
                <a:solidFill>
                  <a:srgbClr val="FEBD01"/>
                </a:solidFill>
                <a:latin typeface="汉仪趣黑W" panose="00020600040101010101" pitchFamily="18" charset="-122"/>
                <a:ea typeface="汉仪趣黑W" panose="00020600040101010101" pitchFamily="18" charset="-122"/>
              </a:endParaRPr>
            </a:p>
          </p:txBody>
        </p:sp>
        <p:sp>
          <p:nvSpPr>
            <p:cNvPr id="39" name="矩形 38">
              <a:extLst>
                <a:ext uri="{FF2B5EF4-FFF2-40B4-BE49-F238E27FC236}">
                  <a16:creationId xmlns:a16="http://schemas.microsoft.com/office/drawing/2014/main" id="{CF550DA0-BFF7-4DC3-91B1-BC809A7C9B71}"/>
                </a:ext>
              </a:extLst>
            </p:cNvPr>
            <p:cNvSpPr/>
            <p:nvPr/>
          </p:nvSpPr>
          <p:spPr>
            <a:xfrm>
              <a:off x="5221553" y="2606052"/>
              <a:ext cx="566056" cy="566056"/>
            </a:xfrm>
            <a:prstGeom prst="rect">
              <a:avLst/>
            </a:prstGeom>
            <a:solidFill>
              <a:srgbClr val="FEB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8</a:t>
              </a:r>
              <a:endParaRPr lang="zh-CN" altLang="en-US" b="1" dirty="0"/>
            </a:p>
          </p:txBody>
        </p:sp>
      </p:grpSp>
    </p:spTree>
    <p:extLst>
      <p:ext uri="{BB962C8B-B14F-4D97-AF65-F5344CB8AC3E}">
        <p14:creationId xmlns:p14="http://schemas.microsoft.com/office/powerpoint/2010/main" val="3900092340"/>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750" fill="hold"/>
                                        <p:tgtEl>
                                          <p:spTgt spid="25"/>
                                        </p:tgtEl>
                                        <p:attrNameLst>
                                          <p:attrName>ppt_x</p:attrName>
                                        </p:attrNameLst>
                                      </p:cBhvr>
                                      <p:tavLst>
                                        <p:tav tm="0">
                                          <p:val>
                                            <p:strVal val="#ppt_x"/>
                                          </p:val>
                                        </p:tav>
                                        <p:tav tm="100000">
                                          <p:val>
                                            <p:strVal val="#ppt_x"/>
                                          </p:val>
                                        </p:tav>
                                      </p:tavLst>
                                    </p:anim>
                                    <p:anim calcmode="lin" valueType="num">
                                      <p:cBhvr additive="base">
                                        <p:cTn id="12" dur="750" fill="hold"/>
                                        <p:tgtEl>
                                          <p:spTgt spid="25"/>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2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750" fill="hold"/>
                                        <p:tgtEl>
                                          <p:spTgt spid="26"/>
                                        </p:tgtEl>
                                        <p:attrNameLst>
                                          <p:attrName>ppt_x</p:attrName>
                                        </p:attrNameLst>
                                      </p:cBhvr>
                                      <p:tavLst>
                                        <p:tav tm="0">
                                          <p:val>
                                            <p:strVal val="#ppt_x"/>
                                          </p:val>
                                        </p:tav>
                                        <p:tav tm="100000">
                                          <p:val>
                                            <p:strVal val="#ppt_x"/>
                                          </p:val>
                                        </p:tav>
                                      </p:tavLst>
                                    </p:anim>
                                    <p:anim calcmode="lin" valueType="num">
                                      <p:cBhvr additive="base">
                                        <p:cTn id="16" dur="75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3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750" fill="hold"/>
                                        <p:tgtEl>
                                          <p:spTgt spid="27"/>
                                        </p:tgtEl>
                                        <p:attrNameLst>
                                          <p:attrName>ppt_x</p:attrName>
                                        </p:attrNameLst>
                                      </p:cBhvr>
                                      <p:tavLst>
                                        <p:tav tm="0">
                                          <p:val>
                                            <p:strVal val="#ppt_x"/>
                                          </p:val>
                                        </p:tav>
                                        <p:tav tm="100000">
                                          <p:val>
                                            <p:strVal val="#ppt_x"/>
                                          </p:val>
                                        </p:tav>
                                      </p:tavLst>
                                    </p:anim>
                                    <p:anim calcmode="lin" valueType="num">
                                      <p:cBhvr additive="base">
                                        <p:cTn id="20" dur="750" fill="hold"/>
                                        <p:tgtEl>
                                          <p:spTgt spid="27"/>
                                        </p:tgtEl>
                                        <p:attrNameLst>
                                          <p:attrName>ppt_y</p:attrName>
                                        </p:attrNameLst>
                                      </p:cBhvr>
                                      <p:tavLst>
                                        <p:tav tm="0">
                                          <p:val>
                                            <p:strVal val="0-#ppt_h/2"/>
                                          </p:val>
                                        </p:tav>
                                        <p:tav tm="100000">
                                          <p:val>
                                            <p:strVal val="#ppt_y"/>
                                          </p:val>
                                        </p:tav>
                                      </p:tavLst>
                                    </p:anim>
                                  </p:childTnLst>
                                </p:cTn>
                              </p:par>
                            </p:childTnLst>
                          </p:cTn>
                        </p:par>
                        <p:par>
                          <p:cTn id="21" fill="hold">
                            <p:stCondLst>
                              <p:cond delay="1050"/>
                            </p:stCondLst>
                            <p:childTnLst>
                              <p:par>
                                <p:cTn id="22" presetID="1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p:tgtEl>
                                          <p:spTgt spid="11"/>
                                        </p:tgtEl>
                                        <p:attrNameLst>
                                          <p:attrName>ppt_x</p:attrName>
                                        </p:attrNameLst>
                                      </p:cBhvr>
                                      <p:tavLst>
                                        <p:tav tm="0">
                                          <p:val>
                                            <p:strVal val="#ppt_x-#ppt_w*1.125000"/>
                                          </p:val>
                                        </p:tav>
                                        <p:tav tm="100000">
                                          <p:val>
                                            <p:strVal val="#ppt_x"/>
                                          </p:val>
                                        </p:tav>
                                      </p:tavLst>
                                    </p:anim>
                                    <p:animEffect transition="in" filter="wipe(righ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30"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decel="100000"/>
                                        <p:tgtEl>
                                          <p:spTgt spid="14"/>
                                        </p:tgtEl>
                                      </p:cBhvr>
                                    </p:animEffect>
                                    <p:anim calcmode="lin" valueType="num">
                                      <p:cBhvr>
                                        <p:cTn id="31" dur="400" decel="100000" fill="hold"/>
                                        <p:tgtEl>
                                          <p:spTgt spid="14"/>
                                        </p:tgtEl>
                                        <p:attrNameLst>
                                          <p:attrName>style.rotation</p:attrName>
                                        </p:attrNameLst>
                                      </p:cBhvr>
                                      <p:tavLst>
                                        <p:tav tm="0">
                                          <p:val>
                                            <p:fltVal val="-90"/>
                                          </p:val>
                                        </p:tav>
                                        <p:tav tm="100000">
                                          <p:val>
                                            <p:fltVal val="0"/>
                                          </p:val>
                                        </p:tav>
                                      </p:tavLst>
                                    </p:anim>
                                    <p:anim calcmode="lin" valueType="num">
                                      <p:cBhvr>
                                        <p:cTn id="32" dur="400" decel="100000" fill="hold"/>
                                        <p:tgtEl>
                                          <p:spTgt spid="14"/>
                                        </p:tgtEl>
                                        <p:attrNameLst>
                                          <p:attrName>ppt_x</p:attrName>
                                        </p:attrNameLst>
                                      </p:cBhvr>
                                      <p:tavLst>
                                        <p:tav tm="0">
                                          <p:val>
                                            <p:strVal val="#ppt_x+0.4"/>
                                          </p:val>
                                        </p:tav>
                                        <p:tav tm="100000">
                                          <p:val>
                                            <p:strVal val="#ppt_x-0.05"/>
                                          </p:val>
                                        </p:tav>
                                      </p:tavLst>
                                    </p:anim>
                                    <p:anim calcmode="lin" valueType="num">
                                      <p:cBhvr>
                                        <p:cTn id="33" dur="400" decel="100000" fill="hold"/>
                                        <p:tgtEl>
                                          <p:spTgt spid="14"/>
                                        </p:tgtEl>
                                        <p:attrNameLst>
                                          <p:attrName>ppt_y</p:attrName>
                                        </p:attrNameLst>
                                      </p:cBhvr>
                                      <p:tavLst>
                                        <p:tav tm="0">
                                          <p:val>
                                            <p:strVal val="#ppt_y-0.4"/>
                                          </p:val>
                                        </p:tav>
                                        <p:tav tm="100000">
                                          <p:val>
                                            <p:strVal val="#ppt_y+0.1"/>
                                          </p:val>
                                        </p:tav>
                                      </p:tavLst>
                                    </p:anim>
                                    <p:anim calcmode="lin" valueType="num">
                                      <p:cBhvr>
                                        <p:cTn id="34" dur="100" accel="100000" fill="hold">
                                          <p:stCondLst>
                                            <p:cond delay="400"/>
                                          </p:stCondLst>
                                        </p:cTn>
                                        <p:tgtEl>
                                          <p:spTgt spid="14"/>
                                        </p:tgtEl>
                                        <p:attrNameLst>
                                          <p:attrName>ppt_x</p:attrName>
                                        </p:attrNameLst>
                                      </p:cBhvr>
                                      <p:tavLst>
                                        <p:tav tm="0">
                                          <p:val>
                                            <p:strVal val="#ppt_x-0.05"/>
                                          </p:val>
                                        </p:tav>
                                        <p:tav tm="100000">
                                          <p:val>
                                            <p:strVal val="#ppt_x"/>
                                          </p:val>
                                        </p:tav>
                                      </p:tavLst>
                                    </p:anim>
                                    <p:anim calcmode="lin" valueType="num">
                                      <p:cBhvr>
                                        <p:cTn id="35" dur="100" accel="100000" fill="hold">
                                          <p:stCondLst>
                                            <p:cond delay="400"/>
                                          </p:stCondLst>
                                        </p:cTn>
                                        <p:tgtEl>
                                          <p:spTgt spid="14"/>
                                        </p:tgtEl>
                                        <p:attrNameLst>
                                          <p:attrName>ppt_y</p:attrName>
                                        </p:attrNameLst>
                                      </p:cBhvr>
                                      <p:tavLst>
                                        <p:tav tm="0">
                                          <p:val>
                                            <p:strVal val="#ppt_y+0.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0"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decel="100000"/>
                                        <p:tgtEl>
                                          <p:spTgt spid="15"/>
                                        </p:tgtEl>
                                      </p:cBhvr>
                                    </p:animEffect>
                                    <p:anim calcmode="lin" valueType="num">
                                      <p:cBhvr>
                                        <p:cTn id="41" dur="400" decel="100000" fill="hold"/>
                                        <p:tgtEl>
                                          <p:spTgt spid="15"/>
                                        </p:tgtEl>
                                        <p:attrNameLst>
                                          <p:attrName>style.rotation</p:attrName>
                                        </p:attrNameLst>
                                      </p:cBhvr>
                                      <p:tavLst>
                                        <p:tav tm="0">
                                          <p:val>
                                            <p:fltVal val="-90"/>
                                          </p:val>
                                        </p:tav>
                                        <p:tav tm="100000">
                                          <p:val>
                                            <p:fltVal val="0"/>
                                          </p:val>
                                        </p:tav>
                                      </p:tavLst>
                                    </p:anim>
                                    <p:anim calcmode="lin" valueType="num">
                                      <p:cBhvr>
                                        <p:cTn id="42" dur="400" decel="100000" fill="hold"/>
                                        <p:tgtEl>
                                          <p:spTgt spid="15"/>
                                        </p:tgtEl>
                                        <p:attrNameLst>
                                          <p:attrName>ppt_x</p:attrName>
                                        </p:attrNameLst>
                                      </p:cBhvr>
                                      <p:tavLst>
                                        <p:tav tm="0">
                                          <p:val>
                                            <p:strVal val="#ppt_x+0.4"/>
                                          </p:val>
                                        </p:tav>
                                        <p:tav tm="100000">
                                          <p:val>
                                            <p:strVal val="#ppt_x-0.05"/>
                                          </p:val>
                                        </p:tav>
                                      </p:tavLst>
                                    </p:anim>
                                    <p:anim calcmode="lin" valueType="num">
                                      <p:cBhvr>
                                        <p:cTn id="43" dur="400" decel="100000" fill="hold"/>
                                        <p:tgtEl>
                                          <p:spTgt spid="15"/>
                                        </p:tgtEl>
                                        <p:attrNameLst>
                                          <p:attrName>ppt_y</p:attrName>
                                        </p:attrNameLst>
                                      </p:cBhvr>
                                      <p:tavLst>
                                        <p:tav tm="0">
                                          <p:val>
                                            <p:strVal val="#ppt_y-0.4"/>
                                          </p:val>
                                        </p:tav>
                                        <p:tav tm="100000">
                                          <p:val>
                                            <p:strVal val="#ppt_y+0.1"/>
                                          </p:val>
                                        </p:tav>
                                      </p:tavLst>
                                    </p:anim>
                                    <p:anim calcmode="lin" valueType="num">
                                      <p:cBhvr>
                                        <p:cTn id="44" dur="100" accel="100000" fill="hold">
                                          <p:stCondLst>
                                            <p:cond delay="400"/>
                                          </p:stCondLst>
                                        </p:cTn>
                                        <p:tgtEl>
                                          <p:spTgt spid="15"/>
                                        </p:tgtEl>
                                        <p:attrNameLst>
                                          <p:attrName>ppt_x</p:attrName>
                                        </p:attrNameLst>
                                      </p:cBhvr>
                                      <p:tavLst>
                                        <p:tav tm="0">
                                          <p:val>
                                            <p:strVal val="#ppt_x-0.05"/>
                                          </p:val>
                                        </p:tav>
                                        <p:tav tm="100000">
                                          <p:val>
                                            <p:strVal val="#ppt_x"/>
                                          </p:val>
                                        </p:tav>
                                      </p:tavLst>
                                    </p:anim>
                                    <p:anim calcmode="lin" valueType="num">
                                      <p:cBhvr>
                                        <p:cTn id="45" dur="100" accel="100000" fill="hold">
                                          <p:stCondLst>
                                            <p:cond delay="400"/>
                                          </p:stCondLst>
                                        </p:cTn>
                                        <p:tgtEl>
                                          <p:spTgt spid="15"/>
                                        </p:tgtEl>
                                        <p:attrNameLst>
                                          <p:attrName>ppt_y</p:attrName>
                                        </p:attrNameLst>
                                      </p:cBhvr>
                                      <p:tavLst>
                                        <p:tav tm="0">
                                          <p:val>
                                            <p:strVal val="#ppt_y+0.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30" presetClass="entr" presetSubtype="0"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decel="100000"/>
                                        <p:tgtEl>
                                          <p:spTgt spid="18"/>
                                        </p:tgtEl>
                                      </p:cBhvr>
                                    </p:animEffect>
                                    <p:anim calcmode="lin" valueType="num">
                                      <p:cBhvr>
                                        <p:cTn id="51" dur="400" decel="100000" fill="hold"/>
                                        <p:tgtEl>
                                          <p:spTgt spid="18"/>
                                        </p:tgtEl>
                                        <p:attrNameLst>
                                          <p:attrName>style.rotation</p:attrName>
                                        </p:attrNameLst>
                                      </p:cBhvr>
                                      <p:tavLst>
                                        <p:tav tm="0">
                                          <p:val>
                                            <p:fltVal val="-90"/>
                                          </p:val>
                                        </p:tav>
                                        <p:tav tm="100000">
                                          <p:val>
                                            <p:fltVal val="0"/>
                                          </p:val>
                                        </p:tav>
                                      </p:tavLst>
                                    </p:anim>
                                    <p:anim calcmode="lin" valueType="num">
                                      <p:cBhvr>
                                        <p:cTn id="52" dur="400" decel="100000" fill="hold"/>
                                        <p:tgtEl>
                                          <p:spTgt spid="18"/>
                                        </p:tgtEl>
                                        <p:attrNameLst>
                                          <p:attrName>ppt_x</p:attrName>
                                        </p:attrNameLst>
                                      </p:cBhvr>
                                      <p:tavLst>
                                        <p:tav tm="0">
                                          <p:val>
                                            <p:strVal val="#ppt_x+0.4"/>
                                          </p:val>
                                        </p:tav>
                                        <p:tav tm="100000">
                                          <p:val>
                                            <p:strVal val="#ppt_x-0.05"/>
                                          </p:val>
                                        </p:tav>
                                      </p:tavLst>
                                    </p:anim>
                                    <p:anim calcmode="lin" valueType="num">
                                      <p:cBhvr>
                                        <p:cTn id="53" dur="400" decel="100000" fill="hold"/>
                                        <p:tgtEl>
                                          <p:spTgt spid="18"/>
                                        </p:tgtEl>
                                        <p:attrNameLst>
                                          <p:attrName>ppt_y</p:attrName>
                                        </p:attrNameLst>
                                      </p:cBhvr>
                                      <p:tavLst>
                                        <p:tav tm="0">
                                          <p:val>
                                            <p:strVal val="#ppt_y-0.4"/>
                                          </p:val>
                                        </p:tav>
                                        <p:tav tm="100000">
                                          <p:val>
                                            <p:strVal val="#ppt_y+0.1"/>
                                          </p:val>
                                        </p:tav>
                                      </p:tavLst>
                                    </p:anim>
                                    <p:anim calcmode="lin" valueType="num">
                                      <p:cBhvr>
                                        <p:cTn id="54" dur="100" accel="100000" fill="hold">
                                          <p:stCondLst>
                                            <p:cond delay="400"/>
                                          </p:stCondLst>
                                        </p:cTn>
                                        <p:tgtEl>
                                          <p:spTgt spid="18"/>
                                        </p:tgtEl>
                                        <p:attrNameLst>
                                          <p:attrName>ppt_x</p:attrName>
                                        </p:attrNameLst>
                                      </p:cBhvr>
                                      <p:tavLst>
                                        <p:tav tm="0">
                                          <p:val>
                                            <p:strVal val="#ppt_x-0.05"/>
                                          </p:val>
                                        </p:tav>
                                        <p:tav tm="100000">
                                          <p:val>
                                            <p:strVal val="#ppt_x"/>
                                          </p:val>
                                        </p:tav>
                                      </p:tavLst>
                                    </p:anim>
                                    <p:anim calcmode="lin" valueType="num">
                                      <p:cBhvr>
                                        <p:cTn id="55" dur="100" accel="100000" fill="hold">
                                          <p:stCondLst>
                                            <p:cond delay="400"/>
                                          </p:stCondLst>
                                        </p:cTn>
                                        <p:tgtEl>
                                          <p:spTgt spid="18"/>
                                        </p:tgtEl>
                                        <p:attrNameLst>
                                          <p:attrName>ppt_y</p:attrName>
                                        </p:attrNameLst>
                                      </p:cBhvr>
                                      <p:tavLst>
                                        <p:tav tm="0">
                                          <p:val>
                                            <p:strVal val="#ppt_y+0.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3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decel="100000"/>
                                        <p:tgtEl>
                                          <p:spTgt spid="21"/>
                                        </p:tgtEl>
                                      </p:cBhvr>
                                    </p:animEffect>
                                    <p:anim calcmode="lin" valueType="num">
                                      <p:cBhvr>
                                        <p:cTn id="61" dur="400" decel="100000" fill="hold"/>
                                        <p:tgtEl>
                                          <p:spTgt spid="21"/>
                                        </p:tgtEl>
                                        <p:attrNameLst>
                                          <p:attrName>style.rotation</p:attrName>
                                        </p:attrNameLst>
                                      </p:cBhvr>
                                      <p:tavLst>
                                        <p:tav tm="0">
                                          <p:val>
                                            <p:fltVal val="-90"/>
                                          </p:val>
                                        </p:tav>
                                        <p:tav tm="100000">
                                          <p:val>
                                            <p:fltVal val="0"/>
                                          </p:val>
                                        </p:tav>
                                      </p:tavLst>
                                    </p:anim>
                                    <p:anim calcmode="lin" valueType="num">
                                      <p:cBhvr>
                                        <p:cTn id="62" dur="400" decel="100000" fill="hold"/>
                                        <p:tgtEl>
                                          <p:spTgt spid="21"/>
                                        </p:tgtEl>
                                        <p:attrNameLst>
                                          <p:attrName>ppt_x</p:attrName>
                                        </p:attrNameLst>
                                      </p:cBhvr>
                                      <p:tavLst>
                                        <p:tav tm="0">
                                          <p:val>
                                            <p:strVal val="#ppt_x+0.4"/>
                                          </p:val>
                                        </p:tav>
                                        <p:tav tm="100000">
                                          <p:val>
                                            <p:strVal val="#ppt_x-0.05"/>
                                          </p:val>
                                        </p:tav>
                                      </p:tavLst>
                                    </p:anim>
                                    <p:anim calcmode="lin" valueType="num">
                                      <p:cBhvr>
                                        <p:cTn id="63" dur="400" decel="100000" fill="hold"/>
                                        <p:tgtEl>
                                          <p:spTgt spid="21"/>
                                        </p:tgtEl>
                                        <p:attrNameLst>
                                          <p:attrName>ppt_y</p:attrName>
                                        </p:attrNameLst>
                                      </p:cBhvr>
                                      <p:tavLst>
                                        <p:tav tm="0">
                                          <p:val>
                                            <p:strVal val="#ppt_y-0.4"/>
                                          </p:val>
                                        </p:tav>
                                        <p:tav tm="100000">
                                          <p:val>
                                            <p:strVal val="#ppt_y+0.1"/>
                                          </p:val>
                                        </p:tav>
                                      </p:tavLst>
                                    </p:anim>
                                    <p:anim calcmode="lin" valueType="num">
                                      <p:cBhvr>
                                        <p:cTn id="64" dur="100" accel="100000" fill="hold">
                                          <p:stCondLst>
                                            <p:cond delay="400"/>
                                          </p:stCondLst>
                                        </p:cTn>
                                        <p:tgtEl>
                                          <p:spTgt spid="21"/>
                                        </p:tgtEl>
                                        <p:attrNameLst>
                                          <p:attrName>ppt_x</p:attrName>
                                        </p:attrNameLst>
                                      </p:cBhvr>
                                      <p:tavLst>
                                        <p:tav tm="0">
                                          <p:val>
                                            <p:strVal val="#ppt_x-0.05"/>
                                          </p:val>
                                        </p:tav>
                                        <p:tav tm="100000">
                                          <p:val>
                                            <p:strVal val="#ppt_x"/>
                                          </p:val>
                                        </p:tav>
                                      </p:tavLst>
                                    </p:anim>
                                    <p:anim calcmode="lin" valueType="num">
                                      <p:cBhvr>
                                        <p:cTn id="65" dur="100" accel="100000" fill="hold">
                                          <p:stCondLst>
                                            <p:cond delay="400"/>
                                          </p:stCondLst>
                                        </p:cTn>
                                        <p:tgtEl>
                                          <p:spTgt spid="21"/>
                                        </p:tgtEl>
                                        <p:attrNameLst>
                                          <p:attrName>ppt_y</p:attrName>
                                        </p:attrNameLst>
                                      </p:cBhvr>
                                      <p:tavLst>
                                        <p:tav tm="0">
                                          <p:val>
                                            <p:strVal val="#ppt_y+0.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30" presetClass="entr" presetSubtype="0" fill="hold" nodeType="click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00" decel="100000"/>
                                        <p:tgtEl>
                                          <p:spTgt spid="28"/>
                                        </p:tgtEl>
                                      </p:cBhvr>
                                    </p:animEffect>
                                    <p:anim calcmode="lin" valueType="num">
                                      <p:cBhvr>
                                        <p:cTn id="71" dur="400" decel="100000" fill="hold"/>
                                        <p:tgtEl>
                                          <p:spTgt spid="28"/>
                                        </p:tgtEl>
                                        <p:attrNameLst>
                                          <p:attrName>style.rotation</p:attrName>
                                        </p:attrNameLst>
                                      </p:cBhvr>
                                      <p:tavLst>
                                        <p:tav tm="0">
                                          <p:val>
                                            <p:fltVal val="-90"/>
                                          </p:val>
                                        </p:tav>
                                        <p:tav tm="100000">
                                          <p:val>
                                            <p:fltVal val="0"/>
                                          </p:val>
                                        </p:tav>
                                      </p:tavLst>
                                    </p:anim>
                                    <p:anim calcmode="lin" valueType="num">
                                      <p:cBhvr>
                                        <p:cTn id="72" dur="400" decel="100000" fill="hold"/>
                                        <p:tgtEl>
                                          <p:spTgt spid="28"/>
                                        </p:tgtEl>
                                        <p:attrNameLst>
                                          <p:attrName>ppt_x</p:attrName>
                                        </p:attrNameLst>
                                      </p:cBhvr>
                                      <p:tavLst>
                                        <p:tav tm="0">
                                          <p:val>
                                            <p:strVal val="#ppt_x+0.4"/>
                                          </p:val>
                                        </p:tav>
                                        <p:tav tm="100000">
                                          <p:val>
                                            <p:strVal val="#ppt_x-0.05"/>
                                          </p:val>
                                        </p:tav>
                                      </p:tavLst>
                                    </p:anim>
                                    <p:anim calcmode="lin" valueType="num">
                                      <p:cBhvr>
                                        <p:cTn id="73" dur="400" decel="100000" fill="hold"/>
                                        <p:tgtEl>
                                          <p:spTgt spid="28"/>
                                        </p:tgtEl>
                                        <p:attrNameLst>
                                          <p:attrName>ppt_y</p:attrName>
                                        </p:attrNameLst>
                                      </p:cBhvr>
                                      <p:tavLst>
                                        <p:tav tm="0">
                                          <p:val>
                                            <p:strVal val="#ppt_y-0.4"/>
                                          </p:val>
                                        </p:tav>
                                        <p:tav tm="100000">
                                          <p:val>
                                            <p:strVal val="#ppt_y+0.1"/>
                                          </p:val>
                                        </p:tav>
                                      </p:tavLst>
                                    </p:anim>
                                    <p:anim calcmode="lin" valueType="num">
                                      <p:cBhvr>
                                        <p:cTn id="74" dur="100" accel="100000" fill="hold">
                                          <p:stCondLst>
                                            <p:cond delay="400"/>
                                          </p:stCondLst>
                                        </p:cTn>
                                        <p:tgtEl>
                                          <p:spTgt spid="28"/>
                                        </p:tgtEl>
                                        <p:attrNameLst>
                                          <p:attrName>ppt_x</p:attrName>
                                        </p:attrNameLst>
                                      </p:cBhvr>
                                      <p:tavLst>
                                        <p:tav tm="0">
                                          <p:val>
                                            <p:strVal val="#ppt_x-0.05"/>
                                          </p:val>
                                        </p:tav>
                                        <p:tav tm="100000">
                                          <p:val>
                                            <p:strVal val="#ppt_x"/>
                                          </p:val>
                                        </p:tav>
                                      </p:tavLst>
                                    </p:anim>
                                    <p:anim calcmode="lin" valueType="num">
                                      <p:cBhvr>
                                        <p:cTn id="75" dur="100" accel="100000" fill="hold">
                                          <p:stCondLst>
                                            <p:cond delay="400"/>
                                          </p:stCondLst>
                                        </p:cTn>
                                        <p:tgtEl>
                                          <p:spTgt spid="28"/>
                                        </p:tgtEl>
                                        <p:attrNameLst>
                                          <p:attrName>ppt_y</p:attrName>
                                        </p:attrNameLst>
                                      </p:cBhvr>
                                      <p:tavLst>
                                        <p:tav tm="0">
                                          <p:val>
                                            <p:strVal val="#ppt_y+0.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30" presetClass="entr" presetSubtype="0" fill="hold" nodeType="click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decel="100000"/>
                                        <p:tgtEl>
                                          <p:spTgt spid="31"/>
                                        </p:tgtEl>
                                      </p:cBhvr>
                                    </p:animEffect>
                                    <p:anim calcmode="lin" valueType="num">
                                      <p:cBhvr>
                                        <p:cTn id="81" dur="400" decel="100000" fill="hold"/>
                                        <p:tgtEl>
                                          <p:spTgt spid="31"/>
                                        </p:tgtEl>
                                        <p:attrNameLst>
                                          <p:attrName>style.rotation</p:attrName>
                                        </p:attrNameLst>
                                      </p:cBhvr>
                                      <p:tavLst>
                                        <p:tav tm="0">
                                          <p:val>
                                            <p:fltVal val="-90"/>
                                          </p:val>
                                        </p:tav>
                                        <p:tav tm="100000">
                                          <p:val>
                                            <p:fltVal val="0"/>
                                          </p:val>
                                        </p:tav>
                                      </p:tavLst>
                                    </p:anim>
                                    <p:anim calcmode="lin" valueType="num">
                                      <p:cBhvr>
                                        <p:cTn id="82" dur="400" decel="100000" fill="hold"/>
                                        <p:tgtEl>
                                          <p:spTgt spid="31"/>
                                        </p:tgtEl>
                                        <p:attrNameLst>
                                          <p:attrName>ppt_x</p:attrName>
                                        </p:attrNameLst>
                                      </p:cBhvr>
                                      <p:tavLst>
                                        <p:tav tm="0">
                                          <p:val>
                                            <p:strVal val="#ppt_x+0.4"/>
                                          </p:val>
                                        </p:tav>
                                        <p:tav tm="100000">
                                          <p:val>
                                            <p:strVal val="#ppt_x-0.05"/>
                                          </p:val>
                                        </p:tav>
                                      </p:tavLst>
                                    </p:anim>
                                    <p:anim calcmode="lin" valueType="num">
                                      <p:cBhvr>
                                        <p:cTn id="83" dur="400" decel="100000" fill="hold"/>
                                        <p:tgtEl>
                                          <p:spTgt spid="31"/>
                                        </p:tgtEl>
                                        <p:attrNameLst>
                                          <p:attrName>ppt_y</p:attrName>
                                        </p:attrNameLst>
                                      </p:cBhvr>
                                      <p:tavLst>
                                        <p:tav tm="0">
                                          <p:val>
                                            <p:strVal val="#ppt_y-0.4"/>
                                          </p:val>
                                        </p:tav>
                                        <p:tav tm="100000">
                                          <p:val>
                                            <p:strVal val="#ppt_y+0.1"/>
                                          </p:val>
                                        </p:tav>
                                      </p:tavLst>
                                    </p:anim>
                                    <p:anim calcmode="lin" valueType="num">
                                      <p:cBhvr>
                                        <p:cTn id="84" dur="100" accel="100000" fill="hold">
                                          <p:stCondLst>
                                            <p:cond delay="400"/>
                                          </p:stCondLst>
                                        </p:cTn>
                                        <p:tgtEl>
                                          <p:spTgt spid="31"/>
                                        </p:tgtEl>
                                        <p:attrNameLst>
                                          <p:attrName>ppt_x</p:attrName>
                                        </p:attrNameLst>
                                      </p:cBhvr>
                                      <p:tavLst>
                                        <p:tav tm="0">
                                          <p:val>
                                            <p:strVal val="#ppt_x-0.05"/>
                                          </p:val>
                                        </p:tav>
                                        <p:tav tm="100000">
                                          <p:val>
                                            <p:strVal val="#ppt_x"/>
                                          </p:val>
                                        </p:tav>
                                      </p:tavLst>
                                    </p:anim>
                                    <p:anim calcmode="lin" valueType="num">
                                      <p:cBhvr>
                                        <p:cTn id="85" dur="100" accel="100000" fill="hold">
                                          <p:stCondLst>
                                            <p:cond delay="400"/>
                                          </p:stCondLst>
                                        </p:cTn>
                                        <p:tgtEl>
                                          <p:spTgt spid="31"/>
                                        </p:tgtEl>
                                        <p:attrNameLst>
                                          <p:attrName>ppt_y</p:attrName>
                                        </p:attrNameLst>
                                      </p:cBhvr>
                                      <p:tavLst>
                                        <p:tav tm="0">
                                          <p:val>
                                            <p:strVal val="#ppt_y+0.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30" presetClass="entr" presetSubtype="0" fill="hold"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00" decel="100000"/>
                                        <p:tgtEl>
                                          <p:spTgt spid="34"/>
                                        </p:tgtEl>
                                      </p:cBhvr>
                                    </p:animEffect>
                                    <p:anim calcmode="lin" valueType="num">
                                      <p:cBhvr>
                                        <p:cTn id="91" dur="400" decel="100000" fill="hold"/>
                                        <p:tgtEl>
                                          <p:spTgt spid="34"/>
                                        </p:tgtEl>
                                        <p:attrNameLst>
                                          <p:attrName>style.rotation</p:attrName>
                                        </p:attrNameLst>
                                      </p:cBhvr>
                                      <p:tavLst>
                                        <p:tav tm="0">
                                          <p:val>
                                            <p:fltVal val="-90"/>
                                          </p:val>
                                        </p:tav>
                                        <p:tav tm="100000">
                                          <p:val>
                                            <p:fltVal val="0"/>
                                          </p:val>
                                        </p:tav>
                                      </p:tavLst>
                                    </p:anim>
                                    <p:anim calcmode="lin" valueType="num">
                                      <p:cBhvr>
                                        <p:cTn id="92" dur="400" decel="100000" fill="hold"/>
                                        <p:tgtEl>
                                          <p:spTgt spid="34"/>
                                        </p:tgtEl>
                                        <p:attrNameLst>
                                          <p:attrName>ppt_x</p:attrName>
                                        </p:attrNameLst>
                                      </p:cBhvr>
                                      <p:tavLst>
                                        <p:tav tm="0">
                                          <p:val>
                                            <p:strVal val="#ppt_x+0.4"/>
                                          </p:val>
                                        </p:tav>
                                        <p:tav tm="100000">
                                          <p:val>
                                            <p:strVal val="#ppt_x-0.05"/>
                                          </p:val>
                                        </p:tav>
                                      </p:tavLst>
                                    </p:anim>
                                    <p:anim calcmode="lin" valueType="num">
                                      <p:cBhvr>
                                        <p:cTn id="93" dur="400" decel="100000" fill="hold"/>
                                        <p:tgtEl>
                                          <p:spTgt spid="34"/>
                                        </p:tgtEl>
                                        <p:attrNameLst>
                                          <p:attrName>ppt_y</p:attrName>
                                        </p:attrNameLst>
                                      </p:cBhvr>
                                      <p:tavLst>
                                        <p:tav tm="0">
                                          <p:val>
                                            <p:strVal val="#ppt_y-0.4"/>
                                          </p:val>
                                        </p:tav>
                                        <p:tav tm="100000">
                                          <p:val>
                                            <p:strVal val="#ppt_y+0.1"/>
                                          </p:val>
                                        </p:tav>
                                      </p:tavLst>
                                    </p:anim>
                                    <p:anim calcmode="lin" valueType="num">
                                      <p:cBhvr>
                                        <p:cTn id="94" dur="100" accel="100000" fill="hold">
                                          <p:stCondLst>
                                            <p:cond delay="400"/>
                                          </p:stCondLst>
                                        </p:cTn>
                                        <p:tgtEl>
                                          <p:spTgt spid="34"/>
                                        </p:tgtEl>
                                        <p:attrNameLst>
                                          <p:attrName>ppt_x</p:attrName>
                                        </p:attrNameLst>
                                      </p:cBhvr>
                                      <p:tavLst>
                                        <p:tav tm="0">
                                          <p:val>
                                            <p:strVal val="#ppt_x-0.05"/>
                                          </p:val>
                                        </p:tav>
                                        <p:tav tm="100000">
                                          <p:val>
                                            <p:strVal val="#ppt_x"/>
                                          </p:val>
                                        </p:tav>
                                      </p:tavLst>
                                    </p:anim>
                                    <p:anim calcmode="lin" valueType="num">
                                      <p:cBhvr>
                                        <p:cTn id="95" dur="100" accel="100000" fill="hold">
                                          <p:stCondLst>
                                            <p:cond delay="400"/>
                                          </p:stCondLst>
                                        </p:cTn>
                                        <p:tgtEl>
                                          <p:spTgt spid="34"/>
                                        </p:tgtEl>
                                        <p:attrNameLst>
                                          <p:attrName>ppt_y</p:attrName>
                                        </p:attrNameLst>
                                      </p:cBhvr>
                                      <p:tavLst>
                                        <p:tav tm="0">
                                          <p:val>
                                            <p:strVal val="#ppt_y+0.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30" presetClass="entr" presetSubtype="0" fill="hold" nodeType="click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decel="100000"/>
                                        <p:tgtEl>
                                          <p:spTgt spid="37"/>
                                        </p:tgtEl>
                                      </p:cBhvr>
                                    </p:animEffect>
                                    <p:anim calcmode="lin" valueType="num">
                                      <p:cBhvr>
                                        <p:cTn id="101" dur="400" decel="100000" fill="hold"/>
                                        <p:tgtEl>
                                          <p:spTgt spid="37"/>
                                        </p:tgtEl>
                                        <p:attrNameLst>
                                          <p:attrName>style.rotation</p:attrName>
                                        </p:attrNameLst>
                                      </p:cBhvr>
                                      <p:tavLst>
                                        <p:tav tm="0">
                                          <p:val>
                                            <p:fltVal val="-90"/>
                                          </p:val>
                                        </p:tav>
                                        <p:tav tm="100000">
                                          <p:val>
                                            <p:fltVal val="0"/>
                                          </p:val>
                                        </p:tav>
                                      </p:tavLst>
                                    </p:anim>
                                    <p:anim calcmode="lin" valueType="num">
                                      <p:cBhvr>
                                        <p:cTn id="102" dur="400" decel="100000" fill="hold"/>
                                        <p:tgtEl>
                                          <p:spTgt spid="37"/>
                                        </p:tgtEl>
                                        <p:attrNameLst>
                                          <p:attrName>ppt_x</p:attrName>
                                        </p:attrNameLst>
                                      </p:cBhvr>
                                      <p:tavLst>
                                        <p:tav tm="0">
                                          <p:val>
                                            <p:strVal val="#ppt_x+0.4"/>
                                          </p:val>
                                        </p:tav>
                                        <p:tav tm="100000">
                                          <p:val>
                                            <p:strVal val="#ppt_x-0.05"/>
                                          </p:val>
                                        </p:tav>
                                      </p:tavLst>
                                    </p:anim>
                                    <p:anim calcmode="lin" valueType="num">
                                      <p:cBhvr>
                                        <p:cTn id="103" dur="400" decel="100000" fill="hold"/>
                                        <p:tgtEl>
                                          <p:spTgt spid="37"/>
                                        </p:tgtEl>
                                        <p:attrNameLst>
                                          <p:attrName>ppt_y</p:attrName>
                                        </p:attrNameLst>
                                      </p:cBhvr>
                                      <p:tavLst>
                                        <p:tav tm="0">
                                          <p:val>
                                            <p:strVal val="#ppt_y-0.4"/>
                                          </p:val>
                                        </p:tav>
                                        <p:tav tm="100000">
                                          <p:val>
                                            <p:strVal val="#ppt_y+0.1"/>
                                          </p:val>
                                        </p:tav>
                                      </p:tavLst>
                                    </p:anim>
                                    <p:anim calcmode="lin" valueType="num">
                                      <p:cBhvr>
                                        <p:cTn id="104" dur="100" accel="100000" fill="hold">
                                          <p:stCondLst>
                                            <p:cond delay="400"/>
                                          </p:stCondLst>
                                        </p:cTn>
                                        <p:tgtEl>
                                          <p:spTgt spid="37"/>
                                        </p:tgtEl>
                                        <p:attrNameLst>
                                          <p:attrName>ppt_x</p:attrName>
                                        </p:attrNameLst>
                                      </p:cBhvr>
                                      <p:tavLst>
                                        <p:tav tm="0">
                                          <p:val>
                                            <p:strVal val="#ppt_x-0.05"/>
                                          </p:val>
                                        </p:tav>
                                        <p:tav tm="100000">
                                          <p:val>
                                            <p:strVal val="#ppt_x"/>
                                          </p:val>
                                        </p:tav>
                                      </p:tavLst>
                                    </p:anim>
                                    <p:anim calcmode="lin" valueType="num">
                                      <p:cBhvr>
                                        <p:cTn id="105" dur="100" accel="100000" fill="hold">
                                          <p:stCondLst>
                                            <p:cond delay="400"/>
                                          </p:stCondLst>
                                        </p:cTn>
                                        <p:tgtEl>
                                          <p:spTgt spid="3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641912" y="0"/>
            <a:ext cx="9816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950759" y="0"/>
            <a:ext cx="9816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259606" y="0"/>
            <a:ext cx="98163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568452" y="0"/>
            <a:ext cx="9816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540000" y="1524000"/>
            <a:ext cx="3719606"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15210" y="1524000"/>
            <a:ext cx="363679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2614925" y="1941094"/>
            <a:ext cx="6962162" cy="1446550"/>
          </a:xfrm>
          <a:prstGeom prst="rect">
            <a:avLst/>
          </a:prstGeom>
          <a:noFill/>
        </p:spPr>
        <p:txBody>
          <a:bodyPr wrap="none" rtlCol="0">
            <a:spAutoFit/>
          </a:bodyPr>
          <a:lstStyle/>
          <a:p>
            <a:pPr algn="ctr"/>
            <a:r>
              <a:rPr lang="en-US" altLang="zh-CN"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rPr>
              <a:t>SECTION 01</a:t>
            </a:r>
            <a:endParaRPr lang="zh-CN" altLang="en-US"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endParaRPr>
          </a:p>
        </p:txBody>
      </p:sp>
      <p:sp>
        <p:nvSpPr>
          <p:cNvPr id="30" name="文本框 29"/>
          <p:cNvSpPr txBox="1"/>
          <p:nvPr/>
        </p:nvSpPr>
        <p:spPr>
          <a:xfrm>
            <a:off x="3926181" y="3310581"/>
            <a:ext cx="4339650" cy="923330"/>
          </a:xfrm>
          <a:prstGeom prst="rect">
            <a:avLst/>
          </a:prstGeom>
          <a:noFill/>
        </p:spPr>
        <p:txBody>
          <a:bodyPr wrap="none" rtlCol="0">
            <a:spAutoFit/>
          </a:bodyPr>
          <a:lstStyle/>
          <a:p>
            <a:pPr algn="ctr"/>
            <a:r>
              <a:rPr lang="zh-CN" altLang="en-US" sz="5400" b="1" dirty="0">
                <a:solidFill>
                  <a:schemeClr val="tx1">
                    <a:lumMod val="65000"/>
                    <a:lumOff val="35000"/>
                  </a:schemeClr>
                </a:solidFill>
                <a:latin typeface="微软雅黑" panose="020B0503020204020204" pitchFamily="34" charset="-122"/>
                <a:ea typeface="微软雅黑" panose="020B0503020204020204" pitchFamily="34" charset="-122"/>
              </a:rPr>
              <a:t>福利彩票问题</a:t>
            </a:r>
          </a:p>
        </p:txBody>
      </p:sp>
      <p:sp>
        <p:nvSpPr>
          <p:cNvPr id="31" name="文本框 30"/>
          <p:cNvSpPr txBox="1"/>
          <p:nvPr/>
        </p:nvSpPr>
        <p:spPr>
          <a:xfrm>
            <a:off x="3983614" y="4246690"/>
            <a:ext cx="4339650" cy="373051"/>
          </a:xfrm>
          <a:prstGeom prst="rect">
            <a:avLst/>
          </a:prstGeom>
          <a:noFill/>
        </p:spPr>
        <p:txBody>
          <a:bodyPr wrap="square" rtlCol="0">
            <a:spAutoFit/>
          </a:bodyPr>
          <a:lstStyle/>
          <a:p>
            <a:pPr algn="ctr">
              <a:lnSpc>
                <a:spcPct val="114000"/>
              </a:lnSpc>
            </a:pPr>
            <a:r>
              <a:rPr lang="en-US" altLang="zh-CN" sz="1600" dirty="0">
                <a:solidFill>
                  <a:schemeClr val="bg1">
                    <a:lumMod val="65000"/>
                  </a:schemeClr>
                </a:solidFill>
                <a:ea typeface="汉仪趣黑W" panose="00020600040101010101" pitchFamily="18" charset="-122"/>
              </a:rPr>
              <a:t>WELFARE LOTTERY PROBLEM</a:t>
            </a:r>
          </a:p>
        </p:txBody>
      </p:sp>
    </p:spTree>
    <p:extLst>
      <p:ext uri="{BB962C8B-B14F-4D97-AF65-F5344CB8AC3E}">
        <p14:creationId xmlns:p14="http://schemas.microsoft.com/office/powerpoint/2010/main" val="2624292461"/>
      </p:ext>
    </p:extLst>
  </p:cSld>
  <p:clrMapOvr>
    <a:masterClrMapping/>
  </p:clrMapOvr>
  <p:transition spd="slow" advTm="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750" fill="hold"/>
                                        <p:tgtEl>
                                          <p:spTgt spid="25"/>
                                        </p:tgtEl>
                                        <p:attrNameLst>
                                          <p:attrName>ppt_x</p:attrName>
                                        </p:attrNameLst>
                                      </p:cBhvr>
                                      <p:tavLst>
                                        <p:tav tm="0">
                                          <p:val>
                                            <p:strVal val="#ppt_x"/>
                                          </p:val>
                                        </p:tav>
                                        <p:tav tm="100000">
                                          <p:val>
                                            <p:strVal val="#ppt_x"/>
                                          </p:val>
                                        </p:tav>
                                      </p:tavLst>
                                    </p:anim>
                                    <p:anim calcmode="lin" valueType="num">
                                      <p:cBhvr additive="base">
                                        <p:cTn id="12" dur="75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2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750" fill="hold"/>
                                        <p:tgtEl>
                                          <p:spTgt spid="26"/>
                                        </p:tgtEl>
                                        <p:attrNameLst>
                                          <p:attrName>ppt_x</p:attrName>
                                        </p:attrNameLst>
                                      </p:cBhvr>
                                      <p:tavLst>
                                        <p:tav tm="0">
                                          <p:val>
                                            <p:strVal val="#ppt_x"/>
                                          </p:val>
                                        </p:tav>
                                        <p:tav tm="100000">
                                          <p:val>
                                            <p:strVal val="#ppt_x"/>
                                          </p:val>
                                        </p:tav>
                                      </p:tavLst>
                                    </p:anim>
                                    <p:anim calcmode="lin" valueType="num">
                                      <p:cBhvr additive="base">
                                        <p:cTn id="16" dur="75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750" fill="hold"/>
                                        <p:tgtEl>
                                          <p:spTgt spid="27"/>
                                        </p:tgtEl>
                                        <p:attrNameLst>
                                          <p:attrName>ppt_x</p:attrName>
                                        </p:attrNameLst>
                                      </p:cBhvr>
                                      <p:tavLst>
                                        <p:tav tm="0">
                                          <p:val>
                                            <p:strVal val="#ppt_x"/>
                                          </p:val>
                                        </p:tav>
                                        <p:tav tm="100000">
                                          <p:val>
                                            <p:strVal val="#ppt_x"/>
                                          </p:val>
                                        </p:tav>
                                      </p:tavLst>
                                    </p:anim>
                                    <p:anim calcmode="lin" valueType="num">
                                      <p:cBhvr additive="base">
                                        <p:cTn id="20" dur="750" fill="hold"/>
                                        <p:tgtEl>
                                          <p:spTgt spid="27"/>
                                        </p:tgtEl>
                                        <p:attrNameLst>
                                          <p:attrName>ppt_y</p:attrName>
                                        </p:attrNameLst>
                                      </p:cBhvr>
                                      <p:tavLst>
                                        <p:tav tm="0">
                                          <p:val>
                                            <p:strVal val="1+#ppt_h/2"/>
                                          </p:val>
                                        </p:tav>
                                        <p:tav tm="100000">
                                          <p:val>
                                            <p:strVal val="#ppt_y"/>
                                          </p:val>
                                        </p:tav>
                                      </p:tavLst>
                                    </p:anim>
                                  </p:childTnLst>
                                </p:cTn>
                              </p:par>
                            </p:childTnLst>
                          </p:cTn>
                        </p:par>
                        <p:par>
                          <p:cTn id="21" fill="hold">
                            <p:stCondLst>
                              <p:cond delay="1050"/>
                            </p:stCondLst>
                            <p:childTnLst>
                              <p:par>
                                <p:cTn id="22" presetID="2" presetClass="entr" presetSubtype="8"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additive="base">
                                        <p:cTn id="24" dur="1250" fill="hold"/>
                                        <p:tgtEl>
                                          <p:spTgt spid="28"/>
                                        </p:tgtEl>
                                        <p:attrNameLst>
                                          <p:attrName>ppt_x</p:attrName>
                                        </p:attrNameLst>
                                      </p:cBhvr>
                                      <p:tavLst>
                                        <p:tav tm="0">
                                          <p:val>
                                            <p:strVal val="0-#ppt_w/2"/>
                                          </p:val>
                                        </p:tav>
                                        <p:tav tm="100000">
                                          <p:val>
                                            <p:strVal val="#ppt_x"/>
                                          </p:val>
                                        </p:tav>
                                      </p:tavLst>
                                    </p:anim>
                                    <p:anim calcmode="lin" valueType="num">
                                      <p:cBhvr additive="base">
                                        <p:cTn id="25" dur="1250" fill="hold"/>
                                        <p:tgtEl>
                                          <p:spTgt spid="2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1250" fill="hold"/>
                                        <p:tgtEl>
                                          <p:spTgt spid="32"/>
                                        </p:tgtEl>
                                        <p:attrNameLst>
                                          <p:attrName>ppt_x</p:attrName>
                                        </p:attrNameLst>
                                      </p:cBhvr>
                                      <p:tavLst>
                                        <p:tav tm="0">
                                          <p:val>
                                            <p:strVal val="1+#ppt_w/2"/>
                                          </p:val>
                                        </p:tav>
                                        <p:tav tm="100000">
                                          <p:val>
                                            <p:strVal val="#ppt_x"/>
                                          </p:val>
                                        </p:tav>
                                      </p:tavLst>
                                    </p:anim>
                                    <p:anim calcmode="lin" valueType="num">
                                      <p:cBhvr additive="base">
                                        <p:cTn id="29" dur="1250" fill="hold"/>
                                        <p:tgtEl>
                                          <p:spTgt spid="32"/>
                                        </p:tgtEl>
                                        <p:attrNameLst>
                                          <p:attrName>ppt_y</p:attrName>
                                        </p:attrNameLst>
                                      </p:cBhvr>
                                      <p:tavLst>
                                        <p:tav tm="0">
                                          <p:val>
                                            <p:strVal val="#ppt_y"/>
                                          </p:val>
                                        </p:tav>
                                        <p:tav tm="100000">
                                          <p:val>
                                            <p:strVal val="#ppt_y"/>
                                          </p:val>
                                        </p:tav>
                                      </p:tavLst>
                                    </p:anim>
                                  </p:childTnLst>
                                </p:cTn>
                              </p:par>
                            </p:childTnLst>
                          </p:cTn>
                        </p:par>
                        <p:par>
                          <p:cTn id="30" fill="hold">
                            <p:stCondLst>
                              <p:cond delay="2300"/>
                            </p:stCondLst>
                            <p:childTnLst>
                              <p:par>
                                <p:cTn id="31" presetID="53" presetClass="entr" presetSubtype="52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Effect transition="in" filter="fade">
                                      <p:cBhvr>
                                        <p:cTn id="35" dur="500"/>
                                        <p:tgtEl>
                                          <p:spTgt spid="29"/>
                                        </p:tgtEl>
                                      </p:cBhvr>
                                    </p:animEffect>
                                    <p:anim calcmode="lin" valueType="num">
                                      <p:cBhvr>
                                        <p:cTn id="36" dur="500" fill="hold"/>
                                        <p:tgtEl>
                                          <p:spTgt spid="29"/>
                                        </p:tgtEl>
                                        <p:attrNameLst>
                                          <p:attrName>ppt_x</p:attrName>
                                        </p:attrNameLst>
                                      </p:cBhvr>
                                      <p:tavLst>
                                        <p:tav tm="0">
                                          <p:val>
                                            <p:fltVal val="0.5"/>
                                          </p:val>
                                        </p:tav>
                                        <p:tav tm="100000">
                                          <p:val>
                                            <p:strVal val="#ppt_x"/>
                                          </p:val>
                                        </p:tav>
                                      </p:tavLst>
                                    </p:anim>
                                    <p:anim calcmode="lin" valueType="num">
                                      <p:cBhvr>
                                        <p:cTn id="37" dur="500" fill="hold"/>
                                        <p:tgtEl>
                                          <p:spTgt spid="29"/>
                                        </p:tgtEl>
                                        <p:attrNameLst>
                                          <p:attrName>ppt_y</p:attrName>
                                        </p:attrNameLst>
                                      </p:cBhvr>
                                      <p:tavLst>
                                        <p:tav tm="0">
                                          <p:val>
                                            <p:fltVal val="0.5"/>
                                          </p:val>
                                        </p:tav>
                                        <p:tav tm="100000">
                                          <p:val>
                                            <p:strVal val="#ppt_y"/>
                                          </p:val>
                                        </p:tav>
                                      </p:tavLst>
                                    </p:anim>
                                  </p:childTnLst>
                                </p:cTn>
                              </p:par>
                            </p:childTnLst>
                          </p:cTn>
                        </p:par>
                        <p:par>
                          <p:cTn id="38" fill="hold">
                            <p:stCondLst>
                              <p:cond delay="2800"/>
                            </p:stCondLst>
                            <p:childTnLst>
                              <p:par>
                                <p:cTn id="39" presetID="53" presetClass="entr" presetSubtype="528" fill="hold" grpId="0" nodeType="afterEffect">
                                  <p:stCondLst>
                                    <p:cond delay="0"/>
                                  </p:stCondLst>
                                  <p:iterate type="lt">
                                    <p:tmPct val="10000"/>
                                  </p:iterate>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anim calcmode="lin" valueType="num">
                                      <p:cBhvr>
                                        <p:cTn id="44" dur="500" fill="hold"/>
                                        <p:tgtEl>
                                          <p:spTgt spid="30"/>
                                        </p:tgtEl>
                                        <p:attrNameLst>
                                          <p:attrName>ppt_x</p:attrName>
                                        </p:attrNameLst>
                                      </p:cBhvr>
                                      <p:tavLst>
                                        <p:tav tm="0">
                                          <p:val>
                                            <p:fltVal val="0.5"/>
                                          </p:val>
                                        </p:tav>
                                        <p:tav tm="100000">
                                          <p:val>
                                            <p:strVal val="#ppt_x"/>
                                          </p:val>
                                        </p:tav>
                                      </p:tavLst>
                                    </p:anim>
                                    <p:anim calcmode="lin" valueType="num">
                                      <p:cBhvr>
                                        <p:cTn id="45" dur="500" fill="hold"/>
                                        <p:tgtEl>
                                          <p:spTgt spid="30"/>
                                        </p:tgtEl>
                                        <p:attrNameLst>
                                          <p:attrName>ppt_y</p:attrName>
                                        </p:attrNameLst>
                                      </p:cBhvr>
                                      <p:tavLst>
                                        <p:tav tm="0">
                                          <p:val>
                                            <p:fltVal val="0.5"/>
                                          </p:val>
                                        </p:tav>
                                        <p:tav tm="100000">
                                          <p:val>
                                            <p:strVal val="#ppt_y"/>
                                          </p:val>
                                        </p:tav>
                                      </p:tavLst>
                                    </p:anim>
                                  </p:childTnLst>
                                </p:cTn>
                              </p:par>
                            </p:childTnLst>
                          </p:cTn>
                        </p:par>
                        <p:par>
                          <p:cTn id="46" fill="hold">
                            <p:stCondLst>
                              <p:cond delay="3550"/>
                            </p:stCondLst>
                            <p:childTnLst>
                              <p:par>
                                <p:cTn id="47" presetID="14" presetClass="entr" presetSubtype="10" fill="hold" grpId="0"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randombar(horizontal)">
                                      <p:cBhvr>
                                        <p:cTn id="4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32" grpId="0" animBg="1"/>
      <p:bldP spid="29" grpId="0"/>
      <p:bldP spid="30" grpId="0"/>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endParaRPr lang="en-US" altLang="zh-CN" dirty="0"/>
          </a:p>
        </p:txBody>
      </p:sp>
      <p:sp>
        <p:nvSpPr>
          <p:cNvPr id="12" name="内容占位符 11">
            <a:extLst>
              <a:ext uri="{FF2B5EF4-FFF2-40B4-BE49-F238E27FC236}">
                <a16:creationId xmlns:a16="http://schemas.microsoft.com/office/drawing/2014/main" id="{59CB9B04-F794-44D8-89F0-D044B0D50F5A}"/>
              </a:ext>
            </a:extLst>
          </p:cNvPr>
          <p:cNvSpPr>
            <a:spLocks noGrp="1"/>
          </p:cNvSpPr>
          <p:nvPr>
            <p:ph idx="1"/>
          </p:nvPr>
        </p:nvSpPr>
        <p:spPr/>
        <p:txBody>
          <a:bodyPr/>
          <a:lstStyle/>
          <a:p>
            <a:endParaRPr lang="zh-CN" altLang="en-US" dirty="0"/>
          </a:p>
        </p:txBody>
      </p:sp>
      <p:sp>
        <p:nvSpPr>
          <p:cNvPr id="14339" name="Rectangle 2"/>
          <p:cNvSpPr>
            <a:spLocks noGrp="1" noChangeArrowheads="1"/>
          </p:cNvSpPr>
          <p:nvPr>
            <p:ph type="title"/>
          </p:nvPr>
        </p:nvSpPr>
        <p:spPr>
          <a:xfrm>
            <a:off x="3754235" y="247856"/>
            <a:ext cx="4683531" cy="692412"/>
          </a:xfr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p>
            <a:pPr algn="ctr"/>
            <a:r>
              <a:rPr lang="zh-CN" altLang="en-US" sz="3200" b="1" dirty="0">
                <a:solidFill>
                  <a:srgbClr val="800000"/>
                </a:solidFill>
                <a:latin typeface="微软雅黑" panose="020B0503020204020204" pitchFamily="34" charset="-122"/>
                <a:ea typeface="微软雅黑" panose="020B0503020204020204" pitchFamily="34" charset="-122"/>
              </a:rPr>
              <a:t>福利彩票的问题</a:t>
            </a:r>
          </a:p>
        </p:txBody>
      </p:sp>
      <p:sp>
        <p:nvSpPr>
          <p:cNvPr id="13" name="矩形 12">
            <a:extLst>
              <a:ext uri="{FF2B5EF4-FFF2-40B4-BE49-F238E27FC236}">
                <a16:creationId xmlns:a16="http://schemas.microsoft.com/office/drawing/2014/main" id="{EB6DD350-245D-4B63-B7D9-F3B7081E7C3D}"/>
              </a:ext>
            </a:extLst>
          </p:cNvPr>
          <p:cNvSpPr/>
          <p:nvPr/>
        </p:nvSpPr>
        <p:spPr>
          <a:xfrm>
            <a:off x="949055" y="1137684"/>
            <a:ext cx="10502208" cy="5262979"/>
          </a:xfrm>
          <a:prstGeom prst="rect">
            <a:avLst/>
          </a:prstGeom>
        </p:spPr>
        <p:txBody>
          <a:bodyPr wrap="square">
            <a:spAutoFit/>
          </a:bodyPr>
          <a:lstStyle/>
          <a:p>
            <a:pPr>
              <a:lnSpc>
                <a:spcPct val="150000"/>
              </a:lnSpc>
            </a:pPr>
            <a:r>
              <a:rPr lang="zh-CN" altLang="en-US" sz="3200" b="1" dirty="0">
                <a:solidFill>
                  <a:srgbClr val="993300"/>
                </a:solidFill>
              </a:rPr>
              <a:t>问题描述：</a:t>
            </a:r>
            <a:r>
              <a:rPr lang="zh-CN" altLang="zh-CN" sz="3200" b="1" dirty="0">
                <a:solidFill>
                  <a:srgbClr val="002060"/>
                </a:solidFill>
              </a:rPr>
              <a:t>模拟随机产生一注福利彩票双色球程序。</a:t>
            </a:r>
            <a:endParaRPr lang="en-US" altLang="zh-CN" sz="3200" b="1" dirty="0">
              <a:solidFill>
                <a:srgbClr val="002060"/>
              </a:solidFill>
            </a:endParaRPr>
          </a:p>
          <a:p>
            <a:pPr>
              <a:lnSpc>
                <a:spcPct val="150000"/>
              </a:lnSpc>
            </a:pPr>
            <a:r>
              <a:rPr lang="zh-CN" altLang="en-US" sz="3200" b="1" dirty="0">
                <a:solidFill>
                  <a:srgbClr val="993300"/>
                </a:solidFill>
              </a:rPr>
              <a:t>问题分析：</a:t>
            </a:r>
            <a:r>
              <a:rPr lang="zh-CN" altLang="zh-CN" sz="3200" b="1" dirty="0">
                <a:solidFill>
                  <a:srgbClr val="002060"/>
                </a:solidFill>
              </a:rPr>
              <a:t>购买随机一注福利彩票双色球，要考虑</a:t>
            </a:r>
            <a:r>
              <a:rPr lang="zh-CN" altLang="en-US" sz="3200" b="1" dirty="0">
                <a:solidFill>
                  <a:srgbClr val="002060"/>
                </a:solidFill>
              </a:rPr>
              <a:t>：</a:t>
            </a:r>
            <a:endParaRPr lang="en-US" altLang="zh-CN" sz="3200" b="1" dirty="0">
              <a:solidFill>
                <a:srgbClr val="002060"/>
              </a:solidFill>
            </a:endParaRPr>
          </a:p>
          <a:p>
            <a:pPr>
              <a:lnSpc>
                <a:spcPct val="150000"/>
              </a:lnSpc>
            </a:pPr>
            <a:r>
              <a:rPr lang="zh-CN" altLang="en-US" sz="3200" b="1" dirty="0">
                <a:solidFill>
                  <a:srgbClr val="002060"/>
                </a:solidFill>
              </a:rPr>
              <a:t>     （</a:t>
            </a:r>
            <a:r>
              <a:rPr lang="en-US" altLang="zh-CN" sz="3200" b="1" dirty="0">
                <a:solidFill>
                  <a:srgbClr val="002060"/>
                </a:solidFill>
              </a:rPr>
              <a:t>1</a:t>
            </a:r>
            <a:r>
              <a:rPr lang="zh-CN" altLang="en-US" sz="3200" b="1" dirty="0">
                <a:solidFill>
                  <a:srgbClr val="002060"/>
                </a:solidFill>
              </a:rPr>
              <a:t>）怎样</a:t>
            </a:r>
            <a:r>
              <a:rPr lang="zh-CN" altLang="zh-CN" sz="3200" b="1" dirty="0">
                <a:solidFill>
                  <a:srgbClr val="002060"/>
                </a:solidFill>
              </a:rPr>
              <a:t>随机产生</a:t>
            </a:r>
            <a:r>
              <a:rPr lang="en-US" altLang="zh-CN" sz="3200" b="1" dirty="0">
                <a:solidFill>
                  <a:srgbClr val="002060"/>
                </a:solidFill>
              </a:rPr>
              <a:t>6</a:t>
            </a:r>
            <a:r>
              <a:rPr lang="zh-CN" altLang="zh-CN" sz="3200" b="1" dirty="0">
                <a:solidFill>
                  <a:srgbClr val="002060"/>
                </a:solidFill>
              </a:rPr>
              <a:t>个</a:t>
            </a:r>
            <a:r>
              <a:rPr lang="en-US" altLang="zh-CN" sz="3200" b="1" dirty="0">
                <a:solidFill>
                  <a:srgbClr val="002060"/>
                </a:solidFill>
              </a:rPr>
              <a:t>1-33</a:t>
            </a:r>
            <a:r>
              <a:rPr lang="zh-CN" altLang="zh-CN" sz="3200" b="1" dirty="0">
                <a:solidFill>
                  <a:srgbClr val="002060"/>
                </a:solidFill>
              </a:rPr>
              <a:t>之间整数（红色球）和</a:t>
            </a:r>
            <a:r>
              <a:rPr lang="en-US" altLang="zh-CN" sz="3200" b="1" dirty="0">
                <a:solidFill>
                  <a:srgbClr val="002060"/>
                </a:solidFill>
              </a:rPr>
              <a:t>1</a:t>
            </a:r>
            <a:r>
              <a:rPr lang="zh-CN" altLang="zh-CN" sz="3200" b="1" dirty="0">
                <a:solidFill>
                  <a:srgbClr val="002060"/>
                </a:solidFill>
              </a:rPr>
              <a:t>个</a:t>
            </a:r>
            <a:r>
              <a:rPr lang="en-US" altLang="zh-CN" sz="3200" b="1" dirty="0">
                <a:solidFill>
                  <a:srgbClr val="002060"/>
                </a:solidFill>
              </a:rPr>
              <a:t>1-16</a:t>
            </a:r>
            <a:r>
              <a:rPr lang="zh-CN" altLang="zh-CN" sz="3200" b="1" dirty="0">
                <a:solidFill>
                  <a:srgbClr val="002060"/>
                </a:solidFill>
              </a:rPr>
              <a:t>之间整数（蓝色球）</a:t>
            </a:r>
            <a:r>
              <a:rPr lang="zh-CN" altLang="en-US" sz="3200" b="1" dirty="0">
                <a:solidFill>
                  <a:srgbClr val="002060"/>
                </a:solidFill>
              </a:rPr>
              <a:t>。</a:t>
            </a:r>
            <a:endParaRPr lang="en-US" altLang="zh-CN" sz="3200" b="1" dirty="0">
              <a:solidFill>
                <a:srgbClr val="002060"/>
              </a:solidFill>
            </a:endParaRPr>
          </a:p>
          <a:p>
            <a:pPr>
              <a:lnSpc>
                <a:spcPct val="150000"/>
              </a:lnSpc>
            </a:pPr>
            <a:r>
              <a:rPr lang="zh-CN" altLang="en-US" sz="3200" b="1" dirty="0">
                <a:solidFill>
                  <a:srgbClr val="993300"/>
                </a:solidFill>
              </a:rPr>
              <a:t>处理方法：</a:t>
            </a:r>
            <a:r>
              <a:rPr lang="zh-CN" altLang="en-US" sz="3200" b="1" dirty="0">
                <a:solidFill>
                  <a:srgbClr val="002060"/>
                </a:solidFill>
              </a:rPr>
              <a:t>调用</a:t>
            </a:r>
            <a:r>
              <a:rPr lang="en-US" altLang="zh-CN" sz="3200" b="1" dirty="0">
                <a:solidFill>
                  <a:srgbClr val="002060"/>
                </a:solidFill>
              </a:rPr>
              <a:t>C</a:t>
            </a:r>
            <a:r>
              <a:rPr lang="zh-CN" altLang="en-US" sz="3200" b="1" dirty="0">
                <a:solidFill>
                  <a:srgbClr val="002060"/>
                </a:solidFill>
              </a:rPr>
              <a:t>语言产生随机数函数解决，即</a:t>
            </a:r>
            <a:r>
              <a:rPr lang="en-US" altLang="zh-CN" sz="3200" b="1" dirty="0">
                <a:solidFill>
                  <a:srgbClr val="002060"/>
                </a:solidFill>
              </a:rPr>
              <a:t>rand()%33</a:t>
            </a:r>
            <a:r>
              <a:rPr lang="zh-CN" altLang="en-US" sz="3200" b="1" dirty="0">
                <a:solidFill>
                  <a:srgbClr val="002060"/>
                </a:solidFill>
              </a:rPr>
              <a:t>（或</a:t>
            </a:r>
            <a:r>
              <a:rPr lang="en-US" altLang="zh-CN" sz="3200" b="1" dirty="0">
                <a:solidFill>
                  <a:srgbClr val="002060"/>
                </a:solidFill>
              </a:rPr>
              <a:t>16</a:t>
            </a:r>
            <a:r>
              <a:rPr lang="zh-CN" altLang="en-US" sz="3200" b="1" dirty="0">
                <a:solidFill>
                  <a:srgbClr val="002060"/>
                </a:solidFill>
              </a:rPr>
              <a:t>）</a:t>
            </a:r>
            <a:r>
              <a:rPr lang="en-US" altLang="zh-CN" sz="3200" b="1" dirty="0">
                <a:solidFill>
                  <a:srgbClr val="002060"/>
                </a:solidFill>
              </a:rPr>
              <a:t>+1</a:t>
            </a:r>
            <a:r>
              <a:rPr lang="zh-CN" altLang="en-US" sz="3200" b="1" dirty="0">
                <a:solidFill>
                  <a:srgbClr val="002060"/>
                </a:solidFill>
              </a:rPr>
              <a:t>，为了使用每次运行产生不同随机数，使用</a:t>
            </a:r>
            <a:r>
              <a:rPr lang="en-US" altLang="zh-CN" sz="3200" b="1" dirty="0" err="1">
                <a:solidFill>
                  <a:srgbClr val="002060"/>
                </a:solidFill>
              </a:rPr>
              <a:t>srand</a:t>
            </a:r>
            <a:r>
              <a:rPr lang="en-US" altLang="zh-CN" sz="3200" b="1" dirty="0">
                <a:solidFill>
                  <a:srgbClr val="002060"/>
                </a:solidFill>
              </a:rPr>
              <a:t>((</a:t>
            </a:r>
            <a:r>
              <a:rPr lang="en-US" altLang="zh-CN" sz="3200" b="1" dirty="0" err="1">
                <a:solidFill>
                  <a:srgbClr val="002060"/>
                </a:solidFill>
              </a:rPr>
              <a:t>int</a:t>
            </a:r>
            <a:r>
              <a:rPr lang="en-US" altLang="zh-CN" sz="3200" b="1" dirty="0">
                <a:solidFill>
                  <a:srgbClr val="002060"/>
                </a:solidFill>
              </a:rPr>
              <a:t>)time(NULL))</a:t>
            </a:r>
            <a:r>
              <a:rPr lang="zh-CN" altLang="en-US" sz="3200" b="1" dirty="0">
                <a:solidFill>
                  <a:srgbClr val="002060"/>
                </a:solidFill>
              </a:rPr>
              <a:t>，</a:t>
            </a:r>
            <a:r>
              <a:rPr lang="zh-CN" altLang="zh-CN" sz="3200" b="1" dirty="0">
                <a:solidFill>
                  <a:srgbClr val="002060"/>
                </a:solidFill>
              </a:rPr>
              <a:t>初始化随机数种子</a:t>
            </a:r>
            <a:r>
              <a:rPr lang="zh-CN" altLang="en-US" sz="3200" b="1" dirty="0">
                <a:solidFill>
                  <a:srgbClr val="002060"/>
                </a:solidFill>
              </a:rPr>
              <a:t>。 </a:t>
            </a:r>
            <a:endParaRPr lang="en-US" altLang="zh-CN" sz="3200" b="1" dirty="0">
              <a:solidFill>
                <a:srgbClr val="002060"/>
              </a:solidFill>
            </a:endParaRPr>
          </a:p>
        </p:txBody>
      </p:sp>
    </p:spTree>
    <p:extLst>
      <p:ext uri="{BB962C8B-B14F-4D97-AF65-F5344CB8AC3E}">
        <p14:creationId xmlns:p14="http://schemas.microsoft.com/office/powerpoint/2010/main" val="318454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endParaRPr lang="en-US" altLang="zh-CN" dirty="0"/>
          </a:p>
        </p:txBody>
      </p:sp>
      <p:sp>
        <p:nvSpPr>
          <p:cNvPr id="12" name="内容占位符 11">
            <a:extLst>
              <a:ext uri="{FF2B5EF4-FFF2-40B4-BE49-F238E27FC236}">
                <a16:creationId xmlns:a16="http://schemas.microsoft.com/office/drawing/2014/main" id="{59CB9B04-F794-44D8-89F0-D044B0D50F5A}"/>
              </a:ext>
            </a:extLst>
          </p:cNvPr>
          <p:cNvSpPr>
            <a:spLocks noGrp="1"/>
          </p:cNvSpPr>
          <p:nvPr>
            <p:ph idx="1"/>
          </p:nvPr>
        </p:nvSpPr>
        <p:spPr/>
        <p:txBody>
          <a:bodyPr/>
          <a:lstStyle/>
          <a:p>
            <a:endParaRPr lang="zh-CN" altLang="en-US" dirty="0"/>
          </a:p>
        </p:txBody>
      </p:sp>
      <p:sp>
        <p:nvSpPr>
          <p:cNvPr id="14339" name="Rectangle 2"/>
          <p:cNvSpPr>
            <a:spLocks noGrp="1" noChangeArrowheads="1"/>
          </p:cNvSpPr>
          <p:nvPr>
            <p:ph type="title"/>
          </p:nvPr>
        </p:nvSpPr>
        <p:spPr>
          <a:xfrm>
            <a:off x="3754235" y="247856"/>
            <a:ext cx="4683531" cy="692412"/>
          </a:xfr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p>
            <a:pPr algn="ctr"/>
            <a:r>
              <a:rPr lang="zh-CN" altLang="en-US" sz="3200" b="1" dirty="0">
                <a:solidFill>
                  <a:srgbClr val="800000"/>
                </a:solidFill>
                <a:latin typeface="微软雅黑" panose="020B0503020204020204" pitchFamily="34" charset="-122"/>
                <a:ea typeface="微软雅黑" panose="020B0503020204020204" pitchFamily="34" charset="-122"/>
              </a:rPr>
              <a:t>福利彩票的问题</a:t>
            </a:r>
          </a:p>
        </p:txBody>
      </p:sp>
      <p:sp>
        <p:nvSpPr>
          <p:cNvPr id="2" name="矩形 1">
            <a:extLst>
              <a:ext uri="{FF2B5EF4-FFF2-40B4-BE49-F238E27FC236}">
                <a16:creationId xmlns:a16="http://schemas.microsoft.com/office/drawing/2014/main" id="{9CB0220C-3EB1-4590-98D1-9EDEDF7D4667}"/>
              </a:ext>
            </a:extLst>
          </p:cNvPr>
          <p:cNvSpPr/>
          <p:nvPr/>
        </p:nvSpPr>
        <p:spPr>
          <a:xfrm>
            <a:off x="974649" y="1181339"/>
            <a:ext cx="10189536" cy="5262979"/>
          </a:xfrm>
          <a:prstGeom prst="rect">
            <a:avLst/>
          </a:prstGeom>
        </p:spPr>
        <p:txBody>
          <a:bodyPr wrap="square">
            <a:spAutoFit/>
          </a:bodyPr>
          <a:lstStyle/>
          <a:p>
            <a:pPr>
              <a:lnSpc>
                <a:spcPct val="150000"/>
              </a:lnSpc>
            </a:pPr>
            <a:r>
              <a:rPr lang="zh-CN" altLang="en-US" sz="3200" b="1" dirty="0">
                <a:solidFill>
                  <a:srgbClr val="002060"/>
                </a:solidFill>
              </a:rPr>
              <a:t>     （</a:t>
            </a:r>
            <a:r>
              <a:rPr lang="en-US" altLang="zh-CN" sz="3200" b="1" dirty="0">
                <a:solidFill>
                  <a:srgbClr val="002060"/>
                </a:solidFill>
              </a:rPr>
              <a:t>2</a:t>
            </a:r>
            <a:r>
              <a:rPr lang="zh-CN" altLang="en-US" sz="3200" b="1" dirty="0">
                <a:solidFill>
                  <a:srgbClr val="002060"/>
                </a:solidFill>
              </a:rPr>
              <a:t>）</a:t>
            </a:r>
            <a:r>
              <a:rPr lang="zh-CN" altLang="zh-CN" sz="3200" b="1" dirty="0">
                <a:solidFill>
                  <a:srgbClr val="002060"/>
                </a:solidFill>
              </a:rPr>
              <a:t>在随机产生过程中对红色球出现重复数据又如何处置问题。</a:t>
            </a:r>
            <a:endParaRPr lang="en-US" altLang="zh-CN" sz="3200" b="1" dirty="0">
              <a:solidFill>
                <a:srgbClr val="002060"/>
              </a:solidFill>
            </a:endParaRPr>
          </a:p>
          <a:p>
            <a:pPr>
              <a:lnSpc>
                <a:spcPct val="150000"/>
              </a:lnSpc>
            </a:pPr>
            <a:r>
              <a:rPr lang="zh-CN" altLang="en-US" sz="3200" b="1" dirty="0">
                <a:solidFill>
                  <a:srgbClr val="993300"/>
                </a:solidFill>
              </a:rPr>
              <a:t>处理方法：</a:t>
            </a:r>
            <a:r>
              <a:rPr lang="zh-CN" altLang="en-US" sz="3200" b="1" dirty="0">
                <a:solidFill>
                  <a:srgbClr val="002060"/>
                </a:solidFill>
              </a:rPr>
              <a:t>编写</a:t>
            </a:r>
            <a:r>
              <a:rPr lang="zh-CN" altLang="zh-CN" sz="3200" b="1" dirty="0">
                <a:solidFill>
                  <a:srgbClr val="002060"/>
                </a:solidFill>
              </a:rPr>
              <a:t>一个函数判断和前面产生随机数是否相同，如果相同</a:t>
            </a:r>
            <a:r>
              <a:rPr lang="zh-CN" altLang="en-US" sz="3200" b="1" dirty="0">
                <a:solidFill>
                  <a:srgbClr val="002060"/>
                </a:solidFill>
              </a:rPr>
              <a:t>函数返回</a:t>
            </a:r>
            <a:r>
              <a:rPr lang="en-US" altLang="zh-CN" sz="3200" b="1" dirty="0">
                <a:solidFill>
                  <a:srgbClr val="002060"/>
                </a:solidFill>
              </a:rPr>
              <a:t>0</a:t>
            </a:r>
            <a:r>
              <a:rPr lang="zh-CN" altLang="en-US" sz="3200" b="1" dirty="0">
                <a:solidFill>
                  <a:srgbClr val="002060"/>
                </a:solidFill>
              </a:rPr>
              <a:t>，不同函数返回</a:t>
            </a:r>
            <a:r>
              <a:rPr lang="en-US" altLang="zh-CN" sz="3200" b="1" dirty="0">
                <a:solidFill>
                  <a:srgbClr val="002060"/>
                </a:solidFill>
              </a:rPr>
              <a:t>1</a:t>
            </a:r>
            <a:r>
              <a:rPr lang="zh-CN" altLang="en-US" sz="3200" b="1" dirty="0">
                <a:solidFill>
                  <a:srgbClr val="002060"/>
                </a:solidFill>
              </a:rPr>
              <a:t>。</a:t>
            </a:r>
            <a:endParaRPr lang="en-US" altLang="zh-CN" sz="3200" b="1" dirty="0">
              <a:solidFill>
                <a:srgbClr val="002060"/>
              </a:solidFill>
            </a:endParaRPr>
          </a:p>
          <a:p>
            <a:pPr>
              <a:lnSpc>
                <a:spcPct val="150000"/>
              </a:lnSpc>
            </a:pPr>
            <a:r>
              <a:rPr lang="zh-CN" altLang="en-US" sz="3200" b="1" dirty="0">
                <a:solidFill>
                  <a:srgbClr val="002060"/>
                </a:solidFill>
              </a:rPr>
              <a:t>        在主调函数如果返回值是</a:t>
            </a:r>
            <a:r>
              <a:rPr lang="en-US" altLang="zh-CN" sz="3200" b="1" dirty="0">
                <a:solidFill>
                  <a:srgbClr val="002060"/>
                </a:solidFill>
              </a:rPr>
              <a:t>0</a:t>
            </a:r>
            <a:r>
              <a:rPr lang="zh-CN" altLang="en-US" sz="3200" b="1" dirty="0">
                <a:solidFill>
                  <a:srgbClr val="002060"/>
                </a:solidFill>
              </a:rPr>
              <a:t>（相同），此随机数</a:t>
            </a:r>
            <a:r>
              <a:rPr lang="zh-CN" altLang="zh-CN" sz="3200" b="1" dirty="0">
                <a:solidFill>
                  <a:srgbClr val="002060"/>
                </a:solidFill>
              </a:rPr>
              <a:t>重新产生，</a:t>
            </a:r>
            <a:r>
              <a:rPr lang="zh-CN" altLang="en-US" sz="3200" b="1" dirty="0">
                <a:solidFill>
                  <a:srgbClr val="002060"/>
                </a:solidFill>
              </a:rPr>
              <a:t>函数值返回</a:t>
            </a:r>
            <a:r>
              <a:rPr lang="en-US" altLang="zh-CN" sz="3200" b="1" dirty="0">
                <a:solidFill>
                  <a:srgbClr val="002060"/>
                </a:solidFill>
              </a:rPr>
              <a:t>1</a:t>
            </a:r>
            <a:r>
              <a:rPr lang="zh-CN" altLang="en-US" sz="3200" b="1" dirty="0">
                <a:solidFill>
                  <a:srgbClr val="002060"/>
                </a:solidFill>
              </a:rPr>
              <a:t>（不同）</a:t>
            </a:r>
            <a:r>
              <a:rPr lang="zh-CN" altLang="zh-CN" sz="3200" b="1" dirty="0">
                <a:solidFill>
                  <a:srgbClr val="002060"/>
                </a:solidFill>
              </a:rPr>
              <a:t>再产生下一个随机数，</a:t>
            </a:r>
            <a:r>
              <a:rPr lang="zh-CN" altLang="en-US" sz="3200" b="1" dirty="0">
                <a:solidFill>
                  <a:srgbClr val="002060"/>
                </a:solidFill>
              </a:rPr>
              <a:t>直到</a:t>
            </a:r>
            <a:r>
              <a:rPr lang="zh-CN" altLang="zh-CN" sz="3200" b="1" dirty="0">
                <a:solidFill>
                  <a:srgbClr val="002060"/>
                </a:solidFill>
              </a:rPr>
              <a:t>产生完毕。</a:t>
            </a:r>
            <a:endParaRPr lang="zh-CN" altLang="en-US" dirty="0"/>
          </a:p>
        </p:txBody>
      </p:sp>
    </p:spTree>
    <p:extLst>
      <p:ext uri="{BB962C8B-B14F-4D97-AF65-F5344CB8AC3E}">
        <p14:creationId xmlns:p14="http://schemas.microsoft.com/office/powerpoint/2010/main" val="30451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endParaRPr lang="en-US" altLang="zh-CN" dirty="0"/>
          </a:p>
        </p:txBody>
      </p:sp>
      <p:grpSp>
        <p:nvGrpSpPr>
          <p:cNvPr id="5" name="组合 4">
            <a:extLst>
              <a:ext uri="{FF2B5EF4-FFF2-40B4-BE49-F238E27FC236}">
                <a16:creationId xmlns:a16="http://schemas.microsoft.com/office/drawing/2014/main" id="{49E66CF3-4FAA-408E-9D4A-62CC6B81199E}"/>
              </a:ext>
            </a:extLst>
          </p:cNvPr>
          <p:cNvGrpSpPr/>
          <p:nvPr/>
        </p:nvGrpSpPr>
        <p:grpSpPr>
          <a:xfrm>
            <a:off x="0" y="114299"/>
            <a:ext cx="12192000" cy="1140343"/>
            <a:chOff x="0" y="114299"/>
            <a:chExt cx="12192000" cy="932769"/>
          </a:xfrm>
        </p:grpSpPr>
        <p:sp>
          <p:nvSpPr>
            <p:cNvPr id="6" name="矩形 5">
              <a:extLst>
                <a:ext uri="{FF2B5EF4-FFF2-40B4-BE49-F238E27FC236}">
                  <a16:creationId xmlns:a16="http://schemas.microsoft.com/office/drawing/2014/main" id="{3E757939-B8B1-49CE-BA01-5C6E79C46CE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8D0036FE-7284-47A2-BDD6-F2AAFE82C3F2}"/>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074D837-4E97-487F-8903-EF3C84AFB107}"/>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DD3F166-D4A2-470C-BC61-85FB25F739D5}"/>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F467E356-9100-47AA-BA87-98F795B17069}"/>
                </a:ext>
              </a:extLst>
            </p:cNvPr>
            <p:cNvPicPr>
              <a:picLocks noChangeAspect="1"/>
            </p:cNvPicPr>
            <p:nvPr/>
          </p:nvPicPr>
          <p:blipFill>
            <a:blip r:embed="rId3"/>
            <a:stretch>
              <a:fillRect/>
            </a:stretch>
          </p:blipFill>
          <p:spPr>
            <a:xfrm>
              <a:off x="3189767" y="114299"/>
              <a:ext cx="4945521" cy="932769"/>
            </a:xfrm>
            <a:prstGeom prst="rect">
              <a:avLst/>
            </a:prstGeom>
          </p:spPr>
        </p:pic>
      </p:grpSp>
      <p:sp>
        <p:nvSpPr>
          <p:cNvPr id="12" name="内容占位符 11">
            <a:extLst>
              <a:ext uri="{FF2B5EF4-FFF2-40B4-BE49-F238E27FC236}">
                <a16:creationId xmlns:a16="http://schemas.microsoft.com/office/drawing/2014/main" id="{59CB9B04-F794-44D8-89F0-D044B0D50F5A}"/>
              </a:ext>
            </a:extLst>
          </p:cNvPr>
          <p:cNvSpPr>
            <a:spLocks noGrp="1"/>
          </p:cNvSpPr>
          <p:nvPr>
            <p:ph idx="1"/>
          </p:nvPr>
        </p:nvSpPr>
        <p:spPr/>
        <p:txBody>
          <a:bodyPr/>
          <a:lstStyle/>
          <a:p>
            <a:endParaRPr lang="zh-CN" altLang="en-US" dirty="0"/>
          </a:p>
        </p:txBody>
      </p:sp>
      <p:sp>
        <p:nvSpPr>
          <p:cNvPr id="14339" name="Rectangle 2"/>
          <p:cNvSpPr>
            <a:spLocks noGrp="1" noChangeArrowheads="1"/>
          </p:cNvSpPr>
          <p:nvPr>
            <p:ph type="title"/>
          </p:nvPr>
        </p:nvSpPr>
        <p:spPr>
          <a:xfrm>
            <a:off x="3754235" y="247856"/>
            <a:ext cx="4683531" cy="692412"/>
          </a:xfr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p>
            <a:r>
              <a:rPr lang="zh-CN" altLang="en-US" sz="3200" b="1" dirty="0">
                <a:solidFill>
                  <a:srgbClr val="800000"/>
                </a:solidFill>
                <a:latin typeface="微软雅黑" panose="020B0503020204020204" pitchFamily="34" charset="-122"/>
                <a:ea typeface="微软雅黑" panose="020B0503020204020204" pitchFamily="34" charset="-122"/>
              </a:rPr>
              <a:t>福利彩票的问题</a:t>
            </a:r>
            <a:r>
              <a:rPr lang="en-US" altLang="zh-CN" sz="3200" b="1" dirty="0">
                <a:solidFill>
                  <a:srgbClr val="800000"/>
                </a:solidFill>
                <a:latin typeface="微软雅黑" panose="020B0503020204020204" pitchFamily="34" charset="-122"/>
                <a:ea typeface="微软雅黑" panose="020B0503020204020204" pitchFamily="34" charset="-122"/>
              </a:rPr>
              <a:t>-</a:t>
            </a:r>
            <a:r>
              <a:rPr lang="zh-CN" altLang="en-US" sz="3200" b="1" dirty="0">
                <a:solidFill>
                  <a:srgbClr val="800000"/>
                </a:solidFill>
                <a:latin typeface="微软雅黑" panose="020B0503020204020204" pitchFamily="34" charset="-122"/>
                <a:ea typeface="微软雅黑" panose="020B0503020204020204" pitchFamily="34" charset="-122"/>
              </a:rPr>
              <a:t>代码</a:t>
            </a:r>
          </a:p>
        </p:txBody>
      </p:sp>
      <p:sp>
        <p:nvSpPr>
          <p:cNvPr id="13" name="矩形 12">
            <a:extLst>
              <a:ext uri="{FF2B5EF4-FFF2-40B4-BE49-F238E27FC236}">
                <a16:creationId xmlns:a16="http://schemas.microsoft.com/office/drawing/2014/main" id="{7BD7C01F-A28E-4C38-8A34-1103C36EBBD6}"/>
              </a:ext>
            </a:extLst>
          </p:cNvPr>
          <p:cNvSpPr/>
          <p:nvPr/>
        </p:nvSpPr>
        <p:spPr>
          <a:xfrm>
            <a:off x="107502" y="908720"/>
            <a:ext cx="6413189" cy="5632311"/>
          </a:xfrm>
          <a:prstGeom prst="rect">
            <a:avLst/>
          </a:prstGeom>
        </p:spPr>
        <p:txBody>
          <a:bodyPr wrap="square">
            <a:spAutoFit/>
          </a:bodyPr>
          <a:lstStyle/>
          <a:p>
            <a:r>
              <a:rPr lang="en-US" altLang="zh-CN" sz="2400" dirty="0"/>
              <a:t>#include&lt;</a:t>
            </a:r>
            <a:r>
              <a:rPr lang="en-US" altLang="zh-CN" sz="2400" dirty="0" err="1"/>
              <a:t>stdio.h</a:t>
            </a:r>
            <a:r>
              <a:rPr lang="en-US" altLang="zh-CN" sz="2400" dirty="0"/>
              <a:t>&gt;    </a:t>
            </a:r>
          </a:p>
          <a:p>
            <a:r>
              <a:rPr lang="en-US" altLang="zh-CN" sz="2400" dirty="0"/>
              <a:t>#include &lt;</a:t>
            </a:r>
            <a:r>
              <a:rPr lang="en-US" altLang="zh-CN" sz="2400" dirty="0" err="1"/>
              <a:t>time.h</a:t>
            </a:r>
            <a:r>
              <a:rPr lang="en-US" altLang="zh-CN" sz="2400" dirty="0"/>
              <a:t>&gt;  </a:t>
            </a:r>
            <a:endParaRPr lang="zh-CN" altLang="zh-CN" sz="2400" dirty="0"/>
          </a:p>
          <a:p>
            <a:r>
              <a:rPr lang="en-US" altLang="zh-CN" sz="2400" dirty="0"/>
              <a:t>#include &lt;</a:t>
            </a:r>
            <a:r>
              <a:rPr lang="en-US" altLang="zh-CN" sz="2400" dirty="0" err="1"/>
              <a:t>stdlib.h</a:t>
            </a:r>
            <a:r>
              <a:rPr lang="en-US" altLang="zh-CN" sz="2400" dirty="0"/>
              <a:t>&gt;</a:t>
            </a:r>
            <a:endParaRPr lang="zh-CN" altLang="zh-CN" sz="2400" dirty="0"/>
          </a:p>
          <a:p>
            <a:r>
              <a:rPr lang="en-US" altLang="zh-CN" sz="2400" dirty="0"/>
              <a:t>#define N 7</a:t>
            </a:r>
          </a:p>
          <a:p>
            <a:r>
              <a:rPr lang="en-US" altLang="zh-CN" sz="2400" dirty="0" err="1"/>
              <a:t>int</a:t>
            </a:r>
            <a:r>
              <a:rPr lang="en-US" altLang="zh-CN" sz="2400" dirty="0"/>
              <a:t> search(</a:t>
            </a:r>
            <a:r>
              <a:rPr lang="en-US" altLang="zh-CN" sz="2400" dirty="0" err="1"/>
              <a:t>int</a:t>
            </a:r>
            <a:r>
              <a:rPr lang="en-US" altLang="zh-CN" sz="2400" dirty="0"/>
              <a:t> a[],</a:t>
            </a:r>
            <a:r>
              <a:rPr lang="en-US" altLang="zh-CN" sz="2400" dirty="0" err="1"/>
              <a:t>int</a:t>
            </a:r>
            <a:r>
              <a:rPr lang="en-US" altLang="zh-CN" sz="2400" dirty="0"/>
              <a:t> m ,</a:t>
            </a:r>
            <a:r>
              <a:rPr lang="en-US" altLang="zh-CN" sz="2400" dirty="0" err="1"/>
              <a:t>int</a:t>
            </a:r>
            <a:r>
              <a:rPr lang="en-US" altLang="zh-CN" sz="2400" dirty="0"/>
              <a:t> x) </a:t>
            </a:r>
          </a:p>
          <a:p>
            <a:r>
              <a:rPr lang="en-US" altLang="zh-CN" sz="2400" dirty="0"/>
              <a:t>{  </a:t>
            </a:r>
            <a:r>
              <a:rPr lang="en-US" altLang="zh-CN" sz="2400" dirty="0" err="1"/>
              <a:t>int</a:t>
            </a:r>
            <a:r>
              <a:rPr lang="en-US" altLang="zh-CN" sz="2400" dirty="0"/>
              <a:t> k;</a:t>
            </a:r>
            <a:endParaRPr lang="zh-CN" altLang="zh-CN" sz="2400" dirty="0"/>
          </a:p>
          <a:p>
            <a:r>
              <a:rPr lang="en-US" altLang="zh-CN" sz="2400" dirty="0"/>
              <a:t>   for(k=0;k&lt;=</a:t>
            </a:r>
            <a:r>
              <a:rPr lang="en-US" altLang="zh-CN" sz="2400" dirty="0" err="1"/>
              <a:t>m;k</a:t>
            </a:r>
            <a:r>
              <a:rPr lang="en-US" altLang="zh-CN" sz="2400" dirty="0"/>
              <a:t>++)</a:t>
            </a:r>
            <a:endParaRPr lang="zh-CN" altLang="zh-CN" sz="2400" dirty="0"/>
          </a:p>
          <a:p>
            <a:r>
              <a:rPr lang="en-US" altLang="zh-CN" sz="2400" dirty="0"/>
              <a:t>       if(x==a[k]) return 0;   </a:t>
            </a:r>
            <a:endParaRPr lang="zh-CN" altLang="zh-CN" sz="2400" dirty="0"/>
          </a:p>
          <a:p>
            <a:r>
              <a:rPr lang="en-US" altLang="zh-CN" sz="2400" dirty="0"/>
              <a:t>   return 1;</a:t>
            </a:r>
            <a:endParaRPr lang="zh-CN" altLang="zh-CN" sz="2400" dirty="0"/>
          </a:p>
          <a:p>
            <a:r>
              <a:rPr lang="en-US" altLang="zh-CN" sz="2400" dirty="0"/>
              <a:t>}</a:t>
            </a:r>
          </a:p>
          <a:p>
            <a:endParaRPr lang="zh-CN" altLang="zh-CN" sz="2400" dirty="0"/>
          </a:p>
          <a:p>
            <a:r>
              <a:rPr lang="en-US" altLang="zh-CN" sz="2400" dirty="0" err="1"/>
              <a:t>int</a:t>
            </a:r>
            <a:r>
              <a:rPr lang="en-US" altLang="zh-CN" sz="2400" dirty="0"/>
              <a:t> main( )</a:t>
            </a:r>
            <a:endParaRPr lang="zh-CN" altLang="zh-CN" sz="2400" dirty="0"/>
          </a:p>
          <a:p>
            <a:r>
              <a:rPr lang="en-US" altLang="zh-CN" sz="2400" dirty="0"/>
              <a:t>{   </a:t>
            </a:r>
            <a:r>
              <a:rPr lang="en-US" altLang="zh-CN" sz="2400" dirty="0" err="1"/>
              <a:t>int</a:t>
            </a:r>
            <a:r>
              <a:rPr lang="en-US" altLang="zh-CN" sz="2400" dirty="0"/>
              <a:t> r[N];</a:t>
            </a:r>
          </a:p>
          <a:p>
            <a:r>
              <a:rPr lang="en-US" altLang="zh-CN" sz="2400" dirty="0"/>
              <a:t>    </a:t>
            </a:r>
            <a:r>
              <a:rPr lang="en-US" altLang="zh-CN" sz="2400" dirty="0" err="1"/>
              <a:t>int</a:t>
            </a:r>
            <a:r>
              <a:rPr lang="en-US" altLang="zh-CN" sz="2400" dirty="0"/>
              <a:t> </a:t>
            </a:r>
            <a:r>
              <a:rPr lang="en-US" altLang="zh-CN" sz="2400" dirty="0" err="1"/>
              <a:t>i,k</a:t>
            </a:r>
            <a:r>
              <a:rPr lang="en-US" altLang="zh-CN" sz="2400" dirty="0"/>
              <a:t>=0;</a:t>
            </a:r>
            <a:endParaRPr lang="zh-CN" altLang="zh-CN" sz="2400" dirty="0"/>
          </a:p>
          <a:p>
            <a:r>
              <a:rPr lang="en-US" altLang="zh-CN" sz="2400" dirty="0"/>
              <a:t>    </a:t>
            </a:r>
            <a:r>
              <a:rPr lang="en-US" altLang="zh-CN" sz="2400" dirty="0" err="1"/>
              <a:t>printf</a:t>
            </a:r>
            <a:r>
              <a:rPr lang="en-US" altLang="zh-CN" sz="2400" dirty="0"/>
              <a:t>("\n</a:t>
            </a:r>
            <a:r>
              <a:rPr lang="zh-CN" altLang="zh-CN" sz="2400" dirty="0"/>
              <a:t>产生</a:t>
            </a:r>
            <a:r>
              <a:rPr lang="en-US" altLang="zh-CN" sz="2400" dirty="0"/>
              <a:t>%d</a:t>
            </a:r>
            <a:r>
              <a:rPr lang="zh-CN" altLang="zh-CN" sz="2400" dirty="0"/>
              <a:t>个红色球为</a:t>
            </a:r>
            <a:r>
              <a:rPr lang="en-US" altLang="zh-CN" sz="2400" dirty="0"/>
              <a:t>\n",N-1) ;   </a:t>
            </a:r>
            <a:endParaRPr lang="zh-CN" altLang="zh-CN" sz="2400" dirty="0"/>
          </a:p>
        </p:txBody>
      </p:sp>
      <p:sp>
        <p:nvSpPr>
          <p:cNvPr id="14" name="文本框 13">
            <a:extLst>
              <a:ext uri="{FF2B5EF4-FFF2-40B4-BE49-F238E27FC236}">
                <a16:creationId xmlns:a16="http://schemas.microsoft.com/office/drawing/2014/main" id="{A71D00FC-466C-4489-A554-87FF04F9CC7C}"/>
              </a:ext>
            </a:extLst>
          </p:cNvPr>
          <p:cNvSpPr txBox="1"/>
          <p:nvPr/>
        </p:nvSpPr>
        <p:spPr>
          <a:xfrm>
            <a:off x="6520692" y="1073825"/>
            <a:ext cx="5292080" cy="4893647"/>
          </a:xfrm>
          <a:prstGeom prst="rect">
            <a:avLst/>
          </a:prstGeom>
          <a:solidFill>
            <a:schemeClr val="bg1"/>
          </a:solidFill>
          <a:ln w="22225">
            <a:solidFill>
              <a:schemeClr val="accent6">
                <a:lumMod val="75000"/>
              </a:schemeClr>
            </a:solidFill>
          </a:ln>
        </p:spPr>
        <p:txBody>
          <a:bodyPr wrap="square" rtlCol="0">
            <a:spAutoFit/>
          </a:bodyPr>
          <a:lstStyle/>
          <a:p>
            <a:r>
              <a:rPr lang="en-US" altLang="zh-CN" sz="2400" dirty="0" err="1"/>
              <a:t>srand</a:t>
            </a:r>
            <a:r>
              <a:rPr lang="en-US" altLang="zh-CN" sz="2400" dirty="0"/>
              <a:t>((unsigned)time(NULL)); </a:t>
            </a:r>
          </a:p>
          <a:p>
            <a:r>
              <a:rPr lang="en-US" altLang="zh-CN" sz="2400" dirty="0"/>
              <a:t>    for(</a:t>
            </a:r>
            <a:r>
              <a:rPr lang="en-US" altLang="zh-CN" sz="2400" dirty="0" err="1"/>
              <a:t>i</a:t>
            </a:r>
            <a:r>
              <a:rPr lang="en-US" altLang="zh-CN" sz="2400" dirty="0"/>
              <a:t>=0;i&lt;N-1;i++)                        </a:t>
            </a:r>
            <a:endParaRPr lang="zh-CN" altLang="zh-CN" sz="2400" dirty="0"/>
          </a:p>
          <a:p>
            <a:r>
              <a:rPr lang="en-US" altLang="zh-CN" sz="2400" dirty="0"/>
              <a:t>        {   r[</a:t>
            </a:r>
            <a:r>
              <a:rPr lang="en-US" altLang="zh-CN" sz="2400" dirty="0" err="1"/>
              <a:t>i</a:t>
            </a:r>
            <a:r>
              <a:rPr lang="en-US" altLang="zh-CN" sz="2400" dirty="0"/>
              <a:t>]=rand()%33+1;                          </a:t>
            </a:r>
            <a:endParaRPr lang="zh-CN" altLang="zh-CN" sz="2400" dirty="0"/>
          </a:p>
          <a:p>
            <a:r>
              <a:rPr lang="en-US" altLang="zh-CN" sz="2400" dirty="0"/>
              <a:t>             if(search(r,i-1,r[</a:t>
            </a:r>
            <a:r>
              <a:rPr lang="en-US" altLang="zh-CN" sz="2400" dirty="0" err="1"/>
              <a:t>i</a:t>
            </a:r>
            <a:r>
              <a:rPr lang="en-US" altLang="zh-CN" sz="2400" dirty="0"/>
              <a:t>])==1)  </a:t>
            </a:r>
          </a:p>
          <a:p>
            <a:r>
              <a:rPr lang="en-US" altLang="zh-CN" sz="2400" dirty="0"/>
              <a:t>                        </a:t>
            </a:r>
            <a:r>
              <a:rPr lang="en-US" altLang="zh-CN" sz="2400" dirty="0" err="1"/>
              <a:t>printf</a:t>
            </a:r>
            <a:r>
              <a:rPr lang="en-US" altLang="zh-CN" sz="2400" dirty="0"/>
              <a:t>("%5d",r[</a:t>
            </a:r>
            <a:r>
              <a:rPr lang="en-US" altLang="zh-CN" sz="2400" dirty="0" err="1"/>
              <a:t>i</a:t>
            </a:r>
            <a:r>
              <a:rPr lang="en-US" altLang="zh-CN" sz="2400" dirty="0"/>
              <a:t>]) ;</a:t>
            </a:r>
          </a:p>
          <a:p>
            <a:r>
              <a:rPr lang="en-US" altLang="zh-CN" sz="2400" dirty="0"/>
              <a:t>             else </a:t>
            </a:r>
            <a:r>
              <a:rPr lang="en-US" altLang="zh-CN" sz="2400" dirty="0" err="1"/>
              <a:t>i</a:t>
            </a:r>
            <a:r>
              <a:rPr lang="en-US" altLang="zh-CN" sz="2400" dirty="0"/>
              <a:t>=i-1;</a:t>
            </a:r>
            <a:endParaRPr lang="zh-CN" altLang="zh-CN" sz="2400" dirty="0"/>
          </a:p>
          <a:p>
            <a:r>
              <a:rPr lang="en-US" altLang="zh-CN" sz="2400" dirty="0"/>
              <a:t>          }</a:t>
            </a:r>
            <a:r>
              <a:rPr lang="en-US" altLang="zh-CN" sz="2400" dirty="0">
                <a:ln w="19050">
                  <a:solidFill>
                    <a:schemeClr val="accent6">
                      <a:lumMod val="75000"/>
                      <a:alpha val="0"/>
                    </a:schemeClr>
                  </a:solidFill>
                </a:ln>
              </a:rPr>
              <a:t> </a:t>
            </a:r>
          </a:p>
          <a:p>
            <a:r>
              <a:rPr lang="en-US" altLang="zh-CN" sz="2400" dirty="0">
                <a:ln w="19050">
                  <a:solidFill>
                    <a:schemeClr val="accent6">
                      <a:lumMod val="75000"/>
                      <a:alpha val="0"/>
                    </a:schemeClr>
                  </a:solidFill>
                </a:ln>
              </a:rPr>
              <a:t>     </a:t>
            </a:r>
            <a:r>
              <a:rPr lang="en-US" altLang="zh-CN" sz="2400" dirty="0" err="1">
                <a:ln w="19050">
                  <a:solidFill>
                    <a:schemeClr val="accent6">
                      <a:lumMod val="75000"/>
                      <a:alpha val="0"/>
                    </a:schemeClr>
                  </a:solidFill>
                </a:ln>
              </a:rPr>
              <a:t>printf</a:t>
            </a:r>
            <a:r>
              <a:rPr lang="en-US" altLang="zh-CN" sz="2400" dirty="0">
                <a:ln w="19050">
                  <a:solidFill>
                    <a:schemeClr val="accent6">
                      <a:lumMod val="75000"/>
                      <a:alpha val="0"/>
                    </a:schemeClr>
                  </a:solidFill>
                </a:ln>
              </a:rPr>
              <a:t>(“\n</a:t>
            </a:r>
            <a:r>
              <a:rPr lang="zh-CN" altLang="zh-CN" sz="2400" dirty="0">
                <a:ln w="19050">
                  <a:solidFill>
                    <a:schemeClr val="accent6">
                      <a:lumMod val="75000"/>
                      <a:alpha val="0"/>
                    </a:schemeClr>
                  </a:solidFill>
                </a:ln>
              </a:rPr>
              <a:t>产生</a:t>
            </a:r>
            <a:r>
              <a:rPr lang="en-US" altLang="zh-CN" sz="2400" dirty="0">
                <a:ln w="19050">
                  <a:solidFill>
                    <a:schemeClr val="accent6">
                      <a:lumMod val="75000"/>
                      <a:alpha val="0"/>
                    </a:schemeClr>
                  </a:solidFill>
                </a:ln>
              </a:rPr>
              <a:t>%d</a:t>
            </a:r>
            <a:r>
              <a:rPr lang="zh-CN" altLang="zh-CN" sz="2400" dirty="0">
                <a:ln w="19050">
                  <a:solidFill>
                    <a:schemeClr val="accent6">
                      <a:lumMod val="75000"/>
                      <a:alpha val="0"/>
                    </a:schemeClr>
                  </a:solidFill>
                </a:ln>
              </a:rPr>
              <a:t>个蓝色球为</a:t>
            </a:r>
            <a:r>
              <a:rPr lang="en-US" altLang="zh-CN" sz="2400" dirty="0">
                <a:ln w="19050">
                  <a:solidFill>
                    <a:schemeClr val="accent6">
                      <a:lumMod val="75000"/>
                      <a:alpha val="0"/>
                    </a:schemeClr>
                  </a:solidFill>
                </a:ln>
              </a:rPr>
              <a:t>\n”,1) </a:t>
            </a:r>
            <a:r>
              <a:rPr lang="zh-CN" altLang="en-US" sz="2400" dirty="0">
                <a:ln w="19050">
                  <a:solidFill>
                    <a:schemeClr val="accent6">
                      <a:lumMod val="75000"/>
                      <a:alpha val="0"/>
                    </a:schemeClr>
                  </a:solidFill>
                </a:ln>
              </a:rPr>
              <a:t>；</a:t>
            </a:r>
            <a:endParaRPr lang="en-US" altLang="zh-CN" sz="2400" dirty="0">
              <a:ln w="19050">
                <a:solidFill>
                  <a:schemeClr val="accent6">
                    <a:lumMod val="75000"/>
                    <a:alpha val="0"/>
                  </a:schemeClr>
                </a:solidFill>
              </a:ln>
            </a:endParaRPr>
          </a:p>
          <a:p>
            <a:r>
              <a:rPr lang="en-US" altLang="zh-CN" sz="2400" dirty="0">
                <a:ln w="19050">
                  <a:solidFill>
                    <a:schemeClr val="accent6">
                      <a:lumMod val="75000"/>
                      <a:alpha val="0"/>
                    </a:schemeClr>
                  </a:solidFill>
                </a:ln>
              </a:rPr>
              <a:t>      r[</a:t>
            </a:r>
            <a:r>
              <a:rPr lang="en-US" altLang="zh-CN" sz="2400" dirty="0" err="1">
                <a:ln w="19050">
                  <a:solidFill>
                    <a:schemeClr val="accent6">
                      <a:lumMod val="75000"/>
                      <a:alpha val="0"/>
                    </a:schemeClr>
                  </a:solidFill>
                </a:ln>
              </a:rPr>
              <a:t>i</a:t>
            </a:r>
            <a:r>
              <a:rPr lang="en-US" altLang="zh-CN" sz="2400" dirty="0">
                <a:ln w="19050">
                  <a:solidFill>
                    <a:schemeClr val="accent6">
                      <a:lumMod val="75000"/>
                      <a:alpha val="0"/>
                    </a:schemeClr>
                  </a:solidFill>
                </a:ln>
              </a:rPr>
              <a:t>]=rand()%16+1</a:t>
            </a:r>
            <a:r>
              <a:rPr lang="zh-CN" altLang="en-US" sz="2400" dirty="0">
                <a:ln w="19050">
                  <a:solidFill>
                    <a:schemeClr val="accent6">
                      <a:lumMod val="75000"/>
                      <a:alpha val="0"/>
                    </a:schemeClr>
                  </a:solidFill>
                </a:ln>
              </a:rPr>
              <a:t>；</a:t>
            </a:r>
            <a:endParaRPr lang="zh-CN" altLang="zh-CN" sz="2400" dirty="0">
              <a:ln w="19050">
                <a:solidFill>
                  <a:schemeClr val="accent6">
                    <a:lumMod val="75000"/>
                    <a:alpha val="0"/>
                  </a:schemeClr>
                </a:solidFill>
              </a:ln>
            </a:endParaRPr>
          </a:p>
          <a:p>
            <a:r>
              <a:rPr lang="en-US" altLang="zh-CN" sz="2400" dirty="0">
                <a:ln w="19050">
                  <a:solidFill>
                    <a:schemeClr val="accent6">
                      <a:lumMod val="75000"/>
                      <a:alpha val="0"/>
                    </a:schemeClr>
                  </a:solidFill>
                </a:ln>
              </a:rPr>
              <a:t>      </a:t>
            </a:r>
            <a:r>
              <a:rPr lang="en-US" altLang="zh-CN" sz="2400" dirty="0" err="1">
                <a:ln w="19050">
                  <a:solidFill>
                    <a:schemeClr val="accent6">
                      <a:lumMod val="75000"/>
                      <a:alpha val="0"/>
                    </a:schemeClr>
                  </a:solidFill>
                </a:ln>
              </a:rPr>
              <a:t>printf</a:t>
            </a:r>
            <a:r>
              <a:rPr lang="en-US" altLang="zh-CN" sz="2400" dirty="0">
                <a:ln w="19050">
                  <a:solidFill>
                    <a:schemeClr val="accent6">
                      <a:lumMod val="75000"/>
                      <a:alpha val="0"/>
                    </a:schemeClr>
                  </a:solidFill>
                </a:ln>
              </a:rPr>
              <a:t>("%5d",r[</a:t>
            </a:r>
            <a:r>
              <a:rPr lang="en-US" altLang="zh-CN" sz="2400" dirty="0" err="1">
                <a:ln w="19050">
                  <a:solidFill>
                    <a:schemeClr val="accent6">
                      <a:lumMod val="75000"/>
                      <a:alpha val="0"/>
                    </a:schemeClr>
                  </a:solidFill>
                </a:ln>
              </a:rPr>
              <a:t>i</a:t>
            </a:r>
            <a:r>
              <a:rPr lang="en-US" altLang="zh-CN" sz="2400" dirty="0">
                <a:ln w="19050">
                  <a:solidFill>
                    <a:schemeClr val="accent6">
                      <a:lumMod val="75000"/>
                      <a:alpha val="0"/>
                    </a:schemeClr>
                  </a:solidFill>
                </a:ln>
              </a:rPr>
              <a:t>]) ;</a:t>
            </a:r>
            <a:endParaRPr lang="zh-CN" altLang="zh-CN" sz="2400" dirty="0">
              <a:ln w="19050">
                <a:solidFill>
                  <a:schemeClr val="accent6">
                    <a:lumMod val="75000"/>
                    <a:alpha val="0"/>
                  </a:schemeClr>
                </a:solidFill>
              </a:ln>
            </a:endParaRPr>
          </a:p>
          <a:p>
            <a:r>
              <a:rPr lang="en-US" altLang="zh-CN" sz="2400" dirty="0">
                <a:ln w="19050">
                  <a:solidFill>
                    <a:schemeClr val="accent6">
                      <a:lumMod val="75000"/>
                      <a:alpha val="0"/>
                    </a:schemeClr>
                  </a:solidFill>
                </a:ln>
              </a:rPr>
              <a:t>      </a:t>
            </a:r>
            <a:r>
              <a:rPr lang="en-US" altLang="zh-CN" sz="2400" dirty="0" err="1">
                <a:ln w="19050">
                  <a:solidFill>
                    <a:schemeClr val="accent6">
                      <a:lumMod val="75000"/>
                      <a:alpha val="0"/>
                    </a:schemeClr>
                  </a:solidFill>
                </a:ln>
              </a:rPr>
              <a:t>printf</a:t>
            </a:r>
            <a:r>
              <a:rPr lang="en-US" altLang="zh-CN" sz="2400" dirty="0">
                <a:ln w="19050">
                  <a:solidFill>
                    <a:schemeClr val="accent6">
                      <a:lumMod val="75000"/>
                      <a:alpha val="0"/>
                    </a:schemeClr>
                  </a:solidFill>
                </a:ln>
              </a:rPr>
              <a:t>("\n</a:t>
            </a:r>
            <a:r>
              <a:rPr lang="zh-CN" altLang="zh-CN" sz="2400" dirty="0">
                <a:ln w="19050">
                  <a:solidFill>
                    <a:schemeClr val="accent6">
                      <a:lumMod val="75000"/>
                      <a:alpha val="0"/>
                    </a:schemeClr>
                  </a:solidFill>
                </a:ln>
              </a:rPr>
              <a:t>数据已经产生完毕。</a:t>
            </a:r>
            <a:r>
              <a:rPr lang="en-US" altLang="zh-CN" sz="2400" dirty="0">
                <a:ln w="19050">
                  <a:solidFill>
                    <a:schemeClr val="accent6">
                      <a:lumMod val="75000"/>
                      <a:alpha val="0"/>
                    </a:schemeClr>
                  </a:solidFill>
                </a:ln>
              </a:rPr>
              <a:t>\n");</a:t>
            </a:r>
            <a:endParaRPr lang="zh-CN" altLang="zh-CN" sz="2400" dirty="0">
              <a:ln w="19050">
                <a:solidFill>
                  <a:schemeClr val="accent6">
                    <a:lumMod val="75000"/>
                    <a:alpha val="0"/>
                  </a:schemeClr>
                </a:solidFill>
              </a:ln>
            </a:endParaRPr>
          </a:p>
          <a:p>
            <a:r>
              <a:rPr lang="en-US" altLang="zh-CN" sz="2400" dirty="0">
                <a:ln w="19050">
                  <a:solidFill>
                    <a:schemeClr val="accent6">
                      <a:lumMod val="75000"/>
                      <a:alpha val="0"/>
                    </a:schemeClr>
                  </a:solidFill>
                </a:ln>
              </a:rPr>
              <a:t>      return 0;</a:t>
            </a:r>
            <a:endParaRPr lang="zh-CN" altLang="zh-CN" sz="2400" dirty="0">
              <a:ln w="19050">
                <a:solidFill>
                  <a:schemeClr val="accent6">
                    <a:lumMod val="75000"/>
                    <a:alpha val="0"/>
                  </a:schemeClr>
                </a:solidFill>
              </a:ln>
            </a:endParaRPr>
          </a:p>
          <a:p>
            <a:r>
              <a:rPr lang="en-US" altLang="zh-CN" sz="2400" dirty="0">
                <a:ln w="19050">
                  <a:solidFill>
                    <a:schemeClr val="accent6">
                      <a:lumMod val="75000"/>
                      <a:alpha val="0"/>
                    </a:schemeClr>
                  </a:solidFill>
                </a:ln>
              </a:rPr>
              <a:t>}</a:t>
            </a:r>
            <a:r>
              <a:rPr lang="en-US" altLang="zh-CN" sz="2400" dirty="0"/>
              <a:t> </a:t>
            </a:r>
            <a:endParaRPr lang="zh-CN" altLang="en-US" sz="2400" dirty="0">
              <a:ln w="19050">
                <a:solidFill>
                  <a:schemeClr val="accent6">
                    <a:lumMod val="75000"/>
                    <a:alpha val="0"/>
                  </a:schemeClr>
                </a:solidFill>
              </a:ln>
            </a:endParaRPr>
          </a:p>
        </p:txBody>
      </p:sp>
      <p:sp>
        <p:nvSpPr>
          <p:cNvPr id="15" name="对话气泡: 椭圆形 14">
            <a:extLst>
              <a:ext uri="{FF2B5EF4-FFF2-40B4-BE49-F238E27FC236}">
                <a16:creationId xmlns:a16="http://schemas.microsoft.com/office/drawing/2014/main" id="{B5193EE5-DC36-4984-BEAF-C01D1DF4637A}"/>
              </a:ext>
            </a:extLst>
          </p:cNvPr>
          <p:cNvSpPr/>
          <p:nvPr/>
        </p:nvSpPr>
        <p:spPr>
          <a:xfrm>
            <a:off x="4125432" y="1113748"/>
            <a:ext cx="1847141" cy="693019"/>
          </a:xfrm>
          <a:prstGeom prst="wedgeEllipseCallout">
            <a:avLst>
              <a:gd name="adj1" fmla="val 69298"/>
              <a:gd name="adj2" fmla="val -22706"/>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初始化随机数种子</a:t>
            </a: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 name="对话气泡: 椭圆形 15">
            <a:extLst>
              <a:ext uri="{FF2B5EF4-FFF2-40B4-BE49-F238E27FC236}">
                <a16:creationId xmlns:a16="http://schemas.microsoft.com/office/drawing/2014/main" id="{C018A6B2-E916-4229-9AC1-9287F9402427}"/>
              </a:ext>
            </a:extLst>
          </p:cNvPr>
          <p:cNvSpPr/>
          <p:nvPr/>
        </p:nvSpPr>
        <p:spPr>
          <a:xfrm>
            <a:off x="4215766" y="1925930"/>
            <a:ext cx="1732247" cy="1087577"/>
          </a:xfrm>
          <a:prstGeom prst="wedgeEllipseCallout">
            <a:avLst>
              <a:gd name="adj1" fmla="val 141290"/>
              <a:gd name="adj2" fmla="val -37646"/>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产生</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33</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之间随机数</a:t>
            </a: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7" name="对话气泡: 椭圆形 16">
            <a:extLst>
              <a:ext uri="{FF2B5EF4-FFF2-40B4-BE49-F238E27FC236}">
                <a16:creationId xmlns:a16="http://schemas.microsoft.com/office/drawing/2014/main" id="{CB45F284-51CA-4E9B-8261-7A09788EDFF7}"/>
              </a:ext>
            </a:extLst>
          </p:cNvPr>
          <p:cNvSpPr/>
          <p:nvPr/>
        </p:nvSpPr>
        <p:spPr>
          <a:xfrm>
            <a:off x="4460406" y="3887807"/>
            <a:ext cx="2039874" cy="693019"/>
          </a:xfrm>
          <a:prstGeom prst="wedgeEllipseCallout">
            <a:avLst>
              <a:gd name="adj1" fmla="val 74829"/>
              <a:gd name="adj2" fmla="val -3838"/>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产生</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之间随机数</a:t>
            </a:r>
            <a:endPar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对话气泡: 椭圆形 17">
            <a:extLst>
              <a:ext uri="{FF2B5EF4-FFF2-40B4-BE49-F238E27FC236}">
                <a16:creationId xmlns:a16="http://schemas.microsoft.com/office/drawing/2014/main" id="{A13FB761-5BB6-4CFF-9054-977F05CA30E0}"/>
              </a:ext>
            </a:extLst>
          </p:cNvPr>
          <p:cNvSpPr/>
          <p:nvPr/>
        </p:nvSpPr>
        <p:spPr>
          <a:xfrm>
            <a:off x="2560196" y="4147982"/>
            <a:ext cx="2039874" cy="1113235"/>
          </a:xfrm>
          <a:prstGeom prst="wedgeEllipseCallout">
            <a:avLst>
              <a:gd name="adj1" fmla="val -3118"/>
              <a:gd name="adj2" fmla="val -152799"/>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检查产生随机数是否重复函数</a:t>
            </a:r>
          </a:p>
        </p:txBody>
      </p:sp>
      <p:sp>
        <p:nvSpPr>
          <p:cNvPr id="19" name="对话气泡: 椭圆形 18">
            <a:extLst>
              <a:ext uri="{FF2B5EF4-FFF2-40B4-BE49-F238E27FC236}">
                <a16:creationId xmlns:a16="http://schemas.microsoft.com/office/drawing/2014/main" id="{04B19AD3-C5EC-40E4-BC8C-3445EBF634B9}"/>
              </a:ext>
            </a:extLst>
          </p:cNvPr>
          <p:cNvSpPr/>
          <p:nvPr/>
        </p:nvSpPr>
        <p:spPr>
          <a:xfrm>
            <a:off x="10427532" y="1412168"/>
            <a:ext cx="1575149" cy="789198"/>
          </a:xfrm>
          <a:prstGeom prst="wedgeEllipseCallout">
            <a:avLst>
              <a:gd name="adj1" fmla="val -55356"/>
              <a:gd name="adj2" fmla="val 53145"/>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调用检查</a:t>
            </a:r>
          </a:p>
        </p:txBody>
      </p:sp>
    </p:spTree>
    <p:extLst>
      <p:ext uri="{BB962C8B-B14F-4D97-AF65-F5344CB8AC3E}">
        <p14:creationId xmlns:p14="http://schemas.microsoft.com/office/powerpoint/2010/main" val="305200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xEl>
                                              <p:pRg st="3" end="3"/>
                                            </p:txEl>
                                          </p:spTgt>
                                        </p:tgtEl>
                                        <p:attrNameLst>
                                          <p:attrName>style.visibility</p:attrName>
                                        </p:attrNameLst>
                                      </p:cBhvr>
                                      <p:to>
                                        <p:strVal val="visible"/>
                                      </p:to>
                                    </p:set>
                                    <p:animEffect transition="in" filter="fade">
                                      <p:cBhvr>
                                        <p:cTn id="7" dur="500"/>
                                        <p:tgtEl>
                                          <p:spTgt spid="1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fade">
                                      <p:cBhvr>
                                        <p:cTn id="12" dur="500"/>
                                        <p:tgtEl>
                                          <p:spTgt spid="1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5" end="5"/>
                                            </p:txEl>
                                          </p:spTgt>
                                        </p:tgtEl>
                                        <p:attrNameLst>
                                          <p:attrName>style.visibility</p:attrName>
                                        </p:attrNameLst>
                                      </p:cBhvr>
                                      <p:to>
                                        <p:strVal val="visible"/>
                                      </p:to>
                                    </p:set>
                                    <p:animEffect transition="in" filter="fade">
                                      <p:cBhvr>
                                        <p:cTn id="22" dur="500"/>
                                        <p:tgtEl>
                                          <p:spTgt spid="1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6" end="6"/>
                                            </p:txEl>
                                          </p:spTgt>
                                        </p:tgtEl>
                                        <p:attrNameLst>
                                          <p:attrName>style.visibility</p:attrName>
                                        </p:attrNameLst>
                                      </p:cBhvr>
                                      <p:to>
                                        <p:strVal val="visible"/>
                                      </p:to>
                                    </p:set>
                                    <p:animEffect transition="in" filter="fade">
                                      <p:cBhvr>
                                        <p:cTn id="27" dur="500"/>
                                        <p:tgtEl>
                                          <p:spTgt spid="1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7" end="7"/>
                                            </p:txEl>
                                          </p:spTgt>
                                        </p:tgtEl>
                                        <p:attrNameLst>
                                          <p:attrName>style.visibility</p:attrName>
                                        </p:attrNameLst>
                                      </p:cBhvr>
                                      <p:to>
                                        <p:strVal val="visible"/>
                                      </p:to>
                                    </p:set>
                                    <p:animEffect transition="in" filter="fade">
                                      <p:cBhvr>
                                        <p:cTn id="32" dur="500"/>
                                        <p:tgtEl>
                                          <p:spTgt spid="1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
                                            <p:txEl>
                                              <p:pRg st="8" end="8"/>
                                            </p:txEl>
                                          </p:spTgt>
                                        </p:tgtEl>
                                        <p:attrNameLst>
                                          <p:attrName>style.visibility</p:attrName>
                                        </p:attrNameLst>
                                      </p:cBhvr>
                                      <p:to>
                                        <p:strVal val="visible"/>
                                      </p:to>
                                    </p:set>
                                    <p:animEffect transition="in" filter="fade">
                                      <p:cBhvr>
                                        <p:cTn id="37" dur="500"/>
                                        <p:tgtEl>
                                          <p:spTgt spid="1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xEl>
                                              <p:pRg st="9" end="9"/>
                                            </p:txEl>
                                          </p:spTgt>
                                        </p:tgtEl>
                                        <p:attrNameLst>
                                          <p:attrName>style.visibility</p:attrName>
                                        </p:attrNameLst>
                                      </p:cBhvr>
                                      <p:to>
                                        <p:strVal val="visible"/>
                                      </p:to>
                                    </p:set>
                                    <p:animEffect transition="in" filter="fade">
                                      <p:cBhvr>
                                        <p:cTn id="42" dur="500"/>
                                        <p:tgtEl>
                                          <p:spTgt spid="1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
                                            <p:txEl>
                                              <p:pRg st="11" end="11"/>
                                            </p:txEl>
                                          </p:spTgt>
                                        </p:tgtEl>
                                        <p:attrNameLst>
                                          <p:attrName>style.visibility</p:attrName>
                                        </p:attrNameLst>
                                      </p:cBhvr>
                                      <p:to>
                                        <p:strVal val="visible"/>
                                      </p:to>
                                    </p:set>
                                    <p:animEffect transition="in" filter="fade">
                                      <p:cBhvr>
                                        <p:cTn id="47" dur="500"/>
                                        <p:tgtEl>
                                          <p:spTgt spid="1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
                                            <p:txEl>
                                              <p:pRg st="12" end="12"/>
                                            </p:txEl>
                                          </p:spTgt>
                                        </p:tgtEl>
                                        <p:attrNameLst>
                                          <p:attrName>style.visibility</p:attrName>
                                        </p:attrNameLst>
                                      </p:cBhvr>
                                      <p:to>
                                        <p:strVal val="visible"/>
                                      </p:to>
                                    </p:set>
                                    <p:animEffect transition="in" filter="fade">
                                      <p:cBhvr>
                                        <p:cTn id="52" dur="500"/>
                                        <p:tgtEl>
                                          <p:spTgt spid="13">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3">
                                            <p:txEl>
                                              <p:pRg st="13" end="13"/>
                                            </p:txEl>
                                          </p:spTgt>
                                        </p:tgtEl>
                                        <p:attrNameLst>
                                          <p:attrName>style.visibility</p:attrName>
                                        </p:attrNameLst>
                                      </p:cBhvr>
                                      <p:to>
                                        <p:strVal val="visible"/>
                                      </p:to>
                                    </p:set>
                                    <p:animEffect transition="in" filter="fade">
                                      <p:cBhvr>
                                        <p:cTn id="57" dur="500"/>
                                        <p:tgtEl>
                                          <p:spTgt spid="13">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3">
                                            <p:txEl>
                                              <p:pRg st="14" end="14"/>
                                            </p:txEl>
                                          </p:spTgt>
                                        </p:tgtEl>
                                        <p:attrNameLst>
                                          <p:attrName>style.visibility</p:attrName>
                                        </p:attrNameLst>
                                      </p:cBhvr>
                                      <p:to>
                                        <p:strVal val="visible"/>
                                      </p:to>
                                    </p:set>
                                    <p:animEffect transition="in" filter="fade">
                                      <p:cBhvr>
                                        <p:cTn id="62" dur="500"/>
                                        <p:tgtEl>
                                          <p:spTgt spid="13">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4">
                                            <p:txEl>
                                              <p:pRg st="0" end="0"/>
                                            </p:txEl>
                                          </p:spTgt>
                                        </p:tgtEl>
                                        <p:attrNameLst>
                                          <p:attrName>style.visibility</p:attrName>
                                        </p:attrNameLst>
                                      </p:cBhvr>
                                      <p:to>
                                        <p:strVal val="visible"/>
                                      </p:to>
                                    </p:set>
                                    <p:animEffect transition="in" filter="fade">
                                      <p:cBhvr>
                                        <p:cTn id="67" dur="500"/>
                                        <p:tgtEl>
                                          <p:spTgt spid="14">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4">
                                            <p:txEl>
                                              <p:pRg st="1" end="1"/>
                                            </p:txEl>
                                          </p:spTgt>
                                        </p:tgtEl>
                                        <p:attrNameLst>
                                          <p:attrName>style.visibility</p:attrName>
                                        </p:attrNameLst>
                                      </p:cBhvr>
                                      <p:to>
                                        <p:strVal val="visible"/>
                                      </p:to>
                                    </p:set>
                                    <p:animEffect transition="in" filter="fade">
                                      <p:cBhvr>
                                        <p:cTn id="77" dur="500"/>
                                        <p:tgtEl>
                                          <p:spTgt spid="14">
                                            <p:txEl>
                                              <p:pRg st="1" end="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4">
                                            <p:txEl>
                                              <p:pRg st="2" end="2"/>
                                            </p:txEl>
                                          </p:spTgt>
                                        </p:tgtEl>
                                        <p:attrNameLst>
                                          <p:attrName>style.visibility</p:attrName>
                                        </p:attrNameLst>
                                      </p:cBhvr>
                                      <p:to>
                                        <p:strVal val="visible"/>
                                      </p:to>
                                    </p:set>
                                    <p:animEffect transition="in" filter="fade">
                                      <p:cBhvr>
                                        <p:cTn id="82" dur="500"/>
                                        <p:tgtEl>
                                          <p:spTgt spid="14">
                                            <p:txEl>
                                              <p:pRg st="2" end="2"/>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fade">
                                      <p:cBhvr>
                                        <p:cTn id="87" dur="500"/>
                                        <p:tgtEl>
                                          <p:spTgt spid="16"/>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4">
                                            <p:txEl>
                                              <p:pRg st="3" end="3"/>
                                            </p:txEl>
                                          </p:spTgt>
                                        </p:tgtEl>
                                        <p:attrNameLst>
                                          <p:attrName>style.visibility</p:attrName>
                                        </p:attrNameLst>
                                      </p:cBhvr>
                                      <p:to>
                                        <p:strVal val="visible"/>
                                      </p:to>
                                    </p:set>
                                    <p:animEffect transition="in" filter="fade">
                                      <p:cBhvr>
                                        <p:cTn id="92" dur="500"/>
                                        <p:tgtEl>
                                          <p:spTgt spid="14">
                                            <p:txEl>
                                              <p:pRg st="3" end="3"/>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animEffect transition="in" filter="fade">
                                      <p:cBhvr>
                                        <p:cTn id="97" dur="500"/>
                                        <p:tgtEl>
                                          <p:spTgt spid="19"/>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4">
                                            <p:txEl>
                                              <p:pRg st="4" end="4"/>
                                            </p:txEl>
                                          </p:spTgt>
                                        </p:tgtEl>
                                        <p:attrNameLst>
                                          <p:attrName>style.visibility</p:attrName>
                                        </p:attrNameLst>
                                      </p:cBhvr>
                                      <p:to>
                                        <p:strVal val="visible"/>
                                      </p:to>
                                    </p:set>
                                    <p:animEffect transition="in" filter="fade">
                                      <p:cBhvr>
                                        <p:cTn id="102" dur="500"/>
                                        <p:tgtEl>
                                          <p:spTgt spid="14">
                                            <p:txEl>
                                              <p:pRg st="4" end="4"/>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4">
                                            <p:txEl>
                                              <p:pRg st="5" end="5"/>
                                            </p:txEl>
                                          </p:spTgt>
                                        </p:tgtEl>
                                        <p:attrNameLst>
                                          <p:attrName>style.visibility</p:attrName>
                                        </p:attrNameLst>
                                      </p:cBhvr>
                                      <p:to>
                                        <p:strVal val="visible"/>
                                      </p:to>
                                    </p:set>
                                    <p:animEffect transition="in" filter="fade">
                                      <p:cBhvr>
                                        <p:cTn id="107" dur="500"/>
                                        <p:tgtEl>
                                          <p:spTgt spid="14">
                                            <p:txEl>
                                              <p:pRg st="5" end="5"/>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4">
                                            <p:txEl>
                                              <p:pRg st="6" end="6"/>
                                            </p:txEl>
                                          </p:spTgt>
                                        </p:tgtEl>
                                        <p:attrNameLst>
                                          <p:attrName>style.visibility</p:attrName>
                                        </p:attrNameLst>
                                      </p:cBhvr>
                                      <p:to>
                                        <p:strVal val="visible"/>
                                      </p:to>
                                    </p:set>
                                    <p:animEffect transition="in" filter="fade">
                                      <p:cBhvr>
                                        <p:cTn id="112" dur="500"/>
                                        <p:tgtEl>
                                          <p:spTgt spid="14">
                                            <p:txEl>
                                              <p:pRg st="6" end="6"/>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14">
                                            <p:txEl>
                                              <p:pRg st="7" end="7"/>
                                            </p:txEl>
                                          </p:spTgt>
                                        </p:tgtEl>
                                        <p:attrNameLst>
                                          <p:attrName>style.visibility</p:attrName>
                                        </p:attrNameLst>
                                      </p:cBhvr>
                                      <p:to>
                                        <p:strVal val="visible"/>
                                      </p:to>
                                    </p:set>
                                    <p:animEffect transition="in" filter="fade">
                                      <p:cBhvr>
                                        <p:cTn id="117" dur="500"/>
                                        <p:tgtEl>
                                          <p:spTgt spid="14">
                                            <p:txEl>
                                              <p:pRg st="7" end="7"/>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14">
                                            <p:txEl>
                                              <p:pRg st="8" end="8"/>
                                            </p:txEl>
                                          </p:spTgt>
                                        </p:tgtEl>
                                        <p:attrNameLst>
                                          <p:attrName>style.visibility</p:attrName>
                                        </p:attrNameLst>
                                      </p:cBhvr>
                                      <p:to>
                                        <p:strVal val="visible"/>
                                      </p:to>
                                    </p:set>
                                    <p:animEffect transition="in" filter="fade">
                                      <p:cBhvr>
                                        <p:cTn id="122" dur="500"/>
                                        <p:tgtEl>
                                          <p:spTgt spid="14">
                                            <p:txEl>
                                              <p:pRg st="8" end="8"/>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17"/>
                                        </p:tgtEl>
                                        <p:attrNameLst>
                                          <p:attrName>style.visibility</p:attrName>
                                        </p:attrNameLst>
                                      </p:cBhvr>
                                      <p:to>
                                        <p:strVal val="visible"/>
                                      </p:to>
                                    </p:set>
                                    <p:animEffect transition="in" filter="fade">
                                      <p:cBhvr>
                                        <p:cTn id="127" dur="500"/>
                                        <p:tgtEl>
                                          <p:spTgt spid="17"/>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14">
                                            <p:txEl>
                                              <p:pRg st="9" end="9"/>
                                            </p:txEl>
                                          </p:spTgt>
                                        </p:tgtEl>
                                        <p:attrNameLst>
                                          <p:attrName>style.visibility</p:attrName>
                                        </p:attrNameLst>
                                      </p:cBhvr>
                                      <p:to>
                                        <p:strVal val="visible"/>
                                      </p:to>
                                    </p:set>
                                    <p:animEffect transition="in" filter="fade">
                                      <p:cBhvr>
                                        <p:cTn id="132" dur="500"/>
                                        <p:tgtEl>
                                          <p:spTgt spid="14">
                                            <p:txEl>
                                              <p:pRg st="9" end="9"/>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14">
                                            <p:txEl>
                                              <p:pRg st="10" end="10"/>
                                            </p:txEl>
                                          </p:spTgt>
                                        </p:tgtEl>
                                        <p:attrNameLst>
                                          <p:attrName>style.visibility</p:attrName>
                                        </p:attrNameLst>
                                      </p:cBhvr>
                                      <p:to>
                                        <p:strVal val="visible"/>
                                      </p:to>
                                    </p:set>
                                    <p:animEffect transition="in" filter="fade">
                                      <p:cBhvr>
                                        <p:cTn id="137" dur="500"/>
                                        <p:tgtEl>
                                          <p:spTgt spid="14">
                                            <p:txEl>
                                              <p:pRg st="10" end="10"/>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nodeType="clickEffect">
                                  <p:stCondLst>
                                    <p:cond delay="0"/>
                                  </p:stCondLst>
                                  <p:childTnLst>
                                    <p:set>
                                      <p:cBhvr>
                                        <p:cTn id="141" dur="1" fill="hold">
                                          <p:stCondLst>
                                            <p:cond delay="0"/>
                                          </p:stCondLst>
                                        </p:cTn>
                                        <p:tgtEl>
                                          <p:spTgt spid="14">
                                            <p:txEl>
                                              <p:pRg st="11" end="11"/>
                                            </p:txEl>
                                          </p:spTgt>
                                        </p:tgtEl>
                                        <p:attrNameLst>
                                          <p:attrName>style.visibility</p:attrName>
                                        </p:attrNameLst>
                                      </p:cBhvr>
                                      <p:to>
                                        <p:strVal val="visible"/>
                                      </p:to>
                                    </p:set>
                                    <p:animEffect transition="in" filter="fade">
                                      <p:cBhvr>
                                        <p:cTn id="142" dur="500"/>
                                        <p:tgtEl>
                                          <p:spTgt spid="14">
                                            <p:txEl>
                                              <p:pRg st="11" end="11"/>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14">
                                            <p:txEl>
                                              <p:pRg st="12" end="12"/>
                                            </p:txEl>
                                          </p:spTgt>
                                        </p:tgtEl>
                                        <p:attrNameLst>
                                          <p:attrName>style.visibility</p:attrName>
                                        </p:attrNameLst>
                                      </p:cBhvr>
                                      <p:to>
                                        <p:strVal val="visible"/>
                                      </p:to>
                                    </p:set>
                                    <p:animEffect transition="in" filter="fade">
                                      <p:cBhvr>
                                        <p:cTn id="147" dur="500"/>
                                        <p:tgtEl>
                                          <p:spTgt spid="14">
                                            <p:txEl>
                                              <p:pRg st="12" end="12"/>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13">
                                            <p:txEl>
                                              <p:pRg st="0" end="0"/>
                                            </p:txEl>
                                          </p:spTgt>
                                        </p:tgtEl>
                                        <p:attrNameLst>
                                          <p:attrName>style.visibility</p:attrName>
                                        </p:attrNameLst>
                                      </p:cBhvr>
                                      <p:to>
                                        <p:strVal val="visible"/>
                                      </p:to>
                                    </p:set>
                                    <p:animEffect transition="in" filter="fade">
                                      <p:cBhvr>
                                        <p:cTn id="152" dur="500"/>
                                        <p:tgtEl>
                                          <p:spTgt spid="13">
                                            <p:txEl>
                                              <p:pRg st="0" end="0"/>
                                            </p:txEl>
                                          </p:spTgt>
                                        </p:tgtEl>
                                      </p:cBhvr>
                                    </p:animEffect>
                                  </p:childTnLst>
                                </p:cTn>
                              </p:par>
                              <p:par>
                                <p:cTn id="153" presetID="10" presetClass="entr" presetSubtype="0" fill="hold" nodeType="withEffect">
                                  <p:stCondLst>
                                    <p:cond delay="0"/>
                                  </p:stCondLst>
                                  <p:childTnLst>
                                    <p:set>
                                      <p:cBhvr>
                                        <p:cTn id="154" dur="1" fill="hold">
                                          <p:stCondLst>
                                            <p:cond delay="0"/>
                                          </p:stCondLst>
                                        </p:cTn>
                                        <p:tgtEl>
                                          <p:spTgt spid="13">
                                            <p:txEl>
                                              <p:pRg st="1" end="1"/>
                                            </p:txEl>
                                          </p:spTgt>
                                        </p:tgtEl>
                                        <p:attrNameLst>
                                          <p:attrName>style.visibility</p:attrName>
                                        </p:attrNameLst>
                                      </p:cBhvr>
                                      <p:to>
                                        <p:strVal val="visible"/>
                                      </p:to>
                                    </p:set>
                                    <p:animEffect transition="in" filter="fade">
                                      <p:cBhvr>
                                        <p:cTn id="155" dur="500"/>
                                        <p:tgtEl>
                                          <p:spTgt spid="13">
                                            <p:txEl>
                                              <p:pRg st="1" end="1"/>
                                            </p:txEl>
                                          </p:spTgt>
                                        </p:tgtEl>
                                      </p:cBhvr>
                                    </p:animEffect>
                                  </p:childTnLst>
                                </p:cTn>
                              </p:par>
                              <p:par>
                                <p:cTn id="156" presetID="10" presetClass="entr" presetSubtype="0" fill="hold" nodeType="withEffect">
                                  <p:stCondLst>
                                    <p:cond delay="0"/>
                                  </p:stCondLst>
                                  <p:childTnLst>
                                    <p:set>
                                      <p:cBhvr>
                                        <p:cTn id="157" dur="1" fill="hold">
                                          <p:stCondLst>
                                            <p:cond delay="0"/>
                                          </p:stCondLst>
                                        </p:cTn>
                                        <p:tgtEl>
                                          <p:spTgt spid="13">
                                            <p:txEl>
                                              <p:pRg st="2" end="2"/>
                                            </p:txEl>
                                          </p:spTgt>
                                        </p:tgtEl>
                                        <p:attrNameLst>
                                          <p:attrName>style.visibility</p:attrName>
                                        </p:attrNameLst>
                                      </p:cBhvr>
                                      <p:to>
                                        <p:strVal val="visible"/>
                                      </p:to>
                                    </p:set>
                                    <p:animEffect transition="in" filter="fade">
                                      <p:cBhvr>
                                        <p:cTn id="158"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641912" y="0"/>
            <a:ext cx="9816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950759" y="0"/>
            <a:ext cx="9816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259606" y="0"/>
            <a:ext cx="98163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568452" y="0"/>
            <a:ext cx="9816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540000" y="1524000"/>
            <a:ext cx="3719606"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15210" y="1524000"/>
            <a:ext cx="363679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2614925" y="1941094"/>
            <a:ext cx="6962162" cy="1446550"/>
          </a:xfrm>
          <a:prstGeom prst="rect">
            <a:avLst/>
          </a:prstGeom>
          <a:noFill/>
        </p:spPr>
        <p:txBody>
          <a:bodyPr wrap="none" rtlCol="0">
            <a:spAutoFit/>
          </a:bodyPr>
          <a:lstStyle/>
          <a:p>
            <a:pPr algn="ctr"/>
            <a:r>
              <a:rPr lang="en-US" altLang="zh-CN"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rPr>
              <a:t>SECTION 02</a:t>
            </a:r>
            <a:endParaRPr lang="zh-CN" altLang="en-US"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endParaRPr>
          </a:p>
        </p:txBody>
      </p:sp>
      <p:sp>
        <p:nvSpPr>
          <p:cNvPr id="30" name="文本框 29"/>
          <p:cNvSpPr txBox="1"/>
          <p:nvPr/>
        </p:nvSpPr>
        <p:spPr>
          <a:xfrm>
            <a:off x="4272433" y="3310581"/>
            <a:ext cx="3647152" cy="923330"/>
          </a:xfrm>
          <a:prstGeom prst="rect">
            <a:avLst/>
          </a:prstGeom>
          <a:noFill/>
        </p:spPr>
        <p:txBody>
          <a:bodyPr wrap="none" rtlCol="0">
            <a:spAutoFit/>
          </a:bodyPr>
          <a:lstStyle/>
          <a:p>
            <a:pPr algn="ctr"/>
            <a:r>
              <a:rPr lang="zh-CN" altLang="en-US" sz="5400" b="1" dirty="0">
                <a:solidFill>
                  <a:schemeClr val="tx1">
                    <a:lumMod val="65000"/>
                    <a:lumOff val="35000"/>
                  </a:schemeClr>
                </a:solidFill>
                <a:latin typeface="微软雅黑" panose="020B0503020204020204" pitchFamily="34" charset="-122"/>
                <a:ea typeface="微软雅黑" panose="020B0503020204020204" pitchFamily="34" charset="-122"/>
              </a:rPr>
              <a:t>函数的概念</a:t>
            </a:r>
          </a:p>
        </p:txBody>
      </p:sp>
      <p:sp>
        <p:nvSpPr>
          <p:cNvPr id="31" name="文本框 30"/>
          <p:cNvSpPr txBox="1"/>
          <p:nvPr/>
        </p:nvSpPr>
        <p:spPr>
          <a:xfrm>
            <a:off x="4323857" y="4233912"/>
            <a:ext cx="3636790" cy="385830"/>
          </a:xfrm>
          <a:prstGeom prst="rect">
            <a:avLst/>
          </a:prstGeom>
          <a:noFill/>
        </p:spPr>
        <p:txBody>
          <a:bodyPr wrap="square" rtlCol="0">
            <a:spAutoFit/>
          </a:bodyPr>
          <a:lstStyle/>
          <a:p>
            <a:pPr algn="ctr">
              <a:lnSpc>
                <a:spcPct val="114000"/>
              </a:lnSpc>
            </a:pPr>
            <a:r>
              <a:rPr lang="en-US" altLang="zh-CN" sz="1600" dirty="0">
                <a:solidFill>
                  <a:schemeClr val="bg1">
                    <a:lumMod val="65000"/>
                  </a:schemeClr>
                </a:solidFill>
                <a:ea typeface="汉仪趣黑W" panose="00020600040101010101" pitchFamily="18" charset="-122"/>
              </a:rPr>
              <a:t>THE CONCEPT OF FUNCTION</a:t>
            </a:r>
          </a:p>
        </p:txBody>
      </p:sp>
    </p:spTree>
    <p:extLst>
      <p:ext uri="{BB962C8B-B14F-4D97-AF65-F5344CB8AC3E}">
        <p14:creationId xmlns:p14="http://schemas.microsoft.com/office/powerpoint/2010/main" val="1315373465"/>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750" fill="hold"/>
                                        <p:tgtEl>
                                          <p:spTgt spid="25"/>
                                        </p:tgtEl>
                                        <p:attrNameLst>
                                          <p:attrName>ppt_x</p:attrName>
                                        </p:attrNameLst>
                                      </p:cBhvr>
                                      <p:tavLst>
                                        <p:tav tm="0">
                                          <p:val>
                                            <p:strVal val="#ppt_x"/>
                                          </p:val>
                                        </p:tav>
                                        <p:tav tm="100000">
                                          <p:val>
                                            <p:strVal val="#ppt_x"/>
                                          </p:val>
                                        </p:tav>
                                      </p:tavLst>
                                    </p:anim>
                                    <p:anim calcmode="lin" valueType="num">
                                      <p:cBhvr additive="base">
                                        <p:cTn id="12" dur="75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2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750" fill="hold"/>
                                        <p:tgtEl>
                                          <p:spTgt spid="26"/>
                                        </p:tgtEl>
                                        <p:attrNameLst>
                                          <p:attrName>ppt_x</p:attrName>
                                        </p:attrNameLst>
                                      </p:cBhvr>
                                      <p:tavLst>
                                        <p:tav tm="0">
                                          <p:val>
                                            <p:strVal val="#ppt_x"/>
                                          </p:val>
                                        </p:tav>
                                        <p:tav tm="100000">
                                          <p:val>
                                            <p:strVal val="#ppt_x"/>
                                          </p:val>
                                        </p:tav>
                                      </p:tavLst>
                                    </p:anim>
                                    <p:anim calcmode="lin" valueType="num">
                                      <p:cBhvr additive="base">
                                        <p:cTn id="16" dur="75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750" fill="hold"/>
                                        <p:tgtEl>
                                          <p:spTgt spid="27"/>
                                        </p:tgtEl>
                                        <p:attrNameLst>
                                          <p:attrName>ppt_x</p:attrName>
                                        </p:attrNameLst>
                                      </p:cBhvr>
                                      <p:tavLst>
                                        <p:tav tm="0">
                                          <p:val>
                                            <p:strVal val="#ppt_x"/>
                                          </p:val>
                                        </p:tav>
                                        <p:tav tm="100000">
                                          <p:val>
                                            <p:strVal val="#ppt_x"/>
                                          </p:val>
                                        </p:tav>
                                      </p:tavLst>
                                    </p:anim>
                                    <p:anim calcmode="lin" valueType="num">
                                      <p:cBhvr additive="base">
                                        <p:cTn id="20" dur="750" fill="hold"/>
                                        <p:tgtEl>
                                          <p:spTgt spid="27"/>
                                        </p:tgtEl>
                                        <p:attrNameLst>
                                          <p:attrName>ppt_y</p:attrName>
                                        </p:attrNameLst>
                                      </p:cBhvr>
                                      <p:tavLst>
                                        <p:tav tm="0">
                                          <p:val>
                                            <p:strVal val="1+#ppt_h/2"/>
                                          </p:val>
                                        </p:tav>
                                        <p:tav tm="100000">
                                          <p:val>
                                            <p:strVal val="#ppt_y"/>
                                          </p:val>
                                        </p:tav>
                                      </p:tavLst>
                                    </p:anim>
                                  </p:childTnLst>
                                </p:cTn>
                              </p:par>
                            </p:childTnLst>
                          </p:cTn>
                        </p:par>
                        <p:par>
                          <p:cTn id="21" fill="hold">
                            <p:stCondLst>
                              <p:cond delay="1050"/>
                            </p:stCondLst>
                            <p:childTnLst>
                              <p:par>
                                <p:cTn id="22" presetID="2" presetClass="entr" presetSubtype="8"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additive="base">
                                        <p:cTn id="24" dur="1250" fill="hold"/>
                                        <p:tgtEl>
                                          <p:spTgt spid="28"/>
                                        </p:tgtEl>
                                        <p:attrNameLst>
                                          <p:attrName>ppt_x</p:attrName>
                                        </p:attrNameLst>
                                      </p:cBhvr>
                                      <p:tavLst>
                                        <p:tav tm="0">
                                          <p:val>
                                            <p:strVal val="0-#ppt_w/2"/>
                                          </p:val>
                                        </p:tav>
                                        <p:tav tm="100000">
                                          <p:val>
                                            <p:strVal val="#ppt_x"/>
                                          </p:val>
                                        </p:tav>
                                      </p:tavLst>
                                    </p:anim>
                                    <p:anim calcmode="lin" valueType="num">
                                      <p:cBhvr additive="base">
                                        <p:cTn id="25" dur="1250" fill="hold"/>
                                        <p:tgtEl>
                                          <p:spTgt spid="2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1250" fill="hold"/>
                                        <p:tgtEl>
                                          <p:spTgt spid="32"/>
                                        </p:tgtEl>
                                        <p:attrNameLst>
                                          <p:attrName>ppt_x</p:attrName>
                                        </p:attrNameLst>
                                      </p:cBhvr>
                                      <p:tavLst>
                                        <p:tav tm="0">
                                          <p:val>
                                            <p:strVal val="1+#ppt_w/2"/>
                                          </p:val>
                                        </p:tav>
                                        <p:tav tm="100000">
                                          <p:val>
                                            <p:strVal val="#ppt_x"/>
                                          </p:val>
                                        </p:tav>
                                      </p:tavLst>
                                    </p:anim>
                                    <p:anim calcmode="lin" valueType="num">
                                      <p:cBhvr additive="base">
                                        <p:cTn id="29" dur="1250" fill="hold"/>
                                        <p:tgtEl>
                                          <p:spTgt spid="32"/>
                                        </p:tgtEl>
                                        <p:attrNameLst>
                                          <p:attrName>ppt_y</p:attrName>
                                        </p:attrNameLst>
                                      </p:cBhvr>
                                      <p:tavLst>
                                        <p:tav tm="0">
                                          <p:val>
                                            <p:strVal val="#ppt_y"/>
                                          </p:val>
                                        </p:tav>
                                        <p:tav tm="100000">
                                          <p:val>
                                            <p:strVal val="#ppt_y"/>
                                          </p:val>
                                        </p:tav>
                                      </p:tavLst>
                                    </p:anim>
                                  </p:childTnLst>
                                </p:cTn>
                              </p:par>
                            </p:childTnLst>
                          </p:cTn>
                        </p:par>
                        <p:par>
                          <p:cTn id="30" fill="hold">
                            <p:stCondLst>
                              <p:cond delay="2300"/>
                            </p:stCondLst>
                            <p:childTnLst>
                              <p:par>
                                <p:cTn id="31" presetID="53" presetClass="entr" presetSubtype="52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Effect transition="in" filter="fade">
                                      <p:cBhvr>
                                        <p:cTn id="35" dur="500"/>
                                        <p:tgtEl>
                                          <p:spTgt spid="29"/>
                                        </p:tgtEl>
                                      </p:cBhvr>
                                    </p:animEffect>
                                    <p:anim calcmode="lin" valueType="num">
                                      <p:cBhvr>
                                        <p:cTn id="36" dur="500" fill="hold"/>
                                        <p:tgtEl>
                                          <p:spTgt spid="29"/>
                                        </p:tgtEl>
                                        <p:attrNameLst>
                                          <p:attrName>ppt_x</p:attrName>
                                        </p:attrNameLst>
                                      </p:cBhvr>
                                      <p:tavLst>
                                        <p:tav tm="0">
                                          <p:val>
                                            <p:fltVal val="0.5"/>
                                          </p:val>
                                        </p:tav>
                                        <p:tav tm="100000">
                                          <p:val>
                                            <p:strVal val="#ppt_x"/>
                                          </p:val>
                                        </p:tav>
                                      </p:tavLst>
                                    </p:anim>
                                    <p:anim calcmode="lin" valueType="num">
                                      <p:cBhvr>
                                        <p:cTn id="37" dur="500" fill="hold"/>
                                        <p:tgtEl>
                                          <p:spTgt spid="29"/>
                                        </p:tgtEl>
                                        <p:attrNameLst>
                                          <p:attrName>ppt_y</p:attrName>
                                        </p:attrNameLst>
                                      </p:cBhvr>
                                      <p:tavLst>
                                        <p:tav tm="0">
                                          <p:val>
                                            <p:fltVal val="0.5"/>
                                          </p:val>
                                        </p:tav>
                                        <p:tav tm="100000">
                                          <p:val>
                                            <p:strVal val="#ppt_y"/>
                                          </p:val>
                                        </p:tav>
                                      </p:tavLst>
                                    </p:anim>
                                  </p:childTnLst>
                                </p:cTn>
                              </p:par>
                            </p:childTnLst>
                          </p:cTn>
                        </p:par>
                        <p:par>
                          <p:cTn id="38" fill="hold">
                            <p:stCondLst>
                              <p:cond delay="2800"/>
                            </p:stCondLst>
                            <p:childTnLst>
                              <p:par>
                                <p:cTn id="39" presetID="53" presetClass="entr" presetSubtype="528" fill="hold" grpId="0" nodeType="afterEffect">
                                  <p:stCondLst>
                                    <p:cond delay="0"/>
                                  </p:stCondLst>
                                  <p:iterate type="lt">
                                    <p:tmPct val="10000"/>
                                  </p:iterate>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anim calcmode="lin" valueType="num">
                                      <p:cBhvr>
                                        <p:cTn id="44" dur="500" fill="hold"/>
                                        <p:tgtEl>
                                          <p:spTgt spid="30"/>
                                        </p:tgtEl>
                                        <p:attrNameLst>
                                          <p:attrName>ppt_x</p:attrName>
                                        </p:attrNameLst>
                                      </p:cBhvr>
                                      <p:tavLst>
                                        <p:tav tm="0">
                                          <p:val>
                                            <p:fltVal val="0.5"/>
                                          </p:val>
                                        </p:tav>
                                        <p:tav tm="100000">
                                          <p:val>
                                            <p:strVal val="#ppt_x"/>
                                          </p:val>
                                        </p:tav>
                                      </p:tavLst>
                                    </p:anim>
                                    <p:anim calcmode="lin" valueType="num">
                                      <p:cBhvr>
                                        <p:cTn id="45" dur="500" fill="hold"/>
                                        <p:tgtEl>
                                          <p:spTgt spid="30"/>
                                        </p:tgtEl>
                                        <p:attrNameLst>
                                          <p:attrName>ppt_y</p:attrName>
                                        </p:attrNameLst>
                                      </p:cBhvr>
                                      <p:tavLst>
                                        <p:tav tm="0">
                                          <p:val>
                                            <p:fltVal val="0.5"/>
                                          </p:val>
                                        </p:tav>
                                        <p:tav tm="100000">
                                          <p:val>
                                            <p:strVal val="#ppt_y"/>
                                          </p:val>
                                        </p:tav>
                                      </p:tavLst>
                                    </p:anim>
                                  </p:childTnLst>
                                </p:cTn>
                              </p:par>
                            </p:childTnLst>
                          </p:cTn>
                        </p:par>
                        <p:par>
                          <p:cTn id="46" fill="hold">
                            <p:stCondLst>
                              <p:cond delay="3500"/>
                            </p:stCondLst>
                            <p:childTnLst>
                              <p:par>
                                <p:cTn id="47" presetID="14" presetClass="entr" presetSubtype="10" fill="hold" grpId="0"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randombar(horizontal)">
                                      <p:cBhvr>
                                        <p:cTn id="4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32" grpId="0" animBg="1"/>
      <p:bldP spid="29" grpId="0"/>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03FC38E5-80E3-4E27-A6AB-F014ADB9A62B}"/>
              </a:ext>
            </a:extLst>
          </p:cNvPr>
          <p:cNvSpPr/>
          <p:nvPr/>
        </p:nvSpPr>
        <p:spPr bwMode="auto">
          <a:xfrm>
            <a:off x="4394302" y="1585185"/>
            <a:ext cx="2520280" cy="792088"/>
          </a:xfrm>
          <a:prstGeom prst="ellipse">
            <a:avLst/>
          </a:prstGeom>
          <a:gradFill>
            <a:gsLst>
              <a:gs pos="0">
                <a:srgbClr val="3366FF"/>
              </a:gs>
              <a:gs pos="100000">
                <a:srgbClr val="000099"/>
              </a:gs>
            </a:gsLst>
            <a:lin ang="5400000" scaled="1"/>
          </a:gradFill>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none" lIns="90000" tIns="46800" rIns="90000" bIns="46800" anchor="ctr"/>
          <a:lstStyle/>
          <a:p>
            <a:pPr>
              <a:defRPr/>
            </a:pPr>
            <a:r>
              <a:rPr lang="zh-CN" altLang="en-US" sz="2800" b="1" dirty="0">
                <a:solidFill>
                  <a:schemeClr val="bg1"/>
                </a:solidFill>
                <a:latin typeface="方正姚体" pitchFamily="2" charset="-122"/>
                <a:ea typeface="方正姚体" pitchFamily="2" charset="-122"/>
              </a:rPr>
              <a:t>软件项目</a:t>
            </a:r>
          </a:p>
        </p:txBody>
      </p:sp>
      <p:sp>
        <p:nvSpPr>
          <p:cNvPr id="3" name="右箭头 29">
            <a:extLst>
              <a:ext uri="{FF2B5EF4-FFF2-40B4-BE49-F238E27FC236}">
                <a16:creationId xmlns:a16="http://schemas.microsoft.com/office/drawing/2014/main" id="{4680A33E-9E44-40F9-86EF-88BCF89CBA93}"/>
              </a:ext>
            </a:extLst>
          </p:cNvPr>
          <p:cNvSpPr/>
          <p:nvPr/>
        </p:nvSpPr>
        <p:spPr bwMode="auto">
          <a:xfrm rot="5400000">
            <a:off x="5455760" y="2377272"/>
            <a:ext cx="416023" cy="416023"/>
          </a:xfrm>
          <a:prstGeom prst="right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endParaRPr lang="zh-CN" altLang="en-US">
              <a:solidFill>
                <a:schemeClr val="tx1"/>
              </a:solidFill>
              <a:ea typeface="华文细黑" pitchFamily="2" charset="-122"/>
            </a:endParaRPr>
          </a:p>
        </p:txBody>
      </p:sp>
      <p:sp>
        <p:nvSpPr>
          <p:cNvPr id="4" name="直角上箭头 30">
            <a:extLst>
              <a:ext uri="{FF2B5EF4-FFF2-40B4-BE49-F238E27FC236}">
                <a16:creationId xmlns:a16="http://schemas.microsoft.com/office/drawing/2014/main" id="{489D1BAD-A595-4483-A016-3BECD083E321}"/>
              </a:ext>
            </a:extLst>
          </p:cNvPr>
          <p:cNvSpPr/>
          <p:nvPr/>
        </p:nvSpPr>
        <p:spPr bwMode="auto">
          <a:xfrm rot="10800000">
            <a:off x="2738118" y="2737311"/>
            <a:ext cx="2915006" cy="490769"/>
          </a:xfrm>
          <a:prstGeom prst="bentUp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5" name="直角上箭头 31">
            <a:extLst>
              <a:ext uri="{FF2B5EF4-FFF2-40B4-BE49-F238E27FC236}">
                <a16:creationId xmlns:a16="http://schemas.microsoft.com/office/drawing/2014/main" id="{A0E8681F-2B6A-410B-89E5-FC02E9E592D2}"/>
              </a:ext>
            </a:extLst>
          </p:cNvPr>
          <p:cNvSpPr/>
          <p:nvPr/>
        </p:nvSpPr>
        <p:spPr bwMode="auto">
          <a:xfrm rot="10800000" flipH="1">
            <a:off x="5669148" y="2737310"/>
            <a:ext cx="3044692" cy="490769"/>
          </a:xfrm>
          <a:prstGeom prst="bentUp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6" name="右箭头 32">
            <a:extLst>
              <a:ext uri="{FF2B5EF4-FFF2-40B4-BE49-F238E27FC236}">
                <a16:creationId xmlns:a16="http://schemas.microsoft.com/office/drawing/2014/main" id="{88B86365-DC5E-41CA-A1A0-D4D943E085EF}"/>
              </a:ext>
            </a:extLst>
          </p:cNvPr>
          <p:cNvSpPr/>
          <p:nvPr/>
        </p:nvSpPr>
        <p:spPr bwMode="auto">
          <a:xfrm rot="5400000">
            <a:off x="5493105" y="2843985"/>
            <a:ext cx="373385" cy="416023"/>
          </a:xfrm>
          <a:prstGeom prst="right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endParaRPr lang="zh-CN" altLang="en-US">
              <a:solidFill>
                <a:schemeClr val="tx1"/>
              </a:solidFill>
              <a:ea typeface="华文细黑" pitchFamily="2" charset="-122"/>
            </a:endParaRPr>
          </a:p>
        </p:txBody>
      </p:sp>
      <p:sp>
        <p:nvSpPr>
          <p:cNvPr id="7" name="矩形 6">
            <a:extLst>
              <a:ext uri="{FF2B5EF4-FFF2-40B4-BE49-F238E27FC236}">
                <a16:creationId xmlns:a16="http://schemas.microsoft.com/office/drawing/2014/main" id="{335B80EC-05C3-490F-A2A2-1CDB95E4235C}"/>
              </a:ext>
            </a:extLst>
          </p:cNvPr>
          <p:cNvSpPr/>
          <p:nvPr/>
        </p:nvSpPr>
        <p:spPr bwMode="auto">
          <a:xfrm>
            <a:off x="2002013" y="3241369"/>
            <a:ext cx="1872208" cy="648072"/>
          </a:xfrm>
          <a:prstGeom prst="rect">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r>
              <a:rPr lang="zh-CN" altLang="en-US" sz="2400" b="1" dirty="0">
                <a:solidFill>
                  <a:schemeClr val="bg1"/>
                </a:solidFill>
                <a:latin typeface="Times New Roman" pitchFamily="18" charset="0"/>
                <a:ea typeface="方正姚体" pitchFamily="2" charset="-122"/>
                <a:cs typeface="Times New Roman" pitchFamily="18" charset="0"/>
              </a:rPr>
              <a:t>功能模块</a:t>
            </a:r>
            <a:r>
              <a:rPr lang="en-US" altLang="zh-CN" sz="2400" b="1" dirty="0">
                <a:solidFill>
                  <a:schemeClr val="bg1"/>
                </a:solidFill>
                <a:latin typeface="Times New Roman" pitchFamily="18" charset="0"/>
                <a:ea typeface="方正姚体" pitchFamily="2" charset="-122"/>
                <a:cs typeface="Times New Roman" pitchFamily="18" charset="0"/>
              </a:rPr>
              <a:t>1</a:t>
            </a:r>
            <a:endParaRPr lang="zh-CN" altLang="en-US" sz="2400" b="1" dirty="0">
              <a:solidFill>
                <a:schemeClr val="bg1"/>
              </a:solidFill>
              <a:latin typeface="Times New Roman" pitchFamily="18" charset="0"/>
              <a:ea typeface="方正姚体" pitchFamily="2" charset="-122"/>
              <a:cs typeface="Times New Roman" pitchFamily="18" charset="0"/>
            </a:endParaRPr>
          </a:p>
        </p:txBody>
      </p:sp>
      <p:sp>
        <p:nvSpPr>
          <p:cNvPr id="8" name="矩形 7">
            <a:extLst>
              <a:ext uri="{FF2B5EF4-FFF2-40B4-BE49-F238E27FC236}">
                <a16:creationId xmlns:a16="http://schemas.microsoft.com/office/drawing/2014/main" id="{16BBC030-5105-4F14-B0D7-49A6D9E93979}"/>
              </a:ext>
            </a:extLst>
          </p:cNvPr>
          <p:cNvSpPr/>
          <p:nvPr/>
        </p:nvSpPr>
        <p:spPr bwMode="auto">
          <a:xfrm>
            <a:off x="4754342" y="3241369"/>
            <a:ext cx="1872208" cy="648072"/>
          </a:xfrm>
          <a:prstGeom prst="rect">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lgn="ctr">
              <a:defRPr/>
            </a:pPr>
            <a:r>
              <a:rPr lang="zh-CN" altLang="en-US" sz="2400" b="1" dirty="0">
                <a:solidFill>
                  <a:schemeClr val="bg1"/>
                </a:solidFill>
                <a:latin typeface="Times New Roman" pitchFamily="18" charset="0"/>
                <a:ea typeface="方正姚体" pitchFamily="2" charset="-122"/>
                <a:cs typeface="Times New Roman" pitchFamily="18" charset="0"/>
              </a:rPr>
              <a:t>功能模块</a:t>
            </a:r>
            <a:r>
              <a:rPr lang="en-US" altLang="zh-CN" sz="2400" b="1" dirty="0">
                <a:solidFill>
                  <a:schemeClr val="bg1"/>
                </a:solidFill>
                <a:latin typeface="Times New Roman" pitchFamily="18" charset="0"/>
                <a:ea typeface="方正姚体" pitchFamily="2" charset="-122"/>
                <a:cs typeface="Times New Roman" pitchFamily="18" charset="0"/>
              </a:rPr>
              <a:t>2</a:t>
            </a:r>
            <a:endParaRPr lang="zh-CN" altLang="en-US" sz="2400" b="1" dirty="0">
              <a:solidFill>
                <a:schemeClr val="bg1"/>
              </a:solidFill>
              <a:latin typeface="Times New Roman" pitchFamily="18" charset="0"/>
              <a:ea typeface="方正姚体" pitchFamily="2" charset="-122"/>
              <a:cs typeface="Times New Roman" pitchFamily="18" charset="0"/>
            </a:endParaRPr>
          </a:p>
        </p:txBody>
      </p:sp>
      <p:sp>
        <p:nvSpPr>
          <p:cNvPr id="9" name="矩形 8">
            <a:extLst>
              <a:ext uri="{FF2B5EF4-FFF2-40B4-BE49-F238E27FC236}">
                <a16:creationId xmlns:a16="http://schemas.microsoft.com/office/drawing/2014/main" id="{D942387C-6F1A-4EBA-B73E-3CD2312E21FA}"/>
              </a:ext>
            </a:extLst>
          </p:cNvPr>
          <p:cNvSpPr/>
          <p:nvPr/>
        </p:nvSpPr>
        <p:spPr bwMode="auto">
          <a:xfrm>
            <a:off x="7634662" y="3241369"/>
            <a:ext cx="1872208" cy="648072"/>
          </a:xfrm>
          <a:prstGeom prst="rect">
            <a:avLst/>
          </a:prstGeom>
          <a:gradFill>
            <a:gsLst>
              <a:gs pos="0">
                <a:srgbClr val="3366FF"/>
              </a:gs>
              <a:gs pos="100000">
                <a:srgbClr val="000099"/>
              </a:gs>
            </a:gsLst>
            <a:lin ang="5400000" scaled="1"/>
          </a:gradFill>
          <a:ln>
            <a:headEnd type="none" w="med" len="med"/>
            <a:tailEnd type="none" w="med" len="med"/>
          </a:ln>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lgn="ctr"/>
            <a:r>
              <a:rPr lang="zh-CN" altLang="en-US" sz="2400" b="1" dirty="0">
                <a:solidFill>
                  <a:schemeClr val="bg1"/>
                </a:solidFill>
                <a:latin typeface="Times New Roman" pitchFamily="18" charset="0"/>
                <a:ea typeface="方正姚体" pitchFamily="2" charset="-122"/>
                <a:cs typeface="Times New Roman" pitchFamily="18" charset="0"/>
              </a:rPr>
              <a:t>功能模块</a:t>
            </a:r>
            <a:r>
              <a:rPr lang="en-US" altLang="zh-CN" sz="2400" b="1" dirty="0">
                <a:solidFill>
                  <a:schemeClr val="bg1"/>
                </a:solidFill>
                <a:latin typeface="Times New Roman" pitchFamily="18" charset="0"/>
                <a:ea typeface="方正姚体" pitchFamily="2" charset="-122"/>
                <a:cs typeface="Times New Roman" pitchFamily="18" charset="0"/>
              </a:rPr>
              <a:t>n</a:t>
            </a:r>
            <a:endParaRPr lang="zh-CN" altLang="en-US" sz="2400" b="1" dirty="0">
              <a:solidFill>
                <a:schemeClr val="bg1"/>
              </a:solidFill>
              <a:latin typeface="Times New Roman" pitchFamily="18" charset="0"/>
              <a:ea typeface="方正姚体" pitchFamily="2" charset="-122"/>
              <a:cs typeface="Times New Roman" pitchFamily="18" charset="0"/>
            </a:endParaRPr>
          </a:p>
        </p:txBody>
      </p:sp>
      <p:sp>
        <p:nvSpPr>
          <p:cNvPr id="10" name="AutoShape 37">
            <a:extLst>
              <a:ext uri="{FF2B5EF4-FFF2-40B4-BE49-F238E27FC236}">
                <a16:creationId xmlns:a16="http://schemas.microsoft.com/office/drawing/2014/main" id="{49FE1FBE-AC48-4EF0-82F4-8605387491F9}"/>
              </a:ext>
            </a:extLst>
          </p:cNvPr>
          <p:cNvSpPr>
            <a:spLocks noChangeArrowheads="1"/>
          </p:cNvSpPr>
          <p:nvPr/>
        </p:nvSpPr>
        <p:spPr bwMode="auto">
          <a:xfrm>
            <a:off x="7385870" y="1368422"/>
            <a:ext cx="2328863" cy="1079500"/>
          </a:xfrm>
          <a:prstGeom prst="cloudCallout">
            <a:avLst>
              <a:gd name="adj1" fmla="val -122459"/>
              <a:gd name="adj2" fmla="val 122500"/>
            </a:avLst>
          </a:prstGeom>
          <a:solidFill>
            <a:srgbClr val="FFFF00"/>
          </a:solidFill>
          <a:ln w="22225">
            <a:solidFill>
              <a:srgbClr val="FF0000"/>
            </a:solidFill>
            <a:round/>
            <a:headEnd/>
            <a:tailEnd/>
          </a:ln>
          <a:effectLst>
            <a:outerShdw dist="107763" dir="2700000" algn="ctr" rotWithShape="0">
              <a:schemeClr val="bg2">
                <a:alpha val="50000"/>
              </a:schemeClr>
            </a:outerShdw>
          </a:effectLst>
        </p:spPr>
        <p:txBody>
          <a:bodyPr/>
          <a:lstStyle/>
          <a:p>
            <a:pPr>
              <a:defRPr/>
            </a:pPr>
            <a:r>
              <a:rPr lang="zh-CN" altLang="en-US" sz="2800" b="1" dirty="0">
                <a:latin typeface="方正姚体" pitchFamily="2" charset="-122"/>
                <a:ea typeface="方正姚体" pitchFamily="2" charset="-122"/>
              </a:rPr>
              <a:t>搭积木</a:t>
            </a:r>
          </a:p>
        </p:txBody>
      </p:sp>
      <p:sp>
        <p:nvSpPr>
          <p:cNvPr id="11" name="AutoShape 35">
            <a:extLst>
              <a:ext uri="{FF2B5EF4-FFF2-40B4-BE49-F238E27FC236}">
                <a16:creationId xmlns:a16="http://schemas.microsoft.com/office/drawing/2014/main" id="{4C95DD88-9ED1-487E-980F-B75E4DC5C3DD}"/>
              </a:ext>
            </a:extLst>
          </p:cNvPr>
          <p:cNvSpPr>
            <a:spLocks noChangeArrowheads="1"/>
          </p:cNvSpPr>
          <p:nvPr/>
        </p:nvSpPr>
        <p:spPr bwMode="auto">
          <a:xfrm>
            <a:off x="2051870" y="4822822"/>
            <a:ext cx="1871663" cy="576262"/>
          </a:xfrm>
          <a:prstGeom prst="wedgeRoundRectCallout">
            <a:avLst>
              <a:gd name="adj1" fmla="val 92153"/>
              <a:gd name="adj2" fmla="val -192977"/>
              <a:gd name="adj3" fmla="val 16667"/>
            </a:avLst>
          </a:prstGeom>
          <a:gradFill rotWithShape="1">
            <a:gsLst>
              <a:gs pos="0">
                <a:srgbClr val="CCFFFF"/>
              </a:gs>
              <a:gs pos="100000">
                <a:schemeClr val="bg1"/>
              </a:gs>
            </a:gsLst>
            <a:lin ang="5400000" scaled="1"/>
          </a:gradFill>
          <a:ln w="28575">
            <a:solidFill>
              <a:srgbClr val="FF00FF"/>
            </a:solidFill>
            <a:miter lim="800000"/>
            <a:headEnd/>
            <a:tailEnd/>
          </a:ln>
          <a:effectLst>
            <a:outerShdw dist="107763" dir="2700000" algn="ctr" rotWithShape="0">
              <a:schemeClr val="bg2">
                <a:alpha val="50000"/>
              </a:schemeClr>
            </a:outerShdw>
          </a:effectLst>
        </p:spPr>
        <p:txBody>
          <a:bodyPr anchor="ctr"/>
          <a:lstStyle/>
          <a:p>
            <a:r>
              <a:rPr lang="en-US" altLang="zh-CN" sz="2000" b="1">
                <a:latin typeface="Times New Roman" pitchFamily="18" charset="0"/>
                <a:ea typeface="方正姚体" pitchFamily="2" charset="-122"/>
                <a:cs typeface="Times New Roman" pitchFamily="18" charset="0"/>
              </a:rPr>
              <a:t>C</a:t>
            </a:r>
            <a:r>
              <a:rPr lang="zh-CN" altLang="en-US" sz="2000" b="1">
                <a:latin typeface="Times New Roman" pitchFamily="18" charset="0"/>
                <a:ea typeface="方正姚体" pitchFamily="2" charset="-122"/>
                <a:cs typeface="Times New Roman" pitchFamily="18" charset="0"/>
              </a:rPr>
              <a:t>语言程序</a:t>
            </a:r>
          </a:p>
        </p:txBody>
      </p:sp>
      <p:sp>
        <p:nvSpPr>
          <p:cNvPr id="12" name="AutoShape 36">
            <a:extLst>
              <a:ext uri="{FF2B5EF4-FFF2-40B4-BE49-F238E27FC236}">
                <a16:creationId xmlns:a16="http://schemas.microsoft.com/office/drawing/2014/main" id="{5B9CD3ED-A9D9-4526-9AFC-CCBDD2008F88}"/>
              </a:ext>
            </a:extLst>
          </p:cNvPr>
          <p:cNvSpPr>
            <a:spLocks noChangeArrowheads="1"/>
          </p:cNvSpPr>
          <p:nvPr/>
        </p:nvSpPr>
        <p:spPr bwMode="auto">
          <a:xfrm>
            <a:off x="7957370" y="5111747"/>
            <a:ext cx="1871663" cy="576262"/>
          </a:xfrm>
          <a:prstGeom prst="wedgeRoundRectCallout">
            <a:avLst>
              <a:gd name="adj1" fmla="val -89639"/>
              <a:gd name="adj2" fmla="val 11801"/>
              <a:gd name="adj3" fmla="val 16667"/>
            </a:avLst>
          </a:prstGeom>
          <a:gradFill rotWithShape="1">
            <a:gsLst>
              <a:gs pos="0">
                <a:srgbClr val="CCFFFF"/>
              </a:gs>
              <a:gs pos="100000">
                <a:schemeClr val="bg1"/>
              </a:gs>
            </a:gsLst>
            <a:lin ang="5400000" scaled="1"/>
          </a:gradFill>
          <a:ln w="28575">
            <a:solidFill>
              <a:srgbClr val="FF00FF"/>
            </a:solidFill>
            <a:miter lim="800000"/>
            <a:headEnd/>
            <a:tailEnd/>
          </a:ln>
          <a:effectLst>
            <a:outerShdw dist="107763" dir="2700000" algn="ctr" rotWithShape="0">
              <a:schemeClr val="bg2">
                <a:alpha val="50000"/>
              </a:schemeClr>
            </a:outerShdw>
          </a:effectLst>
        </p:spPr>
        <p:txBody>
          <a:bodyPr anchor="ctr"/>
          <a:lstStyle/>
          <a:p>
            <a:r>
              <a:rPr lang="en-US" altLang="zh-CN" sz="2000" b="1">
                <a:latin typeface="Times New Roman" pitchFamily="18" charset="0"/>
                <a:ea typeface="方正姚体" pitchFamily="2" charset="-122"/>
                <a:cs typeface="Times New Roman" pitchFamily="18" charset="0"/>
              </a:rPr>
              <a:t>C</a:t>
            </a:r>
            <a:r>
              <a:rPr lang="zh-CN" altLang="en-US" sz="2000" b="1">
                <a:latin typeface="Times New Roman" pitchFamily="18" charset="0"/>
                <a:ea typeface="方正姚体" pitchFamily="2" charset="-122"/>
                <a:cs typeface="Times New Roman" pitchFamily="18" charset="0"/>
              </a:rPr>
              <a:t>语言函数</a:t>
            </a:r>
          </a:p>
        </p:txBody>
      </p:sp>
      <p:sp>
        <p:nvSpPr>
          <p:cNvPr id="13" name="Text Box 31">
            <a:extLst>
              <a:ext uri="{FF2B5EF4-FFF2-40B4-BE49-F238E27FC236}">
                <a16:creationId xmlns:a16="http://schemas.microsoft.com/office/drawing/2014/main" id="{D6DE445E-AA64-444A-920A-0300E80C5722}"/>
              </a:ext>
            </a:extLst>
          </p:cNvPr>
          <p:cNvSpPr txBox="1">
            <a:spLocks noChangeArrowheads="1"/>
          </p:cNvSpPr>
          <p:nvPr/>
        </p:nvSpPr>
        <p:spPr bwMode="auto">
          <a:xfrm>
            <a:off x="6601861" y="3252784"/>
            <a:ext cx="1655762" cy="579438"/>
          </a:xfrm>
          <a:prstGeom prst="rect">
            <a:avLst/>
          </a:prstGeom>
          <a:noFill/>
          <a:ln>
            <a:noFill/>
          </a:ln>
          <a:effectLst/>
          <a:extLst/>
        </p:spPr>
        <p:txBody>
          <a:bodyPr>
            <a:spAutoFit/>
          </a:bodyPr>
          <a:lstStyle/>
          <a:p>
            <a:pPr>
              <a:spcBef>
                <a:spcPct val="50000"/>
              </a:spcBef>
              <a:defRPr/>
            </a:pPr>
            <a:r>
              <a:rPr lang="en-US" altLang="zh-CN" sz="3200" b="1" dirty="0">
                <a:effectLst>
                  <a:outerShdw blurRad="38100" dist="38100" dir="2700000" algn="tl">
                    <a:srgbClr val="FFFFFF"/>
                  </a:outerShdw>
                </a:effectLst>
                <a:latin typeface="Arial" pitchFamily="34" charset="0"/>
              </a:rPr>
              <a:t>……</a:t>
            </a:r>
          </a:p>
        </p:txBody>
      </p:sp>
      <p:sp>
        <p:nvSpPr>
          <p:cNvPr id="14" name="右箭头 40">
            <a:extLst>
              <a:ext uri="{FF2B5EF4-FFF2-40B4-BE49-F238E27FC236}">
                <a16:creationId xmlns:a16="http://schemas.microsoft.com/office/drawing/2014/main" id="{66A71CD3-B5FC-4C2C-8D2C-F0ED7054B77A}"/>
              </a:ext>
            </a:extLst>
          </p:cNvPr>
          <p:cNvSpPr/>
          <p:nvPr/>
        </p:nvSpPr>
        <p:spPr bwMode="auto">
          <a:xfrm rot="5400000">
            <a:off x="5409797" y="3998779"/>
            <a:ext cx="530628" cy="326734"/>
          </a:xfrm>
          <a:prstGeom prst="right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15" name="直角上箭头 41">
            <a:extLst>
              <a:ext uri="{FF2B5EF4-FFF2-40B4-BE49-F238E27FC236}">
                <a16:creationId xmlns:a16="http://schemas.microsoft.com/office/drawing/2014/main" id="{B3504A4C-A982-496B-AE8C-200C049F84F8}"/>
              </a:ext>
            </a:extLst>
          </p:cNvPr>
          <p:cNvSpPr/>
          <p:nvPr/>
        </p:nvSpPr>
        <p:spPr bwMode="auto">
          <a:xfrm rot="10800000">
            <a:off x="4394300" y="4390136"/>
            <a:ext cx="1274847" cy="507468"/>
          </a:xfrm>
          <a:prstGeom prst="bentUp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16" name="直角上箭头 42">
            <a:extLst>
              <a:ext uri="{FF2B5EF4-FFF2-40B4-BE49-F238E27FC236}">
                <a16:creationId xmlns:a16="http://schemas.microsoft.com/office/drawing/2014/main" id="{B887E88C-1177-46E9-AFB7-79D5DD8687CE}"/>
              </a:ext>
            </a:extLst>
          </p:cNvPr>
          <p:cNvSpPr/>
          <p:nvPr/>
        </p:nvSpPr>
        <p:spPr bwMode="auto">
          <a:xfrm rot="10800000" flipH="1">
            <a:off x="5685173" y="4390135"/>
            <a:ext cx="1229409" cy="507468"/>
          </a:xfrm>
          <a:prstGeom prst="bentUp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17" name="右箭头 43">
            <a:extLst>
              <a:ext uri="{FF2B5EF4-FFF2-40B4-BE49-F238E27FC236}">
                <a16:creationId xmlns:a16="http://schemas.microsoft.com/office/drawing/2014/main" id="{264F6AC8-8EB9-47AA-8985-A04790984D3F}"/>
              </a:ext>
            </a:extLst>
          </p:cNvPr>
          <p:cNvSpPr/>
          <p:nvPr/>
        </p:nvSpPr>
        <p:spPr bwMode="auto">
          <a:xfrm rot="5400000">
            <a:off x="5499046" y="4552849"/>
            <a:ext cx="360041" cy="329372"/>
          </a:xfrm>
          <a:prstGeom prst="right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endParaRPr lang="zh-CN" altLang="en-US">
              <a:solidFill>
                <a:schemeClr val="tx1"/>
              </a:solidFill>
              <a:ea typeface="华文细黑" pitchFamily="2" charset="-122"/>
            </a:endParaRPr>
          </a:p>
        </p:txBody>
      </p:sp>
      <p:sp>
        <p:nvSpPr>
          <p:cNvPr id="18" name="Text Box 31">
            <a:extLst>
              <a:ext uri="{FF2B5EF4-FFF2-40B4-BE49-F238E27FC236}">
                <a16:creationId xmlns:a16="http://schemas.microsoft.com/office/drawing/2014/main" id="{89730255-2A93-4396-B8EE-04B47B9D46EC}"/>
              </a:ext>
            </a:extLst>
          </p:cNvPr>
          <p:cNvSpPr txBox="1">
            <a:spLocks noChangeArrowheads="1"/>
          </p:cNvSpPr>
          <p:nvPr/>
        </p:nvSpPr>
        <p:spPr bwMode="auto">
          <a:xfrm>
            <a:off x="5979345" y="4897434"/>
            <a:ext cx="574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3200" b="1" dirty="0">
                <a:effectLst>
                  <a:outerShdw blurRad="38100" dist="38100" dir="2700000" algn="tl">
                    <a:srgbClr val="FFFFFF"/>
                  </a:outerShdw>
                </a:effectLst>
                <a:latin typeface="Arial" pitchFamily="34" charset="0"/>
              </a:rPr>
              <a:t>…</a:t>
            </a:r>
          </a:p>
        </p:txBody>
      </p:sp>
      <p:sp>
        <p:nvSpPr>
          <p:cNvPr id="19" name="TextBox 45">
            <a:extLst>
              <a:ext uri="{FF2B5EF4-FFF2-40B4-BE49-F238E27FC236}">
                <a16:creationId xmlns:a16="http://schemas.microsoft.com/office/drawing/2014/main" id="{BF673A7C-2B99-41E7-9AB6-FDAB5CDB2AD1}"/>
              </a:ext>
            </a:extLst>
          </p:cNvPr>
          <p:cNvSpPr txBox="1"/>
          <p:nvPr/>
        </p:nvSpPr>
        <p:spPr>
          <a:xfrm>
            <a:off x="4210328" y="4915607"/>
            <a:ext cx="637422" cy="1323439"/>
          </a:xfrm>
          <a:prstGeom prst="rect">
            <a:avLst/>
          </a:prstGeom>
          <a:gradFill>
            <a:gsLst>
              <a:gs pos="0">
                <a:srgbClr val="3366FF"/>
              </a:gs>
              <a:gs pos="100000">
                <a:srgbClr val="000099"/>
              </a:gs>
            </a:gsLst>
            <a:lin ang="5400000" scaled="1"/>
          </a:gradFill>
        </p:spPr>
        <p:style>
          <a:lnRef idx="0">
            <a:schemeClr val="accent6"/>
          </a:lnRef>
          <a:fillRef idx="3">
            <a:schemeClr val="accent6"/>
          </a:fillRef>
          <a:effectRef idx="3">
            <a:schemeClr val="accent6"/>
          </a:effectRef>
          <a:fontRef idx="minor">
            <a:schemeClr val="lt1"/>
          </a:fontRef>
        </p:style>
        <p:txBody>
          <a:bodyPr anchor="ctr">
            <a:spAutoFit/>
          </a:bodyPr>
          <a:lstStyle/>
          <a:p>
            <a:pPr>
              <a:defRPr/>
            </a:pPr>
            <a:r>
              <a:rPr lang="zh-CN" altLang="en-US" sz="2000" b="1" dirty="0">
                <a:solidFill>
                  <a:schemeClr val="bg1"/>
                </a:solidFill>
                <a:latin typeface="Times New Roman" pitchFamily="18" charset="0"/>
                <a:ea typeface="方正姚体" pitchFamily="2" charset="-122"/>
                <a:cs typeface="Times New Roman" pitchFamily="18" charset="0"/>
              </a:rPr>
              <a:t>子</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模</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块</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en-US" altLang="zh-CN" sz="2000" b="1" dirty="0">
                <a:solidFill>
                  <a:schemeClr val="bg1"/>
                </a:solidFill>
                <a:latin typeface="Times New Roman" pitchFamily="18" charset="0"/>
                <a:ea typeface="方正姚体" pitchFamily="2" charset="-122"/>
                <a:cs typeface="Times New Roman" pitchFamily="18" charset="0"/>
              </a:rPr>
              <a:t>1</a:t>
            </a:r>
            <a:endParaRPr lang="zh-CN" altLang="en-US" sz="2000" b="1" dirty="0">
              <a:solidFill>
                <a:schemeClr val="bg1"/>
              </a:solidFill>
              <a:latin typeface="Times New Roman" pitchFamily="18" charset="0"/>
              <a:ea typeface="方正姚体" pitchFamily="2" charset="-122"/>
              <a:cs typeface="Times New Roman" pitchFamily="18" charset="0"/>
            </a:endParaRPr>
          </a:p>
        </p:txBody>
      </p:sp>
      <p:sp>
        <p:nvSpPr>
          <p:cNvPr id="20" name="TextBox 46">
            <a:extLst>
              <a:ext uri="{FF2B5EF4-FFF2-40B4-BE49-F238E27FC236}">
                <a16:creationId xmlns:a16="http://schemas.microsoft.com/office/drawing/2014/main" id="{B1CEBF40-CF70-495C-894B-132C3552C6BA}"/>
              </a:ext>
            </a:extLst>
          </p:cNvPr>
          <p:cNvSpPr txBox="1"/>
          <p:nvPr/>
        </p:nvSpPr>
        <p:spPr>
          <a:xfrm>
            <a:off x="5359717" y="4915607"/>
            <a:ext cx="637422" cy="1323439"/>
          </a:xfrm>
          <a:prstGeom prst="rect">
            <a:avLst/>
          </a:prstGeom>
          <a:gradFill>
            <a:gsLst>
              <a:gs pos="0">
                <a:srgbClr val="3366FF"/>
              </a:gs>
              <a:gs pos="100000">
                <a:srgbClr val="000099"/>
              </a:gs>
            </a:gsLst>
            <a:lin ang="5400000" scaled="1"/>
          </a:gradFill>
        </p:spPr>
        <p:style>
          <a:lnRef idx="0">
            <a:schemeClr val="accent6"/>
          </a:lnRef>
          <a:fillRef idx="3">
            <a:schemeClr val="accent6"/>
          </a:fillRef>
          <a:effectRef idx="3">
            <a:schemeClr val="accent6"/>
          </a:effectRef>
          <a:fontRef idx="minor">
            <a:schemeClr val="lt1"/>
          </a:fontRef>
        </p:style>
        <p:txBody>
          <a:bodyPr anchor="ctr">
            <a:spAutoFit/>
          </a:bodyPr>
          <a:lstStyle/>
          <a:p>
            <a:pPr>
              <a:defRPr/>
            </a:pPr>
            <a:r>
              <a:rPr lang="zh-CN" altLang="en-US" sz="2000" b="1" dirty="0">
                <a:solidFill>
                  <a:schemeClr val="bg1"/>
                </a:solidFill>
                <a:latin typeface="Times New Roman" pitchFamily="18" charset="0"/>
                <a:ea typeface="方正姚体" pitchFamily="2" charset="-122"/>
                <a:cs typeface="Times New Roman" pitchFamily="18" charset="0"/>
              </a:rPr>
              <a:t>子</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模</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块</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en-US" altLang="zh-CN" sz="2000" b="1" dirty="0">
                <a:solidFill>
                  <a:schemeClr val="bg1"/>
                </a:solidFill>
                <a:latin typeface="Times New Roman" pitchFamily="18" charset="0"/>
                <a:ea typeface="方正姚体" pitchFamily="2" charset="-122"/>
                <a:cs typeface="Times New Roman" pitchFamily="18" charset="0"/>
              </a:rPr>
              <a:t>2</a:t>
            </a:r>
            <a:endParaRPr lang="zh-CN" altLang="en-US" sz="2000" b="1" dirty="0">
              <a:solidFill>
                <a:schemeClr val="bg1"/>
              </a:solidFill>
              <a:latin typeface="Times New Roman" pitchFamily="18" charset="0"/>
              <a:ea typeface="方正姚体" pitchFamily="2" charset="-122"/>
              <a:cs typeface="Times New Roman" pitchFamily="18" charset="0"/>
            </a:endParaRPr>
          </a:p>
        </p:txBody>
      </p:sp>
      <p:sp>
        <p:nvSpPr>
          <p:cNvPr id="21" name="TextBox 47">
            <a:extLst>
              <a:ext uri="{FF2B5EF4-FFF2-40B4-BE49-F238E27FC236}">
                <a16:creationId xmlns:a16="http://schemas.microsoft.com/office/drawing/2014/main" id="{A2633E1D-C6A2-4492-90FC-9CB7F131343D}"/>
              </a:ext>
            </a:extLst>
          </p:cNvPr>
          <p:cNvSpPr txBox="1"/>
          <p:nvPr/>
        </p:nvSpPr>
        <p:spPr>
          <a:xfrm>
            <a:off x="6493184" y="4915607"/>
            <a:ext cx="637422" cy="1323439"/>
          </a:xfrm>
          <a:prstGeom prst="rect">
            <a:avLst/>
          </a:prstGeom>
          <a:gradFill>
            <a:gsLst>
              <a:gs pos="0">
                <a:srgbClr val="3366FF"/>
              </a:gs>
              <a:gs pos="100000">
                <a:srgbClr val="000099"/>
              </a:gs>
            </a:gsLst>
            <a:lin ang="5400000" scaled="1"/>
          </a:gradFill>
        </p:spPr>
        <p:style>
          <a:lnRef idx="0">
            <a:schemeClr val="accent6"/>
          </a:lnRef>
          <a:fillRef idx="3">
            <a:schemeClr val="accent6"/>
          </a:fillRef>
          <a:effectRef idx="3">
            <a:schemeClr val="accent6"/>
          </a:effectRef>
          <a:fontRef idx="minor">
            <a:schemeClr val="lt1"/>
          </a:fontRef>
        </p:style>
        <p:txBody>
          <a:bodyPr anchor="ctr">
            <a:spAutoFit/>
          </a:bodyPr>
          <a:lstStyle/>
          <a:p>
            <a:pPr>
              <a:defRPr/>
            </a:pPr>
            <a:r>
              <a:rPr lang="zh-CN" altLang="en-US" sz="2000" b="1" dirty="0">
                <a:solidFill>
                  <a:schemeClr val="bg1"/>
                </a:solidFill>
                <a:latin typeface="Times New Roman" pitchFamily="18" charset="0"/>
                <a:ea typeface="方正姚体" pitchFamily="2" charset="-122"/>
                <a:cs typeface="Times New Roman" pitchFamily="18" charset="0"/>
              </a:rPr>
              <a:t>子</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模</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块</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en-US" altLang="zh-CN" sz="2000" b="1" dirty="0">
                <a:solidFill>
                  <a:schemeClr val="bg1"/>
                </a:solidFill>
                <a:latin typeface="Times New Roman" pitchFamily="18" charset="0"/>
                <a:ea typeface="方正姚体" pitchFamily="2" charset="-122"/>
                <a:cs typeface="Times New Roman" pitchFamily="18" charset="0"/>
              </a:rPr>
              <a:t>n</a:t>
            </a:r>
            <a:endParaRPr lang="zh-CN" altLang="en-US" sz="2000" b="1" dirty="0">
              <a:solidFill>
                <a:schemeClr val="bg1"/>
              </a:solidFill>
              <a:latin typeface="Times New Roman" pitchFamily="18" charset="0"/>
              <a:ea typeface="方正姚体" pitchFamily="2" charset="-122"/>
              <a:cs typeface="Times New Roman" pitchFamily="18" charset="0"/>
            </a:endParaRPr>
          </a:p>
        </p:txBody>
      </p:sp>
      <p:sp>
        <p:nvSpPr>
          <p:cNvPr id="23" name="Text Box 31">
            <a:extLst>
              <a:ext uri="{FF2B5EF4-FFF2-40B4-BE49-F238E27FC236}">
                <a16:creationId xmlns:a16="http://schemas.microsoft.com/office/drawing/2014/main" id="{7A60531B-4CC2-4CD5-ACA1-6130DD812F86}"/>
              </a:ext>
            </a:extLst>
          </p:cNvPr>
          <p:cNvSpPr txBox="1">
            <a:spLocks noChangeArrowheads="1"/>
          </p:cNvSpPr>
          <p:nvPr/>
        </p:nvSpPr>
        <p:spPr bwMode="auto">
          <a:xfrm>
            <a:off x="2110608" y="3773484"/>
            <a:ext cx="16557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3200" b="1" dirty="0">
                <a:effectLst>
                  <a:outerShdw blurRad="38100" dist="38100" dir="2700000" algn="tl">
                    <a:srgbClr val="FFFFFF"/>
                  </a:outerShdw>
                </a:effectLst>
                <a:latin typeface="Arial" pitchFamily="34" charset="0"/>
              </a:rPr>
              <a:t>……</a:t>
            </a:r>
          </a:p>
        </p:txBody>
      </p:sp>
      <p:sp>
        <p:nvSpPr>
          <p:cNvPr id="24" name="Text Box 31">
            <a:extLst>
              <a:ext uri="{FF2B5EF4-FFF2-40B4-BE49-F238E27FC236}">
                <a16:creationId xmlns:a16="http://schemas.microsoft.com/office/drawing/2014/main" id="{C10629D8-7DA1-43DE-BCD8-6189FEE9ED42}"/>
              </a:ext>
            </a:extLst>
          </p:cNvPr>
          <p:cNvSpPr txBox="1">
            <a:spLocks noChangeArrowheads="1"/>
          </p:cNvSpPr>
          <p:nvPr/>
        </p:nvSpPr>
        <p:spPr bwMode="auto">
          <a:xfrm>
            <a:off x="7763695" y="3773484"/>
            <a:ext cx="16557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spcBef>
                <a:spcPct val="50000"/>
              </a:spcBef>
              <a:defRPr sz="3200" b="1">
                <a:solidFill>
                  <a:schemeClr val="tx1"/>
                </a:solidFill>
                <a:effectLst>
                  <a:outerShdw blurRad="38100" dist="38100" dir="2700000" algn="tl">
                    <a:srgbClr val="FFFFFF"/>
                  </a:outerShdw>
                </a:effectLst>
                <a:latin typeface="Arial"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a:t>……</a:t>
            </a:r>
            <a:endParaRPr lang="en-US" altLang="zh-CN" dirty="0"/>
          </a:p>
        </p:txBody>
      </p:sp>
      <p:grpSp>
        <p:nvGrpSpPr>
          <p:cNvPr id="26" name="组合 25">
            <a:extLst>
              <a:ext uri="{FF2B5EF4-FFF2-40B4-BE49-F238E27FC236}">
                <a16:creationId xmlns:a16="http://schemas.microsoft.com/office/drawing/2014/main" id="{E91B8E6E-7F27-4FBD-B69C-1CF29A04DB21}"/>
              </a:ext>
            </a:extLst>
          </p:cNvPr>
          <p:cNvGrpSpPr/>
          <p:nvPr/>
        </p:nvGrpSpPr>
        <p:grpSpPr>
          <a:xfrm>
            <a:off x="0" y="114299"/>
            <a:ext cx="12192000" cy="1140343"/>
            <a:chOff x="0" y="114299"/>
            <a:chExt cx="12192000" cy="932769"/>
          </a:xfrm>
        </p:grpSpPr>
        <p:sp>
          <p:nvSpPr>
            <p:cNvPr id="27" name="矩形 26">
              <a:extLst>
                <a:ext uri="{FF2B5EF4-FFF2-40B4-BE49-F238E27FC236}">
                  <a16:creationId xmlns:a16="http://schemas.microsoft.com/office/drawing/2014/main" id="{4B86E3D9-18C4-4B35-A9E4-462997610994}"/>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8" name="矩形 27">
              <a:extLst>
                <a:ext uri="{FF2B5EF4-FFF2-40B4-BE49-F238E27FC236}">
                  <a16:creationId xmlns:a16="http://schemas.microsoft.com/office/drawing/2014/main" id="{BBADEDCE-893F-4599-8D09-DE9FB6CC13F3}"/>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9" name="矩形 28">
              <a:extLst>
                <a:ext uri="{FF2B5EF4-FFF2-40B4-BE49-F238E27FC236}">
                  <a16:creationId xmlns:a16="http://schemas.microsoft.com/office/drawing/2014/main" id="{6178FE42-854C-41E8-8FE3-E282B0E1D504}"/>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30" name="矩形 29">
              <a:extLst>
                <a:ext uri="{FF2B5EF4-FFF2-40B4-BE49-F238E27FC236}">
                  <a16:creationId xmlns:a16="http://schemas.microsoft.com/office/drawing/2014/main" id="{D79F993D-3CEF-4DB0-B3DE-232A9812B775}"/>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pic>
          <p:nvPicPr>
            <p:cNvPr id="31" name="图片 30">
              <a:extLst>
                <a:ext uri="{FF2B5EF4-FFF2-40B4-BE49-F238E27FC236}">
                  <a16:creationId xmlns:a16="http://schemas.microsoft.com/office/drawing/2014/main" id="{CE311990-229F-42B0-A385-63D8DACF25AB}"/>
                </a:ext>
              </a:extLst>
            </p:cNvPr>
            <p:cNvPicPr>
              <a:picLocks noChangeAspect="1"/>
            </p:cNvPicPr>
            <p:nvPr/>
          </p:nvPicPr>
          <p:blipFill>
            <a:blip r:embed="rId2"/>
            <a:stretch>
              <a:fillRect/>
            </a:stretch>
          </p:blipFill>
          <p:spPr>
            <a:xfrm>
              <a:off x="3727103" y="114299"/>
              <a:ext cx="4832108" cy="932769"/>
            </a:xfrm>
            <a:prstGeom prst="rect">
              <a:avLst/>
            </a:prstGeom>
          </p:spPr>
        </p:pic>
      </p:grpSp>
      <p:sp>
        <p:nvSpPr>
          <p:cNvPr id="32" name="Rectangle 2">
            <a:extLst>
              <a:ext uri="{FF2B5EF4-FFF2-40B4-BE49-F238E27FC236}">
                <a16:creationId xmlns:a16="http://schemas.microsoft.com/office/drawing/2014/main" id="{53A6F28B-A15B-4C5B-93F7-BA6E1C1C5329}"/>
              </a:ext>
            </a:extLst>
          </p:cNvPr>
          <p:cNvSpPr txBox="1">
            <a:spLocks noChangeArrowheads="1"/>
          </p:cNvSpPr>
          <p:nvPr/>
        </p:nvSpPr>
        <p:spPr>
          <a:xfrm>
            <a:off x="3871198" y="247856"/>
            <a:ext cx="4434190" cy="692412"/>
          </a:xfr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solidFill>
                  <a:srgbClr val="800000"/>
                </a:solidFill>
                <a:latin typeface="微软雅黑" panose="020B0503020204020204" pitchFamily="34" charset="-122"/>
                <a:ea typeface="微软雅黑" panose="020B0503020204020204" pitchFamily="34" charset="-122"/>
              </a:rPr>
              <a:t>模块化程序设计思想</a:t>
            </a:r>
          </a:p>
        </p:txBody>
      </p:sp>
    </p:spTree>
    <p:extLst>
      <p:ext uri="{BB962C8B-B14F-4D97-AF65-F5344CB8AC3E}">
        <p14:creationId xmlns:p14="http://schemas.microsoft.com/office/powerpoint/2010/main" val="46900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6"/>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21"/>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1"/>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P spid="18" grpId="0"/>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sp>
        <p:nvSpPr>
          <p:cNvPr id="483333" name="Rectangle 5"/>
          <p:cNvSpPr>
            <a:spLocks noChangeArrowheads="1"/>
          </p:cNvSpPr>
          <p:nvPr/>
        </p:nvSpPr>
        <p:spPr bwMode="auto">
          <a:xfrm>
            <a:off x="1147959" y="1249383"/>
            <a:ext cx="9896081" cy="3046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200000"/>
              </a:lnSpc>
              <a:buClr>
                <a:schemeClr val="accent1"/>
              </a:buClr>
              <a:buSzPct val="60000"/>
              <a:buFont typeface="Wingdings" pitchFamily="2" charset="2"/>
              <a:buNone/>
            </a:pPr>
            <a:r>
              <a:rPr lang="en-US" altLang="zh-CN" sz="3200" b="1" dirty="0">
                <a:latin typeface="Arial" charset="0"/>
              </a:rPr>
              <a:t>       </a:t>
            </a:r>
            <a:r>
              <a:rPr lang="en-US" altLang="zh-CN" sz="3200" b="1" dirty="0">
                <a:latin typeface="Times New Roman" pitchFamily="18" charset="0"/>
                <a:cs typeface="Times New Roman" pitchFamily="18" charset="0"/>
              </a:rPr>
              <a:t>C</a:t>
            </a:r>
            <a:r>
              <a:rPr lang="zh-CN" altLang="en-US" sz="3200" b="1" dirty="0">
                <a:latin typeface="Times New Roman" pitchFamily="18" charset="0"/>
                <a:cs typeface="Times New Roman" pitchFamily="18" charset="0"/>
              </a:rPr>
              <a:t>语言程序是一个函数式的程序结构，其全部功能都是由函数实现的，每个函数完成特定的独立的功能，通过函数之间的调用实现程序的总体功能。</a:t>
            </a:r>
          </a:p>
        </p:txBody>
      </p:sp>
      <p:grpSp>
        <p:nvGrpSpPr>
          <p:cNvPr id="7" name="组合 6">
            <a:extLst>
              <a:ext uri="{FF2B5EF4-FFF2-40B4-BE49-F238E27FC236}">
                <a16:creationId xmlns:a16="http://schemas.microsoft.com/office/drawing/2014/main" id="{D7691276-A73E-4AE7-8DF5-F3F2D8274A86}"/>
              </a:ext>
            </a:extLst>
          </p:cNvPr>
          <p:cNvGrpSpPr/>
          <p:nvPr/>
        </p:nvGrpSpPr>
        <p:grpSpPr>
          <a:xfrm>
            <a:off x="0" y="114299"/>
            <a:ext cx="12192000" cy="932769"/>
            <a:chOff x="0" y="114299"/>
            <a:chExt cx="12192000" cy="932769"/>
          </a:xfrm>
        </p:grpSpPr>
        <p:sp>
          <p:nvSpPr>
            <p:cNvPr id="9" name="矩形 8">
              <a:extLst>
                <a:ext uri="{FF2B5EF4-FFF2-40B4-BE49-F238E27FC236}">
                  <a16:creationId xmlns:a16="http://schemas.microsoft.com/office/drawing/2014/main" id="{88AC1A16-3251-456D-AC0D-1C5A7E35BB54}"/>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D0DAFA9-3BEF-4FFA-B29B-79DE15D6DA77}"/>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C6583DA5-BCCA-44AE-B71E-DC759DB2C259}"/>
                </a:ext>
              </a:extLst>
            </p:cNvPr>
            <p:cNvSpPr/>
            <p:nvPr/>
          </p:nvSpPr>
          <p:spPr>
            <a:xfrm>
              <a:off x="7070651" y="291974"/>
              <a:ext cx="5121349" cy="20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A834802E-FFB8-4F88-9309-25301721E578}"/>
                </a:ext>
              </a:extLst>
            </p:cNvPr>
            <p:cNvSpPr/>
            <p:nvPr/>
          </p:nvSpPr>
          <p:spPr>
            <a:xfrm>
              <a:off x="7070651" y="594062"/>
              <a:ext cx="5121349" cy="179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9A1EDE35-473C-4187-8B1D-559D4B3E57CA}"/>
                </a:ext>
              </a:extLst>
            </p:cNvPr>
            <p:cNvPicPr>
              <a:picLocks noChangeAspect="1"/>
            </p:cNvPicPr>
            <p:nvPr/>
          </p:nvPicPr>
          <p:blipFill>
            <a:blip r:embed="rId3"/>
            <a:stretch>
              <a:fillRect/>
            </a:stretch>
          </p:blipFill>
          <p:spPr>
            <a:xfrm>
              <a:off x="4056711" y="114299"/>
              <a:ext cx="3588098" cy="932769"/>
            </a:xfrm>
            <a:prstGeom prst="rect">
              <a:avLst/>
            </a:prstGeom>
          </p:spPr>
        </p:pic>
      </p:grpSp>
      <p:sp>
        <p:nvSpPr>
          <p:cNvPr id="8" name="Rectangle 2"/>
          <p:cNvSpPr txBox="1">
            <a:spLocks noChangeArrowheads="1"/>
          </p:cNvSpPr>
          <p:nvPr/>
        </p:nvSpPr>
        <p:spPr>
          <a:xfrm>
            <a:off x="4189442" y="291974"/>
            <a:ext cx="3242709"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rgbClr val="800000"/>
                </a:solidFill>
                <a:latin typeface="微软雅黑" panose="020B0503020204020204" pitchFamily="34" charset="-122"/>
                <a:ea typeface="微软雅黑" panose="020B0503020204020204" pitchFamily="34" charset="-122"/>
              </a:rPr>
              <a:t>函数式程序结构</a:t>
            </a:r>
          </a:p>
        </p:txBody>
      </p:sp>
    </p:spTree>
    <p:extLst>
      <p:ext uri="{BB962C8B-B14F-4D97-AF65-F5344CB8AC3E}">
        <p14:creationId xmlns:p14="http://schemas.microsoft.com/office/powerpoint/2010/main" val="2387557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3333">
                                            <p:txEl>
                                              <p:pRg st="0" end="0"/>
                                            </p:txEl>
                                          </p:spTgt>
                                        </p:tgtEl>
                                        <p:attrNameLst>
                                          <p:attrName>style.visibility</p:attrName>
                                        </p:attrNameLst>
                                      </p:cBhvr>
                                      <p:to>
                                        <p:strVal val="visible"/>
                                      </p:to>
                                    </p:set>
                                    <p:animEffect transition="in" filter="wipe(left)">
                                      <p:cBhvr>
                                        <p:cTn id="7" dur="500"/>
                                        <p:tgtEl>
                                          <p:spTgt spid="4833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484358" name="Rectangle 6"/>
          <p:cNvSpPr>
            <a:spLocks noChangeArrowheads="1"/>
          </p:cNvSpPr>
          <p:nvPr/>
        </p:nvSpPr>
        <p:spPr bwMode="auto">
          <a:xfrm>
            <a:off x="1479550" y="672300"/>
            <a:ext cx="9727166" cy="20621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200000"/>
              </a:lnSpc>
              <a:buClr>
                <a:schemeClr val="accent1"/>
              </a:buClr>
              <a:buSzPct val="60000"/>
              <a:buFont typeface="Wingdings" pitchFamily="2" charset="2"/>
              <a:buNone/>
            </a:pPr>
            <a:r>
              <a:rPr lang="zh-CN" altLang="en-US" sz="3200" b="1" dirty="0">
                <a:latin typeface="Arial" charset="0"/>
              </a:rPr>
              <a:t>　　从用户角度来看，</a:t>
            </a:r>
            <a:r>
              <a:rPr lang="en-US" altLang="zh-CN" sz="3200" b="1" dirty="0">
                <a:latin typeface="Arial" charset="0"/>
              </a:rPr>
              <a:t>C</a:t>
            </a:r>
            <a:r>
              <a:rPr lang="zh-CN" altLang="en-US" sz="3200" b="1" dirty="0">
                <a:latin typeface="Arial" charset="0"/>
              </a:rPr>
              <a:t>函数可分为主函数、库函数、用户自定义函数。</a:t>
            </a:r>
          </a:p>
        </p:txBody>
      </p:sp>
      <p:sp>
        <p:nvSpPr>
          <p:cNvPr id="484359" name="Rectangle 7"/>
          <p:cNvSpPr>
            <a:spLocks noChangeArrowheads="1"/>
          </p:cNvSpPr>
          <p:nvPr/>
        </p:nvSpPr>
        <p:spPr bwMode="auto">
          <a:xfrm>
            <a:off x="7878432" y="1019038"/>
            <a:ext cx="16160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dirty="0">
                <a:solidFill>
                  <a:srgbClr val="C00000"/>
                </a:solidFill>
                <a:latin typeface="Arial" charset="0"/>
              </a:rPr>
              <a:t>主函数</a:t>
            </a:r>
          </a:p>
        </p:txBody>
      </p:sp>
      <p:sp>
        <p:nvSpPr>
          <p:cNvPr id="484360" name="Rectangle 8"/>
          <p:cNvSpPr>
            <a:spLocks noChangeArrowheads="1"/>
          </p:cNvSpPr>
          <p:nvPr/>
        </p:nvSpPr>
        <p:spPr bwMode="auto">
          <a:xfrm>
            <a:off x="9490037" y="1019038"/>
            <a:ext cx="1657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dirty="0">
                <a:solidFill>
                  <a:srgbClr val="C00000"/>
                </a:solidFill>
                <a:latin typeface="Arial" charset="0"/>
              </a:rPr>
              <a:t>库函数</a:t>
            </a:r>
          </a:p>
        </p:txBody>
      </p:sp>
      <p:sp>
        <p:nvSpPr>
          <p:cNvPr id="484361" name="Rectangle 9"/>
          <p:cNvSpPr>
            <a:spLocks noChangeArrowheads="1"/>
          </p:cNvSpPr>
          <p:nvPr/>
        </p:nvSpPr>
        <p:spPr bwMode="auto">
          <a:xfrm>
            <a:off x="1468917" y="1991728"/>
            <a:ext cx="315195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dirty="0">
                <a:solidFill>
                  <a:srgbClr val="C00000"/>
                </a:solidFill>
                <a:latin typeface="Arial" charset="0"/>
              </a:rPr>
              <a:t>用户自定义函数</a:t>
            </a:r>
          </a:p>
        </p:txBody>
      </p:sp>
      <p:grpSp>
        <p:nvGrpSpPr>
          <p:cNvPr id="11" name="组合 10">
            <a:extLst>
              <a:ext uri="{FF2B5EF4-FFF2-40B4-BE49-F238E27FC236}">
                <a16:creationId xmlns:a16="http://schemas.microsoft.com/office/drawing/2014/main" id="{4C1FCF8B-5387-45CC-8C0A-ACCB877E1E7B}"/>
              </a:ext>
            </a:extLst>
          </p:cNvPr>
          <p:cNvGrpSpPr/>
          <p:nvPr/>
        </p:nvGrpSpPr>
        <p:grpSpPr>
          <a:xfrm>
            <a:off x="0" y="114299"/>
            <a:ext cx="12192000" cy="932769"/>
            <a:chOff x="0" y="114299"/>
            <a:chExt cx="12192000" cy="932769"/>
          </a:xfrm>
        </p:grpSpPr>
        <p:sp>
          <p:nvSpPr>
            <p:cNvPr id="13" name="矩形 12">
              <a:extLst>
                <a:ext uri="{FF2B5EF4-FFF2-40B4-BE49-F238E27FC236}">
                  <a16:creationId xmlns:a16="http://schemas.microsoft.com/office/drawing/2014/main" id="{4440B330-CB8C-430A-B8A8-101438B2DC8E}"/>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87AFCE72-DA68-46FB-8775-E576D550C46F}"/>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D63A41E-1273-4584-9BDB-14CA621CDEA8}"/>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18EBEEC8-F257-4FF6-A17D-1AB207F61A22}"/>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5432C31F-22A4-4490-9053-4B26D5D65106}"/>
                </a:ext>
              </a:extLst>
            </p:cNvPr>
            <p:cNvPicPr>
              <a:picLocks noChangeAspect="1"/>
            </p:cNvPicPr>
            <p:nvPr/>
          </p:nvPicPr>
          <p:blipFill>
            <a:blip r:embed="rId4"/>
            <a:stretch>
              <a:fillRect/>
            </a:stretch>
          </p:blipFill>
          <p:spPr>
            <a:xfrm>
              <a:off x="4056711" y="114299"/>
              <a:ext cx="4078577" cy="932769"/>
            </a:xfrm>
            <a:prstGeom prst="rect">
              <a:avLst/>
            </a:prstGeom>
          </p:spPr>
        </p:pic>
      </p:grpSp>
      <p:sp>
        <p:nvSpPr>
          <p:cNvPr id="484357" name="Rectangle 5"/>
          <p:cNvSpPr>
            <a:spLocks noChangeArrowheads="1"/>
          </p:cNvSpPr>
          <p:nvPr/>
        </p:nvSpPr>
        <p:spPr bwMode="auto">
          <a:xfrm>
            <a:off x="4301760" y="170380"/>
            <a:ext cx="3505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lnSpc>
                <a:spcPct val="125000"/>
              </a:lnSpc>
              <a:spcBef>
                <a:spcPct val="20000"/>
              </a:spcBef>
              <a:buClr>
                <a:schemeClr val="hlink"/>
              </a:buClr>
            </a:pPr>
            <a:r>
              <a:rPr lang="zh-CN" altLang="en-US" sz="3200" b="1" dirty="0">
                <a:solidFill>
                  <a:schemeClr val="accent1">
                    <a:lumMod val="50000"/>
                  </a:schemeClr>
                </a:solidFill>
                <a:latin typeface="Arial" charset="0"/>
              </a:rPr>
              <a:t>三种类型的函数</a:t>
            </a:r>
          </a:p>
        </p:txBody>
      </p:sp>
      <p:sp>
        <p:nvSpPr>
          <p:cNvPr id="18" name="日期占位符 1">
            <a:extLst>
              <a:ext uri="{FF2B5EF4-FFF2-40B4-BE49-F238E27FC236}">
                <a16:creationId xmlns:a16="http://schemas.microsoft.com/office/drawing/2014/main" id="{70796138-2522-4D2F-931F-112BE9E01731}"/>
              </a:ext>
            </a:extLst>
          </p:cNvPr>
          <p:cNvSpPr txBox="1">
            <a:spLocks/>
          </p:cNvSpPr>
          <p:nvPr/>
        </p:nvSpPr>
        <p:spPr>
          <a:xfrm>
            <a:off x="352425" y="6478588"/>
            <a:ext cx="2289175" cy="268287"/>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85BDB22-8D49-4362-B53A-2D138A357098}" type="datetime1">
              <a:rPr lang="zh-CN" altLang="en-US" smtClean="0"/>
              <a:pPr>
                <a:defRPr/>
              </a:pPr>
              <a:t>2024/12/2</a:t>
            </a:fld>
            <a:endParaRPr lang="en-US" altLang="zh-CN"/>
          </a:p>
        </p:txBody>
      </p:sp>
      <p:graphicFrame>
        <p:nvGraphicFramePr>
          <p:cNvPr id="19" name="Object 6">
            <a:extLst>
              <a:ext uri="{FF2B5EF4-FFF2-40B4-BE49-F238E27FC236}">
                <a16:creationId xmlns:a16="http://schemas.microsoft.com/office/drawing/2014/main" id="{84D13749-E129-488A-90B0-9E6E6E394CFB}"/>
              </a:ext>
            </a:extLst>
          </p:cNvPr>
          <p:cNvGraphicFramePr>
            <a:graphicFrameLocks noChangeAspect="1"/>
          </p:cNvGraphicFramePr>
          <p:nvPr>
            <p:extLst>
              <p:ext uri="{D42A27DB-BD31-4B8C-83A1-F6EECF244321}">
                <p14:modId xmlns:p14="http://schemas.microsoft.com/office/powerpoint/2010/main" val="979423772"/>
              </p:ext>
            </p:extLst>
          </p:nvPr>
        </p:nvGraphicFramePr>
        <p:xfrm>
          <a:off x="4765675" y="1970831"/>
          <a:ext cx="6823990" cy="4607014"/>
        </p:xfrm>
        <a:graphic>
          <a:graphicData uri="http://schemas.openxmlformats.org/presentationml/2006/ole">
            <mc:AlternateContent xmlns:mc="http://schemas.openxmlformats.org/markup-compatibility/2006">
              <mc:Choice xmlns:v="urn:schemas-microsoft-com:vml" Requires="v">
                <p:oleObj spid="_x0000_s1330" r:id="rId5" imgW="1933333" imgH="1181265" progId="Paint.Picture">
                  <p:embed/>
                </p:oleObj>
              </mc:Choice>
              <mc:Fallback>
                <p:oleObj r:id="rId5" imgW="1933333" imgH="1181265" progId="Paint.Picture">
                  <p:embed/>
                  <p:pic>
                    <p:nvPicPr>
                      <p:cNvPr id="253958" name="Object 6">
                        <a:extLst>
                          <a:ext uri="{FF2B5EF4-FFF2-40B4-BE49-F238E27FC236}">
                            <a16:creationId xmlns:a16="http://schemas.microsoft.com/office/drawing/2014/main" id="{F445CDA6-22CD-4B91-8238-B3B52551F8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5675" y="1970831"/>
                        <a:ext cx="6823990" cy="4607014"/>
                      </a:xfrm>
                      <a:prstGeom prst="rect">
                        <a:avLst/>
                      </a:prstGeom>
                      <a:noFill/>
                      <a:ln>
                        <a:noFill/>
                      </a:ln>
                    </p:spPr>
                  </p:pic>
                </p:oleObj>
              </mc:Fallback>
            </mc:AlternateContent>
          </a:graphicData>
        </a:graphic>
      </p:graphicFrame>
      <p:sp>
        <p:nvSpPr>
          <p:cNvPr id="20" name="AutoShape 7">
            <a:extLst>
              <a:ext uri="{FF2B5EF4-FFF2-40B4-BE49-F238E27FC236}">
                <a16:creationId xmlns:a16="http://schemas.microsoft.com/office/drawing/2014/main" id="{05530685-F198-4D7B-8564-E176A2B9C976}"/>
              </a:ext>
            </a:extLst>
          </p:cNvPr>
          <p:cNvSpPr>
            <a:spLocks noChangeArrowheads="1"/>
          </p:cNvSpPr>
          <p:nvPr/>
        </p:nvSpPr>
        <p:spPr bwMode="auto">
          <a:xfrm>
            <a:off x="352425" y="2905599"/>
            <a:ext cx="4032250" cy="720725"/>
          </a:xfrm>
          <a:prstGeom prst="wedgeRectCallout">
            <a:avLst>
              <a:gd name="adj1" fmla="val 76006"/>
              <a:gd name="adj2" fmla="val 108512"/>
            </a:avLst>
          </a:prstGeom>
          <a:solidFill>
            <a:srgbClr val="FFFF00"/>
          </a:solidFill>
          <a:ln w="38100">
            <a:solidFill>
              <a:srgbClr val="FF00FF"/>
            </a:solidFill>
            <a:miter lim="800000"/>
            <a:headEnd/>
            <a:tailEnd/>
          </a:ln>
        </p:spPr>
        <p:txBody>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algn="ctr" eaLnBrk="1" hangingPunct="1">
              <a:spcBef>
                <a:spcPct val="0"/>
              </a:spcBef>
            </a:pPr>
            <a:r>
              <a:rPr lang="zh-CN" altLang="en-US"/>
              <a:t>不带参数的函数调用</a:t>
            </a:r>
          </a:p>
        </p:txBody>
      </p:sp>
      <p:sp>
        <p:nvSpPr>
          <p:cNvPr id="21" name="Line 8">
            <a:extLst>
              <a:ext uri="{FF2B5EF4-FFF2-40B4-BE49-F238E27FC236}">
                <a16:creationId xmlns:a16="http://schemas.microsoft.com/office/drawing/2014/main" id="{234E0154-9B73-46CC-A95D-DAC102727128}"/>
              </a:ext>
            </a:extLst>
          </p:cNvPr>
          <p:cNvSpPr>
            <a:spLocks noChangeShapeType="1"/>
          </p:cNvSpPr>
          <p:nvPr/>
        </p:nvSpPr>
        <p:spPr bwMode="auto">
          <a:xfrm flipV="1">
            <a:off x="5678636" y="4695678"/>
            <a:ext cx="4539252" cy="1586"/>
          </a:xfrm>
          <a:prstGeom prst="line">
            <a:avLst/>
          </a:prstGeom>
          <a:noFill/>
          <a:ln w="508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22" name="直接连接符 21">
            <a:extLst>
              <a:ext uri="{FF2B5EF4-FFF2-40B4-BE49-F238E27FC236}">
                <a16:creationId xmlns:a16="http://schemas.microsoft.com/office/drawing/2014/main" id="{23650CCC-33B9-4666-826B-8ECF222DC895}"/>
              </a:ext>
            </a:extLst>
          </p:cNvPr>
          <p:cNvCxnSpPr>
            <a:cxnSpLocks noChangeShapeType="1"/>
          </p:cNvCxnSpPr>
          <p:nvPr/>
        </p:nvCxnSpPr>
        <p:spPr bwMode="auto">
          <a:xfrm>
            <a:off x="5678636" y="4274338"/>
            <a:ext cx="2143125"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sp>
        <p:nvSpPr>
          <p:cNvPr id="23" name="AutoShape 7">
            <a:extLst>
              <a:ext uri="{FF2B5EF4-FFF2-40B4-BE49-F238E27FC236}">
                <a16:creationId xmlns:a16="http://schemas.microsoft.com/office/drawing/2014/main" id="{7F7FE702-B9EE-434D-AE4D-49C63AFD95F2}"/>
              </a:ext>
            </a:extLst>
          </p:cNvPr>
          <p:cNvSpPr>
            <a:spLocks noChangeArrowheads="1"/>
          </p:cNvSpPr>
          <p:nvPr/>
        </p:nvSpPr>
        <p:spPr bwMode="auto">
          <a:xfrm>
            <a:off x="658812" y="5264066"/>
            <a:ext cx="3571875" cy="720725"/>
          </a:xfrm>
          <a:prstGeom prst="wedgeRectCallout">
            <a:avLst>
              <a:gd name="adj1" fmla="val 81387"/>
              <a:gd name="adj2" fmla="val -148019"/>
            </a:avLst>
          </a:prstGeom>
          <a:solidFill>
            <a:srgbClr val="FFFF00"/>
          </a:solidFill>
          <a:ln w="38100">
            <a:solidFill>
              <a:srgbClr val="FF00FF"/>
            </a:solidFill>
            <a:miter lim="800000"/>
            <a:headEnd/>
            <a:tailEnd/>
          </a:ln>
        </p:spPr>
        <p:txBody>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algn="ctr" eaLnBrk="1" hangingPunct="1">
              <a:spcBef>
                <a:spcPct val="0"/>
              </a:spcBef>
            </a:pPr>
            <a:r>
              <a:rPr lang="zh-CN" altLang="en-US"/>
              <a:t>带参数的函数调用</a:t>
            </a:r>
          </a:p>
        </p:txBody>
      </p:sp>
    </p:spTree>
    <p:extLst>
      <p:ext uri="{BB962C8B-B14F-4D97-AF65-F5344CB8AC3E}">
        <p14:creationId xmlns:p14="http://schemas.microsoft.com/office/powerpoint/2010/main" val="7410257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4357"/>
                                        </p:tgtEl>
                                        <p:attrNameLst>
                                          <p:attrName>style.visibility</p:attrName>
                                        </p:attrNameLst>
                                      </p:cBhvr>
                                      <p:to>
                                        <p:strVal val="visible"/>
                                      </p:to>
                                    </p:set>
                                    <p:animEffect transition="in" filter="wipe(left)">
                                      <p:cBhvr>
                                        <p:cTn id="7" dur="500"/>
                                        <p:tgtEl>
                                          <p:spTgt spid="4843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4358">
                                            <p:txEl>
                                              <p:pRg st="0" end="0"/>
                                            </p:txEl>
                                          </p:spTgt>
                                        </p:tgtEl>
                                        <p:attrNameLst>
                                          <p:attrName>style.visibility</p:attrName>
                                        </p:attrNameLst>
                                      </p:cBhvr>
                                      <p:to>
                                        <p:strVal val="visible"/>
                                      </p:to>
                                    </p:set>
                                    <p:animEffect transition="in" filter="wipe(left)">
                                      <p:cBhvr>
                                        <p:cTn id="12" dur="500"/>
                                        <p:tgtEl>
                                          <p:spTgt spid="48435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4359"/>
                                        </p:tgtEl>
                                        <p:attrNameLst>
                                          <p:attrName>style.visibility</p:attrName>
                                        </p:attrNameLst>
                                      </p:cBhvr>
                                      <p:to>
                                        <p:strVal val="visible"/>
                                      </p:to>
                                    </p:set>
                                    <p:animEffect transition="in" filter="dissolve">
                                      <p:cBhvr>
                                        <p:cTn id="17" dur="500"/>
                                        <p:tgtEl>
                                          <p:spTgt spid="4843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84360"/>
                                        </p:tgtEl>
                                        <p:attrNameLst>
                                          <p:attrName>style.visibility</p:attrName>
                                        </p:attrNameLst>
                                      </p:cBhvr>
                                      <p:to>
                                        <p:strVal val="visible"/>
                                      </p:to>
                                    </p:set>
                                    <p:animEffect transition="in" filter="dissolve">
                                      <p:cBhvr>
                                        <p:cTn id="22" dur="500"/>
                                        <p:tgtEl>
                                          <p:spTgt spid="4843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84361"/>
                                        </p:tgtEl>
                                        <p:attrNameLst>
                                          <p:attrName>style.visibility</p:attrName>
                                        </p:attrNameLst>
                                      </p:cBhvr>
                                      <p:to>
                                        <p:strVal val="visible"/>
                                      </p:to>
                                    </p:set>
                                    <p:animEffect transition="in" filter="dissolve">
                                      <p:cBhvr>
                                        <p:cTn id="27" dur="500"/>
                                        <p:tgtEl>
                                          <p:spTgt spid="4843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mph" presetSubtype="2" fill="hold" grpId="1" nodeType="clickEffect">
                                  <p:stCondLst>
                                    <p:cond delay="0"/>
                                  </p:stCondLst>
                                  <p:childTnLst>
                                    <p:animClr clrSpc="rgb" dir="cw">
                                      <p:cBhvr override="childStyle">
                                        <p:cTn id="31" dur="2000" fill="hold"/>
                                        <p:tgtEl>
                                          <p:spTgt spid="484361"/>
                                        </p:tgtEl>
                                        <p:attrNameLst>
                                          <p:attrName>style.color</p:attrName>
                                        </p:attrNameLst>
                                      </p:cBhvr>
                                      <p:to>
                                        <a:srgbClr val="0000F0"/>
                                      </p:to>
                                    </p:animClr>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linds(horizontal)">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blinds(horizontal)">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linds(horizontal)">
                                      <p:cBhvr>
                                        <p:cTn id="46" dur="50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blinds(horizontal)">
                                      <p:cBhvr>
                                        <p:cTn id="51" dur="500"/>
                                        <p:tgtEl>
                                          <p:spTgt spid="21"/>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blinds(horizontal)">
                                      <p:cBhvr>
                                        <p:cTn id="5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8" grpId="0" build="p" autoUpdateAnimBg="0"/>
      <p:bldP spid="484359" grpId="0" autoUpdateAnimBg="0"/>
      <p:bldP spid="484360" grpId="0" autoUpdateAnimBg="0"/>
      <p:bldP spid="484361" grpId="0"/>
      <p:bldP spid="484361" grpId="1"/>
      <p:bldP spid="484357" grpId="0" autoUpdateAnimBg="0"/>
      <p:bldP spid="20"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84D450B-AC96-4972-94AF-56A1D6E9325E}"/>
              </a:ext>
            </a:extLst>
          </p:cNvPr>
          <p:cNvGrpSpPr/>
          <p:nvPr/>
        </p:nvGrpSpPr>
        <p:grpSpPr>
          <a:xfrm>
            <a:off x="0" y="114299"/>
            <a:ext cx="12192000" cy="932769"/>
            <a:chOff x="0" y="114299"/>
            <a:chExt cx="12192000" cy="932769"/>
          </a:xfrm>
        </p:grpSpPr>
        <p:sp>
          <p:nvSpPr>
            <p:cNvPr id="3" name="矩形 2">
              <a:extLst>
                <a:ext uri="{FF2B5EF4-FFF2-40B4-BE49-F238E27FC236}">
                  <a16:creationId xmlns:a16="http://schemas.microsoft.com/office/drawing/2014/main" id="{1AE519C2-497B-4D9E-B99A-7AA22610B951}"/>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BEC5AC46-E0E9-4B7F-B7BF-CDA21DECCB92}"/>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965F63F0-C268-4E32-BE3C-7CDC9427B6EC}"/>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1BE1D536-5B2B-42EF-9A79-25FB584E73D3}"/>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47C25B38-9693-434B-A94C-E90CA6D1B974}"/>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8" name="Rectangle 5">
            <a:extLst>
              <a:ext uri="{FF2B5EF4-FFF2-40B4-BE49-F238E27FC236}">
                <a16:creationId xmlns:a16="http://schemas.microsoft.com/office/drawing/2014/main" id="{B98679FF-B5FC-44F2-B720-FFAC08F76564}"/>
              </a:ext>
            </a:extLst>
          </p:cNvPr>
          <p:cNvSpPr>
            <a:spLocks noChangeArrowheads="1"/>
          </p:cNvSpPr>
          <p:nvPr/>
        </p:nvSpPr>
        <p:spPr bwMode="auto">
          <a:xfrm>
            <a:off x="4187460" y="170380"/>
            <a:ext cx="373734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lnSpc>
                <a:spcPct val="125000"/>
              </a:lnSpc>
              <a:spcBef>
                <a:spcPct val="20000"/>
              </a:spcBef>
              <a:buClr>
                <a:schemeClr val="hlink"/>
              </a:buClr>
            </a:pPr>
            <a:r>
              <a:rPr lang="zh-CN" altLang="en-US" sz="3200" b="1" dirty="0">
                <a:solidFill>
                  <a:schemeClr val="accent1">
                    <a:lumMod val="50000"/>
                  </a:schemeClr>
                </a:solidFill>
                <a:latin typeface="Arial" charset="0"/>
              </a:rPr>
              <a:t>三种类型的函数</a:t>
            </a:r>
            <a:r>
              <a:rPr lang="en-US" altLang="zh-CN" sz="3200" b="1" dirty="0">
                <a:solidFill>
                  <a:schemeClr val="accent1">
                    <a:lumMod val="50000"/>
                  </a:schemeClr>
                </a:solidFill>
                <a:latin typeface="Arial" charset="0"/>
              </a:rPr>
              <a:t>-</a:t>
            </a:r>
            <a:r>
              <a:rPr lang="zh-CN" altLang="en-US" sz="3200" b="1" dirty="0">
                <a:solidFill>
                  <a:schemeClr val="accent1">
                    <a:lumMod val="50000"/>
                  </a:schemeClr>
                </a:solidFill>
                <a:latin typeface="Arial" charset="0"/>
              </a:rPr>
              <a:t>续</a:t>
            </a:r>
          </a:p>
        </p:txBody>
      </p:sp>
      <p:sp>
        <p:nvSpPr>
          <p:cNvPr id="9" name="Rectangle 1026">
            <a:extLst>
              <a:ext uri="{FF2B5EF4-FFF2-40B4-BE49-F238E27FC236}">
                <a16:creationId xmlns:a16="http://schemas.microsoft.com/office/drawing/2014/main" id="{4C2D1660-A35F-45B0-8C55-5279B57D3508}"/>
              </a:ext>
            </a:extLst>
          </p:cNvPr>
          <p:cNvSpPr>
            <a:spLocks noChangeArrowheads="1"/>
          </p:cNvSpPr>
          <p:nvPr/>
        </p:nvSpPr>
        <p:spPr bwMode="auto">
          <a:xfrm>
            <a:off x="629204" y="969625"/>
            <a:ext cx="7934325" cy="1954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sz="2800" dirty="0">
                <a:ea typeface="+mj-ea"/>
                <a:cs typeface="Times New Roman" panose="02020603050405020304" pitchFamily="18" charset="0"/>
              </a:rPr>
              <a:t>【</a:t>
            </a:r>
            <a:r>
              <a:rPr lang="zh-CN" altLang="en-US" sz="2800" dirty="0">
                <a:ea typeface="+mj-ea"/>
                <a:cs typeface="Times New Roman" panose="02020603050405020304" pitchFamily="18" charset="0"/>
              </a:rPr>
              <a:t>例</a:t>
            </a:r>
            <a:r>
              <a:rPr lang="en-US" altLang="zh-CN" sz="2800" dirty="0">
                <a:ea typeface="+mj-ea"/>
                <a:cs typeface="Times New Roman" panose="02020603050405020304" pitchFamily="18" charset="0"/>
              </a:rPr>
              <a:t>】</a:t>
            </a:r>
            <a:r>
              <a:rPr lang="zh-CN" altLang="en-US" sz="2800" dirty="0">
                <a:ea typeface="+mj-ea"/>
                <a:cs typeface="Times New Roman" panose="02020603050405020304" pitchFamily="18" charset="0"/>
              </a:rPr>
              <a:t>给出如下两个函数：</a:t>
            </a:r>
          </a:p>
          <a:p>
            <a:pPr eaLnBrk="1" hangingPunct="1">
              <a:lnSpc>
                <a:spcPct val="150000"/>
              </a:lnSpc>
              <a:spcBef>
                <a:spcPct val="0"/>
              </a:spcBef>
            </a:pPr>
            <a:r>
              <a:rPr lang="zh-CN" altLang="en-US" sz="2800" dirty="0">
                <a:ea typeface="+mj-ea"/>
                <a:cs typeface="Times New Roman" panose="02020603050405020304" pitchFamily="18" charset="0"/>
              </a:rPr>
              <a:t> </a:t>
            </a:r>
            <a:r>
              <a:rPr lang="en-US" altLang="zh-CN" sz="2800" dirty="0" err="1">
                <a:ea typeface="+mj-ea"/>
                <a:cs typeface="Times New Roman" panose="02020603050405020304" pitchFamily="18" charset="0"/>
              </a:rPr>
              <a:t>printstar</a:t>
            </a:r>
            <a:r>
              <a:rPr lang="zh-CN" altLang="en-US" sz="2800" dirty="0">
                <a:ea typeface="+mj-ea"/>
                <a:cs typeface="Times New Roman" panose="02020603050405020304" pitchFamily="18" charset="0"/>
              </a:rPr>
              <a:t>（） </a:t>
            </a:r>
          </a:p>
          <a:p>
            <a:pPr eaLnBrk="1" hangingPunct="1">
              <a:lnSpc>
                <a:spcPct val="150000"/>
              </a:lnSpc>
              <a:spcBef>
                <a:spcPct val="0"/>
              </a:spcBef>
            </a:pPr>
            <a:r>
              <a:rPr lang="zh-CN" altLang="en-US" sz="2800" dirty="0">
                <a:ea typeface="+mj-ea"/>
                <a:cs typeface="Times New Roman" panose="02020603050405020304" pitchFamily="18" charset="0"/>
              </a:rPr>
              <a:t>    </a:t>
            </a:r>
            <a:r>
              <a:rPr lang="en-US" altLang="zh-CN" sz="2800" dirty="0">
                <a:ea typeface="+mj-ea"/>
                <a:cs typeface="Times New Roman" panose="02020603050405020304" pitchFamily="18" charset="0"/>
              </a:rPr>
              <a:t>{  </a:t>
            </a:r>
            <a:r>
              <a:rPr lang="en-US" altLang="zh-CN" sz="2800" dirty="0" err="1">
                <a:ea typeface="+mj-ea"/>
                <a:cs typeface="Times New Roman" panose="02020603050405020304" pitchFamily="18" charset="0"/>
              </a:rPr>
              <a:t>printf</a:t>
            </a:r>
            <a:r>
              <a:rPr lang="zh-CN" altLang="en-US" sz="2800" dirty="0">
                <a:ea typeface="+mj-ea"/>
                <a:cs typeface="Times New Roman" panose="02020603050405020304" pitchFamily="18" charset="0"/>
              </a:rPr>
              <a:t>（“*</a:t>
            </a:r>
            <a:r>
              <a:rPr lang="en-US" altLang="zh-CN" sz="2800" dirty="0">
                <a:ea typeface="+mj-ea"/>
                <a:cs typeface="Times New Roman" panose="02020603050405020304" pitchFamily="18" charset="0"/>
              </a:rPr>
              <a:t>*</a:t>
            </a:r>
            <a:r>
              <a:rPr lang="zh-CN" altLang="en-US" sz="2800" dirty="0">
                <a:ea typeface="+mj-ea"/>
                <a:cs typeface="Times New Roman" panose="02020603050405020304" pitchFamily="18" charset="0"/>
              </a:rPr>
              <a:t>******** ＼</a:t>
            </a:r>
            <a:r>
              <a:rPr lang="en-US" altLang="zh-CN" sz="2800" dirty="0">
                <a:ea typeface="+mj-ea"/>
                <a:cs typeface="Times New Roman" panose="02020603050405020304" pitchFamily="18" charset="0"/>
              </a:rPr>
              <a:t>n</a:t>
            </a:r>
            <a:r>
              <a:rPr lang="zh-CN" altLang="en-US" sz="2800" dirty="0">
                <a:ea typeface="+mj-ea"/>
                <a:cs typeface="Times New Roman" panose="02020603050405020304" pitchFamily="18" charset="0"/>
              </a:rPr>
              <a:t>＂）；</a:t>
            </a:r>
            <a:r>
              <a:rPr lang="en-US" altLang="zh-CN" sz="2800" dirty="0">
                <a:ea typeface="+mj-ea"/>
                <a:cs typeface="Times New Roman" panose="02020603050405020304" pitchFamily="18" charset="0"/>
              </a:rPr>
              <a:t>}</a:t>
            </a:r>
          </a:p>
        </p:txBody>
      </p:sp>
      <p:sp>
        <p:nvSpPr>
          <p:cNvPr id="10" name="Rectangle 1028">
            <a:extLst>
              <a:ext uri="{FF2B5EF4-FFF2-40B4-BE49-F238E27FC236}">
                <a16:creationId xmlns:a16="http://schemas.microsoft.com/office/drawing/2014/main" id="{64471A51-DFD0-43DE-B8D5-D0801E448850}"/>
              </a:ext>
            </a:extLst>
          </p:cNvPr>
          <p:cNvSpPr>
            <a:spLocks noChangeArrowheads="1"/>
          </p:cNvSpPr>
          <p:nvPr/>
        </p:nvSpPr>
        <p:spPr bwMode="auto">
          <a:xfrm>
            <a:off x="702229" y="2807988"/>
            <a:ext cx="8258175" cy="130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sz="2800" dirty="0">
                <a:ea typeface="+mj-ea"/>
                <a:cs typeface="Times New Roman" panose="02020603050405020304" pitchFamily="18" charset="0"/>
              </a:rPr>
              <a:t>print-message</a:t>
            </a:r>
            <a:r>
              <a:rPr lang="zh-CN" altLang="en-US" sz="2800" dirty="0">
                <a:ea typeface="+mj-ea"/>
                <a:cs typeface="Times New Roman" panose="02020603050405020304" pitchFamily="18" charset="0"/>
              </a:rPr>
              <a:t>（）</a:t>
            </a:r>
          </a:p>
          <a:p>
            <a:pPr eaLnBrk="1" hangingPunct="1">
              <a:lnSpc>
                <a:spcPct val="150000"/>
              </a:lnSpc>
              <a:spcBef>
                <a:spcPct val="0"/>
              </a:spcBef>
            </a:pPr>
            <a:r>
              <a:rPr lang="zh-CN" altLang="en-US" sz="2800" dirty="0">
                <a:ea typeface="+mj-ea"/>
                <a:cs typeface="Times New Roman" panose="02020603050405020304" pitchFamily="18" charset="0"/>
              </a:rPr>
              <a:t>   </a:t>
            </a:r>
            <a:r>
              <a:rPr lang="en-US" altLang="zh-CN" sz="2800" dirty="0">
                <a:ea typeface="+mj-ea"/>
                <a:cs typeface="Times New Roman" panose="02020603050405020304" pitchFamily="18" charset="0"/>
              </a:rPr>
              <a:t>{  </a:t>
            </a:r>
            <a:r>
              <a:rPr lang="en-US" altLang="zh-CN" sz="2800" dirty="0" err="1">
                <a:ea typeface="+mj-ea"/>
                <a:cs typeface="Times New Roman" panose="02020603050405020304" pitchFamily="18" charset="0"/>
              </a:rPr>
              <a:t>printf</a:t>
            </a:r>
            <a:r>
              <a:rPr lang="zh-CN" altLang="en-US" sz="2800" dirty="0">
                <a:ea typeface="+mj-ea"/>
                <a:cs typeface="Times New Roman" panose="02020603050405020304" pitchFamily="18" charset="0"/>
              </a:rPr>
              <a:t>（</a:t>
            </a:r>
            <a:r>
              <a:rPr lang="en-US" altLang="zh-CN" sz="2800" dirty="0">
                <a:ea typeface="+mj-ea"/>
                <a:cs typeface="Times New Roman" panose="02020603050405020304" pitchFamily="18" charset="0"/>
              </a:rPr>
              <a:t>"How do you do!</a:t>
            </a:r>
            <a:r>
              <a:rPr lang="zh-CN" altLang="en-US" sz="2800" dirty="0">
                <a:ea typeface="+mj-ea"/>
                <a:cs typeface="Times New Roman" panose="02020603050405020304" pitchFamily="18" charset="0"/>
              </a:rPr>
              <a:t>＼</a:t>
            </a:r>
            <a:r>
              <a:rPr lang="en-US" altLang="zh-CN" sz="2800" dirty="0">
                <a:ea typeface="+mj-ea"/>
                <a:cs typeface="Times New Roman" panose="02020603050405020304" pitchFamily="18" charset="0"/>
              </a:rPr>
              <a:t>n"</a:t>
            </a:r>
            <a:r>
              <a:rPr lang="zh-CN" altLang="en-US" sz="2800" dirty="0">
                <a:ea typeface="+mj-ea"/>
                <a:cs typeface="Times New Roman" panose="02020603050405020304" pitchFamily="18" charset="0"/>
              </a:rPr>
              <a:t>）；</a:t>
            </a:r>
            <a:r>
              <a:rPr lang="en-US" altLang="zh-CN" sz="2800" dirty="0">
                <a:ea typeface="+mj-ea"/>
                <a:cs typeface="Times New Roman" panose="02020603050405020304" pitchFamily="18" charset="0"/>
              </a:rPr>
              <a:t>}</a:t>
            </a:r>
          </a:p>
        </p:txBody>
      </p:sp>
      <p:sp>
        <p:nvSpPr>
          <p:cNvPr id="11" name="Rectangle 1029">
            <a:extLst>
              <a:ext uri="{FF2B5EF4-FFF2-40B4-BE49-F238E27FC236}">
                <a16:creationId xmlns:a16="http://schemas.microsoft.com/office/drawing/2014/main" id="{10C2FB8A-3B7C-416C-96A4-8F52B78F4C78}"/>
              </a:ext>
            </a:extLst>
          </p:cNvPr>
          <p:cNvSpPr>
            <a:spLocks noChangeArrowheads="1"/>
          </p:cNvSpPr>
          <p:nvPr/>
        </p:nvSpPr>
        <p:spPr bwMode="auto">
          <a:xfrm>
            <a:off x="709617" y="3956111"/>
            <a:ext cx="8712200" cy="2601290"/>
          </a:xfrm>
          <a:prstGeom prst="rect">
            <a:avLst/>
          </a:prstGeom>
          <a:noFill/>
          <a:ln w="9525">
            <a:noFill/>
            <a:miter lim="800000"/>
          </a:ln>
          <a:effectLst/>
        </p:spPr>
        <p:txBody>
          <a:bodyPr>
            <a:spAutoFit/>
          </a:bodyPr>
          <a:lstStyle/>
          <a:p>
            <a:pPr>
              <a:lnSpc>
                <a:spcPct val="150000"/>
              </a:lnSpc>
              <a:spcBef>
                <a:spcPct val="0"/>
              </a:spcBef>
              <a:buFontTx/>
              <a:buNone/>
              <a:defRPr/>
            </a:pPr>
            <a:r>
              <a:rPr kumimoji="1" lang="en-US" altLang="zh-CN" sz="2800" b="1" dirty="0">
                <a:latin typeface="Times New Roman" panose="02020603050405020304" pitchFamily="18" charset="0"/>
                <a:ea typeface="+mj-ea"/>
                <a:cs typeface="Times New Roman" panose="02020603050405020304" pitchFamily="18" charset="0"/>
              </a:rPr>
              <a:t>main</a:t>
            </a:r>
            <a:r>
              <a:rPr kumimoji="1" lang="zh-CN" altLang="en-US" sz="2800" b="1" dirty="0">
                <a:latin typeface="Times New Roman" panose="02020603050405020304" pitchFamily="18" charset="0"/>
                <a:ea typeface="+mj-ea"/>
                <a:cs typeface="Times New Roman" panose="02020603050405020304" pitchFamily="18" charset="0"/>
              </a:rPr>
              <a:t>（）</a:t>
            </a:r>
          </a:p>
          <a:p>
            <a:pPr>
              <a:lnSpc>
                <a:spcPct val="150000"/>
              </a:lnSpc>
              <a:spcBef>
                <a:spcPct val="0"/>
              </a:spcBef>
              <a:buFontTx/>
              <a:buNone/>
              <a:defRPr/>
            </a:pPr>
            <a:r>
              <a:rPr kumimoji="1" lang="zh-CN" altLang="en-US" sz="2800" b="1" dirty="0">
                <a:solidFill>
                  <a:srgbClr val="FF9900"/>
                </a:solidFill>
                <a:latin typeface="Times New Roman" panose="02020603050405020304" pitchFamily="18" charset="0"/>
                <a:ea typeface="+mj-ea"/>
                <a:cs typeface="Times New Roman" panose="02020603050405020304" pitchFamily="18" charset="0"/>
              </a:rPr>
              <a:t> </a:t>
            </a:r>
            <a:r>
              <a:rPr kumimoji="1" lang="en-US" altLang="zh-CN" sz="2800" b="1" dirty="0">
                <a:latin typeface="Times New Roman" panose="02020603050405020304" pitchFamily="18" charset="0"/>
                <a:ea typeface="+mj-ea"/>
                <a:cs typeface="Times New Roman" panose="02020603050405020304" pitchFamily="18" charset="0"/>
              </a:rPr>
              <a:t>{  </a:t>
            </a:r>
            <a:r>
              <a:rPr kumimoji="1" lang="en-US" altLang="zh-CN" sz="2800" b="1" dirty="0" err="1">
                <a:latin typeface="Times New Roman" panose="02020603050405020304" pitchFamily="18" charset="0"/>
                <a:ea typeface="+mj-ea"/>
                <a:cs typeface="Times New Roman" panose="02020603050405020304" pitchFamily="18" charset="0"/>
              </a:rPr>
              <a:t>printstar</a:t>
            </a:r>
            <a:r>
              <a:rPr kumimoji="1" lang="zh-CN" altLang="en-US" sz="2800" b="1" dirty="0">
                <a:latin typeface="Times New Roman" panose="02020603050405020304" pitchFamily="18" charset="0"/>
                <a:ea typeface="+mj-ea"/>
                <a:cs typeface="Times New Roman" panose="02020603050405020304" pitchFamily="18" charset="0"/>
              </a:rPr>
              <a:t>（）；</a:t>
            </a:r>
            <a:r>
              <a:rPr kumimoji="1" lang="zh-CN" altLang="en-US" sz="2800" b="1" dirty="0">
                <a:solidFill>
                  <a:schemeClr val="hlink"/>
                </a:solidFill>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rPr>
              <a:t>／* 调用</a:t>
            </a:r>
            <a:r>
              <a:rPr kumimoji="1" lang="en-US" altLang="zh-CN" sz="2800" b="1" dirty="0" err="1">
                <a:solidFill>
                  <a:schemeClr val="hlink"/>
                </a:solidFill>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rPr>
              <a:t>printstar</a:t>
            </a:r>
            <a:r>
              <a:rPr kumimoji="1" lang="zh-CN" altLang="en-US" sz="2800" b="1" dirty="0">
                <a:solidFill>
                  <a:schemeClr val="hlink"/>
                </a:solidFill>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rPr>
              <a:t>函数 *／</a:t>
            </a:r>
          </a:p>
          <a:p>
            <a:pPr>
              <a:lnSpc>
                <a:spcPct val="150000"/>
              </a:lnSpc>
              <a:spcBef>
                <a:spcPct val="0"/>
              </a:spcBef>
              <a:buFontTx/>
              <a:buNone/>
              <a:defRPr/>
            </a:pPr>
            <a:r>
              <a:rPr kumimoji="1" lang="zh-CN" altLang="en-US" sz="2800" b="1" dirty="0">
                <a:solidFill>
                  <a:schemeClr val="tx1"/>
                </a:solidFill>
                <a:latin typeface="Times New Roman" panose="02020603050405020304" pitchFamily="18" charset="0"/>
                <a:ea typeface="+mj-ea"/>
                <a:cs typeface="Times New Roman" panose="02020603050405020304" pitchFamily="18" charset="0"/>
              </a:rPr>
              <a:t>   </a:t>
            </a:r>
            <a:r>
              <a:rPr kumimoji="1" lang="en-US" altLang="zh-CN" sz="2800" b="1" dirty="0">
                <a:latin typeface="Times New Roman" panose="02020603050405020304" pitchFamily="18" charset="0"/>
                <a:ea typeface="+mj-ea"/>
                <a:cs typeface="Times New Roman" panose="02020603050405020304" pitchFamily="18" charset="0"/>
              </a:rPr>
              <a:t>print-message</a:t>
            </a:r>
            <a:r>
              <a:rPr kumimoji="1" lang="zh-CN" altLang="en-US" sz="2800" b="1" dirty="0">
                <a:latin typeface="Times New Roman" panose="02020603050405020304" pitchFamily="18" charset="0"/>
                <a:ea typeface="+mj-ea"/>
                <a:cs typeface="Times New Roman" panose="02020603050405020304" pitchFamily="18" charset="0"/>
              </a:rPr>
              <a:t>（）；</a:t>
            </a:r>
            <a:r>
              <a:rPr kumimoji="1" lang="zh-CN" altLang="en-US" sz="2800" b="1" dirty="0">
                <a:solidFill>
                  <a:schemeClr val="hlink"/>
                </a:solidFill>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rPr>
              <a:t>／* 调用</a:t>
            </a:r>
            <a:r>
              <a:rPr kumimoji="1" lang="en-US" altLang="zh-CN" sz="2800" b="1" dirty="0">
                <a:solidFill>
                  <a:schemeClr val="hlink"/>
                </a:solidFill>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rPr>
              <a:t>print message  */</a:t>
            </a:r>
          </a:p>
          <a:p>
            <a:pPr>
              <a:lnSpc>
                <a:spcPct val="150000"/>
              </a:lnSpc>
              <a:spcBef>
                <a:spcPct val="0"/>
              </a:spcBef>
              <a:buFontTx/>
              <a:buNone/>
              <a:defRPr/>
            </a:pPr>
            <a:r>
              <a:rPr kumimoji="1" lang="en-US" altLang="zh-CN" sz="2800" b="1" dirty="0">
                <a:solidFill>
                  <a:schemeClr val="tx1"/>
                </a:solidFill>
                <a:latin typeface="Times New Roman" panose="02020603050405020304" pitchFamily="18" charset="0"/>
                <a:ea typeface="+mj-ea"/>
                <a:cs typeface="Times New Roman" panose="02020603050405020304" pitchFamily="18" charset="0"/>
              </a:rPr>
              <a:t>      </a:t>
            </a:r>
            <a:r>
              <a:rPr kumimoji="1" lang="en-US" altLang="zh-CN" sz="2800" b="1" dirty="0" err="1">
                <a:latin typeface="Times New Roman" panose="02020603050405020304" pitchFamily="18" charset="0"/>
                <a:ea typeface="+mj-ea"/>
                <a:cs typeface="Times New Roman" panose="02020603050405020304" pitchFamily="18" charset="0"/>
              </a:rPr>
              <a:t>printstar</a:t>
            </a:r>
            <a:r>
              <a:rPr kumimoji="1" lang="zh-CN" altLang="en-US" sz="2800" b="1" dirty="0">
                <a:latin typeface="Times New Roman" panose="02020603050405020304" pitchFamily="18" charset="0"/>
                <a:ea typeface="+mj-ea"/>
                <a:cs typeface="Times New Roman" panose="02020603050405020304" pitchFamily="18" charset="0"/>
              </a:rPr>
              <a:t>（）；</a:t>
            </a:r>
            <a:r>
              <a:rPr kumimoji="1" lang="zh-CN" altLang="en-US" sz="2800" b="1" dirty="0">
                <a:solidFill>
                  <a:schemeClr val="hlink"/>
                </a:solidFill>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rPr>
              <a:t>／* 调用</a:t>
            </a:r>
            <a:r>
              <a:rPr kumimoji="1" lang="en-US" altLang="zh-CN" sz="2800" b="1" dirty="0" err="1">
                <a:solidFill>
                  <a:schemeClr val="hlink"/>
                </a:solidFill>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rPr>
              <a:t>printstar</a:t>
            </a:r>
            <a:r>
              <a:rPr kumimoji="1" lang="zh-CN" altLang="en-US" sz="2800" b="1" dirty="0">
                <a:solidFill>
                  <a:schemeClr val="hlink"/>
                </a:solidFill>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rPr>
              <a:t>函数 *／</a:t>
            </a:r>
            <a:r>
              <a:rPr kumimoji="1" lang="en-US" altLang="zh-CN" sz="2800" b="1" dirty="0">
                <a:latin typeface="Times New Roman" panose="02020603050405020304" pitchFamily="18" charset="0"/>
                <a:ea typeface="+mj-ea"/>
                <a:cs typeface="Times New Roman" panose="02020603050405020304" pitchFamily="18" charset="0"/>
              </a:rPr>
              <a:t>}</a:t>
            </a:r>
          </a:p>
        </p:txBody>
      </p:sp>
      <p:sp>
        <p:nvSpPr>
          <p:cNvPr id="12" name="Rectangle 7">
            <a:extLst>
              <a:ext uri="{FF2B5EF4-FFF2-40B4-BE49-F238E27FC236}">
                <a16:creationId xmlns:a16="http://schemas.microsoft.com/office/drawing/2014/main" id="{0AA4658A-824B-4C80-AE7C-189467100F79}"/>
              </a:ext>
            </a:extLst>
          </p:cNvPr>
          <p:cNvSpPr>
            <a:spLocks noChangeArrowheads="1"/>
          </p:cNvSpPr>
          <p:nvPr/>
        </p:nvSpPr>
        <p:spPr bwMode="auto">
          <a:xfrm>
            <a:off x="7324398" y="1708883"/>
            <a:ext cx="461596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pPr>
            <a:r>
              <a:rPr lang="zh-CN" altLang="en-US" sz="2800" dirty="0"/>
              <a:t>运行情况如下：</a:t>
            </a:r>
          </a:p>
          <a:p>
            <a:pPr eaLnBrk="1" hangingPunct="1">
              <a:lnSpc>
                <a:spcPct val="150000"/>
              </a:lnSpc>
            </a:pPr>
            <a:r>
              <a:rPr lang="zh-CN" altLang="en-US" sz="2800" dirty="0"/>
              <a:t>                * * * * * * * * * *</a:t>
            </a:r>
          </a:p>
          <a:p>
            <a:pPr eaLnBrk="1" hangingPunct="1">
              <a:lnSpc>
                <a:spcPct val="150000"/>
              </a:lnSpc>
            </a:pPr>
            <a:r>
              <a:rPr lang="zh-CN" altLang="en-US" sz="2800" dirty="0"/>
              <a:t>                </a:t>
            </a:r>
            <a:r>
              <a:rPr lang="en-US" altLang="zh-CN" sz="2800" dirty="0"/>
              <a:t>How do you do!</a:t>
            </a:r>
          </a:p>
          <a:p>
            <a:pPr eaLnBrk="1" hangingPunct="1">
              <a:lnSpc>
                <a:spcPct val="150000"/>
              </a:lnSpc>
            </a:pPr>
            <a:r>
              <a:rPr lang="en-US" altLang="zh-CN" sz="2800" dirty="0"/>
              <a:t>                * * * * * * </a:t>
            </a:r>
            <a:r>
              <a:rPr lang="zh-CN" altLang="en-US" sz="2800" dirty="0"/>
              <a:t>* * * *</a:t>
            </a:r>
            <a:endParaRPr lang="en-US" altLang="zh-CN" sz="2800" dirty="0"/>
          </a:p>
        </p:txBody>
      </p:sp>
    </p:spTree>
    <p:extLst>
      <p:ext uri="{BB962C8B-B14F-4D97-AF65-F5344CB8AC3E}">
        <p14:creationId xmlns:p14="http://schemas.microsoft.com/office/powerpoint/2010/main" val="156215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linds(horizontal)">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blinds(horizontal)">
                                      <p:cBhvr>
                                        <p:cTn id="17" dur="5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blinds(horizontal)">
                                      <p:cBhvr>
                                        <p:cTn id="22" dur="500"/>
                                        <p:tgtEl>
                                          <p:spTgt spid="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blinds(horizontal)">
                                      <p:cBhvr>
                                        <p:cTn id="27" dur="500"/>
                                        <p:tgtEl>
                                          <p:spTgt spid="1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0">
                                            <p:txEl>
                                              <p:pRg st="1" end="1"/>
                                            </p:txEl>
                                          </p:spTgt>
                                        </p:tgtEl>
                                        <p:attrNameLst>
                                          <p:attrName>style.visibility</p:attrName>
                                        </p:attrNameLst>
                                      </p:cBhvr>
                                      <p:to>
                                        <p:strVal val="visible"/>
                                      </p:to>
                                    </p:set>
                                    <p:animEffect transition="in" filter="blinds(horizontal)">
                                      <p:cBhvr>
                                        <p:cTn id="32" dur="500"/>
                                        <p:tgtEl>
                                          <p:spTgt spid="10">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blinds(horizontal)">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1">
                                            <p:txEl>
                                              <p:pRg st="1" end="1"/>
                                            </p:txEl>
                                          </p:spTgt>
                                        </p:tgtEl>
                                        <p:attrNameLst>
                                          <p:attrName>style.visibility</p:attrName>
                                        </p:attrNameLst>
                                      </p:cBhvr>
                                      <p:to>
                                        <p:strVal val="visible"/>
                                      </p:to>
                                    </p:set>
                                    <p:animEffect transition="in" filter="blinds(horizontal)">
                                      <p:cBhvr>
                                        <p:cTn id="42" dur="500"/>
                                        <p:tgtEl>
                                          <p:spTgt spid="11">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1">
                                            <p:txEl>
                                              <p:pRg st="2" end="2"/>
                                            </p:txEl>
                                          </p:spTgt>
                                        </p:tgtEl>
                                        <p:attrNameLst>
                                          <p:attrName>style.visibility</p:attrName>
                                        </p:attrNameLst>
                                      </p:cBhvr>
                                      <p:to>
                                        <p:strVal val="visible"/>
                                      </p:to>
                                    </p:set>
                                    <p:animEffect transition="in" filter="blinds(horizontal)">
                                      <p:cBhvr>
                                        <p:cTn id="47" dur="500"/>
                                        <p:tgtEl>
                                          <p:spTgt spid="11">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1">
                                            <p:txEl>
                                              <p:pRg st="3" end="3"/>
                                            </p:txEl>
                                          </p:spTgt>
                                        </p:tgtEl>
                                        <p:attrNameLst>
                                          <p:attrName>style.visibility</p:attrName>
                                        </p:attrNameLst>
                                      </p:cBhvr>
                                      <p:to>
                                        <p:strVal val="visible"/>
                                      </p:to>
                                    </p:set>
                                    <p:animEffect transition="in" filter="blinds(horizontal)">
                                      <p:cBhvr>
                                        <p:cTn id="52" dur="500"/>
                                        <p:tgtEl>
                                          <p:spTgt spid="11">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2">
                                            <p:txEl>
                                              <p:pRg st="0" end="0"/>
                                            </p:txEl>
                                          </p:spTgt>
                                        </p:tgtEl>
                                        <p:attrNameLst>
                                          <p:attrName>style.visibility</p:attrName>
                                        </p:attrNameLst>
                                      </p:cBhvr>
                                      <p:to>
                                        <p:strVal val="visible"/>
                                      </p:to>
                                    </p:set>
                                    <p:animEffect transition="in" filter="blinds(horizontal)">
                                      <p:cBhvr>
                                        <p:cTn id="57" dur="500"/>
                                        <p:tgtEl>
                                          <p:spTgt spid="12">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
                                            <p:txEl>
                                              <p:pRg st="1" end="1"/>
                                            </p:txEl>
                                          </p:spTgt>
                                        </p:tgtEl>
                                        <p:attrNameLst>
                                          <p:attrName>style.visibility</p:attrName>
                                        </p:attrNameLst>
                                      </p:cBhvr>
                                      <p:to>
                                        <p:strVal val="visible"/>
                                      </p:to>
                                    </p:set>
                                    <p:animEffect transition="in" filter="blinds(horizontal)">
                                      <p:cBhvr>
                                        <p:cTn id="62" dur="500"/>
                                        <p:tgtEl>
                                          <p:spTgt spid="12">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2">
                                            <p:txEl>
                                              <p:pRg st="2" end="2"/>
                                            </p:txEl>
                                          </p:spTgt>
                                        </p:tgtEl>
                                        <p:attrNameLst>
                                          <p:attrName>style.visibility</p:attrName>
                                        </p:attrNameLst>
                                      </p:cBhvr>
                                      <p:to>
                                        <p:strVal val="visible"/>
                                      </p:to>
                                    </p:set>
                                    <p:animEffect transition="in" filter="blinds(horizontal)">
                                      <p:cBhvr>
                                        <p:cTn id="67" dur="500"/>
                                        <p:tgtEl>
                                          <p:spTgt spid="12">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2">
                                            <p:txEl>
                                              <p:pRg st="3" end="3"/>
                                            </p:txEl>
                                          </p:spTgt>
                                        </p:tgtEl>
                                        <p:attrNameLst>
                                          <p:attrName>style.visibility</p:attrName>
                                        </p:attrNameLst>
                                      </p:cBhvr>
                                      <p:to>
                                        <p:strVal val="visible"/>
                                      </p:to>
                                    </p:set>
                                    <p:animEffect transition="in" filter="blinds(horizontal)">
                                      <p:cBhvr>
                                        <p:cTn id="72"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485383" name="Rectangle 7"/>
          <p:cNvSpPr>
            <a:spLocks noChangeArrowheads="1"/>
          </p:cNvSpPr>
          <p:nvPr/>
        </p:nvSpPr>
        <p:spPr bwMode="auto">
          <a:xfrm>
            <a:off x="921489" y="1103299"/>
            <a:ext cx="10030046" cy="1569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buClr>
                <a:schemeClr val="accent1"/>
              </a:buClr>
              <a:buSzPct val="60000"/>
              <a:buFont typeface="Wingdings" pitchFamily="2" charset="2"/>
              <a:buNone/>
            </a:pPr>
            <a:r>
              <a:rPr lang="zh-CN" altLang="en-US" sz="3200" b="1" dirty="0">
                <a:latin typeface="Arial" charset="0"/>
              </a:rPr>
              <a:t>　　程序的执行由主函数开始，然后调用其它函数，最终返回主函数结束。</a:t>
            </a:r>
          </a:p>
        </p:txBody>
      </p:sp>
      <p:sp>
        <p:nvSpPr>
          <p:cNvPr id="485384" name="Rectangle 8"/>
          <p:cNvSpPr>
            <a:spLocks noChangeArrowheads="1"/>
          </p:cNvSpPr>
          <p:nvPr/>
        </p:nvSpPr>
        <p:spPr bwMode="auto">
          <a:xfrm>
            <a:off x="4184278" y="1103299"/>
            <a:ext cx="2717115"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3200" b="1" dirty="0">
                <a:solidFill>
                  <a:srgbClr val="C00000"/>
                </a:solidFill>
              </a:rPr>
              <a:t>主函数开始</a:t>
            </a:r>
          </a:p>
        </p:txBody>
      </p:sp>
      <p:sp>
        <p:nvSpPr>
          <p:cNvPr id="485385" name="Rectangle 9"/>
          <p:cNvSpPr>
            <a:spLocks noChangeArrowheads="1"/>
          </p:cNvSpPr>
          <p:nvPr/>
        </p:nvSpPr>
        <p:spPr bwMode="auto">
          <a:xfrm>
            <a:off x="2156784" y="1826863"/>
            <a:ext cx="2717115"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3200" b="1" dirty="0">
                <a:solidFill>
                  <a:srgbClr val="C00000"/>
                </a:solidFill>
              </a:rPr>
              <a:t>主函数结束</a:t>
            </a:r>
          </a:p>
        </p:txBody>
      </p:sp>
      <p:grpSp>
        <p:nvGrpSpPr>
          <p:cNvPr id="11" name="组合 10">
            <a:extLst>
              <a:ext uri="{FF2B5EF4-FFF2-40B4-BE49-F238E27FC236}">
                <a16:creationId xmlns:a16="http://schemas.microsoft.com/office/drawing/2014/main" id="{F27633A4-BB9D-4275-B4BD-D3B73E259894}"/>
              </a:ext>
            </a:extLst>
          </p:cNvPr>
          <p:cNvGrpSpPr/>
          <p:nvPr/>
        </p:nvGrpSpPr>
        <p:grpSpPr>
          <a:xfrm>
            <a:off x="0" y="114299"/>
            <a:ext cx="12192000" cy="932769"/>
            <a:chOff x="0" y="114299"/>
            <a:chExt cx="12192000" cy="932769"/>
          </a:xfrm>
        </p:grpSpPr>
        <p:sp>
          <p:nvSpPr>
            <p:cNvPr id="13" name="矩形 12">
              <a:extLst>
                <a:ext uri="{FF2B5EF4-FFF2-40B4-BE49-F238E27FC236}">
                  <a16:creationId xmlns:a16="http://schemas.microsoft.com/office/drawing/2014/main" id="{2519EFA4-E1D6-4D04-98EE-AA8193087247}"/>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F4DC68B-F24F-4680-B067-3D10B3848AD8}"/>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ABA20FA3-794B-4451-8A94-D0E573EC7BB6}"/>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9D9F60FD-DD26-461E-A519-57E204F5A448}"/>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EC39A6FB-7FD0-46B9-83F8-3FB08FA7C476}"/>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485382" name="Rectangle 6"/>
          <p:cNvSpPr>
            <a:spLocks noChangeArrowheads="1"/>
          </p:cNvSpPr>
          <p:nvPr/>
        </p:nvSpPr>
        <p:spPr bwMode="auto">
          <a:xfrm>
            <a:off x="4612537" y="170530"/>
            <a:ext cx="30550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25000"/>
              </a:lnSpc>
              <a:spcBef>
                <a:spcPct val="20000"/>
              </a:spcBef>
              <a:buClr>
                <a:schemeClr val="hlink"/>
              </a:buClr>
            </a:pPr>
            <a:r>
              <a:rPr lang="zh-CN" altLang="en-US" sz="3200" b="1" dirty="0">
                <a:solidFill>
                  <a:schemeClr val="accent1">
                    <a:lumMod val="50000"/>
                  </a:schemeClr>
                </a:solidFill>
                <a:latin typeface="Arial" charset="0"/>
              </a:rPr>
              <a:t>函数的执行顺序</a:t>
            </a:r>
          </a:p>
        </p:txBody>
      </p:sp>
      <p:grpSp>
        <p:nvGrpSpPr>
          <p:cNvPr id="18" name="组合 17">
            <a:extLst>
              <a:ext uri="{FF2B5EF4-FFF2-40B4-BE49-F238E27FC236}">
                <a16:creationId xmlns:a16="http://schemas.microsoft.com/office/drawing/2014/main" id="{5FE08293-69EA-452B-A177-EF753B734138}"/>
              </a:ext>
            </a:extLst>
          </p:cNvPr>
          <p:cNvGrpSpPr/>
          <p:nvPr/>
        </p:nvGrpSpPr>
        <p:grpSpPr>
          <a:xfrm>
            <a:off x="3540" y="3137497"/>
            <a:ext cx="12192000" cy="932769"/>
            <a:chOff x="0" y="114299"/>
            <a:chExt cx="12192000" cy="932769"/>
          </a:xfrm>
        </p:grpSpPr>
        <p:sp>
          <p:nvSpPr>
            <p:cNvPr id="19" name="矩形 18">
              <a:extLst>
                <a:ext uri="{FF2B5EF4-FFF2-40B4-BE49-F238E27FC236}">
                  <a16:creationId xmlns:a16="http://schemas.microsoft.com/office/drawing/2014/main" id="{BA4A30FE-8605-430A-9DA1-F5E4738441A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70FBECAA-4165-46A7-AF0B-DAF42445B327}"/>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559157A-BBCA-490D-ABB7-9FFC66F61677}"/>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00D3FFB-DA7F-46EE-8A28-C3EAAC1256CD}"/>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25DF6F38-60FE-409B-A539-CF04AFA62D06}"/>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24" name="Rectangle 6">
            <a:extLst>
              <a:ext uri="{FF2B5EF4-FFF2-40B4-BE49-F238E27FC236}">
                <a16:creationId xmlns:a16="http://schemas.microsoft.com/office/drawing/2014/main" id="{B8A14BAB-0A95-4B19-8176-388791936B61}"/>
              </a:ext>
            </a:extLst>
          </p:cNvPr>
          <p:cNvSpPr>
            <a:spLocks noChangeArrowheads="1"/>
          </p:cNvSpPr>
          <p:nvPr/>
        </p:nvSpPr>
        <p:spPr bwMode="auto">
          <a:xfrm>
            <a:off x="4318362" y="3193728"/>
            <a:ext cx="3519211"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125000"/>
              </a:lnSpc>
              <a:spcBef>
                <a:spcPct val="20000"/>
              </a:spcBef>
              <a:buClr>
                <a:schemeClr val="hlink"/>
              </a:buClr>
            </a:pPr>
            <a:r>
              <a:rPr lang="zh-CN" altLang="en-US" sz="3200" b="1" dirty="0">
                <a:solidFill>
                  <a:schemeClr val="accent1">
                    <a:lumMod val="50000"/>
                  </a:schemeClr>
                </a:solidFill>
                <a:latin typeface="Arial" charset="0"/>
              </a:rPr>
              <a:t>函数式的结构特点</a:t>
            </a:r>
          </a:p>
        </p:txBody>
      </p:sp>
      <p:sp>
        <p:nvSpPr>
          <p:cNvPr id="25" name="Rectangle 8">
            <a:extLst>
              <a:ext uri="{FF2B5EF4-FFF2-40B4-BE49-F238E27FC236}">
                <a16:creationId xmlns:a16="http://schemas.microsoft.com/office/drawing/2014/main" id="{60C70F04-9102-4FF8-9246-B0202857911E}"/>
              </a:ext>
            </a:extLst>
          </p:cNvPr>
          <p:cNvSpPr>
            <a:spLocks noChangeArrowheads="1"/>
          </p:cNvSpPr>
          <p:nvPr/>
        </p:nvSpPr>
        <p:spPr bwMode="auto">
          <a:xfrm>
            <a:off x="1687033" y="3875564"/>
            <a:ext cx="8350101" cy="220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nSpc>
                <a:spcPct val="200000"/>
              </a:lnSpc>
              <a:buClr>
                <a:schemeClr val="hlink"/>
              </a:buClr>
              <a:buFont typeface="Wingdings" pitchFamily="2" charset="2"/>
              <a:buAutoNum type="arabicPeriod"/>
            </a:pPr>
            <a:r>
              <a:rPr lang="zh-CN" altLang="en-US" sz="3200" b="1" dirty="0">
                <a:latin typeface="Times New Roman" panose="02020603050405020304" pitchFamily="18" charset="0"/>
                <a:cs typeface="Times New Roman" panose="02020603050405020304" pitchFamily="18" charset="0"/>
              </a:rPr>
              <a:t>程序层次清晰、易于检查错误；</a:t>
            </a:r>
          </a:p>
          <a:p>
            <a:pPr marL="609600" indent="-609600">
              <a:lnSpc>
                <a:spcPct val="200000"/>
              </a:lnSpc>
              <a:buClr>
                <a:schemeClr val="hlink"/>
              </a:buClr>
              <a:buFont typeface="Wingdings" pitchFamily="2" charset="2"/>
              <a:buAutoNum type="arabicPeriod"/>
            </a:pPr>
            <a:r>
              <a:rPr lang="zh-CN" altLang="en-US" sz="3200" b="1" dirty="0">
                <a:latin typeface="Times New Roman" panose="02020603050405020304" pitchFamily="18" charset="0"/>
                <a:cs typeface="Times New Roman" panose="02020603050405020304" pitchFamily="18" charset="0"/>
              </a:rPr>
              <a:t>便于分工编写、节省程序代码；</a:t>
            </a:r>
          </a:p>
        </p:txBody>
      </p:sp>
    </p:spTree>
    <p:extLst>
      <p:ext uri="{BB962C8B-B14F-4D97-AF65-F5344CB8AC3E}">
        <p14:creationId xmlns:p14="http://schemas.microsoft.com/office/powerpoint/2010/main" val="3558001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5382">
                                            <p:txEl>
                                              <p:pRg st="0" end="0"/>
                                            </p:txEl>
                                          </p:spTgt>
                                        </p:tgtEl>
                                        <p:attrNameLst>
                                          <p:attrName>style.visibility</p:attrName>
                                        </p:attrNameLst>
                                      </p:cBhvr>
                                      <p:to>
                                        <p:strVal val="visible"/>
                                      </p:to>
                                    </p:set>
                                    <p:animEffect transition="in" filter="wipe(left)">
                                      <p:cBhvr>
                                        <p:cTn id="7" dur="500"/>
                                        <p:tgtEl>
                                          <p:spTgt spid="4853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5383">
                                            <p:txEl>
                                              <p:pRg st="0" end="0"/>
                                            </p:txEl>
                                          </p:spTgt>
                                        </p:tgtEl>
                                        <p:attrNameLst>
                                          <p:attrName>style.visibility</p:attrName>
                                        </p:attrNameLst>
                                      </p:cBhvr>
                                      <p:to>
                                        <p:strVal val="visible"/>
                                      </p:to>
                                    </p:set>
                                    <p:animEffect transition="in" filter="wipe(left)">
                                      <p:cBhvr>
                                        <p:cTn id="12" dur="500"/>
                                        <p:tgtEl>
                                          <p:spTgt spid="48538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5384"/>
                                        </p:tgtEl>
                                        <p:attrNameLst>
                                          <p:attrName>style.visibility</p:attrName>
                                        </p:attrNameLst>
                                      </p:cBhvr>
                                      <p:to>
                                        <p:strVal val="visible"/>
                                      </p:to>
                                    </p:set>
                                    <p:animEffect transition="in" filter="dissolve">
                                      <p:cBhvr>
                                        <p:cTn id="17" dur="500"/>
                                        <p:tgtEl>
                                          <p:spTgt spid="4853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85385"/>
                                        </p:tgtEl>
                                        <p:attrNameLst>
                                          <p:attrName>style.visibility</p:attrName>
                                        </p:attrNameLst>
                                      </p:cBhvr>
                                      <p:to>
                                        <p:strVal val="visible"/>
                                      </p:to>
                                    </p:set>
                                    <p:animEffect transition="in" filter="dissolve">
                                      <p:cBhvr>
                                        <p:cTn id="22" dur="500"/>
                                        <p:tgtEl>
                                          <p:spTgt spid="48538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
                                            <p:txEl>
                                              <p:pRg st="0" end="0"/>
                                            </p:txEl>
                                          </p:spTgt>
                                        </p:tgtEl>
                                        <p:attrNameLst>
                                          <p:attrName>style.visibility</p:attrName>
                                        </p:attrNameLst>
                                      </p:cBhvr>
                                      <p:to>
                                        <p:strVal val="visible"/>
                                      </p:to>
                                    </p:set>
                                    <p:animEffect transition="in" filter="wipe(left)">
                                      <p:cBhvr>
                                        <p:cTn id="32" dur="500"/>
                                        <p:tgtEl>
                                          <p:spTgt spid="2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wipe(left)">
                                      <p:cBhvr>
                                        <p:cTn id="37" dur="500"/>
                                        <p:tgtEl>
                                          <p:spTgt spid="2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xEl>
                                              <p:pRg st="1" end="1"/>
                                            </p:txEl>
                                          </p:spTgt>
                                        </p:tgtEl>
                                        <p:attrNameLst>
                                          <p:attrName>style.visibility</p:attrName>
                                        </p:attrNameLst>
                                      </p:cBhvr>
                                      <p:to>
                                        <p:strVal val="visible"/>
                                      </p:to>
                                    </p:set>
                                    <p:animEffect transition="in" filter="wipe(left)">
                                      <p:cBhvr>
                                        <p:cTn id="42"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83" grpId="0" build="p" autoUpdateAnimBg="0"/>
      <p:bldP spid="485384" grpId="0"/>
      <p:bldP spid="485385" grpId="0"/>
      <p:bldP spid="485382" grpId="0" build="p" autoUpdateAnimBg="0"/>
      <p:bldP spid="24" grpId="0" build="p" autoUpdateAnimBg="0"/>
      <p:bldP spid="2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sp>
        <p:nvSpPr>
          <p:cNvPr id="453639" name="Text Box 7"/>
          <p:cNvSpPr txBox="1">
            <a:spLocks noChangeArrowheads="1"/>
          </p:cNvSpPr>
          <p:nvPr/>
        </p:nvSpPr>
        <p:spPr bwMode="auto">
          <a:xfrm>
            <a:off x="4654220" y="2584967"/>
            <a:ext cx="6750050" cy="3046988"/>
          </a:xfrm>
          <a:prstGeom prst="rect">
            <a:avLst/>
          </a:prstGeom>
          <a:noFill/>
          <a:ln w="38100">
            <a:solidFill>
              <a:schemeClr val="tx2">
                <a:lumMod val="60000"/>
                <a:lumOff val="40000"/>
              </a:schemeClr>
            </a:solidFill>
            <a:miter lim="800000"/>
            <a:headEnd/>
            <a:tailEnd/>
          </a:ln>
          <a:effectLst/>
        </p:spPr>
        <p:txBody>
          <a:bodyPr rIns="18000"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lnSpc>
                <a:spcPct val="150000"/>
              </a:lnSpc>
            </a:pPr>
            <a:r>
              <a:rPr lang="zh-CN" altLang="en-US" b="1" dirty="0">
                <a:latin typeface="Times New Roman" pitchFamily="18" charset="0"/>
                <a:ea typeface="+mn-ea"/>
                <a:cs typeface="Times New Roman" pitchFamily="18" charset="0"/>
              </a:rPr>
              <a:t>函数类型 函数名</a:t>
            </a:r>
            <a:r>
              <a:rPr lang="en-US" altLang="zh-CN" b="1" dirty="0">
                <a:solidFill>
                  <a:srgbClr val="C00000"/>
                </a:solidFill>
                <a:latin typeface="Times New Roman" pitchFamily="18" charset="0"/>
                <a:ea typeface="+mn-ea"/>
                <a:cs typeface="Times New Roman" pitchFamily="18" charset="0"/>
              </a:rPr>
              <a:t>([</a:t>
            </a:r>
            <a:r>
              <a:rPr lang="zh-CN" altLang="en-US" b="1" dirty="0">
                <a:solidFill>
                  <a:srgbClr val="C00000"/>
                </a:solidFill>
                <a:latin typeface="Times New Roman" pitchFamily="18" charset="0"/>
                <a:ea typeface="+mn-ea"/>
                <a:cs typeface="Times New Roman" pitchFamily="18" charset="0"/>
              </a:rPr>
              <a:t>形参</a:t>
            </a:r>
            <a:r>
              <a:rPr lang="zh-CN" altLang="en-US" b="1" dirty="0">
                <a:latin typeface="Times New Roman" pitchFamily="18" charset="0"/>
                <a:ea typeface="+mn-ea"/>
                <a:cs typeface="Times New Roman" pitchFamily="18" charset="0"/>
              </a:rPr>
              <a:t>类型说明表</a:t>
            </a:r>
            <a:r>
              <a:rPr lang="en-US" altLang="zh-CN" b="1" dirty="0">
                <a:solidFill>
                  <a:srgbClr val="C00000"/>
                </a:solidFill>
                <a:latin typeface="Times New Roman" pitchFamily="18" charset="0"/>
                <a:ea typeface="+mn-ea"/>
                <a:cs typeface="Times New Roman" pitchFamily="18" charset="0"/>
              </a:rPr>
              <a:t>])</a:t>
            </a:r>
          </a:p>
          <a:p>
            <a:pPr algn="l" eaLnBrk="0" hangingPunct="0">
              <a:lnSpc>
                <a:spcPct val="150000"/>
              </a:lnSpc>
            </a:pPr>
            <a:r>
              <a:rPr lang="en-US" altLang="zh-CN" b="1" dirty="0">
                <a:solidFill>
                  <a:srgbClr val="C00000"/>
                </a:solidFill>
                <a:latin typeface="Times New Roman" pitchFamily="18" charset="0"/>
                <a:ea typeface="+mn-ea"/>
                <a:cs typeface="Times New Roman" pitchFamily="18" charset="0"/>
              </a:rPr>
              <a:t>{</a:t>
            </a:r>
            <a:r>
              <a:rPr lang="zh-CN" altLang="en-US" b="1" dirty="0">
                <a:solidFill>
                  <a:srgbClr val="FF5555"/>
                </a:solidFill>
                <a:latin typeface="Times New Roman" pitchFamily="18" charset="0"/>
                <a:ea typeface="+mn-ea"/>
                <a:cs typeface="Times New Roman" pitchFamily="18" charset="0"/>
              </a:rPr>
              <a:t>　</a:t>
            </a:r>
            <a:r>
              <a:rPr lang="zh-CN" altLang="en-US" b="1" dirty="0">
                <a:latin typeface="Times New Roman" pitchFamily="18" charset="0"/>
                <a:ea typeface="+mn-ea"/>
                <a:cs typeface="Times New Roman" pitchFamily="18" charset="0"/>
              </a:rPr>
              <a:t>说明部分</a:t>
            </a:r>
          </a:p>
          <a:p>
            <a:pPr algn="l" eaLnBrk="0" hangingPunct="0">
              <a:lnSpc>
                <a:spcPct val="150000"/>
              </a:lnSpc>
            </a:pPr>
            <a:r>
              <a:rPr lang="zh-CN" altLang="en-US" b="1" dirty="0">
                <a:latin typeface="Times New Roman" pitchFamily="18" charset="0"/>
                <a:ea typeface="+mn-ea"/>
                <a:cs typeface="Times New Roman" pitchFamily="18" charset="0"/>
              </a:rPr>
              <a:t>      语句部分</a:t>
            </a:r>
          </a:p>
          <a:p>
            <a:pPr algn="l" eaLnBrk="0" hangingPunct="0">
              <a:lnSpc>
                <a:spcPct val="150000"/>
              </a:lnSpc>
            </a:pPr>
            <a:r>
              <a:rPr lang="en-US" altLang="zh-CN" b="1" dirty="0">
                <a:solidFill>
                  <a:srgbClr val="C00000"/>
                </a:solidFill>
                <a:latin typeface="Times New Roman" pitchFamily="18" charset="0"/>
                <a:ea typeface="+mn-ea"/>
                <a:cs typeface="Times New Roman" pitchFamily="18" charset="0"/>
              </a:rPr>
              <a:t>}</a:t>
            </a:r>
          </a:p>
        </p:txBody>
      </p:sp>
      <p:sp>
        <p:nvSpPr>
          <p:cNvPr id="453651" name="AutoShape 19"/>
          <p:cNvSpPr>
            <a:spLocks noChangeArrowheads="1"/>
          </p:cNvSpPr>
          <p:nvPr/>
        </p:nvSpPr>
        <p:spPr bwMode="auto">
          <a:xfrm>
            <a:off x="4914899" y="1047068"/>
            <a:ext cx="2362200" cy="719713"/>
          </a:xfrm>
          <a:prstGeom prst="wedgeRoundRectCallout">
            <a:avLst>
              <a:gd name="adj1" fmla="val 37665"/>
              <a:gd name="adj2" fmla="val 184265"/>
              <a:gd name="adj3" fmla="val 16667"/>
            </a:avLst>
          </a:prstGeom>
          <a:solidFill>
            <a:srgbClr val="FFFFFF"/>
          </a:solidFill>
          <a:ln w="38100">
            <a:solidFill>
              <a:schemeClr val="tx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54000" bIns="10800" anchor="ctr"/>
          <a:lstStyle/>
          <a:p>
            <a:pPr algn="l" eaLnBrk="0" hangingPunct="0"/>
            <a:r>
              <a:rPr lang="zh-CN" altLang="en-US" sz="3200" b="1">
                <a:latin typeface="Times New Roman" pitchFamily="18" charset="0"/>
                <a:cs typeface="Times New Roman" pitchFamily="18" charset="0"/>
              </a:rPr>
              <a:t>合法标识符</a:t>
            </a:r>
          </a:p>
        </p:txBody>
      </p:sp>
      <p:sp>
        <p:nvSpPr>
          <p:cNvPr id="453652" name="AutoShape 20"/>
          <p:cNvSpPr>
            <a:spLocks noChangeArrowheads="1"/>
          </p:cNvSpPr>
          <p:nvPr/>
        </p:nvSpPr>
        <p:spPr bwMode="auto">
          <a:xfrm>
            <a:off x="8029245" y="5816005"/>
            <a:ext cx="1658679" cy="747377"/>
          </a:xfrm>
          <a:prstGeom prst="wedgeRoundRectCallout">
            <a:avLst>
              <a:gd name="adj1" fmla="val -109423"/>
              <a:gd name="adj2" fmla="val -262369"/>
              <a:gd name="adj3" fmla="val 16667"/>
            </a:avLst>
          </a:prstGeom>
          <a:solidFill>
            <a:srgbClr val="FFFFFF"/>
          </a:solidFill>
          <a:ln w="38100">
            <a:solidFill>
              <a:schemeClr val="tx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algn="ctr"/>
            <a:r>
              <a:rPr lang="zh-CN" altLang="en-US" sz="3200" b="1" dirty="0">
                <a:latin typeface="Times New Roman" pitchFamily="18" charset="0"/>
                <a:cs typeface="Times New Roman" pitchFamily="18" charset="0"/>
              </a:rPr>
              <a:t>函数体</a:t>
            </a:r>
          </a:p>
        </p:txBody>
      </p:sp>
      <p:sp>
        <p:nvSpPr>
          <p:cNvPr id="453654" name="AutoShape 22"/>
          <p:cNvSpPr>
            <a:spLocks noChangeArrowheads="1"/>
          </p:cNvSpPr>
          <p:nvPr/>
        </p:nvSpPr>
        <p:spPr bwMode="auto">
          <a:xfrm>
            <a:off x="372362" y="2812816"/>
            <a:ext cx="2955628" cy="1634490"/>
          </a:xfrm>
          <a:prstGeom prst="wedgeRoundRectCallout">
            <a:avLst>
              <a:gd name="adj1" fmla="val 92209"/>
              <a:gd name="adj2" fmla="val -35352"/>
              <a:gd name="adj3" fmla="val 16667"/>
            </a:avLst>
          </a:prstGeom>
          <a:solidFill>
            <a:srgbClr val="FFFFFF"/>
          </a:solidFill>
          <a:ln w="38100">
            <a:solidFill>
              <a:schemeClr val="tx2">
                <a:lumMod val="60000"/>
                <a:lumOff val="4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p>
            <a:r>
              <a:rPr lang="zh-CN" altLang="en-US" sz="3200" b="1" dirty="0">
                <a:latin typeface="Times New Roman" pitchFamily="18" charset="0"/>
                <a:cs typeface="Times New Roman" pitchFamily="18" charset="0"/>
              </a:rPr>
              <a:t>函数返回值类型</a:t>
            </a:r>
            <a:r>
              <a:rPr lang="en-US" altLang="zh-CN" sz="3200" b="1" dirty="0">
                <a:latin typeface="Times New Roman" pitchFamily="18" charset="0"/>
                <a:cs typeface="Times New Roman" pitchFamily="18" charset="0"/>
              </a:rPr>
              <a:t>,</a:t>
            </a:r>
            <a:r>
              <a:rPr lang="zh-CN" altLang="en-US" sz="3200" b="1" dirty="0">
                <a:latin typeface="Times New Roman" pitchFamily="18" charset="0"/>
                <a:cs typeface="Times New Roman" pitchFamily="18" charset="0"/>
              </a:rPr>
              <a:t>缺省</a:t>
            </a:r>
            <a:r>
              <a:rPr lang="en-US" altLang="zh-CN" sz="3200" b="1" dirty="0" err="1">
                <a:solidFill>
                  <a:srgbClr val="C00000"/>
                </a:solidFill>
                <a:latin typeface="Times New Roman" pitchFamily="18" charset="0"/>
                <a:cs typeface="Times New Roman" pitchFamily="18" charset="0"/>
              </a:rPr>
              <a:t>int</a:t>
            </a:r>
            <a:r>
              <a:rPr lang="zh-CN" altLang="en-US" sz="3200" b="1" dirty="0">
                <a:latin typeface="Times New Roman" pitchFamily="18" charset="0"/>
                <a:cs typeface="Times New Roman" pitchFamily="18" charset="0"/>
              </a:rPr>
              <a:t>型</a:t>
            </a:r>
            <a:r>
              <a:rPr lang="en-US" altLang="zh-CN" sz="3200" b="1" dirty="0">
                <a:latin typeface="Times New Roman" pitchFamily="18" charset="0"/>
                <a:cs typeface="Times New Roman" pitchFamily="18" charset="0"/>
              </a:rPr>
              <a:t>,</a:t>
            </a:r>
            <a:r>
              <a:rPr lang="zh-CN" altLang="en-US" sz="3200" b="1" dirty="0">
                <a:latin typeface="Times New Roman" pitchFamily="18" charset="0"/>
                <a:cs typeface="Times New Roman" pitchFamily="18" charset="0"/>
              </a:rPr>
              <a:t>无返回值</a:t>
            </a:r>
            <a:r>
              <a:rPr lang="en-US" altLang="zh-CN" sz="3200" b="1" dirty="0">
                <a:solidFill>
                  <a:srgbClr val="C00000"/>
                </a:solidFill>
                <a:latin typeface="Times New Roman" pitchFamily="18" charset="0"/>
                <a:cs typeface="Times New Roman" pitchFamily="18" charset="0"/>
              </a:rPr>
              <a:t>void</a:t>
            </a:r>
            <a:r>
              <a:rPr lang="zh-CN" altLang="en-US" sz="3200" b="1" dirty="0">
                <a:latin typeface="Times New Roman" pitchFamily="18" charset="0"/>
                <a:cs typeface="Times New Roman" pitchFamily="18" charset="0"/>
              </a:rPr>
              <a:t>型</a:t>
            </a:r>
            <a:endParaRPr lang="zh-CN" altLang="en-US" b="1" dirty="0">
              <a:latin typeface="Times New Roman" pitchFamily="18" charset="0"/>
              <a:cs typeface="Times New Roman" pitchFamily="18" charset="0"/>
            </a:endParaRPr>
          </a:p>
        </p:txBody>
      </p:sp>
      <p:grpSp>
        <p:nvGrpSpPr>
          <p:cNvPr id="9" name="组合 8">
            <a:extLst>
              <a:ext uri="{FF2B5EF4-FFF2-40B4-BE49-F238E27FC236}">
                <a16:creationId xmlns:a16="http://schemas.microsoft.com/office/drawing/2014/main" id="{D36C5993-51A1-4B47-A3A7-C77F5A2255B4}"/>
              </a:ext>
            </a:extLst>
          </p:cNvPr>
          <p:cNvGrpSpPr/>
          <p:nvPr/>
        </p:nvGrpSpPr>
        <p:grpSpPr>
          <a:xfrm>
            <a:off x="0" y="114299"/>
            <a:ext cx="12192000" cy="932769"/>
            <a:chOff x="0" y="114299"/>
            <a:chExt cx="12192000" cy="932769"/>
          </a:xfrm>
        </p:grpSpPr>
        <p:sp>
          <p:nvSpPr>
            <p:cNvPr id="10" name="矩形 9">
              <a:extLst>
                <a:ext uri="{FF2B5EF4-FFF2-40B4-BE49-F238E27FC236}">
                  <a16:creationId xmlns:a16="http://schemas.microsoft.com/office/drawing/2014/main" id="{B7E9C0CE-3B4E-49D2-BD79-AC92D3BFE1A7}"/>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61F3BE4-7298-410A-AF95-470D1CD566F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90E8518-FC70-475A-B8E3-3DF7FFBBFA36}"/>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EB74CFE-78FD-4CAE-AAE9-1799ABBBDA92}"/>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9A786558-839C-4D38-A422-04E70E3F849D}"/>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8" name="Rectangle 2"/>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7.2.2</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函数的定义</a:t>
            </a:r>
          </a:p>
        </p:txBody>
      </p:sp>
    </p:spTree>
    <p:extLst>
      <p:ext uri="{BB962C8B-B14F-4D97-AF65-F5344CB8AC3E}">
        <p14:creationId xmlns:p14="http://schemas.microsoft.com/office/powerpoint/2010/main" val="11008548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3639"/>
                                        </p:tgtEl>
                                        <p:attrNameLst>
                                          <p:attrName>style.visibility</p:attrName>
                                        </p:attrNameLst>
                                      </p:cBhvr>
                                      <p:to>
                                        <p:strVal val="visible"/>
                                      </p:to>
                                    </p:set>
                                    <p:animEffect transition="in" filter="dissolve">
                                      <p:cBhvr>
                                        <p:cTn id="7" dur="500"/>
                                        <p:tgtEl>
                                          <p:spTgt spid="4536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3654"/>
                                        </p:tgtEl>
                                        <p:attrNameLst>
                                          <p:attrName>style.visibility</p:attrName>
                                        </p:attrNameLst>
                                      </p:cBhvr>
                                      <p:to>
                                        <p:strVal val="visible"/>
                                      </p:to>
                                    </p:set>
                                    <p:animEffect transition="in" filter="fade">
                                      <p:cBhvr>
                                        <p:cTn id="12" dur="500"/>
                                        <p:tgtEl>
                                          <p:spTgt spid="45365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3651"/>
                                        </p:tgtEl>
                                        <p:attrNameLst>
                                          <p:attrName>style.visibility</p:attrName>
                                        </p:attrNameLst>
                                      </p:cBhvr>
                                      <p:to>
                                        <p:strVal val="visible"/>
                                      </p:to>
                                    </p:set>
                                    <p:animEffect transition="in" filter="fade">
                                      <p:cBhvr>
                                        <p:cTn id="17" dur="500"/>
                                        <p:tgtEl>
                                          <p:spTgt spid="45365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3652"/>
                                        </p:tgtEl>
                                        <p:attrNameLst>
                                          <p:attrName>style.visibility</p:attrName>
                                        </p:attrNameLst>
                                      </p:cBhvr>
                                      <p:to>
                                        <p:strVal val="visible"/>
                                      </p:to>
                                    </p:set>
                                    <p:animEffect transition="in" filter="fade">
                                      <p:cBhvr>
                                        <p:cTn id="22" dur="500"/>
                                        <p:tgtEl>
                                          <p:spTgt spid="453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9" grpId="0" animBg="1" autoUpdateAnimBg="0"/>
      <p:bldP spid="453651" grpId="0" animBg="1"/>
      <p:bldP spid="453652" grpId="0" animBg="1"/>
      <p:bldP spid="45365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grpSp>
        <p:nvGrpSpPr>
          <p:cNvPr id="9" name="组合 8">
            <a:extLst>
              <a:ext uri="{FF2B5EF4-FFF2-40B4-BE49-F238E27FC236}">
                <a16:creationId xmlns:a16="http://schemas.microsoft.com/office/drawing/2014/main" id="{7603A315-D54C-4C6F-B73A-58693E012867}"/>
              </a:ext>
            </a:extLst>
          </p:cNvPr>
          <p:cNvGrpSpPr/>
          <p:nvPr/>
        </p:nvGrpSpPr>
        <p:grpSpPr>
          <a:xfrm>
            <a:off x="0" y="114299"/>
            <a:ext cx="12192000" cy="932769"/>
            <a:chOff x="0" y="114299"/>
            <a:chExt cx="12192000" cy="932769"/>
          </a:xfrm>
        </p:grpSpPr>
        <p:sp>
          <p:nvSpPr>
            <p:cNvPr id="10" name="矩形 9">
              <a:extLst>
                <a:ext uri="{FF2B5EF4-FFF2-40B4-BE49-F238E27FC236}">
                  <a16:creationId xmlns:a16="http://schemas.microsoft.com/office/drawing/2014/main" id="{3EF78F44-EA61-445A-9DB7-284B31B2E66C}"/>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86F66202-8019-4B5C-9441-B6706BC704B6}"/>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E316B8E6-65A8-40E9-A0BA-2CBFA5F42FEE}"/>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DCB48E6C-7148-48E9-9B0D-2BDA6351EB94}"/>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30A3F212-3AD7-4CDB-88FE-A06EE33A0F46}"/>
                </a:ext>
              </a:extLst>
            </p:cNvPr>
            <p:cNvPicPr>
              <a:picLocks noChangeAspect="1"/>
            </p:cNvPicPr>
            <p:nvPr/>
          </p:nvPicPr>
          <p:blipFill>
            <a:blip r:embed="rId4"/>
            <a:stretch>
              <a:fillRect/>
            </a:stretch>
          </p:blipFill>
          <p:spPr>
            <a:xfrm>
              <a:off x="3865325" y="114299"/>
              <a:ext cx="4449336" cy="932769"/>
            </a:xfrm>
            <a:prstGeom prst="rect">
              <a:avLst/>
            </a:prstGeom>
          </p:spPr>
        </p:pic>
      </p:grpSp>
      <p:sp>
        <p:nvSpPr>
          <p:cNvPr id="8" name="Rectangle 2"/>
          <p:cNvSpPr txBox="1">
            <a:spLocks noChangeArrowheads="1"/>
          </p:cNvSpPr>
          <p:nvPr/>
        </p:nvSpPr>
        <p:spPr>
          <a:xfrm>
            <a:off x="3970250" y="295796"/>
            <a:ext cx="4153018"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函数的例子</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a:t>
            </a:r>
            <a:r>
              <a:rPr lang="zh-CN" altLang="en-US" sz="2800" b="1" dirty="0">
                <a:solidFill>
                  <a:schemeClr val="accent1">
                    <a:lumMod val="50000"/>
                  </a:schemeClr>
                </a:solidFill>
                <a:latin typeface="Times New Roman" panose="02020603050405020304" pitchFamily="18" charset="0"/>
                <a:ea typeface="+mn-ea"/>
                <a:cs typeface="Times New Roman" panose="02020603050405020304" pitchFamily="18" charset="0"/>
              </a:rPr>
              <a:t>无值返回</a:t>
            </a:r>
            <a:endPar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endParaRPr>
          </a:p>
        </p:txBody>
      </p:sp>
      <p:sp>
        <p:nvSpPr>
          <p:cNvPr id="22" name="Text Box 10">
            <a:extLst>
              <a:ext uri="{FF2B5EF4-FFF2-40B4-BE49-F238E27FC236}">
                <a16:creationId xmlns:a16="http://schemas.microsoft.com/office/drawing/2014/main" id="{B37F2D6D-9D1C-4572-B28C-3B13D6053CEA}"/>
              </a:ext>
            </a:extLst>
          </p:cNvPr>
          <p:cNvSpPr txBox="1">
            <a:spLocks noChangeArrowheads="1"/>
          </p:cNvSpPr>
          <p:nvPr/>
        </p:nvSpPr>
        <p:spPr bwMode="auto">
          <a:xfrm>
            <a:off x="2452255" y="1249383"/>
            <a:ext cx="7275476" cy="3416320"/>
          </a:xfrm>
          <a:prstGeom prst="rect">
            <a:avLst/>
          </a:prstGeom>
          <a:noFill/>
          <a:ln w="38100">
            <a:solidFill>
              <a:schemeClr val="tx2">
                <a:lumMod val="60000"/>
                <a:lumOff val="40000"/>
              </a:schemeClr>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lnSpc>
                <a:spcPct val="150000"/>
              </a:lnSpc>
            </a:pPr>
            <a:r>
              <a:rPr lang="zh-CN" altLang="en-US" sz="3600" b="1" dirty="0">
                <a:solidFill>
                  <a:srgbClr val="C00000"/>
                </a:solidFill>
                <a:latin typeface="Times New Roman" pitchFamily="18" charset="0"/>
                <a:ea typeface="+mn-ea"/>
                <a:cs typeface="Times New Roman" pitchFamily="18" charset="0"/>
              </a:rPr>
              <a:t>例</a:t>
            </a:r>
            <a:r>
              <a:rPr lang="zh-CN" altLang="en-US" sz="3600" b="1" dirty="0">
                <a:latin typeface="Times New Roman" pitchFamily="18" charset="0"/>
                <a:ea typeface="+mn-ea"/>
                <a:cs typeface="Times New Roman" pitchFamily="18" charset="0"/>
              </a:rPr>
              <a:t> </a:t>
            </a:r>
            <a:r>
              <a:rPr lang="zh-CN" altLang="en-US" sz="3600" b="1" dirty="0">
                <a:solidFill>
                  <a:srgbClr val="000000"/>
                </a:solidFill>
                <a:latin typeface="楷体_GB2312" pitchFamily="49" charset="-122"/>
                <a:ea typeface="楷体_GB2312" pitchFamily="49" charset="-122"/>
              </a:rPr>
              <a:t>无参无返回值函数。</a:t>
            </a:r>
          </a:p>
          <a:p>
            <a:pPr algn="l" eaLnBrk="0" hangingPunct="0">
              <a:lnSpc>
                <a:spcPct val="150000"/>
              </a:lnSpc>
            </a:pPr>
            <a:r>
              <a:rPr lang="zh-CN" altLang="en-US" sz="3600" b="1" dirty="0">
                <a:solidFill>
                  <a:srgbClr val="C00000"/>
                </a:solidFill>
                <a:latin typeface="Times New Roman" pitchFamily="18" charset="0"/>
                <a:ea typeface="+mn-ea"/>
                <a:cs typeface="Times New Roman" pitchFamily="18" charset="0"/>
              </a:rPr>
              <a:t>   </a:t>
            </a:r>
            <a:r>
              <a:rPr lang="en-US" altLang="zh-CN" sz="3600" b="1" dirty="0">
                <a:solidFill>
                  <a:srgbClr val="C00000"/>
                </a:solidFill>
                <a:latin typeface="Times New Roman" pitchFamily="18" charset="0"/>
                <a:ea typeface="+mn-ea"/>
                <a:cs typeface="Times New Roman" pitchFamily="18" charset="0"/>
              </a:rPr>
              <a:t>void </a:t>
            </a:r>
            <a:r>
              <a:rPr lang="en-US" altLang="zh-CN" sz="3600" b="1" dirty="0" err="1">
                <a:latin typeface="Times New Roman" pitchFamily="18" charset="0"/>
                <a:ea typeface="+mn-ea"/>
                <a:cs typeface="Times New Roman" pitchFamily="18" charset="0"/>
              </a:rPr>
              <a:t>printstar</a:t>
            </a:r>
            <a:r>
              <a:rPr lang="en-US" altLang="zh-CN" sz="3600" b="1" dirty="0">
                <a:solidFill>
                  <a:srgbClr val="C00000"/>
                </a:solidFill>
                <a:latin typeface="Times New Roman" pitchFamily="18" charset="0"/>
                <a:ea typeface="+mn-ea"/>
                <a:cs typeface="Times New Roman" pitchFamily="18" charset="0"/>
              </a:rPr>
              <a:t>( )</a:t>
            </a:r>
          </a:p>
          <a:p>
            <a:pPr algn="l" eaLnBrk="0" hangingPunct="0">
              <a:lnSpc>
                <a:spcPct val="150000"/>
              </a:lnSpc>
            </a:pPr>
            <a:r>
              <a:rPr lang="en-US" altLang="zh-CN" sz="3600" b="1" dirty="0">
                <a:latin typeface="Times New Roman" pitchFamily="18" charset="0"/>
                <a:ea typeface="+mn-ea"/>
                <a:cs typeface="Times New Roman" pitchFamily="18" charset="0"/>
              </a:rPr>
              <a:t>      {    </a:t>
            </a:r>
            <a:r>
              <a:rPr lang="en-US" altLang="zh-CN" sz="3600" b="1" dirty="0" err="1">
                <a:latin typeface="Times New Roman" pitchFamily="18" charset="0"/>
                <a:ea typeface="+mn-ea"/>
                <a:cs typeface="Times New Roman" pitchFamily="18" charset="0"/>
              </a:rPr>
              <a:t>printf</a:t>
            </a:r>
            <a:r>
              <a:rPr lang="en-US" altLang="zh-CN" sz="3600" b="1" dirty="0">
                <a:latin typeface="Times New Roman" pitchFamily="18" charset="0"/>
                <a:ea typeface="+mn-ea"/>
                <a:cs typeface="Times New Roman" pitchFamily="18" charset="0"/>
              </a:rPr>
              <a:t>("**********\n");   </a:t>
            </a:r>
          </a:p>
          <a:p>
            <a:pPr algn="l" eaLnBrk="0" hangingPunct="0">
              <a:lnSpc>
                <a:spcPct val="150000"/>
              </a:lnSpc>
            </a:pPr>
            <a:r>
              <a:rPr lang="en-US" altLang="zh-CN" sz="3600" b="1" dirty="0">
                <a:latin typeface="Times New Roman" pitchFamily="18" charset="0"/>
                <a:ea typeface="+mn-ea"/>
                <a:cs typeface="Times New Roman" pitchFamily="18" charset="0"/>
              </a:rPr>
              <a:t>      }</a:t>
            </a:r>
          </a:p>
        </p:txBody>
      </p:sp>
    </p:spTree>
    <p:extLst>
      <p:ext uri="{BB962C8B-B14F-4D97-AF65-F5344CB8AC3E}">
        <p14:creationId xmlns:p14="http://schemas.microsoft.com/office/powerpoint/2010/main" val="236987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out)">
                                      <p:cBhvr>
                                        <p:cTn id="7" dur="500"/>
                                        <p:tgtEl>
                                          <p:spTgt spid="2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sp>
        <p:nvSpPr>
          <p:cNvPr id="489477" name="Rectangle 5"/>
          <p:cNvSpPr>
            <a:spLocks noChangeArrowheads="1"/>
          </p:cNvSpPr>
          <p:nvPr/>
        </p:nvSpPr>
        <p:spPr bwMode="auto">
          <a:xfrm>
            <a:off x="3827327" y="3845232"/>
            <a:ext cx="838200" cy="381000"/>
          </a:xfrm>
          <a:prstGeom prst="rect">
            <a:avLst/>
          </a:prstGeom>
          <a:solidFill>
            <a:srgbClr val="FF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cs typeface="Times New Roman" pitchFamily="18" charset="0"/>
            </a:endParaRPr>
          </a:p>
        </p:txBody>
      </p:sp>
      <p:grpSp>
        <p:nvGrpSpPr>
          <p:cNvPr id="9" name="组合 8">
            <a:extLst>
              <a:ext uri="{FF2B5EF4-FFF2-40B4-BE49-F238E27FC236}">
                <a16:creationId xmlns:a16="http://schemas.microsoft.com/office/drawing/2014/main" id="{7603A315-D54C-4C6F-B73A-58693E012867}"/>
              </a:ext>
            </a:extLst>
          </p:cNvPr>
          <p:cNvGrpSpPr/>
          <p:nvPr/>
        </p:nvGrpSpPr>
        <p:grpSpPr>
          <a:xfrm>
            <a:off x="0" y="114299"/>
            <a:ext cx="12192000" cy="932769"/>
            <a:chOff x="0" y="114299"/>
            <a:chExt cx="12192000" cy="932769"/>
          </a:xfrm>
        </p:grpSpPr>
        <p:sp>
          <p:nvSpPr>
            <p:cNvPr id="10" name="矩形 9">
              <a:extLst>
                <a:ext uri="{FF2B5EF4-FFF2-40B4-BE49-F238E27FC236}">
                  <a16:creationId xmlns:a16="http://schemas.microsoft.com/office/drawing/2014/main" id="{3EF78F44-EA61-445A-9DB7-284B31B2E66C}"/>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86F66202-8019-4B5C-9441-B6706BC704B6}"/>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E316B8E6-65A8-40E9-A0BA-2CBFA5F42FEE}"/>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DCB48E6C-7148-48E9-9B0D-2BDA6351EB94}"/>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30A3F212-3AD7-4CDB-88FE-A06EE33A0F46}"/>
                </a:ext>
              </a:extLst>
            </p:cNvPr>
            <p:cNvPicPr>
              <a:picLocks noChangeAspect="1"/>
            </p:cNvPicPr>
            <p:nvPr/>
          </p:nvPicPr>
          <p:blipFill>
            <a:blip r:embed="rId3"/>
            <a:stretch>
              <a:fillRect/>
            </a:stretch>
          </p:blipFill>
          <p:spPr>
            <a:xfrm>
              <a:off x="3865325" y="114299"/>
              <a:ext cx="4449336" cy="932769"/>
            </a:xfrm>
            <a:prstGeom prst="rect">
              <a:avLst/>
            </a:prstGeom>
          </p:spPr>
        </p:pic>
      </p:grpSp>
      <p:sp>
        <p:nvSpPr>
          <p:cNvPr id="15" name="Text Box 2">
            <a:extLst>
              <a:ext uri="{FF2B5EF4-FFF2-40B4-BE49-F238E27FC236}">
                <a16:creationId xmlns:a16="http://schemas.microsoft.com/office/drawing/2014/main" id="{12B389A1-B342-411D-BD33-D03B1F7C617A}"/>
              </a:ext>
            </a:extLst>
          </p:cNvPr>
          <p:cNvSpPr txBox="1">
            <a:spLocks noChangeArrowheads="1"/>
          </p:cNvSpPr>
          <p:nvPr/>
        </p:nvSpPr>
        <p:spPr bwMode="auto">
          <a:xfrm>
            <a:off x="627919" y="814299"/>
            <a:ext cx="83454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25000"/>
              </a:spcBef>
            </a:pPr>
            <a:r>
              <a:rPr lang="zh-CN" altLang="en-US" sz="2800" dirty="0">
                <a:latin typeface="微软雅黑" panose="020B0503020204020204" pitchFamily="34" charset="-122"/>
                <a:ea typeface="微软雅黑" panose="020B0503020204020204" pitchFamily="34" charset="-122"/>
              </a:rPr>
              <a:t>例</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定义一个函数，求点（</a:t>
            </a:r>
            <a:r>
              <a:rPr lang="en-US" altLang="zh-CN" sz="2800" dirty="0">
                <a:latin typeface="微软雅黑" panose="020B0503020204020204" pitchFamily="34" charset="-122"/>
                <a:ea typeface="微软雅黑" panose="020B0503020204020204" pitchFamily="34" charset="-122"/>
              </a:rPr>
              <a:t>x</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y</a:t>
            </a:r>
            <a:r>
              <a:rPr lang="zh-CN" altLang="en-US" sz="2800" dirty="0">
                <a:latin typeface="微软雅黑" panose="020B0503020204020204" pitchFamily="34" charset="-122"/>
                <a:ea typeface="微软雅黑" panose="020B0503020204020204" pitchFamily="34" charset="-122"/>
              </a:rPr>
              <a:t>）到原点距离。</a:t>
            </a:r>
          </a:p>
        </p:txBody>
      </p:sp>
      <p:sp>
        <p:nvSpPr>
          <p:cNvPr id="16" name="Line 3">
            <a:extLst>
              <a:ext uri="{FF2B5EF4-FFF2-40B4-BE49-F238E27FC236}">
                <a16:creationId xmlns:a16="http://schemas.microsoft.com/office/drawing/2014/main" id="{45C0E738-5F2B-4F7A-9768-62B19C3064CE}"/>
              </a:ext>
            </a:extLst>
          </p:cNvPr>
          <p:cNvSpPr>
            <a:spLocks noChangeShapeType="1"/>
          </p:cNvSpPr>
          <p:nvPr/>
        </p:nvSpPr>
        <p:spPr bwMode="auto">
          <a:xfrm>
            <a:off x="908907" y="2154149"/>
            <a:ext cx="1511300"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17" name="Text Box 3">
            <a:extLst>
              <a:ext uri="{FF2B5EF4-FFF2-40B4-BE49-F238E27FC236}">
                <a16:creationId xmlns:a16="http://schemas.microsoft.com/office/drawing/2014/main" id="{B0B84917-A315-4C6B-886E-4CC0AF07B347}"/>
              </a:ext>
            </a:extLst>
          </p:cNvPr>
          <p:cNvSpPr txBox="1">
            <a:spLocks noChangeArrowheads="1"/>
          </p:cNvSpPr>
          <p:nvPr/>
        </p:nvSpPr>
        <p:spPr bwMode="auto">
          <a:xfrm>
            <a:off x="766032" y="1361986"/>
            <a:ext cx="8424862" cy="662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25000"/>
              </a:spcBef>
            </a:pPr>
            <a:r>
              <a:rPr lang="en-US" altLang="zh-CN" sz="2800" dirty="0">
                <a:cs typeface="Times New Roman" panose="02020603050405020304" pitchFamily="18" charset="0"/>
              </a:rPr>
              <a:t> double  distance(double  x, double  y)</a:t>
            </a:r>
          </a:p>
        </p:txBody>
      </p:sp>
      <p:sp>
        <p:nvSpPr>
          <p:cNvPr id="18" name="Text Box 4">
            <a:extLst>
              <a:ext uri="{FF2B5EF4-FFF2-40B4-BE49-F238E27FC236}">
                <a16:creationId xmlns:a16="http://schemas.microsoft.com/office/drawing/2014/main" id="{F6584069-87DB-4B07-B324-DBA7379BBDD7}"/>
              </a:ext>
            </a:extLst>
          </p:cNvPr>
          <p:cNvSpPr txBox="1">
            <a:spLocks noChangeArrowheads="1"/>
          </p:cNvSpPr>
          <p:nvPr/>
        </p:nvSpPr>
        <p:spPr bwMode="auto">
          <a:xfrm>
            <a:off x="766032" y="4035732"/>
            <a:ext cx="1088725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buClr>
                <a:srgbClr val="FF6600"/>
              </a:buClr>
              <a:buFont typeface="Wingdings" panose="05000000000000000000" pitchFamily="2" charset="2"/>
              <a:buChar char="v"/>
            </a:pPr>
            <a:r>
              <a:rPr lang="en-US" altLang="zh-CN" sz="2800" dirty="0">
                <a:latin typeface="+mn-ea"/>
                <a:ea typeface="+mn-ea"/>
              </a:rPr>
              <a:t> </a:t>
            </a:r>
            <a:r>
              <a:rPr lang="zh-CN" altLang="en-US" sz="2800" dirty="0">
                <a:latin typeface="+mn-ea"/>
                <a:ea typeface="+mn-ea"/>
              </a:rPr>
              <a:t>第一行函数头的句末不能加分号；</a:t>
            </a:r>
          </a:p>
          <a:p>
            <a:pPr eaLnBrk="1" hangingPunct="1">
              <a:lnSpc>
                <a:spcPct val="150000"/>
              </a:lnSpc>
              <a:spcBef>
                <a:spcPct val="0"/>
              </a:spcBef>
              <a:buClr>
                <a:srgbClr val="FF6600"/>
              </a:buClr>
              <a:buFont typeface="Wingdings" panose="05000000000000000000" pitchFamily="2" charset="2"/>
              <a:buChar char="v"/>
            </a:pPr>
            <a:r>
              <a:rPr lang="zh-CN" altLang="en-US" sz="2800" dirty="0">
                <a:latin typeface="+mn-ea"/>
                <a:ea typeface="+mn-ea"/>
              </a:rPr>
              <a:t> 大多数函数都有值返回。</a:t>
            </a:r>
            <a:r>
              <a:rPr lang="en-US" altLang="zh-CN" sz="2800" dirty="0">
                <a:latin typeface="+mn-ea"/>
                <a:ea typeface="+mn-ea"/>
              </a:rPr>
              <a:t>void</a:t>
            </a:r>
            <a:r>
              <a:rPr lang="zh-CN" altLang="en-US" sz="2800" dirty="0">
                <a:latin typeface="+mn-ea"/>
                <a:ea typeface="+mn-ea"/>
              </a:rPr>
              <a:t>的使用；</a:t>
            </a:r>
          </a:p>
          <a:p>
            <a:pPr eaLnBrk="1" hangingPunct="1">
              <a:lnSpc>
                <a:spcPct val="150000"/>
              </a:lnSpc>
              <a:spcBef>
                <a:spcPct val="0"/>
              </a:spcBef>
              <a:buClr>
                <a:srgbClr val="FF6600"/>
              </a:buClr>
              <a:buFont typeface="Wingdings" panose="05000000000000000000" pitchFamily="2" charset="2"/>
              <a:buChar char="v"/>
            </a:pPr>
            <a:r>
              <a:rPr lang="zh-CN" altLang="en-US" sz="2800" dirty="0">
                <a:latin typeface="+mn-ea"/>
                <a:ea typeface="+mn-ea"/>
              </a:rPr>
              <a:t> 返回的函数值类型与所定义的函数类型相一致，若不一致，则以函数的类型为准。</a:t>
            </a:r>
          </a:p>
        </p:txBody>
      </p:sp>
      <p:sp>
        <p:nvSpPr>
          <p:cNvPr id="19" name="Text Box 5">
            <a:extLst>
              <a:ext uri="{FF2B5EF4-FFF2-40B4-BE49-F238E27FC236}">
                <a16:creationId xmlns:a16="http://schemas.microsoft.com/office/drawing/2014/main" id="{E7D98395-FB31-4993-BB1D-11286AB81181}"/>
              </a:ext>
            </a:extLst>
          </p:cNvPr>
          <p:cNvSpPr txBox="1">
            <a:spLocks noChangeArrowheads="1"/>
          </p:cNvSpPr>
          <p:nvPr/>
        </p:nvSpPr>
        <p:spPr bwMode="auto">
          <a:xfrm>
            <a:off x="1124807" y="2225586"/>
            <a:ext cx="76962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en-US" altLang="zh-CN" sz="2800" dirty="0">
                <a:cs typeface="Times New Roman" panose="02020603050405020304" pitchFamily="18" charset="0"/>
              </a:rPr>
              <a:t>{   double  z;</a:t>
            </a:r>
          </a:p>
          <a:p>
            <a:pPr eaLnBrk="1" hangingPunct="1">
              <a:spcBef>
                <a:spcPct val="0"/>
              </a:spcBef>
            </a:pPr>
            <a:r>
              <a:rPr lang="en-US" altLang="zh-CN" sz="2800" dirty="0">
                <a:cs typeface="Times New Roman" panose="02020603050405020304" pitchFamily="18" charset="0"/>
              </a:rPr>
              <a:t>    z=sqrt(x*</a:t>
            </a:r>
            <a:r>
              <a:rPr lang="en-US" altLang="zh-CN" sz="2800" dirty="0" err="1">
                <a:cs typeface="Times New Roman" panose="02020603050405020304" pitchFamily="18" charset="0"/>
              </a:rPr>
              <a:t>x+y</a:t>
            </a:r>
            <a:r>
              <a:rPr lang="en-US" altLang="zh-CN" sz="2800" dirty="0">
                <a:cs typeface="Times New Roman" panose="02020603050405020304" pitchFamily="18" charset="0"/>
              </a:rPr>
              <a:t>*y);</a:t>
            </a:r>
          </a:p>
          <a:p>
            <a:pPr eaLnBrk="1" hangingPunct="1">
              <a:spcBef>
                <a:spcPct val="0"/>
              </a:spcBef>
            </a:pPr>
            <a:r>
              <a:rPr lang="en-US" altLang="zh-CN" sz="2800" dirty="0">
                <a:cs typeface="Times New Roman" panose="02020603050405020304" pitchFamily="18" charset="0"/>
              </a:rPr>
              <a:t>    return  z;</a:t>
            </a:r>
          </a:p>
          <a:p>
            <a:pPr eaLnBrk="1" hangingPunct="1">
              <a:spcBef>
                <a:spcPct val="0"/>
              </a:spcBef>
            </a:pPr>
            <a:r>
              <a:rPr lang="en-US" altLang="zh-CN" sz="2800" dirty="0">
                <a:cs typeface="Times New Roman" panose="02020603050405020304" pitchFamily="18" charset="0"/>
              </a:rPr>
              <a:t> }</a:t>
            </a:r>
          </a:p>
        </p:txBody>
      </p:sp>
      <p:sp>
        <p:nvSpPr>
          <p:cNvPr id="20" name="Line 6">
            <a:extLst>
              <a:ext uri="{FF2B5EF4-FFF2-40B4-BE49-F238E27FC236}">
                <a16:creationId xmlns:a16="http://schemas.microsoft.com/office/drawing/2014/main" id="{FCA427EB-5B7E-41DC-8700-F6164FE15B28}"/>
              </a:ext>
            </a:extLst>
          </p:cNvPr>
          <p:cNvSpPr>
            <a:spLocks noChangeShapeType="1"/>
          </p:cNvSpPr>
          <p:nvPr/>
        </p:nvSpPr>
        <p:spPr bwMode="auto">
          <a:xfrm>
            <a:off x="4115656" y="2154149"/>
            <a:ext cx="1637443"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1" name="Line 7">
            <a:extLst>
              <a:ext uri="{FF2B5EF4-FFF2-40B4-BE49-F238E27FC236}">
                <a16:creationId xmlns:a16="http://schemas.microsoft.com/office/drawing/2014/main" id="{41565441-A649-4E18-86C1-1FEBADF54D03}"/>
              </a:ext>
            </a:extLst>
          </p:cNvPr>
          <p:cNvSpPr>
            <a:spLocks noChangeShapeType="1"/>
          </p:cNvSpPr>
          <p:nvPr/>
        </p:nvSpPr>
        <p:spPr bwMode="auto">
          <a:xfrm>
            <a:off x="6046758" y="2154149"/>
            <a:ext cx="1636741"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8" name="Rectangle 2"/>
          <p:cNvSpPr txBox="1">
            <a:spLocks noChangeArrowheads="1"/>
          </p:cNvSpPr>
          <p:nvPr/>
        </p:nvSpPr>
        <p:spPr>
          <a:xfrm>
            <a:off x="3970250" y="295796"/>
            <a:ext cx="4153018"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函数的例子</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a:t>
            </a:r>
            <a:r>
              <a:rPr lang="zh-CN" altLang="en-US" sz="2800" b="1" dirty="0">
                <a:solidFill>
                  <a:schemeClr val="accent1">
                    <a:lumMod val="50000"/>
                  </a:schemeClr>
                </a:solidFill>
                <a:latin typeface="Times New Roman" panose="02020603050405020304" pitchFamily="18" charset="0"/>
                <a:ea typeface="+mn-ea"/>
                <a:cs typeface="Times New Roman" panose="02020603050405020304" pitchFamily="18" charset="0"/>
              </a:rPr>
              <a:t>有值返回</a:t>
            </a:r>
            <a:endPar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228708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9477"/>
                                        </p:tgtEl>
                                        <p:attrNameLst>
                                          <p:attrName>style.visibility</p:attrName>
                                        </p:attrNameLst>
                                      </p:cBhvr>
                                      <p:to>
                                        <p:strVal val="visible"/>
                                      </p:to>
                                    </p:set>
                                    <p:animEffect transition="in" filter="dissolve">
                                      <p:cBhvr>
                                        <p:cTn id="7" dur="500"/>
                                        <p:tgtEl>
                                          <p:spTgt spid="4894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linds(horizont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
                                            <p:txEl>
                                              <p:pRg st="0" end="0"/>
                                            </p:txEl>
                                          </p:spTgt>
                                        </p:tgtEl>
                                        <p:attrNameLst>
                                          <p:attrName>style.visibility</p:attrName>
                                        </p:attrNameLst>
                                      </p:cBhvr>
                                      <p:to>
                                        <p:strVal val="visible"/>
                                      </p:to>
                                    </p:set>
                                    <p:animEffect transition="in" filter="blinds(horizontal)">
                                      <p:cBhvr>
                                        <p:cTn id="37" dur="500"/>
                                        <p:tgtEl>
                                          <p:spTgt spid="1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9">
                                            <p:txEl>
                                              <p:pRg st="1" end="1"/>
                                            </p:txEl>
                                          </p:spTgt>
                                        </p:tgtEl>
                                        <p:attrNameLst>
                                          <p:attrName>style.visibility</p:attrName>
                                        </p:attrNameLst>
                                      </p:cBhvr>
                                      <p:to>
                                        <p:strVal val="visible"/>
                                      </p:to>
                                    </p:set>
                                    <p:animEffect transition="in" filter="blinds(horizontal)">
                                      <p:cBhvr>
                                        <p:cTn id="42" dur="500"/>
                                        <p:tgtEl>
                                          <p:spTgt spid="19">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blinds(horizontal)">
                                      <p:cBhvr>
                                        <p:cTn id="47" dur="500"/>
                                        <p:tgtEl>
                                          <p:spTgt spid="19">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9">
                                            <p:txEl>
                                              <p:pRg st="3" end="3"/>
                                            </p:txEl>
                                          </p:spTgt>
                                        </p:tgtEl>
                                        <p:attrNameLst>
                                          <p:attrName>style.visibility</p:attrName>
                                        </p:attrNameLst>
                                      </p:cBhvr>
                                      <p:to>
                                        <p:strVal val="visible"/>
                                      </p:to>
                                    </p:set>
                                    <p:animEffect transition="in" filter="blinds(horizontal)">
                                      <p:cBhvr>
                                        <p:cTn id="52" dur="500"/>
                                        <p:tgtEl>
                                          <p:spTgt spid="19">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8">
                                            <p:txEl>
                                              <p:pRg st="0" end="0"/>
                                            </p:txEl>
                                          </p:spTgt>
                                        </p:tgtEl>
                                        <p:attrNameLst>
                                          <p:attrName>style.visibility</p:attrName>
                                        </p:attrNameLst>
                                      </p:cBhvr>
                                      <p:to>
                                        <p:strVal val="visible"/>
                                      </p:to>
                                    </p:set>
                                    <p:animEffect transition="in" filter="blinds(horizontal)">
                                      <p:cBhvr>
                                        <p:cTn id="57" dur="500"/>
                                        <p:tgtEl>
                                          <p:spTgt spid="18">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8">
                                            <p:txEl>
                                              <p:pRg st="1" end="1"/>
                                            </p:txEl>
                                          </p:spTgt>
                                        </p:tgtEl>
                                        <p:attrNameLst>
                                          <p:attrName>style.visibility</p:attrName>
                                        </p:attrNameLst>
                                      </p:cBhvr>
                                      <p:to>
                                        <p:strVal val="visible"/>
                                      </p:to>
                                    </p:set>
                                    <p:animEffect transition="in" filter="blinds(horizontal)">
                                      <p:cBhvr>
                                        <p:cTn id="62" dur="500"/>
                                        <p:tgtEl>
                                          <p:spTgt spid="18">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8">
                                            <p:txEl>
                                              <p:pRg st="2" end="2"/>
                                            </p:txEl>
                                          </p:spTgt>
                                        </p:tgtEl>
                                        <p:attrNameLst>
                                          <p:attrName>style.visibility</p:attrName>
                                        </p:attrNameLst>
                                      </p:cBhvr>
                                      <p:to>
                                        <p:strVal val="visible"/>
                                      </p:to>
                                    </p:set>
                                    <p:animEffect transition="in" filter="blinds(horizontal)">
                                      <p:cBhvr>
                                        <p:cTn id="67"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77" grpId="0" animBg="1"/>
      <p:bldP spid="15"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endParaRPr lang="en-US" altLang="zh-CN" dirty="0"/>
          </a:p>
        </p:txBody>
      </p:sp>
      <p:sp>
        <p:nvSpPr>
          <p:cNvPr id="494609" name="Rectangle 17"/>
          <p:cNvSpPr>
            <a:spLocks noChangeArrowheads="1"/>
          </p:cNvSpPr>
          <p:nvPr/>
        </p:nvSpPr>
        <p:spPr bwMode="auto">
          <a:xfrm>
            <a:off x="926804" y="1054947"/>
            <a:ext cx="10003466" cy="4083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marL="1371600" lvl="2" indent="-457200">
              <a:lnSpc>
                <a:spcPct val="150000"/>
              </a:lnSpc>
              <a:spcBef>
                <a:spcPct val="20000"/>
              </a:spcBef>
              <a:buClr>
                <a:srgbClr val="C00000"/>
              </a:buClr>
              <a:buFont typeface="Wingdings" pitchFamily="2" charset="2"/>
              <a:buChar char="Ø"/>
            </a:pPr>
            <a:r>
              <a:rPr lang="zh-CN" altLang="en-US" sz="3200" b="1" dirty="0">
                <a:solidFill>
                  <a:srgbClr val="C00000"/>
                </a:solidFill>
                <a:latin typeface="Times New Roman" pitchFamily="18" charset="0"/>
              </a:rPr>
              <a:t>返值形式：</a:t>
            </a:r>
            <a:r>
              <a:rPr lang="en-US" altLang="zh-CN" sz="3200" b="1" dirty="0">
                <a:latin typeface="Times New Roman" pitchFamily="18" charset="0"/>
              </a:rPr>
              <a:t>return (</a:t>
            </a:r>
            <a:r>
              <a:rPr lang="zh-CN" altLang="zh-CN" sz="3200" b="1" dirty="0">
                <a:latin typeface="Times New Roman" pitchFamily="18" charset="0"/>
              </a:rPr>
              <a:t>表达式)；</a:t>
            </a:r>
            <a:endParaRPr lang="zh-CN" altLang="en-US" sz="3200" b="1" dirty="0">
              <a:latin typeface="Times New Roman" pitchFamily="18" charset="0"/>
            </a:endParaRPr>
          </a:p>
          <a:p>
            <a:pPr lvl="2" algn="l">
              <a:lnSpc>
                <a:spcPct val="150000"/>
              </a:lnSpc>
              <a:spcBef>
                <a:spcPct val="20000"/>
              </a:spcBef>
              <a:buClr>
                <a:schemeClr val="hlink"/>
              </a:buClr>
              <a:buFont typeface="Wingdings" pitchFamily="2" charset="2"/>
              <a:buNone/>
            </a:pPr>
            <a:r>
              <a:rPr lang="zh-CN" altLang="en-US" sz="3200" b="1" dirty="0">
                <a:latin typeface="Times New Roman" pitchFamily="18" charset="0"/>
              </a:rPr>
              <a:t>            　　     </a:t>
            </a:r>
            <a:r>
              <a:rPr lang="en-US" altLang="zh-CN" sz="3200" b="1" dirty="0">
                <a:latin typeface="Times New Roman" pitchFamily="18" charset="0"/>
              </a:rPr>
              <a:t>return </a:t>
            </a:r>
            <a:r>
              <a:rPr lang="zh-CN" altLang="zh-CN" sz="3200" b="1" dirty="0">
                <a:latin typeface="Times New Roman" pitchFamily="18" charset="0"/>
              </a:rPr>
              <a:t>表达式</a:t>
            </a:r>
            <a:r>
              <a:rPr lang="en-US" altLang="zh-CN" sz="3200" b="1" dirty="0">
                <a:latin typeface="Times New Roman" pitchFamily="18" charset="0"/>
              </a:rPr>
              <a:t>;</a:t>
            </a:r>
          </a:p>
          <a:p>
            <a:pPr lvl="2" algn="l">
              <a:lnSpc>
                <a:spcPct val="150000"/>
              </a:lnSpc>
              <a:spcBef>
                <a:spcPct val="20000"/>
              </a:spcBef>
              <a:buClr>
                <a:schemeClr val="hlink"/>
              </a:buClr>
              <a:buFont typeface="Wingdings" pitchFamily="2" charset="2"/>
              <a:buNone/>
            </a:pPr>
            <a:r>
              <a:rPr lang="zh-CN" altLang="en-US" sz="3200" b="1" dirty="0">
                <a:latin typeface="Times New Roman" pitchFamily="18" charset="0"/>
              </a:rPr>
              <a:t>　　　　　 　</a:t>
            </a:r>
            <a:r>
              <a:rPr lang="en-US" altLang="zh-CN" sz="3200" b="1" dirty="0">
                <a:latin typeface="Times New Roman" pitchFamily="18" charset="0"/>
              </a:rPr>
              <a:t>return;</a:t>
            </a:r>
          </a:p>
          <a:p>
            <a:pPr marL="1371600" lvl="2" indent="-457200" algn="just">
              <a:lnSpc>
                <a:spcPct val="150000"/>
              </a:lnSpc>
              <a:spcBef>
                <a:spcPct val="20000"/>
              </a:spcBef>
              <a:buClr>
                <a:srgbClr val="C00000"/>
              </a:buClr>
              <a:buFont typeface="Wingdings" pitchFamily="2" charset="2"/>
              <a:buChar char="Ø"/>
            </a:pPr>
            <a:r>
              <a:rPr lang="zh-CN" altLang="zh-CN" sz="3200" b="1" dirty="0">
                <a:solidFill>
                  <a:srgbClr val="C00000"/>
                </a:solidFill>
                <a:latin typeface="Times New Roman" pitchFamily="18" charset="0"/>
              </a:rPr>
              <a:t>返值功能：</a:t>
            </a:r>
            <a:r>
              <a:rPr lang="zh-CN" altLang="zh-CN" sz="3200" b="1" dirty="0">
                <a:latin typeface="Times New Roman" pitchFamily="18" charset="0"/>
              </a:rPr>
              <a:t>使程序控制从被调用函数返回到调用函数中，同时把返回值带给调用函数</a:t>
            </a:r>
            <a:r>
              <a:rPr lang="zh-CN" altLang="en-US" sz="3200" b="1" dirty="0">
                <a:latin typeface="Times New Roman" pitchFamily="18" charset="0"/>
              </a:rPr>
              <a:t>。</a:t>
            </a:r>
            <a:endParaRPr lang="zh-CN" altLang="zh-CN" sz="3200" b="1" dirty="0">
              <a:latin typeface="Times New Roman" pitchFamily="18" charset="0"/>
            </a:endParaRPr>
          </a:p>
        </p:txBody>
      </p:sp>
      <p:grpSp>
        <p:nvGrpSpPr>
          <p:cNvPr id="6" name="组合 5">
            <a:extLst>
              <a:ext uri="{FF2B5EF4-FFF2-40B4-BE49-F238E27FC236}">
                <a16:creationId xmlns:a16="http://schemas.microsoft.com/office/drawing/2014/main" id="{967AE2C3-0D66-4885-B08F-DDE08922842E}"/>
              </a:ext>
            </a:extLst>
          </p:cNvPr>
          <p:cNvGrpSpPr/>
          <p:nvPr/>
        </p:nvGrpSpPr>
        <p:grpSpPr>
          <a:xfrm>
            <a:off x="0" y="114299"/>
            <a:ext cx="12192000" cy="932769"/>
            <a:chOff x="0" y="114299"/>
            <a:chExt cx="12192000" cy="932769"/>
          </a:xfrm>
        </p:grpSpPr>
        <p:sp>
          <p:nvSpPr>
            <p:cNvPr id="7" name="矩形 6">
              <a:extLst>
                <a:ext uri="{FF2B5EF4-FFF2-40B4-BE49-F238E27FC236}">
                  <a16:creationId xmlns:a16="http://schemas.microsoft.com/office/drawing/2014/main" id="{57001CA3-C9F6-47ED-AA3D-9085CD6EC90D}"/>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4DB3A4C-BDC1-4080-B214-97ABDDBC74DE}"/>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E72C2FA-31D9-45B4-8EC1-11DE602B9B5E}"/>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6952B190-B0EF-4C71-A5A2-4C1621692D74}"/>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3715FCD0-F278-4EE1-BB9F-75D85C34B41A}"/>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5" name="Rectangle 2"/>
          <p:cNvSpPr txBox="1">
            <a:spLocks noChangeArrowheads="1"/>
          </p:cNvSpPr>
          <p:nvPr/>
        </p:nvSpPr>
        <p:spPr>
          <a:xfrm>
            <a:off x="4299689" y="293680"/>
            <a:ext cx="3496340"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返值语句</a:t>
            </a:r>
          </a:p>
        </p:txBody>
      </p:sp>
    </p:spTree>
    <p:extLst>
      <p:ext uri="{BB962C8B-B14F-4D97-AF65-F5344CB8AC3E}">
        <p14:creationId xmlns:p14="http://schemas.microsoft.com/office/powerpoint/2010/main" val="286916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4609">
                                            <p:txEl>
                                              <p:pRg st="0" end="0"/>
                                            </p:txEl>
                                          </p:spTgt>
                                        </p:tgtEl>
                                        <p:attrNameLst>
                                          <p:attrName>style.visibility</p:attrName>
                                        </p:attrNameLst>
                                      </p:cBhvr>
                                      <p:to>
                                        <p:strVal val="visible"/>
                                      </p:to>
                                    </p:set>
                                    <p:animEffect transition="in" filter="wipe(left)">
                                      <p:cBhvr>
                                        <p:cTn id="7" dur="500"/>
                                        <p:tgtEl>
                                          <p:spTgt spid="49460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4609">
                                            <p:txEl>
                                              <p:pRg st="1" end="1"/>
                                            </p:txEl>
                                          </p:spTgt>
                                        </p:tgtEl>
                                        <p:attrNameLst>
                                          <p:attrName>style.visibility</p:attrName>
                                        </p:attrNameLst>
                                      </p:cBhvr>
                                      <p:to>
                                        <p:strVal val="visible"/>
                                      </p:to>
                                    </p:set>
                                    <p:animEffect transition="in" filter="wipe(left)">
                                      <p:cBhvr>
                                        <p:cTn id="12" dur="500"/>
                                        <p:tgtEl>
                                          <p:spTgt spid="49460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4609">
                                            <p:txEl>
                                              <p:pRg st="2" end="2"/>
                                            </p:txEl>
                                          </p:spTgt>
                                        </p:tgtEl>
                                        <p:attrNameLst>
                                          <p:attrName>style.visibility</p:attrName>
                                        </p:attrNameLst>
                                      </p:cBhvr>
                                      <p:to>
                                        <p:strVal val="visible"/>
                                      </p:to>
                                    </p:set>
                                    <p:animEffect transition="in" filter="wipe(left)">
                                      <p:cBhvr>
                                        <p:cTn id="17" dur="500"/>
                                        <p:tgtEl>
                                          <p:spTgt spid="49460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4609">
                                            <p:txEl>
                                              <p:pRg st="3" end="3"/>
                                            </p:txEl>
                                          </p:spTgt>
                                        </p:tgtEl>
                                        <p:attrNameLst>
                                          <p:attrName>style.visibility</p:attrName>
                                        </p:attrNameLst>
                                      </p:cBhvr>
                                      <p:to>
                                        <p:strVal val="visible"/>
                                      </p:to>
                                    </p:set>
                                    <p:animEffect transition="in" filter="wipe(left)">
                                      <p:cBhvr>
                                        <p:cTn id="22" dur="500"/>
                                        <p:tgtEl>
                                          <p:spTgt spid="4946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609" grpId="0" build="p" bldLvl="4"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sp>
        <p:nvSpPr>
          <p:cNvPr id="454662" name="Rectangle 6"/>
          <p:cNvSpPr>
            <a:spLocks noChangeArrowheads="1"/>
          </p:cNvSpPr>
          <p:nvPr/>
        </p:nvSpPr>
        <p:spPr bwMode="auto">
          <a:xfrm>
            <a:off x="1819275" y="1113691"/>
            <a:ext cx="631601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5113" lvl="3" indent="-265113">
              <a:spcBef>
                <a:spcPct val="50000"/>
              </a:spcBef>
              <a:buClr>
                <a:schemeClr val="hlink"/>
              </a:buClr>
              <a:buFont typeface="Wingdings" pitchFamily="2" charset="2"/>
              <a:buChar char="ü"/>
            </a:pPr>
            <a:r>
              <a:rPr lang="en-US" altLang="zh-CN" sz="3200" b="1" dirty="0">
                <a:latin typeface="Times New Roman" pitchFamily="18" charset="0"/>
              </a:rPr>
              <a:t> </a:t>
            </a:r>
            <a:r>
              <a:rPr lang="zh-CN" altLang="zh-CN" sz="3200" b="1" dirty="0">
                <a:latin typeface="Times New Roman" pitchFamily="18" charset="0"/>
              </a:rPr>
              <a:t>函数体中可以有多个</a:t>
            </a:r>
            <a:r>
              <a:rPr lang="en-US" altLang="zh-CN" sz="3200" b="1" dirty="0">
                <a:latin typeface="Times New Roman" pitchFamily="18" charset="0"/>
              </a:rPr>
              <a:t>return</a:t>
            </a:r>
            <a:r>
              <a:rPr lang="zh-CN" altLang="zh-CN" sz="3200" b="1" dirty="0">
                <a:latin typeface="Times New Roman" pitchFamily="18" charset="0"/>
              </a:rPr>
              <a:t>语句</a:t>
            </a:r>
          </a:p>
        </p:txBody>
      </p:sp>
      <p:sp>
        <p:nvSpPr>
          <p:cNvPr id="454663" name="Rectangle 7"/>
          <p:cNvSpPr>
            <a:spLocks noChangeArrowheads="1"/>
          </p:cNvSpPr>
          <p:nvPr/>
        </p:nvSpPr>
        <p:spPr bwMode="auto">
          <a:xfrm>
            <a:off x="3051544" y="1781042"/>
            <a:ext cx="3276600" cy="2473325"/>
          </a:xfrm>
          <a:prstGeom prst="rect">
            <a:avLst/>
          </a:prstGeom>
          <a:noFill/>
          <a:ln w="38100">
            <a:solidFill>
              <a:schemeClr val="tx2">
                <a:lumMod val="60000"/>
                <a:lumOff val="40000"/>
              </a:schemeClr>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80000"/>
              </a:lnSpc>
            </a:pPr>
            <a:r>
              <a:rPr lang="en-US" altLang="zh-CN" sz="3200" dirty="0">
                <a:solidFill>
                  <a:srgbClr val="C00000"/>
                </a:solidFill>
                <a:latin typeface="Times New Roman" pitchFamily="18" charset="0"/>
                <a:ea typeface="宋体" charset="-122"/>
              </a:rPr>
              <a:t>max(</a:t>
            </a:r>
            <a:r>
              <a:rPr lang="en-US" altLang="zh-CN" sz="3200" dirty="0" err="1">
                <a:solidFill>
                  <a:srgbClr val="C00000"/>
                </a:solidFill>
                <a:latin typeface="Times New Roman" pitchFamily="18" charset="0"/>
                <a:ea typeface="宋体" charset="-122"/>
              </a:rPr>
              <a:t>int</a:t>
            </a:r>
            <a:r>
              <a:rPr lang="en-US" altLang="zh-CN" sz="3200" dirty="0">
                <a:solidFill>
                  <a:srgbClr val="C00000"/>
                </a:solidFill>
                <a:latin typeface="Times New Roman" pitchFamily="18" charset="0"/>
                <a:ea typeface="宋体" charset="-122"/>
              </a:rPr>
              <a:t> x, </a:t>
            </a:r>
            <a:r>
              <a:rPr lang="en-US" altLang="zh-CN" sz="3200" dirty="0" err="1">
                <a:solidFill>
                  <a:srgbClr val="C00000"/>
                </a:solidFill>
                <a:latin typeface="Times New Roman" pitchFamily="18" charset="0"/>
                <a:ea typeface="宋体" charset="-122"/>
              </a:rPr>
              <a:t>int</a:t>
            </a:r>
            <a:r>
              <a:rPr lang="en-US" altLang="zh-CN" sz="3200" dirty="0">
                <a:solidFill>
                  <a:srgbClr val="C00000"/>
                </a:solidFill>
                <a:latin typeface="Times New Roman" pitchFamily="18" charset="0"/>
                <a:ea typeface="宋体" charset="-122"/>
              </a:rPr>
              <a:t> y)</a:t>
            </a:r>
          </a:p>
          <a:p>
            <a:pPr algn="l" eaLnBrk="0" hangingPunct="0">
              <a:lnSpc>
                <a:spcPct val="80000"/>
              </a:lnSpc>
            </a:pPr>
            <a:r>
              <a:rPr lang="en-US" altLang="zh-CN" sz="3200" dirty="0">
                <a:latin typeface="Times New Roman" pitchFamily="18" charset="0"/>
                <a:ea typeface="宋体" charset="-122"/>
              </a:rPr>
              <a:t>{</a:t>
            </a:r>
            <a:r>
              <a:rPr lang="zh-CN" altLang="en-US" sz="3200" dirty="0">
                <a:latin typeface="Times New Roman" pitchFamily="18" charset="0"/>
                <a:ea typeface="宋体" charset="-122"/>
              </a:rPr>
              <a:t>　 </a:t>
            </a:r>
            <a:r>
              <a:rPr lang="en-US" altLang="zh-CN" sz="3200" dirty="0">
                <a:latin typeface="Times New Roman" pitchFamily="18" charset="0"/>
                <a:ea typeface="宋体" charset="-122"/>
              </a:rPr>
              <a:t>if (x&gt;y)</a:t>
            </a:r>
          </a:p>
          <a:p>
            <a:pPr algn="l" eaLnBrk="0" hangingPunct="0">
              <a:lnSpc>
                <a:spcPct val="80000"/>
              </a:lnSpc>
            </a:pPr>
            <a:r>
              <a:rPr lang="en-US" altLang="zh-CN" sz="3200" dirty="0">
                <a:latin typeface="Times New Roman" pitchFamily="18" charset="0"/>
                <a:ea typeface="宋体" charset="-122"/>
              </a:rPr>
              <a:t>           </a:t>
            </a:r>
            <a:r>
              <a:rPr lang="en-US" altLang="zh-CN" sz="3200" dirty="0">
                <a:solidFill>
                  <a:srgbClr val="C00000"/>
                </a:solidFill>
                <a:latin typeface="Times New Roman" pitchFamily="18" charset="0"/>
                <a:ea typeface="宋体" charset="-122"/>
              </a:rPr>
              <a:t>return  x</a:t>
            </a:r>
            <a:r>
              <a:rPr lang="en-US" altLang="zh-CN" sz="3200" dirty="0">
                <a:latin typeface="Times New Roman" pitchFamily="18" charset="0"/>
                <a:ea typeface="宋体" charset="-122"/>
              </a:rPr>
              <a:t>;</a:t>
            </a:r>
          </a:p>
          <a:p>
            <a:pPr algn="l" eaLnBrk="0" hangingPunct="0">
              <a:lnSpc>
                <a:spcPct val="80000"/>
              </a:lnSpc>
            </a:pPr>
            <a:r>
              <a:rPr lang="en-US" altLang="zh-CN" sz="3200" dirty="0">
                <a:latin typeface="Times New Roman" pitchFamily="18" charset="0"/>
                <a:ea typeface="宋体" charset="-122"/>
              </a:rPr>
              <a:t>       else</a:t>
            </a:r>
          </a:p>
          <a:p>
            <a:pPr algn="l" eaLnBrk="0" hangingPunct="0">
              <a:lnSpc>
                <a:spcPct val="80000"/>
              </a:lnSpc>
            </a:pPr>
            <a:r>
              <a:rPr lang="en-US" altLang="zh-CN" sz="3200" dirty="0">
                <a:solidFill>
                  <a:srgbClr val="C00000"/>
                </a:solidFill>
                <a:latin typeface="Times New Roman" pitchFamily="18" charset="0"/>
                <a:ea typeface="宋体" charset="-122"/>
              </a:rPr>
              <a:t>           return  y</a:t>
            </a:r>
            <a:r>
              <a:rPr lang="en-US" altLang="zh-CN" sz="3200" dirty="0">
                <a:latin typeface="Times New Roman" pitchFamily="18" charset="0"/>
                <a:ea typeface="宋体" charset="-122"/>
              </a:rPr>
              <a:t>;</a:t>
            </a:r>
          </a:p>
          <a:p>
            <a:pPr algn="l" eaLnBrk="0" hangingPunct="0">
              <a:lnSpc>
                <a:spcPct val="80000"/>
              </a:lnSpc>
            </a:pPr>
            <a:r>
              <a:rPr lang="en-US" altLang="zh-CN" sz="3200" dirty="0">
                <a:latin typeface="Times New Roman" pitchFamily="18" charset="0"/>
                <a:ea typeface="宋体" charset="-122"/>
              </a:rPr>
              <a:t>}</a:t>
            </a:r>
          </a:p>
        </p:txBody>
      </p:sp>
      <p:grpSp>
        <p:nvGrpSpPr>
          <p:cNvPr id="8" name="组合 7">
            <a:extLst>
              <a:ext uri="{FF2B5EF4-FFF2-40B4-BE49-F238E27FC236}">
                <a16:creationId xmlns:a16="http://schemas.microsoft.com/office/drawing/2014/main" id="{D99030F9-CE62-4E01-AEB9-24251295DA74}"/>
              </a:ext>
            </a:extLst>
          </p:cNvPr>
          <p:cNvGrpSpPr/>
          <p:nvPr/>
        </p:nvGrpSpPr>
        <p:grpSpPr>
          <a:xfrm>
            <a:off x="0" y="114299"/>
            <a:ext cx="12192000" cy="932769"/>
            <a:chOff x="0" y="114299"/>
            <a:chExt cx="12192000" cy="932769"/>
          </a:xfrm>
        </p:grpSpPr>
        <p:sp>
          <p:nvSpPr>
            <p:cNvPr id="9" name="矩形 8">
              <a:extLst>
                <a:ext uri="{FF2B5EF4-FFF2-40B4-BE49-F238E27FC236}">
                  <a16:creationId xmlns:a16="http://schemas.microsoft.com/office/drawing/2014/main" id="{5E465FA5-8A01-494E-B9A6-FBC10D30A5D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699DBA0-02BC-49D7-ABC8-FCF0B5385E6A}"/>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5A4E6871-0242-40B2-B358-29192B15A184}"/>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E397447C-3905-4799-9754-8B9034DAA190}"/>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655287EC-51BE-49D8-B5F7-4EFD677A490A}"/>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454658" name="Rectangle 2"/>
          <p:cNvSpPr>
            <a:spLocks noChangeArrowheads="1"/>
          </p:cNvSpPr>
          <p:nvPr/>
        </p:nvSpPr>
        <p:spPr bwMode="auto">
          <a:xfrm>
            <a:off x="5072618" y="251485"/>
            <a:ext cx="1890823" cy="586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lvl="2" indent="-914400" algn="ctr">
              <a:spcBef>
                <a:spcPct val="50000"/>
              </a:spcBef>
              <a:buClr>
                <a:schemeClr val="tx2">
                  <a:lumMod val="60000"/>
                  <a:lumOff val="40000"/>
                </a:schemeClr>
              </a:buClr>
            </a:pPr>
            <a:r>
              <a:rPr lang="zh-CN" altLang="en-US" sz="3200" b="1" dirty="0">
                <a:solidFill>
                  <a:schemeClr val="accent1">
                    <a:lumMod val="50000"/>
                  </a:schemeClr>
                </a:solidFill>
                <a:latin typeface="Times New Roman" panose="02020603050405020304" pitchFamily="18" charset="0"/>
                <a:cs typeface="Times New Roman" panose="02020603050405020304" pitchFamily="18" charset="0"/>
              </a:rPr>
              <a:t>返值</a:t>
            </a:r>
            <a:r>
              <a:rPr lang="zh-CN" altLang="zh-CN" sz="3200" b="1" dirty="0">
                <a:solidFill>
                  <a:schemeClr val="accent1">
                    <a:lumMod val="50000"/>
                  </a:schemeClr>
                </a:solidFill>
                <a:latin typeface="Times New Roman" panose="02020603050405020304" pitchFamily="18" charset="0"/>
                <a:cs typeface="Times New Roman" panose="02020603050405020304" pitchFamily="18" charset="0"/>
              </a:rPr>
              <a:t>说明</a:t>
            </a:r>
            <a:endParaRPr lang="zh-CN" altLang="zh-CN" sz="3200" dirty="0">
              <a:solidFill>
                <a:srgbClr val="C00000"/>
              </a:solidFill>
              <a:latin typeface="Times New Roman" pitchFamily="18" charset="0"/>
            </a:endParaRPr>
          </a:p>
        </p:txBody>
      </p:sp>
      <p:sp>
        <p:nvSpPr>
          <p:cNvPr id="14" name="Rectangle 3">
            <a:extLst>
              <a:ext uri="{FF2B5EF4-FFF2-40B4-BE49-F238E27FC236}">
                <a16:creationId xmlns:a16="http://schemas.microsoft.com/office/drawing/2014/main" id="{8A94987E-D94B-4F89-8A74-3D03E54DE8C6}"/>
              </a:ext>
            </a:extLst>
          </p:cNvPr>
          <p:cNvSpPr>
            <a:spLocks noChangeArrowheads="1"/>
          </p:cNvSpPr>
          <p:nvPr/>
        </p:nvSpPr>
        <p:spPr bwMode="auto">
          <a:xfrm>
            <a:off x="1819275" y="2053107"/>
            <a:ext cx="665736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5113" lvl="3" indent="-265113" algn="l">
              <a:spcBef>
                <a:spcPct val="20000"/>
              </a:spcBef>
              <a:buClr>
                <a:schemeClr val="hlink"/>
              </a:buClr>
              <a:buFont typeface="Wingdings" pitchFamily="2" charset="2"/>
              <a:buChar char="ü"/>
            </a:pPr>
            <a:r>
              <a:rPr lang="en-US" altLang="zh-CN" sz="3200" b="1" dirty="0">
                <a:latin typeface="Times New Roman" pitchFamily="18" charset="0"/>
              </a:rPr>
              <a:t> </a:t>
            </a:r>
            <a:r>
              <a:rPr lang="zh-CN" altLang="zh-CN" sz="3200" b="1" dirty="0">
                <a:latin typeface="Times New Roman" pitchFamily="18" charset="0"/>
              </a:rPr>
              <a:t>若无</a:t>
            </a:r>
            <a:r>
              <a:rPr lang="en-US" altLang="zh-CN" sz="3200" b="1" dirty="0">
                <a:latin typeface="Times New Roman" pitchFamily="18" charset="0"/>
              </a:rPr>
              <a:t>return</a:t>
            </a:r>
            <a:r>
              <a:rPr lang="zh-CN" altLang="zh-CN" sz="3200" b="1" dirty="0">
                <a:latin typeface="Times New Roman" pitchFamily="18" charset="0"/>
              </a:rPr>
              <a:t>语句，遇</a:t>
            </a:r>
            <a:r>
              <a:rPr lang="zh-CN" altLang="zh-CN" sz="3200" b="1" dirty="0">
                <a:solidFill>
                  <a:schemeClr val="accent1">
                    <a:lumMod val="50000"/>
                  </a:schemeClr>
                </a:solidFill>
                <a:latin typeface="Times New Roman" pitchFamily="18" charset="0"/>
              </a:rPr>
              <a:t>}</a:t>
            </a:r>
            <a:r>
              <a:rPr lang="zh-CN" altLang="zh-CN" sz="3200" b="1" dirty="0">
                <a:latin typeface="Times New Roman" pitchFamily="18" charset="0"/>
              </a:rPr>
              <a:t>时自动返回</a:t>
            </a:r>
            <a:r>
              <a:rPr lang="zh-CN" altLang="en-US" sz="3200" b="1" dirty="0">
                <a:latin typeface="Times New Roman" pitchFamily="18" charset="0"/>
              </a:rPr>
              <a:t> </a:t>
            </a:r>
            <a:endParaRPr lang="zh-CN" altLang="zh-CN" sz="3200" b="1" dirty="0">
              <a:latin typeface="Times New Roman" pitchFamily="18" charset="0"/>
            </a:endParaRPr>
          </a:p>
        </p:txBody>
      </p:sp>
      <p:sp>
        <p:nvSpPr>
          <p:cNvPr id="15" name="Text Box 8">
            <a:extLst>
              <a:ext uri="{FF2B5EF4-FFF2-40B4-BE49-F238E27FC236}">
                <a16:creationId xmlns:a16="http://schemas.microsoft.com/office/drawing/2014/main" id="{D63FDA7E-5232-44EA-A602-5EDBAF312A4F}"/>
              </a:ext>
            </a:extLst>
          </p:cNvPr>
          <p:cNvSpPr txBox="1">
            <a:spLocks noChangeArrowheads="1"/>
          </p:cNvSpPr>
          <p:nvPr/>
        </p:nvSpPr>
        <p:spPr bwMode="auto">
          <a:xfrm>
            <a:off x="3051544" y="2849398"/>
            <a:ext cx="5667154" cy="3244850"/>
          </a:xfrm>
          <a:prstGeom prst="rect">
            <a:avLst/>
          </a:prstGeom>
          <a:noFill/>
          <a:ln w="38100">
            <a:solidFill>
              <a:schemeClr val="tx2">
                <a:lumMod val="60000"/>
                <a:lumOff val="40000"/>
              </a:schemeClr>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lnSpc>
                <a:spcPct val="80000"/>
              </a:lnSpc>
            </a:pPr>
            <a:r>
              <a:rPr lang="en-US" altLang="zh-CN" b="1" dirty="0">
                <a:latin typeface="Times New Roman" pitchFamily="18" charset="0"/>
                <a:ea typeface="隶书" pitchFamily="49" charset="-122"/>
              </a:rPr>
              <a:t>#include "</a:t>
            </a:r>
            <a:r>
              <a:rPr lang="en-US" altLang="zh-CN" b="1" dirty="0" err="1">
                <a:latin typeface="Times New Roman" pitchFamily="18" charset="0"/>
                <a:ea typeface="隶书" pitchFamily="49" charset="-122"/>
              </a:rPr>
              <a:t>stdio.h</a:t>
            </a:r>
            <a:r>
              <a:rPr lang="en-US" altLang="zh-CN" b="1" dirty="0">
                <a:latin typeface="Times New Roman" pitchFamily="18" charset="0"/>
                <a:ea typeface="隶书" pitchFamily="49" charset="-122"/>
              </a:rPr>
              <a:t>"</a:t>
            </a:r>
          </a:p>
          <a:p>
            <a:pPr algn="l" eaLnBrk="0" hangingPunct="0">
              <a:lnSpc>
                <a:spcPct val="80000"/>
              </a:lnSpc>
            </a:pPr>
            <a:r>
              <a:rPr lang="en-US" altLang="zh-CN" b="1" dirty="0">
                <a:latin typeface="Times New Roman" pitchFamily="18" charset="0"/>
                <a:ea typeface="隶书" pitchFamily="49" charset="-122"/>
              </a:rPr>
              <a:t>void </a:t>
            </a:r>
            <a:r>
              <a:rPr lang="en-US" altLang="zh-CN" b="1" dirty="0" err="1">
                <a:latin typeface="Times New Roman" pitchFamily="18" charset="0"/>
                <a:ea typeface="隶书" pitchFamily="49" charset="-122"/>
              </a:rPr>
              <a:t>printstar</a:t>
            </a:r>
            <a:r>
              <a:rPr lang="en-US" altLang="zh-CN" b="1" dirty="0">
                <a:latin typeface="Times New Roman" pitchFamily="18" charset="0"/>
                <a:ea typeface="隶书" pitchFamily="49" charset="-122"/>
              </a:rPr>
              <a:t>()</a:t>
            </a:r>
          </a:p>
          <a:p>
            <a:pPr algn="l" eaLnBrk="0" hangingPunct="0">
              <a:lnSpc>
                <a:spcPct val="80000"/>
              </a:lnSpc>
            </a:pPr>
            <a:r>
              <a:rPr lang="en-US" altLang="zh-CN" b="1" dirty="0">
                <a:solidFill>
                  <a:srgbClr val="C00000"/>
                </a:solidFill>
                <a:latin typeface="Times New Roman" pitchFamily="18" charset="0"/>
                <a:ea typeface="隶书" pitchFamily="49" charset="-122"/>
              </a:rPr>
              <a:t>{</a:t>
            </a:r>
            <a:r>
              <a:rPr lang="en-US" altLang="zh-CN" b="1" dirty="0">
                <a:solidFill>
                  <a:srgbClr val="FF0000"/>
                </a:solidFill>
                <a:latin typeface="Times New Roman" pitchFamily="18" charset="0"/>
                <a:ea typeface="隶书" pitchFamily="49" charset="-122"/>
              </a:rPr>
              <a:t> </a:t>
            </a:r>
            <a:r>
              <a:rPr lang="en-US" altLang="zh-CN" b="1" dirty="0">
                <a:latin typeface="Times New Roman" pitchFamily="18" charset="0"/>
                <a:ea typeface="隶书" pitchFamily="49" charset="-122"/>
              </a:rPr>
              <a:t>   </a:t>
            </a:r>
            <a:r>
              <a:rPr lang="en-US" altLang="zh-CN" b="1" dirty="0" err="1">
                <a:latin typeface="Times New Roman" pitchFamily="18" charset="0"/>
                <a:ea typeface="隶书" pitchFamily="49" charset="-122"/>
              </a:rPr>
              <a:t>printf</a:t>
            </a:r>
            <a:r>
              <a:rPr lang="en-US" altLang="zh-CN" b="1" dirty="0">
                <a:latin typeface="Times New Roman" pitchFamily="18" charset="0"/>
                <a:ea typeface="隶书" pitchFamily="49" charset="-122"/>
              </a:rPr>
              <a:t>("**********\n");</a:t>
            </a:r>
          </a:p>
          <a:p>
            <a:pPr algn="l" eaLnBrk="0" hangingPunct="0">
              <a:lnSpc>
                <a:spcPct val="80000"/>
              </a:lnSpc>
            </a:pPr>
            <a:r>
              <a:rPr lang="en-US" altLang="zh-CN" b="1" dirty="0">
                <a:solidFill>
                  <a:srgbClr val="C00000"/>
                </a:solidFill>
                <a:latin typeface="Times New Roman" pitchFamily="18" charset="0"/>
                <a:ea typeface="隶书" pitchFamily="49" charset="-122"/>
              </a:rPr>
              <a:t>}</a:t>
            </a:r>
          </a:p>
          <a:p>
            <a:pPr algn="l" eaLnBrk="0" hangingPunct="0">
              <a:lnSpc>
                <a:spcPct val="80000"/>
              </a:lnSpc>
            </a:pPr>
            <a:r>
              <a:rPr lang="en-US" altLang="zh-CN" b="1" dirty="0">
                <a:latin typeface="Times New Roman" pitchFamily="18" charset="0"/>
                <a:ea typeface="隶书" pitchFamily="49" charset="-122"/>
              </a:rPr>
              <a:t>void main()</a:t>
            </a:r>
          </a:p>
          <a:p>
            <a:pPr algn="l" eaLnBrk="0" hangingPunct="0">
              <a:lnSpc>
                <a:spcPct val="80000"/>
              </a:lnSpc>
            </a:pPr>
            <a:r>
              <a:rPr lang="en-US" altLang="zh-CN" b="1" dirty="0">
                <a:latin typeface="Times New Roman" pitchFamily="18" charset="0"/>
                <a:ea typeface="隶书" pitchFamily="49" charset="-122"/>
              </a:rPr>
              <a:t>{    </a:t>
            </a:r>
            <a:r>
              <a:rPr lang="en-US" altLang="zh-CN" b="1" dirty="0" err="1">
                <a:latin typeface="Times New Roman" pitchFamily="18" charset="0"/>
                <a:ea typeface="隶书" pitchFamily="49" charset="-122"/>
              </a:rPr>
              <a:t>printstar</a:t>
            </a:r>
            <a:r>
              <a:rPr lang="en-US" altLang="zh-CN" b="1" dirty="0">
                <a:latin typeface="Times New Roman" pitchFamily="18" charset="0"/>
                <a:ea typeface="隶书" pitchFamily="49" charset="-122"/>
              </a:rPr>
              <a:t>();</a:t>
            </a:r>
          </a:p>
          <a:p>
            <a:pPr algn="l" eaLnBrk="0" hangingPunct="0">
              <a:lnSpc>
                <a:spcPct val="80000"/>
              </a:lnSpc>
            </a:pPr>
            <a:r>
              <a:rPr lang="en-US" altLang="zh-CN" b="1" dirty="0">
                <a:latin typeface="Times New Roman" pitchFamily="18" charset="0"/>
                <a:ea typeface="隶书" pitchFamily="49" charset="-122"/>
              </a:rPr>
              <a:t>      </a:t>
            </a:r>
            <a:r>
              <a:rPr lang="en-US" altLang="zh-CN" b="1" dirty="0" err="1">
                <a:latin typeface="Times New Roman" pitchFamily="18" charset="0"/>
                <a:ea typeface="隶书" pitchFamily="49" charset="-122"/>
              </a:rPr>
              <a:t>printf</a:t>
            </a:r>
            <a:r>
              <a:rPr lang="en-US" altLang="zh-CN" b="1" dirty="0">
                <a:latin typeface="Times New Roman" pitchFamily="18" charset="0"/>
                <a:ea typeface="隶书" pitchFamily="49" charset="-122"/>
              </a:rPr>
              <a:t>("hello!\n");</a:t>
            </a:r>
          </a:p>
          <a:p>
            <a:pPr algn="l" eaLnBrk="0" hangingPunct="0">
              <a:lnSpc>
                <a:spcPct val="80000"/>
              </a:lnSpc>
            </a:pPr>
            <a:r>
              <a:rPr lang="en-US" altLang="zh-CN" b="1" dirty="0">
                <a:latin typeface="Times New Roman" pitchFamily="18" charset="0"/>
                <a:ea typeface="隶书" pitchFamily="49" charset="-122"/>
              </a:rPr>
              <a:t>}</a:t>
            </a:r>
          </a:p>
        </p:txBody>
      </p:sp>
      <p:sp>
        <p:nvSpPr>
          <p:cNvPr id="16" name="Rectangle 6">
            <a:extLst>
              <a:ext uri="{FF2B5EF4-FFF2-40B4-BE49-F238E27FC236}">
                <a16:creationId xmlns:a16="http://schemas.microsoft.com/office/drawing/2014/main" id="{584FCE7A-D531-46AC-AE2A-5665BD25DB89}"/>
              </a:ext>
            </a:extLst>
          </p:cNvPr>
          <p:cNvSpPr>
            <a:spLocks noChangeArrowheads="1"/>
          </p:cNvSpPr>
          <p:nvPr/>
        </p:nvSpPr>
        <p:spPr bwMode="auto">
          <a:xfrm>
            <a:off x="1819274" y="3008611"/>
            <a:ext cx="9047199" cy="1569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5113" lvl="3" indent="-265113">
              <a:lnSpc>
                <a:spcPct val="150000"/>
              </a:lnSpc>
              <a:spcBef>
                <a:spcPct val="20000"/>
              </a:spcBef>
              <a:buClr>
                <a:schemeClr val="hlink"/>
              </a:buClr>
              <a:buFont typeface="Wingdings" pitchFamily="2" charset="2"/>
              <a:buChar char="ü"/>
            </a:pPr>
            <a:r>
              <a:rPr lang="en-US" altLang="zh-CN" sz="3200" b="1" dirty="0">
                <a:latin typeface="Times New Roman" pitchFamily="18" charset="0"/>
              </a:rPr>
              <a:t> </a:t>
            </a:r>
            <a:r>
              <a:rPr lang="zh-CN" altLang="zh-CN" sz="3200" b="1" dirty="0">
                <a:latin typeface="Times New Roman" pitchFamily="18" charset="0"/>
              </a:rPr>
              <a:t>若函数类型与</a:t>
            </a:r>
            <a:r>
              <a:rPr lang="en-US" altLang="zh-CN" sz="3200" b="1" dirty="0">
                <a:latin typeface="Times New Roman" pitchFamily="18" charset="0"/>
              </a:rPr>
              <a:t>return</a:t>
            </a:r>
            <a:r>
              <a:rPr lang="zh-CN" altLang="zh-CN" sz="3200" b="1" dirty="0">
                <a:latin typeface="Times New Roman" pitchFamily="18" charset="0"/>
              </a:rPr>
              <a:t>语句中返回值类型不一致，以函数类型为准</a:t>
            </a:r>
          </a:p>
        </p:txBody>
      </p:sp>
      <p:sp>
        <p:nvSpPr>
          <p:cNvPr id="17" name="Rectangle 7">
            <a:extLst>
              <a:ext uri="{FF2B5EF4-FFF2-40B4-BE49-F238E27FC236}">
                <a16:creationId xmlns:a16="http://schemas.microsoft.com/office/drawing/2014/main" id="{BD4A6964-C310-4F1A-A851-08193C381D8E}"/>
              </a:ext>
            </a:extLst>
          </p:cNvPr>
          <p:cNvSpPr>
            <a:spLocks noChangeArrowheads="1"/>
          </p:cNvSpPr>
          <p:nvPr/>
        </p:nvSpPr>
        <p:spPr bwMode="auto">
          <a:xfrm>
            <a:off x="3679627" y="4584639"/>
            <a:ext cx="5040560" cy="1668149"/>
          </a:xfrm>
          <a:prstGeom prst="rect">
            <a:avLst/>
          </a:prstGeom>
          <a:noFill/>
          <a:ln w="38100">
            <a:solidFill>
              <a:schemeClr val="tx2">
                <a:lumMod val="60000"/>
                <a:lumOff val="40000"/>
              </a:schemeClr>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eaLnBrk="0" hangingPunct="0">
              <a:lnSpc>
                <a:spcPct val="80000"/>
              </a:lnSpc>
            </a:pPr>
            <a:r>
              <a:rPr lang="en-US" altLang="zh-CN" sz="3200" b="1" dirty="0">
                <a:solidFill>
                  <a:srgbClr val="C00000"/>
                </a:solidFill>
                <a:latin typeface="Times New Roman" pitchFamily="18" charset="0"/>
              </a:rPr>
              <a:t>#include "</a:t>
            </a:r>
            <a:r>
              <a:rPr lang="en-US" altLang="zh-CN" sz="3200" b="1" dirty="0" err="1">
                <a:solidFill>
                  <a:srgbClr val="C00000"/>
                </a:solidFill>
                <a:latin typeface="Times New Roman" pitchFamily="18" charset="0"/>
              </a:rPr>
              <a:t>stdio.h</a:t>
            </a:r>
            <a:r>
              <a:rPr lang="en-US" altLang="zh-CN" sz="3200" b="1" dirty="0">
                <a:solidFill>
                  <a:srgbClr val="C00000"/>
                </a:solidFill>
                <a:latin typeface="Times New Roman" pitchFamily="18" charset="0"/>
              </a:rPr>
              <a:t>"</a:t>
            </a:r>
          </a:p>
          <a:p>
            <a:pPr algn="l" eaLnBrk="0" hangingPunct="0">
              <a:lnSpc>
                <a:spcPct val="80000"/>
              </a:lnSpc>
            </a:pPr>
            <a:r>
              <a:rPr lang="en-US" altLang="zh-CN" sz="3200" b="1" dirty="0" err="1">
                <a:solidFill>
                  <a:srgbClr val="C00000"/>
                </a:solidFill>
                <a:latin typeface="Times New Roman" pitchFamily="18" charset="0"/>
              </a:rPr>
              <a:t>int</a:t>
            </a:r>
            <a:r>
              <a:rPr lang="en-US" altLang="zh-CN" sz="3200" b="1" dirty="0">
                <a:solidFill>
                  <a:srgbClr val="FF0000"/>
                </a:solidFill>
                <a:latin typeface="Times New Roman" pitchFamily="18" charset="0"/>
              </a:rPr>
              <a:t> </a:t>
            </a:r>
            <a:r>
              <a:rPr lang="en-US" altLang="zh-CN" sz="3200" b="1" dirty="0">
                <a:latin typeface="Times New Roman" pitchFamily="18" charset="0"/>
              </a:rPr>
              <a:t>sum(float a, float b) </a:t>
            </a:r>
          </a:p>
          <a:p>
            <a:pPr algn="l" eaLnBrk="0" hangingPunct="0">
              <a:lnSpc>
                <a:spcPct val="80000"/>
              </a:lnSpc>
            </a:pPr>
            <a:r>
              <a:rPr lang="en-US" altLang="zh-CN" sz="3200" b="1" dirty="0">
                <a:solidFill>
                  <a:srgbClr val="C00000"/>
                </a:solidFill>
                <a:latin typeface="Times New Roman" pitchFamily="18" charset="0"/>
              </a:rPr>
              <a:t>{  </a:t>
            </a:r>
            <a:r>
              <a:rPr lang="en-US" altLang="zh-CN" sz="3200" b="1" dirty="0">
                <a:latin typeface="Times New Roman" pitchFamily="18" charset="0"/>
              </a:rPr>
              <a:t>  return </a:t>
            </a:r>
            <a:r>
              <a:rPr lang="en-US" altLang="zh-CN" sz="3200" b="1" dirty="0" err="1">
                <a:latin typeface="Times New Roman" pitchFamily="18" charset="0"/>
              </a:rPr>
              <a:t>a+b</a:t>
            </a:r>
            <a:r>
              <a:rPr lang="en-US" altLang="zh-CN" sz="3200" b="1" dirty="0">
                <a:latin typeface="Times New Roman" pitchFamily="18" charset="0"/>
              </a:rPr>
              <a:t>;   </a:t>
            </a:r>
          </a:p>
          <a:p>
            <a:pPr algn="l" eaLnBrk="0" hangingPunct="0">
              <a:lnSpc>
                <a:spcPct val="80000"/>
              </a:lnSpc>
            </a:pPr>
            <a:r>
              <a:rPr lang="en-US" altLang="zh-CN" sz="3200" b="1" dirty="0">
                <a:solidFill>
                  <a:srgbClr val="C00000"/>
                </a:solidFill>
                <a:latin typeface="Times New Roman" pitchFamily="18" charset="0"/>
              </a:rPr>
              <a:t>}</a:t>
            </a:r>
          </a:p>
        </p:txBody>
      </p:sp>
    </p:spTree>
    <p:extLst>
      <p:ext uri="{BB962C8B-B14F-4D97-AF65-F5344CB8AC3E}">
        <p14:creationId xmlns:p14="http://schemas.microsoft.com/office/powerpoint/2010/main" val="36496135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4658">
                                            <p:txEl>
                                              <p:pRg st="0" end="0"/>
                                            </p:txEl>
                                          </p:spTgt>
                                        </p:tgtEl>
                                        <p:attrNameLst>
                                          <p:attrName>style.visibility</p:attrName>
                                        </p:attrNameLst>
                                      </p:cBhvr>
                                      <p:to>
                                        <p:strVal val="visible"/>
                                      </p:to>
                                    </p:set>
                                    <p:animEffect transition="in" filter="wipe(left)">
                                      <p:cBhvr>
                                        <p:cTn id="7" dur="500"/>
                                        <p:tgtEl>
                                          <p:spTgt spid="45465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4662"/>
                                        </p:tgtEl>
                                        <p:attrNameLst>
                                          <p:attrName>style.visibility</p:attrName>
                                        </p:attrNameLst>
                                      </p:cBhvr>
                                      <p:to>
                                        <p:strVal val="visible"/>
                                      </p:to>
                                    </p:set>
                                    <p:animEffect transition="in" filter="wipe(left)">
                                      <p:cBhvr>
                                        <p:cTn id="12" dur="500"/>
                                        <p:tgtEl>
                                          <p:spTgt spid="4546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4663"/>
                                        </p:tgtEl>
                                        <p:attrNameLst>
                                          <p:attrName>style.visibility</p:attrName>
                                        </p:attrNameLst>
                                      </p:cBhvr>
                                      <p:to>
                                        <p:strVal val="visible"/>
                                      </p:to>
                                    </p:set>
                                    <p:animEffect transition="in" filter="dissolve">
                                      <p:cBhvr>
                                        <p:cTn id="17" dur="500"/>
                                        <p:tgtEl>
                                          <p:spTgt spid="4546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1" nodeType="clickEffect">
                                  <p:stCondLst>
                                    <p:cond delay="0"/>
                                  </p:stCondLst>
                                  <p:childTnLst>
                                    <p:animEffect transition="out" filter="wipe(down)">
                                      <p:cBhvr>
                                        <p:cTn id="21" dur="500"/>
                                        <p:tgtEl>
                                          <p:spTgt spid="454663"/>
                                        </p:tgtEl>
                                      </p:cBhvr>
                                    </p:animEffect>
                                    <p:set>
                                      <p:cBhvr>
                                        <p:cTn id="22" dur="1" fill="hold">
                                          <p:stCondLst>
                                            <p:cond delay="499"/>
                                          </p:stCondLst>
                                        </p:cTn>
                                        <p:tgtEl>
                                          <p:spTgt spid="45466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ox(out)">
                                      <p:cBhvr>
                                        <p:cTn id="32"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1" nodeType="clickEffect">
                                  <p:stCondLst>
                                    <p:cond delay="0"/>
                                  </p:stCondLst>
                                  <p:childTnLst>
                                    <p:animEffect transition="out" filter="wipe(down)">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dissolve">
                                      <p:cBhvr>
                                        <p:cTn id="4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62" grpId="0" autoUpdateAnimBg="0"/>
      <p:bldP spid="454663" grpId="0" animBg="1" autoUpdateAnimBg="0"/>
      <p:bldP spid="454663" grpId="1" animBg="1"/>
      <p:bldP spid="454658" grpId="0" build="p" bldLvl="4" autoUpdateAnimBg="0"/>
      <p:bldP spid="14" grpId="0" autoUpdateAnimBg="0"/>
      <p:bldP spid="15" grpId="0" animBg="1" autoUpdateAnimBg="0"/>
      <p:bldP spid="15" grpId="1" animBg="1"/>
      <p:bldP spid="16" grpId="0" autoUpdateAnimBg="0"/>
      <p:bldP spid="17"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3"/>
          <p:cNvSpPr>
            <a:spLocks noGrp="1"/>
          </p:cNvSpPr>
          <p:nvPr>
            <p:ph type="sldNum" sz="quarter" idx="12"/>
          </p:nvPr>
        </p:nvSpPr>
        <p:spPr/>
        <p:txBody>
          <a:bodyPr/>
          <a:lstStyle/>
          <a:p>
            <a:pPr>
              <a:defRPr/>
            </a:pPr>
            <a:endParaRPr lang="en-US" altLang="zh-CN" dirty="0"/>
          </a:p>
        </p:txBody>
      </p:sp>
      <p:sp>
        <p:nvSpPr>
          <p:cNvPr id="456706" name="Rectangle 2"/>
          <p:cNvSpPr>
            <a:spLocks noChangeArrowheads="1"/>
          </p:cNvSpPr>
          <p:nvPr/>
        </p:nvSpPr>
        <p:spPr bwMode="auto">
          <a:xfrm>
            <a:off x="2760919" y="1311782"/>
            <a:ext cx="5257800" cy="5016758"/>
          </a:xfrm>
          <a:prstGeom prst="rect">
            <a:avLst/>
          </a:prstGeom>
          <a:noFill/>
          <a:ln w="38100">
            <a:solidFill>
              <a:schemeClr val="tx2">
                <a:lumMod val="60000"/>
                <a:lumOff val="40000"/>
              </a:schemeClr>
            </a:solidFill>
            <a:miter lim="800000"/>
            <a:headEnd/>
            <a:tailEnd/>
          </a:ln>
          <a:effectLst/>
          <a:extLst>
            <a:ext uri="{909E8E84-426E-40DD-AFC4-6F175D3DCCD1}">
              <a14:hiddenFill xmlns:a14="http://schemas.microsoft.com/office/drawing/2010/main">
                <a:solidFill>
                  <a:srgbClr val="E1FFF7"/>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90000"/>
              </a:lnSpc>
            </a:pPr>
            <a:r>
              <a:rPr lang="en-US" altLang="zh-CN" sz="3200" b="1" dirty="0">
                <a:solidFill>
                  <a:srgbClr val="C00000"/>
                </a:solidFill>
                <a:latin typeface="Times New Roman" pitchFamily="18" charset="0"/>
                <a:ea typeface="宋体" charset="-122"/>
              </a:rPr>
              <a:t>#include &lt;</a:t>
            </a:r>
            <a:r>
              <a:rPr lang="en-US" altLang="zh-CN" sz="3200" b="1" dirty="0" err="1">
                <a:solidFill>
                  <a:srgbClr val="C00000"/>
                </a:solidFill>
                <a:latin typeface="Times New Roman" pitchFamily="18" charset="0"/>
                <a:ea typeface="宋体" charset="-122"/>
              </a:rPr>
              <a:t>stdio.h</a:t>
            </a:r>
            <a:r>
              <a:rPr lang="en-US" altLang="zh-CN" sz="3200" b="1" dirty="0">
                <a:solidFill>
                  <a:srgbClr val="C00000"/>
                </a:solidFill>
                <a:latin typeface="Times New Roman" pitchFamily="18" charset="0"/>
                <a:ea typeface="宋体" charset="-122"/>
              </a:rPr>
              <a:t>&gt;</a:t>
            </a:r>
          </a:p>
          <a:p>
            <a:pPr algn="l" eaLnBrk="0" hangingPunct="0">
              <a:lnSpc>
                <a:spcPct val="90000"/>
              </a:lnSpc>
            </a:pPr>
            <a:r>
              <a:rPr lang="en-US" altLang="zh-CN" sz="3200" b="1" dirty="0">
                <a:solidFill>
                  <a:srgbClr val="C00000"/>
                </a:solidFill>
                <a:latin typeface="Times New Roman" pitchFamily="18" charset="0"/>
                <a:ea typeface="宋体" charset="-122"/>
              </a:rPr>
              <a:t>max(</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x, </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y)</a:t>
            </a:r>
          </a:p>
          <a:p>
            <a:pPr algn="l" eaLnBrk="0" hangingPunct="0">
              <a:lnSpc>
                <a:spcPct val="9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z;</a:t>
            </a:r>
          </a:p>
          <a:p>
            <a:pPr algn="l" eaLnBrk="0" hangingPunct="0">
              <a:lnSpc>
                <a:spcPct val="90000"/>
              </a:lnSpc>
            </a:pPr>
            <a:r>
              <a:rPr lang="en-US" altLang="zh-CN" sz="3200" b="1" dirty="0">
                <a:latin typeface="Times New Roman" pitchFamily="18" charset="0"/>
                <a:ea typeface="宋体" charset="-122"/>
              </a:rPr>
              <a:t>       z=x&gt;</a:t>
            </a:r>
            <a:r>
              <a:rPr lang="en-US" altLang="zh-CN" sz="3200" b="1" dirty="0" err="1">
                <a:latin typeface="Times New Roman" pitchFamily="18" charset="0"/>
                <a:ea typeface="宋体" charset="-122"/>
              </a:rPr>
              <a:t>y?x:y</a:t>
            </a:r>
            <a:r>
              <a:rPr lang="en-US" altLang="zh-CN" sz="3200" b="1" dirty="0">
                <a:latin typeface="Times New Roman" pitchFamily="18" charset="0"/>
                <a:ea typeface="宋体" charset="-122"/>
              </a:rPr>
              <a:t>;</a:t>
            </a:r>
          </a:p>
          <a:p>
            <a:pPr algn="l" eaLnBrk="0" hangingPunct="0">
              <a:lnSpc>
                <a:spcPct val="90000"/>
              </a:lnSpc>
            </a:pPr>
            <a:r>
              <a:rPr lang="en-US" altLang="zh-CN" sz="3200" b="1" dirty="0">
                <a:solidFill>
                  <a:srgbClr val="FF0000"/>
                </a:solidFill>
                <a:latin typeface="Times New Roman" pitchFamily="18" charset="0"/>
                <a:ea typeface="宋体" charset="-122"/>
              </a:rPr>
              <a:t>       </a:t>
            </a:r>
            <a:r>
              <a:rPr lang="en-US" altLang="zh-CN" sz="3200" b="1" dirty="0">
                <a:solidFill>
                  <a:srgbClr val="C00000"/>
                </a:solidFill>
                <a:latin typeface="Times New Roman" pitchFamily="18" charset="0"/>
                <a:ea typeface="宋体" charset="-122"/>
              </a:rPr>
              <a:t>return(z);</a:t>
            </a:r>
          </a:p>
          <a:p>
            <a:pPr algn="l" eaLnBrk="0" hangingPunct="0">
              <a:lnSpc>
                <a:spcPct val="90000"/>
              </a:lnSpc>
            </a:pPr>
            <a:r>
              <a:rPr lang="en-US" altLang="zh-CN" sz="3200" b="1" dirty="0">
                <a:latin typeface="Times New Roman" pitchFamily="18" charset="0"/>
                <a:ea typeface="宋体" charset="-122"/>
              </a:rPr>
              <a:t>}</a:t>
            </a:r>
          </a:p>
          <a:p>
            <a:pPr algn="l" eaLnBrk="0" hangingPunct="0"/>
            <a:endParaRPr lang="en-US" altLang="zh-CN" sz="3200" b="1" dirty="0">
              <a:latin typeface="Times New Roman" pitchFamily="18" charset="0"/>
              <a:ea typeface="宋体" charset="-122"/>
            </a:endParaRPr>
          </a:p>
          <a:p>
            <a:pPr algn="l" eaLnBrk="0" hangingPunct="0"/>
            <a:endParaRPr lang="en-US" altLang="zh-CN" sz="3200" b="1" dirty="0">
              <a:latin typeface="Times New Roman" pitchFamily="18" charset="0"/>
              <a:ea typeface="宋体" charset="-122"/>
            </a:endParaRPr>
          </a:p>
          <a:p>
            <a:pPr algn="l" eaLnBrk="0" hangingPunct="0"/>
            <a:endParaRPr lang="en-US" altLang="zh-CN" sz="3200" b="1" dirty="0">
              <a:latin typeface="Times New Roman" pitchFamily="18" charset="0"/>
              <a:ea typeface="宋体" charset="-122"/>
            </a:endParaRPr>
          </a:p>
          <a:p>
            <a:pPr algn="l" eaLnBrk="0" hangingPunct="0">
              <a:lnSpc>
                <a:spcPct val="80000"/>
              </a:lnSpc>
            </a:pPr>
            <a:endParaRPr lang="en-US" altLang="zh-CN" sz="3200" b="1" dirty="0">
              <a:latin typeface="Times New Roman" pitchFamily="18" charset="0"/>
              <a:ea typeface="宋体" charset="-122"/>
            </a:endParaRPr>
          </a:p>
          <a:p>
            <a:pPr algn="l" eaLnBrk="0" hangingPunct="0">
              <a:lnSpc>
                <a:spcPct val="80000"/>
              </a:lnSpc>
            </a:pPr>
            <a:endParaRPr lang="en-US" altLang="zh-CN" sz="3200" b="1" dirty="0">
              <a:latin typeface="Times New Roman" pitchFamily="18" charset="0"/>
              <a:ea typeface="宋体" charset="-122"/>
            </a:endParaRPr>
          </a:p>
        </p:txBody>
      </p:sp>
      <p:sp>
        <p:nvSpPr>
          <p:cNvPr id="456721" name="Rectangle 17"/>
          <p:cNvSpPr>
            <a:spLocks noChangeArrowheads="1"/>
          </p:cNvSpPr>
          <p:nvPr/>
        </p:nvSpPr>
        <p:spPr bwMode="auto">
          <a:xfrm>
            <a:off x="6037519" y="1381632"/>
            <a:ext cx="4114800" cy="3048000"/>
          </a:xfrm>
          <a:prstGeom prst="rect">
            <a:avLst/>
          </a:prstGeom>
          <a:solidFill>
            <a:srgbClr val="FF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456722" name="Line 18"/>
          <p:cNvSpPr>
            <a:spLocks noChangeShapeType="1"/>
          </p:cNvSpPr>
          <p:nvPr/>
        </p:nvSpPr>
        <p:spPr bwMode="auto">
          <a:xfrm>
            <a:off x="6494720" y="1915032"/>
            <a:ext cx="3516313" cy="0"/>
          </a:xfrm>
          <a:prstGeom prst="line">
            <a:avLst/>
          </a:prstGeom>
          <a:noFill/>
          <a:ln w="9525">
            <a:solidFill>
              <a:schemeClr val="tx2">
                <a:lumMod val="60000"/>
                <a:lumOff val="40000"/>
              </a:schemeClr>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456723" name="Text Box 19"/>
          <p:cNvSpPr txBox="1">
            <a:spLocks noChangeArrowheads="1"/>
          </p:cNvSpPr>
          <p:nvPr/>
        </p:nvSpPr>
        <p:spPr bwMode="auto">
          <a:xfrm>
            <a:off x="6572903" y="1268221"/>
            <a:ext cx="26924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a:r>
              <a:rPr lang="en-US" altLang="zh-CN" sz="3600" b="1" dirty="0">
                <a:latin typeface="Times New Roman" pitchFamily="18" charset="0"/>
                <a:ea typeface="隶书" pitchFamily="49" charset="-122"/>
              </a:rPr>
              <a:t>m=</a:t>
            </a:r>
            <a:r>
              <a:rPr lang="en-US" altLang="zh-CN" sz="3600" b="1" dirty="0">
                <a:solidFill>
                  <a:srgbClr val="C00000"/>
                </a:solidFill>
                <a:latin typeface="Times New Roman" pitchFamily="18" charset="0"/>
                <a:ea typeface="隶书" pitchFamily="49" charset="-122"/>
              </a:rPr>
              <a:t>max(3,5)</a:t>
            </a:r>
            <a:r>
              <a:rPr lang="en-US" altLang="zh-CN" sz="3600" b="1" dirty="0">
                <a:latin typeface="Times New Roman" pitchFamily="18" charset="0"/>
                <a:ea typeface="隶书" pitchFamily="49" charset="-122"/>
              </a:rPr>
              <a:t>;</a:t>
            </a:r>
          </a:p>
        </p:txBody>
      </p:sp>
      <p:sp>
        <p:nvSpPr>
          <p:cNvPr id="456724" name="Text Box 20"/>
          <p:cNvSpPr txBox="1">
            <a:spLocks noChangeArrowheads="1"/>
          </p:cNvSpPr>
          <p:nvPr/>
        </p:nvSpPr>
        <p:spPr bwMode="auto">
          <a:xfrm>
            <a:off x="6712207" y="1991232"/>
            <a:ext cx="3308350" cy="2290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a:lnSpc>
                <a:spcPct val="80000"/>
              </a:lnSpc>
            </a:pPr>
            <a:r>
              <a:rPr lang="en-US" altLang="zh-CN" sz="3600" b="1">
                <a:latin typeface="Times New Roman" pitchFamily="18" charset="0"/>
                <a:ea typeface="隶书" pitchFamily="49" charset="-122"/>
              </a:rPr>
              <a:t>max(int x, int y)</a:t>
            </a:r>
          </a:p>
          <a:p>
            <a:pPr algn="l">
              <a:lnSpc>
                <a:spcPct val="80000"/>
              </a:lnSpc>
            </a:pPr>
            <a:r>
              <a:rPr lang="en-US" altLang="zh-CN" sz="3600" b="1">
                <a:latin typeface="Times New Roman" pitchFamily="18" charset="0"/>
                <a:ea typeface="隶书" pitchFamily="49" charset="-122"/>
              </a:rPr>
              <a:t>{   int z;</a:t>
            </a:r>
          </a:p>
          <a:p>
            <a:pPr algn="l">
              <a:lnSpc>
                <a:spcPct val="80000"/>
              </a:lnSpc>
            </a:pPr>
            <a:r>
              <a:rPr lang="en-US" altLang="zh-CN" sz="3600" b="1">
                <a:latin typeface="Times New Roman" pitchFamily="18" charset="0"/>
                <a:ea typeface="隶书" pitchFamily="49" charset="-122"/>
              </a:rPr>
              <a:t>     z=x&gt;y?x:y;</a:t>
            </a:r>
          </a:p>
          <a:p>
            <a:pPr algn="l">
              <a:lnSpc>
                <a:spcPct val="80000"/>
              </a:lnSpc>
            </a:pPr>
            <a:r>
              <a:rPr lang="en-US" altLang="zh-CN" sz="3600" b="1">
                <a:latin typeface="Times New Roman" pitchFamily="18" charset="0"/>
                <a:ea typeface="隶书" pitchFamily="49" charset="-122"/>
              </a:rPr>
              <a:t>     return(z);</a:t>
            </a:r>
          </a:p>
          <a:p>
            <a:pPr algn="l">
              <a:lnSpc>
                <a:spcPct val="80000"/>
              </a:lnSpc>
            </a:pPr>
            <a:r>
              <a:rPr lang="en-US" altLang="zh-CN" sz="3600" b="1">
                <a:latin typeface="Times New Roman" pitchFamily="18" charset="0"/>
                <a:ea typeface="隶书" pitchFamily="49" charset="-122"/>
              </a:rPr>
              <a:t>} </a:t>
            </a:r>
          </a:p>
        </p:txBody>
      </p:sp>
      <p:sp>
        <p:nvSpPr>
          <p:cNvPr id="456725" name="Line 21"/>
          <p:cNvSpPr>
            <a:spLocks noChangeShapeType="1"/>
          </p:cNvSpPr>
          <p:nvPr/>
        </p:nvSpPr>
        <p:spPr bwMode="auto">
          <a:xfrm>
            <a:off x="8388607" y="1762632"/>
            <a:ext cx="152400" cy="457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456726" name="Line 22"/>
          <p:cNvSpPr>
            <a:spLocks noChangeShapeType="1"/>
          </p:cNvSpPr>
          <p:nvPr/>
        </p:nvSpPr>
        <p:spPr bwMode="auto">
          <a:xfrm>
            <a:off x="8769607" y="1762632"/>
            <a:ext cx="838200" cy="457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456727" name="Line 23"/>
          <p:cNvSpPr>
            <a:spLocks noChangeShapeType="1"/>
          </p:cNvSpPr>
          <p:nvPr/>
        </p:nvSpPr>
        <p:spPr bwMode="auto">
          <a:xfrm>
            <a:off x="8858507" y="3745420"/>
            <a:ext cx="0" cy="55721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456728" name="Line 24"/>
          <p:cNvSpPr>
            <a:spLocks noChangeShapeType="1"/>
          </p:cNvSpPr>
          <p:nvPr/>
        </p:nvSpPr>
        <p:spPr bwMode="auto">
          <a:xfrm flipH="1">
            <a:off x="6166107" y="4289932"/>
            <a:ext cx="27051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56729" name="Line 25"/>
          <p:cNvSpPr>
            <a:spLocks noChangeShapeType="1"/>
          </p:cNvSpPr>
          <p:nvPr/>
        </p:nvSpPr>
        <p:spPr bwMode="auto">
          <a:xfrm flipV="1">
            <a:off x="6178807" y="2169033"/>
            <a:ext cx="0" cy="210343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p>
        </p:txBody>
      </p:sp>
      <p:sp>
        <p:nvSpPr>
          <p:cNvPr id="456730" name="Rectangle 26"/>
          <p:cNvSpPr>
            <a:spLocks noChangeArrowheads="1"/>
          </p:cNvSpPr>
          <p:nvPr/>
        </p:nvSpPr>
        <p:spPr bwMode="auto">
          <a:xfrm>
            <a:off x="7815520" y="2852467"/>
            <a:ext cx="1558925" cy="533400"/>
          </a:xfrm>
          <a:prstGeom prst="rect">
            <a:avLst/>
          </a:prstGeom>
          <a:solidFill>
            <a:srgbClr val="FF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l"/>
            <a:r>
              <a:rPr lang="en-US" altLang="zh-CN" sz="3200" b="1" dirty="0">
                <a:solidFill>
                  <a:srgbClr val="C00000"/>
                </a:solidFill>
                <a:latin typeface="Times New Roman" pitchFamily="18" charset="0"/>
              </a:rPr>
              <a:t>5</a:t>
            </a:r>
          </a:p>
        </p:txBody>
      </p:sp>
      <p:sp>
        <p:nvSpPr>
          <p:cNvPr id="456731" name="Rectangle 27"/>
          <p:cNvSpPr>
            <a:spLocks noChangeArrowheads="1"/>
          </p:cNvSpPr>
          <p:nvPr/>
        </p:nvSpPr>
        <p:spPr bwMode="auto">
          <a:xfrm>
            <a:off x="7296407" y="1313369"/>
            <a:ext cx="1752600" cy="533400"/>
          </a:xfrm>
          <a:prstGeom prst="rect">
            <a:avLst/>
          </a:prstGeom>
          <a:solidFill>
            <a:srgbClr val="FF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l"/>
            <a:r>
              <a:rPr lang="en-US" altLang="zh-CN" sz="3600" b="1" dirty="0">
                <a:solidFill>
                  <a:srgbClr val="C00000"/>
                </a:solidFill>
                <a:latin typeface="Times New Roman" pitchFamily="18" charset="0"/>
              </a:rPr>
              <a:t>5</a:t>
            </a:r>
          </a:p>
        </p:txBody>
      </p:sp>
      <p:sp>
        <p:nvSpPr>
          <p:cNvPr id="456732" name="Line 28"/>
          <p:cNvSpPr>
            <a:spLocks noChangeShapeType="1"/>
          </p:cNvSpPr>
          <p:nvPr/>
        </p:nvSpPr>
        <p:spPr bwMode="auto">
          <a:xfrm flipV="1">
            <a:off x="6178807" y="1699132"/>
            <a:ext cx="1295400" cy="48736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p>
        </p:txBody>
      </p:sp>
      <p:sp>
        <p:nvSpPr>
          <p:cNvPr id="456735" name="Rectangle 31"/>
          <p:cNvSpPr>
            <a:spLocks noChangeArrowheads="1"/>
          </p:cNvSpPr>
          <p:nvPr/>
        </p:nvSpPr>
        <p:spPr bwMode="auto">
          <a:xfrm>
            <a:off x="2760919" y="3925796"/>
            <a:ext cx="5715000" cy="2435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80000"/>
              </a:lnSpc>
            </a:pPr>
            <a:r>
              <a:rPr lang="en-US" altLang="zh-CN" sz="3200" b="1" dirty="0">
                <a:latin typeface="Times New Roman" pitchFamily="18" charset="0"/>
                <a:ea typeface="宋体" charset="-122"/>
              </a:rPr>
              <a:t>void main( )</a:t>
            </a:r>
          </a:p>
          <a:p>
            <a:pPr algn="l" eaLnBrk="0" hangingPunct="0">
              <a:lnSpc>
                <a:spcPct val="8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a,b,m</a:t>
            </a:r>
            <a:r>
              <a:rPr lang="en-US" altLang="zh-CN" sz="3200" b="1" dirty="0">
                <a:latin typeface="Times New Roman" pitchFamily="18" charset="0"/>
                <a:ea typeface="宋体" charset="-122"/>
              </a:rPr>
              <a:t>;</a:t>
            </a:r>
          </a:p>
          <a:p>
            <a:pPr algn="l" eaLnBrk="0" hangingPunct="0">
              <a:lnSpc>
                <a:spcPct val="8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scanf</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d,%d",&amp;a,&amp;b</a:t>
            </a:r>
            <a:r>
              <a:rPr lang="en-US" altLang="zh-CN" sz="3200" b="1" dirty="0">
                <a:latin typeface="Times New Roman" pitchFamily="18" charset="0"/>
                <a:ea typeface="宋体" charset="-122"/>
              </a:rPr>
              <a:t>);</a:t>
            </a:r>
          </a:p>
          <a:p>
            <a:pPr algn="l" eaLnBrk="0" hangingPunct="0">
              <a:lnSpc>
                <a:spcPct val="80000"/>
              </a:lnSpc>
            </a:pPr>
            <a:r>
              <a:rPr lang="en-US" altLang="zh-CN" sz="3200" b="1" dirty="0">
                <a:latin typeface="Times New Roman" pitchFamily="18" charset="0"/>
                <a:ea typeface="宋体" charset="-122"/>
              </a:rPr>
              <a:t>      m=</a:t>
            </a:r>
            <a:r>
              <a:rPr lang="en-US" altLang="zh-CN" sz="3200" b="1" dirty="0">
                <a:solidFill>
                  <a:srgbClr val="C00000"/>
                </a:solidFill>
                <a:latin typeface="Times New Roman" pitchFamily="18" charset="0"/>
                <a:ea typeface="宋体" charset="-122"/>
              </a:rPr>
              <a:t>max(</a:t>
            </a:r>
            <a:r>
              <a:rPr lang="en-US" altLang="zh-CN" sz="3200" b="1" dirty="0" err="1">
                <a:solidFill>
                  <a:srgbClr val="C00000"/>
                </a:solidFill>
                <a:latin typeface="Times New Roman" pitchFamily="18" charset="0"/>
                <a:ea typeface="宋体" charset="-122"/>
              </a:rPr>
              <a:t>a,b</a:t>
            </a:r>
            <a:r>
              <a:rPr lang="en-US" altLang="zh-CN" sz="3200" b="1" dirty="0">
                <a:solidFill>
                  <a:srgbClr val="C00000"/>
                </a:solidFill>
                <a:latin typeface="Times New Roman" pitchFamily="18" charset="0"/>
                <a:ea typeface="宋体" charset="-122"/>
              </a:rPr>
              <a:t>)</a:t>
            </a:r>
            <a:r>
              <a:rPr lang="en-US" altLang="zh-CN" sz="3200" b="1" dirty="0">
                <a:latin typeface="Times New Roman" pitchFamily="18" charset="0"/>
                <a:ea typeface="宋体" charset="-122"/>
              </a:rPr>
              <a:t>;</a:t>
            </a:r>
          </a:p>
          <a:p>
            <a:pPr algn="l" eaLnBrk="0" hangingPunct="0">
              <a:lnSpc>
                <a:spcPct val="8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("max is %d\</a:t>
            </a:r>
            <a:r>
              <a:rPr lang="en-US" altLang="zh-CN" sz="3200" b="1" dirty="0" err="1">
                <a:latin typeface="Times New Roman" pitchFamily="18" charset="0"/>
                <a:ea typeface="宋体" charset="-122"/>
              </a:rPr>
              <a:t>n",m</a:t>
            </a:r>
            <a:r>
              <a:rPr lang="en-US" altLang="zh-CN" sz="3200" b="1" dirty="0">
                <a:latin typeface="Times New Roman" pitchFamily="18" charset="0"/>
                <a:ea typeface="宋体" charset="-122"/>
              </a:rPr>
              <a:t>);</a:t>
            </a:r>
          </a:p>
          <a:p>
            <a:pPr algn="l" eaLnBrk="0" hangingPunct="0">
              <a:lnSpc>
                <a:spcPct val="80000"/>
              </a:lnSpc>
            </a:pPr>
            <a:r>
              <a:rPr lang="en-US" altLang="zh-CN" sz="3200" b="1" dirty="0">
                <a:latin typeface="Times New Roman" pitchFamily="18" charset="0"/>
                <a:ea typeface="宋体" charset="-122"/>
              </a:rPr>
              <a:t>}</a:t>
            </a:r>
          </a:p>
        </p:txBody>
      </p:sp>
      <p:grpSp>
        <p:nvGrpSpPr>
          <p:cNvPr id="18" name="组合 17">
            <a:extLst>
              <a:ext uri="{FF2B5EF4-FFF2-40B4-BE49-F238E27FC236}">
                <a16:creationId xmlns:a16="http://schemas.microsoft.com/office/drawing/2014/main" id="{1B43E70B-59DA-48EF-ABC1-D2FFE32A55A8}"/>
              </a:ext>
            </a:extLst>
          </p:cNvPr>
          <p:cNvGrpSpPr/>
          <p:nvPr/>
        </p:nvGrpSpPr>
        <p:grpSpPr>
          <a:xfrm>
            <a:off x="0" y="146686"/>
            <a:ext cx="12192000" cy="932769"/>
            <a:chOff x="0" y="146686"/>
            <a:chExt cx="12192000" cy="932769"/>
          </a:xfrm>
        </p:grpSpPr>
        <p:sp>
          <p:nvSpPr>
            <p:cNvPr id="19" name="矩形 18">
              <a:extLst>
                <a:ext uri="{FF2B5EF4-FFF2-40B4-BE49-F238E27FC236}">
                  <a16:creationId xmlns:a16="http://schemas.microsoft.com/office/drawing/2014/main" id="{B25E0789-CBC8-461D-9B97-D6072D34C7EF}"/>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EDFB95B9-0AF9-44FB-87F6-FD696845B341}"/>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EA19BE0-8BE6-4526-944E-DBE1741438BB}"/>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0D68F5D2-0DD8-41D4-8A65-94C706585E00}"/>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23990684-B2A7-428D-B600-CC572AA20A8A}"/>
                </a:ext>
              </a:extLst>
            </p:cNvPr>
            <p:cNvPicPr>
              <a:picLocks noChangeAspect="1"/>
            </p:cNvPicPr>
            <p:nvPr/>
          </p:nvPicPr>
          <p:blipFill>
            <a:blip r:embed="rId3"/>
            <a:stretch>
              <a:fillRect/>
            </a:stretch>
          </p:blipFill>
          <p:spPr>
            <a:xfrm>
              <a:off x="3261743" y="146686"/>
              <a:ext cx="6054852" cy="932769"/>
            </a:xfrm>
            <a:prstGeom prst="rect">
              <a:avLst/>
            </a:prstGeom>
          </p:spPr>
        </p:pic>
      </p:grpSp>
      <p:sp>
        <p:nvSpPr>
          <p:cNvPr id="24580" name="Rectangle 3"/>
          <p:cNvSpPr>
            <a:spLocks noChangeArrowheads="1"/>
          </p:cNvSpPr>
          <p:nvPr/>
        </p:nvSpPr>
        <p:spPr bwMode="auto">
          <a:xfrm>
            <a:off x="3890399" y="320938"/>
            <a:ext cx="4659944" cy="525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lgn="l"/>
            <a:r>
              <a:rPr lang="zh-CN" altLang="en-US" sz="2800" b="1" dirty="0">
                <a:solidFill>
                  <a:srgbClr val="C00000"/>
                </a:solidFill>
                <a:latin typeface="Times New Roman" pitchFamily="18" charset="0"/>
              </a:rPr>
              <a:t>案例</a:t>
            </a:r>
            <a:r>
              <a:rPr lang="zh-CN" altLang="en-US" sz="2800" b="1" dirty="0">
                <a:solidFill>
                  <a:srgbClr val="FF5555"/>
                </a:solidFill>
                <a:latin typeface="Times New Roman" pitchFamily="18" charset="0"/>
              </a:rPr>
              <a:t> </a:t>
            </a:r>
            <a:r>
              <a:rPr lang="zh-CN" altLang="en-US" sz="2800" b="1" dirty="0">
                <a:latin typeface="Times New Roman" pitchFamily="18" charset="0"/>
              </a:rPr>
              <a:t>比较两数并输出较大数</a:t>
            </a:r>
            <a:endParaRPr lang="zh-CN" altLang="en-US" sz="2800" b="1" dirty="0">
              <a:solidFill>
                <a:srgbClr val="FF5555"/>
              </a:solidFill>
              <a:latin typeface="Times New Roman" pitchFamily="18" charset="0"/>
            </a:endParaRPr>
          </a:p>
        </p:txBody>
      </p:sp>
    </p:spTree>
    <p:extLst>
      <p:ext uri="{BB962C8B-B14F-4D97-AF65-F5344CB8AC3E}">
        <p14:creationId xmlns:p14="http://schemas.microsoft.com/office/powerpoint/2010/main" val="30344250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56706"/>
                                        </p:tgtEl>
                                        <p:attrNameLst>
                                          <p:attrName>style.visibility</p:attrName>
                                        </p:attrNameLst>
                                      </p:cBhvr>
                                      <p:to>
                                        <p:strVal val="visible"/>
                                      </p:to>
                                    </p:set>
                                    <p:animEffect transition="in" filter="box(out)">
                                      <p:cBhvr>
                                        <p:cTn id="7" dur="500"/>
                                        <p:tgtEl>
                                          <p:spTgt spid="45670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6735"/>
                                        </p:tgtEl>
                                        <p:attrNameLst>
                                          <p:attrName>style.visibility</p:attrName>
                                        </p:attrNameLst>
                                      </p:cBhvr>
                                      <p:to>
                                        <p:strVal val="visible"/>
                                      </p:to>
                                    </p:set>
                                    <p:animEffect transition="in" filter="dissolve">
                                      <p:cBhvr>
                                        <p:cTn id="12" dur="500"/>
                                        <p:tgtEl>
                                          <p:spTgt spid="4567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6721"/>
                                        </p:tgtEl>
                                        <p:attrNameLst>
                                          <p:attrName>style.visibility</p:attrName>
                                        </p:attrNameLst>
                                      </p:cBhvr>
                                      <p:to>
                                        <p:strVal val="visible"/>
                                      </p:to>
                                    </p:set>
                                    <p:animEffect transition="in" filter="dissolve">
                                      <p:cBhvr>
                                        <p:cTn id="17" dur="500"/>
                                        <p:tgtEl>
                                          <p:spTgt spid="4567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56723"/>
                                        </p:tgtEl>
                                        <p:attrNameLst>
                                          <p:attrName>style.visibility</p:attrName>
                                        </p:attrNameLst>
                                      </p:cBhvr>
                                      <p:to>
                                        <p:strVal val="visible"/>
                                      </p:to>
                                    </p:set>
                                    <p:animEffect transition="in" filter="dissolve">
                                      <p:cBhvr>
                                        <p:cTn id="22" dur="500"/>
                                        <p:tgtEl>
                                          <p:spTgt spid="4567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56722"/>
                                        </p:tgtEl>
                                        <p:attrNameLst>
                                          <p:attrName>style.visibility</p:attrName>
                                        </p:attrNameLst>
                                      </p:cBhvr>
                                      <p:to>
                                        <p:strVal val="visible"/>
                                      </p:to>
                                    </p:set>
                                    <p:animEffect transition="in" filter="dissolve">
                                      <p:cBhvr>
                                        <p:cTn id="27" dur="500"/>
                                        <p:tgtEl>
                                          <p:spTgt spid="4567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56724"/>
                                        </p:tgtEl>
                                        <p:attrNameLst>
                                          <p:attrName>style.visibility</p:attrName>
                                        </p:attrNameLst>
                                      </p:cBhvr>
                                      <p:to>
                                        <p:strVal val="visible"/>
                                      </p:to>
                                    </p:set>
                                    <p:animEffect transition="in" filter="dissolve">
                                      <p:cBhvr>
                                        <p:cTn id="32" dur="500"/>
                                        <p:tgtEl>
                                          <p:spTgt spid="4567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56725"/>
                                        </p:tgtEl>
                                        <p:attrNameLst>
                                          <p:attrName>style.visibility</p:attrName>
                                        </p:attrNameLst>
                                      </p:cBhvr>
                                      <p:to>
                                        <p:strVal val="visible"/>
                                      </p:to>
                                    </p:set>
                                    <p:animEffect transition="in" filter="wipe(up)">
                                      <p:cBhvr>
                                        <p:cTn id="37" dur="500"/>
                                        <p:tgtEl>
                                          <p:spTgt spid="456725"/>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56726"/>
                                        </p:tgtEl>
                                        <p:attrNameLst>
                                          <p:attrName>style.visibility</p:attrName>
                                        </p:attrNameLst>
                                      </p:cBhvr>
                                      <p:to>
                                        <p:strVal val="visible"/>
                                      </p:to>
                                    </p:set>
                                    <p:animEffect transition="in" filter="wipe(up)">
                                      <p:cBhvr>
                                        <p:cTn id="42" dur="500"/>
                                        <p:tgtEl>
                                          <p:spTgt spid="456726"/>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56730"/>
                                        </p:tgtEl>
                                        <p:attrNameLst>
                                          <p:attrName>style.visibility</p:attrName>
                                        </p:attrNameLst>
                                      </p:cBhvr>
                                      <p:to>
                                        <p:strVal val="visible"/>
                                      </p:to>
                                    </p:set>
                                    <p:animEffect transition="in" filter="dissolve">
                                      <p:cBhvr>
                                        <p:cTn id="47" dur="500"/>
                                        <p:tgtEl>
                                          <p:spTgt spid="45673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56727"/>
                                        </p:tgtEl>
                                        <p:attrNameLst>
                                          <p:attrName>style.visibility</p:attrName>
                                        </p:attrNameLst>
                                      </p:cBhvr>
                                      <p:to>
                                        <p:strVal val="visible"/>
                                      </p:to>
                                    </p:set>
                                    <p:animEffect transition="in" filter="wipe(up)">
                                      <p:cBhvr>
                                        <p:cTn id="52" dur="500"/>
                                        <p:tgtEl>
                                          <p:spTgt spid="456727"/>
                                        </p:tgtEl>
                                      </p:cBhvr>
                                    </p:animEffect>
                                  </p:childTnLst>
                                </p:cTn>
                              </p:par>
                            </p:childTnLst>
                          </p:cTn>
                        </p:par>
                        <p:par>
                          <p:cTn id="53" fill="hold" nodeType="afterGroup">
                            <p:stCondLst>
                              <p:cond delay="500"/>
                            </p:stCondLst>
                            <p:childTnLst>
                              <p:par>
                                <p:cTn id="54" presetID="22" presetClass="entr" presetSubtype="2" fill="hold" grpId="0" nodeType="afterEffect">
                                  <p:stCondLst>
                                    <p:cond delay="0"/>
                                  </p:stCondLst>
                                  <p:childTnLst>
                                    <p:set>
                                      <p:cBhvr>
                                        <p:cTn id="55" dur="1" fill="hold">
                                          <p:stCondLst>
                                            <p:cond delay="0"/>
                                          </p:stCondLst>
                                        </p:cTn>
                                        <p:tgtEl>
                                          <p:spTgt spid="456728"/>
                                        </p:tgtEl>
                                        <p:attrNameLst>
                                          <p:attrName>style.visibility</p:attrName>
                                        </p:attrNameLst>
                                      </p:cBhvr>
                                      <p:to>
                                        <p:strVal val="visible"/>
                                      </p:to>
                                    </p:set>
                                    <p:animEffect transition="in" filter="wipe(right)">
                                      <p:cBhvr>
                                        <p:cTn id="56" dur="500"/>
                                        <p:tgtEl>
                                          <p:spTgt spid="456728"/>
                                        </p:tgtEl>
                                      </p:cBhvr>
                                    </p:animEffect>
                                  </p:childTnLst>
                                </p:cTn>
                              </p:par>
                            </p:childTnLst>
                          </p:cTn>
                        </p:par>
                        <p:par>
                          <p:cTn id="57" fill="hold" nodeType="afterGroup">
                            <p:stCondLst>
                              <p:cond delay="1000"/>
                            </p:stCondLst>
                            <p:childTnLst>
                              <p:par>
                                <p:cTn id="58" presetID="22" presetClass="entr" presetSubtype="4" fill="hold" grpId="0" nodeType="afterEffect">
                                  <p:stCondLst>
                                    <p:cond delay="0"/>
                                  </p:stCondLst>
                                  <p:childTnLst>
                                    <p:set>
                                      <p:cBhvr>
                                        <p:cTn id="59" dur="1" fill="hold">
                                          <p:stCondLst>
                                            <p:cond delay="0"/>
                                          </p:stCondLst>
                                        </p:cTn>
                                        <p:tgtEl>
                                          <p:spTgt spid="456729"/>
                                        </p:tgtEl>
                                        <p:attrNameLst>
                                          <p:attrName>style.visibility</p:attrName>
                                        </p:attrNameLst>
                                      </p:cBhvr>
                                      <p:to>
                                        <p:strVal val="visible"/>
                                      </p:to>
                                    </p:set>
                                    <p:animEffect transition="in" filter="wipe(down)">
                                      <p:cBhvr>
                                        <p:cTn id="60" dur="500"/>
                                        <p:tgtEl>
                                          <p:spTgt spid="456729"/>
                                        </p:tgtEl>
                                      </p:cBhvr>
                                    </p:animEffect>
                                  </p:childTnLst>
                                </p:cTn>
                              </p:par>
                            </p:childTnLst>
                          </p:cTn>
                        </p:par>
                        <p:par>
                          <p:cTn id="61" fill="hold" nodeType="afterGroup">
                            <p:stCondLst>
                              <p:cond delay="1500"/>
                            </p:stCondLst>
                            <p:childTnLst>
                              <p:par>
                                <p:cTn id="62" presetID="22" presetClass="entr" presetSubtype="8" fill="hold" grpId="0" nodeType="afterEffect">
                                  <p:stCondLst>
                                    <p:cond delay="0"/>
                                  </p:stCondLst>
                                  <p:childTnLst>
                                    <p:set>
                                      <p:cBhvr>
                                        <p:cTn id="63" dur="1" fill="hold">
                                          <p:stCondLst>
                                            <p:cond delay="0"/>
                                          </p:stCondLst>
                                        </p:cTn>
                                        <p:tgtEl>
                                          <p:spTgt spid="456732"/>
                                        </p:tgtEl>
                                        <p:attrNameLst>
                                          <p:attrName>style.visibility</p:attrName>
                                        </p:attrNameLst>
                                      </p:cBhvr>
                                      <p:to>
                                        <p:strVal val="visible"/>
                                      </p:to>
                                    </p:set>
                                    <p:animEffect transition="in" filter="wipe(left)">
                                      <p:cBhvr>
                                        <p:cTn id="64" dur="500"/>
                                        <p:tgtEl>
                                          <p:spTgt spid="45673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456731"/>
                                        </p:tgtEl>
                                        <p:attrNameLst>
                                          <p:attrName>style.visibility</p:attrName>
                                        </p:attrNameLst>
                                      </p:cBhvr>
                                      <p:to>
                                        <p:strVal val="visible"/>
                                      </p:to>
                                    </p:set>
                                    <p:animEffect transition="in" filter="dissolve">
                                      <p:cBhvr>
                                        <p:cTn id="69" dur="500"/>
                                        <p:tgtEl>
                                          <p:spTgt spid="456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6" grpId="0" animBg="1" autoUpdateAnimBg="0"/>
      <p:bldP spid="456721" grpId="0" animBg="1"/>
      <p:bldP spid="456722" grpId="0" animBg="1"/>
      <p:bldP spid="456723" grpId="0" autoUpdateAnimBg="0"/>
      <p:bldP spid="456724" grpId="0" autoUpdateAnimBg="0"/>
      <p:bldP spid="456725" grpId="0" animBg="1"/>
      <p:bldP spid="456726" grpId="0" animBg="1"/>
      <p:bldP spid="456727" grpId="0" animBg="1"/>
      <p:bldP spid="456728" grpId="0" animBg="1"/>
      <p:bldP spid="456729" grpId="0" animBg="1"/>
      <p:bldP spid="456730" grpId="0" animBg="1" autoUpdateAnimBg="0"/>
      <p:bldP spid="456731" grpId="0" animBg="1" autoUpdateAnimBg="0"/>
      <p:bldP spid="456732" grpId="0" animBg="1"/>
      <p:bldP spid="45673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endParaRPr lang="en-US" altLang="zh-CN" dirty="0"/>
          </a:p>
        </p:txBody>
      </p:sp>
      <p:sp>
        <p:nvSpPr>
          <p:cNvPr id="48131" name="Rectangle 5"/>
          <p:cNvSpPr>
            <a:spLocks noChangeArrowheads="1"/>
          </p:cNvSpPr>
          <p:nvPr/>
        </p:nvSpPr>
        <p:spPr bwMode="auto">
          <a:xfrm>
            <a:off x="1175231" y="871413"/>
            <a:ext cx="9905334" cy="2064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lgn="l">
              <a:lnSpc>
                <a:spcPct val="200000"/>
              </a:lnSpc>
            </a:pPr>
            <a:r>
              <a:rPr lang="zh-CN" altLang="en-US" sz="3200" b="1" dirty="0"/>
              <a:t>         编写函数，计算两个整数的最大公约数，并在程序中实现该函数的调用。</a:t>
            </a:r>
          </a:p>
        </p:txBody>
      </p:sp>
      <p:grpSp>
        <p:nvGrpSpPr>
          <p:cNvPr id="6" name="组合 5">
            <a:extLst>
              <a:ext uri="{FF2B5EF4-FFF2-40B4-BE49-F238E27FC236}">
                <a16:creationId xmlns:a16="http://schemas.microsoft.com/office/drawing/2014/main" id="{FCE13F7C-C894-46D4-BA2E-1EFD83AE6860}"/>
              </a:ext>
            </a:extLst>
          </p:cNvPr>
          <p:cNvGrpSpPr/>
          <p:nvPr/>
        </p:nvGrpSpPr>
        <p:grpSpPr>
          <a:xfrm>
            <a:off x="0" y="114299"/>
            <a:ext cx="12192000" cy="932769"/>
            <a:chOff x="0" y="114299"/>
            <a:chExt cx="12192000" cy="932769"/>
          </a:xfrm>
        </p:grpSpPr>
        <p:sp>
          <p:nvSpPr>
            <p:cNvPr id="7" name="矩形 6">
              <a:extLst>
                <a:ext uri="{FF2B5EF4-FFF2-40B4-BE49-F238E27FC236}">
                  <a16:creationId xmlns:a16="http://schemas.microsoft.com/office/drawing/2014/main" id="{08B68562-CED9-4311-B596-A482D70F6026}"/>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FC61B754-A6CD-473D-80A0-47FE1AA4AFEE}"/>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BD7A579-16C7-45CC-A7E0-E0B2DD253B8D}"/>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5A5F277-E952-4D80-87DC-BF59D21F1DEB}"/>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76A76058-8B5A-47CC-A1AE-57D8CD599CD5}"/>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5" name="Rectangle 37"/>
          <p:cNvSpPr>
            <a:spLocks noChangeArrowheads="1"/>
          </p:cNvSpPr>
          <p:nvPr/>
        </p:nvSpPr>
        <p:spPr bwMode="auto">
          <a:xfrm>
            <a:off x="4885769" y="185613"/>
            <a:ext cx="2503854" cy="685800"/>
          </a:xfrm>
          <a:prstGeom prst="rect">
            <a:avLst/>
          </a:prstGeom>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ctr">
            <a:normAutofit/>
          </a:bodyPr>
          <a:lstStyle/>
          <a:p>
            <a:pPr algn="ctr">
              <a:spcBef>
                <a:spcPct val="0"/>
              </a:spcBef>
            </a:pPr>
            <a:r>
              <a:rPr lang="zh-CN" altLang="en-US" sz="3200" b="1" dirty="0">
                <a:solidFill>
                  <a:srgbClr val="800000"/>
                </a:solidFill>
                <a:latin typeface="微软雅黑" panose="020B0503020204020204" pitchFamily="34" charset="-122"/>
                <a:ea typeface="微软雅黑" panose="020B0503020204020204" pitchFamily="34" charset="-122"/>
                <a:cs typeface="+mj-cs"/>
                <a:hlinkClick r:id="rId3" action="ppaction://hlinksldjump"/>
              </a:rPr>
              <a:t>案例练习一</a:t>
            </a:r>
            <a:endParaRPr lang="zh-CN" altLang="en-US" sz="3200" b="1" dirty="0">
              <a:solidFill>
                <a:srgbClr val="800000"/>
              </a:solidFill>
              <a:latin typeface="微软雅黑" panose="020B0503020204020204" pitchFamily="34" charset="-122"/>
              <a:ea typeface="微软雅黑" panose="020B0503020204020204" pitchFamily="34" charset="-122"/>
              <a:cs typeface="+mj-cs"/>
            </a:endParaRPr>
          </a:p>
        </p:txBody>
      </p:sp>
      <p:sp>
        <p:nvSpPr>
          <p:cNvPr id="12" name="Rectangle 5">
            <a:extLst>
              <a:ext uri="{FF2B5EF4-FFF2-40B4-BE49-F238E27FC236}">
                <a16:creationId xmlns:a16="http://schemas.microsoft.com/office/drawing/2014/main" id="{CBDE3A1A-DFED-41AA-9880-2624CB5CABEA}"/>
              </a:ext>
            </a:extLst>
          </p:cNvPr>
          <p:cNvSpPr>
            <a:spLocks noChangeArrowheads="1"/>
          </p:cNvSpPr>
          <p:nvPr/>
        </p:nvSpPr>
        <p:spPr bwMode="auto">
          <a:xfrm>
            <a:off x="1237250" y="3692811"/>
            <a:ext cx="9905334" cy="21873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lgn="l">
              <a:lnSpc>
                <a:spcPct val="200000"/>
              </a:lnSpc>
            </a:pPr>
            <a:r>
              <a:rPr lang="zh-CN" altLang="en-US" sz="3600" dirty="0"/>
              <a:t>       </a:t>
            </a:r>
            <a:r>
              <a:rPr lang="zh-CN" altLang="en-US" sz="3200" b="1" dirty="0"/>
              <a:t>编写函数，判断一个数是否为素数，并在程序中实现该函数的调用。</a:t>
            </a:r>
          </a:p>
        </p:txBody>
      </p:sp>
      <p:grpSp>
        <p:nvGrpSpPr>
          <p:cNvPr id="13" name="组合 12">
            <a:extLst>
              <a:ext uri="{FF2B5EF4-FFF2-40B4-BE49-F238E27FC236}">
                <a16:creationId xmlns:a16="http://schemas.microsoft.com/office/drawing/2014/main" id="{5859F608-9B91-412C-8279-7FCAEB1FC2D7}"/>
              </a:ext>
            </a:extLst>
          </p:cNvPr>
          <p:cNvGrpSpPr/>
          <p:nvPr/>
        </p:nvGrpSpPr>
        <p:grpSpPr>
          <a:xfrm>
            <a:off x="3538" y="2967377"/>
            <a:ext cx="12192000" cy="932769"/>
            <a:chOff x="0" y="114299"/>
            <a:chExt cx="12192000" cy="932769"/>
          </a:xfrm>
        </p:grpSpPr>
        <p:sp>
          <p:nvSpPr>
            <p:cNvPr id="14" name="矩形 13">
              <a:extLst>
                <a:ext uri="{FF2B5EF4-FFF2-40B4-BE49-F238E27FC236}">
                  <a16:creationId xmlns:a16="http://schemas.microsoft.com/office/drawing/2014/main" id="{636B0EEB-9C88-46C8-8AD5-A140504396D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8DA05CB3-7FF0-41B2-9954-0802705039D8}"/>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C0AD00FC-54A2-42AA-A621-CAA9A7546619}"/>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57A5EDA5-014D-4226-B9DE-DE32716E1588}"/>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1AF5E98A-A7EE-4E64-B55E-83516175FE25}"/>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19" name="Rectangle 37">
            <a:extLst>
              <a:ext uri="{FF2B5EF4-FFF2-40B4-BE49-F238E27FC236}">
                <a16:creationId xmlns:a16="http://schemas.microsoft.com/office/drawing/2014/main" id="{3209FE8D-2E21-4D10-980C-B06A21C7230E}"/>
              </a:ext>
            </a:extLst>
          </p:cNvPr>
          <p:cNvSpPr>
            <a:spLocks noChangeArrowheads="1"/>
          </p:cNvSpPr>
          <p:nvPr/>
        </p:nvSpPr>
        <p:spPr bwMode="auto">
          <a:xfrm>
            <a:off x="4889307" y="3038691"/>
            <a:ext cx="2503854" cy="685800"/>
          </a:xfrm>
          <a:prstGeom prst="rect">
            <a:avLst/>
          </a:prstGeom>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ctr">
            <a:normAutofit/>
          </a:bodyPr>
          <a:lstStyle/>
          <a:p>
            <a:pPr algn="ctr">
              <a:spcBef>
                <a:spcPct val="0"/>
              </a:spcBef>
            </a:pPr>
            <a:r>
              <a:rPr lang="zh-CN" altLang="en-US" sz="3200" b="1" dirty="0">
                <a:solidFill>
                  <a:srgbClr val="800000"/>
                </a:solidFill>
                <a:latin typeface="微软雅黑" panose="020B0503020204020204" pitchFamily="34" charset="-122"/>
                <a:ea typeface="微软雅黑" panose="020B0503020204020204" pitchFamily="34" charset="-122"/>
                <a:cs typeface="+mj-cs"/>
                <a:hlinkClick r:id="rId4" action="ppaction://hlinksldjump"/>
              </a:rPr>
              <a:t>案例练习二</a:t>
            </a:r>
            <a:endParaRPr lang="zh-CN" altLang="en-US" sz="3200" b="1" dirty="0">
              <a:solidFill>
                <a:srgbClr val="800000"/>
              </a:solidFill>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94214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barn(inVertical)">
                                      <p:cBhvr>
                                        <p:cTn id="7" dur="500"/>
                                        <p:tgtEl>
                                          <p:spTgt spid="481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12" grpId="0"/>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7">
            <a:extLst>
              <a:ext uri="{FF2B5EF4-FFF2-40B4-BE49-F238E27FC236}">
                <a16:creationId xmlns:a16="http://schemas.microsoft.com/office/drawing/2014/main" id="{3209FE8D-2E21-4D10-980C-B06A21C7230E}"/>
              </a:ext>
            </a:extLst>
          </p:cNvPr>
          <p:cNvSpPr>
            <a:spLocks noChangeArrowheads="1"/>
          </p:cNvSpPr>
          <p:nvPr/>
        </p:nvSpPr>
        <p:spPr bwMode="auto">
          <a:xfrm>
            <a:off x="4317806" y="193891"/>
            <a:ext cx="3568894" cy="685800"/>
          </a:xfrm>
          <a:prstGeom prst="rect">
            <a:avLst/>
          </a:prstGeom>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ctr">
            <a:normAutofit/>
          </a:bodyPr>
          <a:lstStyle/>
          <a:p>
            <a:pPr algn="ctr">
              <a:spcBef>
                <a:spcPct val="0"/>
              </a:spcBef>
            </a:pPr>
            <a:r>
              <a:rPr lang="zh-CN" altLang="en-US" sz="3500" b="1" dirty="0">
                <a:solidFill>
                  <a:srgbClr val="800000"/>
                </a:solidFill>
                <a:latin typeface="微软雅黑" panose="020B0503020204020204" pitchFamily="34" charset="-122"/>
                <a:ea typeface="微软雅黑" panose="020B0503020204020204" pitchFamily="34" charset="-122"/>
                <a:cs typeface="+mj-cs"/>
              </a:rPr>
              <a:t>案例练习一</a:t>
            </a:r>
            <a:r>
              <a:rPr lang="en-US" altLang="zh-CN" sz="3200" b="1" dirty="0">
                <a:solidFill>
                  <a:srgbClr val="800000"/>
                </a:solidFill>
                <a:latin typeface="微软雅黑" panose="020B0503020204020204" pitchFamily="34" charset="-122"/>
                <a:ea typeface="微软雅黑" panose="020B0503020204020204" pitchFamily="34" charset="-122"/>
                <a:cs typeface="+mj-cs"/>
              </a:rPr>
              <a:t>-</a:t>
            </a:r>
            <a:r>
              <a:rPr lang="zh-CN" altLang="en-US" sz="2800" b="1" dirty="0">
                <a:solidFill>
                  <a:srgbClr val="800000"/>
                </a:solidFill>
                <a:latin typeface="微软雅黑" panose="020B0503020204020204" pitchFamily="34" charset="-122"/>
                <a:ea typeface="微软雅黑" panose="020B0503020204020204" pitchFamily="34" charset="-122"/>
                <a:cs typeface="+mj-cs"/>
              </a:rPr>
              <a:t>改写</a:t>
            </a:r>
            <a:endParaRPr lang="zh-CN" altLang="en-US" sz="2400" b="1" dirty="0">
              <a:solidFill>
                <a:srgbClr val="800000"/>
              </a:solidFill>
              <a:latin typeface="微软雅黑" panose="020B0503020204020204" pitchFamily="34" charset="-122"/>
              <a:ea typeface="微软雅黑" panose="020B0503020204020204" pitchFamily="34" charset="-122"/>
              <a:cs typeface="+mj-cs"/>
            </a:endParaRPr>
          </a:p>
        </p:txBody>
      </p:sp>
      <p:sp>
        <p:nvSpPr>
          <p:cNvPr id="3" name="Rectangle 2"/>
          <p:cNvSpPr>
            <a:spLocks noChangeArrowheads="1"/>
          </p:cNvSpPr>
          <p:nvPr/>
        </p:nvSpPr>
        <p:spPr bwMode="auto">
          <a:xfrm>
            <a:off x="1944167" y="1124423"/>
            <a:ext cx="8352928" cy="5024103"/>
          </a:xfrm>
          <a:prstGeom prst="rect">
            <a:avLst/>
          </a:prstGeom>
          <a:noFill/>
          <a:ln w="38100">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4917" tIns="49357" rIns="94917" bIns="49357">
            <a:spAutoFit/>
          </a:bodyPr>
          <a:lstStyle/>
          <a:p>
            <a:r>
              <a:rPr lang="en-US" altLang="zh-CN" sz="3200" b="1" dirty="0">
                <a:latin typeface="Times New Roman" pitchFamily="18" charset="0"/>
              </a:rPr>
              <a:t>  #include&lt;</a:t>
            </a:r>
            <a:r>
              <a:rPr lang="en-US" altLang="zh-CN" sz="3200" b="1" dirty="0" err="1">
                <a:latin typeface="Times New Roman" pitchFamily="18" charset="0"/>
              </a:rPr>
              <a:t>stdio.h</a:t>
            </a:r>
            <a:r>
              <a:rPr lang="en-US" altLang="zh-CN" sz="3200" b="1" dirty="0">
                <a:latin typeface="Times New Roman" pitchFamily="18" charset="0"/>
              </a:rPr>
              <a:t>&gt;</a:t>
            </a:r>
          </a:p>
          <a:p>
            <a:r>
              <a:rPr lang="en-US" altLang="zh-CN" sz="3200" b="1" dirty="0">
                <a:latin typeface="Times New Roman" pitchFamily="18" charset="0"/>
              </a:rPr>
              <a:t>  void main(  ) </a:t>
            </a:r>
          </a:p>
          <a:p>
            <a:r>
              <a:rPr lang="en-US" altLang="zh-CN" sz="3200" b="1" dirty="0">
                <a:latin typeface="Times New Roman" pitchFamily="18" charset="0"/>
              </a:rPr>
              <a:t>  {</a:t>
            </a:r>
            <a:r>
              <a:rPr lang="zh-CN" altLang="en-US" sz="3200" b="1" dirty="0">
                <a:latin typeface="Times New Roman" pitchFamily="18" charset="0"/>
              </a:rPr>
              <a:t>　</a:t>
            </a:r>
            <a:r>
              <a:rPr lang="en-US" altLang="zh-CN" sz="3200" b="1" dirty="0" err="1">
                <a:latin typeface="Times New Roman" pitchFamily="18" charset="0"/>
              </a:rPr>
              <a:t>int</a:t>
            </a:r>
            <a:r>
              <a:rPr lang="en-US" altLang="zh-CN" sz="3200" b="1" dirty="0">
                <a:latin typeface="Times New Roman" pitchFamily="18" charset="0"/>
              </a:rPr>
              <a:t> </a:t>
            </a:r>
            <a:r>
              <a:rPr lang="en-US" altLang="zh-CN" sz="3200" b="1" dirty="0" err="1">
                <a:latin typeface="Times New Roman" pitchFamily="18" charset="0"/>
              </a:rPr>
              <a:t>m,n,q,r,temp</a:t>
            </a:r>
            <a:r>
              <a:rPr lang="en-US" altLang="zh-CN" sz="3200" b="1" dirty="0">
                <a:latin typeface="Times New Roman" pitchFamily="18" charset="0"/>
              </a:rPr>
              <a:t>;</a:t>
            </a:r>
          </a:p>
          <a:p>
            <a:r>
              <a:rPr lang="en-US" altLang="zh-CN" sz="3200" b="1" dirty="0">
                <a:latin typeface="Times New Roman" pitchFamily="18" charset="0"/>
              </a:rPr>
              <a:t>        </a:t>
            </a:r>
            <a:r>
              <a:rPr lang="en-US" altLang="zh-CN" sz="3200" b="1" dirty="0" err="1">
                <a:latin typeface="Times New Roman" pitchFamily="18" charset="0"/>
              </a:rPr>
              <a:t>scanf</a:t>
            </a:r>
            <a:r>
              <a:rPr lang="en-US" altLang="zh-CN" sz="3200" b="1" dirty="0">
                <a:latin typeface="Times New Roman" pitchFamily="18" charset="0"/>
              </a:rPr>
              <a:t>("%</a:t>
            </a:r>
            <a:r>
              <a:rPr lang="en-US" altLang="zh-CN" sz="3200" b="1" dirty="0" err="1">
                <a:latin typeface="Times New Roman" pitchFamily="18" charset="0"/>
              </a:rPr>
              <a:t>d,%d",&amp;m,&amp;n</a:t>
            </a:r>
            <a:r>
              <a:rPr lang="en-US" altLang="zh-CN" sz="3200" b="1" dirty="0">
                <a:latin typeface="Times New Roman" pitchFamily="18" charset="0"/>
              </a:rPr>
              <a:t>);</a:t>
            </a:r>
          </a:p>
          <a:p>
            <a:r>
              <a:rPr lang="en-US" altLang="zh-CN" sz="3200" b="1" dirty="0">
                <a:latin typeface="Times New Roman" pitchFamily="18" charset="0"/>
              </a:rPr>
              <a:t>        if(n</a:t>
            </a:r>
            <a:r>
              <a:rPr lang="en-US" altLang="zh-CN" sz="3200" b="1" dirty="0">
                <a:solidFill>
                  <a:srgbClr val="C00000"/>
                </a:solidFill>
                <a:latin typeface="Times New Roman" pitchFamily="18" charset="0"/>
              </a:rPr>
              <a:t>&gt;</a:t>
            </a:r>
            <a:r>
              <a:rPr lang="en-US" altLang="zh-CN" sz="3200" b="1" dirty="0">
                <a:latin typeface="Times New Roman" pitchFamily="18" charset="0"/>
              </a:rPr>
              <a:t>m)</a:t>
            </a:r>
          </a:p>
          <a:p>
            <a:r>
              <a:rPr lang="en-US" altLang="zh-CN" sz="3200" b="1" dirty="0">
                <a:latin typeface="Times New Roman" pitchFamily="18" charset="0"/>
              </a:rPr>
              <a:t>           {</a:t>
            </a:r>
            <a:r>
              <a:rPr lang="zh-CN" altLang="en-US" sz="3200" b="1" dirty="0">
                <a:latin typeface="Times New Roman" pitchFamily="18" charset="0"/>
              </a:rPr>
              <a:t> </a:t>
            </a:r>
            <a:r>
              <a:rPr lang="en-US" altLang="zh-CN" sz="3200" b="1" dirty="0">
                <a:latin typeface="Times New Roman" pitchFamily="18" charset="0"/>
              </a:rPr>
              <a:t>temp=</a:t>
            </a:r>
            <a:r>
              <a:rPr lang="en-US" altLang="zh-CN" sz="3200" b="1" dirty="0" err="1">
                <a:latin typeface="Times New Roman" pitchFamily="18" charset="0"/>
              </a:rPr>
              <a:t>n;n</a:t>
            </a:r>
            <a:r>
              <a:rPr lang="en-US" altLang="zh-CN" sz="3200" b="1" dirty="0">
                <a:latin typeface="Times New Roman" pitchFamily="18" charset="0"/>
              </a:rPr>
              <a:t>=</a:t>
            </a:r>
            <a:r>
              <a:rPr lang="en-US" altLang="zh-CN" sz="3200" b="1" dirty="0" err="1">
                <a:latin typeface="Times New Roman" pitchFamily="18" charset="0"/>
              </a:rPr>
              <a:t>m;m</a:t>
            </a:r>
            <a:r>
              <a:rPr lang="en-US" altLang="zh-CN" sz="3200" b="1" dirty="0">
                <a:latin typeface="Times New Roman" pitchFamily="18" charset="0"/>
              </a:rPr>
              <a:t>=temp; }</a:t>
            </a:r>
          </a:p>
          <a:p>
            <a:r>
              <a:rPr lang="en-US" altLang="zh-CN" sz="3200" b="1" dirty="0">
                <a:latin typeface="Times New Roman" pitchFamily="18" charset="0"/>
              </a:rPr>
              <a:t>        while((q=</a:t>
            </a:r>
            <a:r>
              <a:rPr lang="en-US" altLang="zh-CN" sz="3200" b="1" dirty="0" err="1">
                <a:latin typeface="Times New Roman" pitchFamily="18" charset="0"/>
              </a:rPr>
              <a:t>m%n</a:t>
            </a:r>
            <a:r>
              <a:rPr lang="en-US" altLang="zh-CN" sz="3200" b="1" dirty="0">
                <a:latin typeface="Times New Roman" pitchFamily="18" charset="0"/>
              </a:rPr>
              <a:t>)!=0)</a:t>
            </a:r>
          </a:p>
          <a:p>
            <a:r>
              <a:rPr lang="en-US" altLang="zh-CN" sz="3200" b="1" dirty="0">
                <a:latin typeface="Times New Roman" pitchFamily="18" charset="0"/>
              </a:rPr>
              <a:t>            {  m=</a:t>
            </a:r>
            <a:r>
              <a:rPr lang="en-US" altLang="zh-CN" sz="3200" b="1" dirty="0" err="1">
                <a:latin typeface="Times New Roman" pitchFamily="18" charset="0"/>
              </a:rPr>
              <a:t>n;n</a:t>
            </a:r>
            <a:r>
              <a:rPr lang="en-US" altLang="zh-CN" sz="3200" b="1" dirty="0">
                <a:latin typeface="Times New Roman" pitchFamily="18" charset="0"/>
              </a:rPr>
              <a:t>=q;  }</a:t>
            </a:r>
          </a:p>
          <a:p>
            <a:r>
              <a:rPr lang="zh-CN" altLang="en-US" sz="3200" b="1" dirty="0">
                <a:latin typeface="Times New Roman" pitchFamily="18" charset="0"/>
              </a:rPr>
              <a:t>　    </a:t>
            </a:r>
            <a:r>
              <a:rPr lang="en-US" altLang="zh-CN" sz="3200" b="1" dirty="0" err="1">
                <a:latin typeface="Times New Roman" pitchFamily="18" charset="0"/>
              </a:rPr>
              <a:t>printf</a:t>
            </a:r>
            <a:r>
              <a:rPr lang="en-US" altLang="zh-CN" sz="3200" b="1" dirty="0">
                <a:latin typeface="Times New Roman" pitchFamily="18" charset="0"/>
              </a:rPr>
              <a:t>("%d\</a:t>
            </a:r>
            <a:r>
              <a:rPr lang="en-US" altLang="zh-CN" sz="3200" b="1" dirty="0" err="1">
                <a:latin typeface="Times New Roman" pitchFamily="18" charset="0"/>
              </a:rPr>
              <a:t>n",n</a:t>
            </a:r>
            <a:r>
              <a:rPr lang="en-US" altLang="zh-CN" sz="3200" b="1" dirty="0">
                <a:latin typeface="Times New Roman" pitchFamily="18" charset="0"/>
              </a:rPr>
              <a:t>);</a:t>
            </a:r>
          </a:p>
          <a:p>
            <a:r>
              <a:rPr lang="en-US" altLang="zh-CN" sz="3200" b="1" dirty="0">
                <a:latin typeface="Times New Roman" pitchFamily="18" charset="0"/>
              </a:rPr>
              <a:t>   }</a:t>
            </a:r>
          </a:p>
        </p:txBody>
      </p:sp>
      <p:sp>
        <p:nvSpPr>
          <p:cNvPr id="4" name="动作按钮: 后退或前一项 3">
            <a:hlinkClick r:id="" action="ppaction://hlinkshowjump?jump=previousslide" highlightClick="1"/>
          </p:cNvPr>
          <p:cNvSpPr/>
          <p:nvPr/>
        </p:nvSpPr>
        <p:spPr>
          <a:xfrm>
            <a:off x="10718800" y="6007100"/>
            <a:ext cx="1028700" cy="508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36548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01800" y="845006"/>
            <a:ext cx="8699500" cy="5913157"/>
          </a:xfrm>
          <a:prstGeom prst="rect">
            <a:avLst/>
          </a:prstGeom>
        </p:spPr>
        <p:txBody>
          <a:bodyPr wrap="square">
            <a:spAutoFit/>
          </a:bodyPr>
          <a:lstStyle/>
          <a:p>
            <a:pPr>
              <a:lnSpc>
                <a:spcPct val="150000"/>
              </a:lnSpc>
            </a:pPr>
            <a:r>
              <a:rPr lang="en-US" altLang="zh-CN" sz="3200" b="1" dirty="0">
                <a:latin typeface="Times New Roman" panose="02020603050405020304" pitchFamily="18" charset="0"/>
                <a:cs typeface="Times New Roman" panose="02020603050405020304" pitchFamily="18" charset="0"/>
              </a:rPr>
              <a:t>#include&lt;</a:t>
            </a:r>
            <a:r>
              <a:rPr lang="en-US" altLang="zh-CN" sz="3200" b="1" dirty="0" err="1">
                <a:latin typeface="Times New Roman" panose="02020603050405020304" pitchFamily="18" charset="0"/>
                <a:cs typeface="Times New Roman" panose="02020603050405020304" pitchFamily="18" charset="0"/>
              </a:rPr>
              <a:t>stdio.h</a:t>
            </a:r>
            <a:r>
              <a:rPr lang="en-US" altLang="zh-CN" sz="3200" b="1" dirty="0">
                <a:latin typeface="Times New Roman" panose="02020603050405020304" pitchFamily="18" charset="0"/>
                <a:cs typeface="Times New Roman" panose="02020603050405020304" pitchFamily="18" charset="0"/>
              </a:rPr>
              <a:t>&gt;</a:t>
            </a:r>
          </a:p>
          <a:p>
            <a:pPr>
              <a:lnSpc>
                <a:spcPct val="150000"/>
              </a:lnSpc>
            </a:pPr>
            <a:r>
              <a:rPr lang="en-US" altLang="zh-CN" sz="3200" b="1" dirty="0">
                <a:latin typeface="Times New Roman" panose="02020603050405020304" pitchFamily="18" charset="0"/>
                <a:cs typeface="Times New Roman" panose="02020603050405020304" pitchFamily="18" charset="0"/>
              </a:rPr>
              <a:t>#include&lt;</a:t>
            </a:r>
            <a:r>
              <a:rPr lang="en-US" altLang="zh-CN" sz="3200" b="1" dirty="0" err="1">
                <a:latin typeface="Times New Roman" panose="02020603050405020304" pitchFamily="18" charset="0"/>
                <a:cs typeface="Times New Roman" panose="02020603050405020304" pitchFamily="18" charset="0"/>
              </a:rPr>
              <a:t>math.h</a:t>
            </a:r>
            <a:r>
              <a:rPr lang="en-US" altLang="zh-CN" sz="3200" b="1" dirty="0">
                <a:latin typeface="Times New Roman" panose="02020603050405020304" pitchFamily="18" charset="0"/>
                <a:cs typeface="Times New Roman" panose="02020603050405020304" pitchFamily="18" charset="0"/>
              </a:rPr>
              <a:t>&gt;</a:t>
            </a:r>
          </a:p>
          <a:p>
            <a:pPr>
              <a:lnSpc>
                <a:spcPct val="150000"/>
              </a:lnSpc>
            </a:pPr>
            <a:r>
              <a:rPr lang="en-US" altLang="zh-CN" sz="3200" b="1" dirty="0" err="1">
                <a:latin typeface="Times New Roman" panose="02020603050405020304" pitchFamily="18" charset="0"/>
                <a:cs typeface="Times New Roman" panose="02020603050405020304" pitchFamily="18" charset="0"/>
              </a:rPr>
              <a:t>int</a:t>
            </a:r>
            <a:r>
              <a:rPr lang="en-US" altLang="zh-CN" sz="3200" b="1" dirty="0">
                <a:latin typeface="Times New Roman" panose="02020603050405020304" pitchFamily="18" charset="0"/>
                <a:cs typeface="Times New Roman" panose="02020603050405020304" pitchFamily="18" charset="0"/>
              </a:rPr>
              <a:t> prime(</a:t>
            </a:r>
            <a:r>
              <a:rPr lang="en-US" altLang="zh-CN" sz="3200" b="1" dirty="0" err="1">
                <a:latin typeface="Times New Roman" panose="02020603050405020304" pitchFamily="18" charset="0"/>
                <a:cs typeface="Times New Roman" panose="02020603050405020304" pitchFamily="18" charset="0"/>
              </a:rPr>
              <a:t>int</a:t>
            </a:r>
            <a:r>
              <a:rPr lang="en-US" altLang="zh-CN" sz="3200" b="1" dirty="0">
                <a:latin typeface="Times New Roman" panose="02020603050405020304" pitchFamily="18" charset="0"/>
                <a:cs typeface="Times New Roman" panose="02020603050405020304" pitchFamily="18" charset="0"/>
              </a:rPr>
              <a:t> n)  //</a:t>
            </a:r>
            <a:r>
              <a:rPr lang="zh-CN" altLang="en-US" sz="3200" b="1" dirty="0">
                <a:latin typeface="Times New Roman" panose="02020603050405020304" pitchFamily="18" charset="0"/>
                <a:cs typeface="Times New Roman" panose="02020603050405020304" pitchFamily="18" charset="0"/>
              </a:rPr>
              <a:t>判断是否是素数函数</a:t>
            </a:r>
          </a:p>
          <a:p>
            <a:pPr>
              <a:lnSpc>
                <a:spcPct val="150000"/>
              </a:lnSpc>
            </a:pPr>
            <a:r>
              <a:rPr lang="en-US" altLang="zh-CN" sz="3200" b="1" dirty="0">
                <a:latin typeface="Times New Roman" panose="02020603050405020304" pitchFamily="18" charset="0"/>
                <a:cs typeface="Times New Roman" panose="02020603050405020304" pitchFamily="18" charset="0"/>
              </a:rPr>
              <a:t>{	</a:t>
            </a:r>
            <a:r>
              <a:rPr lang="en-US" altLang="zh-CN" sz="3200" b="1" dirty="0" err="1">
                <a:latin typeface="Times New Roman" panose="02020603050405020304" pitchFamily="18" charset="0"/>
                <a:cs typeface="Times New Roman" panose="02020603050405020304" pitchFamily="18" charset="0"/>
              </a:rPr>
              <a:t>int</a:t>
            </a:r>
            <a:r>
              <a:rPr lang="en-US" altLang="zh-CN" sz="3200" b="1" dirty="0">
                <a:latin typeface="Times New Roman" panose="02020603050405020304" pitchFamily="18" charset="0"/>
                <a:cs typeface="Times New Roman" panose="02020603050405020304" pitchFamily="18" charset="0"/>
              </a:rPr>
              <a:t> </a:t>
            </a:r>
            <a:r>
              <a:rPr lang="en-US" altLang="zh-CN" sz="3200" b="1" dirty="0" err="1">
                <a:latin typeface="Times New Roman" panose="02020603050405020304" pitchFamily="18" charset="0"/>
                <a:cs typeface="Times New Roman" panose="02020603050405020304" pitchFamily="18" charset="0"/>
              </a:rPr>
              <a:t>i,m</a:t>
            </a:r>
            <a:r>
              <a:rPr lang="en-US" altLang="zh-CN" sz="3200" b="1" dirty="0">
                <a:latin typeface="Times New Roman" panose="02020603050405020304" pitchFamily="18" charset="0"/>
                <a:cs typeface="Times New Roman" panose="02020603050405020304" pitchFamily="18" charset="0"/>
              </a:rPr>
              <a:t>=</a:t>
            </a:r>
            <a:r>
              <a:rPr lang="en-US" altLang="zh-CN" sz="3200" b="1" dirty="0" err="1">
                <a:latin typeface="Times New Roman" panose="02020603050405020304" pitchFamily="18" charset="0"/>
                <a:cs typeface="Times New Roman" panose="02020603050405020304" pitchFamily="18" charset="0"/>
              </a:rPr>
              <a:t>sqrt</a:t>
            </a:r>
            <a:r>
              <a:rPr lang="en-US" altLang="zh-CN" sz="3200" b="1" dirty="0">
                <a:latin typeface="Times New Roman" panose="02020603050405020304" pitchFamily="18" charset="0"/>
                <a:cs typeface="Times New Roman" panose="02020603050405020304" pitchFamily="18" charset="0"/>
              </a:rPr>
              <a:t>(n);</a:t>
            </a:r>
          </a:p>
          <a:p>
            <a:pPr>
              <a:lnSpc>
                <a:spcPct val="150000"/>
              </a:lnSpc>
            </a:pPr>
            <a:r>
              <a:rPr lang="en-US" altLang="zh-CN" sz="3200" b="1" dirty="0">
                <a:latin typeface="Times New Roman" panose="02020603050405020304" pitchFamily="18" charset="0"/>
                <a:cs typeface="Times New Roman" panose="02020603050405020304" pitchFamily="18" charset="0"/>
              </a:rPr>
              <a:t>	for(</a:t>
            </a:r>
            <a:r>
              <a:rPr lang="en-US" altLang="zh-CN" sz="3200" b="1" dirty="0" err="1">
                <a:latin typeface="Times New Roman" panose="02020603050405020304" pitchFamily="18" charset="0"/>
                <a:cs typeface="Times New Roman" panose="02020603050405020304" pitchFamily="18" charset="0"/>
              </a:rPr>
              <a:t>i</a:t>
            </a:r>
            <a:r>
              <a:rPr lang="en-US" altLang="zh-CN" sz="3200" b="1" dirty="0">
                <a:latin typeface="Times New Roman" panose="02020603050405020304" pitchFamily="18" charset="0"/>
                <a:cs typeface="Times New Roman" panose="02020603050405020304" pitchFamily="18" charset="0"/>
              </a:rPr>
              <a:t>=2;i&lt;=</a:t>
            </a:r>
            <a:r>
              <a:rPr lang="en-US" altLang="zh-CN" sz="3200" b="1" dirty="0" err="1">
                <a:latin typeface="Times New Roman" panose="02020603050405020304" pitchFamily="18" charset="0"/>
                <a:cs typeface="Times New Roman" panose="02020603050405020304" pitchFamily="18" charset="0"/>
              </a:rPr>
              <a:t>m;i</a:t>
            </a:r>
            <a:r>
              <a:rPr lang="en-US" altLang="zh-CN" sz="3200" b="1" dirty="0">
                <a:latin typeface="Times New Roman" panose="02020603050405020304" pitchFamily="18" charset="0"/>
                <a:cs typeface="Times New Roman" panose="02020603050405020304" pitchFamily="18" charset="0"/>
              </a:rPr>
              <a:t>++)</a:t>
            </a:r>
          </a:p>
          <a:p>
            <a:pPr>
              <a:lnSpc>
                <a:spcPct val="150000"/>
              </a:lnSpc>
            </a:pPr>
            <a:r>
              <a:rPr lang="en-US" altLang="zh-CN" sz="3200" b="1" dirty="0">
                <a:latin typeface="Times New Roman" panose="02020603050405020304" pitchFamily="18" charset="0"/>
                <a:cs typeface="Times New Roman" panose="02020603050405020304" pitchFamily="18" charset="0"/>
              </a:rPr>
              <a:t>	   if(</a:t>
            </a:r>
            <a:r>
              <a:rPr lang="en-US" altLang="zh-CN" sz="3200" b="1" dirty="0" err="1">
                <a:latin typeface="Times New Roman" panose="02020603050405020304" pitchFamily="18" charset="0"/>
                <a:cs typeface="Times New Roman" panose="02020603050405020304" pitchFamily="18" charset="0"/>
              </a:rPr>
              <a:t>n%i</a:t>
            </a:r>
            <a:r>
              <a:rPr lang="en-US" altLang="zh-CN" sz="3200" b="1" dirty="0">
                <a:latin typeface="Times New Roman" panose="02020603050405020304" pitchFamily="18" charset="0"/>
                <a:cs typeface="Times New Roman" panose="02020603050405020304" pitchFamily="18" charset="0"/>
              </a:rPr>
              <a:t>==0)  return 0;</a:t>
            </a:r>
          </a:p>
          <a:p>
            <a:pPr>
              <a:lnSpc>
                <a:spcPct val="150000"/>
              </a:lnSpc>
            </a:pPr>
            <a:r>
              <a:rPr lang="en-US" altLang="zh-CN" sz="3200" b="1" dirty="0">
                <a:latin typeface="Times New Roman" panose="02020603050405020304" pitchFamily="18" charset="0"/>
                <a:cs typeface="Times New Roman" panose="02020603050405020304" pitchFamily="18" charset="0"/>
              </a:rPr>
              <a:t>	return 1;      </a:t>
            </a:r>
          </a:p>
          <a:p>
            <a:pPr>
              <a:lnSpc>
                <a:spcPct val="150000"/>
              </a:lnSpc>
            </a:pPr>
            <a:r>
              <a:rPr lang="en-US" altLang="zh-CN" sz="3200" b="1" dirty="0">
                <a:latin typeface="Times New Roman" panose="02020603050405020304" pitchFamily="18" charset="0"/>
                <a:cs typeface="Times New Roman" panose="02020603050405020304" pitchFamily="18" charset="0"/>
              </a:rPr>
              <a:t> }</a:t>
            </a:r>
          </a:p>
        </p:txBody>
      </p:sp>
      <p:sp>
        <p:nvSpPr>
          <p:cNvPr id="9" name="Rectangle 37">
            <a:extLst>
              <a:ext uri="{FF2B5EF4-FFF2-40B4-BE49-F238E27FC236}">
                <a16:creationId xmlns:a16="http://schemas.microsoft.com/office/drawing/2014/main" id="{3209FE8D-2E21-4D10-980C-B06A21C7230E}"/>
              </a:ext>
            </a:extLst>
          </p:cNvPr>
          <p:cNvSpPr>
            <a:spLocks noChangeArrowheads="1"/>
          </p:cNvSpPr>
          <p:nvPr/>
        </p:nvSpPr>
        <p:spPr bwMode="auto">
          <a:xfrm>
            <a:off x="4317806" y="193891"/>
            <a:ext cx="3568894" cy="685800"/>
          </a:xfrm>
          <a:prstGeom prst="rect">
            <a:avLst/>
          </a:prstGeom>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ctr">
            <a:normAutofit/>
          </a:bodyPr>
          <a:lstStyle/>
          <a:p>
            <a:pPr algn="ctr">
              <a:spcBef>
                <a:spcPct val="0"/>
              </a:spcBef>
            </a:pPr>
            <a:r>
              <a:rPr lang="zh-CN" altLang="en-US" sz="3500" b="1" dirty="0">
                <a:solidFill>
                  <a:srgbClr val="800000"/>
                </a:solidFill>
                <a:latin typeface="微软雅黑" panose="020B0503020204020204" pitchFamily="34" charset="-122"/>
                <a:ea typeface="微软雅黑" panose="020B0503020204020204" pitchFamily="34" charset="-122"/>
                <a:cs typeface="+mj-cs"/>
              </a:rPr>
              <a:t>案例练习二</a:t>
            </a:r>
            <a:r>
              <a:rPr lang="en-US" altLang="zh-CN" sz="3200" b="1" dirty="0">
                <a:solidFill>
                  <a:srgbClr val="800000"/>
                </a:solidFill>
                <a:latin typeface="微软雅黑" panose="020B0503020204020204" pitchFamily="34" charset="-122"/>
                <a:ea typeface="微软雅黑" panose="020B0503020204020204" pitchFamily="34" charset="-122"/>
                <a:cs typeface="+mj-cs"/>
              </a:rPr>
              <a:t>-</a:t>
            </a:r>
            <a:r>
              <a:rPr lang="zh-CN" altLang="en-US" sz="2800" b="1" dirty="0">
                <a:solidFill>
                  <a:srgbClr val="800000"/>
                </a:solidFill>
                <a:latin typeface="微软雅黑" panose="020B0503020204020204" pitchFamily="34" charset="-122"/>
                <a:ea typeface="微软雅黑" panose="020B0503020204020204" pitchFamily="34" charset="-122"/>
                <a:cs typeface="+mj-cs"/>
              </a:rPr>
              <a:t>代码</a:t>
            </a:r>
          </a:p>
        </p:txBody>
      </p:sp>
    </p:spTree>
    <p:extLst>
      <p:ext uri="{BB962C8B-B14F-4D97-AF65-F5344CB8AC3E}">
        <p14:creationId xmlns:p14="http://schemas.microsoft.com/office/powerpoint/2010/main" val="3396198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55700" y="886053"/>
            <a:ext cx="8699500" cy="5786199"/>
          </a:xfrm>
          <a:prstGeom prst="rect">
            <a:avLst/>
          </a:prstGeom>
        </p:spPr>
        <p:txBody>
          <a:bodyPr wrap="square">
            <a:spAutoFit/>
          </a:bodyPr>
          <a:lstStyle/>
          <a:p>
            <a:pPr>
              <a:spcBef>
                <a:spcPts val="1200"/>
              </a:spcBef>
            </a:pPr>
            <a:r>
              <a:rPr lang="en-US" altLang="zh-CN" sz="2800" b="1" dirty="0" err="1">
                <a:latin typeface="Times New Roman" panose="02020603050405020304" pitchFamily="18" charset="0"/>
                <a:cs typeface="Times New Roman" panose="02020603050405020304" pitchFamily="18" charset="0"/>
              </a:rPr>
              <a:t>int</a:t>
            </a:r>
            <a:r>
              <a:rPr lang="en-US" altLang="zh-CN" sz="2800" b="1" dirty="0">
                <a:latin typeface="Times New Roman" panose="02020603050405020304" pitchFamily="18" charset="0"/>
                <a:cs typeface="Times New Roman" panose="02020603050405020304" pitchFamily="18" charset="0"/>
              </a:rPr>
              <a:t> main( )</a:t>
            </a:r>
          </a:p>
          <a:p>
            <a:pPr>
              <a:spcBef>
                <a:spcPts val="1200"/>
              </a:spcBef>
            </a:pP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int</a:t>
            </a:r>
            <a:r>
              <a:rPr lang="en-US" altLang="zh-CN" sz="2800" b="1" dirty="0">
                <a:latin typeface="Times New Roman" panose="02020603050405020304" pitchFamily="18" charset="0"/>
                <a:cs typeface="Times New Roman" panose="02020603050405020304" pitchFamily="18" charset="0"/>
              </a:rPr>
              <a:t> x;</a:t>
            </a:r>
          </a:p>
          <a:p>
            <a:pPr>
              <a:spcBef>
                <a:spcPts val="1200"/>
              </a:spcBef>
            </a:pP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printf</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请输入要判断的值：</a:t>
            </a:r>
            <a:r>
              <a:rPr lang="en-US" altLang="zh-CN" sz="2800" b="1" dirty="0">
                <a:latin typeface="Times New Roman" panose="02020603050405020304" pitchFamily="18" charset="0"/>
                <a:cs typeface="Times New Roman" panose="02020603050405020304" pitchFamily="18" charset="0"/>
              </a:rPr>
              <a:t>”);</a:t>
            </a:r>
          </a:p>
          <a:p>
            <a:pPr>
              <a:spcBef>
                <a:spcPts val="1200"/>
              </a:spcBef>
            </a:pP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scanf</a:t>
            </a:r>
            <a:r>
              <a:rPr lang="en-US" altLang="zh-CN" sz="2800" b="1" dirty="0">
                <a:latin typeface="Times New Roman" panose="02020603050405020304" pitchFamily="18" charset="0"/>
                <a:cs typeface="Times New Roman" panose="02020603050405020304" pitchFamily="18" charset="0"/>
              </a:rPr>
              <a:t>(“%</a:t>
            </a:r>
            <a:r>
              <a:rPr lang="en-US" altLang="zh-CN" sz="2800" b="1" dirty="0" err="1">
                <a:latin typeface="Times New Roman" panose="02020603050405020304" pitchFamily="18" charset="0"/>
                <a:cs typeface="Times New Roman" panose="02020603050405020304" pitchFamily="18" charset="0"/>
              </a:rPr>
              <a:t>d”,&amp;x</a:t>
            </a:r>
            <a:r>
              <a:rPr lang="en-US" altLang="zh-CN" sz="2800" b="1" dirty="0">
                <a:latin typeface="Times New Roman" panose="02020603050405020304" pitchFamily="18" charset="0"/>
                <a:cs typeface="Times New Roman" panose="02020603050405020304" pitchFamily="18" charset="0"/>
              </a:rPr>
              <a:t>);</a:t>
            </a:r>
          </a:p>
          <a:p>
            <a:pPr>
              <a:spcBef>
                <a:spcPts val="1200"/>
              </a:spcBef>
            </a:pPr>
            <a:r>
              <a:rPr lang="en-US" altLang="zh-CN" sz="2800" b="1" dirty="0">
                <a:latin typeface="Times New Roman" panose="02020603050405020304" pitchFamily="18" charset="0"/>
                <a:cs typeface="Times New Roman" panose="02020603050405020304" pitchFamily="18" charset="0"/>
              </a:rPr>
              <a:t>        if(prime(x))  </a:t>
            </a:r>
          </a:p>
          <a:p>
            <a:pPr>
              <a:spcBef>
                <a:spcPts val="1200"/>
              </a:spcBef>
            </a:pP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printf</a:t>
            </a:r>
            <a:r>
              <a:rPr lang="en-US" altLang="zh-CN" sz="2800" b="1" dirty="0">
                <a:latin typeface="Times New Roman" panose="02020603050405020304" pitchFamily="18" charset="0"/>
                <a:cs typeface="Times New Roman" panose="02020603050405020304" pitchFamily="18" charset="0"/>
              </a:rPr>
              <a:t>(“%d</a:t>
            </a:r>
            <a:r>
              <a:rPr lang="zh-CN" altLang="en-US" sz="2800" b="1" dirty="0">
                <a:latin typeface="Times New Roman" panose="02020603050405020304" pitchFamily="18" charset="0"/>
                <a:cs typeface="Times New Roman" panose="02020603050405020304" pitchFamily="18" charset="0"/>
              </a:rPr>
              <a:t>是一个素数！</a:t>
            </a:r>
            <a:r>
              <a:rPr lang="en-US" altLang="zh-CN" sz="2800" b="1" dirty="0">
                <a:latin typeface="Times New Roman" panose="02020603050405020304" pitchFamily="18" charset="0"/>
                <a:cs typeface="Times New Roman" panose="02020603050405020304" pitchFamily="18" charset="0"/>
              </a:rPr>
              <a:t>”,x);</a:t>
            </a:r>
          </a:p>
          <a:p>
            <a:pPr>
              <a:spcBef>
                <a:spcPts val="1200"/>
              </a:spcBef>
            </a:pPr>
            <a:r>
              <a:rPr lang="en-US" altLang="zh-CN" sz="2800" b="1" dirty="0">
                <a:latin typeface="Times New Roman" panose="02020603050405020304" pitchFamily="18" charset="0"/>
                <a:cs typeface="Times New Roman" panose="02020603050405020304" pitchFamily="18" charset="0"/>
              </a:rPr>
              <a:t>        else </a:t>
            </a:r>
          </a:p>
          <a:p>
            <a:pPr>
              <a:spcBef>
                <a:spcPts val="1200"/>
              </a:spcBef>
            </a:pP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printf</a:t>
            </a:r>
            <a:r>
              <a:rPr lang="en-US" altLang="zh-CN" sz="2800" b="1" dirty="0">
                <a:latin typeface="Times New Roman" panose="02020603050405020304" pitchFamily="18" charset="0"/>
                <a:cs typeface="Times New Roman" panose="02020603050405020304" pitchFamily="18" charset="0"/>
              </a:rPr>
              <a:t>(“%d</a:t>
            </a:r>
            <a:r>
              <a:rPr lang="zh-CN" altLang="en-US" sz="2800" b="1" dirty="0">
                <a:latin typeface="Times New Roman" panose="02020603050405020304" pitchFamily="18" charset="0"/>
                <a:cs typeface="Times New Roman" panose="02020603050405020304" pitchFamily="18" charset="0"/>
              </a:rPr>
              <a:t>不是一个素数！</a:t>
            </a:r>
            <a:r>
              <a:rPr lang="en-US" altLang="zh-CN" sz="2800" b="1" dirty="0">
                <a:latin typeface="Times New Roman" panose="02020603050405020304" pitchFamily="18" charset="0"/>
                <a:cs typeface="Times New Roman" panose="02020603050405020304" pitchFamily="18" charset="0"/>
              </a:rPr>
              <a:t>”,x);</a:t>
            </a:r>
          </a:p>
          <a:p>
            <a:pPr>
              <a:spcBef>
                <a:spcPts val="1200"/>
              </a:spcBef>
            </a:pPr>
            <a:r>
              <a:rPr lang="en-US" altLang="zh-CN" sz="2800" b="1" dirty="0">
                <a:latin typeface="Times New Roman" panose="02020603050405020304" pitchFamily="18" charset="0"/>
                <a:cs typeface="Times New Roman" panose="02020603050405020304" pitchFamily="18" charset="0"/>
              </a:rPr>
              <a:t>        return 0;</a:t>
            </a:r>
          </a:p>
          <a:p>
            <a:pPr>
              <a:spcBef>
                <a:spcPts val="1200"/>
              </a:spcBef>
            </a:pPr>
            <a:r>
              <a:rPr lang="en-US" altLang="zh-CN" sz="2800" b="1" dirty="0">
                <a:latin typeface="Times New Roman" panose="02020603050405020304" pitchFamily="18" charset="0"/>
                <a:cs typeface="Times New Roman" panose="02020603050405020304" pitchFamily="18" charset="0"/>
              </a:rPr>
              <a:t>}</a:t>
            </a:r>
          </a:p>
        </p:txBody>
      </p:sp>
      <p:sp>
        <p:nvSpPr>
          <p:cNvPr id="3" name="Rectangle 37">
            <a:extLst>
              <a:ext uri="{FF2B5EF4-FFF2-40B4-BE49-F238E27FC236}">
                <a16:creationId xmlns:a16="http://schemas.microsoft.com/office/drawing/2014/main" id="{3209FE8D-2E21-4D10-980C-B06A21C7230E}"/>
              </a:ext>
            </a:extLst>
          </p:cNvPr>
          <p:cNvSpPr>
            <a:spLocks noChangeArrowheads="1"/>
          </p:cNvSpPr>
          <p:nvPr/>
        </p:nvSpPr>
        <p:spPr bwMode="auto">
          <a:xfrm>
            <a:off x="4317806" y="193891"/>
            <a:ext cx="3568894" cy="685800"/>
          </a:xfrm>
          <a:prstGeom prst="rect">
            <a:avLst/>
          </a:prstGeom>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ctr">
            <a:normAutofit fontScale="92500"/>
          </a:bodyPr>
          <a:lstStyle/>
          <a:p>
            <a:pPr algn="ctr">
              <a:spcBef>
                <a:spcPct val="0"/>
              </a:spcBef>
            </a:pPr>
            <a:r>
              <a:rPr lang="zh-CN" altLang="en-US" sz="3500" b="1" dirty="0">
                <a:solidFill>
                  <a:srgbClr val="800000"/>
                </a:solidFill>
                <a:latin typeface="微软雅黑" panose="020B0503020204020204" pitchFamily="34" charset="-122"/>
                <a:ea typeface="微软雅黑" panose="020B0503020204020204" pitchFamily="34" charset="-122"/>
                <a:cs typeface="+mj-cs"/>
              </a:rPr>
              <a:t>案例练习二</a:t>
            </a:r>
            <a:r>
              <a:rPr lang="en-US" altLang="zh-CN" sz="3200" b="1" dirty="0">
                <a:solidFill>
                  <a:srgbClr val="800000"/>
                </a:solidFill>
                <a:latin typeface="微软雅黑" panose="020B0503020204020204" pitchFamily="34" charset="-122"/>
                <a:ea typeface="微软雅黑" panose="020B0503020204020204" pitchFamily="34" charset="-122"/>
                <a:cs typeface="+mj-cs"/>
              </a:rPr>
              <a:t>-</a:t>
            </a:r>
            <a:r>
              <a:rPr lang="zh-CN" altLang="en-US" sz="2800" b="1" dirty="0">
                <a:solidFill>
                  <a:srgbClr val="800000"/>
                </a:solidFill>
                <a:latin typeface="微软雅黑" panose="020B0503020204020204" pitchFamily="34" charset="-122"/>
                <a:ea typeface="微软雅黑" panose="020B0503020204020204" pitchFamily="34" charset="-122"/>
                <a:cs typeface="+mj-cs"/>
              </a:rPr>
              <a:t>代码续</a:t>
            </a:r>
          </a:p>
        </p:txBody>
      </p:sp>
    </p:spTree>
    <p:extLst>
      <p:ext uri="{BB962C8B-B14F-4D97-AF65-F5344CB8AC3E}">
        <p14:creationId xmlns:p14="http://schemas.microsoft.com/office/powerpoint/2010/main" val="386749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grpSp>
        <p:nvGrpSpPr>
          <p:cNvPr id="9" name="组合 8">
            <a:extLst>
              <a:ext uri="{FF2B5EF4-FFF2-40B4-BE49-F238E27FC236}">
                <a16:creationId xmlns:a16="http://schemas.microsoft.com/office/drawing/2014/main" id="{D36C5993-51A1-4B47-A3A7-C77F5A2255B4}"/>
              </a:ext>
            </a:extLst>
          </p:cNvPr>
          <p:cNvGrpSpPr/>
          <p:nvPr/>
        </p:nvGrpSpPr>
        <p:grpSpPr>
          <a:xfrm>
            <a:off x="0" y="114299"/>
            <a:ext cx="12192000" cy="932769"/>
            <a:chOff x="0" y="114299"/>
            <a:chExt cx="12192000" cy="932769"/>
          </a:xfrm>
        </p:grpSpPr>
        <p:sp>
          <p:nvSpPr>
            <p:cNvPr id="10" name="矩形 9">
              <a:extLst>
                <a:ext uri="{FF2B5EF4-FFF2-40B4-BE49-F238E27FC236}">
                  <a16:creationId xmlns:a16="http://schemas.microsoft.com/office/drawing/2014/main" id="{B7E9C0CE-3B4E-49D2-BD79-AC92D3BFE1A7}"/>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61F3BE4-7298-410A-AF95-470D1CD566F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90E8518-FC70-475A-B8E3-3DF7FFBBFA36}"/>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EB74CFE-78FD-4CAE-AAE9-1799ABBBDA92}"/>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9A786558-839C-4D38-A422-04E70E3F849D}"/>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8" name="Rectangle 2"/>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7.2.3</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函数的声明</a:t>
            </a:r>
          </a:p>
        </p:txBody>
      </p:sp>
      <p:sp>
        <p:nvSpPr>
          <p:cNvPr id="19" name="Text Box 2">
            <a:extLst>
              <a:ext uri="{FF2B5EF4-FFF2-40B4-BE49-F238E27FC236}">
                <a16:creationId xmlns:a16="http://schemas.microsoft.com/office/drawing/2014/main" id="{110F6541-8058-44F3-8044-43A563A857AE}"/>
              </a:ext>
            </a:extLst>
          </p:cNvPr>
          <p:cNvSpPr txBox="1">
            <a:spLocks noChangeArrowheads="1"/>
          </p:cNvSpPr>
          <p:nvPr/>
        </p:nvSpPr>
        <p:spPr bwMode="auto">
          <a:xfrm>
            <a:off x="1197991" y="1784933"/>
            <a:ext cx="8530800" cy="1569660"/>
          </a:xfrm>
          <a:prstGeom prst="rect">
            <a:avLst/>
          </a:prstGeom>
          <a:noFill/>
          <a:ln w="9525">
            <a:noFill/>
            <a:miter lim="800000"/>
          </a:ln>
          <a:effectLst/>
        </p:spPr>
        <p:txBody>
          <a:bodyPr wrap="square">
            <a:spAutoFit/>
          </a:bodyPr>
          <a:lstStyle/>
          <a:p>
            <a:pPr>
              <a:lnSpc>
                <a:spcPct val="150000"/>
              </a:lnSpc>
              <a:spcBef>
                <a:spcPct val="0"/>
              </a:spcBef>
              <a:buFontTx/>
              <a:buNone/>
              <a:defRPr/>
            </a:pPr>
            <a:r>
              <a:rPr kumimoji="1" lang="en-US" altLang="zh-CN" dirty="0">
                <a:effectLst>
                  <a:outerShdw blurRad="38100" dist="38100" dir="2700000" algn="tl">
                    <a:srgbClr val="C0C0C0"/>
                  </a:outerShdw>
                </a:effectLst>
                <a:latin typeface="+mn-ea"/>
              </a:rPr>
              <a:t> </a:t>
            </a:r>
            <a:r>
              <a:rPr lang="zh-CN" altLang="en-US" sz="3200" b="1" dirty="0">
                <a:solidFill>
                  <a:srgbClr val="000000"/>
                </a:solidFill>
                <a:latin typeface="+mn-ea"/>
              </a:rPr>
              <a:t>形式：函数类型   函数名（参数类型声明）</a:t>
            </a:r>
          </a:p>
          <a:p>
            <a:pPr>
              <a:lnSpc>
                <a:spcPct val="150000"/>
              </a:lnSpc>
              <a:spcBef>
                <a:spcPct val="0"/>
              </a:spcBef>
              <a:buFontTx/>
              <a:buNone/>
              <a:defRPr/>
            </a:pPr>
            <a:r>
              <a:rPr lang="zh-CN" altLang="en-US" sz="3200" b="1" dirty="0">
                <a:solidFill>
                  <a:srgbClr val="000000"/>
                </a:solidFill>
                <a:latin typeface="+mn-ea"/>
              </a:rPr>
              <a:t>     或  函数类型   函数名（  ）</a:t>
            </a:r>
          </a:p>
        </p:txBody>
      </p:sp>
      <p:sp>
        <p:nvSpPr>
          <p:cNvPr id="20" name="Text Box 3">
            <a:extLst>
              <a:ext uri="{FF2B5EF4-FFF2-40B4-BE49-F238E27FC236}">
                <a16:creationId xmlns:a16="http://schemas.microsoft.com/office/drawing/2014/main" id="{0C81781E-9FFC-4B68-BD5E-F106A5E66F1E}"/>
              </a:ext>
            </a:extLst>
          </p:cNvPr>
          <p:cNvSpPr txBox="1">
            <a:spLocks noChangeArrowheads="1"/>
          </p:cNvSpPr>
          <p:nvPr/>
        </p:nvSpPr>
        <p:spPr bwMode="auto">
          <a:xfrm>
            <a:off x="1197991" y="951769"/>
            <a:ext cx="8151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dirty="0">
                <a:latin typeface="+mn-ea"/>
                <a:ea typeface="+mn-ea"/>
              </a:rPr>
              <a:t>1</a:t>
            </a:r>
            <a:r>
              <a:rPr lang="zh-CN" altLang="en-US" dirty="0">
                <a:latin typeface="+mn-ea"/>
                <a:ea typeface="+mn-ea"/>
              </a:rPr>
              <a:t>、自定义函数声明</a:t>
            </a:r>
            <a:r>
              <a:rPr lang="zh-CN" altLang="en-US" b="0" dirty="0">
                <a:latin typeface="+mn-ea"/>
                <a:ea typeface="+mn-ea"/>
              </a:rPr>
              <a:t>        </a:t>
            </a:r>
            <a:endParaRPr lang="zh-CN" altLang="en-US" dirty="0">
              <a:latin typeface="+mn-ea"/>
              <a:ea typeface="+mn-ea"/>
            </a:endParaRPr>
          </a:p>
        </p:txBody>
      </p:sp>
      <p:sp>
        <p:nvSpPr>
          <p:cNvPr id="21" name="Text Box 4">
            <a:extLst>
              <a:ext uri="{FF2B5EF4-FFF2-40B4-BE49-F238E27FC236}">
                <a16:creationId xmlns:a16="http://schemas.microsoft.com/office/drawing/2014/main" id="{6DE04DE2-3447-461D-9735-62F0C7AA3A22}"/>
              </a:ext>
            </a:extLst>
          </p:cNvPr>
          <p:cNvSpPr txBox="1">
            <a:spLocks noChangeArrowheads="1"/>
          </p:cNvSpPr>
          <p:nvPr/>
        </p:nvSpPr>
        <p:spPr bwMode="auto">
          <a:xfrm>
            <a:off x="898271" y="3200400"/>
            <a:ext cx="10669956"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dirty="0">
                <a:latin typeface="+mn-ea"/>
                <a:ea typeface="+mn-ea"/>
              </a:rPr>
              <a:t>      【</a:t>
            </a:r>
            <a:r>
              <a:rPr lang="zh-CN" altLang="en-US" dirty="0">
                <a:latin typeface="+mn-ea"/>
                <a:ea typeface="+mn-ea"/>
              </a:rPr>
              <a:t>注意</a:t>
            </a:r>
            <a:r>
              <a:rPr lang="en-US" altLang="zh-CN" dirty="0">
                <a:latin typeface="+mn-ea"/>
                <a:ea typeface="+mn-ea"/>
              </a:rPr>
              <a:t>】</a:t>
            </a:r>
            <a:r>
              <a:rPr lang="zh-CN" altLang="en-US" dirty="0">
                <a:latin typeface="+mn-ea"/>
                <a:ea typeface="+mn-ea"/>
              </a:rPr>
              <a:t>函数同变量一样需要先声明再引用。如果函数定义出现在主函数之后，那么要在主函数中对函数进行函数声明。   </a:t>
            </a:r>
          </a:p>
        </p:txBody>
      </p:sp>
      <p:sp>
        <p:nvSpPr>
          <p:cNvPr id="22" name="Rectangle 5">
            <a:extLst>
              <a:ext uri="{FF2B5EF4-FFF2-40B4-BE49-F238E27FC236}">
                <a16:creationId xmlns:a16="http://schemas.microsoft.com/office/drawing/2014/main" id="{3006F315-C42B-482D-9780-032F8E93A016}"/>
              </a:ext>
            </a:extLst>
          </p:cNvPr>
          <p:cNvSpPr>
            <a:spLocks noChangeArrowheads="1"/>
          </p:cNvSpPr>
          <p:nvPr/>
        </p:nvSpPr>
        <p:spPr bwMode="auto">
          <a:xfrm>
            <a:off x="1378836" y="5421250"/>
            <a:ext cx="7414209"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80000"/>
              </a:lnSpc>
            </a:pPr>
            <a:r>
              <a:rPr lang="en-US" altLang="zh-CN" dirty="0">
                <a:latin typeface="+mn-ea"/>
                <a:ea typeface="+mn-ea"/>
              </a:rPr>
              <a:t>【</a:t>
            </a:r>
            <a:r>
              <a:rPr lang="zh-CN" altLang="en-US" dirty="0">
                <a:latin typeface="+mn-ea"/>
                <a:ea typeface="+mn-ea"/>
              </a:rPr>
              <a:t>例</a:t>
            </a:r>
            <a:r>
              <a:rPr lang="en-US" altLang="zh-CN" dirty="0">
                <a:latin typeface="+mn-ea"/>
                <a:ea typeface="+mn-ea"/>
              </a:rPr>
              <a:t>】</a:t>
            </a:r>
            <a:r>
              <a:rPr lang="zh-CN" altLang="en-US" dirty="0">
                <a:latin typeface="+mn-ea"/>
                <a:ea typeface="+mn-ea"/>
              </a:rPr>
              <a:t>通过函数调用求</a:t>
            </a:r>
            <a:r>
              <a:rPr lang="en-US" altLang="zh-CN" dirty="0">
                <a:latin typeface="+mn-ea"/>
                <a:ea typeface="+mn-ea"/>
              </a:rPr>
              <a:t>2</a:t>
            </a:r>
            <a:r>
              <a:rPr lang="zh-CN" altLang="en-US" dirty="0">
                <a:latin typeface="+mn-ea"/>
                <a:ea typeface="+mn-ea"/>
              </a:rPr>
              <a:t>个数中的大数。</a:t>
            </a:r>
          </a:p>
        </p:txBody>
      </p:sp>
    </p:spTree>
    <p:extLst>
      <p:ext uri="{BB962C8B-B14F-4D97-AF65-F5344CB8AC3E}">
        <p14:creationId xmlns:p14="http://schemas.microsoft.com/office/powerpoint/2010/main" val="222486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linds(horizontal)">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linds(horizontal)">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grpSp>
        <p:nvGrpSpPr>
          <p:cNvPr id="9" name="组合 8">
            <a:extLst>
              <a:ext uri="{FF2B5EF4-FFF2-40B4-BE49-F238E27FC236}">
                <a16:creationId xmlns:a16="http://schemas.microsoft.com/office/drawing/2014/main" id="{D36C5993-51A1-4B47-A3A7-C77F5A2255B4}"/>
              </a:ext>
            </a:extLst>
          </p:cNvPr>
          <p:cNvGrpSpPr/>
          <p:nvPr/>
        </p:nvGrpSpPr>
        <p:grpSpPr>
          <a:xfrm>
            <a:off x="0" y="114299"/>
            <a:ext cx="12192000" cy="932769"/>
            <a:chOff x="0" y="114299"/>
            <a:chExt cx="12192000" cy="932769"/>
          </a:xfrm>
        </p:grpSpPr>
        <p:sp>
          <p:nvSpPr>
            <p:cNvPr id="10" name="矩形 9">
              <a:extLst>
                <a:ext uri="{FF2B5EF4-FFF2-40B4-BE49-F238E27FC236}">
                  <a16:creationId xmlns:a16="http://schemas.microsoft.com/office/drawing/2014/main" id="{B7E9C0CE-3B4E-49D2-BD79-AC92D3BFE1A7}"/>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61F3BE4-7298-410A-AF95-470D1CD566F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90E8518-FC70-475A-B8E3-3DF7FFBBFA36}"/>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EB74CFE-78FD-4CAE-AAE9-1799ABBBDA92}"/>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9A786558-839C-4D38-A422-04E70E3F849D}"/>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8" name="Rectangle 2"/>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7.2.3</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函数的声明</a:t>
            </a:r>
          </a:p>
        </p:txBody>
      </p:sp>
      <p:sp>
        <p:nvSpPr>
          <p:cNvPr id="15" name="Text Box 4">
            <a:extLst>
              <a:ext uri="{FF2B5EF4-FFF2-40B4-BE49-F238E27FC236}">
                <a16:creationId xmlns:a16="http://schemas.microsoft.com/office/drawing/2014/main" id="{A68F70F6-A48B-4F96-A332-61AC46F93260}"/>
              </a:ext>
            </a:extLst>
          </p:cNvPr>
          <p:cNvSpPr txBox="1">
            <a:spLocks noChangeArrowheads="1"/>
          </p:cNvSpPr>
          <p:nvPr/>
        </p:nvSpPr>
        <p:spPr bwMode="auto">
          <a:xfrm>
            <a:off x="944934" y="2526968"/>
            <a:ext cx="8748712"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en-US" altLang="zh-CN" dirty="0">
                <a:cs typeface="Times New Roman" panose="02020603050405020304" pitchFamily="18" charset="0"/>
              </a:rPr>
              <a:t>main( )</a:t>
            </a:r>
          </a:p>
          <a:p>
            <a:pPr eaLnBrk="1" hangingPunct="1">
              <a:lnSpc>
                <a:spcPct val="125000"/>
              </a:lnSpc>
              <a:spcBef>
                <a:spcPct val="0"/>
              </a:spcBef>
            </a:pPr>
            <a:r>
              <a:rPr lang="en-US" altLang="zh-CN" dirty="0">
                <a:ea typeface="黑体" panose="02010609060101010101" pitchFamily="49" charset="-122"/>
                <a:cs typeface="Times New Roman" panose="02020603050405020304" pitchFamily="18" charset="0"/>
              </a:rPr>
              <a:t>  </a:t>
            </a:r>
            <a:r>
              <a:rPr lang="en-US" altLang="zh-CN" dirty="0">
                <a:cs typeface="Times New Roman" panose="02020603050405020304" pitchFamily="18" charset="0"/>
              </a:rPr>
              <a:t>{   </a:t>
            </a:r>
            <a:r>
              <a:rPr lang="en-US" altLang="zh-CN" dirty="0" err="1">
                <a:cs typeface="Times New Roman" panose="02020603050405020304" pitchFamily="18" charset="0"/>
              </a:rPr>
              <a:t>int</a:t>
            </a:r>
            <a:r>
              <a:rPr lang="en-US" altLang="zh-CN" dirty="0">
                <a:cs typeface="Times New Roman" panose="02020603050405020304" pitchFamily="18" charset="0"/>
              </a:rPr>
              <a:t> </a:t>
            </a:r>
            <a:r>
              <a:rPr lang="en-US" altLang="zh-CN" dirty="0" err="1">
                <a:cs typeface="Times New Roman" panose="02020603050405020304" pitchFamily="18" charset="0"/>
              </a:rPr>
              <a:t>a,b,result</a:t>
            </a:r>
            <a:r>
              <a:rPr lang="en-US" altLang="zh-CN" dirty="0">
                <a:cs typeface="Times New Roman" panose="02020603050405020304" pitchFamily="18" charset="0"/>
              </a:rPr>
              <a:t>;</a:t>
            </a:r>
          </a:p>
          <a:p>
            <a:pPr eaLnBrk="1" hangingPunct="1">
              <a:lnSpc>
                <a:spcPct val="125000"/>
              </a:lnSpc>
              <a:spcBef>
                <a:spcPct val="0"/>
              </a:spcBef>
            </a:pPr>
            <a:r>
              <a:rPr lang="en-US" altLang="zh-CN" dirty="0">
                <a:cs typeface="Times New Roman" panose="02020603050405020304" pitchFamily="18" charset="0"/>
              </a:rPr>
              <a:t>      </a:t>
            </a:r>
            <a:r>
              <a:rPr lang="en-US" altLang="zh-CN" dirty="0" err="1">
                <a:cs typeface="Times New Roman" panose="02020603050405020304" pitchFamily="18" charset="0"/>
              </a:rPr>
              <a:t>scanf</a:t>
            </a:r>
            <a:r>
              <a:rPr lang="en-US" altLang="zh-CN" dirty="0">
                <a:cs typeface="Times New Roman" panose="02020603050405020304" pitchFamily="18" charset="0"/>
              </a:rPr>
              <a:t>(“%</a:t>
            </a:r>
            <a:r>
              <a:rPr lang="en-US" altLang="zh-CN" dirty="0" err="1">
                <a:cs typeface="Times New Roman" panose="02020603050405020304" pitchFamily="18" charset="0"/>
              </a:rPr>
              <a:t>d%d</a:t>
            </a:r>
            <a:r>
              <a:rPr lang="en-US" altLang="zh-CN" dirty="0">
                <a:cs typeface="Times New Roman" panose="02020603050405020304" pitchFamily="18" charset="0"/>
              </a:rPr>
              <a:t>”,&amp;</a:t>
            </a:r>
            <a:r>
              <a:rPr lang="en-US" altLang="zh-CN" dirty="0" err="1">
                <a:cs typeface="Times New Roman" panose="02020603050405020304" pitchFamily="18" charset="0"/>
              </a:rPr>
              <a:t>a,&amp;b</a:t>
            </a:r>
            <a:r>
              <a:rPr lang="en-US" altLang="zh-CN" dirty="0">
                <a:cs typeface="Times New Roman" panose="02020603050405020304" pitchFamily="18" charset="0"/>
              </a:rPr>
              <a:t>);</a:t>
            </a:r>
          </a:p>
          <a:p>
            <a:pPr eaLnBrk="1" hangingPunct="1">
              <a:lnSpc>
                <a:spcPct val="125000"/>
              </a:lnSpc>
              <a:spcBef>
                <a:spcPct val="0"/>
              </a:spcBef>
            </a:pPr>
            <a:r>
              <a:rPr lang="en-US" altLang="zh-CN" dirty="0">
                <a:cs typeface="Times New Roman" panose="02020603050405020304" pitchFamily="18" charset="0"/>
              </a:rPr>
              <a:t>      result=big(</a:t>
            </a:r>
            <a:r>
              <a:rPr lang="en-US" altLang="zh-CN" dirty="0" err="1">
                <a:cs typeface="Times New Roman" panose="02020603050405020304" pitchFamily="18" charset="0"/>
              </a:rPr>
              <a:t>a,b</a:t>
            </a:r>
            <a:r>
              <a:rPr lang="en-US" altLang="zh-CN" dirty="0">
                <a:cs typeface="Times New Roman" panose="02020603050405020304" pitchFamily="18" charset="0"/>
              </a:rPr>
              <a:t>);  </a:t>
            </a:r>
          </a:p>
          <a:p>
            <a:pPr eaLnBrk="1" hangingPunct="1">
              <a:lnSpc>
                <a:spcPct val="125000"/>
              </a:lnSpc>
              <a:spcBef>
                <a:spcPct val="0"/>
              </a:spcBef>
            </a:pPr>
            <a:r>
              <a:rPr lang="en-US" altLang="zh-CN" dirty="0">
                <a:cs typeface="Times New Roman" panose="02020603050405020304" pitchFamily="18" charset="0"/>
              </a:rPr>
              <a:t>      </a:t>
            </a:r>
            <a:r>
              <a:rPr lang="en-US" altLang="zh-CN" dirty="0" err="1">
                <a:cs typeface="Times New Roman" panose="02020603050405020304" pitchFamily="18" charset="0"/>
              </a:rPr>
              <a:t>printf</a:t>
            </a:r>
            <a:r>
              <a:rPr lang="en-US" altLang="zh-CN" dirty="0">
                <a:cs typeface="Times New Roman" panose="02020603050405020304" pitchFamily="18" charset="0"/>
              </a:rPr>
              <a:t>(“big of %</a:t>
            </a:r>
            <a:r>
              <a:rPr lang="en-US" altLang="zh-CN" dirty="0" err="1">
                <a:cs typeface="Times New Roman" panose="02020603050405020304" pitchFamily="18" charset="0"/>
              </a:rPr>
              <a:t>d,%d</a:t>
            </a:r>
            <a:r>
              <a:rPr lang="en-US" altLang="zh-CN" dirty="0">
                <a:cs typeface="Times New Roman" panose="02020603050405020304" pitchFamily="18" charset="0"/>
              </a:rPr>
              <a:t> is:%d\n”,</a:t>
            </a:r>
            <a:r>
              <a:rPr lang="en-US" altLang="zh-CN" dirty="0" err="1">
                <a:cs typeface="Times New Roman" panose="02020603050405020304" pitchFamily="18" charset="0"/>
              </a:rPr>
              <a:t>a,b,result</a:t>
            </a:r>
            <a:r>
              <a:rPr lang="en-US" altLang="zh-CN" dirty="0">
                <a:cs typeface="Times New Roman" panose="02020603050405020304" pitchFamily="18" charset="0"/>
              </a:rPr>
              <a:t>);</a:t>
            </a:r>
          </a:p>
          <a:p>
            <a:pPr eaLnBrk="1" hangingPunct="1">
              <a:lnSpc>
                <a:spcPct val="125000"/>
              </a:lnSpc>
              <a:spcBef>
                <a:spcPct val="0"/>
              </a:spcBef>
            </a:pPr>
            <a:r>
              <a:rPr lang="en-US" altLang="zh-CN" dirty="0">
                <a:cs typeface="Times New Roman" panose="02020603050405020304" pitchFamily="18" charset="0"/>
              </a:rPr>
              <a:t>   }                          </a:t>
            </a:r>
          </a:p>
        </p:txBody>
      </p:sp>
      <p:sp>
        <p:nvSpPr>
          <p:cNvPr id="16" name="Text Box 5">
            <a:extLst>
              <a:ext uri="{FF2B5EF4-FFF2-40B4-BE49-F238E27FC236}">
                <a16:creationId xmlns:a16="http://schemas.microsoft.com/office/drawing/2014/main" id="{0CD92FCC-D2C9-4115-AF9B-64C072107EA3}"/>
              </a:ext>
            </a:extLst>
          </p:cNvPr>
          <p:cNvSpPr txBox="1">
            <a:spLocks noChangeArrowheads="1"/>
          </p:cNvSpPr>
          <p:nvPr/>
        </p:nvSpPr>
        <p:spPr bwMode="auto">
          <a:xfrm>
            <a:off x="944934" y="880033"/>
            <a:ext cx="6624637" cy="14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dirty="0" err="1">
                <a:cs typeface="Times New Roman" panose="02020603050405020304" pitchFamily="18" charset="0"/>
              </a:rPr>
              <a:t>int</a:t>
            </a:r>
            <a:r>
              <a:rPr lang="en-US" altLang="zh-CN" dirty="0">
                <a:cs typeface="Times New Roman" panose="02020603050405020304" pitchFamily="18" charset="0"/>
              </a:rPr>
              <a:t> big(</a:t>
            </a:r>
            <a:r>
              <a:rPr lang="en-US" altLang="zh-CN" dirty="0" err="1">
                <a:cs typeface="Times New Roman" panose="02020603050405020304" pitchFamily="18" charset="0"/>
              </a:rPr>
              <a:t>int</a:t>
            </a:r>
            <a:r>
              <a:rPr lang="en-US" altLang="zh-CN" dirty="0">
                <a:cs typeface="Times New Roman" panose="02020603050405020304" pitchFamily="18" charset="0"/>
              </a:rPr>
              <a:t> </a:t>
            </a:r>
            <a:r>
              <a:rPr lang="en-US" altLang="zh-CN" dirty="0" err="1">
                <a:cs typeface="Times New Roman" panose="02020603050405020304" pitchFamily="18" charset="0"/>
              </a:rPr>
              <a:t>x,int</a:t>
            </a:r>
            <a:r>
              <a:rPr lang="en-US" altLang="zh-CN" dirty="0">
                <a:cs typeface="Times New Roman" panose="02020603050405020304" pitchFamily="18" charset="0"/>
              </a:rPr>
              <a:t> y)</a:t>
            </a:r>
          </a:p>
          <a:p>
            <a:pPr eaLnBrk="1" hangingPunct="1">
              <a:lnSpc>
                <a:spcPct val="150000"/>
              </a:lnSpc>
              <a:spcBef>
                <a:spcPct val="0"/>
              </a:spcBef>
            </a:pPr>
            <a:r>
              <a:rPr lang="en-US" altLang="zh-CN" dirty="0">
                <a:cs typeface="Times New Roman" panose="02020603050405020304" pitchFamily="18" charset="0"/>
              </a:rPr>
              <a:t>   {  return x&gt;</a:t>
            </a:r>
            <a:r>
              <a:rPr lang="en-US" altLang="zh-CN" dirty="0" err="1">
                <a:cs typeface="Times New Roman" panose="02020603050405020304" pitchFamily="18" charset="0"/>
              </a:rPr>
              <a:t>y?x:y</a:t>
            </a:r>
            <a:r>
              <a:rPr lang="en-US" altLang="zh-CN" dirty="0">
                <a:cs typeface="Times New Roman" panose="02020603050405020304" pitchFamily="18" charset="0"/>
              </a:rPr>
              <a:t>;  }</a:t>
            </a:r>
            <a:r>
              <a:rPr lang="en-US" altLang="zh-CN" dirty="0">
                <a:ea typeface="黑体" panose="02010609060101010101" pitchFamily="49" charset="-122"/>
                <a:cs typeface="Times New Roman" panose="02020603050405020304" pitchFamily="18" charset="0"/>
              </a:rPr>
              <a:t>    </a:t>
            </a:r>
            <a:endParaRPr lang="en-US" altLang="zh-CN" dirty="0">
              <a:cs typeface="Times New Roman" panose="02020603050405020304" pitchFamily="18" charset="0"/>
            </a:endParaRPr>
          </a:p>
        </p:txBody>
      </p:sp>
      <p:sp>
        <p:nvSpPr>
          <p:cNvPr id="17" name="Line 10">
            <a:extLst>
              <a:ext uri="{FF2B5EF4-FFF2-40B4-BE49-F238E27FC236}">
                <a16:creationId xmlns:a16="http://schemas.microsoft.com/office/drawing/2014/main" id="{34362473-3AE4-4758-B632-81635A95D713}"/>
              </a:ext>
            </a:extLst>
          </p:cNvPr>
          <p:cNvSpPr>
            <a:spLocks noChangeShapeType="1"/>
          </p:cNvSpPr>
          <p:nvPr/>
        </p:nvSpPr>
        <p:spPr bwMode="auto">
          <a:xfrm>
            <a:off x="1630791" y="5041974"/>
            <a:ext cx="2691445" cy="84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897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grpSp>
        <p:nvGrpSpPr>
          <p:cNvPr id="9" name="组合 8">
            <a:extLst>
              <a:ext uri="{FF2B5EF4-FFF2-40B4-BE49-F238E27FC236}">
                <a16:creationId xmlns:a16="http://schemas.microsoft.com/office/drawing/2014/main" id="{D36C5993-51A1-4B47-A3A7-C77F5A2255B4}"/>
              </a:ext>
            </a:extLst>
          </p:cNvPr>
          <p:cNvGrpSpPr/>
          <p:nvPr/>
        </p:nvGrpSpPr>
        <p:grpSpPr>
          <a:xfrm>
            <a:off x="0" y="114299"/>
            <a:ext cx="12192000" cy="932769"/>
            <a:chOff x="0" y="114299"/>
            <a:chExt cx="12192000" cy="932769"/>
          </a:xfrm>
        </p:grpSpPr>
        <p:sp>
          <p:nvSpPr>
            <p:cNvPr id="10" name="矩形 9">
              <a:extLst>
                <a:ext uri="{FF2B5EF4-FFF2-40B4-BE49-F238E27FC236}">
                  <a16:creationId xmlns:a16="http://schemas.microsoft.com/office/drawing/2014/main" id="{B7E9C0CE-3B4E-49D2-BD79-AC92D3BFE1A7}"/>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61F3BE4-7298-410A-AF95-470D1CD566F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90E8518-FC70-475A-B8E3-3DF7FFBBFA36}"/>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EB74CFE-78FD-4CAE-AAE9-1799ABBBDA92}"/>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9A786558-839C-4D38-A422-04E70E3F849D}"/>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8" name="Rectangle 2"/>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7.2.3</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函数的声明</a:t>
            </a:r>
          </a:p>
        </p:txBody>
      </p:sp>
      <p:sp>
        <p:nvSpPr>
          <p:cNvPr id="16" name="Text Box 4">
            <a:extLst>
              <a:ext uri="{FF2B5EF4-FFF2-40B4-BE49-F238E27FC236}">
                <a16:creationId xmlns:a16="http://schemas.microsoft.com/office/drawing/2014/main" id="{7924B836-7D5B-4022-BCF6-C4BF46823032}"/>
              </a:ext>
            </a:extLst>
          </p:cNvPr>
          <p:cNvSpPr txBox="1">
            <a:spLocks noChangeArrowheads="1"/>
          </p:cNvSpPr>
          <p:nvPr/>
        </p:nvSpPr>
        <p:spPr bwMode="auto">
          <a:xfrm>
            <a:off x="764183" y="783083"/>
            <a:ext cx="8748712"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en-US" altLang="zh-CN" dirty="0">
                <a:cs typeface="Times New Roman" panose="02020603050405020304" pitchFamily="18" charset="0"/>
              </a:rPr>
              <a:t>main( )</a:t>
            </a:r>
          </a:p>
          <a:p>
            <a:pPr eaLnBrk="1" hangingPunct="1">
              <a:lnSpc>
                <a:spcPct val="125000"/>
              </a:lnSpc>
              <a:spcBef>
                <a:spcPct val="0"/>
              </a:spcBef>
            </a:pPr>
            <a:r>
              <a:rPr lang="en-US" altLang="zh-CN" dirty="0">
                <a:ea typeface="黑体" panose="02010609060101010101" pitchFamily="49" charset="-122"/>
                <a:cs typeface="Times New Roman" panose="02020603050405020304" pitchFamily="18" charset="0"/>
              </a:rPr>
              <a:t>  </a:t>
            </a:r>
            <a:r>
              <a:rPr lang="en-US" altLang="zh-CN" dirty="0">
                <a:cs typeface="Times New Roman" panose="02020603050405020304" pitchFamily="18" charset="0"/>
              </a:rPr>
              <a:t>{</a:t>
            </a:r>
          </a:p>
          <a:p>
            <a:pPr eaLnBrk="1" hangingPunct="1">
              <a:lnSpc>
                <a:spcPct val="125000"/>
              </a:lnSpc>
              <a:spcBef>
                <a:spcPct val="0"/>
              </a:spcBef>
            </a:pPr>
            <a:r>
              <a:rPr lang="en-US" altLang="zh-CN" dirty="0">
                <a:cs typeface="Times New Roman" panose="02020603050405020304" pitchFamily="18" charset="0"/>
              </a:rPr>
              <a:t>      </a:t>
            </a:r>
            <a:r>
              <a:rPr lang="en-US" altLang="zh-CN" dirty="0" err="1">
                <a:cs typeface="Times New Roman" panose="02020603050405020304" pitchFamily="18" charset="0"/>
              </a:rPr>
              <a:t>int</a:t>
            </a:r>
            <a:r>
              <a:rPr lang="en-US" altLang="zh-CN" dirty="0">
                <a:cs typeface="Times New Roman" panose="02020603050405020304" pitchFamily="18" charset="0"/>
              </a:rPr>
              <a:t> </a:t>
            </a:r>
            <a:r>
              <a:rPr lang="en-US" altLang="zh-CN" dirty="0" err="1">
                <a:cs typeface="Times New Roman" panose="02020603050405020304" pitchFamily="18" charset="0"/>
              </a:rPr>
              <a:t>a,b,result</a:t>
            </a:r>
            <a:r>
              <a:rPr lang="en-US" altLang="zh-CN" dirty="0">
                <a:cs typeface="Times New Roman" panose="02020603050405020304" pitchFamily="18" charset="0"/>
              </a:rPr>
              <a:t>;</a:t>
            </a:r>
          </a:p>
          <a:p>
            <a:pPr eaLnBrk="1" hangingPunct="1">
              <a:lnSpc>
                <a:spcPct val="125000"/>
              </a:lnSpc>
              <a:spcBef>
                <a:spcPct val="0"/>
              </a:spcBef>
            </a:pPr>
            <a:r>
              <a:rPr lang="en-US" altLang="zh-CN" dirty="0">
                <a:cs typeface="Times New Roman" panose="02020603050405020304" pitchFamily="18" charset="0"/>
              </a:rPr>
              <a:t>      </a:t>
            </a:r>
            <a:r>
              <a:rPr lang="en-US" altLang="zh-CN" dirty="0" err="1">
                <a:cs typeface="Times New Roman" panose="02020603050405020304" pitchFamily="18" charset="0"/>
              </a:rPr>
              <a:t>scanf</a:t>
            </a:r>
            <a:r>
              <a:rPr lang="en-US" altLang="zh-CN" dirty="0">
                <a:cs typeface="Times New Roman" panose="02020603050405020304" pitchFamily="18" charset="0"/>
              </a:rPr>
              <a:t>(“%</a:t>
            </a:r>
            <a:r>
              <a:rPr lang="en-US" altLang="zh-CN" dirty="0" err="1">
                <a:cs typeface="Times New Roman" panose="02020603050405020304" pitchFamily="18" charset="0"/>
              </a:rPr>
              <a:t>d%d</a:t>
            </a:r>
            <a:r>
              <a:rPr lang="en-US" altLang="zh-CN" dirty="0">
                <a:cs typeface="Times New Roman" panose="02020603050405020304" pitchFamily="18" charset="0"/>
              </a:rPr>
              <a:t>”,&amp;</a:t>
            </a:r>
            <a:r>
              <a:rPr lang="en-US" altLang="zh-CN" dirty="0" err="1">
                <a:cs typeface="Times New Roman" panose="02020603050405020304" pitchFamily="18" charset="0"/>
              </a:rPr>
              <a:t>a,&amp;b</a:t>
            </a:r>
            <a:r>
              <a:rPr lang="en-US" altLang="zh-CN" dirty="0">
                <a:cs typeface="Times New Roman" panose="02020603050405020304" pitchFamily="18" charset="0"/>
              </a:rPr>
              <a:t>);</a:t>
            </a:r>
          </a:p>
          <a:p>
            <a:pPr eaLnBrk="1" hangingPunct="1">
              <a:lnSpc>
                <a:spcPct val="125000"/>
              </a:lnSpc>
              <a:spcBef>
                <a:spcPct val="0"/>
              </a:spcBef>
            </a:pPr>
            <a:r>
              <a:rPr lang="en-US" altLang="zh-CN" dirty="0">
                <a:cs typeface="Times New Roman" panose="02020603050405020304" pitchFamily="18" charset="0"/>
              </a:rPr>
              <a:t>      result=big(</a:t>
            </a:r>
            <a:r>
              <a:rPr lang="en-US" altLang="zh-CN" dirty="0" err="1">
                <a:cs typeface="Times New Roman" panose="02020603050405020304" pitchFamily="18" charset="0"/>
              </a:rPr>
              <a:t>a,b</a:t>
            </a:r>
            <a:r>
              <a:rPr lang="en-US" altLang="zh-CN" dirty="0">
                <a:cs typeface="Times New Roman" panose="02020603050405020304" pitchFamily="18" charset="0"/>
              </a:rPr>
              <a:t>);  </a:t>
            </a:r>
          </a:p>
          <a:p>
            <a:pPr eaLnBrk="1" hangingPunct="1">
              <a:lnSpc>
                <a:spcPct val="125000"/>
              </a:lnSpc>
              <a:spcBef>
                <a:spcPct val="0"/>
              </a:spcBef>
            </a:pPr>
            <a:r>
              <a:rPr lang="en-US" altLang="zh-CN" dirty="0">
                <a:cs typeface="Times New Roman" panose="02020603050405020304" pitchFamily="18" charset="0"/>
              </a:rPr>
              <a:t>      </a:t>
            </a:r>
            <a:r>
              <a:rPr lang="en-US" altLang="zh-CN" dirty="0" err="1">
                <a:cs typeface="Times New Roman" panose="02020603050405020304" pitchFamily="18" charset="0"/>
              </a:rPr>
              <a:t>printf</a:t>
            </a:r>
            <a:r>
              <a:rPr lang="en-US" altLang="zh-CN" dirty="0">
                <a:cs typeface="Times New Roman" panose="02020603050405020304" pitchFamily="18" charset="0"/>
              </a:rPr>
              <a:t>(“big of %</a:t>
            </a:r>
            <a:r>
              <a:rPr lang="en-US" altLang="zh-CN" dirty="0" err="1">
                <a:cs typeface="Times New Roman" panose="02020603050405020304" pitchFamily="18" charset="0"/>
              </a:rPr>
              <a:t>d,%d</a:t>
            </a:r>
            <a:r>
              <a:rPr lang="en-US" altLang="zh-CN" dirty="0">
                <a:cs typeface="Times New Roman" panose="02020603050405020304" pitchFamily="18" charset="0"/>
              </a:rPr>
              <a:t> is:%d\n”,</a:t>
            </a:r>
            <a:r>
              <a:rPr lang="en-US" altLang="zh-CN" dirty="0" err="1">
                <a:cs typeface="Times New Roman" panose="02020603050405020304" pitchFamily="18" charset="0"/>
              </a:rPr>
              <a:t>a,b,result</a:t>
            </a:r>
            <a:r>
              <a:rPr lang="en-US" altLang="zh-CN" dirty="0">
                <a:cs typeface="Times New Roman" panose="02020603050405020304" pitchFamily="18" charset="0"/>
              </a:rPr>
              <a:t>);</a:t>
            </a:r>
          </a:p>
          <a:p>
            <a:pPr eaLnBrk="1" hangingPunct="1">
              <a:lnSpc>
                <a:spcPct val="125000"/>
              </a:lnSpc>
              <a:spcBef>
                <a:spcPct val="0"/>
              </a:spcBef>
            </a:pPr>
            <a:r>
              <a:rPr lang="en-US" altLang="zh-CN" dirty="0">
                <a:cs typeface="Times New Roman" panose="02020603050405020304" pitchFamily="18" charset="0"/>
              </a:rPr>
              <a:t>   }                          </a:t>
            </a:r>
          </a:p>
        </p:txBody>
      </p:sp>
      <p:sp>
        <p:nvSpPr>
          <p:cNvPr id="17" name="Text Box 5">
            <a:extLst>
              <a:ext uri="{FF2B5EF4-FFF2-40B4-BE49-F238E27FC236}">
                <a16:creationId xmlns:a16="http://schemas.microsoft.com/office/drawing/2014/main" id="{4F85D1BC-5042-463B-B1FE-23BC59A7181E}"/>
              </a:ext>
            </a:extLst>
          </p:cNvPr>
          <p:cNvSpPr txBox="1">
            <a:spLocks noChangeArrowheads="1"/>
          </p:cNvSpPr>
          <p:nvPr/>
        </p:nvSpPr>
        <p:spPr bwMode="auto">
          <a:xfrm>
            <a:off x="742916" y="4942814"/>
            <a:ext cx="662463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dirty="0" err="1">
                <a:cs typeface="Times New Roman" panose="02020603050405020304" pitchFamily="18" charset="0"/>
              </a:rPr>
              <a:t>int</a:t>
            </a:r>
            <a:r>
              <a:rPr lang="en-US" altLang="zh-CN" dirty="0">
                <a:cs typeface="Times New Roman" panose="02020603050405020304" pitchFamily="18" charset="0"/>
              </a:rPr>
              <a:t> big(</a:t>
            </a:r>
            <a:r>
              <a:rPr lang="en-US" altLang="zh-CN" dirty="0" err="1">
                <a:cs typeface="Times New Roman" panose="02020603050405020304" pitchFamily="18" charset="0"/>
              </a:rPr>
              <a:t>int</a:t>
            </a:r>
            <a:r>
              <a:rPr lang="en-US" altLang="zh-CN" dirty="0">
                <a:cs typeface="Times New Roman" panose="02020603050405020304" pitchFamily="18" charset="0"/>
              </a:rPr>
              <a:t> </a:t>
            </a:r>
            <a:r>
              <a:rPr lang="en-US" altLang="zh-CN" dirty="0" err="1">
                <a:cs typeface="Times New Roman" panose="02020603050405020304" pitchFamily="18" charset="0"/>
              </a:rPr>
              <a:t>x,int</a:t>
            </a:r>
            <a:r>
              <a:rPr lang="en-US" altLang="zh-CN" dirty="0">
                <a:cs typeface="Times New Roman" panose="02020603050405020304" pitchFamily="18" charset="0"/>
              </a:rPr>
              <a:t> y)</a:t>
            </a:r>
          </a:p>
          <a:p>
            <a:pPr eaLnBrk="1" hangingPunct="1">
              <a:lnSpc>
                <a:spcPct val="150000"/>
              </a:lnSpc>
              <a:spcBef>
                <a:spcPct val="0"/>
              </a:spcBef>
            </a:pPr>
            <a:r>
              <a:rPr lang="en-US" altLang="zh-CN" dirty="0">
                <a:cs typeface="Times New Roman" panose="02020603050405020304" pitchFamily="18" charset="0"/>
              </a:rPr>
              <a:t>   {  return x&gt;</a:t>
            </a:r>
            <a:r>
              <a:rPr lang="en-US" altLang="zh-CN" dirty="0" err="1">
                <a:cs typeface="Times New Roman" panose="02020603050405020304" pitchFamily="18" charset="0"/>
              </a:rPr>
              <a:t>y?x:y</a:t>
            </a:r>
            <a:r>
              <a:rPr lang="en-US" altLang="zh-CN" dirty="0">
                <a:cs typeface="Times New Roman" panose="02020603050405020304" pitchFamily="18" charset="0"/>
              </a:rPr>
              <a:t>;  }</a:t>
            </a:r>
            <a:r>
              <a:rPr lang="en-US" altLang="zh-CN" dirty="0">
                <a:ea typeface="黑体" panose="02010609060101010101" pitchFamily="49" charset="-122"/>
                <a:cs typeface="Times New Roman" panose="02020603050405020304" pitchFamily="18" charset="0"/>
              </a:rPr>
              <a:t>    </a:t>
            </a:r>
            <a:endParaRPr lang="en-US" altLang="zh-CN" dirty="0">
              <a:cs typeface="Times New Roman" panose="02020603050405020304" pitchFamily="18" charset="0"/>
            </a:endParaRPr>
          </a:p>
        </p:txBody>
      </p:sp>
      <p:sp>
        <p:nvSpPr>
          <p:cNvPr id="18" name="Rectangle 6">
            <a:extLst>
              <a:ext uri="{FF2B5EF4-FFF2-40B4-BE49-F238E27FC236}">
                <a16:creationId xmlns:a16="http://schemas.microsoft.com/office/drawing/2014/main" id="{EAB18117-5CEB-4D32-96DA-097F77F5FEBE}"/>
              </a:ext>
            </a:extLst>
          </p:cNvPr>
          <p:cNvSpPr>
            <a:spLocks noChangeArrowheads="1"/>
          </p:cNvSpPr>
          <p:nvPr/>
        </p:nvSpPr>
        <p:spPr bwMode="auto">
          <a:xfrm>
            <a:off x="1431741" y="1508755"/>
            <a:ext cx="27783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en-US" altLang="zh-CN">
                <a:cs typeface="Times New Roman" panose="02020603050405020304" pitchFamily="18" charset="0"/>
              </a:rPr>
              <a:t>int big(int,int);</a:t>
            </a:r>
          </a:p>
        </p:txBody>
      </p:sp>
      <p:sp>
        <p:nvSpPr>
          <p:cNvPr id="19" name="Rectangle 8">
            <a:extLst>
              <a:ext uri="{FF2B5EF4-FFF2-40B4-BE49-F238E27FC236}">
                <a16:creationId xmlns:a16="http://schemas.microsoft.com/office/drawing/2014/main" id="{144D1995-A037-4E20-A974-5660ADC80F8D}"/>
              </a:ext>
            </a:extLst>
          </p:cNvPr>
          <p:cNvSpPr>
            <a:spLocks noChangeArrowheads="1"/>
          </p:cNvSpPr>
          <p:nvPr/>
        </p:nvSpPr>
        <p:spPr bwMode="auto">
          <a:xfrm>
            <a:off x="1431741" y="1530980"/>
            <a:ext cx="3744912" cy="6477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endParaRPr lang="zh-CN" altLang="en-US">
              <a:cs typeface="Times New Roman" panose="02020603050405020304" pitchFamily="18" charset="0"/>
            </a:endParaRPr>
          </a:p>
        </p:txBody>
      </p:sp>
      <p:sp>
        <p:nvSpPr>
          <p:cNvPr id="20" name="Line 10">
            <a:extLst>
              <a:ext uri="{FF2B5EF4-FFF2-40B4-BE49-F238E27FC236}">
                <a16:creationId xmlns:a16="http://schemas.microsoft.com/office/drawing/2014/main" id="{0FEBF89B-DE41-4E9E-8E85-33B3CD2956E3}"/>
              </a:ext>
            </a:extLst>
          </p:cNvPr>
          <p:cNvSpPr>
            <a:spLocks noChangeShapeType="1"/>
          </p:cNvSpPr>
          <p:nvPr/>
        </p:nvSpPr>
        <p:spPr bwMode="auto">
          <a:xfrm>
            <a:off x="1478593" y="3874427"/>
            <a:ext cx="338455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3200" b="1">
              <a:latin typeface="Times New Roman" panose="02020603050405020304" pitchFamily="18" charset="0"/>
              <a:cs typeface="Times New Roman" panose="02020603050405020304" pitchFamily="18" charset="0"/>
            </a:endParaRPr>
          </a:p>
        </p:txBody>
      </p:sp>
      <p:sp>
        <p:nvSpPr>
          <p:cNvPr id="21" name="AutoShape 11">
            <a:extLst>
              <a:ext uri="{FF2B5EF4-FFF2-40B4-BE49-F238E27FC236}">
                <a16:creationId xmlns:a16="http://schemas.microsoft.com/office/drawing/2014/main" id="{EC9DE650-EEEB-4AE0-88E8-8C1664A8A17B}"/>
              </a:ext>
            </a:extLst>
          </p:cNvPr>
          <p:cNvSpPr>
            <a:spLocks noChangeArrowheads="1"/>
          </p:cNvSpPr>
          <p:nvPr/>
        </p:nvSpPr>
        <p:spPr bwMode="auto">
          <a:xfrm>
            <a:off x="8357393" y="1849770"/>
            <a:ext cx="3313113" cy="1150938"/>
          </a:xfrm>
          <a:prstGeom prst="wedgeRoundRectCallout">
            <a:avLst>
              <a:gd name="adj1" fmla="val -134886"/>
              <a:gd name="adj2" fmla="val -46620"/>
              <a:gd name="adj3" fmla="val 16667"/>
            </a:avLst>
          </a:prstGeom>
          <a:noFill/>
          <a:ln w="38100" algn="ctr">
            <a:solidFill>
              <a:srgbClr val="FF0000"/>
            </a:solidFill>
            <a:miter lim="800000"/>
          </a:ln>
          <a:effectLst/>
        </p:spPr>
        <p:txBody>
          <a:bodyPr/>
          <a:lstStyle/>
          <a:p>
            <a:pPr algn="ctr">
              <a:buFontTx/>
              <a:buNone/>
              <a:defRPr/>
            </a:pPr>
            <a:r>
              <a:rPr kumimoji="1" lang="zh-CN" altLang="en-US" sz="3200" b="1">
                <a:solidFill>
                  <a:srgbClr val="0033CC"/>
                </a:solidFill>
              </a:rPr>
              <a:t>函数遵循先声明后引用的规则</a:t>
            </a:r>
          </a:p>
        </p:txBody>
      </p:sp>
    </p:spTree>
    <p:extLst>
      <p:ext uri="{BB962C8B-B14F-4D97-AF65-F5344CB8AC3E}">
        <p14:creationId xmlns:p14="http://schemas.microsoft.com/office/powerpoint/2010/main" val="61695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linds(horizontal)">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grpSp>
        <p:nvGrpSpPr>
          <p:cNvPr id="9" name="组合 8">
            <a:extLst>
              <a:ext uri="{FF2B5EF4-FFF2-40B4-BE49-F238E27FC236}">
                <a16:creationId xmlns:a16="http://schemas.microsoft.com/office/drawing/2014/main" id="{D36C5993-51A1-4B47-A3A7-C77F5A2255B4}"/>
              </a:ext>
            </a:extLst>
          </p:cNvPr>
          <p:cNvGrpSpPr/>
          <p:nvPr/>
        </p:nvGrpSpPr>
        <p:grpSpPr>
          <a:xfrm>
            <a:off x="0" y="114299"/>
            <a:ext cx="12192000" cy="932769"/>
            <a:chOff x="0" y="114299"/>
            <a:chExt cx="12192000" cy="932769"/>
          </a:xfrm>
        </p:grpSpPr>
        <p:sp>
          <p:nvSpPr>
            <p:cNvPr id="10" name="矩形 9">
              <a:extLst>
                <a:ext uri="{FF2B5EF4-FFF2-40B4-BE49-F238E27FC236}">
                  <a16:creationId xmlns:a16="http://schemas.microsoft.com/office/drawing/2014/main" id="{B7E9C0CE-3B4E-49D2-BD79-AC92D3BFE1A7}"/>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61F3BE4-7298-410A-AF95-470D1CD566F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90E8518-FC70-475A-B8E3-3DF7FFBBFA36}"/>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EB74CFE-78FD-4CAE-AAE9-1799ABBBDA92}"/>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9A786558-839C-4D38-A422-04E70E3F849D}"/>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8" name="Rectangle 2"/>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函数的声明</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总结</a:t>
            </a:r>
          </a:p>
        </p:txBody>
      </p:sp>
      <p:sp>
        <p:nvSpPr>
          <p:cNvPr id="15" name="Text Box 4">
            <a:extLst>
              <a:ext uri="{FF2B5EF4-FFF2-40B4-BE49-F238E27FC236}">
                <a16:creationId xmlns:a16="http://schemas.microsoft.com/office/drawing/2014/main" id="{A989BCAD-FB1F-4446-8D1A-F66213F10BB7}"/>
              </a:ext>
            </a:extLst>
          </p:cNvPr>
          <p:cNvSpPr txBox="1">
            <a:spLocks noChangeArrowheads="1"/>
          </p:cNvSpPr>
          <p:nvPr/>
        </p:nvSpPr>
        <p:spPr bwMode="auto">
          <a:xfrm>
            <a:off x="1102556" y="916935"/>
            <a:ext cx="7272338" cy="867930"/>
          </a:xfrm>
          <a:prstGeom prst="rect">
            <a:avLst/>
          </a:prstGeom>
          <a:noFill/>
          <a:ln w="9525">
            <a:noFill/>
            <a:miter lim="800000"/>
          </a:ln>
          <a:effectLst/>
        </p:spPr>
        <p:txBody>
          <a:bodyPr>
            <a:spAutoFit/>
          </a:bodyPr>
          <a:lstStyle/>
          <a:p>
            <a:pPr>
              <a:lnSpc>
                <a:spcPct val="180000"/>
              </a:lnSpc>
              <a:spcBef>
                <a:spcPct val="0"/>
              </a:spcBef>
              <a:buClr>
                <a:srgbClr val="D92517"/>
              </a:buClr>
              <a:buFont typeface="Wingdings" panose="05000000000000000000" pitchFamily="2" charset="2"/>
              <a:buChar char="Ø"/>
              <a:defRPr/>
            </a:pPr>
            <a:r>
              <a:rPr kumimoji="1" lang="en-US" altLang="zh-CN" sz="2800" b="1" dirty="0">
                <a:latin typeface="Times New Roman" panose="02020603050405020304" pitchFamily="18" charset="0"/>
                <a:ea typeface="+mj-ea"/>
                <a:cs typeface="Times New Roman" panose="02020603050405020304" pitchFamily="18" charset="0"/>
              </a:rPr>
              <a:t> </a:t>
            </a:r>
            <a:r>
              <a:rPr kumimoji="1" lang="zh-CN" altLang="en-US" sz="2800" b="1" dirty="0">
                <a:latin typeface="Times New Roman" panose="02020603050405020304" pitchFamily="18" charset="0"/>
                <a:ea typeface="+mj-ea"/>
                <a:cs typeface="Times New Roman" panose="02020603050405020304" pitchFamily="18" charset="0"/>
              </a:rPr>
              <a:t>被调函数与主函数在同一个文件中；</a:t>
            </a:r>
            <a:endParaRPr kumimoji="1" lang="zh-CN" altLang="en-US" sz="2800" b="1" dirty="0">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endParaRPr>
          </a:p>
        </p:txBody>
      </p:sp>
      <p:pic>
        <p:nvPicPr>
          <p:cNvPr id="16" name="Picture 7">
            <a:extLst>
              <a:ext uri="{FF2B5EF4-FFF2-40B4-BE49-F238E27FC236}">
                <a16:creationId xmlns:a16="http://schemas.microsoft.com/office/drawing/2014/main" id="{C3B21695-9C56-4462-A0AB-8D369A0BB4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6353" y="1880381"/>
            <a:ext cx="7924484" cy="406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079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grpSp>
        <p:nvGrpSpPr>
          <p:cNvPr id="9" name="组合 8">
            <a:extLst>
              <a:ext uri="{FF2B5EF4-FFF2-40B4-BE49-F238E27FC236}">
                <a16:creationId xmlns:a16="http://schemas.microsoft.com/office/drawing/2014/main" id="{D36C5993-51A1-4B47-A3A7-C77F5A2255B4}"/>
              </a:ext>
            </a:extLst>
          </p:cNvPr>
          <p:cNvGrpSpPr/>
          <p:nvPr/>
        </p:nvGrpSpPr>
        <p:grpSpPr>
          <a:xfrm>
            <a:off x="0" y="114299"/>
            <a:ext cx="12192000" cy="932769"/>
            <a:chOff x="0" y="114299"/>
            <a:chExt cx="12192000" cy="932769"/>
          </a:xfrm>
        </p:grpSpPr>
        <p:sp>
          <p:nvSpPr>
            <p:cNvPr id="10" name="矩形 9">
              <a:extLst>
                <a:ext uri="{FF2B5EF4-FFF2-40B4-BE49-F238E27FC236}">
                  <a16:creationId xmlns:a16="http://schemas.microsoft.com/office/drawing/2014/main" id="{B7E9C0CE-3B4E-49D2-BD79-AC92D3BFE1A7}"/>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61F3BE4-7298-410A-AF95-470D1CD566F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90E8518-FC70-475A-B8E3-3DF7FFBBFA36}"/>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EB74CFE-78FD-4CAE-AAE9-1799ABBBDA92}"/>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9A786558-839C-4D38-A422-04E70E3F849D}"/>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8" name="Rectangle 2"/>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7.2.3</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函数的声明</a:t>
            </a:r>
          </a:p>
        </p:txBody>
      </p:sp>
      <p:sp>
        <p:nvSpPr>
          <p:cNvPr id="15" name="Rectangle 4">
            <a:extLst>
              <a:ext uri="{FF2B5EF4-FFF2-40B4-BE49-F238E27FC236}">
                <a16:creationId xmlns:a16="http://schemas.microsoft.com/office/drawing/2014/main" id="{1BAF4C23-1BDC-4999-9207-AC059DCCA268}"/>
              </a:ext>
            </a:extLst>
          </p:cNvPr>
          <p:cNvSpPr>
            <a:spLocks noChangeArrowheads="1"/>
          </p:cNvSpPr>
          <p:nvPr/>
        </p:nvSpPr>
        <p:spPr bwMode="auto">
          <a:xfrm>
            <a:off x="647221" y="858768"/>
            <a:ext cx="987901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buClr>
                <a:srgbClr val="D92517"/>
              </a:buClr>
              <a:buFont typeface="Wingdings" panose="05000000000000000000" pitchFamily="2" charset="2"/>
              <a:buChar char="Ø"/>
            </a:pPr>
            <a:r>
              <a:rPr lang="en-US" altLang="zh-CN" sz="2800" dirty="0">
                <a:latin typeface="+mn-ea"/>
                <a:ea typeface="+mn-ea"/>
              </a:rPr>
              <a:t>  </a:t>
            </a:r>
            <a:r>
              <a:rPr lang="zh-CN" altLang="en-US" sz="2800" dirty="0">
                <a:latin typeface="+mn-ea"/>
                <a:ea typeface="+mn-ea"/>
              </a:rPr>
              <a:t>被调函数与主函数在不在同一个文件中；</a:t>
            </a:r>
          </a:p>
          <a:p>
            <a:pPr eaLnBrk="1" hangingPunct="1">
              <a:lnSpc>
                <a:spcPct val="150000"/>
              </a:lnSpc>
              <a:spcBef>
                <a:spcPct val="0"/>
              </a:spcBef>
            </a:pPr>
            <a:r>
              <a:rPr lang="zh-CN" altLang="en-US" sz="2800" dirty="0">
                <a:latin typeface="+mn-ea"/>
                <a:ea typeface="+mn-ea"/>
              </a:rPr>
              <a:t>    </a:t>
            </a:r>
            <a:r>
              <a:rPr lang="en-US" altLang="zh-CN" sz="2800" dirty="0">
                <a:latin typeface="+mn-ea"/>
                <a:ea typeface="+mn-ea"/>
              </a:rPr>
              <a:t>【</a:t>
            </a:r>
            <a:r>
              <a:rPr lang="zh-CN" altLang="en-US" sz="2800" dirty="0">
                <a:latin typeface="+mn-ea"/>
                <a:ea typeface="+mn-ea"/>
              </a:rPr>
              <a:t>例</a:t>
            </a:r>
            <a:r>
              <a:rPr lang="en-US" altLang="zh-CN" sz="2800" dirty="0">
                <a:latin typeface="+mn-ea"/>
                <a:ea typeface="+mn-ea"/>
              </a:rPr>
              <a:t>】</a:t>
            </a:r>
            <a:r>
              <a:rPr lang="zh-CN" altLang="en-US" sz="2800" dirty="0">
                <a:latin typeface="+mn-ea"/>
                <a:ea typeface="+mn-ea"/>
              </a:rPr>
              <a:t>改写上一个例子，在不同的环境下调用被调函数。</a:t>
            </a:r>
          </a:p>
        </p:txBody>
      </p:sp>
      <p:pic>
        <p:nvPicPr>
          <p:cNvPr id="16" name="Picture 11">
            <a:extLst>
              <a:ext uri="{FF2B5EF4-FFF2-40B4-BE49-F238E27FC236}">
                <a16:creationId xmlns:a16="http://schemas.microsoft.com/office/drawing/2014/main" id="{17EE8C80-2F51-49FE-B507-5F17798328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6286" y="3970857"/>
            <a:ext cx="8686800" cy="224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2">
            <a:extLst>
              <a:ext uri="{FF2B5EF4-FFF2-40B4-BE49-F238E27FC236}">
                <a16:creationId xmlns:a16="http://schemas.microsoft.com/office/drawing/2014/main" id="{ACD0D0E4-4D79-4F14-83F9-E2575CFC11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1041" y="2304238"/>
            <a:ext cx="8726487" cy="1380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Line 13">
            <a:extLst>
              <a:ext uri="{FF2B5EF4-FFF2-40B4-BE49-F238E27FC236}">
                <a16:creationId xmlns:a16="http://schemas.microsoft.com/office/drawing/2014/main" id="{A77C67FA-26B7-45BA-8EB4-6724ACE9F3A2}"/>
              </a:ext>
            </a:extLst>
          </p:cNvPr>
          <p:cNvSpPr>
            <a:spLocks noChangeShapeType="1"/>
          </p:cNvSpPr>
          <p:nvPr/>
        </p:nvSpPr>
        <p:spPr bwMode="auto">
          <a:xfrm>
            <a:off x="8564641" y="2742903"/>
            <a:ext cx="1512887"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4">
            <a:extLst>
              <a:ext uri="{FF2B5EF4-FFF2-40B4-BE49-F238E27FC236}">
                <a16:creationId xmlns:a16="http://schemas.microsoft.com/office/drawing/2014/main" id="{E1D05F4E-5F65-45BF-9AB5-8583DF6768A2}"/>
              </a:ext>
            </a:extLst>
          </p:cNvPr>
          <p:cNvSpPr>
            <a:spLocks noChangeShapeType="1"/>
          </p:cNvSpPr>
          <p:nvPr/>
        </p:nvSpPr>
        <p:spPr bwMode="auto">
          <a:xfrm>
            <a:off x="2444352" y="4621134"/>
            <a:ext cx="15113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7514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linds(horizontal)">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grpSp>
        <p:nvGrpSpPr>
          <p:cNvPr id="9" name="组合 8">
            <a:extLst>
              <a:ext uri="{FF2B5EF4-FFF2-40B4-BE49-F238E27FC236}">
                <a16:creationId xmlns:a16="http://schemas.microsoft.com/office/drawing/2014/main" id="{D36C5993-51A1-4B47-A3A7-C77F5A2255B4}"/>
              </a:ext>
            </a:extLst>
          </p:cNvPr>
          <p:cNvGrpSpPr/>
          <p:nvPr/>
        </p:nvGrpSpPr>
        <p:grpSpPr>
          <a:xfrm>
            <a:off x="0" y="114299"/>
            <a:ext cx="12192000" cy="932769"/>
            <a:chOff x="0" y="114299"/>
            <a:chExt cx="12192000" cy="932769"/>
          </a:xfrm>
        </p:grpSpPr>
        <p:sp>
          <p:nvSpPr>
            <p:cNvPr id="10" name="矩形 9">
              <a:extLst>
                <a:ext uri="{FF2B5EF4-FFF2-40B4-BE49-F238E27FC236}">
                  <a16:creationId xmlns:a16="http://schemas.microsoft.com/office/drawing/2014/main" id="{B7E9C0CE-3B4E-49D2-BD79-AC92D3BFE1A7}"/>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61F3BE4-7298-410A-AF95-470D1CD566F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90E8518-FC70-475A-B8E3-3DF7FFBBFA36}"/>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EB74CFE-78FD-4CAE-AAE9-1799ABBBDA92}"/>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9A786558-839C-4D38-A422-04E70E3F849D}"/>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8" name="Rectangle 2"/>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函数的声明</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总结</a:t>
            </a:r>
          </a:p>
        </p:txBody>
      </p:sp>
      <p:sp>
        <p:nvSpPr>
          <p:cNvPr id="17" name="Text Box 4">
            <a:extLst>
              <a:ext uri="{FF2B5EF4-FFF2-40B4-BE49-F238E27FC236}">
                <a16:creationId xmlns:a16="http://schemas.microsoft.com/office/drawing/2014/main" id="{0E06BAA0-C2EA-4037-BF0B-1B3D69C523D3}"/>
              </a:ext>
            </a:extLst>
          </p:cNvPr>
          <p:cNvSpPr txBox="1">
            <a:spLocks noChangeArrowheads="1"/>
          </p:cNvSpPr>
          <p:nvPr/>
        </p:nvSpPr>
        <p:spPr bwMode="auto">
          <a:xfrm>
            <a:off x="1190847" y="1047068"/>
            <a:ext cx="8153400" cy="2898422"/>
          </a:xfrm>
          <a:prstGeom prst="rect">
            <a:avLst/>
          </a:prstGeom>
          <a:noFill/>
          <a:ln w="9525">
            <a:noFill/>
            <a:miter lim="800000"/>
          </a:ln>
          <a:effectLst/>
        </p:spPr>
        <p:txBody>
          <a:bodyPr>
            <a:spAutoFit/>
          </a:bodyPr>
          <a:lstStyle/>
          <a:p>
            <a:pPr>
              <a:lnSpc>
                <a:spcPct val="200000"/>
              </a:lnSpc>
              <a:spcBef>
                <a:spcPct val="0"/>
              </a:spcBef>
              <a:buFontTx/>
              <a:buNone/>
              <a:defRPr/>
            </a:pPr>
            <a:r>
              <a:rPr lang="en-US" altLang="zh-CN"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、库函数声明</a:t>
            </a:r>
          </a:p>
          <a:p>
            <a:pPr>
              <a:lnSpc>
                <a:spcPct val="200000"/>
              </a:lnSpc>
              <a:spcBef>
                <a:spcPct val="0"/>
              </a:spcBef>
              <a:buFontTx/>
              <a:buNone/>
              <a:defRPr/>
            </a:pPr>
            <a:r>
              <a:rPr lang="zh-CN" altLang="en-US"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形式：  </a:t>
            </a:r>
            <a:r>
              <a:rPr lang="en-US" altLang="zh-CN"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#include &lt;</a:t>
            </a:r>
            <a:r>
              <a:rPr lang="zh-CN" altLang="en-US"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头文件名</a:t>
            </a:r>
            <a:r>
              <a:rPr lang="en-US" altLang="zh-CN"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p>
          <a:p>
            <a:pPr>
              <a:lnSpc>
                <a:spcPct val="200000"/>
              </a:lnSpc>
              <a:spcBef>
                <a:spcPct val="0"/>
              </a:spcBef>
              <a:buFontTx/>
              <a:buNone/>
              <a:defRPr/>
            </a:pPr>
            <a:r>
              <a:rPr lang="en-US" altLang="zh-CN"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或   </a:t>
            </a:r>
            <a:r>
              <a:rPr lang="en-US" altLang="zh-CN"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#include “</a:t>
            </a:r>
            <a:r>
              <a:rPr lang="zh-CN" altLang="en-US" sz="32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头文件名”</a:t>
            </a:r>
          </a:p>
        </p:txBody>
      </p:sp>
    </p:spTree>
    <p:extLst>
      <p:ext uri="{BB962C8B-B14F-4D97-AF65-F5344CB8AC3E}">
        <p14:creationId xmlns:p14="http://schemas.microsoft.com/office/powerpoint/2010/main" val="210316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blinds(horizontal)">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blinds(horizontal)">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blinds(horizontal)">
                                      <p:cBhvr>
                                        <p:cTn id="17"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641912" y="0"/>
            <a:ext cx="9816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950759" y="0"/>
            <a:ext cx="9816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259606" y="0"/>
            <a:ext cx="98163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568452" y="0"/>
            <a:ext cx="9816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540000" y="1524000"/>
            <a:ext cx="3719606"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15210" y="1524000"/>
            <a:ext cx="363679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2614925" y="1941094"/>
            <a:ext cx="6962162" cy="1446550"/>
          </a:xfrm>
          <a:prstGeom prst="rect">
            <a:avLst/>
          </a:prstGeom>
          <a:noFill/>
        </p:spPr>
        <p:txBody>
          <a:bodyPr wrap="none" rtlCol="0">
            <a:spAutoFit/>
          </a:bodyPr>
          <a:lstStyle/>
          <a:p>
            <a:pPr algn="ctr"/>
            <a:r>
              <a:rPr lang="en-US" altLang="zh-CN"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rPr>
              <a:t>SECTION 03</a:t>
            </a:r>
            <a:endParaRPr lang="zh-CN" altLang="en-US"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endParaRPr>
          </a:p>
        </p:txBody>
      </p:sp>
      <p:sp>
        <p:nvSpPr>
          <p:cNvPr id="30" name="文本框 29"/>
          <p:cNvSpPr txBox="1"/>
          <p:nvPr/>
        </p:nvSpPr>
        <p:spPr>
          <a:xfrm>
            <a:off x="2541196" y="3310581"/>
            <a:ext cx="7109639" cy="923330"/>
          </a:xfrm>
          <a:prstGeom prst="rect">
            <a:avLst/>
          </a:prstGeom>
          <a:noFill/>
        </p:spPr>
        <p:txBody>
          <a:bodyPr wrap="none" rtlCol="0">
            <a:spAutoFit/>
          </a:bodyPr>
          <a:lstStyle/>
          <a:p>
            <a:pPr algn="ctr"/>
            <a:r>
              <a:rPr lang="zh-CN" altLang="en-US" sz="5400" b="1" dirty="0">
                <a:solidFill>
                  <a:schemeClr val="tx1">
                    <a:lumMod val="65000"/>
                    <a:lumOff val="35000"/>
                  </a:schemeClr>
                </a:solidFill>
                <a:latin typeface="微软雅黑" panose="020B0503020204020204" pitchFamily="34" charset="-122"/>
                <a:ea typeface="微软雅黑" panose="020B0503020204020204" pitchFamily="34" charset="-122"/>
              </a:rPr>
              <a:t>函数的调用和返回语句</a:t>
            </a:r>
          </a:p>
        </p:txBody>
      </p:sp>
      <p:sp>
        <p:nvSpPr>
          <p:cNvPr id="31" name="文本框 30"/>
          <p:cNvSpPr txBox="1"/>
          <p:nvPr/>
        </p:nvSpPr>
        <p:spPr>
          <a:xfrm>
            <a:off x="2752658" y="4205819"/>
            <a:ext cx="6648945" cy="381771"/>
          </a:xfrm>
          <a:prstGeom prst="rect">
            <a:avLst/>
          </a:prstGeom>
          <a:noFill/>
        </p:spPr>
        <p:txBody>
          <a:bodyPr wrap="square" rtlCol="0">
            <a:spAutoFit/>
          </a:bodyPr>
          <a:lstStyle/>
          <a:p>
            <a:pPr algn="dist">
              <a:lnSpc>
                <a:spcPct val="114000"/>
              </a:lnSpc>
            </a:pPr>
            <a:r>
              <a:rPr lang="en-US" altLang="zh-CN" dirty="0">
                <a:solidFill>
                  <a:schemeClr val="bg1">
                    <a:lumMod val="65000"/>
                  </a:schemeClr>
                </a:solidFill>
                <a:ea typeface="汉仪趣黑W" panose="00020600040101010101" pitchFamily="18" charset="-122"/>
              </a:rPr>
              <a:t>FUNCTION CALL AND FUNCTION RETURN STATEMENT</a:t>
            </a:r>
          </a:p>
        </p:txBody>
      </p:sp>
    </p:spTree>
    <p:extLst>
      <p:ext uri="{BB962C8B-B14F-4D97-AF65-F5344CB8AC3E}">
        <p14:creationId xmlns:p14="http://schemas.microsoft.com/office/powerpoint/2010/main" val="235567844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750" fill="hold"/>
                                        <p:tgtEl>
                                          <p:spTgt spid="25"/>
                                        </p:tgtEl>
                                        <p:attrNameLst>
                                          <p:attrName>ppt_x</p:attrName>
                                        </p:attrNameLst>
                                      </p:cBhvr>
                                      <p:tavLst>
                                        <p:tav tm="0">
                                          <p:val>
                                            <p:strVal val="#ppt_x"/>
                                          </p:val>
                                        </p:tav>
                                        <p:tav tm="100000">
                                          <p:val>
                                            <p:strVal val="#ppt_x"/>
                                          </p:val>
                                        </p:tav>
                                      </p:tavLst>
                                    </p:anim>
                                    <p:anim calcmode="lin" valueType="num">
                                      <p:cBhvr additive="base">
                                        <p:cTn id="12" dur="75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2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750" fill="hold"/>
                                        <p:tgtEl>
                                          <p:spTgt spid="26"/>
                                        </p:tgtEl>
                                        <p:attrNameLst>
                                          <p:attrName>ppt_x</p:attrName>
                                        </p:attrNameLst>
                                      </p:cBhvr>
                                      <p:tavLst>
                                        <p:tav tm="0">
                                          <p:val>
                                            <p:strVal val="#ppt_x"/>
                                          </p:val>
                                        </p:tav>
                                        <p:tav tm="100000">
                                          <p:val>
                                            <p:strVal val="#ppt_x"/>
                                          </p:val>
                                        </p:tav>
                                      </p:tavLst>
                                    </p:anim>
                                    <p:anim calcmode="lin" valueType="num">
                                      <p:cBhvr additive="base">
                                        <p:cTn id="16" dur="75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750" fill="hold"/>
                                        <p:tgtEl>
                                          <p:spTgt spid="27"/>
                                        </p:tgtEl>
                                        <p:attrNameLst>
                                          <p:attrName>ppt_x</p:attrName>
                                        </p:attrNameLst>
                                      </p:cBhvr>
                                      <p:tavLst>
                                        <p:tav tm="0">
                                          <p:val>
                                            <p:strVal val="#ppt_x"/>
                                          </p:val>
                                        </p:tav>
                                        <p:tav tm="100000">
                                          <p:val>
                                            <p:strVal val="#ppt_x"/>
                                          </p:val>
                                        </p:tav>
                                      </p:tavLst>
                                    </p:anim>
                                    <p:anim calcmode="lin" valueType="num">
                                      <p:cBhvr additive="base">
                                        <p:cTn id="20" dur="750" fill="hold"/>
                                        <p:tgtEl>
                                          <p:spTgt spid="27"/>
                                        </p:tgtEl>
                                        <p:attrNameLst>
                                          <p:attrName>ppt_y</p:attrName>
                                        </p:attrNameLst>
                                      </p:cBhvr>
                                      <p:tavLst>
                                        <p:tav tm="0">
                                          <p:val>
                                            <p:strVal val="1+#ppt_h/2"/>
                                          </p:val>
                                        </p:tav>
                                        <p:tav tm="100000">
                                          <p:val>
                                            <p:strVal val="#ppt_y"/>
                                          </p:val>
                                        </p:tav>
                                      </p:tavLst>
                                    </p:anim>
                                  </p:childTnLst>
                                </p:cTn>
                              </p:par>
                            </p:childTnLst>
                          </p:cTn>
                        </p:par>
                        <p:par>
                          <p:cTn id="21" fill="hold">
                            <p:stCondLst>
                              <p:cond delay="1050"/>
                            </p:stCondLst>
                            <p:childTnLst>
                              <p:par>
                                <p:cTn id="22" presetID="2" presetClass="entr" presetSubtype="8"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additive="base">
                                        <p:cTn id="24" dur="1250" fill="hold"/>
                                        <p:tgtEl>
                                          <p:spTgt spid="28"/>
                                        </p:tgtEl>
                                        <p:attrNameLst>
                                          <p:attrName>ppt_x</p:attrName>
                                        </p:attrNameLst>
                                      </p:cBhvr>
                                      <p:tavLst>
                                        <p:tav tm="0">
                                          <p:val>
                                            <p:strVal val="0-#ppt_w/2"/>
                                          </p:val>
                                        </p:tav>
                                        <p:tav tm="100000">
                                          <p:val>
                                            <p:strVal val="#ppt_x"/>
                                          </p:val>
                                        </p:tav>
                                      </p:tavLst>
                                    </p:anim>
                                    <p:anim calcmode="lin" valueType="num">
                                      <p:cBhvr additive="base">
                                        <p:cTn id="25" dur="1250" fill="hold"/>
                                        <p:tgtEl>
                                          <p:spTgt spid="2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1250" fill="hold"/>
                                        <p:tgtEl>
                                          <p:spTgt spid="32"/>
                                        </p:tgtEl>
                                        <p:attrNameLst>
                                          <p:attrName>ppt_x</p:attrName>
                                        </p:attrNameLst>
                                      </p:cBhvr>
                                      <p:tavLst>
                                        <p:tav tm="0">
                                          <p:val>
                                            <p:strVal val="1+#ppt_w/2"/>
                                          </p:val>
                                        </p:tav>
                                        <p:tav tm="100000">
                                          <p:val>
                                            <p:strVal val="#ppt_x"/>
                                          </p:val>
                                        </p:tav>
                                      </p:tavLst>
                                    </p:anim>
                                    <p:anim calcmode="lin" valueType="num">
                                      <p:cBhvr additive="base">
                                        <p:cTn id="29" dur="1250" fill="hold"/>
                                        <p:tgtEl>
                                          <p:spTgt spid="32"/>
                                        </p:tgtEl>
                                        <p:attrNameLst>
                                          <p:attrName>ppt_y</p:attrName>
                                        </p:attrNameLst>
                                      </p:cBhvr>
                                      <p:tavLst>
                                        <p:tav tm="0">
                                          <p:val>
                                            <p:strVal val="#ppt_y"/>
                                          </p:val>
                                        </p:tav>
                                        <p:tav tm="100000">
                                          <p:val>
                                            <p:strVal val="#ppt_y"/>
                                          </p:val>
                                        </p:tav>
                                      </p:tavLst>
                                    </p:anim>
                                  </p:childTnLst>
                                </p:cTn>
                              </p:par>
                            </p:childTnLst>
                          </p:cTn>
                        </p:par>
                        <p:par>
                          <p:cTn id="30" fill="hold">
                            <p:stCondLst>
                              <p:cond delay="2300"/>
                            </p:stCondLst>
                            <p:childTnLst>
                              <p:par>
                                <p:cTn id="31" presetID="53" presetClass="entr" presetSubtype="52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Effect transition="in" filter="fade">
                                      <p:cBhvr>
                                        <p:cTn id="35" dur="500"/>
                                        <p:tgtEl>
                                          <p:spTgt spid="29"/>
                                        </p:tgtEl>
                                      </p:cBhvr>
                                    </p:animEffect>
                                    <p:anim calcmode="lin" valueType="num">
                                      <p:cBhvr>
                                        <p:cTn id="36" dur="500" fill="hold"/>
                                        <p:tgtEl>
                                          <p:spTgt spid="29"/>
                                        </p:tgtEl>
                                        <p:attrNameLst>
                                          <p:attrName>ppt_x</p:attrName>
                                        </p:attrNameLst>
                                      </p:cBhvr>
                                      <p:tavLst>
                                        <p:tav tm="0">
                                          <p:val>
                                            <p:fltVal val="0.5"/>
                                          </p:val>
                                        </p:tav>
                                        <p:tav tm="100000">
                                          <p:val>
                                            <p:strVal val="#ppt_x"/>
                                          </p:val>
                                        </p:tav>
                                      </p:tavLst>
                                    </p:anim>
                                    <p:anim calcmode="lin" valueType="num">
                                      <p:cBhvr>
                                        <p:cTn id="37" dur="500" fill="hold"/>
                                        <p:tgtEl>
                                          <p:spTgt spid="29"/>
                                        </p:tgtEl>
                                        <p:attrNameLst>
                                          <p:attrName>ppt_y</p:attrName>
                                        </p:attrNameLst>
                                      </p:cBhvr>
                                      <p:tavLst>
                                        <p:tav tm="0">
                                          <p:val>
                                            <p:fltVal val="0.5"/>
                                          </p:val>
                                        </p:tav>
                                        <p:tav tm="100000">
                                          <p:val>
                                            <p:strVal val="#ppt_y"/>
                                          </p:val>
                                        </p:tav>
                                      </p:tavLst>
                                    </p:anim>
                                  </p:childTnLst>
                                </p:cTn>
                              </p:par>
                            </p:childTnLst>
                          </p:cTn>
                        </p:par>
                        <p:par>
                          <p:cTn id="38" fill="hold">
                            <p:stCondLst>
                              <p:cond delay="2800"/>
                            </p:stCondLst>
                            <p:childTnLst>
                              <p:par>
                                <p:cTn id="39" presetID="53" presetClass="entr" presetSubtype="528" fill="hold" grpId="0" nodeType="afterEffect">
                                  <p:stCondLst>
                                    <p:cond delay="0"/>
                                  </p:stCondLst>
                                  <p:iterate type="lt">
                                    <p:tmPct val="10000"/>
                                  </p:iterate>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anim calcmode="lin" valueType="num">
                                      <p:cBhvr>
                                        <p:cTn id="44" dur="500" fill="hold"/>
                                        <p:tgtEl>
                                          <p:spTgt spid="30"/>
                                        </p:tgtEl>
                                        <p:attrNameLst>
                                          <p:attrName>ppt_x</p:attrName>
                                        </p:attrNameLst>
                                      </p:cBhvr>
                                      <p:tavLst>
                                        <p:tav tm="0">
                                          <p:val>
                                            <p:fltVal val="0.5"/>
                                          </p:val>
                                        </p:tav>
                                        <p:tav tm="100000">
                                          <p:val>
                                            <p:strVal val="#ppt_x"/>
                                          </p:val>
                                        </p:tav>
                                      </p:tavLst>
                                    </p:anim>
                                    <p:anim calcmode="lin" valueType="num">
                                      <p:cBhvr>
                                        <p:cTn id="45" dur="500" fill="hold"/>
                                        <p:tgtEl>
                                          <p:spTgt spid="30"/>
                                        </p:tgtEl>
                                        <p:attrNameLst>
                                          <p:attrName>ppt_y</p:attrName>
                                        </p:attrNameLst>
                                      </p:cBhvr>
                                      <p:tavLst>
                                        <p:tav tm="0">
                                          <p:val>
                                            <p:fltVal val="0.5"/>
                                          </p:val>
                                        </p:tav>
                                        <p:tav tm="100000">
                                          <p:val>
                                            <p:strVal val="#ppt_y"/>
                                          </p:val>
                                        </p:tav>
                                      </p:tavLst>
                                    </p:anim>
                                  </p:childTnLst>
                                </p:cTn>
                              </p:par>
                            </p:childTnLst>
                          </p:cTn>
                        </p:par>
                        <p:par>
                          <p:cTn id="46" fill="hold">
                            <p:stCondLst>
                              <p:cond delay="3750"/>
                            </p:stCondLst>
                            <p:childTnLst>
                              <p:par>
                                <p:cTn id="47" presetID="14" presetClass="entr" presetSubtype="10" fill="hold" grpId="0"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randombar(horizontal)">
                                      <p:cBhvr>
                                        <p:cTn id="4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32" grpId="0" animBg="1"/>
      <p:bldP spid="29" grpId="0"/>
      <p:bldP spid="30" grpId="0"/>
      <p:bldP spid="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sp>
        <p:nvSpPr>
          <p:cNvPr id="457730" name="Rectangle 2"/>
          <p:cNvSpPr>
            <a:spLocks noChangeArrowheads="1"/>
          </p:cNvSpPr>
          <p:nvPr/>
        </p:nvSpPr>
        <p:spPr bwMode="auto">
          <a:xfrm>
            <a:off x="1905000" y="1210630"/>
            <a:ext cx="8915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spcBef>
                <a:spcPct val="20000"/>
              </a:spcBef>
              <a:buClr>
                <a:schemeClr val="hlink"/>
              </a:buClr>
              <a:buFont typeface="Wingdings" pitchFamily="2" charset="2"/>
              <a:buChar char="v"/>
            </a:pPr>
            <a:r>
              <a:rPr lang="zh-CN" altLang="en-US"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调用形式：</a:t>
            </a: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函数名</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实在参数列表</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a:t>
            </a:r>
          </a:p>
          <a:p>
            <a:pPr marL="742950" lvl="1" indent="-285750">
              <a:spcBef>
                <a:spcPct val="20000"/>
              </a:spcBef>
              <a:buClr>
                <a:schemeClr val="hlink"/>
              </a:buClr>
              <a:buFont typeface="Wingdings" pitchFamily="2" charset="2"/>
              <a:buChar char="v"/>
            </a:pPr>
            <a:endParaRPr lang="en-US" altLang="zh-CN" sz="3200" b="1" dirty="0">
              <a:solidFill>
                <a:srgbClr val="FF555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7739" name="Rectangle 11"/>
          <p:cNvSpPr>
            <a:spLocks noChangeArrowheads="1"/>
          </p:cNvSpPr>
          <p:nvPr/>
        </p:nvSpPr>
        <p:spPr bwMode="auto">
          <a:xfrm>
            <a:off x="2209800" y="2920411"/>
            <a:ext cx="7315200" cy="2308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371600" lvl="2" indent="-457200">
              <a:lnSpc>
                <a:spcPct val="150000"/>
              </a:lnSpc>
              <a:buClr>
                <a:schemeClr val="hlink"/>
              </a:buClr>
              <a:buFont typeface="Wingdings" pitchFamily="2" charset="2"/>
              <a:buAutoNum type="arabicPeriod"/>
            </a:pP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函数语句： </a:t>
            </a:r>
            <a:r>
              <a:rPr lang="en-US" altLang="zh-CN" sz="3200" b="1" dirty="0" err="1">
                <a:latin typeface="Times New Roman" panose="02020603050405020304" pitchFamily="18" charset="0"/>
                <a:ea typeface="微软雅黑" panose="020B0503020204020204" pitchFamily="34" charset="-122"/>
                <a:cs typeface="Times New Roman" panose="02020603050405020304" pitchFamily="18" charset="0"/>
              </a:rPr>
              <a:t>printstar</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a:t>
            </a:r>
          </a:p>
          <a:p>
            <a:pPr marL="1371600" lvl="2" indent="-457200">
              <a:lnSpc>
                <a:spcPct val="150000"/>
              </a:lnSpc>
              <a:buClr>
                <a:schemeClr val="hlink"/>
              </a:buClr>
              <a:buFont typeface="Wingdings" pitchFamily="2" charset="2"/>
              <a:buAutoNum type="arabicPeriod"/>
            </a:pP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函数表达式：</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m=max(</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)*2;</a:t>
            </a:r>
          </a:p>
          <a:p>
            <a:pPr marL="1371600" lvl="2" indent="-457200">
              <a:lnSpc>
                <a:spcPct val="150000"/>
              </a:lnSpc>
              <a:buClr>
                <a:schemeClr val="hlink"/>
              </a:buClr>
              <a:buFont typeface="Wingdings" pitchFamily="2" charset="2"/>
              <a:buAutoNum type="arabicPeriod"/>
            </a:pP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函数参数：</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m=max(</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 max(</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57740" name="Rectangle 12"/>
          <p:cNvSpPr>
            <a:spLocks noChangeArrowheads="1"/>
          </p:cNvSpPr>
          <p:nvPr/>
        </p:nvSpPr>
        <p:spPr bwMode="auto">
          <a:xfrm>
            <a:off x="1905000" y="2133600"/>
            <a:ext cx="8915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spcBef>
                <a:spcPct val="20000"/>
              </a:spcBef>
              <a:buClr>
                <a:schemeClr val="hlink"/>
              </a:buClr>
              <a:buFont typeface="Wingdings" pitchFamily="2" charset="2"/>
              <a:buChar char="v"/>
            </a:pPr>
            <a:r>
              <a:rPr lang="zh-CN" altLang="en-US" sz="3200" b="1" dirty="0">
                <a:solidFill>
                  <a:srgbClr val="C00000"/>
                </a:solidFill>
              </a:rPr>
              <a:t> 调用方式：</a:t>
            </a:r>
          </a:p>
        </p:txBody>
      </p:sp>
      <p:grpSp>
        <p:nvGrpSpPr>
          <p:cNvPr id="7" name="组合 6">
            <a:extLst>
              <a:ext uri="{FF2B5EF4-FFF2-40B4-BE49-F238E27FC236}">
                <a16:creationId xmlns:a16="http://schemas.microsoft.com/office/drawing/2014/main" id="{3B971755-509D-459D-AFC0-A58168B3EDBC}"/>
              </a:ext>
            </a:extLst>
          </p:cNvPr>
          <p:cNvGrpSpPr/>
          <p:nvPr/>
        </p:nvGrpSpPr>
        <p:grpSpPr>
          <a:xfrm>
            <a:off x="0" y="114299"/>
            <a:ext cx="12192000" cy="932769"/>
            <a:chOff x="0" y="114299"/>
            <a:chExt cx="12192000" cy="932769"/>
          </a:xfrm>
        </p:grpSpPr>
        <p:sp>
          <p:nvSpPr>
            <p:cNvPr id="8" name="矩形 7">
              <a:extLst>
                <a:ext uri="{FF2B5EF4-FFF2-40B4-BE49-F238E27FC236}">
                  <a16:creationId xmlns:a16="http://schemas.microsoft.com/office/drawing/2014/main" id="{ED3F8A4A-9C34-4310-A90C-C46AF72576B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52A6818-136C-4691-86A5-81FB51935F3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1020C01-1017-4A3E-8F23-C9AC4F2886D8}"/>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4701136-609F-48DB-B353-EE4D1A763F47}"/>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F79361D4-FE3F-43B2-B594-4ACA19364820}"/>
                </a:ext>
              </a:extLst>
            </p:cNvPr>
            <p:cNvPicPr>
              <a:picLocks noChangeAspect="1"/>
            </p:cNvPicPr>
            <p:nvPr/>
          </p:nvPicPr>
          <p:blipFill>
            <a:blip r:embed="rId4"/>
            <a:stretch>
              <a:fillRect/>
            </a:stretch>
          </p:blipFill>
          <p:spPr>
            <a:xfrm>
              <a:off x="4056711" y="114299"/>
              <a:ext cx="4078577" cy="932769"/>
            </a:xfrm>
            <a:prstGeom prst="rect">
              <a:avLst/>
            </a:prstGeom>
          </p:spPr>
        </p:pic>
      </p:grpSp>
      <p:sp>
        <p:nvSpPr>
          <p:cNvPr id="13" name="Rectangle 2">
            <a:extLst>
              <a:ext uri="{FF2B5EF4-FFF2-40B4-BE49-F238E27FC236}">
                <a16:creationId xmlns:a16="http://schemas.microsoft.com/office/drawing/2014/main" id="{F1F1AD6E-F76C-4CE3-901D-AC56560A8F77}"/>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7.3.1</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函数的调用</a:t>
            </a:r>
          </a:p>
        </p:txBody>
      </p:sp>
    </p:spTree>
    <p:extLst>
      <p:ext uri="{BB962C8B-B14F-4D97-AF65-F5344CB8AC3E}">
        <p14:creationId xmlns:p14="http://schemas.microsoft.com/office/powerpoint/2010/main" val="23925735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7730">
                                            <p:txEl>
                                              <p:pRg st="0" end="0"/>
                                            </p:txEl>
                                          </p:spTgt>
                                        </p:tgtEl>
                                        <p:attrNameLst>
                                          <p:attrName>style.visibility</p:attrName>
                                        </p:attrNameLst>
                                      </p:cBhvr>
                                      <p:to>
                                        <p:strVal val="visible"/>
                                      </p:to>
                                    </p:set>
                                    <p:animEffect transition="in" filter="wipe(left)">
                                      <p:cBhvr>
                                        <p:cTn id="7" dur="500"/>
                                        <p:tgtEl>
                                          <p:spTgt spid="45773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7740">
                                            <p:txEl>
                                              <p:pRg st="0" end="0"/>
                                            </p:txEl>
                                          </p:spTgt>
                                        </p:tgtEl>
                                        <p:attrNameLst>
                                          <p:attrName>style.visibility</p:attrName>
                                        </p:attrNameLst>
                                      </p:cBhvr>
                                      <p:to>
                                        <p:strVal val="visible"/>
                                      </p:to>
                                    </p:set>
                                    <p:animEffect transition="in" filter="wipe(left)">
                                      <p:cBhvr>
                                        <p:cTn id="12" dur="500"/>
                                        <p:tgtEl>
                                          <p:spTgt spid="457740">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57739">
                                            <p:txEl>
                                              <p:pRg st="0" end="0"/>
                                            </p:txEl>
                                          </p:spTgt>
                                        </p:tgtEl>
                                        <p:attrNameLst>
                                          <p:attrName>style.visibility</p:attrName>
                                        </p:attrNameLst>
                                      </p:cBhvr>
                                      <p:to>
                                        <p:strVal val="visible"/>
                                      </p:to>
                                    </p:set>
                                    <p:animEffect transition="in" filter="wipe(left)">
                                      <p:cBhvr>
                                        <p:cTn id="17" dur="500"/>
                                        <p:tgtEl>
                                          <p:spTgt spid="45773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7739">
                                            <p:txEl>
                                              <p:pRg st="1" end="1"/>
                                            </p:txEl>
                                          </p:spTgt>
                                        </p:tgtEl>
                                        <p:attrNameLst>
                                          <p:attrName>style.visibility</p:attrName>
                                        </p:attrNameLst>
                                      </p:cBhvr>
                                      <p:to>
                                        <p:strVal val="visible"/>
                                      </p:to>
                                    </p:set>
                                    <p:animEffect transition="in" filter="wipe(left)">
                                      <p:cBhvr>
                                        <p:cTn id="22" dur="500"/>
                                        <p:tgtEl>
                                          <p:spTgt spid="457739">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57739">
                                            <p:txEl>
                                              <p:pRg st="2" end="2"/>
                                            </p:txEl>
                                          </p:spTgt>
                                        </p:tgtEl>
                                        <p:attrNameLst>
                                          <p:attrName>style.visibility</p:attrName>
                                        </p:attrNameLst>
                                      </p:cBhvr>
                                      <p:to>
                                        <p:strVal val="visible"/>
                                      </p:to>
                                    </p:set>
                                    <p:animEffect transition="in" filter="wipe(left)">
                                      <p:cBhvr>
                                        <p:cTn id="27" dur="500"/>
                                        <p:tgtEl>
                                          <p:spTgt spid="4577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0" grpId="0" build="p" bldLvl="3" autoUpdateAnimBg="0"/>
      <p:bldP spid="457739" grpId="0" build="p" bldLvl="3" autoUpdateAnimBg="0"/>
      <p:bldP spid="457740" grpId="0" build="p" bldLvl="3"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grpSp>
        <p:nvGrpSpPr>
          <p:cNvPr id="7" name="组合 6">
            <a:extLst>
              <a:ext uri="{FF2B5EF4-FFF2-40B4-BE49-F238E27FC236}">
                <a16:creationId xmlns:a16="http://schemas.microsoft.com/office/drawing/2014/main" id="{3B971755-509D-459D-AFC0-A58168B3EDBC}"/>
              </a:ext>
            </a:extLst>
          </p:cNvPr>
          <p:cNvGrpSpPr/>
          <p:nvPr/>
        </p:nvGrpSpPr>
        <p:grpSpPr>
          <a:xfrm>
            <a:off x="0" y="114299"/>
            <a:ext cx="12192000" cy="932769"/>
            <a:chOff x="0" y="114299"/>
            <a:chExt cx="12192000" cy="932769"/>
          </a:xfrm>
        </p:grpSpPr>
        <p:sp>
          <p:nvSpPr>
            <p:cNvPr id="8" name="矩形 7">
              <a:extLst>
                <a:ext uri="{FF2B5EF4-FFF2-40B4-BE49-F238E27FC236}">
                  <a16:creationId xmlns:a16="http://schemas.microsoft.com/office/drawing/2014/main" id="{ED3F8A4A-9C34-4310-A90C-C46AF72576B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52A6818-136C-4691-86A5-81FB51935F3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1020C01-1017-4A3E-8F23-C9AC4F2886D8}"/>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4701136-609F-48DB-B353-EE4D1A763F47}"/>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F79361D4-FE3F-43B2-B594-4ACA19364820}"/>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13" name="Rectangle 2">
            <a:extLst>
              <a:ext uri="{FF2B5EF4-FFF2-40B4-BE49-F238E27FC236}">
                <a16:creationId xmlns:a16="http://schemas.microsoft.com/office/drawing/2014/main" id="{F1F1AD6E-F76C-4CE3-901D-AC56560A8F77}"/>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7.3.1</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函数的调用</a:t>
            </a:r>
          </a:p>
        </p:txBody>
      </p:sp>
      <p:sp>
        <p:nvSpPr>
          <p:cNvPr id="14" name="Rectangle 6">
            <a:extLst>
              <a:ext uri="{FF2B5EF4-FFF2-40B4-BE49-F238E27FC236}">
                <a16:creationId xmlns:a16="http://schemas.microsoft.com/office/drawing/2014/main" id="{C70F5779-8F2D-4E28-BD8B-341A1B0B8DB3}"/>
              </a:ext>
            </a:extLst>
          </p:cNvPr>
          <p:cNvSpPr>
            <a:spLocks noChangeArrowheads="1"/>
          </p:cNvSpPr>
          <p:nvPr/>
        </p:nvSpPr>
        <p:spPr bwMode="auto">
          <a:xfrm>
            <a:off x="822879" y="1289013"/>
            <a:ext cx="840105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dirty="0">
                <a:ea typeface="微软雅黑" panose="020B0503020204020204" pitchFamily="34" charset="-122"/>
                <a:cs typeface="Times New Roman" panose="02020603050405020304" pitchFamily="18" charset="0"/>
              </a:rPr>
              <a:t>【</a:t>
            </a:r>
            <a:r>
              <a:rPr lang="zh-CN" altLang="en-US" dirty="0">
                <a:ea typeface="微软雅黑" panose="020B0503020204020204" pitchFamily="34" charset="-122"/>
                <a:cs typeface="Times New Roman" panose="02020603050405020304" pitchFamily="18" charset="0"/>
              </a:rPr>
              <a:t>例</a:t>
            </a:r>
            <a:r>
              <a:rPr lang="en-US" altLang="zh-CN" dirty="0">
                <a:ea typeface="微软雅黑" panose="020B0503020204020204" pitchFamily="34" charset="-122"/>
                <a:cs typeface="Times New Roman" panose="02020603050405020304" pitchFamily="18" charset="0"/>
              </a:rPr>
              <a:t>】 </a:t>
            </a:r>
            <a:r>
              <a:rPr lang="zh-CN" altLang="en-US" dirty="0">
                <a:ea typeface="微软雅黑" panose="020B0503020204020204" pitchFamily="34" charset="-122"/>
                <a:cs typeface="Times New Roman" panose="02020603050405020304" pitchFamily="18" charset="0"/>
              </a:rPr>
              <a:t>调用无参函数。</a:t>
            </a:r>
          </a:p>
          <a:p>
            <a:pPr eaLnBrk="1" hangingPunct="1">
              <a:lnSpc>
                <a:spcPct val="150000"/>
              </a:lnSpc>
              <a:spcBef>
                <a:spcPct val="0"/>
              </a:spcBef>
            </a:pPr>
            <a:r>
              <a:rPr lang="zh-CN" altLang="en-US">
                <a:ea typeface="微软雅黑" panose="020B0503020204020204" pitchFamily="34" charset="-122"/>
                <a:cs typeface="Times New Roman" panose="02020603050405020304" pitchFamily="18" charset="0"/>
              </a:rPr>
              <a:t>    </a:t>
            </a:r>
            <a:r>
              <a:rPr lang="en-US" altLang="zh-CN">
                <a:ea typeface="微软雅黑" panose="020B0503020204020204" pitchFamily="34" charset="-122"/>
                <a:cs typeface="Times New Roman" panose="02020603050405020304" pitchFamily="18" charset="0"/>
              </a:rPr>
              <a:t>print-message</a:t>
            </a:r>
            <a:r>
              <a:rPr lang="zh-CN" altLang="en-US">
                <a:ea typeface="微软雅黑" panose="020B0503020204020204" pitchFamily="34" charset="-122"/>
                <a:cs typeface="Times New Roman" panose="02020603050405020304" pitchFamily="18" charset="0"/>
              </a:rPr>
              <a:t>（）</a:t>
            </a:r>
          </a:p>
          <a:p>
            <a:pPr eaLnBrk="1" hangingPunct="1">
              <a:lnSpc>
                <a:spcPct val="150000"/>
              </a:lnSpc>
              <a:spcBef>
                <a:spcPct val="0"/>
              </a:spcBef>
            </a:pPr>
            <a:r>
              <a:rPr lang="zh-CN" altLang="en-US">
                <a:ea typeface="微软雅黑" panose="020B0503020204020204" pitchFamily="34" charset="-122"/>
                <a:cs typeface="Times New Roman" panose="02020603050405020304" pitchFamily="18" charset="0"/>
              </a:rPr>
              <a:t>        </a:t>
            </a:r>
            <a:r>
              <a:rPr lang="en-US" altLang="zh-CN">
                <a:ea typeface="微软雅黑" panose="020B0503020204020204" pitchFamily="34" charset="-122"/>
                <a:cs typeface="Times New Roman" panose="02020603050405020304" pitchFamily="18" charset="0"/>
              </a:rPr>
              <a:t>{     printf</a:t>
            </a:r>
            <a:r>
              <a:rPr lang="zh-CN" altLang="en-US">
                <a:ea typeface="微软雅黑" panose="020B0503020204020204" pitchFamily="34" charset="-122"/>
                <a:cs typeface="Times New Roman" panose="02020603050405020304" pitchFamily="18" charset="0"/>
              </a:rPr>
              <a:t>（</a:t>
            </a:r>
            <a:r>
              <a:rPr lang="en-US" altLang="zh-CN">
                <a:ea typeface="微软雅黑" panose="020B0503020204020204" pitchFamily="34" charset="-122"/>
                <a:cs typeface="Times New Roman" panose="02020603050405020304" pitchFamily="18" charset="0"/>
              </a:rPr>
              <a:t>"How do you do!</a:t>
            </a:r>
            <a:r>
              <a:rPr lang="zh-CN" altLang="en-US">
                <a:ea typeface="微软雅黑" panose="020B0503020204020204" pitchFamily="34" charset="-122"/>
                <a:cs typeface="Times New Roman" panose="02020603050405020304" pitchFamily="18" charset="0"/>
              </a:rPr>
              <a:t>＼</a:t>
            </a:r>
            <a:r>
              <a:rPr lang="en-US" altLang="zh-CN">
                <a:ea typeface="微软雅黑" panose="020B0503020204020204" pitchFamily="34" charset="-122"/>
                <a:cs typeface="Times New Roman" panose="02020603050405020304" pitchFamily="18" charset="0"/>
              </a:rPr>
              <a:t>n"</a:t>
            </a:r>
            <a:r>
              <a:rPr lang="zh-CN" altLang="en-US">
                <a:ea typeface="微软雅黑" panose="020B0503020204020204" pitchFamily="34" charset="-122"/>
                <a:cs typeface="Times New Roman" panose="02020603050405020304" pitchFamily="18" charset="0"/>
              </a:rPr>
              <a:t>）；</a:t>
            </a:r>
            <a:r>
              <a:rPr lang="en-US" altLang="zh-CN">
                <a:ea typeface="微软雅黑" panose="020B0503020204020204" pitchFamily="34" charset="-122"/>
                <a:cs typeface="Times New Roman" panose="02020603050405020304" pitchFamily="18" charset="0"/>
              </a:rPr>
              <a:t>}</a:t>
            </a:r>
            <a:endParaRPr lang="en-US" altLang="zh-CN" dirty="0">
              <a:ea typeface="微软雅黑" panose="020B0503020204020204" pitchFamily="34" charset="-122"/>
              <a:cs typeface="Times New Roman" panose="02020603050405020304" pitchFamily="18" charset="0"/>
            </a:endParaRPr>
          </a:p>
        </p:txBody>
      </p:sp>
      <p:sp>
        <p:nvSpPr>
          <p:cNvPr id="15" name="Rectangle 7">
            <a:extLst>
              <a:ext uri="{FF2B5EF4-FFF2-40B4-BE49-F238E27FC236}">
                <a16:creationId xmlns:a16="http://schemas.microsoft.com/office/drawing/2014/main" id="{DC633771-57EC-4D11-90AC-ADD1C29FF5AF}"/>
              </a:ext>
            </a:extLst>
          </p:cNvPr>
          <p:cNvSpPr>
            <a:spLocks noChangeArrowheads="1"/>
          </p:cNvSpPr>
          <p:nvPr/>
        </p:nvSpPr>
        <p:spPr bwMode="auto">
          <a:xfrm>
            <a:off x="1198967" y="3488407"/>
            <a:ext cx="10815823" cy="2308324"/>
          </a:xfrm>
          <a:prstGeom prst="rect">
            <a:avLst/>
          </a:prstGeom>
          <a:noFill/>
          <a:ln w="9525">
            <a:noFill/>
            <a:miter lim="800000"/>
          </a:ln>
          <a:effectLst/>
        </p:spPr>
        <p:txBody>
          <a:bodyPr wrap="square">
            <a:spAutoFit/>
          </a:bodyPr>
          <a:lstStyle/>
          <a:p>
            <a:pPr>
              <a:lnSpc>
                <a:spcPct val="150000"/>
              </a:lnSpc>
              <a:spcBef>
                <a:spcPct val="0"/>
              </a:spcBef>
              <a:buFontTx/>
              <a:buNone/>
              <a:defRPr/>
            </a:pPr>
            <a:r>
              <a:rPr kumimoji="1"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main</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spcBef>
                <a:spcPct val="0"/>
              </a:spcBef>
              <a:buFontTx/>
              <a:buNone/>
              <a:defRPr/>
            </a:pPr>
            <a:r>
              <a:rPr kumimoji="1" lang="zh-CN" altLang="en-US" sz="3200" b="1" dirty="0">
                <a:solidFill>
                  <a:srgbClr val="FF99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   print-message</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3200" b="1" dirty="0">
                <a:solidFill>
                  <a:schemeClr val="hlink"/>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／*调用无参函数</a:t>
            </a:r>
            <a:r>
              <a:rPr kumimoji="1" lang="en-US" altLang="zh-CN" sz="3200" b="1" dirty="0" err="1">
                <a:solidFill>
                  <a:schemeClr val="hlink"/>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print_message</a:t>
            </a:r>
            <a:r>
              <a:rPr kumimoji="1" lang="en-US" altLang="zh-CN" sz="3200" b="1" dirty="0">
                <a:solidFill>
                  <a:schemeClr val="hlink"/>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 )*/ </a:t>
            </a:r>
          </a:p>
          <a:p>
            <a:pPr>
              <a:lnSpc>
                <a:spcPct val="150000"/>
              </a:lnSpc>
              <a:spcBef>
                <a:spcPct val="0"/>
              </a:spcBef>
              <a:buFontTx/>
              <a:buNone/>
              <a:defRPr/>
            </a:pPr>
            <a:r>
              <a:rPr kumimoji="1" lang="en-US" altLang="zh-CN" sz="3200" b="1" dirty="0">
                <a:solidFill>
                  <a:schemeClr val="hlink"/>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            </a:t>
            </a:r>
          </a:p>
        </p:txBody>
      </p:sp>
    </p:spTree>
    <p:extLst>
      <p:ext uri="{BB962C8B-B14F-4D97-AF65-F5344CB8AC3E}">
        <p14:creationId xmlns:p14="http://schemas.microsoft.com/office/powerpoint/2010/main" val="1860974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blinds(horizontal)">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blinds(horizontal)">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blinds(horizontal)">
                                      <p:cBhvr>
                                        <p:cTn id="22" dur="5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
                                            <p:txEl>
                                              <p:pRg st="1" end="1"/>
                                            </p:txEl>
                                          </p:spTgt>
                                        </p:tgtEl>
                                        <p:attrNameLst>
                                          <p:attrName>style.visibility</p:attrName>
                                        </p:attrNameLst>
                                      </p:cBhvr>
                                      <p:to>
                                        <p:strVal val="visible"/>
                                      </p:to>
                                    </p:set>
                                    <p:animEffect transition="in" filter="blinds(horizontal)">
                                      <p:cBhvr>
                                        <p:cTn id="27" dur="500"/>
                                        <p:tgtEl>
                                          <p:spTgt spid="1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
                                            <p:txEl>
                                              <p:pRg st="2" end="2"/>
                                            </p:txEl>
                                          </p:spTgt>
                                        </p:tgtEl>
                                        <p:attrNameLst>
                                          <p:attrName>style.visibility</p:attrName>
                                        </p:attrNameLst>
                                      </p:cBhvr>
                                      <p:to>
                                        <p:strVal val="visible"/>
                                      </p:to>
                                    </p:set>
                                    <p:animEffect transition="in" filter="blinds(horizontal)">
                                      <p:cBhvr>
                                        <p:cTn id="32"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grpSp>
        <p:nvGrpSpPr>
          <p:cNvPr id="7" name="组合 6">
            <a:extLst>
              <a:ext uri="{FF2B5EF4-FFF2-40B4-BE49-F238E27FC236}">
                <a16:creationId xmlns:a16="http://schemas.microsoft.com/office/drawing/2014/main" id="{3B971755-509D-459D-AFC0-A58168B3EDBC}"/>
              </a:ext>
            </a:extLst>
          </p:cNvPr>
          <p:cNvGrpSpPr/>
          <p:nvPr/>
        </p:nvGrpSpPr>
        <p:grpSpPr>
          <a:xfrm>
            <a:off x="0" y="114299"/>
            <a:ext cx="12192000" cy="932769"/>
            <a:chOff x="0" y="114299"/>
            <a:chExt cx="12192000" cy="932769"/>
          </a:xfrm>
        </p:grpSpPr>
        <p:sp>
          <p:nvSpPr>
            <p:cNvPr id="8" name="矩形 7">
              <a:extLst>
                <a:ext uri="{FF2B5EF4-FFF2-40B4-BE49-F238E27FC236}">
                  <a16:creationId xmlns:a16="http://schemas.microsoft.com/office/drawing/2014/main" id="{ED3F8A4A-9C34-4310-A90C-C46AF72576B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52A6818-136C-4691-86A5-81FB51935F3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1020C01-1017-4A3E-8F23-C9AC4F2886D8}"/>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4701136-609F-48DB-B353-EE4D1A763F47}"/>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F79361D4-FE3F-43B2-B594-4ACA19364820}"/>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13" name="Rectangle 2">
            <a:extLst>
              <a:ext uri="{FF2B5EF4-FFF2-40B4-BE49-F238E27FC236}">
                <a16:creationId xmlns:a16="http://schemas.microsoft.com/office/drawing/2014/main" id="{F1F1AD6E-F76C-4CE3-901D-AC56560A8F77}"/>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7.3.1</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函数的调用</a:t>
            </a:r>
          </a:p>
        </p:txBody>
      </p:sp>
      <p:sp>
        <p:nvSpPr>
          <p:cNvPr id="16" name="Rectangle 4">
            <a:extLst>
              <a:ext uri="{FF2B5EF4-FFF2-40B4-BE49-F238E27FC236}">
                <a16:creationId xmlns:a16="http://schemas.microsoft.com/office/drawing/2014/main" id="{A01CE59E-D6D1-4FB3-8FE2-91970CAAEC40}"/>
              </a:ext>
            </a:extLst>
          </p:cNvPr>
          <p:cNvSpPr>
            <a:spLocks noChangeArrowheads="1"/>
          </p:cNvSpPr>
          <p:nvPr/>
        </p:nvSpPr>
        <p:spPr bwMode="auto">
          <a:xfrm>
            <a:off x="972344" y="1047068"/>
            <a:ext cx="719931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dirty="0">
                <a:ea typeface="微软雅黑" panose="020B0503020204020204" pitchFamily="34" charset="-122"/>
                <a:cs typeface="Times New Roman" panose="02020603050405020304" pitchFamily="18" charset="0"/>
              </a:rPr>
              <a:t>【</a:t>
            </a:r>
            <a:r>
              <a:rPr lang="zh-CN" altLang="en-US" dirty="0">
                <a:ea typeface="微软雅黑" panose="020B0503020204020204" pitchFamily="34" charset="-122"/>
                <a:cs typeface="Times New Roman" panose="02020603050405020304" pitchFamily="18" charset="0"/>
              </a:rPr>
              <a:t>例</a:t>
            </a:r>
            <a:r>
              <a:rPr lang="en-US" altLang="zh-CN" dirty="0">
                <a:ea typeface="微软雅黑" panose="020B0503020204020204" pitchFamily="34" charset="-122"/>
                <a:cs typeface="Times New Roman" panose="02020603050405020304" pitchFamily="18" charset="0"/>
              </a:rPr>
              <a:t>】</a:t>
            </a:r>
            <a:r>
              <a:rPr lang="zh-CN" altLang="en-US" dirty="0">
                <a:ea typeface="微软雅黑" panose="020B0503020204020204" pitchFamily="34" charset="-122"/>
                <a:cs typeface="Times New Roman" panose="02020603050405020304" pitchFamily="18" charset="0"/>
              </a:rPr>
              <a:t>调用有参函数。 </a:t>
            </a:r>
          </a:p>
          <a:p>
            <a:pPr eaLnBrk="1" hangingPunct="1">
              <a:lnSpc>
                <a:spcPct val="150000"/>
              </a:lnSpc>
              <a:spcBef>
                <a:spcPct val="0"/>
              </a:spcBef>
            </a:pPr>
            <a:r>
              <a:rPr lang="zh-CN" altLang="en-US" dirty="0">
                <a:ea typeface="微软雅黑" panose="020B0503020204020204" pitchFamily="34" charset="-122"/>
                <a:cs typeface="Times New Roman" panose="02020603050405020304" pitchFamily="18" charset="0"/>
              </a:rPr>
              <a:t>  </a:t>
            </a:r>
            <a:r>
              <a:rPr lang="en-US" altLang="zh-CN" dirty="0" err="1">
                <a:ea typeface="微软雅黑" panose="020B0503020204020204" pitchFamily="34" charset="-122"/>
                <a:cs typeface="Times New Roman" panose="02020603050405020304" pitchFamily="18" charset="0"/>
              </a:rPr>
              <a:t>int</a:t>
            </a:r>
            <a:r>
              <a:rPr lang="en-US" altLang="zh-CN" dirty="0">
                <a:ea typeface="微软雅黑" panose="020B0503020204020204" pitchFamily="34" charset="-122"/>
                <a:cs typeface="Times New Roman" panose="02020603050405020304" pitchFamily="18" charset="0"/>
              </a:rPr>
              <a:t> sum(float </a:t>
            </a:r>
            <a:r>
              <a:rPr lang="en-US" altLang="zh-CN" dirty="0" err="1">
                <a:ea typeface="微软雅黑" panose="020B0503020204020204" pitchFamily="34" charset="-122"/>
                <a:cs typeface="Times New Roman" panose="02020603050405020304" pitchFamily="18" charset="0"/>
              </a:rPr>
              <a:t>a,float</a:t>
            </a:r>
            <a:r>
              <a:rPr lang="en-US" altLang="zh-CN" dirty="0">
                <a:ea typeface="微软雅黑" panose="020B0503020204020204" pitchFamily="34" charset="-122"/>
                <a:cs typeface="Times New Roman" panose="02020603050405020304" pitchFamily="18" charset="0"/>
              </a:rPr>
              <a:t> b)</a:t>
            </a:r>
          </a:p>
          <a:p>
            <a:pPr eaLnBrk="1" hangingPunct="1">
              <a:lnSpc>
                <a:spcPct val="150000"/>
              </a:lnSpc>
              <a:spcBef>
                <a:spcPct val="0"/>
              </a:spcBef>
            </a:pPr>
            <a:r>
              <a:rPr lang="en-US" altLang="zh-CN" dirty="0">
                <a:ea typeface="微软雅黑" panose="020B0503020204020204" pitchFamily="34" charset="-122"/>
                <a:cs typeface="Times New Roman" panose="02020603050405020304" pitchFamily="18" charset="0"/>
              </a:rPr>
              <a:t>       { return </a:t>
            </a:r>
            <a:r>
              <a:rPr lang="en-US" altLang="zh-CN" dirty="0" err="1">
                <a:ea typeface="微软雅黑" panose="020B0503020204020204" pitchFamily="34" charset="-122"/>
                <a:cs typeface="Times New Roman" panose="02020603050405020304" pitchFamily="18" charset="0"/>
              </a:rPr>
              <a:t>a+b</a:t>
            </a:r>
            <a:r>
              <a:rPr lang="en-US" altLang="zh-CN" dirty="0">
                <a:ea typeface="微软雅黑" panose="020B0503020204020204" pitchFamily="34" charset="-122"/>
                <a:cs typeface="Times New Roman" panose="02020603050405020304" pitchFamily="18" charset="0"/>
              </a:rPr>
              <a:t>;        }</a:t>
            </a:r>
          </a:p>
        </p:txBody>
      </p:sp>
      <p:sp>
        <p:nvSpPr>
          <p:cNvPr id="17" name="Rectangle 5">
            <a:extLst>
              <a:ext uri="{FF2B5EF4-FFF2-40B4-BE49-F238E27FC236}">
                <a16:creationId xmlns:a16="http://schemas.microsoft.com/office/drawing/2014/main" id="{EBDA0AC2-4318-40B1-9F8D-C4A123ECE1BF}"/>
              </a:ext>
            </a:extLst>
          </p:cNvPr>
          <p:cNvSpPr>
            <a:spLocks noChangeArrowheads="1"/>
          </p:cNvSpPr>
          <p:nvPr/>
        </p:nvSpPr>
        <p:spPr bwMode="auto">
          <a:xfrm>
            <a:off x="1198694" y="3628398"/>
            <a:ext cx="7058025" cy="275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35000"/>
              </a:lnSpc>
              <a:spcBef>
                <a:spcPct val="0"/>
              </a:spcBef>
            </a:pPr>
            <a:r>
              <a:rPr lang="en-US" altLang="zh-CN" dirty="0">
                <a:ea typeface="微软雅黑" panose="020B0503020204020204" pitchFamily="34" charset="-122"/>
                <a:cs typeface="Times New Roman" panose="02020603050405020304" pitchFamily="18" charset="0"/>
              </a:rPr>
              <a:t>main( )</a:t>
            </a:r>
          </a:p>
          <a:p>
            <a:pPr eaLnBrk="1" hangingPunct="1">
              <a:lnSpc>
                <a:spcPct val="135000"/>
              </a:lnSpc>
              <a:spcBef>
                <a:spcPct val="0"/>
              </a:spcBef>
            </a:pPr>
            <a:r>
              <a:rPr lang="en-US" altLang="zh-CN" dirty="0">
                <a:ea typeface="微软雅黑" panose="020B0503020204020204" pitchFamily="34" charset="-122"/>
                <a:cs typeface="Times New Roman" panose="02020603050405020304" pitchFamily="18" charset="0"/>
              </a:rPr>
              <a:t> {   float x=3.5,y=5.2;                  </a:t>
            </a:r>
          </a:p>
          <a:p>
            <a:pPr eaLnBrk="1" hangingPunct="1">
              <a:lnSpc>
                <a:spcPct val="135000"/>
              </a:lnSpc>
              <a:spcBef>
                <a:spcPct val="0"/>
              </a:spcBef>
            </a:pPr>
            <a:r>
              <a:rPr lang="en-US" altLang="zh-CN" dirty="0">
                <a:ea typeface="微软雅黑" panose="020B0503020204020204" pitchFamily="34" charset="-122"/>
                <a:cs typeface="Times New Roman" panose="02020603050405020304" pitchFamily="18" charset="0"/>
              </a:rPr>
              <a:t>     </a:t>
            </a:r>
            <a:r>
              <a:rPr lang="en-US" altLang="zh-CN" dirty="0" err="1">
                <a:ea typeface="微软雅黑" panose="020B0503020204020204" pitchFamily="34" charset="-122"/>
                <a:cs typeface="Times New Roman" panose="02020603050405020304" pitchFamily="18" charset="0"/>
              </a:rPr>
              <a:t>printf</a:t>
            </a:r>
            <a:r>
              <a:rPr lang="en-US" altLang="zh-CN" dirty="0">
                <a:ea typeface="微软雅黑" panose="020B0503020204020204" pitchFamily="34" charset="-122"/>
                <a:cs typeface="Times New Roman" panose="02020603050405020304" pitchFamily="18" charset="0"/>
              </a:rPr>
              <a:t>(“%d\</a:t>
            </a:r>
            <a:r>
              <a:rPr lang="en-US" altLang="zh-CN" dirty="0" err="1">
                <a:ea typeface="微软雅黑" panose="020B0503020204020204" pitchFamily="34" charset="-122"/>
                <a:cs typeface="Times New Roman" panose="02020603050405020304" pitchFamily="18" charset="0"/>
              </a:rPr>
              <a:t>n”,sum</a:t>
            </a:r>
            <a:r>
              <a:rPr lang="en-US" altLang="zh-CN" dirty="0">
                <a:ea typeface="微软雅黑" panose="020B0503020204020204" pitchFamily="34" charset="-122"/>
                <a:cs typeface="Times New Roman" panose="02020603050405020304" pitchFamily="18" charset="0"/>
              </a:rPr>
              <a:t>(</a:t>
            </a:r>
            <a:r>
              <a:rPr lang="en-US" altLang="zh-CN" dirty="0" err="1">
                <a:ea typeface="微软雅黑" panose="020B0503020204020204" pitchFamily="34" charset="-122"/>
                <a:cs typeface="Times New Roman" panose="02020603050405020304" pitchFamily="18" charset="0"/>
              </a:rPr>
              <a:t>x,y</a:t>
            </a:r>
            <a:r>
              <a:rPr lang="en-US" altLang="zh-CN" dirty="0">
                <a:ea typeface="微软雅黑" panose="020B0503020204020204" pitchFamily="34" charset="-122"/>
                <a:cs typeface="Times New Roman" panose="02020603050405020304" pitchFamily="18" charset="0"/>
              </a:rPr>
              <a:t>)); </a:t>
            </a:r>
          </a:p>
          <a:p>
            <a:pPr eaLnBrk="1" hangingPunct="1">
              <a:lnSpc>
                <a:spcPct val="135000"/>
              </a:lnSpc>
              <a:spcBef>
                <a:spcPct val="0"/>
              </a:spcBef>
            </a:pPr>
            <a:r>
              <a:rPr lang="en-US" altLang="zh-CN" dirty="0">
                <a:ea typeface="微软雅黑" panose="020B0503020204020204" pitchFamily="34" charset="-122"/>
                <a:cs typeface="Times New Roman" panose="02020603050405020304" pitchFamily="18" charset="0"/>
              </a:rPr>
              <a:t>  }</a:t>
            </a:r>
          </a:p>
        </p:txBody>
      </p:sp>
    </p:spTree>
    <p:extLst>
      <p:ext uri="{BB962C8B-B14F-4D97-AF65-F5344CB8AC3E}">
        <p14:creationId xmlns:p14="http://schemas.microsoft.com/office/powerpoint/2010/main" val="396789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linds(horizontal)">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blinds(horizontal)">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blinds(horizontal)">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grpSp>
        <p:nvGrpSpPr>
          <p:cNvPr id="7" name="组合 6">
            <a:extLst>
              <a:ext uri="{FF2B5EF4-FFF2-40B4-BE49-F238E27FC236}">
                <a16:creationId xmlns:a16="http://schemas.microsoft.com/office/drawing/2014/main" id="{3B971755-509D-459D-AFC0-A58168B3EDBC}"/>
              </a:ext>
            </a:extLst>
          </p:cNvPr>
          <p:cNvGrpSpPr/>
          <p:nvPr/>
        </p:nvGrpSpPr>
        <p:grpSpPr>
          <a:xfrm>
            <a:off x="0" y="114299"/>
            <a:ext cx="12192000" cy="932769"/>
            <a:chOff x="0" y="114299"/>
            <a:chExt cx="12192000" cy="932769"/>
          </a:xfrm>
        </p:grpSpPr>
        <p:sp>
          <p:nvSpPr>
            <p:cNvPr id="8" name="矩形 7">
              <a:extLst>
                <a:ext uri="{FF2B5EF4-FFF2-40B4-BE49-F238E27FC236}">
                  <a16:creationId xmlns:a16="http://schemas.microsoft.com/office/drawing/2014/main" id="{ED3F8A4A-9C34-4310-A90C-C46AF72576B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52A6818-136C-4691-86A5-81FB51935F3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1020C01-1017-4A3E-8F23-C9AC4F2886D8}"/>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4701136-609F-48DB-B353-EE4D1A763F47}"/>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F79361D4-FE3F-43B2-B594-4ACA19364820}"/>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13" name="Rectangle 2">
            <a:extLst>
              <a:ext uri="{FF2B5EF4-FFF2-40B4-BE49-F238E27FC236}">
                <a16:creationId xmlns:a16="http://schemas.microsoft.com/office/drawing/2014/main" id="{F1F1AD6E-F76C-4CE3-901D-AC56560A8F77}"/>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调用说明</a:t>
            </a:r>
          </a:p>
        </p:txBody>
      </p:sp>
      <p:sp>
        <p:nvSpPr>
          <p:cNvPr id="14" name="Rectangle 2">
            <a:extLst>
              <a:ext uri="{FF2B5EF4-FFF2-40B4-BE49-F238E27FC236}">
                <a16:creationId xmlns:a16="http://schemas.microsoft.com/office/drawing/2014/main" id="{C1EF2306-66E1-441F-AB47-1A19F3887D48}"/>
              </a:ext>
            </a:extLst>
          </p:cNvPr>
          <p:cNvSpPr>
            <a:spLocks noChangeArrowheads="1"/>
          </p:cNvSpPr>
          <p:nvPr/>
        </p:nvSpPr>
        <p:spPr bwMode="auto">
          <a:xfrm>
            <a:off x="1602637" y="879290"/>
            <a:ext cx="8269163" cy="1482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914400" lvl="1" indent="-457200">
              <a:lnSpc>
                <a:spcPct val="150000"/>
              </a:lnSpc>
              <a:buClr>
                <a:schemeClr val="hlink"/>
              </a:buClr>
              <a:buFont typeface="Wingdings" pitchFamily="2" charset="2"/>
              <a:buAutoNum type="arabicPeriod"/>
            </a:pPr>
            <a:r>
              <a:rPr lang="zh-CN" altLang="en-US" sz="3200" b="1" dirty="0">
                <a:latin typeface="Times New Roman" pitchFamily="18" charset="0"/>
              </a:rPr>
              <a:t>实参必须有确定值，形参必须指定类型</a:t>
            </a:r>
          </a:p>
          <a:p>
            <a:pPr marL="914400" lvl="1" indent="-457200">
              <a:lnSpc>
                <a:spcPct val="150000"/>
              </a:lnSpc>
              <a:buClr>
                <a:schemeClr val="hlink"/>
              </a:buClr>
              <a:buFont typeface="Wingdings" pitchFamily="2" charset="2"/>
              <a:buAutoNum type="arabicPeriod"/>
            </a:pPr>
            <a:r>
              <a:rPr lang="zh-CN" altLang="en-US" sz="3200" b="1" dirty="0">
                <a:latin typeface="Times New Roman" pitchFamily="18" charset="0"/>
              </a:rPr>
              <a:t>实参的个数与形参的个数必须相等</a:t>
            </a:r>
          </a:p>
        </p:txBody>
      </p:sp>
      <p:sp>
        <p:nvSpPr>
          <p:cNvPr id="16" name="Rectangle 10">
            <a:extLst>
              <a:ext uri="{FF2B5EF4-FFF2-40B4-BE49-F238E27FC236}">
                <a16:creationId xmlns:a16="http://schemas.microsoft.com/office/drawing/2014/main" id="{A8AE61F9-76F9-4AF0-879E-E654D86EB3EE}"/>
              </a:ext>
            </a:extLst>
          </p:cNvPr>
          <p:cNvSpPr>
            <a:spLocks noChangeArrowheads="1"/>
          </p:cNvSpPr>
          <p:nvPr/>
        </p:nvSpPr>
        <p:spPr bwMode="auto">
          <a:xfrm>
            <a:off x="1662368" y="2449136"/>
            <a:ext cx="8777031" cy="3539430"/>
          </a:xfrm>
          <a:prstGeom prst="rect">
            <a:avLst/>
          </a:prstGeom>
          <a:ln>
            <a:headEnd/>
            <a:tailEnd/>
          </a:ln>
          <a:extLst/>
        </p:spPr>
        <p:style>
          <a:lnRef idx="2">
            <a:schemeClr val="accent5"/>
          </a:lnRef>
          <a:fillRef idx="1">
            <a:schemeClr val="lt1"/>
          </a:fillRef>
          <a:effectRef idx="0">
            <a:schemeClr val="accent5"/>
          </a:effectRef>
          <a:fontRef idx="minor">
            <a:schemeClr val="dk1"/>
          </a:fontRef>
        </p:style>
        <p:txBody>
          <a:bodyPr wrap="square">
            <a:spAutoFit/>
          </a:bodyPr>
          <a:lstStyle/>
          <a:p>
            <a:pPr algn="l" eaLnBrk="0" hangingPunct="0"/>
            <a:r>
              <a:rPr lang="en-US" altLang="zh-CN" sz="3200" b="1" dirty="0">
                <a:solidFill>
                  <a:srgbClr val="C00000"/>
                </a:solidFill>
                <a:latin typeface="Times New Roman" pitchFamily="18" charset="0"/>
                <a:ea typeface="宋体" charset="-122"/>
              </a:rPr>
              <a:t>#include "</a:t>
            </a:r>
            <a:r>
              <a:rPr lang="en-US" altLang="zh-CN" sz="3200" b="1" dirty="0" err="1">
                <a:solidFill>
                  <a:srgbClr val="C00000"/>
                </a:solidFill>
                <a:latin typeface="Times New Roman" pitchFamily="18" charset="0"/>
                <a:ea typeface="宋体" charset="-122"/>
              </a:rPr>
              <a:t>stdio.h</a:t>
            </a:r>
            <a:r>
              <a:rPr lang="en-US" altLang="zh-CN" sz="3200" b="1" dirty="0">
                <a:solidFill>
                  <a:srgbClr val="C00000"/>
                </a:solidFill>
                <a:latin typeface="Times New Roman" pitchFamily="18" charset="0"/>
                <a:ea typeface="宋体" charset="-122"/>
              </a:rPr>
              <a:t>"</a:t>
            </a:r>
          </a:p>
          <a:p>
            <a:pPr algn="l" eaLnBrk="0" hangingPunct="0"/>
            <a:r>
              <a:rPr lang="en-US" altLang="zh-CN" sz="3200" b="1" dirty="0">
                <a:solidFill>
                  <a:srgbClr val="C00000"/>
                </a:solidFill>
                <a:latin typeface="Times New Roman" pitchFamily="18" charset="0"/>
                <a:ea typeface="宋体" charset="-122"/>
              </a:rPr>
              <a:t>max(</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x, </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y)</a:t>
            </a:r>
          </a:p>
          <a:p>
            <a:pPr algn="l" eaLnBrk="0" hangingPunct="0"/>
            <a:r>
              <a:rPr lang="en-US" altLang="zh-CN" sz="3200" b="1" dirty="0">
                <a:latin typeface="Times New Roman" pitchFamily="18" charset="0"/>
                <a:ea typeface="宋体" charset="-122"/>
              </a:rPr>
              <a:t>{   return(x&gt;</a:t>
            </a:r>
            <a:r>
              <a:rPr lang="en-US" altLang="zh-CN" sz="3200" b="1" dirty="0" err="1">
                <a:latin typeface="Times New Roman" pitchFamily="18" charset="0"/>
                <a:ea typeface="宋体" charset="-122"/>
              </a:rPr>
              <a:t>y?x:y</a:t>
            </a:r>
            <a:r>
              <a:rPr lang="en-US" altLang="zh-CN" sz="3200" b="1" dirty="0">
                <a:latin typeface="Times New Roman" pitchFamily="18" charset="0"/>
                <a:ea typeface="宋体" charset="-122"/>
              </a:rPr>
              <a:t>);    }</a:t>
            </a:r>
          </a:p>
          <a:p>
            <a:pPr algn="l" eaLnBrk="0" hangingPunct="0"/>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main()</a:t>
            </a:r>
          </a:p>
          <a:p>
            <a:pPr algn="l" eaLnBrk="0" hangingPunct="0"/>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a,b,c,d</a:t>
            </a:r>
            <a:r>
              <a:rPr lang="en-US" altLang="zh-CN" sz="3200" b="1" dirty="0">
                <a:latin typeface="Times New Roman" pitchFamily="18" charset="0"/>
                <a:ea typeface="宋体" charset="-122"/>
              </a:rPr>
              <a:t>;</a:t>
            </a:r>
          </a:p>
          <a:p>
            <a:pPr algn="l" eaLnBrk="0" hangingPunct="0"/>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scanf</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f,%f,%f",&amp;a,&amp;b</a:t>
            </a:r>
            <a:r>
              <a:rPr lang="en-US" altLang="zh-CN" sz="3200" b="1" dirty="0">
                <a:latin typeface="Times New Roman" pitchFamily="18" charset="0"/>
                <a:ea typeface="宋体" charset="-122"/>
              </a:rPr>
              <a:t> ,&amp;c);</a:t>
            </a:r>
          </a:p>
          <a:p>
            <a:pPr algn="l" eaLnBrk="0" hangingPunct="0"/>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("%d", </a:t>
            </a:r>
            <a:r>
              <a:rPr lang="en-US" altLang="zh-CN" sz="3200" b="1" dirty="0">
                <a:solidFill>
                  <a:srgbClr val="C00000"/>
                </a:solidFill>
                <a:latin typeface="Times New Roman" pitchFamily="18" charset="0"/>
                <a:ea typeface="宋体" charset="-122"/>
              </a:rPr>
              <a:t>max(</a:t>
            </a:r>
            <a:r>
              <a:rPr lang="en-US" altLang="zh-CN" sz="3200" b="1" dirty="0" err="1">
                <a:solidFill>
                  <a:srgbClr val="C00000"/>
                </a:solidFill>
                <a:latin typeface="Times New Roman" pitchFamily="18" charset="0"/>
                <a:ea typeface="宋体" charset="-122"/>
              </a:rPr>
              <a:t>a,b,c</a:t>
            </a:r>
            <a:r>
              <a:rPr lang="en-US" altLang="zh-CN" sz="3200" b="1" dirty="0">
                <a:solidFill>
                  <a:srgbClr val="C00000"/>
                </a:solidFill>
                <a:latin typeface="Times New Roman" pitchFamily="18" charset="0"/>
                <a:ea typeface="宋体" charset="-122"/>
              </a:rPr>
              <a:t>)</a:t>
            </a:r>
            <a:r>
              <a:rPr lang="en-US" altLang="zh-CN" sz="3200" b="1" dirty="0">
                <a:latin typeface="Times New Roman" pitchFamily="18" charset="0"/>
                <a:ea typeface="宋体" charset="-122"/>
              </a:rPr>
              <a:t>);      return 0;   }</a:t>
            </a:r>
          </a:p>
        </p:txBody>
      </p:sp>
      <p:sp>
        <p:nvSpPr>
          <p:cNvPr id="17" name="矩形 16">
            <a:extLst>
              <a:ext uri="{FF2B5EF4-FFF2-40B4-BE49-F238E27FC236}">
                <a16:creationId xmlns:a16="http://schemas.microsoft.com/office/drawing/2014/main" id="{51FC8422-65C7-4881-8B6A-043303E4959E}"/>
              </a:ext>
            </a:extLst>
          </p:cNvPr>
          <p:cNvSpPr>
            <a:spLocks noChangeArrowheads="1"/>
          </p:cNvSpPr>
          <p:nvPr/>
        </p:nvSpPr>
        <p:spPr bwMode="auto">
          <a:xfrm>
            <a:off x="2089139" y="6072421"/>
            <a:ext cx="8678739" cy="584775"/>
          </a:xfrm>
          <a:prstGeom prst="rect">
            <a:avLst/>
          </a:prstGeom>
          <a:solidFill>
            <a:srgbClr val="FFFFFF"/>
          </a:solidFill>
          <a:ln>
            <a:noFill/>
          </a:ln>
          <a:extLst/>
        </p:spPr>
        <p:txBody>
          <a:bodyPr wrap="square">
            <a:spAutoFit/>
          </a:bodyPr>
          <a:lstStyle/>
          <a:p>
            <a:r>
              <a:rPr lang="en-US" altLang="zh-CN" sz="3200" b="1" dirty="0">
                <a:solidFill>
                  <a:srgbClr val="C00000"/>
                </a:solidFill>
                <a:latin typeface="Times New Roman" pitchFamily="18" charset="0"/>
                <a:ea typeface="宋体" charset="-122"/>
              </a:rPr>
              <a:t>'max' : function does not take 3 parameters</a:t>
            </a:r>
            <a:endParaRPr lang="zh-CN" altLang="en-US" sz="3200" b="1" dirty="0">
              <a:solidFill>
                <a:srgbClr val="C00000"/>
              </a:solidFill>
              <a:latin typeface="Times New Roman" pitchFamily="18" charset="0"/>
              <a:ea typeface="宋体" charset="-122"/>
            </a:endParaRPr>
          </a:p>
        </p:txBody>
      </p:sp>
    </p:spTree>
    <p:extLst>
      <p:ext uri="{BB962C8B-B14F-4D97-AF65-F5344CB8AC3E}">
        <p14:creationId xmlns:p14="http://schemas.microsoft.com/office/powerpoint/2010/main" val="312034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fill="hold"/>
                                        <p:tgtEl>
                                          <p:spTgt spid="17"/>
                                        </p:tgtEl>
                                        <p:attrNameLst>
                                          <p:attrName>ppt_x</p:attrName>
                                        </p:attrNameLst>
                                      </p:cBhvr>
                                      <p:tavLst>
                                        <p:tav tm="0">
                                          <p:val>
                                            <p:strVal val="#ppt_x"/>
                                          </p:val>
                                        </p:tav>
                                        <p:tav tm="100000">
                                          <p:val>
                                            <p:strVal val="#ppt_x"/>
                                          </p:val>
                                        </p:tav>
                                      </p:tavLst>
                                    </p:anim>
                                    <p:anim calcmode="lin" valueType="num">
                                      <p:cBhvr additive="base">
                                        <p:cTn id="2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grpSp>
        <p:nvGrpSpPr>
          <p:cNvPr id="7" name="组合 6">
            <a:extLst>
              <a:ext uri="{FF2B5EF4-FFF2-40B4-BE49-F238E27FC236}">
                <a16:creationId xmlns:a16="http://schemas.microsoft.com/office/drawing/2014/main" id="{3B971755-509D-459D-AFC0-A58168B3EDBC}"/>
              </a:ext>
            </a:extLst>
          </p:cNvPr>
          <p:cNvGrpSpPr/>
          <p:nvPr/>
        </p:nvGrpSpPr>
        <p:grpSpPr>
          <a:xfrm>
            <a:off x="0" y="114299"/>
            <a:ext cx="12192000" cy="932769"/>
            <a:chOff x="0" y="114299"/>
            <a:chExt cx="12192000" cy="932769"/>
          </a:xfrm>
        </p:grpSpPr>
        <p:sp>
          <p:nvSpPr>
            <p:cNvPr id="8" name="矩形 7">
              <a:extLst>
                <a:ext uri="{FF2B5EF4-FFF2-40B4-BE49-F238E27FC236}">
                  <a16:creationId xmlns:a16="http://schemas.microsoft.com/office/drawing/2014/main" id="{ED3F8A4A-9C34-4310-A90C-C46AF72576B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52A6818-136C-4691-86A5-81FB51935F3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1020C01-1017-4A3E-8F23-C9AC4F2886D8}"/>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4701136-609F-48DB-B353-EE4D1A763F47}"/>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F79361D4-FE3F-43B2-B594-4ACA19364820}"/>
                </a:ext>
              </a:extLst>
            </p:cNvPr>
            <p:cNvPicPr>
              <a:picLocks noChangeAspect="1"/>
            </p:cNvPicPr>
            <p:nvPr/>
          </p:nvPicPr>
          <p:blipFill>
            <a:blip r:embed="rId4"/>
            <a:stretch>
              <a:fillRect/>
            </a:stretch>
          </p:blipFill>
          <p:spPr>
            <a:xfrm>
              <a:off x="4056711" y="114299"/>
              <a:ext cx="4078577" cy="932769"/>
            </a:xfrm>
            <a:prstGeom prst="rect">
              <a:avLst/>
            </a:prstGeom>
          </p:spPr>
        </p:pic>
      </p:grpSp>
      <p:sp>
        <p:nvSpPr>
          <p:cNvPr id="13" name="Rectangle 2">
            <a:extLst>
              <a:ext uri="{FF2B5EF4-FFF2-40B4-BE49-F238E27FC236}">
                <a16:creationId xmlns:a16="http://schemas.microsoft.com/office/drawing/2014/main" id="{F1F1AD6E-F76C-4CE3-901D-AC56560A8F77}"/>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调用说明</a:t>
            </a:r>
          </a:p>
        </p:txBody>
      </p:sp>
      <p:sp>
        <p:nvSpPr>
          <p:cNvPr id="14" name="Rectangle 6">
            <a:extLst>
              <a:ext uri="{FF2B5EF4-FFF2-40B4-BE49-F238E27FC236}">
                <a16:creationId xmlns:a16="http://schemas.microsoft.com/office/drawing/2014/main" id="{BA13E32F-D799-46A4-B408-895983798907}"/>
              </a:ext>
            </a:extLst>
          </p:cNvPr>
          <p:cNvSpPr>
            <a:spLocks noChangeArrowheads="1"/>
          </p:cNvSpPr>
          <p:nvPr/>
        </p:nvSpPr>
        <p:spPr bwMode="auto">
          <a:xfrm>
            <a:off x="865446" y="1057995"/>
            <a:ext cx="86296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914400" lvl="1" indent="-457200" algn="l">
              <a:buClr>
                <a:schemeClr val="hlink"/>
              </a:buClr>
              <a:buFont typeface="Wingdings" pitchFamily="2" charset="2"/>
              <a:buAutoNum type="arabicPeriod" startAt="3"/>
            </a:pPr>
            <a:r>
              <a:rPr kumimoji="0" lang="zh-CN" altLang="en-US" sz="3200" b="1" dirty="0">
                <a:latin typeface="Times New Roman" pitchFamily="18" charset="0"/>
              </a:rPr>
              <a:t>若形参与实参类型不同，按形参类型转换     </a:t>
            </a:r>
          </a:p>
        </p:txBody>
      </p:sp>
      <p:sp>
        <p:nvSpPr>
          <p:cNvPr id="15" name="Rectangle 3">
            <a:extLst>
              <a:ext uri="{FF2B5EF4-FFF2-40B4-BE49-F238E27FC236}">
                <a16:creationId xmlns:a16="http://schemas.microsoft.com/office/drawing/2014/main" id="{14B1DD37-0D58-4E62-A468-068F905B220F}"/>
              </a:ext>
            </a:extLst>
          </p:cNvPr>
          <p:cNvSpPr>
            <a:spLocks noChangeArrowheads="1"/>
          </p:cNvSpPr>
          <p:nvPr/>
        </p:nvSpPr>
        <p:spPr bwMode="auto">
          <a:xfrm>
            <a:off x="1358081" y="1737040"/>
            <a:ext cx="4786888" cy="4819781"/>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lnSpc>
                <a:spcPct val="80000"/>
              </a:lnSpc>
            </a:pPr>
            <a:r>
              <a:rPr lang="en-US" altLang="zh-CN" sz="3200" b="1" dirty="0">
                <a:latin typeface="Times New Roman" pitchFamily="18" charset="0"/>
                <a:ea typeface="宋体" charset="-122"/>
              </a:rPr>
              <a:t>#include &lt;</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&gt;</a:t>
            </a:r>
          </a:p>
          <a:p>
            <a:pPr algn="l" eaLnBrk="0" hangingPunct="0">
              <a:lnSpc>
                <a:spcPct val="80000"/>
              </a:lnSpc>
            </a:pPr>
            <a:r>
              <a:rPr lang="en-US" altLang="zh-CN" sz="3200" b="1" dirty="0">
                <a:latin typeface="Times New Roman" pitchFamily="18" charset="0"/>
                <a:ea typeface="宋体" charset="-122"/>
              </a:rPr>
              <a:t>max(</a:t>
            </a:r>
            <a:r>
              <a:rPr lang="en-US" altLang="zh-CN" sz="3200" b="1" dirty="0">
                <a:solidFill>
                  <a:srgbClr val="C00000"/>
                </a:solidFill>
                <a:latin typeface="Times New Roman" pitchFamily="18" charset="0"/>
                <a:ea typeface="宋体" charset="-122"/>
              </a:rPr>
              <a:t>float  x, float  y</a:t>
            </a:r>
            <a:r>
              <a:rPr lang="en-US" altLang="zh-CN" sz="3200" b="1" dirty="0">
                <a:latin typeface="Times New Roman" pitchFamily="18" charset="0"/>
                <a:ea typeface="宋体" charset="-122"/>
              </a:rPr>
              <a:t>)</a:t>
            </a:r>
          </a:p>
          <a:p>
            <a:pPr algn="l" eaLnBrk="0" hangingPunct="0">
              <a:lnSpc>
                <a:spcPct val="80000"/>
              </a:lnSpc>
            </a:pPr>
            <a:r>
              <a:rPr lang="en-US" altLang="zh-CN" sz="3200" b="1" dirty="0">
                <a:latin typeface="Times New Roman" pitchFamily="18" charset="0"/>
                <a:ea typeface="宋体" charset="-122"/>
              </a:rPr>
              <a:t>{   float z;</a:t>
            </a:r>
          </a:p>
          <a:p>
            <a:pPr algn="l" eaLnBrk="0" hangingPunct="0">
              <a:lnSpc>
                <a:spcPct val="80000"/>
              </a:lnSpc>
            </a:pPr>
            <a:r>
              <a:rPr lang="en-US" altLang="zh-CN" sz="3200" b="1" dirty="0">
                <a:latin typeface="Times New Roman" pitchFamily="18" charset="0"/>
                <a:ea typeface="宋体" charset="-122"/>
              </a:rPr>
              <a:t>     z=x&gt;</a:t>
            </a:r>
            <a:r>
              <a:rPr lang="en-US" altLang="zh-CN" sz="3200" b="1" dirty="0" err="1">
                <a:latin typeface="Times New Roman" pitchFamily="18" charset="0"/>
                <a:ea typeface="宋体" charset="-122"/>
              </a:rPr>
              <a:t>y?x:y</a:t>
            </a:r>
            <a:r>
              <a:rPr lang="en-US" altLang="zh-CN" sz="3200" b="1" dirty="0">
                <a:latin typeface="Times New Roman" pitchFamily="18" charset="0"/>
                <a:ea typeface="宋体" charset="-122"/>
              </a:rPr>
              <a:t>; </a:t>
            </a:r>
          </a:p>
          <a:p>
            <a:pPr algn="l" eaLnBrk="0" hangingPunct="0">
              <a:lnSpc>
                <a:spcPct val="80000"/>
              </a:lnSpc>
            </a:pPr>
            <a:r>
              <a:rPr lang="en-US" altLang="zh-CN" sz="3200" b="1" dirty="0">
                <a:latin typeface="Times New Roman" pitchFamily="18" charset="0"/>
                <a:ea typeface="宋体" charset="-122"/>
              </a:rPr>
              <a:t>     return(z);</a:t>
            </a:r>
          </a:p>
          <a:p>
            <a:pPr algn="l" eaLnBrk="0" hangingPunct="0">
              <a:lnSpc>
                <a:spcPct val="80000"/>
              </a:lnSpc>
            </a:pPr>
            <a:r>
              <a:rPr lang="en-US" altLang="zh-CN" sz="3200" b="1" dirty="0">
                <a:latin typeface="Times New Roman" pitchFamily="18" charset="0"/>
                <a:ea typeface="宋体" charset="-122"/>
              </a:rPr>
              <a:t>}</a:t>
            </a:r>
          </a:p>
          <a:p>
            <a:pPr algn="l" eaLnBrk="0" hangingPunct="0">
              <a:lnSpc>
                <a:spcPct val="80000"/>
              </a:lnSpc>
            </a:pPr>
            <a:r>
              <a:rPr lang="en-US" altLang="zh-CN" sz="3200" b="1" dirty="0">
                <a:latin typeface="Times New Roman" pitchFamily="18" charset="0"/>
                <a:ea typeface="宋体" charset="-122"/>
              </a:rPr>
              <a:t>void main()</a:t>
            </a:r>
          </a:p>
          <a:p>
            <a:pPr algn="l" eaLnBrk="0" hangingPunct="0">
              <a:lnSpc>
                <a:spcPct val="8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a,b,c</a:t>
            </a:r>
            <a:r>
              <a:rPr lang="en-US" altLang="zh-CN" sz="3200" b="1" dirty="0">
                <a:latin typeface="Times New Roman" pitchFamily="18" charset="0"/>
                <a:ea typeface="宋体" charset="-122"/>
              </a:rPr>
              <a:t>;</a:t>
            </a:r>
          </a:p>
          <a:p>
            <a:pPr algn="l" eaLnBrk="0" hangingPunct="0">
              <a:lnSpc>
                <a:spcPct val="80000"/>
              </a:lnSpc>
            </a:pPr>
            <a:r>
              <a:rPr lang="en-US" altLang="zh-CN" sz="3200" b="1" dirty="0">
                <a:latin typeface="Times New Roman" pitchFamily="18" charset="0"/>
                <a:ea typeface="宋体" charset="-122"/>
              </a:rPr>
              <a:t> </a:t>
            </a:r>
            <a:r>
              <a:rPr lang="zh-CN" altLang="en-US" sz="3200" b="1" dirty="0">
                <a:latin typeface="Times New Roman" pitchFamily="18" charset="0"/>
                <a:ea typeface="宋体" charset="-122"/>
              </a:rPr>
              <a:t>　</a:t>
            </a:r>
            <a:r>
              <a:rPr lang="en-US" altLang="zh-CN" sz="3200" b="1" dirty="0">
                <a:latin typeface="Times New Roman" pitchFamily="18" charset="0"/>
                <a:ea typeface="宋体" charset="-122"/>
              </a:rPr>
              <a:t>a=3,b=5;</a:t>
            </a:r>
          </a:p>
          <a:p>
            <a:pPr algn="l" eaLnBrk="0" hangingPunct="0">
              <a:lnSpc>
                <a:spcPct val="80000"/>
              </a:lnSpc>
            </a:pPr>
            <a:r>
              <a:rPr lang="en-US" altLang="zh-CN" sz="3200" b="1" dirty="0">
                <a:latin typeface="Times New Roman" pitchFamily="18" charset="0"/>
                <a:ea typeface="宋体" charset="-122"/>
              </a:rPr>
              <a:t> </a:t>
            </a:r>
            <a:r>
              <a:rPr lang="zh-CN" altLang="en-US" sz="3200" b="1" dirty="0">
                <a:latin typeface="Times New Roman" pitchFamily="18" charset="0"/>
                <a:ea typeface="宋体" charset="-122"/>
              </a:rPr>
              <a:t>　</a:t>
            </a:r>
            <a:r>
              <a:rPr lang="en-US" altLang="zh-CN" sz="3200" b="1" dirty="0">
                <a:latin typeface="Times New Roman" pitchFamily="18" charset="0"/>
                <a:ea typeface="宋体" charset="-122"/>
              </a:rPr>
              <a:t>c=</a:t>
            </a:r>
            <a:r>
              <a:rPr lang="en-US" altLang="zh-CN" sz="3200" b="1" dirty="0">
                <a:solidFill>
                  <a:srgbClr val="C00000"/>
                </a:solidFill>
                <a:latin typeface="Times New Roman" pitchFamily="18" charset="0"/>
                <a:ea typeface="宋体" charset="-122"/>
              </a:rPr>
              <a:t>max(</a:t>
            </a:r>
            <a:r>
              <a:rPr lang="en-US" altLang="zh-CN" sz="3200" b="1" dirty="0" err="1">
                <a:solidFill>
                  <a:srgbClr val="C00000"/>
                </a:solidFill>
                <a:latin typeface="Times New Roman" pitchFamily="18" charset="0"/>
                <a:ea typeface="宋体" charset="-122"/>
              </a:rPr>
              <a:t>a,b</a:t>
            </a:r>
            <a:r>
              <a:rPr lang="en-US" altLang="zh-CN" sz="3200" b="1" dirty="0">
                <a:solidFill>
                  <a:srgbClr val="C00000"/>
                </a:solidFill>
                <a:latin typeface="Times New Roman" pitchFamily="18" charset="0"/>
                <a:ea typeface="宋体" charset="-122"/>
              </a:rPr>
              <a:t>)</a:t>
            </a:r>
            <a:r>
              <a:rPr lang="en-US" altLang="zh-CN" sz="3200" b="1" dirty="0">
                <a:latin typeface="Times New Roman" pitchFamily="18" charset="0"/>
                <a:ea typeface="宋体" charset="-122"/>
              </a:rPr>
              <a:t>;</a:t>
            </a:r>
          </a:p>
          <a:p>
            <a:pPr algn="l" eaLnBrk="0" hangingPunct="0">
              <a:lnSpc>
                <a:spcPct val="8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("Max is %</a:t>
            </a:r>
            <a:r>
              <a:rPr lang="en-US" altLang="zh-CN" sz="3200" b="1" dirty="0" err="1">
                <a:latin typeface="Times New Roman" pitchFamily="18" charset="0"/>
                <a:ea typeface="宋体" charset="-122"/>
              </a:rPr>
              <a:t>d",c</a:t>
            </a:r>
            <a:r>
              <a:rPr lang="en-US" altLang="zh-CN" sz="3200" b="1" dirty="0">
                <a:latin typeface="Times New Roman" pitchFamily="18" charset="0"/>
                <a:ea typeface="宋体" charset="-122"/>
              </a:rPr>
              <a:t>);</a:t>
            </a:r>
          </a:p>
          <a:p>
            <a:pPr algn="l" eaLnBrk="0" hangingPunct="0">
              <a:lnSpc>
                <a:spcPct val="80000"/>
              </a:lnSpc>
            </a:pPr>
            <a:r>
              <a:rPr lang="en-US" altLang="zh-CN" sz="3200" b="1" dirty="0">
                <a:latin typeface="Times New Roman" pitchFamily="18" charset="0"/>
                <a:ea typeface="宋体" charset="-122"/>
              </a:rPr>
              <a:t>}</a:t>
            </a:r>
          </a:p>
        </p:txBody>
      </p:sp>
      <p:sp>
        <p:nvSpPr>
          <p:cNvPr id="16" name="AutoShape 4">
            <a:extLst>
              <a:ext uri="{FF2B5EF4-FFF2-40B4-BE49-F238E27FC236}">
                <a16:creationId xmlns:a16="http://schemas.microsoft.com/office/drawing/2014/main" id="{F7CE6EC2-C52E-47D6-BF15-A54C1402C534}"/>
              </a:ext>
            </a:extLst>
          </p:cNvPr>
          <p:cNvSpPr>
            <a:spLocks/>
          </p:cNvSpPr>
          <p:nvPr/>
        </p:nvSpPr>
        <p:spPr bwMode="auto">
          <a:xfrm>
            <a:off x="8959331" y="2522144"/>
            <a:ext cx="1054619" cy="584775"/>
          </a:xfrm>
          <a:prstGeom prst="borderCallout2">
            <a:avLst>
              <a:gd name="adj1" fmla="val 10463"/>
              <a:gd name="adj2" fmla="val -12500"/>
              <a:gd name="adj3" fmla="val 10463"/>
              <a:gd name="adj4" fmla="val -322134"/>
              <a:gd name="adj5" fmla="val 10463"/>
              <a:gd name="adj6" fmla="val -631773"/>
            </a:avLst>
          </a:prstGeom>
          <a:ln w="34925">
            <a:headEnd/>
            <a:tailEnd/>
          </a:ln>
          <a:extLst/>
        </p:spPr>
        <p:style>
          <a:lnRef idx="2">
            <a:schemeClr val="accent1"/>
          </a:lnRef>
          <a:fillRef idx="1">
            <a:schemeClr val="lt1"/>
          </a:fillRef>
          <a:effectRef idx="0">
            <a:schemeClr val="accent1"/>
          </a:effectRef>
          <a:fontRef idx="minor">
            <a:schemeClr val="dk1"/>
          </a:fontRef>
        </p:style>
        <p:txBody>
          <a:bodyPr wrap="square" anchor="ctr">
            <a:spAutoFit/>
          </a:bodyPr>
          <a:lstStyle/>
          <a:p>
            <a:r>
              <a:rPr lang="zh-CN" altLang="en-US" sz="3200" b="1">
                <a:latin typeface="Times New Roman" pitchFamily="18" charset="0"/>
              </a:rPr>
              <a:t>形参</a:t>
            </a:r>
          </a:p>
        </p:txBody>
      </p:sp>
      <p:sp>
        <p:nvSpPr>
          <p:cNvPr id="17" name="AutoShape 5">
            <a:extLst>
              <a:ext uri="{FF2B5EF4-FFF2-40B4-BE49-F238E27FC236}">
                <a16:creationId xmlns:a16="http://schemas.microsoft.com/office/drawing/2014/main" id="{C7AFC6A4-6456-44EC-81E9-5FFF9EB3593D}"/>
              </a:ext>
            </a:extLst>
          </p:cNvPr>
          <p:cNvSpPr>
            <a:spLocks/>
          </p:cNvSpPr>
          <p:nvPr/>
        </p:nvSpPr>
        <p:spPr bwMode="auto">
          <a:xfrm>
            <a:off x="9992685" y="5593541"/>
            <a:ext cx="1043616" cy="584775"/>
          </a:xfrm>
          <a:prstGeom prst="borderCallout2">
            <a:avLst>
              <a:gd name="adj1" fmla="val 10481"/>
              <a:gd name="adj2" fmla="val -12500"/>
              <a:gd name="adj3" fmla="val 10481"/>
              <a:gd name="adj4" fmla="val -329167"/>
              <a:gd name="adj5" fmla="val 10481"/>
              <a:gd name="adj6" fmla="val -645833"/>
            </a:avLst>
          </a:prstGeom>
          <a:ln w="38100">
            <a:headEnd/>
            <a:tailEnd/>
          </a:ln>
          <a:extLst/>
        </p:spPr>
        <p:style>
          <a:lnRef idx="2">
            <a:schemeClr val="accent1"/>
          </a:lnRef>
          <a:fillRef idx="1">
            <a:schemeClr val="lt1"/>
          </a:fillRef>
          <a:effectRef idx="0">
            <a:schemeClr val="accent1"/>
          </a:effectRef>
          <a:fontRef idx="minor">
            <a:schemeClr val="dk1"/>
          </a:fontRef>
        </p:style>
        <p:txBody>
          <a:bodyPr wrap="square" anchor="ctr">
            <a:spAutoFit/>
          </a:bodyPr>
          <a:lstStyle/>
          <a:p>
            <a:pPr algn="ctr"/>
            <a:r>
              <a:rPr lang="zh-CN" altLang="en-US" sz="3200" b="1" dirty="0">
                <a:latin typeface="Times New Roman" pitchFamily="18" charset="0"/>
              </a:rPr>
              <a:t>实参</a:t>
            </a:r>
          </a:p>
        </p:txBody>
      </p:sp>
    </p:spTree>
    <p:extLst>
      <p:ext uri="{BB962C8B-B14F-4D97-AF65-F5344CB8AC3E}">
        <p14:creationId xmlns:p14="http://schemas.microsoft.com/office/powerpoint/2010/main" val="186748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ox(out)">
                                      <p:cBhvr>
                                        <p:cTn id="12" dur="500"/>
                                        <p:tgtEl>
                                          <p:spTgt spid="1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bldLvl="2" autoUpdateAnimBg="0"/>
      <p:bldP spid="15" grpId="0" animBg="1" autoUpdateAnimBg="0"/>
      <p:bldP spid="16" grpId="0" animBg="1" autoUpdateAnimBg="0"/>
      <p:bldP spid="17"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grpSp>
        <p:nvGrpSpPr>
          <p:cNvPr id="7" name="组合 6">
            <a:extLst>
              <a:ext uri="{FF2B5EF4-FFF2-40B4-BE49-F238E27FC236}">
                <a16:creationId xmlns:a16="http://schemas.microsoft.com/office/drawing/2014/main" id="{3B971755-509D-459D-AFC0-A58168B3EDBC}"/>
              </a:ext>
            </a:extLst>
          </p:cNvPr>
          <p:cNvGrpSpPr/>
          <p:nvPr/>
        </p:nvGrpSpPr>
        <p:grpSpPr>
          <a:xfrm>
            <a:off x="0" y="114299"/>
            <a:ext cx="12192000" cy="932769"/>
            <a:chOff x="0" y="114299"/>
            <a:chExt cx="12192000" cy="932769"/>
          </a:xfrm>
        </p:grpSpPr>
        <p:sp>
          <p:nvSpPr>
            <p:cNvPr id="8" name="矩形 7">
              <a:extLst>
                <a:ext uri="{FF2B5EF4-FFF2-40B4-BE49-F238E27FC236}">
                  <a16:creationId xmlns:a16="http://schemas.microsoft.com/office/drawing/2014/main" id="{ED3F8A4A-9C34-4310-A90C-C46AF72576B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52A6818-136C-4691-86A5-81FB51935F3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1020C01-1017-4A3E-8F23-C9AC4F2886D8}"/>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4701136-609F-48DB-B353-EE4D1A763F47}"/>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F79361D4-FE3F-43B2-B594-4ACA19364820}"/>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13" name="Rectangle 2">
            <a:extLst>
              <a:ext uri="{FF2B5EF4-FFF2-40B4-BE49-F238E27FC236}">
                <a16:creationId xmlns:a16="http://schemas.microsoft.com/office/drawing/2014/main" id="{F1F1AD6E-F76C-4CE3-901D-AC56560A8F77}"/>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调用说明</a:t>
            </a:r>
          </a:p>
        </p:txBody>
      </p:sp>
      <p:sp>
        <p:nvSpPr>
          <p:cNvPr id="14" name="Rectangle 6">
            <a:extLst>
              <a:ext uri="{FF2B5EF4-FFF2-40B4-BE49-F238E27FC236}">
                <a16:creationId xmlns:a16="http://schemas.microsoft.com/office/drawing/2014/main" id="{C1266979-BC2D-4E13-AEBF-BA6D7B4690E6}"/>
              </a:ext>
            </a:extLst>
          </p:cNvPr>
          <p:cNvSpPr>
            <a:spLocks noChangeArrowheads="1"/>
          </p:cNvSpPr>
          <p:nvPr/>
        </p:nvSpPr>
        <p:spPr bwMode="auto">
          <a:xfrm>
            <a:off x="1175009" y="1100523"/>
            <a:ext cx="812641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914400" lvl="1" indent="-457200">
              <a:buClr>
                <a:schemeClr val="hlink"/>
              </a:buClr>
              <a:buFont typeface="Wingdings" pitchFamily="2" charset="2"/>
              <a:buAutoNum type="arabicPeriod" startAt="4"/>
            </a:pPr>
            <a:r>
              <a:rPr lang="zh-CN" altLang="en-US" sz="3200" b="1" dirty="0">
                <a:latin typeface="Times New Roman" pitchFamily="18" charset="0"/>
              </a:rPr>
              <a:t>无实参函数的一对圆括号不能省略</a:t>
            </a:r>
          </a:p>
        </p:txBody>
      </p:sp>
      <p:sp>
        <p:nvSpPr>
          <p:cNvPr id="15" name="Rectangle 7">
            <a:extLst>
              <a:ext uri="{FF2B5EF4-FFF2-40B4-BE49-F238E27FC236}">
                <a16:creationId xmlns:a16="http://schemas.microsoft.com/office/drawing/2014/main" id="{DAF5D6FD-1EFE-4D98-85B6-50E72AFCD153}"/>
              </a:ext>
            </a:extLst>
          </p:cNvPr>
          <p:cNvSpPr>
            <a:spLocks noChangeArrowheads="1"/>
          </p:cNvSpPr>
          <p:nvPr/>
        </p:nvSpPr>
        <p:spPr bwMode="auto">
          <a:xfrm>
            <a:off x="3355975" y="1780076"/>
            <a:ext cx="5403850" cy="4154984"/>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a:spAutoFit/>
          </a:bodyPr>
          <a:lstStyle/>
          <a:p>
            <a:pPr algn="l" eaLnBrk="0" hangingPunct="0">
              <a:lnSpc>
                <a:spcPct val="75000"/>
              </a:lnSpc>
            </a:pPr>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p>
          <a:p>
            <a:pPr algn="l" eaLnBrk="0" hangingPunct="0">
              <a:lnSpc>
                <a:spcPct val="75000"/>
              </a:lnSpc>
            </a:pPr>
            <a:r>
              <a:rPr lang="en-US" altLang="zh-CN" sz="3200" b="1" dirty="0">
                <a:solidFill>
                  <a:srgbClr val="C00000"/>
                </a:solidFill>
                <a:latin typeface="Times New Roman" pitchFamily="18" charset="0"/>
                <a:ea typeface="宋体" charset="-122"/>
              </a:rPr>
              <a:t>void output( )</a:t>
            </a:r>
          </a:p>
          <a:p>
            <a:pPr algn="l" eaLnBrk="0" hangingPunct="0">
              <a:lnSpc>
                <a:spcPct val="75000"/>
              </a:lnSpc>
            </a:pPr>
            <a:r>
              <a:rPr lang="en-US" altLang="zh-CN" sz="3200" b="1" dirty="0">
                <a:latin typeface="Times New Roman" pitchFamily="18" charset="0"/>
                <a:ea typeface="宋体" charset="-122"/>
              </a:rPr>
              <a:t>{    char c;</a:t>
            </a:r>
          </a:p>
          <a:p>
            <a:pPr algn="l" eaLnBrk="0" hangingPunct="0">
              <a:lnSpc>
                <a:spcPct val="75000"/>
              </a:lnSpc>
            </a:pPr>
            <a:r>
              <a:rPr lang="en-US" altLang="zh-CN" sz="3200" b="1" dirty="0">
                <a:latin typeface="Times New Roman" pitchFamily="18" charset="0"/>
                <a:ea typeface="宋体" charset="-122"/>
              </a:rPr>
              <a:t>      while((c=</a:t>
            </a:r>
            <a:r>
              <a:rPr lang="en-US" altLang="zh-CN" sz="3200" b="1" dirty="0" err="1">
                <a:latin typeface="Times New Roman" pitchFamily="18" charset="0"/>
                <a:ea typeface="宋体" charset="-122"/>
              </a:rPr>
              <a:t>getchar</a:t>
            </a:r>
            <a:r>
              <a:rPr lang="en-US" altLang="zh-CN" sz="3200" b="1" dirty="0">
                <a:latin typeface="Times New Roman" pitchFamily="18" charset="0"/>
                <a:ea typeface="宋体" charset="-122"/>
              </a:rPr>
              <a:t>( ))!='\n')</a:t>
            </a:r>
          </a:p>
          <a:p>
            <a:pPr algn="l" eaLnBrk="0" hangingPunct="0">
              <a:lnSpc>
                <a:spcPct val="75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putchar</a:t>
            </a:r>
            <a:r>
              <a:rPr lang="en-US" altLang="zh-CN" sz="3200" b="1" dirty="0">
                <a:latin typeface="Times New Roman" pitchFamily="18" charset="0"/>
                <a:ea typeface="宋体" charset="-122"/>
              </a:rPr>
              <a:t>(c);</a:t>
            </a:r>
          </a:p>
          <a:p>
            <a:pPr algn="l" eaLnBrk="0" hangingPunct="0">
              <a:lnSpc>
                <a:spcPct val="75000"/>
              </a:lnSpc>
            </a:pPr>
            <a:r>
              <a:rPr lang="en-US" altLang="zh-CN" sz="3200" b="1" dirty="0">
                <a:latin typeface="Times New Roman" pitchFamily="18" charset="0"/>
                <a:ea typeface="宋体" charset="-122"/>
              </a:rPr>
              <a:t>}</a:t>
            </a:r>
          </a:p>
          <a:p>
            <a:pPr algn="l" eaLnBrk="0" hangingPunct="0">
              <a:lnSpc>
                <a:spcPct val="50000"/>
              </a:lnSpc>
            </a:pPr>
            <a:endParaRPr lang="en-US" altLang="zh-CN" sz="3200" b="1" dirty="0">
              <a:latin typeface="Times New Roman" pitchFamily="18" charset="0"/>
              <a:ea typeface="宋体" charset="-122"/>
            </a:endParaRPr>
          </a:p>
          <a:p>
            <a:pPr algn="l" eaLnBrk="0" hangingPunct="0">
              <a:lnSpc>
                <a:spcPct val="75000"/>
              </a:lnSpc>
            </a:pP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main( )</a:t>
            </a:r>
          </a:p>
          <a:p>
            <a:pPr algn="l" eaLnBrk="0" hangingPunct="0">
              <a:lnSpc>
                <a:spcPct val="75000"/>
              </a:lnSpc>
            </a:pPr>
            <a:r>
              <a:rPr lang="en-US" altLang="zh-CN" sz="3200" b="1" dirty="0">
                <a:latin typeface="Times New Roman" pitchFamily="18" charset="0"/>
                <a:ea typeface="宋体" charset="-122"/>
              </a:rPr>
              <a:t>{    </a:t>
            </a:r>
            <a:r>
              <a:rPr lang="en-US" altLang="zh-CN" sz="3200" b="1" dirty="0">
                <a:solidFill>
                  <a:srgbClr val="C00000"/>
                </a:solidFill>
                <a:latin typeface="Times New Roman" pitchFamily="18" charset="0"/>
                <a:ea typeface="宋体" charset="-122"/>
              </a:rPr>
              <a:t>output;</a:t>
            </a:r>
          </a:p>
          <a:p>
            <a:pPr algn="l" eaLnBrk="0" hangingPunct="0">
              <a:lnSpc>
                <a:spcPct val="75000"/>
              </a:lnSpc>
            </a:pPr>
            <a:r>
              <a:rPr lang="en-US" altLang="zh-CN" sz="3200" b="1" dirty="0">
                <a:solidFill>
                  <a:srgbClr val="C00000"/>
                </a:solidFill>
                <a:latin typeface="Times New Roman" pitchFamily="18" charset="0"/>
                <a:ea typeface="宋体" charset="-122"/>
              </a:rPr>
              <a:t>      return 0;</a:t>
            </a:r>
          </a:p>
          <a:p>
            <a:pPr algn="l" eaLnBrk="0" hangingPunct="0">
              <a:lnSpc>
                <a:spcPct val="75000"/>
              </a:lnSpc>
            </a:pPr>
            <a:r>
              <a:rPr lang="en-US" altLang="zh-CN" sz="3200" b="1" dirty="0">
                <a:latin typeface="Times New Roman" pitchFamily="18" charset="0"/>
                <a:ea typeface="宋体" charset="-122"/>
              </a:rPr>
              <a:t>}</a:t>
            </a:r>
          </a:p>
        </p:txBody>
      </p:sp>
      <p:sp>
        <p:nvSpPr>
          <p:cNvPr id="16" name="Text Box 8">
            <a:extLst>
              <a:ext uri="{FF2B5EF4-FFF2-40B4-BE49-F238E27FC236}">
                <a16:creationId xmlns:a16="http://schemas.microsoft.com/office/drawing/2014/main" id="{FCECFF5A-7A68-4025-B23B-0211FE0275CD}"/>
              </a:ext>
            </a:extLst>
          </p:cNvPr>
          <p:cNvSpPr txBox="1">
            <a:spLocks noChangeArrowheads="1"/>
          </p:cNvSpPr>
          <p:nvPr/>
        </p:nvSpPr>
        <p:spPr bwMode="auto">
          <a:xfrm>
            <a:off x="2881746" y="6041604"/>
            <a:ext cx="6480720" cy="523220"/>
          </a:xfrm>
          <a:prstGeom prst="rect">
            <a:avLst/>
          </a:prstGeom>
          <a:solidFill>
            <a:schemeClr val="bg1"/>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ctr">
              <a:spcBef>
                <a:spcPct val="50000"/>
              </a:spcBef>
            </a:pPr>
            <a:r>
              <a:rPr lang="zh-CN" altLang="en-US" sz="2800" b="1" dirty="0">
                <a:solidFill>
                  <a:srgbClr val="C00000"/>
                </a:solidFill>
                <a:latin typeface="微软雅黑" panose="020B0503020204020204" pitchFamily="34" charset="-122"/>
                <a:ea typeface="微软雅黑" panose="020B0503020204020204" pitchFamily="34" charset="-122"/>
              </a:rPr>
              <a:t>程序不会报错，但得不到需要结果</a:t>
            </a:r>
          </a:p>
        </p:txBody>
      </p:sp>
    </p:spTree>
    <p:extLst>
      <p:ext uri="{BB962C8B-B14F-4D97-AF65-F5344CB8AC3E}">
        <p14:creationId xmlns:p14="http://schemas.microsoft.com/office/powerpoint/2010/main" val="3796234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bldLvl="2" autoUpdateAnimBg="0"/>
      <p:bldP spid="15" grpId="0" animBg="1" autoUpdateAnimBg="0"/>
      <p:bldP spid="16"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641912" y="0"/>
            <a:ext cx="9816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950759" y="0"/>
            <a:ext cx="9816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259606" y="0"/>
            <a:ext cx="98163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568452" y="0"/>
            <a:ext cx="9816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540000" y="1524000"/>
            <a:ext cx="3719606"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15210" y="1524000"/>
            <a:ext cx="363679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2614925" y="1941094"/>
            <a:ext cx="6962162" cy="1446550"/>
          </a:xfrm>
          <a:prstGeom prst="rect">
            <a:avLst/>
          </a:prstGeom>
          <a:noFill/>
        </p:spPr>
        <p:txBody>
          <a:bodyPr wrap="none" rtlCol="0">
            <a:spAutoFit/>
          </a:bodyPr>
          <a:lstStyle/>
          <a:p>
            <a:pPr algn="ctr"/>
            <a:r>
              <a:rPr lang="en-US" altLang="zh-CN"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rPr>
              <a:t>SECTION 04</a:t>
            </a:r>
            <a:endParaRPr lang="zh-CN" altLang="en-US"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endParaRPr>
          </a:p>
        </p:txBody>
      </p:sp>
      <p:sp>
        <p:nvSpPr>
          <p:cNvPr id="30" name="文本框 29"/>
          <p:cNvSpPr txBox="1"/>
          <p:nvPr/>
        </p:nvSpPr>
        <p:spPr>
          <a:xfrm>
            <a:off x="3579939" y="3310581"/>
            <a:ext cx="5032147" cy="923330"/>
          </a:xfrm>
          <a:prstGeom prst="rect">
            <a:avLst/>
          </a:prstGeom>
          <a:noFill/>
        </p:spPr>
        <p:txBody>
          <a:bodyPr wrap="none" rtlCol="0">
            <a:spAutoFit/>
          </a:bodyPr>
          <a:lstStyle/>
          <a:p>
            <a:pPr algn="ctr"/>
            <a:r>
              <a:rPr lang="zh-CN" altLang="en-US" sz="5400" b="1" dirty="0">
                <a:solidFill>
                  <a:schemeClr val="tx1">
                    <a:lumMod val="65000"/>
                    <a:lumOff val="35000"/>
                  </a:schemeClr>
                </a:solidFill>
                <a:latin typeface="微软雅黑" panose="020B0503020204020204" pitchFamily="34" charset="-122"/>
                <a:ea typeface="微软雅黑" panose="020B0503020204020204" pitchFamily="34" charset="-122"/>
              </a:rPr>
              <a:t>函数的参数传递</a:t>
            </a:r>
          </a:p>
        </p:txBody>
      </p:sp>
      <p:sp>
        <p:nvSpPr>
          <p:cNvPr id="31" name="文本框 30"/>
          <p:cNvSpPr txBox="1"/>
          <p:nvPr/>
        </p:nvSpPr>
        <p:spPr>
          <a:xfrm>
            <a:off x="3154300" y="4233911"/>
            <a:ext cx="5883399" cy="381771"/>
          </a:xfrm>
          <a:prstGeom prst="rect">
            <a:avLst/>
          </a:prstGeom>
          <a:noFill/>
        </p:spPr>
        <p:txBody>
          <a:bodyPr wrap="square" rtlCol="0">
            <a:spAutoFit/>
          </a:bodyPr>
          <a:lstStyle/>
          <a:p>
            <a:pPr algn="dist">
              <a:lnSpc>
                <a:spcPct val="114000"/>
              </a:lnSpc>
            </a:pPr>
            <a:r>
              <a:rPr lang="en-US" altLang="zh-CN" dirty="0"/>
              <a:t>PASSING OF PARAMETERS AMONG FUNCTIONS</a:t>
            </a:r>
            <a:endParaRPr lang="en-US" altLang="zh-CN" sz="1600" dirty="0">
              <a:solidFill>
                <a:schemeClr val="bg1">
                  <a:lumMod val="65000"/>
                </a:schemeClr>
              </a:solidFill>
              <a:ea typeface="汉仪趣黑W" panose="00020600040101010101" pitchFamily="18" charset="-122"/>
            </a:endParaRPr>
          </a:p>
        </p:txBody>
      </p:sp>
    </p:spTree>
    <p:extLst>
      <p:ext uri="{BB962C8B-B14F-4D97-AF65-F5344CB8AC3E}">
        <p14:creationId xmlns:p14="http://schemas.microsoft.com/office/powerpoint/2010/main" val="1797567873"/>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750" fill="hold"/>
                                        <p:tgtEl>
                                          <p:spTgt spid="25"/>
                                        </p:tgtEl>
                                        <p:attrNameLst>
                                          <p:attrName>ppt_x</p:attrName>
                                        </p:attrNameLst>
                                      </p:cBhvr>
                                      <p:tavLst>
                                        <p:tav tm="0">
                                          <p:val>
                                            <p:strVal val="#ppt_x"/>
                                          </p:val>
                                        </p:tav>
                                        <p:tav tm="100000">
                                          <p:val>
                                            <p:strVal val="#ppt_x"/>
                                          </p:val>
                                        </p:tav>
                                      </p:tavLst>
                                    </p:anim>
                                    <p:anim calcmode="lin" valueType="num">
                                      <p:cBhvr additive="base">
                                        <p:cTn id="12" dur="75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2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750" fill="hold"/>
                                        <p:tgtEl>
                                          <p:spTgt spid="26"/>
                                        </p:tgtEl>
                                        <p:attrNameLst>
                                          <p:attrName>ppt_x</p:attrName>
                                        </p:attrNameLst>
                                      </p:cBhvr>
                                      <p:tavLst>
                                        <p:tav tm="0">
                                          <p:val>
                                            <p:strVal val="#ppt_x"/>
                                          </p:val>
                                        </p:tav>
                                        <p:tav tm="100000">
                                          <p:val>
                                            <p:strVal val="#ppt_x"/>
                                          </p:val>
                                        </p:tav>
                                      </p:tavLst>
                                    </p:anim>
                                    <p:anim calcmode="lin" valueType="num">
                                      <p:cBhvr additive="base">
                                        <p:cTn id="16" dur="75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750" fill="hold"/>
                                        <p:tgtEl>
                                          <p:spTgt spid="27"/>
                                        </p:tgtEl>
                                        <p:attrNameLst>
                                          <p:attrName>ppt_x</p:attrName>
                                        </p:attrNameLst>
                                      </p:cBhvr>
                                      <p:tavLst>
                                        <p:tav tm="0">
                                          <p:val>
                                            <p:strVal val="#ppt_x"/>
                                          </p:val>
                                        </p:tav>
                                        <p:tav tm="100000">
                                          <p:val>
                                            <p:strVal val="#ppt_x"/>
                                          </p:val>
                                        </p:tav>
                                      </p:tavLst>
                                    </p:anim>
                                    <p:anim calcmode="lin" valueType="num">
                                      <p:cBhvr additive="base">
                                        <p:cTn id="20" dur="750" fill="hold"/>
                                        <p:tgtEl>
                                          <p:spTgt spid="27"/>
                                        </p:tgtEl>
                                        <p:attrNameLst>
                                          <p:attrName>ppt_y</p:attrName>
                                        </p:attrNameLst>
                                      </p:cBhvr>
                                      <p:tavLst>
                                        <p:tav tm="0">
                                          <p:val>
                                            <p:strVal val="1+#ppt_h/2"/>
                                          </p:val>
                                        </p:tav>
                                        <p:tav tm="100000">
                                          <p:val>
                                            <p:strVal val="#ppt_y"/>
                                          </p:val>
                                        </p:tav>
                                      </p:tavLst>
                                    </p:anim>
                                  </p:childTnLst>
                                </p:cTn>
                              </p:par>
                            </p:childTnLst>
                          </p:cTn>
                        </p:par>
                        <p:par>
                          <p:cTn id="21" fill="hold">
                            <p:stCondLst>
                              <p:cond delay="1050"/>
                            </p:stCondLst>
                            <p:childTnLst>
                              <p:par>
                                <p:cTn id="22" presetID="2" presetClass="entr" presetSubtype="8"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additive="base">
                                        <p:cTn id="24" dur="1250" fill="hold"/>
                                        <p:tgtEl>
                                          <p:spTgt spid="28"/>
                                        </p:tgtEl>
                                        <p:attrNameLst>
                                          <p:attrName>ppt_x</p:attrName>
                                        </p:attrNameLst>
                                      </p:cBhvr>
                                      <p:tavLst>
                                        <p:tav tm="0">
                                          <p:val>
                                            <p:strVal val="0-#ppt_w/2"/>
                                          </p:val>
                                        </p:tav>
                                        <p:tav tm="100000">
                                          <p:val>
                                            <p:strVal val="#ppt_x"/>
                                          </p:val>
                                        </p:tav>
                                      </p:tavLst>
                                    </p:anim>
                                    <p:anim calcmode="lin" valueType="num">
                                      <p:cBhvr additive="base">
                                        <p:cTn id="25" dur="1250" fill="hold"/>
                                        <p:tgtEl>
                                          <p:spTgt spid="2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1250" fill="hold"/>
                                        <p:tgtEl>
                                          <p:spTgt spid="32"/>
                                        </p:tgtEl>
                                        <p:attrNameLst>
                                          <p:attrName>ppt_x</p:attrName>
                                        </p:attrNameLst>
                                      </p:cBhvr>
                                      <p:tavLst>
                                        <p:tav tm="0">
                                          <p:val>
                                            <p:strVal val="1+#ppt_w/2"/>
                                          </p:val>
                                        </p:tav>
                                        <p:tav tm="100000">
                                          <p:val>
                                            <p:strVal val="#ppt_x"/>
                                          </p:val>
                                        </p:tav>
                                      </p:tavLst>
                                    </p:anim>
                                    <p:anim calcmode="lin" valueType="num">
                                      <p:cBhvr additive="base">
                                        <p:cTn id="29" dur="1250" fill="hold"/>
                                        <p:tgtEl>
                                          <p:spTgt spid="32"/>
                                        </p:tgtEl>
                                        <p:attrNameLst>
                                          <p:attrName>ppt_y</p:attrName>
                                        </p:attrNameLst>
                                      </p:cBhvr>
                                      <p:tavLst>
                                        <p:tav tm="0">
                                          <p:val>
                                            <p:strVal val="#ppt_y"/>
                                          </p:val>
                                        </p:tav>
                                        <p:tav tm="100000">
                                          <p:val>
                                            <p:strVal val="#ppt_y"/>
                                          </p:val>
                                        </p:tav>
                                      </p:tavLst>
                                    </p:anim>
                                  </p:childTnLst>
                                </p:cTn>
                              </p:par>
                            </p:childTnLst>
                          </p:cTn>
                        </p:par>
                        <p:par>
                          <p:cTn id="30" fill="hold">
                            <p:stCondLst>
                              <p:cond delay="2300"/>
                            </p:stCondLst>
                            <p:childTnLst>
                              <p:par>
                                <p:cTn id="31" presetID="53" presetClass="entr" presetSubtype="52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Effect transition="in" filter="fade">
                                      <p:cBhvr>
                                        <p:cTn id="35" dur="500"/>
                                        <p:tgtEl>
                                          <p:spTgt spid="29"/>
                                        </p:tgtEl>
                                      </p:cBhvr>
                                    </p:animEffect>
                                    <p:anim calcmode="lin" valueType="num">
                                      <p:cBhvr>
                                        <p:cTn id="36" dur="500" fill="hold"/>
                                        <p:tgtEl>
                                          <p:spTgt spid="29"/>
                                        </p:tgtEl>
                                        <p:attrNameLst>
                                          <p:attrName>ppt_x</p:attrName>
                                        </p:attrNameLst>
                                      </p:cBhvr>
                                      <p:tavLst>
                                        <p:tav tm="0">
                                          <p:val>
                                            <p:fltVal val="0.5"/>
                                          </p:val>
                                        </p:tav>
                                        <p:tav tm="100000">
                                          <p:val>
                                            <p:strVal val="#ppt_x"/>
                                          </p:val>
                                        </p:tav>
                                      </p:tavLst>
                                    </p:anim>
                                    <p:anim calcmode="lin" valueType="num">
                                      <p:cBhvr>
                                        <p:cTn id="37" dur="500" fill="hold"/>
                                        <p:tgtEl>
                                          <p:spTgt spid="29"/>
                                        </p:tgtEl>
                                        <p:attrNameLst>
                                          <p:attrName>ppt_y</p:attrName>
                                        </p:attrNameLst>
                                      </p:cBhvr>
                                      <p:tavLst>
                                        <p:tav tm="0">
                                          <p:val>
                                            <p:fltVal val="0.5"/>
                                          </p:val>
                                        </p:tav>
                                        <p:tav tm="100000">
                                          <p:val>
                                            <p:strVal val="#ppt_y"/>
                                          </p:val>
                                        </p:tav>
                                      </p:tavLst>
                                    </p:anim>
                                  </p:childTnLst>
                                </p:cTn>
                              </p:par>
                            </p:childTnLst>
                          </p:cTn>
                        </p:par>
                        <p:par>
                          <p:cTn id="38" fill="hold">
                            <p:stCondLst>
                              <p:cond delay="2800"/>
                            </p:stCondLst>
                            <p:childTnLst>
                              <p:par>
                                <p:cTn id="39" presetID="53" presetClass="entr" presetSubtype="528" fill="hold" grpId="0" nodeType="afterEffect">
                                  <p:stCondLst>
                                    <p:cond delay="0"/>
                                  </p:stCondLst>
                                  <p:iterate type="lt">
                                    <p:tmPct val="10000"/>
                                  </p:iterate>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anim calcmode="lin" valueType="num">
                                      <p:cBhvr>
                                        <p:cTn id="44" dur="500" fill="hold"/>
                                        <p:tgtEl>
                                          <p:spTgt spid="30"/>
                                        </p:tgtEl>
                                        <p:attrNameLst>
                                          <p:attrName>ppt_x</p:attrName>
                                        </p:attrNameLst>
                                      </p:cBhvr>
                                      <p:tavLst>
                                        <p:tav tm="0">
                                          <p:val>
                                            <p:fltVal val="0.5"/>
                                          </p:val>
                                        </p:tav>
                                        <p:tav tm="100000">
                                          <p:val>
                                            <p:strVal val="#ppt_x"/>
                                          </p:val>
                                        </p:tav>
                                      </p:tavLst>
                                    </p:anim>
                                    <p:anim calcmode="lin" valueType="num">
                                      <p:cBhvr>
                                        <p:cTn id="45" dur="500" fill="hold"/>
                                        <p:tgtEl>
                                          <p:spTgt spid="30"/>
                                        </p:tgtEl>
                                        <p:attrNameLst>
                                          <p:attrName>ppt_y</p:attrName>
                                        </p:attrNameLst>
                                      </p:cBhvr>
                                      <p:tavLst>
                                        <p:tav tm="0">
                                          <p:val>
                                            <p:fltVal val="0.5"/>
                                          </p:val>
                                        </p:tav>
                                        <p:tav tm="100000">
                                          <p:val>
                                            <p:strVal val="#ppt_y"/>
                                          </p:val>
                                        </p:tav>
                                      </p:tavLst>
                                    </p:anim>
                                  </p:childTnLst>
                                </p:cTn>
                              </p:par>
                            </p:childTnLst>
                          </p:cTn>
                        </p:par>
                        <p:par>
                          <p:cTn id="46" fill="hold">
                            <p:stCondLst>
                              <p:cond delay="3600"/>
                            </p:stCondLst>
                            <p:childTnLst>
                              <p:par>
                                <p:cTn id="47" presetID="14" presetClass="entr" presetSubtype="10" fill="hold" grpId="0"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randombar(horizontal)">
                                      <p:cBhvr>
                                        <p:cTn id="4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32" grpId="0" animBg="1"/>
      <p:bldP spid="29" grpId="0"/>
      <p:bldP spid="30" grpId="0"/>
      <p:bldP spid="3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0"/>
          <p:cNvSpPr>
            <a:spLocks noChangeArrowheads="1"/>
          </p:cNvSpPr>
          <p:nvPr/>
        </p:nvSpPr>
        <p:spPr bwMode="auto">
          <a:xfrm>
            <a:off x="1666470" y="1353184"/>
            <a:ext cx="921063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defRPr/>
            </a:pPr>
            <a:r>
              <a:rPr lang="en-US" altLang="zh-CN" sz="3600" b="1" dirty="0">
                <a:effectLst>
                  <a:outerShdw blurRad="38100" dist="38100" dir="2700000" algn="tl">
                    <a:srgbClr val="FFFFFF"/>
                  </a:outerShdw>
                </a:effectLst>
                <a:latin typeface="方正姚体" pitchFamily="2" charset="-122"/>
                <a:ea typeface="方正姚体" pitchFamily="2" charset="-122"/>
              </a:rPr>
              <a:t>        </a:t>
            </a:r>
            <a:r>
              <a:rPr lang="zh-CN" altLang="en-US" sz="3600" b="1" dirty="0">
                <a:effectLst>
                  <a:outerShdw blurRad="38100" dist="38100" dir="2700000" algn="tl">
                    <a:srgbClr val="FFFFFF"/>
                  </a:outerShdw>
                </a:effectLst>
                <a:latin typeface="方正姚体" pitchFamily="2" charset="-122"/>
                <a:ea typeface="方正姚体" pitchFamily="2" charset="-122"/>
              </a:rPr>
              <a:t>根据实参传递给形参值的不同，通常有</a:t>
            </a:r>
            <a:r>
              <a:rPr lang="zh-CN" altLang="en-US" sz="3600" b="1" dirty="0">
                <a:solidFill>
                  <a:srgbClr val="FF33CC"/>
                </a:solidFill>
                <a:effectLst>
                  <a:outerShdw blurRad="38100" dist="38100" dir="2700000" algn="tl">
                    <a:srgbClr val="000000"/>
                  </a:outerShdw>
                </a:effectLst>
                <a:latin typeface="方正姚体" pitchFamily="2" charset="-122"/>
                <a:ea typeface="方正姚体" pitchFamily="2" charset="-122"/>
              </a:rPr>
              <a:t>值传递方式</a:t>
            </a:r>
            <a:r>
              <a:rPr lang="zh-CN" altLang="en-US" sz="3600" b="1" dirty="0">
                <a:effectLst>
                  <a:outerShdw blurRad="38100" dist="38100" dir="2700000" algn="tl">
                    <a:srgbClr val="FFFFFF"/>
                  </a:outerShdw>
                </a:effectLst>
                <a:latin typeface="方正姚体" pitchFamily="2" charset="-122"/>
                <a:ea typeface="方正姚体" pitchFamily="2" charset="-122"/>
              </a:rPr>
              <a:t>和</a:t>
            </a:r>
            <a:r>
              <a:rPr lang="zh-CN" altLang="en-US" sz="3600" b="1" dirty="0">
                <a:solidFill>
                  <a:srgbClr val="FF33CC"/>
                </a:solidFill>
                <a:effectLst>
                  <a:outerShdw blurRad="38100" dist="38100" dir="2700000" algn="tl">
                    <a:srgbClr val="000000"/>
                  </a:outerShdw>
                </a:effectLst>
                <a:latin typeface="方正姚体" pitchFamily="2" charset="-122"/>
                <a:ea typeface="方正姚体" pitchFamily="2" charset="-122"/>
              </a:rPr>
              <a:t>地址传递方式</a:t>
            </a:r>
            <a:r>
              <a:rPr lang="zh-CN" altLang="en-US" sz="3600" b="1" dirty="0">
                <a:effectLst>
                  <a:outerShdw blurRad="38100" dist="38100" dir="2700000" algn="tl">
                    <a:srgbClr val="FFFFFF"/>
                  </a:outerShdw>
                </a:effectLst>
                <a:latin typeface="方正姚体" pitchFamily="2" charset="-122"/>
                <a:ea typeface="方正姚体" pitchFamily="2" charset="-122"/>
              </a:rPr>
              <a:t>两种。</a:t>
            </a:r>
            <a:endParaRPr lang="en-US" altLang="zh-CN" sz="3600" b="1" dirty="0">
              <a:effectLst>
                <a:outerShdw blurRad="38100" dist="38100" dir="2700000" algn="tl">
                  <a:srgbClr val="FFFFFF"/>
                </a:outerShdw>
              </a:effectLst>
              <a:latin typeface="方正姚体" pitchFamily="2" charset="-122"/>
              <a:ea typeface="方正姚体" pitchFamily="2" charset="-122"/>
            </a:endParaRPr>
          </a:p>
        </p:txBody>
      </p:sp>
      <p:sp>
        <p:nvSpPr>
          <p:cNvPr id="6" name="矩形 5"/>
          <p:cNvSpPr/>
          <p:nvPr/>
        </p:nvSpPr>
        <p:spPr>
          <a:xfrm>
            <a:off x="1304445" y="3275199"/>
            <a:ext cx="9881005" cy="2585323"/>
          </a:xfrm>
          <a:prstGeom prst="rect">
            <a:avLst/>
          </a:prstGeom>
        </p:spPr>
        <p:txBody>
          <a:bodyPr wrap="square">
            <a:spAutoFit/>
          </a:bodyPr>
          <a:lstStyle/>
          <a:p>
            <a:pPr algn="l">
              <a:lnSpc>
                <a:spcPct val="150000"/>
              </a:lnSpc>
              <a:defRPr/>
            </a:pPr>
            <a:r>
              <a:rPr lang="zh-CN" altLang="en-US" sz="3600" b="1" dirty="0">
                <a:solidFill>
                  <a:srgbClr val="000000"/>
                </a:solidFill>
                <a:effectLst>
                  <a:outerShdw blurRad="38100" dist="38100" dir="2700000" algn="tl">
                    <a:srgbClr val="FFFFFF"/>
                  </a:outerShdw>
                </a:effectLst>
                <a:latin typeface="Times New Roman" pitchFamily="18" charset="0"/>
                <a:ea typeface="方正姚体" pitchFamily="2" charset="-122"/>
                <a:cs typeface="Times New Roman" pitchFamily="18" charset="0"/>
              </a:rPr>
              <a:t>引例</a:t>
            </a:r>
            <a:endParaRPr lang="en-US" altLang="zh-CN" sz="3600" b="1" dirty="0">
              <a:solidFill>
                <a:srgbClr val="000000"/>
              </a:solidFill>
              <a:effectLst>
                <a:outerShdw blurRad="38100" dist="38100" dir="2700000" algn="tl">
                  <a:srgbClr val="FFFFFF"/>
                </a:outerShdw>
              </a:effectLst>
              <a:latin typeface="Times New Roman" pitchFamily="18" charset="0"/>
              <a:ea typeface="方正姚体" pitchFamily="2" charset="-122"/>
              <a:cs typeface="Times New Roman" pitchFamily="18" charset="0"/>
            </a:endParaRPr>
          </a:p>
          <a:p>
            <a:pPr algn="l">
              <a:lnSpc>
                <a:spcPct val="150000"/>
              </a:lnSpc>
              <a:defRPr/>
            </a:pPr>
            <a:r>
              <a:rPr lang="zh-CN" altLang="en-US" sz="3600" b="1" dirty="0">
                <a:solidFill>
                  <a:srgbClr val="000000"/>
                </a:solidFill>
                <a:effectLst>
                  <a:outerShdw blurRad="38100" dist="38100" dir="2700000" algn="tl">
                    <a:srgbClr val="FFFFFF"/>
                  </a:outerShdw>
                </a:effectLst>
                <a:latin typeface="Times New Roman" pitchFamily="18" charset="0"/>
                <a:ea typeface="方正姚体" pitchFamily="2" charset="-122"/>
                <a:cs typeface="Times New Roman" pitchFamily="18" charset="0"/>
              </a:rPr>
              <a:t>        编写</a:t>
            </a:r>
            <a:r>
              <a:rPr lang="en-US" altLang="zh-CN" sz="3600" b="1" dirty="0">
                <a:solidFill>
                  <a:srgbClr val="000000"/>
                </a:solidFill>
                <a:effectLst>
                  <a:outerShdw blurRad="38100" dist="38100" dir="2700000" algn="tl">
                    <a:srgbClr val="FFFFFF"/>
                  </a:outerShdw>
                </a:effectLst>
                <a:latin typeface="Times New Roman" pitchFamily="18" charset="0"/>
                <a:ea typeface="方正姚体" pitchFamily="2" charset="-122"/>
                <a:cs typeface="Times New Roman" pitchFamily="18" charset="0"/>
              </a:rPr>
              <a:t>sum</a:t>
            </a:r>
            <a:r>
              <a:rPr lang="zh-CN" altLang="en-US" sz="3600" b="1" dirty="0">
                <a:solidFill>
                  <a:srgbClr val="000000"/>
                </a:solidFill>
                <a:effectLst>
                  <a:outerShdw blurRad="38100" dist="38100" dir="2700000" algn="tl">
                    <a:srgbClr val="FFFFFF"/>
                  </a:outerShdw>
                </a:effectLst>
                <a:latin typeface="Times New Roman" pitchFamily="18" charset="0"/>
                <a:ea typeface="方正姚体" pitchFamily="2" charset="-122"/>
                <a:cs typeface="Times New Roman" pitchFamily="18" charset="0"/>
              </a:rPr>
              <a:t>函数，完成两个数的加法操作。在</a:t>
            </a:r>
            <a:r>
              <a:rPr lang="en-US" altLang="zh-CN" sz="3600" b="1" dirty="0">
                <a:solidFill>
                  <a:srgbClr val="000000"/>
                </a:solidFill>
                <a:effectLst>
                  <a:outerShdw blurRad="38100" dist="38100" dir="2700000" algn="tl">
                    <a:srgbClr val="FFFFFF"/>
                  </a:outerShdw>
                </a:effectLst>
                <a:latin typeface="Times New Roman" pitchFamily="18" charset="0"/>
                <a:ea typeface="方正姚体" pitchFamily="2" charset="-122"/>
                <a:cs typeface="Times New Roman" pitchFamily="18" charset="0"/>
              </a:rPr>
              <a:t>main</a:t>
            </a:r>
            <a:r>
              <a:rPr lang="zh-CN" altLang="en-US" sz="3600" b="1" dirty="0">
                <a:solidFill>
                  <a:srgbClr val="000000"/>
                </a:solidFill>
                <a:effectLst>
                  <a:outerShdw blurRad="38100" dist="38100" dir="2700000" algn="tl">
                    <a:srgbClr val="FFFFFF"/>
                  </a:outerShdw>
                </a:effectLst>
                <a:latin typeface="Times New Roman" pitchFamily="18" charset="0"/>
                <a:ea typeface="方正姚体" pitchFamily="2" charset="-122"/>
                <a:cs typeface="Times New Roman" pitchFamily="18" charset="0"/>
              </a:rPr>
              <a:t>函数中调用</a:t>
            </a:r>
            <a:r>
              <a:rPr lang="en-US" altLang="zh-CN" sz="3600" b="1" dirty="0">
                <a:solidFill>
                  <a:srgbClr val="000000"/>
                </a:solidFill>
                <a:effectLst>
                  <a:outerShdw blurRad="38100" dist="38100" dir="2700000" algn="tl">
                    <a:srgbClr val="FFFFFF"/>
                  </a:outerShdw>
                </a:effectLst>
                <a:latin typeface="Times New Roman" pitchFamily="18" charset="0"/>
                <a:ea typeface="方正姚体" pitchFamily="2" charset="-122"/>
                <a:cs typeface="Times New Roman" pitchFamily="18" charset="0"/>
              </a:rPr>
              <a:t>sum</a:t>
            </a:r>
            <a:r>
              <a:rPr lang="zh-CN" altLang="en-US" sz="3600" b="1" dirty="0">
                <a:solidFill>
                  <a:srgbClr val="000000"/>
                </a:solidFill>
                <a:effectLst>
                  <a:outerShdw blurRad="38100" dist="38100" dir="2700000" algn="tl">
                    <a:srgbClr val="FFFFFF"/>
                  </a:outerShdw>
                </a:effectLst>
                <a:latin typeface="Times New Roman" pitchFamily="18" charset="0"/>
                <a:ea typeface="方正姚体" pitchFamily="2" charset="-122"/>
                <a:cs typeface="Times New Roman" pitchFamily="18" charset="0"/>
              </a:rPr>
              <a:t>函数实现问题的求解。</a:t>
            </a:r>
            <a:endParaRPr lang="zh-CN" altLang="en-US" sz="3600" dirty="0">
              <a:solidFill>
                <a:srgbClr val="000000"/>
              </a:solidFill>
              <a:latin typeface="Times New Roman" pitchFamily="18" charset="0"/>
              <a:ea typeface="方正姚体" pitchFamily="2" charset="-122"/>
              <a:cs typeface="Times New Roman" pitchFamily="18" charset="0"/>
            </a:endParaRPr>
          </a:p>
        </p:txBody>
      </p:sp>
      <p:grpSp>
        <p:nvGrpSpPr>
          <p:cNvPr id="4" name="组合 3">
            <a:extLst>
              <a:ext uri="{FF2B5EF4-FFF2-40B4-BE49-F238E27FC236}">
                <a16:creationId xmlns:a16="http://schemas.microsoft.com/office/drawing/2014/main" id="{D3EBC71C-0CD4-4C3C-B4C0-539F999C7B12}"/>
              </a:ext>
            </a:extLst>
          </p:cNvPr>
          <p:cNvGrpSpPr/>
          <p:nvPr/>
        </p:nvGrpSpPr>
        <p:grpSpPr>
          <a:xfrm>
            <a:off x="0" y="114299"/>
            <a:ext cx="12192000" cy="932769"/>
            <a:chOff x="0" y="114299"/>
            <a:chExt cx="12192000" cy="932769"/>
          </a:xfrm>
        </p:grpSpPr>
        <p:sp>
          <p:nvSpPr>
            <p:cNvPr id="5" name="矩形 4">
              <a:extLst>
                <a:ext uri="{FF2B5EF4-FFF2-40B4-BE49-F238E27FC236}">
                  <a16:creationId xmlns:a16="http://schemas.microsoft.com/office/drawing/2014/main" id="{82CBB17B-2287-47D5-BCC3-F5A38ED0F39B}"/>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9B92E4F-88B5-42B6-95E8-FE70E11D4611}"/>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CCB3550-D3F8-4DB6-B309-13FFD42CFE4F}"/>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B5889B3-B684-49BD-8533-C9407CB91ED1}"/>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449AB27C-0333-440F-8A05-02CE4FE5D200}"/>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11" name="Rectangle 2">
            <a:extLst>
              <a:ext uri="{FF2B5EF4-FFF2-40B4-BE49-F238E27FC236}">
                <a16:creationId xmlns:a16="http://schemas.microsoft.com/office/drawing/2014/main" id="{FB2EBD5E-222C-41E1-ACE5-3852802B5ACF}"/>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函数的参数传递</a:t>
            </a:r>
          </a:p>
        </p:txBody>
      </p:sp>
    </p:spTree>
    <p:extLst>
      <p:ext uri="{BB962C8B-B14F-4D97-AF65-F5344CB8AC3E}">
        <p14:creationId xmlns:p14="http://schemas.microsoft.com/office/powerpoint/2010/main" val="25244532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5" name="Text Box 29"/>
          <p:cNvSpPr txBox="1">
            <a:spLocks noChangeArrowheads="1"/>
          </p:cNvSpPr>
          <p:nvPr/>
        </p:nvSpPr>
        <p:spPr bwMode="auto">
          <a:xfrm>
            <a:off x="1703388" y="802174"/>
            <a:ext cx="6323012" cy="588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华文细黑" pitchFamily="2" charset="-122"/>
              </a:defRPr>
            </a:lvl1pPr>
            <a:lvl2pPr marL="742950" indent="-285750" eaLnBrk="0" hangingPunct="0">
              <a:defRPr>
                <a:solidFill>
                  <a:schemeClr val="tx1"/>
                </a:solidFill>
                <a:latin typeface="Arial" charset="0"/>
                <a:ea typeface="华文细黑" pitchFamily="2" charset="-122"/>
              </a:defRPr>
            </a:lvl2pPr>
            <a:lvl3pPr marL="1143000" indent="-228600" eaLnBrk="0" hangingPunct="0">
              <a:defRPr>
                <a:solidFill>
                  <a:schemeClr val="tx1"/>
                </a:solidFill>
                <a:latin typeface="Arial" charset="0"/>
                <a:ea typeface="华文细黑" pitchFamily="2" charset="-122"/>
              </a:defRPr>
            </a:lvl3pPr>
            <a:lvl4pPr marL="1600200" indent="-228600" eaLnBrk="0" hangingPunct="0">
              <a:defRPr>
                <a:solidFill>
                  <a:schemeClr val="tx1"/>
                </a:solidFill>
                <a:latin typeface="Arial" charset="0"/>
                <a:ea typeface="华文细黑" pitchFamily="2" charset="-122"/>
              </a:defRPr>
            </a:lvl4pPr>
            <a:lvl5pPr marL="2057400" indent="-228600" eaLnBrk="0" hangingPunct="0">
              <a:defRPr>
                <a:solidFill>
                  <a:schemeClr val="tx1"/>
                </a:solidFill>
                <a:latin typeface="Arial" charset="0"/>
                <a:ea typeface="华文细黑" pitchFamily="2" charset="-122"/>
              </a:defRPr>
            </a:lvl5pPr>
            <a:lvl6pPr marL="2514600" indent="-228600" algn="ctr" eaLnBrk="0" fontAlgn="base" hangingPunct="0">
              <a:spcBef>
                <a:spcPct val="0"/>
              </a:spcBef>
              <a:spcAft>
                <a:spcPct val="0"/>
              </a:spcAft>
              <a:defRPr>
                <a:solidFill>
                  <a:schemeClr val="tx1"/>
                </a:solidFill>
                <a:latin typeface="Arial" charset="0"/>
                <a:ea typeface="华文细黑" pitchFamily="2" charset="-122"/>
              </a:defRPr>
            </a:lvl6pPr>
            <a:lvl7pPr marL="2971800" indent="-228600" algn="ctr" eaLnBrk="0" fontAlgn="base" hangingPunct="0">
              <a:spcBef>
                <a:spcPct val="0"/>
              </a:spcBef>
              <a:spcAft>
                <a:spcPct val="0"/>
              </a:spcAft>
              <a:defRPr>
                <a:solidFill>
                  <a:schemeClr val="tx1"/>
                </a:solidFill>
                <a:latin typeface="Arial" charset="0"/>
                <a:ea typeface="华文细黑" pitchFamily="2" charset="-122"/>
              </a:defRPr>
            </a:lvl7pPr>
            <a:lvl8pPr marL="3429000" indent="-228600" algn="ctr" eaLnBrk="0" fontAlgn="base" hangingPunct="0">
              <a:spcBef>
                <a:spcPct val="0"/>
              </a:spcBef>
              <a:spcAft>
                <a:spcPct val="0"/>
              </a:spcAft>
              <a:defRPr>
                <a:solidFill>
                  <a:schemeClr val="tx1"/>
                </a:solidFill>
                <a:latin typeface="Arial" charset="0"/>
                <a:ea typeface="华文细黑" pitchFamily="2" charset="-122"/>
              </a:defRPr>
            </a:lvl8pPr>
            <a:lvl9pPr marL="3886200" indent="-228600" algn="ctr" eaLnBrk="0" fontAlgn="base" hangingPunct="0">
              <a:spcBef>
                <a:spcPct val="0"/>
              </a:spcBef>
              <a:spcAft>
                <a:spcPct val="0"/>
              </a:spcAft>
              <a:defRPr>
                <a:solidFill>
                  <a:schemeClr val="tx1"/>
                </a:solidFill>
                <a:latin typeface="Arial" charset="0"/>
                <a:ea typeface="华文细黑" pitchFamily="2" charset="-122"/>
              </a:defRPr>
            </a:lvl9pPr>
          </a:lstStyle>
          <a:p>
            <a:pPr algn="l" eaLnBrk="1" hangingPunct="1">
              <a:lnSpc>
                <a:spcPct val="125000"/>
              </a:lnSpc>
            </a:pPr>
            <a:r>
              <a:rPr lang="en-US" altLang="zh-CN" sz="3600" b="1">
                <a:solidFill>
                  <a:srgbClr val="000000"/>
                </a:solidFill>
                <a:latin typeface="Times New Roman" pitchFamily="18" charset="0"/>
                <a:ea typeface="楷体_GB2312" pitchFamily="49" charset="-122"/>
                <a:cs typeface="Times New Roman" pitchFamily="18" charset="0"/>
              </a:rPr>
              <a:t>float sum(float a,float b)</a:t>
            </a:r>
          </a:p>
          <a:p>
            <a:pPr algn="l" eaLnBrk="1" hangingPunct="1">
              <a:lnSpc>
                <a:spcPct val="125000"/>
              </a:lnSpc>
            </a:pPr>
            <a:r>
              <a:rPr lang="en-US" altLang="zh-CN" sz="3600" b="1">
                <a:solidFill>
                  <a:srgbClr val="000000"/>
                </a:solidFill>
                <a:latin typeface="Times New Roman" pitchFamily="18" charset="0"/>
                <a:ea typeface="楷体_GB2312" pitchFamily="49" charset="-122"/>
                <a:cs typeface="Times New Roman" pitchFamily="18" charset="0"/>
              </a:rPr>
              <a:t>   {  float z</a:t>
            </a:r>
            <a:r>
              <a:rPr lang="zh-CN" altLang="en-US" sz="3600" b="1">
                <a:solidFill>
                  <a:srgbClr val="000000"/>
                </a:solidFill>
                <a:latin typeface="Times New Roman" pitchFamily="18" charset="0"/>
                <a:ea typeface="楷体_GB2312" pitchFamily="49" charset="-122"/>
                <a:cs typeface="Times New Roman" pitchFamily="18" charset="0"/>
              </a:rPr>
              <a:t>；</a:t>
            </a:r>
            <a:endParaRPr lang="en-US" altLang="zh-CN" sz="3600" b="1">
              <a:solidFill>
                <a:srgbClr val="000000"/>
              </a:solidFill>
              <a:latin typeface="Times New Roman" pitchFamily="18" charset="0"/>
              <a:ea typeface="楷体_GB2312" pitchFamily="49" charset="-122"/>
              <a:cs typeface="Times New Roman" pitchFamily="18" charset="0"/>
            </a:endParaRPr>
          </a:p>
          <a:p>
            <a:pPr algn="l" eaLnBrk="1" hangingPunct="1">
              <a:lnSpc>
                <a:spcPct val="125000"/>
              </a:lnSpc>
            </a:pPr>
            <a:r>
              <a:rPr lang="en-US" altLang="zh-CN" sz="3600" b="1">
                <a:solidFill>
                  <a:srgbClr val="000000"/>
                </a:solidFill>
                <a:latin typeface="Times New Roman" pitchFamily="18" charset="0"/>
                <a:ea typeface="楷体_GB2312" pitchFamily="49" charset="-122"/>
                <a:cs typeface="Times New Roman" pitchFamily="18" charset="0"/>
              </a:rPr>
              <a:t>       z=a+b;</a:t>
            </a:r>
          </a:p>
          <a:p>
            <a:pPr algn="l" eaLnBrk="1" hangingPunct="1">
              <a:lnSpc>
                <a:spcPct val="125000"/>
              </a:lnSpc>
            </a:pPr>
            <a:r>
              <a:rPr lang="en-US" altLang="zh-CN" sz="3600" b="1">
                <a:solidFill>
                  <a:srgbClr val="000000"/>
                </a:solidFill>
                <a:latin typeface="Times New Roman" pitchFamily="18" charset="0"/>
                <a:ea typeface="楷体_GB2312" pitchFamily="49" charset="-122"/>
                <a:cs typeface="Times New Roman" pitchFamily="18" charset="0"/>
              </a:rPr>
              <a:t>       return z;   }</a:t>
            </a:r>
          </a:p>
          <a:p>
            <a:pPr algn="l" eaLnBrk="1" hangingPunct="1">
              <a:lnSpc>
                <a:spcPct val="125000"/>
              </a:lnSpc>
            </a:pPr>
            <a:r>
              <a:rPr lang="en-US" altLang="zh-CN" sz="3600" b="1">
                <a:solidFill>
                  <a:srgbClr val="000000"/>
                </a:solidFill>
                <a:latin typeface="Times New Roman" pitchFamily="18" charset="0"/>
                <a:ea typeface="楷体_GB2312" pitchFamily="49" charset="-122"/>
                <a:cs typeface="Times New Roman" pitchFamily="18" charset="0"/>
              </a:rPr>
              <a:t>void  main( )</a:t>
            </a:r>
          </a:p>
          <a:p>
            <a:pPr algn="l" eaLnBrk="1" hangingPunct="1">
              <a:lnSpc>
                <a:spcPct val="125000"/>
              </a:lnSpc>
              <a:spcBef>
                <a:spcPct val="15000"/>
              </a:spcBef>
            </a:pPr>
            <a:r>
              <a:rPr lang="en-US" altLang="zh-CN" sz="3600" b="1">
                <a:solidFill>
                  <a:srgbClr val="000000"/>
                </a:solidFill>
                <a:latin typeface="Times New Roman" pitchFamily="18" charset="0"/>
                <a:ea typeface="楷体_GB2312" pitchFamily="49" charset="-122"/>
                <a:cs typeface="Times New Roman" pitchFamily="18" charset="0"/>
              </a:rPr>
              <a:t>   {   float x=3.5,y=5.2;                 </a:t>
            </a:r>
          </a:p>
          <a:p>
            <a:pPr algn="l" eaLnBrk="1" hangingPunct="1">
              <a:lnSpc>
                <a:spcPct val="125000"/>
              </a:lnSpc>
              <a:spcBef>
                <a:spcPct val="15000"/>
              </a:spcBef>
            </a:pPr>
            <a:r>
              <a:rPr lang="en-US" altLang="zh-CN" sz="3600" b="1">
                <a:solidFill>
                  <a:srgbClr val="000000"/>
                </a:solidFill>
                <a:latin typeface="Times New Roman" pitchFamily="18" charset="0"/>
                <a:ea typeface="楷体_GB2312" pitchFamily="49" charset="-122"/>
                <a:cs typeface="Times New Roman" pitchFamily="18" charset="0"/>
              </a:rPr>
              <a:t>       printf(“%f\n”,</a:t>
            </a:r>
            <a:r>
              <a:rPr lang="en-US" altLang="zh-CN" sz="3600" b="1" u="sng">
                <a:solidFill>
                  <a:srgbClr val="FF0000"/>
                </a:solidFill>
                <a:latin typeface="Times New Roman" pitchFamily="18" charset="0"/>
                <a:ea typeface="楷体_GB2312" pitchFamily="49" charset="-122"/>
                <a:cs typeface="Times New Roman" pitchFamily="18" charset="0"/>
              </a:rPr>
              <a:t>sum(x,y)</a:t>
            </a:r>
            <a:r>
              <a:rPr lang="en-US" altLang="zh-CN" sz="3600" b="1">
                <a:solidFill>
                  <a:srgbClr val="000000"/>
                </a:solidFill>
                <a:latin typeface="Times New Roman" pitchFamily="18" charset="0"/>
                <a:ea typeface="楷体_GB2312" pitchFamily="49" charset="-122"/>
                <a:cs typeface="Times New Roman" pitchFamily="18" charset="0"/>
              </a:rPr>
              <a:t>); </a:t>
            </a:r>
            <a:r>
              <a:rPr lang="en-US" altLang="zh-CN" sz="3600" b="1">
                <a:solidFill>
                  <a:srgbClr val="000000"/>
                </a:solidFill>
                <a:latin typeface="Times New Roman" pitchFamily="18" charset="0"/>
                <a:ea typeface="黑体" pitchFamily="49" charset="-122"/>
                <a:cs typeface="Times New Roman" pitchFamily="18" charset="0"/>
              </a:rPr>
              <a:t>   </a:t>
            </a:r>
          </a:p>
          <a:p>
            <a:pPr algn="l" eaLnBrk="1" hangingPunct="1">
              <a:lnSpc>
                <a:spcPct val="125000"/>
              </a:lnSpc>
              <a:spcBef>
                <a:spcPct val="15000"/>
              </a:spcBef>
            </a:pPr>
            <a:r>
              <a:rPr lang="en-US" altLang="zh-CN" sz="3600" b="1">
                <a:solidFill>
                  <a:srgbClr val="000000"/>
                </a:solidFill>
                <a:latin typeface="Times New Roman" pitchFamily="18" charset="0"/>
                <a:ea typeface="黑体" pitchFamily="49" charset="-122"/>
                <a:cs typeface="Times New Roman" pitchFamily="18" charset="0"/>
              </a:rPr>
              <a:t>    </a:t>
            </a:r>
            <a:r>
              <a:rPr lang="en-US" altLang="zh-CN" sz="3600" b="1">
                <a:solidFill>
                  <a:srgbClr val="000000"/>
                </a:solidFill>
                <a:latin typeface="Times New Roman" pitchFamily="18" charset="0"/>
                <a:ea typeface="楷体_GB2312" pitchFamily="49" charset="-122"/>
                <a:cs typeface="Times New Roman" pitchFamily="18" charset="0"/>
              </a:rPr>
              <a:t>}    </a:t>
            </a:r>
          </a:p>
        </p:txBody>
      </p:sp>
      <p:sp>
        <p:nvSpPr>
          <p:cNvPr id="54" name="AutoShape 26"/>
          <p:cNvSpPr>
            <a:spLocks noChangeArrowheads="1"/>
          </p:cNvSpPr>
          <p:nvPr/>
        </p:nvSpPr>
        <p:spPr bwMode="auto">
          <a:xfrm>
            <a:off x="4865688" y="2003912"/>
            <a:ext cx="2171700" cy="647700"/>
          </a:xfrm>
          <a:prstGeom prst="wedgeRoundRectCallout">
            <a:avLst>
              <a:gd name="adj1" fmla="val -55324"/>
              <a:gd name="adj2" fmla="val -126505"/>
              <a:gd name="adj3" fmla="val 16667"/>
            </a:avLst>
          </a:prstGeom>
          <a:solidFill>
            <a:srgbClr val="FFFF99"/>
          </a:solidFill>
          <a:ln w="38100">
            <a:solidFill>
              <a:srgbClr val="FF0066"/>
            </a:solidFill>
            <a:miter lim="800000"/>
            <a:headEnd/>
            <a:tailEnd/>
          </a:ln>
        </p:spPr>
        <p:txBody>
          <a:bodyPr anchor="ctr"/>
          <a:lstStyle/>
          <a:p>
            <a:r>
              <a:rPr lang="zh-CN" altLang="en-US" sz="3200" b="1">
                <a:latin typeface="Times New Roman" pitchFamily="18" charset="0"/>
                <a:ea typeface="方正姚体" pitchFamily="2" charset="-122"/>
                <a:cs typeface="Times New Roman" pitchFamily="18" charset="0"/>
              </a:rPr>
              <a:t>形式参数</a:t>
            </a:r>
          </a:p>
        </p:txBody>
      </p:sp>
      <p:sp>
        <p:nvSpPr>
          <p:cNvPr id="55" name="AutoShape 27"/>
          <p:cNvSpPr>
            <a:spLocks noChangeArrowheads="1"/>
          </p:cNvSpPr>
          <p:nvPr/>
        </p:nvSpPr>
        <p:spPr bwMode="auto">
          <a:xfrm>
            <a:off x="7758741" y="3895253"/>
            <a:ext cx="2087563" cy="720725"/>
          </a:xfrm>
          <a:prstGeom prst="wedgeRoundRectCallout">
            <a:avLst>
              <a:gd name="adj1" fmla="val -108007"/>
              <a:gd name="adj2" fmla="val 134788"/>
              <a:gd name="adj3" fmla="val 16667"/>
            </a:avLst>
          </a:prstGeom>
          <a:solidFill>
            <a:srgbClr val="FFFF99"/>
          </a:solidFill>
          <a:ln w="38100">
            <a:solidFill>
              <a:srgbClr val="FF0066"/>
            </a:solidFill>
            <a:miter lim="800000"/>
            <a:headEnd/>
            <a:tailEnd/>
          </a:ln>
        </p:spPr>
        <p:txBody>
          <a:bodyPr anchor="ctr"/>
          <a:lstStyle/>
          <a:p>
            <a:r>
              <a:rPr lang="zh-CN" altLang="en-US" sz="3200" b="1">
                <a:latin typeface="方正姚体" pitchFamily="2" charset="-122"/>
                <a:ea typeface="方正姚体" pitchFamily="2" charset="-122"/>
              </a:rPr>
              <a:t>实际参数</a:t>
            </a:r>
          </a:p>
        </p:txBody>
      </p:sp>
      <p:grpSp>
        <p:nvGrpSpPr>
          <p:cNvPr id="5" name="组合 4">
            <a:extLst>
              <a:ext uri="{FF2B5EF4-FFF2-40B4-BE49-F238E27FC236}">
                <a16:creationId xmlns:a16="http://schemas.microsoft.com/office/drawing/2014/main" id="{0E73CD39-D9F0-43EF-B758-693C5B65B82F}"/>
              </a:ext>
            </a:extLst>
          </p:cNvPr>
          <p:cNvGrpSpPr/>
          <p:nvPr/>
        </p:nvGrpSpPr>
        <p:grpSpPr>
          <a:xfrm>
            <a:off x="0" y="114299"/>
            <a:ext cx="12192000" cy="932769"/>
            <a:chOff x="0" y="114299"/>
            <a:chExt cx="12192000" cy="932769"/>
          </a:xfrm>
        </p:grpSpPr>
        <p:sp>
          <p:nvSpPr>
            <p:cNvPr id="6" name="矩形 5">
              <a:extLst>
                <a:ext uri="{FF2B5EF4-FFF2-40B4-BE49-F238E27FC236}">
                  <a16:creationId xmlns:a16="http://schemas.microsoft.com/office/drawing/2014/main" id="{1C6851B6-F952-40F4-A301-0298E7605A00}"/>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068B84D1-A904-41C0-BA79-F21E8E6F4B4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FE78AD32-3F0A-4BF7-BF5C-71B83B2E9180}"/>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73B9603-19EB-4E74-BE10-ADBE5AFD65D3}"/>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4489CAD5-D7D8-42A3-B647-17B278D834DB}"/>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11" name="Rectangle 2">
            <a:extLst>
              <a:ext uri="{FF2B5EF4-FFF2-40B4-BE49-F238E27FC236}">
                <a16:creationId xmlns:a16="http://schemas.microsoft.com/office/drawing/2014/main" id="{7A457FAA-10CA-4F5D-B922-32D3E9D8F2C5}"/>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函数的参数传递</a:t>
            </a:r>
          </a:p>
        </p:txBody>
      </p:sp>
    </p:spTree>
    <p:extLst>
      <p:ext uri="{BB962C8B-B14F-4D97-AF65-F5344CB8AC3E}">
        <p14:creationId xmlns:p14="http://schemas.microsoft.com/office/powerpoint/2010/main" val="5307597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linds(horizontal)">
                                      <p:cBhvr>
                                        <p:cTn id="11" dur="500"/>
                                        <p:tgtEl>
                                          <p:spTgt spid="5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9225">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9225">
                                            <p:txEl>
                                              <p:pRg st="2" end="2"/>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9225">
                                            <p:txEl>
                                              <p:pRg st="3" end="3"/>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9225">
                                            <p:txEl>
                                              <p:pRg st="4" end="4"/>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9225">
                                            <p:txEl>
                                              <p:pRg st="5" end="5"/>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9225">
                                            <p:txEl>
                                              <p:pRg st="6" end="6"/>
                                            </p:txEl>
                                          </p:spTgt>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9225">
                                            <p:txEl>
                                              <p:pRg st="7" end="7"/>
                                            </p:txEl>
                                          </p:spTgt>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blinds(horizontal)">
                                      <p:cBhvr>
                                        <p:cTn id="4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组合 83">
            <a:extLst>
              <a:ext uri="{FF2B5EF4-FFF2-40B4-BE49-F238E27FC236}">
                <a16:creationId xmlns:a16="http://schemas.microsoft.com/office/drawing/2014/main" id="{9BCD61B4-C18F-402D-9E63-F61EDAACB756}"/>
              </a:ext>
            </a:extLst>
          </p:cNvPr>
          <p:cNvGrpSpPr/>
          <p:nvPr/>
        </p:nvGrpSpPr>
        <p:grpSpPr>
          <a:xfrm>
            <a:off x="0" y="114299"/>
            <a:ext cx="12192000" cy="932769"/>
            <a:chOff x="0" y="114299"/>
            <a:chExt cx="12192000" cy="932769"/>
          </a:xfrm>
        </p:grpSpPr>
        <p:sp>
          <p:nvSpPr>
            <p:cNvPr id="85" name="矩形 84">
              <a:extLst>
                <a:ext uri="{FF2B5EF4-FFF2-40B4-BE49-F238E27FC236}">
                  <a16:creationId xmlns:a16="http://schemas.microsoft.com/office/drawing/2014/main" id="{D9792877-EBB6-48D4-AE1C-E4BE830AAF84}"/>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a:extLst>
                <a:ext uri="{FF2B5EF4-FFF2-40B4-BE49-F238E27FC236}">
                  <a16:creationId xmlns:a16="http://schemas.microsoft.com/office/drawing/2014/main" id="{84774E51-8681-46A4-938D-A3404943A308}"/>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a:extLst>
                <a:ext uri="{FF2B5EF4-FFF2-40B4-BE49-F238E27FC236}">
                  <a16:creationId xmlns:a16="http://schemas.microsoft.com/office/drawing/2014/main" id="{FEC80019-B496-4610-924B-DDA7744E92F6}"/>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a:extLst>
                <a:ext uri="{FF2B5EF4-FFF2-40B4-BE49-F238E27FC236}">
                  <a16:creationId xmlns:a16="http://schemas.microsoft.com/office/drawing/2014/main" id="{8C2F7E45-9A86-4ADB-A838-E7680CBE5DDB}"/>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9" name="图片 88">
              <a:extLst>
                <a:ext uri="{FF2B5EF4-FFF2-40B4-BE49-F238E27FC236}">
                  <a16:creationId xmlns:a16="http://schemas.microsoft.com/office/drawing/2014/main" id="{4874102C-8C13-4C45-BB03-6BA04A17905C}"/>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90" name="Rectangle 2">
            <a:extLst>
              <a:ext uri="{FF2B5EF4-FFF2-40B4-BE49-F238E27FC236}">
                <a16:creationId xmlns:a16="http://schemas.microsoft.com/office/drawing/2014/main" id="{5B078C28-857D-4655-966E-54D4710EF102}"/>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7.4.1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值传递</a:t>
            </a:r>
          </a:p>
        </p:txBody>
      </p:sp>
      <p:grpSp>
        <p:nvGrpSpPr>
          <p:cNvPr id="3" name="Group 113"/>
          <p:cNvGrpSpPr>
            <a:grpSpLocks/>
          </p:cNvGrpSpPr>
          <p:nvPr/>
        </p:nvGrpSpPr>
        <p:grpSpPr bwMode="auto">
          <a:xfrm>
            <a:off x="8837687" y="1347789"/>
            <a:ext cx="2736850" cy="1793875"/>
            <a:chOff x="3923" y="939"/>
            <a:chExt cx="1724" cy="1130"/>
          </a:xfrm>
        </p:grpSpPr>
        <p:sp>
          <p:nvSpPr>
            <p:cNvPr id="10287" name="Rectangle 70"/>
            <p:cNvSpPr>
              <a:spLocks noChangeArrowheads="1"/>
            </p:cNvSpPr>
            <p:nvPr/>
          </p:nvSpPr>
          <p:spPr bwMode="auto">
            <a:xfrm>
              <a:off x="3923" y="981"/>
              <a:ext cx="1724" cy="1088"/>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88" name="Group 71"/>
            <p:cNvGrpSpPr>
              <a:grpSpLocks/>
            </p:cNvGrpSpPr>
            <p:nvPr/>
          </p:nvGrpSpPr>
          <p:grpSpPr bwMode="auto">
            <a:xfrm>
              <a:off x="3969" y="1161"/>
              <a:ext cx="590" cy="317"/>
              <a:chOff x="2460" y="12426"/>
              <a:chExt cx="930" cy="492"/>
            </a:xfrm>
          </p:grpSpPr>
          <p:sp>
            <p:nvSpPr>
              <p:cNvPr id="10" name="Text Box 72"/>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3.5</a:t>
                </a:r>
              </a:p>
            </p:txBody>
          </p:sp>
          <p:sp>
            <p:nvSpPr>
              <p:cNvPr id="11" name="Text Box 73"/>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0289" name="Group 74"/>
            <p:cNvGrpSpPr>
              <a:grpSpLocks/>
            </p:cNvGrpSpPr>
            <p:nvPr/>
          </p:nvGrpSpPr>
          <p:grpSpPr bwMode="auto">
            <a:xfrm>
              <a:off x="4876" y="1161"/>
              <a:ext cx="613" cy="303"/>
              <a:chOff x="3780" y="12447"/>
              <a:chExt cx="960" cy="477"/>
            </a:xfrm>
          </p:grpSpPr>
          <p:sp>
            <p:nvSpPr>
              <p:cNvPr id="8" name="Text Box 75"/>
              <p:cNvSpPr txBox="1">
                <a:spLocks noChangeArrowheads="1"/>
              </p:cNvSpPr>
              <p:nvPr/>
            </p:nvSpPr>
            <p:spPr bwMode="auto">
              <a:xfrm>
                <a:off x="4200" y="12447"/>
                <a:ext cx="540" cy="468"/>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5.2</a:t>
                </a:r>
              </a:p>
            </p:txBody>
          </p:sp>
          <p:sp>
            <p:nvSpPr>
              <p:cNvPr id="9" name="Text Box 76"/>
              <p:cNvSpPr txBox="1">
                <a:spLocks noChangeArrowheads="1"/>
              </p:cNvSpPr>
              <p:nvPr/>
            </p:nvSpPr>
            <p:spPr bwMode="auto">
              <a:xfrm>
                <a:off x="3780" y="124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sp>
          <p:nvSpPr>
            <p:cNvPr id="10290" name="Text Box 85"/>
            <p:cNvSpPr txBox="1">
              <a:spLocks noChangeArrowheads="1"/>
            </p:cNvSpPr>
            <p:nvPr/>
          </p:nvSpPr>
          <p:spPr bwMode="auto">
            <a:xfrm>
              <a:off x="4360" y="939"/>
              <a:ext cx="87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华文细黑" pitchFamily="2" charset="-122"/>
                </a:defRPr>
              </a:lvl1pPr>
              <a:lvl2pPr marL="742950" indent="-285750" eaLnBrk="0" hangingPunct="0">
                <a:defRPr>
                  <a:solidFill>
                    <a:schemeClr val="tx1"/>
                  </a:solidFill>
                  <a:latin typeface="Arial" charset="0"/>
                  <a:ea typeface="华文细黑" pitchFamily="2" charset="-122"/>
                </a:defRPr>
              </a:lvl2pPr>
              <a:lvl3pPr marL="1143000" indent="-228600" eaLnBrk="0" hangingPunct="0">
                <a:defRPr>
                  <a:solidFill>
                    <a:schemeClr val="tx1"/>
                  </a:solidFill>
                  <a:latin typeface="Arial" charset="0"/>
                  <a:ea typeface="华文细黑" pitchFamily="2" charset="-122"/>
                </a:defRPr>
              </a:lvl3pPr>
              <a:lvl4pPr marL="1600200" indent="-228600" eaLnBrk="0" hangingPunct="0">
                <a:defRPr>
                  <a:solidFill>
                    <a:schemeClr val="tx1"/>
                  </a:solidFill>
                  <a:latin typeface="Arial" charset="0"/>
                  <a:ea typeface="华文细黑" pitchFamily="2" charset="-122"/>
                </a:defRPr>
              </a:lvl4pPr>
              <a:lvl5pPr marL="2057400" indent="-228600" eaLnBrk="0" hangingPunct="0">
                <a:defRPr>
                  <a:solidFill>
                    <a:schemeClr val="tx1"/>
                  </a:solidFill>
                  <a:latin typeface="Arial" charset="0"/>
                  <a:ea typeface="华文细黑" pitchFamily="2" charset="-122"/>
                </a:defRPr>
              </a:lvl5pPr>
              <a:lvl6pPr marL="2514600" indent="-228600" algn="ctr" eaLnBrk="0" fontAlgn="base" hangingPunct="0">
                <a:spcBef>
                  <a:spcPct val="0"/>
                </a:spcBef>
                <a:spcAft>
                  <a:spcPct val="0"/>
                </a:spcAft>
                <a:defRPr>
                  <a:solidFill>
                    <a:schemeClr val="tx1"/>
                  </a:solidFill>
                  <a:latin typeface="Arial" charset="0"/>
                  <a:ea typeface="华文细黑" pitchFamily="2" charset="-122"/>
                </a:defRPr>
              </a:lvl6pPr>
              <a:lvl7pPr marL="2971800" indent="-228600" algn="ctr" eaLnBrk="0" fontAlgn="base" hangingPunct="0">
                <a:spcBef>
                  <a:spcPct val="0"/>
                </a:spcBef>
                <a:spcAft>
                  <a:spcPct val="0"/>
                </a:spcAft>
                <a:defRPr>
                  <a:solidFill>
                    <a:schemeClr val="tx1"/>
                  </a:solidFill>
                  <a:latin typeface="Arial" charset="0"/>
                  <a:ea typeface="华文细黑" pitchFamily="2" charset="-122"/>
                </a:defRPr>
              </a:lvl7pPr>
              <a:lvl8pPr marL="3429000" indent="-228600" algn="ctr" eaLnBrk="0" fontAlgn="base" hangingPunct="0">
                <a:spcBef>
                  <a:spcPct val="0"/>
                </a:spcBef>
                <a:spcAft>
                  <a:spcPct val="0"/>
                </a:spcAft>
                <a:defRPr>
                  <a:solidFill>
                    <a:schemeClr val="tx1"/>
                  </a:solidFill>
                  <a:latin typeface="Arial" charset="0"/>
                  <a:ea typeface="华文细黑" pitchFamily="2" charset="-122"/>
                </a:defRPr>
              </a:lvl8pPr>
              <a:lvl9pPr marL="3886200" indent="-228600" algn="ctr" eaLnBrk="0" fontAlgn="base" hangingPunct="0">
                <a:spcBef>
                  <a:spcPct val="0"/>
                </a:spcBef>
                <a:spcAft>
                  <a:spcPct val="0"/>
                </a:spcAft>
                <a:defRPr>
                  <a:solidFill>
                    <a:schemeClr val="tx1"/>
                  </a:solidFill>
                  <a:latin typeface="Arial" charset="0"/>
                  <a:ea typeface="华文细黑" pitchFamily="2" charset="-122"/>
                </a:defRPr>
              </a:lvl9pPr>
            </a:lstStyle>
            <a:p>
              <a:pPr algn="just" eaLnBrk="1" hangingPunct="1"/>
              <a:r>
                <a:rPr lang="en-US" altLang="en-US" sz="2000" b="1">
                  <a:latin typeface="方正姚体" pitchFamily="2" charset="-122"/>
                  <a:ea typeface="方正姚体" pitchFamily="2" charset="-122"/>
                </a:rPr>
                <a:t>②</a:t>
              </a:r>
              <a:r>
                <a:rPr lang="en-US" altLang="zh-CN" sz="2000" b="1">
                  <a:latin typeface="方正姚体" pitchFamily="2" charset="-122"/>
                  <a:ea typeface="方正姚体" pitchFamily="2" charset="-122"/>
                </a:rPr>
                <a:t> </a:t>
              </a:r>
              <a:r>
                <a:rPr lang="zh-CN" altLang="en-US" sz="2000" b="1">
                  <a:latin typeface="方正姚体" pitchFamily="2" charset="-122"/>
                  <a:ea typeface="方正姚体" pitchFamily="2" charset="-122"/>
                </a:rPr>
                <a:t>调用</a:t>
              </a:r>
            </a:p>
          </p:txBody>
        </p:sp>
      </p:grpSp>
      <p:grpSp>
        <p:nvGrpSpPr>
          <p:cNvPr id="12" name="Group 112"/>
          <p:cNvGrpSpPr>
            <a:grpSpLocks/>
          </p:cNvGrpSpPr>
          <p:nvPr/>
        </p:nvGrpSpPr>
        <p:grpSpPr bwMode="auto">
          <a:xfrm>
            <a:off x="8837687" y="174625"/>
            <a:ext cx="2736850" cy="1093788"/>
            <a:chOff x="3923" y="110"/>
            <a:chExt cx="1724" cy="689"/>
          </a:xfrm>
        </p:grpSpPr>
        <p:sp>
          <p:nvSpPr>
            <p:cNvPr id="10279" name="Rectangle 69"/>
            <p:cNvSpPr>
              <a:spLocks noChangeArrowheads="1"/>
            </p:cNvSpPr>
            <p:nvPr/>
          </p:nvSpPr>
          <p:spPr bwMode="auto">
            <a:xfrm>
              <a:off x="3923" y="119"/>
              <a:ext cx="1724" cy="68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80" name="Group 18"/>
            <p:cNvGrpSpPr>
              <a:grpSpLocks/>
            </p:cNvGrpSpPr>
            <p:nvPr/>
          </p:nvGrpSpPr>
          <p:grpSpPr bwMode="auto">
            <a:xfrm>
              <a:off x="3969" y="373"/>
              <a:ext cx="590" cy="317"/>
              <a:chOff x="2460" y="12426"/>
              <a:chExt cx="930" cy="492"/>
            </a:xfrm>
          </p:grpSpPr>
          <p:sp>
            <p:nvSpPr>
              <p:cNvPr id="19" name="Text Box 19"/>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3.5</a:t>
                </a:r>
              </a:p>
            </p:txBody>
          </p:sp>
          <p:sp>
            <p:nvSpPr>
              <p:cNvPr id="20" name="Text Box 20"/>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0281" name="Group 21"/>
            <p:cNvGrpSpPr>
              <a:grpSpLocks/>
            </p:cNvGrpSpPr>
            <p:nvPr/>
          </p:nvGrpSpPr>
          <p:grpSpPr bwMode="auto">
            <a:xfrm>
              <a:off x="4851" y="360"/>
              <a:ext cx="613" cy="303"/>
              <a:chOff x="3780" y="12447"/>
              <a:chExt cx="960" cy="477"/>
            </a:xfrm>
          </p:grpSpPr>
          <p:sp>
            <p:nvSpPr>
              <p:cNvPr id="17" name="Text Box 22"/>
              <p:cNvSpPr txBox="1">
                <a:spLocks noChangeArrowheads="1"/>
              </p:cNvSpPr>
              <p:nvPr/>
            </p:nvSpPr>
            <p:spPr bwMode="auto">
              <a:xfrm>
                <a:off x="4200" y="12447"/>
                <a:ext cx="540" cy="468"/>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5.2</a:t>
                </a:r>
              </a:p>
            </p:txBody>
          </p:sp>
          <p:sp>
            <p:nvSpPr>
              <p:cNvPr id="18" name="Text Box 23"/>
              <p:cNvSpPr txBox="1">
                <a:spLocks noChangeArrowheads="1"/>
              </p:cNvSpPr>
              <p:nvPr/>
            </p:nvSpPr>
            <p:spPr bwMode="auto">
              <a:xfrm>
                <a:off x="3780" y="124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sp>
          <p:nvSpPr>
            <p:cNvPr id="10282" name="Text Box 24"/>
            <p:cNvSpPr txBox="1">
              <a:spLocks noChangeArrowheads="1"/>
            </p:cNvSpPr>
            <p:nvPr/>
          </p:nvSpPr>
          <p:spPr bwMode="auto">
            <a:xfrm>
              <a:off x="4360" y="110"/>
              <a:ext cx="87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华文细黑" pitchFamily="2" charset="-122"/>
                </a:defRPr>
              </a:lvl1pPr>
              <a:lvl2pPr marL="742950" indent="-285750" eaLnBrk="0" hangingPunct="0">
                <a:defRPr>
                  <a:solidFill>
                    <a:schemeClr val="tx1"/>
                  </a:solidFill>
                  <a:latin typeface="Arial" charset="0"/>
                  <a:ea typeface="华文细黑" pitchFamily="2" charset="-122"/>
                </a:defRPr>
              </a:lvl2pPr>
              <a:lvl3pPr marL="1143000" indent="-228600" eaLnBrk="0" hangingPunct="0">
                <a:defRPr>
                  <a:solidFill>
                    <a:schemeClr val="tx1"/>
                  </a:solidFill>
                  <a:latin typeface="Arial" charset="0"/>
                  <a:ea typeface="华文细黑" pitchFamily="2" charset="-122"/>
                </a:defRPr>
              </a:lvl3pPr>
              <a:lvl4pPr marL="1600200" indent="-228600" eaLnBrk="0" hangingPunct="0">
                <a:defRPr>
                  <a:solidFill>
                    <a:schemeClr val="tx1"/>
                  </a:solidFill>
                  <a:latin typeface="Arial" charset="0"/>
                  <a:ea typeface="华文细黑" pitchFamily="2" charset="-122"/>
                </a:defRPr>
              </a:lvl4pPr>
              <a:lvl5pPr marL="2057400" indent="-228600" eaLnBrk="0" hangingPunct="0">
                <a:defRPr>
                  <a:solidFill>
                    <a:schemeClr val="tx1"/>
                  </a:solidFill>
                  <a:latin typeface="Arial" charset="0"/>
                  <a:ea typeface="华文细黑" pitchFamily="2" charset="-122"/>
                </a:defRPr>
              </a:lvl5pPr>
              <a:lvl6pPr marL="2514600" indent="-228600" algn="ctr" eaLnBrk="0" fontAlgn="base" hangingPunct="0">
                <a:spcBef>
                  <a:spcPct val="0"/>
                </a:spcBef>
                <a:spcAft>
                  <a:spcPct val="0"/>
                </a:spcAft>
                <a:defRPr>
                  <a:solidFill>
                    <a:schemeClr val="tx1"/>
                  </a:solidFill>
                  <a:latin typeface="Arial" charset="0"/>
                  <a:ea typeface="华文细黑" pitchFamily="2" charset="-122"/>
                </a:defRPr>
              </a:lvl6pPr>
              <a:lvl7pPr marL="2971800" indent="-228600" algn="ctr" eaLnBrk="0" fontAlgn="base" hangingPunct="0">
                <a:spcBef>
                  <a:spcPct val="0"/>
                </a:spcBef>
                <a:spcAft>
                  <a:spcPct val="0"/>
                </a:spcAft>
                <a:defRPr>
                  <a:solidFill>
                    <a:schemeClr val="tx1"/>
                  </a:solidFill>
                  <a:latin typeface="Arial" charset="0"/>
                  <a:ea typeface="华文细黑" pitchFamily="2" charset="-122"/>
                </a:defRPr>
              </a:lvl7pPr>
              <a:lvl8pPr marL="3429000" indent="-228600" algn="ctr" eaLnBrk="0" fontAlgn="base" hangingPunct="0">
                <a:spcBef>
                  <a:spcPct val="0"/>
                </a:spcBef>
                <a:spcAft>
                  <a:spcPct val="0"/>
                </a:spcAft>
                <a:defRPr>
                  <a:solidFill>
                    <a:schemeClr val="tx1"/>
                  </a:solidFill>
                  <a:latin typeface="Arial" charset="0"/>
                  <a:ea typeface="华文细黑" pitchFamily="2" charset="-122"/>
                </a:defRPr>
              </a:lvl8pPr>
              <a:lvl9pPr marL="3886200" indent="-228600" algn="ctr" eaLnBrk="0" fontAlgn="base" hangingPunct="0">
                <a:spcBef>
                  <a:spcPct val="0"/>
                </a:spcBef>
                <a:spcAft>
                  <a:spcPct val="0"/>
                </a:spcAft>
                <a:defRPr>
                  <a:solidFill>
                    <a:schemeClr val="tx1"/>
                  </a:solidFill>
                  <a:latin typeface="Arial" charset="0"/>
                  <a:ea typeface="华文细黑" pitchFamily="2" charset="-122"/>
                </a:defRPr>
              </a:lvl9pPr>
            </a:lstStyle>
            <a:p>
              <a:pPr algn="just" eaLnBrk="1" hangingPunct="1"/>
              <a:r>
                <a:rPr lang="en-US" altLang="zh-CN" sz="2000" b="1">
                  <a:latin typeface="方正姚体" pitchFamily="2" charset="-122"/>
                  <a:ea typeface="方正姚体" pitchFamily="2" charset="-122"/>
                </a:rPr>
                <a:t>① </a:t>
              </a:r>
              <a:r>
                <a:rPr lang="zh-CN" altLang="en-US" sz="2000" b="1">
                  <a:latin typeface="方正姚体" pitchFamily="2" charset="-122"/>
                  <a:ea typeface="方正姚体" pitchFamily="2" charset="-122"/>
                </a:rPr>
                <a:t>调用前</a:t>
              </a:r>
            </a:p>
          </p:txBody>
        </p:sp>
      </p:grpSp>
      <p:grpSp>
        <p:nvGrpSpPr>
          <p:cNvPr id="21" name="Group 77"/>
          <p:cNvGrpSpPr>
            <a:grpSpLocks/>
          </p:cNvGrpSpPr>
          <p:nvPr/>
        </p:nvGrpSpPr>
        <p:grpSpPr bwMode="auto">
          <a:xfrm>
            <a:off x="8912300" y="2492375"/>
            <a:ext cx="936625" cy="503238"/>
            <a:chOff x="2460" y="12426"/>
            <a:chExt cx="930" cy="492"/>
          </a:xfrm>
        </p:grpSpPr>
        <p:sp>
          <p:nvSpPr>
            <p:cNvPr id="22" name="Text Box 78"/>
            <p:cNvSpPr txBox="1">
              <a:spLocks noChangeArrowheads="1"/>
            </p:cNvSpPr>
            <p:nvPr/>
          </p:nvSpPr>
          <p:spPr bwMode="auto">
            <a:xfrm>
              <a:off x="2849" y="1244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solidFill>
                    <a:srgbClr val="FF33CC"/>
                  </a:solidFill>
                  <a:effectLst>
                    <a:outerShdw blurRad="38100" dist="38100" dir="2700000" algn="tl">
                      <a:srgbClr val="000000"/>
                    </a:outerShdw>
                  </a:effectLst>
                </a:rPr>
                <a:t>3.5</a:t>
              </a:r>
            </a:p>
          </p:txBody>
        </p:sp>
        <p:sp>
          <p:nvSpPr>
            <p:cNvPr id="23" name="Text Box 79"/>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solidFill>
                    <a:schemeClr val="accent2"/>
                  </a:solidFill>
                  <a:effectLst>
                    <a:outerShdw blurRad="38100" dist="38100" dir="2700000" algn="tl">
                      <a:srgbClr val="000000"/>
                    </a:outerShdw>
                  </a:effectLst>
                </a:rPr>
                <a:t>a</a:t>
              </a:r>
            </a:p>
          </p:txBody>
        </p:sp>
      </p:grpSp>
      <p:grpSp>
        <p:nvGrpSpPr>
          <p:cNvPr id="24" name="Group 80"/>
          <p:cNvGrpSpPr>
            <a:grpSpLocks/>
          </p:cNvGrpSpPr>
          <p:nvPr/>
        </p:nvGrpSpPr>
        <p:grpSpPr bwMode="auto">
          <a:xfrm>
            <a:off x="10371213" y="2503489"/>
            <a:ext cx="936625" cy="503237"/>
            <a:chOff x="2460" y="12426"/>
            <a:chExt cx="930" cy="492"/>
          </a:xfrm>
        </p:grpSpPr>
        <p:sp>
          <p:nvSpPr>
            <p:cNvPr id="25" name="Text Box 81"/>
            <p:cNvSpPr txBox="1">
              <a:spLocks noChangeArrowheads="1"/>
            </p:cNvSpPr>
            <p:nvPr/>
          </p:nvSpPr>
          <p:spPr bwMode="auto">
            <a:xfrm>
              <a:off x="2849" y="1244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solidFill>
                    <a:srgbClr val="FF33CC"/>
                  </a:solidFill>
                  <a:effectLst>
                    <a:outerShdw blurRad="38100" dist="38100" dir="2700000" algn="tl">
                      <a:srgbClr val="000000"/>
                    </a:outerShdw>
                  </a:effectLst>
                </a:rPr>
                <a:t>5.2</a:t>
              </a:r>
            </a:p>
          </p:txBody>
        </p:sp>
        <p:sp>
          <p:nvSpPr>
            <p:cNvPr id="26" name="Text Box 82"/>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solidFill>
                    <a:schemeClr val="accent2"/>
                  </a:solidFill>
                  <a:effectLst>
                    <a:outerShdw blurRad="38100" dist="38100" dir="2700000" algn="tl">
                      <a:srgbClr val="000000"/>
                    </a:outerShdw>
                  </a:effectLst>
                </a:rPr>
                <a:t>b</a:t>
              </a:r>
            </a:p>
          </p:txBody>
        </p:sp>
      </p:grpSp>
      <p:sp>
        <p:nvSpPr>
          <p:cNvPr id="27" name="Line 83"/>
          <p:cNvSpPr>
            <a:spLocks noChangeShapeType="1"/>
          </p:cNvSpPr>
          <p:nvPr/>
        </p:nvSpPr>
        <p:spPr bwMode="auto">
          <a:xfrm>
            <a:off x="9558412" y="2205038"/>
            <a:ext cx="0" cy="360362"/>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8" name="Line 84"/>
          <p:cNvSpPr>
            <a:spLocks noChangeShapeType="1"/>
          </p:cNvSpPr>
          <p:nvPr/>
        </p:nvSpPr>
        <p:spPr bwMode="auto">
          <a:xfrm>
            <a:off x="11026849" y="2160588"/>
            <a:ext cx="0" cy="360362"/>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53" name="Group 128"/>
          <p:cNvGrpSpPr>
            <a:grpSpLocks/>
          </p:cNvGrpSpPr>
          <p:nvPr/>
        </p:nvGrpSpPr>
        <p:grpSpPr bwMode="auto">
          <a:xfrm>
            <a:off x="8837687" y="5664200"/>
            <a:ext cx="2736850" cy="1093788"/>
            <a:chOff x="3923" y="3577"/>
            <a:chExt cx="1724" cy="689"/>
          </a:xfrm>
        </p:grpSpPr>
        <p:sp>
          <p:nvSpPr>
            <p:cNvPr id="10271" name="Rectangle 120"/>
            <p:cNvSpPr>
              <a:spLocks noChangeArrowheads="1"/>
            </p:cNvSpPr>
            <p:nvPr/>
          </p:nvSpPr>
          <p:spPr bwMode="auto">
            <a:xfrm>
              <a:off x="3923" y="3586"/>
              <a:ext cx="1724" cy="68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61" name="Text Box 123"/>
            <p:cNvSpPr txBox="1">
              <a:spLocks noChangeArrowheads="1"/>
            </p:cNvSpPr>
            <p:nvPr/>
          </p:nvSpPr>
          <p:spPr bwMode="auto">
            <a:xfrm>
              <a:off x="3923" y="3835"/>
              <a:ext cx="1310"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zh-CN" altLang="en-US" sz="2000" b="1" dirty="0">
                  <a:effectLst>
                    <a:outerShdw blurRad="38100" dist="38100" dir="2700000" algn="tl">
                      <a:srgbClr val="FFFFFF"/>
                    </a:outerShdw>
                  </a:effectLst>
                  <a:latin typeface="方正姚体" pitchFamily="2" charset="-122"/>
                  <a:ea typeface="方正姚体" pitchFamily="2" charset="-122"/>
                  <a:cs typeface="Times New Roman" pitchFamily="18" charset="0"/>
                </a:rPr>
                <a:t>输出的结值为：</a:t>
              </a:r>
              <a:endParaRPr lang="en-US" altLang="zh-CN" sz="2000" b="1" dirty="0">
                <a:effectLst>
                  <a:outerShdw blurRad="38100" dist="38100" dir="2700000" algn="tl">
                    <a:srgbClr val="FFFFFF"/>
                  </a:outerShdw>
                </a:effectLst>
                <a:latin typeface="方正姚体" pitchFamily="2" charset="-122"/>
                <a:ea typeface="方正姚体" pitchFamily="2" charset="-122"/>
                <a:cs typeface="Times New Roman" pitchFamily="18" charset="0"/>
              </a:endParaRPr>
            </a:p>
          </p:txBody>
        </p:sp>
        <p:sp>
          <p:nvSpPr>
            <p:cNvPr id="58" name="Text Box 125"/>
            <p:cNvSpPr txBox="1">
              <a:spLocks noChangeArrowheads="1"/>
            </p:cNvSpPr>
            <p:nvPr/>
          </p:nvSpPr>
          <p:spPr bwMode="auto">
            <a:xfrm>
              <a:off x="5121" y="3819"/>
              <a:ext cx="345" cy="297"/>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8.7</a:t>
              </a:r>
            </a:p>
          </p:txBody>
        </p:sp>
        <p:sp>
          <p:nvSpPr>
            <p:cNvPr id="10274" name="Text Box 127"/>
            <p:cNvSpPr txBox="1">
              <a:spLocks noChangeArrowheads="1"/>
            </p:cNvSpPr>
            <p:nvPr/>
          </p:nvSpPr>
          <p:spPr bwMode="auto">
            <a:xfrm>
              <a:off x="4252" y="3577"/>
              <a:ext cx="105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华文细黑" pitchFamily="2" charset="-122"/>
                </a:defRPr>
              </a:lvl1pPr>
              <a:lvl2pPr marL="742950" indent="-285750" eaLnBrk="0" hangingPunct="0">
                <a:defRPr>
                  <a:solidFill>
                    <a:schemeClr val="tx1"/>
                  </a:solidFill>
                  <a:latin typeface="Arial" charset="0"/>
                  <a:ea typeface="华文细黑" pitchFamily="2" charset="-122"/>
                </a:defRPr>
              </a:lvl2pPr>
              <a:lvl3pPr marL="1143000" indent="-228600" eaLnBrk="0" hangingPunct="0">
                <a:defRPr>
                  <a:solidFill>
                    <a:schemeClr val="tx1"/>
                  </a:solidFill>
                  <a:latin typeface="Arial" charset="0"/>
                  <a:ea typeface="华文细黑" pitchFamily="2" charset="-122"/>
                </a:defRPr>
              </a:lvl3pPr>
              <a:lvl4pPr marL="1600200" indent="-228600" eaLnBrk="0" hangingPunct="0">
                <a:defRPr>
                  <a:solidFill>
                    <a:schemeClr val="tx1"/>
                  </a:solidFill>
                  <a:latin typeface="Arial" charset="0"/>
                  <a:ea typeface="华文细黑" pitchFamily="2" charset="-122"/>
                </a:defRPr>
              </a:lvl4pPr>
              <a:lvl5pPr marL="2057400" indent="-228600" eaLnBrk="0" hangingPunct="0">
                <a:defRPr>
                  <a:solidFill>
                    <a:schemeClr val="tx1"/>
                  </a:solidFill>
                  <a:latin typeface="Arial" charset="0"/>
                  <a:ea typeface="华文细黑" pitchFamily="2" charset="-122"/>
                </a:defRPr>
              </a:lvl5pPr>
              <a:lvl6pPr marL="2514600" indent="-228600" algn="ctr" eaLnBrk="0" fontAlgn="base" hangingPunct="0">
                <a:spcBef>
                  <a:spcPct val="0"/>
                </a:spcBef>
                <a:spcAft>
                  <a:spcPct val="0"/>
                </a:spcAft>
                <a:defRPr>
                  <a:solidFill>
                    <a:schemeClr val="tx1"/>
                  </a:solidFill>
                  <a:latin typeface="Arial" charset="0"/>
                  <a:ea typeface="华文细黑" pitchFamily="2" charset="-122"/>
                </a:defRPr>
              </a:lvl6pPr>
              <a:lvl7pPr marL="2971800" indent="-228600" algn="ctr" eaLnBrk="0" fontAlgn="base" hangingPunct="0">
                <a:spcBef>
                  <a:spcPct val="0"/>
                </a:spcBef>
                <a:spcAft>
                  <a:spcPct val="0"/>
                </a:spcAft>
                <a:defRPr>
                  <a:solidFill>
                    <a:schemeClr val="tx1"/>
                  </a:solidFill>
                  <a:latin typeface="Arial" charset="0"/>
                  <a:ea typeface="华文细黑" pitchFamily="2" charset="-122"/>
                </a:defRPr>
              </a:lvl7pPr>
              <a:lvl8pPr marL="3429000" indent="-228600" algn="ctr" eaLnBrk="0" fontAlgn="base" hangingPunct="0">
                <a:spcBef>
                  <a:spcPct val="0"/>
                </a:spcBef>
                <a:spcAft>
                  <a:spcPct val="0"/>
                </a:spcAft>
                <a:defRPr>
                  <a:solidFill>
                    <a:schemeClr val="tx1"/>
                  </a:solidFill>
                  <a:latin typeface="Arial" charset="0"/>
                  <a:ea typeface="华文细黑" pitchFamily="2" charset="-122"/>
                </a:defRPr>
              </a:lvl8pPr>
              <a:lvl9pPr marL="3886200" indent="-228600" algn="ctr" eaLnBrk="0" fontAlgn="base" hangingPunct="0">
                <a:spcBef>
                  <a:spcPct val="0"/>
                </a:spcBef>
                <a:spcAft>
                  <a:spcPct val="0"/>
                </a:spcAft>
                <a:defRPr>
                  <a:solidFill>
                    <a:schemeClr val="tx1"/>
                  </a:solidFill>
                  <a:latin typeface="Arial" charset="0"/>
                  <a:ea typeface="华文细黑" pitchFamily="2" charset="-122"/>
                </a:defRPr>
              </a:lvl9pPr>
            </a:lstStyle>
            <a:p>
              <a:pPr algn="just" eaLnBrk="1" hangingPunct="1"/>
              <a:r>
                <a:rPr lang="en-US" altLang="en-US" sz="2000" b="1">
                  <a:latin typeface="方正姚体" pitchFamily="2" charset="-122"/>
                  <a:ea typeface="方正姚体" pitchFamily="2" charset="-122"/>
                </a:rPr>
                <a:t>④</a:t>
              </a:r>
              <a:r>
                <a:rPr lang="en-US" altLang="zh-CN" sz="2000" b="1">
                  <a:latin typeface="方正姚体" pitchFamily="2" charset="-122"/>
                  <a:ea typeface="方正姚体" pitchFamily="2" charset="-122"/>
                </a:rPr>
                <a:t> </a:t>
              </a:r>
              <a:r>
                <a:rPr lang="zh-CN" altLang="en-US" sz="2000" b="1">
                  <a:latin typeface="方正姚体" pitchFamily="2" charset="-122"/>
                  <a:ea typeface="方正姚体" pitchFamily="2" charset="-122"/>
                </a:rPr>
                <a:t>调用结束</a:t>
              </a:r>
            </a:p>
          </p:txBody>
        </p:sp>
      </p:grpSp>
      <p:sp>
        <p:nvSpPr>
          <p:cNvPr id="9225" name="Text Box 29"/>
          <p:cNvSpPr txBox="1">
            <a:spLocks noChangeArrowheads="1"/>
          </p:cNvSpPr>
          <p:nvPr/>
        </p:nvSpPr>
        <p:spPr bwMode="auto">
          <a:xfrm>
            <a:off x="1703388" y="802173"/>
            <a:ext cx="6323012" cy="588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华文细黑" pitchFamily="2" charset="-122"/>
              </a:defRPr>
            </a:lvl1pPr>
            <a:lvl2pPr marL="742950" indent="-285750" eaLnBrk="0" hangingPunct="0">
              <a:defRPr>
                <a:solidFill>
                  <a:schemeClr val="tx1"/>
                </a:solidFill>
                <a:latin typeface="Arial" charset="0"/>
                <a:ea typeface="华文细黑" pitchFamily="2" charset="-122"/>
              </a:defRPr>
            </a:lvl2pPr>
            <a:lvl3pPr marL="1143000" indent="-228600" eaLnBrk="0" hangingPunct="0">
              <a:defRPr>
                <a:solidFill>
                  <a:schemeClr val="tx1"/>
                </a:solidFill>
                <a:latin typeface="Arial" charset="0"/>
                <a:ea typeface="华文细黑" pitchFamily="2" charset="-122"/>
              </a:defRPr>
            </a:lvl3pPr>
            <a:lvl4pPr marL="1600200" indent="-228600" eaLnBrk="0" hangingPunct="0">
              <a:defRPr>
                <a:solidFill>
                  <a:schemeClr val="tx1"/>
                </a:solidFill>
                <a:latin typeface="Arial" charset="0"/>
                <a:ea typeface="华文细黑" pitchFamily="2" charset="-122"/>
              </a:defRPr>
            </a:lvl4pPr>
            <a:lvl5pPr marL="2057400" indent="-228600" eaLnBrk="0" hangingPunct="0">
              <a:defRPr>
                <a:solidFill>
                  <a:schemeClr val="tx1"/>
                </a:solidFill>
                <a:latin typeface="Arial" charset="0"/>
                <a:ea typeface="华文细黑" pitchFamily="2" charset="-122"/>
              </a:defRPr>
            </a:lvl5pPr>
            <a:lvl6pPr marL="2514600" indent="-228600" algn="ctr" eaLnBrk="0" fontAlgn="base" hangingPunct="0">
              <a:spcBef>
                <a:spcPct val="0"/>
              </a:spcBef>
              <a:spcAft>
                <a:spcPct val="0"/>
              </a:spcAft>
              <a:defRPr>
                <a:solidFill>
                  <a:schemeClr val="tx1"/>
                </a:solidFill>
                <a:latin typeface="Arial" charset="0"/>
                <a:ea typeface="华文细黑" pitchFamily="2" charset="-122"/>
              </a:defRPr>
            </a:lvl6pPr>
            <a:lvl7pPr marL="2971800" indent="-228600" algn="ctr" eaLnBrk="0" fontAlgn="base" hangingPunct="0">
              <a:spcBef>
                <a:spcPct val="0"/>
              </a:spcBef>
              <a:spcAft>
                <a:spcPct val="0"/>
              </a:spcAft>
              <a:defRPr>
                <a:solidFill>
                  <a:schemeClr val="tx1"/>
                </a:solidFill>
                <a:latin typeface="Arial" charset="0"/>
                <a:ea typeface="华文细黑" pitchFamily="2" charset="-122"/>
              </a:defRPr>
            </a:lvl7pPr>
            <a:lvl8pPr marL="3429000" indent="-228600" algn="ctr" eaLnBrk="0" fontAlgn="base" hangingPunct="0">
              <a:spcBef>
                <a:spcPct val="0"/>
              </a:spcBef>
              <a:spcAft>
                <a:spcPct val="0"/>
              </a:spcAft>
              <a:defRPr>
                <a:solidFill>
                  <a:schemeClr val="tx1"/>
                </a:solidFill>
                <a:latin typeface="Arial" charset="0"/>
                <a:ea typeface="华文细黑" pitchFamily="2" charset="-122"/>
              </a:defRPr>
            </a:lvl8pPr>
            <a:lvl9pPr marL="3886200" indent="-228600" algn="ctr" eaLnBrk="0" fontAlgn="base" hangingPunct="0">
              <a:spcBef>
                <a:spcPct val="0"/>
              </a:spcBef>
              <a:spcAft>
                <a:spcPct val="0"/>
              </a:spcAft>
              <a:defRPr>
                <a:solidFill>
                  <a:schemeClr val="tx1"/>
                </a:solidFill>
                <a:latin typeface="Arial" charset="0"/>
                <a:ea typeface="华文细黑" pitchFamily="2" charset="-122"/>
              </a:defRPr>
            </a:lvl9pPr>
          </a:lstStyle>
          <a:p>
            <a:pPr algn="l" eaLnBrk="1" hangingPunct="1">
              <a:lnSpc>
                <a:spcPct val="125000"/>
              </a:lnSpc>
            </a:pPr>
            <a:r>
              <a:rPr lang="en-US" altLang="zh-CN" sz="3600" b="1" dirty="0">
                <a:solidFill>
                  <a:srgbClr val="000000"/>
                </a:solidFill>
                <a:latin typeface="Times New Roman" pitchFamily="18" charset="0"/>
                <a:ea typeface="楷体_GB2312" pitchFamily="49" charset="-122"/>
                <a:cs typeface="Times New Roman" pitchFamily="18" charset="0"/>
              </a:rPr>
              <a:t>float sum(float </a:t>
            </a:r>
            <a:r>
              <a:rPr lang="en-US" altLang="zh-CN" sz="3600" b="1" dirty="0" err="1">
                <a:solidFill>
                  <a:srgbClr val="000000"/>
                </a:solidFill>
                <a:latin typeface="Times New Roman" pitchFamily="18" charset="0"/>
                <a:ea typeface="楷体_GB2312" pitchFamily="49" charset="-122"/>
                <a:cs typeface="Times New Roman" pitchFamily="18" charset="0"/>
              </a:rPr>
              <a:t>a,float</a:t>
            </a:r>
            <a:r>
              <a:rPr lang="en-US" altLang="zh-CN" sz="3600" b="1" dirty="0">
                <a:solidFill>
                  <a:srgbClr val="000000"/>
                </a:solidFill>
                <a:latin typeface="Times New Roman" pitchFamily="18" charset="0"/>
                <a:ea typeface="楷体_GB2312" pitchFamily="49" charset="-122"/>
                <a:cs typeface="Times New Roman" pitchFamily="18" charset="0"/>
              </a:rPr>
              <a:t> b)</a:t>
            </a:r>
          </a:p>
          <a:p>
            <a:pPr algn="l" eaLnBrk="1" hangingPunct="1">
              <a:lnSpc>
                <a:spcPct val="125000"/>
              </a:lnSpc>
            </a:pPr>
            <a:r>
              <a:rPr lang="en-US" altLang="zh-CN" sz="3600" b="1" dirty="0">
                <a:solidFill>
                  <a:srgbClr val="000000"/>
                </a:solidFill>
                <a:latin typeface="Times New Roman" pitchFamily="18" charset="0"/>
                <a:ea typeface="楷体_GB2312" pitchFamily="49" charset="-122"/>
                <a:cs typeface="Times New Roman" pitchFamily="18" charset="0"/>
              </a:rPr>
              <a:t>   {  float z</a:t>
            </a:r>
            <a:r>
              <a:rPr lang="zh-CN" altLang="en-US" sz="3600" b="1" dirty="0">
                <a:solidFill>
                  <a:srgbClr val="000000"/>
                </a:solidFill>
                <a:latin typeface="Times New Roman" pitchFamily="18" charset="0"/>
                <a:ea typeface="楷体_GB2312" pitchFamily="49" charset="-122"/>
                <a:cs typeface="Times New Roman" pitchFamily="18" charset="0"/>
              </a:rPr>
              <a:t>；</a:t>
            </a:r>
            <a:endParaRPr lang="en-US" altLang="zh-CN" sz="3600" b="1" dirty="0">
              <a:solidFill>
                <a:srgbClr val="000000"/>
              </a:solidFill>
              <a:latin typeface="Times New Roman" pitchFamily="18" charset="0"/>
              <a:ea typeface="楷体_GB2312" pitchFamily="49" charset="-122"/>
              <a:cs typeface="Times New Roman" pitchFamily="18" charset="0"/>
            </a:endParaRPr>
          </a:p>
          <a:p>
            <a:pPr algn="l" eaLnBrk="1" hangingPunct="1">
              <a:lnSpc>
                <a:spcPct val="125000"/>
              </a:lnSpc>
            </a:pPr>
            <a:r>
              <a:rPr lang="en-US" altLang="zh-CN" sz="3600" b="1" dirty="0">
                <a:solidFill>
                  <a:srgbClr val="000000"/>
                </a:solidFill>
                <a:latin typeface="Times New Roman" pitchFamily="18" charset="0"/>
                <a:ea typeface="楷体_GB2312" pitchFamily="49" charset="-122"/>
                <a:cs typeface="Times New Roman" pitchFamily="18" charset="0"/>
              </a:rPr>
              <a:t>       z=</a:t>
            </a:r>
            <a:r>
              <a:rPr lang="en-US" altLang="zh-CN" sz="3600" b="1" dirty="0" err="1">
                <a:solidFill>
                  <a:srgbClr val="000000"/>
                </a:solidFill>
                <a:latin typeface="Times New Roman" pitchFamily="18" charset="0"/>
                <a:ea typeface="楷体_GB2312" pitchFamily="49" charset="-122"/>
                <a:cs typeface="Times New Roman" pitchFamily="18" charset="0"/>
              </a:rPr>
              <a:t>a+b</a:t>
            </a:r>
            <a:r>
              <a:rPr lang="en-US" altLang="zh-CN" sz="3600" b="1" dirty="0">
                <a:solidFill>
                  <a:srgbClr val="000000"/>
                </a:solidFill>
                <a:latin typeface="Times New Roman" pitchFamily="18" charset="0"/>
                <a:ea typeface="楷体_GB2312" pitchFamily="49" charset="-122"/>
                <a:cs typeface="Times New Roman" pitchFamily="18" charset="0"/>
              </a:rPr>
              <a:t>;</a:t>
            </a:r>
          </a:p>
          <a:p>
            <a:pPr algn="l" eaLnBrk="1" hangingPunct="1">
              <a:lnSpc>
                <a:spcPct val="125000"/>
              </a:lnSpc>
            </a:pPr>
            <a:r>
              <a:rPr lang="en-US" altLang="zh-CN" sz="3600" b="1" dirty="0">
                <a:solidFill>
                  <a:srgbClr val="000000"/>
                </a:solidFill>
                <a:latin typeface="Times New Roman" pitchFamily="18" charset="0"/>
                <a:ea typeface="楷体_GB2312" pitchFamily="49" charset="-122"/>
                <a:cs typeface="Times New Roman" pitchFamily="18" charset="0"/>
              </a:rPr>
              <a:t>       return z;   }</a:t>
            </a:r>
          </a:p>
          <a:p>
            <a:pPr algn="l" eaLnBrk="1" hangingPunct="1">
              <a:lnSpc>
                <a:spcPct val="125000"/>
              </a:lnSpc>
            </a:pPr>
            <a:r>
              <a:rPr lang="en-US" altLang="zh-CN" sz="3600" b="1" dirty="0">
                <a:solidFill>
                  <a:srgbClr val="000000"/>
                </a:solidFill>
                <a:latin typeface="Times New Roman" pitchFamily="18" charset="0"/>
                <a:ea typeface="楷体_GB2312" pitchFamily="49" charset="-122"/>
                <a:cs typeface="Times New Roman" pitchFamily="18" charset="0"/>
              </a:rPr>
              <a:t>void main( )</a:t>
            </a:r>
          </a:p>
          <a:p>
            <a:pPr algn="l" eaLnBrk="1" hangingPunct="1">
              <a:lnSpc>
                <a:spcPct val="125000"/>
              </a:lnSpc>
              <a:spcBef>
                <a:spcPct val="15000"/>
              </a:spcBef>
            </a:pPr>
            <a:r>
              <a:rPr lang="en-US" altLang="zh-CN" sz="3600" b="1" dirty="0">
                <a:solidFill>
                  <a:srgbClr val="000000"/>
                </a:solidFill>
                <a:latin typeface="Times New Roman" pitchFamily="18" charset="0"/>
                <a:ea typeface="楷体_GB2312" pitchFamily="49" charset="-122"/>
                <a:cs typeface="Times New Roman" pitchFamily="18" charset="0"/>
              </a:rPr>
              <a:t>   {   float x=3.5,y=5.2;                 </a:t>
            </a:r>
          </a:p>
          <a:p>
            <a:pPr algn="l" eaLnBrk="1" hangingPunct="1">
              <a:lnSpc>
                <a:spcPct val="125000"/>
              </a:lnSpc>
              <a:spcBef>
                <a:spcPct val="15000"/>
              </a:spcBef>
            </a:pPr>
            <a:r>
              <a:rPr lang="en-US" altLang="zh-CN" sz="3600" b="1" dirty="0">
                <a:solidFill>
                  <a:srgbClr val="000000"/>
                </a:solidFill>
                <a:latin typeface="Times New Roman" pitchFamily="18" charset="0"/>
                <a:ea typeface="楷体_GB2312" pitchFamily="49" charset="-122"/>
                <a:cs typeface="Times New Roman" pitchFamily="18" charset="0"/>
              </a:rPr>
              <a:t>       </a:t>
            </a:r>
            <a:r>
              <a:rPr lang="en-US" altLang="zh-CN" sz="3600" b="1" dirty="0" err="1">
                <a:solidFill>
                  <a:srgbClr val="000000"/>
                </a:solidFill>
                <a:latin typeface="Times New Roman" pitchFamily="18" charset="0"/>
                <a:ea typeface="楷体_GB2312" pitchFamily="49" charset="-122"/>
                <a:cs typeface="Times New Roman" pitchFamily="18" charset="0"/>
              </a:rPr>
              <a:t>printf</a:t>
            </a:r>
            <a:r>
              <a:rPr lang="en-US" altLang="zh-CN" sz="3600" b="1" dirty="0">
                <a:solidFill>
                  <a:srgbClr val="000000"/>
                </a:solidFill>
                <a:latin typeface="Times New Roman" pitchFamily="18" charset="0"/>
                <a:ea typeface="楷体_GB2312" pitchFamily="49" charset="-122"/>
                <a:cs typeface="Times New Roman" pitchFamily="18" charset="0"/>
              </a:rPr>
              <a:t>(“%f\</a:t>
            </a:r>
            <a:r>
              <a:rPr lang="en-US" altLang="zh-CN" sz="3600" b="1" dirty="0" err="1">
                <a:solidFill>
                  <a:srgbClr val="000000"/>
                </a:solidFill>
                <a:latin typeface="Times New Roman" pitchFamily="18" charset="0"/>
                <a:ea typeface="楷体_GB2312" pitchFamily="49" charset="-122"/>
                <a:cs typeface="Times New Roman" pitchFamily="18" charset="0"/>
              </a:rPr>
              <a:t>n”,</a:t>
            </a:r>
            <a:r>
              <a:rPr lang="en-US" altLang="zh-CN" sz="3600" b="1" u="sng" dirty="0" err="1">
                <a:solidFill>
                  <a:srgbClr val="FF0000"/>
                </a:solidFill>
                <a:latin typeface="Times New Roman" pitchFamily="18" charset="0"/>
                <a:ea typeface="楷体_GB2312" pitchFamily="49" charset="-122"/>
                <a:cs typeface="Times New Roman" pitchFamily="18" charset="0"/>
              </a:rPr>
              <a:t>sum</a:t>
            </a:r>
            <a:r>
              <a:rPr lang="en-US" altLang="zh-CN" sz="3600" b="1" u="sng" dirty="0">
                <a:solidFill>
                  <a:srgbClr val="FF0000"/>
                </a:solidFill>
                <a:latin typeface="Times New Roman" pitchFamily="18" charset="0"/>
                <a:ea typeface="楷体_GB2312" pitchFamily="49" charset="-122"/>
                <a:cs typeface="Times New Roman" pitchFamily="18" charset="0"/>
              </a:rPr>
              <a:t>(</a:t>
            </a:r>
            <a:r>
              <a:rPr lang="en-US" altLang="zh-CN" sz="3600" b="1" u="sng" dirty="0" err="1">
                <a:solidFill>
                  <a:srgbClr val="FF0000"/>
                </a:solidFill>
                <a:latin typeface="Times New Roman" pitchFamily="18" charset="0"/>
                <a:ea typeface="楷体_GB2312" pitchFamily="49" charset="-122"/>
                <a:cs typeface="Times New Roman" pitchFamily="18" charset="0"/>
              </a:rPr>
              <a:t>x,y</a:t>
            </a:r>
            <a:r>
              <a:rPr lang="en-US" altLang="zh-CN" sz="3600" b="1" u="sng" dirty="0">
                <a:solidFill>
                  <a:srgbClr val="FF0000"/>
                </a:solidFill>
                <a:latin typeface="Times New Roman" pitchFamily="18" charset="0"/>
                <a:ea typeface="楷体_GB2312" pitchFamily="49" charset="-122"/>
                <a:cs typeface="Times New Roman" pitchFamily="18" charset="0"/>
              </a:rPr>
              <a:t>)</a:t>
            </a:r>
            <a:r>
              <a:rPr lang="en-US" altLang="zh-CN" sz="3600" b="1" dirty="0">
                <a:solidFill>
                  <a:srgbClr val="000000"/>
                </a:solidFill>
                <a:latin typeface="Times New Roman" pitchFamily="18" charset="0"/>
                <a:ea typeface="楷体_GB2312" pitchFamily="49" charset="-122"/>
                <a:cs typeface="Times New Roman" pitchFamily="18" charset="0"/>
              </a:rPr>
              <a:t>); </a:t>
            </a:r>
            <a:r>
              <a:rPr lang="en-US" altLang="zh-CN" sz="3600" b="1" dirty="0">
                <a:solidFill>
                  <a:srgbClr val="000000"/>
                </a:solidFill>
                <a:latin typeface="Times New Roman" pitchFamily="18" charset="0"/>
                <a:ea typeface="黑体" pitchFamily="49" charset="-122"/>
                <a:cs typeface="Times New Roman" pitchFamily="18" charset="0"/>
              </a:rPr>
              <a:t>   </a:t>
            </a:r>
          </a:p>
          <a:p>
            <a:pPr algn="l" eaLnBrk="1" hangingPunct="1">
              <a:lnSpc>
                <a:spcPct val="125000"/>
              </a:lnSpc>
              <a:spcBef>
                <a:spcPct val="15000"/>
              </a:spcBef>
            </a:pPr>
            <a:r>
              <a:rPr lang="en-US" altLang="zh-CN" sz="3600" b="1" dirty="0">
                <a:solidFill>
                  <a:srgbClr val="000000"/>
                </a:solidFill>
                <a:latin typeface="Times New Roman" pitchFamily="18" charset="0"/>
                <a:ea typeface="黑体" pitchFamily="49" charset="-122"/>
                <a:cs typeface="Times New Roman" pitchFamily="18" charset="0"/>
              </a:rPr>
              <a:t>    </a:t>
            </a:r>
            <a:r>
              <a:rPr lang="en-US" altLang="zh-CN" sz="3600" b="1" dirty="0">
                <a:solidFill>
                  <a:srgbClr val="000000"/>
                </a:solidFill>
                <a:latin typeface="Times New Roman" pitchFamily="18" charset="0"/>
                <a:ea typeface="楷体_GB2312" pitchFamily="49" charset="-122"/>
                <a:cs typeface="Times New Roman" pitchFamily="18" charset="0"/>
              </a:rPr>
              <a:t>}    </a:t>
            </a:r>
          </a:p>
        </p:txBody>
      </p:sp>
      <p:grpSp>
        <p:nvGrpSpPr>
          <p:cNvPr id="63" name="Group 111"/>
          <p:cNvGrpSpPr>
            <a:grpSpLocks/>
          </p:cNvGrpSpPr>
          <p:nvPr/>
        </p:nvGrpSpPr>
        <p:grpSpPr bwMode="auto">
          <a:xfrm>
            <a:off x="8839274" y="3273425"/>
            <a:ext cx="2736850" cy="2274888"/>
            <a:chOff x="3924" y="2224"/>
            <a:chExt cx="1724" cy="1433"/>
          </a:xfrm>
        </p:grpSpPr>
        <p:sp>
          <p:nvSpPr>
            <p:cNvPr id="10254" name="Rectangle 86"/>
            <p:cNvSpPr>
              <a:spLocks noChangeArrowheads="1"/>
            </p:cNvSpPr>
            <p:nvPr/>
          </p:nvSpPr>
          <p:spPr bwMode="auto">
            <a:xfrm>
              <a:off x="3924" y="2233"/>
              <a:ext cx="1724" cy="1424"/>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65" name="Text Box 87"/>
            <p:cNvSpPr txBox="1">
              <a:spLocks noChangeArrowheads="1"/>
            </p:cNvSpPr>
            <p:nvPr/>
          </p:nvSpPr>
          <p:spPr bwMode="auto">
            <a:xfrm>
              <a:off x="4332" y="2224"/>
              <a:ext cx="960"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a:defRPr sz="2000" b="1">
                  <a:effectLst>
                    <a:outerShdw blurRad="38100" dist="38100" dir="2700000" algn="tl">
                      <a:srgbClr val="000000"/>
                    </a:outerShdw>
                  </a:effectLst>
                  <a:latin typeface="楷体_GB2312" pitchFamily="49" charset="-122"/>
                  <a:ea typeface="楷体_GB2312" pitchFamily="49" charset="-122"/>
                </a:defRPr>
              </a:lvl1pPr>
            </a:lstStyle>
            <a:p>
              <a:pPr>
                <a:defRPr/>
              </a:pPr>
              <a:r>
                <a:rPr lang="en-US" altLang="en-US" sz="2400" dirty="0">
                  <a:latin typeface="Times New Roman" pitchFamily="18" charset="0"/>
                  <a:cs typeface="Times New Roman" pitchFamily="18" charset="0"/>
                </a:rPr>
                <a:t>③</a:t>
              </a:r>
              <a:r>
                <a:rPr lang="en-US" altLang="zh-CN" sz="2400" dirty="0">
                  <a:latin typeface="Times New Roman" pitchFamily="18" charset="0"/>
                  <a:cs typeface="Times New Roman" pitchFamily="18" charset="0"/>
                </a:rPr>
                <a:t> sum</a:t>
              </a:r>
            </a:p>
          </p:txBody>
        </p:sp>
        <p:grpSp>
          <p:nvGrpSpPr>
            <p:cNvPr id="10256" name="Group 88"/>
            <p:cNvGrpSpPr>
              <a:grpSpLocks/>
            </p:cNvGrpSpPr>
            <p:nvPr/>
          </p:nvGrpSpPr>
          <p:grpSpPr bwMode="auto">
            <a:xfrm>
              <a:off x="3970" y="2476"/>
              <a:ext cx="590" cy="317"/>
              <a:chOff x="2460" y="12426"/>
              <a:chExt cx="930" cy="492"/>
            </a:xfrm>
          </p:grpSpPr>
          <p:sp>
            <p:nvSpPr>
              <p:cNvPr id="79" name="Text Box 89"/>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3.5</a:t>
                </a:r>
              </a:p>
            </p:txBody>
          </p:sp>
          <p:sp>
            <p:nvSpPr>
              <p:cNvPr id="80" name="Text Box 90"/>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0257" name="Group 91"/>
            <p:cNvGrpSpPr>
              <a:grpSpLocks/>
            </p:cNvGrpSpPr>
            <p:nvPr/>
          </p:nvGrpSpPr>
          <p:grpSpPr bwMode="auto">
            <a:xfrm>
              <a:off x="4877" y="2476"/>
              <a:ext cx="613" cy="303"/>
              <a:chOff x="3780" y="12447"/>
              <a:chExt cx="960" cy="477"/>
            </a:xfrm>
          </p:grpSpPr>
          <p:sp>
            <p:nvSpPr>
              <p:cNvPr id="77" name="Text Box 92"/>
              <p:cNvSpPr txBox="1">
                <a:spLocks noChangeArrowheads="1"/>
              </p:cNvSpPr>
              <p:nvPr/>
            </p:nvSpPr>
            <p:spPr bwMode="auto">
              <a:xfrm>
                <a:off x="4200" y="12447"/>
                <a:ext cx="540" cy="468"/>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5.2</a:t>
                </a:r>
              </a:p>
            </p:txBody>
          </p:sp>
          <p:sp>
            <p:nvSpPr>
              <p:cNvPr id="78" name="Text Box 93"/>
              <p:cNvSpPr txBox="1">
                <a:spLocks noChangeArrowheads="1"/>
              </p:cNvSpPr>
              <p:nvPr/>
            </p:nvSpPr>
            <p:spPr bwMode="auto">
              <a:xfrm>
                <a:off x="3780" y="124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grpSp>
          <p:nvGrpSpPr>
            <p:cNvPr id="10258" name="Group 100"/>
            <p:cNvGrpSpPr>
              <a:grpSpLocks/>
            </p:cNvGrpSpPr>
            <p:nvPr/>
          </p:nvGrpSpPr>
          <p:grpSpPr bwMode="auto">
            <a:xfrm>
              <a:off x="3971" y="2900"/>
              <a:ext cx="590" cy="317"/>
              <a:chOff x="2460" y="12426"/>
              <a:chExt cx="930" cy="492"/>
            </a:xfrm>
          </p:grpSpPr>
          <p:sp>
            <p:nvSpPr>
              <p:cNvPr id="75" name="Text Box 101"/>
              <p:cNvSpPr txBox="1">
                <a:spLocks noChangeArrowheads="1"/>
              </p:cNvSpPr>
              <p:nvPr/>
            </p:nvSpPr>
            <p:spPr bwMode="auto">
              <a:xfrm>
                <a:off x="2849" y="1244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solidFill>
                      <a:srgbClr val="FF33CC"/>
                    </a:solidFill>
                    <a:effectLst>
                      <a:outerShdw blurRad="38100" dist="38100" dir="2700000" algn="tl">
                        <a:srgbClr val="000000"/>
                      </a:outerShdw>
                    </a:effectLst>
                  </a:rPr>
                  <a:t>3.5</a:t>
                </a:r>
              </a:p>
            </p:txBody>
          </p:sp>
          <p:sp>
            <p:nvSpPr>
              <p:cNvPr id="76" name="Text Box 102"/>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solidFill>
                      <a:schemeClr val="accent2"/>
                    </a:solidFill>
                    <a:effectLst>
                      <a:outerShdw blurRad="38100" dist="38100" dir="2700000" algn="tl">
                        <a:srgbClr val="000000"/>
                      </a:outerShdw>
                    </a:effectLst>
                  </a:rPr>
                  <a:t>a</a:t>
                </a:r>
              </a:p>
            </p:txBody>
          </p:sp>
        </p:grpSp>
        <p:grpSp>
          <p:nvGrpSpPr>
            <p:cNvPr id="10259" name="Group 103"/>
            <p:cNvGrpSpPr>
              <a:grpSpLocks/>
            </p:cNvGrpSpPr>
            <p:nvPr/>
          </p:nvGrpSpPr>
          <p:grpSpPr bwMode="auto">
            <a:xfrm>
              <a:off x="4890" y="2895"/>
              <a:ext cx="590" cy="334"/>
              <a:chOff x="2460" y="12449"/>
              <a:chExt cx="930" cy="518"/>
            </a:xfrm>
          </p:grpSpPr>
          <p:sp>
            <p:nvSpPr>
              <p:cNvPr id="73" name="Text Box 104"/>
              <p:cNvSpPr txBox="1">
                <a:spLocks noChangeArrowheads="1"/>
              </p:cNvSpPr>
              <p:nvPr/>
            </p:nvSpPr>
            <p:spPr bwMode="auto">
              <a:xfrm>
                <a:off x="2849" y="12449"/>
                <a:ext cx="541" cy="468"/>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solidFill>
                      <a:srgbClr val="FF33CC"/>
                    </a:solidFill>
                    <a:effectLst>
                      <a:outerShdw blurRad="38100" dist="38100" dir="2700000" algn="tl">
                        <a:srgbClr val="000000"/>
                      </a:outerShdw>
                    </a:effectLst>
                  </a:rPr>
                  <a:t>5.2</a:t>
                </a:r>
              </a:p>
            </p:txBody>
          </p:sp>
          <p:sp>
            <p:nvSpPr>
              <p:cNvPr id="74" name="Text Box 105"/>
              <p:cNvSpPr txBox="1">
                <a:spLocks noChangeArrowheads="1"/>
              </p:cNvSpPr>
              <p:nvPr/>
            </p:nvSpPr>
            <p:spPr bwMode="auto">
              <a:xfrm>
                <a:off x="2460" y="12499"/>
                <a:ext cx="541"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chemeClr val="accent2"/>
                    </a:solidFill>
                    <a:effectLst>
                      <a:outerShdw blurRad="38100" dist="38100" dir="2700000" algn="tl">
                        <a:srgbClr val="000000"/>
                      </a:outerShdw>
                    </a:effectLst>
                  </a:rPr>
                  <a:t>b</a:t>
                </a:r>
              </a:p>
            </p:txBody>
          </p:sp>
        </p:grpSp>
        <p:grpSp>
          <p:nvGrpSpPr>
            <p:cNvPr id="10260" name="Group 110"/>
            <p:cNvGrpSpPr>
              <a:grpSpLocks/>
            </p:cNvGrpSpPr>
            <p:nvPr/>
          </p:nvGrpSpPr>
          <p:grpSpPr bwMode="auto">
            <a:xfrm>
              <a:off x="4421" y="3229"/>
              <a:ext cx="609" cy="349"/>
              <a:chOff x="4421" y="3229"/>
              <a:chExt cx="609" cy="349"/>
            </a:xfrm>
          </p:grpSpPr>
          <p:sp>
            <p:nvSpPr>
              <p:cNvPr id="71" name="Text Box 107"/>
              <p:cNvSpPr txBox="1">
                <a:spLocks noChangeArrowheads="1"/>
              </p:cNvSpPr>
              <p:nvPr/>
            </p:nvSpPr>
            <p:spPr bwMode="auto">
              <a:xfrm>
                <a:off x="4687" y="3276"/>
                <a:ext cx="343" cy="302"/>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solidFill>
                      <a:srgbClr val="FF33CC"/>
                    </a:solidFill>
                    <a:effectLst>
                      <a:outerShdw blurRad="38100" dist="38100" dir="2700000" algn="tl">
                        <a:srgbClr val="000000"/>
                      </a:outerShdw>
                    </a:effectLst>
                  </a:rPr>
                  <a:t>8.7</a:t>
                </a:r>
                <a:endParaRPr lang="zh-CN" altLang="zh-CN" sz="2000" b="1" dirty="0">
                  <a:solidFill>
                    <a:srgbClr val="FF33CC"/>
                  </a:solidFill>
                  <a:effectLst>
                    <a:outerShdw blurRad="38100" dist="38100" dir="2700000" algn="tl">
                      <a:srgbClr val="000000"/>
                    </a:outerShdw>
                  </a:effectLst>
                </a:endParaRPr>
              </a:p>
            </p:txBody>
          </p:sp>
          <p:sp>
            <p:nvSpPr>
              <p:cNvPr id="10262" name="Text Box 108"/>
              <p:cNvSpPr txBox="1">
                <a:spLocks noChangeArrowheads="1"/>
              </p:cNvSpPr>
              <p:nvPr/>
            </p:nvSpPr>
            <p:spPr bwMode="auto">
              <a:xfrm>
                <a:off x="4421" y="3229"/>
                <a:ext cx="45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华文细黑" pitchFamily="2" charset="-122"/>
                  </a:defRPr>
                </a:lvl1pPr>
                <a:lvl2pPr marL="742950" indent="-285750" eaLnBrk="0" hangingPunct="0">
                  <a:defRPr>
                    <a:solidFill>
                      <a:schemeClr val="tx1"/>
                    </a:solidFill>
                    <a:latin typeface="Arial" charset="0"/>
                    <a:ea typeface="华文细黑" pitchFamily="2" charset="-122"/>
                  </a:defRPr>
                </a:lvl2pPr>
                <a:lvl3pPr marL="1143000" indent="-228600" eaLnBrk="0" hangingPunct="0">
                  <a:defRPr>
                    <a:solidFill>
                      <a:schemeClr val="tx1"/>
                    </a:solidFill>
                    <a:latin typeface="Arial" charset="0"/>
                    <a:ea typeface="华文细黑" pitchFamily="2" charset="-122"/>
                  </a:defRPr>
                </a:lvl3pPr>
                <a:lvl4pPr marL="1600200" indent="-228600" eaLnBrk="0" hangingPunct="0">
                  <a:defRPr>
                    <a:solidFill>
                      <a:schemeClr val="tx1"/>
                    </a:solidFill>
                    <a:latin typeface="Arial" charset="0"/>
                    <a:ea typeface="华文细黑" pitchFamily="2" charset="-122"/>
                  </a:defRPr>
                </a:lvl4pPr>
                <a:lvl5pPr marL="2057400" indent="-228600" eaLnBrk="0" hangingPunct="0">
                  <a:defRPr>
                    <a:solidFill>
                      <a:schemeClr val="tx1"/>
                    </a:solidFill>
                    <a:latin typeface="Arial" charset="0"/>
                    <a:ea typeface="华文细黑" pitchFamily="2" charset="-122"/>
                  </a:defRPr>
                </a:lvl5pPr>
                <a:lvl6pPr marL="2514600" indent="-228600" algn="ctr" eaLnBrk="0" fontAlgn="base" hangingPunct="0">
                  <a:spcBef>
                    <a:spcPct val="0"/>
                  </a:spcBef>
                  <a:spcAft>
                    <a:spcPct val="0"/>
                  </a:spcAft>
                  <a:defRPr>
                    <a:solidFill>
                      <a:schemeClr val="tx1"/>
                    </a:solidFill>
                    <a:latin typeface="Arial" charset="0"/>
                    <a:ea typeface="华文细黑" pitchFamily="2" charset="-122"/>
                  </a:defRPr>
                </a:lvl6pPr>
                <a:lvl7pPr marL="2971800" indent="-228600" algn="ctr" eaLnBrk="0" fontAlgn="base" hangingPunct="0">
                  <a:spcBef>
                    <a:spcPct val="0"/>
                  </a:spcBef>
                  <a:spcAft>
                    <a:spcPct val="0"/>
                  </a:spcAft>
                  <a:defRPr>
                    <a:solidFill>
                      <a:schemeClr val="tx1"/>
                    </a:solidFill>
                    <a:latin typeface="Arial" charset="0"/>
                    <a:ea typeface="华文细黑" pitchFamily="2" charset="-122"/>
                  </a:defRPr>
                </a:lvl7pPr>
                <a:lvl8pPr marL="3429000" indent="-228600" algn="ctr" eaLnBrk="0" fontAlgn="base" hangingPunct="0">
                  <a:spcBef>
                    <a:spcPct val="0"/>
                  </a:spcBef>
                  <a:spcAft>
                    <a:spcPct val="0"/>
                  </a:spcAft>
                  <a:defRPr>
                    <a:solidFill>
                      <a:schemeClr val="tx1"/>
                    </a:solidFill>
                    <a:latin typeface="Arial" charset="0"/>
                    <a:ea typeface="华文细黑" pitchFamily="2" charset="-122"/>
                  </a:defRPr>
                </a:lvl8pPr>
                <a:lvl9pPr marL="3886200" indent="-228600" algn="ctr" eaLnBrk="0" fontAlgn="base" hangingPunct="0">
                  <a:spcBef>
                    <a:spcPct val="0"/>
                  </a:spcBef>
                  <a:spcAft>
                    <a:spcPct val="0"/>
                  </a:spcAft>
                  <a:defRPr>
                    <a:solidFill>
                      <a:schemeClr val="tx1"/>
                    </a:solidFill>
                    <a:latin typeface="Arial" charset="0"/>
                    <a:ea typeface="华文细黑" pitchFamily="2" charset="-122"/>
                  </a:defRPr>
                </a:lvl9pPr>
              </a:lstStyle>
              <a:p>
                <a:pPr algn="just" eaLnBrk="1" hangingPunct="1"/>
                <a:r>
                  <a:rPr lang="en-US" altLang="zh-CN" sz="2800" b="1">
                    <a:solidFill>
                      <a:srgbClr val="008000"/>
                    </a:solidFill>
                    <a:latin typeface="Times New Roman" pitchFamily="18" charset="0"/>
                    <a:cs typeface="Times New Roman" pitchFamily="18" charset="0"/>
                  </a:rPr>
                  <a:t>z</a:t>
                </a:r>
              </a:p>
            </p:txBody>
          </p:sp>
        </p:grpSp>
      </p:grpSp>
      <p:sp>
        <p:nvSpPr>
          <p:cNvPr id="81" name="Text Box 108"/>
          <p:cNvSpPr txBox="1">
            <a:spLocks noChangeArrowheads="1"/>
          </p:cNvSpPr>
          <p:nvPr/>
        </p:nvSpPr>
        <p:spPr bwMode="auto">
          <a:xfrm>
            <a:off x="10033075" y="4292601"/>
            <a:ext cx="6762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800" b="1" dirty="0">
                <a:solidFill>
                  <a:srgbClr val="008000"/>
                </a:solidFill>
                <a:effectLst>
                  <a:outerShdw blurRad="38100" dist="38100" dir="2700000" algn="tl">
                    <a:srgbClr val="000000">
                      <a:alpha val="43137"/>
                    </a:srgbClr>
                  </a:outerShdw>
                </a:effectLst>
                <a:latin typeface="Times New Roman" pitchFamily="18" charset="0"/>
                <a:cs typeface="Times New Roman" pitchFamily="18" charset="0"/>
              </a:rPr>
              <a:t>+</a:t>
            </a:r>
          </a:p>
        </p:txBody>
      </p:sp>
      <p:sp>
        <p:nvSpPr>
          <p:cNvPr id="54" name="AutoShape 26"/>
          <p:cNvSpPr>
            <a:spLocks noChangeArrowheads="1"/>
          </p:cNvSpPr>
          <p:nvPr/>
        </p:nvSpPr>
        <p:spPr bwMode="auto">
          <a:xfrm>
            <a:off x="4865688" y="2003911"/>
            <a:ext cx="2171700" cy="647700"/>
          </a:xfrm>
          <a:prstGeom prst="wedgeRoundRectCallout">
            <a:avLst>
              <a:gd name="adj1" fmla="val -55324"/>
              <a:gd name="adj2" fmla="val -126505"/>
              <a:gd name="adj3" fmla="val 16667"/>
            </a:avLst>
          </a:prstGeom>
          <a:solidFill>
            <a:srgbClr val="FFFF99"/>
          </a:solidFill>
          <a:ln w="38100">
            <a:solidFill>
              <a:srgbClr val="FF0066"/>
            </a:solidFill>
            <a:miter lim="800000"/>
            <a:headEnd/>
            <a:tailEnd/>
          </a:ln>
        </p:spPr>
        <p:txBody>
          <a:bodyPr anchor="ctr"/>
          <a:lstStyle/>
          <a:p>
            <a:r>
              <a:rPr lang="zh-CN" altLang="en-US" sz="3200" b="1">
                <a:latin typeface="Times New Roman" pitchFamily="18" charset="0"/>
                <a:ea typeface="方正姚体" pitchFamily="2" charset="-122"/>
                <a:cs typeface="Times New Roman" pitchFamily="18" charset="0"/>
              </a:rPr>
              <a:t>形式参数</a:t>
            </a:r>
          </a:p>
        </p:txBody>
      </p:sp>
      <p:sp>
        <p:nvSpPr>
          <p:cNvPr id="55" name="AutoShape 27"/>
          <p:cNvSpPr>
            <a:spLocks noChangeArrowheads="1"/>
          </p:cNvSpPr>
          <p:nvPr/>
        </p:nvSpPr>
        <p:spPr bwMode="auto">
          <a:xfrm>
            <a:off x="3469481" y="5857875"/>
            <a:ext cx="2087563" cy="720725"/>
          </a:xfrm>
          <a:prstGeom prst="wedgeRoundRectCallout">
            <a:avLst>
              <a:gd name="adj1" fmla="val 78408"/>
              <a:gd name="adj2" fmla="val -58471"/>
              <a:gd name="adj3" fmla="val 16667"/>
            </a:avLst>
          </a:prstGeom>
          <a:solidFill>
            <a:srgbClr val="FFFF99"/>
          </a:solidFill>
          <a:ln w="38100">
            <a:solidFill>
              <a:srgbClr val="FF0066"/>
            </a:solidFill>
            <a:miter lim="800000"/>
            <a:headEnd/>
            <a:tailEnd/>
          </a:ln>
        </p:spPr>
        <p:txBody>
          <a:bodyPr anchor="ctr"/>
          <a:lstStyle/>
          <a:p>
            <a:r>
              <a:rPr lang="zh-CN" altLang="en-US" sz="3200" b="1">
                <a:latin typeface="方正姚体" pitchFamily="2" charset="-122"/>
                <a:ea typeface="方正姚体" pitchFamily="2" charset="-122"/>
              </a:rPr>
              <a:t>实际参数</a:t>
            </a:r>
          </a:p>
        </p:txBody>
      </p:sp>
      <p:sp>
        <p:nvSpPr>
          <p:cNvPr id="83" name="圆角矩形标注 1">
            <a:extLst>
              <a:ext uri="{FF2B5EF4-FFF2-40B4-BE49-F238E27FC236}">
                <a16:creationId xmlns:a16="http://schemas.microsoft.com/office/drawing/2014/main" id="{0211596B-6C7D-4116-88AC-EC5DCEC08836}"/>
              </a:ext>
            </a:extLst>
          </p:cNvPr>
          <p:cNvSpPr/>
          <p:nvPr/>
        </p:nvSpPr>
        <p:spPr bwMode="auto">
          <a:xfrm>
            <a:off x="1843088" y="2492375"/>
            <a:ext cx="5675312" cy="4130402"/>
          </a:xfrm>
          <a:prstGeom prst="wedgeRoundRectCallout">
            <a:avLst>
              <a:gd name="adj1" fmla="val 72002"/>
              <a:gd name="adj2" fmla="val -4757"/>
              <a:gd name="adj3" fmla="val 16667"/>
            </a:avLst>
          </a:prstGeom>
          <a:solidFill>
            <a:srgbClr val="FFFF00"/>
          </a:solidFill>
          <a:ln w="50800" cap="flat" cmpd="sng" algn="ctr">
            <a:solidFill>
              <a:srgbClr val="FF0066"/>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l">
              <a:defRPr/>
            </a:pPr>
            <a:r>
              <a:rPr lang="zh-CN" altLang="en-US" sz="3200" b="1" dirty="0">
                <a:solidFill>
                  <a:srgbClr val="008000"/>
                </a:solidFill>
                <a:effectLst>
                  <a:outerShdw blurRad="38100" dist="38100" dir="2700000" algn="tl">
                    <a:srgbClr val="000000"/>
                  </a:outerShdw>
                </a:effectLst>
                <a:latin typeface="方正姚体" pitchFamily="2" charset="-122"/>
                <a:ea typeface="方正姚体" pitchFamily="2" charset="-122"/>
              </a:rPr>
              <a:t>传值调用总结：</a:t>
            </a:r>
            <a:endParaRPr lang="en-US" altLang="zh-CN" sz="3200" b="1" dirty="0">
              <a:solidFill>
                <a:srgbClr val="008000"/>
              </a:solidFill>
              <a:effectLst>
                <a:outerShdw blurRad="38100" dist="38100" dir="2700000" algn="tl">
                  <a:srgbClr val="000000"/>
                </a:outerShdw>
              </a:effectLst>
              <a:latin typeface="方正姚体" pitchFamily="2" charset="-122"/>
              <a:ea typeface="方正姚体" pitchFamily="2" charset="-122"/>
            </a:endParaRPr>
          </a:p>
          <a:p>
            <a:pPr algn="l">
              <a:buFont typeface="Wingdings" pitchFamily="2" charset="2"/>
              <a:buChar char="Ø"/>
              <a:defRPr/>
            </a:pPr>
            <a:r>
              <a:rPr lang="zh-CN" altLang="en-US" sz="3200" b="1" dirty="0">
                <a:solidFill>
                  <a:srgbClr val="008000"/>
                </a:solidFill>
                <a:effectLst>
                  <a:outerShdw blurRad="38100" dist="38100" dir="2700000" algn="tl">
                    <a:srgbClr val="000000"/>
                  </a:outerShdw>
                </a:effectLst>
                <a:latin typeface="方正姚体" pitchFamily="2" charset="-122"/>
                <a:ea typeface="方正姚体" pitchFamily="2" charset="-122"/>
              </a:rPr>
              <a:t>方式：</a:t>
            </a:r>
            <a:endParaRPr lang="en-US" altLang="zh-CN" sz="3200" b="1" dirty="0">
              <a:solidFill>
                <a:srgbClr val="008000"/>
              </a:solidFill>
              <a:effectLst>
                <a:outerShdw blurRad="38100" dist="38100" dir="2700000" algn="tl">
                  <a:srgbClr val="000000"/>
                </a:outerShdw>
              </a:effectLst>
              <a:latin typeface="方正姚体" pitchFamily="2" charset="-122"/>
              <a:ea typeface="方正姚体" pitchFamily="2" charset="-122"/>
            </a:endParaRPr>
          </a:p>
          <a:p>
            <a:pPr algn="l">
              <a:defRPr/>
            </a:pPr>
            <a:r>
              <a:rPr lang="zh-CN" altLang="en-US" sz="3200" b="1" dirty="0">
                <a:effectLst>
                  <a:outerShdw blurRad="38100" dist="38100" dir="2700000" algn="tl">
                    <a:srgbClr val="FFFFFF"/>
                  </a:outerShdw>
                </a:effectLst>
                <a:latin typeface="方正姚体" pitchFamily="2" charset="-122"/>
                <a:ea typeface="方正姚体" pitchFamily="2" charset="-122"/>
              </a:rPr>
              <a:t>   实参的值</a:t>
            </a:r>
            <a:r>
              <a:rPr lang="zh-CN" altLang="en-US" sz="3200" b="1" dirty="0">
                <a:solidFill>
                  <a:srgbClr val="FF3300"/>
                </a:solidFill>
                <a:effectLst>
                  <a:outerShdw blurRad="38100" dist="38100" dir="2700000" algn="tl">
                    <a:srgbClr val="000000"/>
                  </a:outerShdw>
                </a:effectLst>
                <a:latin typeface="方正姚体" pitchFamily="2" charset="-122"/>
                <a:ea typeface="方正姚体" pitchFamily="2" charset="-122"/>
              </a:rPr>
              <a:t>复制</a:t>
            </a:r>
            <a:r>
              <a:rPr lang="zh-CN" altLang="en-US" sz="3200" b="1" dirty="0">
                <a:effectLst>
                  <a:outerShdw blurRad="38100" dist="38100" dir="2700000" algn="tl">
                    <a:srgbClr val="FFFFFF"/>
                  </a:outerShdw>
                </a:effectLst>
                <a:latin typeface="方正姚体" pitchFamily="2" charset="-122"/>
                <a:ea typeface="方正姚体" pitchFamily="2" charset="-122"/>
              </a:rPr>
              <a:t>到形参中；</a:t>
            </a:r>
            <a:endParaRPr lang="en-US" altLang="zh-CN" sz="3200" b="1" dirty="0">
              <a:effectLst>
                <a:outerShdw blurRad="38100" dist="38100" dir="2700000" algn="tl">
                  <a:srgbClr val="FFFFFF"/>
                </a:outerShdw>
              </a:effectLst>
              <a:latin typeface="方正姚体" pitchFamily="2" charset="-122"/>
              <a:ea typeface="方正姚体" pitchFamily="2" charset="-122"/>
            </a:endParaRPr>
          </a:p>
          <a:p>
            <a:pPr algn="l">
              <a:buFont typeface="Wingdings" pitchFamily="2" charset="2"/>
              <a:buChar char="Ø"/>
              <a:defRPr/>
            </a:pPr>
            <a:r>
              <a:rPr lang="zh-CN" altLang="en-US" sz="3200" b="1" dirty="0">
                <a:solidFill>
                  <a:srgbClr val="008000"/>
                </a:solidFill>
                <a:effectLst>
                  <a:outerShdw blurRad="38100" dist="38100" dir="2700000" algn="tl">
                    <a:srgbClr val="000000"/>
                  </a:outerShdw>
                </a:effectLst>
                <a:latin typeface="方正姚体" pitchFamily="2" charset="-122"/>
                <a:ea typeface="方正姚体" pitchFamily="2" charset="-122"/>
              </a:rPr>
              <a:t> 特点：</a:t>
            </a:r>
          </a:p>
          <a:p>
            <a:pPr algn="l">
              <a:defRPr/>
            </a:pPr>
            <a:r>
              <a:rPr lang="zh-CN" altLang="en-US" sz="3200" b="1" dirty="0">
                <a:effectLst>
                  <a:outerShdw blurRad="38100" dist="38100" dir="2700000" algn="tl">
                    <a:srgbClr val="FFFFFF"/>
                  </a:outerShdw>
                </a:effectLst>
                <a:latin typeface="方正姚体" pitchFamily="2" charset="-122"/>
                <a:ea typeface="方正姚体" pitchFamily="2" charset="-122"/>
              </a:rPr>
              <a:t>   ① 形参与实参占用</a:t>
            </a:r>
            <a:r>
              <a:rPr lang="zh-CN" altLang="en-US" sz="3200" b="1" dirty="0">
                <a:solidFill>
                  <a:srgbClr val="FF3300"/>
                </a:solidFill>
                <a:effectLst>
                  <a:outerShdw blurRad="38100" dist="38100" dir="2700000" algn="tl">
                    <a:srgbClr val="000000"/>
                  </a:outerShdw>
                </a:effectLst>
                <a:latin typeface="方正姚体" pitchFamily="2" charset="-122"/>
                <a:ea typeface="方正姚体" pitchFamily="2" charset="-122"/>
              </a:rPr>
              <a:t>不同</a:t>
            </a:r>
            <a:endParaRPr lang="en-US" altLang="zh-CN" sz="3200" b="1" dirty="0">
              <a:solidFill>
                <a:srgbClr val="FF3300"/>
              </a:solidFill>
              <a:effectLst>
                <a:outerShdw blurRad="38100" dist="38100" dir="2700000" algn="tl">
                  <a:srgbClr val="000000"/>
                </a:outerShdw>
              </a:effectLst>
              <a:latin typeface="方正姚体" pitchFamily="2" charset="-122"/>
              <a:ea typeface="方正姚体" pitchFamily="2" charset="-122"/>
            </a:endParaRPr>
          </a:p>
          <a:p>
            <a:pPr algn="l">
              <a:defRPr/>
            </a:pPr>
            <a:r>
              <a:rPr lang="zh-CN" altLang="en-US" sz="3200" b="1" dirty="0">
                <a:effectLst>
                  <a:outerShdw blurRad="38100" dist="38100" dir="2700000" algn="tl">
                    <a:srgbClr val="FFFFFF"/>
                  </a:outerShdw>
                </a:effectLst>
                <a:latin typeface="方正姚体" pitchFamily="2" charset="-122"/>
                <a:ea typeface="方正姚体" pitchFamily="2" charset="-122"/>
              </a:rPr>
              <a:t>        的内存单元</a:t>
            </a:r>
          </a:p>
          <a:p>
            <a:pPr algn="l">
              <a:defRPr/>
            </a:pPr>
            <a:r>
              <a:rPr lang="zh-CN" altLang="en-US" sz="3200" b="1" dirty="0">
                <a:solidFill>
                  <a:schemeClr val="accent2"/>
                </a:solidFill>
                <a:effectLst>
                  <a:outerShdw blurRad="38100" dist="38100" dir="2700000" algn="tl">
                    <a:srgbClr val="000000"/>
                  </a:outerShdw>
                </a:effectLst>
                <a:latin typeface="方正姚体" pitchFamily="2" charset="-122"/>
                <a:ea typeface="方正姚体" pitchFamily="2" charset="-122"/>
              </a:rPr>
              <a:t>   </a:t>
            </a:r>
            <a:r>
              <a:rPr lang="zh-CN" altLang="en-US" sz="3200" b="1" dirty="0">
                <a:effectLst>
                  <a:outerShdw blurRad="38100" dist="38100" dir="2700000" algn="tl">
                    <a:srgbClr val="FFFFFF"/>
                  </a:outerShdw>
                </a:effectLst>
                <a:latin typeface="方正姚体" pitchFamily="2" charset="-122"/>
                <a:ea typeface="方正姚体" pitchFamily="2" charset="-122"/>
              </a:rPr>
              <a:t>② </a:t>
            </a:r>
            <a:r>
              <a:rPr lang="zh-CN" altLang="en-US" sz="3200" b="1" dirty="0">
                <a:solidFill>
                  <a:srgbClr val="FF3300"/>
                </a:solidFill>
                <a:effectLst>
                  <a:outerShdw blurRad="38100" dist="38100" dir="2700000" algn="tl">
                    <a:srgbClr val="000000"/>
                  </a:outerShdw>
                </a:effectLst>
                <a:latin typeface="方正姚体" pitchFamily="2" charset="-122"/>
                <a:ea typeface="方正姚体" pitchFamily="2" charset="-122"/>
              </a:rPr>
              <a:t>单向</a:t>
            </a:r>
            <a:r>
              <a:rPr lang="zh-CN" altLang="en-US" sz="3200" b="1" dirty="0">
                <a:effectLst>
                  <a:outerShdw blurRad="38100" dist="38100" dir="2700000" algn="tl">
                    <a:srgbClr val="FFFFFF"/>
                  </a:outerShdw>
                </a:effectLst>
                <a:latin typeface="方正姚体" pitchFamily="2" charset="-122"/>
                <a:ea typeface="方正姚体" pitchFamily="2" charset="-122"/>
              </a:rPr>
              <a:t>传递</a:t>
            </a:r>
            <a:endParaRPr lang="zh-CN" altLang="en-US" sz="3200" dirty="0">
              <a:latin typeface="Arial" charset="0"/>
              <a:ea typeface="华文细黑" pitchFamily="2" charset="-122"/>
            </a:endParaRPr>
          </a:p>
        </p:txBody>
      </p:sp>
    </p:spTree>
    <p:extLst>
      <p:ext uri="{BB962C8B-B14F-4D97-AF65-F5344CB8AC3E}">
        <p14:creationId xmlns:p14="http://schemas.microsoft.com/office/powerpoint/2010/main" val="16811161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5">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25">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32"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ox(out)">
                                      <p:cBhvr>
                                        <p:cTn id="15" dur="500"/>
                                        <p:tgtEl>
                                          <p:spTgt spid="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9225">
                                            <p:txEl>
                                              <p:pRg st="6" end="6"/>
                                            </p:txEl>
                                          </p:spTgt>
                                        </p:tgtEl>
                                        <p:attrNameLst>
                                          <p:attrName>style.visibility</p:attrName>
                                        </p:attrNameLst>
                                      </p:cBhvr>
                                      <p:to>
                                        <p:strVal val="visible"/>
                                      </p:to>
                                    </p:set>
                                  </p:childTnLst>
                                </p:cTn>
                              </p:par>
                            </p:childTnLst>
                          </p:cTn>
                        </p:par>
                        <p:par>
                          <p:cTn id="20" fill="hold" nodeType="afterGroup">
                            <p:stCondLst>
                              <p:cond delay="0"/>
                            </p:stCondLst>
                            <p:childTnLst>
                              <p:par>
                                <p:cTn id="21" presetID="1" presetClass="entr" presetSubtype="0" fill="hold" nodeType="afterEffect">
                                  <p:stCondLst>
                                    <p:cond delay="0"/>
                                  </p:stCondLst>
                                  <p:childTnLst>
                                    <p:set>
                                      <p:cBhvr>
                                        <p:cTn id="22" dur="1" fill="hold">
                                          <p:stCondLst>
                                            <p:cond delay="0"/>
                                          </p:stCondLst>
                                        </p:cTn>
                                        <p:tgtEl>
                                          <p:spTgt spid="9225">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blinds(horizontal)">
                                      <p:cBhvr>
                                        <p:cTn id="27" dur="500"/>
                                        <p:tgtEl>
                                          <p:spTgt spid="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9225">
                                            <p:txEl>
                                              <p:pRg st="0" end="0"/>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blinds(horizontal)">
                                      <p:cBhvr>
                                        <p:cTn id="36" dur="500"/>
                                        <p:tgtEl>
                                          <p:spTgt spid="5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32"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box(out)">
                                      <p:cBhvr>
                                        <p:cTn id="41" dur="500"/>
                                        <p:tgtEl>
                                          <p:spTgt spid="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8" presetClass="entr" presetSubtype="12"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strips(downLeft)">
                                      <p:cBhvr>
                                        <p:cTn id="46" dur="500"/>
                                        <p:tgtEl>
                                          <p:spTgt spid="28"/>
                                        </p:tgtEl>
                                      </p:cBhvr>
                                    </p:animEffect>
                                  </p:childTnLst>
                                </p:cTn>
                              </p:par>
                            </p:childTnLst>
                          </p:cTn>
                        </p:par>
                        <p:par>
                          <p:cTn id="47" fill="hold" nodeType="afterGroup">
                            <p:stCondLst>
                              <p:cond delay="500"/>
                            </p:stCondLst>
                            <p:childTnLst>
                              <p:par>
                                <p:cTn id="48" presetID="4" presetClass="entr" presetSubtype="16" fill="hold" nodeType="after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box(in)">
                                      <p:cBhvr>
                                        <p:cTn id="50" dur="500"/>
                                        <p:tgtEl>
                                          <p:spTgt spid="2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12"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strips(downLeft)">
                                      <p:cBhvr>
                                        <p:cTn id="55" dur="500"/>
                                        <p:tgtEl>
                                          <p:spTgt spid="27"/>
                                        </p:tgtEl>
                                      </p:cBhvr>
                                    </p:animEffect>
                                  </p:childTnLst>
                                </p:cTn>
                              </p:par>
                            </p:childTnLst>
                          </p:cTn>
                        </p:par>
                        <p:par>
                          <p:cTn id="56" fill="hold" nodeType="afterGroup">
                            <p:stCondLst>
                              <p:cond delay="500"/>
                            </p:stCondLst>
                            <p:childTnLst>
                              <p:par>
                                <p:cTn id="57" presetID="4" presetClass="entr" presetSubtype="16" fill="hold"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box(in)">
                                      <p:cBhvr>
                                        <p:cTn id="59" dur="500"/>
                                        <p:tgtEl>
                                          <p:spTgt spid="2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nodeType="clickEffect">
                                  <p:stCondLst>
                                    <p:cond delay="0"/>
                                  </p:stCondLst>
                                  <p:childTnLst>
                                    <p:set>
                                      <p:cBhvr>
                                        <p:cTn id="63" dur="1" fill="hold">
                                          <p:stCondLst>
                                            <p:cond delay="0"/>
                                          </p:stCondLst>
                                        </p:cTn>
                                        <p:tgtEl>
                                          <p:spTgt spid="9225">
                                            <p:txEl>
                                              <p:pRg st="1" end="1"/>
                                            </p:txEl>
                                          </p:spTgt>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0"/>
                                          </p:stCondLst>
                                        </p:cTn>
                                        <p:tgtEl>
                                          <p:spTgt spid="9225">
                                            <p:txEl>
                                              <p:pRg st="2" end="2"/>
                                            </p:txEl>
                                          </p:spTgt>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0"/>
                                          </p:stCondLst>
                                        </p:cTn>
                                        <p:tgtEl>
                                          <p:spTgt spid="9225">
                                            <p:txEl>
                                              <p:pRg st="3" end="3"/>
                                            </p:txEl>
                                          </p:spTgt>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4" presetClass="entr" presetSubtype="32" fill="hold" nodeType="click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box(out)">
                                      <p:cBhvr>
                                        <p:cTn id="76" dur="500"/>
                                        <p:tgtEl>
                                          <p:spTgt spid="63"/>
                                        </p:tgtEl>
                                      </p:cBhvr>
                                    </p:animEffect>
                                  </p:childTnLst>
                                </p:cTn>
                              </p:par>
                            </p:childTnLst>
                          </p:cTn>
                        </p:par>
                        <p:par>
                          <p:cTn id="77" fill="hold" nodeType="afterGroup">
                            <p:stCondLst>
                              <p:cond delay="500"/>
                            </p:stCondLst>
                            <p:childTnLst>
                              <p:par>
                                <p:cTn id="78" presetID="1" presetClass="entr" presetSubtype="0" fill="hold" grpId="0" nodeType="afterEffect">
                                  <p:stCondLst>
                                    <p:cond delay="0"/>
                                  </p:stCondLst>
                                  <p:childTnLst>
                                    <p:set>
                                      <p:cBhvr>
                                        <p:cTn id="79" dur="1" fill="hold">
                                          <p:stCondLst>
                                            <p:cond delay="0"/>
                                          </p:stCondLst>
                                        </p:cTn>
                                        <p:tgtEl>
                                          <p:spTgt spid="81"/>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4" presetClass="entr" presetSubtype="32" fill="hold" nodeType="clickEffect">
                                  <p:stCondLst>
                                    <p:cond delay="0"/>
                                  </p:stCondLst>
                                  <p:childTnLst>
                                    <p:set>
                                      <p:cBhvr>
                                        <p:cTn id="83" dur="1" fill="hold">
                                          <p:stCondLst>
                                            <p:cond delay="0"/>
                                          </p:stCondLst>
                                        </p:cTn>
                                        <p:tgtEl>
                                          <p:spTgt spid="53"/>
                                        </p:tgtEl>
                                        <p:attrNameLst>
                                          <p:attrName>style.visibility</p:attrName>
                                        </p:attrNameLst>
                                      </p:cBhvr>
                                      <p:to>
                                        <p:strVal val="visible"/>
                                      </p:to>
                                    </p:set>
                                    <p:animEffect transition="in" filter="box(out)">
                                      <p:cBhvr>
                                        <p:cTn id="84" dur="500"/>
                                        <p:tgtEl>
                                          <p:spTgt spid="53"/>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83"/>
                                        </p:tgtEl>
                                        <p:attrNameLst>
                                          <p:attrName>style.visibility</p:attrName>
                                        </p:attrNameLst>
                                      </p:cBhvr>
                                      <p:to>
                                        <p:strVal val="visible"/>
                                      </p:to>
                                    </p:set>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81" grpId="0"/>
      <p:bldP spid="54" grpId="0" animBg="1"/>
      <p:bldP spid="55" grpId="0" animBg="1"/>
      <p:bldP spid="8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41300" y="1523675"/>
            <a:ext cx="2301723" cy="3844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华文细黑" pitchFamily="2" charset="-122"/>
              </a:defRPr>
            </a:lvl1pPr>
            <a:lvl2pPr marL="742950" indent="-285750" eaLnBrk="0" hangingPunct="0">
              <a:defRPr>
                <a:solidFill>
                  <a:schemeClr val="tx1"/>
                </a:solidFill>
                <a:latin typeface="Arial" charset="0"/>
                <a:ea typeface="华文细黑" pitchFamily="2" charset="-122"/>
              </a:defRPr>
            </a:lvl2pPr>
            <a:lvl3pPr marL="1143000" indent="-228600" eaLnBrk="0" hangingPunct="0">
              <a:defRPr>
                <a:solidFill>
                  <a:schemeClr val="tx1"/>
                </a:solidFill>
                <a:latin typeface="Arial" charset="0"/>
                <a:ea typeface="华文细黑" pitchFamily="2" charset="-122"/>
              </a:defRPr>
            </a:lvl3pPr>
            <a:lvl4pPr marL="1600200" indent="-228600" eaLnBrk="0" hangingPunct="0">
              <a:defRPr>
                <a:solidFill>
                  <a:schemeClr val="tx1"/>
                </a:solidFill>
                <a:latin typeface="Arial" charset="0"/>
                <a:ea typeface="华文细黑" pitchFamily="2" charset="-122"/>
              </a:defRPr>
            </a:lvl4pPr>
            <a:lvl5pPr marL="2057400" indent="-228600" eaLnBrk="0" hangingPunct="0">
              <a:defRPr>
                <a:solidFill>
                  <a:schemeClr val="tx1"/>
                </a:solidFill>
                <a:latin typeface="Arial" charset="0"/>
                <a:ea typeface="华文细黑" pitchFamily="2" charset="-122"/>
              </a:defRPr>
            </a:lvl5pPr>
            <a:lvl6pPr marL="2514600" indent="-228600" algn="ctr" eaLnBrk="0" fontAlgn="base" hangingPunct="0">
              <a:spcBef>
                <a:spcPct val="0"/>
              </a:spcBef>
              <a:spcAft>
                <a:spcPct val="0"/>
              </a:spcAft>
              <a:defRPr>
                <a:solidFill>
                  <a:schemeClr val="tx1"/>
                </a:solidFill>
                <a:latin typeface="Arial" charset="0"/>
                <a:ea typeface="华文细黑" pitchFamily="2" charset="-122"/>
              </a:defRPr>
            </a:lvl6pPr>
            <a:lvl7pPr marL="2971800" indent="-228600" algn="ctr" eaLnBrk="0" fontAlgn="base" hangingPunct="0">
              <a:spcBef>
                <a:spcPct val="0"/>
              </a:spcBef>
              <a:spcAft>
                <a:spcPct val="0"/>
              </a:spcAft>
              <a:defRPr>
                <a:solidFill>
                  <a:schemeClr val="tx1"/>
                </a:solidFill>
                <a:latin typeface="Arial" charset="0"/>
                <a:ea typeface="华文细黑" pitchFamily="2" charset="-122"/>
              </a:defRPr>
            </a:lvl7pPr>
            <a:lvl8pPr marL="3429000" indent="-228600" algn="ctr" eaLnBrk="0" fontAlgn="base" hangingPunct="0">
              <a:spcBef>
                <a:spcPct val="0"/>
              </a:spcBef>
              <a:spcAft>
                <a:spcPct val="0"/>
              </a:spcAft>
              <a:defRPr>
                <a:solidFill>
                  <a:schemeClr val="tx1"/>
                </a:solidFill>
                <a:latin typeface="Arial" charset="0"/>
                <a:ea typeface="华文细黑" pitchFamily="2" charset="-122"/>
              </a:defRPr>
            </a:lvl8pPr>
            <a:lvl9pPr marL="3886200" indent="-228600" algn="ctr" eaLnBrk="0" fontAlgn="base" hangingPunct="0">
              <a:spcBef>
                <a:spcPct val="0"/>
              </a:spcBef>
              <a:spcAft>
                <a:spcPct val="0"/>
              </a:spcAft>
              <a:defRPr>
                <a:solidFill>
                  <a:schemeClr val="tx1"/>
                </a:solidFill>
                <a:latin typeface="Arial" charset="0"/>
                <a:ea typeface="华文细黑" pitchFamily="2" charset="-122"/>
              </a:defRPr>
            </a:lvl9pPr>
          </a:lstStyle>
          <a:p>
            <a:pPr algn="l" eaLnBrk="1" hangingPunct="1">
              <a:lnSpc>
                <a:spcPct val="150000"/>
              </a:lnSpc>
              <a:spcBef>
                <a:spcPts val="1200"/>
              </a:spcBef>
            </a:pPr>
            <a:r>
              <a:rPr lang="zh-CN" altLang="en-US" sz="3200" b="1" dirty="0">
                <a:solidFill>
                  <a:srgbClr val="C00000"/>
                </a:solidFill>
                <a:latin typeface="Times New Roman" pitchFamily="18" charset="0"/>
                <a:ea typeface="方正姚体" pitchFamily="2" charset="-122"/>
                <a:cs typeface="Times New Roman" pitchFamily="18" charset="0"/>
              </a:rPr>
              <a:t>定义</a:t>
            </a:r>
            <a:r>
              <a:rPr lang="en-US" altLang="zh-CN" sz="3200" b="1" dirty="0">
                <a:latin typeface="Times New Roman" pitchFamily="18" charset="0"/>
                <a:ea typeface="方正姚体" pitchFamily="2" charset="-122"/>
                <a:cs typeface="Times New Roman" pitchFamily="18" charset="0"/>
              </a:rPr>
              <a:t>swap</a:t>
            </a:r>
            <a:r>
              <a:rPr lang="zh-CN" altLang="en-US" sz="3200" b="1" dirty="0">
                <a:latin typeface="Times New Roman" pitchFamily="18" charset="0"/>
                <a:ea typeface="方正姚体" pitchFamily="2" charset="-122"/>
                <a:cs typeface="Times New Roman" pitchFamily="18" charset="0"/>
              </a:rPr>
              <a:t>函数，实现两个数的交换</a:t>
            </a:r>
            <a:endParaRPr lang="en-US" altLang="zh-CN" sz="3200" b="1" dirty="0">
              <a:latin typeface="Times New Roman" pitchFamily="18" charset="0"/>
              <a:ea typeface="方正姚体" pitchFamily="2" charset="-122"/>
              <a:cs typeface="Times New Roman" pitchFamily="18" charset="0"/>
            </a:endParaRPr>
          </a:p>
          <a:p>
            <a:pPr algn="l" eaLnBrk="1" hangingPunct="1">
              <a:lnSpc>
                <a:spcPct val="150000"/>
              </a:lnSpc>
              <a:spcBef>
                <a:spcPts val="1200"/>
              </a:spcBef>
            </a:pPr>
            <a:r>
              <a:rPr lang="zh-CN" altLang="en-US" sz="3200" b="1" dirty="0">
                <a:solidFill>
                  <a:srgbClr val="C00000"/>
                </a:solidFill>
                <a:latin typeface="Times New Roman" pitchFamily="18" charset="0"/>
                <a:ea typeface="方正姚体" pitchFamily="2" charset="-122"/>
                <a:cs typeface="Times New Roman" pitchFamily="18" charset="0"/>
              </a:rPr>
              <a:t>编写</a:t>
            </a:r>
            <a:r>
              <a:rPr lang="en-US" altLang="zh-CN" sz="3200" b="1" dirty="0">
                <a:latin typeface="Times New Roman" pitchFamily="18" charset="0"/>
                <a:ea typeface="方正姚体" pitchFamily="2" charset="-122"/>
                <a:cs typeface="Times New Roman" pitchFamily="18" charset="0"/>
              </a:rPr>
              <a:t>main</a:t>
            </a:r>
            <a:r>
              <a:rPr lang="zh-CN" altLang="en-US" sz="3200" b="1" dirty="0">
                <a:latin typeface="Times New Roman" pitchFamily="18" charset="0"/>
                <a:ea typeface="方正姚体" pitchFamily="2" charset="-122"/>
                <a:cs typeface="Times New Roman" pitchFamily="18" charset="0"/>
              </a:rPr>
              <a:t>函数完成调用。</a:t>
            </a:r>
            <a:endParaRPr lang="en-US" altLang="zh-CN" sz="3200" b="1" dirty="0">
              <a:latin typeface="Times New Roman" pitchFamily="18" charset="0"/>
              <a:ea typeface="方正姚体" pitchFamily="2" charset="-122"/>
              <a:cs typeface="Times New Roman" pitchFamily="18" charset="0"/>
            </a:endParaRPr>
          </a:p>
        </p:txBody>
      </p:sp>
      <p:sp>
        <p:nvSpPr>
          <p:cNvPr id="1055753" name="Rectangle 9" descr="信纸"/>
          <p:cNvSpPr>
            <a:spLocks noChangeArrowheads="1"/>
          </p:cNvSpPr>
          <p:nvPr/>
        </p:nvSpPr>
        <p:spPr bwMode="auto">
          <a:xfrm>
            <a:off x="3054428" y="944781"/>
            <a:ext cx="5038725" cy="5632311"/>
          </a:xfrm>
          <a:prstGeom prst="rect">
            <a:avLst/>
          </a:prstGeom>
          <a:solidFill>
            <a:srgbClr val="FFFF00"/>
          </a:solidFill>
          <a:ln w="38100">
            <a:solidFill>
              <a:srgbClr val="008000"/>
            </a:solidFill>
            <a:miter lim="800000"/>
            <a:headEnd/>
            <a:tailEnd/>
          </a:ln>
          <a:effectLst>
            <a:outerShdw dist="107763" dir="2700000" algn="ctr" rotWithShape="0">
              <a:schemeClr val="bg2">
                <a:alpha val="50000"/>
              </a:schemeClr>
            </a:outerShdw>
          </a:effectLst>
        </p:spPr>
        <p:txBody>
          <a:bodyPr>
            <a:spAutoFit/>
          </a:bodyPr>
          <a:lstStyle/>
          <a:p>
            <a:pPr marL="457200" indent="-457200">
              <a:defRPr/>
            </a:pPr>
            <a:r>
              <a:rPr lang="en-US" altLang="zh-CN" sz="2400" b="1" dirty="0">
                <a:effectLst>
                  <a:outerShdw blurRad="38100" dist="38100" dir="2700000" algn="tl">
                    <a:srgbClr val="FFFFFF"/>
                  </a:outerShdw>
                </a:effectLst>
                <a:ea typeface="楷体_GB2312" pitchFamily="49" charset="-122"/>
              </a:rPr>
              <a:t>#include &lt;</a:t>
            </a:r>
            <a:r>
              <a:rPr lang="en-US" altLang="zh-CN" sz="2400" b="1" dirty="0" err="1">
                <a:effectLst>
                  <a:outerShdw blurRad="38100" dist="38100" dir="2700000" algn="tl">
                    <a:srgbClr val="FFFFFF"/>
                  </a:outerShdw>
                </a:effectLst>
                <a:ea typeface="楷体_GB2312" pitchFamily="49" charset="-122"/>
              </a:rPr>
              <a:t>stdio.h</a:t>
            </a:r>
            <a:r>
              <a:rPr lang="en-US" altLang="zh-CN" sz="2400" b="1" dirty="0">
                <a:effectLst>
                  <a:outerShdw blurRad="38100" dist="38100" dir="2700000" algn="tl">
                    <a:srgbClr val="FFFFFF"/>
                  </a:outerShdw>
                </a:effectLst>
                <a:ea typeface="楷体_GB2312" pitchFamily="49" charset="-122"/>
              </a:rPr>
              <a:t>&gt;</a:t>
            </a:r>
          </a:p>
          <a:p>
            <a:pPr marL="457200" indent="-457200">
              <a:defRPr/>
            </a:pPr>
            <a:r>
              <a:rPr lang="en-US" altLang="zh-CN" sz="2400" b="1" dirty="0">
                <a:solidFill>
                  <a:srgbClr val="C00000"/>
                </a:solidFill>
                <a:ea typeface="楷体_GB2312" pitchFamily="49" charset="-122"/>
              </a:rPr>
              <a:t>void swap (</a:t>
            </a:r>
            <a:r>
              <a:rPr lang="en-US" altLang="zh-CN" sz="2400" b="1" dirty="0" err="1">
                <a:solidFill>
                  <a:srgbClr val="C00000"/>
                </a:solidFill>
                <a:ea typeface="楷体_GB2312" pitchFamily="49" charset="-122"/>
              </a:rPr>
              <a:t>int</a:t>
            </a:r>
            <a:r>
              <a:rPr lang="en-US" altLang="zh-CN" sz="2400" b="1" dirty="0">
                <a:solidFill>
                  <a:srgbClr val="C00000"/>
                </a:solidFill>
                <a:ea typeface="楷体_GB2312" pitchFamily="49" charset="-122"/>
              </a:rPr>
              <a:t> a, </a:t>
            </a:r>
            <a:r>
              <a:rPr lang="en-US" altLang="zh-CN" sz="2400" b="1" dirty="0" err="1">
                <a:solidFill>
                  <a:srgbClr val="C00000"/>
                </a:solidFill>
                <a:ea typeface="楷体_GB2312" pitchFamily="49" charset="-122"/>
              </a:rPr>
              <a:t>int</a:t>
            </a:r>
            <a:r>
              <a:rPr lang="en-US" altLang="zh-CN" sz="2400" b="1" dirty="0">
                <a:solidFill>
                  <a:srgbClr val="C00000"/>
                </a:solidFill>
                <a:ea typeface="楷体_GB2312" pitchFamily="49" charset="-122"/>
              </a:rPr>
              <a:t> b)</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int</a:t>
            </a:r>
            <a:r>
              <a:rPr lang="en-US" altLang="zh-CN" sz="2400" b="1" dirty="0">
                <a:effectLst>
                  <a:outerShdw blurRad="38100" dist="38100" dir="2700000" algn="tl">
                    <a:srgbClr val="FFFFFF"/>
                  </a:outerShdw>
                </a:effectLst>
                <a:ea typeface="楷体_GB2312" pitchFamily="49" charset="-122"/>
              </a:rPr>
              <a:t> temp;</a:t>
            </a:r>
          </a:p>
          <a:p>
            <a:pPr marL="457200" indent="-457200">
              <a:defRPr/>
            </a:pPr>
            <a:r>
              <a:rPr lang="en-US" altLang="zh-CN" sz="2400" b="1" dirty="0">
                <a:effectLst>
                  <a:outerShdw blurRad="38100" dist="38100" dir="2700000" algn="tl">
                    <a:srgbClr val="FFFFFF"/>
                  </a:outerShdw>
                </a:effectLst>
                <a:ea typeface="楷体_GB2312" pitchFamily="49" charset="-122"/>
              </a:rPr>
              <a:t>    temp = a; </a:t>
            </a:r>
          </a:p>
          <a:p>
            <a:pPr marL="457200" indent="-457200">
              <a:defRPr/>
            </a:pPr>
            <a:r>
              <a:rPr lang="en-US" altLang="zh-CN" sz="2400" b="1" dirty="0">
                <a:effectLst>
                  <a:outerShdw blurRad="38100" dist="38100" dir="2700000" algn="tl">
                    <a:srgbClr val="FFFFFF"/>
                  </a:outerShdw>
                </a:effectLst>
                <a:ea typeface="楷体_GB2312" pitchFamily="49" charset="-122"/>
              </a:rPr>
              <a:t>    a = b; </a:t>
            </a:r>
          </a:p>
          <a:p>
            <a:pPr marL="457200" indent="-457200">
              <a:defRPr/>
            </a:pPr>
            <a:r>
              <a:rPr lang="en-US" altLang="zh-CN" sz="2400" b="1" dirty="0">
                <a:effectLst>
                  <a:outerShdw blurRad="38100" dist="38100" dir="2700000" algn="tl">
                    <a:srgbClr val="FFFFFF"/>
                  </a:outerShdw>
                </a:effectLst>
                <a:ea typeface="楷体_GB2312" pitchFamily="49" charset="-122"/>
              </a:rPr>
              <a:t>    b = temp;     }</a:t>
            </a:r>
          </a:p>
          <a:p>
            <a:pPr marL="457200" indent="-457200">
              <a:defRPr/>
            </a:pPr>
            <a:r>
              <a:rPr lang="en-US" altLang="zh-CN" sz="2400" b="1" dirty="0">
                <a:solidFill>
                  <a:srgbClr val="CC0000"/>
                </a:solidFill>
                <a:ea typeface="楷体_GB2312" pitchFamily="49" charset="-122"/>
              </a:rPr>
              <a:t>void main ( )</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int</a:t>
            </a:r>
            <a:r>
              <a:rPr lang="en-US" altLang="zh-CN" sz="2400" b="1" dirty="0">
                <a:effectLst>
                  <a:outerShdw blurRad="38100" dist="38100" dir="2700000" algn="tl">
                    <a:srgbClr val="FFFFFF"/>
                  </a:outerShdw>
                </a:effectLst>
                <a:ea typeface="楷体_GB2312" pitchFamily="49" charset="-122"/>
              </a:rPr>
              <a:t> x = 7, y = 11;</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printf</a:t>
            </a:r>
            <a:r>
              <a:rPr lang="en-US" altLang="zh-CN" sz="2400" b="1" dirty="0">
                <a:effectLst>
                  <a:outerShdw blurRad="38100" dist="38100" dir="2700000" algn="tl">
                    <a:srgbClr val="FFFFFF"/>
                  </a:outerShdw>
                </a:effectLst>
                <a:ea typeface="楷体_GB2312" pitchFamily="49" charset="-122"/>
              </a:rPr>
              <a:t> ("before swapped: ");</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printf</a:t>
            </a:r>
            <a:r>
              <a:rPr lang="en-US" altLang="zh-CN" sz="2400" b="1" dirty="0">
                <a:effectLst>
                  <a:outerShdw blurRad="38100" dist="38100" dir="2700000" algn="tl">
                    <a:srgbClr val="FFFFFF"/>
                  </a:outerShdw>
                </a:effectLst>
                <a:ea typeface="楷体_GB2312" pitchFamily="49" charset="-122"/>
              </a:rPr>
              <a:t> ("x=%d, y=%d\n", x, y);</a:t>
            </a:r>
          </a:p>
          <a:p>
            <a:pPr marL="457200" indent="-457200">
              <a:defRPr/>
            </a:pPr>
            <a:r>
              <a:rPr lang="en-US" altLang="zh-CN" sz="2400" b="1" dirty="0">
                <a:solidFill>
                  <a:schemeClr val="accent2"/>
                </a:solidFill>
                <a:ea typeface="楷体_GB2312" pitchFamily="49" charset="-122"/>
              </a:rPr>
              <a:t>    </a:t>
            </a:r>
            <a:r>
              <a:rPr lang="en-US" altLang="zh-CN" sz="2400" b="1" dirty="0">
                <a:solidFill>
                  <a:srgbClr val="FF0000"/>
                </a:solidFill>
                <a:ea typeface="楷体_GB2312" pitchFamily="49" charset="-122"/>
              </a:rPr>
              <a:t>swap (x, y);   </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printf</a:t>
            </a:r>
            <a:r>
              <a:rPr lang="en-US" altLang="zh-CN" sz="2400" b="1" dirty="0">
                <a:effectLst>
                  <a:outerShdw blurRad="38100" dist="38100" dir="2700000" algn="tl">
                    <a:srgbClr val="FFFFFF"/>
                  </a:outerShdw>
                </a:effectLst>
                <a:ea typeface="楷体_GB2312" pitchFamily="49" charset="-122"/>
              </a:rPr>
              <a:t> ("after  swapped: ");</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printf</a:t>
            </a:r>
            <a:r>
              <a:rPr lang="en-US" altLang="zh-CN" sz="2400" b="1" dirty="0">
                <a:effectLst>
                  <a:outerShdw blurRad="38100" dist="38100" dir="2700000" algn="tl">
                    <a:srgbClr val="FFFFFF"/>
                  </a:outerShdw>
                </a:effectLst>
                <a:ea typeface="楷体_GB2312" pitchFamily="49" charset="-122"/>
              </a:rPr>
              <a:t> ("x=%d, y=%d\n", x, y);     }</a:t>
            </a:r>
          </a:p>
          <a:p>
            <a:pPr marL="914400" lvl="1" indent="-457200">
              <a:defRPr/>
            </a:pPr>
            <a:endParaRPr lang="en-US" altLang="zh-CN" sz="2400" b="1" dirty="0">
              <a:effectLst>
                <a:outerShdw blurRad="38100" dist="38100" dir="2700000" algn="tl">
                  <a:srgbClr val="FFFFFF"/>
                </a:outerShdw>
              </a:effectLst>
              <a:ea typeface="楷体_GB2312" pitchFamily="49" charset="-122"/>
            </a:endParaRPr>
          </a:p>
        </p:txBody>
      </p:sp>
      <p:sp>
        <p:nvSpPr>
          <p:cNvPr id="1055757" name="Rectangle 13"/>
          <p:cNvSpPr>
            <a:spLocks noChangeArrowheads="1"/>
          </p:cNvSpPr>
          <p:nvPr/>
        </p:nvSpPr>
        <p:spPr bwMode="auto">
          <a:xfrm>
            <a:off x="8127264" y="5300663"/>
            <a:ext cx="4030663" cy="1016000"/>
          </a:xfrm>
          <a:prstGeom prst="rect">
            <a:avLst/>
          </a:prstGeom>
          <a:solidFill>
            <a:srgbClr val="FFFFFF"/>
          </a:solidFill>
          <a:ln w="38100">
            <a:solidFill>
              <a:srgbClr val="FF0000"/>
            </a:solidFill>
            <a:miter lim="800000"/>
            <a:headEnd/>
            <a:tailEnd/>
          </a:ln>
          <a:effectLst>
            <a:outerShdw dist="107763" dir="2700000" algn="ctr" rotWithShape="0">
              <a:schemeClr val="bg2">
                <a:alpha val="50000"/>
              </a:schemeClr>
            </a:outerShdw>
          </a:effectLst>
        </p:spPr>
        <p:txBody>
          <a:bodyPr anchor="ctr">
            <a:spAutoFit/>
          </a:bodyPr>
          <a:lstStyle/>
          <a:p>
            <a:pPr algn="l">
              <a:defRPr/>
            </a:pPr>
            <a:r>
              <a:rPr lang="zh-CN" altLang="en-US" sz="2000" b="1" dirty="0">
                <a:solidFill>
                  <a:srgbClr val="FF3300"/>
                </a:solidFill>
                <a:effectLst>
                  <a:outerShdw blurRad="38100" dist="38100" dir="2700000" algn="tl">
                    <a:srgbClr val="C0C0C0"/>
                  </a:outerShdw>
                </a:effectLst>
                <a:latin typeface="Times New Roman" pitchFamily="18" charset="0"/>
                <a:ea typeface="方正姚体" pitchFamily="2" charset="-122"/>
                <a:cs typeface="Times New Roman" pitchFamily="18" charset="0"/>
              </a:rPr>
              <a:t>运行结果：</a:t>
            </a:r>
          </a:p>
          <a:p>
            <a:pPr algn="l">
              <a:defRPr/>
            </a:pPr>
            <a:r>
              <a:rPr lang="en-US" altLang="zh-CN" sz="2000" b="1" dirty="0">
                <a:effectLst>
                  <a:outerShdw blurRad="38100" dist="38100" dir="2700000" algn="tl">
                    <a:srgbClr val="C0C0C0"/>
                  </a:outerShdw>
                </a:effectLst>
                <a:latin typeface="Times New Roman" pitchFamily="18" charset="0"/>
                <a:ea typeface="方正姚体" pitchFamily="2" charset="-122"/>
                <a:cs typeface="Times New Roman" pitchFamily="18" charset="0"/>
              </a:rPr>
              <a:t>before swapped: x = 7, y = 11</a:t>
            </a:r>
          </a:p>
          <a:p>
            <a:pPr algn="l">
              <a:defRPr/>
            </a:pPr>
            <a:r>
              <a:rPr lang="en-US" altLang="zh-CN" sz="2000" b="1" dirty="0">
                <a:effectLst>
                  <a:outerShdw blurRad="38100" dist="38100" dir="2700000" algn="tl">
                    <a:srgbClr val="C0C0C0"/>
                  </a:outerShdw>
                </a:effectLst>
                <a:latin typeface="Times New Roman" pitchFamily="18" charset="0"/>
                <a:ea typeface="方正姚体" pitchFamily="2" charset="-122"/>
                <a:cs typeface="Times New Roman" pitchFamily="18" charset="0"/>
              </a:rPr>
              <a:t>after  swapped:  </a:t>
            </a:r>
            <a:r>
              <a:rPr lang="en-US" altLang="zh-CN" sz="2000" b="1" dirty="0">
                <a:solidFill>
                  <a:srgbClr val="C00000"/>
                </a:solidFill>
                <a:effectLst>
                  <a:outerShdw blurRad="38100" dist="38100" dir="2700000" algn="tl">
                    <a:srgbClr val="C0C0C0"/>
                  </a:outerShdw>
                </a:effectLst>
                <a:latin typeface="Times New Roman" pitchFamily="18" charset="0"/>
                <a:ea typeface="方正姚体" pitchFamily="2" charset="-122"/>
                <a:cs typeface="Times New Roman" pitchFamily="18" charset="0"/>
              </a:rPr>
              <a:t>x = 7, y = 11</a:t>
            </a:r>
          </a:p>
        </p:txBody>
      </p:sp>
      <p:sp>
        <p:nvSpPr>
          <p:cNvPr id="1055873" name="AutoShape 129"/>
          <p:cNvSpPr>
            <a:spLocks noChangeArrowheads="1"/>
          </p:cNvSpPr>
          <p:nvPr/>
        </p:nvSpPr>
        <p:spPr bwMode="auto">
          <a:xfrm>
            <a:off x="9565538" y="2636838"/>
            <a:ext cx="2159000" cy="1079500"/>
          </a:xfrm>
          <a:prstGeom prst="cloudCallout">
            <a:avLst>
              <a:gd name="adj1" fmla="val -24806"/>
              <a:gd name="adj2" fmla="val 185011"/>
            </a:avLst>
          </a:prstGeom>
          <a:solidFill>
            <a:srgbClr val="FFFF00"/>
          </a:solidFill>
          <a:ln w="25400">
            <a:solidFill>
              <a:srgbClr val="FF0000"/>
            </a:solidFill>
            <a:round/>
            <a:headEnd/>
            <a:tailEnd/>
          </a:ln>
          <a:effectLst>
            <a:outerShdw dist="107763" dir="2700000" algn="ctr" rotWithShape="0">
              <a:schemeClr val="bg2">
                <a:alpha val="50000"/>
              </a:schemeClr>
            </a:outerShdw>
          </a:effectLst>
        </p:spPr>
        <p:txBody>
          <a:bodyPr/>
          <a:lstStyle/>
          <a:p>
            <a:pPr algn="ctr">
              <a:defRPr/>
            </a:pPr>
            <a:r>
              <a:rPr lang="en-US" altLang="zh-CN" sz="3200" b="1" dirty="0">
                <a:solidFill>
                  <a:srgbClr val="CC0000"/>
                </a:solidFill>
                <a:effectLst>
                  <a:outerShdw blurRad="38100" dist="38100" dir="2700000" algn="tl">
                    <a:srgbClr val="000000"/>
                  </a:outerShdw>
                </a:effectLst>
                <a:latin typeface="Times New Roman" pitchFamily="18" charset="0"/>
                <a:cs typeface="Times New Roman" pitchFamily="18" charset="0"/>
              </a:rPr>
              <a:t>Why?</a:t>
            </a:r>
          </a:p>
        </p:txBody>
      </p:sp>
      <p:grpSp>
        <p:nvGrpSpPr>
          <p:cNvPr id="7" name="组合 6">
            <a:extLst>
              <a:ext uri="{FF2B5EF4-FFF2-40B4-BE49-F238E27FC236}">
                <a16:creationId xmlns:a16="http://schemas.microsoft.com/office/drawing/2014/main" id="{91C35202-21B2-4C23-A3D4-F58388406DD2}"/>
              </a:ext>
            </a:extLst>
          </p:cNvPr>
          <p:cNvGrpSpPr/>
          <p:nvPr/>
        </p:nvGrpSpPr>
        <p:grpSpPr>
          <a:xfrm>
            <a:off x="0" y="114299"/>
            <a:ext cx="12192000" cy="932769"/>
            <a:chOff x="0" y="114299"/>
            <a:chExt cx="12192000" cy="932769"/>
          </a:xfrm>
        </p:grpSpPr>
        <p:sp>
          <p:nvSpPr>
            <p:cNvPr id="8" name="矩形 7">
              <a:extLst>
                <a:ext uri="{FF2B5EF4-FFF2-40B4-BE49-F238E27FC236}">
                  <a16:creationId xmlns:a16="http://schemas.microsoft.com/office/drawing/2014/main" id="{AC027754-15CF-4C7B-ACB9-8FA75B9F3B83}"/>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8334E610-4828-422A-995C-FACB05F00C5E}"/>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8598B23-7B41-49A1-BC8E-EB5A18B66F1C}"/>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C29299F-99E5-4799-A582-1D1400EB5EA7}"/>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CD9C9D74-20A3-43CF-A58A-93FF1D1B3B41}"/>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13" name="Rectangle 2">
            <a:extLst>
              <a:ext uri="{FF2B5EF4-FFF2-40B4-BE49-F238E27FC236}">
                <a16:creationId xmlns:a16="http://schemas.microsoft.com/office/drawing/2014/main" id="{2D210513-5C94-4878-9D94-C4D8E6ACD2D1}"/>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7.4.1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值传递</a:t>
            </a:r>
          </a:p>
        </p:txBody>
      </p:sp>
    </p:spTree>
    <p:extLst>
      <p:ext uri="{BB962C8B-B14F-4D97-AF65-F5344CB8AC3E}">
        <p14:creationId xmlns:p14="http://schemas.microsoft.com/office/powerpoint/2010/main" val="16567523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5575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5575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5575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5575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55753">
                                            <p:txEl>
                                              <p:pRg st="1" end="1"/>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5575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5575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5575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55753">
                                            <p:txEl>
                                              <p:pRg st="9" end="9"/>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iterate type="lt">
                                    <p:tmAbs val="0"/>
                                  </p:iterate>
                                  <p:childTnLst>
                                    <p:set>
                                      <p:cBhvr>
                                        <p:cTn id="36" dur="1" fill="hold">
                                          <p:stCondLst>
                                            <p:cond delay="0"/>
                                          </p:stCondLst>
                                        </p:cTn>
                                        <p:tgtEl>
                                          <p:spTgt spid="1055753">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055753">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55753">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055753">
                                            <p:txEl>
                                              <p:pRg st="0" end="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1055757"/>
                                        </p:tgtEl>
                                        <p:attrNameLst>
                                          <p:attrName>style.visibility</p:attrName>
                                        </p:attrNameLst>
                                      </p:cBhvr>
                                      <p:to>
                                        <p:strVal val="visible"/>
                                      </p:to>
                                    </p:set>
                                    <p:animEffect transition="in" filter="box(in)">
                                      <p:cBhvr>
                                        <p:cTn id="51" dur="500"/>
                                        <p:tgtEl>
                                          <p:spTgt spid="105575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8" presetClass="entr" presetSubtype="3" fill="hold" grpId="0" nodeType="clickEffect">
                                  <p:stCondLst>
                                    <p:cond delay="0"/>
                                  </p:stCondLst>
                                  <p:childTnLst>
                                    <p:set>
                                      <p:cBhvr>
                                        <p:cTn id="55" dur="1" fill="hold">
                                          <p:stCondLst>
                                            <p:cond delay="0"/>
                                          </p:stCondLst>
                                        </p:cTn>
                                        <p:tgtEl>
                                          <p:spTgt spid="1055873"/>
                                        </p:tgtEl>
                                        <p:attrNameLst>
                                          <p:attrName>style.visibility</p:attrName>
                                        </p:attrNameLst>
                                      </p:cBhvr>
                                      <p:to>
                                        <p:strVal val="visible"/>
                                      </p:to>
                                    </p:set>
                                    <p:animEffect transition="in" filter="strips(upRight)">
                                      <p:cBhvr>
                                        <p:cTn id="56" dur="500"/>
                                        <p:tgtEl>
                                          <p:spTgt spid="1055873"/>
                                        </p:tgtEl>
                                      </p:cBhvr>
                                    </p:animEffect>
                                  </p:childTnLst>
                                  <p:subTnLst>
                                    <p:audio>
                                      <p:cMediaNode>
                                        <p:cTn display="0" masterRel="sameClick">
                                          <p:stCondLst>
                                            <p:cond evt="begin" delay="0">
                                              <p:tn val="54"/>
                                            </p:cond>
                                          </p:stCondLst>
                                          <p:endCondLst>
                                            <p:cond evt="onStopAudio" delay="0">
                                              <p:tgtEl>
                                                <p:sldTgt/>
                                              </p:tgtEl>
                                            </p:cond>
                                          </p:endCondLst>
                                        </p:cTn>
                                        <p:tgtEl>
                                          <p:sndTgt r:embed="rId2"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757" grpId="0" animBg="1"/>
      <p:bldP spid="105587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8C59D93A-D2C2-48B6-BFBE-BCC51C52A4BD}"/>
              </a:ext>
            </a:extLst>
          </p:cNvPr>
          <p:cNvGrpSpPr/>
          <p:nvPr/>
        </p:nvGrpSpPr>
        <p:grpSpPr>
          <a:xfrm>
            <a:off x="0" y="114299"/>
            <a:ext cx="12192000" cy="932769"/>
            <a:chOff x="0" y="114299"/>
            <a:chExt cx="12192000" cy="932769"/>
          </a:xfrm>
        </p:grpSpPr>
        <p:sp>
          <p:nvSpPr>
            <p:cNvPr id="64" name="矩形 63">
              <a:extLst>
                <a:ext uri="{FF2B5EF4-FFF2-40B4-BE49-F238E27FC236}">
                  <a16:creationId xmlns:a16="http://schemas.microsoft.com/office/drawing/2014/main" id="{BC8BBDD4-5E5A-4990-B4D3-B3BB04D07F55}"/>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A2CEBB70-C6BE-48CD-9EBF-F55799D9C0C6}"/>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E12ACE3F-587D-426B-A1FD-548497CF608E}"/>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BB133341-F49B-43E9-91D7-99E57534C7F5}"/>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9" name="图片 68">
              <a:extLst>
                <a:ext uri="{FF2B5EF4-FFF2-40B4-BE49-F238E27FC236}">
                  <a16:creationId xmlns:a16="http://schemas.microsoft.com/office/drawing/2014/main" id="{6401463F-3885-416A-80AC-C3A4AF25C3DA}"/>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70" name="Rectangle 2">
            <a:extLst>
              <a:ext uri="{FF2B5EF4-FFF2-40B4-BE49-F238E27FC236}">
                <a16:creationId xmlns:a16="http://schemas.microsoft.com/office/drawing/2014/main" id="{C6D0A1F3-B4B1-42E1-AD38-3286CC6CF642}"/>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7.4.1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值传递</a:t>
            </a:r>
          </a:p>
        </p:txBody>
      </p:sp>
      <p:grpSp>
        <p:nvGrpSpPr>
          <p:cNvPr id="1055857" name="Group 113"/>
          <p:cNvGrpSpPr>
            <a:grpSpLocks/>
          </p:cNvGrpSpPr>
          <p:nvPr/>
        </p:nvGrpSpPr>
        <p:grpSpPr bwMode="auto">
          <a:xfrm>
            <a:off x="9070212" y="1325747"/>
            <a:ext cx="2736850" cy="1793875"/>
            <a:chOff x="3923" y="939"/>
            <a:chExt cx="1724" cy="1130"/>
          </a:xfrm>
        </p:grpSpPr>
        <p:sp>
          <p:nvSpPr>
            <p:cNvPr id="12343" name="Rectangle 70"/>
            <p:cNvSpPr>
              <a:spLocks noChangeArrowheads="1"/>
            </p:cNvSpPr>
            <p:nvPr/>
          </p:nvSpPr>
          <p:spPr bwMode="auto">
            <a:xfrm>
              <a:off x="3923" y="981"/>
              <a:ext cx="1724" cy="1088"/>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2344" name="Group 71"/>
            <p:cNvGrpSpPr>
              <a:grpSpLocks/>
            </p:cNvGrpSpPr>
            <p:nvPr/>
          </p:nvGrpSpPr>
          <p:grpSpPr bwMode="auto">
            <a:xfrm>
              <a:off x="3969" y="1161"/>
              <a:ext cx="590" cy="317"/>
              <a:chOff x="2460" y="12426"/>
              <a:chExt cx="930" cy="492"/>
            </a:xfrm>
          </p:grpSpPr>
          <p:sp>
            <p:nvSpPr>
              <p:cNvPr id="1055816" name="Text Box 72"/>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7</a:t>
                </a:r>
              </a:p>
            </p:txBody>
          </p:sp>
          <p:sp>
            <p:nvSpPr>
              <p:cNvPr id="1055817" name="Text Box 73"/>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2345" name="Group 74"/>
            <p:cNvGrpSpPr>
              <a:grpSpLocks/>
            </p:cNvGrpSpPr>
            <p:nvPr/>
          </p:nvGrpSpPr>
          <p:grpSpPr bwMode="auto">
            <a:xfrm>
              <a:off x="4876" y="1161"/>
              <a:ext cx="613" cy="303"/>
              <a:chOff x="3780" y="12447"/>
              <a:chExt cx="960" cy="477"/>
            </a:xfrm>
          </p:grpSpPr>
          <p:sp>
            <p:nvSpPr>
              <p:cNvPr id="1055819" name="Text Box 75"/>
              <p:cNvSpPr txBox="1">
                <a:spLocks noChangeArrowheads="1"/>
              </p:cNvSpPr>
              <p:nvPr/>
            </p:nvSpPr>
            <p:spPr bwMode="auto">
              <a:xfrm>
                <a:off x="4200" y="12447"/>
                <a:ext cx="540" cy="468"/>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11</a:t>
                </a:r>
              </a:p>
            </p:txBody>
          </p:sp>
          <p:sp>
            <p:nvSpPr>
              <p:cNvPr id="1055820" name="Text Box 76"/>
              <p:cNvSpPr txBox="1">
                <a:spLocks noChangeArrowheads="1"/>
              </p:cNvSpPr>
              <p:nvPr/>
            </p:nvSpPr>
            <p:spPr bwMode="auto">
              <a:xfrm>
                <a:off x="3780" y="124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sp>
          <p:nvSpPr>
            <p:cNvPr id="1055829" name="Text Box 85"/>
            <p:cNvSpPr txBox="1">
              <a:spLocks noChangeArrowheads="1"/>
            </p:cNvSpPr>
            <p:nvPr/>
          </p:nvSpPr>
          <p:spPr bwMode="auto">
            <a:xfrm>
              <a:off x="4331" y="939"/>
              <a:ext cx="87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a:defRPr sz="2000" b="1">
                  <a:effectLst>
                    <a:outerShdw blurRad="38100" dist="38100" dir="2700000" algn="tl">
                      <a:srgbClr val="000000"/>
                    </a:outerShdw>
                  </a:effectLst>
                  <a:latin typeface="楷体_GB2312" pitchFamily="49" charset="-122"/>
                  <a:ea typeface="楷体_GB2312" pitchFamily="49" charset="-122"/>
                </a:defRPr>
              </a:lvl1pPr>
            </a:lstStyle>
            <a:p>
              <a:pPr>
                <a:defRPr/>
              </a:pPr>
              <a:r>
                <a:rPr lang="en-US" altLang="en-US" dirty="0"/>
                <a:t>②</a:t>
              </a:r>
              <a:r>
                <a:rPr lang="en-US" altLang="zh-CN" dirty="0"/>
                <a:t> </a:t>
              </a:r>
              <a:r>
                <a:rPr lang="zh-CN" altLang="en-US" dirty="0"/>
                <a:t>调用</a:t>
              </a:r>
            </a:p>
          </p:txBody>
        </p:sp>
      </p:grpSp>
      <p:sp>
        <p:nvSpPr>
          <p:cNvPr id="1055753" name="Rectangle 9" descr="信纸"/>
          <p:cNvSpPr>
            <a:spLocks noChangeArrowheads="1"/>
          </p:cNvSpPr>
          <p:nvPr/>
        </p:nvSpPr>
        <p:spPr bwMode="auto">
          <a:xfrm>
            <a:off x="474552" y="1144516"/>
            <a:ext cx="5522064" cy="5262979"/>
          </a:xfrm>
          <a:prstGeom prst="rect">
            <a:avLst/>
          </a:prstGeom>
          <a:solidFill>
            <a:srgbClr val="FFFF00"/>
          </a:solidFill>
          <a:ln w="38100">
            <a:solidFill>
              <a:srgbClr val="008000"/>
            </a:solidFill>
            <a:miter lim="800000"/>
            <a:headEnd/>
            <a:tailEnd/>
          </a:ln>
          <a:effectLst>
            <a:outerShdw dist="107763" dir="2700000" algn="ctr" rotWithShape="0">
              <a:schemeClr val="bg2">
                <a:alpha val="50000"/>
              </a:schemeClr>
            </a:outerShdw>
          </a:effectLst>
        </p:spPr>
        <p:txBody>
          <a:bodyPr wrap="square">
            <a:spAutoFit/>
          </a:bodyPr>
          <a:lstStyle/>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#include &lt;</a:t>
            </a:r>
            <a:r>
              <a:rPr lang="en-US" altLang="zh-CN" sz="2400" b="1" dirty="0" err="1">
                <a:effectLst>
                  <a:outerShdw blurRad="38100" dist="38100" dir="2700000" algn="tl">
                    <a:srgbClr val="FFFFFF"/>
                  </a:outerShdw>
                </a:effectLst>
                <a:latin typeface="Times New Roman" pitchFamily="18" charset="0"/>
                <a:ea typeface="楷体_GB2312" pitchFamily="49" charset="-122"/>
                <a:cs typeface="Times New Roman" pitchFamily="18" charset="0"/>
              </a:rPr>
              <a:t>stdio.h</a:t>
            </a: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&gt;</a:t>
            </a:r>
          </a:p>
          <a:p>
            <a:pPr marL="457200" indent="-457200">
              <a:defRPr/>
            </a:pPr>
            <a:r>
              <a:rPr lang="en-US" altLang="zh-CN" sz="2400" b="1" dirty="0">
                <a:solidFill>
                  <a:srgbClr val="C00000"/>
                </a:solidFill>
                <a:latin typeface="Times New Roman" pitchFamily="18" charset="0"/>
                <a:ea typeface="楷体_GB2312" pitchFamily="49" charset="-122"/>
                <a:cs typeface="Times New Roman" pitchFamily="18" charset="0"/>
              </a:rPr>
              <a:t>void swap (</a:t>
            </a:r>
            <a:r>
              <a:rPr lang="en-US" altLang="zh-CN" sz="2400" b="1" dirty="0" err="1">
                <a:solidFill>
                  <a:srgbClr val="C00000"/>
                </a:solidFill>
                <a:latin typeface="Times New Roman" pitchFamily="18" charset="0"/>
                <a:ea typeface="楷体_GB2312" pitchFamily="49" charset="-122"/>
                <a:cs typeface="Times New Roman" pitchFamily="18" charset="0"/>
              </a:rPr>
              <a:t>int</a:t>
            </a:r>
            <a:r>
              <a:rPr lang="en-US" altLang="zh-CN" sz="2400" b="1" dirty="0">
                <a:solidFill>
                  <a:srgbClr val="C00000"/>
                </a:solidFill>
                <a:latin typeface="Times New Roman" pitchFamily="18" charset="0"/>
                <a:ea typeface="楷体_GB2312" pitchFamily="49" charset="-122"/>
                <a:cs typeface="Times New Roman" pitchFamily="18" charset="0"/>
              </a:rPr>
              <a:t> a, </a:t>
            </a:r>
            <a:r>
              <a:rPr lang="en-US" altLang="zh-CN" sz="2400" b="1" dirty="0" err="1">
                <a:solidFill>
                  <a:srgbClr val="C00000"/>
                </a:solidFill>
                <a:latin typeface="Times New Roman" pitchFamily="18" charset="0"/>
                <a:ea typeface="楷体_GB2312" pitchFamily="49" charset="-122"/>
                <a:cs typeface="Times New Roman" pitchFamily="18" charset="0"/>
              </a:rPr>
              <a:t>int</a:t>
            </a:r>
            <a:r>
              <a:rPr lang="en-US" altLang="zh-CN" sz="2400" b="1" dirty="0">
                <a:solidFill>
                  <a:srgbClr val="C00000"/>
                </a:solidFill>
                <a:latin typeface="Times New Roman" pitchFamily="18" charset="0"/>
                <a:ea typeface="楷体_GB2312" pitchFamily="49" charset="-122"/>
                <a:cs typeface="Times New Roman" pitchFamily="18" charset="0"/>
              </a:rPr>
              <a:t> b)</a:t>
            </a:r>
          </a:p>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a:t>
            </a:r>
            <a:r>
              <a:rPr lang="en-US" altLang="zh-CN" sz="2400" b="1" dirty="0" err="1">
                <a:effectLst>
                  <a:outerShdw blurRad="38100" dist="38100" dir="2700000" algn="tl">
                    <a:srgbClr val="FFFFFF"/>
                  </a:outerShdw>
                </a:effectLst>
                <a:latin typeface="Times New Roman" pitchFamily="18" charset="0"/>
                <a:ea typeface="楷体_GB2312" pitchFamily="49" charset="-122"/>
                <a:cs typeface="Times New Roman" pitchFamily="18" charset="0"/>
              </a:rPr>
              <a:t>int</a:t>
            </a: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temp;</a:t>
            </a:r>
          </a:p>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temp = a; </a:t>
            </a:r>
          </a:p>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a = b; </a:t>
            </a:r>
          </a:p>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b = temp;   }</a:t>
            </a:r>
          </a:p>
          <a:p>
            <a:pPr marL="457200" indent="-457200">
              <a:defRPr/>
            </a:pPr>
            <a:r>
              <a:rPr lang="en-US" altLang="zh-CN" sz="2400" b="1" dirty="0">
                <a:solidFill>
                  <a:srgbClr val="CC0000"/>
                </a:solidFill>
                <a:latin typeface="Times New Roman" pitchFamily="18" charset="0"/>
                <a:ea typeface="楷体_GB2312" pitchFamily="49" charset="-122"/>
                <a:cs typeface="Times New Roman" pitchFamily="18" charset="0"/>
              </a:rPr>
              <a:t>void main ( )</a:t>
            </a:r>
          </a:p>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a:t>
            </a:r>
            <a:r>
              <a:rPr lang="en-US" altLang="zh-CN" sz="2400" b="1" dirty="0" err="1">
                <a:effectLst>
                  <a:outerShdw blurRad="38100" dist="38100" dir="2700000" algn="tl">
                    <a:srgbClr val="FFFFFF"/>
                  </a:outerShdw>
                </a:effectLst>
                <a:latin typeface="Times New Roman" pitchFamily="18" charset="0"/>
                <a:ea typeface="楷体_GB2312" pitchFamily="49" charset="-122"/>
                <a:cs typeface="Times New Roman" pitchFamily="18" charset="0"/>
              </a:rPr>
              <a:t>int</a:t>
            </a: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x = 7, y = 11;</a:t>
            </a:r>
          </a:p>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a:t>
            </a:r>
            <a:r>
              <a:rPr lang="en-US" altLang="zh-CN" sz="2400" b="1" dirty="0" err="1">
                <a:effectLst>
                  <a:outerShdw blurRad="38100" dist="38100" dir="2700000" algn="tl">
                    <a:srgbClr val="FFFFFF"/>
                  </a:outerShdw>
                </a:effectLst>
                <a:latin typeface="Times New Roman" pitchFamily="18" charset="0"/>
                <a:ea typeface="楷体_GB2312" pitchFamily="49" charset="-122"/>
                <a:cs typeface="Times New Roman" pitchFamily="18" charset="0"/>
              </a:rPr>
              <a:t>printf</a:t>
            </a: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("before swapped: ");</a:t>
            </a:r>
          </a:p>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a:t>
            </a:r>
            <a:r>
              <a:rPr lang="en-US" altLang="zh-CN" sz="2400" b="1" dirty="0" err="1">
                <a:effectLst>
                  <a:outerShdw blurRad="38100" dist="38100" dir="2700000" algn="tl">
                    <a:srgbClr val="FFFFFF"/>
                  </a:outerShdw>
                </a:effectLst>
                <a:latin typeface="Times New Roman" pitchFamily="18" charset="0"/>
                <a:ea typeface="楷体_GB2312" pitchFamily="49" charset="-122"/>
                <a:cs typeface="Times New Roman" pitchFamily="18" charset="0"/>
              </a:rPr>
              <a:t>printf</a:t>
            </a: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("x=%d, y=%d\n", x, y);</a:t>
            </a:r>
          </a:p>
          <a:p>
            <a:pPr marL="457200" indent="-457200">
              <a:defRPr/>
            </a:pPr>
            <a:r>
              <a:rPr lang="en-US" altLang="zh-CN" sz="2400" b="1" dirty="0">
                <a:solidFill>
                  <a:schemeClr val="accent2"/>
                </a:solidFill>
                <a:latin typeface="Times New Roman" pitchFamily="18" charset="0"/>
                <a:ea typeface="楷体_GB2312" pitchFamily="49" charset="-122"/>
                <a:cs typeface="Times New Roman" pitchFamily="18" charset="0"/>
              </a:rPr>
              <a:t>    </a:t>
            </a:r>
            <a:r>
              <a:rPr lang="en-US" altLang="zh-CN" sz="2400" b="1" dirty="0">
                <a:solidFill>
                  <a:srgbClr val="FF0000"/>
                </a:solidFill>
                <a:latin typeface="Times New Roman" pitchFamily="18" charset="0"/>
                <a:ea typeface="楷体_GB2312" pitchFamily="49" charset="-122"/>
                <a:cs typeface="Times New Roman" pitchFamily="18" charset="0"/>
              </a:rPr>
              <a:t>swap (x, y);   </a:t>
            </a:r>
          </a:p>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a:t>
            </a:r>
            <a:r>
              <a:rPr lang="en-US" altLang="zh-CN" sz="2400" b="1" dirty="0" err="1">
                <a:effectLst>
                  <a:outerShdw blurRad="38100" dist="38100" dir="2700000" algn="tl">
                    <a:srgbClr val="FFFFFF"/>
                  </a:outerShdw>
                </a:effectLst>
                <a:latin typeface="Times New Roman" pitchFamily="18" charset="0"/>
                <a:ea typeface="楷体_GB2312" pitchFamily="49" charset="-122"/>
                <a:cs typeface="Times New Roman" pitchFamily="18" charset="0"/>
              </a:rPr>
              <a:t>printf</a:t>
            </a: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("after  swapped: ");</a:t>
            </a:r>
          </a:p>
          <a:p>
            <a:pPr marL="457200" indent="-457200">
              <a:defRPr/>
            </a:pP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a:t>
            </a:r>
            <a:r>
              <a:rPr lang="en-US" altLang="zh-CN" sz="2400" b="1" dirty="0" err="1">
                <a:effectLst>
                  <a:outerShdw blurRad="38100" dist="38100" dir="2700000" algn="tl">
                    <a:srgbClr val="FFFFFF"/>
                  </a:outerShdw>
                </a:effectLst>
                <a:latin typeface="Times New Roman" pitchFamily="18" charset="0"/>
                <a:ea typeface="楷体_GB2312" pitchFamily="49" charset="-122"/>
                <a:cs typeface="Times New Roman" pitchFamily="18" charset="0"/>
              </a:rPr>
              <a:t>printf</a:t>
            </a:r>
            <a:r>
              <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rPr>
              <a:t> ("x=%d, y=%d\n", x, y);   }</a:t>
            </a:r>
          </a:p>
          <a:p>
            <a:pPr marL="914400" lvl="1" indent="-457200">
              <a:defRPr/>
            </a:pPr>
            <a:endParaRPr lang="en-US" altLang="zh-CN" sz="2400" b="1" dirty="0">
              <a:effectLst>
                <a:outerShdw blurRad="38100" dist="38100" dir="2700000" algn="tl">
                  <a:srgbClr val="FFFFFF"/>
                </a:outerShdw>
              </a:effectLst>
              <a:latin typeface="Times New Roman" pitchFamily="18" charset="0"/>
              <a:ea typeface="楷体_GB2312" pitchFamily="49" charset="-122"/>
              <a:cs typeface="Times New Roman" pitchFamily="18" charset="0"/>
            </a:endParaRPr>
          </a:p>
        </p:txBody>
      </p:sp>
      <p:grpSp>
        <p:nvGrpSpPr>
          <p:cNvPr id="1055856" name="Group 112"/>
          <p:cNvGrpSpPr>
            <a:grpSpLocks/>
          </p:cNvGrpSpPr>
          <p:nvPr/>
        </p:nvGrpSpPr>
        <p:grpSpPr bwMode="auto">
          <a:xfrm>
            <a:off x="9070212" y="152583"/>
            <a:ext cx="2736850" cy="1093788"/>
            <a:chOff x="3923" y="110"/>
            <a:chExt cx="1724" cy="689"/>
          </a:xfrm>
        </p:grpSpPr>
        <p:sp>
          <p:nvSpPr>
            <p:cNvPr id="12335" name="Rectangle 69"/>
            <p:cNvSpPr>
              <a:spLocks noChangeArrowheads="1"/>
            </p:cNvSpPr>
            <p:nvPr/>
          </p:nvSpPr>
          <p:spPr bwMode="auto">
            <a:xfrm>
              <a:off x="3923" y="119"/>
              <a:ext cx="1724" cy="68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2336" name="Group 18"/>
            <p:cNvGrpSpPr>
              <a:grpSpLocks/>
            </p:cNvGrpSpPr>
            <p:nvPr/>
          </p:nvGrpSpPr>
          <p:grpSpPr bwMode="auto">
            <a:xfrm>
              <a:off x="3969" y="373"/>
              <a:ext cx="590" cy="317"/>
              <a:chOff x="2460" y="12426"/>
              <a:chExt cx="930" cy="492"/>
            </a:xfrm>
          </p:grpSpPr>
          <p:sp>
            <p:nvSpPr>
              <p:cNvPr id="1055763" name="Text Box 19"/>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7</a:t>
                </a:r>
              </a:p>
            </p:txBody>
          </p:sp>
          <p:sp>
            <p:nvSpPr>
              <p:cNvPr id="1055764" name="Text Box 20"/>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2337" name="Group 21"/>
            <p:cNvGrpSpPr>
              <a:grpSpLocks/>
            </p:cNvGrpSpPr>
            <p:nvPr/>
          </p:nvGrpSpPr>
          <p:grpSpPr bwMode="auto">
            <a:xfrm>
              <a:off x="4851" y="360"/>
              <a:ext cx="613" cy="303"/>
              <a:chOff x="3780" y="12447"/>
              <a:chExt cx="960" cy="477"/>
            </a:xfrm>
          </p:grpSpPr>
          <p:sp>
            <p:nvSpPr>
              <p:cNvPr id="1055766" name="Text Box 22"/>
              <p:cNvSpPr txBox="1">
                <a:spLocks noChangeArrowheads="1"/>
              </p:cNvSpPr>
              <p:nvPr/>
            </p:nvSpPr>
            <p:spPr bwMode="auto">
              <a:xfrm>
                <a:off x="4200" y="12447"/>
                <a:ext cx="540" cy="468"/>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11</a:t>
                </a:r>
              </a:p>
            </p:txBody>
          </p:sp>
          <p:sp>
            <p:nvSpPr>
              <p:cNvPr id="1055767" name="Text Box 23"/>
              <p:cNvSpPr txBox="1">
                <a:spLocks noChangeArrowheads="1"/>
              </p:cNvSpPr>
              <p:nvPr/>
            </p:nvSpPr>
            <p:spPr bwMode="auto">
              <a:xfrm>
                <a:off x="3780" y="124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sp>
          <p:nvSpPr>
            <p:cNvPr id="1055768" name="Text Box 24"/>
            <p:cNvSpPr txBox="1">
              <a:spLocks noChangeArrowheads="1"/>
            </p:cNvSpPr>
            <p:nvPr/>
          </p:nvSpPr>
          <p:spPr bwMode="auto">
            <a:xfrm>
              <a:off x="4276" y="110"/>
              <a:ext cx="87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effectLst>
                    <a:outerShdw blurRad="38100" dist="38100" dir="2700000" algn="tl">
                      <a:srgbClr val="000000"/>
                    </a:outerShdw>
                  </a:effectLst>
                  <a:latin typeface="楷体_GB2312" pitchFamily="49" charset="-122"/>
                  <a:ea typeface="楷体_GB2312" pitchFamily="49" charset="-122"/>
                </a:rPr>
                <a:t>① </a:t>
              </a:r>
              <a:r>
                <a:rPr lang="zh-CN" altLang="en-US" sz="2000" b="1" dirty="0">
                  <a:effectLst>
                    <a:outerShdw blurRad="38100" dist="38100" dir="2700000" algn="tl">
                      <a:srgbClr val="000000"/>
                    </a:outerShdw>
                  </a:effectLst>
                  <a:latin typeface="楷体_GB2312" pitchFamily="49" charset="-122"/>
                  <a:ea typeface="楷体_GB2312" pitchFamily="49" charset="-122"/>
                </a:rPr>
                <a:t>调用前</a:t>
              </a:r>
            </a:p>
          </p:txBody>
        </p:sp>
      </p:grpSp>
      <p:grpSp>
        <p:nvGrpSpPr>
          <p:cNvPr id="1055821" name="Group 77"/>
          <p:cNvGrpSpPr>
            <a:grpSpLocks/>
          </p:cNvGrpSpPr>
          <p:nvPr/>
        </p:nvGrpSpPr>
        <p:grpSpPr bwMode="auto">
          <a:xfrm>
            <a:off x="9144825" y="2522722"/>
            <a:ext cx="936625" cy="503237"/>
            <a:chOff x="2460" y="12426"/>
            <a:chExt cx="930" cy="492"/>
          </a:xfrm>
        </p:grpSpPr>
        <p:sp>
          <p:nvSpPr>
            <p:cNvPr id="1055822" name="Text Box 78"/>
            <p:cNvSpPr txBox="1">
              <a:spLocks noChangeArrowheads="1"/>
            </p:cNvSpPr>
            <p:nvPr/>
          </p:nvSpPr>
          <p:spPr bwMode="auto">
            <a:xfrm>
              <a:off x="2849" y="1244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FF33CC"/>
                  </a:solidFill>
                  <a:effectLst>
                    <a:outerShdw blurRad="38100" dist="38100" dir="2700000" algn="tl">
                      <a:srgbClr val="000000"/>
                    </a:outerShdw>
                  </a:effectLst>
                </a:rPr>
                <a:t>7</a:t>
              </a:r>
            </a:p>
          </p:txBody>
        </p:sp>
        <p:sp>
          <p:nvSpPr>
            <p:cNvPr id="1055823" name="Text Box 79"/>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rgbClr val="C00000"/>
                  </a:solidFill>
                  <a:effectLst>
                    <a:outerShdw blurRad="38100" dist="38100" dir="2700000" algn="tl">
                      <a:srgbClr val="000000"/>
                    </a:outerShdw>
                  </a:effectLst>
                </a:rPr>
                <a:t>a</a:t>
              </a:r>
            </a:p>
          </p:txBody>
        </p:sp>
      </p:grpSp>
      <p:grpSp>
        <p:nvGrpSpPr>
          <p:cNvPr id="1055824" name="Group 80"/>
          <p:cNvGrpSpPr>
            <a:grpSpLocks/>
          </p:cNvGrpSpPr>
          <p:nvPr/>
        </p:nvGrpSpPr>
        <p:grpSpPr bwMode="auto">
          <a:xfrm>
            <a:off x="10603738" y="2481447"/>
            <a:ext cx="936625" cy="503237"/>
            <a:chOff x="2460" y="12426"/>
            <a:chExt cx="930" cy="492"/>
          </a:xfrm>
        </p:grpSpPr>
        <p:sp>
          <p:nvSpPr>
            <p:cNvPr id="1055825" name="Text Box 81"/>
            <p:cNvSpPr txBox="1">
              <a:spLocks noChangeArrowheads="1"/>
            </p:cNvSpPr>
            <p:nvPr/>
          </p:nvSpPr>
          <p:spPr bwMode="auto">
            <a:xfrm>
              <a:off x="2849" y="1244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FF33CC"/>
                  </a:solidFill>
                  <a:effectLst>
                    <a:outerShdw blurRad="38100" dist="38100" dir="2700000" algn="tl">
                      <a:srgbClr val="000000"/>
                    </a:outerShdw>
                  </a:effectLst>
                </a:rPr>
                <a:t>11</a:t>
              </a:r>
            </a:p>
          </p:txBody>
        </p:sp>
        <p:sp>
          <p:nvSpPr>
            <p:cNvPr id="1055826" name="Text Box 82"/>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rgbClr val="C00000"/>
                  </a:solidFill>
                  <a:effectLst>
                    <a:outerShdw blurRad="38100" dist="38100" dir="2700000" algn="tl">
                      <a:srgbClr val="000000"/>
                    </a:outerShdw>
                  </a:effectLst>
                </a:rPr>
                <a:t>b</a:t>
              </a:r>
            </a:p>
          </p:txBody>
        </p:sp>
      </p:grpSp>
      <p:sp>
        <p:nvSpPr>
          <p:cNvPr id="1055827" name="Line 83"/>
          <p:cNvSpPr>
            <a:spLocks noChangeShapeType="1"/>
          </p:cNvSpPr>
          <p:nvPr/>
        </p:nvSpPr>
        <p:spPr bwMode="auto">
          <a:xfrm>
            <a:off x="9790937" y="2182996"/>
            <a:ext cx="0" cy="360362"/>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55828" name="Line 84"/>
          <p:cNvSpPr>
            <a:spLocks noChangeShapeType="1"/>
          </p:cNvSpPr>
          <p:nvPr/>
        </p:nvSpPr>
        <p:spPr bwMode="auto">
          <a:xfrm>
            <a:off x="11259374" y="2138546"/>
            <a:ext cx="0" cy="360362"/>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1055855" name="Group 111"/>
          <p:cNvGrpSpPr>
            <a:grpSpLocks/>
          </p:cNvGrpSpPr>
          <p:nvPr/>
        </p:nvGrpSpPr>
        <p:grpSpPr bwMode="auto">
          <a:xfrm>
            <a:off x="9071799" y="3251383"/>
            <a:ext cx="2736850" cy="2274888"/>
            <a:chOff x="3924" y="2224"/>
            <a:chExt cx="1724" cy="1433"/>
          </a:xfrm>
        </p:grpSpPr>
        <p:sp>
          <p:nvSpPr>
            <p:cNvPr id="12314" name="Rectangle 86"/>
            <p:cNvSpPr>
              <a:spLocks noChangeArrowheads="1"/>
            </p:cNvSpPr>
            <p:nvPr/>
          </p:nvSpPr>
          <p:spPr bwMode="auto">
            <a:xfrm>
              <a:off x="3924" y="2233"/>
              <a:ext cx="1724" cy="1424"/>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1055831" name="Text Box 87"/>
            <p:cNvSpPr txBox="1">
              <a:spLocks noChangeArrowheads="1"/>
            </p:cNvSpPr>
            <p:nvPr/>
          </p:nvSpPr>
          <p:spPr bwMode="auto">
            <a:xfrm>
              <a:off x="4332" y="2224"/>
              <a:ext cx="960"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a:defRPr sz="2000" b="1">
                  <a:effectLst>
                    <a:outerShdw blurRad="38100" dist="38100" dir="2700000" algn="tl">
                      <a:srgbClr val="000000"/>
                    </a:outerShdw>
                  </a:effectLst>
                  <a:latin typeface="楷体_GB2312" pitchFamily="49" charset="-122"/>
                  <a:ea typeface="楷体_GB2312" pitchFamily="49" charset="-122"/>
                </a:defRPr>
              </a:lvl1pPr>
            </a:lstStyle>
            <a:p>
              <a:pPr>
                <a:defRPr/>
              </a:pPr>
              <a:r>
                <a:rPr lang="en-US" altLang="en-US" sz="2400" dirty="0">
                  <a:latin typeface="Times New Roman" pitchFamily="18" charset="0"/>
                  <a:cs typeface="Times New Roman" pitchFamily="18" charset="0"/>
                </a:rPr>
                <a:t>③</a:t>
              </a:r>
              <a:r>
                <a:rPr lang="en-US" altLang="zh-CN" sz="2400" dirty="0">
                  <a:latin typeface="Times New Roman" pitchFamily="18" charset="0"/>
                  <a:cs typeface="Times New Roman" pitchFamily="18" charset="0"/>
                </a:rPr>
                <a:t> swap</a:t>
              </a:r>
            </a:p>
          </p:txBody>
        </p:sp>
        <p:grpSp>
          <p:nvGrpSpPr>
            <p:cNvPr id="12316" name="Group 88"/>
            <p:cNvGrpSpPr>
              <a:grpSpLocks/>
            </p:cNvGrpSpPr>
            <p:nvPr/>
          </p:nvGrpSpPr>
          <p:grpSpPr bwMode="auto">
            <a:xfrm>
              <a:off x="3970" y="2476"/>
              <a:ext cx="590" cy="317"/>
              <a:chOff x="2460" y="12426"/>
              <a:chExt cx="930" cy="492"/>
            </a:xfrm>
          </p:grpSpPr>
          <p:sp>
            <p:nvSpPr>
              <p:cNvPr id="1055833" name="Text Box 89"/>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7</a:t>
                </a:r>
              </a:p>
            </p:txBody>
          </p:sp>
          <p:sp>
            <p:nvSpPr>
              <p:cNvPr id="1055834" name="Text Box 90"/>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2317" name="Group 91"/>
            <p:cNvGrpSpPr>
              <a:grpSpLocks/>
            </p:cNvGrpSpPr>
            <p:nvPr/>
          </p:nvGrpSpPr>
          <p:grpSpPr bwMode="auto">
            <a:xfrm>
              <a:off x="4877" y="2476"/>
              <a:ext cx="613" cy="303"/>
              <a:chOff x="3780" y="12447"/>
              <a:chExt cx="960" cy="477"/>
            </a:xfrm>
          </p:grpSpPr>
          <p:sp>
            <p:nvSpPr>
              <p:cNvPr id="1055836" name="Text Box 92"/>
              <p:cNvSpPr txBox="1">
                <a:spLocks noChangeArrowheads="1"/>
              </p:cNvSpPr>
              <p:nvPr/>
            </p:nvSpPr>
            <p:spPr bwMode="auto">
              <a:xfrm>
                <a:off x="4200" y="12447"/>
                <a:ext cx="540" cy="468"/>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11</a:t>
                </a:r>
              </a:p>
            </p:txBody>
          </p:sp>
          <p:sp>
            <p:nvSpPr>
              <p:cNvPr id="1055837" name="Text Box 93"/>
              <p:cNvSpPr txBox="1">
                <a:spLocks noChangeArrowheads="1"/>
              </p:cNvSpPr>
              <p:nvPr/>
            </p:nvSpPr>
            <p:spPr bwMode="auto">
              <a:xfrm>
                <a:off x="3780" y="124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grpSp>
          <p:nvGrpSpPr>
            <p:cNvPr id="12318" name="Group 100"/>
            <p:cNvGrpSpPr>
              <a:grpSpLocks/>
            </p:cNvGrpSpPr>
            <p:nvPr/>
          </p:nvGrpSpPr>
          <p:grpSpPr bwMode="auto">
            <a:xfrm>
              <a:off x="3971" y="2900"/>
              <a:ext cx="590" cy="317"/>
              <a:chOff x="2460" y="12426"/>
              <a:chExt cx="930" cy="492"/>
            </a:xfrm>
          </p:grpSpPr>
          <p:sp>
            <p:nvSpPr>
              <p:cNvPr id="1055845" name="Text Box 101"/>
              <p:cNvSpPr txBox="1">
                <a:spLocks noChangeArrowheads="1"/>
              </p:cNvSpPr>
              <p:nvPr/>
            </p:nvSpPr>
            <p:spPr bwMode="auto">
              <a:xfrm>
                <a:off x="2849" y="1244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FF33CC"/>
                    </a:solidFill>
                    <a:effectLst>
                      <a:outerShdw blurRad="38100" dist="38100" dir="2700000" algn="tl">
                        <a:srgbClr val="000000"/>
                      </a:outerShdw>
                    </a:effectLst>
                  </a:rPr>
                  <a:t>7</a:t>
                </a:r>
              </a:p>
            </p:txBody>
          </p:sp>
          <p:sp>
            <p:nvSpPr>
              <p:cNvPr id="1055846" name="Text Box 102"/>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rgbClr val="C00000"/>
                    </a:solidFill>
                    <a:effectLst>
                      <a:outerShdw blurRad="38100" dist="38100" dir="2700000" algn="tl">
                        <a:srgbClr val="000000"/>
                      </a:outerShdw>
                    </a:effectLst>
                  </a:rPr>
                  <a:t>a</a:t>
                </a:r>
              </a:p>
            </p:txBody>
          </p:sp>
        </p:grpSp>
        <p:grpSp>
          <p:nvGrpSpPr>
            <p:cNvPr id="12319" name="Group 103"/>
            <p:cNvGrpSpPr>
              <a:grpSpLocks/>
            </p:cNvGrpSpPr>
            <p:nvPr/>
          </p:nvGrpSpPr>
          <p:grpSpPr bwMode="auto">
            <a:xfrm>
              <a:off x="4890" y="2874"/>
              <a:ext cx="590" cy="317"/>
              <a:chOff x="2460" y="12426"/>
              <a:chExt cx="930" cy="492"/>
            </a:xfrm>
          </p:grpSpPr>
          <p:sp>
            <p:nvSpPr>
              <p:cNvPr id="1055848" name="Text Box 104"/>
              <p:cNvSpPr txBox="1">
                <a:spLocks noChangeArrowheads="1"/>
              </p:cNvSpPr>
              <p:nvPr/>
            </p:nvSpPr>
            <p:spPr bwMode="auto">
              <a:xfrm>
                <a:off x="2849" y="1244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FF33CC"/>
                    </a:solidFill>
                    <a:effectLst>
                      <a:outerShdw blurRad="38100" dist="38100" dir="2700000" algn="tl">
                        <a:srgbClr val="000000"/>
                      </a:outerShdw>
                    </a:effectLst>
                  </a:rPr>
                  <a:t>11</a:t>
                </a:r>
              </a:p>
            </p:txBody>
          </p:sp>
          <p:sp>
            <p:nvSpPr>
              <p:cNvPr id="1055849" name="Text Box 105"/>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rgbClr val="C00000"/>
                    </a:solidFill>
                    <a:effectLst>
                      <a:outerShdw blurRad="38100" dist="38100" dir="2700000" algn="tl">
                        <a:srgbClr val="000000"/>
                      </a:outerShdw>
                    </a:effectLst>
                  </a:rPr>
                  <a:t>b</a:t>
                </a:r>
              </a:p>
            </p:txBody>
          </p:sp>
        </p:grpSp>
        <p:grpSp>
          <p:nvGrpSpPr>
            <p:cNvPr id="12320" name="Group 110"/>
            <p:cNvGrpSpPr>
              <a:grpSpLocks/>
            </p:cNvGrpSpPr>
            <p:nvPr/>
          </p:nvGrpSpPr>
          <p:grpSpPr bwMode="auto">
            <a:xfrm>
              <a:off x="4104" y="3276"/>
              <a:ext cx="926" cy="302"/>
              <a:chOff x="4104" y="3276"/>
              <a:chExt cx="926" cy="302"/>
            </a:xfrm>
          </p:grpSpPr>
          <p:sp>
            <p:nvSpPr>
              <p:cNvPr id="1055851" name="Text Box 107"/>
              <p:cNvSpPr txBox="1">
                <a:spLocks noChangeArrowheads="1"/>
              </p:cNvSpPr>
              <p:nvPr/>
            </p:nvSpPr>
            <p:spPr bwMode="auto">
              <a:xfrm>
                <a:off x="4687" y="3276"/>
                <a:ext cx="343" cy="302"/>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endParaRPr lang="zh-CN" altLang="zh-CN" sz="2000" b="1">
                  <a:solidFill>
                    <a:srgbClr val="FF33CC"/>
                  </a:solidFill>
                  <a:effectLst>
                    <a:outerShdw blurRad="38100" dist="38100" dir="2700000" algn="tl">
                      <a:srgbClr val="000000"/>
                    </a:outerShdw>
                  </a:effectLst>
                </a:endParaRPr>
              </a:p>
            </p:txBody>
          </p:sp>
          <p:sp>
            <p:nvSpPr>
              <p:cNvPr id="1055852" name="Text Box 108"/>
              <p:cNvSpPr txBox="1">
                <a:spLocks noChangeArrowheads="1"/>
              </p:cNvSpPr>
              <p:nvPr/>
            </p:nvSpPr>
            <p:spPr bwMode="auto">
              <a:xfrm>
                <a:off x="4104" y="3279"/>
                <a:ext cx="59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rgbClr val="008000"/>
                    </a:solidFill>
                    <a:effectLst>
                      <a:outerShdw blurRad="38100" dist="38100" dir="2700000" algn="tl">
                        <a:srgbClr val="000000"/>
                      </a:outerShdw>
                    </a:effectLst>
                  </a:rPr>
                  <a:t>temp</a:t>
                </a:r>
              </a:p>
            </p:txBody>
          </p:sp>
        </p:grpSp>
      </p:grpSp>
      <p:sp>
        <p:nvSpPr>
          <p:cNvPr id="1055853" name="Text Box 109"/>
          <p:cNvSpPr txBox="1">
            <a:spLocks noChangeArrowheads="1"/>
          </p:cNvSpPr>
          <p:nvPr/>
        </p:nvSpPr>
        <p:spPr bwMode="auto">
          <a:xfrm>
            <a:off x="10294175" y="4921434"/>
            <a:ext cx="544513" cy="479425"/>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CC0000"/>
                </a:solidFill>
                <a:effectLst>
                  <a:outerShdw blurRad="38100" dist="38100" dir="2700000" algn="tl">
                    <a:srgbClr val="000000"/>
                  </a:outerShdw>
                </a:effectLst>
              </a:rPr>
              <a:t>7</a:t>
            </a:r>
          </a:p>
        </p:txBody>
      </p:sp>
      <p:sp>
        <p:nvSpPr>
          <p:cNvPr id="1055858" name="Line 114"/>
          <p:cNvSpPr>
            <a:spLocks noChangeShapeType="1"/>
          </p:cNvSpPr>
          <p:nvPr/>
        </p:nvSpPr>
        <p:spPr bwMode="auto">
          <a:xfrm>
            <a:off x="9906825" y="4907146"/>
            <a:ext cx="358775" cy="215900"/>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55859" name="Line 115"/>
          <p:cNvSpPr>
            <a:spLocks noChangeShapeType="1"/>
          </p:cNvSpPr>
          <p:nvPr/>
        </p:nvSpPr>
        <p:spPr bwMode="auto">
          <a:xfrm flipH="1">
            <a:off x="10122725" y="4618221"/>
            <a:ext cx="792163" cy="0"/>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55860" name="Text Box 116"/>
          <p:cNvSpPr txBox="1">
            <a:spLocks noChangeArrowheads="1"/>
          </p:cNvSpPr>
          <p:nvPr/>
        </p:nvSpPr>
        <p:spPr bwMode="auto">
          <a:xfrm>
            <a:off x="9546462" y="4345172"/>
            <a:ext cx="544512" cy="479425"/>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CC0000"/>
                </a:solidFill>
                <a:effectLst>
                  <a:outerShdw blurRad="38100" dist="38100" dir="2700000" algn="tl">
                    <a:srgbClr val="000000"/>
                  </a:outerShdw>
                </a:effectLst>
              </a:rPr>
              <a:t>11</a:t>
            </a:r>
          </a:p>
        </p:txBody>
      </p:sp>
      <p:sp>
        <p:nvSpPr>
          <p:cNvPr id="1055861" name="Line 117"/>
          <p:cNvSpPr>
            <a:spLocks noChangeShapeType="1"/>
          </p:cNvSpPr>
          <p:nvPr/>
        </p:nvSpPr>
        <p:spPr bwMode="auto">
          <a:xfrm flipV="1">
            <a:off x="10870438" y="4805546"/>
            <a:ext cx="288925" cy="431800"/>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55862" name="Text Box 118"/>
          <p:cNvSpPr txBox="1">
            <a:spLocks noChangeArrowheads="1"/>
          </p:cNvSpPr>
          <p:nvPr/>
        </p:nvSpPr>
        <p:spPr bwMode="auto">
          <a:xfrm>
            <a:off x="11000612" y="4302309"/>
            <a:ext cx="544512" cy="479425"/>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CC0000"/>
                </a:solidFill>
                <a:effectLst>
                  <a:outerShdw blurRad="38100" dist="38100" dir="2700000" algn="tl">
                    <a:srgbClr val="000000"/>
                  </a:outerShdw>
                </a:effectLst>
              </a:rPr>
              <a:t>7</a:t>
            </a:r>
          </a:p>
        </p:txBody>
      </p:sp>
      <p:grpSp>
        <p:nvGrpSpPr>
          <p:cNvPr id="1055872" name="Group 128"/>
          <p:cNvGrpSpPr>
            <a:grpSpLocks/>
          </p:cNvGrpSpPr>
          <p:nvPr/>
        </p:nvGrpSpPr>
        <p:grpSpPr bwMode="auto">
          <a:xfrm>
            <a:off x="9070212" y="5642158"/>
            <a:ext cx="2736850" cy="1093788"/>
            <a:chOff x="3923" y="3577"/>
            <a:chExt cx="1724" cy="689"/>
          </a:xfrm>
        </p:grpSpPr>
        <p:sp>
          <p:nvSpPr>
            <p:cNvPr id="12306" name="Rectangle 120"/>
            <p:cNvSpPr>
              <a:spLocks noChangeArrowheads="1"/>
            </p:cNvSpPr>
            <p:nvPr/>
          </p:nvSpPr>
          <p:spPr bwMode="auto">
            <a:xfrm>
              <a:off x="3923" y="3586"/>
              <a:ext cx="1724" cy="68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2307" name="Group 121"/>
            <p:cNvGrpSpPr>
              <a:grpSpLocks/>
            </p:cNvGrpSpPr>
            <p:nvPr/>
          </p:nvGrpSpPr>
          <p:grpSpPr bwMode="auto">
            <a:xfrm>
              <a:off x="3969" y="3840"/>
              <a:ext cx="590" cy="317"/>
              <a:chOff x="2460" y="12426"/>
              <a:chExt cx="930" cy="492"/>
            </a:xfrm>
          </p:grpSpPr>
          <p:sp>
            <p:nvSpPr>
              <p:cNvPr id="1055866" name="Text Box 122"/>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7</a:t>
                </a:r>
              </a:p>
            </p:txBody>
          </p:sp>
          <p:sp>
            <p:nvSpPr>
              <p:cNvPr id="1055867" name="Text Box 123"/>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2308" name="Group 124"/>
            <p:cNvGrpSpPr>
              <a:grpSpLocks/>
            </p:cNvGrpSpPr>
            <p:nvPr/>
          </p:nvGrpSpPr>
          <p:grpSpPr bwMode="auto">
            <a:xfrm>
              <a:off x="4851" y="3827"/>
              <a:ext cx="613" cy="303"/>
              <a:chOff x="3780" y="12447"/>
              <a:chExt cx="960" cy="477"/>
            </a:xfrm>
          </p:grpSpPr>
          <p:sp>
            <p:nvSpPr>
              <p:cNvPr id="1055869" name="Text Box 125"/>
              <p:cNvSpPr txBox="1">
                <a:spLocks noChangeArrowheads="1"/>
              </p:cNvSpPr>
              <p:nvPr/>
            </p:nvSpPr>
            <p:spPr bwMode="auto">
              <a:xfrm>
                <a:off x="4200" y="12447"/>
                <a:ext cx="540" cy="468"/>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11</a:t>
                </a:r>
              </a:p>
            </p:txBody>
          </p:sp>
          <p:sp>
            <p:nvSpPr>
              <p:cNvPr id="1055870" name="Text Box 126"/>
              <p:cNvSpPr txBox="1">
                <a:spLocks noChangeArrowheads="1"/>
              </p:cNvSpPr>
              <p:nvPr/>
            </p:nvSpPr>
            <p:spPr bwMode="auto">
              <a:xfrm>
                <a:off x="3780" y="124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sp>
          <p:nvSpPr>
            <p:cNvPr id="1055871" name="Text Box 127"/>
            <p:cNvSpPr txBox="1">
              <a:spLocks noChangeArrowheads="1"/>
            </p:cNvSpPr>
            <p:nvPr/>
          </p:nvSpPr>
          <p:spPr bwMode="auto">
            <a:xfrm>
              <a:off x="4276" y="3577"/>
              <a:ext cx="105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a:defRPr sz="2000" b="1">
                  <a:effectLst>
                    <a:outerShdw blurRad="38100" dist="38100" dir="2700000" algn="tl">
                      <a:srgbClr val="000000"/>
                    </a:outerShdw>
                  </a:effectLst>
                  <a:latin typeface="楷体_GB2312" pitchFamily="49" charset="-122"/>
                  <a:ea typeface="楷体_GB2312" pitchFamily="49" charset="-122"/>
                </a:defRPr>
              </a:lvl1pPr>
            </a:lstStyle>
            <a:p>
              <a:pPr>
                <a:defRPr/>
              </a:pPr>
              <a:r>
                <a:rPr lang="en-US" altLang="en-US" dirty="0"/>
                <a:t>④</a:t>
              </a:r>
              <a:r>
                <a:rPr lang="en-US" altLang="zh-CN" dirty="0"/>
                <a:t> </a:t>
              </a:r>
              <a:r>
                <a:rPr lang="zh-CN" altLang="en-US" dirty="0"/>
                <a:t>调用结束</a:t>
              </a:r>
            </a:p>
          </p:txBody>
        </p:sp>
      </p:grpSp>
      <p:sp>
        <p:nvSpPr>
          <p:cNvPr id="67" name="Rectangle 13"/>
          <p:cNvSpPr>
            <a:spLocks noChangeArrowheads="1"/>
          </p:cNvSpPr>
          <p:nvPr/>
        </p:nvSpPr>
        <p:spPr bwMode="auto">
          <a:xfrm>
            <a:off x="4662544" y="5861883"/>
            <a:ext cx="4030662" cy="922337"/>
          </a:xfrm>
          <a:prstGeom prst="rect">
            <a:avLst/>
          </a:prstGeom>
          <a:solidFill>
            <a:srgbClr val="FFFFFF"/>
          </a:solidFill>
          <a:ln w="38100">
            <a:solidFill>
              <a:srgbClr val="FF0000"/>
            </a:solidFill>
            <a:miter lim="800000"/>
            <a:headEnd/>
            <a:tailEnd/>
          </a:ln>
          <a:effectLst>
            <a:outerShdw dist="107763" dir="2700000" algn="ctr" rotWithShape="0">
              <a:schemeClr val="bg2">
                <a:alpha val="50000"/>
              </a:schemeClr>
            </a:outerShdw>
          </a:effectLst>
        </p:spPr>
        <p:txBody>
          <a:bodyPr anchor="ctr">
            <a:spAutoFit/>
          </a:bodyPr>
          <a:lstStyle/>
          <a:p>
            <a:pPr algn="l">
              <a:defRPr/>
            </a:pPr>
            <a:r>
              <a:rPr lang="zh-CN" altLang="en-US" b="1" dirty="0">
                <a:solidFill>
                  <a:srgbClr val="FF3300"/>
                </a:solidFill>
                <a:effectLst>
                  <a:outerShdw blurRad="38100" dist="38100" dir="2700000" algn="tl">
                    <a:srgbClr val="C0C0C0"/>
                  </a:outerShdw>
                </a:effectLst>
                <a:latin typeface="Times New Roman" pitchFamily="18" charset="0"/>
                <a:ea typeface="方正姚体" pitchFamily="2" charset="-122"/>
                <a:cs typeface="Times New Roman" pitchFamily="18" charset="0"/>
              </a:rPr>
              <a:t>运行结果：</a:t>
            </a:r>
          </a:p>
          <a:p>
            <a:pPr algn="l">
              <a:defRPr/>
            </a:pPr>
            <a:r>
              <a:rPr lang="en-US" altLang="zh-CN" b="1" dirty="0">
                <a:effectLst>
                  <a:outerShdw blurRad="38100" dist="38100" dir="2700000" algn="tl">
                    <a:srgbClr val="C0C0C0"/>
                  </a:outerShdw>
                </a:effectLst>
                <a:latin typeface="Times New Roman" pitchFamily="18" charset="0"/>
                <a:ea typeface="方正姚体" pitchFamily="2" charset="-122"/>
                <a:cs typeface="Times New Roman" pitchFamily="18" charset="0"/>
              </a:rPr>
              <a:t>before swapped: x = 7, y = 11</a:t>
            </a:r>
          </a:p>
          <a:p>
            <a:pPr algn="l">
              <a:defRPr/>
            </a:pPr>
            <a:r>
              <a:rPr lang="en-US" altLang="zh-CN" b="1" dirty="0">
                <a:effectLst>
                  <a:outerShdw blurRad="38100" dist="38100" dir="2700000" algn="tl">
                    <a:srgbClr val="C0C0C0"/>
                  </a:outerShdw>
                </a:effectLst>
                <a:latin typeface="Times New Roman" pitchFamily="18" charset="0"/>
                <a:ea typeface="方正姚体" pitchFamily="2" charset="-122"/>
                <a:cs typeface="Times New Roman" pitchFamily="18" charset="0"/>
              </a:rPr>
              <a:t>after  swapped:  </a:t>
            </a:r>
            <a:r>
              <a:rPr lang="en-US" altLang="zh-CN" b="1" dirty="0">
                <a:solidFill>
                  <a:srgbClr val="C00000"/>
                </a:solidFill>
                <a:effectLst>
                  <a:outerShdw blurRad="38100" dist="38100" dir="2700000" algn="tl">
                    <a:srgbClr val="C0C0C0"/>
                  </a:outerShdw>
                </a:effectLst>
                <a:latin typeface="Times New Roman" pitchFamily="18" charset="0"/>
                <a:ea typeface="方正姚体" pitchFamily="2" charset="-122"/>
                <a:cs typeface="Times New Roman" pitchFamily="18" charset="0"/>
              </a:rPr>
              <a:t>x = 7, y = 11</a:t>
            </a:r>
          </a:p>
        </p:txBody>
      </p:sp>
    </p:spTree>
    <p:extLst>
      <p:ext uri="{BB962C8B-B14F-4D97-AF65-F5344CB8AC3E}">
        <p14:creationId xmlns:p14="http://schemas.microsoft.com/office/powerpoint/2010/main" val="17051602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5575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5753">
                                            <p:txEl>
                                              <p:pRg st="7" end="7"/>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nodeType="clickEffect">
                                  <p:stCondLst>
                                    <p:cond delay="0"/>
                                  </p:stCondLst>
                                  <p:childTnLst>
                                    <p:set>
                                      <p:cBhvr>
                                        <p:cTn id="12" dur="1" fill="hold">
                                          <p:stCondLst>
                                            <p:cond delay="0"/>
                                          </p:stCondLst>
                                        </p:cTn>
                                        <p:tgtEl>
                                          <p:spTgt spid="1055856"/>
                                        </p:tgtEl>
                                        <p:attrNameLst>
                                          <p:attrName>style.visibility</p:attrName>
                                        </p:attrNameLst>
                                      </p:cBhvr>
                                      <p:to>
                                        <p:strVal val="visible"/>
                                      </p:to>
                                    </p:set>
                                    <p:animEffect transition="in" filter="box(out)">
                                      <p:cBhvr>
                                        <p:cTn id="13" dur="500"/>
                                        <p:tgtEl>
                                          <p:spTgt spid="105585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055753">
                                            <p:txEl>
                                              <p:pRg st="8" end="8"/>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055753">
                                            <p:txEl>
                                              <p:pRg st="9" end="9"/>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1055753">
                                            <p:txEl>
                                              <p:pRg st="10" end="10"/>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1055753">
                                            <p:txEl>
                                              <p:pRg st="0" end="0"/>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055753">
                                            <p:txEl>
                                              <p:pRg st="1" end="1"/>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055753">
                                            <p:txEl>
                                              <p:pRg st="2" end="2"/>
                                            </p:txEl>
                                          </p:spTgt>
                                        </p:tgtEl>
                                        <p:attrNameLst>
                                          <p:attrName>style.visibility</p:attrName>
                                        </p:attrNameLst>
                                      </p:cBhvr>
                                      <p:to>
                                        <p:strVal val="visible"/>
                                      </p:to>
                                    </p:set>
                                  </p:childTnLst>
                                </p:cTn>
                              </p:par>
                              <p:par>
                                <p:cTn id="32" presetID="1" presetClass="entr" presetSubtype="0" fill="hold" nodeType="withEffect">
                                  <p:stCondLst>
                                    <p:cond delay="0"/>
                                  </p:stCondLst>
                                  <p:iterate type="lt">
                                    <p:tmAbs val="0"/>
                                  </p:iterate>
                                  <p:childTnLst>
                                    <p:set>
                                      <p:cBhvr>
                                        <p:cTn id="33" dur="1" fill="hold">
                                          <p:stCondLst>
                                            <p:cond delay="0"/>
                                          </p:stCondLst>
                                        </p:cTn>
                                        <p:tgtEl>
                                          <p:spTgt spid="1055753">
                                            <p:txEl>
                                              <p:pRg st="3" end="3"/>
                                            </p:txEl>
                                          </p:spTgt>
                                        </p:tgtEl>
                                        <p:attrNameLst>
                                          <p:attrName>style.visibility</p:attrName>
                                        </p:attrNameLst>
                                      </p:cBhvr>
                                      <p:to>
                                        <p:strVal val="visible"/>
                                      </p:to>
                                    </p:set>
                                  </p:childTnLst>
                                </p:cTn>
                              </p:par>
                              <p:par>
                                <p:cTn id="34" presetID="1" presetClass="entr" presetSubtype="0" fill="hold" nodeType="withEffect">
                                  <p:stCondLst>
                                    <p:cond delay="0"/>
                                  </p:stCondLst>
                                  <p:iterate type="lt">
                                    <p:tmAbs val="0"/>
                                  </p:iterate>
                                  <p:childTnLst>
                                    <p:set>
                                      <p:cBhvr>
                                        <p:cTn id="35" dur="1" fill="hold">
                                          <p:stCondLst>
                                            <p:cond delay="0"/>
                                          </p:stCondLst>
                                        </p:cTn>
                                        <p:tgtEl>
                                          <p:spTgt spid="1055753">
                                            <p:txEl>
                                              <p:pRg st="4" end="4"/>
                                            </p:txEl>
                                          </p:spTgt>
                                        </p:tgtEl>
                                        <p:attrNameLst>
                                          <p:attrName>style.visibility</p:attrName>
                                        </p:attrNameLst>
                                      </p:cBhvr>
                                      <p:to>
                                        <p:strVal val="visible"/>
                                      </p:to>
                                    </p:set>
                                  </p:childTnLst>
                                </p:cTn>
                              </p:par>
                              <p:par>
                                <p:cTn id="36" presetID="1" presetClass="entr" presetSubtype="0" fill="hold" nodeType="withEffect">
                                  <p:stCondLst>
                                    <p:cond delay="0"/>
                                  </p:stCondLst>
                                  <p:iterate type="lt">
                                    <p:tmAbs val="0"/>
                                  </p:iterate>
                                  <p:childTnLst>
                                    <p:set>
                                      <p:cBhvr>
                                        <p:cTn id="37" dur="1" fill="hold">
                                          <p:stCondLst>
                                            <p:cond delay="0"/>
                                          </p:stCondLst>
                                        </p:cTn>
                                        <p:tgtEl>
                                          <p:spTgt spid="1055753">
                                            <p:txEl>
                                              <p:pRg st="5" end="5"/>
                                            </p:txEl>
                                          </p:spTgt>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1055857"/>
                                        </p:tgtEl>
                                        <p:attrNameLst>
                                          <p:attrName>style.visibility</p:attrName>
                                        </p:attrNameLst>
                                      </p:cBhvr>
                                      <p:to>
                                        <p:strVal val="visible"/>
                                      </p:to>
                                    </p:set>
                                    <p:animEffect transition="in" filter="box(out)">
                                      <p:cBhvr>
                                        <p:cTn id="42" dur="500"/>
                                        <p:tgtEl>
                                          <p:spTgt spid="105585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1055828"/>
                                        </p:tgtEl>
                                        <p:attrNameLst>
                                          <p:attrName>style.visibility</p:attrName>
                                        </p:attrNameLst>
                                      </p:cBhvr>
                                      <p:to>
                                        <p:strVal val="visible"/>
                                      </p:to>
                                    </p:set>
                                    <p:animEffect transition="in" filter="strips(downLeft)">
                                      <p:cBhvr>
                                        <p:cTn id="47" dur="500"/>
                                        <p:tgtEl>
                                          <p:spTgt spid="1055828"/>
                                        </p:tgtEl>
                                      </p:cBhvr>
                                    </p:animEffect>
                                  </p:childTnLst>
                                </p:cTn>
                              </p:par>
                            </p:childTnLst>
                          </p:cTn>
                        </p:par>
                        <p:par>
                          <p:cTn id="48" fill="hold" nodeType="afterGroup">
                            <p:stCondLst>
                              <p:cond delay="500"/>
                            </p:stCondLst>
                            <p:childTnLst>
                              <p:par>
                                <p:cTn id="49" presetID="4" presetClass="entr" presetSubtype="16" fill="hold" nodeType="afterEffect">
                                  <p:stCondLst>
                                    <p:cond delay="0"/>
                                  </p:stCondLst>
                                  <p:childTnLst>
                                    <p:set>
                                      <p:cBhvr>
                                        <p:cTn id="50" dur="1" fill="hold">
                                          <p:stCondLst>
                                            <p:cond delay="0"/>
                                          </p:stCondLst>
                                        </p:cTn>
                                        <p:tgtEl>
                                          <p:spTgt spid="1055824"/>
                                        </p:tgtEl>
                                        <p:attrNameLst>
                                          <p:attrName>style.visibility</p:attrName>
                                        </p:attrNameLst>
                                      </p:cBhvr>
                                      <p:to>
                                        <p:strVal val="visible"/>
                                      </p:to>
                                    </p:set>
                                    <p:animEffect transition="in" filter="box(in)">
                                      <p:cBhvr>
                                        <p:cTn id="51" dur="500"/>
                                        <p:tgtEl>
                                          <p:spTgt spid="105582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8" presetClass="entr" presetSubtype="12" fill="hold" grpId="0" nodeType="clickEffect">
                                  <p:stCondLst>
                                    <p:cond delay="0"/>
                                  </p:stCondLst>
                                  <p:childTnLst>
                                    <p:set>
                                      <p:cBhvr>
                                        <p:cTn id="55" dur="1" fill="hold">
                                          <p:stCondLst>
                                            <p:cond delay="0"/>
                                          </p:stCondLst>
                                        </p:cTn>
                                        <p:tgtEl>
                                          <p:spTgt spid="1055827"/>
                                        </p:tgtEl>
                                        <p:attrNameLst>
                                          <p:attrName>style.visibility</p:attrName>
                                        </p:attrNameLst>
                                      </p:cBhvr>
                                      <p:to>
                                        <p:strVal val="visible"/>
                                      </p:to>
                                    </p:set>
                                    <p:animEffect transition="in" filter="strips(downLeft)">
                                      <p:cBhvr>
                                        <p:cTn id="56" dur="500"/>
                                        <p:tgtEl>
                                          <p:spTgt spid="1055827"/>
                                        </p:tgtEl>
                                      </p:cBhvr>
                                    </p:animEffect>
                                  </p:childTnLst>
                                </p:cTn>
                              </p:par>
                            </p:childTnLst>
                          </p:cTn>
                        </p:par>
                        <p:par>
                          <p:cTn id="57" fill="hold" nodeType="afterGroup">
                            <p:stCondLst>
                              <p:cond delay="500"/>
                            </p:stCondLst>
                            <p:childTnLst>
                              <p:par>
                                <p:cTn id="58" presetID="4" presetClass="entr" presetSubtype="16" fill="hold" nodeType="afterEffect">
                                  <p:stCondLst>
                                    <p:cond delay="0"/>
                                  </p:stCondLst>
                                  <p:childTnLst>
                                    <p:set>
                                      <p:cBhvr>
                                        <p:cTn id="59" dur="1" fill="hold">
                                          <p:stCondLst>
                                            <p:cond delay="0"/>
                                          </p:stCondLst>
                                        </p:cTn>
                                        <p:tgtEl>
                                          <p:spTgt spid="1055821"/>
                                        </p:tgtEl>
                                        <p:attrNameLst>
                                          <p:attrName>style.visibility</p:attrName>
                                        </p:attrNameLst>
                                      </p:cBhvr>
                                      <p:to>
                                        <p:strVal val="visible"/>
                                      </p:to>
                                    </p:set>
                                    <p:animEffect transition="in" filter="box(in)">
                                      <p:cBhvr>
                                        <p:cTn id="60" dur="500"/>
                                        <p:tgtEl>
                                          <p:spTgt spid="105582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32" fill="hold" nodeType="clickEffect">
                                  <p:stCondLst>
                                    <p:cond delay="0"/>
                                  </p:stCondLst>
                                  <p:childTnLst>
                                    <p:set>
                                      <p:cBhvr>
                                        <p:cTn id="64" dur="1" fill="hold">
                                          <p:stCondLst>
                                            <p:cond delay="0"/>
                                          </p:stCondLst>
                                        </p:cTn>
                                        <p:tgtEl>
                                          <p:spTgt spid="1055855"/>
                                        </p:tgtEl>
                                        <p:attrNameLst>
                                          <p:attrName>style.visibility</p:attrName>
                                        </p:attrNameLst>
                                      </p:cBhvr>
                                      <p:to>
                                        <p:strVal val="visible"/>
                                      </p:to>
                                    </p:set>
                                    <p:animEffect transition="in" filter="box(out)">
                                      <p:cBhvr>
                                        <p:cTn id="65" dur="500"/>
                                        <p:tgtEl>
                                          <p:spTgt spid="105585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4" presetClass="emph" presetSubtype="0" fill="hold" nodeType="clickEffect">
                                  <p:stCondLst>
                                    <p:cond delay="0"/>
                                  </p:stCondLst>
                                  <p:iterate type="lt">
                                    <p:tmPct val="10000"/>
                                  </p:iterate>
                                  <p:childTnLst>
                                    <p:animMotion origin="layout" path="M 4.375E-6 4.81481E-6 L 4.375E-6 -0.07223 " pathEditMode="relative" rAng="0" ptsTypes="AA">
                                      <p:cBhvr>
                                        <p:cTn id="69" dur="250" accel="50000" decel="50000" autoRev="1" fill="hold">
                                          <p:stCondLst>
                                            <p:cond delay="0"/>
                                          </p:stCondLst>
                                        </p:cTn>
                                        <p:tgtEl>
                                          <p:spTgt spid="1055753">
                                            <p:txEl>
                                              <p:pRg st="3" end="3"/>
                                            </p:txEl>
                                          </p:spTgt>
                                        </p:tgtEl>
                                        <p:attrNameLst>
                                          <p:attrName>ppt_x</p:attrName>
                                          <p:attrName>ppt_y</p:attrName>
                                        </p:attrNameLst>
                                      </p:cBhvr>
                                      <p:rCtr x="0" y="-3611"/>
                                    </p:animMotion>
                                    <p:animRot by="1500000">
                                      <p:cBhvr>
                                        <p:cTn id="70" dur="125" fill="hold">
                                          <p:stCondLst>
                                            <p:cond delay="0"/>
                                          </p:stCondLst>
                                        </p:cTn>
                                        <p:tgtEl>
                                          <p:spTgt spid="1055753">
                                            <p:txEl>
                                              <p:pRg st="3" end="3"/>
                                            </p:txEl>
                                          </p:spTgt>
                                        </p:tgtEl>
                                        <p:attrNameLst>
                                          <p:attrName>r</p:attrName>
                                        </p:attrNameLst>
                                      </p:cBhvr>
                                    </p:animRot>
                                    <p:animRot by="-1500000">
                                      <p:cBhvr>
                                        <p:cTn id="71" dur="125" fill="hold">
                                          <p:stCondLst>
                                            <p:cond delay="125"/>
                                          </p:stCondLst>
                                        </p:cTn>
                                        <p:tgtEl>
                                          <p:spTgt spid="1055753">
                                            <p:txEl>
                                              <p:pRg st="3" end="3"/>
                                            </p:txEl>
                                          </p:spTgt>
                                        </p:tgtEl>
                                        <p:attrNameLst>
                                          <p:attrName>r</p:attrName>
                                        </p:attrNameLst>
                                      </p:cBhvr>
                                    </p:animRot>
                                    <p:animRot by="-1500000">
                                      <p:cBhvr>
                                        <p:cTn id="72" dur="125" fill="hold">
                                          <p:stCondLst>
                                            <p:cond delay="250"/>
                                          </p:stCondLst>
                                        </p:cTn>
                                        <p:tgtEl>
                                          <p:spTgt spid="1055753">
                                            <p:txEl>
                                              <p:pRg st="3" end="3"/>
                                            </p:txEl>
                                          </p:spTgt>
                                        </p:tgtEl>
                                        <p:attrNameLst>
                                          <p:attrName>r</p:attrName>
                                        </p:attrNameLst>
                                      </p:cBhvr>
                                    </p:animRot>
                                    <p:animRot by="1500000">
                                      <p:cBhvr>
                                        <p:cTn id="73" dur="125" fill="hold">
                                          <p:stCondLst>
                                            <p:cond delay="375"/>
                                          </p:stCondLst>
                                        </p:cTn>
                                        <p:tgtEl>
                                          <p:spTgt spid="1055753">
                                            <p:txEl>
                                              <p:pRg st="3" end="3"/>
                                            </p:txEl>
                                          </p:spTgt>
                                        </p:tgtEl>
                                        <p:attrNameLst>
                                          <p:attrName>r</p:attrName>
                                        </p:attrNameLst>
                                      </p:cBhvr>
                                    </p:animRot>
                                  </p:childTnLst>
                                </p:cTn>
                              </p:par>
                            </p:childTnLst>
                          </p:cTn>
                        </p:par>
                      </p:childTnLst>
                    </p:cTn>
                  </p:par>
                  <p:par>
                    <p:cTn id="74" fill="hold" nodeType="clickPar">
                      <p:stCondLst>
                        <p:cond delay="indefinite"/>
                      </p:stCondLst>
                      <p:childTnLst>
                        <p:par>
                          <p:cTn id="75" fill="hold" nodeType="withGroup">
                            <p:stCondLst>
                              <p:cond delay="0"/>
                            </p:stCondLst>
                            <p:childTnLst>
                              <p:par>
                                <p:cTn id="76" presetID="18" presetClass="entr" presetSubtype="6" fill="hold" grpId="0" nodeType="clickEffect">
                                  <p:stCondLst>
                                    <p:cond delay="0"/>
                                  </p:stCondLst>
                                  <p:childTnLst>
                                    <p:set>
                                      <p:cBhvr>
                                        <p:cTn id="77" dur="1" fill="hold">
                                          <p:stCondLst>
                                            <p:cond delay="0"/>
                                          </p:stCondLst>
                                        </p:cTn>
                                        <p:tgtEl>
                                          <p:spTgt spid="1055858"/>
                                        </p:tgtEl>
                                        <p:attrNameLst>
                                          <p:attrName>style.visibility</p:attrName>
                                        </p:attrNameLst>
                                      </p:cBhvr>
                                      <p:to>
                                        <p:strVal val="visible"/>
                                      </p:to>
                                    </p:set>
                                    <p:animEffect transition="in" filter="strips(downRight)">
                                      <p:cBhvr>
                                        <p:cTn id="78" dur="500"/>
                                        <p:tgtEl>
                                          <p:spTgt spid="1055858"/>
                                        </p:tgtEl>
                                      </p:cBhvr>
                                    </p:animEffect>
                                  </p:childTnLst>
                                </p:cTn>
                              </p:par>
                            </p:childTnLst>
                          </p:cTn>
                        </p:par>
                        <p:par>
                          <p:cTn id="79" fill="hold" nodeType="afterGroup">
                            <p:stCondLst>
                              <p:cond delay="500"/>
                            </p:stCondLst>
                            <p:childTnLst>
                              <p:par>
                                <p:cTn id="80" presetID="4" presetClass="entr" presetSubtype="32" fill="hold" grpId="0" nodeType="afterEffect">
                                  <p:stCondLst>
                                    <p:cond delay="0"/>
                                  </p:stCondLst>
                                  <p:childTnLst>
                                    <p:set>
                                      <p:cBhvr>
                                        <p:cTn id="81" dur="1" fill="hold">
                                          <p:stCondLst>
                                            <p:cond delay="0"/>
                                          </p:stCondLst>
                                        </p:cTn>
                                        <p:tgtEl>
                                          <p:spTgt spid="1055853"/>
                                        </p:tgtEl>
                                        <p:attrNameLst>
                                          <p:attrName>style.visibility</p:attrName>
                                        </p:attrNameLst>
                                      </p:cBhvr>
                                      <p:to>
                                        <p:strVal val="visible"/>
                                      </p:to>
                                    </p:set>
                                    <p:animEffect transition="in" filter="box(out)">
                                      <p:cBhvr>
                                        <p:cTn id="82" dur="500"/>
                                        <p:tgtEl>
                                          <p:spTgt spid="105585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4" presetClass="emph" presetSubtype="0" fill="hold" nodeType="clickEffect">
                                  <p:stCondLst>
                                    <p:cond delay="0"/>
                                  </p:stCondLst>
                                  <p:iterate type="lt">
                                    <p:tmPct val="10000"/>
                                  </p:iterate>
                                  <p:childTnLst>
                                    <p:animMotion origin="layout" path="M -3.54167E-6 4.07407E-6 L -3.54167E-6 -0.07223 " pathEditMode="relative" rAng="0" ptsTypes="AA">
                                      <p:cBhvr>
                                        <p:cTn id="86" dur="250" accel="50000" decel="50000" autoRev="1" fill="hold">
                                          <p:stCondLst>
                                            <p:cond delay="0"/>
                                          </p:stCondLst>
                                        </p:cTn>
                                        <p:tgtEl>
                                          <p:spTgt spid="1055753">
                                            <p:txEl>
                                              <p:pRg st="4" end="4"/>
                                            </p:txEl>
                                          </p:spTgt>
                                        </p:tgtEl>
                                        <p:attrNameLst>
                                          <p:attrName>ppt_x</p:attrName>
                                          <p:attrName>ppt_y</p:attrName>
                                        </p:attrNameLst>
                                      </p:cBhvr>
                                      <p:rCtr x="0" y="-3611"/>
                                    </p:animMotion>
                                    <p:animRot by="1500000">
                                      <p:cBhvr>
                                        <p:cTn id="87" dur="125" fill="hold">
                                          <p:stCondLst>
                                            <p:cond delay="0"/>
                                          </p:stCondLst>
                                        </p:cTn>
                                        <p:tgtEl>
                                          <p:spTgt spid="1055753">
                                            <p:txEl>
                                              <p:pRg st="4" end="4"/>
                                            </p:txEl>
                                          </p:spTgt>
                                        </p:tgtEl>
                                        <p:attrNameLst>
                                          <p:attrName>r</p:attrName>
                                        </p:attrNameLst>
                                      </p:cBhvr>
                                    </p:animRot>
                                    <p:animRot by="-1500000">
                                      <p:cBhvr>
                                        <p:cTn id="88" dur="125" fill="hold">
                                          <p:stCondLst>
                                            <p:cond delay="125"/>
                                          </p:stCondLst>
                                        </p:cTn>
                                        <p:tgtEl>
                                          <p:spTgt spid="1055753">
                                            <p:txEl>
                                              <p:pRg st="4" end="4"/>
                                            </p:txEl>
                                          </p:spTgt>
                                        </p:tgtEl>
                                        <p:attrNameLst>
                                          <p:attrName>r</p:attrName>
                                        </p:attrNameLst>
                                      </p:cBhvr>
                                    </p:animRot>
                                    <p:animRot by="-1500000">
                                      <p:cBhvr>
                                        <p:cTn id="89" dur="125" fill="hold">
                                          <p:stCondLst>
                                            <p:cond delay="250"/>
                                          </p:stCondLst>
                                        </p:cTn>
                                        <p:tgtEl>
                                          <p:spTgt spid="1055753">
                                            <p:txEl>
                                              <p:pRg st="4" end="4"/>
                                            </p:txEl>
                                          </p:spTgt>
                                        </p:tgtEl>
                                        <p:attrNameLst>
                                          <p:attrName>r</p:attrName>
                                        </p:attrNameLst>
                                      </p:cBhvr>
                                    </p:animRot>
                                    <p:animRot by="1500000">
                                      <p:cBhvr>
                                        <p:cTn id="90" dur="125" fill="hold">
                                          <p:stCondLst>
                                            <p:cond delay="375"/>
                                          </p:stCondLst>
                                        </p:cTn>
                                        <p:tgtEl>
                                          <p:spTgt spid="1055753">
                                            <p:txEl>
                                              <p:pRg st="4" end="4"/>
                                            </p:txEl>
                                          </p:spTgt>
                                        </p:tgtEl>
                                        <p:attrNameLst>
                                          <p:attrName>r</p:attrName>
                                        </p:attrNameLst>
                                      </p:cBhvr>
                                    </p:animRot>
                                  </p:childTnLst>
                                </p:cTn>
                              </p:par>
                            </p:childTnLst>
                          </p:cTn>
                        </p:par>
                      </p:childTnLst>
                    </p:cTn>
                  </p:par>
                  <p:par>
                    <p:cTn id="91" fill="hold" nodeType="clickPar">
                      <p:stCondLst>
                        <p:cond delay="indefinite"/>
                      </p:stCondLst>
                      <p:childTnLst>
                        <p:par>
                          <p:cTn id="92" fill="hold" nodeType="withGroup">
                            <p:stCondLst>
                              <p:cond delay="0"/>
                            </p:stCondLst>
                            <p:childTnLst>
                              <p:par>
                                <p:cTn id="93" presetID="18" presetClass="entr" presetSubtype="12" fill="hold" grpId="0" nodeType="clickEffect">
                                  <p:stCondLst>
                                    <p:cond delay="0"/>
                                  </p:stCondLst>
                                  <p:childTnLst>
                                    <p:set>
                                      <p:cBhvr>
                                        <p:cTn id="94" dur="1" fill="hold">
                                          <p:stCondLst>
                                            <p:cond delay="0"/>
                                          </p:stCondLst>
                                        </p:cTn>
                                        <p:tgtEl>
                                          <p:spTgt spid="1055859"/>
                                        </p:tgtEl>
                                        <p:attrNameLst>
                                          <p:attrName>style.visibility</p:attrName>
                                        </p:attrNameLst>
                                      </p:cBhvr>
                                      <p:to>
                                        <p:strVal val="visible"/>
                                      </p:to>
                                    </p:set>
                                    <p:animEffect transition="in" filter="strips(downLeft)">
                                      <p:cBhvr>
                                        <p:cTn id="95" dur="500"/>
                                        <p:tgtEl>
                                          <p:spTgt spid="1055859"/>
                                        </p:tgtEl>
                                      </p:cBhvr>
                                    </p:animEffect>
                                  </p:childTnLst>
                                </p:cTn>
                              </p:par>
                            </p:childTnLst>
                          </p:cTn>
                        </p:par>
                        <p:par>
                          <p:cTn id="96" fill="hold" nodeType="afterGroup">
                            <p:stCondLst>
                              <p:cond delay="500"/>
                            </p:stCondLst>
                            <p:childTnLst>
                              <p:par>
                                <p:cTn id="97" presetID="4" presetClass="entr" presetSubtype="32" fill="hold" grpId="0" nodeType="afterEffect">
                                  <p:stCondLst>
                                    <p:cond delay="0"/>
                                  </p:stCondLst>
                                  <p:childTnLst>
                                    <p:set>
                                      <p:cBhvr>
                                        <p:cTn id="98" dur="1" fill="hold">
                                          <p:stCondLst>
                                            <p:cond delay="0"/>
                                          </p:stCondLst>
                                        </p:cTn>
                                        <p:tgtEl>
                                          <p:spTgt spid="1055860"/>
                                        </p:tgtEl>
                                        <p:attrNameLst>
                                          <p:attrName>style.visibility</p:attrName>
                                        </p:attrNameLst>
                                      </p:cBhvr>
                                      <p:to>
                                        <p:strVal val="visible"/>
                                      </p:to>
                                    </p:set>
                                    <p:animEffect transition="in" filter="box(out)">
                                      <p:cBhvr>
                                        <p:cTn id="99" dur="500"/>
                                        <p:tgtEl>
                                          <p:spTgt spid="1055860"/>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34" presetClass="emph" presetSubtype="0" fill="hold" nodeType="clickEffect">
                                  <p:stCondLst>
                                    <p:cond delay="0"/>
                                  </p:stCondLst>
                                  <p:iterate type="lt">
                                    <p:tmPct val="10000"/>
                                  </p:iterate>
                                  <p:childTnLst>
                                    <p:animMotion origin="layout" path="M -4.79167E-6 1.85185E-6 L -4.79167E-6 -0.07222 " pathEditMode="relative" rAng="0" ptsTypes="AA">
                                      <p:cBhvr>
                                        <p:cTn id="103" dur="250" accel="50000" decel="50000" autoRev="1" fill="hold">
                                          <p:stCondLst>
                                            <p:cond delay="0"/>
                                          </p:stCondLst>
                                        </p:cTn>
                                        <p:tgtEl>
                                          <p:spTgt spid="1055753">
                                            <p:txEl>
                                              <p:pRg st="5" end="5"/>
                                            </p:txEl>
                                          </p:spTgt>
                                        </p:tgtEl>
                                        <p:attrNameLst>
                                          <p:attrName>ppt_x</p:attrName>
                                          <p:attrName>ppt_y</p:attrName>
                                        </p:attrNameLst>
                                      </p:cBhvr>
                                      <p:rCtr x="0" y="-3611"/>
                                    </p:animMotion>
                                    <p:animRot by="1500000">
                                      <p:cBhvr>
                                        <p:cTn id="104" dur="125" fill="hold">
                                          <p:stCondLst>
                                            <p:cond delay="0"/>
                                          </p:stCondLst>
                                        </p:cTn>
                                        <p:tgtEl>
                                          <p:spTgt spid="1055753">
                                            <p:txEl>
                                              <p:pRg st="5" end="5"/>
                                            </p:txEl>
                                          </p:spTgt>
                                        </p:tgtEl>
                                        <p:attrNameLst>
                                          <p:attrName>r</p:attrName>
                                        </p:attrNameLst>
                                      </p:cBhvr>
                                    </p:animRot>
                                    <p:animRot by="-1500000">
                                      <p:cBhvr>
                                        <p:cTn id="105" dur="125" fill="hold">
                                          <p:stCondLst>
                                            <p:cond delay="125"/>
                                          </p:stCondLst>
                                        </p:cTn>
                                        <p:tgtEl>
                                          <p:spTgt spid="1055753">
                                            <p:txEl>
                                              <p:pRg st="5" end="5"/>
                                            </p:txEl>
                                          </p:spTgt>
                                        </p:tgtEl>
                                        <p:attrNameLst>
                                          <p:attrName>r</p:attrName>
                                        </p:attrNameLst>
                                      </p:cBhvr>
                                    </p:animRot>
                                    <p:animRot by="-1500000">
                                      <p:cBhvr>
                                        <p:cTn id="106" dur="125" fill="hold">
                                          <p:stCondLst>
                                            <p:cond delay="250"/>
                                          </p:stCondLst>
                                        </p:cTn>
                                        <p:tgtEl>
                                          <p:spTgt spid="1055753">
                                            <p:txEl>
                                              <p:pRg st="5" end="5"/>
                                            </p:txEl>
                                          </p:spTgt>
                                        </p:tgtEl>
                                        <p:attrNameLst>
                                          <p:attrName>r</p:attrName>
                                        </p:attrNameLst>
                                      </p:cBhvr>
                                    </p:animRot>
                                    <p:animRot by="1500000">
                                      <p:cBhvr>
                                        <p:cTn id="107" dur="125" fill="hold">
                                          <p:stCondLst>
                                            <p:cond delay="375"/>
                                          </p:stCondLst>
                                        </p:cTn>
                                        <p:tgtEl>
                                          <p:spTgt spid="1055753">
                                            <p:txEl>
                                              <p:pRg st="5" end="5"/>
                                            </p:txEl>
                                          </p:spTgt>
                                        </p:tgtEl>
                                        <p:attrNameLst>
                                          <p:attrName>r</p:attrName>
                                        </p:attrNameLst>
                                      </p:cBhvr>
                                    </p:animRo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8" presetClass="entr" presetSubtype="3" fill="hold" grpId="0" nodeType="clickEffect">
                                  <p:stCondLst>
                                    <p:cond delay="0"/>
                                  </p:stCondLst>
                                  <p:childTnLst>
                                    <p:set>
                                      <p:cBhvr>
                                        <p:cTn id="111" dur="1" fill="hold">
                                          <p:stCondLst>
                                            <p:cond delay="0"/>
                                          </p:stCondLst>
                                        </p:cTn>
                                        <p:tgtEl>
                                          <p:spTgt spid="1055861"/>
                                        </p:tgtEl>
                                        <p:attrNameLst>
                                          <p:attrName>style.visibility</p:attrName>
                                        </p:attrNameLst>
                                      </p:cBhvr>
                                      <p:to>
                                        <p:strVal val="visible"/>
                                      </p:to>
                                    </p:set>
                                    <p:animEffect transition="in" filter="strips(upRight)">
                                      <p:cBhvr>
                                        <p:cTn id="112" dur="500"/>
                                        <p:tgtEl>
                                          <p:spTgt spid="1055861"/>
                                        </p:tgtEl>
                                      </p:cBhvr>
                                    </p:animEffect>
                                  </p:childTnLst>
                                </p:cTn>
                              </p:par>
                            </p:childTnLst>
                          </p:cTn>
                        </p:par>
                        <p:par>
                          <p:cTn id="113" fill="hold" nodeType="afterGroup">
                            <p:stCondLst>
                              <p:cond delay="500"/>
                            </p:stCondLst>
                            <p:childTnLst>
                              <p:par>
                                <p:cTn id="114" presetID="4" presetClass="entr" presetSubtype="32" fill="hold" grpId="0" nodeType="afterEffect">
                                  <p:stCondLst>
                                    <p:cond delay="0"/>
                                  </p:stCondLst>
                                  <p:childTnLst>
                                    <p:set>
                                      <p:cBhvr>
                                        <p:cTn id="115" dur="1" fill="hold">
                                          <p:stCondLst>
                                            <p:cond delay="0"/>
                                          </p:stCondLst>
                                        </p:cTn>
                                        <p:tgtEl>
                                          <p:spTgt spid="1055862"/>
                                        </p:tgtEl>
                                        <p:attrNameLst>
                                          <p:attrName>style.visibility</p:attrName>
                                        </p:attrNameLst>
                                      </p:cBhvr>
                                      <p:to>
                                        <p:strVal val="visible"/>
                                      </p:to>
                                    </p:set>
                                    <p:animEffect transition="in" filter="box(out)">
                                      <p:cBhvr>
                                        <p:cTn id="116" dur="500"/>
                                        <p:tgtEl>
                                          <p:spTgt spid="1055862"/>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4" presetClass="entr" presetSubtype="32" fill="hold" nodeType="clickEffect">
                                  <p:stCondLst>
                                    <p:cond delay="0"/>
                                  </p:stCondLst>
                                  <p:childTnLst>
                                    <p:set>
                                      <p:cBhvr>
                                        <p:cTn id="120" dur="1" fill="hold">
                                          <p:stCondLst>
                                            <p:cond delay="0"/>
                                          </p:stCondLst>
                                        </p:cTn>
                                        <p:tgtEl>
                                          <p:spTgt spid="1055872"/>
                                        </p:tgtEl>
                                        <p:attrNameLst>
                                          <p:attrName>style.visibility</p:attrName>
                                        </p:attrNameLst>
                                      </p:cBhvr>
                                      <p:to>
                                        <p:strVal val="visible"/>
                                      </p:to>
                                    </p:set>
                                    <p:animEffect transition="in" filter="box(out)">
                                      <p:cBhvr>
                                        <p:cTn id="121" dur="500"/>
                                        <p:tgtEl>
                                          <p:spTgt spid="1055872"/>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 presetClass="entr" presetSubtype="0" fill="hold" nodeType="clickEffect">
                                  <p:stCondLst>
                                    <p:cond delay="0"/>
                                  </p:stCondLst>
                                  <p:childTnLst>
                                    <p:set>
                                      <p:cBhvr>
                                        <p:cTn id="125" dur="1" fill="hold">
                                          <p:stCondLst>
                                            <p:cond delay="0"/>
                                          </p:stCondLst>
                                        </p:cTn>
                                        <p:tgtEl>
                                          <p:spTgt spid="1055753">
                                            <p:txEl>
                                              <p:pRg st="11" end="11"/>
                                            </p:txEl>
                                          </p:spTgt>
                                        </p:tgtEl>
                                        <p:attrNameLst>
                                          <p:attrName>style.visibility</p:attrName>
                                        </p:attrNameLst>
                                      </p:cBhvr>
                                      <p:to>
                                        <p:strVal val="visible"/>
                                      </p:to>
                                    </p:set>
                                  </p:childTnLst>
                                </p:cTn>
                              </p:par>
                              <p:par>
                                <p:cTn id="126" presetID="1" presetClass="entr" presetSubtype="0" fill="hold" nodeType="withEffect">
                                  <p:stCondLst>
                                    <p:cond delay="0"/>
                                  </p:stCondLst>
                                  <p:childTnLst>
                                    <p:set>
                                      <p:cBhvr>
                                        <p:cTn id="127" dur="1" fill="hold">
                                          <p:stCondLst>
                                            <p:cond delay="0"/>
                                          </p:stCondLst>
                                        </p:cTn>
                                        <p:tgtEl>
                                          <p:spTgt spid="1055753">
                                            <p:txEl>
                                              <p:pRg st="12" end="12"/>
                                            </p:txEl>
                                          </p:spTgt>
                                        </p:tgtEl>
                                        <p:attrNameLst>
                                          <p:attrName>style.visibility</p:attrName>
                                        </p:attrNameLst>
                                      </p:cBhvr>
                                      <p:to>
                                        <p:strVal val="visible"/>
                                      </p:to>
                                    </p:se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4" presetClass="entr" presetSubtype="16" fill="hold" grpId="0" nodeType="clickEffect">
                                  <p:stCondLst>
                                    <p:cond delay="0"/>
                                  </p:stCondLst>
                                  <p:childTnLst>
                                    <p:set>
                                      <p:cBhvr>
                                        <p:cTn id="131" dur="1" fill="hold">
                                          <p:stCondLst>
                                            <p:cond delay="0"/>
                                          </p:stCondLst>
                                        </p:cTn>
                                        <p:tgtEl>
                                          <p:spTgt spid="67"/>
                                        </p:tgtEl>
                                        <p:attrNameLst>
                                          <p:attrName>style.visibility</p:attrName>
                                        </p:attrNameLst>
                                      </p:cBhvr>
                                      <p:to>
                                        <p:strVal val="visible"/>
                                      </p:to>
                                    </p:set>
                                    <p:animEffect transition="in" filter="box(in)">
                                      <p:cBhvr>
                                        <p:cTn id="13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827" grpId="0" animBg="1"/>
      <p:bldP spid="1055828" grpId="0" animBg="1"/>
      <p:bldP spid="1055853" grpId="0" animBg="1"/>
      <p:bldP spid="1055858" grpId="0" animBg="1"/>
      <p:bldP spid="1055859" grpId="0" animBg="1"/>
      <p:bldP spid="1055860" grpId="0" animBg="1"/>
      <p:bldP spid="1055861" grpId="0" animBg="1"/>
      <p:bldP spid="1055862" grpId="0" animBg="1"/>
      <p:bldP spid="6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组合 73">
            <a:extLst>
              <a:ext uri="{FF2B5EF4-FFF2-40B4-BE49-F238E27FC236}">
                <a16:creationId xmlns:a16="http://schemas.microsoft.com/office/drawing/2014/main" id="{F9561666-875D-473A-AF49-96AC28D33DF7}"/>
              </a:ext>
            </a:extLst>
          </p:cNvPr>
          <p:cNvGrpSpPr/>
          <p:nvPr/>
        </p:nvGrpSpPr>
        <p:grpSpPr>
          <a:xfrm>
            <a:off x="0" y="114299"/>
            <a:ext cx="12192000" cy="932769"/>
            <a:chOff x="0" y="114299"/>
            <a:chExt cx="12192000" cy="932769"/>
          </a:xfrm>
        </p:grpSpPr>
        <p:sp>
          <p:nvSpPr>
            <p:cNvPr id="75" name="矩形 74">
              <a:extLst>
                <a:ext uri="{FF2B5EF4-FFF2-40B4-BE49-F238E27FC236}">
                  <a16:creationId xmlns:a16="http://schemas.microsoft.com/office/drawing/2014/main" id="{A85E4C48-DC7F-495B-B530-BAF656DFCDE7}"/>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a:extLst>
                <a:ext uri="{FF2B5EF4-FFF2-40B4-BE49-F238E27FC236}">
                  <a16:creationId xmlns:a16="http://schemas.microsoft.com/office/drawing/2014/main" id="{8216DE0C-AF25-4F16-A9D4-208E67334BD9}"/>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a:extLst>
                <a:ext uri="{FF2B5EF4-FFF2-40B4-BE49-F238E27FC236}">
                  <a16:creationId xmlns:a16="http://schemas.microsoft.com/office/drawing/2014/main" id="{3CC5C257-FE25-4D39-87D0-B6D6F5105D12}"/>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a:extLst>
                <a:ext uri="{FF2B5EF4-FFF2-40B4-BE49-F238E27FC236}">
                  <a16:creationId xmlns:a16="http://schemas.microsoft.com/office/drawing/2014/main" id="{A2639155-36C6-472C-A334-F9B508177CF4}"/>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3" name="图片 92">
              <a:extLst>
                <a:ext uri="{FF2B5EF4-FFF2-40B4-BE49-F238E27FC236}">
                  <a16:creationId xmlns:a16="http://schemas.microsoft.com/office/drawing/2014/main" id="{3F14E4EE-E2AE-4DB1-B910-1309E4C8BE69}"/>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2" name="Text Box 2"/>
          <p:cNvSpPr txBox="1">
            <a:spLocks noChangeArrowheads="1"/>
          </p:cNvSpPr>
          <p:nvPr/>
        </p:nvSpPr>
        <p:spPr bwMode="auto">
          <a:xfrm>
            <a:off x="1494233" y="950667"/>
            <a:ext cx="51365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zh-CN" altLang="en-US" sz="3200" b="1" dirty="0">
                <a:solidFill>
                  <a:srgbClr val="002060"/>
                </a:solidFill>
                <a:latin typeface="方正姚体" pitchFamily="2" charset="-122"/>
                <a:ea typeface="方正姚体" pitchFamily="2" charset="-122"/>
              </a:rPr>
              <a:t>找出问题，修改程序。</a:t>
            </a:r>
            <a:endParaRPr lang="en-US" altLang="zh-CN" sz="3200" b="1" dirty="0">
              <a:solidFill>
                <a:srgbClr val="002060"/>
              </a:solidFill>
              <a:latin typeface="方正姚体" pitchFamily="2" charset="-122"/>
              <a:ea typeface="方正姚体" pitchFamily="2" charset="-122"/>
            </a:endParaRPr>
          </a:p>
        </p:txBody>
      </p:sp>
      <p:sp>
        <p:nvSpPr>
          <p:cNvPr id="3" name="Rectangle 9" descr="信纸"/>
          <p:cNvSpPr>
            <a:spLocks noChangeArrowheads="1"/>
          </p:cNvSpPr>
          <p:nvPr/>
        </p:nvSpPr>
        <p:spPr bwMode="auto">
          <a:xfrm>
            <a:off x="1602069" y="1673591"/>
            <a:ext cx="6028401" cy="4893647"/>
          </a:xfrm>
          <a:prstGeom prst="rect">
            <a:avLst/>
          </a:prstGeom>
          <a:solidFill>
            <a:srgbClr val="FFFF00"/>
          </a:solidFill>
          <a:ln w="38100">
            <a:solidFill>
              <a:srgbClr val="008000"/>
            </a:solidFill>
            <a:miter lim="800000"/>
            <a:headEnd/>
            <a:tailEnd/>
          </a:ln>
          <a:effectLst>
            <a:outerShdw dist="107763" dir="2700000" algn="ctr" rotWithShape="0">
              <a:schemeClr val="bg2">
                <a:alpha val="50000"/>
              </a:schemeClr>
            </a:outerShdw>
          </a:effectLst>
        </p:spPr>
        <p:txBody>
          <a:bodyPr wrap="square">
            <a:spAutoFit/>
          </a:bodyPr>
          <a:lstStyle/>
          <a:p>
            <a:pPr marL="457200" indent="-457200">
              <a:defRPr/>
            </a:pPr>
            <a:r>
              <a:rPr lang="en-US" altLang="zh-CN" sz="2400" b="1" dirty="0">
                <a:effectLst>
                  <a:outerShdw blurRad="38100" dist="38100" dir="2700000" algn="tl">
                    <a:srgbClr val="FFFFFF"/>
                  </a:outerShdw>
                </a:effectLst>
                <a:ea typeface="楷体_GB2312" pitchFamily="49" charset="-122"/>
              </a:rPr>
              <a:t>#include &lt;</a:t>
            </a:r>
            <a:r>
              <a:rPr lang="en-US" altLang="zh-CN" sz="2400" b="1" dirty="0" err="1">
                <a:effectLst>
                  <a:outerShdw blurRad="38100" dist="38100" dir="2700000" algn="tl">
                    <a:srgbClr val="FFFFFF"/>
                  </a:outerShdw>
                </a:effectLst>
                <a:ea typeface="楷体_GB2312" pitchFamily="49" charset="-122"/>
              </a:rPr>
              <a:t>stdio.h</a:t>
            </a:r>
            <a:r>
              <a:rPr lang="en-US" altLang="zh-CN" sz="2400" b="1" dirty="0">
                <a:effectLst>
                  <a:outerShdw blurRad="38100" dist="38100" dir="2700000" algn="tl">
                    <a:srgbClr val="FFFFFF"/>
                  </a:outerShdw>
                </a:effectLst>
                <a:ea typeface="楷体_GB2312" pitchFamily="49" charset="-122"/>
              </a:rPr>
              <a:t>&gt;</a:t>
            </a:r>
          </a:p>
          <a:p>
            <a:pPr marL="457200" indent="-457200">
              <a:defRPr/>
            </a:pPr>
            <a:r>
              <a:rPr lang="en-US" altLang="zh-CN" sz="2400" b="1" dirty="0">
                <a:solidFill>
                  <a:srgbClr val="3366FF"/>
                </a:solidFill>
                <a:ea typeface="楷体_GB2312" pitchFamily="49" charset="-122"/>
              </a:rPr>
              <a:t>void swap (</a:t>
            </a:r>
            <a:r>
              <a:rPr lang="en-US" altLang="zh-CN" sz="2400" b="1" dirty="0" err="1">
                <a:solidFill>
                  <a:srgbClr val="3366FF"/>
                </a:solidFill>
                <a:ea typeface="楷体_GB2312" pitchFamily="49" charset="-122"/>
              </a:rPr>
              <a:t>int</a:t>
            </a:r>
            <a:r>
              <a:rPr lang="en-US" altLang="zh-CN" sz="2400" b="1" dirty="0">
                <a:solidFill>
                  <a:srgbClr val="3366FF"/>
                </a:solidFill>
                <a:ea typeface="楷体_GB2312" pitchFamily="49" charset="-122"/>
              </a:rPr>
              <a:t>      a, </a:t>
            </a:r>
            <a:r>
              <a:rPr lang="en-US" altLang="zh-CN" sz="2400" b="1" dirty="0" err="1">
                <a:solidFill>
                  <a:srgbClr val="3366FF"/>
                </a:solidFill>
                <a:ea typeface="楷体_GB2312" pitchFamily="49" charset="-122"/>
              </a:rPr>
              <a:t>int</a:t>
            </a:r>
            <a:r>
              <a:rPr lang="en-US" altLang="zh-CN" sz="2400" b="1" dirty="0">
                <a:solidFill>
                  <a:srgbClr val="3366FF"/>
                </a:solidFill>
                <a:ea typeface="楷体_GB2312" pitchFamily="49" charset="-122"/>
              </a:rPr>
              <a:t>      b)</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int</a:t>
            </a:r>
            <a:r>
              <a:rPr lang="en-US" altLang="zh-CN" sz="2400" b="1" dirty="0">
                <a:effectLst>
                  <a:outerShdw blurRad="38100" dist="38100" dir="2700000" algn="tl">
                    <a:srgbClr val="FFFFFF"/>
                  </a:outerShdw>
                </a:effectLst>
                <a:ea typeface="楷体_GB2312" pitchFamily="49" charset="-122"/>
              </a:rPr>
              <a:t> temp;</a:t>
            </a:r>
          </a:p>
          <a:p>
            <a:pPr marL="457200" indent="-457200">
              <a:defRPr/>
            </a:pPr>
            <a:r>
              <a:rPr lang="en-US" altLang="zh-CN" sz="2400" b="1" dirty="0">
                <a:effectLst>
                  <a:outerShdw blurRad="38100" dist="38100" dir="2700000" algn="tl">
                    <a:srgbClr val="FFFFFF"/>
                  </a:outerShdw>
                </a:effectLst>
                <a:ea typeface="楷体_GB2312" pitchFamily="49" charset="-122"/>
              </a:rPr>
              <a:t>    temp =     a; </a:t>
            </a:r>
          </a:p>
          <a:p>
            <a:pPr marL="457200" indent="-457200">
              <a:defRPr/>
            </a:pPr>
            <a:r>
              <a:rPr lang="en-US" altLang="zh-CN" sz="2400" b="1" dirty="0">
                <a:effectLst>
                  <a:outerShdw blurRad="38100" dist="38100" dir="2700000" algn="tl">
                    <a:srgbClr val="FFFFFF"/>
                  </a:outerShdw>
                </a:effectLst>
                <a:ea typeface="楷体_GB2312" pitchFamily="49" charset="-122"/>
              </a:rPr>
              <a:t>        a =     b; </a:t>
            </a:r>
          </a:p>
          <a:p>
            <a:pPr marL="457200" indent="-457200">
              <a:defRPr/>
            </a:pPr>
            <a:r>
              <a:rPr lang="en-US" altLang="zh-CN" sz="2400" b="1" dirty="0">
                <a:effectLst>
                  <a:outerShdw blurRad="38100" dist="38100" dir="2700000" algn="tl">
                    <a:srgbClr val="FFFFFF"/>
                  </a:outerShdw>
                </a:effectLst>
                <a:ea typeface="楷体_GB2312" pitchFamily="49" charset="-122"/>
              </a:rPr>
              <a:t>        b = temp;    }</a:t>
            </a:r>
          </a:p>
          <a:p>
            <a:pPr marL="457200" indent="-457200">
              <a:defRPr/>
            </a:pPr>
            <a:r>
              <a:rPr lang="en-US" altLang="zh-CN" sz="2400" b="1" dirty="0">
                <a:solidFill>
                  <a:srgbClr val="CC0000"/>
                </a:solidFill>
                <a:ea typeface="楷体_GB2312" pitchFamily="49" charset="-122"/>
              </a:rPr>
              <a:t>void main ( )</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int</a:t>
            </a:r>
            <a:r>
              <a:rPr lang="en-US" altLang="zh-CN" sz="2400" b="1" dirty="0">
                <a:effectLst>
                  <a:outerShdw blurRad="38100" dist="38100" dir="2700000" algn="tl">
                    <a:srgbClr val="FFFFFF"/>
                  </a:outerShdw>
                </a:effectLst>
                <a:ea typeface="楷体_GB2312" pitchFamily="49" charset="-122"/>
              </a:rPr>
              <a:t> x = 7, y = 11;</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printf</a:t>
            </a:r>
            <a:r>
              <a:rPr lang="en-US" altLang="zh-CN" sz="2400" b="1" dirty="0">
                <a:effectLst>
                  <a:outerShdw blurRad="38100" dist="38100" dir="2700000" algn="tl">
                    <a:srgbClr val="FFFFFF"/>
                  </a:outerShdw>
                </a:effectLst>
                <a:ea typeface="楷体_GB2312" pitchFamily="49" charset="-122"/>
              </a:rPr>
              <a:t> ("before swapped: ");</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printf</a:t>
            </a:r>
            <a:r>
              <a:rPr lang="en-US" altLang="zh-CN" sz="2400" b="1" dirty="0">
                <a:effectLst>
                  <a:outerShdw blurRad="38100" dist="38100" dir="2700000" algn="tl">
                    <a:srgbClr val="FFFFFF"/>
                  </a:outerShdw>
                </a:effectLst>
                <a:ea typeface="楷体_GB2312" pitchFamily="49" charset="-122"/>
              </a:rPr>
              <a:t> ("x=%d, y=%d\n", x, y);</a:t>
            </a:r>
          </a:p>
          <a:p>
            <a:pPr marL="457200" indent="-457200">
              <a:defRPr/>
            </a:pPr>
            <a:r>
              <a:rPr lang="en-US" altLang="zh-CN" sz="2400" b="1" dirty="0">
                <a:solidFill>
                  <a:schemeClr val="accent2"/>
                </a:solidFill>
                <a:ea typeface="楷体_GB2312" pitchFamily="49" charset="-122"/>
              </a:rPr>
              <a:t>    </a:t>
            </a:r>
            <a:r>
              <a:rPr lang="en-US" altLang="zh-CN" sz="2400" b="1" dirty="0">
                <a:solidFill>
                  <a:srgbClr val="3366FF"/>
                </a:solidFill>
                <a:ea typeface="楷体_GB2312" pitchFamily="49" charset="-122"/>
              </a:rPr>
              <a:t>swap (     x,     y);   </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printf</a:t>
            </a:r>
            <a:r>
              <a:rPr lang="en-US" altLang="zh-CN" sz="2400" b="1" dirty="0">
                <a:effectLst>
                  <a:outerShdw blurRad="38100" dist="38100" dir="2700000" algn="tl">
                    <a:srgbClr val="FFFFFF"/>
                  </a:outerShdw>
                </a:effectLst>
                <a:ea typeface="楷体_GB2312" pitchFamily="49" charset="-122"/>
              </a:rPr>
              <a:t> ("after  swapped: ");</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printf</a:t>
            </a:r>
            <a:r>
              <a:rPr lang="en-US" altLang="zh-CN" sz="2400" b="1" dirty="0">
                <a:effectLst>
                  <a:outerShdw blurRad="38100" dist="38100" dir="2700000" algn="tl">
                    <a:srgbClr val="FFFFFF"/>
                  </a:outerShdw>
                </a:effectLst>
                <a:ea typeface="楷体_GB2312" pitchFamily="49" charset="-122"/>
              </a:rPr>
              <a:t> ("x=%d, y=%d\n", x, y);     }</a:t>
            </a:r>
          </a:p>
        </p:txBody>
      </p:sp>
      <p:grpSp>
        <p:nvGrpSpPr>
          <p:cNvPr id="7" name="Group 113"/>
          <p:cNvGrpSpPr>
            <a:grpSpLocks/>
          </p:cNvGrpSpPr>
          <p:nvPr/>
        </p:nvGrpSpPr>
        <p:grpSpPr bwMode="auto">
          <a:xfrm>
            <a:off x="9028777" y="1297641"/>
            <a:ext cx="2736850" cy="1793875"/>
            <a:chOff x="3923" y="939"/>
            <a:chExt cx="1724" cy="1130"/>
          </a:xfrm>
        </p:grpSpPr>
        <p:sp>
          <p:nvSpPr>
            <p:cNvPr id="13377" name="Rectangle 70"/>
            <p:cNvSpPr>
              <a:spLocks noChangeArrowheads="1"/>
            </p:cNvSpPr>
            <p:nvPr/>
          </p:nvSpPr>
          <p:spPr bwMode="auto">
            <a:xfrm>
              <a:off x="3923" y="981"/>
              <a:ext cx="1724" cy="1088"/>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3378" name="Group 71"/>
            <p:cNvGrpSpPr>
              <a:grpSpLocks/>
            </p:cNvGrpSpPr>
            <p:nvPr/>
          </p:nvGrpSpPr>
          <p:grpSpPr bwMode="auto">
            <a:xfrm>
              <a:off x="3969" y="1161"/>
              <a:ext cx="590" cy="317"/>
              <a:chOff x="2460" y="12426"/>
              <a:chExt cx="930" cy="492"/>
            </a:xfrm>
          </p:grpSpPr>
          <p:sp>
            <p:nvSpPr>
              <p:cNvPr id="14" name="Text Box 72"/>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7</a:t>
                </a:r>
              </a:p>
            </p:txBody>
          </p:sp>
          <p:sp>
            <p:nvSpPr>
              <p:cNvPr id="15" name="Text Box 73"/>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3379" name="Group 74"/>
            <p:cNvGrpSpPr>
              <a:grpSpLocks/>
            </p:cNvGrpSpPr>
            <p:nvPr/>
          </p:nvGrpSpPr>
          <p:grpSpPr bwMode="auto">
            <a:xfrm>
              <a:off x="4876" y="1161"/>
              <a:ext cx="613" cy="303"/>
              <a:chOff x="3780" y="12447"/>
              <a:chExt cx="960" cy="477"/>
            </a:xfrm>
          </p:grpSpPr>
          <p:sp>
            <p:nvSpPr>
              <p:cNvPr id="12" name="Text Box 75"/>
              <p:cNvSpPr txBox="1">
                <a:spLocks noChangeArrowheads="1"/>
              </p:cNvSpPr>
              <p:nvPr/>
            </p:nvSpPr>
            <p:spPr bwMode="auto">
              <a:xfrm>
                <a:off x="4200" y="12447"/>
                <a:ext cx="540" cy="468"/>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11</a:t>
                </a:r>
              </a:p>
            </p:txBody>
          </p:sp>
          <p:sp>
            <p:nvSpPr>
              <p:cNvPr id="13" name="Text Box 76"/>
              <p:cNvSpPr txBox="1">
                <a:spLocks noChangeArrowheads="1"/>
              </p:cNvSpPr>
              <p:nvPr/>
            </p:nvSpPr>
            <p:spPr bwMode="auto">
              <a:xfrm>
                <a:off x="3780" y="124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sp>
          <p:nvSpPr>
            <p:cNvPr id="11" name="Text Box 85"/>
            <p:cNvSpPr txBox="1">
              <a:spLocks noChangeArrowheads="1"/>
            </p:cNvSpPr>
            <p:nvPr/>
          </p:nvSpPr>
          <p:spPr bwMode="auto">
            <a:xfrm>
              <a:off x="4331" y="939"/>
              <a:ext cx="87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a:defRPr sz="2000" b="1">
                  <a:effectLst>
                    <a:outerShdw blurRad="38100" dist="38100" dir="2700000" algn="tl">
                      <a:srgbClr val="000000"/>
                    </a:outerShdw>
                  </a:effectLst>
                  <a:latin typeface="楷体_GB2312" pitchFamily="49" charset="-122"/>
                  <a:ea typeface="楷体_GB2312" pitchFamily="49" charset="-122"/>
                </a:defRPr>
              </a:lvl1pPr>
            </a:lstStyle>
            <a:p>
              <a:pPr>
                <a:defRPr/>
              </a:pPr>
              <a:r>
                <a:rPr lang="en-US" altLang="en-US" dirty="0"/>
                <a:t>②</a:t>
              </a:r>
              <a:r>
                <a:rPr lang="en-US" altLang="zh-CN" dirty="0"/>
                <a:t> </a:t>
              </a:r>
              <a:r>
                <a:rPr lang="zh-CN" altLang="en-US" dirty="0"/>
                <a:t>调用</a:t>
              </a:r>
            </a:p>
          </p:txBody>
        </p:sp>
      </p:grpSp>
      <p:grpSp>
        <p:nvGrpSpPr>
          <p:cNvPr id="16" name="Group 112"/>
          <p:cNvGrpSpPr>
            <a:grpSpLocks/>
          </p:cNvGrpSpPr>
          <p:nvPr/>
        </p:nvGrpSpPr>
        <p:grpSpPr bwMode="auto">
          <a:xfrm>
            <a:off x="9028777" y="124477"/>
            <a:ext cx="2736850" cy="1093788"/>
            <a:chOff x="3923" y="110"/>
            <a:chExt cx="1724" cy="689"/>
          </a:xfrm>
        </p:grpSpPr>
        <p:sp>
          <p:nvSpPr>
            <p:cNvPr id="13369" name="Rectangle 69"/>
            <p:cNvSpPr>
              <a:spLocks noChangeArrowheads="1"/>
            </p:cNvSpPr>
            <p:nvPr/>
          </p:nvSpPr>
          <p:spPr bwMode="auto">
            <a:xfrm>
              <a:off x="3923" y="119"/>
              <a:ext cx="1724" cy="68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3370" name="Group 18"/>
            <p:cNvGrpSpPr>
              <a:grpSpLocks/>
            </p:cNvGrpSpPr>
            <p:nvPr/>
          </p:nvGrpSpPr>
          <p:grpSpPr bwMode="auto">
            <a:xfrm>
              <a:off x="3969" y="373"/>
              <a:ext cx="590" cy="317"/>
              <a:chOff x="2460" y="12426"/>
              <a:chExt cx="930" cy="492"/>
            </a:xfrm>
          </p:grpSpPr>
          <p:sp>
            <p:nvSpPr>
              <p:cNvPr id="23" name="Text Box 19"/>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7</a:t>
                </a:r>
              </a:p>
            </p:txBody>
          </p:sp>
          <p:sp>
            <p:nvSpPr>
              <p:cNvPr id="24" name="Text Box 20"/>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3371" name="Group 21"/>
            <p:cNvGrpSpPr>
              <a:grpSpLocks/>
            </p:cNvGrpSpPr>
            <p:nvPr/>
          </p:nvGrpSpPr>
          <p:grpSpPr bwMode="auto">
            <a:xfrm>
              <a:off x="4851" y="360"/>
              <a:ext cx="613" cy="303"/>
              <a:chOff x="3780" y="12447"/>
              <a:chExt cx="960" cy="477"/>
            </a:xfrm>
          </p:grpSpPr>
          <p:sp>
            <p:nvSpPr>
              <p:cNvPr id="21" name="Text Box 22"/>
              <p:cNvSpPr txBox="1">
                <a:spLocks noChangeArrowheads="1"/>
              </p:cNvSpPr>
              <p:nvPr/>
            </p:nvSpPr>
            <p:spPr bwMode="auto">
              <a:xfrm>
                <a:off x="4200" y="12447"/>
                <a:ext cx="540" cy="468"/>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effectLst>
                      <a:outerShdw blurRad="38100" dist="38100" dir="2700000" algn="tl">
                        <a:srgbClr val="FFFFFF"/>
                      </a:outerShdw>
                    </a:effectLst>
                  </a:rPr>
                  <a:t>11</a:t>
                </a:r>
              </a:p>
            </p:txBody>
          </p:sp>
          <p:sp>
            <p:nvSpPr>
              <p:cNvPr id="22" name="Text Box 23"/>
              <p:cNvSpPr txBox="1">
                <a:spLocks noChangeArrowheads="1"/>
              </p:cNvSpPr>
              <p:nvPr/>
            </p:nvSpPr>
            <p:spPr bwMode="auto">
              <a:xfrm>
                <a:off x="3780" y="124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sp>
          <p:nvSpPr>
            <p:cNvPr id="20" name="Text Box 24"/>
            <p:cNvSpPr txBox="1">
              <a:spLocks noChangeArrowheads="1"/>
            </p:cNvSpPr>
            <p:nvPr/>
          </p:nvSpPr>
          <p:spPr bwMode="auto">
            <a:xfrm>
              <a:off x="4276" y="110"/>
              <a:ext cx="87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effectLst>
                    <a:outerShdw blurRad="38100" dist="38100" dir="2700000" algn="tl">
                      <a:srgbClr val="000000"/>
                    </a:outerShdw>
                  </a:effectLst>
                  <a:latin typeface="楷体_GB2312" pitchFamily="49" charset="-122"/>
                  <a:ea typeface="楷体_GB2312" pitchFamily="49" charset="-122"/>
                </a:rPr>
                <a:t>① </a:t>
              </a:r>
              <a:r>
                <a:rPr lang="zh-CN" altLang="en-US" sz="2000" b="1" dirty="0">
                  <a:effectLst>
                    <a:outerShdw blurRad="38100" dist="38100" dir="2700000" algn="tl">
                      <a:srgbClr val="000000"/>
                    </a:outerShdw>
                  </a:effectLst>
                  <a:latin typeface="楷体_GB2312" pitchFamily="49" charset="-122"/>
                  <a:ea typeface="楷体_GB2312" pitchFamily="49" charset="-122"/>
                </a:rPr>
                <a:t>调用前</a:t>
              </a:r>
            </a:p>
          </p:txBody>
        </p:sp>
      </p:grpSp>
      <p:grpSp>
        <p:nvGrpSpPr>
          <p:cNvPr id="25" name="Group 77"/>
          <p:cNvGrpSpPr>
            <a:grpSpLocks/>
          </p:cNvGrpSpPr>
          <p:nvPr/>
        </p:nvGrpSpPr>
        <p:grpSpPr bwMode="auto">
          <a:xfrm>
            <a:off x="9101803" y="2442227"/>
            <a:ext cx="936625" cy="503238"/>
            <a:chOff x="2460" y="12426"/>
            <a:chExt cx="930" cy="492"/>
          </a:xfrm>
        </p:grpSpPr>
        <p:sp>
          <p:nvSpPr>
            <p:cNvPr id="26" name="Text Box 78"/>
            <p:cNvSpPr txBox="1">
              <a:spLocks noChangeArrowheads="1"/>
            </p:cNvSpPr>
            <p:nvPr/>
          </p:nvSpPr>
          <p:spPr bwMode="auto">
            <a:xfrm>
              <a:off x="2849" y="1244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solidFill>
                    <a:srgbClr val="FF33CC"/>
                  </a:solidFill>
                  <a:effectLst>
                    <a:outerShdw blurRad="38100" dist="38100" dir="2700000" algn="tl">
                      <a:srgbClr val="000000"/>
                    </a:outerShdw>
                  </a:effectLst>
                </a:rPr>
                <a:t>7</a:t>
              </a:r>
            </a:p>
          </p:txBody>
        </p:sp>
        <p:sp>
          <p:nvSpPr>
            <p:cNvPr id="27" name="Text Box 79"/>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chemeClr val="accent2"/>
                  </a:solidFill>
                  <a:effectLst>
                    <a:outerShdw blurRad="38100" dist="38100" dir="2700000" algn="tl">
                      <a:srgbClr val="000000"/>
                    </a:outerShdw>
                  </a:effectLst>
                </a:rPr>
                <a:t>a</a:t>
              </a:r>
            </a:p>
          </p:txBody>
        </p:sp>
      </p:grpSp>
      <p:grpSp>
        <p:nvGrpSpPr>
          <p:cNvPr id="28" name="Group 80"/>
          <p:cNvGrpSpPr>
            <a:grpSpLocks/>
          </p:cNvGrpSpPr>
          <p:nvPr/>
        </p:nvGrpSpPr>
        <p:grpSpPr bwMode="auto">
          <a:xfrm>
            <a:off x="10562303" y="2453341"/>
            <a:ext cx="936625" cy="503237"/>
            <a:chOff x="2460" y="12426"/>
            <a:chExt cx="930" cy="492"/>
          </a:xfrm>
        </p:grpSpPr>
        <p:sp>
          <p:nvSpPr>
            <p:cNvPr id="29" name="Text Box 81"/>
            <p:cNvSpPr txBox="1">
              <a:spLocks noChangeArrowheads="1"/>
            </p:cNvSpPr>
            <p:nvPr/>
          </p:nvSpPr>
          <p:spPr bwMode="auto">
            <a:xfrm>
              <a:off x="2849" y="1244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FF33CC"/>
                  </a:solidFill>
                  <a:effectLst>
                    <a:outerShdw blurRad="38100" dist="38100" dir="2700000" algn="tl">
                      <a:srgbClr val="000000"/>
                    </a:outerShdw>
                  </a:effectLst>
                </a:rPr>
                <a:t>11</a:t>
              </a:r>
            </a:p>
          </p:txBody>
        </p:sp>
        <p:sp>
          <p:nvSpPr>
            <p:cNvPr id="30" name="Text Box 82"/>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solidFill>
                    <a:schemeClr val="accent2"/>
                  </a:solidFill>
                  <a:effectLst>
                    <a:outerShdw blurRad="38100" dist="38100" dir="2700000" algn="tl">
                      <a:srgbClr val="000000"/>
                    </a:outerShdw>
                  </a:effectLst>
                </a:rPr>
                <a:t>b</a:t>
              </a:r>
            </a:p>
          </p:txBody>
        </p:sp>
      </p:grpSp>
      <p:sp>
        <p:nvSpPr>
          <p:cNvPr id="31" name="Line 83"/>
          <p:cNvSpPr>
            <a:spLocks noChangeShapeType="1"/>
          </p:cNvSpPr>
          <p:nvPr/>
        </p:nvSpPr>
        <p:spPr bwMode="auto">
          <a:xfrm>
            <a:off x="9749502" y="2154890"/>
            <a:ext cx="0" cy="360362"/>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2" name="Line 84"/>
          <p:cNvSpPr>
            <a:spLocks noChangeShapeType="1"/>
          </p:cNvSpPr>
          <p:nvPr/>
        </p:nvSpPr>
        <p:spPr bwMode="auto">
          <a:xfrm>
            <a:off x="11217939" y="2110440"/>
            <a:ext cx="0" cy="360362"/>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33" name="Group 111"/>
          <p:cNvGrpSpPr>
            <a:grpSpLocks/>
          </p:cNvGrpSpPr>
          <p:nvPr/>
        </p:nvGrpSpPr>
        <p:grpSpPr bwMode="auto">
          <a:xfrm>
            <a:off x="9028777" y="3223277"/>
            <a:ext cx="2736850" cy="2274888"/>
            <a:chOff x="3924" y="2224"/>
            <a:chExt cx="1724" cy="1433"/>
          </a:xfrm>
        </p:grpSpPr>
        <p:sp>
          <p:nvSpPr>
            <p:cNvPr id="13352" name="Rectangle 86"/>
            <p:cNvSpPr>
              <a:spLocks noChangeArrowheads="1"/>
            </p:cNvSpPr>
            <p:nvPr/>
          </p:nvSpPr>
          <p:spPr bwMode="auto">
            <a:xfrm>
              <a:off x="3924" y="2233"/>
              <a:ext cx="1724" cy="1424"/>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35" name="Text Box 87"/>
            <p:cNvSpPr txBox="1">
              <a:spLocks noChangeArrowheads="1"/>
            </p:cNvSpPr>
            <p:nvPr/>
          </p:nvSpPr>
          <p:spPr bwMode="auto">
            <a:xfrm>
              <a:off x="4332" y="2224"/>
              <a:ext cx="960"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a:defRPr sz="2000" b="1">
                  <a:effectLst>
                    <a:outerShdw blurRad="38100" dist="38100" dir="2700000" algn="tl">
                      <a:srgbClr val="000000"/>
                    </a:outerShdw>
                  </a:effectLst>
                  <a:latin typeface="楷体_GB2312" pitchFamily="49" charset="-122"/>
                  <a:ea typeface="楷体_GB2312" pitchFamily="49" charset="-122"/>
                </a:defRPr>
              </a:lvl1pPr>
            </a:lstStyle>
            <a:p>
              <a:pPr>
                <a:defRPr/>
              </a:pPr>
              <a:r>
                <a:rPr lang="en-US" altLang="en-US" sz="2400" dirty="0">
                  <a:latin typeface="Times New Roman" pitchFamily="18" charset="0"/>
                  <a:cs typeface="Times New Roman" pitchFamily="18" charset="0"/>
                </a:rPr>
                <a:t>③</a:t>
              </a:r>
              <a:r>
                <a:rPr lang="en-US" altLang="zh-CN" sz="2400" dirty="0">
                  <a:latin typeface="Times New Roman" pitchFamily="18" charset="0"/>
                  <a:cs typeface="Times New Roman" pitchFamily="18" charset="0"/>
                </a:rPr>
                <a:t> swap</a:t>
              </a:r>
            </a:p>
          </p:txBody>
        </p:sp>
        <p:sp>
          <p:nvSpPr>
            <p:cNvPr id="50" name="Text Box 90"/>
            <p:cNvSpPr txBox="1">
              <a:spLocks noChangeArrowheads="1"/>
            </p:cNvSpPr>
            <p:nvPr/>
          </p:nvSpPr>
          <p:spPr bwMode="auto">
            <a:xfrm>
              <a:off x="3969" y="2471"/>
              <a:ext cx="343"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effectLst>
                    <a:outerShdw blurRad="38100" dist="38100" dir="2700000" algn="tl">
                      <a:srgbClr val="FFFFFF"/>
                    </a:outerShdw>
                  </a:effectLst>
                </a:rPr>
                <a:t>x</a:t>
              </a:r>
            </a:p>
          </p:txBody>
        </p:sp>
        <p:sp>
          <p:nvSpPr>
            <p:cNvPr id="48" name="Text Box 93"/>
            <p:cNvSpPr txBox="1">
              <a:spLocks noChangeArrowheads="1"/>
            </p:cNvSpPr>
            <p:nvPr/>
          </p:nvSpPr>
          <p:spPr bwMode="auto">
            <a:xfrm>
              <a:off x="4878" y="2474"/>
              <a:ext cx="345"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effectLst>
                    <a:outerShdw blurRad="38100" dist="38100" dir="2700000" algn="tl">
                      <a:srgbClr val="FFFFFF"/>
                    </a:outerShdw>
                  </a:effectLst>
                </a:rPr>
                <a:t>y</a:t>
              </a:r>
            </a:p>
          </p:txBody>
        </p:sp>
        <p:grpSp>
          <p:nvGrpSpPr>
            <p:cNvPr id="13356" name="Group 100"/>
            <p:cNvGrpSpPr>
              <a:grpSpLocks/>
            </p:cNvGrpSpPr>
            <p:nvPr/>
          </p:nvGrpSpPr>
          <p:grpSpPr bwMode="auto">
            <a:xfrm>
              <a:off x="3971" y="2508"/>
              <a:ext cx="590" cy="700"/>
              <a:chOff x="2460" y="11809"/>
              <a:chExt cx="930" cy="1086"/>
            </a:xfrm>
          </p:grpSpPr>
          <p:sp>
            <p:nvSpPr>
              <p:cNvPr id="45" name="Text Box 101"/>
              <p:cNvSpPr txBox="1">
                <a:spLocks noChangeArrowheads="1"/>
              </p:cNvSpPr>
              <p:nvPr/>
            </p:nvSpPr>
            <p:spPr bwMode="auto">
              <a:xfrm>
                <a:off x="2849" y="11809"/>
                <a:ext cx="541" cy="469"/>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FF33CC"/>
                    </a:solidFill>
                    <a:effectLst>
                      <a:outerShdw blurRad="38100" dist="38100" dir="2700000" algn="tl">
                        <a:srgbClr val="000000"/>
                      </a:outerShdw>
                    </a:effectLst>
                  </a:rPr>
                  <a:t>7</a:t>
                </a:r>
              </a:p>
            </p:txBody>
          </p:sp>
          <p:sp>
            <p:nvSpPr>
              <p:cNvPr id="46" name="Text Box 102"/>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rgbClr val="C00000"/>
                    </a:solidFill>
                    <a:effectLst>
                      <a:outerShdw blurRad="38100" dist="38100" dir="2700000" algn="tl">
                        <a:srgbClr val="000000"/>
                      </a:outerShdw>
                    </a:effectLst>
                  </a:rPr>
                  <a:t>a</a:t>
                </a:r>
              </a:p>
            </p:txBody>
          </p:sp>
        </p:grpSp>
        <p:grpSp>
          <p:nvGrpSpPr>
            <p:cNvPr id="13357" name="Group 103"/>
            <p:cNvGrpSpPr>
              <a:grpSpLocks/>
            </p:cNvGrpSpPr>
            <p:nvPr/>
          </p:nvGrpSpPr>
          <p:grpSpPr bwMode="auto">
            <a:xfrm>
              <a:off x="4897" y="2514"/>
              <a:ext cx="582" cy="694"/>
              <a:chOff x="2472" y="11897"/>
              <a:chExt cx="918" cy="1080"/>
            </a:xfrm>
          </p:grpSpPr>
          <p:sp>
            <p:nvSpPr>
              <p:cNvPr id="43" name="Text Box 104"/>
              <p:cNvSpPr txBox="1">
                <a:spLocks noChangeArrowheads="1"/>
              </p:cNvSpPr>
              <p:nvPr/>
            </p:nvSpPr>
            <p:spPr bwMode="auto">
              <a:xfrm>
                <a:off x="2849" y="11897"/>
                <a:ext cx="541" cy="468"/>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solidFill>
                      <a:srgbClr val="FF33CC"/>
                    </a:solidFill>
                    <a:effectLst>
                      <a:outerShdw blurRad="38100" dist="38100" dir="2700000" algn="tl">
                        <a:srgbClr val="000000"/>
                      </a:outerShdw>
                    </a:effectLst>
                  </a:rPr>
                  <a:t>11</a:t>
                </a:r>
              </a:p>
            </p:txBody>
          </p:sp>
          <p:sp>
            <p:nvSpPr>
              <p:cNvPr id="44" name="Text Box 105"/>
              <p:cNvSpPr txBox="1">
                <a:spLocks noChangeArrowheads="1"/>
              </p:cNvSpPr>
              <p:nvPr/>
            </p:nvSpPr>
            <p:spPr bwMode="auto">
              <a:xfrm>
                <a:off x="2472" y="12509"/>
                <a:ext cx="541"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rgbClr val="C00000"/>
                    </a:solidFill>
                    <a:effectLst>
                      <a:outerShdw blurRad="38100" dist="38100" dir="2700000" algn="tl">
                        <a:srgbClr val="000000"/>
                      </a:outerShdw>
                    </a:effectLst>
                  </a:rPr>
                  <a:t>b</a:t>
                </a:r>
              </a:p>
            </p:txBody>
          </p:sp>
        </p:grpSp>
        <p:grpSp>
          <p:nvGrpSpPr>
            <p:cNvPr id="13358" name="Group 110"/>
            <p:cNvGrpSpPr>
              <a:grpSpLocks/>
            </p:cNvGrpSpPr>
            <p:nvPr/>
          </p:nvGrpSpPr>
          <p:grpSpPr bwMode="auto">
            <a:xfrm>
              <a:off x="4104" y="3276"/>
              <a:ext cx="926" cy="302"/>
              <a:chOff x="4104" y="3276"/>
              <a:chExt cx="926" cy="302"/>
            </a:xfrm>
          </p:grpSpPr>
          <p:sp>
            <p:nvSpPr>
              <p:cNvPr id="41" name="Text Box 107"/>
              <p:cNvSpPr txBox="1">
                <a:spLocks noChangeArrowheads="1"/>
              </p:cNvSpPr>
              <p:nvPr/>
            </p:nvSpPr>
            <p:spPr bwMode="auto">
              <a:xfrm>
                <a:off x="4687" y="3276"/>
                <a:ext cx="343" cy="302"/>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endParaRPr lang="zh-CN" altLang="zh-CN" sz="2000" b="1">
                  <a:solidFill>
                    <a:srgbClr val="FF33CC"/>
                  </a:solidFill>
                  <a:effectLst>
                    <a:outerShdw blurRad="38100" dist="38100" dir="2700000" algn="tl">
                      <a:srgbClr val="000000"/>
                    </a:outerShdw>
                  </a:effectLst>
                </a:endParaRPr>
              </a:p>
            </p:txBody>
          </p:sp>
          <p:sp>
            <p:nvSpPr>
              <p:cNvPr id="42" name="Text Box 108"/>
              <p:cNvSpPr txBox="1">
                <a:spLocks noChangeArrowheads="1"/>
              </p:cNvSpPr>
              <p:nvPr/>
            </p:nvSpPr>
            <p:spPr bwMode="auto">
              <a:xfrm>
                <a:off x="4104" y="3279"/>
                <a:ext cx="59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dirty="0">
                    <a:solidFill>
                      <a:srgbClr val="008000"/>
                    </a:solidFill>
                    <a:effectLst>
                      <a:outerShdw blurRad="38100" dist="38100" dir="2700000" algn="tl">
                        <a:srgbClr val="000000"/>
                      </a:outerShdw>
                    </a:effectLst>
                  </a:rPr>
                  <a:t>temp</a:t>
                </a:r>
              </a:p>
            </p:txBody>
          </p:sp>
        </p:grpSp>
      </p:grpSp>
      <p:sp>
        <p:nvSpPr>
          <p:cNvPr id="51" name="Text Box 109"/>
          <p:cNvSpPr txBox="1">
            <a:spLocks noChangeArrowheads="1"/>
          </p:cNvSpPr>
          <p:nvPr/>
        </p:nvSpPr>
        <p:spPr bwMode="auto">
          <a:xfrm>
            <a:off x="10252740" y="4893328"/>
            <a:ext cx="544513" cy="479425"/>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CC0000"/>
                </a:solidFill>
                <a:effectLst>
                  <a:outerShdw blurRad="38100" dist="38100" dir="2700000" algn="tl">
                    <a:srgbClr val="000000"/>
                  </a:outerShdw>
                </a:effectLst>
              </a:rPr>
              <a:t>7</a:t>
            </a:r>
          </a:p>
        </p:txBody>
      </p:sp>
      <p:sp>
        <p:nvSpPr>
          <p:cNvPr id="52" name="Line 114"/>
          <p:cNvSpPr>
            <a:spLocks noChangeShapeType="1"/>
          </p:cNvSpPr>
          <p:nvPr/>
        </p:nvSpPr>
        <p:spPr bwMode="auto">
          <a:xfrm>
            <a:off x="9782840" y="4223402"/>
            <a:ext cx="441325" cy="909638"/>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3" name="Line 115"/>
          <p:cNvSpPr>
            <a:spLocks noChangeShapeType="1"/>
          </p:cNvSpPr>
          <p:nvPr/>
        </p:nvSpPr>
        <p:spPr bwMode="auto">
          <a:xfrm flipH="1">
            <a:off x="10086052" y="3972577"/>
            <a:ext cx="792162" cy="0"/>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4" name="Text Box 116"/>
          <p:cNvSpPr txBox="1">
            <a:spLocks noChangeArrowheads="1"/>
          </p:cNvSpPr>
          <p:nvPr/>
        </p:nvSpPr>
        <p:spPr bwMode="auto">
          <a:xfrm>
            <a:off x="9505027" y="3666191"/>
            <a:ext cx="544512" cy="479425"/>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solidFill>
                  <a:srgbClr val="CC0000"/>
                </a:solidFill>
                <a:effectLst>
                  <a:outerShdw blurRad="38100" dist="38100" dir="2700000" algn="tl">
                    <a:srgbClr val="000000"/>
                  </a:outerShdw>
                </a:effectLst>
              </a:rPr>
              <a:t>11</a:t>
            </a:r>
          </a:p>
        </p:txBody>
      </p:sp>
      <p:sp>
        <p:nvSpPr>
          <p:cNvPr id="55" name="Line 117"/>
          <p:cNvSpPr>
            <a:spLocks noChangeShapeType="1"/>
          </p:cNvSpPr>
          <p:nvPr/>
        </p:nvSpPr>
        <p:spPr bwMode="auto">
          <a:xfrm flipV="1">
            <a:off x="10813127" y="4171015"/>
            <a:ext cx="576262" cy="908050"/>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 name="Text Box 118"/>
          <p:cNvSpPr txBox="1">
            <a:spLocks noChangeArrowheads="1"/>
          </p:cNvSpPr>
          <p:nvPr/>
        </p:nvSpPr>
        <p:spPr bwMode="auto">
          <a:xfrm>
            <a:off x="10959177" y="3685241"/>
            <a:ext cx="544512" cy="479425"/>
          </a:xfrm>
          <a:prstGeom prst="rect">
            <a:avLst/>
          </a:prstGeom>
          <a:solidFill>
            <a:srgbClr val="FFFF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a:solidFill>
                  <a:srgbClr val="CC0000"/>
                </a:solidFill>
                <a:effectLst>
                  <a:outerShdw blurRad="38100" dist="38100" dir="2700000" algn="tl">
                    <a:srgbClr val="000000"/>
                  </a:outerShdw>
                </a:effectLst>
              </a:rPr>
              <a:t>7</a:t>
            </a:r>
          </a:p>
        </p:txBody>
      </p:sp>
      <p:grpSp>
        <p:nvGrpSpPr>
          <p:cNvPr id="57" name="Group 128"/>
          <p:cNvGrpSpPr>
            <a:grpSpLocks/>
          </p:cNvGrpSpPr>
          <p:nvPr/>
        </p:nvGrpSpPr>
        <p:grpSpPr bwMode="auto">
          <a:xfrm>
            <a:off x="9028777" y="5614052"/>
            <a:ext cx="2736850" cy="1093788"/>
            <a:chOff x="3923" y="3577"/>
            <a:chExt cx="1724" cy="689"/>
          </a:xfrm>
        </p:grpSpPr>
        <p:sp>
          <p:nvSpPr>
            <p:cNvPr id="13344" name="Rectangle 120"/>
            <p:cNvSpPr>
              <a:spLocks noChangeArrowheads="1"/>
            </p:cNvSpPr>
            <p:nvPr/>
          </p:nvSpPr>
          <p:spPr bwMode="auto">
            <a:xfrm>
              <a:off x="3923" y="3586"/>
              <a:ext cx="1724" cy="680"/>
            </a:xfrm>
            <a:prstGeom prst="rect">
              <a:avLst/>
            </a:prstGeom>
            <a:gradFill rotWithShape="1">
              <a:gsLst>
                <a:gs pos="0">
                  <a:srgbClr val="CCFFFF"/>
                </a:gs>
                <a:gs pos="100000">
                  <a:schemeClr val="bg1"/>
                </a:gs>
              </a:gsLst>
              <a:lin ang="5400000" scaled="1"/>
            </a:gradFill>
            <a:ln w="28575">
              <a:solidFill>
                <a:srgbClr val="0000FF"/>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3345" name="Group 121"/>
            <p:cNvGrpSpPr>
              <a:grpSpLocks/>
            </p:cNvGrpSpPr>
            <p:nvPr/>
          </p:nvGrpSpPr>
          <p:grpSpPr bwMode="auto">
            <a:xfrm>
              <a:off x="3969" y="3840"/>
              <a:ext cx="590" cy="317"/>
              <a:chOff x="2460" y="12426"/>
              <a:chExt cx="930" cy="492"/>
            </a:xfrm>
          </p:grpSpPr>
          <p:sp>
            <p:nvSpPr>
              <p:cNvPr id="64" name="Text Box 122"/>
              <p:cNvSpPr txBox="1">
                <a:spLocks noChangeArrowheads="1"/>
              </p:cNvSpPr>
              <p:nvPr/>
            </p:nvSpPr>
            <p:spPr bwMode="auto">
              <a:xfrm>
                <a:off x="2849" y="12449"/>
                <a:ext cx="541"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11</a:t>
                </a:r>
              </a:p>
            </p:txBody>
          </p:sp>
          <p:sp>
            <p:nvSpPr>
              <p:cNvPr id="65" name="Text Box 123"/>
              <p:cNvSpPr txBox="1">
                <a:spLocks noChangeArrowheads="1"/>
              </p:cNvSpPr>
              <p:nvPr/>
            </p:nvSpPr>
            <p:spPr bwMode="auto">
              <a:xfrm>
                <a:off x="2460" y="12426"/>
                <a:ext cx="54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x</a:t>
                </a:r>
              </a:p>
            </p:txBody>
          </p:sp>
        </p:grpSp>
        <p:grpSp>
          <p:nvGrpSpPr>
            <p:cNvPr id="13346" name="Group 124"/>
            <p:cNvGrpSpPr>
              <a:grpSpLocks/>
            </p:cNvGrpSpPr>
            <p:nvPr/>
          </p:nvGrpSpPr>
          <p:grpSpPr bwMode="auto">
            <a:xfrm>
              <a:off x="4851" y="3842"/>
              <a:ext cx="613" cy="304"/>
              <a:chOff x="3780" y="12456"/>
              <a:chExt cx="960" cy="478"/>
            </a:xfrm>
          </p:grpSpPr>
          <p:sp>
            <p:nvSpPr>
              <p:cNvPr id="62" name="Text Box 125"/>
              <p:cNvSpPr txBox="1">
                <a:spLocks noChangeArrowheads="1"/>
              </p:cNvSpPr>
              <p:nvPr/>
            </p:nvSpPr>
            <p:spPr bwMode="auto">
              <a:xfrm>
                <a:off x="4200" y="12465"/>
                <a:ext cx="540" cy="469"/>
              </a:xfrm>
              <a:prstGeom prst="rect">
                <a:avLst/>
              </a:prstGeom>
              <a:solidFill>
                <a:srgbClr val="FFCC99"/>
              </a:solidFill>
              <a:ln w="9525">
                <a:solidFill>
                  <a:srgbClr val="000000"/>
                </a:solidFill>
                <a:miter lim="800000"/>
                <a:headEnd/>
                <a:tailEnd/>
              </a:ln>
              <a:effectLst>
                <a:outerShdw dist="107763" dir="2700000" algn="ctr" rotWithShape="0">
                  <a:srgbClr val="808080">
                    <a:alpha val="50000"/>
                  </a:srgbClr>
                </a:outerShdw>
              </a:effectLst>
            </p:spPr>
            <p:txBody>
              <a:bodyPr/>
              <a:lstStyle/>
              <a:p>
                <a:pPr>
                  <a:defRPr/>
                </a:pPr>
                <a:r>
                  <a:rPr lang="en-US" altLang="zh-CN" sz="2000" b="1" dirty="0">
                    <a:effectLst>
                      <a:outerShdw blurRad="38100" dist="38100" dir="2700000" algn="tl">
                        <a:srgbClr val="FFFFFF"/>
                      </a:outerShdw>
                    </a:effectLst>
                  </a:rPr>
                  <a:t>7</a:t>
                </a:r>
              </a:p>
            </p:txBody>
          </p:sp>
          <p:sp>
            <p:nvSpPr>
              <p:cNvPr id="63" name="Text Box 126"/>
              <p:cNvSpPr txBox="1">
                <a:spLocks noChangeArrowheads="1"/>
              </p:cNvSpPr>
              <p:nvPr/>
            </p:nvSpPr>
            <p:spPr bwMode="auto">
              <a:xfrm>
                <a:off x="3780" y="12456"/>
                <a:ext cx="540"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000" b="1">
                    <a:effectLst>
                      <a:outerShdw blurRad="38100" dist="38100" dir="2700000" algn="tl">
                        <a:srgbClr val="FFFFFF"/>
                      </a:outerShdw>
                    </a:effectLst>
                  </a:rPr>
                  <a:t>y</a:t>
                </a:r>
              </a:p>
            </p:txBody>
          </p:sp>
        </p:grpSp>
        <p:sp>
          <p:nvSpPr>
            <p:cNvPr id="61" name="Text Box 127"/>
            <p:cNvSpPr txBox="1">
              <a:spLocks noChangeArrowheads="1"/>
            </p:cNvSpPr>
            <p:nvPr/>
          </p:nvSpPr>
          <p:spPr bwMode="auto">
            <a:xfrm>
              <a:off x="4276" y="3577"/>
              <a:ext cx="105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just">
                <a:defRPr sz="2000" b="1">
                  <a:effectLst>
                    <a:outerShdw blurRad="38100" dist="38100" dir="2700000" algn="tl">
                      <a:srgbClr val="000000"/>
                    </a:outerShdw>
                  </a:effectLst>
                  <a:latin typeface="楷体_GB2312" pitchFamily="49" charset="-122"/>
                  <a:ea typeface="楷体_GB2312" pitchFamily="49" charset="-122"/>
                </a:defRPr>
              </a:lvl1pPr>
            </a:lstStyle>
            <a:p>
              <a:pPr>
                <a:defRPr/>
              </a:pPr>
              <a:r>
                <a:rPr lang="en-US" altLang="en-US" dirty="0"/>
                <a:t>④</a:t>
              </a:r>
              <a:r>
                <a:rPr lang="en-US" altLang="zh-CN" dirty="0"/>
                <a:t> </a:t>
              </a:r>
              <a:r>
                <a:rPr lang="zh-CN" altLang="en-US" dirty="0"/>
                <a:t>调用结束</a:t>
              </a:r>
            </a:p>
          </p:txBody>
        </p:sp>
      </p:grpSp>
      <p:sp>
        <p:nvSpPr>
          <p:cNvPr id="78" name="TextBox 77"/>
          <p:cNvSpPr txBox="1"/>
          <p:nvPr/>
        </p:nvSpPr>
        <p:spPr>
          <a:xfrm>
            <a:off x="9109442" y="2442227"/>
            <a:ext cx="576263" cy="400050"/>
          </a:xfrm>
          <a:prstGeom prst="rect">
            <a:avLst/>
          </a:prstGeom>
          <a:noFill/>
        </p:spPr>
        <p:txBody>
          <a:bodyPr>
            <a:spAutoFit/>
          </a:bodyPr>
          <a:lstStyle/>
          <a:p>
            <a:pPr algn="l">
              <a:defRPr/>
            </a:pPr>
            <a:r>
              <a:rPr lang="en-US" altLang="zh-CN" sz="2000" b="1" dirty="0">
                <a:solidFill>
                  <a:srgbClr val="C00000"/>
                </a:solidFill>
                <a:effectLst>
                  <a:outerShdw blurRad="38100" dist="38100" dir="2700000" algn="tl">
                    <a:srgbClr val="000000"/>
                  </a:outerShdw>
                </a:effectLst>
              </a:rPr>
              <a:t>a</a:t>
            </a:r>
            <a:endParaRPr lang="zh-CN" altLang="en-US" sz="2000" b="1" dirty="0">
              <a:solidFill>
                <a:srgbClr val="C00000"/>
              </a:solidFill>
              <a:effectLst>
                <a:outerShdw blurRad="38100" dist="38100" dir="2700000" algn="tl">
                  <a:srgbClr val="000000"/>
                </a:outerShdw>
              </a:effectLst>
            </a:endParaRPr>
          </a:p>
        </p:txBody>
      </p:sp>
      <p:sp>
        <p:nvSpPr>
          <p:cNvPr id="79" name="Line 117"/>
          <p:cNvSpPr>
            <a:spLocks noChangeShapeType="1"/>
          </p:cNvSpPr>
          <p:nvPr/>
        </p:nvSpPr>
        <p:spPr bwMode="auto">
          <a:xfrm flipV="1">
            <a:off x="9300240" y="2153302"/>
            <a:ext cx="288925" cy="431800"/>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80" name="TextBox 79"/>
          <p:cNvSpPr txBox="1"/>
          <p:nvPr/>
        </p:nvSpPr>
        <p:spPr>
          <a:xfrm>
            <a:off x="10541665" y="2442227"/>
            <a:ext cx="576263" cy="400050"/>
          </a:xfrm>
          <a:prstGeom prst="rect">
            <a:avLst/>
          </a:prstGeom>
          <a:noFill/>
        </p:spPr>
        <p:txBody>
          <a:bodyPr>
            <a:spAutoFit/>
          </a:bodyPr>
          <a:lstStyle/>
          <a:p>
            <a:pPr algn="l">
              <a:defRPr/>
            </a:pPr>
            <a:r>
              <a:rPr lang="en-US" altLang="zh-CN" sz="2000" b="1" dirty="0">
                <a:solidFill>
                  <a:srgbClr val="C00000"/>
                </a:solidFill>
                <a:effectLst>
                  <a:outerShdw blurRad="38100" dist="38100" dir="2700000" algn="tl">
                    <a:srgbClr val="000000"/>
                  </a:outerShdw>
                </a:effectLst>
              </a:rPr>
              <a:t>b</a:t>
            </a:r>
            <a:endParaRPr lang="zh-CN" altLang="en-US" sz="2000" b="1" dirty="0">
              <a:solidFill>
                <a:srgbClr val="C00000"/>
              </a:solidFill>
              <a:effectLst>
                <a:outerShdw blurRad="38100" dist="38100" dir="2700000" algn="tl">
                  <a:srgbClr val="000000"/>
                </a:outerShdw>
              </a:effectLst>
            </a:endParaRPr>
          </a:p>
        </p:txBody>
      </p:sp>
      <p:sp>
        <p:nvSpPr>
          <p:cNvPr id="81" name="Line 117"/>
          <p:cNvSpPr>
            <a:spLocks noChangeShapeType="1"/>
          </p:cNvSpPr>
          <p:nvPr/>
        </p:nvSpPr>
        <p:spPr bwMode="auto">
          <a:xfrm flipV="1">
            <a:off x="10755978" y="2154890"/>
            <a:ext cx="288925" cy="431800"/>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82" name="Line 117"/>
          <p:cNvSpPr>
            <a:spLocks noChangeShapeType="1"/>
          </p:cNvSpPr>
          <p:nvPr/>
        </p:nvSpPr>
        <p:spPr bwMode="auto">
          <a:xfrm flipV="1">
            <a:off x="9347864" y="4223403"/>
            <a:ext cx="300038" cy="322263"/>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83" name="Line 117"/>
          <p:cNvSpPr>
            <a:spLocks noChangeShapeType="1"/>
          </p:cNvSpPr>
          <p:nvPr/>
        </p:nvSpPr>
        <p:spPr bwMode="auto">
          <a:xfrm flipV="1">
            <a:off x="10829003" y="4223403"/>
            <a:ext cx="403225" cy="322263"/>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84" name="Text Box 93"/>
          <p:cNvSpPr txBox="1">
            <a:spLocks noChangeArrowheads="1"/>
          </p:cNvSpPr>
          <p:nvPr/>
        </p:nvSpPr>
        <p:spPr bwMode="auto">
          <a:xfrm>
            <a:off x="3956053" y="2079963"/>
            <a:ext cx="5476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zh-CN" altLang="en-US" sz="2800" b="1" dirty="0">
                <a:solidFill>
                  <a:srgbClr val="FF0000"/>
                </a:solidFill>
                <a:effectLst>
                  <a:outerShdw blurRad="38100" dist="38100" dir="2700000" algn="tl">
                    <a:srgbClr val="FFFFFF"/>
                  </a:outerShdw>
                </a:effectLst>
              </a:rPr>
              <a:t>*</a:t>
            </a:r>
            <a:endParaRPr lang="en-US" altLang="zh-CN" sz="2800" b="1" dirty="0">
              <a:solidFill>
                <a:srgbClr val="FF0000"/>
              </a:solidFill>
              <a:effectLst>
                <a:outerShdw blurRad="38100" dist="38100" dir="2700000" algn="tl">
                  <a:srgbClr val="FFFFFF"/>
                </a:outerShdw>
              </a:effectLst>
            </a:endParaRPr>
          </a:p>
        </p:txBody>
      </p:sp>
      <p:sp>
        <p:nvSpPr>
          <p:cNvPr id="85" name="Text Box 93"/>
          <p:cNvSpPr txBox="1">
            <a:spLocks noChangeArrowheads="1"/>
          </p:cNvSpPr>
          <p:nvPr/>
        </p:nvSpPr>
        <p:spPr bwMode="auto">
          <a:xfrm>
            <a:off x="5179463" y="2068849"/>
            <a:ext cx="54768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zh-CN" altLang="en-US" sz="2800" b="1" dirty="0">
                <a:solidFill>
                  <a:srgbClr val="FF0000"/>
                </a:solidFill>
                <a:effectLst>
                  <a:outerShdw blurRad="38100" dist="38100" dir="2700000" algn="tl">
                    <a:srgbClr val="FFFFFF"/>
                  </a:outerShdw>
                </a:effectLst>
              </a:rPr>
              <a:t>*</a:t>
            </a:r>
            <a:endParaRPr lang="en-US" altLang="zh-CN" sz="2800" b="1" dirty="0">
              <a:solidFill>
                <a:srgbClr val="FF0000"/>
              </a:solidFill>
              <a:effectLst>
                <a:outerShdw blurRad="38100" dist="38100" dir="2700000" algn="tl">
                  <a:srgbClr val="FFFFFF"/>
                </a:outerShdw>
              </a:effectLst>
            </a:endParaRPr>
          </a:p>
        </p:txBody>
      </p:sp>
      <p:sp>
        <p:nvSpPr>
          <p:cNvPr id="86" name="Text Box 93"/>
          <p:cNvSpPr txBox="1">
            <a:spLocks noChangeArrowheads="1"/>
          </p:cNvSpPr>
          <p:nvPr/>
        </p:nvSpPr>
        <p:spPr bwMode="auto">
          <a:xfrm>
            <a:off x="3130298" y="2827567"/>
            <a:ext cx="5476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zh-CN" altLang="en-US" sz="2800" b="1" dirty="0">
                <a:solidFill>
                  <a:srgbClr val="FF0000"/>
                </a:solidFill>
                <a:effectLst>
                  <a:outerShdw blurRad="38100" dist="38100" dir="2700000" algn="tl">
                    <a:srgbClr val="FFFFFF"/>
                  </a:outerShdw>
                </a:effectLst>
              </a:rPr>
              <a:t>*</a:t>
            </a:r>
            <a:endParaRPr lang="en-US" altLang="zh-CN" sz="2800" b="1" dirty="0">
              <a:solidFill>
                <a:srgbClr val="FF0000"/>
              </a:solidFill>
              <a:effectLst>
                <a:outerShdw blurRad="38100" dist="38100" dir="2700000" algn="tl">
                  <a:srgbClr val="FFFFFF"/>
                </a:outerShdw>
              </a:effectLst>
            </a:endParaRPr>
          </a:p>
        </p:txBody>
      </p:sp>
      <p:sp>
        <p:nvSpPr>
          <p:cNvPr id="87" name="Text Box 93"/>
          <p:cNvSpPr txBox="1">
            <a:spLocks noChangeArrowheads="1"/>
          </p:cNvSpPr>
          <p:nvPr/>
        </p:nvSpPr>
        <p:spPr bwMode="auto">
          <a:xfrm>
            <a:off x="2105287" y="3197118"/>
            <a:ext cx="5476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zh-CN" altLang="en-US" sz="2800" b="1" dirty="0">
                <a:solidFill>
                  <a:srgbClr val="FF0000"/>
                </a:solidFill>
                <a:effectLst>
                  <a:outerShdw blurRad="38100" dist="38100" dir="2700000" algn="tl">
                    <a:srgbClr val="FFFFFF"/>
                  </a:outerShdw>
                </a:effectLst>
              </a:rPr>
              <a:t>*</a:t>
            </a:r>
            <a:endParaRPr lang="en-US" altLang="zh-CN" sz="2800" b="1" dirty="0">
              <a:solidFill>
                <a:srgbClr val="FF0000"/>
              </a:solidFill>
              <a:effectLst>
                <a:outerShdw blurRad="38100" dist="38100" dir="2700000" algn="tl">
                  <a:srgbClr val="FFFFFF"/>
                </a:outerShdw>
              </a:effectLst>
            </a:endParaRPr>
          </a:p>
        </p:txBody>
      </p:sp>
      <p:sp>
        <p:nvSpPr>
          <p:cNvPr id="88" name="Text Box 93"/>
          <p:cNvSpPr txBox="1">
            <a:spLocks noChangeArrowheads="1"/>
          </p:cNvSpPr>
          <p:nvPr/>
        </p:nvSpPr>
        <p:spPr bwMode="auto">
          <a:xfrm>
            <a:off x="2925033" y="3184896"/>
            <a:ext cx="54768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zh-CN" altLang="en-US" sz="2800" b="1" dirty="0">
                <a:solidFill>
                  <a:srgbClr val="FF0000"/>
                </a:solidFill>
                <a:effectLst>
                  <a:outerShdw blurRad="38100" dist="38100" dir="2700000" algn="tl">
                    <a:srgbClr val="FFFFFF"/>
                  </a:outerShdw>
                </a:effectLst>
              </a:rPr>
              <a:t>*</a:t>
            </a:r>
            <a:endParaRPr lang="en-US" altLang="zh-CN" sz="2800" b="1" dirty="0">
              <a:solidFill>
                <a:srgbClr val="FF0000"/>
              </a:solidFill>
              <a:effectLst>
                <a:outerShdw blurRad="38100" dist="38100" dir="2700000" algn="tl">
                  <a:srgbClr val="FFFFFF"/>
                </a:outerShdw>
              </a:effectLst>
            </a:endParaRPr>
          </a:p>
        </p:txBody>
      </p:sp>
      <p:sp>
        <p:nvSpPr>
          <p:cNvPr id="89" name="Text Box 93"/>
          <p:cNvSpPr txBox="1">
            <a:spLocks noChangeArrowheads="1"/>
          </p:cNvSpPr>
          <p:nvPr/>
        </p:nvSpPr>
        <p:spPr bwMode="auto">
          <a:xfrm>
            <a:off x="2078627" y="3538252"/>
            <a:ext cx="5476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zh-CN" altLang="en-US" sz="2800" b="1" dirty="0">
                <a:solidFill>
                  <a:srgbClr val="FF0000"/>
                </a:solidFill>
                <a:effectLst>
                  <a:outerShdw blurRad="38100" dist="38100" dir="2700000" algn="tl">
                    <a:srgbClr val="FFFFFF"/>
                  </a:outerShdw>
                </a:effectLst>
              </a:rPr>
              <a:t>*</a:t>
            </a:r>
            <a:endParaRPr lang="en-US" altLang="zh-CN" sz="2800" b="1" dirty="0">
              <a:solidFill>
                <a:srgbClr val="FF0000"/>
              </a:solidFill>
              <a:effectLst>
                <a:outerShdw blurRad="38100" dist="38100" dir="2700000" algn="tl">
                  <a:srgbClr val="FFFFFF"/>
                </a:outerShdw>
              </a:effectLst>
            </a:endParaRPr>
          </a:p>
        </p:txBody>
      </p:sp>
      <p:sp>
        <p:nvSpPr>
          <p:cNvPr id="90" name="Text Box 93"/>
          <p:cNvSpPr txBox="1">
            <a:spLocks noChangeArrowheads="1"/>
          </p:cNvSpPr>
          <p:nvPr/>
        </p:nvSpPr>
        <p:spPr bwMode="auto">
          <a:xfrm>
            <a:off x="2962978" y="5348590"/>
            <a:ext cx="5476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400" b="1" dirty="0">
                <a:solidFill>
                  <a:srgbClr val="FF0000"/>
                </a:solidFill>
                <a:effectLst>
                  <a:outerShdw blurRad="38100" dist="38100" dir="2700000" algn="tl">
                    <a:srgbClr val="FFFFFF"/>
                  </a:outerShdw>
                </a:effectLst>
                <a:latin typeface="Times New Roman" pitchFamily="18" charset="0"/>
                <a:cs typeface="Times New Roman" pitchFamily="18" charset="0"/>
              </a:rPr>
              <a:t>&amp;</a:t>
            </a:r>
          </a:p>
        </p:txBody>
      </p:sp>
      <p:sp>
        <p:nvSpPr>
          <p:cNvPr id="91" name="Text Box 93"/>
          <p:cNvSpPr txBox="1">
            <a:spLocks noChangeArrowheads="1"/>
          </p:cNvSpPr>
          <p:nvPr/>
        </p:nvSpPr>
        <p:spPr bwMode="auto">
          <a:xfrm>
            <a:off x="3689683" y="5353349"/>
            <a:ext cx="54768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defRPr/>
            </a:pPr>
            <a:r>
              <a:rPr lang="en-US" altLang="zh-CN" sz="2400" b="1" dirty="0">
                <a:solidFill>
                  <a:srgbClr val="FF0000"/>
                </a:solidFill>
                <a:effectLst>
                  <a:outerShdw blurRad="38100" dist="38100" dir="2700000" algn="tl">
                    <a:srgbClr val="FFFFFF"/>
                  </a:outerShdw>
                </a:effectLst>
                <a:latin typeface="Times New Roman" pitchFamily="18" charset="0"/>
                <a:cs typeface="Times New Roman" pitchFamily="18" charset="0"/>
              </a:rPr>
              <a:t>&amp;</a:t>
            </a:r>
          </a:p>
        </p:txBody>
      </p:sp>
      <p:sp>
        <p:nvSpPr>
          <p:cNvPr id="94" name="Rectangle 2">
            <a:extLst>
              <a:ext uri="{FF2B5EF4-FFF2-40B4-BE49-F238E27FC236}">
                <a16:creationId xmlns:a16="http://schemas.microsoft.com/office/drawing/2014/main" id="{AFE0B78A-6F0C-4554-BAF8-810DD0DD222F}"/>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7.4.2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地址传递</a:t>
            </a:r>
          </a:p>
        </p:txBody>
      </p:sp>
      <p:sp>
        <p:nvSpPr>
          <p:cNvPr id="95" name="圆角矩形标注 72">
            <a:extLst>
              <a:ext uri="{FF2B5EF4-FFF2-40B4-BE49-F238E27FC236}">
                <a16:creationId xmlns:a16="http://schemas.microsoft.com/office/drawing/2014/main" id="{1D806E94-A828-4091-9F32-9872C76E7758}"/>
              </a:ext>
            </a:extLst>
          </p:cNvPr>
          <p:cNvSpPr/>
          <p:nvPr/>
        </p:nvSpPr>
        <p:spPr bwMode="auto">
          <a:xfrm>
            <a:off x="469900" y="1021668"/>
            <a:ext cx="7580977" cy="5648729"/>
          </a:xfrm>
          <a:prstGeom prst="wedgeRoundRectCallout">
            <a:avLst>
              <a:gd name="adj1" fmla="val 62249"/>
              <a:gd name="adj2" fmla="val -3988"/>
              <a:gd name="adj3" fmla="val 16667"/>
            </a:avLst>
          </a:prstGeom>
          <a:solidFill>
            <a:srgbClr val="FFFF00"/>
          </a:solidFill>
          <a:ln w="50800" cap="flat" cmpd="sng" algn="ctr">
            <a:solidFill>
              <a:srgbClr val="FF0066"/>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l">
              <a:lnSpc>
                <a:spcPct val="150000"/>
              </a:lnSpc>
              <a:defRPr/>
            </a:pPr>
            <a:r>
              <a:rPr lang="zh-CN" altLang="en-US" sz="3200" b="1" dirty="0">
                <a:solidFill>
                  <a:srgbClr val="008000"/>
                </a:solidFill>
                <a:effectLst>
                  <a:outerShdw blurRad="38100" dist="38100" dir="2700000" algn="tl">
                    <a:srgbClr val="000000"/>
                  </a:outerShdw>
                </a:effectLst>
                <a:latin typeface="方正姚体" pitchFamily="2" charset="-122"/>
                <a:ea typeface="方正姚体" pitchFamily="2" charset="-122"/>
              </a:rPr>
              <a:t>传地址调用总结：</a:t>
            </a:r>
            <a:endParaRPr lang="en-US" altLang="zh-CN" sz="3200" b="1" dirty="0">
              <a:solidFill>
                <a:srgbClr val="008000"/>
              </a:solidFill>
              <a:effectLst>
                <a:outerShdw blurRad="38100" dist="38100" dir="2700000" algn="tl">
                  <a:srgbClr val="000000"/>
                </a:outerShdw>
              </a:effectLst>
              <a:latin typeface="方正姚体" pitchFamily="2" charset="-122"/>
              <a:ea typeface="方正姚体" pitchFamily="2" charset="-122"/>
            </a:endParaRPr>
          </a:p>
          <a:p>
            <a:pPr algn="l">
              <a:lnSpc>
                <a:spcPct val="150000"/>
              </a:lnSpc>
              <a:buFont typeface="Wingdings" pitchFamily="2" charset="2"/>
              <a:buChar char="Ø"/>
              <a:defRPr/>
            </a:pPr>
            <a:r>
              <a:rPr lang="zh-CN" altLang="en-US" sz="3200" b="1" dirty="0">
                <a:solidFill>
                  <a:srgbClr val="008000"/>
                </a:solidFill>
                <a:effectLst>
                  <a:outerShdw blurRad="38100" dist="38100" dir="2700000" algn="tl">
                    <a:srgbClr val="000000"/>
                  </a:outerShdw>
                </a:effectLst>
                <a:latin typeface="方正姚体" pitchFamily="2" charset="-122"/>
                <a:ea typeface="方正姚体" pitchFamily="2" charset="-122"/>
              </a:rPr>
              <a:t> 方式：</a:t>
            </a:r>
            <a:endParaRPr lang="en-US" altLang="zh-CN" sz="3200" b="1" dirty="0">
              <a:solidFill>
                <a:srgbClr val="008000"/>
              </a:solidFill>
              <a:effectLst>
                <a:outerShdw blurRad="38100" dist="38100" dir="2700000" algn="tl">
                  <a:srgbClr val="000000"/>
                </a:outerShdw>
              </a:effectLst>
              <a:latin typeface="方正姚体" pitchFamily="2" charset="-122"/>
              <a:ea typeface="方正姚体" pitchFamily="2" charset="-122"/>
            </a:endParaRPr>
          </a:p>
          <a:p>
            <a:pPr algn="l">
              <a:lnSpc>
                <a:spcPct val="150000"/>
              </a:lnSpc>
              <a:defRPr/>
            </a:pPr>
            <a:r>
              <a:rPr lang="zh-CN" altLang="en-US" sz="3200" b="1" dirty="0">
                <a:effectLst>
                  <a:outerShdw blurRad="38100" dist="38100" dir="2700000" algn="tl">
                    <a:srgbClr val="FFFFFF"/>
                  </a:outerShdw>
                </a:effectLst>
                <a:latin typeface="方正姚体" pitchFamily="2" charset="-122"/>
                <a:ea typeface="方正姚体" pitchFamily="2" charset="-122"/>
              </a:rPr>
              <a:t>   将实参的</a:t>
            </a:r>
            <a:r>
              <a:rPr lang="zh-CN" altLang="en-US" sz="3200" b="1" dirty="0">
                <a:solidFill>
                  <a:srgbClr val="FF3300"/>
                </a:solidFill>
                <a:effectLst>
                  <a:outerShdw blurRad="38100" dist="38100" dir="2700000" algn="tl">
                    <a:srgbClr val="000000"/>
                  </a:outerShdw>
                </a:effectLst>
                <a:latin typeface="方正姚体" pitchFamily="2" charset="-122"/>
                <a:ea typeface="方正姚体" pitchFamily="2" charset="-122"/>
              </a:rPr>
              <a:t>存储地址</a:t>
            </a:r>
            <a:r>
              <a:rPr lang="zh-CN" altLang="en-US" sz="3200" b="1" dirty="0">
                <a:effectLst>
                  <a:outerShdw blurRad="38100" dist="38100" dir="2700000" algn="tl">
                    <a:srgbClr val="FFFFFF"/>
                  </a:outerShdw>
                </a:effectLst>
                <a:latin typeface="方正姚体" pitchFamily="2" charset="-122"/>
                <a:ea typeface="方正姚体" pitchFamily="2" charset="-122"/>
              </a:rPr>
              <a:t>作为参数传递给形参。</a:t>
            </a:r>
          </a:p>
          <a:p>
            <a:pPr marL="457200" indent="-457200">
              <a:lnSpc>
                <a:spcPct val="150000"/>
              </a:lnSpc>
              <a:buFont typeface="Wingdings" pitchFamily="2" charset="2"/>
              <a:buChar char="Ø"/>
              <a:defRPr/>
            </a:pPr>
            <a:r>
              <a:rPr lang="zh-CN" altLang="en-US" sz="3200" b="1" dirty="0">
                <a:solidFill>
                  <a:srgbClr val="008000"/>
                </a:solidFill>
                <a:effectLst>
                  <a:outerShdw blurRad="38100" dist="38100" dir="2700000" algn="tl">
                    <a:srgbClr val="000000"/>
                  </a:outerShdw>
                </a:effectLst>
                <a:latin typeface="方正姚体" pitchFamily="2" charset="-122"/>
                <a:ea typeface="方正姚体" pitchFamily="2" charset="-122"/>
              </a:rPr>
              <a:t>特点：</a:t>
            </a:r>
            <a:endParaRPr lang="en-US" altLang="zh-CN" sz="3200" b="1" dirty="0">
              <a:solidFill>
                <a:srgbClr val="008000"/>
              </a:solidFill>
              <a:effectLst>
                <a:outerShdw blurRad="38100" dist="38100" dir="2700000" algn="tl">
                  <a:srgbClr val="000000"/>
                </a:outerShdw>
              </a:effectLst>
              <a:latin typeface="方正姚体" pitchFamily="2" charset="-122"/>
              <a:ea typeface="方正姚体" pitchFamily="2" charset="-122"/>
            </a:endParaRPr>
          </a:p>
          <a:p>
            <a:pPr algn="l">
              <a:lnSpc>
                <a:spcPct val="150000"/>
              </a:lnSpc>
              <a:defRPr/>
            </a:pPr>
            <a:r>
              <a:rPr lang="en-US" altLang="zh-CN" sz="3200" b="1" dirty="0">
                <a:solidFill>
                  <a:srgbClr val="008000"/>
                </a:solidFill>
                <a:effectLst>
                  <a:outerShdw blurRad="38100" dist="38100" dir="2700000" algn="tl">
                    <a:srgbClr val="000000"/>
                  </a:outerShdw>
                </a:effectLst>
                <a:latin typeface="方正姚体" pitchFamily="2" charset="-122"/>
                <a:ea typeface="方正姚体" pitchFamily="2" charset="-122"/>
              </a:rPr>
              <a:t>   </a:t>
            </a:r>
            <a:r>
              <a:rPr lang="zh-CN" altLang="en-US" sz="3200" b="1" dirty="0">
                <a:effectLst>
                  <a:outerShdw blurRad="38100" dist="38100" dir="2700000" algn="tl">
                    <a:srgbClr val="FFFFFF"/>
                  </a:outerShdw>
                </a:effectLst>
                <a:latin typeface="方正姚体" pitchFamily="2" charset="-122"/>
                <a:ea typeface="方正姚体" pitchFamily="2" charset="-122"/>
              </a:rPr>
              <a:t>① 形参与实参占用</a:t>
            </a:r>
            <a:r>
              <a:rPr lang="zh-CN" altLang="en-US" sz="3200" b="1" dirty="0">
                <a:solidFill>
                  <a:srgbClr val="FF3300"/>
                </a:solidFill>
                <a:effectLst>
                  <a:outerShdw blurRad="38100" dist="38100" dir="2700000" algn="tl">
                    <a:srgbClr val="000000"/>
                  </a:outerShdw>
                </a:effectLst>
                <a:latin typeface="方正姚体" pitchFamily="2" charset="-122"/>
                <a:ea typeface="方正姚体" pitchFamily="2" charset="-122"/>
              </a:rPr>
              <a:t>同样</a:t>
            </a:r>
            <a:r>
              <a:rPr lang="zh-CN" altLang="en-US" sz="3200" b="1" dirty="0">
                <a:effectLst>
                  <a:outerShdw blurRad="38100" dist="38100" dir="2700000" algn="tl">
                    <a:srgbClr val="FFFFFF"/>
                  </a:outerShdw>
                </a:effectLst>
                <a:latin typeface="方正姚体" pitchFamily="2" charset="-122"/>
                <a:ea typeface="方正姚体" pitchFamily="2" charset="-122"/>
              </a:rPr>
              <a:t>的存储单元</a:t>
            </a:r>
            <a:endParaRPr lang="en-US" altLang="zh-CN" sz="3200" b="1" dirty="0">
              <a:effectLst>
                <a:outerShdw blurRad="38100" dist="38100" dir="2700000" algn="tl">
                  <a:srgbClr val="FFFFFF"/>
                </a:outerShdw>
              </a:effectLst>
              <a:latin typeface="方正姚体" pitchFamily="2" charset="-122"/>
              <a:ea typeface="方正姚体" pitchFamily="2" charset="-122"/>
            </a:endParaRPr>
          </a:p>
          <a:p>
            <a:pPr algn="l">
              <a:lnSpc>
                <a:spcPct val="150000"/>
              </a:lnSpc>
              <a:defRPr/>
            </a:pPr>
            <a:r>
              <a:rPr lang="en-US" altLang="zh-CN" sz="3200" b="1" dirty="0">
                <a:effectLst>
                  <a:outerShdw blurRad="38100" dist="38100" dir="2700000" algn="tl">
                    <a:srgbClr val="FFFFFF"/>
                  </a:outerShdw>
                </a:effectLst>
                <a:latin typeface="方正姚体" pitchFamily="2" charset="-122"/>
                <a:ea typeface="方正姚体" pitchFamily="2" charset="-122"/>
              </a:rPr>
              <a:t>   </a:t>
            </a:r>
            <a:r>
              <a:rPr lang="zh-CN" altLang="en-US" sz="3200" b="1" dirty="0">
                <a:effectLst>
                  <a:outerShdw blurRad="38100" dist="38100" dir="2700000" algn="tl">
                    <a:srgbClr val="FFFFFF"/>
                  </a:outerShdw>
                </a:effectLst>
                <a:latin typeface="方正姚体" pitchFamily="2" charset="-122"/>
                <a:ea typeface="方正姚体" pitchFamily="2" charset="-122"/>
              </a:rPr>
              <a:t>② </a:t>
            </a:r>
            <a:r>
              <a:rPr lang="zh-CN" altLang="en-US" sz="3200" b="1" dirty="0">
                <a:solidFill>
                  <a:srgbClr val="FF3300"/>
                </a:solidFill>
                <a:effectLst>
                  <a:outerShdw blurRad="38100" dist="38100" dir="2700000" algn="tl">
                    <a:srgbClr val="000000"/>
                  </a:outerShdw>
                </a:effectLst>
                <a:latin typeface="方正姚体" pitchFamily="2" charset="-122"/>
                <a:ea typeface="方正姚体" pitchFamily="2" charset="-122"/>
              </a:rPr>
              <a:t>双向</a:t>
            </a:r>
            <a:r>
              <a:rPr lang="zh-CN" altLang="en-US" sz="3200" b="1" dirty="0">
                <a:effectLst>
                  <a:outerShdw blurRad="38100" dist="38100" dir="2700000" algn="tl">
                    <a:srgbClr val="FFFFFF"/>
                  </a:outerShdw>
                </a:effectLst>
                <a:latin typeface="方正姚体" pitchFamily="2" charset="-122"/>
                <a:ea typeface="方正姚体" pitchFamily="2" charset="-122"/>
              </a:rPr>
              <a:t>传递</a:t>
            </a:r>
            <a:endParaRPr lang="en-US" altLang="zh-CN" sz="3200" b="1" dirty="0">
              <a:effectLst>
                <a:outerShdw blurRad="38100" dist="38100" dir="2700000" algn="tl">
                  <a:srgbClr val="FFFFFF"/>
                </a:outerShdw>
              </a:effectLst>
              <a:latin typeface="方正姚体" pitchFamily="2" charset="-122"/>
              <a:ea typeface="方正姚体" pitchFamily="2" charset="-122"/>
            </a:endParaRPr>
          </a:p>
          <a:p>
            <a:pPr algn="l">
              <a:lnSpc>
                <a:spcPct val="150000"/>
              </a:lnSpc>
              <a:defRPr/>
            </a:pPr>
            <a:r>
              <a:rPr lang="en-US" altLang="zh-CN" sz="3200" b="1" dirty="0">
                <a:effectLst>
                  <a:outerShdw blurRad="38100" dist="38100" dir="2700000" algn="tl">
                    <a:srgbClr val="FFFFFF"/>
                  </a:outerShdw>
                </a:effectLst>
                <a:latin typeface="方正姚体" pitchFamily="2" charset="-122"/>
                <a:ea typeface="方正姚体" pitchFamily="2" charset="-122"/>
              </a:rPr>
              <a:t>  </a:t>
            </a:r>
            <a:r>
              <a:rPr lang="zh-CN" altLang="en-US" sz="3200" b="1" dirty="0">
                <a:effectLst>
                  <a:outerShdw blurRad="38100" dist="38100" dir="2700000" algn="tl">
                    <a:srgbClr val="FFFFFF"/>
                  </a:outerShdw>
                </a:effectLst>
                <a:latin typeface="方正姚体" pitchFamily="2" charset="-122"/>
                <a:ea typeface="方正姚体" pitchFamily="2" charset="-122"/>
              </a:rPr>
              <a:t> ③ 实参和形参必须是</a:t>
            </a:r>
            <a:r>
              <a:rPr lang="zh-CN" altLang="en-US" sz="3200" b="1" dirty="0">
                <a:solidFill>
                  <a:srgbClr val="FF3300"/>
                </a:solidFill>
                <a:effectLst>
                  <a:outerShdw blurRad="38100" dist="38100" dir="2700000" algn="tl">
                    <a:srgbClr val="000000"/>
                  </a:outerShdw>
                </a:effectLst>
                <a:latin typeface="方正姚体" pitchFamily="2" charset="-122"/>
                <a:ea typeface="方正姚体" pitchFamily="2" charset="-122"/>
              </a:rPr>
              <a:t>地址</a:t>
            </a:r>
            <a:r>
              <a:rPr lang="zh-CN" altLang="en-US" sz="3200" b="1" dirty="0">
                <a:effectLst>
                  <a:outerShdw blurRad="38100" dist="38100" dir="2700000" algn="tl">
                    <a:srgbClr val="FFFFFF"/>
                  </a:outerShdw>
                </a:effectLst>
                <a:latin typeface="方正姚体" pitchFamily="2" charset="-122"/>
                <a:ea typeface="方正姚体" pitchFamily="2" charset="-122"/>
              </a:rPr>
              <a:t>常量或变量</a:t>
            </a:r>
          </a:p>
        </p:txBody>
      </p:sp>
    </p:spTree>
    <p:extLst>
      <p:ext uri="{BB962C8B-B14F-4D97-AF65-F5344CB8AC3E}">
        <p14:creationId xmlns:p14="http://schemas.microsoft.com/office/powerpoint/2010/main" val="3795882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out)">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strips(downLeft)">
                                      <p:cBhvr>
                                        <p:cTn id="17" dur="500"/>
                                        <p:tgtEl>
                                          <p:spTgt spid="31"/>
                                        </p:tgtEl>
                                      </p:cBhvr>
                                    </p:animEffect>
                                  </p:childTnLst>
                                </p:cTn>
                              </p:par>
                            </p:childTnLst>
                          </p:cTn>
                        </p:par>
                        <p:par>
                          <p:cTn id="18" fill="hold" nodeType="afterGroup">
                            <p:stCondLst>
                              <p:cond delay="500"/>
                            </p:stCondLst>
                            <p:childTnLst>
                              <p:par>
                                <p:cTn id="19" presetID="18" presetClass="entr" presetSubtype="12" fill="hold" grpId="0" nodeType="after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strips(downLeft)">
                                      <p:cBhvr>
                                        <p:cTn id="21" dur="500"/>
                                        <p:tgtEl>
                                          <p:spTgt spid="32"/>
                                        </p:tgtEl>
                                      </p:cBhvr>
                                    </p:animEffect>
                                  </p:childTnLst>
                                </p:cTn>
                              </p:par>
                            </p:childTnLst>
                          </p:cTn>
                        </p:par>
                        <p:par>
                          <p:cTn id="22" fill="hold" nodeType="afterGroup">
                            <p:stCondLst>
                              <p:cond delay="1000"/>
                            </p:stCondLst>
                            <p:childTnLst>
                              <p:par>
                                <p:cTn id="23" presetID="4" presetClass="entr" presetSubtype="16" fill="hold"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box(in)">
                                      <p:cBhvr>
                                        <p:cTn id="25" dur="500"/>
                                        <p:tgtEl>
                                          <p:spTgt spid="25"/>
                                        </p:tgtEl>
                                      </p:cBhvr>
                                    </p:animEffect>
                                  </p:childTnLst>
                                </p:cTn>
                              </p:par>
                            </p:childTnLst>
                          </p:cTn>
                        </p:par>
                        <p:par>
                          <p:cTn id="26" fill="hold" nodeType="afterGroup">
                            <p:stCondLst>
                              <p:cond delay="1500"/>
                            </p:stCondLst>
                            <p:childTnLst>
                              <p:par>
                                <p:cTn id="27" presetID="4" presetClass="entr" presetSubtype="16" fill="hold" nodeType="after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box(in)">
                                      <p:cBhvr>
                                        <p:cTn id="29" dur="500"/>
                                        <p:tgtEl>
                                          <p:spTgt spid="2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xit" presetSubtype="4" fill="hold" nodeType="clickEffect">
                                  <p:stCondLst>
                                    <p:cond delay="0"/>
                                  </p:stCondLst>
                                  <p:childTnLst>
                                    <p:animEffect transition="out" filter="wipe(down)">
                                      <p:cBhvr>
                                        <p:cTn id="33" dur="500"/>
                                        <p:tgtEl>
                                          <p:spTgt spid="25"/>
                                        </p:tgtEl>
                                      </p:cBhvr>
                                    </p:animEffect>
                                    <p:set>
                                      <p:cBhvr>
                                        <p:cTn id="34" dur="1" fill="hold">
                                          <p:stCondLst>
                                            <p:cond delay="499"/>
                                          </p:stCondLst>
                                        </p:cTn>
                                        <p:tgtEl>
                                          <p:spTgt spid="25"/>
                                        </p:tgtEl>
                                        <p:attrNameLst>
                                          <p:attrName>style.visibility</p:attrName>
                                        </p:attrNameLst>
                                      </p:cBhvr>
                                      <p:to>
                                        <p:strVal val="hidden"/>
                                      </p:to>
                                    </p:set>
                                  </p:childTnLst>
                                </p:cTn>
                              </p:par>
                            </p:childTnLst>
                          </p:cTn>
                        </p:par>
                        <p:par>
                          <p:cTn id="35" fill="hold" nodeType="afterGroup">
                            <p:stCondLst>
                              <p:cond delay="500"/>
                            </p:stCondLst>
                            <p:childTnLst>
                              <p:par>
                                <p:cTn id="36" presetID="22" presetClass="exit" presetSubtype="4" fill="hold" nodeType="afterEffect">
                                  <p:stCondLst>
                                    <p:cond delay="0"/>
                                  </p:stCondLst>
                                  <p:childTnLst>
                                    <p:animEffect transition="out" filter="wipe(down)">
                                      <p:cBhvr>
                                        <p:cTn id="37" dur="500"/>
                                        <p:tgtEl>
                                          <p:spTgt spid="28"/>
                                        </p:tgtEl>
                                      </p:cBhvr>
                                    </p:animEffect>
                                    <p:set>
                                      <p:cBhvr>
                                        <p:cTn id="38" dur="1" fill="hold">
                                          <p:stCondLst>
                                            <p:cond delay="499"/>
                                          </p:stCondLst>
                                        </p:cTn>
                                        <p:tgtEl>
                                          <p:spTgt spid="28"/>
                                        </p:tgtEl>
                                        <p:attrNameLst>
                                          <p:attrName>style.visibility</p:attrName>
                                        </p:attrNameLst>
                                      </p:cBhvr>
                                      <p:to>
                                        <p:strVal val="hidden"/>
                                      </p:to>
                                    </p:set>
                                  </p:childTnLst>
                                </p:cTn>
                              </p:par>
                            </p:childTnLst>
                          </p:cTn>
                        </p:par>
                        <p:par>
                          <p:cTn id="39" fill="hold" nodeType="afterGroup">
                            <p:stCondLst>
                              <p:cond delay="1000"/>
                            </p:stCondLst>
                            <p:childTnLst>
                              <p:par>
                                <p:cTn id="40" presetID="22" presetClass="exit" presetSubtype="4" fill="hold" grpId="1" nodeType="afterEffect">
                                  <p:stCondLst>
                                    <p:cond delay="0"/>
                                  </p:stCondLst>
                                  <p:childTnLst>
                                    <p:animEffect transition="out" filter="wipe(down)">
                                      <p:cBhvr>
                                        <p:cTn id="41" dur="500"/>
                                        <p:tgtEl>
                                          <p:spTgt spid="31"/>
                                        </p:tgtEl>
                                      </p:cBhvr>
                                    </p:animEffect>
                                    <p:set>
                                      <p:cBhvr>
                                        <p:cTn id="42" dur="1" fill="hold">
                                          <p:stCondLst>
                                            <p:cond delay="499"/>
                                          </p:stCondLst>
                                        </p:cTn>
                                        <p:tgtEl>
                                          <p:spTgt spid="31"/>
                                        </p:tgtEl>
                                        <p:attrNameLst>
                                          <p:attrName>style.visibility</p:attrName>
                                        </p:attrNameLst>
                                      </p:cBhvr>
                                      <p:to>
                                        <p:strVal val="hidden"/>
                                      </p:to>
                                    </p:set>
                                  </p:childTnLst>
                                </p:cTn>
                              </p:par>
                            </p:childTnLst>
                          </p:cTn>
                        </p:par>
                        <p:par>
                          <p:cTn id="43" fill="hold" nodeType="afterGroup">
                            <p:stCondLst>
                              <p:cond delay="1500"/>
                            </p:stCondLst>
                            <p:childTnLst>
                              <p:par>
                                <p:cTn id="44" presetID="22" presetClass="exit" presetSubtype="4" fill="hold" grpId="1" nodeType="afterEffect">
                                  <p:stCondLst>
                                    <p:cond delay="0"/>
                                  </p:stCondLst>
                                  <p:childTnLst>
                                    <p:animEffect transition="out" filter="wipe(down)">
                                      <p:cBhvr>
                                        <p:cTn id="45" dur="500"/>
                                        <p:tgtEl>
                                          <p:spTgt spid="32"/>
                                        </p:tgtEl>
                                      </p:cBhvr>
                                    </p:animEffect>
                                    <p:set>
                                      <p:cBhvr>
                                        <p:cTn id="46" dur="1" fill="hold">
                                          <p:stCondLst>
                                            <p:cond delay="499"/>
                                          </p:stCondLst>
                                        </p:cTn>
                                        <p:tgtEl>
                                          <p:spTgt spid="32"/>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3" fill="hold" grpId="0" nodeType="click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strips(upRight)">
                                      <p:cBhvr>
                                        <p:cTn id="55" dur="500"/>
                                        <p:tgtEl>
                                          <p:spTgt spid="7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80"/>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8" presetClass="entr" presetSubtype="3" fill="hold" grpId="0" nodeType="clickEffect">
                                  <p:stCondLst>
                                    <p:cond delay="0"/>
                                  </p:stCondLst>
                                  <p:childTnLst>
                                    <p:set>
                                      <p:cBhvr>
                                        <p:cTn id="63" dur="1" fill="hold">
                                          <p:stCondLst>
                                            <p:cond delay="0"/>
                                          </p:stCondLst>
                                        </p:cTn>
                                        <p:tgtEl>
                                          <p:spTgt spid="81"/>
                                        </p:tgtEl>
                                        <p:attrNameLst>
                                          <p:attrName>style.visibility</p:attrName>
                                        </p:attrNameLst>
                                      </p:cBhvr>
                                      <p:to>
                                        <p:strVal val="visible"/>
                                      </p:to>
                                    </p:set>
                                    <p:animEffect transition="in" filter="strips(upRight)">
                                      <p:cBhvr>
                                        <p:cTn id="64" dur="500"/>
                                        <p:tgtEl>
                                          <p:spTgt spid="8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4" presetClass="entr" presetSubtype="32" fill="hold" nodeType="click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box(out)">
                                      <p:cBhvr>
                                        <p:cTn id="69" dur="500"/>
                                        <p:tgtEl>
                                          <p:spTgt spid="3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8" presetClass="entr" presetSubtype="3" fill="hold" grpId="0" nodeType="clickEffect">
                                  <p:stCondLst>
                                    <p:cond delay="0"/>
                                  </p:stCondLst>
                                  <p:childTnLst>
                                    <p:set>
                                      <p:cBhvr>
                                        <p:cTn id="73" dur="1" fill="hold">
                                          <p:stCondLst>
                                            <p:cond delay="0"/>
                                          </p:stCondLst>
                                        </p:cTn>
                                        <p:tgtEl>
                                          <p:spTgt spid="82"/>
                                        </p:tgtEl>
                                        <p:attrNameLst>
                                          <p:attrName>style.visibility</p:attrName>
                                        </p:attrNameLst>
                                      </p:cBhvr>
                                      <p:to>
                                        <p:strVal val="visible"/>
                                      </p:to>
                                    </p:set>
                                    <p:animEffect transition="in" filter="strips(upRight)">
                                      <p:cBhvr>
                                        <p:cTn id="74" dur="500"/>
                                        <p:tgtEl>
                                          <p:spTgt spid="82"/>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8" presetClass="entr" presetSubtype="3" fill="hold" grpId="0" nodeType="clickEffect">
                                  <p:stCondLst>
                                    <p:cond delay="0"/>
                                  </p:stCondLst>
                                  <p:childTnLst>
                                    <p:set>
                                      <p:cBhvr>
                                        <p:cTn id="78" dur="1" fill="hold">
                                          <p:stCondLst>
                                            <p:cond delay="0"/>
                                          </p:stCondLst>
                                        </p:cTn>
                                        <p:tgtEl>
                                          <p:spTgt spid="83"/>
                                        </p:tgtEl>
                                        <p:attrNameLst>
                                          <p:attrName>style.visibility</p:attrName>
                                        </p:attrNameLst>
                                      </p:cBhvr>
                                      <p:to>
                                        <p:strVal val="visible"/>
                                      </p:to>
                                    </p:set>
                                    <p:animEffect transition="in" filter="strips(upRight)">
                                      <p:cBhvr>
                                        <p:cTn id="79" dur="500"/>
                                        <p:tgtEl>
                                          <p:spTgt spid="83"/>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8" presetClass="entr" presetSubtype="6" fill="hold" grpId="0" nodeType="clickEffect">
                                  <p:stCondLst>
                                    <p:cond delay="0"/>
                                  </p:stCondLst>
                                  <p:childTnLst>
                                    <p:set>
                                      <p:cBhvr>
                                        <p:cTn id="83" dur="1" fill="hold">
                                          <p:stCondLst>
                                            <p:cond delay="0"/>
                                          </p:stCondLst>
                                        </p:cTn>
                                        <p:tgtEl>
                                          <p:spTgt spid="52"/>
                                        </p:tgtEl>
                                        <p:attrNameLst>
                                          <p:attrName>style.visibility</p:attrName>
                                        </p:attrNameLst>
                                      </p:cBhvr>
                                      <p:to>
                                        <p:strVal val="visible"/>
                                      </p:to>
                                    </p:set>
                                    <p:animEffect transition="in" filter="strips(downRight)">
                                      <p:cBhvr>
                                        <p:cTn id="84" dur="500"/>
                                        <p:tgtEl>
                                          <p:spTgt spid="52"/>
                                        </p:tgtEl>
                                      </p:cBhvr>
                                    </p:animEffect>
                                  </p:childTnLst>
                                </p:cTn>
                              </p:par>
                            </p:childTnLst>
                          </p:cTn>
                        </p:par>
                        <p:par>
                          <p:cTn id="85" fill="hold" nodeType="afterGroup">
                            <p:stCondLst>
                              <p:cond delay="500"/>
                            </p:stCondLst>
                            <p:childTnLst>
                              <p:par>
                                <p:cTn id="86" presetID="4" presetClass="entr" presetSubtype="32" fill="hold" grpId="0" nodeType="afterEffect">
                                  <p:stCondLst>
                                    <p:cond delay="0"/>
                                  </p:stCondLst>
                                  <p:childTnLst>
                                    <p:set>
                                      <p:cBhvr>
                                        <p:cTn id="87" dur="1" fill="hold">
                                          <p:stCondLst>
                                            <p:cond delay="0"/>
                                          </p:stCondLst>
                                        </p:cTn>
                                        <p:tgtEl>
                                          <p:spTgt spid="51"/>
                                        </p:tgtEl>
                                        <p:attrNameLst>
                                          <p:attrName>style.visibility</p:attrName>
                                        </p:attrNameLst>
                                      </p:cBhvr>
                                      <p:to>
                                        <p:strVal val="visible"/>
                                      </p:to>
                                    </p:set>
                                    <p:animEffect transition="in" filter="box(out)">
                                      <p:cBhvr>
                                        <p:cTn id="88" dur="500"/>
                                        <p:tgtEl>
                                          <p:spTgt spid="51"/>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8" presetClass="entr" presetSubtype="12" fill="hold" grpId="0" nodeType="click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strips(downLeft)">
                                      <p:cBhvr>
                                        <p:cTn id="93" dur="500"/>
                                        <p:tgtEl>
                                          <p:spTgt spid="53"/>
                                        </p:tgtEl>
                                      </p:cBhvr>
                                    </p:animEffect>
                                  </p:childTnLst>
                                </p:cTn>
                              </p:par>
                            </p:childTnLst>
                          </p:cTn>
                        </p:par>
                        <p:par>
                          <p:cTn id="94" fill="hold" nodeType="afterGroup">
                            <p:stCondLst>
                              <p:cond delay="500"/>
                            </p:stCondLst>
                            <p:childTnLst>
                              <p:par>
                                <p:cTn id="95" presetID="4" presetClass="entr" presetSubtype="32" fill="hold" grpId="0" nodeType="afterEffect">
                                  <p:stCondLst>
                                    <p:cond delay="0"/>
                                  </p:stCondLst>
                                  <p:childTnLst>
                                    <p:set>
                                      <p:cBhvr>
                                        <p:cTn id="96" dur="1" fill="hold">
                                          <p:stCondLst>
                                            <p:cond delay="0"/>
                                          </p:stCondLst>
                                        </p:cTn>
                                        <p:tgtEl>
                                          <p:spTgt spid="54"/>
                                        </p:tgtEl>
                                        <p:attrNameLst>
                                          <p:attrName>style.visibility</p:attrName>
                                        </p:attrNameLst>
                                      </p:cBhvr>
                                      <p:to>
                                        <p:strVal val="visible"/>
                                      </p:to>
                                    </p:set>
                                    <p:animEffect transition="in" filter="box(out)">
                                      <p:cBhvr>
                                        <p:cTn id="97" dur="500"/>
                                        <p:tgtEl>
                                          <p:spTgt spid="5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8" presetClass="entr" presetSubtype="3" fill="hold" grpId="0" nodeType="click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strips(upRight)">
                                      <p:cBhvr>
                                        <p:cTn id="102" dur="500"/>
                                        <p:tgtEl>
                                          <p:spTgt spid="55"/>
                                        </p:tgtEl>
                                      </p:cBhvr>
                                    </p:animEffect>
                                  </p:childTnLst>
                                </p:cTn>
                              </p:par>
                            </p:childTnLst>
                          </p:cTn>
                        </p:par>
                        <p:par>
                          <p:cTn id="103" fill="hold" nodeType="afterGroup">
                            <p:stCondLst>
                              <p:cond delay="500"/>
                            </p:stCondLst>
                            <p:childTnLst>
                              <p:par>
                                <p:cTn id="104" presetID="4" presetClass="entr" presetSubtype="32" fill="hold" grpId="0" nodeType="after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box(out)">
                                      <p:cBhvr>
                                        <p:cTn id="106" dur="500"/>
                                        <p:tgtEl>
                                          <p:spTgt spid="56"/>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4" presetClass="entr" presetSubtype="32" fill="hold" nodeType="clickEffect">
                                  <p:stCondLst>
                                    <p:cond delay="0"/>
                                  </p:stCondLst>
                                  <p:childTnLst>
                                    <p:set>
                                      <p:cBhvr>
                                        <p:cTn id="110" dur="1" fill="hold">
                                          <p:stCondLst>
                                            <p:cond delay="0"/>
                                          </p:stCondLst>
                                        </p:cTn>
                                        <p:tgtEl>
                                          <p:spTgt spid="57"/>
                                        </p:tgtEl>
                                        <p:attrNameLst>
                                          <p:attrName>style.visibility</p:attrName>
                                        </p:attrNameLst>
                                      </p:cBhvr>
                                      <p:to>
                                        <p:strVal val="visible"/>
                                      </p:to>
                                    </p:set>
                                    <p:animEffect transition="in" filter="box(out)">
                                      <p:cBhvr>
                                        <p:cTn id="111" dur="500"/>
                                        <p:tgtEl>
                                          <p:spTgt spid="57"/>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2"/>
                                        </p:tgtEl>
                                        <p:attrNameLst>
                                          <p:attrName>style.visibility</p:attrName>
                                        </p:attrNameLst>
                                      </p:cBhvr>
                                      <p:to>
                                        <p:strVal val="visible"/>
                                      </p:to>
                                    </p:se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3"/>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84"/>
                                        </p:tgtEl>
                                        <p:attrNameLst>
                                          <p:attrName>style.visibility</p:attrName>
                                        </p:attrNameLst>
                                      </p:cBhvr>
                                      <p:to>
                                        <p:strVal val="visible"/>
                                      </p:to>
                                    </p:se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85"/>
                                        </p:tgtEl>
                                        <p:attrNameLst>
                                          <p:attrName>style.visibility</p:attrName>
                                        </p:attrNameLst>
                                      </p:cBhvr>
                                      <p:to>
                                        <p:strVal val="visible"/>
                                      </p:to>
                                    </p:se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90"/>
                                        </p:tgtEl>
                                        <p:attrNameLst>
                                          <p:attrName>style.visibility</p:attrName>
                                        </p:attrNameLst>
                                      </p:cBhvr>
                                      <p:to>
                                        <p:strVal val="visible"/>
                                      </p:to>
                                    </p:se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91"/>
                                        </p:tgtEl>
                                        <p:attrNameLst>
                                          <p:attrName>style.visibility</p:attrName>
                                        </p:attrNameLst>
                                      </p:cBhvr>
                                      <p:to>
                                        <p:strVal val="visible"/>
                                      </p:to>
                                    </p:se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86"/>
                                        </p:tgtEl>
                                        <p:attrNameLst>
                                          <p:attrName>style.visibility</p:attrName>
                                        </p:attrNameLst>
                                      </p:cBhvr>
                                      <p:to>
                                        <p:strVal val="visible"/>
                                      </p:to>
                                    </p:se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87"/>
                                        </p:tgtEl>
                                        <p:attrNameLst>
                                          <p:attrName>style.visibility</p:attrName>
                                        </p:attrNameLst>
                                      </p:cBhvr>
                                      <p:to>
                                        <p:strVal val="visible"/>
                                      </p:to>
                                    </p:se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88"/>
                                        </p:tgtEl>
                                        <p:attrNameLst>
                                          <p:attrName>style.visibility</p:attrName>
                                        </p:attrNameLst>
                                      </p:cBhvr>
                                      <p:to>
                                        <p:strVal val="visible"/>
                                      </p:to>
                                    </p:se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89"/>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95"/>
                                        </p:tgtEl>
                                        <p:attrNameLst>
                                          <p:attrName>style.visibility</p:attrName>
                                        </p:attrNameLst>
                                      </p:cBhvr>
                                      <p:to>
                                        <p:strVal val="visible"/>
                                      </p:to>
                                    </p:set>
                                  </p:childTnLst>
                                  <p:subTnLst>
                                    <p:audio>
                                      <p:cMediaNode>
                                        <p:cTn display="0" masterRel="sameClick">
                                          <p:stCondLst>
                                            <p:cond evt="begin" delay="0">
                                              <p:tn val="15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31" grpId="0" animBg="1"/>
      <p:bldP spid="31" grpId="1" animBg="1"/>
      <p:bldP spid="32" grpId="0" animBg="1"/>
      <p:bldP spid="32" grpId="1" animBg="1"/>
      <p:bldP spid="51" grpId="0" animBg="1"/>
      <p:bldP spid="52" grpId="0" animBg="1"/>
      <p:bldP spid="53" grpId="0" animBg="1"/>
      <p:bldP spid="54" grpId="0" animBg="1"/>
      <p:bldP spid="55" grpId="0" animBg="1"/>
      <p:bldP spid="56" grpId="0" animBg="1"/>
      <p:bldP spid="78" grpId="0"/>
      <p:bldP spid="79" grpId="0" animBg="1"/>
      <p:bldP spid="80" grpId="0"/>
      <p:bldP spid="81" grpId="0" animBg="1"/>
      <p:bldP spid="82" grpId="0" animBg="1"/>
      <p:bldP spid="83" grpId="0" animBg="1"/>
      <p:bldP spid="84" grpId="0"/>
      <p:bldP spid="85" grpId="0"/>
      <p:bldP spid="86" grpId="0"/>
      <p:bldP spid="87" grpId="0"/>
      <p:bldP spid="88" grpId="0"/>
      <p:bldP spid="89" grpId="0"/>
      <p:bldP spid="90" grpId="0"/>
      <p:bldP spid="91" grpId="0"/>
      <p:bldP spid="9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04788" y="1125538"/>
            <a:ext cx="9440418" cy="4031873"/>
          </a:xfrm>
          <a:prstGeom prst="rect">
            <a:avLst/>
          </a:prstGeom>
        </p:spPr>
        <p:txBody>
          <a:bodyPr wrap="square">
            <a:spAutoFit/>
          </a:bodyPr>
          <a:lstStyle/>
          <a:p>
            <a:pPr algn="l">
              <a:lnSpc>
                <a:spcPct val="200000"/>
              </a:lnSpc>
              <a:defRPr/>
            </a:pPr>
            <a:r>
              <a:rPr lang="en-US" altLang="zh-CN" sz="3200" b="1" dirty="0">
                <a:solidFill>
                  <a:srgbClr val="333399">
                    <a:lumMod val="50000"/>
                  </a:srgbClr>
                </a:solidFill>
                <a:latin typeface="+mn-ea"/>
                <a:cs typeface="Times New Roman" pitchFamily="18" charset="0"/>
              </a:rPr>
              <a:t>        1</a:t>
            </a:r>
            <a:r>
              <a:rPr lang="zh-CN" altLang="en-US" sz="3200" b="1" dirty="0">
                <a:solidFill>
                  <a:srgbClr val="333399">
                    <a:lumMod val="50000"/>
                  </a:srgbClr>
                </a:solidFill>
                <a:latin typeface="+mn-ea"/>
                <a:cs typeface="Times New Roman" pitchFamily="18" charset="0"/>
              </a:rPr>
              <a:t>、如果函数返回的值超过一个，函数参数调用应该使用传值还是传地址？</a:t>
            </a:r>
            <a:endParaRPr lang="en-US" altLang="zh-CN" sz="3200" b="1" dirty="0">
              <a:solidFill>
                <a:srgbClr val="333399">
                  <a:lumMod val="50000"/>
                </a:srgbClr>
              </a:solidFill>
              <a:latin typeface="+mn-ea"/>
              <a:cs typeface="Times New Roman" pitchFamily="18" charset="0"/>
            </a:endParaRPr>
          </a:p>
          <a:p>
            <a:pPr algn="l">
              <a:lnSpc>
                <a:spcPct val="200000"/>
              </a:lnSpc>
              <a:defRPr/>
            </a:pPr>
            <a:r>
              <a:rPr lang="en-US" altLang="zh-CN" sz="3200" b="1" dirty="0">
                <a:solidFill>
                  <a:srgbClr val="333399">
                    <a:lumMod val="50000"/>
                  </a:srgbClr>
                </a:solidFill>
                <a:latin typeface="+mn-ea"/>
                <a:cs typeface="Times New Roman" pitchFamily="18" charset="0"/>
              </a:rPr>
              <a:t>        2</a:t>
            </a:r>
            <a:r>
              <a:rPr lang="zh-CN" altLang="en-US" sz="3200" b="1" dirty="0">
                <a:solidFill>
                  <a:srgbClr val="333399">
                    <a:lumMod val="50000"/>
                  </a:srgbClr>
                </a:solidFill>
                <a:latin typeface="+mn-ea"/>
                <a:cs typeface="Times New Roman" pitchFamily="18" charset="0"/>
              </a:rPr>
              <a:t>、除了用指针变量来作为函数的形参，还可以使用数组名作为函数参数来实现参数的地址传递。</a:t>
            </a:r>
          </a:p>
        </p:txBody>
      </p:sp>
      <p:grpSp>
        <p:nvGrpSpPr>
          <p:cNvPr id="5" name="组合 4">
            <a:extLst>
              <a:ext uri="{FF2B5EF4-FFF2-40B4-BE49-F238E27FC236}">
                <a16:creationId xmlns:a16="http://schemas.microsoft.com/office/drawing/2014/main" id="{1F106881-7C17-45E0-9BEF-6F91DCAD24E0}"/>
              </a:ext>
            </a:extLst>
          </p:cNvPr>
          <p:cNvGrpSpPr/>
          <p:nvPr/>
        </p:nvGrpSpPr>
        <p:grpSpPr>
          <a:xfrm>
            <a:off x="0" y="114299"/>
            <a:ext cx="12192000" cy="932769"/>
            <a:chOff x="0" y="114299"/>
            <a:chExt cx="12192000" cy="932769"/>
          </a:xfrm>
        </p:grpSpPr>
        <p:sp>
          <p:nvSpPr>
            <p:cNvPr id="6" name="矩形 5">
              <a:extLst>
                <a:ext uri="{FF2B5EF4-FFF2-40B4-BE49-F238E27FC236}">
                  <a16:creationId xmlns:a16="http://schemas.microsoft.com/office/drawing/2014/main" id="{E0603C98-187B-45D1-95C9-574800DF2512}"/>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1B58F618-B8AF-42E2-AB7A-1A71E17D8756}"/>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67CB832-3AB1-4DFB-A8E0-6917112C9212}"/>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98560A5-B2A6-4E92-92EC-57BF747BBF3A}"/>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6FA4CAE0-A8D1-473E-8CB7-E052B99F82C0}"/>
                </a:ext>
              </a:extLst>
            </p:cNvPr>
            <p:cNvPicPr>
              <a:picLocks noChangeAspect="1"/>
            </p:cNvPicPr>
            <p:nvPr/>
          </p:nvPicPr>
          <p:blipFill>
            <a:blip r:embed="rId2"/>
            <a:stretch>
              <a:fillRect/>
            </a:stretch>
          </p:blipFill>
          <p:spPr>
            <a:xfrm>
              <a:off x="4056711" y="114299"/>
              <a:ext cx="4078577" cy="932769"/>
            </a:xfrm>
            <a:prstGeom prst="rect">
              <a:avLst/>
            </a:prstGeom>
          </p:spPr>
        </p:pic>
      </p:grpSp>
      <p:sp>
        <p:nvSpPr>
          <p:cNvPr id="11" name="Rectangle 2">
            <a:extLst>
              <a:ext uri="{FF2B5EF4-FFF2-40B4-BE49-F238E27FC236}">
                <a16:creationId xmlns:a16="http://schemas.microsoft.com/office/drawing/2014/main" id="{C355D3BE-5CEC-4470-A3DD-6E264F152FA8}"/>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思   考</a:t>
            </a:r>
          </a:p>
        </p:txBody>
      </p:sp>
    </p:spTree>
    <p:extLst>
      <p:ext uri="{BB962C8B-B14F-4D97-AF65-F5344CB8AC3E}">
        <p14:creationId xmlns:p14="http://schemas.microsoft.com/office/powerpoint/2010/main" val="39155819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6777" name="Rectangle 9"/>
          <p:cNvSpPr>
            <a:spLocks noChangeArrowheads="1"/>
          </p:cNvSpPr>
          <p:nvPr/>
        </p:nvSpPr>
        <p:spPr bwMode="auto">
          <a:xfrm>
            <a:off x="707174" y="1001728"/>
            <a:ext cx="10818517" cy="5355312"/>
          </a:xfrm>
          <a:prstGeom prst="rect">
            <a:avLst/>
          </a:prstGeom>
          <a:noFill/>
          <a:ln w="3810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tabLst>
                <a:tab pos="457200" algn="l"/>
              </a:tabLst>
              <a:defRPr/>
            </a:pPr>
            <a:r>
              <a:rPr lang="zh-CN" altLang="en-US" sz="3600" b="1" dirty="0">
                <a:solidFill>
                  <a:srgbClr val="CC0000"/>
                </a:solidFill>
                <a:effectLst>
                  <a:outerShdw blurRad="38100" dist="38100" dir="2700000" algn="tl">
                    <a:srgbClr val="000000">
                      <a:alpha val="43137"/>
                    </a:srgbClr>
                  </a:outerShdw>
                </a:effectLst>
                <a:latin typeface="方正姚体" pitchFamily="2" charset="-122"/>
                <a:ea typeface="方正姚体" pitchFamily="2" charset="-122"/>
              </a:rPr>
              <a:t>拓展学习：</a:t>
            </a:r>
            <a:endParaRPr lang="en-US" altLang="zh-CN" sz="3600" b="1" dirty="0">
              <a:solidFill>
                <a:srgbClr val="CC0000"/>
              </a:solidFill>
              <a:effectLst>
                <a:outerShdw blurRad="38100" dist="38100" dir="2700000" algn="tl">
                  <a:srgbClr val="000000">
                    <a:alpha val="43137"/>
                  </a:srgbClr>
                </a:outerShdw>
              </a:effectLst>
              <a:latin typeface="方正姚体" pitchFamily="2" charset="-122"/>
              <a:ea typeface="方正姚体" pitchFamily="2" charset="-122"/>
            </a:endParaRPr>
          </a:p>
          <a:p>
            <a:pPr indent="266700">
              <a:lnSpc>
                <a:spcPct val="150000"/>
              </a:lnSpc>
              <a:tabLst>
                <a:tab pos="457200" algn="l"/>
              </a:tabLst>
              <a:defRPr/>
            </a:pPr>
            <a:r>
              <a:rPr lang="zh-CN" altLang="en-US" sz="3200" b="1" u="sng" dirty="0">
                <a:solidFill>
                  <a:srgbClr val="CC0000"/>
                </a:solidFill>
                <a:effectLst>
                  <a:outerShdw blurRad="38100" dist="38100" dir="2700000" algn="tl">
                    <a:srgbClr val="000000"/>
                  </a:outerShdw>
                </a:effectLst>
                <a:latin typeface="方正姚体" pitchFamily="2" charset="-122"/>
                <a:ea typeface="方正姚体" pitchFamily="2" charset="-122"/>
              </a:rPr>
              <a:t>用数组名作为函数参数时还应注意以下几点</a:t>
            </a:r>
            <a:endParaRPr lang="zh-CN" altLang="en-US" sz="3200" b="1" dirty="0">
              <a:solidFill>
                <a:srgbClr val="CC0000"/>
              </a:solidFill>
              <a:effectLst>
                <a:outerShdw blurRad="38100" dist="38100" dir="2700000" algn="tl">
                  <a:srgbClr val="000000"/>
                </a:outerShdw>
              </a:effectLst>
              <a:latin typeface="方正姚体" pitchFamily="2" charset="-122"/>
              <a:ea typeface="方正姚体" pitchFamily="2" charset="-122"/>
            </a:endParaRPr>
          </a:p>
          <a:p>
            <a:pPr indent="266700">
              <a:lnSpc>
                <a:spcPct val="150000"/>
              </a:lnSpc>
              <a:buClr>
                <a:srgbClr val="FF0000"/>
              </a:buClr>
              <a:buFont typeface="Wingdings" pitchFamily="2" charset="2"/>
              <a:buChar char="ü"/>
              <a:tabLst>
                <a:tab pos="457200" algn="l"/>
              </a:tabLst>
              <a:defRPr/>
            </a:pPr>
            <a:r>
              <a:rPr lang="zh-CN" altLang="en-US" sz="3200" b="1" dirty="0">
                <a:effectLst>
                  <a:outerShdw blurRad="38100" dist="38100" dir="2700000" algn="tl">
                    <a:srgbClr val="FFFFFF"/>
                  </a:outerShdw>
                </a:effectLst>
                <a:latin typeface="方正姚体" pitchFamily="2" charset="-122"/>
                <a:ea typeface="方正姚体" pitchFamily="2" charset="-122"/>
              </a:rPr>
              <a:t> 形参数组和实参数组的类型必须一致，否则将引起错误。</a:t>
            </a:r>
          </a:p>
          <a:p>
            <a:pPr indent="266700">
              <a:lnSpc>
                <a:spcPct val="150000"/>
              </a:lnSpc>
              <a:buClr>
                <a:srgbClr val="FF0000"/>
              </a:buClr>
              <a:buFont typeface="Wingdings" pitchFamily="2" charset="2"/>
              <a:buChar char="ü"/>
              <a:tabLst>
                <a:tab pos="457200" algn="l"/>
              </a:tabLst>
              <a:defRPr/>
            </a:pPr>
            <a:r>
              <a:rPr lang="zh-CN" altLang="en-US" sz="3200" b="1" dirty="0">
                <a:effectLst>
                  <a:outerShdw blurRad="38100" dist="38100" dir="2700000" algn="tl">
                    <a:srgbClr val="FFFFFF"/>
                  </a:outerShdw>
                </a:effectLst>
                <a:latin typeface="方正姚体" pitchFamily="2" charset="-122"/>
                <a:ea typeface="方正姚体" pitchFamily="2" charset="-122"/>
              </a:rPr>
              <a:t> 形参数组和实参数组的长度可以不相同，因为在调用时，只传送首地址而不检查形参数组的长度。</a:t>
            </a:r>
          </a:p>
          <a:p>
            <a:pPr indent="266700">
              <a:lnSpc>
                <a:spcPct val="150000"/>
              </a:lnSpc>
              <a:buClr>
                <a:srgbClr val="FF0000"/>
              </a:buClr>
              <a:buFont typeface="Wingdings" pitchFamily="2" charset="2"/>
              <a:buChar char="ü"/>
              <a:tabLst>
                <a:tab pos="457200" algn="l"/>
              </a:tabLst>
              <a:defRPr/>
            </a:pPr>
            <a:r>
              <a:rPr lang="zh-CN" altLang="en-US" sz="3200" b="1" dirty="0">
                <a:effectLst>
                  <a:outerShdw blurRad="38100" dist="38100" dir="2700000" algn="tl">
                    <a:srgbClr val="FFFFFF"/>
                  </a:outerShdw>
                </a:effectLst>
                <a:latin typeface="方正姚体" pitchFamily="2" charset="-122"/>
                <a:ea typeface="方正姚体" pitchFamily="2" charset="-122"/>
              </a:rPr>
              <a:t> 多维数组也可以作为函数的参数。在函数定义时对形参数组可以指定每一维的长度，也可省去第一维的长度。    </a:t>
            </a:r>
          </a:p>
        </p:txBody>
      </p:sp>
      <p:grpSp>
        <p:nvGrpSpPr>
          <p:cNvPr id="4" name="组合 3">
            <a:extLst>
              <a:ext uri="{FF2B5EF4-FFF2-40B4-BE49-F238E27FC236}">
                <a16:creationId xmlns:a16="http://schemas.microsoft.com/office/drawing/2014/main" id="{07023444-0106-4A15-8FD8-D27EFE844707}"/>
              </a:ext>
            </a:extLst>
          </p:cNvPr>
          <p:cNvGrpSpPr/>
          <p:nvPr/>
        </p:nvGrpSpPr>
        <p:grpSpPr>
          <a:xfrm>
            <a:off x="0" y="114299"/>
            <a:ext cx="12192000" cy="932769"/>
            <a:chOff x="0" y="114299"/>
            <a:chExt cx="12192000" cy="932769"/>
          </a:xfrm>
        </p:grpSpPr>
        <p:sp>
          <p:nvSpPr>
            <p:cNvPr id="5" name="矩形 4">
              <a:extLst>
                <a:ext uri="{FF2B5EF4-FFF2-40B4-BE49-F238E27FC236}">
                  <a16:creationId xmlns:a16="http://schemas.microsoft.com/office/drawing/2014/main" id="{D8A57F36-E84C-4970-BBE9-63FBB4AFF7DA}"/>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1F69C76A-28C4-4953-ADDE-129EDE2BE604}"/>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5AC1AE49-BB02-4445-BCFD-A42D24A06E1E}"/>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F0EC68E9-0755-4239-8B89-136085383776}"/>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3B628FA3-4833-4379-B014-00D2D50CF503}"/>
                </a:ext>
              </a:extLst>
            </p:cNvPr>
            <p:cNvPicPr>
              <a:picLocks noChangeAspect="1"/>
            </p:cNvPicPr>
            <p:nvPr/>
          </p:nvPicPr>
          <p:blipFill>
            <a:blip r:embed="rId4"/>
            <a:stretch>
              <a:fillRect/>
            </a:stretch>
          </p:blipFill>
          <p:spPr>
            <a:xfrm>
              <a:off x="3727099" y="114299"/>
              <a:ext cx="5055391" cy="932769"/>
            </a:xfrm>
            <a:prstGeom prst="rect">
              <a:avLst/>
            </a:prstGeom>
          </p:spPr>
        </p:pic>
      </p:grpSp>
      <p:sp>
        <p:nvSpPr>
          <p:cNvPr id="10" name="Rectangle 2">
            <a:extLst>
              <a:ext uri="{FF2B5EF4-FFF2-40B4-BE49-F238E27FC236}">
                <a16:creationId xmlns:a16="http://schemas.microsoft.com/office/drawing/2014/main" id="{C8315D74-D4BD-489E-B99E-FAD4C293A137}"/>
              </a:ext>
            </a:extLst>
          </p:cNvPr>
          <p:cNvSpPr txBox="1">
            <a:spLocks noChangeArrowheads="1"/>
          </p:cNvSpPr>
          <p:nvPr/>
        </p:nvSpPr>
        <p:spPr>
          <a:xfrm>
            <a:off x="3896926" y="269280"/>
            <a:ext cx="4619756"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solidFill>
                  <a:schemeClr val="accent1">
                    <a:lumMod val="50000"/>
                  </a:schemeClr>
                </a:solidFill>
                <a:latin typeface="Times New Roman" panose="02020603050405020304" pitchFamily="18" charset="0"/>
                <a:ea typeface="+mn-ea"/>
                <a:cs typeface="Times New Roman" panose="02020603050405020304" pitchFamily="18" charset="0"/>
              </a:rPr>
              <a:t>7.4.3 </a:t>
            </a:r>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数组作为函数参数</a:t>
            </a:r>
          </a:p>
        </p:txBody>
      </p:sp>
    </p:spTree>
    <p:extLst>
      <p:ext uri="{BB962C8B-B14F-4D97-AF65-F5344CB8AC3E}">
        <p14:creationId xmlns:p14="http://schemas.microsoft.com/office/powerpoint/2010/main" val="4284737910"/>
      </p:ext>
    </p:extLst>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6777"/>
                                        </p:tgtEl>
                                        <p:attrNameLst>
                                          <p:attrName>style.visibility</p:attrName>
                                        </p:attrNameLst>
                                      </p:cBhvr>
                                      <p:to>
                                        <p:strVal val="visible"/>
                                      </p:to>
                                    </p:set>
                                    <p:animEffect transition="in" filter="box(out)">
                                      <p:cBhvr>
                                        <p:cTn id="7" dur="500"/>
                                        <p:tgtEl>
                                          <p:spTgt spid="105677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1"/>
          <p:cNvSpPr txBox="1">
            <a:spLocks noChangeArrowheads="1"/>
          </p:cNvSpPr>
          <p:nvPr/>
        </p:nvSpPr>
        <p:spPr bwMode="auto">
          <a:xfrm>
            <a:off x="1073075" y="932309"/>
            <a:ext cx="1002731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200000"/>
              </a:lnSpc>
              <a:defRPr/>
            </a:pPr>
            <a:r>
              <a:rPr lang="zh-CN" altLang="en-US" sz="3600" b="1" dirty="0">
                <a:solidFill>
                  <a:srgbClr val="CC0000"/>
                </a:solidFill>
                <a:latin typeface="方正姚体" pitchFamily="2" charset="-122"/>
                <a:ea typeface="方正姚体" pitchFamily="2" charset="-122"/>
              </a:rPr>
              <a:t>        问题的描述：</a:t>
            </a:r>
            <a:r>
              <a:rPr lang="zh-CN" altLang="zh-CN" sz="3600" b="1" dirty="0">
                <a:solidFill>
                  <a:srgbClr val="CC0000"/>
                </a:solidFill>
                <a:latin typeface="方正姚体" pitchFamily="2" charset="-122"/>
                <a:ea typeface="方正姚体" pitchFamily="2" charset="-122"/>
              </a:rPr>
              <a:t>将任意两个字符串连接成一个字符串</a:t>
            </a:r>
            <a:r>
              <a:rPr lang="zh-CN" altLang="en-US" sz="3600" b="1" dirty="0">
                <a:solidFill>
                  <a:srgbClr val="CC0000"/>
                </a:solidFill>
                <a:latin typeface="方正姚体" pitchFamily="2" charset="-122"/>
                <a:ea typeface="方正姚体" pitchFamily="2" charset="-122"/>
              </a:rPr>
              <a:t>，放入新的数组并输出。</a:t>
            </a:r>
            <a:r>
              <a:rPr lang="zh-CN" altLang="zh-CN" sz="3600" dirty="0">
                <a:latin typeface="方正姚体" pitchFamily="2" charset="-122"/>
                <a:ea typeface="方正姚体" pitchFamily="2" charset="-122"/>
              </a:rPr>
              <a:t> </a:t>
            </a:r>
            <a:r>
              <a:rPr lang="en-US" altLang="zh-CN" sz="3600" b="1" dirty="0">
                <a:solidFill>
                  <a:srgbClr val="002060"/>
                </a:solidFill>
                <a:latin typeface="方正姚体" pitchFamily="2" charset="-122"/>
                <a:ea typeface="方正姚体" pitchFamily="2" charset="-122"/>
              </a:rPr>
              <a:t>(</a:t>
            </a:r>
            <a:r>
              <a:rPr lang="zh-CN" altLang="zh-CN" sz="3600" b="1" dirty="0">
                <a:solidFill>
                  <a:srgbClr val="002060"/>
                </a:solidFill>
                <a:latin typeface="方正姚体" pitchFamily="2" charset="-122"/>
                <a:ea typeface="方正姚体" pitchFamily="2" charset="-122"/>
              </a:rPr>
              <a:t>数组名作为函数参数实现</a:t>
            </a:r>
            <a:r>
              <a:rPr lang="zh-CN" altLang="en-US" sz="3600" b="1" dirty="0">
                <a:solidFill>
                  <a:srgbClr val="002060"/>
                </a:solidFill>
                <a:latin typeface="方正姚体" pitchFamily="2" charset="-122"/>
                <a:ea typeface="方正姚体" pitchFamily="2" charset="-122"/>
              </a:rPr>
              <a:t>地址传递方式</a:t>
            </a:r>
            <a:r>
              <a:rPr lang="en-US" altLang="zh-CN" sz="3600" b="1" dirty="0">
                <a:solidFill>
                  <a:srgbClr val="002060"/>
                </a:solidFill>
                <a:latin typeface="方正姚体" pitchFamily="2" charset="-122"/>
                <a:ea typeface="方正姚体" pitchFamily="2" charset="-122"/>
              </a:rPr>
              <a:t>)</a:t>
            </a:r>
            <a:r>
              <a:rPr lang="zh-CN" altLang="en-US" sz="3600" b="1" dirty="0">
                <a:solidFill>
                  <a:srgbClr val="002060"/>
                </a:solidFill>
                <a:latin typeface="方正姚体" pitchFamily="2" charset="-122"/>
                <a:ea typeface="方正姚体" pitchFamily="2" charset="-122"/>
              </a:rPr>
              <a:t>。</a:t>
            </a:r>
            <a:endParaRPr lang="en-US" altLang="zh-CN" sz="3600" b="1" dirty="0">
              <a:solidFill>
                <a:srgbClr val="002060"/>
              </a:solidFill>
              <a:latin typeface="方正姚体" pitchFamily="2" charset="-122"/>
              <a:ea typeface="方正姚体" pitchFamily="2" charset="-122"/>
            </a:endParaRPr>
          </a:p>
          <a:p>
            <a:pPr algn="l">
              <a:lnSpc>
                <a:spcPct val="200000"/>
              </a:lnSpc>
              <a:defRPr/>
            </a:pPr>
            <a:r>
              <a:rPr lang="zh-CN" altLang="en-US" sz="3600" b="1" dirty="0">
                <a:solidFill>
                  <a:schemeClr val="accent2">
                    <a:lumMod val="50000"/>
                  </a:schemeClr>
                </a:solidFill>
                <a:latin typeface="方正姚体" pitchFamily="2" charset="-122"/>
                <a:ea typeface="方正姚体" pitchFamily="2" charset="-122"/>
              </a:rPr>
              <a:t>        </a:t>
            </a:r>
            <a:r>
              <a:rPr lang="zh-CN" altLang="en-US" sz="3600" b="1" dirty="0">
                <a:solidFill>
                  <a:schemeClr val="accent2">
                    <a:lumMod val="50000"/>
                  </a:schemeClr>
                </a:solidFill>
                <a:latin typeface="方正姚体" pitchFamily="2" charset="-122"/>
                <a:ea typeface="方正姚体" pitchFamily="2" charset="-122"/>
                <a:hlinkClick r:id="" action="ppaction://noaction"/>
              </a:rPr>
              <a:t>动态演示：</a:t>
            </a:r>
            <a:endParaRPr lang="en-US" altLang="zh-CN" sz="3600" b="1" dirty="0">
              <a:solidFill>
                <a:schemeClr val="accent2">
                  <a:lumMod val="50000"/>
                </a:schemeClr>
              </a:solidFill>
              <a:latin typeface="方正姚体" pitchFamily="2" charset="-122"/>
              <a:ea typeface="方正姚体" pitchFamily="2" charset="-122"/>
            </a:endParaRPr>
          </a:p>
          <a:p>
            <a:pPr algn="l">
              <a:lnSpc>
                <a:spcPct val="200000"/>
              </a:lnSpc>
              <a:defRPr/>
            </a:pPr>
            <a:r>
              <a:rPr lang="zh-CN" altLang="en-US" sz="3600" b="1" dirty="0">
                <a:solidFill>
                  <a:schemeClr val="accent2">
                    <a:lumMod val="50000"/>
                  </a:schemeClr>
                </a:solidFill>
                <a:latin typeface="方正姚体" pitchFamily="2" charset="-122"/>
                <a:ea typeface="方正姚体" pitchFamily="2" charset="-122"/>
              </a:rPr>
              <a:t>        </a:t>
            </a:r>
            <a:r>
              <a:rPr lang="zh-CN" altLang="en-US" sz="3600" b="1" dirty="0">
                <a:solidFill>
                  <a:schemeClr val="accent2">
                    <a:lumMod val="50000"/>
                  </a:schemeClr>
                </a:solidFill>
                <a:latin typeface="方正姚体" pitchFamily="2" charset="-122"/>
                <a:ea typeface="方正姚体" pitchFamily="2" charset="-122"/>
                <a:hlinkClick r:id="rId2" action="ppaction://hlinksldjump"/>
              </a:rPr>
              <a:t>编写程序：</a:t>
            </a:r>
            <a:endParaRPr lang="en-US" altLang="zh-CN" sz="3600" b="1" dirty="0">
              <a:solidFill>
                <a:schemeClr val="accent2">
                  <a:lumMod val="50000"/>
                </a:schemeClr>
              </a:solidFill>
              <a:latin typeface="方正姚体" pitchFamily="2" charset="-122"/>
              <a:ea typeface="方正姚体" pitchFamily="2" charset="-122"/>
            </a:endParaRPr>
          </a:p>
        </p:txBody>
      </p:sp>
      <p:grpSp>
        <p:nvGrpSpPr>
          <p:cNvPr id="4" name="组合 3">
            <a:extLst>
              <a:ext uri="{FF2B5EF4-FFF2-40B4-BE49-F238E27FC236}">
                <a16:creationId xmlns:a16="http://schemas.microsoft.com/office/drawing/2014/main" id="{95743CAC-F114-4B23-AA6B-BA00099BBF90}"/>
              </a:ext>
            </a:extLst>
          </p:cNvPr>
          <p:cNvGrpSpPr/>
          <p:nvPr/>
        </p:nvGrpSpPr>
        <p:grpSpPr>
          <a:xfrm>
            <a:off x="0" y="114299"/>
            <a:ext cx="12192000" cy="932769"/>
            <a:chOff x="0" y="114299"/>
            <a:chExt cx="12192000" cy="932769"/>
          </a:xfrm>
        </p:grpSpPr>
        <p:sp>
          <p:nvSpPr>
            <p:cNvPr id="5" name="矩形 4">
              <a:extLst>
                <a:ext uri="{FF2B5EF4-FFF2-40B4-BE49-F238E27FC236}">
                  <a16:creationId xmlns:a16="http://schemas.microsoft.com/office/drawing/2014/main" id="{5F77B03E-626F-4DD4-9D26-26E2AB1E7A3F}"/>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D040D0D8-DAEF-4101-99CC-710B9900E0A1}"/>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D9FB9A0E-6EDD-40B6-9F5B-657FB09D1A14}"/>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29D8B7D-15D4-421B-8416-675EA0583A99}"/>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CEE217F1-3475-463B-9CC6-74D124489B02}"/>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10" name="Rectangle 2">
            <a:extLst>
              <a:ext uri="{FF2B5EF4-FFF2-40B4-BE49-F238E27FC236}">
                <a16:creationId xmlns:a16="http://schemas.microsoft.com/office/drawing/2014/main" id="{CCF95582-E0F2-445E-A03A-754EE3B642EA}"/>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案   例</a:t>
            </a:r>
          </a:p>
        </p:txBody>
      </p:sp>
    </p:spTree>
    <p:extLst>
      <p:ext uri="{BB962C8B-B14F-4D97-AF65-F5344CB8AC3E}">
        <p14:creationId xmlns:p14="http://schemas.microsoft.com/office/powerpoint/2010/main" val="47811457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101"/>
          <p:cNvGrpSpPr>
            <a:grpSpLocks/>
          </p:cNvGrpSpPr>
          <p:nvPr/>
        </p:nvGrpSpPr>
        <p:grpSpPr bwMode="auto">
          <a:xfrm>
            <a:off x="2284413" y="2055813"/>
            <a:ext cx="1219200" cy="639762"/>
            <a:chOff x="840" y="800"/>
            <a:chExt cx="371" cy="403"/>
          </a:xfrm>
        </p:grpSpPr>
        <p:sp>
          <p:nvSpPr>
            <p:cNvPr id="19581" name="Line 93"/>
            <p:cNvSpPr>
              <a:spLocks noChangeShapeType="1"/>
            </p:cNvSpPr>
            <p:nvPr/>
          </p:nvSpPr>
          <p:spPr bwMode="auto">
            <a:xfrm>
              <a:off x="984" y="999"/>
              <a:ext cx="0" cy="204"/>
            </a:xfrm>
            <a:prstGeom prst="line">
              <a:avLst/>
            </a:prstGeom>
            <a:noFill/>
            <a:ln w="28575">
              <a:solidFill>
                <a:srgbClr val="0000FF"/>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59934" name="Text Box 94"/>
            <p:cNvSpPr txBox="1">
              <a:spLocks noChangeArrowheads="1"/>
            </p:cNvSpPr>
            <p:nvPr/>
          </p:nvSpPr>
          <p:spPr bwMode="auto">
            <a:xfrm>
              <a:off x="840" y="800"/>
              <a:ext cx="37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b="1" dirty="0">
                  <a:solidFill>
                    <a:srgbClr val="002060"/>
                  </a:solidFill>
                  <a:effectLst>
                    <a:outerShdw blurRad="38100" dist="38100" dir="2700000" algn="tl">
                      <a:srgbClr val="000000"/>
                    </a:outerShdw>
                  </a:effectLst>
                </a:rPr>
                <a:t>str1</a:t>
              </a:r>
            </a:p>
          </p:txBody>
        </p:sp>
      </p:grpSp>
      <p:grpSp>
        <p:nvGrpSpPr>
          <p:cNvPr id="19459" name="Group 102"/>
          <p:cNvGrpSpPr>
            <a:grpSpLocks/>
          </p:cNvGrpSpPr>
          <p:nvPr/>
        </p:nvGrpSpPr>
        <p:grpSpPr bwMode="auto">
          <a:xfrm>
            <a:off x="6635751" y="2055813"/>
            <a:ext cx="1006475" cy="639762"/>
            <a:chOff x="3097" y="800"/>
            <a:chExt cx="371" cy="403"/>
          </a:xfrm>
        </p:grpSpPr>
        <p:sp>
          <p:nvSpPr>
            <p:cNvPr id="19579" name="Line 95"/>
            <p:cNvSpPr>
              <a:spLocks noChangeShapeType="1"/>
            </p:cNvSpPr>
            <p:nvPr/>
          </p:nvSpPr>
          <p:spPr bwMode="auto">
            <a:xfrm>
              <a:off x="3270" y="999"/>
              <a:ext cx="0" cy="204"/>
            </a:xfrm>
            <a:prstGeom prst="line">
              <a:avLst/>
            </a:prstGeom>
            <a:noFill/>
            <a:ln w="28575">
              <a:solidFill>
                <a:srgbClr val="0000FF"/>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59936" name="Text Box 96"/>
            <p:cNvSpPr txBox="1">
              <a:spLocks noChangeArrowheads="1"/>
            </p:cNvSpPr>
            <p:nvPr/>
          </p:nvSpPr>
          <p:spPr bwMode="auto">
            <a:xfrm>
              <a:off x="3097" y="800"/>
              <a:ext cx="37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spcBef>
                  <a:spcPct val="50000"/>
                </a:spcBef>
                <a:defRPr b="1">
                  <a:solidFill>
                    <a:srgbClr val="002060"/>
                  </a:solidFill>
                  <a:effectLst>
                    <a:outerShdw blurRad="38100" dist="38100" dir="2700000" algn="tl">
                      <a:srgbClr val="000000"/>
                    </a:outerShdw>
                  </a:effectLst>
                </a:defRPr>
              </a:lvl1pPr>
            </a:lstStyle>
            <a:p>
              <a:r>
                <a:rPr lang="en-US" altLang="zh-CN" dirty="0"/>
                <a:t>str2</a:t>
              </a:r>
            </a:p>
          </p:txBody>
        </p:sp>
      </p:grpSp>
      <p:grpSp>
        <p:nvGrpSpPr>
          <p:cNvPr id="19460" name="Group 106"/>
          <p:cNvGrpSpPr>
            <a:grpSpLocks/>
          </p:cNvGrpSpPr>
          <p:nvPr/>
        </p:nvGrpSpPr>
        <p:grpSpPr bwMode="auto">
          <a:xfrm>
            <a:off x="2208213" y="4848225"/>
            <a:ext cx="1054100" cy="596900"/>
            <a:chOff x="748" y="2415"/>
            <a:chExt cx="371" cy="376"/>
          </a:xfrm>
        </p:grpSpPr>
        <p:sp>
          <p:nvSpPr>
            <p:cNvPr id="19577" name="Line 104"/>
            <p:cNvSpPr>
              <a:spLocks noChangeShapeType="1"/>
            </p:cNvSpPr>
            <p:nvPr/>
          </p:nvSpPr>
          <p:spPr bwMode="auto">
            <a:xfrm rot="10800000">
              <a:off x="930" y="2415"/>
              <a:ext cx="0" cy="204"/>
            </a:xfrm>
            <a:prstGeom prst="line">
              <a:avLst/>
            </a:prstGeom>
            <a:noFill/>
            <a:ln w="28575">
              <a:solidFill>
                <a:srgbClr val="0000FF"/>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9945" name="Text Box 105"/>
            <p:cNvSpPr txBox="1">
              <a:spLocks noChangeArrowheads="1"/>
            </p:cNvSpPr>
            <p:nvPr/>
          </p:nvSpPr>
          <p:spPr bwMode="auto">
            <a:xfrm>
              <a:off x="748" y="2560"/>
              <a:ext cx="37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b="1" dirty="0">
                  <a:solidFill>
                    <a:srgbClr val="002060"/>
                  </a:solidFill>
                  <a:effectLst>
                    <a:outerShdw blurRad="38100" dist="38100" dir="2700000" algn="tl">
                      <a:srgbClr val="000000"/>
                    </a:outerShdw>
                  </a:effectLst>
                </a:rPr>
                <a:t>str3</a:t>
              </a:r>
            </a:p>
          </p:txBody>
        </p:sp>
      </p:grpSp>
      <p:graphicFrame>
        <p:nvGraphicFramePr>
          <p:cNvPr id="1060046" name="Group 206"/>
          <p:cNvGraphicFramePr>
            <a:graphicFrameLocks noGrp="1"/>
          </p:cNvGraphicFramePr>
          <p:nvPr>
            <p:extLst>
              <p:ext uri="{D42A27DB-BD31-4B8C-83A1-F6EECF244321}">
                <p14:modId xmlns:p14="http://schemas.microsoft.com/office/powerpoint/2010/main" val="512973545"/>
              </p:ext>
            </p:extLst>
          </p:nvPr>
        </p:nvGraphicFramePr>
        <p:xfrm>
          <a:off x="2455863" y="4333875"/>
          <a:ext cx="7931150" cy="495300"/>
        </p:xfrm>
        <a:graphic>
          <a:graphicData uri="http://schemas.openxmlformats.org/drawingml/2006/table">
            <a:tbl>
              <a:tblPr/>
              <a:tblGrid>
                <a:gridCol w="536575">
                  <a:extLst>
                    <a:ext uri="{9D8B030D-6E8A-4147-A177-3AD203B41FA5}">
                      <a16:colId xmlns:a16="http://schemas.microsoft.com/office/drawing/2014/main" val="20000"/>
                    </a:ext>
                  </a:extLst>
                </a:gridCol>
                <a:gridCol w="541337">
                  <a:extLst>
                    <a:ext uri="{9D8B030D-6E8A-4147-A177-3AD203B41FA5}">
                      <a16:colId xmlns:a16="http://schemas.microsoft.com/office/drawing/2014/main" val="20001"/>
                    </a:ext>
                  </a:extLst>
                </a:gridCol>
                <a:gridCol w="536575">
                  <a:extLst>
                    <a:ext uri="{9D8B030D-6E8A-4147-A177-3AD203B41FA5}">
                      <a16:colId xmlns:a16="http://schemas.microsoft.com/office/drawing/2014/main" val="20002"/>
                    </a:ext>
                  </a:extLst>
                </a:gridCol>
                <a:gridCol w="538163">
                  <a:extLst>
                    <a:ext uri="{9D8B030D-6E8A-4147-A177-3AD203B41FA5}">
                      <a16:colId xmlns:a16="http://schemas.microsoft.com/office/drawing/2014/main" val="20003"/>
                    </a:ext>
                  </a:extLst>
                </a:gridCol>
                <a:gridCol w="539750">
                  <a:extLst>
                    <a:ext uri="{9D8B030D-6E8A-4147-A177-3AD203B41FA5}">
                      <a16:colId xmlns:a16="http://schemas.microsoft.com/office/drawing/2014/main" val="20004"/>
                    </a:ext>
                  </a:extLst>
                </a:gridCol>
                <a:gridCol w="538162">
                  <a:extLst>
                    <a:ext uri="{9D8B030D-6E8A-4147-A177-3AD203B41FA5}">
                      <a16:colId xmlns:a16="http://schemas.microsoft.com/office/drawing/2014/main" val="20005"/>
                    </a:ext>
                  </a:extLst>
                </a:gridCol>
                <a:gridCol w="536575">
                  <a:extLst>
                    <a:ext uri="{9D8B030D-6E8A-4147-A177-3AD203B41FA5}">
                      <a16:colId xmlns:a16="http://schemas.microsoft.com/office/drawing/2014/main" val="20006"/>
                    </a:ext>
                  </a:extLst>
                </a:gridCol>
                <a:gridCol w="541338">
                  <a:extLst>
                    <a:ext uri="{9D8B030D-6E8A-4147-A177-3AD203B41FA5}">
                      <a16:colId xmlns:a16="http://schemas.microsoft.com/office/drawing/2014/main" val="20007"/>
                    </a:ext>
                  </a:extLst>
                </a:gridCol>
                <a:gridCol w="536575">
                  <a:extLst>
                    <a:ext uri="{9D8B030D-6E8A-4147-A177-3AD203B41FA5}">
                      <a16:colId xmlns:a16="http://schemas.microsoft.com/office/drawing/2014/main" val="20008"/>
                    </a:ext>
                  </a:extLst>
                </a:gridCol>
                <a:gridCol w="538162">
                  <a:extLst>
                    <a:ext uri="{9D8B030D-6E8A-4147-A177-3AD203B41FA5}">
                      <a16:colId xmlns:a16="http://schemas.microsoft.com/office/drawing/2014/main" val="20009"/>
                    </a:ext>
                  </a:extLst>
                </a:gridCol>
                <a:gridCol w="539750">
                  <a:extLst>
                    <a:ext uri="{9D8B030D-6E8A-4147-A177-3AD203B41FA5}">
                      <a16:colId xmlns:a16="http://schemas.microsoft.com/office/drawing/2014/main" val="20010"/>
                    </a:ext>
                  </a:extLst>
                </a:gridCol>
                <a:gridCol w="538163">
                  <a:extLst>
                    <a:ext uri="{9D8B030D-6E8A-4147-A177-3AD203B41FA5}">
                      <a16:colId xmlns:a16="http://schemas.microsoft.com/office/drawing/2014/main" val="20011"/>
                    </a:ext>
                  </a:extLst>
                </a:gridCol>
                <a:gridCol w="536575">
                  <a:extLst>
                    <a:ext uri="{9D8B030D-6E8A-4147-A177-3AD203B41FA5}">
                      <a16:colId xmlns:a16="http://schemas.microsoft.com/office/drawing/2014/main" val="20012"/>
                    </a:ext>
                  </a:extLst>
                </a:gridCol>
                <a:gridCol w="541337">
                  <a:extLst>
                    <a:ext uri="{9D8B030D-6E8A-4147-A177-3AD203B41FA5}">
                      <a16:colId xmlns:a16="http://schemas.microsoft.com/office/drawing/2014/main" val="20013"/>
                    </a:ext>
                  </a:extLst>
                </a:gridCol>
                <a:gridCol w="392113">
                  <a:extLst>
                    <a:ext uri="{9D8B030D-6E8A-4147-A177-3AD203B41FA5}">
                      <a16:colId xmlns:a16="http://schemas.microsoft.com/office/drawing/2014/main" val="20014"/>
                    </a:ext>
                  </a:extLst>
                </a:gridCol>
              </a:tblGrid>
              <a:tr h="495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7254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7254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7254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7254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7254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7254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99FF"/>
                        </a:gs>
                        <a:gs pos="100000">
                          <a:srgbClr val="FF99FF">
                            <a:gamma/>
                            <a:shade val="7882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60037" name="Group 197"/>
          <p:cNvGraphicFramePr>
            <a:graphicFrameLocks noGrp="1"/>
          </p:cNvGraphicFramePr>
          <p:nvPr>
            <p:extLst>
              <p:ext uri="{D42A27DB-BD31-4B8C-83A1-F6EECF244321}">
                <p14:modId xmlns:p14="http://schemas.microsoft.com/office/powerpoint/2010/main" val="3021906910"/>
              </p:ext>
            </p:extLst>
          </p:nvPr>
        </p:nvGraphicFramePr>
        <p:xfrm>
          <a:off x="2454275" y="2714626"/>
          <a:ext cx="3816350" cy="504825"/>
        </p:xfrm>
        <a:graphic>
          <a:graphicData uri="http://schemas.openxmlformats.org/drawingml/2006/table">
            <a:tbl>
              <a:tblPr/>
              <a:tblGrid>
                <a:gridCol w="544513">
                  <a:extLst>
                    <a:ext uri="{9D8B030D-6E8A-4147-A177-3AD203B41FA5}">
                      <a16:colId xmlns:a16="http://schemas.microsoft.com/office/drawing/2014/main" val="20000"/>
                    </a:ext>
                  </a:extLst>
                </a:gridCol>
                <a:gridCol w="546100">
                  <a:extLst>
                    <a:ext uri="{9D8B030D-6E8A-4147-A177-3AD203B41FA5}">
                      <a16:colId xmlns:a16="http://schemas.microsoft.com/office/drawing/2014/main" val="20001"/>
                    </a:ext>
                  </a:extLst>
                </a:gridCol>
                <a:gridCol w="544512">
                  <a:extLst>
                    <a:ext uri="{9D8B030D-6E8A-4147-A177-3AD203B41FA5}">
                      <a16:colId xmlns:a16="http://schemas.microsoft.com/office/drawing/2014/main" val="20002"/>
                    </a:ext>
                  </a:extLst>
                </a:gridCol>
                <a:gridCol w="546100">
                  <a:extLst>
                    <a:ext uri="{9D8B030D-6E8A-4147-A177-3AD203B41FA5}">
                      <a16:colId xmlns:a16="http://schemas.microsoft.com/office/drawing/2014/main" val="20003"/>
                    </a:ext>
                  </a:extLst>
                </a:gridCol>
                <a:gridCol w="544513">
                  <a:extLst>
                    <a:ext uri="{9D8B030D-6E8A-4147-A177-3AD203B41FA5}">
                      <a16:colId xmlns:a16="http://schemas.microsoft.com/office/drawing/2014/main" val="20004"/>
                    </a:ext>
                  </a:extLst>
                </a:gridCol>
                <a:gridCol w="522287">
                  <a:extLst>
                    <a:ext uri="{9D8B030D-6E8A-4147-A177-3AD203B41FA5}">
                      <a16:colId xmlns:a16="http://schemas.microsoft.com/office/drawing/2014/main" val="20005"/>
                    </a:ext>
                  </a:extLst>
                </a:gridCol>
                <a:gridCol w="568325">
                  <a:extLst>
                    <a:ext uri="{9D8B030D-6E8A-4147-A177-3AD203B41FA5}">
                      <a16:colId xmlns:a16="http://schemas.microsoft.com/office/drawing/2014/main" val="20006"/>
                    </a:ext>
                  </a:extLst>
                </a:gridCol>
              </a:tblGrid>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'e'</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'l'</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'l'</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'o'</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 '</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63529"/>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CCFFFF"/>
                        </a:gs>
                        <a:gs pos="100000">
                          <a:srgbClr val="CCFFFF">
                            <a:gamma/>
                            <a:shade val="63529"/>
                            <a:invGamma/>
                          </a:srgbClr>
                        </a:gs>
                      </a:gsLst>
                      <a:lin ang="5400000" scaled="1"/>
                    </a:gradFill>
                  </a:tcPr>
                </a:tc>
                <a:extLst>
                  <a:ext uri="{0D108BD9-81ED-4DB2-BD59-A6C34878D82A}">
                    <a16:rowId xmlns:a16="http://schemas.microsoft.com/office/drawing/2014/main" val="10000"/>
                  </a:ext>
                </a:extLst>
              </a:tr>
            </a:tbl>
          </a:graphicData>
        </a:graphic>
      </p:graphicFrame>
      <p:graphicFrame>
        <p:nvGraphicFramePr>
          <p:cNvPr id="1060043" name="Group 203"/>
          <p:cNvGraphicFramePr>
            <a:graphicFrameLocks noGrp="1"/>
          </p:cNvGraphicFramePr>
          <p:nvPr>
            <p:extLst>
              <p:ext uri="{D42A27DB-BD31-4B8C-83A1-F6EECF244321}">
                <p14:modId xmlns:p14="http://schemas.microsoft.com/office/powerpoint/2010/main" val="1051539735"/>
              </p:ext>
            </p:extLst>
          </p:nvPr>
        </p:nvGraphicFramePr>
        <p:xfrm>
          <a:off x="6858001" y="2720975"/>
          <a:ext cx="3527425" cy="482600"/>
        </p:xfrm>
        <a:graphic>
          <a:graphicData uri="http://schemas.openxmlformats.org/drawingml/2006/table">
            <a:tbl>
              <a:tblPr/>
              <a:tblGrid>
                <a:gridCol w="504825">
                  <a:extLst>
                    <a:ext uri="{9D8B030D-6E8A-4147-A177-3AD203B41FA5}">
                      <a16:colId xmlns:a16="http://schemas.microsoft.com/office/drawing/2014/main" val="20000"/>
                    </a:ext>
                  </a:extLst>
                </a:gridCol>
                <a:gridCol w="501650">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481013">
                  <a:extLst>
                    <a:ext uri="{9D8B030D-6E8A-4147-A177-3AD203B41FA5}">
                      <a16:colId xmlns:a16="http://schemas.microsoft.com/office/drawing/2014/main" val="20005"/>
                    </a:ext>
                  </a:extLst>
                </a:gridCol>
                <a:gridCol w="525462">
                  <a:extLst>
                    <a:ext uri="{9D8B030D-6E8A-4147-A177-3AD203B41FA5}">
                      <a16:colId xmlns:a16="http://schemas.microsoft.com/office/drawing/2014/main" val="20006"/>
                    </a:ext>
                  </a:extLst>
                </a:gridCol>
              </a:tblGrid>
              <a:tr h="482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'c'</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078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'h'</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078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'i'</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078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'n'</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078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078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0784"/>
                            <a:invGamma/>
                          </a:srgbClr>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FFFF99"/>
                        </a:gs>
                        <a:gs pos="100000">
                          <a:srgbClr val="FFFF99">
                            <a:gamma/>
                            <a:shade val="60784"/>
                            <a:invGamma/>
                          </a:srgbClr>
                        </a:gs>
                      </a:gsLst>
                      <a:lin ang="5400000" scaled="1"/>
                    </a:gradFill>
                  </a:tcPr>
                </a:tc>
                <a:extLst>
                  <a:ext uri="{0D108BD9-81ED-4DB2-BD59-A6C34878D82A}">
                    <a16:rowId xmlns:a16="http://schemas.microsoft.com/office/drawing/2014/main" val="10000"/>
                  </a:ext>
                </a:extLst>
              </a:tr>
            </a:tbl>
          </a:graphicData>
        </a:graphic>
      </p:graphicFrame>
      <p:grpSp>
        <p:nvGrpSpPr>
          <p:cNvPr id="1060049" name="Group 209"/>
          <p:cNvGrpSpPr>
            <a:grpSpLocks/>
          </p:cNvGrpSpPr>
          <p:nvPr/>
        </p:nvGrpSpPr>
        <p:grpSpPr bwMode="auto">
          <a:xfrm>
            <a:off x="1774826" y="2038350"/>
            <a:ext cx="962025" cy="617538"/>
            <a:chOff x="249" y="573"/>
            <a:chExt cx="327" cy="389"/>
          </a:xfrm>
        </p:grpSpPr>
        <p:sp>
          <p:nvSpPr>
            <p:cNvPr id="19575" name="Line 207"/>
            <p:cNvSpPr>
              <a:spLocks noChangeShapeType="1"/>
            </p:cNvSpPr>
            <p:nvPr/>
          </p:nvSpPr>
          <p:spPr bwMode="auto">
            <a:xfrm>
              <a:off x="394" y="781"/>
              <a:ext cx="182" cy="181"/>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60048" name="Text Box 208"/>
            <p:cNvSpPr txBox="1">
              <a:spLocks noChangeArrowheads="1"/>
            </p:cNvSpPr>
            <p:nvPr/>
          </p:nvSpPr>
          <p:spPr bwMode="auto">
            <a:xfrm>
              <a:off x="249" y="573"/>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b="1" dirty="0">
                  <a:solidFill>
                    <a:srgbClr val="FF3300"/>
                  </a:solidFill>
                  <a:effectLst>
                    <a:outerShdw blurRad="38100" dist="38100" dir="2700000" algn="tl">
                      <a:srgbClr val="000000"/>
                    </a:outerShdw>
                  </a:effectLst>
                </a:rPr>
                <a:t>s1</a:t>
              </a:r>
            </a:p>
          </p:txBody>
        </p:sp>
      </p:grpSp>
      <p:grpSp>
        <p:nvGrpSpPr>
          <p:cNvPr id="1060050" name="Group 210"/>
          <p:cNvGrpSpPr>
            <a:grpSpLocks/>
          </p:cNvGrpSpPr>
          <p:nvPr/>
        </p:nvGrpSpPr>
        <p:grpSpPr bwMode="auto">
          <a:xfrm>
            <a:off x="5954714" y="2065339"/>
            <a:ext cx="860425" cy="617537"/>
            <a:chOff x="249" y="573"/>
            <a:chExt cx="327" cy="389"/>
          </a:xfrm>
        </p:grpSpPr>
        <p:sp>
          <p:nvSpPr>
            <p:cNvPr id="19573" name="Line 211"/>
            <p:cNvSpPr>
              <a:spLocks noChangeShapeType="1"/>
            </p:cNvSpPr>
            <p:nvPr/>
          </p:nvSpPr>
          <p:spPr bwMode="auto">
            <a:xfrm>
              <a:off x="394" y="781"/>
              <a:ext cx="182" cy="181"/>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60052" name="Text Box 212"/>
            <p:cNvSpPr txBox="1">
              <a:spLocks noChangeArrowheads="1"/>
            </p:cNvSpPr>
            <p:nvPr/>
          </p:nvSpPr>
          <p:spPr bwMode="auto">
            <a:xfrm>
              <a:off x="249" y="573"/>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b="1">
                  <a:solidFill>
                    <a:srgbClr val="FF3300"/>
                  </a:solidFill>
                  <a:effectLst>
                    <a:outerShdw blurRad="38100" dist="38100" dir="2700000" algn="tl">
                      <a:srgbClr val="000000"/>
                    </a:outerShdw>
                  </a:effectLst>
                </a:rPr>
                <a:t>s2</a:t>
              </a:r>
            </a:p>
          </p:txBody>
        </p:sp>
      </p:grpSp>
      <p:grpSp>
        <p:nvGrpSpPr>
          <p:cNvPr id="1060060" name="Group 220"/>
          <p:cNvGrpSpPr>
            <a:grpSpLocks/>
          </p:cNvGrpSpPr>
          <p:nvPr/>
        </p:nvGrpSpPr>
        <p:grpSpPr bwMode="auto">
          <a:xfrm>
            <a:off x="1774826" y="4873626"/>
            <a:ext cx="931863" cy="669925"/>
            <a:chOff x="268" y="2323"/>
            <a:chExt cx="290" cy="422"/>
          </a:xfrm>
        </p:grpSpPr>
        <p:sp>
          <p:nvSpPr>
            <p:cNvPr id="19571" name="Line 213"/>
            <p:cNvSpPr>
              <a:spLocks noChangeShapeType="1"/>
            </p:cNvSpPr>
            <p:nvPr/>
          </p:nvSpPr>
          <p:spPr bwMode="auto">
            <a:xfrm flipV="1">
              <a:off x="385" y="2323"/>
              <a:ext cx="173" cy="245"/>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60056" name="Text Box 216"/>
            <p:cNvSpPr txBox="1">
              <a:spLocks noChangeArrowheads="1"/>
            </p:cNvSpPr>
            <p:nvPr/>
          </p:nvSpPr>
          <p:spPr bwMode="auto">
            <a:xfrm>
              <a:off x="268" y="2514"/>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b="1" dirty="0">
                  <a:solidFill>
                    <a:srgbClr val="FF3300"/>
                  </a:solidFill>
                  <a:effectLst>
                    <a:outerShdw blurRad="38100" dist="38100" dir="2700000" algn="tl">
                      <a:srgbClr val="000000"/>
                    </a:outerShdw>
                  </a:effectLst>
                </a:rPr>
                <a:t>s3</a:t>
              </a:r>
            </a:p>
          </p:txBody>
        </p:sp>
      </p:grpSp>
      <p:sp>
        <p:nvSpPr>
          <p:cNvPr id="1060061" name="Text Box 221"/>
          <p:cNvSpPr txBox="1">
            <a:spLocks noChangeArrowheads="1"/>
          </p:cNvSpPr>
          <p:nvPr/>
        </p:nvSpPr>
        <p:spPr bwMode="auto">
          <a:xfrm>
            <a:off x="2883019" y="1136651"/>
            <a:ext cx="17208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dirty="0">
                <a:solidFill>
                  <a:srgbClr val="C00000"/>
                </a:solidFill>
                <a:effectLst>
                  <a:outerShdw blurRad="38100" dist="38100" dir="2700000" algn="tl">
                    <a:srgbClr val="000000">
                      <a:alpha val="43137"/>
                    </a:srgbClr>
                  </a:outerShdw>
                </a:effectLst>
                <a:latin typeface="方正姚体" pitchFamily="2" charset="-122"/>
                <a:ea typeface="方正姚体" pitchFamily="2" charset="-122"/>
              </a:rPr>
              <a:t>调用前</a:t>
            </a:r>
          </a:p>
        </p:txBody>
      </p:sp>
      <p:sp>
        <p:nvSpPr>
          <p:cNvPr id="1060062" name="Line 222"/>
          <p:cNvSpPr>
            <a:spLocks noChangeShapeType="1"/>
          </p:cNvSpPr>
          <p:nvPr/>
        </p:nvSpPr>
        <p:spPr bwMode="auto">
          <a:xfrm>
            <a:off x="4171470" y="1451199"/>
            <a:ext cx="555625" cy="7938"/>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a:defRPr/>
            </a:pPr>
            <a:endParaRPr lang="zh-CN" altLang="en-US" sz="3200" b="1">
              <a:effectLst>
                <a:outerShdw blurRad="38100" dist="38100" dir="2700000" algn="tl">
                  <a:srgbClr val="000000">
                    <a:alpha val="43137"/>
                  </a:srgbClr>
                </a:outerShdw>
              </a:effectLst>
              <a:latin typeface="方正姚体" pitchFamily="2" charset="-122"/>
              <a:ea typeface="方正姚体" pitchFamily="2" charset="-122"/>
            </a:endParaRPr>
          </a:p>
        </p:txBody>
      </p:sp>
      <p:sp>
        <p:nvSpPr>
          <p:cNvPr id="1060063" name="Text Box 223"/>
          <p:cNvSpPr txBox="1">
            <a:spLocks noChangeArrowheads="1"/>
          </p:cNvSpPr>
          <p:nvPr/>
        </p:nvSpPr>
        <p:spPr bwMode="auto">
          <a:xfrm>
            <a:off x="4614864" y="1162051"/>
            <a:ext cx="12668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dirty="0">
                <a:solidFill>
                  <a:srgbClr val="FF3300"/>
                </a:solidFill>
                <a:effectLst>
                  <a:outerShdw blurRad="38100" dist="38100" dir="2700000" algn="tl">
                    <a:srgbClr val="000000">
                      <a:alpha val="43137"/>
                    </a:srgbClr>
                  </a:outerShdw>
                </a:effectLst>
                <a:latin typeface="方正姚体" pitchFamily="2" charset="-122"/>
                <a:ea typeface="方正姚体" pitchFamily="2" charset="-122"/>
              </a:rPr>
              <a:t>调用</a:t>
            </a:r>
          </a:p>
        </p:txBody>
      </p:sp>
      <p:sp>
        <p:nvSpPr>
          <p:cNvPr id="1060064" name="Line 224"/>
          <p:cNvSpPr>
            <a:spLocks noChangeShapeType="1"/>
          </p:cNvSpPr>
          <p:nvPr/>
        </p:nvSpPr>
        <p:spPr bwMode="auto">
          <a:xfrm flipV="1">
            <a:off x="5542267" y="1449610"/>
            <a:ext cx="666750" cy="6350"/>
          </a:xfrm>
          <a:prstGeom prst="line">
            <a:avLst/>
          </a:prstGeom>
          <a:noFill/>
          <a:ln w="28575">
            <a:solidFill>
              <a:srgbClr val="008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a:defRPr/>
            </a:pPr>
            <a:endParaRPr lang="zh-CN" altLang="en-US" sz="3200" b="1">
              <a:effectLst>
                <a:outerShdw blurRad="38100" dist="38100" dir="2700000" algn="tl">
                  <a:srgbClr val="000000">
                    <a:alpha val="43137"/>
                  </a:srgbClr>
                </a:outerShdw>
              </a:effectLst>
              <a:latin typeface="方正姚体" pitchFamily="2" charset="-122"/>
              <a:ea typeface="方正姚体" pitchFamily="2" charset="-122"/>
            </a:endParaRPr>
          </a:p>
        </p:txBody>
      </p:sp>
      <p:sp>
        <p:nvSpPr>
          <p:cNvPr id="1060065" name="Text Box 225"/>
          <p:cNvSpPr txBox="1">
            <a:spLocks noChangeArrowheads="1"/>
          </p:cNvSpPr>
          <p:nvPr/>
        </p:nvSpPr>
        <p:spPr bwMode="auto">
          <a:xfrm>
            <a:off x="6096000" y="1140231"/>
            <a:ext cx="12684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dirty="0">
                <a:solidFill>
                  <a:srgbClr val="008000"/>
                </a:solidFill>
                <a:effectLst>
                  <a:outerShdw blurRad="38100" dist="38100" dir="2700000" algn="tl">
                    <a:srgbClr val="000000">
                      <a:alpha val="43137"/>
                    </a:srgbClr>
                  </a:outerShdw>
                </a:effectLst>
                <a:latin typeface="方正姚体" pitchFamily="2" charset="-122"/>
                <a:ea typeface="方正姚体" pitchFamily="2" charset="-122"/>
              </a:rPr>
              <a:t>连接</a:t>
            </a:r>
          </a:p>
        </p:txBody>
      </p:sp>
      <p:sp>
        <p:nvSpPr>
          <p:cNvPr id="1060066" name="AutoShape 226"/>
          <p:cNvSpPr>
            <a:spLocks/>
          </p:cNvSpPr>
          <p:nvPr/>
        </p:nvSpPr>
        <p:spPr bwMode="auto">
          <a:xfrm rot="-5400000">
            <a:off x="3863975" y="1954213"/>
            <a:ext cx="287338" cy="2881312"/>
          </a:xfrm>
          <a:prstGeom prst="leftBrace">
            <a:avLst>
              <a:gd name="adj1" fmla="val 83563"/>
              <a:gd name="adj2" fmla="val 50000"/>
            </a:avLst>
          </a:prstGeom>
          <a:noFill/>
          <a:ln w="25400">
            <a:solidFill>
              <a:srgbClr val="0080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60067" name="AutoShape 227"/>
          <p:cNvSpPr>
            <a:spLocks noChangeArrowheads="1"/>
          </p:cNvSpPr>
          <p:nvPr/>
        </p:nvSpPr>
        <p:spPr bwMode="auto">
          <a:xfrm rot="5400000">
            <a:off x="3683794" y="3718719"/>
            <a:ext cx="649288" cy="4318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60068" name="Rectangle 228"/>
          <p:cNvSpPr>
            <a:spLocks noChangeArrowheads="1"/>
          </p:cNvSpPr>
          <p:nvPr/>
        </p:nvSpPr>
        <p:spPr bwMode="auto">
          <a:xfrm>
            <a:off x="2466976" y="4373563"/>
            <a:ext cx="4924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FF33CC"/>
                </a:solidFill>
                <a:effectLst>
                  <a:outerShdw blurRad="38100" dist="38100" dir="2700000" algn="tl">
                    <a:srgbClr val="000000"/>
                  </a:outerShdw>
                </a:effectLst>
              </a:rPr>
              <a:t>'H'</a:t>
            </a:r>
          </a:p>
        </p:txBody>
      </p:sp>
      <p:sp>
        <p:nvSpPr>
          <p:cNvPr id="1060069" name="Rectangle 229"/>
          <p:cNvSpPr>
            <a:spLocks noChangeArrowheads="1"/>
          </p:cNvSpPr>
          <p:nvPr/>
        </p:nvSpPr>
        <p:spPr bwMode="auto">
          <a:xfrm>
            <a:off x="3057525" y="4373563"/>
            <a:ext cx="44916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FF33CC"/>
                </a:solidFill>
                <a:effectLst>
                  <a:outerShdw blurRad="38100" dist="38100" dir="2700000" algn="tl">
                    <a:srgbClr val="000000"/>
                  </a:outerShdw>
                </a:effectLst>
              </a:rPr>
              <a:t>'e'</a:t>
            </a:r>
          </a:p>
        </p:txBody>
      </p:sp>
      <p:sp>
        <p:nvSpPr>
          <p:cNvPr id="1060070" name="Rectangle 230"/>
          <p:cNvSpPr>
            <a:spLocks noChangeArrowheads="1"/>
          </p:cNvSpPr>
          <p:nvPr/>
        </p:nvSpPr>
        <p:spPr bwMode="auto">
          <a:xfrm>
            <a:off x="3603625" y="4373563"/>
            <a:ext cx="377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FF33CC"/>
                </a:solidFill>
                <a:effectLst>
                  <a:outerShdw blurRad="38100" dist="38100" dir="2700000" algn="tl">
                    <a:srgbClr val="000000"/>
                  </a:outerShdw>
                </a:effectLst>
              </a:rPr>
              <a:t>'l'</a:t>
            </a:r>
          </a:p>
        </p:txBody>
      </p:sp>
      <p:sp>
        <p:nvSpPr>
          <p:cNvPr id="1060071" name="Rectangle 231"/>
          <p:cNvSpPr>
            <a:spLocks noChangeArrowheads="1"/>
          </p:cNvSpPr>
          <p:nvPr/>
        </p:nvSpPr>
        <p:spPr bwMode="auto">
          <a:xfrm>
            <a:off x="4133850" y="4360863"/>
            <a:ext cx="377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FF33CC"/>
                </a:solidFill>
                <a:effectLst>
                  <a:outerShdw blurRad="38100" dist="38100" dir="2700000" algn="tl">
                    <a:srgbClr val="000000"/>
                  </a:outerShdw>
                </a:effectLst>
              </a:rPr>
              <a:t>'l'</a:t>
            </a:r>
          </a:p>
        </p:txBody>
      </p:sp>
      <p:sp>
        <p:nvSpPr>
          <p:cNvPr id="1060072" name="Rectangle 232"/>
          <p:cNvSpPr>
            <a:spLocks noChangeArrowheads="1"/>
          </p:cNvSpPr>
          <p:nvPr/>
        </p:nvSpPr>
        <p:spPr bwMode="auto">
          <a:xfrm>
            <a:off x="4627563" y="4360863"/>
            <a:ext cx="463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FF33CC"/>
                </a:solidFill>
                <a:effectLst>
                  <a:outerShdw blurRad="38100" dist="38100" dir="2700000" algn="tl">
                    <a:srgbClr val="000000"/>
                  </a:outerShdw>
                </a:effectLst>
              </a:rPr>
              <a:t>'o'</a:t>
            </a:r>
          </a:p>
        </p:txBody>
      </p:sp>
      <p:sp>
        <p:nvSpPr>
          <p:cNvPr id="1060073" name="Rectangle 233"/>
          <p:cNvSpPr>
            <a:spLocks noChangeArrowheads="1"/>
          </p:cNvSpPr>
          <p:nvPr/>
        </p:nvSpPr>
        <p:spPr bwMode="auto">
          <a:xfrm>
            <a:off x="5202238" y="4373564"/>
            <a:ext cx="387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FF33CC"/>
                </a:solidFill>
                <a:effectLst>
                  <a:outerShdw blurRad="38100" dist="38100" dir="2700000" algn="tl">
                    <a:srgbClr val="000000"/>
                  </a:outerShdw>
                </a:effectLst>
              </a:rPr>
              <a:t>' '</a:t>
            </a:r>
          </a:p>
        </p:txBody>
      </p:sp>
      <p:grpSp>
        <p:nvGrpSpPr>
          <p:cNvPr id="1060076" name="Group 236"/>
          <p:cNvGrpSpPr>
            <a:grpSpLocks/>
          </p:cNvGrpSpPr>
          <p:nvPr/>
        </p:nvGrpSpPr>
        <p:grpSpPr bwMode="auto">
          <a:xfrm>
            <a:off x="2495551" y="4835526"/>
            <a:ext cx="3743325" cy="1477963"/>
            <a:chOff x="612" y="2614"/>
            <a:chExt cx="2358" cy="931"/>
          </a:xfrm>
        </p:grpSpPr>
        <p:sp>
          <p:nvSpPr>
            <p:cNvPr id="19569" name="Rectangle 234"/>
            <p:cNvSpPr>
              <a:spLocks noChangeArrowheads="1"/>
            </p:cNvSpPr>
            <p:nvPr/>
          </p:nvSpPr>
          <p:spPr bwMode="auto">
            <a:xfrm>
              <a:off x="612" y="3022"/>
              <a:ext cx="2358" cy="523"/>
            </a:xfrm>
            <a:prstGeom prst="rect">
              <a:avLst/>
            </a:prstGeom>
            <a:gradFill rotWithShape="1">
              <a:gsLst>
                <a:gs pos="0">
                  <a:srgbClr val="CCFFFF"/>
                </a:gs>
                <a:gs pos="100000">
                  <a:schemeClr val="bg1"/>
                </a:gs>
              </a:gsLst>
              <a:lin ang="5400000" scaled="1"/>
            </a:gradFill>
            <a:ln w="38100">
              <a:solidFill>
                <a:srgbClr val="008000"/>
              </a:solidFill>
              <a:miter lim="800000"/>
              <a:headEnd/>
              <a:tailEnd/>
            </a:ln>
            <a:effectLst>
              <a:outerShdw dist="107763" dir="2700000" algn="ctr" rotWithShape="0">
                <a:schemeClr val="bg2">
                  <a:alpha val="50000"/>
                </a:schemeClr>
              </a:outerShdw>
            </a:effectLst>
          </p:spPr>
          <p:txBody>
            <a:bodyPr>
              <a:spAutoFit/>
            </a:bodyPr>
            <a:lstStyle/>
            <a:p>
              <a:pPr algn="l"/>
              <a:r>
                <a:rPr lang="en-US" altLang="zh-CN" sz="2400" b="1">
                  <a:solidFill>
                    <a:srgbClr val="008000"/>
                  </a:solidFill>
                  <a:latin typeface="Times New Roman" pitchFamily="18" charset="0"/>
                  <a:cs typeface="Times New Roman" pitchFamily="18" charset="0"/>
                </a:rPr>
                <a:t>for (i = 0; s1[i] != '\0'; i++) </a:t>
              </a:r>
            </a:p>
            <a:p>
              <a:pPr algn="l"/>
              <a:r>
                <a:rPr lang="en-US" altLang="zh-CN" sz="2400" b="1">
                  <a:solidFill>
                    <a:srgbClr val="008000"/>
                  </a:solidFill>
                  <a:latin typeface="Times New Roman" pitchFamily="18" charset="0"/>
                  <a:cs typeface="Times New Roman" pitchFamily="18" charset="0"/>
                </a:rPr>
                <a:t>      s3[i] = s1[i];</a:t>
              </a:r>
            </a:p>
          </p:txBody>
        </p:sp>
        <p:sp>
          <p:nvSpPr>
            <p:cNvPr id="19570" name="Line 235"/>
            <p:cNvSpPr>
              <a:spLocks noChangeShapeType="1"/>
            </p:cNvSpPr>
            <p:nvPr/>
          </p:nvSpPr>
          <p:spPr bwMode="auto">
            <a:xfrm>
              <a:off x="1383" y="2614"/>
              <a:ext cx="272" cy="408"/>
            </a:xfrm>
            <a:prstGeom prst="line">
              <a:avLst/>
            </a:prstGeom>
            <a:noFill/>
            <a:ln w="28575">
              <a:solidFill>
                <a:srgbClr val="0080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1060077" name="AutoShape 237"/>
          <p:cNvSpPr>
            <a:spLocks/>
          </p:cNvSpPr>
          <p:nvPr/>
        </p:nvSpPr>
        <p:spPr bwMode="auto">
          <a:xfrm rot="-5400000">
            <a:off x="8185150" y="1925638"/>
            <a:ext cx="287338" cy="2881312"/>
          </a:xfrm>
          <a:prstGeom prst="leftBrace">
            <a:avLst>
              <a:gd name="adj1" fmla="val 83563"/>
              <a:gd name="adj2" fmla="val 50000"/>
            </a:avLst>
          </a:prstGeom>
          <a:noFill/>
          <a:ln w="25400">
            <a:solidFill>
              <a:srgbClr val="FFCC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60078" name="AutoShape 238"/>
          <p:cNvSpPr>
            <a:spLocks noChangeArrowheads="1"/>
          </p:cNvSpPr>
          <p:nvPr/>
        </p:nvSpPr>
        <p:spPr bwMode="auto">
          <a:xfrm rot="8220912">
            <a:off x="6965950" y="3687763"/>
            <a:ext cx="1176338" cy="404812"/>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60079" name="Rectangle 239"/>
          <p:cNvSpPr>
            <a:spLocks noChangeArrowheads="1"/>
          </p:cNvSpPr>
          <p:nvPr/>
        </p:nvSpPr>
        <p:spPr bwMode="auto">
          <a:xfrm>
            <a:off x="5735638" y="4359275"/>
            <a:ext cx="44916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CC0000"/>
                </a:solidFill>
                <a:effectLst>
                  <a:outerShdw blurRad="38100" dist="38100" dir="2700000" algn="tl">
                    <a:srgbClr val="000000"/>
                  </a:outerShdw>
                </a:effectLst>
              </a:rPr>
              <a:t>'c'</a:t>
            </a:r>
          </a:p>
        </p:txBody>
      </p:sp>
      <p:sp>
        <p:nvSpPr>
          <p:cNvPr id="1060080" name="Rectangle 240"/>
          <p:cNvSpPr>
            <a:spLocks noChangeArrowheads="1"/>
          </p:cNvSpPr>
          <p:nvPr/>
        </p:nvSpPr>
        <p:spPr bwMode="auto">
          <a:xfrm>
            <a:off x="6283325" y="4359276"/>
            <a:ext cx="4651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CC0000"/>
                </a:solidFill>
                <a:effectLst>
                  <a:outerShdw blurRad="38100" dist="38100" dir="2700000" algn="tl">
                    <a:srgbClr val="000000"/>
                  </a:outerShdw>
                </a:effectLst>
              </a:rPr>
              <a:t>'h'</a:t>
            </a:r>
          </a:p>
        </p:txBody>
      </p:sp>
      <p:sp>
        <p:nvSpPr>
          <p:cNvPr id="1060081" name="Rectangle 241"/>
          <p:cNvSpPr>
            <a:spLocks noChangeArrowheads="1"/>
          </p:cNvSpPr>
          <p:nvPr/>
        </p:nvSpPr>
        <p:spPr bwMode="auto">
          <a:xfrm>
            <a:off x="6816725" y="4359275"/>
            <a:ext cx="377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CC0000"/>
                </a:solidFill>
                <a:effectLst>
                  <a:outerShdw blurRad="38100" dist="38100" dir="2700000" algn="tl">
                    <a:srgbClr val="000000"/>
                  </a:outerShdw>
                </a:effectLst>
              </a:rPr>
              <a:t>'i'</a:t>
            </a:r>
          </a:p>
        </p:txBody>
      </p:sp>
      <p:sp>
        <p:nvSpPr>
          <p:cNvPr id="1060082" name="Rectangle 242"/>
          <p:cNvSpPr>
            <a:spLocks noChangeArrowheads="1"/>
          </p:cNvSpPr>
          <p:nvPr/>
        </p:nvSpPr>
        <p:spPr bwMode="auto">
          <a:xfrm>
            <a:off x="7319964" y="4359276"/>
            <a:ext cx="4651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CC0000"/>
                </a:solidFill>
                <a:effectLst>
                  <a:outerShdw blurRad="38100" dist="38100" dir="2700000" algn="tl">
                    <a:srgbClr val="000000"/>
                  </a:outerShdw>
                </a:effectLst>
              </a:rPr>
              <a:t>'n'</a:t>
            </a:r>
          </a:p>
        </p:txBody>
      </p:sp>
      <p:sp>
        <p:nvSpPr>
          <p:cNvPr id="1060083" name="Rectangle 243"/>
          <p:cNvSpPr>
            <a:spLocks noChangeArrowheads="1"/>
          </p:cNvSpPr>
          <p:nvPr/>
        </p:nvSpPr>
        <p:spPr bwMode="auto">
          <a:xfrm>
            <a:off x="7881938" y="4359276"/>
            <a:ext cx="450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CC0000"/>
                </a:solidFill>
                <a:effectLst>
                  <a:outerShdw blurRad="38100" dist="38100" dir="2700000" algn="tl">
                    <a:srgbClr val="000000"/>
                  </a:outerShdw>
                </a:effectLst>
              </a:rPr>
              <a:t>'a'</a:t>
            </a:r>
          </a:p>
        </p:txBody>
      </p:sp>
      <p:sp>
        <p:nvSpPr>
          <p:cNvPr id="1060084" name="Rectangle 244"/>
          <p:cNvSpPr>
            <a:spLocks noChangeArrowheads="1"/>
          </p:cNvSpPr>
          <p:nvPr/>
        </p:nvSpPr>
        <p:spPr bwMode="auto">
          <a:xfrm>
            <a:off x="8429625" y="4359275"/>
            <a:ext cx="391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a:solidFill>
                  <a:srgbClr val="CC0000"/>
                </a:solidFill>
                <a:effectLst>
                  <a:outerShdw blurRad="38100" dist="38100" dir="2700000" algn="tl">
                    <a:srgbClr val="000000"/>
                  </a:outerShdw>
                </a:effectLst>
              </a:rPr>
              <a:t>'!'</a:t>
            </a:r>
          </a:p>
        </p:txBody>
      </p:sp>
      <p:grpSp>
        <p:nvGrpSpPr>
          <p:cNvPr id="1060085" name="Group 245"/>
          <p:cNvGrpSpPr>
            <a:grpSpLocks/>
          </p:cNvGrpSpPr>
          <p:nvPr/>
        </p:nvGrpSpPr>
        <p:grpSpPr bwMode="auto">
          <a:xfrm>
            <a:off x="6527801" y="4849814"/>
            <a:ext cx="3743325" cy="1508125"/>
            <a:chOff x="612" y="2614"/>
            <a:chExt cx="2358" cy="950"/>
          </a:xfrm>
        </p:grpSpPr>
        <p:sp>
          <p:nvSpPr>
            <p:cNvPr id="19567" name="Rectangle 246"/>
            <p:cNvSpPr>
              <a:spLocks noChangeArrowheads="1"/>
            </p:cNvSpPr>
            <p:nvPr/>
          </p:nvSpPr>
          <p:spPr bwMode="auto">
            <a:xfrm>
              <a:off x="612" y="3022"/>
              <a:ext cx="2358" cy="542"/>
            </a:xfrm>
            <a:prstGeom prst="rect">
              <a:avLst/>
            </a:prstGeom>
            <a:gradFill rotWithShape="1">
              <a:gsLst>
                <a:gs pos="0">
                  <a:srgbClr val="FFFF99"/>
                </a:gs>
                <a:gs pos="100000">
                  <a:schemeClr val="bg1"/>
                </a:gs>
              </a:gsLst>
              <a:lin ang="5400000" scaled="1"/>
            </a:gradFill>
            <a:ln w="38100">
              <a:solidFill>
                <a:srgbClr val="0000FF"/>
              </a:solidFill>
              <a:miter lim="800000"/>
              <a:headEnd/>
              <a:tailEnd/>
            </a:ln>
            <a:effectLst>
              <a:outerShdw dist="107763" dir="2700000" algn="ctr" rotWithShape="0">
                <a:schemeClr val="bg2">
                  <a:alpha val="50000"/>
                </a:schemeClr>
              </a:outerShdw>
            </a:effectLst>
          </p:spPr>
          <p:txBody>
            <a:bodyPr>
              <a:spAutoFit/>
            </a:bodyPr>
            <a:lstStyle/>
            <a:p>
              <a:pPr algn="l"/>
              <a:r>
                <a:rPr lang="en-US" altLang="zh-CN" sz="2400" b="1">
                  <a:solidFill>
                    <a:srgbClr val="CC0000"/>
                  </a:solidFill>
                  <a:latin typeface="Times New Roman" pitchFamily="18" charset="0"/>
                  <a:cs typeface="Times New Roman" pitchFamily="18" charset="0"/>
                </a:rPr>
                <a:t>for (j = 0; s2[j] != '\0'; j++)</a:t>
              </a:r>
            </a:p>
            <a:p>
              <a:pPr algn="l"/>
              <a:r>
                <a:rPr lang="en-US" altLang="zh-CN" sz="2400" b="1">
                  <a:solidFill>
                    <a:srgbClr val="CC0000"/>
                  </a:solidFill>
                  <a:latin typeface="Times New Roman" pitchFamily="18" charset="0"/>
                  <a:cs typeface="Times New Roman" pitchFamily="18" charset="0"/>
                </a:rPr>
                <a:t>      s3[i+j] = s2[j];</a:t>
              </a:r>
            </a:p>
          </p:txBody>
        </p:sp>
        <p:sp>
          <p:nvSpPr>
            <p:cNvPr id="19568" name="Line 247"/>
            <p:cNvSpPr>
              <a:spLocks noChangeShapeType="1"/>
            </p:cNvSpPr>
            <p:nvPr/>
          </p:nvSpPr>
          <p:spPr bwMode="auto">
            <a:xfrm>
              <a:off x="1383" y="2614"/>
              <a:ext cx="272" cy="408"/>
            </a:xfrm>
            <a:prstGeom prst="line">
              <a:avLst/>
            </a:prstGeom>
            <a:noFill/>
            <a:ln w="28575">
              <a:solidFill>
                <a:srgbClr val="0000FF"/>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1060088" name="Rectangle 248"/>
          <p:cNvSpPr>
            <a:spLocks noChangeArrowheads="1"/>
          </p:cNvSpPr>
          <p:nvPr/>
        </p:nvSpPr>
        <p:spPr bwMode="auto">
          <a:xfrm>
            <a:off x="8918575" y="4359276"/>
            <a:ext cx="520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dirty="0">
                <a:solidFill>
                  <a:srgbClr val="002060"/>
                </a:solidFill>
                <a:effectLst>
                  <a:outerShdw blurRad="38100" dist="38100" dir="2700000" algn="tl">
                    <a:srgbClr val="000000"/>
                  </a:outerShdw>
                </a:effectLst>
              </a:rPr>
              <a:t>'\0'</a:t>
            </a:r>
          </a:p>
        </p:txBody>
      </p:sp>
      <p:sp>
        <p:nvSpPr>
          <p:cNvPr id="1060089" name="Line 249"/>
          <p:cNvSpPr>
            <a:spLocks noChangeShapeType="1"/>
          </p:cNvSpPr>
          <p:nvPr/>
        </p:nvSpPr>
        <p:spPr bwMode="auto">
          <a:xfrm>
            <a:off x="7005238" y="1474126"/>
            <a:ext cx="657225" cy="14288"/>
          </a:xfrm>
          <a:prstGeom prst="line">
            <a:avLst/>
          </a:prstGeom>
          <a:noFill/>
          <a:ln w="28575">
            <a:solidFill>
              <a:srgbClr val="FF00FF"/>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a:defRPr/>
            </a:pPr>
            <a:endParaRPr lang="zh-CN" altLang="en-US" sz="3200" b="1">
              <a:effectLst>
                <a:outerShdw blurRad="38100" dist="38100" dir="2700000" algn="tl">
                  <a:srgbClr val="000000">
                    <a:alpha val="43137"/>
                  </a:srgbClr>
                </a:outerShdw>
              </a:effectLst>
              <a:latin typeface="方正姚体" pitchFamily="2" charset="-122"/>
              <a:ea typeface="方正姚体" pitchFamily="2" charset="-122"/>
            </a:endParaRPr>
          </a:p>
        </p:txBody>
      </p:sp>
      <p:sp>
        <p:nvSpPr>
          <p:cNvPr id="1060090" name="Text Box 250"/>
          <p:cNvSpPr txBox="1">
            <a:spLocks noChangeArrowheads="1"/>
          </p:cNvSpPr>
          <p:nvPr/>
        </p:nvSpPr>
        <p:spPr bwMode="auto">
          <a:xfrm>
            <a:off x="7652046" y="1167984"/>
            <a:ext cx="12684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dirty="0">
                <a:solidFill>
                  <a:srgbClr val="FF66FF"/>
                </a:solidFill>
                <a:effectLst>
                  <a:outerShdw blurRad="38100" dist="38100" dir="2700000" algn="tl">
                    <a:srgbClr val="000000">
                      <a:alpha val="43137"/>
                    </a:srgbClr>
                  </a:outerShdw>
                </a:effectLst>
                <a:latin typeface="方正姚体" pitchFamily="2" charset="-122"/>
                <a:ea typeface="方正姚体" pitchFamily="2" charset="-122"/>
              </a:rPr>
              <a:t>补</a:t>
            </a:r>
            <a:r>
              <a:rPr lang="en-US" altLang="zh-CN" sz="3200" b="1" dirty="0">
                <a:solidFill>
                  <a:srgbClr val="FF66FF"/>
                </a:solidFill>
                <a:effectLst>
                  <a:outerShdw blurRad="38100" dist="38100" dir="2700000" algn="tl">
                    <a:srgbClr val="000000">
                      <a:alpha val="43137"/>
                    </a:srgbClr>
                  </a:outerShdw>
                </a:effectLst>
                <a:latin typeface="方正姚体" pitchFamily="2" charset="-122"/>
                <a:ea typeface="方正姚体" pitchFamily="2" charset="-122"/>
              </a:rPr>
              <a:t>\0</a:t>
            </a:r>
          </a:p>
        </p:txBody>
      </p:sp>
      <p:grpSp>
        <p:nvGrpSpPr>
          <p:cNvPr id="1060093" name="Group 253"/>
          <p:cNvGrpSpPr>
            <a:grpSpLocks/>
          </p:cNvGrpSpPr>
          <p:nvPr/>
        </p:nvGrpSpPr>
        <p:grpSpPr bwMode="auto">
          <a:xfrm>
            <a:off x="8810625" y="3538538"/>
            <a:ext cx="1498600" cy="792162"/>
            <a:chOff x="4590" y="1797"/>
            <a:chExt cx="944" cy="499"/>
          </a:xfrm>
        </p:grpSpPr>
        <p:sp>
          <p:nvSpPr>
            <p:cNvPr id="1060091" name="Rectangle 251"/>
            <p:cNvSpPr>
              <a:spLocks noChangeArrowheads="1"/>
            </p:cNvSpPr>
            <p:nvPr/>
          </p:nvSpPr>
          <p:spPr bwMode="auto">
            <a:xfrm>
              <a:off x="4590" y="1797"/>
              <a:ext cx="944" cy="233"/>
            </a:xfrm>
            <a:prstGeom prst="rect">
              <a:avLst/>
            </a:prstGeom>
            <a:gradFill rotWithShape="1">
              <a:gsLst>
                <a:gs pos="0">
                  <a:srgbClr val="FF99CC"/>
                </a:gs>
                <a:gs pos="100000">
                  <a:schemeClr val="bg1"/>
                </a:gs>
              </a:gsLst>
              <a:lin ang="5400000" scaled="1"/>
            </a:gradFill>
            <a:ln w="38100">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a:solidFill>
                    <a:srgbClr val="002060"/>
                  </a:solidFill>
                  <a:effectLst>
                    <a:outerShdw blurRad="38100" dist="38100" dir="2700000" algn="tl">
                      <a:srgbClr val="000000">
                        <a:alpha val="43137"/>
                      </a:srgbClr>
                    </a:outerShdw>
                  </a:effectLst>
                </a:rPr>
                <a:t>s3[i+j] = '\0';</a:t>
              </a:r>
            </a:p>
          </p:txBody>
        </p:sp>
        <p:sp>
          <p:nvSpPr>
            <p:cNvPr id="9330" name="Line 252"/>
            <p:cNvSpPr>
              <a:spLocks noChangeShapeType="1"/>
            </p:cNvSpPr>
            <p:nvPr/>
          </p:nvSpPr>
          <p:spPr bwMode="auto">
            <a:xfrm>
              <a:off x="4649" y="2115"/>
              <a:ext cx="136" cy="181"/>
            </a:xfrm>
            <a:prstGeom prst="line">
              <a:avLst/>
            </a:prstGeom>
            <a:noFill/>
            <a:ln w="38100">
              <a:solidFill>
                <a:srgbClr val="993366"/>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a:defRPr/>
              </a:pPr>
              <a:endParaRPr lang="zh-CN" altLang="en-US">
                <a:solidFill>
                  <a:srgbClr val="002060"/>
                </a:solidFill>
                <a:effectLst>
                  <a:outerShdw blurRad="38100" dist="38100" dir="2700000" algn="tl">
                    <a:srgbClr val="000000">
                      <a:alpha val="43137"/>
                    </a:srgbClr>
                  </a:outerShdw>
                </a:effectLst>
                <a:latin typeface="Arial" pitchFamily="34" charset="0"/>
              </a:endParaRPr>
            </a:p>
          </p:txBody>
        </p:sp>
      </p:grpSp>
      <p:sp>
        <p:nvSpPr>
          <p:cNvPr id="1060094" name="Line 254"/>
          <p:cNvSpPr>
            <a:spLocks noChangeShapeType="1"/>
          </p:cNvSpPr>
          <p:nvPr/>
        </p:nvSpPr>
        <p:spPr bwMode="auto">
          <a:xfrm>
            <a:off x="8515485" y="1490583"/>
            <a:ext cx="611187" cy="3175"/>
          </a:xfrm>
          <a:prstGeom prst="line">
            <a:avLst/>
          </a:prstGeom>
          <a:noFill/>
          <a:ln w="28575">
            <a:solidFill>
              <a:srgbClr val="80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a:defRPr/>
            </a:pPr>
            <a:endParaRPr lang="zh-CN" altLang="en-US" sz="3200" b="1">
              <a:effectLst>
                <a:outerShdw blurRad="38100" dist="38100" dir="2700000" algn="tl">
                  <a:srgbClr val="000000">
                    <a:alpha val="43137"/>
                  </a:srgbClr>
                </a:outerShdw>
              </a:effectLst>
              <a:latin typeface="方正姚体" pitchFamily="2" charset="-122"/>
              <a:ea typeface="方正姚体" pitchFamily="2" charset="-122"/>
            </a:endParaRPr>
          </a:p>
        </p:txBody>
      </p:sp>
      <p:sp>
        <p:nvSpPr>
          <p:cNvPr id="1060095" name="Text Box 255"/>
          <p:cNvSpPr txBox="1">
            <a:spLocks noChangeArrowheads="1"/>
          </p:cNvSpPr>
          <p:nvPr/>
        </p:nvSpPr>
        <p:spPr bwMode="auto">
          <a:xfrm>
            <a:off x="9109567" y="1157223"/>
            <a:ext cx="188753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dirty="0">
                <a:solidFill>
                  <a:srgbClr val="993366"/>
                </a:solidFill>
                <a:effectLst>
                  <a:outerShdw blurRad="38100" dist="38100" dir="2700000" algn="tl">
                    <a:srgbClr val="000000">
                      <a:alpha val="43137"/>
                    </a:srgbClr>
                  </a:outerShdw>
                </a:effectLst>
                <a:latin typeface="方正姚体" pitchFamily="2" charset="-122"/>
                <a:ea typeface="方正姚体" pitchFamily="2" charset="-122"/>
              </a:rPr>
              <a:t>调用结束</a:t>
            </a:r>
          </a:p>
        </p:txBody>
      </p:sp>
      <p:sp>
        <p:nvSpPr>
          <p:cNvPr id="64" name="Text Box 221"/>
          <p:cNvSpPr txBox="1">
            <a:spLocks noChangeArrowheads="1"/>
          </p:cNvSpPr>
          <p:nvPr/>
        </p:nvSpPr>
        <p:spPr bwMode="auto">
          <a:xfrm>
            <a:off x="533400" y="1113317"/>
            <a:ext cx="213895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3200" b="1" dirty="0">
                <a:solidFill>
                  <a:srgbClr val="002060"/>
                </a:solidFill>
                <a:effectLst>
                  <a:outerShdw blurRad="38100" dist="38100" dir="2700000" algn="tl">
                    <a:srgbClr val="000000">
                      <a:alpha val="43137"/>
                    </a:srgbClr>
                  </a:outerShdw>
                </a:effectLst>
                <a:latin typeface="方正姚体" pitchFamily="2" charset="-122"/>
                <a:ea typeface="方正姚体" pitchFamily="2" charset="-122"/>
              </a:rPr>
              <a:t>程序开始</a:t>
            </a:r>
          </a:p>
        </p:txBody>
      </p:sp>
      <p:sp>
        <p:nvSpPr>
          <p:cNvPr id="65" name="Line 222"/>
          <p:cNvSpPr>
            <a:spLocks noChangeShapeType="1"/>
          </p:cNvSpPr>
          <p:nvPr/>
        </p:nvSpPr>
        <p:spPr bwMode="auto">
          <a:xfrm>
            <a:off x="2413914" y="1464578"/>
            <a:ext cx="555625" cy="7937"/>
          </a:xfrm>
          <a:prstGeom prst="line">
            <a:avLst/>
          </a:prstGeom>
          <a:noFill/>
          <a:ln w="28575">
            <a:solidFill>
              <a:srgbClr val="FF0000"/>
            </a:solidFill>
            <a:round/>
            <a:headEnd/>
            <a:tailEnd type="stealth"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a:defRPr/>
            </a:pPr>
            <a:endParaRPr lang="zh-CN" altLang="en-US" sz="3200" b="1">
              <a:effectLst>
                <a:outerShdw blurRad="38100" dist="38100" dir="2700000" algn="tl">
                  <a:srgbClr val="000000">
                    <a:alpha val="43137"/>
                  </a:srgbClr>
                </a:outerShdw>
              </a:effectLst>
              <a:latin typeface="方正姚体" pitchFamily="2" charset="-122"/>
              <a:ea typeface="方正姚体" pitchFamily="2" charset="-122"/>
            </a:endParaRPr>
          </a:p>
        </p:txBody>
      </p:sp>
      <p:sp>
        <p:nvSpPr>
          <p:cNvPr id="60" name="Rectangle 2">
            <a:extLst>
              <a:ext uri="{FF2B5EF4-FFF2-40B4-BE49-F238E27FC236}">
                <a16:creationId xmlns:a16="http://schemas.microsoft.com/office/drawing/2014/main" id="{CCF95582-E0F2-445E-A03A-754EE3B642EA}"/>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动 态 演 示</a:t>
            </a:r>
          </a:p>
        </p:txBody>
      </p:sp>
    </p:spTree>
    <p:extLst>
      <p:ext uri="{BB962C8B-B14F-4D97-AF65-F5344CB8AC3E}">
        <p14:creationId xmlns:p14="http://schemas.microsoft.com/office/powerpoint/2010/main" val="19826329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strips(downLeft)">
                                      <p:cBhvr>
                                        <p:cTn id="7" dur="500"/>
                                        <p:tgtEl>
                                          <p:spTgt spid="64"/>
                                        </p:tgtEl>
                                      </p:cBhvr>
                                    </p:animEffect>
                                  </p:childTnLst>
                                </p:cTn>
                              </p:par>
                              <p:par>
                                <p:cTn id="8" presetID="18" presetClass="entr" presetSubtype="12" fill="hold" nodeType="withEffect">
                                  <p:stCondLst>
                                    <p:cond delay="0"/>
                                  </p:stCondLst>
                                  <p:childTnLst>
                                    <p:set>
                                      <p:cBhvr>
                                        <p:cTn id="9" dur="1" fill="hold">
                                          <p:stCondLst>
                                            <p:cond delay="0"/>
                                          </p:stCondLst>
                                        </p:cTn>
                                        <p:tgtEl>
                                          <p:spTgt spid="65"/>
                                        </p:tgtEl>
                                        <p:attrNameLst>
                                          <p:attrName>style.visibility</p:attrName>
                                        </p:attrNameLst>
                                      </p:cBhvr>
                                      <p:to>
                                        <p:strVal val="visible"/>
                                      </p:to>
                                    </p:set>
                                    <p:animEffect transition="in" filter="strips(downLeft)">
                                      <p:cBhvr>
                                        <p:cTn id="10" dur="500"/>
                                        <p:tgtEl>
                                          <p:spTgt spid="6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0061"/>
                                        </p:tgtEl>
                                        <p:attrNameLst>
                                          <p:attrName>style.visibility</p:attrName>
                                        </p:attrNameLst>
                                      </p:cBhvr>
                                      <p:to>
                                        <p:strVal val="visible"/>
                                      </p:to>
                                    </p:set>
                                  </p:childTnLst>
                                </p:cTn>
                              </p:par>
                            </p:childTnLst>
                          </p:cTn>
                        </p:par>
                        <p:par>
                          <p:cTn id="15" fill="hold" nodeType="afterGroup">
                            <p:stCondLst>
                              <p:cond delay="0"/>
                            </p:stCondLst>
                            <p:childTnLst>
                              <p:par>
                                <p:cTn id="16" presetID="18" presetClass="entr" presetSubtype="6" fill="hold" nodeType="afterEffect">
                                  <p:stCondLst>
                                    <p:cond delay="0"/>
                                  </p:stCondLst>
                                  <p:childTnLst>
                                    <p:set>
                                      <p:cBhvr>
                                        <p:cTn id="17" dur="1" fill="hold">
                                          <p:stCondLst>
                                            <p:cond delay="0"/>
                                          </p:stCondLst>
                                        </p:cTn>
                                        <p:tgtEl>
                                          <p:spTgt spid="1060062"/>
                                        </p:tgtEl>
                                        <p:attrNameLst>
                                          <p:attrName>style.visibility</p:attrName>
                                        </p:attrNameLst>
                                      </p:cBhvr>
                                      <p:to>
                                        <p:strVal val="visible"/>
                                      </p:to>
                                    </p:set>
                                    <p:animEffect transition="in" filter="strips(downRight)">
                                      <p:cBhvr>
                                        <p:cTn id="18" dur="500"/>
                                        <p:tgtEl>
                                          <p:spTgt spid="106006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060063"/>
                                        </p:tgtEl>
                                        <p:attrNameLst>
                                          <p:attrName>style.visibility</p:attrName>
                                        </p:attrNameLst>
                                      </p:cBhvr>
                                      <p:to>
                                        <p:strVal val="visible"/>
                                      </p:to>
                                    </p:set>
                                    <p:animEffect transition="in" filter="box(in)">
                                      <p:cBhvr>
                                        <p:cTn id="23" dur="500"/>
                                        <p:tgtEl>
                                          <p:spTgt spid="1060063"/>
                                        </p:tgtEl>
                                      </p:cBhvr>
                                    </p:animEffect>
                                  </p:childTnLst>
                                </p:cTn>
                              </p:par>
                            </p:childTnLst>
                          </p:cTn>
                        </p:par>
                        <p:par>
                          <p:cTn id="24" fill="hold" nodeType="afterGroup">
                            <p:stCondLst>
                              <p:cond delay="500"/>
                            </p:stCondLst>
                            <p:childTnLst>
                              <p:par>
                                <p:cTn id="25" presetID="18" presetClass="entr" presetSubtype="6" fill="hold" nodeType="afterEffect">
                                  <p:stCondLst>
                                    <p:cond delay="0"/>
                                  </p:stCondLst>
                                  <p:childTnLst>
                                    <p:set>
                                      <p:cBhvr>
                                        <p:cTn id="26" dur="1" fill="hold">
                                          <p:stCondLst>
                                            <p:cond delay="0"/>
                                          </p:stCondLst>
                                        </p:cTn>
                                        <p:tgtEl>
                                          <p:spTgt spid="1060049"/>
                                        </p:tgtEl>
                                        <p:attrNameLst>
                                          <p:attrName>style.visibility</p:attrName>
                                        </p:attrNameLst>
                                      </p:cBhvr>
                                      <p:to>
                                        <p:strVal val="visible"/>
                                      </p:to>
                                    </p:set>
                                    <p:animEffect transition="in" filter="strips(downRight)">
                                      <p:cBhvr>
                                        <p:cTn id="27" dur="500"/>
                                        <p:tgtEl>
                                          <p:spTgt spid="1060049"/>
                                        </p:tgtEl>
                                      </p:cBhvr>
                                    </p:animEffect>
                                  </p:childTnLst>
                                </p:cTn>
                              </p:par>
                            </p:childTnLst>
                          </p:cTn>
                        </p:par>
                        <p:par>
                          <p:cTn id="28" fill="hold" nodeType="afterGroup">
                            <p:stCondLst>
                              <p:cond delay="1000"/>
                            </p:stCondLst>
                            <p:childTnLst>
                              <p:par>
                                <p:cTn id="29" presetID="18" presetClass="entr" presetSubtype="6" fill="hold" nodeType="afterEffect">
                                  <p:stCondLst>
                                    <p:cond delay="0"/>
                                  </p:stCondLst>
                                  <p:childTnLst>
                                    <p:set>
                                      <p:cBhvr>
                                        <p:cTn id="30" dur="1" fill="hold">
                                          <p:stCondLst>
                                            <p:cond delay="0"/>
                                          </p:stCondLst>
                                        </p:cTn>
                                        <p:tgtEl>
                                          <p:spTgt spid="1060050"/>
                                        </p:tgtEl>
                                        <p:attrNameLst>
                                          <p:attrName>style.visibility</p:attrName>
                                        </p:attrNameLst>
                                      </p:cBhvr>
                                      <p:to>
                                        <p:strVal val="visible"/>
                                      </p:to>
                                    </p:set>
                                    <p:animEffect transition="in" filter="strips(downRight)">
                                      <p:cBhvr>
                                        <p:cTn id="31" dur="500"/>
                                        <p:tgtEl>
                                          <p:spTgt spid="1060050"/>
                                        </p:tgtEl>
                                      </p:cBhvr>
                                    </p:animEffect>
                                  </p:childTnLst>
                                </p:cTn>
                              </p:par>
                            </p:childTnLst>
                          </p:cTn>
                        </p:par>
                        <p:par>
                          <p:cTn id="32" fill="hold" nodeType="afterGroup">
                            <p:stCondLst>
                              <p:cond delay="1500"/>
                            </p:stCondLst>
                            <p:childTnLst>
                              <p:par>
                                <p:cTn id="33" presetID="18" presetClass="entr" presetSubtype="3" fill="hold" nodeType="afterEffect">
                                  <p:stCondLst>
                                    <p:cond delay="0"/>
                                  </p:stCondLst>
                                  <p:childTnLst>
                                    <p:set>
                                      <p:cBhvr>
                                        <p:cTn id="34" dur="1" fill="hold">
                                          <p:stCondLst>
                                            <p:cond delay="0"/>
                                          </p:stCondLst>
                                        </p:cTn>
                                        <p:tgtEl>
                                          <p:spTgt spid="1060060"/>
                                        </p:tgtEl>
                                        <p:attrNameLst>
                                          <p:attrName>style.visibility</p:attrName>
                                        </p:attrNameLst>
                                      </p:cBhvr>
                                      <p:to>
                                        <p:strVal val="visible"/>
                                      </p:to>
                                    </p:set>
                                    <p:animEffect transition="in" filter="strips(upRight)">
                                      <p:cBhvr>
                                        <p:cTn id="35" dur="500"/>
                                        <p:tgtEl>
                                          <p:spTgt spid="106006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8" presetClass="entr" presetSubtype="6" fill="hold" nodeType="clickEffect">
                                  <p:stCondLst>
                                    <p:cond delay="0"/>
                                  </p:stCondLst>
                                  <p:childTnLst>
                                    <p:set>
                                      <p:cBhvr>
                                        <p:cTn id="39" dur="1" fill="hold">
                                          <p:stCondLst>
                                            <p:cond delay="0"/>
                                          </p:stCondLst>
                                        </p:cTn>
                                        <p:tgtEl>
                                          <p:spTgt spid="1060064"/>
                                        </p:tgtEl>
                                        <p:attrNameLst>
                                          <p:attrName>style.visibility</p:attrName>
                                        </p:attrNameLst>
                                      </p:cBhvr>
                                      <p:to>
                                        <p:strVal val="visible"/>
                                      </p:to>
                                    </p:set>
                                    <p:animEffect transition="in" filter="strips(downRight)">
                                      <p:cBhvr>
                                        <p:cTn id="40" dur="500"/>
                                        <p:tgtEl>
                                          <p:spTgt spid="1060064"/>
                                        </p:tgtEl>
                                      </p:cBhvr>
                                    </p:animEffect>
                                  </p:childTnLst>
                                </p:cTn>
                              </p:par>
                            </p:childTnLst>
                          </p:cTn>
                        </p:par>
                        <p:par>
                          <p:cTn id="41" fill="hold" nodeType="afterGroup">
                            <p:stCondLst>
                              <p:cond delay="500"/>
                            </p:stCondLst>
                            <p:childTnLst>
                              <p:par>
                                <p:cTn id="42" presetID="4" presetClass="entr" presetSubtype="16" fill="hold" grpId="0" nodeType="afterEffect">
                                  <p:stCondLst>
                                    <p:cond delay="0"/>
                                  </p:stCondLst>
                                  <p:childTnLst>
                                    <p:set>
                                      <p:cBhvr>
                                        <p:cTn id="43" dur="1" fill="hold">
                                          <p:stCondLst>
                                            <p:cond delay="0"/>
                                          </p:stCondLst>
                                        </p:cTn>
                                        <p:tgtEl>
                                          <p:spTgt spid="1060065"/>
                                        </p:tgtEl>
                                        <p:attrNameLst>
                                          <p:attrName>style.visibility</p:attrName>
                                        </p:attrNameLst>
                                      </p:cBhvr>
                                      <p:to>
                                        <p:strVal val="visible"/>
                                      </p:to>
                                    </p:set>
                                    <p:animEffect transition="in" filter="box(in)">
                                      <p:cBhvr>
                                        <p:cTn id="44" dur="500"/>
                                        <p:tgtEl>
                                          <p:spTgt spid="1060065"/>
                                        </p:tgtEl>
                                      </p:cBhvr>
                                    </p:animEffect>
                                  </p:childTnLst>
                                </p:cTn>
                              </p:par>
                            </p:childTnLst>
                          </p:cTn>
                        </p:par>
                        <p:par>
                          <p:cTn id="45" fill="hold" nodeType="afterGroup">
                            <p:stCondLst>
                              <p:cond delay="1000"/>
                            </p:stCondLst>
                            <p:childTnLst>
                              <p:par>
                                <p:cTn id="46" presetID="4" presetClass="entr" presetSubtype="16" fill="hold" grpId="0" nodeType="afterEffect">
                                  <p:stCondLst>
                                    <p:cond delay="0"/>
                                  </p:stCondLst>
                                  <p:childTnLst>
                                    <p:set>
                                      <p:cBhvr>
                                        <p:cTn id="47" dur="1" fill="hold">
                                          <p:stCondLst>
                                            <p:cond delay="0"/>
                                          </p:stCondLst>
                                        </p:cTn>
                                        <p:tgtEl>
                                          <p:spTgt spid="1060066"/>
                                        </p:tgtEl>
                                        <p:attrNameLst>
                                          <p:attrName>style.visibility</p:attrName>
                                        </p:attrNameLst>
                                      </p:cBhvr>
                                      <p:to>
                                        <p:strVal val="visible"/>
                                      </p:to>
                                    </p:set>
                                    <p:animEffect transition="in" filter="box(in)">
                                      <p:cBhvr>
                                        <p:cTn id="48" dur="500"/>
                                        <p:tgtEl>
                                          <p:spTgt spid="1060066"/>
                                        </p:tgtEl>
                                      </p:cBhvr>
                                    </p:animEffect>
                                  </p:childTnLst>
                                </p:cTn>
                              </p:par>
                            </p:childTnLst>
                          </p:cTn>
                        </p:par>
                        <p:par>
                          <p:cTn id="49" fill="hold" nodeType="afterGroup">
                            <p:stCondLst>
                              <p:cond delay="1500"/>
                            </p:stCondLst>
                            <p:childTnLst>
                              <p:par>
                                <p:cTn id="50" presetID="18" presetClass="entr" presetSubtype="12" fill="hold" grpId="0" nodeType="afterEffect">
                                  <p:stCondLst>
                                    <p:cond delay="0"/>
                                  </p:stCondLst>
                                  <p:childTnLst>
                                    <p:set>
                                      <p:cBhvr>
                                        <p:cTn id="51" dur="1" fill="hold">
                                          <p:stCondLst>
                                            <p:cond delay="0"/>
                                          </p:stCondLst>
                                        </p:cTn>
                                        <p:tgtEl>
                                          <p:spTgt spid="1060067"/>
                                        </p:tgtEl>
                                        <p:attrNameLst>
                                          <p:attrName>style.visibility</p:attrName>
                                        </p:attrNameLst>
                                      </p:cBhvr>
                                      <p:to>
                                        <p:strVal val="visible"/>
                                      </p:to>
                                    </p:set>
                                    <p:animEffect transition="in" filter="strips(downLeft)">
                                      <p:cBhvr>
                                        <p:cTn id="52" dur="500"/>
                                        <p:tgtEl>
                                          <p:spTgt spid="1060067"/>
                                        </p:tgtEl>
                                      </p:cBhvr>
                                    </p:animEffect>
                                  </p:childTnLst>
                                </p:cTn>
                              </p:par>
                            </p:childTnLst>
                          </p:cTn>
                        </p:par>
                        <p:par>
                          <p:cTn id="53" fill="hold" nodeType="afterGroup">
                            <p:stCondLst>
                              <p:cond delay="2000"/>
                            </p:stCondLst>
                            <p:childTnLst>
                              <p:par>
                                <p:cTn id="54" presetID="4" presetClass="entr" presetSubtype="16" fill="hold" grpId="0" nodeType="afterEffect">
                                  <p:stCondLst>
                                    <p:cond delay="0"/>
                                  </p:stCondLst>
                                  <p:childTnLst>
                                    <p:set>
                                      <p:cBhvr>
                                        <p:cTn id="55" dur="1" fill="hold">
                                          <p:stCondLst>
                                            <p:cond delay="0"/>
                                          </p:stCondLst>
                                        </p:cTn>
                                        <p:tgtEl>
                                          <p:spTgt spid="1060068"/>
                                        </p:tgtEl>
                                        <p:attrNameLst>
                                          <p:attrName>style.visibility</p:attrName>
                                        </p:attrNameLst>
                                      </p:cBhvr>
                                      <p:to>
                                        <p:strVal val="visible"/>
                                      </p:to>
                                    </p:set>
                                    <p:animEffect transition="in" filter="box(in)">
                                      <p:cBhvr>
                                        <p:cTn id="56" dur="500"/>
                                        <p:tgtEl>
                                          <p:spTgt spid="1060068"/>
                                        </p:tgtEl>
                                      </p:cBhvr>
                                    </p:animEffect>
                                  </p:childTnLst>
                                </p:cTn>
                              </p:par>
                            </p:childTnLst>
                          </p:cTn>
                        </p:par>
                        <p:par>
                          <p:cTn id="57" fill="hold" nodeType="afterGroup">
                            <p:stCondLst>
                              <p:cond delay="2500"/>
                            </p:stCondLst>
                            <p:childTnLst>
                              <p:par>
                                <p:cTn id="58" presetID="4" presetClass="entr" presetSubtype="16" fill="hold" grpId="0" nodeType="afterEffect">
                                  <p:stCondLst>
                                    <p:cond delay="0"/>
                                  </p:stCondLst>
                                  <p:childTnLst>
                                    <p:set>
                                      <p:cBhvr>
                                        <p:cTn id="59" dur="1" fill="hold">
                                          <p:stCondLst>
                                            <p:cond delay="0"/>
                                          </p:stCondLst>
                                        </p:cTn>
                                        <p:tgtEl>
                                          <p:spTgt spid="1060069"/>
                                        </p:tgtEl>
                                        <p:attrNameLst>
                                          <p:attrName>style.visibility</p:attrName>
                                        </p:attrNameLst>
                                      </p:cBhvr>
                                      <p:to>
                                        <p:strVal val="visible"/>
                                      </p:to>
                                    </p:set>
                                    <p:animEffect transition="in" filter="box(in)">
                                      <p:cBhvr>
                                        <p:cTn id="60" dur="500"/>
                                        <p:tgtEl>
                                          <p:spTgt spid="1060069"/>
                                        </p:tgtEl>
                                      </p:cBhvr>
                                    </p:animEffect>
                                  </p:childTnLst>
                                </p:cTn>
                              </p:par>
                            </p:childTnLst>
                          </p:cTn>
                        </p:par>
                        <p:par>
                          <p:cTn id="61" fill="hold" nodeType="afterGroup">
                            <p:stCondLst>
                              <p:cond delay="3000"/>
                            </p:stCondLst>
                            <p:childTnLst>
                              <p:par>
                                <p:cTn id="62" presetID="4" presetClass="entr" presetSubtype="16" fill="hold" grpId="0" nodeType="afterEffect">
                                  <p:stCondLst>
                                    <p:cond delay="0"/>
                                  </p:stCondLst>
                                  <p:childTnLst>
                                    <p:set>
                                      <p:cBhvr>
                                        <p:cTn id="63" dur="1" fill="hold">
                                          <p:stCondLst>
                                            <p:cond delay="0"/>
                                          </p:stCondLst>
                                        </p:cTn>
                                        <p:tgtEl>
                                          <p:spTgt spid="1060070"/>
                                        </p:tgtEl>
                                        <p:attrNameLst>
                                          <p:attrName>style.visibility</p:attrName>
                                        </p:attrNameLst>
                                      </p:cBhvr>
                                      <p:to>
                                        <p:strVal val="visible"/>
                                      </p:to>
                                    </p:set>
                                    <p:animEffect transition="in" filter="box(in)">
                                      <p:cBhvr>
                                        <p:cTn id="64" dur="500"/>
                                        <p:tgtEl>
                                          <p:spTgt spid="1060070"/>
                                        </p:tgtEl>
                                      </p:cBhvr>
                                    </p:animEffect>
                                  </p:childTnLst>
                                </p:cTn>
                              </p:par>
                            </p:childTnLst>
                          </p:cTn>
                        </p:par>
                        <p:par>
                          <p:cTn id="65" fill="hold" nodeType="afterGroup">
                            <p:stCondLst>
                              <p:cond delay="3500"/>
                            </p:stCondLst>
                            <p:childTnLst>
                              <p:par>
                                <p:cTn id="66" presetID="4" presetClass="entr" presetSubtype="16" fill="hold" grpId="0" nodeType="afterEffect">
                                  <p:stCondLst>
                                    <p:cond delay="0"/>
                                  </p:stCondLst>
                                  <p:childTnLst>
                                    <p:set>
                                      <p:cBhvr>
                                        <p:cTn id="67" dur="1" fill="hold">
                                          <p:stCondLst>
                                            <p:cond delay="0"/>
                                          </p:stCondLst>
                                        </p:cTn>
                                        <p:tgtEl>
                                          <p:spTgt spid="1060071"/>
                                        </p:tgtEl>
                                        <p:attrNameLst>
                                          <p:attrName>style.visibility</p:attrName>
                                        </p:attrNameLst>
                                      </p:cBhvr>
                                      <p:to>
                                        <p:strVal val="visible"/>
                                      </p:to>
                                    </p:set>
                                    <p:animEffect transition="in" filter="box(in)">
                                      <p:cBhvr>
                                        <p:cTn id="68" dur="500"/>
                                        <p:tgtEl>
                                          <p:spTgt spid="1060071"/>
                                        </p:tgtEl>
                                      </p:cBhvr>
                                    </p:animEffect>
                                  </p:childTnLst>
                                </p:cTn>
                              </p:par>
                            </p:childTnLst>
                          </p:cTn>
                        </p:par>
                        <p:par>
                          <p:cTn id="69" fill="hold" nodeType="afterGroup">
                            <p:stCondLst>
                              <p:cond delay="4000"/>
                            </p:stCondLst>
                            <p:childTnLst>
                              <p:par>
                                <p:cTn id="70" presetID="4" presetClass="entr" presetSubtype="16" fill="hold" grpId="0" nodeType="afterEffect">
                                  <p:stCondLst>
                                    <p:cond delay="0"/>
                                  </p:stCondLst>
                                  <p:childTnLst>
                                    <p:set>
                                      <p:cBhvr>
                                        <p:cTn id="71" dur="1" fill="hold">
                                          <p:stCondLst>
                                            <p:cond delay="0"/>
                                          </p:stCondLst>
                                        </p:cTn>
                                        <p:tgtEl>
                                          <p:spTgt spid="1060072"/>
                                        </p:tgtEl>
                                        <p:attrNameLst>
                                          <p:attrName>style.visibility</p:attrName>
                                        </p:attrNameLst>
                                      </p:cBhvr>
                                      <p:to>
                                        <p:strVal val="visible"/>
                                      </p:to>
                                    </p:set>
                                    <p:animEffect transition="in" filter="box(in)">
                                      <p:cBhvr>
                                        <p:cTn id="72" dur="500"/>
                                        <p:tgtEl>
                                          <p:spTgt spid="1060072"/>
                                        </p:tgtEl>
                                      </p:cBhvr>
                                    </p:animEffect>
                                  </p:childTnLst>
                                </p:cTn>
                              </p:par>
                            </p:childTnLst>
                          </p:cTn>
                        </p:par>
                        <p:par>
                          <p:cTn id="73" fill="hold" nodeType="afterGroup">
                            <p:stCondLst>
                              <p:cond delay="4500"/>
                            </p:stCondLst>
                            <p:childTnLst>
                              <p:par>
                                <p:cTn id="74" presetID="4" presetClass="entr" presetSubtype="16" fill="hold" grpId="0" nodeType="afterEffect">
                                  <p:stCondLst>
                                    <p:cond delay="0"/>
                                  </p:stCondLst>
                                  <p:childTnLst>
                                    <p:set>
                                      <p:cBhvr>
                                        <p:cTn id="75" dur="1" fill="hold">
                                          <p:stCondLst>
                                            <p:cond delay="0"/>
                                          </p:stCondLst>
                                        </p:cTn>
                                        <p:tgtEl>
                                          <p:spTgt spid="1060073"/>
                                        </p:tgtEl>
                                        <p:attrNameLst>
                                          <p:attrName>style.visibility</p:attrName>
                                        </p:attrNameLst>
                                      </p:cBhvr>
                                      <p:to>
                                        <p:strVal val="visible"/>
                                      </p:to>
                                    </p:set>
                                    <p:animEffect transition="in" filter="box(in)">
                                      <p:cBhvr>
                                        <p:cTn id="76" dur="500"/>
                                        <p:tgtEl>
                                          <p:spTgt spid="106007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8" presetClass="entr" presetSubtype="6" fill="hold" nodeType="clickEffect">
                                  <p:stCondLst>
                                    <p:cond delay="0"/>
                                  </p:stCondLst>
                                  <p:childTnLst>
                                    <p:set>
                                      <p:cBhvr>
                                        <p:cTn id="80" dur="1" fill="hold">
                                          <p:stCondLst>
                                            <p:cond delay="0"/>
                                          </p:stCondLst>
                                        </p:cTn>
                                        <p:tgtEl>
                                          <p:spTgt spid="1060076"/>
                                        </p:tgtEl>
                                        <p:attrNameLst>
                                          <p:attrName>style.visibility</p:attrName>
                                        </p:attrNameLst>
                                      </p:cBhvr>
                                      <p:to>
                                        <p:strVal val="visible"/>
                                      </p:to>
                                    </p:set>
                                    <p:animEffect transition="in" filter="strips(downRight)">
                                      <p:cBhvr>
                                        <p:cTn id="81" dur="500"/>
                                        <p:tgtEl>
                                          <p:spTgt spid="106007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4" presetClass="entr" presetSubtype="16" fill="hold" grpId="0" nodeType="clickEffect">
                                  <p:stCondLst>
                                    <p:cond delay="0"/>
                                  </p:stCondLst>
                                  <p:childTnLst>
                                    <p:set>
                                      <p:cBhvr>
                                        <p:cTn id="85" dur="1" fill="hold">
                                          <p:stCondLst>
                                            <p:cond delay="0"/>
                                          </p:stCondLst>
                                        </p:cTn>
                                        <p:tgtEl>
                                          <p:spTgt spid="1060077"/>
                                        </p:tgtEl>
                                        <p:attrNameLst>
                                          <p:attrName>style.visibility</p:attrName>
                                        </p:attrNameLst>
                                      </p:cBhvr>
                                      <p:to>
                                        <p:strVal val="visible"/>
                                      </p:to>
                                    </p:set>
                                    <p:animEffect transition="in" filter="box(in)">
                                      <p:cBhvr>
                                        <p:cTn id="86" dur="500"/>
                                        <p:tgtEl>
                                          <p:spTgt spid="1060077"/>
                                        </p:tgtEl>
                                      </p:cBhvr>
                                    </p:animEffect>
                                  </p:childTnLst>
                                </p:cTn>
                              </p:par>
                            </p:childTnLst>
                          </p:cTn>
                        </p:par>
                        <p:par>
                          <p:cTn id="87" fill="hold" nodeType="afterGroup">
                            <p:stCondLst>
                              <p:cond delay="500"/>
                            </p:stCondLst>
                            <p:childTnLst>
                              <p:par>
                                <p:cTn id="88" presetID="18" presetClass="entr" presetSubtype="12" fill="hold" grpId="0" nodeType="afterEffect">
                                  <p:stCondLst>
                                    <p:cond delay="0"/>
                                  </p:stCondLst>
                                  <p:childTnLst>
                                    <p:set>
                                      <p:cBhvr>
                                        <p:cTn id="89" dur="1" fill="hold">
                                          <p:stCondLst>
                                            <p:cond delay="0"/>
                                          </p:stCondLst>
                                        </p:cTn>
                                        <p:tgtEl>
                                          <p:spTgt spid="1060078"/>
                                        </p:tgtEl>
                                        <p:attrNameLst>
                                          <p:attrName>style.visibility</p:attrName>
                                        </p:attrNameLst>
                                      </p:cBhvr>
                                      <p:to>
                                        <p:strVal val="visible"/>
                                      </p:to>
                                    </p:set>
                                    <p:animEffect transition="in" filter="strips(downLeft)">
                                      <p:cBhvr>
                                        <p:cTn id="90" dur="500"/>
                                        <p:tgtEl>
                                          <p:spTgt spid="1060078"/>
                                        </p:tgtEl>
                                      </p:cBhvr>
                                    </p:animEffect>
                                  </p:childTnLst>
                                </p:cTn>
                              </p:par>
                            </p:childTnLst>
                          </p:cTn>
                        </p:par>
                        <p:par>
                          <p:cTn id="91" fill="hold" nodeType="afterGroup">
                            <p:stCondLst>
                              <p:cond delay="1000"/>
                            </p:stCondLst>
                            <p:childTnLst>
                              <p:par>
                                <p:cTn id="92" presetID="4" presetClass="entr" presetSubtype="16" fill="hold" grpId="0" nodeType="afterEffect">
                                  <p:stCondLst>
                                    <p:cond delay="0"/>
                                  </p:stCondLst>
                                  <p:childTnLst>
                                    <p:set>
                                      <p:cBhvr>
                                        <p:cTn id="93" dur="1" fill="hold">
                                          <p:stCondLst>
                                            <p:cond delay="0"/>
                                          </p:stCondLst>
                                        </p:cTn>
                                        <p:tgtEl>
                                          <p:spTgt spid="1060079"/>
                                        </p:tgtEl>
                                        <p:attrNameLst>
                                          <p:attrName>style.visibility</p:attrName>
                                        </p:attrNameLst>
                                      </p:cBhvr>
                                      <p:to>
                                        <p:strVal val="visible"/>
                                      </p:to>
                                    </p:set>
                                    <p:animEffect transition="in" filter="box(in)">
                                      <p:cBhvr>
                                        <p:cTn id="94" dur="500"/>
                                        <p:tgtEl>
                                          <p:spTgt spid="1060079"/>
                                        </p:tgtEl>
                                      </p:cBhvr>
                                    </p:animEffect>
                                  </p:childTnLst>
                                </p:cTn>
                              </p:par>
                            </p:childTnLst>
                          </p:cTn>
                        </p:par>
                        <p:par>
                          <p:cTn id="95" fill="hold" nodeType="afterGroup">
                            <p:stCondLst>
                              <p:cond delay="1500"/>
                            </p:stCondLst>
                            <p:childTnLst>
                              <p:par>
                                <p:cTn id="96" presetID="4" presetClass="entr" presetSubtype="16" fill="hold" grpId="0" nodeType="afterEffect">
                                  <p:stCondLst>
                                    <p:cond delay="0"/>
                                  </p:stCondLst>
                                  <p:childTnLst>
                                    <p:set>
                                      <p:cBhvr>
                                        <p:cTn id="97" dur="1" fill="hold">
                                          <p:stCondLst>
                                            <p:cond delay="0"/>
                                          </p:stCondLst>
                                        </p:cTn>
                                        <p:tgtEl>
                                          <p:spTgt spid="1060080"/>
                                        </p:tgtEl>
                                        <p:attrNameLst>
                                          <p:attrName>style.visibility</p:attrName>
                                        </p:attrNameLst>
                                      </p:cBhvr>
                                      <p:to>
                                        <p:strVal val="visible"/>
                                      </p:to>
                                    </p:set>
                                    <p:animEffect transition="in" filter="box(in)">
                                      <p:cBhvr>
                                        <p:cTn id="98" dur="500"/>
                                        <p:tgtEl>
                                          <p:spTgt spid="1060080"/>
                                        </p:tgtEl>
                                      </p:cBhvr>
                                    </p:animEffect>
                                  </p:childTnLst>
                                </p:cTn>
                              </p:par>
                            </p:childTnLst>
                          </p:cTn>
                        </p:par>
                        <p:par>
                          <p:cTn id="99" fill="hold" nodeType="afterGroup">
                            <p:stCondLst>
                              <p:cond delay="2000"/>
                            </p:stCondLst>
                            <p:childTnLst>
                              <p:par>
                                <p:cTn id="100" presetID="4" presetClass="entr" presetSubtype="16" fill="hold" grpId="0" nodeType="afterEffect">
                                  <p:stCondLst>
                                    <p:cond delay="0"/>
                                  </p:stCondLst>
                                  <p:childTnLst>
                                    <p:set>
                                      <p:cBhvr>
                                        <p:cTn id="101" dur="1" fill="hold">
                                          <p:stCondLst>
                                            <p:cond delay="0"/>
                                          </p:stCondLst>
                                        </p:cTn>
                                        <p:tgtEl>
                                          <p:spTgt spid="1060081"/>
                                        </p:tgtEl>
                                        <p:attrNameLst>
                                          <p:attrName>style.visibility</p:attrName>
                                        </p:attrNameLst>
                                      </p:cBhvr>
                                      <p:to>
                                        <p:strVal val="visible"/>
                                      </p:to>
                                    </p:set>
                                    <p:animEffect transition="in" filter="box(in)">
                                      <p:cBhvr>
                                        <p:cTn id="102" dur="500"/>
                                        <p:tgtEl>
                                          <p:spTgt spid="1060081"/>
                                        </p:tgtEl>
                                      </p:cBhvr>
                                    </p:animEffect>
                                  </p:childTnLst>
                                </p:cTn>
                              </p:par>
                            </p:childTnLst>
                          </p:cTn>
                        </p:par>
                        <p:par>
                          <p:cTn id="103" fill="hold" nodeType="afterGroup">
                            <p:stCondLst>
                              <p:cond delay="2500"/>
                            </p:stCondLst>
                            <p:childTnLst>
                              <p:par>
                                <p:cTn id="104" presetID="4" presetClass="entr" presetSubtype="16" fill="hold" grpId="0" nodeType="afterEffect">
                                  <p:stCondLst>
                                    <p:cond delay="0"/>
                                  </p:stCondLst>
                                  <p:childTnLst>
                                    <p:set>
                                      <p:cBhvr>
                                        <p:cTn id="105" dur="1" fill="hold">
                                          <p:stCondLst>
                                            <p:cond delay="0"/>
                                          </p:stCondLst>
                                        </p:cTn>
                                        <p:tgtEl>
                                          <p:spTgt spid="1060082"/>
                                        </p:tgtEl>
                                        <p:attrNameLst>
                                          <p:attrName>style.visibility</p:attrName>
                                        </p:attrNameLst>
                                      </p:cBhvr>
                                      <p:to>
                                        <p:strVal val="visible"/>
                                      </p:to>
                                    </p:set>
                                    <p:animEffect transition="in" filter="box(in)">
                                      <p:cBhvr>
                                        <p:cTn id="106" dur="500"/>
                                        <p:tgtEl>
                                          <p:spTgt spid="1060082"/>
                                        </p:tgtEl>
                                      </p:cBhvr>
                                    </p:animEffect>
                                  </p:childTnLst>
                                </p:cTn>
                              </p:par>
                            </p:childTnLst>
                          </p:cTn>
                        </p:par>
                        <p:par>
                          <p:cTn id="107" fill="hold" nodeType="afterGroup">
                            <p:stCondLst>
                              <p:cond delay="3000"/>
                            </p:stCondLst>
                            <p:childTnLst>
                              <p:par>
                                <p:cTn id="108" presetID="4" presetClass="entr" presetSubtype="16" fill="hold" grpId="0" nodeType="afterEffect">
                                  <p:stCondLst>
                                    <p:cond delay="0"/>
                                  </p:stCondLst>
                                  <p:childTnLst>
                                    <p:set>
                                      <p:cBhvr>
                                        <p:cTn id="109" dur="1" fill="hold">
                                          <p:stCondLst>
                                            <p:cond delay="0"/>
                                          </p:stCondLst>
                                        </p:cTn>
                                        <p:tgtEl>
                                          <p:spTgt spid="1060083"/>
                                        </p:tgtEl>
                                        <p:attrNameLst>
                                          <p:attrName>style.visibility</p:attrName>
                                        </p:attrNameLst>
                                      </p:cBhvr>
                                      <p:to>
                                        <p:strVal val="visible"/>
                                      </p:to>
                                    </p:set>
                                    <p:animEffect transition="in" filter="box(in)">
                                      <p:cBhvr>
                                        <p:cTn id="110" dur="500"/>
                                        <p:tgtEl>
                                          <p:spTgt spid="1060083"/>
                                        </p:tgtEl>
                                      </p:cBhvr>
                                    </p:animEffect>
                                  </p:childTnLst>
                                </p:cTn>
                              </p:par>
                            </p:childTnLst>
                          </p:cTn>
                        </p:par>
                        <p:par>
                          <p:cTn id="111" fill="hold" nodeType="afterGroup">
                            <p:stCondLst>
                              <p:cond delay="3500"/>
                            </p:stCondLst>
                            <p:childTnLst>
                              <p:par>
                                <p:cTn id="112" presetID="4" presetClass="entr" presetSubtype="16" fill="hold" grpId="0" nodeType="afterEffect">
                                  <p:stCondLst>
                                    <p:cond delay="0"/>
                                  </p:stCondLst>
                                  <p:childTnLst>
                                    <p:set>
                                      <p:cBhvr>
                                        <p:cTn id="113" dur="1" fill="hold">
                                          <p:stCondLst>
                                            <p:cond delay="0"/>
                                          </p:stCondLst>
                                        </p:cTn>
                                        <p:tgtEl>
                                          <p:spTgt spid="1060084"/>
                                        </p:tgtEl>
                                        <p:attrNameLst>
                                          <p:attrName>style.visibility</p:attrName>
                                        </p:attrNameLst>
                                      </p:cBhvr>
                                      <p:to>
                                        <p:strVal val="visible"/>
                                      </p:to>
                                    </p:set>
                                    <p:animEffect transition="in" filter="box(in)">
                                      <p:cBhvr>
                                        <p:cTn id="114" dur="500"/>
                                        <p:tgtEl>
                                          <p:spTgt spid="1060084"/>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8" presetClass="entr" presetSubtype="6" fill="hold" nodeType="clickEffect">
                                  <p:stCondLst>
                                    <p:cond delay="0"/>
                                  </p:stCondLst>
                                  <p:childTnLst>
                                    <p:set>
                                      <p:cBhvr>
                                        <p:cTn id="118" dur="1" fill="hold">
                                          <p:stCondLst>
                                            <p:cond delay="0"/>
                                          </p:stCondLst>
                                        </p:cTn>
                                        <p:tgtEl>
                                          <p:spTgt spid="1060085"/>
                                        </p:tgtEl>
                                        <p:attrNameLst>
                                          <p:attrName>style.visibility</p:attrName>
                                        </p:attrNameLst>
                                      </p:cBhvr>
                                      <p:to>
                                        <p:strVal val="visible"/>
                                      </p:to>
                                    </p:set>
                                    <p:animEffect transition="in" filter="strips(downRight)">
                                      <p:cBhvr>
                                        <p:cTn id="119" dur="500"/>
                                        <p:tgtEl>
                                          <p:spTgt spid="1060085"/>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8" presetClass="entr" presetSubtype="6" fill="hold" nodeType="clickEffect">
                                  <p:stCondLst>
                                    <p:cond delay="0"/>
                                  </p:stCondLst>
                                  <p:childTnLst>
                                    <p:set>
                                      <p:cBhvr>
                                        <p:cTn id="123" dur="1" fill="hold">
                                          <p:stCondLst>
                                            <p:cond delay="0"/>
                                          </p:stCondLst>
                                        </p:cTn>
                                        <p:tgtEl>
                                          <p:spTgt spid="1060089"/>
                                        </p:tgtEl>
                                        <p:attrNameLst>
                                          <p:attrName>style.visibility</p:attrName>
                                        </p:attrNameLst>
                                      </p:cBhvr>
                                      <p:to>
                                        <p:strVal val="visible"/>
                                      </p:to>
                                    </p:set>
                                    <p:animEffect transition="in" filter="strips(downRight)">
                                      <p:cBhvr>
                                        <p:cTn id="124" dur="500"/>
                                        <p:tgtEl>
                                          <p:spTgt spid="1060089"/>
                                        </p:tgtEl>
                                      </p:cBhvr>
                                    </p:animEffect>
                                  </p:childTnLst>
                                </p:cTn>
                              </p:par>
                            </p:childTnLst>
                          </p:cTn>
                        </p:par>
                        <p:par>
                          <p:cTn id="125" fill="hold" nodeType="afterGroup">
                            <p:stCondLst>
                              <p:cond delay="500"/>
                            </p:stCondLst>
                            <p:childTnLst>
                              <p:par>
                                <p:cTn id="126" presetID="4" presetClass="entr" presetSubtype="16" fill="hold" grpId="0" nodeType="afterEffect">
                                  <p:stCondLst>
                                    <p:cond delay="0"/>
                                  </p:stCondLst>
                                  <p:childTnLst>
                                    <p:set>
                                      <p:cBhvr>
                                        <p:cTn id="127" dur="1" fill="hold">
                                          <p:stCondLst>
                                            <p:cond delay="0"/>
                                          </p:stCondLst>
                                        </p:cTn>
                                        <p:tgtEl>
                                          <p:spTgt spid="1060090"/>
                                        </p:tgtEl>
                                        <p:attrNameLst>
                                          <p:attrName>style.visibility</p:attrName>
                                        </p:attrNameLst>
                                      </p:cBhvr>
                                      <p:to>
                                        <p:strVal val="visible"/>
                                      </p:to>
                                    </p:set>
                                    <p:animEffect transition="in" filter="box(in)">
                                      <p:cBhvr>
                                        <p:cTn id="128" dur="500"/>
                                        <p:tgtEl>
                                          <p:spTgt spid="1060090"/>
                                        </p:tgtEl>
                                      </p:cBhvr>
                                    </p:animEffect>
                                  </p:childTnLst>
                                </p:cTn>
                              </p:par>
                            </p:childTnLst>
                          </p:cTn>
                        </p:par>
                        <p:par>
                          <p:cTn id="129" fill="hold" nodeType="afterGroup">
                            <p:stCondLst>
                              <p:cond delay="1000"/>
                            </p:stCondLst>
                            <p:childTnLst>
                              <p:par>
                                <p:cTn id="130" presetID="4" presetClass="entr" presetSubtype="16" fill="hold" grpId="0" nodeType="afterEffect">
                                  <p:stCondLst>
                                    <p:cond delay="0"/>
                                  </p:stCondLst>
                                  <p:childTnLst>
                                    <p:set>
                                      <p:cBhvr>
                                        <p:cTn id="131" dur="1" fill="hold">
                                          <p:stCondLst>
                                            <p:cond delay="0"/>
                                          </p:stCondLst>
                                        </p:cTn>
                                        <p:tgtEl>
                                          <p:spTgt spid="1060088"/>
                                        </p:tgtEl>
                                        <p:attrNameLst>
                                          <p:attrName>style.visibility</p:attrName>
                                        </p:attrNameLst>
                                      </p:cBhvr>
                                      <p:to>
                                        <p:strVal val="visible"/>
                                      </p:to>
                                    </p:set>
                                    <p:animEffect transition="in" filter="box(in)">
                                      <p:cBhvr>
                                        <p:cTn id="132" dur="500"/>
                                        <p:tgtEl>
                                          <p:spTgt spid="1060088"/>
                                        </p:tgtEl>
                                      </p:cBhvr>
                                    </p:animEffect>
                                  </p:childTnLst>
                                </p:cTn>
                              </p:par>
                            </p:childTnLst>
                          </p:cTn>
                        </p:par>
                        <p:par>
                          <p:cTn id="133" fill="hold" nodeType="afterGroup">
                            <p:stCondLst>
                              <p:cond delay="1500"/>
                            </p:stCondLst>
                            <p:childTnLst>
                              <p:par>
                                <p:cTn id="134" presetID="18" presetClass="entr" presetSubtype="3" fill="hold" nodeType="afterEffect">
                                  <p:stCondLst>
                                    <p:cond delay="0"/>
                                  </p:stCondLst>
                                  <p:childTnLst>
                                    <p:set>
                                      <p:cBhvr>
                                        <p:cTn id="135" dur="1" fill="hold">
                                          <p:stCondLst>
                                            <p:cond delay="0"/>
                                          </p:stCondLst>
                                        </p:cTn>
                                        <p:tgtEl>
                                          <p:spTgt spid="1060093"/>
                                        </p:tgtEl>
                                        <p:attrNameLst>
                                          <p:attrName>style.visibility</p:attrName>
                                        </p:attrNameLst>
                                      </p:cBhvr>
                                      <p:to>
                                        <p:strVal val="visible"/>
                                      </p:to>
                                    </p:set>
                                    <p:animEffect transition="in" filter="strips(upRight)">
                                      <p:cBhvr>
                                        <p:cTn id="136" dur="500"/>
                                        <p:tgtEl>
                                          <p:spTgt spid="1060093"/>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8" presetClass="entr" presetSubtype="6" fill="hold" nodeType="clickEffect">
                                  <p:stCondLst>
                                    <p:cond delay="0"/>
                                  </p:stCondLst>
                                  <p:childTnLst>
                                    <p:set>
                                      <p:cBhvr>
                                        <p:cTn id="140" dur="1" fill="hold">
                                          <p:stCondLst>
                                            <p:cond delay="0"/>
                                          </p:stCondLst>
                                        </p:cTn>
                                        <p:tgtEl>
                                          <p:spTgt spid="1060094"/>
                                        </p:tgtEl>
                                        <p:attrNameLst>
                                          <p:attrName>style.visibility</p:attrName>
                                        </p:attrNameLst>
                                      </p:cBhvr>
                                      <p:to>
                                        <p:strVal val="visible"/>
                                      </p:to>
                                    </p:set>
                                    <p:animEffect transition="in" filter="strips(downRight)">
                                      <p:cBhvr>
                                        <p:cTn id="141" dur="500"/>
                                        <p:tgtEl>
                                          <p:spTgt spid="1060094"/>
                                        </p:tgtEl>
                                      </p:cBhvr>
                                    </p:animEffect>
                                  </p:childTnLst>
                                </p:cTn>
                              </p:par>
                            </p:childTnLst>
                          </p:cTn>
                        </p:par>
                        <p:par>
                          <p:cTn id="142" fill="hold" nodeType="afterGroup">
                            <p:stCondLst>
                              <p:cond delay="500"/>
                            </p:stCondLst>
                            <p:childTnLst>
                              <p:par>
                                <p:cTn id="143" presetID="4" presetClass="entr" presetSubtype="16" fill="hold" grpId="0" nodeType="afterEffect">
                                  <p:stCondLst>
                                    <p:cond delay="0"/>
                                  </p:stCondLst>
                                  <p:childTnLst>
                                    <p:set>
                                      <p:cBhvr>
                                        <p:cTn id="144" dur="1" fill="hold">
                                          <p:stCondLst>
                                            <p:cond delay="0"/>
                                          </p:stCondLst>
                                        </p:cTn>
                                        <p:tgtEl>
                                          <p:spTgt spid="1060095"/>
                                        </p:tgtEl>
                                        <p:attrNameLst>
                                          <p:attrName>style.visibility</p:attrName>
                                        </p:attrNameLst>
                                      </p:cBhvr>
                                      <p:to>
                                        <p:strVal val="visible"/>
                                      </p:to>
                                    </p:set>
                                    <p:animEffect transition="in" filter="box(in)">
                                      <p:cBhvr>
                                        <p:cTn id="145" dur="500"/>
                                        <p:tgtEl>
                                          <p:spTgt spid="1060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0061" grpId="0"/>
      <p:bldP spid="1060063" grpId="0"/>
      <p:bldP spid="1060065" grpId="0"/>
      <p:bldP spid="1060066" grpId="0" animBg="1"/>
      <p:bldP spid="1060067" grpId="0" animBg="1"/>
      <p:bldP spid="1060068" grpId="0"/>
      <p:bldP spid="1060069" grpId="0"/>
      <p:bldP spid="1060070" grpId="0"/>
      <p:bldP spid="1060071" grpId="0"/>
      <p:bldP spid="1060072" grpId="0"/>
      <p:bldP spid="1060073" grpId="0"/>
      <p:bldP spid="1060077" grpId="0" animBg="1"/>
      <p:bldP spid="1060078" grpId="0" animBg="1"/>
      <p:bldP spid="1060079" grpId="0"/>
      <p:bldP spid="1060080" grpId="0"/>
      <p:bldP spid="1060081" grpId="0"/>
      <p:bldP spid="1060082" grpId="0"/>
      <p:bldP spid="1060083" grpId="0"/>
      <p:bldP spid="1060084" grpId="0"/>
      <p:bldP spid="1060088" grpId="0"/>
      <p:bldP spid="1060090" grpId="0"/>
      <p:bldP spid="1060095" grpId="0"/>
      <p:bldP spid="6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5" descr="信纸"/>
          <p:cNvSpPr>
            <a:spLocks noChangeArrowheads="1"/>
          </p:cNvSpPr>
          <p:nvPr/>
        </p:nvSpPr>
        <p:spPr bwMode="auto">
          <a:xfrm>
            <a:off x="1703387" y="943823"/>
            <a:ext cx="8785225" cy="5632311"/>
          </a:xfrm>
          <a:prstGeom prst="rect">
            <a:avLst/>
          </a:prstGeom>
          <a:solidFill>
            <a:srgbClr val="FFFF00"/>
          </a:solidFill>
          <a:ln w="38100">
            <a:solidFill>
              <a:srgbClr val="008000"/>
            </a:solidFill>
            <a:miter lim="800000"/>
            <a:headEnd/>
            <a:tailEnd/>
          </a:ln>
          <a:effectLst>
            <a:outerShdw dist="107763" dir="2700000" algn="ctr" rotWithShape="0">
              <a:schemeClr val="bg2">
                <a:alpha val="50000"/>
              </a:schemeClr>
            </a:outerShdw>
          </a:effectLst>
        </p:spPr>
        <p:txBody>
          <a:bodyPr>
            <a:spAutoFit/>
          </a:bodyPr>
          <a:lstStyle/>
          <a:p>
            <a:pPr marL="457200" indent="-457200">
              <a:defRPr/>
            </a:pPr>
            <a:r>
              <a:rPr lang="en-US" altLang="zh-CN" sz="2400" b="1" dirty="0">
                <a:effectLst>
                  <a:outerShdw blurRad="38100" dist="38100" dir="2700000" algn="tl">
                    <a:srgbClr val="FFFFFF"/>
                  </a:outerShdw>
                </a:effectLst>
                <a:ea typeface="楷体_GB2312" pitchFamily="49" charset="-122"/>
              </a:rPr>
              <a:t>#include &lt;</a:t>
            </a:r>
            <a:r>
              <a:rPr lang="en-US" altLang="zh-CN" sz="2400" b="1" dirty="0" err="1">
                <a:effectLst>
                  <a:outerShdw blurRad="38100" dist="38100" dir="2700000" algn="tl">
                    <a:srgbClr val="FFFFFF"/>
                  </a:outerShdw>
                </a:effectLst>
                <a:ea typeface="楷体_GB2312" pitchFamily="49" charset="-122"/>
              </a:rPr>
              <a:t>stdio.h</a:t>
            </a:r>
            <a:r>
              <a:rPr lang="en-US" altLang="zh-CN" sz="2400" b="1" dirty="0">
                <a:effectLst>
                  <a:outerShdw blurRad="38100" dist="38100" dir="2700000" algn="tl">
                    <a:srgbClr val="FFFFFF"/>
                  </a:outerShdw>
                </a:effectLst>
                <a:ea typeface="楷体_GB2312" pitchFamily="49" charset="-122"/>
              </a:rPr>
              <a:t>&gt;</a:t>
            </a:r>
          </a:p>
          <a:p>
            <a:pPr marL="457200" indent="-457200">
              <a:defRPr/>
            </a:pPr>
            <a:r>
              <a:rPr lang="en-US" altLang="zh-CN" sz="2400" b="1" dirty="0">
                <a:solidFill>
                  <a:srgbClr val="006600"/>
                </a:solidFill>
                <a:ea typeface="楷体_GB2312" pitchFamily="49" charset="-122"/>
              </a:rPr>
              <a:t>void </a:t>
            </a:r>
            <a:r>
              <a:rPr lang="en-US" altLang="zh-CN" sz="2400" b="1" dirty="0" err="1">
                <a:solidFill>
                  <a:srgbClr val="006600"/>
                </a:solidFill>
                <a:ea typeface="楷体_GB2312" pitchFamily="49" charset="-122"/>
              </a:rPr>
              <a:t>mergestr</a:t>
            </a:r>
            <a:r>
              <a:rPr lang="en-US" altLang="zh-CN" sz="2400" b="1" dirty="0">
                <a:solidFill>
                  <a:srgbClr val="006600"/>
                </a:solidFill>
                <a:ea typeface="楷体_GB2312" pitchFamily="49" charset="-122"/>
              </a:rPr>
              <a:t> (char s1[ ], char s2[ ], char s3[ ]);  </a:t>
            </a:r>
          </a:p>
          <a:p>
            <a:pPr marL="457200" indent="-457200">
              <a:defRPr/>
            </a:pPr>
            <a:r>
              <a:rPr lang="en-US" altLang="zh-CN" sz="2400" b="1" dirty="0">
                <a:solidFill>
                  <a:srgbClr val="CC0000"/>
                </a:solidFill>
                <a:effectLst>
                  <a:outerShdw blurRad="38100" dist="38100" dir="2700000" algn="tl">
                    <a:srgbClr val="000000"/>
                  </a:outerShdw>
                </a:effectLst>
                <a:ea typeface="楷体_GB2312" pitchFamily="49" charset="-122"/>
              </a:rPr>
              <a:t>void main ( )</a:t>
            </a:r>
          </a:p>
          <a:p>
            <a:pPr marL="457200" indent="-457200">
              <a:defRPr/>
            </a:pPr>
            <a:r>
              <a:rPr lang="en-US" altLang="zh-CN" sz="2400" b="1" dirty="0">
                <a:effectLst>
                  <a:outerShdw blurRad="38100" dist="38100" dir="2700000" algn="tl">
                    <a:srgbClr val="FFFFFF"/>
                  </a:outerShdw>
                </a:effectLst>
                <a:ea typeface="楷体_GB2312" pitchFamily="49" charset="-122"/>
              </a:rPr>
              <a:t>  {  char str1[ ] = {"Hello "};</a:t>
            </a:r>
          </a:p>
          <a:p>
            <a:pPr marL="457200" indent="-457200">
              <a:defRPr/>
            </a:pPr>
            <a:r>
              <a:rPr lang="en-US" altLang="zh-CN" sz="2400" b="1" dirty="0">
                <a:effectLst>
                  <a:outerShdw blurRad="38100" dist="38100" dir="2700000" algn="tl">
                    <a:srgbClr val="FFFFFF"/>
                  </a:outerShdw>
                </a:effectLst>
                <a:ea typeface="楷体_GB2312" pitchFamily="49" charset="-122"/>
              </a:rPr>
              <a:t>     char str2[ ] = {"china!"};</a:t>
            </a:r>
          </a:p>
          <a:p>
            <a:pPr marL="457200" indent="-457200">
              <a:defRPr/>
            </a:pPr>
            <a:r>
              <a:rPr lang="en-US" altLang="zh-CN" sz="2400" b="1" dirty="0">
                <a:effectLst>
                  <a:outerShdw blurRad="38100" dist="38100" dir="2700000" algn="tl">
                    <a:srgbClr val="FFFFFF"/>
                  </a:outerShdw>
                </a:effectLst>
                <a:ea typeface="楷体_GB2312" pitchFamily="49" charset="-122"/>
              </a:rPr>
              <a:t>     char str3[40];</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mergestr</a:t>
            </a:r>
            <a:r>
              <a:rPr lang="en-US" altLang="zh-CN" sz="2400" b="1" dirty="0">
                <a:effectLst>
                  <a:outerShdw blurRad="38100" dist="38100" dir="2700000" algn="tl">
                    <a:srgbClr val="FFFFFF"/>
                  </a:outerShdw>
                </a:effectLst>
                <a:ea typeface="楷体_GB2312" pitchFamily="49" charset="-122"/>
              </a:rPr>
              <a:t> (str1, str2, str3); </a:t>
            </a:r>
          </a:p>
          <a:p>
            <a:pPr marL="457200" indent="-457200">
              <a:defRPr/>
            </a:pPr>
            <a:r>
              <a:rPr lang="en-US" altLang="zh-CN" sz="2400" b="1" dirty="0">
                <a:effectLst>
                  <a:outerShdw blurRad="38100" dist="38100" dir="2700000" algn="tl">
                    <a:srgbClr val="FFFFFF"/>
                  </a:outerShdw>
                </a:effectLst>
                <a:ea typeface="楷体_GB2312" pitchFamily="49" charset="-122"/>
              </a:rPr>
              <a:t>     </a:t>
            </a:r>
            <a:r>
              <a:rPr lang="en-US" altLang="zh-CN" sz="2400" b="1" dirty="0" err="1">
                <a:effectLst>
                  <a:outerShdw blurRad="38100" dist="38100" dir="2700000" algn="tl">
                    <a:srgbClr val="FFFFFF"/>
                  </a:outerShdw>
                </a:effectLst>
                <a:ea typeface="楷体_GB2312" pitchFamily="49" charset="-122"/>
              </a:rPr>
              <a:t>printf</a:t>
            </a:r>
            <a:r>
              <a:rPr lang="en-US" altLang="zh-CN" sz="2400" b="1" dirty="0">
                <a:effectLst>
                  <a:outerShdw blurRad="38100" dist="38100" dir="2700000" algn="tl">
                    <a:srgbClr val="FFFFFF"/>
                  </a:outerShdw>
                </a:effectLst>
                <a:ea typeface="楷体_GB2312" pitchFamily="49" charset="-122"/>
              </a:rPr>
              <a:t> ("%s\n", str3);     }</a:t>
            </a:r>
          </a:p>
          <a:p>
            <a:pPr marL="457200" indent="-457200">
              <a:defRPr/>
            </a:pPr>
            <a:r>
              <a:rPr lang="en-US" altLang="zh-CN" sz="2400" b="1" dirty="0">
                <a:solidFill>
                  <a:srgbClr val="006600"/>
                </a:solidFill>
                <a:ea typeface="楷体_GB2312" pitchFamily="49" charset="-122"/>
              </a:rPr>
              <a:t>void </a:t>
            </a:r>
            <a:r>
              <a:rPr lang="en-US" altLang="zh-CN" sz="2400" b="1" dirty="0" err="1">
                <a:solidFill>
                  <a:srgbClr val="006600"/>
                </a:solidFill>
                <a:ea typeface="楷体_GB2312" pitchFamily="49" charset="-122"/>
              </a:rPr>
              <a:t>mergestr</a:t>
            </a:r>
            <a:r>
              <a:rPr lang="en-US" altLang="zh-CN" sz="2400" b="1" dirty="0">
                <a:solidFill>
                  <a:srgbClr val="006600"/>
                </a:solidFill>
                <a:ea typeface="楷体_GB2312" pitchFamily="49" charset="-122"/>
              </a:rPr>
              <a:t> (char s1[ ], char s2[ ], char s3[ ]) </a:t>
            </a:r>
          </a:p>
          <a:p>
            <a:pPr marL="457200" indent="-457200">
              <a:defRPr/>
            </a:pPr>
            <a:r>
              <a:rPr lang="en-US" altLang="zh-CN" sz="2400" b="1" dirty="0">
                <a:solidFill>
                  <a:srgbClr val="006600"/>
                </a:solidFill>
                <a:ea typeface="楷体_GB2312" pitchFamily="49" charset="-122"/>
              </a:rPr>
              <a:t>  {   </a:t>
            </a:r>
            <a:r>
              <a:rPr lang="en-US" altLang="zh-CN" sz="2400" b="1" dirty="0" err="1">
                <a:solidFill>
                  <a:srgbClr val="006600"/>
                </a:solidFill>
                <a:ea typeface="楷体_GB2312" pitchFamily="49" charset="-122"/>
              </a:rPr>
              <a:t>int</a:t>
            </a:r>
            <a:r>
              <a:rPr lang="en-US" altLang="zh-CN" sz="2400" b="1" dirty="0">
                <a:solidFill>
                  <a:srgbClr val="006600"/>
                </a:solidFill>
                <a:ea typeface="楷体_GB2312" pitchFamily="49" charset="-122"/>
              </a:rPr>
              <a:t> i, j;</a:t>
            </a:r>
          </a:p>
          <a:p>
            <a:pPr marL="457200" indent="-457200">
              <a:defRPr/>
            </a:pPr>
            <a:r>
              <a:rPr lang="en-US" altLang="zh-CN" sz="2400" b="1" dirty="0">
                <a:solidFill>
                  <a:srgbClr val="006600"/>
                </a:solidFill>
                <a:ea typeface="楷体_GB2312" pitchFamily="49" charset="-122"/>
              </a:rPr>
              <a:t>    for (i = 0; s1[i] != '\0'; i++)  </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将</a:t>
            </a:r>
            <a:r>
              <a:rPr lang="en-US" altLang="zh-CN" sz="2400" b="1" dirty="0">
                <a:solidFill>
                  <a:srgbClr val="000099"/>
                </a:solidFill>
                <a:ea typeface="楷体_GB2312" pitchFamily="49" charset="-122"/>
              </a:rPr>
              <a:t>s1</a:t>
            </a:r>
            <a:r>
              <a:rPr lang="zh-CN" altLang="en-US" sz="2400" b="1" dirty="0">
                <a:solidFill>
                  <a:srgbClr val="000099"/>
                </a:solidFill>
                <a:ea typeface="楷体_GB2312" pitchFamily="49" charset="-122"/>
              </a:rPr>
              <a:t>复制到</a:t>
            </a:r>
            <a:r>
              <a:rPr lang="en-US" altLang="zh-CN" sz="2400" b="1" dirty="0">
                <a:solidFill>
                  <a:srgbClr val="000099"/>
                </a:solidFill>
                <a:ea typeface="楷体_GB2312" pitchFamily="49" charset="-122"/>
              </a:rPr>
              <a:t>s3</a:t>
            </a:r>
            <a:r>
              <a:rPr lang="zh-CN" altLang="en-US" sz="2400" b="1" dirty="0">
                <a:solidFill>
                  <a:srgbClr val="000099"/>
                </a:solidFill>
                <a:ea typeface="楷体_GB2312" pitchFamily="49" charset="-122"/>
              </a:rPr>
              <a:t>中</a:t>
            </a:r>
          </a:p>
          <a:p>
            <a:pPr marL="457200" indent="-457200">
              <a:defRPr/>
            </a:pPr>
            <a:r>
              <a:rPr lang="zh-CN" altLang="en-US" sz="2400" b="1" dirty="0">
                <a:solidFill>
                  <a:srgbClr val="008000"/>
                </a:solidFill>
                <a:effectLst>
                  <a:outerShdw blurRad="38100" dist="38100" dir="2700000" algn="tl">
                    <a:srgbClr val="000000"/>
                  </a:outerShdw>
                </a:effectLst>
                <a:ea typeface="楷体_GB2312" pitchFamily="49" charset="-122"/>
              </a:rPr>
              <a:t>        </a:t>
            </a:r>
            <a:r>
              <a:rPr lang="en-US" altLang="zh-CN" sz="2400" b="1" dirty="0">
                <a:solidFill>
                  <a:srgbClr val="006600"/>
                </a:solidFill>
                <a:ea typeface="楷体_GB2312" pitchFamily="49" charset="-122"/>
              </a:rPr>
              <a:t>s3[i] = s1[i];</a:t>
            </a:r>
          </a:p>
          <a:p>
            <a:pPr marL="457200" indent="-457200">
              <a:defRPr/>
            </a:pPr>
            <a:r>
              <a:rPr lang="en-US" altLang="zh-CN" sz="2400" b="1" dirty="0">
                <a:solidFill>
                  <a:srgbClr val="006600"/>
                </a:solidFill>
                <a:ea typeface="楷体_GB2312" pitchFamily="49" charset="-122"/>
              </a:rPr>
              <a:t>    for (j = 0; s2[j] != '\0'; j++)  </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将</a:t>
            </a:r>
            <a:r>
              <a:rPr lang="en-US" altLang="zh-CN" sz="2400" b="1" dirty="0">
                <a:solidFill>
                  <a:srgbClr val="000099"/>
                </a:solidFill>
                <a:ea typeface="楷体_GB2312" pitchFamily="49" charset="-122"/>
              </a:rPr>
              <a:t>s2</a:t>
            </a:r>
            <a:r>
              <a:rPr lang="zh-CN" altLang="en-US" sz="2400" b="1" dirty="0">
                <a:solidFill>
                  <a:srgbClr val="000099"/>
                </a:solidFill>
                <a:ea typeface="楷体_GB2312" pitchFamily="49" charset="-122"/>
              </a:rPr>
              <a:t>复制到</a:t>
            </a:r>
            <a:r>
              <a:rPr lang="en-US" altLang="zh-CN" sz="2400" b="1" dirty="0">
                <a:solidFill>
                  <a:srgbClr val="000099"/>
                </a:solidFill>
                <a:ea typeface="楷体_GB2312" pitchFamily="49" charset="-122"/>
              </a:rPr>
              <a:t>s3</a:t>
            </a:r>
            <a:r>
              <a:rPr lang="zh-CN" altLang="en-US" sz="2400" b="1" dirty="0">
                <a:solidFill>
                  <a:srgbClr val="000099"/>
                </a:solidFill>
                <a:ea typeface="楷体_GB2312" pitchFamily="49" charset="-122"/>
              </a:rPr>
              <a:t>的后边</a:t>
            </a:r>
          </a:p>
          <a:p>
            <a:pPr marL="457200" indent="-457200">
              <a:defRPr/>
            </a:pPr>
            <a:r>
              <a:rPr lang="zh-CN" altLang="en-US" sz="2400" b="1" dirty="0">
                <a:solidFill>
                  <a:srgbClr val="008000"/>
                </a:solidFill>
                <a:effectLst>
                  <a:outerShdw blurRad="38100" dist="38100" dir="2700000" algn="tl">
                    <a:srgbClr val="000000"/>
                  </a:outerShdw>
                </a:effectLst>
                <a:ea typeface="楷体_GB2312" pitchFamily="49" charset="-122"/>
              </a:rPr>
              <a:t>        </a:t>
            </a:r>
            <a:r>
              <a:rPr lang="en-US" altLang="zh-CN" sz="2400" b="1" dirty="0">
                <a:solidFill>
                  <a:srgbClr val="006600"/>
                </a:solidFill>
                <a:ea typeface="楷体_GB2312" pitchFamily="49" charset="-122"/>
              </a:rPr>
              <a:t>s3[</a:t>
            </a:r>
            <a:r>
              <a:rPr lang="en-US" altLang="zh-CN" sz="2400" b="1" dirty="0" err="1">
                <a:solidFill>
                  <a:srgbClr val="006600"/>
                </a:solidFill>
                <a:ea typeface="楷体_GB2312" pitchFamily="49" charset="-122"/>
              </a:rPr>
              <a:t>i+j</a:t>
            </a:r>
            <a:r>
              <a:rPr lang="en-US" altLang="zh-CN" sz="2400" b="1" dirty="0">
                <a:solidFill>
                  <a:srgbClr val="006600"/>
                </a:solidFill>
                <a:ea typeface="楷体_GB2312" pitchFamily="49" charset="-122"/>
              </a:rPr>
              <a:t>] = s2[j];</a:t>
            </a:r>
          </a:p>
          <a:p>
            <a:pPr marL="457200" indent="-457200">
              <a:defRPr/>
            </a:pPr>
            <a:r>
              <a:rPr lang="en-US" altLang="zh-CN" sz="2400" b="1" dirty="0">
                <a:solidFill>
                  <a:srgbClr val="006600"/>
                </a:solidFill>
                <a:ea typeface="楷体_GB2312" pitchFamily="49" charset="-122"/>
              </a:rPr>
              <a:t>    s3[</a:t>
            </a:r>
            <a:r>
              <a:rPr lang="en-US" altLang="zh-CN" sz="2400" b="1" dirty="0" err="1">
                <a:solidFill>
                  <a:srgbClr val="006600"/>
                </a:solidFill>
                <a:ea typeface="楷体_GB2312" pitchFamily="49" charset="-122"/>
              </a:rPr>
              <a:t>i+j</a:t>
            </a:r>
            <a:r>
              <a:rPr lang="en-US" altLang="zh-CN" sz="2400" b="1" dirty="0">
                <a:solidFill>
                  <a:srgbClr val="006600"/>
                </a:solidFill>
                <a:ea typeface="楷体_GB2312" pitchFamily="49" charset="-122"/>
              </a:rPr>
              <a:t>] = ‘\0’;            </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置字符串结束标志    </a:t>
            </a:r>
            <a:r>
              <a:rPr lang="en-US" altLang="zh-CN" sz="2400" b="1" dirty="0">
                <a:solidFill>
                  <a:srgbClr val="008000"/>
                </a:solidFill>
                <a:effectLst>
                  <a:outerShdw blurRad="38100" dist="38100" dir="2700000" algn="tl">
                    <a:srgbClr val="000000"/>
                  </a:outerShdw>
                </a:effectLst>
                <a:ea typeface="楷体_GB2312" pitchFamily="49" charset="-122"/>
              </a:rPr>
              <a:t>}</a:t>
            </a:r>
          </a:p>
        </p:txBody>
      </p:sp>
      <p:grpSp>
        <p:nvGrpSpPr>
          <p:cNvPr id="3" name="组合 2">
            <a:extLst>
              <a:ext uri="{FF2B5EF4-FFF2-40B4-BE49-F238E27FC236}">
                <a16:creationId xmlns:a16="http://schemas.microsoft.com/office/drawing/2014/main" id="{77FE6051-8DED-4C04-8340-FF8711B96C1E}"/>
              </a:ext>
            </a:extLst>
          </p:cNvPr>
          <p:cNvGrpSpPr/>
          <p:nvPr/>
        </p:nvGrpSpPr>
        <p:grpSpPr>
          <a:xfrm>
            <a:off x="0" y="114299"/>
            <a:ext cx="12192000" cy="932769"/>
            <a:chOff x="0" y="114299"/>
            <a:chExt cx="12192000" cy="932769"/>
          </a:xfrm>
        </p:grpSpPr>
        <p:sp>
          <p:nvSpPr>
            <p:cNvPr id="4" name="矩形 3">
              <a:extLst>
                <a:ext uri="{FF2B5EF4-FFF2-40B4-BE49-F238E27FC236}">
                  <a16:creationId xmlns:a16="http://schemas.microsoft.com/office/drawing/2014/main" id="{582ABB7A-9A18-4E48-BB70-CB612642D48C}"/>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59EF6B5-DD1B-4CFC-B7A0-79F3D9CD8911}"/>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37C6592-F7D3-41B1-8426-7ABAB2C8D87D}"/>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1DDB641-A668-424F-8C9A-A42E69781046}"/>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E18D385B-C17D-4927-8A0E-FE3C5CFE2AB8}"/>
                </a:ext>
              </a:extLst>
            </p:cNvPr>
            <p:cNvPicPr>
              <a:picLocks noChangeAspect="1"/>
            </p:cNvPicPr>
            <p:nvPr/>
          </p:nvPicPr>
          <p:blipFill>
            <a:blip r:embed="rId3"/>
            <a:stretch>
              <a:fillRect/>
            </a:stretch>
          </p:blipFill>
          <p:spPr>
            <a:xfrm>
              <a:off x="4056711" y="114299"/>
              <a:ext cx="4078577" cy="932769"/>
            </a:xfrm>
            <a:prstGeom prst="rect">
              <a:avLst/>
            </a:prstGeom>
          </p:spPr>
        </p:pic>
      </p:grpSp>
      <p:sp>
        <p:nvSpPr>
          <p:cNvPr id="9" name="Rectangle 2">
            <a:extLst>
              <a:ext uri="{FF2B5EF4-FFF2-40B4-BE49-F238E27FC236}">
                <a16:creationId xmlns:a16="http://schemas.microsoft.com/office/drawing/2014/main" id="{CE5B00E5-AB6C-42DA-A915-AB2899DF3FE4}"/>
              </a:ext>
            </a:extLst>
          </p:cNvPr>
          <p:cNvSpPr txBox="1">
            <a:spLocks noChangeArrowheads="1"/>
          </p:cNvSpPr>
          <p:nvPr/>
        </p:nvSpPr>
        <p:spPr>
          <a:xfrm>
            <a:off x="4045779" y="269280"/>
            <a:ext cx="4078577" cy="519112"/>
          </a:xfrm>
          <a:prstGeom prst="rect">
            <a:avLst/>
          </a:prstGeom>
          <a:effectLst/>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Times New Roman" panose="02020603050405020304" pitchFamily="18" charset="0"/>
                <a:ea typeface="+mn-ea"/>
                <a:cs typeface="Times New Roman" panose="02020603050405020304" pitchFamily="18" charset="0"/>
              </a:rPr>
              <a:t>案 例 代 码 实 现</a:t>
            </a:r>
          </a:p>
        </p:txBody>
      </p:sp>
    </p:spTree>
    <p:extLst>
      <p:ext uri="{BB962C8B-B14F-4D97-AF65-F5344CB8AC3E}">
        <p14:creationId xmlns:p14="http://schemas.microsoft.com/office/powerpoint/2010/main" val="41397697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641912" y="0"/>
            <a:ext cx="9816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950759" y="0"/>
            <a:ext cx="9816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259606" y="0"/>
            <a:ext cx="98163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568452" y="0"/>
            <a:ext cx="9816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540000" y="1524000"/>
            <a:ext cx="3719606"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15210" y="1524000"/>
            <a:ext cx="363679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2614925" y="1941094"/>
            <a:ext cx="6962162" cy="1446550"/>
          </a:xfrm>
          <a:prstGeom prst="rect">
            <a:avLst/>
          </a:prstGeom>
          <a:noFill/>
        </p:spPr>
        <p:txBody>
          <a:bodyPr wrap="none" rtlCol="0">
            <a:spAutoFit/>
          </a:bodyPr>
          <a:lstStyle/>
          <a:p>
            <a:pPr algn="ctr"/>
            <a:r>
              <a:rPr lang="en-US" altLang="zh-CN"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rPr>
              <a:t>SECTION 05</a:t>
            </a:r>
            <a:endParaRPr lang="zh-CN" altLang="en-US"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endParaRPr>
          </a:p>
        </p:txBody>
      </p:sp>
      <p:sp>
        <p:nvSpPr>
          <p:cNvPr id="30" name="文本框 29"/>
          <p:cNvSpPr txBox="1"/>
          <p:nvPr/>
        </p:nvSpPr>
        <p:spPr>
          <a:xfrm>
            <a:off x="3233692" y="3310581"/>
            <a:ext cx="5724644" cy="923330"/>
          </a:xfrm>
          <a:prstGeom prst="rect">
            <a:avLst/>
          </a:prstGeom>
          <a:noFill/>
        </p:spPr>
        <p:txBody>
          <a:bodyPr wrap="none" rtlCol="0">
            <a:spAutoFit/>
          </a:bodyPr>
          <a:lstStyle/>
          <a:p>
            <a:pPr algn="ctr"/>
            <a:r>
              <a:rPr lang="zh-CN" altLang="en-US" sz="5400" b="1" dirty="0">
                <a:solidFill>
                  <a:schemeClr val="tx1">
                    <a:lumMod val="65000"/>
                    <a:lumOff val="35000"/>
                  </a:schemeClr>
                </a:solidFill>
                <a:latin typeface="微软雅黑" panose="020B0503020204020204" pitchFamily="34" charset="-122"/>
                <a:ea typeface="微软雅黑" panose="020B0503020204020204" pitchFamily="34" charset="-122"/>
              </a:rPr>
              <a:t>函数的嵌套与递归</a:t>
            </a:r>
          </a:p>
        </p:txBody>
      </p:sp>
      <p:sp>
        <p:nvSpPr>
          <p:cNvPr id="31" name="文本框 30"/>
          <p:cNvSpPr txBox="1"/>
          <p:nvPr/>
        </p:nvSpPr>
        <p:spPr>
          <a:xfrm>
            <a:off x="3154300" y="4233911"/>
            <a:ext cx="5883399" cy="408125"/>
          </a:xfrm>
          <a:prstGeom prst="rect">
            <a:avLst/>
          </a:prstGeom>
          <a:noFill/>
        </p:spPr>
        <p:txBody>
          <a:bodyPr wrap="square" rtlCol="0">
            <a:spAutoFit/>
          </a:bodyPr>
          <a:lstStyle/>
          <a:p>
            <a:pPr algn="dist">
              <a:lnSpc>
                <a:spcPct val="114000"/>
              </a:lnSpc>
            </a:pPr>
            <a:r>
              <a:rPr lang="en-US" altLang="zh-CN" dirty="0"/>
              <a:t>NESTING AND RECURSION OF FUNCTIONS</a:t>
            </a:r>
            <a:endParaRPr lang="en-US" altLang="zh-CN" sz="1600" dirty="0">
              <a:solidFill>
                <a:schemeClr val="bg1">
                  <a:lumMod val="65000"/>
                </a:schemeClr>
              </a:solidFill>
              <a:ea typeface="汉仪趣黑W" panose="00020600040101010101" pitchFamily="18" charset="-122"/>
            </a:endParaRPr>
          </a:p>
        </p:txBody>
      </p:sp>
    </p:spTree>
    <p:extLst>
      <p:ext uri="{BB962C8B-B14F-4D97-AF65-F5344CB8AC3E}">
        <p14:creationId xmlns:p14="http://schemas.microsoft.com/office/powerpoint/2010/main" val="3055654856"/>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750" fill="hold"/>
                                        <p:tgtEl>
                                          <p:spTgt spid="25"/>
                                        </p:tgtEl>
                                        <p:attrNameLst>
                                          <p:attrName>ppt_x</p:attrName>
                                        </p:attrNameLst>
                                      </p:cBhvr>
                                      <p:tavLst>
                                        <p:tav tm="0">
                                          <p:val>
                                            <p:strVal val="#ppt_x"/>
                                          </p:val>
                                        </p:tav>
                                        <p:tav tm="100000">
                                          <p:val>
                                            <p:strVal val="#ppt_x"/>
                                          </p:val>
                                        </p:tav>
                                      </p:tavLst>
                                    </p:anim>
                                    <p:anim calcmode="lin" valueType="num">
                                      <p:cBhvr additive="base">
                                        <p:cTn id="12" dur="75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2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750" fill="hold"/>
                                        <p:tgtEl>
                                          <p:spTgt spid="26"/>
                                        </p:tgtEl>
                                        <p:attrNameLst>
                                          <p:attrName>ppt_x</p:attrName>
                                        </p:attrNameLst>
                                      </p:cBhvr>
                                      <p:tavLst>
                                        <p:tav tm="0">
                                          <p:val>
                                            <p:strVal val="#ppt_x"/>
                                          </p:val>
                                        </p:tav>
                                        <p:tav tm="100000">
                                          <p:val>
                                            <p:strVal val="#ppt_x"/>
                                          </p:val>
                                        </p:tav>
                                      </p:tavLst>
                                    </p:anim>
                                    <p:anim calcmode="lin" valueType="num">
                                      <p:cBhvr additive="base">
                                        <p:cTn id="16" dur="75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750" fill="hold"/>
                                        <p:tgtEl>
                                          <p:spTgt spid="27"/>
                                        </p:tgtEl>
                                        <p:attrNameLst>
                                          <p:attrName>ppt_x</p:attrName>
                                        </p:attrNameLst>
                                      </p:cBhvr>
                                      <p:tavLst>
                                        <p:tav tm="0">
                                          <p:val>
                                            <p:strVal val="#ppt_x"/>
                                          </p:val>
                                        </p:tav>
                                        <p:tav tm="100000">
                                          <p:val>
                                            <p:strVal val="#ppt_x"/>
                                          </p:val>
                                        </p:tav>
                                      </p:tavLst>
                                    </p:anim>
                                    <p:anim calcmode="lin" valueType="num">
                                      <p:cBhvr additive="base">
                                        <p:cTn id="20" dur="750" fill="hold"/>
                                        <p:tgtEl>
                                          <p:spTgt spid="27"/>
                                        </p:tgtEl>
                                        <p:attrNameLst>
                                          <p:attrName>ppt_y</p:attrName>
                                        </p:attrNameLst>
                                      </p:cBhvr>
                                      <p:tavLst>
                                        <p:tav tm="0">
                                          <p:val>
                                            <p:strVal val="1+#ppt_h/2"/>
                                          </p:val>
                                        </p:tav>
                                        <p:tav tm="100000">
                                          <p:val>
                                            <p:strVal val="#ppt_y"/>
                                          </p:val>
                                        </p:tav>
                                      </p:tavLst>
                                    </p:anim>
                                  </p:childTnLst>
                                </p:cTn>
                              </p:par>
                            </p:childTnLst>
                          </p:cTn>
                        </p:par>
                        <p:par>
                          <p:cTn id="21" fill="hold">
                            <p:stCondLst>
                              <p:cond delay="1050"/>
                            </p:stCondLst>
                            <p:childTnLst>
                              <p:par>
                                <p:cTn id="22" presetID="2" presetClass="entr" presetSubtype="8"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additive="base">
                                        <p:cTn id="24" dur="1250" fill="hold"/>
                                        <p:tgtEl>
                                          <p:spTgt spid="28"/>
                                        </p:tgtEl>
                                        <p:attrNameLst>
                                          <p:attrName>ppt_x</p:attrName>
                                        </p:attrNameLst>
                                      </p:cBhvr>
                                      <p:tavLst>
                                        <p:tav tm="0">
                                          <p:val>
                                            <p:strVal val="0-#ppt_w/2"/>
                                          </p:val>
                                        </p:tav>
                                        <p:tav tm="100000">
                                          <p:val>
                                            <p:strVal val="#ppt_x"/>
                                          </p:val>
                                        </p:tav>
                                      </p:tavLst>
                                    </p:anim>
                                    <p:anim calcmode="lin" valueType="num">
                                      <p:cBhvr additive="base">
                                        <p:cTn id="25" dur="1250" fill="hold"/>
                                        <p:tgtEl>
                                          <p:spTgt spid="2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1250" fill="hold"/>
                                        <p:tgtEl>
                                          <p:spTgt spid="32"/>
                                        </p:tgtEl>
                                        <p:attrNameLst>
                                          <p:attrName>ppt_x</p:attrName>
                                        </p:attrNameLst>
                                      </p:cBhvr>
                                      <p:tavLst>
                                        <p:tav tm="0">
                                          <p:val>
                                            <p:strVal val="1+#ppt_w/2"/>
                                          </p:val>
                                        </p:tav>
                                        <p:tav tm="100000">
                                          <p:val>
                                            <p:strVal val="#ppt_x"/>
                                          </p:val>
                                        </p:tav>
                                      </p:tavLst>
                                    </p:anim>
                                    <p:anim calcmode="lin" valueType="num">
                                      <p:cBhvr additive="base">
                                        <p:cTn id="29" dur="1250" fill="hold"/>
                                        <p:tgtEl>
                                          <p:spTgt spid="32"/>
                                        </p:tgtEl>
                                        <p:attrNameLst>
                                          <p:attrName>ppt_y</p:attrName>
                                        </p:attrNameLst>
                                      </p:cBhvr>
                                      <p:tavLst>
                                        <p:tav tm="0">
                                          <p:val>
                                            <p:strVal val="#ppt_y"/>
                                          </p:val>
                                        </p:tav>
                                        <p:tav tm="100000">
                                          <p:val>
                                            <p:strVal val="#ppt_y"/>
                                          </p:val>
                                        </p:tav>
                                      </p:tavLst>
                                    </p:anim>
                                  </p:childTnLst>
                                </p:cTn>
                              </p:par>
                            </p:childTnLst>
                          </p:cTn>
                        </p:par>
                        <p:par>
                          <p:cTn id="30" fill="hold">
                            <p:stCondLst>
                              <p:cond delay="2300"/>
                            </p:stCondLst>
                            <p:childTnLst>
                              <p:par>
                                <p:cTn id="31" presetID="53" presetClass="entr" presetSubtype="52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Effect transition="in" filter="fade">
                                      <p:cBhvr>
                                        <p:cTn id="35" dur="500"/>
                                        <p:tgtEl>
                                          <p:spTgt spid="29"/>
                                        </p:tgtEl>
                                      </p:cBhvr>
                                    </p:animEffect>
                                    <p:anim calcmode="lin" valueType="num">
                                      <p:cBhvr>
                                        <p:cTn id="36" dur="500" fill="hold"/>
                                        <p:tgtEl>
                                          <p:spTgt spid="29"/>
                                        </p:tgtEl>
                                        <p:attrNameLst>
                                          <p:attrName>ppt_x</p:attrName>
                                        </p:attrNameLst>
                                      </p:cBhvr>
                                      <p:tavLst>
                                        <p:tav tm="0">
                                          <p:val>
                                            <p:fltVal val="0.5"/>
                                          </p:val>
                                        </p:tav>
                                        <p:tav tm="100000">
                                          <p:val>
                                            <p:strVal val="#ppt_x"/>
                                          </p:val>
                                        </p:tav>
                                      </p:tavLst>
                                    </p:anim>
                                    <p:anim calcmode="lin" valueType="num">
                                      <p:cBhvr>
                                        <p:cTn id="37" dur="500" fill="hold"/>
                                        <p:tgtEl>
                                          <p:spTgt spid="29"/>
                                        </p:tgtEl>
                                        <p:attrNameLst>
                                          <p:attrName>ppt_y</p:attrName>
                                        </p:attrNameLst>
                                      </p:cBhvr>
                                      <p:tavLst>
                                        <p:tav tm="0">
                                          <p:val>
                                            <p:fltVal val="0.5"/>
                                          </p:val>
                                        </p:tav>
                                        <p:tav tm="100000">
                                          <p:val>
                                            <p:strVal val="#ppt_y"/>
                                          </p:val>
                                        </p:tav>
                                      </p:tavLst>
                                    </p:anim>
                                  </p:childTnLst>
                                </p:cTn>
                              </p:par>
                            </p:childTnLst>
                          </p:cTn>
                        </p:par>
                        <p:par>
                          <p:cTn id="38" fill="hold">
                            <p:stCondLst>
                              <p:cond delay="2800"/>
                            </p:stCondLst>
                            <p:childTnLst>
                              <p:par>
                                <p:cTn id="39" presetID="53" presetClass="entr" presetSubtype="528" fill="hold" grpId="0" nodeType="afterEffect">
                                  <p:stCondLst>
                                    <p:cond delay="0"/>
                                  </p:stCondLst>
                                  <p:iterate type="lt">
                                    <p:tmPct val="10000"/>
                                  </p:iterate>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anim calcmode="lin" valueType="num">
                                      <p:cBhvr>
                                        <p:cTn id="44" dur="500" fill="hold"/>
                                        <p:tgtEl>
                                          <p:spTgt spid="30"/>
                                        </p:tgtEl>
                                        <p:attrNameLst>
                                          <p:attrName>ppt_x</p:attrName>
                                        </p:attrNameLst>
                                      </p:cBhvr>
                                      <p:tavLst>
                                        <p:tav tm="0">
                                          <p:val>
                                            <p:fltVal val="0.5"/>
                                          </p:val>
                                        </p:tav>
                                        <p:tav tm="100000">
                                          <p:val>
                                            <p:strVal val="#ppt_x"/>
                                          </p:val>
                                        </p:tav>
                                      </p:tavLst>
                                    </p:anim>
                                    <p:anim calcmode="lin" valueType="num">
                                      <p:cBhvr>
                                        <p:cTn id="45" dur="500" fill="hold"/>
                                        <p:tgtEl>
                                          <p:spTgt spid="30"/>
                                        </p:tgtEl>
                                        <p:attrNameLst>
                                          <p:attrName>ppt_y</p:attrName>
                                        </p:attrNameLst>
                                      </p:cBhvr>
                                      <p:tavLst>
                                        <p:tav tm="0">
                                          <p:val>
                                            <p:fltVal val="0.5"/>
                                          </p:val>
                                        </p:tav>
                                        <p:tav tm="100000">
                                          <p:val>
                                            <p:strVal val="#ppt_y"/>
                                          </p:val>
                                        </p:tav>
                                      </p:tavLst>
                                    </p:anim>
                                  </p:childTnLst>
                                </p:cTn>
                              </p:par>
                            </p:childTnLst>
                          </p:cTn>
                        </p:par>
                        <p:par>
                          <p:cTn id="46" fill="hold">
                            <p:stCondLst>
                              <p:cond delay="3650"/>
                            </p:stCondLst>
                            <p:childTnLst>
                              <p:par>
                                <p:cTn id="47" presetID="14" presetClass="entr" presetSubtype="10" fill="hold" grpId="0"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randombar(horizontal)">
                                      <p:cBhvr>
                                        <p:cTn id="4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32" grpId="0" animBg="1"/>
      <p:bldP spid="29" grpId="0"/>
      <p:bldP spid="30" grpId="0"/>
      <p:bldP spid="3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540674" name="Rectangle 2"/>
          <p:cNvSpPr>
            <a:spLocks noChangeArrowheads="1"/>
          </p:cNvSpPr>
          <p:nvPr/>
        </p:nvSpPr>
        <p:spPr bwMode="auto">
          <a:xfrm>
            <a:off x="1231566" y="1325563"/>
            <a:ext cx="9900721" cy="28984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2">
              <a:lnSpc>
                <a:spcPct val="200000"/>
              </a:lnSpc>
              <a:buClr>
                <a:schemeClr val="accent1"/>
              </a:buClr>
            </a:pPr>
            <a:r>
              <a:rPr lang="zh-CN" altLang="en-US" sz="3200" b="1" dirty="0">
                <a:solidFill>
                  <a:srgbClr val="C00000"/>
                </a:solidFill>
                <a:latin typeface="+mn-ea"/>
              </a:rPr>
              <a:t>函数的嵌套调用：</a:t>
            </a:r>
            <a:r>
              <a:rPr lang="en-US" altLang="zh-CN" sz="3200" b="1" dirty="0">
                <a:latin typeface="+mn-ea"/>
              </a:rPr>
              <a:t>C</a:t>
            </a:r>
            <a:r>
              <a:rPr lang="zh-CN" altLang="en-US" sz="3200" b="1" dirty="0">
                <a:latin typeface="+mn-ea"/>
              </a:rPr>
              <a:t>语言不能嵌套定义函数，但可以嵌套调用函数，即函数在调用一个函数的过程中，又调用另一个函数 。            </a:t>
            </a:r>
          </a:p>
        </p:txBody>
      </p:sp>
      <p:pic>
        <p:nvPicPr>
          <p:cNvPr id="6" name="图片 5">
            <a:extLst>
              <a:ext uri="{FF2B5EF4-FFF2-40B4-BE49-F238E27FC236}">
                <a16:creationId xmlns:a16="http://schemas.microsoft.com/office/drawing/2014/main" id="{D5D22F43-8D45-470D-A1D7-C24F0DE020FC}"/>
              </a:ext>
            </a:extLst>
          </p:cNvPr>
          <p:cNvPicPr>
            <a:picLocks noChangeAspect="1"/>
          </p:cNvPicPr>
          <p:nvPr/>
        </p:nvPicPr>
        <p:blipFill>
          <a:blip r:embed="rId3"/>
          <a:stretch>
            <a:fillRect/>
          </a:stretch>
        </p:blipFill>
        <p:spPr>
          <a:xfrm>
            <a:off x="4056711" y="114299"/>
            <a:ext cx="4078577" cy="932769"/>
          </a:xfrm>
          <a:prstGeom prst="rect">
            <a:avLst/>
          </a:prstGeom>
        </p:spPr>
      </p:pic>
      <p:sp>
        <p:nvSpPr>
          <p:cNvPr id="3" name="矩形 2"/>
          <p:cNvSpPr/>
          <p:nvPr/>
        </p:nvSpPr>
        <p:spPr>
          <a:xfrm>
            <a:off x="4684034" y="264282"/>
            <a:ext cx="2697643" cy="547738"/>
          </a:xfrm>
          <a:prstGeom prst="rect">
            <a:avLst/>
          </a:prstGeom>
          <a:effectLst/>
        </p:spPr>
        <p:txBody>
          <a:bodyPr vert="horz" lIns="91440" tIns="45720" rIns="91440" bIns="45720" rtlCol="0" anchor="ctr">
            <a:noAutofit/>
          </a:bodyPr>
          <a:lstStyle/>
          <a:p>
            <a:pPr algn="ctr">
              <a:spcBef>
                <a:spcPct val="0"/>
              </a:spcBef>
            </a:pPr>
            <a:r>
              <a:rPr lang="zh-CN" altLang="en-US" sz="3600" b="1" dirty="0">
                <a:solidFill>
                  <a:srgbClr val="800000"/>
                </a:solidFill>
                <a:latin typeface="微软雅黑" panose="020B0503020204020204" pitchFamily="34" charset="-122"/>
                <a:ea typeface="微软雅黑" panose="020B0503020204020204" pitchFamily="34" charset="-122"/>
                <a:cs typeface="+mj-cs"/>
              </a:rPr>
              <a:t>嵌套的概念</a:t>
            </a:r>
            <a:endParaRPr lang="zh-CN" altLang="zh-CN" sz="3600" b="1" dirty="0">
              <a:solidFill>
                <a:srgbClr val="800000"/>
              </a:solidFill>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2090795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0674">
                                            <p:txEl>
                                              <p:pRg st="0" end="0"/>
                                            </p:txEl>
                                          </p:spTgt>
                                        </p:tgtEl>
                                        <p:attrNameLst>
                                          <p:attrName>style.visibility</p:attrName>
                                        </p:attrNameLst>
                                      </p:cBhvr>
                                      <p:to>
                                        <p:strVal val="visible"/>
                                      </p:to>
                                    </p:set>
                                    <p:animEffect transition="in" filter="wipe(left)">
                                      <p:cBhvr>
                                        <p:cTn id="7" dur="500"/>
                                        <p:tgtEl>
                                          <p:spTgt spid="54067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4"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C11FED2-243B-4820-8020-8D2AF59CC458}"/>
              </a:ext>
            </a:extLst>
          </p:cNvPr>
          <p:cNvPicPr>
            <a:picLocks noChangeAspect="1"/>
          </p:cNvPicPr>
          <p:nvPr/>
        </p:nvPicPr>
        <p:blipFill>
          <a:blip r:embed="rId2"/>
          <a:stretch>
            <a:fillRect/>
          </a:stretch>
        </p:blipFill>
        <p:spPr>
          <a:xfrm>
            <a:off x="3717160" y="114299"/>
            <a:ext cx="4757680" cy="932769"/>
          </a:xfrm>
          <a:prstGeom prst="rect">
            <a:avLst/>
          </a:prstGeom>
        </p:spPr>
      </p:pic>
      <p:sp>
        <p:nvSpPr>
          <p:cNvPr id="3" name="Rectangle 2">
            <a:extLst>
              <a:ext uri="{FF2B5EF4-FFF2-40B4-BE49-F238E27FC236}">
                <a16:creationId xmlns:a16="http://schemas.microsoft.com/office/drawing/2014/main" id="{1A347488-D5DF-4725-8688-77F0460FBA05}"/>
              </a:ext>
            </a:extLst>
          </p:cNvPr>
          <p:cNvSpPr>
            <a:spLocks noChangeArrowheads="1"/>
          </p:cNvSpPr>
          <p:nvPr/>
        </p:nvSpPr>
        <p:spPr bwMode="auto">
          <a:xfrm>
            <a:off x="4148076" y="138754"/>
            <a:ext cx="3912781"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200" b="1" dirty="0">
                <a:solidFill>
                  <a:srgbClr val="800000"/>
                </a:solidFill>
                <a:latin typeface="微软雅黑" panose="020B0503020204020204" pitchFamily="34" charset="-122"/>
                <a:ea typeface="微软雅黑" panose="020B0503020204020204" pitchFamily="34" charset="-122"/>
                <a:cs typeface="+mj-cs"/>
              </a:rPr>
              <a:t>嵌套函数初体验</a:t>
            </a:r>
          </a:p>
        </p:txBody>
      </p:sp>
      <p:sp>
        <p:nvSpPr>
          <p:cNvPr id="4" name="Text Box 2">
            <a:extLst>
              <a:ext uri="{FF2B5EF4-FFF2-40B4-BE49-F238E27FC236}">
                <a16:creationId xmlns:a16="http://schemas.microsoft.com/office/drawing/2014/main" id="{867479B6-B008-4771-9F11-CF27FAFF2610}"/>
              </a:ext>
            </a:extLst>
          </p:cNvPr>
          <p:cNvSpPr txBox="1">
            <a:spLocks noChangeArrowheads="1"/>
          </p:cNvSpPr>
          <p:nvPr/>
        </p:nvSpPr>
        <p:spPr bwMode="auto">
          <a:xfrm>
            <a:off x="539749" y="855589"/>
            <a:ext cx="1140061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zh-CN" altLang="en-US" sz="2800" dirty="0">
                <a:solidFill>
                  <a:srgbClr val="C00000"/>
                </a:solidFill>
                <a:effectLst>
                  <a:outerShdw blurRad="38100" dist="38100" dir="2700000" algn="tl">
                    <a:srgbClr val="000000">
                      <a:alpha val="43137"/>
                    </a:srgbClr>
                  </a:outerShdw>
                </a:effectLst>
                <a:latin typeface="+mn-ea"/>
                <a:ea typeface="+mn-ea"/>
              </a:rPr>
              <a:t>问题描述：</a:t>
            </a:r>
            <a:r>
              <a:rPr lang="zh-CN" altLang="en-US" sz="2800" dirty="0">
                <a:latin typeface="+mn-ea"/>
                <a:ea typeface="+mn-ea"/>
              </a:rPr>
              <a:t>已知坐标平面上有</a:t>
            </a:r>
            <a:r>
              <a:rPr lang="en-US" altLang="zh-CN" sz="2800" dirty="0">
                <a:latin typeface="+mn-ea"/>
                <a:ea typeface="+mn-ea"/>
              </a:rPr>
              <a:t>2</a:t>
            </a:r>
            <a:r>
              <a:rPr lang="zh-CN" altLang="en-US" sz="2800" dirty="0">
                <a:latin typeface="+mn-ea"/>
                <a:ea typeface="+mn-ea"/>
              </a:rPr>
              <a:t>个点（</a:t>
            </a:r>
            <a:r>
              <a:rPr lang="en-US" altLang="zh-CN" sz="2800" dirty="0">
                <a:latin typeface="+mn-ea"/>
                <a:ea typeface="+mn-ea"/>
              </a:rPr>
              <a:t>x1</a:t>
            </a:r>
            <a:r>
              <a:rPr lang="zh-CN" altLang="en-US" sz="2800" dirty="0">
                <a:latin typeface="+mn-ea"/>
                <a:ea typeface="+mn-ea"/>
              </a:rPr>
              <a:t>，</a:t>
            </a:r>
            <a:r>
              <a:rPr lang="en-US" altLang="zh-CN" sz="2800" dirty="0">
                <a:latin typeface="+mn-ea"/>
                <a:ea typeface="+mn-ea"/>
              </a:rPr>
              <a:t>y1</a:t>
            </a:r>
            <a:r>
              <a:rPr lang="zh-CN" altLang="en-US" sz="2800" dirty="0">
                <a:latin typeface="+mn-ea"/>
                <a:ea typeface="+mn-ea"/>
              </a:rPr>
              <a:t>），（</a:t>
            </a:r>
            <a:r>
              <a:rPr lang="en-US" altLang="zh-CN" sz="2800" dirty="0">
                <a:latin typeface="+mn-ea"/>
                <a:ea typeface="+mn-ea"/>
              </a:rPr>
              <a:t>x2</a:t>
            </a:r>
            <a:r>
              <a:rPr lang="zh-CN" altLang="en-US" sz="2800" dirty="0">
                <a:latin typeface="+mn-ea"/>
                <a:ea typeface="+mn-ea"/>
              </a:rPr>
              <a:t>，</a:t>
            </a:r>
            <a:r>
              <a:rPr lang="en-US" altLang="zh-CN" sz="2800" dirty="0">
                <a:latin typeface="+mn-ea"/>
                <a:ea typeface="+mn-ea"/>
              </a:rPr>
              <a:t>y2</a:t>
            </a:r>
            <a:r>
              <a:rPr lang="zh-CN" altLang="en-US" sz="2800" dirty="0">
                <a:latin typeface="+mn-ea"/>
                <a:ea typeface="+mn-ea"/>
              </a:rPr>
              <a:t>），求离原点最远的那个点。</a:t>
            </a:r>
          </a:p>
        </p:txBody>
      </p:sp>
      <p:sp>
        <p:nvSpPr>
          <p:cNvPr id="5" name="Rectangle 2">
            <a:extLst>
              <a:ext uri="{FF2B5EF4-FFF2-40B4-BE49-F238E27FC236}">
                <a16:creationId xmlns:a16="http://schemas.microsoft.com/office/drawing/2014/main" id="{5E4DC23B-9EEA-43A8-8EAE-3D9E01EC6925}"/>
              </a:ext>
            </a:extLst>
          </p:cNvPr>
          <p:cNvSpPr>
            <a:spLocks noChangeArrowheads="1"/>
          </p:cNvSpPr>
          <p:nvPr/>
        </p:nvSpPr>
        <p:spPr bwMode="auto">
          <a:xfrm>
            <a:off x="474109" y="1781361"/>
            <a:ext cx="10892096"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en-US" altLang="zh-CN" sz="2800" dirty="0"/>
              <a:t>#include&lt;</a:t>
            </a:r>
            <a:r>
              <a:rPr lang="en-US" altLang="zh-CN" sz="2800" dirty="0" err="1"/>
              <a:t>math.h</a:t>
            </a:r>
            <a:r>
              <a:rPr lang="en-US" altLang="zh-CN" sz="2800" dirty="0"/>
              <a:t>&gt;</a:t>
            </a:r>
          </a:p>
          <a:p>
            <a:pPr eaLnBrk="1" hangingPunct="1">
              <a:spcBef>
                <a:spcPct val="0"/>
              </a:spcBef>
            </a:pPr>
            <a:r>
              <a:rPr lang="en-US" altLang="zh-CN" sz="2800" dirty="0"/>
              <a:t>#include&lt;</a:t>
            </a:r>
            <a:r>
              <a:rPr lang="en-US" altLang="zh-CN" sz="2800" dirty="0" err="1"/>
              <a:t>stdio.h</a:t>
            </a:r>
            <a:r>
              <a:rPr lang="en-US" altLang="zh-CN" sz="2800" dirty="0"/>
              <a:t>&gt; </a:t>
            </a:r>
          </a:p>
          <a:p>
            <a:pPr eaLnBrk="1" hangingPunct="1">
              <a:spcBef>
                <a:spcPct val="0"/>
              </a:spcBef>
            </a:pPr>
            <a:r>
              <a:rPr lang="en-US" altLang="zh-CN" sz="2800" dirty="0"/>
              <a:t>float distance(float </a:t>
            </a:r>
            <a:r>
              <a:rPr lang="en-US" altLang="zh-CN" sz="2800" dirty="0" err="1"/>
              <a:t>x,float</a:t>
            </a:r>
            <a:r>
              <a:rPr lang="en-US" altLang="zh-CN" sz="2800" dirty="0"/>
              <a:t> y)</a:t>
            </a:r>
          </a:p>
          <a:p>
            <a:pPr eaLnBrk="1" hangingPunct="1">
              <a:spcBef>
                <a:spcPct val="0"/>
              </a:spcBef>
            </a:pPr>
            <a:r>
              <a:rPr lang="en-US" altLang="zh-CN" sz="2800" dirty="0"/>
              <a:t>  {    return sqrt(x*</a:t>
            </a:r>
            <a:r>
              <a:rPr lang="en-US" altLang="zh-CN" sz="2800" dirty="0" err="1"/>
              <a:t>x+y</a:t>
            </a:r>
            <a:r>
              <a:rPr lang="en-US" altLang="zh-CN" sz="2800" dirty="0"/>
              <a:t>*y);    }</a:t>
            </a:r>
          </a:p>
          <a:p>
            <a:pPr eaLnBrk="1" hangingPunct="1">
              <a:spcBef>
                <a:spcPct val="0"/>
              </a:spcBef>
            </a:pPr>
            <a:r>
              <a:rPr lang="en-US" altLang="zh-CN" sz="2800" dirty="0"/>
              <a:t>main( )</a:t>
            </a:r>
          </a:p>
          <a:p>
            <a:pPr eaLnBrk="1" hangingPunct="1">
              <a:spcBef>
                <a:spcPct val="0"/>
              </a:spcBef>
            </a:pPr>
            <a:r>
              <a:rPr lang="en-US" altLang="zh-CN" sz="2800" dirty="0"/>
              <a:t>  {   float  x1, y1, x2, y2;</a:t>
            </a:r>
          </a:p>
          <a:p>
            <a:pPr eaLnBrk="1" hangingPunct="1">
              <a:spcBef>
                <a:spcPct val="0"/>
              </a:spcBef>
            </a:pPr>
            <a:r>
              <a:rPr lang="en-US" altLang="zh-CN" sz="2800" dirty="0"/>
              <a:t>      </a:t>
            </a:r>
            <a:r>
              <a:rPr lang="en-US" altLang="zh-CN" sz="2800" dirty="0" err="1"/>
              <a:t>scanf</a:t>
            </a:r>
            <a:r>
              <a:rPr lang="en-US" altLang="zh-CN" sz="2800" dirty="0"/>
              <a:t>("%f%f%f%f",&amp;x1,&amp;y1,&amp;x2,&amp;y2);</a:t>
            </a:r>
          </a:p>
          <a:p>
            <a:pPr eaLnBrk="1" hangingPunct="1">
              <a:spcBef>
                <a:spcPct val="0"/>
              </a:spcBef>
            </a:pPr>
            <a:r>
              <a:rPr lang="en-US" altLang="zh-CN" sz="2800" dirty="0"/>
              <a:t>      if(distance(x1,y1)&gt;distance(x2,y2))</a:t>
            </a:r>
          </a:p>
          <a:p>
            <a:pPr eaLnBrk="1" hangingPunct="1">
              <a:spcBef>
                <a:spcPct val="0"/>
              </a:spcBef>
            </a:pPr>
            <a:r>
              <a:rPr lang="en-US" altLang="zh-CN" sz="2800" dirty="0"/>
              <a:t>         { </a:t>
            </a:r>
            <a:r>
              <a:rPr lang="en-US" altLang="zh-CN" sz="2800" dirty="0" err="1"/>
              <a:t>printf</a:t>
            </a:r>
            <a:r>
              <a:rPr lang="en-US" altLang="zh-CN" sz="2800" dirty="0"/>
              <a:t>(“</a:t>
            </a:r>
            <a:r>
              <a:rPr lang="zh-CN" altLang="en-US" sz="2800" dirty="0"/>
              <a:t>距离最远的坐标为</a:t>
            </a:r>
            <a:r>
              <a:rPr lang="en-US" altLang="zh-CN" sz="2800" dirty="0"/>
              <a:t>%f:%f",x1,y1);}</a:t>
            </a:r>
          </a:p>
          <a:p>
            <a:pPr eaLnBrk="1" hangingPunct="1">
              <a:spcBef>
                <a:spcPct val="0"/>
              </a:spcBef>
            </a:pPr>
            <a:r>
              <a:rPr lang="en-US" altLang="zh-CN" sz="2800" dirty="0"/>
              <a:t>     else</a:t>
            </a:r>
          </a:p>
          <a:p>
            <a:pPr eaLnBrk="1" hangingPunct="1">
              <a:spcBef>
                <a:spcPct val="0"/>
              </a:spcBef>
            </a:pPr>
            <a:r>
              <a:rPr lang="en-US" altLang="zh-CN" sz="2800" dirty="0"/>
              <a:t>         { </a:t>
            </a:r>
            <a:r>
              <a:rPr lang="en-US" altLang="zh-CN" sz="2800" dirty="0" err="1"/>
              <a:t>printf</a:t>
            </a:r>
            <a:r>
              <a:rPr lang="en-US" altLang="zh-CN" sz="2800" dirty="0"/>
              <a:t>("</a:t>
            </a:r>
            <a:r>
              <a:rPr lang="zh-CN" altLang="en-US" sz="2800" dirty="0"/>
              <a:t>距离最远的坐标为</a:t>
            </a:r>
            <a:r>
              <a:rPr lang="en-US" altLang="zh-CN" sz="2800" dirty="0"/>
              <a:t>%f:%f",x2,y2); }     }</a:t>
            </a:r>
          </a:p>
        </p:txBody>
      </p:sp>
    </p:spTree>
    <p:extLst>
      <p:ext uri="{BB962C8B-B14F-4D97-AF65-F5344CB8AC3E}">
        <p14:creationId xmlns:p14="http://schemas.microsoft.com/office/powerpoint/2010/main" val="135514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blinds(horizontal)">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blinds(horizontal)">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blinds(horizontal)">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blinds(horizontal)">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blinds(horizontal)">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blinds(horizontal)">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
                                            <p:txEl>
                                              <p:pRg st="8" end="8"/>
                                            </p:txEl>
                                          </p:spTgt>
                                        </p:tgtEl>
                                        <p:attrNameLst>
                                          <p:attrName>style.visibility</p:attrName>
                                        </p:attrNameLst>
                                      </p:cBhvr>
                                      <p:to>
                                        <p:strVal val="visible"/>
                                      </p:to>
                                    </p:set>
                                    <p:animEffect transition="in" filter="blinds(horizontal)">
                                      <p:cBhvr>
                                        <p:cTn id="52" dur="500"/>
                                        <p:tgtEl>
                                          <p:spTgt spid="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
                                            <p:txEl>
                                              <p:pRg st="9" end="9"/>
                                            </p:txEl>
                                          </p:spTgt>
                                        </p:tgtEl>
                                        <p:attrNameLst>
                                          <p:attrName>style.visibility</p:attrName>
                                        </p:attrNameLst>
                                      </p:cBhvr>
                                      <p:to>
                                        <p:strVal val="visible"/>
                                      </p:to>
                                    </p:set>
                                    <p:animEffect transition="in" filter="blinds(horizontal)">
                                      <p:cBhvr>
                                        <p:cTn id="57" dur="500"/>
                                        <p:tgtEl>
                                          <p:spTgt spid="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
                                            <p:txEl>
                                              <p:pRg st="10" end="10"/>
                                            </p:txEl>
                                          </p:spTgt>
                                        </p:tgtEl>
                                        <p:attrNameLst>
                                          <p:attrName>style.visibility</p:attrName>
                                        </p:attrNameLst>
                                      </p:cBhvr>
                                      <p:to>
                                        <p:strVal val="visible"/>
                                      </p:to>
                                    </p:set>
                                    <p:animEffect transition="in" filter="blinds(horizontal)">
                                      <p:cBhvr>
                                        <p:cTn id="6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1854826-B61F-42BF-8E9C-54C10B3F1EC9}"/>
              </a:ext>
            </a:extLst>
          </p:cNvPr>
          <p:cNvPicPr>
            <a:picLocks noChangeAspect="1"/>
          </p:cNvPicPr>
          <p:nvPr/>
        </p:nvPicPr>
        <p:blipFill>
          <a:blip r:embed="rId2"/>
          <a:stretch>
            <a:fillRect/>
          </a:stretch>
        </p:blipFill>
        <p:spPr>
          <a:xfrm>
            <a:off x="3717160" y="114299"/>
            <a:ext cx="4757680" cy="932769"/>
          </a:xfrm>
          <a:prstGeom prst="rect">
            <a:avLst/>
          </a:prstGeom>
        </p:spPr>
      </p:pic>
      <p:sp>
        <p:nvSpPr>
          <p:cNvPr id="3" name="Rectangle 2">
            <a:extLst>
              <a:ext uri="{FF2B5EF4-FFF2-40B4-BE49-F238E27FC236}">
                <a16:creationId xmlns:a16="http://schemas.microsoft.com/office/drawing/2014/main" id="{E38DC309-B642-471C-9D78-B2A3E8537304}"/>
              </a:ext>
            </a:extLst>
          </p:cNvPr>
          <p:cNvSpPr>
            <a:spLocks noChangeArrowheads="1"/>
          </p:cNvSpPr>
          <p:nvPr/>
        </p:nvSpPr>
        <p:spPr bwMode="auto">
          <a:xfrm>
            <a:off x="3871626" y="138754"/>
            <a:ext cx="4326764"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600" b="1" dirty="0">
                <a:solidFill>
                  <a:srgbClr val="800000"/>
                </a:solidFill>
                <a:latin typeface="微软雅黑" panose="020B0503020204020204" pitchFamily="34" charset="-122"/>
                <a:ea typeface="微软雅黑" panose="020B0503020204020204" pitchFamily="34" charset="-122"/>
                <a:cs typeface="+mj-cs"/>
              </a:rPr>
              <a:t>函数的嵌套调用过程</a:t>
            </a:r>
          </a:p>
        </p:txBody>
      </p:sp>
      <p:sp>
        <p:nvSpPr>
          <p:cNvPr id="5" name="Rectangle 2">
            <a:extLst>
              <a:ext uri="{FF2B5EF4-FFF2-40B4-BE49-F238E27FC236}">
                <a16:creationId xmlns:a16="http://schemas.microsoft.com/office/drawing/2014/main" id="{ADC36DC5-E37A-4041-9809-75541EBFB662}"/>
              </a:ext>
            </a:extLst>
          </p:cNvPr>
          <p:cNvSpPr>
            <a:spLocks noChangeArrowheads="1"/>
          </p:cNvSpPr>
          <p:nvPr/>
        </p:nvSpPr>
        <p:spPr bwMode="auto">
          <a:xfrm>
            <a:off x="381000" y="4038600"/>
            <a:ext cx="8229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20000"/>
              </a:spcBef>
            </a:pPr>
            <a:r>
              <a:rPr lang="en-US" altLang="zh-CN" b="0">
                <a:solidFill>
                  <a:schemeClr val="tx1"/>
                </a:solidFill>
                <a:ea typeface="宋体" panose="02010600030101010101" pitchFamily="2" charset="-122"/>
              </a:rPr>
              <a:t>    </a:t>
            </a:r>
          </a:p>
        </p:txBody>
      </p:sp>
      <p:sp>
        <p:nvSpPr>
          <p:cNvPr id="6" name="Rectangle 3">
            <a:extLst>
              <a:ext uri="{FF2B5EF4-FFF2-40B4-BE49-F238E27FC236}">
                <a16:creationId xmlns:a16="http://schemas.microsoft.com/office/drawing/2014/main" id="{FD87D690-76D8-4CA3-A682-04BCEED77CF9}"/>
              </a:ext>
            </a:extLst>
          </p:cNvPr>
          <p:cNvSpPr>
            <a:spLocks noChangeArrowheads="1"/>
          </p:cNvSpPr>
          <p:nvPr/>
        </p:nvSpPr>
        <p:spPr bwMode="auto">
          <a:xfrm>
            <a:off x="1022352" y="817640"/>
            <a:ext cx="43258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en-US" altLang="zh-CN" sz="2800" dirty="0">
                <a:cs typeface="Times New Roman" panose="02020603050405020304" pitchFamily="18" charset="0"/>
              </a:rPr>
              <a:t>#include&lt;</a:t>
            </a:r>
            <a:r>
              <a:rPr lang="en-US" altLang="zh-CN" sz="2800" dirty="0" err="1">
                <a:cs typeface="Times New Roman" panose="02020603050405020304" pitchFamily="18" charset="0"/>
              </a:rPr>
              <a:t>stdio.h</a:t>
            </a:r>
            <a:r>
              <a:rPr lang="en-US" altLang="zh-CN" sz="2800" dirty="0">
                <a:cs typeface="Times New Roman" panose="02020603050405020304" pitchFamily="18" charset="0"/>
              </a:rPr>
              <a:t>&gt;</a:t>
            </a:r>
          </a:p>
        </p:txBody>
      </p:sp>
      <p:sp>
        <p:nvSpPr>
          <p:cNvPr id="7" name="Rectangle 4">
            <a:extLst>
              <a:ext uri="{FF2B5EF4-FFF2-40B4-BE49-F238E27FC236}">
                <a16:creationId xmlns:a16="http://schemas.microsoft.com/office/drawing/2014/main" id="{8D43A500-5522-4FB1-A7E9-D8439D9712ED}"/>
              </a:ext>
            </a:extLst>
          </p:cNvPr>
          <p:cNvSpPr>
            <a:spLocks noChangeArrowheads="1"/>
          </p:cNvSpPr>
          <p:nvPr/>
        </p:nvSpPr>
        <p:spPr bwMode="auto">
          <a:xfrm>
            <a:off x="1238253" y="2320520"/>
            <a:ext cx="2879725"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en-US" altLang="zh-CN" sz="2800" dirty="0">
                <a:cs typeface="Times New Roman" panose="02020603050405020304" pitchFamily="18" charset="0"/>
              </a:rPr>
              <a:t>a( )</a:t>
            </a:r>
          </a:p>
          <a:p>
            <a:pPr eaLnBrk="1" hangingPunct="1">
              <a:spcBef>
                <a:spcPct val="0"/>
              </a:spcBef>
            </a:pPr>
            <a:r>
              <a:rPr lang="en-US" altLang="zh-CN" sz="2800" dirty="0">
                <a:cs typeface="Times New Roman" panose="02020603050405020304" pitchFamily="18" charset="0"/>
              </a:rPr>
              <a:t> {     ;</a:t>
            </a:r>
          </a:p>
          <a:p>
            <a:pPr eaLnBrk="1" hangingPunct="1">
              <a:spcBef>
                <a:spcPct val="0"/>
              </a:spcBef>
            </a:pPr>
            <a:r>
              <a:rPr lang="en-US" altLang="zh-CN" sz="2800" dirty="0">
                <a:cs typeface="Times New Roman" panose="02020603050405020304" pitchFamily="18" charset="0"/>
              </a:rPr>
              <a:t>   b( )</a:t>
            </a:r>
            <a:r>
              <a:rPr lang="zh-CN" altLang="en-US" sz="2800" dirty="0">
                <a:cs typeface="Times New Roman" panose="02020603050405020304" pitchFamily="18" charset="0"/>
              </a:rPr>
              <a:t>；</a:t>
            </a:r>
          </a:p>
          <a:p>
            <a:pPr eaLnBrk="1" hangingPunct="1">
              <a:spcBef>
                <a:spcPct val="0"/>
              </a:spcBef>
            </a:pPr>
            <a:r>
              <a:rPr lang="zh-CN" altLang="en-US" sz="2800" dirty="0">
                <a:cs typeface="Times New Roman" panose="02020603050405020304" pitchFamily="18" charset="0"/>
              </a:rPr>
              <a:t>       </a:t>
            </a:r>
            <a:r>
              <a:rPr lang="en-US" altLang="zh-CN" sz="2800" dirty="0">
                <a:cs typeface="Times New Roman" panose="02020603050405020304" pitchFamily="18" charset="0"/>
              </a:rPr>
              <a:t>;</a:t>
            </a:r>
          </a:p>
          <a:p>
            <a:pPr eaLnBrk="1" hangingPunct="1">
              <a:spcBef>
                <a:spcPct val="0"/>
              </a:spcBef>
            </a:pPr>
            <a:r>
              <a:rPr lang="en-US" altLang="zh-CN" sz="2800" dirty="0">
                <a:cs typeface="Times New Roman" panose="02020603050405020304" pitchFamily="18" charset="0"/>
              </a:rPr>
              <a:t>  }</a:t>
            </a:r>
          </a:p>
        </p:txBody>
      </p:sp>
      <p:pic>
        <p:nvPicPr>
          <p:cNvPr id="8" name="Picture 5" descr="7">
            <a:extLst>
              <a:ext uri="{FF2B5EF4-FFF2-40B4-BE49-F238E27FC236}">
                <a16:creationId xmlns:a16="http://schemas.microsoft.com/office/drawing/2014/main" id="{A5B002D9-3AE8-4E36-A8AA-8B02BD549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7172" y="1172158"/>
            <a:ext cx="5689600" cy="4898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DD74DA9D-6611-4797-BA03-7CA55C603440}"/>
              </a:ext>
            </a:extLst>
          </p:cNvPr>
          <p:cNvSpPr>
            <a:spLocks noChangeArrowheads="1"/>
          </p:cNvSpPr>
          <p:nvPr/>
        </p:nvSpPr>
        <p:spPr bwMode="auto">
          <a:xfrm>
            <a:off x="1165228" y="1307695"/>
            <a:ext cx="23034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en-US" altLang="zh-CN" sz="2800" dirty="0">
                <a:cs typeface="Times New Roman" panose="02020603050405020304" pitchFamily="18" charset="0"/>
              </a:rPr>
              <a:t>b( )</a:t>
            </a:r>
          </a:p>
          <a:p>
            <a:pPr eaLnBrk="1" hangingPunct="1">
              <a:spcBef>
                <a:spcPct val="0"/>
              </a:spcBef>
            </a:pPr>
            <a:r>
              <a:rPr lang="en-US" altLang="zh-CN" sz="2800" dirty="0">
                <a:cs typeface="Times New Roman" panose="02020603050405020304" pitchFamily="18" charset="0"/>
              </a:rPr>
              <a:t> {     ;  }</a:t>
            </a:r>
          </a:p>
        </p:txBody>
      </p:sp>
      <p:sp>
        <p:nvSpPr>
          <p:cNvPr id="10" name="Rectangle 7">
            <a:extLst>
              <a:ext uri="{FF2B5EF4-FFF2-40B4-BE49-F238E27FC236}">
                <a16:creationId xmlns:a16="http://schemas.microsoft.com/office/drawing/2014/main" id="{E89796E5-5033-4511-97DD-875FDAE62333}"/>
              </a:ext>
            </a:extLst>
          </p:cNvPr>
          <p:cNvSpPr>
            <a:spLocks noChangeArrowheads="1"/>
          </p:cNvSpPr>
          <p:nvPr/>
        </p:nvSpPr>
        <p:spPr bwMode="auto">
          <a:xfrm>
            <a:off x="1468034" y="4908145"/>
            <a:ext cx="539750" cy="519112"/>
          </a:xfrm>
          <a:prstGeom prst="rect">
            <a:avLst/>
          </a:prstGeom>
          <a:noFill/>
          <a:ln w="38100" algn="ctr">
            <a:noFill/>
            <a:miter lim="800000"/>
          </a:ln>
          <a:effectLst/>
        </p:spPr>
        <p:txBody>
          <a:bodyPr wrap="none">
            <a:spAutoFit/>
          </a:bodyPr>
          <a:lstStyle/>
          <a:p>
            <a:pPr>
              <a:spcBef>
                <a:spcPct val="0"/>
              </a:spcBef>
              <a:buFontTx/>
              <a:buNone/>
              <a:defRPr/>
            </a:pPr>
            <a:r>
              <a:rPr kumimoji="1" lang="en-US" altLang="zh-CN" sz="2800" i="1" dirty="0">
                <a:solidFill>
                  <a:srgbClr val="9904E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①</a:t>
            </a:r>
          </a:p>
        </p:txBody>
      </p:sp>
      <p:sp>
        <p:nvSpPr>
          <p:cNvPr id="11" name="Rectangle 8">
            <a:extLst>
              <a:ext uri="{FF2B5EF4-FFF2-40B4-BE49-F238E27FC236}">
                <a16:creationId xmlns:a16="http://schemas.microsoft.com/office/drawing/2014/main" id="{484EB15E-1B06-4BE2-AD1D-9DBECED4E08A}"/>
              </a:ext>
            </a:extLst>
          </p:cNvPr>
          <p:cNvSpPr>
            <a:spLocks noChangeArrowheads="1"/>
          </p:cNvSpPr>
          <p:nvPr/>
        </p:nvSpPr>
        <p:spPr bwMode="auto">
          <a:xfrm>
            <a:off x="1054507" y="5473774"/>
            <a:ext cx="539750" cy="519113"/>
          </a:xfrm>
          <a:prstGeom prst="rect">
            <a:avLst/>
          </a:prstGeom>
          <a:noFill/>
          <a:ln w="38100" algn="ctr">
            <a:noFill/>
            <a:miter lim="800000"/>
          </a:ln>
          <a:effectLst/>
        </p:spPr>
        <p:txBody>
          <a:bodyPr wrap="none">
            <a:spAutoFit/>
          </a:bodyPr>
          <a:lstStyle/>
          <a:p>
            <a:pPr>
              <a:spcBef>
                <a:spcPct val="0"/>
              </a:spcBef>
              <a:buFontTx/>
              <a:buNone/>
              <a:defRPr/>
            </a:pPr>
            <a:r>
              <a:rPr kumimoji="1" lang="en-US" altLang="zh-CN" sz="2800" i="1">
                <a:solidFill>
                  <a:srgbClr val="9904E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②</a:t>
            </a:r>
          </a:p>
        </p:txBody>
      </p:sp>
      <p:sp>
        <p:nvSpPr>
          <p:cNvPr id="12" name="Rectangle 9">
            <a:extLst>
              <a:ext uri="{FF2B5EF4-FFF2-40B4-BE49-F238E27FC236}">
                <a16:creationId xmlns:a16="http://schemas.microsoft.com/office/drawing/2014/main" id="{DCB3F5A7-B3E4-4DD3-9D82-86DBAC31E34F}"/>
              </a:ext>
            </a:extLst>
          </p:cNvPr>
          <p:cNvSpPr>
            <a:spLocks noChangeArrowheads="1"/>
          </p:cNvSpPr>
          <p:nvPr/>
        </p:nvSpPr>
        <p:spPr bwMode="auto">
          <a:xfrm>
            <a:off x="1504769" y="2741687"/>
            <a:ext cx="539750" cy="519112"/>
          </a:xfrm>
          <a:prstGeom prst="rect">
            <a:avLst/>
          </a:prstGeom>
          <a:noFill/>
          <a:ln w="38100" algn="ctr">
            <a:noFill/>
            <a:miter lim="800000"/>
          </a:ln>
          <a:effectLst/>
        </p:spPr>
        <p:txBody>
          <a:bodyPr wrap="none">
            <a:spAutoFit/>
          </a:bodyPr>
          <a:lstStyle/>
          <a:p>
            <a:pPr>
              <a:spcBef>
                <a:spcPct val="0"/>
              </a:spcBef>
              <a:buFontTx/>
              <a:buNone/>
              <a:defRPr/>
            </a:pPr>
            <a:r>
              <a:rPr kumimoji="1" lang="en-US" altLang="zh-CN" sz="2800" i="1" dirty="0">
                <a:solidFill>
                  <a:srgbClr val="9904E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③</a:t>
            </a:r>
          </a:p>
        </p:txBody>
      </p:sp>
      <p:sp>
        <p:nvSpPr>
          <p:cNvPr id="13" name="Rectangle 10">
            <a:extLst>
              <a:ext uri="{FF2B5EF4-FFF2-40B4-BE49-F238E27FC236}">
                <a16:creationId xmlns:a16="http://schemas.microsoft.com/office/drawing/2014/main" id="{C45271E4-DE55-429A-AED9-E71ECFEF43E3}"/>
              </a:ext>
            </a:extLst>
          </p:cNvPr>
          <p:cNvSpPr>
            <a:spLocks noChangeArrowheads="1"/>
          </p:cNvSpPr>
          <p:nvPr/>
        </p:nvSpPr>
        <p:spPr bwMode="auto">
          <a:xfrm>
            <a:off x="1045463" y="3169832"/>
            <a:ext cx="539750" cy="519113"/>
          </a:xfrm>
          <a:prstGeom prst="rect">
            <a:avLst/>
          </a:prstGeom>
          <a:noFill/>
          <a:ln w="38100" algn="ctr">
            <a:noFill/>
            <a:miter lim="800000"/>
          </a:ln>
          <a:effectLst/>
        </p:spPr>
        <p:txBody>
          <a:bodyPr wrap="none">
            <a:spAutoFit/>
          </a:bodyPr>
          <a:lstStyle/>
          <a:p>
            <a:pPr>
              <a:spcBef>
                <a:spcPct val="0"/>
              </a:spcBef>
              <a:buFontTx/>
              <a:buNone/>
              <a:defRPr/>
            </a:pPr>
            <a:r>
              <a:rPr kumimoji="1" lang="en-US" altLang="zh-CN" sz="2800" i="1">
                <a:solidFill>
                  <a:srgbClr val="9904E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④</a:t>
            </a:r>
          </a:p>
        </p:txBody>
      </p:sp>
      <p:sp>
        <p:nvSpPr>
          <p:cNvPr id="14" name="Rectangle 11">
            <a:extLst>
              <a:ext uri="{FF2B5EF4-FFF2-40B4-BE49-F238E27FC236}">
                <a16:creationId xmlns:a16="http://schemas.microsoft.com/office/drawing/2014/main" id="{C9C6EB77-DD64-462C-B20C-85A4E17E3A6F}"/>
              </a:ext>
            </a:extLst>
          </p:cNvPr>
          <p:cNvSpPr>
            <a:spLocks noChangeArrowheads="1"/>
          </p:cNvSpPr>
          <p:nvPr/>
        </p:nvSpPr>
        <p:spPr bwMode="auto">
          <a:xfrm>
            <a:off x="1468034" y="1717787"/>
            <a:ext cx="539750" cy="519112"/>
          </a:xfrm>
          <a:prstGeom prst="rect">
            <a:avLst/>
          </a:prstGeom>
          <a:noFill/>
          <a:ln w="38100" algn="ctr">
            <a:noFill/>
            <a:miter lim="800000"/>
          </a:ln>
          <a:effectLst/>
        </p:spPr>
        <p:txBody>
          <a:bodyPr wrap="none">
            <a:spAutoFit/>
          </a:bodyPr>
          <a:lstStyle/>
          <a:p>
            <a:pPr>
              <a:spcBef>
                <a:spcPct val="0"/>
              </a:spcBef>
              <a:buFontTx/>
              <a:buNone/>
              <a:defRPr/>
            </a:pPr>
            <a:r>
              <a:rPr kumimoji="1" lang="en-US" altLang="zh-CN" sz="2800" i="1" dirty="0">
                <a:solidFill>
                  <a:srgbClr val="9904E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⑤</a:t>
            </a:r>
          </a:p>
        </p:txBody>
      </p:sp>
      <p:sp>
        <p:nvSpPr>
          <p:cNvPr id="15" name="Rectangle 12">
            <a:extLst>
              <a:ext uri="{FF2B5EF4-FFF2-40B4-BE49-F238E27FC236}">
                <a16:creationId xmlns:a16="http://schemas.microsoft.com/office/drawing/2014/main" id="{567DD815-786D-4E76-BE01-1418B0532273}"/>
              </a:ext>
            </a:extLst>
          </p:cNvPr>
          <p:cNvSpPr>
            <a:spLocks noChangeArrowheads="1"/>
          </p:cNvSpPr>
          <p:nvPr/>
        </p:nvSpPr>
        <p:spPr bwMode="auto">
          <a:xfrm>
            <a:off x="2428507" y="3145744"/>
            <a:ext cx="539750" cy="519112"/>
          </a:xfrm>
          <a:prstGeom prst="rect">
            <a:avLst/>
          </a:prstGeom>
          <a:noFill/>
          <a:ln w="38100" algn="ctr">
            <a:noFill/>
            <a:miter lim="800000"/>
          </a:ln>
          <a:effectLst/>
        </p:spPr>
        <p:txBody>
          <a:bodyPr wrap="none">
            <a:spAutoFit/>
          </a:bodyPr>
          <a:lstStyle/>
          <a:p>
            <a:pPr>
              <a:spcBef>
                <a:spcPct val="0"/>
              </a:spcBef>
              <a:buFontTx/>
              <a:buNone/>
              <a:defRPr/>
            </a:pPr>
            <a:r>
              <a:rPr kumimoji="1" lang="en-US" altLang="zh-CN" sz="2800" i="1" dirty="0">
                <a:solidFill>
                  <a:srgbClr val="9904E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⑥</a:t>
            </a:r>
          </a:p>
        </p:txBody>
      </p:sp>
      <p:sp>
        <p:nvSpPr>
          <p:cNvPr id="16" name="Rectangle 13">
            <a:extLst>
              <a:ext uri="{FF2B5EF4-FFF2-40B4-BE49-F238E27FC236}">
                <a16:creationId xmlns:a16="http://schemas.microsoft.com/office/drawing/2014/main" id="{15821AC4-A395-49D3-9A0E-45D712C7B480}"/>
              </a:ext>
            </a:extLst>
          </p:cNvPr>
          <p:cNvSpPr>
            <a:spLocks noChangeArrowheads="1"/>
          </p:cNvSpPr>
          <p:nvPr/>
        </p:nvSpPr>
        <p:spPr bwMode="auto">
          <a:xfrm>
            <a:off x="1540965" y="3621162"/>
            <a:ext cx="539750" cy="519112"/>
          </a:xfrm>
          <a:prstGeom prst="rect">
            <a:avLst/>
          </a:prstGeom>
          <a:noFill/>
          <a:ln w="38100" algn="ctr">
            <a:noFill/>
            <a:miter lim="800000"/>
          </a:ln>
          <a:effectLst/>
        </p:spPr>
        <p:txBody>
          <a:bodyPr wrap="none">
            <a:spAutoFit/>
          </a:bodyPr>
          <a:lstStyle/>
          <a:p>
            <a:pPr>
              <a:spcBef>
                <a:spcPct val="0"/>
              </a:spcBef>
              <a:buFontTx/>
              <a:buNone/>
              <a:defRPr/>
            </a:pPr>
            <a:r>
              <a:rPr kumimoji="1" lang="en-US" altLang="zh-CN" sz="2800" i="1" dirty="0">
                <a:solidFill>
                  <a:srgbClr val="9904E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⑦</a:t>
            </a:r>
          </a:p>
        </p:txBody>
      </p:sp>
      <p:sp>
        <p:nvSpPr>
          <p:cNvPr id="17" name="Rectangle 14">
            <a:extLst>
              <a:ext uri="{FF2B5EF4-FFF2-40B4-BE49-F238E27FC236}">
                <a16:creationId xmlns:a16="http://schemas.microsoft.com/office/drawing/2014/main" id="{80766219-7E42-40C9-AD20-251C944820F9}"/>
              </a:ext>
            </a:extLst>
          </p:cNvPr>
          <p:cNvSpPr>
            <a:spLocks noChangeArrowheads="1"/>
          </p:cNvSpPr>
          <p:nvPr/>
        </p:nvSpPr>
        <p:spPr bwMode="auto">
          <a:xfrm>
            <a:off x="2428507" y="5455832"/>
            <a:ext cx="539750" cy="519113"/>
          </a:xfrm>
          <a:prstGeom prst="rect">
            <a:avLst/>
          </a:prstGeom>
          <a:noFill/>
          <a:ln w="38100" algn="ctr">
            <a:noFill/>
            <a:miter lim="800000"/>
          </a:ln>
          <a:effectLst/>
        </p:spPr>
        <p:txBody>
          <a:bodyPr wrap="none">
            <a:spAutoFit/>
          </a:bodyPr>
          <a:lstStyle/>
          <a:p>
            <a:pPr>
              <a:spcBef>
                <a:spcPct val="0"/>
              </a:spcBef>
              <a:buFontTx/>
              <a:buNone/>
              <a:defRPr/>
            </a:pPr>
            <a:r>
              <a:rPr kumimoji="1" lang="en-US" altLang="zh-CN" sz="2800" i="1" dirty="0">
                <a:solidFill>
                  <a:srgbClr val="9904E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⑧</a:t>
            </a:r>
          </a:p>
        </p:txBody>
      </p:sp>
      <p:sp>
        <p:nvSpPr>
          <p:cNvPr id="18" name="Rectangle 15">
            <a:extLst>
              <a:ext uri="{FF2B5EF4-FFF2-40B4-BE49-F238E27FC236}">
                <a16:creationId xmlns:a16="http://schemas.microsoft.com/office/drawing/2014/main" id="{F42044D4-0D7F-4CBA-8872-E419FBE17C1F}"/>
              </a:ext>
            </a:extLst>
          </p:cNvPr>
          <p:cNvSpPr>
            <a:spLocks noChangeArrowheads="1"/>
          </p:cNvSpPr>
          <p:nvPr/>
        </p:nvSpPr>
        <p:spPr bwMode="auto">
          <a:xfrm>
            <a:off x="1016592" y="6002263"/>
            <a:ext cx="539750" cy="519112"/>
          </a:xfrm>
          <a:prstGeom prst="rect">
            <a:avLst/>
          </a:prstGeom>
          <a:noFill/>
          <a:ln w="38100" algn="ctr">
            <a:noFill/>
            <a:miter lim="800000"/>
          </a:ln>
          <a:effectLst/>
        </p:spPr>
        <p:txBody>
          <a:bodyPr wrap="none">
            <a:spAutoFit/>
          </a:bodyPr>
          <a:lstStyle/>
          <a:p>
            <a:pPr>
              <a:spcBef>
                <a:spcPct val="0"/>
              </a:spcBef>
              <a:buFontTx/>
              <a:buNone/>
              <a:defRPr/>
            </a:pPr>
            <a:r>
              <a:rPr kumimoji="1" lang="en-US" altLang="zh-CN" sz="2800" i="1" dirty="0">
                <a:solidFill>
                  <a:srgbClr val="9904E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⑨</a:t>
            </a:r>
          </a:p>
        </p:txBody>
      </p:sp>
      <p:sp>
        <p:nvSpPr>
          <p:cNvPr id="19" name="Rectangle 3">
            <a:extLst>
              <a:ext uri="{FF2B5EF4-FFF2-40B4-BE49-F238E27FC236}">
                <a16:creationId xmlns:a16="http://schemas.microsoft.com/office/drawing/2014/main" id="{73EDF332-6295-44A9-8A48-2011EC559C8D}"/>
              </a:ext>
            </a:extLst>
          </p:cNvPr>
          <p:cNvSpPr>
            <a:spLocks noChangeArrowheads="1"/>
          </p:cNvSpPr>
          <p:nvPr/>
        </p:nvSpPr>
        <p:spPr bwMode="auto">
          <a:xfrm>
            <a:off x="1238253" y="4331882"/>
            <a:ext cx="3455988"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en-US" altLang="zh-CN" sz="2800" dirty="0">
                <a:cs typeface="Times New Roman" panose="02020603050405020304" pitchFamily="18" charset="0"/>
              </a:rPr>
              <a:t>main( )</a:t>
            </a:r>
          </a:p>
          <a:p>
            <a:pPr eaLnBrk="1" hangingPunct="1">
              <a:lnSpc>
                <a:spcPct val="125000"/>
              </a:lnSpc>
              <a:spcBef>
                <a:spcPct val="0"/>
              </a:spcBef>
            </a:pPr>
            <a:r>
              <a:rPr lang="en-US" altLang="zh-CN" sz="2800" dirty="0">
                <a:cs typeface="Times New Roman" panose="02020603050405020304" pitchFamily="18" charset="0"/>
              </a:rPr>
              <a:t> {     ;</a:t>
            </a:r>
          </a:p>
          <a:p>
            <a:pPr eaLnBrk="1" hangingPunct="1">
              <a:lnSpc>
                <a:spcPct val="125000"/>
              </a:lnSpc>
              <a:spcBef>
                <a:spcPct val="0"/>
              </a:spcBef>
            </a:pPr>
            <a:r>
              <a:rPr lang="en-US" altLang="zh-CN" sz="2800" dirty="0">
                <a:cs typeface="Times New Roman" panose="02020603050405020304" pitchFamily="18" charset="0"/>
              </a:rPr>
              <a:t>   a( )</a:t>
            </a:r>
            <a:r>
              <a:rPr lang="zh-CN" altLang="en-US" sz="2800" dirty="0">
                <a:cs typeface="Times New Roman" panose="02020603050405020304" pitchFamily="18" charset="0"/>
              </a:rPr>
              <a:t>；</a:t>
            </a:r>
          </a:p>
          <a:p>
            <a:pPr eaLnBrk="1" hangingPunct="1">
              <a:lnSpc>
                <a:spcPct val="125000"/>
              </a:lnSpc>
              <a:spcBef>
                <a:spcPct val="0"/>
              </a:spcBef>
            </a:pPr>
            <a:r>
              <a:rPr lang="zh-CN" altLang="en-US" sz="2800" dirty="0">
                <a:cs typeface="Times New Roman" panose="02020603050405020304" pitchFamily="18" charset="0"/>
              </a:rPr>
              <a:t>   </a:t>
            </a:r>
            <a:r>
              <a:rPr lang="en-US" altLang="zh-CN" sz="2800" dirty="0">
                <a:cs typeface="Times New Roman" panose="02020603050405020304" pitchFamily="18" charset="0"/>
              </a:rPr>
              <a:t>; }</a:t>
            </a:r>
          </a:p>
        </p:txBody>
      </p:sp>
    </p:spTree>
    <p:extLst>
      <p:ext uri="{BB962C8B-B14F-4D97-AF65-F5344CB8AC3E}">
        <p14:creationId xmlns:p14="http://schemas.microsoft.com/office/powerpoint/2010/main" val="195925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linds(horizontal)">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linds(horizontal)">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blinds(horizontal)">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blinds(horizontal)">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blinds(horizontal)">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blinds(horizontal)">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blinds(horizontal)">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blinds(horizontal)">
                                      <p:cBhvr>
                                        <p:cTn id="7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P spid="11" grpId="0"/>
      <p:bldP spid="12" grpId="0"/>
      <p:bldP spid="13" grpId="0"/>
      <p:bldP spid="14" grpId="0"/>
      <p:bldP spid="15" grpId="0"/>
      <p:bldP spid="16" grpId="0"/>
      <p:bldP spid="17" grpId="0"/>
      <p:bldP spid="18" grpId="0"/>
      <p:bldP spid="1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pic>
        <p:nvPicPr>
          <p:cNvPr id="13" name="图片 12">
            <a:extLst>
              <a:ext uri="{FF2B5EF4-FFF2-40B4-BE49-F238E27FC236}">
                <a16:creationId xmlns:a16="http://schemas.microsoft.com/office/drawing/2014/main" id="{65EA4AC2-62A6-403C-845C-8E2AE49A8A55}"/>
              </a:ext>
            </a:extLst>
          </p:cNvPr>
          <p:cNvPicPr>
            <a:picLocks noChangeAspect="1"/>
          </p:cNvPicPr>
          <p:nvPr/>
        </p:nvPicPr>
        <p:blipFill>
          <a:blip r:embed="rId3"/>
          <a:stretch>
            <a:fillRect/>
          </a:stretch>
        </p:blipFill>
        <p:spPr>
          <a:xfrm>
            <a:off x="3717160" y="114299"/>
            <a:ext cx="4757680" cy="932769"/>
          </a:xfrm>
          <a:prstGeom prst="rect">
            <a:avLst/>
          </a:prstGeom>
        </p:spPr>
      </p:pic>
      <p:sp>
        <p:nvSpPr>
          <p:cNvPr id="14" name="Rectangle 2">
            <a:extLst>
              <a:ext uri="{FF2B5EF4-FFF2-40B4-BE49-F238E27FC236}">
                <a16:creationId xmlns:a16="http://schemas.microsoft.com/office/drawing/2014/main" id="{7C979210-C94D-4B3C-9AFA-C8C585D7CE8F}"/>
              </a:ext>
            </a:extLst>
          </p:cNvPr>
          <p:cNvSpPr>
            <a:spLocks noChangeArrowheads="1"/>
          </p:cNvSpPr>
          <p:nvPr/>
        </p:nvSpPr>
        <p:spPr bwMode="auto">
          <a:xfrm>
            <a:off x="4148076" y="138754"/>
            <a:ext cx="3912781"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600" b="1" dirty="0">
                <a:solidFill>
                  <a:srgbClr val="800000"/>
                </a:solidFill>
                <a:latin typeface="微软雅黑" panose="020B0503020204020204" pitchFamily="34" charset="-122"/>
                <a:ea typeface="微软雅黑" panose="020B0503020204020204" pitchFamily="34" charset="-122"/>
                <a:cs typeface="+mj-cs"/>
              </a:rPr>
              <a:t>递归的概念</a:t>
            </a:r>
          </a:p>
        </p:txBody>
      </p:sp>
      <p:sp>
        <p:nvSpPr>
          <p:cNvPr id="15" name="Text Box 2">
            <a:extLst>
              <a:ext uri="{FF2B5EF4-FFF2-40B4-BE49-F238E27FC236}">
                <a16:creationId xmlns:a16="http://schemas.microsoft.com/office/drawing/2014/main" id="{23195328-360D-4F71-A92F-F6DAED9B0B99}"/>
              </a:ext>
            </a:extLst>
          </p:cNvPr>
          <p:cNvSpPr txBox="1">
            <a:spLocks noChangeArrowheads="1"/>
          </p:cNvSpPr>
          <p:nvPr/>
        </p:nvSpPr>
        <p:spPr bwMode="auto">
          <a:xfrm>
            <a:off x="899412" y="1103421"/>
            <a:ext cx="10562485"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zh-CN" altLang="en-US" sz="2800" dirty="0">
                <a:latin typeface="微软雅黑" panose="020B0503020204020204" pitchFamily="34" charset="-122"/>
                <a:ea typeface="微软雅黑" panose="020B0503020204020204" pitchFamily="34" charset="-122"/>
              </a:rPr>
              <a:t>      有</a:t>
            </a:r>
            <a:r>
              <a:rPr lang="en-US" altLang="zh-CN" sz="2800" dirty="0">
                <a:latin typeface="微软雅黑" panose="020B0503020204020204" pitchFamily="34" charset="-122"/>
                <a:ea typeface="微软雅黑" panose="020B0503020204020204" pitchFamily="34" charset="-122"/>
              </a:rPr>
              <a:t>5</a:t>
            </a:r>
            <a:r>
              <a:rPr lang="zh-CN" altLang="en-US" sz="2800" dirty="0">
                <a:latin typeface="微软雅黑" panose="020B0503020204020204" pitchFamily="34" charset="-122"/>
                <a:ea typeface="微软雅黑" panose="020B0503020204020204" pitchFamily="34" charset="-122"/>
              </a:rPr>
              <a:t>个人坐在一起，问第</a:t>
            </a:r>
            <a:r>
              <a:rPr lang="en-US" altLang="zh-CN" sz="2800" dirty="0">
                <a:latin typeface="微软雅黑" panose="020B0503020204020204" pitchFamily="34" charset="-122"/>
                <a:ea typeface="微软雅黑" panose="020B0503020204020204" pitchFamily="34" charset="-122"/>
              </a:rPr>
              <a:t>5</a:t>
            </a:r>
            <a:r>
              <a:rPr lang="zh-CN" altLang="en-US" sz="2800" dirty="0">
                <a:latin typeface="微软雅黑" panose="020B0503020204020204" pitchFamily="34" charset="-122"/>
                <a:ea typeface="微软雅黑" panose="020B0503020204020204" pitchFamily="34" charset="-122"/>
              </a:rPr>
              <a:t>个人多少岁？他说比第</a:t>
            </a:r>
            <a:r>
              <a:rPr lang="en-US" altLang="zh-CN" sz="2800" dirty="0">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个人大</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岁。问第</a:t>
            </a:r>
            <a:r>
              <a:rPr lang="en-US" altLang="zh-CN" sz="2800" dirty="0">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个人岁数，他说比第</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个人大</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岁。问第</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个人，又说比第</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个人大</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岁。问第</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个人，说比第</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个人大</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岁。最后问第</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个人，他说是</a:t>
            </a:r>
            <a:r>
              <a:rPr lang="en-US" altLang="zh-CN" sz="2800" dirty="0">
                <a:latin typeface="微软雅黑" panose="020B0503020204020204" pitchFamily="34" charset="-122"/>
                <a:ea typeface="微软雅黑" panose="020B0503020204020204" pitchFamily="34" charset="-122"/>
              </a:rPr>
              <a:t>10</a:t>
            </a:r>
            <a:r>
              <a:rPr lang="zh-CN" altLang="en-US" sz="2800" dirty="0">
                <a:latin typeface="微软雅黑" panose="020B0503020204020204" pitchFamily="34" charset="-122"/>
                <a:ea typeface="微软雅黑" panose="020B0503020204020204" pitchFamily="34" charset="-122"/>
              </a:rPr>
              <a:t>岁。请问第</a:t>
            </a:r>
            <a:r>
              <a:rPr lang="en-US" altLang="zh-CN" sz="2800" dirty="0">
                <a:latin typeface="微软雅黑" panose="020B0503020204020204" pitchFamily="34" charset="-122"/>
                <a:ea typeface="微软雅黑" panose="020B0503020204020204" pitchFamily="34" charset="-122"/>
              </a:rPr>
              <a:t>5</a:t>
            </a:r>
            <a:r>
              <a:rPr lang="zh-CN" altLang="en-US" sz="2800" dirty="0">
                <a:latin typeface="微软雅黑" panose="020B0503020204020204" pitchFamily="34" charset="-122"/>
                <a:ea typeface="微软雅黑" panose="020B0503020204020204" pitchFamily="34" charset="-122"/>
              </a:rPr>
              <a:t>个人多大。显然，这是一个递归问题。要求第</a:t>
            </a:r>
            <a:r>
              <a:rPr lang="en-US" altLang="zh-CN" sz="2800" dirty="0">
                <a:latin typeface="微软雅黑" panose="020B0503020204020204" pitchFamily="34" charset="-122"/>
                <a:ea typeface="微软雅黑" panose="020B0503020204020204" pitchFamily="34" charset="-122"/>
              </a:rPr>
              <a:t>5</a:t>
            </a:r>
            <a:r>
              <a:rPr lang="zh-CN" altLang="en-US" sz="2800" dirty="0">
                <a:latin typeface="微软雅黑" panose="020B0503020204020204" pitchFamily="34" charset="-122"/>
                <a:ea typeface="微软雅黑" panose="020B0503020204020204" pitchFamily="34" charset="-122"/>
              </a:rPr>
              <a:t>个人的年龄，就必须先知道第</a:t>
            </a:r>
            <a:r>
              <a:rPr lang="en-US" altLang="zh-CN" sz="2800" dirty="0">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个人的年龄，而第</a:t>
            </a:r>
            <a:r>
              <a:rPr lang="en-US" altLang="zh-CN" sz="2800" dirty="0">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个人的年龄也不知道，要求第</a:t>
            </a:r>
            <a:r>
              <a:rPr lang="en-US" altLang="zh-CN" sz="2800" dirty="0">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个人的年龄必须先知道第</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个人的年龄，而第</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个人的年龄又取决于第</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个人的年龄，第</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个人的年龄取决于第</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个人的年龄。</a:t>
            </a:r>
          </a:p>
        </p:txBody>
      </p:sp>
    </p:spTree>
    <p:extLst>
      <p:ext uri="{BB962C8B-B14F-4D97-AF65-F5344CB8AC3E}">
        <p14:creationId xmlns:p14="http://schemas.microsoft.com/office/powerpoint/2010/main" val="289098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0A7B74A-9262-4432-9845-3FB2793AB5F8}"/>
              </a:ext>
            </a:extLst>
          </p:cNvPr>
          <p:cNvSpPr>
            <a:spLocks noChangeArrowheads="1"/>
          </p:cNvSpPr>
          <p:nvPr/>
        </p:nvSpPr>
        <p:spPr bwMode="auto">
          <a:xfrm>
            <a:off x="735534" y="913330"/>
            <a:ext cx="854075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zh-CN" altLang="en-US" dirty="0">
                <a:ea typeface="+mn-ea"/>
                <a:cs typeface="Times New Roman" panose="02020603050405020304" pitchFamily="18" charset="0"/>
              </a:rPr>
              <a:t>每一个人的年龄都比其前</a:t>
            </a:r>
            <a:r>
              <a:rPr lang="en-US" altLang="zh-CN" dirty="0">
                <a:ea typeface="+mn-ea"/>
                <a:cs typeface="Times New Roman" panose="02020603050405020304" pitchFamily="18" charset="0"/>
              </a:rPr>
              <a:t>1</a:t>
            </a:r>
            <a:r>
              <a:rPr lang="zh-CN" altLang="en-US" dirty="0">
                <a:ea typeface="+mn-ea"/>
                <a:cs typeface="Times New Roman" panose="02020603050405020304" pitchFamily="18" charset="0"/>
              </a:rPr>
              <a:t>个人的年龄大</a:t>
            </a:r>
            <a:r>
              <a:rPr lang="en-US" altLang="zh-CN" dirty="0">
                <a:ea typeface="+mn-ea"/>
                <a:cs typeface="Times New Roman" panose="02020603050405020304" pitchFamily="18" charset="0"/>
              </a:rPr>
              <a:t>2</a:t>
            </a:r>
            <a:r>
              <a:rPr lang="zh-CN" altLang="en-US" dirty="0">
                <a:ea typeface="+mn-ea"/>
                <a:cs typeface="Times New Roman" panose="02020603050405020304" pitchFamily="18" charset="0"/>
              </a:rPr>
              <a:t>。</a:t>
            </a:r>
          </a:p>
          <a:p>
            <a:pPr eaLnBrk="1" hangingPunct="1">
              <a:lnSpc>
                <a:spcPct val="125000"/>
              </a:lnSpc>
              <a:spcBef>
                <a:spcPct val="0"/>
              </a:spcBef>
            </a:pPr>
            <a:r>
              <a:rPr lang="zh-CN" altLang="en-US" dirty="0">
                <a:ea typeface="+mn-ea"/>
                <a:cs typeface="Times New Roman" panose="02020603050405020304" pitchFamily="18" charset="0"/>
              </a:rPr>
              <a:t>即        </a:t>
            </a:r>
            <a:r>
              <a:rPr lang="en-US" altLang="zh-CN" dirty="0">
                <a:ea typeface="+mn-ea"/>
                <a:cs typeface="Times New Roman" panose="02020603050405020304" pitchFamily="18" charset="0"/>
              </a:rPr>
              <a:t>age</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5</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age</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4</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2</a:t>
            </a:r>
          </a:p>
        </p:txBody>
      </p:sp>
      <p:sp>
        <p:nvSpPr>
          <p:cNvPr id="3" name="Rectangle 4">
            <a:extLst>
              <a:ext uri="{FF2B5EF4-FFF2-40B4-BE49-F238E27FC236}">
                <a16:creationId xmlns:a16="http://schemas.microsoft.com/office/drawing/2014/main" id="{B2887AFA-8D6C-417A-B45C-9D4EC4353C61}"/>
              </a:ext>
            </a:extLst>
          </p:cNvPr>
          <p:cNvSpPr>
            <a:spLocks noChangeArrowheads="1"/>
          </p:cNvSpPr>
          <p:nvPr/>
        </p:nvSpPr>
        <p:spPr bwMode="auto">
          <a:xfrm>
            <a:off x="1959496" y="2024729"/>
            <a:ext cx="59182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en-US" altLang="zh-CN" dirty="0">
                <a:ea typeface="+mn-ea"/>
                <a:cs typeface="Times New Roman" panose="02020603050405020304" pitchFamily="18" charset="0"/>
              </a:rPr>
              <a:t>age</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4</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age</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3</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2</a:t>
            </a:r>
          </a:p>
        </p:txBody>
      </p:sp>
      <p:sp>
        <p:nvSpPr>
          <p:cNvPr id="4" name="Rectangle 5">
            <a:extLst>
              <a:ext uri="{FF2B5EF4-FFF2-40B4-BE49-F238E27FC236}">
                <a16:creationId xmlns:a16="http://schemas.microsoft.com/office/drawing/2014/main" id="{37F4ABE2-9107-492A-B741-3F56A671AC1D}"/>
              </a:ext>
            </a:extLst>
          </p:cNvPr>
          <p:cNvSpPr>
            <a:spLocks noChangeArrowheads="1"/>
          </p:cNvSpPr>
          <p:nvPr/>
        </p:nvSpPr>
        <p:spPr bwMode="auto">
          <a:xfrm>
            <a:off x="1959496" y="2531141"/>
            <a:ext cx="4981575"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en-US" altLang="zh-CN" dirty="0">
                <a:ea typeface="+mn-ea"/>
                <a:cs typeface="Times New Roman" panose="02020603050405020304" pitchFamily="18" charset="0"/>
              </a:rPr>
              <a:t>age</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3</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age</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2</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2</a:t>
            </a:r>
          </a:p>
        </p:txBody>
      </p:sp>
      <p:sp>
        <p:nvSpPr>
          <p:cNvPr id="5" name="Rectangle 6">
            <a:extLst>
              <a:ext uri="{FF2B5EF4-FFF2-40B4-BE49-F238E27FC236}">
                <a16:creationId xmlns:a16="http://schemas.microsoft.com/office/drawing/2014/main" id="{D4686F9E-8F10-4A72-BA2F-8E60B0FA2B1B}"/>
              </a:ext>
            </a:extLst>
          </p:cNvPr>
          <p:cNvSpPr>
            <a:spLocks noChangeArrowheads="1"/>
          </p:cNvSpPr>
          <p:nvPr/>
        </p:nvSpPr>
        <p:spPr bwMode="auto">
          <a:xfrm>
            <a:off x="1959496" y="3075505"/>
            <a:ext cx="511333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en-US" altLang="zh-CN">
                <a:ea typeface="+mn-ea"/>
                <a:cs typeface="Times New Roman" panose="02020603050405020304" pitchFamily="18" charset="0"/>
              </a:rPr>
              <a:t>age</a:t>
            </a:r>
            <a:r>
              <a:rPr lang="zh-CN" altLang="en-US">
                <a:ea typeface="+mn-ea"/>
                <a:cs typeface="Times New Roman" panose="02020603050405020304" pitchFamily="18" charset="0"/>
              </a:rPr>
              <a:t>（</a:t>
            </a:r>
            <a:r>
              <a:rPr lang="en-US" altLang="zh-CN">
                <a:ea typeface="+mn-ea"/>
                <a:cs typeface="Times New Roman" panose="02020603050405020304" pitchFamily="18" charset="0"/>
              </a:rPr>
              <a:t>2</a:t>
            </a:r>
            <a:r>
              <a:rPr lang="zh-CN" altLang="en-US">
                <a:ea typeface="+mn-ea"/>
                <a:cs typeface="Times New Roman" panose="02020603050405020304" pitchFamily="18" charset="0"/>
              </a:rPr>
              <a:t>）＝</a:t>
            </a:r>
            <a:r>
              <a:rPr lang="en-US" altLang="zh-CN">
                <a:ea typeface="+mn-ea"/>
                <a:cs typeface="Times New Roman" panose="02020603050405020304" pitchFamily="18" charset="0"/>
              </a:rPr>
              <a:t>age</a:t>
            </a:r>
            <a:r>
              <a:rPr lang="zh-CN" altLang="en-US">
                <a:ea typeface="+mn-ea"/>
                <a:cs typeface="Times New Roman" panose="02020603050405020304" pitchFamily="18" charset="0"/>
              </a:rPr>
              <a:t>（</a:t>
            </a:r>
            <a:r>
              <a:rPr lang="en-US" altLang="zh-CN">
                <a:ea typeface="+mn-ea"/>
                <a:cs typeface="Times New Roman" panose="02020603050405020304" pitchFamily="18" charset="0"/>
              </a:rPr>
              <a:t>1</a:t>
            </a:r>
            <a:r>
              <a:rPr lang="zh-CN" altLang="en-US">
                <a:ea typeface="+mn-ea"/>
                <a:cs typeface="Times New Roman" panose="02020603050405020304" pitchFamily="18" charset="0"/>
              </a:rPr>
              <a:t>）＋</a:t>
            </a:r>
            <a:r>
              <a:rPr lang="en-US" altLang="zh-CN">
                <a:ea typeface="+mn-ea"/>
                <a:cs typeface="Times New Roman" panose="02020603050405020304" pitchFamily="18" charset="0"/>
              </a:rPr>
              <a:t>2</a:t>
            </a:r>
          </a:p>
        </p:txBody>
      </p:sp>
      <p:sp>
        <p:nvSpPr>
          <p:cNvPr id="6" name="Rectangle 7">
            <a:extLst>
              <a:ext uri="{FF2B5EF4-FFF2-40B4-BE49-F238E27FC236}">
                <a16:creationId xmlns:a16="http://schemas.microsoft.com/office/drawing/2014/main" id="{96D23944-374E-48B9-91CC-E0BB0FC0A59B}"/>
              </a:ext>
            </a:extLst>
          </p:cNvPr>
          <p:cNvSpPr>
            <a:spLocks noChangeArrowheads="1"/>
          </p:cNvSpPr>
          <p:nvPr/>
        </p:nvSpPr>
        <p:spPr bwMode="auto">
          <a:xfrm>
            <a:off x="1972196" y="3578742"/>
            <a:ext cx="4884738"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en-US" altLang="zh-CN">
                <a:ea typeface="+mn-ea"/>
                <a:cs typeface="Times New Roman" panose="02020603050405020304" pitchFamily="18" charset="0"/>
              </a:rPr>
              <a:t>age</a:t>
            </a:r>
            <a:r>
              <a:rPr lang="zh-CN" altLang="en-US">
                <a:ea typeface="+mn-ea"/>
                <a:cs typeface="Times New Roman" panose="02020603050405020304" pitchFamily="18" charset="0"/>
              </a:rPr>
              <a:t>（</a:t>
            </a:r>
            <a:r>
              <a:rPr lang="en-US" altLang="zh-CN">
                <a:ea typeface="+mn-ea"/>
                <a:cs typeface="Times New Roman" panose="02020603050405020304" pitchFamily="18" charset="0"/>
              </a:rPr>
              <a:t>1</a:t>
            </a:r>
            <a:r>
              <a:rPr lang="zh-CN" altLang="en-US">
                <a:ea typeface="+mn-ea"/>
                <a:cs typeface="Times New Roman" panose="02020603050405020304" pitchFamily="18" charset="0"/>
              </a:rPr>
              <a:t>）＝</a:t>
            </a:r>
            <a:r>
              <a:rPr lang="en-US" altLang="zh-CN">
                <a:ea typeface="+mn-ea"/>
                <a:cs typeface="Times New Roman" panose="02020603050405020304" pitchFamily="18" charset="0"/>
              </a:rPr>
              <a:t>10</a:t>
            </a:r>
          </a:p>
        </p:txBody>
      </p:sp>
      <p:sp>
        <p:nvSpPr>
          <p:cNvPr id="7" name="Rectangle 8">
            <a:extLst>
              <a:ext uri="{FF2B5EF4-FFF2-40B4-BE49-F238E27FC236}">
                <a16:creationId xmlns:a16="http://schemas.microsoft.com/office/drawing/2014/main" id="{92073A4F-4B31-4A40-AA4C-5B5D362E4E58}"/>
              </a:ext>
            </a:extLst>
          </p:cNvPr>
          <p:cNvSpPr>
            <a:spLocks noChangeArrowheads="1"/>
          </p:cNvSpPr>
          <p:nvPr/>
        </p:nvSpPr>
        <p:spPr bwMode="auto">
          <a:xfrm>
            <a:off x="589633" y="4155005"/>
            <a:ext cx="8675687"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en-US" altLang="zh-CN" dirty="0">
                <a:ea typeface="+mn-ea"/>
                <a:cs typeface="Times New Roman" panose="02020603050405020304" pitchFamily="18" charset="0"/>
              </a:rPr>
              <a:t> </a:t>
            </a:r>
            <a:r>
              <a:rPr lang="zh-CN" altLang="en-US" dirty="0">
                <a:ea typeface="+mn-ea"/>
                <a:cs typeface="Times New Roman" panose="02020603050405020304" pitchFamily="18" charset="0"/>
              </a:rPr>
              <a:t>如果第</a:t>
            </a:r>
            <a:r>
              <a:rPr lang="en-US" altLang="zh-CN" dirty="0">
                <a:ea typeface="+mn-ea"/>
                <a:cs typeface="Times New Roman" panose="02020603050405020304" pitchFamily="18" charset="0"/>
              </a:rPr>
              <a:t>1</a:t>
            </a:r>
            <a:r>
              <a:rPr lang="zh-CN" altLang="en-US" dirty="0">
                <a:ea typeface="+mn-ea"/>
                <a:cs typeface="Times New Roman" panose="02020603050405020304" pitchFamily="18" charset="0"/>
              </a:rPr>
              <a:t>个人</a:t>
            </a:r>
            <a:r>
              <a:rPr lang="en-US" altLang="zh-CN" dirty="0">
                <a:ea typeface="+mn-ea"/>
                <a:cs typeface="Times New Roman" panose="02020603050405020304" pitchFamily="18" charset="0"/>
              </a:rPr>
              <a:t>10</a:t>
            </a:r>
            <a:r>
              <a:rPr lang="zh-CN" altLang="en-US" dirty="0">
                <a:ea typeface="+mn-ea"/>
                <a:cs typeface="Times New Roman" panose="02020603050405020304" pitchFamily="18" charset="0"/>
              </a:rPr>
              <a:t>岁，那么可以用通式表述如下：</a:t>
            </a:r>
          </a:p>
          <a:p>
            <a:pPr eaLnBrk="1" hangingPunct="1">
              <a:lnSpc>
                <a:spcPct val="125000"/>
              </a:lnSpc>
              <a:spcBef>
                <a:spcPct val="0"/>
              </a:spcBef>
            </a:pPr>
            <a:r>
              <a:rPr lang="zh-CN" altLang="en-US" dirty="0">
                <a:ea typeface="+mn-ea"/>
                <a:cs typeface="Times New Roman" panose="02020603050405020304" pitchFamily="18" charset="0"/>
              </a:rPr>
              <a:t>   </a:t>
            </a:r>
            <a:r>
              <a:rPr lang="en-US" altLang="zh-CN" dirty="0">
                <a:ea typeface="+mn-ea"/>
                <a:cs typeface="Times New Roman" panose="02020603050405020304" pitchFamily="18" charset="0"/>
              </a:rPr>
              <a:t>age</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n</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10</a:t>
            </a:r>
            <a:r>
              <a:rPr lang="zh-CN" altLang="en-US" dirty="0">
                <a:ea typeface="+mn-ea"/>
                <a:cs typeface="Times New Roman" panose="02020603050405020304" pitchFamily="18" charset="0"/>
              </a:rPr>
              <a:t>　　 （</a:t>
            </a:r>
            <a:r>
              <a:rPr lang="en-US" altLang="zh-CN" dirty="0">
                <a:ea typeface="+mn-ea"/>
                <a:cs typeface="Times New Roman" panose="02020603050405020304" pitchFamily="18" charset="0"/>
              </a:rPr>
              <a:t>n</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1</a:t>
            </a:r>
            <a:r>
              <a:rPr lang="zh-CN" altLang="en-US" dirty="0">
                <a:ea typeface="+mn-ea"/>
                <a:cs typeface="Times New Roman" panose="02020603050405020304" pitchFamily="18" charset="0"/>
              </a:rPr>
              <a:t>）</a:t>
            </a:r>
          </a:p>
          <a:p>
            <a:pPr eaLnBrk="1" hangingPunct="1">
              <a:lnSpc>
                <a:spcPct val="125000"/>
              </a:lnSpc>
              <a:spcBef>
                <a:spcPct val="0"/>
              </a:spcBef>
            </a:pPr>
            <a:r>
              <a:rPr lang="zh-CN" altLang="en-US" dirty="0">
                <a:ea typeface="+mn-ea"/>
                <a:cs typeface="Times New Roman" panose="02020603050405020304" pitchFamily="18" charset="0"/>
              </a:rPr>
              <a:t>   </a:t>
            </a:r>
            <a:r>
              <a:rPr lang="en-US" altLang="zh-CN" dirty="0">
                <a:ea typeface="+mn-ea"/>
                <a:cs typeface="Times New Roman" panose="02020603050405020304" pitchFamily="18" charset="0"/>
              </a:rPr>
              <a:t>age</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n</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age</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n</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1</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2</a:t>
            </a:r>
            <a:r>
              <a:rPr lang="zh-CN" altLang="en-US" dirty="0">
                <a:ea typeface="+mn-ea"/>
                <a:cs typeface="Times New Roman" panose="02020603050405020304" pitchFamily="18" charset="0"/>
              </a:rPr>
              <a:t>　 （</a:t>
            </a:r>
            <a:r>
              <a:rPr lang="en-US" altLang="zh-CN" dirty="0">
                <a:ea typeface="+mn-ea"/>
                <a:cs typeface="Times New Roman" panose="02020603050405020304" pitchFamily="18" charset="0"/>
              </a:rPr>
              <a:t>n</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1</a:t>
            </a:r>
            <a:r>
              <a:rPr lang="zh-CN" altLang="en-US" dirty="0">
                <a:ea typeface="+mn-ea"/>
                <a:cs typeface="Times New Roman" panose="02020603050405020304" pitchFamily="18" charset="0"/>
              </a:rPr>
              <a:t>）</a:t>
            </a:r>
          </a:p>
        </p:txBody>
      </p:sp>
      <p:sp>
        <p:nvSpPr>
          <p:cNvPr id="8" name="Rectangle 10">
            <a:extLst>
              <a:ext uri="{FF2B5EF4-FFF2-40B4-BE49-F238E27FC236}">
                <a16:creationId xmlns:a16="http://schemas.microsoft.com/office/drawing/2014/main" id="{DB04ED6E-FE09-409E-81B4-A2AE95C4218E}"/>
              </a:ext>
            </a:extLst>
          </p:cNvPr>
          <p:cNvSpPr>
            <a:spLocks noChangeArrowheads="1"/>
          </p:cNvSpPr>
          <p:nvPr/>
        </p:nvSpPr>
        <p:spPr bwMode="auto">
          <a:xfrm>
            <a:off x="686768" y="5939355"/>
            <a:ext cx="111791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zh-CN" altLang="en-US" dirty="0">
                <a:ea typeface="+mn-ea"/>
                <a:cs typeface="Times New Roman" panose="02020603050405020304" pitchFamily="18" charset="0"/>
              </a:rPr>
              <a:t>可以看到，当</a:t>
            </a:r>
            <a:r>
              <a:rPr lang="en-US" altLang="zh-CN" dirty="0">
                <a:ea typeface="+mn-ea"/>
                <a:cs typeface="Times New Roman" panose="02020603050405020304" pitchFamily="18" charset="0"/>
              </a:rPr>
              <a:t>n</a:t>
            </a:r>
            <a:r>
              <a:rPr lang="zh-CN" altLang="en-US" dirty="0">
                <a:ea typeface="+mn-ea"/>
                <a:cs typeface="Times New Roman" panose="02020603050405020304" pitchFamily="18" charset="0"/>
              </a:rPr>
              <a:t>＞</a:t>
            </a:r>
            <a:r>
              <a:rPr lang="en-US" altLang="zh-CN" dirty="0">
                <a:ea typeface="+mn-ea"/>
                <a:cs typeface="Times New Roman" panose="02020603050405020304" pitchFamily="18" charset="0"/>
              </a:rPr>
              <a:t>1</a:t>
            </a:r>
            <a:r>
              <a:rPr lang="zh-CN" altLang="en-US" dirty="0">
                <a:ea typeface="+mn-ea"/>
                <a:cs typeface="Times New Roman" panose="02020603050405020304" pitchFamily="18" charset="0"/>
              </a:rPr>
              <a:t>时，求第</a:t>
            </a:r>
            <a:r>
              <a:rPr lang="en-US" altLang="zh-CN" dirty="0">
                <a:ea typeface="+mn-ea"/>
                <a:cs typeface="Times New Roman" panose="02020603050405020304" pitchFamily="18" charset="0"/>
              </a:rPr>
              <a:t>n</a:t>
            </a:r>
            <a:r>
              <a:rPr lang="zh-CN" altLang="en-US" dirty="0">
                <a:ea typeface="+mn-ea"/>
                <a:cs typeface="Times New Roman" panose="02020603050405020304" pitchFamily="18" charset="0"/>
              </a:rPr>
              <a:t>个人的年龄的公式是相同的。</a:t>
            </a:r>
          </a:p>
        </p:txBody>
      </p:sp>
      <p:pic>
        <p:nvPicPr>
          <p:cNvPr id="9" name="图片 8">
            <a:extLst>
              <a:ext uri="{FF2B5EF4-FFF2-40B4-BE49-F238E27FC236}">
                <a16:creationId xmlns:a16="http://schemas.microsoft.com/office/drawing/2014/main" id="{FC2EE86C-734D-494A-8F72-D22BC9D4915F}"/>
              </a:ext>
            </a:extLst>
          </p:cNvPr>
          <p:cNvPicPr>
            <a:picLocks noChangeAspect="1"/>
          </p:cNvPicPr>
          <p:nvPr/>
        </p:nvPicPr>
        <p:blipFill>
          <a:blip r:embed="rId2"/>
          <a:stretch>
            <a:fillRect/>
          </a:stretch>
        </p:blipFill>
        <p:spPr>
          <a:xfrm>
            <a:off x="3717160" y="114299"/>
            <a:ext cx="4757680" cy="932769"/>
          </a:xfrm>
          <a:prstGeom prst="rect">
            <a:avLst/>
          </a:prstGeom>
        </p:spPr>
      </p:pic>
      <p:sp>
        <p:nvSpPr>
          <p:cNvPr id="10" name="Rectangle 2">
            <a:extLst>
              <a:ext uri="{FF2B5EF4-FFF2-40B4-BE49-F238E27FC236}">
                <a16:creationId xmlns:a16="http://schemas.microsoft.com/office/drawing/2014/main" id="{95CEEB93-FCB3-4FBA-8D4B-B3269E23F455}"/>
              </a:ext>
            </a:extLst>
          </p:cNvPr>
          <p:cNvSpPr>
            <a:spLocks noChangeArrowheads="1"/>
          </p:cNvSpPr>
          <p:nvPr/>
        </p:nvSpPr>
        <p:spPr bwMode="auto">
          <a:xfrm>
            <a:off x="4148076" y="138754"/>
            <a:ext cx="3912781"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600" b="1" dirty="0">
                <a:solidFill>
                  <a:srgbClr val="800000"/>
                </a:solidFill>
                <a:latin typeface="微软雅黑" panose="020B0503020204020204" pitchFamily="34" charset="-122"/>
                <a:ea typeface="微软雅黑" panose="020B0503020204020204" pitchFamily="34" charset="-122"/>
                <a:cs typeface="+mj-cs"/>
              </a:rPr>
              <a:t>递归的表示</a:t>
            </a:r>
          </a:p>
        </p:txBody>
      </p:sp>
    </p:spTree>
    <p:extLst>
      <p:ext uri="{BB962C8B-B14F-4D97-AF65-F5344CB8AC3E}">
        <p14:creationId xmlns:p14="http://schemas.microsoft.com/office/powerpoint/2010/main" val="1280282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56852E87-801B-4F78-ADC9-4401E2DBE5E6}"/>
              </a:ext>
            </a:extLst>
          </p:cNvPr>
          <p:cNvSpPr txBox="1">
            <a:spLocks noChangeArrowheads="1"/>
          </p:cNvSpPr>
          <p:nvPr/>
        </p:nvSpPr>
        <p:spPr bwMode="auto">
          <a:xfrm>
            <a:off x="2312783" y="5752322"/>
            <a:ext cx="246188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90000" tIns="46800" rIns="90000" bIns="46800">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algn="ctr" eaLnBrk="1" hangingPunct="1"/>
            <a:r>
              <a:rPr lang="zh-CN" altLang="en-US" dirty="0">
                <a:solidFill>
                  <a:srgbClr val="000404"/>
                </a:solidFill>
                <a:latin typeface="Arial" panose="020B0604020202020204" pitchFamily="34" charset="0"/>
              </a:rPr>
              <a:t>运行结果为：</a:t>
            </a:r>
          </a:p>
        </p:txBody>
      </p:sp>
      <p:pic>
        <p:nvPicPr>
          <p:cNvPr id="4" name="Picture 8">
            <a:extLst>
              <a:ext uri="{FF2B5EF4-FFF2-40B4-BE49-F238E27FC236}">
                <a16:creationId xmlns:a16="http://schemas.microsoft.com/office/drawing/2014/main" id="{B8DA50F4-9A73-44E4-B439-6BEF0E33AE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2883" y="5147641"/>
            <a:ext cx="4597622" cy="130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a:extLst>
              <a:ext uri="{FF2B5EF4-FFF2-40B4-BE49-F238E27FC236}">
                <a16:creationId xmlns:a16="http://schemas.microsoft.com/office/drawing/2014/main" id="{6408F94B-FA8F-4F8F-94E5-1EEAEAA06C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4904" y="1047068"/>
            <a:ext cx="8521729" cy="1876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7">
            <a:extLst>
              <a:ext uri="{FF2B5EF4-FFF2-40B4-BE49-F238E27FC236}">
                <a16:creationId xmlns:a16="http://schemas.microsoft.com/office/drawing/2014/main" id="{D4ECCB49-71FF-4AAE-A0DB-A13D5D4952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167143"/>
            <a:ext cx="8904287" cy="164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18">
            <a:extLst>
              <a:ext uri="{FF2B5EF4-FFF2-40B4-BE49-F238E27FC236}">
                <a16:creationId xmlns:a16="http://schemas.microsoft.com/office/drawing/2014/main" id="{525165AB-1565-442A-9633-CD860F608D4F}"/>
              </a:ext>
            </a:extLst>
          </p:cNvPr>
          <p:cNvSpPr>
            <a:spLocks noChangeShapeType="1"/>
          </p:cNvSpPr>
          <p:nvPr/>
        </p:nvSpPr>
        <p:spPr bwMode="auto">
          <a:xfrm>
            <a:off x="1648181" y="1394602"/>
            <a:ext cx="3306596" cy="14149"/>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19">
            <a:extLst>
              <a:ext uri="{FF2B5EF4-FFF2-40B4-BE49-F238E27FC236}">
                <a16:creationId xmlns:a16="http://schemas.microsoft.com/office/drawing/2014/main" id="{C71D724C-3B32-4707-BA7B-E6225C38E19D}"/>
              </a:ext>
            </a:extLst>
          </p:cNvPr>
          <p:cNvSpPr>
            <a:spLocks noChangeShapeType="1"/>
          </p:cNvSpPr>
          <p:nvPr/>
        </p:nvSpPr>
        <p:spPr bwMode="auto">
          <a:xfrm>
            <a:off x="6319283" y="2329638"/>
            <a:ext cx="3228030"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 name="图片 8">
            <a:extLst>
              <a:ext uri="{FF2B5EF4-FFF2-40B4-BE49-F238E27FC236}">
                <a16:creationId xmlns:a16="http://schemas.microsoft.com/office/drawing/2014/main" id="{743E71EA-E1DE-423F-A59D-2CBC063676C0}"/>
              </a:ext>
            </a:extLst>
          </p:cNvPr>
          <p:cNvPicPr>
            <a:picLocks noChangeAspect="1"/>
          </p:cNvPicPr>
          <p:nvPr/>
        </p:nvPicPr>
        <p:blipFill>
          <a:blip r:embed="rId5"/>
          <a:stretch>
            <a:fillRect/>
          </a:stretch>
        </p:blipFill>
        <p:spPr>
          <a:xfrm>
            <a:off x="3451339" y="114299"/>
            <a:ext cx="5139761" cy="932769"/>
          </a:xfrm>
          <a:prstGeom prst="rect">
            <a:avLst/>
          </a:prstGeom>
        </p:spPr>
      </p:pic>
      <p:sp>
        <p:nvSpPr>
          <p:cNvPr id="10" name="Rectangle 2">
            <a:extLst>
              <a:ext uri="{FF2B5EF4-FFF2-40B4-BE49-F238E27FC236}">
                <a16:creationId xmlns:a16="http://schemas.microsoft.com/office/drawing/2014/main" id="{B7B73BC6-907F-42A7-917F-6B89135257F3}"/>
              </a:ext>
            </a:extLst>
          </p:cNvPr>
          <p:cNvSpPr>
            <a:spLocks noChangeArrowheads="1"/>
          </p:cNvSpPr>
          <p:nvPr/>
        </p:nvSpPr>
        <p:spPr bwMode="auto">
          <a:xfrm>
            <a:off x="3765297" y="138754"/>
            <a:ext cx="4421766"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600" b="1" dirty="0">
                <a:solidFill>
                  <a:srgbClr val="800000"/>
                </a:solidFill>
                <a:latin typeface="微软雅黑" panose="020B0503020204020204" pitchFamily="34" charset="-122"/>
                <a:ea typeface="微软雅黑" panose="020B0503020204020204" pitchFamily="34" charset="-122"/>
                <a:cs typeface="+mj-cs"/>
              </a:rPr>
              <a:t>递归求第</a:t>
            </a:r>
            <a:r>
              <a:rPr lang="en-US" altLang="zh-CN" sz="3600" b="1" dirty="0">
                <a:solidFill>
                  <a:srgbClr val="800000"/>
                </a:solidFill>
                <a:latin typeface="微软雅黑" panose="020B0503020204020204" pitchFamily="34" charset="-122"/>
                <a:ea typeface="微软雅黑" panose="020B0503020204020204" pitchFamily="34" charset="-122"/>
                <a:cs typeface="+mj-cs"/>
              </a:rPr>
              <a:t>5</a:t>
            </a:r>
            <a:r>
              <a:rPr lang="zh-CN" altLang="en-US" sz="3600" b="1" dirty="0">
                <a:solidFill>
                  <a:srgbClr val="800000"/>
                </a:solidFill>
                <a:latin typeface="微软雅黑" panose="020B0503020204020204" pitchFamily="34" charset="-122"/>
                <a:ea typeface="微软雅黑" panose="020B0503020204020204" pitchFamily="34" charset="-122"/>
                <a:cs typeface="+mj-cs"/>
              </a:rPr>
              <a:t>人的年龄</a:t>
            </a:r>
          </a:p>
        </p:txBody>
      </p:sp>
    </p:spTree>
    <p:extLst>
      <p:ext uri="{BB962C8B-B14F-4D97-AF65-F5344CB8AC3E}">
        <p14:creationId xmlns:p14="http://schemas.microsoft.com/office/powerpoint/2010/main" val="274054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540674" name="Rectangle 2"/>
          <p:cNvSpPr>
            <a:spLocks noChangeArrowheads="1"/>
          </p:cNvSpPr>
          <p:nvPr/>
        </p:nvSpPr>
        <p:spPr bwMode="auto">
          <a:xfrm>
            <a:off x="772090" y="1132683"/>
            <a:ext cx="10572850" cy="14818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2" indent="-914400" algn="l">
              <a:lnSpc>
                <a:spcPct val="150000"/>
              </a:lnSpc>
              <a:buClr>
                <a:schemeClr val="accent1"/>
              </a:buClr>
              <a:buFont typeface="Wingdings" pitchFamily="2" charset="2"/>
              <a:buNone/>
            </a:pPr>
            <a:r>
              <a:rPr lang="zh-CN" altLang="en-US" sz="3200" b="1" dirty="0">
                <a:solidFill>
                  <a:srgbClr val="C00000"/>
                </a:solidFill>
                <a:latin typeface="Arial" charset="0"/>
              </a:rPr>
              <a:t>定义：</a:t>
            </a:r>
            <a:r>
              <a:rPr lang="zh-CN" altLang="en-US" sz="3200" b="1" dirty="0">
                <a:latin typeface="Arial" charset="0"/>
              </a:rPr>
              <a:t>函数在自身的定义中又调用自身的过程称为函数的</a:t>
            </a:r>
            <a:endParaRPr lang="en-US" altLang="zh-CN" sz="3200" b="1" dirty="0">
              <a:latin typeface="Arial" charset="0"/>
            </a:endParaRPr>
          </a:p>
          <a:p>
            <a:pPr lvl="2" indent="-914400" algn="l">
              <a:lnSpc>
                <a:spcPct val="150000"/>
              </a:lnSpc>
              <a:buClr>
                <a:schemeClr val="accent1"/>
              </a:buClr>
              <a:buFont typeface="Wingdings" pitchFamily="2" charset="2"/>
              <a:buNone/>
            </a:pPr>
            <a:r>
              <a:rPr lang="zh-CN" altLang="en-US" sz="3200" b="1" dirty="0">
                <a:latin typeface="Arial" charset="0"/>
              </a:rPr>
              <a:t>递归调用。</a:t>
            </a:r>
          </a:p>
        </p:txBody>
      </p:sp>
      <p:sp>
        <p:nvSpPr>
          <p:cNvPr id="540676" name="Text Box 4"/>
          <p:cNvSpPr txBox="1">
            <a:spLocks noChangeArrowheads="1"/>
          </p:cNvSpPr>
          <p:nvPr/>
        </p:nvSpPr>
        <p:spPr bwMode="auto">
          <a:xfrm>
            <a:off x="6269038" y="3507126"/>
            <a:ext cx="690562" cy="579438"/>
          </a:xfrm>
          <a:prstGeom prst="rect">
            <a:avLst/>
          </a:prstGeom>
          <a:ln/>
          <a:extLst/>
        </p:spPr>
        <p:style>
          <a:lnRef idx="2">
            <a:schemeClr val="accent1"/>
          </a:lnRef>
          <a:fillRef idx="1">
            <a:schemeClr val="lt1"/>
          </a:fillRef>
          <a:effectRef idx="0">
            <a:schemeClr val="accent1"/>
          </a:effectRef>
          <a:fontRef idx="minor">
            <a:schemeClr val="dk1"/>
          </a:fontRef>
        </p:style>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a:latin typeface="Times New Roman" pitchFamily="18" charset="0"/>
              </a:rPr>
              <a:t>f( )</a:t>
            </a:r>
          </a:p>
        </p:txBody>
      </p:sp>
      <p:sp>
        <p:nvSpPr>
          <p:cNvPr id="540677" name="Text Box 5"/>
          <p:cNvSpPr txBox="1">
            <a:spLocks noChangeArrowheads="1"/>
          </p:cNvSpPr>
          <p:nvPr/>
        </p:nvSpPr>
        <p:spPr bwMode="auto">
          <a:xfrm>
            <a:off x="6178600" y="5124342"/>
            <a:ext cx="925512" cy="579438"/>
          </a:xfrm>
          <a:prstGeom prst="rect">
            <a:avLst/>
          </a:prstGeom>
          <a:ln/>
          <a:extLst/>
        </p:spPr>
        <p:style>
          <a:lnRef idx="2">
            <a:schemeClr val="accent1"/>
          </a:lnRef>
          <a:fillRef idx="1">
            <a:schemeClr val="lt1"/>
          </a:fillRef>
          <a:effectRef idx="0">
            <a:schemeClr val="accent1"/>
          </a:effectRef>
          <a:fontRef idx="minor">
            <a:schemeClr val="dk1"/>
          </a:fontRef>
        </p:style>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zh-CN" altLang="zh-CN">
                <a:latin typeface="Times New Roman" pitchFamily="18" charset="0"/>
                <a:ea typeface="隶书" pitchFamily="49" charset="-122"/>
              </a:rPr>
              <a:t>调</a:t>
            </a:r>
            <a:r>
              <a:rPr lang="en-US" altLang="zh-CN">
                <a:latin typeface="Times New Roman" pitchFamily="18" charset="0"/>
              </a:rPr>
              <a:t>f</a:t>
            </a:r>
          </a:p>
        </p:txBody>
      </p:sp>
      <p:sp>
        <p:nvSpPr>
          <p:cNvPr id="540678" name="Line 6"/>
          <p:cNvSpPr>
            <a:spLocks noChangeShapeType="1"/>
          </p:cNvSpPr>
          <p:nvPr/>
        </p:nvSpPr>
        <p:spPr bwMode="auto">
          <a:xfrm>
            <a:off x="6618288" y="4021477"/>
            <a:ext cx="0" cy="1116013"/>
          </a:xfrm>
          <a:prstGeom prst="line">
            <a:avLst/>
          </a:prstGeom>
          <a:ln>
            <a:headEnd/>
            <a:tailEnd type="triangle" w="med" len="med"/>
          </a:ln>
          <a:extLst/>
        </p:spPr>
        <p:style>
          <a:lnRef idx="2">
            <a:schemeClr val="accent1"/>
          </a:lnRef>
          <a:fillRef idx="1">
            <a:schemeClr val="lt1"/>
          </a:fillRef>
          <a:effectRef idx="0">
            <a:schemeClr val="accent1"/>
          </a:effectRef>
          <a:fontRef idx="minor">
            <a:schemeClr val="dk1"/>
          </a:fontRef>
        </p:style>
        <p:txBody>
          <a:bodyPr wrap="none" anchor="ctr"/>
          <a:lstStyle/>
          <a:p>
            <a:endParaRPr lang="zh-CN" altLang="en-US"/>
          </a:p>
        </p:txBody>
      </p:sp>
      <p:sp>
        <p:nvSpPr>
          <p:cNvPr id="540679" name="Line 7"/>
          <p:cNvSpPr>
            <a:spLocks noChangeShapeType="1"/>
          </p:cNvSpPr>
          <p:nvPr/>
        </p:nvSpPr>
        <p:spPr bwMode="auto">
          <a:xfrm flipH="1">
            <a:off x="5383214" y="5310526"/>
            <a:ext cx="795387" cy="0"/>
          </a:xfrm>
          <a:prstGeom prst="line">
            <a:avLst/>
          </a:prstGeom>
          <a:ln>
            <a:headEnd/>
            <a:tailEnd/>
          </a:ln>
          <a:extLst/>
        </p:spPr>
        <p:style>
          <a:lnRef idx="2">
            <a:schemeClr val="accent1"/>
          </a:lnRef>
          <a:fillRef idx="1">
            <a:schemeClr val="lt1"/>
          </a:fillRef>
          <a:effectRef idx="0">
            <a:schemeClr val="accent1"/>
          </a:effectRef>
          <a:fontRef idx="minor">
            <a:schemeClr val="dk1"/>
          </a:fontRef>
        </p:style>
        <p:txBody>
          <a:bodyPr wrap="none" anchor="ctr"/>
          <a:lstStyle/>
          <a:p>
            <a:endParaRPr lang="zh-CN" altLang="en-US"/>
          </a:p>
        </p:txBody>
      </p:sp>
      <p:sp>
        <p:nvSpPr>
          <p:cNvPr id="540680" name="Line 8"/>
          <p:cNvSpPr>
            <a:spLocks noChangeShapeType="1"/>
          </p:cNvSpPr>
          <p:nvPr/>
        </p:nvSpPr>
        <p:spPr bwMode="auto">
          <a:xfrm flipV="1">
            <a:off x="5383213" y="3796052"/>
            <a:ext cx="0" cy="1514475"/>
          </a:xfrm>
          <a:prstGeom prst="line">
            <a:avLst/>
          </a:prstGeom>
          <a:ln>
            <a:headEnd/>
            <a:tailEnd/>
          </a:ln>
          <a:extLst/>
        </p:spPr>
        <p:style>
          <a:lnRef idx="2">
            <a:schemeClr val="accent1"/>
          </a:lnRef>
          <a:fillRef idx="1">
            <a:schemeClr val="lt1"/>
          </a:fillRef>
          <a:effectRef idx="0">
            <a:schemeClr val="accent1"/>
          </a:effectRef>
          <a:fontRef idx="minor">
            <a:schemeClr val="dk1"/>
          </a:fontRef>
        </p:style>
        <p:txBody>
          <a:bodyPr wrap="none" anchor="ctr"/>
          <a:lstStyle/>
          <a:p>
            <a:endParaRPr lang="zh-CN" altLang="en-US"/>
          </a:p>
        </p:txBody>
      </p:sp>
      <p:sp>
        <p:nvSpPr>
          <p:cNvPr id="540681" name="Line 9"/>
          <p:cNvSpPr>
            <a:spLocks noChangeShapeType="1"/>
          </p:cNvSpPr>
          <p:nvPr/>
        </p:nvSpPr>
        <p:spPr bwMode="auto">
          <a:xfrm>
            <a:off x="5383214" y="3796051"/>
            <a:ext cx="917575" cy="0"/>
          </a:xfrm>
          <a:prstGeom prst="line">
            <a:avLst/>
          </a:prstGeom>
          <a:ln>
            <a:headEnd/>
            <a:tailEnd type="triangle" w="med" len="med"/>
          </a:ln>
          <a:extLst/>
        </p:spPr>
        <p:style>
          <a:lnRef idx="2">
            <a:schemeClr val="accent1"/>
          </a:lnRef>
          <a:fillRef idx="1">
            <a:schemeClr val="lt1"/>
          </a:fillRef>
          <a:effectRef idx="0">
            <a:schemeClr val="accent1"/>
          </a:effectRef>
          <a:fontRef idx="minor">
            <a:schemeClr val="dk1"/>
          </a:fontRef>
        </p:style>
        <p:txBody>
          <a:bodyPr wrap="none" anchor="ctr"/>
          <a:lstStyle/>
          <a:p>
            <a:endParaRPr lang="zh-CN" altLang="en-US"/>
          </a:p>
        </p:txBody>
      </p:sp>
      <p:sp>
        <p:nvSpPr>
          <p:cNvPr id="2" name="矩形 1"/>
          <p:cNvSpPr>
            <a:spLocks noChangeArrowheads="1"/>
          </p:cNvSpPr>
          <p:nvPr/>
        </p:nvSpPr>
        <p:spPr bwMode="auto">
          <a:xfrm>
            <a:off x="772090" y="2745426"/>
            <a:ext cx="10226110" cy="3323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50000"/>
              </a:lnSpc>
            </a:pPr>
            <a:r>
              <a:rPr lang="zh-CN" altLang="en-US" sz="3200" b="1" dirty="0">
                <a:solidFill>
                  <a:srgbClr val="C00000"/>
                </a:solidFill>
                <a:latin typeface="Arial" charset="0"/>
              </a:rPr>
              <a:t>特点：</a:t>
            </a:r>
            <a:endParaRPr lang="en-US" altLang="zh-CN" sz="3200" b="1" dirty="0">
              <a:solidFill>
                <a:srgbClr val="C00000"/>
              </a:solidFill>
              <a:latin typeface="Arial" charset="0"/>
            </a:endParaRPr>
          </a:p>
          <a:p>
            <a:pPr algn="l">
              <a:lnSpc>
                <a:spcPct val="150000"/>
              </a:lnSpc>
            </a:pPr>
            <a:r>
              <a:rPr lang="en-US" altLang="zh-CN" sz="3200" b="1" dirty="0">
                <a:latin typeface="Arial" charset="0"/>
              </a:rPr>
              <a:t>1.  </a:t>
            </a:r>
            <a:r>
              <a:rPr lang="zh-CN" altLang="en-US" sz="3200" b="1" dirty="0">
                <a:latin typeface="Arial" charset="0"/>
              </a:rPr>
              <a:t>在函数里调用自身； </a:t>
            </a:r>
          </a:p>
          <a:p>
            <a:pPr algn="l">
              <a:lnSpc>
                <a:spcPct val="150000"/>
              </a:lnSpc>
            </a:pPr>
            <a:r>
              <a:rPr lang="en-US" altLang="zh-CN" sz="3200" b="1" dirty="0">
                <a:latin typeface="Arial" charset="0"/>
              </a:rPr>
              <a:t>2.  </a:t>
            </a:r>
            <a:r>
              <a:rPr lang="zh-CN" altLang="en-US" sz="3200" b="1" dirty="0">
                <a:latin typeface="Arial" charset="0"/>
              </a:rPr>
              <a:t>在使用递归策略时，必须有一个明确的递归结束条件，称为递归出口。</a:t>
            </a:r>
          </a:p>
          <a:p>
            <a:pPr algn="l"/>
            <a:endParaRPr lang="zh-CN" altLang="en-US" b="1" dirty="0">
              <a:solidFill>
                <a:srgbClr val="003366"/>
              </a:solidFill>
            </a:endParaRPr>
          </a:p>
        </p:txBody>
      </p:sp>
      <p:pic>
        <p:nvPicPr>
          <p:cNvPr id="13" name="图片 12">
            <a:extLst>
              <a:ext uri="{FF2B5EF4-FFF2-40B4-BE49-F238E27FC236}">
                <a16:creationId xmlns:a16="http://schemas.microsoft.com/office/drawing/2014/main" id="{65EA4AC2-62A6-403C-845C-8E2AE49A8A55}"/>
              </a:ext>
            </a:extLst>
          </p:cNvPr>
          <p:cNvPicPr>
            <a:picLocks noChangeAspect="1"/>
          </p:cNvPicPr>
          <p:nvPr/>
        </p:nvPicPr>
        <p:blipFill>
          <a:blip r:embed="rId3"/>
          <a:stretch>
            <a:fillRect/>
          </a:stretch>
        </p:blipFill>
        <p:spPr>
          <a:xfrm>
            <a:off x="3717160" y="114299"/>
            <a:ext cx="4757680" cy="932769"/>
          </a:xfrm>
          <a:prstGeom prst="rect">
            <a:avLst/>
          </a:prstGeom>
        </p:spPr>
      </p:pic>
      <p:sp>
        <p:nvSpPr>
          <p:cNvPr id="14" name="Rectangle 2">
            <a:extLst>
              <a:ext uri="{FF2B5EF4-FFF2-40B4-BE49-F238E27FC236}">
                <a16:creationId xmlns:a16="http://schemas.microsoft.com/office/drawing/2014/main" id="{7C979210-C94D-4B3C-9AFA-C8C585D7CE8F}"/>
              </a:ext>
            </a:extLst>
          </p:cNvPr>
          <p:cNvSpPr>
            <a:spLocks noChangeArrowheads="1"/>
          </p:cNvSpPr>
          <p:nvPr/>
        </p:nvSpPr>
        <p:spPr bwMode="auto">
          <a:xfrm>
            <a:off x="4148076" y="138754"/>
            <a:ext cx="3912781"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600" b="1" dirty="0">
                <a:solidFill>
                  <a:srgbClr val="800000"/>
                </a:solidFill>
                <a:latin typeface="微软雅黑" panose="020B0503020204020204" pitchFamily="34" charset="-122"/>
                <a:ea typeface="微软雅黑" panose="020B0503020204020204" pitchFamily="34" charset="-122"/>
                <a:cs typeface="+mj-cs"/>
              </a:rPr>
              <a:t>递归的定义</a:t>
            </a:r>
          </a:p>
        </p:txBody>
      </p:sp>
    </p:spTree>
    <p:extLst>
      <p:ext uri="{BB962C8B-B14F-4D97-AF65-F5344CB8AC3E}">
        <p14:creationId xmlns:p14="http://schemas.microsoft.com/office/powerpoint/2010/main" val="5569807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0674">
                                            <p:txEl>
                                              <p:pRg st="0" end="0"/>
                                            </p:txEl>
                                          </p:spTgt>
                                        </p:tgtEl>
                                        <p:attrNameLst>
                                          <p:attrName>style.visibility</p:attrName>
                                        </p:attrNameLst>
                                      </p:cBhvr>
                                      <p:to>
                                        <p:strVal val="visible"/>
                                      </p:to>
                                    </p:set>
                                    <p:animEffect transition="in" filter="wipe(left)">
                                      <p:cBhvr>
                                        <p:cTn id="7" dur="500"/>
                                        <p:tgtEl>
                                          <p:spTgt spid="5406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0674">
                                            <p:txEl>
                                              <p:pRg st="1" end="1"/>
                                            </p:txEl>
                                          </p:spTgt>
                                        </p:tgtEl>
                                        <p:attrNameLst>
                                          <p:attrName>style.visibility</p:attrName>
                                        </p:attrNameLst>
                                      </p:cBhvr>
                                      <p:to>
                                        <p:strVal val="visible"/>
                                      </p:to>
                                    </p:set>
                                    <p:animEffect transition="in" filter="wipe(left)">
                                      <p:cBhvr>
                                        <p:cTn id="12" dur="500"/>
                                        <p:tgtEl>
                                          <p:spTgt spid="54067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0676"/>
                                        </p:tgtEl>
                                        <p:attrNameLst>
                                          <p:attrName>style.visibility</p:attrName>
                                        </p:attrNameLst>
                                      </p:cBhvr>
                                      <p:to>
                                        <p:strVal val="visible"/>
                                      </p:to>
                                    </p:set>
                                    <p:animEffect transition="in" filter="dissolve">
                                      <p:cBhvr>
                                        <p:cTn id="17" dur="500"/>
                                        <p:tgtEl>
                                          <p:spTgt spid="540676"/>
                                        </p:tgtEl>
                                      </p:cBhvr>
                                    </p:animEffect>
                                  </p:childTnLst>
                                </p:cTn>
                              </p:par>
                            </p:childTnLst>
                          </p:cTn>
                        </p:par>
                        <p:par>
                          <p:cTn id="18" fill="hold" nodeType="afterGroup">
                            <p:stCondLst>
                              <p:cond delay="500"/>
                            </p:stCondLst>
                            <p:childTnLst>
                              <p:par>
                                <p:cTn id="19" presetID="22" presetClass="entr" presetSubtype="1" fill="hold" grpId="0" nodeType="afterEffect">
                                  <p:stCondLst>
                                    <p:cond delay="1000"/>
                                  </p:stCondLst>
                                  <p:childTnLst>
                                    <p:set>
                                      <p:cBhvr>
                                        <p:cTn id="20" dur="1" fill="hold">
                                          <p:stCondLst>
                                            <p:cond delay="0"/>
                                          </p:stCondLst>
                                        </p:cTn>
                                        <p:tgtEl>
                                          <p:spTgt spid="540678"/>
                                        </p:tgtEl>
                                        <p:attrNameLst>
                                          <p:attrName>style.visibility</p:attrName>
                                        </p:attrNameLst>
                                      </p:cBhvr>
                                      <p:to>
                                        <p:strVal val="visible"/>
                                      </p:to>
                                    </p:set>
                                    <p:animEffect transition="in" filter="wipe(up)">
                                      <p:cBhvr>
                                        <p:cTn id="21" dur="500"/>
                                        <p:tgtEl>
                                          <p:spTgt spid="540678"/>
                                        </p:tgtEl>
                                      </p:cBhvr>
                                    </p:animEffect>
                                  </p:childTnLst>
                                </p:cTn>
                              </p:par>
                            </p:childTnLst>
                          </p:cTn>
                        </p:par>
                        <p:par>
                          <p:cTn id="22" fill="hold" nodeType="afterGroup">
                            <p:stCondLst>
                              <p:cond delay="2000"/>
                            </p:stCondLst>
                            <p:childTnLst>
                              <p:par>
                                <p:cTn id="23" presetID="9" presetClass="entr" presetSubtype="0" fill="hold" grpId="0" nodeType="afterEffect">
                                  <p:stCondLst>
                                    <p:cond delay="1000"/>
                                  </p:stCondLst>
                                  <p:childTnLst>
                                    <p:set>
                                      <p:cBhvr>
                                        <p:cTn id="24" dur="1" fill="hold">
                                          <p:stCondLst>
                                            <p:cond delay="0"/>
                                          </p:stCondLst>
                                        </p:cTn>
                                        <p:tgtEl>
                                          <p:spTgt spid="540677"/>
                                        </p:tgtEl>
                                        <p:attrNameLst>
                                          <p:attrName>style.visibility</p:attrName>
                                        </p:attrNameLst>
                                      </p:cBhvr>
                                      <p:to>
                                        <p:strVal val="visible"/>
                                      </p:to>
                                    </p:set>
                                    <p:animEffect transition="in" filter="dissolve">
                                      <p:cBhvr>
                                        <p:cTn id="25" dur="500"/>
                                        <p:tgtEl>
                                          <p:spTgt spid="540677"/>
                                        </p:tgtEl>
                                      </p:cBhvr>
                                    </p:animEffect>
                                  </p:childTnLst>
                                </p:cTn>
                              </p:par>
                            </p:childTnLst>
                          </p:cTn>
                        </p:par>
                        <p:par>
                          <p:cTn id="26" fill="hold" nodeType="afterGroup">
                            <p:stCondLst>
                              <p:cond delay="3500"/>
                            </p:stCondLst>
                            <p:childTnLst>
                              <p:par>
                                <p:cTn id="27" presetID="22" presetClass="entr" presetSubtype="2" fill="hold" grpId="0" nodeType="afterEffect">
                                  <p:stCondLst>
                                    <p:cond delay="0"/>
                                  </p:stCondLst>
                                  <p:childTnLst>
                                    <p:set>
                                      <p:cBhvr>
                                        <p:cTn id="28" dur="1" fill="hold">
                                          <p:stCondLst>
                                            <p:cond delay="0"/>
                                          </p:stCondLst>
                                        </p:cTn>
                                        <p:tgtEl>
                                          <p:spTgt spid="540679"/>
                                        </p:tgtEl>
                                        <p:attrNameLst>
                                          <p:attrName>style.visibility</p:attrName>
                                        </p:attrNameLst>
                                      </p:cBhvr>
                                      <p:to>
                                        <p:strVal val="visible"/>
                                      </p:to>
                                    </p:set>
                                    <p:animEffect transition="in" filter="wipe(right)">
                                      <p:cBhvr>
                                        <p:cTn id="29" dur="500"/>
                                        <p:tgtEl>
                                          <p:spTgt spid="540679"/>
                                        </p:tgtEl>
                                      </p:cBhvr>
                                    </p:animEffect>
                                  </p:childTnLst>
                                </p:cTn>
                              </p:par>
                            </p:childTnLst>
                          </p:cTn>
                        </p:par>
                        <p:par>
                          <p:cTn id="30" fill="hold" nodeType="afterGroup">
                            <p:stCondLst>
                              <p:cond delay="4000"/>
                            </p:stCondLst>
                            <p:childTnLst>
                              <p:par>
                                <p:cTn id="31" presetID="22" presetClass="entr" presetSubtype="4" fill="hold" grpId="0" nodeType="afterEffect">
                                  <p:stCondLst>
                                    <p:cond delay="0"/>
                                  </p:stCondLst>
                                  <p:childTnLst>
                                    <p:set>
                                      <p:cBhvr>
                                        <p:cTn id="32" dur="1" fill="hold">
                                          <p:stCondLst>
                                            <p:cond delay="0"/>
                                          </p:stCondLst>
                                        </p:cTn>
                                        <p:tgtEl>
                                          <p:spTgt spid="540680"/>
                                        </p:tgtEl>
                                        <p:attrNameLst>
                                          <p:attrName>style.visibility</p:attrName>
                                        </p:attrNameLst>
                                      </p:cBhvr>
                                      <p:to>
                                        <p:strVal val="visible"/>
                                      </p:to>
                                    </p:set>
                                    <p:animEffect transition="in" filter="wipe(down)">
                                      <p:cBhvr>
                                        <p:cTn id="33" dur="500"/>
                                        <p:tgtEl>
                                          <p:spTgt spid="540680"/>
                                        </p:tgtEl>
                                      </p:cBhvr>
                                    </p:animEffect>
                                  </p:childTnLst>
                                </p:cTn>
                              </p:par>
                            </p:childTnLst>
                          </p:cTn>
                        </p:par>
                        <p:par>
                          <p:cTn id="34" fill="hold" nodeType="afterGroup">
                            <p:stCondLst>
                              <p:cond delay="4500"/>
                            </p:stCondLst>
                            <p:childTnLst>
                              <p:par>
                                <p:cTn id="35" presetID="22" presetClass="entr" presetSubtype="8" fill="hold" grpId="0" nodeType="afterEffect">
                                  <p:stCondLst>
                                    <p:cond delay="0"/>
                                  </p:stCondLst>
                                  <p:childTnLst>
                                    <p:set>
                                      <p:cBhvr>
                                        <p:cTn id="36" dur="1" fill="hold">
                                          <p:stCondLst>
                                            <p:cond delay="0"/>
                                          </p:stCondLst>
                                        </p:cTn>
                                        <p:tgtEl>
                                          <p:spTgt spid="540681"/>
                                        </p:tgtEl>
                                        <p:attrNameLst>
                                          <p:attrName>style.visibility</p:attrName>
                                        </p:attrNameLst>
                                      </p:cBhvr>
                                      <p:to>
                                        <p:strVal val="visible"/>
                                      </p:to>
                                    </p:set>
                                    <p:animEffect transition="in" filter="wipe(left)">
                                      <p:cBhvr>
                                        <p:cTn id="37" dur="500"/>
                                        <p:tgtEl>
                                          <p:spTgt spid="54068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bg/>
                                          </p:spTgt>
                                        </p:tgtEl>
                                        <p:attrNameLst>
                                          <p:attrName>style.visibility</p:attrName>
                                        </p:attrNameLst>
                                      </p:cBhvr>
                                      <p:to>
                                        <p:strVal val="visible"/>
                                      </p:to>
                                    </p:set>
                                    <p:animEffect transition="in" filter="wipe(left)">
                                      <p:cBhvr>
                                        <p:cTn id="42" dur="500"/>
                                        <p:tgtEl>
                                          <p:spTgt spid="2">
                                            <p:bg/>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0" end="0"/>
                                            </p:txEl>
                                          </p:spTgt>
                                        </p:tgtEl>
                                        <p:attrNameLst>
                                          <p:attrName>style.visibility</p:attrName>
                                        </p:attrNameLst>
                                      </p:cBhvr>
                                      <p:to>
                                        <p:strVal val="visible"/>
                                      </p:to>
                                    </p:set>
                                    <p:animEffect transition="in" filter="wipe(left)">
                                      <p:cBhvr>
                                        <p:cTn id="47" dur="500"/>
                                        <p:tgtEl>
                                          <p:spTgt spid="2">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
                                            <p:txEl>
                                              <p:pRg st="1" end="1"/>
                                            </p:txEl>
                                          </p:spTgt>
                                        </p:tgtEl>
                                        <p:attrNameLst>
                                          <p:attrName>style.visibility</p:attrName>
                                        </p:attrNameLst>
                                      </p:cBhvr>
                                      <p:to>
                                        <p:strVal val="visible"/>
                                      </p:to>
                                    </p:set>
                                    <p:animEffect transition="in" filter="wipe(left)">
                                      <p:cBhvr>
                                        <p:cTn id="52" dur="500"/>
                                        <p:tgtEl>
                                          <p:spTgt spid="2">
                                            <p:txEl>
                                              <p:pRg st="1" end="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
                                            <p:txEl>
                                              <p:pRg st="2" end="2"/>
                                            </p:txEl>
                                          </p:spTgt>
                                        </p:tgtEl>
                                        <p:attrNameLst>
                                          <p:attrName>style.visibility</p:attrName>
                                        </p:attrNameLst>
                                      </p:cBhvr>
                                      <p:to>
                                        <p:strVal val="visible"/>
                                      </p:to>
                                    </p:set>
                                    <p:animEffect transition="in" filter="wipe(left)">
                                      <p:cBhvr>
                                        <p:cTn id="5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4" grpId="0" build="p" bldLvl="3" autoUpdateAnimBg="0"/>
      <p:bldP spid="540676" grpId="0" animBg="1" autoUpdateAnimBg="0"/>
      <p:bldP spid="540677" grpId="0" animBg="1" autoUpdateAnimBg="0"/>
      <p:bldP spid="540678" grpId="0" animBg="1"/>
      <p:bldP spid="540679" grpId="0" animBg="1"/>
      <p:bldP spid="540680" grpId="0" animBg="1"/>
      <p:bldP spid="540681" grpId="0" animBg="1"/>
      <p:bldP spid="2" grpId="0" build="p"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endParaRPr lang="en-US" altLang="zh-CN" dirty="0"/>
          </a:p>
        </p:txBody>
      </p:sp>
      <p:sp>
        <p:nvSpPr>
          <p:cNvPr id="542722" name="Rectangle 2"/>
          <p:cNvSpPr>
            <a:spLocks noChangeArrowheads="1"/>
          </p:cNvSpPr>
          <p:nvPr/>
        </p:nvSpPr>
        <p:spPr bwMode="auto">
          <a:xfrm>
            <a:off x="3843668" y="3291692"/>
            <a:ext cx="4010025" cy="2759075"/>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a:spAutoFit/>
          </a:bodyPr>
          <a:lstStyle/>
          <a:p>
            <a:pPr algn="l" eaLnBrk="0" hangingPunct="0">
              <a:lnSpc>
                <a:spcPct val="90000"/>
              </a:lnSpc>
            </a:pPr>
            <a:r>
              <a:rPr lang="en-US" altLang="zh-CN" sz="3200" b="1" dirty="0">
                <a:solidFill>
                  <a:srgbClr val="C00000"/>
                </a:solidFill>
                <a:latin typeface="Times New Roman" pitchFamily="18" charset="0"/>
                <a:ea typeface="宋体" charset="-122"/>
              </a:rPr>
              <a:t>long </a:t>
            </a:r>
            <a:r>
              <a:rPr lang="en-US" altLang="zh-CN" sz="3200" b="1" dirty="0" err="1">
                <a:solidFill>
                  <a:srgbClr val="C00000"/>
                </a:solidFill>
                <a:latin typeface="Times New Roman" pitchFamily="18" charset="0"/>
                <a:ea typeface="宋体" charset="-122"/>
              </a:rPr>
              <a:t>fac</a:t>
            </a:r>
            <a:r>
              <a:rPr lang="en-US" altLang="zh-CN" sz="3200" b="1" dirty="0">
                <a:solidFill>
                  <a:srgbClr val="C00000"/>
                </a:solidFill>
                <a:latin typeface="Times New Roman" pitchFamily="18" charset="0"/>
                <a:ea typeface="宋体" charset="-122"/>
              </a:rPr>
              <a:t>(</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n)</a:t>
            </a:r>
          </a:p>
          <a:p>
            <a:pPr algn="l" eaLnBrk="0" hangingPunct="0">
              <a:lnSpc>
                <a:spcPct val="90000"/>
              </a:lnSpc>
            </a:pPr>
            <a:r>
              <a:rPr lang="en-US" altLang="zh-CN" sz="3200" b="1" dirty="0">
                <a:latin typeface="Times New Roman" pitchFamily="18" charset="0"/>
                <a:ea typeface="宋体" charset="-122"/>
              </a:rPr>
              <a:t>{    long f;</a:t>
            </a:r>
          </a:p>
          <a:p>
            <a:pPr algn="l" eaLnBrk="0" hangingPunct="0">
              <a:lnSpc>
                <a:spcPct val="90000"/>
              </a:lnSpc>
            </a:pPr>
            <a:r>
              <a:rPr lang="en-US" altLang="zh-CN" sz="3200" b="1" dirty="0">
                <a:latin typeface="Times New Roman" pitchFamily="18" charset="0"/>
                <a:ea typeface="宋体" charset="-122"/>
              </a:rPr>
              <a:t>      if(n==1)  f=1;</a:t>
            </a:r>
          </a:p>
          <a:p>
            <a:pPr algn="l" eaLnBrk="0" hangingPunct="0">
              <a:lnSpc>
                <a:spcPct val="90000"/>
              </a:lnSpc>
            </a:pPr>
            <a:r>
              <a:rPr lang="en-US" altLang="zh-CN" sz="3200" b="1" dirty="0">
                <a:latin typeface="Times New Roman" pitchFamily="18" charset="0"/>
                <a:ea typeface="宋体" charset="-122"/>
              </a:rPr>
              <a:t>      else f= n*</a:t>
            </a:r>
            <a:r>
              <a:rPr lang="en-US" altLang="zh-CN" sz="3200" b="1" dirty="0" err="1">
                <a:latin typeface="Times New Roman" pitchFamily="18" charset="0"/>
                <a:ea typeface="宋体" charset="-122"/>
              </a:rPr>
              <a:t>fac</a:t>
            </a:r>
            <a:r>
              <a:rPr lang="en-US" altLang="zh-CN" sz="3200" b="1" dirty="0">
                <a:latin typeface="Times New Roman" pitchFamily="18" charset="0"/>
                <a:ea typeface="宋体" charset="-122"/>
              </a:rPr>
              <a:t>(n-1);</a:t>
            </a:r>
          </a:p>
          <a:p>
            <a:pPr algn="l" eaLnBrk="0" hangingPunct="0">
              <a:lnSpc>
                <a:spcPct val="90000"/>
              </a:lnSpc>
            </a:pPr>
            <a:r>
              <a:rPr lang="en-US" altLang="zh-CN" sz="3200" b="1" dirty="0">
                <a:latin typeface="Times New Roman" pitchFamily="18" charset="0"/>
                <a:ea typeface="宋体" charset="-122"/>
              </a:rPr>
              <a:t>      return(f);</a:t>
            </a:r>
          </a:p>
          <a:p>
            <a:pPr algn="l" eaLnBrk="0" hangingPunct="0">
              <a:lnSpc>
                <a:spcPct val="90000"/>
              </a:lnSpc>
            </a:pPr>
            <a:r>
              <a:rPr lang="en-US" altLang="zh-CN" sz="3200" b="1" dirty="0">
                <a:latin typeface="Times New Roman" pitchFamily="18" charset="0"/>
                <a:ea typeface="宋体" charset="-122"/>
              </a:rPr>
              <a:t>}</a:t>
            </a:r>
          </a:p>
        </p:txBody>
      </p:sp>
      <p:grpSp>
        <p:nvGrpSpPr>
          <p:cNvPr id="542723" name="Group 3"/>
          <p:cNvGrpSpPr>
            <a:grpSpLocks/>
          </p:cNvGrpSpPr>
          <p:nvPr/>
        </p:nvGrpSpPr>
        <p:grpSpPr bwMode="auto">
          <a:xfrm>
            <a:off x="2757378" y="1217072"/>
            <a:ext cx="7267575" cy="1590674"/>
            <a:chOff x="1152" y="960"/>
            <a:chExt cx="4578" cy="1002"/>
          </a:xfrm>
        </p:grpSpPr>
        <p:sp>
          <p:nvSpPr>
            <p:cNvPr id="12295" name="Rectangle 4"/>
            <p:cNvSpPr>
              <a:spLocks noChangeArrowheads="1"/>
            </p:cNvSpPr>
            <p:nvPr/>
          </p:nvSpPr>
          <p:spPr bwMode="auto">
            <a:xfrm>
              <a:off x="1152" y="960"/>
              <a:ext cx="4578" cy="10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eaLnBrk="0" hangingPunct="0">
                <a:lnSpc>
                  <a:spcPct val="90000"/>
                </a:lnSpc>
              </a:pPr>
              <a:r>
                <a:rPr lang="zh-CN" altLang="en-US" sz="3600" b="1" dirty="0">
                  <a:latin typeface="Times New Roman" pitchFamily="18" charset="0"/>
                </a:rPr>
                <a:t>　　　 </a:t>
              </a:r>
              <a:r>
                <a:rPr lang="en-US" altLang="zh-CN" sz="3600" b="1" dirty="0">
                  <a:latin typeface="Times New Roman" pitchFamily="18" charset="0"/>
                </a:rPr>
                <a:t>1             (n=1)</a:t>
              </a:r>
            </a:p>
            <a:p>
              <a:pPr algn="l" eaLnBrk="0" hangingPunct="0">
                <a:lnSpc>
                  <a:spcPct val="90000"/>
                </a:lnSpc>
              </a:pPr>
              <a:r>
                <a:rPr lang="en-US" altLang="zh-CN" sz="3600" b="1" dirty="0">
                  <a:latin typeface="Times New Roman" pitchFamily="18" charset="0"/>
                </a:rPr>
                <a:t>    n!=</a:t>
              </a:r>
            </a:p>
            <a:p>
              <a:pPr algn="l" eaLnBrk="0" hangingPunct="0">
                <a:lnSpc>
                  <a:spcPct val="90000"/>
                </a:lnSpc>
              </a:pPr>
              <a:r>
                <a:rPr lang="en-US" altLang="zh-CN" sz="3600" b="1" dirty="0">
                  <a:latin typeface="Times New Roman" pitchFamily="18" charset="0"/>
                </a:rPr>
                <a:t>         </a:t>
              </a:r>
              <a:r>
                <a:rPr lang="zh-CN" altLang="en-US" sz="3600" b="1" dirty="0">
                  <a:latin typeface="Times New Roman" pitchFamily="18" charset="0"/>
                </a:rPr>
                <a:t>　</a:t>
              </a:r>
              <a:r>
                <a:rPr lang="en-US" altLang="zh-CN" sz="3600" b="1" dirty="0">
                  <a:latin typeface="Times New Roman" pitchFamily="18" charset="0"/>
                </a:rPr>
                <a:t>n*(n-1)! (n   2)</a:t>
              </a:r>
            </a:p>
          </p:txBody>
        </p:sp>
        <p:sp>
          <p:nvSpPr>
            <p:cNvPr id="12296" name="AutoShape 5"/>
            <p:cNvSpPr>
              <a:spLocks/>
            </p:cNvSpPr>
            <p:nvPr/>
          </p:nvSpPr>
          <p:spPr bwMode="auto">
            <a:xfrm>
              <a:off x="1957" y="1055"/>
              <a:ext cx="155" cy="769"/>
            </a:xfrm>
            <a:prstGeom prst="leftBrace">
              <a:avLst>
                <a:gd name="adj1" fmla="val 41344"/>
                <a:gd name="adj2" fmla="val 50000"/>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aphicFrame>
          <p:nvGraphicFramePr>
            <p:cNvPr id="12297" name="Object 6"/>
            <p:cNvGraphicFramePr>
              <a:graphicFrameLocks noChangeAspect="1"/>
            </p:cNvGraphicFramePr>
            <p:nvPr/>
          </p:nvGraphicFramePr>
          <p:xfrm>
            <a:off x="3480" y="1632"/>
            <a:ext cx="180" cy="265"/>
          </p:xfrm>
          <a:graphic>
            <a:graphicData uri="http://schemas.openxmlformats.org/presentationml/2006/ole">
              <mc:AlternateContent xmlns:mc="http://schemas.openxmlformats.org/markup-compatibility/2006">
                <mc:Choice xmlns:v="urn:schemas-microsoft-com:vml" Requires="v">
                  <p:oleObj spid="_x0000_s2263" name="Equation" r:id="rId4" imgW="126835" imgH="152202" progId="Equation.DSMT4">
                    <p:embed/>
                  </p:oleObj>
                </mc:Choice>
                <mc:Fallback>
                  <p:oleObj name="Equation" r:id="rId4" imgW="126835" imgH="152202" progId="Equation.DSMT4">
                    <p:embed/>
                    <p:pic>
                      <p:nvPicPr>
                        <p:cNvPr id="1229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0" y="1632"/>
                          <a:ext cx="180"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42728" name="Rectangle 8"/>
          <p:cNvSpPr>
            <a:spLocks noChangeArrowheads="1"/>
          </p:cNvSpPr>
          <p:nvPr/>
        </p:nvSpPr>
        <p:spPr bwMode="auto">
          <a:xfrm>
            <a:off x="5047098" y="4115604"/>
            <a:ext cx="65274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3200" b="1" dirty="0">
                <a:solidFill>
                  <a:srgbClr val="C00000"/>
                </a:solidFill>
                <a:latin typeface="Times New Roman" pitchFamily="18" charset="0"/>
                <a:ea typeface="宋体" charset="-122"/>
              </a:rPr>
              <a:t>==</a:t>
            </a:r>
          </a:p>
        </p:txBody>
      </p:sp>
      <p:pic>
        <p:nvPicPr>
          <p:cNvPr id="10" name="图片 9">
            <a:extLst>
              <a:ext uri="{FF2B5EF4-FFF2-40B4-BE49-F238E27FC236}">
                <a16:creationId xmlns:a16="http://schemas.microsoft.com/office/drawing/2014/main" id="{485FA108-E99A-4416-A280-1DFCCEE9CBFA}"/>
              </a:ext>
            </a:extLst>
          </p:cNvPr>
          <p:cNvPicPr>
            <a:picLocks noChangeAspect="1"/>
          </p:cNvPicPr>
          <p:nvPr/>
        </p:nvPicPr>
        <p:blipFill>
          <a:blip r:embed="rId6"/>
          <a:stretch>
            <a:fillRect/>
          </a:stretch>
        </p:blipFill>
        <p:spPr>
          <a:xfrm>
            <a:off x="3717160" y="114299"/>
            <a:ext cx="4757680" cy="932769"/>
          </a:xfrm>
          <a:prstGeom prst="rect">
            <a:avLst/>
          </a:prstGeom>
        </p:spPr>
      </p:pic>
      <p:sp>
        <p:nvSpPr>
          <p:cNvPr id="11" name="Rectangle 2">
            <a:extLst>
              <a:ext uri="{FF2B5EF4-FFF2-40B4-BE49-F238E27FC236}">
                <a16:creationId xmlns:a16="http://schemas.microsoft.com/office/drawing/2014/main" id="{C936DBDD-D112-4E03-9800-84316DB0C6BD}"/>
              </a:ext>
            </a:extLst>
          </p:cNvPr>
          <p:cNvSpPr>
            <a:spLocks noChangeArrowheads="1"/>
          </p:cNvSpPr>
          <p:nvPr/>
        </p:nvSpPr>
        <p:spPr bwMode="auto">
          <a:xfrm>
            <a:off x="4148076" y="138754"/>
            <a:ext cx="3912781"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6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递归算法求</a:t>
            </a:r>
            <a:r>
              <a:rPr lang="en-US" altLang="zh-CN" sz="36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n! </a:t>
            </a:r>
            <a:endParaRPr lang="zh-CN" altLang="en-US" sz="36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938262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42723"/>
                                        </p:tgtEl>
                                        <p:attrNameLst>
                                          <p:attrName>style.visibility</p:attrName>
                                        </p:attrNameLst>
                                      </p:cBhvr>
                                      <p:to>
                                        <p:strVal val="visible"/>
                                      </p:to>
                                    </p:set>
                                    <p:animEffect transition="in" filter="dissolve">
                                      <p:cBhvr>
                                        <p:cTn id="7" dur="500"/>
                                        <p:tgtEl>
                                          <p:spTgt spid="5427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42722"/>
                                        </p:tgtEl>
                                        <p:attrNameLst>
                                          <p:attrName>style.visibility</p:attrName>
                                        </p:attrNameLst>
                                      </p:cBhvr>
                                      <p:to>
                                        <p:strVal val="visible"/>
                                      </p:to>
                                    </p:set>
                                    <p:animEffect transition="in" filter="dissolve">
                                      <p:cBhvr>
                                        <p:cTn id="12" dur="500"/>
                                        <p:tgtEl>
                                          <p:spTgt spid="5427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2728"/>
                                        </p:tgtEl>
                                        <p:attrNameLst>
                                          <p:attrName>style.visibility</p:attrName>
                                        </p:attrNameLst>
                                      </p:cBhvr>
                                      <p:to>
                                        <p:strVal val="visible"/>
                                      </p:to>
                                    </p:set>
                                    <p:animEffect transition="in" filter="dissolve">
                                      <p:cBhvr>
                                        <p:cTn id="17" dur="500"/>
                                        <p:tgtEl>
                                          <p:spTgt spid="542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2" grpId="0" animBg="1" autoUpdateAnimBg="0"/>
      <p:bldP spid="542728"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3"/>
          <p:cNvSpPr>
            <a:spLocks noGrp="1"/>
          </p:cNvSpPr>
          <p:nvPr>
            <p:ph type="sldNum" sz="quarter" idx="12"/>
          </p:nvPr>
        </p:nvSpPr>
        <p:spPr/>
        <p:txBody>
          <a:bodyPr/>
          <a:lstStyle/>
          <a:p>
            <a:pPr>
              <a:defRPr/>
            </a:pPr>
            <a:endParaRPr lang="en-US" altLang="zh-CN" dirty="0"/>
          </a:p>
        </p:txBody>
      </p:sp>
      <p:graphicFrame>
        <p:nvGraphicFramePr>
          <p:cNvPr id="543746" name="Object 2"/>
          <p:cNvGraphicFramePr>
            <a:graphicFrameLocks/>
          </p:cNvGraphicFramePr>
          <p:nvPr>
            <p:extLst>
              <p:ext uri="{D42A27DB-BD31-4B8C-83A1-F6EECF244321}">
                <p14:modId xmlns:p14="http://schemas.microsoft.com/office/powerpoint/2010/main" val="925266845"/>
              </p:ext>
            </p:extLst>
          </p:nvPr>
        </p:nvGraphicFramePr>
        <p:xfrm>
          <a:off x="4398964" y="3090155"/>
          <a:ext cx="331787" cy="295275"/>
        </p:xfrm>
        <a:graphic>
          <a:graphicData uri="http://schemas.openxmlformats.org/presentationml/2006/ole">
            <mc:AlternateContent xmlns:mc="http://schemas.openxmlformats.org/markup-compatibility/2006">
              <mc:Choice xmlns:v="urn:schemas-microsoft-com:vml" Requires="v">
                <p:oleObj spid="_x0000_s4778" name="Bitmap Image" r:id="rId4" imgW="1295238" imgH="1190476" progId="Paint.Picture">
                  <p:embed/>
                </p:oleObj>
              </mc:Choice>
              <mc:Fallback>
                <p:oleObj name="Bitmap Image" r:id="rId4" imgW="1295238" imgH="1190476" progId="Paint.Picture">
                  <p:embed/>
                  <p:pic>
                    <p:nvPicPr>
                      <p:cNvPr id="543746" name="Object 2"/>
                      <p:cNvPicPr>
                        <a:picLocks noChangeArrowheads="1"/>
                      </p:cNvPicPr>
                      <p:nvPr/>
                    </p:nvPicPr>
                    <p:blipFill>
                      <a:blip r:embed="rId5">
                        <a:lum contrast="36000"/>
                        <a:extLst>
                          <a:ext uri="{28A0092B-C50C-407E-A947-70E740481C1C}">
                            <a14:useLocalDpi xmlns:a14="http://schemas.microsoft.com/office/drawing/2010/main" val="0"/>
                          </a:ext>
                        </a:extLst>
                      </a:blip>
                      <a:srcRect/>
                      <a:stretch>
                        <a:fillRect/>
                      </a:stretch>
                    </p:blipFill>
                    <p:spPr bwMode="auto">
                      <a:xfrm>
                        <a:off x="4398964" y="3090155"/>
                        <a:ext cx="331787"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3747" name="Object 3"/>
          <p:cNvGraphicFramePr>
            <a:graphicFrameLocks/>
          </p:cNvGraphicFramePr>
          <p:nvPr>
            <p:extLst>
              <p:ext uri="{D42A27DB-BD31-4B8C-83A1-F6EECF244321}">
                <p14:modId xmlns:p14="http://schemas.microsoft.com/office/powerpoint/2010/main" val="3994026604"/>
              </p:ext>
            </p:extLst>
          </p:nvPr>
        </p:nvGraphicFramePr>
        <p:xfrm>
          <a:off x="6011864" y="3064754"/>
          <a:ext cx="331787" cy="331788"/>
        </p:xfrm>
        <a:graphic>
          <a:graphicData uri="http://schemas.openxmlformats.org/presentationml/2006/ole">
            <mc:AlternateContent xmlns:mc="http://schemas.openxmlformats.org/markup-compatibility/2006">
              <mc:Choice xmlns:v="urn:schemas-microsoft-com:vml" Requires="v">
                <p:oleObj spid="_x0000_s4779" name="Bitmap Image" r:id="rId6" imgW="343039" imgH="295238" progId="Paint.Picture">
                  <p:embed/>
                </p:oleObj>
              </mc:Choice>
              <mc:Fallback>
                <p:oleObj name="Bitmap Image" r:id="rId6" imgW="343039" imgH="295238" progId="Paint.Picture">
                  <p:embed/>
                  <p:pic>
                    <p:nvPicPr>
                      <p:cNvPr id="543747" name="Object 3"/>
                      <p:cNvPicPr>
                        <a:picLocks noChangeArrowheads="1"/>
                      </p:cNvPicPr>
                      <p:nvPr/>
                    </p:nvPicPr>
                    <p:blipFill>
                      <a:blip r:embed="rId7">
                        <a:lum bright="-24000" contrast="48000"/>
                        <a:extLst>
                          <a:ext uri="{28A0092B-C50C-407E-A947-70E740481C1C}">
                            <a14:useLocalDpi xmlns:a14="http://schemas.microsoft.com/office/drawing/2010/main" val="0"/>
                          </a:ext>
                        </a:extLst>
                      </a:blip>
                      <a:srcRect/>
                      <a:stretch>
                        <a:fillRect/>
                      </a:stretch>
                    </p:blipFill>
                    <p:spPr bwMode="auto">
                      <a:xfrm>
                        <a:off x="6011864" y="3064754"/>
                        <a:ext cx="331787"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3748" name="Text Box 4"/>
          <p:cNvSpPr txBox="1">
            <a:spLocks noChangeArrowheads="1"/>
          </p:cNvSpPr>
          <p:nvPr/>
        </p:nvSpPr>
        <p:spPr bwMode="auto">
          <a:xfrm>
            <a:off x="2938463" y="990040"/>
            <a:ext cx="11336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latin typeface="Times New Roman" panose="02020603050405020304" pitchFamily="18" charset="0"/>
                <a:ea typeface="隶书" pitchFamily="49" charset="-122"/>
                <a:cs typeface="Times New Roman" panose="02020603050405020304" pitchFamily="18" charset="0"/>
              </a:rPr>
              <a:t>main( )</a:t>
            </a:r>
          </a:p>
        </p:txBody>
      </p:sp>
      <p:sp>
        <p:nvSpPr>
          <p:cNvPr id="543749" name="Text Box 5"/>
          <p:cNvSpPr txBox="1">
            <a:spLocks noChangeArrowheads="1"/>
          </p:cNvSpPr>
          <p:nvPr/>
        </p:nvSpPr>
        <p:spPr bwMode="auto">
          <a:xfrm>
            <a:off x="2495551" y="2348940"/>
            <a:ext cx="21701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zh-CN" altLang="zh-CN" sz="2400" b="1">
                <a:solidFill>
                  <a:srgbClr val="C00000"/>
                </a:solidFill>
                <a:latin typeface="Times New Roman" panose="02020603050405020304" pitchFamily="18" charset="0"/>
                <a:ea typeface="隶书" pitchFamily="49" charset="-122"/>
                <a:cs typeface="Times New Roman" panose="02020603050405020304" pitchFamily="18" charset="0"/>
              </a:rPr>
              <a:t>调用</a:t>
            </a:r>
            <a:r>
              <a:rPr lang="en-US" altLang="zh-CN" sz="2400" b="1">
                <a:solidFill>
                  <a:srgbClr val="C00000"/>
                </a:solidFill>
                <a:latin typeface="Times New Roman" panose="02020603050405020304" pitchFamily="18" charset="0"/>
                <a:ea typeface="隶书" pitchFamily="49" charset="-122"/>
                <a:cs typeface="Times New Roman" panose="02020603050405020304" pitchFamily="18" charset="0"/>
              </a:rPr>
              <a:t>fac(3)</a:t>
            </a:r>
          </a:p>
        </p:txBody>
      </p:sp>
      <p:sp>
        <p:nvSpPr>
          <p:cNvPr id="543750" name="Text Box 6"/>
          <p:cNvSpPr txBox="1">
            <a:spLocks noChangeArrowheads="1"/>
          </p:cNvSpPr>
          <p:nvPr/>
        </p:nvSpPr>
        <p:spPr bwMode="auto">
          <a:xfrm>
            <a:off x="2265363" y="2979178"/>
            <a:ext cx="1206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zh-CN" altLang="zh-CN" sz="2400" b="1" dirty="0">
                <a:latin typeface="Times New Roman" panose="02020603050405020304" pitchFamily="18" charset="0"/>
                <a:ea typeface="微软雅黑" panose="020B0503020204020204" pitchFamily="34" charset="-122"/>
                <a:cs typeface="Times New Roman" panose="02020603050405020304" pitchFamily="18" charset="0"/>
              </a:rPr>
              <a:t>打印</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3751" name="Text Box 7"/>
          <p:cNvSpPr txBox="1">
            <a:spLocks noChangeArrowheads="1"/>
          </p:cNvSpPr>
          <p:nvPr/>
        </p:nvSpPr>
        <p:spPr bwMode="auto">
          <a:xfrm>
            <a:off x="4962525" y="990040"/>
            <a:ext cx="9364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latin typeface="Times New Roman" panose="02020603050405020304" pitchFamily="18" charset="0"/>
                <a:ea typeface="隶书" pitchFamily="49" charset="-122"/>
                <a:cs typeface="Times New Roman" panose="02020603050405020304" pitchFamily="18" charset="0"/>
              </a:rPr>
              <a:t>fac(3)</a:t>
            </a:r>
          </a:p>
        </p:txBody>
      </p:sp>
      <p:sp>
        <p:nvSpPr>
          <p:cNvPr id="543752" name="Text Box 8"/>
          <p:cNvSpPr txBox="1">
            <a:spLocks noChangeArrowheads="1"/>
          </p:cNvSpPr>
          <p:nvPr/>
        </p:nvSpPr>
        <p:spPr bwMode="auto">
          <a:xfrm>
            <a:off x="6618289" y="990040"/>
            <a:ext cx="9364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latin typeface="Times New Roman" panose="02020603050405020304" pitchFamily="18" charset="0"/>
                <a:ea typeface="隶书" pitchFamily="49" charset="-122"/>
                <a:cs typeface="Times New Roman" panose="02020603050405020304" pitchFamily="18" charset="0"/>
              </a:rPr>
              <a:t>fac(2)</a:t>
            </a:r>
          </a:p>
        </p:txBody>
      </p:sp>
      <p:sp>
        <p:nvSpPr>
          <p:cNvPr id="543753" name="Text Box 9"/>
          <p:cNvSpPr txBox="1">
            <a:spLocks noChangeArrowheads="1"/>
          </p:cNvSpPr>
          <p:nvPr/>
        </p:nvSpPr>
        <p:spPr bwMode="auto">
          <a:xfrm>
            <a:off x="4505325" y="2347354"/>
            <a:ext cx="13211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C00000"/>
                </a:solidFill>
                <a:latin typeface="Times New Roman" panose="02020603050405020304" pitchFamily="18" charset="0"/>
                <a:ea typeface="隶书" pitchFamily="49" charset="-122"/>
                <a:cs typeface="Times New Roman" panose="02020603050405020304" pitchFamily="18" charset="0"/>
              </a:rPr>
              <a:t>3 *fac(2)</a:t>
            </a:r>
          </a:p>
        </p:txBody>
      </p:sp>
      <p:sp>
        <p:nvSpPr>
          <p:cNvPr id="543754" name="Line 10"/>
          <p:cNvSpPr>
            <a:spLocks noChangeShapeType="1"/>
          </p:cNvSpPr>
          <p:nvPr/>
        </p:nvSpPr>
        <p:spPr bwMode="auto">
          <a:xfrm>
            <a:off x="5427663" y="1464555"/>
            <a:ext cx="0" cy="90011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55" name="Line 11"/>
          <p:cNvSpPr>
            <a:spLocks noChangeShapeType="1"/>
          </p:cNvSpPr>
          <p:nvPr/>
        </p:nvSpPr>
        <p:spPr bwMode="auto">
          <a:xfrm flipH="1">
            <a:off x="3606801" y="2861854"/>
            <a:ext cx="4762" cy="544876"/>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56" name="Text Box 12"/>
          <p:cNvSpPr txBox="1">
            <a:spLocks noChangeArrowheads="1"/>
          </p:cNvSpPr>
          <p:nvPr/>
        </p:nvSpPr>
        <p:spPr bwMode="auto">
          <a:xfrm>
            <a:off x="4297363" y="1629804"/>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43757" name="Text Box 13"/>
          <p:cNvSpPr txBox="1">
            <a:spLocks noChangeArrowheads="1"/>
          </p:cNvSpPr>
          <p:nvPr/>
        </p:nvSpPr>
        <p:spPr bwMode="auto">
          <a:xfrm>
            <a:off x="3116263" y="1629804"/>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43758" name="Text Box 14"/>
          <p:cNvSpPr txBox="1">
            <a:spLocks noChangeArrowheads="1"/>
          </p:cNvSpPr>
          <p:nvPr/>
        </p:nvSpPr>
        <p:spPr bwMode="auto">
          <a:xfrm>
            <a:off x="5351463" y="1599640"/>
            <a:ext cx="45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43759" name="Text Box 15"/>
          <p:cNvSpPr txBox="1">
            <a:spLocks noChangeArrowheads="1"/>
          </p:cNvSpPr>
          <p:nvPr/>
        </p:nvSpPr>
        <p:spPr bwMode="auto">
          <a:xfrm>
            <a:off x="5986463" y="1586940"/>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FF33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43760" name="Text Box 16"/>
          <p:cNvSpPr txBox="1">
            <a:spLocks noChangeArrowheads="1"/>
          </p:cNvSpPr>
          <p:nvPr/>
        </p:nvSpPr>
        <p:spPr bwMode="auto">
          <a:xfrm>
            <a:off x="6964363" y="1567890"/>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FF33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43761" name="Text Box 17"/>
          <p:cNvSpPr txBox="1">
            <a:spLocks noChangeArrowheads="1"/>
          </p:cNvSpPr>
          <p:nvPr/>
        </p:nvSpPr>
        <p:spPr bwMode="auto">
          <a:xfrm>
            <a:off x="7573963" y="1579004"/>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43762" name="Text Box 18"/>
          <p:cNvSpPr txBox="1">
            <a:spLocks noChangeArrowheads="1"/>
          </p:cNvSpPr>
          <p:nvPr/>
        </p:nvSpPr>
        <p:spPr bwMode="auto">
          <a:xfrm>
            <a:off x="8602663" y="1586940"/>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43763" name="Text Box 19"/>
          <p:cNvSpPr txBox="1">
            <a:spLocks noChangeArrowheads="1"/>
          </p:cNvSpPr>
          <p:nvPr/>
        </p:nvSpPr>
        <p:spPr bwMode="auto">
          <a:xfrm>
            <a:off x="8602663" y="2971240"/>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43764" name="Text Box 20"/>
          <p:cNvSpPr txBox="1">
            <a:spLocks noChangeArrowheads="1"/>
          </p:cNvSpPr>
          <p:nvPr/>
        </p:nvSpPr>
        <p:spPr bwMode="auto">
          <a:xfrm>
            <a:off x="7586663" y="2971240"/>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43765" name="Rectangle 21"/>
          <p:cNvSpPr>
            <a:spLocks noChangeArrowheads="1"/>
          </p:cNvSpPr>
          <p:nvPr/>
        </p:nvSpPr>
        <p:spPr bwMode="auto">
          <a:xfrm>
            <a:off x="6900863" y="2960922"/>
            <a:ext cx="685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lang="en-US" altLang="zh-CN" sz="2400" b="1">
                <a:solidFill>
                  <a:srgbClr val="FF0000"/>
                </a:solidFill>
                <a:latin typeface="Times New Roman" panose="02020603050405020304" pitchFamily="18" charset="0"/>
                <a:cs typeface="Times New Roman" panose="02020603050405020304" pitchFamily="18" charset="0"/>
              </a:rPr>
              <a:t>⑩ </a:t>
            </a:r>
          </a:p>
        </p:txBody>
      </p:sp>
      <p:graphicFrame>
        <p:nvGraphicFramePr>
          <p:cNvPr id="543766" name="Object 22"/>
          <p:cNvGraphicFramePr>
            <a:graphicFrameLocks noChangeAspect="1"/>
          </p:cNvGraphicFramePr>
          <p:nvPr>
            <p:extLst>
              <p:ext uri="{D42A27DB-BD31-4B8C-83A1-F6EECF244321}">
                <p14:modId xmlns:p14="http://schemas.microsoft.com/office/powerpoint/2010/main" val="1914440715"/>
              </p:ext>
            </p:extLst>
          </p:nvPr>
        </p:nvGraphicFramePr>
        <p:xfrm>
          <a:off x="5465764" y="3064755"/>
          <a:ext cx="331787" cy="320675"/>
        </p:xfrm>
        <a:graphic>
          <a:graphicData uri="http://schemas.openxmlformats.org/presentationml/2006/ole">
            <mc:AlternateContent xmlns:mc="http://schemas.openxmlformats.org/markup-compatibility/2006">
              <mc:Choice xmlns:v="urn:schemas-microsoft-com:vml" Requires="v">
                <p:oleObj spid="_x0000_s4780" name="Bitmap Image" r:id="rId8" imgW="295238" imgH="285866" progId="Paint.Picture">
                  <p:embed/>
                </p:oleObj>
              </mc:Choice>
              <mc:Fallback>
                <p:oleObj name="Bitmap Image" r:id="rId8" imgW="295238" imgH="285866" progId="Paint.Picture">
                  <p:embed/>
                  <p:pic>
                    <p:nvPicPr>
                      <p:cNvPr id="543766" name="Object 22"/>
                      <p:cNvPicPr>
                        <a:picLocks noChangeAspect="1" noChangeArrowheads="1"/>
                      </p:cNvPicPr>
                      <p:nvPr/>
                    </p:nvPicPr>
                    <p:blipFill>
                      <a:blip r:embed="rId9">
                        <a:lum bright="-30000" contrast="100000"/>
                        <a:extLst>
                          <a:ext uri="{28A0092B-C50C-407E-A947-70E740481C1C}">
                            <a14:useLocalDpi xmlns:a14="http://schemas.microsoft.com/office/drawing/2010/main" val="0"/>
                          </a:ext>
                        </a:extLst>
                      </a:blip>
                      <a:srcRect/>
                      <a:stretch>
                        <a:fillRect/>
                      </a:stretch>
                    </p:blipFill>
                    <p:spPr bwMode="auto">
                      <a:xfrm>
                        <a:off x="5465764" y="3064755"/>
                        <a:ext cx="331787"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3767" name="Line 23"/>
          <p:cNvSpPr>
            <a:spLocks noChangeShapeType="1"/>
          </p:cNvSpPr>
          <p:nvPr/>
        </p:nvSpPr>
        <p:spPr bwMode="auto">
          <a:xfrm>
            <a:off x="3608388" y="1462967"/>
            <a:ext cx="0" cy="900112"/>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68" name="Line 24"/>
          <p:cNvSpPr>
            <a:spLocks noChangeShapeType="1"/>
          </p:cNvSpPr>
          <p:nvPr/>
        </p:nvSpPr>
        <p:spPr bwMode="auto">
          <a:xfrm>
            <a:off x="5453063" y="2842505"/>
            <a:ext cx="0" cy="90011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70" name="Text Box 26"/>
          <p:cNvSpPr txBox="1">
            <a:spLocks noChangeArrowheads="1"/>
          </p:cNvSpPr>
          <p:nvPr/>
        </p:nvSpPr>
        <p:spPr bwMode="auto">
          <a:xfrm>
            <a:off x="6291264" y="2285440"/>
            <a:ext cx="13211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solidFill>
                  <a:srgbClr val="C00000"/>
                </a:solidFill>
                <a:latin typeface="Times New Roman" panose="02020603050405020304" pitchFamily="18" charset="0"/>
                <a:ea typeface="隶书" pitchFamily="49" charset="-122"/>
                <a:cs typeface="Times New Roman" panose="02020603050405020304" pitchFamily="18" charset="0"/>
              </a:rPr>
              <a:t>2 *fac(1)</a:t>
            </a:r>
          </a:p>
        </p:txBody>
      </p:sp>
      <p:sp>
        <p:nvSpPr>
          <p:cNvPr id="543771" name="Text Box 27"/>
          <p:cNvSpPr txBox="1">
            <a:spLocks noChangeArrowheads="1"/>
          </p:cNvSpPr>
          <p:nvPr/>
        </p:nvSpPr>
        <p:spPr bwMode="auto">
          <a:xfrm>
            <a:off x="8120064" y="990040"/>
            <a:ext cx="9364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a:latin typeface="Times New Roman" panose="02020603050405020304" pitchFamily="18" charset="0"/>
                <a:ea typeface="隶书" pitchFamily="49" charset="-122"/>
                <a:cs typeface="Times New Roman" panose="02020603050405020304" pitchFamily="18" charset="0"/>
              </a:rPr>
              <a:t>fac(1)</a:t>
            </a:r>
          </a:p>
        </p:txBody>
      </p:sp>
      <p:sp>
        <p:nvSpPr>
          <p:cNvPr id="543772" name="Line 28"/>
          <p:cNvSpPr>
            <a:spLocks noChangeShapeType="1"/>
          </p:cNvSpPr>
          <p:nvPr/>
        </p:nvSpPr>
        <p:spPr bwMode="auto">
          <a:xfrm>
            <a:off x="8672513" y="1464555"/>
            <a:ext cx="0" cy="90011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73" name="Text Box 29"/>
          <p:cNvSpPr txBox="1">
            <a:spLocks noChangeArrowheads="1"/>
          </p:cNvSpPr>
          <p:nvPr/>
        </p:nvSpPr>
        <p:spPr bwMode="auto">
          <a:xfrm>
            <a:off x="8491538" y="2260040"/>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dirty="0">
                <a:solidFill>
                  <a:srgbClr val="C00000"/>
                </a:solidFill>
                <a:latin typeface="Times New Roman" panose="02020603050405020304" pitchFamily="18" charset="0"/>
                <a:ea typeface="隶书" pitchFamily="49" charset="-122"/>
                <a:cs typeface="Times New Roman" panose="02020603050405020304" pitchFamily="18" charset="0"/>
              </a:rPr>
              <a:t>1</a:t>
            </a:r>
          </a:p>
        </p:txBody>
      </p:sp>
      <p:sp>
        <p:nvSpPr>
          <p:cNvPr id="543774" name="Line 30"/>
          <p:cNvSpPr>
            <a:spLocks noChangeShapeType="1"/>
          </p:cNvSpPr>
          <p:nvPr/>
        </p:nvSpPr>
        <p:spPr bwMode="auto">
          <a:xfrm>
            <a:off x="7053263" y="2798055"/>
            <a:ext cx="0" cy="90011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75" name="Line 31"/>
          <p:cNvSpPr>
            <a:spLocks noChangeShapeType="1"/>
          </p:cNvSpPr>
          <p:nvPr/>
        </p:nvSpPr>
        <p:spPr bwMode="auto">
          <a:xfrm>
            <a:off x="8685213" y="2759955"/>
            <a:ext cx="0" cy="90011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aphicFrame>
        <p:nvGraphicFramePr>
          <p:cNvPr id="543776" name="Object 32"/>
          <p:cNvGraphicFramePr>
            <a:graphicFrameLocks/>
          </p:cNvGraphicFramePr>
          <p:nvPr>
            <p:extLst>
              <p:ext uri="{D42A27DB-BD31-4B8C-83A1-F6EECF244321}">
                <p14:modId xmlns:p14="http://schemas.microsoft.com/office/powerpoint/2010/main" val="3993952296"/>
              </p:ext>
            </p:extLst>
          </p:nvPr>
        </p:nvGraphicFramePr>
        <p:xfrm>
          <a:off x="3243263" y="3090154"/>
          <a:ext cx="304800" cy="304800"/>
        </p:xfrm>
        <a:graphic>
          <a:graphicData uri="http://schemas.openxmlformats.org/presentationml/2006/ole">
            <mc:AlternateContent xmlns:mc="http://schemas.openxmlformats.org/markup-compatibility/2006">
              <mc:Choice xmlns:v="urn:schemas-microsoft-com:vml" Requires="v">
                <p:oleObj spid="_x0000_s4781" name="Bitmap Image" r:id="rId10" imgW="1038370" imgH="905001" progId="Paint.Picture">
                  <p:embed/>
                </p:oleObj>
              </mc:Choice>
              <mc:Fallback>
                <p:oleObj name="Bitmap Image" r:id="rId10" imgW="1038370" imgH="905001" progId="Paint.Picture">
                  <p:embed/>
                  <p:pic>
                    <p:nvPicPr>
                      <p:cNvPr id="543776" name="Object 32"/>
                      <p:cNvPicPr>
                        <a:picLocks noChangeArrowheads="1"/>
                      </p:cNvPicPr>
                      <p:nvPr/>
                    </p:nvPicPr>
                    <p:blipFill>
                      <a:blip r:embed="rId11">
                        <a:lum contrast="48000"/>
                        <a:extLst>
                          <a:ext uri="{28A0092B-C50C-407E-A947-70E740481C1C}">
                            <a14:useLocalDpi xmlns:a14="http://schemas.microsoft.com/office/drawing/2010/main" val="0"/>
                          </a:ext>
                        </a:extLst>
                      </a:blip>
                      <a:srcRect/>
                      <a:stretch>
                        <a:fillRect/>
                      </a:stretch>
                    </p:blipFill>
                    <p:spPr bwMode="auto">
                      <a:xfrm>
                        <a:off x="3243263" y="3090154"/>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3777" name="Rectangle 33"/>
          <p:cNvSpPr>
            <a:spLocks noChangeArrowheads="1"/>
          </p:cNvSpPr>
          <p:nvPr/>
        </p:nvSpPr>
        <p:spPr bwMode="auto">
          <a:xfrm>
            <a:off x="6240463" y="2323392"/>
            <a:ext cx="1655762" cy="406400"/>
          </a:xfrm>
          <a:prstGeom prst="rect">
            <a:avLst/>
          </a:prstGeom>
          <a:solidFill>
            <a:schemeClr val="bg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r>
              <a:rPr lang="en-US" altLang="zh-CN" sz="2400" b="1" dirty="0">
                <a:solidFill>
                  <a:srgbClr val="C00000"/>
                </a:solidFill>
                <a:latin typeface="Times New Roman" panose="02020603050405020304" pitchFamily="18" charset="0"/>
                <a:cs typeface="Times New Roman" panose="02020603050405020304" pitchFamily="18" charset="0"/>
              </a:rPr>
              <a:t>    2*1</a:t>
            </a:r>
          </a:p>
        </p:txBody>
      </p:sp>
      <p:sp>
        <p:nvSpPr>
          <p:cNvPr id="543778" name="Line 34"/>
          <p:cNvSpPr>
            <a:spLocks noChangeShapeType="1"/>
          </p:cNvSpPr>
          <p:nvPr/>
        </p:nvSpPr>
        <p:spPr bwMode="auto">
          <a:xfrm>
            <a:off x="7053263" y="1464555"/>
            <a:ext cx="0" cy="90011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79" name="Rectangle 35"/>
          <p:cNvSpPr>
            <a:spLocks noChangeArrowheads="1"/>
          </p:cNvSpPr>
          <p:nvPr/>
        </p:nvSpPr>
        <p:spPr bwMode="auto">
          <a:xfrm>
            <a:off x="4562475" y="2404354"/>
            <a:ext cx="1697038" cy="406400"/>
          </a:xfrm>
          <a:prstGeom prst="rect">
            <a:avLst/>
          </a:prstGeom>
          <a:solidFill>
            <a:schemeClr val="bg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r>
              <a:rPr lang="en-US" altLang="zh-CN" sz="2400" b="1" dirty="0">
                <a:solidFill>
                  <a:srgbClr val="C00000"/>
                </a:solidFill>
                <a:latin typeface="Times New Roman" panose="02020603050405020304" pitchFamily="18" charset="0"/>
                <a:cs typeface="Times New Roman" panose="02020603050405020304" pitchFamily="18" charset="0"/>
              </a:rPr>
              <a:t>    3*2</a:t>
            </a:r>
          </a:p>
        </p:txBody>
      </p:sp>
      <p:sp>
        <p:nvSpPr>
          <p:cNvPr id="543780" name="Rectangle 36"/>
          <p:cNvSpPr>
            <a:spLocks noChangeArrowheads="1"/>
          </p:cNvSpPr>
          <p:nvPr/>
        </p:nvSpPr>
        <p:spPr bwMode="auto">
          <a:xfrm>
            <a:off x="2617788" y="2357391"/>
            <a:ext cx="1943100" cy="406400"/>
          </a:xfrm>
          <a:prstGeom prst="rect">
            <a:avLst/>
          </a:prstGeom>
          <a:solidFill>
            <a:schemeClr val="bg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r>
              <a:rPr lang="en-US" altLang="zh-CN" sz="2400" b="1" dirty="0">
                <a:solidFill>
                  <a:srgbClr val="C00000"/>
                </a:solidFill>
                <a:latin typeface="Times New Roman" panose="02020603050405020304" pitchFamily="18" charset="0"/>
                <a:cs typeface="Times New Roman" panose="02020603050405020304" pitchFamily="18" charset="0"/>
              </a:rPr>
              <a:t>        6</a:t>
            </a:r>
          </a:p>
        </p:txBody>
      </p:sp>
      <p:sp>
        <p:nvSpPr>
          <p:cNvPr id="543781" name="Line 37"/>
          <p:cNvSpPr>
            <a:spLocks noChangeShapeType="1"/>
          </p:cNvSpPr>
          <p:nvPr/>
        </p:nvSpPr>
        <p:spPr bwMode="auto">
          <a:xfrm flipV="1">
            <a:off x="7535863" y="1451855"/>
            <a:ext cx="1065212" cy="88106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82" name="Line 38"/>
          <p:cNvSpPr>
            <a:spLocks noChangeShapeType="1"/>
          </p:cNvSpPr>
          <p:nvPr/>
        </p:nvSpPr>
        <p:spPr bwMode="auto">
          <a:xfrm flipH="1" flipV="1">
            <a:off x="7561263" y="2721855"/>
            <a:ext cx="1065212" cy="88106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83" name="Line 39"/>
          <p:cNvSpPr>
            <a:spLocks noChangeShapeType="1"/>
          </p:cNvSpPr>
          <p:nvPr/>
        </p:nvSpPr>
        <p:spPr bwMode="auto">
          <a:xfrm flipH="1" flipV="1">
            <a:off x="5899151" y="2772655"/>
            <a:ext cx="1065213" cy="88106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84" name="Line 40"/>
          <p:cNvSpPr>
            <a:spLocks noChangeShapeType="1"/>
          </p:cNvSpPr>
          <p:nvPr/>
        </p:nvSpPr>
        <p:spPr bwMode="auto">
          <a:xfrm flipV="1">
            <a:off x="5910263" y="1497892"/>
            <a:ext cx="1065212" cy="881062"/>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85" name="Line 41"/>
          <p:cNvSpPr>
            <a:spLocks noChangeShapeType="1"/>
          </p:cNvSpPr>
          <p:nvPr/>
        </p:nvSpPr>
        <p:spPr bwMode="auto">
          <a:xfrm flipH="1" flipV="1">
            <a:off x="4310063" y="2798055"/>
            <a:ext cx="1065212" cy="881063"/>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sp>
        <p:nvSpPr>
          <p:cNvPr id="543786" name="Rectangle 42"/>
          <p:cNvSpPr>
            <a:spLocks noChangeArrowheads="1"/>
          </p:cNvSpPr>
          <p:nvPr/>
        </p:nvSpPr>
        <p:spPr bwMode="auto">
          <a:xfrm>
            <a:off x="1203041" y="3676895"/>
            <a:ext cx="3962400" cy="3046988"/>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a:spAutoFit/>
          </a:bodyPr>
          <a:lstStyle/>
          <a:p>
            <a:pPr algn="l" eaLnBrk="0" hangingPunct="0"/>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p>
          <a:p>
            <a:pPr algn="l" eaLnBrk="0" hangingPunct="0"/>
            <a:r>
              <a:rPr lang="en-US" altLang="zh-CN" sz="3200" b="1" dirty="0">
                <a:solidFill>
                  <a:srgbClr val="C00000"/>
                </a:solidFill>
                <a:latin typeface="Times New Roman" pitchFamily="18" charset="0"/>
                <a:ea typeface="宋体" charset="-122"/>
              </a:rPr>
              <a:t>long </a:t>
            </a:r>
            <a:r>
              <a:rPr lang="en-US" altLang="zh-CN" sz="3200" b="1" dirty="0" err="1">
                <a:solidFill>
                  <a:srgbClr val="C00000"/>
                </a:solidFill>
                <a:latin typeface="Times New Roman" pitchFamily="18" charset="0"/>
                <a:ea typeface="宋体" charset="-122"/>
              </a:rPr>
              <a:t>fac</a:t>
            </a:r>
            <a:r>
              <a:rPr lang="en-US" altLang="zh-CN" sz="3200" b="1" dirty="0">
                <a:solidFill>
                  <a:srgbClr val="C00000"/>
                </a:solidFill>
                <a:latin typeface="Times New Roman" pitchFamily="18" charset="0"/>
                <a:ea typeface="宋体" charset="-122"/>
              </a:rPr>
              <a:t>(</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n)</a:t>
            </a:r>
          </a:p>
          <a:p>
            <a:pPr algn="l" eaLnBrk="0" hangingPunct="0"/>
            <a:r>
              <a:rPr lang="en-US" altLang="zh-CN" sz="3200" b="1" dirty="0">
                <a:latin typeface="Times New Roman" pitchFamily="18" charset="0"/>
                <a:ea typeface="宋体" charset="-122"/>
              </a:rPr>
              <a:t>{    long f;</a:t>
            </a:r>
          </a:p>
          <a:p>
            <a:pPr algn="l" eaLnBrk="0" hangingPunct="0"/>
            <a:r>
              <a:rPr lang="en-US" altLang="zh-CN" sz="3200" b="1" dirty="0">
                <a:latin typeface="Times New Roman" pitchFamily="18" charset="0"/>
                <a:ea typeface="宋体" charset="-122"/>
              </a:rPr>
              <a:t>      if(n==1)  f=1;</a:t>
            </a:r>
          </a:p>
          <a:p>
            <a:pPr algn="l" eaLnBrk="0" hangingPunct="0"/>
            <a:r>
              <a:rPr lang="en-US" altLang="zh-CN" sz="3200" b="1" dirty="0">
                <a:latin typeface="Times New Roman" pitchFamily="18" charset="0"/>
                <a:ea typeface="宋体" charset="-122"/>
              </a:rPr>
              <a:t>      else f=</a:t>
            </a:r>
            <a:r>
              <a:rPr lang="en-US" altLang="zh-CN" sz="3200" b="1" dirty="0">
                <a:latin typeface="Times New Roman" pitchFamily="18" charset="0"/>
              </a:rPr>
              <a:t>n*</a:t>
            </a:r>
            <a:r>
              <a:rPr lang="en-US" altLang="zh-CN" sz="3200" b="1" dirty="0" err="1">
                <a:latin typeface="Times New Roman" pitchFamily="18" charset="0"/>
                <a:ea typeface="宋体" charset="-122"/>
              </a:rPr>
              <a:t>fac</a:t>
            </a:r>
            <a:r>
              <a:rPr lang="en-US" altLang="zh-CN" sz="3200" b="1" dirty="0">
                <a:latin typeface="Times New Roman" pitchFamily="18" charset="0"/>
                <a:ea typeface="宋体" charset="-122"/>
              </a:rPr>
              <a:t>(n-1);</a:t>
            </a:r>
          </a:p>
          <a:p>
            <a:pPr algn="l" eaLnBrk="0" hangingPunct="0"/>
            <a:r>
              <a:rPr lang="en-US" altLang="zh-CN" sz="3200" b="1" dirty="0">
                <a:latin typeface="Times New Roman" pitchFamily="18" charset="0"/>
                <a:ea typeface="宋体" charset="-122"/>
              </a:rPr>
              <a:t>      return(f);    }</a:t>
            </a:r>
          </a:p>
        </p:txBody>
      </p:sp>
      <p:sp>
        <p:nvSpPr>
          <p:cNvPr id="543787" name="Rectangle 43"/>
          <p:cNvSpPr>
            <a:spLocks noChangeArrowheads="1"/>
          </p:cNvSpPr>
          <p:nvPr/>
        </p:nvSpPr>
        <p:spPr bwMode="auto">
          <a:xfrm>
            <a:off x="5896734" y="3832345"/>
            <a:ext cx="4114800" cy="2456057"/>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a:spAutoFit/>
          </a:bodyPr>
          <a:lstStyle/>
          <a:p>
            <a:pPr algn="l" eaLnBrk="0" hangingPunct="0">
              <a:lnSpc>
                <a:spcPct val="80000"/>
              </a:lnSpc>
            </a:pP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main()</a:t>
            </a:r>
          </a:p>
          <a:p>
            <a:pPr algn="l" eaLnBrk="0" hangingPunct="0">
              <a:lnSpc>
                <a:spcPct val="8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n;long</a:t>
            </a:r>
            <a:r>
              <a:rPr lang="en-US" altLang="zh-CN" sz="3200" b="1" dirty="0">
                <a:latin typeface="Times New Roman" pitchFamily="18" charset="0"/>
                <a:ea typeface="宋体" charset="-122"/>
              </a:rPr>
              <a:t>  y;</a:t>
            </a:r>
          </a:p>
          <a:p>
            <a:pPr algn="l" eaLnBrk="0" hangingPunct="0">
              <a:lnSpc>
                <a:spcPct val="8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scanf</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d",&amp;n</a:t>
            </a:r>
            <a:r>
              <a:rPr lang="en-US" altLang="zh-CN" sz="3200" b="1" dirty="0">
                <a:latin typeface="Times New Roman" pitchFamily="18" charset="0"/>
                <a:ea typeface="宋体" charset="-122"/>
              </a:rPr>
              <a:t>);</a:t>
            </a:r>
          </a:p>
          <a:p>
            <a:pPr algn="l" eaLnBrk="0" hangingPunct="0">
              <a:lnSpc>
                <a:spcPct val="80000"/>
              </a:lnSpc>
            </a:pPr>
            <a:r>
              <a:rPr lang="en-US" altLang="zh-CN" sz="3200" b="1" dirty="0">
                <a:solidFill>
                  <a:srgbClr val="FF3300"/>
                </a:solidFill>
                <a:latin typeface="Times New Roman" pitchFamily="18" charset="0"/>
                <a:ea typeface="宋体" charset="-122"/>
              </a:rPr>
              <a:t>      </a:t>
            </a:r>
            <a:r>
              <a:rPr lang="en-US" altLang="zh-CN" sz="3200" b="1" dirty="0">
                <a:solidFill>
                  <a:srgbClr val="C00000"/>
                </a:solidFill>
                <a:latin typeface="Times New Roman" pitchFamily="18" charset="0"/>
                <a:ea typeface="宋体" charset="-122"/>
              </a:rPr>
              <a:t>y=</a:t>
            </a:r>
            <a:r>
              <a:rPr lang="en-US" altLang="zh-CN" sz="3200" b="1" dirty="0" err="1">
                <a:solidFill>
                  <a:srgbClr val="C00000"/>
                </a:solidFill>
                <a:latin typeface="Times New Roman" pitchFamily="18" charset="0"/>
                <a:ea typeface="宋体" charset="-122"/>
              </a:rPr>
              <a:t>fac</a:t>
            </a:r>
            <a:r>
              <a:rPr lang="en-US" altLang="zh-CN" sz="3200" b="1" dirty="0">
                <a:solidFill>
                  <a:srgbClr val="C00000"/>
                </a:solidFill>
                <a:latin typeface="Times New Roman" pitchFamily="18" charset="0"/>
                <a:ea typeface="宋体" charset="-122"/>
              </a:rPr>
              <a:t>(n);</a:t>
            </a:r>
          </a:p>
          <a:p>
            <a:pPr algn="l" eaLnBrk="0" hangingPunct="0">
              <a:lnSpc>
                <a:spcPct val="8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ld</a:t>
            </a:r>
            <a:r>
              <a:rPr lang="en-US" altLang="zh-CN" sz="3200" b="1" dirty="0">
                <a:latin typeface="Times New Roman" pitchFamily="18" charset="0"/>
                <a:ea typeface="宋体" charset="-122"/>
              </a:rPr>
              <a:t>" , y);</a:t>
            </a:r>
          </a:p>
          <a:p>
            <a:pPr algn="l" eaLnBrk="0" hangingPunct="0">
              <a:lnSpc>
                <a:spcPct val="80000"/>
              </a:lnSpc>
            </a:pPr>
            <a:r>
              <a:rPr lang="en-US" altLang="zh-CN" sz="3200" b="1" dirty="0">
                <a:latin typeface="Times New Roman" pitchFamily="18" charset="0"/>
                <a:ea typeface="宋体" charset="-122"/>
              </a:rPr>
              <a:t>      return 0;   }</a:t>
            </a:r>
          </a:p>
        </p:txBody>
      </p:sp>
      <p:sp>
        <p:nvSpPr>
          <p:cNvPr id="543788" name="Line 44"/>
          <p:cNvSpPr>
            <a:spLocks noChangeShapeType="1"/>
          </p:cNvSpPr>
          <p:nvPr/>
        </p:nvSpPr>
        <p:spPr bwMode="auto">
          <a:xfrm flipV="1">
            <a:off x="4310063" y="1496304"/>
            <a:ext cx="1066800" cy="88265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Times New Roman" panose="02020603050405020304" pitchFamily="18" charset="0"/>
              <a:cs typeface="Times New Roman" panose="02020603050405020304" pitchFamily="18" charset="0"/>
            </a:endParaRPr>
          </a:p>
        </p:txBody>
      </p:sp>
      <p:graphicFrame>
        <p:nvGraphicFramePr>
          <p:cNvPr id="47" name="Object 2"/>
          <p:cNvGraphicFramePr>
            <a:graphicFrameLocks/>
          </p:cNvGraphicFramePr>
          <p:nvPr>
            <p:extLst>
              <p:ext uri="{D42A27DB-BD31-4B8C-83A1-F6EECF244321}">
                <p14:modId xmlns:p14="http://schemas.microsoft.com/office/powerpoint/2010/main" val="980728687"/>
              </p:ext>
            </p:extLst>
          </p:nvPr>
        </p:nvGraphicFramePr>
        <p:xfrm>
          <a:off x="4398964" y="3126134"/>
          <a:ext cx="331787" cy="295275"/>
        </p:xfrm>
        <a:graphic>
          <a:graphicData uri="http://schemas.openxmlformats.org/presentationml/2006/ole">
            <mc:AlternateContent xmlns:mc="http://schemas.openxmlformats.org/markup-compatibility/2006">
              <mc:Choice xmlns:v="urn:schemas-microsoft-com:vml" Requires="v">
                <p:oleObj spid="_x0000_s4782" name="Bitmap Image" r:id="rId12" imgW="1295238" imgH="1190476" progId="Paint.Picture">
                  <p:embed/>
                </p:oleObj>
              </mc:Choice>
              <mc:Fallback>
                <p:oleObj name="Bitmap Image" r:id="rId12" imgW="1295238" imgH="1190476" progId="Paint.Picture">
                  <p:embed/>
                  <p:pic>
                    <p:nvPicPr>
                      <p:cNvPr id="47" name="Object 2"/>
                      <p:cNvPicPr>
                        <a:picLocks noChangeArrowheads="1"/>
                      </p:cNvPicPr>
                      <p:nvPr/>
                    </p:nvPicPr>
                    <p:blipFill>
                      <a:blip r:embed="rId5">
                        <a:lum contrast="36000"/>
                        <a:extLst>
                          <a:ext uri="{28A0092B-C50C-407E-A947-70E740481C1C}">
                            <a14:useLocalDpi xmlns:a14="http://schemas.microsoft.com/office/drawing/2010/main" val="0"/>
                          </a:ext>
                        </a:extLst>
                      </a:blip>
                      <a:srcRect/>
                      <a:stretch>
                        <a:fillRect/>
                      </a:stretch>
                    </p:blipFill>
                    <p:spPr bwMode="auto">
                      <a:xfrm>
                        <a:off x="4398964" y="3126134"/>
                        <a:ext cx="331787"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3"/>
          <p:cNvGraphicFramePr>
            <a:graphicFrameLocks/>
          </p:cNvGraphicFramePr>
          <p:nvPr>
            <p:extLst>
              <p:ext uri="{D42A27DB-BD31-4B8C-83A1-F6EECF244321}">
                <p14:modId xmlns:p14="http://schemas.microsoft.com/office/powerpoint/2010/main" val="2180803192"/>
              </p:ext>
            </p:extLst>
          </p:nvPr>
        </p:nvGraphicFramePr>
        <p:xfrm>
          <a:off x="6011864" y="3100733"/>
          <a:ext cx="331787" cy="331788"/>
        </p:xfrm>
        <a:graphic>
          <a:graphicData uri="http://schemas.openxmlformats.org/presentationml/2006/ole">
            <mc:AlternateContent xmlns:mc="http://schemas.openxmlformats.org/markup-compatibility/2006">
              <mc:Choice xmlns:v="urn:schemas-microsoft-com:vml" Requires="v">
                <p:oleObj spid="_x0000_s4783" name="Bitmap Image" r:id="rId13" imgW="343039" imgH="295238" progId="Paint.Picture">
                  <p:embed/>
                </p:oleObj>
              </mc:Choice>
              <mc:Fallback>
                <p:oleObj name="Bitmap Image" r:id="rId13" imgW="343039" imgH="295238" progId="Paint.Picture">
                  <p:embed/>
                  <p:pic>
                    <p:nvPicPr>
                      <p:cNvPr id="48" name="Object 3"/>
                      <p:cNvPicPr>
                        <a:picLocks noChangeArrowheads="1"/>
                      </p:cNvPicPr>
                      <p:nvPr/>
                    </p:nvPicPr>
                    <p:blipFill>
                      <a:blip r:embed="rId7">
                        <a:lum bright="-24000" contrast="48000"/>
                        <a:extLst>
                          <a:ext uri="{28A0092B-C50C-407E-A947-70E740481C1C}">
                            <a14:useLocalDpi xmlns:a14="http://schemas.microsoft.com/office/drawing/2010/main" val="0"/>
                          </a:ext>
                        </a:extLst>
                      </a:blip>
                      <a:srcRect/>
                      <a:stretch>
                        <a:fillRect/>
                      </a:stretch>
                    </p:blipFill>
                    <p:spPr bwMode="auto">
                      <a:xfrm>
                        <a:off x="6011864" y="3100733"/>
                        <a:ext cx="331787"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 name="Text Box 12"/>
          <p:cNvSpPr txBox="1">
            <a:spLocks noChangeArrowheads="1"/>
          </p:cNvSpPr>
          <p:nvPr/>
        </p:nvSpPr>
        <p:spPr bwMode="auto">
          <a:xfrm>
            <a:off x="4297363" y="1637890"/>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0" name="Text Box 13"/>
          <p:cNvSpPr txBox="1">
            <a:spLocks noChangeArrowheads="1"/>
          </p:cNvSpPr>
          <p:nvPr/>
        </p:nvSpPr>
        <p:spPr bwMode="auto">
          <a:xfrm>
            <a:off x="3116263" y="1637890"/>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1" name="Text Box 14"/>
          <p:cNvSpPr txBox="1">
            <a:spLocks noChangeArrowheads="1"/>
          </p:cNvSpPr>
          <p:nvPr/>
        </p:nvSpPr>
        <p:spPr bwMode="auto">
          <a:xfrm>
            <a:off x="5351463" y="1576155"/>
            <a:ext cx="45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2" name="Text Box 15"/>
          <p:cNvSpPr txBox="1">
            <a:spLocks noChangeArrowheads="1"/>
          </p:cNvSpPr>
          <p:nvPr/>
        </p:nvSpPr>
        <p:spPr bwMode="auto">
          <a:xfrm>
            <a:off x="5986463" y="1565881"/>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sp>
        <p:nvSpPr>
          <p:cNvPr id="53" name="Text Box 16"/>
          <p:cNvSpPr txBox="1">
            <a:spLocks noChangeArrowheads="1"/>
          </p:cNvSpPr>
          <p:nvPr/>
        </p:nvSpPr>
        <p:spPr bwMode="auto">
          <a:xfrm>
            <a:off x="6964363" y="1565881"/>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sz="2400" b="1" dirty="0">
                <a:solidFill>
                  <a:srgbClr val="FF0000"/>
                </a:solidFill>
                <a:latin typeface="Times New Roman" panose="02020603050405020304" pitchFamily="18" charset="0"/>
                <a:ea typeface="隶书" pitchFamily="49" charset="-122"/>
                <a:cs typeface="Times New Roman" panose="02020603050405020304" pitchFamily="18" charset="0"/>
                <a:sym typeface="Wingdings" pitchFamily="2" charset="2"/>
              </a:rPr>
              <a:t></a:t>
            </a:r>
          </a:p>
        </p:txBody>
      </p:sp>
      <p:graphicFrame>
        <p:nvGraphicFramePr>
          <p:cNvPr id="54" name="Object 22"/>
          <p:cNvGraphicFramePr>
            <a:graphicFrameLocks noChangeAspect="1"/>
          </p:cNvGraphicFramePr>
          <p:nvPr>
            <p:extLst>
              <p:ext uri="{D42A27DB-BD31-4B8C-83A1-F6EECF244321}">
                <p14:modId xmlns:p14="http://schemas.microsoft.com/office/powerpoint/2010/main" val="1346847824"/>
              </p:ext>
            </p:extLst>
          </p:nvPr>
        </p:nvGraphicFramePr>
        <p:xfrm>
          <a:off x="5465764" y="3100734"/>
          <a:ext cx="331787" cy="320675"/>
        </p:xfrm>
        <a:graphic>
          <a:graphicData uri="http://schemas.openxmlformats.org/presentationml/2006/ole">
            <mc:AlternateContent xmlns:mc="http://schemas.openxmlformats.org/markup-compatibility/2006">
              <mc:Choice xmlns:v="urn:schemas-microsoft-com:vml" Requires="v">
                <p:oleObj spid="_x0000_s4784" name="Bitmap Image" r:id="rId14" imgW="295238" imgH="285866" progId="Paint.Picture">
                  <p:embed/>
                </p:oleObj>
              </mc:Choice>
              <mc:Fallback>
                <p:oleObj name="Bitmap Image" r:id="rId14" imgW="295238" imgH="285866" progId="Paint.Picture">
                  <p:embed/>
                  <p:pic>
                    <p:nvPicPr>
                      <p:cNvPr id="54" name="Object 22"/>
                      <p:cNvPicPr>
                        <a:picLocks noChangeAspect="1" noChangeArrowheads="1"/>
                      </p:cNvPicPr>
                      <p:nvPr/>
                    </p:nvPicPr>
                    <p:blipFill>
                      <a:blip r:embed="rId9">
                        <a:lum bright="-30000" contrast="100000"/>
                        <a:extLst>
                          <a:ext uri="{28A0092B-C50C-407E-A947-70E740481C1C}">
                            <a14:useLocalDpi xmlns:a14="http://schemas.microsoft.com/office/drawing/2010/main" val="0"/>
                          </a:ext>
                        </a:extLst>
                      </a:blip>
                      <a:srcRect/>
                      <a:stretch>
                        <a:fillRect/>
                      </a:stretch>
                    </p:blipFill>
                    <p:spPr bwMode="auto">
                      <a:xfrm>
                        <a:off x="5465764" y="3100734"/>
                        <a:ext cx="331787"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 name="Object 32"/>
          <p:cNvGraphicFramePr>
            <a:graphicFrameLocks/>
          </p:cNvGraphicFramePr>
          <p:nvPr>
            <p:extLst>
              <p:ext uri="{D42A27DB-BD31-4B8C-83A1-F6EECF244321}">
                <p14:modId xmlns:p14="http://schemas.microsoft.com/office/powerpoint/2010/main" val="855703102"/>
              </p:ext>
            </p:extLst>
          </p:nvPr>
        </p:nvGraphicFramePr>
        <p:xfrm>
          <a:off x="3319463" y="3202867"/>
          <a:ext cx="152400" cy="152400"/>
        </p:xfrm>
        <a:graphic>
          <a:graphicData uri="http://schemas.openxmlformats.org/presentationml/2006/ole">
            <mc:AlternateContent xmlns:mc="http://schemas.openxmlformats.org/markup-compatibility/2006">
              <mc:Choice xmlns:v="urn:schemas-microsoft-com:vml" Requires="v">
                <p:oleObj spid="_x0000_s4785" name="BMP 图像" r:id="rId15" imgW="519120" imgH="452520" progId="Paint.Picture">
                  <p:embed/>
                </p:oleObj>
              </mc:Choice>
              <mc:Fallback>
                <p:oleObj name="BMP 图像" r:id="rId15" imgW="519120" imgH="452520" progId="Paint.Picture">
                  <p:embed/>
                  <p:pic>
                    <p:nvPicPr>
                      <p:cNvPr id="55" name="Object 32"/>
                      <p:cNvPicPr>
                        <a:picLocks noChangeArrowheads="1"/>
                      </p:cNvPicPr>
                      <p:nvPr/>
                    </p:nvPicPr>
                    <p:blipFill>
                      <a:blip r:embed="rId16">
                        <a:lum contrast="48000"/>
                      </a:blip>
                      <a:srcRect/>
                      <a:stretch>
                        <a:fillRect/>
                      </a:stretch>
                    </p:blipFill>
                    <p:spPr bwMode="auto">
                      <a:xfrm>
                        <a:off x="3319463" y="3202867"/>
                        <a:ext cx="1524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6" name="图片 55">
            <a:extLst>
              <a:ext uri="{FF2B5EF4-FFF2-40B4-BE49-F238E27FC236}">
                <a16:creationId xmlns:a16="http://schemas.microsoft.com/office/drawing/2014/main" id="{7DB896D1-792B-46CB-8D32-C716B6776D0E}"/>
              </a:ext>
            </a:extLst>
          </p:cNvPr>
          <p:cNvPicPr>
            <a:picLocks noChangeAspect="1"/>
          </p:cNvPicPr>
          <p:nvPr/>
        </p:nvPicPr>
        <p:blipFill>
          <a:blip r:embed="rId17"/>
          <a:stretch>
            <a:fillRect/>
          </a:stretch>
        </p:blipFill>
        <p:spPr>
          <a:xfrm>
            <a:off x="3408815" y="114299"/>
            <a:ext cx="5161728" cy="932769"/>
          </a:xfrm>
          <a:prstGeom prst="rect">
            <a:avLst/>
          </a:prstGeom>
        </p:spPr>
      </p:pic>
      <p:sp>
        <p:nvSpPr>
          <p:cNvPr id="57" name="Rectangle 2">
            <a:extLst>
              <a:ext uri="{FF2B5EF4-FFF2-40B4-BE49-F238E27FC236}">
                <a16:creationId xmlns:a16="http://schemas.microsoft.com/office/drawing/2014/main" id="{E9C0F28D-F458-464D-861D-C69746DE1DE4}"/>
              </a:ext>
            </a:extLst>
          </p:cNvPr>
          <p:cNvSpPr>
            <a:spLocks noChangeArrowheads="1"/>
          </p:cNvSpPr>
          <p:nvPr/>
        </p:nvSpPr>
        <p:spPr bwMode="auto">
          <a:xfrm>
            <a:off x="3339996" y="138754"/>
            <a:ext cx="5161728"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递归算法求</a:t>
            </a:r>
            <a:r>
              <a:rPr lang="en-US" altLang="zh-CN"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8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代码实现</a:t>
            </a:r>
            <a:r>
              <a:rPr lang="en-US" altLang="zh-CN" sz="28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498796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3786"/>
                                        </p:tgtEl>
                                        <p:attrNameLst>
                                          <p:attrName>style.visibility</p:attrName>
                                        </p:attrNameLst>
                                      </p:cBhvr>
                                      <p:to>
                                        <p:strVal val="visible"/>
                                      </p:to>
                                    </p:set>
                                    <p:animEffect transition="in" filter="dissolve">
                                      <p:cBhvr>
                                        <p:cTn id="7" dur="500"/>
                                        <p:tgtEl>
                                          <p:spTgt spid="5437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43787"/>
                                        </p:tgtEl>
                                        <p:attrNameLst>
                                          <p:attrName>style.visibility</p:attrName>
                                        </p:attrNameLst>
                                      </p:cBhvr>
                                      <p:to>
                                        <p:strVal val="visible"/>
                                      </p:to>
                                    </p:set>
                                    <p:animEffect transition="in" filter="dissolve">
                                      <p:cBhvr>
                                        <p:cTn id="12" dur="500"/>
                                        <p:tgtEl>
                                          <p:spTgt spid="54378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3748"/>
                                        </p:tgtEl>
                                        <p:attrNameLst>
                                          <p:attrName>style.visibility</p:attrName>
                                        </p:attrNameLst>
                                      </p:cBhvr>
                                      <p:to>
                                        <p:strVal val="visible"/>
                                      </p:to>
                                    </p:set>
                                    <p:animEffect transition="in" filter="dissolve">
                                      <p:cBhvr>
                                        <p:cTn id="17" dur="500"/>
                                        <p:tgtEl>
                                          <p:spTgt spid="5437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43767"/>
                                        </p:tgtEl>
                                        <p:attrNameLst>
                                          <p:attrName>style.visibility</p:attrName>
                                        </p:attrNameLst>
                                      </p:cBhvr>
                                      <p:to>
                                        <p:strVal val="visible"/>
                                      </p:to>
                                    </p:set>
                                    <p:animEffect transition="in" filter="wipe(up)">
                                      <p:cBhvr>
                                        <p:cTn id="22" dur="500"/>
                                        <p:tgtEl>
                                          <p:spTgt spid="543767"/>
                                        </p:tgtEl>
                                      </p:cBhvr>
                                    </p:animEffect>
                                  </p:childTnLst>
                                </p:cTn>
                              </p:par>
                            </p:childTnLst>
                          </p:cTn>
                        </p:par>
                        <p:par>
                          <p:cTn id="23" fill="hold" nodeType="afterGroup">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543757"/>
                                        </p:tgtEl>
                                        <p:attrNameLst>
                                          <p:attrName>style.visibility</p:attrName>
                                        </p:attrNameLst>
                                      </p:cBhvr>
                                      <p:to>
                                        <p:strVal val="visible"/>
                                      </p:to>
                                    </p:set>
                                    <p:animEffect transition="in" filter="dissolve">
                                      <p:cBhvr>
                                        <p:cTn id="26" dur="500"/>
                                        <p:tgtEl>
                                          <p:spTgt spid="54375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43749"/>
                                        </p:tgtEl>
                                        <p:attrNameLst>
                                          <p:attrName>style.visibility</p:attrName>
                                        </p:attrNameLst>
                                      </p:cBhvr>
                                      <p:to>
                                        <p:strVal val="visible"/>
                                      </p:to>
                                    </p:set>
                                    <p:animEffect transition="in" filter="dissolve">
                                      <p:cBhvr>
                                        <p:cTn id="31" dur="500"/>
                                        <p:tgtEl>
                                          <p:spTgt spid="54374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43788"/>
                                        </p:tgtEl>
                                        <p:attrNameLst>
                                          <p:attrName>style.visibility</p:attrName>
                                        </p:attrNameLst>
                                      </p:cBhvr>
                                      <p:to>
                                        <p:strVal val="visible"/>
                                      </p:to>
                                    </p:set>
                                    <p:animEffect transition="in" filter="wipe(left)">
                                      <p:cBhvr>
                                        <p:cTn id="36" dur="500"/>
                                        <p:tgtEl>
                                          <p:spTgt spid="543788"/>
                                        </p:tgtEl>
                                      </p:cBhvr>
                                    </p:animEffect>
                                  </p:childTnLst>
                                </p:cTn>
                              </p:par>
                            </p:childTnLst>
                          </p:cTn>
                        </p:par>
                        <p:par>
                          <p:cTn id="37" fill="hold" nodeType="afterGroup">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543756"/>
                                        </p:tgtEl>
                                        <p:attrNameLst>
                                          <p:attrName>style.visibility</p:attrName>
                                        </p:attrNameLst>
                                      </p:cBhvr>
                                      <p:to>
                                        <p:strVal val="visible"/>
                                      </p:to>
                                    </p:set>
                                    <p:animEffect transition="in" filter="dissolve">
                                      <p:cBhvr>
                                        <p:cTn id="40" dur="500"/>
                                        <p:tgtEl>
                                          <p:spTgt spid="54375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543751"/>
                                        </p:tgtEl>
                                        <p:attrNameLst>
                                          <p:attrName>style.visibility</p:attrName>
                                        </p:attrNameLst>
                                      </p:cBhvr>
                                      <p:to>
                                        <p:strVal val="visible"/>
                                      </p:to>
                                    </p:set>
                                    <p:animEffect transition="in" filter="dissolve">
                                      <p:cBhvr>
                                        <p:cTn id="45" dur="500"/>
                                        <p:tgtEl>
                                          <p:spTgt spid="54375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543754"/>
                                        </p:tgtEl>
                                        <p:attrNameLst>
                                          <p:attrName>style.visibility</p:attrName>
                                        </p:attrNameLst>
                                      </p:cBhvr>
                                      <p:to>
                                        <p:strVal val="visible"/>
                                      </p:to>
                                    </p:set>
                                    <p:animEffect transition="in" filter="wipe(up)">
                                      <p:cBhvr>
                                        <p:cTn id="50" dur="500"/>
                                        <p:tgtEl>
                                          <p:spTgt spid="543754"/>
                                        </p:tgtEl>
                                      </p:cBhvr>
                                    </p:animEffect>
                                  </p:childTnLst>
                                </p:cTn>
                              </p:par>
                            </p:childTnLst>
                          </p:cTn>
                        </p:par>
                        <p:par>
                          <p:cTn id="51" fill="hold" nodeType="afterGroup">
                            <p:stCondLst>
                              <p:cond delay="500"/>
                            </p:stCondLst>
                            <p:childTnLst>
                              <p:par>
                                <p:cTn id="52" presetID="9" presetClass="entr" presetSubtype="0" fill="hold" grpId="0" nodeType="afterEffect">
                                  <p:stCondLst>
                                    <p:cond delay="0"/>
                                  </p:stCondLst>
                                  <p:childTnLst>
                                    <p:set>
                                      <p:cBhvr>
                                        <p:cTn id="53" dur="1" fill="hold">
                                          <p:stCondLst>
                                            <p:cond delay="0"/>
                                          </p:stCondLst>
                                        </p:cTn>
                                        <p:tgtEl>
                                          <p:spTgt spid="543758"/>
                                        </p:tgtEl>
                                        <p:attrNameLst>
                                          <p:attrName>style.visibility</p:attrName>
                                        </p:attrNameLst>
                                      </p:cBhvr>
                                      <p:to>
                                        <p:strVal val="visible"/>
                                      </p:to>
                                    </p:set>
                                    <p:animEffect transition="in" filter="dissolve">
                                      <p:cBhvr>
                                        <p:cTn id="54" dur="500"/>
                                        <p:tgtEl>
                                          <p:spTgt spid="54375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543753"/>
                                        </p:tgtEl>
                                        <p:attrNameLst>
                                          <p:attrName>style.visibility</p:attrName>
                                        </p:attrNameLst>
                                      </p:cBhvr>
                                      <p:to>
                                        <p:strVal val="visible"/>
                                      </p:to>
                                    </p:set>
                                    <p:animEffect transition="in" filter="dissolve">
                                      <p:cBhvr>
                                        <p:cTn id="59" dur="500"/>
                                        <p:tgtEl>
                                          <p:spTgt spid="54375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543784"/>
                                        </p:tgtEl>
                                        <p:attrNameLst>
                                          <p:attrName>style.visibility</p:attrName>
                                        </p:attrNameLst>
                                      </p:cBhvr>
                                      <p:to>
                                        <p:strVal val="visible"/>
                                      </p:to>
                                    </p:set>
                                    <p:animEffect transition="in" filter="wipe(down)">
                                      <p:cBhvr>
                                        <p:cTn id="64" dur="500"/>
                                        <p:tgtEl>
                                          <p:spTgt spid="543784"/>
                                        </p:tgtEl>
                                      </p:cBhvr>
                                    </p:animEffect>
                                  </p:childTnLst>
                                </p:cTn>
                              </p:par>
                            </p:childTnLst>
                          </p:cTn>
                        </p:par>
                        <p:par>
                          <p:cTn id="65" fill="hold" nodeType="afterGroup">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543759"/>
                                        </p:tgtEl>
                                        <p:attrNameLst>
                                          <p:attrName>style.visibility</p:attrName>
                                        </p:attrNameLst>
                                      </p:cBhvr>
                                      <p:to>
                                        <p:strVal val="visible"/>
                                      </p:to>
                                    </p:set>
                                    <p:animEffect transition="in" filter="dissolve">
                                      <p:cBhvr>
                                        <p:cTn id="68" dur="500"/>
                                        <p:tgtEl>
                                          <p:spTgt spid="54375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543752"/>
                                        </p:tgtEl>
                                        <p:attrNameLst>
                                          <p:attrName>style.visibility</p:attrName>
                                        </p:attrNameLst>
                                      </p:cBhvr>
                                      <p:to>
                                        <p:strVal val="visible"/>
                                      </p:to>
                                    </p:set>
                                    <p:animEffect transition="in" filter="dissolve">
                                      <p:cBhvr>
                                        <p:cTn id="73" dur="500"/>
                                        <p:tgtEl>
                                          <p:spTgt spid="543752"/>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543778"/>
                                        </p:tgtEl>
                                        <p:attrNameLst>
                                          <p:attrName>style.visibility</p:attrName>
                                        </p:attrNameLst>
                                      </p:cBhvr>
                                      <p:to>
                                        <p:strVal val="visible"/>
                                      </p:to>
                                    </p:set>
                                    <p:animEffect transition="in" filter="wipe(up)">
                                      <p:cBhvr>
                                        <p:cTn id="78" dur="500"/>
                                        <p:tgtEl>
                                          <p:spTgt spid="543778"/>
                                        </p:tgtEl>
                                      </p:cBhvr>
                                    </p:animEffect>
                                  </p:childTnLst>
                                </p:cTn>
                              </p:par>
                            </p:childTnLst>
                          </p:cTn>
                        </p:par>
                        <p:par>
                          <p:cTn id="79" fill="hold" nodeType="afterGroup">
                            <p:stCondLst>
                              <p:cond delay="500"/>
                            </p:stCondLst>
                            <p:childTnLst>
                              <p:par>
                                <p:cTn id="80" presetID="9" presetClass="entr" presetSubtype="0" fill="hold" grpId="0" nodeType="afterEffect">
                                  <p:stCondLst>
                                    <p:cond delay="0"/>
                                  </p:stCondLst>
                                  <p:childTnLst>
                                    <p:set>
                                      <p:cBhvr>
                                        <p:cTn id="81" dur="1" fill="hold">
                                          <p:stCondLst>
                                            <p:cond delay="0"/>
                                          </p:stCondLst>
                                        </p:cTn>
                                        <p:tgtEl>
                                          <p:spTgt spid="543760"/>
                                        </p:tgtEl>
                                        <p:attrNameLst>
                                          <p:attrName>style.visibility</p:attrName>
                                        </p:attrNameLst>
                                      </p:cBhvr>
                                      <p:to>
                                        <p:strVal val="visible"/>
                                      </p:to>
                                    </p:set>
                                    <p:animEffect transition="in" filter="dissolve">
                                      <p:cBhvr>
                                        <p:cTn id="82" dur="500"/>
                                        <p:tgtEl>
                                          <p:spTgt spid="54376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543770"/>
                                        </p:tgtEl>
                                        <p:attrNameLst>
                                          <p:attrName>style.visibility</p:attrName>
                                        </p:attrNameLst>
                                      </p:cBhvr>
                                      <p:to>
                                        <p:strVal val="visible"/>
                                      </p:to>
                                    </p:set>
                                    <p:animEffect transition="in" filter="dissolve">
                                      <p:cBhvr>
                                        <p:cTn id="87" dur="500"/>
                                        <p:tgtEl>
                                          <p:spTgt spid="54377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543781"/>
                                        </p:tgtEl>
                                        <p:attrNameLst>
                                          <p:attrName>style.visibility</p:attrName>
                                        </p:attrNameLst>
                                      </p:cBhvr>
                                      <p:to>
                                        <p:strVal val="visible"/>
                                      </p:to>
                                    </p:set>
                                    <p:animEffect transition="in" filter="wipe(down)">
                                      <p:cBhvr>
                                        <p:cTn id="92" dur="500"/>
                                        <p:tgtEl>
                                          <p:spTgt spid="543781"/>
                                        </p:tgtEl>
                                      </p:cBhvr>
                                    </p:animEffect>
                                  </p:childTnLst>
                                </p:cTn>
                              </p:par>
                            </p:childTnLst>
                          </p:cTn>
                        </p:par>
                        <p:par>
                          <p:cTn id="93" fill="hold" nodeType="afterGroup">
                            <p:stCondLst>
                              <p:cond delay="500"/>
                            </p:stCondLst>
                            <p:childTnLst>
                              <p:par>
                                <p:cTn id="94" presetID="9" presetClass="entr" presetSubtype="0" fill="hold" grpId="0" nodeType="afterEffect">
                                  <p:stCondLst>
                                    <p:cond delay="0"/>
                                  </p:stCondLst>
                                  <p:childTnLst>
                                    <p:set>
                                      <p:cBhvr>
                                        <p:cTn id="95" dur="1" fill="hold">
                                          <p:stCondLst>
                                            <p:cond delay="0"/>
                                          </p:stCondLst>
                                        </p:cTn>
                                        <p:tgtEl>
                                          <p:spTgt spid="543761"/>
                                        </p:tgtEl>
                                        <p:attrNameLst>
                                          <p:attrName>style.visibility</p:attrName>
                                        </p:attrNameLst>
                                      </p:cBhvr>
                                      <p:to>
                                        <p:strVal val="visible"/>
                                      </p:to>
                                    </p:set>
                                    <p:animEffect transition="in" filter="dissolve">
                                      <p:cBhvr>
                                        <p:cTn id="96" dur="500"/>
                                        <p:tgtEl>
                                          <p:spTgt spid="543761"/>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9" presetClass="entr" presetSubtype="0" fill="hold" grpId="0" nodeType="clickEffect">
                                  <p:stCondLst>
                                    <p:cond delay="0"/>
                                  </p:stCondLst>
                                  <p:childTnLst>
                                    <p:set>
                                      <p:cBhvr>
                                        <p:cTn id="100" dur="1" fill="hold">
                                          <p:stCondLst>
                                            <p:cond delay="0"/>
                                          </p:stCondLst>
                                        </p:cTn>
                                        <p:tgtEl>
                                          <p:spTgt spid="543771"/>
                                        </p:tgtEl>
                                        <p:attrNameLst>
                                          <p:attrName>style.visibility</p:attrName>
                                        </p:attrNameLst>
                                      </p:cBhvr>
                                      <p:to>
                                        <p:strVal val="visible"/>
                                      </p:to>
                                    </p:set>
                                    <p:animEffect transition="in" filter="dissolve">
                                      <p:cBhvr>
                                        <p:cTn id="101" dur="500"/>
                                        <p:tgtEl>
                                          <p:spTgt spid="543771"/>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543772"/>
                                        </p:tgtEl>
                                        <p:attrNameLst>
                                          <p:attrName>style.visibility</p:attrName>
                                        </p:attrNameLst>
                                      </p:cBhvr>
                                      <p:to>
                                        <p:strVal val="visible"/>
                                      </p:to>
                                    </p:set>
                                    <p:animEffect transition="in" filter="wipe(up)">
                                      <p:cBhvr>
                                        <p:cTn id="106" dur="500"/>
                                        <p:tgtEl>
                                          <p:spTgt spid="543772"/>
                                        </p:tgtEl>
                                      </p:cBhvr>
                                    </p:animEffect>
                                  </p:childTnLst>
                                </p:cTn>
                              </p:par>
                            </p:childTnLst>
                          </p:cTn>
                        </p:par>
                        <p:par>
                          <p:cTn id="107" fill="hold" nodeType="afterGroup">
                            <p:stCondLst>
                              <p:cond delay="500"/>
                            </p:stCondLst>
                            <p:childTnLst>
                              <p:par>
                                <p:cTn id="108" presetID="9" presetClass="entr" presetSubtype="0" fill="hold" grpId="0" nodeType="afterEffect">
                                  <p:stCondLst>
                                    <p:cond delay="0"/>
                                  </p:stCondLst>
                                  <p:childTnLst>
                                    <p:set>
                                      <p:cBhvr>
                                        <p:cTn id="109" dur="1" fill="hold">
                                          <p:stCondLst>
                                            <p:cond delay="0"/>
                                          </p:stCondLst>
                                        </p:cTn>
                                        <p:tgtEl>
                                          <p:spTgt spid="543762"/>
                                        </p:tgtEl>
                                        <p:attrNameLst>
                                          <p:attrName>style.visibility</p:attrName>
                                        </p:attrNameLst>
                                      </p:cBhvr>
                                      <p:to>
                                        <p:strVal val="visible"/>
                                      </p:to>
                                    </p:set>
                                    <p:animEffect transition="in" filter="dissolve">
                                      <p:cBhvr>
                                        <p:cTn id="110" dur="500"/>
                                        <p:tgtEl>
                                          <p:spTgt spid="543762"/>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9" presetClass="entr" presetSubtype="0" fill="hold" grpId="0" nodeType="clickEffect">
                                  <p:stCondLst>
                                    <p:cond delay="0"/>
                                  </p:stCondLst>
                                  <p:childTnLst>
                                    <p:set>
                                      <p:cBhvr>
                                        <p:cTn id="114" dur="1" fill="hold">
                                          <p:stCondLst>
                                            <p:cond delay="0"/>
                                          </p:stCondLst>
                                        </p:cTn>
                                        <p:tgtEl>
                                          <p:spTgt spid="543773"/>
                                        </p:tgtEl>
                                        <p:attrNameLst>
                                          <p:attrName>style.visibility</p:attrName>
                                        </p:attrNameLst>
                                      </p:cBhvr>
                                      <p:to>
                                        <p:strVal val="visible"/>
                                      </p:to>
                                    </p:set>
                                    <p:animEffect transition="in" filter="dissolve">
                                      <p:cBhvr>
                                        <p:cTn id="115" dur="500"/>
                                        <p:tgtEl>
                                          <p:spTgt spid="543773"/>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1" fill="hold" grpId="0" nodeType="clickEffect">
                                  <p:stCondLst>
                                    <p:cond delay="0"/>
                                  </p:stCondLst>
                                  <p:childTnLst>
                                    <p:set>
                                      <p:cBhvr>
                                        <p:cTn id="119" dur="1" fill="hold">
                                          <p:stCondLst>
                                            <p:cond delay="0"/>
                                          </p:stCondLst>
                                        </p:cTn>
                                        <p:tgtEl>
                                          <p:spTgt spid="543775"/>
                                        </p:tgtEl>
                                        <p:attrNameLst>
                                          <p:attrName>style.visibility</p:attrName>
                                        </p:attrNameLst>
                                      </p:cBhvr>
                                      <p:to>
                                        <p:strVal val="visible"/>
                                      </p:to>
                                    </p:set>
                                    <p:animEffect transition="in" filter="wipe(up)">
                                      <p:cBhvr>
                                        <p:cTn id="120" dur="500"/>
                                        <p:tgtEl>
                                          <p:spTgt spid="543775"/>
                                        </p:tgtEl>
                                      </p:cBhvr>
                                    </p:animEffect>
                                  </p:childTnLst>
                                </p:cTn>
                              </p:par>
                            </p:childTnLst>
                          </p:cTn>
                        </p:par>
                        <p:par>
                          <p:cTn id="121" fill="hold" nodeType="afterGroup">
                            <p:stCondLst>
                              <p:cond delay="500"/>
                            </p:stCondLst>
                            <p:childTnLst>
                              <p:par>
                                <p:cTn id="122" presetID="9" presetClass="entr" presetSubtype="0" fill="hold" grpId="0" nodeType="afterEffect">
                                  <p:stCondLst>
                                    <p:cond delay="0"/>
                                  </p:stCondLst>
                                  <p:childTnLst>
                                    <p:set>
                                      <p:cBhvr>
                                        <p:cTn id="123" dur="1" fill="hold">
                                          <p:stCondLst>
                                            <p:cond delay="0"/>
                                          </p:stCondLst>
                                        </p:cTn>
                                        <p:tgtEl>
                                          <p:spTgt spid="543763"/>
                                        </p:tgtEl>
                                        <p:attrNameLst>
                                          <p:attrName>style.visibility</p:attrName>
                                        </p:attrNameLst>
                                      </p:cBhvr>
                                      <p:to>
                                        <p:strVal val="visible"/>
                                      </p:to>
                                    </p:set>
                                    <p:animEffect transition="in" filter="dissolve">
                                      <p:cBhvr>
                                        <p:cTn id="124" dur="500"/>
                                        <p:tgtEl>
                                          <p:spTgt spid="543763"/>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2" fill="hold" grpId="0" nodeType="clickEffect">
                                  <p:stCondLst>
                                    <p:cond delay="0"/>
                                  </p:stCondLst>
                                  <p:childTnLst>
                                    <p:set>
                                      <p:cBhvr>
                                        <p:cTn id="128" dur="1" fill="hold">
                                          <p:stCondLst>
                                            <p:cond delay="0"/>
                                          </p:stCondLst>
                                        </p:cTn>
                                        <p:tgtEl>
                                          <p:spTgt spid="543782"/>
                                        </p:tgtEl>
                                        <p:attrNameLst>
                                          <p:attrName>style.visibility</p:attrName>
                                        </p:attrNameLst>
                                      </p:cBhvr>
                                      <p:to>
                                        <p:strVal val="visible"/>
                                      </p:to>
                                    </p:set>
                                    <p:animEffect transition="in" filter="wipe(right)">
                                      <p:cBhvr>
                                        <p:cTn id="129" dur="500"/>
                                        <p:tgtEl>
                                          <p:spTgt spid="543782"/>
                                        </p:tgtEl>
                                      </p:cBhvr>
                                    </p:animEffect>
                                  </p:childTnLst>
                                </p:cTn>
                              </p:par>
                            </p:childTnLst>
                          </p:cTn>
                        </p:par>
                        <p:par>
                          <p:cTn id="130" fill="hold" nodeType="afterGroup">
                            <p:stCondLst>
                              <p:cond delay="500"/>
                            </p:stCondLst>
                            <p:childTnLst>
                              <p:par>
                                <p:cTn id="131" presetID="9" presetClass="entr" presetSubtype="0" fill="hold" grpId="0" nodeType="afterEffect">
                                  <p:stCondLst>
                                    <p:cond delay="0"/>
                                  </p:stCondLst>
                                  <p:childTnLst>
                                    <p:set>
                                      <p:cBhvr>
                                        <p:cTn id="132" dur="1" fill="hold">
                                          <p:stCondLst>
                                            <p:cond delay="0"/>
                                          </p:stCondLst>
                                        </p:cTn>
                                        <p:tgtEl>
                                          <p:spTgt spid="543764"/>
                                        </p:tgtEl>
                                        <p:attrNameLst>
                                          <p:attrName>style.visibility</p:attrName>
                                        </p:attrNameLst>
                                      </p:cBhvr>
                                      <p:to>
                                        <p:strVal val="visible"/>
                                      </p:to>
                                    </p:set>
                                    <p:animEffect transition="in" filter="dissolve">
                                      <p:cBhvr>
                                        <p:cTn id="133" dur="500"/>
                                        <p:tgtEl>
                                          <p:spTgt spid="543764"/>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9" presetClass="entr" presetSubtype="0" fill="hold" grpId="0" nodeType="clickEffect">
                                  <p:stCondLst>
                                    <p:cond delay="0"/>
                                  </p:stCondLst>
                                  <p:childTnLst>
                                    <p:set>
                                      <p:cBhvr>
                                        <p:cTn id="137" dur="1" fill="hold">
                                          <p:stCondLst>
                                            <p:cond delay="0"/>
                                          </p:stCondLst>
                                        </p:cTn>
                                        <p:tgtEl>
                                          <p:spTgt spid="543777"/>
                                        </p:tgtEl>
                                        <p:attrNameLst>
                                          <p:attrName>style.visibility</p:attrName>
                                        </p:attrNameLst>
                                      </p:cBhvr>
                                      <p:to>
                                        <p:strVal val="visible"/>
                                      </p:to>
                                    </p:set>
                                    <p:animEffect transition="in" filter="dissolve">
                                      <p:cBhvr>
                                        <p:cTn id="138" dur="500"/>
                                        <p:tgtEl>
                                          <p:spTgt spid="543777"/>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1" fill="hold" grpId="0" nodeType="clickEffect">
                                  <p:stCondLst>
                                    <p:cond delay="0"/>
                                  </p:stCondLst>
                                  <p:childTnLst>
                                    <p:set>
                                      <p:cBhvr>
                                        <p:cTn id="142" dur="1" fill="hold">
                                          <p:stCondLst>
                                            <p:cond delay="0"/>
                                          </p:stCondLst>
                                        </p:cTn>
                                        <p:tgtEl>
                                          <p:spTgt spid="543774"/>
                                        </p:tgtEl>
                                        <p:attrNameLst>
                                          <p:attrName>style.visibility</p:attrName>
                                        </p:attrNameLst>
                                      </p:cBhvr>
                                      <p:to>
                                        <p:strVal val="visible"/>
                                      </p:to>
                                    </p:set>
                                    <p:animEffect transition="in" filter="wipe(up)">
                                      <p:cBhvr>
                                        <p:cTn id="143" dur="500"/>
                                        <p:tgtEl>
                                          <p:spTgt spid="543774"/>
                                        </p:tgtEl>
                                      </p:cBhvr>
                                    </p:animEffect>
                                  </p:childTnLst>
                                </p:cTn>
                              </p:par>
                            </p:childTnLst>
                          </p:cTn>
                        </p:par>
                        <p:par>
                          <p:cTn id="144" fill="hold" nodeType="afterGroup">
                            <p:stCondLst>
                              <p:cond delay="500"/>
                            </p:stCondLst>
                            <p:childTnLst>
                              <p:par>
                                <p:cTn id="145" presetID="9" presetClass="entr" presetSubtype="0" fill="hold" grpId="0" nodeType="afterEffect">
                                  <p:stCondLst>
                                    <p:cond delay="0"/>
                                  </p:stCondLst>
                                  <p:childTnLst>
                                    <p:set>
                                      <p:cBhvr>
                                        <p:cTn id="146" dur="1" fill="hold">
                                          <p:stCondLst>
                                            <p:cond delay="0"/>
                                          </p:stCondLst>
                                        </p:cTn>
                                        <p:tgtEl>
                                          <p:spTgt spid="543765"/>
                                        </p:tgtEl>
                                        <p:attrNameLst>
                                          <p:attrName>style.visibility</p:attrName>
                                        </p:attrNameLst>
                                      </p:cBhvr>
                                      <p:to>
                                        <p:strVal val="visible"/>
                                      </p:to>
                                    </p:set>
                                    <p:animEffect transition="in" filter="dissolve">
                                      <p:cBhvr>
                                        <p:cTn id="147" dur="500"/>
                                        <p:tgtEl>
                                          <p:spTgt spid="543765"/>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2" fill="hold" grpId="0" nodeType="clickEffect">
                                  <p:stCondLst>
                                    <p:cond delay="0"/>
                                  </p:stCondLst>
                                  <p:childTnLst>
                                    <p:set>
                                      <p:cBhvr>
                                        <p:cTn id="151" dur="1" fill="hold">
                                          <p:stCondLst>
                                            <p:cond delay="0"/>
                                          </p:stCondLst>
                                        </p:cTn>
                                        <p:tgtEl>
                                          <p:spTgt spid="543783"/>
                                        </p:tgtEl>
                                        <p:attrNameLst>
                                          <p:attrName>style.visibility</p:attrName>
                                        </p:attrNameLst>
                                      </p:cBhvr>
                                      <p:to>
                                        <p:strVal val="visible"/>
                                      </p:to>
                                    </p:set>
                                    <p:animEffect transition="in" filter="wipe(right)">
                                      <p:cBhvr>
                                        <p:cTn id="152" dur="500"/>
                                        <p:tgtEl>
                                          <p:spTgt spid="543783"/>
                                        </p:tgtEl>
                                      </p:cBhvr>
                                    </p:animEffect>
                                  </p:childTnLst>
                                </p:cTn>
                              </p:par>
                            </p:childTnLst>
                          </p:cTn>
                        </p:par>
                        <p:par>
                          <p:cTn id="153" fill="hold" nodeType="afterGroup">
                            <p:stCondLst>
                              <p:cond delay="500"/>
                            </p:stCondLst>
                            <p:childTnLst>
                              <p:par>
                                <p:cTn id="154" presetID="9" presetClass="entr" presetSubtype="0" fill="hold" nodeType="afterEffect">
                                  <p:stCondLst>
                                    <p:cond delay="0"/>
                                  </p:stCondLst>
                                  <p:childTnLst>
                                    <p:set>
                                      <p:cBhvr>
                                        <p:cTn id="155" dur="1" fill="hold">
                                          <p:stCondLst>
                                            <p:cond delay="0"/>
                                          </p:stCondLst>
                                        </p:cTn>
                                        <p:tgtEl>
                                          <p:spTgt spid="543747"/>
                                        </p:tgtEl>
                                        <p:attrNameLst>
                                          <p:attrName>style.visibility</p:attrName>
                                        </p:attrNameLst>
                                      </p:cBhvr>
                                      <p:to>
                                        <p:strVal val="visible"/>
                                      </p:to>
                                    </p:set>
                                    <p:animEffect transition="in" filter="dissolve">
                                      <p:cBhvr>
                                        <p:cTn id="156" dur="500"/>
                                        <p:tgtEl>
                                          <p:spTgt spid="543747"/>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9" presetClass="entr" presetSubtype="0" fill="hold" grpId="0" nodeType="clickEffect">
                                  <p:stCondLst>
                                    <p:cond delay="0"/>
                                  </p:stCondLst>
                                  <p:childTnLst>
                                    <p:set>
                                      <p:cBhvr>
                                        <p:cTn id="160" dur="1" fill="hold">
                                          <p:stCondLst>
                                            <p:cond delay="0"/>
                                          </p:stCondLst>
                                        </p:cTn>
                                        <p:tgtEl>
                                          <p:spTgt spid="543779"/>
                                        </p:tgtEl>
                                        <p:attrNameLst>
                                          <p:attrName>style.visibility</p:attrName>
                                        </p:attrNameLst>
                                      </p:cBhvr>
                                      <p:to>
                                        <p:strVal val="visible"/>
                                      </p:to>
                                    </p:set>
                                    <p:animEffect transition="in" filter="dissolve">
                                      <p:cBhvr>
                                        <p:cTn id="161" dur="500"/>
                                        <p:tgtEl>
                                          <p:spTgt spid="543779"/>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1" fill="hold" grpId="0" nodeType="clickEffect">
                                  <p:stCondLst>
                                    <p:cond delay="0"/>
                                  </p:stCondLst>
                                  <p:childTnLst>
                                    <p:set>
                                      <p:cBhvr>
                                        <p:cTn id="165" dur="1" fill="hold">
                                          <p:stCondLst>
                                            <p:cond delay="0"/>
                                          </p:stCondLst>
                                        </p:cTn>
                                        <p:tgtEl>
                                          <p:spTgt spid="543768"/>
                                        </p:tgtEl>
                                        <p:attrNameLst>
                                          <p:attrName>style.visibility</p:attrName>
                                        </p:attrNameLst>
                                      </p:cBhvr>
                                      <p:to>
                                        <p:strVal val="visible"/>
                                      </p:to>
                                    </p:set>
                                    <p:animEffect transition="in" filter="wipe(up)">
                                      <p:cBhvr>
                                        <p:cTn id="166" dur="500"/>
                                        <p:tgtEl>
                                          <p:spTgt spid="543768"/>
                                        </p:tgtEl>
                                      </p:cBhvr>
                                    </p:animEffect>
                                  </p:childTnLst>
                                </p:cTn>
                              </p:par>
                            </p:childTnLst>
                          </p:cTn>
                        </p:par>
                        <p:par>
                          <p:cTn id="167" fill="hold" nodeType="afterGroup">
                            <p:stCondLst>
                              <p:cond delay="500"/>
                            </p:stCondLst>
                            <p:childTnLst>
                              <p:par>
                                <p:cTn id="168" presetID="9" presetClass="entr" presetSubtype="0" fill="hold" nodeType="afterEffect">
                                  <p:stCondLst>
                                    <p:cond delay="0"/>
                                  </p:stCondLst>
                                  <p:childTnLst>
                                    <p:set>
                                      <p:cBhvr>
                                        <p:cTn id="169" dur="1" fill="hold">
                                          <p:stCondLst>
                                            <p:cond delay="0"/>
                                          </p:stCondLst>
                                        </p:cTn>
                                        <p:tgtEl>
                                          <p:spTgt spid="543766"/>
                                        </p:tgtEl>
                                        <p:attrNameLst>
                                          <p:attrName>style.visibility</p:attrName>
                                        </p:attrNameLst>
                                      </p:cBhvr>
                                      <p:to>
                                        <p:strVal val="visible"/>
                                      </p:to>
                                    </p:set>
                                    <p:animEffect transition="in" filter="dissolve">
                                      <p:cBhvr>
                                        <p:cTn id="170" dur="500"/>
                                        <p:tgtEl>
                                          <p:spTgt spid="543766"/>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2" presetClass="entr" presetSubtype="2" fill="hold" grpId="0" nodeType="clickEffect">
                                  <p:stCondLst>
                                    <p:cond delay="0"/>
                                  </p:stCondLst>
                                  <p:childTnLst>
                                    <p:set>
                                      <p:cBhvr>
                                        <p:cTn id="174" dur="1" fill="hold">
                                          <p:stCondLst>
                                            <p:cond delay="0"/>
                                          </p:stCondLst>
                                        </p:cTn>
                                        <p:tgtEl>
                                          <p:spTgt spid="543785"/>
                                        </p:tgtEl>
                                        <p:attrNameLst>
                                          <p:attrName>style.visibility</p:attrName>
                                        </p:attrNameLst>
                                      </p:cBhvr>
                                      <p:to>
                                        <p:strVal val="visible"/>
                                      </p:to>
                                    </p:set>
                                    <p:animEffect transition="in" filter="wipe(right)">
                                      <p:cBhvr>
                                        <p:cTn id="175" dur="500"/>
                                        <p:tgtEl>
                                          <p:spTgt spid="543785"/>
                                        </p:tgtEl>
                                      </p:cBhvr>
                                    </p:animEffect>
                                  </p:childTnLst>
                                </p:cTn>
                              </p:par>
                            </p:childTnLst>
                          </p:cTn>
                        </p:par>
                        <p:par>
                          <p:cTn id="176" fill="hold" nodeType="afterGroup">
                            <p:stCondLst>
                              <p:cond delay="500"/>
                            </p:stCondLst>
                            <p:childTnLst>
                              <p:par>
                                <p:cTn id="177" presetID="9" presetClass="entr" presetSubtype="0" fill="hold" nodeType="afterEffect">
                                  <p:stCondLst>
                                    <p:cond delay="0"/>
                                  </p:stCondLst>
                                  <p:childTnLst>
                                    <p:set>
                                      <p:cBhvr>
                                        <p:cTn id="178" dur="1" fill="hold">
                                          <p:stCondLst>
                                            <p:cond delay="0"/>
                                          </p:stCondLst>
                                        </p:cTn>
                                        <p:tgtEl>
                                          <p:spTgt spid="543746"/>
                                        </p:tgtEl>
                                        <p:attrNameLst>
                                          <p:attrName>style.visibility</p:attrName>
                                        </p:attrNameLst>
                                      </p:cBhvr>
                                      <p:to>
                                        <p:strVal val="visible"/>
                                      </p:to>
                                    </p:set>
                                    <p:animEffect transition="in" filter="dissolve">
                                      <p:cBhvr>
                                        <p:cTn id="179" dur="500"/>
                                        <p:tgtEl>
                                          <p:spTgt spid="543746"/>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9" presetClass="entr" presetSubtype="0" fill="hold" grpId="0" nodeType="clickEffect">
                                  <p:stCondLst>
                                    <p:cond delay="0"/>
                                  </p:stCondLst>
                                  <p:childTnLst>
                                    <p:set>
                                      <p:cBhvr>
                                        <p:cTn id="183" dur="1" fill="hold">
                                          <p:stCondLst>
                                            <p:cond delay="0"/>
                                          </p:stCondLst>
                                        </p:cTn>
                                        <p:tgtEl>
                                          <p:spTgt spid="543780"/>
                                        </p:tgtEl>
                                        <p:attrNameLst>
                                          <p:attrName>style.visibility</p:attrName>
                                        </p:attrNameLst>
                                      </p:cBhvr>
                                      <p:to>
                                        <p:strVal val="visible"/>
                                      </p:to>
                                    </p:set>
                                    <p:animEffect transition="in" filter="dissolve">
                                      <p:cBhvr>
                                        <p:cTn id="184" dur="500"/>
                                        <p:tgtEl>
                                          <p:spTgt spid="543780"/>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22" presetClass="entr" presetSubtype="1" fill="hold" grpId="0" nodeType="clickEffect">
                                  <p:stCondLst>
                                    <p:cond delay="0"/>
                                  </p:stCondLst>
                                  <p:childTnLst>
                                    <p:set>
                                      <p:cBhvr>
                                        <p:cTn id="188" dur="1" fill="hold">
                                          <p:stCondLst>
                                            <p:cond delay="0"/>
                                          </p:stCondLst>
                                        </p:cTn>
                                        <p:tgtEl>
                                          <p:spTgt spid="543755"/>
                                        </p:tgtEl>
                                        <p:attrNameLst>
                                          <p:attrName>style.visibility</p:attrName>
                                        </p:attrNameLst>
                                      </p:cBhvr>
                                      <p:to>
                                        <p:strVal val="visible"/>
                                      </p:to>
                                    </p:set>
                                    <p:animEffect transition="in" filter="wipe(up)">
                                      <p:cBhvr>
                                        <p:cTn id="189" dur="500"/>
                                        <p:tgtEl>
                                          <p:spTgt spid="543755"/>
                                        </p:tgtEl>
                                      </p:cBhvr>
                                    </p:animEffect>
                                  </p:childTnLst>
                                </p:cTn>
                              </p:par>
                            </p:childTnLst>
                          </p:cTn>
                        </p:par>
                        <p:par>
                          <p:cTn id="190" fill="hold" nodeType="afterGroup">
                            <p:stCondLst>
                              <p:cond delay="500"/>
                            </p:stCondLst>
                            <p:childTnLst>
                              <p:par>
                                <p:cTn id="191" presetID="9" presetClass="entr" presetSubtype="0" fill="hold" nodeType="afterEffect">
                                  <p:stCondLst>
                                    <p:cond delay="0"/>
                                  </p:stCondLst>
                                  <p:childTnLst>
                                    <p:set>
                                      <p:cBhvr>
                                        <p:cTn id="192" dur="1" fill="hold">
                                          <p:stCondLst>
                                            <p:cond delay="0"/>
                                          </p:stCondLst>
                                        </p:cTn>
                                        <p:tgtEl>
                                          <p:spTgt spid="543776"/>
                                        </p:tgtEl>
                                        <p:attrNameLst>
                                          <p:attrName>style.visibility</p:attrName>
                                        </p:attrNameLst>
                                      </p:cBhvr>
                                      <p:to>
                                        <p:strVal val="visible"/>
                                      </p:to>
                                    </p:set>
                                    <p:animEffect transition="in" filter="dissolve">
                                      <p:cBhvr>
                                        <p:cTn id="193" dur="500"/>
                                        <p:tgtEl>
                                          <p:spTgt spid="543776"/>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9" presetClass="entr" presetSubtype="0" fill="hold" grpId="0" nodeType="clickEffect">
                                  <p:stCondLst>
                                    <p:cond delay="0"/>
                                  </p:stCondLst>
                                  <p:childTnLst>
                                    <p:set>
                                      <p:cBhvr>
                                        <p:cTn id="197" dur="1" fill="hold">
                                          <p:stCondLst>
                                            <p:cond delay="0"/>
                                          </p:stCondLst>
                                        </p:cTn>
                                        <p:tgtEl>
                                          <p:spTgt spid="543750"/>
                                        </p:tgtEl>
                                        <p:attrNameLst>
                                          <p:attrName>style.visibility</p:attrName>
                                        </p:attrNameLst>
                                      </p:cBhvr>
                                      <p:to>
                                        <p:strVal val="visible"/>
                                      </p:to>
                                    </p:set>
                                    <p:animEffect transition="in" filter="dissolve">
                                      <p:cBhvr>
                                        <p:cTn id="198" dur="500"/>
                                        <p:tgtEl>
                                          <p:spTgt spid="543750"/>
                                        </p:tgtEl>
                                      </p:cBhvr>
                                    </p:animEffect>
                                  </p:childTnLst>
                                </p:cTn>
                              </p:par>
                            </p:childTnLst>
                          </p:cTn>
                        </p:par>
                        <p:par>
                          <p:cTn id="199" fill="hold">
                            <p:stCondLst>
                              <p:cond delay="500"/>
                            </p:stCondLst>
                            <p:childTnLst>
                              <p:par>
                                <p:cTn id="200" presetID="9" presetClass="entr" presetSubtype="0" fill="hold" grpId="0" nodeType="afterEffect">
                                  <p:stCondLst>
                                    <p:cond delay="0"/>
                                  </p:stCondLst>
                                  <p:childTnLst>
                                    <p:set>
                                      <p:cBhvr>
                                        <p:cTn id="201" dur="1" fill="hold">
                                          <p:stCondLst>
                                            <p:cond delay="0"/>
                                          </p:stCondLst>
                                        </p:cTn>
                                        <p:tgtEl>
                                          <p:spTgt spid="50"/>
                                        </p:tgtEl>
                                        <p:attrNameLst>
                                          <p:attrName>style.visibility</p:attrName>
                                        </p:attrNameLst>
                                      </p:cBhvr>
                                      <p:to>
                                        <p:strVal val="visible"/>
                                      </p:to>
                                    </p:set>
                                    <p:animEffect transition="in" filter="dissolve">
                                      <p:cBhvr>
                                        <p:cTn id="202" dur="500"/>
                                        <p:tgtEl>
                                          <p:spTgt spid="50"/>
                                        </p:tgtEl>
                                      </p:cBhvr>
                                    </p:animEffect>
                                  </p:childTnLst>
                                </p:cTn>
                              </p:par>
                            </p:childTnLst>
                          </p:cTn>
                        </p:par>
                        <p:par>
                          <p:cTn id="203" fill="hold">
                            <p:stCondLst>
                              <p:cond delay="1000"/>
                            </p:stCondLst>
                            <p:childTnLst>
                              <p:par>
                                <p:cTn id="204" presetID="9" presetClass="entr" presetSubtype="0" fill="hold" grpId="0" nodeType="afterEffect">
                                  <p:stCondLst>
                                    <p:cond delay="0"/>
                                  </p:stCondLst>
                                  <p:childTnLst>
                                    <p:set>
                                      <p:cBhvr>
                                        <p:cTn id="205" dur="1" fill="hold">
                                          <p:stCondLst>
                                            <p:cond delay="0"/>
                                          </p:stCondLst>
                                        </p:cTn>
                                        <p:tgtEl>
                                          <p:spTgt spid="49"/>
                                        </p:tgtEl>
                                        <p:attrNameLst>
                                          <p:attrName>style.visibility</p:attrName>
                                        </p:attrNameLst>
                                      </p:cBhvr>
                                      <p:to>
                                        <p:strVal val="visible"/>
                                      </p:to>
                                    </p:set>
                                    <p:animEffect transition="in" filter="dissolve">
                                      <p:cBhvr>
                                        <p:cTn id="206" dur="500"/>
                                        <p:tgtEl>
                                          <p:spTgt spid="49"/>
                                        </p:tgtEl>
                                      </p:cBhvr>
                                    </p:animEffect>
                                  </p:childTnLst>
                                </p:cTn>
                              </p:par>
                            </p:childTnLst>
                          </p:cTn>
                        </p:par>
                        <p:par>
                          <p:cTn id="207" fill="hold">
                            <p:stCondLst>
                              <p:cond delay="1500"/>
                            </p:stCondLst>
                            <p:childTnLst>
                              <p:par>
                                <p:cTn id="208" presetID="9" presetClass="entr" presetSubtype="0" fill="hold" grpId="0" nodeType="afterEffect">
                                  <p:stCondLst>
                                    <p:cond delay="0"/>
                                  </p:stCondLst>
                                  <p:childTnLst>
                                    <p:set>
                                      <p:cBhvr>
                                        <p:cTn id="209" dur="1" fill="hold">
                                          <p:stCondLst>
                                            <p:cond delay="0"/>
                                          </p:stCondLst>
                                        </p:cTn>
                                        <p:tgtEl>
                                          <p:spTgt spid="51"/>
                                        </p:tgtEl>
                                        <p:attrNameLst>
                                          <p:attrName>style.visibility</p:attrName>
                                        </p:attrNameLst>
                                      </p:cBhvr>
                                      <p:to>
                                        <p:strVal val="visible"/>
                                      </p:to>
                                    </p:set>
                                    <p:animEffect transition="in" filter="dissolve">
                                      <p:cBhvr>
                                        <p:cTn id="210" dur="500"/>
                                        <p:tgtEl>
                                          <p:spTgt spid="51"/>
                                        </p:tgtEl>
                                      </p:cBhvr>
                                    </p:animEffect>
                                  </p:childTnLst>
                                </p:cTn>
                              </p:par>
                            </p:childTnLst>
                          </p:cTn>
                        </p:par>
                        <p:par>
                          <p:cTn id="211" fill="hold">
                            <p:stCondLst>
                              <p:cond delay="2000"/>
                            </p:stCondLst>
                            <p:childTnLst>
                              <p:par>
                                <p:cTn id="212" presetID="9" presetClass="entr" presetSubtype="0" fill="hold" grpId="0" nodeType="afterEffect">
                                  <p:stCondLst>
                                    <p:cond delay="0"/>
                                  </p:stCondLst>
                                  <p:childTnLst>
                                    <p:set>
                                      <p:cBhvr>
                                        <p:cTn id="213" dur="1" fill="hold">
                                          <p:stCondLst>
                                            <p:cond delay="0"/>
                                          </p:stCondLst>
                                        </p:cTn>
                                        <p:tgtEl>
                                          <p:spTgt spid="52"/>
                                        </p:tgtEl>
                                        <p:attrNameLst>
                                          <p:attrName>style.visibility</p:attrName>
                                        </p:attrNameLst>
                                      </p:cBhvr>
                                      <p:to>
                                        <p:strVal val="visible"/>
                                      </p:to>
                                    </p:set>
                                    <p:animEffect transition="in" filter="dissolve">
                                      <p:cBhvr>
                                        <p:cTn id="214" dur="500"/>
                                        <p:tgtEl>
                                          <p:spTgt spid="52"/>
                                        </p:tgtEl>
                                      </p:cBhvr>
                                    </p:animEffect>
                                  </p:childTnLst>
                                </p:cTn>
                              </p:par>
                            </p:childTnLst>
                          </p:cTn>
                        </p:par>
                        <p:par>
                          <p:cTn id="215" fill="hold">
                            <p:stCondLst>
                              <p:cond delay="2500"/>
                            </p:stCondLst>
                            <p:childTnLst>
                              <p:par>
                                <p:cTn id="216" presetID="9" presetClass="entr" presetSubtype="0" fill="hold" grpId="0" nodeType="afterEffect">
                                  <p:stCondLst>
                                    <p:cond delay="0"/>
                                  </p:stCondLst>
                                  <p:childTnLst>
                                    <p:set>
                                      <p:cBhvr>
                                        <p:cTn id="217" dur="1" fill="hold">
                                          <p:stCondLst>
                                            <p:cond delay="0"/>
                                          </p:stCondLst>
                                        </p:cTn>
                                        <p:tgtEl>
                                          <p:spTgt spid="53"/>
                                        </p:tgtEl>
                                        <p:attrNameLst>
                                          <p:attrName>style.visibility</p:attrName>
                                        </p:attrNameLst>
                                      </p:cBhvr>
                                      <p:to>
                                        <p:strVal val="visible"/>
                                      </p:to>
                                    </p:set>
                                    <p:animEffect transition="in" filter="dissolve">
                                      <p:cBhvr>
                                        <p:cTn id="218" dur="500"/>
                                        <p:tgtEl>
                                          <p:spTgt spid="53"/>
                                        </p:tgtEl>
                                      </p:cBhvr>
                                    </p:animEffect>
                                  </p:childTnLst>
                                </p:cTn>
                              </p:par>
                            </p:childTnLst>
                          </p:cTn>
                        </p:par>
                        <p:par>
                          <p:cTn id="219" fill="hold">
                            <p:stCondLst>
                              <p:cond delay="3000"/>
                            </p:stCondLst>
                            <p:childTnLst>
                              <p:par>
                                <p:cTn id="220" presetID="9" presetClass="entr" presetSubtype="0" fill="hold" nodeType="afterEffect">
                                  <p:stCondLst>
                                    <p:cond delay="0"/>
                                  </p:stCondLst>
                                  <p:childTnLst>
                                    <p:set>
                                      <p:cBhvr>
                                        <p:cTn id="221" dur="1" fill="hold">
                                          <p:stCondLst>
                                            <p:cond delay="0"/>
                                          </p:stCondLst>
                                        </p:cTn>
                                        <p:tgtEl>
                                          <p:spTgt spid="48"/>
                                        </p:tgtEl>
                                        <p:attrNameLst>
                                          <p:attrName>style.visibility</p:attrName>
                                        </p:attrNameLst>
                                      </p:cBhvr>
                                      <p:to>
                                        <p:strVal val="visible"/>
                                      </p:to>
                                    </p:set>
                                    <p:animEffect transition="in" filter="dissolve">
                                      <p:cBhvr>
                                        <p:cTn id="222" dur="500"/>
                                        <p:tgtEl>
                                          <p:spTgt spid="48"/>
                                        </p:tgtEl>
                                      </p:cBhvr>
                                    </p:animEffect>
                                  </p:childTnLst>
                                </p:cTn>
                              </p:par>
                            </p:childTnLst>
                          </p:cTn>
                        </p:par>
                        <p:par>
                          <p:cTn id="223" fill="hold">
                            <p:stCondLst>
                              <p:cond delay="3500"/>
                            </p:stCondLst>
                            <p:childTnLst>
                              <p:par>
                                <p:cTn id="224" presetID="9" presetClass="entr" presetSubtype="0" fill="hold" nodeType="afterEffect">
                                  <p:stCondLst>
                                    <p:cond delay="0"/>
                                  </p:stCondLst>
                                  <p:childTnLst>
                                    <p:set>
                                      <p:cBhvr>
                                        <p:cTn id="225" dur="1" fill="hold">
                                          <p:stCondLst>
                                            <p:cond delay="0"/>
                                          </p:stCondLst>
                                        </p:cTn>
                                        <p:tgtEl>
                                          <p:spTgt spid="54"/>
                                        </p:tgtEl>
                                        <p:attrNameLst>
                                          <p:attrName>style.visibility</p:attrName>
                                        </p:attrNameLst>
                                      </p:cBhvr>
                                      <p:to>
                                        <p:strVal val="visible"/>
                                      </p:to>
                                    </p:set>
                                    <p:animEffect transition="in" filter="dissolve">
                                      <p:cBhvr>
                                        <p:cTn id="226" dur="500"/>
                                        <p:tgtEl>
                                          <p:spTgt spid="54"/>
                                        </p:tgtEl>
                                      </p:cBhvr>
                                    </p:animEffect>
                                  </p:childTnLst>
                                </p:cTn>
                              </p:par>
                            </p:childTnLst>
                          </p:cTn>
                        </p:par>
                        <p:par>
                          <p:cTn id="227" fill="hold">
                            <p:stCondLst>
                              <p:cond delay="4000"/>
                            </p:stCondLst>
                            <p:childTnLst>
                              <p:par>
                                <p:cTn id="228" presetID="9" presetClass="entr" presetSubtype="0" fill="hold" nodeType="afterEffect">
                                  <p:stCondLst>
                                    <p:cond delay="0"/>
                                  </p:stCondLst>
                                  <p:childTnLst>
                                    <p:set>
                                      <p:cBhvr>
                                        <p:cTn id="229" dur="1" fill="hold">
                                          <p:stCondLst>
                                            <p:cond delay="0"/>
                                          </p:stCondLst>
                                        </p:cTn>
                                        <p:tgtEl>
                                          <p:spTgt spid="47"/>
                                        </p:tgtEl>
                                        <p:attrNameLst>
                                          <p:attrName>style.visibility</p:attrName>
                                        </p:attrNameLst>
                                      </p:cBhvr>
                                      <p:to>
                                        <p:strVal val="visible"/>
                                      </p:to>
                                    </p:set>
                                    <p:animEffect transition="in" filter="dissolve">
                                      <p:cBhvr>
                                        <p:cTn id="230" dur="500"/>
                                        <p:tgtEl>
                                          <p:spTgt spid="47"/>
                                        </p:tgtEl>
                                      </p:cBhvr>
                                    </p:animEffect>
                                  </p:childTnLst>
                                </p:cTn>
                              </p:par>
                            </p:childTnLst>
                          </p:cTn>
                        </p:par>
                        <p:par>
                          <p:cTn id="231" fill="hold">
                            <p:stCondLst>
                              <p:cond delay="4500"/>
                            </p:stCondLst>
                            <p:childTnLst>
                              <p:par>
                                <p:cTn id="232" presetID="9" presetClass="entr" presetSubtype="0" fill="hold" nodeType="afterEffect">
                                  <p:stCondLst>
                                    <p:cond delay="0"/>
                                  </p:stCondLst>
                                  <p:childTnLst>
                                    <p:set>
                                      <p:cBhvr>
                                        <p:cTn id="233" dur="1" fill="hold">
                                          <p:stCondLst>
                                            <p:cond delay="0"/>
                                          </p:stCondLst>
                                        </p:cTn>
                                        <p:tgtEl>
                                          <p:spTgt spid="55"/>
                                        </p:tgtEl>
                                        <p:attrNameLst>
                                          <p:attrName>style.visibility</p:attrName>
                                        </p:attrNameLst>
                                      </p:cBhvr>
                                      <p:to>
                                        <p:strVal val="visible"/>
                                      </p:to>
                                    </p:set>
                                    <p:animEffect transition="in" filter="dissolve">
                                      <p:cBhvr>
                                        <p:cTn id="23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8" grpId="0" autoUpdateAnimBg="0"/>
      <p:bldP spid="543749" grpId="0" autoUpdateAnimBg="0"/>
      <p:bldP spid="543750" grpId="0" autoUpdateAnimBg="0"/>
      <p:bldP spid="543751" grpId="0" autoUpdateAnimBg="0"/>
      <p:bldP spid="543752" grpId="0" autoUpdateAnimBg="0"/>
      <p:bldP spid="543753" grpId="0" autoUpdateAnimBg="0"/>
      <p:bldP spid="543754" grpId="0" animBg="1"/>
      <p:bldP spid="543755" grpId="0" animBg="1"/>
      <p:bldP spid="543756" grpId="0" autoUpdateAnimBg="0"/>
      <p:bldP spid="543757" grpId="0" autoUpdateAnimBg="0"/>
      <p:bldP spid="543758" grpId="0" autoUpdateAnimBg="0"/>
      <p:bldP spid="543759" grpId="0" autoUpdateAnimBg="0"/>
      <p:bldP spid="543760" grpId="0" autoUpdateAnimBg="0"/>
      <p:bldP spid="543761" grpId="0" autoUpdateAnimBg="0"/>
      <p:bldP spid="543762" grpId="0" autoUpdateAnimBg="0"/>
      <p:bldP spid="543763" grpId="0" autoUpdateAnimBg="0"/>
      <p:bldP spid="543764" grpId="0" autoUpdateAnimBg="0"/>
      <p:bldP spid="543765" grpId="0" autoUpdateAnimBg="0"/>
      <p:bldP spid="543767" grpId="0" animBg="1"/>
      <p:bldP spid="543768" grpId="0" animBg="1"/>
      <p:bldP spid="543770" grpId="0" autoUpdateAnimBg="0"/>
      <p:bldP spid="543771" grpId="0" autoUpdateAnimBg="0"/>
      <p:bldP spid="543772" grpId="0" animBg="1"/>
      <p:bldP spid="543773" grpId="0" autoUpdateAnimBg="0"/>
      <p:bldP spid="543774" grpId="0" animBg="1"/>
      <p:bldP spid="543775" grpId="0" animBg="1"/>
      <p:bldP spid="543777" grpId="0" animBg="1" autoUpdateAnimBg="0"/>
      <p:bldP spid="543778" grpId="0" animBg="1"/>
      <p:bldP spid="543779" grpId="0" animBg="1" autoUpdateAnimBg="0"/>
      <p:bldP spid="543780" grpId="0" animBg="1" autoUpdateAnimBg="0"/>
      <p:bldP spid="543781" grpId="0" animBg="1"/>
      <p:bldP spid="543782" grpId="0" animBg="1"/>
      <p:bldP spid="543783" grpId="0" animBg="1"/>
      <p:bldP spid="543784" grpId="0" animBg="1"/>
      <p:bldP spid="543785" grpId="0" animBg="1"/>
      <p:bldP spid="543786" grpId="0" animBg="1" autoUpdateAnimBg="0"/>
      <p:bldP spid="543787" grpId="0" animBg="1" autoUpdateAnimBg="0"/>
      <p:bldP spid="543788" grpId="0" animBg="1"/>
      <p:bldP spid="49" grpId="0" autoUpdateAnimBg="0"/>
      <p:bldP spid="50" grpId="0" autoUpdateAnimBg="0"/>
      <p:bldP spid="51" grpId="0" autoUpdateAnimBg="0"/>
      <p:bldP spid="52" grpId="0" autoUpdateAnimBg="0"/>
      <p:bldP spid="53"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641912" y="0"/>
            <a:ext cx="9816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950759" y="0"/>
            <a:ext cx="9816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259606" y="0"/>
            <a:ext cx="98163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568452" y="0"/>
            <a:ext cx="9816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540000" y="1524000"/>
            <a:ext cx="3719606"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15210" y="1524000"/>
            <a:ext cx="363679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2614925" y="1941094"/>
            <a:ext cx="6962162" cy="1446550"/>
          </a:xfrm>
          <a:prstGeom prst="rect">
            <a:avLst/>
          </a:prstGeom>
          <a:noFill/>
        </p:spPr>
        <p:txBody>
          <a:bodyPr wrap="none" rtlCol="0">
            <a:spAutoFit/>
          </a:bodyPr>
          <a:lstStyle/>
          <a:p>
            <a:pPr algn="ctr"/>
            <a:r>
              <a:rPr lang="en-US" altLang="zh-CN"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rPr>
              <a:t>SECTION 06</a:t>
            </a:r>
            <a:endParaRPr lang="zh-CN" altLang="en-US"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endParaRPr>
          </a:p>
        </p:txBody>
      </p:sp>
      <p:sp>
        <p:nvSpPr>
          <p:cNvPr id="30" name="文本框 29"/>
          <p:cNvSpPr txBox="1"/>
          <p:nvPr/>
        </p:nvSpPr>
        <p:spPr>
          <a:xfrm>
            <a:off x="2836953" y="3310581"/>
            <a:ext cx="6518131" cy="923330"/>
          </a:xfrm>
          <a:prstGeom prst="rect">
            <a:avLst/>
          </a:prstGeom>
          <a:noFill/>
        </p:spPr>
        <p:txBody>
          <a:bodyPr wrap="none" rtlCol="0">
            <a:spAutoFit/>
          </a:bodyPr>
          <a:lstStyle/>
          <a:p>
            <a:pPr algn="ctr"/>
            <a:r>
              <a:rPr lang="zh-CN" altLang="en-US" sz="5400" b="1" dirty="0">
                <a:solidFill>
                  <a:schemeClr val="tx1">
                    <a:lumMod val="65000"/>
                    <a:lumOff val="35000"/>
                  </a:schemeClr>
                </a:solidFill>
                <a:latin typeface="微软雅黑" panose="020B0503020204020204" pitchFamily="34" charset="-122"/>
                <a:ea typeface="微软雅黑" panose="020B0503020204020204" pitchFamily="34" charset="-122"/>
              </a:rPr>
              <a:t>变量和函数的作用域</a:t>
            </a:r>
          </a:p>
        </p:txBody>
      </p:sp>
      <p:sp>
        <p:nvSpPr>
          <p:cNvPr id="31" name="文本框 30"/>
          <p:cNvSpPr txBox="1"/>
          <p:nvPr/>
        </p:nvSpPr>
        <p:spPr>
          <a:xfrm>
            <a:off x="3058603" y="4233911"/>
            <a:ext cx="6200747" cy="408125"/>
          </a:xfrm>
          <a:prstGeom prst="rect">
            <a:avLst/>
          </a:prstGeom>
          <a:noFill/>
        </p:spPr>
        <p:txBody>
          <a:bodyPr wrap="square" rtlCol="0">
            <a:spAutoFit/>
          </a:bodyPr>
          <a:lstStyle/>
          <a:p>
            <a:pPr algn="dist">
              <a:lnSpc>
                <a:spcPct val="114000"/>
              </a:lnSpc>
            </a:pPr>
            <a:r>
              <a:rPr lang="en-US" altLang="zh-CN" dirty="0"/>
              <a:t>THE SCOPE OF VARIABLES AND FUNCTIONS</a:t>
            </a:r>
            <a:endParaRPr lang="en-US" altLang="zh-CN" sz="1600" dirty="0">
              <a:solidFill>
                <a:schemeClr val="bg1">
                  <a:lumMod val="65000"/>
                </a:schemeClr>
              </a:solidFill>
              <a:ea typeface="汉仪趣黑W" panose="00020600040101010101" pitchFamily="18" charset="-122"/>
            </a:endParaRPr>
          </a:p>
        </p:txBody>
      </p:sp>
    </p:spTree>
    <p:extLst>
      <p:ext uri="{BB962C8B-B14F-4D97-AF65-F5344CB8AC3E}">
        <p14:creationId xmlns:p14="http://schemas.microsoft.com/office/powerpoint/2010/main" val="2025397702"/>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750" fill="hold"/>
                                        <p:tgtEl>
                                          <p:spTgt spid="25"/>
                                        </p:tgtEl>
                                        <p:attrNameLst>
                                          <p:attrName>ppt_x</p:attrName>
                                        </p:attrNameLst>
                                      </p:cBhvr>
                                      <p:tavLst>
                                        <p:tav tm="0">
                                          <p:val>
                                            <p:strVal val="#ppt_x"/>
                                          </p:val>
                                        </p:tav>
                                        <p:tav tm="100000">
                                          <p:val>
                                            <p:strVal val="#ppt_x"/>
                                          </p:val>
                                        </p:tav>
                                      </p:tavLst>
                                    </p:anim>
                                    <p:anim calcmode="lin" valueType="num">
                                      <p:cBhvr additive="base">
                                        <p:cTn id="12" dur="75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2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750" fill="hold"/>
                                        <p:tgtEl>
                                          <p:spTgt spid="26"/>
                                        </p:tgtEl>
                                        <p:attrNameLst>
                                          <p:attrName>ppt_x</p:attrName>
                                        </p:attrNameLst>
                                      </p:cBhvr>
                                      <p:tavLst>
                                        <p:tav tm="0">
                                          <p:val>
                                            <p:strVal val="#ppt_x"/>
                                          </p:val>
                                        </p:tav>
                                        <p:tav tm="100000">
                                          <p:val>
                                            <p:strVal val="#ppt_x"/>
                                          </p:val>
                                        </p:tav>
                                      </p:tavLst>
                                    </p:anim>
                                    <p:anim calcmode="lin" valueType="num">
                                      <p:cBhvr additive="base">
                                        <p:cTn id="16" dur="75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750" fill="hold"/>
                                        <p:tgtEl>
                                          <p:spTgt spid="27"/>
                                        </p:tgtEl>
                                        <p:attrNameLst>
                                          <p:attrName>ppt_x</p:attrName>
                                        </p:attrNameLst>
                                      </p:cBhvr>
                                      <p:tavLst>
                                        <p:tav tm="0">
                                          <p:val>
                                            <p:strVal val="#ppt_x"/>
                                          </p:val>
                                        </p:tav>
                                        <p:tav tm="100000">
                                          <p:val>
                                            <p:strVal val="#ppt_x"/>
                                          </p:val>
                                        </p:tav>
                                      </p:tavLst>
                                    </p:anim>
                                    <p:anim calcmode="lin" valueType="num">
                                      <p:cBhvr additive="base">
                                        <p:cTn id="20" dur="750" fill="hold"/>
                                        <p:tgtEl>
                                          <p:spTgt spid="27"/>
                                        </p:tgtEl>
                                        <p:attrNameLst>
                                          <p:attrName>ppt_y</p:attrName>
                                        </p:attrNameLst>
                                      </p:cBhvr>
                                      <p:tavLst>
                                        <p:tav tm="0">
                                          <p:val>
                                            <p:strVal val="1+#ppt_h/2"/>
                                          </p:val>
                                        </p:tav>
                                        <p:tav tm="100000">
                                          <p:val>
                                            <p:strVal val="#ppt_y"/>
                                          </p:val>
                                        </p:tav>
                                      </p:tavLst>
                                    </p:anim>
                                  </p:childTnLst>
                                </p:cTn>
                              </p:par>
                            </p:childTnLst>
                          </p:cTn>
                        </p:par>
                        <p:par>
                          <p:cTn id="21" fill="hold">
                            <p:stCondLst>
                              <p:cond delay="1050"/>
                            </p:stCondLst>
                            <p:childTnLst>
                              <p:par>
                                <p:cTn id="22" presetID="2" presetClass="entr" presetSubtype="8"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additive="base">
                                        <p:cTn id="24" dur="1250" fill="hold"/>
                                        <p:tgtEl>
                                          <p:spTgt spid="28"/>
                                        </p:tgtEl>
                                        <p:attrNameLst>
                                          <p:attrName>ppt_x</p:attrName>
                                        </p:attrNameLst>
                                      </p:cBhvr>
                                      <p:tavLst>
                                        <p:tav tm="0">
                                          <p:val>
                                            <p:strVal val="0-#ppt_w/2"/>
                                          </p:val>
                                        </p:tav>
                                        <p:tav tm="100000">
                                          <p:val>
                                            <p:strVal val="#ppt_x"/>
                                          </p:val>
                                        </p:tav>
                                      </p:tavLst>
                                    </p:anim>
                                    <p:anim calcmode="lin" valueType="num">
                                      <p:cBhvr additive="base">
                                        <p:cTn id="25" dur="1250" fill="hold"/>
                                        <p:tgtEl>
                                          <p:spTgt spid="2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1250" fill="hold"/>
                                        <p:tgtEl>
                                          <p:spTgt spid="32"/>
                                        </p:tgtEl>
                                        <p:attrNameLst>
                                          <p:attrName>ppt_x</p:attrName>
                                        </p:attrNameLst>
                                      </p:cBhvr>
                                      <p:tavLst>
                                        <p:tav tm="0">
                                          <p:val>
                                            <p:strVal val="1+#ppt_w/2"/>
                                          </p:val>
                                        </p:tav>
                                        <p:tav tm="100000">
                                          <p:val>
                                            <p:strVal val="#ppt_x"/>
                                          </p:val>
                                        </p:tav>
                                      </p:tavLst>
                                    </p:anim>
                                    <p:anim calcmode="lin" valueType="num">
                                      <p:cBhvr additive="base">
                                        <p:cTn id="29" dur="1250" fill="hold"/>
                                        <p:tgtEl>
                                          <p:spTgt spid="32"/>
                                        </p:tgtEl>
                                        <p:attrNameLst>
                                          <p:attrName>ppt_y</p:attrName>
                                        </p:attrNameLst>
                                      </p:cBhvr>
                                      <p:tavLst>
                                        <p:tav tm="0">
                                          <p:val>
                                            <p:strVal val="#ppt_y"/>
                                          </p:val>
                                        </p:tav>
                                        <p:tav tm="100000">
                                          <p:val>
                                            <p:strVal val="#ppt_y"/>
                                          </p:val>
                                        </p:tav>
                                      </p:tavLst>
                                    </p:anim>
                                  </p:childTnLst>
                                </p:cTn>
                              </p:par>
                            </p:childTnLst>
                          </p:cTn>
                        </p:par>
                        <p:par>
                          <p:cTn id="30" fill="hold">
                            <p:stCondLst>
                              <p:cond delay="2300"/>
                            </p:stCondLst>
                            <p:childTnLst>
                              <p:par>
                                <p:cTn id="31" presetID="53" presetClass="entr" presetSubtype="52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Effect transition="in" filter="fade">
                                      <p:cBhvr>
                                        <p:cTn id="35" dur="500"/>
                                        <p:tgtEl>
                                          <p:spTgt spid="29"/>
                                        </p:tgtEl>
                                      </p:cBhvr>
                                    </p:animEffect>
                                    <p:anim calcmode="lin" valueType="num">
                                      <p:cBhvr>
                                        <p:cTn id="36" dur="500" fill="hold"/>
                                        <p:tgtEl>
                                          <p:spTgt spid="29"/>
                                        </p:tgtEl>
                                        <p:attrNameLst>
                                          <p:attrName>ppt_x</p:attrName>
                                        </p:attrNameLst>
                                      </p:cBhvr>
                                      <p:tavLst>
                                        <p:tav tm="0">
                                          <p:val>
                                            <p:fltVal val="0.5"/>
                                          </p:val>
                                        </p:tav>
                                        <p:tav tm="100000">
                                          <p:val>
                                            <p:strVal val="#ppt_x"/>
                                          </p:val>
                                        </p:tav>
                                      </p:tavLst>
                                    </p:anim>
                                    <p:anim calcmode="lin" valueType="num">
                                      <p:cBhvr>
                                        <p:cTn id="37" dur="500" fill="hold"/>
                                        <p:tgtEl>
                                          <p:spTgt spid="29"/>
                                        </p:tgtEl>
                                        <p:attrNameLst>
                                          <p:attrName>ppt_y</p:attrName>
                                        </p:attrNameLst>
                                      </p:cBhvr>
                                      <p:tavLst>
                                        <p:tav tm="0">
                                          <p:val>
                                            <p:fltVal val="0.5"/>
                                          </p:val>
                                        </p:tav>
                                        <p:tav tm="100000">
                                          <p:val>
                                            <p:strVal val="#ppt_y"/>
                                          </p:val>
                                        </p:tav>
                                      </p:tavLst>
                                    </p:anim>
                                  </p:childTnLst>
                                </p:cTn>
                              </p:par>
                            </p:childTnLst>
                          </p:cTn>
                        </p:par>
                        <p:par>
                          <p:cTn id="38" fill="hold">
                            <p:stCondLst>
                              <p:cond delay="2800"/>
                            </p:stCondLst>
                            <p:childTnLst>
                              <p:par>
                                <p:cTn id="39" presetID="53" presetClass="entr" presetSubtype="528" fill="hold" grpId="0" nodeType="afterEffect">
                                  <p:stCondLst>
                                    <p:cond delay="0"/>
                                  </p:stCondLst>
                                  <p:iterate type="lt">
                                    <p:tmPct val="10000"/>
                                  </p:iterate>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anim calcmode="lin" valueType="num">
                                      <p:cBhvr>
                                        <p:cTn id="44" dur="500" fill="hold"/>
                                        <p:tgtEl>
                                          <p:spTgt spid="30"/>
                                        </p:tgtEl>
                                        <p:attrNameLst>
                                          <p:attrName>ppt_x</p:attrName>
                                        </p:attrNameLst>
                                      </p:cBhvr>
                                      <p:tavLst>
                                        <p:tav tm="0">
                                          <p:val>
                                            <p:fltVal val="0.5"/>
                                          </p:val>
                                        </p:tav>
                                        <p:tav tm="100000">
                                          <p:val>
                                            <p:strVal val="#ppt_x"/>
                                          </p:val>
                                        </p:tav>
                                      </p:tavLst>
                                    </p:anim>
                                    <p:anim calcmode="lin" valueType="num">
                                      <p:cBhvr>
                                        <p:cTn id="45" dur="500" fill="hold"/>
                                        <p:tgtEl>
                                          <p:spTgt spid="30"/>
                                        </p:tgtEl>
                                        <p:attrNameLst>
                                          <p:attrName>ppt_y</p:attrName>
                                        </p:attrNameLst>
                                      </p:cBhvr>
                                      <p:tavLst>
                                        <p:tav tm="0">
                                          <p:val>
                                            <p:fltVal val="0.5"/>
                                          </p:val>
                                        </p:tav>
                                        <p:tav tm="100000">
                                          <p:val>
                                            <p:strVal val="#ppt_y"/>
                                          </p:val>
                                        </p:tav>
                                      </p:tavLst>
                                    </p:anim>
                                  </p:childTnLst>
                                </p:cTn>
                              </p:par>
                            </p:childTnLst>
                          </p:cTn>
                        </p:par>
                        <p:par>
                          <p:cTn id="46" fill="hold">
                            <p:stCondLst>
                              <p:cond delay="3700"/>
                            </p:stCondLst>
                            <p:childTnLst>
                              <p:par>
                                <p:cTn id="47" presetID="14" presetClass="entr" presetSubtype="10" fill="hold" grpId="0"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randombar(horizontal)">
                                      <p:cBhvr>
                                        <p:cTn id="4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32" grpId="0" animBg="1"/>
      <p:bldP spid="29" grpId="0"/>
      <p:bldP spid="30" grpId="0"/>
      <p:bldP spid="3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endParaRPr lang="en-US" altLang="zh-CN" dirty="0"/>
          </a:p>
        </p:txBody>
      </p:sp>
      <p:sp>
        <p:nvSpPr>
          <p:cNvPr id="546820" name="Rectangle 4"/>
          <p:cNvSpPr>
            <a:spLocks noChangeArrowheads="1"/>
          </p:cNvSpPr>
          <p:nvPr/>
        </p:nvSpPr>
        <p:spPr bwMode="auto">
          <a:xfrm>
            <a:off x="1031249" y="1194899"/>
            <a:ext cx="71342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2">
              <a:spcBef>
                <a:spcPct val="50000"/>
              </a:spcBef>
              <a:buClr>
                <a:schemeClr val="hlink"/>
              </a:buClr>
              <a:buFont typeface="Wingdings" pitchFamily="2" charset="2"/>
              <a:buNone/>
            </a:pPr>
            <a:r>
              <a:rPr lang="zh-CN" altLang="en-US" sz="3200" b="1" dirty="0">
                <a:latin typeface="Times New Roman" panose="02020603050405020304" pitchFamily="18" charset="0"/>
                <a:cs typeface="Times New Roman" panose="02020603050405020304" pitchFamily="18" charset="0"/>
              </a:rPr>
              <a:t>确定变量的存储长度和运算方式</a:t>
            </a:r>
          </a:p>
        </p:txBody>
      </p:sp>
      <p:sp>
        <p:nvSpPr>
          <p:cNvPr id="546821" name="Rectangle 5"/>
          <p:cNvSpPr>
            <a:spLocks noChangeArrowheads="1"/>
          </p:cNvSpPr>
          <p:nvPr/>
        </p:nvSpPr>
        <p:spPr bwMode="auto">
          <a:xfrm>
            <a:off x="1102736" y="1872315"/>
            <a:ext cx="6243637"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2">
              <a:spcBef>
                <a:spcPct val="50000"/>
              </a:spcBef>
              <a:buClr>
                <a:schemeClr val="hlink"/>
              </a:buClr>
              <a:buFont typeface="Wingdings" pitchFamily="2" charset="2"/>
              <a:buNone/>
            </a:pPr>
            <a:r>
              <a:rPr lang="en-US" altLang="zh-CN" sz="3200" b="1" dirty="0" err="1">
                <a:solidFill>
                  <a:srgbClr val="C00000"/>
                </a:solidFill>
                <a:latin typeface="Times New Roman" panose="02020603050405020304" pitchFamily="18" charset="0"/>
                <a:cs typeface="Times New Roman" panose="02020603050405020304" pitchFamily="18" charset="0"/>
              </a:rPr>
              <a:t>int</a:t>
            </a:r>
            <a:r>
              <a:rPr lang="zh-CN" altLang="en-US" sz="3200" b="1" dirty="0">
                <a:solidFill>
                  <a:srgbClr val="C00000"/>
                </a:solidFill>
                <a:latin typeface="Times New Roman" panose="02020603050405020304" pitchFamily="18" charset="0"/>
                <a:cs typeface="Times New Roman" panose="02020603050405020304" pitchFamily="18" charset="0"/>
              </a:rPr>
              <a:t>、</a:t>
            </a:r>
            <a:r>
              <a:rPr lang="en-US" altLang="zh-CN" sz="3200" b="1" dirty="0">
                <a:solidFill>
                  <a:srgbClr val="C00000"/>
                </a:solidFill>
                <a:latin typeface="Times New Roman" panose="02020603050405020304" pitchFamily="18" charset="0"/>
                <a:cs typeface="Times New Roman" panose="02020603050405020304" pitchFamily="18" charset="0"/>
              </a:rPr>
              <a:t>float</a:t>
            </a:r>
            <a:r>
              <a:rPr lang="zh-CN" altLang="en-US" sz="3200" b="1" dirty="0">
                <a:solidFill>
                  <a:srgbClr val="C00000"/>
                </a:solidFill>
                <a:latin typeface="Times New Roman" panose="02020603050405020304" pitchFamily="18" charset="0"/>
                <a:cs typeface="Times New Roman" panose="02020603050405020304" pitchFamily="18" charset="0"/>
              </a:rPr>
              <a:t>、</a:t>
            </a:r>
            <a:r>
              <a:rPr lang="en-US" altLang="zh-CN" sz="3200" b="1" dirty="0">
                <a:solidFill>
                  <a:srgbClr val="C00000"/>
                </a:solidFill>
                <a:latin typeface="Times New Roman" panose="02020603050405020304" pitchFamily="18" charset="0"/>
                <a:cs typeface="Times New Roman" panose="02020603050405020304" pitchFamily="18" charset="0"/>
              </a:rPr>
              <a:t>char</a:t>
            </a:r>
            <a:r>
              <a:rPr lang="zh-CN" altLang="en-US" sz="3200" b="1" dirty="0">
                <a:solidFill>
                  <a:srgbClr val="C00000"/>
                </a:solidFill>
                <a:latin typeface="Times New Roman" panose="02020603050405020304" pitchFamily="18" charset="0"/>
                <a:cs typeface="Times New Roman" panose="02020603050405020304" pitchFamily="18" charset="0"/>
              </a:rPr>
              <a:t>、</a:t>
            </a:r>
            <a:r>
              <a:rPr lang="en-US" altLang="zh-CN" sz="3200" b="1" dirty="0">
                <a:solidFill>
                  <a:srgbClr val="C00000"/>
                </a:solidFill>
                <a:latin typeface="Times New Roman" panose="02020603050405020304" pitchFamily="18" charset="0"/>
                <a:cs typeface="Times New Roman" panose="02020603050405020304" pitchFamily="18" charset="0"/>
              </a:rPr>
              <a:t>double…</a:t>
            </a:r>
          </a:p>
        </p:txBody>
      </p:sp>
      <p:sp>
        <p:nvSpPr>
          <p:cNvPr id="546822" name="Text Box 6"/>
          <p:cNvSpPr txBox="1">
            <a:spLocks noChangeArrowheads="1"/>
          </p:cNvSpPr>
          <p:nvPr/>
        </p:nvSpPr>
        <p:spPr bwMode="auto">
          <a:xfrm>
            <a:off x="2874335" y="2620390"/>
            <a:ext cx="3048000" cy="1298575"/>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90000" tIns="46800" rIns="90000" bIns="46800">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lnSpc>
                <a:spcPct val="120000"/>
              </a:lnSpc>
            </a:pPr>
            <a:r>
              <a:rPr lang="zh-CN" altLang="en-US" b="1" dirty="0">
                <a:solidFill>
                  <a:srgbClr val="C00000"/>
                </a:solidFill>
                <a:latin typeface="Times New Roman" panose="02020603050405020304" pitchFamily="18" charset="0"/>
                <a:ea typeface="+mn-ea"/>
                <a:cs typeface="Times New Roman" panose="02020603050405020304" pitchFamily="18" charset="0"/>
              </a:rPr>
              <a:t>例</a:t>
            </a:r>
            <a:r>
              <a:rPr lang="zh-CN" altLang="en-US" b="1" dirty="0">
                <a:latin typeface="Times New Roman" panose="02020603050405020304" pitchFamily="18" charset="0"/>
                <a:ea typeface="+mn-ea"/>
                <a:cs typeface="Times New Roman" panose="02020603050405020304" pitchFamily="18" charset="0"/>
              </a:rPr>
              <a:t>    </a:t>
            </a:r>
            <a:r>
              <a:rPr lang="en-US" altLang="zh-CN" b="1" dirty="0">
                <a:latin typeface="Times New Roman" panose="02020603050405020304" pitchFamily="18" charset="0"/>
                <a:ea typeface="+mn-ea"/>
                <a:cs typeface="Times New Roman" panose="02020603050405020304" pitchFamily="18" charset="0"/>
              </a:rPr>
              <a:t>5/2   =</a:t>
            </a:r>
          </a:p>
          <a:p>
            <a:pPr algn="l" eaLnBrk="0" hangingPunct="0">
              <a:lnSpc>
                <a:spcPct val="120000"/>
              </a:lnSpc>
            </a:pPr>
            <a:r>
              <a:rPr lang="en-US" altLang="zh-CN" b="1" dirty="0">
                <a:latin typeface="Times New Roman" panose="02020603050405020304" pitchFamily="18" charset="0"/>
                <a:ea typeface="+mn-ea"/>
                <a:cs typeface="Times New Roman" panose="02020603050405020304" pitchFamily="18" charset="0"/>
              </a:rPr>
              <a:t>        5/2.0 =</a:t>
            </a:r>
            <a:endParaRPr lang="en-US" altLang="zh-CN" b="1" dirty="0">
              <a:solidFill>
                <a:srgbClr val="FF5555"/>
              </a:solidFill>
              <a:latin typeface="Times New Roman" panose="02020603050405020304" pitchFamily="18" charset="0"/>
              <a:ea typeface="+mn-ea"/>
              <a:cs typeface="Times New Roman" panose="02020603050405020304" pitchFamily="18" charset="0"/>
            </a:endParaRPr>
          </a:p>
        </p:txBody>
      </p:sp>
      <p:sp>
        <p:nvSpPr>
          <p:cNvPr id="546823" name="Rectangle 7"/>
          <p:cNvSpPr>
            <a:spLocks noChangeArrowheads="1"/>
          </p:cNvSpPr>
          <p:nvPr/>
        </p:nvSpPr>
        <p:spPr bwMode="auto">
          <a:xfrm>
            <a:off x="5084135" y="2631204"/>
            <a:ext cx="3898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3200" b="1" dirty="0">
                <a:solidFill>
                  <a:srgbClr val="C00000"/>
                </a:solidFill>
                <a:latin typeface="Times New Roman" panose="02020603050405020304" pitchFamily="18" charset="0"/>
                <a:cs typeface="Times New Roman" panose="02020603050405020304" pitchFamily="18" charset="0"/>
              </a:rPr>
              <a:t>2</a:t>
            </a:r>
          </a:p>
        </p:txBody>
      </p:sp>
      <p:sp>
        <p:nvSpPr>
          <p:cNvPr id="546824" name="Rectangle 8"/>
          <p:cNvSpPr>
            <a:spLocks noChangeArrowheads="1"/>
          </p:cNvSpPr>
          <p:nvPr/>
        </p:nvSpPr>
        <p:spPr bwMode="auto">
          <a:xfrm>
            <a:off x="5007935" y="3240804"/>
            <a:ext cx="6976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3200" b="1">
                <a:solidFill>
                  <a:srgbClr val="C00000"/>
                </a:solidFill>
                <a:latin typeface="Times New Roman" panose="02020603050405020304" pitchFamily="18" charset="0"/>
                <a:cs typeface="Times New Roman" panose="02020603050405020304" pitchFamily="18" charset="0"/>
              </a:rPr>
              <a:t>2.5</a:t>
            </a:r>
          </a:p>
        </p:txBody>
      </p:sp>
      <p:pic>
        <p:nvPicPr>
          <p:cNvPr id="10" name="图片 9">
            <a:extLst>
              <a:ext uri="{FF2B5EF4-FFF2-40B4-BE49-F238E27FC236}">
                <a16:creationId xmlns:a16="http://schemas.microsoft.com/office/drawing/2014/main" id="{8BF9F05A-FDC2-4562-B4B5-4CA928E82F03}"/>
              </a:ext>
            </a:extLst>
          </p:cNvPr>
          <p:cNvPicPr>
            <a:picLocks noChangeAspect="1"/>
          </p:cNvPicPr>
          <p:nvPr/>
        </p:nvPicPr>
        <p:blipFill>
          <a:blip r:embed="rId3"/>
          <a:stretch>
            <a:fillRect/>
          </a:stretch>
        </p:blipFill>
        <p:spPr>
          <a:xfrm>
            <a:off x="3408815" y="-10632"/>
            <a:ext cx="5161728" cy="1277676"/>
          </a:xfrm>
          <a:prstGeom prst="rect">
            <a:avLst/>
          </a:prstGeom>
        </p:spPr>
      </p:pic>
      <p:sp>
        <p:nvSpPr>
          <p:cNvPr id="11" name="Rectangle 2">
            <a:extLst>
              <a:ext uri="{FF2B5EF4-FFF2-40B4-BE49-F238E27FC236}">
                <a16:creationId xmlns:a16="http://schemas.microsoft.com/office/drawing/2014/main" id="{17991452-0C58-445A-8F54-0C5288BE24C4}"/>
              </a:ext>
            </a:extLst>
          </p:cNvPr>
          <p:cNvSpPr>
            <a:spLocks noChangeArrowheads="1"/>
          </p:cNvSpPr>
          <p:nvPr/>
        </p:nvSpPr>
        <p:spPr bwMode="auto">
          <a:xfrm>
            <a:off x="3339996" y="138754"/>
            <a:ext cx="5161728"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变量类型</a:t>
            </a:r>
          </a:p>
        </p:txBody>
      </p:sp>
      <p:grpSp>
        <p:nvGrpSpPr>
          <p:cNvPr id="14" name="组合 13">
            <a:extLst>
              <a:ext uri="{FF2B5EF4-FFF2-40B4-BE49-F238E27FC236}">
                <a16:creationId xmlns:a16="http://schemas.microsoft.com/office/drawing/2014/main" id="{F00FC94A-E5BF-4A14-8AF8-249DB3025E4C}"/>
              </a:ext>
            </a:extLst>
          </p:cNvPr>
          <p:cNvGrpSpPr/>
          <p:nvPr/>
        </p:nvGrpSpPr>
        <p:grpSpPr>
          <a:xfrm>
            <a:off x="0" y="4231900"/>
            <a:ext cx="12192000" cy="559246"/>
            <a:chOff x="0" y="316614"/>
            <a:chExt cx="12192000" cy="457448"/>
          </a:xfrm>
        </p:grpSpPr>
        <p:sp>
          <p:nvSpPr>
            <p:cNvPr id="15" name="矩形 14">
              <a:extLst>
                <a:ext uri="{FF2B5EF4-FFF2-40B4-BE49-F238E27FC236}">
                  <a16:creationId xmlns:a16="http://schemas.microsoft.com/office/drawing/2014/main" id="{15EA22CD-50E0-4978-82BF-E086955A6E4F}"/>
                </a:ext>
              </a:extLst>
            </p:cNvPr>
            <p:cNvSpPr/>
            <p:nvPr/>
          </p:nvSpPr>
          <p:spPr>
            <a:xfrm>
              <a:off x="0" y="316614"/>
              <a:ext cx="43561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AA616A8D-310D-4818-9E67-A66B8EFA7D15}"/>
                </a:ext>
              </a:extLst>
            </p:cNvPr>
            <p:cNvSpPr/>
            <p:nvPr/>
          </p:nvSpPr>
          <p:spPr>
            <a:xfrm>
              <a:off x="0" y="594062"/>
              <a:ext cx="43561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D561995-D9D3-4995-8541-A3F795BA7A1C}"/>
                </a:ext>
              </a:extLst>
            </p:cNvPr>
            <p:cNvSpPr/>
            <p:nvPr/>
          </p:nvSpPr>
          <p:spPr>
            <a:xfrm>
              <a:off x="7835900" y="316614"/>
              <a:ext cx="435610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1891CF10-A0BB-40F0-B16E-15D73C767121}"/>
                </a:ext>
              </a:extLst>
            </p:cNvPr>
            <p:cNvSpPr/>
            <p:nvPr/>
          </p:nvSpPr>
          <p:spPr>
            <a:xfrm>
              <a:off x="7835900" y="594062"/>
              <a:ext cx="4356100" cy="1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2" name="图片 11">
            <a:extLst>
              <a:ext uri="{FF2B5EF4-FFF2-40B4-BE49-F238E27FC236}">
                <a16:creationId xmlns:a16="http://schemas.microsoft.com/office/drawing/2014/main" id="{1F9C8399-EC22-4611-818B-7EB03FF5F7CE}"/>
              </a:ext>
            </a:extLst>
          </p:cNvPr>
          <p:cNvPicPr>
            <a:picLocks noChangeAspect="1"/>
          </p:cNvPicPr>
          <p:nvPr/>
        </p:nvPicPr>
        <p:blipFill>
          <a:blip r:embed="rId3"/>
          <a:stretch>
            <a:fillRect/>
          </a:stretch>
        </p:blipFill>
        <p:spPr>
          <a:xfrm>
            <a:off x="3412354" y="3937601"/>
            <a:ext cx="5161728" cy="1277676"/>
          </a:xfrm>
          <a:prstGeom prst="rect">
            <a:avLst/>
          </a:prstGeom>
        </p:spPr>
      </p:pic>
      <p:sp>
        <p:nvSpPr>
          <p:cNvPr id="13" name="Rectangle 2">
            <a:extLst>
              <a:ext uri="{FF2B5EF4-FFF2-40B4-BE49-F238E27FC236}">
                <a16:creationId xmlns:a16="http://schemas.microsoft.com/office/drawing/2014/main" id="{8E75578C-FE2D-401B-B835-D3FC762E0CA2}"/>
              </a:ext>
            </a:extLst>
          </p:cNvPr>
          <p:cNvSpPr>
            <a:spLocks noChangeArrowheads="1"/>
          </p:cNvSpPr>
          <p:nvPr/>
        </p:nvSpPr>
        <p:spPr bwMode="auto">
          <a:xfrm>
            <a:off x="3343535" y="4086987"/>
            <a:ext cx="5161728"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作 用 区 域</a:t>
            </a:r>
          </a:p>
        </p:txBody>
      </p:sp>
      <p:sp>
        <p:nvSpPr>
          <p:cNvPr id="20" name="Rectangle 6">
            <a:extLst>
              <a:ext uri="{FF2B5EF4-FFF2-40B4-BE49-F238E27FC236}">
                <a16:creationId xmlns:a16="http://schemas.microsoft.com/office/drawing/2014/main" id="{5DEA7445-69D8-47CA-B0E9-C58375162A1A}"/>
              </a:ext>
            </a:extLst>
          </p:cNvPr>
          <p:cNvSpPr>
            <a:spLocks noChangeArrowheads="1"/>
          </p:cNvSpPr>
          <p:nvPr/>
        </p:nvSpPr>
        <p:spPr bwMode="auto">
          <a:xfrm>
            <a:off x="2007417" y="5120554"/>
            <a:ext cx="57610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latin typeface="Times New Roman" pitchFamily="18" charset="0"/>
              </a:rPr>
              <a:t>确定变量能被有效使用的范围</a:t>
            </a:r>
          </a:p>
        </p:txBody>
      </p:sp>
      <p:sp>
        <p:nvSpPr>
          <p:cNvPr id="21" name="Rectangle 7">
            <a:extLst>
              <a:ext uri="{FF2B5EF4-FFF2-40B4-BE49-F238E27FC236}">
                <a16:creationId xmlns:a16="http://schemas.microsoft.com/office/drawing/2014/main" id="{141BD183-7426-442C-927A-019E96796F55}"/>
              </a:ext>
            </a:extLst>
          </p:cNvPr>
          <p:cNvSpPr>
            <a:spLocks noChangeArrowheads="1"/>
          </p:cNvSpPr>
          <p:nvPr/>
        </p:nvSpPr>
        <p:spPr bwMode="auto">
          <a:xfrm>
            <a:off x="2007417" y="5907802"/>
            <a:ext cx="48736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indent="-914400">
              <a:spcBef>
                <a:spcPct val="50000"/>
              </a:spcBef>
              <a:buClr>
                <a:schemeClr val="hlink"/>
              </a:buClr>
              <a:buFont typeface="Wingdings" pitchFamily="2" charset="2"/>
              <a:buNone/>
            </a:pPr>
            <a:r>
              <a:rPr lang="zh-CN" altLang="en-US" sz="3200" b="1" dirty="0">
                <a:solidFill>
                  <a:srgbClr val="C00000"/>
                </a:solidFill>
              </a:rPr>
              <a:t>全局</a:t>
            </a:r>
            <a:r>
              <a:rPr lang="zh-CN" altLang="en-US" sz="3200" b="1" dirty="0"/>
              <a:t>变量、</a:t>
            </a:r>
            <a:r>
              <a:rPr lang="zh-CN" altLang="en-US" sz="3200" b="1" dirty="0">
                <a:solidFill>
                  <a:srgbClr val="C00000"/>
                </a:solidFill>
              </a:rPr>
              <a:t>局部</a:t>
            </a:r>
            <a:r>
              <a:rPr lang="zh-CN" altLang="en-US" sz="3200" b="1" dirty="0"/>
              <a:t>变量</a:t>
            </a:r>
            <a:endParaRPr lang="zh-CN" altLang="zh-CN" sz="3200" b="1" dirty="0"/>
          </a:p>
        </p:txBody>
      </p:sp>
    </p:spTree>
    <p:extLst>
      <p:ext uri="{BB962C8B-B14F-4D97-AF65-F5344CB8AC3E}">
        <p14:creationId xmlns:p14="http://schemas.microsoft.com/office/powerpoint/2010/main" val="12055457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6820"/>
                                        </p:tgtEl>
                                        <p:attrNameLst>
                                          <p:attrName>style.visibility</p:attrName>
                                        </p:attrNameLst>
                                      </p:cBhvr>
                                      <p:to>
                                        <p:strVal val="visible"/>
                                      </p:to>
                                    </p:set>
                                    <p:animEffect transition="in" filter="wipe(left)">
                                      <p:cBhvr>
                                        <p:cTn id="7" dur="500"/>
                                        <p:tgtEl>
                                          <p:spTgt spid="546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6821"/>
                                        </p:tgtEl>
                                        <p:attrNameLst>
                                          <p:attrName>style.visibility</p:attrName>
                                        </p:attrNameLst>
                                      </p:cBhvr>
                                      <p:to>
                                        <p:strVal val="visible"/>
                                      </p:to>
                                    </p:set>
                                    <p:animEffect transition="in" filter="wipe(left)">
                                      <p:cBhvr>
                                        <p:cTn id="12" dur="500"/>
                                        <p:tgtEl>
                                          <p:spTgt spid="546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6822"/>
                                        </p:tgtEl>
                                        <p:attrNameLst>
                                          <p:attrName>style.visibility</p:attrName>
                                        </p:attrNameLst>
                                      </p:cBhvr>
                                      <p:to>
                                        <p:strVal val="visible"/>
                                      </p:to>
                                    </p:set>
                                    <p:animEffect transition="in" filter="dissolve">
                                      <p:cBhvr>
                                        <p:cTn id="17" dur="500"/>
                                        <p:tgtEl>
                                          <p:spTgt spid="546822"/>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46823"/>
                                        </p:tgtEl>
                                        <p:attrNameLst>
                                          <p:attrName>style.visibility</p:attrName>
                                        </p:attrNameLst>
                                      </p:cBhvr>
                                      <p:to>
                                        <p:strVal val="visible"/>
                                      </p:to>
                                    </p:set>
                                    <p:animEffect transition="in" filter="dissolve">
                                      <p:cBhvr>
                                        <p:cTn id="22" dur="500"/>
                                        <p:tgtEl>
                                          <p:spTgt spid="5468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46824"/>
                                        </p:tgtEl>
                                        <p:attrNameLst>
                                          <p:attrName>style.visibility</p:attrName>
                                        </p:attrNameLst>
                                      </p:cBhvr>
                                      <p:to>
                                        <p:strVal val="visible"/>
                                      </p:to>
                                    </p:set>
                                    <p:animEffect transition="in" filter="dissolve">
                                      <p:cBhvr>
                                        <p:cTn id="27" dur="500"/>
                                        <p:tgtEl>
                                          <p:spTgt spid="5468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wipe(left)">
                                      <p:cBhvr>
                                        <p:cTn id="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20" grpId="0" autoUpdateAnimBg="0"/>
      <p:bldP spid="546821" grpId="0" autoUpdateAnimBg="0"/>
      <p:bldP spid="546822" grpId="0" animBg="1" autoUpdateAnimBg="0"/>
      <p:bldP spid="546823" grpId="0" autoUpdateAnimBg="0"/>
      <p:bldP spid="546824" grpId="0" autoUpdateAnimBg="0"/>
      <p:bldP spid="13" grpId="0"/>
      <p:bldP spid="20" grpId="0" autoUpdateAnimBg="0"/>
      <p:bldP spid="21"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548871" name="Rectangle 7"/>
          <p:cNvSpPr>
            <a:spLocks noChangeArrowheads="1"/>
          </p:cNvSpPr>
          <p:nvPr/>
        </p:nvSpPr>
        <p:spPr bwMode="auto">
          <a:xfrm>
            <a:off x="1506279" y="1373372"/>
            <a:ext cx="496728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latin typeface="Times New Roman" pitchFamily="18" charset="0"/>
              </a:rPr>
              <a:t>确定变量能够生存的时间</a:t>
            </a:r>
          </a:p>
        </p:txBody>
      </p:sp>
      <p:sp>
        <p:nvSpPr>
          <p:cNvPr id="548872" name="Rectangle 8"/>
          <p:cNvSpPr>
            <a:spLocks noChangeArrowheads="1"/>
          </p:cNvSpPr>
          <p:nvPr/>
        </p:nvSpPr>
        <p:spPr bwMode="auto">
          <a:xfrm>
            <a:off x="1506279" y="2241949"/>
            <a:ext cx="66738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indent="-914400">
              <a:spcBef>
                <a:spcPct val="50000"/>
              </a:spcBef>
              <a:buClr>
                <a:schemeClr val="hlink"/>
              </a:buClr>
              <a:buFont typeface="Wingdings" pitchFamily="2" charset="2"/>
              <a:buNone/>
            </a:pPr>
            <a:r>
              <a:rPr lang="en-US" altLang="zh-CN" sz="3200" b="1" dirty="0">
                <a:solidFill>
                  <a:srgbClr val="C00000"/>
                </a:solidFill>
                <a:latin typeface="Times New Roman" pitchFamily="18" charset="0"/>
              </a:rPr>
              <a:t>auto</a:t>
            </a:r>
            <a:r>
              <a:rPr lang="zh-CN" altLang="en-US" sz="3200" b="1" dirty="0">
                <a:solidFill>
                  <a:srgbClr val="C00000"/>
                </a:solidFill>
                <a:latin typeface="Times New Roman" pitchFamily="18" charset="0"/>
              </a:rPr>
              <a:t>、</a:t>
            </a:r>
            <a:r>
              <a:rPr lang="en-US" altLang="zh-CN" sz="3200" b="1" dirty="0">
                <a:solidFill>
                  <a:srgbClr val="C00000"/>
                </a:solidFill>
                <a:latin typeface="Times New Roman" pitchFamily="18" charset="0"/>
              </a:rPr>
              <a:t>static</a:t>
            </a:r>
            <a:r>
              <a:rPr lang="zh-CN" altLang="en-US" sz="3200" b="1" dirty="0">
                <a:solidFill>
                  <a:srgbClr val="C00000"/>
                </a:solidFill>
                <a:latin typeface="Times New Roman" pitchFamily="18" charset="0"/>
              </a:rPr>
              <a:t>、</a:t>
            </a:r>
            <a:r>
              <a:rPr lang="en-US" altLang="zh-CN" sz="3200" b="1" dirty="0">
                <a:solidFill>
                  <a:srgbClr val="C00000"/>
                </a:solidFill>
                <a:latin typeface="Times New Roman" pitchFamily="18" charset="0"/>
              </a:rPr>
              <a:t>register</a:t>
            </a:r>
            <a:r>
              <a:rPr lang="zh-CN" altLang="en-US" sz="3200" b="1" dirty="0">
                <a:solidFill>
                  <a:srgbClr val="C00000"/>
                </a:solidFill>
                <a:latin typeface="Times New Roman" pitchFamily="18" charset="0"/>
              </a:rPr>
              <a:t>、</a:t>
            </a:r>
            <a:r>
              <a:rPr lang="en-US" altLang="zh-CN" sz="3200" b="1" dirty="0">
                <a:solidFill>
                  <a:srgbClr val="C00000"/>
                </a:solidFill>
                <a:latin typeface="Times New Roman" pitchFamily="18" charset="0"/>
              </a:rPr>
              <a:t>extern</a:t>
            </a:r>
          </a:p>
        </p:txBody>
      </p:sp>
      <p:pic>
        <p:nvPicPr>
          <p:cNvPr id="12" name="图片 11">
            <a:extLst>
              <a:ext uri="{FF2B5EF4-FFF2-40B4-BE49-F238E27FC236}">
                <a16:creationId xmlns:a16="http://schemas.microsoft.com/office/drawing/2014/main" id="{B290C2F0-3264-4293-8387-CD07C31771D3}"/>
              </a:ext>
            </a:extLst>
          </p:cNvPr>
          <p:cNvPicPr>
            <a:picLocks noChangeAspect="1"/>
          </p:cNvPicPr>
          <p:nvPr/>
        </p:nvPicPr>
        <p:blipFill>
          <a:blip r:embed="rId2"/>
          <a:stretch>
            <a:fillRect/>
          </a:stretch>
        </p:blipFill>
        <p:spPr>
          <a:xfrm>
            <a:off x="3408815" y="-10632"/>
            <a:ext cx="5161728" cy="1277676"/>
          </a:xfrm>
          <a:prstGeom prst="rect">
            <a:avLst/>
          </a:prstGeom>
        </p:spPr>
      </p:pic>
      <p:sp>
        <p:nvSpPr>
          <p:cNvPr id="13" name="Rectangle 2">
            <a:extLst>
              <a:ext uri="{FF2B5EF4-FFF2-40B4-BE49-F238E27FC236}">
                <a16:creationId xmlns:a16="http://schemas.microsoft.com/office/drawing/2014/main" id="{34050061-BD98-43CB-A6F6-527CC39D79E7}"/>
              </a:ext>
            </a:extLst>
          </p:cNvPr>
          <p:cNvSpPr>
            <a:spLocks noChangeArrowheads="1"/>
          </p:cNvSpPr>
          <p:nvPr/>
        </p:nvSpPr>
        <p:spPr bwMode="auto">
          <a:xfrm>
            <a:off x="3339996" y="138754"/>
            <a:ext cx="5161728"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存 储 类 别</a:t>
            </a:r>
          </a:p>
        </p:txBody>
      </p:sp>
    </p:spTree>
    <p:extLst>
      <p:ext uri="{BB962C8B-B14F-4D97-AF65-F5344CB8AC3E}">
        <p14:creationId xmlns:p14="http://schemas.microsoft.com/office/powerpoint/2010/main" val="2131695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8871"/>
                                        </p:tgtEl>
                                        <p:attrNameLst>
                                          <p:attrName>style.visibility</p:attrName>
                                        </p:attrNameLst>
                                      </p:cBhvr>
                                      <p:to>
                                        <p:strVal val="visible"/>
                                      </p:to>
                                    </p:set>
                                    <p:animEffect transition="in" filter="wipe(left)">
                                      <p:cBhvr>
                                        <p:cTn id="7" dur="500"/>
                                        <p:tgtEl>
                                          <p:spTgt spid="5488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8872"/>
                                        </p:tgtEl>
                                        <p:attrNameLst>
                                          <p:attrName>style.visibility</p:attrName>
                                        </p:attrNameLst>
                                      </p:cBhvr>
                                      <p:to>
                                        <p:strVal val="visible"/>
                                      </p:to>
                                    </p:set>
                                    <p:animEffect transition="in" filter="wipe(left)">
                                      <p:cBhvr>
                                        <p:cTn id="12" dur="500"/>
                                        <p:tgtEl>
                                          <p:spTgt spid="548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71" grpId="0" autoUpdateAnimBg="0"/>
      <p:bldP spid="548872"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AB69C6B-5717-4E3E-AB1A-6019C236A2EB}"/>
              </a:ext>
            </a:extLst>
          </p:cNvPr>
          <p:cNvPicPr>
            <a:picLocks noChangeAspect="1"/>
          </p:cNvPicPr>
          <p:nvPr/>
        </p:nvPicPr>
        <p:blipFill>
          <a:blip r:embed="rId2"/>
          <a:stretch>
            <a:fillRect/>
          </a:stretch>
        </p:blipFill>
        <p:spPr>
          <a:xfrm>
            <a:off x="3408815" y="-63794"/>
            <a:ext cx="5161728" cy="1277676"/>
          </a:xfrm>
          <a:prstGeom prst="rect">
            <a:avLst/>
          </a:prstGeom>
        </p:spPr>
      </p:pic>
      <p:sp>
        <p:nvSpPr>
          <p:cNvPr id="3" name="Rectangle 2">
            <a:extLst>
              <a:ext uri="{FF2B5EF4-FFF2-40B4-BE49-F238E27FC236}">
                <a16:creationId xmlns:a16="http://schemas.microsoft.com/office/drawing/2014/main" id="{D158A410-598D-44DE-BF31-8080219D0870}"/>
              </a:ext>
            </a:extLst>
          </p:cNvPr>
          <p:cNvSpPr>
            <a:spLocks noChangeArrowheads="1"/>
          </p:cNvSpPr>
          <p:nvPr/>
        </p:nvSpPr>
        <p:spPr bwMode="auto">
          <a:xfrm>
            <a:off x="3339996" y="138754"/>
            <a:ext cx="5161728"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全局变量和局部变量</a:t>
            </a:r>
          </a:p>
        </p:txBody>
      </p:sp>
      <p:sp>
        <p:nvSpPr>
          <p:cNvPr id="4" name="Rectangle 4">
            <a:extLst>
              <a:ext uri="{FF2B5EF4-FFF2-40B4-BE49-F238E27FC236}">
                <a16:creationId xmlns:a16="http://schemas.microsoft.com/office/drawing/2014/main" id="{7D927B2D-F00D-4752-AAAF-6466CB928236}"/>
              </a:ext>
            </a:extLst>
          </p:cNvPr>
          <p:cNvSpPr>
            <a:spLocks noChangeArrowheads="1"/>
          </p:cNvSpPr>
          <p:nvPr/>
        </p:nvSpPr>
        <p:spPr bwMode="auto">
          <a:xfrm>
            <a:off x="781316" y="3720842"/>
            <a:ext cx="10521100" cy="2308324"/>
          </a:xfrm>
          <a:prstGeom prst="rect">
            <a:avLst/>
          </a:prstGeom>
          <a:noFill/>
          <a:ln w="38100">
            <a:noFill/>
            <a:miter lim="800000"/>
          </a:ln>
          <a:effectLst/>
        </p:spPr>
        <p:txBody>
          <a:bodyPr wrap="square">
            <a:spAutoFit/>
          </a:bodyPr>
          <a:lstStyle/>
          <a:p>
            <a:pPr>
              <a:lnSpc>
                <a:spcPct val="150000"/>
              </a:lnSpc>
              <a:buFontTx/>
              <a:buNone/>
              <a:defRPr/>
            </a:pPr>
            <a:r>
              <a:rPr kumimoji="1"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上述三个问题必须从 “变量的作用域”的角度来解答。</a:t>
            </a:r>
            <a:r>
              <a:rPr kumimoji="1" lang="zh-CN" altLang="en-US" sz="3200" b="1" i="1" u="sng"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变量的作用域</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是指变量能被有效引用的范围。</a:t>
            </a:r>
            <a:r>
              <a:rPr kumimoji="1"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C</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语言从“</a:t>
            </a:r>
            <a:r>
              <a:rPr kumimoji="1" lang="zh-CN" altLang="en-US" sz="3200" b="1" i="1" u="sng"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局部变量</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”和“</a:t>
            </a:r>
            <a:r>
              <a:rPr kumimoji="1" lang="zh-CN" altLang="en-US" sz="3200" b="1" i="1" u="sng" dirty="0">
                <a:solidFill>
                  <a:srgbClr val="FF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全局变量</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”两个方面来做探讨。     </a:t>
            </a:r>
          </a:p>
        </p:txBody>
      </p:sp>
      <p:sp>
        <p:nvSpPr>
          <p:cNvPr id="5" name="Text Box 5">
            <a:extLst>
              <a:ext uri="{FF2B5EF4-FFF2-40B4-BE49-F238E27FC236}">
                <a16:creationId xmlns:a16="http://schemas.microsoft.com/office/drawing/2014/main" id="{39C85DC1-73B3-4CC5-9BDD-6609EB052118}"/>
              </a:ext>
            </a:extLst>
          </p:cNvPr>
          <p:cNvSpPr txBox="1">
            <a:spLocks noChangeArrowheads="1"/>
          </p:cNvSpPr>
          <p:nvPr/>
        </p:nvSpPr>
        <p:spPr bwMode="auto">
          <a:xfrm>
            <a:off x="684213" y="1844417"/>
            <a:ext cx="774065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25000"/>
              </a:lnSpc>
              <a:spcBef>
                <a:spcPct val="0"/>
              </a:spcBef>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、编写函数时如何命名变量；</a:t>
            </a:r>
          </a:p>
          <a:p>
            <a:pPr eaLnBrk="1" hangingPunct="1">
              <a:lnSpc>
                <a:spcPct val="125000"/>
              </a:lnSpc>
              <a:spcBef>
                <a:spcPct val="0"/>
              </a:spcBef>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、不同函数中定义的变量是否允许同名？</a:t>
            </a:r>
          </a:p>
          <a:p>
            <a:pPr eaLnBrk="1" hangingPunct="1">
              <a:lnSpc>
                <a:spcPct val="125000"/>
              </a:lnSpc>
              <a:spcBef>
                <a:spcPct val="0"/>
              </a:spcBef>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、不同的函数能否共享一组数据？</a:t>
            </a:r>
          </a:p>
        </p:txBody>
      </p:sp>
      <p:sp>
        <p:nvSpPr>
          <p:cNvPr id="6" name="Rectangle 6">
            <a:extLst>
              <a:ext uri="{FF2B5EF4-FFF2-40B4-BE49-F238E27FC236}">
                <a16:creationId xmlns:a16="http://schemas.microsoft.com/office/drawing/2014/main" id="{915C50C3-CCC7-4364-B6BB-4AB580C037B5}"/>
              </a:ext>
            </a:extLst>
          </p:cNvPr>
          <p:cNvSpPr>
            <a:spLocks noChangeArrowheads="1"/>
          </p:cNvSpPr>
          <p:nvPr/>
        </p:nvSpPr>
        <p:spPr bwMode="auto">
          <a:xfrm>
            <a:off x="684213" y="1153019"/>
            <a:ext cx="3311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zh-CN" altLang="en-US" dirty="0">
                <a:latin typeface="微软雅黑" panose="020B0503020204020204" pitchFamily="34" charset="-122"/>
                <a:ea typeface="微软雅黑" panose="020B0503020204020204" pitchFamily="34" charset="-122"/>
              </a:rPr>
              <a:t>回答如下问题：</a:t>
            </a:r>
            <a:r>
              <a:rPr lang="zh-CN" altLang="en-US" dirty="0">
                <a:solidFill>
                  <a:schemeClr val="tx1"/>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583017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blinds(horizontal)">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BEA968EC-6546-4BB0-9F50-FDEED90F45C4}"/>
              </a:ext>
            </a:extLst>
          </p:cNvPr>
          <p:cNvSpPr txBox="1">
            <a:spLocks noChangeArrowheads="1"/>
          </p:cNvSpPr>
          <p:nvPr/>
        </p:nvSpPr>
        <p:spPr bwMode="auto">
          <a:xfrm>
            <a:off x="848106" y="1361742"/>
            <a:ext cx="10401152" cy="3882986"/>
          </a:xfrm>
          <a:prstGeom prst="rect">
            <a:avLst/>
          </a:prstGeom>
          <a:noFill/>
          <a:ln w="9525">
            <a:noFill/>
            <a:miter lim="800000"/>
          </a:ln>
          <a:effectLst/>
        </p:spPr>
        <p:txBody>
          <a:bodyPr wrap="square">
            <a:spAutoFit/>
          </a:bodyPr>
          <a:lstStyle/>
          <a:p>
            <a:pPr>
              <a:lnSpc>
                <a:spcPct val="200000"/>
              </a:lnSpc>
              <a:spcBef>
                <a:spcPct val="0"/>
              </a:spcBef>
              <a:buFontTx/>
              <a:buNone/>
              <a:defRPr/>
            </a:pP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        在函数（包括</a:t>
            </a:r>
            <a:r>
              <a:rPr kumimoji="1"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main</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函数）内部或复合语句内部定义的一切变量（包括形式参数）都是局部变量</a:t>
            </a:r>
            <a:r>
              <a:rPr kumimoji="1" lang="en-US" altLang="zh-CN" sz="32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它们的作用域</a:t>
            </a:r>
            <a:r>
              <a:rPr kumimoji="1" lang="zh-CN" altLang="en-US" sz="3200" b="1" i="1" dirty="0">
                <a:solidFill>
                  <a:srgbClr val="0033CC"/>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仅限于自身所在的函数内部或复合语句内部</a:t>
            </a:r>
            <a:r>
              <a:rPr kumimoji="1"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，出界无效，在不同函数中定义的变量即便同名，仍代表不同的对象。</a:t>
            </a:r>
          </a:p>
        </p:txBody>
      </p:sp>
      <p:pic>
        <p:nvPicPr>
          <p:cNvPr id="3" name="图片 2">
            <a:extLst>
              <a:ext uri="{FF2B5EF4-FFF2-40B4-BE49-F238E27FC236}">
                <a16:creationId xmlns:a16="http://schemas.microsoft.com/office/drawing/2014/main" id="{ED38F8A7-EB49-47CB-A059-03D519F0AC3B}"/>
              </a:ext>
            </a:extLst>
          </p:cNvPr>
          <p:cNvPicPr>
            <a:picLocks noChangeAspect="1"/>
          </p:cNvPicPr>
          <p:nvPr/>
        </p:nvPicPr>
        <p:blipFill>
          <a:blip r:embed="rId2"/>
          <a:stretch>
            <a:fillRect/>
          </a:stretch>
        </p:blipFill>
        <p:spPr>
          <a:xfrm>
            <a:off x="3408815" y="-63794"/>
            <a:ext cx="5161728" cy="1277676"/>
          </a:xfrm>
          <a:prstGeom prst="rect">
            <a:avLst/>
          </a:prstGeom>
        </p:spPr>
      </p:pic>
      <p:sp>
        <p:nvSpPr>
          <p:cNvPr id="4" name="Rectangle 2">
            <a:extLst>
              <a:ext uri="{FF2B5EF4-FFF2-40B4-BE49-F238E27FC236}">
                <a16:creationId xmlns:a16="http://schemas.microsoft.com/office/drawing/2014/main" id="{CA874A91-8945-4FEC-AA3C-50A8287D1C2D}"/>
              </a:ext>
            </a:extLst>
          </p:cNvPr>
          <p:cNvSpPr>
            <a:spLocks noChangeArrowheads="1"/>
          </p:cNvSpPr>
          <p:nvPr/>
        </p:nvSpPr>
        <p:spPr bwMode="auto">
          <a:xfrm>
            <a:off x="3339996" y="138754"/>
            <a:ext cx="5161728"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局 部 变 量</a:t>
            </a:r>
          </a:p>
        </p:txBody>
      </p:sp>
    </p:spTree>
    <p:extLst>
      <p:ext uri="{BB962C8B-B14F-4D97-AF65-F5344CB8AC3E}">
        <p14:creationId xmlns:p14="http://schemas.microsoft.com/office/powerpoint/2010/main" val="240866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a:extLst>
              <a:ext uri="{FF2B5EF4-FFF2-40B4-BE49-F238E27FC236}">
                <a16:creationId xmlns:a16="http://schemas.microsoft.com/office/drawing/2014/main" id="{5CEAB2E2-6259-44DF-AAAC-F2757C0D0D3E}"/>
              </a:ext>
            </a:extLst>
          </p:cNvPr>
          <p:cNvSpPr>
            <a:spLocks noChangeArrowheads="1"/>
          </p:cNvSpPr>
          <p:nvPr/>
        </p:nvSpPr>
        <p:spPr bwMode="auto">
          <a:xfrm>
            <a:off x="5110957" y="1459395"/>
            <a:ext cx="3097212" cy="971550"/>
          </a:xfrm>
          <a:prstGeom prst="wedgeRectCallout">
            <a:avLst>
              <a:gd name="adj1" fmla="val -135093"/>
              <a:gd name="adj2" fmla="val 15205"/>
            </a:avLst>
          </a:prstGeom>
          <a:solidFill>
            <a:srgbClr val="FFFF99"/>
          </a:solidFill>
          <a:ln w="9525">
            <a:solidFill>
              <a:schemeClr val="tx1"/>
            </a:solidFill>
            <a:miter lim="800000"/>
            <a:headEnd/>
            <a:tailEnd/>
          </a:ln>
        </p:spPr>
        <p:txBody>
          <a:bodyPr anchor="ct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en-US" altLang="zh-CN" dirty="0"/>
              <a:t>change</a:t>
            </a:r>
            <a:r>
              <a:rPr lang="zh-CN" altLang="en-US" dirty="0"/>
              <a:t>函数中定义的局部变量</a:t>
            </a:r>
            <a:r>
              <a:rPr lang="en-US" altLang="zh-CN" dirty="0" err="1"/>
              <a:t>i</a:t>
            </a:r>
            <a:endParaRPr lang="en-US" altLang="zh-CN" dirty="0"/>
          </a:p>
        </p:txBody>
      </p:sp>
      <p:sp>
        <p:nvSpPr>
          <p:cNvPr id="3" name="AutoShape 9">
            <a:extLst>
              <a:ext uri="{FF2B5EF4-FFF2-40B4-BE49-F238E27FC236}">
                <a16:creationId xmlns:a16="http://schemas.microsoft.com/office/drawing/2014/main" id="{2E449BA7-4CAE-4D96-929B-602A915247E3}"/>
              </a:ext>
            </a:extLst>
          </p:cNvPr>
          <p:cNvSpPr>
            <a:spLocks noChangeArrowheads="1"/>
          </p:cNvSpPr>
          <p:nvPr/>
        </p:nvSpPr>
        <p:spPr bwMode="auto">
          <a:xfrm>
            <a:off x="5940425" y="5373688"/>
            <a:ext cx="2954338" cy="1008062"/>
          </a:xfrm>
          <a:prstGeom prst="wedgeRectCallout">
            <a:avLst>
              <a:gd name="adj1" fmla="val -166183"/>
              <a:gd name="adj2" fmla="val -232290"/>
            </a:avLst>
          </a:prstGeom>
          <a:solidFill>
            <a:srgbClr val="FFFF99"/>
          </a:solidFill>
          <a:ln w="9525">
            <a:solidFill>
              <a:schemeClr val="tx1"/>
            </a:solidFill>
            <a:miter lim="800000"/>
            <a:headEnd/>
            <a:tailEnd/>
          </a:ln>
        </p:spPr>
        <p:txBody>
          <a:bodyPr anchor="ct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spcBef>
                <a:spcPct val="0"/>
              </a:spcBef>
            </a:pPr>
            <a:r>
              <a:rPr lang="en-US" altLang="zh-CN"/>
              <a:t>main</a:t>
            </a:r>
            <a:r>
              <a:rPr lang="zh-CN" altLang="en-US"/>
              <a:t>函数中定</a:t>
            </a:r>
          </a:p>
          <a:p>
            <a:pPr eaLnBrk="1" hangingPunct="1">
              <a:spcBef>
                <a:spcPct val="0"/>
              </a:spcBef>
            </a:pPr>
            <a:r>
              <a:rPr lang="zh-CN" altLang="en-US"/>
              <a:t>义的局部变量</a:t>
            </a:r>
            <a:r>
              <a:rPr lang="en-US" altLang="zh-CN"/>
              <a:t>i</a:t>
            </a:r>
          </a:p>
        </p:txBody>
      </p:sp>
      <p:sp>
        <p:nvSpPr>
          <p:cNvPr id="4" name="Text Box 10">
            <a:extLst>
              <a:ext uri="{FF2B5EF4-FFF2-40B4-BE49-F238E27FC236}">
                <a16:creationId xmlns:a16="http://schemas.microsoft.com/office/drawing/2014/main" id="{C9B1D69D-2962-4E59-A4FF-79CC8B316CC6}"/>
              </a:ext>
            </a:extLst>
          </p:cNvPr>
          <p:cNvSpPr txBox="1">
            <a:spLocks noChangeArrowheads="1"/>
          </p:cNvSpPr>
          <p:nvPr/>
        </p:nvSpPr>
        <p:spPr bwMode="auto">
          <a:xfrm>
            <a:off x="803275" y="5944790"/>
            <a:ext cx="52927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r>
              <a:rPr lang="zh-CN" altLang="en-US" dirty="0">
                <a:cs typeface="Times New Roman" panose="02020603050405020304" pitchFamily="18" charset="0"/>
              </a:rPr>
              <a:t>输出结果为：</a:t>
            </a:r>
            <a:r>
              <a:rPr lang="en-US" altLang="zh-CN" dirty="0" err="1">
                <a:cs typeface="Times New Roman" panose="02020603050405020304" pitchFamily="18" charset="0"/>
              </a:rPr>
              <a:t>i</a:t>
            </a:r>
            <a:r>
              <a:rPr lang="zh-CN" altLang="en-US" dirty="0">
                <a:cs typeface="Times New Roman" panose="02020603050405020304" pitchFamily="18" charset="0"/>
              </a:rPr>
              <a:t>＝</a:t>
            </a:r>
            <a:r>
              <a:rPr lang="en-US" altLang="zh-CN" dirty="0">
                <a:cs typeface="Times New Roman" panose="02020603050405020304" pitchFamily="18" charset="0"/>
              </a:rPr>
              <a:t>0</a:t>
            </a:r>
          </a:p>
        </p:txBody>
      </p:sp>
      <p:sp>
        <p:nvSpPr>
          <p:cNvPr id="5" name="Text Box 12">
            <a:extLst>
              <a:ext uri="{FF2B5EF4-FFF2-40B4-BE49-F238E27FC236}">
                <a16:creationId xmlns:a16="http://schemas.microsoft.com/office/drawing/2014/main" id="{49B25032-272F-44AD-AA9E-53EADAED51D3}"/>
              </a:ext>
            </a:extLst>
          </p:cNvPr>
          <p:cNvSpPr txBox="1">
            <a:spLocks noChangeArrowheads="1"/>
          </p:cNvSpPr>
          <p:nvPr/>
        </p:nvSpPr>
        <p:spPr bwMode="auto">
          <a:xfrm>
            <a:off x="442401" y="913805"/>
            <a:ext cx="321520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dirty="0">
                <a:cs typeface="Times New Roman" panose="02020603050405020304" pitchFamily="18" charset="0"/>
              </a:rPr>
              <a:t>change(</a:t>
            </a:r>
            <a:r>
              <a:rPr lang="en-US" altLang="zh-CN" dirty="0" err="1">
                <a:cs typeface="Times New Roman" panose="02020603050405020304" pitchFamily="18" charset="0"/>
              </a:rPr>
              <a:t>int</a:t>
            </a:r>
            <a:r>
              <a:rPr lang="en-US" altLang="zh-CN" dirty="0">
                <a:cs typeface="Times New Roman" panose="02020603050405020304" pitchFamily="18" charset="0"/>
              </a:rPr>
              <a:t> </a:t>
            </a:r>
            <a:r>
              <a:rPr lang="en-US" altLang="zh-CN" dirty="0" err="1">
                <a:cs typeface="Times New Roman" panose="02020603050405020304" pitchFamily="18" charset="0"/>
              </a:rPr>
              <a:t>i</a:t>
            </a:r>
            <a:r>
              <a:rPr lang="en-US" altLang="zh-CN" dirty="0">
                <a:cs typeface="Times New Roman" panose="02020603050405020304" pitchFamily="18" charset="0"/>
              </a:rPr>
              <a:t>)</a:t>
            </a:r>
          </a:p>
          <a:p>
            <a:pPr eaLnBrk="1" hangingPunct="1">
              <a:lnSpc>
                <a:spcPct val="150000"/>
              </a:lnSpc>
              <a:spcBef>
                <a:spcPct val="0"/>
              </a:spcBef>
            </a:pPr>
            <a:r>
              <a:rPr lang="en-US" altLang="zh-CN" dirty="0">
                <a:cs typeface="Times New Roman" panose="02020603050405020304" pitchFamily="18" charset="0"/>
              </a:rPr>
              <a:t>    {   </a:t>
            </a:r>
            <a:r>
              <a:rPr lang="en-US" altLang="zh-CN" dirty="0" err="1">
                <a:cs typeface="Times New Roman" panose="02020603050405020304" pitchFamily="18" charset="0"/>
              </a:rPr>
              <a:t>i</a:t>
            </a:r>
            <a:r>
              <a:rPr lang="en-US" altLang="zh-CN" dirty="0">
                <a:cs typeface="Times New Roman" panose="02020603050405020304" pitchFamily="18" charset="0"/>
              </a:rPr>
              <a:t>=1;  } </a:t>
            </a:r>
          </a:p>
        </p:txBody>
      </p:sp>
      <p:sp>
        <p:nvSpPr>
          <p:cNvPr id="6" name="Rectangle 13">
            <a:extLst>
              <a:ext uri="{FF2B5EF4-FFF2-40B4-BE49-F238E27FC236}">
                <a16:creationId xmlns:a16="http://schemas.microsoft.com/office/drawing/2014/main" id="{F231A76D-FD73-4E76-9FB8-CCFDEA987B2A}"/>
              </a:ext>
            </a:extLst>
          </p:cNvPr>
          <p:cNvSpPr>
            <a:spLocks noChangeArrowheads="1"/>
          </p:cNvSpPr>
          <p:nvPr/>
        </p:nvSpPr>
        <p:spPr bwMode="auto">
          <a:xfrm>
            <a:off x="468946" y="2126219"/>
            <a:ext cx="4533874"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lnSpc>
                <a:spcPct val="150000"/>
              </a:lnSpc>
              <a:spcBef>
                <a:spcPct val="0"/>
              </a:spcBef>
            </a:pPr>
            <a:r>
              <a:rPr lang="en-US" altLang="zh-CN" dirty="0">
                <a:cs typeface="Times New Roman" panose="02020603050405020304" pitchFamily="18" charset="0"/>
              </a:rPr>
              <a:t>main(  )</a:t>
            </a:r>
          </a:p>
          <a:p>
            <a:pPr eaLnBrk="1" hangingPunct="1">
              <a:lnSpc>
                <a:spcPct val="150000"/>
              </a:lnSpc>
              <a:spcBef>
                <a:spcPct val="0"/>
              </a:spcBef>
            </a:pPr>
            <a:r>
              <a:rPr lang="en-US" altLang="zh-CN" dirty="0">
                <a:cs typeface="Times New Roman" panose="02020603050405020304" pitchFamily="18" charset="0"/>
              </a:rPr>
              <a:t>  {  </a:t>
            </a:r>
            <a:r>
              <a:rPr lang="en-US" altLang="zh-CN" dirty="0" err="1">
                <a:cs typeface="Times New Roman" panose="02020603050405020304" pitchFamily="18" charset="0"/>
              </a:rPr>
              <a:t>int</a:t>
            </a:r>
            <a:r>
              <a:rPr lang="en-US" altLang="zh-CN" dirty="0">
                <a:cs typeface="Times New Roman" panose="02020603050405020304" pitchFamily="18" charset="0"/>
              </a:rPr>
              <a:t> </a:t>
            </a:r>
            <a:r>
              <a:rPr lang="en-US" altLang="zh-CN" dirty="0" err="1">
                <a:cs typeface="Times New Roman" panose="02020603050405020304" pitchFamily="18" charset="0"/>
              </a:rPr>
              <a:t>i</a:t>
            </a:r>
            <a:r>
              <a:rPr lang="en-US" altLang="zh-CN" dirty="0">
                <a:cs typeface="Times New Roman" panose="02020603050405020304" pitchFamily="18" charset="0"/>
              </a:rPr>
              <a:t>=0;</a:t>
            </a:r>
          </a:p>
          <a:p>
            <a:pPr eaLnBrk="1" hangingPunct="1">
              <a:lnSpc>
                <a:spcPct val="150000"/>
              </a:lnSpc>
              <a:spcBef>
                <a:spcPct val="0"/>
              </a:spcBef>
            </a:pPr>
            <a:r>
              <a:rPr lang="en-US" altLang="zh-CN" dirty="0">
                <a:cs typeface="Times New Roman" panose="02020603050405020304" pitchFamily="18" charset="0"/>
              </a:rPr>
              <a:t>     change(</a:t>
            </a:r>
            <a:r>
              <a:rPr lang="en-US" altLang="zh-CN" dirty="0" err="1">
                <a:cs typeface="Times New Roman" panose="02020603050405020304" pitchFamily="18" charset="0"/>
              </a:rPr>
              <a:t>i</a:t>
            </a:r>
            <a:r>
              <a:rPr lang="en-US" altLang="zh-CN" dirty="0">
                <a:cs typeface="Times New Roman" panose="02020603050405020304" pitchFamily="18" charset="0"/>
              </a:rPr>
              <a:t>);</a:t>
            </a:r>
          </a:p>
          <a:p>
            <a:pPr eaLnBrk="1" hangingPunct="1">
              <a:lnSpc>
                <a:spcPct val="150000"/>
              </a:lnSpc>
              <a:spcBef>
                <a:spcPct val="0"/>
              </a:spcBef>
            </a:pPr>
            <a:r>
              <a:rPr lang="en-US" altLang="zh-CN" dirty="0">
                <a:cs typeface="Times New Roman" panose="02020603050405020304" pitchFamily="18" charset="0"/>
              </a:rPr>
              <a:t>     </a:t>
            </a:r>
            <a:r>
              <a:rPr lang="en-US" altLang="zh-CN" dirty="0" err="1">
                <a:cs typeface="Times New Roman" panose="02020603050405020304" pitchFamily="18" charset="0"/>
              </a:rPr>
              <a:t>printf</a:t>
            </a:r>
            <a:r>
              <a:rPr lang="en-US" altLang="zh-CN" dirty="0">
                <a:cs typeface="Times New Roman" panose="02020603050405020304" pitchFamily="18" charset="0"/>
              </a:rPr>
              <a:t>(“</a:t>
            </a:r>
            <a:r>
              <a:rPr lang="en-US" altLang="zh-CN" dirty="0" err="1">
                <a:cs typeface="Times New Roman" panose="02020603050405020304" pitchFamily="18" charset="0"/>
              </a:rPr>
              <a:t>i</a:t>
            </a:r>
            <a:r>
              <a:rPr lang="en-US" altLang="zh-CN" dirty="0">
                <a:cs typeface="Times New Roman" panose="02020603050405020304" pitchFamily="18" charset="0"/>
              </a:rPr>
              <a:t>=%d\n”,</a:t>
            </a:r>
            <a:r>
              <a:rPr lang="en-US" altLang="zh-CN" dirty="0" err="1">
                <a:cs typeface="Times New Roman" panose="02020603050405020304" pitchFamily="18" charset="0"/>
              </a:rPr>
              <a:t>i</a:t>
            </a:r>
            <a:r>
              <a:rPr lang="en-US" altLang="zh-CN" dirty="0">
                <a:cs typeface="Times New Roman" panose="02020603050405020304" pitchFamily="18" charset="0"/>
              </a:rPr>
              <a:t>);</a:t>
            </a:r>
          </a:p>
          <a:p>
            <a:pPr eaLnBrk="1" hangingPunct="1">
              <a:lnSpc>
                <a:spcPct val="150000"/>
              </a:lnSpc>
              <a:spcBef>
                <a:spcPct val="0"/>
              </a:spcBef>
            </a:pPr>
            <a:r>
              <a:rPr lang="en-US" altLang="zh-CN" dirty="0">
                <a:cs typeface="Times New Roman" panose="02020603050405020304" pitchFamily="18" charset="0"/>
              </a:rPr>
              <a:t>   }</a:t>
            </a:r>
          </a:p>
        </p:txBody>
      </p:sp>
      <p:grpSp>
        <p:nvGrpSpPr>
          <p:cNvPr id="7" name="Group 26">
            <a:extLst>
              <a:ext uri="{FF2B5EF4-FFF2-40B4-BE49-F238E27FC236}">
                <a16:creationId xmlns:a16="http://schemas.microsoft.com/office/drawing/2014/main" id="{FDC6597C-EC0C-46B5-B986-09BE74A18FD4}"/>
              </a:ext>
            </a:extLst>
          </p:cNvPr>
          <p:cNvGrpSpPr>
            <a:grpSpLocks/>
          </p:cNvGrpSpPr>
          <p:nvPr/>
        </p:nvGrpSpPr>
        <p:grpSpPr bwMode="auto">
          <a:xfrm>
            <a:off x="4787900" y="2819882"/>
            <a:ext cx="3960813" cy="1731962"/>
            <a:chOff x="3651" y="1207"/>
            <a:chExt cx="1860" cy="1091"/>
          </a:xfrm>
        </p:grpSpPr>
        <p:sp>
          <p:nvSpPr>
            <p:cNvPr id="8" name="Rectangle 27">
              <a:extLst>
                <a:ext uri="{FF2B5EF4-FFF2-40B4-BE49-F238E27FC236}">
                  <a16:creationId xmlns:a16="http://schemas.microsoft.com/office/drawing/2014/main" id="{A06CA952-0546-4DB1-AFD6-D658ED62C7E6}"/>
                </a:ext>
              </a:extLst>
            </p:cNvPr>
            <p:cNvSpPr>
              <a:spLocks noChangeArrowheads="1"/>
            </p:cNvSpPr>
            <p:nvPr/>
          </p:nvSpPr>
          <p:spPr bwMode="auto">
            <a:xfrm>
              <a:off x="3651" y="1207"/>
              <a:ext cx="1860" cy="499"/>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endParaRPr lang="zh-CN" altLang="en-US"/>
            </a:p>
          </p:txBody>
        </p:sp>
        <p:sp>
          <p:nvSpPr>
            <p:cNvPr id="9" name="Text Box 28">
              <a:extLst>
                <a:ext uri="{FF2B5EF4-FFF2-40B4-BE49-F238E27FC236}">
                  <a16:creationId xmlns:a16="http://schemas.microsoft.com/office/drawing/2014/main" id="{C3AE571E-02A3-415A-94CA-852A97B02346}"/>
                </a:ext>
              </a:extLst>
            </p:cNvPr>
            <p:cNvSpPr txBox="1">
              <a:spLocks noChangeArrowheads="1"/>
            </p:cNvSpPr>
            <p:nvPr/>
          </p:nvSpPr>
          <p:spPr bwMode="auto">
            <a:xfrm>
              <a:off x="3697" y="1253"/>
              <a:ext cx="63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r>
                <a:rPr lang="en-US" altLang="zh-CN" sz="2800"/>
                <a:t>change</a:t>
              </a:r>
            </a:p>
          </p:txBody>
        </p:sp>
        <p:sp>
          <p:nvSpPr>
            <p:cNvPr id="10" name="Text Box 29">
              <a:extLst>
                <a:ext uri="{FF2B5EF4-FFF2-40B4-BE49-F238E27FC236}">
                  <a16:creationId xmlns:a16="http://schemas.microsoft.com/office/drawing/2014/main" id="{1679CAC7-2B16-4096-8EA5-BC4AAB8F96DB}"/>
                </a:ext>
              </a:extLst>
            </p:cNvPr>
            <p:cNvSpPr txBox="1">
              <a:spLocks noChangeArrowheads="1"/>
            </p:cNvSpPr>
            <p:nvPr/>
          </p:nvSpPr>
          <p:spPr bwMode="auto">
            <a:xfrm>
              <a:off x="4468" y="1253"/>
              <a:ext cx="49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algn="ctr" eaLnBrk="1" hangingPunct="1"/>
              <a:r>
                <a:rPr lang="en-US" altLang="zh-CN"/>
                <a:t>i=0</a:t>
              </a:r>
            </a:p>
          </p:txBody>
        </p:sp>
        <p:sp>
          <p:nvSpPr>
            <p:cNvPr id="11" name="Text Box 30">
              <a:extLst>
                <a:ext uri="{FF2B5EF4-FFF2-40B4-BE49-F238E27FC236}">
                  <a16:creationId xmlns:a16="http://schemas.microsoft.com/office/drawing/2014/main" id="{5AF5053B-0834-4023-B7AE-EBE849A5E331}"/>
                </a:ext>
              </a:extLst>
            </p:cNvPr>
            <p:cNvSpPr txBox="1">
              <a:spLocks noChangeArrowheads="1"/>
            </p:cNvSpPr>
            <p:nvPr/>
          </p:nvSpPr>
          <p:spPr bwMode="auto">
            <a:xfrm>
              <a:off x="4377" y="1933"/>
              <a:ext cx="6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algn="ctr" eaLnBrk="1" hangingPunct="1"/>
              <a:r>
                <a:rPr lang="en-US" altLang="zh-CN"/>
                <a:t>i=0</a:t>
              </a:r>
            </a:p>
          </p:txBody>
        </p:sp>
        <p:sp>
          <p:nvSpPr>
            <p:cNvPr id="12" name="Line 31">
              <a:extLst>
                <a:ext uri="{FF2B5EF4-FFF2-40B4-BE49-F238E27FC236}">
                  <a16:creationId xmlns:a16="http://schemas.microsoft.com/office/drawing/2014/main" id="{99C50343-E6CE-4A25-9461-399AA54A9067}"/>
                </a:ext>
              </a:extLst>
            </p:cNvPr>
            <p:cNvSpPr>
              <a:spLocks noChangeShapeType="1"/>
            </p:cNvSpPr>
            <p:nvPr/>
          </p:nvSpPr>
          <p:spPr bwMode="auto">
            <a:xfrm flipV="1">
              <a:off x="4694" y="1706"/>
              <a:ext cx="0" cy="273"/>
            </a:xfrm>
            <a:prstGeom prst="line">
              <a:avLst/>
            </a:prstGeom>
            <a:noFill/>
            <a:ln w="3810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 name="Text Box 32">
            <a:extLst>
              <a:ext uri="{FF2B5EF4-FFF2-40B4-BE49-F238E27FC236}">
                <a16:creationId xmlns:a16="http://schemas.microsoft.com/office/drawing/2014/main" id="{5B6063E1-BF58-488A-B514-93B06406224C}"/>
              </a:ext>
            </a:extLst>
          </p:cNvPr>
          <p:cNvSpPr txBox="1">
            <a:spLocks noChangeArrowheads="1"/>
          </p:cNvSpPr>
          <p:nvPr/>
        </p:nvSpPr>
        <p:spPr bwMode="auto">
          <a:xfrm>
            <a:off x="6443663" y="3597757"/>
            <a:ext cx="1079500" cy="4572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eaLnBrk="1" hangingPunct="1"/>
            <a:endParaRPr lang="zh-CN" altLang="zh-CN" sz="2400"/>
          </a:p>
        </p:txBody>
      </p:sp>
      <p:sp>
        <p:nvSpPr>
          <p:cNvPr id="14" name="Text Box 33">
            <a:extLst>
              <a:ext uri="{FF2B5EF4-FFF2-40B4-BE49-F238E27FC236}">
                <a16:creationId xmlns:a16="http://schemas.microsoft.com/office/drawing/2014/main" id="{66CD14C9-1A3D-48D6-B655-BB2C845FF463}"/>
              </a:ext>
            </a:extLst>
          </p:cNvPr>
          <p:cNvSpPr txBox="1">
            <a:spLocks noChangeArrowheads="1"/>
          </p:cNvSpPr>
          <p:nvPr/>
        </p:nvSpPr>
        <p:spPr bwMode="auto">
          <a:xfrm>
            <a:off x="6659563" y="2892907"/>
            <a:ext cx="792162" cy="579437"/>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200" b="1">
                <a:solidFill>
                  <a:srgbClr val="000000"/>
                </a:solidFill>
                <a:latin typeface="Times New Roman" panose="02020603050405020304" pitchFamily="18" charset="0"/>
                <a:ea typeface="楷体_GB2312" pitchFamily="49" charset="-122"/>
              </a:defRPr>
            </a:lvl1pPr>
            <a:lvl2pPr marL="742950" indent="-285750" eaLnBrk="0" hangingPunct="0">
              <a:defRPr sz="3200" b="1">
                <a:solidFill>
                  <a:srgbClr val="000000"/>
                </a:solidFill>
                <a:latin typeface="Times New Roman" panose="02020603050405020304" pitchFamily="18" charset="0"/>
                <a:ea typeface="楷体_GB2312" pitchFamily="49" charset="-122"/>
              </a:defRPr>
            </a:lvl2pPr>
            <a:lvl3pPr marL="1143000" indent="-228600" eaLnBrk="0" hangingPunct="0">
              <a:defRPr sz="3200" b="1">
                <a:solidFill>
                  <a:srgbClr val="000000"/>
                </a:solidFill>
                <a:latin typeface="Times New Roman" panose="02020603050405020304" pitchFamily="18" charset="0"/>
                <a:ea typeface="楷体_GB2312" pitchFamily="49" charset="-122"/>
              </a:defRPr>
            </a:lvl3pPr>
            <a:lvl4pPr marL="1600200" indent="-228600" eaLnBrk="0" hangingPunct="0">
              <a:defRPr sz="3200" b="1">
                <a:solidFill>
                  <a:srgbClr val="000000"/>
                </a:solidFill>
                <a:latin typeface="Times New Roman" panose="02020603050405020304" pitchFamily="18" charset="0"/>
                <a:ea typeface="楷体_GB2312" pitchFamily="49" charset="-122"/>
              </a:defRPr>
            </a:lvl4pPr>
            <a:lvl5pPr marL="2057400" indent="-228600" eaLnBrk="0" hangingPunct="0">
              <a:defRPr sz="3200" b="1">
                <a:solidFill>
                  <a:srgbClr val="0000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buFont typeface="Arial" panose="020B0604020202020204" pitchFamily="34" charset="0"/>
              <a:defRPr sz="3200" b="1">
                <a:solidFill>
                  <a:srgbClr val="000000"/>
                </a:solidFill>
                <a:latin typeface="Times New Roman" panose="02020603050405020304" pitchFamily="18" charset="0"/>
                <a:ea typeface="楷体_GB2312" pitchFamily="49" charset="-122"/>
              </a:defRPr>
            </a:lvl9pPr>
          </a:lstStyle>
          <a:p>
            <a:pPr algn="ctr" eaLnBrk="1" hangingPunct="1"/>
            <a:r>
              <a:rPr lang="en-US" altLang="zh-CN"/>
              <a:t>i=1</a:t>
            </a:r>
          </a:p>
        </p:txBody>
      </p:sp>
      <p:pic>
        <p:nvPicPr>
          <p:cNvPr id="15" name="图片 14">
            <a:extLst>
              <a:ext uri="{FF2B5EF4-FFF2-40B4-BE49-F238E27FC236}">
                <a16:creationId xmlns:a16="http://schemas.microsoft.com/office/drawing/2014/main" id="{7EF1359F-D5C6-428F-BA82-463E7A480791}"/>
              </a:ext>
            </a:extLst>
          </p:cNvPr>
          <p:cNvPicPr>
            <a:picLocks noChangeAspect="1"/>
          </p:cNvPicPr>
          <p:nvPr/>
        </p:nvPicPr>
        <p:blipFill>
          <a:blip r:embed="rId2"/>
          <a:stretch>
            <a:fillRect/>
          </a:stretch>
        </p:blipFill>
        <p:spPr>
          <a:xfrm>
            <a:off x="3408815" y="-63794"/>
            <a:ext cx="5161728" cy="1277676"/>
          </a:xfrm>
          <a:prstGeom prst="rect">
            <a:avLst/>
          </a:prstGeom>
        </p:spPr>
      </p:pic>
      <p:sp>
        <p:nvSpPr>
          <p:cNvPr id="16" name="Rectangle 2">
            <a:extLst>
              <a:ext uri="{FF2B5EF4-FFF2-40B4-BE49-F238E27FC236}">
                <a16:creationId xmlns:a16="http://schemas.microsoft.com/office/drawing/2014/main" id="{1E8B811C-2977-4F0D-B1C0-555038BBA253}"/>
              </a:ext>
            </a:extLst>
          </p:cNvPr>
          <p:cNvSpPr>
            <a:spLocks noChangeArrowheads="1"/>
          </p:cNvSpPr>
          <p:nvPr/>
        </p:nvSpPr>
        <p:spPr bwMode="auto">
          <a:xfrm>
            <a:off x="3339996" y="138754"/>
            <a:ext cx="5161728"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局 部 变 量</a:t>
            </a:r>
          </a:p>
        </p:txBody>
      </p:sp>
    </p:spTree>
    <p:extLst>
      <p:ext uri="{BB962C8B-B14F-4D97-AF65-F5344CB8AC3E}">
        <p14:creationId xmlns:p14="http://schemas.microsoft.com/office/powerpoint/2010/main" val="3767057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blinds(horizontal)">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linds(horizontal)">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linds(horizontal)">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build="p"/>
      <p:bldP spid="5" grpId="0"/>
      <p:bldP spid="6" grpId="0"/>
      <p:bldP spid="13" grpId="0" animBg="1"/>
      <p:bldP spid="1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endParaRPr lang="en-US" altLang="zh-CN" dirty="0"/>
          </a:p>
        </p:txBody>
      </p:sp>
      <p:sp>
        <p:nvSpPr>
          <p:cNvPr id="550915" name="Rectangle 3"/>
          <p:cNvSpPr>
            <a:spLocks noChangeArrowheads="1"/>
          </p:cNvSpPr>
          <p:nvPr/>
        </p:nvSpPr>
        <p:spPr bwMode="auto">
          <a:xfrm>
            <a:off x="3581400" y="2299866"/>
            <a:ext cx="4800600" cy="3433762"/>
          </a:xfrm>
          <a:prstGeom prst="rect">
            <a:avLst/>
          </a:prstGeom>
          <a:ln w="41275">
            <a:headEnd/>
            <a:tailEnd/>
          </a:ln>
        </p:spPr>
        <p:style>
          <a:lnRef idx="2">
            <a:schemeClr val="accent1"/>
          </a:lnRef>
          <a:fillRef idx="1">
            <a:schemeClr val="lt1"/>
          </a:fillRef>
          <a:effectRef idx="0">
            <a:schemeClr val="accent1"/>
          </a:effectRef>
          <a:fontRef idx="minor">
            <a:schemeClr val="dk1"/>
          </a:fontRef>
        </p:style>
        <p:txBody>
          <a:bodyPr wrap="none" anchor="ctr"/>
          <a:lstStyle/>
          <a:p>
            <a:pPr algn="l">
              <a:lnSpc>
                <a:spcPct val="75000"/>
              </a:lnSpc>
            </a:pPr>
            <a:endParaRPr lang="en-US" altLang="zh-CN" sz="3200" b="1" dirty="0">
              <a:latin typeface="Times New Roman" pitchFamily="18" charset="0"/>
              <a:ea typeface="宋体" charset="-122"/>
            </a:endParaRPr>
          </a:p>
          <a:p>
            <a:pPr algn="l">
              <a:lnSpc>
                <a:spcPct val="75000"/>
              </a:lnSpc>
            </a:pPr>
            <a:r>
              <a:rPr lang="en-US" altLang="zh-CN" sz="3200" b="1" dirty="0">
                <a:latin typeface="Times New Roman" pitchFamily="18" charset="0"/>
                <a:ea typeface="宋体" charset="-122"/>
              </a:rPr>
              <a:t>float  f1(</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  </a:t>
            </a:r>
          </a:p>
          <a:p>
            <a:pPr algn="l">
              <a:lnSpc>
                <a:spcPct val="75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b,c</a:t>
            </a:r>
            <a:r>
              <a:rPr lang="en-US" altLang="zh-CN" sz="3200" b="1" dirty="0">
                <a:latin typeface="Times New Roman" pitchFamily="18" charset="0"/>
                <a:ea typeface="宋体" charset="-122"/>
              </a:rPr>
              <a:t>;</a:t>
            </a:r>
          </a:p>
          <a:p>
            <a:pPr algn="l">
              <a:lnSpc>
                <a:spcPct val="75000"/>
              </a:lnSpc>
            </a:pPr>
            <a:r>
              <a:rPr lang="en-US" altLang="zh-CN" sz="3200" b="1" dirty="0">
                <a:latin typeface="Times New Roman" pitchFamily="18" charset="0"/>
                <a:ea typeface="宋体" charset="-122"/>
              </a:rPr>
              <a:t>    …….</a:t>
            </a:r>
          </a:p>
          <a:p>
            <a:pPr algn="l">
              <a:lnSpc>
                <a:spcPct val="75000"/>
              </a:lnSpc>
            </a:pPr>
            <a:r>
              <a:rPr lang="en-US" altLang="zh-CN" sz="3200" b="1" dirty="0">
                <a:latin typeface="Times New Roman" pitchFamily="18" charset="0"/>
                <a:ea typeface="宋体" charset="-122"/>
              </a:rPr>
              <a:t>}</a:t>
            </a:r>
          </a:p>
          <a:p>
            <a:pPr algn="l">
              <a:lnSpc>
                <a:spcPct val="75000"/>
              </a:lnSpc>
            </a:pPr>
            <a:endParaRPr lang="en-US" altLang="zh-CN" sz="3200" b="1" dirty="0">
              <a:latin typeface="Times New Roman" pitchFamily="18" charset="0"/>
              <a:ea typeface="宋体" charset="-122"/>
            </a:endParaRPr>
          </a:p>
          <a:p>
            <a:pPr algn="l">
              <a:lnSpc>
                <a:spcPct val="75000"/>
              </a:lnSpc>
            </a:pPr>
            <a:r>
              <a:rPr lang="en-US" altLang="zh-CN" sz="3200" b="1" dirty="0">
                <a:latin typeface="Times New Roman" pitchFamily="18" charset="0"/>
                <a:ea typeface="宋体" charset="-122"/>
              </a:rPr>
              <a:t>main( )</a:t>
            </a:r>
          </a:p>
          <a:p>
            <a:pPr algn="l">
              <a:lnSpc>
                <a:spcPct val="75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m,n</a:t>
            </a:r>
            <a:r>
              <a:rPr lang="en-US" altLang="zh-CN" sz="3200" b="1" dirty="0">
                <a:latin typeface="Times New Roman" pitchFamily="18" charset="0"/>
                <a:ea typeface="宋体" charset="-122"/>
              </a:rPr>
              <a:t>;</a:t>
            </a:r>
          </a:p>
          <a:p>
            <a:pPr algn="l">
              <a:lnSpc>
                <a:spcPct val="75000"/>
              </a:lnSpc>
            </a:pPr>
            <a:r>
              <a:rPr lang="en-US" altLang="zh-CN" sz="3200" b="1" dirty="0">
                <a:latin typeface="Times New Roman" pitchFamily="18" charset="0"/>
                <a:ea typeface="宋体" charset="-122"/>
              </a:rPr>
              <a:t>   …….</a:t>
            </a:r>
          </a:p>
          <a:p>
            <a:pPr algn="l">
              <a:lnSpc>
                <a:spcPct val="75000"/>
              </a:lnSpc>
            </a:pPr>
            <a:r>
              <a:rPr lang="en-US" altLang="zh-CN" sz="3200" b="1" dirty="0">
                <a:latin typeface="Times New Roman" pitchFamily="18" charset="0"/>
                <a:ea typeface="宋体" charset="-122"/>
              </a:rPr>
              <a:t>}</a:t>
            </a:r>
          </a:p>
          <a:p>
            <a:pPr algn="l">
              <a:lnSpc>
                <a:spcPct val="75000"/>
              </a:lnSpc>
            </a:pPr>
            <a:endParaRPr lang="en-US" altLang="zh-CN" b="1" dirty="0"/>
          </a:p>
        </p:txBody>
      </p:sp>
      <p:sp>
        <p:nvSpPr>
          <p:cNvPr id="550916" name="AutoShape 4"/>
          <p:cNvSpPr>
            <a:spLocks/>
          </p:cNvSpPr>
          <p:nvPr/>
        </p:nvSpPr>
        <p:spPr bwMode="auto">
          <a:xfrm>
            <a:off x="6324600" y="2698205"/>
            <a:ext cx="228600" cy="1038225"/>
          </a:xfrm>
          <a:prstGeom prst="rightBrace">
            <a:avLst>
              <a:gd name="adj1" fmla="val 37847"/>
              <a:gd name="adj2" fmla="val 50000"/>
            </a:avLst>
          </a:prstGeom>
          <a:noFill/>
          <a:ln w="38100">
            <a:solidFill>
              <a:srgbClr val="C00000"/>
            </a:solidFill>
            <a:round/>
            <a:headEnd/>
            <a:tailEnd/>
          </a:ln>
          <a:effectLst/>
        </p:spPr>
        <p:txBody>
          <a:bodyPr wrap="none" anchor="ctr"/>
          <a:lstStyle/>
          <a:p>
            <a:endParaRPr lang="zh-CN" altLang="zh-CN" sz="2000" b="1">
              <a:solidFill>
                <a:srgbClr val="C00000"/>
              </a:solidFill>
              <a:latin typeface="Times New Roman" pitchFamily="18" charset="0"/>
              <a:ea typeface="宋体" charset="-122"/>
            </a:endParaRPr>
          </a:p>
        </p:txBody>
      </p:sp>
      <p:sp>
        <p:nvSpPr>
          <p:cNvPr id="550917" name="Text Box 5"/>
          <p:cNvSpPr txBox="1">
            <a:spLocks noChangeArrowheads="1"/>
          </p:cNvSpPr>
          <p:nvPr/>
        </p:nvSpPr>
        <p:spPr bwMode="auto">
          <a:xfrm>
            <a:off x="6553201" y="2898229"/>
            <a:ext cx="17748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a:r>
              <a:rPr lang="en-US" altLang="zh-CN" b="1" dirty="0" err="1">
                <a:latin typeface="Times New Roman" panose="02020603050405020304" pitchFamily="18" charset="0"/>
                <a:ea typeface="+mn-ea"/>
                <a:cs typeface="Times New Roman" panose="02020603050405020304" pitchFamily="18" charset="0"/>
              </a:rPr>
              <a:t>a,b,c</a:t>
            </a:r>
            <a:r>
              <a:rPr lang="zh-CN" altLang="zh-CN" b="1" dirty="0">
                <a:latin typeface="Times New Roman" panose="02020603050405020304" pitchFamily="18" charset="0"/>
                <a:ea typeface="+mn-ea"/>
                <a:cs typeface="Times New Roman" panose="02020603050405020304" pitchFamily="18" charset="0"/>
              </a:rPr>
              <a:t>有效</a:t>
            </a:r>
            <a:endParaRPr lang="zh-CN" altLang="en-US" b="1" dirty="0">
              <a:latin typeface="Times New Roman" panose="02020603050405020304" pitchFamily="18" charset="0"/>
              <a:ea typeface="+mn-ea"/>
              <a:cs typeface="Times New Roman" panose="02020603050405020304" pitchFamily="18" charset="0"/>
            </a:endParaRPr>
          </a:p>
        </p:txBody>
      </p:sp>
      <p:sp>
        <p:nvSpPr>
          <p:cNvPr id="550918" name="AutoShape 6"/>
          <p:cNvSpPr>
            <a:spLocks/>
          </p:cNvSpPr>
          <p:nvPr/>
        </p:nvSpPr>
        <p:spPr bwMode="auto">
          <a:xfrm>
            <a:off x="6283326" y="4385717"/>
            <a:ext cx="269875" cy="1255713"/>
          </a:xfrm>
          <a:prstGeom prst="rightBrace">
            <a:avLst>
              <a:gd name="adj1" fmla="val 38775"/>
              <a:gd name="adj2" fmla="val 50065"/>
            </a:avLst>
          </a:prstGeom>
          <a:noFill/>
          <a:ln w="38100">
            <a:solidFill>
              <a:srgbClr val="C00000"/>
            </a:solidFill>
            <a:round/>
            <a:headEnd/>
            <a:tailEnd/>
          </a:ln>
          <a:effectLst/>
        </p:spPr>
        <p:txBody>
          <a:bodyPr wrap="none" anchor="ctr"/>
          <a:lstStyle/>
          <a:p>
            <a:endParaRPr lang="zh-CN" altLang="zh-CN" sz="2000" b="1">
              <a:solidFill>
                <a:srgbClr val="C00000"/>
              </a:solidFill>
              <a:latin typeface="Times New Roman" pitchFamily="18" charset="0"/>
              <a:ea typeface="宋体" charset="-122"/>
            </a:endParaRPr>
          </a:p>
        </p:txBody>
      </p:sp>
      <p:sp>
        <p:nvSpPr>
          <p:cNvPr id="550919" name="Text Box 7"/>
          <p:cNvSpPr txBox="1">
            <a:spLocks noChangeArrowheads="1"/>
          </p:cNvSpPr>
          <p:nvPr/>
        </p:nvSpPr>
        <p:spPr bwMode="auto">
          <a:xfrm>
            <a:off x="6500814" y="4703217"/>
            <a:ext cx="1539875"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a:r>
              <a:rPr lang="en-US" altLang="zh-CN" b="1">
                <a:latin typeface="Times New Roman" panose="02020603050405020304" pitchFamily="18" charset="0"/>
                <a:ea typeface="+mn-ea"/>
                <a:cs typeface="Times New Roman" panose="02020603050405020304" pitchFamily="18" charset="0"/>
              </a:rPr>
              <a:t>m,n</a:t>
            </a:r>
            <a:r>
              <a:rPr lang="zh-CN" altLang="zh-CN" b="1">
                <a:latin typeface="Times New Roman" panose="02020603050405020304" pitchFamily="18" charset="0"/>
                <a:ea typeface="+mn-ea"/>
                <a:cs typeface="Times New Roman" panose="02020603050405020304" pitchFamily="18" charset="0"/>
              </a:rPr>
              <a:t>有效</a:t>
            </a:r>
            <a:endParaRPr lang="zh-CN" altLang="en-US" b="1">
              <a:latin typeface="Times New Roman" panose="02020603050405020304" pitchFamily="18" charset="0"/>
              <a:ea typeface="+mn-ea"/>
              <a:cs typeface="Times New Roman" panose="02020603050405020304" pitchFamily="18" charset="0"/>
            </a:endParaRPr>
          </a:p>
        </p:txBody>
      </p:sp>
      <p:sp>
        <p:nvSpPr>
          <p:cNvPr id="550921" name="Rectangle 9"/>
          <p:cNvSpPr>
            <a:spLocks noChangeArrowheads="1"/>
          </p:cNvSpPr>
          <p:nvPr/>
        </p:nvSpPr>
        <p:spPr bwMode="auto">
          <a:xfrm>
            <a:off x="3073872" y="1625800"/>
            <a:ext cx="56864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solidFill>
                  <a:srgbClr val="C00000"/>
                </a:solidFill>
              </a:rPr>
              <a:t>定义：</a:t>
            </a:r>
            <a:r>
              <a:rPr lang="zh-CN" altLang="en-US" sz="3200" b="1" dirty="0"/>
              <a:t>在函数内部定义的变量</a:t>
            </a:r>
          </a:p>
        </p:txBody>
      </p:sp>
      <p:pic>
        <p:nvPicPr>
          <p:cNvPr id="12" name="图片 11">
            <a:extLst>
              <a:ext uri="{FF2B5EF4-FFF2-40B4-BE49-F238E27FC236}">
                <a16:creationId xmlns:a16="http://schemas.microsoft.com/office/drawing/2014/main" id="{2B3AB840-8C4D-4E2C-9B29-5CCBE9A062DB}"/>
              </a:ext>
            </a:extLst>
          </p:cNvPr>
          <p:cNvPicPr>
            <a:picLocks noChangeAspect="1"/>
          </p:cNvPicPr>
          <p:nvPr/>
        </p:nvPicPr>
        <p:blipFill>
          <a:blip r:embed="rId3"/>
          <a:stretch>
            <a:fillRect/>
          </a:stretch>
        </p:blipFill>
        <p:spPr>
          <a:xfrm>
            <a:off x="3408815" y="-63794"/>
            <a:ext cx="5161728" cy="1277676"/>
          </a:xfrm>
          <a:prstGeom prst="rect">
            <a:avLst/>
          </a:prstGeom>
        </p:spPr>
      </p:pic>
      <p:sp>
        <p:nvSpPr>
          <p:cNvPr id="13" name="Rectangle 2">
            <a:extLst>
              <a:ext uri="{FF2B5EF4-FFF2-40B4-BE49-F238E27FC236}">
                <a16:creationId xmlns:a16="http://schemas.microsoft.com/office/drawing/2014/main" id="{5584499A-C73A-45BD-B9D0-1B0A41862676}"/>
              </a:ext>
            </a:extLst>
          </p:cNvPr>
          <p:cNvSpPr>
            <a:spLocks noChangeArrowheads="1"/>
          </p:cNvSpPr>
          <p:nvPr/>
        </p:nvSpPr>
        <p:spPr bwMode="auto">
          <a:xfrm>
            <a:off x="3339996" y="138754"/>
            <a:ext cx="5161728" cy="771623"/>
          </a:xfrm>
          <a:prstGeom prst="rect">
            <a:avLst/>
          </a:prstGeom>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vert="horz" lIns="91440" tIns="45720" rIns="91440" bIns="45720" rtlCol="0" anchor="ctr">
            <a:noAutofit/>
          </a:bodyPr>
          <a:lstStyle/>
          <a:p>
            <a:pPr algn="ctr">
              <a:spcBef>
                <a:spcPct val="0"/>
              </a:spcBef>
            </a:pPr>
            <a:r>
              <a:rPr lang="zh-CN" altLang="en-US" sz="3200" b="1" dirty="0">
                <a:solidFill>
                  <a:srgbClr val="800000"/>
                </a:solidFill>
                <a:latin typeface="Times New Roman" panose="02020603050405020304" pitchFamily="18" charset="0"/>
                <a:ea typeface="微软雅黑" panose="020B0503020204020204" pitchFamily="34" charset="-122"/>
                <a:cs typeface="Times New Roman" panose="02020603050405020304" pitchFamily="18" charset="0"/>
              </a:rPr>
              <a:t>局 部 变 量 总 结</a:t>
            </a:r>
          </a:p>
        </p:txBody>
      </p:sp>
    </p:spTree>
    <p:extLst>
      <p:ext uri="{BB962C8B-B14F-4D97-AF65-F5344CB8AC3E}">
        <p14:creationId xmlns:p14="http://schemas.microsoft.com/office/powerpoint/2010/main" val="27070098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0921"/>
                                        </p:tgtEl>
                                        <p:attrNameLst>
                                          <p:attrName>style.visibility</p:attrName>
                                        </p:attrNameLst>
                                      </p:cBhvr>
                                      <p:to>
                                        <p:strVal val="visible"/>
                                      </p:to>
                                    </p:set>
                                    <p:animEffect transition="in" filter="wipe(left)">
                                      <p:cBhvr>
                                        <p:cTn id="7" dur="500"/>
                                        <p:tgtEl>
                                          <p:spTgt spid="5509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50915"/>
                                        </p:tgtEl>
                                        <p:attrNameLst>
                                          <p:attrName>style.visibility</p:attrName>
                                        </p:attrNameLst>
                                      </p:cBhvr>
                                      <p:to>
                                        <p:strVal val="visible"/>
                                      </p:to>
                                    </p:set>
                                    <p:animEffect transition="in" filter="dissolve">
                                      <p:cBhvr>
                                        <p:cTn id="12" dur="500"/>
                                        <p:tgtEl>
                                          <p:spTgt spid="5509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50916"/>
                                        </p:tgtEl>
                                        <p:attrNameLst>
                                          <p:attrName>style.visibility</p:attrName>
                                        </p:attrNameLst>
                                      </p:cBhvr>
                                      <p:to>
                                        <p:strVal val="visible"/>
                                      </p:to>
                                    </p:set>
                                    <p:animEffect transition="in" filter="box(in)">
                                      <p:cBhvr>
                                        <p:cTn id="17" dur="500"/>
                                        <p:tgtEl>
                                          <p:spTgt spid="5509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0917"/>
                                        </p:tgtEl>
                                        <p:attrNameLst>
                                          <p:attrName>style.visibility</p:attrName>
                                        </p:attrNameLst>
                                      </p:cBhvr>
                                      <p:to>
                                        <p:strVal val="visible"/>
                                      </p:to>
                                    </p:set>
                                    <p:animEffect transition="in" filter="wipe(left)">
                                      <p:cBhvr>
                                        <p:cTn id="22" dur="500"/>
                                        <p:tgtEl>
                                          <p:spTgt spid="5509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550918"/>
                                        </p:tgtEl>
                                        <p:attrNameLst>
                                          <p:attrName>style.visibility</p:attrName>
                                        </p:attrNameLst>
                                      </p:cBhvr>
                                      <p:to>
                                        <p:strVal val="visible"/>
                                      </p:to>
                                    </p:set>
                                    <p:animEffect transition="in" filter="box(in)">
                                      <p:cBhvr>
                                        <p:cTn id="27" dur="500"/>
                                        <p:tgtEl>
                                          <p:spTgt spid="5509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50919"/>
                                        </p:tgtEl>
                                        <p:attrNameLst>
                                          <p:attrName>style.visibility</p:attrName>
                                        </p:attrNameLst>
                                      </p:cBhvr>
                                      <p:to>
                                        <p:strVal val="visible"/>
                                      </p:to>
                                    </p:set>
                                    <p:animEffect transition="in" filter="wipe(left)">
                                      <p:cBhvr>
                                        <p:cTn id="32" dur="500"/>
                                        <p:tgtEl>
                                          <p:spTgt spid="550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5" grpId="0" animBg="1" autoUpdateAnimBg="0"/>
      <p:bldP spid="550916" grpId="0" animBg="1" autoUpdateAnimBg="0"/>
      <p:bldP spid="550917" grpId="0" autoUpdateAnimBg="0"/>
      <p:bldP spid="550918" grpId="0" animBg="1" autoUpdateAnimBg="0"/>
      <p:bldP spid="550919" grpId="0" autoUpdateAnimBg="0"/>
      <p:bldP spid="550921"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endParaRPr lang="en-US" altLang="zh-CN" dirty="0"/>
          </a:p>
        </p:txBody>
      </p:sp>
      <p:sp>
        <p:nvSpPr>
          <p:cNvPr id="550914" name="Rectangle 2"/>
          <p:cNvSpPr>
            <a:spLocks noChangeArrowheads="1"/>
          </p:cNvSpPr>
          <p:nvPr/>
        </p:nvSpPr>
        <p:spPr bwMode="auto">
          <a:xfrm>
            <a:off x="1774826" y="985292"/>
            <a:ext cx="8583613"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局部变量</a:t>
            </a:r>
            <a:endParaRPr lang="zh-CN" altLang="zh-CN" sz="3600" b="1" dirty="0">
              <a:solidFill>
                <a:srgbClr val="C00000"/>
              </a:solidFill>
              <a:latin typeface="Times New Roman" pitchFamily="18" charset="0"/>
            </a:endParaRPr>
          </a:p>
        </p:txBody>
      </p:sp>
      <p:sp>
        <p:nvSpPr>
          <p:cNvPr id="550921" name="Rectangle 9"/>
          <p:cNvSpPr>
            <a:spLocks noChangeArrowheads="1"/>
          </p:cNvSpPr>
          <p:nvPr/>
        </p:nvSpPr>
        <p:spPr bwMode="auto">
          <a:xfrm>
            <a:off x="3035772" y="1642692"/>
            <a:ext cx="56864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solidFill>
                  <a:srgbClr val="C00000"/>
                </a:solidFill>
              </a:rPr>
              <a:t>定义：</a:t>
            </a:r>
            <a:r>
              <a:rPr lang="zh-CN" altLang="en-US" sz="3200" b="1" dirty="0"/>
              <a:t>在函数内部定义的变量</a:t>
            </a:r>
          </a:p>
        </p:txBody>
      </p:sp>
      <p:sp>
        <p:nvSpPr>
          <p:cNvPr id="11" name="矩形 10"/>
          <p:cNvSpPr/>
          <p:nvPr/>
        </p:nvSpPr>
        <p:spPr>
          <a:xfrm>
            <a:off x="2802116" y="155700"/>
            <a:ext cx="6633984"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effectLst>
                  <a:outerShdw blurRad="38100" dist="38100" dir="2700000" algn="tl">
                    <a:srgbClr val="000000"/>
                  </a:outerShdw>
                </a:effectLst>
                <a:latin typeface="+mn-ea"/>
                <a:cs typeface="Times New Roman" panose="02020603050405020304" pitchFamily="18" charset="0"/>
              </a:rPr>
              <a:t>7.6 </a:t>
            </a:r>
            <a:r>
              <a:rPr lang="zh-CN" altLang="zh-CN" sz="4400" b="1" dirty="0">
                <a:solidFill>
                  <a:srgbClr val="800000"/>
                </a:solidFill>
                <a:effectLst>
                  <a:outerShdw blurRad="38100" dist="38100" dir="2700000" algn="tl">
                    <a:srgbClr val="000000"/>
                  </a:outerShdw>
                </a:effectLst>
                <a:latin typeface="+mn-ea"/>
                <a:cs typeface="Times New Roman" panose="02020603050405020304" pitchFamily="18" charset="0"/>
              </a:rPr>
              <a:t>变量和函数的作用域</a:t>
            </a:r>
          </a:p>
        </p:txBody>
      </p:sp>
      <p:sp>
        <p:nvSpPr>
          <p:cNvPr id="12" name="Rectangle 3"/>
          <p:cNvSpPr>
            <a:spLocks noChangeArrowheads="1"/>
          </p:cNvSpPr>
          <p:nvPr/>
        </p:nvSpPr>
        <p:spPr bwMode="auto">
          <a:xfrm>
            <a:off x="1674962" y="2282254"/>
            <a:ext cx="74707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lgn="l"/>
            <a:r>
              <a:rPr lang="zh-CN" altLang="en-US" sz="3200" b="1" dirty="0">
                <a:solidFill>
                  <a:srgbClr val="C00000"/>
                </a:solidFill>
              </a:rPr>
              <a:t>说明：</a:t>
            </a:r>
          </a:p>
        </p:txBody>
      </p:sp>
      <p:sp>
        <p:nvSpPr>
          <p:cNvPr id="13" name="Rectangle 5"/>
          <p:cNvSpPr>
            <a:spLocks noChangeArrowheads="1"/>
          </p:cNvSpPr>
          <p:nvPr/>
        </p:nvSpPr>
        <p:spPr bwMode="auto">
          <a:xfrm>
            <a:off x="3485727" y="2912493"/>
            <a:ext cx="5164709" cy="3194721"/>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l" eaLnBrk="0" hangingPunct="0">
              <a:lnSpc>
                <a:spcPct val="70000"/>
              </a:lnSpc>
            </a:pPr>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p>
          <a:p>
            <a:pPr algn="l" eaLnBrk="0" hangingPunct="0">
              <a:lnSpc>
                <a:spcPct val="70000"/>
              </a:lnSpc>
            </a:pP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sum( )</a:t>
            </a:r>
          </a:p>
          <a:p>
            <a:pPr algn="l" eaLnBrk="0" hangingPunct="0">
              <a:lnSpc>
                <a:spcPct val="7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a=100;</a:t>
            </a:r>
          </a:p>
          <a:p>
            <a:pPr algn="l" eaLnBrk="0" hangingPunct="0">
              <a:lnSpc>
                <a:spcPct val="70000"/>
              </a:lnSpc>
            </a:pPr>
            <a:r>
              <a:rPr lang="en-US" altLang="zh-CN" sz="3200" b="1" dirty="0">
                <a:latin typeface="Times New Roman" pitchFamily="18" charset="0"/>
                <a:ea typeface="宋体" charset="-122"/>
              </a:rPr>
              <a:t>      return </a:t>
            </a:r>
            <a:r>
              <a:rPr lang="en-US" altLang="zh-CN" sz="3200" b="1" dirty="0" err="1">
                <a:solidFill>
                  <a:srgbClr val="C00000"/>
                </a:solidFill>
                <a:latin typeface="Times New Roman" pitchFamily="18" charset="0"/>
                <a:ea typeface="宋体" charset="-122"/>
              </a:rPr>
              <a:t>x+a</a:t>
            </a:r>
            <a:r>
              <a:rPr lang="en-US" altLang="zh-CN" sz="3200" b="1" dirty="0">
                <a:solidFill>
                  <a:srgbClr val="C00000"/>
                </a:solidFill>
                <a:latin typeface="Times New Roman" pitchFamily="18" charset="0"/>
                <a:ea typeface="宋体" charset="-122"/>
              </a:rPr>
              <a:t>;</a:t>
            </a:r>
          </a:p>
          <a:p>
            <a:pPr algn="l" eaLnBrk="0" hangingPunct="0">
              <a:lnSpc>
                <a:spcPct val="70000"/>
              </a:lnSpc>
            </a:pPr>
            <a:r>
              <a:rPr lang="en-US" altLang="zh-CN" sz="3200" b="1" dirty="0">
                <a:latin typeface="Times New Roman" pitchFamily="18" charset="0"/>
                <a:ea typeface="宋体" charset="-122"/>
              </a:rPr>
              <a:t>}</a:t>
            </a:r>
          </a:p>
          <a:p>
            <a:pPr algn="l" eaLnBrk="0" hangingPunct="0">
              <a:lnSpc>
                <a:spcPct val="70000"/>
              </a:lnSpc>
            </a:pPr>
            <a:r>
              <a:rPr lang="en-US" altLang="zh-CN" sz="3200" b="1" dirty="0">
                <a:latin typeface="Times New Roman" pitchFamily="18" charset="0"/>
                <a:ea typeface="宋体" charset="-122"/>
              </a:rPr>
              <a:t>void main( )</a:t>
            </a:r>
          </a:p>
          <a:p>
            <a:pPr algn="l" eaLnBrk="0" hangingPunct="0">
              <a:lnSpc>
                <a:spcPct val="70000"/>
              </a:lnSpc>
            </a:pPr>
            <a:r>
              <a:rPr lang="en-US" altLang="zh-CN" sz="3200" b="1" dirty="0">
                <a:latin typeface="Times New Roman" pitchFamily="18" charset="0"/>
                <a:ea typeface="宋体" charset="-122"/>
              </a:rPr>
              <a:t>{    </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x=10;</a:t>
            </a:r>
          </a:p>
          <a:p>
            <a:pPr algn="l" eaLnBrk="0" hangingPunct="0">
              <a:lnSpc>
                <a:spcPct val="7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d",sum</a:t>
            </a:r>
            <a:r>
              <a:rPr lang="en-US" altLang="zh-CN" sz="3200" b="1" dirty="0">
                <a:latin typeface="Times New Roman" pitchFamily="18" charset="0"/>
                <a:ea typeface="宋体" charset="-122"/>
              </a:rPr>
              <a:t>(  ));</a:t>
            </a:r>
          </a:p>
          <a:p>
            <a:pPr algn="l" eaLnBrk="0" hangingPunct="0">
              <a:lnSpc>
                <a:spcPct val="70000"/>
              </a:lnSpc>
            </a:pPr>
            <a:r>
              <a:rPr lang="en-US" altLang="zh-CN" sz="3200" b="1" dirty="0">
                <a:latin typeface="Times New Roman" pitchFamily="18" charset="0"/>
                <a:ea typeface="宋体" charset="-122"/>
              </a:rPr>
              <a:t>}</a:t>
            </a:r>
          </a:p>
        </p:txBody>
      </p:sp>
      <p:sp>
        <p:nvSpPr>
          <p:cNvPr id="14" name="Rectangle 6"/>
          <p:cNvSpPr>
            <a:spLocks noChangeArrowheads="1"/>
          </p:cNvSpPr>
          <p:nvPr/>
        </p:nvSpPr>
        <p:spPr bwMode="auto">
          <a:xfrm>
            <a:off x="2879102" y="6143010"/>
            <a:ext cx="6929910" cy="492443"/>
          </a:xfrm>
          <a:prstGeom prst="rect">
            <a:avLst/>
          </a:prstGeom>
          <a:solidFill>
            <a:schemeClr val="bg1"/>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s-ES" altLang="zh-CN" sz="3200" b="1" dirty="0">
                <a:solidFill>
                  <a:srgbClr val="C00000"/>
                </a:solidFill>
                <a:latin typeface="Times New Roman" pitchFamily="18" charset="0"/>
              </a:rPr>
              <a:t> error C2065: 'x' : undeclared identifier</a:t>
            </a:r>
            <a:endParaRPr lang="en-US" altLang="zh-CN" sz="3200" b="1" dirty="0">
              <a:solidFill>
                <a:srgbClr val="C00000"/>
              </a:solidFill>
              <a:latin typeface="Times New Roman" pitchFamily="18" charset="0"/>
            </a:endParaRPr>
          </a:p>
        </p:txBody>
      </p:sp>
      <p:sp>
        <p:nvSpPr>
          <p:cNvPr id="15" name="Rectangle 4"/>
          <p:cNvSpPr>
            <a:spLocks noChangeArrowheads="1"/>
          </p:cNvSpPr>
          <p:nvPr/>
        </p:nvSpPr>
        <p:spPr bwMode="auto">
          <a:xfrm>
            <a:off x="4394200" y="2282256"/>
            <a:ext cx="55435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各局部变量只在本函数有效</a:t>
            </a:r>
          </a:p>
        </p:txBody>
      </p:sp>
    </p:spTree>
    <p:extLst>
      <p:ext uri="{BB962C8B-B14F-4D97-AF65-F5344CB8AC3E}">
        <p14:creationId xmlns:p14="http://schemas.microsoft.com/office/powerpoint/2010/main" val="3758879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0914"/>
                                        </p:tgtEl>
                                        <p:attrNameLst>
                                          <p:attrName>style.visibility</p:attrName>
                                        </p:attrNameLst>
                                      </p:cBhvr>
                                      <p:to>
                                        <p:strVal val="visible"/>
                                      </p:to>
                                    </p:set>
                                    <p:animEffect transition="in" filter="fade">
                                      <p:cBhvr>
                                        <p:cTn id="7" dur="500"/>
                                        <p:tgtEl>
                                          <p:spTgt spid="5509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0921"/>
                                        </p:tgtEl>
                                        <p:attrNameLst>
                                          <p:attrName>style.visibility</p:attrName>
                                        </p:attrNameLst>
                                      </p:cBhvr>
                                      <p:to>
                                        <p:strVal val="visible"/>
                                      </p:to>
                                    </p:set>
                                    <p:animEffect transition="in" filter="fade">
                                      <p:cBhvr>
                                        <p:cTn id="12" dur="500"/>
                                        <p:tgtEl>
                                          <p:spTgt spid="5509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4" grpId="0"/>
      <p:bldP spid="550921" grpId="0"/>
      <p:bldP spid="12" grpId="0" autoUpdateAnimBg="0"/>
      <p:bldP spid="13" grpId="0" animBg="1" autoUpdateAnimBg="0"/>
      <p:bldP spid="14" grpId="0" animBg="1" autoUpdateAnimBg="0"/>
      <p:bldP spid="15"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endParaRPr lang="en-US" altLang="zh-CN" dirty="0"/>
          </a:p>
        </p:txBody>
      </p:sp>
      <p:sp>
        <p:nvSpPr>
          <p:cNvPr id="555011" name="Rectangle 3"/>
          <p:cNvSpPr>
            <a:spLocks noChangeArrowheads="1"/>
          </p:cNvSpPr>
          <p:nvPr/>
        </p:nvSpPr>
        <p:spPr bwMode="auto">
          <a:xfrm>
            <a:off x="4368801" y="2989386"/>
            <a:ext cx="47212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startAt="2"/>
            </a:pPr>
            <a:r>
              <a:rPr lang="zh-CN" altLang="en-US" sz="3200" b="1" dirty="0">
                <a:latin typeface="Times New Roman" pitchFamily="18" charset="0"/>
              </a:rPr>
              <a:t>形式参数也是局部变量</a:t>
            </a:r>
          </a:p>
        </p:txBody>
      </p:sp>
      <p:sp>
        <p:nvSpPr>
          <p:cNvPr id="555012" name="Rectangle 4"/>
          <p:cNvSpPr>
            <a:spLocks noChangeArrowheads="1"/>
          </p:cNvSpPr>
          <p:nvPr/>
        </p:nvSpPr>
        <p:spPr bwMode="auto">
          <a:xfrm>
            <a:off x="3803228" y="3614440"/>
            <a:ext cx="5010572" cy="2982913"/>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l" eaLnBrk="0" hangingPunct="0">
              <a:lnSpc>
                <a:spcPct val="75000"/>
              </a:lnSpc>
            </a:pPr>
            <a:r>
              <a:rPr lang="en-US" altLang="zh-CN" sz="3200" dirty="0">
                <a:latin typeface="Times New Roman" pitchFamily="18" charset="0"/>
                <a:ea typeface="宋体" charset="-122"/>
              </a:rPr>
              <a:t>#include &lt;</a:t>
            </a:r>
            <a:r>
              <a:rPr lang="en-US" altLang="zh-CN" sz="3200" dirty="0" err="1">
                <a:latin typeface="Times New Roman" pitchFamily="18" charset="0"/>
                <a:ea typeface="宋体" charset="-122"/>
              </a:rPr>
              <a:t>stdio.h</a:t>
            </a:r>
            <a:r>
              <a:rPr lang="en-US" altLang="zh-CN" sz="3200" dirty="0">
                <a:latin typeface="Times New Roman" pitchFamily="18" charset="0"/>
                <a:ea typeface="宋体" charset="-122"/>
              </a:rPr>
              <a:t>&gt;</a:t>
            </a:r>
          </a:p>
          <a:p>
            <a:pPr algn="l" eaLnBrk="0" hangingPunct="0">
              <a:lnSpc>
                <a:spcPct val="75000"/>
              </a:lnSpc>
            </a:pPr>
            <a:r>
              <a:rPr lang="en-US" altLang="zh-CN" sz="3200" dirty="0">
                <a:latin typeface="Times New Roman" pitchFamily="18" charset="0"/>
                <a:ea typeface="宋体" charset="-122"/>
              </a:rPr>
              <a:t>float  </a:t>
            </a:r>
            <a:r>
              <a:rPr lang="en-US" altLang="zh-CN" sz="3200" dirty="0">
                <a:solidFill>
                  <a:srgbClr val="C00000"/>
                </a:solidFill>
                <a:latin typeface="Times New Roman" pitchFamily="18" charset="0"/>
                <a:ea typeface="宋体" charset="-122"/>
              </a:rPr>
              <a:t>f1(</a:t>
            </a:r>
            <a:r>
              <a:rPr lang="en-US" altLang="zh-CN" sz="3200" dirty="0" err="1">
                <a:solidFill>
                  <a:srgbClr val="C00000"/>
                </a:solidFill>
                <a:latin typeface="Times New Roman" pitchFamily="18" charset="0"/>
                <a:ea typeface="宋体" charset="-122"/>
              </a:rPr>
              <a:t>int</a:t>
            </a:r>
            <a:r>
              <a:rPr lang="en-US" altLang="zh-CN" sz="3200" dirty="0">
                <a:solidFill>
                  <a:srgbClr val="C00000"/>
                </a:solidFill>
                <a:latin typeface="Times New Roman" pitchFamily="18" charset="0"/>
                <a:ea typeface="宋体" charset="-122"/>
              </a:rPr>
              <a:t> a</a:t>
            </a:r>
            <a:r>
              <a:rPr lang="en-US" altLang="zh-CN" sz="3200" dirty="0">
                <a:latin typeface="Times New Roman" pitchFamily="18" charset="0"/>
                <a:ea typeface="宋体" charset="-122"/>
              </a:rPr>
              <a:t>)  </a:t>
            </a:r>
          </a:p>
          <a:p>
            <a:pPr algn="l" eaLnBrk="0" hangingPunct="0">
              <a:lnSpc>
                <a:spcPct val="75000"/>
              </a:lnSpc>
            </a:pP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int</a:t>
            </a: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b,c</a:t>
            </a:r>
            <a:r>
              <a:rPr lang="en-US" altLang="zh-CN" sz="3200" dirty="0">
                <a:latin typeface="Times New Roman" pitchFamily="18" charset="0"/>
                <a:ea typeface="宋体" charset="-122"/>
              </a:rPr>
              <a:t>;</a:t>
            </a:r>
          </a:p>
          <a:p>
            <a:pPr algn="l" eaLnBrk="0" hangingPunct="0">
              <a:lnSpc>
                <a:spcPct val="75000"/>
              </a:lnSpc>
            </a:pPr>
            <a:r>
              <a:rPr lang="en-US" altLang="zh-CN" sz="3200" dirty="0">
                <a:latin typeface="Times New Roman" pitchFamily="18" charset="0"/>
                <a:ea typeface="宋体" charset="-122"/>
              </a:rPr>
              <a:t>      …….</a:t>
            </a:r>
          </a:p>
          <a:p>
            <a:pPr algn="l" eaLnBrk="0" hangingPunct="0">
              <a:lnSpc>
                <a:spcPct val="75000"/>
              </a:lnSpc>
            </a:pPr>
            <a:r>
              <a:rPr lang="en-US" altLang="zh-CN" sz="3200" dirty="0">
                <a:latin typeface="Times New Roman" pitchFamily="18" charset="0"/>
                <a:ea typeface="宋体" charset="-122"/>
              </a:rPr>
              <a:t>}</a:t>
            </a:r>
          </a:p>
          <a:p>
            <a:pPr algn="l" eaLnBrk="0" hangingPunct="0">
              <a:lnSpc>
                <a:spcPct val="70000"/>
              </a:lnSpc>
            </a:pPr>
            <a:r>
              <a:rPr lang="en-US" altLang="zh-CN" sz="3200" dirty="0">
                <a:latin typeface="Times New Roman" pitchFamily="18" charset="0"/>
                <a:ea typeface="宋体" charset="-122"/>
              </a:rPr>
              <a:t>main( )</a:t>
            </a:r>
          </a:p>
          <a:p>
            <a:pPr algn="l" eaLnBrk="0" hangingPunct="0">
              <a:lnSpc>
                <a:spcPct val="70000"/>
              </a:lnSpc>
            </a:pPr>
            <a:r>
              <a:rPr lang="en-US" altLang="zh-CN" sz="3200" dirty="0">
                <a:latin typeface="Times New Roman" pitchFamily="18" charset="0"/>
                <a:ea typeface="宋体" charset="-122"/>
              </a:rPr>
              <a:t>{     ….</a:t>
            </a:r>
          </a:p>
          <a:p>
            <a:pPr algn="l" eaLnBrk="0" hangingPunct="0">
              <a:lnSpc>
                <a:spcPct val="70000"/>
              </a:lnSpc>
            </a:pPr>
            <a:r>
              <a:rPr lang="en-US" altLang="zh-CN" sz="3200" dirty="0">
                <a:latin typeface="Times New Roman" pitchFamily="18" charset="0"/>
                <a:ea typeface="宋体" charset="-122"/>
              </a:rPr>
              <a:t>}</a:t>
            </a:r>
          </a:p>
        </p:txBody>
      </p:sp>
      <p:sp>
        <p:nvSpPr>
          <p:cNvPr id="21510" name="Rectangle 5"/>
          <p:cNvSpPr>
            <a:spLocks noChangeArrowheads="1"/>
          </p:cNvSpPr>
          <p:nvPr/>
        </p:nvSpPr>
        <p:spPr bwMode="auto">
          <a:xfrm>
            <a:off x="1701801" y="2421830"/>
            <a:ext cx="74707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lgn="l"/>
            <a:r>
              <a:rPr lang="zh-CN" altLang="en-US" sz="3200" b="1" dirty="0">
                <a:solidFill>
                  <a:srgbClr val="C00000"/>
                </a:solidFill>
              </a:rPr>
              <a:t>说明：</a:t>
            </a:r>
          </a:p>
        </p:txBody>
      </p:sp>
      <p:sp>
        <p:nvSpPr>
          <p:cNvPr id="21511" name="Rectangle 6"/>
          <p:cNvSpPr>
            <a:spLocks noChangeArrowheads="1"/>
          </p:cNvSpPr>
          <p:nvPr/>
        </p:nvSpPr>
        <p:spPr bwMode="auto">
          <a:xfrm>
            <a:off x="4368800" y="2401194"/>
            <a:ext cx="55372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各局部变量只在本函数有效</a:t>
            </a:r>
          </a:p>
        </p:txBody>
      </p:sp>
      <p:sp>
        <p:nvSpPr>
          <p:cNvPr id="21512" name="Rectangle 7"/>
          <p:cNvSpPr>
            <a:spLocks noChangeArrowheads="1"/>
          </p:cNvSpPr>
          <p:nvPr/>
        </p:nvSpPr>
        <p:spPr bwMode="auto">
          <a:xfrm>
            <a:off x="1774826" y="980976"/>
            <a:ext cx="8583613"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局部变量</a:t>
            </a:r>
            <a:endParaRPr lang="zh-CN" altLang="zh-CN" sz="3600" b="1" dirty="0">
              <a:solidFill>
                <a:srgbClr val="C00000"/>
              </a:solidFill>
              <a:latin typeface="Times New Roman" pitchFamily="18" charset="0"/>
            </a:endParaRPr>
          </a:p>
        </p:txBody>
      </p:sp>
      <p:sp>
        <p:nvSpPr>
          <p:cNvPr id="21513" name="Rectangle 8"/>
          <p:cNvSpPr>
            <a:spLocks noChangeArrowheads="1"/>
          </p:cNvSpPr>
          <p:nvPr/>
        </p:nvSpPr>
        <p:spPr bwMode="auto">
          <a:xfrm>
            <a:off x="3060700" y="1730375"/>
            <a:ext cx="54879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a:solidFill>
                  <a:srgbClr val="C00000"/>
                </a:solidFill>
              </a:rPr>
              <a:t>定义：</a:t>
            </a:r>
            <a:r>
              <a:rPr lang="zh-CN" altLang="en-US" sz="3200" b="1" dirty="0"/>
              <a:t>在函数内部定义的变量</a:t>
            </a:r>
          </a:p>
        </p:txBody>
      </p:sp>
      <p:sp>
        <p:nvSpPr>
          <p:cNvPr id="555017" name="AutoShape 9"/>
          <p:cNvSpPr>
            <a:spLocks/>
          </p:cNvSpPr>
          <p:nvPr/>
        </p:nvSpPr>
        <p:spPr bwMode="auto">
          <a:xfrm>
            <a:off x="6184900" y="4046539"/>
            <a:ext cx="228600" cy="1038225"/>
          </a:xfrm>
          <a:prstGeom prst="rightBrace">
            <a:avLst>
              <a:gd name="adj1" fmla="val 37847"/>
              <a:gd name="adj2" fmla="val 50000"/>
            </a:avLst>
          </a:prstGeom>
          <a:noFill/>
          <a:ln w="3810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000">
              <a:solidFill>
                <a:srgbClr val="FF3300"/>
              </a:solidFill>
              <a:latin typeface="Times New Roman" pitchFamily="18" charset="0"/>
              <a:ea typeface="宋体" charset="-122"/>
            </a:endParaRPr>
          </a:p>
        </p:txBody>
      </p:sp>
      <p:sp>
        <p:nvSpPr>
          <p:cNvPr id="555018" name="Text Box 10"/>
          <p:cNvSpPr txBox="1">
            <a:spLocks noChangeArrowheads="1"/>
          </p:cNvSpPr>
          <p:nvPr/>
        </p:nvSpPr>
        <p:spPr bwMode="auto">
          <a:xfrm>
            <a:off x="6413500" y="4246563"/>
            <a:ext cx="1676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a:r>
              <a:rPr lang="en-US" altLang="zh-CN" dirty="0" err="1">
                <a:latin typeface="Times New Roman" pitchFamily="18" charset="0"/>
                <a:ea typeface="隶书" pitchFamily="49" charset="-122"/>
              </a:rPr>
              <a:t>a,b,c</a:t>
            </a:r>
            <a:r>
              <a:rPr lang="zh-CN" altLang="zh-CN" dirty="0">
                <a:latin typeface="+mn-ea"/>
                <a:ea typeface="+mn-ea"/>
              </a:rPr>
              <a:t>有效</a:t>
            </a:r>
            <a:endParaRPr lang="zh-CN" altLang="en-US" dirty="0">
              <a:latin typeface="+mn-ea"/>
              <a:ea typeface="+mn-ea"/>
            </a:endParaRPr>
          </a:p>
        </p:txBody>
      </p:sp>
      <p:sp>
        <p:nvSpPr>
          <p:cNvPr id="12" name="矩形 11"/>
          <p:cNvSpPr/>
          <p:nvPr/>
        </p:nvSpPr>
        <p:spPr>
          <a:xfrm>
            <a:off x="2814816" y="155700"/>
            <a:ext cx="6405384"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effectLst>
                  <a:outerShdw blurRad="38100" dist="38100" dir="2700000" algn="tl">
                    <a:srgbClr val="000000"/>
                  </a:outerShdw>
                </a:effectLst>
                <a:latin typeface="Arial" pitchFamily="34" charset="0"/>
                <a:ea typeface="黑体" pitchFamily="49" charset="-122"/>
                <a:cs typeface="+mj-cs"/>
              </a:rPr>
              <a:t>7.6 </a:t>
            </a:r>
            <a:r>
              <a:rPr lang="zh-CN" altLang="zh-CN" sz="4400" b="1" dirty="0">
                <a:solidFill>
                  <a:srgbClr val="800000"/>
                </a:solidFill>
                <a:effectLst>
                  <a:outerShdw blurRad="38100" dist="38100" dir="2700000" algn="tl">
                    <a:srgbClr val="000000"/>
                  </a:outerShdw>
                </a:effectLst>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36200418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12"/>
                                        </p:tgtEl>
                                        <p:attrNameLst>
                                          <p:attrName>style.visibility</p:attrName>
                                        </p:attrNameLst>
                                      </p:cBhvr>
                                      <p:to>
                                        <p:strVal val="visible"/>
                                      </p:to>
                                    </p:set>
                                    <p:animEffect transition="in" filter="fade">
                                      <p:cBhvr>
                                        <p:cTn id="7" dur="500"/>
                                        <p:tgtEl>
                                          <p:spTgt spid="215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55012"/>
                                        </p:tgtEl>
                                        <p:attrNameLst>
                                          <p:attrName>style.visibility</p:attrName>
                                        </p:attrNameLst>
                                      </p:cBhvr>
                                      <p:to>
                                        <p:strVal val="visible"/>
                                      </p:to>
                                    </p:set>
                                    <p:animEffect transition="in" filter="dissolve">
                                      <p:cBhvr>
                                        <p:cTn id="12" dur="500"/>
                                        <p:tgtEl>
                                          <p:spTgt spid="5550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55017"/>
                                        </p:tgtEl>
                                        <p:attrNameLst>
                                          <p:attrName>style.visibility</p:attrName>
                                        </p:attrNameLst>
                                      </p:cBhvr>
                                      <p:to>
                                        <p:strVal val="visible"/>
                                      </p:to>
                                    </p:set>
                                    <p:animEffect transition="in" filter="box(in)">
                                      <p:cBhvr>
                                        <p:cTn id="17" dur="500"/>
                                        <p:tgtEl>
                                          <p:spTgt spid="5550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5018"/>
                                        </p:tgtEl>
                                        <p:attrNameLst>
                                          <p:attrName>style.visibility</p:attrName>
                                        </p:attrNameLst>
                                      </p:cBhvr>
                                      <p:to>
                                        <p:strVal val="visible"/>
                                      </p:to>
                                    </p:set>
                                    <p:animEffect transition="in" filter="wipe(left)">
                                      <p:cBhvr>
                                        <p:cTn id="22" dur="500"/>
                                        <p:tgtEl>
                                          <p:spTgt spid="5550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513"/>
                                        </p:tgtEl>
                                        <p:attrNameLst>
                                          <p:attrName>style.visibility</p:attrName>
                                        </p:attrNameLst>
                                      </p:cBhvr>
                                      <p:to>
                                        <p:strVal val="visible"/>
                                      </p:to>
                                    </p:set>
                                    <p:animEffect transition="in" filter="fade">
                                      <p:cBhvr>
                                        <p:cTn id="27" dur="500"/>
                                        <p:tgtEl>
                                          <p:spTgt spid="215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510"/>
                                        </p:tgtEl>
                                        <p:attrNameLst>
                                          <p:attrName>style.visibility</p:attrName>
                                        </p:attrNameLst>
                                      </p:cBhvr>
                                      <p:to>
                                        <p:strVal val="visible"/>
                                      </p:to>
                                    </p:set>
                                    <p:animEffect transition="in" filter="fade">
                                      <p:cBhvr>
                                        <p:cTn id="32" dur="500"/>
                                        <p:tgtEl>
                                          <p:spTgt spid="215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1511"/>
                                        </p:tgtEl>
                                        <p:attrNameLst>
                                          <p:attrName>style.visibility</p:attrName>
                                        </p:attrNameLst>
                                      </p:cBhvr>
                                      <p:to>
                                        <p:strVal val="visible"/>
                                      </p:to>
                                    </p:set>
                                    <p:animEffect transition="in" filter="fade">
                                      <p:cBhvr>
                                        <p:cTn id="37" dur="500"/>
                                        <p:tgtEl>
                                          <p:spTgt spid="215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55011"/>
                                        </p:tgtEl>
                                        <p:attrNameLst>
                                          <p:attrName>style.visibility</p:attrName>
                                        </p:attrNameLst>
                                      </p:cBhvr>
                                      <p:to>
                                        <p:strVal val="visible"/>
                                      </p:to>
                                    </p:set>
                                    <p:animEffect transition="in" filter="fade">
                                      <p:cBhvr>
                                        <p:cTn id="42" dur="500"/>
                                        <p:tgtEl>
                                          <p:spTgt spid="555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1" grpId="0"/>
      <p:bldP spid="555012" grpId="0" animBg="1" autoUpdateAnimBg="0"/>
      <p:bldP spid="21510" grpId="0"/>
      <p:bldP spid="21511" grpId="0"/>
      <p:bldP spid="21512" grpId="0"/>
      <p:bldP spid="21513" grpId="0"/>
      <p:bldP spid="555017" grpId="0" animBg="1" autoUpdateAnimBg="0"/>
      <p:bldP spid="555018"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endParaRPr lang="en-US" altLang="zh-CN" dirty="0"/>
          </a:p>
        </p:txBody>
      </p:sp>
      <p:sp>
        <p:nvSpPr>
          <p:cNvPr id="556035" name="Rectangle 3"/>
          <p:cNvSpPr>
            <a:spLocks noChangeArrowheads="1"/>
          </p:cNvSpPr>
          <p:nvPr/>
        </p:nvSpPr>
        <p:spPr bwMode="auto">
          <a:xfrm>
            <a:off x="4348486" y="4734100"/>
            <a:ext cx="5945187"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startAt="3"/>
            </a:pPr>
            <a:r>
              <a:rPr lang="zh-CN" altLang="en-US" sz="3200" b="1" dirty="0">
                <a:latin typeface="Times New Roman" pitchFamily="18" charset="0"/>
              </a:rPr>
              <a:t>各函数中同名变量是不同对象</a:t>
            </a:r>
          </a:p>
        </p:txBody>
      </p:sp>
      <p:sp>
        <p:nvSpPr>
          <p:cNvPr id="22533" name="Rectangle 4"/>
          <p:cNvSpPr>
            <a:spLocks noChangeArrowheads="1"/>
          </p:cNvSpPr>
          <p:nvPr/>
        </p:nvSpPr>
        <p:spPr bwMode="auto">
          <a:xfrm>
            <a:off x="4329709" y="3878312"/>
            <a:ext cx="47212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startAt="2"/>
            </a:pPr>
            <a:r>
              <a:rPr lang="zh-CN" altLang="en-US" sz="3200" b="1" dirty="0">
                <a:latin typeface="Times New Roman" pitchFamily="18" charset="0"/>
              </a:rPr>
              <a:t>形式参数也是局部变量</a:t>
            </a:r>
          </a:p>
        </p:txBody>
      </p:sp>
      <p:sp>
        <p:nvSpPr>
          <p:cNvPr id="22534" name="Rectangle 5"/>
          <p:cNvSpPr>
            <a:spLocks noChangeArrowheads="1"/>
          </p:cNvSpPr>
          <p:nvPr/>
        </p:nvSpPr>
        <p:spPr bwMode="auto">
          <a:xfrm>
            <a:off x="1690813" y="3069654"/>
            <a:ext cx="74707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lgn="l"/>
            <a:r>
              <a:rPr lang="zh-CN" altLang="en-US" sz="3200" b="1" dirty="0">
                <a:solidFill>
                  <a:srgbClr val="C00000"/>
                </a:solidFill>
              </a:rPr>
              <a:t>说明：</a:t>
            </a:r>
          </a:p>
        </p:txBody>
      </p:sp>
      <p:sp>
        <p:nvSpPr>
          <p:cNvPr id="22535" name="Rectangle 6"/>
          <p:cNvSpPr>
            <a:spLocks noChangeArrowheads="1"/>
          </p:cNvSpPr>
          <p:nvPr/>
        </p:nvSpPr>
        <p:spPr bwMode="auto">
          <a:xfrm>
            <a:off x="4345112" y="3061718"/>
            <a:ext cx="55372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各局部变量只在本函数有效</a:t>
            </a:r>
          </a:p>
        </p:txBody>
      </p:sp>
      <p:sp>
        <p:nvSpPr>
          <p:cNvPr id="22536" name="Rectangle 7"/>
          <p:cNvSpPr>
            <a:spLocks noChangeArrowheads="1"/>
          </p:cNvSpPr>
          <p:nvPr/>
        </p:nvSpPr>
        <p:spPr bwMode="auto">
          <a:xfrm>
            <a:off x="1774826" y="1289050"/>
            <a:ext cx="8583613"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局部变量</a:t>
            </a:r>
            <a:endParaRPr lang="zh-CN" altLang="zh-CN" sz="3600" b="1" dirty="0">
              <a:solidFill>
                <a:srgbClr val="C00000"/>
              </a:solidFill>
              <a:latin typeface="Times New Roman" pitchFamily="18" charset="0"/>
            </a:endParaRPr>
          </a:p>
        </p:txBody>
      </p:sp>
      <p:sp>
        <p:nvSpPr>
          <p:cNvPr id="22537" name="Rectangle 8"/>
          <p:cNvSpPr>
            <a:spLocks noChangeArrowheads="1"/>
          </p:cNvSpPr>
          <p:nvPr/>
        </p:nvSpPr>
        <p:spPr bwMode="auto">
          <a:xfrm>
            <a:off x="3075112" y="2174999"/>
            <a:ext cx="54879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a:solidFill>
                  <a:srgbClr val="C00000"/>
                </a:solidFill>
              </a:rPr>
              <a:t>定义：</a:t>
            </a:r>
            <a:r>
              <a:rPr lang="zh-CN" altLang="en-US" sz="3200" b="1" dirty="0"/>
              <a:t>在函数内部定义的变量</a:t>
            </a:r>
          </a:p>
        </p:txBody>
      </p:sp>
      <p:sp>
        <p:nvSpPr>
          <p:cNvPr id="10" name="矩形 9"/>
          <p:cNvSpPr/>
          <p:nvPr/>
        </p:nvSpPr>
        <p:spPr>
          <a:xfrm>
            <a:off x="2840216" y="143000"/>
            <a:ext cx="6283272"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effectLst>
                  <a:outerShdw blurRad="38100" dist="38100" dir="2700000" algn="tl">
                    <a:srgbClr val="000000"/>
                  </a:outerShdw>
                </a:effectLst>
                <a:latin typeface="Arial" pitchFamily="34" charset="0"/>
                <a:ea typeface="黑体" pitchFamily="49" charset="-122"/>
                <a:cs typeface="+mj-cs"/>
              </a:rPr>
              <a:t>7.6 </a:t>
            </a:r>
            <a:r>
              <a:rPr lang="zh-CN" altLang="zh-CN" sz="4400" b="1" dirty="0">
                <a:solidFill>
                  <a:srgbClr val="800000"/>
                </a:solidFill>
                <a:effectLst>
                  <a:outerShdw blurRad="38100" dist="38100" dir="2700000" algn="tl">
                    <a:srgbClr val="000000"/>
                  </a:outerShdw>
                </a:effectLst>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401459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6"/>
                                        </p:tgtEl>
                                        <p:attrNameLst>
                                          <p:attrName>style.visibility</p:attrName>
                                        </p:attrNameLst>
                                      </p:cBhvr>
                                      <p:to>
                                        <p:strVal val="visible"/>
                                      </p:to>
                                    </p:set>
                                    <p:animEffect transition="in" filter="fade">
                                      <p:cBhvr>
                                        <p:cTn id="7" dur="500"/>
                                        <p:tgtEl>
                                          <p:spTgt spid="225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7"/>
                                        </p:tgtEl>
                                        <p:attrNameLst>
                                          <p:attrName>style.visibility</p:attrName>
                                        </p:attrNameLst>
                                      </p:cBhvr>
                                      <p:to>
                                        <p:strVal val="visible"/>
                                      </p:to>
                                    </p:set>
                                    <p:animEffect transition="in" filter="fade">
                                      <p:cBhvr>
                                        <p:cTn id="12" dur="500"/>
                                        <p:tgtEl>
                                          <p:spTgt spid="225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4"/>
                                        </p:tgtEl>
                                        <p:attrNameLst>
                                          <p:attrName>style.visibility</p:attrName>
                                        </p:attrNameLst>
                                      </p:cBhvr>
                                      <p:to>
                                        <p:strVal val="visible"/>
                                      </p:to>
                                    </p:set>
                                    <p:animEffect transition="in" filter="fade">
                                      <p:cBhvr>
                                        <p:cTn id="17" dur="500"/>
                                        <p:tgtEl>
                                          <p:spTgt spid="225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5"/>
                                        </p:tgtEl>
                                        <p:attrNameLst>
                                          <p:attrName>style.visibility</p:attrName>
                                        </p:attrNameLst>
                                      </p:cBhvr>
                                      <p:to>
                                        <p:strVal val="visible"/>
                                      </p:to>
                                    </p:set>
                                    <p:animEffect transition="in" filter="fade">
                                      <p:cBhvr>
                                        <p:cTn id="22" dur="500"/>
                                        <p:tgtEl>
                                          <p:spTgt spid="225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3"/>
                                        </p:tgtEl>
                                        <p:attrNameLst>
                                          <p:attrName>style.visibility</p:attrName>
                                        </p:attrNameLst>
                                      </p:cBhvr>
                                      <p:to>
                                        <p:strVal val="visible"/>
                                      </p:to>
                                    </p:set>
                                    <p:animEffect transition="in" filter="fade">
                                      <p:cBhvr>
                                        <p:cTn id="27" dur="500"/>
                                        <p:tgtEl>
                                          <p:spTgt spid="225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56035"/>
                                        </p:tgtEl>
                                        <p:attrNameLst>
                                          <p:attrName>style.visibility</p:attrName>
                                        </p:attrNameLst>
                                      </p:cBhvr>
                                      <p:to>
                                        <p:strVal val="visible"/>
                                      </p:to>
                                    </p:set>
                                    <p:animEffect transition="in" filter="fade">
                                      <p:cBhvr>
                                        <p:cTn id="32" dur="500"/>
                                        <p:tgtEl>
                                          <p:spTgt spid="556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p:bldP spid="22533" grpId="0"/>
      <p:bldP spid="22534" grpId="0"/>
      <p:bldP spid="22535" grpId="0"/>
      <p:bldP spid="22536" grpId="0"/>
      <p:bldP spid="2253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pPr>
              <a:defRPr/>
            </a:pPr>
            <a:endParaRPr lang="en-US" altLang="zh-CN" dirty="0"/>
          </a:p>
        </p:txBody>
      </p:sp>
      <p:grpSp>
        <p:nvGrpSpPr>
          <p:cNvPr id="557058" name="Group 2"/>
          <p:cNvGrpSpPr>
            <a:grpSpLocks/>
          </p:cNvGrpSpPr>
          <p:nvPr/>
        </p:nvGrpSpPr>
        <p:grpSpPr bwMode="auto">
          <a:xfrm>
            <a:off x="8259770" y="1290638"/>
            <a:ext cx="1728789" cy="641350"/>
            <a:chOff x="3731" y="253"/>
            <a:chExt cx="1089" cy="404"/>
          </a:xfrm>
        </p:grpSpPr>
        <p:sp>
          <p:nvSpPr>
            <p:cNvPr id="23565" name="Text Box 3"/>
            <p:cNvSpPr txBox="1">
              <a:spLocks noChangeArrowheads="1"/>
            </p:cNvSpPr>
            <p:nvPr/>
          </p:nvSpPr>
          <p:spPr bwMode="auto">
            <a:xfrm>
              <a:off x="3731" y="253"/>
              <a:ext cx="30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dirty="0">
                  <a:solidFill>
                    <a:srgbClr val="C00000"/>
                  </a:solidFill>
                  <a:latin typeface="Times New Roman" pitchFamily="18" charset="0"/>
                  <a:ea typeface="隶书" pitchFamily="49" charset="-122"/>
                </a:rPr>
                <a:t>a</a:t>
              </a:r>
              <a:r>
                <a:rPr lang="en-US" altLang="zh-CN" dirty="0">
                  <a:latin typeface="Times New Roman" pitchFamily="18" charset="0"/>
                  <a:ea typeface="隶书" pitchFamily="49" charset="-122"/>
                </a:rPr>
                <a:t>:</a:t>
              </a:r>
            </a:p>
          </p:txBody>
        </p:sp>
        <p:sp>
          <p:nvSpPr>
            <p:cNvPr id="23566" name="Text Box 4"/>
            <p:cNvSpPr txBox="1">
              <a:spLocks noChangeArrowheads="1"/>
            </p:cNvSpPr>
            <p:nvPr/>
          </p:nvSpPr>
          <p:spPr bwMode="auto">
            <a:xfrm>
              <a:off x="4114" y="276"/>
              <a:ext cx="706" cy="381"/>
            </a:xfrm>
            <a:prstGeom prst="rect">
              <a:avLst/>
            </a:prstGeom>
            <a:solidFill>
              <a:schemeClr val="bg1"/>
            </a:solidFill>
            <a:ln w="254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spcBef>
                  <a:spcPct val="50000"/>
                </a:spcBef>
              </a:pPr>
              <a:r>
                <a:rPr lang="en-US" altLang="zh-CN">
                  <a:latin typeface="Times New Roman" pitchFamily="18" charset="0"/>
                  <a:ea typeface="隶书" pitchFamily="49" charset="-122"/>
                </a:rPr>
                <a:t>xx</a:t>
              </a:r>
            </a:p>
          </p:txBody>
        </p:sp>
      </p:grpSp>
      <p:sp>
        <p:nvSpPr>
          <p:cNvPr id="557061" name="Text Box 5"/>
          <p:cNvSpPr txBox="1">
            <a:spLocks noChangeArrowheads="1"/>
          </p:cNvSpPr>
          <p:nvPr/>
        </p:nvSpPr>
        <p:spPr bwMode="auto">
          <a:xfrm>
            <a:off x="2044700" y="1152526"/>
            <a:ext cx="5235729" cy="4897495"/>
          </a:xfrm>
          <a:prstGeom prst="rect">
            <a:avLst/>
          </a:prstGeom>
          <a:solidFill>
            <a:schemeClr val="bg1"/>
          </a:solidFill>
          <a:ln w="381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lnSpc>
                <a:spcPct val="75000"/>
              </a:lnSpc>
            </a:pPr>
            <a:r>
              <a:rPr lang="en-US" altLang="zh-CN" b="1" dirty="0">
                <a:latin typeface="Times New Roman" pitchFamily="18" charset="0"/>
              </a:rPr>
              <a:t>#include "</a:t>
            </a:r>
            <a:r>
              <a:rPr lang="en-US" altLang="zh-CN" b="1" dirty="0" err="1">
                <a:latin typeface="Times New Roman" pitchFamily="18" charset="0"/>
              </a:rPr>
              <a:t>stdio.h</a:t>
            </a:r>
            <a:r>
              <a:rPr lang="en-US" altLang="zh-CN" b="1" dirty="0">
                <a:latin typeface="Times New Roman" pitchFamily="18" charset="0"/>
              </a:rPr>
              <a:t>"</a:t>
            </a:r>
          </a:p>
          <a:p>
            <a:pPr algn="l" eaLnBrk="0" hangingPunct="0">
              <a:lnSpc>
                <a:spcPct val="75000"/>
              </a:lnSpc>
            </a:pPr>
            <a:r>
              <a:rPr lang="en-US" altLang="zh-CN" b="1" dirty="0">
                <a:latin typeface="Times New Roman" pitchFamily="18" charset="0"/>
              </a:rPr>
              <a:t>sub( )</a:t>
            </a:r>
          </a:p>
          <a:p>
            <a:pPr algn="l" eaLnBrk="0" hangingPunct="0">
              <a:lnSpc>
                <a:spcPct val="75000"/>
              </a:lnSpc>
            </a:pPr>
            <a:r>
              <a:rPr lang="en-US" altLang="zh-CN" b="1" dirty="0">
                <a:latin typeface="Times New Roman" pitchFamily="18" charset="0"/>
              </a:rPr>
              <a:t>{   </a:t>
            </a:r>
            <a:r>
              <a:rPr lang="en-US" altLang="zh-CN" b="1" dirty="0" err="1">
                <a:solidFill>
                  <a:srgbClr val="C00000"/>
                </a:solidFill>
                <a:latin typeface="Times New Roman" pitchFamily="18" charset="0"/>
              </a:rPr>
              <a:t>int</a:t>
            </a:r>
            <a:r>
              <a:rPr lang="en-US" altLang="zh-CN" b="1" dirty="0">
                <a:solidFill>
                  <a:srgbClr val="C00000"/>
                </a:solidFill>
                <a:latin typeface="Times New Roman" pitchFamily="18" charset="0"/>
              </a:rPr>
              <a:t> a;</a:t>
            </a:r>
          </a:p>
          <a:p>
            <a:pPr algn="l" eaLnBrk="0" hangingPunct="0">
              <a:lnSpc>
                <a:spcPct val="75000"/>
              </a:lnSpc>
            </a:pPr>
            <a:r>
              <a:rPr lang="en-US" altLang="zh-CN" b="1" dirty="0">
                <a:latin typeface="Times New Roman" pitchFamily="18" charset="0"/>
              </a:rPr>
              <a:t>    a=6;</a:t>
            </a:r>
          </a:p>
          <a:p>
            <a:pPr algn="l" eaLnBrk="0" hangingPunct="0">
              <a:lnSpc>
                <a:spcPct val="75000"/>
              </a:lnSpc>
            </a:pPr>
            <a:r>
              <a:rPr lang="en-US" altLang="zh-CN" b="1" dirty="0">
                <a:latin typeface="Times New Roman" pitchFamily="18" charset="0"/>
              </a:rPr>
              <a:t>    </a:t>
            </a:r>
            <a:r>
              <a:rPr lang="en-US" altLang="zh-CN" b="1" dirty="0" err="1">
                <a:latin typeface="Times New Roman" pitchFamily="18" charset="0"/>
              </a:rPr>
              <a:t>printf</a:t>
            </a:r>
            <a:r>
              <a:rPr lang="en-US" altLang="zh-CN" b="1" dirty="0">
                <a:latin typeface="Times New Roman" pitchFamily="18" charset="0"/>
              </a:rPr>
              <a:t>("</a:t>
            </a:r>
            <a:r>
              <a:rPr lang="en-US" altLang="zh-CN" b="1" dirty="0" err="1">
                <a:latin typeface="Times New Roman" pitchFamily="18" charset="0"/>
              </a:rPr>
              <a:t>sub:a</a:t>
            </a:r>
            <a:r>
              <a:rPr lang="en-US" altLang="zh-CN" b="1" dirty="0">
                <a:latin typeface="Times New Roman" pitchFamily="18" charset="0"/>
              </a:rPr>
              <a:t>=%d\</a:t>
            </a:r>
            <a:r>
              <a:rPr lang="en-US" altLang="zh-CN" b="1" dirty="0" err="1">
                <a:latin typeface="Times New Roman" pitchFamily="18" charset="0"/>
              </a:rPr>
              <a:t>n",a</a:t>
            </a:r>
            <a:r>
              <a:rPr lang="en-US" altLang="zh-CN" b="1" dirty="0">
                <a:latin typeface="Times New Roman" pitchFamily="18" charset="0"/>
              </a:rPr>
              <a:t>);</a:t>
            </a:r>
          </a:p>
          <a:p>
            <a:pPr algn="l" eaLnBrk="0" hangingPunct="0">
              <a:lnSpc>
                <a:spcPct val="75000"/>
              </a:lnSpc>
            </a:pPr>
            <a:r>
              <a:rPr lang="en-US" altLang="zh-CN" b="1" dirty="0">
                <a:latin typeface="Times New Roman" pitchFamily="18" charset="0"/>
              </a:rPr>
              <a:t>}</a:t>
            </a:r>
          </a:p>
          <a:p>
            <a:pPr algn="l" eaLnBrk="0" hangingPunct="0">
              <a:lnSpc>
                <a:spcPct val="75000"/>
              </a:lnSpc>
            </a:pPr>
            <a:r>
              <a:rPr lang="en-US" altLang="zh-CN" b="1" dirty="0">
                <a:latin typeface="Times New Roman" pitchFamily="18" charset="0"/>
              </a:rPr>
              <a:t>main( )</a:t>
            </a:r>
          </a:p>
          <a:p>
            <a:pPr algn="l" eaLnBrk="0" hangingPunct="0">
              <a:lnSpc>
                <a:spcPct val="75000"/>
              </a:lnSpc>
            </a:pPr>
            <a:r>
              <a:rPr lang="en-US" altLang="zh-CN" b="1" dirty="0">
                <a:latin typeface="Times New Roman" pitchFamily="18" charset="0"/>
              </a:rPr>
              <a:t>{   </a:t>
            </a:r>
            <a:r>
              <a:rPr lang="en-US" altLang="zh-CN" b="1" dirty="0" err="1">
                <a:solidFill>
                  <a:srgbClr val="C00000"/>
                </a:solidFill>
                <a:latin typeface="Times New Roman" pitchFamily="18" charset="0"/>
              </a:rPr>
              <a:t>int</a:t>
            </a:r>
            <a:r>
              <a:rPr lang="en-US" altLang="zh-CN" b="1" dirty="0">
                <a:solidFill>
                  <a:srgbClr val="C00000"/>
                </a:solidFill>
                <a:latin typeface="Times New Roman" pitchFamily="18" charset="0"/>
              </a:rPr>
              <a:t> a;</a:t>
            </a:r>
          </a:p>
          <a:p>
            <a:pPr algn="l" eaLnBrk="0" hangingPunct="0">
              <a:lnSpc>
                <a:spcPct val="75000"/>
              </a:lnSpc>
            </a:pPr>
            <a:r>
              <a:rPr lang="en-US" altLang="zh-CN" b="1" dirty="0">
                <a:latin typeface="Times New Roman" pitchFamily="18" charset="0"/>
              </a:rPr>
              <a:t>    a=3;</a:t>
            </a:r>
          </a:p>
          <a:p>
            <a:pPr algn="l" eaLnBrk="0" hangingPunct="0">
              <a:lnSpc>
                <a:spcPct val="75000"/>
              </a:lnSpc>
            </a:pPr>
            <a:r>
              <a:rPr lang="zh-CN" altLang="en-US" b="1" dirty="0">
                <a:latin typeface="Times New Roman" pitchFamily="18" charset="0"/>
              </a:rPr>
              <a:t>　</a:t>
            </a:r>
            <a:r>
              <a:rPr lang="en-US" altLang="zh-CN" b="1" dirty="0" err="1">
                <a:latin typeface="Times New Roman" pitchFamily="18" charset="0"/>
              </a:rPr>
              <a:t>printf</a:t>
            </a:r>
            <a:r>
              <a:rPr lang="en-US" altLang="zh-CN" b="1" dirty="0">
                <a:latin typeface="Times New Roman" pitchFamily="18" charset="0"/>
              </a:rPr>
              <a:t>("</a:t>
            </a:r>
            <a:r>
              <a:rPr lang="en-US" altLang="zh-CN" b="1" dirty="0" err="1">
                <a:latin typeface="Times New Roman" pitchFamily="18" charset="0"/>
              </a:rPr>
              <a:t>main:a</a:t>
            </a:r>
            <a:r>
              <a:rPr lang="en-US" altLang="zh-CN" b="1" dirty="0">
                <a:latin typeface="Times New Roman" pitchFamily="18" charset="0"/>
              </a:rPr>
              <a:t>=%d\</a:t>
            </a:r>
            <a:r>
              <a:rPr lang="en-US" altLang="zh-CN" b="1" dirty="0" err="1">
                <a:latin typeface="Times New Roman" pitchFamily="18" charset="0"/>
              </a:rPr>
              <a:t>n",a</a:t>
            </a:r>
            <a:r>
              <a:rPr lang="en-US" altLang="zh-CN" b="1" dirty="0">
                <a:latin typeface="Times New Roman" pitchFamily="18" charset="0"/>
              </a:rPr>
              <a:t>);</a:t>
            </a:r>
          </a:p>
          <a:p>
            <a:pPr algn="l" eaLnBrk="0" hangingPunct="0">
              <a:lnSpc>
                <a:spcPct val="75000"/>
              </a:lnSpc>
            </a:pPr>
            <a:r>
              <a:rPr lang="en-US" altLang="zh-CN" b="1" dirty="0">
                <a:latin typeface="Times New Roman" pitchFamily="18" charset="0"/>
              </a:rPr>
              <a:t>    sub( );</a:t>
            </a:r>
          </a:p>
          <a:p>
            <a:pPr algn="l" eaLnBrk="0" hangingPunct="0">
              <a:lnSpc>
                <a:spcPct val="75000"/>
              </a:lnSpc>
            </a:pPr>
            <a:r>
              <a:rPr lang="en-US" altLang="zh-CN" b="1" dirty="0">
                <a:latin typeface="Times New Roman" pitchFamily="18" charset="0"/>
              </a:rPr>
              <a:t>    </a:t>
            </a:r>
            <a:r>
              <a:rPr lang="en-US" altLang="zh-CN" b="1" dirty="0" err="1">
                <a:latin typeface="Times New Roman" pitchFamily="18" charset="0"/>
              </a:rPr>
              <a:t>printf</a:t>
            </a:r>
            <a:r>
              <a:rPr lang="en-US" altLang="zh-CN" b="1" dirty="0">
                <a:latin typeface="Times New Roman" pitchFamily="18" charset="0"/>
              </a:rPr>
              <a:t>("</a:t>
            </a:r>
            <a:r>
              <a:rPr lang="en-US" altLang="zh-CN" b="1" dirty="0" err="1">
                <a:latin typeface="Times New Roman" pitchFamily="18" charset="0"/>
              </a:rPr>
              <a:t>main:a</a:t>
            </a:r>
            <a:r>
              <a:rPr lang="en-US" altLang="zh-CN" b="1" dirty="0">
                <a:latin typeface="Times New Roman" pitchFamily="18" charset="0"/>
              </a:rPr>
              <a:t>=%d\</a:t>
            </a:r>
            <a:r>
              <a:rPr lang="en-US" altLang="zh-CN" b="1" dirty="0" err="1">
                <a:latin typeface="Times New Roman" pitchFamily="18" charset="0"/>
              </a:rPr>
              <a:t>n",a</a:t>
            </a:r>
            <a:r>
              <a:rPr lang="en-US" altLang="zh-CN" b="1" dirty="0">
                <a:latin typeface="Times New Roman" pitchFamily="18" charset="0"/>
              </a:rPr>
              <a:t>);</a:t>
            </a:r>
          </a:p>
          <a:p>
            <a:pPr algn="l" eaLnBrk="0" hangingPunct="0">
              <a:lnSpc>
                <a:spcPct val="75000"/>
              </a:lnSpc>
            </a:pPr>
            <a:r>
              <a:rPr lang="en-US" altLang="zh-CN" b="1" dirty="0">
                <a:latin typeface="Times New Roman" pitchFamily="18" charset="0"/>
              </a:rPr>
              <a:t>}</a:t>
            </a:r>
          </a:p>
        </p:txBody>
      </p:sp>
      <p:sp>
        <p:nvSpPr>
          <p:cNvPr id="557062" name="Text Box 6"/>
          <p:cNvSpPr txBox="1">
            <a:spLocks noChangeArrowheads="1"/>
          </p:cNvSpPr>
          <p:nvPr/>
        </p:nvSpPr>
        <p:spPr bwMode="auto">
          <a:xfrm>
            <a:off x="8074025" y="3743326"/>
            <a:ext cx="2274888" cy="2062103"/>
          </a:xfrm>
          <a:prstGeom prst="rect">
            <a:avLst/>
          </a:prstGeom>
          <a:solidFill>
            <a:schemeClr val="bg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a:r>
              <a:rPr lang="zh-CN" altLang="en-US" dirty="0">
                <a:solidFill>
                  <a:srgbClr val="C00000"/>
                </a:solidFill>
                <a:latin typeface="+mn-ea"/>
                <a:ea typeface="+mn-ea"/>
              </a:rPr>
              <a:t>运行结果：</a:t>
            </a:r>
          </a:p>
          <a:p>
            <a:pPr algn="l"/>
            <a:r>
              <a:rPr lang="en-US" altLang="zh-CN" dirty="0" err="1">
                <a:latin typeface="Times New Roman" pitchFamily="18" charset="0"/>
                <a:ea typeface="隶书" pitchFamily="49" charset="-122"/>
              </a:rPr>
              <a:t>main:a</a:t>
            </a:r>
            <a:r>
              <a:rPr lang="en-US" altLang="zh-CN" dirty="0">
                <a:latin typeface="Times New Roman" pitchFamily="18" charset="0"/>
                <a:ea typeface="隶书" pitchFamily="49" charset="-122"/>
              </a:rPr>
              <a:t>=3</a:t>
            </a:r>
          </a:p>
          <a:p>
            <a:pPr algn="l"/>
            <a:r>
              <a:rPr lang="en-US" altLang="zh-CN" dirty="0" err="1">
                <a:latin typeface="Times New Roman" pitchFamily="18" charset="0"/>
                <a:ea typeface="隶书" pitchFamily="49" charset="-122"/>
              </a:rPr>
              <a:t>sub:a</a:t>
            </a:r>
            <a:r>
              <a:rPr lang="en-US" altLang="zh-CN" dirty="0">
                <a:latin typeface="Times New Roman" pitchFamily="18" charset="0"/>
                <a:ea typeface="隶书" pitchFamily="49" charset="-122"/>
              </a:rPr>
              <a:t>=6</a:t>
            </a:r>
          </a:p>
          <a:p>
            <a:pPr algn="l"/>
            <a:r>
              <a:rPr lang="en-US" altLang="zh-CN" dirty="0" err="1">
                <a:latin typeface="Times New Roman" pitchFamily="18" charset="0"/>
                <a:ea typeface="隶书" pitchFamily="49" charset="-122"/>
              </a:rPr>
              <a:t>main:a</a:t>
            </a:r>
            <a:r>
              <a:rPr lang="en-US" altLang="zh-CN" dirty="0">
                <a:latin typeface="Times New Roman" pitchFamily="18" charset="0"/>
                <a:ea typeface="隶书" pitchFamily="49" charset="-122"/>
              </a:rPr>
              <a:t>=3</a:t>
            </a:r>
          </a:p>
        </p:txBody>
      </p:sp>
      <p:sp>
        <p:nvSpPr>
          <p:cNvPr id="23558" name="Rectangle 7"/>
          <p:cNvSpPr>
            <a:spLocks noChangeArrowheads="1"/>
          </p:cNvSpPr>
          <p:nvPr/>
        </p:nvSpPr>
        <p:spPr bwMode="auto">
          <a:xfrm>
            <a:off x="3124200" y="159297"/>
            <a:ext cx="6092825" cy="771623"/>
          </a:xfrm>
          <a:prstGeom prst="rect">
            <a:avLst/>
          </a:prstGeom>
          <a:solidFill>
            <a:schemeClr val="lt1"/>
          </a:solidFill>
          <a:effectLst/>
          <a:extLst/>
        </p:spPr>
        <p:txBody>
          <a:bodyPr vert="horz" lIns="91440" tIns="45720" rIns="91440" bIns="45720" rtlCol="0" anchor="ctr">
            <a:noAutofit/>
          </a:bodyPr>
          <a:lstStyle/>
          <a:p>
            <a:pPr algn="ctr">
              <a:spcBef>
                <a:spcPct val="0"/>
              </a:spcBef>
            </a:pPr>
            <a:r>
              <a:rPr lang="zh-CN" altLang="en-US" sz="4400" b="1" dirty="0">
                <a:solidFill>
                  <a:srgbClr val="800000"/>
                </a:solidFill>
                <a:effectLst>
                  <a:outerShdw blurRad="38100" dist="38100" dir="2700000" algn="tl">
                    <a:srgbClr val="000000"/>
                  </a:outerShdw>
                </a:effectLst>
                <a:latin typeface="Arial" pitchFamily="34" charset="0"/>
                <a:ea typeface="黑体" pitchFamily="49" charset="-122"/>
                <a:cs typeface="+mj-cs"/>
              </a:rPr>
              <a:t>不同函数中的同名变量</a:t>
            </a:r>
          </a:p>
        </p:txBody>
      </p:sp>
      <p:sp>
        <p:nvSpPr>
          <p:cNvPr id="557064" name="Rectangle 8"/>
          <p:cNvSpPr>
            <a:spLocks noChangeArrowheads="1"/>
          </p:cNvSpPr>
          <p:nvPr/>
        </p:nvSpPr>
        <p:spPr bwMode="auto">
          <a:xfrm>
            <a:off x="8908505" y="1382714"/>
            <a:ext cx="566713" cy="492443"/>
          </a:xfrm>
          <a:prstGeom prst="rect">
            <a:avLst/>
          </a:prstGeom>
          <a:solidFill>
            <a:schemeClr val="bg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3200" dirty="0">
                <a:latin typeface="Times New Roman" pitchFamily="18" charset="0"/>
                <a:ea typeface="宋体" charset="-122"/>
              </a:rPr>
              <a:t> 3 </a:t>
            </a:r>
          </a:p>
        </p:txBody>
      </p:sp>
      <p:grpSp>
        <p:nvGrpSpPr>
          <p:cNvPr id="557065" name="Group 9"/>
          <p:cNvGrpSpPr>
            <a:grpSpLocks/>
          </p:cNvGrpSpPr>
          <p:nvPr/>
        </p:nvGrpSpPr>
        <p:grpSpPr bwMode="auto">
          <a:xfrm>
            <a:off x="8347150" y="2381250"/>
            <a:ext cx="1641475" cy="641350"/>
            <a:chOff x="3731" y="253"/>
            <a:chExt cx="1034" cy="404"/>
          </a:xfrm>
        </p:grpSpPr>
        <p:sp>
          <p:nvSpPr>
            <p:cNvPr id="23563" name="Text Box 10"/>
            <p:cNvSpPr txBox="1">
              <a:spLocks noChangeArrowheads="1"/>
            </p:cNvSpPr>
            <p:nvPr/>
          </p:nvSpPr>
          <p:spPr bwMode="auto">
            <a:xfrm>
              <a:off x="3731" y="253"/>
              <a:ext cx="30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a:solidFill>
                    <a:srgbClr val="0000FF"/>
                  </a:solidFill>
                  <a:latin typeface="Times New Roman" pitchFamily="18" charset="0"/>
                  <a:ea typeface="隶书" pitchFamily="49" charset="-122"/>
                </a:rPr>
                <a:t>a</a:t>
              </a:r>
              <a:r>
                <a:rPr lang="en-US" altLang="zh-CN">
                  <a:latin typeface="Times New Roman" pitchFamily="18" charset="0"/>
                  <a:ea typeface="隶书" pitchFamily="49" charset="-122"/>
                </a:rPr>
                <a:t>:</a:t>
              </a:r>
            </a:p>
          </p:txBody>
        </p:sp>
        <p:sp>
          <p:nvSpPr>
            <p:cNvPr id="23564" name="Text Box 11"/>
            <p:cNvSpPr txBox="1">
              <a:spLocks noChangeArrowheads="1"/>
            </p:cNvSpPr>
            <p:nvPr/>
          </p:nvSpPr>
          <p:spPr bwMode="auto">
            <a:xfrm>
              <a:off x="4059" y="276"/>
              <a:ext cx="706" cy="381"/>
            </a:xfrm>
            <a:prstGeom prst="rect">
              <a:avLst/>
            </a:prstGeom>
            <a:solidFill>
              <a:schemeClr val="bg1"/>
            </a:solidFill>
            <a:ln w="254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spcBef>
                  <a:spcPct val="50000"/>
                </a:spcBef>
              </a:pPr>
              <a:r>
                <a:rPr lang="en-US" altLang="zh-CN">
                  <a:latin typeface="Times New Roman" pitchFamily="18" charset="0"/>
                  <a:ea typeface="隶书" pitchFamily="49" charset="-122"/>
                </a:rPr>
                <a:t>xx</a:t>
              </a:r>
            </a:p>
          </p:txBody>
        </p:sp>
      </p:grpSp>
      <p:sp>
        <p:nvSpPr>
          <p:cNvPr id="557068" name="Rectangle 12"/>
          <p:cNvSpPr>
            <a:spLocks noChangeArrowheads="1"/>
          </p:cNvSpPr>
          <p:nvPr/>
        </p:nvSpPr>
        <p:spPr bwMode="auto">
          <a:xfrm>
            <a:off x="8923882" y="2446339"/>
            <a:ext cx="635546" cy="492443"/>
          </a:xfrm>
          <a:prstGeom prst="rect">
            <a:avLst/>
          </a:prstGeom>
          <a:solidFill>
            <a:schemeClr val="bg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en-US" altLang="zh-CN" sz="3200" dirty="0">
                <a:latin typeface="Times New Roman" pitchFamily="18" charset="0"/>
                <a:ea typeface="宋体" charset="-122"/>
              </a:rPr>
              <a:t> 6 </a:t>
            </a:r>
          </a:p>
        </p:txBody>
      </p:sp>
      <p:sp>
        <p:nvSpPr>
          <p:cNvPr id="557069" name="Rectangle 13"/>
          <p:cNvSpPr>
            <a:spLocks noChangeArrowheads="1"/>
          </p:cNvSpPr>
          <p:nvPr/>
        </p:nvSpPr>
        <p:spPr bwMode="auto">
          <a:xfrm>
            <a:off x="8260408" y="2316163"/>
            <a:ext cx="1800225" cy="808038"/>
          </a:xfrm>
          <a:prstGeom prst="rect">
            <a:avLst/>
          </a:prstGeom>
          <a:solidFill>
            <a:schemeClr val="bg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870484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7061"/>
                                        </p:tgtEl>
                                        <p:attrNameLst>
                                          <p:attrName>style.visibility</p:attrName>
                                        </p:attrNameLst>
                                      </p:cBhvr>
                                      <p:to>
                                        <p:strVal val="visible"/>
                                      </p:to>
                                    </p:set>
                                    <p:animEffect transition="in" filter="dissolve">
                                      <p:cBhvr>
                                        <p:cTn id="7" dur="500"/>
                                        <p:tgtEl>
                                          <p:spTgt spid="5570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57058"/>
                                        </p:tgtEl>
                                        <p:attrNameLst>
                                          <p:attrName>style.visibility</p:attrName>
                                        </p:attrNameLst>
                                      </p:cBhvr>
                                      <p:to>
                                        <p:strVal val="visible"/>
                                      </p:to>
                                    </p:set>
                                    <p:animEffect transition="in" filter="dissolve">
                                      <p:cBhvr>
                                        <p:cTn id="12" dur="500"/>
                                        <p:tgtEl>
                                          <p:spTgt spid="5570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57064"/>
                                        </p:tgtEl>
                                        <p:attrNameLst>
                                          <p:attrName>style.visibility</p:attrName>
                                        </p:attrNameLst>
                                      </p:cBhvr>
                                      <p:to>
                                        <p:strVal val="visible"/>
                                      </p:to>
                                    </p:set>
                                    <p:animEffect transition="in" filter="dissolve">
                                      <p:cBhvr>
                                        <p:cTn id="17" dur="500"/>
                                        <p:tgtEl>
                                          <p:spTgt spid="5570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57065"/>
                                        </p:tgtEl>
                                        <p:attrNameLst>
                                          <p:attrName>style.visibility</p:attrName>
                                        </p:attrNameLst>
                                      </p:cBhvr>
                                      <p:to>
                                        <p:strVal val="visible"/>
                                      </p:to>
                                    </p:set>
                                    <p:animEffect transition="in" filter="dissolve">
                                      <p:cBhvr>
                                        <p:cTn id="22" dur="500"/>
                                        <p:tgtEl>
                                          <p:spTgt spid="5570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57068"/>
                                        </p:tgtEl>
                                        <p:attrNameLst>
                                          <p:attrName>style.visibility</p:attrName>
                                        </p:attrNameLst>
                                      </p:cBhvr>
                                      <p:to>
                                        <p:strVal val="visible"/>
                                      </p:to>
                                    </p:set>
                                    <p:animEffect transition="in" filter="dissolve">
                                      <p:cBhvr>
                                        <p:cTn id="27" dur="500"/>
                                        <p:tgtEl>
                                          <p:spTgt spid="5570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57069"/>
                                        </p:tgtEl>
                                        <p:attrNameLst>
                                          <p:attrName>style.visibility</p:attrName>
                                        </p:attrNameLst>
                                      </p:cBhvr>
                                      <p:to>
                                        <p:strVal val="visible"/>
                                      </p:to>
                                    </p:set>
                                    <p:animEffect transition="in" filter="dissolve">
                                      <p:cBhvr>
                                        <p:cTn id="32" dur="500"/>
                                        <p:tgtEl>
                                          <p:spTgt spid="5570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57062">
                                            <p:bg/>
                                          </p:spTgt>
                                        </p:tgtEl>
                                        <p:attrNameLst>
                                          <p:attrName>style.visibility</p:attrName>
                                        </p:attrNameLst>
                                      </p:cBhvr>
                                      <p:to>
                                        <p:strVal val="visible"/>
                                      </p:to>
                                    </p:set>
                                    <p:animEffect transition="in" filter="wipe(left)">
                                      <p:cBhvr>
                                        <p:cTn id="37" dur="500"/>
                                        <p:tgtEl>
                                          <p:spTgt spid="557062">
                                            <p:bg/>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57062">
                                            <p:txEl>
                                              <p:pRg st="0" end="0"/>
                                            </p:txEl>
                                          </p:spTgt>
                                        </p:tgtEl>
                                        <p:attrNameLst>
                                          <p:attrName>style.visibility</p:attrName>
                                        </p:attrNameLst>
                                      </p:cBhvr>
                                      <p:to>
                                        <p:strVal val="visible"/>
                                      </p:to>
                                    </p:set>
                                    <p:animEffect transition="in" filter="wipe(left)">
                                      <p:cBhvr>
                                        <p:cTn id="42" dur="500"/>
                                        <p:tgtEl>
                                          <p:spTgt spid="557062">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57062">
                                            <p:txEl>
                                              <p:pRg st="1" end="1"/>
                                            </p:txEl>
                                          </p:spTgt>
                                        </p:tgtEl>
                                        <p:attrNameLst>
                                          <p:attrName>style.visibility</p:attrName>
                                        </p:attrNameLst>
                                      </p:cBhvr>
                                      <p:to>
                                        <p:strVal val="visible"/>
                                      </p:to>
                                    </p:set>
                                    <p:animEffect transition="in" filter="wipe(left)">
                                      <p:cBhvr>
                                        <p:cTn id="47" dur="500"/>
                                        <p:tgtEl>
                                          <p:spTgt spid="557062">
                                            <p:txEl>
                                              <p:pRg st="1" end="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57062">
                                            <p:txEl>
                                              <p:pRg st="2" end="2"/>
                                            </p:txEl>
                                          </p:spTgt>
                                        </p:tgtEl>
                                        <p:attrNameLst>
                                          <p:attrName>style.visibility</p:attrName>
                                        </p:attrNameLst>
                                      </p:cBhvr>
                                      <p:to>
                                        <p:strVal val="visible"/>
                                      </p:to>
                                    </p:set>
                                    <p:animEffect transition="in" filter="wipe(left)">
                                      <p:cBhvr>
                                        <p:cTn id="52" dur="500"/>
                                        <p:tgtEl>
                                          <p:spTgt spid="557062">
                                            <p:txEl>
                                              <p:pRg st="2" end="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57062">
                                            <p:txEl>
                                              <p:pRg st="3" end="3"/>
                                            </p:txEl>
                                          </p:spTgt>
                                        </p:tgtEl>
                                        <p:attrNameLst>
                                          <p:attrName>style.visibility</p:attrName>
                                        </p:attrNameLst>
                                      </p:cBhvr>
                                      <p:to>
                                        <p:strVal val="visible"/>
                                      </p:to>
                                    </p:set>
                                    <p:animEffect transition="in" filter="wipe(left)">
                                      <p:cBhvr>
                                        <p:cTn id="57" dur="500"/>
                                        <p:tgtEl>
                                          <p:spTgt spid="5570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61" grpId="0" animBg="1" autoUpdateAnimBg="0"/>
      <p:bldP spid="557062" grpId="0" build="p" animBg="1" autoUpdateAnimBg="0"/>
      <p:bldP spid="557064" grpId="0" animBg="1" autoUpdateAnimBg="0"/>
      <p:bldP spid="557068" grpId="0" animBg="1" autoUpdateAnimBg="0"/>
      <p:bldP spid="55706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558083" name="Rectangle 3"/>
          <p:cNvSpPr>
            <a:spLocks noChangeArrowheads="1"/>
          </p:cNvSpPr>
          <p:nvPr/>
        </p:nvSpPr>
        <p:spPr bwMode="auto">
          <a:xfrm>
            <a:off x="2138436" y="5208688"/>
            <a:ext cx="777398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2286000" lvl="4" indent="-457200">
              <a:buClr>
                <a:schemeClr val="hlink"/>
              </a:buClr>
              <a:buFont typeface="Wingdings" pitchFamily="2" charset="2"/>
              <a:buAutoNum type="arabicParenR" startAt="4"/>
            </a:pPr>
            <a:r>
              <a:rPr lang="zh-CN" altLang="zh-CN" sz="3200" b="1" dirty="0">
                <a:latin typeface="Times New Roman" pitchFamily="18" charset="0"/>
              </a:rPr>
              <a:t>可在复合语句中定义有效变量</a:t>
            </a:r>
          </a:p>
        </p:txBody>
      </p:sp>
      <p:sp>
        <p:nvSpPr>
          <p:cNvPr id="24581" name="Rectangle 4"/>
          <p:cNvSpPr>
            <a:spLocks noChangeArrowheads="1"/>
          </p:cNvSpPr>
          <p:nvPr/>
        </p:nvSpPr>
        <p:spPr bwMode="auto">
          <a:xfrm>
            <a:off x="3996186" y="4406776"/>
            <a:ext cx="594518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startAt="3"/>
            </a:pPr>
            <a:r>
              <a:rPr lang="zh-CN" altLang="en-US" sz="3200" b="1" dirty="0">
                <a:latin typeface="Times New Roman" pitchFamily="18" charset="0"/>
              </a:rPr>
              <a:t>各函数中同名变量是不同对象</a:t>
            </a:r>
          </a:p>
        </p:txBody>
      </p:sp>
      <p:sp>
        <p:nvSpPr>
          <p:cNvPr id="24582" name="Rectangle 5"/>
          <p:cNvSpPr>
            <a:spLocks noChangeArrowheads="1"/>
          </p:cNvSpPr>
          <p:nvPr/>
        </p:nvSpPr>
        <p:spPr bwMode="auto">
          <a:xfrm>
            <a:off x="3985073" y="3645025"/>
            <a:ext cx="47212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startAt="2"/>
            </a:pPr>
            <a:r>
              <a:rPr lang="zh-CN" altLang="en-US" sz="3200" b="1" dirty="0">
                <a:latin typeface="Times New Roman" pitchFamily="18" charset="0"/>
              </a:rPr>
              <a:t>形式参数也是局部变量</a:t>
            </a:r>
          </a:p>
        </p:txBody>
      </p:sp>
      <p:sp>
        <p:nvSpPr>
          <p:cNvPr id="24583" name="Rectangle 6"/>
          <p:cNvSpPr>
            <a:spLocks noChangeArrowheads="1"/>
          </p:cNvSpPr>
          <p:nvPr/>
        </p:nvSpPr>
        <p:spPr bwMode="auto">
          <a:xfrm>
            <a:off x="1356173" y="2903861"/>
            <a:ext cx="74707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lgn="l"/>
            <a:r>
              <a:rPr lang="zh-CN" altLang="en-US" sz="3200" b="1" dirty="0">
                <a:solidFill>
                  <a:srgbClr val="C00000"/>
                </a:solidFill>
              </a:rPr>
              <a:t>说明：</a:t>
            </a:r>
          </a:p>
        </p:txBody>
      </p:sp>
      <p:sp>
        <p:nvSpPr>
          <p:cNvPr id="24584" name="Rectangle 7"/>
          <p:cNvSpPr>
            <a:spLocks noChangeArrowheads="1"/>
          </p:cNvSpPr>
          <p:nvPr/>
        </p:nvSpPr>
        <p:spPr bwMode="auto">
          <a:xfrm>
            <a:off x="3985072" y="2878460"/>
            <a:ext cx="5537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各局部变量只在本函数有效</a:t>
            </a:r>
          </a:p>
        </p:txBody>
      </p:sp>
      <p:sp>
        <p:nvSpPr>
          <p:cNvPr id="24585" name="Rectangle 8"/>
          <p:cNvSpPr>
            <a:spLocks noChangeArrowheads="1"/>
          </p:cNvSpPr>
          <p:nvPr/>
        </p:nvSpPr>
        <p:spPr bwMode="auto">
          <a:xfrm>
            <a:off x="1419226" y="1170764"/>
            <a:ext cx="8583613"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局部变量</a:t>
            </a:r>
            <a:endParaRPr lang="zh-CN" altLang="zh-CN" sz="3600" b="1" dirty="0">
              <a:solidFill>
                <a:srgbClr val="C00000"/>
              </a:solidFill>
              <a:latin typeface="Times New Roman" pitchFamily="18" charset="0"/>
            </a:endParaRPr>
          </a:p>
        </p:txBody>
      </p:sp>
      <p:sp>
        <p:nvSpPr>
          <p:cNvPr id="24586" name="Rectangle 9"/>
          <p:cNvSpPr>
            <a:spLocks noChangeArrowheads="1"/>
          </p:cNvSpPr>
          <p:nvPr/>
        </p:nvSpPr>
        <p:spPr bwMode="auto">
          <a:xfrm>
            <a:off x="2730500" y="2009529"/>
            <a:ext cx="54879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a:solidFill>
                  <a:srgbClr val="C00000"/>
                </a:solidFill>
              </a:rPr>
              <a:t>定义：</a:t>
            </a:r>
            <a:r>
              <a:rPr lang="zh-CN" altLang="en-US" sz="3200" b="1" dirty="0"/>
              <a:t>在函数内部定义的变量</a:t>
            </a:r>
          </a:p>
        </p:txBody>
      </p:sp>
      <p:sp>
        <p:nvSpPr>
          <p:cNvPr id="11" name="矩形 10"/>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113113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85"/>
                                        </p:tgtEl>
                                        <p:attrNameLst>
                                          <p:attrName>style.visibility</p:attrName>
                                        </p:attrNameLst>
                                      </p:cBhvr>
                                      <p:to>
                                        <p:strVal val="visible"/>
                                      </p:to>
                                    </p:set>
                                    <p:animEffect transition="in" filter="fade">
                                      <p:cBhvr>
                                        <p:cTn id="7" dur="500"/>
                                        <p:tgtEl>
                                          <p:spTgt spid="245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586"/>
                                        </p:tgtEl>
                                        <p:attrNameLst>
                                          <p:attrName>style.visibility</p:attrName>
                                        </p:attrNameLst>
                                      </p:cBhvr>
                                      <p:to>
                                        <p:strVal val="visible"/>
                                      </p:to>
                                    </p:set>
                                    <p:animEffect transition="in" filter="fade">
                                      <p:cBhvr>
                                        <p:cTn id="12" dur="500"/>
                                        <p:tgtEl>
                                          <p:spTgt spid="245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583"/>
                                        </p:tgtEl>
                                        <p:attrNameLst>
                                          <p:attrName>style.visibility</p:attrName>
                                        </p:attrNameLst>
                                      </p:cBhvr>
                                      <p:to>
                                        <p:strVal val="visible"/>
                                      </p:to>
                                    </p:set>
                                    <p:animEffect transition="in" filter="fade">
                                      <p:cBhvr>
                                        <p:cTn id="17" dur="500"/>
                                        <p:tgtEl>
                                          <p:spTgt spid="2458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584"/>
                                        </p:tgtEl>
                                        <p:attrNameLst>
                                          <p:attrName>style.visibility</p:attrName>
                                        </p:attrNameLst>
                                      </p:cBhvr>
                                      <p:to>
                                        <p:strVal val="visible"/>
                                      </p:to>
                                    </p:set>
                                    <p:animEffect transition="in" filter="fade">
                                      <p:cBhvr>
                                        <p:cTn id="22" dur="500"/>
                                        <p:tgtEl>
                                          <p:spTgt spid="2458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582"/>
                                        </p:tgtEl>
                                        <p:attrNameLst>
                                          <p:attrName>style.visibility</p:attrName>
                                        </p:attrNameLst>
                                      </p:cBhvr>
                                      <p:to>
                                        <p:strVal val="visible"/>
                                      </p:to>
                                    </p:set>
                                    <p:animEffect transition="in" filter="fade">
                                      <p:cBhvr>
                                        <p:cTn id="27" dur="500"/>
                                        <p:tgtEl>
                                          <p:spTgt spid="2458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581"/>
                                        </p:tgtEl>
                                        <p:attrNameLst>
                                          <p:attrName>style.visibility</p:attrName>
                                        </p:attrNameLst>
                                      </p:cBhvr>
                                      <p:to>
                                        <p:strVal val="visible"/>
                                      </p:to>
                                    </p:set>
                                    <p:animEffect transition="in" filter="fade">
                                      <p:cBhvr>
                                        <p:cTn id="32" dur="500"/>
                                        <p:tgtEl>
                                          <p:spTgt spid="2458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58083"/>
                                        </p:tgtEl>
                                        <p:attrNameLst>
                                          <p:attrName>style.visibility</p:attrName>
                                        </p:attrNameLst>
                                      </p:cBhvr>
                                      <p:to>
                                        <p:strVal val="visible"/>
                                      </p:to>
                                    </p:set>
                                    <p:animEffect transition="in" filter="fade">
                                      <p:cBhvr>
                                        <p:cTn id="37" dur="500"/>
                                        <p:tgtEl>
                                          <p:spTgt spid="558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3" grpId="0"/>
      <p:bldP spid="24581" grpId="0"/>
      <p:bldP spid="24582" grpId="0"/>
      <p:bldP spid="24583" grpId="0"/>
      <p:bldP spid="24584" grpId="0"/>
      <p:bldP spid="24585" grpId="0"/>
      <p:bldP spid="2458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sp>
        <p:nvSpPr>
          <p:cNvPr id="559106" name="Text Box 2"/>
          <p:cNvSpPr txBox="1">
            <a:spLocks noChangeArrowheads="1"/>
          </p:cNvSpPr>
          <p:nvPr/>
        </p:nvSpPr>
        <p:spPr bwMode="auto">
          <a:xfrm>
            <a:off x="3111500" y="1045864"/>
            <a:ext cx="5803900" cy="5509200"/>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r>
              <a:rPr lang="en-US" altLang="zh-CN" b="1" dirty="0">
                <a:latin typeface="Times New Roman" pitchFamily="18" charset="0"/>
              </a:rPr>
              <a:t>#include "</a:t>
            </a:r>
            <a:r>
              <a:rPr lang="en-US" altLang="zh-CN" b="1" dirty="0" err="1">
                <a:latin typeface="Times New Roman" pitchFamily="18" charset="0"/>
              </a:rPr>
              <a:t>stdio.h</a:t>
            </a:r>
            <a:r>
              <a:rPr lang="en-US" altLang="zh-CN" b="1" dirty="0">
                <a:latin typeface="Times New Roman" pitchFamily="18" charset="0"/>
              </a:rPr>
              <a:t>"</a:t>
            </a:r>
          </a:p>
          <a:p>
            <a:pPr algn="l" eaLnBrk="0" hangingPunct="0"/>
            <a:r>
              <a:rPr lang="en-US" altLang="zh-CN" b="1" dirty="0">
                <a:latin typeface="Times New Roman" pitchFamily="18" charset="0"/>
              </a:rPr>
              <a:t>#define  N  5</a:t>
            </a:r>
          </a:p>
          <a:p>
            <a:pPr algn="l" eaLnBrk="0" hangingPunct="0"/>
            <a:r>
              <a:rPr lang="en-US" altLang="zh-CN" b="1" dirty="0">
                <a:latin typeface="Times New Roman" pitchFamily="18" charset="0"/>
              </a:rPr>
              <a:t>main(  )</a:t>
            </a:r>
          </a:p>
          <a:p>
            <a:pPr algn="l" eaLnBrk="0" hangingPunct="0"/>
            <a:r>
              <a:rPr lang="en-US" altLang="zh-CN" b="1" dirty="0">
                <a:latin typeface="Times New Roman" pitchFamily="18" charset="0"/>
              </a:rPr>
              <a:t>{   </a:t>
            </a:r>
            <a:r>
              <a:rPr lang="en-US" altLang="zh-CN" b="1" dirty="0" err="1">
                <a:latin typeface="Times New Roman" pitchFamily="18" charset="0"/>
              </a:rPr>
              <a:t>int</a:t>
            </a:r>
            <a:r>
              <a:rPr lang="en-US" altLang="zh-CN" b="1" dirty="0">
                <a:latin typeface="Times New Roman" pitchFamily="18" charset="0"/>
              </a:rPr>
              <a:t> </a:t>
            </a:r>
            <a:r>
              <a:rPr lang="en-US" altLang="zh-CN" b="1" dirty="0" err="1">
                <a:latin typeface="Times New Roman" pitchFamily="18" charset="0"/>
              </a:rPr>
              <a:t>i</a:t>
            </a:r>
            <a:r>
              <a:rPr lang="en-US" altLang="zh-CN" b="1" dirty="0">
                <a:latin typeface="Times New Roman" pitchFamily="18" charset="0"/>
              </a:rPr>
              <a:t>, a[N]={1,2,3,4,5};</a:t>
            </a:r>
          </a:p>
          <a:p>
            <a:pPr algn="l" eaLnBrk="0" hangingPunct="0"/>
            <a:r>
              <a:rPr lang="en-US" altLang="zh-CN" b="1" dirty="0">
                <a:latin typeface="Times New Roman" pitchFamily="18" charset="0"/>
              </a:rPr>
              <a:t>    for(</a:t>
            </a:r>
            <a:r>
              <a:rPr lang="en-US" altLang="zh-CN" b="1" dirty="0" err="1">
                <a:latin typeface="Times New Roman" pitchFamily="18" charset="0"/>
              </a:rPr>
              <a:t>i</a:t>
            </a:r>
            <a:r>
              <a:rPr lang="en-US" altLang="zh-CN" b="1" dirty="0">
                <a:latin typeface="Times New Roman" pitchFamily="18" charset="0"/>
              </a:rPr>
              <a:t>=0;i&lt;N/2;i++)</a:t>
            </a:r>
          </a:p>
          <a:p>
            <a:pPr algn="l" eaLnBrk="0" hangingPunct="0"/>
            <a:r>
              <a:rPr lang="en-US" altLang="zh-CN" b="1" dirty="0">
                <a:solidFill>
                  <a:srgbClr val="C00000"/>
                </a:solidFill>
                <a:latin typeface="Times New Roman" pitchFamily="18" charset="0"/>
              </a:rPr>
              <a:t>    {     </a:t>
            </a:r>
            <a:r>
              <a:rPr lang="en-US" altLang="zh-CN" b="1" dirty="0" err="1">
                <a:solidFill>
                  <a:srgbClr val="C00000"/>
                </a:solidFill>
                <a:latin typeface="Times New Roman" pitchFamily="18" charset="0"/>
              </a:rPr>
              <a:t>int</a:t>
            </a:r>
            <a:r>
              <a:rPr lang="en-US" altLang="zh-CN" b="1" dirty="0">
                <a:solidFill>
                  <a:srgbClr val="C00000"/>
                </a:solidFill>
                <a:latin typeface="Times New Roman" pitchFamily="18" charset="0"/>
              </a:rPr>
              <a:t> t;</a:t>
            </a:r>
          </a:p>
          <a:p>
            <a:pPr algn="l" eaLnBrk="0" hangingPunct="0"/>
            <a:r>
              <a:rPr lang="en-US" altLang="zh-CN" b="1" dirty="0">
                <a:latin typeface="Times New Roman" pitchFamily="18" charset="0"/>
              </a:rPr>
              <a:t>          t=a[</a:t>
            </a:r>
            <a:r>
              <a:rPr lang="en-US" altLang="zh-CN" b="1" dirty="0" err="1">
                <a:latin typeface="Times New Roman" pitchFamily="18" charset="0"/>
              </a:rPr>
              <a:t>i</a:t>
            </a:r>
            <a:r>
              <a:rPr lang="en-US" altLang="zh-CN" b="1" dirty="0">
                <a:latin typeface="Times New Roman" pitchFamily="18" charset="0"/>
              </a:rPr>
              <a:t>];</a:t>
            </a:r>
          </a:p>
          <a:p>
            <a:pPr algn="l" eaLnBrk="0" hangingPunct="0"/>
            <a:r>
              <a:rPr lang="en-US" altLang="zh-CN" b="1" dirty="0">
                <a:latin typeface="Times New Roman" pitchFamily="18" charset="0"/>
              </a:rPr>
              <a:t>          a[</a:t>
            </a:r>
            <a:r>
              <a:rPr lang="en-US" altLang="zh-CN" b="1" dirty="0" err="1">
                <a:latin typeface="Times New Roman" pitchFamily="18" charset="0"/>
              </a:rPr>
              <a:t>i</a:t>
            </a:r>
            <a:r>
              <a:rPr lang="en-US" altLang="zh-CN" b="1" dirty="0">
                <a:latin typeface="Times New Roman" pitchFamily="18" charset="0"/>
              </a:rPr>
              <a:t>]=a[N-i-1];</a:t>
            </a:r>
          </a:p>
          <a:p>
            <a:pPr algn="l" eaLnBrk="0" hangingPunct="0"/>
            <a:r>
              <a:rPr lang="en-US" altLang="zh-CN" b="1" dirty="0">
                <a:latin typeface="Times New Roman" pitchFamily="18" charset="0"/>
              </a:rPr>
              <a:t>          a[N-i-1]=t; </a:t>
            </a:r>
            <a:r>
              <a:rPr lang="en-US" altLang="zh-CN" b="1" dirty="0">
                <a:solidFill>
                  <a:srgbClr val="C00000"/>
                </a:solidFill>
                <a:latin typeface="Times New Roman" pitchFamily="18" charset="0"/>
              </a:rPr>
              <a:t>    }</a:t>
            </a:r>
          </a:p>
          <a:p>
            <a:pPr algn="l" eaLnBrk="0" hangingPunct="0"/>
            <a:r>
              <a:rPr lang="en-US" altLang="zh-CN" b="1" dirty="0">
                <a:latin typeface="Times New Roman" pitchFamily="18" charset="0"/>
              </a:rPr>
              <a:t>    for(</a:t>
            </a:r>
            <a:r>
              <a:rPr lang="en-US" altLang="zh-CN" b="1" dirty="0" err="1">
                <a:latin typeface="Times New Roman" pitchFamily="18" charset="0"/>
              </a:rPr>
              <a:t>i</a:t>
            </a:r>
            <a:r>
              <a:rPr lang="en-US" altLang="zh-CN" b="1" dirty="0">
                <a:latin typeface="Times New Roman" pitchFamily="18" charset="0"/>
              </a:rPr>
              <a:t>=0;i&lt;</a:t>
            </a:r>
            <a:r>
              <a:rPr lang="en-US" altLang="zh-CN" b="1" dirty="0" err="1">
                <a:latin typeface="Times New Roman" pitchFamily="18" charset="0"/>
              </a:rPr>
              <a:t>N;i</a:t>
            </a:r>
            <a:r>
              <a:rPr lang="en-US" altLang="zh-CN" b="1" dirty="0">
                <a:latin typeface="Times New Roman" pitchFamily="18" charset="0"/>
              </a:rPr>
              <a:t>++)</a:t>
            </a:r>
          </a:p>
          <a:p>
            <a:pPr algn="l" eaLnBrk="0" hangingPunct="0"/>
            <a:r>
              <a:rPr lang="en-US" altLang="zh-CN" b="1" dirty="0">
                <a:latin typeface="Times New Roman" pitchFamily="18" charset="0"/>
              </a:rPr>
              <a:t>         </a:t>
            </a:r>
            <a:r>
              <a:rPr lang="en-US" altLang="zh-CN" b="1" dirty="0" err="1">
                <a:latin typeface="Times New Roman" pitchFamily="18" charset="0"/>
              </a:rPr>
              <a:t>printf</a:t>
            </a:r>
            <a:r>
              <a:rPr lang="en-US" altLang="zh-CN" b="1" dirty="0">
                <a:latin typeface="Times New Roman" pitchFamily="18" charset="0"/>
              </a:rPr>
              <a:t>("%d\</a:t>
            </a:r>
            <a:r>
              <a:rPr lang="en-US" altLang="zh-CN" b="1" dirty="0" err="1">
                <a:latin typeface="Times New Roman" pitchFamily="18" charset="0"/>
              </a:rPr>
              <a:t>n",a</a:t>
            </a:r>
            <a:r>
              <a:rPr lang="en-US" altLang="zh-CN" b="1" dirty="0">
                <a:latin typeface="Times New Roman" pitchFamily="18" charset="0"/>
              </a:rPr>
              <a:t>[</a:t>
            </a:r>
            <a:r>
              <a:rPr lang="en-US" altLang="zh-CN" b="1" dirty="0" err="1">
                <a:latin typeface="Times New Roman" pitchFamily="18" charset="0"/>
              </a:rPr>
              <a:t>i</a:t>
            </a:r>
            <a:r>
              <a:rPr lang="en-US" altLang="zh-CN" b="1" dirty="0">
                <a:latin typeface="Times New Roman" pitchFamily="18" charset="0"/>
              </a:rPr>
              <a:t>]);      }</a:t>
            </a:r>
          </a:p>
        </p:txBody>
      </p:sp>
      <p:sp>
        <p:nvSpPr>
          <p:cNvPr id="25604" name="Rectangle 3"/>
          <p:cNvSpPr>
            <a:spLocks noChangeArrowheads="1"/>
          </p:cNvSpPr>
          <p:nvPr/>
        </p:nvSpPr>
        <p:spPr bwMode="auto">
          <a:xfrm>
            <a:off x="2857500" y="154485"/>
            <a:ext cx="6248400" cy="771623"/>
          </a:xfrm>
          <a:prstGeom prst="rect">
            <a:avLst/>
          </a:prstGeom>
          <a:solidFill>
            <a:schemeClr val="lt1"/>
          </a:solidFill>
          <a:effectLst/>
          <a:extLst/>
        </p:spPr>
        <p:txBody>
          <a:bodyPr vert="horz" lIns="91440" tIns="45720" rIns="91440" bIns="45720" rtlCol="0" anchor="ctr">
            <a:noAutofit/>
          </a:bodyPr>
          <a:lstStyle/>
          <a:p>
            <a:pPr algn="ctr">
              <a:spcBef>
                <a:spcPct val="0"/>
              </a:spcBef>
            </a:pPr>
            <a:r>
              <a:rPr lang="zh-CN" altLang="en-US" sz="4400" b="1" dirty="0">
                <a:solidFill>
                  <a:srgbClr val="800000"/>
                </a:solidFill>
                <a:effectLst>
                  <a:outerShdw blurRad="38100" dist="38100" dir="2700000" algn="tl">
                    <a:srgbClr val="000000"/>
                  </a:outerShdw>
                </a:effectLst>
                <a:latin typeface="Arial" pitchFamily="34" charset="0"/>
                <a:ea typeface="黑体" pitchFamily="49" charset="-122"/>
                <a:cs typeface="+mj-cs"/>
              </a:rPr>
              <a:t>复合语句中定义的变量</a:t>
            </a:r>
          </a:p>
        </p:txBody>
      </p:sp>
      <p:sp>
        <p:nvSpPr>
          <p:cNvPr id="559108" name="AutoShape 4"/>
          <p:cNvSpPr>
            <a:spLocks/>
          </p:cNvSpPr>
          <p:nvPr/>
        </p:nvSpPr>
        <p:spPr bwMode="auto">
          <a:xfrm>
            <a:off x="7061200" y="3729608"/>
            <a:ext cx="228600" cy="1600200"/>
          </a:xfrm>
          <a:prstGeom prst="rightBrace">
            <a:avLst>
              <a:gd name="adj1" fmla="val 58333"/>
              <a:gd name="adj2" fmla="val 50000"/>
            </a:avLst>
          </a:prstGeom>
          <a:noFill/>
          <a:ln w="3810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000" b="1">
              <a:solidFill>
                <a:srgbClr val="C00000"/>
              </a:solidFill>
              <a:latin typeface="Times New Roman" pitchFamily="18" charset="0"/>
              <a:ea typeface="宋体" charset="-122"/>
            </a:endParaRPr>
          </a:p>
        </p:txBody>
      </p:sp>
      <p:sp>
        <p:nvSpPr>
          <p:cNvPr id="559109" name="Text Box 5"/>
          <p:cNvSpPr txBox="1">
            <a:spLocks noChangeArrowheads="1"/>
          </p:cNvSpPr>
          <p:nvPr/>
        </p:nvSpPr>
        <p:spPr bwMode="auto">
          <a:xfrm>
            <a:off x="7289800" y="3929063"/>
            <a:ext cx="533400" cy="160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nSpc>
                <a:spcPct val="80000"/>
              </a:lnSpc>
            </a:pPr>
            <a:r>
              <a:rPr lang="en-US" altLang="zh-CN" b="1" dirty="0">
                <a:latin typeface="Times New Roman" pitchFamily="18" charset="0"/>
                <a:ea typeface="隶书" pitchFamily="49" charset="-122"/>
              </a:rPr>
              <a:t> t</a:t>
            </a:r>
          </a:p>
          <a:p>
            <a:pPr>
              <a:lnSpc>
                <a:spcPct val="80000"/>
              </a:lnSpc>
            </a:pPr>
            <a:r>
              <a:rPr lang="zh-CN" altLang="zh-CN" b="1" dirty="0">
                <a:latin typeface="+mn-ea"/>
                <a:ea typeface="+mn-ea"/>
              </a:rPr>
              <a:t>有</a:t>
            </a:r>
            <a:endParaRPr lang="zh-CN" altLang="en-US" b="1" dirty="0">
              <a:latin typeface="+mn-ea"/>
              <a:ea typeface="+mn-ea"/>
            </a:endParaRPr>
          </a:p>
          <a:p>
            <a:pPr>
              <a:lnSpc>
                <a:spcPct val="80000"/>
              </a:lnSpc>
            </a:pPr>
            <a:r>
              <a:rPr lang="zh-CN" altLang="zh-CN" b="1" dirty="0">
                <a:latin typeface="+mn-ea"/>
                <a:ea typeface="+mn-ea"/>
              </a:rPr>
              <a:t>效</a:t>
            </a:r>
            <a:endParaRPr lang="zh-CN" altLang="en-US" b="1" dirty="0">
              <a:latin typeface="+mn-ea"/>
              <a:ea typeface="+mn-ea"/>
            </a:endParaRPr>
          </a:p>
        </p:txBody>
      </p:sp>
    </p:spTree>
    <p:extLst>
      <p:ext uri="{BB962C8B-B14F-4D97-AF65-F5344CB8AC3E}">
        <p14:creationId xmlns:p14="http://schemas.microsoft.com/office/powerpoint/2010/main" val="6048156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9106"/>
                                        </p:tgtEl>
                                        <p:attrNameLst>
                                          <p:attrName>style.visibility</p:attrName>
                                        </p:attrNameLst>
                                      </p:cBhvr>
                                      <p:to>
                                        <p:strVal val="visible"/>
                                      </p:to>
                                    </p:set>
                                    <p:animEffect transition="in" filter="dissolve">
                                      <p:cBhvr>
                                        <p:cTn id="7" dur="500"/>
                                        <p:tgtEl>
                                          <p:spTgt spid="5591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59108"/>
                                        </p:tgtEl>
                                        <p:attrNameLst>
                                          <p:attrName>style.visibility</p:attrName>
                                        </p:attrNameLst>
                                      </p:cBhvr>
                                      <p:to>
                                        <p:strVal val="visible"/>
                                      </p:to>
                                    </p:set>
                                    <p:animEffect transition="in" filter="box(in)">
                                      <p:cBhvr>
                                        <p:cTn id="12" dur="500"/>
                                        <p:tgtEl>
                                          <p:spTgt spid="5591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9109"/>
                                        </p:tgtEl>
                                        <p:attrNameLst>
                                          <p:attrName>style.visibility</p:attrName>
                                        </p:attrNameLst>
                                      </p:cBhvr>
                                      <p:to>
                                        <p:strVal val="visible"/>
                                      </p:to>
                                    </p:set>
                                    <p:animEffect transition="in" filter="wipe(up)">
                                      <p:cBhvr>
                                        <p:cTn id="17" dur="500"/>
                                        <p:tgtEl>
                                          <p:spTgt spid="559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6" grpId="0" animBg="1" autoUpdateAnimBg="0"/>
      <p:bldP spid="559108" grpId="0" animBg="1" autoUpdateAnimBg="0"/>
      <p:bldP spid="559109"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sp>
        <p:nvSpPr>
          <p:cNvPr id="560130" name="Rectangle 2"/>
          <p:cNvSpPr>
            <a:spLocks noChangeArrowheads="1"/>
          </p:cNvSpPr>
          <p:nvPr/>
        </p:nvSpPr>
        <p:spPr bwMode="auto">
          <a:xfrm>
            <a:off x="2286000" y="962025"/>
            <a:ext cx="8001000"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zh-CN" altLang="en-US" sz="3600" b="1" dirty="0">
                <a:latin typeface="Times New Roman" pitchFamily="18" charset="0"/>
              </a:rPr>
              <a:t>下面程序最后是否能打印出</a:t>
            </a:r>
            <a:r>
              <a:rPr lang="en-US" altLang="zh-CN" sz="3600" b="1" dirty="0">
                <a:latin typeface="Times New Roman" pitchFamily="18" charset="0"/>
              </a:rPr>
              <a:t>t</a:t>
            </a:r>
            <a:r>
              <a:rPr lang="zh-CN" altLang="en-US" sz="3600" b="1" dirty="0">
                <a:latin typeface="Times New Roman" pitchFamily="18" charset="0"/>
              </a:rPr>
              <a:t>的值</a:t>
            </a:r>
            <a:r>
              <a:rPr lang="en-US" altLang="zh-CN" sz="3600" b="1" dirty="0">
                <a:latin typeface="Times New Roman" pitchFamily="18" charset="0"/>
              </a:rPr>
              <a:t>?</a:t>
            </a:r>
          </a:p>
        </p:txBody>
      </p:sp>
      <p:sp>
        <p:nvSpPr>
          <p:cNvPr id="560131" name="Text Box 3"/>
          <p:cNvSpPr txBox="1">
            <a:spLocks noChangeArrowheads="1"/>
          </p:cNvSpPr>
          <p:nvPr/>
        </p:nvSpPr>
        <p:spPr bwMode="auto">
          <a:xfrm>
            <a:off x="3581400" y="1668463"/>
            <a:ext cx="4724400" cy="4229100"/>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lnSpc>
                <a:spcPct val="70000"/>
              </a:lnSpc>
            </a:pPr>
            <a:r>
              <a:rPr lang="en-US" altLang="zh-CN" b="1" dirty="0">
                <a:latin typeface="Times New Roman" pitchFamily="18" charset="0"/>
              </a:rPr>
              <a:t>#include "</a:t>
            </a:r>
            <a:r>
              <a:rPr lang="en-US" altLang="zh-CN" b="1" dirty="0" err="1">
                <a:latin typeface="Times New Roman" pitchFamily="18" charset="0"/>
              </a:rPr>
              <a:t>stdio.h</a:t>
            </a:r>
            <a:r>
              <a:rPr lang="en-US" altLang="zh-CN" b="1" dirty="0">
                <a:latin typeface="Times New Roman" pitchFamily="18" charset="0"/>
              </a:rPr>
              <a:t>"</a:t>
            </a:r>
          </a:p>
          <a:p>
            <a:pPr algn="l" eaLnBrk="0" hangingPunct="0">
              <a:lnSpc>
                <a:spcPct val="70000"/>
              </a:lnSpc>
            </a:pPr>
            <a:r>
              <a:rPr lang="en-US" altLang="zh-CN" b="1" dirty="0">
                <a:latin typeface="Times New Roman" pitchFamily="18" charset="0"/>
              </a:rPr>
              <a:t>#define  N  5</a:t>
            </a:r>
          </a:p>
          <a:p>
            <a:pPr algn="l" eaLnBrk="0" hangingPunct="0">
              <a:lnSpc>
                <a:spcPct val="70000"/>
              </a:lnSpc>
            </a:pPr>
            <a:r>
              <a:rPr lang="en-US" altLang="zh-CN" b="1" dirty="0">
                <a:latin typeface="Times New Roman" pitchFamily="18" charset="0"/>
              </a:rPr>
              <a:t>main( )</a:t>
            </a:r>
          </a:p>
          <a:p>
            <a:pPr algn="l" eaLnBrk="0" hangingPunct="0">
              <a:lnSpc>
                <a:spcPct val="70000"/>
              </a:lnSpc>
            </a:pPr>
            <a:r>
              <a:rPr lang="en-US" altLang="zh-CN" b="1" dirty="0">
                <a:latin typeface="Times New Roman" pitchFamily="18" charset="0"/>
              </a:rPr>
              <a:t>{   </a:t>
            </a:r>
            <a:r>
              <a:rPr lang="en-US" altLang="zh-CN" b="1" dirty="0" err="1">
                <a:latin typeface="Times New Roman" pitchFamily="18" charset="0"/>
              </a:rPr>
              <a:t>int</a:t>
            </a:r>
            <a:r>
              <a:rPr lang="en-US" altLang="zh-CN" b="1" dirty="0">
                <a:latin typeface="Times New Roman" pitchFamily="18" charset="0"/>
              </a:rPr>
              <a:t> </a:t>
            </a:r>
            <a:r>
              <a:rPr lang="en-US" altLang="zh-CN" b="1" dirty="0" err="1">
                <a:latin typeface="Times New Roman" pitchFamily="18" charset="0"/>
              </a:rPr>
              <a:t>i</a:t>
            </a:r>
            <a:r>
              <a:rPr lang="en-US" altLang="zh-CN" b="1" dirty="0">
                <a:latin typeface="Times New Roman" pitchFamily="18" charset="0"/>
              </a:rPr>
              <a:t>, a[N]={1,2,3,4,5};</a:t>
            </a:r>
          </a:p>
          <a:p>
            <a:pPr algn="l" eaLnBrk="0" hangingPunct="0">
              <a:lnSpc>
                <a:spcPct val="70000"/>
              </a:lnSpc>
            </a:pPr>
            <a:r>
              <a:rPr lang="en-US" altLang="zh-CN" b="1" dirty="0">
                <a:latin typeface="Times New Roman" pitchFamily="18" charset="0"/>
              </a:rPr>
              <a:t>    for(</a:t>
            </a:r>
            <a:r>
              <a:rPr lang="en-US" altLang="zh-CN" b="1" dirty="0" err="1">
                <a:latin typeface="Times New Roman" pitchFamily="18" charset="0"/>
              </a:rPr>
              <a:t>i</a:t>
            </a:r>
            <a:r>
              <a:rPr lang="en-US" altLang="zh-CN" b="1" dirty="0">
                <a:latin typeface="Times New Roman" pitchFamily="18" charset="0"/>
              </a:rPr>
              <a:t>=0;i&lt;N/2;i++)</a:t>
            </a:r>
          </a:p>
          <a:p>
            <a:pPr algn="l" eaLnBrk="0" hangingPunct="0">
              <a:lnSpc>
                <a:spcPct val="70000"/>
              </a:lnSpc>
            </a:pPr>
            <a:r>
              <a:rPr lang="en-US" altLang="zh-CN" b="1" dirty="0">
                <a:latin typeface="Times New Roman" pitchFamily="18" charset="0"/>
              </a:rPr>
              <a:t>    </a:t>
            </a:r>
            <a:r>
              <a:rPr lang="en-US" altLang="zh-CN" b="1" dirty="0">
                <a:solidFill>
                  <a:srgbClr val="C00000"/>
                </a:solidFill>
                <a:latin typeface="Times New Roman" pitchFamily="18" charset="0"/>
              </a:rPr>
              <a:t>{     </a:t>
            </a:r>
            <a:r>
              <a:rPr lang="en-US" altLang="zh-CN" b="1" dirty="0" err="1">
                <a:solidFill>
                  <a:srgbClr val="C00000"/>
                </a:solidFill>
                <a:latin typeface="Times New Roman" pitchFamily="18" charset="0"/>
              </a:rPr>
              <a:t>int</a:t>
            </a:r>
            <a:r>
              <a:rPr lang="en-US" altLang="zh-CN" b="1" dirty="0">
                <a:solidFill>
                  <a:srgbClr val="C00000"/>
                </a:solidFill>
                <a:latin typeface="Times New Roman" pitchFamily="18" charset="0"/>
              </a:rPr>
              <a:t> t;</a:t>
            </a:r>
          </a:p>
          <a:p>
            <a:pPr algn="l" eaLnBrk="0" hangingPunct="0">
              <a:lnSpc>
                <a:spcPct val="70000"/>
              </a:lnSpc>
            </a:pPr>
            <a:r>
              <a:rPr lang="en-US" altLang="zh-CN" b="1" dirty="0">
                <a:latin typeface="Times New Roman" pitchFamily="18" charset="0"/>
              </a:rPr>
              <a:t>          t=a[</a:t>
            </a:r>
            <a:r>
              <a:rPr lang="en-US" altLang="zh-CN" b="1" dirty="0" err="1">
                <a:latin typeface="Times New Roman" pitchFamily="18" charset="0"/>
              </a:rPr>
              <a:t>i</a:t>
            </a:r>
            <a:r>
              <a:rPr lang="en-US" altLang="zh-CN" b="1" dirty="0">
                <a:latin typeface="Times New Roman" pitchFamily="18" charset="0"/>
              </a:rPr>
              <a:t>];</a:t>
            </a:r>
          </a:p>
          <a:p>
            <a:pPr algn="l" eaLnBrk="0" hangingPunct="0">
              <a:lnSpc>
                <a:spcPct val="70000"/>
              </a:lnSpc>
            </a:pPr>
            <a:r>
              <a:rPr lang="en-US" altLang="zh-CN" b="1" dirty="0">
                <a:latin typeface="Times New Roman" pitchFamily="18" charset="0"/>
              </a:rPr>
              <a:t>          a[</a:t>
            </a:r>
            <a:r>
              <a:rPr lang="en-US" altLang="zh-CN" b="1" dirty="0" err="1">
                <a:latin typeface="Times New Roman" pitchFamily="18" charset="0"/>
              </a:rPr>
              <a:t>i</a:t>
            </a:r>
            <a:r>
              <a:rPr lang="en-US" altLang="zh-CN" b="1" dirty="0">
                <a:latin typeface="Times New Roman" pitchFamily="18" charset="0"/>
              </a:rPr>
              <a:t>]=a[N-i-1];</a:t>
            </a:r>
          </a:p>
          <a:p>
            <a:pPr algn="l" eaLnBrk="0" hangingPunct="0">
              <a:lnSpc>
                <a:spcPct val="70000"/>
              </a:lnSpc>
            </a:pPr>
            <a:r>
              <a:rPr lang="en-US" altLang="zh-CN" b="1" dirty="0">
                <a:latin typeface="Times New Roman" pitchFamily="18" charset="0"/>
              </a:rPr>
              <a:t>          a[N-i-1]=t;</a:t>
            </a:r>
          </a:p>
          <a:p>
            <a:pPr algn="l" eaLnBrk="0" hangingPunct="0">
              <a:lnSpc>
                <a:spcPct val="70000"/>
              </a:lnSpc>
            </a:pPr>
            <a:r>
              <a:rPr lang="en-US" altLang="zh-CN" b="1" dirty="0">
                <a:solidFill>
                  <a:srgbClr val="C00000"/>
                </a:solidFill>
                <a:latin typeface="Times New Roman" pitchFamily="18" charset="0"/>
              </a:rPr>
              <a:t>    }</a:t>
            </a:r>
          </a:p>
          <a:p>
            <a:pPr algn="l" eaLnBrk="0" hangingPunct="0">
              <a:lnSpc>
                <a:spcPct val="70000"/>
              </a:lnSpc>
            </a:pPr>
            <a:r>
              <a:rPr lang="zh-CN" altLang="en-US" b="1" dirty="0">
                <a:latin typeface="Times New Roman" pitchFamily="18" charset="0"/>
              </a:rPr>
              <a:t>　</a:t>
            </a:r>
            <a:r>
              <a:rPr lang="en-US" altLang="zh-CN" b="1" dirty="0" err="1">
                <a:latin typeface="Times New Roman" pitchFamily="18" charset="0"/>
              </a:rPr>
              <a:t>printf</a:t>
            </a:r>
            <a:r>
              <a:rPr lang="en-US" altLang="zh-CN" b="1" dirty="0">
                <a:latin typeface="Times New Roman" pitchFamily="18" charset="0"/>
              </a:rPr>
              <a:t>("%d\</a:t>
            </a:r>
            <a:r>
              <a:rPr lang="en-US" altLang="zh-CN" b="1" dirty="0" err="1">
                <a:latin typeface="Times New Roman" pitchFamily="18" charset="0"/>
              </a:rPr>
              <a:t>n",t</a:t>
            </a:r>
            <a:r>
              <a:rPr lang="en-US" altLang="zh-CN" b="1" dirty="0">
                <a:latin typeface="Times New Roman" pitchFamily="18" charset="0"/>
              </a:rPr>
              <a:t>);</a:t>
            </a:r>
          </a:p>
          <a:p>
            <a:pPr algn="l" eaLnBrk="0" hangingPunct="0">
              <a:lnSpc>
                <a:spcPct val="70000"/>
              </a:lnSpc>
            </a:pPr>
            <a:r>
              <a:rPr lang="en-US" altLang="zh-CN" b="1" dirty="0">
                <a:latin typeface="Times New Roman" pitchFamily="18" charset="0"/>
              </a:rPr>
              <a:t>}</a:t>
            </a:r>
          </a:p>
        </p:txBody>
      </p:sp>
      <p:sp>
        <p:nvSpPr>
          <p:cNvPr id="560132" name="Rectangle 4"/>
          <p:cNvSpPr>
            <a:spLocks noChangeArrowheads="1"/>
          </p:cNvSpPr>
          <p:nvPr/>
        </p:nvSpPr>
        <p:spPr bwMode="auto">
          <a:xfrm>
            <a:off x="2783466" y="6029673"/>
            <a:ext cx="7351134" cy="584775"/>
          </a:xfrm>
          <a:prstGeom prst="rect">
            <a:avLst/>
          </a:prstGeom>
          <a:solidFill>
            <a:schemeClr val="bg1"/>
          </a:solidFill>
          <a:ln>
            <a:noFill/>
          </a:ln>
          <a:effectLst/>
        </p:spPr>
        <p:txBody>
          <a:bodyPr wrap="square">
            <a:spAutoFit/>
          </a:bodyPr>
          <a:lstStyle/>
          <a:p>
            <a:r>
              <a:rPr lang="es-ES" altLang="zh-CN" sz="3200" b="1" dirty="0">
                <a:solidFill>
                  <a:srgbClr val="C00000"/>
                </a:solidFill>
                <a:latin typeface="Times New Roman" pitchFamily="18" charset="0"/>
              </a:rPr>
              <a:t>error C2065: 't' : undeclared identifier</a:t>
            </a:r>
            <a:endParaRPr lang="en-US" altLang="zh-CN" sz="3200" b="1" dirty="0">
              <a:solidFill>
                <a:srgbClr val="C00000"/>
              </a:solidFill>
              <a:latin typeface="Times New Roman" pitchFamily="18" charset="0"/>
            </a:endParaRPr>
          </a:p>
        </p:txBody>
      </p:sp>
      <p:sp>
        <p:nvSpPr>
          <p:cNvPr id="26630" name="Rectangle 5"/>
          <p:cNvSpPr>
            <a:spLocks noChangeArrowheads="1"/>
          </p:cNvSpPr>
          <p:nvPr/>
        </p:nvSpPr>
        <p:spPr bwMode="auto">
          <a:xfrm>
            <a:off x="4508500" y="180975"/>
            <a:ext cx="3200400" cy="762000"/>
          </a:xfrm>
          <a:prstGeom prst="rect">
            <a:avLst/>
          </a:prstGeom>
          <a:solidFill>
            <a:schemeClr val="lt1"/>
          </a:solidFill>
          <a:effectLst/>
          <a:extLst/>
        </p:spPr>
        <p:txBody>
          <a:bodyPr vert="horz" lIns="91440" tIns="45720" rIns="91440" bIns="45720" rtlCol="0" anchor="ctr">
            <a:noAutofit/>
          </a:bodyPr>
          <a:lstStyle/>
          <a:p>
            <a:pPr algn="ctr">
              <a:spcBef>
                <a:spcPct val="0"/>
              </a:spcBef>
            </a:pPr>
            <a:r>
              <a:rPr lang="zh-CN" altLang="en-US" sz="4400" b="1" dirty="0">
                <a:solidFill>
                  <a:srgbClr val="800000"/>
                </a:solidFill>
                <a:latin typeface="Arial" pitchFamily="34" charset="0"/>
                <a:ea typeface="黑体" pitchFamily="49" charset="-122"/>
                <a:cs typeface="+mj-cs"/>
              </a:rPr>
              <a:t>思   考   题</a:t>
            </a:r>
          </a:p>
        </p:txBody>
      </p:sp>
    </p:spTree>
    <p:extLst>
      <p:ext uri="{BB962C8B-B14F-4D97-AF65-F5344CB8AC3E}">
        <p14:creationId xmlns:p14="http://schemas.microsoft.com/office/powerpoint/2010/main" val="1390434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0130"/>
                                        </p:tgtEl>
                                        <p:attrNameLst>
                                          <p:attrName>style.visibility</p:attrName>
                                        </p:attrNameLst>
                                      </p:cBhvr>
                                      <p:to>
                                        <p:strVal val="visible"/>
                                      </p:to>
                                    </p:set>
                                    <p:animEffect transition="in" filter="wipe(left)">
                                      <p:cBhvr>
                                        <p:cTn id="7" dur="500"/>
                                        <p:tgtEl>
                                          <p:spTgt spid="560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60131"/>
                                        </p:tgtEl>
                                        <p:attrNameLst>
                                          <p:attrName>style.visibility</p:attrName>
                                        </p:attrNameLst>
                                      </p:cBhvr>
                                      <p:to>
                                        <p:strVal val="visible"/>
                                      </p:to>
                                    </p:set>
                                    <p:animEffect transition="in" filter="dissolve">
                                      <p:cBhvr>
                                        <p:cTn id="12" dur="500"/>
                                        <p:tgtEl>
                                          <p:spTgt spid="5601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60132"/>
                                        </p:tgtEl>
                                        <p:attrNameLst>
                                          <p:attrName>style.visibility</p:attrName>
                                        </p:attrNameLst>
                                      </p:cBhvr>
                                      <p:to>
                                        <p:strVal val="visible"/>
                                      </p:to>
                                    </p:set>
                                    <p:anim calcmode="lin" valueType="num">
                                      <p:cBhvr additive="base">
                                        <p:cTn id="17" dur="500" fill="hold"/>
                                        <p:tgtEl>
                                          <p:spTgt spid="560132"/>
                                        </p:tgtEl>
                                        <p:attrNameLst>
                                          <p:attrName>ppt_x</p:attrName>
                                        </p:attrNameLst>
                                      </p:cBhvr>
                                      <p:tavLst>
                                        <p:tav tm="0">
                                          <p:val>
                                            <p:strVal val="#ppt_x"/>
                                          </p:val>
                                        </p:tav>
                                        <p:tav tm="100000">
                                          <p:val>
                                            <p:strVal val="#ppt_x"/>
                                          </p:val>
                                        </p:tav>
                                      </p:tavLst>
                                    </p:anim>
                                    <p:anim calcmode="lin" valueType="num">
                                      <p:cBhvr additive="base">
                                        <p:cTn id="18" dur="500" fill="hold"/>
                                        <p:tgtEl>
                                          <p:spTgt spid="5601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0" grpId="0" autoUpdateAnimBg="0"/>
      <p:bldP spid="560131" grpId="0" animBg="1" autoUpdateAnimBg="0"/>
      <p:bldP spid="560132"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561155" name="Rectangle 3"/>
          <p:cNvSpPr>
            <a:spLocks noChangeArrowheads="1"/>
          </p:cNvSpPr>
          <p:nvPr/>
        </p:nvSpPr>
        <p:spPr bwMode="auto">
          <a:xfrm>
            <a:off x="1728788" y="2929260"/>
            <a:ext cx="8062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600200" lvl="3" indent="-228600">
              <a:lnSpc>
                <a:spcPct val="95000"/>
              </a:lnSpc>
              <a:buClr>
                <a:schemeClr val="hlink"/>
              </a:buClr>
            </a:pPr>
            <a:r>
              <a:rPr lang="zh-CN" altLang="en-US" sz="3200" b="1" dirty="0">
                <a:solidFill>
                  <a:srgbClr val="C00000"/>
                </a:solidFill>
              </a:rPr>
              <a:t>定义：</a:t>
            </a:r>
            <a:r>
              <a:rPr lang="zh-CN" altLang="en-US" sz="3200" b="1" dirty="0"/>
              <a:t>在函数外部定义的变量</a:t>
            </a:r>
          </a:p>
        </p:txBody>
      </p:sp>
      <p:sp>
        <p:nvSpPr>
          <p:cNvPr id="561156" name="Rectangle 4"/>
          <p:cNvSpPr>
            <a:spLocks noChangeArrowheads="1"/>
          </p:cNvSpPr>
          <p:nvPr/>
        </p:nvSpPr>
        <p:spPr bwMode="auto">
          <a:xfrm>
            <a:off x="1774826" y="2216150"/>
            <a:ext cx="3457575"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全局变量</a:t>
            </a:r>
          </a:p>
        </p:txBody>
      </p:sp>
      <p:sp>
        <p:nvSpPr>
          <p:cNvPr id="561157" name="Rectangle 5"/>
          <p:cNvSpPr>
            <a:spLocks noChangeArrowheads="1"/>
          </p:cNvSpPr>
          <p:nvPr/>
        </p:nvSpPr>
        <p:spPr bwMode="auto">
          <a:xfrm>
            <a:off x="3149600" y="3613151"/>
            <a:ext cx="6426200" cy="3046413"/>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l" eaLnBrk="0" hangingPunct="0">
              <a:lnSpc>
                <a:spcPct val="75000"/>
              </a:lnSpc>
            </a:pPr>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endParaRPr lang="en-US" altLang="zh-CN" sz="3200" b="1" dirty="0">
              <a:solidFill>
                <a:srgbClr val="FF3300"/>
              </a:solidFill>
              <a:latin typeface="Times New Roman" pitchFamily="18" charset="0"/>
              <a:ea typeface="宋体" charset="-122"/>
            </a:endParaRPr>
          </a:p>
          <a:p>
            <a:pPr algn="l" eaLnBrk="0" hangingPunct="0">
              <a:lnSpc>
                <a:spcPct val="75000"/>
              </a:lnSpc>
            </a:pP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a=3,b=5;</a:t>
            </a:r>
          </a:p>
          <a:p>
            <a:pPr algn="l" eaLnBrk="0" hangingPunct="0">
              <a:lnSpc>
                <a:spcPct val="75000"/>
              </a:lnSpc>
            </a:pPr>
            <a:r>
              <a:rPr lang="en-US" altLang="zh-CN" sz="3200" b="1" dirty="0">
                <a:latin typeface="Times New Roman" pitchFamily="18" charset="0"/>
                <a:ea typeface="宋体" charset="-122"/>
              </a:rPr>
              <a:t>max(</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x,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y)</a:t>
            </a:r>
          </a:p>
          <a:p>
            <a:pPr algn="l" eaLnBrk="0" hangingPunct="0">
              <a:lnSpc>
                <a:spcPct val="75000"/>
              </a:lnSpc>
            </a:pPr>
            <a:r>
              <a:rPr lang="en-US" altLang="zh-CN" sz="3200" b="1" dirty="0">
                <a:latin typeface="Times New Roman" pitchFamily="18" charset="0"/>
                <a:ea typeface="宋体" charset="-122"/>
              </a:rPr>
              <a:t>{    return(x&gt;</a:t>
            </a:r>
            <a:r>
              <a:rPr lang="en-US" altLang="zh-CN" sz="3200" b="1" dirty="0" err="1">
                <a:latin typeface="Times New Roman" pitchFamily="18" charset="0"/>
                <a:ea typeface="宋体" charset="-122"/>
              </a:rPr>
              <a:t>y?x:y</a:t>
            </a:r>
            <a:r>
              <a:rPr lang="en-US" altLang="zh-CN" sz="3200" b="1" dirty="0">
                <a:latin typeface="Times New Roman" pitchFamily="18" charset="0"/>
                <a:ea typeface="宋体" charset="-122"/>
              </a:rPr>
              <a:t>);</a:t>
            </a:r>
          </a:p>
          <a:p>
            <a:pPr algn="l" eaLnBrk="0" hangingPunct="0">
              <a:lnSpc>
                <a:spcPct val="75000"/>
              </a:lnSpc>
            </a:pPr>
            <a:r>
              <a:rPr lang="en-US" altLang="zh-CN" sz="3200" b="1" dirty="0">
                <a:latin typeface="Times New Roman" pitchFamily="18" charset="0"/>
                <a:ea typeface="宋体" charset="-122"/>
              </a:rPr>
              <a:t>}</a:t>
            </a:r>
          </a:p>
          <a:p>
            <a:pPr algn="l" eaLnBrk="0" hangingPunct="0">
              <a:lnSpc>
                <a:spcPct val="75000"/>
              </a:lnSpc>
            </a:pPr>
            <a:r>
              <a:rPr lang="en-US" altLang="zh-CN" sz="3200" b="1" dirty="0">
                <a:latin typeface="Times New Roman" pitchFamily="18" charset="0"/>
                <a:ea typeface="宋体" charset="-122"/>
              </a:rPr>
              <a:t>void main()</a:t>
            </a:r>
          </a:p>
          <a:p>
            <a:pPr algn="l" eaLnBrk="0" hangingPunct="0">
              <a:lnSpc>
                <a:spcPct val="75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d",max</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a,b</a:t>
            </a:r>
            <a:r>
              <a:rPr lang="en-US" altLang="zh-CN" sz="3200" b="1" dirty="0">
                <a:latin typeface="Times New Roman" pitchFamily="18" charset="0"/>
                <a:ea typeface="宋体" charset="-122"/>
              </a:rPr>
              <a:t>));</a:t>
            </a:r>
          </a:p>
          <a:p>
            <a:pPr algn="l" eaLnBrk="0" hangingPunct="0">
              <a:lnSpc>
                <a:spcPct val="75000"/>
              </a:lnSpc>
            </a:pPr>
            <a:r>
              <a:rPr lang="en-US" altLang="zh-CN" sz="3200" b="1" dirty="0">
                <a:latin typeface="Times New Roman" pitchFamily="18" charset="0"/>
                <a:ea typeface="宋体" charset="-122"/>
              </a:rPr>
              <a:t>}</a:t>
            </a:r>
          </a:p>
        </p:txBody>
      </p:sp>
      <p:sp>
        <p:nvSpPr>
          <p:cNvPr id="27655" name="Rectangle 6"/>
          <p:cNvSpPr>
            <a:spLocks noChangeArrowheads="1"/>
          </p:cNvSpPr>
          <p:nvPr/>
        </p:nvSpPr>
        <p:spPr bwMode="auto">
          <a:xfrm>
            <a:off x="1774826" y="866676"/>
            <a:ext cx="8583613"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局部变量</a:t>
            </a:r>
            <a:endParaRPr lang="zh-CN" altLang="zh-CN" sz="3600" b="1" dirty="0">
              <a:solidFill>
                <a:srgbClr val="C00000"/>
              </a:solidFill>
              <a:latin typeface="Times New Roman" pitchFamily="18" charset="0"/>
            </a:endParaRPr>
          </a:p>
        </p:txBody>
      </p:sp>
      <p:sp>
        <p:nvSpPr>
          <p:cNvPr id="27656" name="Rectangle 7"/>
          <p:cNvSpPr>
            <a:spLocks noChangeArrowheads="1"/>
          </p:cNvSpPr>
          <p:nvPr/>
        </p:nvSpPr>
        <p:spPr bwMode="auto">
          <a:xfrm>
            <a:off x="3098800" y="1559421"/>
            <a:ext cx="5518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solidFill>
                  <a:srgbClr val="C00000"/>
                </a:solidFill>
              </a:rPr>
              <a:t>定义：</a:t>
            </a:r>
            <a:r>
              <a:rPr lang="zh-CN" altLang="en-US" sz="3200" b="1" dirty="0"/>
              <a:t>在函数内部定义的变量</a:t>
            </a:r>
          </a:p>
        </p:txBody>
      </p:sp>
      <p:sp>
        <p:nvSpPr>
          <p:cNvPr id="561160" name="AutoShape 8"/>
          <p:cNvSpPr>
            <a:spLocks/>
          </p:cNvSpPr>
          <p:nvPr/>
        </p:nvSpPr>
        <p:spPr bwMode="auto">
          <a:xfrm>
            <a:off x="8001000" y="4137025"/>
            <a:ext cx="228600" cy="2438400"/>
          </a:xfrm>
          <a:prstGeom prst="rightBrace">
            <a:avLst>
              <a:gd name="adj1" fmla="val 88889"/>
              <a:gd name="adj2" fmla="val 50000"/>
            </a:avLst>
          </a:prstGeom>
          <a:noFill/>
          <a:ln w="3810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000">
              <a:solidFill>
                <a:srgbClr val="C00000"/>
              </a:solidFill>
              <a:latin typeface="Times New Roman" pitchFamily="18" charset="0"/>
              <a:ea typeface="宋体" charset="-122"/>
            </a:endParaRPr>
          </a:p>
        </p:txBody>
      </p:sp>
      <p:sp>
        <p:nvSpPr>
          <p:cNvPr id="561161" name="Text Box 9"/>
          <p:cNvSpPr txBox="1">
            <a:spLocks noChangeArrowheads="1"/>
          </p:cNvSpPr>
          <p:nvPr/>
        </p:nvSpPr>
        <p:spPr bwMode="auto">
          <a:xfrm>
            <a:off x="8305800" y="4518025"/>
            <a:ext cx="609600"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nSpc>
                <a:spcPct val="80000"/>
              </a:lnSpc>
            </a:pPr>
            <a:r>
              <a:rPr lang="en-US" altLang="zh-CN" b="1" dirty="0">
                <a:latin typeface="Times New Roman" pitchFamily="18" charset="0"/>
                <a:ea typeface="隶书" pitchFamily="49" charset="-122"/>
              </a:rPr>
              <a:t> a</a:t>
            </a:r>
          </a:p>
          <a:p>
            <a:pPr>
              <a:lnSpc>
                <a:spcPct val="80000"/>
              </a:lnSpc>
            </a:pPr>
            <a:r>
              <a:rPr lang="en-US" altLang="zh-CN" b="1" dirty="0">
                <a:latin typeface="Times New Roman" pitchFamily="18" charset="0"/>
                <a:ea typeface="隶书" pitchFamily="49" charset="-122"/>
              </a:rPr>
              <a:t> b</a:t>
            </a:r>
          </a:p>
          <a:p>
            <a:pPr>
              <a:lnSpc>
                <a:spcPct val="80000"/>
              </a:lnSpc>
            </a:pPr>
            <a:r>
              <a:rPr lang="zh-CN" altLang="zh-CN" b="1" dirty="0">
                <a:latin typeface="+mn-ea"/>
                <a:ea typeface="+mn-ea"/>
              </a:rPr>
              <a:t>有</a:t>
            </a:r>
            <a:endParaRPr lang="zh-CN" altLang="en-US" b="1" dirty="0">
              <a:latin typeface="+mn-ea"/>
              <a:ea typeface="+mn-ea"/>
            </a:endParaRPr>
          </a:p>
          <a:p>
            <a:pPr>
              <a:lnSpc>
                <a:spcPct val="80000"/>
              </a:lnSpc>
            </a:pPr>
            <a:r>
              <a:rPr lang="zh-CN" altLang="zh-CN" b="1" dirty="0">
                <a:latin typeface="+mn-ea"/>
                <a:ea typeface="+mn-ea"/>
              </a:rPr>
              <a:t>效</a:t>
            </a:r>
            <a:endParaRPr lang="zh-CN" altLang="en-US" b="1" dirty="0">
              <a:latin typeface="+mn-ea"/>
              <a:ea typeface="+mn-ea"/>
            </a:endParaRPr>
          </a:p>
        </p:txBody>
      </p:sp>
      <p:sp>
        <p:nvSpPr>
          <p:cNvPr id="11" name="矩形 10"/>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3406455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55"/>
                                        </p:tgtEl>
                                        <p:attrNameLst>
                                          <p:attrName>style.visibility</p:attrName>
                                        </p:attrNameLst>
                                      </p:cBhvr>
                                      <p:to>
                                        <p:strVal val="visible"/>
                                      </p:to>
                                    </p:set>
                                    <p:animEffect transition="in" filter="fade">
                                      <p:cBhvr>
                                        <p:cTn id="7" dur="500"/>
                                        <p:tgtEl>
                                          <p:spTgt spid="276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6"/>
                                        </p:tgtEl>
                                        <p:attrNameLst>
                                          <p:attrName>style.visibility</p:attrName>
                                        </p:attrNameLst>
                                      </p:cBhvr>
                                      <p:to>
                                        <p:strVal val="visible"/>
                                      </p:to>
                                    </p:set>
                                    <p:animEffect transition="in" filter="fade">
                                      <p:cBhvr>
                                        <p:cTn id="12" dur="500"/>
                                        <p:tgtEl>
                                          <p:spTgt spid="276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1156"/>
                                        </p:tgtEl>
                                        <p:attrNameLst>
                                          <p:attrName>style.visibility</p:attrName>
                                        </p:attrNameLst>
                                      </p:cBhvr>
                                      <p:to>
                                        <p:strVal val="visible"/>
                                      </p:to>
                                    </p:set>
                                    <p:animEffect transition="in" filter="wipe(left)">
                                      <p:cBhvr>
                                        <p:cTn id="17" dur="500"/>
                                        <p:tgtEl>
                                          <p:spTgt spid="5611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561155"/>
                                        </p:tgtEl>
                                        <p:attrNameLst>
                                          <p:attrName>style.visibility</p:attrName>
                                        </p:attrNameLst>
                                      </p:cBhvr>
                                      <p:to>
                                        <p:strVal val="visible"/>
                                      </p:to>
                                    </p:set>
                                    <p:animEffect transition="in" filter="strips(upRight)">
                                      <p:cBhvr>
                                        <p:cTn id="22" dur="500"/>
                                        <p:tgtEl>
                                          <p:spTgt spid="5611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61157"/>
                                        </p:tgtEl>
                                        <p:attrNameLst>
                                          <p:attrName>style.visibility</p:attrName>
                                        </p:attrNameLst>
                                      </p:cBhvr>
                                      <p:to>
                                        <p:strVal val="visible"/>
                                      </p:to>
                                    </p:set>
                                    <p:animEffect transition="in" filter="dissolve">
                                      <p:cBhvr>
                                        <p:cTn id="27" dur="500"/>
                                        <p:tgtEl>
                                          <p:spTgt spid="561157"/>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561160"/>
                                        </p:tgtEl>
                                        <p:attrNameLst>
                                          <p:attrName>style.visibility</p:attrName>
                                        </p:attrNameLst>
                                      </p:cBhvr>
                                      <p:to>
                                        <p:strVal val="visible"/>
                                      </p:to>
                                    </p:set>
                                    <p:animEffect transition="in" filter="box(in)">
                                      <p:cBhvr>
                                        <p:cTn id="32" dur="500"/>
                                        <p:tgtEl>
                                          <p:spTgt spid="56116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61161"/>
                                        </p:tgtEl>
                                        <p:attrNameLst>
                                          <p:attrName>style.visibility</p:attrName>
                                        </p:attrNameLst>
                                      </p:cBhvr>
                                      <p:to>
                                        <p:strVal val="visible"/>
                                      </p:to>
                                    </p:set>
                                    <p:animEffect transition="in" filter="wipe(up)">
                                      <p:cBhvr>
                                        <p:cTn id="37" dur="500"/>
                                        <p:tgtEl>
                                          <p:spTgt spid="561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5" grpId="0" autoUpdateAnimBg="0"/>
      <p:bldP spid="561156" grpId="0" autoUpdateAnimBg="0"/>
      <p:bldP spid="561157" grpId="0" animBg="1" autoUpdateAnimBg="0"/>
      <p:bldP spid="27655" grpId="0"/>
      <p:bldP spid="27656" grpId="0"/>
      <p:bldP spid="561160" grpId="0" animBg="1" autoUpdateAnimBg="0"/>
      <p:bldP spid="561161"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endParaRPr lang="en-US" altLang="zh-CN" dirty="0"/>
          </a:p>
        </p:txBody>
      </p:sp>
      <p:sp>
        <p:nvSpPr>
          <p:cNvPr id="562178" name="Rectangle 2"/>
          <p:cNvSpPr>
            <a:spLocks noChangeArrowheads="1"/>
          </p:cNvSpPr>
          <p:nvPr/>
        </p:nvSpPr>
        <p:spPr bwMode="auto">
          <a:xfrm>
            <a:off x="2667000" y="2201616"/>
            <a:ext cx="69088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828800" lvl="3" indent="-457200">
              <a:buClr>
                <a:schemeClr val="hlink"/>
              </a:buClr>
              <a:buFontTx/>
              <a:buAutoNum type="arabicParenR"/>
            </a:pPr>
            <a:r>
              <a:rPr lang="zh-CN" altLang="en-US" sz="3200" b="1" dirty="0">
                <a:latin typeface="Times New Roman" pitchFamily="18" charset="0"/>
              </a:rPr>
              <a:t>作用范围从定义起到文件尾</a:t>
            </a:r>
            <a:endParaRPr lang="zh-CN" altLang="zh-CN" sz="3200" b="1" dirty="0">
              <a:latin typeface="Times New Roman" pitchFamily="18" charset="0"/>
            </a:endParaRPr>
          </a:p>
        </p:txBody>
      </p:sp>
      <p:sp>
        <p:nvSpPr>
          <p:cNvPr id="28676" name="Rectangle 3"/>
          <p:cNvSpPr>
            <a:spLocks noChangeArrowheads="1"/>
          </p:cNvSpPr>
          <p:nvPr/>
        </p:nvSpPr>
        <p:spPr bwMode="auto">
          <a:xfrm>
            <a:off x="1384301" y="1612900"/>
            <a:ext cx="8062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600200" lvl="3" indent="-228600">
              <a:lnSpc>
                <a:spcPct val="95000"/>
              </a:lnSpc>
              <a:buClr>
                <a:schemeClr val="hlink"/>
              </a:buClr>
            </a:pPr>
            <a:r>
              <a:rPr lang="zh-CN" altLang="en-US" sz="3200" b="1" dirty="0">
                <a:solidFill>
                  <a:srgbClr val="C00000"/>
                </a:solidFill>
              </a:rPr>
              <a:t>定义：</a:t>
            </a:r>
            <a:r>
              <a:rPr lang="zh-CN" altLang="en-US" sz="3200" b="1" dirty="0"/>
              <a:t>在函数外部定义的变量</a:t>
            </a:r>
          </a:p>
        </p:txBody>
      </p:sp>
      <p:sp>
        <p:nvSpPr>
          <p:cNvPr id="28677" name="Rectangle 4"/>
          <p:cNvSpPr>
            <a:spLocks noChangeArrowheads="1"/>
          </p:cNvSpPr>
          <p:nvPr/>
        </p:nvSpPr>
        <p:spPr bwMode="auto">
          <a:xfrm>
            <a:off x="1470026" y="944563"/>
            <a:ext cx="3457575"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全局变量</a:t>
            </a:r>
          </a:p>
        </p:txBody>
      </p:sp>
      <p:sp>
        <p:nvSpPr>
          <p:cNvPr id="562182" name="Rectangle 6"/>
          <p:cNvSpPr>
            <a:spLocks noChangeArrowheads="1"/>
          </p:cNvSpPr>
          <p:nvPr/>
        </p:nvSpPr>
        <p:spPr bwMode="auto">
          <a:xfrm>
            <a:off x="1369233" y="2227014"/>
            <a:ext cx="72009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lgn="l"/>
            <a:r>
              <a:rPr lang="zh-CN" altLang="en-US" sz="3200" b="1" dirty="0">
                <a:solidFill>
                  <a:srgbClr val="C00000"/>
                </a:solidFill>
              </a:rPr>
              <a:t>说明：</a:t>
            </a:r>
            <a:endParaRPr lang="zh-CN" altLang="zh-CN" sz="3200" b="1" dirty="0">
              <a:solidFill>
                <a:srgbClr val="C00000"/>
              </a:solidFill>
            </a:endParaRPr>
          </a:p>
        </p:txBody>
      </p:sp>
      <p:sp>
        <p:nvSpPr>
          <p:cNvPr id="562183" name="Rectangle 7"/>
          <p:cNvSpPr>
            <a:spLocks noChangeArrowheads="1"/>
          </p:cNvSpPr>
          <p:nvPr/>
        </p:nvSpPr>
        <p:spPr bwMode="auto">
          <a:xfrm>
            <a:off x="3835400" y="2844801"/>
            <a:ext cx="4521200" cy="3846513"/>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tIns="0" anchor="ctr"/>
          <a:lstStyle/>
          <a:p>
            <a:pPr algn="l">
              <a:lnSpc>
                <a:spcPct val="75000"/>
              </a:lnSpc>
            </a:pPr>
            <a:endParaRPr lang="en-US" altLang="zh-CN" sz="3200" b="1" dirty="0">
              <a:solidFill>
                <a:srgbClr val="FF5555"/>
              </a:solidFill>
              <a:latin typeface="Times New Roman" pitchFamily="18" charset="0"/>
            </a:endParaRPr>
          </a:p>
          <a:p>
            <a:pPr algn="l">
              <a:lnSpc>
                <a:spcPct val="75000"/>
              </a:lnSpc>
            </a:pPr>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endParaRPr lang="en-US" altLang="zh-CN" sz="3200" b="1" dirty="0">
              <a:solidFill>
                <a:srgbClr val="FF3300"/>
              </a:solidFill>
              <a:latin typeface="Times New Roman" pitchFamily="18" charset="0"/>
            </a:endParaRPr>
          </a:p>
          <a:p>
            <a:pPr algn="l">
              <a:lnSpc>
                <a:spcPct val="75000"/>
              </a:lnSpc>
            </a:pPr>
            <a:r>
              <a:rPr lang="en-US" altLang="zh-CN" sz="3200" b="1" dirty="0" err="1">
                <a:solidFill>
                  <a:srgbClr val="C00000"/>
                </a:solidFill>
                <a:latin typeface="Times New Roman" pitchFamily="18" charset="0"/>
              </a:rPr>
              <a:t>int</a:t>
            </a:r>
            <a:r>
              <a:rPr lang="en-US" altLang="zh-CN" sz="3200" b="1" dirty="0">
                <a:solidFill>
                  <a:srgbClr val="C00000"/>
                </a:solidFill>
                <a:latin typeface="Times New Roman" pitchFamily="18" charset="0"/>
              </a:rPr>
              <a:t>  p=1;</a:t>
            </a:r>
          </a:p>
          <a:p>
            <a:pPr algn="l">
              <a:lnSpc>
                <a:spcPct val="75000"/>
              </a:lnSpc>
            </a:pPr>
            <a:r>
              <a:rPr lang="en-US" altLang="zh-CN" sz="3200" b="1" dirty="0">
                <a:latin typeface="Times New Roman" pitchFamily="18" charset="0"/>
              </a:rPr>
              <a:t>float  f1(</a:t>
            </a:r>
            <a:r>
              <a:rPr lang="en-US" altLang="zh-CN" sz="3200" b="1" dirty="0" err="1">
                <a:latin typeface="Times New Roman" pitchFamily="18" charset="0"/>
              </a:rPr>
              <a:t>int</a:t>
            </a:r>
            <a:r>
              <a:rPr lang="en-US" altLang="zh-CN" sz="3200" b="1" dirty="0">
                <a:latin typeface="Times New Roman" pitchFamily="18" charset="0"/>
              </a:rPr>
              <a:t> a)  </a:t>
            </a:r>
          </a:p>
          <a:p>
            <a:pPr algn="l">
              <a:lnSpc>
                <a:spcPct val="75000"/>
              </a:lnSpc>
            </a:pPr>
            <a:r>
              <a:rPr lang="en-US" altLang="zh-CN" sz="3200" b="1" dirty="0">
                <a:latin typeface="Times New Roman" pitchFamily="18" charset="0"/>
              </a:rPr>
              <a:t>{  </a:t>
            </a:r>
            <a:r>
              <a:rPr lang="en-US" altLang="zh-CN" sz="3200" b="1" dirty="0" err="1">
                <a:latin typeface="Times New Roman" pitchFamily="18" charset="0"/>
              </a:rPr>
              <a:t>int</a:t>
            </a:r>
            <a:r>
              <a:rPr lang="en-US" altLang="zh-CN" sz="3200" b="1" dirty="0">
                <a:latin typeface="Times New Roman" pitchFamily="18" charset="0"/>
              </a:rPr>
              <a:t> </a:t>
            </a:r>
            <a:r>
              <a:rPr lang="en-US" altLang="zh-CN" sz="3200" b="1" dirty="0" err="1">
                <a:latin typeface="Times New Roman" pitchFamily="18" charset="0"/>
              </a:rPr>
              <a:t>b,c</a:t>
            </a:r>
            <a:r>
              <a:rPr lang="en-US" altLang="zh-CN" sz="3200" b="1" dirty="0">
                <a:latin typeface="Times New Roman" pitchFamily="18" charset="0"/>
              </a:rPr>
              <a:t>;</a:t>
            </a:r>
          </a:p>
          <a:p>
            <a:pPr algn="l">
              <a:lnSpc>
                <a:spcPct val="75000"/>
              </a:lnSpc>
            </a:pPr>
            <a:r>
              <a:rPr lang="zh-CN" altLang="en-US" sz="3200" b="1" dirty="0">
                <a:latin typeface="Times New Roman" pitchFamily="18" charset="0"/>
              </a:rPr>
              <a:t>　</a:t>
            </a:r>
            <a:r>
              <a:rPr lang="en-US" altLang="zh-CN" sz="3200" b="1" dirty="0">
                <a:latin typeface="Times New Roman" pitchFamily="18" charset="0"/>
              </a:rPr>
              <a:t>…….</a:t>
            </a:r>
          </a:p>
          <a:p>
            <a:pPr algn="l">
              <a:lnSpc>
                <a:spcPct val="75000"/>
              </a:lnSpc>
            </a:pPr>
            <a:r>
              <a:rPr lang="en-US" altLang="zh-CN" sz="3200" b="1" dirty="0">
                <a:latin typeface="Times New Roman" pitchFamily="18" charset="0"/>
              </a:rPr>
              <a:t>}</a:t>
            </a:r>
          </a:p>
          <a:p>
            <a:pPr algn="l">
              <a:lnSpc>
                <a:spcPct val="75000"/>
              </a:lnSpc>
            </a:pPr>
            <a:r>
              <a:rPr lang="en-US" altLang="zh-CN" sz="3200" b="1" dirty="0" err="1">
                <a:solidFill>
                  <a:srgbClr val="C00000"/>
                </a:solidFill>
                <a:latin typeface="Times New Roman" pitchFamily="18" charset="0"/>
              </a:rPr>
              <a:t>int</a:t>
            </a:r>
            <a:r>
              <a:rPr lang="en-US" altLang="zh-CN" sz="3200" b="1" dirty="0">
                <a:solidFill>
                  <a:srgbClr val="C00000"/>
                </a:solidFill>
                <a:latin typeface="Times New Roman" pitchFamily="18" charset="0"/>
              </a:rPr>
              <a:t> m</a:t>
            </a:r>
            <a:r>
              <a:rPr lang="zh-CN" altLang="en-US" sz="3200" b="1" dirty="0">
                <a:solidFill>
                  <a:srgbClr val="C00000"/>
                </a:solidFill>
                <a:latin typeface="Times New Roman" pitchFamily="18" charset="0"/>
              </a:rPr>
              <a:t>＝</a:t>
            </a:r>
            <a:r>
              <a:rPr lang="en-US" altLang="zh-CN" sz="3200" b="1" dirty="0">
                <a:solidFill>
                  <a:srgbClr val="C00000"/>
                </a:solidFill>
                <a:latin typeface="Times New Roman" pitchFamily="18" charset="0"/>
              </a:rPr>
              <a:t>3;</a:t>
            </a:r>
          </a:p>
          <a:p>
            <a:pPr algn="l">
              <a:lnSpc>
                <a:spcPct val="75000"/>
              </a:lnSpc>
            </a:pPr>
            <a:r>
              <a:rPr lang="en-US" altLang="zh-CN" sz="3200" b="1" dirty="0">
                <a:latin typeface="Times New Roman" pitchFamily="18" charset="0"/>
              </a:rPr>
              <a:t>main()</a:t>
            </a:r>
          </a:p>
          <a:p>
            <a:pPr algn="l">
              <a:lnSpc>
                <a:spcPct val="50000"/>
              </a:lnSpc>
            </a:pPr>
            <a:r>
              <a:rPr lang="en-US" altLang="zh-CN" sz="3200" b="1" dirty="0">
                <a:latin typeface="Times New Roman" pitchFamily="18" charset="0"/>
              </a:rPr>
              <a:t>{   </a:t>
            </a:r>
          </a:p>
          <a:p>
            <a:pPr algn="l">
              <a:lnSpc>
                <a:spcPct val="50000"/>
              </a:lnSpc>
            </a:pPr>
            <a:r>
              <a:rPr lang="en-US" altLang="zh-CN" sz="3200" b="1" dirty="0">
                <a:latin typeface="Times New Roman" pitchFamily="18" charset="0"/>
              </a:rPr>
              <a:t>    …….</a:t>
            </a:r>
          </a:p>
          <a:p>
            <a:pPr algn="l">
              <a:lnSpc>
                <a:spcPct val="50000"/>
              </a:lnSpc>
            </a:pPr>
            <a:r>
              <a:rPr lang="en-US" altLang="zh-CN" sz="3200" b="1" dirty="0">
                <a:latin typeface="Times New Roman" pitchFamily="18" charset="0"/>
              </a:rPr>
              <a:t>}</a:t>
            </a:r>
          </a:p>
          <a:p>
            <a:pPr algn="l">
              <a:lnSpc>
                <a:spcPct val="75000"/>
              </a:lnSpc>
            </a:pPr>
            <a:endParaRPr lang="en-US" altLang="zh-CN" b="1" dirty="0"/>
          </a:p>
        </p:txBody>
      </p:sp>
      <p:sp>
        <p:nvSpPr>
          <p:cNvPr id="562184" name="AutoShape 8"/>
          <p:cNvSpPr>
            <a:spLocks/>
          </p:cNvSpPr>
          <p:nvPr/>
        </p:nvSpPr>
        <p:spPr bwMode="auto">
          <a:xfrm>
            <a:off x="7073900" y="3443288"/>
            <a:ext cx="254000" cy="3200400"/>
          </a:xfrm>
          <a:prstGeom prst="rightBrace">
            <a:avLst>
              <a:gd name="adj1" fmla="val 105000"/>
              <a:gd name="adj2" fmla="val 50000"/>
            </a:avLst>
          </a:prstGeom>
          <a:noFill/>
          <a:ln w="3810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75000"/>
              </a:lnSpc>
            </a:pPr>
            <a:endParaRPr lang="zh-CN" altLang="zh-CN" sz="3200">
              <a:solidFill>
                <a:srgbClr val="C00000"/>
              </a:solidFill>
            </a:endParaRPr>
          </a:p>
        </p:txBody>
      </p:sp>
      <p:sp>
        <p:nvSpPr>
          <p:cNvPr id="562185" name="Text Box 9"/>
          <p:cNvSpPr txBox="1">
            <a:spLocks noChangeArrowheads="1"/>
          </p:cNvSpPr>
          <p:nvPr/>
        </p:nvSpPr>
        <p:spPr bwMode="auto">
          <a:xfrm>
            <a:off x="7439372" y="4427538"/>
            <a:ext cx="726728" cy="1238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nSpc>
                <a:spcPct val="75000"/>
              </a:lnSpc>
            </a:pPr>
            <a:r>
              <a:rPr lang="en-US" altLang="zh-CN" b="1" dirty="0">
                <a:latin typeface="Times New Roman" panose="02020603050405020304" pitchFamily="18" charset="0"/>
                <a:ea typeface="+mn-ea"/>
                <a:cs typeface="Times New Roman" panose="02020603050405020304" pitchFamily="18" charset="0"/>
              </a:rPr>
              <a:t> p</a:t>
            </a:r>
          </a:p>
          <a:p>
            <a:pPr>
              <a:lnSpc>
                <a:spcPct val="80000"/>
              </a:lnSpc>
            </a:pPr>
            <a:r>
              <a:rPr lang="zh-CN" altLang="zh-CN" b="1" dirty="0">
                <a:latin typeface="Times New Roman" panose="02020603050405020304" pitchFamily="18" charset="0"/>
                <a:ea typeface="+mn-ea"/>
                <a:cs typeface="Times New Roman" panose="02020603050405020304" pitchFamily="18" charset="0"/>
              </a:rPr>
              <a:t>有</a:t>
            </a:r>
            <a:endParaRPr lang="zh-CN" altLang="en-US" b="1" dirty="0">
              <a:latin typeface="Times New Roman" panose="02020603050405020304" pitchFamily="18" charset="0"/>
              <a:ea typeface="+mn-ea"/>
              <a:cs typeface="Times New Roman" panose="02020603050405020304" pitchFamily="18" charset="0"/>
            </a:endParaRPr>
          </a:p>
          <a:p>
            <a:pPr>
              <a:lnSpc>
                <a:spcPct val="80000"/>
              </a:lnSpc>
            </a:pPr>
            <a:r>
              <a:rPr lang="zh-CN" altLang="zh-CN" b="1" dirty="0">
                <a:latin typeface="Times New Roman" panose="02020603050405020304" pitchFamily="18" charset="0"/>
                <a:ea typeface="+mn-ea"/>
                <a:cs typeface="Times New Roman" panose="02020603050405020304" pitchFamily="18" charset="0"/>
              </a:rPr>
              <a:t>效</a:t>
            </a:r>
            <a:endParaRPr lang="zh-CN" altLang="en-US" b="1" dirty="0">
              <a:latin typeface="Times New Roman" panose="02020603050405020304" pitchFamily="18" charset="0"/>
              <a:ea typeface="+mn-ea"/>
              <a:cs typeface="Times New Roman" panose="02020603050405020304" pitchFamily="18" charset="0"/>
            </a:endParaRPr>
          </a:p>
        </p:txBody>
      </p:sp>
      <p:sp>
        <p:nvSpPr>
          <p:cNvPr id="562186" name="AutoShape 10"/>
          <p:cNvSpPr>
            <a:spLocks/>
          </p:cNvSpPr>
          <p:nvPr/>
        </p:nvSpPr>
        <p:spPr bwMode="auto">
          <a:xfrm>
            <a:off x="5930900" y="5203825"/>
            <a:ext cx="228600" cy="1447800"/>
          </a:xfrm>
          <a:prstGeom prst="rightBrace">
            <a:avLst>
              <a:gd name="adj1" fmla="val 52778"/>
              <a:gd name="adj2" fmla="val 50000"/>
            </a:avLst>
          </a:prstGeom>
          <a:noFill/>
          <a:ln w="3810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000">
              <a:solidFill>
                <a:srgbClr val="C00000"/>
              </a:solidFill>
              <a:latin typeface="Times New Roman" pitchFamily="18" charset="0"/>
              <a:ea typeface="宋体" charset="-122"/>
            </a:endParaRPr>
          </a:p>
        </p:txBody>
      </p:sp>
      <p:sp>
        <p:nvSpPr>
          <p:cNvPr id="562187" name="Text Box 11"/>
          <p:cNvSpPr txBox="1">
            <a:spLocks noChangeArrowheads="1"/>
          </p:cNvSpPr>
          <p:nvPr/>
        </p:nvSpPr>
        <p:spPr bwMode="auto">
          <a:xfrm>
            <a:off x="6223000" y="5232399"/>
            <a:ext cx="533400" cy="1406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nSpc>
                <a:spcPct val="80000"/>
              </a:lnSpc>
            </a:pPr>
            <a:r>
              <a:rPr lang="en-US" altLang="zh-CN" b="1" dirty="0">
                <a:latin typeface="Times New Roman" panose="02020603050405020304" pitchFamily="18" charset="0"/>
                <a:ea typeface="+mn-ea"/>
                <a:cs typeface="Times New Roman" panose="02020603050405020304" pitchFamily="18" charset="0"/>
              </a:rPr>
              <a:t> m</a:t>
            </a:r>
          </a:p>
          <a:p>
            <a:pPr>
              <a:lnSpc>
                <a:spcPct val="80000"/>
              </a:lnSpc>
            </a:pPr>
            <a:r>
              <a:rPr lang="zh-CN" altLang="zh-CN" b="1" dirty="0">
                <a:latin typeface="Times New Roman" panose="02020603050405020304" pitchFamily="18" charset="0"/>
                <a:ea typeface="+mn-ea"/>
                <a:cs typeface="Times New Roman" panose="02020603050405020304" pitchFamily="18" charset="0"/>
              </a:rPr>
              <a:t>有</a:t>
            </a:r>
            <a:endParaRPr lang="zh-CN" altLang="en-US" b="1" dirty="0">
              <a:latin typeface="Times New Roman" panose="02020603050405020304" pitchFamily="18" charset="0"/>
              <a:ea typeface="+mn-ea"/>
              <a:cs typeface="Times New Roman" panose="02020603050405020304" pitchFamily="18" charset="0"/>
            </a:endParaRPr>
          </a:p>
          <a:p>
            <a:pPr>
              <a:lnSpc>
                <a:spcPct val="80000"/>
              </a:lnSpc>
            </a:pPr>
            <a:r>
              <a:rPr lang="zh-CN" altLang="zh-CN" b="1" dirty="0">
                <a:latin typeface="Times New Roman" panose="02020603050405020304" pitchFamily="18" charset="0"/>
                <a:ea typeface="+mn-ea"/>
                <a:cs typeface="Times New Roman" panose="02020603050405020304" pitchFamily="18" charset="0"/>
              </a:rPr>
              <a:t>效</a:t>
            </a:r>
            <a:endParaRPr lang="zh-CN" altLang="en-US" b="1" dirty="0">
              <a:latin typeface="Times New Roman" panose="02020603050405020304" pitchFamily="18" charset="0"/>
              <a:ea typeface="+mn-ea"/>
              <a:cs typeface="Times New Roman" panose="02020603050405020304" pitchFamily="18" charset="0"/>
            </a:endParaRPr>
          </a:p>
        </p:txBody>
      </p:sp>
      <p:sp>
        <p:nvSpPr>
          <p:cNvPr id="13" name="矩形 12"/>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458738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2182"/>
                                        </p:tgtEl>
                                        <p:attrNameLst>
                                          <p:attrName>style.visibility</p:attrName>
                                        </p:attrNameLst>
                                      </p:cBhvr>
                                      <p:to>
                                        <p:strVal val="visible"/>
                                      </p:to>
                                    </p:set>
                                    <p:animEffect transition="in" filter="dissolve">
                                      <p:cBhvr>
                                        <p:cTn id="7" dur="500"/>
                                        <p:tgtEl>
                                          <p:spTgt spid="5621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2178"/>
                                        </p:tgtEl>
                                        <p:attrNameLst>
                                          <p:attrName>style.visibility</p:attrName>
                                        </p:attrNameLst>
                                      </p:cBhvr>
                                      <p:to>
                                        <p:strVal val="visible"/>
                                      </p:to>
                                    </p:set>
                                    <p:animEffect transition="in" filter="wipe(left)">
                                      <p:cBhvr>
                                        <p:cTn id="12" dur="500"/>
                                        <p:tgtEl>
                                          <p:spTgt spid="5621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62183"/>
                                        </p:tgtEl>
                                        <p:attrNameLst>
                                          <p:attrName>style.visibility</p:attrName>
                                        </p:attrNameLst>
                                      </p:cBhvr>
                                      <p:to>
                                        <p:strVal val="visible"/>
                                      </p:to>
                                    </p:set>
                                    <p:animEffect transition="in" filter="dissolve">
                                      <p:cBhvr>
                                        <p:cTn id="17" dur="500"/>
                                        <p:tgtEl>
                                          <p:spTgt spid="5621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62184"/>
                                        </p:tgtEl>
                                        <p:attrNameLst>
                                          <p:attrName>style.visibility</p:attrName>
                                        </p:attrNameLst>
                                      </p:cBhvr>
                                      <p:to>
                                        <p:strVal val="visible"/>
                                      </p:to>
                                    </p:set>
                                    <p:animEffect transition="in" filter="box(in)">
                                      <p:cBhvr>
                                        <p:cTn id="22" dur="500"/>
                                        <p:tgtEl>
                                          <p:spTgt spid="5621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62185"/>
                                        </p:tgtEl>
                                        <p:attrNameLst>
                                          <p:attrName>style.visibility</p:attrName>
                                        </p:attrNameLst>
                                      </p:cBhvr>
                                      <p:to>
                                        <p:strVal val="visible"/>
                                      </p:to>
                                    </p:set>
                                    <p:animEffect transition="in" filter="wipe(up)">
                                      <p:cBhvr>
                                        <p:cTn id="27" dur="500"/>
                                        <p:tgtEl>
                                          <p:spTgt spid="56218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562186"/>
                                        </p:tgtEl>
                                        <p:attrNameLst>
                                          <p:attrName>style.visibility</p:attrName>
                                        </p:attrNameLst>
                                      </p:cBhvr>
                                      <p:to>
                                        <p:strVal val="visible"/>
                                      </p:to>
                                    </p:set>
                                    <p:animEffect transition="in" filter="box(in)">
                                      <p:cBhvr>
                                        <p:cTn id="32" dur="500"/>
                                        <p:tgtEl>
                                          <p:spTgt spid="5621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62187"/>
                                        </p:tgtEl>
                                        <p:attrNameLst>
                                          <p:attrName>style.visibility</p:attrName>
                                        </p:attrNameLst>
                                      </p:cBhvr>
                                      <p:to>
                                        <p:strVal val="visible"/>
                                      </p:to>
                                    </p:set>
                                    <p:animEffect transition="in" filter="wipe(up)">
                                      <p:cBhvr>
                                        <p:cTn id="37" dur="500"/>
                                        <p:tgtEl>
                                          <p:spTgt spid="562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8" grpId="0" autoUpdateAnimBg="0"/>
      <p:bldP spid="562182" grpId="0" autoUpdateAnimBg="0"/>
      <p:bldP spid="562183" grpId="0" animBg="1" autoUpdateAnimBg="0"/>
      <p:bldP spid="562184" grpId="0" animBg="1" autoUpdateAnimBg="0"/>
      <p:bldP spid="562185" grpId="0" autoUpdateAnimBg="0"/>
      <p:bldP spid="562186" grpId="0" animBg="1" autoUpdateAnimBg="0"/>
      <p:bldP spid="562187"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endParaRPr lang="en-US" altLang="zh-CN" dirty="0"/>
          </a:p>
        </p:txBody>
      </p:sp>
      <p:sp>
        <p:nvSpPr>
          <p:cNvPr id="29699" name="Rectangle 2"/>
          <p:cNvSpPr>
            <a:spLocks noChangeArrowheads="1"/>
          </p:cNvSpPr>
          <p:nvPr/>
        </p:nvSpPr>
        <p:spPr bwMode="auto">
          <a:xfrm>
            <a:off x="2552700" y="3082356"/>
            <a:ext cx="77724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8800" lvl="3" indent="-457200">
              <a:buClr>
                <a:schemeClr val="hlink"/>
              </a:buClr>
              <a:buFontTx/>
              <a:buAutoNum type="arabicParenR"/>
            </a:pPr>
            <a:r>
              <a:rPr lang="zh-CN" altLang="en-US" sz="3200" b="1" dirty="0">
                <a:latin typeface="Times New Roman" pitchFamily="18" charset="0"/>
              </a:rPr>
              <a:t> 作用范围从定义起到文件尾</a:t>
            </a:r>
            <a:endParaRPr lang="zh-CN" altLang="zh-CN" sz="3200" b="1" dirty="0">
              <a:latin typeface="Times New Roman" pitchFamily="18" charset="0"/>
            </a:endParaRPr>
          </a:p>
        </p:txBody>
      </p:sp>
      <p:sp>
        <p:nvSpPr>
          <p:cNvPr id="564228" name="Rectangle 4"/>
          <p:cNvSpPr>
            <a:spLocks noChangeArrowheads="1"/>
          </p:cNvSpPr>
          <p:nvPr/>
        </p:nvSpPr>
        <p:spPr bwMode="auto">
          <a:xfrm>
            <a:off x="2538017" y="3802436"/>
            <a:ext cx="724098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8800" lvl="3" indent="-457200">
              <a:buClr>
                <a:schemeClr val="hlink"/>
              </a:buClr>
              <a:buFontTx/>
              <a:buAutoNum type="arabicParenR" startAt="2"/>
            </a:pPr>
            <a:r>
              <a:rPr lang="zh-CN" altLang="en-US" sz="3200" b="1" dirty="0">
                <a:latin typeface="Times New Roman" pitchFamily="18" charset="0"/>
              </a:rPr>
              <a:t> 与局部变量同名时被屏蔽</a:t>
            </a:r>
          </a:p>
        </p:txBody>
      </p:sp>
      <p:sp>
        <p:nvSpPr>
          <p:cNvPr id="29702" name="Rectangle 5"/>
          <p:cNvSpPr>
            <a:spLocks noChangeArrowheads="1"/>
          </p:cNvSpPr>
          <p:nvPr/>
        </p:nvSpPr>
        <p:spPr bwMode="auto">
          <a:xfrm>
            <a:off x="1346201" y="2185408"/>
            <a:ext cx="8062913" cy="646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600200" lvl="3" indent="-228600">
              <a:lnSpc>
                <a:spcPct val="95000"/>
              </a:lnSpc>
              <a:buClr>
                <a:schemeClr val="hlink"/>
              </a:buClr>
            </a:pPr>
            <a:r>
              <a:rPr lang="zh-CN" altLang="en-US" sz="3200" b="1" dirty="0">
                <a:solidFill>
                  <a:srgbClr val="C00000"/>
                </a:solidFill>
              </a:rPr>
              <a:t>定义：</a:t>
            </a:r>
            <a:r>
              <a:rPr lang="zh-CN" altLang="en-US" sz="3200" b="1" dirty="0"/>
              <a:t>在函数外部定义的变量</a:t>
            </a:r>
          </a:p>
        </p:txBody>
      </p:sp>
      <p:sp>
        <p:nvSpPr>
          <p:cNvPr id="29703" name="Rectangle 6"/>
          <p:cNvSpPr>
            <a:spLocks noChangeArrowheads="1"/>
          </p:cNvSpPr>
          <p:nvPr/>
        </p:nvSpPr>
        <p:spPr bwMode="auto">
          <a:xfrm>
            <a:off x="1447800" y="1232096"/>
            <a:ext cx="3457575"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全局变量</a:t>
            </a:r>
          </a:p>
        </p:txBody>
      </p:sp>
      <p:sp>
        <p:nvSpPr>
          <p:cNvPr id="29704" name="Rectangle 7"/>
          <p:cNvSpPr>
            <a:spLocks noChangeArrowheads="1"/>
          </p:cNvSpPr>
          <p:nvPr/>
        </p:nvSpPr>
        <p:spPr bwMode="auto">
          <a:xfrm>
            <a:off x="1346200" y="3085728"/>
            <a:ext cx="72009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lgn="l"/>
            <a:r>
              <a:rPr lang="zh-CN" altLang="en-US" sz="3200" b="1" dirty="0">
                <a:solidFill>
                  <a:srgbClr val="C00000"/>
                </a:solidFill>
              </a:rPr>
              <a:t>说明：</a:t>
            </a:r>
            <a:endParaRPr lang="zh-CN" altLang="zh-CN" sz="3200" b="1" dirty="0">
              <a:solidFill>
                <a:srgbClr val="C00000"/>
              </a:solidFill>
            </a:endParaRPr>
          </a:p>
        </p:txBody>
      </p:sp>
      <p:sp>
        <p:nvSpPr>
          <p:cNvPr id="9" name="矩形 8"/>
          <p:cNvSpPr/>
          <p:nvPr/>
        </p:nvSpPr>
        <p:spPr>
          <a:xfrm>
            <a:off x="28402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152817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704"/>
                                        </p:tgtEl>
                                        <p:attrNameLst>
                                          <p:attrName>style.visibility</p:attrName>
                                        </p:attrNameLst>
                                      </p:cBhvr>
                                      <p:to>
                                        <p:strVal val="visible"/>
                                      </p:to>
                                    </p:set>
                                    <p:animEffect transition="in" filter="fade">
                                      <p:cBhvr>
                                        <p:cTn id="12" dur="500"/>
                                        <p:tgtEl>
                                          <p:spTgt spid="297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699"/>
                                        </p:tgtEl>
                                        <p:attrNameLst>
                                          <p:attrName>style.visibility</p:attrName>
                                        </p:attrNameLst>
                                      </p:cBhvr>
                                      <p:to>
                                        <p:strVal val="visible"/>
                                      </p:to>
                                    </p:set>
                                    <p:animEffect transition="in" filter="fade">
                                      <p:cBhvr>
                                        <p:cTn id="17" dur="500"/>
                                        <p:tgtEl>
                                          <p:spTgt spid="2969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64228"/>
                                        </p:tgtEl>
                                        <p:attrNameLst>
                                          <p:attrName>style.visibility</p:attrName>
                                        </p:attrNameLst>
                                      </p:cBhvr>
                                      <p:to>
                                        <p:strVal val="visible"/>
                                      </p:to>
                                    </p:set>
                                    <p:animEffect transition="in" filter="fade">
                                      <p:cBhvr>
                                        <p:cTn id="22" dur="500"/>
                                        <p:tgtEl>
                                          <p:spTgt spid="564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564228" grpId="0"/>
      <p:bldP spid="29702" grpId="0"/>
      <p:bldP spid="2970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endParaRPr lang="en-US" altLang="zh-CN" dirty="0"/>
          </a:p>
        </p:txBody>
      </p:sp>
      <p:sp>
        <p:nvSpPr>
          <p:cNvPr id="565250" name="Rectangle 2"/>
          <p:cNvSpPr>
            <a:spLocks noChangeArrowheads="1"/>
          </p:cNvSpPr>
          <p:nvPr/>
        </p:nvSpPr>
        <p:spPr bwMode="auto">
          <a:xfrm>
            <a:off x="3393604" y="997992"/>
            <a:ext cx="5477346" cy="5509200"/>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l" eaLnBrk="0" hangingPunct="0"/>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endParaRPr lang="en-US" altLang="zh-CN" sz="3200" b="1" dirty="0">
              <a:solidFill>
                <a:srgbClr val="FF3300"/>
              </a:solidFill>
              <a:latin typeface="Times New Roman" pitchFamily="18" charset="0"/>
              <a:ea typeface="宋体" charset="-122"/>
            </a:endParaRPr>
          </a:p>
          <a:p>
            <a:pPr algn="l" eaLnBrk="0" hangingPunct="0"/>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a=3,b=5;</a:t>
            </a:r>
          </a:p>
          <a:p>
            <a:pPr algn="l" eaLnBrk="0" hangingPunct="0"/>
            <a:r>
              <a:rPr lang="en-US" altLang="zh-CN" sz="3200" b="1" dirty="0">
                <a:latin typeface="Times New Roman" pitchFamily="18" charset="0"/>
                <a:ea typeface="宋体" charset="-122"/>
              </a:rPr>
              <a:t>max(</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x,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y)</a:t>
            </a:r>
          </a:p>
          <a:p>
            <a:pPr algn="l" eaLnBrk="0" hangingPunct="0"/>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c;</a:t>
            </a:r>
          </a:p>
          <a:p>
            <a:pPr algn="l" eaLnBrk="0" hangingPunct="0"/>
            <a:r>
              <a:rPr lang="en-US" altLang="zh-CN" sz="3200" b="1" dirty="0">
                <a:latin typeface="Times New Roman" pitchFamily="18" charset="0"/>
                <a:ea typeface="宋体" charset="-122"/>
              </a:rPr>
              <a:t>    c=x&gt;</a:t>
            </a:r>
            <a:r>
              <a:rPr lang="en-US" altLang="zh-CN" sz="3200" b="1" dirty="0" err="1">
                <a:latin typeface="Times New Roman" pitchFamily="18" charset="0"/>
                <a:ea typeface="宋体" charset="-122"/>
              </a:rPr>
              <a:t>y?x:y</a:t>
            </a:r>
            <a:r>
              <a:rPr lang="en-US" altLang="zh-CN" sz="3200" b="1" dirty="0">
                <a:latin typeface="Times New Roman" pitchFamily="18" charset="0"/>
                <a:ea typeface="宋体" charset="-122"/>
              </a:rPr>
              <a:t>;</a:t>
            </a:r>
          </a:p>
          <a:p>
            <a:pPr algn="l" eaLnBrk="0" hangingPunct="0"/>
            <a:r>
              <a:rPr lang="en-US" altLang="zh-CN" sz="3200" b="1" dirty="0">
                <a:latin typeface="Times New Roman" pitchFamily="18" charset="0"/>
                <a:ea typeface="宋体" charset="-122"/>
              </a:rPr>
              <a:t>    return(c);</a:t>
            </a:r>
          </a:p>
          <a:p>
            <a:pPr algn="l" eaLnBrk="0" hangingPunct="0"/>
            <a:r>
              <a:rPr lang="en-US" altLang="zh-CN" sz="3200" b="1" dirty="0">
                <a:latin typeface="Times New Roman" pitchFamily="18" charset="0"/>
                <a:ea typeface="宋体" charset="-122"/>
              </a:rPr>
              <a:t>}</a:t>
            </a:r>
          </a:p>
          <a:p>
            <a:pPr algn="l" eaLnBrk="0" hangingPunct="0"/>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main( )</a:t>
            </a:r>
          </a:p>
          <a:p>
            <a:pPr algn="l" eaLnBrk="0" hangingPunct="0"/>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a=8;</a:t>
            </a:r>
          </a:p>
          <a:p>
            <a:pPr algn="l" eaLnBrk="0" hangingPunct="0"/>
            <a:r>
              <a:rPr lang="zh-CN" altLang="en-US"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d",max</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a,b</a:t>
            </a:r>
            <a:r>
              <a:rPr lang="en-US" altLang="zh-CN" sz="3200" b="1" dirty="0">
                <a:latin typeface="Times New Roman" pitchFamily="18" charset="0"/>
                <a:ea typeface="宋体" charset="-122"/>
              </a:rPr>
              <a:t>));</a:t>
            </a:r>
          </a:p>
          <a:p>
            <a:pPr algn="l" eaLnBrk="0" hangingPunct="0"/>
            <a:r>
              <a:rPr lang="en-US" altLang="zh-CN" sz="3200" b="1" dirty="0">
                <a:latin typeface="Times New Roman" pitchFamily="18" charset="0"/>
                <a:ea typeface="宋体" charset="-122"/>
              </a:rPr>
              <a:t>      return 0;             }</a:t>
            </a:r>
          </a:p>
        </p:txBody>
      </p:sp>
      <p:sp>
        <p:nvSpPr>
          <p:cNvPr id="30724" name="Rectangle 3"/>
          <p:cNvSpPr>
            <a:spLocks noChangeArrowheads="1"/>
          </p:cNvSpPr>
          <p:nvPr/>
        </p:nvSpPr>
        <p:spPr bwMode="auto">
          <a:xfrm>
            <a:off x="2711574" y="159297"/>
            <a:ext cx="6826126" cy="771623"/>
          </a:xfrm>
          <a:prstGeom prst="rect">
            <a:avLst/>
          </a:prstGeom>
          <a:solidFill>
            <a:schemeClr val="lt1"/>
          </a:solidFill>
          <a:effectLst/>
          <a:extLst/>
        </p:spPr>
        <p:txBody>
          <a:bodyPr vert="horz" lIns="91440" tIns="45720" rIns="91440" bIns="45720" rtlCol="0" anchor="ctr">
            <a:noAutofit/>
          </a:bodyPr>
          <a:lstStyle/>
          <a:p>
            <a:pPr algn="ctr">
              <a:spcBef>
                <a:spcPct val="0"/>
              </a:spcBef>
            </a:pPr>
            <a:r>
              <a:rPr lang="zh-CN" altLang="en-US" sz="4400" b="1" dirty="0">
                <a:solidFill>
                  <a:srgbClr val="800000"/>
                </a:solidFill>
                <a:latin typeface="Arial" pitchFamily="34" charset="0"/>
                <a:ea typeface="黑体" pitchFamily="49" charset="-122"/>
                <a:cs typeface="+mj-cs"/>
              </a:rPr>
              <a:t>全局</a:t>
            </a:r>
            <a:r>
              <a:rPr lang="zh-CN" altLang="en-US" sz="4400" b="1" dirty="0">
                <a:solidFill>
                  <a:srgbClr val="800000"/>
                </a:solidFill>
                <a:latin typeface="Arial" pitchFamily="34" charset="0"/>
                <a:ea typeface="黑体" pitchFamily="49" charset="-122"/>
              </a:rPr>
              <a:t>变量</a:t>
            </a:r>
            <a:r>
              <a:rPr lang="zh-CN" altLang="en-US" sz="4400" b="1" dirty="0">
                <a:solidFill>
                  <a:srgbClr val="800000"/>
                </a:solidFill>
                <a:latin typeface="Arial" pitchFamily="34" charset="0"/>
                <a:ea typeface="黑体" pitchFamily="49" charset="-122"/>
                <a:cs typeface="+mj-cs"/>
              </a:rPr>
              <a:t>与局部变量同名</a:t>
            </a:r>
          </a:p>
        </p:txBody>
      </p:sp>
      <p:sp>
        <p:nvSpPr>
          <p:cNvPr id="565252" name="Rectangle 4"/>
          <p:cNvSpPr>
            <a:spLocks noChangeArrowheads="1"/>
          </p:cNvSpPr>
          <p:nvPr/>
        </p:nvSpPr>
        <p:spPr bwMode="auto">
          <a:xfrm>
            <a:off x="10026650" y="5473701"/>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C00000"/>
                </a:solidFill>
                <a:latin typeface="Times New Roman" pitchFamily="18" charset="0"/>
                <a:ea typeface="宋体" charset="-122"/>
              </a:rPr>
              <a:t>8</a:t>
            </a:r>
          </a:p>
        </p:txBody>
      </p:sp>
    </p:spTree>
    <p:extLst>
      <p:ext uri="{BB962C8B-B14F-4D97-AF65-F5344CB8AC3E}">
        <p14:creationId xmlns:p14="http://schemas.microsoft.com/office/powerpoint/2010/main" val="6647109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5250"/>
                                        </p:tgtEl>
                                        <p:attrNameLst>
                                          <p:attrName>style.visibility</p:attrName>
                                        </p:attrNameLst>
                                      </p:cBhvr>
                                      <p:to>
                                        <p:strVal val="visible"/>
                                      </p:to>
                                    </p:set>
                                    <p:animEffect transition="in" filter="dissolve">
                                      <p:cBhvr>
                                        <p:cTn id="7" dur="500"/>
                                        <p:tgtEl>
                                          <p:spTgt spid="56525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65252"/>
                                        </p:tgtEl>
                                        <p:attrNameLst>
                                          <p:attrName>style.visibility</p:attrName>
                                        </p:attrNameLst>
                                      </p:cBhvr>
                                      <p:to>
                                        <p:strVal val="visible"/>
                                      </p:to>
                                    </p:set>
                                    <p:animEffect transition="in" filter="dissolve">
                                      <p:cBhvr>
                                        <p:cTn id="12" dur="500"/>
                                        <p:tgtEl>
                                          <p:spTgt spid="565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0" grpId="0" animBg="1" autoUpdateAnimBg="0"/>
      <p:bldP spid="565252"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endParaRPr lang="en-US" altLang="zh-CN" dirty="0"/>
          </a:p>
        </p:txBody>
      </p:sp>
      <p:sp>
        <p:nvSpPr>
          <p:cNvPr id="31747" name="Rectangle 2"/>
          <p:cNvSpPr>
            <a:spLocks noChangeArrowheads="1"/>
          </p:cNvSpPr>
          <p:nvPr/>
        </p:nvSpPr>
        <p:spPr bwMode="auto">
          <a:xfrm>
            <a:off x="2590800" y="2431605"/>
            <a:ext cx="69088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828800" lvl="3" indent="-457200">
              <a:buClr>
                <a:schemeClr val="hlink"/>
              </a:buClr>
              <a:buFontTx/>
              <a:buAutoNum type="arabicParenR"/>
            </a:pPr>
            <a:r>
              <a:rPr lang="zh-CN" altLang="en-US" sz="3200" b="1" dirty="0">
                <a:latin typeface="Times New Roman" pitchFamily="18" charset="0"/>
              </a:rPr>
              <a:t>作用范围从定义起到文件尾</a:t>
            </a:r>
            <a:endParaRPr lang="zh-CN" altLang="zh-CN" sz="3200" b="1" dirty="0">
              <a:latin typeface="Times New Roman" pitchFamily="18" charset="0"/>
            </a:endParaRPr>
          </a:p>
        </p:txBody>
      </p:sp>
      <p:sp>
        <p:nvSpPr>
          <p:cNvPr id="31749" name="Rectangle 4"/>
          <p:cNvSpPr>
            <a:spLocks noChangeArrowheads="1"/>
          </p:cNvSpPr>
          <p:nvPr/>
        </p:nvSpPr>
        <p:spPr bwMode="auto">
          <a:xfrm>
            <a:off x="2601516" y="3027488"/>
            <a:ext cx="69850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828800" lvl="3" indent="-457200">
              <a:buClr>
                <a:schemeClr val="hlink"/>
              </a:buClr>
              <a:buFontTx/>
              <a:buAutoNum type="arabicParenR" startAt="2"/>
            </a:pPr>
            <a:r>
              <a:rPr lang="zh-CN" altLang="en-US" sz="3200" b="1" dirty="0">
                <a:latin typeface="Times New Roman" pitchFamily="18" charset="0"/>
              </a:rPr>
              <a:t>与局部变量同名时被屏蔽</a:t>
            </a:r>
          </a:p>
        </p:txBody>
      </p:sp>
      <p:sp>
        <p:nvSpPr>
          <p:cNvPr id="31750" name="Rectangle 5"/>
          <p:cNvSpPr>
            <a:spLocks noChangeArrowheads="1"/>
          </p:cNvSpPr>
          <p:nvPr/>
        </p:nvSpPr>
        <p:spPr bwMode="auto">
          <a:xfrm>
            <a:off x="1384301" y="1692275"/>
            <a:ext cx="8062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600200" lvl="3" indent="-228600">
              <a:lnSpc>
                <a:spcPct val="95000"/>
              </a:lnSpc>
              <a:buClr>
                <a:schemeClr val="hlink"/>
              </a:buClr>
            </a:pPr>
            <a:r>
              <a:rPr lang="zh-CN" altLang="en-US" sz="3200" b="1" dirty="0">
                <a:solidFill>
                  <a:srgbClr val="C00000"/>
                </a:solidFill>
              </a:rPr>
              <a:t>定义：</a:t>
            </a:r>
            <a:r>
              <a:rPr lang="zh-CN" altLang="en-US" sz="3200" b="1" dirty="0"/>
              <a:t>在函数外部定义的变量</a:t>
            </a:r>
          </a:p>
        </p:txBody>
      </p:sp>
      <p:sp>
        <p:nvSpPr>
          <p:cNvPr id="31751" name="Rectangle 6"/>
          <p:cNvSpPr>
            <a:spLocks noChangeArrowheads="1"/>
          </p:cNvSpPr>
          <p:nvPr/>
        </p:nvSpPr>
        <p:spPr bwMode="auto">
          <a:xfrm>
            <a:off x="1470026" y="985168"/>
            <a:ext cx="3457575"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全局变量</a:t>
            </a:r>
          </a:p>
        </p:txBody>
      </p:sp>
      <p:sp>
        <p:nvSpPr>
          <p:cNvPr id="31752" name="Rectangle 7"/>
          <p:cNvSpPr>
            <a:spLocks noChangeArrowheads="1"/>
          </p:cNvSpPr>
          <p:nvPr/>
        </p:nvSpPr>
        <p:spPr bwMode="auto">
          <a:xfrm>
            <a:off x="1384300" y="2445891"/>
            <a:ext cx="72009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lgn="l"/>
            <a:r>
              <a:rPr lang="zh-CN" altLang="en-US" sz="3200" b="1" dirty="0">
                <a:solidFill>
                  <a:srgbClr val="C00000"/>
                </a:solidFill>
              </a:rPr>
              <a:t>说明：</a:t>
            </a:r>
            <a:endParaRPr lang="zh-CN" altLang="zh-CN" sz="3200" b="1" dirty="0">
              <a:solidFill>
                <a:srgbClr val="C00000"/>
              </a:solidFill>
            </a:endParaRPr>
          </a:p>
        </p:txBody>
      </p:sp>
      <p:sp>
        <p:nvSpPr>
          <p:cNvPr id="566280" name="Rectangle 8"/>
          <p:cNvSpPr>
            <a:spLocks noChangeArrowheads="1"/>
          </p:cNvSpPr>
          <p:nvPr/>
        </p:nvSpPr>
        <p:spPr bwMode="auto">
          <a:xfrm>
            <a:off x="3969668" y="3612058"/>
            <a:ext cx="74676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pPr>
            <a:r>
              <a:rPr lang="en-US" altLang="zh-CN" sz="3200" b="1" dirty="0">
                <a:solidFill>
                  <a:schemeClr val="hlink"/>
                </a:solidFill>
                <a:latin typeface="Times New Roman" pitchFamily="18" charset="0"/>
              </a:rPr>
              <a:t>3) </a:t>
            </a:r>
            <a:r>
              <a:rPr lang="zh-CN" altLang="en-US" sz="3200" b="1" dirty="0">
                <a:latin typeface="Times New Roman" pitchFamily="18" charset="0"/>
              </a:rPr>
              <a:t>未初始化初值为</a:t>
            </a:r>
            <a:r>
              <a:rPr lang="en-US" altLang="zh-CN" sz="3200" b="1" dirty="0">
                <a:latin typeface="Times New Roman" pitchFamily="18" charset="0"/>
                <a:ea typeface="宋体" charset="-122"/>
              </a:rPr>
              <a:t>"</a:t>
            </a:r>
            <a:r>
              <a:rPr lang="zh-CN" altLang="en-US" sz="3200" b="1" dirty="0">
                <a:latin typeface="Times New Roman" pitchFamily="18" charset="0"/>
              </a:rPr>
              <a:t>０</a:t>
            </a:r>
            <a:r>
              <a:rPr lang="en-US" altLang="zh-CN" sz="3200" b="1" dirty="0">
                <a:latin typeface="Times New Roman" pitchFamily="18" charset="0"/>
                <a:ea typeface="宋体" charset="-122"/>
              </a:rPr>
              <a:t>"</a:t>
            </a:r>
            <a:r>
              <a:rPr lang="en-US" altLang="zh-CN" sz="3200" b="1" dirty="0">
                <a:latin typeface="Times New Roman" pitchFamily="18" charset="0"/>
              </a:rPr>
              <a:t> </a:t>
            </a:r>
            <a:r>
              <a:rPr lang="zh-CN" altLang="en-US" sz="3200" b="1" dirty="0">
                <a:latin typeface="Times New Roman" pitchFamily="18" charset="0"/>
              </a:rPr>
              <a:t>或</a:t>
            </a:r>
            <a:r>
              <a:rPr lang="en-US" altLang="zh-CN" sz="3200" b="1" dirty="0">
                <a:latin typeface="Times New Roman" pitchFamily="18" charset="0"/>
                <a:ea typeface="宋体" charset="-122"/>
              </a:rPr>
              <a:t>'</a:t>
            </a:r>
            <a:r>
              <a:rPr lang="en-US" altLang="zh-CN" sz="3200" b="1" dirty="0">
                <a:latin typeface="Times New Roman" pitchFamily="18" charset="0"/>
              </a:rPr>
              <a:t>\0</a:t>
            </a:r>
            <a:r>
              <a:rPr lang="en-US" altLang="zh-CN" sz="3200" b="1" dirty="0">
                <a:latin typeface="Times New Roman" pitchFamily="18" charset="0"/>
                <a:ea typeface="宋体" charset="-122"/>
              </a:rPr>
              <a:t>'</a:t>
            </a:r>
          </a:p>
        </p:txBody>
      </p:sp>
      <p:sp>
        <p:nvSpPr>
          <p:cNvPr id="566281" name="Rectangle 9"/>
          <p:cNvSpPr>
            <a:spLocks noChangeArrowheads="1"/>
          </p:cNvSpPr>
          <p:nvPr/>
        </p:nvSpPr>
        <p:spPr bwMode="auto">
          <a:xfrm>
            <a:off x="3767138" y="4235475"/>
            <a:ext cx="4818062" cy="2554545"/>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l" eaLnBrk="0" hangingPunct="0">
              <a:lnSpc>
                <a:spcPct val="125000"/>
              </a:lnSpc>
            </a:pPr>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p>
          <a:p>
            <a:pPr algn="l" eaLnBrk="0" hangingPunct="0">
              <a:lnSpc>
                <a:spcPct val="125000"/>
              </a:lnSpc>
            </a:pP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c;</a:t>
            </a:r>
          </a:p>
          <a:p>
            <a:pPr algn="l" eaLnBrk="0" hangingPunct="0">
              <a:lnSpc>
                <a:spcPct val="125000"/>
              </a:lnSpc>
            </a:pPr>
            <a:r>
              <a:rPr lang="en-US" altLang="zh-CN" sz="3200" b="1" dirty="0">
                <a:latin typeface="Times New Roman" pitchFamily="18" charset="0"/>
                <a:ea typeface="宋体" charset="-122"/>
              </a:rPr>
              <a:t>main( )</a:t>
            </a:r>
          </a:p>
          <a:p>
            <a:pPr algn="l" eaLnBrk="0" hangingPunct="0">
              <a:lnSpc>
                <a:spcPct val="125000"/>
              </a:lnSpc>
            </a:pPr>
            <a:r>
              <a:rPr lang="en-US" altLang="zh-CN" sz="3200" b="1" dirty="0">
                <a:latin typeface="Times New Roman" pitchFamily="18" charset="0"/>
                <a:ea typeface="宋体" charset="-122"/>
              </a:rPr>
              <a:t>{</a:t>
            </a:r>
            <a:r>
              <a:rPr lang="zh-CN" altLang="en-US"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d",c</a:t>
            </a:r>
            <a:r>
              <a:rPr lang="en-US" altLang="zh-CN" sz="3200" b="1" dirty="0">
                <a:latin typeface="Times New Roman" pitchFamily="18" charset="0"/>
                <a:ea typeface="宋体" charset="-122"/>
              </a:rPr>
              <a:t>);        }</a:t>
            </a:r>
          </a:p>
        </p:txBody>
      </p:sp>
      <p:sp>
        <p:nvSpPr>
          <p:cNvPr id="566282" name="Rectangle 10"/>
          <p:cNvSpPr>
            <a:spLocks noChangeArrowheads="1"/>
          </p:cNvSpPr>
          <p:nvPr/>
        </p:nvSpPr>
        <p:spPr bwMode="auto">
          <a:xfrm>
            <a:off x="9293225" y="4773613"/>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dirty="0">
                <a:solidFill>
                  <a:srgbClr val="C00000"/>
                </a:solidFill>
                <a:latin typeface="Times New Roman" pitchFamily="18" charset="0"/>
                <a:ea typeface="宋体" charset="-122"/>
              </a:rPr>
              <a:t>0</a:t>
            </a:r>
          </a:p>
        </p:txBody>
      </p:sp>
      <p:sp>
        <p:nvSpPr>
          <p:cNvPr id="12" name="矩形 11"/>
          <p:cNvSpPr/>
          <p:nvPr/>
        </p:nvSpPr>
        <p:spPr>
          <a:xfrm>
            <a:off x="2728905"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rPr>
              <a:t>7.6 </a:t>
            </a:r>
            <a:r>
              <a:rPr lang="zh-CN" altLang="zh-CN" sz="4400" b="1" dirty="0">
                <a:solidFill>
                  <a:srgbClr val="800000"/>
                </a:solidFill>
                <a:latin typeface="Arial" pitchFamily="34" charset="0"/>
                <a:ea typeface="黑体" pitchFamily="49" charset="-122"/>
              </a:rPr>
              <a:t>变量和函数的作用域</a:t>
            </a:r>
          </a:p>
        </p:txBody>
      </p:sp>
    </p:spTree>
    <p:extLst>
      <p:ext uri="{BB962C8B-B14F-4D97-AF65-F5344CB8AC3E}">
        <p14:creationId xmlns:p14="http://schemas.microsoft.com/office/powerpoint/2010/main" val="35903217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50"/>
                                        </p:tgtEl>
                                        <p:attrNameLst>
                                          <p:attrName>style.visibility</p:attrName>
                                        </p:attrNameLst>
                                      </p:cBhvr>
                                      <p:to>
                                        <p:strVal val="visible"/>
                                      </p:to>
                                    </p:set>
                                    <p:animEffect transition="in" filter="fade">
                                      <p:cBhvr>
                                        <p:cTn id="7" dur="500"/>
                                        <p:tgtEl>
                                          <p:spTgt spid="317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52"/>
                                        </p:tgtEl>
                                        <p:attrNameLst>
                                          <p:attrName>style.visibility</p:attrName>
                                        </p:attrNameLst>
                                      </p:cBhvr>
                                      <p:to>
                                        <p:strVal val="visible"/>
                                      </p:to>
                                    </p:set>
                                    <p:animEffect transition="in" filter="fade">
                                      <p:cBhvr>
                                        <p:cTn id="12" dur="500"/>
                                        <p:tgtEl>
                                          <p:spTgt spid="317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747"/>
                                        </p:tgtEl>
                                        <p:attrNameLst>
                                          <p:attrName>style.visibility</p:attrName>
                                        </p:attrNameLst>
                                      </p:cBhvr>
                                      <p:to>
                                        <p:strVal val="visible"/>
                                      </p:to>
                                    </p:set>
                                    <p:animEffect transition="in" filter="fade">
                                      <p:cBhvr>
                                        <p:cTn id="17" dur="500"/>
                                        <p:tgtEl>
                                          <p:spTgt spid="317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749"/>
                                        </p:tgtEl>
                                        <p:attrNameLst>
                                          <p:attrName>style.visibility</p:attrName>
                                        </p:attrNameLst>
                                      </p:cBhvr>
                                      <p:to>
                                        <p:strVal val="visible"/>
                                      </p:to>
                                    </p:set>
                                    <p:animEffect transition="in" filter="fade">
                                      <p:cBhvr>
                                        <p:cTn id="22" dur="500"/>
                                        <p:tgtEl>
                                          <p:spTgt spid="317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66280"/>
                                        </p:tgtEl>
                                        <p:attrNameLst>
                                          <p:attrName>style.visibility</p:attrName>
                                        </p:attrNameLst>
                                      </p:cBhvr>
                                      <p:to>
                                        <p:strVal val="visible"/>
                                      </p:to>
                                    </p:set>
                                    <p:animEffect transition="in" filter="wipe(left)">
                                      <p:cBhvr>
                                        <p:cTn id="27" dur="500"/>
                                        <p:tgtEl>
                                          <p:spTgt spid="5662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66281"/>
                                        </p:tgtEl>
                                        <p:attrNameLst>
                                          <p:attrName>style.visibility</p:attrName>
                                        </p:attrNameLst>
                                      </p:cBhvr>
                                      <p:to>
                                        <p:strVal val="visible"/>
                                      </p:to>
                                    </p:set>
                                    <p:animEffect transition="in" filter="dissolve">
                                      <p:cBhvr>
                                        <p:cTn id="32" dur="500"/>
                                        <p:tgtEl>
                                          <p:spTgt spid="56628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66282"/>
                                        </p:tgtEl>
                                        <p:attrNameLst>
                                          <p:attrName>style.visibility</p:attrName>
                                        </p:attrNameLst>
                                      </p:cBhvr>
                                      <p:to>
                                        <p:strVal val="visible"/>
                                      </p:to>
                                    </p:set>
                                    <p:animEffect transition="in" filter="dissolve">
                                      <p:cBhvr>
                                        <p:cTn id="37" dur="500"/>
                                        <p:tgtEl>
                                          <p:spTgt spid="566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P spid="31749" grpId="0"/>
      <p:bldP spid="31750" grpId="0"/>
      <p:bldP spid="31752" grpId="0"/>
      <p:bldP spid="566280" grpId="0" autoUpdateAnimBg="0"/>
      <p:bldP spid="566281" grpId="0" animBg="1" autoUpdateAnimBg="0"/>
      <p:bldP spid="566282"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a:xfrm>
            <a:off x="0" y="165100"/>
            <a:ext cx="0" cy="0"/>
          </a:xfrm>
        </p:spPr>
        <p:txBody>
          <a:bodyPr/>
          <a:lstStyle/>
          <a:p>
            <a:pPr>
              <a:defRPr/>
            </a:pPr>
            <a:endParaRPr lang="en-US" altLang="zh-CN" dirty="0"/>
          </a:p>
        </p:txBody>
      </p:sp>
      <p:sp>
        <p:nvSpPr>
          <p:cNvPr id="32771" name="Rectangle 2"/>
          <p:cNvSpPr>
            <a:spLocks noChangeArrowheads="1"/>
          </p:cNvSpPr>
          <p:nvPr/>
        </p:nvSpPr>
        <p:spPr bwMode="auto">
          <a:xfrm>
            <a:off x="2567608" y="2706862"/>
            <a:ext cx="69088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828800" lvl="3" indent="-457200">
              <a:buClr>
                <a:schemeClr val="hlink"/>
              </a:buClr>
              <a:buFontTx/>
              <a:buAutoNum type="arabicParenR"/>
            </a:pPr>
            <a:r>
              <a:rPr lang="zh-CN" altLang="en-US" sz="3200" b="1" dirty="0">
                <a:latin typeface="Times New Roman" pitchFamily="18" charset="0"/>
              </a:rPr>
              <a:t>作用范围从定义起到文件尾</a:t>
            </a:r>
            <a:endParaRPr lang="zh-CN" altLang="zh-CN" sz="3200" b="1" dirty="0">
              <a:latin typeface="Times New Roman" pitchFamily="18" charset="0"/>
            </a:endParaRPr>
          </a:p>
        </p:txBody>
      </p:sp>
      <p:sp>
        <p:nvSpPr>
          <p:cNvPr id="32773" name="Rectangle 4"/>
          <p:cNvSpPr>
            <a:spLocks noChangeArrowheads="1"/>
          </p:cNvSpPr>
          <p:nvPr/>
        </p:nvSpPr>
        <p:spPr bwMode="auto">
          <a:xfrm>
            <a:off x="2540001" y="3425504"/>
            <a:ext cx="650081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828800" lvl="3" indent="-457200">
              <a:buClr>
                <a:schemeClr val="hlink"/>
              </a:buClr>
              <a:buFontTx/>
              <a:buAutoNum type="arabicParenR" startAt="2"/>
            </a:pPr>
            <a:r>
              <a:rPr lang="zh-CN" altLang="en-US" sz="3200" b="1" dirty="0">
                <a:latin typeface="Times New Roman" pitchFamily="18" charset="0"/>
              </a:rPr>
              <a:t>与局部变量同名时被屏蔽</a:t>
            </a:r>
          </a:p>
        </p:txBody>
      </p:sp>
      <p:sp>
        <p:nvSpPr>
          <p:cNvPr id="32774" name="Rectangle 5"/>
          <p:cNvSpPr>
            <a:spLocks noChangeArrowheads="1"/>
          </p:cNvSpPr>
          <p:nvPr/>
        </p:nvSpPr>
        <p:spPr bwMode="auto">
          <a:xfrm>
            <a:off x="1343473" y="1959248"/>
            <a:ext cx="8062913" cy="644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600200" lvl="3" indent="-228600">
              <a:lnSpc>
                <a:spcPct val="95000"/>
              </a:lnSpc>
              <a:buClr>
                <a:schemeClr val="hlink"/>
              </a:buClr>
            </a:pPr>
            <a:r>
              <a:rPr lang="zh-CN" altLang="en-US" sz="3200" b="1" dirty="0">
                <a:solidFill>
                  <a:srgbClr val="C00000"/>
                </a:solidFill>
              </a:rPr>
              <a:t>定义：</a:t>
            </a:r>
            <a:r>
              <a:rPr lang="zh-CN" altLang="en-US" sz="3200" b="1" dirty="0"/>
              <a:t>在函数外部定义的变量</a:t>
            </a:r>
          </a:p>
        </p:txBody>
      </p:sp>
      <p:sp>
        <p:nvSpPr>
          <p:cNvPr id="32775" name="Rectangle 6"/>
          <p:cNvSpPr>
            <a:spLocks noChangeArrowheads="1"/>
          </p:cNvSpPr>
          <p:nvPr/>
        </p:nvSpPr>
        <p:spPr bwMode="auto">
          <a:xfrm>
            <a:off x="1470026" y="1201738"/>
            <a:ext cx="3457575"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全局变量</a:t>
            </a:r>
          </a:p>
        </p:txBody>
      </p:sp>
      <p:sp>
        <p:nvSpPr>
          <p:cNvPr id="32776" name="Rectangle 7"/>
          <p:cNvSpPr>
            <a:spLocks noChangeArrowheads="1"/>
          </p:cNvSpPr>
          <p:nvPr/>
        </p:nvSpPr>
        <p:spPr bwMode="auto">
          <a:xfrm>
            <a:off x="1343472" y="2726630"/>
            <a:ext cx="72009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lgn="l"/>
            <a:r>
              <a:rPr lang="zh-CN" altLang="en-US" sz="3200" b="1" dirty="0">
                <a:solidFill>
                  <a:srgbClr val="C00000"/>
                </a:solidFill>
              </a:rPr>
              <a:t>说明：</a:t>
            </a:r>
            <a:endParaRPr lang="zh-CN" altLang="zh-CN" sz="3200" b="1" dirty="0">
              <a:solidFill>
                <a:srgbClr val="C00000"/>
              </a:solidFill>
            </a:endParaRPr>
          </a:p>
        </p:txBody>
      </p:sp>
      <p:sp>
        <p:nvSpPr>
          <p:cNvPr id="32777" name="Rectangle 8"/>
          <p:cNvSpPr>
            <a:spLocks noChangeArrowheads="1"/>
          </p:cNvSpPr>
          <p:nvPr/>
        </p:nvSpPr>
        <p:spPr bwMode="auto">
          <a:xfrm>
            <a:off x="3919538" y="4065066"/>
            <a:ext cx="74676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pPr>
            <a:r>
              <a:rPr lang="en-US" altLang="zh-CN" sz="3200" b="1" dirty="0">
                <a:solidFill>
                  <a:schemeClr val="hlink"/>
                </a:solidFill>
                <a:latin typeface="Times New Roman" pitchFamily="18" charset="0"/>
              </a:rPr>
              <a:t>3) </a:t>
            </a:r>
            <a:r>
              <a:rPr lang="zh-CN" altLang="en-US" sz="3200" b="1" dirty="0">
                <a:latin typeface="Times New Roman" pitchFamily="18" charset="0"/>
              </a:rPr>
              <a:t>未初始化初值为</a:t>
            </a:r>
            <a:r>
              <a:rPr lang="en-US" altLang="zh-CN" sz="3200" b="1" dirty="0">
                <a:latin typeface="Times New Roman" pitchFamily="18" charset="0"/>
                <a:ea typeface="宋体" charset="-122"/>
              </a:rPr>
              <a:t>"</a:t>
            </a:r>
            <a:r>
              <a:rPr lang="zh-CN" altLang="en-US" sz="3200" b="1" dirty="0">
                <a:latin typeface="Times New Roman" pitchFamily="18" charset="0"/>
              </a:rPr>
              <a:t>０</a:t>
            </a:r>
            <a:r>
              <a:rPr lang="en-US" altLang="zh-CN" sz="3200" b="1" dirty="0">
                <a:latin typeface="Times New Roman" pitchFamily="18" charset="0"/>
                <a:ea typeface="宋体" charset="-122"/>
              </a:rPr>
              <a:t>"</a:t>
            </a:r>
            <a:r>
              <a:rPr lang="en-US" altLang="zh-CN" sz="3200" b="1" dirty="0">
                <a:latin typeface="Times New Roman" pitchFamily="18" charset="0"/>
              </a:rPr>
              <a:t> </a:t>
            </a:r>
            <a:r>
              <a:rPr lang="zh-CN" altLang="en-US" sz="3200" b="1" dirty="0">
                <a:latin typeface="Times New Roman" pitchFamily="18" charset="0"/>
              </a:rPr>
              <a:t>或</a:t>
            </a:r>
            <a:r>
              <a:rPr lang="en-US" altLang="zh-CN" sz="3200" b="1" dirty="0">
                <a:latin typeface="Times New Roman" pitchFamily="18" charset="0"/>
                <a:ea typeface="宋体" charset="-122"/>
              </a:rPr>
              <a:t>'</a:t>
            </a:r>
            <a:r>
              <a:rPr lang="en-US" altLang="zh-CN" sz="3200" b="1" dirty="0">
                <a:latin typeface="Times New Roman" pitchFamily="18" charset="0"/>
              </a:rPr>
              <a:t>\0</a:t>
            </a:r>
            <a:r>
              <a:rPr lang="en-US" altLang="zh-CN" sz="3200" b="1" dirty="0">
                <a:latin typeface="Times New Roman" pitchFamily="18" charset="0"/>
                <a:ea typeface="宋体" charset="-122"/>
              </a:rPr>
              <a:t>'</a:t>
            </a:r>
          </a:p>
        </p:txBody>
      </p:sp>
      <p:sp>
        <p:nvSpPr>
          <p:cNvPr id="567305" name="Rectangle 9"/>
          <p:cNvSpPr>
            <a:spLocks noChangeArrowheads="1"/>
          </p:cNvSpPr>
          <p:nvPr/>
        </p:nvSpPr>
        <p:spPr bwMode="auto">
          <a:xfrm>
            <a:off x="3919538" y="4830812"/>
            <a:ext cx="52578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pPr>
            <a:r>
              <a:rPr lang="en-US" altLang="zh-CN" sz="3200" b="1" dirty="0">
                <a:solidFill>
                  <a:schemeClr val="hlink"/>
                </a:solidFill>
                <a:latin typeface="Times New Roman" pitchFamily="18" charset="0"/>
              </a:rPr>
              <a:t>4) </a:t>
            </a:r>
            <a:r>
              <a:rPr lang="zh-CN" altLang="en-US" sz="3200" b="1" dirty="0">
                <a:latin typeface="Times New Roman" pitchFamily="18" charset="0"/>
              </a:rPr>
              <a:t>能够加强函数间数据联系</a:t>
            </a:r>
          </a:p>
        </p:txBody>
      </p:sp>
      <p:sp>
        <p:nvSpPr>
          <p:cNvPr id="11" name="矩形 10"/>
          <p:cNvSpPr/>
          <p:nvPr/>
        </p:nvSpPr>
        <p:spPr>
          <a:xfrm>
            <a:off x="29418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393893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fade">
                                      <p:cBhvr>
                                        <p:cTn id="7" dur="500"/>
                                        <p:tgtEl>
                                          <p:spTgt spid="327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776"/>
                                        </p:tgtEl>
                                        <p:attrNameLst>
                                          <p:attrName>style.visibility</p:attrName>
                                        </p:attrNameLst>
                                      </p:cBhvr>
                                      <p:to>
                                        <p:strVal val="visible"/>
                                      </p:to>
                                    </p:set>
                                    <p:animEffect transition="in" filter="fade">
                                      <p:cBhvr>
                                        <p:cTn id="12" dur="500"/>
                                        <p:tgtEl>
                                          <p:spTgt spid="327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771"/>
                                        </p:tgtEl>
                                        <p:attrNameLst>
                                          <p:attrName>style.visibility</p:attrName>
                                        </p:attrNameLst>
                                      </p:cBhvr>
                                      <p:to>
                                        <p:strVal val="visible"/>
                                      </p:to>
                                    </p:set>
                                    <p:animEffect transition="in" filter="fade">
                                      <p:cBhvr>
                                        <p:cTn id="17" dur="500"/>
                                        <p:tgtEl>
                                          <p:spTgt spid="3277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773"/>
                                        </p:tgtEl>
                                        <p:attrNameLst>
                                          <p:attrName>style.visibility</p:attrName>
                                        </p:attrNameLst>
                                      </p:cBhvr>
                                      <p:to>
                                        <p:strVal val="visible"/>
                                      </p:to>
                                    </p:set>
                                    <p:animEffect transition="in" filter="fade">
                                      <p:cBhvr>
                                        <p:cTn id="22" dur="500"/>
                                        <p:tgtEl>
                                          <p:spTgt spid="3277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67305"/>
                                        </p:tgtEl>
                                        <p:attrNameLst>
                                          <p:attrName>style.visibility</p:attrName>
                                        </p:attrNameLst>
                                      </p:cBhvr>
                                      <p:to>
                                        <p:strVal val="visible"/>
                                      </p:to>
                                    </p:set>
                                    <p:animEffect transition="in" filter="wipe(left)">
                                      <p:cBhvr>
                                        <p:cTn id="27" dur="500"/>
                                        <p:tgtEl>
                                          <p:spTgt spid="567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P spid="32773" grpId="0"/>
      <p:bldP spid="32774" grpId="0"/>
      <p:bldP spid="32776" grpId="0"/>
      <p:bldP spid="567305"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sp>
        <p:nvSpPr>
          <p:cNvPr id="568322" name="Rectangle 2"/>
          <p:cNvSpPr>
            <a:spLocks noChangeArrowheads="1"/>
          </p:cNvSpPr>
          <p:nvPr/>
        </p:nvSpPr>
        <p:spPr bwMode="auto">
          <a:xfrm>
            <a:off x="2781300" y="1168400"/>
            <a:ext cx="6553200" cy="4648200"/>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l" eaLnBrk="0" hangingPunct="0">
              <a:lnSpc>
                <a:spcPct val="75000"/>
              </a:lnSpc>
            </a:pPr>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p>
          <a:p>
            <a:pPr algn="l" eaLnBrk="0" hangingPunct="0">
              <a:lnSpc>
                <a:spcPct val="85000"/>
              </a:lnSpc>
            </a:pP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x[2]={1,2};</a:t>
            </a:r>
          </a:p>
          <a:p>
            <a:pPr algn="l" eaLnBrk="0" hangingPunct="0">
              <a:lnSpc>
                <a:spcPct val="85000"/>
              </a:lnSpc>
            </a:pPr>
            <a:r>
              <a:rPr lang="en-US" altLang="zh-CN" sz="3200" b="1" dirty="0">
                <a:latin typeface="Times New Roman" pitchFamily="18" charset="0"/>
                <a:ea typeface="宋体" charset="-122"/>
              </a:rPr>
              <a:t>void swap( )</a:t>
            </a:r>
          </a:p>
          <a:p>
            <a:pPr algn="l" eaLnBrk="0" hangingPunct="0">
              <a:lnSpc>
                <a:spcPct val="85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t;</a:t>
            </a:r>
          </a:p>
          <a:p>
            <a:pPr algn="l" eaLnBrk="0" hangingPunct="0">
              <a:lnSpc>
                <a:spcPct val="85000"/>
              </a:lnSpc>
            </a:pPr>
            <a:r>
              <a:rPr lang="en-US" altLang="zh-CN" sz="3200" b="1" dirty="0">
                <a:latin typeface="Times New Roman" pitchFamily="18" charset="0"/>
                <a:ea typeface="宋体" charset="-122"/>
              </a:rPr>
              <a:t>     t=x[0]; x[0]=x[1]; x[1]=t;</a:t>
            </a:r>
          </a:p>
          <a:p>
            <a:pPr algn="l" eaLnBrk="0" hangingPunct="0">
              <a:lnSpc>
                <a:spcPct val="85000"/>
              </a:lnSpc>
            </a:pPr>
            <a:r>
              <a:rPr lang="en-US" altLang="zh-CN" sz="3200" b="1" dirty="0">
                <a:latin typeface="Times New Roman" pitchFamily="18" charset="0"/>
                <a:ea typeface="宋体" charset="-122"/>
              </a:rPr>
              <a:t>}</a:t>
            </a:r>
          </a:p>
          <a:p>
            <a:pPr algn="l" eaLnBrk="0" hangingPunct="0">
              <a:lnSpc>
                <a:spcPct val="85000"/>
              </a:lnSpc>
            </a:pPr>
            <a:r>
              <a:rPr lang="en-US" altLang="zh-CN" sz="3200" b="1" dirty="0">
                <a:latin typeface="Times New Roman" pitchFamily="18" charset="0"/>
                <a:ea typeface="宋体" charset="-122"/>
              </a:rPr>
              <a:t>void main()</a:t>
            </a:r>
          </a:p>
          <a:p>
            <a:pPr algn="l" eaLnBrk="0" hangingPunct="0">
              <a:lnSpc>
                <a:spcPct val="85000"/>
              </a:lnSpc>
            </a:pPr>
            <a:r>
              <a:rPr lang="en-US" altLang="zh-CN" sz="3200" b="1" dirty="0">
                <a:latin typeface="Times New Roman" pitchFamily="18" charset="0"/>
                <a:ea typeface="宋体" charset="-122"/>
              </a:rPr>
              <a:t>{   swap( );</a:t>
            </a:r>
          </a:p>
          <a:p>
            <a:pPr algn="l" eaLnBrk="0" hangingPunct="0">
              <a:lnSpc>
                <a:spcPct val="85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("x[0]=%d,", x[0]);</a:t>
            </a:r>
          </a:p>
          <a:p>
            <a:pPr algn="l" eaLnBrk="0" hangingPunct="0">
              <a:lnSpc>
                <a:spcPct val="85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("x[1]=%d", x[1]);</a:t>
            </a:r>
          </a:p>
          <a:p>
            <a:pPr algn="l" eaLnBrk="0" hangingPunct="0">
              <a:lnSpc>
                <a:spcPct val="85000"/>
              </a:lnSpc>
            </a:pPr>
            <a:r>
              <a:rPr lang="en-US" altLang="zh-CN" sz="3200" b="1" dirty="0">
                <a:latin typeface="Times New Roman" pitchFamily="18" charset="0"/>
                <a:ea typeface="宋体" charset="-122"/>
              </a:rPr>
              <a:t>}</a:t>
            </a:r>
          </a:p>
        </p:txBody>
      </p:sp>
      <p:sp>
        <p:nvSpPr>
          <p:cNvPr id="33796" name="Rectangle 3"/>
          <p:cNvSpPr>
            <a:spLocks noChangeArrowheads="1"/>
          </p:cNvSpPr>
          <p:nvPr/>
        </p:nvSpPr>
        <p:spPr bwMode="auto">
          <a:xfrm>
            <a:off x="3657600" y="161828"/>
            <a:ext cx="4660900" cy="771623"/>
          </a:xfrm>
          <a:prstGeom prst="rect">
            <a:avLst/>
          </a:prstGeom>
          <a:solidFill>
            <a:schemeClr val="lt1"/>
          </a:solidFill>
          <a:effectLst/>
          <a:extLst/>
        </p:spPr>
        <p:txBody>
          <a:bodyPr vert="horz" lIns="91440" tIns="45720" rIns="91440" bIns="45720" rtlCol="0" anchor="ctr">
            <a:noAutofit/>
          </a:bodyPr>
          <a:lstStyle/>
          <a:p>
            <a:pPr algn="ctr">
              <a:spcBef>
                <a:spcPct val="0"/>
              </a:spcBef>
            </a:pPr>
            <a:r>
              <a:rPr lang="zh-CN" altLang="en-US" sz="4400" b="1" dirty="0">
                <a:solidFill>
                  <a:srgbClr val="800000"/>
                </a:solidFill>
                <a:latin typeface="Arial" pitchFamily="34" charset="0"/>
                <a:ea typeface="黑体" pitchFamily="49" charset="-122"/>
                <a:cs typeface="+mj-cs"/>
              </a:rPr>
              <a:t>全局变量的优点</a:t>
            </a:r>
          </a:p>
        </p:txBody>
      </p:sp>
      <p:sp>
        <p:nvSpPr>
          <p:cNvPr id="568324" name="AutoShape 4"/>
          <p:cNvSpPr>
            <a:spLocks/>
          </p:cNvSpPr>
          <p:nvPr/>
        </p:nvSpPr>
        <p:spPr bwMode="auto">
          <a:xfrm>
            <a:off x="7988300" y="1703288"/>
            <a:ext cx="228600" cy="3810000"/>
          </a:xfrm>
          <a:prstGeom prst="rightBrace">
            <a:avLst>
              <a:gd name="adj1" fmla="val 138889"/>
              <a:gd name="adj2" fmla="val 50000"/>
            </a:avLst>
          </a:prstGeom>
          <a:noFill/>
          <a:ln w="3810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75000"/>
              </a:lnSpc>
            </a:pPr>
            <a:endParaRPr lang="zh-CN" altLang="zh-CN" sz="3200" b="1">
              <a:solidFill>
                <a:srgbClr val="FF3300"/>
              </a:solidFill>
            </a:endParaRPr>
          </a:p>
        </p:txBody>
      </p:sp>
      <p:sp>
        <p:nvSpPr>
          <p:cNvPr id="568325" name="Text Box 5"/>
          <p:cNvSpPr txBox="1">
            <a:spLocks noChangeArrowheads="1"/>
          </p:cNvSpPr>
          <p:nvPr/>
        </p:nvSpPr>
        <p:spPr bwMode="auto">
          <a:xfrm>
            <a:off x="8117284" y="2587090"/>
            <a:ext cx="1117600" cy="20621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b="1" dirty="0">
                <a:latin typeface="Times New Roman" panose="02020603050405020304" pitchFamily="18" charset="0"/>
                <a:ea typeface="+mn-ea"/>
                <a:cs typeface="Times New Roman" panose="02020603050405020304" pitchFamily="18" charset="0"/>
              </a:rPr>
              <a:t>x[0]</a:t>
            </a:r>
          </a:p>
          <a:p>
            <a:r>
              <a:rPr lang="en-US" altLang="zh-CN" b="1" dirty="0">
                <a:latin typeface="Times New Roman" panose="02020603050405020304" pitchFamily="18" charset="0"/>
                <a:ea typeface="+mn-ea"/>
                <a:cs typeface="Times New Roman" panose="02020603050405020304" pitchFamily="18" charset="0"/>
              </a:rPr>
              <a:t>x[1]</a:t>
            </a:r>
          </a:p>
          <a:p>
            <a:r>
              <a:rPr lang="en-US" altLang="zh-CN" b="1" dirty="0">
                <a:latin typeface="Times New Roman" panose="02020603050405020304" pitchFamily="18" charset="0"/>
                <a:ea typeface="+mn-ea"/>
                <a:cs typeface="Times New Roman" panose="02020603050405020304" pitchFamily="18" charset="0"/>
              </a:rPr>
              <a:t>  </a:t>
            </a:r>
            <a:r>
              <a:rPr lang="zh-CN" altLang="zh-CN" b="1" dirty="0">
                <a:latin typeface="Times New Roman" panose="02020603050405020304" pitchFamily="18" charset="0"/>
                <a:ea typeface="+mn-ea"/>
                <a:cs typeface="Times New Roman" panose="02020603050405020304" pitchFamily="18" charset="0"/>
              </a:rPr>
              <a:t>有</a:t>
            </a:r>
            <a:endParaRPr lang="zh-CN" altLang="en-US" b="1" dirty="0">
              <a:latin typeface="Times New Roman" panose="02020603050405020304" pitchFamily="18" charset="0"/>
              <a:ea typeface="+mn-ea"/>
              <a:cs typeface="Times New Roman" panose="02020603050405020304" pitchFamily="18" charset="0"/>
            </a:endParaRPr>
          </a:p>
          <a:p>
            <a:r>
              <a:rPr lang="en-US" altLang="zh-CN" b="1" dirty="0">
                <a:latin typeface="Times New Roman" panose="02020603050405020304" pitchFamily="18" charset="0"/>
                <a:ea typeface="+mn-ea"/>
                <a:cs typeface="Times New Roman" panose="02020603050405020304" pitchFamily="18" charset="0"/>
              </a:rPr>
              <a:t>  </a:t>
            </a:r>
            <a:r>
              <a:rPr lang="zh-CN" altLang="zh-CN" b="1" dirty="0">
                <a:latin typeface="Times New Roman" panose="02020603050405020304" pitchFamily="18" charset="0"/>
                <a:ea typeface="+mn-ea"/>
                <a:cs typeface="Times New Roman" panose="02020603050405020304" pitchFamily="18" charset="0"/>
              </a:rPr>
              <a:t>效</a:t>
            </a:r>
            <a:endParaRPr lang="zh-CN" altLang="en-US" b="1" dirty="0">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320739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8322"/>
                                        </p:tgtEl>
                                        <p:attrNameLst>
                                          <p:attrName>style.visibility</p:attrName>
                                        </p:attrNameLst>
                                      </p:cBhvr>
                                      <p:to>
                                        <p:strVal val="visible"/>
                                      </p:to>
                                    </p:set>
                                    <p:animEffect transition="in" filter="dissolve">
                                      <p:cBhvr>
                                        <p:cTn id="7" dur="500"/>
                                        <p:tgtEl>
                                          <p:spTgt spid="5683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68324"/>
                                        </p:tgtEl>
                                        <p:attrNameLst>
                                          <p:attrName>style.visibility</p:attrName>
                                        </p:attrNameLst>
                                      </p:cBhvr>
                                      <p:to>
                                        <p:strVal val="visible"/>
                                      </p:to>
                                    </p:set>
                                    <p:animEffect transition="in" filter="box(in)">
                                      <p:cBhvr>
                                        <p:cTn id="12" dur="500"/>
                                        <p:tgtEl>
                                          <p:spTgt spid="5683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68325"/>
                                        </p:tgtEl>
                                        <p:attrNameLst>
                                          <p:attrName>style.visibility</p:attrName>
                                        </p:attrNameLst>
                                      </p:cBhvr>
                                      <p:to>
                                        <p:strVal val="visible"/>
                                      </p:to>
                                    </p:set>
                                    <p:animEffect transition="in" filter="wipe(up)">
                                      <p:cBhvr>
                                        <p:cTn id="17" dur="500"/>
                                        <p:tgtEl>
                                          <p:spTgt spid="568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2" grpId="0" animBg="1" autoUpdateAnimBg="0"/>
      <p:bldP spid="568324" grpId="0" animBg="1" autoUpdateAnimBg="0"/>
      <p:bldP spid="568325"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endParaRPr lang="en-US" altLang="zh-CN" dirty="0"/>
          </a:p>
        </p:txBody>
      </p:sp>
      <p:sp>
        <p:nvSpPr>
          <p:cNvPr id="34819" name="Rectangle 2"/>
          <p:cNvSpPr>
            <a:spLocks noChangeArrowheads="1"/>
          </p:cNvSpPr>
          <p:nvPr/>
        </p:nvSpPr>
        <p:spPr bwMode="auto">
          <a:xfrm>
            <a:off x="2654300" y="2608809"/>
            <a:ext cx="69088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828800" lvl="3" indent="-457200">
              <a:buClr>
                <a:schemeClr val="hlink"/>
              </a:buClr>
              <a:buFontTx/>
              <a:buAutoNum type="arabicParenR"/>
            </a:pPr>
            <a:r>
              <a:rPr lang="zh-CN" altLang="en-US" sz="3200" b="1" dirty="0">
                <a:latin typeface="Times New Roman" pitchFamily="18" charset="0"/>
              </a:rPr>
              <a:t>作用范围从定义起到文件尾</a:t>
            </a:r>
            <a:endParaRPr lang="zh-CN" altLang="zh-CN" sz="3200" b="1" dirty="0">
              <a:latin typeface="Times New Roman" pitchFamily="18" charset="0"/>
            </a:endParaRPr>
          </a:p>
        </p:txBody>
      </p:sp>
      <p:sp>
        <p:nvSpPr>
          <p:cNvPr id="34821" name="Rectangle 4"/>
          <p:cNvSpPr>
            <a:spLocks noChangeArrowheads="1"/>
          </p:cNvSpPr>
          <p:nvPr/>
        </p:nvSpPr>
        <p:spPr bwMode="auto">
          <a:xfrm>
            <a:off x="2641601" y="3272384"/>
            <a:ext cx="650081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828800" lvl="3" indent="-457200">
              <a:buClr>
                <a:schemeClr val="hlink"/>
              </a:buClr>
              <a:buFontTx/>
              <a:buAutoNum type="arabicParenR" startAt="2"/>
            </a:pPr>
            <a:r>
              <a:rPr lang="zh-CN" altLang="en-US" sz="3200" b="1" dirty="0">
                <a:latin typeface="Times New Roman" pitchFamily="18" charset="0"/>
              </a:rPr>
              <a:t>与局部变量同名时被屏蔽</a:t>
            </a:r>
          </a:p>
        </p:txBody>
      </p:sp>
      <p:sp>
        <p:nvSpPr>
          <p:cNvPr id="34822" name="Rectangle 5"/>
          <p:cNvSpPr>
            <a:spLocks noChangeArrowheads="1"/>
          </p:cNvSpPr>
          <p:nvPr/>
        </p:nvSpPr>
        <p:spPr bwMode="auto">
          <a:xfrm>
            <a:off x="1335687" y="1882428"/>
            <a:ext cx="8062913" cy="56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600200" lvl="3" indent="-228600">
              <a:lnSpc>
                <a:spcPct val="95000"/>
              </a:lnSpc>
              <a:buClr>
                <a:schemeClr val="hlink"/>
              </a:buClr>
            </a:pPr>
            <a:r>
              <a:rPr lang="zh-CN" altLang="en-US" sz="3200" b="1" dirty="0">
                <a:solidFill>
                  <a:srgbClr val="C00000"/>
                </a:solidFill>
              </a:rPr>
              <a:t>定义：</a:t>
            </a:r>
            <a:r>
              <a:rPr lang="zh-CN" altLang="en-US" sz="3200" b="1" dirty="0"/>
              <a:t>在函数外部定义的变量</a:t>
            </a:r>
          </a:p>
        </p:txBody>
      </p:sp>
      <p:sp>
        <p:nvSpPr>
          <p:cNvPr id="34823" name="Rectangle 6"/>
          <p:cNvSpPr>
            <a:spLocks noChangeArrowheads="1"/>
          </p:cNvSpPr>
          <p:nvPr/>
        </p:nvSpPr>
        <p:spPr bwMode="auto">
          <a:xfrm>
            <a:off x="1470026" y="1124992"/>
            <a:ext cx="3457575" cy="64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lvl="2">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全局变量</a:t>
            </a:r>
          </a:p>
        </p:txBody>
      </p:sp>
      <p:sp>
        <p:nvSpPr>
          <p:cNvPr id="34824" name="Rectangle 7"/>
          <p:cNvSpPr>
            <a:spLocks noChangeArrowheads="1"/>
          </p:cNvSpPr>
          <p:nvPr/>
        </p:nvSpPr>
        <p:spPr bwMode="auto">
          <a:xfrm>
            <a:off x="1333500" y="2629346"/>
            <a:ext cx="72009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3" algn="l"/>
            <a:r>
              <a:rPr lang="zh-CN" altLang="en-US" sz="3200" b="1" dirty="0">
                <a:solidFill>
                  <a:srgbClr val="C00000"/>
                </a:solidFill>
              </a:rPr>
              <a:t>说明：</a:t>
            </a:r>
            <a:endParaRPr lang="zh-CN" altLang="zh-CN" sz="3200" b="1" dirty="0">
              <a:solidFill>
                <a:srgbClr val="C00000"/>
              </a:solidFill>
            </a:endParaRPr>
          </a:p>
        </p:txBody>
      </p:sp>
      <p:sp>
        <p:nvSpPr>
          <p:cNvPr id="34825" name="Rectangle 8"/>
          <p:cNvSpPr>
            <a:spLocks noChangeArrowheads="1"/>
          </p:cNvSpPr>
          <p:nvPr/>
        </p:nvSpPr>
        <p:spPr bwMode="auto">
          <a:xfrm>
            <a:off x="4029000" y="3957615"/>
            <a:ext cx="74676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pPr>
            <a:r>
              <a:rPr lang="en-US" altLang="zh-CN" sz="3200" b="1" dirty="0">
                <a:solidFill>
                  <a:schemeClr val="hlink"/>
                </a:solidFill>
                <a:latin typeface="Times New Roman" pitchFamily="18" charset="0"/>
              </a:rPr>
              <a:t>3) </a:t>
            </a:r>
            <a:r>
              <a:rPr lang="zh-CN" altLang="en-US" sz="3200" b="1" dirty="0">
                <a:latin typeface="Times New Roman" pitchFamily="18" charset="0"/>
              </a:rPr>
              <a:t>未初始化初值为</a:t>
            </a:r>
            <a:r>
              <a:rPr lang="en-US" altLang="zh-CN" sz="3200" b="1" dirty="0">
                <a:latin typeface="Times New Roman" pitchFamily="18" charset="0"/>
                <a:ea typeface="宋体" charset="-122"/>
              </a:rPr>
              <a:t>"</a:t>
            </a:r>
            <a:r>
              <a:rPr lang="zh-CN" altLang="en-US" sz="3200" b="1" dirty="0">
                <a:latin typeface="Times New Roman" pitchFamily="18" charset="0"/>
              </a:rPr>
              <a:t>０</a:t>
            </a:r>
            <a:r>
              <a:rPr lang="en-US" altLang="zh-CN" sz="3200" b="1" dirty="0">
                <a:latin typeface="Times New Roman" pitchFamily="18" charset="0"/>
                <a:ea typeface="宋体" charset="-122"/>
              </a:rPr>
              <a:t>"</a:t>
            </a:r>
            <a:r>
              <a:rPr lang="en-US" altLang="zh-CN" sz="3200" b="1" dirty="0">
                <a:latin typeface="Times New Roman" pitchFamily="18" charset="0"/>
              </a:rPr>
              <a:t> </a:t>
            </a:r>
            <a:r>
              <a:rPr lang="zh-CN" altLang="en-US" sz="3200" b="1" dirty="0">
                <a:latin typeface="Times New Roman" pitchFamily="18" charset="0"/>
              </a:rPr>
              <a:t>或</a:t>
            </a:r>
            <a:r>
              <a:rPr lang="en-US" altLang="zh-CN" sz="3200" b="1" dirty="0">
                <a:latin typeface="Times New Roman" pitchFamily="18" charset="0"/>
                <a:ea typeface="宋体" charset="-122"/>
              </a:rPr>
              <a:t>'</a:t>
            </a:r>
            <a:r>
              <a:rPr lang="en-US" altLang="zh-CN" sz="3200" b="1" dirty="0">
                <a:latin typeface="Times New Roman" pitchFamily="18" charset="0"/>
              </a:rPr>
              <a:t>\0</a:t>
            </a:r>
            <a:r>
              <a:rPr lang="en-US" altLang="zh-CN" sz="3200" b="1" dirty="0">
                <a:latin typeface="Times New Roman" pitchFamily="18" charset="0"/>
                <a:ea typeface="宋体" charset="-122"/>
              </a:rPr>
              <a:t>'</a:t>
            </a:r>
          </a:p>
        </p:txBody>
      </p:sp>
      <p:sp>
        <p:nvSpPr>
          <p:cNvPr id="34826" name="Rectangle 9"/>
          <p:cNvSpPr>
            <a:spLocks noChangeArrowheads="1"/>
          </p:cNvSpPr>
          <p:nvPr/>
        </p:nvSpPr>
        <p:spPr bwMode="auto">
          <a:xfrm>
            <a:off x="4029000" y="4661569"/>
            <a:ext cx="52578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pPr>
            <a:r>
              <a:rPr lang="en-US" altLang="zh-CN" sz="3200" b="1" dirty="0">
                <a:solidFill>
                  <a:schemeClr val="hlink"/>
                </a:solidFill>
                <a:latin typeface="Times New Roman" pitchFamily="18" charset="0"/>
              </a:rPr>
              <a:t>4) </a:t>
            </a:r>
            <a:r>
              <a:rPr lang="zh-CN" altLang="en-US" sz="3200" b="1" dirty="0">
                <a:latin typeface="Times New Roman" pitchFamily="18" charset="0"/>
              </a:rPr>
              <a:t>能够加强函数间数据联系</a:t>
            </a:r>
          </a:p>
        </p:txBody>
      </p:sp>
      <p:sp>
        <p:nvSpPr>
          <p:cNvPr id="570378" name="Rectangle 10"/>
          <p:cNvSpPr>
            <a:spLocks noChangeArrowheads="1"/>
          </p:cNvSpPr>
          <p:nvPr/>
        </p:nvSpPr>
        <p:spPr bwMode="auto">
          <a:xfrm>
            <a:off x="2181150" y="5399310"/>
            <a:ext cx="76390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286000" lvl="4" indent="-457200">
              <a:buClr>
                <a:schemeClr val="hlink"/>
              </a:buClr>
              <a:buFontTx/>
              <a:buAutoNum type="arabicParenR" startAt="5"/>
            </a:pPr>
            <a:r>
              <a:rPr lang="zh-CN" altLang="en-US" sz="3200" b="1" dirty="0">
                <a:latin typeface="Times New Roman" pitchFamily="18" charset="0"/>
              </a:rPr>
              <a:t>降低程序清晰性，容易出错</a:t>
            </a:r>
          </a:p>
        </p:txBody>
      </p:sp>
      <p:sp>
        <p:nvSpPr>
          <p:cNvPr id="12" name="矩形 11"/>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425970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animEffect transition="in" filter="fade">
                                      <p:cBhvr>
                                        <p:cTn id="7" dur="500"/>
                                        <p:tgtEl>
                                          <p:spTgt spid="348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24"/>
                                        </p:tgtEl>
                                        <p:attrNameLst>
                                          <p:attrName>style.visibility</p:attrName>
                                        </p:attrNameLst>
                                      </p:cBhvr>
                                      <p:to>
                                        <p:strVal val="visible"/>
                                      </p:to>
                                    </p:set>
                                    <p:animEffect transition="in" filter="fade">
                                      <p:cBhvr>
                                        <p:cTn id="12" dur="500"/>
                                        <p:tgtEl>
                                          <p:spTgt spid="348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819"/>
                                        </p:tgtEl>
                                        <p:attrNameLst>
                                          <p:attrName>style.visibility</p:attrName>
                                        </p:attrNameLst>
                                      </p:cBhvr>
                                      <p:to>
                                        <p:strVal val="visible"/>
                                      </p:to>
                                    </p:set>
                                    <p:animEffect transition="in" filter="fade">
                                      <p:cBhvr>
                                        <p:cTn id="17" dur="500"/>
                                        <p:tgtEl>
                                          <p:spTgt spid="348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821"/>
                                        </p:tgtEl>
                                        <p:attrNameLst>
                                          <p:attrName>style.visibility</p:attrName>
                                        </p:attrNameLst>
                                      </p:cBhvr>
                                      <p:to>
                                        <p:strVal val="visible"/>
                                      </p:to>
                                    </p:set>
                                    <p:animEffect transition="in" filter="fade">
                                      <p:cBhvr>
                                        <p:cTn id="22" dur="500"/>
                                        <p:tgtEl>
                                          <p:spTgt spid="348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825"/>
                                        </p:tgtEl>
                                        <p:attrNameLst>
                                          <p:attrName>style.visibility</p:attrName>
                                        </p:attrNameLst>
                                      </p:cBhvr>
                                      <p:to>
                                        <p:strVal val="visible"/>
                                      </p:to>
                                    </p:set>
                                    <p:animEffect transition="in" filter="fade">
                                      <p:cBhvr>
                                        <p:cTn id="27" dur="500"/>
                                        <p:tgtEl>
                                          <p:spTgt spid="348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826"/>
                                        </p:tgtEl>
                                        <p:attrNameLst>
                                          <p:attrName>style.visibility</p:attrName>
                                        </p:attrNameLst>
                                      </p:cBhvr>
                                      <p:to>
                                        <p:strVal val="visible"/>
                                      </p:to>
                                    </p:set>
                                    <p:animEffect transition="in" filter="fade">
                                      <p:cBhvr>
                                        <p:cTn id="32" dur="500"/>
                                        <p:tgtEl>
                                          <p:spTgt spid="348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70378"/>
                                        </p:tgtEl>
                                        <p:attrNameLst>
                                          <p:attrName>style.visibility</p:attrName>
                                        </p:attrNameLst>
                                      </p:cBhvr>
                                      <p:to>
                                        <p:strVal val="visible"/>
                                      </p:to>
                                    </p:set>
                                    <p:animEffect transition="in" filter="fade">
                                      <p:cBhvr>
                                        <p:cTn id="37" dur="500"/>
                                        <p:tgtEl>
                                          <p:spTgt spid="570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p:bldP spid="34821" grpId="0"/>
      <p:bldP spid="34822" grpId="0"/>
      <p:bldP spid="34824" grpId="0"/>
      <p:bldP spid="34825" grpId="0"/>
      <p:bldP spid="34826" grpId="0"/>
      <p:bldP spid="57037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pPr>
              <a:defRPr/>
            </a:pPr>
            <a:endParaRPr lang="en-US" altLang="zh-CN" dirty="0"/>
          </a:p>
        </p:txBody>
      </p:sp>
      <p:sp>
        <p:nvSpPr>
          <p:cNvPr id="571395" name="Rectangle 3"/>
          <p:cNvSpPr>
            <a:spLocks noChangeArrowheads="1"/>
          </p:cNvSpPr>
          <p:nvPr/>
        </p:nvSpPr>
        <p:spPr bwMode="auto">
          <a:xfrm>
            <a:off x="2406650" y="928689"/>
            <a:ext cx="7391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95000"/>
              </a:lnSpc>
              <a:spcBef>
                <a:spcPct val="50000"/>
              </a:spcBef>
              <a:buClr>
                <a:srgbClr val="FFCC66"/>
              </a:buClr>
              <a:buSzPct val="80000"/>
              <a:buFont typeface="Monotype Sorts" pitchFamily="2" charset="2"/>
              <a:buChar char=""/>
              <a:defRPr/>
            </a:pPr>
            <a:endParaRPr lang="zh-CN" altLang="zh-CN" sz="3200" b="1">
              <a:solidFill>
                <a:srgbClr val="3366FF"/>
              </a:solidFill>
              <a:effectLst>
                <a:outerShdw blurRad="38100" dist="38100" dir="2700000" algn="tl">
                  <a:srgbClr val="C0C0C0"/>
                </a:outerShdw>
              </a:effectLst>
              <a:latin typeface="Times New Roman" pitchFamily="18" charset="0"/>
            </a:endParaRPr>
          </a:p>
        </p:txBody>
      </p:sp>
      <p:sp>
        <p:nvSpPr>
          <p:cNvPr id="571396" name="Rectangle 4"/>
          <p:cNvSpPr>
            <a:spLocks noChangeArrowheads="1"/>
          </p:cNvSpPr>
          <p:nvPr/>
        </p:nvSpPr>
        <p:spPr bwMode="auto">
          <a:xfrm>
            <a:off x="2330450" y="903288"/>
            <a:ext cx="7543800" cy="3144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50000"/>
              </a:lnSpc>
              <a:buClr>
                <a:schemeClr val="tx2">
                  <a:lumMod val="60000"/>
                  <a:lumOff val="40000"/>
                </a:schemeClr>
              </a:buClr>
              <a:buSzPct val="80000"/>
              <a:buFont typeface="Wingdings" pitchFamily="2" charset="2"/>
              <a:buChar char="Ø"/>
            </a:pPr>
            <a:r>
              <a:rPr lang="zh-CN" altLang="en-US" sz="3600" b="1" dirty="0">
                <a:solidFill>
                  <a:srgbClr val="C00000"/>
                </a:solidFill>
                <a:latin typeface="Times New Roman" pitchFamily="18" charset="0"/>
              </a:rPr>
              <a:t>动态存储</a:t>
            </a:r>
          </a:p>
          <a:p>
            <a:pPr algn="l">
              <a:lnSpc>
                <a:spcPct val="150000"/>
              </a:lnSpc>
              <a:buClr>
                <a:schemeClr val="hlink"/>
              </a:buClr>
              <a:buSzPct val="80000"/>
              <a:buFont typeface="Wingdings" pitchFamily="2" charset="2"/>
              <a:buNone/>
            </a:pPr>
            <a:r>
              <a:rPr lang="zh-CN" altLang="en-US" sz="3200" b="1" dirty="0">
                <a:latin typeface="Times New Roman" pitchFamily="18" charset="0"/>
              </a:rPr>
              <a:t>   程序运行时根据需要动态分配存储空间                               </a:t>
            </a:r>
          </a:p>
          <a:p>
            <a:pPr algn="l">
              <a:lnSpc>
                <a:spcPct val="150000"/>
              </a:lnSpc>
              <a:buClr>
                <a:schemeClr val="tx2">
                  <a:lumMod val="60000"/>
                  <a:lumOff val="40000"/>
                </a:schemeClr>
              </a:buClr>
              <a:buSzPct val="80000"/>
              <a:buFont typeface="Wingdings" pitchFamily="2" charset="2"/>
              <a:buChar char="Ø"/>
            </a:pPr>
            <a:r>
              <a:rPr lang="zh-CN" altLang="en-US" sz="3600" b="1" dirty="0">
                <a:solidFill>
                  <a:srgbClr val="C00000"/>
                </a:solidFill>
                <a:latin typeface="Times New Roman" pitchFamily="18" charset="0"/>
              </a:rPr>
              <a:t>静态存储</a:t>
            </a:r>
          </a:p>
          <a:p>
            <a:pPr algn="l">
              <a:lnSpc>
                <a:spcPct val="150000"/>
              </a:lnSpc>
              <a:buClr>
                <a:schemeClr val="hlink"/>
              </a:buClr>
              <a:buSzPct val="80000"/>
              <a:buFont typeface="Wingdings" pitchFamily="2" charset="2"/>
              <a:buNone/>
            </a:pPr>
            <a:r>
              <a:rPr lang="zh-CN" altLang="en-US" sz="3200" b="1" dirty="0">
                <a:latin typeface="Times New Roman" pitchFamily="18" charset="0"/>
              </a:rPr>
              <a:t>   程序运行时占据固定的存储空间不释放</a:t>
            </a:r>
          </a:p>
        </p:txBody>
      </p:sp>
      <p:grpSp>
        <p:nvGrpSpPr>
          <p:cNvPr id="571397" name="Group 5"/>
          <p:cNvGrpSpPr>
            <a:grpSpLocks/>
          </p:cNvGrpSpPr>
          <p:nvPr/>
        </p:nvGrpSpPr>
        <p:grpSpPr bwMode="auto">
          <a:xfrm>
            <a:off x="2705100" y="4207346"/>
            <a:ext cx="2389188" cy="2063750"/>
            <a:chOff x="716" y="2283"/>
            <a:chExt cx="1505" cy="1300"/>
          </a:xfrm>
        </p:grpSpPr>
        <p:sp>
          <p:nvSpPr>
            <p:cNvPr id="35851" name="Rectangle 6"/>
            <p:cNvSpPr>
              <a:spLocks noChangeArrowheads="1"/>
            </p:cNvSpPr>
            <p:nvPr/>
          </p:nvSpPr>
          <p:spPr bwMode="auto">
            <a:xfrm>
              <a:off x="716" y="2283"/>
              <a:ext cx="1505" cy="453"/>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nchor="ctr" anchorCtr="1"/>
            <a:lstStyle/>
            <a:p>
              <a:r>
                <a:rPr lang="zh-CN" altLang="en-US" sz="3200" b="1">
                  <a:latin typeface="Times New Roman" pitchFamily="18" charset="0"/>
                </a:rPr>
                <a:t>程序区</a:t>
              </a:r>
            </a:p>
          </p:txBody>
        </p:sp>
        <p:sp>
          <p:nvSpPr>
            <p:cNvPr id="35852" name="Rectangle 7"/>
            <p:cNvSpPr>
              <a:spLocks noChangeArrowheads="1"/>
            </p:cNvSpPr>
            <p:nvPr/>
          </p:nvSpPr>
          <p:spPr bwMode="auto">
            <a:xfrm>
              <a:off x="716" y="2715"/>
              <a:ext cx="1505" cy="453"/>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nchor="ctr" anchorCtr="1"/>
            <a:lstStyle/>
            <a:p>
              <a:r>
                <a:rPr lang="zh-CN" altLang="en-US" sz="3200" b="1">
                  <a:latin typeface="Times New Roman" pitchFamily="18" charset="0"/>
                </a:rPr>
                <a:t>静态存储区</a:t>
              </a:r>
            </a:p>
          </p:txBody>
        </p:sp>
        <p:sp>
          <p:nvSpPr>
            <p:cNvPr id="35853" name="Rectangle 8"/>
            <p:cNvSpPr>
              <a:spLocks noChangeArrowheads="1"/>
            </p:cNvSpPr>
            <p:nvPr/>
          </p:nvSpPr>
          <p:spPr bwMode="auto">
            <a:xfrm>
              <a:off x="716" y="3130"/>
              <a:ext cx="1505" cy="453"/>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nchor="ctr" anchorCtr="1"/>
            <a:lstStyle/>
            <a:p>
              <a:r>
                <a:rPr lang="zh-CN" altLang="en-US" sz="3200" b="1">
                  <a:latin typeface="Times New Roman" pitchFamily="18" charset="0"/>
                </a:rPr>
                <a:t>动态存储区</a:t>
              </a:r>
            </a:p>
          </p:txBody>
        </p:sp>
      </p:grpSp>
      <p:sp>
        <p:nvSpPr>
          <p:cNvPr id="571401" name="Text Box 9"/>
          <p:cNvSpPr txBox="1">
            <a:spLocks noChangeArrowheads="1"/>
          </p:cNvSpPr>
          <p:nvPr/>
        </p:nvSpPr>
        <p:spPr bwMode="auto">
          <a:xfrm>
            <a:off x="6064250" y="5547642"/>
            <a:ext cx="4070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a:r>
              <a:rPr lang="zh-CN" altLang="en-US" b="1">
                <a:latin typeface="+mn-ea"/>
                <a:ea typeface="+mn-ea"/>
              </a:rPr>
              <a:t>形式参数、自动变量</a:t>
            </a:r>
          </a:p>
        </p:txBody>
      </p:sp>
      <p:sp>
        <p:nvSpPr>
          <p:cNvPr id="571402" name="Text Box 10"/>
          <p:cNvSpPr txBox="1">
            <a:spLocks noChangeArrowheads="1"/>
          </p:cNvSpPr>
          <p:nvPr/>
        </p:nvSpPr>
        <p:spPr bwMode="auto">
          <a:xfrm>
            <a:off x="6064250" y="4999956"/>
            <a:ext cx="3968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a:r>
              <a:rPr lang="zh-CN" altLang="en-US" b="1" dirty="0">
                <a:latin typeface="+mn-ea"/>
                <a:ea typeface="+mn-ea"/>
              </a:rPr>
              <a:t>全局变量、静态变量</a:t>
            </a:r>
          </a:p>
        </p:txBody>
      </p:sp>
      <p:sp>
        <p:nvSpPr>
          <p:cNvPr id="571403" name="AutoShape 11"/>
          <p:cNvSpPr>
            <a:spLocks noChangeArrowheads="1"/>
          </p:cNvSpPr>
          <p:nvPr/>
        </p:nvSpPr>
        <p:spPr bwMode="auto">
          <a:xfrm flipH="1">
            <a:off x="5094288" y="5063455"/>
            <a:ext cx="1046162" cy="546100"/>
          </a:xfrm>
          <a:custGeom>
            <a:avLst/>
            <a:gdLst>
              <a:gd name="T0" fmla="*/ 1840563759 w 21600"/>
              <a:gd name="T1" fmla="*/ 0 h 21600"/>
              <a:gd name="T2" fmla="*/ 0 w 21600"/>
              <a:gd name="T3" fmla="*/ 174533585 h 21600"/>
              <a:gd name="T4" fmla="*/ 1840563759 w 21600"/>
              <a:gd name="T5" fmla="*/ 349067196 h 21600"/>
              <a:gd name="T6" fmla="*/ 2147483647 w 21600"/>
              <a:gd name="T7" fmla="*/ 174533585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rgbClr val="FF5555"/>
              </a:gs>
              <a:gs pos="100000">
                <a:srgbClr val="FF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71404" name="AutoShape 12"/>
          <p:cNvSpPr>
            <a:spLocks noChangeArrowheads="1"/>
          </p:cNvSpPr>
          <p:nvPr/>
        </p:nvSpPr>
        <p:spPr bwMode="auto">
          <a:xfrm flipH="1">
            <a:off x="5143500" y="5609556"/>
            <a:ext cx="996950" cy="517525"/>
          </a:xfrm>
          <a:custGeom>
            <a:avLst/>
            <a:gdLst>
              <a:gd name="T0" fmla="*/ 1592847462 w 21600"/>
              <a:gd name="T1" fmla="*/ 0 h 21600"/>
              <a:gd name="T2" fmla="*/ 0 w 21600"/>
              <a:gd name="T3" fmla="*/ 148544769 h 21600"/>
              <a:gd name="T4" fmla="*/ 1592847462 w 21600"/>
              <a:gd name="T5" fmla="*/ 297088940 h 21600"/>
              <a:gd name="T6" fmla="*/ 2123795200 w 21600"/>
              <a:gd name="T7" fmla="*/ 14854476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rgbClr val="FF5555"/>
              </a:gs>
              <a:gs pos="100000">
                <a:srgbClr val="FF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 name="矩形 13"/>
          <p:cNvSpPr/>
          <p:nvPr/>
        </p:nvSpPr>
        <p:spPr>
          <a:xfrm>
            <a:off x="28529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23452299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1396">
                                            <p:txEl>
                                              <p:pRg st="0" end="0"/>
                                            </p:txEl>
                                          </p:spTgt>
                                        </p:tgtEl>
                                        <p:attrNameLst>
                                          <p:attrName>style.visibility</p:attrName>
                                        </p:attrNameLst>
                                      </p:cBhvr>
                                      <p:to>
                                        <p:strVal val="visible"/>
                                      </p:to>
                                    </p:set>
                                    <p:animEffect transition="in" filter="wipe(left)">
                                      <p:cBhvr>
                                        <p:cTn id="7" dur="500"/>
                                        <p:tgtEl>
                                          <p:spTgt spid="5713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1396">
                                            <p:txEl>
                                              <p:pRg st="1" end="1"/>
                                            </p:txEl>
                                          </p:spTgt>
                                        </p:tgtEl>
                                        <p:attrNameLst>
                                          <p:attrName>style.visibility</p:attrName>
                                        </p:attrNameLst>
                                      </p:cBhvr>
                                      <p:to>
                                        <p:strVal val="visible"/>
                                      </p:to>
                                    </p:set>
                                    <p:animEffect transition="in" filter="wipe(left)">
                                      <p:cBhvr>
                                        <p:cTn id="12" dur="500"/>
                                        <p:tgtEl>
                                          <p:spTgt spid="57139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1396">
                                            <p:txEl>
                                              <p:pRg st="2" end="2"/>
                                            </p:txEl>
                                          </p:spTgt>
                                        </p:tgtEl>
                                        <p:attrNameLst>
                                          <p:attrName>style.visibility</p:attrName>
                                        </p:attrNameLst>
                                      </p:cBhvr>
                                      <p:to>
                                        <p:strVal val="visible"/>
                                      </p:to>
                                    </p:set>
                                    <p:animEffect transition="in" filter="wipe(left)">
                                      <p:cBhvr>
                                        <p:cTn id="17" dur="500"/>
                                        <p:tgtEl>
                                          <p:spTgt spid="57139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1396">
                                            <p:txEl>
                                              <p:pRg st="3" end="3"/>
                                            </p:txEl>
                                          </p:spTgt>
                                        </p:tgtEl>
                                        <p:attrNameLst>
                                          <p:attrName>style.visibility</p:attrName>
                                        </p:attrNameLst>
                                      </p:cBhvr>
                                      <p:to>
                                        <p:strVal val="visible"/>
                                      </p:to>
                                    </p:set>
                                    <p:animEffect transition="in" filter="wipe(left)">
                                      <p:cBhvr>
                                        <p:cTn id="22" dur="500"/>
                                        <p:tgtEl>
                                          <p:spTgt spid="57139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71397"/>
                                        </p:tgtEl>
                                        <p:attrNameLst>
                                          <p:attrName>style.visibility</p:attrName>
                                        </p:attrNameLst>
                                      </p:cBhvr>
                                      <p:to>
                                        <p:strVal val="visible"/>
                                      </p:to>
                                    </p:set>
                                    <p:animEffect transition="in" filter="dissolve">
                                      <p:cBhvr>
                                        <p:cTn id="27" dur="500"/>
                                        <p:tgtEl>
                                          <p:spTgt spid="5713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71402"/>
                                        </p:tgtEl>
                                        <p:attrNameLst>
                                          <p:attrName>style.visibility</p:attrName>
                                        </p:attrNameLst>
                                      </p:cBhvr>
                                      <p:to>
                                        <p:strVal val="visible"/>
                                      </p:to>
                                    </p:set>
                                    <p:animEffect transition="in" filter="dissolve">
                                      <p:cBhvr>
                                        <p:cTn id="32" dur="500"/>
                                        <p:tgtEl>
                                          <p:spTgt spid="571402"/>
                                        </p:tgtEl>
                                      </p:cBhvr>
                                    </p:animEffect>
                                  </p:childTnLst>
                                </p:cTn>
                              </p:par>
                            </p:childTnLst>
                          </p:cTn>
                        </p:par>
                        <p:par>
                          <p:cTn id="33" fill="hold" nodeType="afterGroup">
                            <p:stCondLst>
                              <p:cond delay="500"/>
                            </p:stCondLst>
                            <p:childTnLst>
                              <p:par>
                                <p:cTn id="34" presetID="22" presetClass="entr" presetSubtype="2" fill="hold" grpId="0" nodeType="afterEffect">
                                  <p:stCondLst>
                                    <p:cond delay="1000"/>
                                  </p:stCondLst>
                                  <p:childTnLst>
                                    <p:set>
                                      <p:cBhvr>
                                        <p:cTn id="35" dur="1" fill="hold">
                                          <p:stCondLst>
                                            <p:cond delay="0"/>
                                          </p:stCondLst>
                                        </p:cTn>
                                        <p:tgtEl>
                                          <p:spTgt spid="571403"/>
                                        </p:tgtEl>
                                        <p:attrNameLst>
                                          <p:attrName>style.visibility</p:attrName>
                                        </p:attrNameLst>
                                      </p:cBhvr>
                                      <p:to>
                                        <p:strVal val="visible"/>
                                      </p:to>
                                    </p:set>
                                    <p:animEffect transition="in" filter="wipe(right)">
                                      <p:cBhvr>
                                        <p:cTn id="36" dur="500"/>
                                        <p:tgtEl>
                                          <p:spTgt spid="57140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571401"/>
                                        </p:tgtEl>
                                        <p:attrNameLst>
                                          <p:attrName>style.visibility</p:attrName>
                                        </p:attrNameLst>
                                      </p:cBhvr>
                                      <p:to>
                                        <p:strVal val="visible"/>
                                      </p:to>
                                    </p:set>
                                    <p:animEffect transition="in" filter="dissolve">
                                      <p:cBhvr>
                                        <p:cTn id="41" dur="500"/>
                                        <p:tgtEl>
                                          <p:spTgt spid="571401"/>
                                        </p:tgtEl>
                                      </p:cBhvr>
                                    </p:animEffect>
                                  </p:childTnLst>
                                </p:cTn>
                              </p:par>
                            </p:childTnLst>
                          </p:cTn>
                        </p:par>
                        <p:par>
                          <p:cTn id="42" fill="hold" nodeType="afterGroup">
                            <p:stCondLst>
                              <p:cond delay="500"/>
                            </p:stCondLst>
                            <p:childTnLst>
                              <p:par>
                                <p:cTn id="43" presetID="22" presetClass="entr" presetSubtype="2" fill="hold" grpId="0" nodeType="afterEffect">
                                  <p:stCondLst>
                                    <p:cond delay="1000"/>
                                  </p:stCondLst>
                                  <p:childTnLst>
                                    <p:set>
                                      <p:cBhvr>
                                        <p:cTn id="44" dur="1" fill="hold">
                                          <p:stCondLst>
                                            <p:cond delay="0"/>
                                          </p:stCondLst>
                                        </p:cTn>
                                        <p:tgtEl>
                                          <p:spTgt spid="571404"/>
                                        </p:tgtEl>
                                        <p:attrNameLst>
                                          <p:attrName>style.visibility</p:attrName>
                                        </p:attrNameLst>
                                      </p:cBhvr>
                                      <p:to>
                                        <p:strVal val="visible"/>
                                      </p:to>
                                    </p:set>
                                    <p:animEffect transition="in" filter="wipe(right)">
                                      <p:cBhvr>
                                        <p:cTn id="45" dur="500"/>
                                        <p:tgtEl>
                                          <p:spTgt spid="571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6" grpId="0" build="p" autoUpdateAnimBg="0"/>
      <p:bldP spid="571401" grpId="0" autoUpdateAnimBg="0"/>
      <p:bldP spid="571402" grpId="0" autoUpdateAnimBg="0"/>
      <p:bldP spid="571403" grpId="0" animBg="1"/>
      <p:bldP spid="57140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sp>
        <p:nvSpPr>
          <p:cNvPr id="573443" name="Rectangle 3"/>
          <p:cNvSpPr>
            <a:spLocks noChangeArrowheads="1"/>
          </p:cNvSpPr>
          <p:nvPr/>
        </p:nvSpPr>
        <p:spPr bwMode="auto">
          <a:xfrm>
            <a:off x="2401888" y="1128713"/>
            <a:ext cx="7543800"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自动存储</a:t>
            </a:r>
            <a:endParaRPr lang="zh-CN" altLang="en-US" sz="3600" b="1" dirty="0">
              <a:solidFill>
                <a:srgbClr val="C00000"/>
              </a:solidFill>
            </a:endParaRPr>
          </a:p>
        </p:txBody>
      </p:sp>
      <p:sp>
        <p:nvSpPr>
          <p:cNvPr id="573444" name="Rectangle 4"/>
          <p:cNvSpPr>
            <a:spLocks noChangeArrowheads="1"/>
          </p:cNvSpPr>
          <p:nvPr/>
        </p:nvSpPr>
        <p:spPr bwMode="auto">
          <a:xfrm>
            <a:off x="4214994" y="2902868"/>
            <a:ext cx="3557588" cy="3046412"/>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a:spAutoFit/>
          </a:bodyPr>
          <a:lstStyle/>
          <a:p>
            <a:pPr algn="l" eaLnBrk="0" hangingPunct="0"/>
            <a:r>
              <a:rPr lang="en-US" altLang="zh-CN" sz="3200" b="1">
                <a:latin typeface="Times New Roman" pitchFamily="18" charset="0"/>
                <a:ea typeface="宋体" charset="-122"/>
              </a:rPr>
              <a:t>#include "stdio.h"</a:t>
            </a:r>
          </a:p>
          <a:p>
            <a:pPr algn="l" eaLnBrk="0" hangingPunct="0"/>
            <a:r>
              <a:rPr lang="en-US" altLang="zh-CN" sz="3200" b="1">
                <a:latin typeface="Times New Roman" pitchFamily="18" charset="0"/>
                <a:ea typeface="宋体" charset="-122"/>
              </a:rPr>
              <a:t>void main( )</a:t>
            </a:r>
          </a:p>
          <a:p>
            <a:pPr algn="l" eaLnBrk="0" hangingPunct="0"/>
            <a:r>
              <a:rPr lang="en-US" altLang="zh-CN" sz="3200" b="1">
                <a:latin typeface="Times New Roman" pitchFamily="18" charset="0"/>
                <a:ea typeface="宋体" charset="-122"/>
              </a:rPr>
              <a:t>{    </a:t>
            </a:r>
            <a:r>
              <a:rPr lang="en-US" altLang="zh-CN" sz="3200" b="1">
                <a:solidFill>
                  <a:srgbClr val="FF3300"/>
                </a:solidFill>
                <a:latin typeface="Times New Roman" pitchFamily="18" charset="0"/>
                <a:ea typeface="宋体" charset="-122"/>
              </a:rPr>
              <a:t>auto</a:t>
            </a:r>
            <a:r>
              <a:rPr lang="en-US" altLang="zh-CN" sz="3200" b="1">
                <a:latin typeface="Times New Roman" pitchFamily="18" charset="0"/>
                <a:ea typeface="宋体" charset="-122"/>
              </a:rPr>
              <a:t> int a,b;</a:t>
            </a:r>
          </a:p>
          <a:p>
            <a:pPr algn="l" eaLnBrk="0" hangingPunct="0"/>
            <a:r>
              <a:rPr lang="en-US" altLang="zh-CN" sz="3200" b="1">
                <a:latin typeface="Times New Roman" pitchFamily="18" charset="0"/>
                <a:ea typeface="宋体" charset="-122"/>
              </a:rPr>
              <a:t>      a=3;</a:t>
            </a:r>
          </a:p>
          <a:p>
            <a:pPr algn="l" eaLnBrk="0" hangingPunct="0"/>
            <a:r>
              <a:rPr lang="en-US" altLang="zh-CN" sz="3200" b="1">
                <a:latin typeface="Times New Roman" pitchFamily="18" charset="0"/>
                <a:ea typeface="宋体" charset="-122"/>
              </a:rPr>
              <a:t>      b=5;</a:t>
            </a:r>
          </a:p>
          <a:p>
            <a:pPr algn="l" eaLnBrk="0" hangingPunct="0"/>
            <a:r>
              <a:rPr lang="en-US" altLang="zh-CN" sz="3200" b="1">
                <a:latin typeface="Times New Roman" pitchFamily="18" charset="0"/>
                <a:ea typeface="宋体" charset="-122"/>
              </a:rPr>
              <a:t>}</a:t>
            </a:r>
          </a:p>
        </p:txBody>
      </p:sp>
      <p:sp>
        <p:nvSpPr>
          <p:cNvPr id="573445" name="Rectangle 5"/>
          <p:cNvSpPr>
            <a:spLocks noChangeArrowheads="1"/>
          </p:cNvSpPr>
          <p:nvPr/>
        </p:nvSpPr>
        <p:spPr bwMode="auto">
          <a:xfrm>
            <a:off x="2298700" y="2049091"/>
            <a:ext cx="6440488"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latin typeface="Times New Roman" pitchFamily="18" charset="0"/>
              </a:rPr>
              <a:t>auto</a:t>
            </a:r>
            <a:r>
              <a:rPr lang="en-US" altLang="zh-CN" sz="3200" b="1" dirty="0"/>
              <a:t> </a:t>
            </a:r>
            <a:r>
              <a:rPr lang="zh-CN" altLang="en-US" sz="3200" b="1" dirty="0"/>
              <a:t>类型名 局部变量名</a:t>
            </a:r>
            <a:r>
              <a:rPr lang="en-US" altLang="zh-CN" sz="3200" b="1" dirty="0">
                <a:latin typeface="Times New Roman" pitchFamily="18" charset="0"/>
                <a:ea typeface="宋体" charset="-122"/>
              </a:rPr>
              <a:t>;</a:t>
            </a:r>
          </a:p>
        </p:txBody>
      </p:sp>
      <p:sp>
        <p:nvSpPr>
          <p:cNvPr id="573446" name="Rectangle 6"/>
          <p:cNvSpPr>
            <a:spLocks noChangeArrowheads="1"/>
          </p:cNvSpPr>
          <p:nvPr/>
        </p:nvSpPr>
        <p:spPr bwMode="auto">
          <a:xfrm>
            <a:off x="4800600" y="3903712"/>
            <a:ext cx="2209800" cy="533400"/>
          </a:xfrm>
          <a:prstGeom prst="rect">
            <a:avLst/>
          </a:prstGeom>
          <a:solidFill>
            <a:schemeClr val="bg1"/>
          </a:solidFill>
          <a:ln>
            <a:noFill/>
          </a:ln>
          <a:effectLst/>
          <a:extLs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CN" sz="3200" b="1" dirty="0" err="1">
                <a:latin typeface="Times New Roman" pitchFamily="18" charset="0"/>
              </a:rPr>
              <a:t>int</a:t>
            </a:r>
            <a:r>
              <a:rPr lang="en-US" altLang="zh-CN" sz="3200" b="1" dirty="0">
                <a:latin typeface="Times New Roman" pitchFamily="18" charset="0"/>
              </a:rPr>
              <a:t> </a:t>
            </a:r>
            <a:r>
              <a:rPr lang="en-US" altLang="zh-CN" sz="3200" b="1" dirty="0" err="1">
                <a:latin typeface="Times New Roman" pitchFamily="18" charset="0"/>
              </a:rPr>
              <a:t>a,b</a:t>
            </a:r>
            <a:r>
              <a:rPr lang="en-US" altLang="zh-CN" sz="3200" b="1" dirty="0">
                <a:latin typeface="Times New Roman" pitchFamily="18" charset="0"/>
              </a:rPr>
              <a:t>;</a:t>
            </a:r>
          </a:p>
        </p:txBody>
      </p:sp>
      <p:sp>
        <p:nvSpPr>
          <p:cNvPr id="8" name="矩形 7"/>
          <p:cNvSpPr/>
          <p:nvPr/>
        </p:nvSpPr>
        <p:spPr>
          <a:xfrm>
            <a:off x="2891016" y="155700"/>
            <a:ext cx="6205545" cy="769441"/>
          </a:xfrm>
          <a:prstGeom prst="rect">
            <a:avLst/>
          </a:prstGeom>
          <a:solidFill>
            <a:schemeClr val="bg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20598358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43"/>
                                        </p:tgtEl>
                                        <p:attrNameLst>
                                          <p:attrName>style.visibility</p:attrName>
                                        </p:attrNameLst>
                                      </p:cBhvr>
                                      <p:to>
                                        <p:strVal val="visible"/>
                                      </p:to>
                                    </p:set>
                                    <p:animEffect transition="in" filter="wipe(left)">
                                      <p:cBhvr>
                                        <p:cTn id="7" dur="500"/>
                                        <p:tgtEl>
                                          <p:spTgt spid="5734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45"/>
                                        </p:tgtEl>
                                        <p:attrNameLst>
                                          <p:attrName>style.visibility</p:attrName>
                                        </p:attrNameLst>
                                      </p:cBhvr>
                                      <p:to>
                                        <p:strVal val="visible"/>
                                      </p:to>
                                    </p:set>
                                    <p:animEffect transition="in" filter="wipe(left)">
                                      <p:cBhvr>
                                        <p:cTn id="12" dur="500"/>
                                        <p:tgtEl>
                                          <p:spTgt spid="5734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73444"/>
                                        </p:tgtEl>
                                        <p:attrNameLst>
                                          <p:attrName>style.visibility</p:attrName>
                                        </p:attrNameLst>
                                      </p:cBhvr>
                                      <p:to>
                                        <p:strVal val="visible"/>
                                      </p:to>
                                    </p:set>
                                    <p:animEffect transition="in" filter="dissolve">
                                      <p:cBhvr>
                                        <p:cTn id="17" dur="500"/>
                                        <p:tgtEl>
                                          <p:spTgt spid="5734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73446"/>
                                        </p:tgtEl>
                                        <p:attrNameLst>
                                          <p:attrName>style.visibility</p:attrName>
                                        </p:attrNameLst>
                                      </p:cBhvr>
                                      <p:to>
                                        <p:strVal val="visible"/>
                                      </p:to>
                                    </p:set>
                                    <p:animEffect transition="in" filter="dissolve">
                                      <p:cBhvr>
                                        <p:cTn id="22" dur="500"/>
                                        <p:tgtEl>
                                          <p:spTgt spid="573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3" grpId="0" autoUpdateAnimBg="0"/>
      <p:bldP spid="573444" grpId="0" animBg="1" autoUpdateAnimBg="0"/>
      <p:bldP spid="573445" grpId="0" autoUpdateAnimBg="0"/>
      <p:bldP spid="573446" grpId="0" animBg="1"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endParaRPr lang="en-US" altLang="zh-CN" dirty="0"/>
          </a:p>
        </p:txBody>
      </p:sp>
      <p:sp>
        <p:nvSpPr>
          <p:cNvPr id="575490" name="Rectangle 2"/>
          <p:cNvSpPr>
            <a:spLocks noChangeArrowheads="1"/>
          </p:cNvSpPr>
          <p:nvPr/>
        </p:nvSpPr>
        <p:spPr bwMode="auto">
          <a:xfrm>
            <a:off x="2245668" y="2483744"/>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575491" name="Rectangle 3"/>
          <p:cNvSpPr>
            <a:spLocks noChangeArrowheads="1"/>
          </p:cNvSpPr>
          <p:nvPr/>
        </p:nvSpPr>
        <p:spPr bwMode="auto">
          <a:xfrm>
            <a:off x="3886201" y="2483744"/>
            <a:ext cx="676116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函数内定义的局部变量为自动变量</a:t>
            </a:r>
          </a:p>
        </p:txBody>
      </p:sp>
      <p:sp>
        <p:nvSpPr>
          <p:cNvPr id="575493" name="Rectangle 5"/>
          <p:cNvSpPr>
            <a:spLocks noChangeArrowheads="1"/>
          </p:cNvSpPr>
          <p:nvPr/>
        </p:nvSpPr>
        <p:spPr bwMode="auto">
          <a:xfrm>
            <a:off x="4497388" y="3365526"/>
            <a:ext cx="3190297" cy="2554545"/>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r>
              <a:rPr lang="en-US" altLang="zh-CN" sz="3200" b="1">
                <a:latin typeface="Times New Roman" pitchFamily="18" charset="0"/>
                <a:ea typeface="宋体" charset="-122"/>
              </a:rPr>
              <a:t>max(int  x, int  y)</a:t>
            </a:r>
          </a:p>
          <a:p>
            <a:pPr algn="l" eaLnBrk="0" hangingPunct="0"/>
            <a:r>
              <a:rPr lang="en-US" altLang="zh-CN" sz="3200" b="1">
                <a:latin typeface="Times New Roman" pitchFamily="18" charset="0"/>
                <a:ea typeface="宋体" charset="-122"/>
              </a:rPr>
              <a:t>{   int c;</a:t>
            </a:r>
          </a:p>
          <a:p>
            <a:pPr algn="l" eaLnBrk="0" hangingPunct="0"/>
            <a:r>
              <a:rPr lang="en-US" altLang="zh-CN" sz="3200" b="1">
                <a:latin typeface="Times New Roman" pitchFamily="18" charset="0"/>
                <a:ea typeface="宋体" charset="-122"/>
              </a:rPr>
              <a:t>    c=x&gt;y?x:y;</a:t>
            </a:r>
          </a:p>
          <a:p>
            <a:pPr algn="l" eaLnBrk="0" hangingPunct="0"/>
            <a:r>
              <a:rPr lang="en-US" altLang="zh-CN" sz="3200" b="1">
                <a:latin typeface="Times New Roman" pitchFamily="18" charset="0"/>
                <a:ea typeface="宋体" charset="-122"/>
              </a:rPr>
              <a:t>    return(c);</a:t>
            </a:r>
          </a:p>
          <a:p>
            <a:pPr algn="l" eaLnBrk="0" hangingPunct="0"/>
            <a:r>
              <a:rPr lang="en-US" altLang="zh-CN" sz="3200" b="1">
                <a:latin typeface="Times New Roman" pitchFamily="18" charset="0"/>
                <a:ea typeface="宋体" charset="-122"/>
              </a:rPr>
              <a:t>}</a:t>
            </a:r>
          </a:p>
        </p:txBody>
      </p:sp>
      <p:sp>
        <p:nvSpPr>
          <p:cNvPr id="37895" name="Rectangle 6"/>
          <p:cNvSpPr>
            <a:spLocks noChangeArrowheads="1"/>
          </p:cNvSpPr>
          <p:nvPr/>
        </p:nvSpPr>
        <p:spPr bwMode="auto">
          <a:xfrm>
            <a:off x="2197100" y="1039813"/>
            <a:ext cx="7543800"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自动存储</a:t>
            </a:r>
          </a:p>
        </p:txBody>
      </p:sp>
      <p:sp>
        <p:nvSpPr>
          <p:cNvPr id="37896" name="Rectangle 7"/>
          <p:cNvSpPr>
            <a:spLocks noChangeArrowheads="1"/>
          </p:cNvSpPr>
          <p:nvPr/>
        </p:nvSpPr>
        <p:spPr bwMode="auto">
          <a:xfrm>
            <a:off x="2233614" y="1792289"/>
            <a:ext cx="6440487"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latin typeface="Times New Roman" pitchFamily="18" charset="0"/>
              </a:rPr>
              <a:t>auto</a:t>
            </a:r>
            <a:r>
              <a:rPr lang="en-US" altLang="zh-CN" sz="3200" b="1" dirty="0"/>
              <a:t> </a:t>
            </a:r>
            <a:r>
              <a:rPr lang="zh-CN" altLang="en-US" sz="3200" b="1" dirty="0"/>
              <a:t>类型名 局部变量名</a:t>
            </a:r>
            <a:r>
              <a:rPr lang="en-US" altLang="zh-CN" sz="3200" b="1" dirty="0">
                <a:latin typeface="Times New Roman" pitchFamily="18" charset="0"/>
                <a:ea typeface="宋体" charset="-122"/>
              </a:rPr>
              <a:t>;</a:t>
            </a:r>
          </a:p>
        </p:txBody>
      </p:sp>
      <p:sp>
        <p:nvSpPr>
          <p:cNvPr id="9" name="矩形 8"/>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1086935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896"/>
                                        </p:tgtEl>
                                        <p:attrNameLst>
                                          <p:attrName>style.visibility</p:attrName>
                                        </p:attrNameLst>
                                      </p:cBhvr>
                                      <p:to>
                                        <p:strVal val="visible"/>
                                      </p:to>
                                    </p:set>
                                    <p:animEffect transition="in" filter="fade">
                                      <p:cBhvr>
                                        <p:cTn id="7" dur="500"/>
                                        <p:tgtEl>
                                          <p:spTgt spid="3789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5490"/>
                                        </p:tgtEl>
                                        <p:attrNameLst>
                                          <p:attrName>style.visibility</p:attrName>
                                        </p:attrNameLst>
                                      </p:cBhvr>
                                      <p:to>
                                        <p:strVal val="visible"/>
                                      </p:to>
                                    </p:set>
                                    <p:animEffect transition="in" filter="dissolve">
                                      <p:cBhvr>
                                        <p:cTn id="12" dur="500"/>
                                        <p:tgtEl>
                                          <p:spTgt spid="5754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5491"/>
                                        </p:tgtEl>
                                        <p:attrNameLst>
                                          <p:attrName>style.visibility</p:attrName>
                                        </p:attrNameLst>
                                      </p:cBhvr>
                                      <p:to>
                                        <p:strVal val="visible"/>
                                      </p:to>
                                    </p:set>
                                    <p:animEffect transition="in" filter="wipe(left)">
                                      <p:cBhvr>
                                        <p:cTn id="17" dur="500"/>
                                        <p:tgtEl>
                                          <p:spTgt spid="5754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75493"/>
                                        </p:tgtEl>
                                        <p:attrNameLst>
                                          <p:attrName>style.visibility</p:attrName>
                                        </p:attrNameLst>
                                      </p:cBhvr>
                                      <p:to>
                                        <p:strVal val="visible"/>
                                      </p:to>
                                    </p:set>
                                    <p:animEffect transition="in" filter="dissolve">
                                      <p:cBhvr>
                                        <p:cTn id="22" dur="500"/>
                                        <p:tgtEl>
                                          <p:spTgt spid="575493"/>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0" grpId="0" autoUpdateAnimBg="0"/>
      <p:bldP spid="575491" grpId="0" autoUpdateAnimBg="0"/>
      <p:bldP spid="575493" grpId="0" animBg="1" autoUpdateAnimBg="0"/>
      <p:bldP spid="3789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endParaRPr lang="en-US" altLang="zh-CN" dirty="0"/>
          </a:p>
        </p:txBody>
      </p:sp>
      <p:sp>
        <p:nvSpPr>
          <p:cNvPr id="576515" name="Rectangle 3"/>
          <p:cNvSpPr>
            <a:spLocks noChangeArrowheads="1"/>
          </p:cNvSpPr>
          <p:nvPr/>
        </p:nvSpPr>
        <p:spPr bwMode="auto">
          <a:xfrm>
            <a:off x="2730501" y="3352800"/>
            <a:ext cx="72183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914400" lvl="1" indent="-457200">
              <a:buClr>
                <a:schemeClr val="hlink"/>
              </a:buClr>
              <a:buFont typeface="Wingdings" pitchFamily="2" charset="2"/>
              <a:buAutoNum type="arabicParenR" startAt="2"/>
            </a:pPr>
            <a:r>
              <a:rPr lang="zh-CN" altLang="en-US" sz="3200" b="1" dirty="0">
                <a:latin typeface="Times New Roman" pitchFamily="18" charset="0"/>
              </a:rPr>
              <a:t>变量存储单元随函数的调用而取得</a:t>
            </a:r>
          </a:p>
        </p:txBody>
      </p:sp>
      <p:sp>
        <p:nvSpPr>
          <p:cNvPr id="576516" name="Rectangle 4"/>
          <p:cNvSpPr>
            <a:spLocks noChangeArrowheads="1"/>
          </p:cNvSpPr>
          <p:nvPr/>
        </p:nvSpPr>
        <p:spPr bwMode="auto">
          <a:xfrm>
            <a:off x="3071814" y="4114800"/>
            <a:ext cx="3397084" cy="2308324"/>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lnSpc>
                <a:spcPct val="75000"/>
              </a:lnSpc>
            </a:pPr>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p>
          <a:p>
            <a:pPr algn="l" eaLnBrk="0" hangingPunct="0">
              <a:lnSpc>
                <a:spcPct val="75000"/>
              </a:lnSpc>
            </a:pPr>
            <a:r>
              <a:rPr lang="en-US" altLang="zh-CN" sz="3200" b="1" dirty="0">
                <a:latin typeface="Times New Roman" pitchFamily="18" charset="0"/>
                <a:ea typeface="宋体" charset="-122"/>
              </a:rPr>
              <a:t>max(</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x,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y)</a:t>
            </a:r>
          </a:p>
          <a:p>
            <a:pPr algn="l" eaLnBrk="0" hangingPunct="0">
              <a:lnSpc>
                <a:spcPct val="75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z;</a:t>
            </a:r>
          </a:p>
          <a:p>
            <a:pPr algn="l" eaLnBrk="0" hangingPunct="0">
              <a:lnSpc>
                <a:spcPct val="75000"/>
              </a:lnSpc>
            </a:pPr>
            <a:r>
              <a:rPr lang="en-US" altLang="zh-CN" sz="3200" b="1" dirty="0">
                <a:latin typeface="Times New Roman" pitchFamily="18" charset="0"/>
                <a:ea typeface="宋体" charset="-122"/>
              </a:rPr>
              <a:t>    z=x&gt;</a:t>
            </a:r>
            <a:r>
              <a:rPr lang="en-US" altLang="zh-CN" sz="3200" b="1" dirty="0" err="1">
                <a:latin typeface="Times New Roman" pitchFamily="18" charset="0"/>
                <a:ea typeface="宋体" charset="-122"/>
              </a:rPr>
              <a:t>y?x:y</a:t>
            </a:r>
            <a:r>
              <a:rPr lang="en-US" altLang="zh-CN" sz="3200" b="1" dirty="0">
                <a:latin typeface="Times New Roman" pitchFamily="18" charset="0"/>
                <a:ea typeface="宋体" charset="-122"/>
              </a:rPr>
              <a:t>;</a:t>
            </a:r>
          </a:p>
          <a:p>
            <a:pPr algn="l" eaLnBrk="0" hangingPunct="0">
              <a:lnSpc>
                <a:spcPct val="75000"/>
              </a:lnSpc>
            </a:pPr>
            <a:r>
              <a:rPr lang="en-US" altLang="zh-CN" sz="3200" b="1" dirty="0">
                <a:latin typeface="Times New Roman" pitchFamily="18" charset="0"/>
                <a:ea typeface="宋体" charset="-122"/>
              </a:rPr>
              <a:t>    return(z);</a:t>
            </a:r>
          </a:p>
          <a:p>
            <a:pPr algn="l" eaLnBrk="0" hangingPunct="0">
              <a:lnSpc>
                <a:spcPct val="75000"/>
              </a:lnSpc>
            </a:pPr>
            <a:r>
              <a:rPr lang="en-US" altLang="zh-CN" sz="3200" b="1" dirty="0">
                <a:latin typeface="Times New Roman" pitchFamily="18" charset="0"/>
                <a:ea typeface="宋体" charset="-122"/>
              </a:rPr>
              <a:t>}</a:t>
            </a:r>
          </a:p>
        </p:txBody>
      </p:sp>
      <p:sp>
        <p:nvSpPr>
          <p:cNvPr id="576517" name="Rectangle 5"/>
          <p:cNvSpPr>
            <a:spLocks noChangeArrowheads="1"/>
          </p:cNvSpPr>
          <p:nvPr/>
        </p:nvSpPr>
        <p:spPr bwMode="auto">
          <a:xfrm>
            <a:off x="6527801" y="4114800"/>
            <a:ext cx="3406702" cy="2308324"/>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lnSpc>
                <a:spcPct val="90000"/>
              </a:lnSpc>
            </a:pPr>
            <a:r>
              <a:rPr lang="en-US" altLang="zh-CN" sz="3200" b="1">
                <a:latin typeface="Times New Roman" pitchFamily="18" charset="0"/>
                <a:ea typeface="宋体" charset="-122"/>
              </a:rPr>
              <a:t>void main()</a:t>
            </a:r>
          </a:p>
          <a:p>
            <a:pPr algn="l" eaLnBrk="0" hangingPunct="0">
              <a:lnSpc>
                <a:spcPct val="90000"/>
              </a:lnSpc>
            </a:pPr>
            <a:r>
              <a:rPr lang="en-US" altLang="zh-CN" sz="3200" b="1">
                <a:latin typeface="Times New Roman" pitchFamily="18" charset="0"/>
                <a:ea typeface="宋体" charset="-122"/>
              </a:rPr>
              <a:t>{   int a=3,b=5,c;</a:t>
            </a:r>
          </a:p>
          <a:p>
            <a:pPr algn="l" eaLnBrk="0" hangingPunct="0">
              <a:lnSpc>
                <a:spcPct val="90000"/>
              </a:lnSpc>
            </a:pPr>
            <a:r>
              <a:rPr lang="en-US" altLang="zh-CN" sz="3200" b="1">
                <a:latin typeface="Times New Roman" pitchFamily="18" charset="0"/>
                <a:ea typeface="宋体" charset="-122"/>
              </a:rPr>
              <a:t>     c= max(a,b);</a:t>
            </a:r>
          </a:p>
          <a:p>
            <a:pPr algn="l" eaLnBrk="0" hangingPunct="0">
              <a:lnSpc>
                <a:spcPct val="90000"/>
              </a:lnSpc>
            </a:pPr>
            <a:r>
              <a:rPr lang="en-US" altLang="zh-CN" sz="3200" b="1">
                <a:latin typeface="Times New Roman" pitchFamily="18" charset="0"/>
                <a:ea typeface="宋体" charset="-122"/>
              </a:rPr>
              <a:t>    printf("%d",c);</a:t>
            </a:r>
          </a:p>
          <a:p>
            <a:pPr algn="l" eaLnBrk="0" hangingPunct="0">
              <a:lnSpc>
                <a:spcPct val="90000"/>
              </a:lnSpc>
            </a:pPr>
            <a:r>
              <a:rPr lang="en-US" altLang="zh-CN" sz="3200" b="1">
                <a:latin typeface="Times New Roman" pitchFamily="18" charset="0"/>
                <a:ea typeface="宋体" charset="-122"/>
              </a:rPr>
              <a:t>}</a:t>
            </a:r>
          </a:p>
        </p:txBody>
      </p:sp>
      <p:sp>
        <p:nvSpPr>
          <p:cNvPr id="38919" name="Rectangle 6"/>
          <p:cNvSpPr>
            <a:spLocks noChangeArrowheads="1"/>
          </p:cNvSpPr>
          <p:nvPr/>
        </p:nvSpPr>
        <p:spPr bwMode="auto">
          <a:xfrm>
            <a:off x="1714500" y="2305944"/>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38920" name="Rectangle 7"/>
          <p:cNvSpPr>
            <a:spLocks noChangeArrowheads="1"/>
          </p:cNvSpPr>
          <p:nvPr/>
        </p:nvSpPr>
        <p:spPr bwMode="auto">
          <a:xfrm>
            <a:off x="3200401" y="2755900"/>
            <a:ext cx="67611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函数内定义的局部变量为自动变量</a:t>
            </a:r>
          </a:p>
        </p:txBody>
      </p:sp>
      <p:sp>
        <p:nvSpPr>
          <p:cNvPr id="38921" name="Rectangle 8"/>
          <p:cNvSpPr>
            <a:spLocks noChangeArrowheads="1"/>
          </p:cNvSpPr>
          <p:nvPr/>
        </p:nvSpPr>
        <p:spPr bwMode="auto">
          <a:xfrm>
            <a:off x="1663700" y="1016001"/>
            <a:ext cx="754380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自动存储</a:t>
            </a:r>
          </a:p>
        </p:txBody>
      </p:sp>
      <p:sp>
        <p:nvSpPr>
          <p:cNvPr id="38922" name="Rectangle 9"/>
          <p:cNvSpPr>
            <a:spLocks noChangeArrowheads="1"/>
          </p:cNvSpPr>
          <p:nvPr/>
        </p:nvSpPr>
        <p:spPr bwMode="auto">
          <a:xfrm>
            <a:off x="1712914" y="1679576"/>
            <a:ext cx="6440487"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latin typeface="Times New Roman" pitchFamily="18" charset="0"/>
              </a:rPr>
              <a:t>auto</a:t>
            </a:r>
            <a:r>
              <a:rPr lang="en-US" altLang="zh-CN" sz="3200" b="1" dirty="0"/>
              <a:t> </a:t>
            </a:r>
            <a:r>
              <a:rPr lang="zh-CN" altLang="en-US" sz="3200" b="1" dirty="0"/>
              <a:t>类型名 局部变量名</a:t>
            </a:r>
            <a:r>
              <a:rPr lang="en-US" altLang="zh-CN" sz="3200" b="1" dirty="0">
                <a:latin typeface="Times New Roman" pitchFamily="18" charset="0"/>
                <a:ea typeface="宋体" charset="-122"/>
              </a:rPr>
              <a:t>;</a:t>
            </a:r>
          </a:p>
        </p:txBody>
      </p:sp>
      <p:sp>
        <p:nvSpPr>
          <p:cNvPr id="576522" name="Rectangle 10"/>
          <p:cNvSpPr>
            <a:spLocks noChangeArrowheads="1"/>
          </p:cNvSpPr>
          <p:nvPr/>
        </p:nvSpPr>
        <p:spPr bwMode="auto">
          <a:xfrm>
            <a:off x="3046535" y="4365626"/>
            <a:ext cx="29514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3200" b="1" dirty="0">
                <a:solidFill>
                  <a:srgbClr val="C00000"/>
                </a:solidFill>
                <a:latin typeface="Times New Roman" pitchFamily="18" charset="0"/>
                <a:ea typeface="宋体" charset="-122"/>
              </a:rPr>
              <a:t>max(</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x, </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y</a:t>
            </a:r>
          </a:p>
        </p:txBody>
      </p:sp>
      <p:sp>
        <p:nvSpPr>
          <p:cNvPr id="576523" name="Rectangle 11"/>
          <p:cNvSpPr>
            <a:spLocks noChangeArrowheads="1"/>
          </p:cNvSpPr>
          <p:nvPr/>
        </p:nvSpPr>
        <p:spPr bwMode="auto">
          <a:xfrm>
            <a:off x="3552198" y="4725989"/>
            <a:ext cx="9476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z</a:t>
            </a:r>
          </a:p>
        </p:txBody>
      </p:sp>
      <p:sp>
        <p:nvSpPr>
          <p:cNvPr id="13" name="矩形 12"/>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2694052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922"/>
                                        </p:tgtEl>
                                        <p:attrNameLst>
                                          <p:attrName>style.visibility</p:attrName>
                                        </p:attrNameLst>
                                      </p:cBhvr>
                                      <p:to>
                                        <p:strVal val="visible"/>
                                      </p:to>
                                    </p:set>
                                    <p:animEffect transition="in" filter="fade">
                                      <p:cBhvr>
                                        <p:cTn id="7" dur="500"/>
                                        <p:tgtEl>
                                          <p:spTgt spid="389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8919"/>
                                        </p:tgtEl>
                                        <p:attrNameLst>
                                          <p:attrName>style.visibility</p:attrName>
                                        </p:attrNameLst>
                                      </p:cBhvr>
                                      <p:to>
                                        <p:strVal val="visible"/>
                                      </p:to>
                                    </p:set>
                                    <p:animEffect transition="in" filter="fade">
                                      <p:cBhvr>
                                        <p:cTn id="12" dur="500"/>
                                        <p:tgtEl>
                                          <p:spTgt spid="389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8920"/>
                                        </p:tgtEl>
                                        <p:attrNameLst>
                                          <p:attrName>style.visibility</p:attrName>
                                        </p:attrNameLst>
                                      </p:cBhvr>
                                      <p:to>
                                        <p:strVal val="visible"/>
                                      </p:to>
                                    </p:set>
                                    <p:animEffect transition="in" filter="fade">
                                      <p:cBhvr>
                                        <p:cTn id="17" dur="500"/>
                                        <p:tgtEl>
                                          <p:spTgt spid="389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6515"/>
                                        </p:tgtEl>
                                        <p:attrNameLst>
                                          <p:attrName>style.visibility</p:attrName>
                                        </p:attrNameLst>
                                      </p:cBhvr>
                                      <p:to>
                                        <p:strVal val="visible"/>
                                      </p:to>
                                    </p:set>
                                    <p:animEffect transition="in" filter="wipe(left)">
                                      <p:cBhvr>
                                        <p:cTn id="22" dur="500"/>
                                        <p:tgtEl>
                                          <p:spTgt spid="5765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76516"/>
                                        </p:tgtEl>
                                        <p:attrNameLst>
                                          <p:attrName>style.visibility</p:attrName>
                                        </p:attrNameLst>
                                      </p:cBhvr>
                                      <p:to>
                                        <p:strVal val="visible"/>
                                      </p:to>
                                    </p:set>
                                    <p:animEffect transition="in" filter="dissolve">
                                      <p:cBhvr>
                                        <p:cTn id="27" dur="500"/>
                                        <p:tgtEl>
                                          <p:spTgt spid="576516"/>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76517"/>
                                        </p:tgtEl>
                                        <p:attrNameLst>
                                          <p:attrName>style.visibility</p:attrName>
                                        </p:attrNameLst>
                                      </p:cBhvr>
                                      <p:to>
                                        <p:strVal val="visible"/>
                                      </p:to>
                                    </p:set>
                                    <p:animEffect transition="in" filter="dissolve">
                                      <p:cBhvr>
                                        <p:cTn id="32" dur="500"/>
                                        <p:tgtEl>
                                          <p:spTgt spid="5765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76522"/>
                                        </p:tgtEl>
                                        <p:attrNameLst>
                                          <p:attrName>style.visibility</p:attrName>
                                        </p:attrNameLst>
                                      </p:cBhvr>
                                      <p:to>
                                        <p:strVal val="visible"/>
                                      </p:to>
                                    </p:set>
                                    <p:animEffect transition="in" filter="dissolve">
                                      <p:cBhvr>
                                        <p:cTn id="37" dur="500"/>
                                        <p:tgtEl>
                                          <p:spTgt spid="5765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76523"/>
                                        </p:tgtEl>
                                        <p:attrNameLst>
                                          <p:attrName>style.visibility</p:attrName>
                                        </p:attrNameLst>
                                      </p:cBhvr>
                                      <p:to>
                                        <p:strVal val="visible"/>
                                      </p:to>
                                    </p:set>
                                    <p:animEffect transition="in" filter="dissolve">
                                      <p:cBhvr>
                                        <p:cTn id="42" dur="500"/>
                                        <p:tgtEl>
                                          <p:spTgt spid="576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5" grpId="0" autoUpdateAnimBg="0"/>
      <p:bldP spid="576516" grpId="0" animBg="1" autoUpdateAnimBg="0"/>
      <p:bldP spid="576517" grpId="0" animBg="1" autoUpdateAnimBg="0"/>
      <p:bldP spid="38919" grpId="0"/>
      <p:bldP spid="38920" grpId="0"/>
      <p:bldP spid="38922" grpId="0"/>
      <p:bldP spid="576522" grpId="0"/>
      <p:bldP spid="57652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577539" name="Rectangle 3"/>
          <p:cNvSpPr>
            <a:spLocks noChangeArrowheads="1"/>
          </p:cNvSpPr>
          <p:nvPr/>
        </p:nvSpPr>
        <p:spPr bwMode="auto">
          <a:xfrm>
            <a:off x="3200401" y="3971925"/>
            <a:ext cx="67611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startAt="3"/>
            </a:pPr>
            <a:r>
              <a:rPr lang="zh-CN" altLang="en-US" sz="3200" b="1" dirty="0">
                <a:latin typeface="Times New Roman" pitchFamily="18" charset="0"/>
              </a:rPr>
              <a:t>若变量未被赋值，则其初值不确定</a:t>
            </a:r>
          </a:p>
        </p:txBody>
      </p:sp>
      <p:sp>
        <p:nvSpPr>
          <p:cNvPr id="577540" name="Rectangle 4"/>
          <p:cNvSpPr>
            <a:spLocks noChangeArrowheads="1"/>
          </p:cNvSpPr>
          <p:nvPr/>
        </p:nvSpPr>
        <p:spPr bwMode="auto">
          <a:xfrm>
            <a:off x="4419601" y="4581525"/>
            <a:ext cx="3143809" cy="1938992"/>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lnSpc>
                <a:spcPct val="75000"/>
              </a:lnSpc>
            </a:pPr>
            <a:r>
              <a:rPr lang="en-US" altLang="zh-CN" sz="3200">
                <a:latin typeface="Times New Roman" pitchFamily="18" charset="0"/>
                <a:ea typeface="宋体" charset="-122"/>
              </a:rPr>
              <a:t>#include "stdio.h"</a:t>
            </a:r>
          </a:p>
          <a:p>
            <a:pPr algn="l" eaLnBrk="0" hangingPunct="0">
              <a:lnSpc>
                <a:spcPct val="75000"/>
              </a:lnSpc>
            </a:pPr>
            <a:r>
              <a:rPr lang="en-US" altLang="zh-CN" sz="3200">
                <a:latin typeface="Times New Roman" pitchFamily="18" charset="0"/>
                <a:ea typeface="宋体" charset="-122"/>
              </a:rPr>
              <a:t>void main( )</a:t>
            </a:r>
          </a:p>
          <a:p>
            <a:pPr algn="l" eaLnBrk="0" hangingPunct="0">
              <a:lnSpc>
                <a:spcPct val="75000"/>
              </a:lnSpc>
            </a:pPr>
            <a:r>
              <a:rPr lang="en-US" altLang="zh-CN" sz="3200">
                <a:latin typeface="Times New Roman" pitchFamily="18" charset="0"/>
                <a:ea typeface="宋体" charset="-122"/>
              </a:rPr>
              <a:t>{   int c;</a:t>
            </a:r>
          </a:p>
          <a:p>
            <a:pPr algn="l" eaLnBrk="0" hangingPunct="0">
              <a:lnSpc>
                <a:spcPct val="75000"/>
              </a:lnSpc>
            </a:pPr>
            <a:r>
              <a:rPr lang="en-US" altLang="zh-CN" sz="3200">
                <a:latin typeface="Times New Roman" pitchFamily="18" charset="0"/>
                <a:ea typeface="宋体" charset="-122"/>
              </a:rPr>
              <a:t>    printf("%d",c);</a:t>
            </a:r>
          </a:p>
          <a:p>
            <a:pPr algn="l" eaLnBrk="0" hangingPunct="0">
              <a:lnSpc>
                <a:spcPct val="75000"/>
              </a:lnSpc>
            </a:pPr>
            <a:r>
              <a:rPr lang="en-US" altLang="zh-CN" sz="3200">
                <a:latin typeface="Times New Roman" pitchFamily="18" charset="0"/>
                <a:ea typeface="宋体" charset="-122"/>
              </a:rPr>
              <a:t>}</a:t>
            </a:r>
          </a:p>
        </p:txBody>
      </p:sp>
      <p:sp>
        <p:nvSpPr>
          <p:cNvPr id="39942" name="Rectangle 5"/>
          <p:cNvSpPr>
            <a:spLocks noChangeArrowheads="1"/>
          </p:cNvSpPr>
          <p:nvPr/>
        </p:nvSpPr>
        <p:spPr bwMode="auto">
          <a:xfrm>
            <a:off x="2730501" y="3438525"/>
            <a:ext cx="72183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914400" lvl="1" indent="-457200">
              <a:buClr>
                <a:schemeClr val="hlink"/>
              </a:buClr>
              <a:buFont typeface="Wingdings" pitchFamily="2" charset="2"/>
              <a:buAutoNum type="arabicParenR" startAt="2"/>
            </a:pPr>
            <a:r>
              <a:rPr lang="zh-CN" altLang="en-US" sz="3200" b="1">
                <a:latin typeface="Times New Roman" pitchFamily="18" charset="0"/>
              </a:rPr>
              <a:t>变量存储单元随函数的调用而取得</a:t>
            </a:r>
          </a:p>
        </p:txBody>
      </p:sp>
      <p:sp>
        <p:nvSpPr>
          <p:cNvPr id="39943" name="Rectangle 6"/>
          <p:cNvSpPr>
            <a:spLocks noChangeArrowheads="1"/>
          </p:cNvSpPr>
          <p:nvPr/>
        </p:nvSpPr>
        <p:spPr bwMode="auto">
          <a:xfrm>
            <a:off x="2247900" y="2447926"/>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39944" name="Rectangle 7"/>
          <p:cNvSpPr>
            <a:spLocks noChangeArrowheads="1"/>
          </p:cNvSpPr>
          <p:nvPr/>
        </p:nvSpPr>
        <p:spPr bwMode="auto">
          <a:xfrm>
            <a:off x="3200401" y="2905125"/>
            <a:ext cx="67611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函数内定义的局部变量为自动变量</a:t>
            </a:r>
          </a:p>
        </p:txBody>
      </p:sp>
      <p:sp>
        <p:nvSpPr>
          <p:cNvPr id="39945" name="Rectangle 8"/>
          <p:cNvSpPr>
            <a:spLocks noChangeArrowheads="1"/>
          </p:cNvSpPr>
          <p:nvPr/>
        </p:nvSpPr>
        <p:spPr bwMode="auto">
          <a:xfrm>
            <a:off x="2222500" y="1076326"/>
            <a:ext cx="754380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自动存储</a:t>
            </a:r>
          </a:p>
        </p:txBody>
      </p:sp>
      <p:sp>
        <p:nvSpPr>
          <p:cNvPr id="39946" name="Rectangle 9"/>
          <p:cNvSpPr>
            <a:spLocks noChangeArrowheads="1"/>
          </p:cNvSpPr>
          <p:nvPr/>
        </p:nvSpPr>
        <p:spPr bwMode="auto">
          <a:xfrm>
            <a:off x="2246314" y="1816101"/>
            <a:ext cx="6440487"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latin typeface="Times New Roman" pitchFamily="18" charset="0"/>
              </a:rPr>
              <a:t>auto</a:t>
            </a:r>
            <a:r>
              <a:rPr lang="en-US" altLang="zh-CN" sz="3200" b="1" dirty="0"/>
              <a:t> </a:t>
            </a:r>
            <a:r>
              <a:rPr lang="zh-CN" altLang="en-US" sz="3200" b="1" dirty="0"/>
              <a:t>类型名 局部变量名</a:t>
            </a:r>
            <a:r>
              <a:rPr lang="en-US" altLang="zh-CN" sz="3200" b="1" dirty="0">
                <a:latin typeface="Times New Roman" pitchFamily="18" charset="0"/>
                <a:ea typeface="宋体" charset="-122"/>
              </a:rPr>
              <a:t>;</a:t>
            </a:r>
          </a:p>
        </p:txBody>
      </p:sp>
      <p:sp>
        <p:nvSpPr>
          <p:cNvPr id="11" name="矩形 10"/>
          <p:cNvSpPr/>
          <p:nvPr/>
        </p:nvSpPr>
        <p:spPr>
          <a:xfrm>
            <a:off x="3018015" y="155279"/>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39424612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946"/>
                                        </p:tgtEl>
                                        <p:attrNameLst>
                                          <p:attrName>style.visibility</p:attrName>
                                        </p:attrNameLst>
                                      </p:cBhvr>
                                      <p:to>
                                        <p:strVal val="visible"/>
                                      </p:to>
                                    </p:set>
                                    <p:animEffect transition="in" filter="fade">
                                      <p:cBhvr>
                                        <p:cTn id="7" dur="500"/>
                                        <p:tgtEl>
                                          <p:spTgt spid="399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943"/>
                                        </p:tgtEl>
                                        <p:attrNameLst>
                                          <p:attrName>style.visibility</p:attrName>
                                        </p:attrNameLst>
                                      </p:cBhvr>
                                      <p:to>
                                        <p:strVal val="visible"/>
                                      </p:to>
                                    </p:set>
                                    <p:animEffect transition="in" filter="fade">
                                      <p:cBhvr>
                                        <p:cTn id="12" dur="500"/>
                                        <p:tgtEl>
                                          <p:spTgt spid="399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944"/>
                                        </p:tgtEl>
                                        <p:attrNameLst>
                                          <p:attrName>style.visibility</p:attrName>
                                        </p:attrNameLst>
                                      </p:cBhvr>
                                      <p:to>
                                        <p:strVal val="visible"/>
                                      </p:to>
                                    </p:set>
                                    <p:animEffect transition="in" filter="fade">
                                      <p:cBhvr>
                                        <p:cTn id="17" dur="500"/>
                                        <p:tgtEl>
                                          <p:spTgt spid="399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9942"/>
                                        </p:tgtEl>
                                        <p:attrNameLst>
                                          <p:attrName>style.visibility</p:attrName>
                                        </p:attrNameLst>
                                      </p:cBhvr>
                                      <p:to>
                                        <p:strVal val="visible"/>
                                      </p:to>
                                    </p:set>
                                    <p:animEffect transition="in" filter="fade">
                                      <p:cBhvr>
                                        <p:cTn id="22" dur="500"/>
                                        <p:tgtEl>
                                          <p:spTgt spid="399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77539"/>
                                        </p:tgtEl>
                                        <p:attrNameLst>
                                          <p:attrName>style.visibility</p:attrName>
                                        </p:attrNameLst>
                                      </p:cBhvr>
                                      <p:to>
                                        <p:strVal val="visible"/>
                                      </p:to>
                                    </p:set>
                                    <p:animEffect transition="in" filter="wipe(left)">
                                      <p:cBhvr>
                                        <p:cTn id="27" dur="500"/>
                                        <p:tgtEl>
                                          <p:spTgt spid="5775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77540"/>
                                        </p:tgtEl>
                                        <p:attrNameLst>
                                          <p:attrName>style.visibility</p:attrName>
                                        </p:attrNameLst>
                                      </p:cBhvr>
                                      <p:to>
                                        <p:strVal val="visible"/>
                                      </p:to>
                                    </p:set>
                                    <p:animEffect transition="in" filter="dissolve">
                                      <p:cBhvr>
                                        <p:cTn id="32" dur="500"/>
                                        <p:tgtEl>
                                          <p:spTgt spid="577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39" grpId="0" autoUpdateAnimBg="0"/>
      <p:bldP spid="577540" grpId="0" animBg="1" autoUpdateAnimBg="0"/>
      <p:bldP spid="39942" grpId="0"/>
      <p:bldP spid="39943" grpId="0"/>
      <p:bldP spid="39944" grpId="0"/>
      <p:bldP spid="3994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endParaRPr lang="en-US" altLang="zh-CN" dirty="0"/>
          </a:p>
        </p:txBody>
      </p:sp>
      <p:sp>
        <p:nvSpPr>
          <p:cNvPr id="579587" name="Rectangle 3"/>
          <p:cNvSpPr>
            <a:spLocks noChangeArrowheads="1"/>
          </p:cNvSpPr>
          <p:nvPr/>
        </p:nvSpPr>
        <p:spPr bwMode="auto">
          <a:xfrm>
            <a:off x="2349500" y="1204913"/>
            <a:ext cx="7543800"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寄存器存储</a:t>
            </a:r>
          </a:p>
        </p:txBody>
      </p:sp>
      <p:sp>
        <p:nvSpPr>
          <p:cNvPr id="579588" name="Rectangle 4"/>
          <p:cNvSpPr>
            <a:spLocks noChangeArrowheads="1"/>
          </p:cNvSpPr>
          <p:nvPr/>
        </p:nvSpPr>
        <p:spPr bwMode="auto">
          <a:xfrm>
            <a:off x="2349501" y="2055814"/>
            <a:ext cx="6863354" cy="560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latin typeface="Times New Roman" pitchFamily="18" charset="0"/>
              </a:rPr>
              <a:t>register</a:t>
            </a:r>
            <a:r>
              <a:rPr lang="en-US" altLang="zh-CN" sz="3200" b="1" dirty="0"/>
              <a:t> </a:t>
            </a:r>
            <a:r>
              <a:rPr lang="zh-CN" altLang="en-US" sz="3200" b="1" dirty="0"/>
              <a:t>类型名 局部变量名</a:t>
            </a:r>
            <a:r>
              <a:rPr lang="en-US" altLang="zh-CN" sz="3200" b="1" dirty="0">
                <a:latin typeface="Times New Roman" pitchFamily="18" charset="0"/>
                <a:ea typeface="宋体" charset="-122"/>
              </a:rPr>
              <a:t>;</a:t>
            </a:r>
          </a:p>
        </p:txBody>
      </p:sp>
      <p:sp>
        <p:nvSpPr>
          <p:cNvPr id="579589" name="Rectangle 5"/>
          <p:cNvSpPr>
            <a:spLocks noChangeArrowheads="1"/>
          </p:cNvSpPr>
          <p:nvPr/>
        </p:nvSpPr>
        <p:spPr bwMode="auto">
          <a:xfrm>
            <a:off x="3810001" y="2919414"/>
            <a:ext cx="4580100" cy="2554545"/>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r>
              <a:rPr lang="en-US" altLang="zh-CN" sz="3200" b="1" dirty="0">
                <a:latin typeface="Times New Roman" pitchFamily="18" charset="0"/>
                <a:ea typeface="宋体" charset="-122"/>
              </a:rPr>
              <a:t>fun( )</a:t>
            </a:r>
          </a:p>
          <a:p>
            <a:pPr algn="l" eaLnBrk="0" hangingPunct="0"/>
            <a:r>
              <a:rPr lang="en-US" altLang="zh-CN" sz="3200" b="1" dirty="0">
                <a:latin typeface="Times New Roman" pitchFamily="18" charset="0"/>
                <a:ea typeface="宋体" charset="-122"/>
              </a:rPr>
              <a:t>{    register </a:t>
            </a:r>
            <a:r>
              <a:rPr lang="en-US" altLang="zh-CN" sz="3200" b="1" dirty="0" err="1">
                <a:latin typeface="Times New Roman" pitchFamily="18" charset="0"/>
                <a:ea typeface="宋体" charset="-122"/>
              </a:rPr>
              <a:t>int</a:t>
            </a: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i</a:t>
            </a:r>
            <a:r>
              <a:rPr lang="en-US" altLang="zh-CN" sz="3200" b="1" dirty="0">
                <a:latin typeface="Times New Roman" pitchFamily="18" charset="0"/>
                <a:ea typeface="宋体" charset="-122"/>
              </a:rPr>
              <a:t>;</a:t>
            </a:r>
          </a:p>
          <a:p>
            <a:pPr algn="l" eaLnBrk="0" hangingPunct="0"/>
            <a:r>
              <a:rPr lang="en-US" altLang="zh-CN" sz="3200" b="1" dirty="0">
                <a:latin typeface="Times New Roman" pitchFamily="18" charset="0"/>
                <a:ea typeface="宋体" charset="-122"/>
              </a:rPr>
              <a:t>      for(</a:t>
            </a:r>
            <a:r>
              <a:rPr lang="en-US" altLang="zh-CN" sz="3200" b="1" dirty="0" err="1">
                <a:latin typeface="Times New Roman" pitchFamily="18" charset="0"/>
                <a:ea typeface="宋体" charset="-122"/>
              </a:rPr>
              <a:t>i</a:t>
            </a:r>
            <a:r>
              <a:rPr lang="en-US" altLang="zh-CN" sz="3200" b="1" dirty="0">
                <a:latin typeface="Times New Roman" pitchFamily="18" charset="0"/>
                <a:ea typeface="宋体" charset="-122"/>
              </a:rPr>
              <a:t>=1;i&lt;=100;i++)</a:t>
            </a:r>
          </a:p>
          <a:p>
            <a:pPr algn="l" eaLnBrk="0" hangingPunct="0"/>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("%d" , </a:t>
            </a:r>
            <a:r>
              <a:rPr lang="en-US" altLang="zh-CN" sz="3200" b="1" dirty="0" err="1">
                <a:latin typeface="Times New Roman" pitchFamily="18" charset="0"/>
                <a:ea typeface="宋体" charset="-122"/>
              </a:rPr>
              <a:t>i</a:t>
            </a:r>
            <a:r>
              <a:rPr lang="en-US" altLang="zh-CN" sz="3200" b="1" dirty="0">
                <a:latin typeface="Times New Roman" pitchFamily="18" charset="0"/>
                <a:ea typeface="宋体" charset="-122"/>
              </a:rPr>
              <a:t>*</a:t>
            </a:r>
            <a:r>
              <a:rPr lang="en-US" altLang="zh-CN" sz="3200" b="1" dirty="0" err="1">
                <a:latin typeface="Times New Roman" pitchFamily="18" charset="0"/>
                <a:ea typeface="宋体" charset="-122"/>
              </a:rPr>
              <a:t>i</a:t>
            </a:r>
            <a:r>
              <a:rPr lang="en-US" altLang="zh-CN" sz="3200" b="1" dirty="0">
                <a:latin typeface="Times New Roman" pitchFamily="18" charset="0"/>
                <a:ea typeface="宋体" charset="-122"/>
              </a:rPr>
              <a:t>);</a:t>
            </a:r>
          </a:p>
          <a:p>
            <a:pPr algn="l" eaLnBrk="0" hangingPunct="0"/>
            <a:r>
              <a:rPr lang="en-US" altLang="zh-CN" sz="3200" b="1" dirty="0">
                <a:latin typeface="Times New Roman" pitchFamily="18" charset="0"/>
                <a:ea typeface="宋体" charset="-122"/>
              </a:rPr>
              <a:t>}</a:t>
            </a:r>
          </a:p>
        </p:txBody>
      </p:sp>
      <p:sp>
        <p:nvSpPr>
          <p:cNvPr id="7" name="矩形 6"/>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42650140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9587"/>
                                        </p:tgtEl>
                                        <p:attrNameLst>
                                          <p:attrName>style.visibility</p:attrName>
                                        </p:attrNameLst>
                                      </p:cBhvr>
                                      <p:to>
                                        <p:strVal val="visible"/>
                                      </p:to>
                                    </p:set>
                                    <p:animEffect transition="in" filter="wipe(left)">
                                      <p:cBhvr>
                                        <p:cTn id="7" dur="500"/>
                                        <p:tgtEl>
                                          <p:spTgt spid="579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9588"/>
                                        </p:tgtEl>
                                        <p:attrNameLst>
                                          <p:attrName>style.visibility</p:attrName>
                                        </p:attrNameLst>
                                      </p:cBhvr>
                                      <p:to>
                                        <p:strVal val="visible"/>
                                      </p:to>
                                    </p:set>
                                    <p:animEffect transition="in" filter="wipe(left)">
                                      <p:cBhvr>
                                        <p:cTn id="12" dur="500"/>
                                        <p:tgtEl>
                                          <p:spTgt spid="5795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79589"/>
                                        </p:tgtEl>
                                        <p:attrNameLst>
                                          <p:attrName>style.visibility</p:attrName>
                                        </p:attrNameLst>
                                      </p:cBhvr>
                                      <p:to>
                                        <p:strVal val="visible"/>
                                      </p:to>
                                    </p:set>
                                    <p:animEffect transition="in" filter="dissolve">
                                      <p:cBhvr>
                                        <p:cTn id="17" dur="500"/>
                                        <p:tgtEl>
                                          <p:spTgt spid="579589"/>
                                        </p:tgtEl>
                                      </p:cBhvr>
                                    </p:animEffect>
                                  </p:childTnLst>
                                  <p:subTnLst>
                                    <p:set>
                                      <p:cBhvr override="childStyle">
                                        <p:cTn dur="1" fill="hold" display="0" masterRel="nextClick" afterEffect="1"/>
                                        <p:tgtEl>
                                          <p:spTgt spid="579589"/>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7" grpId="0" autoUpdateAnimBg="0"/>
      <p:bldP spid="579588" grpId="0" autoUpdateAnimBg="0"/>
      <p:bldP spid="579589" grpId="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580611" name="Rectangle 3"/>
          <p:cNvSpPr>
            <a:spLocks noChangeArrowheads="1"/>
          </p:cNvSpPr>
          <p:nvPr/>
        </p:nvSpPr>
        <p:spPr bwMode="auto">
          <a:xfrm>
            <a:off x="3051870" y="3223741"/>
            <a:ext cx="82073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变量存储单元分配在</a:t>
            </a:r>
            <a:r>
              <a:rPr lang="en-US" altLang="zh-CN" sz="3200" b="1" dirty="0">
                <a:latin typeface="Times New Roman" pitchFamily="18" charset="0"/>
              </a:rPr>
              <a:t>CPU</a:t>
            </a:r>
            <a:r>
              <a:rPr lang="zh-CN" altLang="en-US" sz="3200" b="1" dirty="0">
                <a:latin typeface="Times New Roman" pitchFamily="18" charset="0"/>
              </a:rPr>
              <a:t>寄存器中</a:t>
            </a:r>
          </a:p>
        </p:txBody>
      </p:sp>
      <p:sp>
        <p:nvSpPr>
          <p:cNvPr id="580612" name="Rectangle 4"/>
          <p:cNvSpPr>
            <a:spLocks noChangeArrowheads="1"/>
          </p:cNvSpPr>
          <p:nvPr/>
        </p:nvSpPr>
        <p:spPr bwMode="auto">
          <a:xfrm>
            <a:off x="1816100" y="2583980"/>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580613" name="Rectangle 5"/>
          <p:cNvSpPr>
            <a:spLocks noChangeArrowheads="1"/>
          </p:cNvSpPr>
          <p:nvPr/>
        </p:nvSpPr>
        <p:spPr bwMode="auto">
          <a:xfrm>
            <a:off x="3086100" y="4594896"/>
            <a:ext cx="68580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3"/>
            </a:pPr>
            <a:r>
              <a:rPr lang="zh-CN" altLang="en-US" sz="3200" b="1" dirty="0">
                <a:latin typeface="Times New Roman" pitchFamily="18" charset="0"/>
              </a:rPr>
              <a:t>只能定义有限数目的寄存器变量</a:t>
            </a:r>
          </a:p>
        </p:txBody>
      </p:sp>
      <p:sp>
        <p:nvSpPr>
          <p:cNvPr id="580614" name="Rectangle 6"/>
          <p:cNvSpPr>
            <a:spLocks noChangeArrowheads="1"/>
          </p:cNvSpPr>
          <p:nvPr/>
        </p:nvSpPr>
        <p:spPr bwMode="auto">
          <a:xfrm>
            <a:off x="3086100" y="3887888"/>
            <a:ext cx="69342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2"/>
            </a:pPr>
            <a:r>
              <a:rPr lang="zh-CN" altLang="en-US" sz="3200" b="1" dirty="0">
                <a:latin typeface="Times New Roman" pitchFamily="18" charset="0"/>
              </a:rPr>
              <a:t>适用于同一变量频繁出现的地方</a:t>
            </a:r>
          </a:p>
        </p:txBody>
      </p:sp>
      <p:sp>
        <p:nvSpPr>
          <p:cNvPr id="580615" name="Rectangle 7"/>
          <p:cNvSpPr>
            <a:spLocks noChangeArrowheads="1"/>
          </p:cNvSpPr>
          <p:nvPr/>
        </p:nvSpPr>
        <p:spPr bwMode="auto">
          <a:xfrm>
            <a:off x="3063875" y="5289204"/>
            <a:ext cx="76200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4"/>
            </a:pPr>
            <a:r>
              <a:rPr lang="zh-CN" altLang="en-US" sz="3200" b="1" dirty="0">
                <a:latin typeface="Times New Roman" pitchFamily="18" charset="0"/>
              </a:rPr>
              <a:t>局部静态变量不能定义为寄存器变量</a:t>
            </a:r>
          </a:p>
        </p:txBody>
      </p:sp>
      <p:sp>
        <p:nvSpPr>
          <p:cNvPr id="41993" name="Rectangle 8"/>
          <p:cNvSpPr>
            <a:spLocks noChangeArrowheads="1"/>
          </p:cNvSpPr>
          <p:nvPr/>
        </p:nvSpPr>
        <p:spPr bwMode="auto">
          <a:xfrm>
            <a:off x="1803400" y="1128713"/>
            <a:ext cx="754380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寄存器存储</a:t>
            </a:r>
          </a:p>
        </p:txBody>
      </p:sp>
      <p:sp>
        <p:nvSpPr>
          <p:cNvPr id="41994" name="Rectangle 9"/>
          <p:cNvSpPr>
            <a:spLocks noChangeArrowheads="1"/>
          </p:cNvSpPr>
          <p:nvPr/>
        </p:nvSpPr>
        <p:spPr bwMode="auto">
          <a:xfrm>
            <a:off x="1816101" y="1870076"/>
            <a:ext cx="6863354" cy="560153"/>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latin typeface="Times New Roman" pitchFamily="18" charset="0"/>
              </a:rPr>
              <a:t>register</a:t>
            </a:r>
            <a:r>
              <a:rPr lang="en-US" altLang="zh-CN" sz="3200" b="1" dirty="0"/>
              <a:t> </a:t>
            </a:r>
            <a:r>
              <a:rPr lang="zh-CN" altLang="en-US" sz="3200" b="1" dirty="0"/>
              <a:t>类型名 局部变量名</a:t>
            </a:r>
            <a:r>
              <a:rPr lang="en-US" altLang="zh-CN" sz="3200" b="1" dirty="0">
                <a:latin typeface="Times New Roman" pitchFamily="18" charset="0"/>
                <a:ea typeface="宋体" charset="-122"/>
              </a:rPr>
              <a:t>;</a:t>
            </a:r>
          </a:p>
        </p:txBody>
      </p:sp>
      <p:sp>
        <p:nvSpPr>
          <p:cNvPr id="11" name="矩形 10"/>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34268789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994"/>
                                        </p:tgtEl>
                                        <p:attrNameLst>
                                          <p:attrName>style.visibility</p:attrName>
                                        </p:attrNameLst>
                                      </p:cBhvr>
                                      <p:to>
                                        <p:strVal val="visible"/>
                                      </p:to>
                                    </p:set>
                                    <p:animEffect transition="in" filter="fade">
                                      <p:cBhvr>
                                        <p:cTn id="7" dur="500"/>
                                        <p:tgtEl>
                                          <p:spTgt spid="4199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0612"/>
                                        </p:tgtEl>
                                        <p:attrNameLst>
                                          <p:attrName>style.visibility</p:attrName>
                                        </p:attrNameLst>
                                      </p:cBhvr>
                                      <p:to>
                                        <p:strVal val="visible"/>
                                      </p:to>
                                    </p:set>
                                    <p:animEffect transition="in" filter="dissolve">
                                      <p:cBhvr>
                                        <p:cTn id="12" dur="500"/>
                                        <p:tgtEl>
                                          <p:spTgt spid="5806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0611"/>
                                        </p:tgtEl>
                                        <p:attrNameLst>
                                          <p:attrName>style.visibility</p:attrName>
                                        </p:attrNameLst>
                                      </p:cBhvr>
                                      <p:to>
                                        <p:strVal val="visible"/>
                                      </p:to>
                                    </p:set>
                                    <p:animEffect transition="in" filter="wipe(left)">
                                      <p:cBhvr>
                                        <p:cTn id="17" dur="500"/>
                                        <p:tgtEl>
                                          <p:spTgt spid="5806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0614"/>
                                        </p:tgtEl>
                                        <p:attrNameLst>
                                          <p:attrName>style.visibility</p:attrName>
                                        </p:attrNameLst>
                                      </p:cBhvr>
                                      <p:to>
                                        <p:strVal val="visible"/>
                                      </p:to>
                                    </p:set>
                                    <p:animEffect transition="in" filter="wipe(left)">
                                      <p:cBhvr>
                                        <p:cTn id="22" dur="500"/>
                                        <p:tgtEl>
                                          <p:spTgt spid="5806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80613"/>
                                        </p:tgtEl>
                                        <p:attrNameLst>
                                          <p:attrName>style.visibility</p:attrName>
                                        </p:attrNameLst>
                                      </p:cBhvr>
                                      <p:to>
                                        <p:strVal val="visible"/>
                                      </p:to>
                                    </p:set>
                                    <p:animEffect transition="in" filter="wipe(left)">
                                      <p:cBhvr>
                                        <p:cTn id="27" dur="500"/>
                                        <p:tgtEl>
                                          <p:spTgt spid="5806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80615"/>
                                        </p:tgtEl>
                                        <p:attrNameLst>
                                          <p:attrName>style.visibility</p:attrName>
                                        </p:attrNameLst>
                                      </p:cBhvr>
                                      <p:to>
                                        <p:strVal val="visible"/>
                                      </p:to>
                                    </p:set>
                                    <p:animEffect transition="in" filter="wipe(left)">
                                      <p:cBhvr>
                                        <p:cTn id="32" dur="500"/>
                                        <p:tgtEl>
                                          <p:spTgt spid="580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autoUpdateAnimBg="0"/>
      <p:bldP spid="580612" grpId="0" autoUpdateAnimBg="0"/>
      <p:bldP spid="580613" grpId="0" autoUpdateAnimBg="0"/>
      <p:bldP spid="580614" grpId="0" autoUpdateAnimBg="0"/>
      <p:bldP spid="580615" grpId="0" autoUpdateAnimBg="0"/>
      <p:bldP spid="4199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endParaRPr lang="en-US" altLang="zh-CN" dirty="0"/>
          </a:p>
        </p:txBody>
      </p:sp>
      <p:sp>
        <p:nvSpPr>
          <p:cNvPr id="582659" name="Rectangle 3"/>
          <p:cNvSpPr>
            <a:spLocks noChangeArrowheads="1"/>
          </p:cNvSpPr>
          <p:nvPr/>
        </p:nvSpPr>
        <p:spPr bwMode="auto">
          <a:xfrm>
            <a:off x="2209800" y="1041401"/>
            <a:ext cx="754380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静态存储</a:t>
            </a:r>
          </a:p>
        </p:txBody>
      </p:sp>
      <p:sp>
        <p:nvSpPr>
          <p:cNvPr id="582660" name="Rectangle 4"/>
          <p:cNvSpPr>
            <a:spLocks noChangeArrowheads="1"/>
          </p:cNvSpPr>
          <p:nvPr/>
        </p:nvSpPr>
        <p:spPr bwMode="auto">
          <a:xfrm>
            <a:off x="2108201" y="1816101"/>
            <a:ext cx="6458819" cy="560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latin typeface="Times New Roman" pitchFamily="18" charset="0"/>
                <a:ea typeface="仿宋_GB2312" pitchFamily="49" charset="-122"/>
              </a:rPr>
              <a:t>static</a:t>
            </a:r>
            <a:r>
              <a:rPr lang="en-US" altLang="zh-CN" sz="3200" b="1" dirty="0"/>
              <a:t> </a:t>
            </a:r>
            <a:r>
              <a:rPr lang="zh-CN" altLang="en-US" sz="3200" b="1" dirty="0"/>
              <a:t>类型名 局部变量名</a:t>
            </a:r>
            <a:r>
              <a:rPr lang="en-US" altLang="zh-CN" sz="3200" b="1" dirty="0">
                <a:latin typeface="Times New Roman" pitchFamily="18" charset="0"/>
                <a:ea typeface="宋体" charset="-122"/>
              </a:rPr>
              <a:t>;</a:t>
            </a:r>
          </a:p>
        </p:txBody>
      </p:sp>
      <p:sp>
        <p:nvSpPr>
          <p:cNvPr id="582661" name="Rectangle 5"/>
          <p:cNvSpPr>
            <a:spLocks noChangeArrowheads="1"/>
          </p:cNvSpPr>
          <p:nvPr/>
        </p:nvSpPr>
        <p:spPr bwMode="auto">
          <a:xfrm>
            <a:off x="2120900" y="2543052"/>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582662" name="Rectangle 6"/>
          <p:cNvSpPr>
            <a:spLocks noChangeArrowheads="1"/>
          </p:cNvSpPr>
          <p:nvPr/>
        </p:nvSpPr>
        <p:spPr bwMode="auto">
          <a:xfrm>
            <a:off x="2895600" y="3023294"/>
            <a:ext cx="70104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程序执行时静态内部变量始终存在</a:t>
            </a:r>
          </a:p>
        </p:txBody>
      </p:sp>
      <p:sp>
        <p:nvSpPr>
          <p:cNvPr id="582663" name="Rectangle 7"/>
          <p:cNvSpPr>
            <a:spLocks noChangeArrowheads="1"/>
          </p:cNvSpPr>
          <p:nvPr/>
        </p:nvSpPr>
        <p:spPr bwMode="auto">
          <a:xfrm>
            <a:off x="3124201" y="3759201"/>
            <a:ext cx="3143809" cy="2312171"/>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lnSpc>
                <a:spcPct val="75000"/>
              </a:lnSpc>
            </a:pPr>
            <a:r>
              <a:rPr lang="en-US" altLang="zh-CN" sz="3200" dirty="0">
                <a:latin typeface="Times New Roman" pitchFamily="18" charset="0"/>
                <a:ea typeface="宋体" charset="-122"/>
              </a:rPr>
              <a:t>#include "</a:t>
            </a:r>
            <a:r>
              <a:rPr lang="en-US" altLang="zh-CN" sz="3200" dirty="0" err="1">
                <a:latin typeface="Times New Roman" pitchFamily="18" charset="0"/>
                <a:ea typeface="宋体" charset="-122"/>
              </a:rPr>
              <a:t>stdio.h</a:t>
            </a:r>
            <a:r>
              <a:rPr lang="en-US" altLang="zh-CN" sz="3200" dirty="0">
                <a:latin typeface="Times New Roman" pitchFamily="18" charset="0"/>
                <a:ea typeface="宋体" charset="-122"/>
              </a:rPr>
              <a:t>"</a:t>
            </a:r>
          </a:p>
          <a:p>
            <a:pPr algn="l" eaLnBrk="0" hangingPunct="0">
              <a:lnSpc>
                <a:spcPct val="75000"/>
              </a:lnSpc>
            </a:pPr>
            <a:r>
              <a:rPr lang="en-US" altLang="zh-CN" sz="3200" dirty="0">
                <a:latin typeface="Times New Roman" pitchFamily="18" charset="0"/>
                <a:ea typeface="宋体" charset="-122"/>
              </a:rPr>
              <a:t>add( )</a:t>
            </a:r>
          </a:p>
          <a:p>
            <a:pPr algn="l" eaLnBrk="0" hangingPunct="0">
              <a:lnSpc>
                <a:spcPct val="75000"/>
              </a:lnSpc>
            </a:pPr>
            <a:r>
              <a:rPr lang="en-US" altLang="zh-CN" sz="3200" dirty="0">
                <a:latin typeface="Times New Roman" pitchFamily="18" charset="0"/>
                <a:ea typeface="宋体" charset="-122"/>
              </a:rPr>
              <a:t>{   </a:t>
            </a:r>
            <a:r>
              <a:rPr lang="en-US" altLang="zh-CN" sz="3200" dirty="0">
                <a:solidFill>
                  <a:srgbClr val="C00000"/>
                </a:solidFill>
                <a:latin typeface="Times New Roman" pitchFamily="18" charset="0"/>
                <a:ea typeface="宋体" charset="-122"/>
              </a:rPr>
              <a:t>static</a:t>
            </a: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int</a:t>
            </a:r>
            <a:r>
              <a:rPr lang="en-US" altLang="zh-CN" sz="3200" dirty="0">
                <a:latin typeface="Times New Roman" pitchFamily="18" charset="0"/>
                <a:ea typeface="宋体" charset="-122"/>
              </a:rPr>
              <a:t> z=0;</a:t>
            </a:r>
          </a:p>
          <a:p>
            <a:pPr algn="l" eaLnBrk="0" hangingPunct="0">
              <a:lnSpc>
                <a:spcPct val="75000"/>
              </a:lnSpc>
            </a:pPr>
            <a:r>
              <a:rPr lang="en-US" altLang="zh-CN" sz="3200" dirty="0">
                <a:latin typeface="Times New Roman" pitchFamily="18" charset="0"/>
                <a:ea typeface="宋体" charset="-122"/>
              </a:rPr>
              <a:t>     z++;</a:t>
            </a:r>
          </a:p>
          <a:p>
            <a:pPr algn="l" eaLnBrk="0" hangingPunct="0">
              <a:lnSpc>
                <a:spcPct val="75000"/>
              </a:lnSpc>
            </a:pPr>
            <a:r>
              <a:rPr lang="en-US" altLang="zh-CN" sz="3200" dirty="0">
                <a:latin typeface="Times New Roman" pitchFamily="18" charset="0"/>
                <a:ea typeface="宋体" charset="-122"/>
              </a:rPr>
              <a:t>    return(z);</a:t>
            </a:r>
          </a:p>
          <a:p>
            <a:pPr algn="l" eaLnBrk="0" hangingPunct="0">
              <a:lnSpc>
                <a:spcPct val="75000"/>
              </a:lnSpc>
            </a:pPr>
            <a:r>
              <a:rPr lang="en-US" altLang="zh-CN" sz="3200" dirty="0">
                <a:latin typeface="Times New Roman" pitchFamily="18" charset="0"/>
                <a:ea typeface="宋体" charset="-122"/>
              </a:rPr>
              <a:t>}</a:t>
            </a:r>
          </a:p>
        </p:txBody>
      </p:sp>
      <p:sp>
        <p:nvSpPr>
          <p:cNvPr id="582664" name="Rectangle 8"/>
          <p:cNvSpPr>
            <a:spLocks noChangeArrowheads="1"/>
          </p:cNvSpPr>
          <p:nvPr/>
        </p:nvSpPr>
        <p:spPr bwMode="auto">
          <a:xfrm>
            <a:off x="6526214" y="3759200"/>
            <a:ext cx="3163045" cy="2308324"/>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lnSpc>
                <a:spcPct val="90000"/>
              </a:lnSpc>
            </a:pPr>
            <a:r>
              <a:rPr lang="en-US" altLang="zh-CN" sz="3200">
                <a:latin typeface="Times New Roman" pitchFamily="18" charset="0"/>
                <a:ea typeface="宋体" charset="-122"/>
              </a:rPr>
              <a:t>void main( )</a:t>
            </a:r>
          </a:p>
          <a:p>
            <a:pPr algn="l" eaLnBrk="0" hangingPunct="0">
              <a:lnSpc>
                <a:spcPct val="90000"/>
              </a:lnSpc>
            </a:pPr>
            <a:r>
              <a:rPr lang="en-US" altLang="zh-CN" sz="3200">
                <a:latin typeface="Times New Roman" pitchFamily="18" charset="0"/>
                <a:ea typeface="宋体" charset="-122"/>
              </a:rPr>
              <a:t>{   int c;</a:t>
            </a:r>
          </a:p>
          <a:p>
            <a:pPr algn="l" eaLnBrk="0" hangingPunct="0">
              <a:lnSpc>
                <a:spcPct val="90000"/>
              </a:lnSpc>
            </a:pPr>
            <a:r>
              <a:rPr lang="en-US" altLang="zh-CN" sz="3200">
                <a:latin typeface="Times New Roman" pitchFamily="18" charset="0"/>
                <a:ea typeface="宋体" charset="-122"/>
              </a:rPr>
              <a:t>     c= add( );</a:t>
            </a:r>
          </a:p>
          <a:p>
            <a:pPr algn="l" eaLnBrk="0" hangingPunct="0">
              <a:lnSpc>
                <a:spcPct val="90000"/>
              </a:lnSpc>
            </a:pPr>
            <a:r>
              <a:rPr lang="en-US" altLang="zh-CN" sz="3200">
                <a:latin typeface="Times New Roman" pitchFamily="18" charset="0"/>
                <a:ea typeface="宋体" charset="-122"/>
              </a:rPr>
              <a:t>     printf("%d",c);</a:t>
            </a:r>
          </a:p>
          <a:p>
            <a:pPr algn="l" eaLnBrk="0" hangingPunct="0">
              <a:lnSpc>
                <a:spcPct val="90000"/>
              </a:lnSpc>
            </a:pPr>
            <a:r>
              <a:rPr lang="en-US" altLang="zh-CN" sz="3200">
                <a:latin typeface="Times New Roman" pitchFamily="18" charset="0"/>
                <a:ea typeface="宋体" charset="-122"/>
              </a:rPr>
              <a:t>}</a:t>
            </a:r>
          </a:p>
        </p:txBody>
      </p:sp>
      <p:sp>
        <p:nvSpPr>
          <p:cNvPr id="10" name="矩形 9"/>
          <p:cNvSpPr/>
          <p:nvPr/>
        </p:nvSpPr>
        <p:spPr>
          <a:xfrm>
            <a:off x="3018016" y="1430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39429400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2659"/>
                                        </p:tgtEl>
                                        <p:attrNameLst>
                                          <p:attrName>style.visibility</p:attrName>
                                        </p:attrNameLst>
                                      </p:cBhvr>
                                      <p:to>
                                        <p:strVal val="visible"/>
                                      </p:to>
                                    </p:set>
                                    <p:animEffect transition="in" filter="wipe(left)">
                                      <p:cBhvr>
                                        <p:cTn id="7" dur="500"/>
                                        <p:tgtEl>
                                          <p:spTgt spid="582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2660"/>
                                        </p:tgtEl>
                                        <p:attrNameLst>
                                          <p:attrName>style.visibility</p:attrName>
                                        </p:attrNameLst>
                                      </p:cBhvr>
                                      <p:to>
                                        <p:strVal val="visible"/>
                                      </p:to>
                                    </p:set>
                                    <p:animEffect transition="in" filter="wipe(left)">
                                      <p:cBhvr>
                                        <p:cTn id="12" dur="500"/>
                                        <p:tgtEl>
                                          <p:spTgt spid="5826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2661"/>
                                        </p:tgtEl>
                                        <p:attrNameLst>
                                          <p:attrName>style.visibility</p:attrName>
                                        </p:attrNameLst>
                                      </p:cBhvr>
                                      <p:to>
                                        <p:strVal val="visible"/>
                                      </p:to>
                                    </p:set>
                                    <p:animEffect transition="in" filter="dissolve">
                                      <p:cBhvr>
                                        <p:cTn id="17" dur="500"/>
                                        <p:tgtEl>
                                          <p:spTgt spid="5826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2662"/>
                                        </p:tgtEl>
                                        <p:attrNameLst>
                                          <p:attrName>style.visibility</p:attrName>
                                        </p:attrNameLst>
                                      </p:cBhvr>
                                      <p:to>
                                        <p:strVal val="visible"/>
                                      </p:to>
                                    </p:set>
                                    <p:animEffect transition="in" filter="wipe(left)">
                                      <p:cBhvr>
                                        <p:cTn id="22" dur="500"/>
                                        <p:tgtEl>
                                          <p:spTgt spid="5826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82663"/>
                                        </p:tgtEl>
                                        <p:attrNameLst>
                                          <p:attrName>style.visibility</p:attrName>
                                        </p:attrNameLst>
                                      </p:cBhvr>
                                      <p:to>
                                        <p:strVal val="visible"/>
                                      </p:to>
                                    </p:set>
                                    <p:animEffect transition="in" filter="dissolve">
                                      <p:cBhvr>
                                        <p:cTn id="27" dur="500"/>
                                        <p:tgtEl>
                                          <p:spTgt spid="582663"/>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82664"/>
                                        </p:tgtEl>
                                        <p:attrNameLst>
                                          <p:attrName>style.visibility</p:attrName>
                                        </p:attrNameLst>
                                      </p:cBhvr>
                                      <p:to>
                                        <p:strVal val="visible"/>
                                      </p:to>
                                    </p:set>
                                    <p:animEffect transition="in" filter="dissolve">
                                      <p:cBhvr>
                                        <p:cTn id="32" dur="500"/>
                                        <p:tgtEl>
                                          <p:spTgt spid="582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autoUpdateAnimBg="0"/>
      <p:bldP spid="582660" grpId="0" autoUpdateAnimBg="0"/>
      <p:bldP spid="582661" grpId="0" autoUpdateAnimBg="0"/>
      <p:bldP spid="582662" grpId="0" autoUpdateAnimBg="0"/>
      <p:bldP spid="582663" grpId="0" animBg="1" autoUpdateAnimBg="0"/>
      <p:bldP spid="582664" grpId="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endParaRPr lang="en-US" altLang="zh-CN" dirty="0"/>
          </a:p>
        </p:txBody>
      </p:sp>
      <p:sp>
        <p:nvSpPr>
          <p:cNvPr id="584707" name="Rectangle 3"/>
          <p:cNvSpPr>
            <a:spLocks noChangeArrowheads="1"/>
          </p:cNvSpPr>
          <p:nvPr/>
        </p:nvSpPr>
        <p:spPr bwMode="auto">
          <a:xfrm>
            <a:off x="2895600" y="4319192"/>
            <a:ext cx="77724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2"/>
            </a:pPr>
            <a:r>
              <a:rPr lang="zh-CN" altLang="en-US" sz="3200" b="1" dirty="0">
                <a:latin typeface="Times New Roman" pitchFamily="18" charset="0"/>
              </a:rPr>
              <a:t>变量仅仅在程序编译时被赋值一次</a:t>
            </a:r>
          </a:p>
        </p:txBody>
      </p:sp>
      <p:sp>
        <p:nvSpPr>
          <p:cNvPr id="44037" name="Rectangle 4"/>
          <p:cNvSpPr>
            <a:spLocks noChangeArrowheads="1"/>
          </p:cNvSpPr>
          <p:nvPr/>
        </p:nvSpPr>
        <p:spPr bwMode="auto">
          <a:xfrm>
            <a:off x="1930400" y="1166442"/>
            <a:ext cx="754380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静态存储</a:t>
            </a:r>
          </a:p>
        </p:txBody>
      </p:sp>
      <p:sp>
        <p:nvSpPr>
          <p:cNvPr id="44038" name="Rectangle 5"/>
          <p:cNvSpPr>
            <a:spLocks noChangeArrowheads="1"/>
          </p:cNvSpPr>
          <p:nvPr/>
        </p:nvSpPr>
        <p:spPr bwMode="auto">
          <a:xfrm>
            <a:off x="2057401" y="1930401"/>
            <a:ext cx="6458819" cy="560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latin typeface="Times New Roman" pitchFamily="18" charset="0"/>
                <a:ea typeface="仿宋_GB2312" pitchFamily="49" charset="-122"/>
              </a:rPr>
              <a:t>static</a:t>
            </a:r>
            <a:r>
              <a:rPr lang="en-US" altLang="zh-CN" sz="3200" b="1" dirty="0"/>
              <a:t> </a:t>
            </a:r>
            <a:r>
              <a:rPr lang="zh-CN" altLang="en-US" sz="3200" b="1" dirty="0"/>
              <a:t>类型名 局部变量名</a:t>
            </a:r>
            <a:r>
              <a:rPr lang="en-US" altLang="zh-CN" sz="3200" b="1" dirty="0">
                <a:latin typeface="Times New Roman" pitchFamily="18" charset="0"/>
                <a:ea typeface="宋体" charset="-122"/>
              </a:rPr>
              <a:t>;</a:t>
            </a:r>
          </a:p>
        </p:txBody>
      </p:sp>
      <p:sp>
        <p:nvSpPr>
          <p:cNvPr id="44039" name="Rectangle 6"/>
          <p:cNvSpPr>
            <a:spLocks noChangeArrowheads="1"/>
          </p:cNvSpPr>
          <p:nvPr/>
        </p:nvSpPr>
        <p:spPr bwMode="auto">
          <a:xfrm>
            <a:off x="2082800" y="2687068"/>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44040" name="Rectangle 7"/>
          <p:cNvSpPr>
            <a:spLocks noChangeArrowheads="1"/>
          </p:cNvSpPr>
          <p:nvPr/>
        </p:nvSpPr>
        <p:spPr bwMode="auto">
          <a:xfrm>
            <a:off x="2895600" y="3407916"/>
            <a:ext cx="70104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程序执行时静态内部变量始终存在</a:t>
            </a:r>
          </a:p>
        </p:txBody>
      </p:sp>
      <p:sp>
        <p:nvSpPr>
          <p:cNvPr id="9" name="矩形 8"/>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73899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038"/>
                                        </p:tgtEl>
                                        <p:attrNameLst>
                                          <p:attrName>style.visibility</p:attrName>
                                        </p:attrNameLst>
                                      </p:cBhvr>
                                      <p:to>
                                        <p:strVal val="visible"/>
                                      </p:to>
                                    </p:set>
                                    <p:animEffect transition="in" filter="fade">
                                      <p:cBhvr>
                                        <p:cTn id="7" dur="500"/>
                                        <p:tgtEl>
                                          <p:spTgt spid="440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039"/>
                                        </p:tgtEl>
                                        <p:attrNameLst>
                                          <p:attrName>style.visibility</p:attrName>
                                        </p:attrNameLst>
                                      </p:cBhvr>
                                      <p:to>
                                        <p:strVal val="visible"/>
                                      </p:to>
                                    </p:set>
                                    <p:animEffect transition="in" filter="fade">
                                      <p:cBhvr>
                                        <p:cTn id="12" dur="500"/>
                                        <p:tgtEl>
                                          <p:spTgt spid="440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040"/>
                                        </p:tgtEl>
                                        <p:attrNameLst>
                                          <p:attrName>style.visibility</p:attrName>
                                        </p:attrNameLst>
                                      </p:cBhvr>
                                      <p:to>
                                        <p:strVal val="visible"/>
                                      </p:to>
                                    </p:set>
                                    <p:animEffect transition="in" filter="fade">
                                      <p:cBhvr>
                                        <p:cTn id="17" dur="500"/>
                                        <p:tgtEl>
                                          <p:spTgt spid="440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4707"/>
                                        </p:tgtEl>
                                        <p:attrNameLst>
                                          <p:attrName>style.visibility</p:attrName>
                                        </p:attrNameLst>
                                      </p:cBhvr>
                                      <p:to>
                                        <p:strVal val="visible"/>
                                      </p:to>
                                    </p:set>
                                    <p:animEffect transition="in" filter="wipe(left)">
                                      <p:cBhvr>
                                        <p:cTn id="22" dur="500"/>
                                        <p:tgtEl>
                                          <p:spTgt spid="584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07" grpId="0" autoUpdateAnimBg="0"/>
      <p:bldP spid="44038" grpId="0"/>
      <p:bldP spid="44039" grpId="0"/>
      <p:bldP spid="44040"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endParaRPr lang="en-US" altLang="zh-CN" dirty="0"/>
          </a:p>
        </p:txBody>
      </p:sp>
      <p:sp>
        <p:nvSpPr>
          <p:cNvPr id="585730" name="Rectangle 2"/>
          <p:cNvSpPr>
            <a:spLocks noChangeArrowheads="1"/>
          </p:cNvSpPr>
          <p:nvPr/>
        </p:nvSpPr>
        <p:spPr bwMode="auto">
          <a:xfrm>
            <a:off x="2663904" y="1258889"/>
            <a:ext cx="3288080" cy="4819781"/>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lnSpc>
                <a:spcPct val="80000"/>
              </a:lnSpc>
            </a:pPr>
            <a:r>
              <a:rPr lang="en-US" altLang="zh-CN" sz="3200" dirty="0">
                <a:latin typeface="Times New Roman" pitchFamily="18" charset="0"/>
                <a:ea typeface="宋体" charset="-122"/>
              </a:rPr>
              <a:t>#include "</a:t>
            </a:r>
            <a:r>
              <a:rPr lang="en-US" altLang="zh-CN" sz="3200" dirty="0" err="1">
                <a:latin typeface="Times New Roman" pitchFamily="18" charset="0"/>
                <a:ea typeface="宋体" charset="-122"/>
              </a:rPr>
              <a:t>stdio.h</a:t>
            </a:r>
            <a:r>
              <a:rPr lang="en-US" altLang="zh-CN" sz="3200" dirty="0">
                <a:latin typeface="Times New Roman" pitchFamily="18" charset="0"/>
                <a:ea typeface="宋体" charset="-122"/>
              </a:rPr>
              <a:t>"</a:t>
            </a:r>
          </a:p>
          <a:p>
            <a:pPr algn="l" eaLnBrk="0" hangingPunct="0">
              <a:lnSpc>
                <a:spcPct val="80000"/>
              </a:lnSpc>
            </a:pPr>
            <a:r>
              <a:rPr lang="en-US" altLang="zh-CN" sz="3200" dirty="0">
                <a:latin typeface="Times New Roman" pitchFamily="18" charset="0"/>
                <a:ea typeface="宋体" charset="-122"/>
              </a:rPr>
              <a:t>void  </a:t>
            </a:r>
            <a:r>
              <a:rPr lang="en-US" altLang="zh-CN" sz="3200" dirty="0" err="1">
                <a:latin typeface="Times New Roman" pitchFamily="18" charset="0"/>
                <a:ea typeface="宋体" charset="-122"/>
              </a:rPr>
              <a:t>inc</a:t>
            </a:r>
            <a:r>
              <a:rPr lang="en-US" altLang="zh-CN" sz="3200" dirty="0">
                <a:latin typeface="Times New Roman" pitchFamily="18" charset="0"/>
                <a:ea typeface="宋体" charset="-122"/>
              </a:rPr>
              <a:t>( )</a:t>
            </a:r>
          </a:p>
          <a:p>
            <a:pPr algn="l" eaLnBrk="0" hangingPunct="0">
              <a:lnSpc>
                <a:spcPct val="80000"/>
              </a:lnSpc>
            </a:pPr>
            <a:r>
              <a:rPr lang="en-US" altLang="zh-CN" sz="3200" dirty="0">
                <a:latin typeface="Times New Roman" pitchFamily="18" charset="0"/>
                <a:ea typeface="宋体" charset="-122"/>
              </a:rPr>
              <a:t>{   </a:t>
            </a:r>
            <a:r>
              <a:rPr lang="en-US" altLang="zh-CN" sz="3200" dirty="0" err="1">
                <a:solidFill>
                  <a:srgbClr val="C00000"/>
                </a:solidFill>
                <a:latin typeface="Times New Roman" pitchFamily="18" charset="0"/>
                <a:ea typeface="宋体" charset="-122"/>
              </a:rPr>
              <a:t>int</a:t>
            </a:r>
            <a:r>
              <a:rPr lang="en-US" altLang="zh-CN" sz="3200" dirty="0">
                <a:solidFill>
                  <a:srgbClr val="C00000"/>
                </a:solidFill>
                <a:latin typeface="Times New Roman" pitchFamily="18" charset="0"/>
                <a:ea typeface="宋体" charset="-122"/>
              </a:rPr>
              <a:t> x=0;</a:t>
            </a:r>
          </a:p>
          <a:p>
            <a:pPr algn="l" eaLnBrk="0" hangingPunct="0">
              <a:lnSpc>
                <a:spcPct val="80000"/>
              </a:lnSpc>
            </a:pPr>
            <a:r>
              <a:rPr lang="en-US" altLang="zh-CN" sz="3200" dirty="0">
                <a:latin typeface="Times New Roman" pitchFamily="18" charset="0"/>
                <a:ea typeface="宋体" charset="-122"/>
              </a:rPr>
              <a:t>     x++;</a:t>
            </a:r>
          </a:p>
          <a:p>
            <a:pPr algn="l" eaLnBrk="0" hangingPunct="0">
              <a:lnSpc>
                <a:spcPct val="80000"/>
              </a:lnSpc>
            </a:pP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printf</a:t>
            </a:r>
            <a:r>
              <a:rPr lang="en-US" altLang="zh-CN" sz="3200" dirty="0">
                <a:latin typeface="Times New Roman" pitchFamily="18" charset="0"/>
                <a:ea typeface="宋体" charset="-122"/>
              </a:rPr>
              <a:t>("%d ",x);</a:t>
            </a:r>
          </a:p>
          <a:p>
            <a:pPr algn="l" eaLnBrk="0" hangingPunct="0">
              <a:lnSpc>
                <a:spcPct val="80000"/>
              </a:lnSpc>
            </a:pPr>
            <a:r>
              <a:rPr lang="en-US" altLang="zh-CN" sz="3200" dirty="0">
                <a:latin typeface="Times New Roman" pitchFamily="18" charset="0"/>
                <a:ea typeface="宋体" charset="-122"/>
              </a:rPr>
              <a:t>}</a:t>
            </a:r>
          </a:p>
          <a:p>
            <a:pPr algn="l" eaLnBrk="0" hangingPunct="0">
              <a:lnSpc>
                <a:spcPct val="80000"/>
              </a:lnSpc>
            </a:pPr>
            <a:r>
              <a:rPr lang="en-US" altLang="zh-CN" sz="3200" dirty="0" err="1">
                <a:latin typeface="Times New Roman" pitchFamily="18" charset="0"/>
                <a:ea typeface="宋体" charset="-122"/>
              </a:rPr>
              <a:t>int</a:t>
            </a:r>
            <a:r>
              <a:rPr lang="en-US" altLang="zh-CN" sz="3200" dirty="0">
                <a:latin typeface="Times New Roman" pitchFamily="18" charset="0"/>
                <a:ea typeface="宋体" charset="-122"/>
              </a:rPr>
              <a:t> main( )</a:t>
            </a:r>
          </a:p>
          <a:p>
            <a:pPr algn="l" eaLnBrk="0" hangingPunct="0">
              <a:lnSpc>
                <a:spcPct val="80000"/>
              </a:lnSpc>
            </a:pP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inc</a:t>
            </a:r>
            <a:r>
              <a:rPr lang="en-US" altLang="zh-CN" sz="3200" dirty="0">
                <a:latin typeface="Times New Roman" pitchFamily="18" charset="0"/>
                <a:ea typeface="宋体" charset="-122"/>
              </a:rPr>
              <a:t>( );</a:t>
            </a:r>
          </a:p>
          <a:p>
            <a:pPr algn="l" eaLnBrk="0" hangingPunct="0">
              <a:lnSpc>
                <a:spcPct val="80000"/>
              </a:lnSpc>
            </a:pP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inc</a:t>
            </a:r>
            <a:r>
              <a:rPr lang="en-US" altLang="zh-CN" sz="3200" dirty="0">
                <a:latin typeface="Times New Roman" pitchFamily="18" charset="0"/>
                <a:ea typeface="宋体" charset="-122"/>
              </a:rPr>
              <a:t>( );</a:t>
            </a:r>
          </a:p>
          <a:p>
            <a:pPr algn="l" eaLnBrk="0" hangingPunct="0">
              <a:lnSpc>
                <a:spcPct val="80000"/>
              </a:lnSpc>
            </a:pP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inc</a:t>
            </a:r>
            <a:r>
              <a:rPr lang="en-US" altLang="zh-CN" sz="3200" dirty="0">
                <a:latin typeface="Times New Roman" pitchFamily="18" charset="0"/>
                <a:ea typeface="宋体" charset="-122"/>
              </a:rPr>
              <a:t>( );</a:t>
            </a:r>
          </a:p>
          <a:p>
            <a:pPr algn="l" eaLnBrk="0" hangingPunct="0">
              <a:lnSpc>
                <a:spcPct val="80000"/>
              </a:lnSpc>
            </a:pPr>
            <a:r>
              <a:rPr lang="en-US" altLang="zh-CN" sz="3200" dirty="0">
                <a:latin typeface="Times New Roman" pitchFamily="18" charset="0"/>
                <a:ea typeface="宋体" charset="-122"/>
              </a:rPr>
              <a:t>     return 0;</a:t>
            </a:r>
          </a:p>
          <a:p>
            <a:pPr algn="l" eaLnBrk="0" hangingPunct="0">
              <a:lnSpc>
                <a:spcPct val="80000"/>
              </a:lnSpc>
            </a:pPr>
            <a:r>
              <a:rPr lang="en-US" altLang="zh-CN" sz="3200" dirty="0">
                <a:latin typeface="Times New Roman" pitchFamily="18" charset="0"/>
                <a:ea typeface="宋体" charset="-122"/>
              </a:rPr>
              <a:t>}</a:t>
            </a:r>
          </a:p>
        </p:txBody>
      </p:sp>
      <p:sp>
        <p:nvSpPr>
          <p:cNvPr id="585731" name="Rectangle 3"/>
          <p:cNvSpPr>
            <a:spLocks noChangeArrowheads="1"/>
          </p:cNvSpPr>
          <p:nvPr/>
        </p:nvSpPr>
        <p:spPr bwMode="auto">
          <a:xfrm>
            <a:off x="6153150" y="1258889"/>
            <a:ext cx="3288080" cy="4819781"/>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lnSpc>
                <a:spcPct val="80000"/>
              </a:lnSpc>
            </a:pPr>
            <a:r>
              <a:rPr lang="en-US" altLang="zh-CN" sz="3200" dirty="0">
                <a:latin typeface="Times New Roman" pitchFamily="18" charset="0"/>
                <a:ea typeface="宋体" charset="-122"/>
              </a:rPr>
              <a:t>#include "</a:t>
            </a:r>
            <a:r>
              <a:rPr lang="en-US" altLang="zh-CN" sz="3200" dirty="0" err="1">
                <a:latin typeface="Times New Roman" pitchFamily="18" charset="0"/>
                <a:ea typeface="宋体" charset="-122"/>
              </a:rPr>
              <a:t>stdio.h</a:t>
            </a:r>
            <a:r>
              <a:rPr lang="en-US" altLang="zh-CN" sz="3200" dirty="0">
                <a:latin typeface="Times New Roman" pitchFamily="18" charset="0"/>
                <a:ea typeface="宋体" charset="-122"/>
              </a:rPr>
              <a:t>"</a:t>
            </a:r>
          </a:p>
          <a:p>
            <a:pPr algn="l" eaLnBrk="0" hangingPunct="0">
              <a:lnSpc>
                <a:spcPct val="80000"/>
              </a:lnSpc>
            </a:pPr>
            <a:r>
              <a:rPr lang="en-US" altLang="zh-CN" sz="3200" dirty="0">
                <a:latin typeface="Times New Roman" pitchFamily="18" charset="0"/>
                <a:ea typeface="宋体" charset="-122"/>
              </a:rPr>
              <a:t>void  </a:t>
            </a:r>
            <a:r>
              <a:rPr lang="en-US" altLang="zh-CN" sz="3200" dirty="0" err="1">
                <a:latin typeface="Times New Roman" pitchFamily="18" charset="0"/>
                <a:ea typeface="宋体" charset="-122"/>
              </a:rPr>
              <a:t>inc</a:t>
            </a:r>
            <a:r>
              <a:rPr lang="en-US" altLang="zh-CN" sz="3200" dirty="0">
                <a:latin typeface="Times New Roman" pitchFamily="18" charset="0"/>
                <a:ea typeface="宋体" charset="-122"/>
              </a:rPr>
              <a:t>( )</a:t>
            </a:r>
          </a:p>
          <a:p>
            <a:pPr algn="l" eaLnBrk="0" hangingPunct="0">
              <a:lnSpc>
                <a:spcPct val="80000"/>
              </a:lnSpc>
            </a:pPr>
            <a:r>
              <a:rPr lang="en-US" altLang="zh-CN" sz="3200" dirty="0">
                <a:latin typeface="Times New Roman" pitchFamily="18" charset="0"/>
                <a:ea typeface="宋体" charset="-122"/>
              </a:rPr>
              <a:t>{   </a:t>
            </a:r>
            <a:r>
              <a:rPr lang="en-US" altLang="zh-CN" sz="3200" dirty="0">
                <a:solidFill>
                  <a:srgbClr val="C00000"/>
                </a:solidFill>
                <a:latin typeface="Times New Roman" pitchFamily="18" charset="0"/>
                <a:ea typeface="宋体" charset="-122"/>
              </a:rPr>
              <a:t>static </a:t>
            </a:r>
            <a:r>
              <a:rPr lang="en-US" altLang="zh-CN" sz="3200" dirty="0" err="1">
                <a:solidFill>
                  <a:srgbClr val="C00000"/>
                </a:solidFill>
                <a:latin typeface="Times New Roman" pitchFamily="18" charset="0"/>
                <a:ea typeface="宋体" charset="-122"/>
              </a:rPr>
              <a:t>int</a:t>
            </a:r>
            <a:r>
              <a:rPr lang="en-US" altLang="zh-CN" sz="3200" dirty="0">
                <a:solidFill>
                  <a:srgbClr val="C00000"/>
                </a:solidFill>
                <a:latin typeface="Times New Roman" pitchFamily="18" charset="0"/>
                <a:ea typeface="宋体" charset="-122"/>
              </a:rPr>
              <a:t> x=0;</a:t>
            </a:r>
          </a:p>
          <a:p>
            <a:pPr algn="l" eaLnBrk="0" hangingPunct="0">
              <a:lnSpc>
                <a:spcPct val="80000"/>
              </a:lnSpc>
            </a:pPr>
            <a:r>
              <a:rPr lang="en-US" altLang="zh-CN" sz="3200" dirty="0">
                <a:latin typeface="Times New Roman" pitchFamily="18" charset="0"/>
                <a:ea typeface="宋体" charset="-122"/>
              </a:rPr>
              <a:t>     x++;</a:t>
            </a:r>
          </a:p>
          <a:p>
            <a:pPr algn="l" eaLnBrk="0" hangingPunct="0">
              <a:lnSpc>
                <a:spcPct val="80000"/>
              </a:lnSpc>
            </a:pP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printf</a:t>
            </a:r>
            <a:r>
              <a:rPr lang="en-US" altLang="zh-CN" sz="3200" dirty="0">
                <a:latin typeface="Times New Roman" pitchFamily="18" charset="0"/>
                <a:ea typeface="宋体" charset="-122"/>
              </a:rPr>
              <a:t>("%d ",x);</a:t>
            </a:r>
          </a:p>
          <a:p>
            <a:pPr algn="l" eaLnBrk="0" hangingPunct="0">
              <a:lnSpc>
                <a:spcPct val="80000"/>
              </a:lnSpc>
            </a:pPr>
            <a:r>
              <a:rPr lang="en-US" altLang="zh-CN" sz="3200" dirty="0">
                <a:latin typeface="Times New Roman" pitchFamily="18" charset="0"/>
                <a:ea typeface="宋体" charset="-122"/>
              </a:rPr>
              <a:t>}</a:t>
            </a:r>
          </a:p>
          <a:p>
            <a:pPr algn="l" eaLnBrk="0" hangingPunct="0">
              <a:lnSpc>
                <a:spcPct val="80000"/>
              </a:lnSpc>
            </a:pPr>
            <a:r>
              <a:rPr lang="en-US" altLang="zh-CN" sz="3200" dirty="0" err="1">
                <a:latin typeface="Times New Roman" pitchFamily="18" charset="0"/>
                <a:ea typeface="宋体" charset="-122"/>
              </a:rPr>
              <a:t>int</a:t>
            </a:r>
            <a:r>
              <a:rPr lang="en-US" altLang="zh-CN" sz="3200" dirty="0">
                <a:latin typeface="Times New Roman" pitchFamily="18" charset="0"/>
                <a:ea typeface="宋体" charset="-122"/>
              </a:rPr>
              <a:t> main( )</a:t>
            </a:r>
          </a:p>
          <a:p>
            <a:pPr algn="l" eaLnBrk="0" hangingPunct="0">
              <a:lnSpc>
                <a:spcPct val="80000"/>
              </a:lnSpc>
            </a:pP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inc</a:t>
            </a:r>
            <a:r>
              <a:rPr lang="en-US" altLang="zh-CN" sz="3200" dirty="0">
                <a:latin typeface="Times New Roman" pitchFamily="18" charset="0"/>
                <a:ea typeface="宋体" charset="-122"/>
              </a:rPr>
              <a:t>( );</a:t>
            </a:r>
          </a:p>
          <a:p>
            <a:pPr algn="l" eaLnBrk="0" hangingPunct="0">
              <a:lnSpc>
                <a:spcPct val="80000"/>
              </a:lnSpc>
            </a:pP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inc</a:t>
            </a:r>
            <a:r>
              <a:rPr lang="en-US" altLang="zh-CN" sz="3200" dirty="0">
                <a:latin typeface="Times New Roman" pitchFamily="18" charset="0"/>
                <a:ea typeface="宋体" charset="-122"/>
              </a:rPr>
              <a:t>( );</a:t>
            </a:r>
          </a:p>
          <a:p>
            <a:pPr algn="l" eaLnBrk="0" hangingPunct="0">
              <a:lnSpc>
                <a:spcPct val="80000"/>
              </a:lnSpc>
            </a:pPr>
            <a:r>
              <a:rPr lang="en-US" altLang="zh-CN" sz="3200" dirty="0">
                <a:latin typeface="Times New Roman" pitchFamily="18" charset="0"/>
                <a:ea typeface="宋体" charset="-122"/>
              </a:rPr>
              <a:t>     </a:t>
            </a:r>
            <a:r>
              <a:rPr lang="en-US" altLang="zh-CN" sz="3200" dirty="0" err="1">
                <a:latin typeface="Times New Roman" pitchFamily="18" charset="0"/>
                <a:ea typeface="宋体" charset="-122"/>
              </a:rPr>
              <a:t>inc</a:t>
            </a:r>
            <a:r>
              <a:rPr lang="en-US" altLang="zh-CN" sz="3200" dirty="0">
                <a:latin typeface="Times New Roman" pitchFamily="18" charset="0"/>
                <a:ea typeface="宋体" charset="-122"/>
              </a:rPr>
              <a:t>( );</a:t>
            </a:r>
          </a:p>
          <a:p>
            <a:pPr algn="l" eaLnBrk="0" hangingPunct="0">
              <a:lnSpc>
                <a:spcPct val="80000"/>
              </a:lnSpc>
            </a:pPr>
            <a:r>
              <a:rPr lang="en-US" altLang="zh-CN" sz="3200">
                <a:latin typeface="Times New Roman" pitchFamily="18" charset="0"/>
                <a:ea typeface="宋体" charset="-122"/>
              </a:rPr>
              <a:t>     return 0;</a:t>
            </a:r>
            <a:endParaRPr lang="en-US" altLang="zh-CN" sz="3200" dirty="0">
              <a:latin typeface="Times New Roman" pitchFamily="18" charset="0"/>
              <a:ea typeface="宋体" charset="-122"/>
            </a:endParaRPr>
          </a:p>
          <a:p>
            <a:pPr algn="l" eaLnBrk="0" hangingPunct="0">
              <a:lnSpc>
                <a:spcPct val="80000"/>
              </a:lnSpc>
            </a:pPr>
            <a:r>
              <a:rPr lang="en-US" altLang="zh-CN" sz="3200" dirty="0">
                <a:latin typeface="Times New Roman" pitchFamily="18" charset="0"/>
                <a:ea typeface="宋体" charset="-122"/>
              </a:rPr>
              <a:t>}</a:t>
            </a:r>
          </a:p>
        </p:txBody>
      </p:sp>
      <p:sp>
        <p:nvSpPr>
          <p:cNvPr id="45061" name="Rectangle 4"/>
          <p:cNvSpPr>
            <a:spLocks noChangeArrowheads="1"/>
          </p:cNvSpPr>
          <p:nvPr/>
        </p:nvSpPr>
        <p:spPr bwMode="auto">
          <a:xfrm>
            <a:off x="2362200" y="159297"/>
            <a:ext cx="7264400" cy="771623"/>
          </a:xfrm>
          <a:prstGeom prst="rect">
            <a:avLst/>
          </a:prstGeom>
          <a:solidFill>
            <a:schemeClr val="lt1"/>
          </a:solidFill>
          <a:effectLst/>
          <a:extLst/>
        </p:spPr>
        <p:txBody>
          <a:bodyPr vert="horz" lIns="91440" tIns="45720" rIns="91440" bIns="45720" rtlCol="0" anchor="ctr">
            <a:noAutofit/>
          </a:bodyPr>
          <a:lstStyle/>
          <a:p>
            <a:pPr algn="ctr">
              <a:spcBef>
                <a:spcPct val="0"/>
              </a:spcBef>
            </a:pPr>
            <a:r>
              <a:rPr lang="zh-CN" altLang="en-US" sz="4400" b="1" dirty="0">
                <a:solidFill>
                  <a:srgbClr val="800000"/>
                </a:solidFill>
                <a:latin typeface="Arial" pitchFamily="34" charset="0"/>
                <a:ea typeface="黑体" pitchFamily="49" charset="-122"/>
                <a:cs typeface="+mj-cs"/>
              </a:rPr>
              <a:t>动态与静态局部变量的区别</a:t>
            </a:r>
          </a:p>
        </p:txBody>
      </p:sp>
      <p:sp>
        <p:nvSpPr>
          <p:cNvPr id="585733" name="Rectangle 5"/>
          <p:cNvSpPr>
            <a:spLocks noChangeArrowheads="1"/>
          </p:cNvSpPr>
          <p:nvPr/>
        </p:nvSpPr>
        <p:spPr bwMode="auto">
          <a:xfrm>
            <a:off x="4799856" y="4760914"/>
            <a:ext cx="9969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solidFill>
                  <a:srgbClr val="C00000"/>
                </a:solidFill>
                <a:latin typeface="Times New Roman" pitchFamily="18" charset="0"/>
              </a:rPr>
              <a:t>1 1 1</a:t>
            </a:r>
          </a:p>
        </p:txBody>
      </p:sp>
      <p:sp>
        <p:nvSpPr>
          <p:cNvPr id="585734" name="Rectangle 6"/>
          <p:cNvSpPr>
            <a:spLocks noChangeArrowheads="1"/>
          </p:cNvSpPr>
          <p:nvPr/>
        </p:nvSpPr>
        <p:spPr bwMode="auto">
          <a:xfrm>
            <a:off x="8472264" y="4760914"/>
            <a:ext cx="9969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solidFill>
                  <a:srgbClr val="C00000"/>
                </a:solidFill>
                <a:latin typeface="Times New Roman" pitchFamily="18" charset="0"/>
              </a:rPr>
              <a:t>1 2 3</a:t>
            </a:r>
          </a:p>
        </p:txBody>
      </p:sp>
    </p:spTree>
    <p:extLst>
      <p:ext uri="{BB962C8B-B14F-4D97-AF65-F5344CB8AC3E}">
        <p14:creationId xmlns:p14="http://schemas.microsoft.com/office/powerpoint/2010/main" val="10429327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85730"/>
                                        </p:tgtEl>
                                        <p:attrNameLst>
                                          <p:attrName>style.visibility</p:attrName>
                                        </p:attrNameLst>
                                      </p:cBhvr>
                                      <p:to>
                                        <p:strVal val="visible"/>
                                      </p:to>
                                    </p:set>
                                    <p:animEffect transition="in" filter="box(out)">
                                      <p:cBhvr>
                                        <p:cTn id="7" dur="500"/>
                                        <p:tgtEl>
                                          <p:spTgt spid="58573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5733"/>
                                        </p:tgtEl>
                                        <p:attrNameLst>
                                          <p:attrName>style.visibility</p:attrName>
                                        </p:attrNameLst>
                                      </p:cBhvr>
                                      <p:to>
                                        <p:strVal val="visible"/>
                                      </p:to>
                                    </p:set>
                                    <p:animEffect transition="in" filter="dissolve">
                                      <p:cBhvr>
                                        <p:cTn id="12" dur="500"/>
                                        <p:tgtEl>
                                          <p:spTgt spid="5857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85731"/>
                                        </p:tgtEl>
                                        <p:attrNameLst>
                                          <p:attrName>style.visibility</p:attrName>
                                        </p:attrNameLst>
                                      </p:cBhvr>
                                      <p:to>
                                        <p:strVal val="visible"/>
                                      </p:to>
                                    </p:set>
                                    <p:animEffect transition="in" filter="box(out)">
                                      <p:cBhvr>
                                        <p:cTn id="17" dur="500"/>
                                        <p:tgtEl>
                                          <p:spTgt spid="585731"/>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85734"/>
                                        </p:tgtEl>
                                        <p:attrNameLst>
                                          <p:attrName>style.visibility</p:attrName>
                                        </p:attrNameLst>
                                      </p:cBhvr>
                                      <p:to>
                                        <p:strVal val="visible"/>
                                      </p:to>
                                    </p:set>
                                    <p:animEffect transition="in" filter="dissolve">
                                      <p:cBhvr>
                                        <p:cTn id="22" dur="500"/>
                                        <p:tgtEl>
                                          <p:spTgt spid="585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0" grpId="0" animBg="1" autoUpdateAnimBg="0"/>
      <p:bldP spid="585731" grpId="0" animBg="1" autoUpdateAnimBg="0"/>
      <p:bldP spid="585733" grpId="0" autoUpdateAnimBg="0"/>
      <p:bldP spid="585734"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586755" name="Rectangle 3"/>
          <p:cNvSpPr>
            <a:spLocks noChangeArrowheads="1"/>
          </p:cNvSpPr>
          <p:nvPr/>
        </p:nvSpPr>
        <p:spPr bwMode="auto">
          <a:xfrm>
            <a:off x="2868340" y="4153273"/>
            <a:ext cx="74676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3"/>
            </a:pPr>
            <a:r>
              <a:rPr lang="zh-CN" altLang="en-US" sz="3200" b="1" dirty="0">
                <a:latin typeface="Times New Roman" pitchFamily="18" charset="0"/>
              </a:rPr>
              <a:t>变量不初始化自动赋以</a:t>
            </a:r>
            <a:r>
              <a:rPr lang="en-US" altLang="zh-CN" sz="3200" b="1" dirty="0">
                <a:latin typeface="Times New Roman" pitchFamily="18" charset="0"/>
                <a:ea typeface="宋体" charset="-122"/>
              </a:rPr>
              <a:t>"</a:t>
            </a:r>
            <a:r>
              <a:rPr lang="zh-CN" altLang="en-US" sz="3200" b="1" dirty="0">
                <a:latin typeface="Times New Roman" pitchFamily="18" charset="0"/>
              </a:rPr>
              <a:t>０</a:t>
            </a:r>
            <a:r>
              <a:rPr lang="en-US" altLang="zh-CN" sz="3200" b="1" dirty="0">
                <a:latin typeface="Times New Roman" pitchFamily="18" charset="0"/>
                <a:ea typeface="宋体" charset="-122"/>
              </a:rPr>
              <a:t>"</a:t>
            </a:r>
            <a:r>
              <a:rPr lang="en-US" altLang="zh-CN" sz="3200" b="1" dirty="0">
                <a:latin typeface="Times New Roman" pitchFamily="18" charset="0"/>
              </a:rPr>
              <a:t> </a:t>
            </a:r>
            <a:r>
              <a:rPr lang="zh-CN" altLang="en-US" sz="3200" b="1" dirty="0">
                <a:latin typeface="Times New Roman" pitchFamily="18" charset="0"/>
              </a:rPr>
              <a:t>或</a:t>
            </a:r>
            <a:r>
              <a:rPr lang="en-US" altLang="zh-CN" sz="3200" b="1" dirty="0">
                <a:latin typeface="Times New Roman" pitchFamily="18" charset="0"/>
                <a:ea typeface="宋体" charset="-122"/>
              </a:rPr>
              <a:t>'</a:t>
            </a:r>
            <a:r>
              <a:rPr lang="en-US" altLang="zh-CN" sz="3200" b="1" dirty="0">
                <a:latin typeface="Times New Roman" pitchFamily="18" charset="0"/>
              </a:rPr>
              <a:t>\0</a:t>
            </a:r>
            <a:r>
              <a:rPr lang="en-US" altLang="zh-CN" sz="3200" b="1" dirty="0">
                <a:latin typeface="Times New Roman" pitchFamily="18" charset="0"/>
                <a:ea typeface="宋体" charset="-122"/>
              </a:rPr>
              <a:t>'</a:t>
            </a:r>
          </a:p>
        </p:txBody>
      </p:sp>
      <p:sp>
        <p:nvSpPr>
          <p:cNvPr id="586756" name="Rectangle 4"/>
          <p:cNvSpPr>
            <a:spLocks noChangeArrowheads="1"/>
          </p:cNvSpPr>
          <p:nvPr/>
        </p:nvSpPr>
        <p:spPr bwMode="auto">
          <a:xfrm>
            <a:off x="4587876" y="4762500"/>
            <a:ext cx="3509294" cy="1938992"/>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eaLnBrk="0" hangingPunct="0">
              <a:lnSpc>
                <a:spcPct val="75000"/>
              </a:lnSpc>
            </a:pPr>
            <a:r>
              <a:rPr lang="en-US" altLang="zh-CN" sz="3200" b="1">
                <a:latin typeface="Times New Roman" pitchFamily="18" charset="0"/>
                <a:ea typeface="宋体" charset="-122"/>
              </a:rPr>
              <a:t>#include "stdio.h"</a:t>
            </a:r>
          </a:p>
          <a:p>
            <a:pPr algn="l" eaLnBrk="0" hangingPunct="0">
              <a:lnSpc>
                <a:spcPct val="75000"/>
              </a:lnSpc>
            </a:pPr>
            <a:r>
              <a:rPr lang="en-US" altLang="zh-CN" sz="3200" b="1">
                <a:latin typeface="Times New Roman" pitchFamily="18" charset="0"/>
                <a:ea typeface="宋体" charset="-122"/>
              </a:rPr>
              <a:t>void main( )</a:t>
            </a:r>
          </a:p>
          <a:p>
            <a:pPr algn="l" eaLnBrk="0" hangingPunct="0">
              <a:lnSpc>
                <a:spcPct val="75000"/>
              </a:lnSpc>
            </a:pPr>
            <a:r>
              <a:rPr lang="en-US" altLang="zh-CN" sz="3200" b="1">
                <a:latin typeface="Times New Roman" pitchFamily="18" charset="0"/>
                <a:ea typeface="宋体" charset="-122"/>
              </a:rPr>
              <a:t>{    static int c;</a:t>
            </a:r>
          </a:p>
          <a:p>
            <a:pPr algn="l" eaLnBrk="0" hangingPunct="0">
              <a:lnSpc>
                <a:spcPct val="75000"/>
              </a:lnSpc>
            </a:pPr>
            <a:r>
              <a:rPr lang="en-US" altLang="zh-CN" sz="3200" b="1">
                <a:latin typeface="Times New Roman" pitchFamily="18" charset="0"/>
                <a:ea typeface="宋体" charset="-122"/>
              </a:rPr>
              <a:t>     printf("%d",c);</a:t>
            </a:r>
          </a:p>
          <a:p>
            <a:pPr algn="l" eaLnBrk="0" hangingPunct="0">
              <a:lnSpc>
                <a:spcPct val="75000"/>
              </a:lnSpc>
            </a:pPr>
            <a:r>
              <a:rPr lang="en-US" altLang="zh-CN" sz="3200" b="1">
                <a:latin typeface="Times New Roman" pitchFamily="18" charset="0"/>
                <a:ea typeface="宋体" charset="-122"/>
              </a:rPr>
              <a:t>}</a:t>
            </a:r>
          </a:p>
        </p:txBody>
      </p:sp>
      <p:sp>
        <p:nvSpPr>
          <p:cNvPr id="46086" name="Rectangle 5"/>
          <p:cNvSpPr>
            <a:spLocks noChangeArrowheads="1"/>
          </p:cNvSpPr>
          <p:nvPr/>
        </p:nvSpPr>
        <p:spPr bwMode="auto">
          <a:xfrm>
            <a:off x="2860104" y="3527600"/>
            <a:ext cx="77724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2"/>
            </a:pPr>
            <a:r>
              <a:rPr lang="zh-CN" altLang="en-US" sz="3200" b="1" dirty="0">
                <a:latin typeface="Times New Roman" pitchFamily="18" charset="0"/>
              </a:rPr>
              <a:t>变量仅仅在程序编译时被赋值一次</a:t>
            </a:r>
          </a:p>
        </p:txBody>
      </p:sp>
      <p:sp>
        <p:nvSpPr>
          <p:cNvPr id="46087" name="Rectangle 6"/>
          <p:cNvSpPr>
            <a:spLocks noChangeArrowheads="1"/>
          </p:cNvSpPr>
          <p:nvPr/>
        </p:nvSpPr>
        <p:spPr bwMode="auto">
          <a:xfrm>
            <a:off x="2133600" y="966789"/>
            <a:ext cx="754380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静态存储</a:t>
            </a:r>
          </a:p>
        </p:txBody>
      </p:sp>
      <p:sp>
        <p:nvSpPr>
          <p:cNvPr id="46088" name="Rectangle 7"/>
          <p:cNvSpPr>
            <a:spLocks noChangeArrowheads="1"/>
          </p:cNvSpPr>
          <p:nvPr/>
        </p:nvSpPr>
        <p:spPr bwMode="auto">
          <a:xfrm>
            <a:off x="2133600" y="1678899"/>
            <a:ext cx="6458819" cy="560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latin typeface="Times New Roman" pitchFamily="18" charset="0"/>
                <a:ea typeface="仿宋_GB2312" pitchFamily="49" charset="-122"/>
              </a:rPr>
              <a:t>static</a:t>
            </a:r>
            <a:r>
              <a:rPr lang="en-US" altLang="zh-CN" sz="3200" b="1" dirty="0"/>
              <a:t> </a:t>
            </a:r>
            <a:r>
              <a:rPr lang="zh-CN" altLang="en-US" sz="3200" b="1" dirty="0"/>
              <a:t>类型名 局部变量名</a:t>
            </a:r>
            <a:r>
              <a:rPr lang="en-US" altLang="zh-CN" sz="3200" b="1" dirty="0">
                <a:latin typeface="Times New Roman" pitchFamily="18" charset="0"/>
                <a:ea typeface="宋体" charset="-122"/>
              </a:rPr>
              <a:t>;</a:t>
            </a:r>
          </a:p>
        </p:txBody>
      </p:sp>
      <p:sp>
        <p:nvSpPr>
          <p:cNvPr id="46089" name="Rectangle 8"/>
          <p:cNvSpPr>
            <a:spLocks noChangeArrowheads="1"/>
          </p:cNvSpPr>
          <p:nvPr/>
        </p:nvSpPr>
        <p:spPr bwMode="auto">
          <a:xfrm>
            <a:off x="2133600" y="2330451"/>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46090" name="Rectangle 9"/>
          <p:cNvSpPr>
            <a:spLocks noChangeArrowheads="1"/>
          </p:cNvSpPr>
          <p:nvPr/>
        </p:nvSpPr>
        <p:spPr bwMode="auto">
          <a:xfrm>
            <a:off x="2895600" y="2873375"/>
            <a:ext cx="70104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程序执行时静态内部变量始终存在</a:t>
            </a:r>
          </a:p>
        </p:txBody>
      </p:sp>
      <p:sp>
        <p:nvSpPr>
          <p:cNvPr id="11" name="矩形 10"/>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4107214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088"/>
                                        </p:tgtEl>
                                        <p:attrNameLst>
                                          <p:attrName>style.visibility</p:attrName>
                                        </p:attrNameLst>
                                      </p:cBhvr>
                                      <p:to>
                                        <p:strVal val="visible"/>
                                      </p:to>
                                    </p:set>
                                    <p:animEffect transition="in" filter="fade">
                                      <p:cBhvr>
                                        <p:cTn id="7" dur="500"/>
                                        <p:tgtEl>
                                          <p:spTgt spid="460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089"/>
                                        </p:tgtEl>
                                        <p:attrNameLst>
                                          <p:attrName>style.visibility</p:attrName>
                                        </p:attrNameLst>
                                      </p:cBhvr>
                                      <p:to>
                                        <p:strVal val="visible"/>
                                      </p:to>
                                    </p:set>
                                    <p:animEffect transition="in" filter="fade">
                                      <p:cBhvr>
                                        <p:cTn id="12" dur="500"/>
                                        <p:tgtEl>
                                          <p:spTgt spid="460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090"/>
                                        </p:tgtEl>
                                        <p:attrNameLst>
                                          <p:attrName>style.visibility</p:attrName>
                                        </p:attrNameLst>
                                      </p:cBhvr>
                                      <p:to>
                                        <p:strVal val="visible"/>
                                      </p:to>
                                    </p:set>
                                    <p:animEffect transition="in" filter="fade">
                                      <p:cBhvr>
                                        <p:cTn id="17" dur="500"/>
                                        <p:tgtEl>
                                          <p:spTgt spid="4609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086"/>
                                        </p:tgtEl>
                                        <p:attrNameLst>
                                          <p:attrName>style.visibility</p:attrName>
                                        </p:attrNameLst>
                                      </p:cBhvr>
                                      <p:to>
                                        <p:strVal val="visible"/>
                                      </p:to>
                                    </p:set>
                                    <p:animEffect transition="in" filter="fade">
                                      <p:cBhvr>
                                        <p:cTn id="22" dur="500"/>
                                        <p:tgtEl>
                                          <p:spTgt spid="4608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86755"/>
                                        </p:tgtEl>
                                        <p:attrNameLst>
                                          <p:attrName>style.visibility</p:attrName>
                                        </p:attrNameLst>
                                      </p:cBhvr>
                                      <p:to>
                                        <p:strVal val="visible"/>
                                      </p:to>
                                    </p:set>
                                    <p:animEffect transition="in" filter="wipe(left)">
                                      <p:cBhvr>
                                        <p:cTn id="27" dur="500"/>
                                        <p:tgtEl>
                                          <p:spTgt spid="5867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86756"/>
                                        </p:tgtEl>
                                        <p:attrNameLst>
                                          <p:attrName>style.visibility</p:attrName>
                                        </p:attrNameLst>
                                      </p:cBhvr>
                                      <p:to>
                                        <p:strVal val="visible"/>
                                      </p:to>
                                    </p:set>
                                    <p:animEffect transition="in" filter="dissolve">
                                      <p:cBhvr>
                                        <p:cTn id="32" dur="500"/>
                                        <p:tgtEl>
                                          <p:spTgt spid="586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5" grpId="0" autoUpdateAnimBg="0"/>
      <p:bldP spid="586756" grpId="0" animBg="1" autoUpdateAnimBg="0"/>
      <p:bldP spid="46086" grpId="0"/>
      <p:bldP spid="46088" grpId="0"/>
      <p:bldP spid="46089" grpId="0"/>
      <p:bldP spid="4609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endParaRPr lang="en-US" altLang="zh-CN" dirty="0"/>
          </a:p>
        </p:txBody>
      </p:sp>
      <p:sp>
        <p:nvSpPr>
          <p:cNvPr id="587779" name="Rectangle 3"/>
          <p:cNvSpPr>
            <a:spLocks noChangeArrowheads="1"/>
          </p:cNvSpPr>
          <p:nvPr/>
        </p:nvSpPr>
        <p:spPr bwMode="auto">
          <a:xfrm>
            <a:off x="2058988" y="1539876"/>
            <a:ext cx="6780212"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solidFill>
                  <a:srgbClr val="C00000"/>
                </a:solidFill>
                <a:latin typeface="Times New Roman" pitchFamily="18" charset="0"/>
              </a:rPr>
              <a:t>extern</a:t>
            </a:r>
            <a:r>
              <a:rPr lang="en-US" altLang="zh-CN" sz="3200" b="1" dirty="0">
                <a:solidFill>
                  <a:srgbClr val="C00000"/>
                </a:solidFill>
              </a:rPr>
              <a:t>  </a:t>
            </a:r>
            <a:r>
              <a:rPr lang="zh-CN" altLang="en-US" sz="3200" b="1" dirty="0"/>
              <a:t>类型名 全局变量名</a:t>
            </a:r>
            <a:r>
              <a:rPr lang="en-US" altLang="zh-CN" sz="3200" b="1" dirty="0">
                <a:latin typeface="Times New Roman" pitchFamily="18" charset="0"/>
                <a:ea typeface="宋体" charset="-122"/>
              </a:rPr>
              <a:t>;</a:t>
            </a:r>
          </a:p>
        </p:txBody>
      </p:sp>
      <p:sp>
        <p:nvSpPr>
          <p:cNvPr id="587780" name="Rectangle 4"/>
          <p:cNvSpPr>
            <a:spLocks noChangeArrowheads="1"/>
          </p:cNvSpPr>
          <p:nvPr/>
        </p:nvSpPr>
        <p:spPr bwMode="auto">
          <a:xfrm>
            <a:off x="2058988" y="2056012"/>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587781" name="Rectangle 5"/>
          <p:cNvSpPr>
            <a:spLocks noChangeArrowheads="1"/>
          </p:cNvSpPr>
          <p:nvPr/>
        </p:nvSpPr>
        <p:spPr bwMode="auto">
          <a:xfrm>
            <a:off x="3016696" y="2506540"/>
            <a:ext cx="74676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变量可被同程序中前面的函数引用</a:t>
            </a:r>
          </a:p>
        </p:txBody>
      </p:sp>
      <p:sp>
        <p:nvSpPr>
          <p:cNvPr id="587782" name="Rectangle 6"/>
          <p:cNvSpPr>
            <a:spLocks noChangeArrowheads="1"/>
          </p:cNvSpPr>
          <p:nvPr/>
        </p:nvSpPr>
        <p:spPr bwMode="auto">
          <a:xfrm>
            <a:off x="3647728" y="3153490"/>
            <a:ext cx="4859022" cy="3561744"/>
          </a:xfrm>
          <a:prstGeom prst="rect">
            <a:avLst/>
          </a:prstGeom>
          <a:ln w="38100">
            <a:headEnd/>
            <a:tailEnd/>
          </a:ln>
        </p:spPr>
        <p:style>
          <a:lnRef idx="2">
            <a:schemeClr val="accent1"/>
          </a:lnRef>
          <a:fillRef idx="1">
            <a:schemeClr val="lt1"/>
          </a:fillRef>
          <a:effectRef idx="0">
            <a:schemeClr val="accent1"/>
          </a:effectRef>
          <a:fontRef idx="minor">
            <a:schemeClr val="dk1"/>
          </a:fontRef>
        </p:style>
        <p:txBody>
          <a:bodyPr wrap="none" tIns="0" bIns="0">
            <a:spAutoFit/>
          </a:bodyPr>
          <a:lstStyle/>
          <a:p>
            <a:pPr algn="l" eaLnBrk="0" hangingPunct="0">
              <a:lnSpc>
                <a:spcPct val="75000"/>
              </a:lnSpc>
            </a:pPr>
            <a:r>
              <a:rPr lang="en-US" altLang="zh-CN" sz="3200" b="1" dirty="0">
                <a:latin typeface="Times New Roman" pitchFamily="18" charset="0"/>
                <a:ea typeface="宋体" charset="-122"/>
              </a:rPr>
              <a:t>#include "</a:t>
            </a:r>
            <a:r>
              <a:rPr lang="en-US" altLang="zh-CN" sz="3200" b="1" dirty="0" err="1">
                <a:latin typeface="Times New Roman" pitchFamily="18" charset="0"/>
                <a:ea typeface="宋体" charset="-122"/>
              </a:rPr>
              <a:t>stdio.h</a:t>
            </a:r>
            <a:r>
              <a:rPr lang="en-US" altLang="zh-CN" sz="3200" b="1" dirty="0">
                <a:latin typeface="Times New Roman" pitchFamily="18" charset="0"/>
                <a:ea typeface="宋体" charset="-122"/>
              </a:rPr>
              <a:t>"</a:t>
            </a:r>
          </a:p>
          <a:p>
            <a:pPr algn="l" eaLnBrk="0" hangingPunct="0">
              <a:lnSpc>
                <a:spcPct val="75000"/>
              </a:lnSpc>
            </a:pPr>
            <a:r>
              <a:rPr lang="en-US" altLang="zh-CN" sz="3200" b="1" dirty="0">
                <a:latin typeface="Times New Roman" pitchFamily="18" charset="0"/>
                <a:ea typeface="宋体" charset="-122"/>
              </a:rPr>
              <a:t>void  </a:t>
            </a:r>
            <a:r>
              <a:rPr lang="en-US" altLang="zh-CN" sz="3200" b="1" dirty="0" err="1">
                <a:latin typeface="Times New Roman" pitchFamily="18" charset="0"/>
                <a:ea typeface="宋体" charset="-122"/>
              </a:rPr>
              <a:t>gx</a:t>
            </a:r>
            <a:r>
              <a:rPr lang="en-US" altLang="zh-CN" sz="3200" b="1" dirty="0">
                <a:latin typeface="Times New Roman" pitchFamily="18" charset="0"/>
                <a:ea typeface="宋体" charset="-122"/>
              </a:rPr>
              <a:t>( )</a:t>
            </a:r>
          </a:p>
          <a:p>
            <a:pPr algn="l" eaLnBrk="0" hangingPunct="0">
              <a:lnSpc>
                <a:spcPct val="75000"/>
              </a:lnSpc>
            </a:pPr>
            <a:r>
              <a:rPr lang="en-US" altLang="zh-CN" sz="3200" b="1" dirty="0">
                <a:latin typeface="Times New Roman" pitchFamily="18" charset="0"/>
                <a:ea typeface="宋体" charset="-122"/>
              </a:rPr>
              <a:t>{    </a:t>
            </a:r>
            <a:r>
              <a:rPr lang="en-US" altLang="zh-CN" sz="3200" b="1" dirty="0">
                <a:solidFill>
                  <a:srgbClr val="C00000"/>
                </a:solidFill>
                <a:latin typeface="Times New Roman" pitchFamily="18" charset="0"/>
                <a:ea typeface="宋体" charset="-122"/>
              </a:rPr>
              <a:t>extern </a:t>
            </a: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x; </a:t>
            </a:r>
          </a:p>
          <a:p>
            <a:pPr algn="l" eaLnBrk="0" hangingPunct="0">
              <a:lnSpc>
                <a:spcPct val="70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("2: x=%d\</a:t>
            </a:r>
            <a:r>
              <a:rPr lang="en-US" altLang="zh-CN" sz="3200" b="1" dirty="0" err="1">
                <a:latin typeface="Times New Roman" pitchFamily="18" charset="0"/>
                <a:ea typeface="宋体" charset="-122"/>
              </a:rPr>
              <a:t>n",x</a:t>
            </a:r>
            <a:r>
              <a:rPr lang="en-US" altLang="zh-CN" sz="3200" b="1" dirty="0">
                <a:latin typeface="Times New Roman" pitchFamily="18" charset="0"/>
                <a:ea typeface="宋体" charset="-122"/>
              </a:rPr>
              <a:t>);</a:t>
            </a:r>
          </a:p>
          <a:p>
            <a:pPr algn="l" eaLnBrk="0" hangingPunct="0">
              <a:lnSpc>
                <a:spcPct val="70000"/>
              </a:lnSpc>
            </a:pPr>
            <a:r>
              <a:rPr lang="en-US" altLang="zh-CN" sz="3200" b="1" dirty="0">
                <a:latin typeface="Times New Roman" pitchFamily="18" charset="0"/>
                <a:ea typeface="宋体" charset="-122"/>
              </a:rPr>
              <a:t>}</a:t>
            </a:r>
          </a:p>
          <a:p>
            <a:pPr algn="l" eaLnBrk="0" hangingPunct="0">
              <a:lnSpc>
                <a:spcPct val="75000"/>
              </a:lnSpc>
            </a:pPr>
            <a:r>
              <a:rPr lang="en-US" altLang="zh-CN" sz="3200" b="1" dirty="0" err="1">
                <a:solidFill>
                  <a:srgbClr val="C00000"/>
                </a:solidFill>
                <a:latin typeface="Times New Roman" pitchFamily="18" charset="0"/>
                <a:ea typeface="宋体" charset="-122"/>
              </a:rPr>
              <a:t>int</a:t>
            </a:r>
            <a:r>
              <a:rPr lang="en-US" altLang="zh-CN" sz="3200" b="1" dirty="0">
                <a:solidFill>
                  <a:srgbClr val="C00000"/>
                </a:solidFill>
                <a:latin typeface="Times New Roman" pitchFamily="18" charset="0"/>
                <a:ea typeface="宋体" charset="-122"/>
              </a:rPr>
              <a:t> x;</a:t>
            </a:r>
          </a:p>
          <a:p>
            <a:pPr algn="l" eaLnBrk="0" hangingPunct="0">
              <a:lnSpc>
                <a:spcPct val="75000"/>
              </a:lnSpc>
            </a:pPr>
            <a:r>
              <a:rPr lang="en-US" altLang="zh-CN" sz="3200" b="1" dirty="0">
                <a:latin typeface="Times New Roman" pitchFamily="18" charset="0"/>
                <a:ea typeface="宋体" charset="-122"/>
              </a:rPr>
              <a:t>main( )</a:t>
            </a:r>
          </a:p>
          <a:p>
            <a:pPr algn="l" eaLnBrk="0" hangingPunct="0">
              <a:lnSpc>
                <a:spcPct val="75000"/>
              </a:lnSpc>
            </a:pPr>
            <a:r>
              <a:rPr lang="en-US" altLang="zh-CN" sz="3200" b="1" dirty="0">
                <a:latin typeface="Times New Roman" pitchFamily="18" charset="0"/>
                <a:ea typeface="宋体" charset="-122"/>
              </a:rPr>
              <a:t>{    </a:t>
            </a:r>
            <a:r>
              <a:rPr lang="en-US" altLang="zh-CN" sz="3200" b="1" dirty="0" err="1">
                <a:latin typeface="Times New Roman" pitchFamily="18" charset="0"/>
                <a:ea typeface="宋体" charset="-122"/>
              </a:rPr>
              <a:t>printf</a:t>
            </a:r>
            <a:r>
              <a:rPr lang="en-US" altLang="zh-CN" sz="3200" b="1" dirty="0">
                <a:latin typeface="Times New Roman" pitchFamily="18" charset="0"/>
                <a:ea typeface="宋体" charset="-122"/>
              </a:rPr>
              <a:t>("1: x=%d\</a:t>
            </a:r>
            <a:r>
              <a:rPr lang="en-US" altLang="zh-CN" sz="3200" b="1" dirty="0" err="1">
                <a:latin typeface="Times New Roman" pitchFamily="18" charset="0"/>
                <a:ea typeface="宋体" charset="-122"/>
              </a:rPr>
              <a:t>n",x</a:t>
            </a:r>
            <a:r>
              <a:rPr lang="en-US" altLang="zh-CN" sz="3200" b="1" dirty="0">
                <a:latin typeface="Times New Roman" pitchFamily="18" charset="0"/>
                <a:ea typeface="宋体" charset="-122"/>
              </a:rPr>
              <a:t>);</a:t>
            </a:r>
          </a:p>
          <a:p>
            <a:pPr algn="l" eaLnBrk="0" hangingPunct="0">
              <a:lnSpc>
                <a:spcPct val="65000"/>
              </a:lnSpc>
            </a:pPr>
            <a:r>
              <a:rPr lang="en-US" altLang="zh-CN" sz="3200" b="1" dirty="0">
                <a:latin typeface="Times New Roman" pitchFamily="18" charset="0"/>
                <a:ea typeface="宋体" charset="-122"/>
              </a:rPr>
              <a:t>      x=100; </a:t>
            </a:r>
            <a:r>
              <a:rPr lang="en-US" altLang="zh-CN" sz="3200" b="1" dirty="0" err="1">
                <a:latin typeface="Times New Roman" pitchFamily="18" charset="0"/>
                <a:ea typeface="宋体" charset="-122"/>
              </a:rPr>
              <a:t>gx</a:t>
            </a:r>
            <a:r>
              <a:rPr lang="en-US" altLang="zh-CN" sz="3200" b="1" dirty="0">
                <a:latin typeface="Times New Roman" pitchFamily="18" charset="0"/>
                <a:ea typeface="宋体" charset="-122"/>
              </a:rPr>
              <a:t>();</a:t>
            </a:r>
          </a:p>
          <a:p>
            <a:pPr algn="l" eaLnBrk="0" hangingPunct="0">
              <a:lnSpc>
                <a:spcPct val="65000"/>
              </a:lnSpc>
            </a:pPr>
            <a:r>
              <a:rPr lang="en-US" altLang="zh-CN" sz="3200" b="1" dirty="0">
                <a:latin typeface="Times New Roman" pitchFamily="18" charset="0"/>
                <a:ea typeface="宋体" charset="-122"/>
              </a:rPr>
              <a:t>}</a:t>
            </a:r>
          </a:p>
        </p:txBody>
      </p:sp>
      <p:sp>
        <p:nvSpPr>
          <p:cNvPr id="47112" name="Rectangle 7"/>
          <p:cNvSpPr>
            <a:spLocks noChangeArrowheads="1"/>
          </p:cNvSpPr>
          <p:nvPr/>
        </p:nvSpPr>
        <p:spPr bwMode="auto">
          <a:xfrm>
            <a:off x="2070100" y="1006476"/>
            <a:ext cx="754380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外部存储</a:t>
            </a:r>
          </a:p>
        </p:txBody>
      </p:sp>
      <p:sp>
        <p:nvSpPr>
          <p:cNvPr id="587784" name="Rectangle 8"/>
          <p:cNvSpPr>
            <a:spLocks noChangeArrowheads="1"/>
          </p:cNvSpPr>
          <p:nvPr/>
        </p:nvSpPr>
        <p:spPr bwMode="auto">
          <a:xfrm>
            <a:off x="8839200" y="4994275"/>
            <a:ext cx="16684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200" b="1" dirty="0">
                <a:latin typeface="Times New Roman" pitchFamily="18" charset="0"/>
                <a:ea typeface="宋体" charset="-122"/>
              </a:rPr>
              <a:t>1: x=0</a:t>
            </a:r>
          </a:p>
          <a:p>
            <a:pPr algn="l"/>
            <a:r>
              <a:rPr lang="en-US" altLang="zh-CN" sz="3200" b="1" dirty="0">
                <a:latin typeface="Times New Roman" pitchFamily="18" charset="0"/>
                <a:ea typeface="宋体" charset="-122"/>
              </a:rPr>
              <a:t>2: x=100</a:t>
            </a:r>
          </a:p>
        </p:txBody>
      </p:sp>
      <p:sp>
        <p:nvSpPr>
          <p:cNvPr id="10" name="矩形 9"/>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3316797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7779"/>
                                        </p:tgtEl>
                                        <p:attrNameLst>
                                          <p:attrName>style.visibility</p:attrName>
                                        </p:attrNameLst>
                                      </p:cBhvr>
                                      <p:to>
                                        <p:strVal val="visible"/>
                                      </p:to>
                                    </p:set>
                                    <p:animEffect transition="in" filter="wipe(left)">
                                      <p:cBhvr>
                                        <p:cTn id="7" dur="500"/>
                                        <p:tgtEl>
                                          <p:spTgt spid="5877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7780"/>
                                        </p:tgtEl>
                                        <p:attrNameLst>
                                          <p:attrName>style.visibility</p:attrName>
                                        </p:attrNameLst>
                                      </p:cBhvr>
                                      <p:to>
                                        <p:strVal val="visible"/>
                                      </p:to>
                                    </p:set>
                                    <p:animEffect transition="in" filter="dissolve">
                                      <p:cBhvr>
                                        <p:cTn id="12" dur="500"/>
                                        <p:tgtEl>
                                          <p:spTgt spid="5877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7781"/>
                                        </p:tgtEl>
                                        <p:attrNameLst>
                                          <p:attrName>style.visibility</p:attrName>
                                        </p:attrNameLst>
                                      </p:cBhvr>
                                      <p:to>
                                        <p:strVal val="visible"/>
                                      </p:to>
                                    </p:set>
                                    <p:animEffect transition="in" filter="wipe(left)">
                                      <p:cBhvr>
                                        <p:cTn id="17" dur="500"/>
                                        <p:tgtEl>
                                          <p:spTgt spid="5877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87782"/>
                                        </p:tgtEl>
                                        <p:attrNameLst>
                                          <p:attrName>style.visibility</p:attrName>
                                        </p:attrNameLst>
                                      </p:cBhvr>
                                      <p:to>
                                        <p:strVal val="visible"/>
                                      </p:to>
                                    </p:set>
                                    <p:animEffect transition="in" filter="box(out)">
                                      <p:cBhvr>
                                        <p:cTn id="22" dur="500"/>
                                        <p:tgtEl>
                                          <p:spTgt spid="587782"/>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87784">
                                            <p:txEl>
                                              <p:pRg st="0" end="0"/>
                                            </p:txEl>
                                          </p:spTgt>
                                        </p:tgtEl>
                                        <p:attrNameLst>
                                          <p:attrName>style.visibility</p:attrName>
                                        </p:attrNameLst>
                                      </p:cBhvr>
                                      <p:to>
                                        <p:strVal val="visible"/>
                                      </p:to>
                                    </p:set>
                                    <p:animEffect transition="in" filter="wipe(left)">
                                      <p:cBhvr>
                                        <p:cTn id="27" dur="500"/>
                                        <p:tgtEl>
                                          <p:spTgt spid="587784">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87784">
                                            <p:txEl>
                                              <p:pRg st="1" end="1"/>
                                            </p:txEl>
                                          </p:spTgt>
                                        </p:tgtEl>
                                        <p:attrNameLst>
                                          <p:attrName>style.visibility</p:attrName>
                                        </p:attrNameLst>
                                      </p:cBhvr>
                                      <p:to>
                                        <p:strVal val="visible"/>
                                      </p:to>
                                    </p:set>
                                    <p:animEffect transition="in" filter="wipe(left)">
                                      <p:cBhvr>
                                        <p:cTn id="32" dur="500"/>
                                        <p:tgtEl>
                                          <p:spTgt spid="58778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79" grpId="0" autoUpdateAnimBg="0"/>
      <p:bldP spid="587780" grpId="0" autoUpdateAnimBg="0"/>
      <p:bldP spid="587781" grpId="0" autoUpdateAnimBg="0"/>
      <p:bldP spid="587782" grpId="0" animBg="1" autoUpdateAnimBg="0"/>
      <p:bldP spid="587784"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endParaRPr lang="en-US" altLang="zh-CN" dirty="0"/>
          </a:p>
        </p:txBody>
      </p:sp>
      <p:sp>
        <p:nvSpPr>
          <p:cNvPr id="48132" name="Rectangle 3"/>
          <p:cNvSpPr>
            <a:spLocks noChangeArrowheads="1"/>
          </p:cNvSpPr>
          <p:nvPr/>
        </p:nvSpPr>
        <p:spPr bwMode="auto">
          <a:xfrm>
            <a:off x="2236789" y="1989747"/>
            <a:ext cx="6755375" cy="560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solidFill>
                  <a:srgbClr val="C00000"/>
                </a:solidFill>
                <a:latin typeface="Times New Roman" pitchFamily="18" charset="0"/>
              </a:rPr>
              <a:t>extern</a:t>
            </a:r>
            <a:r>
              <a:rPr lang="en-US" altLang="zh-CN" sz="3200" b="1" dirty="0">
                <a:solidFill>
                  <a:srgbClr val="C00000"/>
                </a:solidFill>
              </a:rPr>
              <a:t> </a:t>
            </a:r>
            <a:r>
              <a:rPr lang="en-US" altLang="zh-CN" sz="3200" b="1" dirty="0">
                <a:solidFill>
                  <a:srgbClr val="FF5555"/>
                </a:solidFill>
              </a:rPr>
              <a:t> </a:t>
            </a:r>
            <a:r>
              <a:rPr lang="zh-CN" altLang="en-US" sz="3200" b="1" dirty="0"/>
              <a:t>类型名 全局变量名</a:t>
            </a:r>
            <a:r>
              <a:rPr lang="en-US" altLang="zh-CN" sz="3200" b="1" dirty="0">
                <a:latin typeface="Times New Roman" pitchFamily="18" charset="0"/>
                <a:ea typeface="宋体" charset="-122"/>
              </a:rPr>
              <a:t>;</a:t>
            </a:r>
          </a:p>
        </p:txBody>
      </p:sp>
      <p:sp>
        <p:nvSpPr>
          <p:cNvPr id="48133" name="Rectangle 4"/>
          <p:cNvSpPr>
            <a:spLocks noChangeArrowheads="1"/>
          </p:cNvSpPr>
          <p:nvPr/>
        </p:nvSpPr>
        <p:spPr bwMode="auto">
          <a:xfrm>
            <a:off x="2224088" y="2722936"/>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48134" name="Rectangle 5"/>
          <p:cNvSpPr>
            <a:spLocks noChangeArrowheads="1"/>
          </p:cNvSpPr>
          <p:nvPr/>
        </p:nvSpPr>
        <p:spPr bwMode="auto">
          <a:xfrm>
            <a:off x="2755900" y="3519413"/>
            <a:ext cx="74676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变量可被同程序中前面的函数引用</a:t>
            </a:r>
          </a:p>
        </p:txBody>
      </p:sp>
      <p:sp>
        <p:nvSpPr>
          <p:cNvPr id="48135" name="Rectangle 6"/>
          <p:cNvSpPr>
            <a:spLocks noChangeArrowheads="1"/>
          </p:cNvSpPr>
          <p:nvPr/>
        </p:nvSpPr>
        <p:spPr bwMode="auto">
          <a:xfrm>
            <a:off x="2209800" y="1267620"/>
            <a:ext cx="754380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外部存储</a:t>
            </a:r>
          </a:p>
        </p:txBody>
      </p:sp>
      <p:sp>
        <p:nvSpPr>
          <p:cNvPr id="589831" name="Rectangle 7"/>
          <p:cNvSpPr>
            <a:spLocks noChangeArrowheads="1"/>
          </p:cNvSpPr>
          <p:nvPr/>
        </p:nvSpPr>
        <p:spPr bwMode="auto">
          <a:xfrm>
            <a:off x="2800524" y="4458768"/>
            <a:ext cx="70866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2"/>
            </a:pPr>
            <a:r>
              <a:rPr lang="zh-CN" altLang="en-US" sz="3200" b="1" dirty="0">
                <a:latin typeface="Times New Roman" pitchFamily="18" charset="0"/>
              </a:rPr>
              <a:t>变量被另外一个</a:t>
            </a:r>
            <a:r>
              <a:rPr lang="en-US" altLang="zh-CN" sz="3200" b="1" dirty="0">
                <a:latin typeface="Times New Roman" pitchFamily="18" charset="0"/>
              </a:rPr>
              <a:t>C</a:t>
            </a:r>
            <a:r>
              <a:rPr lang="zh-CN" altLang="en-US" sz="3200" b="1" dirty="0">
                <a:latin typeface="Times New Roman" pitchFamily="18" charset="0"/>
              </a:rPr>
              <a:t>源程序文件引用</a:t>
            </a:r>
          </a:p>
        </p:txBody>
      </p:sp>
      <p:sp>
        <p:nvSpPr>
          <p:cNvPr id="9" name="矩形 8"/>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34324296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fade">
                                      <p:cBhvr>
                                        <p:cTn id="7" dur="500"/>
                                        <p:tgtEl>
                                          <p:spTgt spid="481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133"/>
                                        </p:tgtEl>
                                        <p:attrNameLst>
                                          <p:attrName>style.visibility</p:attrName>
                                        </p:attrNameLst>
                                      </p:cBhvr>
                                      <p:to>
                                        <p:strVal val="visible"/>
                                      </p:to>
                                    </p:set>
                                    <p:animEffect transition="in" filter="fade">
                                      <p:cBhvr>
                                        <p:cTn id="12" dur="500"/>
                                        <p:tgtEl>
                                          <p:spTgt spid="481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8134"/>
                                        </p:tgtEl>
                                        <p:attrNameLst>
                                          <p:attrName>style.visibility</p:attrName>
                                        </p:attrNameLst>
                                      </p:cBhvr>
                                      <p:to>
                                        <p:strVal val="visible"/>
                                      </p:to>
                                    </p:set>
                                    <p:animEffect transition="in" filter="fade">
                                      <p:cBhvr>
                                        <p:cTn id="17" dur="500"/>
                                        <p:tgtEl>
                                          <p:spTgt spid="481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9831"/>
                                        </p:tgtEl>
                                        <p:attrNameLst>
                                          <p:attrName>style.visibility</p:attrName>
                                        </p:attrNameLst>
                                      </p:cBhvr>
                                      <p:to>
                                        <p:strVal val="visible"/>
                                      </p:to>
                                    </p:set>
                                    <p:animEffect transition="in" filter="wipe(left)">
                                      <p:cBhvr>
                                        <p:cTn id="22" dur="500"/>
                                        <p:tgtEl>
                                          <p:spTgt spid="589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P spid="48133" grpId="0"/>
      <p:bldP spid="48134" grpId="0"/>
      <p:bldP spid="589831"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2"/>
          </p:nvPr>
        </p:nvSpPr>
        <p:spPr/>
        <p:txBody>
          <a:bodyPr/>
          <a:lstStyle/>
          <a:p>
            <a:pPr>
              <a:defRPr/>
            </a:pPr>
            <a:endParaRPr lang="en-US" altLang="zh-CN" dirty="0"/>
          </a:p>
        </p:txBody>
      </p:sp>
      <p:grpSp>
        <p:nvGrpSpPr>
          <p:cNvPr id="591874" name="Group 2"/>
          <p:cNvGrpSpPr>
            <a:grpSpLocks/>
          </p:cNvGrpSpPr>
          <p:nvPr/>
        </p:nvGrpSpPr>
        <p:grpSpPr bwMode="auto">
          <a:xfrm>
            <a:off x="2336800" y="1323976"/>
            <a:ext cx="3200400" cy="4086225"/>
            <a:chOff x="768" y="1362"/>
            <a:chExt cx="1920" cy="2574"/>
          </a:xfrm>
        </p:grpSpPr>
        <p:sp>
          <p:nvSpPr>
            <p:cNvPr id="49160" name="Text Box 3"/>
            <p:cNvSpPr txBox="1">
              <a:spLocks noChangeArrowheads="1"/>
            </p:cNvSpPr>
            <p:nvPr/>
          </p:nvSpPr>
          <p:spPr bwMode="auto">
            <a:xfrm>
              <a:off x="768" y="1362"/>
              <a:ext cx="1920" cy="2231"/>
            </a:xfrm>
            <a:prstGeom prst="rect">
              <a:avLst/>
            </a:prstGeom>
            <a:solidFill>
              <a:schemeClr val="bg1"/>
            </a:solidFill>
            <a:ln w="381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r>
                <a:rPr lang="en-US" altLang="zh-CN" b="1" dirty="0" err="1">
                  <a:solidFill>
                    <a:srgbClr val="C00000"/>
                  </a:solidFill>
                  <a:latin typeface="Times New Roman" pitchFamily="18" charset="0"/>
                </a:rPr>
                <a:t>int</a:t>
              </a:r>
              <a:r>
                <a:rPr lang="en-US" altLang="zh-CN" b="1" dirty="0">
                  <a:solidFill>
                    <a:srgbClr val="C00000"/>
                  </a:solidFill>
                  <a:latin typeface="Times New Roman" pitchFamily="18" charset="0"/>
                </a:rPr>
                <a:t> global;</a:t>
              </a:r>
            </a:p>
            <a:p>
              <a:pPr algn="l" eaLnBrk="0" hangingPunct="0"/>
              <a:r>
                <a:rPr lang="en-US" altLang="zh-CN" b="1" dirty="0">
                  <a:latin typeface="Times New Roman" pitchFamily="18" charset="0"/>
                </a:rPr>
                <a:t>fun1(  )</a:t>
              </a:r>
            </a:p>
            <a:p>
              <a:pPr algn="l" eaLnBrk="0" hangingPunct="0"/>
              <a:r>
                <a:rPr lang="en-US" altLang="zh-CN" b="1" dirty="0">
                  <a:latin typeface="Times New Roman" pitchFamily="18" charset="0"/>
                </a:rPr>
                <a:t>{     </a:t>
              </a:r>
              <a:r>
                <a:rPr lang="en-US" altLang="zh-CN" b="1" dirty="0" err="1">
                  <a:latin typeface="Times New Roman" pitchFamily="18" charset="0"/>
                </a:rPr>
                <a:t>int</a:t>
              </a:r>
              <a:r>
                <a:rPr lang="en-US" altLang="zh-CN" b="1" dirty="0">
                  <a:latin typeface="Times New Roman" pitchFamily="18" charset="0"/>
                </a:rPr>
                <a:t> local;</a:t>
              </a:r>
            </a:p>
            <a:p>
              <a:pPr algn="l" eaLnBrk="0" hangingPunct="0"/>
              <a:r>
                <a:rPr lang="en-US" altLang="zh-CN" b="1" dirty="0">
                  <a:latin typeface="Times New Roman" pitchFamily="18" charset="0"/>
                </a:rPr>
                <a:t>	.</a:t>
              </a:r>
            </a:p>
            <a:p>
              <a:pPr algn="l" eaLnBrk="0" hangingPunct="0"/>
              <a:r>
                <a:rPr lang="en-US" altLang="zh-CN" b="1" dirty="0">
                  <a:latin typeface="Times New Roman" pitchFamily="18" charset="0"/>
                </a:rPr>
                <a:t>	.</a:t>
              </a:r>
            </a:p>
            <a:p>
              <a:pPr algn="l" eaLnBrk="0" hangingPunct="0"/>
              <a:r>
                <a:rPr lang="zh-CN" altLang="en-US" b="1" dirty="0">
                  <a:latin typeface="Times New Roman" pitchFamily="18" charset="0"/>
                </a:rPr>
                <a:t>　　 </a:t>
              </a:r>
              <a:r>
                <a:rPr lang="en-US" altLang="zh-CN" b="1" dirty="0">
                  <a:latin typeface="Times New Roman" pitchFamily="18" charset="0"/>
                </a:rPr>
                <a:t>.</a:t>
              </a:r>
            </a:p>
            <a:p>
              <a:pPr algn="l" eaLnBrk="0" hangingPunct="0"/>
              <a:r>
                <a:rPr lang="en-US" altLang="zh-CN" b="1" dirty="0">
                  <a:latin typeface="Times New Roman" pitchFamily="18" charset="0"/>
                </a:rPr>
                <a:t>}</a:t>
              </a:r>
            </a:p>
          </p:txBody>
        </p:sp>
        <p:sp>
          <p:nvSpPr>
            <p:cNvPr id="49161" name="Text Box 4"/>
            <p:cNvSpPr txBox="1">
              <a:spLocks noChangeArrowheads="1"/>
            </p:cNvSpPr>
            <p:nvPr/>
          </p:nvSpPr>
          <p:spPr bwMode="auto">
            <a:xfrm>
              <a:off x="1296" y="3571"/>
              <a:ext cx="763"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b="1">
                  <a:latin typeface="Times New Roman" pitchFamily="18" charset="0"/>
                </a:rPr>
                <a:t>file1.c</a:t>
              </a:r>
            </a:p>
          </p:txBody>
        </p:sp>
      </p:grpSp>
      <p:grpSp>
        <p:nvGrpSpPr>
          <p:cNvPr id="591877" name="Group 5"/>
          <p:cNvGrpSpPr>
            <a:grpSpLocks/>
          </p:cNvGrpSpPr>
          <p:nvPr/>
        </p:nvGrpSpPr>
        <p:grpSpPr bwMode="auto">
          <a:xfrm>
            <a:off x="6286502" y="1322388"/>
            <a:ext cx="3192463" cy="4052888"/>
            <a:chOff x="2880" y="1364"/>
            <a:chExt cx="2011" cy="2553"/>
          </a:xfrm>
        </p:grpSpPr>
        <p:sp>
          <p:nvSpPr>
            <p:cNvPr id="49158" name="Text Box 6"/>
            <p:cNvSpPr txBox="1">
              <a:spLocks noChangeArrowheads="1"/>
            </p:cNvSpPr>
            <p:nvPr/>
          </p:nvSpPr>
          <p:spPr bwMode="auto">
            <a:xfrm>
              <a:off x="2880" y="1364"/>
              <a:ext cx="2011" cy="2230"/>
            </a:xfrm>
            <a:prstGeom prst="rect">
              <a:avLst/>
            </a:prstGeom>
            <a:solidFill>
              <a:schemeClr val="bg1"/>
            </a:solidFill>
            <a:ln w="381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r>
                <a:rPr lang="en-US" altLang="zh-CN" b="1" dirty="0">
                  <a:solidFill>
                    <a:srgbClr val="C00000"/>
                  </a:solidFill>
                  <a:latin typeface="Times New Roman" pitchFamily="18" charset="0"/>
                </a:rPr>
                <a:t>extern </a:t>
              </a:r>
              <a:r>
                <a:rPr lang="en-US" altLang="zh-CN" b="1" dirty="0" err="1">
                  <a:solidFill>
                    <a:srgbClr val="C00000"/>
                  </a:solidFill>
                  <a:latin typeface="Times New Roman" pitchFamily="18" charset="0"/>
                </a:rPr>
                <a:t>int</a:t>
              </a:r>
              <a:r>
                <a:rPr lang="en-US" altLang="zh-CN" b="1" dirty="0">
                  <a:solidFill>
                    <a:srgbClr val="C00000"/>
                  </a:solidFill>
                  <a:latin typeface="Times New Roman" pitchFamily="18" charset="0"/>
                </a:rPr>
                <a:t> global;</a:t>
              </a:r>
            </a:p>
            <a:p>
              <a:pPr algn="l" eaLnBrk="0" hangingPunct="0"/>
              <a:r>
                <a:rPr lang="en-US" altLang="zh-CN" b="1" dirty="0">
                  <a:latin typeface="Times New Roman" pitchFamily="18" charset="0"/>
                </a:rPr>
                <a:t>func2(  )</a:t>
              </a:r>
            </a:p>
            <a:p>
              <a:pPr algn="l" eaLnBrk="0" hangingPunct="0"/>
              <a:r>
                <a:rPr lang="en-US" altLang="zh-CN" b="1" dirty="0">
                  <a:latin typeface="Times New Roman" pitchFamily="18" charset="0"/>
                </a:rPr>
                <a:t>{    </a:t>
              </a:r>
              <a:r>
                <a:rPr lang="en-US" altLang="zh-CN" b="1" dirty="0" err="1">
                  <a:latin typeface="Times New Roman" pitchFamily="18" charset="0"/>
                </a:rPr>
                <a:t>int</a:t>
              </a:r>
              <a:r>
                <a:rPr lang="en-US" altLang="zh-CN" b="1" dirty="0">
                  <a:latin typeface="Times New Roman" pitchFamily="18" charset="0"/>
                </a:rPr>
                <a:t> number;</a:t>
              </a:r>
            </a:p>
            <a:p>
              <a:pPr algn="l" eaLnBrk="0" hangingPunct="0"/>
              <a:r>
                <a:rPr lang="en-US" altLang="zh-CN" b="1" dirty="0">
                  <a:latin typeface="Times New Roman" pitchFamily="18" charset="0"/>
                </a:rPr>
                <a:t>         .</a:t>
              </a:r>
            </a:p>
            <a:p>
              <a:pPr algn="l" eaLnBrk="0" hangingPunct="0"/>
              <a:r>
                <a:rPr lang="en-US" altLang="zh-CN" b="1" dirty="0">
                  <a:latin typeface="Times New Roman" pitchFamily="18" charset="0"/>
                </a:rPr>
                <a:t>	.</a:t>
              </a:r>
            </a:p>
            <a:p>
              <a:pPr algn="l" eaLnBrk="0" hangingPunct="0"/>
              <a:r>
                <a:rPr lang="en-US" altLang="zh-CN" b="1" dirty="0">
                  <a:latin typeface="Times New Roman" pitchFamily="18" charset="0"/>
                </a:rPr>
                <a:t>	.</a:t>
              </a:r>
            </a:p>
            <a:p>
              <a:pPr algn="l" eaLnBrk="0" hangingPunct="0"/>
              <a:r>
                <a:rPr lang="en-US" altLang="zh-CN" b="1" dirty="0">
                  <a:latin typeface="Times New Roman" pitchFamily="18" charset="0"/>
                </a:rPr>
                <a:t>}</a:t>
              </a:r>
            </a:p>
          </p:txBody>
        </p:sp>
        <p:sp>
          <p:nvSpPr>
            <p:cNvPr id="49159" name="Text Box 7"/>
            <p:cNvSpPr txBox="1">
              <a:spLocks noChangeArrowheads="1"/>
            </p:cNvSpPr>
            <p:nvPr/>
          </p:nvSpPr>
          <p:spPr bwMode="auto">
            <a:xfrm>
              <a:off x="3509" y="3552"/>
              <a:ext cx="763"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b="1">
                  <a:latin typeface="Times New Roman" pitchFamily="18" charset="0"/>
                </a:rPr>
                <a:t>file2.c</a:t>
              </a:r>
            </a:p>
          </p:txBody>
        </p:sp>
      </p:grpSp>
      <p:sp>
        <p:nvSpPr>
          <p:cNvPr id="10" name="矩形 9"/>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25082015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91874"/>
                                        </p:tgtEl>
                                        <p:attrNameLst>
                                          <p:attrName>style.visibility</p:attrName>
                                        </p:attrNameLst>
                                      </p:cBhvr>
                                      <p:to>
                                        <p:strVal val="visible"/>
                                      </p:to>
                                    </p:set>
                                    <p:animEffect transition="in" filter="dissolve">
                                      <p:cBhvr>
                                        <p:cTn id="7" dur="500"/>
                                        <p:tgtEl>
                                          <p:spTgt spid="591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91877"/>
                                        </p:tgtEl>
                                        <p:attrNameLst>
                                          <p:attrName>style.visibility</p:attrName>
                                        </p:attrNameLst>
                                      </p:cBhvr>
                                      <p:to>
                                        <p:strVal val="visible"/>
                                      </p:to>
                                    </p:set>
                                    <p:animEffect transition="in" filter="dissolve">
                                      <p:cBhvr>
                                        <p:cTn id="12" dur="500"/>
                                        <p:tgtEl>
                                          <p:spTgt spid="591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endParaRPr lang="en-US" altLang="zh-CN" dirty="0"/>
          </a:p>
        </p:txBody>
      </p:sp>
      <p:sp>
        <p:nvSpPr>
          <p:cNvPr id="593922" name="Rectangle 2"/>
          <p:cNvSpPr>
            <a:spLocks noChangeArrowheads="1"/>
          </p:cNvSpPr>
          <p:nvPr/>
        </p:nvSpPr>
        <p:spPr bwMode="auto">
          <a:xfrm>
            <a:off x="3114104" y="4505746"/>
            <a:ext cx="75438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3"/>
            </a:pPr>
            <a:r>
              <a:rPr lang="zh-CN" altLang="en-US" sz="3200" b="1" dirty="0">
                <a:latin typeface="Times New Roman" pitchFamily="18" charset="0"/>
              </a:rPr>
              <a:t>适合于多人或团队合作编写大程序</a:t>
            </a:r>
          </a:p>
        </p:txBody>
      </p:sp>
      <p:sp>
        <p:nvSpPr>
          <p:cNvPr id="593924" name="Rectangle 4"/>
          <p:cNvSpPr>
            <a:spLocks noChangeArrowheads="1"/>
          </p:cNvSpPr>
          <p:nvPr/>
        </p:nvSpPr>
        <p:spPr bwMode="auto">
          <a:xfrm>
            <a:off x="3122464" y="5217320"/>
            <a:ext cx="69342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4"/>
            </a:pPr>
            <a:r>
              <a:rPr lang="zh-CN" altLang="en-US" sz="3200" b="1">
                <a:latin typeface="Times New Roman" pitchFamily="18" charset="0"/>
              </a:rPr>
              <a:t>函数独立性差，尽量不用外部变量</a:t>
            </a:r>
          </a:p>
        </p:txBody>
      </p:sp>
      <p:sp>
        <p:nvSpPr>
          <p:cNvPr id="50182" name="Rectangle 5"/>
          <p:cNvSpPr>
            <a:spLocks noChangeArrowheads="1"/>
          </p:cNvSpPr>
          <p:nvPr/>
        </p:nvSpPr>
        <p:spPr bwMode="auto">
          <a:xfrm>
            <a:off x="3097064" y="3854104"/>
            <a:ext cx="70866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startAt="2"/>
            </a:pPr>
            <a:r>
              <a:rPr lang="zh-CN" altLang="en-US" sz="3200" b="1" dirty="0">
                <a:latin typeface="Times New Roman" pitchFamily="18" charset="0"/>
              </a:rPr>
              <a:t>变量被另外一个</a:t>
            </a:r>
            <a:r>
              <a:rPr lang="en-US" altLang="zh-CN" sz="3200" b="1" dirty="0">
                <a:latin typeface="Times New Roman" pitchFamily="18" charset="0"/>
              </a:rPr>
              <a:t>C</a:t>
            </a:r>
            <a:r>
              <a:rPr lang="zh-CN" altLang="en-US" sz="3200" b="1" dirty="0">
                <a:latin typeface="Times New Roman" pitchFamily="18" charset="0"/>
              </a:rPr>
              <a:t>源程序文件引用</a:t>
            </a:r>
          </a:p>
        </p:txBody>
      </p:sp>
      <p:sp>
        <p:nvSpPr>
          <p:cNvPr id="50183" name="Rectangle 6"/>
          <p:cNvSpPr>
            <a:spLocks noChangeArrowheads="1"/>
          </p:cNvSpPr>
          <p:nvPr/>
        </p:nvSpPr>
        <p:spPr bwMode="auto">
          <a:xfrm>
            <a:off x="2274889" y="1910880"/>
            <a:ext cx="6744154" cy="560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eaLnBrk="0" hangingPunct="0">
              <a:lnSpc>
                <a:spcPct val="95000"/>
              </a:lnSpc>
              <a:spcBef>
                <a:spcPct val="50000"/>
              </a:spcBef>
              <a:buClr>
                <a:srgbClr val="FFCC66"/>
              </a:buClr>
              <a:buSzPct val="115000"/>
            </a:pPr>
            <a:r>
              <a:rPr lang="zh-CN" altLang="en-US" sz="3200" b="1" dirty="0">
                <a:solidFill>
                  <a:srgbClr val="C00000"/>
                </a:solidFill>
              </a:rPr>
              <a:t>定义：</a:t>
            </a:r>
            <a:r>
              <a:rPr lang="en-US" altLang="zh-CN" sz="3200" b="1" dirty="0">
                <a:solidFill>
                  <a:srgbClr val="C00000"/>
                </a:solidFill>
                <a:latin typeface="Times New Roman" pitchFamily="18" charset="0"/>
              </a:rPr>
              <a:t>extern </a:t>
            </a:r>
            <a:r>
              <a:rPr lang="en-US" altLang="zh-CN" sz="3200" b="1" dirty="0">
                <a:solidFill>
                  <a:srgbClr val="C00000"/>
                </a:solidFill>
              </a:rPr>
              <a:t> </a:t>
            </a:r>
            <a:r>
              <a:rPr lang="zh-CN" altLang="en-US" sz="3200" b="1" dirty="0"/>
              <a:t>类型名 全局变量名</a:t>
            </a:r>
            <a:r>
              <a:rPr lang="en-US" altLang="zh-CN" sz="3200" b="1" dirty="0">
                <a:latin typeface="Times New Roman" pitchFamily="18" charset="0"/>
                <a:ea typeface="宋体" charset="-122"/>
              </a:rPr>
              <a:t>;</a:t>
            </a:r>
          </a:p>
        </p:txBody>
      </p:sp>
      <p:sp>
        <p:nvSpPr>
          <p:cNvPr id="50184" name="Rectangle 7"/>
          <p:cNvSpPr>
            <a:spLocks noChangeArrowheads="1"/>
          </p:cNvSpPr>
          <p:nvPr/>
        </p:nvSpPr>
        <p:spPr bwMode="auto">
          <a:xfrm>
            <a:off x="2281466" y="2600079"/>
            <a:ext cx="62484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eaLnBrk="0" hangingPunct="0">
              <a:lnSpc>
                <a:spcPct val="95000"/>
              </a:lnSpc>
              <a:spcBef>
                <a:spcPct val="50000"/>
              </a:spcBef>
              <a:buClr>
                <a:srgbClr val="FFCC66"/>
              </a:buClr>
              <a:buSzPct val="115000"/>
            </a:pPr>
            <a:r>
              <a:rPr lang="zh-CN" altLang="en-US" sz="3200" b="1" dirty="0">
                <a:solidFill>
                  <a:srgbClr val="C00000"/>
                </a:solidFill>
              </a:rPr>
              <a:t>说明：</a:t>
            </a:r>
          </a:p>
        </p:txBody>
      </p:sp>
      <p:sp>
        <p:nvSpPr>
          <p:cNvPr id="50185" name="Rectangle 8"/>
          <p:cNvSpPr>
            <a:spLocks noChangeArrowheads="1"/>
          </p:cNvSpPr>
          <p:nvPr/>
        </p:nvSpPr>
        <p:spPr bwMode="auto">
          <a:xfrm>
            <a:off x="3092896" y="3198465"/>
            <a:ext cx="74676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Clr>
                <a:schemeClr val="hlink"/>
              </a:buClr>
              <a:buFont typeface="Wingdings" pitchFamily="2" charset="2"/>
              <a:buAutoNum type="arabicParenR"/>
            </a:pPr>
            <a:r>
              <a:rPr lang="zh-CN" altLang="en-US" sz="3200" b="1" dirty="0">
                <a:latin typeface="Times New Roman" pitchFamily="18" charset="0"/>
              </a:rPr>
              <a:t>变量可被同程序中前面的函数引用</a:t>
            </a:r>
          </a:p>
        </p:txBody>
      </p:sp>
      <p:sp>
        <p:nvSpPr>
          <p:cNvPr id="50186" name="Rectangle 9"/>
          <p:cNvSpPr>
            <a:spLocks noChangeArrowheads="1"/>
          </p:cNvSpPr>
          <p:nvPr/>
        </p:nvSpPr>
        <p:spPr bwMode="auto">
          <a:xfrm>
            <a:off x="2135188" y="1178719"/>
            <a:ext cx="754380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5000"/>
              </a:lnSpc>
              <a:spcBef>
                <a:spcPct val="50000"/>
              </a:spcBef>
              <a:buClr>
                <a:schemeClr val="tx2">
                  <a:lumMod val="60000"/>
                  <a:lumOff val="40000"/>
                </a:schemeClr>
              </a:buClr>
              <a:buFont typeface="Wingdings" pitchFamily="2" charset="2"/>
              <a:buChar char="Ø"/>
            </a:pPr>
            <a:r>
              <a:rPr lang="zh-CN" altLang="en-US" sz="3600" b="1" dirty="0">
                <a:solidFill>
                  <a:srgbClr val="C00000"/>
                </a:solidFill>
                <a:latin typeface="Times New Roman" pitchFamily="18" charset="0"/>
              </a:rPr>
              <a:t>  外部存储</a:t>
            </a:r>
          </a:p>
        </p:txBody>
      </p:sp>
      <p:sp>
        <p:nvSpPr>
          <p:cNvPr id="11" name="矩形 10"/>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7.6 </a:t>
            </a:r>
            <a:r>
              <a:rPr lang="zh-CN" altLang="zh-CN" sz="4400" b="1" dirty="0">
                <a:solidFill>
                  <a:srgbClr val="800000"/>
                </a:solidFill>
                <a:latin typeface="Arial" pitchFamily="34" charset="0"/>
                <a:ea typeface="黑体" pitchFamily="49" charset="-122"/>
                <a:cs typeface="+mj-cs"/>
              </a:rPr>
              <a:t>变量和函数的作用域</a:t>
            </a:r>
          </a:p>
        </p:txBody>
      </p:sp>
    </p:spTree>
    <p:extLst>
      <p:ext uri="{BB962C8B-B14F-4D97-AF65-F5344CB8AC3E}">
        <p14:creationId xmlns:p14="http://schemas.microsoft.com/office/powerpoint/2010/main" val="22757904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183"/>
                                        </p:tgtEl>
                                        <p:attrNameLst>
                                          <p:attrName>style.visibility</p:attrName>
                                        </p:attrNameLst>
                                      </p:cBhvr>
                                      <p:to>
                                        <p:strVal val="visible"/>
                                      </p:to>
                                    </p:set>
                                    <p:animEffect transition="in" filter="fade">
                                      <p:cBhvr>
                                        <p:cTn id="7" dur="500"/>
                                        <p:tgtEl>
                                          <p:spTgt spid="501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184"/>
                                        </p:tgtEl>
                                        <p:attrNameLst>
                                          <p:attrName>style.visibility</p:attrName>
                                        </p:attrNameLst>
                                      </p:cBhvr>
                                      <p:to>
                                        <p:strVal val="visible"/>
                                      </p:to>
                                    </p:set>
                                    <p:animEffect transition="in" filter="fade">
                                      <p:cBhvr>
                                        <p:cTn id="12" dur="500"/>
                                        <p:tgtEl>
                                          <p:spTgt spid="501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185"/>
                                        </p:tgtEl>
                                        <p:attrNameLst>
                                          <p:attrName>style.visibility</p:attrName>
                                        </p:attrNameLst>
                                      </p:cBhvr>
                                      <p:to>
                                        <p:strVal val="visible"/>
                                      </p:to>
                                    </p:set>
                                    <p:animEffect transition="in" filter="fade">
                                      <p:cBhvr>
                                        <p:cTn id="17" dur="500"/>
                                        <p:tgtEl>
                                          <p:spTgt spid="5018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182"/>
                                        </p:tgtEl>
                                        <p:attrNameLst>
                                          <p:attrName>style.visibility</p:attrName>
                                        </p:attrNameLst>
                                      </p:cBhvr>
                                      <p:to>
                                        <p:strVal val="visible"/>
                                      </p:to>
                                    </p:set>
                                    <p:animEffect transition="in" filter="fade">
                                      <p:cBhvr>
                                        <p:cTn id="22" dur="500"/>
                                        <p:tgtEl>
                                          <p:spTgt spid="501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3922"/>
                                        </p:tgtEl>
                                        <p:attrNameLst>
                                          <p:attrName>style.visibility</p:attrName>
                                        </p:attrNameLst>
                                      </p:cBhvr>
                                      <p:to>
                                        <p:strVal val="visible"/>
                                      </p:to>
                                    </p:set>
                                    <p:animEffect transition="in" filter="wipe(left)">
                                      <p:cBhvr>
                                        <p:cTn id="27" dur="500"/>
                                        <p:tgtEl>
                                          <p:spTgt spid="5939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93924"/>
                                        </p:tgtEl>
                                        <p:attrNameLst>
                                          <p:attrName>style.visibility</p:attrName>
                                        </p:attrNameLst>
                                      </p:cBhvr>
                                      <p:to>
                                        <p:strVal val="visible"/>
                                      </p:to>
                                    </p:set>
                                    <p:animEffect transition="in" filter="wipe(left)">
                                      <p:cBhvr>
                                        <p:cTn id="32" dur="500"/>
                                        <p:tgtEl>
                                          <p:spTgt spid="593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2" grpId="0" autoUpdateAnimBg="0"/>
      <p:bldP spid="593924" grpId="0" autoUpdateAnimBg="0"/>
      <p:bldP spid="50182" grpId="0"/>
      <p:bldP spid="50183" grpId="0"/>
      <p:bldP spid="50184" grpId="0"/>
      <p:bldP spid="5018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5"/>
          <p:cNvSpPr>
            <a:spLocks noGrp="1"/>
          </p:cNvSpPr>
          <p:nvPr>
            <p:ph type="sldNum" sz="quarter" idx="12"/>
          </p:nvPr>
        </p:nvSpPr>
        <p:spPr/>
        <p:txBody>
          <a:bodyPr/>
          <a:lstStyle/>
          <a:p>
            <a:pPr>
              <a:defRPr/>
            </a:pPr>
            <a:endParaRPr lang="en-US" altLang="zh-CN" dirty="0"/>
          </a:p>
        </p:txBody>
      </p:sp>
      <p:sp>
        <p:nvSpPr>
          <p:cNvPr id="595970" name="Text Box 2"/>
          <p:cNvSpPr txBox="1">
            <a:spLocks noChangeArrowheads="1"/>
          </p:cNvSpPr>
          <p:nvPr/>
        </p:nvSpPr>
        <p:spPr bwMode="auto">
          <a:xfrm>
            <a:off x="3941763" y="1327150"/>
            <a:ext cx="3352800" cy="4667250"/>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lnSpc>
                <a:spcPct val="70000"/>
              </a:lnSpc>
            </a:pPr>
            <a:r>
              <a:rPr lang="en-US" altLang="zh-CN" b="1" dirty="0">
                <a:solidFill>
                  <a:srgbClr val="C00000"/>
                </a:solidFill>
                <a:latin typeface="Times New Roman" pitchFamily="18" charset="0"/>
                <a:ea typeface="隶书" pitchFamily="49" charset="-122"/>
              </a:rPr>
              <a:t>  </a:t>
            </a:r>
            <a:r>
              <a:rPr lang="en-US" altLang="zh-CN" b="1" dirty="0" err="1">
                <a:solidFill>
                  <a:srgbClr val="C00000"/>
                </a:solidFill>
                <a:latin typeface="Times New Roman" pitchFamily="18" charset="0"/>
                <a:ea typeface="隶书" pitchFamily="49" charset="-122"/>
              </a:rPr>
              <a:t>int</a:t>
            </a:r>
            <a:r>
              <a:rPr lang="en-US" altLang="zh-CN" b="1" dirty="0">
                <a:solidFill>
                  <a:srgbClr val="C00000"/>
                </a:solidFill>
                <a:latin typeface="Times New Roman" pitchFamily="18" charset="0"/>
                <a:ea typeface="隶书" pitchFamily="49" charset="-122"/>
              </a:rPr>
              <a:t> a;</a:t>
            </a:r>
          </a:p>
          <a:p>
            <a:pPr algn="l" eaLnBrk="0" hangingPunct="0">
              <a:lnSpc>
                <a:spcPct val="70000"/>
              </a:lnSpc>
            </a:pPr>
            <a:r>
              <a:rPr lang="en-US" altLang="zh-CN" b="1" dirty="0">
                <a:latin typeface="Times New Roman" pitchFamily="18" charset="0"/>
                <a:ea typeface="隶书" pitchFamily="49" charset="-122"/>
              </a:rPr>
              <a:t>  main( )</a:t>
            </a:r>
          </a:p>
          <a:p>
            <a:pPr algn="l" eaLnBrk="0" hangingPunct="0">
              <a:lnSpc>
                <a:spcPct val="60000"/>
              </a:lnSpc>
            </a:pPr>
            <a:r>
              <a:rPr lang="en-US" altLang="zh-CN" b="1" dirty="0">
                <a:latin typeface="Times New Roman" pitchFamily="18" charset="0"/>
                <a:ea typeface="隶书" pitchFamily="49" charset="-122"/>
              </a:rPr>
              <a:t>  {    …….</a:t>
            </a:r>
          </a:p>
          <a:p>
            <a:pPr algn="l" eaLnBrk="0" hangingPunct="0">
              <a:lnSpc>
                <a:spcPct val="60000"/>
              </a:lnSpc>
            </a:pPr>
            <a:r>
              <a:rPr lang="en-US" altLang="zh-CN" b="1" dirty="0">
                <a:latin typeface="Times New Roman" pitchFamily="18" charset="0"/>
                <a:ea typeface="隶书" pitchFamily="49" charset="-122"/>
              </a:rPr>
              <a:t>        f1;</a:t>
            </a:r>
          </a:p>
          <a:p>
            <a:pPr algn="l" eaLnBrk="0" hangingPunct="0">
              <a:lnSpc>
                <a:spcPct val="50000"/>
              </a:lnSpc>
            </a:pPr>
            <a:r>
              <a:rPr lang="en-US" altLang="zh-CN" b="1" dirty="0">
                <a:latin typeface="Times New Roman" pitchFamily="18" charset="0"/>
                <a:ea typeface="隶书" pitchFamily="49" charset="-122"/>
              </a:rPr>
              <a:t>        …….</a:t>
            </a:r>
          </a:p>
          <a:p>
            <a:pPr algn="l" eaLnBrk="0" hangingPunct="0">
              <a:lnSpc>
                <a:spcPct val="50000"/>
              </a:lnSpc>
            </a:pPr>
            <a:r>
              <a:rPr lang="en-US" altLang="zh-CN" b="1" dirty="0">
                <a:latin typeface="Times New Roman" pitchFamily="18" charset="0"/>
                <a:ea typeface="隶书" pitchFamily="49" charset="-122"/>
              </a:rPr>
              <a:t>  }</a:t>
            </a:r>
          </a:p>
          <a:p>
            <a:pPr algn="l" eaLnBrk="0" hangingPunct="0">
              <a:lnSpc>
                <a:spcPct val="70000"/>
              </a:lnSpc>
            </a:pPr>
            <a:r>
              <a:rPr lang="en-US" altLang="zh-CN" b="1" dirty="0">
                <a:latin typeface="Times New Roman" pitchFamily="18" charset="0"/>
                <a:ea typeface="隶书" pitchFamily="49" charset="-122"/>
              </a:rPr>
              <a:t>  f1( )</a:t>
            </a:r>
          </a:p>
          <a:p>
            <a:pPr algn="l" eaLnBrk="0" hangingPunct="0">
              <a:lnSpc>
                <a:spcPct val="60000"/>
              </a:lnSpc>
            </a:pPr>
            <a:r>
              <a:rPr lang="en-US" altLang="zh-CN" b="1" dirty="0">
                <a:latin typeface="Times New Roman" pitchFamily="18" charset="0"/>
                <a:ea typeface="隶书" pitchFamily="49" charset="-122"/>
              </a:rPr>
              <a:t>  {    </a:t>
            </a:r>
            <a:r>
              <a:rPr lang="en-US" altLang="zh-CN" b="1" dirty="0">
                <a:solidFill>
                  <a:srgbClr val="C00000"/>
                </a:solidFill>
                <a:latin typeface="Times New Roman" pitchFamily="18" charset="0"/>
                <a:ea typeface="隶书" pitchFamily="49" charset="-122"/>
              </a:rPr>
              <a:t>auto </a:t>
            </a:r>
            <a:r>
              <a:rPr lang="en-US" altLang="zh-CN" b="1" dirty="0" err="1">
                <a:solidFill>
                  <a:srgbClr val="C00000"/>
                </a:solidFill>
                <a:latin typeface="Times New Roman" pitchFamily="18" charset="0"/>
                <a:ea typeface="隶书" pitchFamily="49" charset="-122"/>
              </a:rPr>
              <a:t>int</a:t>
            </a:r>
            <a:r>
              <a:rPr lang="en-US" altLang="zh-CN" b="1" dirty="0">
                <a:solidFill>
                  <a:srgbClr val="C00000"/>
                </a:solidFill>
                <a:latin typeface="Times New Roman" pitchFamily="18" charset="0"/>
                <a:ea typeface="隶书" pitchFamily="49" charset="-122"/>
              </a:rPr>
              <a:t> b;</a:t>
            </a:r>
          </a:p>
          <a:p>
            <a:pPr algn="l" eaLnBrk="0" hangingPunct="0">
              <a:lnSpc>
                <a:spcPct val="60000"/>
              </a:lnSpc>
            </a:pPr>
            <a:r>
              <a:rPr lang="en-US" altLang="zh-CN" b="1" dirty="0">
                <a:latin typeface="Times New Roman" pitchFamily="18" charset="0"/>
                <a:ea typeface="隶书" pitchFamily="49" charset="-122"/>
              </a:rPr>
              <a:t>        ………</a:t>
            </a:r>
          </a:p>
          <a:p>
            <a:pPr algn="l" eaLnBrk="0" hangingPunct="0">
              <a:lnSpc>
                <a:spcPct val="60000"/>
              </a:lnSpc>
            </a:pPr>
            <a:r>
              <a:rPr lang="en-US" altLang="zh-CN" b="1" dirty="0">
                <a:latin typeface="Times New Roman" pitchFamily="18" charset="0"/>
                <a:ea typeface="隶书" pitchFamily="49" charset="-122"/>
              </a:rPr>
              <a:t>        f2;</a:t>
            </a:r>
          </a:p>
          <a:p>
            <a:pPr algn="l" eaLnBrk="0" hangingPunct="0">
              <a:lnSpc>
                <a:spcPct val="50000"/>
              </a:lnSpc>
            </a:pPr>
            <a:r>
              <a:rPr lang="en-US" altLang="zh-CN" b="1" dirty="0">
                <a:latin typeface="Times New Roman" pitchFamily="18" charset="0"/>
                <a:ea typeface="隶书" pitchFamily="49" charset="-122"/>
              </a:rPr>
              <a:t>        ……..</a:t>
            </a:r>
          </a:p>
          <a:p>
            <a:pPr algn="l" eaLnBrk="0" hangingPunct="0">
              <a:lnSpc>
                <a:spcPct val="50000"/>
              </a:lnSpc>
            </a:pPr>
            <a:r>
              <a:rPr lang="en-US" altLang="zh-CN" b="1" dirty="0">
                <a:latin typeface="Times New Roman" pitchFamily="18" charset="0"/>
                <a:ea typeface="隶书" pitchFamily="49" charset="-122"/>
              </a:rPr>
              <a:t>  }</a:t>
            </a:r>
          </a:p>
          <a:p>
            <a:pPr algn="l" eaLnBrk="0" hangingPunct="0">
              <a:lnSpc>
                <a:spcPct val="70000"/>
              </a:lnSpc>
            </a:pPr>
            <a:r>
              <a:rPr lang="en-US" altLang="zh-CN" b="1" dirty="0">
                <a:latin typeface="Times New Roman" pitchFamily="18" charset="0"/>
                <a:ea typeface="隶书" pitchFamily="49" charset="-122"/>
              </a:rPr>
              <a:t>  f2( )</a:t>
            </a:r>
          </a:p>
          <a:p>
            <a:pPr algn="l" eaLnBrk="0" hangingPunct="0">
              <a:lnSpc>
                <a:spcPct val="50000"/>
              </a:lnSpc>
            </a:pPr>
            <a:r>
              <a:rPr lang="en-US" altLang="zh-CN" b="1" dirty="0">
                <a:latin typeface="Times New Roman" pitchFamily="18" charset="0"/>
                <a:ea typeface="隶书" pitchFamily="49" charset="-122"/>
              </a:rPr>
              <a:t>  {    </a:t>
            </a:r>
            <a:r>
              <a:rPr lang="en-US" altLang="zh-CN" b="1" dirty="0">
                <a:solidFill>
                  <a:srgbClr val="C00000"/>
                </a:solidFill>
                <a:latin typeface="Times New Roman" pitchFamily="18" charset="0"/>
                <a:ea typeface="隶书" pitchFamily="49" charset="-122"/>
              </a:rPr>
              <a:t>static </a:t>
            </a:r>
            <a:r>
              <a:rPr lang="en-US" altLang="zh-CN" b="1" dirty="0" err="1">
                <a:solidFill>
                  <a:srgbClr val="C00000"/>
                </a:solidFill>
                <a:latin typeface="Times New Roman" pitchFamily="18" charset="0"/>
                <a:ea typeface="隶书" pitchFamily="49" charset="-122"/>
              </a:rPr>
              <a:t>int</a:t>
            </a:r>
            <a:r>
              <a:rPr lang="en-US" altLang="zh-CN" b="1" dirty="0">
                <a:solidFill>
                  <a:srgbClr val="C00000"/>
                </a:solidFill>
                <a:latin typeface="Times New Roman" pitchFamily="18" charset="0"/>
                <a:ea typeface="隶书" pitchFamily="49" charset="-122"/>
              </a:rPr>
              <a:t> c;</a:t>
            </a:r>
          </a:p>
          <a:p>
            <a:pPr algn="l" eaLnBrk="0" hangingPunct="0">
              <a:lnSpc>
                <a:spcPct val="50000"/>
              </a:lnSpc>
            </a:pPr>
            <a:r>
              <a:rPr lang="en-US" altLang="zh-CN" b="1" dirty="0">
                <a:latin typeface="Times New Roman" pitchFamily="18" charset="0"/>
                <a:ea typeface="隶书" pitchFamily="49" charset="-122"/>
              </a:rPr>
              <a:t>        ………</a:t>
            </a:r>
          </a:p>
          <a:p>
            <a:pPr algn="l" eaLnBrk="0" hangingPunct="0">
              <a:lnSpc>
                <a:spcPct val="50000"/>
              </a:lnSpc>
            </a:pPr>
            <a:r>
              <a:rPr lang="en-US" altLang="zh-CN" b="1" dirty="0">
                <a:latin typeface="Times New Roman" pitchFamily="18" charset="0"/>
                <a:ea typeface="隶书" pitchFamily="49" charset="-122"/>
              </a:rPr>
              <a:t>  }</a:t>
            </a:r>
          </a:p>
        </p:txBody>
      </p:sp>
      <p:sp>
        <p:nvSpPr>
          <p:cNvPr id="595971" name="Text Box 3"/>
          <p:cNvSpPr txBox="1">
            <a:spLocks noChangeArrowheads="1"/>
          </p:cNvSpPr>
          <p:nvPr/>
        </p:nvSpPr>
        <p:spPr bwMode="auto">
          <a:xfrm>
            <a:off x="7904164" y="3765550"/>
            <a:ext cx="16335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b="1">
                <a:latin typeface="Times New Roman" panose="02020603050405020304" pitchFamily="18" charset="0"/>
                <a:ea typeface="+mn-ea"/>
                <a:cs typeface="Times New Roman" panose="02020603050405020304" pitchFamily="18" charset="0"/>
              </a:rPr>
              <a:t>b</a:t>
            </a:r>
            <a:r>
              <a:rPr lang="zh-CN" altLang="zh-CN" b="1">
                <a:latin typeface="Times New Roman" panose="02020603050405020304" pitchFamily="18" charset="0"/>
                <a:ea typeface="+mn-ea"/>
                <a:cs typeface="Times New Roman" panose="02020603050405020304" pitchFamily="18" charset="0"/>
              </a:rPr>
              <a:t>作用域</a:t>
            </a:r>
            <a:endParaRPr lang="zh-CN" altLang="en-US" b="1">
              <a:latin typeface="Times New Roman" panose="02020603050405020304" pitchFamily="18" charset="0"/>
              <a:ea typeface="+mn-ea"/>
              <a:cs typeface="Times New Roman" panose="02020603050405020304" pitchFamily="18" charset="0"/>
            </a:endParaRPr>
          </a:p>
        </p:txBody>
      </p:sp>
      <p:sp>
        <p:nvSpPr>
          <p:cNvPr id="595972" name="Text Box 4"/>
          <p:cNvSpPr txBox="1">
            <a:spLocks noChangeArrowheads="1"/>
          </p:cNvSpPr>
          <p:nvPr/>
        </p:nvSpPr>
        <p:spPr bwMode="auto">
          <a:xfrm>
            <a:off x="7599363" y="1708150"/>
            <a:ext cx="1612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b="1" dirty="0">
                <a:latin typeface="Times New Roman" panose="02020603050405020304" pitchFamily="18" charset="0"/>
                <a:ea typeface="+mn-ea"/>
                <a:cs typeface="Times New Roman" panose="02020603050405020304" pitchFamily="18" charset="0"/>
              </a:rPr>
              <a:t>a</a:t>
            </a:r>
            <a:r>
              <a:rPr lang="zh-CN" altLang="zh-CN" b="1" dirty="0">
                <a:latin typeface="Times New Roman" panose="02020603050405020304" pitchFamily="18" charset="0"/>
                <a:ea typeface="+mn-ea"/>
                <a:cs typeface="Times New Roman" panose="02020603050405020304" pitchFamily="18" charset="0"/>
              </a:rPr>
              <a:t>作用域</a:t>
            </a:r>
            <a:endParaRPr lang="zh-CN" altLang="en-US" b="1" dirty="0">
              <a:latin typeface="Times New Roman" panose="02020603050405020304" pitchFamily="18" charset="0"/>
              <a:ea typeface="+mn-ea"/>
              <a:cs typeface="Times New Roman" panose="02020603050405020304" pitchFamily="18" charset="0"/>
            </a:endParaRPr>
          </a:p>
        </p:txBody>
      </p:sp>
      <p:sp>
        <p:nvSpPr>
          <p:cNvPr id="51206" name="Text Box 5"/>
          <p:cNvSpPr txBox="1">
            <a:spLocks noChangeArrowheads="1"/>
          </p:cNvSpPr>
          <p:nvPr/>
        </p:nvSpPr>
        <p:spPr bwMode="auto">
          <a:xfrm>
            <a:off x="4114800" y="166639"/>
            <a:ext cx="3962400" cy="771623"/>
          </a:xfrm>
          <a:prstGeom prst="rect">
            <a:avLst/>
          </a:prstGeom>
          <a:solidFill>
            <a:schemeClr val="lt1"/>
          </a:solidFill>
          <a:effectLst/>
        </p:spPr>
        <p:txBody>
          <a:bodyPr vert="horz" lIns="91440" tIns="45720" rIns="91440" bIns="45720" rtlCol="0" anchor="ctr">
            <a:noAutofit/>
          </a:bodyPr>
          <a:lstStyle>
            <a:defPPr>
              <a:defRPr lang="zh-CN"/>
            </a:defPPr>
            <a:lvl1pPr algn="ctr">
              <a:spcBef>
                <a:spcPct val="0"/>
              </a:spcBef>
              <a:defRPr sz="4400">
                <a:solidFill>
                  <a:srgbClr val="800000"/>
                </a:solidFill>
                <a:effectLst>
                  <a:outerShdw blurRad="38100" dist="38100" dir="2700000" algn="tl">
                    <a:srgbClr val="000000"/>
                  </a:outerShdw>
                </a:effectLst>
                <a:latin typeface="Arial" pitchFamily="34" charset="0"/>
                <a:ea typeface="黑体" pitchFamily="49" charset="-122"/>
                <a:cs typeface="+mj-cs"/>
              </a:defRPr>
            </a:lvl1pPr>
          </a:lstStyle>
          <a:p>
            <a:r>
              <a:rPr lang="zh-CN" altLang="en-US" b="1" dirty="0">
                <a:effectLst/>
              </a:rPr>
              <a:t>小   　结</a:t>
            </a:r>
          </a:p>
        </p:txBody>
      </p:sp>
      <p:grpSp>
        <p:nvGrpSpPr>
          <p:cNvPr id="595974" name="Group 6"/>
          <p:cNvGrpSpPr>
            <a:grpSpLocks/>
          </p:cNvGrpSpPr>
          <p:nvPr/>
        </p:nvGrpSpPr>
        <p:grpSpPr bwMode="auto">
          <a:xfrm>
            <a:off x="7472364" y="1327150"/>
            <a:ext cx="312737" cy="4648200"/>
            <a:chOff x="3979" y="864"/>
            <a:chExt cx="197" cy="2928"/>
          </a:xfrm>
        </p:grpSpPr>
        <p:sp>
          <p:nvSpPr>
            <p:cNvPr id="51217" name="Line 7"/>
            <p:cNvSpPr>
              <a:spLocks noChangeShapeType="1"/>
            </p:cNvSpPr>
            <p:nvPr/>
          </p:nvSpPr>
          <p:spPr bwMode="auto">
            <a:xfrm>
              <a:off x="3979" y="864"/>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1218" name="Line 8"/>
            <p:cNvSpPr>
              <a:spLocks noChangeShapeType="1"/>
            </p:cNvSpPr>
            <p:nvPr/>
          </p:nvSpPr>
          <p:spPr bwMode="auto">
            <a:xfrm>
              <a:off x="4063" y="864"/>
              <a:ext cx="0" cy="292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1219" name="Line 9"/>
            <p:cNvSpPr>
              <a:spLocks noChangeShapeType="1"/>
            </p:cNvSpPr>
            <p:nvPr/>
          </p:nvSpPr>
          <p:spPr bwMode="auto">
            <a:xfrm>
              <a:off x="3987" y="3792"/>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595978" name="Group 10"/>
          <p:cNvGrpSpPr>
            <a:grpSpLocks/>
          </p:cNvGrpSpPr>
          <p:nvPr/>
        </p:nvGrpSpPr>
        <p:grpSpPr bwMode="auto">
          <a:xfrm>
            <a:off x="7827964" y="3460750"/>
            <a:ext cx="300037" cy="1308100"/>
            <a:chOff x="4203" y="2208"/>
            <a:chExt cx="189" cy="824"/>
          </a:xfrm>
        </p:grpSpPr>
        <p:sp>
          <p:nvSpPr>
            <p:cNvPr id="51214" name="Line 11"/>
            <p:cNvSpPr>
              <a:spLocks noChangeShapeType="1"/>
            </p:cNvSpPr>
            <p:nvPr/>
          </p:nvSpPr>
          <p:spPr bwMode="auto">
            <a:xfrm>
              <a:off x="4291" y="2208"/>
              <a:ext cx="0" cy="823"/>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1215" name="Line 12"/>
            <p:cNvSpPr>
              <a:spLocks noChangeShapeType="1"/>
            </p:cNvSpPr>
            <p:nvPr/>
          </p:nvSpPr>
          <p:spPr bwMode="auto">
            <a:xfrm>
              <a:off x="4203" y="2208"/>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1216" name="Line 13"/>
            <p:cNvSpPr>
              <a:spLocks noChangeShapeType="1"/>
            </p:cNvSpPr>
            <p:nvPr/>
          </p:nvSpPr>
          <p:spPr bwMode="auto">
            <a:xfrm>
              <a:off x="4203" y="3032"/>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595982" name="Group 14"/>
          <p:cNvGrpSpPr>
            <a:grpSpLocks/>
          </p:cNvGrpSpPr>
          <p:nvPr/>
        </p:nvGrpSpPr>
        <p:grpSpPr bwMode="auto">
          <a:xfrm>
            <a:off x="7827964" y="5099050"/>
            <a:ext cx="300037" cy="876300"/>
            <a:chOff x="4203" y="3240"/>
            <a:chExt cx="189" cy="552"/>
          </a:xfrm>
        </p:grpSpPr>
        <p:sp>
          <p:nvSpPr>
            <p:cNvPr id="51211" name="Line 15"/>
            <p:cNvSpPr>
              <a:spLocks noChangeShapeType="1"/>
            </p:cNvSpPr>
            <p:nvPr/>
          </p:nvSpPr>
          <p:spPr bwMode="auto">
            <a:xfrm flipH="1">
              <a:off x="4288" y="3240"/>
              <a:ext cx="0" cy="544"/>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1212" name="Line 16"/>
            <p:cNvSpPr>
              <a:spLocks noChangeShapeType="1"/>
            </p:cNvSpPr>
            <p:nvPr/>
          </p:nvSpPr>
          <p:spPr bwMode="auto">
            <a:xfrm>
              <a:off x="4203" y="3240"/>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1213" name="Line 17"/>
            <p:cNvSpPr>
              <a:spLocks noChangeShapeType="1"/>
            </p:cNvSpPr>
            <p:nvPr/>
          </p:nvSpPr>
          <p:spPr bwMode="auto">
            <a:xfrm>
              <a:off x="4203" y="3792"/>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
        <p:nvSpPr>
          <p:cNvPr id="595986" name="Text Box 18"/>
          <p:cNvSpPr txBox="1">
            <a:spLocks noChangeArrowheads="1"/>
          </p:cNvSpPr>
          <p:nvPr/>
        </p:nvSpPr>
        <p:spPr bwMode="auto">
          <a:xfrm>
            <a:off x="7827964" y="5210683"/>
            <a:ext cx="170110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eaLnBrk="0" hangingPunct="0"/>
            <a:r>
              <a:rPr lang="en-US" altLang="zh-CN" b="1">
                <a:solidFill>
                  <a:srgbClr val="FF5555"/>
                </a:solidFill>
                <a:latin typeface="Times New Roman" panose="02020603050405020304" pitchFamily="18" charset="0"/>
                <a:ea typeface="+mn-ea"/>
                <a:cs typeface="Times New Roman" panose="02020603050405020304" pitchFamily="18" charset="0"/>
              </a:rPr>
              <a:t> </a:t>
            </a:r>
            <a:r>
              <a:rPr lang="en-US" altLang="zh-CN" b="1">
                <a:latin typeface="Times New Roman" panose="02020603050405020304" pitchFamily="18" charset="0"/>
                <a:ea typeface="+mn-ea"/>
                <a:cs typeface="Times New Roman" panose="02020603050405020304" pitchFamily="18" charset="0"/>
              </a:rPr>
              <a:t>c</a:t>
            </a:r>
            <a:r>
              <a:rPr lang="zh-CN" altLang="zh-CN" b="1">
                <a:latin typeface="Times New Roman" panose="02020603050405020304" pitchFamily="18" charset="0"/>
                <a:ea typeface="+mn-ea"/>
                <a:cs typeface="Times New Roman" panose="02020603050405020304" pitchFamily="18" charset="0"/>
              </a:rPr>
              <a:t>作用域</a:t>
            </a:r>
            <a:endParaRPr lang="zh-CN" altLang="en-US" b="1">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7626963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95970"/>
                                        </p:tgtEl>
                                        <p:attrNameLst>
                                          <p:attrName>style.visibility</p:attrName>
                                        </p:attrNameLst>
                                      </p:cBhvr>
                                      <p:to>
                                        <p:strVal val="visible"/>
                                      </p:to>
                                    </p:set>
                                    <p:animEffect transition="in" filter="dissolve">
                                      <p:cBhvr>
                                        <p:cTn id="7" dur="500"/>
                                        <p:tgtEl>
                                          <p:spTgt spid="5959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595974"/>
                                        </p:tgtEl>
                                        <p:attrNameLst>
                                          <p:attrName>style.visibility</p:attrName>
                                        </p:attrNameLst>
                                      </p:cBhvr>
                                      <p:to>
                                        <p:strVal val="visible"/>
                                      </p:to>
                                    </p:set>
                                    <p:animEffect transition="in" filter="barn(outHorizontal)">
                                      <p:cBhvr>
                                        <p:cTn id="12" dur="500"/>
                                        <p:tgtEl>
                                          <p:spTgt spid="595974"/>
                                        </p:tgtEl>
                                      </p:cBhvr>
                                    </p:animEffect>
                                  </p:childTnLst>
                                  <p:subTnLst>
                                    <p:animClr clrSpc="rgb" dir="cw">
                                      <p:cBhvr override="childStyle">
                                        <p:cTn dur="1" fill="hold" display="0" masterRel="nextClick" afterEffect="1"/>
                                        <p:tgtEl>
                                          <p:spTgt spid="595974"/>
                                        </p:tgtEl>
                                        <p:attrNameLst>
                                          <p:attrName>ppt_c</p:attrName>
                                        </p:attrNameLst>
                                      </p:cBhvr>
                                      <p:to>
                                        <a:srgbClr val="FF330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5972"/>
                                        </p:tgtEl>
                                        <p:attrNameLst>
                                          <p:attrName>style.visibility</p:attrName>
                                        </p:attrNameLst>
                                      </p:cBhvr>
                                      <p:to>
                                        <p:strVal val="visible"/>
                                      </p:to>
                                    </p:set>
                                    <p:animEffect transition="in" filter="dissolve">
                                      <p:cBhvr>
                                        <p:cTn id="17" dur="500"/>
                                        <p:tgtEl>
                                          <p:spTgt spid="5959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595978"/>
                                        </p:tgtEl>
                                        <p:attrNameLst>
                                          <p:attrName>style.visibility</p:attrName>
                                        </p:attrNameLst>
                                      </p:cBhvr>
                                      <p:to>
                                        <p:strVal val="visible"/>
                                      </p:to>
                                    </p:set>
                                    <p:animEffect transition="in" filter="barn(outHorizontal)">
                                      <p:cBhvr>
                                        <p:cTn id="22" dur="500"/>
                                        <p:tgtEl>
                                          <p:spTgt spid="595978"/>
                                        </p:tgtEl>
                                      </p:cBhvr>
                                    </p:animEffect>
                                  </p:childTnLst>
                                  <p:subTnLst>
                                    <p:animClr clrSpc="rgb" dir="cw">
                                      <p:cBhvr override="childStyle">
                                        <p:cTn dur="1" fill="hold" display="0" masterRel="nextClick" afterEffect="1"/>
                                        <p:tgtEl>
                                          <p:spTgt spid="595978"/>
                                        </p:tgtEl>
                                        <p:attrNameLst>
                                          <p:attrName>ppt_c</p:attrName>
                                        </p:attrNameLst>
                                      </p:cBhvr>
                                      <p:to>
                                        <a:srgbClr val="FF3300"/>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95971"/>
                                        </p:tgtEl>
                                        <p:attrNameLst>
                                          <p:attrName>style.visibility</p:attrName>
                                        </p:attrNameLst>
                                      </p:cBhvr>
                                      <p:to>
                                        <p:strVal val="visible"/>
                                      </p:to>
                                    </p:set>
                                    <p:animEffect transition="in" filter="dissolve">
                                      <p:cBhvr>
                                        <p:cTn id="27" dur="500"/>
                                        <p:tgtEl>
                                          <p:spTgt spid="5959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595982"/>
                                        </p:tgtEl>
                                        <p:attrNameLst>
                                          <p:attrName>style.visibility</p:attrName>
                                        </p:attrNameLst>
                                      </p:cBhvr>
                                      <p:to>
                                        <p:strVal val="visible"/>
                                      </p:to>
                                    </p:set>
                                    <p:animEffect transition="in" filter="barn(outHorizontal)">
                                      <p:cBhvr>
                                        <p:cTn id="32" dur="500"/>
                                        <p:tgtEl>
                                          <p:spTgt spid="595982"/>
                                        </p:tgtEl>
                                      </p:cBhvr>
                                    </p:animEffect>
                                  </p:childTnLst>
                                  <p:subTnLst>
                                    <p:animClr clrSpc="rgb" dir="cw">
                                      <p:cBhvr override="childStyle">
                                        <p:cTn dur="1" fill="hold" display="0" masterRel="nextClick" afterEffect="1"/>
                                        <p:tgtEl>
                                          <p:spTgt spid="595982"/>
                                        </p:tgtEl>
                                        <p:attrNameLst>
                                          <p:attrName>ppt_c</p:attrName>
                                        </p:attrNameLst>
                                      </p:cBhvr>
                                      <p:to>
                                        <a:srgbClr val="FF3300"/>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95986"/>
                                        </p:tgtEl>
                                        <p:attrNameLst>
                                          <p:attrName>style.visibility</p:attrName>
                                        </p:attrNameLst>
                                      </p:cBhvr>
                                      <p:to>
                                        <p:strVal val="visible"/>
                                      </p:to>
                                    </p:set>
                                    <p:animEffect transition="in" filter="dissolve">
                                      <p:cBhvr>
                                        <p:cTn id="37" dur="500"/>
                                        <p:tgtEl>
                                          <p:spTgt spid="595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0" grpId="0" animBg="1" autoUpdateAnimBg="0"/>
      <p:bldP spid="595971" grpId="0" autoUpdateAnimBg="0"/>
      <p:bldP spid="595972" grpId="0" autoUpdateAnimBg="0"/>
      <p:bldP spid="595986"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pPr>
              <a:defRPr/>
            </a:pPr>
            <a:endParaRPr lang="en-US" altLang="zh-CN" dirty="0"/>
          </a:p>
        </p:txBody>
      </p:sp>
      <p:sp>
        <p:nvSpPr>
          <p:cNvPr id="598018" name="Text Box 2"/>
          <p:cNvSpPr txBox="1">
            <a:spLocks noChangeArrowheads="1"/>
          </p:cNvSpPr>
          <p:nvPr/>
        </p:nvSpPr>
        <p:spPr bwMode="auto">
          <a:xfrm>
            <a:off x="8543926" y="4237039"/>
            <a:ext cx="595035" cy="20621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r>
              <a:rPr lang="en-US" altLang="zh-CN" b="1" dirty="0">
                <a:latin typeface="Times New Roman" panose="02020603050405020304" pitchFamily="18" charset="0"/>
                <a:ea typeface="+mn-ea"/>
                <a:cs typeface="Times New Roman" panose="02020603050405020304" pitchFamily="18" charset="0"/>
              </a:rPr>
              <a:t> b</a:t>
            </a:r>
          </a:p>
          <a:p>
            <a:r>
              <a:rPr lang="zh-CN" altLang="zh-CN" b="1" dirty="0">
                <a:latin typeface="Times New Roman" panose="02020603050405020304" pitchFamily="18" charset="0"/>
                <a:ea typeface="+mn-ea"/>
                <a:cs typeface="Times New Roman" panose="02020603050405020304" pitchFamily="18" charset="0"/>
              </a:rPr>
              <a:t>生</a:t>
            </a:r>
            <a:endParaRPr lang="zh-CN" altLang="en-US" b="1" dirty="0">
              <a:latin typeface="Times New Roman" panose="02020603050405020304" pitchFamily="18" charset="0"/>
              <a:ea typeface="+mn-ea"/>
              <a:cs typeface="Times New Roman" panose="02020603050405020304" pitchFamily="18" charset="0"/>
            </a:endParaRPr>
          </a:p>
          <a:p>
            <a:r>
              <a:rPr lang="zh-CN" altLang="zh-CN" b="1" dirty="0">
                <a:latin typeface="Times New Roman" panose="02020603050405020304" pitchFamily="18" charset="0"/>
                <a:ea typeface="+mn-ea"/>
                <a:cs typeface="Times New Roman" panose="02020603050405020304" pitchFamily="18" charset="0"/>
              </a:rPr>
              <a:t>存</a:t>
            </a:r>
            <a:endParaRPr lang="zh-CN" altLang="en-US" b="1" dirty="0">
              <a:latin typeface="Times New Roman" panose="02020603050405020304" pitchFamily="18" charset="0"/>
              <a:ea typeface="+mn-ea"/>
              <a:cs typeface="Times New Roman" panose="02020603050405020304" pitchFamily="18" charset="0"/>
            </a:endParaRPr>
          </a:p>
          <a:p>
            <a:r>
              <a:rPr lang="zh-CN" altLang="zh-CN" b="1" dirty="0">
                <a:latin typeface="Times New Roman" panose="02020603050405020304" pitchFamily="18" charset="0"/>
                <a:ea typeface="+mn-ea"/>
                <a:cs typeface="Times New Roman" panose="02020603050405020304" pitchFamily="18" charset="0"/>
              </a:rPr>
              <a:t>期</a:t>
            </a:r>
            <a:endParaRPr lang="zh-CN" altLang="en-US" b="1" dirty="0">
              <a:latin typeface="Times New Roman" panose="02020603050405020304" pitchFamily="18" charset="0"/>
              <a:ea typeface="+mn-ea"/>
              <a:cs typeface="Times New Roman" panose="02020603050405020304" pitchFamily="18" charset="0"/>
            </a:endParaRPr>
          </a:p>
        </p:txBody>
      </p:sp>
      <p:sp>
        <p:nvSpPr>
          <p:cNvPr id="598019" name="Rectangle 3"/>
          <p:cNvSpPr>
            <a:spLocks noChangeArrowheads="1"/>
          </p:cNvSpPr>
          <p:nvPr/>
        </p:nvSpPr>
        <p:spPr bwMode="auto">
          <a:xfrm>
            <a:off x="7118351" y="2535239"/>
            <a:ext cx="595035" cy="20621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dirty="0">
                <a:latin typeface="Times New Roman" pitchFamily="18" charset="0"/>
              </a:rPr>
              <a:t> a</a:t>
            </a:r>
          </a:p>
          <a:p>
            <a:r>
              <a:rPr lang="zh-CN" altLang="zh-CN" sz="3200" b="1" dirty="0"/>
              <a:t>生</a:t>
            </a:r>
            <a:endParaRPr lang="zh-CN" altLang="en-US" sz="3200" b="1" dirty="0"/>
          </a:p>
          <a:p>
            <a:r>
              <a:rPr lang="zh-CN" altLang="zh-CN" sz="3200" b="1" dirty="0"/>
              <a:t>存</a:t>
            </a:r>
            <a:endParaRPr lang="zh-CN" altLang="en-US" sz="3200" b="1" dirty="0"/>
          </a:p>
          <a:p>
            <a:r>
              <a:rPr lang="zh-CN" altLang="zh-CN" sz="3200" b="1" dirty="0"/>
              <a:t>期</a:t>
            </a:r>
            <a:endParaRPr lang="zh-CN" altLang="en-US" sz="3200" b="1" dirty="0"/>
          </a:p>
        </p:txBody>
      </p:sp>
      <p:sp>
        <p:nvSpPr>
          <p:cNvPr id="52229" name="Text Box 4"/>
          <p:cNvSpPr txBox="1">
            <a:spLocks noChangeArrowheads="1"/>
          </p:cNvSpPr>
          <p:nvPr/>
        </p:nvSpPr>
        <p:spPr bwMode="auto">
          <a:xfrm>
            <a:off x="4121151" y="157164"/>
            <a:ext cx="3962400" cy="771623"/>
          </a:xfrm>
          <a:prstGeom prst="rect">
            <a:avLst/>
          </a:prstGeom>
          <a:solidFill>
            <a:schemeClr val="lt1"/>
          </a:solidFill>
          <a:effectLst/>
        </p:spPr>
        <p:txBody>
          <a:bodyPr vert="horz" lIns="91440" tIns="45720" rIns="91440" bIns="45720" rtlCol="0" anchor="ctr">
            <a:noAutofit/>
          </a:bodyPr>
          <a:lstStyle>
            <a:defPPr>
              <a:defRPr lang="zh-CN"/>
            </a:defPPr>
            <a:lvl1pPr algn="ctr">
              <a:spcBef>
                <a:spcPct val="0"/>
              </a:spcBef>
              <a:defRPr sz="4400" b="1">
                <a:solidFill>
                  <a:srgbClr val="800000"/>
                </a:solidFill>
                <a:effectLst/>
                <a:latin typeface="Arial" pitchFamily="34" charset="0"/>
                <a:ea typeface="黑体" pitchFamily="49" charset="-122"/>
                <a:cs typeface="+mj-cs"/>
              </a:defRPr>
            </a:lvl1pPr>
          </a:lstStyle>
          <a:p>
            <a:r>
              <a:rPr lang="zh-CN" altLang="en-US" dirty="0"/>
              <a:t>小   　结</a:t>
            </a:r>
          </a:p>
        </p:txBody>
      </p:sp>
      <p:grpSp>
        <p:nvGrpSpPr>
          <p:cNvPr id="598021" name="Group 5"/>
          <p:cNvGrpSpPr>
            <a:grpSpLocks/>
          </p:cNvGrpSpPr>
          <p:nvPr/>
        </p:nvGrpSpPr>
        <p:grpSpPr bwMode="auto">
          <a:xfrm>
            <a:off x="6965950" y="1028700"/>
            <a:ext cx="300038" cy="5540353"/>
            <a:chOff x="4072" y="840"/>
            <a:chExt cx="189" cy="2928"/>
          </a:xfrm>
        </p:grpSpPr>
        <p:sp>
          <p:nvSpPr>
            <p:cNvPr id="52238" name="Line 6"/>
            <p:cNvSpPr>
              <a:spLocks noChangeShapeType="1"/>
            </p:cNvSpPr>
            <p:nvPr/>
          </p:nvSpPr>
          <p:spPr bwMode="auto">
            <a:xfrm>
              <a:off x="4165" y="840"/>
              <a:ext cx="0" cy="292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2239" name="Line 7"/>
            <p:cNvSpPr>
              <a:spLocks noChangeShapeType="1"/>
            </p:cNvSpPr>
            <p:nvPr/>
          </p:nvSpPr>
          <p:spPr bwMode="auto">
            <a:xfrm>
              <a:off x="4072" y="840"/>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2240" name="Line 8"/>
            <p:cNvSpPr>
              <a:spLocks noChangeShapeType="1"/>
            </p:cNvSpPr>
            <p:nvPr/>
          </p:nvSpPr>
          <p:spPr bwMode="auto">
            <a:xfrm>
              <a:off x="4072" y="3768"/>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
        <p:nvSpPr>
          <p:cNvPr id="598025" name="Text Box 9"/>
          <p:cNvSpPr txBox="1">
            <a:spLocks noChangeArrowheads="1"/>
          </p:cNvSpPr>
          <p:nvPr/>
        </p:nvSpPr>
        <p:spPr bwMode="auto">
          <a:xfrm>
            <a:off x="3352800" y="927124"/>
            <a:ext cx="3352800" cy="5641929"/>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charset="-122"/>
              </a:defRPr>
            </a:lvl1pPr>
            <a:lvl2pPr>
              <a:defRPr sz="2700">
                <a:solidFill>
                  <a:schemeClr val="tx1"/>
                </a:solidFill>
                <a:latin typeface="Arial" charset="0"/>
                <a:ea typeface="宋体" charset="-122"/>
              </a:defRPr>
            </a:lvl2pPr>
            <a:lvl3pPr>
              <a:defRPr sz="23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l" eaLnBrk="0" hangingPunct="0">
              <a:lnSpc>
                <a:spcPts val="2700"/>
              </a:lnSpc>
            </a:pPr>
            <a:r>
              <a:rPr lang="en-US" altLang="zh-CN" b="1" dirty="0">
                <a:solidFill>
                  <a:srgbClr val="C00000"/>
                </a:solidFill>
                <a:latin typeface="Times New Roman" pitchFamily="18" charset="0"/>
                <a:ea typeface="隶书" pitchFamily="49" charset="-122"/>
              </a:rPr>
              <a:t>  </a:t>
            </a:r>
            <a:r>
              <a:rPr lang="en-US" altLang="zh-CN" b="1" dirty="0" err="1">
                <a:solidFill>
                  <a:srgbClr val="C00000"/>
                </a:solidFill>
                <a:latin typeface="Times New Roman" pitchFamily="18" charset="0"/>
                <a:ea typeface="隶书" pitchFamily="49" charset="-122"/>
              </a:rPr>
              <a:t>int</a:t>
            </a:r>
            <a:r>
              <a:rPr lang="en-US" altLang="zh-CN" b="1" dirty="0">
                <a:solidFill>
                  <a:srgbClr val="C00000"/>
                </a:solidFill>
                <a:latin typeface="Times New Roman" pitchFamily="18" charset="0"/>
                <a:ea typeface="隶书" pitchFamily="49" charset="-122"/>
              </a:rPr>
              <a:t> a;</a:t>
            </a:r>
          </a:p>
          <a:p>
            <a:pPr algn="l" eaLnBrk="0" hangingPunct="0">
              <a:lnSpc>
                <a:spcPts val="2700"/>
              </a:lnSpc>
            </a:pPr>
            <a:r>
              <a:rPr lang="en-US" altLang="zh-CN" b="1" dirty="0">
                <a:latin typeface="Times New Roman" pitchFamily="18" charset="0"/>
                <a:ea typeface="隶书" pitchFamily="49" charset="-122"/>
              </a:rPr>
              <a:t>  main( )</a:t>
            </a:r>
          </a:p>
          <a:p>
            <a:pPr algn="l" eaLnBrk="0" hangingPunct="0">
              <a:lnSpc>
                <a:spcPts val="2700"/>
              </a:lnSpc>
            </a:pPr>
            <a:r>
              <a:rPr lang="en-US" altLang="zh-CN" b="1" dirty="0">
                <a:latin typeface="Times New Roman" pitchFamily="18" charset="0"/>
                <a:ea typeface="隶书" pitchFamily="49" charset="-122"/>
              </a:rPr>
              <a:t>  {    …….</a:t>
            </a:r>
          </a:p>
          <a:p>
            <a:pPr algn="l" eaLnBrk="0" hangingPunct="0">
              <a:lnSpc>
                <a:spcPts val="2700"/>
              </a:lnSpc>
            </a:pPr>
            <a:r>
              <a:rPr lang="en-US" altLang="zh-CN" b="1" dirty="0">
                <a:latin typeface="Times New Roman" pitchFamily="18" charset="0"/>
                <a:ea typeface="隶书" pitchFamily="49" charset="-122"/>
              </a:rPr>
              <a:t>        f1;</a:t>
            </a:r>
          </a:p>
          <a:p>
            <a:pPr algn="l" eaLnBrk="0" hangingPunct="0">
              <a:lnSpc>
                <a:spcPts val="2700"/>
              </a:lnSpc>
            </a:pPr>
            <a:r>
              <a:rPr lang="en-US" altLang="zh-CN" b="1" dirty="0">
                <a:latin typeface="Times New Roman" pitchFamily="18" charset="0"/>
                <a:ea typeface="隶书" pitchFamily="49" charset="-122"/>
              </a:rPr>
              <a:t>        …….</a:t>
            </a:r>
          </a:p>
          <a:p>
            <a:pPr algn="l" eaLnBrk="0" hangingPunct="0">
              <a:lnSpc>
                <a:spcPts val="2700"/>
              </a:lnSpc>
            </a:pPr>
            <a:r>
              <a:rPr lang="en-US" altLang="zh-CN" b="1" dirty="0">
                <a:latin typeface="Times New Roman" pitchFamily="18" charset="0"/>
                <a:ea typeface="隶书" pitchFamily="49" charset="-122"/>
              </a:rPr>
              <a:t>  }</a:t>
            </a:r>
          </a:p>
          <a:p>
            <a:pPr algn="l" eaLnBrk="0" hangingPunct="0">
              <a:lnSpc>
                <a:spcPts val="2700"/>
              </a:lnSpc>
            </a:pPr>
            <a:r>
              <a:rPr lang="en-US" altLang="zh-CN" b="1" dirty="0">
                <a:latin typeface="Times New Roman" pitchFamily="18" charset="0"/>
                <a:ea typeface="隶书" pitchFamily="49" charset="-122"/>
              </a:rPr>
              <a:t>  f1( )</a:t>
            </a:r>
          </a:p>
          <a:p>
            <a:pPr algn="l" eaLnBrk="0" hangingPunct="0">
              <a:lnSpc>
                <a:spcPts val="2700"/>
              </a:lnSpc>
            </a:pPr>
            <a:r>
              <a:rPr lang="en-US" altLang="zh-CN" b="1" dirty="0">
                <a:latin typeface="Times New Roman" pitchFamily="18" charset="0"/>
                <a:ea typeface="隶书" pitchFamily="49" charset="-122"/>
              </a:rPr>
              <a:t>  {    </a:t>
            </a:r>
            <a:r>
              <a:rPr lang="en-US" altLang="zh-CN" b="1" dirty="0">
                <a:solidFill>
                  <a:srgbClr val="C00000"/>
                </a:solidFill>
                <a:latin typeface="Times New Roman" pitchFamily="18" charset="0"/>
                <a:ea typeface="隶书" pitchFamily="49" charset="-122"/>
              </a:rPr>
              <a:t>auto </a:t>
            </a:r>
            <a:r>
              <a:rPr lang="en-US" altLang="zh-CN" b="1" dirty="0" err="1">
                <a:solidFill>
                  <a:srgbClr val="C00000"/>
                </a:solidFill>
                <a:latin typeface="Times New Roman" pitchFamily="18" charset="0"/>
                <a:ea typeface="隶书" pitchFamily="49" charset="-122"/>
              </a:rPr>
              <a:t>int</a:t>
            </a:r>
            <a:r>
              <a:rPr lang="en-US" altLang="zh-CN" b="1" dirty="0">
                <a:solidFill>
                  <a:srgbClr val="C00000"/>
                </a:solidFill>
                <a:latin typeface="Times New Roman" pitchFamily="18" charset="0"/>
                <a:ea typeface="隶书" pitchFamily="49" charset="-122"/>
              </a:rPr>
              <a:t> b;</a:t>
            </a:r>
          </a:p>
          <a:p>
            <a:pPr algn="l" eaLnBrk="0" hangingPunct="0">
              <a:lnSpc>
                <a:spcPts val="2700"/>
              </a:lnSpc>
            </a:pPr>
            <a:r>
              <a:rPr lang="en-US" altLang="zh-CN" b="1" dirty="0">
                <a:latin typeface="Times New Roman" pitchFamily="18" charset="0"/>
                <a:ea typeface="隶书" pitchFamily="49" charset="-122"/>
              </a:rPr>
              <a:t>        ………</a:t>
            </a:r>
          </a:p>
          <a:p>
            <a:pPr algn="l" eaLnBrk="0" hangingPunct="0">
              <a:lnSpc>
                <a:spcPts val="2700"/>
              </a:lnSpc>
            </a:pPr>
            <a:r>
              <a:rPr lang="en-US" altLang="zh-CN" b="1" dirty="0">
                <a:latin typeface="Times New Roman" pitchFamily="18" charset="0"/>
                <a:ea typeface="隶书" pitchFamily="49" charset="-122"/>
              </a:rPr>
              <a:t>        f2;</a:t>
            </a:r>
          </a:p>
          <a:p>
            <a:pPr algn="l" eaLnBrk="0" hangingPunct="0">
              <a:lnSpc>
                <a:spcPts val="2700"/>
              </a:lnSpc>
            </a:pPr>
            <a:r>
              <a:rPr lang="en-US" altLang="zh-CN" b="1" dirty="0">
                <a:latin typeface="Times New Roman" pitchFamily="18" charset="0"/>
                <a:ea typeface="隶书" pitchFamily="49" charset="-122"/>
              </a:rPr>
              <a:t>        ……..</a:t>
            </a:r>
          </a:p>
          <a:p>
            <a:pPr algn="l" eaLnBrk="0" hangingPunct="0">
              <a:lnSpc>
                <a:spcPts val="2700"/>
              </a:lnSpc>
            </a:pPr>
            <a:r>
              <a:rPr lang="en-US" altLang="zh-CN" b="1" dirty="0">
                <a:latin typeface="Times New Roman" pitchFamily="18" charset="0"/>
                <a:ea typeface="隶书" pitchFamily="49" charset="-122"/>
              </a:rPr>
              <a:t>  }</a:t>
            </a:r>
          </a:p>
          <a:p>
            <a:pPr algn="l" eaLnBrk="0" hangingPunct="0">
              <a:lnSpc>
                <a:spcPts val="2700"/>
              </a:lnSpc>
            </a:pPr>
            <a:r>
              <a:rPr lang="en-US" altLang="zh-CN" b="1" dirty="0">
                <a:latin typeface="Times New Roman" pitchFamily="18" charset="0"/>
                <a:ea typeface="隶书" pitchFamily="49" charset="-122"/>
              </a:rPr>
              <a:t>  f2( )</a:t>
            </a:r>
          </a:p>
          <a:p>
            <a:pPr algn="l" eaLnBrk="0" hangingPunct="0">
              <a:lnSpc>
                <a:spcPts val="2700"/>
              </a:lnSpc>
            </a:pPr>
            <a:r>
              <a:rPr lang="en-US" altLang="zh-CN" b="1" dirty="0">
                <a:latin typeface="Times New Roman" pitchFamily="18" charset="0"/>
                <a:ea typeface="隶书" pitchFamily="49" charset="-122"/>
              </a:rPr>
              <a:t>  {    </a:t>
            </a:r>
            <a:r>
              <a:rPr lang="en-US" altLang="zh-CN" b="1" dirty="0">
                <a:solidFill>
                  <a:srgbClr val="C00000"/>
                </a:solidFill>
                <a:latin typeface="Times New Roman" pitchFamily="18" charset="0"/>
                <a:ea typeface="隶书" pitchFamily="49" charset="-122"/>
              </a:rPr>
              <a:t>static </a:t>
            </a:r>
            <a:r>
              <a:rPr lang="en-US" altLang="zh-CN" b="1" dirty="0" err="1">
                <a:solidFill>
                  <a:srgbClr val="C00000"/>
                </a:solidFill>
                <a:latin typeface="Times New Roman" pitchFamily="18" charset="0"/>
                <a:ea typeface="隶书" pitchFamily="49" charset="-122"/>
              </a:rPr>
              <a:t>int</a:t>
            </a:r>
            <a:r>
              <a:rPr lang="en-US" altLang="zh-CN" b="1" dirty="0">
                <a:solidFill>
                  <a:srgbClr val="C00000"/>
                </a:solidFill>
                <a:latin typeface="Times New Roman" pitchFamily="18" charset="0"/>
                <a:ea typeface="隶书" pitchFamily="49" charset="-122"/>
              </a:rPr>
              <a:t> c;</a:t>
            </a:r>
          </a:p>
          <a:p>
            <a:pPr algn="l" eaLnBrk="0" hangingPunct="0">
              <a:lnSpc>
                <a:spcPts val="2700"/>
              </a:lnSpc>
            </a:pPr>
            <a:r>
              <a:rPr lang="en-US" altLang="zh-CN" b="1" dirty="0">
                <a:latin typeface="Times New Roman" pitchFamily="18" charset="0"/>
                <a:ea typeface="隶书" pitchFamily="49" charset="-122"/>
              </a:rPr>
              <a:t>        ………</a:t>
            </a:r>
          </a:p>
          <a:p>
            <a:pPr algn="l" eaLnBrk="0" hangingPunct="0">
              <a:lnSpc>
                <a:spcPts val="2700"/>
              </a:lnSpc>
            </a:pPr>
            <a:r>
              <a:rPr lang="en-US" altLang="zh-CN" b="1" dirty="0">
                <a:latin typeface="Times New Roman" pitchFamily="18" charset="0"/>
                <a:ea typeface="隶书" pitchFamily="49" charset="-122"/>
              </a:rPr>
              <a:t>  }</a:t>
            </a:r>
          </a:p>
        </p:txBody>
      </p:sp>
      <p:sp>
        <p:nvSpPr>
          <p:cNvPr id="598026" name="Line 10"/>
          <p:cNvSpPr>
            <a:spLocks noChangeShapeType="1"/>
          </p:cNvSpPr>
          <p:nvPr/>
        </p:nvSpPr>
        <p:spPr bwMode="auto">
          <a:xfrm flipH="1">
            <a:off x="8446864" y="3441700"/>
            <a:ext cx="25400" cy="311785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98027" name="Rectangle 11"/>
          <p:cNvSpPr>
            <a:spLocks noChangeArrowheads="1"/>
          </p:cNvSpPr>
          <p:nvPr/>
        </p:nvSpPr>
        <p:spPr bwMode="auto">
          <a:xfrm>
            <a:off x="7758114" y="2566989"/>
            <a:ext cx="595035" cy="20621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dirty="0">
                <a:latin typeface="Times New Roman" pitchFamily="18" charset="0"/>
              </a:rPr>
              <a:t> c</a:t>
            </a:r>
          </a:p>
          <a:p>
            <a:r>
              <a:rPr lang="zh-CN" altLang="zh-CN" sz="3200" b="1" dirty="0"/>
              <a:t>生</a:t>
            </a:r>
            <a:endParaRPr lang="zh-CN" altLang="en-US" sz="3200" b="1" dirty="0"/>
          </a:p>
          <a:p>
            <a:r>
              <a:rPr lang="zh-CN" altLang="zh-CN" sz="3200" b="1" dirty="0"/>
              <a:t>存</a:t>
            </a:r>
            <a:endParaRPr lang="zh-CN" altLang="en-US" sz="3200" b="1" dirty="0"/>
          </a:p>
          <a:p>
            <a:r>
              <a:rPr lang="zh-CN" altLang="zh-CN" sz="3200" b="1" dirty="0"/>
              <a:t>期</a:t>
            </a:r>
            <a:endParaRPr lang="zh-CN" altLang="en-US" sz="3200" b="1" dirty="0"/>
          </a:p>
        </p:txBody>
      </p:sp>
      <p:grpSp>
        <p:nvGrpSpPr>
          <p:cNvPr id="598028" name="Group 12"/>
          <p:cNvGrpSpPr>
            <a:grpSpLocks/>
          </p:cNvGrpSpPr>
          <p:nvPr/>
        </p:nvGrpSpPr>
        <p:grpSpPr bwMode="auto">
          <a:xfrm>
            <a:off x="7656514" y="1028700"/>
            <a:ext cx="399117" cy="5540353"/>
            <a:chOff x="4507" y="840"/>
            <a:chExt cx="189" cy="2928"/>
          </a:xfrm>
        </p:grpSpPr>
        <p:sp>
          <p:nvSpPr>
            <p:cNvPr id="52235" name="Line 13"/>
            <p:cNvSpPr>
              <a:spLocks noChangeShapeType="1"/>
            </p:cNvSpPr>
            <p:nvPr/>
          </p:nvSpPr>
          <p:spPr bwMode="auto">
            <a:xfrm>
              <a:off x="4600" y="840"/>
              <a:ext cx="0" cy="292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2236" name="Line 14"/>
            <p:cNvSpPr>
              <a:spLocks noChangeShapeType="1"/>
            </p:cNvSpPr>
            <p:nvPr/>
          </p:nvSpPr>
          <p:spPr bwMode="auto">
            <a:xfrm>
              <a:off x="4507" y="840"/>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2237" name="Line 15"/>
            <p:cNvSpPr>
              <a:spLocks noChangeShapeType="1"/>
            </p:cNvSpPr>
            <p:nvPr/>
          </p:nvSpPr>
          <p:spPr bwMode="auto">
            <a:xfrm>
              <a:off x="4507" y="3768"/>
              <a:ext cx="1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Tree>
    <p:extLst>
      <p:ext uri="{BB962C8B-B14F-4D97-AF65-F5344CB8AC3E}">
        <p14:creationId xmlns:p14="http://schemas.microsoft.com/office/powerpoint/2010/main" val="2590257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98025"/>
                                        </p:tgtEl>
                                        <p:attrNameLst>
                                          <p:attrName>style.visibility</p:attrName>
                                        </p:attrNameLst>
                                      </p:cBhvr>
                                      <p:to>
                                        <p:strVal val="visible"/>
                                      </p:to>
                                    </p:set>
                                    <p:animEffect transition="in" filter="dissolve">
                                      <p:cBhvr>
                                        <p:cTn id="7" dur="500"/>
                                        <p:tgtEl>
                                          <p:spTgt spid="5980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598021"/>
                                        </p:tgtEl>
                                        <p:attrNameLst>
                                          <p:attrName>style.visibility</p:attrName>
                                        </p:attrNameLst>
                                      </p:cBhvr>
                                      <p:to>
                                        <p:strVal val="visible"/>
                                      </p:to>
                                    </p:set>
                                    <p:animEffect transition="in" filter="barn(outHorizontal)">
                                      <p:cBhvr>
                                        <p:cTn id="12" dur="500"/>
                                        <p:tgtEl>
                                          <p:spTgt spid="598021"/>
                                        </p:tgtEl>
                                      </p:cBhvr>
                                    </p:animEffect>
                                  </p:childTnLst>
                                  <p:subTnLst>
                                    <p:animClr clrSpc="rgb" dir="cw">
                                      <p:cBhvr override="childStyle">
                                        <p:cTn dur="1" fill="hold" display="0" masterRel="nextClick" afterEffect="1"/>
                                        <p:tgtEl>
                                          <p:spTgt spid="598021"/>
                                        </p:tgtEl>
                                        <p:attrNameLst>
                                          <p:attrName>ppt_c</p:attrName>
                                        </p:attrNameLst>
                                      </p:cBhvr>
                                      <p:to>
                                        <a:srgbClr val="FF330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98019"/>
                                        </p:tgtEl>
                                        <p:attrNameLst>
                                          <p:attrName>style.visibility</p:attrName>
                                        </p:attrNameLst>
                                      </p:cBhvr>
                                      <p:to>
                                        <p:strVal val="visible"/>
                                      </p:to>
                                    </p:set>
                                    <p:animEffect transition="in" filter="wipe(up)">
                                      <p:cBhvr>
                                        <p:cTn id="17" dur="500"/>
                                        <p:tgtEl>
                                          <p:spTgt spid="5980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598028"/>
                                        </p:tgtEl>
                                        <p:attrNameLst>
                                          <p:attrName>style.visibility</p:attrName>
                                        </p:attrNameLst>
                                      </p:cBhvr>
                                      <p:to>
                                        <p:strVal val="visible"/>
                                      </p:to>
                                    </p:set>
                                    <p:animEffect transition="in" filter="barn(outHorizontal)">
                                      <p:cBhvr>
                                        <p:cTn id="22" dur="500"/>
                                        <p:tgtEl>
                                          <p:spTgt spid="598028"/>
                                        </p:tgtEl>
                                      </p:cBhvr>
                                    </p:animEffect>
                                  </p:childTnLst>
                                  <p:subTnLst>
                                    <p:animClr clrSpc="rgb" dir="cw">
                                      <p:cBhvr override="childStyle">
                                        <p:cTn dur="1" fill="hold" display="0" masterRel="nextClick" afterEffect="1"/>
                                        <p:tgtEl>
                                          <p:spTgt spid="598028"/>
                                        </p:tgtEl>
                                        <p:attrNameLst>
                                          <p:attrName>ppt_c</p:attrName>
                                        </p:attrNameLst>
                                      </p:cBhvr>
                                      <p:to>
                                        <a:srgbClr val="FF3300"/>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98027"/>
                                        </p:tgtEl>
                                        <p:attrNameLst>
                                          <p:attrName>style.visibility</p:attrName>
                                        </p:attrNameLst>
                                      </p:cBhvr>
                                      <p:to>
                                        <p:strVal val="visible"/>
                                      </p:to>
                                    </p:set>
                                    <p:animEffect transition="in" filter="wipe(up)">
                                      <p:cBhvr>
                                        <p:cTn id="27" dur="500"/>
                                        <p:tgtEl>
                                          <p:spTgt spid="5980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598026"/>
                                        </p:tgtEl>
                                        <p:attrNameLst>
                                          <p:attrName>style.visibility</p:attrName>
                                        </p:attrNameLst>
                                      </p:cBhvr>
                                      <p:to>
                                        <p:strVal val="visible"/>
                                      </p:to>
                                    </p:set>
                                    <p:animEffect transition="in" filter="barn(outHorizontal)">
                                      <p:cBhvr>
                                        <p:cTn id="32" dur="500"/>
                                        <p:tgtEl>
                                          <p:spTgt spid="598026"/>
                                        </p:tgtEl>
                                      </p:cBhvr>
                                    </p:animEffect>
                                  </p:childTnLst>
                                  <p:subTnLst>
                                    <p:animClr clrSpc="rgb" dir="cw">
                                      <p:cBhvr override="childStyle">
                                        <p:cTn dur="1" fill="hold" display="0" masterRel="nextClick" afterEffect="1"/>
                                        <p:tgtEl>
                                          <p:spTgt spid="598026"/>
                                        </p:tgtEl>
                                        <p:attrNameLst>
                                          <p:attrName>ppt_c</p:attrName>
                                        </p:attrNameLst>
                                      </p:cBhvr>
                                      <p:to>
                                        <a:schemeClr val="tx1"/>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98018"/>
                                        </p:tgtEl>
                                        <p:attrNameLst>
                                          <p:attrName>style.visibility</p:attrName>
                                        </p:attrNameLst>
                                      </p:cBhvr>
                                      <p:to>
                                        <p:strVal val="visible"/>
                                      </p:to>
                                    </p:set>
                                    <p:animEffect transition="in" filter="wipe(up)">
                                      <p:cBhvr>
                                        <p:cTn id="37" dur="500"/>
                                        <p:tgtEl>
                                          <p:spTgt spid="598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18" grpId="0" autoUpdateAnimBg="0"/>
      <p:bldP spid="598019" grpId="0" autoUpdateAnimBg="0"/>
      <p:bldP spid="598025" grpId="0" animBg="1" autoUpdateAnimBg="0"/>
      <p:bldP spid="598026" grpId="0" animBg="1"/>
      <p:bldP spid="598027"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641912" y="0"/>
            <a:ext cx="9816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950759" y="0"/>
            <a:ext cx="9816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259606" y="0"/>
            <a:ext cx="98163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568452" y="0"/>
            <a:ext cx="9816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540000" y="1524000"/>
            <a:ext cx="3719606"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15210" y="1524000"/>
            <a:ext cx="363679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2621337" y="1941094"/>
            <a:ext cx="6949338" cy="1446550"/>
          </a:xfrm>
          <a:prstGeom prst="rect">
            <a:avLst/>
          </a:prstGeom>
          <a:noFill/>
        </p:spPr>
        <p:txBody>
          <a:bodyPr wrap="none" rtlCol="0">
            <a:spAutoFit/>
          </a:bodyPr>
          <a:lstStyle/>
          <a:p>
            <a:pPr algn="ctr"/>
            <a:r>
              <a:rPr lang="en-US" altLang="zh-CN"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rPr>
              <a:t>SECTION 07</a:t>
            </a:r>
            <a:endParaRPr lang="zh-CN" altLang="en-US"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endParaRPr>
          </a:p>
        </p:txBody>
      </p:sp>
      <p:sp>
        <p:nvSpPr>
          <p:cNvPr id="30" name="文本框 29"/>
          <p:cNvSpPr txBox="1"/>
          <p:nvPr/>
        </p:nvSpPr>
        <p:spPr>
          <a:xfrm>
            <a:off x="3579946" y="3310581"/>
            <a:ext cx="5032148" cy="923330"/>
          </a:xfrm>
          <a:prstGeom prst="rect">
            <a:avLst/>
          </a:prstGeom>
          <a:noFill/>
        </p:spPr>
        <p:txBody>
          <a:bodyPr wrap="none" rtlCol="0">
            <a:spAutoFit/>
          </a:bodyPr>
          <a:lstStyle/>
          <a:p>
            <a:pPr algn="ctr"/>
            <a:r>
              <a:rPr lang="zh-CN" altLang="en-US" sz="5400" b="1" dirty="0">
                <a:solidFill>
                  <a:schemeClr val="tx1">
                    <a:lumMod val="65000"/>
                    <a:lumOff val="35000"/>
                  </a:schemeClr>
                </a:solidFill>
                <a:latin typeface="微软雅黑" panose="020B0503020204020204" pitchFamily="34" charset="-122"/>
                <a:ea typeface="微软雅黑" panose="020B0503020204020204" pitchFamily="34" charset="-122"/>
              </a:rPr>
              <a:t>模块化程序设计</a:t>
            </a:r>
          </a:p>
        </p:txBody>
      </p:sp>
      <p:sp>
        <p:nvSpPr>
          <p:cNvPr id="31" name="文本框 30"/>
          <p:cNvSpPr txBox="1"/>
          <p:nvPr/>
        </p:nvSpPr>
        <p:spPr>
          <a:xfrm>
            <a:off x="3058603" y="4233911"/>
            <a:ext cx="6200747" cy="408125"/>
          </a:xfrm>
          <a:prstGeom prst="rect">
            <a:avLst/>
          </a:prstGeom>
          <a:noFill/>
        </p:spPr>
        <p:txBody>
          <a:bodyPr wrap="square" rtlCol="0">
            <a:spAutoFit/>
          </a:bodyPr>
          <a:lstStyle/>
          <a:p>
            <a:pPr algn="dist">
              <a:lnSpc>
                <a:spcPct val="114000"/>
              </a:lnSpc>
            </a:pPr>
            <a:r>
              <a:rPr lang="en-US" altLang="zh-CN" dirty="0"/>
              <a:t>MODULAR PROGRAMMING</a:t>
            </a:r>
            <a:endParaRPr lang="en-US" altLang="zh-CN" sz="1600" dirty="0">
              <a:solidFill>
                <a:schemeClr val="bg1">
                  <a:lumMod val="65000"/>
                </a:schemeClr>
              </a:solidFill>
              <a:ea typeface="汉仪趣黑W" panose="00020600040101010101" pitchFamily="18" charset="-122"/>
            </a:endParaRPr>
          </a:p>
        </p:txBody>
      </p:sp>
    </p:spTree>
    <p:extLst>
      <p:ext uri="{BB962C8B-B14F-4D97-AF65-F5344CB8AC3E}">
        <p14:creationId xmlns:p14="http://schemas.microsoft.com/office/powerpoint/2010/main" val="1449477572"/>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750" fill="hold"/>
                                        <p:tgtEl>
                                          <p:spTgt spid="25"/>
                                        </p:tgtEl>
                                        <p:attrNameLst>
                                          <p:attrName>ppt_x</p:attrName>
                                        </p:attrNameLst>
                                      </p:cBhvr>
                                      <p:tavLst>
                                        <p:tav tm="0">
                                          <p:val>
                                            <p:strVal val="#ppt_x"/>
                                          </p:val>
                                        </p:tav>
                                        <p:tav tm="100000">
                                          <p:val>
                                            <p:strVal val="#ppt_x"/>
                                          </p:val>
                                        </p:tav>
                                      </p:tavLst>
                                    </p:anim>
                                    <p:anim calcmode="lin" valueType="num">
                                      <p:cBhvr additive="base">
                                        <p:cTn id="12" dur="75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2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750" fill="hold"/>
                                        <p:tgtEl>
                                          <p:spTgt spid="26"/>
                                        </p:tgtEl>
                                        <p:attrNameLst>
                                          <p:attrName>ppt_x</p:attrName>
                                        </p:attrNameLst>
                                      </p:cBhvr>
                                      <p:tavLst>
                                        <p:tav tm="0">
                                          <p:val>
                                            <p:strVal val="#ppt_x"/>
                                          </p:val>
                                        </p:tav>
                                        <p:tav tm="100000">
                                          <p:val>
                                            <p:strVal val="#ppt_x"/>
                                          </p:val>
                                        </p:tav>
                                      </p:tavLst>
                                    </p:anim>
                                    <p:anim calcmode="lin" valueType="num">
                                      <p:cBhvr additive="base">
                                        <p:cTn id="16" dur="75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750" fill="hold"/>
                                        <p:tgtEl>
                                          <p:spTgt spid="27"/>
                                        </p:tgtEl>
                                        <p:attrNameLst>
                                          <p:attrName>ppt_x</p:attrName>
                                        </p:attrNameLst>
                                      </p:cBhvr>
                                      <p:tavLst>
                                        <p:tav tm="0">
                                          <p:val>
                                            <p:strVal val="#ppt_x"/>
                                          </p:val>
                                        </p:tav>
                                        <p:tav tm="100000">
                                          <p:val>
                                            <p:strVal val="#ppt_x"/>
                                          </p:val>
                                        </p:tav>
                                      </p:tavLst>
                                    </p:anim>
                                    <p:anim calcmode="lin" valueType="num">
                                      <p:cBhvr additive="base">
                                        <p:cTn id="20" dur="750" fill="hold"/>
                                        <p:tgtEl>
                                          <p:spTgt spid="27"/>
                                        </p:tgtEl>
                                        <p:attrNameLst>
                                          <p:attrName>ppt_y</p:attrName>
                                        </p:attrNameLst>
                                      </p:cBhvr>
                                      <p:tavLst>
                                        <p:tav tm="0">
                                          <p:val>
                                            <p:strVal val="1+#ppt_h/2"/>
                                          </p:val>
                                        </p:tav>
                                        <p:tav tm="100000">
                                          <p:val>
                                            <p:strVal val="#ppt_y"/>
                                          </p:val>
                                        </p:tav>
                                      </p:tavLst>
                                    </p:anim>
                                  </p:childTnLst>
                                </p:cTn>
                              </p:par>
                            </p:childTnLst>
                          </p:cTn>
                        </p:par>
                        <p:par>
                          <p:cTn id="21" fill="hold">
                            <p:stCondLst>
                              <p:cond delay="1050"/>
                            </p:stCondLst>
                            <p:childTnLst>
                              <p:par>
                                <p:cTn id="22" presetID="2" presetClass="entr" presetSubtype="8"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additive="base">
                                        <p:cTn id="24" dur="1250" fill="hold"/>
                                        <p:tgtEl>
                                          <p:spTgt spid="28"/>
                                        </p:tgtEl>
                                        <p:attrNameLst>
                                          <p:attrName>ppt_x</p:attrName>
                                        </p:attrNameLst>
                                      </p:cBhvr>
                                      <p:tavLst>
                                        <p:tav tm="0">
                                          <p:val>
                                            <p:strVal val="0-#ppt_w/2"/>
                                          </p:val>
                                        </p:tav>
                                        <p:tav tm="100000">
                                          <p:val>
                                            <p:strVal val="#ppt_x"/>
                                          </p:val>
                                        </p:tav>
                                      </p:tavLst>
                                    </p:anim>
                                    <p:anim calcmode="lin" valueType="num">
                                      <p:cBhvr additive="base">
                                        <p:cTn id="25" dur="1250" fill="hold"/>
                                        <p:tgtEl>
                                          <p:spTgt spid="2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1250" fill="hold"/>
                                        <p:tgtEl>
                                          <p:spTgt spid="32"/>
                                        </p:tgtEl>
                                        <p:attrNameLst>
                                          <p:attrName>ppt_x</p:attrName>
                                        </p:attrNameLst>
                                      </p:cBhvr>
                                      <p:tavLst>
                                        <p:tav tm="0">
                                          <p:val>
                                            <p:strVal val="1+#ppt_w/2"/>
                                          </p:val>
                                        </p:tav>
                                        <p:tav tm="100000">
                                          <p:val>
                                            <p:strVal val="#ppt_x"/>
                                          </p:val>
                                        </p:tav>
                                      </p:tavLst>
                                    </p:anim>
                                    <p:anim calcmode="lin" valueType="num">
                                      <p:cBhvr additive="base">
                                        <p:cTn id="29" dur="1250" fill="hold"/>
                                        <p:tgtEl>
                                          <p:spTgt spid="32"/>
                                        </p:tgtEl>
                                        <p:attrNameLst>
                                          <p:attrName>ppt_y</p:attrName>
                                        </p:attrNameLst>
                                      </p:cBhvr>
                                      <p:tavLst>
                                        <p:tav tm="0">
                                          <p:val>
                                            <p:strVal val="#ppt_y"/>
                                          </p:val>
                                        </p:tav>
                                        <p:tav tm="100000">
                                          <p:val>
                                            <p:strVal val="#ppt_y"/>
                                          </p:val>
                                        </p:tav>
                                      </p:tavLst>
                                    </p:anim>
                                  </p:childTnLst>
                                </p:cTn>
                              </p:par>
                            </p:childTnLst>
                          </p:cTn>
                        </p:par>
                        <p:par>
                          <p:cTn id="30" fill="hold">
                            <p:stCondLst>
                              <p:cond delay="2300"/>
                            </p:stCondLst>
                            <p:childTnLst>
                              <p:par>
                                <p:cTn id="31" presetID="53" presetClass="entr" presetSubtype="52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Effect transition="in" filter="fade">
                                      <p:cBhvr>
                                        <p:cTn id="35" dur="500"/>
                                        <p:tgtEl>
                                          <p:spTgt spid="29"/>
                                        </p:tgtEl>
                                      </p:cBhvr>
                                    </p:animEffect>
                                    <p:anim calcmode="lin" valueType="num">
                                      <p:cBhvr>
                                        <p:cTn id="36" dur="500" fill="hold"/>
                                        <p:tgtEl>
                                          <p:spTgt spid="29"/>
                                        </p:tgtEl>
                                        <p:attrNameLst>
                                          <p:attrName>ppt_x</p:attrName>
                                        </p:attrNameLst>
                                      </p:cBhvr>
                                      <p:tavLst>
                                        <p:tav tm="0">
                                          <p:val>
                                            <p:fltVal val="0.5"/>
                                          </p:val>
                                        </p:tav>
                                        <p:tav tm="100000">
                                          <p:val>
                                            <p:strVal val="#ppt_x"/>
                                          </p:val>
                                        </p:tav>
                                      </p:tavLst>
                                    </p:anim>
                                    <p:anim calcmode="lin" valueType="num">
                                      <p:cBhvr>
                                        <p:cTn id="37" dur="500" fill="hold"/>
                                        <p:tgtEl>
                                          <p:spTgt spid="29"/>
                                        </p:tgtEl>
                                        <p:attrNameLst>
                                          <p:attrName>ppt_y</p:attrName>
                                        </p:attrNameLst>
                                      </p:cBhvr>
                                      <p:tavLst>
                                        <p:tav tm="0">
                                          <p:val>
                                            <p:fltVal val="0.5"/>
                                          </p:val>
                                        </p:tav>
                                        <p:tav tm="100000">
                                          <p:val>
                                            <p:strVal val="#ppt_y"/>
                                          </p:val>
                                        </p:tav>
                                      </p:tavLst>
                                    </p:anim>
                                  </p:childTnLst>
                                </p:cTn>
                              </p:par>
                            </p:childTnLst>
                          </p:cTn>
                        </p:par>
                        <p:par>
                          <p:cTn id="38" fill="hold">
                            <p:stCondLst>
                              <p:cond delay="2800"/>
                            </p:stCondLst>
                            <p:childTnLst>
                              <p:par>
                                <p:cTn id="39" presetID="53" presetClass="entr" presetSubtype="528" fill="hold" grpId="0" nodeType="afterEffect">
                                  <p:stCondLst>
                                    <p:cond delay="0"/>
                                  </p:stCondLst>
                                  <p:iterate type="lt">
                                    <p:tmPct val="10000"/>
                                  </p:iterate>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anim calcmode="lin" valueType="num">
                                      <p:cBhvr>
                                        <p:cTn id="44" dur="500" fill="hold"/>
                                        <p:tgtEl>
                                          <p:spTgt spid="30"/>
                                        </p:tgtEl>
                                        <p:attrNameLst>
                                          <p:attrName>ppt_x</p:attrName>
                                        </p:attrNameLst>
                                      </p:cBhvr>
                                      <p:tavLst>
                                        <p:tav tm="0">
                                          <p:val>
                                            <p:fltVal val="0.5"/>
                                          </p:val>
                                        </p:tav>
                                        <p:tav tm="100000">
                                          <p:val>
                                            <p:strVal val="#ppt_x"/>
                                          </p:val>
                                        </p:tav>
                                      </p:tavLst>
                                    </p:anim>
                                    <p:anim calcmode="lin" valueType="num">
                                      <p:cBhvr>
                                        <p:cTn id="45" dur="500" fill="hold"/>
                                        <p:tgtEl>
                                          <p:spTgt spid="30"/>
                                        </p:tgtEl>
                                        <p:attrNameLst>
                                          <p:attrName>ppt_y</p:attrName>
                                        </p:attrNameLst>
                                      </p:cBhvr>
                                      <p:tavLst>
                                        <p:tav tm="0">
                                          <p:val>
                                            <p:fltVal val="0.5"/>
                                          </p:val>
                                        </p:tav>
                                        <p:tav tm="100000">
                                          <p:val>
                                            <p:strVal val="#ppt_y"/>
                                          </p:val>
                                        </p:tav>
                                      </p:tavLst>
                                    </p:anim>
                                  </p:childTnLst>
                                </p:cTn>
                              </p:par>
                            </p:childTnLst>
                          </p:cTn>
                        </p:par>
                        <p:par>
                          <p:cTn id="46" fill="hold">
                            <p:stCondLst>
                              <p:cond delay="3600"/>
                            </p:stCondLst>
                            <p:childTnLst>
                              <p:par>
                                <p:cTn id="47" presetID="14" presetClass="entr" presetSubtype="10" fill="hold" grpId="0"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randombar(horizontal)">
                                      <p:cBhvr>
                                        <p:cTn id="4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32" grpId="0" animBg="1"/>
      <p:bldP spid="29" grpId="0"/>
      <p:bldP spid="30" grpId="0"/>
      <p:bldP spid="31"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2"/>
          </p:nvPr>
        </p:nvSpPr>
        <p:spPr/>
        <p:txBody>
          <a:bodyPr/>
          <a:lstStyle/>
          <a:p>
            <a:pPr>
              <a:defRPr/>
            </a:pPr>
            <a:endParaRPr lang="en-US" altLang="zh-CN" dirty="0"/>
          </a:p>
        </p:txBody>
      </p:sp>
      <p:sp>
        <p:nvSpPr>
          <p:cNvPr id="10" name="矩形 9"/>
          <p:cNvSpPr/>
          <p:nvPr/>
        </p:nvSpPr>
        <p:spPr>
          <a:xfrm>
            <a:off x="3018016" y="155700"/>
            <a:ext cx="6205545"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en-US" altLang="zh-CN" sz="4400" b="1" dirty="0">
                <a:solidFill>
                  <a:srgbClr val="800000"/>
                </a:solidFill>
                <a:latin typeface="Arial" pitchFamily="34" charset="0"/>
                <a:ea typeface="黑体" pitchFamily="49" charset="-122"/>
                <a:cs typeface="+mj-cs"/>
              </a:rPr>
              <a:t>7.7 </a:t>
            </a:r>
            <a:r>
              <a:rPr lang="zh-CN" altLang="en-US" sz="4400" b="1" dirty="0">
                <a:solidFill>
                  <a:srgbClr val="800000"/>
                </a:solidFill>
                <a:latin typeface="Arial" pitchFamily="34" charset="0"/>
                <a:ea typeface="黑体" pitchFamily="49" charset="-122"/>
                <a:cs typeface="+mj-cs"/>
              </a:rPr>
              <a:t>模块化程序设计</a:t>
            </a:r>
            <a:endParaRPr lang="zh-CN" altLang="zh-CN" sz="4400" b="1" dirty="0">
              <a:solidFill>
                <a:srgbClr val="800000"/>
              </a:solidFill>
              <a:latin typeface="Arial" pitchFamily="34" charset="0"/>
              <a:ea typeface="黑体" pitchFamily="49" charset="-122"/>
              <a:cs typeface="+mj-cs"/>
            </a:endParaRPr>
          </a:p>
        </p:txBody>
      </p:sp>
      <p:sp>
        <p:nvSpPr>
          <p:cNvPr id="11" name="椭圆 10">
            <a:extLst>
              <a:ext uri="{FF2B5EF4-FFF2-40B4-BE49-F238E27FC236}">
                <a16:creationId xmlns:a16="http://schemas.microsoft.com/office/drawing/2014/main" id="{03FC38E5-80E3-4E27-A6AB-F014ADB9A62B}"/>
              </a:ext>
            </a:extLst>
          </p:cNvPr>
          <p:cNvSpPr/>
          <p:nvPr/>
        </p:nvSpPr>
        <p:spPr bwMode="auto">
          <a:xfrm>
            <a:off x="4394302" y="1585185"/>
            <a:ext cx="2520280" cy="792088"/>
          </a:xfrm>
          <a:prstGeom prst="ellipse">
            <a:avLst/>
          </a:prstGeom>
          <a:gradFill>
            <a:gsLst>
              <a:gs pos="0">
                <a:srgbClr val="3366FF"/>
              </a:gs>
              <a:gs pos="100000">
                <a:srgbClr val="000099"/>
              </a:gs>
            </a:gsLst>
            <a:lin ang="5400000" scaled="1"/>
          </a:gradFill>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wrap="none" lIns="90000" tIns="46800" rIns="90000" bIns="46800" anchor="ctr"/>
          <a:lstStyle/>
          <a:p>
            <a:pPr>
              <a:defRPr/>
            </a:pPr>
            <a:r>
              <a:rPr lang="zh-CN" altLang="en-US" sz="2800" b="1" dirty="0">
                <a:solidFill>
                  <a:schemeClr val="bg1"/>
                </a:solidFill>
                <a:latin typeface="方正姚体" pitchFamily="2" charset="-122"/>
                <a:ea typeface="方正姚体" pitchFamily="2" charset="-122"/>
              </a:rPr>
              <a:t>软件项目</a:t>
            </a:r>
          </a:p>
        </p:txBody>
      </p:sp>
      <p:sp>
        <p:nvSpPr>
          <p:cNvPr id="12" name="右箭头 29">
            <a:extLst>
              <a:ext uri="{FF2B5EF4-FFF2-40B4-BE49-F238E27FC236}">
                <a16:creationId xmlns:a16="http://schemas.microsoft.com/office/drawing/2014/main" id="{4680A33E-9E44-40F9-86EF-88BCF89CBA93}"/>
              </a:ext>
            </a:extLst>
          </p:cNvPr>
          <p:cNvSpPr/>
          <p:nvPr/>
        </p:nvSpPr>
        <p:spPr bwMode="auto">
          <a:xfrm rot="5400000">
            <a:off x="5455760" y="2377272"/>
            <a:ext cx="416023" cy="416023"/>
          </a:xfrm>
          <a:prstGeom prst="right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endParaRPr lang="zh-CN" altLang="en-US">
              <a:solidFill>
                <a:schemeClr val="tx1"/>
              </a:solidFill>
              <a:ea typeface="华文细黑" pitchFamily="2" charset="-122"/>
            </a:endParaRPr>
          </a:p>
        </p:txBody>
      </p:sp>
      <p:sp>
        <p:nvSpPr>
          <p:cNvPr id="13" name="直角上箭头 30">
            <a:extLst>
              <a:ext uri="{FF2B5EF4-FFF2-40B4-BE49-F238E27FC236}">
                <a16:creationId xmlns:a16="http://schemas.microsoft.com/office/drawing/2014/main" id="{489D1BAD-A595-4483-A016-3BECD083E321}"/>
              </a:ext>
            </a:extLst>
          </p:cNvPr>
          <p:cNvSpPr/>
          <p:nvPr/>
        </p:nvSpPr>
        <p:spPr bwMode="auto">
          <a:xfrm rot="10800000">
            <a:off x="2738118" y="2737311"/>
            <a:ext cx="2915006" cy="490769"/>
          </a:xfrm>
          <a:prstGeom prst="bentUp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14" name="直角上箭头 31">
            <a:extLst>
              <a:ext uri="{FF2B5EF4-FFF2-40B4-BE49-F238E27FC236}">
                <a16:creationId xmlns:a16="http://schemas.microsoft.com/office/drawing/2014/main" id="{A0E8681F-2B6A-410B-89E5-FC02E9E592D2}"/>
              </a:ext>
            </a:extLst>
          </p:cNvPr>
          <p:cNvSpPr/>
          <p:nvPr/>
        </p:nvSpPr>
        <p:spPr bwMode="auto">
          <a:xfrm rot="10800000" flipH="1">
            <a:off x="5669148" y="2737310"/>
            <a:ext cx="3044692" cy="490769"/>
          </a:xfrm>
          <a:prstGeom prst="bentUp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15" name="右箭头 32">
            <a:extLst>
              <a:ext uri="{FF2B5EF4-FFF2-40B4-BE49-F238E27FC236}">
                <a16:creationId xmlns:a16="http://schemas.microsoft.com/office/drawing/2014/main" id="{88B86365-DC5E-41CA-A1A0-D4D943E085EF}"/>
              </a:ext>
            </a:extLst>
          </p:cNvPr>
          <p:cNvSpPr/>
          <p:nvPr/>
        </p:nvSpPr>
        <p:spPr bwMode="auto">
          <a:xfrm rot="5400000">
            <a:off x="5493105" y="2843985"/>
            <a:ext cx="373385" cy="416023"/>
          </a:xfrm>
          <a:prstGeom prst="right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endParaRPr lang="zh-CN" altLang="en-US">
              <a:solidFill>
                <a:schemeClr val="tx1"/>
              </a:solidFill>
              <a:ea typeface="华文细黑" pitchFamily="2" charset="-122"/>
            </a:endParaRPr>
          </a:p>
        </p:txBody>
      </p:sp>
      <p:sp>
        <p:nvSpPr>
          <p:cNvPr id="16" name="矩形 15">
            <a:extLst>
              <a:ext uri="{FF2B5EF4-FFF2-40B4-BE49-F238E27FC236}">
                <a16:creationId xmlns:a16="http://schemas.microsoft.com/office/drawing/2014/main" id="{335B80EC-05C3-490F-A2A2-1CDB95E4235C}"/>
              </a:ext>
            </a:extLst>
          </p:cNvPr>
          <p:cNvSpPr/>
          <p:nvPr/>
        </p:nvSpPr>
        <p:spPr bwMode="auto">
          <a:xfrm>
            <a:off x="2002013" y="3241369"/>
            <a:ext cx="1872208" cy="648072"/>
          </a:xfrm>
          <a:prstGeom prst="rect">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r>
              <a:rPr lang="zh-CN" altLang="en-US" sz="2400" b="1" dirty="0">
                <a:solidFill>
                  <a:schemeClr val="bg1"/>
                </a:solidFill>
                <a:latin typeface="Times New Roman" pitchFamily="18" charset="0"/>
                <a:ea typeface="方正姚体" pitchFamily="2" charset="-122"/>
                <a:cs typeface="Times New Roman" pitchFamily="18" charset="0"/>
              </a:rPr>
              <a:t>功能模块</a:t>
            </a:r>
            <a:r>
              <a:rPr lang="en-US" altLang="zh-CN" sz="2400" b="1" dirty="0">
                <a:solidFill>
                  <a:schemeClr val="bg1"/>
                </a:solidFill>
                <a:latin typeface="Times New Roman" pitchFamily="18" charset="0"/>
                <a:ea typeface="方正姚体" pitchFamily="2" charset="-122"/>
                <a:cs typeface="Times New Roman" pitchFamily="18" charset="0"/>
              </a:rPr>
              <a:t>1</a:t>
            </a:r>
            <a:endParaRPr lang="zh-CN" altLang="en-US" sz="2400" b="1" dirty="0">
              <a:solidFill>
                <a:schemeClr val="bg1"/>
              </a:solidFill>
              <a:latin typeface="Times New Roman" pitchFamily="18" charset="0"/>
              <a:ea typeface="方正姚体" pitchFamily="2" charset="-122"/>
              <a:cs typeface="Times New Roman" pitchFamily="18" charset="0"/>
            </a:endParaRPr>
          </a:p>
        </p:txBody>
      </p:sp>
      <p:sp>
        <p:nvSpPr>
          <p:cNvPr id="17" name="矩形 16">
            <a:extLst>
              <a:ext uri="{FF2B5EF4-FFF2-40B4-BE49-F238E27FC236}">
                <a16:creationId xmlns:a16="http://schemas.microsoft.com/office/drawing/2014/main" id="{16BBC030-5105-4F14-B0D7-49A6D9E93979}"/>
              </a:ext>
            </a:extLst>
          </p:cNvPr>
          <p:cNvSpPr/>
          <p:nvPr/>
        </p:nvSpPr>
        <p:spPr bwMode="auto">
          <a:xfrm>
            <a:off x="4754342" y="3241369"/>
            <a:ext cx="1872208" cy="648072"/>
          </a:xfrm>
          <a:prstGeom prst="rect">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lgn="ctr">
              <a:defRPr/>
            </a:pPr>
            <a:r>
              <a:rPr lang="zh-CN" altLang="en-US" sz="2400" b="1" dirty="0">
                <a:solidFill>
                  <a:schemeClr val="bg1"/>
                </a:solidFill>
                <a:latin typeface="Times New Roman" pitchFamily="18" charset="0"/>
                <a:ea typeface="方正姚体" pitchFamily="2" charset="-122"/>
                <a:cs typeface="Times New Roman" pitchFamily="18" charset="0"/>
              </a:rPr>
              <a:t>功能模块</a:t>
            </a:r>
            <a:r>
              <a:rPr lang="en-US" altLang="zh-CN" sz="2400" b="1" dirty="0">
                <a:solidFill>
                  <a:schemeClr val="bg1"/>
                </a:solidFill>
                <a:latin typeface="Times New Roman" pitchFamily="18" charset="0"/>
                <a:ea typeface="方正姚体" pitchFamily="2" charset="-122"/>
                <a:cs typeface="Times New Roman" pitchFamily="18" charset="0"/>
              </a:rPr>
              <a:t>2</a:t>
            </a:r>
            <a:endParaRPr lang="zh-CN" altLang="en-US" sz="2400" b="1" dirty="0">
              <a:solidFill>
                <a:schemeClr val="bg1"/>
              </a:solidFill>
              <a:latin typeface="Times New Roman" pitchFamily="18" charset="0"/>
              <a:ea typeface="方正姚体" pitchFamily="2" charset="-122"/>
              <a:cs typeface="Times New Roman" pitchFamily="18" charset="0"/>
            </a:endParaRPr>
          </a:p>
        </p:txBody>
      </p:sp>
      <p:sp>
        <p:nvSpPr>
          <p:cNvPr id="18" name="矩形 17">
            <a:extLst>
              <a:ext uri="{FF2B5EF4-FFF2-40B4-BE49-F238E27FC236}">
                <a16:creationId xmlns:a16="http://schemas.microsoft.com/office/drawing/2014/main" id="{D942387C-6F1A-4EBA-B73E-3CD2312E21FA}"/>
              </a:ext>
            </a:extLst>
          </p:cNvPr>
          <p:cNvSpPr/>
          <p:nvPr/>
        </p:nvSpPr>
        <p:spPr bwMode="auto">
          <a:xfrm>
            <a:off x="7634662" y="3241369"/>
            <a:ext cx="1872208" cy="648072"/>
          </a:xfrm>
          <a:prstGeom prst="rect">
            <a:avLst/>
          </a:prstGeom>
          <a:gradFill>
            <a:gsLst>
              <a:gs pos="0">
                <a:srgbClr val="3366FF"/>
              </a:gs>
              <a:gs pos="100000">
                <a:srgbClr val="000099"/>
              </a:gs>
            </a:gsLst>
            <a:lin ang="5400000" scaled="1"/>
          </a:gradFill>
          <a:ln>
            <a:headEnd type="none" w="med" len="med"/>
            <a:tailEnd type="none" w="med" len="med"/>
          </a:ln>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lgn="ctr"/>
            <a:r>
              <a:rPr lang="zh-CN" altLang="en-US" sz="2400" b="1" dirty="0">
                <a:solidFill>
                  <a:schemeClr val="bg1"/>
                </a:solidFill>
                <a:latin typeface="Times New Roman" pitchFamily="18" charset="0"/>
                <a:ea typeface="方正姚体" pitchFamily="2" charset="-122"/>
                <a:cs typeface="Times New Roman" pitchFamily="18" charset="0"/>
              </a:rPr>
              <a:t>功能模块</a:t>
            </a:r>
            <a:r>
              <a:rPr lang="en-US" altLang="zh-CN" sz="2400" b="1" dirty="0">
                <a:solidFill>
                  <a:schemeClr val="bg1"/>
                </a:solidFill>
                <a:latin typeface="Times New Roman" pitchFamily="18" charset="0"/>
                <a:ea typeface="方正姚体" pitchFamily="2" charset="-122"/>
                <a:cs typeface="Times New Roman" pitchFamily="18" charset="0"/>
              </a:rPr>
              <a:t>n</a:t>
            </a:r>
            <a:endParaRPr lang="zh-CN" altLang="en-US" sz="2400" b="1" dirty="0">
              <a:solidFill>
                <a:schemeClr val="bg1"/>
              </a:solidFill>
              <a:latin typeface="Times New Roman" pitchFamily="18" charset="0"/>
              <a:ea typeface="方正姚体" pitchFamily="2" charset="-122"/>
              <a:cs typeface="Times New Roman" pitchFamily="18" charset="0"/>
            </a:endParaRPr>
          </a:p>
        </p:txBody>
      </p:sp>
      <p:sp>
        <p:nvSpPr>
          <p:cNvPr id="19" name="AutoShape 37">
            <a:extLst>
              <a:ext uri="{FF2B5EF4-FFF2-40B4-BE49-F238E27FC236}">
                <a16:creationId xmlns:a16="http://schemas.microsoft.com/office/drawing/2014/main" id="{49FE1FBE-AC48-4EF0-82F4-8605387491F9}"/>
              </a:ext>
            </a:extLst>
          </p:cNvPr>
          <p:cNvSpPr>
            <a:spLocks noChangeArrowheads="1"/>
          </p:cNvSpPr>
          <p:nvPr/>
        </p:nvSpPr>
        <p:spPr bwMode="auto">
          <a:xfrm>
            <a:off x="7385870" y="1368422"/>
            <a:ext cx="2328863" cy="1079500"/>
          </a:xfrm>
          <a:prstGeom prst="cloudCallout">
            <a:avLst>
              <a:gd name="adj1" fmla="val -122459"/>
              <a:gd name="adj2" fmla="val 122500"/>
            </a:avLst>
          </a:prstGeom>
          <a:solidFill>
            <a:srgbClr val="FFFF00"/>
          </a:solidFill>
          <a:ln w="22225">
            <a:solidFill>
              <a:srgbClr val="FF0000"/>
            </a:solidFill>
            <a:round/>
            <a:headEnd/>
            <a:tailEnd/>
          </a:ln>
          <a:effectLst>
            <a:outerShdw dist="107763" dir="2700000" algn="ctr" rotWithShape="0">
              <a:schemeClr val="bg2">
                <a:alpha val="50000"/>
              </a:schemeClr>
            </a:outerShdw>
          </a:effectLst>
        </p:spPr>
        <p:txBody>
          <a:bodyPr/>
          <a:lstStyle/>
          <a:p>
            <a:pPr>
              <a:defRPr/>
            </a:pPr>
            <a:r>
              <a:rPr lang="zh-CN" altLang="en-US" sz="2800" b="1" dirty="0">
                <a:latin typeface="方正姚体" pitchFamily="2" charset="-122"/>
                <a:ea typeface="方正姚体" pitchFamily="2" charset="-122"/>
              </a:rPr>
              <a:t>搭积木</a:t>
            </a:r>
          </a:p>
        </p:txBody>
      </p:sp>
      <p:sp>
        <p:nvSpPr>
          <p:cNvPr id="20" name="AutoShape 35">
            <a:extLst>
              <a:ext uri="{FF2B5EF4-FFF2-40B4-BE49-F238E27FC236}">
                <a16:creationId xmlns:a16="http://schemas.microsoft.com/office/drawing/2014/main" id="{4C95DD88-9ED1-487E-980F-B75E4DC5C3DD}"/>
              </a:ext>
            </a:extLst>
          </p:cNvPr>
          <p:cNvSpPr>
            <a:spLocks noChangeArrowheads="1"/>
          </p:cNvSpPr>
          <p:nvPr/>
        </p:nvSpPr>
        <p:spPr bwMode="auto">
          <a:xfrm>
            <a:off x="2051870" y="4822822"/>
            <a:ext cx="1871663" cy="576262"/>
          </a:xfrm>
          <a:prstGeom prst="wedgeRoundRectCallout">
            <a:avLst>
              <a:gd name="adj1" fmla="val 92153"/>
              <a:gd name="adj2" fmla="val -192977"/>
              <a:gd name="adj3" fmla="val 16667"/>
            </a:avLst>
          </a:prstGeom>
          <a:gradFill rotWithShape="1">
            <a:gsLst>
              <a:gs pos="0">
                <a:srgbClr val="CCFFFF"/>
              </a:gs>
              <a:gs pos="100000">
                <a:schemeClr val="bg1"/>
              </a:gs>
            </a:gsLst>
            <a:lin ang="5400000" scaled="1"/>
          </a:gradFill>
          <a:ln w="28575">
            <a:solidFill>
              <a:srgbClr val="FF00FF"/>
            </a:solidFill>
            <a:miter lim="800000"/>
            <a:headEnd/>
            <a:tailEnd/>
          </a:ln>
          <a:effectLst>
            <a:outerShdw dist="107763" dir="2700000" algn="ctr" rotWithShape="0">
              <a:schemeClr val="bg2">
                <a:alpha val="50000"/>
              </a:schemeClr>
            </a:outerShdw>
          </a:effectLst>
        </p:spPr>
        <p:txBody>
          <a:bodyPr anchor="ctr"/>
          <a:lstStyle/>
          <a:p>
            <a:r>
              <a:rPr lang="en-US" altLang="zh-CN" sz="2000" b="1">
                <a:latin typeface="Times New Roman" pitchFamily="18" charset="0"/>
                <a:ea typeface="方正姚体" pitchFamily="2" charset="-122"/>
                <a:cs typeface="Times New Roman" pitchFamily="18" charset="0"/>
              </a:rPr>
              <a:t>C</a:t>
            </a:r>
            <a:r>
              <a:rPr lang="zh-CN" altLang="en-US" sz="2000" b="1">
                <a:latin typeface="Times New Roman" pitchFamily="18" charset="0"/>
                <a:ea typeface="方正姚体" pitchFamily="2" charset="-122"/>
                <a:cs typeface="Times New Roman" pitchFamily="18" charset="0"/>
              </a:rPr>
              <a:t>语言程序</a:t>
            </a:r>
          </a:p>
        </p:txBody>
      </p:sp>
      <p:sp>
        <p:nvSpPr>
          <p:cNvPr id="21" name="AutoShape 36">
            <a:extLst>
              <a:ext uri="{FF2B5EF4-FFF2-40B4-BE49-F238E27FC236}">
                <a16:creationId xmlns:a16="http://schemas.microsoft.com/office/drawing/2014/main" id="{5B9CD3ED-A9D9-4526-9AFC-CCBDD2008F88}"/>
              </a:ext>
            </a:extLst>
          </p:cNvPr>
          <p:cNvSpPr>
            <a:spLocks noChangeArrowheads="1"/>
          </p:cNvSpPr>
          <p:nvPr/>
        </p:nvSpPr>
        <p:spPr bwMode="auto">
          <a:xfrm>
            <a:off x="7957370" y="5111747"/>
            <a:ext cx="1871663" cy="576262"/>
          </a:xfrm>
          <a:prstGeom prst="wedgeRoundRectCallout">
            <a:avLst>
              <a:gd name="adj1" fmla="val -89639"/>
              <a:gd name="adj2" fmla="val 11801"/>
              <a:gd name="adj3" fmla="val 16667"/>
            </a:avLst>
          </a:prstGeom>
          <a:gradFill rotWithShape="1">
            <a:gsLst>
              <a:gs pos="0">
                <a:srgbClr val="CCFFFF"/>
              </a:gs>
              <a:gs pos="100000">
                <a:schemeClr val="bg1"/>
              </a:gs>
            </a:gsLst>
            <a:lin ang="5400000" scaled="1"/>
          </a:gradFill>
          <a:ln w="28575">
            <a:solidFill>
              <a:srgbClr val="FF00FF"/>
            </a:solidFill>
            <a:miter lim="800000"/>
            <a:headEnd/>
            <a:tailEnd/>
          </a:ln>
          <a:effectLst>
            <a:outerShdw dist="107763" dir="2700000" algn="ctr" rotWithShape="0">
              <a:schemeClr val="bg2">
                <a:alpha val="50000"/>
              </a:schemeClr>
            </a:outerShdw>
          </a:effectLst>
        </p:spPr>
        <p:txBody>
          <a:bodyPr anchor="ctr"/>
          <a:lstStyle/>
          <a:p>
            <a:r>
              <a:rPr lang="en-US" altLang="zh-CN" sz="2000" b="1">
                <a:latin typeface="Times New Roman" pitchFamily="18" charset="0"/>
                <a:ea typeface="方正姚体" pitchFamily="2" charset="-122"/>
                <a:cs typeface="Times New Roman" pitchFamily="18" charset="0"/>
              </a:rPr>
              <a:t>C</a:t>
            </a:r>
            <a:r>
              <a:rPr lang="zh-CN" altLang="en-US" sz="2000" b="1">
                <a:latin typeface="Times New Roman" pitchFamily="18" charset="0"/>
                <a:ea typeface="方正姚体" pitchFamily="2" charset="-122"/>
                <a:cs typeface="Times New Roman" pitchFamily="18" charset="0"/>
              </a:rPr>
              <a:t>语言函数</a:t>
            </a:r>
          </a:p>
        </p:txBody>
      </p:sp>
      <p:sp>
        <p:nvSpPr>
          <p:cNvPr id="22" name="Text Box 31">
            <a:extLst>
              <a:ext uri="{FF2B5EF4-FFF2-40B4-BE49-F238E27FC236}">
                <a16:creationId xmlns:a16="http://schemas.microsoft.com/office/drawing/2014/main" id="{D6DE445E-AA64-444A-920A-0300E80C5722}"/>
              </a:ext>
            </a:extLst>
          </p:cNvPr>
          <p:cNvSpPr txBox="1">
            <a:spLocks noChangeArrowheads="1"/>
          </p:cNvSpPr>
          <p:nvPr/>
        </p:nvSpPr>
        <p:spPr bwMode="auto">
          <a:xfrm>
            <a:off x="6601861" y="3252784"/>
            <a:ext cx="1655762" cy="579438"/>
          </a:xfrm>
          <a:prstGeom prst="rect">
            <a:avLst/>
          </a:prstGeom>
          <a:noFill/>
          <a:ln>
            <a:noFill/>
          </a:ln>
          <a:effectLst/>
          <a:extLst/>
        </p:spPr>
        <p:txBody>
          <a:bodyPr>
            <a:spAutoFit/>
          </a:bodyPr>
          <a:lstStyle/>
          <a:p>
            <a:pPr>
              <a:spcBef>
                <a:spcPct val="50000"/>
              </a:spcBef>
              <a:defRPr/>
            </a:pPr>
            <a:r>
              <a:rPr lang="en-US" altLang="zh-CN" sz="3200" b="1" dirty="0">
                <a:effectLst>
                  <a:outerShdw blurRad="38100" dist="38100" dir="2700000" algn="tl">
                    <a:srgbClr val="FFFFFF"/>
                  </a:outerShdw>
                </a:effectLst>
                <a:latin typeface="Arial" pitchFamily="34" charset="0"/>
              </a:rPr>
              <a:t>……</a:t>
            </a:r>
          </a:p>
        </p:txBody>
      </p:sp>
      <p:sp>
        <p:nvSpPr>
          <p:cNvPr id="23" name="右箭头 40">
            <a:extLst>
              <a:ext uri="{FF2B5EF4-FFF2-40B4-BE49-F238E27FC236}">
                <a16:creationId xmlns:a16="http://schemas.microsoft.com/office/drawing/2014/main" id="{66A71CD3-B5FC-4C2C-8D2C-F0ED7054B77A}"/>
              </a:ext>
            </a:extLst>
          </p:cNvPr>
          <p:cNvSpPr/>
          <p:nvPr/>
        </p:nvSpPr>
        <p:spPr bwMode="auto">
          <a:xfrm rot="5400000">
            <a:off x="5409797" y="3998779"/>
            <a:ext cx="530628" cy="326734"/>
          </a:xfrm>
          <a:prstGeom prst="right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24" name="直角上箭头 41">
            <a:extLst>
              <a:ext uri="{FF2B5EF4-FFF2-40B4-BE49-F238E27FC236}">
                <a16:creationId xmlns:a16="http://schemas.microsoft.com/office/drawing/2014/main" id="{B3504A4C-A982-496B-AE8C-200C049F84F8}"/>
              </a:ext>
            </a:extLst>
          </p:cNvPr>
          <p:cNvSpPr/>
          <p:nvPr/>
        </p:nvSpPr>
        <p:spPr bwMode="auto">
          <a:xfrm rot="10800000">
            <a:off x="4394300" y="4390136"/>
            <a:ext cx="1274847" cy="507468"/>
          </a:xfrm>
          <a:prstGeom prst="bentUp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25" name="直角上箭头 42">
            <a:extLst>
              <a:ext uri="{FF2B5EF4-FFF2-40B4-BE49-F238E27FC236}">
                <a16:creationId xmlns:a16="http://schemas.microsoft.com/office/drawing/2014/main" id="{B887E88C-1177-46E9-AFB7-79D5DD8687CE}"/>
              </a:ext>
            </a:extLst>
          </p:cNvPr>
          <p:cNvSpPr/>
          <p:nvPr/>
        </p:nvSpPr>
        <p:spPr bwMode="auto">
          <a:xfrm rot="10800000" flipH="1">
            <a:off x="5685173" y="4390135"/>
            <a:ext cx="1229409" cy="507468"/>
          </a:xfrm>
          <a:prstGeom prst="bentUp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pPr>
              <a:defRPr/>
            </a:pPr>
            <a:endParaRPr lang="zh-CN" altLang="en-US">
              <a:solidFill>
                <a:schemeClr val="tx1"/>
              </a:solidFill>
              <a:ea typeface="华文细黑" pitchFamily="2" charset="-122"/>
            </a:endParaRPr>
          </a:p>
        </p:txBody>
      </p:sp>
      <p:sp>
        <p:nvSpPr>
          <p:cNvPr id="26" name="右箭头 43">
            <a:extLst>
              <a:ext uri="{FF2B5EF4-FFF2-40B4-BE49-F238E27FC236}">
                <a16:creationId xmlns:a16="http://schemas.microsoft.com/office/drawing/2014/main" id="{264F6AC8-8EB9-47AA-8985-A04790984D3F}"/>
              </a:ext>
            </a:extLst>
          </p:cNvPr>
          <p:cNvSpPr/>
          <p:nvPr/>
        </p:nvSpPr>
        <p:spPr bwMode="auto">
          <a:xfrm rot="5400000">
            <a:off x="5499046" y="4552849"/>
            <a:ext cx="360041" cy="329372"/>
          </a:xfrm>
          <a:prstGeom prst="rightArrow">
            <a:avLst/>
          </a:prstGeom>
          <a:gradFill>
            <a:gsLst>
              <a:gs pos="0">
                <a:srgbClr val="3366FF"/>
              </a:gs>
              <a:gs pos="100000">
                <a:srgbClr val="000099"/>
              </a:gs>
            </a:gsLst>
            <a:lin ang="5400000" scaled="1"/>
          </a:gra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wrap="none" lIns="90000" tIns="46800" rIns="90000" bIns="46800" anchor="ctr"/>
          <a:lstStyle/>
          <a:p>
            <a:endParaRPr lang="zh-CN" altLang="en-US">
              <a:solidFill>
                <a:schemeClr val="tx1"/>
              </a:solidFill>
              <a:ea typeface="华文细黑" pitchFamily="2" charset="-122"/>
            </a:endParaRPr>
          </a:p>
        </p:txBody>
      </p:sp>
      <p:sp>
        <p:nvSpPr>
          <p:cNvPr id="27" name="Text Box 31">
            <a:extLst>
              <a:ext uri="{FF2B5EF4-FFF2-40B4-BE49-F238E27FC236}">
                <a16:creationId xmlns:a16="http://schemas.microsoft.com/office/drawing/2014/main" id="{89730255-2A93-4396-B8EE-04B47B9D46EC}"/>
              </a:ext>
            </a:extLst>
          </p:cNvPr>
          <p:cNvSpPr txBox="1">
            <a:spLocks noChangeArrowheads="1"/>
          </p:cNvSpPr>
          <p:nvPr/>
        </p:nvSpPr>
        <p:spPr bwMode="auto">
          <a:xfrm>
            <a:off x="5979345" y="4897434"/>
            <a:ext cx="574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3200" b="1" dirty="0">
                <a:effectLst>
                  <a:outerShdw blurRad="38100" dist="38100" dir="2700000" algn="tl">
                    <a:srgbClr val="FFFFFF"/>
                  </a:outerShdw>
                </a:effectLst>
                <a:latin typeface="Arial" pitchFamily="34" charset="0"/>
              </a:rPr>
              <a:t>…</a:t>
            </a:r>
          </a:p>
        </p:txBody>
      </p:sp>
      <p:sp>
        <p:nvSpPr>
          <p:cNvPr id="28" name="TextBox 45">
            <a:extLst>
              <a:ext uri="{FF2B5EF4-FFF2-40B4-BE49-F238E27FC236}">
                <a16:creationId xmlns:a16="http://schemas.microsoft.com/office/drawing/2014/main" id="{BF673A7C-2B99-41E7-9AB6-FDAB5CDB2AD1}"/>
              </a:ext>
            </a:extLst>
          </p:cNvPr>
          <p:cNvSpPr txBox="1"/>
          <p:nvPr/>
        </p:nvSpPr>
        <p:spPr>
          <a:xfrm>
            <a:off x="4210328" y="4915607"/>
            <a:ext cx="637422" cy="1323439"/>
          </a:xfrm>
          <a:prstGeom prst="rect">
            <a:avLst/>
          </a:prstGeom>
          <a:gradFill>
            <a:gsLst>
              <a:gs pos="0">
                <a:srgbClr val="3366FF"/>
              </a:gs>
              <a:gs pos="100000">
                <a:srgbClr val="000099"/>
              </a:gs>
            </a:gsLst>
            <a:lin ang="5400000" scaled="1"/>
          </a:gradFill>
        </p:spPr>
        <p:style>
          <a:lnRef idx="0">
            <a:schemeClr val="accent6"/>
          </a:lnRef>
          <a:fillRef idx="3">
            <a:schemeClr val="accent6"/>
          </a:fillRef>
          <a:effectRef idx="3">
            <a:schemeClr val="accent6"/>
          </a:effectRef>
          <a:fontRef idx="minor">
            <a:schemeClr val="lt1"/>
          </a:fontRef>
        </p:style>
        <p:txBody>
          <a:bodyPr anchor="ctr">
            <a:spAutoFit/>
          </a:bodyPr>
          <a:lstStyle/>
          <a:p>
            <a:pPr>
              <a:defRPr/>
            </a:pPr>
            <a:r>
              <a:rPr lang="zh-CN" altLang="en-US" sz="2000" b="1" dirty="0">
                <a:solidFill>
                  <a:schemeClr val="bg1"/>
                </a:solidFill>
                <a:latin typeface="Times New Roman" pitchFamily="18" charset="0"/>
                <a:ea typeface="方正姚体" pitchFamily="2" charset="-122"/>
                <a:cs typeface="Times New Roman" pitchFamily="18" charset="0"/>
              </a:rPr>
              <a:t>子</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模</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块</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en-US" altLang="zh-CN" sz="2000" b="1" dirty="0">
                <a:solidFill>
                  <a:schemeClr val="bg1"/>
                </a:solidFill>
                <a:latin typeface="Times New Roman" pitchFamily="18" charset="0"/>
                <a:ea typeface="方正姚体" pitchFamily="2" charset="-122"/>
                <a:cs typeface="Times New Roman" pitchFamily="18" charset="0"/>
              </a:rPr>
              <a:t>1</a:t>
            </a:r>
            <a:endParaRPr lang="zh-CN" altLang="en-US" sz="2000" b="1" dirty="0">
              <a:solidFill>
                <a:schemeClr val="bg1"/>
              </a:solidFill>
              <a:latin typeface="Times New Roman" pitchFamily="18" charset="0"/>
              <a:ea typeface="方正姚体" pitchFamily="2" charset="-122"/>
              <a:cs typeface="Times New Roman" pitchFamily="18" charset="0"/>
            </a:endParaRPr>
          </a:p>
        </p:txBody>
      </p:sp>
      <p:sp>
        <p:nvSpPr>
          <p:cNvPr id="29" name="TextBox 46">
            <a:extLst>
              <a:ext uri="{FF2B5EF4-FFF2-40B4-BE49-F238E27FC236}">
                <a16:creationId xmlns:a16="http://schemas.microsoft.com/office/drawing/2014/main" id="{B1CEBF40-CF70-495C-894B-132C3552C6BA}"/>
              </a:ext>
            </a:extLst>
          </p:cNvPr>
          <p:cNvSpPr txBox="1"/>
          <p:nvPr/>
        </p:nvSpPr>
        <p:spPr>
          <a:xfrm>
            <a:off x="5359717" y="4915607"/>
            <a:ext cx="637422" cy="1323439"/>
          </a:xfrm>
          <a:prstGeom prst="rect">
            <a:avLst/>
          </a:prstGeom>
          <a:gradFill>
            <a:gsLst>
              <a:gs pos="0">
                <a:srgbClr val="3366FF"/>
              </a:gs>
              <a:gs pos="100000">
                <a:srgbClr val="000099"/>
              </a:gs>
            </a:gsLst>
            <a:lin ang="5400000" scaled="1"/>
          </a:gradFill>
        </p:spPr>
        <p:style>
          <a:lnRef idx="0">
            <a:schemeClr val="accent6"/>
          </a:lnRef>
          <a:fillRef idx="3">
            <a:schemeClr val="accent6"/>
          </a:fillRef>
          <a:effectRef idx="3">
            <a:schemeClr val="accent6"/>
          </a:effectRef>
          <a:fontRef idx="minor">
            <a:schemeClr val="lt1"/>
          </a:fontRef>
        </p:style>
        <p:txBody>
          <a:bodyPr anchor="ctr">
            <a:spAutoFit/>
          </a:bodyPr>
          <a:lstStyle/>
          <a:p>
            <a:pPr>
              <a:defRPr/>
            </a:pPr>
            <a:r>
              <a:rPr lang="zh-CN" altLang="en-US" sz="2000" b="1" dirty="0">
                <a:solidFill>
                  <a:schemeClr val="bg1"/>
                </a:solidFill>
                <a:latin typeface="Times New Roman" pitchFamily="18" charset="0"/>
                <a:ea typeface="方正姚体" pitchFamily="2" charset="-122"/>
                <a:cs typeface="Times New Roman" pitchFamily="18" charset="0"/>
              </a:rPr>
              <a:t>子</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模</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块</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en-US" altLang="zh-CN" sz="2000" b="1" dirty="0">
                <a:solidFill>
                  <a:schemeClr val="bg1"/>
                </a:solidFill>
                <a:latin typeface="Times New Roman" pitchFamily="18" charset="0"/>
                <a:ea typeface="方正姚体" pitchFamily="2" charset="-122"/>
                <a:cs typeface="Times New Roman" pitchFamily="18" charset="0"/>
              </a:rPr>
              <a:t>2</a:t>
            </a:r>
            <a:endParaRPr lang="zh-CN" altLang="en-US" sz="2000" b="1" dirty="0">
              <a:solidFill>
                <a:schemeClr val="bg1"/>
              </a:solidFill>
              <a:latin typeface="Times New Roman" pitchFamily="18" charset="0"/>
              <a:ea typeface="方正姚体" pitchFamily="2" charset="-122"/>
              <a:cs typeface="Times New Roman" pitchFamily="18" charset="0"/>
            </a:endParaRPr>
          </a:p>
        </p:txBody>
      </p:sp>
      <p:sp>
        <p:nvSpPr>
          <p:cNvPr id="30" name="TextBox 47">
            <a:extLst>
              <a:ext uri="{FF2B5EF4-FFF2-40B4-BE49-F238E27FC236}">
                <a16:creationId xmlns:a16="http://schemas.microsoft.com/office/drawing/2014/main" id="{A2633E1D-C6A2-4492-90FC-9CB7F131343D}"/>
              </a:ext>
            </a:extLst>
          </p:cNvPr>
          <p:cNvSpPr txBox="1"/>
          <p:nvPr/>
        </p:nvSpPr>
        <p:spPr>
          <a:xfrm>
            <a:off x="6493184" y="4915607"/>
            <a:ext cx="637422" cy="1323439"/>
          </a:xfrm>
          <a:prstGeom prst="rect">
            <a:avLst/>
          </a:prstGeom>
          <a:gradFill>
            <a:gsLst>
              <a:gs pos="0">
                <a:srgbClr val="3366FF"/>
              </a:gs>
              <a:gs pos="100000">
                <a:srgbClr val="000099"/>
              </a:gs>
            </a:gsLst>
            <a:lin ang="5400000" scaled="1"/>
          </a:gradFill>
        </p:spPr>
        <p:style>
          <a:lnRef idx="0">
            <a:schemeClr val="accent6"/>
          </a:lnRef>
          <a:fillRef idx="3">
            <a:schemeClr val="accent6"/>
          </a:fillRef>
          <a:effectRef idx="3">
            <a:schemeClr val="accent6"/>
          </a:effectRef>
          <a:fontRef idx="minor">
            <a:schemeClr val="lt1"/>
          </a:fontRef>
        </p:style>
        <p:txBody>
          <a:bodyPr anchor="ctr">
            <a:spAutoFit/>
          </a:bodyPr>
          <a:lstStyle/>
          <a:p>
            <a:pPr>
              <a:defRPr/>
            </a:pPr>
            <a:r>
              <a:rPr lang="zh-CN" altLang="en-US" sz="2000" b="1" dirty="0">
                <a:solidFill>
                  <a:schemeClr val="bg1"/>
                </a:solidFill>
                <a:latin typeface="Times New Roman" pitchFamily="18" charset="0"/>
                <a:ea typeface="方正姚体" pitchFamily="2" charset="-122"/>
                <a:cs typeface="Times New Roman" pitchFamily="18" charset="0"/>
              </a:rPr>
              <a:t>子</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模</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zh-CN" altLang="en-US" sz="2000" b="1" dirty="0">
                <a:solidFill>
                  <a:schemeClr val="bg1"/>
                </a:solidFill>
                <a:latin typeface="Times New Roman" pitchFamily="18" charset="0"/>
                <a:ea typeface="方正姚体" pitchFamily="2" charset="-122"/>
                <a:cs typeface="Times New Roman" pitchFamily="18" charset="0"/>
              </a:rPr>
              <a:t>块</a:t>
            </a:r>
            <a:endParaRPr lang="en-US" altLang="zh-CN" sz="2000" b="1" dirty="0">
              <a:solidFill>
                <a:schemeClr val="bg1"/>
              </a:solidFill>
              <a:latin typeface="Times New Roman" pitchFamily="18" charset="0"/>
              <a:ea typeface="方正姚体" pitchFamily="2" charset="-122"/>
              <a:cs typeface="Times New Roman" pitchFamily="18" charset="0"/>
            </a:endParaRPr>
          </a:p>
          <a:p>
            <a:pPr>
              <a:defRPr/>
            </a:pPr>
            <a:r>
              <a:rPr lang="en-US" altLang="zh-CN" sz="2000" b="1" dirty="0">
                <a:solidFill>
                  <a:schemeClr val="bg1"/>
                </a:solidFill>
                <a:latin typeface="Times New Roman" pitchFamily="18" charset="0"/>
                <a:ea typeface="方正姚体" pitchFamily="2" charset="-122"/>
                <a:cs typeface="Times New Roman" pitchFamily="18" charset="0"/>
              </a:rPr>
              <a:t>n</a:t>
            </a:r>
            <a:endParaRPr lang="zh-CN" altLang="en-US" sz="2000" b="1" dirty="0">
              <a:solidFill>
                <a:schemeClr val="bg1"/>
              </a:solidFill>
              <a:latin typeface="Times New Roman" pitchFamily="18" charset="0"/>
              <a:ea typeface="方正姚体" pitchFamily="2" charset="-122"/>
              <a:cs typeface="Times New Roman" pitchFamily="18" charset="0"/>
            </a:endParaRPr>
          </a:p>
        </p:txBody>
      </p:sp>
      <p:sp>
        <p:nvSpPr>
          <p:cNvPr id="31" name="Text Box 31">
            <a:extLst>
              <a:ext uri="{FF2B5EF4-FFF2-40B4-BE49-F238E27FC236}">
                <a16:creationId xmlns:a16="http://schemas.microsoft.com/office/drawing/2014/main" id="{7A60531B-4CC2-4CD5-ACA1-6130DD812F86}"/>
              </a:ext>
            </a:extLst>
          </p:cNvPr>
          <p:cNvSpPr txBox="1">
            <a:spLocks noChangeArrowheads="1"/>
          </p:cNvSpPr>
          <p:nvPr/>
        </p:nvSpPr>
        <p:spPr bwMode="auto">
          <a:xfrm>
            <a:off x="2110608" y="3773484"/>
            <a:ext cx="16557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3200" b="1" dirty="0">
                <a:effectLst>
                  <a:outerShdw blurRad="38100" dist="38100" dir="2700000" algn="tl">
                    <a:srgbClr val="FFFFFF"/>
                  </a:outerShdw>
                </a:effectLst>
                <a:latin typeface="Arial" pitchFamily="34" charset="0"/>
              </a:rPr>
              <a:t>……</a:t>
            </a:r>
          </a:p>
        </p:txBody>
      </p:sp>
      <p:sp>
        <p:nvSpPr>
          <p:cNvPr id="32" name="Text Box 31">
            <a:extLst>
              <a:ext uri="{FF2B5EF4-FFF2-40B4-BE49-F238E27FC236}">
                <a16:creationId xmlns:a16="http://schemas.microsoft.com/office/drawing/2014/main" id="{C10629D8-7DA1-43DE-BCD8-6189FEE9ED42}"/>
              </a:ext>
            </a:extLst>
          </p:cNvPr>
          <p:cNvSpPr txBox="1">
            <a:spLocks noChangeArrowheads="1"/>
          </p:cNvSpPr>
          <p:nvPr/>
        </p:nvSpPr>
        <p:spPr bwMode="auto">
          <a:xfrm>
            <a:off x="7763695" y="3773484"/>
            <a:ext cx="16557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spcBef>
                <a:spcPct val="50000"/>
              </a:spcBef>
              <a:defRPr sz="3200" b="1">
                <a:solidFill>
                  <a:schemeClr val="tx1"/>
                </a:solidFill>
                <a:effectLst>
                  <a:outerShdw blurRad="38100" dist="38100" dir="2700000" algn="tl">
                    <a:srgbClr val="FFFFFF"/>
                  </a:outerShdw>
                </a:effectLst>
                <a:latin typeface="Arial"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a:t>……</a:t>
            </a:r>
            <a:endParaRPr lang="en-US" altLang="zh-CN" dirty="0"/>
          </a:p>
        </p:txBody>
      </p:sp>
    </p:spTree>
    <p:extLst>
      <p:ext uri="{BB962C8B-B14F-4D97-AF65-F5344CB8AC3E}">
        <p14:creationId xmlns:p14="http://schemas.microsoft.com/office/powerpoint/2010/main" val="41603696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2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27"/>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25"/>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3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0"/>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p:bldP spid="27" grpId="0"/>
      <p:bldP spid="31" grpId="0"/>
      <p:bldP spid="3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14917" y="155700"/>
            <a:ext cx="4525783"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zh-CN" altLang="en-US" sz="4400" b="1" dirty="0">
                <a:solidFill>
                  <a:srgbClr val="800000"/>
                </a:solidFill>
                <a:latin typeface="Arial" pitchFamily="34" charset="0"/>
                <a:ea typeface="黑体" pitchFamily="49" charset="-122"/>
                <a:cs typeface="+mj-cs"/>
              </a:rPr>
              <a:t>模块的划分规则</a:t>
            </a:r>
            <a:endParaRPr lang="zh-CN" altLang="zh-CN" sz="4400" b="1" dirty="0">
              <a:solidFill>
                <a:srgbClr val="800000"/>
              </a:solidFill>
              <a:latin typeface="Arial" pitchFamily="34" charset="0"/>
              <a:ea typeface="黑体" pitchFamily="49" charset="-122"/>
              <a:cs typeface="+mj-cs"/>
            </a:endParaRPr>
          </a:p>
        </p:txBody>
      </p:sp>
      <p:sp>
        <p:nvSpPr>
          <p:cNvPr id="3" name="TextBox 2"/>
          <p:cNvSpPr txBox="1"/>
          <p:nvPr/>
        </p:nvSpPr>
        <p:spPr>
          <a:xfrm>
            <a:off x="1155700" y="1219200"/>
            <a:ext cx="10058400" cy="4524315"/>
          </a:xfrm>
          <a:prstGeom prst="rect">
            <a:avLst/>
          </a:prstGeom>
          <a:noFill/>
        </p:spPr>
        <p:txBody>
          <a:bodyPr wrap="square" rtlCol="0">
            <a:spAutoFit/>
          </a:bodyPr>
          <a:lstStyle/>
          <a:p>
            <a:pPr>
              <a:lnSpc>
                <a:spcPct val="150000"/>
              </a:lnSpc>
            </a:pPr>
            <a:r>
              <a:rPr lang="en-US" altLang="zh-CN" sz="3200" b="1" dirty="0">
                <a:latin typeface="Times New Roman" panose="02020603050405020304" pitchFamily="18" charset="0"/>
                <a:cs typeface="Times New Roman" panose="02020603050405020304" pitchFamily="18" charset="0"/>
              </a:rPr>
              <a:t>1</a:t>
            </a:r>
            <a:r>
              <a:rPr lang="zh-CN" altLang="en-US" sz="3200" b="1" dirty="0">
                <a:latin typeface="Times New Roman" panose="02020603050405020304" pitchFamily="18" charset="0"/>
                <a:cs typeface="Times New Roman" panose="02020603050405020304" pitchFamily="18" charset="0"/>
              </a:rPr>
              <a:t>、一个模块中的程序不能过大，也不能过小。</a:t>
            </a:r>
            <a:endParaRPr lang="en-US" altLang="zh-CN" sz="3200" b="1" dirty="0">
              <a:latin typeface="Times New Roman" panose="02020603050405020304" pitchFamily="18" charset="0"/>
              <a:cs typeface="Times New Roman" panose="02020603050405020304" pitchFamily="18" charset="0"/>
            </a:endParaRPr>
          </a:p>
          <a:p>
            <a:pPr>
              <a:lnSpc>
                <a:spcPct val="150000"/>
              </a:lnSpc>
            </a:pPr>
            <a:r>
              <a:rPr lang="en-US" altLang="zh-CN" sz="3200" b="1" dirty="0">
                <a:latin typeface="Times New Roman" panose="02020603050405020304" pitchFamily="18" charset="0"/>
                <a:cs typeface="Times New Roman" panose="02020603050405020304" pitchFamily="18" charset="0"/>
              </a:rPr>
              <a:t>2</a:t>
            </a:r>
            <a:r>
              <a:rPr lang="zh-CN" altLang="en-US" sz="3200" b="1" dirty="0">
                <a:latin typeface="Times New Roman" panose="02020603050405020304" pitchFamily="18" charset="0"/>
                <a:cs typeface="Times New Roman" panose="02020603050405020304" pitchFamily="18" charset="0"/>
              </a:rPr>
              <a:t>、如果一段程序被很多模块共用，则应该是一个独立的模块。</a:t>
            </a:r>
            <a:endParaRPr lang="en-US" altLang="zh-CN" sz="3200" b="1" dirty="0">
              <a:latin typeface="Times New Roman" panose="02020603050405020304" pitchFamily="18" charset="0"/>
              <a:cs typeface="Times New Roman" panose="02020603050405020304" pitchFamily="18" charset="0"/>
            </a:endParaRPr>
          </a:p>
          <a:p>
            <a:pPr>
              <a:lnSpc>
                <a:spcPct val="150000"/>
              </a:lnSpc>
            </a:pPr>
            <a:r>
              <a:rPr lang="en-US" altLang="zh-CN" sz="3200" b="1" dirty="0">
                <a:latin typeface="Times New Roman" panose="02020603050405020304" pitchFamily="18" charset="0"/>
                <a:cs typeface="Times New Roman" panose="02020603050405020304" pitchFamily="18" charset="0"/>
              </a:rPr>
              <a:t>3</a:t>
            </a:r>
            <a:r>
              <a:rPr lang="zh-CN" altLang="en-US" sz="3200" b="1" dirty="0">
                <a:latin typeface="Times New Roman" panose="02020603050405020304" pitchFamily="18" charset="0"/>
                <a:cs typeface="Times New Roman" panose="02020603050405020304" pitchFamily="18" charset="0"/>
              </a:rPr>
              <a:t>、力求使模块具有通用性。</a:t>
            </a:r>
            <a:endParaRPr lang="en-US" altLang="zh-CN" sz="3200" b="1" dirty="0">
              <a:latin typeface="Times New Roman" panose="02020603050405020304" pitchFamily="18" charset="0"/>
              <a:cs typeface="Times New Roman" panose="02020603050405020304" pitchFamily="18" charset="0"/>
            </a:endParaRPr>
          </a:p>
          <a:p>
            <a:pPr>
              <a:lnSpc>
                <a:spcPct val="150000"/>
              </a:lnSpc>
            </a:pPr>
            <a:r>
              <a:rPr lang="en-US" altLang="zh-CN" sz="3200" b="1" dirty="0">
                <a:latin typeface="Times New Roman" panose="02020603050405020304" pitchFamily="18" charset="0"/>
                <a:cs typeface="Times New Roman" panose="02020603050405020304" pitchFamily="18" charset="0"/>
              </a:rPr>
              <a:t>4</a:t>
            </a:r>
            <a:r>
              <a:rPr lang="zh-CN" altLang="en-US" sz="3200" b="1" dirty="0">
                <a:latin typeface="Times New Roman" panose="02020603050405020304" pitchFamily="18" charset="0"/>
                <a:cs typeface="Times New Roman" panose="02020603050405020304" pitchFamily="18" charset="0"/>
              </a:rPr>
              <a:t>、各模块间接口应该简单。</a:t>
            </a:r>
            <a:endParaRPr lang="en-US" altLang="zh-CN" sz="3200" b="1" dirty="0">
              <a:latin typeface="Times New Roman" panose="02020603050405020304" pitchFamily="18" charset="0"/>
              <a:cs typeface="Times New Roman" panose="02020603050405020304" pitchFamily="18" charset="0"/>
            </a:endParaRPr>
          </a:p>
          <a:p>
            <a:pPr>
              <a:lnSpc>
                <a:spcPct val="150000"/>
              </a:lnSpc>
            </a:pPr>
            <a:r>
              <a:rPr lang="en-US" altLang="zh-CN" sz="3200" b="1" dirty="0">
                <a:latin typeface="Times New Roman" panose="02020603050405020304" pitchFamily="18" charset="0"/>
                <a:cs typeface="Times New Roman" panose="02020603050405020304" pitchFamily="18" charset="0"/>
              </a:rPr>
              <a:t>5</a:t>
            </a:r>
            <a:r>
              <a:rPr lang="zh-CN" altLang="en-US" sz="3200" b="1" dirty="0">
                <a:latin typeface="Times New Roman" panose="02020603050405020304" pitchFamily="18" charset="0"/>
                <a:cs typeface="Times New Roman" panose="02020603050405020304" pitchFamily="18" charset="0"/>
              </a:rPr>
              <a:t>、每个模块的结构尽量设计单一入口和出口。</a:t>
            </a:r>
          </a:p>
        </p:txBody>
      </p:sp>
    </p:spTree>
    <p:extLst>
      <p:ext uri="{BB962C8B-B14F-4D97-AF65-F5344CB8AC3E}">
        <p14:creationId xmlns:p14="http://schemas.microsoft.com/office/powerpoint/2010/main" val="3011639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14917" y="155700"/>
            <a:ext cx="4525783" cy="769441"/>
          </a:xfrm>
          <a:prstGeom prst="rect">
            <a:avLst/>
          </a:prstGeom>
          <a:solidFill>
            <a:schemeClr val="lt1"/>
          </a:solidFill>
          <a:effectLst/>
        </p:spPr>
        <p:txBody>
          <a:bodyPr vert="horz" lIns="91440" tIns="45720" rIns="91440" bIns="45720" rtlCol="0" anchor="ctr">
            <a:noAutofit/>
          </a:bodyPr>
          <a:lstStyle/>
          <a:p>
            <a:pPr algn="ctr">
              <a:spcBef>
                <a:spcPct val="0"/>
              </a:spcBef>
            </a:pPr>
            <a:r>
              <a:rPr lang="zh-CN" altLang="en-US" sz="4400" b="1" dirty="0">
                <a:solidFill>
                  <a:srgbClr val="800000"/>
                </a:solidFill>
                <a:latin typeface="Arial" pitchFamily="34" charset="0"/>
                <a:ea typeface="黑体" pitchFamily="49" charset="-122"/>
                <a:cs typeface="+mj-cs"/>
              </a:rPr>
              <a:t>模块化程序实例</a:t>
            </a:r>
            <a:endParaRPr lang="zh-CN" altLang="zh-CN" sz="4400" b="1" dirty="0">
              <a:solidFill>
                <a:srgbClr val="800000"/>
              </a:solidFill>
              <a:latin typeface="Arial" pitchFamily="34" charset="0"/>
              <a:ea typeface="黑体" pitchFamily="49" charset="-122"/>
              <a:cs typeface="+mj-cs"/>
            </a:endParaRPr>
          </a:p>
        </p:txBody>
      </p:sp>
      <p:sp>
        <p:nvSpPr>
          <p:cNvPr id="3" name="TextBox 2"/>
          <p:cNvSpPr txBox="1"/>
          <p:nvPr/>
        </p:nvSpPr>
        <p:spPr>
          <a:xfrm>
            <a:off x="660400" y="914400"/>
            <a:ext cx="10985500" cy="3970318"/>
          </a:xfrm>
          <a:prstGeom prst="rect">
            <a:avLst/>
          </a:prstGeom>
          <a:noFill/>
        </p:spPr>
        <p:txBody>
          <a:bodyPr wrap="square" rtlCol="0">
            <a:spAutoFit/>
          </a:bodyPr>
          <a:lstStyle/>
          <a:p>
            <a:pPr>
              <a:lnSpc>
                <a:spcPct val="150000"/>
              </a:lnSpc>
            </a:pPr>
            <a:r>
              <a:rPr lang="zh-CN" altLang="en-US" sz="2800" b="1" dirty="0">
                <a:latin typeface="Times New Roman" panose="02020603050405020304" pitchFamily="18" charset="0"/>
                <a:cs typeface="Times New Roman" panose="02020603050405020304" pitchFamily="18" charset="0"/>
              </a:rPr>
              <a:t>例：完成购买一注福利彩票双色球程序。</a:t>
            </a:r>
            <a:endParaRPr lang="en-US" altLang="zh-CN" sz="2800" b="1" dirty="0">
              <a:latin typeface="Times New Roman" panose="02020603050405020304" pitchFamily="18" charset="0"/>
              <a:cs typeface="Times New Roman" panose="02020603050405020304" pitchFamily="18" charset="0"/>
            </a:endParaRPr>
          </a:p>
          <a:p>
            <a:pPr>
              <a:lnSpc>
                <a:spcPct val="150000"/>
              </a:lnSpc>
            </a:pPr>
            <a:r>
              <a:rPr lang="zh-CN" altLang="en-US" sz="2800" b="1" dirty="0">
                <a:solidFill>
                  <a:srgbClr val="FF0000"/>
                </a:solidFill>
                <a:latin typeface="Times New Roman" panose="02020603050405020304" pitchFamily="18" charset="0"/>
                <a:cs typeface="Times New Roman" panose="02020603050405020304" pitchFamily="18" charset="0"/>
              </a:rPr>
              <a:t>程序功能：</a:t>
            </a:r>
            <a:r>
              <a:rPr lang="zh-CN" altLang="en-US" sz="2800" b="1" dirty="0">
                <a:latin typeface="Times New Roman" panose="02020603050405020304" pitchFamily="18" charset="0"/>
                <a:cs typeface="Times New Roman" panose="02020603050405020304" pitchFamily="18" charset="0"/>
              </a:rPr>
              <a:t>模拟购买一注福利彩票双色球程序。</a:t>
            </a:r>
            <a:endParaRPr lang="en-US" altLang="zh-CN" sz="2800" b="1" dirty="0">
              <a:latin typeface="Times New Roman" panose="02020603050405020304" pitchFamily="18" charset="0"/>
              <a:cs typeface="Times New Roman" panose="02020603050405020304" pitchFamily="18" charset="0"/>
            </a:endParaRPr>
          </a:p>
          <a:p>
            <a:pPr>
              <a:lnSpc>
                <a:spcPct val="150000"/>
              </a:lnSpc>
            </a:pPr>
            <a:r>
              <a:rPr lang="zh-CN" altLang="en-US" sz="2800" b="1" dirty="0">
                <a:latin typeface="Times New Roman" panose="02020603050405020304" pitchFamily="18" charset="0"/>
                <a:cs typeface="Times New Roman" panose="02020603050405020304" pitchFamily="18" charset="0"/>
              </a:rPr>
              <a:t>分析：任务首先分解为产生一注彩票和输出；产生的过程又可分为机选和自选两种情况。输出福利彩票再细分为显示方式，是显示器显示还是文件保存。</a:t>
            </a:r>
            <a:endParaRPr lang="en-US" altLang="zh-CN" sz="2800" b="1" dirty="0">
              <a:latin typeface="Times New Roman" panose="02020603050405020304" pitchFamily="18" charset="0"/>
              <a:cs typeface="Times New Roman" panose="02020603050405020304" pitchFamily="18" charset="0"/>
            </a:endParaRPr>
          </a:p>
          <a:p>
            <a:pPr>
              <a:lnSpc>
                <a:spcPct val="150000"/>
              </a:lnSpc>
            </a:pPr>
            <a:r>
              <a:rPr lang="zh-CN" altLang="en-US" sz="2800" b="1" dirty="0">
                <a:latin typeface="Times New Roman" panose="02020603050405020304" pitchFamily="18" charset="0"/>
                <a:cs typeface="Times New Roman" panose="02020603050405020304" pitchFamily="18" charset="0"/>
              </a:rPr>
              <a:t>分解模块为：</a:t>
            </a:r>
          </a:p>
        </p:txBody>
      </p:sp>
      <p:graphicFrame>
        <p:nvGraphicFramePr>
          <p:cNvPr id="4" name="图示 3"/>
          <p:cNvGraphicFramePr/>
          <p:nvPr>
            <p:extLst>
              <p:ext uri="{D42A27DB-BD31-4B8C-83A1-F6EECF244321}">
                <p14:modId xmlns:p14="http://schemas.microsoft.com/office/powerpoint/2010/main" val="2644583473"/>
              </p:ext>
            </p:extLst>
          </p:nvPr>
        </p:nvGraphicFramePr>
        <p:xfrm>
          <a:off x="2171700" y="4000500"/>
          <a:ext cx="8128000" cy="23918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363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641912" y="0"/>
            <a:ext cx="9816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950759" y="0"/>
            <a:ext cx="9816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259606" y="0"/>
            <a:ext cx="98163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568452" y="0"/>
            <a:ext cx="98163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540000" y="1524000"/>
            <a:ext cx="3719606"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15210" y="1524000"/>
            <a:ext cx="363679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2621337" y="1941094"/>
            <a:ext cx="6949338" cy="1446550"/>
          </a:xfrm>
          <a:prstGeom prst="rect">
            <a:avLst/>
          </a:prstGeom>
          <a:noFill/>
        </p:spPr>
        <p:txBody>
          <a:bodyPr wrap="none" rtlCol="0">
            <a:spAutoFit/>
          </a:bodyPr>
          <a:lstStyle/>
          <a:p>
            <a:pPr algn="ctr"/>
            <a:r>
              <a:rPr lang="en-US" altLang="zh-CN"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rPr>
              <a:t>SECTION 08</a:t>
            </a:r>
            <a:endParaRPr lang="zh-CN" altLang="en-US" sz="88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endParaRPr>
          </a:p>
        </p:txBody>
      </p:sp>
      <p:sp>
        <p:nvSpPr>
          <p:cNvPr id="30" name="文本框 29"/>
          <p:cNvSpPr txBox="1"/>
          <p:nvPr/>
        </p:nvSpPr>
        <p:spPr>
          <a:xfrm>
            <a:off x="4593292" y="3310581"/>
            <a:ext cx="3440577" cy="923330"/>
          </a:xfrm>
          <a:prstGeom prst="rect">
            <a:avLst/>
          </a:prstGeom>
          <a:noFill/>
        </p:spPr>
        <p:txBody>
          <a:bodyPr wrap="square" rtlCol="0">
            <a:spAutoFit/>
          </a:bodyPr>
          <a:lstStyle/>
          <a:p>
            <a:pPr algn="dist"/>
            <a:r>
              <a:rPr lang="zh-CN" altLang="en-US" sz="5400" b="1" dirty="0">
                <a:solidFill>
                  <a:schemeClr val="tx1">
                    <a:lumMod val="65000"/>
                    <a:lumOff val="35000"/>
                  </a:schemeClr>
                </a:solidFill>
                <a:latin typeface="微软雅黑" panose="020B0503020204020204" pitchFamily="34" charset="-122"/>
                <a:ea typeface="微软雅黑" panose="020B0503020204020204" pitchFamily="34" charset="-122"/>
              </a:rPr>
              <a:t>综合案例</a:t>
            </a:r>
          </a:p>
        </p:txBody>
      </p:sp>
      <p:sp>
        <p:nvSpPr>
          <p:cNvPr id="31" name="文本框 30"/>
          <p:cNvSpPr txBox="1"/>
          <p:nvPr/>
        </p:nvSpPr>
        <p:spPr>
          <a:xfrm>
            <a:off x="3058603" y="4233911"/>
            <a:ext cx="6200747" cy="408125"/>
          </a:xfrm>
          <a:prstGeom prst="rect">
            <a:avLst/>
          </a:prstGeom>
          <a:noFill/>
        </p:spPr>
        <p:txBody>
          <a:bodyPr wrap="square" rtlCol="0">
            <a:spAutoFit/>
          </a:bodyPr>
          <a:lstStyle/>
          <a:p>
            <a:pPr algn="dist">
              <a:lnSpc>
                <a:spcPct val="114000"/>
              </a:lnSpc>
            </a:pPr>
            <a:r>
              <a:rPr lang="en-US" altLang="zh-CN" dirty="0"/>
              <a:t>COMPREHENSIVE CASE</a:t>
            </a:r>
            <a:endParaRPr lang="en-US" altLang="zh-CN" sz="1600" dirty="0">
              <a:solidFill>
                <a:schemeClr val="bg1">
                  <a:lumMod val="65000"/>
                </a:schemeClr>
              </a:solidFill>
              <a:ea typeface="汉仪趣黑W" panose="00020600040101010101" pitchFamily="18" charset="-122"/>
            </a:endParaRPr>
          </a:p>
        </p:txBody>
      </p:sp>
    </p:spTree>
    <p:extLst>
      <p:ext uri="{BB962C8B-B14F-4D97-AF65-F5344CB8AC3E}">
        <p14:creationId xmlns:p14="http://schemas.microsoft.com/office/powerpoint/2010/main" val="1434114716"/>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750" fill="hold"/>
                                        <p:tgtEl>
                                          <p:spTgt spid="25"/>
                                        </p:tgtEl>
                                        <p:attrNameLst>
                                          <p:attrName>ppt_x</p:attrName>
                                        </p:attrNameLst>
                                      </p:cBhvr>
                                      <p:tavLst>
                                        <p:tav tm="0">
                                          <p:val>
                                            <p:strVal val="#ppt_x"/>
                                          </p:val>
                                        </p:tav>
                                        <p:tav tm="100000">
                                          <p:val>
                                            <p:strVal val="#ppt_x"/>
                                          </p:val>
                                        </p:tav>
                                      </p:tavLst>
                                    </p:anim>
                                    <p:anim calcmode="lin" valueType="num">
                                      <p:cBhvr additive="base">
                                        <p:cTn id="12" dur="75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2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750" fill="hold"/>
                                        <p:tgtEl>
                                          <p:spTgt spid="26"/>
                                        </p:tgtEl>
                                        <p:attrNameLst>
                                          <p:attrName>ppt_x</p:attrName>
                                        </p:attrNameLst>
                                      </p:cBhvr>
                                      <p:tavLst>
                                        <p:tav tm="0">
                                          <p:val>
                                            <p:strVal val="#ppt_x"/>
                                          </p:val>
                                        </p:tav>
                                        <p:tav tm="100000">
                                          <p:val>
                                            <p:strVal val="#ppt_x"/>
                                          </p:val>
                                        </p:tav>
                                      </p:tavLst>
                                    </p:anim>
                                    <p:anim calcmode="lin" valueType="num">
                                      <p:cBhvr additive="base">
                                        <p:cTn id="16" dur="75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750" fill="hold"/>
                                        <p:tgtEl>
                                          <p:spTgt spid="27"/>
                                        </p:tgtEl>
                                        <p:attrNameLst>
                                          <p:attrName>ppt_x</p:attrName>
                                        </p:attrNameLst>
                                      </p:cBhvr>
                                      <p:tavLst>
                                        <p:tav tm="0">
                                          <p:val>
                                            <p:strVal val="#ppt_x"/>
                                          </p:val>
                                        </p:tav>
                                        <p:tav tm="100000">
                                          <p:val>
                                            <p:strVal val="#ppt_x"/>
                                          </p:val>
                                        </p:tav>
                                      </p:tavLst>
                                    </p:anim>
                                    <p:anim calcmode="lin" valueType="num">
                                      <p:cBhvr additive="base">
                                        <p:cTn id="20" dur="750" fill="hold"/>
                                        <p:tgtEl>
                                          <p:spTgt spid="27"/>
                                        </p:tgtEl>
                                        <p:attrNameLst>
                                          <p:attrName>ppt_y</p:attrName>
                                        </p:attrNameLst>
                                      </p:cBhvr>
                                      <p:tavLst>
                                        <p:tav tm="0">
                                          <p:val>
                                            <p:strVal val="1+#ppt_h/2"/>
                                          </p:val>
                                        </p:tav>
                                        <p:tav tm="100000">
                                          <p:val>
                                            <p:strVal val="#ppt_y"/>
                                          </p:val>
                                        </p:tav>
                                      </p:tavLst>
                                    </p:anim>
                                  </p:childTnLst>
                                </p:cTn>
                              </p:par>
                            </p:childTnLst>
                          </p:cTn>
                        </p:par>
                        <p:par>
                          <p:cTn id="21" fill="hold">
                            <p:stCondLst>
                              <p:cond delay="1050"/>
                            </p:stCondLst>
                            <p:childTnLst>
                              <p:par>
                                <p:cTn id="22" presetID="2" presetClass="entr" presetSubtype="8"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additive="base">
                                        <p:cTn id="24" dur="1250" fill="hold"/>
                                        <p:tgtEl>
                                          <p:spTgt spid="28"/>
                                        </p:tgtEl>
                                        <p:attrNameLst>
                                          <p:attrName>ppt_x</p:attrName>
                                        </p:attrNameLst>
                                      </p:cBhvr>
                                      <p:tavLst>
                                        <p:tav tm="0">
                                          <p:val>
                                            <p:strVal val="0-#ppt_w/2"/>
                                          </p:val>
                                        </p:tav>
                                        <p:tav tm="100000">
                                          <p:val>
                                            <p:strVal val="#ppt_x"/>
                                          </p:val>
                                        </p:tav>
                                      </p:tavLst>
                                    </p:anim>
                                    <p:anim calcmode="lin" valueType="num">
                                      <p:cBhvr additive="base">
                                        <p:cTn id="25" dur="1250" fill="hold"/>
                                        <p:tgtEl>
                                          <p:spTgt spid="2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1250" fill="hold"/>
                                        <p:tgtEl>
                                          <p:spTgt spid="32"/>
                                        </p:tgtEl>
                                        <p:attrNameLst>
                                          <p:attrName>ppt_x</p:attrName>
                                        </p:attrNameLst>
                                      </p:cBhvr>
                                      <p:tavLst>
                                        <p:tav tm="0">
                                          <p:val>
                                            <p:strVal val="1+#ppt_w/2"/>
                                          </p:val>
                                        </p:tav>
                                        <p:tav tm="100000">
                                          <p:val>
                                            <p:strVal val="#ppt_x"/>
                                          </p:val>
                                        </p:tav>
                                      </p:tavLst>
                                    </p:anim>
                                    <p:anim calcmode="lin" valueType="num">
                                      <p:cBhvr additive="base">
                                        <p:cTn id="29" dur="1250" fill="hold"/>
                                        <p:tgtEl>
                                          <p:spTgt spid="32"/>
                                        </p:tgtEl>
                                        <p:attrNameLst>
                                          <p:attrName>ppt_y</p:attrName>
                                        </p:attrNameLst>
                                      </p:cBhvr>
                                      <p:tavLst>
                                        <p:tav tm="0">
                                          <p:val>
                                            <p:strVal val="#ppt_y"/>
                                          </p:val>
                                        </p:tav>
                                        <p:tav tm="100000">
                                          <p:val>
                                            <p:strVal val="#ppt_y"/>
                                          </p:val>
                                        </p:tav>
                                      </p:tavLst>
                                    </p:anim>
                                  </p:childTnLst>
                                </p:cTn>
                              </p:par>
                            </p:childTnLst>
                          </p:cTn>
                        </p:par>
                        <p:par>
                          <p:cTn id="30" fill="hold">
                            <p:stCondLst>
                              <p:cond delay="2300"/>
                            </p:stCondLst>
                            <p:childTnLst>
                              <p:par>
                                <p:cTn id="31" presetID="53" presetClass="entr" presetSubtype="52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Effect transition="in" filter="fade">
                                      <p:cBhvr>
                                        <p:cTn id="35" dur="500"/>
                                        <p:tgtEl>
                                          <p:spTgt spid="29"/>
                                        </p:tgtEl>
                                      </p:cBhvr>
                                    </p:animEffect>
                                    <p:anim calcmode="lin" valueType="num">
                                      <p:cBhvr>
                                        <p:cTn id="36" dur="500" fill="hold"/>
                                        <p:tgtEl>
                                          <p:spTgt spid="29"/>
                                        </p:tgtEl>
                                        <p:attrNameLst>
                                          <p:attrName>ppt_x</p:attrName>
                                        </p:attrNameLst>
                                      </p:cBhvr>
                                      <p:tavLst>
                                        <p:tav tm="0">
                                          <p:val>
                                            <p:fltVal val="0.5"/>
                                          </p:val>
                                        </p:tav>
                                        <p:tav tm="100000">
                                          <p:val>
                                            <p:strVal val="#ppt_x"/>
                                          </p:val>
                                        </p:tav>
                                      </p:tavLst>
                                    </p:anim>
                                    <p:anim calcmode="lin" valueType="num">
                                      <p:cBhvr>
                                        <p:cTn id="37" dur="500" fill="hold"/>
                                        <p:tgtEl>
                                          <p:spTgt spid="29"/>
                                        </p:tgtEl>
                                        <p:attrNameLst>
                                          <p:attrName>ppt_y</p:attrName>
                                        </p:attrNameLst>
                                      </p:cBhvr>
                                      <p:tavLst>
                                        <p:tav tm="0">
                                          <p:val>
                                            <p:fltVal val="0.5"/>
                                          </p:val>
                                        </p:tav>
                                        <p:tav tm="100000">
                                          <p:val>
                                            <p:strVal val="#ppt_y"/>
                                          </p:val>
                                        </p:tav>
                                      </p:tavLst>
                                    </p:anim>
                                  </p:childTnLst>
                                </p:cTn>
                              </p:par>
                            </p:childTnLst>
                          </p:cTn>
                        </p:par>
                        <p:par>
                          <p:cTn id="38" fill="hold">
                            <p:stCondLst>
                              <p:cond delay="2800"/>
                            </p:stCondLst>
                            <p:childTnLst>
                              <p:par>
                                <p:cTn id="39" presetID="53" presetClass="entr" presetSubtype="528" fill="hold" grpId="0" nodeType="afterEffect">
                                  <p:stCondLst>
                                    <p:cond delay="0"/>
                                  </p:stCondLst>
                                  <p:iterate type="lt">
                                    <p:tmPct val="10000"/>
                                  </p:iterate>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anim calcmode="lin" valueType="num">
                                      <p:cBhvr>
                                        <p:cTn id="44" dur="500" fill="hold"/>
                                        <p:tgtEl>
                                          <p:spTgt spid="30"/>
                                        </p:tgtEl>
                                        <p:attrNameLst>
                                          <p:attrName>ppt_x</p:attrName>
                                        </p:attrNameLst>
                                      </p:cBhvr>
                                      <p:tavLst>
                                        <p:tav tm="0">
                                          <p:val>
                                            <p:fltVal val="0.5"/>
                                          </p:val>
                                        </p:tav>
                                        <p:tav tm="100000">
                                          <p:val>
                                            <p:strVal val="#ppt_x"/>
                                          </p:val>
                                        </p:tav>
                                      </p:tavLst>
                                    </p:anim>
                                    <p:anim calcmode="lin" valueType="num">
                                      <p:cBhvr>
                                        <p:cTn id="45" dur="500" fill="hold"/>
                                        <p:tgtEl>
                                          <p:spTgt spid="30"/>
                                        </p:tgtEl>
                                        <p:attrNameLst>
                                          <p:attrName>ppt_y</p:attrName>
                                        </p:attrNameLst>
                                      </p:cBhvr>
                                      <p:tavLst>
                                        <p:tav tm="0">
                                          <p:val>
                                            <p:fltVal val="0.5"/>
                                          </p:val>
                                        </p:tav>
                                        <p:tav tm="100000">
                                          <p:val>
                                            <p:strVal val="#ppt_y"/>
                                          </p:val>
                                        </p:tav>
                                      </p:tavLst>
                                    </p:anim>
                                  </p:childTnLst>
                                </p:cTn>
                              </p:par>
                            </p:childTnLst>
                          </p:cTn>
                        </p:par>
                        <p:par>
                          <p:cTn id="46" fill="hold">
                            <p:stCondLst>
                              <p:cond delay="3450"/>
                            </p:stCondLst>
                            <p:childTnLst>
                              <p:par>
                                <p:cTn id="47" presetID="14" presetClass="entr" presetSubtype="10" fill="hold" grpId="0"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randombar(horizontal)">
                                      <p:cBhvr>
                                        <p:cTn id="4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32" grpId="0" animBg="1"/>
      <p:bldP spid="29" grpId="0"/>
      <p:bldP spid="30" grpId="0"/>
      <p:bldP spid="31"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94200" y="234265"/>
            <a:ext cx="3378200" cy="646331"/>
          </a:xfrm>
          <a:prstGeom prst="rect">
            <a:avLst/>
          </a:prstGeom>
          <a:solidFill>
            <a:schemeClr val="bg1"/>
          </a:solidFill>
        </p:spPr>
        <p:txBody>
          <a:bodyPr wrap="square" rtlCol="0">
            <a:spAutoFit/>
          </a:bodyPr>
          <a:lstStyle/>
          <a:p>
            <a:pPr algn="ctr"/>
            <a:r>
              <a:rPr lang="en-US" altLang="zh-CN"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a:t>
            </a:r>
            <a:r>
              <a:rPr lang="en-US" altLang="zh-CN"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zh-CN" altLang="en-US"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TextBox 2"/>
          <p:cNvSpPr txBox="1"/>
          <p:nvPr/>
        </p:nvSpPr>
        <p:spPr>
          <a:xfrm>
            <a:off x="774700" y="805764"/>
            <a:ext cx="10731500" cy="5632311"/>
          </a:xfrm>
          <a:prstGeom prst="rect">
            <a:avLst/>
          </a:prstGeom>
          <a:solidFill>
            <a:schemeClr val="bg1"/>
          </a:solidFill>
        </p:spPr>
        <p:txBody>
          <a:bodyPr wrap="square" rtlCol="0">
            <a:spAutoFit/>
          </a:bodyPr>
          <a:lstStyle/>
          <a:p>
            <a:pPr>
              <a:lnSpc>
                <a:spcPct val="150000"/>
              </a:lnSpc>
            </a:pPr>
            <a:r>
              <a:rPr lang="zh-CN" altLang="en-US"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问题描述：</a:t>
            </a:r>
            <a:endParaRPr lang="en-US" altLang="zh-CN"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150000"/>
              </a:lnSpc>
            </a:pP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          从键盘输入年、月、日，按照美国格式输出。如“</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2018</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6</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月</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15</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日”，输出格式为“</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June 15</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2018</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32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32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150000"/>
              </a:lnSpc>
            </a:pPr>
            <a:r>
              <a:rPr lang="zh-CN" altLang="en-US"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问题分析：</a:t>
            </a:r>
            <a:endParaRPr lang="en-US" altLang="zh-CN"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1</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、怎么模块化？</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2</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、主函数做什么？</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3</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、子函数做什么？</a:t>
            </a:r>
          </a:p>
        </p:txBody>
      </p:sp>
    </p:spTree>
    <p:extLst>
      <p:ext uri="{BB962C8B-B14F-4D97-AF65-F5344CB8AC3E}">
        <p14:creationId xmlns:p14="http://schemas.microsoft.com/office/powerpoint/2010/main" val="102010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94200" y="234265"/>
            <a:ext cx="3378200" cy="646331"/>
          </a:xfrm>
          <a:prstGeom prst="rect">
            <a:avLst/>
          </a:prstGeom>
          <a:solidFill>
            <a:schemeClr val="bg1"/>
          </a:solidFill>
        </p:spPr>
        <p:txBody>
          <a:bodyPr wrap="square" rtlCol="0">
            <a:spAutoFit/>
          </a:bodyPr>
          <a:lstStyle/>
          <a:p>
            <a:pPr algn="ctr"/>
            <a:r>
              <a:rPr lang="en-US" altLang="zh-CN"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a:t>
            </a:r>
            <a:r>
              <a:rPr lang="en-US" altLang="zh-CN"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zh-CN" altLang="en-US"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TextBox 2"/>
          <p:cNvSpPr txBox="1"/>
          <p:nvPr/>
        </p:nvSpPr>
        <p:spPr>
          <a:xfrm>
            <a:off x="774700" y="805764"/>
            <a:ext cx="10731500" cy="5632311"/>
          </a:xfrm>
          <a:prstGeom prst="rect">
            <a:avLst/>
          </a:prstGeom>
          <a:solidFill>
            <a:schemeClr val="bg1"/>
          </a:solidFill>
        </p:spPr>
        <p:txBody>
          <a:bodyPr wrap="square" rtlCol="0">
            <a:spAutoFit/>
          </a:bodyPr>
          <a:lstStyle/>
          <a:p>
            <a:pPr>
              <a:lnSpc>
                <a:spcPct val="150000"/>
              </a:lnSpc>
            </a:pPr>
            <a:r>
              <a:rPr lang="zh-CN" altLang="en-US"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问题描述：</a:t>
            </a:r>
            <a:endParaRPr lang="en-US" altLang="zh-CN"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150000"/>
              </a:lnSpc>
            </a:pP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          计算</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+2</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+……+n!</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n&lt;=10</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32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32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150000"/>
              </a:lnSpc>
            </a:pPr>
            <a:r>
              <a:rPr lang="zh-CN" altLang="en-US"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问题分析：</a:t>
            </a:r>
            <a:endParaRPr lang="en-US" altLang="zh-CN"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1</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、找出重复的动作，封装为函数；</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2</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、在函数中找出需要传递并且在变的量，作为参数；</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3</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、编写完成；</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4</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、改进程序。</a:t>
            </a:r>
          </a:p>
        </p:txBody>
      </p:sp>
    </p:spTree>
    <p:extLst>
      <p:ext uri="{BB962C8B-B14F-4D97-AF65-F5344CB8AC3E}">
        <p14:creationId xmlns:p14="http://schemas.microsoft.com/office/powerpoint/2010/main" val="2958109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94200" y="234265"/>
            <a:ext cx="3378200" cy="646331"/>
          </a:xfrm>
          <a:prstGeom prst="rect">
            <a:avLst/>
          </a:prstGeom>
          <a:solidFill>
            <a:schemeClr val="bg1"/>
          </a:solidFill>
        </p:spPr>
        <p:txBody>
          <a:bodyPr wrap="square" rtlCol="0">
            <a:spAutoFit/>
          </a:bodyPr>
          <a:lstStyle/>
          <a:p>
            <a:pPr algn="ctr"/>
            <a:r>
              <a:rPr lang="en-US" altLang="zh-CN"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a:t>
            </a:r>
            <a:r>
              <a:rPr lang="en-US" altLang="zh-CN"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zh-CN" altLang="en-US" sz="3600" b="1" dirty="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TextBox 2"/>
          <p:cNvSpPr txBox="1"/>
          <p:nvPr/>
        </p:nvSpPr>
        <p:spPr>
          <a:xfrm>
            <a:off x="774700" y="805764"/>
            <a:ext cx="10731500" cy="5447645"/>
          </a:xfrm>
          <a:prstGeom prst="rect">
            <a:avLst/>
          </a:prstGeom>
          <a:solidFill>
            <a:schemeClr val="bg1"/>
          </a:solidFill>
        </p:spPr>
        <p:txBody>
          <a:bodyPr wrap="square" rtlCol="0">
            <a:spAutoFit/>
          </a:bodyPr>
          <a:lstStyle/>
          <a:p>
            <a:pPr>
              <a:lnSpc>
                <a:spcPct val="150000"/>
              </a:lnSpc>
            </a:pPr>
            <a:r>
              <a:rPr lang="zh-CN" altLang="en-US"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问题描述：</a:t>
            </a:r>
            <a:endParaRPr lang="en-US" altLang="zh-CN" sz="4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150000"/>
              </a:lnSpc>
            </a:pP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       有一个字符串，内有若干字符，现输入一个字符，要求程序将字符串中该字符删去，用外部函数实现。</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问题分析：</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1</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、字符输入函数</a:t>
            </a:r>
            <a:r>
              <a:rPr lang="en-US" altLang="zh-CN" sz="3200" b="1" dirty="0" err="1">
                <a:solidFill>
                  <a:schemeClr val="tx1">
                    <a:lumMod val="75000"/>
                    <a:lumOff val="25000"/>
                  </a:schemeClr>
                </a:solidFill>
                <a:latin typeface="微软雅黑" panose="020B0503020204020204" pitchFamily="34" charset="-122"/>
                <a:ea typeface="微软雅黑" panose="020B0503020204020204" pitchFamily="34" charset="-122"/>
              </a:rPr>
              <a:t>input_string</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2</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、删除指定字符函数</a:t>
            </a:r>
            <a:r>
              <a:rPr lang="en-US" altLang="zh-CN" sz="3200" b="1" dirty="0" err="1">
                <a:solidFill>
                  <a:schemeClr val="tx1">
                    <a:lumMod val="75000"/>
                    <a:lumOff val="25000"/>
                  </a:schemeClr>
                </a:solidFill>
                <a:latin typeface="微软雅黑" panose="020B0503020204020204" pitchFamily="34" charset="-122"/>
                <a:ea typeface="微软雅黑" panose="020B0503020204020204" pitchFamily="34" charset="-122"/>
              </a:rPr>
              <a:t>delete_string</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3</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、字符串输出函数</a:t>
            </a:r>
            <a:r>
              <a:rPr lang="en-US" altLang="zh-CN" sz="3200" b="1" dirty="0" err="1">
                <a:solidFill>
                  <a:schemeClr val="tx1">
                    <a:lumMod val="75000"/>
                    <a:lumOff val="25000"/>
                  </a:schemeClr>
                </a:solidFill>
                <a:latin typeface="微软雅黑" panose="020B0503020204020204" pitchFamily="34" charset="-122"/>
                <a:ea typeface="微软雅黑" panose="020B0503020204020204" pitchFamily="34" charset="-122"/>
              </a:rPr>
              <a:t>show_string</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3945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34">
      <a:dk1>
        <a:sysClr val="windowText" lastClr="000000"/>
      </a:dk1>
      <a:lt1>
        <a:sysClr val="window" lastClr="FFFFFF"/>
      </a:lt1>
      <a:dk2>
        <a:srgbClr val="44546A"/>
      </a:dk2>
      <a:lt2>
        <a:srgbClr val="E7E6E6"/>
      </a:lt2>
      <a:accent1>
        <a:srgbClr val="FC6495"/>
      </a:accent1>
      <a:accent2>
        <a:srgbClr val="FEBD01"/>
      </a:accent2>
      <a:accent3>
        <a:srgbClr val="8FCD4C"/>
      </a:accent3>
      <a:accent4>
        <a:srgbClr val="4BA9C3"/>
      </a:accent4>
      <a:accent5>
        <a:srgbClr val="FC6495"/>
      </a:accent5>
      <a:accent6>
        <a:srgbClr val="FEBD01"/>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bg1"/>
        </a:solidFill>
      </a:spPr>
      <a:bodyPr wrap="none" rtlCol="0">
        <a:spAutoFit/>
      </a:bodyPr>
      <a:lstStyle>
        <a:defPPr algn="ctr">
          <a:defRPr sz="6600" b="1" dirty="0">
            <a:gradFill flip="none" rotWithShape="1">
              <a:gsLst>
                <a:gs pos="25000">
                  <a:schemeClr val="accent1"/>
                </a:gs>
                <a:gs pos="51000">
                  <a:schemeClr val="accent2"/>
                </a:gs>
                <a:gs pos="30000">
                  <a:schemeClr val="accent2"/>
                </a:gs>
                <a:gs pos="75000">
                  <a:srgbClr val="6EBB87"/>
                </a:gs>
                <a:gs pos="55000">
                  <a:schemeClr val="accent3"/>
                </a:gs>
                <a:gs pos="79000">
                  <a:schemeClr val="accent4"/>
                </a:gs>
              </a:gsLst>
              <a:lin ang="0" scaled="1"/>
              <a:tileRect/>
            </a:gradFill>
            <a:effectLst>
              <a:outerShdw blurRad="38100" dist="38100" dir="2700000" algn="tl">
                <a:srgbClr val="000000">
                  <a:alpha val="43137"/>
                </a:srgbClr>
              </a:outerShdw>
            </a:effectLst>
            <a:latin typeface="汉仪趣黑W" panose="00020600040101010101" pitchFamily="18" charset="-122"/>
            <a:ea typeface="汉仪趣黑W" panose="00020600040101010101" pitchFamily="18"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1340</TotalTime>
  <Words>10911</Words>
  <Application>Microsoft Office PowerPoint</Application>
  <PresentationFormat>宽屏</PresentationFormat>
  <Paragraphs>1543</Paragraphs>
  <Slides>104</Slides>
  <Notes>51</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104</vt:i4>
      </vt:variant>
    </vt:vector>
  </HeadingPairs>
  <TitlesOfParts>
    <vt:vector size="125" baseType="lpstr">
      <vt:lpstr>Monotype Sorts</vt:lpstr>
      <vt:lpstr>等线</vt:lpstr>
      <vt:lpstr>方正姚体</vt:lpstr>
      <vt:lpstr>仿宋_GB2312</vt:lpstr>
      <vt:lpstr>汉仪趣黑W</vt:lpstr>
      <vt:lpstr>黑体</vt:lpstr>
      <vt:lpstr>华文细黑</vt:lpstr>
      <vt:lpstr>华文新魏</vt:lpstr>
      <vt:lpstr>楷体_GB2312</vt:lpstr>
      <vt:lpstr>隶书</vt:lpstr>
      <vt:lpstr>宋体</vt:lpstr>
      <vt:lpstr>微软雅黑</vt:lpstr>
      <vt:lpstr>Arial</vt:lpstr>
      <vt:lpstr>Courier New</vt:lpstr>
      <vt:lpstr>Tahoma</vt:lpstr>
      <vt:lpstr>Times New Roman</vt:lpstr>
      <vt:lpstr>Wingdings</vt:lpstr>
      <vt:lpstr>Office 主题​​</vt:lpstr>
      <vt:lpstr>Bitmap Image</vt:lpstr>
      <vt:lpstr>Equation</vt:lpstr>
      <vt:lpstr>BMP 图像</vt:lpstr>
      <vt:lpstr>PowerPoint 演示文稿</vt:lpstr>
      <vt:lpstr>PowerPoint 演示文稿</vt:lpstr>
      <vt:lpstr>PowerPoint 演示文稿</vt:lpstr>
      <vt:lpstr>福利彩票的问题</vt:lpstr>
      <vt:lpstr>福利彩票的问题</vt:lpstr>
      <vt:lpstr>福利彩票的问题-代码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逆流的小鱼</dc:creator>
  <cp:lastModifiedBy>2216184931@qq.com</cp:lastModifiedBy>
  <cp:revision>331</cp:revision>
  <dcterms:created xsi:type="dcterms:W3CDTF">2017-06-20T00:57:00Z</dcterms:created>
  <dcterms:modified xsi:type="dcterms:W3CDTF">2024-12-02T05:50:07Z</dcterms:modified>
</cp:coreProperties>
</file>