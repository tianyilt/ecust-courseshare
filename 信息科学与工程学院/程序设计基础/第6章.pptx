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2.xml" ContentType="application/vnd.openxmlformats-officedocument.presentationml.tags+xml"/>
  <Override PartName="/ppt/notesSlides/notesSlide32.xml" ContentType="application/vnd.openxmlformats-officedocument.presentationml.notesSlide+xml"/>
  <Override PartName="/ppt/tags/tag3.xml" ContentType="application/vnd.openxmlformats-officedocument.presentationml.tags+xml"/>
  <Override PartName="/ppt/notesSlides/notesSlide33.xml" ContentType="application/vnd.openxmlformats-officedocument.presentationml.notesSlide+xml"/>
  <Override PartName="/ppt/tags/tag4.xml" ContentType="application/vnd.openxmlformats-officedocument.presentationml.tags+xml"/>
  <Override PartName="/ppt/notesSlides/notesSlide34.xml" ContentType="application/vnd.openxmlformats-officedocument.presentationml.notesSlide+xml"/>
  <Override PartName="/ppt/tags/tag5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0"/>
  </p:notesMasterIdLst>
  <p:sldIdLst>
    <p:sldId id="256" r:id="rId2"/>
    <p:sldId id="257" r:id="rId3"/>
    <p:sldId id="258" r:id="rId4"/>
    <p:sldId id="284" r:id="rId5"/>
    <p:sldId id="343" r:id="rId6"/>
    <p:sldId id="285" r:id="rId7"/>
    <p:sldId id="286" r:id="rId8"/>
    <p:sldId id="287" r:id="rId9"/>
    <p:sldId id="288" r:id="rId10"/>
    <p:sldId id="290" r:id="rId11"/>
    <p:sldId id="291" r:id="rId12"/>
    <p:sldId id="292" r:id="rId13"/>
    <p:sldId id="293" r:id="rId14"/>
    <p:sldId id="369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90" r:id="rId37"/>
    <p:sldId id="391" r:id="rId38"/>
    <p:sldId id="392" r:id="rId39"/>
    <p:sldId id="393" r:id="rId40"/>
    <p:sldId id="401" r:id="rId41"/>
    <p:sldId id="403" r:id="rId42"/>
    <p:sldId id="404" r:id="rId43"/>
    <p:sldId id="406" r:id="rId44"/>
    <p:sldId id="405" r:id="rId45"/>
    <p:sldId id="394" r:id="rId46"/>
    <p:sldId id="398" r:id="rId47"/>
    <p:sldId id="400" r:id="rId48"/>
    <p:sldId id="399" r:id="rId49"/>
    <p:sldId id="367" r:id="rId50"/>
    <p:sldId id="299" r:id="rId51"/>
    <p:sldId id="300" r:id="rId52"/>
    <p:sldId id="301" r:id="rId53"/>
    <p:sldId id="420" r:id="rId54"/>
    <p:sldId id="408" r:id="rId55"/>
    <p:sldId id="302" r:id="rId56"/>
    <p:sldId id="303" r:id="rId57"/>
    <p:sldId id="304" r:id="rId58"/>
    <p:sldId id="314" r:id="rId59"/>
    <p:sldId id="442" r:id="rId60"/>
    <p:sldId id="409" r:id="rId61"/>
    <p:sldId id="421" r:id="rId62"/>
    <p:sldId id="422" r:id="rId63"/>
    <p:sldId id="423" r:id="rId64"/>
    <p:sldId id="368" r:id="rId65"/>
    <p:sldId id="267" r:id="rId66"/>
    <p:sldId id="317" r:id="rId67"/>
    <p:sldId id="426" r:id="rId68"/>
    <p:sldId id="427" r:id="rId69"/>
    <p:sldId id="424" r:id="rId70"/>
    <p:sldId id="320" r:id="rId71"/>
    <p:sldId id="428" r:id="rId72"/>
    <p:sldId id="321" r:id="rId73"/>
    <p:sldId id="322" r:id="rId74"/>
    <p:sldId id="440" r:id="rId75"/>
    <p:sldId id="441" r:id="rId76"/>
    <p:sldId id="326" r:id="rId77"/>
    <p:sldId id="327" r:id="rId78"/>
    <p:sldId id="429" r:id="rId79"/>
    <p:sldId id="330" r:id="rId80"/>
    <p:sldId id="332" r:id="rId81"/>
    <p:sldId id="333" r:id="rId82"/>
    <p:sldId id="334" r:id="rId83"/>
    <p:sldId id="335" r:id="rId84"/>
    <p:sldId id="338" r:id="rId85"/>
    <p:sldId id="339" r:id="rId86"/>
    <p:sldId id="385" r:id="rId87"/>
    <p:sldId id="372" r:id="rId88"/>
    <p:sldId id="373" r:id="rId89"/>
    <p:sldId id="374" r:id="rId90"/>
    <p:sldId id="375" r:id="rId91"/>
    <p:sldId id="376" r:id="rId92"/>
    <p:sldId id="377" r:id="rId93"/>
    <p:sldId id="378" r:id="rId94"/>
    <p:sldId id="379" r:id="rId95"/>
    <p:sldId id="380" r:id="rId96"/>
    <p:sldId id="430" r:id="rId97"/>
    <p:sldId id="431" r:id="rId98"/>
    <p:sldId id="381" r:id="rId99"/>
    <p:sldId id="382" r:id="rId100"/>
    <p:sldId id="383" r:id="rId101"/>
    <p:sldId id="384" r:id="rId102"/>
    <p:sldId id="432" r:id="rId103"/>
    <p:sldId id="433" r:id="rId104"/>
    <p:sldId id="434" r:id="rId105"/>
    <p:sldId id="435" r:id="rId106"/>
    <p:sldId id="437" r:id="rId107"/>
    <p:sldId id="438" r:id="rId108"/>
    <p:sldId id="439" r:id="rId109"/>
    <p:sldId id="410" r:id="rId110"/>
    <p:sldId id="411" r:id="rId111"/>
    <p:sldId id="412" r:id="rId112"/>
    <p:sldId id="413" r:id="rId113"/>
    <p:sldId id="414" r:id="rId114"/>
    <p:sldId id="415" r:id="rId115"/>
    <p:sldId id="416" r:id="rId116"/>
    <p:sldId id="417" r:id="rId117"/>
    <p:sldId id="418" r:id="rId118"/>
    <p:sldId id="419" r:id="rId119"/>
  </p:sldIdLst>
  <p:sldSz cx="12192000" cy="6858000"/>
  <p:notesSz cx="7104063" cy="10234613"/>
  <p:custDataLst>
    <p:tags r:id="rId1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494" autoAdjust="0"/>
  </p:normalViewPr>
  <p:slideViewPr>
    <p:cSldViewPr snapToGrid="0">
      <p:cViewPr varScale="1">
        <p:scale>
          <a:sx n="55" d="100"/>
          <a:sy n="55" d="100"/>
        </p:scale>
        <p:origin x="98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gs" Target="tags/tag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3-11-14T03:09:19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12629 8890 0,'0'18'172,"0"-1"-157,0 1 1,0 0 0,0-1-1,0 1 1,0-1 15,0 1 0,0 0 1,0-1-17,18-17 329,0 0-313,-1 0-15,1 0 15,0 0-15,-1 0 46,1 0-46,0 0-1,-1 0 1,1 0 0,-18 18 15,17-18 16,1 0-32,0 0 17,-1 0-17,1 0 1,0 0 31,-1 0-16,1 0 47,0 0 47,-1 0-109,1 0-16,0 0 15,-18-18 235,0 1-250,0-1 32,0 0-17,0-17 1,0 18 0,0-1-1,0 0 1,0 1-1,0-1 17,0 0-17,0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336BD-2D03-44F3-AC88-82B4A90A622E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DD11C-492E-4F11-A996-5AB054BE2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780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162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339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137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57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"</a:t>
            </a:r>
            <a:r>
              <a:rPr lang="en-US" altLang="zh-CN" dirty="0" err="1"/>
              <a:t>time.h</a:t>
            </a:r>
            <a:r>
              <a:rPr lang="en-US" altLang="zh-CN" dirty="0"/>
              <a:t>"</a:t>
            </a:r>
          </a:p>
          <a:p>
            <a:r>
              <a:rPr lang="en-US" altLang="zh-CN" dirty="0"/>
              <a:t>#include "</a:t>
            </a:r>
            <a:r>
              <a:rPr lang="en-US" altLang="zh-CN" dirty="0" err="1"/>
              <a:t>stdlib.h</a:t>
            </a:r>
            <a:r>
              <a:rPr lang="en-US" altLang="zh-CN" dirty="0"/>
              <a:t>"</a:t>
            </a:r>
          </a:p>
          <a:p>
            <a:r>
              <a:rPr lang="en-US" altLang="zh-CN" dirty="0" err="1"/>
              <a:t>srand</a:t>
            </a:r>
            <a:r>
              <a:rPr lang="en-US" altLang="zh-CN" dirty="0"/>
              <a:t>((unsigned)time(NULL));</a:t>
            </a:r>
          </a:p>
          <a:p>
            <a:r>
              <a:rPr lang="en-US" altLang="zh-CN" dirty="0"/>
              <a:t>ran=rand()%100;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07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874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fld id="{AB402D7B-0248-451F-9BA5-395BF42A361A}" type="slidenum">
              <a:rPr lang="en-US" altLang="zh-CN" smtClean="0">
                <a:latin typeface="Times New Roman" pitchFamily="18" charset="0"/>
                <a:ea typeface="宋体" pitchFamily="2" charset="-122"/>
              </a:rPr>
              <a:pPr eaLnBrk="1" hangingPunct="1"/>
              <a:t>17</a:t>
            </a:fld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7062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856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2024-10-28</a:t>
            </a:r>
            <a:r>
              <a:rPr lang="zh-CN" altLang="en-US"/>
              <a:t>周一理论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158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fld id="{E5792F23-9CD8-4A1A-B7E1-FEA53E190814}" type="slidenum">
              <a:rPr lang="en-US" altLang="zh-CN" smtClean="0">
                <a:latin typeface="Times New Roman" pitchFamily="18" charset="0"/>
                <a:ea typeface="宋体" pitchFamily="2" charset="-122"/>
              </a:rPr>
              <a:pPr eaLnBrk="1" hangingPunct="1"/>
              <a:t>30</a:t>
            </a:fld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899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/>
              <a:t>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070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的转置矩阵为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32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b="1" dirty="0">
                <a:ea typeface="宋体" charset="-122"/>
              </a:rPr>
              <a:t>#include &lt;</a:t>
            </a:r>
            <a:r>
              <a:rPr lang="en-US" altLang="zh-CN" b="1" dirty="0" err="1">
                <a:ea typeface="宋体" charset="-122"/>
              </a:rPr>
              <a:t>stdio.h</a:t>
            </a:r>
            <a:r>
              <a:rPr lang="en-US" altLang="zh-CN" b="1" dirty="0">
                <a:ea typeface="宋体" charset="-122"/>
              </a:rPr>
              <a:t>&gt;</a:t>
            </a:r>
          </a:p>
          <a:p>
            <a:r>
              <a:rPr lang="en-US" altLang="zh-CN" b="1" dirty="0">
                <a:ea typeface="宋体" charset="-122"/>
              </a:rPr>
              <a:t>void main()</a:t>
            </a:r>
          </a:p>
          <a:p>
            <a:r>
              <a:rPr lang="en-US" altLang="zh-CN" b="1" dirty="0">
                <a:ea typeface="宋体" charset="-122"/>
              </a:rPr>
              <a:t>{</a:t>
            </a:r>
          </a:p>
          <a:p>
            <a:r>
              <a:rPr lang="en-US" altLang="zh-CN" b="1" dirty="0">
                <a:ea typeface="宋体" charset="-122"/>
              </a:rPr>
              <a:t>   </a:t>
            </a:r>
            <a:r>
              <a:rPr lang="en-US" altLang="zh-CN" b="1" dirty="0" err="1">
                <a:ea typeface="宋体" charset="-122"/>
              </a:rPr>
              <a:t>int</a:t>
            </a:r>
            <a:r>
              <a:rPr lang="en-US" altLang="zh-CN" b="1" dirty="0">
                <a:ea typeface="宋体" charset="-122"/>
              </a:rPr>
              <a:t> </a:t>
            </a:r>
            <a:r>
              <a:rPr lang="en-US" altLang="zh-CN" b="1" dirty="0" err="1">
                <a:ea typeface="宋体" charset="-122"/>
              </a:rPr>
              <a:t>i,j,k,a</a:t>
            </a:r>
            <a:r>
              <a:rPr lang="en-US" altLang="zh-CN" b="1" dirty="0">
                <a:ea typeface="宋体" charset="-122"/>
              </a:rPr>
              <a:t>[3][4],b[12];</a:t>
            </a:r>
          </a:p>
          <a:p>
            <a:r>
              <a:rPr lang="en-US" altLang="zh-CN" b="1" dirty="0">
                <a:ea typeface="宋体" charset="-122"/>
              </a:rPr>
              <a:t>   for (</a:t>
            </a:r>
            <a:r>
              <a:rPr lang="en-US" altLang="zh-CN" b="1" dirty="0" err="1">
                <a:ea typeface="宋体" charset="-122"/>
              </a:rPr>
              <a:t>i</a:t>
            </a:r>
            <a:r>
              <a:rPr lang="en-US" altLang="zh-CN" b="1" dirty="0">
                <a:ea typeface="宋体" charset="-122"/>
              </a:rPr>
              <a:t>=0;i&lt;3;i++)</a:t>
            </a:r>
          </a:p>
          <a:p>
            <a:r>
              <a:rPr lang="en-US" altLang="zh-CN" b="1" dirty="0">
                <a:ea typeface="宋体" charset="-122"/>
              </a:rPr>
              <a:t>   for (k=0;k&lt;4;k++)</a:t>
            </a:r>
          </a:p>
          <a:p>
            <a:r>
              <a:rPr lang="en-US" altLang="zh-CN" b="1" dirty="0">
                <a:ea typeface="宋体" charset="-122"/>
              </a:rPr>
              <a:t>      </a:t>
            </a:r>
            <a:r>
              <a:rPr lang="en-US" altLang="zh-CN" b="1" dirty="0" err="1">
                <a:ea typeface="宋体" charset="-122"/>
              </a:rPr>
              <a:t>scanf</a:t>
            </a:r>
            <a:r>
              <a:rPr lang="en-US" altLang="zh-CN" b="1" dirty="0">
                <a:ea typeface="宋体" charset="-122"/>
              </a:rPr>
              <a:t>("%</a:t>
            </a:r>
            <a:r>
              <a:rPr lang="en-US" altLang="zh-CN" b="1" dirty="0" err="1">
                <a:ea typeface="宋体" charset="-122"/>
              </a:rPr>
              <a:t>d",&amp;a</a:t>
            </a:r>
            <a:r>
              <a:rPr lang="en-US" altLang="zh-CN" b="1" dirty="0">
                <a:ea typeface="宋体" charset="-122"/>
              </a:rPr>
              <a:t>[</a:t>
            </a:r>
            <a:r>
              <a:rPr lang="en-US" altLang="zh-CN" b="1" dirty="0" err="1">
                <a:ea typeface="宋体" charset="-122"/>
              </a:rPr>
              <a:t>i</a:t>
            </a:r>
            <a:r>
              <a:rPr lang="en-US" altLang="zh-CN" b="1" dirty="0">
                <a:ea typeface="宋体" charset="-122"/>
              </a:rPr>
              <a:t>][k]);</a:t>
            </a:r>
          </a:p>
          <a:p>
            <a:r>
              <a:rPr lang="en-US" altLang="zh-CN" b="1" dirty="0">
                <a:ea typeface="宋体" charset="-122"/>
              </a:rPr>
              <a:t>   for (</a:t>
            </a:r>
            <a:r>
              <a:rPr lang="en-US" altLang="zh-CN" b="1" dirty="0" err="1">
                <a:ea typeface="宋体" charset="-122"/>
              </a:rPr>
              <a:t>i</a:t>
            </a:r>
            <a:r>
              <a:rPr lang="en-US" altLang="zh-CN" b="1" dirty="0">
                <a:ea typeface="宋体" charset="-122"/>
              </a:rPr>
              <a:t>=0;i&lt;3;i++)</a:t>
            </a:r>
          </a:p>
          <a:p>
            <a:r>
              <a:rPr lang="en-US" altLang="zh-CN" b="1" dirty="0">
                <a:ea typeface="宋体" charset="-122"/>
              </a:rPr>
              <a:t>   {</a:t>
            </a:r>
          </a:p>
          <a:p>
            <a:r>
              <a:rPr lang="en-US" altLang="zh-CN" b="1" dirty="0">
                <a:ea typeface="宋体" charset="-122"/>
              </a:rPr>
              <a:t>       for (k=0;k&lt;4;k++)</a:t>
            </a:r>
          </a:p>
          <a:p>
            <a:r>
              <a:rPr lang="en-US" altLang="zh-CN" b="1" dirty="0">
                <a:ea typeface="宋体" charset="-122"/>
              </a:rPr>
              <a:t>        {</a:t>
            </a:r>
          </a:p>
          <a:p>
            <a:r>
              <a:rPr lang="en-US" altLang="zh-CN" b="1" dirty="0">
                <a:ea typeface="宋体" charset="-122"/>
              </a:rPr>
              <a:t>            </a:t>
            </a:r>
            <a:r>
              <a:rPr lang="en-US" altLang="zh-CN" b="1" dirty="0" err="1">
                <a:ea typeface="宋体" charset="-122"/>
              </a:rPr>
              <a:t>printf</a:t>
            </a:r>
            <a:r>
              <a:rPr lang="en-US" altLang="zh-CN" b="1" dirty="0">
                <a:ea typeface="宋体" charset="-122"/>
              </a:rPr>
              <a:t>("%4d",a[</a:t>
            </a:r>
            <a:r>
              <a:rPr lang="en-US" altLang="zh-CN" b="1" dirty="0" err="1">
                <a:ea typeface="宋体" charset="-122"/>
              </a:rPr>
              <a:t>i</a:t>
            </a:r>
            <a:r>
              <a:rPr lang="en-US" altLang="zh-CN" b="1" dirty="0">
                <a:ea typeface="宋体" charset="-122"/>
              </a:rPr>
              <a:t>][k]);</a:t>
            </a:r>
          </a:p>
          <a:p>
            <a:r>
              <a:rPr lang="en-US" altLang="zh-CN" b="1" dirty="0">
                <a:ea typeface="宋体" charset="-122"/>
              </a:rPr>
              <a:t>            b[</a:t>
            </a:r>
            <a:r>
              <a:rPr lang="en-US" altLang="zh-CN" b="1" dirty="0" err="1">
                <a:ea typeface="宋体" charset="-122"/>
              </a:rPr>
              <a:t>i</a:t>
            </a:r>
            <a:r>
              <a:rPr lang="en-US" altLang="zh-CN" b="1" dirty="0">
                <a:ea typeface="宋体" charset="-122"/>
              </a:rPr>
              <a:t>*4+k]=a[</a:t>
            </a:r>
            <a:r>
              <a:rPr lang="en-US" altLang="zh-CN" b="1" dirty="0" err="1">
                <a:ea typeface="宋体" charset="-122"/>
              </a:rPr>
              <a:t>i</a:t>
            </a:r>
            <a:r>
              <a:rPr lang="en-US" altLang="zh-CN" b="1" dirty="0">
                <a:ea typeface="宋体" charset="-122"/>
              </a:rPr>
              <a:t>][k];</a:t>
            </a:r>
          </a:p>
          <a:p>
            <a:r>
              <a:rPr lang="en-US" altLang="zh-CN" b="1" dirty="0">
                <a:ea typeface="宋体" charset="-122"/>
              </a:rPr>
              <a:t>        }</a:t>
            </a:r>
          </a:p>
          <a:p>
            <a:r>
              <a:rPr lang="en-US" altLang="zh-CN" b="1" dirty="0">
                <a:ea typeface="宋体" charset="-122"/>
              </a:rPr>
              <a:t>        </a:t>
            </a:r>
            <a:r>
              <a:rPr lang="en-US" altLang="zh-CN" b="1" dirty="0" err="1">
                <a:ea typeface="宋体" charset="-122"/>
              </a:rPr>
              <a:t>printf</a:t>
            </a:r>
            <a:r>
              <a:rPr lang="en-US" altLang="zh-CN" b="1" dirty="0">
                <a:ea typeface="宋体" charset="-122"/>
              </a:rPr>
              <a:t>("\n");</a:t>
            </a:r>
          </a:p>
          <a:p>
            <a:r>
              <a:rPr lang="en-US" altLang="zh-CN" b="1" dirty="0">
                <a:ea typeface="宋体" charset="-122"/>
              </a:rPr>
              <a:t>   }</a:t>
            </a:r>
          </a:p>
          <a:p>
            <a:r>
              <a:rPr lang="en-US" altLang="zh-CN" b="1" dirty="0">
                <a:ea typeface="宋体" charset="-122"/>
              </a:rPr>
              <a:t>   for (j=0;j&lt;12;j++)</a:t>
            </a:r>
          </a:p>
          <a:p>
            <a:r>
              <a:rPr lang="en-US" altLang="zh-CN" b="1" dirty="0">
                <a:ea typeface="宋体" charset="-122"/>
              </a:rPr>
              <a:t>       </a:t>
            </a:r>
            <a:r>
              <a:rPr lang="en-US" altLang="zh-CN" b="1" dirty="0" err="1">
                <a:ea typeface="宋体" charset="-122"/>
              </a:rPr>
              <a:t>printf</a:t>
            </a:r>
            <a:r>
              <a:rPr lang="en-US" altLang="zh-CN" b="1" dirty="0">
                <a:ea typeface="宋体" charset="-122"/>
              </a:rPr>
              <a:t>("%4d",b[j]);</a:t>
            </a:r>
          </a:p>
          <a:p>
            <a:r>
              <a:rPr lang="en-US" altLang="zh-CN" b="1" dirty="0">
                <a:ea typeface="宋体" charset="-122"/>
              </a:rPr>
              <a:t>    </a:t>
            </a:r>
            <a:r>
              <a:rPr lang="en-US" altLang="zh-CN" b="1" dirty="0" err="1">
                <a:ea typeface="宋体" charset="-122"/>
              </a:rPr>
              <a:t>printf</a:t>
            </a:r>
            <a:r>
              <a:rPr lang="en-US" altLang="zh-CN" b="1" dirty="0">
                <a:ea typeface="宋体" charset="-122"/>
              </a:rPr>
              <a:t>("\n");</a:t>
            </a:r>
          </a:p>
          <a:p>
            <a:r>
              <a:rPr lang="en-US" altLang="zh-CN" b="1" dirty="0">
                <a:ea typeface="宋体" charset="-122"/>
              </a:rPr>
              <a:t>}</a:t>
            </a:r>
            <a:endParaRPr lang="zh-CN" altLang="en-US" b="1" dirty="0">
              <a:ea typeface="宋体" charset="-122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F76B65B8-34FB-477F-AAB1-29FAB4E6A331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58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745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200" dirty="0">
                <a:latin typeface="楷体_GB2312" pitchFamily="49" charset="-122"/>
              </a:rPr>
              <a:t>#include&lt;</a:t>
            </a:r>
            <a:r>
              <a:rPr lang="en-US" altLang="zh-CN" sz="1200" dirty="0" err="1">
                <a:latin typeface="楷体_GB2312" pitchFamily="49" charset="-122"/>
              </a:rPr>
              <a:t>stdio.h</a:t>
            </a:r>
            <a:r>
              <a:rPr lang="en-US" altLang="zh-CN" sz="1200" dirty="0">
                <a:latin typeface="楷体_GB2312" pitchFamily="49" charset="-122"/>
              </a:rPr>
              <a:t>&gt;</a:t>
            </a:r>
          </a:p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200" dirty="0">
                <a:latin typeface="楷体_GB2312" pitchFamily="49" charset="-122"/>
              </a:rPr>
              <a:t>main( )</a:t>
            </a:r>
          </a:p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200" dirty="0">
                <a:latin typeface="楷体_GB2312" pitchFamily="49" charset="-122"/>
              </a:rPr>
              <a:t> {  </a:t>
            </a:r>
            <a:r>
              <a:rPr lang="en-US" altLang="zh-CN" sz="1200" dirty="0" err="1">
                <a:latin typeface="楷体_GB2312" pitchFamily="49" charset="-122"/>
              </a:rPr>
              <a:t>int</a:t>
            </a:r>
            <a:r>
              <a:rPr lang="en-US" altLang="zh-CN" sz="1200" dirty="0">
                <a:latin typeface="楷体_GB2312" pitchFamily="49" charset="-122"/>
              </a:rPr>
              <a:t> </a:t>
            </a:r>
            <a:r>
              <a:rPr lang="en-US" altLang="zh-CN" sz="1200" dirty="0" err="1">
                <a:latin typeface="楷体_GB2312" pitchFamily="49" charset="-122"/>
              </a:rPr>
              <a:t>year,month,day,i,leap</a:t>
            </a:r>
            <a:r>
              <a:rPr lang="en-US" altLang="zh-CN" sz="1200" dirty="0">
                <a:latin typeface="楷体_GB2312" pitchFamily="49" charset="-122"/>
              </a:rPr>
              <a:t>;</a:t>
            </a:r>
          </a:p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050" dirty="0" err="1">
                <a:latin typeface="楷体_GB2312" pitchFamily="49" charset="-122"/>
              </a:rPr>
              <a:t>int</a:t>
            </a:r>
            <a:r>
              <a:rPr lang="en-US" altLang="zh-CN" sz="1050" dirty="0">
                <a:latin typeface="楷体_GB2312" pitchFamily="49" charset="-122"/>
              </a:rPr>
              <a:t> </a:t>
            </a:r>
            <a:r>
              <a:rPr lang="en-US" altLang="zh-CN" sz="1050" dirty="0" err="1">
                <a:latin typeface="楷体_GB2312" pitchFamily="49" charset="-122"/>
              </a:rPr>
              <a:t>mdtab</a:t>
            </a:r>
            <a:r>
              <a:rPr lang="en-US" altLang="zh-CN" sz="1050" dirty="0">
                <a:latin typeface="楷体_GB2312" pitchFamily="49" charset="-122"/>
              </a:rPr>
              <a:t>[2][13]={{0,31,28,31,30,31,30,31,31,30,31,30,31},</a:t>
            </a:r>
          </a:p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200" dirty="0">
                <a:latin typeface="楷体_GB2312" pitchFamily="49" charset="-122"/>
              </a:rPr>
              <a:t>            </a:t>
            </a:r>
            <a:r>
              <a:rPr lang="en-US" altLang="zh-CN" sz="1050" dirty="0">
                <a:latin typeface="楷体_GB2312" pitchFamily="49" charset="-122"/>
              </a:rPr>
              <a:t>{0,31,29,31,30,31,30,31,31,30,31,30,31}};</a:t>
            </a:r>
          </a:p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200" dirty="0">
                <a:latin typeface="楷体_GB2312" pitchFamily="49" charset="-122"/>
              </a:rPr>
              <a:t>    </a:t>
            </a:r>
            <a:r>
              <a:rPr lang="en-US" altLang="zh-CN" sz="1200" dirty="0" err="1">
                <a:latin typeface="楷体_GB2312" pitchFamily="49" charset="-122"/>
              </a:rPr>
              <a:t>printf</a:t>
            </a:r>
            <a:r>
              <a:rPr lang="en-US" altLang="zh-CN" sz="1200" dirty="0">
                <a:latin typeface="楷体_GB2312" pitchFamily="49" charset="-122"/>
              </a:rPr>
              <a:t>(</a:t>
            </a:r>
            <a:r>
              <a:rPr lang="en-US" altLang="zh-CN" sz="1200" dirty="0"/>
              <a:t>“</a:t>
            </a:r>
            <a:r>
              <a:rPr lang="en-US" altLang="zh-CN" sz="1200" dirty="0">
                <a:latin typeface="楷体_GB2312" pitchFamily="49" charset="-122"/>
              </a:rPr>
              <a:t>Input </a:t>
            </a:r>
            <a:r>
              <a:rPr lang="en-US" altLang="zh-CN" sz="1200" dirty="0" err="1">
                <a:latin typeface="楷体_GB2312" pitchFamily="49" charset="-122"/>
              </a:rPr>
              <a:t>year,month,day</a:t>
            </a:r>
            <a:r>
              <a:rPr lang="en-US" altLang="zh-CN" sz="1200" dirty="0">
                <a:latin typeface="楷体_GB2312" pitchFamily="49" charset="-122"/>
              </a:rPr>
              <a:t>:\n</a:t>
            </a:r>
            <a:r>
              <a:rPr lang="en-US" altLang="zh-CN" sz="1200" dirty="0"/>
              <a:t>”</a:t>
            </a:r>
            <a:r>
              <a:rPr lang="en-US" altLang="zh-CN" sz="1200" dirty="0">
                <a:latin typeface="楷体_GB2312" pitchFamily="49" charset="-122"/>
              </a:rPr>
              <a:t>);</a:t>
            </a:r>
          </a:p>
          <a:p>
            <a:pPr algn="l" eaLnBrk="1" hangingPunct="1">
              <a:lnSpc>
                <a:spcPct val="12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200" dirty="0">
                <a:latin typeface="楷体_GB2312" pitchFamily="49" charset="-122"/>
              </a:rPr>
              <a:t>    </a:t>
            </a:r>
            <a:r>
              <a:rPr lang="en-US" altLang="zh-CN" sz="1200" dirty="0" err="1">
                <a:latin typeface="楷体_GB2312" pitchFamily="49" charset="-122"/>
              </a:rPr>
              <a:t>scanf</a:t>
            </a:r>
            <a:r>
              <a:rPr lang="en-US" altLang="zh-CN" sz="1200" dirty="0">
                <a:latin typeface="楷体_GB2312" pitchFamily="49" charset="-122"/>
              </a:rPr>
              <a:t>(</a:t>
            </a:r>
            <a:r>
              <a:rPr lang="en-US" altLang="zh-CN" sz="1200" dirty="0"/>
              <a:t>“</a:t>
            </a:r>
            <a:r>
              <a:rPr lang="en-US" altLang="zh-CN" sz="1200" dirty="0">
                <a:latin typeface="楷体_GB2312" pitchFamily="49" charset="-122"/>
              </a:rPr>
              <a:t>%</a:t>
            </a:r>
            <a:r>
              <a:rPr lang="en-US" altLang="zh-CN" sz="1200" dirty="0" err="1">
                <a:latin typeface="楷体_GB2312" pitchFamily="49" charset="-122"/>
              </a:rPr>
              <a:t>d%d%d</a:t>
            </a:r>
            <a:r>
              <a:rPr lang="en-US" altLang="zh-CN" sz="1200" dirty="0"/>
              <a:t>”</a:t>
            </a:r>
            <a:r>
              <a:rPr lang="en-US" altLang="zh-CN" sz="1200" dirty="0">
                <a:latin typeface="楷体_GB2312" pitchFamily="49" charset="-122"/>
              </a:rPr>
              <a:t>,&amp;</a:t>
            </a:r>
            <a:r>
              <a:rPr lang="en-US" altLang="zh-CN" sz="1200" dirty="0" err="1">
                <a:latin typeface="楷体_GB2312" pitchFamily="49" charset="-122"/>
              </a:rPr>
              <a:t>year,&amp;month,&amp;day</a:t>
            </a:r>
            <a:r>
              <a:rPr lang="en-US" altLang="zh-CN" sz="1200" dirty="0">
                <a:latin typeface="楷体_GB2312" pitchFamily="49" charset="-122"/>
              </a:rPr>
              <a:t>);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100" dirty="0">
                <a:latin typeface="楷体_GB2312" pitchFamily="49" charset="-122"/>
              </a:rPr>
              <a:t>if(year%4==0&amp;&amp;year%100!=0||year%400==0)</a:t>
            </a:r>
            <a:r>
              <a:rPr lang="en-US" altLang="zh-CN" dirty="0">
                <a:latin typeface="楷体_GB2312" pitchFamily="49" charset="-122"/>
              </a:rPr>
              <a:t>  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   leap=1;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else  leap=0;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for(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en-US" altLang="zh-CN" dirty="0">
                <a:latin typeface="楷体_GB2312" pitchFamily="49" charset="-122"/>
              </a:rPr>
              <a:t>=1;i&lt;</a:t>
            </a:r>
            <a:r>
              <a:rPr lang="en-US" altLang="zh-CN" dirty="0" err="1">
                <a:latin typeface="楷体_GB2312" pitchFamily="49" charset="-122"/>
              </a:rPr>
              <a:t>month;i</a:t>
            </a:r>
            <a:r>
              <a:rPr lang="en-US" altLang="zh-CN" dirty="0">
                <a:latin typeface="楷体_GB2312" pitchFamily="49" charset="-122"/>
              </a:rPr>
              <a:t>++)       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   day=</a:t>
            </a:r>
            <a:r>
              <a:rPr lang="en-US" altLang="zh-CN" dirty="0" err="1">
                <a:latin typeface="楷体_GB2312" pitchFamily="49" charset="-122"/>
              </a:rPr>
              <a:t>day+mdtab</a:t>
            </a:r>
            <a:r>
              <a:rPr lang="en-US" altLang="zh-CN" dirty="0">
                <a:latin typeface="楷体_GB2312" pitchFamily="49" charset="-122"/>
              </a:rPr>
              <a:t>[</a:t>
            </a:r>
            <a:r>
              <a:rPr lang="en-US" altLang="zh-CN" i="1" dirty="0">
                <a:latin typeface="楷体_GB2312" pitchFamily="49" charset="-122"/>
              </a:rPr>
              <a:t>leap</a:t>
            </a:r>
            <a:r>
              <a:rPr lang="en-US" altLang="zh-CN" dirty="0">
                <a:latin typeface="楷体_GB2312" pitchFamily="49" charset="-122"/>
              </a:rPr>
              <a:t>][</a:t>
            </a:r>
            <a:r>
              <a:rPr lang="en-US" altLang="zh-CN" dirty="0" err="1">
                <a:latin typeface="楷体_GB2312" pitchFamily="49" charset="-122"/>
              </a:rPr>
              <a:t>i</a:t>
            </a:r>
            <a:r>
              <a:rPr lang="en-US" altLang="zh-CN" dirty="0">
                <a:latin typeface="楷体_GB2312" pitchFamily="49" charset="-122"/>
              </a:rPr>
              <a:t>];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en-US" altLang="zh-CN" dirty="0" err="1">
                <a:latin typeface="楷体_GB2312" pitchFamily="49" charset="-122"/>
              </a:rPr>
              <a:t>printf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en-US" altLang="zh-CN" dirty="0"/>
              <a:t>“</a:t>
            </a:r>
            <a:r>
              <a:rPr lang="en-US" altLang="zh-CN" dirty="0">
                <a:latin typeface="楷体_GB2312" pitchFamily="49" charset="-122"/>
              </a:rPr>
              <a:t>days=%d\</a:t>
            </a:r>
            <a:r>
              <a:rPr lang="en-US" altLang="zh-CN" dirty="0" err="1">
                <a:latin typeface="楷体_GB2312" pitchFamily="49" charset="-122"/>
              </a:rPr>
              <a:t>n</a:t>
            </a:r>
            <a:r>
              <a:rPr lang="en-US" altLang="zh-CN" dirty="0" err="1"/>
              <a:t>”</a:t>
            </a:r>
            <a:r>
              <a:rPr lang="en-US" altLang="zh-CN" dirty="0" err="1">
                <a:latin typeface="楷体_GB2312" pitchFamily="49" charset="-122"/>
              </a:rPr>
              <a:t>,day</a:t>
            </a:r>
            <a:r>
              <a:rPr lang="en-US" altLang="zh-CN" dirty="0">
                <a:latin typeface="楷体_GB2312" pitchFamily="49" charset="-122"/>
              </a:rPr>
              <a:t>);   }</a:t>
            </a:r>
          </a:p>
          <a:p>
            <a:endParaRPr lang="zh-CN" altLang="en-US" b="1" dirty="0">
              <a:ea typeface="宋体" charset="-122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F76B65B8-34FB-477F-AAB1-29FAB4E6A331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60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745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433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444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A37644C2-3FC6-4F32-B6DB-EA57A7EF8159}" type="slidenum">
              <a:rPr lang="en-US" altLang="zh-CN" smtClean="0"/>
              <a:pPr/>
              <a:t>66</a:t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r>
              <a:rPr lang="zh-CN" altLang="en-US"/>
              <a:t>字符数组分为一维字符数组和多维字符数组。一维字符数组常常存放一个字符串，二维字符数组常用于存放多个字符串，可以看作是一维字符串数组。</a:t>
            </a:r>
          </a:p>
          <a:p>
            <a:pPr algn="just"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6738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7658BF62-89C2-4263-BA5A-569E65CAE9D1}" type="slidenum">
              <a:rPr lang="en-US" altLang="zh-CN" smtClean="0"/>
              <a:pPr/>
              <a:t>68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编译系统对有</a:t>
            </a:r>
            <a:r>
              <a:rPr lang="en-US" altLang="zh-CN" dirty="0">
                <a:latin typeface="宋体" pitchFamily="2" charset="-122"/>
              </a:rPr>
              <a:t>N</a:t>
            </a:r>
            <a:r>
              <a:rPr lang="zh-CN" altLang="en-US" dirty="0"/>
              <a:t>个字符组成的字符串常量总是分配</a:t>
            </a:r>
            <a:r>
              <a:rPr lang="en-US" altLang="zh-CN" dirty="0">
                <a:latin typeface="宋体" pitchFamily="2" charset="-122"/>
              </a:rPr>
              <a:t>N+1</a:t>
            </a:r>
            <a:r>
              <a:rPr lang="zh-CN" altLang="en-US" dirty="0"/>
              <a:t>个字节的存储空间；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zh-CN" altLang="en-US" dirty="0"/>
              <a:t>‘</a:t>
            </a:r>
            <a:r>
              <a:rPr lang="en-US" altLang="zh-CN" dirty="0">
                <a:latin typeface="宋体" pitchFamily="2" charset="-122"/>
              </a:rPr>
              <a:t>\0</a:t>
            </a:r>
            <a:r>
              <a:rPr lang="en-US" altLang="zh-CN" dirty="0"/>
              <a:t>’</a:t>
            </a:r>
            <a:r>
              <a:rPr lang="zh-CN" altLang="en-US" dirty="0"/>
              <a:t>是字符串的结束标志符。</a:t>
            </a:r>
            <a:endParaRPr lang="zh-CN" altLang="en-US" dirty="0">
              <a:latin typeface="宋体" pitchFamily="2" charset="-122"/>
            </a:endParaRPr>
          </a:p>
          <a:p>
            <a:pPr eaLnBrk="1" hangingPunct="1"/>
            <a:r>
              <a:rPr lang="zh-CN" altLang="en-US" dirty="0">
                <a:latin typeface="宋体" pitchFamily="2" charset="-122"/>
                <a:cs typeface="Times New Roman" pitchFamily="18" charset="0"/>
              </a:rPr>
              <a:t>为了处理字符串方便，</a:t>
            </a:r>
            <a:r>
              <a:rPr lang="en-US" altLang="zh-CN" dirty="0">
                <a:latin typeface="宋体" pitchFamily="2" charset="-122"/>
                <a:cs typeface="Times New Roman" pitchFamily="18" charset="0"/>
              </a:rPr>
              <a:t>C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语言规定以</a:t>
            </a:r>
            <a:r>
              <a:rPr lang="zh-CN" altLang="en-US" dirty="0">
                <a:latin typeface="Arial" charset="0"/>
              </a:rPr>
              <a:t>’</a:t>
            </a:r>
            <a:r>
              <a:rPr lang="en-US" altLang="zh-CN" dirty="0">
                <a:latin typeface="宋体" pitchFamily="2" charset="-122"/>
                <a:cs typeface="Times New Roman" pitchFamily="18" charset="0"/>
              </a:rPr>
              <a:t>\0</a:t>
            </a:r>
            <a:r>
              <a:rPr lang="en-US" altLang="zh-CN" dirty="0">
                <a:latin typeface="Arial" charset="0"/>
              </a:rPr>
              <a:t>’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（</a:t>
            </a:r>
            <a:r>
              <a:rPr lang="en-US" altLang="zh-CN" dirty="0">
                <a:latin typeface="宋体" pitchFamily="2" charset="-122"/>
                <a:cs typeface="Times New Roman" pitchFamily="18" charset="0"/>
              </a:rPr>
              <a:t>ASCII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码为</a:t>
            </a:r>
            <a:r>
              <a:rPr lang="en-US" altLang="zh-CN" dirty="0">
                <a:latin typeface="宋体" pitchFamily="2" charset="-122"/>
                <a:cs typeface="Times New Roman" pitchFamily="18" charset="0"/>
              </a:rPr>
              <a:t>0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的字符）作为</a:t>
            </a:r>
            <a:r>
              <a:rPr lang="zh-CN" altLang="en-US" dirty="0">
                <a:cs typeface="Times New Roman" pitchFamily="18" charset="0"/>
              </a:rPr>
              <a:t>“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字符串结束标志</a:t>
            </a:r>
            <a:r>
              <a:rPr lang="zh-CN" altLang="en-US" dirty="0">
                <a:cs typeface="Times New Roman" pitchFamily="18" charset="0"/>
              </a:rPr>
              <a:t>”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。</a:t>
            </a:r>
            <a:r>
              <a:rPr lang="zh-CN" altLang="en-US" dirty="0">
                <a:cs typeface="Times New Roman" pitchFamily="18" charset="0"/>
              </a:rPr>
              <a:t>“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字符串结束标志</a:t>
            </a:r>
            <a:r>
              <a:rPr lang="zh-CN" altLang="en-US" dirty="0">
                <a:cs typeface="Times New Roman" pitchFamily="18" charset="0"/>
              </a:rPr>
              <a:t>”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占用一个字节。对于字符串常量，</a:t>
            </a:r>
            <a:r>
              <a:rPr lang="en-US" altLang="zh-CN" dirty="0">
                <a:latin typeface="宋体" pitchFamily="2" charset="-122"/>
                <a:cs typeface="Times New Roman" pitchFamily="18" charset="0"/>
              </a:rPr>
              <a:t>C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编译系统自动在其最后字符后，增加一个结束标志；对于字符数组，如果用于处理字符串，在有些情况下，</a:t>
            </a:r>
            <a:r>
              <a:rPr lang="en-US" altLang="zh-CN" dirty="0">
                <a:latin typeface="宋体" pitchFamily="2" charset="-122"/>
                <a:cs typeface="Times New Roman" pitchFamily="18" charset="0"/>
              </a:rPr>
              <a:t>C</a:t>
            </a:r>
            <a:r>
              <a:rPr lang="zh-CN" altLang="en-US" dirty="0">
                <a:latin typeface="宋体" pitchFamily="2" charset="-122"/>
                <a:cs typeface="Times New Roman" pitchFamily="18" charset="0"/>
              </a:rPr>
              <a:t>系统会自动在其数据后自动增加一个结束标志，</a:t>
            </a:r>
            <a:r>
              <a:rPr lang="zh-CN" altLang="en-US" dirty="0"/>
              <a:t>在更多情况下结束标志要由程序员自己负责（因为字符数组不仅仅用于处理字符串）。如果不是处理字符串，字符数组中可以没有字符串结束标志。</a:t>
            </a:r>
          </a:p>
          <a:p>
            <a:pPr eaLnBrk="1" hangingPunct="1"/>
            <a:endParaRPr lang="zh-CN" altLang="en-US" dirty="0">
              <a:latin typeface="宋体" pitchFamily="2" charset="-122"/>
            </a:endParaRP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005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A37644C2-3FC6-4F32-B6DB-EA57A7EF8159}" type="slidenum">
              <a:rPr lang="en-US" altLang="zh-CN" smtClean="0"/>
              <a:pPr/>
              <a:t>69</a:t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r>
              <a:rPr lang="zh-CN" altLang="en-US"/>
              <a:t>字符数组分为一维字符数组和多维字符数组。一维字符数组常常存放一个字符串，二维字符数组常用于存放多个字符串，可以看作是一维字符串数组。</a:t>
            </a:r>
          </a:p>
          <a:p>
            <a:pPr algn="just"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6738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36514840-95E8-43A2-8EC7-357D04080A6B}" type="slidenum">
              <a:rPr lang="en-US" altLang="zh-CN" smtClean="0"/>
              <a:pPr/>
              <a:t>72</a:t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r>
              <a:rPr lang="zh-CN" altLang="en-US"/>
              <a:t>在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函数中，与字符串有关的格式编辑符是</a:t>
            </a:r>
            <a:r>
              <a:rPr lang="en-US" altLang="zh-CN"/>
              <a:t>%c</a:t>
            </a:r>
            <a:r>
              <a:rPr lang="zh-CN" altLang="en-US"/>
              <a:t>和</a:t>
            </a:r>
            <a:r>
              <a:rPr lang="en-US" altLang="zh-CN"/>
              <a:t>%s</a:t>
            </a:r>
            <a:r>
              <a:rPr lang="zh-CN" altLang="en-US"/>
              <a:t>。由于</a:t>
            </a:r>
            <a:r>
              <a:rPr lang="en-US" altLang="zh-CN"/>
              <a:t>%c</a:t>
            </a:r>
            <a:r>
              <a:rPr lang="zh-CN" altLang="en-US"/>
              <a:t>格式一次只能读、写一个字符，因此，若用</a:t>
            </a:r>
            <a:r>
              <a:rPr lang="en-US" altLang="zh-CN"/>
              <a:t>%c</a:t>
            </a:r>
            <a:r>
              <a:rPr lang="zh-CN" altLang="en-US"/>
              <a:t>输入或输出字符串，需要用循环语句实现。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8875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ACF3FC76-2B14-4AB3-96B8-4A5ABD50025D}" type="slidenum">
              <a:rPr lang="en-US" altLang="zh-CN" smtClean="0"/>
              <a:pPr/>
              <a:t>73</a:t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与</a:t>
            </a:r>
            <a:r>
              <a:rPr lang="en-US" altLang="zh-CN">
                <a:latin typeface="宋体" pitchFamily="2" charset="-122"/>
              </a:rPr>
              <a:t>%c</a:t>
            </a:r>
            <a:r>
              <a:rPr lang="zh-CN" altLang="en-US">
                <a:latin typeface="宋体" pitchFamily="2" charset="-122"/>
              </a:rPr>
              <a:t>格式相比，</a:t>
            </a:r>
            <a:r>
              <a:rPr lang="en-US" altLang="zh-CN">
                <a:latin typeface="宋体" pitchFamily="2" charset="-122"/>
              </a:rPr>
              <a:t>%s</a:t>
            </a:r>
            <a:r>
              <a:rPr lang="zh-CN" altLang="en-US">
                <a:latin typeface="宋体" pitchFamily="2" charset="-122"/>
              </a:rPr>
              <a:t>格式可以方便地实现字符串的整体输入和输出</a:t>
            </a:r>
            <a:r>
              <a:rPr lang="zh-CN" altLang="en-US"/>
              <a:t> </a:t>
            </a:r>
          </a:p>
          <a:p>
            <a:pPr eaLnBrk="1" hangingPunct="1"/>
            <a:r>
              <a:rPr lang="zh-CN" altLang="en-US"/>
              <a:t>数组名是数组的起始地址，调用此函数，输入的字符串依次存入以数组名作为起始地址的存储单元中，用</a:t>
            </a:r>
            <a:r>
              <a:rPr lang="zh-CN" altLang="en-US">
                <a:solidFill>
                  <a:srgbClr val="FF0000"/>
                </a:solidFill>
              </a:rPr>
              <a:t>空格或回车符</a:t>
            </a:r>
            <a:r>
              <a:rPr lang="zh-CN" altLang="en-US"/>
              <a:t>作为字符串输入结束，并且字符串结束后自动在末尾加入‘</a:t>
            </a:r>
            <a:r>
              <a:rPr lang="en-US" altLang="zh-CN">
                <a:latin typeface="宋体" pitchFamily="2" charset="-122"/>
              </a:rPr>
              <a:t>\0</a:t>
            </a:r>
            <a:r>
              <a:rPr lang="en-US" altLang="zh-CN"/>
              <a:t>’</a:t>
            </a:r>
            <a:r>
              <a:rPr lang="zh-CN" altLang="en-US"/>
              <a:t>。</a:t>
            </a:r>
            <a:endParaRPr lang="zh-CN" altLang="en-US">
              <a:latin typeface="宋体" pitchFamily="2" charset="-122"/>
            </a:endParaRP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5993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ea typeface="宋体" charset="-122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F76B65B8-34FB-477F-AAB1-29FAB4E6A331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74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2669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当输入文件中存在换行符时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fscanf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函数会自动将其视为一个空格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因此可以用换行符来分隔读取的字符串。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现在的程序无法真正的将数据存入数组中，所以需要修改为：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#include&lt;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void main( 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FILE *</a:t>
            </a:r>
            <a:r>
              <a:rPr lang="en-US" altLang="zh-CN" dirty="0" err="1"/>
              <a:t>fp;int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=0,k,score1[5],score2[5];</a:t>
            </a:r>
          </a:p>
          <a:p>
            <a:r>
              <a:rPr lang="en-US" altLang="zh-CN" dirty="0"/>
              <a:t>	char name[20],sub1[20],sub2[20];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</a:t>
            </a:r>
            <a:r>
              <a:rPr lang="en-US" altLang="zh-CN" dirty="0" err="1"/>
              <a:t>score.txt","r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fscanf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,"%s %s %s",name,sub1,sub2);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("%10s %10s %10s\n",name,sub1,sub2);</a:t>
            </a:r>
          </a:p>
          <a:p>
            <a:r>
              <a:rPr lang="en-US" altLang="zh-CN" dirty="0"/>
              <a:t>	while(!</a:t>
            </a:r>
            <a:r>
              <a:rPr lang="en-US" altLang="zh-CN" dirty="0" err="1"/>
              <a:t>feof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)){</a:t>
            </a:r>
          </a:p>
          <a:p>
            <a:r>
              <a:rPr lang="en-US" altLang="zh-CN" dirty="0"/>
              <a:t>	         </a:t>
            </a:r>
            <a:r>
              <a:rPr lang="en-US" altLang="zh-CN" dirty="0" err="1"/>
              <a:t>fscanf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,"%s %d %d",name,&amp;score1[</a:t>
            </a:r>
            <a:r>
              <a:rPr lang="en-US" altLang="zh-CN" dirty="0" err="1"/>
              <a:t>i</a:t>
            </a:r>
            <a:r>
              <a:rPr lang="en-US" altLang="zh-CN" dirty="0"/>
              <a:t>],&amp;score2[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</a:p>
          <a:p>
            <a:r>
              <a:rPr lang="en-US" altLang="zh-CN" dirty="0"/>
              <a:t>	         </a:t>
            </a:r>
            <a:r>
              <a:rPr lang="en-US" altLang="zh-CN" dirty="0" err="1"/>
              <a:t>i</a:t>
            </a:r>
            <a:r>
              <a:rPr lang="en-US" altLang="zh-CN" dirty="0"/>
              <a:t>++;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    k=i-1;</a:t>
            </a:r>
          </a:p>
          <a:p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k;i</a:t>
            </a:r>
            <a:r>
              <a:rPr lang="en-US" altLang="zh-CN" dirty="0"/>
              <a:t>++){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("%10s %10d %10d",name,score1[</a:t>
            </a:r>
            <a:r>
              <a:rPr lang="en-US" altLang="zh-CN" dirty="0" err="1"/>
              <a:t>i</a:t>
            </a:r>
            <a:r>
              <a:rPr lang="en-US" altLang="zh-CN" dirty="0"/>
              <a:t>],score2[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591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1BE16157-DAC4-478D-AF7E-8148EF133CDC}" type="slidenum">
              <a:rPr lang="en-US" altLang="zh-CN" smtClean="0"/>
              <a:pPr/>
              <a:t>76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zh-CN" altLang="en-US" sz="4000" b="1" dirty="0"/>
              <a:t>从键盘上输入一字符串（遇到回车键结束输入）并把它存放在指定的数组中。返回值是字符数组的起始地址。</a:t>
            </a:r>
          </a:p>
        </p:txBody>
      </p:sp>
    </p:spTree>
    <p:extLst>
      <p:ext uri="{BB962C8B-B14F-4D97-AF65-F5344CB8AC3E}">
        <p14:creationId xmlns:p14="http://schemas.microsoft.com/office/powerpoint/2010/main" val="6164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2CAEFD1A-1957-4DE0-AE24-369565D2ED70}" type="slidenum">
              <a:rPr lang="en-US" altLang="zh-CN" smtClean="0"/>
              <a:pPr/>
              <a:t>77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将指定的字符数组中的字符串输出到显示器上。无返回值。</a:t>
            </a:r>
            <a:r>
              <a:rPr lang="zh-CN" altLang="en-US">
                <a:latin typeface="宋体" pitchFamily="2" charset="-122"/>
              </a:rPr>
              <a:t> </a:t>
            </a:r>
          </a:p>
          <a:p>
            <a:pPr algn="just" eaLnBrk="1" hangingPunct="1"/>
            <a:r>
              <a:rPr lang="zh-CN" altLang="en-US"/>
              <a:t>功能：从</a:t>
            </a:r>
            <a:r>
              <a:rPr lang="en-US" altLang="zh-CN"/>
              <a:t>str</a:t>
            </a:r>
            <a:r>
              <a:rPr lang="zh-CN" altLang="en-US"/>
              <a:t>指定的地址开始，依次将存储单元中的字符输出到显示器，直到遇到“字符串”结束标志。</a:t>
            </a:r>
          </a:p>
          <a:p>
            <a:pPr algn="just" eaLnBrk="1" hangingPunct="1"/>
            <a:r>
              <a:rPr lang="zh-CN" altLang="en-US"/>
              <a:t>注意：</a:t>
            </a:r>
            <a:r>
              <a:rPr lang="en-US" altLang="zh-CN"/>
              <a:t>puts</a:t>
            </a:r>
            <a:r>
              <a:rPr lang="zh-CN" altLang="en-US"/>
              <a:t>将字符串最后的</a:t>
            </a:r>
            <a:r>
              <a:rPr lang="zh-CN" altLang="en-US">
                <a:latin typeface="Arial" charset="0"/>
              </a:rPr>
              <a:t>’</a:t>
            </a:r>
            <a:r>
              <a:rPr lang="en-US" altLang="zh-CN"/>
              <a:t>\0</a:t>
            </a:r>
            <a:r>
              <a:rPr lang="en-US" altLang="zh-CN">
                <a:latin typeface="Arial" charset="0"/>
              </a:rPr>
              <a:t>’</a:t>
            </a:r>
            <a:r>
              <a:rPr lang="zh-CN" altLang="en-US"/>
              <a:t>转化为</a:t>
            </a:r>
            <a:r>
              <a:rPr lang="zh-CN" altLang="en-US">
                <a:latin typeface="Arial" charset="0"/>
              </a:rPr>
              <a:t>’</a:t>
            </a:r>
            <a:r>
              <a:rPr lang="en-US" altLang="zh-CN"/>
              <a:t>\n</a:t>
            </a:r>
            <a:r>
              <a:rPr lang="en-US" altLang="zh-CN">
                <a:latin typeface="Arial" charset="0"/>
              </a:rPr>
              <a:t>’</a:t>
            </a:r>
            <a:r>
              <a:rPr lang="zh-CN" altLang="en-US"/>
              <a:t>并输出。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15727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2B1A7A29-163C-46FE-94C4-E22CCEE34C11}" type="slidenum">
              <a:rPr lang="en-US" altLang="zh-CN" smtClean="0"/>
              <a:pPr/>
              <a:t>79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测试字符数组中字符串长度。返回值是字符串中</a:t>
            </a:r>
            <a:r>
              <a:rPr lang="zh-CN" altLang="en-US">
                <a:latin typeface="Arial" charset="0"/>
              </a:rPr>
              <a:t>‘</a:t>
            </a:r>
            <a:r>
              <a:rPr lang="en-US" altLang="zh-CN">
                <a:latin typeface="宋体" pitchFamily="2" charset="-122"/>
              </a:rPr>
              <a:t>\0</a:t>
            </a:r>
            <a:r>
              <a:rPr lang="en-US" altLang="zh-CN">
                <a:latin typeface="Arial" charset="0"/>
              </a:rPr>
              <a:t>’</a:t>
            </a:r>
            <a:r>
              <a:rPr lang="zh-CN" altLang="en-US"/>
              <a:t>之前的字符串有效长度值</a:t>
            </a:r>
            <a:endParaRPr lang="zh-CN" altLang="en-US">
              <a:latin typeface="宋体" pitchFamily="2" charset="-122"/>
            </a:endParaRP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961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56F616F4-17DB-477E-94FC-A1A140905D88}" type="slidenum">
              <a:rPr lang="en-US" altLang="zh-CN" smtClean="0"/>
              <a:pPr/>
              <a:t>80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把字符串</a:t>
            </a:r>
            <a:r>
              <a:rPr lang="en-US" altLang="zh-CN">
                <a:latin typeface="宋体" pitchFamily="2" charset="-122"/>
              </a:rPr>
              <a:t>s2</a:t>
            </a:r>
            <a:r>
              <a:rPr lang="zh-CN" altLang="en-US"/>
              <a:t>的全部内容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/>
              <a:t>包括它的结束标志符</a:t>
            </a:r>
            <a:r>
              <a:rPr lang="zh-CN" altLang="en-US">
                <a:latin typeface="Arial" charset="0"/>
              </a:rPr>
              <a:t>’</a:t>
            </a:r>
            <a:r>
              <a:rPr lang="en-US" altLang="zh-CN">
                <a:latin typeface="宋体" pitchFamily="2" charset="-122"/>
              </a:rPr>
              <a:t>\0</a:t>
            </a:r>
            <a:r>
              <a:rPr lang="en-US" altLang="zh-CN">
                <a:latin typeface="Arial" charset="0"/>
              </a:rPr>
              <a:t>’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/>
              <a:t>连接到字符串</a:t>
            </a:r>
            <a:r>
              <a:rPr lang="en-US" altLang="zh-CN">
                <a:latin typeface="宋体" pitchFamily="2" charset="-122"/>
              </a:rPr>
              <a:t>s1</a:t>
            </a:r>
            <a:r>
              <a:rPr lang="zh-CN" altLang="en-US"/>
              <a:t>的后面，并把</a:t>
            </a:r>
            <a:r>
              <a:rPr lang="en-US" altLang="zh-CN">
                <a:latin typeface="宋体" pitchFamily="2" charset="-122"/>
              </a:rPr>
              <a:t>s1</a:t>
            </a:r>
            <a:r>
              <a:rPr lang="zh-CN" altLang="en-US"/>
              <a:t>字符串结束标志符</a:t>
            </a:r>
            <a:r>
              <a:rPr lang="zh-CN" altLang="en-US">
                <a:latin typeface="Arial" charset="0"/>
              </a:rPr>
              <a:t>’</a:t>
            </a:r>
            <a:r>
              <a:rPr lang="en-US" altLang="zh-CN">
                <a:latin typeface="宋体" pitchFamily="2" charset="-122"/>
              </a:rPr>
              <a:t>\0</a:t>
            </a:r>
            <a:r>
              <a:rPr lang="en-US" altLang="zh-CN">
                <a:latin typeface="Arial" charset="0"/>
              </a:rPr>
              <a:t>’</a:t>
            </a:r>
            <a:r>
              <a:rPr lang="zh-CN" altLang="en-US"/>
              <a:t>删除，形成新的字符串</a:t>
            </a:r>
            <a:r>
              <a:rPr lang="en-US" altLang="zh-CN">
                <a:latin typeface="宋体" pitchFamily="2" charset="-122"/>
              </a:rPr>
              <a:t>s1</a:t>
            </a:r>
            <a:r>
              <a:rPr lang="zh-CN" altLang="en-US"/>
              <a:t>，新的字符串</a:t>
            </a:r>
            <a:r>
              <a:rPr lang="en-US" altLang="zh-CN">
                <a:latin typeface="宋体" pitchFamily="2" charset="-122"/>
              </a:rPr>
              <a:t>s1</a:t>
            </a:r>
            <a:r>
              <a:rPr lang="zh-CN" altLang="en-US"/>
              <a:t>后保留一个‘</a:t>
            </a:r>
            <a:r>
              <a:rPr lang="en-US" altLang="zh-CN">
                <a:latin typeface="宋体" pitchFamily="2" charset="-122"/>
              </a:rPr>
              <a:t>\0</a:t>
            </a:r>
            <a:r>
              <a:rPr lang="en-US" altLang="zh-CN"/>
              <a:t>’</a:t>
            </a:r>
            <a:r>
              <a:rPr lang="zh-CN" altLang="en-US"/>
              <a:t>。返回值是</a:t>
            </a:r>
            <a:r>
              <a:rPr lang="en-US" altLang="zh-CN">
                <a:latin typeface="宋体" pitchFamily="2" charset="-122"/>
              </a:rPr>
              <a:t>s1</a:t>
            </a:r>
            <a:r>
              <a:rPr lang="zh-CN" altLang="en-US"/>
              <a:t>的起始地址。</a:t>
            </a:r>
            <a:endParaRPr lang="zh-CN" altLang="en-US">
              <a:latin typeface="宋体" pitchFamily="2" charset="-122"/>
            </a:endParaRP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7223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16E329B1-1423-4CBB-82C3-0F8088AFD96D}" type="slidenum">
              <a:rPr lang="en-US" altLang="zh-CN" smtClean="0"/>
              <a:pPr/>
              <a:t>82</a:t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将字符串</a:t>
            </a:r>
            <a:r>
              <a:rPr lang="en-US" altLang="zh-CN" dirty="0">
                <a:latin typeface="宋体" pitchFamily="2" charset="-122"/>
              </a:rPr>
              <a:t>s2</a:t>
            </a:r>
            <a:r>
              <a:rPr lang="zh-CN" altLang="en-US" dirty="0"/>
              <a:t>的内容复制到</a:t>
            </a:r>
            <a:r>
              <a:rPr lang="en-US" altLang="zh-CN" dirty="0">
                <a:latin typeface="宋体" pitchFamily="2" charset="-122"/>
              </a:rPr>
              <a:t>s1</a:t>
            </a:r>
            <a:r>
              <a:rPr lang="zh-CN" altLang="en-US" dirty="0"/>
              <a:t>的字符数组中。必须保证</a:t>
            </a:r>
            <a:r>
              <a:rPr lang="en-US" altLang="zh-CN" dirty="0">
                <a:latin typeface="宋体" pitchFamily="2" charset="-122"/>
              </a:rPr>
              <a:t>s1</a:t>
            </a:r>
            <a:r>
              <a:rPr lang="zh-CN" altLang="en-US" dirty="0"/>
              <a:t>的字符数组足以容纳字符串复制后的</a:t>
            </a:r>
            <a:r>
              <a:rPr lang="en-US" altLang="zh-CN" dirty="0">
                <a:latin typeface="宋体" pitchFamily="2" charset="-122"/>
              </a:rPr>
              <a:t>s1</a:t>
            </a:r>
            <a:r>
              <a:rPr lang="zh-CN" altLang="en-US" dirty="0"/>
              <a:t>的全部内容。</a:t>
            </a:r>
            <a:endParaRPr lang="zh-CN" altLang="en-US" dirty="0">
              <a:latin typeface="宋体" pitchFamily="2" charset="-122"/>
            </a:endParaRP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65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095382E3-2BB7-44FF-9EC9-393697BBF462}" type="slidenum">
              <a:rPr lang="en-US" altLang="zh-CN" smtClean="0"/>
              <a:pPr/>
              <a:t>84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比较字符串</a:t>
            </a:r>
            <a:r>
              <a:rPr lang="en-US" altLang="zh-CN">
                <a:latin typeface="宋体" pitchFamily="2" charset="-122"/>
              </a:rPr>
              <a:t>s1</a:t>
            </a:r>
            <a:r>
              <a:rPr lang="zh-CN" altLang="en-US"/>
              <a:t>和</a:t>
            </a:r>
            <a:r>
              <a:rPr lang="en-US" altLang="zh-CN">
                <a:latin typeface="宋体" pitchFamily="2" charset="-122"/>
              </a:rPr>
              <a:t>s2</a:t>
            </a:r>
            <a:r>
              <a:rPr lang="zh-CN" altLang="en-US"/>
              <a:t>的大小。返回值是一个整型值，若</a:t>
            </a:r>
            <a:r>
              <a:rPr lang="en-US" altLang="zh-CN">
                <a:latin typeface="宋体" pitchFamily="2" charset="-122"/>
              </a:rPr>
              <a:t>s1&gt;s2</a:t>
            </a:r>
            <a:r>
              <a:rPr lang="zh-CN" altLang="en-US"/>
              <a:t>，返回一个正数；若</a:t>
            </a:r>
            <a:r>
              <a:rPr lang="en-US" altLang="zh-CN">
                <a:latin typeface="宋体" pitchFamily="2" charset="-122"/>
              </a:rPr>
              <a:t>s1=s2</a:t>
            </a:r>
            <a:r>
              <a:rPr lang="zh-CN" altLang="en-US"/>
              <a:t>，返回</a:t>
            </a:r>
            <a:r>
              <a:rPr lang="en-US" altLang="zh-CN">
                <a:latin typeface="宋体" pitchFamily="2" charset="-122"/>
              </a:rPr>
              <a:t>0</a:t>
            </a:r>
            <a:r>
              <a:rPr lang="zh-CN" altLang="en-US"/>
              <a:t>；若</a:t>
            </a:r>
            <a:r>
              <a:rPr lang="en-US" altLang="zh-CN">
                <a:latin typeface="宋体" pitchFamily="2" charset="-122"/>
              </a:rPr>
              <a:t>s1&lt;s2</a:t>
            </a:r>
            <a:r>
              <a:rPr lang="zh-CN" altLang="en-US"/>
              <a:t>，返回一个负数。</a:t>
            </a:r>
            <a:endParaRPr lang="zh-CN" altLang="en-US">
              <a:latin typeface="宋体" pitchFamily="2" charset="-122"/>
            </a:endParaRPr>
          </a:p>
          <a:p>
            <a:pPr eaLnBrk="1" hangingPunct="1"/>
            <a:r>
              <a:rPr lang="zh-CN" altLang="en-US"/>
              <a:t>字符串比较的方法是：从左到右依次比较两个字符串中的对应字符，若相等继续比较，直到当前两个字符不相等，或遇到‘</a:t>
            </a:r>
            <a:r>
              <a:rPr lang="en-US" altLang="zh-CN">
                <a:latin typeface="宋体" pitchFamily="2" charset="-122"/>
              </a:rPr>
              <a:t>\0</a:t>
            </a:r>
            <a:r>
              <a:rPr lang="en-US" altLang="zh-CN"/>
              <a:t>’</a:t>
            </a:r>
            <a:r>
              <a:rPr lang="zh-CN" altLang="en-US"/>
              <a:t>结束。比较字符的大小，是比较两个字符的</a:t>
            </a:r>
            <a:r>
              <a:rPr lang="en-US" altLang="zh-CN">
                <a:latin typeface="宋体" pitchFamily="2" charset="-122"/>
              </a:rPr>
              <a:t>ASCII</a:t>
            </a:r>
            <a:r>
              <a:rPr lang="zh-CN" altLang="en-US"/>
              <a:t>码的大小。</a:t>
            </a:r>
          </a:p>
          <a:p>
            <a:pPr algn="just" eaLnBrk="1" hangingPunct="1"/>
            <a:r>
              <a:rPr lang="zh-CN" altLang="en-US"/>
              <a:t>功能：将</a:t>
            </a:r>
            <a:r>
              <a:rPr lang="en-US" altLang="zh-CN"/>
              <a:t>str1,str2</a:t>
            </a:r>
            <a:r>
              <a:rPr lang="zh-CN" altLang="en-US"/>
              <a:t>为首地址的两个字符串进行比较，比较的结果由返回值表示。</a:t>
            </a:r>
          </a:p>
          <a:p>
            <a:pPr algn="just" eaLnBrk="1" hangingPunct="1"/>
            <a:r>
              <a:rPr lang="zh-CN" altLang="en-US"/>
              <a:t>当</a:t>
            </a:r>
            <a:r>
              <a:rPr lang="en-US" altLang="zh-CN"/>
              <a:t>str1=str2</a:t>
            </a:r>
            <a:r>
              <a:rPr lang="zh-CN" altLang="en-US"/>
              <a:t>，函数的返回值为：</a:t>
            </a:r>
            <a:r>
              <a:rPr lang="en-US" altLang="zh-CN"/>
              <a:t>0</a:t>
            </a:r>
            <a:r>
              <a:rPr lang="zh-CN" altLang="en-US"/>
              <a:t>；</a:t>
            </a:r>
          </a:p>
          <a:p>
            <a:pPr algn="just" eaLnBrk="1" hangingPunct="1"/>
            <a:r>
              <a:rPr lang="zh-CN" altLang="en-US"/>
              <a:t>当</a:t>
            </a:r>
            <a:r>
              <a:rPr lang="en-US" altLang="zh-CN"/>
              <a:t>str1&lt;str2</a:t>
            </a:r>
            <a:r>
              <a:rPr lang="zh-CN" altLang="en-US"/>
              <a:t>，函数的返回值为：负整数；（绝对值是</a:t>
            </a:r>
            <a:r>
              <a:rPr lang="en-US" altLang="zh-CN"/>
              <a:t>ASCII</a:t>
            </a:r>
            <a:r>
              <a:rPr lang="zh-CN" altLang="en-US"/>
              <a:t>码的差值）</a:t>
            </a:r>
          </a:p>
          <a:p>
            <a:pPr algn="just" eaLnBrk="1" hangingPunct="1"/>
            <a:r>
              <a:rPr lang="zh-CN" altLang="en-US"/>
              <a:t>当</a:t>
            </a:r>
            <a:r>
              <a:rPr lang="en-US" altLang="zh-CN"/>
              <a:t>str1&gt;str2</a:t>
            </a:r>
            <a:r>
              <a:rPr lang="zh-CN" altLang="en-US"/>
              <a:t>，函数的返回值为：正整数；（绝对值是</a:t>
            </a:r>
            <a:r>
              <a:rPr lang="en-US" altLang="zh-CN"/>
              <a:t>ASCII</a:t>
            </a:r>
            <a:r>
              <a:rPr lang="zh-CN" altLang="en-US"/>
              <a:t>码的差值）</a:t>
            </a:r>
          </a:p>
          <a:p>
            <a:pPr eaLnBrk="1" hangingPunct="1"/>
            <a:endParaRPr lang="zh-CN" altLang="en-US">
              <a:latin typeface="宋体" pitchFamily="2" charset="-122"/>
            </a:endParaRP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8690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11-22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090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>
                <a:solidFill>
                  <a:schemeClr val="tx1"/>
                </a:solidFill>
              </a:rPr>
              <a:t>它可以用来指向一个整型变量，即可以存放一个整型变量的地址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Clr>
                <a:srgbClr val="EEECE1"/>
              </a:buClr>
              <a:defRPr/>
            </a:pPr>
            <a:fld id="{F9182B88-2C78-419A-9A31-7520B5409BC9}" type="slidenum">
              <a:rPr lang="en-US" altLang="zh-CN" smtClean="0">
                <a:solidFill>
                  <a:prstClr val="white"/>
                </a:solidFill>
              </a:rPr>
              <a:pPr>
                <a:buClr>
                  <a:srgbClr val="EEECE1"/>
                </a:buClr>
                <a:defRPr/>
              </a:pPr>
              <a:t>87</a:t>
            </a:fld>
            <a:endParaRPr lang="en-US" altLang="zh-C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8573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Clr>
                <a:srgbClr val="EEECE1"/>
              </a:buClr>
              <a:defRPr/>
            </a:pPr>
            <a:fld id="{F9182B88-2C78-419A-9A31-7520B5409BC9}" type="slidenum">
              <a:rPr lang="en-US" altLang="zh-CN" smtClean="0">
                <a:solidFill>
                  <a:prstClr val="white"/>
                </a:solidFill>
              </a:rPr>
              <a:pPr>
                <a:buClr>
                  <a:srgbClr val="EEECE1"/>
                </a:buClr>
                <a:defRPr/>
              </a:pPr>
              <a:t>88</a:t>
            </a:fld>
            <a:endParaRPr lang="en-US" altLang="zh-C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704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指向变量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*pa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就和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完全等价，</a:t>
            </a:r>
            <a:r>
              <a:rPr lang="zh-CN" alt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那么，</a:t>
            </a:r>
            <a:endParaRPr lang="zh-CN" altLang="zh-C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输出指针变量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所指向的变量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的值，屏幕输出为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修改指针变量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所指向的变量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的值，修改后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变量值为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修改后屏幕输出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指向的变量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的值，为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zh-C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+mn-cs"/>
              </a:rPr>
              <a:t>指针变量在赋值或者初始化后也可以被重新赋值为其它变量的地址，重新赋值后即指向其它变量。可以把指针、引用和变量的关系类比为信封、地址和房子。一个指针就好像是一个信封，我们可以在上面填写其它房子的地址。一个引用（地址）就像是一个邮件地址，它是房子实际的地址。我们可以把信封上的地址擦掉，写上另外一个我们想要的地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Clr>
                <a:srgbClr val="EEECE1"/>
              </a:buClr>
              <a:defRPr/>
            </a:pPr>
            <a:fld id="{F9182B88-2C78-419A-9A31-7520B5409BC9}" type="slidenum">
              <a:rPr lang="en-US" altLang="zh-CN" smtClean="0">
                <a:solidFill>
                  <a:prstClr val="white"/>
                </a:solidFill>
              </a:rPr>
              <a:pPr>
                <a:buClr>
                  <a:srgbClr val="EEECE1"/>
                </a:buClr>
                <a:defRPr/>
              </a:pPr>
              <a:t>89</a:t>
            </a:fld>
            <a:endParaRPr lang="en-US" altLang="zh-C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8337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F0B82D34-B938-4CBD-867D-42E6765200C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91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语言中，数组名是一个不占内存的地址常量，它代表整个数组的存储首地址。</a:t>
            </a:r>
            <a:r>
              <a:rPr lang="en-US" altLang="zh-CN"/>
              <a:t>a+1</a:t>
            </a:r>
            <a:r>
              <a:rPr lang="zh-CN" altLang="en-US"/>
              <a:t>就是</a:t>
            </a:r>
            <a:r>
              <a:rPr lang="en-US" altLang="zh-CN"/>
              <a:t>a[1]</a:t>
            </a:r>
            <a:r>
              <a:rPr lang="zh-CN" altLang="en-US"/>
              <a:t>的存储地址</a:t>
            </a:r>
          </a:p>
        </p:txBody>
      </p:sp>
    </p:spTree>
    <p:extLst>
      <p:ext uri="{BB962C8B-B14F-4D97-AF65-F5344CB8AC3E}">
        <p14:creationId xmlns:p14="http://schemas.microsoft.com/office/powerpoint/2010/main" val="7918514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7501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B978D49E-4F18-46D8-A3DC-9B7DDE74FD1A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98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P123</a:t>
            </a:r>
          </a:p>
        </p:txBody>
      </p:sp>
    </p:spTree>
    <p:extLst>
      <p:ext uri="{BB962C8B-B14F-4D97-AF65-F5344CB8AC3E}">
        <p14:creationId xmlns:p14="http://schemas.microsoft.com/office/powerpoint/2010/main" val="16929080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FDD11C-492E-4F11-A996-5AB054BE2C92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090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png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oleObject" Target="../embeddings/oleObject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0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e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3.e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700" y="1270"/>
            <a:ext cx="5292090" cy="7482840"/>
          </a:xfrm>
          <a:prstGeom prst="rect">
            <a:avLst/>
          </a:prstGeom>
        </p:spPr>
      </p:pic>
      <p:sp>
        <p:nvSpPr>
          <p:cNvPr id="3" name="文本框 3"/>
          <p:cNvSpPr txBox="1">
            <a:spLocks noChangeArrowheads="1"/>
          </p:cNvSpPr>
          <p:nvPr/>
        </p:nvSpPr>
        <p:spPr bwMode="auto">
          <a:xfrm>
            <a:off x="4224151" y="2470779"/>
            <a:ext cx="55365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第六章  数组</a:t>
            </a:r>
            <a:endParaRPr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4312819" y="3651387"/>
            <a:ext cx="544785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9D8863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LEARNING OF ARRAY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对角圆角矩形 19"/>
          <p:cNvSpPr/>
          <p:nvPr/>
        </p:nvSpPr>
        <p:spPr>
          <a:xfrm>
            <a:off x="5381850" y="388624"/>
            <a:ext cx="720000" cy="720000"/>
          </a:xfrm>
          <a:prstGeom prst="round2Diag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21" name="矩形 20"/>
          <p:cNvSpPr/>
          <p:nvPr/>
        </p:nvSpPr>
        <p:spPr>
          <a:xfrm>
            <a:off x="6295921" y="308329"/>
            <a:ext cx="5004821" cy="830997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indent="-1371600">
              <a:lnSpc>
                <a:spcPct val="150000"/>
              </a:lnSpc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成绩统计问题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3" name="对角圆角矩形 22"/>
          <p:cNvSpPr/>
          <p:nvPr/>
        </p:nvSpPr>
        <p:spPr>
          <a:xfrm>
            <a:off x="5381850" y="1468294"/>
            <a:ext cx="720000" cy="720000"/>
          </a:xfrm>
          <a:prstGeom prst="round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4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295921" y="1504543"/>
            <a:ext cx="5004821" cy="584775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数组的概念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7" name="对角圆角矩形 26"/>
          <p:cNvSpPr/>
          <p:nvPr/>
        </p:nvSpPr>
        <p:spPr>
          <a:xfrm>
            <a:off x="5381850" y="2530596"/>
            <a:ext cx="720000" cy="720000"/>
          </a:xfrm>
          <a:prstGeom prst="round2Diag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28" name="矩形 27"/>
          <p:cNvSpPr/>
          <p:nvPr/>
        </p:nvSpPr>
        <p:spPr>
          <a:xfrm>
            <a:off x="6295921" y="2589503"/>
            <a:ext cx="500482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一维数组常见操作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0" name="对角圆角矩形 29"/>
          <p:cNvSpPr/>
          <p:nvPr/>
        </p:nvSpPr>
        <p:spPr>
          <a:xfrm>
            <a:off x="5381850" y="3592897"/>
            <a:ext cx="720000" cy="720000"/>
          </a:xfrm>
          <a:prstGeom prst="round2Diag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31" name="矩形 30"/>
          <p:cNvSpPr/>
          <p:nvPr/>
        </p:nvSpPr>
        <p:spPr>
          <a:xfrm>
            <a:off x="6295921" y="3488098"/>
            <a:ext cx="5004821" cy="830997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indent="-1371600">
              <a:lnSpc>
                <a:spcPct val="150000"/>
              </a:lnSpc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二维数组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700" y="1270"/>
            <a:ext cx="5292090" cy="7482840"/>
          </a:xfrm>
          <a:prstGeom prst="rect">
            <a:avLst/>
          </a:prstGeom>
        </p:spPr>
      </p:pic>
      <p:sp>
        <p:nvSpPr>
          <p:cNvPr id="15" name="对角圆角矩形 29">
            <a:extLst>
              <a:ext uri="{FF2B5EF4-FFF2-40B4-BE49-F238E27FC236}">
                <a16:creationId xmlns:a16="http://schemas.microsoft.com/office/drawing/2014/main" id="{7751C200-7B1A-4A6A-AFE2-DF1840629733}"/>
              </a:ext>
            </a:extLst>
          </p:cNvPr>
          <p:cNvSpPr/>
          <p:nvPr/>
        </p:nvSpPr>
        <p:spPr>
          <a:xfrm>
            <a:off x="5396021" y="4687968"/>
            <a:ext cx="720000" cy="7200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584715-A4AB-4B01-A099-627514EE8962}"/>
              </a:ext>
            </a:extLst>
          </p:cNvPr>
          <p:cNvSpPr/>
          <p:nvPr/>
        </p:nvSpPr>
        <p:spPr>
          <a:xfrm>
            <a:off x="6310092" y="4707969"/>
            <a:ext cx="5004821" cy="584775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字符数组及字符串处理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8" name="对角圆角矩形 29">
            <a:extLst>
              <a:ext uri="{FF2B5EF4-FFF2-40B4-BE49-F238E27FC236}">
                <a16:creationId xmlns:a16="http://schemas.microsoft.com/office/drawing/2014/main" id="{CA173310-88B4-4916-95A7-5286B7C5C017}"/>
              </a:ext>
            </a:extLst>
          </p:cNvPr>
          <p:cNvSpPr/>
          <p:nvPr/>
        </p:nvSpPr>
        <p:spPr>
          <a:xfrm>
            <a:off x="5403458" y="5754766"/>
            <a:ext cx="720000" cy="720000"/>
          </a:xfrm>
          <a:prstGeom prst="round2Diag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DDD859-ADB6-4044-81EE-A6B8BAEF57AD}"/>
              </a:ext>
            </a:extLst>
          </p:cNvPr>
          <p:cNvSpPr/>
          <p:nvPr/>
        </p:nvSpPr>
        <p:spPr>
          <a:xfrm>
            <a:off x="6317529" y="5774767"/>
            <a:ext cx="5004821" cy="584775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指针与数组关系初步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/>
      <p:bldP spid="23" grpId="0" bldLvl="0" animBg="1"/>
      <p:bldP spid="25" grpId="0"/>
      <p:bldP spid="27" grpId="0" bldLvl="0" animBg="1"/>
      <p:bldP spid="28" grpId="0"/>
      <p:bldP spid="30" grpId="0" bldLvl="0" animBg="1"/>
      <p:bldP spid="31" grpId="0"/>
      <p:bldP spid="15" grpId="0" bldLvl="0" animBg="1"/>
      <p:bldP spid="16" grpId="0"/>
      <p:bldP spid="18" grpId="0" bldLvl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25160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1147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32768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4478863" y="2685999"/>
            <a:ext cx="538512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800" dirty="0">
                <a:latin typeface="微软雅黑" panose="020B0503020204020204" charset="-122"/>
                <a:ea typeface="微软雅黑" panose="020B0503020204020204" charset="-122"/>
              </a:rPr>
              <a:t>成绩统计问题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8696" y="3403642"/>
            <a:ext cx="4944083" cy="52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65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STATISTICAL PROBLEM OF ACHIEVEMENT</a:t>
            </a:r>
            <a:endParaRPr lang="zh-CN" altLang="en-US" sz="1865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1426417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01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15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81820" y="1955604"/>
            <a:ext cx="94639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给定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个学生成绩，求其平均分，需要多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少变量存储学生成绩？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给定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个学生成绩，求</a:t>
            </a: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高于平均分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的学生的人数，又需多少变量存储学生成绩？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5796" y="392919"/>
            <a:ext cx="900100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引例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给定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个学生某门课的成绩，统计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高于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平均分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的学生人数。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6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25160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1147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32768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4478863" y="2685999"/>
            <a:ext cx="5385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800" dirty="0">
                <a:latin typeface="微软雅黑" panose="020B0503020204020204" charset="-122"/>
                <a:ea typeface="微软雅黑" panose="020B0503020204020204" charset="-122"/>
              </a:rPr>
              <a:t>数组的概念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8696" y="3408010"/>
            <a:ext cx="436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THE CONCEPT OF ARRAY</a:t>
            </a:r>
          </a:p>
        </p:txBody>
      </p:sp>
      <p:sp>
        <p:nvSpPr>
          <p:cNvPr id="19" name="TextBox 13"/>
          <p:cNvSpPr txBox="1"/>
          <p:nvPr/>
        </p:nvSpPr>
        <p:spPr>
          <a:xfrm>
            <a:off x="1359511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02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204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10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442220" y="1340768"/>
            <a:ext cx="876114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 数组名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常量表达式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</a:t>
            </a:r>
          </a:p>
        </p:txBody>
      </p:sp>
      <p:sp>
        <p:nvSpPr>
          <p:cNvPr id="27" name="AutoShape 5"/>
          <p:cNvSpPr>
            <a:spLocks noChangeArrowheads="1"/>
          </p:cNvSpPr>
          <p:nvPr/>
        </p:nvSpPr>
        <p:spPr bwMode="auto">
          <a:xfrm>
            <a:off x="5188721" y="2708920"/>
            <a:ext cx="1511300" cy="1104900"/>
          </a:xfrm>
          <a:prstGeom prst="wedgeRectCallout">
            <a:avLst>
              <a:gd name="adj1" fmla="val -9347"/>
              <a:gd name="adj2" fmla="val -124977"/>
            </a:avLst>
          </a:prstGeom>
          <a:solidFill>
            <a:srgbClr val="FFFFFF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合法标识符</a:t>
            </a:r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auto">
          <a:xfrm>
            <a:off x="6728597" y="2684140"/>
            <a:ext cx="1584325" cy="1104900"/>
          </a:xfrm>
          <a:prstGeom prst="wedgeRectCallout">
            <a:avLst>
              <a:gd name="adj1" fmla="val -11023"/>
              <a:gd name="adj2" fmla="val -122269"/>
            </a:avLst>
          </a:prstGeom>
          <a:solidFill>
            <a:srgbClr val="FFFFFF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数据元素个数</a:t>
            </a: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1444182" y="2204864"/>
            <a:ext cx="552309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/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例子：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a[4];</a:t>
            </a:r>
          </a:p>
        </p:txBody>
      </p:sp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2812734" y="2216015"/>
            <a:ext cx="258122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/>
            <a:r>
              <a:rPr lang="en-US" altLang="zh-CN" sz="36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a[4];</a:t>
            </a:r>
          </a:p>
        </p:txBody>
      </p:sp>
      <p:grpSp>
        <p:nvGrpSpPr>
          <p:cNvPr id="31" name="Group 40"/>
          <p:cNvGrpSpPr>
            <a:grpSpLocks/>
          </p:cNvGrpSpPr>
          <p:nvPr/>
        </p:nvGrpSpPr>
        <p:grpSpPr bwMode="auto">
          <a:xfrm>
            <a:off x="6613089" y="1340769"/>
            <a:ext cx="2800807" cy="649229"/>
            <a:chOff x="3341" y="1088"/>
            <a:chExt cx="1612" cy="400"/>
          </a:xfrm>
        </p:grpSpPr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3341" y="1088"/>
              <a:ext cx="208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</a:p>
          </p:txBody>
        </p:sp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4756" y="1088"/>
              <a:ext cx="197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</a:t>
              </a:r>
            </a:p>
          </p:txBody>
        </p:sp>
      </p:grpSp>
      <p:graphicFrame>
        <p:nvGraphicFramePr>
          <p:cNvPr id="34" name="Group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2230"/>
              </p:ext>
            </p:extLst>
          </p:nvPr>
        </p:nvGraphicFramePr>
        <p:xfrm>
          <a:off x="6944497" y="2800351"/>
          <a:ext cx="1444625" cy="2724151"/>
        </p:xfrm>
        <a:graphic>
          <a:graphicData uri="http://schemas.openxmlformats.org/drawingml/2006/table">
            <a:tbl>
              <a:tblPr/>
              <a:tblGrid>
                <a:gridCol w="144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隶书" pitchFamily="49" charset="-122"/>
                      </a:endParaRPr>
                    </a:p>
                  </a:txBody>
                  <a:tcPr marL="90000" marR="90000" marT="46802" marB="468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5" name="Group 92"/>
          <p:cNvGrpSpPr>
            <a:grpSpLocks/>
          </p:cNvGrpSpPr>
          <p:nvPr/>
        </p:nvGrpSpPr>
        <p:grpSpPr bwMode="auto">
          <a:xfrm>
            <a:off x="7309621" y="2803603"/>
            <a:ext cx="687388" cy="2620775"/>
            <a:chOff x="3264" y="1885"/>
            <a:chExt cx="433" cy="1691"/>
          </a:xfrm>
        </p:grpSpPr>
        <p:sp>
          <p:nvSpPr>
            <p:cNvPr id="36" name="Rectangle 71"/>
            <p:cNvSpPr>
              <a:spLocks noChangeArrowheads="1"/>
            </p:cNvSpPr>
            <p:nvPr/>
          </p:nvSpPr>
          <p:spPr bwMode="auto">
            <a:xfrm>
              <a:off x="3264" y="1885"/>
              <a:ext cx="433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</a:p>
          </p:txBody>
        </p:sp>
        <p:sp>
          <p:nvSpPr>
            <p:cNvPr id="37" name="Rectangle 72"/>
            <p:cNvSpPr>
              <a:spLocks noChangeArrowheads="1"/>
            </p:cNvSpPr>
            <p:nvPr/>
          </p:nvSpPr>
          <p:spPr bwMode="auto">
            <a:xfrm>
              <a:off x="3264" y="2317"/>
              <a:ext cx="433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</a:p>
          </p:txBody>
        </p:sp>
        <p:sp>
          <p:nvSpPr>
            <p:cNvPr id="38" name="Rectangle 73"/>
            <p:cNvSpPr>
              <a:spLocks noChangeArrowheads="1"/>
            </p:cNvSpPr>
            <p:nvPr/>
          </p:nvSpPr>
          <p:spPr bwMode="auto">
            <a:xfrm>
              <a:off x="3264" y="2748"/>
              <a:ext cx="433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</a:p>
          </p:txBody>
        </p:sp>
        <p:sp>
          <p:nvSpPr>
            <p:cNvPr id="39" name="Rectangle 74"/>
            <p:cNvSpPr>
              <a:spLocks noChangeArrowheads="1"/>
            </p:cNvSpPr>
            <p:nvPr/>
          </p:nvSpPr>
          <p:spPr bwMode="auto">
            <a:xfrm>
              <a:off x="3264" y="3197"/>
              <a:ext cx="433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</a:p>
          </p:txBody>
        </p:sp>
      </p:grpSp>
      <p:grpSp>
        <p:nvGrpSpPr>
          <p:cNvPr id="40" name="Group 98"/>
          <p:cNvGrpSpPr>
            <a:grpSpLocks/>
          </p:cNvGrpSpPr>
          <p:nvPr/>
        </p:nvGrpSpPr>
        <p:grpSpPr bwMode="auto">
          <a:xfrm>
            <a:off x="8393884" y="2801940"/>
            <a:ext cx="1041400" cy="579438"/>
            <a:chOff x="3984" y="1784"/>
            <a:chExt cx="656" cy="365"/>
          </a:xfrm>
        </p:grpSpPr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4072" y="1784"/>
              <a:ext cx="5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a[0]</a:t>
              </a:r>
            </a:p>
          </p:txBody>
        </p:sp>
        <p:sp>
          <p:nvSpPr>
            <p:cNvPr id="42" name="AutoShape 93"/>
            <p:cNvSpPr>
              <a:spLocks/>
            </p:cNvSpPr>
            <p:nvPr/>
          </p:nvSpPr>
          <p:spPr bwMode="auto">
            <a:xfrm>
              <a:off x="3984" y="1857"/>
              <a:ext cx="144" cy="25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Group 99"/>
          <p:cNvGrpSpPr>
            <a:grpSpLocks/>
          </p:cNvGrpSpPr>
          <p:nvPr/>
        </p:nvGrpSpPr>
        <p:grpSpPr bwMode="auto">
          <a:xfrm>
            <a:off x="8406588" y="3481386"/>
            <a:ext cx="1147763" cy="584199"/>
            <a:chOff x="3984" y="2201"/>
            <a:chExt cx="723" cy="368"/>
          </a:xfrm>
        </p:grpSpPr>
        <p:sp>
          <p:nvSpPr>
            <p:cNvPr id="44" name="Text Box 18"/>
            <p:cNvSpPr txBox="1">
              <a:spLocks noChangeArrowheads="1"/>
            </p:cNvSpPr>
            <p:nvPr/>
          </p:nvSpPr>
          <p:spPr bwMode="auto">
            <a:xfrm>
              <a:off x="4080" y="2201"/>
              <a:ext cx="62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a[1]</a:t>
              </a:r>
            </a:p>
          </p:txBody>
        </p:sp>
        <p:sp>
          <p:nvSpPr>
            <p:cNvPr id="45" name="AutoShape 95"/>
            <p:cNvSpPr>
              <a:spLocks/>
            </p:cNvSpPr>
            <p:nvPr/>
          </p:nvSpPr>
          <p:spPr bwMode="auto">
            <a:xfrm>
              <a:off x="3984" y="2286"/>
              <a:ext cx="144" cy="252"/>
            </a:xfrm>
            <a:prstGeom prst="rightBrace">
              <a:avLst>
                <a:gd name="adj1" fmla="val 22685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Group 100"/>
          <p:cNvGrpSpPr>
            <a:grpSpLocks/>
          </p:cNvGrpSpPr>
          <p:nvPr/>
        </p:nvGrpSpPr>
        <p:grpSpPr bwMode="auto">
          <a:xfrm>
            <a:off x="8393888" y="4167195"/>
            <a:ext cx="1160463" cy="584201"/>
            <a:chOff x="3984" y="2633"/>
            <a:chExt cx="731" cy="368"/>
          </a:xfrm>
        </p:grpSpPr>
        <p:sp>
          <p:nvSpPr>
            <p:cNvPr id="47" name="Text Box 27"/>
            <p:cNvSpPr txBox="1">
              <a:spLocks noChangeArrowheads="1"/>
            </p:cNvSpPr>
            <p:nvPr/>
          </p:nvSpPr>
          <p:spPr bwMode="auto">
            <a:xfrm>
              <a:off x="4088" y="2633"/>
              <a:ext cx="62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a[2]</a:t>
              </a:r>
            </a:p>
          </p:txBody>
        </p:sp>
        <p:sp>
          <p:nvSpPr>
            <p:cNvPr id="48" name="AutoShape 96"/>
            <p:cNvSpPr>
              <a:spLocks/>
            </p:cNvSpPr>
            <p:nvPr/>
          </p:nvSpPr>
          <p:spPr bwMode="auto">
            <a:xfrm>
              <a:off x="3984" y="2713"/>
              <a:ext cx="144" cy="254"/>
            </a:xfrm>
            <a:prstGeom prst="rightBrace">
              <a:avLst>
                <a:gd name="adj1" fmla="val 25000"/>
                <a:gd name="adj2" fmla="val 48148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Group 101"/>
          <p:cNvGrpSpPr>
            <a:grpSpLocks/>
          </p:cNvGrpSpPr>
          <p:nvPr/>
        </p:nvGrpSpPr>
        <p:grpSpPr bwMode="auto">
          <a:xfrm>
            <a:off x="8381188" y="4857759"/>
            <a:ext cx="1160463" cy="584201"/>
            <a:chOff x="3984" y="3065"/>
            <a:chExt cx="731" cy="368"/>
          </a:xfrm>
        </p:grpSpPr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4088" y="3065"/>
              <a:ext cx="62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a[3]</a:t>
              </a:r>
            </a:p>
          </p:txBody>
        </p:sp>
        <p:sp>
          <p:nvSpPr>
            <p:cNvPr id="51" name="AutoShape 97"/>
            <p:cNvSpPr>
              <a:spLocks/>
            </p:cNvSpPr>
            <p:nvPr/>
          </p:nvSpPr>
          <p:spPr bwMode="auto">
            <a:xfrm>
              <a:off x="3984" y="3145"/>
              <a:ext cx="144" cy="25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Group 91"/>
          <p:cNvGrpSpPr>
            <a:grpSpLocks/>
          </p:cNvGrpSpPr>
          <p:nvPr/>
        </p:nvGrpSpPr>
        <p:grpSpPr bwMode="auto">
          <a:xfrm>
            <a:off x="5325199" y="2722564"/>
            <a:ext cx="1830060" cy="2959101"/>
            <a:chOff x="2458" y="1842"/>
            <a:chExt cx="670" cy="1864"/>
          </a:xfrm>
        </p:grpSpPr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2458" y="1842"/>
              <a:ext cx="670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algn="ctr">
                <a:spcBef>
                  <a:spcPct val="5000"/>
                </a:spcBef>
              </a:pPr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1000H</a:t>
              </a:r>
            </a:p>
          </p:txBody>
        </p:sp>
        <p:sp>
          <p:nvSpPr>
            <p:cNvPr id="54" name="Rectangle 83"/>
            <p:cNvSpPr>
              <a:spLocks noChangeArrowheads="1"/>
            </p:cNvSpPr>
            <p:nvPr/>
          </p:nvSpPr>
          <p:spPr bwMode="auto">
            <a:xfrm>
              <a:off x="2592" y="2040"/>
              <a:ext cx="52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84"/>
            <p:cNvSpPr>
              <a:spLocks noChangeArrowheads="1"/>
            </p:cNvSpPr>
            <p:nvPr/>
          </p:nvSpPr>
          <p:spPr bwMode="auto">
            <a:xfrm>
              <a:off x="2584" y="2256"/>
              <a:ext cx="52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85"/>
            <p:cNvSpPr>
              <a:spLocks noChangeArrowheads="1"/>
            </p:cNvSpPr>
            <p:nvPr/>
          </p:nvSpPr>
          <p:spPr bwMode="auto">
            <a:xfrm>
              <a:off x="2584" y="2488"/>
              <a:ext cx="52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86"/>
            <p:cNvSpPr>
              <a:spLocks noChangeArrowheads="1"/>
            </p:cNvSpPr>
            <p:nvPr/>
          </p:nvSpPr>
          <p:spPr bwMode="auto">
            <a:xfrm>
              <a:off x="2584" y="2688"/>
              <a:ext cx="52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Rectangle 87"/>
            <p:cNvSpPr>
              <a:spLocks noChangeArrowheads="1"/>
            </p:cNvSpPr>
            <p:nvPr/>
          </p:nvSpPr>
          <p:spPr bwMode="auto">
            <a:xfrm>
              <a:off x="2584" y="2888"/>
              <a:ext cx="52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88"/>
            <p:cNvSpPr>
              <a:spLocks noChangeArrowheads="1"/>
            </p:cNvSpPr>
            <p:nvPr/>
          </p:nvSpPr>
          <p:spPr bwMode="auto">
            <a:xfrm>
              <a:off x="2584" y="3120"/>
              <a:ext cx="536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90"/>
            <p:cNvSpPr>
              <a:spLocks noChangeArrowheads="1"/>
            </p:cNvSpPr>
            <p:nvPr/>
          </p:nvSpPr>
          <p:spPr bwMode="auto">
            <a:xfrm>
              <a:off x="2584" y="3336"/>
              <a:ext cx="536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Group 103"/>
          <p:cNvGrpSpPr>
            <a:grpSpLocks/>
          </p:cNvGrpSpPr>
          <p:nvPr/>
        </p:nvGrpSpPr>
        <p:grpSpPr bwMode="auto">
          <a:xfrm>
            <a:off x="4559299" y="2700566"/>
            <a:ext cx="2459038" cy="619124"/>
            <a:chOff x="2016" y="1659"/>
            <a:chExt cx="1549" cy="390"/>
          </a:xfrm>
        </p:grpSpPr>
        <p:sp>
          <p:nvSpPr>
            <p:cNvPr id="62" name="Line 29"/>
            <p:cNvSpPr>
              <a:spLocks noChangeShapeType="1"/>
            </p:cNvSpPr>
            <p:nvPr/>
          </p:nvSpPr>
          <p:spPr bwMode="auto">
            <a:xfrm>
              <a:off x="2208" y="1872"/>
              <a:ext cx="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Text Box 30"/>
            <p:cNvSpPr txBox="1">
              <a:spLocks noChangeArrowheads="1"/>
            </p:cNvSpPr>
            <p:nvPr/>
          </p:nvSpPr>
          <p:spPr bwMode="auto">
            <a:xfrm>
              <a:off x="2016" y="1659"/>
              <a:ext cx="22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64" name="Rectangle 102"/>
            <p:cNvSpPr>
              <a:spLocks noChangeArrowheads="1"/>
            </p:cNvSpPr>
            <p:nvPr/>
          </p:nvSpPr>
          <p:spPr bwMode="auto">
            <a:xfrm>
              <a:off x="2600" y="1679"/>
              <a:ext cx="96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83357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bldLvl="3" autoUpdateAnimBg="0"/>
      <p:bldP spid="27" grpId="0" animBg="1" autoUpdateAnimBg="0"/>
      <p:bldP spid="28" grpId="0" animBg="1" autoUpdateAnimBg="0"/>
      <p:bldP spid="29" grpId="0" build="p" bldLvl="2" autoUpdateAnimBg="0"/>
      <p:bldP spid="3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3352800" y="1968197"/>
            <a:ext cx="5048250" cy="4526497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</a:rPr>
              <a:t>&gt;</a:t>
            </a:r>
          </a:p>
          <a:p>
            <a:pPr eaLnBrk="0" hangingPunct="0"/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main( 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{    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for(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=0;i&lt;3;i++)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{   </a:t>
            </a:r>
            <a:r>
              <a:rPr lang="en-US" altLang="zh-CN" sz="3200" b="1" dirty="0" err="1"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</a:rPr>
              <a:t>d",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&amp;a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  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("%d\</a:t>
            </a:r>
            <a:r>
              <a:rPr lang="en-US" altLang="zh-CN" sz="3200" b="1" dirty="0" err="1">
                <a:latin typeface="Times New Roman" pitchFamily="18" charset="0"/>
              </a:rPr>
              <a:t>n",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 }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 return 0;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}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1774825" y="1196753"/>
            <a:ext cx="62484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lvl="2"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200" dirty="0">
                <a:latin typeface="Times New Roman" pitchFamily="18" charset="0"/>
              </a:rPr>
              <a:t> 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数组必须先定义，后使用</a:t>
            </a:r>
          </a:p>
        </p:txBody>
      </p: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7024927" y="5178351"/>
            <a:ext cx="792162" cy="1081088"/>
            <a:chOff x="4344" y="3540"/>
            <a:chExt cx="240" cy="240"/>
          </a:xfrm>
        </p:grpSpPr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>
              <a:off x="4344" y="3540"/>
              <a:ext cx="240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4356" y="3540"/>
              <a:ext cx="228" cy="21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1E8E3B9-F83A-4A66-A183-9D03E7BF2393}"/>
              </a:ext>
            </a:extLst>
          </p:cNvPr>
          <p:cNvGrpSpPr/>
          <p:nvPr/>
        </p:nvGrpSpPr>
        <p:grpSpPr>
          <a:xfrm>
            <a:off x="0" y="175102"/>
            <a:ext cx="4438185" cy="769441"/>
            <a:chOff x="0" y="175102"/>
            <a:chExt cx="6411951" cy="769441"/>
          </a:xfrm>
        </p:grpSpPr>
        <p:sp>
          <p:nvSpPr>
            <p:cNvPr id="2" name="矩形: 剪去单角 1">
              <a:extLst>
                <a:ext uri="{FF2B5EF4-FFF2-40B4-BE49-F238E27FC236}">
                  <a16:creationId xmlns:a16="http://schemas.microsoft.com/office/drawing/2014/main" id="{F05F2A5E-7B9F-4315-B53F-0E56E3167098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34047" y="175102"/>
              <a:ext cx="6004608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数组使用注意事项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54262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utoUpdateAnimBg="0"/>
      <p:bldP spid="2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352799" y="1769329"/>
            <a:ext cx="5378605" cy="4526497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#include "</a:t>
            </a:r>
            <a:r>
              <a:rPr lang="en-US" altLang="zh-CN" sz="3200" b="1" dirty="0" err="1">
                <a:latin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</a:rPr>
              <a:t>"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void main()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{  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,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a[3]</a:t>
            </a:r>
            <a:r>
              <a:rPr lang="en-US" altLang="zh-CN" sz="3200" b="1" dirty="0">
                <a:latin typeface="Times New Roman" pitchFamily="18" charset="0"/>
              </a:rPr>
              <a:t>,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zh-CN" sz="3200" b="1" dirty="0">
                <a:latin typeface="Times New Roman" pitchFamily="18" charset="0"/>
              </a:rPr>
              <a:t>=0;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for(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=0;i&lt;3;i++)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{    </a:t>
            </a:r>
            <a:r>
              <a:rPr lang="en-US" altLang="zh-CN" sz="3200" b="1" dirty="0" err="1"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</a:rPr>
              <a:t>d",&amp;a</a:t>
            </a:r>
            <a:r>
              <a:rPr lang="en-US" altLang="zh-CN" sz="3200" b="1" dirty="0">
                <a:latin typeface="Times New Roman" pitchFamily="18" charset="0"/>
              </a:rPr>
              <a:t>[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]);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   a=</a:t>
            </a:r>
            <a:r>
              <a:rPr lang="en-US" altLang="zh-CN" sz="3200" b="1" dirty="0" err="1">
                <a:latin typeface="Times New Roman" pitchFamily="18" charset="0"/>
              </a:rPr>
              <a:t>a+a</a:t>
            </a:r>
            <a:r>
              <a:rPr lang="en-US" altLang="zh-CN" sz="3200" b="1" dirty="0">
                <a:latin typeface="Times New Roman" pitchFamily="18" charset="0"/>
              </a:rPr>
              <a:t>[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];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}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</a:rPr>
              <a:t>d",a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}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31104" y="1045072"/>
            <a:ext cx="762404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lvl="2"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数组名不能与程序中的其它变量同名 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7319963" y="4508500"/>
            <a:ext cx="792162" cy="1081088"/>
            <a:chOff x="4344" y="3540"/>
            <a:chExt cx="240" cy="240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>
              <a:off x="4344" y="3540"/>
              <a:ext cx="240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4356" y="3540"/>
              <a:ext cx="228" cy="21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27CC958-D45E-4019-8229-6CC7EFF12320}"/>
              </a:ext>
            </a:extLst>
          </p:cNvPr>
          <p:cNvGrpSpPr/>
          <p:nvPr/>
        </p:nvGrpSpPr>
        <p:grpSpPr>
          <a:xfrm>
            <a:off x="0" y="175102"/>
            <a:ext cx="4438185" cy="769441"/>
            <a:chOff x="0" y="175102"/>
            <a:chExt cx="6411951" cy="769441"/>
          </a:xfrm>
        </p:grpSpPr>
        <p:sp>
          <p:nvSpPr>
            <p:cNvPr id="14" name="矩形: 剪去单角 13">
              <a:extLst>
                <a:ext uri="{FF2B5EF4-FFF2-40B4-BE49-F238E27FC236}">
                  <a16:creationId xmlns:a16="http://schemas.microsoft.com/office/drawing/2014/main" id="{29E57E0D-BF5F-49B1-B59A-29AD21D9E318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7ADA6E4-1712-4D1B-A91A-B2FBBD174FBD}"/>
                </a:ext>
              </a:extLst>
            </p:cNvPr>
            <p:cNvSpPr/>
            <p:nvPr/>
          </p:nvSpPr>
          <p:spPr>
            <a:xfrm>
              <a:off x="134047" y="175102"/>
              <a:ext cx="6004608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数组使用注意事项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327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933878" y="1972763"/>
            <a:ext cx="90614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lvl="2"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代表数据长度的常量表达式不能使用变量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43403" y="137492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0" hangingPunct="0"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数据元素的下标起始值为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498607" y="3420314"/>
            <a:ext cx="5541962" cy="586957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例 </a:t>
            </a:r>
            <a:r>
              <a:rPr lang="zh-CN" altLang="en-US" b="1" dirty="0">
                <a:solidFill>
                  <a:srgbClr val="FF5555"/>
                </a:solidFill>
                <a:latin typeface="Times New Roman" pitchFamily="18" charset="0"/>
                <a:ea typeface="隶书" pitchFamily="49" charset="-122"/>
              </a:rPr>
              <a:t>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d",a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);    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)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783985" y="2298569"/>
            <a:ext cx="3733800" cy="1104900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</a:rPr>
              <a:t>例</a:t>
            </a:r>
            <a:r>
              <a:rPr lang="zh-CN" altLang="en-US" b="1" dirty="0">
                <a:latin typeface="Times New Roman" pitchFamily="18" charset="0"/>
                <a:ea typeface="隶书" pitchFamily="49" charset="-122"/>
              </a:rPr>
              <a:t>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data[5];     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     data[5]=10; 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) 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495979" y="4001981"/>
            <a:ext cx="5545137" cy="1104900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</a:rPr>
              <a:t>修改</a:t>
            </a:r>
            <a:r>
              <a:rPr lang="zh-CN" altLang="en-US" sz="3200" b="1" dirty="0">
                <a:latin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</a:rPr>
              <a:t>for(j=0;j&lt;10;j++)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</a:rPr>
              <a:t>        </a:t>
            </a:r>
            <a:r>
              <a:rPr lang="zh-CN" altLang="en-US" sz="3200" b="1" dirty="0">
                <a:latin typeface="Times New Roman" pitchFamily="18" charset="0"/>
              </a:rPr>
              <a:t>　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("%d ",a[j]);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sym typeface="Wingdings 2" pitchFamily="18" charset="2"/>
              </a:rPr>
              <a:t>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911653" y="2624209"/>
            <a:ext cx="86868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lvl="2"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只能逐个引用数组元素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不能整体使用</a:t>
            </a:r>
            <a:endParaRPr lang="zh-CN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783985" y="2875949"/>
            <a:ext cx="3363912" cy="1104900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例</a:t>
            </a:r>
            <a:r>
              <a:rPr lang="zh-CN" altLang="en-US" b="1" dirty="0">
                <a:latin typeface="Times New Roman" pitchFamily="18" charset="0"/>
                <a:ea typeface="隶书" pitchFamily="49" charset="-122"/>
              </a:rPr>
              <a:t> 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=15;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(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)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    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data[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];            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0EFF1C23-02BD-42C1-891B-2C725625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051" y="3387371"/>
            <a:ext cx="72945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对数组名不允许进行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7B29AF22-2ADE-40E5-8A0D-9260645C2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4038" y="4092150"/>
            <a:ext cx="3024188" cy="1104900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例</a:t>
            </a:r>
            <a:r>
              <a:rPr lang="zh-CN" altLang="en-US" b="1" dirty="0">
                <a:latin typeface="Times New Roman" pitchFamily="18" charset="0"/>
                <a:ea typeface="隶书" pitchFamily="49" charset="-122"/>
              </a:rPr>
              <a:t>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d[5]; </a:t>
            </a:r>
          </a:p>
          <a:p>
            <a:pPr eaLnBrk="0" hangingPunct="0"/>
            <a:r>
              <a:rPr lang="zh-CN" altLang="en-US" b="1" dirty="0">
                <a:latin typeface="Times New Roman" pitchFamily="18" charset="0"/>
                <a:ea typeface="隶书" pitchFamily="49" charset="-122"/>
              </a:rPr>
              <a:t>　  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d++;        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)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5B57E06E-DDDA-41D8-8482-FBC9F3A9D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622" y="4072327"/>
            <a:ext cx="72945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数组可以在定义时直接赋初值</a:t>
            </a: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1B0CD22-88C6-4750-A444-B5B300522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32" y="4788394"/>
            <a:ext cx="3313113" cy="586957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例</a:t>
            </a:r>
            <a:r>
              <a:rPr lang="zh-CN" altLang="en-US" b="1" dirty="0">
                <a:latin typeface="Times New Roman" pitchFamily="18" charset="0"/>
                <a:ea typeface="隶书" pitchFamily="49" charset="-122"/>
              </a:rPr>
              <a:t>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a[2]={5,7}; </a:t>
            </a:r>
            <a:endParaRPr lang="en-US" altLang="zh-CN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D5937FD7-0767-49AE-A76F-73F8B152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114" y="4788395"/>
            <a:ext cx="3313113" cy="586957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例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</a:t>
            </a:r>
            <a:r>
              <a:rPr lang="zh-CN" altLang="en-US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a[5]={5,7}; </a:t>
            </a:r>
            <a:endParaRPr lang="en-US" altLang="zh-CN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AF92FF6-3056-4F3C-BC1A-C7C561E04117}"/>
              </a:ext>
            </a:extLst>
          </p:cNvPr>
          <p:cNvGrpSpPr/>
          <p:nvPr/>
        </p:nvGrpSpPr>
        <p:grpSpPr>
          <a:xfrm>
            <a:off x="0" y="175102"/>
            <a:ext cx="4438185" cy="769441"/>
            <a:chOff x="0" y="175102"/>
            <a:chExt cx="6411951" cy="769441"/>
          </a:xfrm>
        </p:grpSpPr>
        <p:sp>
          <p:nvSpPr>
            <p:cNvPr id="23" name="矩形: 剪去单角 22">
              <a:extLst>
                <a:ext uri="{FF2B5EF4-FFF2-40B4-BE49-F238E27FC236}">
                  <a16:creationId xmlns:a16="http://schemas.microsoft.com/office/drawing/2014/main" id="{4911E41E-FB16-4F47-B926-AE75412E780A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AF31336-6578-45EF-8D5F-C8059835FC98}"/>
                </a:ext>
              </a:extLst>
            </p:cNvPr>
            <p:cNvSpPr/>
            <p:nvPr/>
          </p:nvSpPr>
          <p:spPr>
            <a:xfrm>
              <a:off x="134047" y="175102"/>
              <a:ext cx="6004608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数组使用注意事项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237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7" grpId="1" animBg="1"/>
      <p:bldP spid="8" grpId="0" animBg="1" autoUpdateAnimBg="0"/>
      <p:bldP spid="9" grpId="0" animBg="1" autoUpdateAnimBg="0"/>
      <p:bldP spid="9" grpId="1" animBg="1"/>
      <p:bldP spid="11" grpId="0" autoUpdateAnimBg="0"/>
      <p:bldP spid="12" grpId="0" animBg="1" autoUpdateAnimBg="0"/>
      <p:bldP spid="17" grpId="0" autoUpdateAnimBg="0"/>
      <p:bldP spid="18" grpId="0" animBg="1" autoUpdateAnimBg="0"/>
      <p:bldP spid="19" grpId="0" autoUpdateAnimBg="0"/>
      <p:bldP spid="20" grpId="0" animBg="1" autoUpdateAnimBg="0"/>
      <p:bldP spid="21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207568" y="234178"/>
            <a:ext cx="8363787" cy="84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zh-CN"/>
            </a:defPPr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lvl="3" indent="-1371600" algn="ctr">
              <a:defRPr sz="3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求</a:t>
            </a: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10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个整数的最大值和最小值。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772939" y="1028605"/>
            <a:ext cx="6895168" cy="551138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main(  )</a:t>
            </a:r>
          </a:p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{             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i,max,min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for(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=0;i&lt;10;i++)</a:t>
            </a:r>
          </a:p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	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d",&amp;x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]);</a:t>
            </a:r>
          </a:p>
          <a:p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("Maximum is %d\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n",max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("Minimum is %d\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n",min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return 0;      }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236488" y="3483392"/>
            <a:ext cx="6123411" cy="1670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max=min=x[0];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for(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=1;i&lt;10;i++)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    if(max&lt;x[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])  max=x[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];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    if(min&gt;x[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])  min=x[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];       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DAE1BF-8E58-4444-A00F-5DE728AA6E35}"/>
              </a:ext>
            </a:extLst>
          </p:cNvPr>
          <p:cNvGrpSpPr/>
          <p:nvPr/>
        </p:nvGrpSpPr>
        <p:grpSpPr>
          <a:xfrm>
            <a:off x="0" y="175102"/>
            <a:ext cx="1962615" cy="769441"/>
            <a:chOff x="0" y="175102"/>
            <a:chExt cx="6411951" cy="769441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B6326DCD-4A92-4702-AFF3-84B754E5022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1983C72-E9BF-43F7-A27C-4DFFE1FB56DC}"/>
                </a:ext>
              </a:extLst>
            </p:cNvPr>
            <p:cNvSpPr/>
            <p:nvPr/>
          </p:nvSpPr>
          <p:spPr>
            <a:xfrm>
              <a:off x="134048" y="175102"/>
              <a:ext cx="5498881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案例一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0179685-CEA4-46D2-A13C-70D16D0BC441}"/>
              </a:ext>
            </a:extLst>
          </p:cNvPr>
          <p:cNvSpPr/>
          <p:nvPr/>
        </p:nvSpPr>
        <p:spPr>
          <a:xfrm>
            <a:off x="3206417" y="4144216"/>
            <a:ext cx="346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{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3310920" y="2098598"/>
            <a:ext cx="1563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x[10],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42488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 autoUpdateAnimBg="0"/>
      <p:bldP spid="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80934" y="342859"/>
            <a:ext cx="70952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用变量求</a:t>
            </a: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Fibonacci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数列前</a:t>
            </a: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20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993256" y="1228578"/>
            <a:ext cx="6337300" cy="5018939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&gt;</a:t>
            </a:r>
          </a:p>
          <a:p>
            <a:pPr eaLnBrk="0" hangingPunct="0"/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main( 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{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f1=1, f2=1;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for(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=1;i&lt;=10;i++)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{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　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("%d,%d,",f1,f2);   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f1=f1+f2;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f2=f1+f2;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}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return 0;</a:t>
            </a:r>
          </a:p>
          <a:p>
            <a:pPr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}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E32943F-4F2C-4EA7-B68E-C23F07183640}"/>
              </a:ext>
            </a:extLst>
          </p:cNvPr>
          <p:cNvGrpSpPr/>
          <p:nvPr/>
        </p:nvGrpSpPr>
        <p:grpSpPr>
          <a:xfrm>
            <a:off x="1" y="175102"/>
            <a:ext cx="3189248" cy="769441"/>
            <a:chOff x="0" y="175102"/>
            <a:chExt cx="6411951" cy="769441"/>
          </a:xfrm>
        </p:grpSpPr>
        <p:sp>
          <p:nvSpPr>
            <p:cNvPr id="6" name="矩形: 剪去单角 5">
              <a:extLst>
                <a:ext uri="{FF2B5EF4-FFF2-40B4-BE49-F238E27FC236}">
                  <a16:creationId xmlns:a16="http://schemas.microsoft.com/office/drawing/2014/main" id="{BD55C429-8BC2-469E-99E8-A711EDA008BC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15764C9-40A8-475E-A2CB-2B7FF84FCD8E}"/>
                </a:ext>
              </a:extLst>
            </p:cNvPr>
            <p:cNvSpPr/>
            <p:nvPr/>
          </p:nvSpPr>
          <p:spPr>
            <a:xfrm>
              <a:off x="134048" y="175102"/>
              <a:ext cx="57156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案例二</a:t>
              </a:r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-</a:t>
              </a:r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回顾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715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615194" y="374119"/>
            <a:ext cx="78705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用数组求</a:t>
            </a: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Fibonacci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数列前</a:t>
            </a: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20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个数。</a:t>
            </a:r>
          </a:p>
        </p:txBody>
      </p: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7162801" y="1202605"/>
            <a:ext cx="2889250" cy="5113555"/>
            <a:chOff x="3552" y="921"/>
            <a:chExt cx="1820" cy="2837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3561" y="970"/>
              <a:ext cx="1186" cy="276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193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193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pSp>
          <p:nvGrpSpPr>
            <p:cNvPr id="7" name="Group 51"/>
            <p:cNvGrpSpPr>
              <a:grpSpLocks/>
            </p:cNvGrpSpPr>
            <p:nvPr/>
          </p:nvGrpSpPr>
          <p:grpSpPr bwMode="auto">
            <a:xfrm>
              <a:off x="3552" y="921"/>
              <a:ext cx="1820" cy="2837"/>
              <a:chOff x="3552" y="921"/>
              <a:chExt cx="1820" cy="2837"/>
            </a:xfrm>
          </p:grpSpPr>
          <p:sp>
            <p:nvSpPr>
              <p:cNvPr id="8" name="Line 9"/>
              <p:cNvSpPr>
                <a:spLocks noChangeShapeType="1"/>
              </p:cNvSpPr>
              <p:nvPr/>
            </p:nvSpPr>
            <p:spPr bwMode="auto">
              <a:xfrm>
                <a:off x="3552" y="1263"/>
                <a:ext cx="1175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3579" y="1512"/>
                <a:ext cx="1175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0" name="Line 11"/>
              <p:cNvSpPr>
                <a:spLocks noChangeShapeType="1"/>
              </p:cNvSpPr>
              <p:nvPr/>
            </p:nvSpPr>
            <p:spPr bwMode="auto">
              <a:xfrm>
                <a:off x="3553" y="1794"/>
                <a:ext cx="1187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1" name="Line 12"/>
              <p:cNvSpPr>
                <a:spLocks noChangeShapeType="1"/>
              </p:cNvSpPr>
              <p:nvPr/>
            </p:nvSpPr>
            <p:spPr bwMode="auto">
              <a:xfrm>
                <a:off x="3570" y="2079"/>
                <a:ext cx="1186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2" name="Line 13"/>
              <p:cNvSpPr>
                <a:spLocks noChangeShapeType="1"/>
              </p:cNvSpPr>
              <p:nvPr/>
            </p:nvSpPr>
            <p:spPr bwMode="auto">
              <a:xfrm>
                <a:off x="3553" y="2340"/>
                <a:ext cx="1187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00193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13" name="Line 14"/>
              <p:cNvSpPr>
                <a:spLocks noChangeShapeType="1"/>
              </p:cNvSpPr>
              <p:nvPr/>
            </p:nvSpPr>
            <p:spPr bwMode="auto">
              <a:xfrm>
                <a:off x="3568" y="2641"/>
                <a:ext cx="1186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00193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14" name="Line 15"/>
              <p:cNvSpPr>
                <a:spLocks noChangeShapeType="1"/>
              </p:cNvSpPr>
              <p:nvPr/>
            </p:nvSpPr>
            <p:spPr bwMode="auto">
              <a:xfrm>
                <a:off x="3568" y="3485"/>
                <a:ext cx="1186" cy="0"/>
              </a:xfrm>
              <a:prstGeom prst="line">
                <a:avLst/>
              </a:prstGeom>
              <a:noFill/>
              <a:ln w="9525">
                <a:solidFill>
                  <a:srgbClr val="00193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00193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15" name="Text Box 16"/>
              <p:cNvSpPr txBox="1">
                <a:spLocks noChangeArrowheads="1"/>
              </p:cNvSpPr>
              <p:nvPr/>
            </p:nvSpPr>
            <p:spPr bwMode="auto">
              <a:xfrm>
                <a:off x="4744" y="936"/>
                <a:ext cx="503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f[0]</a:t>
                </a:r>
              </a:p>
            </p:txBody>
          </p:sp>
          <p:sp>
            <p:nvSpPr>
              <p:cNvPr id="16" name="Text Box 17"/>
              <p:cNvSpPr txBox="1">
                <a:spLocks noChangeArrowheads="1"/>
              </p:cNvSpPr>
              <p:nvPr/>
            </p:nvSpPr>
            <p:spPr bwMode="auto">
              <a:xfrm>
                <a:off x="4751" y="1204"/>
                <a:ext cx="503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f[1]</a:t>
                </a:r>
              </a:p>
            </p:txBody>
          </p:sp>
          <p:sp>
            <p:nvSpPr>
              <p:cNvPr id="17" name="Text Box 18"/>
              <p:cNvSpPr txBox="1">
                <a:spLocks noChangeArrowheads="1"/>
              </p:cNvSpPr>
              <p:nvPr/>
            </p:nvSpPr>
            <p:spPr bwMode="auto">
              <a:xfrm>
                <a:off x="4751" y="1471"/>
                <a:ext cx="503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f[2]</a:t>
                </a:r>
              </a:p>
            </p:txBody>
          </p:sp>
          <p:sp>
            <p:nvSpPr>
              <p:cNvPr id="18" name="Text Box 19"/>
              <p:cNvSpPr txBox="1">
                <a:spLocks noChangeArrowheads="1"/>
              </p:cNvSpPr>
              <p:nvPr/>
            </p:nvSpPr>
            <p:spPr bwMode="auto">
              <a:xfrm>
                <a:off x="4751" y="1757"/>
                <a:ext cx="503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f[3]</a:t>
                </a:r>
              </a:p>
            </p:txBody>
          </p:sp>
          <p:sp>
            <p:nvSpPr>
              <p:cNvPr id="19" name="Text Box 20"/>
              <p:cNvSpPr txBox="1">
                <a:spLocks noChangeArrowheads="1"/>
              </p:cNvSpPr>
              <p:nvPr/>
            </p:nvSpPr>
            <p:spPr bwMode="auto">
              <a:xfrm>
                <a:off x="4751" y="2025"/>
                <a:ext cx="503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f[4]</a:t>
                </a:r>
              </a:p>
            </p:txBody>
          </p:sp>
          <p:sp>
            <p:nvSpPr>
              <p:cNvPr id="20" name="Text Box 21"/>
              <p:cNvSpPr txBox="1">
                <a:spLocks noChangeArrowheads="1"/>
              </p:cNvSpPr>
              <p:nvPr/>
            </p:nvSpPr>
            <p:spPr bwMode="auto">
              <a:xfrm>
                <a:off x="4751" y="2310"/>
                <a:ext cx="503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f[5]</a:t>
                </a:r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4740" y="3434"/>
                <a:ext cx="632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f[19]</a:t>
                </a:r>
              </a:p>
            </p:txBody>
          </p:sp>
          <p:sp>
            <p:nvSpPr>
              <p:cNvPr id="23" name="Text Box 24"/>
              <p:cNvSpPr txBox="1">
                <a:spLocks noChangeArrowheads="1"/>
              </p:cNvSpPr>
              <p:nvPr/>
            </p:nvSpPr>
            <p:spPr bwMode="auto">
              <a:xfrm>
                <a:off x="4030" y="921"/>
                <a:ext cx="246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 dirty="0">
                    <a:solidFill>
                      <a:srgbClr val="001932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24" name="Text Box 25"/>
              <p:cNvSpPr txBox="1">
                <a:spLocks noChangeArrowheads="1"/>
              </p:cNvSpPr>
              <p:nvPr/>
            </p:nvSpPr>
            <p:spPr bwMode="auto">
              <a:xfrm>
                <a:off x="4049" y="1209"/>
                <a:ext cx="246" cy="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193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 eaLnBrk="0" hangingPunct="0"/>
                <a:r>
                  <a:rPr lang="en-US" altLang="zh-CN" b="1">
                    <a:solidFill>
                      <a:srgbClr val="001932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</p:grpSp>
      <p:sp>
        <p:nvSpPr>
          <p:cNvPr id="25" name="Rectangle 43"/>
          <p:cNvSpPr>
            <a:spLocks noChangeArrowheads="1"/>
          </p:cNvSpPr>
          <p:nvPr/>
        </p:nvSpPr>
        <p:spPr bwMode="auto">
          <a:xfrm>
            <a:off x="2676525" y="2177628"/>
            <a:ext cx="4495800" cy="113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3600" b="1" dirty="0">
                <a:latin typeface="Times New Roman" pitchFamily="18" charset="0"/>
              </a:rPr>
              <a:t>f[0]=1;</a:t>
            </a:r>
          </a:p>
          <a:p>
            <a:pPr>
              <a:lnSpc>
                <a:spcPct val="95000"/>
              </a:lnSpc>
            </a:pPr>
            <a:r>
              <a:rPr lang="en-US" altLang="zh-CN" sz="3600" b="1" dirty="0">
                <a:latin typeface="Times New Roman" pitchFamily="18" charset="0"/>
              </a:rPr>
              <a:t>f[1]=1;</a:t>
            </a:r>
            <a:endParaRPr lang="en-US" altLang="zh-CN" sz="3600" b="1" dirty="0">
              <a:solidFill>
                <a:srgbClr val="FF5555"/>
              </a:solidFill>
              <a:latin typeface="Times New Roman" pitchFamily="18" charset="0"/>
            </a:endParaRPr>
          </a:p>
        </p:txBody>
      </p:sp>
      <p:sp>
        <p:nvSpPr>
          <p:cNvPr id="26" name="Rectangle 45"/>
          <p:cNvSpPr>
            <a:spLocks noChangeArrowheads="1"/>
          </p:cNvSpPr>
          <p:nvPr/>
        </p:nvSpPr>
        <p:spPr bwMode="auto">
          <a:xfrm>
            <a:off x="2676525" y="3320628"/>
            <a:ext cx="4572000" cy="1424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zh-CN" sz="3600" b="1" dirty="0">
                <a:latin typeface="Times New Roman" pitchFamily="18" charset="0"/>
              </a:rPr>
              <a:t>f[</a:t>
            </a:r>
            <a:r>
              <a:rPr lang="en-US" altLang="zh-CN" sz="3600" b="1" dirty="0" err="1">
                <a:latin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</a:rPr>
              <a:t>]=f[i-1]+f[i-2];</a:t>
            </a:r>
          </a:p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           (i≥2)</a:t>
            </a:r>
          </a:p>
        </p:txBody>
      </p:sp>
      <p:grpSp>
        <p:nvGrpSpPr>
          <p:cNvPr id="27" name="Group 52"/>
          <p:cNvGrpSpPr>
            <a:grpSpLocks/>
          </p:cNvGrpSpPr>
          <p:nvPr/>
        </p:nvGrpSpPr>
        <p:grpSpPr bwMode="auto">
          <a:xfrm>
            <a:off x="7696204" y="2233153"/>
            <a:ext cx="1001713" cy="4098934"/>
            <a:chOff x="3888" y="1482"/>
            <a:chExt cx="631" cy="2582"/>
          </a:xfrm>
        </p:grpSpPr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4019" y="2883"/>
              <a:ext cx="425" cy="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1932"/>
                    </a:outerShdw>
                  </a:effectLst>
                </a14:hiddenEffects>
              </a:ext>
            </a:extLst>
          </p:spPr>
          <p:txBody>
            <a:bodyPr vert="eaVert" wrap="none" lIns="90000" tIns="46800" rIns="90000" bIns="46800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0" hangingPunct="0"/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……...</a:t>
              </a: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4056" y="1482"/>
              <a:ext cx="2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3200" b="1" dirty="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4056" y="1771"/>
              <a:ext cx="2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3200" b="1" dirty="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48"/>
            <p:cNvSpPr>
              <a:spLocks noChangeArrowheads="1"/>
            </p:cNvSpPr>
            <p:nvPr/>
          </p:nvSpPr>
          <p:spPr bwMode="auto">
            <a:xfrm>
              <a:off x="4054" y="2111"/>
              <a:ext cx="2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3200" b="1" dirty="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2" name="Rectangle 49"/>
            <p:cNvSpPr>
              <a:spLocks noChangeArrowheads="1"/>
            </p:cNvSpPr>
            <p:nvPr/>
          </p:nvSpPr>
          <p:spPr bwMode="auto">
            <a:xfrm>
              <a:off x="4054" y="2429"/>
              <a:ext cx="2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3200" b="1" dirty="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  <p:sp>
          <p:nvSpPr>
            <p:cNvPr id="33" name="Rectangle 50"/>
            <p:cNvSpPr>
              <a:spLocks noChangeArrowheads="1"/>
            </p:cNvSpPr>
            <p:nvPr/>
          </p:nvSpPr>
          <p:spPr bwMode="auto">
            <a:xfrm>
              <a:off x="3888" y="3694"/>
              <a:ext cx="631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3200" b="1" dirty="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6765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3BDF93B-2396-41CE-ADFF-4062B0C03E6F}"/>
              </a:ext>
            </a:extLst>
          </p:cNvPr>
          <p:cNvGrpSpPr/>
          <p:nvPr/>
        </p:nvGrpSpPr>
        <p:grpSpPr>
          <a:xfrm>
            <a:off x="0" y="175102"/>
            <a:ext cx="3615193" cy="769441"/>
            <a:chOff x="0" y="175102"/>
            <a:chExt cx="6411951" cy="769441"/>
          </a:xfrm>
        </p:grpSpPr>
        <p:sp>
          <p:nvSpPr>
            <p:cNvPr id="35" name="矩形: 剪去单角 34">
              <a:extLst>
                <a:ext uri="{FF2B5EF4-FFF2-40B4-BE49-F238E27FC236}">
                  <a16:creationId xmlns:a16="http://schemas.microsoft.com/office/drawing/2014/main" id="{6FD0053C-8048-45A5-99EF-D5E33D031FC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9748864-9094-4DC7-B6D6-487EB7167F5F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案例二</a:t>
              </a:r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-</a:t>
              </a:r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新思路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736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 autoUpdateAnimBg="0"/>
      <p:bldP spid="2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06355" y="559041"/>
            <a:ext cx="5834466" cy="6003824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defPPr>
              <a:defRPr lang="zh-CN"/>
            </a:defPPr>
            <a:lvl1pPr eaLnBrk="0" hangingPunct="0">
              <a:defRPr sz="32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en-US" altLang="zh-CN" b="1" dirty="0"/>
              <a:t>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</a:p>
          <a:p>
            <a:r>
              <a:rPr lang="en-US" altLang="zh-CN" b="1" dirty="0" err="1"/>
              <a:t>int</a:t>
            </a:r>
            <a:r>
              <a:rPr lang="en-US" altLang="zh-CN" b="1" dirty="0"/>
              <a:t> main( )</a:t>
            </a:r>
          </a:p>
          <a:p>
            <a:r>
              <a:rPr lang="en-US" altLang="zh-CN" b="1" dirty="0"/>
              <a:t>{   </a:t>
            </a:r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</a:t>
            </a:r>
            <a:r>
              <a:rPr lang="en-US" altLang="zh-CN" b="1" dirty="0" err="1"/>
              <a:t>int</a:t>
            </a:r>
            <a:r>
              <a:rPr lang="en-US" altLang="zh-CN" b="1" dirty="0"/>
              <a:t> f[20]={1,1};</a:t>
            </a:r>
          </a:p>
          <a:p>
            <a:r>
              <a:rPr lang="en-US" altLang="zh-CN" b="1" dirty="0"/>
              <a:t>     for(</a:t>
            </a:r>
            <a:r>
              <a:rPr lang="en-US" altLang="zh-CN" b="1" dirty="0" err="1"/>
              <a:t>i</a:t>
            </a:r>
            <a:r>
              <a:rPr lang="en-US" altLang="zh-CN" b="1" dirty="0"/>
              <a:t>=2;i&lt;20;i++)</a:t>
            </a:r>
          </a:p>
          <a:p>
            <a:r>
              <a:rPr lang="en-US" altLang="zh-CN" b="1" dirty="0"/>
              <a:t>           f[</a:t>
            </a:r>
            <a:r>
              <a:rPr lang="en-US" altLang="zh-CN" b="1" dirty="0" err="1"/>
              <a:t>i</a:t>
            </a:r>
            <a:r>
              <a:rPr lang="en-US" altLang="zh-CN" b="1" dirty="0"/>
              <a:t>]=f[i-2]+f[i-1];</a:t>
            </a:r>
          </a:p>
          <a:p>
            <a:r>
              <a:rPr lang="en-US" altLang="zh-CN" b="1" dirty="0"/>
              <a:t>     for(</a:t>
            </a:r>
            <a:r>
              <a:rPr lang="en-US" altLang="zh-CN" b="1" dirty="0" err="1"/>
              <a:t>i</a:t>
            </a:r>
            <a:r>
              <a:rPr lang="en-US" altLang="zh-CN" b="1" dirty="0"/>
              <a:t>=0;i&lt;20;i++)</a:t>
            </a:r>
          </a:p>
          <a:p>
            <a:r>
              <a:rPr lang="en-US" altLang="zh-CN" b="1" dirty="0"/>
              <a:t>     {   if(i%5==0) </a:t>
            </a:r>
            <a:r>
              <a:rPr lang="en-US" altLang="zh-CN" b="1" dirty="0" err="1"/>
              <a:t>printf</a:t>
            </a:r>
            <a:r>
              <a:rPr lang="en-US" altLang="zh-CN" b="1" dirty="0"/>
              <a:t>("\n");</a:t>
            </a:r>
          </a:p>
          <a:p>
            <a:r>
              <a:rPr lang="en-US" altLang="zh-CN" b="1" dirty="0"/>
              <a:t>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("%12d",f[</a:t>
            </a:r>
            <a:r>
              <a:rPr lang="en-US" altLang="zh-CN" b="1" dirty="0" err="1"/>
              <a:t>i</a:t>
            </a:r>
            <a:r>
              <a:rPr lang="en-US" altLang="zh-CN" b="1" dirty="0"/>
              <a:t>]);</a:t>
            </a:r>
          </a:p>
          <a:p>
            <a:r>
              <a:rPr lang="en-US" altLang="zh-CN" b="1" dirty="0"/>
              <a:t>     }</a:t>
            </a:r>
          </a:p>
          <a:p>
            <a:r>
              <a:rPr lang="en-US" altLang="zh-CN" b="1" dirty="0"/>
              <a:t>     return 0;</a:t>
            </a:r>
          </a:p>
          <a:p>
            <a:r>
              <a:rPr lang="en-US" altLang="zh-CN" b="1" dirty="0"/>
              <a:t>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0864BB6-06D9-4721-9B19-60C8DB662756}"/>
              </a:ext>
            </a:extLst>
          </p:cNvPr>
          <p:cNvGrpSpPr/>
          <p:nvPr/>
        </p:nvGrpSpPr>
        <p:grpSpPr>
          <a:xfrm>
            <a:off x="0" y="175102"/>
            <a:ext cx="3077737" cy="769441"/>
            <a:chOff x="0" y="175102"/>
            <a:chExt cx="6411951" cy="769441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5EF0B5EC-B51F-4EF2-8596-3B85027A81D3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874B570-5067-467A-94C0-5CE2B133559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案例二</a:t>
              </a:r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-</a:t>
              </a:r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代码</a:t>
              </a:r>
            </a:p>
          </p:txBody>
        </p:sp>
      </p:grp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837016" y="1720409"/>
            <a:ext cx="4495800" cy="175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itchFamily="18" charset="0"/>
              </a:rPr>
              <a:t>f[0]=1;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itchFamily="18" charset="0"/>
              </a:rPr>
              <a:t>f[1]=1;</a:t>
            </a:r>
            <a:endParaRPr lang="en-US" altLang="zh-CN" sz="3600" b="1" dirty="0">
              <a:solidFill>
                <a:srgbClr val="FF5555"/>
              </a:solidFill>
              <a:latin typeface="Times New Roman" pitchFamily="18" charset="0"/>
            </a:endParaRPr>
          </a:p>
        </p:txBody>
      </p:sp>
      <p:sp>
        <p:nvSpPr>
          <p:cNvPr id="10" name="Rectangle 45"/>
          <p:cNvSpPr>
            <a:spLocks noChangeArrowheads="1"/>
          </p:cNvSpPr>
          <p:nvPr/>
        </p:nvSpPr>
        <p:spPr bwMode="auto">
          <a:xfrm>
            <a:off x="837016" y="3512022"/>
            <a:ext cx="4572000" cy="1424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zh-CN" sz="3600" b="1" dirty="0">
                <a:latin typeface="Times New Roman" pitchFamily="18" charset="0"/>
              </a:rPr>
              <a:t>f[</a:t>
            </a:r>
            <a:r>
              <a:rPr lang="en-US" altLang="zh-CN" sz="3600" b="1" dirty="0" err="1">
                <a:latin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</a:rPr>
              <a:t>]=f[i-1]+f[i-2];</a:t>
            </a:r>
          </a:p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           (i≥2)</a:t>
            </a:r>
          </a:p>
        </p:txBody>
      </p:sp>
    </p:spTree>
    <p:extLst>
      <p:ext uri="{BB962C8B-B14F-4D97-AF65-F5344CB8AC3E}">
        <p14:creationId xmlns:p14="http://schemas.microsoft.com/office/powerpoint/2010/main" val="3894545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25160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1147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32768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3958163" y="2685999"/>
            <a:ext cx="5767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800" dirty="0">
                <a:latin typeface="微软雅黑" panose="020B0503020204020204" charset="-122"/>
                <a:ea typeface="微软雅黑" panose="020B0503020204020204" charset="-122"/>
              </a:rPr>
              <a:t>一维数组的常见操作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3843696" y="3406016"/>
            <a:ext cx="5767407" cy="371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THE COMMON OPERATION OF ONE DIMENSIONAL ARRAY</a:t>
            </a:r>
          </a:p>
        </p:txBody>
      </p:sp>
      <p:sp>
        <p:nvSpPr>
          <p:cNvPr id="19" name="TextBox 13"/>
          <p:cNvSpPr txBox="1"/>
          <p:nvPr/>
        </p:nvSpPr>
        <p:spPr>
          <a:xfrm>
            <a:off x="1359511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03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14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0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700214"/>
            <a:ext cx="8797925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矩形 2"/>
          <p:cNvSpPr>
            <a:spLocks noChangeArrowheads="1"/>
          </p:cNvSpPr>
          <p:nvPr/>
        </p:nvSpPr>
        <p:spPr bwMode="auto">
          <a:xfrm>
            <a:off x="4727576" y="519113"/>
            <a:ext cx="26463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tx2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排队问题</a:t>
            </a:r>
            <a:endParaRPr lang="zh-CN" altLang="en-US" sz="4800" dirty="0">
              <a:ea typeface="方正姚体" pitchFamily="2" charset="-122"/>
              <a:cs typeface="Times New Roman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A7E6B7-BDC0-4A37-ADF1-F974AC707257}"/>
              </a:ext>
            </a:extLst>
          </p:cNvPr>
          <p:cNvGrpSpPr/>
          <p:nvPr/>
        </p:nvGrpSpPr>
        <p:grpSpPr>
          <a:xfrm>
            <a:off x="0" y="175102"/>
            <a:ext cx="3780263" cy="769441"/>
            <a:chOff x="0" y="175102"/>
            <a:chExt cx="6411951" cy="769441"/>
          </a:xfrm>
        </p:grpSpPr>
        <p:sp>
          <p:nvSpPr>
            <p:cNvPr id="5" name="矩形: 剪去单角 4">
              <a:extLst>
                <a:ext uri="{FF2B5EF4-FFF2-40B4-BE49-F238E27FC236}">
                  <a16:creationId xmlns:a16="http://schemas.microsoft.com/office/drawing/2014/main" id="{AC2F166E-4B81-4055-83F9-1D48977D8FB3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0BB37A7-3A75-496A-9CE0-F7D9381AD8C4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案例三</a:t>
              </a:r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-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排序问题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368557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2362200" y="2292351"/>
            <a:ext cx="7391400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6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冒泡排序算法</a:t>
            </a:r>
          </a:p>
        </p:txBody>
      </p:sp>
    </p:spTree>
    <p:extLst>
      <p:ext uri="{BB962C8B-B14F-4D97-AF65-F5344CB8AC3E}">
        <p14:creationId xmlns:p14="http://schemas.microsoft.com/office/powerpoint/2010/main" val="266852492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774741" y="1052085"/>
            <a:ext cx="10911737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用冒泡法对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个数排序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由小到大，定义数组存储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冒泡法的思路是：将数组中的数，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按从前往后的方向进行多次扫描，每次扫描称为一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当相邻两个数据的次序与排序要求的大小次序不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一致（比如从小到大）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时，即将这两个数据进行互换。这样，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小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数据就会逐个向前移动，好象气泡向上浮起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，大数沉淀下去。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冒泡排序的动态演示：  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6867" name="Rectangle 16"/>
          <p:cNvSpPr>
            <a:spLocks noChangeArrowheads="1"/>
          </p:cNvSpPr>
          <p:nvPr/>
        </p:nvSpPr>
        <p:spPr bwMode="auto">
          <a:xfrm>
            <a:off x="2248715" y="3417224"/>
            <a:ext cx="779462" cy="503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/>
          </a:p>
        </p:txBody>
      </p:sp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3280512" y="2677530"/>
            <a:ext cx="3297854" cy="503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/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9954435" y="3431955"/>
            <a:ext cx="1230237" cy="503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/>
          </a:p>
        </p:txBody>
      </p: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6106030" y="4180470"/>
            <a:ext cx="3297855" cy="503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B8976E4-E427-4198-AC6F-0D3B331AFCB5}"/>
              </a:ext>
            </a:extLst>
          </p:cNvPr>
          <p:cNvGrpSpPr/>
          <p:nvPr/>
        </p:nvGrpSpPr>
        <p:grpSpPr>
          <a:xfrm>
            <a:off x="0" y="175102"/>
            <a:ext cx="3780263" cy="769441"/>
            <a:chOff x="0" y="175102"/>
            <a:chExt cx="6411951" cy="769441"/>
          </a:xfrm>
        </p:grpSpPr>
        <p:sp>
          <p:nvSpPr>
            <p:cNvPr id="8" name="矩形: 剪去单角 7">
              <a:extLst>
                <a:ext uri="{FF2B5EF4-FFF2-40B4-BE49-F238E27FC236}">
                  <a16:creationId xmlns:a16="http://schemas.microsoft.com/office/drawing/2014/main" id="{C49518B3-AA6D-434D-8EB8-B54B7276400C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7DF7EF-E9CA-48F5-8CF4-87B8863F6211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案例三</a:t>
              </a:r>
              <a:r>
                <a:rPr lang="en-US" altLang="zh-CN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-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71693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nimBg="1" autoUpdateAnimBg="0"/>
      <p:bldP spid="4" grpId="0" animBg="1" autoUpdateAnimBg="0"/>
      <p:bldP spid="5" grpId="0" animBg="1" autoUpdateAnimBg="0"/>
      <p:bldP spid="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6" y="618586"/>
            <a:ext cx="604837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068763" y="831312"/>
            <a:ext cx="3603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803650" y="-40225"/>
            <a:ext cx="8905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a[0]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87926" y="-3070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a[1]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40451" y="-3070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a[2]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364414" y="-3070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a[3]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588376" y="-3070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a[4]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03838" y="834486"/>
            <a:ext cx="3603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383338" y="834486"/>
            <a:ext cx="3603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608889" y="834486"/>
            <a:ext cx="3587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en-US" sz="3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904288" y="834486"/>
            <a:ext cx="3603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Freeform 335"/>
          <p:cNvSpPr>
            <a:spLocks/>
          </p:cNvSpPr>
          <p:nvPr/>
        </p:nvSpPr>
        <p:spPr bwMode="auto">
          <a:xfrm rot="5400000">
            <a:off x="4810126" y="755112"/>
            <a:ext cx="125412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3648076" y="1842550"/>
            <a:ext cx="6048375" cy="935037"/>
            <a:chOff x="2123728" y="1998320"/>
            <a:chExt cx="6048672" cy="936104"/>
          </a:xfrm>
        </p:grpSpPr>
        <p:pic>
          <p:nvPicPr>
            <p:cNvPr id="9263" name="图片 2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64" name="TextBox 24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5" name="TextBox 25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6" name="TextBox 26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7" name="TextBox 27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8" name="TextBox 28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0" name="Freeform 335"/>
          <p:cNvSpPr>
            <a:spLocks/>
          </p:cNvSpPr>
          <p:nvPr/>
        </p:nvSpPr>
        <p:spPr bwMode="auto">
          <a:xfrm rot="5400000">
            <a:off x="5949157" y="2041781"/>
            <a:ext cx="125413" cy="1222375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53" name="组合 52"/>
          <p:cNvGrpSpPr>
            <a:grpSpLocks/>
          </p:cNvGrpSpPr>
          <p:nvPr/>
        </p:nvGrpSpPr>
        <p:grpSpPr bwMode="auto">
          <a:xfrm>
            <a:off x="3648076" y="3137950"/>
            <a:ext cx="6048375" cy="936625"/>
            <a:chOff x="2123728" y="3294464"/>
            <a:chExt cx="6048672" cy="936104"/>
          </a:xfrm>
        </p:grpSpPr>
        <p:pic>
          <p:nvPicPr>
            <p:cNvPr id="9257" name="图片 3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738180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58" name="TextBox 31"/>
            <p:cNvSpPr txBox="1">
              <a:spLocks noChangeArrowheads="1"/>
            </p:cNvSpPr>
            <p:nvPr/>
          </p:nvSpPr>
          <p:spPr bwMode="auto">
            <a:xfrm>
              <a:off x="2544866" y="3507740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9" name="TextBox 32"/>
            <p:cNvSpPr txBox="1">
              <a:spLocks noChangeArrowheads="1"/>
            </p:cNvSpPr>
            <p:nvPr/>
          </p:nvSpPr>
          <p:spPr bwMode="auto">
            <a:xfrm>
              <a:off x="3779912" y="3510488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0" name="TextBox 33"/>
            <p:cNvSpPr txBox="1">
              <a:spLocks noChangeArrowheads="1"/>
            </p:cNvSpPr>
            <p:nvPr/>
          </p:nvSpPr>
          <p:spPr bwMode="auto">
            <a:xfrm>
              <a:off x="4860032" y="3510488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1" name="TextBox 34"/>
            <p:cNvSpPr txBox="1">
              <a:spLocks noChangeArrowheads="1"/>
            </p:cNvSpPr>
            <p:nvPr/>
          </p:nvSpPr>
          <p:spPr bwMode="auto">
            <a:xfrm>
              <a:off x="6084168" y="3510488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2" name="TextBox 35"/>
            <p:cNvSpPr txBox="1">
              <a:spLocks noChangeArrowheads="1"/>
            </p:cNvSpPr>
            <p:nvPr/>
          </p:nvSpPr>
          <p:spPr bwMode="auto">
            <a:xfrm>
              <a:off x="7380312" y="3510488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7" name="Freeform 335"/>
          <p:cNvSpPr>
            <a:spLocks/>
          </p:cNvSpPr>
          <p:nvPr/>
        </p:nvSpPr>
        <p:spPr bwMode="auto">
          <a:xfrm rot="5400000">
            <a:off x="7111207" y="3297493"/>
            <a:ext cx="127000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3648076" y="4361912"/>
            <a:ext cx="6048375" cy="936625"/>
            <a:chOff x="2123728" y="4518600"/>
            <a:chExt cx="6048672" cy="936104"/>
          </a:xfrm>
        </p:grpSpPr>
        <p:pic>
          <p:nvPicPr>
            <p:cNvPr id="9251" name="图片 3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1962316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52" name="TextBox 38"/>
            <p:cNvSpPr txBox="1">
              <a:spLocks noChangeArrowheads="1"/>
            </p:cNvSpPr>
            <p:nvPr/>
          </p:nvSpPr>
          <p:spPr bwMode="auto">
            <a:xfrm>
              <a:off x="2544866" y="473187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3" name="TextBox 39"/>
            <p:cNvSpPr txBox="1">
              <a:spLocks noChangeArrowheads="1"/>
            </p:cNvSpPr>
            <p:nvPr/>
          </p:nvSpPr>
          <p:spPr bwMode="auto">
            <a:xfrm>
              <a:off x="3779912" y="473462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4" name="TextBox 40"/>
            <p:cNvSpPr txBox="1">
              <a:spLocks noChangeArrowheads="1"/>
            </p:cNvSpPr>
            <p:nvPr/>
          </p:nvSpPr>
          <p:spPr bwMode="auto">
            <a:xfrm>
              <a:off x="4860032" y="473462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5" name="TextBox 41"/>
            <p:cNvSpPr txBox="1">
              <a:spLocks noChangeArrowheads="1"/>
            </p:cNvSpPr>
            <p:nvPr/>
          </p:nvSpPr>
          <p:spPr bwMode="auto">
            <a:xfrm>
              <a:off x="6084168" y="473462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6" name="TextBox 42"/>
            <p:cNvSpPr txBox="1">
              <a:spLocks noChangeArrowheads="1"/>
            </p:cNvSpPr>
            <p:nvPr/>
          </p:nvSpPr>
          <p:spPr bwMode="auto">
            <a:xfrm>
              <a:off x="7380312" y="473462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4" name="Freeform 335"/>
          <p:cNvSpPr>
            <a:spLocks/>
          </p:cNvSpPr>
          <p:nvPr/>
        </p:nvSpPr>
        <p:spPr bwMode="auto">
          <a:xfrm rot="5400000">
            <a:off x="8360570" y="4488118"/>
            <a:ext cx="125412" cy="1222375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55" name="组合 54"/>
          <p:cNvGrpSpPr>
            <a:grpSpLocks/>
          </p:cNvGrpSpPr>
          <p:nvPr/>
        </p:nvGrpSpPr>
        <p:grpSpPr bwMode="auto">
          <a:xfrm>
            <a:off x="3648076" y="5585875"/>
            <a:ext cx="6048375" cy="936625"/>
            <a:chOff x="2123728" y="5742736"/>
            <a:chExt cx="6048672" cy="936104"/>
          </a:xfrm>
        </p:grpSpPr>
        <p:pic>
          <p:nvPicPr>
            <p:cNvPr id="92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3186452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46" name="TextBox 45"/>
            <p:cNvSpPr txBox="1">
              <a:spLocks noChangeArrowheads="1"/>
            </p:cNvSpPr>
            <p:nvPr/>
          </p:nvSpPr>
          <p:spPr bwMode="auto">
            <a:xfrm>
              <a:off x="2544866" y="5956012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47" name="TextBox 46"/>
            <p:cNvSpPr txBox="1">
              <a:spLocks noChangeArrowheads="1"/>
            </p:cNvSpPr>
            <p:nvPr/>
          </p:nvSpPr>
          <p:spPr bwMode="auto">
            <a:xfrm>
              <a:off x="3779912" y="5958760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48" name="TextBox 47"/>
            <p:cNvSpPr txBox="1">
              <a:spLocks noChangeArrowheads="1"/>
            </p:cNvSpPr>
            <p:nvPr/>
          </p:nvSpPr>
          <p:spPr bwMode="auto">
            <a:xfrm>
              <a:off x="4860032" y="5958760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49" name="TextBox 48"/>
            <p:cNvSpPr txBox="1">
              <a:spLocks noChangeArrowheads="1"/>
            </p:cNvSpPr>
            <p:nvPr/>
          </p:nvSpPr>
          <p:spPr bwMode="auto">
            <a:xfrm>
              <a:off x="6084168" y="5958760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0" name="TextBox 49"/>
            <p:cNvSpPr txBox="1">
              <a:spLocks noChangeArrowheads="1"/>
            </p:cNvSpPr>
            <p:nvPr/>
          </p:nvSpPr>
          <p:spPr bwMode="auto">
            <a:xfrm>
              <a:off x="7380312" y="5958760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1822442" y="5750935"/>
            <a:ext cx="200764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结果</a:t>
            </a: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2114426" y="816986"/>
            <a:ext cx="17618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第一次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2105721" y="2037773"/>
            <a:ext cx="17642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第二次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2116872" y="3342583"/>
            <a:ext cx="17642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第三次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2128023" y="4528561"/>
            <a:ext cx="17642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第四次</a:t>
            </a: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702529" y="1915536"/>
            <a:ext cx="1217446" cy="2282825"/>
            <a:chOff x="119407" y="2082800"/>
            <a:chExt cx="793319" cy="2282825"/>
          </a:xfrm>
        </p:grpSpPr>
        <p:sp>
          <p:nvSpPr>
            <p:cNvPr id="9243" name="TextBox 57"/>
            <p:cNvSpPr txBox="1">
              <a:spLocks noChangeArrowheads="1"/>
            </p:cNvSpPr>
            <p:nvPr/>
          </p:nvSpPr>
          <p:spPr bwMode="auto">
            <a:xfrm>
              <a:off x="119407" y="2082800"/>
              <a:ext cx="737843" cy="2282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zh-CN" altLang="en-US" sz="36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第      轮</a:t>
              </a:r>
            </a:p>
          </p:txBody>
        </p:sp>
        <p:sp>
          <p:nvSpPr>
            <p:cNvPr id="9244" name="矩形 12"/>
            <p:cNvSpPr>
              <a:spLocks noChangeArrowheads="1"/>
            </p:cNvSpPr>
            <p:nvPr/>
          </p:nvSpPr>
          <p:spPr bwMode="auto">
            <a:xfrm>
              <a:off x="497690" y="2574906"/>
              <a:ext cx="41503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1</a:t>
              </a:r>
              <a:endParaRPr lang="zh-CN" altLang="en-US" sz="2000" dirty="0">
                <a:latin typeface="Times New Roman" pitchFamily="18" charset="0"/>
                <a:ea typeface="方正姚体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C9EADAB-9302-46B1-B228-5C1F427D83A0}"/>
              </a:ext>
            </a:extLst>
          </p:cNvPr>
          <p:cNvGrpSpPr/>
          <p:nvPr/>
        </p:nvGrpSpPr>
        <p:grpSpPr>
          <a:xfrm>
            <a:off x="0" y="175102"/>
            <a:ext cx="2114426" cy="769441"/>
            <a:chOff x="0" y="175102"/>
            <a:chExt cx="6411951" cy="769441"/>
          </a:xfrm>
        </p:grpSpPr>
        <p:sp>
          <p:nvSpPr>
            <p:cNvPr id="58" name="矩形: 剪去单角 57">
              <a:extLst>
                <a:ext uri="{FF2B5EF4-FFF2-40B4-BE49-F238E27FC236}">
                  <a16:creationId xmlns:a16="http://schemas.microsoft.com/office/drawing/2014/main" id="{65CD8E05-079A-4AA5-B376-37C04E03CF3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022D465-FEED-4BA6-A887-136A64EA3316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43375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23" grpId="0" animBg="1"/>
      <p:bldP spid="30" grpId="0" animBg="1"/>
      <p:bldP spid="37" grpId="0" animBg="1"/>
      <p:bldP spid="44" grpId="0" animBg="1"/>
      <p:bldP spid="56" grpId="0"/>
      <p:bldP spid="59" grpId="0"/>
      <p:bldP spid="60" grpId="0"/>
      <p:bldP spid="61" grpId="0"/>
      <p:bldP spid="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803650" y="71285"/>
            <a:ext cx="8905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a[0]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87926" y="8081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a[1]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40451" y="8081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a[2]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364414" y="8081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a[3]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588376" y="80810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a[4]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5" name="组合 54"/>
          <p:cNvGrpSpPr>
            <a:grpSpLocks/>
          </p:cNvGrpSpPr>
          <p:nvPr/>
        </p:nvGrpSpPr>
        <p:grpSpPr bwMode="auto">
          <a:xfrm>
            <a:off x="3727451" y="731839"/>
            <a:ext cx="6048375" cy="935037"/>
            <a:chOff x="2123728" y="5742736"/>
            <a:chExt cx="6048672" cy="936104"/>
          </a:xfrm>
        </p:grpSpPr>
        <p:pic>
          <p:nvPicPr>
            <p:cNvPr id="10288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3186452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9" name="TextBox 45"/>
            <p:cNvSpPr txBox="1">
              <a:spLocks noChangeArrowheads="1"/>
            </p:cNvSpPr>
            <p:nvPr/>
          </p:nvSpPr>
          <p:spPr bwMode="auto">
            <a:xfrm>
              <a:off x="2544866" y="5956012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90" name="TextBox 46"/>
            <p:cNvSpPr txBox="1">
              <a:spLocks noChangeArrowheads="1"/>
            </p:cNvSpPr>
            <p:nvPr/>
          </p:nvSpPr>
          <p:spPr bwMode="auto">
            <a:xfrm>
              <a:off x="3779912" y="5958760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91" name="TextBox 47"/>
            <p:cNvSpPr txBox="1">
              <a:spLocks noChangeArrowheads="1"/>
            </p:cNvSpPr>
            <p:nvPr/>
          </p:nvSpPr>
          <p:spPr bwMode="auto">
            <a:xfrm>
              <a:off x="4860032" y="5958760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92" name="TextBox 48"/>
            <p:cNvSpPr txBox="1">
              <a:spLocks noChangeArrowheads="1"/>
            </p:cNvSpPr>
            <p:nvPr/>
          </p:nvSpPr>
          <p:spPr bwMode="auto">
            <a:xfrm>
              <a:off x="6084168" y="5958760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93" name="TextBox 49"/>
            <p:cNvSpPr txBox="1">
              <a:spLocks noChangeArrowheads="1"/>
            </p:cNvSpPr>
            <p:nvPr/>
          </p:nvSpPr>
          <p:spPr bwMode="auto">
            <a:xfrm>
              <a:off x="7300388" y="5958760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2152415" y="5817841"/>
            <a:ext cx="13096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结果</a:t>
            </a: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3719514" y="1989139"/>
            <a:ext cx="6048375" cy="935037"/>
            <a:chOff x="2123728" y="1998320"/>
            <a:chExt cx="6048672" cy="936104"/>
          </a:xfrm>
        </p:grpSpPr>
        <p:pic>
          <p:nvPicPr>
            <p:cNvPr id="10282" name="图片 5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3" name="TextBox 58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4" name="TextBox 59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5" name="TextBox 60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6" name="TextBox 61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7" name="TextBox 62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4" name="Freeform 335"/>
          <p:cNvSpPr>
            <a:spLocks/>
          </p:cNvSpPr>
          <p:nvPr/>
        </p:nvSpPr>
        <p:spPr bwMode="auto">
          <a:xfrm rot="5400000">
            <a:off x="4918076" y="2198689"/>
            <a:ext cx="125413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65" name="组合 64"/>
          <p:cNvGrpSpPr>
            <a:grpSpLocks/>
          </p:cNvGrpSpPr>
          <p:nvPr/>
        </p:nvGrpSpPr>
        <p:grpSpPr bwMode="auto">
          <a:xfrm>
            <a:off x="3719514" y="3284539"/>
            <a:ext cx="6048375" cy="936625"/>
            <a:chOff x="2123728" y="1998320"/>
            <a:chExt cx="6048672" cy="936104"/>
          </a:xfrm>
        </p:grpSpPr>
        <p:pic>
          <p:nvPicPr>
            <p:cNvPr id="10276" name="图片 6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7" name="TextBox 66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8" name="TextBox 67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9" name="TextBox 68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0" name="TextBox 69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1" name="TextBox 70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2" name="Freeform 335"/>
          <p:cNvSpPr>
            <a:spLocks/>
          </p:cNvSpPr>
          <p:nvPr/>
        </p:nvSpPr>
        <p:spPr bwMode="auto">
          <a:xfrm rot="5400000">
            <a:off x="6070601" y="3494089"/>
            <a:ext cx="125413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73" name="组合 72"/>
          <p:cNvGrpSpPr>
            <a:grpSpLocks/>
          </p:cNvGrpSpPr>
          <p:nvPr/>
        </p:nvGrpSpPr>
        <p:grpSpPr bwMode="auto">
          <a:xfrm>
            <a:off x="3719514" y="4508501"/>
            <a:ext cx="6048375" cy="936625"/>
            <a:chOff x="2123728" y="1998320"/>
            <a:chExt cx="6048672" cy="936104"/>
          </a:xfrm>
        </p:grpSpPr>
        <p:pic>
          <p:nvPicPr>
            <p:cNvPr id="10270" name="图片 7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1" name="TextBox 74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2" name="TextBox 75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3" name="TextBox 76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4" name="TextBox 77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5" name="TextBox 78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0" name="Freeform 335"/>
          <p:cNvSpPr>
            <a:spLocks/>
          </p:cNvSpPr>
          <p:nvPr/>
        </p:nvSpPr>
        <p:spPr bwMode="auto">
          <a:xfrm rot="5400000">
            <a:off x="7207251" y="4718051"/>
            <a:ext cx="125412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81" name="组合 80"/>
          <p:cNvGrpSpPr>
            <a:grpSpLocks/>
          </p:cNvGrpSpPr>
          <p:nvPr/>
        </p:nvGrpSpPr>
        <p:grpSpPr bwMode="auto">
          <a:xfrm>
            <a:off x="3719514" y="5732464"/>
            <a:ext cx="6048375" cy="936625"/>
            <a:chOff x="2123728" y="1998320"/>
            <a:chExt cx="6048672" cy="936104"/>
          </a:xfrm>
        </p:grpSpPr>
        <p:pic>
          <p:nvPicPr>
            <p:cNvPr id="10264" name="图片 8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65" name="TextBox 82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66" name="TextBox 83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67" name="TextBox 84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68" name="TextBox 85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69" name="TextBox 86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8610831" y="177801"/>
            <a:ext cx="935038" cy="65643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 sz="2400"/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1993623" y="809780"/>
            <a:ext cx="16352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上一轮的排序结果</a:t>
            </a: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1943370" y="2187499"/>
            <a:ext cx="15872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32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第一次</a:t>
            </a:r>
          </a:p>
        </p:txBody>
      </p: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1943371" y="3429001"/>
            <a:ext cx="15586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32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第二次</a:t>
            </a: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1943371" y="4767263"/>
            <a:ext cx="15586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3200" b="1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第三次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711236" y="2082801"/>
            <a:ext cx="800219" cy="2282825"/>
            <a:chOff x="57920" y="2082800"/>
            <a:chExt cx="799330" cy="2282825"/>
          </a:xfrm>
        </p:grpSpPr>
        <p:sp>
          <p:nvSpPr>
            <p:cNvPr id="10262" name="TextBox 92"/>
            <p:cNvSpPr txBox="1">
              <a:spLocks noChangeArrowheads="1"/>
            </p:cNvSpPr>
            <p:nvPr/>
          </p:nvSpPr>
          <p:spPr bwMode="auto">
            <a:xfrm>
              <a:off x="57920" y="2082800"/>
              <a:ext cx="799330" cy="2282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zh-CN" altLang="en-US" sz="4000" b="1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第      轮</a:t>
              </a:r>
            </a:p>
          </p:txBody>
        </p:sp>
        <p:sp>
          <p:nvSpPr>
            <p:cNvPr id="10263" name="矩形 1"/>
            <p:cNvSpPr>
              <a:spLocks noChangeArrowheads="1"/>
            </p:cNvSpPr>
            <p:nvPr/>
          </p:nvSpPr>
          <p:spPr bwMode="auto">
            <a:xfrm>
              <a:off x="292489" y="2690771"/>
              <a:ext cx="44065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2</a:t>
              </a:r>
              <a:endPara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61CE43A-5BC8-4CBE-9C7D-732749D09767}"/>
              </a:ext>
            </a:extLst>
          </p:cNvPr>
          <p:cNvGrpSpPr/>
          <p:nvPr/>
        </p:nvGrpSpPr>
        <p:grpSpPr>
          <a:xfrm>
            <a:off x="0" y="175102"/>
            <a:ext cx="2114426" cy="769441"/>
            <a:chOff x="0" y="175102"/>
            <a:chExt cx="6411951" cy="769441"/>
          </a:xfrm>
        </p:grpSpPr>
        <p:sp>
          <p:nvSpPr>
            <p:cNvPr id="58" name="矩形: 剪去单角 57">
              <a:extLst>
                <a:ext uri="{FF2B5EF4-FFF2-40B4-BE49-F238E27FC236}">
                  <a16:creationId xmlns:a16="http://schemas.microsoft.com/office/drawing/2014/main" id="{A282E556-B908-40B3-A934-EAA8FD7A6D24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0A0F0903-BFD9-450C-B76C-81692C45E45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7238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56" grpId="0"/>
      <p:bldP spid="64" grpId="0" animBg="1"/>
      <p:bldP spid="72" grpId="0" animBg="1"/>
      <p:bldP spid="80" grpId="0" animBg="1"/>
      <p:bldP spid="51" grpId="0" animBg="1" autoUpdateAnimBg="0"/>
      <p:bldP spid="89" grpId="0"/>
      <p:bldP spid="90" grpId="0"/>
      <p:bldP spid="91" grpId="0"/>
      <p:bldP spid="9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803650" y="364740"/>
            <a:ext cx="8905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a[0]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87926" y="374265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a[1]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40451" y="374265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a[2]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364414" y="374265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a[3]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588376" y="374265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a[4]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2047372" y="4992458"/>
            <a:ext cx="13096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结果</a:t>
            </a: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3719514" y="2349500"/>
            <a:ext cx="6048375" cy="935038"/>
            <a:chOff x="2123728" y="1998320"/>
            <a:chExt cx="6048672" cy="936104"/>
          </a:xfrm>
        </p:grpSpPr>
        <p:pic>
          <p:nvPicPr>
            <p:cNvPr id="11303" name="图片 5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04" name="TextBox 58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7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5" name="TextBox 59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7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6" name="TextBox 60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7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7" name="TextBox 61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7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8" name="TextBox 62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7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4" name="Freeform 335"/>
          <p:cNvSpPr>
            <a:spLocks/>
          </p:cNvSpPr>
          <p:nvPr/>
        </p:nvSpPr>
        <p:spPr bwMode="auto">
          <a:xfrm rot="5400000">
            <a:off x="4917282" y="2558257"/>
            <a:ext cx="127000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65" name="组合 64"/>
          <p:cNvGrpSpPr>
            <a:grpSpLocks/>
          </p:cNvGrpSpPr>
          <p:nvPr/>
        </p:nvGrpSpPr>
        <p:grpSpPr bwMode="auto">
          <a:xfrm>
            <a:off x="3719514" y="3644901"/>
            <a:ext cx="6048375" cy="936625"/>
            <a:chOff x="2123728" y="1998320"/>
            <a:chExt cx="6048672" cy="936104"/>
          </a:xfrm>
        </p:grpSpPr>
        <p:pic>
          <p:nvPicPr>
            <p:cNvPr id="11297" name="图片 6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98" name="TextBox 66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99" name="TextBox 67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0" name="TextBox 68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1" name="TextBox 69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02" name="TextBox 70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2" name="Freeform 335"/>
          <p:cNvSpPr>
            <a:spLocks/>
          </p:cNvSpPr>
          <p:nvPr/>
        </p:nvSpPr>
        <p:spPr bwMode="auto">
          <a:xfrm rot="5400000">
            <a:off x="6070601" y="3854451"/>
            <a:ext cx="125412" cy="12207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73" name="组合 72"/>
          <p:cNvGrpSpPr>
            <a:grpSpLocks/>
          </p:cNvGrpSpPr>
          <p:nvPr/>
        </p:nvGrpSpPr>
        <p:grpSpPr bwMode="auto">
          <a:xfrm>
            <a:off x="3719514" y="4868864"/>
            <a:ext cx="6048375" cy="936625"/>
            <a:chOff x="2123728" y="1998320"/>
            <a:chExt cx="6048672" cy="936104"/>
          </a:xfrm>
        </p:grpSpPr>
        <p:pic>
          <p:nvPicPr>
            <p:cNvPr id="11291" name="图片 7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92" name="TextBox 74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93" name="TextBox 75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94" name="TextBox 76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95" name="TextBox 77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96" name="TextBox 78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1727858" y="1125539"/>
            <a:ext cx="177834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上一轮的排序结果</a:t>
            </a: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1886179" y="2568576"/>
            <a:ext cx="16444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32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第一次</a:t>
            </a:r>
          </a:p>
        </p:txBody>
      </p: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1906145" y="3789363"/>
            <a:ext cx="159588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3200" b="1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第二次</a:t>
            </a:r>
          </a:p>
        </p:txBody>
      </p: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3719514" y="1125539"/>
            <a:ext cx="6048375" cy="935037"/>
            <a:chOff x="2123728" y="1998320"/>
            <a:chExt cx="6048672" cy="936104"/>
          </a:xfrm>
        </p:grpSpPr>
        <p:pic>
          <p:nvPicPr>
            <p:cNvPr id="11285" name="图片 5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86" name="TextBox 53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7" name="TextBox 87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8" name="TextBox 92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89" name="TextBox 93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90" name="TextBox 94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7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7409017" y="448956"/>
            <a:ext cx="2114550" cy="54832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 sz="2400"/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856203" y="2443164"/>
            <a:ext cx="800219" cy="2281237"/>
            <a:chOff x="57920" y="2443163"/>
            <a:chExt cx="799330" cy="2281237"/>
          </a:xfrm>
        </p:grpSpPr>
        <p:sp>
          <p:nvSpPr>
            <p:cNvPr id="11283" name="TextBox 95"/>
            <p:cNvSpPr txBox="1">
              <a:spLocks noChangeArrowheads="1"/>
            </p:cNvSpPr>
            <p:nvPr/>
          </p:nvSpPr>
          <p:spPr bwMode="auto">
            <a:xfrm>
              <a:off x="57920" y="2443163"/>
              <a:ext cx="799330" cy="2281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zh-CN" altLang="en-US" sz="40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第       轮</a:t>
              </a:r>
            </a:p>
          </p:txBody>
        </p:sp>
        <p:sp>
          <p:nvSpPr>
            <p:cNvPr id="11284" name="矩形 1"/>
            <p:cNvSpPr>
              <a:spLocks noChangeArrowheads="1"/>
            </p:cNvSpPr>
            <p:nvPr/>
          </p:nvSpPr>
          <p:spPr bwMode="auto">
            <a:xfrm>
              <a:off x="285087" y="3057376"/>
              <a:ext cx="44065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3</a:t>
              </a:r>
              <a:endPara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C1BF6CC-C2AC-4EA3-9170-162929DC07B7}"/>
              </a:ext>
            </a:extLst>
          </p:cNvPr>
          <p:cNvGrpSpPr/>
          <p:nvPr/>
        </p:nvGrpSpPr>
        <p:grpSpPr>
          <a:xfrm>
            <a:off x="0" y="175102"/>
            <a:ext cx="2114426" cy="769441"/>
            <a:chOff x="0" y="175102"/>
            <a:chExt cx="6411951" cy="769441"/>
          </a:xfrm>
        </p:grpSpPr>
        <p:sp>
          <p:nvSpPr>
            <p:cNvPr id="46" name="矩形: 剪去单角 45">
              <a:extLst>
                <a:ext uri="{FF2B5EF4-FFF2-40B4-BE49-F238E27FC236}">
                  <a16:creationId xmlns:a16="http://schemas.microsoft.com/office/drawing/2014/main" id="{2C8A7261-C654-4E2C-8AD9-FEAEC155E8D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6E83B89-2C91-4BA4-8DE1-1CE3246B8F98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5188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56" grpId="0"/>
      <p:bldP spid="64" grpId="0" animBg="1"/>
      <p:bldP spid="72" grpId="0" animBg="1"/>
      <p:bldP spid="89" grpId="0"/>
      <p:bldP spid="90" grpId="0"/>
      <p:bldP spid="91" grpId="0"/>
      <p:bldP spid="51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946526" y="658197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a[0]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132389" y="667722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a[1]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284914" y="667722"/>
            <a:ext cx="8905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a[2]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08875" y="667722"/>
            <a:ext cx="8905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a[3]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732839" y="667722"/>
            <a:ext cx="892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en-US" altLang="zh-CN" sz="4000">
                <a:latin typeface="Times New Roman" pitchFamily="18" charset="0"/>
                <a:cs typeface="Times New Roman" pitchFamily="18" charset="0"/>
              </a:rPr>
              <a:t>a[4]</a:t>
            </a:r>
            <a:endParaRPr lang="zh-CN" alt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2325149" y="4122431"/>
            <a:ext cx="13112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结果</a:t>
            </a: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3863976" y="2708276"/>
            <a:ext cx="6048375" cy="936625"/>
            <a:chOff x="2123728" y="1998320"/>
            <a:chExt cx="6048672" cy="936104"/>
          </a:xfrm>
        </p:grpSpPr>
        <p:pic>
          <p:nvPicPr>
            <p:cNvPr id="12318" name="图片 5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9" name="TextBox 58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20" name="TextBox 59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21" name="TextBox 60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22" name="TextBox 61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23" name="TextBox 62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4" name="Freeform 335"/>
          <p:cNvSpPr>
            <a:spLocks/>
          </p:cNvSpPr>
          <p:nvPr/>
        </p:nvSpPr>
        <p:spPr bwMode="auto">
          <a:xfrm rot="5400000">
            <a:off x="5062538" y="2917825"/>
            <a:ext cx="125412" cy="1220788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65" name="组合 64"/>
          <p:cNvGrpSpPr>
            <a:grpSpLocks/>
          </p:cNvGrpSpPr>
          <p:nvPr/>
        </p:nvGrpSpPr>
        <p:grpSpPr bwMode="auto">
          <a:xfrm>
            <a:off x="3863976" y="4005264"/>
            <a:ext cx="6048375" cy="936625"/>
            <a:chOff x="2123728" y="1998320"/>
            <a:chExt cx="6048672" cy="936104"/>
          </a:xfrm>
        </p:grpSpPr>
        <p:pic>
          <p:nvPicPr>
            <p:cNvPr id="12312" name="图片 6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3" name="TextBox 66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14" name="TextBox 67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15" name="TextBox 68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16" name="TextBox 69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17" name="TextBox 70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3" name="组合 72"/>
          <p:cNvGrpSpPr>
            <a:grpSpLocks/>
          </p:cNvGrpSpPr>
          <p:nvPr/>
        </p:nvGrpSpPr>
        <p:grpSpPr bwMode="auto">
          <a:xfrm>
            <a:off x="3863976" y="1484314"/>
            <a:ext cx="6048375" cy="936625"/>
            <a:chOff x="2123728" y="1998320"/>
            <a:chExt cx="6048672" cy="936104"/>
          </a:xfrm>
        </p:grpSpPr>
        <p:pic>
          <p:nvPicPr>
            <p:cNvPr id="12306" name="图片 7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680012" y="-557964"/>
              <a:ext cx="936104" cy="604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7" name="TextBox 74"/>
            <p:cNvSpPr txBox="1">
              <a:spLocks noChangeArrowheads="1"/>
            </p:cNvSpPr>
            <p:nvPr/>
          </p:nvSpPr>
          <p:spPr bwMode="auto">
            <a:xfrm>
              <a:off x="2544866" y="2211596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08" name="TextBox 75"/>
            <p:cNvSpPr txBox="1">
              <a:spLocks noChangeArrowheads="1"/>
            </p:cNvSpPr>
            <p:nvPr/>
          </p:nvSpPr>
          <p:spPr bwMode="auto">
            <a:xfrm>
              <a:off x="37799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09" name="TextBox 76"/>
            <p:cNvSpPr txBox="1">
              <a:spLocks noChangeArrowheads="1"/>
            </p:cNvSpPr>
            <p:nvPr/>
          </p:nvSpPr>
          <p:spPr bwMode="auto">
            <a:xfrm>
              <a:off x="486003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10" name="TextBox 77"/>
            <p:cNvSpPr txBox="1">
              <a:spLocks noChangeArrowheads="1"/>
            </p:cNvSpPr>
            <p:nvPr/>
          </p:nvSpPr>
          <p:spPr bwMode="auto">
            <a:xfrm>
              <a:off x="6084168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11" name="TextBox 78"/>
            <p:cNvSpPr txBox="1">
              <a:spLocks noChangeArrowheads="1"/>
            </p:cNvSpPr>
            <p:nvPr/>
          </p:nvSpPr>
          <p:spPr bwMode="auto">
            <a:xfrm>
              <a:off x="7380312" y="2214344"/>
              <a:ext cx="360040" cy="645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3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2002120" y="1462012"/>
            <a:ext cx="165811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上一轮的排序结果</a:t>
            </a: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2122154" y="2928938"/>
            <a:ext cx="15529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algn="l" eaLnBrk="1" hangingPunct="1"/>
            <a:r>
              <a:rPr lang="zh-CN" altLang="en-US" sz="3200" b="1" dirty="0"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第一次</a:t>
            </a:r>
          </a:p>
        </p:txBody>
      </p:sp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6276974" y="731260"/>
            <a:ext cx="3502645" cy="440398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</a:pPr>
            <a:endParaRPr lang="zh-CN" altLang="zh-CN" sz="2400"/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050304" y="1986041"/>
            <a:ext cx="800219" cy="2281237"/>
            <a:chOff x="129361" y="2420938"/>
            <a:chExt cx="799327" cy="2281237"/>
          </a:xfrm>
        </p:grpSpPr>
        <p:sp>
          <p:nvSpPr>
            <p:cNvPr id="12304" name="TextBox 95"/>
            <p:cNvSpPr txBox="1">
              <a:spLocks noChangeArrowheads="1"/>
            </p:cNvSpPr>
            <p:nvPr/>
          </p:nvSpPr>
          <p:spPr bwMode="auto">
            <a:xfrm>
              <a:off x="129361" y="2420938"/>
              <a:ext cx="799327" cy="2281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/>
              <a:r>
                <a:rPr lang="zh-CN" altLang="en-US" sz="40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第      轮</a:t>
              </a:r>
            </a:p>
          </p:txBody>
        </p:sp>
        <p:sp>
          <p:nvSpPr>
            <p:cNvPr id="12305" name="矩形 1"/>
            <p:cNvSpPr>
              <a:spLocks noChangeArrowheads="1"/>
            </p:cNvSpPr>
            <p:nvPr/>
          </p:nvSpPr>
          <p:spPr bwMode="auto">
            <a:xfrm>
              <a:off x="338714" y="2963925"/>
              <a:ext cx="440654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FF0000"/>
                  </a:solidFill>
                  <a:latin typeface="Times New Roman" pitchFamily="18" charset="0"/>
                  <a:ea typeface="方正姚体" pitchFamily="2" charset="-122"/>
                  <a:cs typeface="Times New Roman" pitchFamily="18" charset="0"/>
                </a:rPr>
                <a:t>4</a:t>
              </a:r>
              <a:endPara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C0BF929-6E18-4677-8BAA-802E40FB68AF}"/>
              </a:ext>
            </a:extLst>
          </p:cNvPr>
          <p:cNvGrpSpPr/>
          <p:nvPr/>
        </p:nvGrpSpPr>
        <p:grpSpPr>
          <a:xfrm>
            <a:off x="0" y="175102"/>
            <a:ext cx="2114426" cy="769441"/>
            <a:chOff x="0" y="175102"/>
            <a:chExt cx="6411951" cy="769441"/>
          </a:xfrm>
        </p:grpSpPr>
        <p:sp>
          <p:nvSpPr>
            <p:cNvPr id="37" name="矩形: 剪去单角 36">
              <a:extLst>
                <a:ext uri="{FF2B5EF4-FFF2-40B4-BE49-F238E27FC236}">
                  <a16:creationId xmlns:a16="http://schemas.microsoft.com/office/drawing/2014/main" id="{A0D183AB-8163-4D2F-B987-5A45AB7B92E2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6724461-036B-46B2-ADE5-59CDE36345B9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06047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56" grpId="0"/>
      <p:bldP spid="64" grpId="0" animBg="1"/>
      <p:bldP spid="89" grpId="0"/>
      <p:bldP spid="90" grpId="0"/>
      <p:bldP spid="51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5276" y="879627"/>
            <a:ext cx="10521447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思考问题：</a:t>
            </a:r>
            <a:endParaRPr lang="en-US" altLang="zh-CN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个数扫描几轮实现了最终目标？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、每一轮需要比较的次数有何规律？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3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、每一轮的开始，都是从数组的哪个变量开始的比较？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4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、每一轮结束后，将比较出的最大的数放在数组的哪一个变量里？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10BFC36-DCE7-4407-8EBE-C278464D533F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7A10A10D-5853-47CC-8905-C41C9742B15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14C3843-FFE3-4CA2-B369-1D690271CCD8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1751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1893888" y="631825"/>
            <a:ext cx="8305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zh-CN" altLang="zh-CN" sz="3200">
              <a:ea typeface="宋体" pitchFamily="2" charset="-122"/>
            </a:endParaRPr>
          </a:p>
        </p:txBody>
      </p:sp>
      <p:graphicFrame>
        <p:nvGraphicFramePr>
          <p:cNvPr id="3" name="Group 4"/>
          <p:cNvGraphicFramePr>
            <a:graphicFrameLocks noGrp="1"/>
          </p:cNvGraphicFramePr>
          <p:nvPr/>
        </p:nvGraphicFramePr>
        <p:xfrm>
          <a:off x="3065463" y="638176"/>
          <a:ext cx="1008062" cy="4811713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roup 12"/>
          <p:cNvGraphicFramePr>
            <a:graphicFrameLocks noGrp="1"/>
          </p:cNvGraphicFramePr>
          <p:nvPr/>
        </p:nvGraphicFramePr>
        <p:xfrm>
          <a:off x="4422776" y="638176"/>
          <a:ext cx="1008063" cy="3816349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8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5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20"/>
          <p:cNvGraphicFramePr>
            <a:graphicFrameLocks noGrp="1"/>
          </p:cNvGraphicFramePr>
          <p:nvPr/>
        </p:nvGraphicFramePr>
        <p:xfrm>
          <a:off x="5764213" y="638175"/>
          <a:ext cx="1008062" cy="2851150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10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29" marB="4572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29" marB="4572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0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29" marB="4572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Group 36"/>
          <p:cNvGraphicFramePr>
            <a:graphicFrameLocks noGrp="1"/>
          </p:cNvGraphicFramePr>
          <p:nvPr/>
        </p:nvGraphicFramePr>
        <p:xfrm>
          <a:off x="7086601" y="638176"/>
          <a:ext cx="1008063" cy="1935163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6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39" marB="4573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39" marB="4573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44"/>
          <p:cNvGraphicFramePr>
            <a:graphicFrameLocks noGrp="1"/>
          </p:cNvGraphicFramePr>
          <p:nvPr/>
        </p:nvGraphicFramePr>
        <p:xfrm>
          <a:off x="8472488" y="617539"/>
          <a:ext cx="1008062" cy="966787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67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1446" marR="91446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2014538" y="350838"/>
            <a:ext cx="906462" cy="5052604"/>
            <a:chOff x="425768" y="476250"/>
            <a:chExt cx="906145" cy="4745942"/>
          </a:xfrm>
        </p:grpSpPr>
        <p:sp>
          <p:nvSpPr>
            <p:cNvPr id="14396" name="TextBox 27"/>
            <p:cNvSpPr txBox="1">
              <a:spLocks noChangeArrowheads="1"/>
            </p:cNvSpPr>
            <p:nvPr/>
          </p:nvSpPr>
          <p:spPr bwMode="auto">
            <a:xfrm>
              <a:off x="431800" y="476250"/>
              <a:ext cx="900113" cy="101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en-US" altLang="zh-CN" sz="3200" b="1">
                  <a:latin typeface="Times New Roman" pitchFamily="18" charset="0"/>
                  <a:cs typeface="Times New Roman" pitchFamily="18" charset="0"/>
                </a:rPr>
                <a:t>a[0]</a:t>
              </a:r>
            </a:p>
          </p:txBody>
        </p:sp>
        <p:grpSp>
          <p:nvGrpSpPr>
            <p:cNvPr id="14397" name="组合 58"/>
            <p:cNvGrpSpPr>
              <a:grpSpLocks/>
            </p:cNvGrpSpPr>
            <p:nvPr/>
          </p:nvGrpSpPr>
          <p:grpSpPr bwMode="auto">
            <a:xfrm>
              <a:off x="425768" y="1271588"/>
              <a:ext cx="889149" cy="3950604"/>
              <a:chOff x="425768" y="1271588"/>
              <a:chExt cx="889149" cy="3290762"/>
            </a:xfrm>
          </p:grpSpPr>
          <p:sp>
            <p:nvSpPr>
              <p:cNvPr id="14398" name="矩形 28"/>
              <p:cNvSpPr>
                <a:spLocks noChangeArrowheads="1"/>
              </p:cNvSpPr>
              <p:nvPr/>
            </p:nvSpPr>
            <p:spPr bwMode="auto">
              <a:xfrm>
                <a:off x="433070" y="1271588"/>
                <a:ext cx="867242" cy="842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200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a[1]</a:t>
                </a:r>
              </a:p>
            </p:txBody>
          </p:sp>
          <p:sp>
            <p:nvSpPr>
              <p:cNvPr id="14399" name="矩形 29"/>
              <p:cNvSpPr>
                <a:spLocks noChangeArrowheads="1"/>
              </p:cNvSpPr>
              <p:nvPr/>
            </p:nvSpPr>
            <p:spPr bwMode="auto">
              <a:xfrm>
                <a:off x="434385" y="2060575"/>
                <a:ext cx="867242" cy="842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200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a[2]</a:t>
                </a:r>
              </a:p>
            </p:txBody>
          </p:sp>
          <p:sp>
            <p:nvSpPr>
              <p:cNvPr id="14400" name="矩形 30"/>
              <p:cNvSpPr>
                <a:spLocks noChangeArrowheads="1"/>
              </p:cNvSpPr>
              <p:nvPr/>
            </p:nvSpPr>
            <p:spPr bwMode="auto">
              <a:xfrm>
                <a:off x="447675" y="3719513"/>
                <a:ext cx="867242" cy="842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200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a[4]</a:t>
                </a:r>
                <a:endParaRPr lang="zh-CN" altLang="en-US" sz="3200" b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401" name="矩形 31"/>
              <p:cNvSpPr>
                <a:spLocks noChangeArrowheads="1"/>
              </p:cNvSpPr>
              <p:nvPr/>
            </p:nvSpPr>
            <p:spPr bwMode="auto">
              <a:xfrm>
                <a:off x="425768" y="2860675"/>
                <a:ext cx="867242" cy="842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200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a[3]</a:t>
                </a:r>
              </a:p>
            </p:txBody>
          </p:sp>
        </p:grpSp>
      </p:grp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1001611" y="1620357"/>
            <a:ext cx="647934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5</a:t>
            </a: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个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原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始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数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据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3044826" y="5513388"/>
            <a:ext cx="957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  <a:endParaRPr lang="en-US" altLang="zh-CN" sz="24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5386" name="矩形 48"/>
          <p:cNvSpPr>
            <a:spLocks noChangeArrowheads="1"/>
          </p:cNvSpPr>
          <p:nvPr/>
        </p:nvSpPr>
        <p:spPr bwMode="auto">
          <a:xfrm>
            <a:off x="4516438" y="4508501"/>
            <a:ext cx="957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2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5387" name="矩形 49"/>
          <p:cNvSpPr>
            <a:spLocks noChangeArrowheads="1"/>
          </p:cNvSpPr>
          <p:nvPr/>
        </p:nvSpPr>
        <p:spPr bwMode="auto">
          <a:xfrm>
            <a:off x="5799138" y="3590926"/>
            <a:ext cx="957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5388" name="矩形 50"/>
          <p:cNvSpPr>
            <a:spLocks noChangeArrowheads="1"/>
          </p:cNvSpPr>
          <p:nvPr/>
        </p:nvSpPr>
        <p:spPr bwMode="auto">
          <a:xfrm>
            <a:off x="6959601" y="3087688"/>
            <a:ext cx="1266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52" name="Freeform 335"/>
          <p:cNvSpPr>
            <a:spLocks/>
          </p:cNvSpPr>
          <p:nvPr/>
        </p:nvSpPr>
        <p:spPr bwMode="auto">
          <a:xfrm>
            <a:off x="4089401" y="946150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2927351" y="6019801"/>
            <a:ext cx="1266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54" name="椭圆 53"/>
          <p:cNvSpPr>
            <a:spLocks noChangeArrowheads="1"/>
          </p:cNvSpPr>
          <p:nvPr/>
        </p:nvSpPr>
        <p:spPr bwMode="auto">
          <a:xfrm>
            <a:off x="3292476" y="746125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椭圆 54"/>
          <p:cNvSpPr>
            <a:spLocks noChangeArrowheads="1"/>
          </p:cNvSpPr>
          <p:nvPr/>
        </p:nvSpPr>
        <p:spPr bwMode="auto">
          <a:xfrm>
            <a:off x="3281364" y="1584325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椭圆 55"/>
          <p:cNvSpPr>
            <a:spLocks noChangeArrowheads="1"/>
          </p:cNvSpPr>
          <p:nvPr/>
        </p:nvSpPr>
        <p:spPr bwMode="auto">
          <a:xfrm>
            <a:off x="3300414" y="2573338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椭圆 56"/>
          <p:cNvSpPr>
            <a:spLocks noChangeArrowheads="1"/>
          </p:cNvSpPr>
          <p:nvPr/>
        </p:nvSpPr>
        <p:spPr bwMode="auto">
          <a:xfrm>
            <a:off x="3311526" y="3614738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椭圆 57"/>
          <p:cNvSpPr>
            <a:spLocks noChangeArrowheads="1"/>
          </p:cNvSpPr>
          <p:nvPr/>
        </p:nvSpPr>
        <p:spPr bwMode="auto">
          <a:xfrm>
            <a:off x="3317876" y="4659313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Freeform 335"/>
          <p:cNvSpPr>
            <a:spLocks/>
          </p:cNvSpPr>
          <p:nvPr/>
        </p:nvSpPr>
        <p:spPr bwMode="auto">
          <a:xfrm>
            <a:off x="4135439" y="1954213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335"/>
          <p:cNvSpPr>
            <a:spLocks/>
          </p:cNvSpPr>
          <p:nvPr/>
        </p:nvSpPr>
        <p:spPr bwMode="auto">
          <a:xfrm>
            <a:off x="4144964" y="2962275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335"/>
          <p:cNvSpPr>
            <a:spLocks/>
          </p:cNvSpPr>
          <p:nvPr/>
        </p:nvSpPr>
        <p:spPr bwMode="auto">
          <a:xfrm>
            <a:off x="4144964" y="4022725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椭圆 63"/>
          <p:cNvSpPr>
            <a:spLocks noChangeArrowheads="1"/>
          </p:cNvSpPr>
          <p:nvPr/>
        </p:nvSpPr>
        <p:spPr bwMode="auto">
          <a:xfrm>
            <a:off x="3295651" y="3621088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椭圆 30"/>
          <p:cNvSpPr>
            <a:spLocks noChangeArrowheads="1"/>
          </p:cNvSpPr>
          <p:nvPr/>
        </p:nvSpPr>
        <p:spPr bwMode="auto">
          <a:xfrm>
            <a:off x="4665664" y="730250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椭圆 31"/>
          <p:cNvSpPr>
            <a:spLocks noChangeArrowheads="1"/>
          </p:cNvSpPr>
          <p:nvPr/>
        </p:nvSpPr>
        <p:spPr bwMode="auto">
          <a:xfrm>
            <a:off x="4654551" y="1568450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椭圆 32"/>
          <p:cNvSpPr>
            <a:spLocks noChangeArrowheads="1"/>
          </p:cNvSpPr>
          <p:nvPr/>
        </p:nvSpPr>
        <p:spPr bwMode="auto">
          <a:xfrm>
            <a:off x="4673601" y="2557463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椭圆 33"/>
          <p:cNvSpPr>
            <a:spLocks noChangeArrowheads="1"/>
          </p:cNvSpPr>
          <p:nvPr/>
        </p:nvSpPr>
        <p:spPr bwMode="auto">
          <a:xfrm>
            <a:off x="4691064" y="3635375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367214" y="5030788"/>
            <a:ext cx="1266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36" name="Freeform 335"/>
          <p:cNvSpPr>
            <a:spLocks/>
          </p:cNvSpPr>
          <p:nvPr/>
        </p:nvSpPr>
        <p:spPr bwMode="auto">
          <a:xfrm>
            <a:off x="5437189" y="876300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335"/>
          <p:cNvSpPr>
            <a:spLocks/>
          </p:cNvSpPr>
          <p:nvPr/>
        </p:nvSpPr>
        <p:spPr bwMode="auto">
          <a:xfrm>
            <a:off x="5483226" y="1884363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335"/>
          <p:cNvSpPr>
            <a:spLocks/>
          </p:cNvSpPr>
          <p:nvPr/>
        </p:nvSpPr>
        <p:spPr bwMode="auto">
          <a:xfrm>
            <a:off x="5492751" y="2892425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椭圆 38"/>
          <p:cNvSpPr>
            <a:spLocks noChangeArrowheads="1"/>
          </p:cNvSpPr>
          <p:nvPr/>
        </p:nvSpPr>
        <p:spPr bwMode="auto">
          <a:xfrm>
            <a:off x="5976939" y="706438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椭圆 39"/>
          <p:cNvSpPr>
            <a:spLocks noChangeArrowheads="1"/>
          </p:cNvSpPr>
          <p:nvPr/>
        </p:nvSpPr>
        <p:spPr bwMode="auto">
          <a:xfrm>
            <a:off x="5965826" y="1544638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椭圆 40"/>
          <p:cNvSpPr>
            <a:spLocks noChangeArrowheads="1"/>
          </p:cNvSpPr>
          <p:nvPr/>
        </p:nvSpPr>
        <p:spPr bwMode="auto">
          <a:xfrm>
            <a:off x="6002339" y="2582863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664201" y="4095751"/>
            <a:ext cx="1266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2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43" name="Freeform 335"/>
          <p:cNvSpPr>
            <a:spLocks/>
          </p:cNvSpPr>
          <p:nvPr/>
        </p:nvSpPr>
        <p:spPr bwMode="auto">
          <a:xfrm>
            <a:off x="6732589" y="801688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35"/>
          <p:cNvSpPr>
            <a:spLocks/>
          </p:cNvSpPr>
          <p:nvPr/>
        </p:nvSpPr>
        <p:spPr bwMode="auto">
          <a:xfrm>
            <a:off x="6778626" y="1809750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078663" y="2654301"/>
            <a:ext cx="957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49" name="椭圆 48"/>
          <p:cNvSpPr>
            <a:spLocks noChangeArrowheads="1"/>
          </p:cNvSpPr>
          <p:nvPr/>
        </p:nvSpPr>
        <p:spPr bwMode="auto">
          <a:xfrm>
            <a:off x="7302501" y="711200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椭圆 49"/>
          <p:cNvSpPr>
            <a:spLocks noChangeArrowheads="1"/>
          </p:cNvSpPr>
          <p:nvPr/>
        </p:nvSpPr>
        <p:spPr bwMode="auto">
          <a:xfrm>
            <a:off x="7327901" y="1579563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Freeform 335"/>
          <p:cNvSpPr>
            <a:spLocks/>
          </p:cNvSpPr>
          <p:nvPr/>
        </p:nvSpPr>
        <p:spPr bwMode="auto">
          <a:xfrm>
            <a:off x="8085139" y="854075"/>
            <a:ext cx="225425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0"/>
          <p:cNvSpPr>
            <a:spLocks noChangeArrowheads="1"/>
          </p:cNvSpPr>
          <p:nvPr/>
        </p:nvSpPr>
        <p:spPr bwMode="auto">
          <a:xfrm>
            <a:off x="8596314" y="16462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结果</a:t>
            </a:r>
            <a:endParaRPr lang="en-US" altLang="zh-CN" sz="24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65" name="椭圆 64"/>
          <p:cNvSpPr>
            <a:spLocks noChangeArrowheads="1"/>
          </p:cNvSpPr>
          <p:nvPr/>
        </p:nvSpPr>
        <p:spPr bwMode="auto">
          <a:xfrm>
            <a:off x="8715376" y="711200"/>
            <a:ext cx="54927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25117C5-A79F-4182-8ECD-7EE6D872DCC8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67" name="矩形: 剪去单角 66">
              <a:extLst>
                <a:ext uri="{FF2B5EF4-FFF2-40B4-BE49-F238E27FC236}">
                  <a16:creationId xmlns:a16="http://schemas.microsoft.com/office/drawing/2014/main" id="{3430E5DC-8029-42C0-85DF-941BBF1AA48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16F4C0F-6D4D-4CDE-B503-8B3628DFB3ED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69" name="Rectangle 4"/>
          <p:cNvSpPr>
            <a:spLocks noChangeArrowheads="1"/>
          </p:cNvSpPr>
          <p:nvPr/>
        </p:nvSpPr>
        <p:spPr bwMode="auto">
          <a:xfrm>
            <a:off x="8344026" y="2013258"/>
            <a:ext cx="3733674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思考问题：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个数扫描几轮实现了最终目标？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、每一轮需要比较的次数有何规律？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、每一轮的开始，都是从数组的哪个变量开始的比较？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、每一轮结束后，将比较出的最大的数放在数组的哪一个变量里？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4006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5185E-6 L 0.00017 0.11875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8 -0.00347 L 0.00277 -0.13287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51 L -0.00382 -0.1474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0.01042 L -0.00261 -0.14722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7894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0.01042 L -0.00261 -0.14722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0.01042 L -0.00261 -0.14722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00416 L -1.11111E-6 0.15347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07407E-6 L -0.00122 -0.11806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857 L 0.00312 0.13241 " pathEditMode="relative" rAng="0" ptsTypes="AA">
                                      <p:cBhvr>
                                        <p:cTn id="17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5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15386" grpId="0"/>
      <p:bldP spid="15387" grpId="0"/>
      <p:bldP spid="15388" grpId="0"/>
      <p:bldP spid="52" grpId="0" animBg="1"/>
      <p:bldP spid="53" grpId="0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61" grpId="0" animBg="1"/>
      <p:bldP spid="62" grpId="0" animBg="1"/>
      <p:bldP spid="63" grpId="0" animBg="1"/>
      <p:bldP spid="64" grpId="0" animBg="1"/>
      <p:bldP spid="64" grpId="1" animBg="1"/>
      <p:bldP spid="31" grpId="0" animBg="1"/>
      <p:bldP spid="32" grpId="0" animBg="1"/>
      <p:bldP spid="33" grpId="0" animBg="1"/>
      <p:bldP spid="33" grpId="1" animBg="1"/>
      <p:bldP spid="34" grpId="0" animBg="1"/>
      <p:bldP spid="34" grpId="1" animBg="1"/>
      <p:bldP spid="2" grpId="0"/>
      <p:bldP spid="36" grpId="0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1" grpId="1" animBg="1"/>
      <p:bldP spid="6" grpId="0"/>
      <p:bldP spid="43" grpId="0" animBg="1"/>
      <p:bldP spid="44" grpId="0" animBg="1"/>
      <p:bldP spid="9" grpId="0"/>
      <p:bldP spid="49" grpId="0" animBg="1"/>
      <p:bldP spid="49" grpId="1" animBg="1"/>
      <p:bldP spid="50" grpId="0" animBg="1"/>
      <p:bldP spid="50" grpId="1" animBg="1"/>
      <p:bldP spid="51" grpId="0" animBg="1"/>
      <p:bldP spid="59" grpId="0"/>
      <p:bldP spid="6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36752" y="1123018"/>
            <a:ext cx="11050088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思考结果：</a:t>
            </a:r>
            <a:endParaRPr lang="en-US" altLang="zh-C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个数扫描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4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轮实现了最终目标。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、每一轮需要比较的次数和轮数之间关系为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5-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轮数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3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、每一轮的开始，都是从数组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下标为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开始的比较。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4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、每一轮结束后，将比较出的最大的数放在这一轮最后一个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数组变量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E28CA54-29DD-40D7-9CEF-45074E2110ED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5D9C0F51-D3B5-4C9E-99E7-FCBE345E3C8A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6BB1C97-DBEC-4237-923B-49701B6271BD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7800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2271597" y="193676"/>
            <a:ext cx="8496300" cy="655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void  main(  )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a[5];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i,j,k,tmp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("input 5 numbers :");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for (k=0;k&lt;=4;k++)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d",&amp;a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[k]);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for(i=0;i&lt;4;i++)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for(j=0;j&lt;        ; j++)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    if (a[j]&gt;a[j+1])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=a[j];a[j]=a[j+1];a[j+1]=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("the sorted numbers :");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for(k=0;k&lt;=4;k++) /*</a:t>
            </a:r>
            <a:r>
              <a:rPr lang="zh-CN" altLang="en-US" sz="3000" b="1" dirty="0">
                <a:latin typeface="Times New Roman" pitchFamily="18" charset="0"/>
                <a:cs typeface="Times New Roman" pitchFamily="18" charset="0"/>
              </a:rPr>
              <a:t>输出排序后的数组*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sz="30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("%d ",a[k]);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90810" y="4292600"/>
            <a:ext cx="3369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zh-CN" altLang="en-US" b="1">
              <a:cs typeface="Times New Roman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9423285" y="4325939"/>
            <a:ext cx="3369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b="1">
              <a:cs typeface="Times New Roman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293822" y="1081088"/>
            <a:ext cx="3369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zh-CN" altLang="en-US" b="1">
              <a:cs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558935" y="5973763"/>
            <a:ext cx="3369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b="1">
              <a:cs typeface="Times New Roman" pitchFamily="18" charset="0"/>
            </a:endParaRPr>
          </a:p>
        </p:txBody>
      </p:sp>
      <p:sp>
        <p:nvSpPr>
          <p:cNvPr id="6" name="圆角矩形标注 5"/>
          <p:cNvSpPr>
            <a:spLocks noChangeArrowheads="1"/>
          </p:cNvSpPr>
          <p:nvPr/>
        </p:nvSpPr>
        <p:spPr bwMode="auto">
          <a:xfrm>
            <a:off x="8373948" y="620713"/>
            <a:ext cx="2466975" cy="576262"/>
          </a:xfrm>
          <a:prstGeom prst="wedgeRoundRectCallout">
            <a:avLst>
              <a:gd name="adj1" fmla="val -171056"/>
              <a:gd name="adj2" fmla="val 385491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5</a:t>
            </a:r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个数需要几轮？</a:t>
            </a: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7659571" y="2205039"/>
            <a:ext cx="3108325" cy="1050925"/>
          </a:xfrm>
          <a:prstGeom prst="wedgeRoundRectCallout">
            <a:avLst>
              <a:gd name="adj1" fmla="val -169398"/>
              <a:gd name="adj2" fmla="val 76917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每一轮都是从数组第</a:t>
            </a:r>
            <a:endParaRPr lang="en-US" altLang="zh-CN" sz="24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几个元素开始比较？</a:t>
            </a: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7240473" y="3716338"/>
            <a:ext cx="3877293" cy="576262"/>
          </a:xfrm>
          <a:prstGeom prst="wedgeRoundRectCallout">
            <a:avLst>
              <a:gd name="adj1" fmla="val -105778"/>
              <a:gd name="adj2" fmla="val -56319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4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每一轮比较次数（易错点）</a:t>
            </a:r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7575434" y="5949951"/>
            <a:ext cx="2987675" cy="574675"/>
          </a:xfrm>
          <a:prstGeom prst="wedgeRoundRectCallout">
            <a:avLst>
              <a:gd name="adj1" fmla="val -112861"/>
              <a:gd name="adj2" fmla="val -360556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相邻两数大小的判断</a:t>
            </a:r>
          </a:p>
        </p:txBody>
      </p:sp>
      <p:sp>
        <p:nvSpPr>
          <p:cNvPr id="12" name="圆角矩形标注 11"/>
          <p:cNvSpPr>
            <a:spLocks noChangeArrowheads="1"/>
          </p:cNvSpPr>
          <p:nvPr/>
        </p:nvSpPr>
        <p:spPr bwMode="auto">
          <a:xfrm>
            <a:off x="10156710" y="4945062"/>
            <a:ext cx="1295400" cy="576263"/>
          </a:xfrm>
          <a:prstGeom prst="wedgeRoundRectCallout">
            <a:avLst>
              <a:gd name="adj1" fmla="val -89570"/>
              <a:gd name="adj2" fmla="val -104135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易错点</a:t>
            </a:r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5710122" y="260351"/>
            <a:ext cx="2609850" cy="620713"/>
          </a:xfrm>
          <a:prstGeom prst="wedgeRoundRectCallout">
            <a:avLst>
              <a:gd name="adj1" fmla="val -34528"/>
              <a:gd name="adj2" fmla="val 281019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对哪五个数排序？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719523" y="3402014"/>
            <a:ext cx="6397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4-i</a:t>
            </a:r>
            <a:endParaRPr lang="zh-CN" altLang="en-US" sz="3200" b="1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6F7425-DF88-4097-8654-6E5F33277795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15" name="矩形: 剪去单角 14">
              <a:extLst>
                <a:ext uri="{FF2B5EF4-FFF2-40B4-BE49-F238E27FC236}">
                  <a16:creationId xmlns:a16="http://schemas.microsoft.com/office/drawing/2014/main" id="{894ED5B5-6317-4C9E-8196-06EF2BFDE58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836674-55AA-4386-9C67-839928711DD6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代码实现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167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6" grpId="1" animBg="1"/>
      <p:bldP spid="6" grpId="2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2" grpId="0" animBg="1"/>
      <p:bldP spid="12" grpId="1" animBg="1"/>
      <p:bldP spid="7" grpId="0" animBg="1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"/>
          <p:cNvSpPr>
            <a:spLocks noChangeArrowheads="1"/>
          </p:cNvSpPr>
          <p:nvPr/>
        </p:nvSpPr>
        <p:spPr bwMode="auto">
          <a:xfrm>
            <a:off x="1165036" y="971707"/>
            <a:ext cx="9752009" cy="535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总结算法编程实现： 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数据存放？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——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   a[5]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交换数据？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——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判断用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if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语句，设辅助交换变量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tmp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循环？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——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两层循环，用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for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语句     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for(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=0;i&lt;4;i++)   {……}</a:t>
            </a: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 for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j=0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j&lt;4-i;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j++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{……}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340DE67-D131-46D0-8730-4F2F6F09508E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8E656C9A-309A-4786-9F9C-8AAC23774719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D9ABF1B-4B9E-4963-85CD-603CD3866E6A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1422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7617" y="779424"/>
            <a:ext cx="11518432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问题的拓展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2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具体</a:t>
            </a:r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个元素，排序进行</a:t>
            </a:r>
            <a:r>
              <a:rPr lang="en-US" altLang="zh-CN" sz="32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      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；每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比较</a:t>
            </a:r>
            <a:r>
              <a:rPr lang="en-US" altLang="zh-CN" sz="32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        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次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</a:t>
            </a:r>
            <a:endParaRPr lang="zh-CN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2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抽象：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n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个元素，排序进行</a:t>
            </a:r>
            <a:r>
              <a:rPr lang="en-US" altLang="zh-CN" sz="32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   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；每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比</a:t>
            </a:r>
            <a:r>
              <a:rPr lang="en-US" altLang="zh-CN" sz="32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        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较次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zh-CN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186595" y="4284085"/>
            <a:ext cx="1003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331700" y="3038748"/>
            <a:ext cx="22388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轮数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342170" y="3038748"/>
            <a:ext cx="5232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4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044776" y="4261781"/>
            <a:ext cx="240391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 – 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轮数</a:t>
            </a:r>
            <a:endParaRPr lang="en-US" altLang="zh-CN" sz="32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BD7B27B-0F00-4937-9B17-069F5CBB3B1F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8" name="矩形: 剪去单角 7">
              <a:extLst>
                <a:ext uri="{FF2B5EF4-FFF2-40B4-BE49-F238E27FC236}">
                  <a16:creationId xmlns:a16="http://schemas.microsoft.com/office/drawing/2014/main" id="{3D23B277-806E-4CB2-A48D-27A6284515B1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3A40E0E-75DF-4E34-80B9-7CD18B623F0D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76725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3020161" y="747414"/>
            <a:ext cx="8305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zh-CN" altLang="zh-CN" sz="3200">
              <a:ea typeface="宋体" pitchFamily="2" charset="-122"/>
            </a:endParaRPr>
          </a:p>
        </p:txBody>
      </p:sp>
      <p:graphicFrame>
        <p:nvGraphicFramePr>
          <p:cNvPr id="3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446408"/>
              </p:ext>
            </p:extLst>
          </p:nvPr>
        </p:nvGraphicFramePr>
        <p:xfrm>
          <a:off x="5029936" y="753765"/>
          <a:ext cx="996950" cy="4811713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3979011" y="466427"/>
            <a:ext cx="976022" cy="5048724"/>
            <a:chOff x="425768" y="476250"/>
            <a:chExt cx="975681" cy="4742300"/>
          </a:xfrm>
        </p:grpSpPr>
        <p:sp>
          <p:nvSpPr>
            <p:cNvPr id="14396" name="TextBox 27"/>
            <p:cNvSpPr txBox="1">
              <a:spLocks noChangeArrowheads="1"/>
            </p:cNvSpPr>
            <p:nvPr/>
          </p:nvSpPr>
          <p:spPr bwMode="auto">
            <a:xfrm>
              <a:off x="431800" y="476250"/>
              <a:ext cx="900113" cy="1127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en-US" altLang="zh-CN" sz="3600" b="1" dirty="0">
                  <a:latin typeface="Times New Roman" pitchFamily="18" charset="0"/>
                  <a:cs typeface="Times New Roman" pitchFamily="18" charset="0"/>
                </a:rPr>
                <a:t>a[0]</a:t>
              </a:r>
            </a:p>
          </p:txBody>
        </p:sp>
        <p:grpSp>
          <p:nvGrpSpPr>
            <p:cNvPr id="14397" name="组合 58"/>
            <p:cNvGrpSpPr>
              <a:grpSpLocks/>
            </p:cNvGrpSpPr>
            <p:nvPr/>
          </p:nvGrpSpPr>
          <p:grpSpPr bwMode="auto">
            <a:xfrm>
              <a:off x="425768" y="1211943"/>
              <a:ext cx="975681" cy="4006607"/>
              <a:chOff x="425768" y="1221903"/>
              <a:chExt cx="975681" cy="3337409"/>
            </a:xfrm>
          </p:grpSpPr>
          <p:sp>
            <p:nvSpPr>
              <p:cNvPr id="14398" name="矩形 28"/>
              <p:cNvSpPr>
                <a:spLocks noChangeArrowheads="1"/>
              </p:cNvSpPr>
              <p:nvPr/>
            </p:nvSpPr>
            <p:spPr bwMode="auto">
              <a:xfrm>
                <a:off x="433070" y="1221903"/>
                <a:ext cx="953773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a[1]</a:t>
                </a:r>
              </a:p>
            </p:txBody>
          </p:sp>
          <p:sp>
            <p:nvSpPr>
              <p:cNvPr id="14399" name="矩形 29"/>
              <p:cNvSpPr>
                <a:spLocks noChangeArrowheads="1"/>
              </p:cNvSpPr>
              <p:nvPr/>
            </p:nvSpPr>
            <p:spPr bwMode="auto">
              <a:xfrm>
                <a:off x="434385" y="1971145"/>
                <a:ext cx="953774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a[2]</a:t>
                </a:r>
              </a:p>
            </p:txBody>
          </p:sp>
          <p:sp>
            <p:nvSpPr>
              <p:cNvPr id="14400" name="矩形 30"/>
              <p:cNvSpPr>
                <a:spLocks noChangeArrowheads="1"/>
              </p:cNvSpPr>
              <p:nvPr/>
            </p:nvSpPr>
            <p:spPr bwMode="auto">
              <a:xfrm>
                <a:off x="447675" y="3620150"/>
                <a:ext cx="953774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a[4]</a:t>
                </a:r>
                <a:endParaRPr lang="zh-CN" altLang="en-US" sz="36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401" name="矩形 31"/>
              <p:cNvSpPr>
                <a:spLocks noChangeArrowheads="1"/>
              </p:cNvSpPr>
              <p:nvPr/>
            </p:nvSpPr>
            <p:spPr bwMode="auto">
              <a:xfrm>
                <a:off x="425768" y="2791116"/>
                <a:ext cx="953774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a[3]</a:t>
                </a:r>
              </a:p>
            </p:txBody>
          </p:sp>
        </p:grpSp>
      </p:grp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858362" y="175941"/>
            <a:ext cx="24497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5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个原始数据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5009299" y="5628977"/>
            <a:ext cx="1085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  <a:endParaRPr lang="en-US" altLang="zh-CN" sz="28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52" name="Freeform 335"/>
          <p:cNvSpPr>
            <a:spLocks/>
          </p:cNvSpPr>
          <p:nvPr/>
        </p:nvSpPr>
        <p:spPr bwMode="auto">
          <a:xfrm>
            <a:off x="6053874" y="1061739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4891824" y="6135390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  <a:endParaRPr lang="en-US" altLang="zh-CN" sz="2800" b="1">
              <a:solidFill>
                <a:srgbClr val="000000"/>
              </a:solidFill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54" name="椭圆 53"/>
          <p:cNvSpPr>
            <a:spLocks noChangeArrowheads="1"/>
          </p:cNvSpPr>
          <p:nvPr/>
        </p:nvSpPr>
        <p:spPr bwMode="auto">
          <a:xfrm>
            <a:off x="5256948" y="861714"/>
            <a:ext cx="543220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椭圆 54"/>
          <p:cNvSpPr>
            <a:spLocks noChangeArrowheads="1"/>
          </p:cNvSpPr>
          <p:nvPr/>
        </p:nvSpPr>
        <p:spPr bwMode="auto">
          <a:xfrm>
            <a:off x="5245836" y="1699914"/>
            <a:ext cx="543220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椭圆 55"/>
          <p:cNvSpPr>
            <a:spLocks noChangeArrowheads="1"/>
          </p:cNvSpPr>
          <p:nvPr/>
        </p:nvSpPr>
        <p:spPr bwMode="auto">
          <a:xfrm>
            <a:off x="5264886" y="2688927"/>
            <a:ext cx="543220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椭圆 56"/>
          <p:cNvSpPr>
            <a:spLocks noChangeArrowheads="1"/>
          </p:cNvSpPr>
          <p:nvPr/>
        </p:nvSpPr>
        <p:spPr bwMode="auto">
          <a:xfrm>
            <a:off x="5275998" y="3730327"/>
            <a:ext cx="513058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椭圆 57"/>
          <p:cNvSpPr>
            <a:spLocks noChangeArrowheads="1"/>
          </p:cNvSpPr>
          <p:nvPr/>
        </p:nvSpPr>
        <p:spPr bwMode="auto">
          <a:xfrm>
            <a:off x="5282348" y="4774902"/>
            <a:ext cx="543220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Freeform 335"/>
          <p:cNvSpPr>
            <a:spLocks/>
          </p:cNvSpPr>
          <p:nvPr/>
        </p:nvSpPr>
        <p:spPr bwMode="auto">
          <a:xfrm>
            <a:off x="6099912" y="2069802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335"/>
          <p:cNvSpPr>
            <a:spLocks/>
          </p:cNvSpPr>
          <p:nvPr/>
        </p:nvSpPr>
        <p:spPr bwMode="auto">
          <a:xfrm>
            <a:off x="6109437" y="3077864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335"/>
          <p:cNvSpPr>
            <a:spLocks/>
          </p:cNvSpPr>
          <p:nvPr/>
        </p:nvSpPr>
        <p:spPr bwMode="auto">
          <a:xfrm>
            <a:off x="6109437" y="4138314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椭圆 63"/>
          <p:cNvSpPr>
            <a:spLocks noChangeArrowheads="1"/>
          </p:cNvSpPr>
          <p:nvPr/>
        </p:nvSpPr>
        <p:spPr bwMode="auto">
          <a:xfrm>
            <a:off x="5267401" y="3715097"/>
            <a:ext cx="543220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云形标注 9"/>
          <p:cNvSpPr/>
          <p:nvPr/>
        </p:nvSpPr>
        <p:spPr bwMode="auto">
          <a:xfrm>
            <a:off x="6859133" y="5076528"/>
            <a:ext cx="1794654" cy="1235725"/>
          </a:xfrm>
          <a:prstGeom prst="cloudCallout">
            <a:avLst>
              <a:gd name="adj1" fmla="val -59513"/>
              <a:gd name="adj2" fmla="val -136059"/>
            </a:avLst>
          </a:prstGeom>
          <a:solidFill>
            <a:srgbClr val="FFFFCC"/>
          </a:solidFill>
          <a:ln w="508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方正姚体" pitchFamily="2" charset="-122"/>
                <a:ea typeface="方正姚体" pitchFamily="2" charset="-122"/>
              </a:rPr>
              <a:t>效率怎样？</a:t>
            </a:r>
          </a:p>
        </p:txBody>
      </p:sp>
      <p:graphicFrame>
        <p:nvGraphicFramePr>
          <p:cNvPr id="6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61330"/>
              </p:ext>
            </p:extLst>
          </p:nvPr>
        </p:nvGraphicFramePr>
        <p:xfrm>
          <a:off x="9573310" y="735583"/>
          <a:ext cx="1023938" cy="4811713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1" charset="-122"/>
                        <a:ea typeface="宋体" pitchFamily="2" charset="-122"/>
                      </a:endParaRPr>
                    </a:p>
                  </a:txBody>
                  <a:tcPr marL="90006" marR="90006" marT="46795" marB="467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7" name="组合 66"/>
          <p:cNvGrpSpPr>
            <a:grpSpLocks/>
          </p:cNvGrpSpPr>
          <p:nvPr/>
        </p:nvGrpSpPr>
        <p:grpSpPr bwMode="auto">
          <a:xfrm>
            <a:off x="8522385" y="448245"/>
            <a:ext cx="976022" cy="5074123"/>
            <a:chOff x="425768" y="476250"/>
            <a:chExt cx="975681" cy="4766157"/>
          </a:xfrm>
        </p:grpSpPr>
        <p:sp>
          <p:nvSpPr>
            <p:cNvPr id="68" name="TextBox 27"/>
            <p:cNvSpPr txBox="1">
              <a:spLocks noChangeArrowheads="1"/>
            </p:cNvSpPr>
            <p:nvPr/>
          </p:nvSpPr>
          <p:spPr bwMode="auto">
            <a:xfrm>
              <a:off x="431800" y="476250"/>
              <a:ext cx="900113" cy="968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华文细黑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en-US" altLang="zh-CN" sz="3600" b="1" dirty="0">
                  <a:latin typeface="Times New Roman" pitchFamily="18" charset="0"/>
                  <a:cs typeface="Times New Roman" pitchFamily="18" charset="0"/>
                </a:rPr>
                <a:t>a[0]</a:t>
              </a:r>
            </a:p>
          </p:txBody>
        </p:sp>
        <p:grpSp>
          <p:nvGrpSpPr>
            <p:cNvPr id="69" name="组合 58"/>
            <p:cNvGrpSpPr>
              <a:grpSpLocks/>
            </p:cNvGrpSpPr>
            <p:nvPr/>
          </p:nvGrpSpPr>
          <p:grpSpPr bwMode="auto">
            <a:xfrm>
              <a:off x="425768" y="1200014"/>
              <a:ext cx="975681" cy="4042393"/>
              <a:chOff x="425768" y="1211966"/>
              <a:chExt cx="975681" cy="3367218"/>
            </a:xfrm>
          </p:grpSpPr>
          <p:sp>
            <p:nvSpPr>
              <p:cNvPr id="70" name="矩形 28"/>
              <p:cNvSpPr>
                <a:spLocks noChangeArrowheads="1"/>
              </p:cNvSpPr>
              <p:nvPr/>
            </p:nvSpPr>
            <p:spPr bwMode="auto">
              <a:xfrm>
                <a:off x="433070" y="1211966"/>
                <a:ext cx="953773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a[1]</a:t>
                </a:r>
              </a:p>
            </p:txBody>
          </p:sp>
          <p:sp>
            <p:nvSpPr>
              <p:cNvPr id="71" name="矩形 29"/>
              <p:cNvSpPr>
                <a:spLocks noChangeArrowheads="1"/>
              </p:cNvSpPr>
              <p:nvPr/>
            </p:nvSpPr>
            <p:spPr bwMode="auto">
              <a:xfrm>
                <a:off x="434385" y="1981082"/>
                <a:ext cx="953774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a[2]</a:t>
                </a:r>
              </a:p>
            </p:txBody>
          </p:sp>
          <p:sp>
            <p:nvSpPr>
              <p:cNvPr id="72" name="矩形 30"/>
              <p:cNvSpPr>
                <a:spLocks noChangeArrowheads="1"/>
              </p:cNvSpPr>
              <p:nvPr/>
            </p:nvSpPr>
            <p:spPr bwMode="auto">
              <a:xfrm>
                <a:off x="447675" y="3640022"/>
                <a:ext cx="953774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a[4]</a:t>
                </a:r>
                <a:endParaRPr lang="zh-CN" altLang="en-US" sz="36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矩形 31"/>
              <p:cNvSpPr>
                <a:spLocks noChangeArrowheads="1"/>
              </p:cNvSpPr>
              <p:nvPr/>
            </p:nvSpPr>
            <p:spPr bwMode="auto">
              <a:xfrm>
                <a:off x="425768" y="2801053"/>
                <a:ext cx="953774" cy="939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3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a[3]</a:t>
                </a:r>
              </a:p>
            </p:txBody>
          </p:sp>
        </p:grpSp>
      </p:grpSp>
      <p:sp>
        <p:nvSpPr>
          <p:cNvPr id="74" name="Freeform 335"/>
          <p:cNvSpPr>
            <a:spLocks/>
          </p:cNvSpPr>
          <p:nvPr/>
        </p:nvSpPr>
        <p:spPr bwMode="auto">
          <a:xfrm>
            <a:off x="10597248" y="1043557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椭圆 74"/>
          <p:cNvSpPr>
            <a:spLocks noChangeArrowheads="1"/>
          </p:cNvSpPr>
          <p:nvPr/>
        </p:nvSpPr>
        <p:spPr bwMode="auto">
          <a:xfrm>
            <a:off x="9800323" y="843532"/>
            <a:ext cx="55792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椭圆 75"/>
          <p:cNvSpPr>
            <a:spLocks noChangeArrowheads="1"/>
          </p:cNvSpPr>
          <p:nvPr/>
        </p:nvSpPr>
        <p:spPr bwMode="auto">
          <a:xfrm>
            <a:off x="9789211" y="1681732"/>
            <a:ext cx="55792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椭圆 76"/>
          <p:cNvSpPr>
            <a:spLocks noChangeArrowheads="1"/>
          </p:cNvSpPr>
          <p:nvPr/>
        </p:nvSpPr>
        <p:spPr bwMode="auto">
          <a:xfrm>
            <a:off x="9808261" y="2670745"/>
            <a:ext cx="55792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椭圆 77"/>
          <p:cNvSpPr>
            <a:spLocks noChangeArrowheads="1"/>
          </p:cNvSpPr>
          <p:nvPr/>
        </p:nvSpPr>
        <p:spPr bwMode="auto">
          <a:xfrm>
            <a:off x="9819373" y="3712145"/>
            <a:ext cx="55792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椭圆 78"/>
          <p:cNvSpPr>
            <a:spLocks noChangeArrowheads="1"/>
          </p:cNvSpPr>
          <p:nvPr/>
        </p:nvSpPr>
        <p:spPr bwMode="auto">
          <a:xfrm>
            <a:off x="9825723" y="4756720"/>
            <a:ext cx="55792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Freeform 335"/>
          <p:cNvSpPr>
            <a:spLocks/>
          </p:cNvSpPr>
          <p:nvPr/>
        </p:nvSpPr>
        <p:spPr bwMode="auto">
          <a:xfrm>
            <a:off x="10643286" y="2051620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335"/>
          <p:cNvSpPr>
            <a:spLocks/>
          </p:cNvSpPr>
          <p:nvPr/>
        </p:nvSpPr>
        <p:spPr bwMode="auto">
          <a:xfrm>
            <a:off x="10652811" y="3059682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335"/>
          <p:cNvSpPr>
            <a:spLocks/>
          </p:cNvSpPr>
          <p:nvPr/>
        </p:nvSpPr>
        <p:spPr bwMode="auto">
          <a:xfrm>
            <a:off x="10652811" y="4120132"/>
            <a:ext cx="169862" cy="10604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椭圆 82"/>
          <p:cNvSpPr>
            <a:spLocks noChangeArrowheads="1"/>
          </p:cNvSpPr>
          <p:nvPr/>
        </p:nvSpPr>
        <p:spPr bwMode="auto">
          <a:xfrm>
            <a:off x="9803498" y="3718495"/>
            <a:ext cx="557925" cy="603250"/>
          </a:xfrm>
          <a:prstGeom prst="ellipse">
            <a:avLst/>
          </a:prstGeom>
          <a:solidFill>
            <a:schemeClr val="tx1"/>
          </a:solidFill>
          <a:ln w="63500" algn="ctr">
            <a:solidFill>
              <a:srgbClr val="FFFF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32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3F8582A-5624-49BD-B8EE-45F864272103}"/>
              </a:ext>
            </a:extLst>
          </p:cNvPr>
          <p:cNvGrpSpPr/>
          <p:nvPr/>
        </p:nvGrpSpPr>
        <p:grpSpPr>
          <a:xfrm>
            <a:off x="0" y="144966"/>
            <a:ext cx="3077738" cy="799577"/>
            <a:chOff x="0" y="175102"/>
            <a:chExt cx="6411951" cy="769441"/>
          </a:xfrm>
        </p:grpSpPr>
        <p:sp>
          <p:nvSpPr>
            <p:cNvPr id="44" name="矩形: 剪去单角 43">
              <a:extLst>
                <a:ext uri="{FF2B5EF4-FFF2-40B4-BE49-F238E27FC236}">
                  <a16:creationId xmlns:a16="http://schemas.microsoft.com/office/drawing/2014/main" id="{1F89028B-FC55-4DDE-A713-C56100DF67DB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8BD294A-ACA7-4ABD-A9A8-0CB111C6B4B9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冒泡排序回顾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9645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5185E-6 L 0.00017 0.11875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8 -0.00347 L 0.00277 -0.13287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51 L -0.00382 -0.1474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0.01042 L -0.00261 -0.14722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7894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5185E-6 L 0.00017 0.11875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8 -0.00347 L 0.00277 -0.13287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51 L -0.00382 -0.14745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0.01042 L -0.00261 -0.14722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7894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-0.0007 0.15695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2" grpId="0" animBg="1"/>
      <p:bldP spid="53" grpId="0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61" grpId="0" animBg="1"/>
      <p:bldP spid="62" grpId="0" animBg="1"/>
      <p:bldP spid="63" grpId="0" animBg="1"/>
      <p:bldP spid="64" grpId="0" animBg="1"/>
      <p:bldP spid="64" grpId="1" animBg="1"/>
      <p:bldP spid="10" grpId="0" animBg="1"/>
      <p:bldP spid="74" grpId="0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2" grpId="0" animBg="1"/>
      <p:bldP spid="83" grpId="0" animBg="1"/>
      <p:bldP spid="8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2362200" y="2292351"/>
            <a:ext cx="7391400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6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选择排序算法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40CB328-F833-4C75-A254-188008899FC9}"/>
              </a:ext>
            </a:extLst>
          </p:cNvPr>
          <p:cNvGrpSpPr/>
          <p:nvPr/>
        </p:nvGrpSpPr>
        <p:grpSpPr>
          <a:xfrm>
            <a:off x="0" y="175102"/>
            <a:ext cx="4102100" cy="1285398"/>
            <a:chOff x="0" y="175102"/>
            <a:chExt cx="6411951" cy="769441"/>
          </a:xfrm>
        </p:grpSpPr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E3CFB657-C5A5-42A1-AEB3-B7EBFFBD498A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09CFC40-71D3-4DA6-A76C-D52AB9FD5C30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案例四</a:t>
              </a:r>
              <a:r>
                <a:rPr lang="en-US" altLang="zh-CN" sz="3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-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选择排序</a:t>
              </a:r>
              <a:endPara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862508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763589" y="925514"/>
            <a:ext cx="10679111" cy="54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将数组中的数，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按</a:t>
            </a:r>
            <a:r>
              <a:rPr lang="zh-CN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从前往后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的方向进行多次扫描，每次扫描称为</a:t>
            </a:r>
            <a:r>
              <a:rPr lang="zh-CN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一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每一轮在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未排序的数中选取最小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（或最大）的数和这一轮的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第一个数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交换，经过多次扫描就可实现排序。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l">
              <a:lnSpc>
                <a:spcPct val="20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选择排序算法的动态演示：  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AB689EF-1D2B-4973-9D4F-6109FD358833}"/>
              </a:ext>
            </a:extLst>
          </p:cNvPr>
          <p:cNvGrpSpPr/>
          <p:nvPr/>
        </p:nvGrpSpPr>
        <p:grpSpPr>
          <a:xfrm>
            <a:off x="0" y="144966"/>
            <a:ext cx="3390900" cy="799577"/>
            <a:chOff x="0" y="175102"/>
            <a:chExt cx="6411951" cy="769441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F1774203-1761-4493-AF87-345462A74A6D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690BA54-CA2C-46B4-86C2-E17DF6566F8D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选择排序的思路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14668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0" name="Group 4"/>
          <p:cNvGraphicFramePr>
            <a:graphicFrameLocks noGrp="1"/>
          </p:cNvGraphicFramePr>
          <p:nvPr>
            <p:extLst/>
          </p:nvPr>
        </p:nvGraphicFramePr>
        <p:xfrm>
          <a:off x="3000376" y="1800497"/>
          <a:ext cx="1008063" cy="4011614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5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6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2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068" name="Group 12"/>
          <p:cNvGraphicFramePr>
            <a:graphicFrameLocks noGrp="1"/>
          </p:cNvGraphicFramePr>
          <p:nvPr>
            <p:extLst/>
          </p:nvPr>
        </p:nvGraphicFramePr>
        <p:xfrm>
          <a:off x="4505326" y="1800498"/>
          <a:ext cx="1008063" cy="4016377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2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076" name="Group 20"/>
          <p:cNvGraphicFramePr>
            <a:graphicFrameLocks noGrp="1"/>
          </p:cNvGraphicFramePr>
          <p:nvPr>
            <p:extLst/>
          </p:nvPr>
        </p:nvGraphicFramePr>
        <p:xfrm>
          <a:off x="6024563" y="1800498"/>
          <a:ext cx="1008062" cy="4016377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2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092" name="Group 36"/>
          <p:cNvGraphicFramePr>
            <a:graphicFrameLocks noGrp="1"/>
          </p:cNvGraphicFramePr>
          <p:nvPr>
            <p:extLst/>
          </p:nvPr>
        </p:nvGraphicFramePr>
        <p:xfrm>
          <a:off x="7608888" y="1800498"/>
          <a:ext cx="1008062" cy="4016377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2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6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100" name="Group 44"/>
          <p:cNvGraphicFramePr>
            <a:graphicFrameLocks noGrp="1"/>
          </p:cNvGraphicFramePr>
          <p:nvPr>
            <p:extLst/>
          </p:nvPr>
        </p:nvGraphicFramePr>
        <p:xfrm>
          <a:off x="9191626" y="1800497"/>
          <a:ext cx="1008063" cy="4011614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2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5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108" name="Freeform 330"/>
          <p:cNvSpPr>
            <a:spLocks/>
          </p:cNvSpPr>
          <p:nvPr/>
        </p:nvSpPr>
        <p:spPr bwMode="auto">
          <a:xfrm>
            <a:off x="3786188" y="2233886"/>
            <a:ext cx="100012" cy="790575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9" name="Freeform 335"/>
          <p:cNvSpPr>
            <a:spLocks/>
          </p:cNvSpPr>
          <p:nvPr/>
        </p:nvSpPr>
        <p:spPr bwMode="auto">
          <a:xfrm>
            <a:off x="3814764" y="3024461"/>
            <a:ext cx="71437" cy="8651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2" name="Freeform 338"/>
          <p:cNvSpPr>
            <a:spLocks/>
          </p:cNvSpPr>
          <p:nvPr/>
        </p:nvSpPr>
        <p:spPr bwMode="auto">
          <a:xfrm>
            <a:off x="3825876" y="3010172"/>
            <a:ext cx="60325" cy="1671638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3" name="Freeform 340"/>
          <p:cNvSpPr>
            <a:spLocks/>
          </p:cNvSpPr>
          <p:nvPr/>
        </p:nvSpPr>
        <p:spPr bwMode="auto">
          <a:xfrm>
            <a:off x="5289551" y="3024460"/>
            <a:ext cx="100013" cy="792162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4" name="Freeform 341"/>
          <p:cNvSpPr>
            <a:spLocks/>
          </p:cNvSpPr>
          <p:nvPr/>
        </p:nvSpPr>
        <p:spPr bwMode="auto">
          <a:xfrm>
            <a:off x="5340350" y="3060972"/>
            <a:ext cx="57150" cy="1620838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5" name="Freeform 342"/>
          <p:cNvSpPr>
            <a:spLocks/>
          </p:cNvSpPr>
          <p:nvPr/>
        </p:nvSpPr>
        <p:spPr bwMode="auto">
          <a:xfrm>
            <a:off x="5289550" y="3010172"/>
            <a:ext cx="173038" cy="246380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7" name="Freeform 345"/>
          <p:cNvSpPr>
            <a:spLocks/>
          </p:cNvSpPr>
          <p:nvPr/>
        </p:nvSpPr>
        <p:spPr bwMode="auto">
          <a:xfrm>
            <a:off x="6808788" y="3816622"/>
            <a:ext cx="100012" cy="865188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8" name="Freeform 346"/>
          <p:cNvSpPr>
            <a:spLocks/>
          </p:cNvSpPr>
          <p:nvPr/>
        </p:nvSpPr>
        <p:spPr bwMode="auto">
          <a:xfrm>
            <a:off x="6775450" y="4608786"/>
            <a:ext cx="128588" cy="8651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20" name="Freeform 349"/>
          <p:cNvSpPr>
            <a:spLocks/>
          </p:cNvSpPr>
          <p:nvPr/>
        </p:nvSpPr>
        <p:spPr bwMode="auto">
          <a:xfrm>
            <a:off x="8407401" y="4608786"/>
            <a:ext cx="100013" cy="8651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23" name="Oval 355"/>
          <p:cNvSpPr>
            <a:spLocks noChangeArrowheads="1"/>
          </p:cNvSpPr>
          <p:nvPr/>
        </p:nvSpPr>
        <p:spPr bwMode="auto">
          <a:xfrm>
            <a:off x="4792663" y="2048148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124" name="Oval 356"/>
          <p:cNvSpPr>
            <a:spLocks noChangeArrowheads="1"/>
          </p:cNvSpPr>
          <p:nvPr/>
        </p:nvSpPr>
        <p:spPr bwMode="auto">
          <a:xfrm>
            <a:off x="4778375" y="5221561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127" name="Oval 359"/>
          <p:cNvSpPr>
            <a:spLocks noChangeArrowheads="1"/>
          </p:cNvSpPr>
          <p:nvPr/>
        </p:nvSpPr>
        <p:spPr bwMode="auto">
          <a:xfrm>
            <a:off x="7896225" y="3592786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zh-CN" sz="32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1955801" y="1584598"/>
            <a:ext cx="9001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a[0]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87551" y="2379936"/>
            <a:ext cx="8683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a[1]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924051" y="3168923"/>
            <a:ext cx="8667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a[2]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971676" y="4827860"/>
            <a:ext cx="86836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a[4]</a:t>
            </a:r>
            <a:endParaRPr lang="zh-CN" altLang="en-US" sz="32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919288" y="3969023"/>
            <a:ext cx="86836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a[3]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992439" y="5901086"/>
            <a:ext cx="1087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4473575" y="5901086"/>
            <a:ext cx="1087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2</a:t>
            </a: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5976938" y="5901086"/>
            <a:ext cx="108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7573963" y="5901086"/>
            <a:ext cx="108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9242426" y="5877273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结果</a:t>
            </a:r>
          </a:p>
        </p:txBody>
      </p:sp>
      <p:sp>
        <p:nvSpPr>
          <p:cNvPr id="46" name="Oval 355"/>
          <p:cNvSpPr>
            <a:spLocks noChangeArrowheads="1"/>
          </p:cNvSpPr>
          <p:nvPr/>
        </p:nvSpPr>
        <p:spPr bwMode="auto">
          <a:xfrm>
            <a:off x="6343650" y="2808561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Freeform 338"/>
          <p:cNvSpPr>
            <a:spLocks/>
          </p:cNvSpPr>
          <p:nvPr/>
        </p:nvSpPr>
        <p:spPr bwMode="auto">
          <a:xfrm>
            <a:off x="3786189" y="3024460"/>
            <a:ext cx="242887" cy="2449512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Oval 359"/>
          <p:cNvSpPr>
            <a:spLocks noChangeArrowheads="1"/>
          </p:cNvSpPr>
          <p:nvPr/>
        </p:nvSpPr>
        <p:spPr bwMode="auto">
          <a:xfrm>
            <a:off x="7896225" y="5185048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zh-CN" sz="32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27088" y="188641"/>
            <a:ext cx="96791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思路重点：每一轮在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未排序的数中选取最小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（或最大）的数和这一轮的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第一个数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交换。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4350332" y="5253672"/>
            <a:ext cx="4579938" cy="504056"/>
          </a:xfrm>
          <a:prstGeom prst="wedgeRoundRectCallout">
            <a:avLst>
              <a:gd name="adj1" fmla="val -62687"/>
              <a:gd name="adj2" fmla="val 129016"/>
              <a:gd name="adj3" fmla="val 16667"/>
            </a:avLst>
          </a:prstGeom>
          <a:solidFill>
            <a:srgbClr val="FFFF00"/>
          </a:solidFill>
          <a:ln w="508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5</a:t>
            </a:r>
            <a:r>
              <a: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个数扫描几轮实现了最终目标？</a:t>
            </a:r>
            <a:endParaRPr lang="en-US" altLang="zh-CN" sz="2400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34" name="圆角矩形标注 33"/>
          <p:cNvSpPr/>
          <p:nvPr/>
        </p:nvSpPr>
        <p:spPr bwMode="auto">
          <a:xfrm>
            <a:off x="3456093" y="188640"/>
            <a:ext cx="4816053" cy="504056"/>
          </a:xfrm>
          <a:prstGeom prst="wedgeRoundRectCallout">
            <a:avLst>
              <a:gd name="adj1" fmla="val -39903"/>
              <a:gd name="adj2" fmla="val 352753"/>
              <a:gd name="adj3" fmla="val 16667"/>
            </a:avLst>
          </a:prstGeom>
          <a:solidFill>
            <a:srgbClr val="FFFF00"/>
          </a:solidFill>
          <a:ln w="508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每一轮需要比较的次数是否一致？</a:t>
            </a:r>
            <a:endParaRPr lang="en-US" altLang="zh-CN" sz="2400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35" name="圆角矩形标注 34"/>
          <p:cNvSpPr/>
          <p:nvPr/>
        </p:nvSpPr>
        <p:spPr bwMode="auto">
          <a:xfrm>
            <a:off x="3351672" y="881137"/>
            <a:ext cx="7104732" cy="504056"/>
          </a:xfrm>
          <a:prstGeom prst="wedgeRoundRectCallout">
            <a:avLst>
              <a:gd name="adj1" fmla="val -45098"/>
              <a:gd name="adj2" fmla="val 174368"/>
              <a:gd name="adj3" fmla="val 16667"/>
            </a:avLst>
          </a:prstGeom>
          <a:solidFill>
            <a:srgbClr val="FFFF00"/>
          </a:solidFill>
          <a:ln w="508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每一轮的开始，都是从数组的哪个变量开始的比较？</a:t>
            </a:r>
            <a:endParaRPr lang="zh-CN" altLang="en-US" sz="2400" dirty="0"/>
          </a:p>
        </p:txBody>
      </p:sp>
      <p:sp>
        <p:nvSpPr>
          <p:cNvPr id="36" name="圆角矩形标注 35"/>
          <p:cNvSpPr/>
          <p:nvPr/>
        </p:nvSpPr>
        <p:spPr bwMode="auto">
          <a:xfrm>
            <a:off x="1827088" y="3789040"/>
            <a:ext cx="8813801" cy="504056"/>
          </a:xfrm>
          <a:prstGeom prst="wedgeRoundRectCallout">
            <a:avLst>
              <a:gd name="adj1" fmla="val -14791"/>
              <a:gd name="adj2" fmla="val -300318"/>
              <a:gd name="adj3" fmla="val 16667"/>
            </a:avLst>
          </a:prstGeom>
          <a:solidFill>
            <a:srgbClr val="FFFF00"/>
          </a:solidFill>
          <a:ln w="508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zh-CN" altLang="en-US" sz="24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每一轮结束后，将比较出的最小的数放在数组的哪一个变量里？</a:t>
            </a:r>
            <a:endParaRPr lang="en-US" altLang="zh-CN" sz="2400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2809920" y="6282040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4295800" y="6290156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5786658" y="6270724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7412362" y="6255484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比较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C583076-9B89-46E5-AFF9-E0388FFE0FDB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47" name="矩形: 剪去单角 46">
              <a:extLst>
                <a:ext uri="{FF2B5EF4-FFF2-40B4-BE49-F238E27FC236}">
                  <a16:creationId xmlns:a16="http://schemas.microsoft.com/office/drawing/2014/main" id="{DA2F4E77-3AAA-4CDC-B010-20000D55138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090D549-8895-4B4F-ABE8-9B30AF8819C5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选择排序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1563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59259E-6 L 2.77778E-6 0.46273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45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-4.07407E-6 L 0.00348 -0.46203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45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2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07407E-6 L -3.05556E-6 0.2375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45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532 L -3.05556E-6 -0.23102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08" grpId="0" animBg="1"/>
      <p:bldP spid="45109" grpId="0" animBg="1"/>
      <p:bldP spid="45112" grpId="0" animBg="1"/>
      <p:bldP spid="45113" grpId="0" animBg="1"/>
      <p:bldP spid="45114" grpId="0" animBg="1"/>
      <p:bldP spid="45115" grpId="0" animBg="1"/>
      <p:bldP spid="45117" grpId="0" animBg="1"/>
      <p:bldP spid="45118" grpId="0" animBg="1"/>
      <p:bldP spid="45120" grpId="0" animBg="1"/>
      <p:bldP spid="45123" grpId="0" animBg="1"/>
      <p:bldP spid="45123" grpId="1" animBg="1"/>
      <p:bldP spid="45124" grpId="0" animBg="1"/>
      <p:bldP spid="45124" grpId="1" animBg="1"/>
      <p:bldP spid="45127" grpId="0" animBg="1"/>
      <p:bldP spid="45127" grpId="1" animBg="1"/>
      <p:bldP spid="32" grpId="0"/>
      <p:bldP spid="2" grpId="0"/>
      <p:bldP spid="3" grpId="0"/>
      <p:bldP spid="4" grpId="0"/>
      <p:bldP spid="5" grpId="0"/>
      <p:bldP spid="6" grpId="0"/>
      <p:bldP spid="41" grpId="0"/>
      <p:bldP spid="42" grpId="0"/>
      <p:bldP spid="43" grpId="0"/>
      <p:bldP spid="45" grpId="0"/>
      <p:bldP spid="46" grpId="0" animBg="1"/>
      <p:bldP spid="48" grpId="0" animBg="1"/>
      <p:bldP spid="51" grpId="0" animBg="1"/>
      <p:bldP spid="51" grpId="1" animBg="1"/>
      <p:bldP spid="7" grpId="0"/>
      <p:bldP spid="8" grpId="0" animBg="1"/>
      <p:bldP spid="8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/>
      <p:bldP spid="38" grpId="0"/>
      <p:bldP spid="39" grpId="0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435910"/>
              </p:ext>
            </p:extLst>
          </p:nvPr>
        </p:nvGraphicFramePr>
        <p:xfrm>
          <a:off x="3138488" y="1506538"/>
          <a:ext cx="1008062" cy="4011614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5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6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2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0006" marR="90006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068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29316"/>
              </p:ext>
            </p:extLst>
          </p:nvPr>
        </p:nvGraphicFramePr>
        <p:xfrm>
          <a:off x="4506218" y="2320925"/>
          <a:ext cx="1008063" cy="3211514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8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3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076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769172"/>
              </p:ext>
            </p:extLst>
          </p:nvPr>
        </p:nvGraphicFramePr>
        <p:xfrm>
          <a:off x="5848052" y="3119439"/>
          <a:ext cx="1008062" cy="2413001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6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092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00276"/>
              </p:ext>
            </p:extLst>
          </p:nvPr>
        </p:nvGraphicFramePr>
        <p:xfrm>
          <a:off x="7176343" y="3924300"/>
          <a:ext cx="1008062" cy="1608138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6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100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11241"/>
              </p:ext>
            </p:extLst>
          </p:nvPr>
        </p:nvGraphicFramePr>
        <p:xfrm>
          <a:off x="8544322" y="4725989"/>
          <a:ext cx="1008063" cy="801687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16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  <a:cs typeface="Times New Roman" pitchFamily="18" charset="0"/>
                        </a:rPr>
                        <a:t>7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6" marR="9144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108" name="Freeform 330"/>
          <p:cNvSpPr>
            <a:spLocks/>
          </p:cNvSpPr>
          <p:nvPr/>
        </p:nvSpPr>
        <p:spPr bwMode="auto">
          <a:xfrm>
            <a:off x="3924301" y="1939926"/>
            <a:ext cx="100013" cy="790575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9" name="Freeform 335"/>
          <p:cNvSpPr>
            <a:spLocks/>
          </p:cNvSpPr>
          <p:nvPr/>
        </p:nvSpPr>
        <p:spPr bwMode="auto">
          <a:xfrm>
            <a:off x="3884613" y="2730501"/>
            <a:ext cx="188912" cy="796925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00B0F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0" name="Freeform 336"/>
          <p:cNvSpPr>
            <a:spLocks/>
          </p:cNvSpPr>
          <p:nvPr/>
        </p:nvSpPr>
        <p:spPr bwMode="auto">
          <a:xfrm>
            <a:off x="3924301" y="2767014"/>
            <a:ext cx="100013" cy="162083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1" name="Freeform 337"/>
          <p:cNvSpPr>
            <a:spLocks/>
          </p:cNvSpPr>
          <p:nvPr/>
        </p:nvSpPr>
        <p:spPr bwMode="auto">
          <a:xfrm>
            <a:off x="3952876" y="2767013"/>
            <a:ext cx="265113" cy="241300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3" name="Freeform 340"/>
          <p:cNvSpPr>
            <a:spLocks/>
          </p:cNvSpPr>
          <p:nvPr/>
        </p:nvSpPr>
        <p:spPr bwMode="auto">
          <a:xfrm>
            <a:off x="5290443" y="2730501"/>
            <a:ext cx="100013" cy="792163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5" name="Freeform 342"/>
          <p:cNvSpPr>
            <a:spLocks/>
          </p:cNvSpPr>
          <p:nvPr/>
        </p:nvSpPr>
        <p:spPr bwMode="auto">
          <a:xfrm>
            <a:off x="5339656" y="2730500"/>
            <a:ext cx="173037" cy="16573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7" name="Freeform 345"/>
          <p:cNvSpPr>
            <a:spLocks/>
          </p:cNvSpPr>
          <p:nvPr/>
        </p:nvSpPr>
        <p:spPr bwMode="auto">
          <a:xfrm>
            <a:off x="6632277" y="3522664"/>
            <a:ext cx="100012" cy="8651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8" name="Freeform 346"/>
          <p:cNvSpPr>
            <a:spLocks/>
          </p:cNvSpPr>
          <p:nvPr/>
        </p:nvSpPr>
        <p:spPr bwMode="auto">
          <a:xfrm>
            <a:off x="6625927" y="4386264"/>
            <a:ext cx="106362" cy="865187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20" name="Freeform 349"/>
          <p:cNvSpPr>
            <a:spLocks/>
          </p:cNvSpPr>
          <p:nvPr/>
        </p:nvSpPr>
        <p:spPr bwMode="auto">
          <a:xfrm>
            <a:off x="7974856" y="4314825"/>
            <a:ext cx="100013" cy="865188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FF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23" name="Oval 355"/>
          <p:cNvSpPr>
            <a:spLocks noChangeArrowheads="1"/>
          </p:cNvSpPr>
          <p:nvPr/>
        </p:nvSpPr>
        <p:spPr bwMode="auto">
          <a:xfrm>
            <a:off x="4793555" y="1754189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124" name="Oval 356"/>
          <p:cNvSpPr>
            <a:spLocks noChangeArrowheads="1"/>
          </p:cNvSpPr>
          <p:nvPr/>
        </p:nvSpPr>
        <p:spPr bwMode="auto">
          <a:xfrm>
            <a:off x="4793555" y="4819651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128" name="Oval 360"/>
          <p:cNvSpPr>
            <a:spLocks noChangeArrowheads="1"/>
          </p:cNvSpPr>
          <p:nvPr/>
        </p:nvSpPr>
        <p:spPr bwMode="auto">
          <a:xfrm>
            <a:off x="8831659" y="4135439"/>
            <a:ext cx="431800" cy="4667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2093913" y="1290638"/>
            <a:ext cx="9001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a[0]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125663" y="2085976"/>
            <a:ext cx="86836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a[1]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062164" y="2874963"/>
            <a:ext cx="86677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a[2]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109788" y="4533901"/>
            <a:ext cx="86836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a[4]</a:t>
            </a:r>
            <a:endParaRPr lang="zh-CN" altLang="en-US" sz="3200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057401" y="3675064"/>
            <a:ext cx="8683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a[3]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071814" y="5827714"/>
            <a:ext cx="12137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4477642" y="5827714"/>
            <a:ext cx="12137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2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5827414" y="5827714"/>
            <a:ext cx="12137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7155705" y="5827714"/>
            <a:ext cx="12137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轮</a:t>
            </a: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8622109" y="5827714"/>
            <a:ext cx="10086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结果</a:t>
            </a:r>
          </a:p>
        </p:txBody>
      </p:sp>
      <p:sp>
        <p:nvSpPr>
          <p:cNvPr id="46" name="Oval 355"/>
          <p:cNvSpPr>
            <a:spLocks noChangeArrowheads="1"/>
          </p:cNvSpPr>
          <p:nvPr/>
        </p:nvSpPr>
        <p:spPr bwMode="auto">
          <a:xfrm>
            <a:off x="6167139" y="2514601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Oval 355"/>
          <p:cNvSpPr>
            <a:spLocks noChangeArrowheads="1"/>
          </p:cNvSpPr>
          <p:nvPr/>
        </p:nvSpPr>
        <p:spPr bwMode="auto">
          <a:xfrm>
            <a:off x="6152852" y="4891089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Oval 355"/>
          <p:cNvSpPr>
            <a:spLocks noChangeArrowheads="1"/>
          </p:cNvSpPr>
          <p:nvPr/>
        </p:nvSpPr>
        <p:spPr bwMode="auto">
          <a:xfrm>
            <a:off x="7463680" y="3233739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96739" y="797720"/>
            <a:ext cx="5445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4000" b="1" dirty="0">
                <a:latin typeface="Times New Roman" pitchFamily="18" charset="0"/>
                <a:cs typeface="Times New Roman" pitchFamily="18" charset="0"/>
              </a:rPr>
              <a:t>k</a:t>
            </a:r>
            <a:endParaRPr lang="zh-CN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3675064" y="490539"/>
            <a:ext cx="3501279" cy="873126"/>
          </a:xfrm>
          <a:prstGeom prst="wedgeRoundRectCallout">
            <a:avLst>
              <a:gd name="adj1" fmla="val -73415"/>
              <a:gd name="adj2" fmla="val 29253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800" b="1">
                <a:latin typeface="方正姚体" pitchFamily="2" charset="-122"/>
                <a:ea typeface="方正姚体" pitchFamily="2" charset="-122"/>
              </a:rPr>
              <a:t>存放最小元素的下标</a:t>
            </a:r>
          </a:p>
        </p:txBody>
      </p:sp>
      <p:sp>
        <p:nvSpPr>
          <p:cNvPr id="51" name="圆角矩形标注 50"/>
          <p:cNvSpPr>
            <a:spLocks noChangeArrowheads="1"/>
          </p:cNvSpPr>
          <p:nvPr/>
        </p:nvSpPr>
        <p:spPr bwMode="auto">
          <a:xfrm>
            <a:off x="7895480" y="952500"/>
            <a:ext cx="3674220" cy="1814513"/>
          </a:xfrm>
          <a:prstGeom prst="wedgeRoundRectCallout">
            <a:avLst>
              <a:gd name="adj1" fmla="val -121221"/>
              <a:gd name="adj2" fmla="val 8706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3200" b="1" dirty="0">
                <a:latin typeface="方正姚体" pitchFamily="2" charset="-122"/>
                <a:ea typeface="方正姚体" pitchFamily="2" charset="-122"/>
              </a:rPr>
              <a:t>每一轮比较出来的</a:t>
            </a:r>
            <a:endParaRPr lang="en-US" altLang="zh-CN" sz="3200" b="1" dirty="0">
              <a:latin typeface="方正姚体" pitchFamily="2" charset="-122"/>
              <a:ea typeface="方正姚体" pitchFamily="2" charset="-122"/>
            </a:endParaRPr>
          </a:p>
          <a:p>
            <a:r>
              <a:rPr lang="zh-CN" altLang="en-US" sz="3200" b="1" dirty="0">
                <a:latin typeface="方正姚体" pitchFamily="2" charset="-122"/>
                <a:ea typeface="方正姚体" pitchFamily="2" charset="-122"/>
              </a:rPr>
              <a:t>最小数放入这一轮</a:t>
            </a:r>
            <a:endParaRPr lang="en-US" altLang="zh-CN" sz="3200" b="1" dirty="0">
              <a:latin typeface="方正姚体" pitchFamily="2" charset="-122"/>
              <a:ea typeface="方正姚体" pitchFamily="2" charset="-122"/>
            </a:endParaRPr>
          </a:p>
          <a:p>
            <a:r>
              <a:rPr lang="zh-CN" altLang="en-US" sz="3200" b="1" dirty="0">
                <a:latin typeface="方正姚体" pitchFamily="2" charset="-122"/>
                <a:ea typeface="方正姚体" pitchFamily="2" charset="-122"/>
              </a:rPr>
              <a:t>中的首元素</a:t>
            </a:r>
          </a:p>
        </p:txBody>
      </p:sp>
      <p:sp>
        <p:nvSpPr>
          <p:cNvPr id="49" name="Freeform 342"/>
          <p:cNvSpPr>
            <a:spLocks/>
          </p:cNvSpPr>
          <p:nvPr/>
        </p:nvSpPr>
        <p:spPr bwMode="auto">
          <a:xfrm>
            <a:off x="5339655" y="2874963"/>
            <a:ext cx="203200" cy="2305050"/>
          </a:xfrm>
          <a:custGeom>
            <a:avLst/>
            <a:gdLst>
              <a:gd name="T0" fmla="*/ 0 w 226"/>
              <a:gd name="T1" fmla="*/ 0 h 363"/>
              <a:gd name="T2" fmla="*/ 2147483647 w 226"/>
              <a:gd name="T3" fmla="*/ 2147483647 h 363"/>
              <a:gd name="T4" fmla="*/ 0 w 226"/>
              <a:gd name="T5" fmla="*/ 2147483647 h 363"/>
              <a:gd name="T6" fmla="*/ 0 60000 65536"/>
              <a:gd name="T7" fmla="*/ 0 60000 65536"/>
              <a:gd name="T8" fmla="*/ 0 60000 65536"/>
              <a:gd name="T9" fmla="*/ 0 w 226"/>
              <a:gd name="T10" fmla="*/ 0 h 363"/>
              <a:gd name="T11" fmla="*/ 226 w 22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363">
                <a:moveTo>
                  <a:pt x="0" y="0"/>
                </a:moveTo>
                <a:cubicBezTo>
                  <a:pt x="113" y="60"/>
                  <a:pt x="226" y="121"/>
                  <a:pt x="226" y="181"/>
                </a:cubicBezTo>
                <a:cubicBezTo>
                  <a:pt x="226" y="241"/>
                  <a:pt x="113" y="302"/>
                  <a:pt x="0" y="363"/>
                </a:cubicBezTo>
              </a:path>
            </a:pathLst>
          </a:custGeom>
          <a:noFill/>
          <a:ln w="38100" cmpd="sng">
            <a:solidFill>
              <a:srgbClr val="FF0000"/>
            </a:solidFill>
            <a:bevel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Oval 355"/>
          <p:cNvSpPr>
            <a:spLocks noChangeArrowheads="1"/>
          </p:cNvSpPr>
          <p:nvPr/>
        </p:nvSpPr>
        <p:spPr bwMode="auto">
          <a:xfrm>
            <a:off x="7463680" y="4891089"/>
            <a:ext cx="431800" cy="504825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zh-CN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89457" y="1807468"/>
            <a:ext cx="655220" cy="2852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5</a:t>
            </a: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个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数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比</a:t>
            </a:r>
            <a:endParaRPr lang="en-US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较</a:t>
            </a:r>
            <a:endParaRPr lang="zh-CN" altLang="en-US" sz="3600" b="1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0B24F30-A1D7-4F84-A4B7-E5BBD97E2694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39" name="矩形: 剪去单角 38">
              <a:extLst>
                <a:ext uri="{FF2B5EF4-FFF2-40B4-BE49-F238E27FC236}">
                  <a16:creationId xmlns:a16="http://schemas.microsoft.com/office/drawing/2014/main" id="{5ADE1F97-9497-42C1-94BC-F54D9765A6E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C12F462-A6FA-41C9-B625-F6C404609049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选择排序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09312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59259E-6 L 2.77778E-6 0.44167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45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0.00533 L 2.77778E-6 -0.46204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45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1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1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08" grpId="0" animBg="1"/>
      <p:bldP spid="45109" grpId="0" animBg="1"/>
      <p:bldP spid="45110" grpId="0" animBg="1"/>
      <p:bldP spid="45111" grpId="0" animBg="1"/>
      <p:bldP spid="45113" grpId="0" animBg="1"/>
      <p:bldP spid="45115" grpId="0" animBg="1"/>
      <p:bldP spid="45117" grpId="0" animBg="1"/>
      <p:bldP spid="45118" grpId="0" animBg="1"/>
      <p:bldP spid="45120" grpId="0" animBg="1"/>
      <p:bldP spid="45123" grpId="0" animBg="1"/>
      <p:bldP spid="45123" grpId="1" animBg="1"/>
      <p:bldP spid="45124" grpId="0" animBg="1"/>
      <p:bldP spid="45124" grpId="1" animBg="1"/>
      <p:bldP spid="45128" grpId="0" animBg="1"/>
      <p:bldP spid="32" grpId="0"/>
      <p:bldP spid="2" grpId="0"/>
      <p:bldP spid="3" grpId="0"/>
      <p:bldP spid="4" grpId="0"/>
      <p:bldP spid="5" grpId="0"/>
      <p:bldP spid="6" grpId="0"/>
      <p:bldP spid="41" grpId="0"/>
      <p:bldP spid="42" grpId="0"/>
      <p:bldP spid="43" grpId="0"/>
      <p:bldP spid="45" grpId="0"/>
      <p:bldP spid="46" grpId="0" animBg="1"/>
      <p:bldP spid="47" grpId="0" animBg="1"/>
      <p:bldP spid="48" grpId="0" animBg="1"/>
      <p:bldP spid="48" grpId="1" animBg="1"/>
      <p:bldP spid="7" grpId="0"/>
      <p:bldP spid="8" grpId="0" animBg="1"/>
      <p:bldP spid="51" grpId="0" animBg="1"/>
      <p:bldP spid="49" grpId="0" animBg="1"/>
      <p:bldP spid="52" grpId="0" animBg="1"/>
      <p:bldP spid="5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31850" y="1149351"/>
            <a:ext cx="10598150" cy="4667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1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个数扫描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轮实现了最终目标。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2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、每一轮需要比较的次数和轮数之间的关系为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5-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轮数 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3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、每一轮的开始，都是从数组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下标为轮数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开始比较。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4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、每一轮结束后，将比较出的最小（或最大）的数放在这一轮的第一个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数组变量中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182ED84-E635-4D66-944B-AC6DE43C84D7}"/>
              </a:ext>
            </a:extLst>
          </p:cNvPr>
          <p:cNvGrpSpPr/>
          <p:nvPr/>
        </p:nvGrpSpPr>
        <p:grpSpPr>
          <a:xfrm>
            <a:off x="0" y="144966"/>
            <a:ext cx="3009900" cy="799577"/>
            <a:chOff x="0" y="175102"/>
            <a:chExt cx="6411951" cy="769441"/>
          </a:xfrm>
        </p:grpSpPr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1D17BE95-973B-48BB-8934-D0423E7633EC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578F88E-B8B6-4A52-B104-AE7AE97CFC34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选择排序总结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180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2232026" y="44451"/>
            <a:ext cx="8569325" cy="629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void main( )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i,j,k,temp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a[5]={5, 3,7,6,2};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for(i=0;i&lt;4;i++)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 k=i;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 for(j=i+1;j&lt;      ;j++)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    {  if(a[k]&gt;a[j])  k=j; }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 temp=a[i];a[i]=a[k];a[k]=temp;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for(i=0;i&lt;5;i++) </a:t>
            </a:r>
          </a:p>
          <a:p>
            <a:pPr algn="l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(“%3d”,a[i]);  </a:t>
            </a:r>
          </a:p>
        </p:txBody>
      </p:sp>
      <p:sp>
        <p:nvSpPr>
          <p:cNvPr id="46084" name="AutoShape 5"/>
          <p:cNvSpPr>
            <a:spLocks noChangeArrowheads="1"/>
          </p:cNvSpPr>
          <p:nvPr/>
        </p:nvSpPr>
        <p:spPr bwMode="auto">
          <a:xfrm>
            <a:off x="7921625" y="200025"/>
            <a:ext cx="3132138" cy="1068388"/>
          </a:xfrm>
          <a:prstGeom prst="wedgeRoundRectCallout">
            <a:avLst>
              <a:gd name="adj1" fmla="val -170310"/>
              <a:gd name="adj2" fmla="val 198662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b="1">
                <a:latin typeface="方正姚体" pitchFamily="2" charset="-122"/>
                <a:ea typeface="方正姚体" pitchFamily="2" charset="-122"/>
              </a:rPr>
              <a:t>假设当前轮未排序的第一个数是最小数</a:t>
            </a:r>
          </a:p>
        </p:txBody>
      </p:sp>
      <p:sp>
        <p:nvSpPr>
          <p:cNvPr id="46085" name="AutoShape 6"/>
          <p:cNvSpPr>
            <a:spLocks noChangeArrowheads="1"/>
          </p:cNvSpPr>
          <p:nvPr/>
        </p:nvSpPr>
        <p:spPr bwMode="auto">
          <a:xfrm>
            <a:off x="7993063" y="2952751"/>
            <a:ext cx="3097212" cy="1268413"/>
          </a:xfrm>
          <a:prstGeom prst="wedgeRoundRectCallout">
            <a:avLst>
              <a:gd name="adj1" fmla="val -79912"/>
              <a:gd name="adj2" fmla="val 13898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b="1">
                <a:latin typeface="方正姚体" pitchFamily="2" charset="-122"/>
                <a:ea typeface="方正姚体" pitchFamily="2" charset="-122"/>
              </a:rPr>
              <a:t>比较过程中，不断更新</a:t>
            </a:r>
            <a:r>
              <a:rPr lang="en-US" altLang="zh-CN" sz="2400" b="1">
                <a:latin typeface="方正姚体" pitchFamily="2" charset="-122"/>
                <a:ea typeface="方正姚体" pitchFamily="2" charset="-122"/>
              </a:rPr>
              <a:t>k</a:t>
            </a:r>
            <a:r>
              <a:rPr lang="zh-CN" altLang="en-US" sz="2400" b="1">
                <a:latin typeface="方正姚体" pitchFamily="2" charset="-122"/>
                <a:ea typeface="方正姚体" pitchFamily="2" charset="-122"/>
              </a:rPr>
              <a:t>，使得</a:t>
            </a:r>
            <a:r>
              <a:rPr lang="en-US" altLang="zh-CN" sz="2400" b="1">
                <a:latin typeface="方正姚体" pitchFamily="2" charset="-122"/>
                <a:ea typeface="方正姚体" pitchFamily="2" charset="-122"/>
              </a:rPr>
              <a:t>k</a:t>
            </a:r>
            <a:r>
              <a:rPr lang="zh-CN" altLang="en-US" sz="2400" b="1">
                <a:latin typeface="方正姚体" pitchFamily="2" charset="-122"/>
                <a:ea typeface="方正姚体" pitchFamily="2" charset="-122"/>
              </a:rPr>
              <a:t>永远保持是最小数的下标</a:t>
            </a:r>
          </a:p>
        </p:txBody>
      </p:sp>
      <p:sp>
        <p:nvSpPr>
          <p:cNvPr id="46087" name="Line 8"/>
          <p:cNvSpPr>
            <a:spLocks noChangeShapeType="1"/>
          </p:cNvSpPr>
          <p:nvPr/>
        </p:nvSpPr>
        <p:spPr bwMode="auto">
          <a:xfrm>
            <a:off x="4176713" y="4221163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8" name="AutoShape 6"/>
          <p:cNvSpPr>
            <a:spLocks noChangeArrowheads="1"/>
          </p:cNvSpPr>
          <p:nvPr/>
        </p:nvSpPr>
        <p:spPr bwMode="auto">
          <a:xfrm>
            <a:off x="7105650" y="4865689"/>
            <a:ext cx="3600450" cy="1476375"/>
          </a:xfrm>
          <a:prstGeom prst="wedgeRoundRectCallout">
            <a:avLst>
              <a:gd name="adj1" fmla="val -123704"/>
              <a:gd name="adj2" fmla="val -243921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l"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int a[5];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for(i=0;i&lt;5;i++)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scanf(“%d”,&amp;a[i]);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94014" y="2565400"/>
            <a:ext cx="346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zh-CN" altLang="en-US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038476" y="4572000"/>
            <a:ext cx="3460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376489" y="1049338"/>
            <a:ext cx="346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449514" y="6132513"/>
            <a:ext cx="44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313114" y="3141663"/>
            <a:ext cx="6111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5761038" y="44450"/>
            <a:ext cx="1871662" cy="1016000"/>
          </a:xfrm>
          <a:prstGeom prst="wedgeRoundRectCallout">
            <a:avLst>
              <a:gd name="adj1" fmla="val -117940"/>
              <a:gd name="adj2" fmla="val 153889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400" b="1"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400" b="1">
                <a:latin typeface="方正姚体" pitchFamily="2" charset="-122"/>
                <a:ea typeface="方正姚体" pitchFamily="2" charset="-122"/>
              </a:rPr>
              <a:t>个数需要扫描几轮？</a:t>
            </a:r>
          </a:p>
        </p:txBody>
      </p:sp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7693025" y="1773239"/>
            <a:ext cx="2903538" cy="1050925"/>
          </a:xfrm>
          <a:prstGeom prst="wedgeRoundRectCallout">
            <a:avLst>
              <a:gd name="adj1" fmla="val -156278"/>
              <a:gd name="adj2" fmla="val 94319"/>
              <a:gd name="adj3" fmla="val 16667"/>
            </a:avLst>
          </a:prstGeom>
          <a:solidFill>
            <a:srgbClr val="FFFF00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每一轮都是从数组第</a:t>
            </a:r>
            <a:endParaRPr lang="en-US" altLang="zh-CN" sz="24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几个元素开始比较？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473700" y="3132138"/>
            <a:ext cx="388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/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7281863" y="2989263"/>
            <a:ext cx="1574800" cy="1016000"/>
          </a:xfrm>
          <a:prstGeom prst="wedgeRoundRectCallout">
            <a:avLst>
              <a:gd name="adj1" fmla="val -146954"/>
              <a:gd name="adj2" fmla="val -11111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b="1">
                <a:latin typeface="方正姚体" pitchFamily="2" charset="-122"/>
                <a:ea typeface="方正姚体" pitchFamily="2" charset="-122"/>
              </a:rPr>
              <a:t>每轮比较的次数？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54DD92C-36A8-4DD7-AEE8-E5D6CAD9E91E}"/>
              </a:ext>
            </a:extLst>
          </p:cNvPr>
          <p:cNvGrpSpPr/>
          <p:nvPr/>
        </p:nvGrpSpPr>
        <p:grpSpPr>
          <a:xfrm>
            <a:off x="0" y="144966"/>
            <a:ext cx="2174488" cy="799577"/>
            <a:chOff x="0" y="175102"/>
            <a:chExt cx="6411951" cy="769441"/>
          </a:xfrm>
        </p:grpSpPr>
        <p:sp>
          <p:nvSpPr>
            <p:cNvPr id="20" name="矩形: 剪去单角 19">
              <a:extLst>
                <a:ext uri="{FF2B5EF4-FFF2-40B4-BE49-F238E27FC236}">
                  <a16:creationId xmlns:a16="http://schemas.microsoft.com/office/drawing/2014/main" id="{E8129BB2-E8B2-4E3D-844C-83F416049C42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AA1D93E-092B-4483-9EF3-6C1475768643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代码实现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1344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nimBg="1"/>
      <p:bldP spid="46084" grpId="1" animBg="1"/>
      <p:bldP spid="46085" grpId="0" animBg="1" autoUpdateAnimBg="0"/>
      <p:bldP spid="46085" grpId="1" animBg="1"/>
      <p:bldP spid="46087" grpId="0" animBg="1"/>
      <p:bldP spid="46088" grpId="0" animBg="1" autoUpdateAnimBg="0"/>
      <p:bldP spid="46088" grpId="1" animBg="1"/>
      <p:bldP spid="2" grpId="0"/>
      <p:bldP spid="3" grpId="0"/>
      <p:bldP spid="4" grpId="0"/>
      <p:bldP spid="5" grpId="0"/>
      <p:bldP spid="11" grpId="0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6" grpId="0"/>
      <p:bldP spid="15" grpId="0" animBg="1"/>
      <p:bldP spid="15" grpId="1" animBg="1"/>
      <p:bldP spid="15" grpId="2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352551" y="1539876"/>
            <a:ext cx="8794749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具体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个元素，排序进行</a:t>
            </a:r>
            <a:r>
              <a:rPr lang="en-US" altLang="zh-CN" sz="36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     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dist">
              <a:lnSpc>
                <a:spcPct val="20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每趟比较</a:t>
            </a:r>
            <a:r>
              <a:rPr lang="en-US" altLang="zh-CN" sz="36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        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次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</a:t>
            </a:r>
            <a:endParaRPr lang="zh-CN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dist">
              <a:lnSpc>
                <a:spcPct val="200000"/>
              </a:lnSpc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抽象：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n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个元素，排序进行</a:t>
            </a:r>
            <a:r>
              <a:rPr lang="en-US" altLang="zh-CN" sz="36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         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轮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dist">
              <a:lnSpc>
                <a:spcPct val="20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每趟比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较</a:t>
            </a:r>
            <a:r>
              <a:rPr lang="en-US" altLang="zh-CN" sz="36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          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次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zh-CN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443788" y="4057650"/>
            <a:ext cx="13056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n-1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66089" y="2886353"/>
            <a:ext cx="25139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轮数 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005762" y="1841501"/>
            <a:ext cx="554038" cy="64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762324" y="5091607"/>
            <a:ext cx="28390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 – </a:t>
            </a:r>
            <a:r>
              <a:rPr lang="zh-CN" altLang="en-US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轮数</a:t>
            </a:r>
            <a:endParaRPr lang="en-US" altLang="zh-CN" sz="3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8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问题拓展</a:t>
              </a:r>
              <a:endPara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8003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144839" y="115888"/>
            <a:ext cx="89201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使用数组，编写程序完成从键盘顺序输入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个整数，交换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a[29]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a[1]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a[28]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等，然后将它们输出的功能。 </a:t>
            </a: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1606550" y="2911475"/>
            <a:ext cx="94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a[0]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2460625" y="2919413"/>
            <a:ext cx="94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a[1]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7942263" y="2846388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a[28]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9009063" y="2840038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a[29]</a:t>
            </a:r>
          </a:p>
        </p:txBody>
      </p: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2830513" y="3546475"/>
            <a:ext cx="5832475" cy="374650"/>
            <a:chOff x="0" y="0"/>
            <a:chExt cx="3674" cy="236"/>
          </a:xfrm>
        </p:grpSpPr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0" y="9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0" y="218"/>
              <a:ext cx="367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" name="Line 16"/>
            <p:cNvSpPr>
              <a:spLocks noChangeShapeType="1"/>
            </p:cNvSpPr>
            <p:nvPr/>
          </p:nvSpPr>
          <p:spPr bwMode="auto">
            <a:xfrm flipV="1">
              <a:off x="3665" y="0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1" name="Group 20"/>
          <p:cNvGrpSpPr>
            <a:grpSpLocks/>
          </p:cNvGrpSpPr>
          <p:nvPr/>
        </p:nvGrpSpPr>
        <p:grpSpPr bwMode="auto">
          <a:xfrm>
            <a:off x="2038350" y="3560763"/>
            <a:ext cx="7416800" cy="863600"/>
            <a:chOff x="0" y="0"/>
            <a:chExt cx="4672" cy="544"/>
          </a:xfrm>
        </p:grpSpPr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0" y="0"/>
              <a:ext cx="0" cy="54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0" y="526"/>
              <a:ext cx="467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 flipV="1">
              <a:off x="4672" y="36"/>
              <a:ext cx="0" cy="49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3549650" y="2984500"/>
            <a:ext cx="4321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dist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en-US" sz="2000"/>
              <a:t>………………</a:t>
            </a:r>
            <a:endParaRPr lang="en-US" altLang="zh-CN" sz="2000"/>
          </a:p>
        </p:txBody>
      </p:sp>
      <p:sp>
        <p:nvSpPr>
          <p:cNvPr id="16" name="Rectangle 22"/>
          <p:cNvSpPr>
            <a:spLocks noChangeArrowheads="1"/>
          </p:cNvSpPr>
          <p:nvPr/>
        </p:nvSpPr>
        <p:spPr bwMode="auto">
          <a:xfrm>
            <a:off x="1893888" y="4476750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0</a:t>
            </a:r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824163" y="44767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29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2325688" y="4441825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+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3478213" y="4476750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=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3903663" y="44767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29</a:t>
            </a:r>
          </a:p>
        </p:txBody>
      </p:sp>
      <p:sp>
        <p:nvSpPr>
          <p:cNvPr id="21" name="Rectangle 27"/>
          <p:cNvSpPr>
            <a:spLocks noChangeArrowheads="1"/>
          </p:cNvSpPr>
          <p:nvPr/>
        </p:nvSpPr>
        <p:spPr bwMode="auto">
          <a:xfrm>
            <a:off x="4486275" y="4476750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=</a:t>
            </a:r>
          </a:p>
        </p:txBody>
      </p:sp>
      <p:sp>
        <p:nvSpPr>
          <p:cNvPr id="22" name="Rectangle 28"/>
          <p:cNvSpPr>
            <a:spLocks noChangeArrowheads="1"/>
          </p:cNvSpPr>
          <p:nvPr/>
        </p:nvSpPr>
        <p:spPr bwMode="auto">
          <a:xfrm>
            <a:off x="4949825" y="4476750"/>
            <a:ext cx="1250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30 - 1</a:t>
            </a:r>
          </a:p>
        </p:txBody>
      </p:sp>
      <p:sp>
        <p:nvSpPr>
          <p:cNvPr id="23" name="Rectangle 29"/>
          <p:cNvSpPr>
            <a:spLocks noChangeArrowheads="1"/>
          </p:cNvSpPr>
          <p:nvPr/>
        </p:nvSpPr>
        <p:spPr bwMode="auto">
          <a:xfrm>
            <a:off x="1893888" y="5124450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1</a:t>
            </a:r>
          </a:p>
        </p:txBody>
      </p:sp>
      <p:sp>
        <p:nvSpPr>
          <p:cNvPr id="24" name="Rectangle 30"/>
          <p:cNvSpPr>
            <a:spLocks noChangeArrowheads="1"/>
          </p:cNvSpPr>
          <p:nvPr/>
        </p:nvSpPr>
        <p:spPr bwMode="auto">
          <a:xfrm>
            <a:off x="2824163" y="51244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28</a:t>
            </a:r>
          </a:p>
        </p:txBody>
      </p:sp>
      <p:sp>
        <p:nvSpPr>
          <p:cNvPr id="25" name="Rectangle 31"/>
          <p:cNvSpPr>
            <a:spLocks noChangeArrowheads="1"/>
          </p:cNvSpPr>
          <p:nvPr/>
        </p:nvSpPr>
        <p:spPr bwMode="auto">
          <a:xfrm>
            <a:off x="2325688" y="5089525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+</a:t>
            </a:r>
          </a:p>
        </p:txBody>
      </p:sp>
      <p:sp>
        <p:nvSpPr>
          <p:cNvPr id="26" name="Rectangle 32"/>
          <p:cNvSpPr>
            <a:spLocks noChangeArrowheads="1"/>
          </p:cNvSpPr>
          <p:nvPr/>
        </p:nvSpPr>
        <p:spPr bwMode="auto">
          <a:xfrm>
            <a:off x="3478213" y="5124450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=</a:t>
            </a:r>
          </a:p>
        </p:txBody>
      </p:sp>
      <p:sp>
        <p:nvSpPr>
          <p:cNvPr id="27" name="Rectangle 33"/>
          <p:cNvSpPr>
            <a:spLocks noChangeArrowheads="1"/>
          </p:cNvSpPr>
          <p:nvPr/>
        </p:nvSpPr>
        <p:spPr bwMode="auto">
          <a:xfrm>
            <a:off x="3903663" y="51244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29</a:t>
            </a:r>
          </a:p>
        </p:txBody>
      </p:sp>
      <p:sp>
        <p:nvSpPr>
          <p:cNvPr id="28" name="Rectangle 34"/>
          <p:cNvSpPr>
            <a:spLocks noChangeArrowheads="1"/>
          </p:cNvSpPr>
          <p:nvPr/>
        </p:nvSpPr>
        <p:spPr bwMode="auto">
          <a:xfrm>
            <a:off x="4486275" y="5124450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=</a:t>
            </a:r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4949825" y="5124450"/>
            <a:ext cx="1250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30 - 1</a:t>
            </a:r>
          </a:p>
        </p:txBody>
      </p:sp>
      <p:sp>
        <p:nvSpPr>
          <p:cNvPr id="30" name="Rectangle 36"/>
          <p:cNvSpPr>
            <a:spLocks noChangeArrowheads="1"/>
          </p:cNvSpPr>
          <p:nvPr/>
        </p:nvSpPr>
        <p:spPr bwMode="auto">
          <a:xfrm>
            <a:off x="1893888" y="6132513"/>
            <a:ext cx="311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i</a:t>
            </a:r>
          </a:p>
        </p:txBody>
      </p:sp>
      <p:sp>
        <p:nvSpPr>
          <p:cNvPr id="31" name="Rectangle 37"/>
          <p:cNvSpPr>
            <a:spLocks noChangeArrowheads="1"/>
          </p:cNvSpPr>
          <p:nvPr/>
        </p:nvSpPr>
        <p:spPr bwMode="auto">
          <a:xfrm>
            <a:off x="3209925" y="6132513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?</a:t>
            </a:r>
          </a:p>
        </p:txBody>
      </p:sp>
      <p:sp>
        <p:nvSpPr>
          <p:cNvPr id="32" name="Rectangle 38"/>
          <p:cNvSpPr>
            <a:spLocks noChangeArrowheads="1"/>
          </p:cNvSpPr>
          <p:nvPr/>
        </p:nvSpPr>
        <p:spPr bwMode="auto">
          <a:xfrm>
            <a:off x="2325688" y="6097588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+</a:t>
            </a:r>
          </a:p>
        </p:txBody>
      </p:sp>
      <p:sp>
        <p:nvSpPr>
          <p:cNvPr id="33" name="Rectangle 39"/>
          <p:cNvSpPr>
            <a:spLocks noChangeArrowheads="1"/>
          </p:cNvSpPr>
          <p:nvPr/>
        </p:nvSpPr>
        <p:spPr bwMode="auto">
          <a:xfrm>
            <a:off x="4027488" y="6132513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=</a:t>
            </a:r>
          </a:p>
        </p:txBody>
      </p:sp>
      <p:sp>
        <p:nvSpPr>
          <p:cNvPr id="34" name="Rectangle 40"/>
          <p:cNvSpPr>
            <a:spLocks noChangeArrowheads="1"/>
          </p:cNvSpPr>
          <p:nvPr/>
        </p:nvSpPr>
        <p:spPr bwMode="auto">
          <a:xfrm>
            <a:off x="4452938" y="613251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29</a:t>
            </a:r>
          </a:p>
        </p:txBody>
      </p:sp>
      <p:sp>
        <p:nvSpPr>
          <p:cNvPr id="35" name="Rectangle 41"/>
          <p:cNvSpPr>
            <a:spLocks noChangeArrowheads="1"/>
          </p:cNvSpPr>
          <p:nvPr/>
        </p:nvSpPr>
        <p:spPr bwMode="auto">
          <a:xfrm>
            <a:off x="5035550" y="6132513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=</a:t>
            </a:r>
          </a:p>
        </p:txBody>
      </p:sp>
      <p:sp>
        <p:nvSpPr>
          <p:cNvPr id="36" name="Rectangle 42"/>
          <p:cNvSpPr>
            <a:spLocks noChangeArrowheads="1"/>
          </p:cNvSpPr>
          <p:nvPr/>
        </p:nvSpPr>
        <p:spPr bwMode="auto">
          <a:xfrm>
            <a:off x="5540375" y="6132513"/>
            <a:ext cx="1250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30 - 1</a:t>
            </a:r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1952625" y="5864225"/>
            <a:ext cx="7334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dist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en-US"/>
              <a:t>…</a:t>
            </a:r>
            <a:endParaRPr lang="en-US" altLang="zh-CN"/>
          </a:p>
        </p:txBody>
      </p:sp>
      <p:sp>
        <p:nvSpPr>
          <p:cNvPr id="38" name="Rectangle 46"/>
          <p:cNvSpPr>
            <a:spLocks noChangeArrowheads="1"/>
          </p:cNvSpPr>
          <p:nvPr/>
        </p:nvSpPr>
        <p:spPr bwMode="auto">
          <a:xfrm>
            <a:off x="2759075" y="6132513"/>
            <a:ext cx="1149350" cy="6413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/>
              <a:t>29 - i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40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交换案例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957263" y="173423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分析： </a:t>
            </a:r>
            <a:r>
              <a:rPr lang="en-GB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、交换的元素之间的关系</a:t>
            </a:r>
          </a:p>
          <a:p>
            <a:r>
              <a:rPr lang="en-GB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2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、交换的次数</a:t>
            </a:r>
          </a:p>
        </p:txBody>
      </p:sp>
    </p:spTree>
    <p:extLst>
      <p:ext uri="{BB962C8B-B14F-4D97-AF65-F5344CB8AC3E}">
        <p14:creationId xmlns:p14="http://schemas.microsoft.com/office/powerpoint/2010/main" val="271757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2940050" y="506413"/>
            <a:ext cx="80645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GB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、交换的次数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假设有数组 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a[6]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；那么交换的次数是：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2051050" y="2903538"/>
            <a:ext cx="1040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>
                <a:ea typeface="微软雅黑" panose="020B0503020204020204" pitchFamily="34" charset="-122"/>
                <a:cs typeface="Times New Roman" panose="02020603050405020304" pitchFamily="18" charset="0"/>
              </a:rPr>
              <a:t>a[0]</a:t>
            </a:r>
          </a:p>
        </p:txBody>
      </p:sp>
      <p:sp>
        <p:nvSpPr>
          <p:cNvPr id="4" name="Rectangle 37"/>
          <p:cNvSpPr>
            <a:spLocks noChangeArrowheads="1"/>
          </p:cNvSpPr>
          <p:nvPr/>
        </p:nvSpPr>
        <p:spPr bwMode="auto">
          <a:xfrm>
            <a:off x="3173413" y="2903538"/>
            <a:ext cx="1040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>
                <a:ea typeface="微软雅黑" panose="020B0503020204020204" pitchFamily="34" charset="-122"/>
                <a:cs typeface="Times New Roman" panose="02020603050405020304" pitchFamily="18" charset="0"/>
              </a:rPr>
              <a:t>a[1]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549900" y="2903538"/>
            <a:ext cx="1040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>
                <a:ea typeface="微软雅黑" panose="020B0503020204020204" pitchFamily="34" charset="-122"/>
                <a:cs typeface="Times New Roman" panose="02020603050405020304" pitchFamily="18" charset="0"/>
              </a:rPr>
              <a:t>a[3]</a:t>
            </a:r>
          </a:p>
        </p:txBody>
      </p:sp>
      <p:sp>
        <p:nvSpPr>
          <p:cNvPr id="6" name="Rectangle 39"/>
          <p:cNvSpPr>
            <a:spLocks noChangeArrowheads="1"/>
          </p:cNvSpPr>
          <p:nvPr/>
        </p:nvSpPr>
        <p:spPr bwMode="auto">
          <a:xfrm>
            <a:off x="6700838" y="2903538"/>
            <a:ext cx="1040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>
                <a:ea typeface="微软雅黑" panose="020B0503020204020204" pitchFamily="34" charset="-122"/>
                <a:cs typeface="Times New Roman" panose="02020603050405020304" pitchFamily="18" charset="0"/>
              </a:rPr>
              <a:t>a[4]</a:t>
            </a:r>
          </a:p>
        </p:txBody>
      </p:sp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4356100" y="2903538"/>
            <a:ext cx="1040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>
                <a:ea typeface="微软雅黑" panose="020B0503020204020204" pitchFamily="34" charset="-122"/>
                <a:cs typeface="Times New Roman" panose="02020603050405020304" pitchFamily="18" charset="0"/>
              </a:rPr>
              <a:t>a[2]</a:t>
            </a:r>
          </a:p>
        </p:txBody>
      </p:sp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7997825" y="2903538"/>
            <a:ext cx="1040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4000">
                <a:ea typeface="微软雅黑" panose="020B0503020204020204" pitchFamily="34" charset="-122"/>
                <a:cs typeface="Times New Roman" panose="02020603050405020304" pitchFamily="18" charset="0"/>
              </a:rPr>
              <a:t>a[5]</a:t>
            </a:r>
          </a:p>
        </p:txBody>
      </p: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2698750" y="3581400"/>
            <a:ext cx="5832475" cy="1008063"/>
            <a:chOff x="0" y="0"/>
            <a:chExt cx="3674" cy="236"/>
          </a:xfrm>
        </p:grpSpPr>
        <p:sp>
          <p:nvSpPr>
            <p:cNvPr id="10" name="Line 44"/>
            <p:cNvSpPr>
              <a:spLocks noChangeShapeType="1"/>
            </p:cNvSpPr>
            <p:nvPr/>
          </p:nvSpPr>
          <p:spPr bwMode="auto">
            <a:xfrm>
              <a:off x="0" y="9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45"/>
            <p:cNvSpPr>
              <a:spLocks noChangeShapeType="1"/>
            </p:cNvSpPr>
            <p:nvPr/>
          </p:nvSpPr>
          <p:spPr bwMode="auto">
            <a:xfrm>
              <a:off x="0" y="218"/>
              <a:ext cx="367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46"/>
            <p:cNvSpPr>
              <a:spLocks noChangeShapeType="1"/>
            </p:cNvSpPr>
            <p:nvPr/>
          </p:nvSpPr>
          <p:spPr bwMode="auto">
            <a:xfrm flipV="1">
              <a:off x="3665" y="0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3706813" y="3581400"/>
            <a:ext cx="3600450" cy="720725"/>
            <a:chOff x="0" y="0"/>
            <a:chExt cx="3674" cy="236"/>
          </a:xfrm>
        </p:grpSpPr>
        <p:sp>
          <p:nvSpPr>
            <p:cNvPr id="14" name="Line 48"/>
            <p:cNvSpPr>
              <a:spLocks noChangeShapeType="1"/>
            </p:cNvSpPr>
            <p:nvPr/>
          </p:nvSpPr>
          <p:spPr bwMode="auto">
            <a:xfrm>
              <a:off x="0" y="9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49"/>
            <p:cNvSpPr>
              <a:spLocks noChangeShapeType="1"/>
            </p:cNvSpPr>
            <p:nvPr/>
          </p:nvSpPr>
          <p:spPr bwMode="auto">
            <a:xfrm>
              <a:off x="0" y="218"/>
              <a:ext cx="367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50"/>
            <p:cNvSpPr>
              <a:spLocks noChangeShapeType="1"/>
            </p:cNvSpPr>
            <p:nvPr/>
          </p:nvSpPr>
          <p:spPr bwMode="auto">
            <a:xfrm flipV="1">
              <a:off x="3665" y="0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51"/>
          <p:cNvGrpSpPr>
            <a:grpSpLocks/>
          </p:cNvGrpSpPr>
          <p:nvPr/>
        </p:nvGrpSpPr>
        <p:grpSpPr bwMode="auto">
          <a:xfrm>
            <a:off x="4932363" y="3581400"/>
            <a:ext cx="1223962" cy="374650"/>
            <a:chOff x="0" y="0"/>
            <a:chExt cx="3674" cy="236"/>
          </a:xfrm>
        </p:grpSpPr>
        <p:sp>
          <p:nvSpPr>
            <p:cNvPr id="18" name="Line 52"/>
            <p:cNvSpPr>
              <a:spLocks noChangeShapeType="1"/>
            </p:cNvSpPr>
            <p:nvPr/>
          </p:nvSpPr>
          <p:spPr bwMode="auto">
            <a:xfrm>
              <a:off x="0" y="9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53"/>
            <p:cNvSpPr>
              <a:spLocks noChangeShapeType="1"/>
            </p:cNvSpPr>
            <p:nvPr/>
          </p:nvSpPr>
          <p:spPr bwMode="auto">
            <a:xfrm>
              <a:off x="0" y="218"/>
              <a:ext cx="367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54"/>
            <p:cNvSpPr>
              <a:spLocks noChangeShapeType="1"/>
            </p:cNvSpPr>
            <p:nvPr/>
          </p:nvSpPr>
          <p:spPr bwMode="auto">
            <a:xfrm flipV="1">
              <a:off x="3665" y="0"/>
              <a:ext cx="0" cy="22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1619250" y="4545013"/>
            <a:ext cx="89217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那么，有数组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a[30]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，交换的次数是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次。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23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交换案例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75896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-6350" y="15875"/>
          <a:ext cx="915035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9" r:id="rId3" imgW="2962689" imgH="228571" progId="PBrush">
                  <p:embed/>
                </p:oleObj>
              </mc:Choice>
              <mc:Fallback>
                <p:oleObj r:id="rId3" imgW="2962689" imgH="228571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350" y="15875"/>
                        <a:ext cx="9150350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3175" y="2392363"/>
          <a:ext cx="91408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0" r:id="rId5" imgW="3142857" imgH="266737" progId="PBrush">
                  <p:embed/>
                </p:oleObj>
              </mc:Choice>
              <mc:Fallback>
                <p:oleObj r:id="rId5" imgW="3142857" imgH="266737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2392363"/>
                        <a:ext cx="91408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300"/>
            <a:ext cx="4787900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Object 24"/>
          <p:cNvGraphicFramePr>
            <a:graphicFrameLocks noChangeAspect="1"/>
          </p:cNvGraphicFramePr>
          <p:nvPr/>
        </p:nvGraphicFramePr>
        <p:xfrm>
          <a:off x="1036638" y="3557588"/>
          <a:ext cx="811371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" r:id="rId8" imgW="2800741" imgH="247685" progId="PBrush">
                  <p:embed/>
                </p:oleObj>
              </mc:Choice>
              <mc:Fallback>
                <p:oleObj r:id="rId8" imgW="2800741" imgH="247685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3557588"/>
                        <a:ext cx="811371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/>
          <p:cNvGraphicFramePr>
            <a:graphicFrameLocks noChangeAspect="1"/>
          </p:cNvGraphicFramePr>
          <p:nvPr/>
        </p:nvGraphicFramePr>
        <p:xfrm>
          <a:off x="1568450" y="4637088"/>
          <a:ext cx="75977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" r:id="rId10" imgW="2933333" imgH="209524" progId="PBrush">
                  <p:embed/>
                </p:oleObj>
              </mc:Choice>
              <mc:Fallback>
                <p:oleObj r:id="rId10" imgW="2933333" imgH="209524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4637088"/>
                        <a:ext cx="75977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6"/>
          <p:cNvGraphicFramePr>
            <a:graphicFrameLocks noChangeAspect="1"/>
          </p:cNvGraphicFramePr>
          <p:nvPr/>
        </p:nvGraphicFramePr>
        <p:xfrm>
          <a:off x="1000125" y="5545138"/>
          <a:ext cx="81375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" r:id="rId12" imgW="2314286" imgH="266737" progId="PBrush">
                  <p:embed/>
                </p:oleObj>
              </mc:Choice>
              <mc:Fallback>
                <p:oleObj r:id="rId12" imgW="2314286" imgH="266737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545138"/>
                        <a:ext cx="81375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96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3025" y="60325"/>
          <a:ext cx="9036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r:id="rId3" imgW="3123810" imgH="247685" progId="PBrush">
                  <p:embed/>
                </p:oleObj>
              </mc:Choice>
              <mc:Fallback>
                <p:oleObj r:id="rId3" imgW="3123810" imgH="247685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" y="60325"/>
                        <a:ext cx="90360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55638" y="936625"/>
          <a:ext cx="8459787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r:id="rId5" imgW="2828571" imgH="1057423" progId="PBrush">
                  <p:embed/>
                </p:oleObj>
              </mc:Choice>
              <mc:Fallback>
                <p:oleObj r:id="rId5" imgW="2828571" imgH="1057423" progId="PBrush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936625"/>
                        <a:ext cx="8459787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8750" y="3933825"/>
          <a:ext cx="8964613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r:id="rId7" imgW="2752381" imgH="257007" progId="PBrush">
                  <p:embed/>
                </p:oleObj>
              </mc:Choice>
              <mc:Fallback>
                <p:oleObj r:id="rId7" imgW="2752381" imgH="257007" progId="PBrush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3933825"/>
                        <a:ext cx="8964613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596900" y="5230813"/>
            <a:ext cx="8532813" cy="1223962"/>
            <a:chOff x="596900" y="5230813"/>
            <a:chExt cx="8532813" cy="1223962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1659923"/>
                </p:ext>
              </p:extLst>
            </p:nvPr>
          </p:nvGraphicFramePr>
          <p:xfrm>
            <a:off x="596900" y="5233988"/>
            <a:ext cx="7878763" cy="1220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3" r:id="rId9" imgW="3296110" imgH="266737" progId="PBrush">
                    <p:embed/>
                  </p:oleObj>
                </mc:Choice>
                <mc:Fallback>
                  <p:oleObj r:id="rId9" imgW="3296110" imgH="266737" progId="PBrush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900" y="5233988"/>
                          <a:ext cx="7878763" cy="1220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2290479"/>
                </p:ext>
              </p:extLst>
            </p:nvPr>
          </p:nvGraphicFramePr>
          <p:xfrm>
            <a:off x="8475663" y="5230813"/>
            <a:ext cx="654050" cy="1223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4" r:id="rId11" imgW="181096" imgH="304923" progId="PBrush">
                    <p:embed/>
                  </p:oleObj>
                </mc:Choice>
                <mc:Fallback>
                  <p:oleObj r:id="rId11" imgW="181096" imgH="304923" progId="PBrush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5663" y="5230813"/>
                          <a:ext cx="654050" cy="1223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97487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539750" y="1281113"/>
            <a:ext cx="11055350" cy="55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在递增排列的成绩数组</a:t>
            </a: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score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中插入一个新成绩</a:t>
            </a: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，使得插入该成绩后数组仍保持有序。</a:t>
            </a:r>
            <a:endParaRPr lang="en-US" altLang="zh-CN" sz="32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问题分析：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1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、判断要插入的数据应该位于数组的哪个位置</a:t>
            </a: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en-US" altLang="zh-CN" sz="32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2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、从最后一个元素开始向前直到下标为</a:t>
            </a: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的所有元素依次后移一个位置；</a:t>
            </a:r>
            <a:endParaRPr lang="en-US" altLang="zh-CN" sz="32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3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、将数据</a:t>
            </a: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插入数组中，元素个数加</a:t>
            </a:r>
            <a:r>
              <a:rPr lang="en-US" altLang="zh-CN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23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插入问题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961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539750" y="417513"/>
            <a:ext cx="11055350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4400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、判断要插入的数据应该位于数组的哪个位置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   for(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if(x&lt;score[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   break;</a:t>
            </a:r>
            <a:endParaRPr lang="zh-CN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   k=</a:t>
            </a:r>
            <a:r>
              <a:rPr lang="en-US" altLang="zh-CN" dirty="0" err="1"/>
              <a:t>i</a:t>
            </a:r>
            <a:r>
              <a:rPr lang="en-US" altLang="zh-CN" dirty="0"/>
              <a:t>;   //</a:t>
            </a:r>
            <a:r>
              <a:rPr lang="zh-CN" altLang="zh-CN" dirty="0"/>
              <a:t>记录插入位置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64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539750" y="303213"/>
            <a:ext cx="11055350" cy="6179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4400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、从最后一个元素开始向前直到下标为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的所有元素依次后移一个位置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     for(</a:t>
            </a:r>
            <a:r>
              <a:rPr lang="en-US" altLang="zh-CN" dirty="0" err="1"/>
              <a:t>i</a:t>
            </a:r>
            <a:r>
              <a:rPr lang="en-US" altLang="zh-CN" dirty="0"/>
              <a:t>=n-1;i&gt;=</a:t>
            </a:r>
            <a:r>
              <a:rPr lang="en-US" altLang="zh-CN" dirty="0" err="1"/>
              <a:t>k;i</a:t>
            </a:r>
            <a:r>
              <a:rPr lang="en-US" altLang="zh-CN" dirty="0"/>
              <a:t>--)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score[i+1]=score[</a:t>
            </a:r>
            <a:r>
              <a:rPr lang="en-US" altLang="zh-CN" dirty="0" err="1"/>
              <a:t>i</a:t>
            </a:r>
            <a:r>
              <a:rPr lang="en-US" altLang="zh-CN" dirty="0"/>
              <a:t>];//</a:t>
            </a:r>
            <a:r>
              <a:rPr lang="zh-CN" altLang="en-US" dirty="0"/>
              <a:t>位置后移</a:t>
            </a:r>
            <a:endParaRPr lang="zh-CN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sz="4400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、将数据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插入数组中，数组元素个数加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score[k]=x;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n++;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30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3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思  考</a:t>
              </a:r>
            </a:p>
          </p:txBody>
        </p:sp>
      </p:grp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539750" y="1446213"/>
            <a:ext cx="11055350" cy="533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数组如何定义？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/>
              <a:t>   #define N 20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/>
              <a:t>   void main( ){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score[N];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dirty="0"/>
              <a:t>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输入现有学生人数</a:t>
            </a:r>
            <a:r>
              <a:rPr lang="en-US" altLang="zh-CN" dirty="0"/>
              <a:t>:");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dirty="0"/>
              <a:t>       </a:t>
            </a:r>
            <a:r>
              <a:rPr lang="en-US" altLang="zh-CN" dirty="0" err="1"/>
              <a:t>scanf</a:t>
            </a:r>
            <a:r>
              <a:rPr lang="en-US" altLang="zh-CN" dirty="0"/>
              <a:t>(“%</a:t>
            </a:r>
            <a:r>
              <a:rPr lang="en-US" altLang="zh-CN" dirty="0" err="1"/>
              <a:t>d”,&amp;n</a:t>
            </a:r>
            <a:r>
              <a:rPr lang="en-US" altLang="zh-CN" dirty="0"/>
              <a:t>);  ……   }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最大可以是多少？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564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74700" y="31740"/>
            <a:ext cx="10833100" cy="6805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#define N 20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void   main(  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score[N],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x,i,n,k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输入现有学生人数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d",&amp;n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递增输入现有学生的成绩数据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d",&amp;score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输入要插入的成绩数据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d",&amp;x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22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7700" y="32941"/>
            <a:ext cx="9283700" cy="6805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if(x&lt;score[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break;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k=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//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记录插入位置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=n-1;i&gt;=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score[i+1]=score[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score[k]=x;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n++;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插入后的学生成绩数据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:\n");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  ",score[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	}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59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40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查找问题</a:t>
              </a:r>
            </a:p>
          </p:txBody>
        </p:sp>
      </p:grp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463550" y="1264893"/>
            <a:ext cx="11233150" cy="4479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已知数组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中共有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个已排序的整数（从小到大），现从键盘输入一个数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，用折半查找法找出数组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中是否有此数，如果有的话，打印出此数在数组中的位置，否则打印找不到的信息。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2690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40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查找问题</a:t>
              </a:r>
            </a:p>
          </p:txBody>
        </p:sp>
      </p:grp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463550" y="680693"/>
            <a:ext cx="11233150" cy="533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折半查找法的基本思想</a:t>
            </a:r>
            <a:endParaRPr lang="en-US" altLang="zh-CN" sz="32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        假设已有排好序的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个整数，设查找数据范围的下限为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，上限为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，求中点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＝（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/2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，用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与中点元素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a[m]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作比较，若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等于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a[m]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，即找到，停止查找；否则，若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大于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a[m]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，替换下限为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k=m+1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，到上半段继续查找；若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a[m]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，替换上限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h=m-1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，到下半段继续查找，如此重复直到找到或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k&gt;h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为止，如果</a:t>
            </a:r>
            <a:r>
              <a:rPr lang="en-US" altLang="zh-CN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k&gt;h</a:t>
            </a:r>
            <a:r>
              <a:rPr lang="zh-CN" altLang="en-US" sz="3200" dirty="0">
                <a:ea typeface="微软雅黑" panose="020B0503020204020204" pitchFamily="34" charset="-122"/>
                <a:cs typeface="Times New Roman" panose="02020603050405020304" pitchFamily="18" charset="0"/>
              </a:rPr>
              <a:t>，说明没有此数，输出没有找到的信息。</a:t>
            </a:r>
            <a:endParaRPr lang="en-US" altLang="zh-CN" sz="32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713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94B602-813A-464A-8989-3A264A5BF14E}"/>
              </a:ext>
            </a:extLst>
          </p:cNvPr>
          <p:cNvGrpSpPr/>
          <p:nvPr/>
        </p:nvGrpSpPr>
        <p:grpSpPr>
          <a:xfrm>
            <a:off x="0" y="144966"/>
            <a:ext cx="2903538" cy="1353634"/>
            <a:chOff x="0" y="175102"/>
            <a:chExt cx="6411951" cy="769441"/>
          </a:xfrm>
        </p:grpSpPr>
        <p:sp>
          <p:nvSpPr>
            <p:cNvPr id="40" name="矩形: 剪去单角 7">
              <a:extLst>
                <a:ext uri="{FF2B5EF4-FFF2-40B4-BE49-F238E27FC236}">
                  <a16:creationId xmlns:a16="http://schemas.microsoft.com/office/drawing/2014/main" id="{05CF7757-0EA8-46B3-AF80-3F53936D23F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3D2A7D6-6062-4E89-AD5E-46BBAA9ACE8C}"/>
                </a:ext>
              </a:extLst>
            </p:cNvPr>
            <p:cNvSpPr/>
            <p:nvPr/>
          </p:nvSpPr>
          <p:spPr>
            <a:xfrm>
              <a:off x="134047" y="175102"/>
              <a:ext cx="627790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查找问题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997200" y="248893"/>
            <a:ext cx="8763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 main( 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k,h,m,i,x,a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=0;i&lt;=5;i++)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d”,&amp;a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 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d”,&amp;x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k=0;h=5;   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while(k&lt;=h)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  m=(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k+h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)/2;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if(x==a[m]) break;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 if(x&gt;a[m])  k=m+1;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else h=m-1;  }   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if(k&lt;=h)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(“\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n%d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found. Position:%d\n”,x,m+1);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else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is not found.\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n”,x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}   </a:t>
            </a:r>
          </a:p>
        </p:txBody>
      </p:sp>
    </p:spTree>
    <p:extLst>
      <p:ext uri="{BB962C8B-B14F-4D97-AF65-F5344CB8AC3E}">
        <p14:creationId xmlns:p14="http://schemas.microsoft.com/office/powerpoint/2010/main" val="1568741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25160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1147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32768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4478863" y="2685999"/>
            <a:ext cx="3090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spc="800" dirty="0">
                <a:latin typeface="微软雅黑" panose="020B0503020204020204" charset="-122"/>
                <a:ea typeface="微软雅黑" panose="020B0503020204020204" charset="-122"/>
              </a:rPr>
              <a:t>二维数组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4478696" y="3429000"/>
            <a:ext cx="378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TWO-DIMENSIONAL ARRAY</a:t>
            </a:r>
          </a:p>
        </p:txBody>
      </p:sp>
      <p:sp>
        <p:nvSpPr>
          <p:cNvPr id="19" name="TextBox 13"/>
          <p:cNvSpPr txBox="1"/>
          <p:nvPr/>
        </p:nvSpPr>
        <p:spPr>
          <a:xfrm>
            <a:off x="1359511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04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10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5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8" grpId="0"/>
      <p:bldP spid="1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ChangeArrowheads="1"/>
          </p:cNvSpPr>
          <p:nvPr/>
        </p:nvSpPr>
        <p:spPr bwMode="auto">
          <a:xfrm>
            <a:off x="1130300" y="1282699"/>
            <a:ext cx="10160000" cy="49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 数组名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常量表达式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常量表达式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  <a:p>
            <a:pPr lvl="2" eaLnBrk="0" hangingPunct="0">
              <a:buClr>
                <a:schemeClr val="tx1"/>
              </a:buClr>
              <a:buFont typeface="Wingdings" pitchFamily="2" charset="2"/>
              <a:buNone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6771" name="AutoShape 3"/>
          <p:cNvSpPr>
            <a:spLocks noChangeArrowheads="1"/>
          </p:cNvSpPr>
          <p:nvPr/>
        </p:nvSpPr>
        <p:spPr bwMode="auto">
          <a:xfrm>
            <a:off x="7631321" y="2378570"/>
            <a:ext cx="1765472" cy="717174"/>
          </a:xfrm>
          <a:prstGeom prst="wedgeEllipseCallout">
            <a:avLst>
              <a:gd name="adj1" fmla="val -59199"/>
              <a:gd name="adj2" fmla="val -123589"/>
            </a:avLst>
          </a:prstGeom>
          <a:solidFill>
            <a:srgbClr val="FFFFFF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75000"/>
              </a:lnSpc>
            </a:pPr>
            <a:r>
              <a:rPr lang="zh-CN" altLang="en-US" sz="3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行数</a:t>
            </a:r>
          </a:p>
        </p:txBody>
      </p:sp>
      <p:sp>
        <p:nvSpPr>
          <p:cNvPr id="416773" name="AutoShape 5"/>
          <p:cNvSpPr>
            <a:spLocks noChangeArrowheads="1"/>
          </p:cNvSpPr>
          <p:nvPr/>
        </p:nvSpPr>
        <p:spPr bwMode="auto">
          <a:xfrm>
            <a:off x="9697682" y="2277074"/>
            <a:ext cx="1439862" cy="652255"/>
          </a:xfrm>
          <a:prstGeom prst="wedgeEllipseCallout">
            <a:avLst>
              <a:gd name="adj1" fmla="val -54079"/>
              <a:gd name="adj2" fmla="val -110528"/>
            </a:avLst>
          </a:prstGeom>
          <a:solidFill>
            <a:srgbClr val="FFFFFF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75000"/>
              </a:lnSpc>
            </a:pP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列数</a:t>
            </a:r>
          </a:p>
        </p:txBody>
      </p:sp>
      <p:sp>
        <p:nvSpPr>
          <p:cNvPr id="416775" name="Rectangle 7"/>
          <p:cNvSpPr>
            <a:spLocks noChangeArrowheads="1"/>
          </p:cNvSpPr>
          <p:nvPr/>
        </p:nvSpPr>
        <p:spPr bwMode="auto">
          <a:xfrm>
            <a:off x="3311799" y="2871219"/>
            <a:ext cx="4319521" cy="175650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a[2][3];  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 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 b[2][5];</a:t>
            </a:r>
          </a:p>
        </p:txBody>
      </p:sp>
      <p:sp>
        <p:nvSpPr>
          <p:cNvPr id="416776" name="Rectangle 8"/>
          <p:cNvSpPr>
            <a:spLocks noChangeArrowheads="1"/>
          </p:cNvSpPr>
          <p:nvPr/>
        </p:nvSpPr>
        <p:spPr bwMode="auto">
          <a:xfrm>
            <a:off x="648219" y="2103387"/>
            <a:ext cx="9882587" cy="49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0" hangingPunct="0"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存放顺序：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值按列先变化存放在一维内存中</a:t>
            </a:r>
          </a:p>
        </p:txBody>
      </p:sp>
      <p:grpSp>
        <p:nvGrpSpPr>
          <p:cNvPr id="416810" name="Group 42"/>
          <p:cNvGrpSpPr>
            <a:grpSpLocks/>
          </p:cNvGrpSpPr>
          <p:nvPr/>
        </p:nvGrpSpPr>
        <p:grpSpPr bwMode="auto">
          <a:xfrm>
            <a:off x="6615943" y="3209887"/>
            <a:ext cx="1499725" cy="3165476"/>
            <a:chOff x="3309" y="1650"/>
            <a:chExt cx="1630" cy="1994"/>
          </a:xfrm>
        </p:grpSpPr>
        <p:sp>
          <p:nvSpPr>
            <p:cNvPr id="27663" name="Rectangle 12"/>
            <p:cNvSpPr>
              <a:spLocks noChangeArrowheads="1"/>
            </p:cNvSpPr>
            <p:nvPr/>
          </p:nvSpPr>
          <p:spPr bwMode="auto">
            <a:xfrm>
              <a:off x="3322" y="1667"/>
              <a:ext cx="1608" cy="1950"/>
            </a:xfrm>
            <a:prstGeom prst="rect">
              <a:avLst/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Line 13"/>
            <p:cNvSpPr>
              <a:spLocks noChangeShapeType="1"/>
            </p:cNvSpPr>
            <p:nvPr/>
          </p:nvSpPr>
          <p:spPr bwMode="auto">
            <a:xfrm>
              <a:off x="3309" y="1998"/>
              <a:ext cx="1593" cy="0"/>
            </a:xfrm>
            <a:prstGeom prst="line">
              <a:avLst/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14"/>
            <p:cNvSpPr>
              <a:spLocks noChangeShapeType="1"/>
            </p:cNvSpPr>
            <p:nvPr/>
          </p:nvSpPr>
          <p:spPr bwMode="auto">
            <a:xfrm>
              <a:off x="3345" y="2294"/>
              <a:ext cx="1594" cy="0"/>
            </a:xfrm>
            <a:prstGeom prst="line">
              <a:avLst/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Line 15"/>
            <p:cNvSpPr>
              <a:spLocks noChangeShapeType="1"/>
            </p:cNvSpPr>
            <p:nvPr/>
          </p:nvSpPr>
          <p:spPr bwMode="auto">
            <a:xfrm>
              <a:off x="3312" y="2629"/>
              <a:ext cx="1607" cy="0"/>
            </a:xfrm>
            <a:prstGeom prst="line">
              <a:avLst/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Line 16"/>
            <p:cNvSpPr>
              <a:spLocks noChangeShapeType="1"/>
            </p:cNvSpPr>
            <p:nvPr/>
          </p:nvSpPr>
          <p:spPr bwMode="auto">
            <a:xfrm>
              <a:off x="3324" y="2966"/>
              <a:ext cx="1608" cy="0"/>
            </a:xfrm>
            <a:prstGeom prst="line">
              <a:avLst/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Line 17"/>
            <p:cNvSpPr>
              <a:spLocks noChangeShapeType="1"/>
            </p:cNvSpPr>
            <p:nvPr/>
          </p:nvSpPr>
          <p:spPr bwMode="auto">
            <a:xfrm>
              <a:off x="3321" y="3277"/>
              <a:ext cx="1608" cy="0"/>
            </a:xfrm>
            <a:prstGeom prst="line">
              <a:avLst/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9" name="Text Box 18"/>
            <p:cNvSpPr txBox="1">
              <a:spLocks noChangeArrowheads="1"/>
            </p:cNvSpPr>
            <p:nvPr/>
          </p:nvSpPr>
          <p:spPr bwMode="auto">
            <a:xfrm>
              <a:off x="3821" y="1975"/>
              <a:ext cx="201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27670" name="Text Box 19"/>
            <p:cNvSpPr txBox="1">
              <a:spLocks noChangeArrowheads="1"/>
            </p:cNvSpPr>
            <p:nvPr/>
          </p:nvSpPr>
          <p:spPr bwMode="auto">
            <a:xfrm>
              <a:off x="3821" y="2301"/>
              <a:ext cx="201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27671" name="Text Box 20"/>
            <p:cNvSpPr txBox="1">
              <a:spLocks noChangeArrowheads="1"/>
            </p:cNvSpPr>
            <p:nvPr/>
          </p:nvSpPr>
          <p:spPr bwMode="auto">
            <a:xfrm>
              <a:off x="3821" y="2626"/>
              <a:ext cx="201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27672" name="Text Box 21"/>
            <p:cNvSpPr txBox="1">
              <a:spLocks noChangeArrowheads="1"/>
            </p:cNvSpPr>
            <p:nvPr/>
          </p:nvSpPr>
          <p:spPr bwMode="auto">
            <a:xfrm>
              <a:off x="3821" y="2951"/>
              <a:ext cx="201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27673" name="Text Box 22"/>
            <p:cNvSpPr txBox="1">
              <a:spLocks noChangeArrowheads="1"/>
            </p:cNvSpPr>
            <p:nvPr/>
          </p:nvSpPr>
          <p:spPr bwMode="auto">
            <a:xfrm>
              <a:off x="3821" y="3276"/>
              <a:ext cx="201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dirty="0">
                <a:latin typeface="Times New Roman" pitchFamily="18" charset="0"/>
              </a:endParaRPr>
            </a:p>
          </p:txBody>
        </p:sp>
        <p:sp>
          <p:nvSpPr>
            <p:cNvPr id="27674" name="Text Box 30"/>
            <p:cNvSpPr txBox="1">
              <a:spLocks noChangeArrowheads="1"/>
            </p:cNvSpPr>
            <p:nvPr/>
          </p:nvSpPr>
          <p:spPr bwMode="auto">
            <a:xfrm>
              <a:off x="3821" y="1650"/>
              <a:ext cx="201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dirty="0">
                <a:latin typeface="Times New Roman" pitchFamily="18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617595" y="2679965"/>
            <a:ext cx="38191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a[3][2];</a:t>
            </a:r>
          </a:p>
        </p:txBody>
      </p:sp>
      <p:sp>
        <p:nvSpPr>
          <p:cNvPr id="3" name="矩形 2"/>
          <p:cNvSpPr/>
          <p:nvPr/>
        </p:nvSpPr>
        <p:spPr>
          <a:xfrm>
            <a:off x="8056102" y="3136653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a[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</a:rPr>
              <a:t>0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][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4" name="矩形 3"/>
          <p:cNvSpPr/>
          <p:nvPr/>
        </p:nvSpPr>
        <p:spPr>
          <a:xfrm>
            <a:off x="8056102" y="3640709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a[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</a:rPr>
              <a:t>0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][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5" name="矩形 4"/>
          <p:cNvSpPr/>
          <p:nvPr/>
        </p:nvSpPr>
        <p:spPr>
          <a:xfrm>
            <a:off x="8056102" y="4144765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a[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][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6" name="矩形 5"/>
          <p:cNvSpPr/>
          <p:nvPr/>
        </p:nvSpPr>
        <p:spPr>
          <a:xfrm>
            <a:off x="8056102" y="4648821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a[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][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7" name="矩形 6"/>
          <p:cNvSpPr/>
          <p:nvPr/>
        </p:nvSpPr>
        <p:spPr>
          <a:xfrm>
            <a:off x="8056102" y="5152877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a[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][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8" name="矩形 7"/>
          <p:cNvSpPr/>
          <p:nvPr/>
        </p:nvSpPr>
        <p:spPr>
          <a:xfrm>
            <a:off x="8056102" y="5656933"/>
            <a:ext cx="1322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a[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][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035328" y="3205086"/>
            <a:ext cx="690494" cy="3197588"/>
            <a:chOff x="5828828" y="3065386"/>
            <a:chExt cx="690494" cy="3197588"/>
          </a:xfrm>
        </p:grpSpPr>
        <p:grpSp>
          <p:nvGrpSpPr>
            <p:cNvPr id="35" name="Group 92"/>
            <p:cNvGrpSpPr>
              <a:grpSpLocks/>
            </p:cNvGrpSpPr>
            <p:nvPr/>
          </p:nvGrpSpPr>
          <p:grpSpPr bwMode="auto">
            <a:xfrm>
              <a:off x="5831934" y="3065386"/>
              <a:ext cx="687388" cy="2169668"/>
              <a:chOff x="3264" y="1831"/>
              <a:chExt cx="433" cy="1799"/>
            </a:xfrm>
          </p:grpSpPr>
          <p:sp>
            <p:nvSpPr>
              <p:cNvPr id="36" name="Rectangle 71"/>
              <p:cNvSpPr>
                <a:spLocks noChangeArrowheads="1"/>
              </p:cNvSpPr>
              <p:nvPr/>
            </p:nvSpPr>
            <p:spPr bwMode="auto">
              <a:xfrm>
                <a:off x="3264" y="1831"/>
                <a:ext cx="433" cy="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3200" dirty="0">
                    <a:latin typeface="Times New Roman" pitchFamily="18" charset="0"/>
                  </a:rPr>
                  <a:t>xx</a:t>
                </a:r>
              </a:p>
            </p:txBody>
          </p:sp>
          <p:sp>
            <p:nvSpPr>
              <p:cNvPr id="37" name="Rectangle 72"/>
              <p:cNvSpPr>
                <a:spLocks noChangeArrowheads="1"/>
              </p:cNvSpPr>
              <p:nvPr/>
            </p:nvSpPr>
            <p:spPr bwMode="auto">
              <a:xfrm>
                <a:off x="3264" y="2263"/>
                <a:ext cx="433" cy="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3200">
                    <a:latin typeface="Times New Roman" pitchFamily="18" charset="0"/>
                  </a:rPr>
                  <a:t>xx</a:t>
                </a:r>
              </a:p>
            </p:txBody>
          </p:sp>
          <p:sp>
            <p:nvSpPr>
              <p:cNvPr id="38" name="Rectangle 73"/>
              <p:cNvSpPr>
                <a:spLocks noChangeArrowheads="1"/>
              </p:cNvSpPr>
              <p:nvPr/>
            </p:nvSpPr>
            <p:spPr bwMode="auto">
              <a:xfrm>
                <a:off x="3264" y="2694"/>
                <a:ext cx="433" cy="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3200" dirty="0">
                    <a:latin typeface="Times New Roman" pitchFamily="18" charset="0"/>
                  </a:rPr>
                  <a:t>xx</a:t>
                </a:r>
              </a:p>
            </p:txBody>
          </p:sp>
          <p:sp>
            <p:nvSpPr>
              <p:cNvPr id="39" name="Rectangle 74"/>
              <p:cNvSpPr>
                <a:spLocks noChangeArrowheads="1"/>
              </p:cNvSpPr>
              <p:nvPr/>
            </p:nvSpPr>
            <p:spPr bwMode="auto">
              <a:xfrm>
                <a:off x="3264" y="3143"/>
                <a:ext cx="433" cy="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3200" dirty="0">
                    <a:latin typeface="Times New Roman" pitchFamily="18" charset="0"/>
                  </a:rPr>
                  <a:t>xx</a:t>
                </a:r>
              </a:p>
            </p:txBody>
          </p:sp>
        </p:grpSp>
        <p:sp>
          <p:nvSpPr>
            <p:cNvPr id="40" name="Rectangle 74"/>
            <p:cNvSpPr>
              <a:spLocks noChangeArrowheads="1"/>
            </p:cNvSpPr>
            <p:nvPr/>
          </p:nvSpPr>
          <p:spPr bwMode="auto">
            <a:xfrm>
              <a:off x="5828828" y="5127855"/>
              <a:ext cx="687388" cy="586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dirty="0">
                  <a:latin typeface="Times New Roman" pitchFamily="18" charset="0"/>
                </a:rPr>
                <a:t>xx</a:t>
              </a:r>
            </a:p>
          </p:txBody>
        </p:sp>
        <p:sp>
          <p:nvSpPr>
            <p:cNvPr id="41" name="Rectangle 74"/>
            <p:cNvSpPr>
              <a:spLocks noChangeArrowheads="1"/>
            </p:cNvSpPr>
            <p:nvPr/>
          </p:nvSpPr>
          <p:spPr bwMode="auto">
            <a:xfrm>
              <a:off x="5828828" y="5676017"/>
              <a:ext cx="687388" cy="586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dirty="0">
                  <a:latin typeface="Times New Roman" pitchFamily="18" charset="0"/>
                </a:rPr>
                <a:t>xx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E948B06-59D8-4C58-9659-BC63C6B8CDA2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43" name="矩形: 剪去单角 42">
              <a:extLst>
                <a:ext uri="{FF2B5EF4-FFF2-40B4-BE49-F238E27FC236}">
                  <a16:creationId xmlns:a16="http://schemas.microsoft.com/office/drawing/2014/main" id="{4C08255B-01F9-4B73-A539-0C9C61A3C66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652662C-6A58-4851-BDAF-A4EA853B92DE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二维数组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49130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41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build="p" bldLvl="3" autoUpdateAnimBg="0"/>
      <p:bldP spid="416771" grpId="0" animBg="1" autoUpdateAnimBg="0"/>
      <p:bldP spid="416773" grpId="0" animBg="1" autoUpdateAnimBg="0"/>
      <p:bldP spid="416775" grpId="0" animBg="1" autoUpdateAnimBg="0"/>
      <p:bldP spid="416776" grpId="0" autoUpdateAnimBg="0"/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2972" y="1912986"/>
            <a:ext cx="8065809" cy="3315614"/>
            <a:chOff x="4380670" y="3291189"/>
            <a:chExt cx="7489747" cy="3315614"/>
          </a:xfrm>
        </p:grpSpPr>
        <p:grpSp>
          <p:nvGrpSpPr>
            <p:cNvPr id="29744" name="Group 182"/>
            <p:cNvGrpSpPr>
              <a:grpSpLocks/>
            </p:cNvGrpSpPr>
            <p:nvPr/>
          </p:nvGrpSpPr>
          <p:grpSpPr bwMode="auto">
            <a:xfrm>
              <a:off x="4380670" y="4360263"/>
              <a:ext cx="7489747" cy="2246540"/>
              <a:chOff x="967" y="2175"/>
              <a:chExt cx="3967" cy="1039"/>
            </a:xfrm>
          </p:grpSpPr>
          <p:sp>
            <p:nvSpPr>
              <p:cNvPr id="29746" name="Rectangle 140"/>
              <p:cNvSpPr>
                <a:spLocks noChangeArrowheads="1"/>
              </p:cNvSpPr>
              <p:nvPr/>
            </p:nvSpPr>
            <p:spPr bwMode="auto">
              <a:xfrm>
                <a:off x="967" y="2175"/>
                <a:ext cx="3967" cy="102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 lIns="90000" tIns="46800" rIns="90000" bIns="4680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rgbClr val="C00000"/>
                    </a:solidFill>
                    <a:latin typeface="Times New Roman" pitchFamily="18" charset="0"/>
                  </a:rPr>
                  <a:t>    </a:t>
                </a:r>
                <a:r>
                  <a:rPr lang="zh-CN" altLang="en-US" sz="3200" b="1" dirty="0">
                    <a:solidFill>
                      <a:srgbClr val="C00000"/>
                    </a:solidFill>
                    <a:latin typeface="Times New Roman" pitchFamily="18" charset="0"/>
                  </a:rPr>
                  <a:t>例   </a:t>
                </a:r>
                <a:r>
                  <a:rPr lang="en-US" altLang="zh-CN" sz="3200" b="1" dirty="0" err="1">
                    <a:latin typeface="Times New Roman" pitchFamily="18" charset="0"/>
                  </a:rPr>
                  <a:t>int</a:t>
                </a:r>
                <a:r>
                  <a:rPr lang="en-US" altLang="zh-CN" sz="3200" b="1" dirty="0">
                    <a:latin typeface="Times New Roman" pitchFamily="18" charset="0"/>
                  </a:rPr>
                  <a:t> a[2][3]={{1,2,3},{4,5,6}};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rgbClr val="C00000"/>
                    </a:solidFill>
                    <a:latin typeface="Times New Roman" pitchFamily="18" charset="0"/>
                  </a:rPr>
                  <a:t>  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3200" b="1" dirty="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9747" name="Rectangle 141"/>
              <p:cNvSpPr>
                <a:spLocks noChangeArrowheads="1"/>
              </p:cNvSpPr>
              <p:nvPr/>
            </p:nvSpPr>
            <p:spPr bwMode="auto">
              <a:xfrm>
                <a:off x="1081" y="2584"/>
                <a:ext cx="3576" cy="344"/>
              </a:xfrm>
              <a:prstGeom prst="rect">
                <a:avLst/>
              </a:prstGeom>
              <a:noFill/>
              <a:ln w="25400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/>
                <a:endParaRPr lang="zh-CN" altLang="zh-CN" sz="3200" b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9748" name="Line 142"/>
              <p:cNvSpPr>
                <a:spLocks noChangeShapeType="1"/>
              </p:cNvSpPr>
              <p:nvPr/>
            </p:nvSpPr>
            <p:spPr bwMode="auto">
              <a:xfrm>
                <a:off x="1705" y="2589"/>
                <a:ext cx="0" cy="348"/>
              </a:xfrm>
              <a:prstGeom prst="line">
                <a:avLst/>
              </a:prstGeom>
              <a:noFill/>
              <a:ln w="28575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29749" name="Line 143"/>
              <p:cNvSpPr>
                <a:spLocks noChangeShapeType="1"/>
              </p:cNvSpPr>
              <p:nvPr/>
            </p:nvSpPr>
            <p:spPr bwMode="auto">
              <a:xfrm>
                <a:off x="2302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29750" name="Line 144"/>
              <p:cNvSpPr>
                <a:spLocks noChangeShapeType="1"/>
              </p:cNvSpPr>
              <p:nvPr/>
            </p:nvSpPr>
            <p:spPr bwMode="auto">
              <a:xfrm>
                <a:off x="2899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29751" name="Line 145"/>
              <p:cNvSpPr>
                <a:spLocks noChangeShapeType="1"/>
              </p:cNvSpPr>
              <p:nvPr/>
            </p:nvSpPr>
            <p:spPr bwMode="auto">
              <a:xfrm>
                <a:off x="3496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29752" name="Line 146"/>
              <p:cNvSpPr>
                <a:spLocks noChangeShapeType="1"/>
              </p:cNvSpPr>
              <p:nvPr/>
            </p:nvSpPr>
            <p:spPr bwMode="auto">
              <a:xfrm>
                <a:off x="4093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29753" name="Text Box 147"/>
              <p:cNvSpPr txBox="1">
                <a:spLocks noChangeArrowheads="1"/>
              </p:cNvSpPr>
              <p:nvPr/>
            </p:nvSpPr>
            <p:spPr bwMode="auto">
              <a:xfrm>
                <a:off x="1024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a[0][0]</a:t>
                </a:r>
              </a:p>
            </p:txBody>
          </p:sp>
          <p:sp>
            <p:nvSpPr>
              <p:cNvPr id="29754" name="Text Box 148"/>
              <p:cNvSpPr txBox="1">
                <a:spLocks noChangeArrowheads="1"/>
              </p:cNvSpPr>
              <p:nvPr/>
            </p:nvSpPr>
            <p:spPr bwMode="auto">
              <a:xfrm>
                <a:off x="1643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a[0][1]</a:t>
                </a:r>
              </a:p>
            </p:txBody>
          </p:sp>
          <p:sp>
            <p:nvSpPr>
              <p:cNvPr id="29755" name="Text Box 149"/>
              <p:cNvSpPr txBox="1">
                <a:spLocks noChangeArrowheads="1"/>
              </p:cNvSpPr>
              <p:nvPr/>
            </p:nvSpPr>
            <p:spPr bwMode="auto">
              <a:xfrm>
                <a:off x="2279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itchFamily="18" charset="0"/>
                  </a:rPr>
                  <a:t>a[0][2]</a:t>
                </a:r>
              </a:p>
            </p:txBody>
          </p:sp>
          <p:sp>
            <p:nvSpPr>
              <p:cNvPr id="29756" name="Text Box 150"/>
              <p:cNvSpPr txBox="1">
                <a:spLocks noChangeArrowheads="1"/>
              </p:cNvSpPr>
              <p:nvPr/>
            </p:nvSpPr>
            <p:spPr bwMode="auto">
              <a:xfrm>
                <a:off x="2876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a[1][0]</a:t>
                </a:r>
              </a:p>
            </p:txBody>
          </p:sp>
          <p:sp>
            <p:nvSpPr>
              <p:cNvPr id="29757" name="Text Box 151"/>
              <p:cNvSpPr txBox="1">
                <a:spLocks noChangeArrowheads="1"/>
              </p:cNvSpPr>
              <p:nvPr/>
            </p:nvSpPr>
            <p:spPr bwMode="auto">
              <a:xfrm>
                <a:off x="3474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itchFamily="18" charset="0"/>
                  </a:rPr>
                  <a:t>a[1][1]</a:t>
                </a:r>
              </a:p>
            </p:txBody>
          </p:sp>
          <p:sp>
            <p:nvSpPr>
              <p:cNvPr id="29758" name="Text Box 152"/>
              <p:cNvSpPr txBox="1">
                <a:spLocks noChangeArrowheads="1"/>
              </p:cNvSpPr>
              <p:nvPr/>
            </p:nvSpPr>
            <p:spPr bwMode="auto">
              <a:xfrm>
                <a:off x="4071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a[1][2]</a:t>
                </a:r>
              </a:p>
            </p:txBody>
          </p:sp>
          <p:sp>
            <p:nvSpPr>
              <p:cNvPr id="29759" name="Text Box 153"/>
              <p:cNvSpPr txBox="1">
                <a:spLocks noChangeArrowheads="1"/>
              </p:cNvSpPr>
              <p:nvPr/>
            </p:nvSpPr>
            <p:spPr bwMode="auto">
              <a:xfrm>
                <a:off x="1336" y="2565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29760" name="Text Box 154"/>
              <p:cNvSpPr txBox="1">
                <a:spLocks noChangeArrowheads="1"/>
              </p:cNvSpPr>
              <p:nvPr/>
            </p:nvSpPr>
            <p:spPr bwMode="auto">
              <a:xfrm>
                <a:off x="1921" y="2565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29761" name="Text Box 155"/>
              <p:cNvSpPr txBox="1">
                <a:spLocks noChangeArrowheads="1"/>
              </p:cNvSpPr>
              <p:nvPr/>
            </p:nvSpPr>
            <p:spPr bwMode="auto">
              <a:xfrm>
                <a:off x="2507" y="2565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29762" name="Text Box 156"/>
              <p:cNvSpPr txBox="1">
                <a:spLocks noChangeArrowheads="1"/>
              </p:cNvSpPr>
              <p:nvPr/>
            </p:nvSpPr>
            <p:spPr bwMode="auto">
              <a:xfrm>
                <a:off x="3092" y="2565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29763" name="Text Box 157"/>
              <p:cNvSpPr txBox="1">
                <a:spLocks noChangeArrowheads="1"/>
              </p:cNvSpPr>
              <p:nvPr/>
            </p:nvSpPr>
            <p:spPr bwMode="auto">
              <a:xfrm>
                <a:off x="3678" y="2565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5</a:t>
                </a:r>
              </a:p>
            </p:txBody>
          </p:sp>
          <p:sp>
            <p:nvSpPr>
              <p:cNvPr id="29764" name="Text Box 158"/>
              <p:cNvSpPr txBox="1">
                <a:spLocks noChangeArrowheads="1"/>
              </p:cNvSpPr>
              <p:nvPr/>
            </p:nvSpPr>
            <p:spPr bwMode="auto">
              <a:xfrm>
                <a:off x="4264" y="2565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6</a:t>
                </a:r>
              </a:p>
            </p:txBody>
          </p:sp>
        </p:grpSp>
        <p:sp>
          <p:nvSpPr>
            <p:cNvPr id="45" name="AutoShape 88"/>
            <p:cNvSpPr>
              <a:spLocks noChangeArrowheads="1"/>
            </p:cNvSpPr>
            <p:nvPr/>
          </p:nvSpPr>
          <p:spPr bwMode="auto">
            <a:xfrm>
              <a:off x="8424113" y="3291189"/>
              <a:ext cx="3400086" cy="893491"/>
            </a:xfrm>
            <a:prstGeom prst="cloudCallout">
              <a:avLst>
                <a:gd name="adj1" fmla="val -45523"/>
                <a:gd name="adj2" fmla="val 85977"/>
              </a:avLst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Times New Roman" pitchFamily="18" charset="0"/>
                </a:rPr>
                <a:t>全部初始化</a:t>
              </a:r>
            </a:p>
          </p:txBody>
        </p:sp>
      </p:grpSp>
      <p:sp>
        <p:nvSpPr>
          <p:cNvPr id="418818" name="Rectangle 2"/>
          <p:cNvSpPr>
            <a:spLocks noChangeArrowheads="1"/>
          </p:cNvSpPr>
          <p:nvPr/>
        </p:nvSpPr>
        <p:spPr bwMode="auto">
          <a:xfrm>
            <a:off x="1386013" y="1481411"/>
            <a:ext cx="3456693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分行初始化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105178" y="1960118"/>
            <a:ext cx="8065809" cy="3373327"/>
            <a:chOff x="5508104" y="3587095"/>
            <a:chExt cx="7489747" cy="3373327"/>
          </a:xfrm>
        </p:grpSpPr>
        <p:grpSp>
          <p:nvGrpSpPr>
            <p:cNvPr id="25" name="Group 182"/>
            <p:cNvGrpSpPr>
              <a:grpSpLocks/>
            </p:cNvGrpSpPr>
            <p:nvPr/>
          </p:nvGrpSpPr>
          <p:grpSpPr bwMode="auto">
            <a:xfrm>
              <a:off x="5508104" y="4649016"/>
              <a:ext cx="7489747" cy="2311406"/>
              <a:chOff x="967" y="2154"/>
              <a:chExt cx="3967" cy="1069"/>
            </a:xfrm>
          </p:grpSpPr>
          <p:sp>
            <p:nvSpPr>
              <p:cNvPr id="26" name="Rectangle 140"/>
              <p:cNvSpPr>
                <a:spLocks noChangeArrowheads="1"/>
              </p:cNvSpPr>
              <p:nvPr/>
            </p:nvSpPr>
            <p:spPr bwMode="auto">
              <a:xfrm>
                <a:off x="967" y="2154"/>
                <a:ext cx="3967" cy="106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 lIns="90000" tIns="46800" rIns="90000" bIns="4680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rgbClr val="C00000"/>
                    </a:solidFill>
                    <a:latin typeface="Times New Roman" pitchFamily="18" charset="0"/>
                  </a:rPr>
                  <a:t>    </a:t>
                </a:r>
                <a:r>
                  <a:rPr lang="zh-CN" altLang="en-US" sz="3200" b="1" dirty="0">
                    <a:solidFill>
                      <a:srgbClr val="C00000"/>
                    </a:solidFill>
                    <a:latin typeface="Times New Roman" pitchFamily="18" charset="0"/>
                  </a:rPr>
                  <a:t>例   </a:t>
                </a:r>
                <a:r>
                  <a:rPr lang="en-US" altLang="zh-CN" sz="3200" b="1" dirty="0" err="1">
                    <a:latin typeface="Times New Roman" pitchFamily="18" charset="0"/>
                  </a:rPr>
                  <a:t>int</a:t>
                </a:r>
                <a:r>
                  <a:rPr lang="en-US" altLang="zh-CN" sz="3200" b="1" dirty="0">
                    <a:latin typeface="Times New Roman" pitchFamily="18" charset="0"/>
                  </a:rPr>
                  <a:t> a[2][3]={{1,2,3},{4}};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rgbClr val="C00000"/>
                    </a:solidFill>
                    <a:latin typeface="Times New Roman" pitchFamily="18" charset="0"/>
                  </a:rPr>
                  <a:t>  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3200" b="1" dirty="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7" name="Rectangle 141"/>
              <p:cNvSpPr>
                <a:spLocks noChangeArrowheads="1"/>
              </p:cNvSpPr>
              <p:nvPr/>
            </p:nvSpPr>
            <p:spPr bwMode="auto">
              <a:xfrm>
                <a:off x="1081" y="2584"/>
                <a:ext cx="3576" cy="344"/>
              </a:xfrm>
              <a:prstGeom prst="rect">
                <a:avLst/>
              </a:prstGeom>
              <a:noFill/>
              <a:ln w="25400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/>
                <a:endParaRPr lang="zh-CN" altLang="zh-CN" sz="3200" b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8" name="Line 142"/>
              <p:cNvSpPr>
                <a:spLocks noChangeShapeType="1"/>
              </p:cNvSpPr>
              <p:nvPr/>
            </p:nvSpPr>
            <p:spPr bwMode="auto">
              <a:xfrm>
                <a:off x="1705" y="2589"/>
                <a:ext cx="0" cy="348"/>
              </a:xfrm>
              <a:prstGeom prst="line">
                <a:avLst/>
              </a:prstGeom>
              <a:noFill/>
              <a:ln w="28575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29" name="Line 143"/>
              <p:cNvSpPr>
                <a:spLocks noChangeShapeType="1"/>
              </p:cNvSpPr>
              <p:nvPr/>
            </p:nvSpPr>
            <p:spPr bwMode="auto">
              <a:xfrm>
                <a:off x="2302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30" name="Line 144"/>
              <p:cNvSpPr>
                <a:spLocks noChangeShapeType="1"/>
              </p:cNvSpPr>
              <p:nvPr/>
            </p:nvSpPr>
            <p:spPr bwMode="auto">
              <a:xfrm>
                <a:off x="2899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31" name="Line 145"/>
              <p:cNvSpPr>
                <a:spLocks noChangeShapeType="1"/>
              </p:cNvSpPr>
              <p:nvPr/>
            </p:nvSpPr>
            <p:spPr bwMode="auto">
              <a:xfrm>
                <a:off x="3496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32" name="Line 146"/>
              <p:cNvSpPr>
                <a:spLocks noChangeShapeType="1"/>
              </p:cNvSpPr>
              <p:nvPr/>
            </p:nvSpPr>
            <p:spPr bwMode="auto">
              <a:xfrm>
                <a:off x="4093" y="2589"/>
                <a:ext cx="0" cy="348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33" name="Text Box 147"/>
              <p:cNvSpPr txBox="1">
                <a:spLocks noChangeArrowheads="1"/>
              </p:cNvSpPr>
              <p:nvPr/>
            </p:nvSpPr>
            <p:spPr bwMode="auto">
              <a:xfrm>
                <a:off x="1024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a[0][0]</a:t>
                </a:r>
              </a:p>
            </p:txBody>
          </p:sp>
          <p:sp>
            <p:nvSpPr>
              <p:cNvPr id="34" name="Text Box 148"/>
              <p:cNvSpPr txBox="1">
                <a:spLocks noChangeArrowheads="1"/>
              </p:cNvSpPr>
              <p:nvPr/>
            </p:nvSpPr>
            <p:spPr bwMode="auto">
              <a:xfrm>
                <a:off x="1643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a[0][1]</a:t>
                </a:r>
              </a:p>
            </p:txBody>
          </p:sp>
          <p:sp>
            <p:nvSpPr>
              <p:cNvPr id="35" name="Text Box 149"/>
              <p:cNvSpPr txBox="1">
                <a:spLocks noChangeArrowheads="1"/>
              </p:cNvSpPr>
              <p:nvPr/>
            </p:nvSpPr>
            <p:spPr bwMode="auto">
              <a:xfrm>
                <a:off x="2279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itchFamily="18" charset="0"/>
                  </a:rPr>
                  <a:t>a[0][2]</a:t>
                </a:r>
              </a:p>
            </p:txBody>
          </p:sp>
          <p:sp>
            <p:nvSpPr>
              <p:cNvPr id="36" name="Text Box 150"/>
              <p:cNvSpPr txBox="1">
                <a:spLocks noChangeArrowheads="1"/>
              </p:cNvSpPr>
              <p:nvPr/>
            </p:nvSpPr>
            <p:spPr bwMode="auto">
              <a:xfrm>
                <a:off x="2876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a[1][0]</a:t>
                </a:r>
              </a:p>
            </p:txBody>
          </p:sp>
          <p:sp>
            <p:nvSpPr>
              <p:cNvPr id="37" name="Text Box 151"/>
              <p:cNvSpPr txBox="1">
                <a:spLocks noChangeArrowheads="1"/>
              </p:cNvSpPr>
              <p:nvPr/>
            </p:nvSpPr>
            <p:spPr bwMode="auto">
              <a:xfrm>
                <a:off x="3474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itchFamily="18" charset="0"/>
                  </a:rPr>
                  <a:t>a[1][1]</a:t>
                </a:r>
              </a:p>
            </p:txBody>
          </p:sp>
          <p:sp>
            <p:nvSpPr>
              <p:cNvPr id="38" name="Text Box 152"/>
              <p:cNvSpPr txBox="1">
                <a:spLocks noChangeArrowheads="1"/>
              </p:cNvSpPr>
              <p:nvPr/>
            </p:nvSpPr>
            <p:spPr bwMode="auto">
              <a:xfrm>
                <a:off x="4071" y="2943"/>
                <a:ext cx="64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itchFamily="18" charset="0"/>
                  </a:rPr>
                  <a:t>a[1][2]</a:t>
                </a:r>
              </a:p>
            </p:txBody>
          </p:sp>
          <p:sp>
            <p:nvSpPr>
              <p:cNvPr id="39" name="Text Box 153"/>
              <p:cNvSpPr txBox="1">
                <a:spLocks noChangeArrowheads="1"/>
              </p:cNvSpPr>
              <p:nvPr/>
            </p:nvSpPr>
            <p:spPr bwMode="auto">
              <a:xfrm>
                <a:off x="1336" y="2610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 dirty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40" name="Text Box 154"/>
              <p:cNvSpPr txBox="1">
                <a:spLocks noChangeArrowheads="1"/>
              </p:cNvSpPr>
              <p:nvPr/>
            </p:nvSpPr>
            <p:spPr bwMode="auto">
              <a:xfrm>
                <a:off x="1921" y="2610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41" name="Text Box 155"/>
              <p:cNvSpPr txBox="1">
                <a:spLocks noChangeArrowheads="1"/>
              </p:cNvSpPr>
              <p:nvPr/>
            </p:nvSpPr>
            <p:spPr bwMode="auto">
              <a:xfrm>
                <a:off x="2507" y="2610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42" name="Text Box 156"/>
              <p:cNvSpPr txBox="1">
                <a:spLocks noChangeArrowheads="1"/>
              </p:cNvSpPr>
              <p:nvPr/>
            </p:nvSpPr>
            <p:spPr bwMode="auto">
              <a:xfrm>
                <a:off x="3092" y="2610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43" name="Text Box 157"/>
              <p:cNvSpPr txBox="1">
                <a:spLocks noChangeArrowheads="1"/>
              </p:cNvSpPr>
              <p:nvPr/>
            </p:nvSpPr>
            <p:spPr bwMode="auto">
              <a:xfrm>
                <a:off x="3678" y="2610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44" name="Text Box 158"/>
              <p:cNvSpPr txBox="1">
                <a:spLocks noChangeArrowheads="1"/>
              </p:cNvSpPr>
              <p:nvPr/>
            </p:nvSpPr>
            <p:spPr bwMode="auto">
              <a:xfrm>
                <a:off x="4264" y="2610"/>
                <a:ext cx="2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en-US" altLang="zh-CN" b="1" dirty="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6" name="AutoShape 88"/>
            <p:cNvSpPr>
              <a:spLocks noChangeArrowheads="1"/>
            </p:cNvSpPr>
            <p:nvPr/>
          </p:nvSpPr>
          <p:spPr bwMode="auto">
            <a:xfrm>
              <a:off x="9465721" y="3587095"/>
              <a:ext cx="3400145" cy="894207"/>
            </a:xfrm>
            <a:prstGeom prst="cloudCallout">
              <a:avLst>
                <a:gd name="adj1" fmla="val -45523"/>
                <a:gd name="adj2" fmla="val 85977"/>
              </a:avLst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Times New Roman" pitchFamily="18" charset="0"/>
                </a:rPr>
                <a:t>部分初始化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CE3E922-76DF-4332-8E92-501144C0A994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50" name="矩形: 剪去单角 49">
              <a:extLst>
                <a:ext uri="{FF2B5EF4-FFF2-40B4-BE49-F238E27FC236}">
                  <a16:creationId xmlns:a16="http://schemas.microsoft.com/office/drawing/2014/main" id="{83E47D66-EA40-4109-A1CE-7D7F955CABB8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5E3D361-9F77-48A0-AB15-3047C004636D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二维数组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8702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5" name="Rectangle 3"/>
          <p:cNvSpPr>
            <a:spLocks noChangeArrowheads="1"/>
          </p:cNvSpPr>
          <p:nvPr/>
        </p:nvSpPr>
        <p:spPr bwMode="auto">
          <a:xfrm>
            <a:off x="1343472" y="1530144"/>
            <a:ext cx="7143750" cy="810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0" hangingPunct="0"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按元素排列顺序初始化    </a:t>
            </a:r>
          </a:p>
        </p:txBody>
      </p:sp>
      <p:grpSp>
        <p:nvGrpSpPr>
          <p:cNvPr id="463940" name="Group 68"/>
          <p:cNvGrpSpPr>
            <a:grpSpLocks/>
          </p:cNvGrpSpPr>
          <p:nvPr/>
        </p:nvGrpSpPr>
        <p:grpSpPr bwMode="auto">
          <a:xfrm>
            <a:off x="2046289" y="2203177"/>
            <a:ext cx="8497440" cy="3540399"/>
            <a:chOff x="912" y="1027"/>
            <a:chExt cx="4046" cy="2138"/>
          </a:xfrm>
        </p:grpSpPr>
        <p:sp>
          <p:nvSpPr>
            <p:cNvPr id="30769" name="Rectangle 69"/>
            <p:cNvSpPr>
              <a:spLocks noChangeArrowheads="1"/>
            </p:cNvSpPr>
            <p:nvPr/>
          </p:nvSpPr>
          <p:spPr bwMode="auto">
            <a:xfrm>
              <a:off x="912" y="1584"/>
              <a:ext cx="4046" cy="1581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r>
                <a:rPr lang="en-US" altLang="zh-CN" sz="3200" b="1" dirty="0">
                  <a:solidFill>
                    <a:schemeClr val="bg2"/>
                  </a:solidFill>
                  <a:latin typeface="Times New Roman" pitchFamily="18" charset="0"/>
                </a:rPr>
                <a:t>    </a:t>
              </a:r>
              <a:r>
                <a:rPr lang="zh-CN" altLang="en-US" sz="3200" b="1" dirty="0">
                  <a:latin typeface="Times New Roman" pitchFamily="18" charset="0"/>
                </a:rPr>
                <a:t>例  </a:t>
              </a:r>
              <a:r>
                <a:rPr lang="en-US" altLang="zh-CN" sz="3200" b="1" dirty="0" err="1">
                  <a:latin typeface="Times New Roman" pitchFamily="18" charset="0"/>
                </a:rPr>
                <a:t>int</a:t>
              </a:r>
              <a:r>
                <a:rPr lang="en-US" altLang="zh-CN" sz="3200" b="1" dirty="0">
                  <a:latin typeface="Times New Roman" pitchFamily="18" charset="0"/>
                </a:rPr>
                <a:t> a[2][3]={1,2,3,4,5,6};</a:t>
              </a: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0770" name="Rectangle 70"/>
            <p:cNvSpPr>
              <a:spLocks noChangeArrowheads="1"/>
            </p:cNvSpPr>
            <p:nvPr/>
          </p:nvSpPr>
          <p:spPr bwMode="auto">
            <a:xfrm>
              <a:off x="1200" y="2185"/>
              <a:ext cx="3576" cy="359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endParaRPr lang="zh-CN" altLang="zh-CN" sz="32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71" name="Line 71"/>
            <p:cNvSpPr>
              <a:spLocks noChangeShapeType="1"/>
            </p:cNvSpPr>
            <p:nvPr/>
          </p:nvSpPr>
          <p:spPr bwMode="auto">
            <a:xfrm>
              <a:off x="1824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0772" name="Line 72"/>
            <p:cNvSpPr>
              <a:spLocks noChangeShapeType="1"/>
            </p:cNvSpPr>
            <p:nvPr/>
          </p:nvSpPr>
          <p:spPr bwMode="auto">
            <a:xfrm>
              <a:off x="2421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0773" name="Line 73"/>
            <p:cNvSpPr>
              <a:spLocks noChangeShapeType="1"/>
            </p:cNvSpPr>
            <p:nvPr/>
          </p:nvSpPr>
          <p:spPr bwMode="auto">
            <a:xfrm>
              <a:off x="3018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0774" name="Line 74"/>
            <p:cNvSpPr>
              <a:spLocks noChangeShapeType="1"/>
            </p:cNvSpPr>
            <p:nvPr/>
          </p:nvSpPr>
          <p:spPr bwMode="auto">
            <a:xfrm>
              <a:off x="3615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0775" name="Line 75"/>
            <p:cNvSpPr>
              <a:spLocks noChangeShapeType="1"/>
            </p:cNvSpPr>
            <p:nvPr/>
          </p:nvSpPr>
          <p:spPr bwMode="auto">
            <a:xfrm>
              <a:off x="4212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0776" name="Text Box 76"/>
            <p:cNvSpPr txBox="1">
              <a:spLocks noChangeArrowheads="1"/>
            </p:cNvSpPr>
            <p:nvPr/>
          </p:nvSpPr>
          <p:spPr bwMode="auto">
            <a:xfrm>
              <a:off x="1141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a[0][0]</a:t>
              </a:r>
            </a:p>
          </p:txBody>
        </p:sp>
        <p:sp>
          <p:nvSpPr>
            <p:cNvPr id="30777" name="Text Box 77"/>
            <p:cNvSpPr txBox="1">
              <a:spLocks noChangeArrowheads="1"/>
            </p:cNvSpPr>
            <p:nvPr/>
          </p:nvSpPr>
          <p:spPr bwMode="auto">
            <a:xfrm>
              <a:off x="1790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a[0][1]</a:t>
              </a:r>
            </a:p>
          </p:txBody>
        </p:sp>
        <p:sp>
          <p:nvSpPr>
            <p:cNvPr id="30778" name="Text Box 78"/>
            <p:cNvSpPr txBox="1">
              <a:spLocks noChangeArrowheads="1"/>
            </p:cNvSpPr>
            <p:nvPr/>
          </p:nvSpPr>
          <p:spPr bwMode="auto">
            <a:xfrm>
              <a:off x="2398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a[0][2]</a:t>
              </a:r>
            </a:p>
          </p:txBody>
        </p:sp>
        <p:sp>
          <p:nvSpPr>
            <p:cNvPr id="30779" name="Text Box 79"/>
            <p:cNvSpPr txBox="1">
              <a:spLocks noChangeArrowheads="1"/>
            </p:cNvSpPr>
            <p:nvPr/>
          </p:nvSpPr>
          <p:spPr bwMode="auto">
            <a:xfrm>
              <a:off x="2995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a[1][0]</a:t>
              </a:r>
            </a:p>
          </p:txBody>
        </p:sp>
        <p:sp>
          <p:nvSpPr>
            <p:cNvPr id="30780" name="Text Box 80"/>
            <p:cNvSpPr txBox="1">
              <a:spLocks noChangeArrowheads="1"/>
            </p:cNvSpPr>
            <p:nvPr/>
          </p:nvSpPr>
          <p:spPr bwMode="auto">
            <a:xfrm>
              <a:off x="3593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a[1][1]</a:t>
              </a:r>
            </a:p>
          </p:txBody>
        </p:sp>
        <p:sp>
          <p:nvSpPr>
            <p:cNvPr id="30781" name="Text Box 81"/>
            <p:cNvSpPr txBox="1">
              <a:spLocks noChangeArrowheads="1"/>
            </p:cNvSpPr>
            <p:nvPr/>
          </p:nvSpPr>
          <p:spPr bwMode="auto">
            <a:xfrm>
              <a:off x="4190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a[1][2]</a:t>
              </a:r>
            </a:p>
          </p:txBody>
        </p:sp>
        <p:sp>
          <p:nvSpPr>
            <p:cNvPr id="30782" name="Text Box 82"/>
            <p:cNvSpPr txBox="1">
              <a:spLocks noChangeArrowheads="1"/>
            </p:cNvSpPr>
            <p:nvPr/>
          </p:nvSpPr>
          <p:spPr bwMode="auto">
            <a:xfrm>
              <a:off x="1455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0783" name="Text Box 83"/>
            <p:cNvSpPr txBox="1">
              <a:spLocks noChangeArrowheads="1"/>
            </p:cNvSpPr>
            <p:nvPr/>
          </p:nvSpPr>
          <p:spPr bwMode="auto">
            <a:xfrm>
              <a:off x="2040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784" name="Text Box 84"/>
            <p:cNvSpPr txBox="1">
              <a:spLocks noChangeArrowheads="1"/>
            </p:cNvSpPr>
            <p:nvPr/>
          </p:nvSpPr>
          <p:spPr bwMode="auto">
            <a:xfrm>
              <a:off x="2626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0785" name="Text Box 85"/>
            <p:cNvSpPr txBox="1">
              <a:spLocks noChangeArrowheads="1"/>
            </p:cNvSpPr>
            <p:nvPr/>
          </p:nvSpPr>
          <p:spPr bwMode="auto">
            <a:xfrm>
              <a:off x="3211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30786" name="Text Box 86"/>
            <p:cNvSpPr txBox="1">
              <a:spLocks noChangeArrowheads="1"/>
            </p:cNvSpPr>
            <p:nvPr/>
          </p:nvSpPr>
          <p:spPr bwMode="auto">
            <a:xfrm>
              <a:off x="3797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787" name="Text Box 87"/>
            <p:cNvSpPr txBox="1">
              <a:spLocks noChangeArrowheads="1"/>
            </p:cNvSpPr>
            <p:nvPr/>
          </p:nvSpPr>
          <p:spPr bwMode="auto">
            <a:xfrm>
              <a:off x="4383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0788" name="AutoShape 88"/>
            <p:cNvSpPr>
              <a:spLocks noChangeArrowheads="1"/>
            </p:cNvSpPr>
            <p:nvPr/>
          </p:nvSpPr>
          <p:spPr bwMode="auto">
            <a:xfrm>
              <a:off x="3101" y="1027"/>
              <a:ext cx="1625" cy="540"/>
            </a:xfrm>
            <a:prstGeom prst="cloudCallout">
              <a:avLst>
                <a:gd name="adj1" fmla="val -45523"/>
                <a:gd name="adj2" fmla="val 85977"/>
              </a:avLst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3200" b="1">
                  <a:latin typeface="Times New Roman" pitchFamily="18" charset="0"/>
                </a:rPr>
                <a:t>全部初始化</a:t>
              </a:r>
            </a:p>
          </p:txBody>
        </p:sp>
      </p:grpSp>
      <p:grpSp>
        <p:nvGrpSpPr>
          <p:cNvPr id="71" name="Group 68"/>
          <p:cNvGrpSpPr>
            <a:grpSpLocks/>
          </p:cNvGrpSpPr>
          <p:nvPr/>
        </p:nvGrpSpPr>
        <p:grpSpPr bwMode="auto">
          <a:xfrm>
            <a:off x="2046288" y="2200880"/>
            <a:ext cx="8497440" cy="3540399"/>
            <a:chOff x="912" y="1027"/>
            <a:chExt cx="4046" cy="2138"/>
          </a:xfrm>
        </p:grpSpPr>
        <p:sp>
          <p:nvSpPr>
            <p:cNvPr id="72" name="Rectangle 69"/>
            <p:cNvSpPr>
              <a:spLocks noChangeArrowheads="1"/>
            </p:cNvSpPr>
            <p:nvPr/>
          </p:nvSpPr>
          <p:spPr bwMode="auto">
            <a:xfrm>
              <a:off x="912" y="1584"/>
              <a:ext cx="4046" cy="1581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r>
                <a:rPr lang="en-US" altLang="zh-CN" sz="3200" b="1" dirty="0">
                  <a:solidFill>
                    <a:schemeClr val="bg2"/>
                  </a:solidFill>
                  <a:latin typeface="Times New Roman" pitchFamily="18" charset="0"/>
                </a:rPr>
                <a:t>    </a:t>
              </a:r>
              <a:r>
                <a:rPr lang="zh-CN" altLang="en-US" sz="3200" b="1" dirty="0">
                  <a:latin typeface="Times New Roman" pitchFamily="18" charset="0"/>
                </a:rPr>
                <a:t>例  </a:t>
              </a:r>
              <a:r>
                <a:rPr lang="en-US" altLang="zh-CN" sz="3200" b="1" dirty="0" err="1">
                  <a:latin typeface="Times New Roman" pitchFamily="18" charset="0"/>
                </a:rPr>
                <a:t>int</a:t>
              </a:r>
              <a:r>
                <a:rPr lang="en-US" altLang="zh-CN" sz="3200" b="1" dirty="0">
                  <a:latin typeface="Times New Roman" pitchFamily="18" charset="0"/>
                </a:rPr>
                <a:t> a[2][3]={1,2,3,4};</a:t>
              </a: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  <a:p>
              <a:endParaRPr lang="en-US" altLang="zh-CN" sz="32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73" name="Rectangle 70"/>
            <p:cNvSpPr>
              <a:spLocks noChangeArrowheads="1"/>
            </p:cNvSpPr>
            <p:nvPr/>
          </p:nvSpPr>
          <p:spPr bwMode="auto">
            <a:xfrm>
              <a:off x="1200" y="2185"/>
              <a:ext cx="3576" cy="359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endParaRPr lang="zh-CN" altLang="zh-CN" sz="32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>
              <a:off x="1824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2421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76" name="Line 73"/>
            <p:cNvSpPr>
              <a:spLocks noChangeShapeType="1"/>
            </p:cNvSpPr>
            <p:nvPr/>
          </p:nvSpPr>
          <p:spPr bwMode="auto">
            <a:xfrm>
              <a:off x="3018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>
              <a:off x="3615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78" name="Line 75"/>
            <p:cNvSpPr>
              <a:spLocks noChangeShapeType="1"/>
            </p:cNvSpPr>
            <p:nvPr/>
          </p:nvSpPr>
          <p:spPr bwMode="auto">
            <a:xfrm>
              <a:off x="4212" y="2190"/>
              <a:ext cx="0" cy="34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79" name="Text Box 76"/>
            <p:cNvSpPr txBox="1">
              <a:spLocks noChangeArrowheads="1"/>
            </p:cNvSpPr>
            <p:nvPr/>
          </p:nvSpPr>
          <p:spPr bwMode="auto">
            <a:xfrm>
              <a:off x="1141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a[0][0]</a:t>
              </a:r>
            </a:p>
          </p:txBody>
        </p:sp>
        <p:sp>
          <p:nvSpPr>
            <p:cNvPr id="80" name="Text Box 77"/>
            <p:cNvSpPr txBox="1">
              <a:spLocks noChangeArrowheads="1"/>
            </p:cNvSpPr>
            <p:nvPr/>
          </p:nvSpPr>
          <p:spPr bwMode="auto">
            <a:xfrm>
              <a:off x="1790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a[0][1]</a:t>
              </a:r>
            </a:p>
          </p:txBody>
        </p:sp>
        <p:sp>
          <p:nvSpPr>
            <p:cNvPr id="81" name="Text Box 78"/>
            <p:cNvSpPr txBox="1">
              <a:spLocks noChangeArrowheads="1"/>
            </p:cNvSpPr>
            <p:nvPr/>
          </p:nvSpPr>
          <p:spPr bwMode="auto">
            <a:xfrm>
              <a:off x="2398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a[0][2]</a:t>
              </a:r>
            </a:p>
          </p:txBody>
        </p:sp>
        <p:sp>
          <p:nvSpPr>
            <p:cNvPr id="82" name="Text Box 79"/>
            <p:cNvSpPr txBox="1">
              <a:spLocks noChangeArrowheads="1"/>
            </p:cNvSpPr>
            <p:nvPr/>
          </p:nvSpPr>
          <p:spPr bwMode="auto">
            <a:xfrm>
              <a:off x="2995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a[1][0]</a:t>
              </a:r>
            </a:p>
          </p:txBody>
        </p:sp>
        <p:sp>
          <p:nvSpPr>
            <p:cNvPr id="83" name="Text Box 80"/>
            <p:cNvSpPr txBox="1">
              <a:spLocks noChangeArrowheads="1"/>
            </p:cNvSpPr>
            <p:nvPr/>
          </p:nvSpPr>
          <p:spPr bwMode="auto">
            <a:xfrm>
              <a:off x="3593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a[1][1]</a:t>
              </a:r>
            </a:p>
          </p:txBody>
        </p:sp>
        <p:sp>
          <p:nvSpPr>
            <p:cNvPr id="84" name="Text Box 81"/>
            <p:cNvSpPr txBox="1">
              <a:spLocks noChangeArrowheads="1"/>
            </p:cNvSpPr>
            <p:nvPr/>
          </p:nvSpPr>
          <p:spPr bwMode="auto">
            <a:xfrm>
              <a:off x="4190" y="2544"/>
              <a:ext cx="64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a[1][2]</a:t>
              </a:r>
            </a:p>
          </p:txBody>
        </p:sp>
        <p:sp>
          <p:nvSpPr>
            <p:cNvPr id="85" name="Text Box 82"/>
            <p:cNvSpPr txBox="1">
              <a:spLocks noChangeArrowheads="1"/>
            </p:cNvSpPr>
            <p:nvPr/>
          </p:nvSpPr>
          <p:spPr bwMode="auto">
            <a:xfrm>
              <a:off x="1455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6" name="Text Box 83"/>
            <p:cNvSpPr txBox="1">
              <a:spLocks noChangeArrowheads="1"/>
            </p:cNvSpPr>
            <p:nvPr/>
          </p:nvSpPr>
          <p:spPr bwMode="auto">
            <a:xfrm>
              <a:off x="2040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7" name="Text Box 84"/>
            <p:cNvSpPr txBox="1">
              <a:spLocks noChangeArrowheads="1"/>
            </p:cNvSpPr>
            <p:nvPr/>
          </p:nvSpPr>
          <p:spPr bwMode="auto">
            <a:xfrm>
              <a:off x="2626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8" name="Text Box 85"/>
            <p:cNvSpPr txBox="1">
              <a:spLocks noChangeArrowheads="1"/>
            </p:cNvSpPr>
            <p:nvPr/>
          </p:nvSpPr>
          <p:spPr bwMode="auto">
            <a:xfrm>
              <a:off x="3211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89" name="Text Box 86"/>
            <p:cNvSpPr txBox="1">
              <a:spLocks noChangeArrowheads="1"/>
            </p:cNvSpPr>
            <p:nvPr/>
          </p:nvSpPr>
          <p:spPr bwMode="auto">
            <a:xfrm>
              <a:off x="3797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90" name="Text Box 87"/>
            <p:cNvSpPr txBox="1">
              <a:spLocks noChangeArrowheads="1"/>
            </p:cNvSpPr>
            <p:nvPr/>
          </p:nvSpPr>
          <p:spPr bwMode="auto">
            <a:xfrm>
              <a:off x="4383" y="2167"/>
              <a:ext cx="18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91" name="AutoShape 88"/>
            <p:cNvSpPr>
              <a:spLocks noChangeArrowheads="1"/>
            </p:cNvSpPr>
            <p:nvPr/>
          </p:nvSpPr>
          <p:spPr bwMode="auto">
            <a:xfrm>
              <a:off x="3103" y="1027"/>
              <a:ext cx="1625" cy="540"/>
            </a:xfrm>
            <a:prstGeom prst="cloudCallout">
              <a:avLst>
                <a:gd name="adj1" fmla="val -45523"/>
                <a:gd name="adj2" fmla="val 85977"/>
              </a:avLst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3200" b="1" dirty="0">
                  <a:latin typeface="Times New Roman" pitchFamily="18" charset="0"/>
                </a:rPr>
                <a:t>部分初始化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ADC8497-0B20-45D0-B9CC-46A4BA8C892C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49" name="矩形: 剪去单角 48">
              <a:extLst>
                <a:ext uri="{FF2B5EF4-FFF2-40B4-BE49-F238E27FC236}">
                  <a16:creationId xmlns:a16="http://schemas.microsoft.com/office/drawing/2014/main" id="{2CD2CABA-7DF5-415C-B894-5FB2ACAE23A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BE102E6-9FF6-419D-9BFA-92A96F139A74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二维数组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9694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3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5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ADC8497-0B20-45D0-B9CC-46A4BA8C892C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3" name="矩形: 剪去单角 48">
              <a:extLst>
                <a:ext uri="{FF2B5EF4-FFF2-40B4-BE49-F238E27FC236}">
                  <a16:creationId xmlns:a16="http://schemas.microsoft.com/office/drawing/2014/main" id="{2CD2CABA-7DF5-415C-B894-5FB2ACAE23A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BE102E6-9FF6-419D-9BFA-92A96F139A74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二维数组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135188" y="1224466"/>
            <a:ext cx="8748712" cy="5427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阅读下列程序，分析运行结果。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#include&lt;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main( )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{  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a[3][3],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i,j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</a:t>
            </a:r>
            <a:r>
              <a:rPr lang="en-US" sz="2800" b="1" i="1" dirty="0" err="1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=0;i&lt;3;i++)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for(j=0;j&lt;3;j++)                    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sz="2800" b="1" i="1" dirty="0" err="1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</a:t>
            </a:r>
            <a:r>
              <a:rPr lang="en-US" sz="2800" b="1" i="1" dirty="0" err="1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d”,&amp;a</a:t>
            </a: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sz="2800" b="1" i="1" dirty="0" err="1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sz="2800" b="1" i="1" dirty="0">
                <a:solidFill>
                  <a:srgbClr val="0004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][j]);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for(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=0;i&lt;3;i++)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for(j=0;j&lt;3;j++)                   </a:t>
            </a:r>
          </a:p>
          <a:p>
            <a:pPr algn="l">
              <a:lnSpc>
                <a:spcPct val="125000"/>
              </a:lnSpc>
              <a:buFont typeface="Arial" pitchFamily="34" charset="0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(“%d\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n”,a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][j]);   }</a:t>
            </a:r>
          </a:p>
        </p:txBody>
      </p:sp>
      <p:sp>
        <p:nvSpPr>
          <p:cNvPr id="6" name="矩形 5"/>
          <p:cNvSpPr/>
          <p:nvPr/>
        </p:nvSpPr>
        <p:spPr>
          <a:xfrm>
            <a:off x="2543651" y="368040"/>
            <a:ext cx="53142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二维数组赋初值的方法</a:t>
            </a:r>
          </a:p>
        </p:txBody>
      </p:sp>
    </p:spTree>
    <p:extLst>
      <p:ext uri="{BB962C8B-B14F-4D97-AF65-F5344CB8AC3E}">
        <p14:creationId xmlns:p14="http://schemas.microsoft.com/office/powerpoint/2010/main" val="1142065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463866" y="1057193"/>
            <a:ext cx="11315701" cy="1267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3200" dirty="0">
                <a:latin typeface="楷体_GB2312" pitchFamily="49" charset="-122"/>
              </a:rPr>
              <a:t>       按序在内存中存储第一行的各个元素，再按序存储第二行的各个元素；下图表示对</a:t>
            </a:r>
            <a:r>
              <a:rPr lang="en-US" altLang="zh-CN" sz="3200" dirty="0">
                <a:latin typeface="楷体_GB2312" pitchFamily="49" charset="-122"/>
              </a:rPr>
              <a:t>a[3][4]</a:t>
            </a:r>
            <a:r>
              <a:rPr lang="zh-CN" altLang="en-US" sz="3200" dirty="0">
                <a:latin typeface="楷体_GB2312" pitchFamily="49" charset="-122"/>
              </a:rPr>
              <a:t>数组存放的顺序：</a:t>
            </a:r>
          </a:p>
        </p:txBody>
      </p:sp>
      <p:pic>
        <p:nvPicPr>
          <p:cNvPr id="3" name="Picture 1027" descr="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581" y="2329180"/>
            <a:ext cx="8371840" cy="437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ADC8497-0B20-45D0-B9CC-46A4BA8C892C}"/>
              </a:ext>
            </a:extLst>
          </p:cNvPr>
          <p:cNvGrpSpPr/>
          <p:nvPr/>
        </p:nvGrpSpPr>
        <p:grpSpPr>
          <a:xfrm>
            <a:off x="1764" y="170366"/>
            <a:ext cx="4455936" cy="985334"/>
            <a:chOff x="0" y="175102"/>
            <a:chExt cx="6411951" cy="769441"/>
          </a:xfrm>
        </p:grpSpPr>
        <p:sp>
          <p:nvSpPr>
            <p:cNvPr id="5" name="矩形: 剪去单角 48">
              <a:extLst>
                <a:ext uri="{FF2B5EF4-FFF2-40B4-BE49-F238E27FC236}">
                  <a16:creationId xmlns:a16="http://schemas.microsoft.com/office/drawing/2014/main" id="{2CD2CABA-7DF5-415C-B894-5FB2ACAE23A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BE102E6-9FF6-419D-9BFA-92A96F139A74}"/>
                </a:ext>
              </a:extLst>
            </p:cNvPr>
            <p:cNvSpPr/>
            <p:nvPr/>
          </p:nvSpPr>
          <p:spPr>
            <a:xfrm>
              <a:off x="218453" y="175102"/>
              <a:ext cx="6065574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二维数组的存储结构</a:t>
              </a:r>
              <a:endPara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93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114"/>
          <p:cNvSpPr txBox="1">
            <a:spLocks noChangeArrowheads="1"/>
          </p:cNvSpPr>
          <p:nvPr/>
        </p:nvSpPr>
        <p:spPr bwMode="auto">
          <a:xfrm>
            <a:off x="2530589" y="471269"/>
            <a:ext cx="73661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40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求二维数组中最大元素及行列号</a:t>
            </a:r>
          </a:p>
        </p:txBody>
      </p:sp>
      <p:sp>
        <p:nvSpPr>
          <p:cNvPr id="419955" name="Text Box 115"/>
          <p:cNvSpPr txBox="1">
            <a:spLocks noChangeArrowheads="1"/>
          </p:cNvSpPr>
          <p:nvPr/>
        </p:nvSpPr>
        <p:spPr bwMode="auto">
          <a:xfrm>
            <a:off x="1881187" y="1162050"/>
            <a:ext cx="8645045" cy="5511382"/>
          </a:xfrm>
          <a:prstGeom prst="rect">
            <a:avLst/>
          </a:prstGeom>
          <a:noFill/>
          <a:ln w="508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lang="en-US" altLang="zh-CN" b="1" dirty="0">
                <a:latin typeface="Times New Roman" pitchFamily="18" charset="0"/>
              </a:rPr>
              <a:t>#include &lt;</a:t>
            </a:r>
            <a:r>
              <a:rPr lang="en-US" altLang="zh-CN" b="1" dirty="0" err="1">
                <a:latin typeface="Times New Roman" pitchFamily="18" charset="0"/>
              </a:rPr>
              <a:t>stdio.h</a:t>
            </a:r>
            <a:r>
              <a:rPr lang="en-US" altLang="zh-CN" b="1" dirty="0">
                <a:latin typeface="Times New Roman" pitchFamily="18" charset="0"/>
              </a:rPr>
              <a:t>&gt;</a:t>
            </a:r>
          </a:p>
          <a:p>
            <a:pPr eaLnBrk="0" hangingPunct="0"/>
            <a:r>
              <a:rPr lang="en-US" altLang="zh-CN" b="1" dirty="0" err="1">
                <a:latin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</a:rPr>
              <a:t> main(  )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{   </a:t>
            </a:r>
            <a:r>
              <a:rPr lang="en-US" altLang="zh-CN" b="1" dirty="0" err="1">
                <a:latin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</a:rPr>
              <a:t> a[3][4]={{1,2,3,4},{9,8,7,6},{5,10,-5,2}};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     </a:t>
            </a:r>
            <a:r>
              <a:rPr lang="en-US" altLang="zh-CN" b="1" dirty="0" err="1">
                <a:latin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en-US" altLang="zh-CN" b="1" dirty="0" err="1">
                <a:latin typeface="Times New Roman" pitchFamily="18" charset="0"/>
              </a:rPr>
              <a:t>i,j,r</a:t>
            </a:r>
            <a:r>
              <a:rPr lang="en-US" altLang="zh-CN" b="1" dirty="0">
                <a:latin typeface="Times New Roman" pitchFamily="18" charset="0"/>
              </a:rPr>
              <a:t>=0,c=0,max;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     max=a[0][0];</a:t>
            </a:r>
          </a:p>
          <a:p>
            <a:pPr eaLnBrk="0" hangingPunct="0"/>
            <a:endParaRPr lang="en-US" altLang="zh-CN" b="1" dirty="0">
              <a:latin typeface="Times New Roman" pitchFamily="18" charset="0"/>
            </a:endParaRPr>
          </a:p>
          <a:p>
            <a:pPr eaLnBrk="0" hangingPunct="0"/>
            <a:endParaRPr lang="en-US" altLang="zh-CN" b="1" dirty="0">
              <a:latin typeface="Times New Roman" pitchFamily="18" charset="0"/>
            </a:endParaRP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              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    </a:t>
            </a:r>
            <a:r>
              <a:rPr lang="en-US" altLang="zh-CN" b="1" dirty="0" err="1">
                <a:latin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</a:rPr>
              <a:t>("max:%</a:t>
            </a:r>
            <a:r>
              <a:rPr lang="en-US" altLang="zh-CN" b="1" dirty="0" err="1">
                <a:latin typeface="Times New Roman" pitchFamily="18" charset="0"/>
              </a:rPr>
              <a:t>d,r</a:t>
            </a:r>
            <a:r>
              <a:rPr lang="en-US" altLang="zh-CN" b="1" dirty="0">
                <a:latin typeface="Times New Roman" pitchFamily="18" charset="0"/>
              </a:rPr>
              <a:t>:%</a:t>
            </a:r>
            <a:r>
              <a:rPr lang="en-US" altLang="zh-CN" b="1" dirty="0" err="1">
                <a:latin typeface="Times New Roman" pitchFamily="18" charset="0"/>
              </a:rPr>
              <a:t>d,c</a:t>
            </a:r>
            <a:r>
              <a:rPr lang="en-US" altLang="zh-CN" b="1" dirty="0">
                <a:latin typeface="Times New Roman" pitchFamily="18" charset="0"/>
              </a:rPr>
              <a:t>:%d",max,r+1,c+1);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    return 0;</a:t>
            </a: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}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5996788" y="2718905"/>
            <a:ext cx="4524666" cy="2458238"/>
          </a:xfrm>
          <a:prstGeom prst="borderCallout1">
            <a:avLst>
              <a:gd name="adj1" fmla="val 18750"/>
              <a:gd name="adj2" fmla="val -8333"/>
              <a:gd name="adj3" fmla="val 75604"/>
              <a:gd name="adj4" fmla="val -44618"/>
            </a:avLst>
          </a:prstGeom>
          <a:solidFill>
            <a:srgbClr val="FFFFFF"/>
          </a:solidFill>
          <a:ln w="508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for(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=0;i&lt;3;i++)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for(j=0;j&lt;4;j++)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      if(a[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][j]&gt;max)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     {   max=a[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	       r=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	       c=j;   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2E98E2F-A325-4CF7-AC7E-35D1E479B7AD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8" name="矩形: 剪去单角 7">
              <a:extLst>
                <a:ext uri="{FF2B5EF4-FFF2-40B4-BE49-F238E27FC236}">
                  <a16:creationId xmlns:a16="http://schemas.microsoft.com/office/drawing/2014/main" id="{F9114BBC-A668-489D-886F-00A2D8649E49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1167C67-9F31-4C66-9E38-AB337EF05A72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案例五</a:t>
              </a:r>
              <a:endPara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4113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99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9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9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9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9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5" grpId="0" uiExpand="1" build="p" animBg="1" autoUpdateAnimBg="0"/>
      <p:bldP spid="7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2604918" y="543514"/>
            <a:ext cx="73885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40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互换行列元素并保存到另一数组</a:t>
            </a:r>
          </a:p>
        </p:txBody>
      </p:sp>
      <p:grpSp>
        <p:nvGrpSpPr>
          <p:cNvPr id="420878" name="Group 14"/>
          <p:cNvGrpSpPr>
            <a:grpSpLocks/>
          </p:cNvGrpSpPr>
          <p:nvPr/>
        </p:nvGrpSpPr>
        <p:grpSpPr bwMode="auto">
          <a:xfrm>
            <a:off x="2971801" y="2286000"/>
            <a:ext cx="2695575" cy="1390650"/>
            <a:chOff x="864" y="1536"/>
            <a:chExt cx="1370" cy="835"/>
          </a:xfrm>
        </p:grpSpPr>
        <p:sp>
          <p:nvSpPr>
            <p:cNvPr id="32779" name="Text Box 5"/>
            <p:cNvSpPr txBox="1">
              <a:spLocks noChangeArrowheads="1"/>
            </p:cNvSpPr>
            <p:nvPr/>
          </p:nvSpPr>
          <p:spPr bwMode="auto">
            <a:xfrm>
              <a:off x="864" y="1666"/>
              <a:ext cx="370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4000" b="1">
                  <a:latin typeface="Times New Roman" pitchFamily="18" charset="0"/>
                </a:rPr>
                <a:t>a=</a:t>
              </a:r>
            </a:p>
          </p:txBody>
        </p:sp>
        <p:sp>
          <p:nvSpPr>
            <p:cNvPr id="32780" name="Text Box 6"/>
            <p:cNvSpPr txBox="1">
              <a:spLocks noChangeArrowheads="1"/>
            </p:cNvSpPr>
            <p:nvPr/>
          </p:nvSpPr>
          <p:spPr bwMode="auto">
            <a:xfrm>
              <a:off x="1392" y="1584"/>
              <a:ext cx="773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4000" b="1">
                  <a:latin typeface="Times New Roman" pitchFamily="18" charset="0"/>
                </a:rPr>
                <a:t>1  2  3</a:t>
              </a:r>
            </a:p>
            <a:p>
              <a:r>
                <a:rPr lang="en-US" altLang="zh-CN" sz="4000" b="1">
                  <a:latin typeface="Times New Roman" pitchFamily="18" charset="0"/>
                </a:rPr>
                <a:t>4  5  6</a:t>
              </a:r>
            </a:p>
          </p:txBody>
        </p:sp>
        <p:sp>
          <p:nvSpPr>
            <p:cNvPr id="32781" name="AutoShape 7"/>
            <p:cNvSpPr>
              <a:spLocks/>
            </p:cNvSpPr>
            <p:nvPr/>
          </p:nvSpPr>
          <p:spPr bwMode="auto">
            <a:xfrm>
              <a:off x="1296" y="1536"/>
              <a:ext cx="138" cy="778"/>
            </a:xfrm>
            <a:prstGeom prst="leftBracket">
              <a:avLst>
                <a:gd name="adj" fmla="val 4698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2782" name="AutoShape 8"/>
            <p:cNvSpPr>
              <a:spLocks/>
            </p:cNvSpPr>
            <p:nvPr/>
          </p:nvSpPr>
          <p:spPr bwMode="auto">
            <a:xfrm>
              <a:off x="2186" y="1560"/>
              <a:ext cx="48" cy="768"/>
            </a:xfrm>
            <a:prstGeom prst="rightBracket">
              <a:avLst>
                <a:gd name="adj" fmla="val 13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420879" name="Group 15"/>
          <p:cNvGrpSpPr>
            <a:grpSpLocks/>
          </p:cNvGrpSpPr>
          <p:nvPr/>
        </p:nvGrpSpPr>
        <p:grpSpPr bwMode="auto">
          <a:xfrm>
            <a:off x="6629400" y="1958976"/>
            <a:ext cx="2286000" cy="1920875"/>
            <a:chOff x="3244" y="1252"/>
            <a:chExt cx="1162" cy="1118"/>
          </a:xfrm>
        </p:grpSpPr>
        <p:sp>
          <p:nvSpPr>
            <p:cNvPr id="32775" name="Text Box 10"/>
            <p:cNvSpPr txBox="1">
              <a:spLocks noChangeArrowheads="1"/>
            </p:cNvSpPr>
            <p:nvPr/>
          </p:nvSpPr>
          <p:spPr bwMode="auto">
            <a:xfrm>
              <a:off x="3244" y="1522"/>
              <a:ext cx="387" cy="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4000" b="1">
                  <a:latin typeface="Times New Roman" pitchFamily="18" charset="0"/>
                </a:rPr>
                <a:t>b=</a:t>
              </a:r>
            </a:p>
          </p:txBody>
        </p:sp>
        <p:sp>
          <p:nvSpPr>
            <p:cNvPr id="32776" name="Text Box 11"/>
            <p:cNvSpPr txBox="1">
              <a:spLocks noChangeArrowheads="1"/>
            </p:cNvSpPr>
            <p:nvPr/>
          </p:nvSpPr>
          <p:spPr bwMode="auto">
            <a:xfrm>
              <a:off x="3792" y="1252"/>
              <a:ext cx="545" cy="1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4000" b="1">
                  <a:latin typeface="Times New Roman" pitchFamily="18" charset="0"/>
                </a:rPr>
                <a:t>1   4</a:t>
              </a:r>
            </a:p>
            <a:p>
              <a:r>
                <a:rPr lang="en-US" altLang="zh-CN" sz="4000" b="1">
                  <a:latin typeface="Times New Roman" pitchFamily="18" charset="0"/>
                </a:rPr>
                <a:t>2   5</a:t>
              </a:r>
            </a:p>
            <a:p>
              <a:r>
                <a:rPr lang="en-US" altLang="zh-CN" sz="4000" b="1">
                  <a:latin typeface="Times New Roman" pitchFamily="18" charset="0"/>
                </a:rPr>
                <a:t>3   6</a:t>
              </a:r>
            </a:p>
          </p:txBody>
        </p:sp>
        <p:sp>
          <p:nvSpPr>
            <p:cNvPr id="32777" name="AutoShape 12"/>
            <p:cNvSpPr>
              <a:spLocks/>
            </p:cNvSpPr>
            <p:nvPr/>
          </p:nvSpPr>
          <p:spPr bwMode="auto">
            <a:xfrm>
              <a:off x="3693" y="1344"/>
              <a:ext cx="99" cy="935"/>
            </a:xfrm>
            <a:prstGeom prst="leftBracket">
              <a:avLst>
                <a:gd name="adj" fmla="val 7870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2778" name="AutoShape 13"/>
            <p:cNvSpPr>
              <a:spLocks/>
            </p:cNvSpPr>
            <p:nvPr/>
          </p:nvSpPr>
          <p:spPr bwMode="auto">
            <a:xfrm>
              <a:off x="4320" y="1351"/>
              <a:ext cx="86" cy="953"/>
            </a:xfrm>
            <a:prstGeom prst="rightBracket">
              <a:avLst>
                <a:gd name="adj" fmla="val 9234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420880" name="Rectangle 16"/>
          <p:cNvSpPr>
            <a:spLocks noChangeArrowheads="1"/>
          </p:cNvSpPr>
          <p:nvPr/>
        </p:nvSpPr>
        <p:spPr bwMode="auto">
          <a:xfrm>
            <a:off x="4648201" y="4191001"/>
            <a:ext cx="3015867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b[j][</a:t>
            </a:r>
            <a:r>
              <a:rPr lang="en-US" altLang="zh-CN" sz="40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40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]=a[</a:t>
            </a:r>
            <a:r>
              <a:rPr lang="en-US" altLang="zh-CN" sz="40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40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][j]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947591A-E0AC-4BCE-986C-22794B3754A1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16" name="矩形: 剪去单角 15">
              <a:extLst>
                <a:ext uri="{FF2B5EF4-FFF2-40B4-BE49-F238E27FC236}">
                  <a16:creationId xmlns:a16="http://schemas.microsoft.com/office/drawing/2014/main" id="{40C3840A-2E9A-463F-90C5-CE66933280A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C2E64E1-D3B5-446B-BD41-19194A590686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案例六</a:t>
              </a:r>
              <a:endPara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0603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80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ChangeArrowheads="1"/>
          </p:cNvSpPr>
          <p:nvPr/>
        </p:nvSpPr>
        <p:spPr bwMode="auto">
          <a:xfrm>
            <a:off x="2416650" y="1415320"/>
            <a:ext cx="7416800" cy="5092805"/>
          </a:xfrm>
          <a:prstGeom prst="rect">
            <a:avLst/>
          </a:prstGeom>
          <a:noFill/>
          <a:ln w="635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#include "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"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main( )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{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a[2][3]={{1,2,3},{4,5,6}}, b[3][2],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i,j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zh-CN" altLang="en-US" sz="3200" b="1" dirty="0">
                <a:latin typeface="Times New Roman" pitchFamily="18" charset="0"/>
                <a:ea typeface="宋体" pitchFamily="2" charset="-122"/>
              </a:rPr>
              <a:t>　 </a:t>
            </a:r>
            <a:endParaRPr lang="en-US" altLang="zh-CN" sz="3200" b="1" dirty="0">
              <a:latin typeface="Times New Roman" pitchFamily="18" charset="0"/>
              <a:ea typeface="宋体" pitchFamily="2" charset="-122"/>
            </a:endParaRPr>
          </a:p>
          <a:p>
            <a:pPr>
              <a:lnSpc>
                <a:spcPct val="85000"/>
              </a:lnSpc>
            </a:pPr>
            <a:endParaRPr lang="zh-CN" altLang="en-US" sz="3200" b="1" dirty="0">
              <a:latin typeface="Times New Roman" pitchFamily="18" charset="0"/>
              <a:ea typeface="宋体" pitchFamily="2" charset="-122"/>
            </a:endParaRPr>
          </a:p>
          <a:p>
            <a:pPr>
              <a:lnSpc>
                <a:spcPct val="85000"/>
              </a:lnSpc>
            </a:pPr>
            <a:r>
              <a:rPr lang="zh-CN" altLang="en-US" sz="3200" b="1" dirty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for(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=0;i&lt;3;i++)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{   for(j=0;j&lt;2;j++)   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("%5d",b[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][j]);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 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("\n");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 }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return 0;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}   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6498320" y="2773122"/>
            <a:ext cx="4182120" cy="1424109"/>
          </a:xfrm>
          <a:prstGeom prst="borderCallout1">
            <a:avLst>
              <a:gd name="adj1" fmla="val 18750"/>
              <a:gd name="adj2" fmla="val -8333"/>
              <a:gd name="adj3" fmla="val 32957"/>
              <a:gd name="adj4" fmla="val -57049"/>
            </a:avLst>
          </a:prstGeom>
          <a:solidFill>
            <a:srgbClr val="FFFFFF"/>
          </a:solidFill>
          <a:ln w="508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for(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=0;i&lt;2;i++)</a:t>
            </a: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for(j=0;j&lt;3;j++)</a:t>
            </a: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     b[j][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]=a[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][j];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546029" y="482898"/>
            <a:ext cx="85537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40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互换行列元素并保存到另一数组。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B1C8573-E39A-41D5-B3AF-E44AE35CDDB6}"/>
              </a:ext>
            </a:extLst>
          </p:cNvPr>
          <p:cNvGrpSpPr/>
          <p:nvPr/>
        </p:nvGrpSpPr>
        <p:grpSpPr>
          <a:xfrm>
            <a:off x="1764" y="170366"/>
            <a:ext cx="2322336" cy="985334"/>
            <a:chOff x="0" y="175102"/>
            <a:chExt cx="6411951" cy="769441"/>
          </a:xfrm>
        </p:grpSpPr>
        <p:sp>
          <p:nvSpPr>
            <p:cNvPr id="10" name="矩形: 剪去单角 9">
              <a:extLst>
                <a:ext uri="{FF2B5EF4-FFF2-40B4-BE49-F238E27FC236}">
                  <a16:creationId xmlns:a16="http://schemas.microsoft.com/office/drawing/2014/main" id="{4396175D-D340-430A-AFD7-D93559D7630B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B3C3BDB-9120-4363-BFEC-294F58731D22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案例六代码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7529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189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1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1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1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1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21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21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21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21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21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21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21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uiExpand="1" build="p" animBg="1" autoUpdateAnimBg="0"/>
      <p:bldP spid="7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82260" y="1544092"/>
            <a:ext cx="10155640" cy="466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编写程序，创建三行四列的二维数组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，然后对该数组按列从大到小排序，最后以矩阵形式输出排序前后的数组内容。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将二维数组内容存放至一维数组中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对一维数组内容进行从大到小排序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将排序后数组内容存放至二维数组（自己写）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F4D2F53-A660-4FD0-83F7-BF74505218FB}"/>
              </a:ext>
            </a:extLst>
          </p:cNvPr>
          <p:cNvGrpSpPr/>
          <p:nvPr/>
        </p:nvGrpSpPr>
        <p:grpSpPr>
          <a:xfrm>
            <a:off x="1764" y="342900"/>
            <a:ext cx="2944636" cy="1219200"/>
            <a:chOff x="0" y="175102"/>
            <a:chExt cx="6411951" cy="769441"/>
          </a:xfrm>
        </p:grpSpPr>
        <p:sp>
          <p:nvSpPr>
            <p:cNvPr id="6" name="矩形: 剪去单角 5">
              <a:extLst>
                <a:ext uri="{FF2B5EF4-FFF2-40B4-BE49-F238E27FC236}">
                  <a16:creationId xmlns:a16="http://schemas.microsoft.com/office/drawing/2014/main" id="{F40CE242-59C8-449D-A7C9-A11EC491B21B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BD612E0-34A5-429F-943D-63D041DFACA0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思考题</a:t>
              </a:r>
              <a:r>
                <a:rPr lang="en-US" altLang="zh-CN" sz="4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</a:t>
              </a:r>
              <a:endPara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6468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74C66A-8DF9-4545-AC22-9906BEFB1184}"/>
              </a:ext>
            </a:extLst>
          </p:cNvPr>
          <p:cNvSpPr/>
          <p:nvPr/>
        </p:nvSpPr>
        <p:spPr>
          <a:xfrm>
            <a:off x="510540" y="247085"/>
            <a:ext cx="1071372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stdio.h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void main( ){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int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, j, k, temp, a[3][4],b[12];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for (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=0;i&lt;3;i++)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for (k=0;k&lt;4;k++)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d",&amp;a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[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][k]);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for (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=0;i&lt;3;i++){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for (k=0;k&lt;4;k++)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("%4d",a[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][k]);</a:t>
            </a:r>
          </a:p>
          <a:p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    b[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*4+k]=a[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][k];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("\n");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}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for (j=0;j&lt;12;j++)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("%4d",b[j]);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("\n");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线形标注 1 6">
            <a:extLst>
              <a:ext uri="{FF2B5EF4-FFF2-40B4-BE49-F238E27FC236}">
                <a16:creationId xmlns:a16="http://schemas.microsoft.com/office/drawing/2014/main" id="{AF410404-11C5-44D7-8D04-18FCD4DFBCD3}"/>
              </a:ext>
            </a:extLst>
          </p:cNvPr>
          <p:cNvSpPr/>
          <p:nvPr/>
        </p:nvSpPr>
        <p:spPr>
          <a:xfrm>
            <a:off x="5383530" y="2579222"/>
            <a:ext cx="6675120" cy="1811907"/>
          </a:xfrm>
          <a:prstGeom prst="borderCallout1">
            <a:avLst>
              <a:gd name="adj1" fmla="val 18750"/>
              <a:gd name="adj2" fmla="val -8333"/>
              <a:gd name="adj3" fmla="val 136544"/>
              <a:gd name="adj4" fmla="val -52310"/>
            </a:avLst>
          </a:prstGeom>
          <a:solidFill>
            <a:srgbClr val="FFFFFF"/>
          </a:solidFill>
          <a:ln w="508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for(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=0;i&lt;11;i++)</a:t>
            </a: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for(j=0;j&lt;11-i;j++)</a:t>
            </a: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     if(b[j]&gt;b[j+1])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  {temp=b[j];b[j]=b[j+1];b[j+1]=temp;}</a:t>
            </a:r>
          </a:p>
        </p:txBody>
      </p:sp>
      <p:sp>
        <p:nvSpPr>
          <p:cNvPr id="5" name="线形标注 1 6">
            <a:extLst>
              <a:ext uri="{FF2B5EF4-FFF2-40B4-BE49-F238E27FC236}">
                <a16:creationId xmlns:a16="http://schemas.microsoft.com/office/drawing/2014/main" id="{E02FC7B9-9395-46D3-A0A6-A7AB73D28729}"/>
              </a:ext>
            </a:extLst>
          </p:cNvPr>
          <p:cNvSpPr/>
          <p:nvPr/>
        </p:nvSpPr>
        <p:spPr>
          <a:xfrm>
            <a:off x="4800600" y="5566675"/>
            <a:ext cx="7113270" cy="482313"/>
          </a:xfrm>
          <a:prstGeom prst="borderCallout1">
            <a:avLst>
              <a:gd name="adj1" fmla="val 18750"/>
              <a:gd name="adj2" fmla="val -8333"/>
              <a:gd name="adj3" fmla="val 132293"/>
              <a:gd name="adj4" fmla="val -42893"/>
            </a:avLst>
          </a:prstGeom>
          <a:solidFill>
            <a:srgbClr val="FFFFFF"/>
          </a:solidFill>
          <a:ln w="508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将排序后数组内容存放至二维数组，并输出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491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F4D2F53-A660-4FD0-83F7-BF74505218FB}"/>
              </a:ext>
            </a:extLst>
          </p:cNvPr>
          <p:cNvGrpSpPr/>
          <p:nvPr/>
        </p:nvGrpSpPr>
        <p:grpSpPr>
          <a:xfrm>
            <a:off x="1764" y="342900"/>
            <a:ext cx="2944636" cy="1219200"/>
            <a:chOff x="0" y="175102"/>
            <a:chExt cx="6411951" cy="769441"/>
          </a:xfrm>
        </p:grpSpPr>
        <p:sp>
          <p:nvSpPr>
            <p:cNvPr id="6" name="矩形: 剪去单角 5">
              <a:extLst>
                <a:ext uri="{FF2B5EF4-FFF2-40B4-BE49-F238E27FC236}">
                  <a16:creationId xmlns:a16="http://schemas.microsoft.com/office/drawing/2014/main" id="{F40CE242-59C8-449D-A7C9-A11EC491B21B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BD612E0-34A5-429F-943D-63D041DFACA0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4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思考题</a:t>
              </a:r>
              <a:r>
                <a:rPr lang="en-US" altLang="zh-CN" sz="4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</a:t>
              </a:r>
              <a:endPara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95288" y="663575"/>
            <a:ext cx="11085512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由键盘输入代表年、月、日的三个整数，转换并输出该日期为该年的第几天。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算法分析：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由于每年每月的天数是固定的，只有闰年和平年略有差别。其差别仅仅在于</a:t>
            </a:r>
            <a:r>
              <a:rPr 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月份的天数不同。采用二维数组存放平年和闰年的天数数据。键盘输入年、月、日数据，然后判断是否为闰年，再累加相应月份和日期数据，便得到所输日期为该年的第几天。</a:t>
            </a:r>
          </a:p>
        </p:txBody>
      </p:sp>
    </p:spTree>
    <p:extLst>
      <p:ext uri="{BB962C8B-B14F-4D97-AF65-F5344CB8AC3E}">
        <p14:creationId xmlns:p14="http://schemas.microsoft.com/office/powerpoint/2010/main" val="4173887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047750" y="811213"/>
            <a:ext cx="10229850" cy="201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dist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31,28,31,30,31,30,31,31,30,31,30,31</a:t>
            </a:r>
            <a:r>
              <a:rPr lang="en-US" altLang="zh-CN" sz="4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31,29,31,30,31,30,31,31,30,31,30,31</a:t>
            </a:r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558800" y="3713650"/>
            <a:ext cx="10960100" cy="201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dist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0,31,28,31,30,31,30,31,31,30,31,30,31</a:t>
            </a:r>
            <a:r>
              <a:rPr lang="en-US" altLang="zh-CN" sz="4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0,31,29,31,30,31,30,31,31,30,31,30,31</a:t>
            </a: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1125232" y="3015809"/>
            <a:ext cx="10393668" cy="721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dist"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五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六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七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八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九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十一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十二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08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60374" y="377825"/>
            <a:ext cx="11515726" cy="630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#include&lt;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stdio.h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main(  )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{  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year,month,day,i,leap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mdtab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[2][13]={ { 0,31,28,31,30,31,30,31,31,30,31,30,31},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sz="4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0,31,29,31,30,31,30,31,31,30,31,30,31} };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(“Input 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year,month,day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:\n”);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scanf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(“%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d%d%d</a:t>
            </a:r>
            <a:r>
              <a:rPr lang="en-US" altLang="zh-CN" sz="4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anose="02020603050405020304" pitchFamily="18" charset="0"/>
              </a:rPr>
              <a:t>”,&amp;</a:t>
            </a:r>
            <a:r>
              <a:rPr lang="en-US" altLang="zh-CN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year,&amp;month,&amp;day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90291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16013" y="1628775"/>
            <a:ext cx="9551987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if(year%4==0&amp;&amp;year%100!=0||year%400==0)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leap=1;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else  leap=0;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for(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month;i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day=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day+mdtab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3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leap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(“days=%d\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n”,day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  }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84275" y="685800"/>
            <a:ext cx="902652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dist"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0, 31, 28, 31,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30, 31, 30, 31, 31, 30, 31, 30,  31            </a:t>
            </a:r>
          </a:p>
          <a:p>
            <a:pPr algn="dist" eaLnBrk="1" hangingPunct="1">
              <a:spcBef>
                <a:spcPts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0, 31, 29, 31, 30, 31, 30, 31, 31, 30, 31, 30,  31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616075" y="79375"/>
            <a:ext cx="859472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dist" eaLnBrk="1" hangingPunct="1">
              <a:lnSpc>
                <a:spcPct val="125000"/>
              </a:lnSpc>
              <a:spcBef>
                <a:spcPct val="25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五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六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七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十一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十二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798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18556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4543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26164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3328044" y="2684349"/>
            <a:ext cx="6527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spc="800" dirty="0">
                <a:latin typeface="微软雅黑" panose="020B0503020204020204" charset="-122"/>
                <a:ea typeface="微软雅黑" panose="020B0503020204020204" charset="-122"/>
              </a:rPr>
              <a:t>字符数组及字符串处理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3386496" y="3465765"/>
            <a:ext cx="6329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CHARACTER ARRAY AND STRING PROCESSING</a:t>
            </a:r>
          </a:p>
        </p:txBody>
      </p:sp>
      <p:sp>
        <p:nvSpPr>
          <p:cNvPr id="19" name="TextBox 13"/>
          <p:cNvSpPr txBox="1"/>
          <p:nvPr/>
        </p:nvSpPr>
        <p:spPr>
          <a:xfrm>
            <a:off x="699111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05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570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5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8" grpId="0"/>
      <p:bldP spid="1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3CB15D5-FBBB-4FC5-9E8D-33B48C0D5B31}"/>
              </a:ext>
            </a:extLst>
          </p:cNvPr>
          <p:cNvGrpSpPr/>
          <p:nvPr/>
        </p:nvGrpSpPr>
        <p:grpSpPr>
          <a:xfrm>
            <a:off x="14283" y="4598442"/>
            <a:ext cx="6918145" cy="1653502"/>
            <a:chOff x="14283" y="4598442"/>
            <a:chExt cx="6918145" cy="1653502"/>
          </a:xfrm>
        </p:grpSpPr>
        <p:sp>
          <p:nvSpPr>
            <p:cNvPr id="49" name="矩形 31"/>
            <p:cNvSpPr/>
            <p:nvPr/>
          </p:nvSpPr>
          <p:spPr>
            <a:xfrm>
              <a:off x="14283" y="4966174"/>
              <a:ext cx="1154950" cy="128573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矩形 35"/>
            <p:cNvSpPr/>
            <p:nvPr/>
          </p:nvSpPr>
          <p:spPr>
            <a:xfrm>
              <a:off x="3423001" y="4600565"/>
              <a:ext cx="3231130" cy="92664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矩形 28"/>
            <p:cNvSpPr/>
            <p:nvPr/>
          </p:nvSpPr>
          <p:spPr>
            <a:xfrm>
              <a:off x="1163227" y="4598442"/>
              <a:ext cx="2266628" cy="1653502"/>
            </a:xfrm>
            <a:custGeom>
              <a:avLst/>
              <a:gdLst>
                <a:gd name="connsiteX0" fmla="*/ 0 w 1826712"/>
                <a:gd name="connsiteY0" fmla="*/ 0 h 1280593"/>
                <a:gd name="connsiteX1" fmla="*/ 1826712 w 1826712"/>
                <a:gd name="connsiteY1" fmla="*/ 0 h 1280593"/>
                <a:gd name="connsiteX2" fmla="*/ 1826712 w 1826712"/>
                <a:gd name="connsiteY2" fmla="*/ 1280593 h 1280593"/>
                <a:gd name="connsiteX3" fmla="*/ 0 w 1826712"/>
                <a:gd name="connsiteY3" fmla="*/ 1280593 h 1280593"/>
                <a:gd name="connsiteX4" fmla="*/ 0 w 1826712"/>
                <a:gd name="connsiteY4" fmla="*/ 0 h 1280593"/>
                <a:gd name="connsiteX0-1" fmla="*/ 0 w 1826712"/>
                <a:gd name="connsiteY0-2" fmla="*/ 0 h 1280593"/>
                <a:gd name="connsiteX1-3" fmla="*/ 1826712 w 1826712"/>
                <a:gd name="connsiteY1-4" fmla="*/ 0 h 1280593"/>
                <a:gd name="connsiteX2-5" fmla="*/ 1826712 w 1826712"/>
                <a:gd name="connsiteY2-6" fmla="*/ 1280593 h 1280593"/>
                <a:gd name="connsiteX3-7" fmla="*/ 0 w 1826712"/>
                <a:gd name="connsiteY3-8" fmla="*/ 1007543 h 1280593"/>
                <a:gd name="connsiteX4-9" fmla="*/ 0 w 1826712"/>
                <a:gd name="connsiteY4-10" fmla="*/ 0 h 1280593"/>
                <a:gd name="connsiteX0-11" fmla="*/ 0 w 1826712"/>
                <a:gd name="connsiteY0-12" fmla="*/ 0 h 1280593"/>
                <a:gd name="connsiteX1-13" fmla="*/ 1826712 w 1826712"/>
                <a:gd name="connsiteY1-14" fmla="*/ 555625 h 1280593"/>
                <a:gd name="connsiteX2-15" fmla="*/ 1826712 w 1826712"/>
                <a:gd name="connsiteY2-16" fmla="*/ 1280593 h 1280593"/>
                <a:gd name="connsiteX3-17" fmla="*/ 0 w 1826712"/>
                <a:gd name="connsiteY3-18" fmla="*/ 1007543 h 1280593"/>
                <a:gd name="connsiteX4-19" fmla="*/ 0 w 1826712"/>
                <a:gd name="connsiteY4-20" fmla="*/ 0 h 1280593"/>
                <a:gd name="connsiteX0-21" fmla="*/ 0 w 1829887"/>
                <a:gd name="connsiteY0-22" fmla="*/ 0 h 1280593"/>
                <a:gd name="connsiteX1-23" fmla="*/ 1829887 w 1829887"/>
                <a:gd name="connsiteY1-24" fmla="*/ 273050 h 1280593"/>
                <a:gd name="connsiteX2-25" fmla="*/ 1826712 w 1829887"/>
                <a:gd name="connsiteY2-26" fmla="*/ 1280593 h 1280593"/>
                <a:gd name="connsiteX3-27" fmla="*/ 0 w 1829887"/>
                <a:gd name="connsiteY3-28" fmla="*/ 1007543 h 1280593"/>
                <a:gd name="connsiteX4-29" fmla="*/ 0 w 1829887"/>
                <a:gd name="connsiteY4-30" fmla="*/ 0 h 1280593"/>
                <a:gd name="connsiteX0-31" fmla="*/ 0 w 1830192"/>
                <a:gd name="connsiteY0-32" fmla="*/ 0 h 1007543"/>
                <a:gd name="connsiteX1-33" fmla="*/ 1829887 w 1830192"/>
                <a:gd name="connsiteY1-34" fmla="*/ 273050 h 1007543"/>
                <a:gd name="connsiteX2-35" fmla="*/ 1829887 w 1830192"/>
                <a:gd name="connsiteY2-36" fmla="*/ 998018 h 1007543"/>
                <a:gd name="connsiteX3-37" fmla="*/ 0 w 1830192"/>
                <a:gd name="connsiteY3-38" fmla="*/ 1007543 h 1007543"/>
                <a:gd name="connsiteX4-39" fmla="*/ 0 w 1830192"/>
                <a:gd name="connsiteY4-40" fmla="*/ 0 h 1007543"/>
                <a:gd name="connsiteX0-41" fmla="*/ 0 w 1829887"/>
                <a:gd name="connsiteY0-42" fmla="*/ 0 h 1007543"/>
                <a:gd name="connsiteX1-43" fmla="*/ 1829887 w 1829887"/>
                <a:gd name="connsiteY1-44" fmla="*/ 273050 h 1007543"/>
                <a:gd name="connsiteX2-45" fmla="*/ 1823537 w 1829887"/>
                <a:gd name="connsiteY2-46" fmla="*/ 1001193 h 1007543"/>
                <a:gd name="connsiteX3-47" fmla="*/ 0 w 1829887"/>
                <a:gd name="connsiteY3-48" fmla="*/ 1007543 h 1007543"/>
                <a:gd name="connsiteX4-49" fmla="*/ 0 w 1829887"/>
                <a:gd name="connsiteY4-50" fmla="*/ 0 h 1007543"/>
                <a:gd name="connsiteX0-51" fmla="*/ 0 w 1830192"/>
                <a:gd name="connsiteY0-52" fmla="*/ 0 h 1007543"/>
                <a:gd name="connsiteX1-53" fmla="*/ 1829887 w 1830192"/>
                <a:gd name="connsiteY1-54" fmla="*/ 273050 h 1007543"/>
                <a:gd name="connsiteX2-55" fmla="*/ 1829887 w 1830192"/>
                <a:gd name="connsiteY2-56" fmla="*/ 1001193 h 1007543"/>
                <a:gd name="connsiteX3-57" fmla="*/ 0 w 1830192"/>
                <a:gd name="connsiteY3-58" fmla="*/ 1007543 h 1007543"/>
                <a:gd name="connsiteX4-59" fmla="*/ 0 w 1830192"/>
                <a:gd name="connsiteY4-60" fmla="*/ 0 h 1007543"/>
                <a:gd name="connsiteX0-61" fmla="*/ 0 w 1829887"/>
                <a:gd name="connsiteY0-62" fmla="*/ 0 h 1007543"/>
                <a:gd name="connsiteX1-63" fmla="*/ 1829887 w 1829887"/>
                <a:gd name="connsiteY1-64" fmla="*/ 273050 h 1007543"/>
                <a:gd name="connsiteX2-65" fmla="*/ 1826712 w 1829887"/>
                <a:gd name="connsiteY2-66" fmla="*/ 1001193 h 1007543"/>
                <a:gd name="connsiteX3-67" fmla="*/ 0 w 1829887"/>
                <a:gd name="connsiteY3-68" fmla="*/ 1007543 h 1007543"/>
                <a:gd name="connsiteX4-69" fmla="*/ 0 w 1829887"/>
                <a:gd name="connsiteY4-70" fmla="*/ 0 h 1007543"/>
                <a:gd name="connsiteX0-71" fmla="*/ 0 w 1829887"/>
                <a:gd name="connsiteY0-72" fmla="*/ 0 h 1001193"/>
                <a:gd name="connsiteX1-73" fmla="*/ 1829887 w 1829887"/>
                <a:gd name="connsiteY1-74" fmla="*/ 273050 h 1001193"/>
                <a:gd name="connsiteX2-75" fmla="*/ 1826712 w 1829887"/>
                <a:gd name="connsiteY2-76" fmla="*/ 1001193 h 1001193"/>
                <a:gd name="connsiteX3-77" fmla="*/ 0 w 1829887"/>
                <a:gd name="connsiteY3-78" fmla="*/ 998018 h 1001193"/>
                <a:gd name="connsiteX4-79" fmla="*/ 0 w 1829887"/>
                <a:gd name="connsiteY4-80" fmla="*/ 0 h 1001193"/>
                <a:gd name="connsiteX0-81" fmla="*/ 0 w 1832268"/>
                <a:gd name="connsiteY0-82" fmla="*/ 5556 h 1006749"/>
                <a:gd name="connsiteX1-83" fmla="*/ 1832268 w 1832268"/>
                <a:gd name="connsiteY1-84" fmla="*/ 0 h 1006749"/>
                <a:gd name="connsiteX2-85" fmla="*/ 1826712 w 1832268"/>
                <a:gd name="connsiteY2-86" fmla="*/ 1006749 h 1006749"/>
                <a:gd name="connsiteX3-87" fmla="*/ 0 w 1832268"/>
                <a:gd name="connsiteY3-88" fmla="*/ 1003574 h 1006749"/>
                <a:gd name="connsiteX4-89" fmla="*/ 0 w 1832268"/>
                <a:gd name="connsiteY4-90" fmla="*/ 5556 h 1006749"/>
                <a:gd name="connsiteX0-91" fmla="*/ 0 w 1832268"/>
                <a:gd name="connsiteY0-92" fmla="*/ 5556 h 1003574"/>
                <a:gd name="connsiteX1-93" fmla="*/ 1832268 w 1832268"/>
                <a:gd name="connsiteY1-94" fmla="*/ 0 h 1003574"/>
                <a:gd name="connsiteX2-95" fmla="*/ 1829093 w 1832268"/>
                <a:gd name="connsiteY2-96" fmla="*/ 720999 h 1003574"/>
                <a:gd name="connsiteX3-97" fmla="*/ 0 w 1832268"/>
                <a:gd name="connsiteY3-98" fmla="*/ 1003574 h 1003574"/>
                <a:gd name="connsiteX4-99" fmla="*/ 0 w 1832268"/>
                <a:gd name="connsiteY4-100" fmla="*/ 5556 h 1003574"/>
                <a:gd name="connsiteX0-101" fmla="*/ 0 w 1834649"/>
                <a:gd name="connsiteY0-102" fmla="*/ 793 h 1003574"/>
                <a:gd name="connsiteX1-103" fmla="*/ 1834649 w 1834649"/>
                <a:gd name="connsiteY1-104" fmla="*/ 0 h 1003574"/>
                <a:gd name="connsiteX2-105" fmla="*/ 1831474 w 1834649"/>
                <a:gd name="connsiteY2-106" fmla="*/ 720999 h 1003574"/>
                <a:gd name="connsiteX3-107" fmla="*/ 2381 w 1834649"/>
                <a:gd name="connsiteY3-108" fmla="*/ 1003574 h 1003574"/>
                <a:gd name="connsiteX4-109" fmla="*/ 0 w 1834649"/>
                <a:gd name="connsiteY4-110" fmla="*/ 793 h 1003574"/>
                <a:gd name="connsiteX0-111" fmla="*/ 0 w 1834649"/>
                <a:gd name="connsiteY0-112" fmla="*/ 284162 h 1286943"/>
                <a:gd name="connsiteX1-113" fmla="*/ 1834649 w 1834649"/>
                <a:gd name="connsiteY1-114" fmla="*/ 0 h 1286943"/>
                <a:gd name="connsiteX2-115" fmla="*/ 1831474 w 1834649"/>
                <a:gd name="connsiteY2-116" fmla="*/ 1004368 h 1286943"/>
                <a:gd name="connsiteX3-117" fmla="*/ 2381 w 1834649"/>
                <a:gd name="connsiteY3-118" fmla="*/ 1286943 h 1286943"/>
                <a:gd name="connsiteX4-119" fmla="*/ 0 w 1834649"/>
                <a:gd name="connsiteY4-120" fmla="*/ 284162 h 1286943"/>
                <a:gd name="connsiteX0-121" fmla="*/ 0 w 1834649"/>
                <a:gd name="connsiteY0-122" fmla="*/ 284162 h 1286943"/>
                <a:gd name="connsiteX1-123" fmla="*/ 1834649 w 1834649"/>
                <a:gd name="connsiteY1-124" fmla="*/ 0 h 1286943"/>
                <a:gd name="connsiteX2-125" fmla="*/ 1829093 w 1834649"/>
                <a:gd name="connsiteY2-126" fmla="*/ 721000 h 1286943"/>
                <a:gd name="connsiteX3-127" fmla="*/ 2381 w 1834649"/>
                <a:gd name="connsiteY3-128" fmla="*/ 1286943 h 1286943"/>
                <a:gd name="connsiteX4-129" fmla="*/ 0 w 1834649"/>
                <a:gd name="connsiteY4-130" fmla="*/ 284162 h 1286943"/>
                <a:gd name="connsiteX0-131" fmla="*/ 229 w 1834878"/>
                <a:gd name="connsiteY0-132" fmla="*/ 284162 h 1289324"/>
                <a:gd name="connsiteX1-133" fmla="*/ 1834878 w 1834878"/>
                <a:gd name="connsiteY1-134" fmla="*/ 0 h 1289324"/>
                <a:gd name="connsiteX2-135" fmla="*/ 1829322 w 1834878"/>
                <a:gd name="connsiteY2-136" fmla="*/ 721000 h 1289324"/>
                <a:gd name="connsiteX3-137" fmla="*/ 229 w 1834878"/>
                <a:gd name="connsiteY3-138" fmla="*/ 1289324 h 1289324"/>
                <a:gd name="connsiteX4-139" fmla="*/ 229 w 1834878"/>
                <a:gd name="connsiteY4-140" fmla="*/ 284162 h 1289324"/>
                <a:gd name="connsiteX0-141" fmla="*/ 2486 w 1837135"/>
                <a:gd name="connsiteY0-142" fmla="*/ 284162 h 1296468"/>
                <a:gd name="connsiteX1-143" fmla="*/ 1837135 w 1837135"/>
                <a:gd name="connsiteY1-144" fmla="*/ 0 h 1296468"/>
                <a:gd name="connsiteX2-145" fmla="*/ 1831579 w 1837135"/>
                <a:gd name="connsiteY2-146" fmla="*/ 721000 h 1296468"/>
                <a:gd name="connsiteX3-147" fmla="*/ 105 w 1837135"/>
                <a:gd name="connsiteY3-148" fmla="*/ 1296468 h 1296468"/>
                <a:gd name="connsiteX4-149" fmla="*/ 2486 w 1837135"/>
                <a:gd name="connsiteY4-150" fmla="*/ 284162 h 1296468"/>
                <a:gd name="connsiteX0-151" fmla="*/ 2486 w 1837135"/>
                <a:gd name="connsiteY0-152" fmla="*/ 284162 h 1296468"/>
                <a:gd name="connsiteX1-153" fmla="*/ 1837135 w 1837135"/>
                <a:gd name="connsiteY1-154" fmla="*/ 0 h 1296468"/>
                <a:gd name="connsiteX2-155" fmla="*/ 1836342 w 1837135"/>
                <a:gd name="connsiteY2-156" fmla="*/ 728144 h 1296468"/>
                <a:gd name="connsiteX3-157" fmla="*/ 105 w 1837135"/>
                <a:gd name="connsiteY3-158" fmla="*/ 1296468 h 1296468"/>
                <a:gd name="connsiteX4-159" fmla="*/ 2486 w 1837135"/>
                <a:gd name="connsiteY4-160" fmla="*/ 284162 h 1296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37135" h="1296468">
                  <a:moveTo>
                    <a:pt x="2486" y="284162"/>
                  </a:moveTo>
                  <a:lnTo>
                    <a:pt x="1837135" y="0"/>
                  </a:lnTo>
                  <a:cubicBezTo>
                    <a:pt x="1836077" y="335848"/>
                    <a:pt x="1837400" y="392296"/>
                    <a:pt x="1836342" y="728144"/>
                  </a:cubicBezTo>
                  <a:lnTo>
                    <a:pt x="105" y="1296468"/>
                  </a:lnTo>
                  <a:cubicBezTo>
                    <a:pt x="-689" y="962208"/>
                    <a:pt x="3280" y="618422"/>
                    <a:pt x="2486" y="2841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TextBox 55"/>
            <p:cNvSpPr txBox="1"/>
            <p:nvPr/>
          </p:nvSpPr>
          <p:spPr>
            <a:xfrm>
              <a:off x="3633492" y="4814646"/>
              <a:ext cx="2882914" cy="52337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6.5.4</a:t>
              </a:r>
            </a:p>
          </p:txBody>
        </p:sp>
        <p:sp>
          <p:nvSpPr>
            <p:cNvPr id="82" name="等腰三角形 78"/>
            <p:cNvSpPr/>
            <p:nvPr/>
          </p:nvSpPr>
          <p:spPr>
            <a:xfrm rot="5400000">
              <a:off x="6626424" y="4925358"/>
              <a:ext cx="333711" cy="27829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矩形 44">
              <a:extLst>
                <a:ext uri="{FF2B5EF4-FFF2-40B4-BE49-F238E27FC236}">
                  <a16:creationId xmlns:a16="http://schemas.microsoft.com/office/drawing/2014/main" id="{DBF75BEC-E906-4A64-BCF4-82AD00DC8E1D}"/>
                </a:ext>
              </a:extLst>
            </p:cNvPr>
            <p:cNvSpPr/>
            <p:nvPr/>
          </p:nvSpPr>
          <p:spPr>
            <a:xfrm rot="10800000">
              <a:off x="525781" y="4968418"/>
              <a:ext cx="645650" cy="127856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矩形 43">
              <a:extLst>
                <a:ext uri="{FF2B5EF4-FFF2-40B4-BE49-F238E27FC236}">
                  <a16:creationId xmlns:a16="http://schemas.microsoft.com/office/drawing/2014/main" id="{313C9A43-8ACB-4C2C-87AA-BAA62DF0E92E}"/>
                </a:ext>
              </a:extLst>
            </p:cNvPr>
            <p:cNvSpPr/>
            <p:nvPr/>
          </p:nvSpPr>
          <p:spPr>
            <a:xfrm>
              <a:off x="3434564" y="4600623"/>
              <a:ext cx="645650" cy="91096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A3275F6-C90A-4452-9100-B3956372C167}"/>
              </a:ext>
            </a:extLst>
          </p:cNvPr>
          <p:cNvGrpSpPr/>
          <p:nvPr/>
        </p:nvGrpSpPr>
        <p:grpSpPr>
          <a:xfrm>
            <a:off x="14283" y="3673919"/>
            <a:ext cx="6918145" cy="1295838"/>
            <a:chOff x="14283" y="3673919"/>
            <a:chExt cx="6918145" cy="1295838"/>
          </a:xfrm>
        </p:grpSpPr>
        <p:sp>
          <p:nvSpPr>
            <p:cNvPr id="50" name="矩形 32"/>
            <p:cNvSpPr/>
            <p:nvPr/>
          </p:nvSpPr>
          <p:spPr>
            <a:xfrm>
              <a:off x="14283" y="3680438"/>
              <a:ext cx="1154950" cy="128573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矩形 36"/>
            <p:cNvSpPr/>
            <p:nvPr/>
          </p:nvSpPr>
          <p:spPr>
            <a:xfrm>
              <a:off x="3423001" y="3673919"/>
              <a:ext cx="3231130" cy="9266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矩形 28"/>
            <p:cNvSpPr/>
            <p:nvPr/>
          </p:nvSpPr>
          <p:spPr>
            <a:xfrm>
              <a:off x="1169234" y="3685974"/>
              <a:ext cx="2262819" cy="1279948"/>
            </a:xfrm>
            <a:custGeom>
              <a:avLst/>
              <a:gdLst>
                <a:gd name="connsiteX0" fmla="*/ 0 w 1826712"/>
                <a:gd name="connsiteY0" fmla="*/ 0 h 1280593"/>
                <a:gd name="connsiteX1" fmla="*/ 1826712 w 1826712"/>
                <a:gd name="connsiteY1" fmla="*/ 0 h 1280593"/>
                <a:gd name="connsiteX2" fmla="*/ 1826712 w 1826712"/>
                <a:gd name="connsiteY2" fmla="*/ 1280593 h 1280593"/>
                <a:gd name="connsiteX3" fmla="*/ 0 w 1826712"/>
                <a:gd name="connsiteY3" fmla="*/ 1280593 h 1280593"/>
                <a:gd name="connsiteX4" fmla="*/ 0 w 1826712"/>
                <a:gd name="connsiteY4" fmla="*/ 0 h 1280593"/>
                <a:gd name="connsiteX0-1" fmla="*/ 0 w 1826712"/>
                <a:gd name="connsiteY0-2" fmla="*/ 0 h 1280593"/>
                <a:gd name="connsiteX1-3" fmla="*/ 1826712 w 1826712"/>
                <a:gd name="connsiteY1-4" fmla="*/ 0 h 1280593"/>
                <a:gd name="connsiteX2-5" fmla="*/ 1826712 w 1826712"/>
                <a:gd name="connsiteY2-6" fmla="*/ 1280593 h 1280593"/>
                <a:gd name="connsiteX3-7" fmla="*/ 0 w 1826712"/>
                <a:gd name="connsiteY3-8" fmla="*/ 1007543 h 1280593"/>
                <a:gd name="connsiteX4-9" fmla="*/ 0 w 1826712"/>
                <a:gd name="connsiteY4-10" fmla="*/ 0 h 1280593"/>
                <a:gd name="connsiteX0-11" fmla="*/ 0 w 1826712"/>
                <a:gd name="connsiteY0-12" fmla="*/ 0 h 1280593"/>
                <a:gd name="connsiteX1-13" fmla="*/ 1826712 w 1826712"/>
                <a:gd name="connsiteY1-14" fmla="*/ 555625 h 1280593"/>
                <a:gd name="connsiteX2-15" fmla="*/ 1826712 w 1826712"/>
                <a:gd name="connsiteY2-16" fmla="*/ 1280593 h 1280593"/>
                <a:gd name="connsiteX3-17" fmla="*/ 0 w 1826712"/>
                <a:gd name="connsiteY3-18" fmla="*/ 1007543 h 1280593"/>
                <a:gd name="connsiteX4-19" fmla="*/ 0 w 1826712"/>
                <a:gd name="connsiteY4-20" fmla="*/ 0 h 1280593"/>
                <a:gd name="connsiteX0-21" fmla="*/ 0 w 1829887"/>
                <a:gd name="connsiteY0-22" fmla="*/ 0 h 1280593"/>
                <a:gd name="connsiteX1-23" fmla="*/ 1829887 w 1829887"/>
                <a:gd name="connsiteY1-24" fmla="*/ 273050 h 1280593"/>
                <a:gd name="connsiteX2-25" fmla="*/ 1826712 w 1829887"/>
                <a:gd name="connsiteY2-26" fmla="*/ 1280593 h 1280593"/>
                <a:gd name="connsiteX3-27" fmla="*/ 0 w 1829887"/>
                <a:gd name="connsiteY3-28" fmla="*/ 1007543 h 1280593"/>
                <a:gd name="connsiteX4-29" fmla="*/ 0 w 1829887"/>
                <a:gd name="connsiteY4-30" fmla="*/ 0 h 1280593"/>
                <a:gd name="connsiteX0-31" fmla="*/ 0 w 1830192"/>
                <a:gd name="connsiteY0-32" fmla="*/ 0 h 1007543"/>
                <a:gd name="connsiteX1-33" fmla="*/ 1829887 w 1830192"/>
                <a:gd name="connsiteY1-34" fmla="*/ 273050 h 1007543"/>
                <a:gd name="connsiteX2-35" fmla="*/ 1829887 w 1830192"/>
                <a:gd name="connsiteY2-36" fmla="*/ 998018 h 1007543"/>
                <a:gd name="connsiteX3-37" fmla="*/ 0 w 1830192"/>
                <a:gd name="connsiteY3-38" fmla="*/ 1007543 h 1007543"/>
                <a:gd name="connsiteX4-39" fmla="*/ 0 w 1830192"/>
                <a:gd name="connsiteY4-40" fmla="*/ 0 h 1007543"/>
                <a:gd name="connsiteX0-41" fmla="*/ 0 w 1829887"/>
                <a:gd name="connsiteY0-42" fmla="*/ 0 h 1007543"/>
                <a:gd name="connsiteX1-43" fmla="*/ 1829887 w 1829887"/>
                <a:gd name="connsiteY1-44" fmla="*/ 273050 h 1007543"/>
                <a:gd name="connsiteX2-45" fmla="*/ 1823537 w 1829887"/>
                <a:gd name="connsiteY2-46" fmla="*/ 1001193 h 1007543"/>
                <a:gd name="connsiteX3-47" fmla="*/ 0 w 1829887"/>
                <a:gd name="connsiteY3-48" fmla="*/ 1007543 h 1007543"/>
                <a:gd name="connsiteX4-49" fmla="*/ 0 w 1829887"/>
                <a:gd name="connsiteY4-50" fmla="*/ 0 h 1007543"/>
                <a:gd name="connsiteX0-51" fmla="*/ 0 w 1830192"/>
                <a:gd name="connsiteY0-52" fmla="*/ 0 h 1007543"/>
                <a:gd name="connsiteX1-53" fmla="*/ 1829887 w 1830192"/>
                <a:gd name="connsiteY1-54" fmla="*/ 273050 h 1007543"/>
                <a:gd name="connsiteX2-55" fmla="*/ 1829887 w 1830192"/>
                <a:gd name="connsiteY2-56" fmla="*/ 1001193 h 1007543"/>
                <a:gd name="connsiteX3-57" fmla="*/ 0 w 1830192"/>
                <a:gd name="connsiteY3-58" fmla="*/ 1007543 h 1007543"/>
                <a:gd name="connsiteX4-59" fmla="*/ 0 w 1830192"/>
                <a:gd name="connsiteY4-60" fmla="*/ 0 h 1007543"/>
                <a:gd name="connsiteX0-61" fmla="*/ 0 w 1829887"/>
                <a:gd name="connsiteY0-62" fmla="*/ 0 h 1007543"/>
                <a:gd name="connsiteX1-63" fmla="*/ 1829887 w 1829887"/>
                <a:gd name="connsiteY1-64" fmla="*/ 273050 h 1007543"/>
                <a:gd name="connsiteX2-65" fmla="*/ 1826712 w 1829887"/>
                <a:gd name="connsiteY2-66" fmla="*/ 1001193 h 1007543"/>
                <a:gd name="connsiteX3-67" fmla="*/ 0 w 1829887"/>
                <a:gd name="connsiteY3-68" fmla="*/ 1007543 h 1007543"/>
                <a:gd name="connsiteX4-69" fmla="*/ 0 w 1829887"/>
                <a:gd name="connsiteY4-70" fmla="*/ 0 h 1007543"/>
                <a:gd name="connsiteX0-71" fmla="*/ 0 w 1829887"/>
                <a:gd name="connsiteY0-72" fmla="*/ 0 h 1001193"/>
                <a:gd name="connsiteX1-73" fmla="*/ 1829887 w 1829887"/>
                <a:gd name="connsiteY1-74" fmla="*/ 273050 h 1001193"/>
                <a:gd name="connsiteX2-75" fmla="*/ 1826712 w 1829887"/>
                <a:gd name="connsiteY2-76" fmla="*/ 1001193 h 1001193"/>
                <a:gd name="connsiteX3-77" fmla="*/ 0 w 1829887"/>
                <a:gd name="connsiteY3-78" fmla="*/ 998018 h 1001193"/>
                <a:gd name="connsiteX4-79" fmla="*/ 0 w 1829887"/>
                <a:gd name="connsiteY4-80" fmla="*/ 0 h 1001193"/>
                <a:gd name="connsiteX0-81" fmla="*/ 0 w 1832268"/>
                <a:gd name="connsiteY0-82" fmla="*/ 5556 h 1006749"/>
                <a:gd name="connsiteX1-83" fmla="*/ 1832268 w 1832268"/>
                <a:gd name="connsiteY1-84" fmla="*/ 0 h 1006749"/>
                <a:gd name="connsiteX2-85" fmla="*/ 1826712 w 1832268"/>
                <a:gd name="connsiteY2-86" fmla="*/ 1006749 h 1006749"/>
                <a:gd name="connsiteX3-87" fmla="*/ 0 w 1832268"/>
                <a:gd name="connsiteY3-88" fmla="*/ 1003574 h 1006749"/>
                <a:gd name="connsiteX4-89" fmla="*/ 0 w 1832268"/>
                <a:gd name="connsiteY4-90" fmla="*/ 5556 h 1006749"/>
                <a:gd name="connsiteX0-91" fmla="*/ 0 w 1832268"/>
                <a:gd name="connsiteY0-92" fmla="*/ 5556 h 1003574"/>
                <a:gd name="connsiteX1-93" fmla="*/ 1832268 w 1832268"/>
                <a:gd name="connsiteY1-94" fmla="*/ 0 h 1003574"/>
                <a:gd name="connsiteX2-95" fmla="*/ 1829093 w 1832268"/>
                <a:gd name="connsiteY2-96" fmla="*/ 720999 h 1003574"/>
                <a:gd name="connsiteX3-97" fmla="*/ 0 w 1832268"/>
                <a:gd name="connsiteY3-98" fmla="*/ 1003574 h 1003574"/>
                <a:gd name="connsiteX4-99" fmla="*/ 0 w 1832268"/>
                <a:gd name="connsiteY4-100" fmla="*/ 5556 h 1003574"/>
                <a:gd name="connsiteX0-101" fmla="*/ 0 w 1834048"/>
                <a:gd name="connsiteY0-102" fmla="*/ 5556 h 1003574"/>
                <a:gd name="connsiteX1-103" fmla="*/ 1832268 w 1834048"/>
                <a:gd name="connsiteY1-104" fmla="*/ 0 h 1003574"/>
                <a:gd name="connsiteX2-105" fmla="*/ 1833856 w 1834048"/>
                <a:gd name="connsiteY2-106" fmla="*/ 720999 h 1003574"/>
                <a:gd name="connsiteX3-107" fmla="*/ 0 w 1834048"/>
                <a:gd name="connsiteY3-108" fmla="*/ 1003574 h 1003574"/>
                <a:gd name="connsiteX4-109" fmla="*/ 0 w 1834048"/>
                <a:gd name="connsiteY4-110" fmla="*/ 5556 h 1003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34048" h="1003574">
                  <a:moveTo>
                    <a:pt x="0" y="5556"/>
                  </a:moveTo>
                  <a:lnTo>
                    <a:pt x="1832268" y="0"/>
                  </a:lnTo>
                  <a:cubicBezTo>
                    <a:pt x="1831210" y="335848"/>
                    <a:pt x="1834914" y="385151"/>
                    <a:pt x="1833856" y="720999"/>
                  </a:cubicBezTo>
                  <a:lnTo>
                    <a:pt x="0" y="1003574"/>
                  </a:lnTo>
                  <a:lnTo>
                    <a:pt x="0" y="55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TextBox 54"/>
            <p:cNvSpPr txBox="1"/>
            <p:nvPr/>
          </p:nvSpPr>
          <p:spPr>
            <a:xfrm>
              <a:off x="3633492" y="3896264"/>
              <a:ext cx="2882914" cy="52337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6.5.3</a:t>
              </a:r>
            </a:p>
          </p:txBody>
        </p:sp>
        <p:sp>
          <p:nvSpPr>
            <p:cNvPr id="81" name="等腰三角形 77"/>
            <p:cNvSpPr/>
            <p:nvPr/>
          </p:nvSpPr>
          <p:spPr>
            <a:xfrm rot="5400000">
              <a:off x="6626424" y="3998093"/>
              <a:ext cx="333711" cy="27829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矩形 44">
              <a:extLst>
                <a:ext uri="{FF2B5EF4-FFF2-40B4-BE49-F238E27FC236}">
                  <a16:creationId xmlns:a16="http://schemas.microsoft.com/office/drawing/2014/main" id="{D5112013-CAB4-424F-B771-E7A4759CEA6F}"/>
                </a:ext>
              </a:extLst>
            </p:cNvPr>
            <p:cNvSpPr/>
            <p:nvPr/>
          </p:nvSpPr>
          <p:spPr>
            <a:xfrm rot="10800000">
              <a:off x="525781" y="3691188"/>
              <a:ext cx="645650" cy="127856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矩形 43">
              <a:extLst>
                <a:ext uri="{FF2B5EF4-FFF2-40B4-BE49-F238E27FC236}">
                  <a16:creationId xmlns:a16="http://schemas.microsoft.com/office/drawing/2014/main" id="{0E36111C-9994-4E8C-B6B2-68E209968FB2}"/>
                </a:ext>
              </a:extLst>
            </p:cNvPr>
            <p:cNvSpPr/>
            <p:nvPr/>
          </p:nvSpPr>
          <p:spPr>
            <a:xfrm>
              <a:off x="3436508" y="3694762"/>
              <a:ext cx="645650" cy="91096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E448634-279A-493C-BC32-1BDE0911A703}"/>
              </a:ext>
            </a:extLst>
          </p:cNvPr>
          <p:cNvGrpSpPr/>
          <p:nvPr/>
        </p:nvGrpSpPr>
        <p:grpSpPr>
          <a:xfrm>
            <a:off x="14283" y="2407324"/>
            <a:ext cx="6918145" cy="1288379"/>
            <a:chOff x="14283" y="2407324"/>
            <a:chExt cx="6918145" cy="1288379"/>
          </a:xfrm>
        </p:grpSpPr>
        <p:sp>
          <p:nvSpPr>
            <p:cNvPr id="51" name="矩形 33"/>
            <p:cNvSpPr/>
            <p:nvPr/>
          </p:nvSpPr>
          <p:spPr>
            <a:xfrm>
              <a:off x="14283" y="2407324"/>
              <a:ext cx="1154950" cy="12857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矩形 37"/>
            <p:cNvSpPr/>
            <p:nvPr/>
          </p:nvSpPr>
          <p:spPr>
            <a:xfrm>
              <a:off x="3423001" y="2756370"/>
              <a:ext cx="3231130" cy="9266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28"/>
            <p:cNvSpPr/>
            <p:nvPr/>
          </p:nvSpPr>
          <p:spPr>
            <a:xfrm>
              <a:off x="1169233" y="2409753"/>
              <a:ext cx="2257685" cy="1285010"/>
            </a:xfrm>
            <a:custGeom>
              <a:avLst/>
              <a:gdLst>
                <a:gd name="connsiteX0" fmla="*/ 0 w 1826712"/>
                <a:gd name="connsiteY0" fmla="*/ 0 h 1280593"/>
                <a:gd name="connsiteX1" fmla="*/ 1826712 w 1826712"/>
                <a:gd name="connsiteY1" fmla="*/ 0 h 1280593"/>
                <a:gd name="connsiteX2" fmla="*/ 1826712 w 1826712"/>
                <a:gd name="connsiteY2" fmla="*/ 1280593 h 1280593"/>
                <a:gd name="connsiteX3" fmla="*/ 0 w 1826712"/>
                <a:gd name="connsiteY3" fmla="*/ 1280593 h 1280593"/>
                <a:gd name="connsiteX4" fmla="*/ 0 w 1826712"/>
                <a:gd name="connsiteY4" fmla="*/ 0 h 1280593"/>
                <a:gd name="connsiteX0-1" fmla="*/ 0 w 1826712"/>
                <a:gd name="connsiteY0-2" fmla="*/ 0 h 1280593"/>
                <a:gd name="connsiteX1-3" fmla="*/ 1826712 w 1826712"/>
                <a:gd name="connsiteY1-4" fmla="*/ 0 h 1280593"/>
                <a:gd name="connsiteX2-5" fmla="*/ 1826712 w 1826712"/>
                <a:gd name="connsiteY2-6" fmla="*/ 1280593 h 1280593"/>
                <a:gd name="connsiteX3-7" fmla="*/ 0 w 1826712"/>
                <a:gd name="connsiteY3-8" fmla="*/ 1007543 h 1280593"/>
                <a:gd name="connsiteX4-9" fmla="*/ 0 w 1826712"/>
                <a:gd name="connsiteY4-10" fmla="*/ 0 h 1280593"/>
                <a:gd name="connsiteX0-11" fmla="*/ 0 w 1826712"/>
                <a:gd name="connsiteY0-12" fmla="*/ 0 h 1280593"/>
                <a:gd name="connsiteX1-13" fmla="*/ 1826712 w 1826712"/>
                <a:gd name="connsiteY1-14" fmla="*/ 555625 h 1280593"/>
                <a:gd name="connsiteX2-15" fmla="*/ 1826712 w 1826712"/>
                <a:gd name="connsiteY2-16" fmla="*/ 1280593 h 1280593"/>
                <a:gd name="connsiteX3-17" fmla="*/ 0 w 1826712"/>
                <a:gd name="connsiteY3-18" fmla="*/ 1007543 h 1280593"/>
                <a:gd name="connsiteX4-19" fmla="*/ 0 w 1826712"/>
                <a:gd name="connsiteY4-20" fmla="*/ 0 h 1280593"/>
                <a:gd name="connsiteX0-21" fmla="*/ 0 w 1829887"/>
                <a:gd name="connsiteY0-22" fmla="*/ 0 h 1280593"/>
                <a:gd name="connsiteX1-23" fmla="*/ 1829887 w 1829887"/>
                <a:gd name="connsiteY1-24" fmla="*/ 273050 h 1280593"/>
                <a:gd name="connsiteX2-25" fmla="*/ 1826712 w 1829887"/>
                <a:gd name="connsiteY2-26" fmla="*/ 1280593 h 1280593"/>
                <a:gd name="connsiteX3-27" fmla="*/ 0 w 1829887"/>
                <a:gd name="connsiteY3-28" fmla="*/ 1007543 h 1280593"/>
                <a:gd name="connsiteX4-29" fmla="*/ 0 w 1829887"/>
                <a:gd name="connsiteY4-30" fmla="*/ 0 h 1280593"/>
                <a:gd name="connsiteX0-31" fmla="*/ 0 w 1830192"/>
                <a:gd name="connsiteY0-32" fmla="*/ 0 h 1007543"/>
                <a:gd name="connsiteX1-33" fmla="*/ 1829887 w 1830192"/>
                <a:gd name="connsiteY1-34" fmla="*/ 273050 h 1007543"/>
                <a:gd name="connsiteX2-35" fmla="*/ 1829887 w 1830192"/>
                <a:gd name="connsiteY2-36" fmla="*/ 998018 h 1007543"/>
                <a:gd name="connsiteX3-37" fmla="*/ 0 w 1830192"/>
                <a:gd name="connsiteY3-38" fmla="*/ 1007543 h 1007543"/>
                <a:gd name="connsiteX4-39" fmla="*/ 0 w 1830192"/>
                <a:gd name="connsiteY4-40" fmla="*/ 0 h 1007543"/>
                <a:gd name="connsiteX0-41" fmla="*/ 0 w 1829887"/>
                <a:gd name="connsiteY0-42" fmla="*/ 0 h 1007543"/>
                <a:gd name="connsiteX1-43" fmla="*/ 1829887 w 1829887"/>
                <a:gd name="connsiteY1-44" fmla="*/ 273050 h 1007543"/>
                <a:gd name="connsiteX2-45" fmla="*/ 1823537 w 1829887"/>
                <a:gd name="connsiteY2-46" fmla="*/ 1001193 h 1007543"/>
                <a:gd name="connsiteX3-47" fmla="*/ 0 w 1829887"/>
                <a:gd name="connsiteY3-48" fmla="*/ 1007543 h 1007543"/>
                <a:gd name="connsiteX4-49" fmla="*/ 0 w 1829887"/>
                <a:gd name="connsiteY4-50" fmla="*/ 0 h 1007543"/>
                <a:gd name="connsiteX0-51" fmla="*/ 0 w 1830192"/>
                <a:gd name="connsiteY0-52" fmla="*/ 0 h 1007543"/>
                <a:gd name="connsiteX1-53" fmla="*/ 1829887 w 1830192"/>
                <a:gd name="connsiteY1-54" fmla="*/ 273050 h 1007543"/>
                <a:gd name="connsiteX2-55" fmla="*/ 1829887 w 1830192"/>
                <a:gd name="connsiteY2-56" fmla="*/ 1001193 h 1007543"/>
                <a:gd name="connsiteX3-57" fmla="*/ 0 w 1830192"/>
                <a:gd name="connsiteY3-58" fmla="*/ 1007543 h 1007543"/>
                <a:gd name="connsiteX4-59" fmla="*/ 0 w 1830192"/>
                <a:gd name="connsiteY4-60" fmla="*/ 0 h 1007543"/>
                <a:gd name="connsiteX0-61" fmla="*/ 0 w 1829887"/>
                <a:gd name="connsiteY0-62" fmla="*/ 0 h 1007543"/>
                <a:gd name="connsiteX1-63" fmla="*/ 1829887 w 1829887"/>
                <a:gd name="connsiteY1-64" fmla="*/ 273050 h 1007543"/>
                <a:gd name="connsiteX2-65" fmla="*/ 1826712 w 1829887"/>
                <a:gd name="connsiteY2-66" fmla="*/ 1001193 h 1007543"/>
                <a:gd name="connsiteX3-67" fmla="*/ 0 w 1829887"/>
                <a:gd name="connsiteY3-68" fmla="*/ 1007543 h 1007543"/>
                <a:gd name="connsiteX4-69" fmla="*/ 0 w 1829887"/>
                <a:gd name="connsiteY4-70" fmla="*/ 0 h 1007543"/>
                <a:gd name="connsiteX0-71" fmla="*/ 0 w 1833980"/>
                <a:gd name="connsiteY0-72" fmla="*/ 0 h 1007543"/>
                <a:gd name="connsiteX1-73" fmla="*/ 1829887 w 1833980"/>
                <a:gd name="connsiteY1-74" fmla="*/ 273050 h 1007543"/>
                <a:gd name="connsiteX2-75" fmla="*/ 1833856 w 1833980"/>
                <a:gd name="connsiteY2-76" fmla="*/ 1001193 h 1007543"/>
                <a:gd name="connsiteX3-77" fmla="*/ 0 w 1833980"/>
                <a:gd name="connsiteY3-78" fmla="*/ 1007543 h 1007543"/>
                <a:gd name="connsiteX4-79" fmla="*/ 0 w 1833980"/>
                <a:gd name="connsiteY4-80" fmla="*/ 0 h 1007543"/>
                <a:gd name="connsiteX0-81" fmla="*/ 0 w 1829887"/>
                <a:gd name="connsiteY0-82" fmla="*/ 0 h 1007543"/>
                <a:gd name="connsiteX1-83" fmla="*/ 1829887 w 1829887"/>
                <a:gd name="connsiteY1-84" fmla="*/ 273050 h 1007543"/>
                <a:gd name="connsiteX2-85" fmla="*/ 1829093 w 1829887"/>
                <a:gd name="connsiteY2-86" fmla="*/ 1003575 h 1007543"/>
                <a:gd name="connsiteX3-87" fmla="*/ 0 w 1829887"/>
                <a:gd name="connsiteY3-88" fmla="*/ 1007543 h 1007543"/>
                <a:gd name="connsiteX4-89" fmla="*/ 0 w 1829887"/>
                <a:gd name="connsiteY4-90" fmla="*/ 0 h 10075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9887" h="1007543">
                  <a:moveTo>
                    <a:pt x="0" y="0"/>
                  </a:moveTo>
                  <a:lnTo>
                    <a:pt x="1829887" y="273050"/>
                  </a:lnTo>
                  <a:cubicBezTo>
                    <a:pt x="1828829" y="608898"/>
                    <a:pt x="1830151" y="667727"/>
                    <a:pt x="1829093" y="1003575"/>
                  </a:cubicBezTo>
                  <a:lnTo>
                    <a:pt x="0" y="1007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TextBox 53"/>
            <p:cNvSpPr txBox="1"/>
            <p:nvPr/>
          </p:nvSpPr>
          <p:spPr>
            <a:xfrm>
              <a:off x="3633492" y="2977046"/>
              <a:ext cx="2882914" cy="52337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6.5.2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等腰三角形 76"/>
            <p:cNvSpPr/>
            <p:nvPr/>
          </p:nvSpPr>
          <p:spPr>
            <a:xfrm rot="5400000">
              <a:off x="6626424" y="3080544"/>
              <a:ext cx="333711" cy="27829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矩形 44">
              <a:extLst>
                <a:ext uri="{FF2B5EF4-FFF2-40B4-BE49-F238E27FC236}">
                  <a16:creationId xmlns:a16="http://schemas.microsoft.com/office/drawing/2014/main" id="{FE38CE74-2A7E-48AB-9577-1CCDA7FBF7E7}"/>
                </a:ext>
              </a:extLst>
            </p:cNvPr>
            <p:cNvSpPr/>
            <p:nvPr/>
          </p:nvSpPr>
          <p:spPr>
            <a:xfrm rot="10800000">
              <a:off x="527121" y="2417134"/>
              <a:ext cx="645650" cy="127856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矩形 43">
              <a:extLst>
                <a:ext uri="{FF2B5EF4-FFF2-40B4-BE49-F238E27FC236}">
                  <a16:creationId xmlns:a16="http://schemas.microsoft.com/office/drawing/2014/main" id="{A7A400B6-4528-426C-B954-232A64A510CD}"/>
                </a:ext>
              </a:extLst>
            </p:cNvPr>
            <p:cNvSpPr/>
            <p:nvPr/>
          </p:nvSpPr>
          <p:spPr>
            <a:xfrm>
              <a:off x="3432053" y="2762902"/>
              <a:ext cx="645650" cy="91096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20766C4-9050-45CA-AC9F-560A951F7CEF}"/>
              </a:ext>
            </a:extLst>
          </p:cNvPr>
          <p:cNvGrpSpPr/>
          <p:nvPr/>
        </p:nvGrpSpPr>
        <p:grpSpPr>
          <a:xfrm>
            <a:off x="14283" y="1127051"/>
            <a:ext cx="6918145" cy="1633258"/>
            <a:chOff x="14283" y="1127051"/>
            <a:chExt cx="6918145" cy="1633258"/>
          </a:xfrm>
        </p:grpSpPr>
        <p:sp>
          <p:nvSpPr>
            <p:cNvPr id="52" name="矩形 34"/>
            <p:cNvSpPr/>
            <p:nvPr/>
          </p:nvSpPr>
          <p:spPr>
            <a:xfrm>
              <a:off x="14283" y="1127053"/>
              <a:ext cx="1154950" cy="12857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矩形 38"/>
            <p:cNvSpPr/>
            <p:nvPr/>
          </p:nvSpPr>
          <p:spPr>
            <a:xfrm>
              <a:off x="3423001" y="1833663"/>
              <a:ext cx="3231130" cy="926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矩形 28"/>
            <p:cNvSpPr/>
            <p:nvPr/>
          </p:nvSpPr>
          <p:spPr>
            <a:xfrm>
              <a:off x="1169233" y="1127052"/>
              <a:ext cx="2253768" cy="1633256"/>
            </a:xfrm>
            <a:custGeom>
              <a:avLst/>
              <a:gdLst>
                <a:gd name="connsiteX0" fmla="*/ 0 w 1826712"/>
                <a:gd name="connsiteY0" fmla="*/ 0 h 1280593"/>
                <a:gd name="connsiteX1" fmla="*/ 1826712 w 1826712"/>
                <a:gd name="connsiteY1" fmla="*/ 0 h 1280593"/>
                <a:gd name="connsiteX2" fmla="*/ 1826712 w 1826712"/>
                <a:gd name="connsiteY2" fmla="*/ 1280593 h 1280593"/>
                <a:gd name="connsiteX3" fmla="*/ 0 w 1826712"/>
                <a:gd name="connsiteY3" fmla="*/ 1280593 h 1280593"/>
                <a:gd name="connsiteX4" fmla="*/ 0 w 1826712"/>
                <a:gd name="connsiteY4" fmla="*/ 0 h 1280593"/>
                <a:gd name="connsiteX0-1" fmla="*/ 0 w 1826712"/>
                <a:gd name="connsiteY0-2" fmla="*/ 0 h 1280593"/>
                <a:gd name="connsiteX1-3" fmla="*/ 1826712 w 1826712"/>
                <a:gd name="connsiteY1-4" fmla="*/ 0 h 1280593"/>
                <a:gd name="connsiteX2-5" fmla="*/ 1826712 w 1826712"/>
                <a:gd name="connsiteY2-6" fmla="*/ 1280593 h 1280593"/>
                <a:gd name="connsiteX3-7" fmla="*/ 0 w 1826712"/>
                <a:gd name="connsiteY3-8" fmla="*/ 1007543 h 1280593"/>
                <a:gd name="connsiteX4-9" fmla="*/ 0 w 1826712"/>
                <a:gd name="connsiteY4-10" fmla="*/ 0 h 1280593"/>
                <a:gd name="connsiteX0-11" fmla="*/ 0 w 1826712"/>
                <a:gd name="connsiteY0-12" fmla="*/ 0 h 1280593"/>
                <a:gd name="connsiteX1-13" fmla="*/ 1826712 w 1826712"/>
                <a:gd name="connsiteY1-14" fmla="*/ 555625 h 1280593"/>
                <a:gd name="connsiteX2-15" fmla="*/ 1826712 w 1826712"/>
                <a:gd name="connsiteY2-16" fmla="*/ 1280593 h 1280593"/>
                <a:gd name="connsiteX3-17" fmla="*/ 0 w 1826712"/>
                <a:gd name="connsiteY3-18" fmla="*/ 1007543 h 1280593"/>
                <a:gd name="connsiteX4-19" fmla="*/ 0 w 1826712"/>
                <a:gd name="connsiteY4-20" fmla="*/ 0 h 128059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6712" h="1280593">
                  <a:moveTo>
                    <a:pt x="0" y="0"/>
                  </a:moveTo>
                  <a:lnTo>
                    <a:pt x="1826712" y="555625"/>
                  </a:lnTo>
                  <a:lnTo>
                    <a:pt x="1826712" y="1280593"/>
                  </a:lnTo>
                  <a:lnTo>
                    <a:pt x="0" y="1007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矩形 43"/>
            <p:cNvSpPr/>
            <p:nvPr/>
          </p:nvSpPr>
          <p:spPr>
            <a:xfrm>
              <a:off x="3432053" y="1833664"/>
              <a:ext cx="645650" cy="91096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矩形 44"/>
            <p:cNvSpPr/>
            <p:nvPr/>
          </p:nvSpPr>
          <p:spPr>
            <a:xfrm rot="10800000">
              <a:off x="523583" y="1127051"/>
              <a:ext cx="645650" cy="127856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TextBox 49"/>
            <p:cNvSpPr txBox="1"/>
            <p:nvPr/>
          </p:nvSpPr>
          <p:spPr>
            <a:xfrm>
              <a:off x="3633492" y="2027750"/>
              <a:ext cx="2882914" cy="52337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6.5.1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等腰三角形 75"/>
            <p:cNvSpPr/>
            <p:nvPr/>
          </p:nvSpPr>
          <p:spPr>
            <a:xfrm rot="5400000">
              <a:off x="6626424" y="2157836"/>
              <a:ext cx="333711" cy="27829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6" name="标题 35"/>
          <p:cNvSpPr>
            <a:spLocks noGrp="1"/>
          </p:cNvSpPr>
          <p:nvPr>
            <p:ph type="title"/>
          </p:nvPr>
        </p:nvSpPr>
        <p:spPr>
          <a:xfrm>
            <a:off x="1524000" y="458594"/>
            <a:ext cx="9144000" cy="859155"/>
          </a:xfrm>
        </p:spPr>
        <p:txBody>
          <a:bodyPr anchor="ctr">
            <a:normAutofit/>
          </a:bodyPr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</a:rPr>
              <a:t>字符数组及字符串处理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Freeform 144"/>
          <p:cNvSpPr>
            <a:spLocks noEditPoints="1"/>
          </p:cNvSpPr>
          <p:nvPr/>
        </p:nvSpPr>
        <p:spPr bwMode="black">
          <a:xfrm>
            <a:off x="2038676" y="2796100"/>
            <a:ext cx="423174" cy="772083"/>
          </a:xfrm>
          <a:custGeom>
            <a:avLst/>
            <a:gdLst>
              <a:gd name="T0" fmla="*/ 35 w 46"/>
              <a:gd name="T1" fmla="*/ 7 h 84"/>
              <a:gd name="T2" fmla="*/ 29 w 46"/>
              <a:gd name="T3" fmla="*/ 14 h 84"/>
              <a:gd name="T4" fmla="*/ 22 w 46"/>
              <a:gd name="T5" fmla="*/ 7 h 84"/>
              <a:gd name="T6" fmla="*/ 29 w 46"/>
              <a:gd name="T7" fmla="*/ 0 h 84"/>
              <a:gd name="T8" fmla="*/ 35 w 46"/>
              <a:gd name="T9" fmla="*/ 7 h 84"/>
              <a:gd name="T10" fmla="*/ 20 w 46"/>
              <a:gd name="T11" fmla="*/ 12 h 84"/>
              <a:gd name="T12" fmla="*/ 2 w 46"/>
              <a:gd name="T13" fmla="*/ 22 h 84"/>
              <a:gd name="T14" fmla="*/ 0 w 46"/>
              <a:gd name="T15" fmla="*/ 41 h 84"/>
              <a:gd name="T16" fmla="*/ 6 w 46"/>
              <a:gd name="T17" fmla="*/ 41 h 84"/>
              <a:gd name="T18" fmla="*/ 7 w 46"/>
              <a:gd name="T19" fmla="*/ 26 h 84"/>
              <a:gd name="T20" fmla="*/ 15 w 46"/>
              <a:gd name="T21" fmla="*/ 22 h 84"/>
              <a:gd name="T22" fmla="*/ 10 w 46"/>
              <a:gd name="T23" fmla="*/ 37 h 84"/>
              <a:gd name="T24" fmla="*/ 12 w 46"/>
              <a:gd name="T25" fmla="*/ 45 h 84"/>
              <a:gd name="T26" fmla="*/ 0 w 46"/>
              <a:gd name="T27" fmla="*/ 82 h 84"/>
              <a:gd name="T28" fmla="*/ 8 w 46"/>
              <a:gd name="T29" fmla="*/ 84 h 84"/>
              <a:gd name="T30" fmla="*/ 18 w 46"/>
              <a:gd name="T31" fmla="*/ 57 h 84"/>
              <a:gd name="T32" fmla="*/ 21 w 46"/>
              <a:gd name="T33" fmla="*/ 62 h 84"/>
              <a:gd name="T34" fmla="*/ 27 w 46"/>
              <a:gd name="T35" fmla="*/ 84 h 84"/>
              <a:gd name="T36" fmla="*/ 36 w 46"/>
              <a:gd name="T37" fmla="*/ 81 h 84"/>
              <a:gd name="T38" fmla="*/ 29 w 46"/>
              <a:gd name="T39" fmla="*/ 56 h 84"/>
              <a:gd name="T40" fmla="*/ 22 w 46"/>
              <a:gd name="T41" fmla="*/ 45 h 84"/>
              <a:gd name="T42" fmla="*/ 27 w 46"/>
              <a:gd name="T43" fmla="*/ 29 h 84"/>
              <a:gd name="T44" fmla="*/ 29 w 46"/>
              <a:gd name="T45" fmla="*/ 35 h 84"/>
              <a:gd name="T46" fmla="*/ 44 w 46"/>
              <a:gd name="T47" fmla="*/ 41 h 84"/>
              <a:gd name="T48" fmla="*/ 46 w 46"/>
              <a:gd name="T49" fmla="*/ 35 h 84"/>
              <a:gd name="T50" fmla="*/ 35 w 46"/>
              <a:gd name="T51" fmla="*/ 30 h 84"/>
              <a:gd name="T52" fmla="*/ 31 w 46"/>
              <a:gd name="T53" fmla="*/ 17 h 84"/>
              <a:gd name="T54" fmla="*/ 20 w 46"/>
              <a:gd name="T55" fmla="*/ 12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6" h="84">
                <a:moveTo>
                  <a:pt x="35" y="7"/>
                </a:moveTo>
                <a:cubicBezTo>
                  <a:pt x="35" y="11"/>
                  <a:pt x="33" y="14"/>
                  <a:pt x="29" y="14"/>
                </a:cubicBezTo>
                <a:cubicBezTo>
                  <a:pt x="25" y="14"/>
                  <a:pt x="22" y="11"/>
                  <a:pt x="22" y="7"/>
                </a:cubicBezTo>
                <a:cubicBezTo>
                  <a:pt x="22" y="3"/>
                  <a:pt x="25" y="0"/>
                  <a:pt x="29" y="0"/>
                </a:cubicBezTo>
                <a:cubicBezTo>
                  <a:pt x="33" y="0"/>
                  <a:pt x="35" y="3"/>
                  <a:pt x="35" y="7"/>
                </a:cubicBezTo>
                <a:moveTo>
                  <a:pt x="20" y="12"/>
                </a:moveTo>
                <a:cubicBezTo>
                  <a:pt x="2" y="22"/>
                  <a:pt x="2" y="22"/>
                  <a:pt x="2" y="22"/>
                </a:cubicBezTo>
                <a:cubicBezTo>
                  <a:pt x="0" y="41"/>
                  <a:pt x="0" y="41"/>
                  <a:pt x="0" y="41"/>
                </a:cubicBezTo>
                <a:cubicBezTo>
                  <a:pt x="6" y="41"/>
                  <a:pt x="6" y="41"/>
                  <a:pt x="6" y="41"/>
                </a:cubicBezTo>
                <a:cubicBezTo>
                  <a:pt x="7" y="26"/>
                  <a:pt x="7" y="26"/>
                  <a:pt x="7" y="26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2"/>
                  <a:pt x="11" y="34"/>
                  <a:pt x="10" y="37"/>
                </a:cubicBezTo>
                <a:cubicBezTo>
                  <a:pt x="9" y="39"/>
                  <a:pt x="11" y="43"/>
                  <a:pt x="12" y="45"/>
                </a:cubicBezTo>
                <a:cubicBezTo>
                  <a:pt x="0" y="82"/>
                  <a:pt x="0" y="82"/>
                  <a:pt x="0" y="82"/>
                </a:cubicBezTo>
                <a:cubicBezTo>
                  <a:pt x="8" y="84"/>
                  <a:pt x="8" y="84"/>
                  <a:pt x="8" y="84"/>
                </a:cubicBezTo>
                <a:cubicBezTo>
                  <a:pt x="18" y="57"/>
                  <a:pt x="18" y="57"/>
                  <a:pt x="18" y="57"/>
                </a:cubicBezTo>
                <a:cubicBezTo>
                  <a:pt x="21" y="62"/>
                  <a:pt x="21" y="62"/>
                  <a:pt x="21" y="62"/>
                </a:cubicBezTo>
                <a:cubicBezTo>
                  <a:pt x="27" y="84"/>
                  <a:pt x="27" y="84"/>
                  <a:pt x="27" y="84"/>
                </a:cubicBezTo>
                <a:cubicBezTo>
                  <a:pt x="36" y="81"/>
                  <a:pt x="36" y="81"/>
                  <a:pt x="36" y="81"/>
                </a:cubicBezTo>
                <a:cubicBezTo>
                  <a:pt x="29" y="56"/>
                  <a:pt x="29" y="56"/>
                  <a:pt x="29" y="56"/>
                </a:cubicBezTo>
                <a:cubicBezTo>
                  <a:pt x="22" y="45"/>
                  <a:pt x="22" y="45"/>
                  <a:pt x="22" y="45"/>
                </a:cubicBezTo>
                <a:cubicBezTo>
                  <a:pt x="27" y="29"/>
                  <a:pt x="27" y="29"/>
                  <a:pt x="27" y="29"/>
                </a:cubicBezTo>
                <a:cubicBezTo>
                  <a:pt x="29" y="35"/>
                  <a:pt x="29" y="35"/>
                  <a:pt x="29" y="35"/>
                </a:cubicBezTo>
                <a:cubicBezTo>
                  <a:pt x="44" y="41"/>
                  <a:pt x="44" y="41"/>
                  <a:pt x="44" y="41"/>
                </a:cubicBezTo>
                <a:cubicBezTo>
                  <a:pt x="46" y="35"/>
                  <a:pt x="46" y="35"/>
                  <a:pt x="46" y="35"/>
                </a:cubicBezTo>
                <a:cubicBezTo>
                  <a:pt x="35" y="30"/>
                  <a:pt x="35" y="30"/>
                  <a:pt x="35" y="30"/>
                </a:cubicBezTo>
                <a:cubicBezTo>
                  <a:pt x="31" y="17"/>
                  <a:pt x="31" y="17"/>
                  <a:pt x="31" y="17"/>
                </a:cubicBezTo>
                <a:lnTo>
                  <a:pt x="20" y="12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28" tIns="45715" rIns="91428" bIns="45715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" name="Picture 34" descr="Efficiency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1823" y="3811344"/>
            <a:ext cx="916879" cy="879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roup 173"/>
          <p:cNvGrpSpPr>
            <a:grpSpLocks noChangeAspect="1"/>
          </p:cNvGrpSpPr>
          <p:nvPr/>
        </p:nvGrpSpPr>
        <p:grpSpPr>
          <a:xfrm>
            <a:off x="1938222" y="4892483"/>
            <a:ext cx="624081" cy="830357"/>
            <a:chOff x="-2773363" y="1651000"/>
            <a:chExt cx="2692401" cy="3448051"/>
          </a:xfrm>
          <a:solidFill>
            <a:schemeClr val="bg1"/>
          </a:solidFill>
        </p:grpSpPr>
        <p:sp>
          <p:nvSpPr>
            <p:cNvPr id="87" name="Freeform 19"/>
            <p:cNvSpPr>
              <a:spLocks noEditPoints="1"/>
            </p:cNvSpPr>
            <p:nvPr/>
          </p:nvSpPr>
          <p:spPr bwMode="auto">
            <a:xfrm>
              <a:off x="-1908175" y="1798638"/>
              <a:ext cx="641350" cy="641350"/>
            </a:xfrm>
            <a:custGeom>
              <a:avLst/>
              <a:gdLst>
                <a:gd name="T0" fmla="*/ 171 w 171"/>
                <a:gd name="T1" fmla="*/ 79 h 171"/>
                <a:gd name="T2" fmla="*/ 168 w 171"/>
                <a:gd name="T3" fmla="*/ 77 h 171"/>
                <a:gd name="T4" fmla="*/ 152 w 171"/>
                <a:gd name="T5" fmla="*/ 65 h 171"/>
                <a:gd name="T6" fmla="*/ 165 w 171"/>
                <a:gd name="T7" fmla="*/ 54 h 171"/>
                <a:gd name="T8" fmla="*/ 161 w 171"/>
                <a:gd name="T9" fmla="*/ 52 h 171"/>
                <a:gd name="T10" fmla="*/ 142 w 171"/>
                <a:gd name="T11" fmla="*/ 45 h 171"/>
                <a:gd name="T12" fmla="*/ 152 w 171"/>
                <a:gd name="T13" fmla="*/ 32 h 171"/>
                <a:gd name="T14" fmla="*/ 147 w 171"/>
                <a:gd name="T15" fmla="*/ 30 h 171"/>
                <a:gd name="T16" fmla="*/ 127 w 171"/>
                <a:gd name="T17" fmla="*/ 30 h 171"/>
                <a:gd name="T18" fmla="*/ 132 w 171"/>
                <a:gd name="T19" fmla="*/ 15 h 171"/>
                <a:gd name="T20" fmla="*/ 127 w 171"/>
                <a:gd name="T21" fmla="*/ 14 h 171"/>
                <a:gd name="T22" fmla="*/ 108 w 171"/>
                <a:gd name="T23" fmla="*/ 20 h 171"/>
                <a:gd name="T24" fmla="*/ 108 w 171"/>
                <a:gd name="T25" fmla="*/ 5 h 171"/>
                <a:gd name="T26" fmla="*/ 103 w 171"/>
                <a:gd name="T27" fmla="*/ 4 h 171"/>
                <a:gd name="T28" fmla="*/ 86 w 171"/>
                <a:gd name="T29" fmla="*/ 16 h 171"/>
                <a:gd name="T30" fmla="*/ 79 w 171"/>
                <a:gd name="T31" fmla="*/ 0 h 171"/>
                <a:gd name="T32" fmla="*/ 77 w 171"/>
                <a:gd name="T33" fmla="*/ 3 h 171"/>
                <a:gd name="T34" fmla="*/ 65 w 171"/>
                <a:gd name="T35" fmla="*/ 19 h 171"/>
                <a:gd name="T36" fmla="*/ 53 w 171"/>
                <a:gd name="T37" fmla="*/ 6 h 171"/>
                <a:gd name="T38" fmla="*/ 52 w 171"/>
                <a:gd name="T39" fmla="*/ 10 h 171"/>
                <a:gd name="T40" fmla="*/ 45 w 171"/>
                <a:gd name="T41" fmla="*/ 29 h 171"/>
                <a:gd name="T42" fmla="*/ 30 w 171"/>
                <a:gd name="T43" fmla="*/ 20 h 171"/>
                <a:gd name="T44" fmla="*/ 30 w 171"/>
                <a:gd name="T45" fmla="*/ 24 h 171"/>
                <a:gd name="T46" fmla="*/ 30 w 171"/>
                <a:gd name="T47" fmla="*/ 44 h 171"/>
                <a:gd name="T48" fmla="*/ 13 w 171"/>
                <a:gd name="T49" fmla="*/ 40 h 171"/>
                <a:gd name="T50" fmla="*/ 14 w 171"/>
                <a:gd name="T51" fmla="*/ 44 h 171"/>
                <a:gd name="T52" fmla="*/ 20 w 171"/>
                <a:gd name="T53" fmla="*/ 63 h 171"/>
                <a:gd name="T54" fmla="*/ 2 w 171"/>
                <a:gd name="T55" fmla="*/ 65 h 171"/>
                <a:gd name="T56" fmla="*/ 4 w 171"/>
                <a:gd name="T57" fmla="*/ 68 h 171"/>
                <a:gd name="T58" fmla="*/ 16 w 171"/>
                <a:gd name="T59" fmla="*/ 84 h 171"/>
                <a:gd name="T60" fmla="*/ 0 w 171"/>
                <a:gd name="T61" fmla="*/ 91 h 171"/>
                <a:gd name="T62" fmla="*/ 3 w 171"/>
                <a:gd name="T63" fmla="*/ 94 h 171"/>
                <a:gd name="T64" fmla="*/ 19 w 171"/>
                <a:gd name="T65" fmla="*/ 106 h 171"/>
                <a:gd name="T66" fmla="*/ 6 w 171"/>
                <a:gd name="T67" fmla="*/ 116 h 171"/>
                <a:gd name="T68" fmla="*/ 10 w 171"/>
                <a:gd name="T69" fmla="*/ 119 h 171"/>
                <a:gd name="T70" fmla="*/ 29 w 171"/>
                <a:gd name="T71" fmla="*/ 125 h 171"/>
                <a:gd name="T72" fmla="*/ 19 w 171"/>
                <a:gd name="T73" fmla="*/ 139 h 171"/>
                <a:gd name="T74" fmla="*/ 24 w 171"/>
                <a:gd name="T75" fmla="*/ 141 h 171"/>
                <a:gd name="T76" fmla="*/ 44 w 171"/>
                <a:gd name="T77" fmla="*/ 141 h 171"/>
                <a:gd name="T78" fmla="*/ 39 w 171"/>
                <a:gd name="T79" fmla="*/ 156 h 171"/>
                <a:gd name="T80" fmla="*/ 44 w 171"/>
                <a:gd name="T81" fmla="*/ 157 h 171"/>
                <a:gd name="T82" fmla="*/ 63 w 171"/>
                <a:gd name="T83" fmla="*/ 151 h 171"/>
                <a:gd name="T84" fmla="*/ 63 w 171"/>
                <a:gd name="T85" fmla="*/ 166 h 171"/>
                <a:gd name="T86" fmla="*/ 68 w 171"/>
                <a:gd name="T87" fmla="*/ 166 h 171"/>
                <a:gd name="T88" fmla="*/ 85 w 171"/>
                <a:gd name="T89" fmla="*/ 155 h 171"/>
                <a:gd name="T90" fmla="*/ 91 w 171"/>
                <a:gd name="T91" fmla="*/ 171 h 171"/>
                <a:gd name="T92" fmla="*/ 94 w 171"/>
                <a:gd name="T93" fmla="*/ 168 h 171"/>
                <a:gd name="T94" fmla="*/ 96 w 171"/>
                <a:gd name="T95" fmla="*/ 154 h 171"/>
                <a:gd name="T96" fmla="*/ 114 w 171"/>
                <a:gd name="T97" fmla="*/ 163 h 171"/>
                <a:gd name="T98" fmla="*/ 119 w 171"/>
                <a:gd name="T99" fmla="*/ 162 h 171"/>
                <a:gd name="T100" fmla="*/ 117 w 171"/>
                <a:gd name="T101" fmla="*/ 147 h 171"/>
                <a:gd name="T102" fmla="*/ 137 w 171"/>
                <a:gd name="T103" fmla="*/ 150 h 171"/>
                <a:gd name="T104" fmla="*/ 142 w 171"/>
                <a:gd name="T105" fmla="*/ 149 h 171"/>
                <a:gd name="T106" fmla="*/ 135 w 171"/>
                <a:gd name="T107" fmla="*/ 134 h 171"/>
                <a:gd name="T108" fmla="*/ 154 w 171"/>
                <a:gd name="T109" fmla="*/ 131 h 171"/>
                <a:gd name="T110" fmla="*/ 159 w 171"/>
                <a:gd name="T111" fmla="*/ 129 h 171"/>
                <a:gd name="T112" fmla="*/ 147 w 171"/>
                <a:gd name="T113" fmla="*/ 117 h 171"/>
                <a:gd name="T114" fmla="*/ 165 w 171"/>
                <a:gd name="T115" fmla="*/ 108 h 171"/>
                <a:gd name="T116" fmla="*/ 169 w 171"/>
                <a:gd name="T117" fmla="*/ 105 h 171"/>
                <a:gd name="T118" fmla="*/ 154 w 171"/>
                <a:gd name="T119" fmla="*/ 96 h 171"/>
                <a:gd name="T120" fmla="*/ 168 w 171"/>
                <a:gd name="T121" fmla="*/ 82 h 171"/>
                <a:gd name="T122" fmla="*/ 70 w 171"/>
                <a:gd name="T123" fmla="*/ 85 h 171"/>
                <a:gd name="T124" fmla="*/ 101 w 171"/>
                <a:gd name="T125" fmla="*/ 8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1" h="171">
                  <a:moveTo>
                    <a:pt x="168" y="82"/>
                  </a:moveTo>
                  <a:cubicBezTo>
                    <a:pt x="170" y="82"/>
                    <a:pt x="171" y="81"/>
                    <a:pt x="171" y="79"/>
                  </a:cubicBezTo>
                  <a:cubicBezTo>
                    <a:pt x="171" y="79"/>
                    <a:pt x="171" y="79"/>
                    <a:pt x="171" y="79"/>
                  </a:cubicBezTo>
                  <a:cubicBezTo>
                    <a:pt x="171" y="78"/>
                    <a:pt x="169" y="77"/>
                    <a:pt x="168" y="77"/>
                  </a:cubicBezTo>
                  <a:cubicBezTo>
                    <a:pt x="154" y="75"/>
                    <a:pt x="154" y="75"/>
                    <a:pt x="154" y="75"/>
                  </a:cubicBezTo>
                  <a:cubicBezTo>
                    <a:pt x="154" y="71"/>
                    <a:pt x="153" y="68"/>
                    <a:pt x="152" y="65"/>
                  </a:cubicBezTo>
                  <a:cubicBezTo>
                    <a:pt x="163" y="57"/>
                    <a:pt x="163" y="57"/>
                    <a:pt x="163" y="57"/>
                  </a:cubicBezTo>
                  <a:cubicBezTo>
                    <a:pt x="164" y="56"/>
                    <a:pt x="165" y="55"/>
                    <a:pt x="165" y="54"/>
                  </a:cubicBezTo>
                  <a:cubicBezTo>
                    <a:pt x="165" y="54"/>
                    <a:pt x="165" y="53"/>
                    <a:pt x="165" y="53"/>
                  </a:cubicBezTo>
                  <a:cubicBezTo>
                    <a:pt x="164" y="52"/>
                    <a:pt x="163" y="51"/>
                    <a:pt x="161" y="52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6" y="51"/>
                    <a:pt x="144" y="48"/>
                    <a:pt x="142" y="45"/>
                  </a:cubicBezTo>
                  <a:cubicBezTo>
                    <a:pt x="151" y="34"/>
                    <a:pt x="151" y="34"/>
                    <a:pt x="151" y="34"/>
                  </a:cubicBezTo>
                  <a:cubicBezTo>
                    <a:pt x="151" y="34"/>
                    <a:pt x="152" y="33"/>
                    <a:pt x="152" y="32"/>
                  </a:cubicBezTo>
                  <a:cubicBezTo>
                    <a:pt x="152" y="31"/>
                    <a:pt x="151" y="31"/>
                    <a:pt x="151" y="30"/>
                  </a:cubicBezTo>
                  <a:cubicBezTo>
                    <a:pt x="150" y="29"/>
                    <a:pt x="148" y="29"/>
                    <a:pt x="147" y="30"/>
                  </a:cubicBezTo>
                  <a:cubicBezTo>
                    <a:pt x="135" y="36"/>
                    <a:pt x="135" y="36"/>
                    <a:pt x="135" y="36"/>
                  </a:cubicBezTo>
                  <a:cubicBezTo>
                    <a:pt x="132" y="34"/>
                    <a:pt x="130" y="32"/>
                    <a:pt x="127" y="30"/>
                  </a:cubicBezTo>
                  <a:cubicBezTo>
                    <a:pt x="132" y="16"/>
                    <a:pt x="132" y="16"/>
                    <a:pt x="132" y="16"/>
                  </a:cubicBezTo>
                  <a:cubicBezTo>
                    <a:pt x="132" y="16"/>
                    <a:pt x="132" y="16"/>
                    <a:pt x="132" y="15"/>
                  </a:cubicBezTo>
                  <a:cubicBezTo>
                    <a:pt x="132" y="14"/>
                    <a:pt x="132" y="13"/>
                    <a:pt x="131" y="13"/>
                  </a:cubicBezTo>
                  <a:cubicBezTo>
                    <a:pt x="129" y="12"/>
                    <a:pt x="128" y="12"/>
                    <a:pt x="127" y="14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4" y="22"/>
                    <a:pt x="111" y="21"/>
                    <a:pt x="108" y="20"/>
                  </a:cubicBezTo>
                  <a:cubicBezTo>
                    <a:pt x="108" y="6"/>
                    <a:pt x="108" y="6"/>
                    <a:pt x="108" y="6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108" y="4"/>
                    <a:pt x="107" y="3"/>
                    <a:pt x="106" y="2"/>
                  </a:cubicBezTo>
                  <a:cubicBezTo>
                    <a:pt x="105" y="2"/>
                    <a:pt x="103" y="3"/>
                    <a:pt x="103" y="4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3" y="16"/>
                    <a:pt x="90" y="16"/>
                    <a:pt x="86" y="16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2" y="1"/>
                    <a:pt x="81" y="0"/>
                    <a:pt x="79" y="0"/>
                  </a:cubicBezTo>
                  <a:cubicBezTo>
                    <a:pt x="78" y="0"/>
                    <a:pt x="77" y="1"/>
                    <a:pt x="77" y="3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1" y="17"/>
                    <a:pt x="68" y="18"/>
                    <a:pt x="65" y="1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6" y="6"/>
                    <a:pt x="55" y="5"/>
                    <a:pt x="53" y="6"/>
                  </a:cubicBezTo>
                  <a:cubicBezTo>
                    <a:pt x="52" y="6"/>
                    <a:pt x="52" y="7"/>
                    <a:pt x="52" y="9"/>
                  </a:cubicBezTo>
                  <a:cubicBezTo>
                    <a:pt x="52" y="9"/>
                    <a:pt x="52" y="9"/>
                    <a:pt x="52" y="1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1" y="25"/>
                    <a:pt x="48" y="27"/>
                    <a:pt x="45" y="29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3" y="19"/>
                    <a:pt x="32" y="19"/>
                    <a:pt x="30" y="20"/>
                  </a:cubicBezTo>
                  <a:cubicBezTo>
                    <a:pt x="30" y="20"/>
                    <a:pt x="29" y="21"/>
                    <a:pt x="29" y="22"/>
                  </a:cubicBezTo>
                  <a:cubicBezTo>
                    <a:pt x="29" y="23"/>
                    <a:pt x="30" y="23"/>
                    <a:pt x="30" y="24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4" y="39"/>
                    <a:pt x="32" y="41"/>
                    <a:pt x="30" y="44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5" y="38"/>
                    <a:pt x="14" y="39"/>
                    <a:pt x="13" y="40"/>
                  </a:cubicBezTo>
                  <a:cubicBezTo>
                    <a:pt x="13" y="41"/>
                    <a:pt x="12" y="41"/>
                    <a:pt x="12" y="42"/>
                  </a:cubicBezTo>
                  <a:cubicBezTo>
                    <a:pt x="12" y="42"/>
                    <a:pt x="13" y="43"/>
                    <a:pt x="14" y="4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2" y="57"/>
                    <a:pt x="21" y="60"/>
                    <a:pt x="20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4" y="62"/>
                    <a:pt x="3" y="63"/>
                    <a:pt x="2" y="65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2" y="67"/>
                    <a:pt x="3" y="68"/>
                    <a:pt x="4" y="68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6" y="78"/>
                    <a:pt x="16" y="81"/>
                    <a:pt x="16" y="84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1" y="89"/>
                    <a:pt x="0" y="90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3"/>
                    <a:pt x="2" y="94"/>
                    <a:pt x="3" y="94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7" y="99"/>
                    <a:pt x="18" y="103"/>
                    <a:pt x="19" y="106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7" y="114"/>
                    <a:pt x="6" y="115"/>
                    <a:pt x="6" y="116"/>
                  </a:cubicBezTo>
                  <a:cubicBezTo>
                    <a:pt x="6" y="117"/>
                    <a:pt x="6" y="117"/>
                    <a:pt x="6" y="118"/>
                  </a:cubicBezTo>
                  <a:cubicBezTo>
                    <a:pt x="7" y="119"/>
                    <a:pt x="8" y="120"/>
                    <a:pt x="10" y="119"/>
                  </a:cubicBezTo>
                  <a:cubicBezTo>
                    <a:pt x="24" y="117"/>
                    <a:pt x="24" y="117"/>
                    <a:pt x="24" y="117"/>
                  </a:cubicBezTo>
                  <a:cubicBezTo>
                    <a:pt x="25" y="120"/>
                    <a:pt x="27" y="123"/>
                    <a:pt x="29" y="125"/>
                  </a:cubicBezTo>
                  <a:cubicBezTo>
                    <a:pt x="20" y="137"/>
                    <a:pt x="20" y="137"/>
                    <a:pt x="20" y="137"/>
                  </a:cubicBezTo>
                  <a:cubicBezTo>
                    <a:pt x="20" y="137"/>
                    <a:pt x="19" y="138"/>
                    <a:pt x="19" y="139"/>
                  </a:cubicBezTo>
                  <a:cubicBezTo>
                    <a:pt x="19" y="139"/>
                    <a:pt x="20" y="140"/>
                    <a:pt x="20" y="140"/>
                  </a:cubicBezTo>
                  <a:cubicBezTo>
                    <a:pt x="21" y="142"/>
                    <a:pt x="23" y="142"/>
                    <a:pt x="24" y="141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9" y="137"/>
                    <a:pt x="41" y="139"/>
                    <a:pt x="44" y="141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39" y="155"/>
                    <a:pt x="39" y="155"/>
                    <a:pt x="39" y="156"/>
                  </a:cubicBezTo>
                  <a:cubicBezTo>
                    <a:pt x="39" y="157"/>
                    <a:pt x="39" y="157"/>
                    <a:pt x="40" y="158"/>
                  </a:cubicBezTo>
                  <a:cubicBezTo>
                    <a:pt x="42" y="159"/>
                    <a:pt x="43" y="158"/>
                    <a:pt x="44" y="157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7" y="149"/>
                    <a:pt x="60" y="150"/>
                    <a:pt x="63" y="151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3" y="165"/>
                    <a:pt x="63" y="166"/>
                    <a:pt x="63" y="166"/>
                  </a:cubicBezTo>
                  <a:cubicBezTo>
                    <a:pt x="63" y="167"/>
                    <a:pt x="64" y="168"/>
                    <a:pt x="65" y="168"/>
                  </a:cubicBezTo>
                  <a:cubicBezTo>
                    <a:pt x="66" y="169"/>
                    <a:pt x="68" y="168"/>
                    <a:pt x="68" y="166"/>
                  </a:cubicBezTo>
                  <a:cubicBezTo>
                    <a:pt x="75" y="154"/>
                    <a:pt x="75" y="154"/>
                    <a:pt x="75" y="154"/>
                  </a:cubicBezTo>
                  <a:cubicBezTo>
                    <a:pt x="78" y="154"/>
                    <a:pt x="81" y="155"/>
                    <a:pt x="85" y="155"/>
                  </a:cubicBezTo>
                  <a:cubicBezTo>
                    <a:pt x="89" y="168"/>
                    <a:pt x="89" y="168"/>
                    <a:pt x="89" y="168"/>
                  </a:cubicBezTo>
                  <a:cubicBezTo>
                    <a:pt x="89" y="170"/>
                    <a:pt x="90" y="171"/>
                    <a:pt x="91" y="171"/>
                  </a:cubicBezTo>
                  <a:cubicBezTo>
                    <a:pt x="91" y="171"/>
                    <a:pt x="92" y="171"/>
                    <a:pt x="92" y="171"/>
                  </a:cubicBezTo>
                  <a:cubicBezTo>
                    <a:pt x="93" y="171"/>
                    <a:pt x="94" y="169"/>
                    <a:pt x="94" y="168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6" y="154"/>
                    <a:pt x="96" y="154"/>
                    <a:pt x="96" y="154"/>
                  </a:cubicBezTo>
                  <a:cubicBezTo>
                    <a:pt x="100" y="153"/>
                    <a:pt x="103" y="153"/>
                    <a:pt x="106" y="152"/>
                  </a:cubicBezTo>
                  <a:cubicBezTo>
                    <a:pt x="114" y="163"/>
                    <a:pt x="114" y="163"/>
                    <a:pt x="114" y="163"/>
                  </a:cubicBezTo>
                  <a:cubicBezTo>
                    <a:pt x="115" y="165"/>
                    <a:pt x="116" y="165"/>
                    <a:pt x="118" y="165"/>
                  </a:cubicBezTo>
                  <a:cubicBezTo>
                    <a:pt x="119" y="164"/>
                    <a:pt x="119" y="163"/>
                    <a:pt x="119" y="162"/>
                  </a:cubicBezTo>
                  <a:cubicBezTo>
                    <a:pt x="119" y="162"/>
                    <a:pt x="119" y="161"/>
                    <a:pt x="119" y="161"/>
                  </a:cubicBezTo>
                  <a:cubicBezTo>
                    <a:pt x="117" y="147"/>
                    <a:pt x="117" y="147"/>
                    <a:pt x="117" y="147"/>
                  </a:cubicBezTo>
                  <a:cubicBezTo>
                    <a:pt x="120" y="146"/>
                    <a:pt x="123" y="144"/>
                    <a:pt x="126" y="142"/>
                  </a:cubicBezTo>
                  <a:cubicBezTo>
                    <a:pt x="137" y="150"/>
                    <a:pt x="137" y="150"/>
                    <a:pt x="137" y="150"/>
                  </a:cubicBezTo>
                  <a:cubicBezTo>
                    <a:pt x="138" y="152"/>
                    <a:pt x="139" y="152"/>
                    <a:pt x="141" y="151"/>
                  </a:cubicBezTo>
                  <a:cubicBezTo>
                    <a:pt x="141" y="150"/>
                    <a:pt x="142" y="149"/>
                    <a:pt x="142" y="149"/>
                  </a:cubicBezTo>
                  <a:cubicBezTo>
                    <a:pt x="142" y="148"/>
                    <a:pt x="141" y="147"/>
                    <a:pt x="141" y="147"/>
                  </a:cubicBezTo>
                  <a:cubicBezTo>
                    <a:pt x="135" y="134"/>
                    <a:pt x="135" y="134"/>
                    <a:pt x="135" y="134"/>
                  </a:cubicBezTo>
                  <a:cubicBezTo>
                    <a:pt x="137" y="132"/>
                    <a:pt x="139" y="130"/>
                    <a:pt x="141" y="127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6" y="132"/>
                    <a:pt x="157" y="132"/>
                    <a:pt x="158" y="131"/>
                  </a:cubicBezTo>
                  <a:cubicBezTo>
                    <a:pt x="158" y="130"/>
                    <a:pt x="159" y="130"/>
                    <a:pt x="159" y="129"/>
                  </a:cubicBezTo>
                  <a:cubicBezTo>
                    <a:pt x="159" y="128"/>
                    <a:pt x="158" y="127"/>
                    <a:pt x="157" y="127"/>
                  </a:cubicBezTo>
                  <a:cubicBezTo>
                    <a:pt x="147" y="117"/>
                    <a:pt x="147" y="117"/>
                    <a:pt x="147" y="117"/>
                  </a:cubicBezTo>
                  <a:cubicBezTo>
                    <a:pt x="149" y="114"/>
                    <a:pt x="150" y="111"/>
                    <a:pt x="151" y="108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7" y="108"/>
                    <a:pt x="168" y="107"/>
                    <a:pt x="169" y="106"/>
                  </a:cubicBezTo>
                  <a:cubicBezTo>
                    <a:pt x="169" y="106"/>
                    <a:pt x="169" y="105"/>
                    <a:pt x="169" y="105"/>
                  </a:cubicBezTo>
                  <a:cubicBezTo>
                    <a:pt x="169" y="104"/>
                    <a:pt x="168" y="103"/>
                    <a:pt x="167" y="103"/>
                  </a:cubicBezTo>
                  <a:cubicBezTo>
                    <a:pt x="154" y="96"/>
                    <a:pt x="154" y="96"/>
                    <a:pt x="154" y="96"/>
                  </a:cubicBezTo>
                  <a:cubicBezTo>
                    <a:pt x="155" y="93"/>
                    <a:pt x="155" y="90"/>
                    <a:pt x="155" y="86"/>
                  </a:cubicBezTo>
                  <a:lnTo>
                    <a:pt x="168" y="82"/>
                  </a:lnTo>
                  <a:close/>
                  <a:moveTo>
                    <a:pt x="86" y="101"/>
                  </a:moveTo>
                  <a:cubicBezTo>
                    <a:pt x="77" y="101"/>
                    <a:pt x="70" y="94"/>
                    <a:pt x="70" y="85"/>
                  </a:cubicBezTo>
                  <a:cubicBezTo>
                    <a:pt x="70" y="77"/>
                    <a:pt x="77" y="70"/>
                    <a:pt x="86" y="70"/>
                  </a:cubicBezTo>
                  <a:cubicBezTo>
                    <a:pt x="94" y="70"/>
                    <a:pt x="101" y="77"/>
                    <a:pt x="101" y="85"/>
                  </a:cubicBezTo>
                  <a:cubicBezTo>
                    <a:pt x="101" y="94"/>
                    <a:pt x="94" y="101"/>
                    <a:pt x="8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Freeform 20"/>
            <p:cNvSpPr>
              <a:spLocks noEditPoints="1"/>
            </p:cNvSpPr>
            <p:nvPr/>
          </p:nvSpPr>
          <p:spPr bwMode="auto">
            <a:xfrm>
              <a:off x="-1333500" y="1651000"/>
              <a:ext cx="454025" cy="454025"/>
            </a:xfrm>
            <a:custGeom>
              <a:avLst/>
              <a:gdLst>
                <a:gd name="T0" fmla="*/ 121 w 121"/>
                <a:gd name="T1" fmla="*/ 56 h 121"/>
                <a:gd name="T2" fmla="*/ 119 w 121"/>
                <a:gd name="T3" fmla="*/ 54 h 121"/>
                <a:gd name="T4" fmla="*/ 108 w 121"/>
                <a:gd name="T5" fmla="*/ 46 h 121"/>
                <a:gd name="T6" fmla="*/ 117 w 121"/>
                <a:gd name="T7" fmla="*/ 38 h 121"/>
                <a:gd name="T8" fmla="*/ 115 w 121"/>
                <a:gd name="T9" fmla="*/ 37 h 121"/>
                <a:gd name="T10" fmla="*/ 101 w 121"/>
                <a:gd name="T11" fmla="*/ 32 h 121"/>
                <a:gd name="T12" fmla="*/ 108 w 121"/>
                <a:gd name="T13" fmla="*/ 23 h 121"/>
                <a:gd name="T14" fmla="*/ 105 w 121"/>
                <a:gd name="T15" fmla="*/ 21 h 121"/>
                <a:gd name="T16" fmla="*/ 90 w 121"/>
                <a:gd name="T17" fmla="*/ 21 h 121"/>
                <a:gd name="T18" fmla="*/ 94 w 121"/>
                <a:gd name="T19" fmla="*/ 11 h 121"/>
                <a:gd name="T20" fmla="*/ 90 w 121"/>
                <a:gd name="T21" fmla="*/ 10 h 121"/>
                <a:gd name="T22" fmla="*/ 77 w 121"/>
                <a:gd name="T23" fmla="*/ 14 h 121"/>
                <a:gd name="T24" fmla="*/ 77 w 121"/>
                <a:gd name="T25" fmla="*/ 3 h 121"/>
                <a:gd name="T26" fmla="*/ 73 w 121"/>
                <a:gd name="T27" fmla="*/ 3 h 121"/>
                <a:gd name="T28" fmla="*/ 61 w 121"/>
                <a:gd name="T29" fmla="*/ 11 h 121"/>
                <a:gd name="T30" fmla="*/ 56 w 121"/>
                <a:gd name="T31" fmla="*/ 0 h 121"/>
                <a:gd name="T32" fmla="*/ 55 w 121"/>
                <a:gd name="T33" fmla="*/ 2 h 121"/>
                <a:gd name="T34" fmla="*/ 46 w 121"/>
                <a:gd name="T35" fmla="*/ 13 h 121"/>
                <a:gd name="T36" fmla="*/ 38 w 121"/>
                <a:gd name="T37" fmla="*/ 4 h 121"/>
                <a:gd name="T38" fmla="*/ 37 w 121"/>
                <a:gd name="T39" fmla="*/ 7 h 121"/>
                <a:gd name="T40" fmla="*/ 32 w 121"/>
                <a:gd name="T41" fmla="*/ 20 h 121"/>
                <a:gd name="T42" fmla="*/ 22 w 121"/>
                <a:gd name="T43" fmla="*/ 14 h 121"/>
                <a:gd name="T44" fmla="*/ 21 w 121"/>
                <a:gd name="T45" fmla="*/ 17 h 121"/>
                <a:gd name="T46" fmla="*/ 21 w 121"/>
                <a:gd name="T47" fmla="*/ 31 h 121"/>
                <a:gd name="T48" fmla="*/ 9 w 121"/>
                <a:gd name="T49" fmla="*/ 28 h 121"/>
                <a:gd name="T50" fmla="*/ 10 w 121"/>
                <a:gd name="T51" fmla="*/ 31 h 121"/>
                <a:gd name="T52" fmla="*/ 14 w 121"/>
                <a:gd name="T53" fmla="*/ 45 h 121"/>
                <a:gd name="T54" fmla="*/ 2 w 121"/>
                <a:gd name="T55" fmla="*/ 46 h 121"/>
                <a:gd name="T56" fmla="*/ 3 w 121"/>
                <a:gd name="T57" fmla="*/ 48 h 121"/>
                <a:gd name="T58" fmla="*/ 11 w 121"/>
                <a:gd name="T59" fmla="*/ 60 h 121"/>
                <a:gd name="T60" fmla="*/ 0 w 121"/>
                <a:gd name="T61" fmla="*/ 65 h 121"/>
                <a:gd name="T62" fmla="*/ 2 w 121"/>
                <a:gd name="T63" fmla="*/ 67 h 121"/>
                <a:gd name="T64" fmla="*/ 14 w 121"/>
                <a:gd name="T65" fmla="*/ 75 h 121"/>
                <a:gd name="T66" fmla="*/ 4 w 121"/>
                <a:gd name="T67" fmla="*/ 83 h 121"/>
                <a:gd name="T68" fmla="*/ 7 w 121"/>
                <a:gd name="T69" fmla="*/ 84 h 121"/>
                <a:gd name="T70" fmla="*/ 20 w 121"/>
                <a:gd name="T71" fmla="*/ 89 h 121"/>
                <a:gd name="T72" fmla="*/ 14 w 121"/>
                <a:gd name="T73" fmla="*/ 98 h 121"/>
                <a:gd name="T74" fmla="*/ 17 w 121"/>
                <a:gd name="T75" fmla="*/ 100 h 121"/>
                <a:gd name="T76" fmla="*/ 31 w 121"/>
                <a:gd name="T77" fmla="*/ 100 h 121"/>
                <a:gd name="T78" fmla="*/ 28 w 121"/>
                <a:gd name="T79" fmla="*/ 110 h 121"/>
                <a:gd name="T80" fmla="*/ 31 w 121"/>
                <a:gd name="T81" fmla="*/ 112 h 121"/>
                <a:gd name="T82" fmla="*/ 45 w 121"/>
                <a:gd name="T83" fmla="*/ 107 h 121"/>
                <a:gd name="T84" fmla="*/ 45 w 121"/>
                <a:gd name="T85" fmla="*/ 118 h 121"/>
                <a:gd name="T86" fmla="*/ 49 w 121"/>
                <a:gd name="T87" fmla="*/ 118 h 121"/>
                <a:gd name="T88" fmla="*/ 60 w 121"/>
                <a:gd name="T89" fmla="*/ 110 h 121"/>
                <a:gd name="T90" fmla="*/ 65 w 121"/>
                <a:gd name="T91" fmla="*/ 121 h 121"/>
                <a:gd name="T92" fmla="*/ 67 w 121"/>
                <a:gd name="T93" fmla="*/ 119 h 121"/>
                <a:gd name="T94" fmla="*/ 68 w 121"/>
                <a:gd name="T95" fmla="*/ 109 h 121"/>
                <a:gd name="T96" fmla="*/ 81 w 121"/>
                <a:gd name="T97" fmla="*/ 116 h 121"/>
                <a:gd name="T98" fmla="*/ 85 w 121"/>
                <a:gd name="T99" fmla="*/ 115 h 121"/>
                <a:gd name="T100" fmla="*/ 83 w 121"/>
                <a:gd name="T101" fmla="*/ 104 h 121"/>
                <a:gd name="T102" fmla="*/ 97 w 121"/>
                <a:gd name="T103" fmla="*/ 107 h 121"/>
                <a:gd name="T104" fmla="*/ 101 w 121"/>
                <a:gd name="T105" fmla="*/ 106 h 121"/>
                <a:gd name="T106" fmla="*/ 96 w 121"/>
                <a:gd name="T107" fmla="*/ 95 h 121"/>
                <a:gd name="T108" fmla="*/ 110 w 121"/>
                <a:gd name="T109" fmla="*/ 93 h 121"/>
                <a:gd name="T110" fmla="*/ 113 w 121"/>
                <a:gd name="T111" fmla="*/ 92 h 121"/>
                <a:gd name="T112" fmla="*/ 105 w 121"/>
                <a:gd name="T113" fmla="*/ 83 h 121"/>
                <a:gd name="T114" fmla="*/ 117 w 121"/>
                <a:gd name="T115" fmla="*/ 77 h 121"/>
                <a:gd name="T116" fmla="*/ 120 w 121"/>
                <a:gd name="T117" fmla="*/ 75 h 121"/>
                <a:gd name="T118" fmla="*/ 109 w 121"/>
                <a:gd name="T119" fmla="*/ 68 h 121"/>
                <a:gd name="T120" fmla="*/ 120 w 121"/>
                <a:gd name="T121" fmla="*/ 58 h 121"/>
                <a:gd name="T122" fmla="*/ 50 w 121"/>
                <a:gd name="T123" fmla="*/ 61 h 121"/>
                <a:gd name="T124" fmla="*/ 72 w 121"/>
                <a:gd name="T125" fmla="*/ 6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1" h="121">
                  <a:moveTo>
                    <a:pt x="120" y="58"/>
                  </a:moveTo>
                  <a:cubicBezTo>
                    <a:pt x="121" y="58"/>
                    <a:pt x="121" y="57"/>
                    <a:pt x="121" y="56"/>
                  </a:cubicBezTo>
                  <a:cubicBezTo>
                    <a:pt x="121" y="56"/>
                    <a:pt x="121" y="56"/>
                    <a:pt x="121" y="56"/>
                  </a:cubicBezTo>
                  <a:cubicBezTo>
                    <a:pt x="121" y="55"/>
                    <a:pt x="120" y="54"/>
                    <a:pt x="119" y="54"/>
                  </a:cubicBezTo>
                  <a:cubicBezTo>
                    <a:pt x="110" y="53"/>
                    <a:pt x="110" y="53"/>
                    <a:pt x="110" y="53"/>
                  </a:cubicBezTo>
                  <a:cubicBezTo>
                    <a:pt x="109" y="50"/>
                    <a:pt x="109" y="48"/>
                    <a:pt x="108" y="46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7" y="40"/>
                    <a:pt x="117" y="39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7"/>
                    <a:pt x="116" y="36"/>
                    <a:pt x="115" y="37"/>
                  </a:cubicBezTo>
                  <a:cubicBezTo>
                    <a:pt x="105" y="38"/>
                    <a:pt x="105" y="38"/>
                    <a:pt x="105" y="38"/>
                  </a:cubicBezTo>
                  <a:cubicBezTo>
                    <a:pt x="104" y="36"/>
                    <a:pt x="102" y="34"/>
                    <a:pt x="101" y="3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8" y="24"/>
                    <a:pt x="108" y="23"/>
                    <a:pt x="108" y="23"/>
                  </a:cubicBezTo>
                  <a:cubicBezTo>
                    <a:pt x="108" y="22"/>
                    <a:pt x="108" y="22"/>
                    <a:pt x="107" y="21"/>
                  </a:cubicBezTo>
                  <a:cubicBezTo>
                    <a:pt x="107" y="21"/>
                    <a:pt x="105" y="20"/>
                    <a:pt x="105" y="21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4" y="24"/>
                    <a:pt x="92" y="22"/>
                    <a:pt x="90" y="21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0"/>
                    <a:pt x="94" y="9"/>
                    <a:pt x="93" y="9"/>
                  </a:cubicBezTo>
                  <a:cubicBezTo>
                    <a:pt x="92" y="8"/>
                    <a:pt x="91" y="9"/>
                    <a:pt x="90" y="10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1" y="15"/>
                    <a:pt x="79" y="15"/>
                    <a:pt x="77" y="14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4"/>
                    <a:pt x="77" y="4"/>
                    <a:pt x="77" y="3"/>
                  </a:cubicBezTo>
                  <a:cubicBezTo>
                    <a:pt x="77" y="2"/>
                    <a:pt x="76" y="2"/>
                    <a:pt x="75" y="1"/>
                  </a:cubicBezTo>
                  <a:cubicBezTo>
                    <a:pt x="74" y="1"/>
                    <a:pt x="73" y="2"/>
                    <a:pt x="73" y="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6" y="11"/>
                    <a:pt x="64" y="11"/>
                    <a:pt x="61" y="11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8" y="1"/>
                    <a:pt x="58" y="0"/>
                    <a:pt x="56" y="0"/>
                  </a:cubicBezTo>
                  <a:cubicBezTo>
                    <a:pt x="55" y="0"/>
                    <a:pt x="55" y="1"/>
                    <a:pt x="55" y="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1" y="12"/>
                    <a:pt x="48" y="13"/>
                    <a:pt x="46" y="13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4"/>
                    <a:pt x="39" y="4"/>
                    <a:pt x="38" y="4"/>
                  </a:cubicBezTo>
                  <a:cubicBezTo>
                    <a:pt x="37" y="4"/>
                    <a:pt x="37" y="5"/>
                    <a:pt x="37" y="6"/>
                  </a:cubicBezTo>
                  <a:cubicBezTo>
                    <a:pt x="37" y="6"/>
                    <a:pt x="37" y="6"/>
                    <a:pt x="37" y="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6" y="18"/>
                    <a:pt x="34" y="19"/>
                    <a:pt x="32" y="20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3"/>
                    <a:pt x="22" y="13"/>
                    <a:pt x="22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1" y="16"/>
                    <a:pt x="21" y="16"/>
                    <a:pt x="21" y="1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4" y="27"/>
                    <a:pt x="23" y="29"/>
                    <a:pt x="21" y="31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7"/>
                    <a:pt x="10" y="27"/>
                    <a:pt x="9" y="28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40"/>
                    <a:pt x="15" y="42"/>
                    <a:pt x="14" y="45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3" y="44"/>
                    <a:pt x="2" y="45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7"/>
                    <a:pt x="2" y="48"/>
                    <a:pt x="3" y="48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5"/>
                    <a:pt x="11" y="57"/>
                    <a:pt x="11" y="60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3"/>
                    <a:pt x="0" y="64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6"/>
                    <a:pt x="1" y="67"/>
                    <a:pt x="2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71"/>
                    <a:pt x="13" y="73"/>
                    <a:pt x="14" y="75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5" y="81"/>
                    <a:pt x="4" y="82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5" y="84"/>
                    <a:pt x="6" y="85"/>
                    <a:pt x="7" y="8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5"/>
                    <a:pt x="19" y="87"/>
                    <a:pt x="20" y="89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4" y="98"/>
                    <a:pt x="14" y="98"/>
                  </a:cubicBezTo>
                  <a:cubicBezTo>
                    <a:pt x="14" y="99"/>
                    <a:pt x="14" y="99"/>
                    <a:pt x="14" y="100"/>
                  </a:cubicBezTo>
                  <a:cubicBezTo>
                    <a:pt x="15" y="100"/>
                    <a:pt x="16" y="101"/>
                    <a:pt x="17" y="100"/>
                  </a:cubicBezTo>
                  <a:cubicBezTo>
                    <a:pt x="26" y="95"/>
                    <a:pt x="26" y="95"/>
                    <a:pt x="26" y="95"/>
                  </a:cubicBezTo>
                  <a:cubicBezTo>
                    <a:pt x="28" y="97"/>
                    <a:pt x="29" y="99"/>
                    <a:pt x="31" y="100"/>
                  </a:cubicBezTo>
                  <a:cubicBezTo>
                    <a:pt x="28" y="109"/>
                    <a:pt x="28" y="109"/>
                    <a:pt x="28" y="109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28" y="111"/>
                    <a:pt x="28" y="112"/>
                    <a:pt x="29" y="112"/>
                  </a:cubicBezTo>
                  <a:cubicBezTo>
                    <a:pt x="30" y="113"/>
                    <a:pt x="31" y="112"/>
                    <a:pt x="31" y="112"/>
                  </a:cubicBezTo>
                  <a:cubicBezTo>
                    <a:pt x="38" y="104"/>
                    <a:pt x="38" y="104"/>
                    <a:pt x="38" y="104"/>
                  </a:cubicBezTo>
                  <a:cubicBezTo>
                    <a:pt x="40" y="106"/>
                    <a:pt x="43" y="106"/>
                    <a:pt x="45" y="10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5" y="117"/>
                    <a:pt x="45" y="117"/>
                    <a:pt x="45" y="118"/>
                  </a:cubicBezTo>
                  <a:cubicBezTo>
                    <a:pt x="45" y="119"/>
                    <a:pt x="45" y="119"/>
                    <a:pt x="46" y="120"/>
                  </a:cubicBezTo>
                  <a:cubicBezTo>
                    <a:pt x="47" y="120"/>
                    <a:pt x="48" y="119"/>
                    <a:pt x="49" y="118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5" y="110"/>
                    <a:pt x="58" y="110"/>
                    <a:pt x="60" y="110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3" y="120"/>
                    <a:pt x="64" y="121"/>
                    <a:pt x="65" y="121"/>
                  </a:cubicBezTo>
                  <a:cubicBezTo>
                    <a:pt x="65" y="121"/>
                    <a:pt x="65" y="121"/>
                    <a:pt x="65" y="121"/>
                  </a:cubicBezTo>
                  <a:cubicBezTo>
                    <a:pt x="66" y="121"/>
                    <a:pt x="67" y="120"/>
                    <a:pt x="67" y="119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71" y="109"/>
                    <a:pt x="73" y="108"/>
                    <a:pt x="75" y="108"/>
                  </a:cubicBezTo>
                  <a:cubicBezTo>
                    <a:pt x="81" y="116"/>
                    <a:pt x="81" y="116"/>
                    <a:pt x="81" y="116"/>
                  </a:cubicBezTo>
                  <a:cubicBezTo>
                    <a:pt x="82" y="117"/>
                    <a:pt x="83" y="117"/>
                    <a:pt x="84" y="117"/>
                  </a:cubicBezTo>
                  <a:cubicBezTo>
                    <a:pt x="84" y="117"/>
                    <a:pt x="85" y="116"/>
                    <a:pt x="85" y="115"/>
                  </a:cubicBezTo>
                  <a:cubicBezTo>
                    <a:pt x="85" y="115"/>
                    <a:pt x="85" y="115"/>
                    <a:pt x="85" y="114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85" y="103"/>
                    <a:pt x="87" y="102"/>
                    <a:pt x="89" y="101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8" y="108"/>
                    <a:pt x="99" y="108"/>
                    <a:pt x="100" y="107"/>
                  </a:cubicBezTo>
                  <a:cubicBezTo>
                    <a:pt x="100" y="107"/>
                    <a:pt x="101" y="106"/>
                    <a:pt x="101" y="106"/>
                  </a:cubicBezTo>
                  <a:cubicBezTo>
                    <a:pt x="101" y="105"/>
                    <a:pt x="100" y="105"/>
                    <a:pt x="100" y="104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7" y="94"/>
                    <a:pt x="99" y="92"/>
                    <a:pt x="100" y="90"/>
                  </a:cubicBezTo>
                  <a:cubicBezTo>
                    <a:pt x="110" y="93"/>
                    <a:pt x="110" y="93"/>
                    <a:pt x="110" y="93"/>
                  </a:cubicBezTo>
                  <a:cubicBezTo>
                    <a:pt x="111" y="94"/>
                    <a:pt x="112" y="94"/>
                    <a:pt x="112" y="93"/>
                  </a:cubicBezTo>
                  <a:cubicBezTo>
                    <a:pt x="113" y="92"/>
                    <a:pt x="113" y="92"/>
                    <a:pt x="113" y="92"/>
                  </a:cubicBezTo>
                  <a:cubicBezTo>
                    <a:pt x="113" y="91"/>
                    <a:pt x="112" y="90"/>
                    <a:pt x="112" y="90"/>
                  </a:cubicBezTo>
                  <a:cubicBezTo>
                    <a:pt x="105" y="83"/>
                    <a:pt x="105" y="83"/>
                    <a:pt x="105" y="83"/>
                  </a:cubicBezTo>
                  <a:cubicBezTo>
                    <a:pt x="106" y="81"/>
                    <a:pt x="107" y="79"/>
                    <a:pt x="107" y="76"/>
                  </a:cubicBezTo>
                  <a:cubicBezTo>
                    <a:pt x="117" y="77"/>
                    <a:pt x="117" y="77"/>
                    <a:pt x="117" y="77"/>
                  </a:cubicBezTo>
                  <a:cubicBezTo>
                    <a:pt x="118" y="77"/>
                    <a:pt x="120" y="76"/>
                    <a:pt x="120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74"/>
                    <a:pt x="119" y="73"/>
                    <a:pt x="118" y="73"/>
                  </a:cubicBezTo>
                  <a:cubicBezTo>
                    <a:pt x="109" y="68"/>
                    <a:pt x="109" y="68"/>
                    <a:pt x="109" y="68"/>
                  </a:cubicBezTo>
                  <a:cubicBezTo>
                    <a:pt x="110" y="66"/>
                    <a:pt x="110" y="64"/>
                    <a:pt x="110" y="61"/>
                  </a:cubicBezTo>
                  <a:lnTo>
                    <a:pt x="120" y="58"/>
                  </a:lnTo>
                  <a:close/>
                  <a:moveTo>
                    <a:pt x="61" y="72"/>
                  </a:moveTo>
                  <a:cubicBezTo>
                    <a:pt x="55" y="72"/>
                    <a:pt x="50" y="67"/>
                    <a:pt x="50" y="61"/>
                  </a:cubicBezTo>
                  <a:cubicBezTo>
                    <a:pt x="50" y="54"/>
                    <a:pt x="55" y="49"/>
                    <a:pt x="61" y="49"/>
                  </a:cubicBezTo>
                  <a:cubicBezTo>
                    <a:pt x="67" y="49"/>
                    <a:pt x="72" y="54"/>
                    <a:pt x="72" y="61"/>
                  </a:cubicBezTo>
                  <a:cubicBezTo>
                    <a:pt x="72" y="67"/>
                    <a:pt x="67" y="72"/>
                    <a:pt x="61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9" name="Oval 21"/>
            <p:cNvSpPr>
              <a:spLocks noChangeArrowheads="1"/>
            </p:cNvSpPr>
            <p:nvPr/>
          </p:nvSpPr>
          <p:spPr bwMode="auto">
            <a:xfrm>
              <a:off x="-1055688" y="2462213"/>
              <a:ext cx="171450" cy="1714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0" name="Oval 22"/>
            <p:cNvSpPr>
              <a:spLocks noChangeArrowheads="1"/>
            </p:cNvSpPr>
            <p:nvPr/>
          </p:nvSpPr>
          <p:spPr bwMode="auto">
            <a:xfrm>
              <a:off x="-1776413" y="2792413"/>
              <a:ext cx="115888" cy="1190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" name="Freeform 23"/>
            <p:cNvSpPr>
              <a:spLocks noEditPoints="1"/>
            </p:cNvSpPr>
            <p:nvPr/>
          </p:nvSpPr>
          <p:spPr bwMode="auto">
            <a:xfrm>
              <a:off x="-2773363" y="2439988"/>
              <a:ext cx="2692401" cy="2659063"/>
            </a:xfrm>
            <a:custGeom>
              <a:avLst/>
              <a:gdLst>
                <a:gd name="T0" fmla="*/ 605 w 718"/>
                <a:gd name="T1" fmla="*/ 20 h 709"/>
                <a:gd name="T2" fmla="*/ 602 w 718"/>
                <a:gd name="T3" fmla="*/ 58 h 709"/>
                <a:gd name="T4" fmla="*/ 587 w 718"/>
                <a:gd name="T5" fmla="*/ 93 h 709"/>
                <a:gd name="T6" fmla="*/ 563 w 718"/>
                <a:gd name="T7" fmla="*/ 121 h 709"/>
                <a:gd name="T8" fmla="*/ 530 w 718"/>
                <a:gd name="T9" fmla="*/ 141 h 709"/>
                <a:gd name="T10" fmla="*/ 493 w 718"/>
                <a:gd name="T11" fmla="*/ 149 h 709"/>
                <a:gd name="T12" fmla="*/ 456 w 718"/>
                <a:gd name="T13" fmla="*/ 147 h 709"/>
                <a:gd name="T14" fmla="*/ 420 w 718"/>
                <a:gd name="T15" fmla="*/ 134 h 709"/>
                <a:gd name="T16" fmla="*/ 391 w 718"/>
                <a:gd name="T17" fmla="*/ 110 h 709"/>
                <a:gd name="T18" fmla="*/ 371 w 718"/>
                <a:gd name="T19" fmla="*/ 78 h 709"/>
                <a:gd name="T20" fmla="*/ 361 w 718"/>
                <a:gd name="T21" fmla="*/ 42 h 709"/>
                <a:gd name="T22" fmla="*/ 363 w 718"/>
                <a:gd name="T23" fmla="*/ 4 h 709"/>
                <a:gd name="T24" fmla="*/ 68 w 718"/>
                <a:gd name="T25" fmla="*/ 221 h 709"/>
                <a:gd name="T26" fmla="*/ 162 w 718"/>
                <a:gd name="T27" fmla="*/ 514 h 709"/>
                <a:gd name="T28" fmla="*/ 334 w 718"/>
                <a:gd name="T29" fmla="*/ 176 h 709"/>
                <a:gd name="T30" fmla="*/ 311 w 718"/>
                <a:gd name="T31" fmla="*/ 189 h 709"/>
                <a:gd name="T32" fmla="*/ 288 w 718"/>
                <a:gd name="T33" fmla="*/ 197 h 709"/>
                <a:gd name="T34" fmla="*/ 258 w 718"/>
                <a:gd name="T35" fmla="*/ 192 h 709"/>
                <a:gd name="T36" fmla="*/ 234 w 718"/>
                <a:gd name="T37" fmla="*/ 181 h 709"/>
                <a:gd name="T38" fmla="*/ 214 w 718"/>
                <a:gd name="T39" fmla="*/ 164 h 709"/>
                <a:gd name="T40" fmla="*/ 201 w 718"/>
                <a:gd name="T41" fmla="*/ 141 h 709"/>
                <a:gd name="T42" fmla="*/ 195 w 718"/>
                <a:gd name="T43" fmla="*/ 116 h 709"/>
                <a:gd name="T44" fmla="*/ 197 w 718"/>
                <a:gd name="T45" fmla="*/ 89 h 709"/>
                <a:gd name="T46" fmla="*/ 207 w 718"/>
                <a:gd name="T47" fmla="*/ 64 h 709"/>
                <a:gd name="T48" fmla="*/ 225 w 718"/>
                <a:gd name="T49" fmla="*/ 43 h 709"/>
                <a:gd name="T50" fmla="*/ 249 w 718"/>
                <a:gd name="T51" fmla="*/ 29 h 709"/>
                <a:gd name="T52" fmla="*/ 275 w 718"/>
                <a:gd name="T53" fmla="*/ 23 h 709"/>
                <a:gd name="T54" fmla="*/ 305 w 718"/>
                <a:gd name="T55" fmla="*/ 28 h 709"/>
                <a:gd name="T56" fmla="*/ 329 w 718"/>
                <a:gd name="T57" fmla="*/ 38 h 709"/>
                <a:gd name="T58" fmla="*/ 349 w 718"/>
                <a:gd name="T59" fmla="*/ 55 h 709"/>
                <a:gd name="T60" fmla="*/ 362 w 718"/>
                <a:gd name="T61" fmla="*/ 78 h 709"/>
                <a:gd name="T62" fmla="*/ 368 w 718"/>
                <a:gd name="T63" fmla="*/ 104 h 709"/>
                <a:gd name="T64" fmla="*/ 366 w 718"/>
                <a:gd name="T65" fmla="*/ 131 h 709"/>
                <a:gd name="T66" fmla="*/ 356 w 718"/>
                <a:gd name="T67" fmla="*/ 156 h 709"/>
                <a:gd name="T68" fmla="*/ 338 w 718"/>
                <a:gd name="T69" fmla="*/ 176 h 709"/>
                <a:gd name="T70" fmla="*/ 451 w 718"/>
                <a:gd name="T71" fmla="*/ 208 h 709"/>
                <a:gd name="T72" fmla="*/ 444 w 718"/>
                <a:gd name="T73" fmla="*/ 224 h 709"/>
                <a:gd name="T74" fmla="*/ 433 w 718"/>
                <a:gd name="T75" fmla="*/ 237 h 709"/>
                <a:gd name="T76" fmla="*/ 418 w 718"/>
                <a:gd name="T77" fmla="*/ 247 h 709"/>
                <a:gd name="T78" fmla="*/ 401 w 718"/>
                <a:gd name="T79" fmla="*/ 251 h 709"/>
                <a:gd name="T80" fmla="*/ 383 w 718"/>
                <a:gd name="T81" fmla="*/ 250 h 709"/>
                <a:gd name="T82" fmla="*/ 367 w 718"/>
                <a:gd name="T83" fmla="*/ 243 h 709"/>
                <a:gd name="T84" fmla="*/ 353 w 718"/>
                <a:gd name="T85" fmla="*/ 232 h 709"/>
                <a:gd name="T86" fmla="*/ 343 w 718"/>
                <a:gd name="T87" fmla="*/ 217 h 709"/>
                <a:gd name="T88" fmla="*/ 339 w 718"/>
                <a:gd name="T89" fmla="*/ 200 h 709"/>
                <a:gd name="T90" fmla="*/ 340 w 718"/>
                <a:gd name="T91" fmla="*/ 183 h 709"/>
                <a:gd name="T92" fmla="*/ 346 w 718"/>
                <a:gd name="T93" fmla="*/ 166 h 709"/>
                <a:gd name="T94" fmla="*/ 357 w 718"/>
                <a:gd name="T95" fmla="*/ 153 h 709"/>
                <a:gd name="T96" fmla="*/ 372 w 718"/>
                <a:gd name="T97" fmla="*/ 143 h 709"/>
                <a:gd name="T98" fmla="*/ 389 w 718"/>
                <a:gd name="T99" fmla="*/ 138 h 709"/>
                <a:gd name="T100" fmla="*/ 407 w 718"/>
                <a:gd name="T101" fmla="*/ 139 h 709"/>
                <a:gd name="T102" fmla="*/ 423 w 718"/>
                <a:gd name="T103" fmla="*/ 146 h 709"/>
                <a:gd name="T104" fmla="*/ 437 w 718"/>
                <a:gd name="T105" fmla="*/ 157 h 709"/>
                <a:gd name="T106" fmla="*/ 446 w 718"/>
                <a:gd name="T107" fmla="*/ 172 h 709"/>
                <a:gd name="T108" fmla="*/ 451 w 718"/>
                <a:gd name="T109" fmla="*/ 189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18" h="709">
                  <a:moveTo>
                    <a:pt x="606" y="330"/>
                  </a:moveTo>
                  <a:cubicBezTo>
                    <a:pt x="718" y="140"/>
                    <a:pt x="627" y="0"/>
                    <a:pt x="627" y="0"/>
                  </a:cubicBezTo>
                  <a:cubicBezTo>
                    <a:pt x="578" y="0"/>
                    <a:pt x="578" y="0"/>
                    <a:pt x="578" y="0"/>
                  </a:cubicBezTo>
                  <a:cubicBezTo>
                    <a:pt x="579" y="4"/>
                    <a:pt x="580" y="9"/>
                    <a:pt x="581" y="13"/>
                  </a:cubicBezTo>
                  <a:cubicBezTo>
                    <a:pt x="601" y="16"/>
                    <a:pt x="601" y="16"/>
                    <a:pt x="601" y="16"/>
                  </a:cubicBezTo>
                  <a:cubicBezTo>
                    <a:pt x="603" y="16"/>
                    <a:pt x="605" y="18"/>
                    <a:pt x="605" y="20"/>
                  </a:cubicBezTo>
                  <a:cubicBezTo>
                    <a:pt x="605" y="20"/>
                    <a:pt x="605" y="20"/>
                    <a:pt x="605" y="20"/>
                  </a:cubicBezTo>
                  <a:cubicBezTo>
                    <a:pt x="605" y="23"/>
                    <a:pt x="604" y="24"/>
                    <a:pt x="601" y="24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2" y="35"/>
                    <a:pt x="581" y="40"/>
                    <a:pt x="581" y="45"/>
                  </a:cubicBezTo>
                  <a:cubicBezTo>
                    <a:pt x="599" y="54"/>
                    <a:pt x="599" y="54"/>
                    <a:pt x="599" y="54"/>
                  </a:cubicBezTo>
                  <a:cubicBezTo>
                    <a:pt x="601" y="55"/>
                    <a:pt x="602" y="56"/>
                    <a:pt x="602" y="58"/>
                  </a:cubicBezTo>
                  <a:cubicBezTo>
                    <a:pt x="602" y="58"/>
                    <a:pt x="602" y="59"/>
                    <a:pt x="602" y="59"/>
                  </a:cubicBezTo>
                  <a:cubicBezTo>
                    <a:pt x="601" y="61"/>
                    <a:pt x="599" y="62"/>
                    <a:pt x="597" y="62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75" y="66"/>
                    <a:pt x="573" y="71"/>
                    <a:pt x="571" y="75"/>
                  </a:cubicBezTo>
                  <a:cubicBezTo>
                    <a:pt x="585" y="89"/>
                    <a:pt x="585" y="89"/>
                    <a:pt x="585" y="89"/>
                  </a:cubicBezTo>
                  <a:cubicBezTo>
                    <a:pt x="587" y="90"/>
                    <a:pt x="587" y="91"/>
                    <a:pt x="587" y="93"/>
                  </a:cubicBezTo>
                  <a:cubicBezTo>
                    <a:pt x="587" y="94"/>
                    <a:pt x="587" y="94"/>
                    <a:pt x="587" y="95"/>
                  </a:cubicBezTo>
                  <a:cubicBezTo>
                    <a:pt x="585" y="97"/>
                    <a:pt x="583" y="97"/>
                    <a:pt x="581" y="96"/>
                  </a:cubicBezTo>
                  <a:cubicBezTo>
                    <a:pt x="562" y="90"/>
                    <a:pt x="562" y="90"/>
                    <a:pt x="562" y="90"/>
                  </a:cubicBezTo>
                  <a:cubicBezTo>
                    <a:pt x="559" y="94"/>
                    <a:pt x="556" y="97"/>
                    <a:pt x="552" y="101"/>
                  </a:cubicBezTo>
                  <a:cubicBezTo>
                    <a:pt x="562" y="119"/>
                    <a:pt x="562" y="119"/>
                    <a:pt x="562" y="119"/>
                  </a:cubicBezTo>
                  <a:cubicBezTo>
                    <a:pt x="562" y="120"/>
                    <a:pt x="563" y="120"/>
                    <a:pt x="563" y="121"/>
                  </a:cubicBezTo>
                  <a:cubicBezTo>
                    <a:pt x="563" y="122"/>
                    <a:pt x="562" y="124"/>
                    <a:pt x="561" y="124"/>
                  </a:cubicBezTo>
                  <a:cubicBezTo>
                    <a:pt x="559" y="126"/>
                    <a:pt x="557" y="126"/>
                    <a:pt x="555" y="124"/>
                  </a:cubicBezTo>
                  <a:cubicBezTo>
                    <a:pt x="539" y="112"/>
                    <a:pt x="539" y="112"/>
                    <a:pt x="539" y="112"/>
                  </a:cubicBezTo>
                  <a:cubicBezTo>
                    <a:pt x="535" y="114"/>
                    <a:pt x="531" y="117"/>
                    <a:pt x="527" y="119"/>
                  </a:cubicBezTo>
                  <a:cubicBezTo>
                    <a:pt x="530" y="139"/>
                    <a:pt x="530" y="139"/>
                    <a:pt x="530" y="139"/>
                  </a:cubicBezTo>
                  <a:cubicBezTo>
                    <a:pt x="530" y="140"/>
                    <a:pt x="530" y="140"/>
                    <a:pt x="530" y="141"/>
                  </a:cubicBezTo>
                  <a:cubicBezTo>
                    <a:pt x="530" y="142"/>
                    <a:pt x="529" y="144"/>
                    <a:pt x="528" y="145"/>
                  </a:cubicBezTo>
                  <a:cubicBezTo>
                    <a:pt x="526" y="145"/>
                    <a:pt x="523" y="144"/>
                    <a:pt x="522" y="142"/>
                  </a:cubicBezTo>
                  <a:cubicBezTo>
                    <a:pt x="511" y="126"/>
                    <a:pt x="511" y="126"/>
                    <a:pt x="511" y="126"/>
                  </a:cubicBezTo>
                  <a:cubicBezTo>
                    <a:pt x="506" y="127"/>
                    <a:pt x="501" y="128"/>
                    <a:pt x="497" y="129"/>
                  </a:cubicBezTo>
                  <a:cubicBezTo>
                    <a:pt x="493" y="149"/>
                    <a:pt x="493" y="149"/>
                    <a:pt x="493" y="149"/>
                  </a:cubicBezTo>
                  <a:cubicBezTo>
                    <a:pt x="493" y="149"/>
                    <a:pt x="493" y="149"/>
                    <a:pt x="493" y="149"/>
                  </a:cubicBezTo>
                  <a:cubicBezTo>
                    <a:pt x="493" y="151"/>
                    <a:pt x="492" y="153"/>
                    <a:pt x="490" y="153"/>
                  </a:cubicBezTo>
                  <a:cubicBezTo>
                    <a:pt x="490" y="153"/>
                    <a:pt x="490" y="153"/>
                    <a:pt x="489" y="153"/>
                  </a:cubicBezTo>
                  <a:cubicBezTo>
                    <a:pt x="487" y="153"/>
                    <a:pt x="486" y="152"/>
                    <a:pt x="485" y="150"/>
                  </a:cubicBezTo>
                  <a:cubicBezTo>
                    <a:pt x="479" y="130"/>
                    <a:pt x="479" y="130"/>
                    <a:pt x="479" y="130"/>
                  </a:cubicBezTo>
                  <a:cubicBezTo>
                    <a:pt x="475" y="130"/>
                    <a:pt x="470" y="130"/>
                    <a:pt x="465" y="129"/>
                  </a:cubicBezTo>
                  <a:cubicBezTo>
                    <a:pt x="456" y="147"/>
                    <a:pt x="456" y="147"/>
                    <a:pt x="456" y="147"/>
                  </a:cubicBezTo>
                  <a:cubicBezTo>
                    <a:pt x="455" y="149"/>
                    <a:pt x="453" y="151"/>
                    <a:pt x="451" y="150"/>
                  </a:cubicBezTo>
                  <a:cubicBezTo>
                    <a:pt x="449" y="150"/>
                    <a:pt x="448" y="148"/>
                    <a:pt x="448" y="146"/>
                  </a:cubicBezTo>
                  <a:cubicBezTo>
                    <a:pt x="448" y="146"/>
                    <a:pt x="448" y="146"/>
                    <a:pt x="448" y="145"/>
                  </a:cubicBezTo>
                  <a:cubicBezTo>
                    <a:pt x="448" y="125"/>
                    <a:pt x="448" y="125"/>
                    <a:pt x="448" y="125"/>
                  </a:cubicBezTo>
                  <a:cubicBezTo>
                    <a:pt x="444" y="123"/>
                    <a:pt x="439" y="121"/>
                    <a:pt x="435" y="119"/>
                  </a:cubicBezTo>
                  <a:cubicBezTo>
                    <a:pt x="420" y="134"/>
                    <a:pt x="420" y="134"/>
                    <a:pt x="420" y="134"/>
                  </a:cubicBezTo>
                  <a:cubicBezTo>
                    <a:pt x="419" y="135"/>
                    <a:pt x="417" y="136"/>
                    <a:pt x="415" y="135"/>
                  </a:cubicBezTo>
                  <a:cubicBezTo>
                    <a:pt x="414" y="134"/>
                    <a:pt x="413" y="133"/>
                    <a:pt x="413" y="131"/>
                  </a:cubicBezTo>
                  <a:cubicBezTo>
                    <a:pt x="413" y="131"/>
                    <a:pt x="413" y="130"/>
                    <a:pt x="414" y="129"/>
                  </a:cubicBezTo>
                  <a:cubicBezTo>
                    <a:pt x="420" y="110"/>
                    <a:pt x="420" y="110"/>
                    <a:pt x="420" y="110"/>
                  </a:cubicBezTo>
                  <a:cubicBezTo>
                    <a:pt x="416" y="107"/>
                    <a:pt x="413" y="104"/>
                    <a:pt x="409" y="101"/>
                  </a:cubicBezTo>
                  <a:cubicBezTo>
                    <a:pt x="391" y="110"/>
                    <a:pt x="391" y="110"/>
                    <a:pt x="391" y="110"/>
                  </a:cubicBezTo>
                  <a:cubicBezTo>
                    <a:pt x="389" y="111"/>
                    <a:pt x="387" y="111"/>
                    <a:pt x="386" y="109"/>
                  </a:cubicBezTo>
                  <a:cubicBezTo>
                    <a:pt x="385" y="109"/>
                    <a:pt x="385" y="108"/>
                    <a:pt x="385" y="107"/>
                  </a:cubicBezTo>
                  <a:cubicBezTo>
                    <a:pt x="385" y="106"/>
                    <a:pt x="385" y="104"/>
                    <a:pt x="386" y="104"/>
                  </a:cubicBezTo>
                  <a:cubicBezTo>
                    <a:pt x="398" y="87"/>
                    <a:pt x="398" y="87"/>
                    <a:pt x="398" y="87"/>
                  </a:cubicBezTo>
                  <a:cubicBezTo>
                    <a:pt x="395" y="83"/>
                    <a:pt x="393" y="79"/>
                    <a:pt x="391" y="75"/>
                  </a:cubicBezTo>
                  <a:cubicBezTo>
                    <a:pt x="371" y="78"/>
                    <a:pt x="371" y="78"/>
                    <a:pt x="371" y="78"/>
                  </a:cubicBezTo>
                  <a:cubicBezTo>
                    <a:pt x="369" y="79"/>
                    <a:pt x="366" y="78"/>
                    <a:pt x="365" y="76"/>
                  </a:cubicBezTo>
                  <a:cubicBezTo>
                    <a:pt x="365" y="75"/>
                    <a:pt x="365" y="75"/>
                    <a:pt x="365" y="74"/>
                  </a:cubicBezTo>
                  <a:cubicBezTo>
                    <a:pt x="365" y="73"/>
                    <a:pt x="366" y="71"/>
                    <a:pt x="368" y="71"/>
                  </a:cubicBezTo>
                  <a:cubicBezTo>
                    <a:pt x="384" y="59"/>
                    <a:pt x="384" y="59"/>
                    <a:pt x="384" y="59"/>
                  </a:cubicBezTo>
                  <a:cubicBezTo>
                    <a:pt x="383" y="54"/>
                    <a:pt x="382" y="50"/>
                    <a:pt x="381" y="45"/>
                  </a:cubicBezTo>
                  <a:cubicBezTo>
                    <a:pt x="361" y="42"/>
                    <a:pt x="361" y="42"/>
                    <a:pt x="361" y="42"/>
                  </a:cubicBezTo>
                  <a:cubicBezTo>
                    <a:pt x="359" y="42"/>
                    <a:pt x="357" y="40"/>
                    <a:pt x="357" y="38"/>
                  </a:cubicBezTo>
                  <a:cubicBezTo>
                    <a:pt x="357" y="38"/>
                    <a:pt x="357" y="38"/>
                    <a:pt x="357" y="38"/>
                  </a:cubicBezTo>
                  <a:cubicBezTo>
                    <a:pt x="357" y="36"/>
                    <a:pt x="358" y="34"/>
                    <a:pt x="360" y="34"/>
                  </a:cubicBezTo>
                  <a:cubicBezTo>
                    <a:pt x="380" y="28"/>
                    <a:pt x="380" y="28"/>
                    <a:pt x="380" y="28"/>
                  </a:cubicBezTo>
                  <a:cubicBezTo>
                    <a:pt x="380" y="23"/>
                    <a:pt x="380" y="18"/>
                    <a:pt x="381" y="13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361" y="4"/>
                    <a:pt x="360" y="2"/>
                    <a:pt x="36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03" y="41"/>
                    <a:pt x="83" y="85"/>
                    <a:pt x="83" y="85"/>
                  </a:cubicBezTo>
                  <a:cubicBezTo>
                    <a:pt x="71" y="115"/>
                    <a:pt x="79" y="137"/>
                    <a:pt x="79" y="137"/>
                  </a:cubicBezTo>
                  <a:cubicBezTo>
                    <a:pt x="103" y="178"/>
                    <a:pt x="84" y="200"/>
                    <a:pt x="68" y="221"/>
                  </a:cubicBezTo>
                  <a:cubicBezTo>
                    <a:pt x="53" y="242"/>
                    <a:pt x="0" y="315"/>
                    <a:pt x="51" y="317"/>
                  </a:cubicBezTo>
                  <a:cubicBezTo>
                    <a:pt x="99" y="318"/>
                    <a:pt x="84" y="334"/>
                    <a:pt x="84" y="334"/>
                  </a:cubicBezTo>
                  <a:cubicBezTo>
                    <a:pt x="63" y="380"/>
                    <a:pt x="96" y="381"/>
                    <a:pt x="96" y="381"/>
                  </a:cubicBezTo>
                  <a:cubicBezTo>
                    <a:pt x="81" y="408"/>
                    <a:pt x="103" y="409"/>
                    <a:pt x="103" y="409"/>
                  </a:cubicBezTo>
                  <a:cubicBezTo>
                    <a:pt x="135" y="409"/>
                    <a:pt x="118" y="438"/>
                    <a:pt x="118" y="438"/>
                  </a:cubicBezTo>
                  <a:cubicBezTo>
                    <a:pt x="79" y="481"/>
                    <a:pt x="113" y="524"/>
                    <a:pt x="162" y="514"/>
                  </a:cubicBezTo>
                  <a:cubicBezTo>
                    <a:pt x="259" y="494"/>
                    <a:pt x="309" y="527"/>
                    <a:pt x="286" y="597"/>
                  </a:cubicBezTo>
                  <a:cubicBezTo>
                    <a:pt x="263" y="666"/>
                    <a:pt x="232" y="709"/>
                    <a:pt x="232" y="709"/>
                  </a:cubicBezTo>
                  <a:cubicBezTo>
                    <a:pt x="659" y="709"/>
                    <a:pt x="659" y="709"/>
                    <a:pt x="659" y="709"/>
                  </a:cubicBezTo>
                  <a:cubicBezTo>
                    <a:pt x="568" y="521"/>
                    <a:pt x="568" y="521"/>
                    <a:pt x="568" y="521"/>
                  </a:cubicBezTo>
                  <a:cubicBezTo>
                    <a:pt x="540" y="458"/>
                    <a:pt x="606" y="330"/>
                    <a:pt x="606" y="330"/>
                  </a:cubicBezTo>
                  <a:close/>
                  <a:moveTo>
                    <a:pt x="334" y="176"/>
                  </a:moveTo>
                  <a:cubicBezTo>
                    <a:pt x="322" y="168"/>
                    <a:pt x="322" y="168"/>
                    <a:pt x="322" y="168"/>
                  </a:cubicBezTo>
                  <a:cubicBezTo>
                    <a:pt x="320" y="169"/>
                    <a:pt x="317" y="171"/>
                    <a:pt x="314" y="173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6" y="188"/>
                    <a:pt x="316" y="188"/>
                  </a:cubicBezTo>
                  <a:cubicBezTo>
                    <a:pt x="316" y="189"/>
                    <a:pt x="315" y="190"/>
                    <a:pt x="314" y="191"/>
                  </a:cubicBezTo>
                  <a:cubicBezTo>
                    <a:pt x="313" y="191"/>
                    <a:pt x="311" y="190"/>
                    <a:pt x="311" y="189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299" y="178"/>
                    <a:pt x="296" y="179"/>
                    <a:pt x="293" y="180"/>
                  </a:cubicBezTo>
                  <a:cubicBezTo>
                    <a:pt x="290" y="194"/>
                    <a:pt x="290" y="194"/>
                    <a:pt x="290" y="194"/>
                  </a:cubicBezTo>
                  <a:cubicBezTo>
                    <a:pt x="290" y="194"/>
                    <a:pt x="290" y="194"/>
                    <a:pt x="290" y="194"/>
                  </a:cubicBezTo>
                  <a:cubicBezTo>
                    <a:pt x="290" y="195"/>
                    <a:pt x="289" y="197"/>
                    <a:pt x="288" y="197"/>
                  </a:cubicBezTo>
                  <a:cubicBezTo>
                    <a:pt x="288" y="197"/>
                    <a:pt x="288" y="197"/>
                    <a:pt x="288" y="197"/>
                  </a:cubicBezTo>
                  <a:cubicBezTo>
                    <a:pt x="286" y="197"/>
                    <a:pt x="285" y="196"/>
                    <a:pt x="285" y="194"/>
                  </a:cubicBezTo>
                  <a:cubicBezTo>
                    <a:pt x="281" y="180"/>
                    <a:pt x="281" y="180"/>
                    <a:pt x="281" y="180"/>
                  </a:cubicBezTo>
                  <a:cubicBezTo>
                    <a:pt x="277" y="180"/>
                    <a:pt x="274" y="180"/>
                    <a:pt x="270" y="180"/>
                  </a:cubicBezTo>
                  <a:cubicBezTo>
                    <a:pt x="264" y="192"/>
                    <a:pt x="264" y="192"/>
                    <a:pt x="264" y="192"/>
                  </a:cubicBezTo>
                  <a:cubicBezTo>
                    <a:pt x="264" y="194"/>
                    <a:pt x="262" y="195"/>
                    <a:pt x="261" y="194"/>
                  </a:cubicBezTo>
                  <a:cubicBezTo>
                    <a:pt x="259" y="194"/>
                    <a:pt x="258" y="193"/>
                    <a:pt x="258" y="192"/>
                  </a:cubicBezTo>
                  <a:cubicBezTo>
                    <a:pt x="258" y="191"/>
                    <a:pt x="258" y="191"/>
                    <a:pt x="259" y="191"/>
                  </a:cubicBezTo>
                  <a:cubicBezTo>
                    <a:pt x="259" y="177"/>
                    <a:pt x="259" y="177"/>
                    <a:pt x="259" y="177"/>
                  </a:cubicBezTo>
                  <a:cubicBezTo>
                    <a:pt x="255" y="176"/>
                    <a:pt x="252" y="174"/>
                    <a:pt x="249" y="173"/>
                  </a:cubicBezTo>
                  <a:cubicBezTo>
                    <a:pt x="239" y="183"/>
                    <a:pt x="239" y="183"/>
                    <a:pt x="239" y="183"/>
                  </a:cubicBezTo>
                  <a:cubicBezTo>
                    <a:pt x="238" y="184"/>
                    <a:pt x="237" y="185"/>
                    <a:pt x="235" y="184"/>
                  </a:cubicBezTo>
                  <a:cubicBezTo>
                    <a:pt x="235" y="183"/>
                    <a:pt x="234" y="182"/>
                    <a:pt x="234" y="181"/>
                  </a:cubicBezTo>
                  <a:cubicBezTo>
                    <a:pt x="234" y="181"/>
                    <a:pt x="234" y="180"/>
                    <a:pt x="235" y="180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6" y="164"/>
                    <a:pt x="234" y="162"/>
                    <a:pt x="231" y="160"/>
                  </a:cubicBezTo>
                  <a:cubicBezTo>
                    <a:pt x="219" y="166"/>
                    <a:pt x="219" y="166"/>
                    <a:pt x="219" y="166"/>
                  </a:cubicBezTo>
                  <a:cubicBezTo>
                    <a:pt x="218" y="167"/>
                    <a:pt x="216" y="167"/>
                    <a:pt x="215" y="166"/>
                  </a:cubicBezTo>
                  <a:cubicBezTo>
                    <a:pt x="214" y="165"/>
                    <a:pt x="214" y="165"/>
                    <a:pt x="214" y="164"/>
                  </a:cubicBezTo>
                  <a:cubicBezTo>
                    <a:pt x="214" y="163"/>
                    <a:pt x="214" y="163"/>
                    <a:pt x="215" y="162"/>
                  </a:cubicBezTo>
                  <a:cubicBezTo>
                    <a:pt x="224" y="151"/>
                    <a:pt x="224" y="151"/>
                    <a:pt x="224" y="151"/>
                  </a:cubicBezTo>
                  <a:cubicBezTo>
                    <a:pt x="222" y="148"/>
                    <a:pt x="220" y="145"/>
                    <a:pt x="218" y="142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3" y="145"/>
                    <a:pt x="201" y="144"/>
                    <a:pt x="201" y="143"/>
                  </a:cubicBezTo>
                  <a:cubicBezTo>
                    <a:pt x="201" y="142"/>
                    <a:pt x="201" y="142"/>
                    <a:pt x="201" y="141"/>
                  </a:cubicBezTo>
                  <a:cubicBezTo>
                    <a:pt x="201" y="140"/>
                    <a:pt x="201" y="139"/>
                    <a:pt x="202" y="139"/>
                  </a:cubicBezTo>
                  <a:cubicBezTo>
                    <a:pt x="214" y="131"/>
                    <a:pt x="214" y="131"/>
                    <a:pt x="214" y="131"/>
                  </a:cubicBezTo>
                  <a:cubicBezTo>
                    <a:pt x="213" y="127"/>
                    <a:pt x="212" y="124"/>
                    <a:pt x="212" y="121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6" y="119"/>
                    <a:pt x="195" y="118"/>
                    <a:pt x="195" y="116"/>
                  </a:cubicBezTo>
                  <a:cubicBezTo>
                    <a:pt x="195" y="116"/>
                    <a:pt x="195" y="116"/>
                    <a:pt x="195" y="116"/>
                  </a:cubicBezTo>
                  <a:cubicBezTo>
                    <a:pt x="195" y="114"/>
                    <a:pt x="196" y="113"/>
                    <a:pt x="197" y="113"/>
                  </a:cubicBezTo>
                  <a:cubicBezTo>
                    <a:pt x="211" y="109"/>
                    <a:pt x="211" y="109"/>
                    <a:pt x="211" y="109"/>
                  </a:cubicBezTo>
                  <a:cubicBezTo>
                    <a:pt x="211" y="105"/>
                    <a:pt x="211" y="102"/>
                    <a:pt x="212" y="99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8" y="92"/>
                    <a:pt x="197" y="91"/>
                    <a:pt x="197" y="89"/>
                  </a:cubicBezTo>
                  <a:cubicBezTo>
                    <a:pt x="197" y="89"/>
                    <a:pt x="197" y="89"/>
                    <a:pt x="197" y="89"/>
                  </a:cubicBezTo>
                  <a:cubicBezTo>
                    <a:pt x="197" y="87"/>
                    <a:pt x="199" y="86"/>
                    <a:pt x="200" y="87"/>
                  </a:cubicBezTo>
                  <a:cubicBezTo>
                    <a:pt x="215" y="87"/>
                    <a:pt x="215" y="87"/>
                    <a:pt x="215" y="87"/>
                  </a:cubicBezTo>
                  <a:cubicBezTo>
                    <a:pt x="216" y="84"/>
                    <a:pt x="217" y="81"/>
                    <a:pt x="218" y="78"/>
                  </a:cubicBezTo>
                  <a:cubicBezTo>
                    <a:pt x="208" y="68"/>
                    <a:pt x="208" y="68"/>
                    <a:pt x="208" y="68"/>
                  </a:cubicBezTo>
                  <a:cubicBezTo>
                    <a:pt x="208" y="67"/>
                    <a:pt x="207" y="66"/>
                    <a:pt x="207" y="65"/>
                  </a:cubicBezTo>
                  <a:cubicBezTo>
                    <a:pt x="207" y="65"/>
                    <a:pt x="207" y="64"/>
                    <a:pt x="207" y="64"/>
                  </a:cubicBezTo>
                  <a:cubicBezTo>
                    <a:pt x="208" y="62"/>
                    <a:pt x="210" y="62"/>
                    <a:pt x="211" y="63"/>
                  </a:cubicBezTo>
                  <a:cubicBezTo>
                    <a:pt x="225" y="67"/>
                    <a:pt x="225" y="67"/>
                    <a:pt x="225" y="67"/>
                  </a:cubicBezTo>
                  <a:cubicBezTo>
                    <a:pt x="227" y="65"/>
                    <a:pt x="229" y="62"/>
                    <a:pt x="232" y="60"/>
                  </a:cubicBezTo>
                  <a:cubicBezTo>
                    <a:pt x="225" y="47"/>
                    <a:pt x="225" y="47"/>
                    <a:pt x="225" y="47"/>
                  </a:cubicBezTo>
                  <a:cubicBezTo>
                    <a:pt x="225" y="46"/>
                    <a:pt x="224" y="46"/>
                    <a:pt x="224" y="45"/>
                  </a:cubicBezTo>
                  <a:cubicBezTo>
                    <a:pt x="224" y="44"/>
                    <a:pt x="225" y="44"/>
                    <a:pt x="225" y="43"/>
                  </a:cubicBezTo>
                  <a:cubicBezTo>
                    <a:pt x="227" y="42"/>
                    <a:pt x="228" y="42"/>
                    <a:pt x="229" y="43"/>
                  </a:cubicBezTo>
                  <a:cubicBezTo>
                    <a:pt x="241" y="52"/>
                    <a:pt x="241" y="52"/>
                    <a:pt x="241" y="52"/>
                  </a:cubicBezTo>
                  <a:cubicBezTo>
                    <a:pt x="243" y="50"/>
                    <a:pt x="246" y="48"/>
                    <a:pt x="249" y="47"/>
                  </a:cubicBezTo>
                  <a:cubicBezTo>
                    <a:pt x="247" y="33"/>
                    <a:pt x="247" y="33"/>
                    <a:pt x="247" y="33"/>
                  </a:cubicBezTo>
                  <a:cubicBezTo>
                    <a:pt x="247" y="32"/>
                    <a:pt x="247" y="32"/>
                    <a:pt x="247" y="32"/>
                  </a:cubicBezTo>
                  <a:cubicBezTo>
                    <a:pt x="247" y="30"/>
                    <a:pt x="248" y="29"/>
                    <a:pt x="249" y="29"/>
                  </a:cubicBezTo>
                  <a:cubicBezTo>
                    <a:pt x="250" y="28"/>
                    <a:pt x="252" y="29"/>
                    <a:pt x="252" y="31"/>
                  </a:cubicBezTo>
                  <a:cubicBezTo>
                    <a:pt x="261" y="42"/>
                    <a:pt x="261" y="42"/>
                    <a:pt x="261" y="42"/>
                  </a:cubicBezTo>
                  <a:cubicBezTo>
                    <a:pt x="264" y="41"/>
                    <a:pt x="267" y="40"/>
                    <a:pt x="270" y="40"/>
                  </a:cubicBezTo>
                  <a:cubicBezTo>
                    <a:pt x="273" y="26"/>
                    <a:pt x="273" y="26"/>
                    <a:pt x="273" y="26"/>
                  </a:cubicBezTo>
                  <a:cubicBezTo>
                    <a:pt x="273" y="26"/>
                    <a:pt x="273" y="26"/>
                    <a:pt x="273" y="26"/>
                  </a:cubicBezTo>
                  <a:cubicBezTo>
                    <a:pt x="273" y="24"/>
                    <a:pt x="274" y="23"/>
                    <a:pt x="275" y="23"/>
                  </a:cubicBezTo>
                  <a:cubicBezTo>
                    <a:pt x="277" y="23"/>
                    <a:pt x="278" y="24"/>
                    <a:pt x="278" y="25"/>
                  </a:cubicBezTo>
                  <a:cubicBezTo>
                    <a:pt x="282" y="39"/>
                    <a:pt x="282" y="39"/>
                    <a:pt x="282" y="39"/>
                  </a:cubicBezTo>
                  <a:cubicBezTo>
                    <a:pt x="286" y="39"/>
                    <a:pt x="289" y="39"/>
                    <a:pt x="293" y="40"/>
                  </a:cubicBezTo>
                  <a:cubicBezTo>
                    <a:pt x="299" y="27"/>
                    <a:pt x="299" y="27"/>
                    <a:pt x="299" y="27"/>
                  </a:cubicBezTo>
                  <a:cubicBezTo>
                    <a:pt x="299" y="26"/>
                    <a:pt x="301" y="25"/>
                    <a:pt x="302" y="25"/>
                  </a:cubicBezTo>
                  <a:cubicBezTo>
                    <a:pt x="304" y="25"/>
                    <a:pt x="305" y="27"/>
                    <a:pt x="305" y="28"/>
                  </a:cubicBezTo>
                  <a:cubicBezTo>
                    <a:pt x="305" y="28"/>
                    <a:pt x="305" y="28"/>
                    <a:pt x="304" y="29"/>
                  </a:cubicBezTo>
                  <a:cubicBezTo>
                    <a:pt x="304" y="43"/>
                    <a:pt x="304" y="43"/>
                    <a:pt x="304" y="43"/>
                  </a:cubicBezTo>
                  <a:cubicBezTo>
                    <a:pt x="308" y="44"/>
                    <a:pt x="311" y="45"/>
                    <a:pt x="314" y="47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5" y="35"/>
                    <a:pt x="326" y="35"/>
                    <a:pt x="328" y="36"/>
                  </a:cubicBezTo>
                  <a:cubicBezTo>
                    <a:pt x="328" y="36"/>
                    <a:pt x="329" y="37"/>
                    <a:pt x="329" y="38"/>
                  </a:cubicBezTo>
                  <a:cubicBezTo>
                    <a:pt x="329" y="39"/>
                    <a:pt x="329" y="39"/>
                    <a:pt x="328" y="40"/>
                  </a:cubicBezTo>
                  <a:cubicBezTo>
                    <a:pt x="324" y="53"/>
                    <a:pt x="324" y="53"/>
                    <a:pt x="324" y="53"/>
                  </a:cubicBezTo>
                  <a:cubicBezTo>
                    <a:pt x="327" y="55"/>
                    <a:pt x="329" y="57"/>
                    <a:pt x="332" y="60"/>
                  </a:cubicBezTo>
                  <a:cubicBezTo>
                    <a:pt x="344" y="53"/>
                    <a:pt x="344" y="53"/>
                    <a:pt x="344" y="53"/>
                  </a:cubicBezTo>
                  <a:cubicBezTo>
                    <a:pt x="345" y="52"/>
                    <a:pt x="347" y="52"/>
                    <a:pt x="348" y="54"/>
                  </a:cubicBezTo>
                  <a:cubicBezTo>
                    <a:pt x="349" y="54"/>
                    <a:pt x="349" y="55"/>
                    <a:pt x="349" y="55"/>
                  </a:cubicBezTo>
                  <a:cubicBezTo>
                    <a:pt x="349" y="56"/>
                    <a:pt x="349" y="57"/>
                    <a:pt x="348" y="58"/>
                  </a:cubicBezTo>
                  <a:cubicBezTo>
                    <a:pt x="339" y="69"/>
                    <a:pt x="339" y="69"/>
                    <a:pt x="339" y="69"/>
                  </a:cubicBezTo>
                  <a:cubicBezTo>
                    <a:pt x="341" y="72"/>
                    <a:pt x="343" y="75"/>
                    <a:pt x="345" y="78"/>
                  </a:cubicBezTo>
                  <a:cubicBezTo>
                    <a:pt x="359" y="75"/>
                    <a:pt x="359" y="75"/>
                    <a:pt x="359" y="75"/>
                  </a:cubicBezTo>
                  <a:cubicBezTo>
                    <a:pt x="360" y="75"/>
                    <a:pt x="362" y="76"/>
                    <a:pt x="362" y="77"/>
                  </a:cubicBezTo>
                  <a:cubicBezTo>
                    <a:pt x="362" y="77"/>
                    <a:pt x="362" y="78"/>
                    <a:pt x="362" y="78"/>
                  </a:cubicBezTo>
                  <a:cubicBezTo>
                    <a:pt x="362" y="79"/>
                    <a:pt x="362" y="80"/>
                    <a:pt x="361" y="81"/>
                  </a:cubicBezTo>
                  <a:cubicBezTo>
                    <a:pt x="349" y="89"/>
                    <a:pt x="349" y="89"/>
                    <a:pt x="349" y="89"/>
                  </a:cubicBezTo>
                  <a:cubicBezTo>
                    <a:pt x="350" y="92"/>
                    <a:pt x="351" y="95"/>
                    <a:pt x="351" y="99"/>
                  </a:cubicBezTo>
                  <a:cubicBezTo>
                    <a:pt x="365" y="101"/>
                    <a:pt x="365" y="101"/>
                    <a:pt x="365" y="101"/>
                  </a:cubicBezTo>
                  <a:cubicBezTo>
                    <a:pt x="367" y="101"/>
                    <a:pt x="368" y="102"/>
                    <a:pt x="368" y="104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68" y="105"/>
                    <a:pt x="367" y="106"/>
                    <a:pt x="366" y="107"/>
                  </a:cubicBezTo>
                  <a:cubicBezTo>
                    <a:pt x="352" y="111"/>
                    <a:pt x="352" y="111"/>
                    <a:pt x="352" y="111"/>
                  </a:cubicBezTo>
                  <a:cubicBezTo>
                    <a:pt x="352" y="114"/>
                    <a:pt x="352" y="118"/>
                    <a:pt x="351" y="121"/>
                  </a:cubicBezTo>
                  <a:cubicBezTo>
                    <a:pt x="364" y="127"/>
                    <a:pt x="364" y="127"/>
                    <a:pt x="364" y="127"/>
                  </a:cubicBezTo>
                  <a:cubicBezTo>
                    <a:pt x="365" y="128"/>
                    <a:pt x="366" y="129"/>
                    <a:pt x="366" y="130"/>
                  </a:cubicBezTo>
                  <a:cubicBezTo>
                    <a:pt x="366" y="130"/>
                    <a:pt x="366" y="130"/>
                    <a:pt x="366" y="131"/>
                  </a:cubicBezTo>
                  <a:cubicBezTo>
                    <a:pt x="366" y="132"/>
                    <a:pt x="364" y="133"/>
                    <a:pt x="363" y="133"/>
                  </a:cubicBezTo>
                  <a:cubicBezTo>
                    <a:pt x="348" y="133"/>
                    <a:pt x="348" y="133"/>
                    <a:pt x="348" y="133"/>
                  </a:cubicBezTo>
                  <a:cubicBezTo>
                    <a:pt x="347" y="136"/>
                    <a:pt x="346" y="139"/>
                    <a:pt x="345" y="142"/>
                  </a:cubicBezTo>
                  <a:cubicBezTo>
                    <a:pt x="355" y="152"/>
                    <a:pt x="355" y="152"/>
                    <a:pt x="355" y="152"/>
                  </a:cubicBezTo>
                  <a:cubicBezTo>
                    <a:pt x="355" y="153"/>
                    <a:pt x="356" y="153"/>
                    <a:pt x="356" y="154"/>
                  </a:cubicBezTo>
                  <a:cubicBezTo>
                    <a:pt x="356" y="155"/>
                    <a:pt x="356" y="155"/>
                    <a:pt x="356" y="156"/>
                  </a:cubicBezTo>
                  <a:cubicBezTo>
                    <a:pt x="355" y="157"/>
                    <a:pt x="353" y="158"/>
                    <a:pt x="352" y="157"/>
                  </a:cubicBezTo>
                  <a:cubicBezTo>
                    <a:pt x="338" y="152"/>
                    <a:pt x="338" y="152"/>
                    <a:pt x="338" y="152"/>
                  </a:cubicBezTo>
                  <a:cubicBezTo>
                    <a:pt x="336" y="155"/>
                    <a:pt x="334" y="157"/>
                    <a:pt x="331" y="160"/>
                  </a:cubicBezTo>
                  <a:cubicBezTo>
                    <a:pt x="338" y="173"/>
                    <a:pt x="338" y="173"/>
                    <a:pt x="338" y="173"/>
                  </a:cubicBezTo>
                  <a:cubicBezTo>
                    <a:pt x="338" y="173"/>
                    <a:pt x="339" y="174"/>
                    <a:pt x="339" y="174"/>
                  </a:cubicBezTo>
                  <a:cubicBezTo>
                    <a:pt x="339" y="175"/>
                    <a:pt x="338" y="176"/>
                    <a:pt x="338" y="176"/>
                  </a:cubicBezTo>
                  <a:cubicBezTo>
                    <a:pt x="336" y="177"/>
                    <a:pt x="335" y="177"/>
                    <a:pt x="334" y="176"/>
                  </a:cubicBezTo>
                  <a:close/>
                  <a:moveTo>
                    <a:pt x="451" y="192"/>
                  </a:moveTo>
                  <a:cubicBezTo>
                    <a:pt x="442" y="195"/>
                    <a:pt x="442" y="195"/>
                    <a:pt x="442" y="195"/>
                  </a:cubicBezTo>
                  <a:cubicBezTo>
                    <a:pt x="442" y="197"/>
                    <a:pt x="442" y="200"/>
                    <a:pt x="441" y="202"/>
                  </a:cubicBezTo>
                  <a:cubicBezTo>
                    <a:pt x="450" y="206"/>
                    <a:pt x="450" y="206"/>
                    <a:pt x="450" y="206"/>
                  </a:cubicBezTo>
                  <a:cubicBezTo>
                    <a:pt x="451" y="206"/>
                    <a:pt x="451" y="207"/>
                    <a:pt x="451" y="208"/>
                  </a:cubicBezTo>
                  <a:cubicBezTo>
                    <a:pt x="451" y="208"/>
                    <a:pt x="451" y="208"/>
                    <a:pt x="451" y="208"/>
                  </a:cubicBezTo>
                  <a:cubicBezTo>
                    <a:pt x="451" y="209"/>
                    <a:pt x="450" y="210"/>
                    <a:pt x="449" y="210"/>
                  </a:cubicBezTo>
                  <a:cubicBezTo>
                    <a:pt x="439" y="210"/>
                    <a:pt x="439" y="210"/>
                    <a:pt x="439" y="210"/>
                  </a:cubicBezTo>
                  <a:cubicBezTo>
                    <a:pt x="439" y="212"/>
                    <a:pt x="438" y="214"/>
                    <a:pt x="437" y="216"/>
                  </a:cubicBezTo>
                  <a:cubicBezTo>
                    <a:pt x="444" y="223"/>
                    <a:pt x="444" y="223"/>
                    <a:pt x="444" y="223"/>
                  </a:cubicBezTo>
                  <a:cubicBezTo>
                    <a:pt x="444" y="223"/>
                    <a:pt x="444" y="224"/>
                    <a:pt x="444" y="224"/>
                  </a:cubicBezTo>
                  <a:cubicBezTo>
                    <a:pt x="444" y="225"/>
                    <a:pt x="444" y="225"/>
                    <a:pt x="444" y="225"/>
                  </a:cubicBezTo>
                  <a:cubicBezTo>
                    <a:pt x="444" y="226"/>
                    <a:pt x="443" y="226"/>
                    <a:pt x="442" y="226"/>
                  </a:cubicBezTo>
                  <a:cubicBezTo>
                    <a:pt x="433" y="223"/>
                    <a:pt x="433" y="223"/>
                    <a:pt x="433" y="223"/>
                  </a:cubicBezTo>
                  <a:cubicBezTo>
                    <a:pt x="431" y="224"/>
                    <a:pt x="430" y="226"/>
                    <a:pt x="428" y="228"/>
                  </a:cubicBezTo>
                  <a:cubicBezTo>
                    <a:pt x="433" y="236"/>
                    <a:pt x="433" y="236"/>
                    <a:pt x="433" y="236"/>
                  </a:cubicBezTo>
                  <a:cubicBezTo>
                    <a:pt x="433" y="237"/>
                    <a:pt x="433" y="237"/>
                    <a:pt x="433" y="237"/>
                  </a:cubicBezTo>
                  <a:cubicBezTo>
                    <a:pt x="433" y="238"/>
                    <a:pt x="433" y="239"/>
                    <a:pt x="432" y="239"/>
                  </a:cubicBezTo>
                  <a:cubicBezTo>
                    <a:pt x="431" y="240"/>
                    <a:pt x="430" y="239"/>
                    <a:pt x="430" y="239"/>
                  </a:cubicBezTo>
                  <a:cubicBezTo>
                    <a:pt x="422" y="233"/>
                    <a:pt x="422" y="233"/>
                    <a:pt x="422" y="233"/>
                  </a:cubicBezTo>
                  <a:cubicBezTo>
                    <a:pt x="420" y="234"/>
                    <a:pt x="418" y="235"/>
                    <a:pt x="416" y="236"/>
                  </a:cubicBezTo>
                  <a:cubicBezTo>
                    <a:pt x="418" y="246"/>
                    <a:pt x="418" y="246"/>
                    <a:pt x="418" y="246"/>
                  </a:cubicBezTo>
                  <a:cubicBezTo>
                    <a:pt x="418" y="246"/>
                    <a:pt x="418" y="246"/>
                    <a:pt x="418" y="247"/>
                  </a:cubicBezTo>
                  <a:cubicBezTo>
                    <a:pt x="418" y="247"/>
                    <a:pt x="417" y="248"/>
                    <a:pt x="417" y="248"/>
                  </a:cubicBezTo>
                  <a:cubicBezTo>
                    <a:pt x="416" y="249"/>
                    <a:pt x="415" y="248"/>
                    <a:pt x="414" y="247"/>
                  </a:cubicBezTo>
                  <a:cubicBezTo>
                    <a:pt x="409" y="239"/>
                    <a:pt x="409" y="239"/>
                    <a:pt x="409" y="239"/>
                  </a:cubicBezTo>
                  <a:cubicBezTo>
                    <a:pt x="407" y="240"/>
                    <a:pt x="404" y="241"/>
                    <a:pt x="402" y="241"/>
                  </a:cubicBezTo>
                  <a:cubicBezTo>
                    <a:pt x="401" y="250"/>
                    <a:pt x="401" y="250"/>
                    <a:pt x="401" y="250"/>
                  </a:cubicBezTo>
                  <a:cubicBezTo>
                    <a:pt x="401" y="250"/>
                    <a:pt x="401" y="251"/>
                    <a:pt x="401" y="251"/>
                  </a:cubicBezTo>
                  <a:cubicBezTo>
                    <a:pt x="401" y="252"/>
                    <a:pt x="400" y="252"/>
                    <a:pt x="399" y="252"/>
                  </a:cubicBezTo>
                  <a:cubicBezTo>
                    <a:pt x="399" y="252"/>
                    <a:pt x="399" y="252"/>
                    <a:pt x="399" y="252"/>
                  </a:cubicBezTo>
                  <a:cubicBezTo>
                    <a:pt x="398" y="252"/>
                    <a:pt x="397" y="252"/>
                    <a:pt x="397" y="251"/>
                  </a:cubicBezTo>
                  <a:cubicBezTo>
                    <a:pt x="394" y="242"/>
                    <a:pt x="394" y="242"/>
                    <a:pt x="394" y="242"/>
                  </a:cubicBezTo>
                  <a:cubicBezTo>
                    <a:pt x="392" y="242"/>
                    <a:pt x="390" y="241"/>
                    <a:pt x="387" y="241"/>
                  </a:cubicBezTo>
                  <a:cubicBezTo>
                    <a:pt x="383" y="250"/>
                    <a:pt x="383" y="250"/>
                    <a:pt x="383" y="250"/>
                  </a:cubicBezTo>
                  <a:cubicBezTo>
                    <a:pt x="383" y="251"/>
                    <a:pt x="382" y="251"/>
                    <a:pt x="381" y="251"/>
                  </a:cubicBezTo>
                  <a:cubicBezTo>
                    <a:pt x="380" y="251"/>
                    <a:pt x="379" y="250"/>
                    <a:pt x="379" y="249"/>
                  </a:cubicBezTo>
                  <a:cubicBezTo>
                    <a:pt x="379" y="249"/>
                    <a:pt x="379" y="249"/>
                    <a:pt x="379" y="249"/>
                  </a:cubicBezTo>
                  <a:cubicBezTo>
                    <a:pt x="380" y="239"/>
                    <a:pt x="380" y="239"/>
                    <a:pt x="380" y="239"/>
                  </a:cubicBezTo>
                  <a:cubicBezTo>
                    <a:pt x="377" y="238"/>
                    <a:pt x="375" y="237"/>
                    <a:pt x="373" y="236"/>
                  </a:cubicBezTo>
                  <a:cubicBezTo>
                    <a:pt x="367" y="243"/>
                    <a:pt x="367" y="243"/>
                    <a:pt x="367" y="243"/>
                  </a:cubicBezTo>
                  <a:cubicBezTo>
                    <a:pt x="366" y="244"/>
                    <a:pt x="365" y="244"/>
                    <a:pt x="364" y="244"/>
                  </a:cubicBezTo>
                  <a:cubicBezTo>
                    <a:pt x="364" y="243"/>
                    <a:pt x="363" y="243"/>
                    <a:pt x="363" y="242"/>
                  </a:cubicBezTo>
                  <a:cubicBezTo>
                    <a:pt x="363" y="242"/>
                    <a:pt x="363" y="242"/>
                    <a:pt x="364" y="241"/>
                  </a:cubicBezTo>
                  <a:cubicBezTo>
                    <a:pt x="367" y="232"/>
                    <a:pt x="367" y="232"/>
                    <a:pt x="367" y="232"/>
                  </a:cubicBezTo>
                  <a:cubicBezTo>
                    <a:pt x="365" y="231"/>
                    <a:pt x="363" y="229"/>
                    <a:pt x="361" y="228"/>
                  </a:cubicBezTo>
                  <a:cubicBezTo>
                    <a:pt x="353" y="232"/>
                    <a:pt x="353" y="232"/>
                    <a:pt x="353" y="232"/>
                  </a:cubicBezTo>
                  <a:cubicBezTo>
                    <a:pt x="352" y="233"/>
                    <a:pt x="351" y="233"/>
                    <a:pt x="350" y="232"/>
                  </a:cubicBezTo>
                  <a:cubicBezTo>
                    <a:pt x="350" y="232"/>
                    <a:pt x="350" y="231"/>
                    <a:pt x="350" y="231"/>
                  </a:cubicBezTo>
                  <a:cubicBezTo>
                    <a:pt x="350" y="230"/>
                    <a:pt x="350" y="230"/>
                    <a:pt x="351" y="229"/>
                  </a:cubicBezTo>
                  <a:cubicBezTo>
                    <a:pt x="356" y="222"/>
                    <a:pt x="356" y="222"/>
                    <a:pt x="356" y="222"/>
                  </a:cubicBezTo>
                  <a:cubicBezTo>
                    <a:pt x="355" y="220"/>
                    <a:pt x="354" y="218"/>
                    <a:pt x="353" y="216"/>
                  </a:cubicBezTo>
                  <a:cubicBezTo>
                    <a:pt x="343" y="217"/>
                    <a:pt x="343" y="217"/>
                    <a:pt x="343" y="217"/>
                  </a:cubicBezTo>
                  <a:cubicBezTo>
                    <a:pt x="342" y="218"/>
                    <a:pt x="341" y="217"/>
                    <a:pt x="341" y="216"/>
                  </a:cubicBezTo>
                  <a:cubicBezTo>
                    <a:pt x="341" y="216"/>
                    <a:pt x="341" y="216"/>
                    <a:pt x="341" y="216"/>
                  </a:cubicBezTo>
                  <a:cubicBezTo>
                    <a:pt x="341" y="215"/>
                    <a:pt x="341" y="214"/>
                    <a:pt x="342" y="214"/>
                  </a:cubicBezTo>
                  <a:cubicBezTo>
                    <a:pt x="350" y="208"/>
                    <a:pt x="350" y="208"/>
                    <a:pt x="350" y="208"/>
                  </a:cubicBezTo>
                  <a:cubicBezTo>
                    <a:pt x="349" y="206"/>
                    <a:pt x="349" y="204"/>
                    <a:pt x="348" y="202"/>
                  </a:cubicBezTo>
                  <a:cubicBezTo>
                    <a:pt x="339" y="200"/>
                    <a:pt x="339" y="200"/>
                    <a:pt x="339" y="200"/>
                  </a:cubicBezTo>
                  <a:cubicBezTo>
                    <a:pt x="338" y="200"/>
                    <a:pt x="337" y="200"/>
                    <a:pt x="337" y="199"/>
                  </a:cubicBezTo>
                  <a:cubicBezTo>
                    <a:pt x="337" y="199"/>
                    <a:pt x="337" y="198"/>
                    <a:pt x="337" y="198"/>
                  </a:cubicBezTo>
                  <a:cubicBezTo>
                    <a:pt x="337" y="197"/>
                    <a:pt x="338" y="197"/>
                    <a:pt x="339" y="197"/>
                  </a:cubicBezTo>
                  <a:cubicBezTo>
                    <a:pt x="348" y="194"/>
                    <a:pt x="348" y="194"/>
                    <a:pt x="348" y="194"/>
                  </a:cubicBezTo>
                  <a:cubicBezTo>
                    <a:pt x="348" y="191"/>
                    <a:pt x="348" y="189"/>
                    <a:pt x="348" y="187"/>
                  </a:cubicBezTo>
                  <a:cubicBezTo>
                    <a:pt x="340" y="183"/>
                    <a:pt x="340" y="183"/>
                    <a:pt x="340" y="183"/>
                  </a:cubicBezTo>
                  <a:cubicBezTo>
                    <a:pt x="339" y="182"/>
                    <a:pt x="338" y="182"/>
                    <a:pt x="338" y="181"/>
                  </a:cubicBezTo>
                  <a:cubicBezTo>
                    <a:pt x="338" y="181"/>
                    <a:pt x="338" y="181"/>
                    <a:pt x="338" y="180"/>
                  </a:cubicBezTo>
                  <a:cubicBezTo>
                    <a:pt x="339" y="179"/>
                    <a:pt x="340" y="179"/>
                    <a:pt x="341" y="179"/>
                  </a:cubicBezTo>
                  <a:cubicBezTo>
                    <a:pt x="350" y="179"/>
                    <a:pt x="350" y="179"/>
                    <a:pt x="350" y="179"/>
                  </a:cubicBezTo>
                  <a:cubicBezTo>
                    <a:pt x="351" y="177"/>
                    <a:pt x="352" y="175"/>
                    <a:pt x="353" y="173"/>
                  </a:cubicBezTo>
                  <a:cubicBezTo>
                    <a:pt x="346" y="166"/>
                    <a:pt x="346" y="166"/>
                    <a:pt x="346" y="166"/>
                  </a:cubicBezTo>
                  <a:cubicBezTo>
                    <a:pt x="346" y="166"/>
                    <a:pt x="345" y="165"/>
                    <a:pt x="345" y="165"/>
                  </a:cubicBezTo>
                  <a:cubicBezTo>
                    <a:pt x="345" y="164"/>
                    <a:pt x="345" y="164"/>
                    <a:pt x="345" y="164"/>
                  </a:cubicBezTo>
                  <a:cubicBezTo>
                    <a:pt x="346" y="163"/>
                    <a:pt x="347" y="163"/>
                    <a:pt x="348" y="163"/>
                  </a:cubicBezTo>
                  <a:cubicBezTo>
                    <a:pt x="357" y="166"/>
                    <a:pt x="357" y="166"/>
                    <a:pt x="357" y="166"/>
                  </a:cubicBezTo>
                  <a:cubicBezTo>
                    <a:pt x="358" y="164"/>
                    <a:pt x="360" y="163"/>
                    <a:pt x="361" y="161"/>
                  </a:cubicBezTo>
                  <a:cubicBezTo>
                    <a:pt x="357" y="153"/>
                    <a:pt x="357" y="153"/>
                    <a:pt x="357" y="153"/>
                  </a:cubicBezTo>
                  <a:cubicBezTo>
                    <a:pt x="357" y="152"/>
                    <a:pt x="357" y="152"/>
                    <a:pt x="357" y="151"/>
                  </a:cubicBezTo>
                  <a:cubicBezTo>
                    <a:pt x="357" y="151"/>
                    <a:pt x="357" y="150"/>
                    <a:pt x="357" y="150"/>
                  </a:cubicBezTo>
                  <a:cubicBezTo>
                    <a:pt x="358" y="149"/>
                    <a:pt x="359" y="149"/>
                    <a:pt x="360" y="150"/>
                  </a:cubicBezTo>
                  <a:cubicBezTo>
                    <a:pt x="368" y="156"/>
                    <a:pt x="368" y="156"/>
                    <a:pt x="368" y="156"/>
                  </a:cubicBezTo>
                  <a:cubicBezTo>
                    <a:pt x="369" y="155"/>
                    <a:pt x="371" y="153"/>
                    <a:pt x="373" y="152"/>
                  </a:cubicBezTo>
                  <a:cubicBezTo>
                    <a:pt x="372" y="143"/>
                    <a:pt x="372" y="143"/>
                    <a:pt x="372" y="143"/>
                  </a:cubicBezTo>
                  <a:cubicBezTo>
                    <a:pt x="372" y="143"/>
                    <a:pt x="372" y="143"/>
                    <a:pt x="372" y="142"/>
                  </a:cubicBezTo>
                  <a:cubicBezTo>
                    <a:pt x="372" y="142"/>
                    <a:pt x="372" y="141"/>
                    <a:pt x="373" y="141"/>
                  </a:cubicBezTo>
                  <a:cubicBezTo>
                    <a:pt x="374" y="140"/>
                    <a:pt x="375" y="141"/>
                    <a:pt x="375" y="142"/>
                  </a:cubicBezTo>
                  <a:cubicBezTo>
                    <a:pt x="381" y="149"/>
                    <a:pt x="381" y="149"/>
                    <a:pt x="381" y="149"/>
                  </a:cubicBezTo>
                  <a:cubicBezTo>
                    <a:pt x="383" y="149"/>
                    <a:pt x="385" y="148"/>
                    <a:pt x="387" y="148"/>
                  </a:cubicBezTo>
                  <a:cubicBezTo>
                    <a:pt x="389" y="138"/>
                    <a:pt x="389" y="138"/>
                    <a:pt x="389" y="138"/>
                  </a:cubicBezTo>
                  <a:cubicBezTo>
                    <a:pt x="389" y="138"/>
                    <a:pt x="389" y="138"/>
                    <a:pt x="389" y="138"/>
                  </a:cubicBezTo>
                  <a:cubicBezTo>
                    <a:pt x="389" y="137"/>
                    <a:pt x="390" y="136"/>
                    <a:pt x="391" y="136"/>
                  </a:cubicBezTo>
                  <a:cubicBezTo>
                    <a:pt x="392" y="136"/>
                    <a:pt x="393" y="137"/>
                    <a:pt x="393" y="138"/>
                  </a:cubicBezTo>
                  <a:cubicBezTo>
                    <a:pt x="395" y="147"/>
                    <a:pt x="395" y="147"/>
                    <a:pt x="395" y="147"/>
                  </a:cubicBezTo>
                  <a:cubicBezTo>
                    <a:pt x="398" y="147"/>
                    <a:pt x="400" y="147"/>
                    <a:pt x="402" y="148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07" y="138"/>
                    <a:pt x="408" y="138"/>
                    <a:pt x="409" y="138"/>
                  </a:cubicBezTo>
                  <a:cubicBezTo>
                    <a:pt x="410" y="138"/>
                    <a:pt x="410" y="139"/>
                    <a:pt x="410" y="140"/>
                  </a:cubicBezTo>
                  <a:cubicBezTo>
                    <a:pt x="410" y="140"/>
                    <a:pt x="410" y="140"/>
                    <a:pt x="410" y="140"/>
                  </a:cubicBezTo>
                  <a:cubicBezTo>
                    <a:pt x="410" y="150"/>
                    <a:pt x="410" y="150"/>
                    <a:pt x="410" y="150"/>
                  </a:cubicBezTo>
                  <a:cubicBezTo>
                    <a:pt x="412" y="150"/>
                    <a:pt x="414" y="151"/>
                    <a:pt x="416" y="152"/>
                  </a:cubicBezTo>
                  <a:cubicBezTo>
                    <a:pt x="423" y="146"/>
                    <a:pt x="423" y="146"/>
                    <a:pt x="423" y="146"/>
                  </a:cubicBezTo>
                  <a:cubicBezTo>
                    <a:pt x="424" y="145"/>
                    <a:pt x="425" y="145"/>
                    <a:pt x="426" y="145"/>
                  </a:cubicBezTo>
                  <a:cubicBezTo>
                    <a:pt x="426" y="145"/>
                    <a:pt x="426" y="146"/>
                    <a:pt x="426" y="147"/>
                  </a:cubicBezTo>
                  <a:cubicBezTo>
                    <a:pt x="426" y="147"/>
                    <a:pt x="426" y="147"/>
                    <a:pt x="426" y="148"/>
                  </a:cubicBezTo>
                  <a:cubicBezTo>
                    <a:pt x="423" y="157"/>
                    <a:pt x="423" y="157"/>
                    <a:pt x="423" y="157"/>
                  </a:cubicBezTo>
                  <a:cubicBezTo>
                    <a:pt x="425" y="158"/>
                    <a:pt x="427" y="159"/>
                    <a:pt x="428" y="161"/>
                  </a:cubicBezTo>
                  <a:cubicBezTo>
                    <a:pt x="437" y="157"/>
                    <a:pt x="437" y="157"/>
                    <a:pt x="437" y="157"/>
                  </a:cubicBezTo>
                  <a:cubicBezTo>
                    <a:pt x="437" y="156"/>
                    <a:pt x="439" y="156"/>
                    <a:pt x="439" y="157"/>
                  </a:cubicBezTo>
                  <a:cubicBezTo>
                    <a:pt x="440" y="157"/>
                    <a:pt x="440" y="158"/>
                    <a:pt x="440" y="158"/>
                  </a:cubicBezTo>
                  <a:cubicBezTo>
                    <a:pt x="440" y="159"/>
                    <a:pt x="440" y="159"/>
                    <a:pt x="439" y="160"/>
                  </a:cubicBezTo>
                  <a:cubicBezTo>
                    <a:pt x="433" y="167"/>
                    <a:pt x="433" y="167"/>
                    <a:pt x="433" y="167"/>
                  </a:cubicBezTo>
                  <a:cubicBezTo>
                    <a:pt x="435" y="169"/>
                    <a:pt x="436" y="171"/>
                    <a:pt x="437" y="173"/>
                  </a:cubicBezTo>
                  <a:cubicBezTo>
                    <a:pt x="446" y="172"/>
                    <a:pt x="446" y="172"/>
                    <a:pt x="446" y="172"/>
                  </a:cubicBezTo>
                  <a:cubicBezTo>
                    <a:pt x="447" y="171"/>
                    <a:pt x="448" y="172"/>
                    <a:pt x="449" y="173"/>
                  </a:cubicBezTo>
                  <a:cubicBezTo>
                    <a:pt x="449" y="173"/>
                    <a:pt x="449" y="173"/>
                    <a:pt x="449" y="173"/>
                  </a:cubicBezTo>
                  <a:cubicBezTo>
                    <a:pt x="449" y="174"/>
                    <a:pt x="448" y="175"/>
                    <a:pt x="448" y="175"/>
                  </a:cubicBezTo>
                  <a:cubicBezTo>
                    <a:pt x="440" y="180"/>
                    <a:pt x="440" y="180"/>
                    <a:pt x="440" y="180"/>
                  </a:cubicBezTo>
                  <a:cubicBezTo>
                    <a:pt x="441" y="183"/>
                    <a:pt x="441" y="185"/>
                    <a:pt x="441" y="187"/>
                  </a:cubicBezTo>
                  <a:cubicBezTo>
                    <a:pt x="451" y="189"/>
                    <a:pt x="451" y="189"/>
                    <a:pt x="451" y="189"/>
                  </a:cubicBezTo>
                  <a:cubicBezTo>
                    <a:pt x="452" y="188"/>
                    <a:pt x="453" y="189"/>
                    <a:pt x="453" y="190"/>
                  </a:cubicBezTo>
                  <a:cubicBezTo>
                    <a:pt x="453" y="190"/>
                    <a:pt x="453" y="190"/>
                    <a:pt x="453" y="190"/>
                  </a:cubicBezTo>
                  <a:cubicBezTo>
                    <a:pt x="453" y="191"/>
                    <a:pt x="452" y="192"/>
                    <a:pt x="451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-1333500" y="3128963"/>
              <a:ext cx="77788" cy="79375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Freeform 25"/>
            <p:cNvSpPr/>
            <p:nvPr/>
          </p:nvSpPr>
          <p:spPr bwMode="auto">
            <a:xfrm>
              <a:off x="-1423988" y="2082800"/>
              <a:ext cx="889000" cy="357188"/>
            </a:xfrm>
            <a:custGeom>
              <a:avLst/>
              <a:gdLst>
                <a:gd name="T0" fmla="*/ 218 w 237"/>
                <a:gd name="T1" fmla="*/ 95 h 95"/>
                <a:gd name="T2" fmla="*/ 217 w 237"/>
                <a:gd name="T3" fmla="*/ 94 h 95"/>
                <a:gd name="T4" fmla="*/ 234 w 237"/>
                <a:gd name="T5" fmla="*/ 82 h 95"/>
                <a:gd name="T6" fmla="*/ 237 w 237"/>
                <a:gd name="T7" fmla="*/ 79 h 95"/>
                <a:gd name="T8" fmla="*/ 236 w 237"/>
                <a:gd name="T9" fmla="*/ 77 h 95"/>
                <a:gd name="T10" fmla="*/ 231 w 237"/>
                <a:gd name="T11" fmla="*/ 75 h 95"/>
                <a:gd name="T12" fmla="*/ 211 w 237"/>
                <a:gd name="T13" fmla="*/ 78 h 95"/>
                <a:gd name="T14" fmla="*/ 203 w 237"/>
                <a:gd name="T15" fmla="*/ 66 h 95"/>
                <a:gd name="T16" fmla="*/ 216 w 237"/>
                <a:gd name="T17" fmla="*/ 49 h 95"/>
                <a:gd name="T18" fmla="*/ 217 w 237"/>
                <a:gd name="T19" fmla="*/ 46 h 95"/>
                <a:gd name="T20" fmla="*/ 216 w 237"/>
                <a:gd name="T21" fmla="*/ 44 h 95"/>
                <a:gd name="T22" fmla="*/ 211 w 237"/>
                <a:gd name="T23" fmla="*/ 43 h 95"/>
                <a:gd name="T24" fmla="*/ 192 w 237"/>
                <a:gd name="T25" fmla="*/ 53 h 95"/>
                <a:gd name="T26" fmla="*/ 181 w 237"/>
                <a:gd name="T27" fmla="*/ 43 h 95"/>
                <a:gd name="T28" fmla="*/ 188 w 237"/>
                <a:gd name="T29" fmla="*/ 24 h 95"/>
                <a:gd name="T30" fmla="*/ 189 w 237"/>
                <a:gd name="T31" fmla="*/ 22 h 95"/>
                <a:gd name="T32" fmla="*/ 187 w 237"/>
                <a:gd name="T33" fmla="*/ 18 h 95"/>
                <a:gd name="T34" fmla="*/ 181 w 237"/>
                <a:gd name="T35" fmla="*/ 20 h 95"/>
                <a:gd name="T36" fmla="*/ 167 w 237"/>
                <a:gd name="T37" fmla="*/ 34 h 95"/>
                <a:gd name="T38" fmla="*/ 153 w 237"/>
                <a:gd name="T39" fmla="*/ 28 h 95"/>
                <a:gd name="T40" fmla="*/ 154 w 237"/>
                <a:gd name="T41" fmla="*/ 8 h 95"/>
                <a:gd name="T42" fmla="*/ 154 w 237"/>
                <a:gd name="T43" fmla="*/ 7 h 95"/>
                <a:gd name="T44" fmla="*/ 151 w 237"/>
                <a:gd name="T45" fmla="*/ 3 h 95"/>
                <a:gd name="T46" fmla="*/ 146 w 237"/>
                <a:gd name="T47" fmla="*/ 6 h 95"/>
                <a:gd name="T48" fmla="*/ 137 w 237"/>
                <a:gd name="T49" fmla="*/ 24 h 95"/>
                <a:gd name="T50" fmla="*/ 122 w 237"/>
                <a:gd name="T51" fmla="*/ 23 h 95"/>
                <a:gd name="T52" fmla="*/ 116 w 237"/>
                <a:gd name="T53" fmla="*/ 4 h 95"/>
                <a:gd name="T54" fmla="*/ 112 w 237"/>
                <a:gd name="T55" fmla="*/ 0 h 95"/>
                <a:gd name="T56" fmla="*/ 108 w 237"/>
                <a:gd name="T57" fmla="*/ 4 h 95"/>
                <a:gd name="T58" fmla="*/ 108 w 237"/>
                <a:gd name="T59" fmla="*/ 4 h 95"/>
                <a:gd name="T60" fmla="*/ 105 w 237"/>
                <a:gd name="T61" fmla="*/ 24 h 95"/>
                <a:gd name="T62" fmla="*/ 91 w 237"/>
                <a:gd name="T63" fmla="*/ 28 h 95"/>
                <a:gd name="T64" fmla="*/ 79 w 237"/>
                <a:gd name="T65" fmla="*/ 11 h 95"/>
                <a:gd name="T66" fmla="*/ 74 w 237"/>
                <a:gd name="T67" fmla="*/ 9 h 95"/>
                <a:gd name="T68" fmla="*/ 71 w 237"/>
                <a:gd name="T69" fmla="*/ 12 h 95"/>
                <a:gd name="T70" fmla="*/ 72 w 237"/>
                <a:gd name="T71" fmla="*/ 14 h 95"/>
                <a:gd name="T72" fmla="*/ 75 w 237"/>
                <a:gd name="T73" fmla="*/ 34 h 95"/>
                <a:gd name="T74" fmla="*/ 63 w 237"/>
                <a:gd name="T75" fmla="*/ 42 h 95"/>
                <a:gd name="T76" fmla="*/ 46 w 237"/>
                <a:gd name="T77" fmla="*/ 29 h 95"/>
                <a:gd name="T78" fmla="*/ 41 w 237"/>
                <a:gd name="T79" fmla="*/ 29 h 95"/>
                <a:gd name="T80" fmla="*/ 39 w 237"/>
                <a:gd name="T81" fmla="*/ 32 h 95"/>
                <a:gd name="T82" fmla="*/ 40 w 237"/>
                <a:gd name="T83" fmla="*/ 34 h 95"/>
                <a:gd name="T84" fmla="*/ 49 w 237"/>
                <a:gd name="T85" fmla="*/ 53 h 95"/>
                <a:gd name="T86" fmla="*/ 40 w 237"/>
                <a:gd name="T87" fmla="*/ 64 h 95"/>
                <a:gd name="T88" fmla="*/ 21 w 237"/>
                <a:gd name="T89" fmla="*/ 57 h 95"/>
                <a:gd name="T90" fmla="*/ 15 w 237"/>
                <a:gd name="T91" fmla="*/ 58 h 95"/>
                <a:gd name="T92" fmla="*/ 14 w 237"/>
                <a:gd name="T93" fmla="*/ 60 h 95"/>
                <a:gd name="T94" fmla="*/ 16 w 237"/>
                <a:gd name="T95" fmla="*/ 64 h 95"/>
                <a:gd name="T96" fmla="*/ 31 w 237"/>
                <a:gd name="T97" fmla="*/ 78 h 95"/>
                <a:gd name="T98" fmla="*/ 25 w 237"/>
                <a:gd name="T99" fmla="*/ 92 h 95"/>
                <a:gd name="T100" fmla="*/ 5 w 237"/>
                <a:gd name="T101" fmla="*/ 91 h 95"/>
                <a:gd name="T102" fmla="*/ 0 w 237"/>
                <a:gd name="T103" fmla="*/ 94 h 95"/>
                <a:gd name="T104" fmla="*/ 0 w 237"/>
                <a:gd name="T105" fmla="*/ 95 h 95"/>
                <a:gd name="T106" fmla="*/ 218 w 237"/>
                <a:gd name="T10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7" h="95">
                  <a:moveTo>
                    <a:pt x="218" y="95"/>
                  </a:moveTo>
                  <a:cubicBezTo>
                    <a:pt x="218" y="95"/>
                    <a:pt x="217" y="94"/>
                    <a:pt x="217" y="94"/>
                  </a:cubicBezTo>
                  <a:cubicBezTo>
                    <a:pt x="234" y="82"/>
                    <a:pt x="234" y="82"/>
                    <a:pt x="234" y="82"/>
                  </a:cubicBezTo>
                  <a:cubicBezTo>
                    <a:pt x="236" y="82"/>
                    <a:pt x="237" y="80"/>
                    <a:pt x="237" y="79"/>
                  </a:cubicBezTo>
                  <a:cubicBezTo>
                    <a:pt x="237" y="78"/>
                    <a:pt x="236" y="78"/>
                    <a:pt x="236" y="77"/>
                  </a:cubicBezTo>
                  <a:cubicBezTo>
                    <a:pt x="235" y="75"/>
                    <a:pt x="233" y="74"/>
                    <a:pt x="231" y="75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209" y="74"/>
                    <a:pt x="206" y="70"/>
                    <a:pt x="203" y="66"/>
                  </a:cubicBezTo>
                  <a:cubicBezTo>
                    <a:pt x="216" y="49"/>
                    <a:pt x="216" y="49"/>
                    <a:pt x="216" y="49"/>
                  </a:cubicBezTo>
                  <a:cubicBezTo>
                    <a:pt x="217" y="49"/>
                    <a:pt x="217" y="48"/>
                    <a:pt x="217" y="46"/>
                  </a:cubicBezTo>
                  <a:cubicBezTo>
                    <a:pt x="217" y="46"/>
                    <a:pt x="217" y="45"/>
                    <a:pt x="216" y="44"/>
                  </a:cubicBezTo>
                  <a:cubicBezTo>
                    <a:pt x="215" y="42"/>
                    <a:pt x="212" y="42"/>
                    <a:pt x="211" y="43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89" y="49"/>
                    <a:pt x="185" y="46"/>
                    <a:pt x="181" y="43"/>
                  </a:cubicBezTo>
                  <a:cubicBezTo>
                    <a:pt x="188" y="24"/>
                    <a:pt x="188" y="24"/>
                    <a:pt x="188" y="24"/>
                  </a:cubicBezTo>
                  <a:cubicBezTo>
                    <a:pt x="188" y="23"/>
                    <a:pt x="189" y="22"/>
                    <a:pt x="189" y="22"/>
                  </a:cubicBezTo>
                  <a:cubicBezTo>
                    <a:pt x="189" y="20"/>
                    <a:pt x="188" y="19"/>
                    <a:pt x="187" y="18"/>
                  </a:cubicBezTo>
                  <a:cubicBezTo>
                    <a:pt x="185" y="17"/>
                    <a:pt x="182" y="18"/>
                    <a:pt x="181" y="20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2" y="32"/>
                    <a:pt x="158" y="30"/>
                    <a:pt x="153" y="28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4" y="8"/>
                    <a:pt x="154" y="7"/>
                    <a:pt x="154" y="7"/>
                  </a:cubicBezTo>
                  <a:cubicBezTo>
                    <a:pt x="154" y="5"/>
                    <a:pt x="153" y="4"/>
                    <a:pt x="151" y="3"/>
                  </a:cubicBezTo>
                  <a:cubicBezTo>
                    <a:pt x="149" y="3"/>
                    <a:pt x="146" y="4"/>
                    <a:pt x="146" y="6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2" y="24"/>
                    <a:pt x="127" y="23"/>
                    <a:pt x="122" y="23"/>
                  </a:cubicBezTo>
                  <a:cubicBezTo>
                    <a:pt x="116" y="4"/>
                    <a:pt x="116" y="4"/>
                    <a:pt x="116" y="4"/>
                  </a:cubicBezTo>
                  <a:cubicBezTo>
                    <a:pt x="116" y="1"/>
                    <a:pt x="114" y="0"/>
                    <a:pt x="112" y="0"/>
                  </a:cubicBezTo>
                  <a:cubicBezTo>
                    <a:pt x="110" y="0"/>
                    <a:pt x="108" y="2"/>
                    <a:pt x="108" y="4"/>
                  </a:cubicBezTo>
                  <a:cubicBezTo>
                    <a:pt x="108" y="4"/>
                    <a:pt x="108" y="4"/>
                    <a:pt x="108" y="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0" y="25"/>
                    <a:pt x="95" y="26"/>
                    <a:pt x="91" y="28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9"/>
                    <a:pt x="76" y="8"/>
                    <a:pt x="74" y="9"/>
                  </a:cubicBezTo>
                  <a:cubicBezTo>
                    <a:pt x="72" y="9"/>
                    <a:pt x="71" y="11"/>
                    <a:pt x="71" y="12"/>
                  </a:cubicBezTo>
                  <a:cubicBezTo>
                    <a:pt x="71" y="13"/>
                    <a:pt x="72" y="13"/>
                    <a:pt x="72" y="14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1" y="36"/>
                    <a:pt x="66" y="39"/>
                    <a:pt x="63" y="42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2" y="27"/>
                    <a:pt x="41" y="29"/>
                  </a:cubicBezTo>
                  <a:cubicBezTo>
                    <a:pt x="40" y="30"/>
                    <a:pt x="39" y="31"/>
                    <a:pt x="39" y="32"/>
                  </a:cubicBezTo>
                  <a:cubicBezTo>
                    <a:pt x="39" y="33"/>
                    <a:pt x="39" y="34"/>
                    <a:pt x="40" y="34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46" y="56"/>
                    <a:pt x="43" y="60"/>
                    <a:pt x="40" y="64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19" y="56"/>
                    <a:pt x="16" y="56"/>
                    <a:pt x="15" y="58"/>
                  </a:cubicBezTo>
                  <a:cubicBezTo>
                    <a:pt x="15" y="59"/>
                    <a:pt x="14" y="60"/>
                    <a:pt x="14" y="60"/>
                  </a:cubicBezTo>
                  <a:cubicBezTo>
                    <a:pt x="14" y="62"/>
                    <a:pt x="15" y="63"/>
                    <a:pt x="16" y="64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29" y="82"/>
                    <a:pt x="27" y="87"/>
                    <a:pt x="25" y="92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3" y="91"/>
                    <a:pt x="0" y="92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lnTo>
                    <a:pt x="218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8" name="Freeform 89"/>
          <p:cNvSpPr>
            <a:spLocks noEditPoints="1"/>
          </p:cNvSpPr>
          <p:nvPr/>
        </p:nvSpPr>
        <p:spPr bwMode="black">
          <a:xfrm>
            <a:off x="1825683" y="1833663"/>
            <a:ext cx="774825" cy="515460"/>
          </a:xfrm>
          <a:custGeom>
            <a:avLst/>
            <a:gdLst>
              <a:gd name="T0" fmla="*/ 350 w 3153"/>
              <a:gd name="T1" fmla="*/ 935 h 2031"/>
              <a:gd name="T2" fmla="*/ 788 w 3153"/>
              <a:gd name="T3" fmla="*/ 0 h 2031"/>
              <a:gd name="T4" fmla="*/ 2918 w 3153"/>
              <a:gd name="T5" fmla="*/ 1882 h 2031"/>
              <a:gd name="T6" fmla="*/ 2403 w 3153"/>
              <a:gd name="T7" fmla="*/ 1493 h 2031"/>
              <a:gd name="T8" fmla="*/ 2244 w 3153"/>
              <a:gd name="T9" fmla="*/ 1424 h 2031"/>
              <a:gd name="T10" fmla="*/ 2391 w 3153"/>
              <a:gd name="T11" fmla="*/ 1458 h 2031"/>
              <a:gd name="T12" fmla="*/ 1437 w 3153"/>
              <a:gd name="T13" fmla="*/ 1486 h 2031"/>
              <a:gd name="T14" fmla="*/ 1460 w 3153"/>
              <a:gd name="T15" fmla="*/ 1427 h 2031"/>
              <a:gd name="T16" fmla="*/ 1588 w 3153"/>
              <a:gd name="T17" fmla="*/ 1440 h 2031"/>
              <a:gd name="T18" fmla="*/ 1563 w 3153"/>
              <a:gd name="T19" fmla="*/ 1636 h 2031"/>
              <a:gd name="T20" fmla="*/ 1421 w 3153"/>
              <a:gd name="T21" fmla="*/ 1612 h 2031"/>
              <a:gd name="T22" fmla="*/ 1170 w 3153"/>
              <a:gd name="T23" fmla="*/ 1604 h 2031"/>
              <a:gd name="T24" fmla="*/ 1340 w 3153"/>
              <a:gd name="T25" fmla="*/ 1589 h 2031"/>
              <a:gd name="T26" fmla="*/ 1175 w 3153"/>
              <a:gd name="T27" fmla="*/ 1631 h 2031"/>
              <a:gd name="T28" fmla="*/ 1228 w 3153"/>
              <a:gd name="T29" fmla="*/ 1433 h 2031"/>
              <a:gd name="T30" fmla="*/ 1366 w 3153"/>
              <a:gd name="T31" fmla="*/ 1441 h 2031"/>
              <a:gd name="T32" fmla="*/ 916 w 3153"/>
              <a:gd name="T33" fmla="*/ 1607 h 2031"/>
              <a:gd name="T34" fmla="*/ 1099 w 3153"/>
              <a:gd name="T35" fmla="*/ 1564 h 2031"/>
              <a:gd name="T36" fmla="*/ 911 w 3153"/>
              <a:gd name="T37" fmla="*/ 1624 h 2031"/>
              <a:gd name="T38" fmla="*/ 832 w 3153"/>
              <a:gd name="T39" fmla="*/ 1503 h 2031"/>
              <a:gd name="T40" fmla="*/ 922 w 3153"/>
              <a:gd name="T41" fmla="*/ 1437 h 2031"/>
              <a:gd name="T42" fmla="*/ 999 w 3153"/>
              <a:gd name="T43" fmla="*/ 1440 h 2031"/>
              <a:gd name="T44" fmla="*/ 1143 w 3153"/>
              <a:gd name="T45" fmla="*/ 1436 h 2031"/>
              <a:gd name="T46" fmla="*/ 1113 w 3153"/>
              <a:gd name="T47" fmla="*/ 1496 h 2031"/>
              <a:gd name="T48" fmla="*/ 692 w 3153"/>
              <a:gd name="T49" fmla="*/ 1804 h 2031"/>
              <a:gd name="T50" fmla="*/ 574 w 3153"/>
              <a:gd name="T51" fmla="*/ 1739 h 2031"/>
              <a:gd name="T52" fmla="*/ 656 w 3153"/>
              <a:gd name="T53" fmla="*/ 1687 h 2031"/>
              <a:gd name="T54" fmla="*/ 823 w 3153"/>
              <a:gd name="T55" fmla="*/ 1619 h 2031"/>
              <a:gd name="T56" fmla="*/ 669 w 3153"/>
              <a:gd name="T57" fmla="*/ 1638 h 2031"/>
              <a:gd name="T58" fmla="*/ 713 w 3153"/>
              <a:gd name="T59" fmla="*/ 1551 h 2031"/>
              <a:gd name="T60" fmla="*/ 828 w 3153"/>
              <a:gd name="T61" fmla="*/ 1613 h 2031"/>
              <a:gd name="T62" fmla="*/ 1570 w 3153"/>
              <a:gd name="T63" fmla="*/ 1798 h 2031"/>
              <a:gd name="T64" fmla="*/ 850 w 3153"/>
              <a:gd name="T65" fmla="*/ 1803 h 2031"/>
              <a:gd name="T66" fmla="*/ 882 w 3153"/>
              <a:gd name="T67" fmla="*/ 1698 h 2031"/>
              <a:gd name="T68" fmla="*/ 1563 w 3153"/>
              <a:gd name="T69" fmla="*/ 1687 h 2031"/>
              <a:gd name="T70" fmla="*/ 1670 w 3153"/>
              <a:gd name="T71" fmla="*/ 1489 h 2031"/>
              <a:gd name="T72" fmla="*/ 1693 w 3153"/>
              <a:gd name="T73" fmla="*/ 1424 h 2031"/>
              <a:gd name="T74" fmla="*/ 1793 w 3153"/>
              <a:gd name="T75" fmla="*/ 1500 h 2031"/>
              <a:gd name="T76" fmla="*/ 1675 w 3153"/>
              <a:gd name="T77" fmla="*/ 1612 h 2031"/>
              <a:gd name="T78" fmla="*/ 1843 w 3153"/>
              <a:gd name="T79" fmla="*/ 1621 h 2031"/>
              <a:gd name="T80" fmla="*/ 1804 w 3153"/>
              <a:gd name="T81" fmla="*/ 1637 h 2031"/>
              <a:gd name="T82" fmla="*/ 1866 w 3153"/>
              <a:gd name="T83" fmla="*/ 1793 h 2031"/>
              <a:gd name="T84" fmla="*/ 1690 w 3153"/>
              <a:gd name="T85" fmla="*/ 1778 h 2031"/>
              <a:gd name="T86" fmla="*/ 1686 w 3153"/>
              <a:gd name="T87" fmla="*/ 1702 h 2031"/>
              <a:gd name="T88" fmla="*/ 1724 w 3153"/>
              <a:gd name="T89" fmla="*/ 1685 h 2031"/>
              <a:gd name="T90" fmla="*/ 1843 w 3153"/>
              <a:gd name="T91" fmla="*/ 1691 h 2031"/>
              <a:gd name="T92" fmla="*/ 2009 w 3153"/>
              <a:gd name="T93" fmla="*/ 1439 h 2031"/>
              <a:gd name="T94" fmla="*/ 2140 w 3153"/>
              <a:gd name="T95" fmla="*/ 1428 h 2031"/>
              <a:gd name="T96" fmla="*/ 2161 w 3153"/>
              <a:gd name="T97" fmla="*/ 1499 h 2031"/>
              <a:gd name="T98" fmla="*/ 2064 w 3153"/>
              <a:gd name="T99" fmla="*/ 1588 h 2031"/>
              <a:gd name="T100" fmla="*/ 2218 w 3153"/>
              <a:gd name="T101" fmla="*/ 1565 h 2031"/>
              <a:gd name="T102" fmla="*/ 2225 w 3153"/>
              <a:gd name="T103" fmla="*/ 1634 h 2031"/>
              <a:gd name="T104" fmla="*/ 2319 w 3153"/>
              <a:gd name="T105" fmla="*/ 1790 h 2031"/>
              <a:gd name="T106" fmla="*/ 2131 w 3153"/>
              <a:gd name="T107" fmla="*/ 1770 h 2031"/>
              <a:gd name="T108" fmla="*/ 2145 w 3153"/>
              <a:gd name="T109" fmla="*/ 1683 h 2031"/>
              <a:gd name="T110" fmla="*/ 2340 w 3153"/>
              <a:gd name="T111" fmla="*/ 1624 h 2031"/>
              <a:gd name="T112" fmla="*/ 2463 w 3153"/>
              <a:gd name="T113" fmla="*/ 1564 h 2031"/>
              <a:gd name="T114" fmla="*/ 2434 w 3153"/>
              <a:gd name="T115" fmla="*/ 1636 h 2031"/>
              <a:gd name="T116" fmla="*/ 2415 w 3153"/>
              <a:gd name="T117" fmla="*/ 1769 h 2031"/>
              <a:gd name="T118" fmla="*/ 2500 w 3153"/>
              <a:gd name="T119" fmla="*/ 1683 h 2031"/>
              <a:gd name="T120" fmla="*/ 2605 w 3153"/>
              <a:gd name="T121" fmla="*/ 1791 h 2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53" h="2031">
                <a:moveTo>
                  <a:pt x="448" y="830"/>
                </a:moveTo>
                <a:cubicBezTo>
                  <a:pt x="368" y="755"/>
                  <a:pt x="368" y="615"/>
                  <a:pt x="448" y="539"/>
                </a:cubicBezTo>
                <a:cubicBezTo>
                  <a:pt x="393" y="549"/>
                  <a:pt x="339" y="610"/>
                  <a:pt x="339" y="685"/>
                </a:cubicBezTo>
                <a:cubicBezTo>
                  <a:pt x="339" y="759"/>
                  <a:pt x="393" y="820"/>
                  <a:pt x="448" y="830"/>
                </a:cubicBezTo>
                <a:close/>
                <a:moveTo>
                  <a:pt x="2814" y="685"/>
                </a:moveTo>
                <a:cubicBezTo>
                  <a:pt x="2815" y="610"/>
                  <a:pt x="2761" y="549"/>
                  <a:pt x="2706" y="539"/>
                </a:cubicBezTo>
                <a:cubicBezTo>
                  <a:pt x="2786" y="615"/>
                  <a:pt x="2786" y="755"/>
                  <a:pt x="2706" y="830"/>
                </a:cubicBezTo>
                <a:cubicBezTo>
                  <a:pt x="2761" y="820"/>
                  <a:pt x="2815" y="759"/>
                  <a:pt x="2814" y="685"/>
                </a:cubicBezTo>
                <a:close/>
                <a:moveTo>
                  <a:pt x="2804" y="935"/>
                </a:moveTo>
                <a:cubicBezTo>
                  <a:pt x="2886" y="904"/>
                  <a:pt x="2970" y="808"/>
                  <a:pt x="2969" y="685"/>
                </a:cubicBezTo>
                <a:cubicBezTo>
                  <a:pt x="2970" y="561"/>
                  <a:pt x="2886" y="465"/>
                  <a:pt x="2804" y="434"/>
                </a:cubicBezTo>
                <a:cubicBezTo>
                  <a:pt x="2871" y="501"/>
                  <a:pt x="2915" y="591"/>
                  <a:pt x="2914" y="685"/>
                </a:cubicBezTo>
                <a:cubicBezTo>
                  <a:pt x="2915" y="778"/>
                  <a:pt x="2871" y="868"/>
                  <a:pt x="2804" y="935"/>
                </a:cubicBezTo>
                <a:close/>
                <a:moveTo>
                  <a:pt x="350" y="935"/>
                </a:moveTo>
                <a:cubicBezTo>
                  <a:pt x="282" y="868"/>
                  <a:pt x="239" y="778"/>
                  <a:pt x="239" y="685"/>
                </a:cubicBezTo>
                <a:cubicBezTo>
                  <a:pt x="239" y="591"/>
                  <a:pt x="282" y="501"/>
                  <a:pt x="350" y="434"/>
                </a:cubicBezTo>
                <a:cubicBezTo>
                  <a:pt x="267" y="465"/>
                  <a:pt x="183" y="561"/>
                  <a:pt x="184" y="685"/>
                </a:cubicBezTo>
                <a:cubicBezTo>
                  <a:pt x="183" y="808"/>
                  <a:pt x="267" y="904"/>
                  <a:pt x="350" y="935"/>
                </a:cubicBezTo>
                <a:close/>
                <a:moveTo>
                  <a:pt x="2877" y="1804"/>
                </a:moveTo>
                <a:cubicBezTo>
                  <a:pt x="2844" y="1765"/>
                  <a:pt x="2811" y="1726"/>
                  <a:pt x="2778" y="1687"/>
                </a:cubicBezTo>
                <a:cubicBezTo>
                  <a:pt x="2705" y="1601"/>
                  <a:pt x="2633" y="1516"/>
                  <a:pt x="2560" y="1430"/>
                </a:cubicBezTo>
                <a:cubicBezTo>
                  <a:pt x="2557" y="1426"/>
                  <a:pt x="2553" y="1421"/>
                  <a:pt x="2549" y="1417"/>
                </a:cubicBezTo>
                <a:cubicBezTo>
                  <a:pt x="2534" y="1399"/>
                  <a:pt x="2511" y="1389"/>
                  <a:pt x="2489" y="1381"/>
                </a:cubicBezTo>
                <a:cubicBezTo>
                  <a:pt x="2466" y="1373"/>
                  <a:pt x="2441" y="1368"/>
                  <a:pt x="2416" y="1367"/>
                </a:cubicBezTo>
                <a:cubicBezTo>
                  <a:pt x="2503" y="1344"/>
                  <a:pt x="2567" y="1266"/>
                  <a:pt x="2567" y="1172"/>
                </a:cubicBezTo>
                <a:cubicBezTo>
                  <a:pt x="2567" y="202"/>
                  <a:pt x="2567" y="202"/>
                  <a:pt x="2567" y="202"/>
                </a:cubicBezTo>
                <a:cubicBezTo>
                  <a:pt x="2567" y="90"/>
                  <a:pt x="2476" y="0"/>
                  <a:pt x="2365" y="0"/>
                </a:cubicBezTo>
                <a:cubicBezTo>
                  <a:pt x="788" y="0"/>
                  <a:pt x="788" y="0"/>
                  <a:pt x="788" y="0"/>
                </a:cubicBezTo>
                <a:cubicBezTo>
                  <a:pt x="677" y="0"/>
                  <a:pt x="586" y="90"/>
                  <a:pt x="586" y="202"/>
                </a:cubicBezTo>
                <a:cubicBezTo>
                  <a:pt x="586" y="1172"/>
                  <a:pt x="586" y="1172"/>
                  <a:pt x="586" y="1172"/>
                </a:cubicBezTo>
                <a:cubicBezTo>
                  <a:pt x="586" y="1266"/>
                  <a:pt x="651" y="1345"/>
                  <a:pt x="738" y="1368"/>
                </a:cubicBezTo>
                <a:cubicBezTo>
                  <a:pt x="689" y="1370"/>
                  <a:pt x="633" y="1388"/>
                  <a:pt x="600" y="1426"/>
                </a:cubicBezTo>
                <a:cubicBezTo>
                  <a:pt x="575" y="1457"/>
                  <a:pt x="549" y="1487"/>
                  <a:pt x="524" y="1518"/>
                </a:cubicBezTo>
                <a:cubicBezTo>
                  <a:pt x="446" y="1610"/>
                  <a:pt x="368" y="1703"/>
                  <a:pt x="290" y="1796"/>
                </a:cubicBezTo>
                <a:cubicBezTo>
                  <a:pt x="271" y="1819"/>
                  <a:pt x="235" y="1852"/>
                  <a:pt x="235" y="1884"/>
                </a:cubicBezTo>
                <a:cubicBezTo>
                  <a:pt x="235" y="1971"/>
                  <a:pt x="235" y="1971"/>
                  <a:pt x="235" y="1971"/>
                </a:cubicBezTo>
                <a:cubicBezTo>
                  <a:pt x="236" y="1982"/>
                  <a:pt x="238" y="1993"/>
                  <a:pt x="244" y="2002"/>
                </a:cubicBezTo>
                <a:cubicBezTo>
                  <a:pt x="264" y="2030"/>
                  <a:pt x="304" y="2031"/>
                  <a:pt x="336" y="2031"/>
                </a:cubicBezTo>
                <a:cubicBezTo>
                  <a:pt x="380" y="2031"/>
                  <a:pt x="2688" y="2031"/>
                  <a:pt x="2758" y="2031"/>
                </a:cubicBezTo>
                <a:cubicBezTo>
                  <a:pt x="2792" y="2031"/>
                  <a:pt x="2831" y="2027"/>
                  <a:pt x="2865" y="2020"/>
                </a:cubicBezTo>
                <a:cubicBezTo>
                  <a:pt x="2888" y="2016"/>
                  <a:pt x="2915" y="2003"/>
                  <a:pt x="2918" y="1976"/>
                </a:cubicBezTo>
                <a:cubicBezTo>
                  <a:pt x="2918" y="1882"/>
                  <a:pt x="2918" y="1882"/>
                  <a:pt x="2918" y="1882"/>
                </a:cubicBezTo>
                <a:cubicBezTo>
                  <a:pt x="2921" y="1861"/>
                  <a:pt x="2909" y="1841"/>
                  <a:pt x="2896" y="1826"/>
                </a:cubicBezTo>
                <a:cubicBezTo>
                  <a:pt x="2889" y="1818"/>
                  <a:pt x="2883" y="1811"/>
                  <a:pt x="2877" y="1804"/>
                </a:cubicBezTo>
                <a:close/>
                <a:moveTo>
                  <a:pt x="705" y="1159"/>
                </a:moveTo>
                <a:cubicBezTo>
                  <a:pt x="705" y="215"/>
                  <a:pt x="705" y="215"/>
                  <a:pt x="705" y="215"/>
                </a:cubicBezTo>
                <a:cubicBezTo>
                  <a:pt x="705" y="157"/>
                  <a:pt x="752" y="111"/>
                  <a:pt x="809" y="111"/>
                </a:cubicBezTo>
                <a:cubicBezTo>
                  <a:pt x="2344" y="111"/>
                  <a:pt x="2344" y="111"/>
                  <a:pt x="2344" y="111"/>
                </a:cubicBezTo>
                <a:cubicBezTo>
                  <a:pt x="2401" y="111"/>
                  <a:pt x="2448" y="157"/>
                  <a:pt x="2448" y="215"/>
                </a:cubicBezTo>
                <a:cubicBezTo>
                  <a:pt x="2448" y="1159"/>
                  <a:pt x="2448" y="1159"/>
                  <a:pt x="2448" y="1159"/>
                </a:cubicBezTo>
                <a:cubicBezTo>
                  <a:pt x="2448" y="1216"/>
                  <a:pt x="2401" y="1263"/>
                  <a:pt x="2344" y="1263"/>
                </a:cubicBezTo>
                <a:cubicBezTo>
                  <a:pt x="809" y="1263"/>
                  <a:pt x="809" y="1263"/>
                  <a:pt x="809" y="1263"/>
                </a:cubicBezTo>
                <a:cubicBezTo>
                  <a:pt x="752" y="1263"/>
                  <a:pt x="705" y="1216"/>
                  <a:pt x="705" y="1159"/>
                </a:cubicBezTo>
                <a:close/>
                <a:moveTo>
                  <a:pt x="2407" y="1487"/>
                </a:moveTo>
                <a:cubicBezTo>
                  <a:pt x="2407" y="1489"/>
                  <a:pt x="2406" y="1491"/>
                  <a:pt x="2404" y="1493"/>
                </a:cubicBezTo>
                <a:cubicBezTo>
                  <a:pt x="2404" y="1493"/>
                  <a:pt x="2403" y="1493"/>
                  <a:pt x="2403" y="1493"/>
                </a:cubicBezTo>
                <a:cubicBezTo>
                  <a:pt x="2403" y="1493"/>
                  <a:pt x="2403" y="1493"/>
                  <a:pt x="2403" y="1493"/>
                </a:cubicBezTo>
                <a:cubicBezTo>
                  <a:pt x="2403" y="1494"/>
                  <a:pt x="2403" y="1494"/>
                  <a:pt x="2402" y="1494"/>
                </a:cubicBezTo>
                <a:cubicBezTo>
                  <a:pt x="2402" y="1494"/>
                  <a:pt x="2402" y="1494"/>
                  <a:pt x="2401" y="1495"/>
                </a:cubicBezTo>
                <a:cubicBezTo>
                  <a:pt x="2401" y="1495"/>
                  <a:pt x="2400" y="1495"/>
                  <a:pt x="2400" y="1496"/>
                </a:cubicBezTo>
                <a:cubicBezTo>
                  <a:pt x="2399" y="1496"/>
                  <a:pt x="2399" y="1496"/>
                  <a:pt x="2398" y="1496"/>
                </a:cubicBezTo>
                <a:cubicBezTo>
                  <a:pt x="2388" y="1501"/>
                  <a:pt x="2374" y="1500"/>
                  <a:pt x="2362" y="1500"/>
                </a:cubicBezTo>
                <a:cubicBezTo>
                  <a:pt x="2304" y="1500"/>
                  <a:pt x="2304" y="1500"/>
                  <a:pt x="2304" y="1500"/>
                </a:cubicBezTo>
                <a:cubicBezTo>
                  <a:pt x="2293" y="1500"/>
                  <a:pt x="2281" y="1498"/>
                  <a:pt x="2271" y="1493"/>
                </a:cubicBezTo>
                <a:cubicBezTo>
                  <a:pt x="2267" y="1491"/>
                  <a:pt x="2263" y="1489"/>
                  <a:pt x="2260" y="1487"/>
                </a:cubicBezTo>
                <a:cubicBezTo>
                  <a:pt x="2257" y="1484"/>
                  <a:pt x="2254" y="1482"/>
                  <a:pt x="2252" y="1479"/>
                </a:cubicBezTo>
                <a:cubicBezTo>
                  <a:pt x="2250" y="1474"/>
                  <a:pt x="2250" y="1474"/>
                  <a:pt x="2250" y="1474"/>
                </a:cubicBezTo>
                <a:cubicBezTo>
                  <a:pt x="2244" y="1463"/>
                  <a:pt x="2236" y="1453"/>
                  <a:pt x="2231" y="1441"/>
                </a:cubicBezTo>
                <a:cubicBezTo>
                  <a:pt x="2227" y="1433"/>
                  <a:pt x="2231" y="1429"/>
                  <a:pt x="2238" y="1426"/>
                </a:cubicBezTo>
                <a:cubicBezTo>
                  <a:pt x="2240" y="1425"/>
                  <a:pt x="2242" y="1424"/>
                  <a:pt x="2244" y="1424"/>
                </a:cubicBezTo>
                <a:cubicBezTo>
                  <a:pt x="2248" y="1423"/>
                  <a:pt x="2253" y="1422"/>
                  <a:pt x="2258" y="1422"/>
                </a:cubicBezTo>
                <a:cubicBezTo>
                  <a:pt x="2266" y="1422"/>
                  <a:pt x="2266" y="1422"/>
                  <a:pt x="2266" y="1422"/>
                </a:cubicBezTo>
                <a:cubicBezTo>
                  <a:pt x="2266" y="1422"/>
                  <a:pt x="2266" y="1422"/>
                  <a:pt x="2266" y="1422"/>
                </a:cubicBezTo>
                <a:cubicBezTo>
                  <a:pt x="2282" y="1422"/>
                  <a:pt x="2297" y="1422"/>
                  <a:pt x="2312" y="1422"/>
                </a:cubicBezTo>
                <a:cubicBezTo>
                  <a:pt x="2313" y="1422"/>
                  <a:pt x="2313" y="1422"/>
                  <a:pt x="2313" y="1422"/>
                </a:cubicBezTo>
                <a:cubicBezTo>
                  <a:pt x="2328" y="1422"/>
                  <a:pt x="2328" y="1422"/>
                  <a:pt x="2328" y="1422"/>
                </a:cubicBezTo>
                <a:cubicBezTo>
                  <a:pt x="2333" y="1422"/>
                  <a:pt x="2339" y="1422"/>
                  <a:pt x="2344" y="1423"/>
                </a:cubicBezTo>
                <a:cubicBezTo>
                  <a:pt x="2347" y="1424"/>
                  <a:pt x="2351" y="1425"/>
                  <a:pt x="2354" y="1426"/>
                </a:cubicBezTo>
                <a:cubicBezTo>
                  <a:pt x="2355" y="1426"/>
                  <a:pt x="2355" y="1426"/>
                  <a:pt x="2356" y="1426"/>
                </a:cubicBezTo>
                <a:cubicBezTo>
                  <a:pt x="2356" y="1427"/>
                  <a:pt x="2356" y="1427"/>
                  <a:pt x="2357" y="1427"/>
                </a:cubicBezTo>
                <a:cubicBezTo>
                  <a:pt x="2357" y="1427"/>
                  <a:pt x="2358" y="1427"/>
                  <a:pt x="2358" y="1427"/>
                </a:cubicBezTo>
                <a:cubicBezTo>
                  <a:pt x="2363" y="1429"/>
                  <a:pt x="2367" y="1431"/>
                  <a:pt x="2371" y="1433"/>
                </a:cubicBezTo>
                <a:cubicBezTo>
                  <a:pt x="2374" y="1436"/>
                  <a:pt x="2377" y="1438"/>
                  <a:pt x="2379" y="1441"/>
                </a:cubicBezTo>
                <a:cubicBezTo>
                  <a:pt x="2391" y="1458"/>
                  <a:pt x="2391" y="1458"/>
                  <a:pt x="2391" y="1458"/>
                </a:cubicBezTo>
                <a:cubicBezTo>
                  <a:pt x="2394" y="1463"/>
                  <a:pt x="2401" y="1471"/>
                  <a:pt x="2404" y="1478"/>
                </a:cubicBezTo>
                <a:cubicBezTo>
                  <a:pt x="2404" y="1478"/>
                  <a:pt x="2404" y="1478"/>
                  <a:pt x="2404" y="1478"/>
                </a:cubicBezTo>
                <a:cubicBezTo>
                  <a:pt x="2406" y="1481"/>
                  <a:pt x="2407" y="1484"/>
                  <a:pt x="2407" y="1487"/>
                </a:cubicBezTo>
                <a:close/>
                <a:moveTo>
                  <a:pt x="1589" y="1480"/>
                </a:moveTo>
                <a:cubicBezTo>
                  <a:pt x="1589" y="1483"/>
                  <a:pt x="1588" y="1485"/>
                  <a:pt x="1587" y="1487"/>
                </a:cubicBezTo>
                <a:cubicBezTo>
                  <a:pt x="1576" y="1507"/>
                  <a:pt x="1525" y="1502"/>
                  <a:pt x="1507" y="1502"/>
                </a:cubicBezTo>
                <a:cubicBezTo>
                  <a:pt x="1496" y="1502"/>
                  <a:pt x="1485" y="1502"/>
                  <a:pt x="1474" y="1502"/>
                </a:cubicBezTo>
                <a:cubicBezTo>
                  <a:pt x="1464" y="1502"/>
                  <a:pt x="1451" y="1500"/>
                  <a:pt x="1442" y="1493"/>
                </a:cubicBezTo>
                <a:cubicBezTo>
                  <a:pt x="1442" y="1493"/>
                  <a:pt x="1441" y="1492"/>
                  <a:pt x="1441" y="1492"/>
                </a:cubicBezTo>
                <a:cubicBezTo>
                  <a:pt x="1441" y="1492"/>
                  <a:pt x="1440" y="1491"/>
                  <a:pt x="1440" y="1491"/>
                </a:cubicBezTo>
                <a:cubicBezTo>
                  <a:pt x="1439" y="1490"/>
                  <a:pt x="1439" y="1490"/>
                  <a:pt x="1439" y="1489"/>
                </a:cubicBezTo>
                <a:cubicBezTo>
                  <a:pt x="1439" y="1489"/>
                  <a:pt x="1439" y="1489"/>
                  <a:pt x="1438" y="1489"/>
                </a:cubicBezTo>
                <a:cubicBezTo>
                  <a:pt x="1438" y="1489"/>
                  <a:pt x="1438" y="1489"/>
                  <a:pt x="1438" y="1489"/>
                </a:cubicBezTo>
                <a:cubicBezTo>
                  <a:pt x="1438" y="1488"/>
                  <a:pt x="1437" y="1487"/>
                  <a:pt x="1437" y="1486"/>
                </a:cubicBezTo>
                <a:cubicBezTo>
                  <a:pt x="1436" y="1484"/>
                  <a:pt x="1436" y="1483"/>
                  <a:pt x="1436" y="1481"/>
                </a:cubicBezTo>
                <a:cubicBezTo>
                  <a:pt x="1436" y="1479"/>
                  <a:pt x="1436" y="1479"/>
                  <a:pt x="1436" y="1479"/>
                </a:cubicBezTo>
                <a:cubicBezTo>
                  <a:pt x="1437" y="1477"/>
                  <a:pt x="1437" y="1474"/>
                  <a:pt x="1437" y="1472"/>
                </a:cubicBezTo>
                <a:cubicBezTo>
                  <a:pt x="1437" y="1471"/>
                  <a:pt x="1437" y="1471"/>
                  <a:pt x="1437" y="1471"/>
                </a:cubicBezTo>
                <a:cubicBezTo>
                  <a:pt x="1438" y="1463"/>
                  <a:pt x="1438" y="1454"/>
                  <a:pt x="1440" y="1446"/>
                </a:cubicBezTo>
                <a:cubicBezTo>
                  <a:pt x="1440" y="1443"/>
                  <a:pt x="1440" y="1443"/>
                  <a:pt x="1440" y="1443"/>
                </a:cubicBezTo>
                <a:cubicBezTo>
                  <a:pt x="1441" y="1441"/>
                  <a:pt x="1442" y="1438"/>
                  <a:pt x="1444" y="1436"/>
                </a:cubicBezTo>
                <a:cubicBezTo>
                  <a:pt x="1446" y="1434"/>
                  <a:pt x="1448" y="1433"/>
                  <a:pt x="1450" y="1431"/>
                </a:cubicBezTo>
                <a:cubicBezTo>
                  <a:pt x="1450" y="1431"/>
                  <a:pt x="1450" y="1431"/>
                  <a:pt x="1450" y="1431"/>
                </a:cubicBezTo>
                <a:cubicBezTo>
                  <a:pt x="1451" y="1431"/>
                  <a:pt x="1451" y="1430"/>
                  <a:pt x="1452" y="1430"/>
                </a:cubicBezTo>
                <a:cubicBezTo>
                  <a:pt x="1452" y="1430"/>
                  <a:pt x="1453" y="1430"/>
                  <a:pt x="1453" y="1429"/>
                </a:cubicBezTo>
                <a:cubicBezTo>
                  <a:pt x="1453" y="1429"/>
                  <a:pt x="1454" y="1429"/>
                  <a:pt x="1454" y="1429"/>
                </a:cubicBezTo>
                <a:cubicBezTo>
                  <a:pt x="1455" y="1428"/>
                  <a:pt x="1457" y="1428"/>
                  <a:pt x="1458" y="1427"/>
                </a:cubicBezTo>
                <a:cubicBezTo>
                  <a:pt x="1459" y="1427"/>
                  <a:pt x="1459" y="1427"/>
                  <a:pt x="1460" y="1427"/>
                </a:cubicBezTo>
                <a:cubicBezTo>
                  <a:pt x="1461" y="1426"/>
                  <a:pt x="1463" y="1426"/>
                  <a:pt x="1464" y="1426"/>
                </a:cubicBezTo>
                <a:cubicBezTo>
                  <a:pt x="1465" y="1426"/>
                  <a:pt x="1465" y="1425"/>
                  <a:pt x="1466" y="1425"/>
                </a:cubicBezTo>
                <a:cubicBezTo>
                  <a:pt x="1466" y="1425"/>
                  <a:pt x="1466" y="1425"/>
                  <a:pt x="1466" y="1425"/>
                </a:cubicBezTo>
                <a:cubicBezTo>
                  <a:pt x="1467" y="1425"/>
                  <a:pt x="1468" y="1425"/>
                  <a:pt x="1468" y="1425"/>
                </a:cubicBezTo>
                <a:cubicBezTo>
                  <a:pt x="1472" y="1424"/>
                  <a:pt x="1476" y="1424"/>
                  <a:pt x="1480" y="1424"/>
                </a:cubicBezTo>
                <a:cubicBezTo>
                  <a:pt x="1483" y="1424"/>
                  <a:pt x="1483" y="1424"/>
                  <a:pt x="1483" y="1424"/>
                </a:cubicBezTo>
                <a:cubicBezTo>
                  <a:pt x="1487" y="1424"/>
                  <a:pt x="1492" y="1424"/>
                  <a:pt x="1496" y="1424"/>
                </a:cubicBezTo>
                <a:cubicBezTo>
                  <a:pt x="1550" y="1424"/>
                  <a:pt x="1550" y="1424"/>
                  <a:pt x="1550" y="1424"/>
                </a:cubicBezTo>
                <a:cubicBezTo>
                  <a:pt x="1551" y="1424"/>
                  <a:pt x="1552" y="1424"/>
                  <a:pt x="1554" y="1424"/>
                </a:cubicBezTo>
                <a:cubicBezTo>
                  <a:pt x="1554" y="1424"/>
                  <a:pt x="1555" y="1424"/>
                  <a:pt x="1555" y="1424"/>
                </a:cubicBezTo>
                <a:cubicBezTo>
                  <a:pt x="1556" y="1424"/>
                  <a:pt x="1558" y="1424"/>
                  <a:pt x="1559" y="1424"/>
                </a:cubicBezTo>
                <a:cubicBezTo>
                  <a:pt x="1570" y="1425"/>
                  <a:pt x="1582" y="1428"/>
                  <a:pt x="1586" y="1438"/>
                </a:cubicBezTo>
                <a:cubicBezTo>
                  <a:pt x="1587" y="1438"/>
                  <a:pt x="1587" y="1439"/>
                  <a:pt x="1587" y="1440"/>
                </a:cubicBezTo>
                <a:cubicBezTo>
                  <a:pt x="1588" y="1440"/>
                  <a:pt x="1588" y="1440"/>
                  <a:pt x="1588" y="1440"/>
                </a:cubicBezTo>
                <a:cubicBezTo>
                  <a:pt x="1591" y="1452"/>
                  <a:pt x="1588" y="1466"/>
                  <a:pt x="1589" y="1478"/>
                </a:cubicBezTo>
                <a:lnTo>
                  <a:pt x="1589" y="1480"/>
                </a:lnTo>
                <a:close/>
                <a:moveTo>
                  <a:pt x="1511" y="1543"/>
                </a:moveTo>
                <a:cubicBezTo>
                  <a:pt x="1531" y="1543"/>
                  <a:pt x="1577" y="1537"/>
                  <a:pt x="1588" y="1559"/>
                </a:cubicBezTo>
                <a:cubicBezTo>
                  <a:pt x="1589" y="1561"/>
                  <a:pt x="1590" y="1563"/>
                  <a:pt x="1590" y="1566"/>
                </a:cubicBezTo>
                <a:cubicBezTo>
                  <a:pt x="1590" y="1589"/>
                  <a:pt x="1590" y="1589"/>
                  <a:pt x="1590" y="1589"/>
                </a:cubicBezTo>
                <a:cubicBezTo>
                  <a:pt x="1590" y="1595"/>
                  <a:pt x="1590" y="1602"/>
                  <a:pt x="1590" y="1609"/>
                </a:cubicBezTo>
                <a:cubicBezTo>
                  <a:pt x="1590" y="1609"/>
                  <a:pt x="1590" y="1609"/>
                  <a:pt x="1590" y="1609"/>
                </a:cubicBezTo>
                <a:cubicBezTo>
                  <a:pt x="1590" y="1612"/>
                  <a:pt x="1590" y="1612"/>
                  <a:pt x="1590" y="1612"/>
                </a:cubicBezTo>
                <a:cubicBezTo>
                  <a:pt x="1590" y="1615"/>
                  <a:pt x="1589" y="1619"/>
                  <a:pt x="1587" y="1622"/>
                </a:cubicBezTo>
                <a:cubicBezTo>
                  <a:pt x="1587" y="1622"/>
                  <a:pt x="1586" y="1623"/>
                  <a:pt x="1586" y="1623"/>
                </a:cubicBezTo>
                <a:cubicBezTo>
                  <a:pt x="1585" y="1624"/>
                  <a:pt x="1584" y="1625"/>
                  <a:pt x="1583" y="1626"/>
                </a:cubicBezTo>
                <a:cubicBezTo>
                  <a:pt x="1583" y="1626"/>
                  <a:pt x="1583" y="1626"/>
                  <a:pt x="1583" y="1626"/>
                </a:cubicBezTo>
                <a:cubicBezTo>
                  <a:pt x="1578" y="1631"/>
                  <a:pt x="1571" y="1634"/>
                  <a:pt x="1563" y="1636"/>
                </a:cubicBezTo>
                <a:cubicBezTo>
                  <a:pt x="1563" y="1636"/>
                  <a:pt x="1563" y="1636"/>
                  <a:pt x="1563" y="1636"/>
                </a:cubicBezTo>
                <a:cubicBezTo>
                  <a:pt x="1563" y="1636"/>
                  <a:pt x="1563" y="1636"/>
                  <a:pt x="1563" y="1636"/>
                </a:cubicBezTo>
                <a:cubicBezTo>
                  <a:pt x="1560" y="1637"/>
                  <a:pt x="1558" y="1637"/>
                  <a:pt x="1556" y="1637"/>
                </a:cubicBezTo>
                <a:cubicBezTo>
                  <a:pt x="1555" y="1637"/>
                  <a:pt x="1554" y="1637"/>
                  <a:pt x="1554" y="1638"/>
                </a:cubicBezTo>
                <a:cubicBezTo>
                  <a:pt x="1551" y="1638"/>
                  <a:pt x="1548" y="1638"/>
                  <a:pt x="1546" y="1638"/>
                </a:cubicBezTo>
                <a:cubicBezTo>
                  <a:pt x="1546" y="1638"/>
                  <a:pt x="1546" y="1638"/>
                  <a:pt x="1546" y="1638"/>
                </a:cubicBezTo>
                <a:cubicBezTo>
                  <a:pt x="1463" y="1638"/>
                  <a:pt x="1463" y="1638"/>
                  <a:pt x="1463" y="1638"/>
                </a:cubicBezTo>
                <a:cubicBezTo>
                  <a:pt x="1453" y="1638"/>
                  <a:pt x="1441" y="1636"/>
                  <a:pt x="1432" y="1631"/>
                </a:cubicBezTo>
                <a:cubicBezTo>
                  <a:pt x="1432" y="1631"/>
                  <a:pt x="1432" y="1631"/>
                  <a:pt x="1432" y="1631"/>
                </a:cubicBezTo>
                <a:cubicBezTo>
                  <a:pt x="1432" y="1631"/>
                  <a:pt x="1432" y="1630"/>
                  <a:pt x="1432" y="1630"/>
                </a:cubicBezTo>
                <a:cubicBezTo>
                  <a:pt x="1431" y="1629"/>
                  <a:pt x="1429" y="1628"/>
                  <a:pt x="1427" y="1627"/>
                </a:cubicBezTo>
                <a:cubicBezTo>
                  <a:pt x="1426" y="1626"/>
                  <a:pt x="1425" y="1624"/>
                  <a:pt x="1424" y="1623"/>
                </a:cubicBezTo>
                <a:cubicBezTo>
                  <a:pt x="1424" y="1623"/>
                  <a:pt x="1424" y="1623"/>
                  <a:pt x="1424" y="1622"/>
                </a:cubicBezTo>
                <a:cubicBezTo>
                  <a:pt x="1422" y="1619"/>
                  <a:pt x="1421" y="1616"/>
                  <a:pt x="1421" y="1612"/>
                </a:cubicBezTo>
                <a:cubicBezTo>
                  <a:pt x="1422" y="1606"/>
                  <a:pt x="1422" y="1606"/>
                  <a:pt x="1422" y="1606"/>
                </a:cubicBezTo>
                <a:cubicBezTo>
                  <a:pt x="1422" y="1606"/>
                  <a:pt x="1422" y="1606"/>
                  <a:pt x="1422" y="1606"/>
                </a:cubicBezTo>
                <a:cubicBezTo>
                  <a:pt x="1424" y="1593"/>
                  <a:pt x="1425" y="1580"/>
                  <a:pt x="1427" y="1567"/>
                </a:cubicBezTo>
                <a:cubicBezTo>
                  <a:pt x="1427" y="1566"/>
                  <a:pt x="1427" y="1566"/>
                  <a:pt x="1427" y="1566"/>
                </a:cubicBezTo>
                <a:cubicBezTo>
                  <a:pt x="1427" y="1566"/>
                  <a:pt x="1427" y="1566"/>
                  <a:pt x="1427" y="1565"/>
                </a:cubicBezTo>
                <a:cubicBezTo>
                  <a:pt x="1432" y="1536"/>
                  <a:pt x="1490" y="1543"/>
                  <a:pt x="1511" y="1543"/>
                </a:cubicBezTo>
                <a:close/>
                <a:moveTo>
                  <a:pt x="1175" y="1631"/>
                </a:moveTo>
                <a:cubicBezTo>
                  <a:pt x="1173" y="1630"/>
                  <a:pt x="1172" y="1629"/>
                  <a:pt x="1170" y="1627"/>
                </a:cubicBezTo>
                <a:cubicBezTo>
                  <a:pt x="1169" y="1626"/>
                  <a:pt x="1169" y="1625"/>
                  <a:pt x="1168" y="1624"/>
                </a:cubicBezTo>
                <a:cubicBezTo>
                  <a:pt x="1168" y="1623"/>
                  <a:pt x="1168" y="1623"/>
                  <a:pt x="1168" y="1623"/>
                </a:cubicBezTo>
                <a:cubicBezTo>
                  <a:pt x="1166" y="1620"/>
                  <a:pt x="1166" y="1616"/>
                  <a:pt x="1167" y="1613"/>
                </a:cubicBezTo>
                <a:cubicBezTo>
                  <a:pt x="1169" y="1607"/>
                  <a:pt x="1169" y="1607"/>
                  <a:pt x="1169" y="1607"/>
                </a:cubicBezTo>
                <a:cubicBezTo>
                  <a:pt x="1169" y="1607"/>
                  <a:pt x="1169" y="1607"/>
                  <a:pt x="1169" y="1607"/>
                </a:cubicBezTo>
                <a:cubicBezTo>
                  <a:pt x="1169" y="1606"/>
                  <a:pt x="1169" y="1605"/>
                  <a:pt x="1170" y="1604"/>
                </a:cubicBezTo>
                <a:cubicBezTo>
                  <a:pt x="1181" y="1567"/>
                  <a:pt x="1181" y="1567"/>
                  <a:pt x="1181" y="1567"/>
                </a:cubicBezTo>
                <a:cubicBezTo>
                  <a:pt x="1181" y="1566"/>
                  <a:pt x="1181" y="1566"/>
                  <a:pt x="1182" y="1565"/>
                </a:cubicBezTo>
                <a:cubicBezTo>
                  <a:pt x="1193" y="1537"/>
                  <a:pt x="1244" y="1543"/>
                  <a:pt x="1268" y="1543"/>
                </a:cubicBezTo>
                <a:cubicBezTo>
                  <a:pt x="1278" y="1543"/>
                  <a:pt x="1297" y="1542"/>
                  <a:pt x="1314" y="1543"/>
                </a:cubicBezTo>
                <a:cubicBezTo>
                  <a:pt x="1317" y="1544"/>
                  <a:pt x="1320" y="1544"/>
                  <a:pt x="1323" y="1545"/>
                </a:cubicBezTo>
                <a:cubicBezTo>
                  <a:pt x="1323" y="1545"/>
                  <a:pt x="1323" y="1545"/>
                  <a:pt x="1324" y="1545"/>
                </a:cubicBezTo>
                <a:cubicBezTo>
                  <a:pt x="1332" y="1547"/>
                  <a:pt x="1339" y="1551"/>
                  <a:pt x="1342" y="1556"/>
                </a:cubicBezTo>
                <a:cubicBezTo>
                  <a:pt x="1342" y="1557"/>
                  <a:pt x="1342" y="1557"/>
                  <a:pt x="1343" y="1557"/>
                </a:cubicBezTo>
                <a:cubicBezTo>
                  <a:pt x="1343" y="1558"/>
                  <a:pt x="1343" y="1558"/>
                  <a:pt x="1343" y="1558"/>
                </a:cubicBezTo>
                <a:cubicBezTo>
                  <a:pt x="1343" y="1558"/>
                  <a:pt x="1343" y="1559"/>
                  <a:pt x="1343" y="1559"/>
                </a:cubicBezTo>
                <a:cubicBezTo>
                  <a:pt x="1344" y="1561"/>
                  <a:pt x="1345" y="1564"/>
                  <a:pt x="1344" y="1567"/>
                </a:cubicBezTo>
                <a:cubicBezTo>
                  <a:pt x="1344" y="1569"/>
                  <a:pt x="1344" y="1569"/>
                  <a:pt x="1344" y="1569"/>
                </a:cubicBezTo>
                <a:cubicBezTo>
                  <a:pt x="1344" y="1569"/>
                  <a:pt x="1344" y="1569"/>
                  <a:pt x="1344" y="1569"/>
                </a:cubicBezTo>
                <a:cubicBezTo>
                  <a:pt x="1343" y="1576"/>
                  <a:pt x="1341" y="1583"/>
                  <a:pt x="1340" y="1589"/>
                </a:cubicBezTo>
                <a:cubicBezTo>
                  <a:pt x="1336" y="1612"/>
                  <a:pt x="1336" y="1612"/>
                  <a:pt x="1336" y="1612"/>
                </a:cubicBezTo>
                <a:cubicBezTo>
                  <a:pt x="1336" y="1616"/>
                  <a:pt x="1334" y="1619"/>
                  <a:pt x="1331" y="1622"/>
                </a:cubicBezTo>
                <a:cubicBezTo>
                  <a:pt x="1331" y="1623"/>
                  <a:pt x="1330" y="1623"/>
                  <a:pt x="1330" y="1623"/>
                </a:cubicBezTo>
                <a:cubicBezTo>
                  <a:pt x="1330" y="1624"/>
                  <a:pt x="1329" y="1624"/>
                  <a:pt x="1329" y="1624"/>
                </a:cubicBezTo>
                <a:cubicBezTo>
                  <a:pt x="1328" y="1625"/>
                  <a:pt x="1327" y="1626"/>
                  <a:pt x="1326" y="1627"/>
                </a:cubicBezTo>
                <a:cubicBezTo>
                  <a:pt x="1320" y="1632"/>
                  <a:pt x="1312" y="1635"/>
                  <a:pt x="1305" y="1636"/>
                </a:cubicBezTo>
                <a:cubicBezTo>
                  <a:pt x="1305" y="1637"/>
                  <a:pt x="1305" y="1637"/>
                  <a:pt x="1305" y="1637"/>
                </a:cubicBezTo>
                <a:cubicBezTo>
                  <a:pt x="1304" y="1637"/>
                  <a:pt x="1304" y="1637"/>
                  <a:pt x="1304" y="1637"/>
                </a:cubicBezTo>
                <a:cubicBezTo>
                  <a:pt x="1302" y="1637"/>
                  <a:pt x="1300" y="1638"/>
                  <a:pt x="1297" y="1638"/>
                </a:cubicBezTo>
                <a:cubicBezTo>
                  <a:pt x="1297" y="1638"/>
                  <a:pt x="1296" y="1638"/>
                  <a:pt x="1295" y="1638"/>
                </a:cubicBezTo>
                <a:cubicBezTo>
                  <a:pt x="1292" y="1638"/>
                  <a:pt x="1290" y="1639"/>
                  <a:pt x="1287" y="1639"/>
                </a:cubicBezTo>
                <a:cubicBezTo>
                  <a:pt x="1287" y="1639"/>
                  <a:pt x="1287" y="1639"/>
                  <a:pt x="1287" y="1639"/>
                </a:cubicBezTo>
                <a:cubicBezTo>
                  <a:pt x="1204" y="1639"/>
                  <a:pt x="1204" y="1639"/>
                  <a:pt x="1204" y="1639"/>
                </a:cubicBezTo>
                <a:cubicBezTo>
                  <a:pt x="1194" y="1639"/>
                  <a:pt x="1183" y="1637"/>
                  <a:pt x="1175" y="1631"/>
                </a:cubicBezTo>
                <a:cubicBezTo>
                  <a:pt x="1175" y="1631"/>
                  <a:pt x="1175" y="1631"/>
                  <a:pt x="1175" y="1631"/>
                </a:cubicBezTo>
                <a:close/>
                <a:moveTo>
                  <a:pt x="1278" y="1502"/>
                </a:moveTo>
                <a:cubicBezTo>
                  <a:pt x="1266" y="1502"/>
                  <a:pt x="1253" y="1502"/>
                  <a:pt x="1241" y="1502"/>
                </a:cubicBezTo>
                <a:cubicBezTo>
                  <a:pt x="1230" y="1502"/>
                  <a:pt x="1213" y="1500"/>
                  <a:pt x="1207" y="1489"/>
                </a:cubicBezTo>
                <a:cubicBezTo>
                  <a:pt x="1207" y="1488"/>
                  <a:pt x="1207" y="1487"/>
                  <a:pt x="1207" y="1486"/>
                </a:cubicBezTo>
                <a:cubicBezTo>
                  <a:pt x="1206" y="1486"/>
                  <a:pt x="1206" y="1485"/>
                  <a:pt x="1206" y="1484"/>
                </a:cubicBezTo>
                <a:cubicBezTo>
                  <a:pt x="1206" y="1483"/>
                  <a:pt x="1207" y="1482"/>
                  <a:pt x="1207" y="1481"/>
                </a:cubicBezTo>
                <a:cubicBezTo>
                  <a:pt x="1207" y="1481"/>
                  <a:pt x="1207" y="1481"/>
                  <a:pt x="1207" y="1481"/>
                </a:cubicBezTo>
                <a:cubicBezTo>
                  <a:pt x="1207" y="1481"/>
                  <a:pt x="1207" y="1481"/>
                  <a:pt x="1207" y="1481"/>
                </a:cubicBezTo>
                <a:cubicBezTo>
                  <a:pt x="1207" y="1478"/>
                  <a:pt x="1209" y="1474"/>
                  <a:pt x="1210" y="1472"/>
                </a:cubicBezTo>
                <a:cubicBezTo>
                  <a:pt x="1212" y="1463"/>
                  <a:pt x="1214" y="1453"/>
                  <a:pt x="1218" y="1445"/>
                </a:cubicBezTo>
                <a:cubicBezTo>
                  <a:pt x="1218" y="1444"/>
                  <a:pt x="1218" y="1444"/>
                  <a:pt x="1218" y="1444"/>
                </a:cubicBezTo>
                <a:cubicBezTo>
                  <a:pt x="1219" y="1441"/>
                  <a:pt x="1221" y="1438"/>
                  <a:pt x="1223" y="1436"/>
                </a:cubicBezTo>
                <a:cubicBezTo>
                  <a:pt x="1225" y="1435"/>
                  <a:pt x="1226" y="1434"/>
                  <a:pt x="1228" y="1433"/>
                </a:cubicBezTo>
                <a:cubicBezTo>
                  <a:pt x="1233" y="1429"/>
                  <a:pt x="1239" y="1427"/>
                  <a:pt x="1245" y="1426"/>
                </a:cubicBezTo>
                <a:cubicBezTo>
                  <a:pt x="1246" y="1426"/>
                  <a:pt x="1246" y="1426"/>
                  <a:pt x="1247" y="1426"/>
                </a:cubicBezTo>
                <a:cubicBezTo>
                  <a:pt x="1251" y="1425"/>
                  <a:pt x="1257" y="1424"/>
                  <a:pt x="1262" y="1424"/>
                </a:cubicBezTo>
                <a:cubicBezTo>
                  <a:pt x="1269" y="1424"/>
                  <a:pt x="1269" y="1424"/>
                  <a:pt x="1269" y="1424"/>
                </a:cubicBezTo>
                <a:cubicBezTo>
                  <a:pt x="1271" y="1424"/>
                  <a:pt x="1274" y="1424"/>
                  <a:pt x="1276" y="1424"/>
                </a:cubicBezTo>
                <a:cubicBezTo>
                  <a:pt x="1291" y="1424"/>
                  <a:pt x="1307" y="1424"/>
                  <a:pt x="1322" y="1424"/>
                </a:cubicBezTo>
                <a:cubicBezTo>
                  <a:pt x="1324" y="1424"/>
                  <a:pt x="1326" y="1424"/>
                  <a:pt x="1329" y="1424"/>
                </a:cubicBezTo>
                <a:cubicBezTo>
                  <a:pt x="1331" y="1424"/>
                  <a:pt x="1331" y="1424"/>
                  <a:pt x="1331" y="1424"/>
                </a:cubicBezTo>
                <a:cubicBezTo>
                  <a:pt x="1332" y="1424"/>
                  <a:pt x="1332" y="1424"/>
                  <a:pt x="1333" y="1424"/>
                </a:cubicBezTo>
                <a:cubicBezTo>
                  <a:pt x="1335" y="1424"/>
                  <a:pt x="1337" y="1424"/>
                  <a:pt x="1339" y="1425"/>
                </a:cubicBezTo>
                <a:cubicBezTo>
                  <a:pt x="1339" y="1425"/>
                  <a:pt x="1339" y="1425"/>
                  <a:pt x="1339" y="1425"/>
                </a:cubicBezTo>
                <a:cubicBezTo>
                  <a:pt x="1351" y="1426"/>
                  <a:pt x="1364" y="1429"/>
                  <a:pt x="1366" y="1439"/>
                </a:cubicBezTo>
                <a:cubicBezTo>
                  <a:pt x="1366" y="1439"/>
                  <a:pt x="1366" y="1440"/>
                  <a:pt x="1366" y="1440"/>
                </a:cubicBezTo>
                <a:cubicBezTo>
                  <a:pt x="1366" y="1440"/>
                  <a:pt x="1366" y="1440"/>
                  <a:pt x="1366" y="1441"/>
                </a:cubicBezTo>
                <a:cubicBezTo>
                  <a:pt x="1367" y="1452"/>
                  <a:pt x="1362" y="1467"/>
                  <a:pt x="1360" y="1478"/>
                </a:cubicBezTo>
                <a:cubicBezTo>
                  <a:pt x="1360" y="1478"/>
                  <a:pt x="1360" y="1478"/>
                  <a:pt x="1360" y="1478"/>
                </a:cubicBezTo>
                <a:cubicBezTo>
                  <a:pt x="1359" y="1481"/>
                  <a:pt x="1359" y="1481"/>
                  <a:pt x="1359" y="1481"/>
                </a:cubicBezTo>
                <a:cubicBezTo>
                  <a:pt x="1359" y="1483"/>
                  <a:pt x="1358" y="1485"/>
                  <a:pt x="1356" y="1487"/>
                </a:cubicBezTo>
                <a:cubicBezTo>
                  <a:pt x="1356" y="1488"/>
                  <a:pt x="1355" y="1488"/>
                  <a:pt x="1355" y="1489"/>
                </a:cubicBezTo>
                <a:cubicBezTo>
                  <a:pt x="1355" y="1489"/>
                  <a:pt x="1355" y="1489"/>
                  <a:pt x="1355" y="1489"/>
                </a:cubicBezTo>
                <a:cubicBezTo>
                  <a:pt x="1355" y="1489"/>
                  <a:pt x="1355" y="1489"/>
                  <a:pt x="1354" y="1489"/>
                </a:cubicBezTo>
                <a:cubicBezTo>
                  <a:pt x="1339" y="1507"/>
                  <a:pt x="1298" y="1502"/>
                  <a:pt x="1278" y="1502"/>
                </a:cubicBezTo>
                <a:close/>
                <a:moveTo>
                  <a:pt x="911" y="1620"/>
                </a:moveTo>
                <a:cubicBezTo>
                  <a:pt x="911" y="1619"/>
                  <a:pt x="911" y="1618"/>
                  <a:pt x="911" y="1618"/>
                </a:cubicBezTo>
                <a:cubicBezTo>
                  <a:pt x="912" y="1616"/>
                  <a:pt x="912" y="1615"/>
                  <a:pt x="913" y="1614"/>
                </a:cubicBezTo>
                <a:cubicBezTo>
                  <a:pt x="913" y="1614"/>
                  <a:pt x="913" y="1614"/>
                  <a:pt x="913" y="1613"/>
                </a:cubicBezTo>
                <a:cubicBezTo>
                  <a:pt x="913" y="1612"/>
                  <a:pt x="913" y="1612"/>
                  <a:pt x="913" y="1612"/>
                </a:cubicBezTo>
                <a:cubicBezTo>
                  <a:pt x="914" y="1611"/>
                  <a:pt x="915" y="1609"/>
                  <a:pt x="916" y="1607"/>
                </a:cubicBezTo>
                <a:cubicBezTo>
                  <a:pt x="922" y="1594"/>
                  <a:pt x="928" y="1582"/>
                  <a:pt x="935" y="1569"/>
                </a:cubicBezTo>
                <a:cubicBezTo>
                  <a:pt x="935" y="1569"/>
                  <a:pt x="935" y="1569"/>
                  <a:pt x="935" y="1569"/>
                </a:cubicBezTo>
                <a:cubicBezTo>
                  <a:pt x="935" y="1568"/>
                  <a:pt x="935" y="1568"/>
                  <a:pt x="935" y="1568"/>
                </a:cubicBezTo>
                <a:cubicBezTo>
                  <a:pt x="936" y="1567"/>
                  <a:pt x="936" y="1566"/>
                  <a:pt x="937" y="1566"/>
                </a:cubicBezTo>
                <a:cubicBezTo>
                  <a:pt x="937" y="1565"/>
                  <a:pt x="938" y="1564"/>
                  <a:pt x="938" y="1563"/>
                </a:cubicBezTo>
                <a:cubicBezTo>
                  <a:pt x="938" y="1563"/>
                  <a:pt x="938" y="1563"/>
                  <a:pt x="939" y="1563"/>
                </a:cubicBezTo>
                <a:cubicBezTo>
                  <a:pt x="956" y="1539"/>
                  <a:pt x="997" y="1544"/>
                  <a:pt x="1023" y="1544"/>
                </a:cubicBezTo>
                <a:cubicBezTo>
                  <a:pt x="1023" y="1544"/>
                  <a:pt x="1023" y="1544"/>
                  <a:pt x="1023" y="1544"/>
                </a:cubicBezTo>
                <a:cubicBezTo>
                  <a:pt x="1030" y="1544"/>
                  <a:pt x="1049" y="1542"/>
                  <a:pt x="1066" y="1544"/>
                </a:cubicBezTo>
                <a:cubicBezTo>
                  <a:pt x="1071" y="1544"/>
                  <a:pt x="1077" y="1544"/>
                  <a:pt x="1081" y="1545"/>
                </a:cubicBezTo>
                <a:cubicBezTo>
                  <a:pt x="1084" y="1546"/>
                  <a:pt x="1087" y="1547"/>
                  <a:pt x="1089" y="1548"/>
                </a:cubicBezTo>
                <a:cubicBezTo>
                  <a:pt x="1095" y="1551"/>
                  <a:pt x="1099" y="1556"/>
                  <a:pt x="1099" y="1562"/>
                </a:cubicBezTo>
                <a:cubicBezTo>
                  <a:pt x="1099" y="1562"/>
                  <a:pt x="1099" y="1562"/>
                  <a:pt x="1099" y="1562"/>
                </a:cubicBezTo>
                <a:cubicBezTo>
                  <a:pt x="1099" y="1563"/>
                  <a:pt x="1099" y="1563"/>
                  <a:pt x="1099" y="1564"/>
                </a:cubicBezTo>
                <a:cubicBezTo>
                  <a:pt x="1099" y="1565"/>
                  <a:pt x="1099" y="1566"/>
                  <a:pt x="1099" y="1567"/>
                </a:cubicBezTo>
                <a:cubicBezTo>
                  <a:pt x="1082" y="1613"/>
                  <a:pt x="1082" y="1613"/>
                  <a:pt x="1082" y="1613"/>
                </a:cubicBezTo>
                <a:cubicBezTo>
                  <a:pt x="1081" y="1617"/>
                  <a:pt x="1078" y="1620"/>
                  <a:pt x="1075" y="1623"/>
                </a:cubicBezTo>
                <a:cubicBezTo>
                  <a:pt x="1071" y="1626"/>
                  <a:pt x="1067" y="1629"/>
                  <a:pt x="1062" y="1631"/>
                </a:cubicBezTo>
                <a:cubicBezTo>
                  <a:pt x="1062" y="1632"/>
                  <a:pt x="1061" y="1632"/>
                  <a:pt x="1061" y="1632"/>
                </a:cubicBezTo>
                <a:cubicBezTo>
                  <a:pt x="1054" y="1635"/>
                  <a:pt x="1047" y="1637"/>
                  <a:pt x="1039" y="1639"/>
                </a:cubicBezTo>
                <a:cubicBezTo>
                  <a:pt x="1038" y="1639"/>
                  <a:pt x="1038" y="1639"/>
                  <a:pt x="1038" y="1639"/>
                </a:cubicBezTo>
                <a:cubicBezTo>
                  <a:pt x="1036" y="1639"/>
                  <a:pt x="1035" y="1639"/>
                  <a:pt x="1034" y="1639"/>
                </a:cubicBezTo>
                <a:cubicBezTo>
                  <a:pt x="1020" y="1640"/>
                  <a:pt x="1005" y="1639"/>
                  <a:pt x="990" y="1639"/>
                </a:cubicBezTo>
                <a:cubicBezTo>
                  <a:pt x="975" y="1639"/>
                  <a:pt x="960" y="1640"/>
                  <a:pt x="945" y="1640"/>
                </a:cubicBezTo>
                <a:cubicBezTo>
                  <a:pt x="935" y="1640"/>
                  <a:pt x="920" y="1638"/>
                  <a:pt x="914" y="1628"/>
                </a:cubicBezTo>
                <a:cubicBezTo>
                  <a:pt x="913" y="1628"/>
                  <a:pt x="913" y="1628"/>
                  <a:pt x="913" y="1627"/>
                </a:cubicBezTo>
                <a:cubicBezTo>
                  <a:pt x="913" y="1627"/>
                  <a:pt x="912" y="1626"/>
                  <a:pt x="912" y="1626"/>
                </a:cubicBezTo>
                <a:cubicBezTo>
                  <a:pt x="912" y="1625"/>
                  <a:pt x="912" y="1624"/>
                  <a:pt x="911" y="1624"/>
                </a:cubicBezTo>
                <a:cubicBezTo>
                  <a:pt x="911" y="1624"/>
                  <a:pt x="911" y="1624"/>
                  <a:pt x="911" y="1624"/>
                </a:cubicBezTo>
                <a:cubicBezTo>
                  <a:pt x="911" y="1623"/>
                  <a:pt x="911" y="1623"/>
                  <a:pt x="911" y="1623"/>
                </a:cubicBezTo>
                <a:cubicBezTo>
                  <a:pt x="911" y="1622"/>
                  <a:pt x="911" y="1621"/>
                  <a:pt x="911" y="1620"/>
                </a:cubicBezTo>
                <a:close/>
                <a:moveTo>
                  <a:pt x="910" y="1465"/>
                </a:moveTo>
                <a:cubicBezTo>
                  <a:pt x="910" y="1465"/>
                  <a:pt x="910" y="1465"/>
                  <a:pt x="910" y="1465"/>
                </a:cubicBezTo>
                <a:cubicBezTo>
                  <a:pt x="900" y="1482"/>
                  <a:pt x="900" y="1482"/>
                  <a:pt x="900" y="1482"/>
                </a:cubicBezTo>
                <a:cubicBezTo>
                  <a:pt x="899" y="1485"/>
                  <a:pt x="896" y="1488"/>
                  <a:pt x="893" y="1490"/>
                </a:cubicBezTo>
                <a:cubicBezTo>
                  <a:pt x="889" y="1493"/>
                  <a:pt x="885" y="1495"/>
                  <a:pt x="880" y="1497"/>
                </a:cubicBezTo>
                <a:cubicBezTo>
                  <a:pt x="879" y="1497"/>
                  <a:pt x="878" y="1498"/>
                  <a:pt x="876" y="1498"/>
                </a:cubicBezTo>
                <a:cubicBezTo>
                  <a:pt x="876" y="1499"/>
                  <a:pt x="875" y="1499"/>
                  <a:pt x="874" y="1499"/>
                </a:cubicBezTo>
                <a:cubicBezTo>
                  <a:pt x="874" y="1499"/>
                  <a:pt x="874" y="1499"/>
                  <a:pt x="874" y="1499"/>
                </a:cubicBezTo>
                <a:cubicBezTo>
                  <a:pt x="871" y="1500"/>
                  <a:pt x="868" y="1501"/>
                  <a:pt x="865" y="1502"/>
                </a:cubicBezTo>
                <a:cubicBezTo>
                  <a:pt x="859" y="1503"/>
                  <a:pt x="854" y="1503"/>
                  <a:pt x="848" y="1503"/>
                </a:cubicBezTo>
                <a:cubicBezTo>
                  <a:pt x="832" y="1503"/>
                  <a:pt x="832" y="1503"/>
                  <a:pt x="832" y="1503"/>
                </a:cubicBezTo>
                <a:cubicBezTo>
                  <a:pt x="832" y="1503"/>
                  <a:pt x="832" y="1503"/>
                  <a:pt x="832" y="1503"/>
                </a:cubicBezTo>
                <a:cubicBezTo>
                  <a:pt x="812" y="1503"/>
                  <a:pt x="793" y="1504"/>
                  <a:pt x="774" y="1504"/>
                </a:cubicBezTo>
                <a:cubicBezTo>
                  <a:pt x="765" y="1504"/>
                  <a:pt x="747" y="1502"/>
                  <a:pt x="745" y="1491"/>
                </a:cubicBezTo>
                <a:cubicBezTo>
                  <a:pt x="745" y="1489"/>
                  <a:pt x="745" y="1488"/>
                  <a:pt x="746" y="1486"/>
                </a:cubicBezTo>
                <a:cubicBezTo>
                  <a:pt x="747" y="1482"/>
                  <a:pt x="751" y="1478"/>
                  <a:pt x="753" y="1475"/>
                </a:cubicBezTo>
                <a:cubicBezTo>
                  <a:pt x="760" y="1464"/>
                  <a:pt x="766" y="1452"/>
                  <a:pt x="775" y="1443"/>
                </a:cubicBezTo>
                <a:cubicBezTo>
                  <a:pt x="775" y="1442"/>
                  <a:pt x="776" y="1442"/>
                  <a:pt x="776" y="1441"/>
                </a:cubicBezTo>
                <a:cubicBezTo>
                  <a:pt x="776" y="1441"/>
                  <a:pt x="777" y="1441"/>
                  <a:pt x="777" y="1441"/>
                </a:cubicBezTo>
                <a:cubicBezTo>
                  <a:pt x="799" y="1419"/>
                  <a:pt x="845" y="1425"/>
                  <a:pt x="873" y="1425"/>
                </a:cubicBezTo>
                <a:cubicBezTo>
                  <a:pt x="886" y="1425"/>
                  <a:pt x="901" y="1423"/>
                  <a:pt x="913" y="1428"/>
                </a:cubicBezTo>
                <a:cubicBezTo>
                  <a:pt x="913" y="1428"/>
                  <a:pt x="913" y="1428"/>
                  <a:pt x="913" y="1428"/>
                </a:cubicBezTo>
                <a:cubicBezTo>
                  <a:pt x="915" y="1429"/>
                  <a:pt x="916" y="1430"/>
                  <a:pt x="917" y="1430"/>
                </a:cubicBezTo>
                <a:cubicBezTo>
                  <a:pt x="917" y="1430"/>
                  <a:pt x="917" y="1431"/>
                  <a:pt x="918" y="1431"/>
                </a:cubicBezTo>
                <a:cubicBezTo>
                  <a:pt x="920" y="1432"/>
                  <a:pt x="922" y="1435"/>
                  <a:pt x="922" y="1437"/>
                </a:cubicBezTo>
                <a:cubicBezTo>
                  <a:pt x="923" y="1439"/>
                  <a:pt x="923" y="1442"/>
                  <a:pt x="921" y="1444"/>
                </a:cubicBezTo>
                <a:cubicBezTo>
                  <a:pt x="920" y="1446"/>
                  <a:pt x="920" y="1446"/>
                  <a:pt x="920" y="1446"/>
                </a:cubicBezTo>
                <a:cubicBezTo>
                  <a:pt x="918" y="1452"/>
                  <a:pt x="913" y="1460"/>
                  <a:pt x="910" y="1465"/>
                </a:cubicBezTo>
                <a:close/>
                <a:moveTo>
                  <a:pt x="1095" y="1502"/>
                </a:moveTo>
                <a:cubicBezTo>
                  <a:pt x="1093" y="1502"/>
                  <a:pt x="1091" y="1502"/>
                  <a:pt x="1089" y="1502"/>
                </a:cubicBezTo>
                <a:cubicBezTo>
                  <a:pt x="1089" y="1502"/>
                  <a:pt x="1089" y="1503"/>
                  <a:pt x="1088" y="1503"/>
                </a:cubicBezTo>
                <a:cubicBezTo>
                  <a:pt x="1077" y="1504"/>
                  <a:pt x="1066" y="1503"/>
                  <a:pt x="1054" y="1503"/>
                </a:cubicBezTo>
                <a:cubicBezTo>
                  <a:pt x="1007" y="1503"/>
                  <a:pt x="1007" y="1503"/>
                  <a:pt x="1007" y="1503"/>
                </a:cubicBezTo>
                <a:cubicBezTo>
                  <a:pt x="997" y="1503"/>
                  <a:pt x="980" y="1501"/>
                  <a:pt x="976" y="1490"/>
                </a:cubicBezTo>
                <a:cubicBezTo>
                  <a:pt x="976" y="1489"/>
                  <a:pt x="976" y="1488"/>
                  <a:pt x="976" y="1487"/>
                </a:cubicBezTo>
                <a:cubicBezTo>
                  <a:pt x="976" y="1486"/>
                  <a:pt x="976" y="1486"/>
                  <a:pt x="976" y="1485"/>
                </a:cubicBezTo>
                <a:cubicBezTo>
                  <a:pt x="977" y="1481"/>
                  <a:pt x="980" y="1477"/>
                  <a:pt x="982" y="1473"/>
                </a:cubicBezTo>
                <a:cubicBezTo>
                  <a:pt x="986" y="1463"/>
                  <a:pt x="990" y="1449"/>
                  <a:pt x="998" y="1441"/>
                </a:cubicBezTo>
                <a:cubicBezTo>
                  <a:pt x="998" y="1440"/>
                  <a:pt x="999" y="1440"/>
                  <a:pt x="999" y="1440"/>
                </a:cubicBezTo>
                <a:cubicBezTo>
                  <a:pt x="1000" y="1439"/>
                  <a:pt x="1000" y="1439"/>
                  <a:pt x="1000" y="1438"/>
                </a:cubicBezTo>
                <a:cubicBezTo>
                  <a:pt x="1001" y="1438"/>
                  <a:pt x="1001" y="1438"/>
                  <a:pt x="1001" y="1438"/>
                </a:cubicBezTo>
                <a:cubicBezTo>
                  <a:pt x="1002" y="1437"/>
                  <a:pt x="1002" y="1437"/>
                  <a:pt x="1002" y="1437"/>
                </a:cubicBezTo>
                <a:cubicBezTo>
                  <a:pt x="1003" y="1436"/>
                  <a:pt x="1003" y="1436"/>
                  <a:pt x="1003" y="1436"/>
                </a:cubicBezTo>
                <a:cubicBezTo>
                  <a:pt x="1010" y="1431"/>
                  <a:pt x="1018" y="1428"/>
                  <a:pt x="1027" y="1427"/>
                </a:cubicBezTo>
                <a:cubicBezTo>
                  <a:pt x="1027" y="1427"/>
                  <a:pt x="1027" y="1426"/>
                  <a:pt x="1028" y="1426"/>
                </a:cubicBezTo>
                <a:cubicBezTo>
                  <a:pt x="1033" y="1425"/>
                  <a:pt x="1038" y="1425"/>
                  <a:pt x="1043" y="1425"/>
                </a:cubicBezTo>
                <a:cubicBezTo>
                  <a:pt x="1072" y="1425"/>
                  <a:pt x="1072" y="1425"/>
                  <a:pt x="1072" y="1425"/>
                </a:cubicBezTo>
                <a:cubicBezTo>
                  <a:pt x="1081" y="1425"/>
                  <a:pt x="1090" y="1425"/>
                  <a:pt x="1099" y="1425"/>
                </a:cubicBezTo>
                <a:cubicBezTo>
                  <a:pt x="1112" y="1425"/>
                  <a:pt x="1130" y="1423"/>
                  <a:pt x="1140" y="1432"/>
                </a:cubicBezTo>
                <a:cubicBezTo>
                  <a:pt x="1140" y="1433"/>
                  <a:pt x="1141" y="1433"/>
                  <a:pt x="1141" y="1434"/>
                </a:cubicBezTo>
                <a:cubicBezTo>
                  <a:pt x="1142" y="1434"/>
                  <a:pt x="1142" y="1434"/>
                  <a:pt x="1142" y="1434"/>
                </a:cubicBezTo>
                <a:cubicBezTo>
                  <a:pt x="1142" y="1434"/>
                  <a:pt x="1142" y="1435"/>
                  <a:pt x="1142" y="1435"/>
                </a:cubicBezTo>
                <a:cubicBezTo>
                  <a:pt x="1143" y="1435"/>
                  <a:pt x="1143" y="1436"/>
                  <a:pt x="1143" y="1436"/>
                </a:cubicBezTo>
                <a:cubicBezTo>
                  <a:pt x="1144" y="1438"/>
                  <a:pt x="1144" y="1440"/>
                  <a:pt x="1144" y="1442"/>
                </a:cubicBezTo>
                <a:cubicBezTo>
                  <a:pt x="1143" y="1452"/>
                  <a:pt x="1135" y="1467"/>
                  <a:pt x="1133" y="1473"/>
                </a:cubicBezTo>
                <a:cubicBezTo>
                  <a:pt x="1133" y="1474"/>
                  <a:pt x="1133" y="1474"/>
                  <a:pt x="1133" y="1474"/>
                </a:cubicBezTo>
                <a:cubicBezTo>
                  <a:pt x="1132" y="1476"/>
                  <a:pt x="1131" y="1478"/>
                  <a:pt x="1130" y="1480"/>
                </a:cubicBezTo>
                <a:cubicBezTo>
                  <a:pt x="1130" y="1481"/>
                  <a:pt x="1130" y="1481"/>
                  <a:pt x="1130" y="1481"/>
                </a:cubicBezTo>
                <a:cubicBezTo>
                  <a:pt x="1130" y="1482"/>
                  <a:pt x="1129" y="1483"/>
                  <a:pt x="1129" y="1483"/>
                </a:cubicBezTo>
                <a:cubicBezTo>
                  <a:pt x="1129" y="1484"/>
                  <a:pt x="1128" y="1484"/>
                  <a:pt x="1128" y="1485"/>
                </a:cubicBezTo>
                <a:cubicBezTo>
                  <a:pt x="1128" y="1485"/>
                  <a:pt x="1127" y="1486"/>
                  <a:pt x="1127" y="1487"/>
                </a:cubicBezTo>
                <a:cubicBezTo>
                  <a:pt x="1126" y="1487"/>
                  <a:pt x="1126" y="1487"/>
                  <a:pt x="1126" y="1488"/>
                </a:cubicBezTo>
                <a:cubicBezTo>
                  <a:pt x="1125" y="1488"/>
                  <a:pt x="1125" y="1488"/>
                  <a:pt x="1125" y="1488"/>
                </a:cubicBezTo>
                <a:cubicBezTo>
                  <a:pt x="1124" y="1489"/>
                  <a:pt x="1124" y="1489"/>
                  <a:pt x="1124" y="1490"/>
                </a:cubicBezTo>
                <a:cubicBezTo>
                  <a:pt x="1122" y="1491"/>
                  <a:pt x="1121" y="1492"/>
                  <a:pt x="1119" y="1493"/>
                </a:cubicBezTo>
                <a:cubicBezTo>
                  <a:pt x="1117" y="1494"/>
                  <a:pt x="1115" y="1495"/>
                  <a:pt x="1114" y="1496"/>
                </a:cubicBezTo>
                <a:cubicBezTo>
                  <a:pt x="1113" y="1496"/>
                  <a:pt x="1113" y="1496"/>
                  <a:pt x="1113" y="1496"/>
                </a:cubicBezTo>
                <a:cubicBezTo>
                  <a:pt x="1112" y="1497"/>
                  <a:pt x="1112" y="1497"/>
                  <a:pt x="1112" y="1497"/>
                </a:cubicBezTo>
                <a:cubicBezTo>
                  <a:pt x="1106" y="1499"/>
                  <a:pt x="1100" y="1501"/>
                  <a:pt x="1095" y="1502"/>
                </a:cubicBezTo>
                <a:close/>
                <a:moveTo>
                  <a:pt x="773" y="1710"/>
                </a:moveTo>
                <a:cubicBezTo>
                  <a:pt x="773" y="1710"/>
                  <a:pt x="773" y="1710"/>
                  <a:pt x="773" y="1710"/>
                </a:cubicBezTo>
                <a:cubicBezTo>
                  <a:pt x="771" y="1721"/>
                  <a:pt x="762" y="1732"/>
                  <a:pt x="756" y="1742"/>
                </a:cubicBezTo>
                <a:cubicBezTo>
                  <a:pt x="756" y="1742"/>
                  <a:pt x="756" y="1742"/>
                  <a:pt x="756" y="1742"/>
                </a:cubicBezTo>
                <a:cubicBezTo>
                  <a:pt x="750" y="1753"/>
                  <a:pt x="744" y="1767"/>
                  <a:pt x="736" y="1777"/>
                </a:cubicBezTo>
                <a:cubicBezTo>
                  <a:pt x="735" y="1778"/>
                  <a:pt x="735" y="1779"/>
                  <a:pt x="734" y="1781"/>
                </a:cubicBezTo>
                <a:cubicBezTo>
                  <a:pt x="734" y="1781"/>
                  <a:pt x="733" y="1781"/>
                  <a:pt x="733" y="1781"/>
                </a:cubicBezTo>
                <a:cubicBezTo>
                  <a:pt x="732" y="1782"/>
                  <a:pt x="731" y="1783"/>
                  <a:pt x="730" y="1784"/>
                </a:cubicBezTo>
                <a:cubicBezTo>
                  <a:pt x="729" y="1785"/>
                  <a:pt x="729" y="1785"/>
                  <a:pt x="728" y="1786"/>
                </a:cubicBezTo>
                <a:cubicBezTo>
                  <a:pt x="728" y="1786"/>
                  <a:pt x="728" y="1786"/>
                  <a:pt x="728" y="1786"/>
                </a:cubicBezTo>
                <a:cubicBezTo>
                  <a:pt x="719" y="1794"/>
                  <a:pt x="708" y="1799"/>
                  <a:pt x="696" y="1802"/>
                </a:cubicBezTo>
                <a:cubicBezTo>
                  <a:pt x="695" y="1803"/>
                  <a:pt x="693" y="1803"/>
                  <a:pt x="692" y="1804"/>
                </a:cubicBezTo>
                <a:cubicBezTo>
                  <a:pt x="685" y="1805"/>
                  <a:pt x="678" y="1806"/>
                  <a:pt x="671" y="1806"/>
                </a:cubicBezTo>
                <a:cubicBezTo>
                  <a:pt x="665" y="1806"/>
                  <a:pt x="665" y="1806"/>
                  <a:pt x="665" y="1806"/>
                </a:cubicBezTo>
                <a:cubicBezTo>
                  <a:pt x="665" y="1806"/>
                  <a:pt x="665" y="1806"/>
                  <a:pt x="665" y="1806"/>
                </a:cubicBezTo>
                <a:cubicBezTo>
                  <a:pt x="636" y="1806"/>
                  <a:pt x="607" y="1807"/>
                  <a:pt x="578" y="1807"/>
                </a:cubicBezTo>
                <a:cubicBezTo>
                  <a:pt x="575" y="1807"/>
                  <a:pt x="573" y="1806"/>
                  <a:pt x="571" y="1806"/>
                </a:cubicBezTo>
                <a:cubicBezTo>
                  <a:pt x="567" y="1806"/>
                  <a:pt x="563" y="1805"/>
                  <a:pt x="560" y="1804"/>
                </a:cubicBezTo>
                <a:cubicBezTo>
                  <a:pt x="555" y="1802"/>
                  <a:pt x="551" y="1800"/>
                  <a:pt x="549" y="1797"/>
                </a:cubicBezTo>
                <a:cubicBezTo>
                  <a:pt x="546" y="1794"/>
                  <a:pt x="545" y="1790"/>
                  <a:pt x="545" y="1786"/>
                </a:cubicBezTo>
                <a:cubicBezTo>
                  <a:pt x="545" y="1783"/>
                  <a:pt x="546" y="1780"/>
                  <a:pt x="548" y="1777"/>
                </a:cubicBezTo>
                <a:cubicBezTo>
                  <a:pt x="548" y="1776"/>
                  <a:pt x="549" y="1776"/>
                  <a:pt x="549" y="1776"/>
                </a:cubicBezTo>
                <a:cubicBezTo>
                  <a:pt x="549" y="1775"/>
                  <a:pt x="549" y="1774"/>
                  <a:pt x="550" y="1774"/>
                </a:cubicBezTo>
                <a:cubicBezTo>
                  <a:pt x="551" y="1772"/>
                  <a:pt x="551" y="1772"/>
                  <a:pt x="551" y="1772"/>
                </a:cubicBezTo>
                <a:cubicBezTo>
                  <a:pt x="551" y="1772"/>
                  <a:pt x="551" y="1772"/>
                  <a:pt x="551" y="1772"/>
                </a:cubicBezTo>
                <a:cubicBezTo>
                  <a:pt x="558" y="1761"/>
                  <a:pt x="566" y="1750"/>
                  <a:pt x="574" y="1739"/>
                </a:cubicBezTo>
                <a:cubicBezTo>
                  <a:pt x="579" y="1730"/>
                  <a:pt x="585" y="1720"/>
                  <a:pt x="592" y="1713"/>
                </a:cubicBezTo>
                <a:cubicBezTo>
                  <a:pt x="593" y="1712"/>
                  <a:pt x="593" y="1711"/>
                  <a:pt x="594" y="1710"/>
                </a:cubicBezTo>
                <a:cubicBezTo>
                  <a:pt x="594" y="1710"/>
                  <a:pt x="595" y="1710"/>
                  <a:pt x="595" y="1710"/>
                </a:cubicBezTo>
                <a:cubicBezTo>
                  <a:pt x="596" y="1708"/>
                  <a:pt x="598" y="1707"/>
                  <a:pt x="600" y="1705"/>
                </a:cubicBezTo>
                <a:cubicBezTo>
                  <a:pt x="600" y="1705"/>
                  <a:pt x="600" y="1705"/>
                  <a:pt x="600" y="1705"/>
                </a:cubicBezTo>
                <a:cubicBezTo>
                  <a:pt x="600" y="1705"/>
                  <a:pt x="600" y="1705"/>
                  <a:pt x="600" y="1705"/>
                </a:cubicBezTo>
                <a:cubicBezTo>
                  <a:pt x="610" y="1697"/>
                  <a:pt x="622" y="1692"/>
                  <a:pt x="635" y="1690"/>
                </a:cubicBezTo>
                <a:cubicBezTo>
                  <a:pt x="635" y="1690"/>
                  <a:pt x="635" y="1690"/>
                  <a:pt x="635" y="1690"/>
                </a:cubicBezTo>
                <a:cubicBezTo>
                  <a:pt x="636" y="1690"/>
                  <a:pt x="636" y="1690"/>
                  <a:pt x="636" y="1690"/>
                </a:cubicBezTo>
                <a:cubicBezTo>
                  <a:pt x="638" y="1689"/>
                  <a:pt x="640" y="1689"/>
                  <a:pt x="643" y="1688"/>
                </a:cubicBezTo>
                <a:cubicBezTo>
                  <a:pt x="644" y="1688"/>
                  <a:pt x="646" y="1688"/>
                  <a:pt x="647" y="1688"/>
                </a:cubicBezTo>
                <a:cubicBezTo>
                  <a:pt x="649" y="1688"/>
                  <a:pt x="650" y="1688"/>
                  <a:pt x="652" y="1688"/>
                </a:cubicBezTo>
                <a:cubicBezTo>
                  <a:pt x="653" y="1687"/>
                  <a:pt x="654" y="1687"/>
                  <a:pt x="655" y="1687"/>
                </a:cubicBezTo>
                <a:cubicBezTo>
                  <a:pt x="656" y="1687"/>
                  <a:pt x="656" y="1687"/>
                  <a:pt x="656" y="1687"/>
                </a:cubicBezTo>
                <a:cubicBezTo>
                  <a:pt x="656" y="1687"/>
                  <a:pt x="656" y="1687"/>
                  <a:pt x="656" y="1687"/>
                </a:cubicBezTo>
                <a:cubicBezTo>
                  <a:pt x="683" y="1687"/>
                  <a:pt x="709" y="1687"/>
                  <a:pt x="736" y="1687"/>
                </a:cubicBezTo>
                <a:cubicBezTo>
                  <a:pt x="736" y="1687"/>
                  <a:pt x="736" y="1687"/>
                  <a:pt x="736" y="1687"/>
                </a:cubicBezTo>
                <a:cubicBezTo>
                  <a:pt x="740" y="1687"/>
                  <a:pt x="740" y="1687"/>
                  <a:pt x="740" y="1687"/>
                </a:cubicBezTo>
                <a:cubicBezTo>
                  <a:pt x="747" y="1687"/>
                  <a:pt x="753" y="1688"/>
                  <a:pt x="757" y="1689"/>
                </a:cubicBezTo>
                <a:cubicBezTo>
                  <a:pt x="759" y="1690"/>
                  <a:pt x="760" y="1690"/>
                  <a:pt x="761" y="1691"/>
                </a:cubicBezTo>
                <a:cubicBezTo>
                  <a:pt x="761" y="1691"/>
                  <a:pt x="762" y="1691"/>
                  <a:pt x="763" y="1691"/>
                </a:cubicBezTo>
                <a:cubicBezTo>
                  <a:pt x="763" y="1692"/>
                  <a:pt x="763" y="1692"/>
                  <a:pt x="764" y="1692"/>
                </a:cubicBezTo>
                <a:cubicBezTo>
                  <a:pt x="771" y="1695"/>
                  <a:pt x="775" y="1701"/>
                  <a:pt x="773" y="1710"/>
                </a:cubicBezTo>
                <a:close/>
                <a:moveTo>
                  <a:pt x="828" y="1613"/>
                </a:moveTo>
                <a:cubicBezTo>
                  <a:pt x="827" y="1614"/>
                  <a:pt x="827" y="1614"/>
                  <a:pt x="827" y="1614"/>
                </a:cubicBezTo>
                <a:cubicBezTo>
                  <a:pt x="827" y="1614"/>
                  <a:pt x="827" y="1614"/>
                  <a:pt x="827" y="1614"/>
                </a:cubicBezTo>
                <a:cubicBezTo>
                  <a:pt x="826" y="1616"/>
                  <a:pt x="825" y="1617"/>
                  <a:pt x="824" y="1619"/>
                </a:cubicBezTo>
                <a:cubicBezTo>
                  <a:pt x="824" y="1619"/>
                  <a:pt x="824" y="1619"/>
                  <a:pt x="823" y="1619"/>
                </a:cubicBezTo>
                <a:cubicBezTo>
                  <a:pt x="817" y="1627"/>
                  <a:pt x="807" y="1632"/>
                  <a:pt x="797" y="1635"/>
                </a:cubicBezTo>
                <a:cubicBezTo>
                  <a:pt x="797" y="1635"/>
                  <a:pt x="797" y="1635"/>
                  <a:pt x="797" y="1635"/>
                </a:cubicBezTo>
                <a:cubicBezTo>
                  <a:pt x="795" y="1636"/>
                  <a:pt x="794" y="1636"/>
                  <a:pt x="792" y="1636"/>
                </a:cubicBezTo>
                <a:cubicBezTo>
                  <a:pt x="791" y="1637"/>
                  <a:pt x="790" y="1637"/>
                  <a:pt x="789" y="1637"/>
                </a:cubicBezTo>
                <a:cubicBezTo>
                  <a:pt x="788" y="1637"/>
                  <a:pt x="788" y="1638"/>
                  <a:pt x="787" y="1638"/>
                </a:cubicBezTo>
                <a:cubicBezTo>
                  <a:pt x="781" y="1639"/>
                  <a:pt x="774" y="1640"/>
                  <a:pt x="768" y="1640"/>
                </a:cubicBezTo>
                <a:cubicBezTo>
                  <a:pt x="767" y="1640"/>
                  <a:pt x="767" y="1640"/>
                  <a:pt x="767" y="1640"/>
                </a:cubicBezTo>
                <a:cubicBezTo>
                  <a:pt x="756" y="1641"/>
                  <a:pt x="745" y="1640"/>
                  <a:pt x="735" y="1640"/>
                </a:cubicBezTo>
                <a:cubicBezTo>
                  <a:pt x="718" y="1640"/>
                  <a:pt x="702" y="1640"/>
                  <a:pt x="685" y="1640"/>
                </a:cubicBezTo>
                <a:cubicBezTo>
                  <a:pt x="683" y="1640"/>
                  <a:pt x="680" y="1640"/>
                  <a:pt x="677" y="1640"/>
                </a:cubicBezTo>
                <a:cubicBezTo>
                  <a:pt x="677" y="1640"/>
                  <a:pt x="677" y="1640"/>
                  <a:pt x="676" y="1640"/>
                </a:cubicBezTo>
                <a:cubicBezTo>
                  <a:pt x="674" y="1639"/>
                  <a:pt x="672" y="1639"/>
                  <a:pt x="669" y="1638"/>
                </a:cubicBezTo>
                <a:cubicBezTo>
                  <a:pt x="669" y="1638"/>
                  <a:pt x="669" y="1638"/>
                  <a:pt x="669" y="1638"/>
                </a:cubicBezTo>
                <a:cubicBezTo>
                  <a:pt x="669" y="1638"/>
                  <a:pt x="669" y="1638"/>
                  <a:pt x="669" y="1638"/>
                </a:cubicBezTo>
                <a:cubicBezTo>
                  <a:pt x="662" y="1636"/>
                  <a:pt x="655" y="1632"/>
                  <a:pt x="655" y="1624"/>
                </a:cubicBezTo>
                <a:cubicBezTo>
                  <a:pt x="655" y="1623"/>
                  <a:pt x="655" y="1621"/>
                  <a:pt x="656" y="1620"/>
                </a:cubicBezTo>
                <a:cubicBezTo>
                  <a:pt x="656" y="1619"/>
                  <a:pt x="656" y="1619"/>
                  <a:pt x="656" y="1618"/>
                </a:cubicBezTo>
                <a:cubicBezTo>
                  <a:pt x="657" y="1617"/>
                  <a:pt x="657" y="1616"/>
                  <a:pt x="658" y="1614"/>
                </a:cubicBezTo>
                <a:cubicBezTo>
                  <a:pt x="658" y="1614"/>
                  <a:pt x="658" y="1614"/>
                  <a:pt x="658" y="1614"/>
                </a:cubicBezTo>
                <a:cubicBezTo>
                  <a:pt x="659" y="1613"/>
                  <a:pt x="659" y="1613"/>
                  <a:pt x="659" y="1613"/>
                </a:cubicBezTo>
                <a:cubicBezTo>
                  <a:pt x="660" y="1612"/>
                  <a:pt x="661" y="1610"/>
                  <a:pt x="662" y="1609"/>
                </a:cubicBezTo>
                <a:cubicBezTo>
                  <a:pt x="670" y="1597"/>
                  <a:pt x="678" y="1585"/>
                  <a:pt x="686" y="1572"/>
                </a:cubicBezTo>
                <a:cubicBezTo>
                  <a:pt x="687" y="1572"/>
                  <a:pt x="687" y="1572"/>
                  <a:pt x="687" y="1572"/>
                </a:cubicBezTo>
                <a:cubicBezTo>
                  <a:pt x="689" y="1568"/>
                  <a:pt x="689" y="1568"/>
                  <a:pt x="689" y="1568"/>
                </a:cubicBezTo>
                <a:cubicBezTo>
                  <a:pt x="692" y="1565"/>
                  <a:pt x="695" y="1562"/>
                  <a:pt x="699" y="1559"/>
                </a:cubicBezTo>
                <a:cubicBezTo>
                  <a:pt x="702" y="1557"/>
                  <a:pt x="705" y="1555"/>
                  <a:pt x="708" y="1554"/>
                </a:cubicBezTo>
                <a:cubicBezTo>
                  <a:pt x="709" y="1553"/>
                  <a:pt x="710" y="1553"/>
                  <a:pt x="711" y="1552"/>
                </a:cubicBezTo>
                <a:cubicBezTo>
                  <a:pt x="712" y="1552"/>
                  <a:pt x="712" y="1552"/>
                  <a:pt x="713" y="1551"/>
                </a:cubicBezTo>
                <a:cubicBezTo>
                  <a:pt x="713" y="1551"/>
                  <a:pt x="714" y="1551"/>
                  <a:pt x="714" y="1551"/>
                </a:cubicBezTo>
                <a:cubicBezTo>
                  <a:pt x="715" y="1551"/>
                  <a:pt x="715" y="1551"/>
                  <a:pt x="716" y="1550"/>
                </a:cubicBezTo>
                <a:cubicBezTo>
                  <a:pt x="720" y="1549"/>
                  <a:pt x="725" y="1547"/>
                  <a:pt x="730" y="1546"/>
                </a:cubicBezTo>
                <a:cubicBezTo>
                  <a:pt x="735" y="1545"/>
                  <a:pt x="741" y="1544"/>
                  <a:pt x="747" y="1544"/>
                </a:cubicBezTo>
                <a:cubicBezTo>
                  <a:pt x="763" y="1544"/>
                  <a:pt x="763" y="1544"/>
                  <a:pt x="763" y="1544"/>
                </a:cubicBezTo>
                <a:cubicBezTo>
                  <a:pt x="767" y="1544"/>
                  <a:pt x="770" y="1544"/>
                  <a:pt x="774" y="1544"/>
                </a:cubicBezTo>
                <a:cubicBezTo>
                  <a:pt x="789" y="1544"/>
                  <a:pt x="803" y="1544"/>
                  <a:pt x="818" y="1544"/>
                </a:cubicBezTo>
                <a:cubicBezTo>
                  <a:pt x="818" y="1544"/>
                  <a:pt x="818" y="1544"/>
                  <a:pt x="818" y="1544"/>
                </a:cubicBezTo>
                <a:cubicBezTo>
                  <a:pt x="824" y="1544"/>
                  <a:pt x="824" y="1544"/>
                  <a:pt x="824" y="1544"/>
                </a:cubicBezTo>
                <a:cubicBezTo>
                  <a:pt x="830" y="1544"/>
                  <a:pt x="835" y="1545"/>
                  <a:pt x="839" y="1546"/>
                </a:cubicBezTo>
                <a:cubicBezTo>
                  <a:pt x="843" y="1547"/>
                  <a:pt x="845" y="1548"/>
                  <a:pt x="847" y="1549"/>
                </a:cubicBezTo>
                <a:cubicBezTo>
                  <a:pt x="854" y="1553"/>
                  <a:pt x="858" y="1559"/>
                  <a:pt x="853" y="1568"/>
                </a:cubicBezTo>
                <a:cubicBezTo>
                  <a:pt x="848" y="1579"/>
                  <a:pt x="841" y="1590"/>
                  <a:pt x="835" y="1600"/>
                </a:cubicBezTo>
                <a:cubicBezTo>
                  <a:pt x="828" y="1613"/>
                  <a:pt x="828" y="1613"/>
                  <a:pt x="828" y="1613"/>
                </a:cubicBezTo>
                <a:cubicBezTo>
                  <a:pt x="828" y="1613"/>
                  <a:pt x="828" y="1613"/>
                  <a:pt x="828" y="1613"/>
                </a:cubicBezTo>
                <a:close/>
                <a:moveTo>
                  <a:pt x="1592" y="1771"/>
                </a:moveTo>
                <a:cubicBezTo>
                  <a:pt x="1592" y="1773"/>
                  <a:pt x="1592" y="1775"/>
                  <a:pt x="1591" y="1777"/>
                </a:cubicBezTo>
                <a:cubicBezTo>
                  <a:pt x="1591" y="1778"/>
                  <a:pt x="1591" y="1778"/>
                  <a:pt x="1591" y="1778"/>
                </a:cubicBezTo>
                <a:cubicBezTo>
                  <a:pt x="1590" y="1780"/>
                  <a:pt x="1590" y="1782"/>
                  <a:pt x="1589" y="1783"/>
                </a:cubicBezTo>
                <a:cubicBezTo>
                  <a:pt x="1589" y="1783"/>
                  <a:pt x="1589" y="1783"/>
                  <a:pt x="1589" y="1784"/>
                </a:cubicBezTo>
                <a:cubicBezTo>
                  <a:pt x="1588" y="1784"/>
                  <a:pt x="1588" y="1784"/>
                  <a:pt x="1588" y="1784"/>
                </a:cubicBezTo>
                <a:cubicBezTo>
                  <a:pt x="1587" y="1786"/>
                  <a:pt x="1586" y="1788"/>
                  <a:pt x="1584" y="1789"/>
                </a:cubicBezTo>
                <a:cubicBezTo>
                  <a:pt x="1584" y="1789"/>
                  <a:pt x="1584" y="1789"/>
                  <a:pt x="1584" y="1789"/>
                </a:cubicBezTo>
                <a:cubicBezTo>
                  <a:pt x="1582" y="1791"/>
                  <a:pt x="1581" y="1792"/>
                  <a:pt x="1579" y="1794"/>
                </a:cubicBezTo>
                <a:cubicBezTo>
                  <a:pt x="1578" y="1794"/>
                  <a:pt x="1578" y="1794"/>
                  <a:pt x="1578" y="1794"/>
                </a:cubicBezTo>
                <a:cubicBezTo>
                  <a:pt x="1578" y="1794"/>
                  <a:pt x="1577" y="1795"/>
                  <a:pt x="1577" y="1795"/>
                </a:cubicBezTo>
                <a:cubicBezTo>
                  <a:pt x="1575" y="1796"/>
                  <a:pt x="1573" y="1797"/>
                  <a:pt x="1571" y="1798"/>
                </a:cubicBezTo>
                <a:cubicBezTo>
                  <a:pt x="1571" y="1798"/>
                  <a:pt x="1571" y="1798"/>
                  <a:pt x="1570" y="1798"/>
                </a:cubicBezTo>
                <a:cubicBezTo>
                  <a:pt x="1569" y="1799"/>
                  <a:pt x="1567" y="1800"/>
                  <a:pt x="1566" y="1800"/>
                </a:cubicBezTo>
                <a:cubicBezTo>
                  <a:pt x="1565" y="1800"/>
                  <a:pt x="1564" y="1801"/>
                  <a:pt x="1563" y="1801"/>
                </a:cubicBezTo>
                <a:cubicBezTo>
                  <a:pt x="1563" y="1801"/>
                  <a:pt x="1563" y="1801"/>
                  <a:pt x="1562" y="1801"/>
                </a:cubicBezTo>
                <a:cubicBezTo>
                  <a:pt x="1562" y="1801"/>
                  <a:pt x="1561" y="1801"/>
                  <a:pt x="1561" y="1802"/>
                </a:cubicBezTo>
                <a:cubicBezTo>
                  <a:pt x="1559" y="1802"/>
                  <a:pt x="1557" y="1802"/>
                  <a:pt x="1555" y="1803"/>
                </a:cubicBezTo>
                <a:cubicBezTo>
                  <a:pt x="1553" y="1803"/>
                  <a:pt x="1551" y="1803"/>
                  <a:pt x="1550" y="1803"/>
                </a:cubicBezTo>
                <a:cubicBezTo>
                  <a:pt x="1548" y="1804"/>
                  <a:pt x="1546" y="1804"/>
                  <a:pt x="1544" y="1804"/>
                </a:cubicBezTo>
                <a:cubicBezTo>
                  <a:pt x="1544" y="1804"/>
                  <a:pt x="1543" y="1804"/>
                  <a:pt x="1542" y="1804"/>
                </a:cubicBezTo>
                <a:cubicBezTo>
                  <a:pt x="1540" y="1804"/>
                  <a:pt x="1540" y="1804"/>
                  <a:pt x="1540" y="1804"/>
                </a:cubicBezTo>
                <a:cubicBezTo>
                  <a:pt x="1540" y="1804"/>
                  <a:pt x="1540" y="1804"/>
                  <a:pt x="1540" y="1804"/>
                </a:cubicBezTo>
                <a:cubicBezTo>
                  <a:pt x="1530" y="1804"/>
                  <a:pt x="1519" y="1804"/>
                  <a:pt x="1509" y="1804"/>
                </a:cubicBezTo>
                <a:cubicBezTo>
                  <a:pt x="1461" y="1804"/>
                  <a:pt x="908" y="1806"/>
                  <a:pt x="869" y="1806"/>
                </a:cubicBezTo>
                <a:cubicBezTo>
                  <a:pt x="866" y="1806"/>
                  <a:pt x="863" y="1806"/>
                  <a:pt x="861" y="1805"/>
                </a:cubicBezTo>
                <a:cubicBezTo>
                  <a:pt x="857" y="1805"/>
                  <a:pt x="853" y="1804"/>
                  <a:pt x="850" y="1803"/>
                </a:cubicBezTo>
                <a:cubicBezTo>
                  <a:pt x="845" y="1802"/>
                  <a:pt x="841" y="1799"/>
                  <a:pt x="838" y="1796"/>
                </a:cubicBezTo>
                <a:cubicBezTo>
                  <a:pt x="835" y="1793"/>
                  <a:pt x="833" y="1790"/>
                  <a:pt x="832" y="1786"/>
                </a:cubicBezTo>
                <a:cubicBezTo>
                  <a:pt x="832" y="1782"/>
                  <a:pt x="832" y="1778"/>
                  <a:pt x="834" y="1773"/>
                </a:cubicBezTo>
                <a:cubicBezTo>
                  <a:pt x="836" y="1771"/>
                  <a:pt x="836" y="1771"/>
                  <a:pt x="836" y="1771"/>
                </a:cubicBezTo>
                <a:cubicBezTo>
                  <a:pt x="836" y="1771"/>
                  <a:pt x="836" y="1771"/>
                  <a:pt x="836" y="1771"/>
                </a:cubicBezTo>
                <a:cubicBezTo>
                  <a:pt x="842" y="1758"/>
                  <a:pt x="848" y="1745"/>
                  <a:pt x="854" y="1732"/>
                </a:cubicBezTo>
                <a:cubicBezTo>
                  <a:pt x="856" y="1730"/>
                  <a:pt x="857" y="1728"/>
                  <a:pt x="858" y="1726"/>
                </a:cubicBezTo>
                <a:cubicBezTo>
                  <a:pt x="862" y="1716"/>
                  <a:pt x="862" y="1716"/>
                  <a:pt x="862" y="1716"/>
                </a:cubicBezTo>
                <a:cubicBezTo>
                  <a:pt x="864" y="1712"/>
                  <a:pt x="868" y="1708"/>
                  <a:pt x="872" y="1704"/>
                </a:cubicBezTo>
                <a:cubicBezTo>
                  <a:pt x="873" y="1704"/>
                  <a:pt x="874" y="1703"/>
                  <a:pt x="875" y="1702"/>
                </a:cubicBezTo>
                <a:cubicBezTo>
                  <a:pt x="875" y="1702"/>
                  <a:pt x="876" y="1701"/>
                  <a:pt x="877" y="1701"/>
                </a:cubicBezTo>
                <a:cubicBezTo>
                  <a:pt x="878" y="1700"/>
                  <a:pt x="878" y="1700"/>
                  <a:pt x="879" y="1699"/>
                </a:cubicBezTo>
                <a:cubicBezTo>
                  <a:pt x="880" y="1699"/>
                  <a:pt x="880" y="1699"/>
                  <a:pt x="880" y="1699"/>
                </a:cubicBezTo>
                <a:cubicBezTo>
                  <a:pt x="881" y="1698"/>
                  <a:pt x="881" y="1698"/>
                  <a:pt x="882" y="1698"/>
                </a:cubicBezTo>
                <a:cubicBezTo>
                  <a:pt x="883" y="1697"/>
                  <a:pt x="885" y="1696"/>
                  <a:pt x="886" y="1695"/>
                </a:cubicBezTo>
                <a:cubicBezTo>
                  <a:pt x="887" y="1695"/>
                  <a:pt x="888" y="1695"/>
                  <a:pt x="889" y="1694"/>
                </a:cubicBezTo>
                <a:cubicBezTo>
                  <a:pt x="890" y="1694"/>
                  <a:pt x="891" y="1693"/>
                  <a:pt x="893" y="1693"/>
                </a:cubicBezTo>
                <a:cubicBezTo>
                  <a:pt x="895" y="1692"/>
                  <a:pt x="897" y="1691"/>
                  <a:pt x="899" y="1690"/>
                </a:cubicBezTo>
                <a:cubicBezTo>
                  <a:pt x="900" y="1690"/>
                  <a:pt x="901" y="1690"/>
                  <a:pt x="903" y="1689"/>
                </a:cubicBezTo>
                <a:cubicBezTo>
                  <a:pt x="903" y="1689"/>
                  <a:pt x="904" y="1689"/>
                  <a:pt x="904" y="1689"/>
                </a:cubicBezTo>
                <a:cubicBezTo>
                  <a:pt x="910" y="1687"/>
                  <a:pt x="917" y="1687"/>
                  <a:pt x="923" y="1687"/>
                </a:cubicBezTo>
                <a:cubicBezTo>
                  <a:pt x="923" y="1687"/>
                  <a:pt x="1503" y="1685"/>
                  <a:pt x="1525" y="1685"/>
                </a:cubicBezTo>
                <a:cubicBezTo>
                  <a:pt x="1531" y="1685"/>
                  <a:pt x="1538" y="1685"/>
                  <a:pt x="1545" y="1685"/>
                </a:cubicBezTo>
                <a:cubicBezTo>
                  <a:pt x="1548" y="1685"/>
                  <a:pt x="1551" y="1685"/>
                  <a:pt x="1554" y="1686"/>
                </a:cubicBezTo>
                <a:cubicBezTo>
                  <a:pt x="1554" y="1686"/>
                  <a:pt x="1555" y="1686"/>
                  <a:pt x="1555" y="1686"/>
                </a:cubicBezTo>
                <a:cubicBezTo>
                  <a:pt x="1557" y="1686"/>
                  <a:pt x="1560" y="1686"/>
                  <a:pt x="1562" y="1687"/>
                </a:cubicBezTo>
                <a:cubicBezTo>
                  <a:pt x="1562" y="1687"/>
                  <a:pt x="1563" y="1687"/>
                  <a:pt x="1563" y="1687"/>
                </a:cubicBezTo>
                <a:cubicBezTo>
                  <a:pt x="1563" y="1687"/>
                  <a:pt x="1563" y="1687"/>
                  <a:pt x="1563" y="1687"/>
                </a:cubicBezTo>
                <a:cubicBezTo>
                  <a:pt x="1566" y="1688"/>
                  <a:pt x="1568" y="1689"/>
                  <a:pt x="1570" y="1690"/>
                </a:cubicBezTo>
                <a:cubicBezTo>
                  <a:pt x="1570" y="1690"/>
                  <a:pt x="1571" y="1690"/>
                  <a:pt x="1571" y="1690"/>
                </a:cubicBezTo>
                <a:cubicBezTo>
                  <a:pt x="1573" y="1691"/>
                  <a:pt x="1575" y="1692"/>
                  <a:pt x="1577" y="1693"/>
                </a:cubicBezTo>
                <a:cubicBezTo>
                  <a:pt x="1577" y="1693"/>
                  <a:pt x="1577" y="1693"/>
                  <a:pt x="1578" y="1693"/>
                </a:cubicBezTo>
                <a:cubicBezTo>
                  <a:pt x="1578" y="1694"/>
                  <a:pt x="1578" y="1694"/>
                  <a:pt x="1578" y="1694"/>
                </a:cubicBezTo>
                <a:cubicBezTo>
                  <a:pt x="1580" y="1695"/>
                  <a:pt x="1581" y="1696"/>
                  <a:pt x="1582" y="1697"/>
                </a:cubicBezTo>
                <a:cubicBezTo>
                  <a:pt x="1584" y="1698"/>
                  <a:pt x="1586" y="1700"/>
                  <a:pt x="1588" y="1703"/>
                </a:cubicBezTo>
                <a:cubicBezTo>
                  <a:pt x="1590" y="1706"/>
                  <a:pt x="1592" y="1710"/>
                  <a:pt x="1592" y="1714"/>
                </a:cubicBezTo>
                <a:cubicBezTo>
                  <a:pt x="1592" y="1717"/>
                  <a:pt x="1592" y="1717"/>
                  <a:pt x="1592" y="1717"/>
                </a:cubicBezTo>
                <a:cubicBezTo>
                  <a:pt x="1592" y="1717"/>
                  <a:pt x="1592" y="1717"/>
                  <a:pt x="1592" y="1717"/>
                </a:cubicBezTo>
                <a:cubicBezTo>
                  <a:pt x="1592" y="1731"/>
                  <a:pt x="1592" y="1746"/>
                  <a:pt x="1592" y="1760"/>
                </a:cubicBezTo>
                <a:cubicBezTo>
                  <a:pt x="1592" y="1764"/>
                  <a:pt x="1593" y="1767"/>
                  <a:pt x="1592" y="1771"/>
                </a:cubicBezTo>
                <a:close/>
                <a:moveTo>
                  <a:pt x="1671" y="1490"/>
                </a:moveTo>
                <a:cubicBezTo>
                  <a:pt x="1671" y="1490"/>
                  <a:pt x="1670" y="1489"/>
                  <a:pt x="1670" y="1489"/>
                </a:cubicBezTo>
                <a:cubicBezTo>
                  <a:pt x="1670" y="1489"/>
                  <a:pt x="1669" y="1489"/>
                  <a:pt x="1669" y="1488"/>
                </a:cubicBezTo>
                <a:cubicBezTo>
                  <a:pt x="1667" y="1486"/>
                  <a:pt x="1666" y="1483"/>
                  <a:pt x="1665" y="1480"/>
                </a:cubicBezTo>
                <a:cubicBezTo>
                  <a:pt x="1665" y="1477"/>
                  <a:pt x="1665" y="1477"/>
                  <a:pt x="1665" y="1477"/>
                </a:cubicBezTo>
                <a:cubicBezTo>
                  <a:pt x="1665" y="1475"/>
                  <a:pt x="1665" y="1473"/>
                  <a:pt x="1665" y="1471"/>
                </a:cubicBezTo>
                <a:cubicBezTo>
                  <a:pt x="1665" y="1471"/>
                  <a:pt x="1665" y="1471"/>
                  <a:pt x="1665" y="1471"/>
                </a:cubicBezTo>
                <a:cubicBezTo>
                  <a:pt x="1664" y="1463"/>
                  <a:pt x="1662" y="1454"/>
                  <a:pt x="1663" y="1445"/>
                </a:cubicBezTo>
                <a:cubicBezTo>
                  <a:pt x="1663" y="1443"/>
                  <a:pt x="1663" y="1443"/>
                  <a:pt x="1663" y="1443"/>
                </a:cubicBezTo>
                <a:cubicBezTo>
                  <a:pt x="1662" y="1440"/>
                  <a:pt x="1663" y="1437"/>
                  <a:pt x="1665" y="1435"/>
                </a:cubicBezTo>
                <a:cubicBezTo>
                  <a:pt x="1667" y="1433"/>
                  <a:pt x="1669" y="1431"/>
                  <a:pt x="1673" y="1429"/>
                </a:cubicBezTo>
                <a:cubicBezTo>
                  <a:pt x="1676" y="1427"/>
                  <a:pt x="1680" y="1426"/>
                  <a:pt x="1684" y="1425"/>
                </a:cubicBezTo>
                <a:cubicBezTo>
                  <a:pt x="1684" y="1425"/>
                  <a:pt x="1684" y="1425"/>
                  <a:pt x="1684" y="1425"/>
                </a:cubicBezTo>
                <a:cubicBezTo>
                  <a:pt x="1685" y="1425"/>
                  <a:pt x="1685" y="1425"/>
                  <a:pt x="1685" y="1425"/>
                </a:cubicBezTo>
                <a:cubicBezTo>
                  <a:pt x="1687" y="1424"/>
                  <a:pt x="1689" y="1424"/>
                  <a:pt x="1690" y="1424"/>
                </a:cubicBezTo>
                <a:cubicBezTo>
                  <a:pt x="1691" y="1424"/>
                  <a:pt x="1692" y="1424"/>
                  <a:pt x="1693" y="1424"/>
                </a:cubicBezTo>
                <a:cubicBezTo>
                  <a:pt x="1700" y="1423"/>
                  <a:pt x="1708" y="1423"/>
                  <a:pt x="1716" y="1423"/>
                </a:cubicBezTo>
                <a:cubicBezTo>
                  <a:pt x="1769" y="1423"/>
                  <a:pt x="1769" y="1423"/>
                  <a:pt x="1769" y="1423"/>
                </a:cubicBezTo>
                <a:cubicBezTo>
                  <a:pt x="1772" y="1423"/>
                  <a:pt x="1775" y="1423"/>
                  <a:pt x="1778" y="1424"/>
                </a:cubicBezTo>
                <a:cubicBezTo>
                  <a:pt x="1792" y="1425"/>
                  <a:pt x="1808" y="1429"/>
                  <a:pt x="1810" y="1442"/>
                </a:cubicBezTo>
                <a:cubicBezTo>
                  <a:pt x="1814" y="1454"/>
                  <a:pt x="1815" y="1466"/>
                  <a:pt x="1817" y="1478"/>
                </a:cubicBezTo>
                <a:cubicBezTo>
                  <a:pt x="1818" y="1480"/>
                  <a:pt x="1818" y="1480"/>
                  <a:pt x="1818" y="1480"/>
                </a:cubicBezTo>
                <a:cubicBezTo>
                  <a:pt x="1818" y="1482"/>
                  <a:pt x="1818" y="1485"/>
                  <a:pt x="1817" y="1487"/>
                </a:cubicBezTo>
                <a:cubicBezTo>
                  <a:pt x="1817" y="1487"/>
                  <a:pt x="1817" y="1488"/>
                  <a:pt x="1816" y="1488"/>
                </a:cubicBezTo>
                <a:cubicBezTo>
                  <a:pt x="1816" y="1488"/>
                  <a:pt x="1816" y="1488"/>
                  <a:pt x="1816" y="1488"/>
                </a:cubicBezTo>
                <a:cubicBezTo>
                  <a:pt x="1816" y="1488"/>
                  <a:pt x="1816" y="1488"/>
                  <a:pt x="1816" y="1488"/>
                </a:cubicBezTo>
                <a:cubicBezTo>
                  <a:pt x="1813" y="1494"/>
                  <a:pt x="1807" y="1497"/>
                  <a:pt x="1799" y="1499"/>
                </a:cubicBezTo>
                <a:cubicBezTo>
                  <a:pt x="1798" y="1499"/>
                  <a:pt x="1798" y="1499"/>
                  <a:pt x="1797" y="1499"/>
                </a:cubicBezTo>
                <a:cubicBezTo>
                  <a:pt x="1796" y="1500"/>
                  <a:pt x="1796" y="1500"/>
                  <a:pt x="1795" y="1500"/>
                </a:cubicBezTo>
                <a:cubicBezTo>
                  <a:pt x="1794" y="1500"/>
                  <a:pt x="1794" y="1500"/>
                  <a:pt x="1793" y="1500"/>
                </a:cubicBezTo>
                <a:cubicBezTo>
                  <a:pt x="1792" y="1500"/>
                  <a:pt x="1790" y="1501"/>
                  <a:pt x="1789" y="1501"/>
                </a:cubicBezTo>
                <a:cubicBezTo>
                  <a:pt x="1771" y="1503"/>
                  <a:pt x="1750" y="1501"/>
                  <a:pt x="1741" y="1501"/>
                </a:cubicBezTo>
                <a:cubicBezTo>
                  <a:pt x="1707" y="1501"/>
                  <a:pt x="1707" y="1501"/>
                  <a:pt x="1707" y="1501"/>
                </a:cubicBezTo>
                <a:cubicBezTo>
                  <a:pt x="1704" y="1501"/>
                  <a:pt x="1702" y="1501"/>
                  <a:pt x="1699" y="1501"/>
                </a:cubicBezTo>
                <a:cubicBezTo>
                  <a:pt x="1697" y="1501"/>
                  <a:pt x="1695" y="1500"/>
                  <a:pt x="1693" y="1500"/>
                </a:cubicBezTo>
                <a:cubicBezTo>
                  <a:pt x="1693" y="1500"/>
                  <a:pt x="1692" y="1500"/>
                  <a:pt x="1692" y="1500"/>
                </a:cubicBezTo>
                <a:cubicBezTo>
                  <a:pt x="1691" y="1500"/>
                  <a:pt x="1691" y="1500"/>
                  <a:pt x="1691" y="1500"/>
                </a:cubicBezTo>
                <a:cubicBezTo>
                  <a:pt x="1689" y="1499"/>
                  <a:pt x="1687" y="1499"/>
                  <a:pt x="1685" y="1498"/>
                </a:cubicBezTo>
                <a:cubicBezTo>
                  <a:pt x="1684" y="1498"/>
                  <a:pt x="1684" y="1497"/>
                  <a:pt x="1683" y="1497"/>
                </a:cubicBezTo>
                <a:cubicBezTo>
                  <a:pt x="1681" y="1496"/>
                  <a:pt x="1680" y="1496"/>
                  <a:pt x="1678" y="1495"/>
                </a:cubicBezTo>
                <a:cubicBezTo>
                  <a:pt x="1676" y="1494"/>
                  <a:pt x="1674" y="1492"/>
                  <a:pt x="1672" y="1491"/>
                </a:cubicBezTo>
                <a:cubicBezTo>
                  <a:pt x="1672" y="1491"/>
                  <a:pt x="1671" y="1490"/>
                  <a:pt x="1671" y="1490"/>
                </a:cubicBezTo>
                <a:close/>
                <a:moveTo>
                  <a:pt x="1680" y="1622"/>
                </a:moveTo>
                <a:cubicBezTo>
                  <a:pt x="1677" y="1618"/>
                  <a:pt x="1676" y="1615"/>
                  <a:pt x="1675" y="1612"/>
                </a:cubicBezTo>
                <a:cubicBezTo>
                  <a:pt x="1675" y="1607"/>
                  <a:pt x="1675" y="1607"/>
                  <a:pt x="1675" y="1607"/>
                </a:cubicBezTo>
                <a:cubicBezTo>
                  <a:pt x="1675" y="1607"/>
                  <a:pt x="1675" y="1607"/>
                  <a:pt x="1675" y="1607"/>
                </a:cubicBezTo>
                <a:cubicBezTo>
                  <a:pt x="1674" y="1593"/>
                  <a:pt x="1673" y="1580"/>
                  <a:pt x="1672" y="1567"/>
                </a:cubicBezTo>
                <a:cubicBezTo>
                  <a:pt x="1672" y="1567"/>
                  <a:pt x="1672" y="1567"/>
                  <a:pt x="1672" y="1567"/>
                </a:cubicBezTo>
                <a:cubicBezTo>
                  <a:pt x="1672" y="1566"/>
                  <a:pt x="1672" y="1566"/>
                  <a:pt x="1672" y="1566"/>
                </a:cubicBezTo>
                <a:cubicBezTo>
                  <a:pt x="1672" y="1565"/>
                  <a:pt x="1672" y="1564"/>
                  <a:pt x="1672" y="1563"/>
                </a:cubicBezTo>
                <a:cubicBezTo>
                  <a:pt x="1675" y="1535"/>
                  <a:pt x="1735" y="1542"/>
                  <a:pt x="1754" y="1542"/>
                </a:cubicBezTo>
                <a:cubicBezTo>
                  <a:pt x="1776" y="1542"/>
                  <a:pt x="1819" y="1537"/>
                  <a:pt x="1832" y="1559"/>
                </a:cubicBezTo>
                <a:cubicBezTo>
                  <a:pt x="1833" y="1561"/>
                  <a:pt x="1835" y="1563"/>
                  <a:pt x="1835" y="1565"/>
                </a:cubicBezTo>
                <a:cubicBezTo>
                  <a:pt x="1836" y="1568"/>
                  <a:pt x="1836" y="1568"/>
                  <a:pt x="1836" y="1568"/>
                </a:cubicBezTo>
                <a:cubicBezTo>
                  <a:pt x="1836" y="1568"/>
                  <a:pt x="1836" y="1568"/>
                  <a:pt x="1836" y="1568"/>
                </a:cubicBezTo>
                <a:cubicBezTo>
                  <a:pt x="1837" y="1575"/>
                  <a:pt x="1838" y="1581"/>
                  <a:pt x="1840" y="1588"/>
                </a:cubicBezTo>
                <a:cubicBezTo>
                  <a:pt x="1844" y="1611"/>
                  <a:pt x="1844" y="1611"/>
                  <a:pt x="1844" y="1611"/>
                </a:cubicBezTo>
                <a:cubicBezTo>
                  <a:pt x="1845" y="1615"/>
                  <a:pt x="1844" y="1618"/>
                  <a:pt x="1843" y="1621"/>
                </a:cubicBezTo>
                <a:cubicBezTo>
                  <a:pt x="1842" y="1623"/>
                  <a:pt x="1840" y="1625"/>
                  <a:pt x="1838" y="1627"/>
                </a:cubicBezTo>
                <a:cubicBezTo>
                  <a:pt x="1838" y="1627"/>
                  <a:pt x="1837" y="1628"/>
                  <a:pt x="1836" y="1629"/>
                </a:cubicBezTo>
                <a:cubicBezTo>
                  <a:pt x="1836" y="1629"/>
                  <a:pt x="1835" y="1629"/>
                  <a:pt x="1835" y="1630"/>
                </a:cubicBezTo>
                <a:cubicBezTo>
                  <a:pt x="1835" y="1630"/>
                  <a:pt x="1834" y="1630"/>
                  <a:pt x="1834" y="1630"/>
                </a:cubicBezTo>
                <a:cubicBezTo>
                  <a:pt x="1833" y="1631"/>
                  <a:pt x="1832" y="1631"/>
                  <a:pt x="1830" y="1632"/>
                </a:cubicBezTo>
                <a:cubicBezTo>
                  <a:pt x="1829" y="1633"/>
                  <a:pt x="1828" y="1633"/>
                  <a:pt x="1827" y="1634"/>
                </a:cubicBezTo>
                <a:cubicBezTo>
                  <a:pt x="1826" y="1634"/>
                  <a:pt x="1825" y="1634"/>
                  <a:pt x="1825" y="1634"/>
                </a:cubicBezTo>
                <a:cubicBezTo>
                  <a:pt x="1824" y="1635"/>
                  <a:pt x="1823" y="1635"/>
                  <a:pt x="1822" y="1635"/>
                </a:cubicBezTo>
                <a:cubicBezTo>
                  <a:pt x="1821" y="1635"/>
                  <a:pt x="1820" y="1636"/>
                  <a:pt x="1819" y="1636"/>
                </a:cubicBezTo>
                <a:cubicBezTo>
                  <a:pt x="1818" y="1636"/>
                  <a:pt x="1818" y="1636"/>
                  <a:pt x="1818" y="1636"/>
                </a:cubicBezTo>
                <a:cubicBezTo>
                  <a:pt x="1816" y="1636"/>
                  <a:pt x="1814" y="1637"/>
                  <a:pt x="1812" y="1637"/>
                </a:cubicBezTo>
                <a:cubicBezTo>
                  <a:pt x="1809" y="1637"/>
                  <a:pt x="1807" y="1637"/>
                  <a:pt x="1805" y="1637"/>
                </a:cubicBezTo>
                <a:cubicBezTo>
                  <a:pt x="1805" y="1637"/>
                  <a:pt x="1805" y="1637"/>
                  <a:pt x="1805" y="1637"/>
                </a:cubicBezTo>
                <a:cubicBezTo>
                  <a:pt x="1804" y="1637"/>
                  <a:pt x="1804" y="1637"/>
                  <a:pt x="1804" y="1637"/>
                </a:cubicBezTo>
                <a:cubicBezTo>
                  <a:pt x="1804" y="1637"/>
                  <a:pt x="1804" y="1637"/>
                  <a:pt x="1804" y="1637"/>
                </a:cubicBezTo>
                <a:cubicBezTo>
                  <a:pt x="1777" y="1637"/>
                  <a:pt x="1750" y="1637"/>
                  <a:pt x="1722" y="1638"/>
                </a:cubicBezTo>
                <a:cubicBezTo>
                  <a:pt x="1719" y="1638"/>
                  <a:pt x="1716" y="1637"/>
                  <a:pt x="1714" y="1637"/>
                </a:cubicBezTo>
                <a:cubicBezTo>
                  <a:pt x="1713" y="1637"/>
                  <a:pt x="1712" y="1637"/>
                  <a:pt x="1712" y="1637"/>
                </a:cubicBezTo>
                <a:cubicBezTo>
                  <a:pt x="1709" y="1636"/>
                  <a:pt x="1707" y="1636"/>
                  <a:pt x="1705" y="1636"/>
                </a:cubicBezTo>
                <a:cubicBezTo>
                  <a:pt x="1705" y="1636"/>
                  <a:pt x="1705" y="1636"/>
                  <a:pt x="1705" y="1636"/>
                </a:cubicBezTo>
                <a:cubicBezTo>
                  <a:pt x="1704" y="1635"/>
                  <a:pt x="1704" y="1635"/>
                  <a:pt x="1704" y="1635"/>
                </a:cubicBezTo>
                <a:cubicBezTo>
                  <a:pt x="1701" y="1635"/>
                  <a:pt x="1699" y="1634"/>
                  <a:pt x="1697" y="1633"/>
                </a:cubicBezTo>
                <a:cubicBezTo>
                  <a:pt x="1696" y="1633"/>
                  <a:pt x="1695" y="1632"/>
                  <a:pt x="1695" y="1632"/>
                </a:cubicBezTo>
                <a:cubicBezTo>
                  <a:pt x="1693" y="1632"/>
                  <a:pt x="1692" y="1631"/>
                  <a:pt x="1691" y="1630"/>
                </a:cubicBezTo>
                <a:cubicBezTo>
                  <a:pt x="1691" y="1630"/>
                  <a:pt x="1690" y="1630"/>
                  <a:pt x="1690" y="1630"/>
                </a:cubicBezTo>
                <a:cubicBezTo>
                  <a:pt x="1686" y="1628"/>
                  <a:pt x="1682" y="1625"/>
                  <a:pt x="1680" y="1622"/>
                </a:cubicBezTo>
                <a:close/>
                <a:moveTo>
                  <a:pt x="1875" y="1783"/>
                </a:moveTo>
                <a:cubicBezTo>
                  <a:pt x="1873" y="1787"/>
                  <a:pt x="1870" y="1790"/>
                  <a:pt x="1866" y="1793"/>
                </a:cubicBezTo>
                <a:cubicBezTo>
                  <a:pt x="1862" y="1796"/>
                  <a:pt x="1858" y="1799"/>
                  <a:pt x="1852" y="1800"/>
                </a:cubicBezTo>
                <a:cubicBezTo>
                  <a:pt x="1846" y="1802"/>
                  <a:pt x="1840" y="1803"/>
                  <a:pt x="1833" y="1803"/>
                </a:cubicBezTo>
                <a:cubicBezTo>
                  <a:pt x="1815" y="1803"/>
                  <a:pt x="1815" y="1803"/>
                  <a:pt x="1815" y="1803"/>
                </a:cubicBezTo>
                <a:cubicBezTo>
                  <a:pt x="1814" y="1803"/>
                  <a:pt x="1814" y="1803"/>
                  <a:pt x="1814" y="1803"/>
                </a:cubicBezTo>
                <a:cubicBezTo>
                  <a:pt x="1789" y="1803"/>
                  <a:pt x="1765" y="1803"/>
                  <a:pt x="1740" y="1803"/>
                </a:cubicBezTo>
                <a:cubicBezTo>
                  <a:pt x="1737" y="1803"/>
                  <a:pt x="1734" y="1803"/>
                  <a:pt x="1731" y="1803"/>
                </a:cubicBezTo>
                <a:cubicBezTo>
                  <a:pt x="1730" y="1803"/>
                  <a:pt x="1730" y="1803"/>
                  <a:pt x="1729" y="1803"/>
                </a:cubicBezTo>
                <a:cubicBezTo>
                  <a:pt x="1726" y="1802"/>
                  <a:pt x="1724" y="1802"/>
                  <a:pt x="1721" y="1801"/>
                </a:cubicBezTo>
                <a:cubicBezTo>
                  <a:pt x="1721" y="1801"/>
                  <a:pt x="1721" y="1801"/>
                  <a:pt x="1720" y="1801"/>
                </a:cubicBezTo>
                <a:cubicBezTo>
                  <a:pt x="1720" y="1801"/>
                  <a:pt x="1720" y="1801"/>
                  <a:pt x="1720" y="1801"/>
                </a:cubicBezTo>
                <a:cubicBezTo>
                  <a:pt x="1709" y="1798"/>
                  <a:pt x="1698" y="1792"/>
                  <a:pt x="1692" y="1783"/>
                </a:cubicBezTo>
                <a:cubicBezTo>
                  <a:pt x="1692" y="1783"/>
                  <a:pt x="1692" y="1783"/>
                  <a:pt x="1692" y="1783"/>
                </a:cubicBezTo>
                <a:cubicBezTo>
                  <a:pt x="1692" y="1783"/>
                  <a:pt x="1692" y="1783"/>
                  <a:pt x="1692" y="1783"/>
                </a:cubicBezTo>
                <a:cubicBezTo>
                  <a:pt x="1691" y="1782"/>
                  <a:pt x="1690" y="1780"/>
                  <a:pt x="1690" y="1778"/>
                </a:cubicBezTo>
                <a:cubicBezTo>
                  <a:pt x="1689" y="1777"/>
                  <a:pt x="1689" y="1776"/>
                  <a:pt x="1689" y="1775"/>
                </a:cubicBezTo>
                <a:cubicBezTo>
                  <a:pt x="1688" y="1774"/>
                  <a:pt x="1688" y="1773"/>
                  <a:pt x="1688" y="1772"/>
                </a:cubicBezTo>
                <a:cubicBezTo>
                  <a:pt x="1688" y="1772"/>
                  <a:pt x="1688" y="1771"/>
                  <a:pt x="1688" y="1771"/>
                </a:cubicBezTo>
                <a:cubicBezTo>
                  <a:pt x="1687" y="1769"/>
                  <a:pt x="1687" y="1769"/>
                  <a:pt x="1687" y="1769"/>
                </a:cubicBezTo>
                <a:cubicBezTo>
                  <a:pt x="1687" y="1769"/>
                  <a:pt x="1687" y="1769"/>
                  <a:pt x="1687" y="1769"/>
                </a:cubicBezTo>
                <a:cubicBezTo>
                  <a:pt x="1686" y="1756"/>
                  <a:pt x="1685" y="1742"/>
                  <a:pt x="1684" y="1728"/>
                </a:cubicBezTo>
                <a:cubicBezTo>
                  <a:pt x="1684" y="1725"/>
                  <a:pt x="1684" y="1723"/>
                  <a:pt x="1684" y="1721"/>
                </a:cubicBezTo>
                <a:cubicBezTo>
                  <a:pt x="1683" y="1714"/>
                  <a:pt x="1683" y="1714"/>
                  <a:pt x="1683" y="1714"/>
                </a:cubicBezTo>
                <a:cubicBezTo>
                  <a:pt x="1683" y="1713"/>
                  <a:pt x="1683" y="1713"/>
                  <a:pt x="1683" y="1713"/>
                </a:cubicBezTo>
                <a:cubicBezTo>
                  <a:pt x="1683" y="1711"/>
                  <a:pt x="1683" y="1710"/>
                  <a:pt x="1684" y="1709"/>
                </a:cubicBezTo>
                <a:cubicBezTo>
                  <a:pt x="1684" y="1708"/>
                  <a:pt x="1684" y="1707"/>
                  <a:pt x="1684" y="1707"/>
                </a:cubicBezTo>
                <a:cubicBezTo>
                  <a:pt x="1685" y="1706"/>
                  <a:pt x="1685" y="1705"/>
                  <a:pt x="1685" y="1704"/>
                </a:cubicBezTo>
                <a:cubicBezTo>
                  <a:pt x="1686" y="1703"/>
                  <a:pt x="1686" y="1703"/>
                  <a:pt x="1686" y="1702"/>
                </a:cubicBezTo>
                <a:cubicBezTo>
                  <a:pt x="1686" y="1702"/>
                  <a:pt x="1686" y="1702"/>
                  <a:pt x="1686" y="1702"/>
                </a:cubicBezTo>
                <a:cubicBezTo>
                  <a:pt x="1687" y="1700"/>
                  <a:pt x="1688" y="1699"/>
                  <a:pt x="1689" y="1698"/>
                </a:cubicBezTo>
                <a:cubicBezTo>
                  <a:pt x="1690" y="1697"/>
                  <a:pt x="1691" y="1697"/>
                  <a:pt x="1691" y="1696"/>
                </a:cubicBezTo>
                <a:cubicBezTo>
                  <a:pt x="1692" y="1695"/>
                  <a:pt x="1693" y="1695"/>
                  <a:pt x="1694" y="1694"/>
                </a:cubicBezTo>
                <a:cubicBezTo>
                  <a:pt x="1695" y="1694"/>
                  <a:pt x="1695" y="1693"/>
                  <a:pt x="1695" y="1693"/>
                </a:cubicBezTo>
                <a:cubicBezTo>
                  <a:pt x="1695" y="1693"/>
                  <a:pt x="1696" y="1693"/>
                  <a:pt x="1696" y="1693"/>
                </a:cubicBezTo>
                <a:cubicBezTo>
                  <a:pt x="1698" y="1692"/>
                  <a:pt x="1699" y="1691"/>
                  <a:pt x="1701" y="1690"/>
                </a:cubicBezTo>
                <a:cubicBezTo>
                  <a:pt x="1702" y="1690"/>
                  <a:pt x="1702" y="1689"/>
                  <a:pt x="1702" y="1689"/>
                </a:cubicBezTo>
                <a:cubicBezTo>
                  <a:pt x="1703" y="1689"/>
                  <a:pt x="1703" y="1689"/>
                  <a:pt x="1703" y="1689"/>
                </a:cubicBezTo>
                <a:cubicBezTo>
                  <a:pt x="1704" y="1689"/>
                  <a:pt x="1704" y="1689"/>
                  <a:pt x="1705" y="1688"/>
                </a:cubicBezTo>
                <a:cubicBezTo>
                  <a:pt x="1706" y="1688"/>
                  <a:pt x="1708" y="1687"/>
                  <a:pt x="1709" y="1687"/>
                </a:cubicBezTo>
                <a:cubicBezTo>
                  <a:pt x="1710" y="1687"/>
                  <a:pt x="1711" y="1686"/>
                  <a:pt x="1712" y="1686"/>
                </a:cubicBezTo>
                <a:cubicBezTo>
                  <a:pt x="1713" y="1686"/>
                  <a:pt x="1714" y="1686"/>
                  <a:pt x="1714" y="1686"/>
                </a:cubicBezTo>
                <a:cubicBezTo>
                  <a:pt x="1717" y="1685"/>
                  <a:pt x="1720" y="1685"/>
                  <a:pt x="1723" y="1685"/>
                </a:cubicBezTo>
                <a:cubicBezTo>
                  <a:pt x="1723" y="1685"/>
                  <a:pt x="1724" y="1685"/>
                  <a:pt x="1724" y="1685"/>
                </a:cubicBezTo>
                <a:cubicBezTo>
                  <a:pt x="1725" y="1685"/>
                  <a:pt x="1726" y="1685"/>
                  <a:pt x="1727" y="1685"/>
                </a:cubicBezTo>
                <a:cubicBezTo>
                  <a:pt x="1731" y="1685"/>
                  <a:pt x="1731" y="1685"/>
                  <a:pt x="1731" y="1685"/>
                </a:cubicBezTo>
                <a:cubicBezTo>
                  <a:pt x="1736" y="1684"/>
                  <a:pt x="1740" y="1684"/>
                  <a:pt x="1744" y="1684"/>
                </a:cubicBezTo>
                <a:cubicBezTo>
                  <a:pt x="1748" y="1684"/>
                  <a:pt x="1752" y="1684"/>
                  <a:pt x="1755" y="1684"/>
                </a:cubicBezTo>
                <a:cubicBezTo>
                  <a:pt x="1791" y="1684"/>
                  <a:pt x="1791" y="1684"/>
                  <a:pt x="1791" y="1684"/>
                </a:cubicBezTo>
                <a:cubicBezTo>
                  <a:pt x="1801" y="1684"/>
                  <a:pt x="1811" y="1684"/>
                  <a:pt x="1820" y="1685"/>
                </a:cubicBezTo>
                <a:cubicBezTo>
                  <a:pt x="1822" y="1685"/>
                  <a:pt x="1823" y="1685"/>
                  <a:pt x="1825" y="1685"/>
                </a:cubicBezTo>
                <a:cubicBezTo>
                  <a:pt x="1826" y="1686"/>
                  <a:pt x="1827" y="1686"/>
                  <a:pt x="1828" y="1686"/>
                </a:cubicBezTo>
                <a:cubicBezTo>
                  <a:pt x="1828" y="1686"/>
                  <a:pt x="1829" y="1686"/>
                  <a:pt x="1830" y="1686"/>
                </a:cubicBezTo>
                <a:cubicBezTo>
                  <a:pt x="1830" y="1686"/>
                  <a:pt x="1831" y="1686"/>
                  <a:pt x="1831" y="1687"/>
                </a:cubicBezTo>
                <a:cubicBezTo>
                  <a:pt x="1832" y="1687"/>
                  <a:pt x="1832" y="1687"/>
                  <a:pt x="1833" y="1687"/>
                </a:cubicBezTo>
                <a:cubicBezTo>
                  <a:pt x="1834" y="1687"/>
                  <a:pt x="1836" y="1688"/>
                  <a:pt x="1838" y="1689"/>
                </a:cubicBezTo>
                <a:cubicBezTo>
                  <a:pt x="1839" y="1689"/>
                  <a:pt x="1840" y="1689"/>
                  <a:pt x="1841" y="1690"/>
                </a:cubicBezTo>
                <a:cubicBezTo>
                  <a:pt x="1842" y="1690"/>
                  <a:pt x="1842" y="1690"/>
                  <a:pt x="1843" y="1691"/>
                </a:cubicBezTo>
                <a:cubicBezTo>
                  <a:pt x="1845" y="1691"/>
                  <a:pt x="1846" y="1692"/>
                  <a:pt x="1847" y="1693"/>
                </a:cubicBezTo>
                <a:cubicBezTo>
                  <a:pt x="1852" y="1695"/>
                  <a:pt x="1856" y="1698"/>
                  <a:pt x="1859" y="1702"/>
                </a:cubicBezTo>
                <a:cubicBezTo>
                  <a:pt x="1862" y="1705"/>
                  <a:pt x="1864" y="1709"/>
                  <a:pt x="1865" y="1713"/>
                </a:cubicBezTo>
                <a:cubicBezTo>
                  <a:pt x="1870" y="1736"/>
                  <a:pt x="1870" y="1736"/>
                  <a:pt x="1870" y="1736"/>
                </a:cubicBezTo>
                <a:cubicBezTo>
                  <a:pt x="1871" y="1746"/>
                  <a:pt x="1873" y="1755"/>
                  <a:pt x="1875" y="1764"/>
                </a:cubicBezTo>
                <a:cubicBezTo>
                  <a:pt x="1875" y="1764"/>
                  <a:pt x="1875" y="1764"/>
                  <a:pt x="1875" y="1764"/>
                </a:cubicBezTo>
                <a:cubicBezTo>
                  <a:pt x="1876" y="1770"/>
                  <a:pt x="1876" y="1770"/>
                  <a:pt x="1876" y="1770"/>
                </a:cubicBezTo>
                <a:cubicBezTo>
                  <a:pt x="1877" y="1775"/>
                  <a:pt x="1877" y="1779"/>
                  <a:pt x="1875" y="1783"/>
                </a:cubicBezTo>
                <a:close/>
                <a:moveTo>
                  <a:pt x="2041" y="1494"/>
                </a:moveTo>
                <a:cubicBezTo>
                  <a:pt x="2036" y="1492"/>
                  <a:pt x="2032" y="1490"/>
                  <a:pt x="2030" y="1487"/>
                </a:cubicBezTo>
                <a:cubicBezTo>
                  <a:pt x="2027" y="1485"/>
                  <a:pt x="2024" y="1482"/>
                  <a:pt x="2023" y="1479"/>
                </a:cubicBezTo>
                <a:cubicBezTo>
                  <a:pt x="2021" y="1474"/>
                  <a:pt x="2021" y="1474"/>
                  <a:pt x="2021" y="1474"/>
                </a:cubicBezTo>
                <a:cubicBezTo>
                  <a:pt x="2019" y="1467"/>
                  <a:pt x="2016" y="1460"/>
                  <a:pt x="2014" y="1453"/>
                </a:cubicBezTo>
                <a:cubicBezTo>
                  <a:pt x="2012" y="1449"/>
                  <a:pt x="2009" y="1444"/>
                  <a:pt x="2009" y="1439"/>
                </a:cubicBezTo>
                <a:cubicBezTo>
                  <a:pt x="2009" y="1439"/>
                  <a:pt x="2009" y="1438"/>
                  <a:pt x="2009" y="1437"/>
                </a:cubicBezTo>
                <a:cubicBezTo>
                  <a:pt x="2009" y="1437"/>
                  <a:pt x="2009" y="1437"/>
                  <a:pt x="2009" y="1437"/>
                </a:cubicBezTo>
                <a:cubicBezTo>
                  <a:pt x="2009" y="1436"/>
                  <a:pt x="2009" y="1436"/>
                  <a:pt x="2009" y="1436"/>
                </a:cubicBezTo>
                <a:cubicBezTo>
                  <a:pt x="2010" y="1435"/>
                  <a:pt x="2009" y="1435"/>
                  <a:pt x="2010" y="1434"/>
                </a:cubicBezTo>
                <a:cubicBezTo>
                  <a:pt x="2010" y="1434"/>
                  <a:pt x="2010" y="1434"/>
                  <a:pt x="2010" y="1434"/>
                </a:cubicBezTo>
                <a:cubicBezTo>
                  <a:pt x="2016" y="1421"/>
                  <a:pt x="2039" y="1423"/>
                  <a:pt x="2051" y="1423"/>
                </a:cubicBezTo>
                <a:cubicBezTo>
                  <a:pt x="2110" y="1422"/>
                  <a:pt x="2110" y="1422"/>
                  <a:pt x="2110" y="1422"/>
                </a:cubicBezTo>
                <a:cubicBezTo>
                  <a:pt x="2115" y="1422"/>
                  <a:pt x="2120" y="1423"/>
                  <a:pt x="2125" y="1424"/>
                </a:cubicBezTo>
                <a:cubicBezTo>
                  <a:pt x="2126" y="1424"/>
                  <a:pt x="2128" y="1424"/>
                  <a:pt x="2129" y="1425"/>
                </a:cubicBezTo>
                <a:cubicBezTo>
                  <a:pt x="2129" y="1425"/>
                  <a:pt x="2130" y="1425"/>
                  <a:pt x="2131" y="1425"/>
                </a:cubicBezTo>
                <a:cubicBezTo>
                  <a:pt x="2132" y="1425"/>
                  <a:pt x="2133" y="1426"/>
                  <a:pt x="2133" y="1426"/>
                </a:cubicBezTo>
                <a:cubicBezTo>
                  <a:pt x="2135" y="1426"/>
                  <a:pt x="2137" y="1427"/>
                  <a:pt x="2138" y="1428"/>
                </a:cubicBezTo>
                <a:cubicBezTo>
                  <a:pt x="2139" y="1428"/>
                  <a:pt x="2139" y="1428"/>
                  <a:pt x="2139" y="1428"/>
                </a:cubicBezTo>
                <a:cubicBezTo>
                  <a:pt x="2139" y="1428"/>
                  <a:pt x="2139" y="1428"/>
                  <a:pt x="2140" y="1428"/>
                </a:cubicBezTo>
                <a:cubicBezTo>
                  <a:pt x="2141" y="1429"/>
                  <a:pt x="2142" y="1429"/>
                  <a:pt x="2144" y="1430"/>
                </a:cubicBezTo>
                <a:cubicBezTo>
                  <a:pt x="2145" y="1431"/>
                  <a:pt x="2146" y="1431"/>
                  <a:pt x="2146" y="1431"/>
                </a:cubicBezTo>
                <a:cubicBezTo>
                  <a:pt x="2147" y="1432"/>
                  <a:pt x="2147" y="1432"/>
                  <a:pt x="2148" y="1432"/>
                </a:cubicBezTo>
                <a:cubicBezTo>
                  <a:pt x="2148" y="1433"/>
                  <a:pt x="2148" y="1433"/>
                  <a:pt x="2149" y="1433"/>
                </a:cubicBezTo>
                <a:cubicBezTo>
                  <a:pt x="2149" y="1433"/>
                  <a:pt x="2150" y="1434"/>
                  <a:pt x="2150" y="1434"/>
                </a:cubicBezTo>
                <a:cubicBezTo>
                  <a:pt x="2153" y="1436"/>
                  <a:pt x="2156" y="1439"/>
                  <a:pt x="2157" y="1442"/>
                </a:cubicBezTo>
                <a:cubicBezTo>
                  <a:pt x="2157" y="1442"/>
                  <a:pt x="2157" y="1442"/>
                  <a:pt x="2157" y="1442"/>
                </a:cubicBezTo>
                <a:cubicBezTo>
                  <a:pt x="2163" y="1450"/>
                  <a:pt x="2166" y="1460"/>
                  <a:pt x="2170" y="1468"/>
                </a:cubicBezTo>
                <a:cubicBezTo>
                  <a:pt x="2170" y="1468"/>
                  <a:pt x="2170" y="1468"/>
                  <a:pt x="2170" y="1468"/>
                </a:cubicBezTo>
                <a:cubicBezTo>
                  <a:pt x="2172" y="1473"/>
                  <a:pt x="2176" y="1477"/>
                  <a:pt x="2177" y="1482"/>
                </a:cubicBezTo>
                <a:cubicBezTo>
                  <a:pt x="2177" y="1482"/>
                  <a:pt x="2177" y="1483"/>
                  <a:pt x="2177" y="1483"/>
                </a:cubicBezTo>
                <a:cubicBezTo>
                  <a:pt x="2177" y="1483"/>
                  <a:pt x="2177" y="1483"/>
                  <a:pt x="2177" y="1483"/>
                </a:cubicBezTo>
                <a:cubicBezTo>
                  <a:pt x="2178" y="1492"/>
                  <a:pt x="2170" y="1496"/>
                  <a:pt x="2162" y="1498"/>
                </a:cubicBezTo>
                <a:cubicBezTo>
                  <a:pt x="2161" y="1498"/>
                  <a:pt x="2161" y="1498"/>
                  <a:pt x="2161" y="1499"/>
                </a:cubicBezTo>
                <a:cubicBezTo>
                  <a:pt x="2160" y="1499"/>
                  <a:pt x="2160" y="1499"/>
                  <a:pt x="2159" y="1499"/>
                </a:cubicBezTo>
                <a:cubicBezTo>
                  <a:pt x="2158" y="1499"/>
                  <a:pt x="2156" y="1499"/>
                  <a:pt x="2155" y="1500"/>
                </a:cubicBezTo>
                <a:cubicBezTo>
                  <a:pt x="2154" y="1500"/>
                  <a:pt x="2154" y="1500"/>
                  <a:pt x="2153" y="1500"/>
                </a:cubicBezTo>
                <a:cubicBezTo>
                  <a:pt x="2152" y="1500"/>
                  <a:pt x="2150" y="1500"/>
                  <a:pt x="2149" y="1500"/>
                </a:cubicBezTo>
                <a:cubicBezTo>
                  <a:pt x="2148" y="1500"/>
                  <a:pt x="2147" y="1500"/>
                  <a:pt x="2146" y="1500"/>
                </a:cubicBezTo>
                <a:cubicBezTo>
                  <a:pt x="2146" y="1500"/>
                  <a:pt x="2146" y="1500"/>
                  <a:pt x="2146" y="1500"/>
                </a:cubicBezTo>
                <a:cubicBezTo>
                  <a:pt x="2144" y="1500"/>
                  <a:pt x="2144" y="1500"/>
                  <a:pt x="2144" y="1500"/>
                </a:cubicBezTo>
                <a:cubicBezTo>
                  <a:pt x="2135" y="1500"/>
                  <a:pt x="2126" y="1500"/>
                  <a:pt x="2117" y="1500"/>
                </a:cubicBezTo>
                <a:cubicBezTo>
                  <a:pt x="2102" y="1500"/>
                  <a:pt x="2087" y="1500"/>
                  <a:pt x="2072" y="1500"/>
                </a:cubicBezTo>
                <a:cubicBezTo>
                  <a:pt x="2061" y="1500"/>
                  <a:pt x="2050" y="1499"/>
                  <a:pt x="2041" y="1494"/>
                </a:cubicBezTo>
                <a:cubicBezTo>
                  <a:pt x="2041" y="1494"/>
                  <a:pt x="2041" y="1494"/>
                  <a:pt x="2041" y="1494"/>
                </a:cubicBezTo>
                <a:close/>
                <a:moveTo>
                  <a:pt x="2079" y="1621"/>
                </a:moveTo>
                <a:cubicBezTo>
                  <a:pt x="2076" y="1617"/>
                  <a:pt x="2073" y="1614"/>
                  <a:pt x="2072" y="1611"/>
                </a:cubicBezTo>
                <a:cubicBezTo>
                  <a:pt x="2064" y="1588"/>
                  <a:pt x="2064" y="1588"/>
                  <a:pt x="2064" y="1588"/>
                </a:cubicBezTo>
                <a:cubicBezTo>
                  <a:pt x="2061" y="1581"/>
                  <a:pt x="2059" y="1575"/>
                  <a:pt x="2056" y="1568"/>
                </a:cubicBezTo>
                <a:cubicBezTo>
                  <a:pt x="2056" y="1568"/>
                  <a:pt x="2056" y="1568"/>
                  <a:pt x="2056" y="1568"/>
                </a:cubicBezTo>
                <a:cubicBezTo>
                  <a:pt x="2055" y="1565"/>
                  <a:pt x="2055" y="1565"/>
                  <a:pt x="2055" y="1565"/>
                </a:cubicBezTo>
                <a:cubicBezTo>
                  <a:pt x="2054" y="1561"/>
                  <a:pt x="2054" y="1558"/>
                  <a:pt x="2055" y="1555"/>
                </a:cubicBezTo>
                <a:cubicBezTo>
                  <a:pt x="2056" y="1553"/>
                  <a:pt x="2057" y="1552"/>
                  <a:pt x="2059" y="1550"/>
                </a:cubicBezTo>
                <a:cubicBezTo>
                  <a:pt x="2059" y="1550"/>
                  <a:pt x="2059" y="1550"/>
                  <a:pt x="2060" y="1549"/>
                </a:cubicBezTo>
                <a:cubicBezTo>
                  <a:pt x="2060" y="1549"/>
                  <a:pt x="2061" y="1548"/>
                  <a:pt x="2061" y="1548"/>
                </a:cubicBezTo>
                <a:cubicBezTo>
                  <a:pt x="2064" y="1546"/>
                  <a:pt x="2068" y="1544"/>
                  <a:pt x="2072" y="1543"/>
                </a:cubicBezTo>
                <a:cubicBezTo>
                  <a:pt x="2076" y="1542"/>
                  <a:pt x="2080" y="1542"/>
                  <a:pt x="2084" y="1541"/>
                </a:cubicBezTo>
                <a:cubicBezTo>
                  <a:pt x="2100" y="1540"/>
                  <a:pt x="2117" y="1541"/>
                  <a:pt x="2125" y="1541"/>
                </a:cubicBezTo>
                <a:cubicBezTo>
                  <a:pt x="2153" y="1541"/>
                  <a:pt x="2202" y="1535"/>
                  <a:pt x="2218" y="1564"/>
                </a:cubicBezTo>
                <a:cubicBezTo>
                  <a:pt x="2218" y="1564"/>
                  <a:pt x="2218" y="1564"/>
                  <a:pt x="2218" y="1564"/>
                </a:cubicBezTo>
                <a:cubicBezTo>
                  <a:pt x="2218" y="1565"/>
                  <a:pt x="2218" y="1565"/>
                  <a:pt x="2218" y="1565"/>
                </a:cubicBezTo>
                <a:cubicBezTo>
                  <a:pt x="2218" y="1565"/>
                  <a:pt x="2218" y="1565"/>
                  <a:pt x="2218" y="1565"/>
                </a:cubicBezTo>
                <a:cubicBezTo>
                  <a:pt x="2224" y="1577"/>
                  <a:pt x="2230" y="1589"/>
                  <a:pt x="2236" y="1601"/>
                </a:cubicBezTo>
                <a:cubicBezTo>
                  <a:pt x="2238" y="1605"/>
                  <a:pt x="2241" y="1609"/>
                  <a:pt x="2242" y="1614"/>
                </a:cubicBezTo>
                <a:cubicBezTo>
                  <a:pt x="2242" y="1614"/>
                  <a:pt x="2242" y="1614"/>
                  <a:pt x="2242" y="1614"/>
                </a:cubicBezTo>
                <a:cubicBezTo>
                  <a:pt x="2242" y="1615"/>
                  <a:pt x="2242" y="1616"/>
                  <a:pt x="2242" y="1617"/>
                </a:cubicBezTo>
                <a:cubicBezTo>
                  <a:pt x="2242" y="1618"/>
                  <a:pt x="2242" y="1619"/>
                  <a:pt x="2242" y="1620"/>
                </a:cubicBezTo>
                <a:cubicBezTo>
                  <a:pt x="2242" y="1620"/>
                  <a:pt x="2242" y="1620"/>
                  <a:pt x="2242" y="1620"/>
                </a:cubicBezTo>
                <a:cubicBezTo>
                  <a:pt x="2242" y="1620"/>
                  <a:pt x="2242" y="1621"/>
                  <a:pt x="2242" y="1621"/>
                </a:cubicBezTo>
                <a:cubicBezTo>
                  <a:pt x="2242" y="1622"/>
                  <a:pt x="2241" y="1623"/>
                  <a:pt x="2240" y="1624"/>
                </a:cubicBezTo>
                <a:cubicBezTo>
                  <a:pt x="2240" y="1625"/>
                  <a:pt x="2240" y="1625"/>
                  <a:pt x="2240" y="1625"/>
                </a:cubicBezTo>
                <a:cubicBezTo>
                  <a:pt x="2239" y="1626"/>
                  <a:pt x="2238" y="1627"/>
                  <a:pt x="2237" y="1628"/>
                </a:cubicBezTo>
                <a:cubicBezTo>
                  <a:pt x="2237" y="1628"/>
                  <a:pt x="2237" y="1628"/>
                  <a:pt x="2237" y="1628"/>
                </a:cubicBezTo>
                <a:cubicBezTo>
                  <a:pt x="2236" y="1629"/>
                  <a:pt x="2236" y="1629"/>
                  <a:pt x="2236" y="1629"/>
                </a:cubicBezTo>
                <a:cubicBezTo>
                  <a:pt x="2235" y="1630"/>
                  <a:pt x="2234" y="1630"/>
                  <a:pt x="2234" y="1630"/>
                </a:cubicBezTo>
                <a:cubicBezTo>
                  <a:pt x="2231" y="1632"/>
                  <a:pt x="2229" y="1633"/>
                  <a:pt x="2225" y="1634"/>
                </a:cubicBezTo>
                <a:cubicBezTo>
                  <a:pt x="2225" y="1634"/>
                  <a:pt x="2224" y="1635"/>
                  <a:pt x="2223" y="1635"/>
                </a:cubicBezTo>
                <a:cubicBezTo>
                  <a:pt x="2221" y="1635"/>
                  <a:pt x="2220" y="1635"/>
                  <a:pt x="2219" y="1636"/>
                </a:cubicBezTo>
                <a:cubicBezTo>
                  <a:pt x="2218" y="1636"/>
                  <a:pt x="2218" y="1636"/>
                  <a:pt x="2217" y="1636"/>
                </a:cubicBezTo>
                <a:cubicBezTo>
                  <a:pt x="2217" y="1636"/>
                  <a:pt x="2216" y="1636"/>
                  <a:pt x="2216" y="1636"/>
                </a:cubicBezTo>
                <a:cubicBezTo>
                  <a:pt x="2187" y="1639"/>
                  <a:pt x="2156" y="1636"/>
                  <a:pt x="2126" y="1637"/>
                </a:cubicBezTo>
                <a:cubicBezTo>
                  <a:pt x="2123" y="1637"/>
                  <a:pt x="2120" y="1636"/>
                  <a:pt x="2117" y="1636"/>
                </a:cubicBezTo>
                <a:cubicBezTo>
                  <a:pt x="2117" y="1636"/>
                  <a:pt x="2117" y="1636"/>
                  <a:pt x="2117" y="1636"/>
                </a:cubicBezTo>
                <a:cubicBezTo>
                  <a:pt x="2106" y="1635"/>
                  <a:pt x="2095" y="1631"/>
                  <a:pt x="2086" y="1625"/>
                </a:cubicBezTo>
                <a:cubicBezTo>
                  <a:pt x="2083" y="1624"/>
                  <a:pt x="2081" y="1622"/>
                  <a:pt x="2079" y="1621"/>
                </a:cubicBezTo>
                <a:close/>
                <a:moveTo>
                  <a:pt x="2322" y="1782"/>
                </a:moveTo>
                <a:cubicBezTo>
                  <a:pt x="2322" y="1783"/>
                  <a:pt x="2321" y="1783"/>
                  <a:pt x="2321" y="1784"/>
                </a:cubicBezTo>
                <a:cubicBezTo>
                  <a:pt x="2321" y="1785"/>
                  <a:pt x="2321" y="1785"/>
                  <a:pt x="2321" y="1786"/>
                </a:cubicBezTo>
                <a:cubicBezTo>
                  <a:pt x="2320" y="1787"/>
                  <a:pt x="2320" y="1788"/>
                  <a:pt x="2319" y="1789"/>
                </a:cubicBezTo>
                <a:cubicBezTo>
                  <a:pt x="2319" y="1789"/>
                  <a:pt x="2319" y="1789"/>
                  <a:pt x="2319" y="1790"/>
                </a:cubicBezTo>
                <a:cubicBezTo>
                  <a:pt x="2318" y="1790"/>
                  <a:pt x="2318" y="1791"/>
                  <a:pt x="2317" y="1791"/>
                </a:cubicBezTo>
                <a:cubicBezTo>
                  <a:pt x="2317" y="1791"/>
                  <a:pt x="2317" y="1792"/>
                  <a:pt x="2316" y="1792"/>
                </a:cubicBezTo>
                <a:cubicBezTo>
                  <a:pt x="2316" y="1792"/>
                  <a:pt x="2316" y="1792"/>
                  <a:pt x="2316" y="1793"/>
                </a:cubicBezTo>
                <a:cubicBezTo>
                  <a:pt x="2310" y="1798"/>
                  <a:pt x="2303" y="1800"/>
                  <a:pt x="2296" y="1801"/>
                </a:cubicBezTo>
                <a:cubicBezTo>
                  <a:pt x="2296" y="1801"/>
                  <a:pt x="2295" y="1801"/>
                  <a:pt x="2295" y="1801"/>
                </a:cubicBezTo>
                <a:cubicBezTo>
                  <a:pt x="2292" y="1802"/>
                  <a:pt x="2289" y="1802"/>
                  <a:pt x="2286" y="1802"/>
                </a:cubicBezTo>
                <a:cubicBezTo>
                  <a:pt x="2286" y="1802"/>
                  <a:pt x="2286" y="1802"/>
                  <a:pt x="2286" y="1802"/>
                </a:cubicBezTo>
                <a:cubicBezTo>
                  <a:pt x="2283" y="1802"/>
                  <a:pt x="2283" y="1802"/>
                  <a:pt x="2283" y="1802"/>
                </a:cubicBezTo>
                <a:cubicBezTo>
                  <a:pt x="2280" y="1802"/>
                  <a:pt x="2277" y="1802"/>
                  <a:pt x="2275" y="1802"/>
                </a:cubicBezTo>
                <a:cubicBezTo>
                  <a:pt x="2193" y="1802"/>
                  <a:pt x="2193" y="1802"/>
                  <a:pt x="2193" y="1802"/>
                </a:cubicBezTo>
                <a:cubicBezTo>
                  <a:pt x="2190" y="1802"/>
                  <a:pt x="2187" y="1802"/>
                  <a:pt x="2184" y="1802"/>
                </a:cubicBezTo>
                <a:cubicBezTo>
                  <a:pt x="2183" y="1801"/>
                  <a:pt x="2182" y="1801"/>
                  <a:pt x="2181" y="1801"/>
                </a:cubicBezTo>
                <a:cubicBezTo>
                  <a:pt x="2164" y="1799"/>
                  <a:pt x="2144" y="1791"/>
                  <a:pt x="2135" y="1776"/>
                </a:cubicBezTo>
                <a:cubicBezTo>
                  <a:pt x="2133" y="1774"/>
                  <a:pt x="2132" y="1772"/>
                  <a:pt x="2131" y="1770"/>
                </a:cubicBezTo>
                <a:cubicBezTo>
                  <a:pt x="2131" y="1769"/>
                  <a:pt x="2131" y="1769"/>
                  <a:pt x="2131" y="1769"/>
                </a:cubicBezTo>
                <a:cubicBezTo>
                  <a:pt x="2131" y="1769"/>
                  <a:pt x="2131" y="1769"/>
                  <a:pt x="2131" y="1769"/>
                </a:cubicBezTo>
                <a:cubicBezTo>
                  <a:pt x="2127" y="1757"/>
                  <a:pt x="2122" y="1746"/>
                  <a:pt x="2118" y="1734"/>
                </a:cubicBezTo>
                <a:cubicBezTo>
                  <a:pt x="2116" y="1728"/>
                  <a:pt x="2112" y="1720"/>
                  <a:pt x="2110" y="1713"/>
                </a:cubicBezTo>
                <a:cubicBezTo>
                  <a:pt x="2110" y="1713"/>
                  <a:pt x="2110" y="1713"/>
                  <a:pt x="2110" y="1713"/>
                </a:cubicBezTo>
                <a:cubicBezTo>
                  <a:pt x="2110" y="1713"/>
                  <a:pt x="2110" y="1712"/>
                  <a:pt x="2110" y="1712"/>
                </a:cubicBezTo>
                <a:cubicBezTo>
                  <a:pt x="2110" y="1712"/>
                  <a:pt x="2109" y="1711"/>
                  <a:pt x="2109" y="1710"/>
                </a:cubicBezTo>
                <a:cubicBezTo>
                  <a:pt x="2109" y="1707"/>
                  <a:pt x="2109" y="1704"/>
                  <a:pt x="2109" y="1701"/>
                </a:cubicBezTo>
                <a:cubicBezTo>
                  <a:pt x="2110" y="1699"/>
                  <a:pt x="2111" y="1698"/>
                  <a:pt x="2112" y="1696"/>
                </a:cubicBezTo>
                <a:cubicBezTo>
                  <a:pt x="2112" y="1696"/>
                  <a:pt x="2112" y="1696"/>
                  <a:pt x="2112" y="1696"/>
                </a:cubicBezTo>
                <a:cubicBezTo>
                  <a:pt x="2117" y="1688"/>
                  <a:pt x="2126" y="1685"/>
                  <a:pt x="2136" y="1684"/>
                </a:cubicBezTo>
                <a:cubicBezTo>
                  <a:pt x="2136" y="1684"/>
                  <a:pt x="2136" y="1684"/>
                  <a:pt x="2137" y="1684"/>
                </a:cubicBezTo>
                <a:cubicBezTo>
                  <a:pt x="2139" y="1684"/>
                  <a:pt x="2141" y="1684"/>
                  <a:pt x="2144" y="1684"/>
                </a:cubicBezTo>
                <a:cubicBezTo>
                  <a:pt x="2144" y="1684"/>
                  <a:pt x="2145" y="1683"/>
                  <a:pt x="2145" y="1683"/>
                </a:cubicBezTo>
                <a:cubicBezTo>
                  <a:pt x="2151" y="1683"/>
                  <a:pt x="2151" y="1683"/>
                  <a:pt x="2151" y="1683"/>
                </a:cubicBezTo>
                <a:cubicBezTo>
                  <a:pt x="2152" y="1683"/>
                  <a:pt x="2153" y="1683"/>
                  <a:pt x="2155" y="1683"/>
                </a:cubicBezTo>
                <a:cubicBezTo>
                  <a:pt x="2180" y="1683"/>
                  <a:pt x="2205" y="1683"/>
                  <a:pt x="2231" y="1683"/>
                </a:cubicBezTo>
                <a:cubicBezTo>
                  <a:pt x="2231" y="1683"/>
                  <a:pt x="2231" y="1683"/>
                  <a:pt x="2231" y="1683"/>
                </a:cubicBezTo>
                <a:cubicBezTo>
                  <a:pt x="2231" y="1683"/>
                  <a:pt x="2231" y="1683"/>
                  <a:pt x="2231" y="1683"/>
                </a:cubicBezTo>
                <a:cubicBezTo>
                  <a:pt x="2234" y="1683"/>
                  <a:pt x="2237" y="1683"/>
                  <a:pt x="2240" y="1684"/>
                </a:cubicBezTo>
                <a:cubicBezTo>
                  <a:pt x="2240" y="1684"/>
                  <a:pt x="2241" y="1684"/>
                  <a:pt x="2241" y="1684"/>
                </a:cubicBezTo>
                <a:cubicBezTo>
                  <a:pt x="2258" y="1686"/>
                  <a:pt x="2277" y="1693"/>
                  <a:pt x="2287" y="1706"/>
                </a:cubicBezTo>
                <a:cubicBezTo>
                  <a:pt x="2289" y="1708"/>
                  <a:pt x="2290" y="1710"/>
                  <a:pt x="2291" y="1712"/>
                </a:cubicBezTo>
                <a:cubicBezTo>
                  <a:pt x="2294" y="1717"/>
                  <a:pt x="2294" y="1717"/>
                  <a:pt x="2294" y="1717"/>
                </a:cubicBezTo>
                <a:cubicBezTo>
                  <a:pt x="2299" y="1727"/>
                  <a:pt x="2304" y="1737"/>
                  <a:pt x="2309" y="1748"/>
                </a:cubicBezTo>
                <a:cubicBezTo>
                  <a:pt x="2312" y="1754"/>
                  <a:pt x="2318" y="1762"/>
                  <a:pt x="2320" y="1771"/>
                </a:cubicBezTo>
                <a:cubicBezTo>
                  <a:pt x="2322" y="1775"/>
                  <a:pt x="2323" y="1778"/>
                  <a:pt x="2322" y="1782"/>
                </a:cubicBezTo>
                <a:close/>
                <a:moveTo>
                  <a:pt x="2340" y="1624"/>
                </a:moveTo>
                <a:cubicBezTo>
                  <a:pt x="2338" y="1622"/>
                  <a:pt x="2337" y="1621"/>
                  <a:pt x="2335" y="1620"/>
                </a:cubicBezTo>
                <a:cubicBezTo>
                  <a:pt x="2331" y="1617"/>
                  <a:pt x="2328" y="1613"/>
                  <a:pt x="2326" y="1610"/>
                </a:cubicBezTo>
                <a:cubicBezTo>
                  <a:pt x="2324" y="1607"/>
                  <a:pt x="2324" y="1607"/>
                  <a:pt x="2324" y="1607"/>
                </a:cubicBezTo>
                <a:cubicBezTo>
                  <a:pt x="2324" y="1607"/>
                  <a:pt x="2324" y="1607"/>
                  <a:pt x="2324" y="1607"/>
                </a:cubicBezTo>
                <a:cubicBezTo>
                  <a:pt x="2317" y="1594"/>
                  <a:pt x="2310" y="1582"/>
                  <a:pt x="2303" y="1569"/>
                </a:cubicBezTo>
                <a:cubicBezTo>
                  <a:pt x="2303" y="1569"/>
                  <a:pt x="2303" y="1569"/>
                  <a:pt x="2303" y="1569"/>
                </a:cubicBezTo>
                <a:cubicBezTo>
                  <a:pt x="2300" y="1564"/>
                  <a:pt x="2300" y="1564"/>
                  <a:pt x="2300" y="1564"/>
                </a:cubicBezTo>
                <a:cubicBezTo>
                  <a:pt x="2298" y="1561"/>
                  <a:pt x="2298" y="1558"/>
                  <a:pt x="2298" y="1555"/>
                </a:cubicBezTo>
                <a:cubicBezTo>
                  <a:pt x="2299" y="1552"/>
                  <a:pt x="2300" y="1550"/>
                  <a:pt x="2303" y="1547"/>
                </a:cubicBezTo>
                <a:cubicBezTo>
                  <a:pt x="2306" y="1545"/>
                  <a:pt x="2309" y="1544"/>
                  <a:pt x="2313" y="1542"/>
                </a:cubicBezTo>
                <a:cubicBezTo>
                  <a:pt x="2318" y="1541"/>
                  <a:pt x="2323" y="1541"/>
                  <a:pt x="2329" y="1541"/>
                </a:cubicBezTo>
                <a:cubicBezTo>
                  <a:pt x="2330" y="1541"/>
                  <a:pt x="2330" y="1541"/>
                  <a:pt x="2330" y="1541"/>
                </a:cubicBezTo>
                <a:cubicBezTo>
                  <a:pt x="2342" y="1540"/>
                  <a:pt x="2356" y="1540"/>
                  <a:pt x="2363" y="1540"/>
                </a:cubicBezTo>
                <a:cubicBezTo>
                  <a:pt x="2394" y="1540"/>
                  <a:pt x="2443" y="1534"/>
                  <a:pt x="2463" y="1564"/>
                </a:cubicBezTo>
                <a:cubicBezTo>
                  <a:pt x="2470" y="1573"/>
                  <a:pt x="2476" y="1583"/>
                  <a:pt x="2483" y="1593"/>
                </a:cubicBezTo>
                <a:cubicBezTo>
                  <a:pt x="2486" y="1598"/>
                  <a:pt x="2492" y="1605"/>
                  <a:pt x="2495" y="1611"/>
                </a:cubicBezTo>
                <a:cubicBezTo>
                  <a:pt x="2497" y="1614"/>
                  <a:pt x="2498" y="1617"/>
                  <a:pt x="2498" y="1620"/>
                </a:cubicBezTo>
                <a:cubicBezTo>
                  <a:pt x="2498" y="1621"/>
                  <a:pt x="2497" y="1623"/>
                  <a:pt x="2496" y="1625"/>
                </a:cubicBezTo>
                <a:cubicBezTo>
                  <a:pt x="2496" y="1626"/>
                  <a:pt x="2495" y="1627"/>
                  <a:pt x="2494" y="1628"/>
                </a:cubicBezTo>
                <a:cubicBezTo>
                  <a:pt x="2494" y="1628"/>
                  <a:pt x="2494" y="1628"/>
                  <a:pt x="2494" y="1628"/>
                </a:cubicBezTo>
                <a:cubicBezTo>
                  <a:pt x="2494" y="1628"/>
                  <a:pt x="2494" y="1628"/>
                  <a:pt x="2494" y="1628"/>
                </a:cubicBezTo>
                <a:cubicBezTo>
                  <a:pt x="2493" y="1629"/>
                  <a:pt x="2493" y="1629"/>
                  <a:pt x="2492" y="1630"/>
                </a:cubicBezTo>
                <a:cubicBezTo>
                  <a:pt x="2492" y="1630"/>
                  <a:pt x="2491" y="1630"/>
                  <a:pt x="2491" y="1630"/>
                </a:cubicBezTo>
                <a:cubicBezTo>
                  <a:pt x="2490" y="1631"/>
                  <a:pt x="2489" y="1631"/>
                  <a:pt x="2488" y="1632"/>
                </a:cubicBezTo>
                <a:cubicBezTo>
                  <a:pt x="2487" y="1632"/>
                  <a:pt x="2485" y="1633"/>
                  <a:pt x="2484" y="1633"/>
                </a:cubicBezTo>
                <a:cubicBezTo>
                  <a:pt x="2484" y="1633"/>
                  <a:pt x="2484" y="1634"/>
                  <a:pt x="2484" y="1634"/>
                </a:cubicBezTo>
                <a:cubicBezTo>
                  <a:pt x="2484" y="1634"/>
                  <a:pt x="2483" y="1634"/>
                  <a:pt x="2483" y="1634"/>
                </a:cubicBezTo>
                <a:cubicBezTo>
                  <a:pt x="2469" y="1638"/>
                  <a:pt x="2448" y="1636"/>
                  <a:pt x="2434" y="1636"/>
                </a:cubicBezTo>
                <a:cubicBezTo>
                  <a:pt x="2418" y="1636"/>
                  <a:pt x="2401" y="1636"/>
                  <a:pt x="2385" y="1636"/>
                </a:cubicBezTo>
                <a:cubicBezTo>
                  <a:pt x="2370" y="1636"/>
                  <a:pt x="2353" y="1632"/>
                  <a:pt x="2340" y="1624"/>
                </a:cubicBezTo>
                <a:close/>
                <a:moveTo>
                  <a:pt x="2605" y="1791"/>
                </a:moveTo>
                <a:cubicBezTo>
                  <a:pt x="2605" y="1791"/>
                  <a:pt x="2605" y="1791"/>
                  <a:pt x="2604" y="1791"/>
                </a:cubicBezTo>
                <a:cubicBezTo>
                  <a:pt x="2602" y="1794"/>
                  <a:pt x="2598" y="1797"/>
                  <a:pt x="2593" y="1798"/>
                </a:cubicBezTo>
                <a:cubicBezTo>
                  <a:pt x="2589" y="1800"/>
                  <a:pt x="2583" y="1801"/>
                  <a:pt x="2576" y="1801"/>
                </a:cubicBezTo>
                <a:cubicBezTo>
                  <a:pt x="2569" y="1801"/>
                  <a:pt x="2569" y="1801"/>
                  <a:pt x="2569" y="1801"/>
                </a:cubicBezTo>
                <a:cubicBezTo>
                  <a:pt x="2569" y="1801"/>
                  <a:pt x="2569" y="1801"/>
                  <a:pt x="2569" y="1801"/>
                </a:cubicBezTo>
                <a:cubicBezTo>
                  <a:pt x="2541" y="1801"/>
                  <a:pt x="2512" y="1801"/>
                  <a:pt x="2483" y="1801"/>
                </a:cubicBezTo>
                <a:cubicBezTo>
                  <a:pt x="2480" y="1801"/>
                  <a:pt x="2476" y="1801"/>
                  <a:pt x="2473" y="1801"/>
                </a:cubicBezTo>
                <a:cubicBezTo>
                  <a:pt x="2473" y="1801"/>
                  <a:pt x="2473" y="1801"/>
                  <a:pt x="2473" y="1801"/>
                </a:cubicBezTo>
                <a:cubicBezTo>
                  <a:pt x="2453" y="1799"/>
                  <a:pt x="2432" y="1790"/>
                  <a:pt x="2419" y="1775"/>
                </a:cubicBezTo>
                <a:cubicBezTo>
                  <a:pt x="2418" y="1773"/>
                  <a:pt x="2416" y="1771"/>
                  <a:pt x="2415" y="1769"/>
                </a:cubicBezTo>
                <a:cubicBezTo>
                  <a:pt x="2415" y="1769"/>
                  <a:pt x="2415" y="1769"/>
                  <a:pt x="2415" y="1769"/>
                </a:cubicBezTo>
                <a:cubicBezTo>
                  <a:pt x="2415" y="1769"/>
                  <a:pt x="2415" y="1769"/>
                  <a:pt x="2415" y="1769"/>
                </a:cubicBezTo>
                <a:cubicBezTo>
                  <a:pt x="2409" y="1758"/>
                  <a:pt x="2402" y="1747"/>
                  <a:pt x="2396" y="1736"/>
                </a:cubicBezTo>
                <a:cubicBezTo>
                  <a:pt x="2392" y="1728"/>
                  <a:pt x="2383" y="1716"/>
                  <a:pt x="2381" y="1706"/>
                </a:cubicBezTo>
                <a:cubicBezTo>
                  <a:pt x="2381" y="1706"/>
                  <a:pt x="2381" y="1706"/>
                  <a:pt x="2381" y="1706"/>
                </a:cubicBezTo>
                <a:cubicBezTo>
                  <a:pt x="2380" y="1705"/>
                  <a:pt x="2380" y="1704"/>
                  <a:pt x="2380" y="1703"/>
                </a:cubicBezTo>
                <a:cubicBezTo>
                  <a:pt x="2379" y="1693"/>
                  <a:pt x="2387" y="1688"/>
                  <a:pt x="2396" y="1685"/>
                </a:cubicBezTo>
                <a:cubicBezTo>
                  <a:pt x="2396" y="1685"/>
                  <a:pt x="2396" y="1685"/>
                  <a:pt x="2396" y="1685"/>
                </a:cubicBezTo>
                <a:cubicBezTo>
                  <a:pt x="2396" y="1685"/>
                  <a:pt x="2397" y="1685"/>
                  <a:pt x="2397" y="1685"/>
                </a:cubicBezTo>
                <a:cubicBezTo>
                  <a:pt x="2398" y="1685"/>
                  <a:pt x="2398" y="1685"/>
                  <a:pt x="2399" y="1684"/>
                </a:cubicBezTo>
                <a:cubicBezTo>
                  <a:pt x="2403" y="1683"/>
                  <a:pt x="2408" y="1683"/>
                  <a:pt x="2413" y="1683"/>
                </a:cubicBezTo>
                <a:cubicBezTo>
                  <a:pt x="2470" y="1683"/>
                  <a:pt x="2470" y="1683"/>
                  <a:pt x="2470" y="1683"/>
                </a:cubicBezTo>
                <a:cubicBezTo>
                  <a:pt x="2479" y="1683"/>
                  <a:pt x="2489" y="1683"/>
                  <a:pt x="2498" y="1683"/>
                </a:cubicBezTo>
                <a:cubicBezTo>
                  <a:pt x="2498" y="1683"/>
                  <a:pt x="2498" y="1683"/>
                  <a:pt x="2498" y="1683"/>
                </a:cubicBezTo>
                <a:cubicBezTo>
                  <a:pt x="2499" y="1683"/>
                  <a:pt x="2499" y="1683"/>
                  <a:pt x="2500" y="1683"/>
                </a:cubicBezTo>
                <a:cubicBezTo>
                  <a:pt x="2502" y="1683"/>
                  <a:pt x="2505" y="1683"/>
                  <a:pt x="2507" y="1683"/>
                </a:cubicBezTo>
                <a:cubicBezTo>
                  <a:pt x="2508" y="1683"/>
                  <a:pt x="2508" y="1683"/>
                  <a:pt x="2509" y="1683"/>
                </a:cubicBezTo>
                <a:cubicBezTo>
                  <a:pt x="2527" y="1685"/>
                  <a:pt x="2546" y="1692"/>
                  <a:pt x="2558" y="1705"/>
                </a:cubicBezTo>
                <a:cubicBezTo>
                  <a:pt x="2559" y="1705"/>
                  <a:pt x="2560" y="1706"/>
                  <a:pt x="2561" y="1707"/>
                </a:cubicBezTo>
                <a:cubicBezTo>
                  <a:pt x="2561" y="1708"/>
                  <a:pt x="2562" y="1708"/>
                  <a:pt x="2562" y="1709"/>
                </a:cubicBezTo>
                <a:cubicBezTo>
                  <a:pt x="2563" y="1710"/>
                  <a:pt x="2563" y="1710"/>
                  <a:pt x="2564" y="1711"/>
                </a:cubicBezTo>
                <a:cubicBezTo>
                  <a:pt x="2564" y="1711"/>
                  <a:pt x="2564" y="1711"/>
                  <a:pt x="2564" y="1711"/>
                </a:cubicBezTo>
                <a:cubicBezTo>
                  <a:pt x="2566" y="1713"/>
                  <a:pt x="2566" y="1713"/>
                  <a:pt x="2566" y="1713"/>
                </a:cubicBezTo>
                <a:cubicBezTo>
                  <a:pt x="2571" y="1721"/>
                  <a:pt x="2576" y="1729"/>
                  <a:pt x="2582" y="1737"/>
                </a:cubicBezTo>
                <a:cubicBezTo>
                  <a:pt x="2582" y="1737"/>
                  <a:pt x="2582" y="1737"/>
                  <a:pt x="2582" y="1737"/>
                </a:cubicBezTo>
                <a:cubicBezTo>
                  <a:pt x="2589" y="1748"/>
                  <a:pt x="2599" y="1759"/>
                  <a:pt x="2605" y="1772"/>
                </a:cubicBezTo>
                <a:cubicBezTo>
                  <a:pt x="2606" y="1773"/>
                  <a:pt x="2606" y="1773"/>
                  <a:pt x="2606" y="1774"/>
                </a:cubicBezTo>
                <a:cubicBezTo>
                  <a:pt x="2607" y="1775"/>
                  <a:pt x="2607" y="1775"/>
                  <a:pt x="2607" y="1775"/>
                </a:cubicBezTo>
                <a:cubicBezTo>
                  <a:pt x="2609" y="1782"/>
                  <a:pt x="2608" y="1787"/>
                  <a:pt x="2605" y="1791"/>
                </a:cubicBezTo>
                <a:close/>
                <a:moveTo>
                  <a:pt x="2937" y="318"/>
                </a:moveTo>
                <a:cubicBezTo>
                  <a:pt x="3034" y="414"/>
                  <a:pt x="3089" y="549"/>
                  <a:pt x="3089" y="685"/>
                </a:cubicBezTo>
                <a:cubicBezTo>
                  <a:pt x="3089" y="821"/>
                  <a:pt x="3034" y="955"/>
                  <a:pt x="2937" y="1051"/>
                </a:cubicBezTo>
                <a:cubicBezTo>
                  <a:pt x="3050" y="999"/>
                  <a:pt x="3153" y="855"/>
                  <a:pt x="3152" y="685"/>
                </a:cubicBezTo>
                <a:cubicBezTo>
                  <a:pt x="3153" y="514"/>
                  <a:pt x="3050" y="371"/>
                  <a:pt x="2937" y="318"/>
                </a:cubicBezTo>
                <a:close/>
                <a:moveTo>
                  <a:pt x="216" y="318"/>
                </a:moveTo>
                <a:cubicBezTo>
                  <a:pt x="104" y="371"/>
                  <a:pt x="0" y="514"/>
                  <a:pt x="2" y="685"/>
                </a:cubicBezTo>
                <a:cubicBezTo>
                  <a:pt x="0" y="855"/>
                  <a:pt x="104" y="999"/>
                  <a:pt x="216" y="1051"/>
                </a:cubicBezTo>
                <a:cubicBezTo>
                  <a:pt x="120" y="955"/>
                  <a:pt x="64" y="821"/>
                  <a:pt x="65" y="685"/>
                </a:cubicBezTo>
                <a:cubicBezTo>
                  <a:pt x="64" y="549"/>
                  <a:pt x="120" y="414"/>
                  <a:pt x="216" y="3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82292" tIns="41145" rIns="82292" bIns="41145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矩形 27"/>
          <p:cNvSpPr/>
          <p:nvPr/>
        </p:nvSpPr>
        <p:spPr>
          <a:xfrm>
            <a:off x="6996226" y="2042766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字符数组的定义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27"/>
          <p:cNvSpPr/>
          <p:nvPr/>
        </p:nvSpPr>
        <p:spPr>
          <a:xfrm>
            <a:off x="7003296" y="2930773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字符数组的初始化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27"/>
          <p:cNvSpPr/>
          <p:nvPr/>
        </p:nvSpPr>
        <p:spPr>
          <a:xfrm>
            <a:off x="7006859" y="3836482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字符串的输入输出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27"/>
          <p:cNvSpPr/>
          <p:nvPr/>
        </p:nvSpPr>
        <p:spPr>
          <a:xfrm>
            <a:off x="7003296" y="4777500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常用字符串处理函数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9" grpId="0"/>
      <p:bldP spid="102" grpId="0"/>
      <p:bldP spid="10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090" name="Rectangle 178"/>
          <p:cNvSpPr>
            <a:spLocks noChangeArrowheads="1"/>
          </p:cNvSpPr>
          <p:nvPr/>
        </p:nvSpPr>
        <p:spPr bwMode="auto">
          <a:xfrm>
            <a:off x="1549854" y="1530474"/>
            <a:ext cx="807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/>
          <a:p>
            <a:pPr lvl="1" eaLnBrk="0" hangingPunct="0"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 数组名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 </a:t>
            </a:r>
          </a:p>
        </p:txBody>
      </p:sp>
      <p:sp>
        <p:nvSpPr>
          <p:cNvPr id="423091" name="Rectangle 179"/>
          <p:cNvSpPr>
            <a:spLocks noChangeArrowheads="1"/>
          </p:cNvSpPr>
          <p:nvPr/>
        </p:nvSpPr>
        <p:spPr bwMode="auto">
          <a:xfrm>
            <a:off x="1428297" y="2459360"/>
            <a:ext cx="4570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/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例子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char a[10];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41F19B2-CF59-4AE5-B8EF-934F8585D41F}"/>
              </a:ext>
            </a:extLst>
          </p:cNvPr>
          <p:cNvGrpSpPr/>
          <p:nvPr/>
        </p:nvGrpSpPr>
        <p:grpSpPr>
          <a:xfrm>
            <a:off x="1763" y="170366"/>
            <a:ext cx="4211007" cy="1319228"/>
            <a:chOff x="0" y="175102"/>
            <a:chExt cx="6411951" cy="769441"/>
          </a:xfrm>
        </p:grpSpPr>
        <p:sp>
          <p:nvSpPr>
            <p:cNvPr id="9" name="矩形: 剪去单角 8">
              <a:extLst>
                <a:ext uri="{FF2B5EF4-FFF2-40B4-BE49-F238E27FC236}">
                  <a16:creationId xmlns:a16="http://schemas.microsoft.com/office/drawing/2014/main" id="{19291E41-63A8-4593-9654-5171FFE959D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200" b="1">
                <a:solidFill>
                  <a:srgbClr val="C00000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1B04AA6-2786-4162-8678-E905F11CB8C4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一维字符数组定义</a:t>
              </a:r>
            </a:p>
          </p:txBody>
        </p:sp>
      </p:grpSp>
      <p:sp>
        <p:nvSpPr>
          <p:cNvPr id="15" name="Rectangle 1028"/>
          <p:cNvSpPr>
            <a:spLocks noChangeArrowheads="1"/>
          </p:cNvSpPr>
          <p:nvPr/>
        </p:nvSpPr>
        <p:spPr bwMode="auto">
          <a:xfrm>
            <a:off x="501650" y="2922679"/>
            <a:ext cx="11334750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【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也可以用整型数值来存放字符型数据，因此上面第一行也可以改用：</a:t>
            </a:r>
            <a:r>
              <a:rPr lang="en-US" altLang="zh-CN" sz="3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合法，但浪费存储空间，为什么？*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160681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090" grpId="0" build="p" bldLvl="3" autoUpdateAnimBg="0"/>
      <p:bldP spid="423091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ChangeArrowheads="1"/>
          </p:cNvSpPr>
          <p:nvPr/>
        </p:nvSpPr>
        <p:spPr bwMode="auto">
          <a:xfrm>
            <a:off x="1676400" y="1970316"/>
            <a:ext cx="52832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1828800" lvl="3" indent="-457200"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逐个字符赋初值</a:t>
            </a:r>
          </a:p>
        </p:txBody>
      </p:sp>
      <p:sp>
        <p:nvSpPr>
          <p:cNvPr id="451595" name="Text Box 11"/>
          <p:cNvSpPr txBox="1">
            <a:spLocks noChangeArrowheads="1"/>
          </p:cNvSpPr>
          <p:nvPr/>
        </p:nvSpPr>
        <p:spPr bwMode="auto">
          <a:xfrm>
            <a:off x="3833813" y="3873957"/>
            <a:ext cx="47831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latin typeface="Times New Roman" pitchFamily="18" charset="0"/>
              </a:rPr>
              <a:t>H</a:t>
            </a:r>
          </a:p>
        </p:txBody>
      </p:sp>
      <p:sp>
        <p:nvSpPr>
          <p:cNvPr id="451596" name="Text Box 12"/>
          <p:cNvSpPr txBox="1">
            <a:spLocks noChangeArrowheads="1"/>
          </p:cNvSpPr>
          <p:nvPr/>
        </p:nvSpPr>
        <p:spPr bwMode="auto">
          <a:xfrm>
            <a:off x="4762500" y="3873957"/>
            <a:ext cx="3645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e</a:t>
            </a:r>
          </a:p>
        </p:txBody>
      </p:sp>
      <p:sp>
        <p:nvSpPr>
          <p:cNvPr id="451597" name="Text Box 13"/>
          <p:cNvSpPr txBox="1">
            <a:spLocks noChangeArrowheads="1"/>
          </p:cNvSpPr>
          <p:nvPr/>
        </p:nvSpPr>
        <p:spPr bwMode="auto">
          <a:xfrm>
            <a:off x="5692775" y="3873957"/>
            <a:ext cx="29557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l</a:t>
            </a:r>
          </a:p>
        </p:txBody>
      </p:sp>
      <p:sp>
        <p:nvSpPr>
          <p:cNvPr id="451598" name="Text Box 14"/>
          <p:cNvSpPr txBox="1">
            <a:spLocks noChangeArrowheads="1"/>
          </p:cNvSpPr>
          <p:nvPr/>
        </p:nvSpPr>
        <p:spPr bwMode="auto">
          <a:xfrm>
            <a:off x="6621463" y="3873957"/>
            <a:ext cx="29557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l</a:t>
            </a:r>
          </a:p>
        </p:txBody>
      </p:sp>
      <p:sp>
        <p:nvSpPr>
          <p:cNvPr id="451599" name="Text Box 15"/>
          <p:cNvSpPr txBox="1">
            <a:spLocks noChangeArrowheads="1"/>
          </p:cNvSpPr>
          <p:nvPr/>
        </p:nvSpPr>
        <p:spPr bwMode="auto">
          <a:xfrm>
            <a:off x="7535863" y="3856495"/>
            <a:ext cx="500756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latin typeface="Times New Roman" pitchFamily="18" charset="0"/>
              </a:rPr>
              <a:t>\0</a:t>
            </a:r>
          </a:p>
        </p:txBody>
      </p:sp>
      <p:grpSp>
        <p:nvGrpSpPr>
          <p:cNvPr id="451686" name="Group 102"/>
          <p:cNvGrpSpPr>
            <a:grpSpLocks/>
          </p:cNvGrpSpPr>
          <p:nvPr/>
        </p:nvGrpSpPr>
        <p:grpSpPr bwMode="auto">
          <a:xfrm>
            <a:off x="3429000" y="3826334"/>
            <a:ext cx="4916488" cy="1182688"/>
            <a:chOff x="1200" y="2256"/>
            <a:chExt cx="3097" cy="745"/>
          </a:xfrm>
        </p:grpSpPr>
        <p:sp>
          <p:nvSpPr>
            <p:cNvPr id="18444" name="Rectangle 5"/>
            <p:cNvSpPr>
              <a:spLocks noChangeArrowheads="1"/>
            </p:cNvSpPr>
            <p:nvPr/>
          </p:nvSpPr>
          <p:spPr bwMode="auto">
            <a:xfrm>
              <a:off x="1248" y="2262"/>
              <a:ext cx="2988" cy="394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endParaRPr lang="zh-CN" altLang="zh-CN" sz="32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445" name="Line 6"/>
            <p:cNvSpPr>
              <a:spLocks noChangeShapeType="1"/>
            </p:cNvSpPr>
            <p:nvPr/>
          </p:nvSpPr>
          <p:spPr bwMode="auto">
            <a:xfrm>
              <a:off x="1884" y="2270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8446" name="Line 7"/>
            <p:cNvSpPr>
              <a:spLocks noChangeShapeType="1"/>
            </p:cNvSpPr>
            <p:nvPr/>
          </p:nvSpPr>
          <p:spPr bwMode="auto">
            <a:xfrm>
              <a:off x="2478" y="2256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8447" name="Line 8"/>
            <p:cNvSpPr>
              <a:spLocks noChangeShapeType="1"/>
            </p:cNvSpPr>
            <p:nvPr/>
          </p:nvSpPr>
          <p:spPr bwMode="auto">
            <a:xfrm>
              <a:off x="3072" y="2256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8448" name="Line 9"/>
            <p:cNvSpPr>
              <a:spLocks noChangeShapeType="1"/>
            </p:cNvSpPr>
            <p:nvPr/>
          </p:nvSpPr>
          <p:spPr bwMode="auto">
            <a:xfrm>
              <a:off x="3666" y="2256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8449" name="Text Box 10"/>
            <p:cNvSpPr txBox="1">
              <a:spLocks noChangeArrowheads="1"/>
            </p:cNvSpPr>
            <p:nvPr/>
          </p:nvSpPr>
          <p:spPr bwMode="auto">
            <a:xfrm>
              <a:off x="1200" y="263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  <a:latin typeface="Times New Roman" pitchFamily="18" charset="0"/>
                </a:rPr>
                <a:t>ch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[0]</a:t>
              </a:r>
            </a:p>
          </p:txBody>
        </p:sp>
        <p:sp>
          <p:nvSpPr>
            <p:cNvPr id="18450" name="Text Box 17"/>
            <p:cNvSpPr txBox="1">
              <a:spLocks noChangeArrowheads="1"/>
            </p:cNvSpPr>
            <p:nvPr/>
          </p:nvSpPr>
          <p:spPr bwMode="auto">
            <a:xfrm>
              <a:off x="1847" y="263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  <a:latin typeface="Times New Roman" pitchFamily="18" charset="0"/>
                </a:rPr>
                <a:t>ch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[1]</a:t>
              </a:r>
            </a:p>
          </p:txBody>
        </p:sp>
        <p:sp>
          <p:nvSpPr>
            <p:cNvPr id="18451" name="Text Box 18"/>
            <p:cNvSpPr txBox="1">
              <a:spLocks noChangeArrowheads="1"/>
            </p:cNvSpPr>
            <p:nvPr/>
          </p:nvSpPr>
          <p:spPr bwMode="auto">
            <a:xfrm>
              <a:off x="2456" y="263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  <a:latin typeface="Times New Roman" pitchFamily="18" charset="0"/>
                </a:rPr>
                <a:t>ch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[2]</a:t>
              </a:r>
            </a:p>
          </p:txBody>
        </p:sp>
        <p:sp>
          <p:nvSpPr>
            <p:cNvPr id="18452" name="Text Box 19"/>
            <p:cNvSpPr txBox="1">
              <a:spLocks noChangeArrowheads="1"/>
            </p:cNvSpPr>
            <p:nvPr/>
          </p:nvSpPr>
          <p:spPr bwMode="auto">
            <a:xfrm>
              <a:off x="3057" y="263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  <a:latin typeface="Times New Roman" pitchFamily="18" charset="0"/>
                </a:rPr>
                <a:t>ch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[3]</a:t>
              </a:r>
            </a:p>
          </p:txBody>
        </p:sp>
        <p:sp>
          <p:nvSpPr>
            <p:cNvPr id="18453" name="Text Box 20"/>
            <p:cNvSpPr txBox="1">
              <a:spLocks noChangeArrowheads="1"/>
            </p:cNvSpPr>
            <p:nvPr/>
          </p:nvSpPr>
          <p:spPr bwMode="auto">
            <a:xfrm>
              <a:off x="3650" y="263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  <a:latin typeface="Times New Roman" pitchFamily="18" charset="0"/>
                </a:rPr>
                <a:t>ch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[4]</a:t>
              </a:r>
            </a:p>
          </p:txBody>
        </p:sp>
      </p:grpSp>
      <p:sp>
        <p:nvSpPr>
          <p:cNvPr id="451663" name="Rectangle 79"/>
          <p:cNvSpPr>
            <a:spLocks noChangeArrowheads="1"/>
          </p:cNvSpPr>
          <p:nvPr/>
        </p:nvSpPr>
        <p:spPr bwMode="auto">
          <a:xfrm>
            <a:off x="3299792" y="2841176"/>
            <a:ext cx="743352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[5]={'H', 'e', 'l', 'l' , '\0'};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C244E0F-8E14-4C12-A918-04709E5DCFA7}"/>
              </a:ext>
            </a:extLst>
          </p:cNvPr>
          <p:cNvGrpSpPr/>
          <p:nvPr/>
        </p:nvGrpSpPr>
        <p:grpSpPr>
          <a:xfrm>
            <a:off x="1763" y="355744"/>
            <a:ext cx="5691012" cy="1239824"/>
            <a:chOff x="0" y="175102"/>
            <a:chExt cx="6411951" cy="769441"/>
          </a:xfrm>
        </p:grpSpPr>
        <p:sp>
          <p:nvSpPr>
            <p:cNvPr id="26" name="矩形: 剪去单角 25">
              <a:extLst>
                <a:ext uri="{FF2B5EF4-FFF2-40B4-BE49-F238E27FC236}">
                  <a16:creationId xmlns:a16="http://schemas.microsoft.com/office/drawing/2014/main" id="{A03E4D68-8B55-4C4F-95D9-6B0F9CD92163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5485999-51CE-4F5A-B750-53AE8E32564C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一维字符数组的初始化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7928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5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5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5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5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6" grpId="0" autoUpdateAnimBg="0"/>
      <p:bldP spid="451595" grpId="0" autoUpdateAnimBg="0"/>
      <p:bldP spid="451596" grpId="0" autoUpdateAnimBg="0"/>
      <p:bldP spid="451597" grpId="0" autoUpdateAnimBg="0"/>
      <p:bldP spid="451598" grpId="0" autoUpdateAnimBg="0"/>
      <p:bldP spid="451599" grpId="0" autoUpdateAnimBg="0"/>
      <p:bldP spid="451663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61" name="Rectangle 5"/>
          <p:cNvSpPr>
            <a:spLocks noChangeArrowheads="1"/>
          </p:cNvSpPr>
          <p:nvPr/>
        </p:nvSpPr>
        <p:spPr bwMode="auto">
          <a:xfrm>
            <a:off x="1676400" y="2211550"/>
            <a:ext cx="60960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1828800" lvl="3" indent="-457200" eaLnBrk="0" hangingPunct="0"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使用字符串常量</a:t>
            </a:r>
          </a:p>
        </p:txBody>
      </p:sp>
      <p:sp>
        <p:nvSpPr>
          <p:cNvPr id="454670" name="Text Box 14"/>
          <p:cNvSpPr txBox="1">
            <a:spLocks noChangeArrowheads="1"/>
          </p:cNvSpPr>
          <p:nvPr/>
        </p:nvSpPr>
        <p:spPr bwMode="auto">
          <a:xfrm>
            <a:off x="3636963" y="3949701"/>
            <a:ext cx="500756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H</a:t>
            </a:r>
          </a:p>
        </p:txBody>
      </p:sp>
      <p:sp>
        <p:nvSpPr>
          <p:cNvPr id="454671" name="Text Box 15"/>
          <p:cNvSpPr txBox="1">
            <a:spLocks noChangeArrowheads="1"/>
          </p:cNvSpPr>
          <p:nvPr/>
        </p:nvSpPr>
        <p:spPr bwMode="auto">
          <a:xfrm>
            <a:off x="4664075" y="3930651"/>
            <a:ext cx="3645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e</a:t>
            </a:r>
          </a:p>
        </p:txBody>
      </p:sp>
      <p:sp>
        <p:nvSpPr>
          <p:cNvPr id="454672" name="Text Box 16"/>
          <p:cNvSpPr txBox="1">
            <a:spLocks noChangeArrowheads="1"/>
          </p:cNvSpPr>
          <p:nvPr/>
        </p:nvSpPr>
        <p:spPr bwMode="auto">
          <a:xfrm>
            <a:off x="5594350" y="3930651"/>
            <a:ext cx="40938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h</a:t>
            </a:r>
          </a:p>
        </p:txBody>
      </p:sp>
      <p:sp>
        <p:nvSpPr>
          <p:cNvPr id="454673" name="Text Box 17"/>
          <p:cNvSpPr txBox="1">
            <a:spLocks noChangeArrowheads="1"/>
          </p:cNvSpPr>
          <p:nvPr/>
        </p:nvSpPr>
        <p:spPr bwMode="auto">
          <a:xfrm>
            <a:off x="6523038" y="3930651"/>
            <a:ext cx="3645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e</a:t>
            </a:r>
          </a:p>
        </p:txBody>
      </p:sp>
      <p:sp>
        <p:nvSpPr>
          <p:cNvPr id="454674" name="Text Box 18"/>
          <p:cNvSpPr txBox="1">
            <a:spLocks noChangeArrowheads="1"/>
          </p:cNvSpPr>
          <p:nvPr/>
        </p:nvSpPr>
        <p:spPr bwMode="auto">
          <a:xfrm>
            <a:off x="7453313" y="3930651"/>
            <a:ext cx="500756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</a:rPr>
              <a:t>\0</a:t>
            </a:r>
          </a:p>
        </p:txBody>
      </p:sp>
      <p:grpSp>
        <p:nvGrpSpPr>
          <p:cNvPr id="454681" name="Group 25"/>
          <p:cNvGrpSpPr>
            <a:grpSpLocks/>
          </p:cNvGrpSpPr>
          <p:nvPr/>
        </p:nvGrpSpPr>
        <p:grpSpPr bwMode="auto">
          <a:xfrm>
            <a:off x="3352800" y="3930653"/>
            <a:ext cx="4821238" cy="1182688"/>
            <a:chOff x="933" y="2496"/>
            <a:chExt cx="3037" cy="745"/>
          </a:xfrm>
        </p:grpSpPr>
        <p:sp>
          <p:nvSpPr>
            <p:cNvPr id="19478" name="Rectangle 8"/>
            <p:cNvSpPr>
              <a:spLocks noChangeArrowheads="1"/>
            </p:cNvSpPr>
            <p:nvPr/>
          </p:nvSpPr>
          <p:spPr bwMode="auto">
            <a:xfrm>
              <a:off x="959" y="2502"/>
              <a:ext cx="2988" cy="394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endParaRPr lang="zh-CN" altLang="zh-CN" sz="20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479" name="Line 9"/>
            <p:cNvSpPr>
              <a:spLocks noChangeShapeType="1"/>
            </p:cNvSpPr>
            <p:nvPr/>
          </p:nvSpPr>
          <p:spPr bwMode="auto">
            <a:xfrm>
              <a:off x="1587" y="2510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9480" name="Line 10"/>
            <p:cNvSpPr>
              <a:spLocks noChangeShapeType="1"/>
            </p:cNvSpPr>
            <p:nvPr/>
          </p:nvSpPr>
          <p:spPr bwMode="auto">
            <a:xfrm>
              <a:off x="2181" y="2496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9481" name="Line 11"/>
            <p:cNvSpPr>
              <a:spLocks noChangeShapeType="1"/>
            </p:cNvSpPr>
            <p:nvPr/>
          </p:nvSpPr>
          <p:spPr bwMode="auto">
            <a:xfrm>
              <a:off x="2775" y="2496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9482" name="Line 12"/>
            <p:cNvSpPr>
              <a:spLocks noChangeShapeType="1"/>
            </p:cNvSpPr>
            <p:nvPr/>
          </p:nvSpPr>
          <p:spPr bwMode="auto">
            <a:xfrm>
              <a:off x="3369" y="2496"/>
              <a:ext cx="0" cy="39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9483" name="Text Box 13"/>
            <p:cNvSpPr txBox="1">
              <a:spLocks noChangeArrowheads="1"/>
            </p:cNvSpPr>
            <p:nvPr/>
          </p:nvSpPr>
          <p:spPr bwMode="auto">
            <a:xfrm>
              <a:off x="933" y="2855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  <a:latin typeface="Times New Roman" pitchFamily="18" charset="0"/>
                </a:rPr>
                <a:t>ch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[0]</a:t>
              </a:r>
            </a:p>
          </p:txBody>
        </p:sp>
        <p:sp>
          <p:nvSpPr>
            <p:cNvPr id="19484" name="Text Box 20"/>
            <p:cNvSpPr txBox="1">
              <a:spLocks noChangeArrowheads="1"/>
            </p:cNvSpPr>
            <p:nvPr/>
          </p:nvSpPr>
          <p:spPr bwMode="auto">
            <a:xfrm>
              <a:off x="1552" y="2863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ch[1]</a:t>
              </a:r>
            </a:p>
          </p:txBody>
        </p:sp>
        <p:sp>
          <p:nvSpPr>
            <p:cNvPr id="19485" name="Text Box 21"/>
            <p:cNvSpPr txBox="1">
              <a:spLocks noChangeArrowheads="1"/>
            </p:cNvSpPr>
            <p:nvPr/>
          </p:nvSpPr>
          <p:spPr bwMode="auto">
            <a:xfrm>
              <a:off x="2161" y="287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ch[2]</a:t>
              </a:r>
            </a:p>
          </p:txBody>
        </p:sp>
        <p:sp>
          <p:nvSpPr>
            <p:cNvPr id="19486" name="Text Box 22"/>
            <p:cNvSpPr txBox="1">
              <a:spLocks noChangeArrowheads="1"/>
            </p:cNvSpPr>
            <p:nvPr/>
          </p:nvSpPr>
          <p:spPr bwMode="auto">
            <a:xfrm>
              <a:off x="2776" y="287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ch[3]</a:t>
              </a:r>
            </a:p>
          </p:txBody>
        </p:sp>
        <p:sp>
          <p:nvSpPr>
            <p:cNvPr id="19487" name="Text Box 23"/>
            <p:cNvSpPr txBox="1">
              <a:spLocks noChangeArrowheads="1"/>
            </p:cNvSpPr>
            <p:nvPr/>
          </p:nvSpPr>
          <p:spPr bwMode="auto">
            <a:xfrm>
              <a:off x="3323" y="2871"/>
              <a:ext cx="64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 ch[4]</a:t>
              </a:r>
            </a:p>
          </p:txBody>
        </p:sp>
      </p:grpSp>
      <p:sp>
        <p:nvSpPr>
          <p:cNvPr id="454680" name="Rectangle 24"/>
          <p:cNvSpPr>
            <a:spLocks noChangeArrowheads="1"/>
          </p:cNvSpPr>
          <p:nvPr/>
        </p:nvSpPr>
        <p:spPr bwMode="auto">
          <a:xfrm>
            <a:off x="3124200" y="3058068"/>
            <a:ext cx="45720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</a:rPr>
              <a:t>例</a:t>
            </a:r>
            <a:r>
              <a:rPr lang="zh-CN" altLang="en-US" sz="3200" b="1" dirty="0">
                <a:latin typeface="Times New Roman" pitchFamily="18" charset="0"/>
              </a:rPr>
              <a:t>  </a:t>
            </a:r>
            <a:r>
              <a:rPr lang="en-US" altLang="zh-CN" sz="3200" b="1" dirty="0">
                <a:latin typeface="Times New Roman" pitchFamily="18" charset="0"/>
              </a:rPr>
              <a:t>char </a:t>
            </a:r>
            <a:r>
              <a:rPr lang="en-US" altLang="zh-CN" sz="3200" b="1" dirty="0" err="1">
                <a:latin typeface="Times New Roman" pitchFamily="18" charset="0"/>
              </a:rPr>
              <a:t>ch</a:t>
            </a:r>
            <a:r>
              <a:rPr lang="en-US" altLang="zh-CN" sz="3200" b="1" dirty="0">
                <a:latin typeface="Times New Roman" pitchFamily="18" charset="0"/>
              </a:rPr>
              <a:t>[5]="</a:t>
            </a:r>
            <a:r>
              <a:rPr lang="en-US" altLang="zh-CN" sz="3200" b="1" dirty="0" err="1">
                <a:latin typeface="Times New Roman" pitchFamily="18" charset="0"/>
              </a:rPr>
              <a:t>Hehe</a:t>
            </a:r>
            <a:r>
              <a:rPr lang="en-US" altLang="zh-CN" sz="3200" b="1" dirty="0">
                <a:latin typeface="Times New Roman" pitchFamily="18" charset="0"/>
              </a:rPr>
              <a:t>";</a:t>
            </a:r>
          </a:p>
        </p:txBody>
      </p:sp>
      <p:grpSp>
        <p:nvGrpSpPr>
          <p:cNvPr id="454692" name="Group 36"/>
          <p:cNvGrpSpPr>
            <a:grpSpLocks/>
          </p:cNvGrpSpPr>
          <p:nvPr/>
        </p:nvGrpSpPr>
        <p:grpSpPr bwMode="auto">
          <a:xfrm>
            <a:off x="8839200" y="1905001"/>
            <a:ext cx="1295400" cy="1343025"/>
            <a:chOff x="4608" y="1200"/>
            <a:chExt cx="816" cy="846"/>
          </a:xfrm>
        </p:grpSpPr>
        <p:sp>
          <p:nvSpPr>
            <p:cNvPr id="19474" name="Rectangle 29"/>
            <p:cNvSpPr>
              <a:spLocks noChangeArrowheads="1"/>
            </p:cNvSpPr>
            <p:nvPr/>
          </p:nvSpPr>
          <p:spPr bwMode="auto">
            <a:xfrm>
              <a:off x="4608" y="1200"/>
              <a:ext cx="336" cy="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3200" b="1">
                  <a:latin typeface="Times New Roman" pitchFamily="18" charset="0"/>
                </a:rPr>
                <a:t>a</a:t>
              </a:r>
            </a:p>
          </p:txBody>
        </p:sp>
        <p:grpSp>
          <p:nvGrpSpPr>
            <p:cNvPr id="19475" name="Group 30"/>
            <p:cNvGrpSpPr>
              <a:grpSpLocks/>
            </p:cNvGrpSpPr>
            <p:nvPr/>
          </p:nvGrpSpPr>
          <p:grpSpPr bwMode="auto">
            <a:xfrm>
              <a:off x="4608" y="1728"/>
              <a:ext cx="816" cy="318"/>
              <a:chOff x="3264" y="2736"/>
              <a:chExt cx="589" cy="267"/>
            </a:xfrm>
          </p:grpSpPr>
          <p:sp>
            <p:nvSpPr>
              <p:cNvPr id="19476" name="Rectangle 31"/>
              <p:cNvSpPr>
                <a:spLocks noChangeArrowheads="1"/>
              </p:cNvSpPr>
              <p:nvPr/>
            </p:nvSpPr>
            <p:spPr bwMode="auto">
              <a:xfrm>
                <a:off x="3264" y="2736"/>
                <a:ext cx="589" cy="26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sz="3200" b="1" dirty="0">
                    <a:latin typeface="Times New Roman" pitchFamily="18" charset="0"/>
                  </a:rPr>
                  <a:t>a </a:t>
                </a:r>
                <a:r>
                  <a:rPr lang="en-US" altLang="zh-CN" sz="3200" b="1" dirty="0"/>
                  <a:t>     </a:t>
                </a:r>
                <a:r>
                  <a:rPr lang="en-US" altLang="zh-CN" sz="3200" b="1" dirty="0">
                    <a:latin typeface="Times New Roman" pitchFamily="18" charset="0"/>
                  </a:rPr>
                  <a:t>\0</a:t>
                </a:r>
              </a:p>
            </p:txBody>
          </p:sp>
          <p:sp>
            <p:nvSpPr>
              <p:cNvPr id="19477" name="Line 32"/>
              <p:cNvSpPr>
                <a:spLocks noChangeShapeType="1"/>
              </p:cNvSpPr>
              <p:nvPr/>
            </p:nvSpPr>
            <p:spPr bwMode="auto">
              <a:xfrm>
                <a:off x="3552" y="2736"/>
                <a:ext cx="0" cy="2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</p:grpSp>
      <p:grpSp>
        <p:nvGrpSpPr>
          <p:cNvPr id="454691" name="Group 35"/>
          <p:cNvGrpSpPr>
            <a:grpSpLocks/>
          </p:cNvGrpSpPr>
          <p:nvPr/>
        </p:nvGrpSpPr>
        <p:grpSpPr bwMode="auto">
          <a:xfrm>
            <a:off x="7848601" y="1905002"/>
            <a:ext cx="846138" cy="1422401"/>
            <a:chOff x="3984" y="1200"/>
            <a:chExt cx="533" cy="896"/>
          </a:xfrm>
        </p:grpSpPr>
        <p:sp>
          <p:nvSpPr>
            <p:cNvPr id="19472" name="Text Box 33"/>
            <p:cNvSpPr txBox="1">
              <a:spLocks noChangeArrowheads="1"/>
            </p:cNvSpPr>
            <p:nvPr/>
          </p:nvSpPr>
          <p:spPr bwMode="auto">
            <a:xfrm>
              <a:off x="4032" y="1200"/>
              <a:ext cx="39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'</a:t>
              </a:r>
              <a:r>
                <a:rPr lang="en-US" altLang="zh-CN" b="1">
                  <a:latin typeface="隶书" pitchFamily="49" charset="-122"/>
                  <a:ea typeface="隶书" pitchFamily="49" charset="-122"/>
                </a:rPr>
                <a:t>a</a:t>
              </a:r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'</a:t>
              </a:r>
            </a:p>
          </p:txBody>
        </p:sp>
        <p:sp>
          <p:nvSpPr>
            <p:cNvPr id="19473" name="Text Box 34"/>
            <p:cNvSpPr txBox="1">
              <a:spLocks noChangeArrowheads="1"/>
            </p:cNvSpPr>
            <p:nvPr/>
          </p:nvSpPr>
          <p:spPr bwMode="auto">
            <a:xfrm>
              <a:off x="3984" y="1728"/>
              <a:ext cx="5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"</a:t>
              </a:r>
              <a:r>
                <a:rPr lang="en-US" altLang="zh-CN" b="1">
                  <a:latin typeface="隶书" pitchFamily="49" charset="-122"/>
                  <a:ea typeface="隶书" pitchFamily="49" charset="-122"/>
                </a:rPr>
                <a:t>a</a:t>
              </a:r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"</a:t>
              </a:r>
            </a:p>
          </p:txBody>
        </p:sp>
      </p:grpSp>
      <p:sp>
        <p:nvSpPr>
          <p:cNvPr id="454693" name="Rectangle 37"/>
          <p:cNvSpPr>
            <a:spLocks noChangeArrowheads="1"/>
          </p:cNvSpPr>
          <p:nvPr/>
        </p:nvSpPr>
        <p:spPr bwMode="auto">
          <a:xfrm>
            <a:off x="7680942" y="2227244"/>
            <a:ext cx="181822" cy="3715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 b="1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ADCA29F-72A1-4BD9-ACB7-1EDE69A69133}"/>
              </a:ext>
            </a:extLst>
          </p:cNvPr>
          <p:cNvGrpSpPr/>
          <p:nvPr/>
        </p:nvGrpSpPr>
        <p:grpSpPr>
          <a:xfrm>
            <a:off x="1763" y="355744"/>
            <a:ext cx="5451980" cy="1239824"/>
            <a:chOff x="0" y="175102"/>
            <a:chExt cx="6411951" cy="769441"/>
          </a:xfrm>
        </p:grpSpPr>
        <p:sp>
          <p:nvSpPr>
            <p:cNvPr id="36" name="矩形: 剪去单角 35">
              <a:extLst>
                <a:ext uri="{FF2B5EF4-FFF2-40B4-BE49-F238E27FC236}">
                  <a16:creationId xmlns:a16="http://schemas.microsoft.com/office/drawing/2014/main" id="{6D388698-5F80-45F8-A8B8-906AC92BD45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FDF9985-8E6E-4C0A-8CB5-174646EAD9E4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一维字符数组初始化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20672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5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4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5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5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5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5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1" grpId="0" autoUpdateAnimBg="0"/>
      <p:bldP spid="454670" grpId="0" autoUpdateAnimBg="0"/>
      <p:bldP spid="454671" grpId="0" autoUpdateAnimBg="0"/>
      <p:bldP spid="454672" grpId="0" autoUpdateAnimBg="0"/>
      <p:bldP spid="454673" grpId="0" autoUpdateAnimBg="0"/>
      <p:bldP spid="454674" grpId="0" autoUpdateAnimBg="0"/>
      <p:bldP spid="454680" grpId="0" autoUpdateAnimBg="0"/>
      <p:bldP spid="45469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093" name="Rectangle 181"/>
          <p:cNvSpPr>
            <a:spLocks noChangeArrowheads="1"/>
          </p:cNvSpPr>
          <p:nvPr/>
        </p:nvSpPr>
        <p:spPr bwMode="auto">
          <a:xfrm>
            <a:off x="793297" y="1776089"/>
            <a:ext cx="10878003" cy="53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indent="-457200" eaLnBrk="0" hangingPunct="0"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  数组名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en-US" sz="3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itchFamily="18" charset="2"/>
            </a:endParaRPr>
          </a:p>
          <a:p>
            <a:pPr lvl="2" eaLnBrk="0" hangingPunct="0">
              <a:buClr>
                <a:schemeClr val="tx1"/>
              </a:buClr>
              <a:buFont typeface="Wingdings" pitchFamily="2" charset="2"/>
              <a:buNone/>
            </a:pPr>
            <a:endParaRPr lang="en-US" altLang="zh-CN" sz="3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3096" name="Rectangle 184"/>
          <p:cNvSpPr>
            <a:spLocks noChangeArrowheads="1"/>
          </p:cNvSpPr>
          <p:nvPr/>
        </p:nvSpPr>
        <p:spPr bwMode="auto">
          <a:xfrm>
            <a:off x="793297" y="2820268"/>
            <a:ext cx="49990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indent="-457200" eaLnBrk="0" hangingPunct="0"/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例子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char a[5][10];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41F19B2-CF59-4AE5-B8EF-934F8585D41F}"/>
              </a:ext>
            </a:extLst>
          </p:cNvPr>
          <p:cNvGrpSpPr/>
          <p:nvPr/>
        </p:nvGrpSpPr>
        <p:grpSpPr>
          <a:xfrm>
            <a:off x="1763" y="170366"/>
            <a:ext cx="4211007" cy="1319228"/>
            <a:chOff x="0" y="175102"/>
            <a:chExt cx="6411951" cy="769441"/>
          </a:xfrm>
        </p:grpSpPr>
        <p:sp>
          <p:nvSpPr>
            <p:cNvPr id="9" name="矩形: 剪去单角 8">
              <a:extLst>
                <a:ext uri="{FF2B5EF4-FFF2-40B4-BE49-F238E27FC236}">
                  <a16:creationId xmlns:a16="http://schemas.microsoft.com/office/drawing/2014/main" id="{19291E41-63A8-4593-9654-5171FFE959D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1B04AA6-2786-4162-8678-E905F11CB8C4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二维字符数组定义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8793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3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093" grpId="0" build="p" bldLvl="3" autoUpdateAnimBg="0"/>
      <p:bldP spid="423096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694" name="Group 14"/>
          <p:cNvGrpSpPr>
            <a:grpSpLocks/>
          </p:cNvGrpSpPr>
          <p:nvPr/>
        </p:nvGrpSpPr>
        <p:grpSpPr bwMode="auto">
          <a:xfrm>
            <a:off x="2590800" y="3532426"/>
            <a:ext cx="1455738" cy="2530476"/>
            <a:chOff x="867" y="1104"/>
            <a:chExt cx="917" cy="1594"/>
          </a:xfrm>
        </p:grpSpPr>
        <p:sp>
          <p:nvSpPr>
            <p:cNvPr id="21552" name="Text Box 15"/>
            <p:cNvSpPr txBox="1">
              <a:spLocks noChangeArrowheads="1"/>
            </p:cNvSpPr>
            <p:nvPr/>
          </p:nvSpPr>
          <p:spPr bwMode="auto">
            <a:xfrm>
              <a:off x="867" y="1104"/>
              <a:ext cx="91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fruit[0]</a:t>
              </a:r>
            </a:p>
          </p:txBody>
        </p:sp>
        <p:sp>
          <p:nvSpPr>
            <p:cNvPr id="21553" name="Text Box 16"/>
            <p:cNvSpPr txBox="1">
              <a:spLocks noChangeArrowheads="1"/>
            </p:cNvSpPr>
            <p:nvPr/>
          </p:nvSpPr>
          <p:spPr bwMode="auto">
            <a:xfrm>
              <a:off x="867" y="1410"/>
              <a:ext cx="91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fruit[1]</a:t>
              </a:r>
            </a:p>
          </p:txBody>
        </p:sp>
        <p:sp>
          <p:nvSpPr>
            <p:cNvPr id="21554" name="Text Box 17"/>
            <p:cNvSpPr txBox="1">
              <a:spLocks noChangeArrowheads="1"/>
            </p:cNvSpPr>
            <p:nvPr/>
          </p:nvSpPr>
          <p:spPr bwMode="auto">
            <a:xfrm>
              <a:off x="867" y="1716"/>
              <a:ext cx="91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fruit[2]</a:t>
              </a:r>
            </a:p>
          </p:txBody>
        </p:sp>
        <p:sp>
          <p:nvSpPr>
            <p:cNvPr id="21555" name="Text Box 18"/>
            <p:cNvSpPr txBox="1">
              <a:spLocks noChangeArrowheads="1"/>
            </p:cNvSpPr>
            <p:nvPr/>
          </p:nvSpPr>
          <p:spPr bwMode="auto">
            <a:xfrm>
              <a:off x="867" y="2022"/>
              <a:ext cx="91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fruit[3]</a:t>
              </a:r>
            </a:p>
          </p:txBody>
        </p:sp>
        <p:sp>
          <p:nvSpPr>
            <p:cNvPr id="21556" name="Text Box 19"/>
            <p:cNvSpPr txBox="1">
              <a:spLocks noChangeArrowheads="1"/>
            </p:cNvSpPr>
            <p:nvPr/>
          </p:nvSpPr>
          <p:spPr bwMode="auto">
            <a:xfrm>
              <a:off x="867" y="2328"/>
              <a:ext cx="91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隶书" pitchFamily="49" charset="-122"/>
                </a:rPr>
                <a:t>fruit[4]</a:t>
              </a:r>
            </a:p>
          </p:txBody>
        </p:sp>
      </p:grpSp>
      <p:grpSp>
        <p:nvGrpSpPr>
          <p:cNvPr id="455743" name="Group 63"/>
          <p:cNvGrpSpPr>
            <a:grpSpLocks/>
          </p:cNvGrpSpPr>
          <p:nvPr/>
        </p:nvGrpSpPr>
        <p:grpSpPr bwMode="auto">
          <a:xfrm>
            <a:off x="4038600" y="3602276"/>
            <a:ext cx="4800600" cy="2432050"/>
            <a:chOff x="1584" y="1988"/>
            <a:chExt cx="3024" cy="1532"/>
          </a:xfrm>
        </p:grpSpPr>
        <p:sp>
          <p:nvSpPr>
            <p:cNvPr id="21541" name="Rectangle 4"/>
            <p:cNvSpPr>
              <a:spLocks noChangeArrowheads="1"/>
            </p:cNvSpPr>
            <p:nvPr/>
          </p:nvSpPr>
          <p:spPr bwMode="auto">
            <a:xfrm>
              <a:off x="1585" y="1988"/>
              <a:ext cx="3023" cy="1527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endParaRPr lang="zh-CN" altLang="zh-CN" sz="32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542" name="Line 5"/>
            <p:cNvSpPr>
              <a:spLocks noChangeShapeType="1"/>
            </p:cNvSpPr>
            <p:nvPr/>
          </p:nvSpPr>
          <p:spPr bwMode="auto">
            <a:xfrm>
              <a:off x="1969" y="1989"/>
              <a:ext cx="0" cy="153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3" name="Line 6"/>
            <p:cNvSpPr>
              <a:spLocks noChangeShapeType="1"/>
            </p:cNvSpPr>
            <p:nvPr/>
          </p:nvSpPr>
          <p:spPr bwMode="auto">
            <a:xfrm>
              <a:off x="3225" y="1989"/>
              <a:ext cx="0" cy="153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4" name="Line 7"/>
            <p:cNvSpPr>
              <a:spLocks noChangeShapeType="1"/>
            </p:cNvSpPr>
            <p:nvPr/>
          </p:nvSpPr>
          <p:spPr bwMode="auto">
            <a:xfrm>
              <a:off x="3644" y="1989"/>
              <a:ext cx="0" cy="153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5" name="Line 8"/>
            <p:cNvSpPr>
              <a:spLocks noChangeShapeType="1"/>
            </p:cNvSpPr>
            <p:nvPr/>
          </p:nvSpPr>
          <p:spPr bwMode="auto">
            <a:xfrm>
              <a:off x="4063" y="1989"/>
              <a:ext cx="0" cy="153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6" name="Line 9"/>
            <p:cNvSpPr>
              <a:spLocks noChangeShapeType="1"/>
            </p:cNvSpPr>
            <p:nvPr/>
          </p:nvSpPr>
          <p:spPr bwMode="auto">
            <a:xfrm>
              <a:off x="1584" y="3209"/>
              <a:ext cx="3024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7" name="Line 11"/>
            <p:cNvSpPr>
              <a:spLocks noChangeShapeType="1"/>
            </p:cNvSpPr>
            <p:nvPr/>
          </p:nvSpPr>
          <p:spPr bwMode="auto">
            <a:xfrm>
              <a:off x="1598" y="2316"/>
              <a:ext cx="301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8" name="Line 12"/>
            <p:cNvSpPr>
              <a:spLocks noChangeShapeType="1"/>
            </p:cNvSpPr>
            <p:nvPr/>
          </p:nvSpPr>
          <p:spPr bwMode="auto">
            <a:xfrm>
              <a:off x="1598" y="2616"/>
              <a:ext cx="301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49" name="Line 13"/>
            <p:cNvSpPr>
              <a:spLocks noChangeShapeType="1"/>
            </p:cNvSpPr>
            <p:nvPr/>
          </p:nvSpPr>
          <p:spPr bwMode="auto">
            <a:xfrm>
              <a:off x="1584" y="2928"/>
              <a:ext cx="3024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50" name="Line 20"/>
            <p:cNvSpPr>
              <a:spLocks noChangeShapeType="1"/>
            </p:cNvSpPr>
            <p:nvPr/>
          </p:nvSpPr>
          <p:spPr bwMode="auto">
            <a:xfrm>
              <a:off x="2387" y="1989"/>
              <a:ext cx="0" cy="153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551" name="Line 21"/>
            <p:cNvSpPr>
              <a:spLocks noChangeShapeType="1"/>
            </p:cNvSpPr>
            <p:nvPr/>
          </p:nvSpPr>
          <p:spPr bwMode="auto">
            <a:xfrm>
              <a:off x="2806" y="1989"/>
              <a:ext cx="0" cy="153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sp>
        <p:nvSpPr>
          <p:cNvPr id="455703" name="Text Box 23"/>
          <p:cNvSpPr txBox="1">
            <a:spLocks noChangeArrowheads="1"/>
          </p:cNvSpPr>
          <p:nvPr/>
        </p:nvSpPr>
        <p:spPr bwMode="auto">
          <a:xfrm>
            <a:off x="4137026" y="3568940"/>
            <a:ext cx="4730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455704" name="Text Box 24"/>
          <p:cNvSpPr txBox="1">
            <a:spLocks noChangeArrowheads="1"/>
          </p:cNvSpPr>
          <p:nvPr/>
        </p:nvSpPr>
        <p:spPr bwMode="auto">
          <a:xfrm>
            <a:off x="4784726" y="3505440"/>
            <a:ext cx="4730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455705" name="Text Box 25"/>
          <p:cNvSpPr txBox="1">
            <a:spLocks noChangeArrowheads="1"/>
          </p:cNvSpPr>
          <p:nvPr/>
        </p:nvSpPr>
        <p:spPr bwMode="auto">
          <a:xfrm>
            <a:off x="5470526" y="3518140"/>
            <a:ext cx="4730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455706" name="Text Box 26"/>
          <p:cNvSpPr txBox="1">
            <a:spLocks noChangeArrowheads="1"/>
          </p:cNvSpPr>
          <p:nvPr/>
        </p:nvSpPr>
        <p:spPr bwMode="auto">
          <a:xfrm>
            <a:off x="6197600" y="3570527"/>
            <a:ext cx="4762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455707" name="Text Box 27"/>
          <p:cNvSpPr txBox="1">
            <a:spLocks noChangeArrowheads="1"/>
          </p:cNvSpPr>
          <p:nvPr/>
        </p:nvSpPr>
        <p:spPr bwMode="auto">
          <a:xfrm>
            <a:off x="6829426" y="3562590"/>
            <a:ext cx="4730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455708" name="Text Box 28"/>
          <p:cNvSpPr txBox="1">
            <a:spLocks noChangeArrowheads="1"/>
          </p:cNvSpPr>
          <p:nvPr/>
        </p:nvSpPr>
        <p:spPr bwMode="auto">
          <a:xfrm>
            <a:off x="7356476" y="3570527"/>
            <a:ext cx="5683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\0</a:t>
            </a:r>
          </a:p>
        </p:txBody>
      </p:sp>
      <p:sp>
        <p:nvSpPr>
          <p:cNvPr id="455711" name="Text Box 31"/>
          <p:cNvSpPr txBox="1">
            <a:spLocks noChangeArrowheads="1"/>
          </p:cNvSpPr>
          <p:nvPr/>
        </p:nvSpPr>
        <p:spPr bwMode="auto">
          <a:xfrm>
            <a:off x="4137025" y="4043602"/>
            <a:ext cx="433388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455712" name="Text Box 32"/>
          <p:cNvSpPr txBox="1">
            <a:spLocks noChangeArrowheads="1"/>
          </p:cNvSpPr>
          <p:nvPr/>
        </p:nvSpPr>
        <p:spPr bwMode="auto">
          <a:xfrm>
            <a:off x="4824414" y="4043602"/>
            <a:ext cx="43338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455713" name="Text Box 33"/>
          <p:cNvSpPr txBox="1">
            <a:spLocks noChangeArrowheads="1"/>
          </p:cNvSpPr>
          <p:nvPr/>
        </p:nvSpPr>
        <p:spPr bwMode="auto">
          <a:xfrm>
            <a:off x="5486400" y="4043602"/>
            <a:ext cx="433388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455714" name="Text Box 34"/>
          <p:cNvSpPr txBox="1">
            <a:spLocks noChangeArrowheads="1"/>
          </p:cNvSpPr>
          <p:nvPr/>
        </p:nvSpPr>
        <p:spPr bwMode="auto">
          <a:xfrm>
            <a:off x="6118226" y="4043602"/>
            <a:ext cx="43497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455715" name="Text Box 35"/>
          <p:cNvSpPr txBox="1">
            <a:spLocks noChangeArrowheads="1"/>
          </p:cNvSpPr>
          <p:nvPr/>
        </p:nvSpPr>
        <p:spPr bwMode="auto">
          <a:xfrm>
            <a:off x="6805614" y="4043602"/>
            <a:ext cx="43338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455716" name="Text Box 36"/>
          <p:cNvSpPr txBox="1">
            <a:spLocks noChangeArrowheads="1"/>
          </p:cNvSpPr>
          <p:nvPr/>
        </p:nvSpPr>
        <p:spPr bwMode="auto">
          <a:xfrm>
            <a:off x="7478714" y="4027727"/>
            <a:ext cx="52228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455717" name="Text Box 37"/>
          <p:cNvSpPr txBox="1">
            <a:spLocks noChangeArrowheads="1"/>
          </p:cNvSpPr>
          <p:nvPr/>
        </p:nvSpPr>
        <p:spPr bwMode="auto">
          <a:xfrm>
            <a:off x="8034338" y="4103927"/>
            <a:ext cx="500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\0</a:t>
            </a:r>
          </a:p>
        </p:txBody>
      </p:sp>
      <p:sp>
        <p:nvSpPr>
          <p:cNvPr id="455719" name="Text Box 39"/>
          <p:cNvSpPr txBox="1">
            <a:spLocks noChangeArrowheads="1"/>
          </p:cNvSpPr>
          <p:nvPr/>
        </p:nvSpPr>
        <p:spPr bwMode="auto">
          <a:xfrm>
            <a:off x="4137026" y="4523027"/>
            <a:ext cx="3730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455720" name="Text Box 40"/>
          <p:cNvSpPr txBox="1">
            <a:spLocks noChangeArrowheads="1"/>
          </p:cNvSpPr>
          <p:nvPr/>
        </p:nvSpPr>
        <p:spPr bwMode="auto">
          <a:xfrm>
            <a:off x="4792663" y="4523027"/>
            <a:ext cx="373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455721" name="Text Box 41"/>
          <p:cNvSpPr txBox="1">
            <a:spLocks noChangeArrowheads="1"/>
          </p:cNvSpPr>
          <p:nvPr/>
        </p:nvSpPr>
        <p:spPr bwMode="auto">
          <a:xfrm>
            <a:off x="5448301" y="4523027"/>
            <a:ext cx="3730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455722" name="Text Box 42"/>
          <p:cNvSpPr txBox="1">
            <a:spLocks noChangeArrowheads="1"/>
          </p:cNvSpPr>
          <p:nvPr/>
        </p:nvSpPr>
        <p:spPr bwMode="auto">
          <a:xfrm>
            <a:off x="6103938" y="4510327"/>
            <a:ext cx="3746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455723" name="Text Box 43"/>
          <p:cNvSpPr txBox="1">
            <a:spLocks noChangeArrowheads="1"/>
          </p:cNvSpPr>
          <p:nvPr/>
        </p:nvSpPr>
        <p:spPr bwMode="auto">
          <a:xfrm>
            <a:off x="6761163" y="4523027"/>
            <a:ext cx="373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455724" name="Text Box 44"/>
          <p:cNvSpPr txBox="1">
            <a:spLocks noChangeArrowheads="1"/>
          </p:cNvSpPr>
          <p:nvPr/>
        </p:nvSpPr>
        <p:spPr bwMode="auto">
          <a:xfrm>
            <a:off x="7359650" y="4577002"/>
            <a:ext cx="641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\0</a:t>
            </a:r>
          </a:p>
        </p:txBody>
      </p:sp>
      <p:sp>
        <p:nvSpPr>
          <p:cNvPr id="455726" name="Text Box 46"/>
          <p:cNvSpPr txBox="1">
            <a:spLocks noChangeArrowheads="1"/>
          </p:cNvSpPr>
          <p:nvPr/>
        </p:nvSpPr>
        <p:spPr bwMode="auto">
          <a:xfrm>
            <a:off x="4137026" y="5018327"/>
            <a:ext cx="3730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455727" name="Text Box 47"/>
          <p:cNvSpPr txBox="1">
            <a:spLocks noChangeArrowheads="1"/>
          </p:cNvSpPr>
          <p:nvPr/>
        </p:nvSpPr>
        <p:spPr bwMode="auto">
          <a:xfrm>
            <a:off x="4792663" y="5018327"/>
            <a:ext cx="373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455728" name="Text Box 48"/>
          <p:cNvSpPr txBox="1">
            <a:spLocks noChangeArrowheads="1"/>
          </p:cNvSpPr>
          <p:nvPr/>
        </p:nvSpPr>
        <p:spPr bwMode="auto">
          <a:xfrm>
            <a:off x="5448301" y="5018327"/>
            <a:ext cx="3730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455729" name="Text Box 49"/>
          <p:cNvSpPr txBox="1">
            <a:spLocks noChangeArrowheads="1"/>
          </p:cNvSpPr>
          <p:nvPr/>
        </p:nvSpPr>
        <p:spPr bwMode="auto">
          <a:xfrm>
            <a:off x="6103938" y="5018327"/>
            <a:ext cx="3746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455730" name="Text Box 50"/>
          <p:cNvSpPr txBox="1">
            <a:spLocks noChangeArrowheads="1"/>
          </p:cNvSpPr>
          <p:nvPr/>
        </p:nvSpPr>
        <p:spPr bwMode="auto">
          <a:xfrm>
            <a:off x="6761164" y="5024677"/>
            <a:ext cx="70643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\0</a:t>
            </a:r>
          </a:p>
        </p:txBody>
      </p:sp>
      <p:sp>
        <p:nvSpPr>
          <p:cNvPr id="455734" name="Text Box 54"/>
          <p:cNvSpPr txBox="1">
            <a:spLocks noChangeArrowheads="1"/>
          </p:cNvSpPr>
          <p:nvPr/>
        </p:nvSpPr>
        <p:spPr bwMode="auto">
          <a:xfrm>
            <a:off x="4137026" y="5442190"/>
            <a:ext cx="3730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455735" name="Text Box 55"/>
          <p:cNvSpPr txBox="1">
            <a:spLocks noChangeArrowheads="1"/>
          </p:cNvSpPr>
          <p:nvPr/>
        </p:nvSpPr>
        <p:spPr bwMode="auto">
          <a:xfrm>
            <a:off x="4792663" y="5442190"/>
            <a:ext cx="373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455736" name="Text Box 56"/>
          <p:cNvSpPr txBox="1">
            <a:spLocks noChangeArrowheads="1"/>
          </p:cNvSpPr>
          <p:nvPr/>
        </p:nvSpPr>
        <p:spPr bwMode="auto">
          <a:xfrm>
            <a:off x="5448301" y="5442190"/>
            <a:ext cx="3730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455737" name="Text Box 57"/>
          <p:cNvSpPr txBox="1">
            <a:spLocks noChangeArrowheads="1"/>
          </p:cNvSpPr>
          <p:nvPr/>
        </p:nvSpPr>
        <p:spPr bwMode="auto">
          <a:xfrm>
            <a:off x="6103938" y="5442190"/>
            <a:ext cx="3746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455738" name="Text Box 58"/>
          <p:cNvSpPr txBox="1">
            <a:spLocks noChangeArrowheads="1"/>
          </p:cNvSpPr>
          <p:nvPr/>
        </p:nvSpPr>
        <p:spPr bwMode="auto">
          <a:xfrm>
            <a:off x="6761163" y="5442190"/>
            <a:ext cx="373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455739" name="Text Box 59"/>
          <p:cNvSpPr txBox="1">
            <a:spLocks noChangeArrowheads="1"/>
          </p:cNvSpPr>
          <p:nvPr/>
        </p:nvSpPr>
        <p:spPr bwMode="auto">
          <a:xfrm>
            <a:off x="7359650" y="5475527"/>
            <a:ext cx="7175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Times New Roman" pitchFamily="18" charset="0"/>
              </a:rPr>
              <a:t>\0</a:t>
            </a:r>
          </a:p>
        </p:txBody>
      </p:sp>
      <p:sp>
        <p:nvSpPr>
          <p:cNvPr id="455742" name="Rectangle 62"/>
          <p:cNvSpPr>
            <a:spLocks noChangeArrowheads="1"/>
          </p:cNvSpPr>
          <p:nvPr/>
        </p:nvSpPr>
        <p:spPr bwMode="auto">
          <a:xfrm>
            <a:off x="1739478" y="1642868"/>
            <a:ext cx="8863205" cy="181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latin typeface="Times New Roman" pitchFamily="18" charset="0"/>
              </a:rPr>
              <a:t>char  fruit[ ][7]={"Apple", "Orange", "Grape",                               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latin typeface="Times New Roman" pitchFamily="18" charset="0"/>
              </a:rPr>
              <a:t>                             "Pear", "Peach"};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42582CE-8EC7-4650-A891-E241AE3BF887}"/>
              </a:ext>
            </a:extLst>
          </p:cNvPr>
          <p:cNvGrpSpPr/>
          <p:nvPr/>
        </p:nvGrpSpPr>
        <p:grpSpPr>
          <a:xfrm>
            <a:off x="1763" y="355744"/>
            <a:ext cx="5451980" cy="1239824"/>
            <a:chOff x="0" y="175102"/>
            <a:chExt cx="6411951" cy="769441"/>
          </a:xfrm>
        </p:grpSpPr>
        <p:sp>
          <p:nvSpPr>
            <p:cNvPr id="57" name="矩形: 剪去单角 56">
              <a:extLst>
                <a:ext uri="{FF2B5EF4-FFF2-40B4-BE49-F238E27FC236}">
                  <a16:creationId xmlns:a16="http://schemas.microsoft.com/office/drawing/2014/main" id="{E41F1A31-F34F-45D9-8645-5AAA38CF5D0A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B937E7CE-0BEC-4032-AA71-06D53E593D8A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二维字符数组初始化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08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5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5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5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5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5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5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5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5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5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5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5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5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5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5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5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5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5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5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5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5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5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5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5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11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45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3500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5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365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45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80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5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395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5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410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5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425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45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03" grpId="0" autoUpdateAnimBg="0"/>
      <p:bldP spid="455704" grpId="0" autoUpdateAnimBg="0"/>
      <p:bldP spid="455705" grpId="0" autoUpdateAnimBg="0"/>
      <p:bldP spid="455706" grpId="0" autoUpdateAnimBg="0"/>
      <p:bldP spid="455707" grpId="0" autoUpdateAnimBg="0"/>
      <p:bldP spid="455708" grpId="0" autoUpdateAnimBg="0"/>
      <p:bldP spid="455711" grpId="0" autoUpdateAnimBg="0"/>
      <p:bldP spid="455712" grpId="0" autoUpdateAnimBg="0"/>
      <p:bldP spid="455713" grpId="0" autoUpdateAnimBg="0"/>
      <p:bldP spid="455714" grpId="0" autoUpdateAnimBg="0"/>
      <p:bldP spid="455715" grpId="0" autoUpdateAnimBg="0"/>
      <p:bldP spid="455716" grpId="0" autoUpdateAnimBg="0"/>
      <p:bldP spid="455717" grpId="0" autoUpdateAnimBg="0"/>
      <p:bldP spid="455719" grpId="0" autoUpdateAnimBg="0"/>
      <p:bldP spid="455720" grpId="0" autoUpdateAnimBg="0"/>
      <p:bldP spid="455721" grpId="0" autoUpdateAnimBg="0"/>
      <p:bldP spid="455722" grpId="0" autoUpdateAnimBg="0"/>
      <p:bldP spid="455723" grpId="0" autoUpdateAnimBg="0"/>
      <p:bldP spid="455724" grpId="0" autoUpdateAnimBg="0"/>
      <p:bldP spid="455726" grpId="0" autoUpdateAnimBg="0"/>
      <p:bldP spid="455727" grpId="0" autoUpdateAnimBg="0"/>
      <p:bldP spid="455728" grpId="0" autoUpdateAnimBg="0"/>
      <p:bldP spid="455729" grpId="0" autoUpdateAnimBg="0"/>
      <p:bldP spid="455730" grpId="0" autoUpdateAnimBg="0"/>
      <p:bldP spid="455734" grpId="0" autoUpdateAnimBg="0"/>
      <p:bldP spid="455735" grpId="0" autoUpdateAnimBg="0"/>
      <p:bldP spid="455736" grpId="0" autoUpdateAnimBg="0"/>
      <p:bldP spid="455737" grpId="0" autoUpdateAnimBg="0"/>
      <p:bldP spid="455738" grpId="0" autoUpdateAnimBg="0"/>
      <p:bldP spid="455739" grpId="0" autoUpdateAnimBg="0"/>
      <p:bldP spid="455742" grpId="0" build="p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38800" y="387433"/>
            <a:ext cx="950869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定义一个字符数组，顺序存放“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ABCD…XYZ”26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个字母中奇数位的字母，并以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位输出之。</a:t>
            </a: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程序代码如下：      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92363" y="2698932"/>
            <a:ext cx="5786437" cy="388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void main(  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{   char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[13];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for(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=0;i&lt;13;i++)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]=‘A’+2*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for(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=0;i&lt;13;i++)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(“%3c”,str[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]);    }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ADCA29F-72A1-4BD9-ACB7-1EDE69A69133}"/>
              </a:ext>
            </a:extLst>
          </p:cNvPr>
          <p:cNvGrpSpPr/>
          <p:nvPr/>
        </p:nvGrpSpPr>
        <p:grpSpPr>
          <a:xfrm>
            <a:off x="1763" y="355744"/>
            <a:ext cx="2106437" cy="1239824"/>
            <a:chOff x="0" y="175102"/>
            <a:chExt cx="6411951" cy="769441"/>
          </a:xfrm>
        </p:grpSpPr>
        <p:sp>
          <p:nvSpPr>
            <p:cNvPr id="5" name="矩形: 剪去单角 35">
              <a:extLst>
                <a:ext uri="{FF2B5EF4-FFF2-40B4-BE49-F238E27FC236}">
                  <a16:creationId xmlns:a16="http://schemas.microsoft.com/office/drawing/2014/main" id="{6D388698-5F80-45F8-A8B8-906AC92BD45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DF9985-8E6E-4C0A-8CB5-174646EAD9E4}"/>
                </a:ext>
              </a:extLst>
            </p:cNvPr>
            <p:cNvSpPr/>
            <p:nvPr/>
          </p:nvSpPr>
          <p:spPr>
            <a:xfrm>
              <a:off x="821642" y="175102"/>
              <a:ext cx="470761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例 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30238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ChangeArrowheads="1"/>
          </p:cNvSpPr>
          <p:nvPr/>
        </p:nvSpPr>
        <p:spPr bwMode="auto">
          <a:xfrm>
            <a:off x="2438400" y="1524001"/>
            <a:ext cx="59436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1371600" lvl="2" indent="-457200"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逐个字符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  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%c</a:t>
            </a:r>
          </a:p>
        </p:txBody>
      </p:sp>
      <p:sp>
        <p:nvSpPr>
          <p:cNvPr id="427012" name="Rectangle 4"/>
          <p:cNvSpPr>
            <a:spLocks noChangeArrowheads="1"/>
          </p:cNvSpPr>
          <p:nvPr/>
        </p:nvSpPr>
        <p:spPr bwMode="auto">
          <a:xfrm>
            <a:off x="3397355" y="2233328"/>
            <a:ext cx="5267673" cy="432644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</a:rPr>
              <a:t>&gt;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main(  )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{   char </a:t>
            </a:r>
            <a:r>
              <a:rPr lang="en-US" altLang="zh-CN" sz="3200" b="1" dirty="0" err="1">
                <a:latin typeface="Times New Roman" pitchFamily="18" charset="0"/>
              </a:rPr>
              <a:t>str</a:t>
            </a:r>
            <a:r>
              <a:rPr lang="en-US" altLang="zh-CN" sz="3200" b="1" dirty="0">
                <a:latin typeface="Times New Roman" pitchFamily="18" charset="0"/>
              </a:rPr>
              <a:t>[10];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; 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     for(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=0;i&lt;9;i++)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          </a:t>
            </a:r>
            <a:r>
              <a:rPr lang="en-US" altLang="zh-CN" sz="3200" b="1" dirty="0" err="1"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"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%c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"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, &amp;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     for(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=0;i&lt;9;i++)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       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"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%c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" </a:t>
            </a:r>
            <a:r>
              <a:rPr lang="en-US" altLang="zh-CN" sz="3200" b="1" dirty="0">
                <a:latin typeface="Times New Roman" pitchFamily="18" charset="0"/>
              </a:rPr>
              <a:t>,</a:t>
            </a:r>
            <a:r>
              <a:rPr lang="en-US" altLang="zh-CN" sz="3200" b="1" dirty="0">
                <a:solidFill>
                  <a:srgbClr val="FF5555"/>
                </a:solidFill>
                <a:latin typeface="Times New Roman" pitchFamily="18" charset="0"/>
              </a:rPr>
              <a:t>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]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      return 0;</a:t>
            </a:r>
          </a:p>
          <a:p>
            <a:pPr>
              <a:lnSpc>
                <a:spcPts val="3300"/>
              </a:lnSpc>
            </a:pPr>
            <a:r>
              <a:rPr lang="en-US" altLang="zh-CN" sz="3200" b="1" dirty="0">
                <a:latin typeface="Times New Roman" pitchFamily="18" charset="0"/>
              </a:rPr>
              <a:t>}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39AAEC-9590-4970-A9C8-6B00B83692A7}"/>
              </a:ext>
            </a:extLst>
          </p:cNvPr>
          <p:cNvGrpSpPr/>
          <p:nvPr/>
        </p:nvGrpSpPr>
        <p:grpSpPr>
          <a:xfrm>
            <a:off x="1763" y="290428"/>
            <a:ext cx="5451980" cy="1168257"/>
            <a:chOff x="0" y="175102"/>
            <a:chExt cx="6411951" cy="769441"/>
          </a:xfrm>
        </p:grpSpPr>
        <p:sp>
          <p:nvSpPr>
            <p:cNvPr id="10" name="矩形: 剪去单角 9">
              <a:extLst>
                <a:ext uri="{FF2B5EF4-FFF2-40B4-BE49-F238E27FC236}">
                  <a16:creationId xmlns:a16="http://schemas.microsoft.com/office/drawing/2014/main" id="{79EDF1BB-A6B9-4690-9E7F-0EA1C0439D6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2D2CC80-61E2-488D-B24C-E3912951A03E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字符串的输入与输出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4129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7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7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7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build="p" bldLvl="4" autoUpdateAnimBg="0"/>
      <p:bldP spid="427012" grpId="0" uiExpand="1" build="p" animBg="1" autoUpdateAnimBg="0" advAuto="200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ChangeArrowheads="1"/>
          </p:cNvSpPr>
          <p:nvPr/>
        </p:nvSpPr>
        <p:spPr bwMode="auto">
          <a:xfrm>
            <a:off x="2111829" y="1610468"/>
            <a:ext cx="60960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1828800" lvl="3" indent="-457200"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整个字符串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%s</a:t>
            </a:r>
          </a:p>
        </p:txBody>
      </p:sp>
      <p:sp>
        <p:nvSpPr>
          <p:cNvPr id="457731" name="Rectangle 3"/>
          <p:cNvSpPr>
            <a:spLocks noChangeArrowheads="1"/>
          </p:cNvSpPr>
          <p:nvPr/>
        </p:nvSpPr>
        <p:spPr bwMode="auto">
          <a:xfrm>
            <a:off x="3946069" y="2294251"/>
            <a:ext cx="4185557" cy="40032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</a:rPr>
              <a:t>#include "</a:t>
            </a:r>
            <a:r>
              <a:rPr lang="en-US" altLang="zh-CN" sz="3200" b="1" dirty="0" err="1">
                <a:latin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main( )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</a:rPr>
              <a:t>{  char </a:t>
            </a:r>
            <a:r>
              <a:rPr lang="en-US" altLang="zh-CN" sz="3200" b="1" dirty="0" err="1">
                <a:latin typeface="Times New Roman" pitchFamily="18" charset="0"/>
              </a:rPr>
              <a:t>str</a:t>
            </a:r>
            <a:r>
              <a:rPr lang="en-US" altLang="zh-CN" sz="3200" b="1" dirty="0">
                <a:latin typeface="Times New Roman" pitchFamily="18" charset="0"/>
              </a:rPr>
              <a:t>[10];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</a:rPr>
              <a:t>    </a:t>
            </a:r>
            <a:r>
              <a:rPr lang="en-US" altLang="zh-CN" sz="3200" b="1" dirty="0" err="1"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("%s" , </a:t>
            </a:r>
            <a:r>
              <a:rPr lang="en-US" altLang="zh-CN" sz="3200" b="1" dirty="0" err="1">
                <a:latin typeface="Times New Roman" pitchFamily="18" charset="0"/>
              </a:rPr>
              <a:t>str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</a:rPr>
              <a:t> 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("%s", </a:t>
            </a:r>
            <a:r>
              <a:rPr lang="en-US" altLang="zh-CN" sz="3200" b="1" dirty="0" err="1">
                <a:latin typeface="Times New Roman" pitchFamily="18" charset="0"/>
              </a:rPr>
              <a:t>str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</a:rPr>
              <a:t>    return 0;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</a:rPr>
              <a:t>}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7A20C97-6C69-445C-89DD-34C58B639AEB}"/>
              </a:ext>
            </a:extLst>
          </p:cNvPr>
          <p:cNvGrpSpPr/>
          <p:nvPr/>
        </p:nvGrpSpPr>
        <p:grpSpPr>
          <a:xfrm>
            <a:off x="1763" y="290428"/>
            <a:ext cx="5451980" cy="1168257"/>
            <a:chOff x="0" y="175102"/>
            <a:chExt cx="6411951" cy="769441"/>
          </a:xfrm>
        </p:grpSpPr>
        <p:sp>
          <p:nvSpPr>
            <p:cNvPr id="14" name="矩形: 剪去单角 13">
              <a:extLst>
                <a:ext uri="{FF2B5EF4-FFF2-40B4-BE49-F238E27FC236}">
                  <a16:creationId xmlns:a16="http://schemas.microsoft.com/office/drawing/2014/main" id="{0624116E-8487-4868-9A6D-2753235A80B3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3F97FCD-60D8-45EA-9471-D4633A3A5290}"/>
                </a:ext>
              </a:extLst>
            </p:cNvPr>
            <p:cNvSpPr/>
            <p:nvPr/>
          </p:nvSpPr>
          <p:spPr>
            <a:xfrm>
              <a:off x="3463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字符串的输入与输出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737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77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7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7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7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0" grpId="0" autoUpdateAnimBg="0"/>
      <p:bldP spid="457731" grpId="0" build="p" animBg="1" autoUpdateAnimBg="0" advAuto="200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95009" y="1632166"/>
            <a:ext cx="10001982" cy="214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spcAft>
                <a:spcPts val="600"/>
              </a:spcAft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从文件中读入学生（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不超过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）两门课程的成绩和姓名，并在屏幕上输出学生全部信息。</a:t>
            </a:r>
            <a:endParaRPr lang="en-US" altLang="zh-CN" sz="3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311ED7C-B253-46D7-ABB6-240DA51CA5A2}"/>
              </a:ext>
            </a:extLst>
          </p:cNvPr>
          <p:cNvGrpSpPr/>
          <p:nvPr/>
        </p:nvGrpSpPr>
        <p:grpSpPr>
          <a:xfrm>
            <a:off x="1764" y="342900"/>
            <a:ext cx="2667008" cy="1219200"/>
            <a:chOff x="0" y="175102"/>
            <a:chExt cx="6411951" cy="769441"/>
          </a:xfrm>
        </p:grpSpPr>
        <p:sp>
          <p:nvSpPr>
            <p:cNvPr id="6" name="矩形: 剪去单角 5">
              <a:extLst>
                <a:ext uri="{FF2B5EF4-FFF2-40B4-BE49-F238E27FC236}">
                  <a16:creationId xmlns:a16="http://schemas.microsoft.com/office/drawing/2014/main" id="{3E13F76D-3FF4-400A-A562-8DA156674FD4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A332B39-B9B9-4676-8603-BCE08C53424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思 考 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10121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65FC4F0-3FE8-4F9F-B8AB-AA3663AAC336}"/>
              </a:ext>
            </a:extLst>
          </p:cNvPr>
          <p:cNvSpPr/>
          <p:nvPr/>
        </p:nvSpPr>
        <p:spPr>
          <a:xfrm>
            <a:off x="222250" y="181957"/>
            <a:ext cx="1175385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 )</a:t>
            </a:r>
          </a:p>
          <a:p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FILE *fp; int   i=0, score1[5], score2[5];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char name[20], sub1[20], sub2[20];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fp=fopen("score.txt","r");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fscanf(fp,"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%s %s %s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",name,sub1,sub2);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printf("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%10s %10s %10s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",name,sub1,sub2);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while(!feof(fp))</a:t>
            </a:r>
            <a:r>
              <a:rPr lang="zh-CN" altLang="en-US" sz="32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fscanf(fp, "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%s %d %d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name,&amp;score1[i],&amp;score2[i]);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printf("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%10s %10d %10d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name,score1[i],score2[i]);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printf("\n");</a:t>
            </a:r>
            <a:r>
              <a:rPr lang="zh-CN" altLang="en-US" sz="32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567EAADB-8A5B-4EF4-A70A-7A65B921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950" y="293689"/>
            <a:ext cx="4337050" cy="620711"/>
          </a:xfrm>
          <a:prstGeom prst="wedgeRoundRectCallout">
            <a:avLst>
              <a:gd name="adj1" fmla="val -122228"/>
              <a:gd name="adj2" fmla="val 115609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l">
              <a:buFont typeface="Wingdings" pitchFamily="2" charset="2"/>
              <a:buNone/>
            </a:pPr>
            <a:r>
              <a:rPr lang="en-US" altLang="zh-CN" sz="28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i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的值在程序中有变化吗？</a:t>
            </a:r>
            <a:endParaRPr lang="en-US" altLang="zh-CN" sz="28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20A81458-92DF-4268-A3B5-827A61746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0" y="1474789"/>
            <a:ext cx="2635250" cy="1573211"/>
          </a:xfrm>
          <a:prstGeom prst="wedgeRoundRectCallout">
            <a:avLst>
              <a:gd name="adj1" fmla="val -41264"/>
              <a:gd name="adj2" fmla="val 152743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l">
              <a:buFont typeface="Wingdings" pitchFamily="2" charset="2"/>
              <a:buNone/>
            </a:pP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我们真的把学生成绩数据存入数组了吗？</a:t>
            </a:r>
            <a:endParaRPr lang="en-US" altLang="zh-CN" sz="28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821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1956594" y="1359905"/>
            <a:ext cx="9451635" cy="400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ts val="600"/>
              </a:spcBef>
              <a:buClr>
                <a:schemeClr val="tx2">
                  <a:lumMod val="60000"/>
                  <a:lumOff val="40000"/>
                </a:schemeClr>
              </a:buClr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格式：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gets(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字符数组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名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功能：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从键盘输入一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以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回车结束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的字符串放入字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符数组中，并自动加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'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\0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'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说明：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Wingdings" pitchFamily="2" charset="2"/>
              </a:rPr>
              <a:t>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输入串长度应小于字符数组维数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Wingdings" pitchFamily="2" charset="2"/>
              </a:rPr>
              <a:t>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参数只能有一个输入项</a:t>
            </a:r>
          </a:p>
        </p:txBody>
      </p:sp>
      <p:grpSp>
        <p:nvGrpSpPr>
          <p:cNvPr id="432140" name="Group 12"/>
          <p:cNvGrpSpPr>
            <a:grpSpLocks/>
          </p:cNvGrpSpPr>
          <p:nvPr/>
        </p:nvGrpSpPr>
        <p:grpSpPr bwMode="auto">
          <a:xfrm>
            <a:off x="4440238" y="5495054"/>
            <a:ext cx="3468795" cy="649288"/>
            <a:chOff x="1776" y="2976"/>
            <a:chExt cx="1968" cy="409"/>
          </a:xfrm>
        </p:grpSpPr>
        <p:sp>
          <p:nvSpPr>
            <p:cNvPr id="32775" name="Rectangle 6"/>
            <p:cNvSpPr>
              <a:spLocks noChangeArrowheads="1"/>
            </p:cNvSpPr>
            <p:nvPr/>
          </p:nvSpPr>
          <p:spPr bwMode="auto">
            <a:xfrm>
              <a:off x="1776" y="2976"/>
              <a:ext cx="1968" cy="409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latin typeface="Times New Roman" pitchFamily="18" charset="0"/>
                </a:rPr>
                <a:t>gets(str1,str2)</a:t>
              </a:r>
            </a:p>
          </p:txBody>
        </p:sp>
        <p:grpSp>
          <p:nvGrpSpPr>
            <p:cNvPr id="32776" name="Group 9"/>
            <p:cNvGrpSpPr>
              <a:grpSpLocks/>
            </p:cNvGrpSpPr>
            <p:nvPr/>
          </p:nvGrpSpPr>
          <p:grpSpPr bwMode="auto">
            <a:xfrm>
              <a:off x="3405" y="3094"/>
              <a:ext cx="240" cy="240"/>
              <a:chOff x="4389" y="3610"/>
              <a:chExt cx="240" cy="240"/>
            </a:xfrm>
          </p:grpSpPr>
          <p:sp>
            <p:nvSpPr>
              <p:cNvPr id="32777" name="Line 10"/>
              <p:cNvSpPr>
                <a:spLocks noChangeShapeType="1"/>
              </p:cNvSpPr>
              <p:nvPr/>
            </p:nvSpPr>
            <p:spPr bwMode="auto">
              <a:xfrm flipH="1">
                <a:off x="4389" y="3610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 b="1"/>
              </a:p>
            </p:txBody>
          </p:sp>
          <p:sp>
            <p:nvSpPr>
              <p:cNvPr id="32778" name="Line 11"/>
              <p:cNvSpPr>
                <a:spLocks noChangeShapeType="1"/>
              </p:cNvSpPr>
              <p:nvPr/>
            </p:nvSpPr>
            <p:spPr bwMode="auto">
              <a:xfrm>
                <a:off x="4401" y="3610"/>
                <a:ext cx="228" cy="21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 b="1"/>
              </a:p>
            </p:txBody>
          </p:sp>
        </p:grpSp>
      </p:grpSp>
      <p:sp>
        <p:nvSpPr>
          <p:cNvPr id="432143" name="Rectangle 15"/>
          <p:cNvSpPr>
            <a:spLocks noChangeArrowheads="1"/>
          </p:cNvSpPr>
          <p:nvPr/>
        </p:nvSpPr>
        <p:spPr bwMode="auto">
          <a:xfrm>
            <a:off x="4440238" y="5493006"/>
            <a:ext cx="3468795" cy="6485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Times New Roman" pitchFamily="18" charset="0"/>
              </a:rPr>
              <a:t>gets(str1);   </a:t>
            </a:r>
            <a:r>
              <a:rPr lang="en-US" altLang="zh-CN" sz="3200" b="1" dirty="0">
                <a:solidFill>
                  <a:srgbClr val="C00000"/>
                </a:solidFill>
              </a:rPr>
              <a:t>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03D9A67-14B9-4030-AAA5-A92F01C41A10}"/>
              </a:ext>
            </a:extLst>
          </p:cNvPr>
          <p:cNvGrpSpPr/>
          <p:nvPr/>
        </p:nvGrpSpPr>
        <p:grpSpPr>
          <a:xfrm>
            <a:off x="1762" y="343757"/>
            <a:ext cx="7732774" cy="986114"/>
            <a:chOff x="0" y="174493"/>
            <a:chExt cx="5776667" cy="770050"/>
          </a:xfrm>
        </p:grpSpPr>
        <p:sp>
          <p:nvSpPr>
            <p:cNvPr id="12" name="矩形: 剪去单角 11">
              <a:extLst>
                <a:ext uri="{FF2B5EF4-FFF2-40B4-BE49-F238E27FC236}">
                  <a16:creationId xmlns:a16="http://schemas.microsoft.com/office/drawing/2014/main" id="{C9FBFB9D-262C-4853-800B-13E427E52251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C5CBE36-C6BA-427B-B691-5C51E993C7CE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常用字符串输入函数</a:t>
              </a:r>
              <a:r>
                <a:rPr lang="en-US" altLang="zh-C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-gets</a:t>
              </a:r>
              <a:endPara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5010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2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2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2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2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2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32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3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2" grpId="0" uiExpand="1" build="p" autoUpdateAnimBg="0"/>
      <p:bldP spid="43214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1796144" y="1600065"/>
            <a:ext cx="8338456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eaLnBrk="0" hangingPunct="0">
              <a:spcBef>
                <a:spcPts val="6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Ø"/>
              <a:defRPr sz="3200">
                <a:latin typeface="Times New Roman" pitchFamily="18" charset="0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ea typeface="微软雅黑" panose="020B0503020204020204" pitchFamily="34" charset="-122"/>
              </a:rPr>
              <a:t>格式：</a:t>
            </a:r>
            <a:r>
              <a:rPr lang="en-US" altLang="zh-CN" b="1" dirty="0">
                <a:ea typeface="微软雅黑" panose="020B0503020204020204" pitchFamily="34" charset="-122"/>
              </a:rPr>
              <a:t>puts(</a:t>
            </a:r>
            <a:r>
              <a:rPr lang="zh-CN" altLang="zh-CN" b="1" dirty="0">
                <a:ea typeface="微软雅黑" panose="020B0503020204020204" pitchFamily="34" charset="-122"/>
              </a:rPr>
              <a:t>字符数组名)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zh-CN" b="1" dirty="0">
                <a:solidFill>
                  <a:srgbClr val="C00000"/>
                </a:solidFill>
                <a:ea typeface="微软雅黑" panose="020B0503020204020204" pitchFamily="34" charset="-122"/>
              </a:rPr>
              <a:t>功能：</a:t>
            </a:r>
            <a:r>
              <a:rPr lang="zh-CN" altLang="zh-CN" b="1" dirty="0">
                <a:ea typeface="微软雅黑" panose="020B0503020204020204" pitchFamily="34" charset="-122"/>
              </a:rPr>
              <a:t>向显示器输出字符串并自动换行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ea typeface="微软雅黑" panose="020B0503020204020204" pitchFamily="34" charset="-122"/>
              </a:rPr>
              <a:t>说明： </a:t>
            </a:r>
            <a:r>
              <a:rPr lang="zh-CN" altLang="zh-CN" b="1" dirty="0">
                <a:ea typeface="微软雅黑" panose="020B0503020204020204" pitchFamily="34" charset="-122"/>
                <a:sym typeface="Wingdings" pitchFamily="2" charset="2"/>
              </a:rPr>
              <a:t></a:t>
            </a:r>
            <a:r>
              <a:rPr lang="zh-CN" altLang="en-US" b="1" dirty="0">
                <a:ea typeface="微软雅黑" panose="020B0503020204020204" pitchFamily="34" charset="-122"/>
              </a:rPr>
              <a:t>字符数组必须以</a:t>
            </a:r>
            <a:r>
              <a:rPr lang="en-US" altLang="zh-CN" b="1" dirty="0">
                <a:ea typeface="微软雅黑" panose="020B0503020204020204" pitchFamily="34" charset="-122"/>
              </a:rPr>
              <a:t>'\0'</a:t>
            </a:r>
            <a:r>
              <a:rPr lang="zh-CN" altLang="en-US" b="1" dirty="0">
                <a:ea typeface="微软雅黑" panose="020B0503020204020204" pitchFamily="34" charset="-122"/>
              </a:rPr>
              <a:t>结束 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b="1" dirty="0">
                <a:ea typeface="微软雅黑" panose="020B0503020204020204" pitchFamily="34" charset="-122"/>
              </a:rPr>
              <a:t>             </a:t>
            </a:r>
            <a:r>
              <a:rPr lang="zh-CN" altLang="zh-CN" b="1" dirty="0">
                <a:ea typeface="微软雅黑" panose="020B0503020204020204" pitchFamily="34" charset="-122"/>
                <a:sym typeface="Wingdings" pitchFamily="2" charset="2"/>
              </a:rPr>
              <a:t></a:t>
            </a:r>
            <a:r>
              <a:rPr lang="zh-CN" altLang="en-US" b="1" dirty="0">
                <a:ea typeface="微软雅黑" panose="020B0503020204020204" pitchFamily="34" charset="-122"/>
              </a:rPr>
              <a:t>参数只能有一个输出项</a:t>
            </a:r>
          </a:p>
        </p:txBody>
      </p:sp>
      <p:grpSp>
        <p:nvGrpSpPr>
          <p:cNvPr id="464901" name="Group 5"/>
          <p:cNvGrpSpPr>
            <a:grpSpLocks/>
          </p:cNvGrpSpPr>
          <p:nvPr/>
        </p:nvGrpSpPr>
        <p:grpSpPr bwMode="auto">
          <a:xfrm>
            <a:off x="3807956" y="5296138"/>
            <a:ext cx="3659643" cy="649288"/>
            <a:chOff x="1776" y="2976"/>
            <a:chExt cx="1968" cy="409"/>
          </a:xfrm>
        </p:grpSpPr>
        <p:sp>
          <p:nvSpPr>
            <p:cNvPr id="33799" name="Rectangle 6"/>
            <p:cNvSpPr>
              <a:spLocks noChangeArrowheads="1"/>
            </p:cNvSpPr>
            <p:nvPr/>
          </p:nvSpPr>
          <p:spPr bwMode="auto">
            <a:xfrm>
              <a:off x="1776" y="2976"/>
              <a:ext cx="1968" cy="409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>
                  <a:latin typeface="Times New Roman" pitchFamily="18" charset="0"/>
                </a:rPr>
                <a:t>puts(str1,str2)</a:t>
              </a:r>
            </a:p>
          </p:txBody>
        </p:sp>
        <p:grpSp>
          <p:nvGrpSpPr>
            <p:cNvPr id="33800" name="Group 7"/>
            <p:cNvGrpSpPr>
              <a:grpSpLocks/>
            </p:cNvGrpSpPr>
            <p:nvPr/>
          </p:nvGrpSpPr>
          <p:grpSpPr bwMode="auto">
            <a:xfrm>
              <a:off x="3342" y="3066"/>
              <a:ext cx="240" cy="240"/>
              <a:chOff x="4326" y="3582"/>
              <a:chExt cx="240" cy="240"/>
            </a:xfrm>
          </p:grpSpPr>
          <p:sp>
            <p:nvSpPr>
              <p:cNvPr id="33801" name="Line 8"/>
              <p:cNvSpPr>
                <a:spLocks noChangeShapeType="1"/>
              </p:cNvSpPr>
              <p:nvPr/>
            </p:nvSpPr>
            <p:spPr bwMode="auto">
              <a:xfrm flipH="1">
                <a:off x="4326" y="3582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33802" name="Line 9"/>
              <p:cNvSpPr>
                <a:spLocks noChangeShapeType="1"/>
              </p:cNvSpPr>
              <p:nvPr/>
            </p:nvSpPr>
            <p:spPr bwMode="auto">
              <a:xfrm>
                <a:off x="4338" y="3589"/>
                <a:ext cx="228" cy="21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64907" name="Rectangle 11"/>
          <p:cNvSpPr>
            <a:spLocks noChangeArrowheads="1"/>
          </p:cNvSpPr>
          <p:nvPr/>
        </p:nvSpPr>
        <p:spPr bwMode="auto">
          <a:xfrm>
            <a:off x="3815187" y="5290593"/>
            <a:ext cx="3652412" cy="6485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itchFamily="18" charset="0"/>
              </a:rPr>
              <a:t>puts(str1);   </a:t>
            </a:r>
            <a:r>
              <a:rPr lang="en-US" altLang="zh-CN" sz="3200" dirty="0">
                <a:solidFill>
                  <a:srgbClr val="C00000"/>
                </a:solidFill>
              </a:rPr>
              <a:t>√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653DE64-E4D3-473C-813F-C48805987130}"/>
              </a:ext>
            </a:extLst>
          </p:cNvPr>
          <p:cNvGrpSpPr/>
          <p:nvPr/>
        </p:nvGrpSpPr>
        <p:grpSpPr>
          <a:xfrm>
            <a:off x="1762" y="343757"/>
            <a:ext cx="7783338" cy="986114"/>
            <a:chOff x="0" y="174493"/>
            <a:chExt cx="5776667" cy="770050"/>
          </a:xfrm>
        </p:grpSpPr>
        <p:sp>
          <p:nvSpPr>
            <p:cNvPr id="15" name="矩形: 剪去单角 14">
              <a:extLst>
                <a:ext uri="{FF2B5EF4-FFF2-40B4-BE49-F238E27FC236}">
                  <a16:creationId xmlns:a16="http://schemas.microsoft.com/office/drawing/2014/main" id="{E014AFF3-51DD-432C-B27F-41A835459611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FBBF901-1795-43A9-BC3B-57C5F2B0679A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常用字符串输出函数</a:t>
              </a:r>
              <a:r>
                <a:rPr lang="en-US" altLang="zh-C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-puts</a:t>
              </a:r>
              <a:endPara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31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4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4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4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build="p" autoUpdateAnimBg="0"/>
      <p:bldP spid="46490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171700" y="450933"/>
            <a:ext cx="94488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buClr>
                <a:srgbClr val="FF0066"/>
              </a:buClr>
              <a:buSz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对于二维字符数组，可将其看作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noaction"/>
              </a:rPr>
              <a:t>一维字符串数组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gets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puts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函数输入输出一维数组元素；例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66"/>
              </a:buClr>
              <a:buSzTx/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 name[3][4];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66"/>
              </a:buClr>
              <a:buSzTx/>
              <a:buFont typeface="Wingdings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puts(name[1]);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987472"/>
              </p:ext>
            </p:extLst>
          </p:nvPr>
        </p:nvGraphicFramePr>
        <p:xfrm>
          <a:off x="5048250" y="4652963"/>
          <a:ext cx="2327275" cy="1928812"/>
        </p:xfrm>
        <a:graphic>
          <a:graphicData uri="http://schemas.openxmlformats.org/drawingml/2006/table">
            <a:tbl>
              <a:tblPr/>
              <a:tblGrid>
                <a:gridCol w="77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>
                      <a:noFill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>
                      <a:noFill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>
                      <a:noFill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28" marB="46828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4710113" y="5229225"/>
            <a:ext cx="3024187" cy="7921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zh-CN" altLang="zh-CN" sz="36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ADCA29F-72A1-4BD9-ACB7-1EDE69A69133}"/>
              </a:ext>
            </a:extLst>
          </p:cNvPr>
          <p:cNvGrpSpPr/>
          <p:nvPr/>
        </p:nvGrpSpPr>
        <p:grpSpPr>
          <a:xfrm>
            <a:off x="1763" y="355744"/>
            <a:ext cx="2106437" cy="1239824"/>
            <a:chOff x="0" y="175102"/>
            <a:chExt cx="6411951" cy="769441"/>
          </a:xfrm>
        </p:grpSpPr>
        <p:sp>
          <p:nvSpPr>
            <p:cNvPr id="7" name="矩形: 剪去单角 35">
              <a:extLst>
                <a:ext uri="{FF2B5EF4-FFF2-40B4-BE49-F238E27FC236}">
                  <a16:creationId xmlns:a16="http://schemas.microsoft.com/office/drawing/2014/main" id="{6D388698-5F80-45F8-A8B8-906AC92BD45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FDF9985-8E6E-4C0A-8CB5-174646EAD9E4}"/>
                </a:ext>
              </a:extLst>
            </p:cNvPr>
            <p:cNvSpPr/>
            <p:nvPr/>
          </p:nvSpPr>
          <p:spPr>
            <a:xfrm>
              <a:off x="821642" y="175102"/>
              <a:ext cx="470761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 algn="ctr"/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拓 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9820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7" name="Text Box 3"/>
          <p:cNvSpPr txBox="1">
            <a:spLocks noChangeArrowheads="1"/>
          </p:cNvSpPr>
          <p:nvPr/>
        </p:nvSpPr>
        <p:spPr bwMode="auto">
          <a:xfrm>
            <a:off x="1870757" y="1606215"/>
            <a:ext cx="8465779" cy="320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eaLnBrk="0" hangingPunct="0">
              <a:spcBef>
                <a:spcPts val="12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Ø"/>
              <a:defRPr sz="3200">
                <a:latin typeface="Times New Roman" pitchFamily="18" charset="0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20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strlen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字符数组)</a:t>
            </a:r>
          </a:p>
          <a:p>
            <a:pPr>
              <a:lnSpc>
                <a:spcPct val="200000"/>
              </a:lnSpc>
              <a:buNone/>
            </a:pP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计算字符串长度</a:t>
            </a:r>
          </a:p>
          <a:p>
            <a:pPr>
              <a:lnSpc>
                <a:spcPct val="200000"/>
              </a:lnSpc>
              <a:buNone/>
            </a:pP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返值：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返回字符串实际长度，不包括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\0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在内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A489593-233B-4A3D-AB09-F97F95E64AEA}"/>
              </a:ext>
            </a:extLst>
          </p:cNvPr>
          <p:cNvGrpSpPr/>
          <p:nvPr/>
        </p:nvGrpSpPr>
        <p:grpSpPr>
          <a:xfrm>
            <a:off x="1762" y="463501"/>
            <a:ext cx="9980438" cy="986114"/>
            <a:chOff x="0" y="174493"/>
            <a:chExt cx="5776667" cy="770050"/>
          </a:xfrm>
        </p:grpSpPr>
        <p:sp>
          <p:nvSpPr>
            <p:cNvPr id="10" name="矩形: 剪去单角 9">
              <a:extLst>
                <a:ext uri="{FF2B5EF4-FFF2-40B4-BE49-F238E27FC236}">
                  <a16:creationId xmlns:a16="http://schemas.microsoft.com/office/drawing/2014/main" id="{1B0B3968-0FA3-4A63-B656-69FB467E70F9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B1AFE18-2793-4C7D-BF41-29DF0243566F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字符串长度函数</a:t>
              </a:r>
              <a:r>
                <a:rPr lang="en-US" altLang="zh-C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3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strlen</a:t>
              </a:r>
              <a:endPara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47250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7" grpId="0" build="p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Text Box 2"/>
          <p:cNvSpPr txBox="1">
            <a:spLocks noChangeArrowheads="1"/>
          </p:cNvSpPr>
          <p:nvPr/>
        </p:nvSpPr>
        <p:spPr bwMode="auto">
          <a:xfrm>
            <a:off x="1474282" y="1360967"/>
            <a:ext cx="9052203" cy="4867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200000"/>
              </a:lnSpc>
              <a:buClr>
                <a:schemeClr val="tx2">
                  <a:lumMod val="60000"/>
                  <a:lumOff val="40000"/>
                </a:schemeClr>
              </a:buClr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格式：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字符数组1,字符数组2)</a:t>
            </a:r>
          </a:p>
          <a:p>
            <a:pPr eaLnBrk="0" hangingPunct="0">
              <a:lnSpc>
                <a:spcPct val="20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功能：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把字符数组2连到字符数组1后面</a:t>
            </a:r>
          </a:p>
          <a:p>
            <a:pPr eaLnBrk="0" hangingPunct="0">
              <a:lnSpc>
                <a:spcPct val="20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说明：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字符数组1必须足够大</a:t>
            </a:r>
          </a:p>
          <a:p>
            <a:pPr eaLnBrk="0" hangingPunct="0">
              <a:lnSpc>
                <a:spcPct val="20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 　　    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连接前,两串均以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\0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结束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itchFamily="2" charset="2"/>
            </a:endParaRPr>
          </a:p>
          <a:p>
            <a:pPr eaLnBrk="0" hangingPunct="0">
              <a:lnSpc>
                <a:spcPct val="20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　　　 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连接后,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串1的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\0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取消,新串最后加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itchFamily="2" charset="2"/>
              </a:rPr>
              <a:t>\0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E26E65E-A59C-45F5-89DB-CB8AAAA0F627}"/>
              </a:ext>
            </a:extLst>
          </p:cNvPr>
          <p:cNvGrpSpPr/>
          <p:nvPr/>
        </p:nvGrpSpPr>
        <p:grpSpPr>
          <a:xfrm>
            <a:off x="1762" y="463501"/>
            <a:ext cx="9967738" cy="986114"/>
            <a:chOff x="0" y="174493"/>
            <a:chExt cx="5776667" cy="770050"/>
          </a:xfrm>
        </p:grpSpPr>
        <p:sp>
          <p:nvSpPr>
            <p:cNvPr id="6" name="矩形: 剪去单角 5">
              <a:extLst>
                <a:ext uri="{FF2B5EF4-FFF2-40B4-BE49-F238E27FC236}">
                  <a16:creationId xmlns:a16="http://schemas.microsoft.com/office/drawing/2014/main" id="{0065BA4B-B44E-4718-ABCE-D97AAE2EB61D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2B5781D-D07E-4C02-B594-257F51DD9DE3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字符串连接函数</a:t>
              </a:r>
              <a:r>
                <a:rPr lang="en-US" altLang="zh-C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3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strcat</a:t>
              </a:r>
              <a:endPara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9064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3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3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3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3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3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4" grpId="0" uiExpand="1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ChangeArrowheads="1"/>
          </p:cNvSpPr>
          <p:nvPr/>
        </p:nvSpPr>
        <p:spPr bwMode="auto">
          <a:xfrm>
            <a:off x="2721427" y="1427706"/>
            <a:ext cx="6531429" cy="5018939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 "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string.h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 "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main( )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{     char a[20]="p4cpu";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char b[ ]="dvd+56kmodem";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b[10]='\0';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strcat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(a,b+3);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puts(a);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return 0;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2496685" y="650842"/>
            <a:ext cx="6886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40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问题描述：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连接指定的字符串。</a:t>
            </a:r>
          </a:p>
        </p:txBody>
      </p:sp>
      <p:sp>
        <p:nvSpPr>
          <p:cNvPr id="474116" name="Rectangle 4"/>
          <p:cNvSpPr>
            <a:spLocks noChangeArrowheads="1"/>
          </p:cNvSpPr>
          <p:nvPr/>
        </p:nvSpPr>
        <p:spPr bwMode="auto">
          <a:xfrm>
            <a:off x="5051786" y="5794372"/>
            <a:ext cx="4114800" cy="5869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C00000"/>
                </a:solidFill>
                <a:latin typeface="Times New Roman" pitchFamily="18" charset="0"/>
              </a:rPr>
              <a:t>输出：</a:t>
            </a:r>
            <a:r>
              <a:rPr lang="en-US" altLang="zh-CN" sz="3200" dirty="0">
                <a:latin typeface="Times New Roman" pitchFamily="18" charset="0"/>
              </a:rPr>
              <a:t>p4cpu+56kmod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EA36A28-3DBE-4E73-8B53-B9A9F4CFFAB6}"/>
              </a:ext>
            </a:extLst>
          </p:cNvPr>
          <p:cNvGrpSpPr/>
          <p:nvPr/>
        </p:nvGrpSpPr>
        <p:grpSpPr>
          <a:xfrm>
            <a:off x="1763" y="463501"/>
            <a:ext cx="1522238" cy="986114"/>
            <a:chOff x="0" y="174493"/>
            <a:chExt cx="5776667" cy="770050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AFC12C33-D133-471D-B767-510BFDE7A3AF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3923583-CCA1-4465-812B-F0B3DDC1A458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6521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4" grpId="0" animBg="1" autoUpdateAnimBg="0"/>
      <p:bldP spid="474116" grpId="0" animBg="1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Text Box 2"/>
          <p:cNvSpPr txBox="1">
            <a:spLocks noChangeArrowheads="1"/>
          </p:cNvSpPr>
          <p:nvPr/>
        </p:nvSpPr>
        <p:spPr bwMode="auto">
          <a:xfrm>
            <a:off x="1519267" y="1458834"/>
            <a:ext cx="8748713" cy="400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eaLnBrk="0" hangingPunct="0">
              <a:spcBef>
                <a:spcPts val="12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Ø"/>
              <a:defRPr sz="3600">
                <a:latin typeface="Times New Roman" pitchFamily="18" charset="0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200" b="1" dirty="0">
                <a:solidFill>
                  <a:srgbClr val="C00000"/>
                </a:solidFill>
                <a:ea typeface="微软雅黑" panose="020B0503020204020204" pitchFamily="34" charset="-122"/>
              </a:rPr>
              <a:t>格式：</a:t>
            </a:r>
            <a:r>
              <a:rPr lang="en-US" altLang="zh-CN" sz="3200" b="1" dirty="0" err="1">
                <a:ea typeface="微软雅黑" panose="020B0503020204020204" pitchFamily="34" charset="-122"/>
              </a:rPr>
              <a:t>strcpy</a:t>
            </a:r>
            <a:r>
              <a:rPr lang="en-US" altLang="zh-CN" sz="3200" b="1" dirty="0">
                <a:ea typeface="微软雅黑" panose="020B0503020204020204" pitchFamily="34" charset="-122"/>
              </a:rPr>
              <a:t>(</a:t>
            </a:r>
            <a:r>
              <a:rPr lang="zh-CN" altLang="zh-CN" sz="3200" b="1" dirty="0">
                <a:ea typeface="微软雅黑" panose="020B0503020204020204" pitchFamily="34" charset="-122"/>
              </a:rPr>
              <a:t>字符数组1,字符串2)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zh-CN" sz="3200" b="1" dirty="0">
                <a:solidFill>
                  <a:srgbClr val="C00000"/>
                </a:solidFill>
                <a:ea typeface="微软雅黑" panose="020B0503020204020204" pitchFamily="34" charset="-122"/>
              </a:rPr>
              <a:t>功能：</a:t>
            </a:r>
            <a:r>
              <a:rPr lang="zh-CN" altLang="zh-CN" sz="3200" b="1" dirty="0">
                <a:ea typeface="微软雅黑" panose="020B0503020204020204" pitchFamily="34" charset="-122"/>
              </a:rPr>
              <a:t>将字符串2拷贝到字符数组1中去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zh-CN" sz="3200" b="1" dirty="0">
                <a:solidFill>
                  <a:srgbClr val="C00000"/>
                </a:solidFill>
                <a:ea typeface="微软雅黑" panose="020B0503020204020204" pitchFamily="34" charset="-122"/>
              </a:rPr>
              <a:t>说明：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</a:t>
            </a:r>
            <a:r>
              <a:rPr lang="en-US" altLang="zh-CN" sz="3200" b="1" dirty="0">
                <a:ea typeface="微软雅黑" panose="020B0503020204020204" pitchFamily="34" charset="-122"/>
                <a:sym typeface="Wingdings" pitchFamily="2" charset="2"/>
              </a:rPr>
              <a:t>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字符数组1必须足够大</a:t>
            </a:r>
            <a:r>
              <a:rPr lang="zh-CN" altLang="en-US" sz="3200" b="1" dirty="0">
                <a:ea typeface="微软雅黑" panose="020B0503020204020204" pitchFamily="34" charset="-122"/>
                <a:sym typeface="Wingdings" pitchFamily="2" charset="2"/>
              </a:rPr>
              <a:t> </a:t>
            </a:r>
            <a:endParaRPr lang="zh-CN" altLang="zh-CN" sz="3200" b="1" dirty="0">
              <a:ea typeface="微软雅黑" panose="020B0503020204020204" pitchFamily="34" charset="-122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200" b="1" dirty="0">
                <a:ea typeface="微软雅黑" panose="020B0503020204020204" pitchFamily="34" charset="-122"/>
                <a:sym typeface="Wingdings" pitchFamily="2" charset="2"/>
              </a:rPr>
              <a:t>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      </a:t>
            </a:r>
            <a:r>
              <a:rPr lang="zh-CN" altLang="en-US" sz="3200" b="1" dirty="0">
                <a:ea typeface="微软雅黑" panose="020B0503020204020204" pitchFamily="34" charset="-122"/>
                <a:sym typeface="Wingdings" pitchFamily="2" charset="2"/>
              </a:rPr>
              <a:t>    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</a:t>
            </a:r>
            <a:r>
              <a:rPr lang="en-US" altLang="zh-CN" sz="3200" b="1" dirty="0">
                <a:ea typeface="微软雅黑" panose="020B0503020204020204" pitchFamily="34" charset="-122"/>
                <a:sym typeface="Wingdings" pitchFamily="2" charset="2"/>
              </a:rPr>
              <a:t>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拷贝时</a:t>
            </a:r>
            <a:r>
              <a:rPr lang="en-US" altLang="zh-CN" sz="3200" b="1" dirty="0">
                <a:ea typeface="微软雅黑" panose="020B0503020204020204" pitchFamily="34" charset="-122"/>
              </a:rPr>
              <a:t>'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\0</a:t>
            </a:r>
            <a:r>
              <a:rPr lang="en-US" altLang="zh-CN" sz="3200" b="1" dirty="0">
                <a:ea typeface="微软雅黑" panose="020B0503020204020204" pitchFamily="34" charset="-122"/>
              </a:rPr>
              <a:t>'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一同拷贝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200" b="1" dirty="0">
                <a:ea typeface="微软雅黑" panose="020B0503020204020204" pitchFamily="34" charset="-122"/>
                <a:sym typeface="Wingdings" pitchFamily="2" charset="2"/>
              </a:rPr>
              <a:t>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      </a:t>
            </a:r>
            <a:r>
              <a:rPr lang="zh-CN" altLang="en-US" sz="3200" b="1" dirty="0">
                <a:ea typeface="微软雅黑" panose="020B0503020204020204" pitchFamily="34" charset="-122"/>
                <a:sym typeface="Wingdings" pitchFamily="2" charset="2"/>
              </a:rPr>
              <a:t>    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</a:t>
            </a:r>
            <a:r>
              <a:rPr lang="en-US" altLang="zh-CN" sz="3200" b="1" dirty="0">
                <a:ea typeface="微软雅黑" panose="020B0503020204020204" pitchFamily="34" charset="-122"/>
                <a:sym typeface="Wingdings" pitchFamily="2" charset="2"/>
              </a:rPr>
              <a:t> </a:t>
            </a:r>
            <a:r>
              <a:rPr lang="zh-CN" altLang="zh-CN" sz="3200" b="1" dirty="0">
                <a:ea typeface="微软雅黑" panose="020B0503020204020204" pitchFamily="34" charset="-122"/>
                <a:sym typeface="Wingdings" pitchFamily="2" charset="2"/>
              </a:rPr>
              <a:t>不能用赋值语句为一个字符数组赋值</a:t>
            </a:r>
            <a:endParaRPr lang="zh-CN" altLang="en-US" sz="3200" b="1" dirty="0">
              <a:ea typeface="微软雅黑" panose="020B0503020204020204" pitchFamily="34" charset="-122"/>
              <a:sym typeface="Wingdings" pitchFamily="2" charset="2"/>
            </a:endParaRPr>
          </a:p>
        </p:txBody>
      </p:sp>
      <p:grpSp>
        <p:nvGrpSpPr>
          <p:cNvPr id="445445" name="Group 5"/>
          <p:cNvGrpSpPr>
            <a:grpSpLocks/>
          </p:cNvGrpSpPr>
          <p:nvPr/>
        </p:nvGrpSpPr>
        <p:grpSpPr bwMode="auto">
          <a:xfrm>
            <a:off x="4531631" y="5671727"/>
            <a:ext cx="3124200" cy="649288"/>
            <a:chOff x="1776" y="2976"/>
            <a:chExt cx="1968" cy="409"/>
          </a:xfrm>
        </p:grpSpPr>
        <p:sp>
          <p:nvSpPr>
            <p:cNvPr id="37894" name="Rectangle 6"/>
            <p:cNvSpPr>
              <a:spLocks noChangeArrowheads="1"/>
            </p:cNvSpPr>
            <p:nvPr/>
          </p:nvSpPr>
          <p:spPr bwMode="auto">
            <a:xfrm>
              <a:off x="1776" y="2976"/>
              <a:ext cx="1968" cy="409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>
                  <a:latin typeface="Times New Roman" pitchFamily="18" charset="0"/>
                </a:rPr>
                <a:t>a="hello"</a:t>
              </a:r>
            </a:p>
          </p:txBody>
        </p:sp>
        <p:grpSp>
          <p:nvGrpSpPr>
            <p:cNvPr id="37895" name="Group 7"/>
            <p:cNvGrpSpPr>
              <a:grpSpLocks/>
            </p:cNvGrpSpPr>
            <p:nvPr/>
          </p:nvGrpSpPr>
          <p:grpSpPr bwMode="auto">
            <a:xfrm>
              <a:off x="3353" y="3073"/>
              <a:ext cx="240" cy="240"/>
              <a:chOff x="4337" y="3589"/>
              <a:chExt cx="240" cy="240"/>
            </a:xfrm>
          </p:grpSpPr>
          <p:sp>
            <p:nvSpPr>
              <p:cNvPr id="37896" name="Line 8"/>
              <p:cNvSpPr>
                <a:spLocks noChangeShapeType="1"/>
              </p:cNvSpPr>
              <p:nvPr/>
            </p:nvSpPr>
            <p:spPr bwMode="auto">
              <a:xfrm flipH="1">
                <a:off x="4337" y="3589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37897" name="Line 9"/>
              <p:cNvSpPr>
                <a:spLocks noChangeShapeType="1"/>
              </p:cNvSpPr>
              <p:nvPr/>
            </p:nvSpPr>
            <p:spPr bwMode="auto">
              <a:xfrm>
                <a:off x="4349" y="3589"/>
                <a:ext cx="228" cy="21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43C7EFC-3550-4710-92B7-F447A52FCE40}"/>
              </a:ext>
            </a:extLst>
          </p:cNvPr>
          <p:cNvGrpSpPr/>
          <p:nvPr/>
        </p:nvGrpSpPr>
        <p:grpSpPr>
          <a:xfrm>
            <a:off x="1762" y="463501"/>
            <a:ext cx="10266218" cy="986114"/>
            <a:chOff x="0" y="174493"/>
            <a:chExt cx="5776667" cy="770050"/>
          </a:xfrm>
        </p:grpSpPr>
        <p:sp>
          <p:nvSpPr>
            <p:cNvPr id="12" name="矩形: 剪去单角 11">
              <a:extLst>
                <a:ext uri="{FF2B5EF4-FFF2-40B4-BE49-F238E27FC236}">
                  <a16:creationId xmlns:a16="http://schemas.microsoft.com/office/drawing/2014/main" id="{C22284D6-B6EC-43ED-83E6-3A36C1CAE109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937C1F-36EB-407F-8386-4AD077901744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字符串连接函数</a:t>
              </a:r>
              <a:r>
                <a:rPr lang="en-US" altLang="zh-C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3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strcpy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9188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5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5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5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5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2" grpId="0" build="p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473327" y="453214"/>
            <a:ext cx="61214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C00000"/>
                </a:solidFill>
              </a:defRPr>
            </a:lvl1pPr>
          </a:lstStyle>
          <a:p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strcpy</a:t>
            </a:r>
            <a:r>
              <a:rPr lang="zh-CN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与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strcat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的用法</a:t>
            </a:r>
          </a:p>
        </p:txBody>
      </p:sp>
      <p:sp>
        <p:nvSpPr>
          <p:cNvPr id="435204" name="Text Box 4"/>
          <p:cNvSpPr txBox="1">
            <a:spLocks noChangeArrowheads="1"/>
          </p:cNvSpPr>
          <p:nvPr/>
        </p:nvSpPr>
        <p:spPr bwMode="auto">
          <a:xfrm>
            <a:off x="1750105" y="1137388"/>
            <a:ext cx="6099175" cy="5412893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defPPr>
              <a:defRPr lang="zh-CN"/>
            </a:defPPr>
            <a:lvl1pPr>
              <a:defRPr sz="320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altLang="zh-CN" b="1" dirty="0"/>
              <a:t>#include &lt;</a:t>
            </a:r>
            <a:r>
              <a:rPr lang="en-US" altLang="zh-CN" b="1" dirty="0" err="1"/>
              <a:t>string.h</a:t>
            </a:r>
            <a:r>
              <a:rPr lang="en-US" altLang="zh-CN" b="1" dirty="0"/>
              <a:t>&gt;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#include "</a:t>
            </a:r>
            <a:r>
              <a:rPr lang="en-US" altLang="zh-CN" b="1" dirty="0" err="1"/>
              <a:t>stdio.h</a:t>
            </a:r>
            <a:r>
              <a:rPr lang="en-US" altLang="zh-CN" b="1" dirty="0"/>
              <a:t>"</a:t>
            </a:r>
          </a:p>
          <a:p>
            <a:pPr>
              <a:lnSpc>
                <a:spcPct val="90000"/>
              </a:lnSpc>
            </a:pPr>
            <a:r>
              <a:rPr lang="en-US" altLang="zh-CN" b="1" dirty="0" err="1"/>
              <a:t>int</a:t>
            </a:r>
            <a:r>
              <a:rPr lang="en-US" altLang="zh-CN" b="1" dirty="0"/>
              <a:t> main( )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{    char d[25];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      char a[ ] = " ", b[ ]= "C++",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               c[ ] = "Turbo";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      </a:t>
            </a:r>
            <a:r>
              <a:rPr lang="en-US" altLang="zh-CN" b="1" dirty="0" err="1">
                <a:solidFill>
                  <a:srgbClr val="FF0000"/>
                </a:solidFill>
              </a:rPr>
              <a:t>strcpy</a:t>
            </a:r>
            <a:r>
              <a:rPr lang="en-US" altLang="zh-CN" b="1" dirty="0">
                <a:solidFill>
                  <a:srgbClr val="FF0000"/>
                </a:solidFill>
              </a:rPr>
              <a:t>(d, c);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      </a:t>
            </a:r>
            <a:r>
              <a:rPr lang="en-US" altLang="zh-CN" b="1" dirty="0" err="1">
                <a:solidFill>
                  <a:srgbClr val="FF0000"/>
                </a:solidFill>
              </a:rPr>
              <a:t>strcat</a:t>
            </a:r>
            <a:r>
              <a:rPr lang="en-US" altLang="zh-CN" b="1" dirty="0">
                <a:solidFill>
                  <a:srgbClr val="FF0000"/>
                </a:solidFill>
              </a:rPr>
              <a:t>(d, a);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      </a:t>
            </a:r>
            <a:r>
              <a:rPr lang="en-US" altLang="zh-CN" b="1" dirty="0" err="1">
                <a:solidFill>
                  <a:srgbClr val="FF0000"/>
                </a:solidFill>
              </a:rPr>
              <a:t>strcat</a:t>
            </a:r>
            <a:r>
              <a:rPr lang="en-US" altLang="zh-CN" b="1" dirty="0">
                <a:solidFill>
                  <a:srgbClr val="FF0000"/>
                </a:solidFill>
              </a:rPr>
              <a:t>(d, b);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("%s\n", d);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      return 0;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}</a:t>
            </a:r>
          </a:p>
        </p:txBody>
      </p:sp>
      <p:sp>
        <p:nvSpPr>
          <p:cNvPr id="435291" name="Text Box 91"/>
          <p:cNvSpPr txBox="1">
            <a:spLocks noChangeArrowheads="1"/>
          </p:cNvSpPr>
          <p:nvPr/>
        </p:nvSpPr>
        <p:spPr bwMode="auto">
          <a:xfrm>
            <a:off x="8066314" y="1131663"/>
            <a:ext cx="1009650" cy="541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d[0]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d[1]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d[2]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d[3]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d[4]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d[5]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d[6]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d[7]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d[8]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d[9]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…</a:t>
            </a:r>
          </a:p>
          <a:p>
            <a:pPr algn="r">
              <a:lnSpc>
                <a:spcPct val="90000"/>
              </a:lnSpc>
            </a:pPr>
            <a:r>
              <a:rPr lang="en-US" altLang="zh-CN" b="1">
                <a:latin typeface="Times New Roman" pitchFamily="18" charset="0"/>
              </a:rPr>
              <a:t>d[24]</a:t>
            </a:r>
          </a:p>
        </p:txBody>
      </p:sp>
      <p:grpSp>
        <p:nvGrpSpPr>
          <p:cNvPr id="435387" name="Group 187"/>
          <p:cNvGrpSpPr>
            <a:grpSpLocks/>
          </p:cNvGrpSpPr>
          <p:nvPr/>
        </p:nvGrpSpPr>
        <p:grpSpPr bwMode="auto">
          <a:xfrm>
            <a:off x="9366478" y="1201514"/>
            <a:ext cx="560387" cy="2665413"/>
            <a:chOff x="4755" y="630"/>
            <a:chExt cx="353" cy="1679"/>
          </a:xfrm>
        </p:grpSpPr>
        <p:sp>
          <p:nvSpPr>
            <p:cNvPr id="38932" name="Text Box 84"/>
            <p:cNvSpPr txBox="1">
              <a:spLocks noChangeArrowheads="1"/>
            </p:cNvSpPr>
            <p:nvPr/>
          </p:nvSpPr>
          <p:spPr bwMode="auto">
            <a:xfrm>
              <a:off x="4755" y="630"/>
              <a:ext cx="28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38933" name="Text Box 85"/>
            <p:cNvSpPr txBox="1">
              <a:spLocks noChangeArrowheads="1"/>
            </p:cNvSpPr>
            <p:nvPr/>
          </p:nvSpPr>
          <p:spPr bwMode="auto">
            <a:xfrm>
              <a:off x="4813" y="1139"/>
              <a:ext cx="230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38934" name="Text Box 86"/>
            <p:cNvSpPr txBox="1">
              <a:spLocks noChangeArrowheads="1"/>
            </p:cNvSpPr>
            <p:nvPr/>
          </p:nvSpPr>
          <p:spPr bwMode="auto">
            <a:xfrm>
              <a:off x="4813" y="1394"/>
              <a:ext cx="25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8935" name="Text Box 87"/>
            <p:cNvSpPr txBox="1">
              <a:spLocks noChangeArrowheads="1"/>
            </p:cNvSpPr>
            <p:nvPr/>
          </p:nvSpPr>
          <p:spPr bwMode="auto">
            <a:xfrm>
              <a:off x="4825" y="1639"/>
              <a:ext cx="2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38936" name="Text Box 88"/>
            <p:cNvSpPr txBox="1">
              <a:spLocks noChangeArrowheads="1"/>
            </p:cNvSpPr>
            <p:nvPr/>
          </p:nvSpPr>
          <p:spPr bwMode="auto">
            <a:xfrm>
              <a:off x="4793" y="1939"/>
              <a:ext cx="31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\0</a:t>
              </a:r>
            </a:p>
          </p:txBody>
        </p:sp>
        <p:sp>
          <p:nvSpPr>
            <p:cNvPr id="38937" name="Text Box 101"/>
            <p:cNvSpPr txBox="1">
              <a:spLocks noChangeArrowheads="1"/>
            </p:cNvSpPr>
            <p:nvPr/>
          </p:nvSpPr>
          <p:spPr bwMode="auto">
            <a:xfrm>
              <a:off x="4800" y="875"/>
              <a:ext cx="25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  <a:latin typeface="Times New Roman" pitchFamily="18" charset="0"/>
                </a:rPr>
                <a:t>u</a:t>
              </a:r>
            </a:p>
          </p:txBody>
        </p:sp>
      </p:grpSp>
      <p:grpSp>
        <p:nvGrpSpPr>
          <p:cNvPr id="435385" name="Group 185"/>
          <p:cNvGrpSpPr>
            <a:grpSpLocks/>
          </p:cNvGrpSpPr>
          <p:nvPr/>
        </p:nvGrpSpPr>
        <p:grpSpPr bwMode="auto">
          <a:xfrm>
            <a:off x="9085490" y="1265014"/>
            <a:ext cx="1190625" cy="5222875"/>
            <a:chOff x="4578" y="694"/>
            <a:chExt cx="750" cy="3180"/>
          </a:xfrm>
        </p:grpSpPr>
        <p:sp>
          <p:nvSpPr>
            <p:cNvPr id="38920" name="Rectangle 74"/>
            <p:cNvSpPr>
              <a:spLocks noChangeArrowheads="1"/>
            </p:cNvSpPr>
            <p:nvPr/>
          </p:nvSpPr>
          <p:spPr bwMode="auto">
            <a:xfrm>
              <a:off x="4582" y="694"/>
              <a:ext cx="746" cy="318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endParaRPr lang="zh-CN" altLang="zh-CN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921" name="Line 75"/>
            <p:cNvSpPr>
              <a:spLocks noChangeShapeType="1"/>
            </p:cNvSpPr>
            <p:nvPr/>
          </p:nvSpPr>
          <p:spPr bwMode="auto">
            <a:xfrm>
              <a:off x="4594" y="934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2" name="Line 76"/>
            <p:cNvSpPr>
              <a:spLocks noChangeShapeType="1"/>
            </p:cNvSpPr>
            <p:nvPr/>
          </p:nvSpPr>
          <p:spPr bwMode="auto">
            <a:xfrm>
              <a:off x="4594" y="1193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3" name="Line 77"/>
            <p:cNvSpPr>
              <a:spLocks noChangeShapeType="1"/>
            </p:cNvSpPr>
            <p:nvPr/>
          </p:nvSpPr>
          <p:spPr bwMode="auto">
            <a:xfrm>
              <a:off x="4594" y="1453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4" name="Line 78"/>
            <p:cNvSpPr>
              <a:spLocks noChangeShapeType="1"/>
            </p:cNvSpPr>
            <p:nvPr/>
          </p:nvSpPr>
          <p:spPr bwMode="auto">
            <a:xfrm>
              <a:off x="4594" y="1712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5" name="Line 79"/>
            <p:cNvSpPr>
              <a:spLocks noChangeShapeType="1"/>
            </p:cNvSpPr>
            <p:nvPr/>
          </p:nvSpPr>
          <p:spPr bwMode="auto">
            <a:xfrm>
              <a:off x="4594" y="2231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6" name="Line 80"/>
            <p:cNvSpPr>
              <a:spLocks noChangeShapeType="1"/>
            </p:cNvSpPr>
            <p:nvPr/>
          </p:nvSpPr>
          <p:spPr bwMode="auto">
            <a:xfrm>
              <a:off x="4594" y="2750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7" name="Line 81"/>
            <p:cNvSpPr>
              <a:spLocks noChangeShapeType="1"/>
            </p:cNvSpPr>
            <p:nvPr/>
          </p:nvSpPr>
          <p:spPr bwMode="auto">
            <a:xfrm>
              <a:off x="4586" y="3010"/>
              <a:ext cx="7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8" name="Line 82"/>
            <p:cNvSpPr>
              <a:spLocks noChangeShapeType="1"/>
            </p:cNvSpPr>
            <p:nvPr/>
          </p:nvSpPr>
          <p:spPr bwMode="auto">
            <a:xfrm>
              <a:off x="4586" y="2491"/>
              <a:ext cx="7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29" name="Line 83"/>
            <p:cNvSpPr>
              <a:spLocks noChangeShapeType="1"/>
            </p:cNvSpPr>
            <p:nvPr/>
          </p:nvSpPr>
          <p:spPr bwMode="auto">
            <a:xfrm>
              <a:off x="4594" y="1972"/>
              <a:ext cx="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30" name="Line 103"/>
            <p:cNvSpPr>
              <a:spLocks noChangeShapeType="1"/>
            </p:cNvSpPr>
            <p:nvPr/>
          </p:nvSpPr>
          <p:spPr bwMode="auto">
            <a:xfrm>
              <a:off x="4578" y="3238"/>
              <a:ext cx="7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38931" name="Line 104"/>
            <p:cNvSpPr>
              <a:spLocks noChangeShapeType="1"/>
            </p:cNvSpPr>
            <p:nvPr/>
          </p:nvSpPr>
          <p:spPr bwMode="auto">
            <a:xfrm>
              <a:off x="4590" y="3634"/>
              <a:ext cx="7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2678F17-05A0-4AC7-A11F-9AA1D390AE5D}"/>
              </a:ext>
            </a:extLst>
          </p:cNvPr>
          <p:cNvGrpSpPr/>
          <p:nvPr/>
        </p:nvGrpSpPr>
        <p:grpSpPr>
          <a:xfrm>
            <a:off x="1763" y="463501"/>
            <a:ext cx="1522238" cy="986114"/>
            <a:chOff x="0" y="174493"/>
            <a:chExt cx="5776667" cy="770050"/>
          </a:xfrm>
        </p:grpSpPr>
        <p:sp>
          <p:nvSpPr>
            <p:cNvPr id="27" name="矩形: 剪去单角 26">
              <a:extLst>
                <a:ext uri="{FF2B5EF4-FFF2-40B4-BE49-F238E27FC236}">
                  <a16:creationId xmlns:a16="http://schemas.microsoft.com/office/drawing/2014/main" id="{D8BF37C5-BEB5-425D-B15E-0695CC1400B3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D9D6E82-8D6C-4ABC-AD4D-2AA7429B0283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</a:p>
          </p:txBody>
        </p:sp>
      </p:grpSp>
      <p:sp>
        <p:nvSpPr>
          <p:cNvPr id="36" name="Text Box 88"/>
          <p:cNvSpPr txBox="1">
            <a:spLocks noChangeArrowheads="1"/>
          </p:cNvSpPr>
          <p:nvPr/>
        </p:nvSpPr>
        <p:spPr bwMode="auto">
          <a:xfrm>
            <a:off x="9379405" y="3410144"/>
            <a:ext cx="615495" cy="3407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Times New Roman" pitchFamily="18" charset="0"/>
              </a:rPr>
              <a:t>空格</a:t>
            </a:r>
            <a:endParaRPr lang="en-US" altLang="zh-CN" sz="16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37" name="Text Box 88"/>
          <p:cNvSpPr txBox="1">
            <a:spLocks noChangeArrowheads="1"/>
          </p:cNvSpPr>
          <p:nvPr/>
        </p:nvSpPr>
        <p:spPr bwMode="auto">
          <a:xfrm>
            <a:off x="9477603" y="3712779"/>
            <a:ext cx="500062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</a:rPr>
              <a:t>\0</a:t>
            </a:r>
          </a:p>
        </p:txBody>
      </p:sp>
      <p:grpSp>
        <p:nvGrpSpPr>
          <p:cNvPr id="29" name="Group 187"/>
          <p:cNvGrpSpPr>
            <a:grpSpLocks/>
          </p:cNvGrpSpPr>
          <p:nvPr/>
        </p:nvGrpSpPr>
        <p:grpSpPr bwMode="auto">
          <a:xfrm>
            <a:off x="9394486" y="3333944"/>
            <a:ext cx="508000" cy="2178050"/>
            <a:chOff x="4755" y="630"/>
            <a:chExt cx="320" cy="1372"/>
          </a:xfrm>
        </p:grpSpPr>
        <p:sp>
          <p:nvSpPr>
            <p:cNvPr id="30" name="Text Box 84"/>
            <p:cNvSpPr txBox="1">
              <a:spLocks noChangeArrowheads="1"/>
            </p:cNvSpPr>
            <p:nvPr/>
          </p:nvSpPr>
          <p:spPr bwMode="auto">
            <a:xfrm>
              <a:off x="4755" y="630"/>
              <a:ext cx="11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lang="en-US" altLang="zh-CN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" name="Text Box 85"/>
            <p:cNvSpPr txBox="1">
              <a:spLocks noChangeArrowheads="1"/>
            </p:cNvSpPr>
            <p:nvPr/>
          </p:nvSpPr>
          <p:spPr bwMode="auto">
            <a:xfrm>
              <a:off x="4813" y="1139"/>
              <a:ext cx="262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2" name="Text Box 86"/>
            <p:cNvSpPr txBox="1">
              <a:spLocks noChangeArrowheads="1"/>
            </p:cNvSpPr>
            <p:nvPr/>
          </p:nvSpPr>
          <p:spPr bwMode="auto">
            <a:xfrm>
              <a:off x="4813" y="1394"/>
              <a:ext cx="262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C0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3" name="Text Box 87"/>
            <p:cNvSpPr txBox="1">
              <a:spLocks noChangeArrowheads="1"/>
            </p:cNvSpPr>
            <p:nvPr/>
          </p:nvSpPr>
          <p:spPr bwMode="auto">
            <a:xfrm>
              <a:off x="4777" y="1671"/>
              <a:ext cx="290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2800" b="1" dirty="0">
                  <a:solidFill>
                    <a:srgbClr val="C00000"/>
                  </a:solidFill>
                  <a:latin typeface="Times New Roman" pitchFamily="18" charset="0"/>
                </a:rPr>
                <a:t>\0</a:t>
              </a:r>
            </a:p>
          </p:txBody>
        </p:sp>
        <p:sp>
          <p:nvSpPr>
            <p:cNvPr id="35" name="Text Box 101"/>
            <p:cNvSpPr txBox="1">
              <a:spLocks noChangeArrowheads="1"/>
            </p:cNvSpPr>
            <p:nvPr/>
          </p:nvSpPr>
          <p:spPr bwMode="auto">
            <a:xfrm>
              <a:off x="4840" y="923"/>
              <a:ext cx="232" cy="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rgbClr val="C00000"/>
                  </a:solidFill>
                  <a:latin typeface="Times New Roman" pitchFamily="18" charset="0"/>
                </a:rPr>
                <a:t>C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C249EF9-1AF7-468B-BBCF-E56FAB53B513}"/>
                  </a:ext>
                </a:extLst>
              </p14:cNvPr>
              <p14:cNvContentPartPr/>
              <p14:nvPr/>
            </p14:nvContentPartPr>
            <p14:xfrm>
              <a:off x="4546440" y="3187800"/>
              <a:ext cx="140400" cy="828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C249EF9-1AF7-468B-BBCF-E56FAB53B5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7080" y="3178440"/>
                <a:ext cx="159120" cy="1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607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5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4" grpId="0" animBg="1" autoUpdateAnimBg="0"/>
      <p:bldP spid="435291" grpId="0" autoUpdateAnimBg="0"/>
      <p:bldP spid="36" grpId="0" animBg="1"/>
      <p:bldP spid="3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1454832" y="1762528"/>
            <a:ext cx="920228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eaLnBrk="0" hangingPunct="0">
              <a:spcBef>
                <a:spcPts val="12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Ø"/>
              <a:defRPr sz="3200">
                <a:latin typeface="Times New Roman" pitchFamily="18" charset="0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5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ea typeface="微软雅黑" panose="020B0503020204020204" pitchFamily="34" charset="-122"/>
              </a:rPr>
              <a:t>格式：</a:t>
            </a:r>
            <a:r>
              <a:rPr lang="en-US" altLang="zh-CN" b="1" dirty="0" err="1">
                <a:ea typeface="微软雅黑" panose="020B0503020204020204" pitchFamily="34" charset="-122"/>
              </a:rPr>
              <a:t>strcmp</a:t>
            </a:r>
            <a:r>
              <a:rPr lang="en-US" altLang="zh-CN" b="1" dirty="0">
                <a:ea typeface="微软雅黑" panose="020B0503020204020204" pitchFamily="34" charset="-122"/>
              </a:rPr>
              <a:t>(</a:t>
            </a:r>
            <a:r>
              <a:rPr lang="zh-CN" altLang="zh-CN" b="1" dirty="0">
                <a:ea typeface="微软雅黑" panose="020B0503020204020204" pitchFamily="34" charset="-122"/>
              </a:rPr>
              <a:t>字符串1,字符串2)</a:t>
            </a:r>
          </a:p>
          <a:p>
            <a:pPr>
              <a:lnSpc>
                <a:spcPct val="125000"/>
              </a:lnSpc>
              <a:buNone/>
            </a:pPr>
            <a:r>
              <a:rPr lang="zh-CN" altLang="zh-CN" b="1" dirty="0">
                <a:solidFill>
                  <a:srgbClr val="C00000"/>
                </a:solidFill>
                <a:ea typeface="微软雅黑" panose="020B0503020204020204" pitchFamily="34" charset="-122"/>
              </a:rPr>
              <a:t>规则：</a:t>
            </a:r>
            <a:r>
              <a:rPr lang="zh-CN" altLang="zh-CN" b="1" dirty="0">
                <a:ea typeface="微软雅黑" panose="020B0503020204020204" pitchFamily="34" charset="-122"/>
              </a:rPr>
              <a:t>对两串从左向右逐个字符比较</a:t>
            </a:r>
            <a:r>
              <a:rPr lang="en-US" altLang="zh-CN" b="1" dirty="0">
                <a:ea typeface="微软雅黑" panose="020B0503020204020204" pitchFamily="34" charset="-122"/>
              </a:rPr>
              <a:t>,</a:t>
            </a:r>
            <a:r>
              <a:rPr lang="zh-CN" altLang="zh-CN" b="1" dirty="0">
                <a:ea typeface="微软雅黑" panose="020B0503020204020204" pitchFamily="34" charset="-122"/>
              </a:rPr>
              <a:t>直到</a:t>
            </a:r>
            <a:endParaRPr lang="zh-CN" altLang="en-US" b="1" dirty="0"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en-US" b="1" dirty="0">
                <a:ea typeface="微软雅黑" panose="020B0503020204020204" pitchFamily="34" charset="-122"/>
              </a:rPr>
              <a:t>             </a:t>
            </a:r>
            <a:r>
              <a:rPr lang="zh-CN" altLang="zh-CN" b="1" dirty="0">
                <a:ea typeface="微软雅黑" panose="020B0503020204020204" pitchFamily="34" charset="-122"/>
              </a:rPr>
              <a:t>遇到不同字符或</a:t>
            </a:r>
            <a:r>
              <a:rPr lang="en-US" altLang="zh-CN" b="1" dirty="0">
                <a:ea typeface="微软雅黑" panose="020B0503020204020204" pitchFamily="34" charset="-122"/>
              </a:rPr>
              <a:t>'</a:t>
            </a:r>
            <a:r>
              <a:rPr lang="zh-CN" altLang="zh-CN" b="1" dirty="0">
                <a:ea typeface="微软雅黑" panose="020B0503020204020204" pitchFamily="34" charset="-122"/>
              </a:rPr>
              <a:t>\0</a:t>
            </a:r>
            <a:r>
              <a:rPr lang="en-US" altLang="zh-CN" b="1" dirty="0">
                <a:ea typeface="微软雅黑" panose="020B0503020204020204" pitchFamily="34" charset="-122"/>
              </a:rPr>
              <a:t>'</a:t>
            </a:r>
            <a:r>
              <a:rPr lang="zh-CN" altLang="zh-CN" b="1" dirty="0">
                <a:ea typeface="微软雅黑" panose="020B0503020204020204" pitchFamily="34" charset="-122"/>
              </a:rPr>
              <a:t>为止</a:t>
            </a:r>
          </a:p>
          <a:p>
            <a:pPr>
              <a:lnSpc>
                <a:spcPct val="125000"/>
              </a:lnSpc>
              <a:buNone/>
            </a:pPr>
            <a:r>
              <a:rPr lang="zh-CN" altLang="zh-CN" b="1" dirty="0">
                <a:solidFill>
                  <a:srgbClr val="C00000"/>
                </a:solidFill>
                <a:ea typeface="微软雅黑" panose="020B0503020204020204" pitchFamily="34" charset="-122"/>
              </a:rPr>
              <a:t>返值：</a:t>
            </a:r>
            <a:r>
              <a:rPr lang="zh-CN" altLang="zh-CN" b="1" dirty="0">
                <a:ea typeface="微软雅黑" panose="020B0503020204020204" pitchFamily="34" charset="-122"/>
              </a:rPr>
              <a:t>返回整数</a:t>
            </a:r>
            <a:r>
              <a:rPr lang="en-US" altLang="zh-CN" b="1" dirty="0"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ea typeface="微软雅黑" panose="020B0503020204020204" pitchFamily="34" charset="-122"/>
              </a:rPr>
              <a:t>-1</a:t>
            </a:r>
          </a:p>
          <a:p>
            <a:pPr>
              <a:lnSpc>
                <a:spcPct val="125000"/>
              </a:lnSpc>
              <a:buNone/>
            </a:pPr>
            <a:r>
              <a:rPr lang="zh-CN" altLang="zh-CN" b="1" dirty="0">
                <a:solidFill>
                  <a:srgbClr val="C00000"/>
                </a:solidFill>
                <a:ea typeface="微软雅黑" panose="020B0503020204020204" pitchFamily="34" charset="-122"/>
              </a:rPr>
              <a:t>说明：</a:t>
            </a:r>
            <a:r>
              <a:rPr lang="zh-CN" altLang="zh-CN" b="1" dirty="0">
                <a:ea typeface="微软雅黑" panose="020B0503020204020204" pitchFamily="34" charset="-122"/>
              </a:rPr>
              <a:t>字符串比较不能用</a:t>
            </a:r>
            <a:r>
              <a:rPr lang="en-US" altLang="zh-CN" b="1" dirty="0">
                <a:ea typeface="微软雅黑" panose="020B0503020204020204" pitchFamily="34" charset="-122"/>
              </a:rPr>
              <a:t>"</a:t>
            </a:r>
            <a:r>
              <a:rPr lang="zh-CN" altLang="zh-CN" b="1" dirty="0">
                <a:ea typeface="微软雅黑" panose="020B0503020204020204" pitchFamily="34" charset="-122"/>
              </a:rPr>
              <a:t>==</a:t>
            </a:r>
            <a:r>
              <a:rPr lang="en-US" altLang="zh-CN" b="1" dirty="0">
                <a:ea typeface="微软雅黑" panose="020B0503020204020204" pitchFamily="34" charset="-122"/>
              </a:rPr>
              <a:t>"</a:t>
            </a:r>
            <a:r>
              <a:rPr lang="zh-CN" altLang="zh-CN" b="1" dirty="0">
                <a:ea typeface="微软雅黑" panose="020B0503020204020204" pitchFamily="34" charset="-122"/>
              </a:rPr>
              <a:t>，必须用</a:t>
            </a:r>
            <a:r>
              <a:rPr lang="en-US" altLang="zh-CN" b="1" dirty="0" err="1">
                <a:ea typeface="微软雅黑" panose="020B0503020204020204" pitchFamily="34" charset="-122"/>
              </a:rPr>
              <a:t>strcmp</a:t>
            </a:r>
            <a:endParaRPr lang="en-US" altLang="zh-CN" b="1" dirty="0"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E72308E-DA5E-4BC7-BBDC-09B4331F646A}"/>
              </a:ext>
            </a:extLst>
          </p:cNvPr>
          <p:cNvGrpSpPr/>
          <p:nvPr/>
        </p:nvGrpSpPr>
        <p:grpSpPr>
          <a:xfrm>
            <a:off x="1762" y="463501"/>
            <a:ext cx="10971038" cy="986114"/>
            <a:chOff x="0" y="174493"/>
            <a:chExt cx="5776667" cy="770050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0B5CA50D-314C-494C-9231-DD2CFC698BF9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58C53CA-A9D8-4519-988D-0755758B4CCB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字符串连接函数</a:t>
              </a:r>
              <a:r>
                <a:rPr lang="en-US" altLang="zh-C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3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strcmp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3544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6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6" grpId="0" build="p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ext Box 2"/>
          <p:cNvSpPr txBox="1">
            <a:spLocks noChangeArrowheads="1"/>
          </p:cNvSpPr>
          <p:nvPr/>
        </p:nvSpPr>
        <p:spPr bwMode="auto">
          <a:xfrm>
            <a:off x="2262011" y="1474581"/>
            <a:ext cx="7414157" cy="5018939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defPPr>
              <a:defRPr lang="zh-CN"/>
            </a:defPPr>
            <a:lvl1pPr>
              <a:defRPr sz="32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 b="1" dirty="0"/>
              <a:t>#include &lt;</a:t>
            </a:r>
            <a:r>
              <a:rPr lang="en-US" altLang="zh-CN" b="1" dirty="0" err="1"/>
              <a:t>string.h</a:t>
            </a:r>
            <a:r>
              <a:rPr lang="en-US" altLang="zh-CN" b="1" dirty="0"/>
              <a:t>&gt;</a:t>
            </a:r>
          </a:p>
          <a:p>
            <a:r>
              <a:rPr lang="en-US" altLang="zh-CN" b="1" dirty="0"/>
              <a:t>#include "</a:t>
            </a:r>
            <a:r>
              <a:rPr lang="en-US" altLang="zh-CN" b="1" dirty="0" err="1"/>
              <a:t>stdio.h</a:t>
            </a:r>
            <a:r>
              <a:rPr lang="en-US" altLang="zh-CN" b="1" dirty="0"/>
              <a:t>"</a:t>
            </a:r>
          </a:p>
          <a:p>
            <a:r>
              <a:rPr lang="en-US" altLang="zh-CN" b="1" dirty="0" err="1"/>
              <a:t>int</a:t>
            </a:r>
            <a:r>
              <a:rPr lang="en-US" altLang="zh-CN" b="1" dirty="0"/>
              <a:t> main( )</a:t>
            </a:r>
          </a:p>
          <a:p>
            <a:r>
              <a:rPr lang="en-US" altLang="zh-CN" b="1" dirty="0"/>
              <a:t>{    char string[20],</a:t>
            </a:r>
            <a:r>
              <a:rPr lang="en-US" altLang="zh-CN" b="1" dirty="0" err="1"/>
              <a:t>str</a:t>
            </a:r>
            <a:r>
              <a:rPr lang="en-US" altLang="zh-CN" b="1" dirty="0"/>
              <a:t>[3][20]; </a:t>
            </a:r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 for(</a:t>
            </a:r>
            <a:r>
              <a:rPr lang="en-US" altLang="zh-CN" b="1" dirty="0" err="1"/>
              <a:t>i</a:t>
            </a:r>
            <a:r>
              <a:rPr lang="en-US" altLang="zh-CN" b="1" dirty="0"/>
              <a:t>=0;i&lt;3;i++)  gets(</a:t>
            </a:r>
            <a:r>
              <a:rPr lang="en-US" altLang="zh-CN" b="1" dirty="0" err="1"/>
              <a:t>str</a:t>
            </a:r>
            <a:r>
              <a:rPr lang="en-US" altLang="zh-CN" b="1" dirty="0"/>
              <a:t>[</a:t>
            </a:r>
            <a:r>
              <a:rPr lang="en-US" altLang="zh-CN" b="1" dirty="0" err="1"/>
              <a:t>i</a:t>
            </a:r>
            <a:r>
              <a:rPr lang="en-US" altLang="zh-CN" b="1" dirty="0"/>
              <a:t>]);</a:t>
            </a:r>
          </a:p>
          <a:p>
            <a:endParaRPr lang="en-US" altLang="zh-CN" b="1" dirty="0"/>
          </a:p>
          <a:p>
            <a:r>
              <a:rPr lang="en-US" altLang="zh-CN" b="1" dirty="0"/>
              <a:t>      </a:t>
            </a:r>
          </a:p>
          <a:p>
            <a:r>
              <a:rPr lang="en-US" altLang="zh-CN" b="1" dirty="0"/>
              <a:t>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("%s\</a:t>
            </a:r>
            <a:r>
              <a:rPr lang="en-US" altLang="zh-CN" b="1" dirty="0" err="1"/>
              <a:t>n",string</a:t>
            </a:r>
            <a:r>
              <a:rPr lang="en-US" altLang="zh-CN" b="1" dirty="0"/>
              <a:t>);</a:t>
            </a:r>
          </a:p>
          <a:p>
            <a:r>
              <a:rPr lang="en-US" altLang="zh-CN" b="1" dirty="0"/>
              <a:t>      return 0;</a:t>
            </a:r>
          </a:p>
          <a:p>
            <a:r>
              <a:rPr lang="en-US" altLang="zh-CN" b="1" dirty="0"/>
              <a:t>}</a:t>
            </a: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1991543" y="682492"/>
            <a:ext cx="98175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40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sz="2700">
                <a:latin typeface="Arial" charset="0"/>
                <a:ea typeface="宋体" pitchFamily="2" charset="-122"/>
              </a:defRPr>
            </a:lvl2pPr>
            <a:lvl3pPr>
              <a:defRPr sz="2300">
                <a:latin typeface="Arial" charset="0"/>
                <a:ea typeface="宋体" pitchFamily="2" charset="-122"/>
              </a:defRPr>
            </a:lvl3pPr>
            <a:lvl4pPr>
              <a:defRPr sz="2000">
                <a:latin typeface="Arial" charset="0"/>
                <a:ea typeface="宋体" pitchFamily="2" charset="-122"/>
              </a:defRPr>
            </a:lvl4pPr>
            <a:lvl5pPr>
              <a:defRPr sz="2000"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问题描述：</a:t>
            </a:r>
            <a:r>
              <a:rPr lang="zh-CN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编程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计算三个</a:t>
            </a:r>
            <a:r>
              <a:rPr lang="zh-CN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字符串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中最大串。</a:t>
            </a:r>
          </a:p>
        </p:txBody>
      </p:sp>
      <p:sp>
        <p:nvSpPr>
          <p:cNvPr id="439300" name="Rectangle 4"/>
          <p:cNvSpPr>
            <a:spLocks noChangeArrowheads="1"/>
          </p:cNvSpPr>
          <p:nvPr/>
        </p:nvSpPr>
        <p:spPr bwMode="auto">
          <a:xfrm>
            <a:off x="8521814" y="3429000"/>
            <a:ext cx="5184775" cy="488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endParaRPr lang="en-US" altLang="zh-CN" sz="3200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6" name="线形标注 1 5"/>
          <p:cNvSpPr/>
          <p:nvPr/>
        </p:nvSpPr>
        <p:spPr>
          <a:xfrm>
            <a:off x="4498783" y="3537930"/>
            <a:ext cx="5184775" cy="2458238"/>
          </a:xfrm>
          <a:prstGeom prst="borderCallout1">
            <a:avLst>
              <a:gd name="adj1" fmla="val 18750"/>
              <a:gd name="adj2" fmla="val -8333"/>
              <a:gd name="adj3" fmla="val 34301"/>
              <a:gd name="adj4" fmla="val -16510"/>
            </a:avLst>
          </a:prstGeom>
          <a:solidFill>
            <a:srgbClr val="FFFFFF"/>
          </a:solidFill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if(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strcmp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[0],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[1])&gt;0)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   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strcpy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string,str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[0]);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else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   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strcpy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string,str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[1]);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if(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strcmp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[2],string)&gt;0)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   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strcpy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</a:rPr>
              <a:t>string,str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</a:rPr>
              <a:t>[2]);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DCC159-9F7A-4C6B-8CA4-65775EF0D420}"/>
              </a:ext>
            </a:extLst>
          </p:cNvPr>
          <p:cNvGrpSpPr/>
          <p:nvPr/>
        </p:nvGrpSpPr>
        <p:grpSpPr>
          <a:xfrm>
            <a:off x="1763" y="340840"/>
            <a:ext cx="1522238" cy="986114"/>
            <a:chOff x="0" y="174493"/>
            <a:chExt cx="5776667" cy="770050"/>
          </a:xfrm>
        </p:grpSpPr>
        <p:sp>
          <p:nvSpPr>
            <p:cNvPr id="8" name="矩形: 剪去单角 7">
              <a:extLst>
                <a:ext uri="{FF2B5EF4-FFF2-40B4-BE49-F238E27FC236}">
                  <a16:creationId xmlns:a16="http://schemas.microsoft.com/office/drawing/2014/main" id="{6F41A212-655D-40F7-9B53-16D9855F84BF}"/>
                </a:ext>
              </a:extLst>
            </p:cNvPr>
            <p:cNvSpPr/>
            <p:nvPr/>
          </p:nvSpPr>
          <p:spPr>
            <a:xfrm>
              <a:off x="0" y="174493"/>
              <a:ext cx="5776667" cy="710978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6AFB8FC-63B2-4167-A060-825BD81E43C6}"/>
                </a:ext>
              </a:extLst>
            </p:cNvPr>
            <p:cNvSpPr/>
            <p:nvPr/>
          </p:nvSpPr>
          <p:spPr>
            <a:xfrm>
              <a:off x="245177" y="175102"/>
              <a:ext cx="543029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lvl="3" indent="-1371600"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7645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9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8" grpId="0" animBg="1" autoUpdateAnimBg="0"/>
      <p:bldP spid="439300" grpId="0"/>
      <p:bldP spid="6" grpId="0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18556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4543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26164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3328044" y="2684349"/>
            <a:ext cx="6527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spc="800" dirty="0">
                <a:latin typeface="微软雅黑" panose="020B0503020204020204" charset="-122"/>
                <a:ea typeface="微软雅黑" panose="020B0503020204020204" charset="-122"/>
              </a:rPr>
              <a:t>指针与数组关系初步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3386496" y="3465765"/>
            <a:ext cx="6329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THE RELATIONSHIP BETWEEN THE POINTER AND THE ARRAY</a:t>
            </a:r>
          </a:p>
        </p:txBody>
      </p:sp>
      <p:sp>
        <p:nvSpPr>
          <p:cNvPr id="19" name="TextBox 13"/>
          <p:cNvSpPr txBox="1"/>
          <p:nvPr/>
        </p:nvSpPr>
        <p:spPr>
          <a:xfrm>
            <a:off x="699111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06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3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0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8" grpId="0"/>
      <p:bldP spid="1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0600" y="2377407"/>
            <a:ext cx="81534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EAF0E0"/>
              </a:buClr>
              <a:buSzPct val="75000"/>
            </a:pP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指针变量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：用于存放变量内存地址值的变量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EAF0E0"/>
              </a:buClr>
              <a:buSzPct val="75000"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定义格式：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类型名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指针变量名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EAF0E0"/>
              </a:buClr>
              <a:buSzPct val="75000"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pa;</a:t>
            </a:r>
          </a:p>
        </p:txBody>
      </p:sp>
      <p:sp>
        <p:nvSpPr>
          <p:cNvPr id="5" name="矩形 4"/>
          <p:cNvSpPr/>
          <p:nvPr/>
        </p:nvSpPr>
        <p:spPr>
          <a:xfrm>
            <a:off x="1847528" y="1729336"/>
            <a:ext cx="3505200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571500" eaLnBrk="0" fontAlgn="base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指针变量定义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D6BC0DF-A1DB-41BB-9959-DC23E75A64EF}"/>
              </a:ext>
            </a:extLst>
          </p:cNvPr>
          <p:cNvGrpSpPr/>
          <p:nvPr/>
        </p:nvGrpSpPr>
        <p:grpSpPr>
          <a:xfrm>
            <a:off x="1763" y="289738"/>
            <a:ext cx="3336859" cy="1219200"/>
            <a:chOff x="0" y="175102"/>
            <a:chExt cx="6411951" cy="769441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40219864-C382-4BD8-A755-AC53EEC25657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BF8BFD0-B5D7-45A6-B813-9912B22B2B31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4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复 习 回 顾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3189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34212" y="1746162"/>
            <a:ext cx="4034958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571500" eaLnBrk="0" fontAlgn="base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指针变量赋值</a:t>
            </a:r>
          </a:p>
        </p:txBody>
      </p:sp>
      <p:sp>
        <p:nvSpPr>
          <p:cNvPr id="6" name="矩形 5"/>
          <p:cNvSpPr/>
          <p:nvPr/>
        </p:nvSpPr>
        <p:spPr>
          <a:xfrm>
            <a:off x="2459667" y="2602768"/>
            <a:ext cx="56906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6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a=30;</a:t>
            </a:r>
            <a:endParaRPr lang="zh-CN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36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*pa;</a:t>
            </a:r>
            <a:endParaRPr lang="zh-CN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pa=&amp;a;</a:t>
            </a:r>
            <a:endParaRPr lang="en-US" altLang="zh-CN" sz="36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59662" y="4445269"/>
            <a:ext cx="28906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或者：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5467" y="5059553"/>
            <a:ext cx="76600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6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a=30;</a:t>
            </a:r>
          </a:p>
          <a:p>
            <a:pPr fontAlgn="base"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6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*pa=&amp;a;     //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指针变量初始化</a:t>
            </a:r>
            <a:endParaRPr lang="zh-CN" altLang="en-US" sz="36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0690374-4E66-4643-9F03-C1197AEF0AF7}"/>
              </a:ext>
            </a:extLst>
          </p:cNvPr>
          <p:cNvGrpSpPr/>
          <p:nvPr/>
        </p:nvGrpSpPr>
        <p:grpSpPr>
          <a:xfrm>
            <a:off x="1763" y="289738"/>
            <a:ext cx="3336859" cy="1219200"/>
            <a:chOff x="0" y="175102"/>
            <a:chExt cx="6411951" cy="769441"/>
          </a:xfrm>
        </p:grpSpPr>
        <p:sp>
          <p:nvSpPr>
            <p:cNvPr id="10" name="矩形: 剪去单角 9">
              <a:extLst>
                <a:ext uri="{FF2B5EF4-FFF2-40B4-BE49-F238E27FC236}">
                  <a16:creationId xmlns:a16="http://schemas.microsoft.com/office/drawing/2014/main" id="{D00FBC85-B3C6-4EBC-8268-0D86515F3A62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4000" b="1">
                <a:solidFill>
                  <a:srgbClr val="C0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6657551-A846-47EF-8A94-570606D0A255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4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复 习 回 顾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7744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7" grpId="0"/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62173" y="1869202"/>
            <a:ext cx="5330504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571500" eaLnBrk="0" fontAlgn="base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通过指针间接访问变量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2344477" y="2542164"/>
            <a:ext cx="4495800" cy="344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a=0;</a:t>
            </a:r>
            <a:endParaRPr lang="zh-CN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*pa=&amp;a;</a:t>
            </a:r>
            <a:endParaRPr lang="zh-CN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("%d",*pa);	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*pa=1;	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("%d",*pa);	 </a:t>
            </a:r>
            <a:endParaRPr lang="zh-CN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882" y="3184453"/>
            <a:ext cx="2971799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DEEE0FF1-691E-407B-9BFE-FC2C207D2E0E}"/>
              </a:ext>
            </a:extLst>
          </p:cNvPr>
          <p:cNvGrpSpPr/>
          <p:nvPr/>
        </p:nvGrpSpPr>
        <p:grpSpPr>
          <a:xfrm>
            <a:off x="1763" y="289738"/>
            <a:ext cx="3336859" cy="1219200"/>
            <a:chOff x="0" y="175102"/>
            <a:chExt cx="6411951" cy="769441"/>
          </a:xfrm>
        </p:grpSpPr>
        <p:sp>
          <p:nvSpPr>
            <p:cNvPr id="10" name="矩形: 剪去单角 9">
              <a:extLst>
                <a:ext uri="{FF2B5EF4-FFF2-40B4-BE49-F238E27FC236}">
                  <a16:creationId xmlns:a16="http://schemas.microsoft.com/office/drawing/2014/main" id="{8B248C91-10FB-4343-9DC9-D414774D0911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4000" b="1">
                <a:solidFill>
                  <a:srgbClr val="C0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7CD026F-5686-4B64-B26F-7735BD447DED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4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复 习 回 顾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3991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4953000" y="3078242"/>
            <a:ext cx="4572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Char char="n"/>
            </a:pPr>
            <a:endParaRPr lang="en-US" altLang="zh-CN" sz="3200" b="1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EAF0E0"/>
              </a:buClr>
              <a:buSzPct val="75000"/>
              <a:buFontTx/>
              <a:buAutoNum type="arabicPeriod"/>
            </a:pPr>
            <a:endParaRPr lang="en-US" altLang="zh-CN" sz="3200" b="1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1981200" y="1566163"/>
            <a:ext cx="5486400" cy="5191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indent="-571500" eaLnBrk="0" fontAlgn="base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 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的不同含义</a:t>
            </a:r>
          </a:p>
        </p:txBody>
      </p:sp>
      <p:sp>
        <p:nvSpPr>
          <p:cNvPr id="620548" name="Rectangle 4"/>
          <p:cNvSpPr>
            <a:spLocks noChangeArrowheads="1"/>
          </p:cNvSpPr>
          <p:nvPr/>
        </p:nvSpPr>
        <p:spPr bwMode="auto">
          <a:xfrm>
            <a:off x="2209805" y="3758135"/>
            <a:ext cx="71609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2370CD"/>
              </a:buClr>
              <a:buSzPct val="75000"/>
              <a:buFont typeface="Wingdings" pitchFamily="2" charset="2"/>
              <a:buNone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在使用中表示取指针变量所指变量的值</a:t>
            </a:r>
          </a:p>
        </p:txBody>
      </p:sp>
      <p:sp>
        <p:nvSpPr>
          <p:cNvPr id="620550" name="Rectangle 6"/>
          <p:cNvSpPr>
            <a:spLocks noChangeArrowheads="1"/>
          </p:cNvSpPr>
          <p:nvPr/>
        </p:nvSpPr>
        <p:spPr bwMode="auto">
          <a:xfrm>
            <a:off x="3003588" y="4554872"/>
            <a:ext cx="4862228" cy="176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=30,  *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i_pointer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i_pointer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=&amp;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*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i_pointer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=100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620551" name="Rectangle 7"/>
          <p:cNvSpPr>
            <a:spLocks noChangeArrowheads="1"/>
          </p:cNvSpPr>
          <p:nvPr/>
        </p:nvSpPr>
        <p:spPr bwMode="auto">
          <a:xfrm>
            <a:off x="3003588" y="3009504"/>
            <a:ext cx="38988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EAF0E0"/>
              </a:buClr>
              <a:buSzPct val="75000"/>
              <a:buFont typeface="Wingdings" pitchFamily="2" charset="2"/>
              <a:buNone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*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i_pointer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620552" name="Rectangle 8"/>
          <p:cNvSpPr>
            <a:spLocks noChangeArrowheads="1"/>
          </p:cNvSpPr>
          <p:nvPr/>
        </p:nvSpPr>
        <p:spPr bwMode="auto">
          <a:xfrm>
            <a:off x="2209800" y="2321001"/>
            <a:ext cx="7696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2370CD"/>
              </a:buClr>
              <a:buSzPct val="75000"/>
              <a:buFont typeface="Wingdings" pitchFamily="2" charset="2"/>
              <a:buNone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在定义中表示定义一个新的指针型变量</a:t>
            </a:r>
          </a:p>
        </p:txBody>
      </p:sp>
      <p:sp>
        <p:nvSpPr>
          <p:cNvPr id="620553" name="Rectangle 9"/>
          <p:cNvSpPr>
            <a:spLocks noChangeArrowheads="1"/>
          </p:cNvSpPr>
          <p:nvPr/>
        </p:nvSpPr>
        <p:spPr bwMode="auto">
          <a:xfrm>
            <a:off x="2819400" y="3942286"/>
            <a:ext cx="6934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2370CD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0D22A0E-A1ED-4C86-A038-CEC5E8FDE254}"/>
              </a:ext>
            </a:extLst>
          </p:cNvPr>
          <p:cNvGrpSpPr/>
          <p:nvPr/>
        </p:nvGrpSpPr>
        <p:grpSpPr>
          <a:xfrm>
            <a:off x="1763" y="289738"/>
            <a:ext cx="3336859" cy="1219200"/>
            <a:chOff x="0" y="175102"/>
            <a:chExt cx="6411951" cy="769441"/>
          </a:xfrm>
        </p:grpSpPr>
        <p:sp>
          <p:nvSpPr>
            <p:cNvPr id="12" name="矩形: 剪去单角 11">
              <a:extLst>
                <a:ext uri="{FF2B5EF4-FFF2-40B4-BE49-F238E27FC236}">
                  <a16:creationId xmlns:a16="http://schemas.microsoft.com/office/drawing/2014/main" id="{9C530F10-4558-44B9-9489-1DA72B837190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4000" b="1">
                <a:solidFill>
                  <a:srgbClr val="C000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72761D0-C348-49E6-8CA1-25C155C022F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4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复 习 回 顾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7327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20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20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20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620548" grpId="0" build="p" autoUpdateAnimBg="0"/>
      <p:bldP spid="620550" grpId="0" build="p" autoUpdateAnimBg="0"/>
      <p:bldP spid="620551" grpId="0" autoUpdateAnimBg="0"/>
      <p:bldP spid="620552" grpId="0" autoUpdateAnimBg="0"/>
      <p:bldP spid="620553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28738" name="Text Box 2"/>
          <p:cNvSpPr txBox="1">
            <a:spLocks noChangeArrowheads="1"/>
          </p:cNvSpPr>
          <p:nvPr/>
        </p:nvSpPr>
        <p:spPr bwMode="auto">
          <a:xfrm>
            <a:off x="2286001" y="1665524"/>
            <a:ext cx="2730235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>
              <a:lnSpc>
                <a:spcPct val="90000"/>
              </a:lnSpc>
            </a:pP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a[5];</a:t>
            </a:r>
          </a:p>
          <a:p>
            <a:pPr algn="l"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*p;</a:t>
            </a:r>
          </a:p>
          <a:p>
            <a:pPr algn="l"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p=&amp;a[0];   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628739" name="Group 3"/>
          <p:cNvGrpSpPr>
            <a:grpSpLocks/>
          </p:cNvGrpSpPr>
          <p:nvPr/>
        </p:nvGrpSpPr>
        <p:grpSpPr bwMode="auto">
          <a:xfrm>
            <a:off x="8839200" y="1550988"/>
            <a:ext cx="1657350" cy="2949574"/>
            <a:chOff x="4608" y="977"/>
            <a:chExt cx="1044" cy="1858"/>
          </a:xfrm>
        </p:grpSpPr>
        <p:sp>
          <p:nvSpPr>
            <p:cNvPr id="32798" name="Text Box 4"/>
            <p:cNvSpPr txBox="1">
              <a:spLocks noChangeArrowheads="1"/>
            </p:cNvSpPr>
            <p:nvPr/>
          </p:nvSpPr>
          <p:spPr bwMode="auto">
            <a:xfrm>
              <a:off x="4858" y="977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a[0]</a:t>
              </a:r>
            </a:p>
          </p:txBody>
        </p:sp>
        <p:sp>
          <p:nvSpPr>
            <p:cNvPr id="32799" name="Text Box 5"/>
            <p:cNvSpPr txBox="1">
              <a:spLocks noChangeArrowheads="1"/>
            </p:cNvSpPr>
            <p:nvPr/>
          </p:nvSpPr>
          <p:spPr bwMode="auto">
            <a:xfrm>
              <a:off x="4858" y="1342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a[1]</a:t>
              </a:r>
            </a:p>
          </p:txBody>
        </p:sp>
        <p:sp>
          <p:nvSpPr>
            <p:cNvPr id="32800" name="Text Box 6"/>
            <p:cNvSpPr txBox="1">
              <a:spLocks noChangeArrowheads="1"/>
            </p:cNvSpPr>
            <p:nvPr/>
          </p:nvSpPr>
          <p:spPr bwMode="auto">
            <a:xfrm>
              <a:off x="4858" y="1729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a[2]</a:t>
              </a:r>
            </a:p>
          </p:txBody>
        </p:sp>
        <p:sp>
          <p:nvSpPr>
            <p:cNvPr id="32801" name="Text Box 7"/>
            <p:cNvSpPr txBox="1">
              <a:spLocks noChangeArrowheads="1"/>
            </p:cNvSpPr>
            <p:nvPr/>
          </p:nvSpPr>
          <p:spPr bwMode="auto">
            <a:xfrm>
              <a:off x="4858" y="2081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a[3]</a:t>
              </a:r>
            </a:p>
          </p:txBody>
        </p:sp>
        <p:sp>
          <p:nvSpPr>
            <p:cNvPr id="32802" name="Text Box 8"/>
            <p:cNvSpPr txBox="1">
              <a:spLocks noChangeArrowheads="1"/>
            </p:cNvSpPr>
            <p:nvPr/>
          </p:nvSpPr>
          <p:spPr bwMode="auto">
            <a:xfrm>
              <a:off x="4608" y="2465"/>
              <a:ext cx="10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a[4]</a:t>
              </a:r>
            </a:p>
          </p:txBody>
        </p:sp>
      </p:grpSp>
      <p:sp>
        <p:nvSpPr>
          <p:cNvPr id="628745" name="Text Box 9"/>
          <p:cNvSpPr txBox="1">
            <a:spLocks noChangeArrowheads="1"/>
          </p:cNvSpPr>
          <p:nvPr/>
        </p:nvSpPr>
        <p:spPr bwMode="auto">
          <a:xfrm>
            <a:off x="9448800" y="4492042"/>
            <a:ext cx="40938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339966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628746" name="Text Box 10"/>
          <p:cNvSpPr txBox="1">
            <a:spLocks noChangeArrowheads="1"/>
          </p:cNvSpPr>
          <p:nvPr/>
        </p:nvSpPr>
        <p:spPr bwMode="auto">
          <a:xfrm>
            <a:off x="8001001" y="4568242"/>
            <a:ext cx="120607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339966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&amp;a[0]</a:t>
            </a:r>
          </a:p>
        </p:txBody>
      </p:sp>
      <p:sp>
        <p:nvSpPr>
          <p:cNvPr id="628747" name="Rectangle 11"/>
          <p:cNvSpPr>
            <a:spLocks noChangeArrowheads="1"/>
          </p:cNvSpPr>
          <p:nvPr/>
        </p:nvSpPr>
        <p:spPr bwMode="auto">
          <a:xfrm>
            <a:off x="2286000" y="4247453"/>
            <a:ext cx="4260850" cy="15718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数组名是一个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地址常量</a:t>
            </a: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它的值是数组的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首地址</a:t>
            </a:r>
          </a:p>
        </p:txBody>
      </p:sp>
      <p:sp>
        <p:nvSpPr>
          <p:cNvPr id="628749" name="Rectangle 13"/>
          <p:cNvSpPr>
            <a:spLocks noChangeArrowheads="1"/>
          </p:cNvSpPr>
          <p:nvPr/>
        </p:nvSpPr>
        <p:spPr bwMode="auto">
          <a:xfrm>
            <a:off x="2286000" y="3138489"/>
            <a:ext cx="51054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90000"/>
              </a:lnSpc>
            </a:pPr>
            <a:r>
              <a:rPr lang="zh-CN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或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int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*p=&amp;a[0];</a:t>
            </a:r>
          </a:p>
          <a:p>
            <a:pPr algn="l" eaLnBrk="0" hangingPunct="0">
              <a:lnSpc>
                <a:spcPct val="9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或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int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*p=a;</a:t>
            </a:r>
          </a:p>
        </p:txBody>
      </p:sp>
      <p:sp>
        <p:nvSpPr>
          <p:cNvPr id="628750" name="Text Box 14"/>
          <p:cNvSpPr txBox="1">
            <a:spLocks noChangeArrowheads="1"/>
          </p:cNvSpPr>
          <p:nvPr/>
        </p:nvSpPr>
        <p:spPr bwMode="auto">
          <a:xfrm>
            <a:off x="7980363" y="4530142"/>
            <a:ext cx="1143000" cy="5869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339966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2000     </a:t>
            </a:r>
          </a:p>
        </p:txBody>
      </p:sp>
      <p:grpSp>
        <p:nvGrpSpPr>
          <p:cNvPr id="628751" name="Group 15"/>
          <p:cNvGrpSpPr>
            <a:grpSpLocks/>
          </p:cNvGrpSpPr>
          <p:nvPr/>
        </p:nvGrpSpPr>
        <p:grpSpPr bwMode="auto">
          <a:xfrm>
            <a:off x="6608023" y="5713998"/>
            <a:ext cx="3430648" cy="933451"/>
            <a:chOff x="816" y="3331"/>
            <a:chExt cx="2141" cy="588"/>
          </a:xfrm>
        </p:grpSpPr>
        <p:sp>
          <p:nvSpPr>
            <p:cNvPr id="32796" name="AutoShape 16"/>
            <p:cNvSpPr>
              <a:spLocks noChangeArrowheads="1"/>
            </p:cNvSpPr>
            <p:nvPr/>
          </p:nvSpPr>
          <p:spPr bwMode="auto">
            <a:xfrm>
              <a:off x="816" y="3356"/>
              <a:ext cx="921" cy="563"/>
            </a:xfrm>
            <a:prstGeom prst="cloudCallout">
              <a:avLst>
                <a:gd name="adj1" fmla="val 125463"/>
                <a:gd name="adj2" fmla="val 6681"/>
              </a:avLst>
            </a:prstGeom>
            <a:solidFill>
              <a:schemeClr val="bg1"/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  <a:round/>
              <a:headEnd type="none" w="lg" len="lg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p+1</a:t>
              </a:r>
            </a:p>
          </p:txBody>
        </p:sp>
        <p:sp>
          <p:nvSpPr>
            <p:cNvPr id="32797" name="Rectangle 17"/>
            <p:cNvSpPr>
              <a:spLocks noChangeArrowheads="1"/>
            </p:cNvSpPr>
            <p:nvPr/>
          </p:nvSpPr>
          <p:spPr bwMode="auto">
            <a:xfrm>
              <a:off x="2410" y="3331"/>
              <a:ext cx="547" cy="58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5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5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?</a:t>
              </a:r>
              <a:r>
                <a:rPr lang="en-US" altLang="zh-CN" sz="5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628754" name="Group 18"/>
          <p:cNvGrpSpPr>
            <a:grpSpLocks/>
          </p:cNvGrpSpPr>
          <p:nvPr/>
        </p:nvGrpSpPr>
        <p:grpSpPr bwMode="auto">
          <a:xfrm>
            <a:off x="7924800" y="2249487"/>
            <a:ext cx="1320800" cy="2895600"/>
            <a:chOff x="4320" y="1480"/>
            <a:chExt cx="808" cy="1824"/>
          </a:xfrm>
        </p:grpSpPr>
        <p:sp>
          <p:nvSpPr>
            <p:cNvPr id="32789" name="Rectangle 19"/>
            <p:cNvSpPr>
              <a:spLocks noChangeArrowheads="1"/>
            </p:cNvSpPr>
            <p:nvPr/>
          </p:nvSpPr>
          <p:spPr bwMode="auto">
            <a:xfrm>
              <a:off x="4330" y="2266"/>
              <a:ext cx="790" cy="234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90" name="Line 20"/>
            <p:cNvSpPr>
              <a:spLocks noChangeShapeType="1"/>
            </p:cNvSpPr>
            <p:nvPr/>
          </p:nvSpPr>
          <p:spPr bwMode="auto">
            <a:xfrm>
              <a:off x="4338" y="1480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91" name="Line 21"/>
            <p:cNvSpPr>
              <a:spLocks noChangeShapeType="1"/>
            </p:cNvSpPr>
            <p:nvPr/>
          </p:nvSpPr>
          <p:spPr bwMode="auto">
            <a:xfrm>
              <a:off x="4337" y="1840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92" name="Line 22"/>
            <p:cNvSpPr>
              <a:spLocks noChangeShapeType="1"/>
            </p:cNvSpPr>
            <p:nvPr/>
          </p:nvSpPr>
          <p:spPr bwMode="auto">
            <a:xfrm>
              <a:off x="4338" y="2184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93" name="Line 23"/>
            <p:cNvSpPr>
              <a:spLocks noChangeShapeType="1"/>
            </p:cNvSpPr>
            <p:nvPr/>
          </p:nvSpPr>
          <p:spPr bwMode="auto">
            <a:xfrm>
              <a:off x="4337" y="2568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94" name="Line 24"/>
            <p:cNvSpPr>
              <a:spLocks noChangeShapeType="1"/>
            </p:cNvSpPr>
            <p:nvPr/>
          </p:nvSpPr>
          <p:spPr bwMode="auto">
            <a:xfrm>
              <a:off x="4338" y="2952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95" name="Line 25"/>
            <p:cNvSpPr>
              <a:spLocks noChangeShapeType="1"/>
            </p:cNvSpPr>
            <p:nvPr/>
          </p:nvSpPr>
          <p:spPr bwMode="auto">
            <a:xfrm>
              <a:off x="4320" y="3304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8762" name="Group 26"/>
          <p:cNvGrpSpPr>
            <a:grpSpLocks/>
          </p:cNvGrpSpPr>
          <p:nvPr/>
        </p:nvGrpSpPr>
        <p:grpSpPr bwMode="auto">
          <a:xfrm>
            <a:off x="6934200" y="1595460"/>
            <a:ext cx="1079500" cy="4059105"/>
            <a:chOff x="3936" y="1094"/>
            <a:chExt cx="536" cy="2593"/>
          </a:xfrm>
        </p:grpSpPr>
        <p:sp>
          <p:nvSpPr>
            <p:cNvPr id="32782" name="Rectangle 27"/>
            <p:cNvSpPr>
              <a:spLocks noChangeArrowheads="1"/>
            </p:cNvSpPr>
            <p:nvPr/>
          </p:nvSpPr>
          <p:spPr bwMode="auto">
            <a:xfrm>
              <a:off x="3936" y="109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2000</a:t>
              </a:r>
            </a:p>
          </p:txBody>
        </p:sp>
        <p:sp>
          <p:nvSpPr>
            <p:cNvPr id="32783" name="Rectangle 28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2002</a:t>
              </a:r>
            </a:p>
          </p:txBody>
        </p:sp>
        <p:sp>
          <p:nvSpPr>
            <p:cNvPr id="32784" name="Rectangle 29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2004</a:t>
              </a:r>
            </a:p>
          </p:txBody>
        </p:sp>
        <p:sp>
          <p:nvSpPr>
            <p:cNvPr id="32785" name="Rectangle 30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2006</a:t>
              </a:r>
            </a:p>
          </p:txBody>
        </p:sp>
        <p:sp>
          <p:nvSpPr>
            <p:cNvPr id="32786" name="Rectangle 31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2008</a:t>
              </a:r>
            </a:p>
          </p:txBody>
        </p:sp>
        <p:sp>
          <p:nvSpPr>
            <p:cNvPr id="32787" name="Rectangle 32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2010</a:t>
              </a:r>
            </a:p>
          </p:txBody>
        </p:sp>
        <p:sp>
          <p:nvSpPr>
            <p:cNvPr id="32788" name="Rectangle 33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2012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1927A34-CFB4-4C5A-9990-4CA7CB04D984}"/>
              </a:ext>
            </a:extLst>
          </p:cNvPr>
          <p:cNvGrpSpPr/>
          <p:nvPr/>
        </p:nvGrpSpPr>
        <p:grpSpPr>
          <a:xfrm>
            <a:off x="1763" y="328187"/>
            <a:ext cx="4517074" cy="978729"/>
            <a:chOff x="0" y="175102"/>
            <a:chExt cx="6411951" cy="769441"/>
          </a:xfrm>
        </p:grpSpPr>
        <p:sp>
          <p:nvSpPr>
            <p:cNvPr id="37" name="矩形: 剪去单角 36">
              <a:extLst>
                <a:ext uri="{FF2B5EF4-FFF2-40B4-BE49-F238E27FC236}">
                  <a16:creationId xmlns:a16="http://schemas.microsoft.com/office/drawing/2014/main" id="{51658343-8F65-43E2-A755-F099512DE815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BB0BB9A-B056-45A7-90FB-FCE1C7350411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en-US" altLang="zh-CN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6.6.1 </a:t>
              </a: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指针的算术运算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00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8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8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8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2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62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2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2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28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28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8" grpId="0" build="p" autoUpdateAnimBg="0"/>
      <p:bldP spid="628745" grpId="0" autoUpdateAnimBg="0"/>
      <p:bldP spid="628746" grpId="0" autoUpdateAnimBg="0"/>
      <p:bldP spid="628747" grpId="0" animBg="1" autoUpdateAnimBg="0"/>
      <p:bldP spid="628749" grpId="0" build="p" autoUpdateAnimBg="0"/>
      <p:bldP spid="628750" grpId="0" animBg="1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813" name="Text Box 29"/>
          <p:cNvSpPr txBox="1">
            <a:spLocks noChangeArrowheads="1"/>
          </p:cNvSpPr>
          <p:nvPr/>
        </p:nvSpPr>
        <p:spPr bwMode="auto">
          <a:xfrm>
            <a:off x="7169740" y="2369607"/>
            <a:ext cx="16383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339966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p=2000</a:t>
            </a:r>
            <a:r>
              <a:rPr lang="en-US" altLang="zh-CN" sz="3200" dirty="0">
                <a:solidFill>
                  <a:srgbClr val="FF55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30786" name="Text Box 2"/>
          <p:cNvSpPr txBox="1">
            <a:spLocks noChangeArrowheads="1"/>
          </p:cNvSpPr>
          <p:nvPr/>
        </p:nvSpPr>
        <p:spPr bwMode="auto">
          <a:xfrm>
            <a:off x="1074739" y="1445133"/>
            <a:ext cx="92849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/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指向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数组，则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p+1</a:t>
            </a: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表示指针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往后挪两个字节</a:t>
            </a:r>
            <a:endParaRPr lang="en-US" altLang="zh-CN" sz="32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30787" name="Text Box 3"/>
          <p:cNvSpPr txBox="1">
            <a:spLocks noChangeArrowheads="1"/>
          </p:cNvSpPr>
          <p:nvPr/>
        </p:nvSpPr>
        <p:spPr bwMode="auto">
          <a:xfrm>
            <a:off x="1074738" y="2148743"/>
            <a:ext cx="5262562" cy="1814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a[5], p;</a:t>
            </a:r>
          </a:p>
          <a:p>
            <a:pPr algn="l">
              <a:lnSpc>
                <a:spcPct val="12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p=&amp;a[0];</a:t>
            </a:r>
          </a:p>
          <a:p>
            <a:pPr algn="l">
              <a:lnSpc>
                <a:spcPct val="120000"/>
              </a:lnSpc>
            </a:pPr>
            <a:r>
              <a:rPr lang="zh-CN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p+1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就是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0788" name="Text Box 4"/>
          <p:cNvSpPr txBox="1">
            <a:spLocks noChangeArrowheads="1"/>
          </p:cNvSpPr>
          <p:nvPr/>
        </p:nvSpPr>
        <p:spPr bwMode="auto">
          <a:xfrm>
            <a:off x="1074738" y="3863443"/>
            <a:ext cx="50292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*p=&amp;a[2];</a:t>
            </a:r>
          </a:p>
          <a:p>
            <a:pPr algn="l">
              <a:lnSpc>
                <a:spcPct val="12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p++;</a:t>
            </a:r>
          </a:p>
          <a:p>
            <a:pPr algn="l">
              <a:lnSpc>
                <a:spcPct val="12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*p=1;</a:t>
            </a:r>
          </a:p>
        </p:txBody>
      </p:sp>
      <p:grpSp>
        <p:nvGrpSpPr>
          <p:cNvPr id="630790" name="Group 6"/>
          <p:cNvGrpSpPr>
            <a:grpSpLocks/>
          </p:cNvGrpSpPr>
          <p:nvPr/>
        </p:nvGrpSpPr>
        <p:grpSpPr bwMode="auto">
          <a:xfrm>
            <a:off x="9613498" y="2344517"/>
            <a:ext cx="1657350" cy="2949576"/>
            <a:chOff x="4608" y="977"/>
            <a:chExt cx="1044" cy="1858"/>
          </a:xfrm>
        </p:grpSpPr>
        <p:sp>
          <p:nvSpPr>
            <p:cNvPr id="33824" name="Text Box 7"/>
            <p:cNvSpPr txBox="1">
              <a:spLocks noChangeArrowheads="1"/>
            </p:cNvSpPr>
            <p:nvPr/>
          </p:nvSpPr>
          <p:spPr bwMode="auto">
            <a:xfrm>
              <a:off x="4858" y="977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a[0]</a:t>
              </a:r>
            </a:p>
          </p:txBody>
        </p:sp>
        <p:sp>
          <p:nvSpPr>
            <p:cNvPr id="33825" name="Text Box 8"/>
            <p:cNvSpPr txBox="1">
              <a:spLocks noChangeArrowheads="1"/>
            </p:cNvSpPr>
            <p:nvPr/>
          </p:nvSpPr>
          <p:spPr bwMode="auto">
            <a:xfrm>
              <a:off x="4858" y="1342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a[1]</a:t>
              </a:r>
            </a:p>
          </p:txBody>
        </p:sp>
        <p:sp>
          <p:nvSpPr>
            <p:cNvPr id="33826" name="Text Box 9"/>
            <p:cNvSpPr txBox="1">
              <a:spLocks noChangeArrowheads="1"/>
            </p:cNvSpPr>
            <p:nvPr/>
          </p:nvSpPr>
          <p:spPr bwMode="auto">
            <a:xfrm>
              <a:off x="4858" y="1729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a[2]</a:t>
              </a:r>
            </a:p>
          </p:txBody>
        </p:sp>
        <p:sp>
          <p:nvSpPr>
            <p:cNvPr id="33827" name="Text Box 10"/>
            <p:cNvSpPr txBox="1">
              <a:spLocks noChangeArrowheads="1"/>
            </p:cNvSpPr>
            <p:nvPr/>
          </p:nvSpPr>
          <p:spPr bwMode="auto">
            <a:xfrm>
              <a:off x="4858" y="2081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a[3]</a:t>
              </a:r>
            </a:p>
          </p:txBody>
        </p:sp>
        <p:sp>
          <p:nvSpPr>
            <p:cNvPr id="33828" name="Text Box 11"/>
            <p:cNvSpPr txBox="1">
              <a:spLocks noChangeArrowheads="1"/>
            </p:cNvSpPr>
            <p:nvPr/>
          </p:nvSpPr>
          <p:spPr bwMode="auto">
            <a:xfrm>
              <a:off x="4608" y="2465"/>
              <a:ext cx="10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a[4]</a:t>
              </a:r>
            </a:p>
          </p:txBody>
        </p:sp>
      </p:grpSp>
      <p:grpSp>
        <p:nvGrpSpPr>
          <p:cNvPr id="630796" name="Group 12"/>
          <p:cNvGrpSpPr>
            <a:grpSpLocks/>
          </p:cNvGrpSpPr>
          <p:nvPr/>
        </p:nvGrpSpPr>
        <p:grpSpPr bwMode="auto">
          <a:xfrm>
            <a:off x="8711798" y="3043018"/>
            <a:ext cx="1320800" cy="2895600"/>
            <a:chOff x="4320" y="1480"/>
            <a:chExt cx="808" cy="1824"/>
          </a:xfrm>
        </p:grpSpPr>
        <p:sp>
          <p:nvSpPr>
            <p:cNvPr id="33817" name="Rectangle 13"/>
            <p:cNvSpPr>
              <a:spLocks noChangeArrowheads="1"/>
            </p:cNvSpPr>
            <p:nvPr/>
          </p:nvSpPr>
          <p:spPr bwMode="auto">
            <a:xfrm>
              <a:off x="4330" y="2266"/>
              <a:ext cx="790" cy="234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18" name="Line 14"/>
            <p:cNvSpPr>
              <a:spLocks noChangeShapeType="1"/>
            </p:cNvSpPr>
            <p:nvPr/>
          </p:nvSpPr>
          <p:spPr bwMode="auto">
            <a:xfrm>
              <a:off x="4338" y="1480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19" name="Line 15"/>
            <p:cNvSpPr>
              <a:spLocks noChangeShapeType="1"/>
            </p:cNvSpPr>
            <p:nvPr/>
          </p:nvSpPr>
          <p:spPr bwMode="auto">
            <a:xfrm>
              <a:off x="4337" y="1840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20" name="Line 16"/>
            <p:cNvSpPr>
              <a:spLocks noChangeShapeType="1"/>
            </p:cNvSpPr>
            <p:nvPr/>
          </p:nvSpPr>
          <p:spPr bwMode="auto">
            <a:xfrm>
              <a:off x="4338" y="2184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21" name="Line 17"/>
            <p:cNvSpPr>
              <a:spLocks noChangeShapeType="1"/>
            </p:cNvSpPr>
            <p:nvPr/>
          </p:nvSpPr>
          <p:spPr bwMode="auto">
            <a:xfrm>
              <a:off x="4337" y="2568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22" name="Line 18"/>
            <p:cNvSpPr>
              <a:spLocks noChangeShapeType="1"/>
            </p:cNvSpPr>
            <p:nvPr/>
          </p:nvSpPr>
          <p:spPr bwMode="auto">
            <a:xfrm>
              <a:off x="4338" y="2952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23" name="Line 19"/>
            <p:cNvSpPr>
              <a:spLocks noChangeShapeType="1"/>
            </p:cNvSpPr>
            <p:nvPr/>
          </p:nvSpPr>
          <p:spPr bwMode="auto">
            <a:xfrm>
              <a:off x="4320" y="3304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0804" name="Group 20"/>
          <p:cNvGrpSpPr>
            <a:grpSpLocks/>
          </p:cNvGrpSpPr>
          <p:nvPr/>
        </p:nvGrpSpPr>
        <p:grpSpPr bwMode="auto">
          <a:xfrm>
            <a:off x="7632298" y="2388989"/>
            <a:ext cx="1079500" cy="4059104"/>
            <a:chOff x="3936" y="1094"/>
            <a:chExt cx="536" cy="2593"/>
          </a:xfrm>
        </p:grpSpPr>
        <p:sp>
          <p:nvSpPr>
            <p:cNvPr id="33810" name="Rectangle 21"/>
            <p:cNvSpPr>
              <a:spLocks noChangeArrowheads="1"/>
            </p:cNvSpPr>
            <p:nvPr/>
          </p:nvSpPr>
          <p:spPr bwMode="auto">
            <a:xfrm>
              <a:off x="3936" y="109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2000</a:t>
              </a:r>
            </a:p>
          </p:txBody>
        </p:sp>
        <p:sp>
          <p:nvSpPr>
            <p:cNvPr id="33811" name="Rectangle 22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2002</a:t>
              </a:r>
            </a:p>
          </p:txBody>
        </p:sp>
        <p:sp>
          <p:nvSpPr>
            <p:cNvPr id="33812" name="Rectangle 23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2004</a:t>
              </a:r>
            </a:p>
          </p:txBody>
        </p:sp>
        <p:sp>
          <p:nvSpPr>
            <p:cNvPr id="33813" name="Rectangle 24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2006</a:t>
              </a:r>
            </a:p>
          </p:txBody>
        </p:sp>
        <p:sp>
          <p:nvSpPr>
            <p:cNvPr id="33814" name="Rectangle 25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2008</a:t>
              </a:r>
            </a:p>
          </p:txBody>
        </p:sp>
        <p:sp>
          <p:nvSpPr>
            <p:cNvPr id="33815" name="Rectangle 26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2010</a:t>
              </a:r>
            </a:p>
          </p:txBody>
        </p:sp>
        <p:sp>
          <p:nvSpPr>
            <p:cNvPr id="33816" name="Rectangle 27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2012</a:t>
              </a:r>
            </a:p>
          </p:txBody>
        </p:sp>
      </p:grpSp>
      <p:sp>
        <p:nvSpPr>
          <p:cNvPr id="630812" name="Rectangle 28"/>
          <p:cNvSpPr>
            <a:spLocks noChangeArrowheads="1"/>
          </p:cNvSpPr>
          <p:nvPr/>
        </p:nvSpPr>
        <p:spPr bwMode="auto">
          <a:xfrm>
            <a:off x="3255900" y="3334036"/>
            <a:ext cx="2953053" cy="632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&amp;a[1]   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 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2002</a:t>
            </a:r>
          </a:p>
        </p:txBody>
      </p:sp>
      <p:grpSp>
        <p:nvGrpSpPr>
          <p:cNvPr id="630814" name="Group 30"/>
          <p:cNvGrpSpPr>
            <a:grpSpLocks/>
          </p:cNvGrpSpPr>
          <p:nvPr/>
        </p:nvGrpSpPr>
        <p:grpSpPr bwMode="auto">
          <a:xfrm>
            <a:off x="7165797" y="2315907"/>
            <a:ext cx="1654175" cy="1846261"/>
            <a:chOff x="4417" y="1227"/>
            <a:chExt cx="1042" cy="1163"/>
          </a:xfrm>
        </p:grpSpPr>
        <p:sp>
          <p:nvSpPr>
            <p:cNvPr id="33808" name="Text Box 31"/>
            <p:cNvSpPr txBox="1">
              <a:spLocks noChangeArrowheads="1"/>
            </p:cNvSpPr>
            <p:nvPr/>
          </p:nvSpPr>
          <p:spPr bwMode="auto">
            <a:xfrm>
              <a:off x="4427" y="2020"/>
              <a:ext cx="1032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p=2004     </a:t>
              </a:r>
            </a:p>
          </p:txBody>
        </p:sp>
        <p:sp>
          <p:nvSpPr>
            <p:cNvPr id="33809" name="Rectangle 32"/>
            <p:cNvSpPr>
              <a:spLocks noChangeArrowheads="1"/>
            </p:cNvSpPr>
            <p:nvPr/>
          </p:nvSpPr>
          <p:spPr bwMode="auto">
            <a:xfrm>
              <a:off x="4417" y="1227"/>
              <a:ext cx="892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2000</a:t>
              </a:r>
            </a:p>
          </p:txBody>
        </p:sp>
      </p:grpSp>
      <p:sp>
        <p:nvSpPr>
          <p:cNvPr id="630817" name="Rectangle 33"/>
          <p:cNvSpPr>
            <a:spLocks noChangeArrowheads="1"/>
          </p:cNvSpPr>
          <p:nvPr/>
        </p:nvSpPr>
        <p:spPr bwMode="auto">
          <a:xfrm>
            <a:off x="9226148" y="4198717"/>
            <a:ext cx="3898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30818" name="Rectangle 34"/>
          <p:cNvSpPr>
            <a:spLocks noChangeArrowheads="1"/>
          </p:cNvSpPr>
          <p:nvPr/>
        </p:nvSpPr>
        <p:spPr bwMode="auto">
          <a:xfrm>
            <a:off x="1054100" y="5569119"/>
            <a:ext cx="2894806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a[</a:t>
            </a:r>
            <a:r>
              <a:rPr lang="en-US" altLang="zh-CN" sz="4400" b="1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]=1</a:t>
            </a:r>
          </a:p>
        </p:txBody>
      </p:sp>
      <p:sp>
        <p:nvSpPr>
          <p:cNvPr id="630819" name="Rectangle 35"/>
          <p:cNvSpPr>
            <a:spLocks noChangeArrowheads="1"/>
          </p:cNvSpPr>
          <p:nvPr/>
        </p:nvSpPr>
        <p:spPr bwMode="auto">
          <a:xfrm flipH="1">
            <a:off x="2055665" y="5750068"/>
            <a:ext cx="306387" cy="67710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zh-CN" sz="4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5BF187F-D421-48BC-AA5C-4F41164854AB}"/>
              </a:ext>
            </a:extLst>
          </p:cNvPr>
          <p:cNvGrpSpPr/>
          <p:nvPr/>
        </p:nvGrpSpPr>
        <p:grpSpPr>
          <a:xfrm>
            <a:off x="1763" y="328187"/>
            <a:ext cx="4517074" cy="978729"/>
            <a:chOff x="0" y="175102"/>
            <a:chExt cx="6411951" cy="769441"/>
          </a:xfrm>
        </p:grpSpPr>
        <p:sp>
          <p:nvSpPr>
            <p:cNvPr id="39" name="矩形: 剪去单角 38">
              <a:extLst>
                <a:ext uri="{FF2B5EF4-FFF2-40B4-BE49-F238E27FC236}">
                  <a16:creationId xmlns:a16="http://schemas.microsoft.com/office/drawing/2014/main" id="{D0BF566F-1BCF-4146-9862-7F4130A672E4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D14E7F9-39E7-41CF-B237-19F09A504345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en-US" altLang="zh-CN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6.6.1 </a:t>
              </a: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指针的算术运算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7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0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3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3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3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30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30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30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3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3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3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3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813" grpId="0" autoUpdateAnimBg="0"/>
      <p:bldP spid="630786" grpId="0" build="p" autoUpdateAnimBg="0"/>
      <p:bldP spid="630787" grpId="0" build="p" autoUpdateAnimBg="0"/>
      <p:bldP spid="630788" grpId="0" build="p" autoUpdateAnimBg="0"/>
      <p:bldP spid="630812" grpId="0" autoUpdateAnimBg="0"/>
      <p:bldP spid="630817" grpId="0" autoUpdateAnimBg="0"/>
      <p:bldP spid="630818" grpId="0" autoUpdateAnimBg="0"/>
      <p:bldP spid="630819" grpId="0" animBg="1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2090739" y="1537208"/>
            <a:ext cx="37625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/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指向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数组，则</a:t>
            </a:r>
            <a:endParaRPr lang="en-US" altLang="zh-CN" sz="32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31811" name="Text Box 3"/>
          <p:cNvSpPr txBox="1">
            <a:spLocks noChangeArrowheads="1"/>
          </p:cNvSpPr>
          <p:nvPr/>
        </p:nvSpPr>
        <p:spPr bwMode="auto">
          <a:xfrm>
            <a:off x="2057400" y="2128838"/>
            <a:ext cx="3618298" cy="287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</a:pP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 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a[5];</a:t>
            </a:r>
          </a:p>
          <a:p>
            <a:pPr algn="l" eaLnBrk="1" hangingPunct="1">
              <a:lnSpc>
                <a:spcPct val="13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*p1=&amp;a[1];</a:t>
            </a:r>
          </a:p>
          <a:p>
            <a:pPr algn="l" eaLnBrk="1" hangingPunct="1">
              <a:lnSpc>
                <a:spcPct val="13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*p2=&amp;a[4];</a:t>
            </a:r>
          </a:p>
          <a:p>
            <a:pPr algn="l" eaLnBrk="1" hangingPunct="1">
              <a:lnSpc>
                <a:spcPct val="130000"/>
              </a:lnSpc>
            </a:pPr>
            <a:r>
              <a:rPr lang="zh-CN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p2-p1= </a:t>
            </a:r>
            <a:r>
              <a:rPr lang="en-US" altLang="zh-CN" sz="4800" dirty="0">
                <a:solidFill>
                  <a:srgbClr val="FF55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4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31813" name="Group 5"/>
          <p:cNvGrpSpPr>
            <a:grpSpLocks/>
          </p:cNvGrpSpPr>
          <p:nvPr/>
        </p:nvGrpSpPr>
        <p:grpSpPr bwMode="auto">
          <a:xfrm>
            <a:off x="8534400" y="2032000"/>
            <a:ext cx="1657350" cy="2949576"/>
            <a:chOff x="4608" y="977"/>
            <a:chExt cx="1044" cy="1858"/>
          </a:xfrm>
        </p:grpSpPr>
        <p:sp>
          <p:nvSpPr>
            <p:cNvPr id="34845" name="Text Box 6"/>
            <p:cNvSpPr txBox="1">
              <a:spLocks noChangeArrowheads="1"/>
            </p:cNvSpPr>
            <p:nvPr/>
          </p:nvSpPr>
          <p:spPr bwMode="auto">
            <a:xfrm>
              <a:off x="4858" y="977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a[0]</a:t>
              </a:r>
            </a:p>
          </p:txBody>
        </p:sp>
        <p:sp>
          <p:nvSpPr>
            <p:cNvPr id="34846" name="Text Box 7"/>
            <p:cNvSpPr txBox="1">
              <a:spLocks noChangeArrowheads="1"/>
            </p:cNvSpPr>
            <p:nvPr/>
          </p:nvSpPr>
          <p:spPr bwMode="auto">
            <a:xfrm>
              <a:off x="4858" y="1342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a[1]</a:t>
              </a:r>
            </a:p>
          </p:txBody>
        </p:sp>
        <p:sp>
          <p:nvSpPr>
            <p:cNvPr id="34847" name="Text Box 8"/>
            <p:cNvSpPr txBox="1">
              <a:spLocks noChangeArrowheads="1"/>
            </p:cNvSpPr>
            <p:nvPr/>
          </p:nvSpPr>
          <p:spPr bwMode="auto">
            <a:xfrm>
              <a:off x="4858" y="1729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a[2]</a:t>
              </a:r>
            </a:p>
          </p:txBody>
        </p:sp>
        <p:sp>
          <p:nvSpPr>
            <p:cNvPr id="34848" name="Text Box 9"/>
            <p:cNvSpPr txBox="1">
              <a:spLocks noChangeArrowheads="1"/>
            </p:cNvSpPr>
            <p:nvPr/>
          </p:nvSpPr>
          <p:spPr bwMode="auto">
            <a:xfrm>
              <a:off x="4858" y="2081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a[3]</a:t>
              </a:r>
            </a:p>
          </p:txBody>
        </p:sp>
        <p:sp>
          <p:nvSpPr>
            <p:cNvPr id="34849" name="Text Box 10"/>
            <p:cNvSpPr txBox="1">
              <a:spLocks noChangeArrowheads="1"/>
            </p:cNvSpPr>
            <p:nvPr/>
          </p:nvSpPr>
          <p:spPr bwMode="auto">
            <a:xfrm>
              <a:off x="4608" y="2465"/>
              <a:ext cx="10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a[4]</a:t>
              </a:r>
            </a:p>
          </p:txBody>
        </p:sp>
      </p:grpSp>
      <p:grpSp>
        <p:nvGrpSpPr>
          <p:cNvPr id="631819" name="Group 11"/>
          <p:cNvGrpSpPr>
            <a:grpSpLocks/>
          </p:cNvGrpSpPr>
          <p:nvPr/>
        </p:nvGrpSpPr>
        <p:grpSpPr bwMode="auto">
          <a:xfrm>
            <a:off x="7632700" y="2730501"/>
            <a:ext cx="1320800" cy="2895600"/>
            <a:chOff x="4320" y="1480"/>
            <a:chExt cx="808" cy="1824"/>
          </a:xfrm>
        </p:grpSpPr>
        <p:sp>
          <p:nvSpPr>
            <p:cNvPr id="34838" name="Rectangle 12"/>
            <p:cNvSpPr>
              <a:spLocks noChangeArrowheads="1"/>
            </p:cNvSpPr>
            <p:nvPr/>
          </p:nvSpPr>
          <p:spPr bwMode="auto">
            <a:xfrm>
              <a:off x="4330" y="2266"/>
              <a:ext cx="790" cy="234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39" name="Line 13"/>
            <p:cNvSpPr>
              <a:spLocks noChangeShapeType="1"/>
            </p:cNvSpPr>
            <p:nvPr/>
          </p:nvSpPr>
          <p:spPr bwMode="auto">
            <a:xfrm>
              <a:off x="4338" y="1480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40" name="Line 14"/>
            <p:cNvSpPr>
              <a:spLocks noChangeShapeType="1"/>
            </p:cNvSpPr>
            <p:nvPr/>
          </p:nvSpPr>
          <p:spPr bwMode="auto">
            <a:xfrm>
              <a:off x="4337" y="1840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41" name="Line 15"/>
            <p:cNvSpPr>
              <a:spLocks noChangeShapeType="1"/>
            </p:cNvSpPr>
            <p:nvPr/>
          </p:nvSpPr>
          <p:spPr bwMode="auto">
            <a:xfrm>
              <a:off x="4338" y="2184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42" name="Line 16"/>
            <p:cNvSpPr>
              <a:spLocks noChangeShapeType="1"/>
            </p:cNvSpPr>
            <p:nvPr/>
          </p:nvSpPr>
          <p:spPr bwMode="auto">
            <a:xfrm>
              <a:off x="4337" y="2568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43" name="Line 17"/>
            <p:cNvSpPr>
              <a:spLocks noChangeShapeType="1"/>
            </p:cNvSpPr>
            <p:nvPr/>
          </p:nvSpPr>
          <p:spPr bwMode="auto">
            <a:xfrm>
              <a:off x="4338" y="2952"/>
              <a:ext cx="7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44" name="Line 18"/>
            <p:cNvSpPr>
              <a:spLocks noChangeShapeType="1"/>
            </p:cNvSpPr>
            <p:nvPr/>
          </p:nvSpPr>
          <p:spPr bwMode="auto">
            <a:xfrm>
              <a:off x="4320" y="3304"/>
              <a:ext cx="79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1827" name="Group 19"/>
          <p:cNvGrpSpPr>
            <a:grpSpLocks/>
          </p:cNvGrpSpPr>
          <p:nvPr/>
        </p:nvGrpSpPr>
        <p:grpSpPr bwMode="auto">
          <a:xfrm>
            <a:off x="6553200" y="2076472"/>
            <a:ext cx="1079500" cy="4059104"/>
            <a:chOff x="3936" y="1094"/>
            <a:chExt cx="536" cy="2593"/>
          </a:xfrm>
        </p:grpSpPr>
        <p:sp>
          <p:nvSpPr>
            <p:cNvPr id="34831" name="Rectangle 20"/>
            <p:cNvSpPr>
              <a:spLocks noChangeArrowheads="1"/>
            </p:cNvSpPr>
            <p:nvPr/>
          </p:nvSpPr>
          <p:spPr bwMode="auto">
            <a:xfrm>
              <a:off x="3936" y="109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2000</a:t>
              </a:r>
            </a:p>
          </p:txBody>
        </p:sp>
        <p:sp>
          <p:nvSpPr>
            <p:cNvPr id="34832" name="Rectangle 21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2002</a:t>
              </a:r>
            </a:p>
          </p:txBody>
        </p:sp>
        <p:sp>
          <p:nvSpPr>
            <p:cNvPr id="34833" name="Rectangle 22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2004</a:t>
              </a:r>
            </a:p>
          </p:txBody>
        </p:sp>
        <p:sp>
          <p:nvSpPr>
            <p:cNvPr id="34834" name="Rectangle 23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2006</a:t>
              </a:r>
            </a:p>
          </p:txBody>
        </p:sp>
        <p:sp>
          <p:nvSpPr>
            <p:cNvPr id="34835" name="Rectangle 24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2008</a:t>
              </a:r>
            </a:p>
          </p:txBody>
        </p:sp>
        <p:sp>
          <p:nvSpPr>
            <p:cNvPr id="34836" name="Rectangle 25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2010</a:t>
              </a:r>
            </a:p>
          </p:txBody>
        </p:sp>
        <p:sp>
          <p:nvSpPr>
            <p:cNvPr id="34837" name="Rectangle 26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2012</a:t>
              </a:r>
            </a:p>
          </p:txBody>
        </p:sp>
      </p:grpSp>
      <p:sp>
        <p:nvSpPr>
          <p:cNvPr id="631835" name="Text Box 27"/>
          <p:cNvSpPr txBox="1">
            <a:spLocks noChangeArrowheads="1"/>
          </p:cNvSpPr>
          <p:nvPr/>
        </p:nvSpPr>
        <p:spPr bwMode="auto">
          <a:xfrm>
            <a:off x="5879976" y="2701342"/>
            <a:ext cx="18161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339966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p1=2002     </a:t>
            </a:r>
          </a:p>
        </p:txBody>
      </p:sp>
      <p:sp>
        <p:nvSpPr>
          <p:cNvPr id="631836" name="Text Box 28"/>
          <p:cNvSpPr txBox="1">
            <a:spLocks noChangeArrowheads="1"/>
          </p:cNvSpPr>
          <p:nvPr/>
        </p:nvSpPr>
        <p:spPr bwMode="auto">
          <a:xfrm>
            <a:off x="5864076" y="4492042"/>
            <a:ext cx="18161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339966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p2=2008     </a:t>
            </a:r>
          </a:p>
        </p:txBody>
      </p:sp>
      <p:sp>
        <p:nvSpPr>
          <p:cNvPr id="631837" name="Rectangle 29"/>
          <p:cNvSpPr>
            <a:spLocks noChangeArrowheads="1"/>
          </p:cNvSpPr>
          <p:nvPr/>
        </p:nvSpPr>
        <p:spPr bwMode="auto">
          <a:xfrm>
            <a:off x="4089400" y="4292601"/>
            <a:ext cx="492443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grpSp>
        <p:nvGrpSpPr>
          <p:cNvPr id="631838" name="Group 30"/>
          <p:cNvGrpSpPr>
            <a:grpSpLocks/>
          </p:cNvGrpSpPr>
          <p:nvPr/>
        </p:nvGrpSpPr>
        <p:grpSpPr bwMode="auto">
          <a:xfrm>
            <a:off x="2819400" y="5029204"/>
            <a:ext cx="3316288" cy="938213"/>
            <a:chOff x="912" y="3264"/>
            <a:chExt cx="2089" cy="591"/>
          </a:xfrm>
          <a:noFill/>
        </p:grpSpPr>
        <p:sp>
          <p:nvSpPr>
            <p:cNvPr id="34829" name="AutoShape 31"/>
            <p:cNvSpPr>
              <a:spLocks noChangeArrowheads="1"/>
            </p:cNvSpPr>
            <p:nvPr/>
          </p:nvSpPr>
          <p:spPr bwMode="auto">
            <a:xfrm>
              <a:off x="912" y="3292"/>
              <a:ext cx="1296" cy="563"/>
            </a:xfrm>
            <a:prstGeom prst="cloudCallout">
              <a:avLst>
                <a:gd name="adj1" fmla="val 75773"/>
                <a:gd name="adj2" fmla="val 6685"/>
              </a:avLst>
            </a:prstGeom>
            <a:grpFill/>
            <a:ln w="38100">
              <a:solidFill>
                <a:schemeClr val="tx2">
                  <a:lumMod val="60000"/>
                  <a:lumOff val="40000"/>
                </a:schemeClr>
              </a:solidFill>
              <a:round/>
              <a:headEnd type="none" w="lg" len="lg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en-US" altLang="zh-CN" sz="32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p1+p2</a:t>
              </a:r>
            </a:p>
          </p:txBody>
        </p:sp>
        <p:sp>
          <p:nvSpPr>
            <p:cNvPr id="34830" name="Rectangle 32"/>
            <p:cNvSpPr>
              <a:spLocks noChangeArrowheads="1"/>
            </p:cNvSpPr>
            <p:nvPr/>
          </p:nvSpPr>
          <p:spPr bwMode="auto">
            <a:xfrm>
              <a:off x="2448" y="3264"/>
              <a:ext cx="553" cy="582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5400" b="1" dirty="0">
                  <a:solidFill>
                    <a:srgbClr val="FF5555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5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?</a:t>
              </a:r>
              <a:r>
                <a:rPr lang="en-US" altLang="zh-CN" sz="5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39182E5-EDC7-4AEC-84FD-2916E5E23467}"/>
              </a:ext>
            </a:extLst>
          </p:cNvPr>
          <p:cNvGrpSpPr/>
          <p:nvPr/>
        </p:nvGrpSpPr>
        <p:grpSpPr>
          <a:xfrm>
            <a:off x="1763" y="328187"/>
            <a:ext cx="4517074" cy="978729"/>
            <a:chOff x="0" y="175102"/>
            <a:chExt cx="6411951" cy="769441"/>
          </a:xfrm>
        </p:grpSpPr>
        <p:sp>
          <p:nvSpPr>
            <p:cNvPr id="36" name="矩形: 剪去单角 35">
              <a:extLst>
                <a:ext uri="{FF2B5EF4-FFF2-40B4-BE49-F238E27FC236}">
                  <a16:creationId xmlns:a16="http://schemas.microsoft.com/office/drawing/2014/main" id="{D921D506-7D12-4DA3-81C7-BA12A116978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12B5107-BBCF-4BA2-BE95-6F06C9B548B3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en-US" altLang="zh-CN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6.6.1 </a:t>
              </a: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指针的算术运算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559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1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1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1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1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3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3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3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3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1" grpId="0" build="p" autoUpdateAnimBg="0"/>
      <p:bldP spid="631835" grpId="0" autoUpdateAnimBg="0"/>
      <p:bldP spid="631836" grpId="0" autoUpdateAnimBg="0"/>
      <p:bldP spid="631837" grpId="0" animBg="1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32834" name="Rectangle 2"/>
          <p:cNvSpPr>
            <a:spLocks noChangeArrowheads="1"/>
          </p:cNvSpPr>
          <p:nvPr/>
        </p:nvSpPr>
        <p:spPr bwMode="auto">
          <a:xfrm>
            <a:off x="754686" y="1446024"/>
            <a:ext cx="3657600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3" algn="l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p=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; </a:t>
            </a:r>
          </a:p>
        </p:txBody>
      </p:sp>
      <p:sp>
        <p:nvSpPr>
          <p:cNvPr id="632835" name="Rectangle 3"/>
          <p:cNvSpPr>
            <a:spLocks noChangeArrowheads="1"/>
          </p:cNvSpPr>
          <p:nvPr/>
        </p:nvSpPr>
        <p:spPr bwMode="auto">
          <a:xfrm>
            <a:off x="728327" y="3090033"/>
            <a:ext cx="10668000" cy="2898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3">
              <a:lnSpc>
                <a:spcPct val="20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i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变量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的值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每元素所占字节数  </a:t>
            </a:r>
          </a:p>
          <a:p>
            <a:pPr lvl="3">
              <a:lnSpc>
                <a:spcPct val="20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p1-p2=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两指针之间元素的个数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itchFamily="18" charset="2"/>
            </a:endParaRPr>
          </a:p>
          <a:p>
            <a:pPr lvl="3">
              <a:lnSpc>
                <a:spcPct val="20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p1+p2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无意义</a:t>
            </a:r>
          </a:p>
        </p:txBody>
      </p:sp>
      <p:sp>
        <p:nvSpPr>
          <p:cNvPr id="632837" name="Rectangle 5"/>
          <p:cNvSpPr>
            <a:spLocks noChangeArrowheads="1"/>
          </p:cNvSpPr>
          <p:nvPr/>
        </p:nvSpPr>
        <p:spPr bwMode="auto">
          <a:xfrm>
            <a:off x="3014327" y="1483238"/>
            <a:ext cx="511069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3" algn="l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将数组的首地址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</a:p>
        </p:txBody>
      </p:sp>
      <p:sp>
        <p:nvSpPr>
          <p:cNvPr id="632838" name="Rectangle 6"/>
          <p:cNvSpPr>
            <a:spLocks noChangeArrowheads="1"/>
          </p:cNvSpPr>
          <p:nvPr/>
        </p:nvSpPr>
        <p:spPr bwMode="auto">
          <a:xfrm>
            <a:off x="728327" y="2334191"/>
            <a:ext cx="38363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3" algn="l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p=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&amp;a[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]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;   </a:t>
            </a:r>
          </a:p>
        </p:txBody>
      </p:sp>
      <p:sp>
        <p:nvSpPr>
          <p:cNvPr id="632839" name="Rectangle 7"/>
          <p:cNvSpPr>
            <a:spLocks noChangeArrowheads="1"/>
          </p:cNvSpPr>
          <p:nvPr/>
        </p:nvSpPr>
        <p:spPr bwMode="auto">
          <a:xfrm>
            <a:off x="3027027" y="2371405"/>
            <a:ext cx="59314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3" algn="l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将某数组元素的地址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A423826-B369-4B87-AD46-9FF31A65D56D}"/>
              </a:ext>
            </a:extLst>
          </p:cNvPr>
          <p:cNvGrpSpPr/>
          <p:nvPr/>
        </p:nvGrpSpPr>
        <p:grpSpPr>
          <a:xfrm>
            <a:off x="1762" y="328187"/>
            <a:ext cx="5707921" cy="978729"/>
            <a:chOff x="0" y="175102"/>
            <a:chExt cx="6411951" cy="769441"/>
          </a:xfrm>
        </p:grpSpPr>
        <p:sp>
          <p:nvSpPr>
            <p:cNvPr id="11" name="矩形: 剪去单角 10">
              <a:extLst>
                <a:ext uri="{FF2B5EF4-FFF2-40B4-BE49-F238E27FC236}">
                  <a16:creationId xmlns:a16="http://schemas.microsoft.com/office/drawing/2014/main" id="{E6081205-8763-44CA-A193-7EE61A3BD788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6DE884C-B0F3-45D2-8D4D-33EC8643E190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en-US" altLang="zh-CN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6.6.2 </a:t>
              </a: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数组元素的指针表示法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60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4" grpId="0" build="p" bldLvl="4" autoUpdateAnimBg="0"/>
      <p:bldP spid="632835" grpId="0" build="p" bldLvl="4" autoUpdateAnimBg="0"/>
      <p:bldP spid="632837" grpId="0" autoUpdateAnimBg="0"/>
      <p:bldP spid="632838" grpId="0" autoUpdateAnimBg="0"/>
      <p:bldP spid="632839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pSp>
        <p:nvGrpSpPr>
          <p:cNvPr id="636931" name="Group 3"/>
          <p:cNvGrpSpPr>
            <a:grpSpLocks/>
          </p:cNvGrpSpPr>
          <p:nvPr/>
        </p:nvGrpSpPr>
        <p:grpSpPr bwMode="auto">
          <a:xfrm>
            <a:off x="3505200" y="2196931"/>
            <a:ext cx="1079500" cy="4060671"/>
            <a:chOff x="3936" y="1093"/>
            <a:chExt cx="536" cy="2594"/>
          </a:xfrm>
        </p:grpSpPr>
        <p:sp>
          <p:nvSpPr>
            <p:cNvPr id="38973" name="Rectangle 4"/>
            <p:cNvSpPr>
              <a:spLocks noChangeArrowheads="1"/>
            </p:cNvSpPr>
            <p:nvPr/>
          </p:nvSpPr>
          <p:spPr bwMode="auto">
            <a:xfrm>
              <a:off x="3936" y="1093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>
                  <a:latin typeface="Times New Roman" pitchFamily="18" charset="0"/>
                </a:rPr>
                <a:t>2000</a:t>
              </a:r>
            </a:p>
          </p:txBody>
        </p:sp>
        <p:sp>
          <p:nvSpPr>
            <p:cNvPr id="38974" name="Rectangle 5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2002</a:t>
              </a:r>
            </a:p>
          </p:txBody>
        </p:sp>
        <p:sp>
          <p:nvSpPr>
            <p:cNvPr id="38975" name="Rectangle 6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2004</a:t>
              </a:r>
            </a:p>
          </p:txBody>
        </p:sp>
        <p:sp>
          <p:nvSpPr>
            <p:cNvPr id="38976" name="Rectangle 7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2006</a:t>
              </a:r>
            </a:p>
          </p:txBody>
        </p:sp>
        <p:sp>
          <p:nvSpPr>
            <p:cNvPr id="38977" name="Rectangle 8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latin typeface="Times New Roman" pitchFamily="18" charset="0"/>
                </a:rPr>
                <a:t>2008</a:t>
              </a:r>
            </a:p>
          </p:txBody>
        </p:sp>
        <p:sp>
          <p:nvSpPr>
            <p:cNvPr id="38978" name="Rectangle 9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latin typeface="Times New Roman" pitchFamily="18" charset="0"/>
              </a:endParaRPr>
            </a:p>
          </p:txBody>
        </p:sp>
        <p:sp>
          <p:nvSpPr>
            <p:cNvPr id="38979" name="Rectangle 10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latin typeface="Times New Roman" pitchFamily="18" charset="0"/>
              </a:endParaRPr>
            </a:p>
          </p:txBody>
        </p:sp>
      </p:grpSp>
      <p:sp>
        <p:nvSpPr>
          <p:cNvPr id="636939" name="Rectangle 11"/>
          <p:cNvSpPr>
            <a:spLocks noChangeArrowheads="1"/>
          </p:cNvSpPr>
          <p:nvPr/>
        </p:nvSpPr>
        <p:spPr bwMode="auto">
          <a:xfrm>
            <a:off x="3543300" y="2203236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200" dirty="0">
                <a:solidFill>
                  <a:srgbClr val="FF3300"/>
                </a:solidFill>
                <a:latin typeface="Times New Roman" pitchFamily="18" charset="0"/>
              </a:rPr>
              <a:t>2000</a:t>
            </a:r>
          </a:p>
        </p:txBody>
      </p:sp>
      <p:grpSp>
        <p:nvGrpSpPr>
          <p:cNvPr id="636940" name="Group 12"/>
          <p:cNvGrpSpPr>
            <a:grpSpLocks/>
          </p:cNvGrpSpPr>
          <p:nvPr/>
        </p:nvGrpSpPr>
        <p:grpSpPr bwMode="auto">
          <a:xfrm>
            <a:off x="3575050" y="2082631"/>
            <a:ext cx="990600" cy="4060671"/>
            <a:chOff x="3936" y="1093"/>
            <a:chExt cx="536" cy="2594"/>
          </a:xfrm>
        </p:grpSpPr>
        <p:sp>
          <p:nvSpPr>
            <p:cNvPr id="38966" name="Rectangle 13"/>
            <p:cNvSpPr>
              <a:spLocks noChangeArrowheads="1"/>
            </p:cNvSpPr>
            <p:nvPr/>
          </p:nvSpPr>
          <p:spPr bwMode="auto">
            <a:xfrm>
              <a:off x="3936" y="1093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 dirty="0">
                  <a:solidFill>
                    <a:srgbClr val="C0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8967" name="Rectangle 14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a+1</a:t>
              </a:r>
            </a:p>
          </p:txBody>
        </p:sp>
        <p:sp>
          <p:nvSpPr>
            <p:cNvPr id="38968" name="Rectangle 15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a+2</a:t>
              </a:r>
            </a:p>
          </p:txBody>
        </p:sp>
        <p:sp>
          <p:nvSpPr>
            <p:cNvPr id="38969" name="Rectangle 16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a+3</a:t>
              </a:r>
            </a:p>
          </p:txBody>
        </p:sp>
        <p:sp>
          <p:nvSpPr>
            <p:cNvPr id="38970" name="Rectangle 17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a+4</a:t>
              </a:r>
            </a:p>
          </p:txBody>
        </p:sp>
        <p:sp>
          <p:nvSpPr>
            <p:cNvPr id="38971" name="Rectangle 18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8972" name="Rectangle 19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36948" name="Group 20"/>
          <p:cNvGrpSpPr>
            <a:grpSpLocks/>
          </p:cNvGrpSpPr>
          <p:nvPr/>
        </p:nvGrpSpPr>
        <p:grpSpPr bwMode="auto">
          <a:xfrm>
            <a:off x="4572000" y="2852524"/>
            <a:ext cx="1455738" cy="1727200"/>
            <a:chOff x="1963" y="1683"/>
            <a:chExt cx="917" cy="1088"/>
          </a:xfrm>
        </p:grpSpPr>
        <p:sp>
          <p:nvSpPr>
            <p:cNvPr id="38961" name="Rectangle 21"/>
            <p:cNvSpPr>
              <a:spLocks noChangeArrowheads="1"/>
            </p:cNvSpPr>
            <p:nvPr/>
          </p:nvSpPr>
          <p:spPr bwMode="auto">
            <a:xfrm>
              <a:off x="1963" y="2128"/>
              <a:ext cx="908" cy="234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2" name="Line 22"/>
            <p:cNvSpPr>
              <a:spLocks noChangeShapeType="1"/>
            </p:cNvSpPr>
            <p:nvPr/>
          </p:nvSpPr>
          <p:spPr bwMode="auto">
            <a:xfrm>
              <a:off x="1973" y="1683"/>
              <a:ext cx="90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3" name="Line 23"/>
            <p:cNvSpPr>
              <a:spLocks noChangeShapeType="1"/>
            </p:cNvSpPr>
            <p:nvPr/>
          </p:nvSpPr>
          <p:spPr bwMode="auto">
            <a:xfrm>
              <a:off x="1972" y="2043"/>
              <a:ext cx="90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4" name="Line 24"/>
            <p:cNvSpPr>
              <a:spLocks noChangeShapeType="1"/>
            </p:cNvSpPr>
            <p:nvPr/>
          </p:nvSpPr>
          <p:spPr bwMode="auto">
            <a:xfrm>
              <a:off x="1973" y="2387"/>
              <a:ext cx="90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5" name="Line 25"/>
            <p:cNvSpPr>
              <a:spLocks noChangeShapeType="1"/>
            </p:cNvSpPr>
            <p:nvPr/>
          </p:nvSpPr>
          <p:spPr bwMode="auto">
            <a:xfrm>
              <a:off x="1972" y="2771"/>
              <a:ext cx="90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6954" name="Group 26"/>
          <p:cNvGrpSpPr>
            <a:grpSpLocks/>
          </p:cNvGrpSpPr>
          <p:nvPr/>
        </p:nvGrpSpPr>
        <p:grpSpPr bwMode="auto">
          <a:xfrm>
            <a:off x="6858000" y="2238206"/>
            <a:ext cx="1447800" cy="4060671"/>
            <a:chOff x="3936" y="1093"/>
            <a:chExt cx="536" cy="2594"/>
          </a:xfrm>
        </p:grpSpPr>
        <p:sp>
          <p:nvSpPr>
            <p:cNvPr id="38954" name="Rectangle 27"/>
            <p:cNvSpPr>
              <a:spLocks noChangeArrowheads="1"/>
            </p:cNvSpPr>
            <p:nvPr/>
          </p:nvSpPr>
          <p:spPr bwMode="auto">
            <a:xfrm>
              <a:off x="3936" y="1093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 dirty="0">
                  <a:solidFill>
                    <a:srgbClr val="C00000"/>
                  </a:solidFill>
                  <a:latin typeface="Times New Roman" pitchFamily="18" charset="0"/>
                </a:rPr>
                <a:t>*a</a:t>
              </a:r>
            </a:p>
          </p:txBody>
        </p:sp>
        <p:sp>
          <p:nvSpPr>
            <p:cNvPr id="38955" name="Rectangle 28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*(a+1)</a:t>
              </a:r>
            </a:p>
          </p:txBody>
        </p:sp>
        <p:sp>
          <p:nvSpPr>
            <p:cNvPr id="38956" name="Rectangle 29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*(a+2)</a:t>
              </a:r>
            </a:p>
          </p:txBody>
        </p:sp>
        <p:sp>
          <p:nvSpPr>
            <p:cNvPr id="38957" name="Rectangle 30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*(a+3)</a:t>
              </a:r>
            </a:p>
          </p:txBody>
        </p:sp>
        <p:sp>
          <p:nvSpPr>
            <p:cNvPr id="38958" name="Rectangle 31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</a:rPr>
                <a:t>*(a+4)</a:t>
              </a:r>
            </a:p>
          </p:txBody>
        </p:sp>
        <p:sp>
          <p:nvSpPr>
            <p:cNvPr id="38959" name="Rectangle 32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8960" name="Rectangle 33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36962" name="Group 34"/>
          <p:cNvGrpSpPr>
            <a:grpSpLocks/>
          </p:cNvGrpSpPr>
          <p:nvPr/>
        </p:nvGrpSpPr>
        <p:grpSpPr bwMode="auto">
          <a:xfrm>
            <a:off x="5702300" y="2230224"/>
            <a:ext cx="1657350" cy="2949574"/>
            <a:chOff x="4608" y="977"/>
            <a:chExt cx="1044" cy="1858"/>
          </a:xfrm>
        </p:grpSpPr>
        <p:sp>
          <p:nvSpPr>
            <p:cNvPr id="38949" name="Text Box 35"/>
            <p:cNvSpPr txBox="1">
              <a:spLocks noChangeArrowheads="1"/>
            </p:cNvSpPr>
            <p:nvPr/>
          </p:nvSpPr>
          <p:spPr bwMode="auto">
            <a:xfrm>
              <a:off x="4858" y="977"/>
              <a:ext cx="531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 dirty="0">
                  <a:latin typeface="Times New Roman" pitchFamily="18" charset="0"/>
                </a:rPr>
                <a:t>a[0]</a:t>
              </a:r>
            </a:p>
          </p:txBody>
        </p:sp>
        <p:sp>
          <p:nvSpPr>
            <p:cNvPr id="38950" name="Text Box 36"/>
            <p:cNvSpPr txBox="1">
              <a:spLocks noChangeArrowheads="1"/>
            </p:cNvSpPr>
            <p:nvPr/>
          </p:nvSpPr>
          <p:spPr bwMode="auto">
            <a:xfrm>
              <a:off x="4858" y="1342"/>
              <a:ext cx="531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>
                  <a:latin typeface="Times New Roman" pitchFamily="18" charset="0"/>
                </a:rPr>
                <a:t>a[1]</a:t>
              </a:r>
            </a:p>
          </p:txBody>
        </p:sp>
        <p:sp>
          <p:nvSpPr>
            <p:cNvPr id="38951" name="Text Box 37"/>
            <p:cNvSpPr txBox="1">
              <a:spLocks noChangeArrowheads="1"/>
            </p:cNvSpPr>
            <p:nvPr/>
          </p:nvSpPr>
          <p:spPr bwMode="auto">
            <a:xfrm>
              <a:off x="4858" y="1729"/>
              <a:ext cx="531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>
                  <a:latin typeface="Times New Roman" pitchFamily="18" charset="0"/>
                </a:rPr>
                <a:t>a[2]</a:t>
              </a:r>
            </a:p>
          </p:txBody>
        </p:sp>
        <p:sp>
          <p:nvSpPr>
            <p:cNvPr id="38952" name="Text Box 38"/>
            <p:cNvSpPr txBox="1">
              <a:spLocks noChangeArrowheads="1"/>
            </p:cNvSpPr>
            <p:nvPr/>
          </p:nvSpPr>
          <p:spPr bwMode="auto">
            <a:xfrm>
              <a:off x="4858" y="2081"/>
              <a:ext cx="531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>
                  <a:latin typeface="Times New Roman" pitchFamily="18" charset="0"/>
                </a:rPr>
                <a:t>a[3]</a:t>
              </a:r>
            </a:p>
          </p:txBody>
        </p:sp>
        <p:sp>
          <p:nvSpPr>
            <p:cNvPr id="38953" name="Text Box 39"/>
            <p:cNvSpPr txBox="1">
              <a:spLocks noChangeArrowheads="1"/>
            </p:cNvSpPr>
            <p:nvPr/>
          </p:nvSpPr>
          <p:spPr bwMode="auto">
            <a:xfrm>
              <a:off x="4608" y="2465"/>
              <a:ext cx="10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 dirty="0">
                  <a:latin typeface="Times New Roman" pitchFamily="18" charset="0"/>
                </a:rPr>
                <a:t>    a[4]</a:t>
              </a:r>
            </a:p>
          </p:txBody>
        </p:sp>
      </p:grpSp>
      <p:grpSp>
        <p:nvGrpSpPr>
          <p:cNvPr id="636968" name="Group 40"/>
          <p:cNvGrpSpPr>
            <a:grpSpLocks/>
          </p:cNvGrpSpPr>
          <p:nvPr/>
        </p:nvGrpSpPr>
        <p:grpSpPr bwMode="auto">
          <a:xfrm>
            <a:off x="2438400" y="1476161"/>
            <a:ext cx="7259638" cy="641350"/>
            <a:chOff x="1152" y="886"/>
            <a:chExt cx="2925" cy="404"/>
          </a:xfrm>
        </p:grpSpPr>
        <p:sp>
          <p:nvSpPr>
            <p:cNvPr id="38947" name="Rectangle 41"/>
            <p:cNvSpPr>
              <a:spLocks noChangeArrowheads="1"/>
            </p:cNvSpPr>
            <p:nvPr/>
          </p:nvSpPr>
          <p:spPr bwMode="auto">
            <a:xfrm>
              <a:off x="1152" y="886"/>
              <a:ext cx="84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zh-CN" sz="36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数组地址</a:t>
              </a:r>
              <a:endPara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8948" name="Rectangle 42"/>
            <p:cNvSpPr>
              <a:spLocks noChangeArrowheads="1"/>
            </p:cNvSpPr>
            <p:nvPr/>
          </p:nvSpPr>
          <p:spPr bwMode="auto">
            <a:xfrm>
              <a:off x="3264" y="886"/>
              <a:ext cx="81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zh-CN" sz="36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数组元素</a:t>
              </a:r>
              <a:endParaRPr lang="zh-CN" altLang="en-US" sz="3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636971" name="Group 43"/>
          <p:cNvGrpSpPr>
            <a:grpSpLocks/>
          </p:cNvGrpSpPr>
          <p:nvPr/>
        </p:nvGrpSpPr>
        <p:grpSpPr bwMode="auto">
          <a:xfrm>
            <a:off x="2438400" y="2082631"/>
            <a:ext cx="990600" cy="4060671"/>
            <a:chOff x="3936" y="1093"/>
            <a:chExt cx="536" cy="2594"/>
          </a:xfrm>
        </p:grpSpPr>
        <p:sp>
          <p:nvSpPr>
            <p:cNvPr id="38940" name="Rectangle 44"/>
            <p:cNvSpPr>
              <a:spLocks noChangeArrowheads="1"/>
            </p:cNvSpPr>
            <p:nvPr/>
          </p:nvSpPr>
          <p:spPr bwMode="auto">
            <a:xfrm>
              <a:off x="3936" y="1093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38941" name="Rectangle 45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p+1</a:t>
              </a:r>
            </a:p>
          </p:txBody>
        </p:sp>
        <p:sp>
          <p:nvSpPr>
            <p:cNvPr id="38942" name="Rectangle 46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p+2</a:t>
              </a:r>
            </a:p>
          </p:txBody>
        </p:sp>
        <p:sp>
          <p:nvSpPr>
            <p:cNvPr id="38943" name="Rectangle 47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p+3</a:t>
              </a:r>
            </a:p>
          </p:txBody>
        </p:sp>
        <p:sp>
          <p:nvSpPr>
            <p:cNvPr id="38944" name="Rectangle 48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p+4</a:t>
              </a:r>
            </a:p>
          </p:txBody>
        </p:sp>
        <p:sp>
          <p:nvSpPr>
            <p:cNvPr id="38945" name="Rectangle 49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38946" name="Rectangle 50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36979" name="Group 51"/>
          <p:cNvGrpSpPr>
            <a:grpSpLocks/>
          </p:cNvGrpSpPr>
          <p:nvPr/>
        </p:nvGrpSpPr>
        <p:grpSpPr bwMode="auto">
          <a:xfrm>
            <a:off x="8077200" y="2235031"/>
            <a:ext cx="1447800" cy="4060671"/>
            <a:chOff x="3936" y="1093"/>
            <a:chExt cx="536" cy="2594"/>
          </a:xfrm>
        </p:grpSpPr>
        <p:sp>
          <p:nvSpPr>
            <p:cNvPr id="38933" name="Rectangle 52"/>
            <p:cNvSpPr>
              <a:spLocks noChangeArrowheads="1"/>
            </p:cNvSpPr>
            <p:nvPr/>
          </p:nvSpPr>
          <p:spPr bwMode="auto">
            <a:xfrm>
              <a:off x="3936" y="1093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*p</a:t>
              </a:r>
            </a:p>
          </p:txBody>
        </p:sp>
        <p:sp>
          <p:nvSpPr>
            <p:cNvPr id="38934" name="Rectangle 53"/>
            <p:cNvSpPr>
              <a:spLocks noChangeArrowheads="1"/>
            </p:cNvSpPr>
            <p:nvPr/>
          </p:nvSpPr>
          <p:spPr bwMode="auto">
            <a:xfrm>
              <a:off x="3936" y="1504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*(p+1)</a:t>
              </a:r>
            </a:p>
          </p:txBody>
        </p:sp>
        <p:sp>
          <p:nvSpPr>
            <p:cNvPr id="38935" name="Rectangle 54"/>
            <p:cNvSpPr>
              <a:spLocks noChangeArrowheads="1"/>
            </p:cNvSpPr>
            <p:nvPr/>
          </p:nvSpPr>
          <p:spPr bwMode="auto">
            <a:xfrm>
              <a:off x="3936" y="1872"/>
              <a:ext cx="528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*(p+2)</a:t>
              </a:r>
            </a:p>
          </p:txBody>
        </p:sp>
        <p:sp>
          <p:nvSpPr>
            <p:cNvPr id="38936" name="Rectangle 55"/>
            <p:cNvSpPr>
              <a:spLocks noChangeArrowheads="1"/>
            </p:cNvSpPr>
            <p:nvPr/>
          </p:nvSpPr>
          <p:spPr bwMode="auto">
            <a:xfrm>
              <a:off x="3936" y="225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*(p+3)</a:t>
              </a:r>
            </a:p>
          </p:txBody>
        </p:sp>
        <p:sp>
          <p:nvSpPr>
            <p:cNvPr id="38937" name="Rectangle 56"/>
            <p:cNvSpPr>
              <a:spLocks noChangeArrowheads="1"/>
            </p:cNvSpPr>
            <p:nvPr/>
          </p:nvSpPr>
          <p:spPr bwMode="auto">
            <a:xfrm>
              <a:off x="3936" y="2640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>
                  <a:solidFill>
                    <a:schemeClr val="hlink"/>
                  </a:solidFill>
                  <a:latin typeface="Times New Roman" pitchFamily="18" charset="0"/>
                </a:rPr>
                <a:t>*(p+4)</a:t>
              </a:r>
            </a:p>
          </p:txBody>
        </p:sp>
        <p:sp>
          <p:nvSpPr>
            <p:cNvPr id="38938" name="Rectangle 57"/>
            <p:cNvSpPr>
              <a:spLocks noChangeArrowheads="1"/>
            </p:cNvSpPr>
            <p:nvPr/>
          </p:nvSpPr>
          <p:spPr bwMode="auto">
            <a:xfrm>
              <a:off x="3936" y="2976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38939" name="Rectangle 58"/>
            <p:cNvSpPr>
              <a:spLocks noChangeArrowheads="1"/>
            </p:cNvSpPr>
            <p:nvPr/>
          </p:nvSpPr>
          <p:spPr bwMode="auto">
            <a:xfrm>
              <a:off x="3936" y="3312"/>
              <a:ext cx="536" cy="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32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36987" name="Group 59"/>
          <p:cNvGrpSpPr>
            <a:grpSpLocks/>
          </p:cNvGrpSpPr>
          <p:nvPr/>
        </p:nvGrpSpPr>
        <p:grpSpPr bwMode="auto">
          <a:xfrm>
            <a:off x="8934450" y="2234986"/>
            <a:ext cx="1657350" cy="2949576"/>
            <a:chOff x="4608" y="977"/>
            <a:chExt cx="1044" cy="1858"/>
          </a:xfrm>
        </p:grpSpPr>
        <p:sp>
          <p:nvSpPr>
            <p:cNvPr id="38928" name="Text Box 60"/>
            <p:cNvSpPr txBox="1">
              <a:spLocks noChangeArrowheads="1"/>
            </p:cNvSpPr>
            <p:nvPr/>
          </p:nvSpPr>
          <p:spPr bwMode="auto">
            <a:xfrm>
              <a:off x="4851" y="977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 dirty="0">
                  <a:latin typeface="Times New Roman" pitchFamily="18" charset="0"/>
                </a:rPr>
                <a:t>p[0]</a:t>
              </a:r>
            </a:p>
          </p:txBody>
        </p:sp>
        <p:sp>
          <p:nvSpPr>
            <p:cNvPr id="38929" name="Text Box 61"/>
            <p:cNvSpPr txBox="1">
              <a:spLocks noChangeArrowheads="1"/>
            </p:cNvSpPr>
            <p:nvPr/>
          </p:nvSpPr>
          <p:spPr bwMode="auto">
            <a:xfrm>
              <a:off x="4851" y="1342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>
                  <a:latin typeface="Times New Roman" pitchFamily="18" charset="0"/>
                </a:rPr>
                <a:t>p[1]</a:t>
              </a:r>
            </a:p>
          </p:txBody>
        </p:sp>
        <p:sp>
          <p:nvSpPr>
            <p:cNvPr id="38930" name="Text Box 62"/>
            <p:cNvSpPr txBox="1">
              <a:spLocks noChangeArrowheads="1"/>
            </p:cNvSpPr>
            <p:nvPr/>
          </p:nvSpPr>
          <p:spPr bwMode="auto">
            <a:xfrm>
              <a:off x="4851" y="1729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>
                  <a:latin typeface="Times New Roman" pitchFamily="18" charset="0"/>
                </a:rPr>
                <a:t>p[2]</a:t>
              </a:r>
            </a:p>
          </p:txBody>
        </p:sp>
        <p:sp>
          <p:nvSpPr>
            <p:cNvPr id="38931" name="Text Box 63"/>
            <p:cNvSpPr txBox="1">
              <a:spLocks noChangeArrowheads="1"/>
            </p:cNvSpPr>
            <p:nvPr/>
          </p:nvSpPr>
          <p:spPr bwMode="auto">
            <a:xfrm>
              <a:off x="4851" y="2081"/>
              <a:ext cx="5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>
                  <a:latin typeface="Times New Roman" pitchFamily="18" charset="0"/>
                </a:rPr>
                <a:t>p[3]</a:t>
              </a:r>
            </a:p>
          </p:txBody>
        </p:sp>
        <p:sp>
          <p:nvSpPr>
            <p:cNvPr id="38932" name="Text Box 64"/>
            <p:cNvSpPr txBox="1">
              <a:spLocks noChangeArrowheads="1"/>
            </p:cNvSpPr>
            <p:nvPr/>
          </p:nvSpPr>
          <p:spPr bwMode="auto">
            <a:xfrm>
              <a:off x="4608" y="2465"/>
              <a:ext cx="10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339966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eaLnBrk="1" hangingPunct="1"/>
              <a:r>
                <a:rPr lang="en-US" altLang="zh-CN" sz="3200" b="0" dirty="0">
                  <a:latin typeface="Times New Roman" pitchFamily="18" charset="0"/>
                </a:rPr>
                <a:t>    p[4]</a:t>
              </a:r>
            </a:p>
          </p:txBody>
        </p:sp>
      </p:grpSp>
      <p:sp>
        <p:nvSpPr>
          <p:cNvPr id="636993" name="Rectangle 65"/>
          <p:cNvSpPr>
            <a:spLocks noChangeArrowheads="1"/>
          </p:cNvSpPr>
          <p:nvPr/>
        </p:nvSpPr>
        <p:spPr bwMode="auto">
          <a:xfrm>
            <a:off x="3792539" y="5409986"/>
            <a:ext cx="4422775" cy="64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3600">
                <a:solidFill>
                  <a:srgbClr val="0000FF"/>
                </a:solidFill>
              </a:rPr>
              <a:t>若</a:t>
            </a:r>
            <a:r>
              <a:rPr lang="en-US" altLang="zh-CN" sz="36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p=&amp;a[0]</a:t>
            </a:r>
            <a:r>
              <a:rPr lang="zh-CN" altLang="en-US" sz="36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zh-CN" altLang="en-US" sz="3600">
                <a:solidFill>
                  <a:srgbClr val="0000FF"/>
                </a:solidFill>
              </a:rPr>
              <a:t>则</a:t>
            </a:r>
            <a:r>
              <a:rPr lang="en-US" altLang="zh-CN" sz="36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p=a</a:t>
            </a:r>
            <a:endParaRPr lang="en-US" altLang="zh-CN" sz="3600">
              <a:solidFill>
                <a:srgbClr val="0000FF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67" name="Rectangle 65"/>
          <p:cNvSpPr>
            <a:spLocks noChangeArrowheads="1"/>
          </p:cNvSpPr>
          <p:nvPr/>
        </p:nvSpPr>
        <p:spPr bwMode="auto">
          <a:xfrm>
            <a:off x="3413125" y="5477665"/>
            <a:ext cx="5171906" cy="5869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a[</a:t>
            </a:r>
            <a:r>
              <a:rPr lang="en-US" altLang="zh-CN" sz="3200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] 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3200" dirty="0">
                <a:solidFill>
                  <a:srgbClr val="3366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p[</a:t>
            </a:r>
            <a:r>
              <a:rPr lang="en-US" altLang="zh-CN" sz="3200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i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]</a:t>
            </a:r>
            <a:r>
              <a:rPr lang="en-US" altLang="zh-CN" sz="3200" dirty="0">
                <a:solidFill>
                  <a:srgbClr val="FF5555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  <a:sym typeface="Symbol" pitchFamily="18" charset="2"/>
              </a:rPr>
              <a:t> 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*(</a:t>
            </a:r>
            <a:r>
              <a:rPr lang="en-US" altLang="zh-CN" sz="3200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p+i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 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*(</a:t>
            </a:r>
            <a:r>
              <a:rPr lang="en-US" altLang="zh-CN" sz="3200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a+i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D7F22A1-BB7E-4721-8457-9C1381E4BBF4}"/>
              </a:ext>
            </a:extLst>
          </p:cNvPr>
          <p:cNvGrpSpPr/>
          <p:nvPr/>
        </p:nvGrpSpPr>
        <p:grpSpPr>
          <a:xfrm>
            <a:off x="1763" y="328187"/>
            <a:ext cx="3102944" cy="978729"/>
            <a:chOff x="0" y="175102"/>
            <a:chExt cx="6411951" cy="769441"/>
          </a:xfrm>
        </p:grpSpPr>
        <p:sp>
          <p:nvSpPr>
            <p:cNvPr id="69" name="矩形: 剪去单角 68">
              <a:extLst>
                <a:ext uri="{FF2B5EF4-FFF2-40B4-BE49-F238E27FC236}">
                  <a16:creationId xmlns:a16="http://schemas.microsoft.com/office/drawing/2014/main" id="{9FC14FA6-9564-4305-A831-2DE277E7C4B1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ACDE982F-64E6-44B1-BF16-24D978FB27B6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 针 与 数 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625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3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3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36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6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3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6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6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3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3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3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9" grpId="0" autoUpdateAnimBg="0"/>
      <p:bldP spid="636993" grpId="0" animBg="1" autoUpdateAnimBg="0"/>
      <p:bldP spid="67" grpId="0" animBg="1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2" y="264389"/>
            <a:ext cx="5294138" cy="978729"/>
            <a:chOff x="0" y="175102"/>
            <a:chExt cx="6411951" cy="769441"/>
          </a:xfrm>
        </p:grpSpPr>
        <p:sp>
          <p:nvSpPr>
            <p:cNvPr id="3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指针和一维数组的关系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419100" y="1347485"/>
            <a:ext cx="11163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数组名是个不占内存的地址常量，数组名代表整个数组的存储首地址。假设有定义：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int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a[10], *p=a;</a:t>
            </a:r>
          </a:p>
        </p:txBody>
      </p:sp>
      <p:graphicFrame>
        <p:nvGraphicFramePr>
          <p:cNvPr id="6" name="Group 24"/>
          <p:cNvGraphicFramePr>
            <a:graphicFrameLocks noGrp="1"/>
          </p:cNvGraphicFramePr>
          <p:nvPr/>
        </p:nvGraphicFramePr>
        <p:xfrm>
          <a:off x="3300413" y="3517900"/>
          <a:ext cx="2590800" cy="221297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Line 17"/>
          <p:cNvSpPr>
            <a:spLocks noChangeShapeType="1"/>
          </p:cNvSpPr>
          <p:nvPr/>
        </p:nvSpPr>
        <p:spPr bwMode="auto">
          <a:xfrm>
            <a:off x="2292350" y="3729038"/>
            <a:ext cx="9906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692275" y="3403600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</a:p>
        </p:txBody>
      </p: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5937250" y="3408363"/>
            <a:ext cx="1298575" cy="2325687"/>
            <a:chOff x="3696" y="2078"/>
            <a:chExt cx="432" cy="1465"/>
          </a:xfrm>
        </p:grpSpPr>
        <p:sp>
          <p:nvSpPr>
            <p:cNvPr id="10" name="Text Box 25"/>
            <p:cNvSpPr txBox="1">
              <a:spLocks noChangeArrowheads="1"/>
            </p:cNvSpPr>
            <p:nvPr/>
          </p:nvSpPr>
          <p:spPr bwMode="auto">
            <a:xfrm>
              <a:off x="3696" y="2078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cs typeface="Times New Roman" pitchFamily="18" charset="0"/>
                </a:rPr>
                <a:t>a[0]</a:t>
              </a:r>
            </a:p>
          </p:txBody>
        </p:sp>
        <p:sp>
          <p:nvSpPr>
            <p:cNvPr id="11" name="Text Box 26"/>
            <p:cNvSpPr txBox="1">
              <a:spLocks noChangeArrowheads="1"/>
            </p:cNvSpPr>
            <p:nvPr/>
          </p:nvSpPr>
          <p:spPr bwMode="auto">
            <a:xfrm>
              <a:off x="3696" y="2388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cs typeface="Times New Roman" pitchFamily="18" charset="0"/>
                </a:rPr>
                <a:t>a[1]</a:t>
              </a:r>
            </a:p>
          </p:txBody>
        </p:sp>
        <p:sp>
          <p:nvSpPr>
            <p:cNvPr id="12" name="Text Box 27"/>
            <p:cNvSpPr txBox="1">
              <a:spLocks noChangeArrowheads="1"/>
            </p:cNvSpPr>
            <p:nvPr/>
          </p:nvSpPr>
          <p:spPr bwMode="auto">
            <a:xfrm>
              <a:off x="3696" y="3178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cs typeface="Times New Roman" pitchFamily="18" charset="0"/>
                </a:rPr>
                <a:t>a[9]</a:t>
              </a:r>
            </a:p>
          </p:txBody>
        </p:sp>
      </p:grpSp>
      <p:sp>
        <p:nvSpPr>
          <p:cNvPr id="13" name="Rectangle 48"/>
          <p:cNvSpPr>
            <a:spLocks noChangeArrowheads="1"/>
          </p:cNvSpPr>
          <p:nvPr/>
        </p:nvSpPr>
        <p:spPr bwMode="auto">
          <a:xfrm>
            <a:off x="185738" y="6021388"/>
            <a:ext cx="7194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思考题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】p=a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p=&amp;a[0]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等价吗？</a:t>
            </a:r>
          </a:p>
        </p:txBody>
      </p:sp>
      <p:sp>
        <p:nvSpPr>
          <p:cNvPr id="14" name="AutoShape 50"/>
          <p:cNvSpPr>
            <a:spLocks noChangeArrowheads="1"/>
          </p:cNvSpPr>
          <p:nvPr/>
        </p:nvSpPr>
        <p:spPr bwMode="auto">
          <a:xfrm>
            <a:off x="8100219" y="4514850"/>
            <a:ext cx="1296988" cy="647700"/>
          </a:xfrm>
          <a:prstGeom prst="wedgeRoundRectCallout">
            <a:avLst>
              <a:gd name="adj1" fmla="val -140454"/>
              <a:gd name="adj2" fmla="val 219116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/>
              <a:t>等价</a:t>
            </a:r>
          </a:p>
        </p:txBody>
      </p:sp>
    </p:spTree>
    <p:extLst>
      <p:ext uri="{BB962C8B-B14F-4D97-AF65-F5344CB8AC3E}">
        <p14:creationId xmlns:p14="http://schemas.microsoft.com/office/powerpoint/2010/main" val="2211917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/>
      <p:bldP spid="1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707009"/>
              </p:ext>
            </p:extLst>
          </p:nvPr>
        </p:nvGraphicFramePr>
        <p:xfrm>
          <a:off x="6134100" y="227013"/>
          <a:ext cx="2590800" cy="257813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0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696" marB="456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696" marB="456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9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Times New Roman" pitchFamily="18" charset="0"/>
                        </a:rPr>
                        <a:t>…</a:t>
                      </a:r>
                      <a:endParaRPr kumimoji="0" lang="en-US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T="45696" marB="456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T="45696" marB="456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8770938" y="153988"/>
            <a:ext cx="1614487" cy="2579687"/>
            <a:chOff x="3696" y="2078"/>
            <a:chExt cx="432" cy="1418"/>
          </a:xfrm>
        </p:grpSpPr>
        <p:sp>
          <p:nvSpPr>
            <p:cNvPr id="4" name="Text Box 18"/>
            <p:cNvSpPr txBox="1">
              <a:spLocks noChangeArrowheads="1"/>
            </p:cNvSpPr>
            <p:nvPr/>
          </p:nvSpPr>
          <p:spPr bwMode="auto">
            <a:xfrm>
              <a:off x="3696" y="2078"/>
              <a:ext cx="432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cs typeface="Times New Roman" pitchFamily="18" charset="0"/>
                </a:rPr>
                <a:t>a[0]</a:t>
              </a:r>
            </a:p>
          </p:txBody>
        </p:sp>
        <p:sp>
          <p:nvSpPr>
            <p:cNvPr id="5" name="Text Box 19"/>
            <p:cNvSpPr txBox="1">
              <a:spLocks noChangeArrowheads="1"/>
            </p:cNvSpPr>
            <p:nvPr/>
          </p:nvSpPr>
          <p:spPr bwMode="auto">
            <a:xfrm>
              <a:off x="3696" y="2388"/>
              <a:ext cx="432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cs typeface="Times New Roman" pitchFamily="18" charset="0"/>
                </a:rPr>
                <a:t>a[1]</a:t>
              </a:r>
            </a:p>
          </p:txBody>
        </p:sp>
        <p:sp>
          <p:nvSpPr>
            <p:cNvPr id="6" name="Text Box 20"/>
            <p:cNvSpPr txBox="1">
              <a:spLocks noChangeArrowheads="1"/>
            </p:cNvSpPr>
            <p:nvPr/>
          </p:nvSpPr>
          <p:spPr bwMode="auto">
            <a:xfrm>
              <a:off x="3696" y="3178"/>
              <a:ext cx="432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cs typeface="Times New Roman" pitchFamily="18" charset="0"/>
                </a:rPr>
                <a:t>a[9]</a:t>
              </a:r>
            </a:p>
          </p:txBody>
        </p:sp>
      </p:grp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5527675" y="539750"/>
            <a:ext cx="5762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4470400" y="227013"/>
            <a:ext cx="66675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2824163" y="2314575"/>
            <a:ext cx="3313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【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回答下列问题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】</a:t>
            </a: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2897188" y="3106738"/>
            <a:ext cx="4967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、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表示什么？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2897188" y="3754438"/>
            <a:ext cx="4967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、*（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）表示什么？</a:t>
            </a:r>
          </a:p>
        </p:txBody>
      </p:sp>
      <p:sp>
        <p:nvSpPr>
          <p:cNvPr id="12" name="Rectangle 36"/>
          <p:cNvSpPr>
            <a:spLocks noChangeArrowheads="1"/>
          </p:cNvSpPr>
          <p:nvPr/>
        </p:nvSpPr>
        <p:spPr bwMode="auto">
          <a:xfrm>
            <a:off x="2898775" y="4400550"/>
            <a:ext cx="4967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、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表示什么？</a:t>
            </a:r>
          </a:p>
        </p:txBody>
      </p:sp>
      <p:sp>
        <p:nvSpPr>
          <p:cNvPr id="13" name="Rectangle 37"/>
          <p:cNvSpPr>
            <a:spLocks noChangeArrowheads="1"/>
          </p:cNvSpPr>
          <p:nvPr/>
        </p:nvSpPr>
        <p:spPr bwMode="auto">
          <a:xfrm>
            <a:off x="2927350" y="5051425"/>
            <a:ext cx="4967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4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、*（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）表示什么？</a:t>
            </a:r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2940050" y="5684838"/>
            <a:ext cx="8921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5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、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＝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与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＝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哪个表示方式正确？</a:t>
            </a:r>
          </a:p>
        </p:txBody>
      </p:sp>
      <p:sp>
        <p:nvSpPr>
          <p:cNvPr id="15" name="AutoShape 40"/>
          <p:cNvSpPr>
            <a:spLocks noChangeArrowheads="1"/>
          </p:cNvSpPr>
          <p:nvPr/>
        </p:nvSpPr>
        <p:spPr bwMode="auto">
          <a:xfrm>
            <a:off x="6858000" y="3035300"/>
            <a:ext cx="2233613" cy="431800"/>
          </a:xfrm>
          <a:prstGeom prst="wedgeRoundRectCallout">
            <a:avLst>
              <a:gd name="adj1" fmla="val -76440"/>
              <a:gd name="adj2" fmla="val 31616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2000">
                <a:latin typeface="楷体_GB2312" pitchFamily="49" charset="-122"/>
              </a:rPr>
              <a:t>a[1]</a:t>
            </a:r>
            <a:r>
              <a:rPr kumimoji="0" lang="zh-CN" altLang="en-US" sz="2000">
                <a:latin typeface="楷体_GB2312" pitchFamily="49" charset="-122"/>
              </a:rPr>
              <a:t>的存储地址</a:t>
            </a:r>
          </a:p>
        </p:txBody>
      </p:sp>
      <p:sp>
        <p:nvSpPr>
          <p:cNvPr id="16" name="AutoShape 41"/>
          <p:cNvSpPr>
            <a:spLocks noChangeArrowheads="1"/>
          </p:cNvSpPr>
          <p:nvPr/>
        </p:nvSpPr>
        <p:spPr bwMode="auto">
          <a:xfrm>
            <a:off x="8442325" y="3611563"/>
            <a:ext cx="2736850" cy="431800"/>
          </a:xfrm>
          <a:prstGeom prst="wedgeRoundRectCallout">
            <a:avLst>
              <a:gd name="adj1" fmla="val -92634"/>
              <a:gd name="adj2" fmla="val 64704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2000">
                <a:latin typeface="楷体_GB2312" pitchFamily="49" charset="-122"/>
              </a:rPr>
              <a:t>a[1]</a:t>
            </a:r>
            <a:r>
              <a:rPr kumimoji="0" lang="zh-CN" altLang="en-US" sz="2000">
                <a:latin typeface="楷体_GB2312" pitchFamily="49" charset="-122"/>
              </a:rPr>
              <a:t>的地址中的内容</a:t>
            </a:r>
          </a:p>
        </p:txBody>
      </p:sp>
      <p:sp>
        <p:nvSpPr>
          <p:cNvPr id="17" name="AutoShape 42"/>
          <p:cNvSpPr>
            <a:spLocks noChangeArrowheads="1"/>
          </p:cNvSpPr>
          <p:nvPr/>
        </p:nvSpPr>
        <p:spPr bwMode="auto">
          <a:xfrm>
            <a:off x="9161463" y="4330700"/>
            <a:ext cx="2232025" cy="431800"/>
          </a:xfrm>
          <a:prstGeom prst="wedgeRoundRectCallout">
            <a:avLst>
              <a:gd name="adj1" fmla="val -179019"/>
              <a:gd name="adj2" fmla="val 31616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2000">
                <a:latin typeface="楷体_GB2312" pitchFamily="49" charset="-122"/>
              </a:rPr>
              <a:t>a[1]</a:t>
            </a:r>
            <a:r>
              <a:rPr kumimoji="0" lang="zh-CN" altLang="en-US" sz="2000">
                <a:latin typeface="楷体_GB2312" pitchFamily="49" charset="-122"/>
              </a:rPr>
              <a:t>的存储地址</a:t>
            </a:r>
          </a:p>
        </p:txBody>
      </p:sp>
      <p:sp>
        <p:nvSpPr>
          <p:cNvPr id="18" name="AutoShape 43"/>
          <p:cNvSpPr>
            <a:spLocks noChangeArrowheads="1"/>
          </p:cNvSpPr>
          <p:nvPr/>
        </p:nvSpPr>
        <p:spPr bwMode="auto">
          <a:xfrm>
            <a:off x="8586788" y="5122863"/>
            <a:ext cx="2735262" cy="431800"/>
          </a:xfrm>
          <a:prstGeom prst="wedgeRoundRectCallout">
            <a:avLst>
              <a:gd name="adj1" fmla="val -95560"/>
              <a:gd name="adj2" fmla="val 14338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2000">
                <a:latin typeface="楷体_GB2312" pitchFamily="49" charset="-122"/>
              </a:rPr>
              <a:t>a[1]</a:t>
            </a:r>
            <a:r>
              <a:rPr kumimoji="0" lang="zh-CN" altLang="en-US" sz="2000">
                <a:latin typeface="楷体_GB2312" pitchFamily="49" charset="-122"/>
              </a:rPr>
              <a:t>的地址中的内容</a:t>
            </a:r>
          </a:p>
        </p:txBody>
      </p:sp>
      <p:sp>
        <p:nvSpPr>
          <p:cNvPr id="19" name="AutoShape 44"/>
          <p:cNvSpPr>
            <a:spLocks noChangeArrowheads="1"/>
          </p:cNvSpPr>
          <p:nvPr/>
        </p:nvSpPr>
        <p:spPr bwMode="auto">
          <a:xfrm>
            <a:off x="5776913" y="6275388"/>
            <a:ext cx="2808287" cy="431800"/>
          </a:xfrm>
          <a:prstGeom prst="wedgeRoundRectCallout">
            <a:avLst>
              <a:gd name="adj1" fmla="val 79903"/>
              <a:gd name="adj2" fmla="val -56986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zh-CN" altLang="en-US" sz="2000">
                <a:latin typeface="楷体_GB2312" pitchFamily="49" charset="-122"/>
              </a:rPr>
              <a:t>前者正确，后者错误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D7F22A1-BB7E-4721-8457-9C1381E4BBF4}"/>
              </a:ext>
            </a:extLst>
          </p:cNvPr>
          <p:cNvGrpSpPr/>
          <p:nvPr/>
        </p:nvGrpSpPr>
        <p:grpSpPr>
          <a:xfrm>
            <a:off x="1763" y="328187"/>
            <a:ext cx="3102944" cy="978729"/>
            <a:chOff x="0" y="175102"/>
            <a:chExt cx="6411951" cy="769441"/>
          </a:xfrm>
        </p:grpSpPr>
        <p:sp>
          <p:nvSpPr>
            <p:cNvPr id="21" name="矩形: 剪去单角 68">
              <a:extLst>
                <a:ext uri="{FF2B5EF4-FFF2-40B4-BE49-F238E27FC236}">
                  <a16:creationId xmlns:a16="http://schemas.microsoft.com/office/drawing/2014/main" id="{9FC14FA6-9564-4305-A831-2DE277E7C4B1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CDE982F-64E6-44B1-BF16-24D978FB27B6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 algn="ctr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思考与回答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44745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38978" name="Text Box 2"/>
          <p:cNvSpPr txBox="1">
            <a:spLocks noChangeArrowheads="1"/>
          </p:cNvSpPr>
          <p:nvPr/>
        </p:nvSpPr>
        <p:spPr bwMode="auto">
          <a:xfrm>
            <a:off x="2336801" y="1275537"/>
            <a:ext cx="5073825" cy="5509200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#include &lt;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stdio.h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 algn="l" eaLnBrk="1" hangingPunct="1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void  main()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{     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 a[  ]={5,8,7,6,2,7,3};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x,y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*p</a:t>
            </a:r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algn="l"/>
            <a:r>
              <a:rPr lang="en-US" altLang="zh-CN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p=&amp;a[1]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x=*(--p);</a:t>
            </a:r>
          </a:p>
          <a:p>
            <a:pPr algn="l"/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      y=++(*p);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("%d ",x);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("%d ",y);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("%d\n ",a[0]);</a:t>
            </a:r>
          </a:p>
          <a:p>
            <a:pPr algn="l"/>
            <a:r>
              <a:rPr lang="en-US" altLang="zh-CN" sz="3200" dirty="0">
                <a:latin typeface="Times New Roman" pitchFamily="18" charset="0"/>
                <a:ea typeface="宋体" pitchFamily="2" charset="-122"/>
              </a:rPr>
              <a:t>} </a:t>
            </a:r>
          </a:p>
        </p:txBody>
      </p:sp>
      <p:grpSp>
        <p:nvGrpSpPr>
          <p:cNvPr id="638979" name="Group 3"/>
          <p:cNvGrpSpPr>
            <a:grpSpLocks/>
          </p:cNvGrpSpPr>
          <p:nvPr/>
        </p:nvGrpSpPr>
        <p:grpSpPr bwMode="auto">
          <a:xfrm>
            <a:off x="7554914" y="2159000"/>
            <a:ext cx="814387" cy="579438"/>
            <a:chOff x="3799" y="1002"/>
            <a:chExt cx="513" cy="365"/>
          </a:xfrm>
        </p:grpSpPr>
        <p:sp>
          <p:nvSpPr>
            <p:cNvPr id="40998" name="Line 4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9" name="Text Box 5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grpSp>
        <p:nvGrpSpPr>
          <p:cNvPr id="638982" name="Group 6"/>
          <p:cNvGrpSpPr>
            <a:grpSpLocks/>
          </p:cNvGrpSpPr>
          <p:nvPr/>
        </p:nvGrpSpPr>
        <p:grpSpPr bwMode="auto">
          <a:xfrm>
            <a:off x="7543800" y="1663700"/>
            <a:ext cx="814388" cy="579438"/>
            <a:chOff x="3799" y="1002"/>
            <a:chExt cx="513" cy="365"/>
          </a:xfrm>
        </p:grpSpPr>
        <p:sp>
          <p:nvSpPr>
            <p:cNvPr id="40996" name="Line 7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7" name="Text Box 8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grpSp>
        <p:nvGrpSpPr>
          <p:cNvPr id="638985" name="Group 9"/>
          <p:cNvGrpSpPr>
            <a:grpSpLocks/>
          </p:cNvGrpSpPr>
          <p:nvPr/>
        </p:nvGrpSpPr>
        <p:grpSpPr bwMode="auto">
          <a:xfrm>
            <a:off x="8348664" y="1751014"/>
            <a:ext cx="1431925" cy="3659187"/>
            <a:chOff x="4299" y="1103"/>
            <a:chExt cx="902" cy="2305"/>
          </a:xfrm>
        </p:grpSpPr>
        <p:sp>
          <p:nvSpPr>
            <p:cNvPr id="40989" name="Rectangle 10"/>
            <p:cNvSpPr>
              <a:spLocks noChangeArrowheads="1"/>
            </p:cNvSpPr>
            <p:nvPr/>
          </p:nvSpPr>
          <p:spPr bwMode="auto">
            <a:xfrm>
              <a:off x="4301" y="1103"/>
              <a:ext cx="900" cy="230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0" name="Line 11"/>
            <p:cNvSpPr>
              <a:spLocks noChangeShapeType="1"/>
            </p:cNvSpPr>
            <p:nvPr/>
          </p:nvSpPr>
          <p:spPr bwMode="auto">
            <a:xfrm>
              <a:off x="4299" y="1427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1" name="Line 12"/>
            <p:cNvSpPr>
              <a:spLocks noChangeShapeType="1"/>
            </p:cNvSpPr>
            <p:nvPr/>
          </p:nvSpPr>
          <p:spPr bwMode="auto">
            <a:xfrm>
              <a:off x="4299" y="1755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2" name="Line 13"/>
            <p:cNvSpPr>
              <a:spLocks noChangeShapeType="1"/>
            </p:cNvSpPr>
            <p:nvPr/>
          </p:nvSpPr>
          <p:spPr bwMode="auto">
            <a:xfrm>
              <a:off x="4299" y="2085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3" name="Line 14"/>
            <p:cNvSpPr>
              <a:spLocks noChangeShapeType="1"/>
            </p:cNvSpPr>
            <p:nvPr/>
          </p:nvSpPr>
          <p:spPr bwMode="auto">
            <a:xfrm>
              <a:off x="4299" y="2415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4" name="Line 15"/>
            <p:cNvSpPr>
              <a:spLocks noChangeShapeType="1"/>
            </p:cNvSpPr>
            <p:nvPr/>
          </p:nvSpPr>
          <p:spPr bwMode="auto">
            <a:xfrm>
              <a:off x="4299" y="2745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5" name="Line 16"/>
            <p:cNvSpPr>
              <a:spLocks noChangeShapeType="1"/>
            </p:cNvSpPr>
            <p:nvPr/>
          </p:nvSpPr>
          <p:spPr bwMode="auto">
            <a:xfrm>
              <a:off x="4299" y="3075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38993" name="Group 17"/>
          <p:cNvGrpSpPr>
            <a:grpSpLocks/>
          </p:cNvGrpSpPr>
          <p:nvPr/>
        </p:nvGrpSpPr>
        <p:grpSpPr bwMode="auto">
          <a:xfrm>
            <a:off x="8912225" y="1739900"/>
            <a:ext cx="387350" cy="3721100"/>
            <a:chOff x="4654" y="1096"/>
            <a:chExt cx="244" cy="2344"/>
          </a:xfrm>
        </p:grpSpPr>
        <p:sp>
          <p:nvSpPr>
            <p:cNvPr id="40982" name="Text Box 18"/>
            <p:cNvSpPr txBox="1">
              <a:spLocks noChangeArrowheads="1"/>
            </p:cNvSpPr>
            <p:nvPr/>
          </p:nvSpPr>
          <p:spPr bwMode="auto">
            <a:xfrm>
              <a:off x="4654" y="1096"/>
              <a:ext cx="24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40983" name="Text Box 19"/>
            <p:cNvSpPr txBox="1">
              <a:spLocks noChangeArrowheads="1"/>
            </p:cNvSpPr>
            <p:nvPr/>
          </p:nvSpPr>
          <p:spPr bwMode="auto">
            <a:xfrm>
              <a:off x="4654" y="14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  <p:sp>
          <p:nvSpPr>
            <p:cNvPr id="40984" name="Text Box 20"/>
            <p:cNvSpPr txBox="1">
              <a:spLocks noChangeArrowheads="1"/>
            </p:cNvSpPr>
            <p:nvPr/>
          </p:nvSpPr>
          <p:spPr bwMode="auto">
            <a:xfrm>
              <a:off x="4654" y="177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40985" name="Text Box 21"/>
            <p:cNvSpPr txBox="1">
              <a:spLocks noChangeArrowheads="1"/>
            </p:cNvSpPr>
            <p:nvPr/>
          </p:nvSpPr>
          <p:spPr bwMode="auto">
            <a:xfrm>
              <a:off x="4654" y="207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6</a:t>
              </a:r>
            </a:p>
          </p:txBody>
        </p:sp>
        <p:sp>
          <p:nvSpPr>
            <p:cNvPr id="40986" name="Text Box 22"/>
            <p:cNvSpPr txBox="1">
              <a:spLocks noChangeArrowheads="1"/>
            </p:cNvSpPr>
            <p:nvPr/>
          </p:nvSpPr>
          <p:spPr bwMode="auto">
            <a:xfrm>
              <a:off x="4654" y="241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40987" name="Text Box 23"/>
            <p:cNvSpPr txBox="1">
              <a:spLocks noChangeArrowheads="1"/>
            </p:cNvSpPr>
            <p:nvPr/>
          </p:nvSpPr>
          <p:spPr bwMode="auto">
            <a:xfrm>
              <a:off x="4654" y="27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40988" name="Text Box 24"/>
            <p:cNvSpPr txBox="1">
              <a:spLocks noChangeArrowheads="1"/>
            </p:cNvSpPr>
            <p:nvPr/>
          </p:nvSpPr>
          <p:spPr bwMode="auto">
            <a:xfrm>
              <a:off x="4654" y="307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639001" name="Group 25"/>
          <p:cNvGrpSpPr>
            <a:grpSpLocks/>
          </p:cNvGrpSpPr>
          <p:nvPr/>
        </p:nvGrpSpPr>
        <p:grpSpPr bwMode="auto">
          <a:xfrm>
            <a:off x="9734551" y="1689100"/>
            <a:ext cx="860425" cy="3721100"/>
            <a:chOff x="5172" y="1064"/>
            <a:chExt cx="542" cy="2344"/>
          </a:xfrm>
        </p:grpSpPr>
        <p:sp>
          <p:nvSpPr>
            <p:cNvPr id="40975" name="Text Box 26"/>
            <p:cNvSpPr txBox="1">
              <a:spLocks noChangeArrowheads="1"/>
            </p:cNvSpPr>
            <p:nvPr/>
          </p:nvSpPr>
          <p:spPr bwMode="auto">
            <a:xfrm>
              <a:off x="5172" y="1064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dirty="0">
                  <a:latin typeface="Times New Roman" pitchFamily="18" charset="0"/>
                  <a:ea typeface="宋体" pitchFamily="2" charset="-122"/>
                </a:rPr>
                <a:t>a[0]</a:t>
              </a:r>
            </a:p>
          </p:txBody>
        </p:sp>
        <p:sp>
          <p:nvSpPr>
            <p:cNvPr id="40976" name="Text Box 27"/>
            <p:cNvSpPr txBox="1">
              <a:spLocks noChangeArrowheads="1"/>
            </p:cNvSpPr>
            <p:nvPr/>
          </p:nvSpPr>
          <p:spPr bwMode="auto">
            <a:xfrm>
              <a:off x="5172" y="139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a[1]</a:t>
              </a:r>
            </a:p>
          </p:txBody>
        </p:sp>
        <p:sp>
          <p:nvSpPr>
            <p:cNvPr id="40977" name="Text Box 28"/>
            <p:cNvSpPr txBox="1">
              <a:spLocks noChangeArrowheads="1"/>
            </p:cNvSpPr>
            <p:nvPr/>
          </p:nvSpPr>
          <p:spPr bwMode="auto">
            <a:xfrm>
              <a:off x="5172" y="172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dirty="0">
                  <a:latin typeface="Times New Roman" pitchFamily="18" charset="0"/>
                  <a:ea typeface="宋体" pitchFamily="2" charset="-122"/>
                </a:rPr>
                <a:t>a[2]</a:t>
              </a:r>
            </a:p>
          </p:txBody>
        </p:sp>
        <p:sp>
          <p:nvSpPr>
            <p:cNvPr id="40978" name="Text Box 29"/>
            <p:cNvSpPr txBox="1">
              <a:spLocks noChangeArrowheads="1"/>
            </p:cNvSpPr>
            <p:nvPr/>
          </p:nvSpPr>
          <p:spPr bwMode="auto">
            <a:xfrm>
              <a:off x="5172" y="205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a[3]</a:t>
              </a:r>
            </a:p>
          </p:txBody>
        </p:sp>
        <p:sp>
          <p:nvSpPr>
            <p:cNvPr id="40979" name="Text Box 30"/>
            <p:cNvSpPr txBox="1">
              <a:spLocks noChangeArrowheads="1"/>
            </p:cNvSpPr>
            <p:nvPr/>
          </p:nvSpPr>
          <p:spPr bwMode="auto">
            <a:xfrm>
              <a:off x="5172" y="238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a[4]</a:t>
              </a:r>
            </a:p>
          </p:txBody>
        </p:sp>
        <p:sp>
          <p:nvSpPr>
            <p:cNvPr id="40980" name="Text Box 31"/>
            <p:cNvSpPr txBox="1">
              <a:spLocks noChangeArrowheads="1"/>
            </p:cNvSpPr>
            <p:nvPr/>
          </p:nvSpPr>
          <p:spPr bwMode="auto">
            <a:xfrm>
              <a:off x="5172" y="271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a[5]</a:t>
              </a:r>
            </a:p>
          </p:txBody>
        </p:sp>
        <p:sp>
          <p:nvSpPr>
            <p:cNvPr id="40981" name="Text Box 32"/>
            <p:cNvSpPr txBox="1">
              <a:spLocks noChangeArrowheads="1"/>
            </p:cNvSpPr>
            <p:nvPr/>
          </p:nvSpPr>
          <p:spPr bwMode="auto">
            <a:xfrm>
              <a:off x="5172" y="304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a[6]</a:t>
              </a:r>
            </a:p>
          </p:txBody>
        </p:sp>
      </p:grpSp>
      <p:grpSp>
        <p:nvGrpSpPr>
          <p:cNvPr id="639009" name="Group 33"/>
          <p:cNvGrpSpPr>
            <a:grpSpLocks/>
          </p:cNvGrpSpPr>
          <p:nvPr/>
        </p:nvGrpSpPr>
        <p:grpSpPr bwMode="auto">
          <a:xfrm>
            <a:off x="7581900" y="1422400"/>
            <a:ext cx="769938" cy="579438"/>
            <a:chOff x="3816" y="792"/>
            <a:chExt cx="485" cy="365"/>
          </a:xfrm>
        </p:grpSpPr>
        <p:sp>
          <p:nvSpPr>
            <p:cNvPr id="40973" name="Line 34"/>
            <p:cNvSpPr>
              <a:spLocks noChangeShapeType="1"/>
            </p:cNvSpPr>
            <p:nvPr/>
          </p:nvSpPr>
          <p:spPr bwMode="auto">
            <a:xfrm>
              <a:off x="3945" y="1089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4" name="Text Box 35"/>
            <p:cNvSpPr txBox="1">
              <a:spLocks noChangeArrowheads="1"/>
            </p:cNvSpPr>
            <p:nvPr/>
          </p:nvSpPr>
          <p:spPr bwMode="auto">
            <a:xfrm>
              <a:off x="3816" y="7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dirty="0"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639012" name="Text Box 36"/>
          <p:cNvSpPr txBox="1">
            <a:spLocks noChangeArrowheads="1"/>
          </p:cNvSpPr>
          <p:nvPr/>
        </p:nvSpPr>
        <p:spPr bwMode="auto">
          <a:xfrm>
            <a:off x="8915401" y="1799267"/>
            <a:ext cx="352425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</p:txBody>
      </p:sp>
      <p:sp>
        <p:nvSpPr>
          <p:cNvPr id="639014" name="Text Box 38"/>
          <p:cNvSpPr txBox="1">
            <a:spLocks noChangeArrowheads="1"/>
          </p:cNvSpPr>
          <p:nvPr/>
        </p:nvSpPr>
        <p:spPr bwMode="auto">
          <a:xfrm>
            <a:off x="8910084" y="1796899"/>
            <a:ext cx="281542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 bIns="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6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D4CB810-76CF-4D9A-B247-30AFCDA44526}"/>
              </a:ext>
            </a:extLst>
          </p:cNvPr>
          <p:cNvGrpSpPr/>
          <p:nvPr/>
        </p:nvGrpSpPr>
        <p:grpSpPr>
          <a:xfrm>
            <a:off x="1763" y="264389"/>
            <a:ext cx="3102944" cy="978729"/>
            <a:chOff x="0" y="175102"/>
            <a:chExt cx="6411951" cy="769441"/>
          </a:xfrm>
        </p:grpSpPr>
        <p:sp>
          <p:nvSpPr>
            <p:cNvPr id="41" name="矩形: 剪去单角 40">
              <a:extLst>
                <a:ext uri="{FF2B5EF4-FFF2-40B4-BE49-F238E27FC236}">
                  <a16:creationId xmlns:a16="http://schemas.microsoft.com/office/drawing/2014/main" id="{73BEF2BD-085C-47C5-A382-A20937414ABC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03E5FA2-5218-45C9-8475-B227498DE2E6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课 堂 练 习 一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969250" y="6007100"/>
            <a:ext cx="219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5    6     6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6388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3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3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3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3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8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38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639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639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012" grpId="0" animBg="1" autoUpdateAnimBg="0"/>
      <p:bldP spid="639014" grpId="0" animBg="1" autoUpdateAnimBg="0"/>
      <p:bldP spid="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pSp>
        <p:nvGrpSpPr>
          <p:cNvPr id="641026" name="Group 2"/>
          <p:cNvGrpSpPr>
            <a:grpSpLocks/>
          </p:cNvGrpSpPr>
          <p:nvPr/>
        </p:nvGrpSpPr>
        <p:grpSpPr bwMode="auto">
          <a:xfrm>
            <a:off x="6753225" y="1408114"/>
            <a:ext cx="814388" cy="579437"/>
            <a:chOff x="3799" y="1002"/>
            <a:chExt cx="513" cy="365"/>
          </a:xfrm>
        </p:grpSpPr>
        <p:sp>
          <p:nvSpPr>
            <p:cNvPr id="42049" name="Line 3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50" name="Text Box 4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30" name="Rectangle 6"/>
          <p:cNvSpPr>
            <a:spLocks noChangeArrowheads="1"/>
          </p:cNvSpPr>
          <p:nvPr/>
        </p:nvSpPr>
        <p:spPr bwMode="auto">
          <a:xfrm>
            <a:off x="1809306" y="1267039"/>
            <a:ext cx="4374916" cy="5509200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void main(  )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{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,*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p,a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[7];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p=a;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for(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=0;i&lt;7;i++,p++)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  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scanf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("%d ",p);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("\n");</a:t>
            </a:r>
          </a:p>
          <a:p>
            <a:pPr algn="l" eaLnBrk="0" hangingPunct="0"/>
            <a:endParaRPr lang="en-US" altLang="zh-CN" sz="3200" b="1" dirty="0">
              <a:latin typeface="Times New Roman" pitchFamily="18" charset="0"/>
              <a:ea typeface="宋体" pitchFamily="2" charset="-122"/>
            </a:endParaRP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for(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=0;i&lt;7;i++,p++)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         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("%d ",*p);</a:t>
            </a:r>
          </a:p>
          <a:p>
            <a:pPr algn="l" eaLnBrk="0" hangingPunct="0"/>
            <a:r>
              <a:rPr lang="en-US" altLang="zh-CN" sz="3200" b="1" dirty="0"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641031" name="Text Box 7"/>
          <p:cNvSpPr txBox="1">
            <a:spLocks noChangeArrowheads="1"/>
          </p:cNvSpPr>
          <p:nvPr/>
        </p:nvSpPr>
        <p:spPr bwMode="auto">
          <a:xfrm>
            <a:off x="2321439" y="4611397"/>
            <a:ext cx="9877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p=a;</a:t>
            </a:r>
          </a:p>
        </p:txBody>
      </p:sp>
      <p:sp>
        <p:nvSpPr>
          <p:cNvPr id="41991" name="Text Box 8"/>
          <p:cNvSpPr txBox="1">
            <a:spLocks noChangeArrowheads="1"/>
          </p:cNvSpPr>
          <p:nvPr/>
        </p:nvSpPr>
        <p:spPr bwMode="auto">
          <a:xfrm>
            <a:off x="8140700" y="1314450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992" name="Text Box 9"/>
          <p:cNvSpPr txBox="1">
            <a:spLocks noChangeArrowheads="1"/>
          </p:cNvSpPr>
          <p:nvPr/>
        </p:nvSpPr>
        <p:spPr bwMode="auto">
          <a:xfrm>
            <a:off x="8140701" y="1782764"/>
            <a:ext cx="1847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993" name="Text Box 10"/>
          <p:cNvSpPr txBox="1">
            <a:spLocks noChangeArrowheads="1"/>
          </p:cNvSpPr>
          <p:nvPr/>
        </p:nvSpPr>
        <p:spPr bwMode="auto">
          <a:xfrm>
            <a:off x="8140700" y="2251075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994" name="Text Box 11"/>
          <p:cNvSpPr txBox="1">
            <a:spLocks noChangeArrowheads="1"/>
          </p:cNvSpPr>
          <p:nvPr/>
        </p:nvSpPr>
        <p:spPr bwMode="auto">
          <a:xfrm>
            <a:off x="8140700" y="2720975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995" name="Text Box 12"/>
          <p:cNvSpPr txBox="1">
            <a:spLocks noChangeArrowheads="1"/>
          </p:cNvSpPr>
          <p:nvPr/>
        </p:nvSpPr>
        <p:spPr bwMode="auto">
          <a:xfrm>
            <a:off x="8140700" y="3190875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996" name="Text Box 13"/>
          <p:cNvSpPr txBox="1">
            <a:spLocks noChangeArrowheads="1"/>
          </p:cNvSpPr>
          <p:nvPr/>
        </p:nvSpPr>
        <p:spPr bwMode="auto">
          <a:xfrm>
            <a:off x="8140701" y="3660776"/>
            <a:ext cx="1847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997" name="Text Box 14"/>
          <p:cNvSpPr txBox="1">
            <a:spLocks noChangeArrowheads="1"/>
          </p:cNvSpPr>
          <p:nvPr/>
        </p:nvSpPr>
        <p:spPr bwMode="auto">
          <a:xfrm>
            <a:off x="8140700" y="4129089"/>
            <a:ext cx="184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algn="l" eaLnBrk="1" hangingPunct="1"/>
            <a:endParaRPr lang="zh-CN" altLang="zh-CN" sz="3200"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641039" name="Group 15"/>
          <p:cNvGrpSpPr>
            <a:grpSpLocks/>
          </p:cNvGrpSpPr>
          <p:nvPr/>
        </p:nvGrpSpPr>
        <p:grpSpPr bwMode="auto">
          <a:xfrm>
            <a:off x="6781801" y="1235075"/>
            <a:ext cx="798513" cy="579438"/>
            <a:chOff x="3312" y="658"/>
            <a:chExt cx="503" cy="365"/>
          </a:xfrm>
        </p:grpSpPr>
        <p:sp>
          <p:nvSpPr>
            <p:cNvPr id="42047" name="Line 16"/>
            <p:cNvSpPr>
              <a:spLocks noChangeShapeType="1"/>
            </p:cNvSpPr>
            <p:nvPr/>
          </p:nvSpPr>
          <p:spPr bwMode="auto">
            <a:xfrm>
              <a:off x="3459" y="946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48" name="Text Box 17"/>
            <p:cNvSpPr txBox="1">
              <a:spLocks noChangeArrowheads="1"/>
            </p:cNvSpPr>
            <p:nvPr/>
          </p:nvSpPr>
          <p:spPr bwMode="auto">
            <a:xfrm>
              <a:off x="3312" y="65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</p:grpSp>
      <p:grpSp>
        <p:nvGrpSpPr>
          <p:cNvPr id="641042" name="Group 18"/>
          <p:cNvGrpSpPr>
            <a:grpSpLocks/>
          </p:cNvGrpSpPr>
          <p:nvPr/>
        </p:nvGrpSpPr>
        <p:grpSpPr bwMode="auto">
          <a:xfrm>
            <a:off x="6759575" y="4906964"/>
            <a:ext cx="814388" cy="579437"/>
            <a:chOff x="3298" y="2987"/>
            <a:chExt cx="513" cy="365"/>
          </a:xfrm>
        </p:grpSpPr>
        <p:sp>
          <p:nvSpPr>
            <p:cNvPr id="42045" name="Line 19"/>
            <p:cNvSpPr>
              <a:spLocks noChangeShapeType="1"/>
            </p:cNvSpPr>
            <p:nvPr/>
          </p:nvSpPr>
          <p:spPr bwMode="auto">
            <a:xfrm>
              <a:off x="3445" y="3229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2046" name="Text Box 20"/>
            <p:cNvSpPr txBox="1">
              <a:spLocks noChangeArrowheads="1"/>
            </p:cNvSpPr>
            <p:nvPr/>
          </p:nvSpPr>
          <p:spPr bwMode="auto">
            <a:xfrm>
              <a:off x="3298" y="2987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45" name="Rectangle 21"/>
          <p:cNvSpPr>
            <a:spLocks noChangeArrowheads="1"/>
          </p:cNvSpPr>
          <p:nvPr/>
        </p:nvSpPr>
        <p:spPr bwMode="auto">
          <a:xfrm>
            <a:off x="8094663" y="1477964"/>
            <a:ext cx="38694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</p:txBody>
      </p:sp>
      <p:grpSp>
        <p:nvGrpSpPr>
          <p:cNvPr id="641046" name="Group 22"/>
          <p:cNvGrpSpPr>
            <a:grpSpLocks/>
          </p:cNvGrpSpPr>
          <p:nvPr/>
        </p:nvGrpSpPr>
        <p:grpSpPr bwMode="auto">
          <a:xfrm>
            <a:off x="6759575" y="1803400"/>
            <a:ext cx="814388" cy="579438"/>
            <a:chOff x="3799" y="1002"/>
            <a:chExt cx="513" cy="365"/>
          </a:xfrm>
        </p:grpSpPr>
        <p:sp>
          <p:nvSpPr>
            <p:cNvPr id="42043" name="Line 23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44" name="Text Box 24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49" name="Rectangle 25"/>
          <p:cNvSpPr>
            <a:spLocks noChangeArrowheads="1"/>
          </p:cNvSpPr>
          <p:nvPr/>
        </p:nvSpPr>
        <p:spPr bwMode="auto">
          <a:xfrm>
            <a:off x="8104188" y="2020889"/>
            <a:ext cx="38694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8</a:t>
            </a:r>
          </a:p>
        </p:txBody>
      </p:sp>
      <p:grpSp>
        <p:nvGrpSpPr>
          <p:cNvPr id="641050" name="Group 26"/>
          <p:cNvGrpSpPr>
            <a:grpSpLocks/>
          </p:cNvGrpSpPr>
          <p:nvPr/>
        </p:nvGrpSpPr>
        <p:grpSpPr bwMode="auto">
          <a:xfrm>
            <a:off x="6740525" y="2335214"/>
            <a:ext cx="814388" cy="579437"/>
            <a:chOff x="3799" y="1002"/>
            <a:chExt cx="513" cy="365"/>
          </a:xfrm>
        </p:grpSpPr>
        <p:sp>
          <p:nvSpPr>
            <p:cNvPr id="42041" name="Line 27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042" name="Text Box 28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53" name="Rectangle 29"/>
          <p:cNvSpPr>
            <a:spLocks noChangeArrowheads="1"/>
          </p:cNvSpPr>
          <p:nvPr/>
        </p:nvSpPr>
        <p:spPr bwMode="auto">
          <a:xfrm>
            <a:off x="8120063" y="2552701"/>
            <a:ext cx="3429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7</a:t>
            </a:r>
          </a:p>
        </p:txBody>
      </p:sp>
      <p:grpSp>
        <p:nvGrpSpPr>
          <p:cNvPr id="641054" name="Group 30"/>
          <p:cNvGrpSpPr>
            <a:grpSpLocks/>
          </p:cNvGrpSpPr>
          <p:nvPr/>
        </p:nvGrpSpPr>
        <p:grpSpPr bwMode="auto">
          <a:xfrm>
            <a:off x="6740525" y="2870200"/>
            <a:ext cx="814388" cy="579438"/>
            <a:chOff x="3799" y="1002"/>
            <a:chExt cx="513" cy="365"/>
          </a:xfrm>
        </p:grpSpPr>
        <p:sp>
          <p:nvSpPr>
            <p:cNvPr id="42039" name="Line 31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040" name="Text Box 32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57" name="Rectangle 33"/>
          <p:cNvSpPr>
            <a:spLocks noChangeArrowheads="1"/>
          </p:cNvSpPr>
          <p:nvPr/>
        </p:nvSpPr>
        <p:spPr bwMode="auto">
          <a:xfrm>
            <a:off x="8132763" y="3063876"/>
            <a:ext cx="3429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6</a:t>
            </a:r>
          </a:p>
        </p:txBody>
      </p:sp>
      <p:grpSp>
        <p:nvGrpSpPr>
          <p:cNvPr id="641058" name="Group 34"/>
          <p:cNvGrpSpPr>
            <a:grpSpLocks/>
          </p:cNvGrpSpPr>
          <p:nvPr/>
        </p:nvGrpSpPr>
        <p:grpSpPr bwMode="auto">
          <a:xfrm>
            <a:off x="6740525" y="3405189"/>
            <a:ext cx="814388" cy="579437"/>
            <a:chOff x="3799" y="1002"/>
            <a:chExt cx="513" cy="365"/>
          </a:xfrm>
        </p:grpSpPr>
        <p:sp>
          <p:nvSpPr>
            <p:cNvPr id="42037" name="Line 35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038" name="Text Box 36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61" name="Rectangle 37"/>
          <p:cNvSpPr>
            <a:spLocks noChangeArrowheads="1"/>
          </p:cNvSpPr>
          <p:nvPr/>
        </p:nvSpPr>
        <p:spPr bwMode="auto">
          <a:xfrm>
            <a:off x="8158163" y="3606801"/>
            <a:ext cx="3429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3</a:t>
            </a:r>
          </a:p>
        </p:txBody>
      </p:sp>
      <p:grpSp>
        <p:nvGrpSpPr>
          <p:cNvPr id="641062" name="Group 38"/>
          <p:cNvGrpSpPr>
            <a:grpSpLocks/>
          </p:cNvGrpSpPr>
          <p:nvPr/>
        </p:nvGrpSpPr>
        <p:grpSpPr bwMode="auto">
          <a:xfrm>
            <a:off x="6767514" y="3902075"/>
            <a:ext cx="814387" cy="579438"/>
            <a:chOff x="3799" y="1002"/>
            <a:chExt cx="513" cy="365"/>
          </a:xfrm>
        </p:grpSpPr>
        <p:sp>
          <p:nvSpPr>
            <p:cNvPr id="42035" name="Line 39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036" name="Text Box 40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65" name="Rectangle 41"/>
          <p:cNvSpPr>
            <a:spLocks noChangeArrowheads="1"/>
          </p:cNvSpPr>
          <p:nvPr/>
        </p:nvSpPr>
        <p:spPr bwMode="auto">
          <a:xfrm>
            <a:off x="8158163" y="4068764"/>
            <a:ext cx="3429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grpSp>
        <p:nvGrpSpPr>
          <p:cNvPr id="641066" name="Group 42"/>
          <p:cNvGrpSpPr>
            <a:grpSpLocks/>
          </p:cNvGrpSpPr>
          <p:nvPr/>
        </p:nvGrpSpPr>
        <p:grpSpPr bwMode="auto">
          <a:xfrm>
            <a:off x="6740525" y="4424364"/>
            <a:ext cx="814388" cy="579437"/>
            <a:chOff x="3799" y="1002"/>
            <a:chExt cx="513" cy="365"/>
          </a:xfrm>
        </p:grpSpPr>
        <p:sp>
          <p:nvSpPr>
            <p:cNvPr id="42033" name="Line 43"/>
            <p:cNvSpPr>
              <a:spLocks noChangeShapeType="1"/>
            </p:cNvSpPr>
            <p:nvPr/>
          </p:nvSpPr>
          <p:spPr bwMode="auto">
            <a:xfrm>
              <a:off x="3946" y="1244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034" name="Text Box 44"/>
            <p:cNvSpPr txBox="1">
              <a:spLocks noChangeArrowheads="1"/>
            </p:cNvSpPr>
            <p:nvPr/>
          </p:nvSpPr>
          <p:spPr bwMode="auto">
            <a:xfrm>
              <a:off x="3799" y="1002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sp>
        <p:nvSpPr>
          <p:cNvPr id="641069" name="Rectangle 45"/>
          <p:cNvSpPr>
            <a:spLocks noChangeArrowheads="1"/>
          </p:cNvSpPr>
          <p:nvPr/>
        </p:nvSpPr>
        <p:spPr bwMode="auto">
          <a:xfrm>
            <a:off x="8158163" y="4572001"/>
            <a:ext cx="3429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555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grpSp>
        <p:nvGrpSpPr>
          <p:cNvPr id="641070" name="Group 46"/>
          <p:cNvGrpSpPr>
            <a:grpSpLocks/>
          </p:cNvGrpSpPr>
          <p:nvPr/>
        </p:nvGrpSpPr>
        <p:grpSpPr bwMode="auto">
          <a:xfrm>
            <a:off x="8991601" y="1384300"/>
            <a:ext cx="860425" cy="3721100"/>
            <a:chOff x="5172" y="1064"/>
            <a:chExt cx="542" cy="2344"/>
          </a:xfrm>
        </p:grpSpPr>
        <p:sp>
          <p:nvSpPr>
            <p:cNvPr id="42026" name="Text Box 47"/>
            <p:cNvSpPr txBox="1">
              <a:spLocks noChangeArrowheads="1"/>
            </p:cNvSpPr>
            <p:nvPr/>
          </p:nvSpPr>
          <p:spPr bwMode="auto">
            <a:xfrm>
              <a:off x="5172" y="1064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a[0]</a:t>
              </a:r>
            </a:p>
          </p:txBody>
        </p:sp>
        <p:sp>
          <p:nvSpPr>
            <p:cNvPr id="42027" name="Text Box 48"/>
            <p:cNvSpPr txBox="1">
              <a:spLocks noChangeArrowheads="1"/>
            </p:cNvSpPr>
            <p:nvPr/>
          </p:nvSpPr>
          <p:spPr bwMode="auto">
            <a:xfrm>
              <a:off x="5172" y="139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a[1]</a:t>
              </a:r>
            </a:p>
          </p:txBody>
        </p:sp>
        <p:sp>
          <p:nvSpPr>
            <p:cNvPr id="42028" name="Text Box 49"/>
            <p:cNvSpPr txBox="1">
              <a:spLocks noChangeArrowheads="1"/>
            </p:cNvSpPr>
            <p:nvPr/>
          </p:nvSpPr>
          <p:spPr bwMode="auto">
            <a:xfrm>
              <a:off x="5172" y="172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a[2]</a:t>
              </a:r>
            </a:p>
          </p:txBody>
        </p:sp>
        <p:sp>
          <p:nvSpPr>
            <p:cNvPr id="42029" name="Text Box 50"/>
            <p:cNvSpPr txBox="1">
              <a:spLocks noChangeArrowheads="1"/>
            </p:cNvSpPr>
            <p:nvPr/>
          </p:nvSpPr>
          <p:spPr bwMode="auto">
            <a:xfrm>
              <a:off x="5172" y="205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a[3]</a:t>
              </a:r>
            </a:p>
          </p:txBody>
        </p:sp>
        <p:sp>
          <p:nvSpPr>
            <p:cNvPr id="42030" name="Text Box 51"/>
            <p:cNvSpPr txBox="1">
              <a:spLocks noChangeArrowheads="1"/>
            </p:cNvSpPr>
            <p:nvPr/>
          </p:nvSpPr>
          <p:spPr bwMode="auto">
            <a:xfrm>
              <a:off x="5172" y="238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a[4]</a:t>
              </a:r>
            </a:p>
          </p:txBody>
        </p:sp>
        <p:sp>
          <p:nvSpPr>
            <p:cNvPr id="42031" name="Text Box 52"/>
            <p:cNvSpPr txBox="1">
              <a:spLocks noChangeArrowheads="1"/>
            </p:cNvSpPr>
            <p:nvPr/>
          </p:nvSpPr>
          <p:spPr bwMode="auto">
            <a:xfrm>
              <a:off x="5172" y="271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a[5]</a:t>
              </a:r>
            </a:p>
          </p:txBody>
        </p:sp>
        <p:sp>
          <p:nvSpPr>
            <p:cNvPr id="42032" name="Text Box 53"/>
            <p:cNvSpPr txBox="1">
              <a:spLocks noChangeArrowheads="1"/>
            </p:cNvSpPr>
            <p:nvPr/>
          </p:nvSpPr>
          <p:spPr bwMode="auto">
            <a:xfrm>
              <a:off x="5172" y="3043"/>
              <a:ext cx="5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>
                  <a:latin typeface="Times New Roman" pitchFamily="18" charset="0"/>
                  <a:ea typeface="宋体" pitchFamily="2" charset="-122"/>
                </a:rPr>
                <a:t>a[6]</a:t>
              </a:r>
            </a:p>
          </p:txBody>
        </p:sp>
      </p:grpSp>
      <p:grpSp>
        <p:nvGrpSpPr>
          <p:cNvPr id="641078" name="Group 54"/>
          <p:cNvGrpSpPr>
            <a:grpSpLocks/>
          </p:cNvGrpSpPr>
          <p:nvPr/>
        </p:nvGrpSpPr>
        <p:grpSpPr bwMode="auto">
          <a:xfrm>
            <a:off x="7577138" y="1520826"/>
            <a:ext cx="1433512" cy="4041775"/>
            <a:chOff x="3813" y="958"/>
            <a:chExt cx="903" cy="2594"/>
          </a:xfrm>
        </p:grpSpPr>
        <p:sp>
          <p:nvSpPr>
            <p:cNvPr id="42018" name="Rectangle 55"/>
            <p:cNvSpPr>
              <a:spLocks noChangeArrowheads="1"/>
            </p:cNvSpPr>
            <p:nvPr/>
          </p:nvSpPr>
          <p:spPr bwMode="auto">
            <a:xfrm>
              <a:off x="3815" y="958"/>
              <a:ext cx="900" cy="25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9" name="Line 56"/>
            <p:cNvSpPr>
              <a:spLocks noChangeShapeType="1"/>
            </p:cNvSpPr>
            <p:nvPr/>
          </p:nvSpPr>
          <p:spPr bwMode="auto">
            <a:xfrm>
              <a:off x="3813" y="1264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0" name="Line 57"/>
            <p:cNvSpPr>
              <a:spLocks noChangeShapeType="1"/>
            </p:cNvSpPr>
            <p:nvPr/>
          </p:nvSpPr>
          <p:spPr bwMode="auto">
            <a:xfrm>
              <a:off x="3813" y="1600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1" name="Line 58"/>
            <p:cNvSpPr>
              <a:spLocks noChangeShapeType="1"/>
            </p:cNvSpPr>
            <p:nvPr/>
          </p:nvSpPr>
          <p:spPr bwMode="auto">
            <a:xfrm>
              <a:off x="3813" y="1928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2" name="Line 59"/>
            <p:cNvSpPr>
              <a:spLocks noChangeShapeType="1"/>
            </p:cNvSpPr>
            <p:nvPr/>
          </p:nvSpPr>
          <p:spPr bwMode="auto">
            <a:xfrm>
              <a:off x="3813" y="2256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3" name="Line 60"/>
            <p:cNvSpPr>
              <a:spLocks noChangeShapeType="1"/>
            </p:cNvSpPr>
            <p:nvPr/>
          </p:nvSpPr>
          <p:spPr bwMode="auto">
            <a:xfrm>
              <a:off x="3813" y="2592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4" name="Line 61"/>
            <p:cNvSpPr>
              <a:spLocks noChangeShapeType="1"/>
            </p:cNvSpPr>
            <p:nvPr/>
          </p:nvSpPr>
          <p:spPr bwMode="auto">
            <a:xfrm>
              <a:off x="3813" y="2904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5" name="Line 62"/>
            <p:cNvSpPr>
              <a:spLocks noChangeShapeType="1"/>
            </p:cNvSpPr>
            <p:nvPr/>
          </p:nvSpPr>
          <p:spPr bwMode="auto">
            <a:xfrm>
              <a:off x="3816" y="3216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41087" name="Group 63"/>
          <p:cNvGrpSpPr>
            <a:grpSpLocks/>
          </p:cNvGrpSpPr>
          <p:nvPr/>
        </p:nvGrpSpPr>
        <p:grpSpPr bwMode="auto">
          <a:xfrm>
            <a:off x="6743700" y="1430339"/>
            <a:ext cx="814388" cy="579437"/>
            <a:chOff x="3298" y="2987"/>
            <a:chExt cx="513" cy="365"/>
          </a:xfrm>
        </p:grpSpPr>
        <p:sp>
          <p:nvSpPr>
            <p:cNvPr id="42016" name="Line 64"/>
            <p:cNvSpPr>
              <a:spLocks noChangeShapeType="1"/>
            </p:cNvSpPr>
            <p:nvPr/>
          </p:nvSpPr>
          <p:spPr bwMode="auto">
            <a:xfrm>
              <a:off x="3445" y="3229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017" name="Text Box 65"/>
            <p:cNvSpPr txBox="1">
              <a:spLocks noChangeArrowheads="1"/>
            </p:cNvSpPr>
            <p:nvPr/>
          </p:nvSpPr>
          <p:spPr bwMode="auto">
            <a:xfrm>
              <a:off x="3298" y="2987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3" y="264389"/>
            <a:ext cx="3102944" cy="978729"/>
            <a:chOff x="0" y="175102"/>
            <a:chExt cx="6411951" cy="769441"/>
          </a:xfrm>
        </p:grpSpPr>
        <p:sp>
          <p:nvSpPr>
            <p:cNvPr id="68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课 堂 练 习 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41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10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4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1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4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1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1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4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1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4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41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4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410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1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41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4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30" grpId="0" animBg="1" autoUpdateAnimBg="0"/>
      <p:bldP spid="641031" grpId="0" autoUpdateAnimBg="0"/>
      <p:bldP spid="641045" grpId="0" autoUpdateAnimBg="0"/>
      <p:bldP spid="641049" grpId="0" autoUpdateAnimBg="0"/>
      <p:bldP spid="641053" grpId="0" autoUpdateAnimBg="0"/>
      <p:bldP spid="641057" grpId="0" autoUpdateAnimBg="0"/>
      <p:bldP spid="641061" grpId="0" autoUpdateAnimBg="0"/>
      <p:bldP spid="641065" grpId="0" autoUpdateAnimBg="0"/>
      <p:bldP spid="641069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7" name="矩形 66"/>
          <p:cNvSpPr/>
          <p:nvPr/>
        </p:nvSpPr>
        <p:spPr>
          <a:xfrm>
            <a:off x="2920469" y="441267"/>
            <a:ext cx="8222452" cy="8284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zh-CN" sz="36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用指针变量引用法实现数组的逆序存放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77402" y="1269712"/>
            <a:ext cx="9145015" cy="503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数组首尾对应位置的元素逐一交换；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①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设两个指针变量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，初始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指向数组头，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q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指向数组尾；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②交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换指针变量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指向的元素；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后移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指向下一个元素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前移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指向上一个元素；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④重复②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③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p&gt;=q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为止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90AE640-2613-4337-A36B-8824653D14B0}"/>
              </a:ext>
            </a:extLst>
          </p:cNvPr>
          <p:cNvGrpSpPr/>
          <p:nvPr/>
        </p:nvGrpSpPr>
        <p:grpSpPr>
          <a:xfrm>
            <a:off x="1763" y="264389"/>
            <a:ext cx="2603214" cy="978729"/>
            <a:chOff x="0" y="175102"/>
            <a:chExt cx="6411951" cy="769441"/>
          </a:xfrm>
        </p:grpSpPr>
        <p:sp>
          <p:nvSpPr>
            <p:cNvPr id="6" name="矩形: 剪去单角 5">
              <a:extLst>
                <a:ext uri="{FF2B5EF4-FFF2-40B4-BE49-F238E27FC236}">
                  <a16:creationId xmlns:a16="http://schemas.microsoft.com/office/drawing/2014/main" id="{13A9701B-87E8-4B31-A84A-699217CEA7B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67E10D-84C8-435C-A7F6-F520F754260D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案 例 分 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33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02432" y="1429903"/>
            <a:ext cx="7381094" cy="5115246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main(  )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{	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a[10];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*p,*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q,temp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for(p=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a;p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&lt;a+10;p++)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d",p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);            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("after inverse:");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for(p=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a;p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&lt;a+10;p++)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("%d ",*p);       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return 0;</a:t>
            </a:r>
          </a:p>
          <a:p>
            <a:pPr>
              <a:lnSpc>
                <a:spcPct val="85000"/>
              </a:lnSpc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6591062" y="2532736"/>
            <a:ext cx="5127918" cy="2572664"/>
          </a:xfrm>
          <a:prstGeom prst="borderCallout2">
            <a:avLst>
              <a:gd name="adj1" fmla="val 28912"/>
              <a:gd name="adj2" fmla="val 88"/>
              <a:gd name="adj3" fmla="val 50841"/>
              <a:gd name="adj4" fmla="val -11218"/>
              <a:gd name="adj5" fmla="val 65284"/>
              <a:gd name="adj6" fmla="val -45359"/>
            </a:avLst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for(p=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a,q</a:t>
            </a:r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=a+9;p&lt;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q;p</a:t>
            </a:r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++,q--)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	temp=*p;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*p=*q;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*q=temp;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</p:txBody>
      </p:sp>
      <p:sp>
        <p:nvSpPr>
          <p:cNvPr id="6" name="矩形 5"/>
          <p:cNvSpPr/>
          <p:nvPr/>
        </p:nvSpPr>
        <p:spPr>
          <a:xfrm>
            <a:off x="2792876" y="520997"/>
            <a:ext cx="8126761" cy="71143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zh-CN" sz="36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用指针变量引用法实现数组的逆序存放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3" y="264389"/>
            <a:ext cx="2603214" cy="978729"/>
            <a:chOff x="0" y="175102"/>
            <a:chExt cx="6411951" cy="769441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案 例 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8418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2" y="264389"/>
            <a:ext cx="3097037" cy="978729"/>
            <a:chOff x="0" y="175102"/>
            <a:chExt cx="6411951" cy="769441"/>
          </a:xfrm>
        </p:grpSpPr>
        <p:sp>
          <p:nvSpPr>
            <p:cNvPr id="4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指针与字符串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914400" y="1546136"/>
            <a:ext cx="89281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用一维字符数组定义单字符串</a:t>
            </a:r>
          </a:p>
          <a:p>
            <a:pPr>
              <a:lnSpc>
                <a:spcPct val="200000"/>
              </a:lnSpc>
              <a:spcBef>
                <a:spcPct val="0"/>
              </a:spcBef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】char name[20]=“Smith Xia”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用字符指针定义单字符串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】char   *name;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034"/>
          <p:cNvSpPr>
            <a:spLocks noChangeArrowheads="1"/>
          </p:cNvSpPr>
          <p:nvPr/>
        </p:nvSpPr>
        <p:spPr bwMode="auto">
          <a:xfrm>
            <a:off x="5795963" y="4475959"/>
            <a:ext cx="2843212" cy="576262"/>
          </a:xfrm>
          <a:prstGeom prst="wedgeRoundRectCallout">
            <a:avLst>
              <a:gd name="adj1" fmla="val -84171"/>
              <a:gd name="adj2" fmla="val 48347"/>
              <a:gd name="adj3" fmla="val 16667"/>
            </a:avLst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zh-CN" altLang="en-US">
                <a:latin typeface="Arial" charset="0"/>
              </a:rPr>
              <a:t>定义字符指针</a:t>
            </a:r>
          </a:p>
        </p:txBody>
      </p:sp>
    </p:spTree>
    <p:extLst>
      <p:ext uri="{BB962C8B-B14F-4D97-AF65-F5344CB8AC3E}">
        <p14:creationId xmlns:p14="http://schemas.microsoft.com/office/powerpoint/2010/main" val="5695948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757488" y="260350"/>
            <a:ext cx="769620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0"/>
              </a:spcBef>
            </a:pP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】char *name=“Smith Xia”;       </a:t>
            </a:r>
          </a:p>
          <a:p>
            <a:pPr eaLnBrk="1" hangingPunct="1">
              <a:lnSpc>
                <a:spcPct val="180000"/>
              </a:lnSpc>
              <a:spcBef>
                <a:spcPct val="0"/>
              </a:spcBef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等价于  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char *name;</a:t>
            </a:r>
          </a:p>
          <a:p>
            <a:pPr eaLnBrk="1" hangingPunct="1">
              <a:lnSpc>
                <a:spcPct val="180000"/>
              </a:lnSpc>
              <a:spcBef>
                <a:spcPct val="0"/>
              </a:spcBef>
            </a:pP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     name=“Smith Xia”;      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7942263" y="1484313"/>
            <a:ext cx="3241675" cy="2590800"/>
          </a:xfrm>
          <a:prstGeom prst="wedgeRectCallout">
            <a:avLst>
              <a:gd name="adj1" fmla="val -70569"/>
              <a:gd name="adj2" fmla="val -1653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/>
              <a:t>定义一个指向字符的指针变量，在定义的同时将字符串的首地址赋予给指针变量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757488" y="3933825"/>
            <a:ext cx="7767637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0"/>
              </a:spcBef>
            </a:pP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以下的表示方法正确吗？</a:t>
            </a:r>
          </a:p>
          <a:p>
            <a:pPr eaLnBrk="1" hangingPunct="1">
              <a:lnSpc>
                <a:spcPct val="180000"/>
              </a:lnSpc>
              <a:spcBef>
                <a:spcPct val="0"/>
              </a:spcBef>
            </a:pP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char *name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80000"/>
              </a:lnSpc>
              <a:spcBef>
                <a:spcPct val="0"/>
              </a:spcBef>
            </a:pP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            *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en-US">
                <a:ea typeface="微软雅黑" panose="020B0503020204020204" pitchFamily="34" charset="-122"/>
                <a:cs typeface="Times New Roman" panose="02020603050405020304" pitchFamily="18" charset="0"/>
              </a:rPr>
              <a:t>＝“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Smith Xia”;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0029825" y="5084763"/>
            <a:ext cx="1152525" cy="576262"/>
          </a:xfrm>
          <a:prstGeom prst="wedgeRoundRectCallout">
            <a:avLst>
              <a:gd name="adj1" fmla="val -116255"/>
              <a:gd name="adj2" fmla="val 131819"/>
              <a:gd name="adj3" fmla="val 16667"/>
            </a:avLst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zh-CN" altLang="en-US">
                <a:latin typeface="Arial" charset="0"/>
              </a:rPr>
              <a:t>错误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3" y="264389"/>
            <a:ext cx="2271538" cy="978729"/>
            <a:chOff x="0" y="175102"/>
            <a:chExt cx="6411951" cy="769441"/>
          </a:xfrm>
        </p:grpSpPr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 algn="ctr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思   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40148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0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638546"/>
              </p:ext>
            </p:extLst>
          </p:nvPr>
        </p:nvGraphicFramePr>
        <p:xfrm>
          <a:off x="2578100" y="761207"/>
          <a:ext cx="8839200" cy="504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位图图像" r:id="rId3" imgW="2800741" imgH="1095528" progId="Paint.Picture">
                  <p:embed/>
                </p:oleObj>
              </mc:Choice>
              <mc:Fallback>
                <p:oleObj name="位图图像" r:id="rId3" imgW="2800741" imgH="109552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761207"/>
                        <a:ext cx="8839200" cy="504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ine 2052"/>
          <p:cNvSpPr>
            <a:spLocks noChangeShapeType="1"/>
          </p:cNvSpPr>
          <p:nvPr/>
        </p:nvSpPr>
        <p:spPr bwMode="auto">
          <a:xfrm>
            <a:off x="4559300" y="2920207"/>
            <a:ext cx="1219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Line 2054"/>
          <p:cNvSpPr>
            <a:spLocks noChangeShapeType="1"/>
          </p:cNvSpPr>
          <p:nvPr/>
        </p:nvSpPr>
        <p:spPr bwMode="auto">
          <a:xfrm>
            <a:off x="8639175" y="3985419"/>
            <a:ext cx="216058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2055"/>
          <p:cNvSpPr>
            <a:spLocks noChangeShapeType="1"/>
          </p:cNvSpPr>
          <p:nvPr/>
        </p:nvSpPr>
        <p:spPr bwMode="auto">
          <a:xfrm>
            <a:off x="9158288" y="4520407"/>
            <a:ext cx="16557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2056"/>
          <p:cNvSpPr>
            <a:spLocks noChangeShapeType="1"/>
          </p:cNvSpPr>
          <p:nvPr/>
        </p:nvSpPr>
        <p:spPr bwMode="auto">
          <a:xfrm>
            <a:off x="8653463" y="5066507"/>
            <a:ext cx="2160587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3" y="264389"/>
            <a:ext cx="2271538" cy="978729"/>
            <a:chOff x="0" y="175102"/>
            <a:chExt cx="6411951" cy="769441"/>
          </a:xfrm>
        </p:grpSpPr>
        <p:sp>
          <p:nvSpPr>
            <p:cNvPr id="8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 algn="ctr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练习题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5190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594016"/>
              </p:ext>
            </p:extLst>
          </p:nvPr>
        </p:nvGraphicFramePr>
        <p:xfrm>
          <a:off x="2489200" y="1976438"/>
          <a:ext cx="716280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位图图像" r:id="rId3" imgW="857143" imgH="361809" progId="Paint.Picture">
                  <p:embed/>
                </p:oleObj>
              </mc:Choice>
              <mc:Fallback>
                <p:oleObj name="位图图像" r:id="rId3" imgW="857143" imgH="36180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1976438"/>
                        <a:ext cx="7162800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3" y="264389"/>
            <a:ext cx="2271538" cy="978729"/>
            <a:chOff x="0" y="175102"/>
            <a:chExt cx="6411951" cy="769441"/>
          </a:xfrm>
        </p:grpSpPr>
        <p:sp>
          <p:nvSpPr>
            <p:cNvPr id="5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 algn="ctr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运行结果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823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2" y="264389"/>
            <a:ext cx="2881137" cy="978729"/>
            <a:chOff x="0" y="175102"/>
            <a:chExt cx="6411951" cy="769441"/>
          </a:xfrm>
        </p:grpSpPr>
        <p:sp>
          <p:nvSpPr>
            <p:cNvPr id="3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 algn="ctr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指针数组</a:t>
              </a:r>
            </a:p>
          </p:txBody>
        </p:sp>
      </p:grp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673100" y="1473200"/>
            <a:ext cx="10680700" cy="4525963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a[10];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是一个数组，它有10个元素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每个元素的类型都是整型</a:t>
            </a:r>
            <a:endParaRPr lang="en-US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char *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[10];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是一个数组，它有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每个元素的类型都是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，可以处理一个字符串</a:t>
            </a:r>
            <a:endParaRPr lang="en-US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12030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585944"/>
              </p:ext>
            </p:extLst>
          </p:nvPr>
        </p:nvGraphicFramePr>
        <p:xfrm>
          <a:off x="2005013" y="1638300"/>
          <a:ext cx="8129587" cy="496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7" name="Visio" r:id="rId3" imgW="2484755" imgH="1940560" progId="Visio.Drawing.11">
                  <p:embed/>
                </p:oleObj>
              </mc:Choice>
              <mc:Fallback>
                <p:oleObj name="Visio" r:id="rId3" imgW="2484755" imgH="1940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1638300"/>
                        <a:ext cx="8129587" cy="496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073400" y="344488"/>
            <a:ext cx="7581900" cy="181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多个指针组成的数组，如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char *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pname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[10];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如对指针数组做初始化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指向结果如图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B277ED3-69A4-47C7-BDD0-2F5DFD52EDF5}"/>
              </a:ext>
            </a:extLst>
          </p:cNvPr>
          <p:cNvGrpSpPr/>
          <p:nvPr/>
        </p:nvGrpSpPr>
        <p:grpSpPr>
          <a:xfrm>
            <a:off x="1762" y="264389"/>
            <a:ext cx="2881137" cy="978729"/>
            <a:chOff x="0" y="175102"/>
            <a:chExt cx="6411951" cy="769441"/>
          </a:xfrm>
        </p:grpSpPr>
        <p:sp>
          <p:nvSpPr>
            <p:cNvPr id="5" name="矩形: 剪去单角 6">
              <a:extLst>
                <a:ext uri="{FF2B5EF4-FFF2-40B4-BE49-F238E27FC236}">
                  <a16:creationId xmlns:a16="http://schemas.microsoft.com/office/drawing/2014/main" id="{7D915009-8915-4F58-8FEE-061F382A90AF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0360C32-D53D-43BB-908A-A87DEAF4697C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 algn="ctr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指针数组用法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13167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6"/>
          <p:cNvSpPr txBox="1">
            <a:spLocks/>
          </p:cNvSpPr>
          <p:nvPr/>
        </p:nvSpPr>
        <p:spPr>
          <a:xfrm>
            <a:off x="107950" y="506413"/>
            <a:ext cx="6000750" cy="57800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”Sun”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的首字符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’S’,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[2]+1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就指向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’u’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[2]+1)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就是访问字符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’u’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[2][1]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等价。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使用指针数组打印多个字符串</a:t>
            </a:r>
          </a:p>
          <a:p>
            <a:pPr marL="265430" lvl="1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10;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</a:p>
          <a:p>
            <a:pPr marL="265430" lvl="1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puts(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    /*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是每个字符串的首地址*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23165"/>
              </p:ext>
            </p:extLst>
          </p:nvPr>
        </p:nvGraphicFramePr>
        <p:xfrm>
          <a:off x="5998973" y="1176288"/>
          <a:ext cx="6089715" cy="470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Visio" r:id="rId3" imgW="2484755" imgH="1940560" progId="Visio.Drawing.11">
                  <p:embed/>
                </p:oleObj>
              </mc:Choice>
              <mc:Fallback>
                <p:oleObj name="Visio" r:id="rId3" imgW="2484755" imgH="1940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8973" y="1176288"/>
                        <a:ext cx="6089715" cy="470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294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/>
        </p:nvSpPr>
        <p:spPr>
          <a:xfrm>
            <a:off x="1855673" y="1478435"/>
            <a:ext cx="10684716" cy="3936437"/>
          </a:xfrm>
          <a:prstGeom prst="parallelogram">
            <a:avLst/>
          </a:prstGeom>
          <a:noFill/>
          <a:ln>
            <a:solidFill>
              <a:srgbClr val="9D88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454318" y="2413413"/>
            <a:ext cx="2953786" cy="165064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2616402" y="3878701"/>
            <a:ext cx="1056117" cy="576064"/>
          </a:xfrm>
          <a:prstGeom prst="parallelogram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3302644" y="2658949"/>
            <a:ext cx="65271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spc="800" dirty="0">
                <a:latin typeface="微软雅黑" panose="020B0503020204020204" charset="-122"/>
                <a:ea typeface="微软雅黑" panose="020B0503020204020204" charset="-122"/>
              </a:rPr>
              <a:t>综合案例</a:t>
            </a:r>
          </a:p>
        </p:txBody>
      </p:sp>
      <p:sp>
        <p:nvSpPr>
          <p:cNvPr id="19" name="TextBox 13"/>
          <p:cNvSpPr txBox="1"/>
          <p:nvPr/>
        </p:nvSpPr>
        <p:spPr>
          <a:xfrm>
            <a:off x="699111" y="2882796"/>
            <a:ext cx="241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SECTION 07</a:t>
            </a:r>
          </a:p>
        </p:txBody>
      </p:sp>
      <p:pic>
        <p:nvPicPr>
          <p:cNvPr id="34" name="图片 33" descr="E:\素材\春\e240c0b8487713bec91b1f64504ed526.pnge240c0b8487713bec91b1f64504ed5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8844915" y="1464310"/>
            <a:ext cx="3370580" cy="51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51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7" grpId="0"/>
      <p:bldP spid="1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3" y="264389"/>
            <a:ext cx="2843037" cy="978729"/>
            <a:chOff x="0" y="175102"/>
            <a:chExt cx="6411951" cy="769441"/>
          </a:xfrm>
        </p:grpSpPr>
        <p:sp>
          <p:nvSpPr>
            <p:cNvPr id="68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综合案例一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939800" y="1129564"/>
            <a:ext cx="102362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char a[5]={‘A’,‘B’,‘C’,‘D’,‘E’}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编写程序，按以下形式循环输出字符数组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中的各字符。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 C  D  E  A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  D  E  A  B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  E  A  B  C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  A  B  C  D</a:t>
            </a: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 B  C  D  E</a:t>
            </a:r>
          </a:p>
        </p:txBody>
      </p:sp>
    </p:spTree>
    <p:extLst>
      <p:ext uri="{BB962C8B-B14F-4D97-AF65-F5344CB8AC3E}">
        <p14:creationId xmlns:p14="http://schemas.microsoft.com/office/powerpoint/2010/main" val="3329446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35112" y="101600"/>
            <a:ext cx="33416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#include&lt;</a:t>
            </a:r>
            <a:r>
              <a:rPr lang="en-US" altLang="zh-CN" sz="2800" dirty="0" err="1">
                <a:cs typeface="Times New Roman" panose="02020603050405020304" pitchFamily="18" charset="0"/>
              </a:rPr>
              <a:t>stdio.h</a:t>
            </a:r>
            <a:r>
              <a:rPr lang="en-US" altLang="zh-CN" sz="2800" dirty="0">
                <a:cs typeface="Times New Roman" panose="02020603050405020304" pitchFamily="18" charset="0"/>
              </a:rPr>
              <a:t>&gt;</a:t>
            </a:r>
          </a:p>
          <a:p>
            <a:pPr algn="l" eaLnBrk="1" hangingPunct="1">
              <a:buFont typeface="Wingdings" pitchFamily="2" charset="2"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void  main( )</a:t>
            </a:r>
            <a:endParaRPr lang="en-US" altLang="zh-CN" sz="2800" dirty="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17675" y="1019175"/>
            <a:ext cx="3602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D92517"/>
                </a:solidFill>
                <a:cs typeface="Times New Roman" panose="02020603050405020304" pitchFamily="18" charset="0"/>
              </a:rPr>
              <a:t> {</a:t>
            </a:r>
            <a:r>
              <a:rPr lang="en-US" altLang="zh-CN" sz="2800">
                <a:solidFill>
                  <a:srgbClr val="FF990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cs typeface="Times New Roman" panose="02020603050405020304" pitchFamily="18" charset="0"/>
              </a:rPr>
              <a:t>int i,j,t;       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462212" y="1450975"/>
            <a:ext cx="3667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char a[6]=“ABCDE”;       </a:t>
            </a:r>
            <a:endParaRPr lang="en-US" altLang="zh-CN" sz="2800" dirty="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436812" y="1925637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for(</a:t>
            </a:r>
            <a:r>
              <a:rPr lang="en-US" altLang="zh-CN" sz="2800" dirty="0" err="1"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cs typeface="Times New Roman" panose="02020603050405020304" pitchFamily="18" charset="0"/>
              </a:rPr>
              <a:t>=0;i&lt;5;i++)</a:t>
            </a:r>
            <a:r>
              <a:rPr lang="en-US" altLang="zh-CN" sz="2800" dirty="0">
                <a:solidFill>
                  <a:srgbClr val="FF9900"/>
                </a:solidFill>
                <a:cs typeface="Times New Roman" panose="02020603050405020304" pitchFamily="18" charset="0"/>
              </a:rPr>
              <a:t>         </a:t>
            </a:r>
            <a:endParaRPr lang="en-US" altLang="zh-CN" sz="2800" dirty="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533650" y="2425700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cs typeface="Times New Roman" panose="02020603050405020304" pitchFamily="18" charset="0"/>
              </a:rPr>
              <a:t>{  </a:t>
            </a:r>
            <a:r>
              <a:rPr lang="en-US" altLang="zh-CN" sz="2800">
                <a:cs typeface="Times New Roman" panose="02020603050405020304" pitchFamily="18" charset="0"/>
              </a:rPr>
              <a:t>t=a[0];           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962275" y="2998787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 for(j=0;j&lt;4;j++)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62337" y="3570287"/>
            <a:ext cx="3071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a[j]=a[j+1];           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033712" y="407035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 a[4]=t;           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33712" y="464185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 for(j=0;j&lt;5;j++)             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533775" y="521335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 printf(“%c”,a[j]);           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2819400" y="578485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cs typeface="Times New Roman" panose="02020603050405020304" pitchFamily="18" charset="0"/>
              </a:rPr>
              <a:t>  printf(“\n”);  </a:t>
            </a:r>
            <a:r>
              <a:rPr lang="en-US" altLang="zh-CN" sz="2800">
                <a:solidFill>
                  <a:srgbClr val="0033CC"/>
                </a:solidFill>
                <a:cs typeface="Times New Roman" panose="02020603050405020304" pitchFamily="18" charset="0"/>
              </a:rPr>
              <a:t>}</a:t>
            </a:r>
            <a:endParaRPr lang="en-US" altLang="zh-CN" sz="2800">
              <a:solidFill>
                <a:srgbClr val="D92517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239962" y="6165850"/>
            <a:ext cx="3257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D92517"/>
                </a:solidFill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7769225" y="5302250"/>
            <a:ext cx="2728912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000">
                <a:ea typeface="宋体" charset="-122"/>
                <a:cs typeface="Times New Roman" panose="02020603050405020304" pitchFamily="18" charset="0"/>
              </a:rPr>
              <a:t>A    B     C     D     E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7688262" y="974725"/>
            <a:ext cx="273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A    B     C    D    E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7688262" y="1982787"/>
            <a:ext cx="26654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B     C    D    E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7689850" y="2854325"/>
            <a:ext cx="2447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C     D    E    A     B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7732712" y="3646487"/>
            <a:ext cx="269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D    E     A    B     C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7732712" y="4438650"/>
            <a:ext cx="25479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E    A     B     C     D</a:t>
            </a:r>
          </a:p>
        </p:txBody>
      </p:sp>
      <p:grpSp>
        <p:nvGrpSpPr>
          <p:cNvPr id="20" name="Group 23"/>
          <p:cNvGrpSpPr>
            <a:grpSpLocks/>
          </p:cNvGrpSpPr>
          <p:nvPr/>
        </p:nvGrpSpPr>
        <p:grpSpPr bwMode="auto">
          <a:xfrm>
            <a:off x="7847012" y="903287"/>
            <a:ext cx="288925" cy="287338"/>
            <a:chOff x="0" y="0"/>
            <a:chExt cx="182" cy="181"/>
          </a:xfrm>
        </p:grpSpPr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8335962" y="903287"/>
            <a:ext cx="288925" cy="287338"/>
            <a:chOff x="0" y="0"/>
            <a:chExt cx="182" cy="181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8769350" y="903287"/>
            <a:ext cx="288925" cy="287338"/>
            <a:chOff x="0" y="0"/>
            <a:chExt cx="182" cy="181"/>
          </a:xfrm>
        </p:grpSpPr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2"/>
          <p:cNvGrpSpPr>
            <a:grpSpLocks/>
          </p:cNvGrpSpPr>
          <p:nvPr/>
        </p:nvGrpSpPr>
        <p:grpSpPr bwMode="auto">
          <a:xfrm>
            <a:off x="9272587" y="903287"/>
            <a:ext cx="288925" cy="287338"/>
            <a:chOff x="0" y="0"/>
            <a:chExt cx="182" cy="181"/>
          </a:xfrm>
        </p:grpSpPr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6"/>
          <p:cNvGrpSpPr>
            <a:grpSpLocks/>
          </p:cNvGrpSpPr>
          <p:nvPr/>
        </p:nvGrpSpPr>
        <p:grpSpPr bwMode="auto">
          <a:xfrm>
            <a:off x="8062912" y="1911350"/>
            <a:ext cx="288925" cy="287337"/>
            <a:chOff x="0" y="0"/>
            <a:chExt cx="182" cy="181"/>
          </a:xfrm>
        </p:grpSpPr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40"/>
          <p:cNvGrpSpPr>
            <a:grpSpLocks/>
          </p:cNvGrpSpPr>
          <p:nvPr/>
        </p:nvGrpSpPr>
        <p:grpSpPr bwMode="auto">
          <a:xfrm>
            <a:off x="8551862" y="1911350"/>
            <a:ext cx="288925" cy="287337"/>
            <a:chOff x="0" y="0"/>
            <a:chExt cx="182" cy="181"/>
          </a:xfrm>
        </p:grpSpPr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4"/>
          <p:cNvGrpSpPr>
            <a:grpSpLocks/>
          </p:cNvGrpSpPr>
          <p:nvPr/>
        </p:nvGrpSpPr>
        <p:grpSpPr bwMode="auto">
          <a:xfrm>
            <a:off x="8985250" y="1911350"/>
            <a:ext cx="288925" cy="287337"/>
            <a:chOff x="0" y="0"/>
            <a:chExt cx="182" cy="181"/>
          </a:xfrm>
        </p:grpSpPr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Group 48"/>
          <p:cNvGrpSpPr>
            <a:grpSpLocks/>
          </p:cNvGrpSpPr>
          <p:nvPr/>
        </p:nvGrpSpPr>
        <p:grpSpPr bwMode="auto">
          <a:xfrm>
            <a:off x="9488487" y="1911350"/>
            <a:ext cx="288925" cy="287337"/>
            <a:chOff x="0" y="0"/>
            <a:chExt cx="182" cy="181"/>
          </a:xfrm>
        </p:grpSpPr>
        <p:sp>
          <p:nvSpPr>
            <p:cNvPr id="49" name="Line 49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Group 52"/>
          <p:cNvGrpSpPr>
            <a:grpSpLocks/>
          </p:cNvGrpSpPr>
          <p:nvPr/>
        </p:nvGrpSpPr>
        <p:grpSpPr bwMode="auto">
          <a:xfrm>
            <a:off x="7977187" y="2774950"/>
            <a:ext cx="288925" cy="287337"/>
            <a:chOff x="0" y="0"/>
            <a:chExt cx="182" cy="181"/>
          </a:xfrm>
        </p:grpSpPr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54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55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Group 56"/>
          <p:cNvGrpSpPr>
            <a:grpSpLocks/>
          </p:cNvGrpSpPr>
          <p:nvPr/>
        </p:nvGrpSpPr>
        <p:grpSpPr bwMode="auto">
          <a:xfrm>
            <a:off x="8466137" y="2774950"/>
            <a:ext cx="288925" cy="287337"/>
            <a:chOff x="0" y="0"/>
            <a:chExt cx="182" cy="181"/>
          </a:xfrm>
        </p:grpSpPr>
        <p:sp>
          <p:nvSpPr>
            <p:cNvPr id="57" name="Line 57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Line 58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Group 60"/>
          <p:cNvGrpSpPr>
            <a:grpSpLocks/>
          </p:cNvGrpSpPr>
          <p:nvPr/>
        </p:nvGrpSpPr>
        <p:grpSpPr bwMode="auto">
          <a:xfrm>
            <a:off x="8899525" y="2774950"/>
            <a:ext cx="288925" cy="287337"/>
            <a:chOff x="0" y="0"/>
            <a:chExt cx="182" cy="181"/>
          </a:xfrm>
        </p:grpSpPr>
        <p:sp>
          <p:nvSpPr>
            <p:cNvPr id="61" name="Line 61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Line 62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Line 63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 64"/>
          <p:cNvGrpSpPr>
            <a:grpSpLocks/>
          </p:cNvGrpSpPr>
          <p:nvPr/>
        </p:nvGrpSpPr>
        <p:grpSpPr bwMode="auto">
          <a:xfrm>
            <a:off x="9402762" y="2774950"/>
            <a:ext cx="288925" cy="287337"/>
            <a:chOff x="0" y="0"/>
            <a:chExt cx="182" cy="181"/>
          </a:xfrm>
        </p:grpSpPr>
        <p:sp>
          <p:nvSpPr>
            <p:cNvPr id="65" name="Line 65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Line 66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Line 67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Group 68"/>
          <p:cNvGrpSpPr>
            <a:grpSpLocks/>
          </p:cNvGrpSpPr>
          <p:nvPr/>
        </p:nvGrpSpPr>
        <p:grpSpPr bwMode="auto">
          <a:xfrm>
            <a:off x="7991475" y="3567112"/>
            <a:ext cx="288925" cy="287338"/>
            <a:chOff x="0" y="0"/>
            <a:chExt cx="182" cy="181"/>
          </a:xfrm>
        </p:grpSpPr>
        <p:sp>
          <p:nvSpPr>
            <p:cNvPr id="69" name="Line 69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Line 70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Line 71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2" name="Group 72"/>
          <p:cNvGrpSpPr>
            <a:grpSpLocks/>
          </p:cNvGrpSpPr>
          <p:nvPr/>
        </p:nvGrpSpPr>
        <p:grpSpPr bwMode="auto">
          <a:xfrm>
            <a:off x="8480425" y="3567112"/>
            <a:ext cx="288925" cy="287338"/>
            <a:chOff x="0" y="0"/>
            <a:chExt cx="182" cy="181"/>
          </a:xfrm>
        </p:grpSpPr>
        <p:sp>
          <p:nvSpPr>
            <p:cNvPr id="73" name="Line 73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Line 74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Line 75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Group 76"/>
          <p:cNvGrpSpPr>
            <a:grpSpLocks/>
          </p:cNvGrpSpPr>
          <p:nvPr/>
        </p:nvGrpSpPr>
        <p:grpSpPr bwMode="auto">
          <a:xfrm>
            <a:off x="8913812" y="3567112"/>
            <a:ext cx="288925" cy="287338"/>
            <a:chOff x="0" y="0"/>
            <a:chExt cx="182" cy="181"/>
          </a:xfrm>
        </p:grpSpPr>
        <p:sp>
          <p:nvSpPr>
            <p:cNvPr id="77" name="Line 77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78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Line 79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Group 80"/>
          <p:cNvGrpSpPr>
            <a:grpSpLocks/>
          </p:cNvGrpSpPr>
          <p:nvPr/>
        </p:nvGrpSpPr>
        <p:grpSpPr bwMode="auto">
          <a:xfrm>
            <a:off x="9417050" y="3567112"/>
            <a:ext cx="288925" cy="287338"/>
            <a:chOff x="0" y="0"/>
            <a:chExt cx="182" cy="181"/>
          </a:xfrm>
        </p:grpSpPr>
        <p:sp>
          <p:nvSpPr>
            <p:cNvPr id="81" name="Line 81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Line 82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Group 84"/>
          <p:cNvGrpSpPr>
            <a:grpSpLocks/>
          </p:cNvGrpSpPr>
          <p:nvPr/>
        </p:nvGrpSpPr>
        <p:grpSpPr bwMode="auto">
          <a:xfrm>
            <a:off x="7991475" y="4359275"/>
            <a:ext cx="288925" cy="287337"/>
            <a:chOff x="0" y="0"/>
            <a:chExt cx="182" cy="181"/>
          </a:xfrm>
        </p:grpSpPr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86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Line 87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Group 88"/>
          <p:cNvGrpSpPr>
            <a:grpSpLocks/>
          </p:cNvGrpSpPr>
          <p:nvPr/>
        </p:nvGrpSpPr>
        <p:grpSpPr bwMode="auto">
          <a:xfrm>
            <a:off x="8480425" y="4359275"/>
            <a:ext cx="288925" cy="287337"/>
            <a:chOff x="0" y="0"/>
            <a:chExt cx="182" cy="181"/>
          </a:xfrm>
        </p:grpSpPr>
        <p:sp>
          <p:nvSpPr>
            <p:cNvPr id="89" name="Line 89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Line 90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Line 91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2" name="Group 92"/>
          <p:cNvGrpSpPr>
            <a:grpSpLocks/>
          </p:cNvGrpSpPr>
          <p:nvPr/>
        </p:nvGrpSpPr>
        <p:grpSpPr bwMode="auto">
          <a:xfrm>
            <a:off x="8913812" y="4359275"/>
            <a:ext cx="288925" cy="287337"/>
            <a:chOff x="0" y="0"/>
            <a:chExt cx="182" cy="181"/>
          </a:xfrm>
        </p:grpSpPr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Line 94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Line 95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Group 96"/>
          <p:cNvGrpSpPr>
            <a:grpSpLocks/>
          </p:cNvGrpSpPr>
          <p:nvPr/>
        </p:nvGrpSpPr>
        <p:grpSpPr bwMode="auto">
          <a:xfrm>
            <a:off x="9417050" y="4359275"/>
            <a:ext cx="288925" cy="287337"/>
            <a:chOff x="0" y="0"/>
            <a:chExt cx="182" cy="181"/>
          </a:xfrm>
        </p:grpSpPr>
        <p:sp>
          <p:nvSpPr>
            <p:cNvPr id="97" name="Line 97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Line 99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0" name="Group 116"/>
          <p:cNvGrpSpPr>
            <a:grpSpLocks/>
          </p:cNvGrpSpPr>
          <p:nvPr/>
        </p:nvGrpSpPr>
        <p:grpSpPr bwMode="auto">
          <a:xfrm>
            <a:off x="7472362" y="903287"/>
            <a:ext cx="288925" cy="287338"/>
            <a:chOff x="0" y="0"/>
            <a:chExt cx="182" cy="181"/>
          </a:xfrm>
        </p:grpSpPr>
        <p:sp>
          <p:nvSpPr>
            <p:cNvPr id="101" name="Line 117"/>
            <p:cNvSpPr>
              <a:spLocks noChangeShapeType="1"/>
            </p:cNvSpPr>
            <p:nvPr/>
          </p:nvSpPr>
          <p:spPr bwMode="auto">
            <a:xfrm>
              <a:off x="173" y="0"/>
              <a:ext cx="0" cy="1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Line 118"/>
            <p:cNvSpPr>
              <a:spLocks noChangeShapeType="1"/>
            </p:cNvSpPr>
            <p:nvPr/>
          </p:nvSpPr>
          <p:spPr bwMode="auto">
            <a:xfrm>
              <a:off x="0" y="9"/>
              <a:ext cx="18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Line 119"/>
            <p:cNvSpPr>
              <a:spLocks noChangeShapeType="1"/>
            </p:cNvSpPr>
            <p:nvPr/>
          </p:nvSpPr>
          <p:spPr bwMode="auto">
            <a:xfrm>
              <a:off x="10" y="0"/>
              <a:ext cx="0" cy="18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4" name="Group 122"/>
          <p:cNvGrpSpPr>
            <a:grpSpLocks/>
          </p:cNvGrpSpPr>
          <p:nvPr/>
        </p:nvGrpSpPr>
        <p:grpSpPr bwMode="auto">
          <a:xfrm>
            <a:off x="6392862" y="687387"/>
            <a:ext cx="576263" cy="796925"/>
            <a:chOff x="0" y="0"/>
            <a:chExt cx="363" cy="502"/>
          </a:xfrm>
        </p:grpSpPr>
        <p:sp>
          <p:nvSpPr>
            <p:cNvPr id="105" name="Text Box 120"/>
            <p:cNvSpPr txBox="1">
              <a:spLocks noChangeArrowheads="1"/>
            </p:cNvSpPr>
            <p:nvPr/>
          </p:nvSpPr>
          <p:spPr bwMode="auto">
            <a:xfrm>
              <a:off x="0" y="250"/>
              <a:ext cx="363" cy="252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endParaRPr lang="zh-CN" altLang="zh-CN" sz="2000">
                <a:cs typeface="Times New Roman" panose="02020603050405020304" pitchFamily="18" charset="0"/>
              </a:endParaRPr>
            </a:p>
          </p:txBody>
        </p:sp>
        <p:sp>
          <p:nvSpPr>
            <p:cNvPr id="106" name="Text Box 121"/>
            <p:cNvSpPr txBox="1">
              <a:spLocks noChangeArrowheads="1"/>
            </p:cNvSpPr>
            <p:nvPr/>
          </p:nvSpPr>
          <p:spPr bwMode="auto">
            <a:xfrm>
              <a:off x="90" y="0"/>
              <a:ext cx="1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36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107" name="Rectangle 123"/>
          <p:cNvSpPr>
            <a:spLocks noChangeArrowheads="1"/>
          </p:cNvSpPr>
          <p:nvPr/>
        </p:nvSpPr>
        <p:spPr bwMode="auto">
          <a:xfrm>
            <a:off x="6464300" y="10826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08" name="Rectangle 124"/>
          <p:cNvSpPr>
            <a:spLocks noChangeArrowheads="1"/>
          </p:cNvSpPr>
          <p:nvPr/>
        </p:nvSpPr>
        <p:spPr bwMode="auto">
          <a:xfrm>
            <a:off x="7689850" y="1190625"/>
            <a:ext cx="358775" cy="3603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zh-CN" altLang="zh-CN">
              <a:cs typeface="Times New Roman" panose="02020603050405020304" pitchFamily="18" charset="0"/>
            </a:endParaRPr>
          </a:p>
        </p:txBody>
      </p:sp>
      <p:sp>
        <p:nvSpPr>
          <p:cNvPr id="109" name="Rectangle 125"/>
          <p:cNvSpPr>
            <a:spLocks noChangeArrowheads="1"/>
          </p:cNvSpPr>
          <p:nvPr/>
        </p:nvSpPr>
        <p:spPr bwMode="auto">
          <a:xfrm>
            <a:off x="9480550" y="21621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110" name="Group 131"/>
          <p:cNvGrpSpPr>
            <a:grpSpLocks/>
          </p:cNvGrpSpPr>
          <p:nvPr/>
        </p:nvGrpSpPr>
        <p:grpSpPr bwMode="auto">
          <a:xfrm>
            <a:off x="6681787" y="327025"/>
            <a:ext cx="3598863" cy="2016125"/>
            <a:chOff x="0" y="0"/>
            <a:chExt cx="2267" cy="1270"/>
          </a:xfrm>
        </p:grpSpPr>
        <p:sp>
          <p:nvSpPr>
            <p:cNvPr id="111" name="Line 127"/>
            <p:cNvSpPr>
              <a:spLocks noChangeShapeType="1"/>
            </p:cNvSpPr>
            <p:nvPr/>
          </p:nvSpPr>
          <p:spPr bwMode="auto">
            <a:xfrm>
              <a:off x="0" y="0"/>
              <a:ext cx="0" cy="2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ine 128"/>
            <p:cNvSpPr>
              <a:spLocks noChangeShapeType="1"/>
            </p:cNvSpPr>
            <p:nvPr/>
          </p:nvSpPr>
          <p:spPr bwMode="auto">
            <a:xfrm>
              <a:off x="0" y="0"/>
              <a:ext cx="226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Line 129"/>
            <p:cNvSpPr>
              <a:spLocks noChangeShapeType="1"/>
            </p:cNvSpPr>
            <p:nvPr/>
          </p:nvSpPr>
          <p:spPr bwMode="auto">
            <a:xfrm>
              <a:off x="2249" y="0"/>
              <a:ext cx="0" cy="127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Line 130"/>
            <p:cNvSpPr>
              <a:spLocks noChangeShapeType="1"/>
            </p:cNvSpPr>
            <p:nvPr/>
          </p:nvSpPr>
          <p:spPr bwMode="auto">
            <a:xfrm flipH="1">
              <a:off x="1995" y="1270"/>
              <a:ext cx="27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5" name="Rectangle 123"/>
          <p:cNvSpPr>
            <a:spLocks noChangeArrowheads="1"/>
          </p:cNvSpPr>
          <p:nvPr/>
        </p:nvSpPr>
        <p:spPr bwMode="auto">
          <a:xfrm>
            <a:off x="6462712" y="1095375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78686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10" grpId="0" autoUpdateAnimBg="0"/>
      <p:bldP spid="11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107" grpId="0" autoUpdateAnimBg="0"/>
      <p:bldP spid="107" grpId="1" autoUpdateAnimBg="0"/>
      <p:bldP spid="108" grpId="0" animBg="1" autoUpdateAnimBg="0"/>
      <p:bldP spid="109" grpId="0" autoUpdateAnimBg="0"/>
      <p:bldP spid="115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3" y="264389"/>
            <a:ext cx="2843037" cy="978729"/>
            <a:chOff x="0" y="175102"/>
            <a:chExt cx="6411951" cy="769441"/>
          </a:xfrm>
        </p:grpSpPr>
        <p:sp>
          <p:nvSpPr>
            <p:cNvPr id="68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综合案例二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939800" y="989864"/>
            <a:ext cx="104775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文本文件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中存放了若干名学生的学号和出勤次数。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、从该文件中读取学号和出勤信息；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、再依次点名，根据出勤情况修改相应学生的出勤次数；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、最后将更新后的出勤情况再次写入文件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540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51498" y="1162729"/>
            <a:ext cx="923570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 *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fopen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student.txt","r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==NULL)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puts("can't open student.txt");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exit(0);	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while(!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feof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fscanf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,"%s %d\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n",no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],&amp;count[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("%s %d\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n",no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],count[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++;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n=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fclose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87999" y="208622"/>
            <a:ext cx="6109365" cy="95410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、从该文件中读取学号和出勤信息；</a:t>
            </a:r>
            <a:endParaRPr lang="en-US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4" y="264389"/>
            <a:ext cx="2302712" cy="978729"/>
            <a:chOff x="0" y="175102"/>
            <a:chExt cx="6411951" cy="769441"/>
          </a:xfrm>
        </p:grpSpPr>
        <p:sp>
          <p:nvSpPr>
            <p:cNvPr id="5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问题分解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47343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59399" y="273735"/>
            <a:ext cx="9341019" cy="82388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、再依次点名，根据出勤情况修改相应学生的出勤次数；</a:t>
            </a:r>
            <a:endParaRPr lang="en-US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30500" y="1195338"/>
            <a:ext cx="8051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{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puts(no[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puts("present or absent");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gets(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strcmp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,"present")==0)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count[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]++; 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}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4" y="264389"/>
            <a:ext cx="2302712" cy="978729"/>
            <a:chOff x="0" y="175102"/>
            <a:chExt cx="6411951" cy="769441"/>
          </a:xfrm>
        </p:grpSpPr>
        <p:sp>
          <p:nvSpPr>
            <p:cNvPr id="6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问题分解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6722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60999" y="273735"/>
            <a:ext cx="8836073" cy="82388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、最后将更新后的出勤情况再次写入文件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8900" y="1069539"/>
            <a:ext cx="7848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fopen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("d:\\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student.txt","w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==NULL)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{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puts("can't open student.txt");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exit(0);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,"%s %d\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n",no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],count[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fclose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4" y="264389"/>
            <a:ext cx="2302712" cy="978729"/>
            <a:chOff x="0" y="175102"/>
            <a:chExt cx="6411951" cy="769441"/>
          </a:xfrm>
        </p:grpSpPr>
        <p:sp>
          <p:nvSpPr>
            <p:cNvPr id="6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问题分解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0160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38500" y="146358"/>
            <a:ext cx="82677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#define N 10 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string.h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stdlib.h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main(  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char no[N][9],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[10];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i,n,count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[N];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FILE *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fopen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("d:\\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student.txt","r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==NULL)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puts("can't open student.txt");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exit(0);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3" y="264389"/>
            <a:ext cx="2843037" cy="978729"/>
            <a:chOff x="0" y="175102"/>
            <a:chExt cx="6411951" cy="769441"/>
          </a:xfrm>
        </p:grpSpPr>
        <p:sp>
          <p:nvSpPr>
            <p:cNvPr id="4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完 整 程 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097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21615" y="159188"/>
            <a:ext cx="89789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while(!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feof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 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fscanf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,"%s %d\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n",no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],&amp;count[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("%s %d\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n",no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],count[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++;	   }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n=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fclose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for(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puts(no[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puts("present or absent");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gets(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if(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strcmp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,"present")==0)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       count[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]++; 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3" y="264389"/>
            <a:ext cx="2843037" cy="978729"/>
            <a:chOff x="0" y="175102"/>
            <a:chExt cx="6411951" cy="769441"/>
          </a:xfrm>
        </p:grpSpPr>
        <p:sp>
          <p:nvSpPr>
            <p:cNvPr id="4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完 整 程 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0124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9800" y="506016"/>
            <a:ext cx="92456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fopen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("d:\\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student.txt","w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==NULL)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puts("can't open student.txt");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exit(0);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for(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=0;i&lt;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n;i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,"%s %d\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n",no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],count[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fclose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return 0;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 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724CAA-4CC4-4597-8E9B-20853FE1A14D}"/>
              </a:ext>
            </a:extLst>
          </p:cNvPr>
          <p:cNvGrpSpPr/>
          <p:nvPr/>
        </p:nvGrpSpPr>
        <p:grpSpPr>
          <a:xfrm>
            <a:off x="1763" y="264389"/>
            <a:ext cx="2843037" cy="978729"/>
            <a:chOff x="0" y="175102"/>
            <a:chExt cx="6411951" cy="769441"/>
          </a:xfrm>
        </p:grpSpPr>
        <p:sp>
          <p:nvSpPr>
            <p:cNvPr id="4" name="矩形: 剪去单角 67">
              <a:extLst>
                <a:ext uri="{FF2B5EF4-FFF2-40B4-BE49-F238E27FC236}">
                  <a16:creationId xmlns:a16="http://schemas.microsoft.com/office/drawing/2014/main" id="{9F9D9817-AB20-44FC-954F-1C0AF900B98E}"/>
                </a:ext>
              </a:extLst>
            </p:cNvPr>
            <p:cNvSpPr/>
            <p:nvPr/>
          </p:nvSpPr>
          <p:spPr>
            <a:xfrm>
              <a:off x="0" y="234177"/>
              <a:ext cx="6411951" cy="651293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3200" b="1">
                <a:solidFill>
                  <a:srgbClr val="C000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B44E06C-3A35-445B-964E-95750E16E8A8}"/>
                </a:ext>
              </a:extLst>
            </p:cNvPr>
            <p:cNvSpPr/>
            <p:nvPr/>
          </p:nvSpPr>
          <p:spPr>
            <a:xfrm>
              <a:off x="57773" y="175102"/>
              <a:ext cx="6033506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lvl="3">
                <a:spcBef>
                  <a:spcPct val="0"/>
                </a:spcBef>
              </a:pPr>
              <a:r>
                <a:rPr lang="zh-CN" altLang="en-US" sz="3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完 整 程 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3593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4306">
        <p15:prstTrans prst="prestige"/>
      </p:transition>
    </mc:Choice>
    <mc:Fallback xmlns="">
      <p:transition spd="slow" advTm="4306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6|16.1|5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.3|2.3|3.4|7|2.5|3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4|1.6|5.4|24.9|19.1|6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4|0.4|0.6|1.2|0.9|2|1.1"/>
</p:tagLst>
</file>

<file path=ppt/theme/theme1.xml><?xml version="1.0" encoding="utf-8"?>
<a:theme xmlns:a="http://schemas.openxmlformats.org/drawingml/2006/main" name="Office 主题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2065</TotalTime>
  <Words>10708</Words>
  <Application>Microsoft Office PowerPoint</Application>
  <PresentationFormat>宽屏</PresentationFormat>
  <Paragraphs>1676</Paragraphs>
  <Slides>118</Slides>
  <Notes>38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118</vt:i4>
      </vt:variant>
    </vt:vector>
  </HeadingPairs>
  <TitlesOfParts>
    <vt:vector size="136" baseType="lpstr">
      <vt:lpstr>等线</vt:lpstr>
      <vt:lpstr>方正姚体</vt:lpstr>
      <vt:lpstr>黑体</vt:lpstr>
      <vt:lpstr>华文细黑</vt:lpstr>
      <vt:lpstr>楷体_GB2312</vt:lpstr>
      <vt:lpstr>隶书</vt:lpstr>
      <vt:lpstr>宋体</vt:lpstr>
      <vt:lpstr>微软雅黑</vt:lpstr>
      <vt:lpstr>Arial</vt:lpstr>
      <vt:lpstr>Calibri</vt:lpstr>
      <vt:lpstr>Calibri Light</vt:lpstr>
      <vt:lpstr>Symbol</vt:lpstr>
      <vt:lpstr>Times New Roman</vt:lpstr>
      <vt:lpstr>Wingdings</vt:lpstr>
      <vt:lpstr>Wingdings 2</vt:lpstr>
      <vt:lpstr>Office 主题</vt:lpstr>
      <vt:lpstr>位图图像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字符数组及字符串处理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2216184931@qq.com</cp:lastModifiedBy>
  <cp:revision>363</cp:revision>
  <dcterms:created xsi:type="dcterms:W3CDTF">2017-06-27T11:50:00Z</dcterms:created>
  <dcterms:modified xsi:type="dcterms:W3CDTF">2024-10-28T09:07:38Z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2052-10.1.0.6554</vt:lpwstr>
  </property>
</Properties>
</file>