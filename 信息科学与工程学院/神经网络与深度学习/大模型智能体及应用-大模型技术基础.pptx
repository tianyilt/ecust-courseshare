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588" r:id="rId2"/>
    <p:sldId id="2551" r:id="rId3"/>
    <p:sldId id="2764" r:id="rId4"/>
    <p:sldId id="2736" r:id="rId5"/>
    <p:sldId id="2735" r:id="rId6"/>
    <p:sldId id="2792" r:id="rId7"/>
    <p:sldId id="2770" r:id="rId8"/>
    <p:sldId id="2771" r:id="rId9"/>
    <p:sldId id="2772" r:id="rId10"/>
    <p:sldId id="2786" r:id="rId11"/>
    <p:sldId id="2809" r:id="rId12"/>
    <p:sldId id="2810" r:id="rId13"/>
    <p:sldId id="2815" r:id="rId14"/>
    <p:sldId id="2816" r:id="rId15"/>
    <p:sldId id="2817" r:id="rId16"/>
    <p:sldId id="2787" r:id="rId17"/>
    <p:sldId id="2773" r:id="rId18"/>
    <p:sldId id="2818" r:id="rId19"/>
    <p:sldId id="2820" r:id="rId20"/>
    <p:sldId id="2821" r:id="rId21"/>
    <p:sldId id="2848" r:id="rId22"/>
    <p:sldId id="2789" r:id="rId23"/>
    <p:sldId id="2822" r:id="rId24"/>
    <p:sldId id="2849" r:id="rId25"/>
    <p:sldId id="2823" r:id="rId26"/>
    <p:sldId id="2774" r:id="rId27"/>
    <p:sldId id="2788" r:id="rId28"/>
    <p:sldId id="2819" r:id="rId29"/>
    <p:sldId id="2737" r:id="rId30"/>
    <p:sldId id="2790" r:id="rId31"/>
    <p:sldId id="2738" r:id="rId32"/>
    <p:sldId id="2793" r:id="rId33"/>
    <p:sldId id="2794" r:id="rId34"/>
    <p:sldId id="2791" r:id="rId35"/>
    <p:sldId id="2748" r:id="rId36"/>
    <p:sldId id="2749" r:id="rId37"/>
    <p:sldId id="2795" r:id="rId38"/>
    <p:sldId id="2777" r:id="rId39"/>
    <p:sldId id="2796" r:id="rId40"/>
    <p:sldId id="2778" r:id="rId41"/>
    <p:sldId id="2824" r:id="rId42"/>
    <p:sldId id="2761" r:id="rId43"/>
    <p:sldId id="2779" r:id="rId44"/>
    <p:sldId id="2780" r:id="rId45"/>
    <p:sldId id="2797" r:id="rId46"/>
    <p:sldId id="2781" r:id="rId47"/>
    <p:sldId id="2782" r:id="rId48"/>
    <p:sldId id="2812" r:id="rId49"/>
    <p:sldId id="2813" r:id="rId50"/>
    <p:sldId id="2814" r:id="rId51"/>
    <p:sldId id="2825" r:id="rId52"/>
    <p:sldId id="2826" r:id="rId53"/>
    <p:sldId id="2827" r:id="rId54"/>
    <p:sldId id="2828" r:id="rId55"/>
    <p:sldId id="2829" r:id="rId56"/>
    <p:sldId id="2830" r:id="rId57"/>
    <p:sldId id="2831" r:id="rId58"/>
    <p:sldId id="2834" r:id="rId59"/>
    <p:sldId id="2801" r:id="rId60"/>
    <p:sldId id="2802" r:id="rId61"/>
    <p:sldId id="2803" r:id="rId62"/>
    <p:sldId id="2804" r:id="rId63"/>
    <p:sldId id="2842" r:id="rId64"/>
    <p:sldId id="2805" r:id="rId65"/>
    <p:sldId id="2806" r:id="rId66"/>
    <p:sldId id="2839" r:id="rId67"/>
    <p:sldId id="2840" r:id="rId68"/>
    <p:sldId id="2841" r:id="rId69"/>
    <p:sldId id="2807" r:id="rId70"/>
    <p:sldId id="2832" r:id="rId71"/>
    <p:sldId id="2837" r:id="rId72"/>
    <p:sldId id="2838" r:id="rId73"/>
    <p:sldId id="2833" r:id="rId74"/>
    <p:sldId id="2835" r:id="rId75"/>
    <p:sldId id="2836" r:id="rId76"/>
    <p:sldId id="2843" r:id="rId77"/>
    <p:sldId id="2844" r:id="rId78"/>
    <p:sldId id="2845" r:id="rId79"/>
    <p:sldId id="2847" r:id="rId80"/>
    <p:sldId id="2846" r:id="rId81"/>
    <p:sldId id="2767" r:id="rId82"/>
    <p:sldId id="2769" r:id="rId83"/>
    <p:sldId id="2783" r:id="rId84"/>
    <p:sldId id="2784" r:id="rId85"/>
    <p:sldId id="2785" r:id="rId86"/>
    <p:sldId id="2799" r:id="rId87"/>
    <p:sldId id="2852" r:id="rId88"/>
    <p:sldId id="2850" r:id="rId89"/>
  </p:sldIdLst>
  <p:sldSz cx="9144000" cy="6858000" type="screen4x3"/>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B372BCC-2679-49C2-BEF4-6290E3FC1823}">
          <p14:sldIdLst>
            <p14:sldId id="588"/>
            <p14:sldId id="2551"/>
            <p14:sldId id="2764"/>
            <p14:sldId id="2736"/>
            <p14:sldId id="2735"/>
            <p14:sldId id="2792"/>
            <p14:sldId id="2770"/>
            <p14:sldId id="2771"/>
            <p14:sldId id="2772"/>
            <p14:sldId id="2786"/>
            <p14:sldId id="2809"/>
            <p14:sldId id="2810"/>
            <p14:sldId id="2815"/>
            <p14:sldId id="2816"/>
            <p14:sldId id="2817"/>
            <p14:sldId id="2787"/>
            <p14:sldId id="2773"/>
            <p14:sldId id="2818"/>
            <p14:sldId id="2820"/>
            <p14:sldId id="2821"/>
            <p14:sldId id="2848"/>
            <p14:sldId id="2789"/>
            <p14:sldId id="2822"/>
            <p14:sldId id="2849"/>
            <p14:sldId id="2823"/>
            <p14:sldId id="2774"/>
            <p14:sldId id="2788"/>
            <p14:sldId id="2819"/>
            <p14:sldId id="2737"/>
            <p14:sldId id="2790"/>
            <p14:sldId id="2738"/>
            <p14:sldId id="2793"/>
            <p14:sldId id="2794"/>
            <p14:sldId id="2791"/>
            <p14:sldId id="2748"/>
            <p14:sldId id="2749"/>
            <p14:sldId id="2795"/>
            <p14:sldId id="2777"/>
            <p14:sldId id="2796"/>
            <p14:sldId id="2778"/>
            <p14:sldId id="2824"/>
            <p14:sldId id="2761"/>
            <p14:sldId id="2779"/>
            <p14:sldId id="2780"/>
            <p14:sldId id="2797"/>
            <p14:sldId id="2781"/>
            <p14:sldId id="2782"/>
            <p14:sldId id="2812"/>
            <p14:sldId id="2813"/>
            <p14:sldId id="2814"/>
            <p14:sldId id="2825"/>
            <p14:sldId id="2826"/>
            <p14:sldId id="2827"/>
            <p14:sldId id="2828"/>
            <p14:sldId id="2829"/>
            <p14:sldId id="2830"/>
            <p14:sldId id="2831"/>
            <p14:sldId id="2834"/>
            <p14:sldId id="2801"/>
            <p14:sldId id="2802"/>
            <p14:sldId id="2803"/>
            <p14:sldId id="2804"/>
            <p14:sldId id="2842"/>
            <p14:sldId id="2805"/>
            <p14:sldId id="2806"/>
            <p14:sldId id="2839"/>
            <p14:sldId id="2840"/>
            <p14:sldId id="2841"/>
            <p14:sldId id="2807"/>
            <p14:sldId id="2832"/>
            <p14:sldId id="2837"/>
            <p14:sldId id="2838"/>
            <p14:sldId id="2833"/>
            <p14:sldId id="2835"/>
            <p14:sldId id="2836"/>
            <p14:sldId id="2843"/>
            <p14:sldId id="2844"/>
            <p14:sldId id="2845"/>
            <p14:sldId id="2847"/>
            <p14:sldId id="2846"/>
            <p14:sldId id="2767"/>
            <p14:sldId id="2769"/>
            <p14:sldId id="2783"/>
            <p14:sldId id="2784"/>
            <p14:sldId id="2785"/>
            <p14:sldId id="2799"/>
            <p14:sldId id="2852"/>
            <p14:sldId id="285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18E"/>
    <a:srgbClr val="2F55A4"/>
    <a:srgbClr val="DEEBF7"/>
    <a:srgbClr val="005E9C"/>
    <a:srgbClr val="2614CE"/>
    <a:srgbClr val="2730DB"/>
    <a:srgbClr val="2D65B4"/>
    <a:srgbClr val="343DDD"/>
    <a:srgbClr val="2F1BC7"/>
    <a:srgbClr val="CBD2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DAC37-71F1-4FCD-B7CD-DAD9883FAA77}" v="207" dt="2026-01-08T06:44:30.77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18" autoAdjust="0"/>
    <p:restoredTop sz="89784" autoAdjust="0"/>
  </p:normalViewPr>
  <p:slideViewPr>
    <p:cSldViewPr snapToGrid="0">
      <p:cViewPr>
        <p:scale>
          <a:sx n="10" d="100"/>
          <a:sy n="10" d="100"/>
        </p:scale>
        <p:origin x="5333" y="2266"/>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ch jiang" userId="652b340eec419312" providerId="LiveId" clId="{2878005C-19E4-4728-A28E-D4EE921A5AAC}"/>
    <pc:docChg chg="undo redo custSel addSld delSld modSld sldOrd modSection">
      <pc:chgData name="qch jiang" userId="652b340eec419312" providerId="LiveId" clId="{2878005C-19E4-4728-A28E-D4EE921A5AAC}" dt="2026-01-08T06:46:04.948" v="1693" actId="948"/>
      <pc:docMkLst>
        <pc:docMk/>
      </pc:docMkLst>
      <pc:sldChg chg="addSp delSp modSp mod">
        <pc:chgData name="qch jiang" userId="652b340eec419312" providerId="LiveId" clId="{2878005C-19E4-4728-A28E-D4EE921A5AAC}" dt="2026-01-04T07:18:46.372" v="1552" actId="20577"/>
        <pc:sldMkLst>
          <pc:docMk/>
          <pc:sldMk cId="0" sldId="588"/>
        </pc:sldMkLst>
        <pc:spChg chg="add mod">
          <ac:chgData name="qch jiang" userId="652b340eec419312" providerId="LiveId" clId="{2878005C-19E4-4728-A28E-D4EE921A5AAC}" dt="2026-01-03T06:52:41.696" v="58" actId="1076"/>
          <ac:spMkLst>
            <pc:docMk/>
            <pc:sldMk cId="0" sldId="588"/>
            <ac:spMk id="3" creationId="{F0787B3A-3D3C-821B-2EFF-C723D27F95C6}"/>
          </ac:spMkLst>
        </pc:spChg>
        <pc:spChg chg="mod">
          <ac:chgData name="qch jiang" userId="652b340eec419312" providerId="LiveId" clId="{2878005C-19E4-4728-A28E-D4EE921A5AAC}" dt="2026-01-04T07:18:46.372" v="1552" actId="20577"/>
          <ac:spMkLst>
            <pc:docMk/>
            <pc:sldMk cId="0" sldId="588"/>
            <ac:spMk id="15" creationId="{00000000-0000-0000-0000-000000000000}"/>
          </ac:spMkLst>
        </pc:spChg>
      </pc:sldChg>
      <pc:sldChg chg="addSp delSp modSp mod">
        <pc:chgData name="qch jiang" userId="652b340eec419312" providerId="LiveId" clId="{2878005C-19E4-4728-A28E-D4EE921A5AAC}" dt="2026-01-03T06:54:53.052" v="232"/>
        <pc:sldMkLst>
          <pc:docMk/>
          <pc:sldMk cId="0" sldId="2551"/>
        </pc:sldMkLst>
        <pc:spChg chg="mod">
          <ac:chgData name="qch jiang" userId="652b340eec419312" providerId="LiveId" clId="{2878005C-19E4-4728-A28E-D4EE921A5AAC}" dt="2026-01-03T06:54:11.650" v="176"/>
          <ac:spMkLst>
            <pc:docMk/>
            <pc:sldMk cId="0" sldId="2551"/>
            <ac:spMk id="5" creationId="{00000000-0000-0000-0000-000000000000}"/>
          </ac:spMkLst>
        </pc:spChg>
        <pc:spChg chg="mod">
          <ac:chgData name="qch jiang" userId="652b340eec419312" providerId="LiveId" clId="{2878005C-19E4-4728-A28E-D4EE921A5AAC}" dt="2026-01-03T06:54:05.764" v="168"/>
          <ac:spMkLst>
            <pc:docMk/>
            <pc:sldMk cId="0" sldId="2551"/>
            <ac:spMk id="11" creationId="{00000000-0000-0000-0000-000000000000}"/>
          </ac:spMkLst>
        </pc:spChg>
        <pc:spChg chg="mod">
          <ac:chgData name="qch jiang" userId="652b340eec419312" providerId="LiveId" clId="{2878005C-19E4-4728-A28E-D4EE921A5AAC}" dt="2026-01-03T06:54:34.649" v="189"/>
          <ac:spMkLst>
            <pc:docMk/>
            <pc:sldMk cId="0" sldId="2551"/>
            <ac:spMk id="12" creationId="{E193EC3A-8425-2337-5A4C-29CDDFCE22E8}"/>
          </ac:spMkLst>
        </pc:spChg>
        <pc:spChg chg="mod">
          <ac:chgData name="qch jiang" userId="652b340eec419312" providerId="LiveId" clId="{2878005C-19E4-4728-A28E-D4EE921A5AAC}" dt="2026-01-03T06:54:53.052" v="232"/>
          <ac:spMkLst>
            <pc:docMk/>
            <pc:sldMk cId="0" sldId="2551"/>
            <ac:spMk id="13" creationId="{C121A319-6145-5C77-9ECD-42161C03CE13}"/>
          </ac:spMkLst>
        </pc:spChg>
        <pc:spChg chg="mod">
          <ac:chgData name="qch jiang" userId="652b340eec419312" providerId="LiveId" clId="{2878005C-19E4-4728-A28E-D4EE921A5AAC}" dt="2026-01-03T06:53:38.092" v="69"/>
          <ac:spMkLst>
            <pc:docMk/>
            <pc:sldMk cId="0" sldId="2551"/>
            <ac:spMk id="27" creationId="{00000000-0000-0000-0000-000000000000}"/>
          </ac:spMkLst>
        </pc:spChg>
        <pc:spChg chg="mod">
          <ac:chgData name="qch jiang" userId="652b340eec419312" providerId="LiveId" clId="{2878005C-19E4-4728-A28E-D4EE921A5AAC}" dt="2026-01-03T06:54:19.855" v="187" actId="20577"/>
          <ac:spMkLst>
            <pc:docMk/>
            <pc:sldMk cId="0" sldId="2551"/>
            <ac:spMk id="33" creationId="{00000000-0000-0000-0000-000000000000}"/>
          </ac:spMkLst>
        </pc:spChg>
        <pc:grpChg chg="mod">
          <ac:chgData name="qch jiang" userId="652b340eec419312" providerId="LiveId" clId="{2878005C-19E4-4728-A28E-D4EE921A5AAC}" dt="2026-01-03T06:54:28.429" v="188" actId="1076"/>
          <ac:grpSpMkLst>
            <pc:docMk/>
            <pc:sldMk cId="0" sldId="2551"/>
            <ac:grpSpMk id="2" creationId="{00000000-0000-0000-0000-000000000000}"/>
          </ac:grpSpMkLst>
        </pc:grpChg>
        <pc:grpChg chg="mod">
          <ac:chgData name="qch jiang" userId="652b340eec419312" providerId="LiveId" clId="{2878005C-19E4-4728-A28E-D4EE921A5AAC}" dt="2026-01-03T06:54:28.429" v="188" actId="1076"/>
          <ac:grpSpMkLst>
            <pc:docMk/>
            <pc:sldMk cId="0" sldId="2551"/>
            <ac:grpSpMk id="4" creationId="{00000000-0000-0000-0000-000000000000}"/>
          </ac:grpSpMkLst>
        </pc:grpChg>
        <pc:grpChg chg="add mod">
          <ac:chgData name="qch jiang" userId="652b340eec419312" providerId="LiveId" clId="{2878005C-19E4-4728-A28E-D4EE921A5AAC}" dt="2026-01-03T06:54:40.577" v="190" actId="1076"/>
          <ac:grpSpMkLst>
            <pc:docMk/>
            <pc:sldMk cId="0" sldId="2551"/>
            <ac:grpSpMk id="9" creationId="{1ED4356E-22CE-4612-ECF5-1591CAEF2DBD}"/>
          </ac:grpSpMkLst>
        </pc:grpChg>
        <pc:grpChg chg="mod">
          <ac:chgData name="qch jiang" userId="652b340eec419312" providerId="LiveId" clId="{2878005C-19E4-4728-A28E-D4EE921A5AAC}" dt="2026-01-03T06:54:28.429" v="188" actId="1076"/>
          <ac:grpSpMkLst>
            <pc:docMk/>
            <pc:sldMk cId="0" sldId="2551"/>
            <ac:grpSpMk id="25" creationId="{00000000-0000-0000-0000-000000000000}"/>
          </ac:grpSpMkLst>
        </pc:grpChg>
        <pc:grpChg chg="mod">
          <ac:chgData name="qch jiang" userId="652b340eec419312" providerId="LiveId" clId="{2878005C-19E4-4728-A28E-D4EE921A5AAC}" dt="2026-01-03T06:54:28.429" v="188" actId="1076"/>
          <ac:grpSpMkLst>
            <pc:docMk/>
            <pc:sldMk cId="0" sldId="2551"/>
            <ac:grpSpMk id="31" creationId="{00000000-0000-0000-0000-000000000000}"/>
          </ac:grpSpMkLst>
        </pc:grpChg>
      </pc:sldChg>
      <pc:sldChg chg="addSp delSp modSp mod">
        <pc:chgData name="qch jiang" userId="652b340eec419312" providerId="LiveId" clId="{2878005C-19E4-4728-A28E-D4EE921A5AAC}" dt="2026-01-08T06:44:09.235" v="1645"/>
        <pc:sldMkLst>
          <pc:docMk/>
          <pc:sldMk cId="0" sldId="2702"/>
        </pc:sldMkLst>
        <pc:spChg chg="mod">
          <ac:chgData name="qch jiang" userId="652b340eec419312" providerId="LiveId" clId="{2878005C-19E4-4728-A28E-D4EE921A5AAC}" dt="2026-01-03T07:30:24.500" v="788" actId="14100"/>
          <ac:spMkLst>
            <pc:docMk/>
            <pc:sldMk cId="0" sldId="2702"/>
            <ac:spMk id="6" creationId="{00000000-0000-0000-0000-000000000000}"/>
          </ac:spMkLst>
        </pc:spChg>
        <pc:spChg chg="mod">
          <ac:chgData name="qch jiang" userId="652b340eec419312" providerId="LiveId" clId="{2878005C-19E4-4728-A28E-D4EE921A5AAC}" dt="2026-01-08T06:44:09.235" v="1645"/>
          <ac:spMkLst>
            <pc:docMk/>
            <pc:sldMk cId="0" sldId="2702"/>
            <ac:spMk id="7" creationId="{00000000-0000-0000-0000-000000000000}"/>
          </ac:spMkLst>
        </pc:spChg>
        <pc:spChg chg="mod">
          <ac:chgData name="qch jiang" userId="652b340eec419312" providerId="LiveId" clId="{2878005C-19E4-4728-A28E-D4EE921A5AAC}" dt="2026-01-03T07:30:56.107" v="807"/>
          <ac:spMkLst>
            <pc:docMk/>
            <pc:sldMk cId="0" sldId="2702"/>
            <ac:spMk id="13" creationId="{590CDDF0-274F-F8BB-9533-9E96896A21A9}"/>
          </ac:spMkLst>
        </pc:spChg>
        <pc:spChg chg="mod">
          <ac:chgData name="qch jiang" userId="652b340eec419312" providerId="LiveId" clId="{2878005C-19E4-4728-A28E-D4EE921A5AAC}" dt="2026-01-03T07:30:56.107" v="807"/>
          <ac:spMkLst>
            <pc:docMk/>
            <pc:sldMk cId="0" sldId="2702"/>
            <ac:spMk id="14" creationId="{68758F75-5648-8182-3794-44B280CE73C9}"/>
          </ac:spMkLst>
        </pc:spChg>
        <pc:spChg chg="mod">
          <ac:chgData name="qch jiang" userId="652b340eec419312" providerId="LiveId" clId="{2878005C-19E4-4728-A28E-D4EE921A5AAC}" dt="2026-01-03T07:31:16.403" v="808"/>
          <ac:spMkLst>
            <pc:docMk/>
            <pc:sldMk cId="0" sldId="2702"/>
            <ac:spMk id="15" creationId="{01676153-97C2-AAB1-242B-9CF0786DABCF}"/>
          </ac:spMkLst>
        </pc:spChg>
        <pc:spChg chg="mod">
          <ac:chgData name="qch jiang" userId="652b340eec419312" providerId="LiveId" clId="{2878005C-19E4-4728-A28E-D4EE921A5AAC}" dt="2026-01-04T03:04:29.329" v="1482" actId="1038"/>
          <ac:spMkLst>
            <pc:docMk/>
            <pc:sldMk cId="0" sldId="2702"/>
            <ac:spMk id="16" creationId="{3A10A9B2-BC30-1A57-853F-829DC87335FE}"/>
          </ac:spMkLst>
        </pc:spChg>
        <pc:spChg chg="mod">
          <ac:chgData name="qch jiang" userId="652b340eec419312" providerId="LiveId" clId="{2878005C-19E4-4728-A28E-D4EE921A5AAC}" dt="2026-01-03T07:30:56.107" v="807"/>
          <ac:spMkLst>
            <pc:docMk/>
            <pc:sldMk cId="0" sldId="2702"/>
            <ac:spMk id="22" creationId="{97CC2B41-7668-2987-B308-73A285B55096}"/>
          </ac:spMkLst>
        </pc:spChg>
        <pc:spChg chg="mod">
          <ac:chgData name="qch jiang" userId="652b340eec419312" providerId="LiveId" clId="{2878005C-19E4-4728-A28E-D4EE921A5AAC}" dt="2026-01-03T07:31:44.670" v="812" actId="20577"/>
          <ac:spMkLst>
            <pc:docMk/>
            <pc:sldMk cId="0" sldId="2702"/>
            <ac:spMk id="23" creationId="{AE87D4FD-A419-8AF7-ED08-487DE832C37A}"/>
          </ac:spMkLst>
        </pc:spChg>
        <pc:spChg chg="mod">
          <ac:chgData name="qch jiang" userId="652b340eec419312" providerId="LiveId" clId="{2878005C-19E4-4728-A28E-D4EE921A5AAC}" dt="2026-01-04T03:04:40.697" v="1503" actId="1035"/>
          <ac:spMkLst>
            <pc:docMk/>
            <pc:sldMk cId="0" sldId="2702"/>
            <ac:spMk id="24" creationId="{384FA4E8-060D-3552-A093-F2E2A563BB6E}"/>
          </ac:spMkLst>
        </pc:spChg>
        <pc:spChg chg="mod">
          <ac:chgData name="qch jiang" userId="652b340eec419312" providerId="LiveId" clId="{2878005C-19E4-4728-A28E-D4EE921A5AAC}" dt="2026-01-04T03:04:55.356" v="1536" actId="14100"/>
          <ac:spMkLst>
            <pc:docMk/>
            <pc:sldMk cId="0" sldId="2702"/>
            <ac:spMk id="28" creationId="{D3191DD2-76E2-11A3-7B7B-C28BC5245D54}"/>
          </ac:spMkLst>
        </pc:spChg>
        <pc:spChg chg="mod">
          <ac:chgData name="qch jiang" userId="652b340eec419312" providerId="LiveId" clId="{2878005C-19E4-4728-A28E-D4EE921A5AAC}" dt="2026-01-03T07:30:56.107" v="807"/>
          <ac:spMkLst>
            <pc:docMk/>
            <pc:sldMk cId="0" sldId="2702"/>
            <ac:spMk id="29" creationId="{F35164C1-8118-8464-D0FF-DEB2A965C9A0}"/>
          </ac:spMkLst>
        </pc:spChg>
        <pc:spChg chg="mod">
          <ac:chgData name="qch jiang" userId="652b340eec419312" providerId="LiveId" clId="{2878005C-19E4-4728-A28E-D4EE921A5AAC}" dt="2026-01-03T07:32:06.563" v="814"/>
          <ac:spMkLst>
            <pc:docMk/>
            <pc:sldMk cId="0" sldId="2702"/>
            <ac:spMk id="30" creationId="{918EE782-4DF6-274B-909A-5A083EDDF763}"/>
          </ac:spMkLst>
        </pc:spChg>
        <pc:spChg chg="mod">
          <ac:chgData name="qch jiang" userId="652b340eec419312" providerId="LiveId" clId="{2878005C-19E4-4728-A28E-D4EE921A5AAC}" dt="2026-01-04T03:04:52.527" v="1535" actId="1035"/>
          <ac:spMkLst>
            <pc:docMk/>
            <pc:sldMk cId="0" sldId="2702"/>
            <ac:spMk id="31" creationId="{A5A471B9-B677-CF05-F875-F330EB8BBBD2}"/>
          </ac:spMkLst>
        </pc:spChg>
        <pc:spChg chg="mod">
          <ac:chgData name="qch jiang" userId="652b340eec419312" providerId="LiveId" clId="{2878005C-19E4-4728-A28E-D4EE921A5AAC}" dt="2026-01-03T07:30:56.107" v="807"/>
          <ac:spMkLst>
            <pc:docMk/>
            <pc:sldMk cId="0" sldId="2702"/>
            <ac:spMk id="37" creationId="{E9014DB1-E4E4-9653-13D9-419E461123F9}"/>
          </ac:spMkLst>
        </pc:spChg>
        <pc:spChg chg="mod">
          <ac:chgData name="qch jiang" userId="652b340eec419312" providerId="LiveId" clId="{2878005C-19E4-4728-A28E-D4EE921A5AAC}" dt="2026-01-03T07:32:34.370" v="817" actId="20577"/>
          <ac:spMkLst>
            <pc:docMk/>
            <pc:sldMk cId="0" sldId="2702"/>
            <ac:spMk id="38" creationId="{4C9147B1-A109-7731-2F50-D36D51BEAA86}"/>
          </ac:spMkLst>
        </pc:spChg>
        <pc:spChg chg="mod">
          <ac:chgData name="qch jiang" userId="652b340eec419312" providerId="LiveId" clId="{2878005C-19E4-4728-A28E-D4EE921A5AAC}" dt="2026-01-04T03:05:05.229" v="1546" actId="1036"/>
          <ac:spMkLst>
            <pc:docMk/>
            <pc:sldMk cId="0" sldId="2702"/>
            <ac:spMk id="39" creationId="{494A755A-75BF-398A-CDF7-D2078D8952A8}"/>
          </ac:spMkLst>
        </pc:spChg>
        <pc:spChg chg="mod">
          <ac:chgData name="qch jiang" userId="652b340eec419312" providerId="LiveId" clId="{2878005C-19E4-4728-A28E-D4EE921A5AAC}" dt="2026-01-03T07:21:30.946" v="708"/>
          <ac:spMkLst>
            <pc:docMk/>
            <pc:sldMk cId="0" sldId="2702"/>
            <ac:spMk id="11268" creationId="{00000000-0000-0000-0000-000000000000}"/>
          </ac:spMkLst>
        </pc:spChg>
      </pc:sldChg>
      <pc:sldChg chg="modSp mod ord">
        <pc:chgData name="qch jiang" userId="652b340eec419312" providerId="LiveId" clId="{2878005C-19E4-4728-A28E-D4EE921A5AAC}" dt="2026-01-04T01:56:29.769" v="926"/>
        <pc:sldMkLst>
          <pc:docMk/>
          <pc:sldMk cId="0" sldId="2706"/>
        </pc:sldMkLst>
        <pc:spChg chg="mod">
          <ac:chgData name="qch jiang" userId="652b340eec419312" providerId="LiveId" clId="{2878005C-19E4-4728-A28E-D4EE921A5AAC}" dt="2026-01-03T06:55:53.786" v="271"/>
          <ac:spMkLst>
            <pc:docMk/>
            <pc:sldMk cId="0" sldId="2706"/>
            <ac:spMk id="11268" creationId="{00000000-0000-0000-0000-000000000000}"/>
          </ac:spMkLst>
        </pc:spChg>
        <pc:graphicFrameChg chg="mod modGraphic">
          <ac:chgData name="qch jiang" userId="652b340eec419312" providerId="LiveId" clId="{2878005C-19E4-4728-A28E-D4EE921A5AAC}" dt="2026-01-04T01:56:29.769" v="926"/>
          <ac:graphicFrameMkLst>
            <pc:docMk/>
            <pc:sldMk cId="0" sldId="2706"/>
            <ac:graphicFrameMk id="5" creationId="{00000000-0000-0000-0000-000000000000}"/>
          </ac:graphicFrameMkLst>
        </pc:graphicFrameChg>
      </pc:sldChg>
      <pc:sldChg chg="modSp mod">
        <pc:chgData name="qch jiang" userId="652b340eec419312" providerId="LiveId" clId="{2878005C-19E4-4728-A28E-D4EE921A5AAC}" dt="2026-01-04T07:23:46.920" v="1618" actId="1036"/>
        <pc:sldMkLst>
          <pc:docMk/>
          <pc:sldMk cId="0" sldId="2707"/>
        </pc:sldMkLst>
        <pc:spChg chg="mod">
          <ac:chgData name="qch jiang" userId="652b340eec419312" providerId="LiveId" clId="{2878005C-19E4-4728-A28E-D4EE921A5AAC}" dt="2026-01-03T07:22:55.988" v="741"/>
          <ac:spMkLst>
            <pc:docMk/>
            <pc:sldMk cId="0" sldId="2707"/>
            <ac:spMk id="2" creationId="{61E3E72E-7685-6223-E452-6CCED40A152D}"/>
          </ac:spMkLst>
        </pc:spChg>
        <pc:spChg chg="mod">
          <ac:chgData name="qch jiang" userId="652b340eec419312" providerId="LiveId" clId="{2878005C-19E4-4728-A28E-D4EE921A5AAC}" dt="2026-01-03T07:23:04.159" v="742" actId="20577"/>
          <ac:spMkLst>
            <pc:docMk/>
            <pc:sldMk cId="0" sldId="2707"/>
            <ac:spMk id="12" creationId="{00000000-0000-0000-0000-000000000000}"/>
          </ac:spMkLst>
        </pc:spChg>
        <pc:spChg chg="mod">
          <ac:chgData name="qch jiang" userId="652b340eec419312" providerId="LiveId" clId="{2878005C-19E4-4728-A28E-D4EE921A5AAC}" dt="2026-01-04T07:23:29.488" v="1591" actId="20577"/>
          <ac:spMkLst>
            <pc:docMk/>
            <pc:sldMk cId="0" sldId="2707"/>
            <ac:spMk id="13" creationId="{00000000-0000-0000-0000-000000000000}"/>
          </ac:spMkLst>
        </pc:spChg>
        <pc:spChg chg="mod">
          <ac:chgData name="qch jiang" userId="652b340eec419312" providerId="LiveId" clId="{2878005C-19E4-4728-A28E-D4EE921A5AAC}" dt="2026-01-03T07:23:06.494" v="743" actId="20577"/>
          <ac:spMkLst>
            <pc:docMk/>
            <pc:sldMk cId="0" sldId="2707"/>
            <ac:spMk id="21" creationId="{00000000-0000-0000-0000-000000000000}"/>
          </ac:spMkLst>
        </pc:spChg>
        <pc:spChg chg="mod">
          <ac:chgData name="qch jiang" userId="652b340eec419312" providerId="LiveId" clId="{2878005C-19E4-4728-A28E-D4EE921A5AAC}" dt="2026-01-04T07:22:10.693" v="1581" actId="255"/>
          <ac:spMkLst>
            <pc:docMk/>
            <pc:sldMk cId="0" sldId="2707"/>
            <ac:spMk id="22" creationId="{00000000-0000-0000-0000-000000000000}"/>
          </ac:spMkLst>
        </pc:spChg>
        <pc:spChg chg="mod">
          <ac:chgData name="qch jiang" userId="652b340eec419312" providerId="LiveId" clId="{2878005C-19E4-4728-A28E-D4EE921A5AAC}" dt="2026-01-03T07:23:10.395" v="744" actId="20577"/>
          <ac:spMkLst>
            <pc:docMk/>
            <pc:sldMk cId="0" sldId="2707"/>
            <ac:spMk id="28" creationId="{00000000-0000-0000-0000-000000000000}"/>
          </ac:spMkLst>
        </pc:spChg>
        <pc:spChg chg="mod">
          <ac:chgData name="qch jiang" userId="652b340eec419312" providerId="LiveId" clId="{2878005C-19E4-4728-A28E-D4EE921A5AAC}" dt="2026-01-04T07:23:46.920" v="1618" actId="1036"/>
          <ac:spMkLst>
            <pc:docMk/>
            <pc:sldMk cId="0" sldId="2707"/>
            <ac:spMk id="29" creationId="{00000000-0000-0000-0000-000000000000}"/>
          </ac:spMkLst>
        </pc:spChg>
        <pc:spChg chg="mod">
          <ac:chgData name="qch jiang" userId="652b340eec419312" providerId="LiveId" clId="{2878005C-19E4-4728-A28E-D4EE921A5AAC}" dt="2026-01-03T07:22:37.274" v="725" actId="20577"/>
          <ac:spMkLst>
            <pc:docMk/>
            <pc:sldMk cId="0" sldId="2707"/>
            <ac:spMk id="36" creationId="{00000000-0000-0000-0000-000000000000}"/>
          </ac:spMkLst>
        </pc:spChg>
        <pc:spChg chg="mod">
          <ac:chgData name="qch jiang" userId="652b340eec419312" providerId="LiveId" clId="{2878005C-19E4-4728-A28E-D4EE921A5AAC}" dt="2026-01-04T07:23:40.488" v="1612" actId="1036"/>
          <ac:spMkLst>
            <pc:docMk/>
            <pc:sldMk cId="0" sldId="2707"/>
            <ac:spMk id="37" creationId="{00000000-0000-0000-0000-000000000000}"/>
          </ac:spMkLst>
        </pc:spChg>
        <pc:spChg chg="mod">
          <ac:chgData name="qch jiang" userId="652b340eec419312" providerId="LiveId" clId="{2878005C-19E4-4728-A28E-D4EE921A5AAC}" dt="2026-01-03T07:26:24.718" v="781"/>
          <ac:spMkLst>
            <pc:docMk/>
            <pc:sldMk cId="0" sldId="2707"/>
            <ac:spMk id="11268" creationId="{00000000-0000-0000-0000-000000000000}"/>
          </ac:spMkLst>
        </pc:spChg>
      </pc:sldChg>
      <pc:sldChg chg="addSp delSp modSp mod">
        <pc:chgData name="qch jiang" userId="652b340eec419312" providerId="LiveId" clId="{2878005C-19E4-4728-A28E-D4EE921A5AAC}" dt="2026-01-08T06:44:30.766" v="1669"/>
        <pc:sldMkLst>
          <pc:docMk/>
          <pc:sldMk cId="0" sldId="2712"/>
        </pc:sldMkLst>
        <pc:spChg chg="mod">
          <ac:chgData name="qch jiang" userId="652b340eec419312" providerId="LiveId" clId="{2878005C-19E4-4728-A28E-D4EE921A5AAC}" dt="2026-01-04T02:54:29.263" v="1336" actId="14100"/>
          <ac:spMkLst>
            <pc:docMk/>
            <pc:sldMk cId="0" sldId="2712"/>
            <ac:spMk id="18" creationId="{00000000-0000-0000-0000-000000000000}"/>
          </ac:spMkLst>
        </pc:spChg>
        <pc:spChg chg="add mod">
          <ac:chgData name="qch jiang" userId="652b340eec419312" providerId="LiveId" clId="{2878005C-19E4-4728-A28E-D4EE921A5AAC}" dt="2026-01-04T07:20:29.924" v="1574" actId="207"/>
          <ac:spMkLst>
            <pc:docMk/>
            <pc:sldMk cId="0" sldId="2712"/>
            <ac:spMk id="22" creationId="{CF6C4824-BDA6-B494-BCB6-A542153218F3}"/>
          </ac:spMkLst>
        </pc:spChg>
        <pc:spChg chg="mod">
          <ac:chgData name="qch jiang" userId="652b340eec419312" providerId="LiveId" clId="{2878005C-19E4-4728-A28E-D4EE921A5AAC}" dt="2026-01-04T03:00:49.188" v="1449" actId="14100"/>
          <ac:spMkLst>
            <pc:docMk/>
            <pc:sldMk cId="0" sldId="2712"/>
            <ac:spMk id="38" creationId="{00000000-0000-0000-0000-000000000000}"/>
          </ac:spMkLst>
        </pc:spChg>
        <pc:spChg chg="mod">
          <ac:chgData name="qch jiang" userId="652b340eec419312" providerId="LiveId" clId="{2878005C-19E4-4728-A28E-D4EE921A5AAC}" dt="2026-01-03T07:19:37.767" v="653"/>
          <ac:spMkLst>
            <pc:docMk/>
            <pc:sldMk cId="0" sldId="2712"/>
            <ac:spMk id="11268" creationId="{00000000-0000-0000-0000-000000000000}"/>
          </ac:spMkLst>
        </pc:spChg>
        <pc:graphicFrameChg chg="add mod modGraphic">
          <ac:chgData name="qch jiang" userId="652b340eec419312" providerId="LiveId" clId="{2878005C-19E4-4728-A28E-D4EE921A5AAC}" dt="2026-01-08T06:44:30.766" v="1669"/>
          <ac:graphicFrameMkLst>
            <pc:docMk/>
            <pc:sldMk cId="0" sldId="2712"/>
            <ac:graphicFrameMk id="23" creationId="{E42CF34E-0D60-651B-A4DC-876BAA95231E}"/>
          </ac:graphicFrameMkLst>
        </pc:graphicFrameChg>
      </pc:sldChg>
      <pc:sldChg chg="addSp delSp modSp add mod">
        <pc:chgData name="qch jiang" userId="652b340eec419312" providerId="LiveId" clId="{2878005C-19E4-4728-A28E-D4EE921A5AAC}" dt="2026-01-04T03:00:13.285" v="1447" actId="108"/>
        <pc:sldMkLst>
          <pc:docMk/>
          <pc:sldMk cId="1460068585" sldId="2727"/>
        </pc:sldMkLst>
        <pc:spChg chg="mod">
          <ac:chgData name="qch jiang" userId="652b340eec419312" providerId="LiveId" clId="{2878005C-19E4-4728-A28E-D4EE921A5AAC}" dt="2026-01-03T07:06:46.803" v="530" actId="14100"/>
          <ac:spMkLst>
            <pc:docMk/>
            <pc:sldMk cId="1460068585" sldId="2727"/>
            <ac:spMk id="18" creationId="{1BC6004C-0E51-6E72-34B4-117C27332E55}"/>
          </ac:spMkLst>
        </pc:spChg>
        <pc:spChg chg="mod">
          <ac:chgData name="qch jiang" userId="652b340eec419312" providerId="LiveId" clId="{2878005C-19E4-4728-A28E-D4EE921A5AAC}" dt="2026-01-04T02:59:23.042" v="1444" actId="2711"/>
          <ac:spMkLst>
            <pc:docMk/>
            <pc:sldMk cId="1460068585" sldId="2727"/>
            <ac:spMk id="24" creationId="{37CACCDB-819B-E7A4-6E09-0E78C474D16C}"/>
          </ac:spMkLst>
        </pc:spChg>
        <pc:spChg chg="add mod">
          <ac:chgData name="qch jiang" userId="652b340eec419312" providerId="LiveId" clId="{2878005C-19E4-4728-A28E-D4EE921A5AAC}" dt="2026-01-03T07:14:06.431" v="612" actId="14100"/>
          <ac:spMkLst>
            <pc:docMk/>
            <pc:sldMk cId="1460068585" sldId="2727"/>
            <ac:spMk id="27" creationId="{F1EA99D6-6919-3B31-78D6-E24B36E11FD7}"/>
          </ac:spMkLst>
        </pc:spChg>
        <pc:spChg chg="add mod">
          <ac:chgData name="qch jiang" userId="652b340eec419312" providerId="LiveId" clId="{2878005C-19E4-4728-A28E-D4EE921A5AAC}" dt="2026-01-03T07:14:36.711" v="615" actId="14100"/>
          <ac:spMkLst>
            <pc:docMk/>
            <pc:sldMk cId="1460068585" sldId="2727"/>
            <ac:spMk id="34" creationId="{5B543FA0-9FBB-CF7A-985D-5E30FA1AD7A4}"/>
          </ac:spMkLst>
        </pc:spChg>
        <pc:spChg chg="mod">
          <ac:chgData name="qch jiang" userId="652b340eec419312" providerId="LiveId" clId="{2878005C-19E4-4728-A28E-D4EE921A5AAC}" dt="2026-01-04T02:58:56.020" v="1430" actId="1035"/>
          <ac:spMkLst>
            <pc:docMk/>
            <pc:sldMk cId="1460068585" sldId="2727"/>
            <ac:spMk id="35" creationId="{A52C5C0C-F3D3-F397-8B88-1F6567B9ED00}"/>
          </ac:spMkLst>
        </pc:spChg>
        <pc:spChg chg="add mod">
          <ac:chgData name="qch jiang" userId="652b340eec419312" providerId="LiveId" clId="{2878005C-19E4-4728-A28E-D4EE921A5AAC}" dt="2026-01-03T07:14:50.316" v="635" actId="14100"/>
          <ac:spMkLst>
            <pc:docMk/>
            <pc:sldMk cId="1460068585" sldId="2727"/>
            <ac:spMk id="36" creationId="{DE17AC73-8649-9879-30AC-7806921D682F}"/>
          </ac:spMkLst>
        </pc:spChg>
        <pc:spChg chg="add mod">
          <ac:chgData name="qch jiang" userId="652b340eec419312" providerId="LiveId" clId="{2878005C-19E4-4728-A28E-D4EE921A5AAC}" dt="2026-01-04T03:00:13.285" v="1447" actId="108"/>
          <ac:spMkLst>
            <pc:docMk/>
            <pc:sldMk cId="1460068585" sldId="2727"/>
            <ac:spMk id="37" creationId="{632F0A37-4153-465B-8F9D-BE87935EFD47}"/>
          </ac:spMkLst>
        </pc:spChg>
        <pc:spChg chg="mod">
          <ac:chgData name="qch jiang" userId="652b340eec419312" providerId="LiveId" clId="{2878005C-19E4-4728-A28E-D4EE921A5AAC}" dt="2026-01-03T07:10:35.110" v="572" actId="255"/>
          <ac:spMkLst>
            <pc:docMk/>
            <pc:sldMk cId="1460068585" sldId="2727"/>
            <ac:spMk id="38" creationId="{12BF9F0C-3A28-3E6C-60D7-77640FB6D9A2}"/>
          </ac:spMkLst>
        </pc:spChg>
        <pc:spChg chg="add mod">
          <ac:chgData name="qch jiang" userId="652b340eec419312" providerId="LiveId" clId="{2878005C-19E4-4728-A28E-D4EE921A5AAC}" dt="2026-01-04T02:59:03.305" v="1441" actId="1035"/>
          <ac:spMkLst>
            <pc:docMk/>
            <pc:sldMk cId="1460068585" sldId="2727"/>
            <ac:spMk id="47" creationId="{431DD996-C8E6-4E69-D5A5-54D88DEE1CDD}"/>
          </ac:spMkLst>
        </pc:spChg>
        <pc:spChg chg="add mod">
          <ac:chgData name="qch jiang" userId="652b340eec419312" providerId="LiveId" clId="{2878005C-19E4-4728-A28E-D4EE921A5AAC}" dt="2026-01-03T07:14:06.431" v="612" actId="14100"/>
          <ac:spMkLst>
            <pc:docMk/>
            <pc:sldMk cId="1460068585" sldId="2727"/>
            <ac:spMk id="52" creationId="{FCD21E94-BEFE-58A3-B52E-9CD72C4398DA}"/>
          </ac:spMkLst>
        </pc:spChg>
        <pc:spChg chg="add mod">
          <ac:chgData name="qch jiang" userId="652b340eec419312" providerId="LiveId" clId="{2878005C-19E4-4728-A28E-D4EE921A5AAC}" dt="2026-01-04T02:58:47.220" v="1425" actId="255"/>
          <ac:spMkLst>
            <pc:docMk/>
            <pc:sldMk cId="1460068585" sldId="2727"/>
            <ac:spMk id="53" creationId="{FBD0DCC0-0653-749F-57D6-9CB131012F3D}"/>
          </ac:spMkLst>
        </pc:spChg>
        <pc:spChg chg="mod">
          <ac:chgData name="qch jiang" userId="652b340eec419312" providerId="LiveId" clId="{2878005C-19E4-4728-A28E-D4EE921A5AAC}" dt="2026-01-03T07:13:55.416" v="597" actId="14100"/>
          <ac:spMkLst>
            <pc:docMk/>
            <pc:sldMk cId="1460068585" sldId="2727"/>
            <ac:spMk id="54" creationId="{DAA8B852-DB73-0D5D-E2DF-D5DF526CD679}"/>
          </ac:spMkLst>
        </pc:spChg>
        <pc:spChg chg="mod">
          <ac:chgData name="qch jiang" userId="652b340eec419312" providerId="LiveId" clId="{2878005C-19E4-4728-A28E-D4EE921A5AAC}" dt="2026-01-04T02:59:51.686" v="1446" actId="108"/>
          <ac:spMkLst>
            <pc:docMk/>
            <pc:sldMk cId="1460068585" sldId="2727"/>
            <ac:spMk id="55" creationId="{E44362AB-ED87-DBA7-64CA-8D74DAF03ADB}"/>
          </ac:spMkLst>
        </pc:spChg>
        <pc:spChg chg="mod">
          <ac:chgData name="qch jiang" userId="652b340eec419312" providerId="LiveId" clId="{2878005C-19E4-4728-A28E-D4EE921A5AAC}" dt="2026-01-03T07:05:52.696" v="527"/>
          <ac:spMkLst>
            <pc:docMk/>
            <pc:sldMk cId="1460068585" sldId="2727"/>
            <ac:spMk id="11268" creationId="{734AF660-C6B8-C2DA-CF3B-AB0355ABD528}"/>
          </ac:spMkLst>
        </pc:spChg>
        <pc:spChg chg="mod">
          <ac:chgData name="qch jiang" userId="652b340eec419312" providerId="LiveId" clId="{2878005C-19E4-4728-A28E-D4EE921A5AAC}" dt="2026-01-03T07:14:06.431" v="612" actId="14100"/>
          <ac:spMkLst>
            <pc:docMk/>
            <pc:sldMk cId="1460068585" sldId="2727"/>
            <ac:spMk id="14340" creationId="{84BC4BE3-8D0F-5C43-3191-103A5529A69E}"/>
          </ac:spMkLst>
        </pc:spChg>
        <pc:grpChg chg="mod">
          <ac:chgData name="qch jiang" userId="652b340eec419312" providerId="LiveId" clId="{2878005C-19E4-4728-A28E-D4EE921A5AAC}" dt="2026-01-03T07:14:11.198" v="613" actId="14100"/>
          <ac:grpSpMkLst>
            <pc:docMk/>
            <pc:sldMk cId="1460068585" sldId="2727"/>
            <ac:grpSpMk id="20" creationId="{685BC1C2-8D9D-683B-D5B1-4E21137B3623}"/>
          </ac:grpSpMkLst>
        </pc:grpChg>
        <pc:grpChg chg="mod">
          <ac:chgData name="qch jiang" userId="652b340eec419312" providerId="LiveId" clId="{2878005C-19E4-4728-A28E-D4EE921A5AAC}" dt="2026-01-03T07:06:54.117" v="570" actId="1035"/>
          <ac:grpSpMkLst>
            <pc:docMk/>
            <pc:sldMk cId="1460068585" sldId="2727"/>
            <ac:grpSpMk id="22" creationId="{5BE05552-EFB8-050A-17D3-DE886F15D5CB}"/>
          </ac:grpSpMkLst>
        </pc:grpChg>
        <pc:grpChg chg="mod">
          <ac:chgData name="qch jiang" userId="652b340eec419312" providerId="LiveId" clId="{2878005C-19E4-4728-A28E-D4EE921A5AAC}" dt="2026-01-03T07:06:54.117" v="570" actId="1035"/>
          <ac:grpSpMkLst>
            <pc:docMk/>
            <pc:sldMk cId="1460068585" sldId="2727"/>
            <ac:grpSpMk id="23" creationId="{D9E76FAE-A838-F712-BACC-ADF5B40550E9}"/>
          </ac:grpSpMkLst>
        </pc:grpChg>
      </pc:sldChg>
      <pc:sldChg chg="addSp delSp modSp add mod">
        <pc:chgData name="qch jiang" userId="652b340eec419312" providerId="LiveId" clId="{2878005C-19E4-4728-A28E-D4EE921A5AAC}" dt="2026-01-08T06:46:04.948" v="1693" actId="948"/>
        <pc:sldMkLst>
          <pc:docMk/>
          <pc:sldMk cId="2306051630" sldId="2728"/>
        </pc:sldMkLst>
        <pc:spChg chg="add mod">
          <ac:chgData name="qch jiang" userId="652b340eec419312" providerId="LiveId" clId="{2878005C-19E4-4728-A28E-D4EE921A5AAC}" dt="2026-01-04T07:19:21.793" v="1562" actId="1037"/>
          <ac:spMkLst>
            <pc:docMk/>
            <pc:sldMk cId="2306051630" sldId="2728"/>
            <ac:spMk id="3" creationId="{601DA621-8638-9FBC-47DC-88F58DF260FC}"/>
          </ac:spMkLst>
        </pc:spChg>
        <pc:spChg chg="add mod">
          <ac:chgData name="qch jiang" userId="652b340eec419312" providerId="LiveId" clId="{2878005C-19E4-4728-A28E-D4EE921A5AAC}" dt="2026-01-08T06:45:41.337" v="1691" actId="1076"/>
          <ac:spMkLst>
            <pc:docMk/>
            <pc:sldMk cId="2306051630" sldId="2728"/>
            <ac:spMk id="5" creationId="{60DE2CAB-5DE2-16FF-D3EE-7402CDE084DF}"/>
          </ac:spMkLst>
        </pc:spChg>
        <pc:spChg chg="add mod">
          <ac:chgData name="qch jiang" userId="652b340eec419312" providerId="LiveId" clId="{2878005C-19E4-4728-A28E-D4EE921A5AAC}" dt="2026-01-08T06:46:04.948" v="1693" actId="948"/>
          <ac:spMkLst>
            <pc:docMk/>
            <pc:sldMk cId="2306051630" sldId="2728"/>
            <ac:spMk id="6" creationId="{43ADC974-7A35-130A-EE37-0D5588B66A03}"/>
          </ac:spMkLst>
        </pc:spChg>
        <pc:spChg chg="add mod">
          <ac:chgData name="qch jiang" userId="652b340eec419312" providerId="LiveId" clId="{2878005C-19E4-4728-A28E-D4EE921A5AAC}" dt="2026-01-08T06:45:39.139" v="1690" actId="1076"/>
          <ac:spMkLst>
            <pc:docMk/>
            <pc:sldMk cId="2306051630" sldId="2728"/>
            <ac:spMk id="8" creationId="{ECDAA599-C15F-8305-8F68-704C2A2D6D49}"/>
          </ac:spMkLst>
        </pc:spChg>
        <pc:picChg chg="add mod">
          <ac:chgData name="qch jiang" userId="652b340eec419312" providerId="LiveId" clId="{2878005C-19E4-4728-A28E-D4EE921A5AAC}" dt="2026-01-04T02:01:56.373" v="990" actId="1076"/>
          <ac:picMkLst>
            <pc:docMk/>
            <pc:sldMk cId="2306051630" sldId="2728"/>
            <ac:picMk id="1026" creationId="{F2DCC19E-4C96-F9D2-B13E-60DE4AFF297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511542-9E62-43C2-8B3B-84DA4FB67179}" type="doc">
      <dgm:prSet loTypeId="urn:microsoft.com/office/officeart/2005/8/layout/pyramid3" loCatId="pyramid" qsTypeId="urn:microsoft.com/office/officeart/2005/8/quickstyle/simple4" qsCatId="simple" csTypeId="urn:microsoft.com/office/officeart/2005/8/colors/accent5_4" csCatId="accent5" phldr="1"/>
      <dgm:spPr/>
    </dgm:pt>
    <dgm:pt modelId="{408986B3-9527-448F-AFBA-2BE2748C92BC}">
      <dgm:prSet phldrT="[文本]" custT="1"/>
      <dgm:spPr/>
      <dgm:t>
        <a:bodyPr/>
        <a:lstStyle/>
        <a:p>
          <a:r>
            <a:rPr lang="zh-CN" altLang="en-US" sz="2000" dirty="0">
              <a:latin typeface="微软雅黑" panose="020B0503020204020204" pitchFamily="34" charset="-122"/>
              <a:ea typeface="微软雅黑" panose="020B0503020204020204" pitchFamily="34" charset="-122"/>
            </a:rPr>
            <a:t>质量过滤</a:t>
          </a:r>
        </a:p>
      </dgm:t>
    </dgm:pt>
    <dgm:pt modelId="{2E60DD9F-49D9-445E-8228-615D20474181}" type="parTrans" cxnId="{A9FF1079-D2AD-45CD-BA93-CD14EF6830BB}">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FE16CD86-34DE-4FC6-9688-BF19CD0FB49E}" type="sibTrans" cxnId="{A9FF1079-D2AD-45CD-BA93-CD14EF6830BB}">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BBC7C8A5-3FDF-462D-A615-BD6DA8EC6DBC}">
      <dgm:prSet phldrT="[文本]" custT="1"/>
      <dgm:spPr/>
      <dgm:t>
        <a:bodyPr/>
        <a:lstStyle/>
        <a:p>
          <a:r>
            <a:rPr lang="zh-CN" altLang="en-US" sz="2000" dirty="0">
              <a:latin typeface="微软雅黑" panose="020B0503020204020204" pitchFamily="34" charset="-122"/>
              <a:ea typeface="微软雅黑" panose="020B0503020204020204" pitchFamily="34" charset="-122"/>
            </a:rPr>
            <a:t>数据去重</a:t>
          </a:r>
        </a:p>
      </dgm:t>
    </dgm:pt>
    <dgm:pt modelId="{4E3E42CF-FFBB-4761-8800-F67C6DACD7F8}" type="parTrans" cxnId="{C2C961DC-2732-47FE-AFB9-434AEF04D42C}">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CCBB478B-70F0-404A-8234-666E2E06F95D}" type="sibTrans" cxnId="{C2C961DC-2732-47FE-AFB9-434AEF04D42C}">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E9D9DAE4-0173-4F5C-BCB4-23CBD92F1894}">
      <dgm:prSet phldrT="[文本]" custT="1"/>
      <dgm:spPr/>
      <dgm:t>
        <a:bodyPr/>
        <a:lstStyle/>
        <a:p>
          <a:r>
            <a:rPr lang="zh-CN" altLang="en-US" sz="2000" dirty="0">
              <a:latin typeface="微软雅黑" panose="020B0503020204020204" pitchFamily="34" charset="-122"/>
              <a:ea typeface="微软雅黑" panose="020B0503020204020204" pitchFamily="34" charset="-122"/>
            </a:rPr>
            <a:t>隐私去除</a:t>
          </a:r>
        </a:p>
      </dgm:t>
    </dgm:pt>
    <dgm:pt modelId="{C309E366-0A10-4BBA-A35A-CA91547618E0}" type="parTrans" cxnId="{BC28C942-93E7-4619-8C83-46FBDB9C3B6F}">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E49743EB-A669-4E95-A20B-CFB6745611F5}" type="sibTrans" cxnId="{BC28C942-93E7-4619-8C83-46FBDB9C3B6F}">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3CEE2C5-1937-4FE8-BB74-EFC53E997668}">
      <dgm:prSet phldrT="[文本]" custT="1"/>
      <dgm:spPr/>
      <dgm:t>
        <a:bodyPr/>
        <a:lstStyle/>
        <a:p>
          <a:r>
            <a:rPr lang="zh-CN" altLang="en-US" sz="2000" dirty="0">
              <a:latin typeface="微软雅黑" panose="020B0503020204020204" pitchFamily="34" charset="-122"/>
              <a:ea typeface="微软雅黑" panose="020B0503020204020204" pitchFamily="34" charset="-122"/>
            </a:rPr>
            <a:t>分词</a:t>
          </a:r>
        </a:p>
      </dgm:t>
    </dgm:pt>
    <dgm:pt modelId="{9E16D22A-7463-4337-8548-997CB9ED6AB0}" type="parTrans" cxnId="{7A6CF85B-042E-467C-8209-3C9BC161D114}">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5D922D60-D6C8-40D2-8ABD-D06D7B57B849}" type="sibTrans" cxnId="{7A6CF85B-042E-467C-8209-3C9BC161D114}">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E14AF87C-19A8-49DD-905E-9F0E2834FD0A}" type="pres">
      <dgm:prSet presAssocID="{09511542-9E62-43C2-8B3B-84DA4FB67179}" presName="Name0" presStyleCnt="0">
        <dgm:presLayoutVars>
          <dgm:dir/>
          <dgm:animLvl val="lvl"/>
          <dgm:resizeHandles val="exact"/>
        </dgm:presLayoutVars>
      </dgm:prSet>
      <dgm:spPr/>
    </dgm:pt>
    <dgm:pt modelId="{8F12F2D8-0E5B-4D7F-8EFE-9AE594033544}" type="pres">
      <dgm:prSet presAssocID="{408986B3-9527-448F-AFBA-2BE2748C92BC}" presName="Name8" presStyleCnt="0"/>
      <dgm:spPr/>
    </dgm:pt>
    <dgm:pt modelId="{FB07F3A2-EDF6-4A49-AC6C-07EE67798E9A}" type="pres">
      <dgm:prSet presAssocID="{408986B3-9527-448F-AFBA-2BE2748C92BC}" presName="level" presStyleLbl="node1" presStyleIdx="0" presStyleCnt="4">
        <dgm:presLayoutVars>
          <dgm:chMax val="1"/>
          <dgm:bulletEnabled val="1"/>
        </dgm:presLayoutVars>
      </dgm:prSet>
      <dgm:spPr/>
    </dgm:pt>
    <dgm:pt modelId="{EF37F057-CCFF-478E-BED1-032524ACA47E}" type="pres">
      <dgm:prSet presAssocID="{408986B3-9527-448F-AFBA-2BE2748C92BC}" presName="levelTx" presStyleLbl="revTx" presStyleIdx="0" presStyleCnt="0">
        <dgm:presLayoutVars>
          <dgm:chMax val="1"/>
          <dgm:bulletEnabled val="1"/>
        </dgm:presLayoutVars>
      </dgm:prSet>
      <dgm:spPr/>
    </dgm:pt>
    <dgm:pt modelId="{447C2244-F716-4087-BF7E-E6B4732130FF}" type="pres">
      <dgm:prSet presAssocID="{BBC7C8A5-3FDF-462D-A615-BD6DA8EC6DBC}" presName="Name8" presStyleCnt="0"/>
      <dgm:spPr/>
    </dgm:pt>
    <dgm:pt modelId="{4812AF66-146C-44EF-8458-2C1A1ADAF8D2}" type="pres">
      <dgm:prSet presAssocID="{BBC7C8A5-3FDF-462D-A615-BD6DA8EC6DBC}" presName="level" presStyleLbl="node1" presStyleIdx="1" presStyleCnt="4">
        <dgm:presLayoutVars>
          <dgm:chMax val="1"/>
          <dgm:bulletEnabled val="1"/>
        </dgm:presLayoutVars>
      </dgm:prSet>
      <dgm:spPr/>
    </dgm:pt>
    <dgm:pt modelId="{817D0110-D43B-4266-8A58-6AEAE1779C61}" type="pres">
      <dgm:prSet presAssocID="{BBC7C8A5-3FDF-462D-A615-BD6DA8EC6DBC}" presName="levelTx" presStyleLbl="revTx" presStyleIdx="0" presStyleCnt="0">
        <dgm:presLayoutVars>
          <dgm:chMax val="1"/>
          <dgm:bulletEnabled val="1"/>
        </dgm:presLayoutVars>
      </dgm:prSet>
      <dgm:spPr/>
    </dgm:pt>
    <dgm:pt modelId="{A39E69E2-2224-4DD5-80F0-8F496BCD30AF}" type="pres">
      <dgm:prSet presAssocID="{E9D9DAE4-0173-4F5C-BCB4-23CBD92F1894}" presName="Name8" presStyleCnt="0"/>
      <dgm:spPr/>
    </dgm:pt>
    <dgm:pt modelId="{87F87FE7-457D-401A-BC8B-030975D42E4D}" type="pres">
      <dgm:prSet presAssocID="{E9D9DAE4-0173-4F5C-BCB4-23CBD92F1894}" presName="level" presStyleLbl="node1" presStyleIdx="2" presStyleCnt="4">
        <dgm:presLayoutVars>
          <dgm:chMax val="1"/>
          <dgm:bulletEnabled val="1"/>
        </dgm:presLayoutVars>
      </dgm:prSet>
      <dgm:spPr/>
    </dgm:pt>
    <dgm:pt modelId="{C7952DEE-29BD-41A4-B7AC-5721519C5A00}" type="pres">
      <dgm:prSet presAssocID="{E9D9DAE4-0173-4F5C-BCB4-23CBD92F1894}" presName="levelTx" presStyleLbl="revTx" presStyleIdx="0" presStyleCnt="0">
        <dgm:presLayoutVars>
          <dgm:chMax val="1"/>
          <dgm:bulletEnabled val="1"/>
        </dgm:presLayoutVars>
      </dgm:prSet>
      <dgm:spPr/>
    </dgm:pt>
    <dgm:pt modelId="{6B7C5D03-F102-4C8A-8B88-E7B1F3F55873}" type="pres">
      <dgm:prSet presAssocID="{93CEE2C5-1937-4FE8-BB74-EFC53E997668}" presName="Name8" presStyleCnt="0"/>
      <dgm:spPr/>
    </dgm:pt>
    <dgm:pt modelId="{449BC391-2A02-4319-B557-CAF42F1137AA}" type="pres">
      <dgm:prSet presAssocID="{93CEE2C5-1937-4FE8-BB74-EFC53E997668}" presName="level" presStyleLbl="node1" presStyleIdx="3" presStyleCnt="4">
        <dgm:presLayoutVars>
          <dgm:chMax val="1"/>
          <dgm:bulletEnabled val="1"/>
        </dgm:presLayoutVars>
      </dgm:prSet>
      <dgm:spPr/>
    </dgm:pt>
    <dgm:pt modelId="{144D3977-31BF-4CB4-A309-909DFE2B4013}" type="pres">
      <dgm:prSet presAssocID="{93CEE2C5-1937-4FE8-BB74-EFC53E997668}" presName="levelTx" presStyleLbl="revTx" presStyleIdx="0" presStyleCnt="0">
        <dgm:presLayoutVars>
          <dgm:chMax val="1"/>
          <dgm:bulletEnabled val="1"/>
        </dgm:presLayoutVars>
      </dgm:prSet>
      <dgm:spPr/>
    </dgm:pt>
  </dgm:ptLst>
  <dgm:cxnLst>
    <dgm:cxn modelId="{B2661800-B99D-4E0A-9EFA-F3A5FA03E5D4}" type="presOf" srcId="{E9D9DAE4-0173-4F5C-BCB4-23CBD92F1894}" destId="{87F87FE7-457D-401A-BC8B-030975D42E4D}" srcOrd="0" destOrd="0" presId="urn:microsoft.com/office/officeart/2005/8/layout/pyramid3"/>
    <dgm:cxn modelId="{7A6CF85B-042E-467C-8209-3C9BC161D114}" srcId="{09511542-9E62-43C2-8B3B-84DA4FB67179}" destId="{93CEE2C5-1937-4FE8-BB74-EFC53E997668}" srcOrd="3" destOrd="0" parTransId="{9E16D22A-7463-4337-8548-997CB9ED6AB0}" sibTransId="{5D922D60-D6C8-40D2-8ABD-D06D7B57B849}"/>
    <dgm:cxn modelId="{BC28C942-93E7-4619-8C83-46FBDB9C3B6F}" srcId="{09511542-9E62-43C2-8B3B-84DA4FB67179}" destId="{E9D9DAE4-0173-4F5C-BCB4-23CBD92F1894}" srcOrd="2" destOrd="0" parTransId="{C309E366-0A10-4BBA-A35A-CA91547618E0}" sibTransId="{E49743EB-A669-4E95-A20B-CFB6745611F5}"/>
    <dgm:cxn modelId="{A1273967-FDCD-46E0-979B-9F262FA3085D}" type="presOf" srcId="{E9D9DAE4-0173-4F5C-BCB4-23CBD92F1894}" destId="{C7952DEE-29BD-41A4-B7AC-5721519C5A00}" srcOrd="1" destOrd="0" presId="urn:microsoft.com/office/officeart/2005/8/layout/pyramid3"/>
    <dgm:cxn modelId="{EC1DFA6E-9B88-4A44-BAF4-C1F9118B3B6E}" type="presOf" srcId="{BBC7C8A5-3FDF-462D-A615-BD6DA8EC6DBC}" destId="{4812AF66-146C-44EF-8458-2C1A1ADAF8D2}" srcOrd="0" destOrd="0" presId="urn:microsoft.com/office/officeart/2005/8/layout/pyramid3"/>
    <dgm:cxn modelId="{67D5AE50-4C03-407C-93F1-B5618DFAA42D}" type="presOf" srcId="{93CEE2C5-1937-4FE8-BB74-EFC53E997668}" destId="{144D3977-31BF-4CB4-A309-909DFE2B4013}" srcOrd="1" destOrd="0" presId="urn:microsoft.com/office/officeart/2005/8/layout/pyramid3"/>
    <dgm:cxn modelId="{A9FF1079-D2AD-45CD-BA93-CD14EF6830BB}" srcId="{09511542-9E62-43C2-8B3B-84DA4FB67179}" destId="{408986B3-9527-448F-AFBA-2BE2748C92BC}" srcOrd="0" destOrd="0" parTransId="{2E60DD9F-49D9-445E-8228-615D20474181}" sibTransId="{FE16CD86-34DE-4FC6-9688-BF19CD0FB49E}"/>
    <dgm:cxn modelId="{2FA86C80-A2BC-456A-B60B-26054C6E090A}" type="presOf" srcId="{BBC7C8A5-3FDF-462D-A615-BD6DA8EC6DBC}" destId="{817D0110-D43B-4266-8A58-6AEAE1779C61}" srcOrd="1" destOrd="0" presId="urn:microsoft.com/office/officeart/2005/8/layout/pyramid3"/>
    <dgm:cxn modelId="{1A277880-F368-4CF5-8BFB-12C6CD095DD0}" type="presOf" srcId="{408986B3-9527-448F-AFBA-2BE2748C92BC}" destId="{FB07F3A2-EDF6-4A49-AC6C-07EE67798E9A}" srcOrd="0" destOrd="0" presId="urn:microsoft.com/office/officeart/2005/8/layout/pyramid3"/>
    <dgm:cxn modelId="{CA478485-90C4-47B9-B5F8-ECF44A0ABBF3}" type="presOf" srcId="{408986B3-9527-448F-AFBA-2BE2748C92BC}" destId="{EF37F057-CCFF-478E-BED1-032524ACA47E}" srcOrd="1" destOrd="0" presId="urn:microsoft.com/office/officeart/2005/8/layout/pyramid3"/>
    <dgm:cxn modelId="{F79F9285-4D4C-43E6-8BE2-9E001388D9B0}" type="presOf" srcId="{09511542-9E62-43C2-8B3B-84DA4FB67179}" destId="{E14AF87C-19A8-49DD-905E-9F0E2834FD0A}" srcOrd="0" destOrd="0" presId="urn:microsoft.com/office/officeart/2005/8/layout/pyramid3"/>
    <dgm:cxn modelId="{24443DC2-C48D-42A5-8E6F-EF10EE18AD3F}" type="presOf" srcId="{93CEE2C5-1937-4FE8-BB74-EFC53E997668}" destId="{449BC391-2A02-4319-B557-CAF42F1137AA}" srcOrd="0" destOrd="0" presId="urn:microsoft.com/office/officeart/2005/8/layout/pyramid3"/>
    <dgm:cxn modelId="{C2C961DC-2732-47FE-AFB9-434AEF04D42C}" srcId="{09511542-9E62-43C2-8B3B-84DA4FB67179}" destId="{BBC7C8A5-3FDF-462D-A615-BD6DA8EC6DBC}" srcOrd="1" destOrd="0" parTransId="{4E3E42CF-FFBB-4761-8800-F67C6DACD7F8}" sibTransId="{CCBB478B-70F0-404A-8234-666E2E06F95D}"/>
    <dgm:cxn modelId="{E229A39B-F17F-43E1-B689-C28F70C6B386}" type="presParOf" srcId="{E14AF87C-19A8-49DD-905E-9F0E2834FD0A}" destId="{8F12F2D8-0E5B-4D7F-8EFE-9AE594033544}" srcOrd="0" destOrd="0" presId="urn:microsoft.com/office/officeart/2005/8/layout/pyramid3"/>
    <dgm:cxn modelId="{BF336EE5-A939-47B0-9D9C-E2EC959BEB03}" type="presParOf" srcId="{8F12F2D8-0E5B-4D7F-8EFE-9AE594033544}" destId="{FB07F3A2-EDF6-4A49-AC6C-07EE67798E9A}" srcOrd="0" destOrd="0" presId="urn:microsoft.com/office/officeart/2005/8/layout/pyramid3"/>
    <dgm:cxn modelId="{53C8A48E-592C-4A4A-8718-B6B684DCBC0A}" type="presParOf" srcId="{8F12F2D8-0E5B-4D7F-8EFE-9AE594033544}" destId="{EF37F057-CCFF-478E-BED1-032524ACA47E}" srcOrd="1" destOrd="0" presId="urn:microsoft.com/office/officeart/2005/8/layout/pyramid3"/>
    <dgm:cxn modelId="{B810712B-BCC2-463D-99C4-02AB11EBB96B}" type="presParOf" srcId="{E14AF87C-19A8-49DD-905E-9F0E2834FD0A}" destId="{447C2244-F716-4087-BF7E-E6B4732130FF}" srcOrd="1" destOrd="0" presId="urn:microsoft.com/office/officeart/2005/8/layout/pyramid3"/>
    <dgm:cxn modelId="{9AE2937E-30BA-49D1-AA10-E6F57CE0C292}" type="presParOf" srcId="{447C2244-F716-4087-BF7E-E6B4732130FF}" destId="{4812AF66-146C-44EF-8458-2C1A1ADAF8D2}" srcOrd="0" destOrd="0" presId="urn:microsoft.com/office/officeart/2005/8/layout/pyramid3"/>
    <dgm:cxn modelId="{B8B3A818-1221-4520-9C00-3ADCC8BFD33B}" type="presParOf" srcId="{447C2244-F716-4087-BF7E-E6B4732130FF}" destId="{817D0110-D43B-4266-8A58-6AEAE1779C61}" srcOrd="1" destOrd="0" presId="urn:microsoft.com/office/officeart/2005/8/layout/pyramid3"/>
    <dgm:cxn modelId="{D7484E4E-F8AA-47BD-B096-7674249BB7BA}" type="presParOf" srcId="{E14AF87C-19A8-49DD-905E-9F0E2834FD0A}" destId="{A39E69E2-2224-4DD5-80F0-8F496BCD30AF}" srcOrd="2" destOrd="0" presId="urn:microsoft.com/office/officeart/2005/8/layout/pyramid3"/>
    <dgm:cxn modelId="{A9AF5C51-4483-406C-8C2E-84200DCA5BC5}" type="presParOf" srcId="{A39E69E2-2224-4DD5-80F0-8F496BCD30AF}" destId="{87F87FE7-457D-401A-BC8B-030975D42E4D}" srcOrd="0" destOrd="0" presId="urn:microsoft.com/office/officeart/2005/8/layout/pyramid3"/>
    <dgm:cxn modelId="{4703D33F-D222-4AEA-AD3F-8525860A6199}" type="presParOf" srcId="{A39E69E2-2224-4DD5-80F0-8F496BCD30AF}" destId="{C7952DEE-29BD-41A4-B7AC-5721519C5A00}" srcOrd="1" destOrd="0" presId="urn:microsoft.com/office/officeart/2005/8/layout/pyramid3"/>
    <dgm:cxn modelId="{D060F588-B0B3-408D-B4EA-9E10A8752B52}" type="presParOf" srcId="{E14AF87C-19A8-49DD-905E-9F0E2834FD0A}" destId="{6B7C5D03-F102-4C8A-8B88-E7B1F3F55873}" srcOrd="3" destOrd="0" presId="urn:microsoft.com/office/officeart/2005/8/layout/pyramid3"/>
    <dgm:cxn modelId="{78FA3717-32BE-4B33-89C7-1EA1F14EEFF1}" type="presParOf" srcId="{6B7C5D03-F102-4C8A-8B88-E7B1F3F55873}" destId="{449BC391-2A02-4319-B557-CAF42F1137AA}" srcOrd="0" destOrd="0" presId="urn:microsoft.com/office/officeart/2005/8/layout/pyramid3"/>
    <dgm:cxn modelId="{E865C21D-08D5-4285-BCAA-FE2B248CD0CA}" type="presParOf" srcId="{6B7C5D03-F102-4C8A-8B88-E7B1F3F55873}" destId="{144D3977-31BF-4CB4-A309-909DFE2B4013}" srcOrd="1"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0AC83E-13A8-47C6-B511-44A9E7F2E577}" type="doc">
      <dgm:prSet loTypeId="urn:microsoft.com/office/officeart/2005/8/layout/process1" loCatId="process" qsTypeId="urn:microsoft.com/office/officeart/2005/8/quickstyle/simple1" qsCatId="simple" csTypeId="urn:microsoft.com/office/officeart/2005/8/colors/accent5_4" csCatId="accent5" phldr="1"/>
      <dgm:spPr/>
    </dgm:pt>
    <dgm:pt modelId="{AA7CC58B-0C6B-4DCF-9889-2C942C855ED3}">
      <dgm:prSet phldrT="[文本]" custT="1"/>
      <dgm:spPr/>
      <dgm:t>
        <a:bodyPr/>
        <a:lstStyle/>
        <a:p>
          <a:r>
            <a:rPr lang="zh-CN" altLang="en-US" sz="1800" b="1" dirty="0">
              <a:latin typeface="微软雅黑" panose="020B0503020204020204" pitchFamily="34" charset="-122"/>
              <a:ea typeface="微软雅黑" panose="020B0503020204020204" pitchFamily="34" charset="-122"/>
            </a:rPr>
            <a:t>数据准备</a:t>
          </a:r>
        </a:p>
      </dgm:t>
    </dgm:pt>
    <dgm:pt modelId="{D309795A-6506-4593-98E7-343B29408ED4}" type="parTrans" cxnId="{6F98292D-9AB5-46ED-89C0-F6EFC8DFAC65}">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E4F4792F-1021-4E27-9F21-2123D2F2B446}" type="sibTrans" cxnId="{6F98292D-9AB5-46ED-89C0-F6EFC8DFAC65}">
      <dgm:prSet custT="1"/>
      <dgm:spPr/>
      <dgm:t>
        <a:bodyPr/>
        <a:lstStyle/>
        <a:p>
          <a:endParaRPr lang="zh-CN" altLang="en-US" sz="1000" b="1">
            <a:latin typeface="微软雅黑" panose="020B0503020204020204" pitchFamily="34" charset="-122"/>
            <a:ea typeface="微软雅黑" panose="020B0503020204020204" pitchFamily="34" charset="-122"/>
          </a:endParaRPr>
        </a:p>
      </dgm:t>
    </dgm:pt>
    <dgm:pt modelId="{72693EBC-CA02-4150-928C-A3E860565E81}">
      <dgm:prSet phldrT="[文本]" custT="1"/>
      <dgm:spPr/>
      <dgm:t>
        <a:bodyPr/>
        <a:lstStyle/>
        <a:p>
          <a:r>
            <a:rPr lang="zh-CN" altLang="en-US" sz="1800" b="1" dirty="0">
              <a:latin typeface="微软雅黑" panose="020B0503020204020204" pitchFamily="34" charset="-122"/>
              <a:ea typeface="微软雅黑" panose="020B0503020204020204" pitchFamily="34" charset="-122"/>
            </a:rPr>
            <a:t>数据集构造</a:t>
          </a:r>
        </a:p>
      </dgm:t>
    </dgm:pt>
    <dgm:pt modelId="{52828A8D-5979-4A19-9B82-4BA4BA200E58}" type="parTrans" cxnId="{A0A5342A-A618-44CA-B903-96148A3059EE}">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6F7AB5BE-3EAB-4CBB-8ED0-77D3894AF702}" type="sibTrans" cxnId="{A0A5342A-A618-44CA-B903-96148A3059EE}">
      <dgm:prSet custT="1"/>
      <dgm:spPr/>
      <dgm:t>
        <a:bodyPr/>
        <a:lstStyle/>
        <a:p>
          <a:endParaRPr lang="zh-CN" altLang="en-US" sz="1000" b="1">
            <a:latin typeface="微软雅黑" panose="020B0503020204020204" pitchFamily="34" charset="-122"/>
            <a:ea typeface="微软雅黑" panose="020B0503020204020204" pitchFamily="34" charset="-122"/>
          </a:endParaRPr>
        </a:p>
      </dgm:t>
    </dgm:pt>
    <dgm:pt modelId="{DCBE4C02-2026-45F2-BBAF-EF2DBB3B6EFD}">
      <dgm:prSet phldrT="[文本]" custT="1"/>
      <dgm:spPr/>
      <dgm:t>
        <a:bodyPr/>
        <a:lstStyle/>
        <a:p>
          <a:r>
            <a:rPr lang="zh-CN" altLang="en-US" sz="1800" b="1" dirty="0">
              <a:latin typeface="微软雅黑" panose="020B0503020204020204" pitchFamily="34" charset="-122"/>
              <a:ea typeface="微软雅黑" panose="020B0503020204020204" pitchFamily="34" charset="-122"/>
            </a:rPr>
            <a:t>微调技术选择</a:t>
          </a:r>
        </a:p>
      </dgm:t>
    </dgm:pt>
    <dgm:pt modelId="{E44AB307-567C-4E70-9B4C-D76A349C09B6}" type="parTrans" cxnId="{CE519128-A52F-4409-9810-4AE29DFD4F5D}">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7FCD1288-EAFA-471C-B703-202181365051}" type="sibTrans" cxnId="{CE519128-A52F-4409-9810-4AE29DFD4F5D}">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DEB251A5-06C4-4C7C-A43D-B48B8D42322C}">
      <dgm:prSet phldrT="[文本]" custT="1"/>
      <dgm:spPr/>
      <dgm:t>
        <a:bodyPr/>
        <a:lstStyle/>
        <a:p>
          <a:r>
            <a:rPr lang="en-US" altLang="zh-CN" sz="1800" b="1" dirty="0">
              <a:latin typeface="微软雅黑" panose="020B0503020204020204" pitchFamily="34" charset="-122"/>
              <a:ea typeface="微软雅黑" panose="020B0503020204020204" pitchFamily="34" charset="-122"/>
            </a:rPr>
            <a:t>LLM</a:t>
          </a:r>
          <a:r>
            <a:rPr lang="zh-CN" altLang="en-US" sz="1800" b="1" dirty="0">
              <a:latin typeface="微软雅黑" panose="020B0503020204020204" pitchFamily="34" charset="-122"/>
              <a:ea typeface="微软雅黑" panose="020B0503020204020204" pitchFamily="34" charset="-122"/>
            </a:rPr>
            <a:t>微调</a:t>
          </a:r>
        </a:p>
      </dgm:t>
    </dgm:pt>
    <dgm:pt modelId="{2485BD80-043C-4FF8-9A3D-EC2219E8592A}" type="parTrans" cxnId="{822078F3-3D12-400D-B195-F9FA47992949}">
      <dgm:prSet/>
      <dgm:spPr/>
      <dgm:t>
        <a:bodyPr/>
        <a:lstStyle/>
        <a:p>
          <a:endParaRPr lang="zh-CN" altLang="en-US"/>
        </a:p>
      </dgm:t>
    </dgm:pt>
    <dgm:pt modelId="{D4C137C5-B9AC-4BED-B606-127DC4FA2A39}" type="sibTrans" cxnId="{822078F3-3D12-400D-B195-F9FA47992949}">
      <dgm:prSet/>
      <dgm:spPr/>
      <dgm:t>
        <a:bodyPr/>
        <a:lstStyle/>
        <a:p>
          <a:endParaRPr lang="zh-CN" altLang="en-US"/>
        </a:p>
      </dgm:t>
    </dgm:pt>
    <dgm:pt modelId="{71F43B79-4F16-4D8D-9CA9-878CEBC957A1}" type="pres">
      <dgm:prSet presAssocID="{B50AC83E-13A8-47C6-B511-44A9E7F2E577}" presName="Name0" presStyleCnt="0">
        <dgm:presLayoutVars>
          <dgm:dir/>
          <dgm:resizeHandles val="exact"/>
        </dgm:presLayoutVars>
      </dgm:prSet>
      <dgm:spPr/>
    </dgm:pt>
    <dgm:pt modelId="{8D40967B-5F84-4A2B-B2BC-A5B8E3E725C3}" type="pres">
      <dgm:prSet presAssocID="{AA7CC58B-0C6B-4DCF-9889-2C942C855ED3}" presName="node" presStyleLbl="node1" presStyleIdx="0" presStyleCnt="4">
        <dgm:presLayoutVars>
          <dgm:bulletEnabled val="1"/>
        </dgm:presLayoutVars>
      </dgm:prSet>
      <dgm:spPr/>
    </dgm:pt>
    <dgm:pt modelId="{9D476BE9-9346-4832-8A54-533C1B2CE73A}" type="pres">
      <dgm:prSet presAssocID="{E4F4792F-1021-4E27-9F21-2123D2F2B446}" presName="sibTrans" presStyleLbl="sibTrans2D1" presStyleIdx="0" presStyleCnt="3"/>
      <dgm:spPr/>
    </dgm:pt>
    <dgm:pt modelId="{69A172AA-62A6-45F0-9A31-72E4097D52F3}" type="pres">
      <dgm:prSet presAssocID="{E4F4792F-1021-4E27-9F21-2123D2F2B446}" presName="connectorText" presStyleLbl="sibTrans2D1" presStyleIdx="0" presStyleCnt="3"/>
      <dgm:spPr/>
    </dgm:pt>
    <dgm:pt modelId="{41C55C00-79AB-4A25-BBEE-D5DC908D622D}" type="pres">
      <dgm:prSet presAssocID="{72693EBC-CA02-4150-928C-A3E860565E81}" presName="node" presStyleLbl="node1" presStyleIdx="1" presStyleCnt="4">
        <dgm:presLayoutVars>
          <dgm:bulletEnabled val="1"/>
        </dgm:presLayoutVars>
      </dgm:prSet>
      <dgm:spPr/>
    </dgm:pt>
    <dgm:pt modelId="{8A205C48-3805-4DF2-9736-AF3736FF190F}" type="pres">
      <dgm:prSet presAssocID="{6F7AB5BE-3EAB-4CBB-8ED0-77D3894AF702}" presName="sibTrans" presStyleLbl="sibTrans2D1" presStyleIdx="1" presStyleCnt="3"/>
      <dgm:spPr/>
    </dgm:pt>
    <dgm:pt modelId="{9CFE43ED-85AE-4D79-842D-F3164A47DAC0}" type="pres">
      <dgm:prSet presAssocID="{6F7AB5BE-3EAB-4CBB-8ED0-77D3894AF702}" presName="connectorText" presStyleLbl="sibTrans2D1" presStyleIdx="1" presStyleCnt="3"/>
      <dgm:spPr/>
    </dgm:pt>
    <dgm:pt modelId="{A9742925-57E8-4D29-8435-EE11D0111D12}" type="pres">
      <dgm:prSet presAssocID="{DCBE4C02-2026-45F2-BBAF-EF2DBB3B6EFD}" presName="node" presStyleLbl="node1" presStyleIdx="2" presStyleCnt="4">
        <dgm:presLayoutVars>
          <dgm:bulletEnabled val="1"/>
        </dgm:presLayoutVars>
      </dgm:prSet>
      <dgm:spPr/>
    </dgm:pt>
    <dgm:pt modelId="{FA2CFE29-9592-4DDA-A8EF-DF283A2640FA}" type="pres">
      <dgm:prSet presAssocID="{7FCD1288-EAFA-471C-B703-202181365051}" presName="sibTrans" presStyleLbl="sibTrans2D1" presStyleIdx="2" presStyleCnt="3"/>
      <dgm:spPr/>
    </dgm:pt>
    <dgm:pt modelId="{77B422DB-10E7-46DC-9E51-BC53524B983A}" type="pres">
      <dgm:prSet presAssocID="{7FCD1288-EAFA-471C-B703-202181365051}" presName="connectorText" presStyleLbl="sibTrans2D1" presStyleIdx="2" presStyleCnt="3"/>
      <dgm:spPr/>
    </dgm:pt>
    <dgm:pt modelId="{A9CB4FE3-9D09-4FF1-A3C9-EE7D61B35525}" type="pres">
      <dgm:prSet presAssocID="{DEB251A5-06C4-4C7C-A43D-B48B8D42322C}" presName="node" presStyleLbl="node1" presStyleIdx="3" presStyleCnt="4">
        <dgm:presLayoutVars>
          <dgm:bulletEnabled val="1"/>
        </dgm:presLayoutVars>
      </dgm:prSet>
      <dgm:spPr/>
    </dgm:pt>
  </dgm:ptLst>
  <dgm:cxnLst>
    <dgm:cxn modelId="{4D1BF311-5C9C-4A9B-A890-7EEF172A02D2}" type="presOf" srcId="{DCBE4C02-2026-45F2-BBAF-EF2DBB3B6EFD}" destId="{A9742925-57E8-4D29-8435-EE11D0111D12}" srcOrd="0" destOrd="0" presId="urn:microsoft.com/office/officeart/2005/8/layout/process1"/>
    <dgm:cxn modelId="{CE519128-A52F-4409-9810-4AE29DFD4F5D}" srcId="{B50AC83E-13A8-47C6-B511-44A9E7F2E577}" destId="{DCBE4C02-2026-45F2-BBAF-EF2DBB3B6EFD}" srcOrd="2" destOrd="0" parTransId="{E44AB307-567C-4E70-9B4C-D76A349C09B6}" sibTransId="{7FCD1288-EAFA-471C-B703-202181365051}"/>
    <dgm:cxn modelId="{A0A5342A-A618-44CA-B903-96148A3059EE}" srcId="{B50AC83E-13A8-47C6-B511-44A9E7F2E577}" destId="{72693EBC-CA02-4150-928C-A3E860565E81}" srcOrd="1" destOrd="0" parTransId="{52828A8D-5979-4A19-9B82-4BA4BA200E58}" sibTransId="{6F7AB5BE-3EAB-4CBB-8ED0-77D3894AF702}"/>
    <dgm:cxn modelId="{6F98292D-9AB5-46ED-89C0-F6EFC8DFAC65}" srcId="{B50AC83E-13A8-47C6-B511-44A9E7F2E577}" destId="{AA7CC58B-0C6B-4DCF-9889-2C942C855ED3}" srcOrd="0" destOrd="0" parTransId="{D309795A-6506-4593-98E7-343B29408ED4}" sibTransId="{E4F4792F-1021-4E27-9F21-2123D2F2B446}"/>
    <dgm:cxn modelId="{5EE0FB2E-768C-47CA-A882-AA7BAE4CAE59}" type="presOf" srcId="{B50AC83E-13A8-47C6-B511-44A9E7F2E577}" destId="{71F43B79-4F16-4D8D-9CA9-878CEBC957A1}" srcOrd="0" destOrd="0" presId="urn:microsoft.com/office/officeart/2005/8/layout/process1"/>
    <dgm:cxn modelId="{99D04A31-B9F2-46AE-838C-BB8C0CE75EC8}" type="presOf" srcId="{7FCD1288-EAFA-471C-B703-202181365051}" destId="{77B422DB-10E7-46DC-9E51-BC53524B983A}" srcOrd="1" destOrd="0" presId="urn:microsoft.com/office/officeart/2005/8/layout/process1"/>
    <dgm:cxn modelId="{97796C38-4B0A-4B95-AEFF-92D7517692B2}" type="presOf" srcId="{AA7CC58B-0C6B-4DCF-9889-2C942C855ED3}" destId="{8D40967B-5F84-4A2B-B2BC-A5B8E3E725C3}" srcOrd="0" destOrd="0" presId="urn:microsoft.com/office/officeart/2005/8/layout/process1"/>
    <dgm:cxn modelId="{0A6C4263-B7A8-41DA-B439-755AD25CC308}" type="presOf" srcId="{7FCD1288-EAFA-471C-B703-202181365051}" destId="{FA2CFE29-9592-4DDA-A8EF-DF283A2640FA}" srcOrd="0" destOrd="0" presId="urn:microsoft.com/office/officeart/2005/8/layout/process1"/>
    <dgm:cxn modelId="{46E1C168-89CE-4B45-9BC8-D4404A2532BA}" type="presOf" srcId="{E4F4792F-1021-4E27-9F21-2123D2F2B446}" destId="{9D476BE9-9346-4832-8A54-533C1B2CE73A}" srcOrd="0" destOrd="0" presId="urn:microsoft.com/office/officeart/2005/8/layout/process1"/>
    <dgm:cxn modelId="{5F3DEC72-9D62-4E00-9D68-450587634130}" type="presOf" srcId="{72693EBC-CA02-4150-928C-A3E860565E81}" destId="{41C55C00-79AB-4A25-BBEE-D5DC908D622D}" srcOrd="0" destOrd="0" presId="urn:microsoft.com/office/officeart/2005/8/layout/process1"/>
    <dgm:cxn modelId="{3CB29879-A256-4136-85B6-C84F774839A4}" type="presOf" srcId="{DEB251A5-06C4-4C7C-A43D-B48B8D42322C}" destId="{A9CB4FE3-9D09-4FF1-A3C9-EE7D61B35525}" srcOrd="0" destOrd="0" presId="urn:microsoft.com/office/officeart/2005/8/layout/process1"/>
    <dgm:cxn modelId="{4F1533BB-8BBB-4B54-B75A-22FED9BA5B57}" type="presOf" srcId="{6F7AB5BE-3EAB-4CBB-8ED0-77D3894AF702}" destId="{9CFE43ED-85AE-4D79-842D-F3164A47DAC0}" srcOrd="1" destOrd="0" presId="urn:microsoft.com/office/officeart/2005/8/layout/process1"/>
    <dgm:cxn modelId="{B70CD2DD-1A27-4CB1-A8CD-C6F6E03C5CC8}" type="presOf" srcId="{E4F4792F-1021-4E27-9F21-2123D2F2B446}" destId="{69A172AA-62A6-45F0-9A31-72E4097D52F3}" srcOrd="1" destOrd="0" presId="urn:microsoft.com/office/officeart/2005/8/layout/process1"/>
    <dgm:cxn modelId="{8454A1F0-72BD-4D65-BB11-7B038A3730CA}" type="presOf" srcId="{6F7AB5BE-3EAB-4CBB-8ED0-77D3894AF702}" destId="{8A205C48-3805-4DF2-9736-AF3736FF190F}" srcOrd="0" destOrd="0" presId="urn:microsoft.com/office/officeart/2005/8/layout/process1"/>
    <dgm:cxn modelId="{822078F3-3D12-400D-B195-F9FA47992949}" srcId="{B50AC83E-13A8-47C6-B511-44A9E7F2E577}" destId="{DEB251A5-06C4-4C7C-A43D-B48B8D42322C}" srcOrd="3" destOrd="0" parTransId="{2485BD80-043C-4FF8-9A3D-EC2219E8592A}" sibTransId="{D4C137C5-B9AC-4BED-B606-127DC4FA2A39}"/>
    <dgm:cxn modelId="{6BBFC332-1073-42F6-B110-2338AEB30961}" type="presParOf" srcId="{71F43B79-4F16-4D8D-9CA9-878CEBC957A1}" destId="{8D40967B-5F84-4A2B-B2BC-A5B8E3E725C3}" srcOrd="0" destOrd="0" presId="urn:microsoft.com/office/officeart/2005/8/layout/process1"/>
    <dgm:cxn modelId="{A476C452-B286-4373-8A4A-3349C49037BD}" type="presParOf" srcId="{71F43B79-4F16-4D8D-9CA9-878CEBC957A1}" destId="{9D476BE9-9346-4832-8A54-533C1B2CE73A}" srcOrd="1" destOrd="0" presId="urn:microsoft.com/office/officeart/2005/8/layout/process1"/>
    <dgm:cxn modelId="{75F823D9-EBB4-4205-A8CC-5E2B7C29CB0C}" type="presParOf" srcId="{9D476BE9-9346-4832-8A54-533C1B2CE73A}" destId="{69A172AA-62A6-45F0-9A31-72E4097D52F3}" srcOrd="0" destOrd="0" presId="urn:microsoft.com/office/officeart/2005/8/layout/process1"/>
    <dgm:cxn modelId="{A25CEA93-2CA2-4D07-BE1B-5815A0DE4925}" type="presParOf" srcId="{71F43B79-4F16-4D8D-9CA9-878CEBC957A1}" destId="{41C55C00-79AB-4A25-BBEE-D5DC908D622D}" srcOrd="2" destOrd="0" presId="urn:microsoft.com/office/officeart/2005/8/layout/process1"/>
    <dgm:cxn modelId="{9D751388-8E99-49C5-919D-1F8E0A208D8E}" type="presParOf" srcId="{71F43B79-4F16-4D8D-9CA9-878CEBC957A1}" destId="{8A205C48-3805-4DF2-9736-AF3736FF190F}" srcOrd="3" destOrd="0" presId="urn:microsoft.com/office/officeart/2005/8/layout/process1"/>
    <dgm:cxn modelId="{1D9FBC40-F35C-4C84-8919-84325EF7234B}" type="presParOf" srcId="{8A205C48-3805-4DF2-9736-AF3736FF190F}" destId="{9CFE43ED-85AE-4D79-842D-F3164A47DAC0}" srcOrd="0" destOrd="0" presId="urn:microsoft.com/office/officeart/2005/8/layout/process1"/>
    <dgm:cxn modelId="{05D6643E-552C-4228-A5C3-A5CAE4C270C4}" type="presParOf" srcId="{71F43B79-4F16-4D8D-9CA9-878CEBC957A1}" destId="{A9742925-57E8-4D29-8435-EE11D0111D12}" srcOrd="4" destOrd="0" presId="urn:microsoft.com/office/officeart/2005/8/layout/process1"/>
    <dgm:cxn modelId="{7A835DDD-A23D-4182-A978-6E2701CF1BF6}" type="presParOf" srcId="{71F43B79-4F16-4D8D-9CA9-878CEBC957A1}" destId="{FA2CFE29-9592-4DDA-A8EF-DF283A2640FA}" srcOrd="5" destOrd="0" presId="urn:microsoft.com/office/officeart/2005/8/layout/process1"/>
    <dgm:cxn modelId="{99124B10-CBF0-4321-93D9-FC344D350DEC}" type="presParOf" srcId="{FA2CFE29-9592-4DDA-A8EF-DF283A2640FA}" destId="{77B422DB-10E7-46DC-9E51-BC53524B983A}" srcOrd="0" destOrd="0" presId="urn:microsoft.com/office/officeart/2005/8/layout/process1"/>
    <dgm:cxn modelId="{62D5B2BE-F795-4443-A646-66838A546049}" type="presParOf" srcId="{71F43B79-4F16-4D8D-9CA9-878CEBC957A1}" destId="{A9CB4FE3-9D09-4FF1-A3C9-EE7D61B35525}"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7F3A2-EDF6-4A49-AC6C-07EE67798E9A}">
      <dsp:nvSpPr>
        <dsp:cNvPr id="0" name=""/>
        <dsp:cNvSpPr/>
      </dsp:nvSpPr>
      <dsp:spPr>
        <a:xfrm rot="10800000">
          <a:off x="0" y="0"/>
          <a:ext cx="3787080" cy="1182556"/>
        </a:xfrm>
        <a:prstGeom prst="trapezoid">
          <a:avLst>
            <a:gd name="adj" fmla="val 40031"/>
          </a:avLst>
        </a:prstGeom>
        <a:gradFill rotWithShape="0">
          <a:gsLst>
            <a:gs pos="0">
              <a:schemeClr val="accent5">
                <a:shade val="50000"/>
                <a:hueOff val="0"/>
                <a:satOff val="0"/>
                <a:lumOff val="0"/>
                <a:alphaOff val="0"/>
                <a:satMod val="103000"/>
                <a:lumMod val="102000"/>
                <a:tint val="94000"/>
              </a:schemeClr>
            </a:gs>
            <a:gs pos="50000">
              <a:schemeClr val="accent5">
                <a:shade val="50000"/>
                <a:hueOff val="0"/>
                <a:satOff val="0"/>
                <a:lumOff val="0"/>
                <a:alphaOff val="0"/>
                <a:satMod val="110000"/>
                <a:lumMod val="100000"/>
                <a:shade val="100000"/>
              </a:schemeClr>
            </a:gs>
            <a:gs pos="100000">
              <a:schemeClr val="accent5">
                <a:shade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微软雅黑" panose="020B0503020204020204" pitchFamily="34" charset="-122"/>
              <a:ea typeface="微软雅黑" panose="020B0503020204020204" pitchFamily="34" charset="-122"/>
            </a:rPr>
            <a:t>质量过滤</a:t>
          </a:r>
        </a:p>
      </dsp:txBody>
      <dsp:txXfrm rot="-10800000">
        <a:off x="662738" y="0"/>
        <a:ext cx="2461602" cy="1182556"/>
      </dsp:txXfrm>
    </dsp:sp>
    <dsp:sp modelId="{4812AF66-146C-44EF-8458-2C1A1ADAF8D2}">
      <dsp:nvSpPr>
        <dsp:cNvPr id="0" name=""/>
        <dsp:cNvSpPr/>
      </dsp:nvSpPr>
      <dsp:spPr>
        <a:xfrm rot="10800000">
          <a:off x="473385" y="1182556"/>
          <a:ext cx="2840310" cy="1182556"/>
        </a:xfrm>
        <a:prstGeom prst="trapezoid">
          <a:avLst>
            <a:gd name="adj" fmla="val 40031"/>
          </a:avLst>
        </a:prstGeom>
        <a:gradFill rotWithShape="0">
          <a:gsLst>
            <a:gs pos="0">
              <a:schemeClr val="accent5">
                <a:shade val="50000"/>
                <a:hueOff val="167129"/>
                <a:satOff val="4478"/>
                <a:lumOff val="19726"/>
                <a:alphaOff val="0"/>
                <a:satMod val="103000"/>
                <a:lumMod val="102000"/>
                <a:tint val="94000"/>
              </a:schemeClr>
            </a:gs>
            <a:gs pos="50000">
              <a:schemeClr val="accent5">
                <a:shade val="50000"/>
                <a:hueOff val="167129"/>
                <a:satOff val="4478"/>
                <a:lumOff val="19726"/>
                <a:alphaOff val="0"/>
                <a:satMod val="110000"/>
                <a:lumMod val="100000"/>
                <a:shade val="100000"/>
              </a:schemeClr>
            </a:gs>
            <a:gs pos="100000">
              <a:schemeClr val="accent5">
                <a:shade val="50000"/>
                <a:hueOff val="167129"/>
                <a:satOff val="4478"/>
                <a:lumOff val="1972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微软雅黑" panose="020B0503020204020204" pitchFamily="34" charset="-122"/>
              <a:ea typeface="微软雅黑" panose="020B0503020204020204" pitchFamily="34" charset="-122"/>
            </a:rPr>
            <a:t>数据去重</a:t>
          </a:r>
        </a:p>
      </dsp:txBody>
      <dsp:txXfrm rot="-10800000">
        <a:off x="970439" y="1182556"/>
        <a:ext cx="1846201" cy="1182556"/>
      </dsp:txXfrm>
    </dsp:sp>
    <dsp:sp modelId="{87F87FE7-457D-401A-BC8B-030975D42E4D}">
      <dsp:nvSpPr>
        <dsp:cNvPr id="0" name=""/>
        <dsp:cNvSpPr/>
      </dsp:nvSpPr>
      <dsp:spPr>
        <a:xfrm rot="10800000">
          <a:off x="946770" y="2365112"/>
          <a:ext cx="1893540" cy="1182556"/>
        </a:xfrm>
        <a:prstGeom prst="trapezoid">
          <a:avLst>
            <a:gd name="adj" fmla="val 40031"/>
          </a:avLst>
        </a:prstGeom>
        <a:gradFill rotWithShape="0">
          <a:gsLst>
            <a:gs pos="0">
              <a:schemeClr val="accent5">
                <a:shade val="50000"/>
                <a:hueOff val="334258"/>
                <a:satOff val="8955"/>
                <a:lumOff val="39453"/>
                <a:alphaOff val="0"/>
                <a:satMod val="103000"/>
                <a:lumMod val="102000"/>
                <a:tint val="94000"/>
              </a:schemeClr>
            </a:gs>
            <a:gs pos="50000">
              <a:schemeClr val="accent5">
                <a:shade val="50000"/>
                <a:hueOff val="334258"/>
                <a:satOff val="8955"/>
                <a:lumOff val="39453"/>
                <a:alphaOff val="0"/>
                <a:satMod val="110000"/>
                <a:lumMod val="100000"/>
                <a:shade val="100000"/>
              </a:schemeClr>
            </a:gs>
            <a:gs pos="100000">
              <a:schemeClr val="accent5">
                <a:shade val="50000"/>
                <a:hueOff val="334258"/>
                <a:satOff val="8955"/>
                <a:lumOff val="3945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微软雅黑" panose="020B0503020204020204" pitchFamily="34" charset="-122"/>
              <a:ea typeface="微软雅黑" panose="020B0503020204020204" pitchFamily="34" charset="-122"/>
            </a:rPr>
            <a:t>隐私去除</a:t>
          </a:r>
        </a:p>
      </dsp:txBody>
      <dsp:txXfrm rot="-10800000">
        <a:off x="1278139" y="2365112"/>
        <a:ext cx="1230801" cy="1182556"/>
      </dsp:txXfrm>
    </dsp:sp>
    <dsp:sp modelId="{449BC391-2A02-4319-B557-CAF42F1137AA}">
      <dsp:nvSpPr>
        <dsp:cNvPr id="0" name=""/>
        <dsp:cNvSpPr/>
      </dsp:nvSpPr>
      <dsp:spPr>
        <a:xfrm rot="10800000">
          <a:off x="1420155" y="3547669"/>
          <a:ext cx="946770" cy="1182556"/>
        </a:xfrm>
        <a:prstGeom prst="trapezoid">
          <a:avLst>
            <a:gd name="adj" fmla="val 50000"/>
          </a:avLst>
        </a:prstGeom>
        <a:gradFill rotWithShape="0">
          <a:gsLst>
            <a:gs pos="0">
              <a:schemeClr val="accent5">
                <a:shade val="50000"/>
                <a:hueOff val="167129"/>
                <a:satOff val="4478"/>
                <a:lumOff val="19726"/>
                <a:alphaOff val="0"/>
                <a:satMod val="103000"/>
                <a:lumMod val="102000"/>
                <a:tint val="94000"/>
              </a:schemeClr>
            </a:gs>
            <a:gs pos="50000">
              <a:schemeClr val="accent5">
                <a:shade val="50000"/>
                <a:hueOff val="167129"/>
                <a:satOff val="4478"/>
                <a:lumOff val="19726"/>
                <a:alphaOff val="0"/>
                <a:satMod val="110000"/>
                <a:lumMod val="100000"/>
                <a:shade val="100000"/>
              </a:schemeClr>
            </a:gs>
            <a:gs pos="100000">
              <a:schemeClr val="accent5">
                <a:shade val="50000"/>
                <a:hueOff val="167129"/>
                <a:satOff val="4478"/>
                <a:lumOff val="1972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微软雅黑" panose="020B0503020204020204" pitchFamily="34" charset="-122"/>
              <a:ea typeface="微软雅黑" panose="020B0503020204020204" pitchFamily="34" charset="-122"/>
            </a:rPr>
            <a:t>分词</a:t>
          </a:r>
        </a:p>
      </dsp:txBody>
      <dsp:txXfrm rot="-10800000">
        <a:off x="1420155" y="3547669"/>
        <a:ext cx="946770" cy="11825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0967B-5F84-4A2B-B2BC-A5B8E3E725C3}">
      <dsp:nvSpPr>
        <dsp:cNvPr id="0" name=""/>
        <dsp:cNvSpPr/>
      </dsp:nvSpPr>
      <dsp:spPr>
        <a:xfrm>
          <a:off x="3172" y="548114"/>
          <a:ext cx="1387231" cy="910370"/>
        </a:xfrm>
        <a:prstGeom prst="roundRect">
          <a:avLst>
            <a:gd name="adj" fmla="val 10000"/>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数据准备</a:t>
          </a:r>
        </a:p>
      </dsp:txBody>
      <dsp:txXfrm>
        <a:off x="29836" y="574778"/>
        <a:ext cx="1333903" cy="857042"/>
      </dsp:txXfrm>
    </dsp:sp>
    <dsp:sp modelId="{9D476BE9-9346-4832-8A54-533C1B2CE73A}">
      <dsp:nvSpPr>
        <dsp:cNvPr id="0" name=""/>
        <dsp:cNvSpPr/>
      </dsp:nvSpPr>
      <dsp:spPr>
        <a:xfrm>
          <a:off x="1529127" y="831283"/>
          <a:ext cx="294093" cy="344033"/>
        </a:xfrm>
        <a:prstGeom prst="rightArrow">
          <a:avLst>
            <a:gd name="adj1" fmla="val 60000"/>
            <a:gd name="adj2" fmla="val 50000"/>
          </a:avLst>
        </a:prstGeom>
        <a:solidFill>
          <a:schemeClr val="accent5">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b="1" kern="1200">
            <a:latin typeface="微软雅黑" panose="020B0503020204020204" pitchFamily="34" charset="-122"/>
            <a:ea typeface="微软雅黑" panose="020B0503020204020204" pitchFamily="34" charset="-122"/>
          </a:endParaRPr>
        </a:p>
      </dsp:txBody>
      <dsp:txXfrm>
        <a:off x="1529127" y="900090"/>
        <a:ext cx="205865" cy="206419"/>
      </dsp:txXfrm>
    </dsp:sp>
    <dsp:sp modelId="{41C55C00-79AB-4A25-BBEE-D5DC908D622D}">
      <dsp:nvSpPr>
        <dsp:cNvPr id="0" name=""/>
        <dsp:cNvSpPr/>
      </dsp:nvSpPr>
      <dsp:spPr>
        <a:xfrm>
          <a:off x="1945297" y="548114"/>
          <a:ext cx="1387231" cy="910370"/>
        </a:xfrm>
        <a:prstGeom prst="roundRect">
          <a:avLst>
            <a:gd name="adj" fmla="val 10000"/>
          </a:avLst>
        </a:prstGeom>
        <a:solidFill>
          <a:schemeClr val="accent5">
            <a:shade val="50000"/>
            <a:hueOff val="167129"/>
            <a:satOff val="4478"/>
            <a:lumOff val="19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数据集构造</a:t>
          </a:r>
        </a:p>
      </dsp:txBody>
      <dsp:txXfrm>
        <a:off x="1971961" y="574778"/>
        <a:ext cx="1333903" cy="857042"/>
      </dsp:txXfrm>
    </dsp:sp>
    <dsp:sp modelId="{8A205C48-3805-4DF2-9736-AF3736FF190F}">
      <dsp:nvSpPr>
        <dsp:cNvPr id="0" name=""/>
        <dsp:cNvSpPr/>
      </dsp:nvSpPr>
      <dsp:spPr>
        <a:xfrm>
          <a:off x="3471251" y="831283"/>
          <a:ext cx="294093" cy="344033"/>
        </a:xfrm>
        <a:prstGeom prst="rightArrow">
          <a:avLst>
            <a:gd name="adj1" fmla="val 60000"/>
            <a:gd name="adj2" fmla="val 50000"/>
          </a:avLst>
        </a:prstGeom>
        <a:solidFill>
          <a:schemeClr val="accent5">
            <a:shade val="90000"/>
            <a:hueOff val="233943"/>
            <a:satOff val="-2143"/>
            <a:lumOff val="185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b="1" kern="1200">
            <a:latin typeface="微软雅黑" panose="020B0503020204020204" pitchFamily="34" charset="-122"/>
            <a:ea typeface="微软雅黑" panose="020B0503020204020204" pitchFamily="34" charset="-122"/>
          </a:endParaRPr>
        </a:p>
      </dsp:txBody>
      <dsp:txXfrm>
        <a:off x="3471251" y="900090"/>
        <a:ext cx="205865" cy="206419"/>
      </dsp:txXfrm>
    </dsp:sp>
    <dsp:sp modelId="{A9742925-57E8-4D29-8435-EE11D0111D12}">
      <dsp:nvSpPr>
        <dsp:cNvPr id="0" name=""/>
        <dsp:cNvSpPr/>
      </dsp:nvSpPr>
      <dsp:spPr>
        <a:xfrm>
          <a:off x="3887421" y="548114"/>
          <a:ext cx="1387231" cy="910370"/>
        </a:xfrm>
        <a:prstGeom prst="roundRect">
          <a:avLst>
            <a:gd name="adj" fmla="val 10000"/>
          </a:avLst>
        </a:prstGeom>
        <a:solidFill>
          <a:schemeClr val="accent5">
            <a:shade val="50000"/>
            <a:hueOff val="334258"/>
            <a:satOff val="8955"/>
            <a:lumOff val="394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微调技术选择</a:t>
          </a:r>
        </a:p>
      </dsp:txBody>
      <dsp:txXfrm>
        <a:off x="3914085" y="574778"/>
        <a:ext cx="1333903" cy="857042"/>
      </dsp:txXfrm>
    </dsp:sp>
    <dsp:sp modelId="{FA2CFE29-9592-4DDA-A8EF-DF283A2640FA}">
      <dsp:nvSpPr>
        <dsp:cNvPr id="0" name=""/>
        <dsp:cNvSpPr/>
      </dsp:nvSpPr>
      <dsp:spPr>
        <a:xfrm>
          <a:off x="5413376" y="831283"/>
          <a:ext cx="294093" cy="344033"/>
        </a:xfrm>
        <a:prstGeom prst="rightArrow">
          <a:avLst>
            <a:gd name="adj1" fmla="val 60000"/>
            <a:gd name="adj2" fmla="val 50000"/>
          </a:avLst>
        </a:prstGeom>
        <a:solidFill>
          <a:schemeClr val="accent5">
            <a:shade val="90000"/>
            <a:hueOff val="233943"/>
            <a:satOff val="-2143"/>
            <a:lumOff val="185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b="1" kern="1200">
            <a:latin typeface="微软雅黑" panose="020B0503020204020204" pitchFamily="34" charset="-122"/>
            <a:ea typeface="微软雅黑" panose="020B0503020204020204" pitchFamily="34" charset="-122"/>
          </a:endParaRPr>
        </a:p>
      </dsp:txBody>
      <dsp:txXfrm>
        <a:off x="5413376" y="900090"/>
        <a:ext cx="205865" cy="206419"/>
      </dsp:txXfrm>
    </dsp:sp>
    <dsp:sp modelId="{A9CB4FE3-9D09-4FF1-A3C9-EE7D61B35525}">
      <dsp:nvSpPr>
        <dsp:cNvPr id="0" name=""/>
        <dsp:cNvSpPr/>
      </dsp:nvSpPr>
      <dsp:spPr>
        <a:xfrm>
          <a:off x="5829545" y="548114"/>
          <a:ext cx="1387231" cy="910370"/>
        </a:xfrm>
        <a:prstGeom prst="roundRect">
          <a:avLst>
            <a:gd name="adj" fmla="val 10000"/>
          </a:avLst>
        </a:prstGeom>
        <a:solidFill>
          <a:schemeClr val="accent5">
            <a:shade val="50000"/>
            <a:hueOff val="167129"/>
            <a:satOff val="4478"/>
            <a:lumOff val="19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latin typeface="微软雅黑" panose="020B0503020204020204" pitchFamily="34" charset="-122"/>
              <a:ea typeface="微软雅黑" panose="020B0503020204020204" pitchFamily="34" charset="-122"/>
            </a:rPr>
            <a:t>LLM</a:t>
          </a:r>
          <a:r>
            <a:rPr lang="zh-CN" altLang="en-US" sz="1800" b="1" kern="1200" dirty="0">
              <a:latin typeface="微软雅黑" panose="020B0503020204020204" pitchFamily="34" charset="-122"/>
              <a:ea typeface="微软雅黑" panose="020B0503020204020204" pitchFamily="34" charset="-122"/>
            </a:rPr>
            <a:t>微调</a:t>
          </a:r>
        </a:p>
      </dsp:txBody>
      <dsp:txXfrm>
        <a:off x="5856209" y="574778"/>
        <a:ext cx="1333903" cy="85704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2BDE0-D4D5-4D5F-B3F9-28CF45EDA765}" type="datetimeFigureOut">
              <a:rPr lang="zh-CN" altLang="en-US" smtClean="0"/>
              <a:t>2026/5/12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811AB-6DFE-4E82-B6D3-CAC60638611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ChangeArrowheads="1" noTextEdit="1"/>
          </p:cNvSpPr>
          <p:nvPr>
            <p:ph type="sldImg"/>
          </p:nvPr>
        </p:nvSpPr>
        <p:spPr>
          <a:xfrm>
            <a:off x="1143000" y="685800"/>
            <a:ext cx="4572000" cy="3429000"/>
          </a:xfrm>
        </p:spPr>
      </p:sp>
      <p:sp>
        <p:nvSpPr>
          <p:cNvPr id="40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1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8CA751-D086-4558-A561-6C9F14D6129C}"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ChangeArrowheads="1" noTextEdit="1"/>
          </p:cNvSpPr>
          <p:nvPr>
            <p:ph type="sldImg"/>
          </p:nvPr>
        </p:nvSpPr>
        <p:spPr>
          <a:xfrm>
            <a:off x="992188" y="768350"/>
            <a:ext cx="5114925" cy="3836988"/>
          </a:xfrm>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汇报分为以下五个部分。</a:t>
            </a:r>
          </a:p>
        </p:txBody>
      </p:sp>
      <p:sp>
        <p:nvSpPr>
          <p:cNvPr id="133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D9D8329-391E-49F9-A736-928AEFC2982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27189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881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31184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75205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552F4-A227-5892-6F15-BCFC0C3AC774}"/>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036ED36-119C-D278-2A48-23CA576ED41B}"/>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94539763-C2C7-564F-87EF-04C011186BF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45EC2E16-323C-4634-C372-B5B8E439CA3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468376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9CDF4-481B-1E3E-4907-31164A20D92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0ED94A07-794E-9B19-3236-6BF8A6417453}"/>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8D8D54FE-8139-C98D-DE28-5712A06E6EB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58960CE3-CCF0-91B1-20D5-53626446939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66397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FE67-11C6-9E9B-DD3C-3AF53BC2908B}"/>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D98DD2D2-8145-1F8A-B557-5C5D23295844}"/>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A15EB61-C083-3900-7A42-5C39E930B34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E88A1237-0DB2-3123-0FE9-C0069D72599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16992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411-3790-85DF-31D2-27EEB58BDC83}"/>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A6DEFE7A-962A-0D9F-E7BE-978728FE1E2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4D3E16EE-377D-7D14-86FE-6C529560E18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5643E62-5C8B-7715-1605-EC9D54BBCDC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38340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411-3790-85DF-31D2-27EEB58BDC83}"/>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A6DEFE7A-962A-0D9F-E7BE-978728FE1E2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4D3E16EE-377D-7D14-86FE-6C529560E18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5643E62-5C8B-7715-1605-EC9D54BBCDC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39813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411-3790-85DF-31D2-27EEB58BDC83}"/>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A6DEFE7A-962A-0D9F-E7BE-978728FE1E2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4D3E16EE-377D-7D14-86FE-6C529560E18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5643E62-5C8B-7715-1605-EC9D54BBCDC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59409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411-3790-85DF-31D2-27EEB58BDC83}"/>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A6DEFE7A-962A-0D9F-E7BE-978728FE1E2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4D3E16EE-377D-7D14-86FE-6C529560E18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5643E62-5C8B-7715-1605-EC9D54BBCDC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91560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411-3790-85DF-31D2-27EEB58BDC83}"/>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A6DEFE7A-962A-0D9F-E7BE-978728FE1E2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4D3E16EE-377D-7D14-86FE-6C529560E18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5643E62-5C8B-7715-1605-EC9D54BBCDC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68486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411-3790-85DF-31D2-27EEB58BDC83}"/>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A6DEFE7A-962A-0D9F-E7BE-978728FE1E2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4D3E16EE-377D-7D14-86FE-6C529560E18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5643E62-5C8B-7715-1605-EC9D54BBCDC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332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C85C4-F77E-95CA-DFD9-D3D1A895E21B}"/>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08A3DC7A-A484-F9B6-4B77-FAA589973C7E}"/>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ABA3D504-1375-60B0-2ED9-172F852B9F5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B19A77D7-4817-76A5-CE4E-8B483E5860E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40140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1404-4941-135B-A1CA-2635DFC0955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3B7E929-5EA7-05DA-5485-907D4ACEBD2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137B82F-609A-978F-C703-47630273D38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8BB9D63-634A-1AF6-A360-582B8D836D3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9531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1404-4941-135B-A1CA-2635DFC0955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3B7E929-5EA7-05DA-5485-907D4ACEBD2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137B82F-609A-978F-C703-47630273D38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这里找一个关于</a:t>
            </a:r>
            <a:r>
              <a:rPr lang="en-US" altLang="zh-CN" dirty="0"/>
              <a:t>RNN, CNN, Transformer</a:t>
            </a:r>
            <a:r>
              <a:rPr lang="zh-CN" altLang="en-US" dirty="0"/>
              <a:t>的算力的视频</a:t>
            </a:r>
          </a:p>
        </p:txBody>
      </p:sp>
      <p:sp>
        <p:nvSpPr>
          <p:cNvPr id="15364" name="灯片编号占位符 3">
            <a:extLst>
              <a:ext uri="{FF2B5EF4-FFF2-40B4-BE49-F238E27FC236}">
                <a16:creationId xmlns:a16="http://schemas.microsoft.com/office/drawing/2014/main" id="{D8BB9D63-634A-1AF6-A360-582B8D836D3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30588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1404-4941-135B-A1CA-2635DFC0955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3B7E929-5EA7-05DA-5485-907D4ACEBD2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137B82F-609A-978F-C703-47630273D38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这里找一个关于</a:t>
            </a:r>
            <a:r>
              <a:rPr lang="en-US" altLang="zh-CN" dirty="0"/>
              <a:t>RNN, CNN, Transformer</a:t>
            </a:r>
            <a:r>
              <a:rPr lang="zh-CN" altLang="en-US" dirty="0"/>
              <a:t>的算力的视频</a:t>
            </a:r>
          </a:p>
        </p:txBody>
      </p:sp>
      <p:sp>
        <p:nvSpPr>
          <p:cNvPr id="15364" name="灯片编号占位符 3">
            <a:extLst>
              <a:ext uri="{FF2B5EF4-FFF2-40B4-BE49-F238E27FC236}">
                <a16:creationId xmlns:a16="http://schemas.microsoft.com/office/drawing/2014/main" id="{D8BB9D63-634A-1AF6-A360-582B8D836D3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19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466737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1404-4941-135B-A1CA-2635DFC0955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3B7E929-5EA7-05DA-5485-907D4ACEBD2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137B82F-609A-978F-C703-47630273D38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这里找一个关于</a:t>
            </a:r>
            <a:r>
              <a:rPr lang="en-US" altLang="zh-CN" dirty="0"/>
              <a:t>RNN, CNN, Transformer</a:t>
            </a:r>
            <a:r>
              <a:rPr lang="zh-CN" altLang="en-US" dirty="0"/>
              <a:t>的算力的视频</a:t>
            </a:r>
          </a:p>
        </p:txBody>
      </p:sp>
      <p:sp>
        <p:nvSpPr>
          <p:cNvPr id="15364" name="灯片编号占位符 3">
            <a:extLst>
              <a:ext uri="{FF2B5EF4-FFF2-40B4-BE49-F238E27FC236}">
                <a16:creationId xmlns:a16="http://schemas.microsoft.com/office/drawing/2014/main" id="{D8BB9D63-634A-1AF6-A360-582B8D836D3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80538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1404-4941-135B-A1CA-2635DFC0955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3B7E929-5EA7-05DA-5485-907D4ACEBD2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137B82F-609A-978F-C703-47630273D38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这里找一个关于</a:t>
            </a:r>
            <a:r>
              <a:rPr lang="en-US" altLang="zh-CN" dirty="0"/>
              <a:t>RNN, CNN, Transformer</a:t>
            </a:r>
            <a:r>
              <a:rPr lang="zh-CN" altLang="en-US" dirty="0"/>
              <a:t>的算力的视频</a:t>
            </a:r>
          </a:p>
        </p:txBody>
      </p:sp>
      <p:sp>
        <p:nvSpPr>
          <p:cNvPr id="15364" name="灯片编号占位符 3">
            <a:extLst>
              <a:ext uri="{FF2B5EF4-FFF2-40B4-BE49-F238E27FC236}">
                <a16:creationId xmlns:a16="http://schemas.microsoft.com/office/drawing/2014/main" id="{D8BB9D63-634A-1AF6-A360-582B8D836D3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04339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303E-DA6E-9DED-1617-6A1DC6699AC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E03D01C-3557-82E0-A0D3-A7C86D764EA0}"/>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A14564B1-5F8F-90AA-ADF1-6AF7CCF0070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6CF2F99B-FBA2-3990-E21A-A879F69C101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526601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303E-DA6E-9DED-1617-6A1DC6699AC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E03D01C-3557-82E0-A0D3-A7C86D764EA0}"/>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A14564B1-5F8F-90AA-ADF1-6AF7CCF0070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6CF2F99B-FBA2-3990-E21A-A879F69C101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7367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303E-DA6E-9DED-1617-6A1DC6699AC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E03D01C-3557-82E0-A0D3-A7C86D764EA0}"/>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A14564B1-5F8F-90AA-ADF1-6AF7CCF0070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6CF2F99B-FBA2-3990-E21A-A879F69C101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217499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8380-ACBB-219D-0355-2B81CFD1E91B}"/>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243D915-414C-A344-6E11-DD385B5382D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5D97B19-5A56-BCE2-F305-C0C2E9FDC2A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这一页超级重要</a:t>
            </a:r>
          </a:p>
        </p:txBody>
      </p:sp>
      <p:sp>
        <p:nvSpPr>
          <p:cNvPr id="15364" name="灯片编号占位符 3">
            <a:extLst>
              <a:ext uri="{FF2B5EF4-FFF2-40B4-BE49-F238E27FC236}">
                <a16:creationId xmlns:a16="http://schemas.microsoft.com/office/drawing/2014/main" id="{A07DF6F1-708E-F687-FD19-D82C8BF9731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33837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8380-ACBB-219D-0355-2B81CFD1E91B}"/>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243D915-414C-A344-6E11-DD385B5382D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75D97B19-5A56-BCE2-F305-C0C2E9FDC2A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这一页超级重要</a:t>
            </a:r>
          </a:p>
        </p:txBody>
      </p:sp>
      <p:sp>
        <p:nvSpPr>
          <p:cNvPr id="15364" name="灯片编号占位符 3">
            <a:extLst>
              <a:ext uri="{FF2B5EF4-FFF2-40B4-BE49-F238E27FC236}">
                <a16:creationId xmlns:a16="http://schemas.microsoft.com/office/drawing/2014/main" id="{A07DF6F1-708E-F687-FD19-D82C8BF9731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134534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9C1C-4FD8-C0B3-D789-EE29AB449060}"/>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E3BCB37-7021-523E-F110-2F280236F57B}"/>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F67673C-6DFD-8EE8-CFF6-0934AB323F2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Flash attention</a:t>
            </a:r>
            <a:endParaRPr lang="zh-CN" altLang="en-US" dirty="0"/>
          </a:p>
        </p:txBody>
      </p:sp>
      <p:sp>
        <p:nvSpPr>
          <p:cNvPr id="15364" name="灯片编号占位符 3">
            <a:extLst>
              <a:ext uri="{FF2B5EF4-FFF2-40B4-BE49-F238E27FC236}">
                <a16:creationId xmlns:a16="http://schemas.microsoft.com/office/drawing/2014/main" id="{A97D6862-17AE-A312-137C-18F38CCBE75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76418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9C1C-4FD8-C0B3-D789-EE29AB449060}"/>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E3BCB37-7021-523E-F110-2F280236F57B}"/>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F67673C-6DFD-8EE8-CFF6-0934AB323F2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A97D6862-17AE-A312-137C-18F38CCBE75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28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549344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92856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DFF2-2104-106B-795A-F349B238BDD0}"/>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B576A168-A8B4-8C99-223F-22B3A361AA98}"/>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C8901CA1-C1A8-9EAB-5729-DBC28385BBB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3F504ACD-0867-4FA2-D4EE-DF8B044EEF6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33298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08766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874131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69955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5EC4A-CA47-3E34-613E-124F1B91DF1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230549A-6564-847D-DD2D-8DFC17C00BE0}"/>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03962C72-5FD2-44BC-EF74-B92D327217A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797AAC1A-A0C6-D995-F8AC-15A62215F67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40095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474089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974004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812302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B32E-41A5-5279-68E9-28EB03D25AA4}"/>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03DF4930-FE20-97F3-66CE-C39FEA8F0375}"/>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13B289C0-67D9-3451-8A81-9D941D4983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81F50868-5263-35FE-C5DC-C167B682AAF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446870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B32E-41A5-5279-68E9-28EB03D25AA4}"/>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03DF4930-FE20-97F3-66CE-C39FEA8F0375}"/>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13B289C0-67D9-3451-8A81-9D941D4983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81F50868-5263-35FE-C5DC-C167B682AAF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39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84752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A00B5-62A7-B74F-A334-B1043A5E193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35F50311-E1B4-7476-9C2C-3F778CA667E5}"/>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192152A4-02BB-E3AB-A29E-CE8415EA05A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52FFD74A-58BC-07CA-E581-7010B5EAA45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5697722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A00B5-62A7-B74F-A334-B1043A5E193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35F50311-E1B4-7476-9C2C-3F778CA667E5}"/>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192152A4-02BB-E3AB-A29E-CE8415EA05A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52FFD74A-58BC-07CA-E581-7010B5EAA45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186204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504331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F0AE-1973-DBE3-F159-86DB4979B98A}"/>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D1AE6A1-0BC6-76B7-9C75-8DA8BB2530FE}"/>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8BB0C33-FF5C-00EC-59DA-9415B1FE913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9A0DEA0D-08E1-5E81-2B0B-16D13400FE1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88858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769B4-1A07-86E5-9E3D-9F0FC08F9924}"/>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69F2FEC4-7008-E596-A6B5-B53C1BF8D8B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674D1B77-AF47-048C-9F23-A137853F28F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00C6391D-C5B8-53CF-EEC8-88C1F2AA0EE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837792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1A6D-DA7A-8239-DABC-A2B1622051A4}"/>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D93A7222-EAA8-245A-01EC-97C3127F2E21}"/>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13BEE09-807C-07A6-ED37-08CF57AB21D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74007477-942B-BEEC-FB90-C3AF4ECF4BD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029327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1A6D-DA7A-8239-DABC-A2B1622051A4}"/>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D93A7222-EAA8-245A-01EC-97C3127F2E21}"/>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13BEE09-807C-07A6-ED37-08CF57AB21D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74007477-942B-BEEC-FB90-C3AF4ECF4BD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953434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可以看一下吴恩达关于自主性的视频</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721422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423588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49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514247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341672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258393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166915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5159742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629769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1046719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120848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969349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6F1C-4B69-C615-E45B-7D24967C2B12}"/>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E3B7D32-E3A7-ECED-6789-7A30862209CA}"/>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B9E742FD-DD5A-2957-58F0-EFA4B4EC4C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GPT</a:t>
            </a:r>
            <a:r>
              <a:rPr lang="zh-CN" altLang="en-US" dirty="0"/>
              <a:t>流派的发展</a:t>
            </a:r>
          </a:p>
        </p:txBody>
      </p:sp>
      <p:sp>
        <p:nvSpPr>
          <p:cNvPr id="15364" name="灯片编号占位符 3">
            <a:extLst>
              <a:ext uri="{FF2B5EF4-FFF2-40B4-BE49-F238E27FC236}">
                <a16:creationId xmlns:a16="http://schemas.microsoft.com/office/drawing/2014/main" id="{04E4A69B-358D-F941-4538-1D711349D8D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58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114425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508933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177650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681210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9686422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545816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840686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112180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501827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406409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293937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69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11669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048664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315238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8057667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PEFT</a:t>
            </a:r>
            <a:r>
              <a:rPr lang="zh-CN" altLang="en-US" dirty="0"/>
              <a:t>方法</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632313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PPO</a:t>
            </a:r>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961881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DPO</a:t>
            </a:r>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338260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GRPO</a:t>
            </a:r>
            <a:endParaRPr lang="zh-CN" altLang="en-US" dirty="0"/>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781362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PEFT</a:t>
            </a:r>
            <a:r>
              <a:rPr lang="zh-CN" altLang="en-US" dirty="0"/>
              <a:t>方法</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7846724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PEFT</a:t>
            </a:r>
            <a:r>
              <a:rPr lang="zh-CN" altLang="en-US" dirty="0"/>
              <a:t>方法</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3575526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PEFT</a:t>
            </a:r>
            <a:r>
              <a:rPr lang="zh-CN" altLang="en-US" dirty="0"/>
              <a:t>方法</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79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7897903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PEFT</a:t>
            </a:r>
            <a:r>
              <a:rPr lang="zh-CN" altLang="en-US" dirty="0"/>
              <a:t>方法</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491727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168547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989013" y="766763"/>
            <a:ext cx="5119687" cy="3838575"/>
          </a:xfrm>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a:t>
            </a:r>
            <a:r>
              <a:rPr lang="en-US" altLang="zh-CN" dirty="0"/>
              <a:t>GPT3</a:t>
            </a:r>
            <a:r>
              <a:rPr lang="zh-CN" altLang="en-US" dirty="0"/>
              <a:t>开始的涌现能力</a:t>
            </a: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899357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4082-2D1E-ACBF-614D-14F71EC9E597}"/>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712B9231-CD95-E7BA-C953-4021DC187068}"/>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9B05AB78-FD2C-6F76-47A0-E531EA460F9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9A7E84C1-28C8-DD01-ECF1-D44C4A9D640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1725121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D325-5D17-1102-843D-A591FF1CF64C}"/>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805F448-0F07-78A1-C576-17099C84BE6D}"/>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6C0607E-4256-5126-D7F1-C09CF84CB21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2BBE7894-E367-B566-3191-04335596618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135953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C0439-377C-84C3-BDC5-8CCD39B876ED}"/>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E56C1A3-6768-4516-9332-A44AA8074582}"/>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C0A3BAE-236A-5F2B-629C-CDF95B49E46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18D05B9-5A9B-B4F5-9C81-5282C2A5EE5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4977528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C0439-377C-84C3-BDC5-8CCD39B876ED}"/>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FE56C1A3-6768-4516-9332-A44AA8074582}"/>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5C0A3BAE-236A-5F2B-629C-CDF95B49E46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D18D05B9-5A9B-B4F5-9C81-5282C2A5EE5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74055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DE16-28EC-70C9-AC57-456D8F3BD188}"/>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C19357F-4686-D683-BC83-F88339AC0855}"/>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E9CD8524-8A2E-D129-59D4-645BC4E8651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EC793A4C-928C-78B6-87DF-AF7FBF173BB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3852156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0A4C2-C04E-6AC2-3C92-D5568477C3B5}"/>
            </a:ext>
          </a:extLst>
        </p:cNvPr>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728F395-B7C7-4532-D3FA-68DDB2F2FF0C}"/>
              </a:ext>
            </a:extLst>
          </p:cNvPr>
          <p:cNvSpPr>
            <a:spLocks noGrp="1" noRot="1" noChangeAspect="1" noChangeArrowheads="1" noTextEdit="1"/>
          </p:cNvSpPr>
          <p:nvPr>
            <p:ph type="sldImg"/>
          </p:nvPr>
        </p:nvSpPr>
        <p:spPr>
          <a:xfrm>
            <a:off x="989013" y="766763"/>
            <a:ext cx="5119687" cy="3838575"/>
          </a:xfrm>
        </p:spPr>
      </p:sp>
      <p:sp>
        <p:nvSpPr>
          <p:cNvPr id="15363" name="备注占位符 2">
            <a:extLst>
              <a:ext uri="{FF2B5EF4-FFF2-40B4-BE49-F238E27FC236}">
                <a16:creationId xmlns:a16="http://schemas.microsoft.com/office/drawing/2014/main" id="{6F20FFA9-44D4-7023-E660-C55552BDAA8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a:extLst>
              <a:ext uri="{FF2B5EF4-FFF2-40B4-BE49-F238E27FC236}">
                <a16:creationId xmlns:a16="http://schemas.microsoft.com/office/drawing/2014/main" id="{660F7658-092D-71DA-13E6-90D8DC1CA27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81192F9-457B-4CC1-B0CB-05EA844C67D9}" type="slidenum">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88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455685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62C21F64-1466-405F-B8D9-6C1406BD32C6}" type="datetime1">
              <a:rPr lang="zh-CN" altLang="en-US" smtClean="0"/>
              <a:t>2026/5/12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1229EABB-BE2F-49CA-8B54-C4974E1F7971}" type="slidenum">
              <a:rPr lang="zh-CN" altLang="en-US" smtClean="0"/>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DEE7F657-BD8D-4781-83C8-F03A21420ABB}" type="datetime1">
              <a:rPr lang="zh-CN" altLang="en-US" smtClean="0"/>
              <a:t>2026/5/12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B5282163-AB56-4D27-89F6-50B5BAB1A63D}" type="slidenum">
              <a:rPr lang="zh-CN" altLang="en-US" smtClean="0"/>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3"/>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8"/>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836DA57E-6CA7-4076-86A7-A7CE11317611}" type="datetime1">
              <a:rPr lang="zh-CN" altLang="en-US" smtClean="0"/>
              <a:t>2026/5/12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4CDBB179-DA34-440B-A0BB-6DC4775A9AF9}" type="slidenum">
              <a:rPr lang="zh-CN" altLang="en-US" smtClean="0"/>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522420C-DE3C-400F-8EA1-DA1A46004DBD}" type="datetime1">
              <a:rPr lang="zh-CN" altLang="en-US" smtClean="0"/>
              <a:t>2026/5/12</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E99C3C7D-6605-4ABF-85E8-10F6B2656CC8}" type="slidenum">
              <a:rPr lang="zh-CN" altLang="en-US" smtClean="0"/>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9"/>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2"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EBF4E4BC-366B-4C0A-AC9E-481E9A8FE7F3}" type="datetime1">
              <a:rPr lang="zh-CN" altLang="en-US" smtClean="0"/>
              <a:t>2026/5/12</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2835CBB9-FFBE-4DA1-A1F2-8CAAA383544E}" type="slidenum">
              <a:rPr lang="zh-CN" altLang="en-US" smtClean="0"/>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94ED7185-9FBF-41B6-BD75-2C1603655E25}" type="datetime1">
              <a:rPr lang="zh-CN" altLang="en-US" smtClean="0"/>
              <a:t>2026/5/12</a:t>
            </a:fld>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28F617E8-038E-4A74-97E1-FD754985D32B}" type="slidenum">
              <a:rPr lang="zh-CN" altLang="en-US" smtClean="0"/>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F0304C9-2DC7-4A3A-A2E6-8AE5527ACD0E}" type="datetime1">
              <a:rPr lang="zh-CN" altLang="en-US" smtClean="0"/>
              <a:t>2026/5/12</a:t>
            </a:fld>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47D1AF64-3D80-4ED9-BC6B-07948E6E1D14}" type="slidenum">
              <a:rPr lang="zh-CN" altLang="en-US" smtClean="0"/>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30"/>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D90F533-8AFC-43BE-BAA2-AD30EBBCF499}" type="datetime1">
              <a:rPr lang="zh-CN" altLang="en-US" smtClean="0"/>
              <a:t>2026/5/12</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FD70DA34-9711-47CA-B177-A5E91C27FE79}" type="slidenum">
              <a:rPr lang="zh-CN" altLang="en-US" smtClean="0"/>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30"/>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79EE56A3-A9C7-4FDE-8233-8D9344895240}" type="datetime1">
              <a:rPr lang="zh-CN" altLang="en-US" smtClean="0"/>
              <a:t>2026/5/12</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3D069056-55E8-4BE1-A04D-593F47A163E1}" type="slidenum">
              <a:rPr lang="zh-CN" altLang="en-US" smtClean="0"/>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9D73CF8B-50B6-4303-990B-2FA5CA2F8441}" type="datetime1">
              <a:rPr lang="zh-CN" altLang="en-US" smtClean="0"/>
              <a:t>2026/5/12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97E654D4-6D25-4377-BF56-D40A9314F866}" type="slidenum">
              <a:rPr lang="zh-CN" altLang="en-US" smtClean="0"/>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4B626A2B-230C-4B8E-8EFB-70EA699F921D}" type="datetime1">
              <a:rPr lang="zh-CN" altLang="en-US" smtClean="0"/>
              <a:t>2026/5/12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09E4583E-7BC4-4BC9-BAC9-C26E6B30C917}" type="slidenum">
              <a:rPr lang="zh-CN" altLang="en-US"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5/12/2026</a:t>
            </a:fld>
            <a:endParaRPr lang="en-US" dirty="0"/>
          </a:p>
        </p:txBody>
      </p:sp>
      <p:sp>
        <p:nvSpPr>
          <p:cNvPr id="5" name="Footer Placeholder 4"/>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0.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7.png"/><Relationship Id="rId5" Type="http://schemas.microsoft.com/office/2007/relationships/hdphoto" Target="../media/hdphoto1.wdp"/><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2.jpeg"/></Relationships>
</file>

<file path=ppt/slides/_rels/slide2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8.jpeg"/><Relationship Id="rId7" Type="http://schemas.openxmlformats.org/officeDocument/2006/relationships/image" Target="../media/image67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jpeg"/></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660.png"/></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jpeg"/><Relationship Id="rId4" Type="http://schemas.openxmlformats.org/officeDocument/2006/relationships/image" Target="../media/image78.jpe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81.jpg"/><Relationship Id="rId4" Type="http://schemas.openxmlformats.org/officeDocument/2006/relationships/image" Target="../media/image23.jpeg"/></Relationships>
</file>

<file path=ppt/slides/_rels/slide3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88.png"/><Relationship Id="rId4" Type="http://schemas.openxmlformats.org/officeDocument/2006/relationships/image" Target="../media/image87.png"/></Relationships>
</file>

<file path=ppt/slides/_rels/slide3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88.png"/><Relationship Id="rId4" Type="http://schemas.openxmlformats.org/officeDocument/2006/relationships/image" Target="../media/image480.png"/></Relationships>
</file>

<file path=ppt/slides/_rels/slide4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41.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87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860.png"/><Relationship Id="rId5" Type="http://schemas.openxmlformats.org/officeDocument/2006/relationships/image" Target="../media/image850.png"/><Relationship Id="rId4" Type="http://schemas.openxmlformats.org/officeDocument/2006/relationships/image" Target="../media/image92.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96.jpeg"/><Relationship Id="rId5" Type="http://schemas.openxmlformats.org/officeDocument/2006/relationships/image" Target="../media/image95.jpg"/><Relationship Id="rId4" Type="http://schemas.openxmlformats.org/officeDocument/2006/relationships/image" Target="../media/image94.png"/></Relationships>
</file>

<file path=ppt/slides/_rels/slide44.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97.png"/><Relationship Id="rId4" Type="http://schemas.openxmlformats.org/officeDocument/2006/relationships/image" Target="../media/image96.jpeg"/></Relationships>
</file>

<file path=ppt/slides/_rels/slide4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8.png"/><Relationship Id="rId7" Type="http://schemas.openxmlformats.org/officeDocument/2006/relationships/diagramColors" Target="../diagrams/colors1.xml"/><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6.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3.jp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10.jpg"/><Relationship Id="rId4" Type="http://schemas.openxmlformats.org/officeDocument/2006/relationships/image" Target="../media/image109.png"/></Relationships>
</file>

<file path=ppt/slides/_rels/slide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88.png"/><Relationship Id="rId4" Type="http://schemas.openxmlformats.org/officeDocument/2006/relationships/image" Target="../media/image1060.png"/></Relationships>
</file>

<file path=ppt/slides/_rels/slide5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16.jpg"/></Relationships>
</file>

<file path=ppt/slides/_rels/slide56.xml.rels><?xml version="1.0" encoding="UTF-8" standalone="yes"?>
<Relationships xmlns="http://schemas.openxmlformats.org/package/2006/relationships"><Relationship Id="rId3" Type="http://schemas.openxmlformats.org/officeDocument/2006/relationships/image" Target="../media/image117.jp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18.jp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19.jp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21.png"/></Relationships>
</file>

<file path=ppt/slides/_rels/slide6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26.png"/></Relationships>
</file>

<file path=ppt/slides/_rels/slide6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128.png"/></Relationships>
</file>

<file path=ppt/slides/_rels/slide6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30.png"/></Relationships>
</file>

<file path=ppt/slides/_rels/slide7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32.png"/></Relationships>
</file>

<file path=ppt/slides/_rels/slide7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34.jpg"/></Relationships>
</file>

<file path=ppt/slides/_rels/slide7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136.png"/></Relationships>
</file>

<file path=ppt/slides/_rels/slide74.xml.rels><?xml version="1.0" encoding="UTF-8" standalone="yes"?>
<Relationships xmlns="http://schemas.openxmlformats.org/package/2006/relationships"><Relationship Id="rId3" Type="http://schemas.openxmlformats.org/officeDocument/2006/relationships/image" Target="../media/image137.jp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38.jp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139.png"/><Relationship Id="rId4" Type="http://schemas.openxmlformats.org/officeDocument/2006/relationships/image" Target="../media/image138.png"/></Relationships>
</file>

<file path=ppt/slides/_rels/slide7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143.png"/><Relationship Id="rId4" Type="http://schemas.openxmlformats.org/officeDocument/2006/relationships/image" Target="../media/image142.png"/></Relationships>
</file>

<file path=ppt/slides/_rels/slide78.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 Id="rId9" Type="http://schemas.openxmlformats.org/officeDocument/2006/relationships/image" Target="../media/image150.png"/></Relationships>
</file>

<file path=ppt/slides/_rels/slide79.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144.png"/><Relationship Id="rId7" Type="http://schemas.openxmlformats.org/officeDocument/2006/relationships/image" Target="../media/image151.png"/><Relationship Id="rId2" Type="http://schemas.openxmlformats.org/officeDocument/2006/relationships/notesSlide" Target="../notesSlides/notesSlide79.xml"/><Relationship Id="rId1" Type="http://schemas.openxmlformats.org/officeDocument/2006/relationships/slideLayout" Target="../slideLayouts/slideLayout1.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8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jpe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157.jpeg"/><Relationship Id="rId5" Type="http://schemas.openxmlformats.org/officeDocument/2006/relationships/image" Target="../media/image156.png"/><Relationship Id="rId4" Type="http://schemas.openxmlformats.org/officeDocument/2006/relationships/image" Target="../media/image155.png"/><Relationship Id="rId9" Type="http://schemas.openxmlformats.org/officeDocument/2006/relationships/image" Target="../media/image160.png"/></Relationships>
</file>

<file path=ppt/slides/_rels/slide84.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61.jpg"/><Relationship Id="rId7" Type="http://schemas.openxmlformats.org/officeDocument/2006/relationships/image" Target="../media/image165.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s>
</file>

<file path=ppt/slides/_rels/slide85.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168.png"/></Relationships>
</file>

<file path=ppt/slides/_rels/slide86.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86.xml"/><Relationship Id="rId1" Type="http://schemas.openxmlformats.org/officeDocument/2006/relationships/slideLayout" Target="../slideLayouts/slideLayout1.xml"/><Relationship Id="rId5" Type="http://schemas.openxmlformats.org/officeDocument/2006/relationships/image" Target="../media/image171.png"/><Relationship Id="rId4" Type="http://schemas.openxmlformats.org/officeDocument/2006/relationships/image" Target="../media/image170.png"/></Relationships>
</file>

<file path=ppt/slides/_rels/slide87.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88.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1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组合 33"/>
          <p:cNvGrpSpPr/>
          <p:nvPr/>
        </p:nvGrpSpPr>
        <p:grpSpPr bwMode="auto">
          <a:xfrm>
            <a:off x="0" y="1535152"/>
            <a:ext cx="9144000" cy="2122448"/>
            <a:chOff x="-1590" y="1862185"/>
            <a:chExt cx="9145590" cy="2987960"/>
          </a:xfrm>
        </p:grpSpPr>
        <p:sp>
          <p:nvSpPr>
            <p:cNvPr id="24" name="矩形 23"/>
            <p:cNvSpPr/>
            <p:nvPr/>
          </p:nvSpPr>
          <p:spPr>
            <a:xfrm>
              <a:off x="-1590" y="1862185"/>
              <a:ext cx="9145590" cy="2920439"/>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0" fontAlgn="base" hangingPunct="0">
                <a:spcBef>
                  <a:spcPct val="0"/>
                </a:spcBef>
                <a:spcAft>
                  <a:spcPct val="0"/>
                </a:spcAft>
                <a:defRPr/>
              </a:pP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3086" name="Rectangle 5"/>
            <p:cNvSpPr>
              <a:spLocks noChangeArrowheads="1"/>
            </p:cNvSpPr>
            <p:nvPr/>
          </p:nvSpPr>
          <p:spPr bwMode="auto">
            <a:xfrm>
              <a:off x="0" y="4773945"/>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None/>
              </a:pPr>
              <a:endParaRPr lang="zh-CN" altLang="en-US" sz="1350">
                <a:solidFill>
                  <a:srgbClr val="000000"/>
                </a:solidFill>
                <a:latin typeface="微软雅黑" panose="020B0503020204020204" pitchFamily="34" charset="-122"/>
                <a:ea typeface="微软雅黑" panose="020B0503020204020204" pitchFamily="34" charset="-122"/>
              </a:endParaRPr>
            </a:p>
          </p:txBody>
        </p:sp>
      </p:grpSp>
      <p:sp>
        <p:nvSpPr>
          <p:cNvPr id="16" name="Rectangle 3"/>
          <p:cNvSpPr txBox="1">
            <a:spLocks noChangeArrowheads="1"/>
          </p:cNvSpPr>
          <p:nvPr/>
        </p:nvSpPr>
        <p:spPr bwMode="auto">
          <a:xfrm>
            <a:off x="0" y="4337456"/>
            <a:ext cx="9144000" cy="495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ea typeface="+mn-ea"/>
              </a:defRPr>
            </a:lvl2pPr>
            <a:lvl3pPr marL="914400" indent="0" algn="ctr" rtl="0" eaLnBrk="0" fontAlgn="base" hangingPunct="0">
              <a:spcBef>
                <a:spcPct val="20000"/>
              </a:spcBef>
              <a:spcAft>
                <a:spcPct val="0"/>
              </a:spcAft>
              <a:buNone/>
              <a:defRPr sz="2400">
                <a:solidFill>
                  <a:schemeClr val="tx1"/>
                </a:solidFill>
                <a:latin typeface="+mn-lt"/>
                <a:ea typeface="+mn-ea"/>
              </a:defRPr>
            </a:lvl3pPr>
            <a:lvl4pPr marL="1371600" indent="0" algn="ctr" rtl="0" eaLnBrk="0" fontAlgn="base" hangingPunct="0">
              <a:spcBef>
                <a:spcPct val="20000"/>
              </a:spcBef>
              <a:spcAft>
                <a:spcPct val="0"/>
              </a:spcAft>
              <a:buNone/>
              <a:defRPr sz="2000">
                <a:solidFill>
                  <a:schemeClr val="tx1"/>
                </a:solidFill>
                <a:latin typeface="+mn-lt"/>
                <a:ea typeface="+mn-ea"/>
              </a:defRPr>
            </a:lvl4pPr>
            <a:lvl5pPr marL="1828800" indent="0" algn="ctr" rtl="0" eaLnBrk="0" fontAlgn="base" hangingPunct="0">
              <a:spcBef>
                <a:spcPct val="20000"/>
              </a:spcBef>
              <a:spcAft>
                <a:spcPct val="0"/>
              </a:spcAft>
              <a:buNone/>
              <a:defRPr sz="2000">
                <a:solidFill>
                  <a:schemeClr val="tx1"/>
                </a:solidFill>
                <a:latin typeface="+mn-lt"/>
                <a:ea typeface="+mn-ea"/>
              </a:defRPr>
            </a:lvl5pPr>
            <a:lvl6pPr marL="2286000" indent="0" algn="ctr" rtl="0" fontAlgn="base">
              <a:spcBef>
                <a:spcPct val="20000"/>
              </a:spcBef>
              <a:spcAft>
                <a:spcPct val="0"/>
              </a:spcAft>
              <a:buNone/>
              <a:defRPr sz="2000">
                <a:solidFill>
                  <a:schemeClr val="tx1"/>
                </a:solidFill>
                <a:latin typeface="+mn-lt"/>
                <a:ea typeface="+mn-ea"/>
              </a:defRPr>
            </a:lvl6pPr>
            <a:lvl7pPr marL="2743200" indent="0" algn="ctr" rtl="0" fontAlgn="base">
              <a:spcBef>
                <a:spcPct val="20000"/>
              </a:spcBef>
              <a:spcAft>
                <a:spcPct val="0"/>
              </a:spcAft>
              <a:buNone/>
              <a:defRPr sz="2000">
                <a:solidFill>
                  <a:schemeClr val="tx1"/>
                </a:solidFill>
                <a:latin typeface="+mn-lt"/>
                <a:ea typeface="+mn-ea"/>
              </a:defRPr>
            </a:lvl7pPr>
            <a:lvl8pPr marL="3200400" indent="0" algn="ctr" rtl="0" fontAlgn="base">
              <a:spcBef>
                <a:spcPct val="20000"/>
              </a:spcBef>
              <a:spcAft>
                <a:spcPct val="0"/>
              </a:spcAft>
              <a:buNone/>
              <a:defRPr sz="2000">
                <a:solidFill>
                  <a:schemeClr val="tx1"/>
                </a:solidFill>
                <a:latin typeface="+mn-lt"/>
                <a:ea typeface="+mn-ea"/>
              </a:defRPr>
            </a:lvl8pPr>
            <a:lvl9pPr marL="3657600" indent="0" algn="ctr" rtl="0" fontAlgn="base">
              <a:spcBef>
                <a:spcPct val="20000"/>
              </a:spcBef>
              <a:spcAft>
                <a:spcPct val="0"/>
              </a:spcAft>
              <a:buNone/>
              <a:defRPr sz="2000">
                <a:solidFill>
                  <a:schemeClr val="tx1"/>
                </a:solidFill>
                <a:latin typeface="+mn-lt"/>
                <a:ea typeface="+mn-ea"/>
              </a:defRPr>
            </a:lvl9pPr>
          </a:lstStyle>
          <a:p>
            <a:pPr defTabSz="685800" eaLnBrk="1" hangingPunct="1">
              <a:lnSpc>
                <a:spcPct val="150000"/>
              </a:lnSpc>
              <a:spcBef>
                <a:spcPts val="0"/>
              </a:spcBef>
              <a:defRPr/>
            </a:pPr>
            <a:r>
              <a:rPr lang="zh-CN" altLang="en-US" sz="2800" b="1" dirty="0">
                <a:solidFill>
                  <a:prstClr val="black"/>
                </a:solidFill>
                <a:latin typeface="微软雅黑" panose="020B0503020204020204" pitchFamily="34" charset="-122"/>
                <a:ea typeface="微软雅黑" panose="020B0503020204020204" pitchFamily="34" charset="-122"/>
              </a:rPr>
              <a:t>任课教师：游小钰</a:t>
            </a:r>
            <a:endParaRPr lang="en-US" altLang="zh-CN" sz="2800" b="1" dirty="0">
              <a:solidFill>
                <a:prstClr val="black"/>
              </a:solidFill>
              <a:latin typeface="微软雅黑" panose="020B0503020204020204" pitchFamily="34" charset="-122"/>
              <a:ea typeface="微软雅黑" panose="020B0503020204020204" pitchFamily="34" charset="-122"/>
            </a:endParaRPr>
          </a:p>
          <a:p>
            <a:pPr defTabSz="685800" eaLnBrk="1" hangingPunct="1">
              <a:lnSpc>
                <a:spcPct val="150000"/>
              </a:lnSpc>
              <a:spcBef>
                <a:spcPts val="0"/>
              </a:spcBef>
              <a:defRPr/>
            </a:pPr>
            <a:r>
              <a:rPr lang="zh-CN" altLang="en-US" sz="2800" b="1" dirty="0">
                <a:solidFill>
                  <a:prstClr val="black"/>
                </a:solidFill>
                <a:latin typeface="微软雅黑" panose="020B0503020204020204" pitchFamily="34" charset="-122"/>
                <a:ea typeface="微软雅黑" panose="020B0503020204020204" pitchFamily="34" charset="-122"/>
              </a:rPr>
              <a:t>信息科学与工程学院</a:t>
            </a:r>
            <a:endParaRPr lang="en-US" altLang="zh-CN" sz="2800" b="1" dirty="0">
              <a:solidFill>
                <a:prstClr val="black"/>
              </a:solidFill>
              <a:latin typeface="微软雅黑" panose="020B0503020204020204" pitchFamily="34" charset="-122"/>
              <a:ea typeface="微软雅黑" panose="020B0503020204020204" pitchFamily="34" charset="-122"/>
            </a:endParaRPr>
          </a:p>
        </p:txBody>
      </p:sp>
      <p:pic>
        <p:nvPicPr>
          <p:cNvPr id="17" name="图片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F0787B3A-3D3C-821B-2EFF-C723D27F95C6}"/>
              </a:ext>
            </a:extLst>
          </p:cNvPr>
          <p:cNvSpPr txBox="1"/>
          <p:nvPr/>
        </p:nvSpPr>
        <p:spPr>
          <a:xfrm>
            <a:off x="-1" y="5489794"/>
            <a:ext cx="9142410" cy="461665"/>
          </a:xfrm>
          <a:prstGeom prst="rect">
            <a:avLst/>
          </a:prstGeom>
          <a:noFill/>
        </p:spPr>
        <p:txBody>
          <a:bodyPr wrap="square" rtlCol="0">
            <a:spAutoFit/>
          </a:bodyPr>
          <a:lstStyle/>
          <a:p>
            <a:pPr algn="ctr"/>
            <a:fld id="{0B8E7D26-22C0-4459-B64A-DCD55CF14E53}" type="datetime2">
              <a:rPr lang="zh-CN" altLang="en-US" sz="2400" b="1" smtClean="0">
                <a:latin typeface="微软雅黑" panose="020B0503020204020204" pitchFamily="34" charset="-122"/>
                <a:ea typeface="微软雅黑" panose="020B0503020204020204" pitchFamily="34" charset="-122"/>
                <a:cs typeface="Times New Roman" panose="02020603050405020304" pitchFamily="18" charset="0"/>
              </a:rPr>
              <a:t>2026年5月12日</a:t>
            </a:fld>
            <a:endParaRPr lang="zh-CN" altLang="en-US"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2CA86842-49F7-4AD2-A160-6578238FC74B}"/>
              </a:ext>
            </a:extLst>
          </p:cNvPr>
          <p:cNvSpPr txBox="1"/>
          <p:nvPr/>
        </p:nvSpPr>
        <p:spPr>
          <a:xfrm>
            <a:off x="1939714" y="2154176"/>
            <a:ext cx="5262979" cy="769441"/>
          </a:xfrm>
          <a:prstGeom prst="rect">
            <a:avLst/>
          </a:prstGeom>
          <a:noFill/>
        </p:spPr>
        <p:txBody>
          <a:bodyPr wrap="none"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大语言模型技术基础</a:t>
            </a:r>
          </a:p>
        </p:txBody>
      </p:sp>
    </p:spTree>
    <p:custDataLst>
      <p:tags r:id="rId1"/>
    </p:custData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0"/>
          <p:cNvSpPr>
            <a:spLocks noChangeArrowheads="1"/>
          </p:cNvSpPr>
          <p:nvPr/>
        </p:nvSpPr>
        <p:spPr bwMode="auto">
          <a:xfrm>
            <a:off x="0" y="6121"/>
            <a:ext cx="9144000" cy="941619"/>
          </a:xfrm>
          <a:prstGeom prst="rect">
            <a:avLst/>
          </a:prstGeom>
          <a:noFill/>
          <a:ln w="12700">
            <a:noFill/>
            <a:miter lim="800000"/>
          </a:ln>
          <a:effectLst/>
        </p:spPr>
        <p:txBody>
          <a:bodyPr lIns="103220" tIns="50704" rIns="103220" bIns="50704"/>
          <a:lstStyle/>
          <a:p>
            <a:pPr marL="391160" indent="-391160" algn="ctr">
              <a:lnSpc>
                <a:spcPct val="150000"/>
              </a:lnSpc>
              <a:spcBef>
                <a:spcPct val="50000"/>
              </a:spcBef>
              <a:defRPr/>
            </a:pPr>
            <a:r>
              <a:rPr lang="zh-CN" altLang="en-US" sz="3700" b="1" cap="all" dirty="0">
                <a:ln w="9000" cmpd="sng">
                  <a:solidFill>
                    <a:prstClr val="black"/>
                  </a:solidFill>
                  <a:prstDash val="solid"/>
                </a:ln>
                <a:solidFill>
                  <a:prstClr val="black"/>
                </a:solidFill>
                <a:effectLst>
                  <a:reflection blurRad="12700" stA="28000" endPos="45000" dist="1000" dir="5400000" sy="-100000" algn="bl" rotWithShape="0"/>
                </a:effectLst>
                <a:latin typeface="微软雅黑" panose="020B0503020204020204" pitchFamily="34" charset="-122"/>
                <a:ea typeface="微软雅黑" panose="020B0503020204020204" pitchFamily="34" charset="-122"/>
              </a:rPr>
              <a:t>课程大纲</a:t>
            </a:r>
            <a:endParaRPr lang="en-US" altLang="zh-CN" sz="1100" b="1" dirty="0">
              <a:solidFill>
                <a:prstClr val="black"/>
              </a:solidFill>
              <a:latin typeface="黑体" panose="02010609060101010101" pitchFamily="49" charset="-122"/>
              <a:ea typeface="黑体" panose="02010609060101010101" pitchFamily="49" charset="-122"/>
            </a:endParaRPr>
          </a:p>
          <a:p>
            <a:pPr defTabSz="914400">
              <a:defRPr/>
            </a:pPr>
            <a:endParaRPr lang="en-US" altLang="zh-CN" sz="1100" b="1" dirty="0">
              <a:solidFill>
                <a:prstClr val="black"/>
              </a:solidFill>
              <a:latin typeface="黑体" panose="02010609060101010101" pitchFamily="49" charset="-122"/>
              <a:ea typeface="黑体" panose="02010609060101010101" pitchFamily="49" charset="-122"/>
            </a:endParaRPr>
          </a:p>
          <a:p>
            <a:pPr defTabSz="914400">
              <a:defRPr/>
            </a:pPr>
            <a:endParaRPr lang="en-US" altLang="zh-CN" sz="1100" b="1" dirty="0">
              <a:solidFill>
                <a:prstClr val="black"/>
              </a:solidFill>
              <a:latin typeface="黑体" panose="02010609060101010101" pitchFamily="49" charset="-122"/>
              <a:ea typeface="黑体" panose="02010609060101010101" pitchFamily="49" charset="-122"/>
            </a:endParaRPr>
          </a:p>
          <a:p>
            <a:pPr defTabSz="914400">
              <a:defRPr/>
            </a:pPr>
            <a:endParaRPr lang="en-US" altLang="zh-CN" sz="1100" b="1" dirty="0">
              <a:solidFill>
                <a:prstClr val="black"/>
              </a:solidFill>
              <a:latin typeface="黑体" panose="02010609060101010101" pitchFamily="49" charset="-122"/>
              <a:ea typeface="黑体" panose="02010609060101010101" pitchFamily="49" charset="-122"/>
            </a:endParaRPr>
          </a:p>
          <a:p>
            <a:pPr marL="391160" indent="-391160" algn="just">
              <a:lnSpc>
                <a:spcPct val="150000"/>
              </a:lnSpc>
              <a:spcBef>
                <a:spcPct val="50000"/>
              </a:spcBef>
              <a:defRPr/>
            </a:pPr>
            <a:endParaRPr lang="zh-CN" altLang="en-US" sz="3700" b="1" cap="all" dirty="0">
              <a:ln w="9000" cmpd="sng">
                <a:solidFill>
                  <a:srgbClr val="FFC000">
                    <a:shade val="50000"/>
                    <a:satMod val="120000"/>
                  </a:srgbClr>
                </a:solidFill>
                <a:prstDash val="solid"/>
              </a:ln>
              <a:gradFill>
                <a:gsLst>
                  <a:gs pos="0">
                    <a:srgbClr val="FFC000">
                      <a:shade val="20000"/>
                      <a:satMod val="245000"/>
                    </a:srgbClr>
                  </a:gs>
                  <a:gs pos="43000">
                    <a:srgbClr val="FFC000">
                      <a:satMod val="255000"/>
                    </a:srgbClr>
                  </a:gs>
                  <a:gs pos="48000">
                    <a:srgbClr val="FFC000">
                      <a:shade val="85000"/>
                      <a:satMod val="255000"/>
                    </a:srgbClr>
                  </a:gs>
                  <a:gs pos="100000">
                    <a:srgbClr val="FFC000">
                      <a:shade val="20000"/>
                      <a:satMod val="245000"/>
                    </a:srgbClr>
                  </a:gs>
                </a:gsLst>
                <a:lin ang="5400000"/>
              </a:gradFill>
              <a:effectLst>
                <a:reflection blurRad="12700" stA="28000" endPos="45000" dist="1000" dir="5400000" sy="-100000" algn="bl" rotWithShape="0"/>
              </a:effectLst>
              <a:latin typeface="Arial" panose="020B0604020202020204" pitchFamily="34" charset="0"/>
              <a:ea typeface="黑体" panose="02010609060101010101" pitchFamily="49" charset="-122"/>
            </a:endParaRPr>
          </a:p>
        </p:txBody>
      </p:sp>
      <p:sp>
        <p:nvSpPr>
          <p:cNvPr id="12292" name="Rectangle 16"/>
          <p:cNvSpPr>
            <a:spLocks noChangeArrowheads="1"/>
          </p:cNvSpPr>
          <p:nvPr/>
        </p:nvSpPr>
        <p:spPr bwMode="gray">
          <a:xfrm>
            <a:off x="0" y="1062038"/>
            <a:ext cx="9144000" cy="44451"/>
          </a:xfrm>
          <a:prstGeom prst="rect">
            <a:avLst/>
          </a:prstGeom>
          <a:gradFill rotWithShape="1">
            <a:gsLst>
              <a:gs pos="0">
                <a:srgbClr val="002060"/>
              </a:gs>
              <a:gs pos="50000">
                <a:srgbClr val="00B0F0"/>
              </a:gs>
              <a:gs pos="100000">
                <a:srgbClr val="002060"/>
              </a:gs>
            </a:gsLst>
            <a:lin ang="0" scaled="1"/>
          </a:gradFill>
          <a:ln>
            <a:noFill/>
          </a:ln>
        </p:spPr>
        <p:txBody>
          <a:bodyPr wrap="none" anchor="ct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a:spcBef>
                <a:spcPct val="0"/>
              </a:spcBef>
              <a:buNone/>
              <a:defRPr/>
            </a:pPr>
            <a:endParaRPr kumimoji="1" lang="zh-CN" altLang="zh-CN" sz="2000">
              <a:solidFill>
                <a:prstClr val="black"/>
              </a:solidFill>
              <a:latin typeface="Tahoma" panose="020B0604030504040204" pitchFamily="34" charset="0"/>
            </a:endParaRPr>
          </a:p>
        </p:txBody>
      </p:sp>
      <p:sp>
        <p:nvSpPr>
          <p:cNvPr id="12293"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algn="ctr">
              <a:spcBef>
                <a:spcPct val="0"/>
              </a:spcBef>
              <a:buNone/>
              <a:defRPr/>
            </a:pPr>
            <a:endParaRPr lang="zh-CN" altLang="zh-CN" sz="1600">
              <a:solidFill>
                <a:srgbClr val="000000"/>
              </a:solidFill>
              <a:latin typeface="Calibri" panose="020F0502020204030204" pitchFamily="34" charset="0"/>
              <a:sym typeface="宋体" panose="02010600030101010101" pitchFamily="2" charset="-122"/>
            </a:endParaRPr>
          </a:p>
        </p:txBody>
      </p:sp>
      <p:grpSp>
        <p:nvGrpSpPr>
          <p:cNvPr id="25" name="组合 24"/>
          <p:cNvGrpSpPr/>
          <p:nvPr/>
        </p:nvGrpSpPr>
        <p:grpSpPr>
          <a:xfrm>
            <a:off x="2503707" y="1409375"/>
            <a:ext cx="5117670" cy="611999"/>
            <a:chOff x="2572109" y="2035507"/>
            <a:chExt cx="5505462" cy="212099"/>
          </a:xfrm>
        </p:grpSpPr>
        <p:sp>
          <p:nvSpPr>
            <p:cNvPr id="26" name="矩形 25"/>
            <p:cNvSpPr/>
            <p:nvPr/>
          </p:nvSpPr>
          <p:spPr>
            <a:xfrm>
              <a:off x="2572109" y="2035507"/>
              <a:ext cx="5421907" cy="212099"/>
            </a:xfrm>
            <a:prstGeom prst="rect">
              <a:avLst/>
            </a:prstGeom>
            <a:solidFill>
              <a:srgbClr val="BFBF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lumMod val="65000"/>
                  </a:prstClr>
                </a:solidFill>
                <a:latin typeface="Calibri" panose="020F0502020204030204"/>
                <a:ea typeface="宋体" panose="02010600030101010101" pitchFamily="2" charset="-122"/>
              </a:endParaRPr>
            </a:p>
          </p:txBody>
        </p:sp>
        <p:sp>
          <p:nvSpPr>
            <p:cNvPr id="27" name="文本框 26"/>
            <p:cNvSpPr txBox="1"/>
            <p:nvPr/>
          </p:nvSpPr>
          <p:spPr>
            <a:xfrm>
              <a:off x="2600641" y="2070045"/>
              <a:ext cx="5476930" cy="138665"/>
            </a:xfrm>
            <a:prstGeom prst="rect">
              <a:avLst/>
            </a:prstGeom>
            <a:noFill/>
          </p:spPr>
          <p:txBody>
            <a:bodyPr wrap="square">
              <a:spAutoFit/>
            </a:bodyPr>
            <a:lstStyle>
              <a:defPPr>
                <a:defRPr lang="zh-CN"/>
              </a:defPPr>
              <a:lvl1pPr>
                <a:defRPr sz="3600" b="1">
                  <a:solidFill>
                    <a:srgbClr val="005E9C"/>
                  </a:solidFill>
                  <a:latin typeface="微软雅黑" panose="020B0503020204020204" pitchFamily="34" charset="-122"/>
                  <a:ea typeface="微软雅黑" panose="020B0503020204020204" pitchFamily="34" charset="-122"/>
                </a:defRPr>
              </a:lvl1pPr>
            </a:lstStyle>
            <a:p>
              <a:r>
                <a:rPr lang="zh-CN" altLang="en-US" sz="2000" dirty="0"/>
                <a:t>一、语言模型发展历程</a:t>
              </a:r>
            </a:p>
          </p:txBody>
        </p:sp>
      </p:grpSp>
      <p:grpSp>
        <p:nvGrpSpPr>
          <p:cNvPr id="31" name="组合 30"/>
          <p:cNvGrpSpPr/>
          <p:nvPr/>
        </p:nvGrpSpPr>
        <p:grpSpPr>
          <a:xfrm>
            <a:off x="2494181" y="2131708"/>
            <a:ext cx="5222513" cy="612000"/>
            <a:chOff x="2572107" y="1994785"/>
            <a:chExt cx="5618251" cy="240445"/>
          </a:xfrm>
        </p:grpSpPr>
        <p:sp>
          <p:nvSpPr>
            <p:cNvPr id="32" name="矩形 31"/>
            <p:cNvSpPr/>
            <p:nvPr/>
          </p:nvSpPr>
          <p:spPr>
            <a:xfrm>
              <a:off x="2572109" y="1994785"/>
              <a:ext cx="5421908" cy="240445"/>
            </a:xfrm>
            <a:prstGeom prst="rect">
              <a:avLst/>
            </a:prstGeom>
            <a:solidFill>
              <a:srgbClr val="BFBF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lumMod val="65000"/>
                  </a:prstClr>
                </a:solidFill>
                <a:latin typeface="Calibri" panose="020F0502020204030204"/>
                <a:ea typeface="宋体" panose="02010600030101010101" pitchFamily="2" charset="-122"/>
              </a:endParaRPr>
            </a:p>
          </p:txBody>
        </p:sp>
        <p:sp>
          <p:nvSpPr>
            <p:cNvPr id="33" name="文本框 32"/>
            <p:cNvSpPr txBox="1"/>
            <p:nvPr/>
          </p:nvSpPr>
          <p:spPr>
            <a:xfrm>
              <a:off x="2572107" y="2057746"/>
              <a:ext cx="5618251" cy="157197"/>
            </a:xfrm>
            <a:prstGeom prst="rect">
              <a:avLst/>
            </a:prstGeom>
            <a:noFill/>
          </p:spPr>
          <p:txBody>
            <a:bodyPr wrap="square">
              <a:spAutoFit/>
            </a:bodyPr>
            <a:lstStyle>
              <a:defPPr>
                <a:defRPr lang="zh-CN"/>
              </a:defPPr>
              <a:lvl1pPr>
                <a:defRPr sz="3600" b="1">
                  <a:solidFill>
                    <a:srgbClr val="005E9C"/>
                  </a:solidFill>
                  <a:latin typeface="微软雅黑" panose="020B0503020204020204" pitchFamily="34" charset="-122"/>
                  <a:ea typeface="微软雅黑" panose="020B0503020204020204" pitchFamily="34" charset="-122"/>
                </a:defRPr>
              </a:lvl1pPr>
            </a:lstStyle>
            <a:p>
              <a:r>
                <a:rPr lang="zh-CN" altLang="en-US" sz="2000" dirty="0"/>
                <a:t>二、</a:t>
              </a:r>
              <a:r>
                <a:rPr lang="en-US" altLang="zh-CN" sz="2000" dirty="0"/>
                <a:t>NLP</a:t>
              </a:r>
              <a:r>
                <a:rPr lang="zh-CN" altLang="en-US" sz="2000" dirty="0"/>
                <a:t>技术基础</a:t>
              </a:r>
            </a:p>
          </p:txBody>
        </p:sp>
      </p:grpSp>
      <p:grpSp>
        <p:nvGrpSpPr>
          <p:cNvPr id="4" name="组合 3"/>
          <p:cNvGrpSpPr/>
          <p:nvPr/>
        </p:nvGrpSpPr>
        <p:grpSpPr>
          <a:xfrm>
            <a:off x="2494181" y="3595230"/>
            <a:ext cx="5091149" cy="612000"/>
            <a:chOff x="2572108" y="1994785"/>
            <a:chExt cx="5476931" cy="240445"/>
          </a:xfrm>
        </p:grpSpPr>
        <p:sp>
          <p:nvSpPr>
            <p:cNvPr id="10" name="矩形 9"/>
            <p:cNvSpPr/>
            <p:nvPr/>
          </p:nvSpPr>
          <p:spPr>
            <a:xfrm>
              <a:off x="2572109" y="1994785"/>
              <a:ext cx="5421906" cy="240445"/>
            </a:xfrm>
            <a:prstGeom prst="rect">
              <a:avLst/>
            </a:prstGeom>
            <a:solidFill>
              <a:srgbClr val="BFBF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lumMod val="65000"/>
                  </a:prstClr>
                </a:solidFill>
                <a:latin typeface="Calibri" panose="020F0502020204030204"/>
                <a:ea typeface="宋体" panose="02010600030101010101" pitchFamily="2" charset="-122"/>
              </a:endParaRPr>
            </a:p>
          </p:txBody>
        </p:sp>
        <p:sp>
          <p:nvSpPr>
            <p:cNvPr id="11" name="文本框 10"/>
            <p:cNvSpPr txBox="1"/>
            <p:nvPr/>
          </p:nvSpPr>
          <p:spPr>
            <a:xfrm>
              <a:off x="2572108" y="2057747"/>
              <a:ext cx="5476931" cy="157197"/>
            </a:xfrm>
            <a:prstGeom prst="rect">
              <a:avLst/>
            </a:prstGeom>
            <a:noFill/>
          </p:spPr>
          <p:txBody>
            <a:bodyPr wrap="square">
              <a:spAutoFit/>
            </a:bodyPr>
            <a:lstStyle>
              <a:defPPr>
                <a:defRPr lang="zh-CN"/>
              </a:defPPr>
              <a:lvl1pPr>
                <a:defRPr sz="3600" b="1">
                  <a:solidFill>
                    <a:srgbClr val="005E9C"/>
                  </a:solidFill>
                  <a:latin typeface="微软雅黑" panose="020B0503020204020204" pitchFamily="34" charset="-122"/>
                  <a:ea typeface="微软雅黑" panose="020B0503020204020204" pitchFamily="34" charset="-122"/>
                </a:defRPr>
              </a:lvl1pPr>
            </a:lstStyle>
            <a:p>
              <a:r>
                <a:rPr lang="zh-CN" altLang="en-US" sz="2000" dirty="0"/>
                <a:t>四、预训练语言模型</a:t>
              </a:r>
            </a:p>
          </p:txBody>
        </p:sp>
      </p:grpSp>
      <p:grpSp>
        <p:nvGrpSpPr>
          <p:cNvPr id="9" name="组合 8">
            <a:extLst>
              <a:ext uri="{FF2B5EF4-FFF2-40B4-BE49-F238E27FC236}">
                <a16:creationId xmlns:a16="http://schemas.microsoft.com/office/drawing/2014/main" id="{1ED4356E-22CE-4612-ECF5-1591CAEF2DBD}"/>
              </a:ext>
            </a:extLst>
          </p:cNvPr>
          <p:cNvGrpSpPr/>
          <p:nvPr/>
        </p:nvGrpSpPr>
        <p:grpSpPr>
          <a:xfrm>
            <a:off x="2494181" y="2871908"/>
            <a:ext cx="5272673" cy="612000"/>
            <a:chOff x="2572108" y="1994785"/>
            <a:chExt cx="5661672" cy="240445"/>
          </a:xfrm>
        </p:grpSpPr>
        <p:sp>
          <p:nvSpPr>
            <p:cNvPr id="12" name="矩形 11">
              <a:extLst>
                <a:ext uri="{FF2B5EF4-FFF2-40B4-BE49-F238E27FC236}">
                  <a16:creationId xmlns:a16="http://schemas.microsoft.com/office/drawing/2014/main" id="{E193EC3A-8425-2337-5A4C-29CDDFCE22E8}"/>
                </a:ext>
              </a:extLst>
            </p:cNvPr>
            <p:cNvSpPr/>
            <p:nvPr/>
          </p:nvSpPr>
          <p:spPr>
            <a:xfrm>
              <a:off x="2572109" y="1994785"/>
              <a:ext cx="5411833" cy="240445"/>
            </a:xfrm>
            <a:prstGeom prst="rect">
              <a:avLst/>
            </a:prstGeom>
            <a:solidFill>
              <a:srgbClr val="BFBF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lumMod val="65000"/>
                  </a:prstClr>
                </a:solidFill>
                <a:latin typeface="Calibri" panose="020F0502020204030204"/>
                <a:ea typeface="宋体" panose="02010600030101010101" pitchFamily="2" charset="-122"/>
              </a:endParaRPr>
            </a:p>
          </p:txBody>
        </p:sp>
        <p:sp>
          <p:nvSpPr>
            <p:cNvPr id="13" name="文本框 12">
              <a:extLst>
                <a:ext uri="{FF2B5EF4-FFF2-40B4-BE49-F238E27FC236}">
                  <a16:creationId xmlns:a16="http://schemas.microsoft.com/office/drawing/2014/main" id="{C121A319-6145-5C77-9ECD-42161C03CE13}"/>
                </a:ext>
              </a:extLst>
            </p:cNvPr>
            <p:cNvSpPr txBox="1"/>
            <p:nvPr/>
          </p:nvSpPr>
          <p:spPr>
            <a:xfrm>
              <a:off x="2572108" y="2057747"/>
              <a:ext cx="5661672" cy="157197"/>
            </a:xfrm>
            <a:prstGeom prst="rect">
              <a:avLst/>
            </a:prstGeom>
            <a:noFill/>
          </p:spPr>
          <p:txBody>
            <a:bodyPr wrap="square">
              <a:spAutoFit/>
            </a:bodyPr>
            <a:lstStyle>
              <a:defPPr>
                <a:defRPr lang="zh-CN"/>
              </a:defPPr>
              <a:lvl1pPr>
                <a:defRPr sz="3600" b="1">
                  <a:solidFill>
                    <a:srgbClr val="005E9C"/>
                  </a:solidFill>
                  <a:latin typeface="微软雅黑" panose="020B0503020204020204" pitchFamily="34" charset="-122"/>
                  <a:ea typeface="微软雅黑" panose="020B0503020204020204" pitchFamily="34" charset="-122"/>
                </a:defRPr>
              </a:lvl1pPr>
            </a:lstStyle>
            <a:p>
              <a:r>
                <a:rPr lang="zh-CN" altLang="en-US" sz="2000" dirty="0"/>
                <a:t>三、</a:t>
              </a:r>
              <a:r>
                <a:rPr lang="en-US" altLang="zh-CN" sz="2000" dirty="0"/>
                <a:t>Transformer</a:t>
              </a:r>
              <a:r>
                <a:rPr lang="zh-CN" altLang="en-US" sz="2000" dirty="0"/>
                <a:t>预训练</a:t>
              </a:r>
            </a:p>
          </p:txBody>
        </p:sp>
      </p:grpSp>
      <p:grpSp>
        <p:nvGrpSpPr>
          <p:cNvPr id="20" name="组合 19">
            <a:extLst>
              <a:ext uri="{FF2B5EF4-FFF2-40B4-BE49-F238E27FC236}">
                <a16:creationId xmlns:a16="http://schemas.microsoft.com/office/drawing/2014/main" id="{A7C2659E-D9C7-42A6-8E2B-44B146D03619}"/>
              </a:ext>
            </a:extLst>
          </p:cNvPr>
          <p:cNvGrpSpPr/>
          <p:nvPr/>
        </p:nvGrpSpPr>
        <p:grpSpPr>
          <a:xfrm>
            <a:off x="2494180" y="4326744"/>
            <a:ext cx="5091149" cy="612000"/>
            <a:chOff x="2572108" y="1994785"/>
            <a:chExt cx="5476931" cy="240445"/>
          </a:xfrm>
        </p:grpSpPr>
        <p:sp>
          <p:nvSpPr>
            <p:cNvPr id="21" name="矩形 20">
              <a:extLst>
                <a:ext uri="{FF2B5EF4-FFF2-40B4-BE49-F238E27FC236}">
                  <a16:creationId xmlns:a16="http://schemas.microsoft.com/office/drawing/2014/main" id="{3994DE0A-0955-4A33-8709-87F3D27E8EEC}"/>
                </a:ext>
              </a:extLst>
            </p:cNvPr>
            <p:cNvSpPr/>
            <p:nvPr/>
          </p:nvSpPr>
          <p:spPr>
            <a:xfrm>
              <a:off x="2572109" y="1994785"/>
              <a:ext cx="5421906" cy="240445"/>
            </a:xfrm>
            <a:prstGeom prst="rect">
              <a:avLst/>
            </a:prstGeom>
            <a:solidFill>
              <a:srgbClr val="BFBF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lumMod val="65000"/>
                  </a:prstClr>
                </a:solidFill>
                <a:latin typeface="Calibri" panose="020F0502020204030204"/>
                <a:ea typeface="宋体" panose="02010600030101010101" pitchFamily="2" charset="-122"/>
              </a:endParaRPr>
            </a:p>
          </p:txBody>
        </p:sp>
        <p:sp>
          <p:nvSpPr>
            <p:cNvPr id="22" name="文本框 21">
              <a:extLst>
                <a:ext uri="{FF2B5EF4-FFF2-40B4-BE49-F238E27FC236}">
                  <a16:creationId xmlns:a16="http://schemas.microsoft.com/office/drawing/2014/main" id="{D70FFE24-470E-486B-8E42-1F4425533250}"/>
                </a:ext>
              </a:extLst>
            </p:cNvPr>
            <p:cNvSpPr txBox="1"/>
            <p:nvPr/>
          </p:nvSpPr>
          <p:spPr>
            <a:xfrm>
              <a:off x="2572108" y="2057747"/>
              <a:ext cx="5476931" cy="157197"/>
            </a:xfrm>
            <a:prstGeom prst="rect">
              <a:avLst/>
            </a:prstGeom>
            <a:noFill/>
          </p:spPr>
          <p:txBody>
            <a:bodyPr wrap="square">
              <a:spAutoFit/>
            </a:bodyPr>
            <a:lstStyle>
              <a:defPPr>
                <a:defRPr lang="zh-CN"/>
              </a:defPPr>
              <a:lvl1pPr>
                <a:defRPr sz="3600" b="1">
                  <a:solidFill>
                    <a:srgbClr val="005E9C"/>
                  </a:solidFill>
                  <a:latin typeface="微软雅黑" panose="020B0503020204020204" pitchFamily="34" charset="-122"/>
                  <a:ea typeface="微软雅黑" panose="020B0503020204020204" pitchFamily="34" charset="-122"/>
                </a:defRPr>
              </a:lvl1pPr>
            </a:lstStyle>
            <a:p>
              <a:r>
                <a:rPr lang="zh-CN" altLang="en-US" sz="2000" dirty="0"/>
                <a:t>五、语言模型的后训练</a:t>
              </a:r>
            </a:p>
          </p:txBody>
        </p:sp>
      </p:grpSp>
      <p:grpSp>
        <p:nvGrpSpPr>
          <p:cNvPr id="23" name="组合 22">
            <a:extLst>
              <a:ext uri="{FF2B5EF4-FFF2-40B4-BE49-F238E27FC236}">
                <a16:creationId xmlns:a16="http://schemas.microsoft.com/office/drawing/2014/main" id="{5D863BA5-1E03-4916-B55F-80B7396A3367}"/>
              </a:ext>
            </a:extLst>
          </p:cNvPr>
          <p:cNvGrpSpPr/>
          <p:nvPr/>
        </p:nvGrpSpPr>
        <p:grpSpPr>
          <a:xfrm>
            <a:off x="2494180" y="5062626"/>
            <a:ext cx="5091149" cy="612000"/>
            <a:chOff x="2572108" y="1994785"/>
            <a:chExt cx="5476931" cy="240445"/>
          </a:xfrm>
        </p:grpSpPr>
        <p:sp>
          <p:nvSpPr>
            <p:cNvPr id="24" name="矩形 23">
              <a:extLst>
                <a:ext uri="{FF2B5EF4-FFF2-40B4-BE49-F238E27FC236}">
                  <a16:creationId xmlns:a16="http://schemas.microsoft.com/office/drawing/2014/main" id="{4F4ABAE6-6EAA-4CEA-B507-9A06E53A1CE3}"/>
                </a:ext>
              </a:extLst>
            </p:cNvPr>
            <p:cNvSpPr/>
            <p:nvPr/>
          </p:nvSpPr>
          <p:spPr>
            <a:xfrm>
              <a:off x="2572109" y="1994785"/>
              <a:ext cx="5421906" cy="240445"/>
            </a:xfrm>
            <a:prstGeom prst="rect">
              <a:avLst/>
            </a:prstGeom>
            <a:solidFill>
              <a:srgbClr val="BFBFB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lumMod val="65000"/>
                  </a:prstClr>
                </a:solidFill>
                <a:latin typeface="Calibri" panose="020F0502020204030204"/>
                <a:ea typeface="宋体" panose="02010600030101010101" pitchFamily="2" charset="-122"/>
              </a:endParaRPr>
            </a:p>
          </p:txBody>
        </p:sp>
        <p:sp>
          <p:nvSpPr>
            <p:cNvPr id="28" name="文本框 27">
              <a:extLst>
                <a:ext uri="{FF2B5EF4-FFF2-40B4-BE49-F238E27FC236}">
                  <a16:creationId xmlns:a16="http://schemas.microsoft.com/office/drawing/2014/main" id="{49FBC571-359A-48D0-B8BD-B4657B7B3CAE}"/>
                </a:ext>
              </a:extLst>
            </p:cNvPr>
            <p:cNvSpPr txBox="1"/>
            <p:nvPr/>
          </p:nvSpPr>
          <p:spPr>
            <a:xfrm>
              <a:off x="2572108" y="2057747"/>
              <a:ext cx="5476931" cy="157197"/>
            </a:xfrm>
            <a:prstGeom prst="rect">
              <a:avLst/>
            </a:prstGeom>
            <a:noFill/>
          </p:spPr>
          <p:txBody>
            <a:bodyPr wrap="square">
              <a:spAutoFit/>
            </a:bodyPr>
            <a:lstStyle>
              <a:defPPr>
                <a:defRPr lang="zh-CN"/>
              </a:defPPr>
              <a:lvl1pPr>
                <a:defRPr sz="3600" b="1">
                  <a:solidFill>
                    <a:srgbClr val="005E9C"/>
                  </a:solidFill>
                  <a:latin typeface="微软雅黑" panose="020B0503020204020204" pitchFamily="34" charset="-122"/>
                  <a:ea typeface="微软雅黑" panose="020B0503020204020204" pitchFamily="34" charset="-122"/>
                </a:defRPr>
              </a:lvl1pPr>
            </a:lstStyle>
            <a:p>
              <a:r>
                <a:rPr lang="zh-CN" altLang="en-US" sz="2000" dirty="0"/>
                <a:t>六、提示工程</a:t>
              </a: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四、课程内容与考核</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7B4E163E-001D-4F58-8935-679394ADEB24}"/>
              </a:ext>
            </a:extLst>
          </p:cNvPr>
          <p:cNvSpPr txBox="1"/>
          <p:nvPr/>
        </p:nvSpPr>
        <p:spPr>
          <a:xfrm>
            <a:off x="225759" y="930244"/>
            <a:ext cx="1107996"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考核方式</a:t>
            </a:r>
          </a:p>
        </p:txBody>
      </p:sp>
      <p:sp>
        <p:nvSpPr>
          <p:cNvPr id="2" name="文本框 1">
            <a:extLst>
              <a:ext uri="{FF2B5EF4-FFF2-40B4-BE49-F238E27FC236}">
                <a16:creationId xmlns:a16="http://schemas.microsoft.com/office/drawing/2014/main" id="{A9C49553-8FCD-4AF0-A58D-AFA651AFB687}"/>
              </a:ext>
            </a:extLst>
          </p:cNvPr>
          <p:cNvSpPr txBox="1"/>
          <p:nvPr/>
        </p:nvSpPr>
        <p:spPr>
          <a:xfrm>
            <a:off x="225760" y="1469561"/>
            <a:ext cx="8589830" cy="490172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成绩组成：</a:t>
            </a:r>
            <a:r>
              <a:rPr lang="en-US" altLang="zh-CN" sz="1400" b="1" dirty="0">
                <a:latin typeface="微软雅黑" panose="020B0503020204020204" pitchFamily="34" charset="-122"/>
                <a:ea typeface="微软雅黑" panose="020B0503020204020204" pitchFamily="34" charset="-122"/>
              </a:rPr>
              <a:t>30%</a:t>
            </a:r>
            <a:r>
              <a:rPr lang="zh-CN" altLang="en-US" sz="1400" dirty="0">
                <a:latin typeface="微软雅黑" panose="020B0503020204020204" pitchFamily="34" charset="-122"/>
                <a:ea typeface="微软雅黑" panose="020B0503020204020204" pitchFamily="34" charset="-122"/>
              </a:rPr>
              <a:t>平时成绩</a:t>
            </a:r>
            <a:r>
              <a:rPr lang="en-US" altLang="zh-CN" sz="1400"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70%</a:t>
            </a:r>
            <a:r>
              <a:rPr lang="zh-CN" altLang="en-US" sz="1400" dirty="0">
                <a:latin typeface="微软雅黑" panose="020B0503020204020204" pitchFamily="34" charset="-122"/>
                <a:ea typeface="微软雅黑" panose="020B0503020204020204" pitchFamily="34" charset="-122"/>
              </a:rPr>
              <a:t>小组展示成绩</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展示成绩：</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rPr>
              <a:t>2-3</a:t>
            </a:r>
            <a:r>
              <a:rPr lang="zh-CN" altLang="en-US" sz="1400" dirty="0">
                <a:latin typeface="微软雅黑" panose="020B0503020204020204" pitchFamily="34" charset="-122"/>
                <a:ea typeface="微软雅黑" panose="020B0503020204020204" pitchFamily="34" charset="-122"/>
              </a:rPr>
              <a:t>人一组，进行一个小专题的汇报，自行组队；</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汇报时长在</a:t>
            </a:r>
            <a:r>
              <a:rPr lang="en-US" altLang="zh-CN" sz="1400" dirty="0">
                <a:latin typeface="微软雅黑" panose="020B0503020204020204" pitchFamily="34" charset="-122"/>
                <a:ea typeface="微软雅黑" panose="020B0503020204020204" pitchFamily="34" charset="-122"/>
              </a:rPr>
              <a:t>30</a:t>
            </a:r>
            <a:r>
              <a:rPr lang="zh-CN" altLang="en-US" sz="1400" dirty="0">
                <a:latin typeface="微软雅黑" panose="020B0503020204020204" pitchFamily="34" charset="-122"/>
                <a:ea typeface="微软雅黑" panose="020B0503020204020204" pitchFamily="34" charset="-122"/>
              </a:rPr>
              <a:t>分钟（可以组员轮流也可以组长汇报）；</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汇报参考文献不少于</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篇；</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汇报使用小组共同制作的幻灯片或者视频；</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组长标明组员贡献；</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b="1" dirty="0">
                <a:solidFill>
                  <a:srgbClr val="C00000"/>
                </a:solidFill>
                <a:latin typeface="微软雅黑" panose="020B0503020204020204" pitchFamily="34" charset="-122"/>
                <a:ea typeface="微软雅黑" panose="020B0503020204020204" pitchFamily="34" charset="-122"/>
              </a:rPr>
              <a:t>每位同学需要提交一份纸质论文，论文内容为主备</a:t>
            </a:r>
            <a:r>
              <a:rPr lang="en-US" altLang="zh-CN" sz="1400" b="1" dirty="0">
                <a:solidFill>
                  <a:srgbClr val="C00000"/>
                </a:solidFill>
                <a:latin typeface="微软雅黑" panose="020B0503020204020204" pitchFamily="34" charset="-122"/>
                <a:ea typeface="微软雅黑" panose="020B0503020204020204" pitchFamily="34" charset="-122"/>
              </a:rPr>
              <a:t>presentation</a:t>
            </a:r>
            <a:r>
              <a:rPr lang="zh-CN" altLang="en-US" sz="1400" b="1" dirty="0">
                <a:solidFill>
                  <a:srgbClr val="C00000"/>
                </a:solidFill>
                <a:latin typeface="微软雅黑" panose="020B0503020204020204" pitchFamily="34" charset="-122"/>
                <a:ea typeface="微软雅黑" panose="020B0503020204020204" pitchFamily="34" charset="-122"/>
              </a:rPr>
              <a:t>的那部分内容的书面讨论</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u="sng" dirty="0">
                <a:latin typeface="微软雅黑" panose="020B0503020204020204" pitchFamily="34" charset="-122"/>
                <a:ea typeface="微软雅黑" panose="020B0503020204020204" pitchFamily="34" charset="-122"/>
              </a:rPr>
              <a:t>问答得分</a:t>
            </a:r>
            <a:r>
              <a:rPr lang="zh-CN" altLang="en-US" sz="1400" dirty="0">
                <a:latin typeface="微软雅黑" panose="020B0503020204020204" pitchFamily="34" charset="-122"/>
                <a:ea typeface="微软雅黑" panose="020B0503020204020204" pitchFamily="34" charset="-122"/>
              </a:rPr>
              <a:t>：某一小组汇报结束后，其他小组进行至少一次的问答；</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solidFill>
                  <a:srgbClr val="C00000"/>
                </a:solidFill>
                <a:latin typeface="微软雅黑" panose="020B0503020204020204" pitchFamily="34" charset="-122"/>
                <a:ea typeface="微软雅黑" panose="020B0503020204020204" pitchFamily="34" charset="-122"/>
              </a:rPr>
              <a:t>请大家在本周日</a:t>
            </a:r>
            <a:r>
              <a:rPr lang="en-US" altLang="zh-CN" sz="1400" dirty="0">
                <a:solidFill>
                  <a:srgbClr val="C00000"/>
                </a:solidFill>
                <a:latin typeface="微软雅黑" panose="020B0503020204020204" pitchFamily="34" charset="-122"/>
                <a:ea typeface="微软雅黑" panose="020B0503020204020204" pitchFamily="34" charset="-122"/>
              </a:rPr>
              <a:t>23</a:t>
            </a:r>
            <a:r>
              <a:rPr lang="zh-CN" altLang="en-US" sz="1400" dirty="0">
                <a:solidFill>
                  <a:srgbClr val="C00000"/>
                </a:solidFill>
                <a:latin typeface="微软雅黑" panose="020B0503020204020204" pitchFamily="34" charset="-122"/>
                <a:ea typeface="微软雅黑" panose="020B0503020204020204" pitchFamily="34" charset="-122"/>
              </a:rPr>
              <a:t>：</a:t>
            </a:r>
            <a:r>
              <a:rPr lang="en-US" altLang="zh-CN" sz="1400" dirty="0">
                <a:solidFill>
                  <a:srgbClr val="C00000"/>
                </a:solidFill>
                <a:latin typeface="微软雅黑" panose="020B0503020204020204" pitchFamily="34" charset="-122"/>
                <a:ea typeface="微软雅黑" panose="020B0503020204020204" pitchFamily="34" charset="-122"/>
              </a:rPr>
              <a:t>59</a:t>
            </a:r>
            <a:r>
              <a:rPr lang="zh-CN" altLang="en-US" sz="1400" dirty="0">
                <a:solidFill>
                  <a:srgbClr val="C00000"/>
                </a:solidFill>
                <a:latin typeface="微软雅黑" panose="020B0503020204020204" pitchFamily="34" charset="-122"/>
                <a:ea typeface="微软雅黑" panose="020B0503020204020204" pitchFamily="34" charset="-122"/>
              </a:rPr>
              <a:t>前发送</a:t>
            </a:r>
            <a:r>
              <a:rPr lang="zh-CN" altLang="en-US" sz="1400" b="1" dirty="0">
                <a:solidFill>
                  <a:srgbClr val="C00000"/>
                </a:solidFill>
                <a:latin typeface="微软雅黑" panose="020B0503020204020204" pitchFamily="34" charset="-122"/>
                <a:ea typeface="微软雅黑" panose="020B0503020204020204" pitchFamily="34" charset="-122"/>
              </a:rPr>
              <a:t>分组列表</a:t>
            </a:r>
            <a:r>
              <a:rPr lang="zh-CN" altLang="en-US" sz="1400" dirty="0">
                <a:solidFill>
                  <a:srgbClr val="C00000"/>
                </a:solidFill>
                <a:latin typeface="微软雅黑" panose="020B0503020204020204" pitchFamily="34" charset="-122"/>
                <a:ea typeface="微软雅黑" panose="020B0503020204020204" pitchFamily="34" charset="-122"/>
              </a:rPr>
              <a:t>到任课老师邮箱（</a:t>
            </a:r>
            <a:r>
              <a:rPr lang="en-US" altLang="zh-CN" sz="1400" dirty="0">
                <a:solidFill>
                  <a:srgbClr val="C00000"/>
                </a:solidFill>
                <a:latin typeface="微软雅黑" panose="020B0503020204020204" pitchFamily="34" charset="-122"/>
                <a:ea typeface="微软雅黑" panose="020B0503020204020204" pitchFamily="34" charset="-122"/>
              </a:rPr>
              <a:t>xiaoyuyou@ecust.edu.cn</a:t>
            </a:r>
            <a:r>
              <a:rPr lang="zh-CN" altLang="en-US" sz="1400" dirty="0">
                <a:solidFill>
                  <a:srgbClr val="C00000"/>
                </a:solidFill>
                <a:latin typeface="微软雅黑" panose="020B0503020204020204" pitchFamily="34" charset="-122"/>
                <a:ea typeface="微软雅黑" panose="020B0503020204020204" pitchFamily="34" charset="-122"/>
              </a:rPr>
              <a:t>），</a:t>
            </a:r>
            <a:r>
              <a:rPr lang="zh-CN" altLang="en-US" sz="1400" u="sng" dirty="0">
                <a:solidFill>
                  <a:srgbClr val="C00000"/>
                </a:solidFill>
                <a:latin typeface="微软雅黑" panose="020B0503020204020204" pitchFamily="34" charset="-122"/>
                <a:ea typeface="微软雅黑" panose="020B0503020204020204" pitchFamily="34" charset="-122"/>
              </a:rPr>
              <a:t>由组长发送</a:t>
            </a:r>
            <a:r>
              <a:rPr lang="zh-CN" altLang="en-US" sz="1400" dirty="0">
                <a:solidFill>
                  <a:srgbClr val="C00000"/>
                </a:solidFill>
                <a:latin typeface="微软雅黑" panose="020B0503020204020204" pitchFamily="34" charset="-122"/>
                <a:ea typeface="微软雅黑" panose="020B0503020204020204" pitchFamily="34" charset="-122"/>
              </a:rPr>
              <a:t>；</a:t>
            </a:r>
            <a:endParaRPr lang="en-US" altLang="zh-CN" sz="1400" dirty="0">
              <a:solidFill>
                <a:srgbClr val="C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平时成绩：</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出勤程度；</a:t>
            </a:r>
            <a:endParaRPr lang="en-US" altLang="zh-CN" sz="1400"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课堂要求：</a:t>
            </a:r>
            <a:r>
              <a:rPr lang="zh-CN" altLang="en-US" sz="1400" b="1" u="sng" dirty="0">
                <a:solidFill>
                  <a:srgbClr val="C00000"/>
                </a:solidFill>
                <a:latin typeface="微软雅黑" panose="020B0503020204020204" pitchFamily="34" charset="-122"/>
                <a:ea typeface="微软雅黑" panose="020B0503020204020204" pitchFamily="34" charset="-122"/>
              </a:rPr>
              <a:t>不建议</a:t>
            </a:r>
            <a:r>
              <a:rPr lang="zh-CN" altLang="en-US" sz="1400" dirty="0">
                <a:latin typeface="微软雅黑" panose="020B0503020204020204" pitchFamily="34" charset="-122"/>
                <a:ea typeface="微软雅黑" panose="020B0503020204020204" pitchFamily="34" charset="-122"/>
              </a:rPr>
              <a:t>在课堂同步使用个人电脑；分组材料、报告材料以及纸质论文</a:t>
            </a:r>
            <a:r>
              <a:rPr lang="zh-CN" altLang="en-US" sz="1400" b="1" u="sng" dirty="0">
                <a:solidFill>
                  <a:srgbClr val="C00000"/>
                </a:solidFill>
                <a:latin typeface="微软雅黑" panose="020B0503020204020204" pitchFamily="34" charset="-122"/>
                <a:ea typeface="微软雅黑" panose="020B0503020204020204" pitchFamily="34" charset="-122"/>
              </a:rPr>
              <a:t>按时</a:t>
            </a:r>
            <a:r>
              <a:rPr lang="zh-CN" altLang="en-US" sz="1400" dirty="0">
                <a:latin typeface="微软雅黑" panose="020B0503020204020204" pitchFamily="34" charset="-122"/>
                <a:ea typeface="微软雅黑" panose="020B0503020204020204" pitchFamily="34" charset="-122"/>
              </a:rPr>
              <a:t>提交；</a:t>
            </a:r>
            <a:r>
              <a:rPr lang="zh-CN" altLang="en-US" sz="1400" b="1" u="sng" dirty="0">
                <a:solidFill>
                  <a:srgbClr val="C00000"/>
                </a:solidFill>
                <a:latin typeface="微软雅黑" panose="020B0503020204020204" pitchFamily="34" charset="-122"/>
                <a:ea typeface="微软雅黑" panose="020B0503020204020204" pitchFamily="34" charset="-122"/>
              </a:rPr>
              <a:t>不迟到</a:t>
            </a:r>
            <a:r>
              <a:rPr lang="zh-CN" altLang="en-US" sz="1400" dirty="0">
                <a:latin typeface="微软雅黑" panose="020B0503020204020204" pitchFamily="34" charset="-122"/>
                <a:ea typeface="微软雅黑" panose="020B0503020204020204" pitchFamily="34" charset="-122"/>
              </a:rPr>
              <a:t>，</a:t>
            </a:r>
            <a:r>
              <a:rPr lang="zh-CN" altLang="en-US" sz="1400" b="1" u="sng" dirty="0">
                <a:solidFill>
                  <a:srgbClr val="C00000"/>
                </a:solidFill>
                <a:latin typeface="微软雅黑" panose="020B0503020204020204" pitchFamily="34" charset="-122"/>
                <a:ea typeface="微软雅黑" panose="020B0503020204020204" pitchFamily="34" charset="-122"/>
              </a:rPr>
              <a:t>不早退</a:t>
            </a:r>
            <a:r>
              <a:rPr lang="zh-CN" altLang="en-US" sz="1400" dirty="0">
                <a:latin typeface="微软雅黑" panose="020B0503020204020204" pitchFamily="34" charset="-122"/>
                <a:ea typeface="微软雅黑" panose="020B0503020204020204" pitchFamily="34" charset="-122"/>
              </a:rPr>
              <a:t>，允许特殊情况的提前请假～</a:t>
            </a:r>
            <a:endParaRPr lang="en-US" altLang="zh-CN" sz="1400" dirty="0">
              <a:latin typeface="微软雅黑" panose="020B0503020204020204" pitchFamily="34" charset="-122"/>
              <a:ea typeface="微软雅黑" panose="020B0503020204020204" pitchFamily="34" charset="-122"/>
            </a:endParaRPr>
          </a:p>
        </p:txBody>
      </p:sp>
      <p:sp>
        <p:nvSpPr>
          <p:cNvPr id="6" name="右大括号 5">
            <a:extLst>
              <a:ext uri="{FF2B5EF4-FFF2-40B4-BE49-F238E27FC236}">
                <a16:creationId xmlns:a16="http://schemas.microsoft.com/office/drawing/2014/main" id="{742C1A04-6F4B-4B0B-BB90-B0683FFB320F}"/>
              </a:ext>
            </a:extLst>
          </p:cNvPr>
          <p:cNvSpPr/>
          <p:nvPr/>
        </p:nvSpPr>
        <p:spPr>
          <a:xfrm>
            <a:off x="5425440" y="2288012"/>
            <a:ext cx="207264" cy="1451478"/>
          </a:xfrm>
          <a:prstGeom prst="rightBrace">
            <a:avLst/>
          </a:prstGeom>
          <a:ln w="12700">
            <a:solidFill>
              <a:srgbClr val="00518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B3330A12-0508-4356-BDDA-9CB2051BD84B}"/>
              </a:ext>
            </a:extLst>
          </p:cNvPr>
          <p:cNvSpPr txBox="1"/>
          <p:nvPr/>
        </p:nvSpPr>
        <p:spPr>
          <a:xfrm>
            <a:off x="5632704" y="2715497"/>
            <a:ext cx="2550698" cy="307777"/>
          </a:xfrm>
          <a:prstGeom prst="rect">
            <a:avLst/>
          </a:prstGeom>
          <a:noFill/>
        </p:spPr>
        <p:txBody>
          <a:bodyPr wrap="none" rtlCol="0">
            <a:spAutoFit/>
          </a:bodyPr>
          <a:lstStyle/>
          <a:p>
            <a:r>
              <a:rPr lang="zh-CN" altLang="en-US" sz="1400" i="1" dirty="0">
                <a:latin typeface="微软雅黑" panose="020B0503020204020204" pitchFamily="34" charset="-122"/>
                <a:ea typeface="微软雅黑" panose="020B0503020204020204" pitchFamily="34" charset="-122"/>
              </a:rPr>
              <a:t>基础分</a:t>
            </a:r>
            <a:r>
              <a:rPr lang="en-US" altLang="zh-CN" sz="1400" i="1" dirty="0">
                <a:latin typeface="微软雅黑" panose="020B0503020204020204" pitchFamily="34" charset="-122"/>
                <a:ea typeface="微软雅黑" panose="020B0503020204020204" pitchFamily="34" charset="-122"/>
              </a:rPr>
              <a:t>75</a:t>
            </a:r>
            <a:r>
              <a:rPr lang="zh-CN" altLang="en-US" sz="1400" i="1" dirty="0">
                <a:latin typeface="微软雅黑" panose="020B0503020204020204" pitchFamily="34" charset="-122"/>
                <a:ea typeface="微软雅黑" panose="020B0503020204020204" pitchFamily="34" charset="-122"/>
              </a:rPr>
              <a:t>分，由任课老师打分</a:t>
            </a:r>
          </a:p>
        </p:txBody>
      </p:sp>
      <p:sp>
        <p:nvSpPr>
          <p:cNvPr id="11" name="文本框 10">
            <a:extLst>
              <a:ext uri="{FF2B5EF4-FFF2-40B4-BE49-F238E27FC236}">
                <a16:creationId xmlns:a16="http://schemas.microsoft.com/office/drawing/2014/main" id="{6459B7CA-2376-4A89-9D5A-D020E1E79CC4}"/>
              </a:ext>
            </a:extLst>
          </p:cNvPr>
          <p:cNvSpPr txBox="1"/>
          <p:nvPr/>
        </p:nvSpPr>
        <p:spPr>
          <a:xfrm>
            <a:off x="6463542" y="4122695"/>
            <a:ext cx="2265364" cy="307777"/>
          </a:xfrm>
          <a:prstGeom prst="rect">
            <a:avLst/>
          </a:prstGeom>
          <a:noFill/>
        </p:spPr>
        <p:txBody>
          <a:bodyPr wrap="none" rtlCol="0">
            <a:spAutoFit/>
          </a:bodyPr>
          <a:lstStyle/>
          <a:p>
            <a:r>
              <a:rPr lang="zh-CN" altLang="en-US" sz="1400" i="1" dirty="0">
                <a:latin typeface="微软雅黑" panose="020B0503020204020204" pitchFamily="34" charset="-122"/>
                <a:ea typeface="微软雅黑" panose="020B0503020204020204" pitchFamily="34" charset="-122"/>
              </a:rPr>
              <a:t>每问答一次双方分别加</a:t>
            </a:r>
            <a:r>
              <a:rPr lang="en-US" altLang="zh-CN" sz="1400" i="1" dirty="0">
                <a:latin typeface="微软雅黑" panose="020B0503020204020204" pitchFamily="34" charset="-122"/>
                <a:ea typeface="微软雅黑" panose="020B0503020204020204" pitchFamily="34" charset="-122"/>
              </a:rPr>
              <a:t>1</a:t>
            </a:r>
            <a:r>
              <a:rPr lang="zh-CN" altLang="en-US" sz="1400" i="1" dirty="0">
                <a:latin typeface="微软雅黑" panose="020B0503020204020204" pitchFamily="34" charset="-122"/>
                <a:ea typeface="微软雅黑" panose="020B0503020204020204" pitchFamily="34" charset="-122"/>
              </a:rPr>
              <a:t>分</a:t>
            </a:r>
          </a:p>
        </p:txBody>
      </p:sp>
      <p:sp>
        <p:nvSpPr>
          <p:cNvPr id="12" name="右大括号 11">
            <a:extLst>
              <a:ext uri="{FF2B5EF4-FFF2-40B4-BE49-F238E27FC236}">
                <a16:creationId xmlns:a16="http://schemas.microsoft.com/office/drawing/2014/main" id="{45BB8F67-0B3F-4F7E-BCCB-EEA2E780D1EE}"/>
              </a:ext>
            </a:extLst>
          </p:cNvPr>
          <p:cNvSpPr/>
          <p:nvPr/>
        </p:nvSpPr>
        <p:spPr>
          <a:xfrm>
            <a:off x="6184307" y="4179311"/>
            <a:ext cx="207264" cy="179798"/>
          </a:xfrm>
          <a:prstGeom prst="rightBrace">
            <a:avLst/>
          </a:prstGeom>
          <a:ln w="12700">
            <a:solidFill>
              <a:srgbClr val="00518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82434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2214265"/>
            <a:ext cx="9144000" cy="1388264"/>
            <a:chOff x="-1590" y="2422529"/>
            <a:chExt cx="9145590" cy="1851019"/>
          </a:xfrm>
        </p:grpSpPr>
        <p:sp>
          <p:nvSpPr>
            <p:cNvPr id="24" name="矩形 23"/>
            <p:cNvSpPr/>
            <p:nvPr/>
          </p:nvSpPr>
          <p:spPr>
            <a:xfrm>
              <a:off x="-1590" y="2490260"/>
              <a:ext cx="9145586" cy="1713341"/>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sz="1350" dirty="0">
                <a:solidFill>
                  <a:prstClr val="white"/>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0" y="2422529"/>
              <a:ext cx="9144000" cy="1851019"/>
              <a:chOff x="0" y="2547942"/>
              <a:chExt cx="9144000" cy="1851019"/>
            </a:xfrm>
          </p:grpSpPr>
          <p:sp>
            <p:nvSpPr>
              <p:cNvPr id="5" name="Rectangle 5"/>
              <p:cNvSpPr>
                <a:spLocks noChangeArrowheads="1"/>
              </p:cNvSpPr>
              <p:nvPr/>
            </p:nvSpPr>
            <p:spPr bwMode="auto">
              <a:xfrm>
                <a:off x="0" y="2547942"/>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sp>
            <p:nvSpPr>
              <p:cNvPr id="6" name="Rectangle 5"/>
              <p:cNvSpPr>
                <a:spLocks noChangeArrowheads="1"/>
              </p:cNvSpPr>
              <p:nvPr/>
            </p:nvSpPr>
            <p:spPr bwMode="auto">
              <a:xfrm>
                <a:off x="0" y="4322761"/>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grpSp>
      </p:grpSp>
      <p:pic>
        <p:nvPicPr>
          <p:cNvPr id="3" name="图片 2"/>
          <p:cNvPicPr>
            <a:picLocks noChangeAspect="1"/>
          </p:cNvPicPr>
          <p:nvPr/>
        </p:nvPicPr>
        <p:blipFill>
          <a:blip r:embed="rId3"/>
          <a:stretch>
            <a:fillRect/>
          </a:stretch>
        </p:blipFill>
        <p:spPr>
          <a:xfrm>
            <a:off x="0" y="851743"/>
            <a:ext cx="9144000" cy="754445"/>
          </a:xfrm>
          <a:prstGeom prst="rect">
            <a:avLst/>
          </a:prstGeom>
        </p:spPr>
      </p:pic>
      <p:sp>
        <p:nvSpPr>
          <p:cNvPr id="8" name="文本框 7">
            <a:extLst>
              <a:ext uri="{FF2B5EF4-FFF2-40B4-BE49-F238E27FC236}">
                <a16:creationId xmlns:a16="http://schemas.microsoft.com/office/drawing/2014/main" id="{06E531FC-B52C-4BB5-B379-E8B6FDB5DFA7}"/>
              </a:ext>
            </a:extLst>
          </p:cNvPr>
          <p:cNvSpPr txBox="1"/>
          <p:nvPr/>
        </p:nvSpPr>
        <p:spPr>
          <a:xfrm>
            <a:off x="2222637" y="2545569"/>
            <a:ext cx="4698722" cy="769441"/>
          </a:xfrm>
          <a:prstGeom prst="rect">
            <a:avLst/>
          </a:prstGeom>
          <a:noFill/>
        </p:spPr>
        <p:txBody>
          <a:bodyPr wrap="none"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语言模型发展历程</a:t>
            </a:r>
          </a:p>
        </p:txBody>
      </p:sp>
      <p:pic>
        <p:nvPicPr>
          <p:cNvPr id="9" name="图片 17">
            <a:extLst>
              <a:ext uri="{FF2B5EF4-FFF2-40B4-BE49-F238E27FC236}">
                <a16:creationId xmlns:a16="http://schemas.microsoft.com/office/drawing/2014/main" id="{4D9B7B69-685E-46B0-A2F6-C19CF2A07C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8367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4" name="图片 3">
            <a:extLst>
              <a:ext uri="{FF2B5EF4-FFF2-40B4-BE49-F238E27FC236}">
                <a16:creationId xmlns:a16="http://schemas.microsoft.com/office/drawing/2014/main" id="{3F1F3C35-0BFC-7CF4-B9CD-A61F099CDD34}"/>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620948" y="4066897"/>
            <a:ext cx="7772400" cy="2420547"/>
          </a:xfrm>
          <a:prstGeom prst="rect">
            <a:avLst/>
          </a:prstGeom>
        </p:spPr>
      </p:pic>
      <p:sp>
        <p:nvSpPr>
          <p:cNvPr id="5" name="文本框 4">
            <a:extLst>
              <a:ext uri="{FF2B5EF4-FFF2-40B4-BE49-F238E27FC236}">
                <a16:creationId xmlns:a16="http://schemas.microsoft.com/office/drawing/2014/main" id="{6B2CB204-8E51-C82F-FA3C-ECF613D3D36A}"/>
              </a:ext>
            </a:extLst>
          </p:cNvPr>
          <p:cNvSpPr txBox="1"/>
          <p:nvPr/>
        </p:nvSpPr>
        <p:spPr>
          <a:xfrm>
            <a:off x="220492" y="3571874"/>
            <a:ext cx="2492990"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a:t>
            </a:r>
          </a:p>
        </p:txBody>
      </p:sp>
      <p:sp>
        <p:nvSpPr>
          <p:cNvPr id="9" name="文本框 8">
            <a:extLst>
              <a:ext uri="{FF2B5EF4-FFF2-40B4-BE49-F238E27FC236}">
                <a16:creationId xmlns:a16="http://schemas.microsoft.com/office/drawing/2014/main" id="{A7FB77D7-016D-F1BA-A987-59FE634CAA5C}"/>
              </a:ext>
            </a:extLst>
          </p:cNvPr>
          <p:cNvSpPr txBox="1"/>
          <p:nvPr/>
        </p:nvSpPr>
        <p:spPr>
          <a:xfrm>
            <a:off x="220491" y="1019985"/>
            <a:ext cx="8540887" cy="646331"/>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语言模型的目标：</a:t>
            </a:r>
            <a:r>
              <a:rPr kumimoji="1" lang="zh-CN" altLang="en-US" dirty="0">
                <a:latin typeface="Microsoft YaHei" panose="020B0503020204020204" pitchFamily="34" charset="-122"/>
                <a:ea typeface="Microsoft YaHei" panose="020B0503020204020204" pitchFamily="34" charset="-122"/>
              </a:rPr>
              <a:t>对于人类语言的内在规律进行建模，从而准确预测词序列中未来（或缺失）词或词元（</a:t>
            </a:r>
            <a:r>
              <a:rPr kumimoji="1" lang="en" altLang="zh-CN" dirty="0">
                <a:latin typeface="Microsoft YaHei" panose="020B0503020204020204" pitchFamily="34" charset="-122"/>
                <a:ea typeface="Microsoft YaHei" panose="020B0503020204020204" pitchFamily="34" charset="-122"/>
              </a:rPr>
              <a:t>Token</a:t>
            </a:r>
            <a:r>
              <a:rPr kumimoji="1" lang="zh-CN" altLang="e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的概率。</a:t>
            </a:r>
          </a:p>
        </p:txBody>
      </p:sp>
      <p:pic>
        <p:nvPicPr>
          <p:cNvPr id="19" name="图片 18">
            <a:extLst>
              <a:ext uri="{FF2B5EF4-FFF2-40B4-BE49-F238E27FC236}">
                <a16:creationId xmlns:a16="http://schemas.microsoft.com/office/drawing/2014/main" id="{9F76DD3D-F2D8-9486-9D8B-7085CADC2F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0757" y="1682252"/>
            <a:ext cx="5119316" cy="1873685"/>
          </a:xfrm>
          <a:prstGeom prst="rect">
            <a:avLst/>
          </a:prstGeom>
        </p:spPr>
      </p:pic>
      <p:sp>
        <p:nvSpPr>
          <p:cNvPr id="20" name="文本框 19">
            <a:extLst>
              <a:ext uri="{FF2B5EF4-FFF2-40B4-BE49-F238E27FC236}">
                <a16:creationId xmlns:a16="http://schemas.microsoft.com/office/drawing/2014/main" id="{18E9FD2B-A057-9F07-A475-66214A05A4D7}"/>
              </a:ext>
            </a:extLst>
          </p:cNvPr>
          <p:cNvSpPr txBox="1"/>
          <p:nvPr/>
        </p:nvSpPr>
        <p:spPr>
          <a:xfrm>
            <a:off x="6528048" y="1869499"/>
            <a:ext cx="543739" cy="307777"/>
          </a:xfrm>
          <a:prstGeom prst="rect">
            <a:avLst/>
          </a:prstGeom>
          <a:noFill/>
        </p:spPr>
        <p:txBody>
          <a:bodyPr wrap="none" rtlCol="0">
            <a:spAutoFit/>
          </a:bodyPr>
          <a:lstStyle/>
          <a:p>
            <a:r>
              <a:rPr kumimoji="1" lang="zh-CN" altLang="en-US" sz="1400" dirty="0">
                <a:latin typeface="Microsoft YaHei" panose="020B0503020204020204" pitchFamily="34" charset="-122"/>
                <a:ea typeface="Microsoft YaHei" panose="020B0503020204020204" pitchFamily="34" charset="-122"/>
              </a:rPr>
              <a:t>翻译</a:t>
            </a:r>
          </a:p>
        </p:txBody>
      </p:sp>
      <p:sp>
        <p:nvSpPr>
          <p:cNvPr id="21" name="文本框 20">
            <a:extLst>
              <a:ext uri="{FF2B5EF4-FFF2-40B4-BE49-F238E27FC236}">
                <a16:creationId xmlns:a16="http://schemas.microsoft.com/office/drawing/2014/main" id="{6F530046-668B-BB5D-6D60-12116F6061AF}"/>
              </a:ext>
            </a:extLst>
          </p:cNvPr>
          <p:cNvSpPr txBox="1"/>
          <p:nvPr/>
        </p:nvSpPr>
        <p:spPr>
          <a:xfrm>
            <a:off x="6696620" y="2264672"/>
            <a:ext cx="612668"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rPr>
              <a:t>Q&amp;A</a:t>
            </a:r>
            <a:endParaRPr kumimoji="1" lang="zh-CN" altLang="en-US" sz="1400" dirty="0">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6672C6EC-80DF-BDEA-3D28-186EC86AB276}"/>
              </a:ext>
            </a:extLst>
          </p:cNvPr>
          <p:cNvSpPr txBox="1"/>
          <p:nvPr/>
        </p:nvSpPr>
        <p:spPr>
          <a:xfrm>
            <a:off x="6921629" y="2712718"/>
            <a:ext cx="543739" cy="307777"/>
          </a:xfrm>
          <a:prstGeom prst="rect">
            <a:avLst/>
          </a:prstGeom>
          <a:noFill/>
        </p:spPr>
        <p:txBody>
          <a:bodyPr wrap="none" rtlCol="0">
            <a:spAutoFit/>
          </a:bodyPr>
          <a:lstStyle/>
          <a:p>
            <a:r>
              <a:rPr kumimoji="1" lang="zh-CN" altLang="en-US" sz="1400" dirty="0">
                <a:latin typeface="Microsoft YaHei" panose="020B0503020204020204" pitchFamily="34" charset="-122"/>
                <a:ea typeface="Microsoft YaHei" panose="020B0503020204020204" pitchFamily="34" charset="-122"/>
              </a:rPr>
              <a:t>摘要</a:t>
            </a:r>
          </a:p>
        </p:txBody>
      </p:sp>
      <p:sp>
        <p:nvSpPr>
          <p:cNvPr id="23" name="文本框 22">
            <a:extLst>
              <a:ext uri="{FF2B5EF4-FFF2-40B4-BE49-F238E27FC236}">
                <a16:creationId xmlns:a16="http://schemas.microsoft.com/office/drawing/2014/main" id="{3D3D40EB-2890-D1BB-96A4-D474D9F5E02B}"/>
              </a:ext>
            </a:extLst>
          </p:cNvPr>
          <p:cNvSpPr txBox="1"/>
          <p:nvPr/>
        </p:nvSpPr>
        <p:spPr>
          <a:xfrm>
            <a:off x="6377890" y="2561210"/>
            <a:ext cx="476412"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rPr>
              <a:t>……</a:t>
            </a:r>
            <a:endParaRPr kumimoji="1" lang="zh-CN" altLang="en-US" sz="1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10809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 name="文本框 8">
            <a:extLst>
              <a:ext uri="{FF2B5EF4-FFF2-40B4-BE49-F238E27FC236}">
                <a16:creationId xmlns:a16="http://schemas.microsoft.com/office/drawing/2014/main" id="{A7FB77D7-016D-F1BA-A987-59FE634CAA5C}"/>
              </a:ext>
            </a:extLst>
          </p:cNvPr>
          <p:cNvSpPr txBox="1"/>
          <p:nvPr/>
        </p:nvSpPr>
        <p:spPr>
          <a:xfrm>
            <a:off x="0" y="799201"/>
            <a:ext cx="8852170" cy="87440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语言模型的目标：</a:t>
            </a:r>
            <a:r>
              <a:rPr kumimoji="1" lang="zh-CN" altLang="en-US" dirty="0">
                <a:latin typeface="Microsoft YaHei" panose="020B0503020204020204" pitchFamily="34" charset="-122"/>
                <a:ea typeface="Microsoft YaHei" panose="020B0503020204020204" pitchFamily="34" charset="-122"/>
              </a:rPr>
              <a:t>对于人类语言的内在规律进行建模，从而准确预测词序列中未来（或缺失）词或词元（</a:t>
            </a:r>
            <a:r>
              <a:rPr kumimoji="1" lang="en" altLang="zh-CN" dirty="0">
                <a:latin typeface="Microsoft YaHei" panose="020B0503020204020204" pitchFamily="34" charset="-122"/>
                <a:ea typeface="Microsoft YaHei" panose="020B0503020204020204" pitchFamily="34" charset="-122"/>
              </a:rPr>
              <a:t>Token</a:t>
            </a:r>
            <a:r>
              <a:rPr kumimoji="1" lang="zh-CN" altLang="e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的概率。</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3DDA4DF-F2E4-4486-BAD9-414B9CC9ED80}"/>
                  </a:ext>
                </a:extLst>
              </p:cNvPr>
              <p:cNvSpPr txBox="1"/>
              <p:nvPr/>
            </p:nvSpPr>
            <p:spPr>
              <a:xfrm>
                <a:off x="752273" y="2084311"/>
                <a:ext cx="23695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oMath>
                  </m:oMathPara>
                </a14:m>
                <a:endParaRPr lang="zh-CN" altLang="en-US" dirty="0"/>
              </a:p>
            </p:txBody>
          </p:sp>
        </mc:Choice>
        <mc:Fallback xmlns="">
          <p:sp>
            <p:nvSpPr>
              <p:cNvPr id="2" name="文本框 1">
                <a:extLst>
                  <a:ext uri="{FF2B5EF4-FFF2-40B4-BE49-F238E27FC236}">
                    <a16:creationId xmlns:a16="http://schemas.microsoft.com/office/drawing/2014/main" id="{F3DDA4DF-F2E4-4486-BAD9-414B9CC9ED80}"/>
                  </a:ext>
                </a:extLst>
              </p:cNvPr>
              <p:cNvSpPr txBox="1">
                <a:spLocks noRot="1" noChangeAspect="1" noMove="1" noResize="1" noEditPoints="1" noAdjustHandles="1" noChangeArrowheads="1" noChangeShapeType="1" noTextEdit="1"/>
              </p:cNvSpPr>
              <p:nvPr/>
            </p:nvSpPr>
            <p:spPr>
              <a:xfrm>
                <a:off x="752273" y="2084311"/>
                <a:ext cx="2369558" cy="369332"/>
              </a:xfrm>
              <a:prstGeom prst="rect">
                <a:avLst/>
              </a:prstGeom>
              <a:blipFill>
                <a:blip r:embed="rId3"/>
                <a:stretch>
                  <a:fillRect b="-11475"/>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26E4F5C3-47FC-4221-95C7-956E220865CC}"/>
              </a:ext>
            </a:extLst>
          </p:cNvPr>
          <p:cNvSpPr txBox="1"/>
          <p:nvPr/>
        </p:nvSpPr>
        <p:spPr>
          <a:xfrm>
            <a:off x="1302188" y="2506460"/>
            <a:ext cx="1697901"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我  来  自  中  国</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A3D8534-D975-4EE0-97E2-FFE57926F451}"/>
                  </a:ext>
                </a:extLst>
              </p:cNvPr>
              <p:cNvSpPr txBox="1"/>
              <p:nvPr/>
            </p:nvSpPr>
            <p:spPr>
              <a:xfrm>
                <a:off x="752273" y="2887302"/>
                <a:ext cx="205447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oMath>
                  </m:oMathPara>
                </a14:m>
                <a:endParaRPr lang="zh-CN" altLang="en-US" dirty="0"/>
              </a:p>
            </p:txBody>
          </p:sp>
        </mc:Choice>
        <mc:Fallback xmlns="">
          <p:sp>
            <p:nvSpPr>
              <p:cNvPr id="15" name="文本框 14">
                <a:extLst>
                  <a:ext uri="{FF2B5EF4-FFF2-40B4-BE49-F238E27FC236}">
                    <a16:creationId xmlns:a16="http://schemas.microsoft.com/office/drawing/2014/main" id="{FA3D8534-D975-4EE0-97E2-FFE57926F451}"/>
                  </a:ext>
                </a:extLst>
              </p:cNvPr>
              <p:cNvSpPr txBox="1">
                <a:spLocks noRot="1" noChangeAspect="1" noMove="1" noResize="1" noEditPoints="1" noAdjustHandles="1" noChangeArrowheads="1" noChangeShapeType="1" noTextEdit="1"/>
              </p:cNvSpPr>
              <p:nvPr/>
            </p:nvSpPr>
            <p:spPr>
              <a:xfrm>
                <a:off x="752273" y="2887302"/>
                <a:ext cx="2054473" cy="369332"/>
              </a:xfrm>
              <a:prstGeom prst="rect">
                <a:avLst/>
              </a:prstGeom>
              <a:blipFill>
                <a:blip r:embed="rId4"/>
                <a:stretch>
                  <a:fillRect b="-13333"/>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9809B27D-B403-43FA-A5E3-CA683B6413C8}"/>
              </a:ext>
            </a:extLst>
          </p:cNvPr>
          <p:cNvSpPr txBox="1"/>
          <p:nvPr/>
        </p:nvSpPr>
        <p:spPr>
          <a:xfrm>
            <a:off x="1266516" y="3327117"/>
            <a:ext cx="1540230"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I come from China</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AA044D7-4749-4879-AA37-92F37312B356}"/>
                  </a:ext>
                </a:extLst>
              </p:cNvPr>
              <p:cNvSpPr txBox="1"/>
              <p:nvPr/>
            </p:nvSpPr>
            <p:spPr>
              <a:xfrm>
                <a:off x="5629670" y="2084311"/>
                <a:ext cx="23695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oMath>
                  </m:oMathPara>
                </a14:m>
                <a:endParaRPr lang="zh-CN" altLang="en-US" dirty="0"/>
              </a:p>
            </p:txBody>
          </p:sp>
        </mc:Choice>
        <mc:Fallback xmlns="">
          <p:sp>
            <p:nvSpPr>
              <p:cNvPr id="17" name="文本框 16">
                <a:extLst>
                  <a:ext uri="{FF2B5EF4-FFF2-40B4-BE49-F238E27FC236}">
                    <a16:creationId xmlns:a16="http://schemas.microsoft.com/office/drawing/2014/main" id="{FAA044D7-4749-4879-AA37-92F37312B356}"/>
                  </a:ext>
                </a:extLst>
              </p:cNvPr>
              <p:cNvSpPr txBox="1">
                <a:spLocks noRot="1" noChangeAspect="1" noMove="1" noResize="1" noEditPoints="1" noAdjustHandles="1" noChangeArrowheads="1" noChangeShapeType="1" noTextEdit="1"/>
              </p:cNvSpPr>
              <p:nvPr/>
            </p:nvSpPr>
            <p:spPr>
              <a:xfrm>
                <a:off x="5629670" y="2084311"/>
                <a:ext cx="2369558" cy="369332"/>
              </a:xfrm>
              <a:prstGeom prst="rect">
                <a:avLst/>
              </a:prstGeom>
              <a:blipFill>
                <a:blip r:embed="rId5"/>
                <a:stretch>
                  <a:fillRect b="-11475"/>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42631452-8D19-40BA-B97B-C6714BA1207D}"/>
              </a:ext>
            </a:extLst>
          </p:cNvPr>
          <p:cNvSpPr txBox="1"/>
          <p:nvPr/>
        </p:nvSpPr>
        <p:spPr>
          <a:xfrm>
            <a:off x="6179585" y="2506460"/>
            <a:ext cx="1697901"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我  来  自  中  国</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6ED48FF3-0D64-417B-9F7D-87B583C2EFA8}"/>
                  </a:ext>
                </a:extLst>
              </p:cNvPr>
              <p:cNvSpPr txBox="1"/>
              <p:nvPr/>
            </p:nvSpPr>
            <p:spPr>
              <a:xfrm>
                <a:off x="5629670" y="2887302"/>
                <a:ext cx="20416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𝑌</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oMath>
                  </m:oMathPara>
                </a14:m>
                <a:endParaRPr lang="zh-CN" altLang="en-US" dirty="0"/>
              </a:p>
            </p:txBody>
          </p:sp>
        </mc:Choice>
        <mc:Fallback xmlns="">
          <p:sp>
            <p:nvSpPr>
              <p:cNvPr id="24" name="文本框 23">
                <a:extLst>
                  <a:ext uri="{FF2B5EF4-FFF2-40B4-BE49-F238E27FC236}">
                    <a16:creationId xmlns:a16="http://schemas.microsoft.com/office/drawing/2014/main" id="{6ED48FF3-0D64-417B-9F7D-87B583C2EFA8}"/>
                  </a:ext>
                </a:extLst>
              </p:cNvPr>
              <p:cNvSpPr txBox="1">
                <a:spLocks noRot="1" noChangeAspect="1" noMove="1" noResize="1" noEditPoints="1" noAdjustHandles="1" noChangeArrowheads="1" noChangeShapeType="1" noTextEdit="1"/>
              </p:cNvSpPr>
              <p:nvPr/>
            </p:nvSpPr>
            <p:spPr>
              <a:xfrm>
                <a:off x="5629670" y="2887302"/>
                <a:ext cx="2041649" cy="369332"/>
              </a:xfrm>
              <a:prstGeom prst="rect">
                <a:avLst/>
              </a:prstGeom>
              <a:blipFill>
                <a:blip r:embed="rId6"/>
                <a:stretch>
                  <a:fillRect b="-13333"/>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8629738E-F0A4-4EA2-9911-DD55B889BDD5}"/>
              </a:ext>
            </a:extLst>
          </p:cNvPr>
          <p:cNvSpPr txBox="1"/>
          <p:nvPr/>
        </p:nvSpPr>
        <p:spPr>
          <a:xfrm>
            <a:off x="6143913" y="3327117"/>
            <a:ext cx="1540230"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I come from China</a:t>
            </a:r>
            <a:endParaRPr lang="zh-CN" altLang="en-US" sz="1200" dirty="0">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D9682EFB-9E7C-4524-ADA0-052C800E5309}"/>
              </a:ext>
            </a:extLst>
          </p:cNvPr>
          <p:cNvCxnSpPr>
            <a:cxnSpLocks/>
          </p:cNvCxnSpPr>
          <p:nvPr/>
        </p:nvCxnSpPr>
        <p:spPr>
          <a:xfrm>
            <a:off x="4150468" y="1863207"/>
            <a:ext cx="0" cy="372047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DFB1E88-58D9-4D48-A85F-29C5E2FC93CA}"/>
                  </a:ext>
                </a:extLst>
              </p:cNvPr>
              <p:cNvSpPr txBox="1"/>
              <p:nvPr/>
            </p:nvSpPr>
            <p:spPr>
              <a:xfrm>
                <a:off x="324225" y="3900765"/>
                <a:ext cx="3594254" cy="1907958"/>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语言建模（</a:t>
                </a:r>
                <a:r>
                  <a:rPr lang="en-US" altLang="zh-CN" sz="1600" dirty="0">
                    <a:latin typeface="微软雅黑" panose="020B0503020204020204" pitchFamily="34" charset="-122"/>
                    <a:ea typeface="微软雅黑" panose="020B0503020204020204" pitchFamily="34" charset="-122"/>
                  </a:rPr>
                  <a:t>Language Modeling</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ea typeface="微软雅黑" panose="020B0503020204020204" pitchFamily="34" charset="-122"/>
                        </a:rPr>
                        <m:t>𝑃</m:t>
                      </m:r>
                      <m:d>
                        <m:dPr>
                          <m:ctrlPr>
                            <a:rPr lang="en-US" altLang="zh-CN" sz="1600" b="0" i="1" smtClean="0">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𝑋</m:t>
                          </m:r>
                        </m:e>
                      </m:d>
                      <m:r>
                        <a:rPr lang="en-US" altLang="zh-CN" sz="1600" b="0" i="1" smtClean="0">
                          <a:latin typeface="Cambria Math" panose="02040503050406030204" pitchFamily="18" charset="0"/>
                          <a:ea typeface="微软雅黑" panose="020B0503020204020204" pitchFamily="34" charset="-122"/>
                        </a:rPr>
                        <m:t>=</m:t>
                      </m:r>
                      <m:nary>
                        <m:naryPr>
                          <m:chr m:val="∏"/>
                          <m:ctrlPr>
                            <a:rPr lang="en-US" altLang="zh-CN" sz="1600" b="0" i="1" smtClean="0">
                              <a:latin typeface="Cambria Math" panose="02040503050406030204" pitchFamily="18" charset="0"/>
                              <a:ea typeface="微软雅黑" panose="020B0503020204020204" pitchFamily="34" charset="-122"/>
                            </a:rPr>
                          </m:ctrlPr>
                        </m:naryPr>
                        <m:sub>
                          <m:r>
                            <m:rPr>
                              <m:brk m:alnAt="23"/>
                            </m:rPr>
                            <a:rPr lang="en-US" altLang="zh-CN" sz="1600" b="0" i="1" smtClean="0">
                              <a:latin typeface="Cambria Math" panose="02040503050406030204" pitchFamily="18" charset="0"/>
                              <a:ea typeface="微软雅黑" panose="020B0503020204020204" pitchFamily="34" charset="-122"/>
                            </a:rPr>
                            <m:t>𝑡</m:t>
                          </m:r>
                          <m:r>
                            <a:rPr lang="en-US" altLang="zh-CN" sz="1600" b="0" i="1" smtClean="0">
                              <a:latin typeface="Cambria Math" panose="02040503050406030204" pitchFamily="18" charset="0"/>
                              <a:ea typeface="微软雅黑" panose="020B0503020204020204" pitchFamily="34" charset="-122"/>
                            </a:rPr>
                            <m:t>=1</m:t>
                          </m:r>
                        </m:sub>
                        <m:sup>
                          <m:r>
                            <a:rPr lang="en-US" altLang="zh-CN" sz="1600" b="0" i="1" smtClean="0">
                              <a:latin typeface="Cambria Math" panose="02040503050406030204" pitchFamily="18" charset="0"/>
                              <a:ea typeface="微软雅黑" panose="020B0503020204020204" pitchFamily="34" charset="-122"/>
                            </a:rPr>
                            <m:t>𝑇</m:t>
                          </m:r>
                        </m:sup>
                        <m:e>
                          <m:r>
                            <a:rPr lang="en-US" altLang="zh-CN" sz="1600" b="0" i="1" smtClean="0">
                              <a:latin typeface="Cambria Math" panose="02040503050406030204" pitchFamily="18" charset="0"/>
                              <a:ea typeface="微软雅黑" panose="020B0503020204020204" pitchFamily="34" charset="-122"/>
                            </a:rPr>
                            <m:t>𝑝</m:t>
                          </m:r>
                          <m:d>
                            <m:dPr>
                              <m:sepChr m:val="∣"/>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𝑡</m:t>
                                  </m:r>
                                </m:sub>
                              </m:sSub>
                            </m:e>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&lt;</m:t>
                                  </m:r>
                                  <m:r>
                                    <a:rPr lang="en-US" altLang="zh-CN" sz="1600" b="0" i="1" smtClean="0">
                                      <a:latin typeface="Cambria Math" panose="02040503050406030204" pitchFamily="18" charset="0"/>
                                      <a:ea typeface="微软雅黑" panose="020B0503020204020204" pitchFamily="34" charset="-122"/>
                                    </a:rPr>
                                    <m:t>𝑡</m:t>
                                  </m:r>
                                </m:sub>
                              </m:sSub>
                            </m:e>
                          </m:d>
                          <m:r>
                            <a:rPr lang="en-US" altLang="zh-CN" sz="1600" b="0" i="1" smtClean="0">
                              <a:latin typeface="Cambria Math" panose="02040503050406030204" pitchFamily="18" charset="0"/>
                              <a:ea typeface="微软雅黑" panose="020B0503020204020204" pitchFamily="34" charset="-122"/>
                            </a:rPr>
                            <m:t>,</m:t>
                          </m:r>
                        </m:e>
                      </m:nary>
                    </m:oMath>
                  </m:oMathPara>
                </a14:m>
                <a:endParaRPr lang="en-US" altLang="zh-CN" sz="16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ea typeface="微软雅黑" panose="020B0503020204020204" pitchFamily="34" charset="-122"/>
                        </a:rPr>
                        <m:t>𝑃</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𝑋</m:t>
                          </m:r>
                        </m:e>
                      </m:d>
                      <m:r>
                        <a:rPr lang="en-US" altLang="zh-CN" sz="1600" i="1">
                          <a:latin typeface="Cambria Math" panose="02040503050406030204" pitchFamily="18" charset="0"/>
                          <a:ea typeface="微软雅黑" panose="020B0503020204020204" pitchFamily="34" charset="-122"/>
                        </a:rPr>
                        <m:t>=</m:t>
                      </m:r>
                      <m:nary>
                        <m:naryPr>
                          <m:chr m:val="∑"/>
                          <m:ctrlPr>
                            <a:rPr lang="en-US" altLang="zh-CN" sz="1600" i="1" smtClean="0">
                              <a:latin typeface="Cambria Math" panose="02040503050406030204" pitchFamily="18" charset="0"/>
                              <a:ea typeface="微软雅黑" panose="020B0503020204020204" pitchFamily="34" charset="-122"/>
                            </a:rPr>
                          </m:ctrlPr>
                        </m:naryPr>
                        <m:sub>
                          <m:r>
                            <m:rPr>
                              <m:brk m:alnAt="23"/>
                            </m:rPr>
                            <a:rPr lang="en-US" altLang="zh-CN" sz="1600" b="0" i="1" smtClean="0">
                              <a:latin typeface="Cambria Math" panose="02040503050406030204" pitchFamily="18" charset="0"/>
                              <a:ea typeface="微软雅黑" panose="020B0503020204020204" pitchFamily="34" charset="-122"/>
                            </a:rPr>
                            <m:t>𝑡</m:t>
                          </m:r>
                          <m:r>
                            <a:rPr lang="en-US" altLang="zh-CN" sz="1600" b="0" i="1" smtClean="0">
                              <a:latin typeface="Cambria Math" panose="02040503050406030204" pitchFamily="18" charset="0"/>
                              <a:ea typeface="微软雅黑" panose="020B0503020204020204" pitchFamily="34" charset="-122"/>
                            </a:rPr>
                            <m:t>=1</m:t>
                          </m:r>
                        </m:sub>
                        <m:sup>
                          <m:r>
                            <a:rPr lang="en-US" altLang="zh-CN" sz="1600" b="0" i="1" smtClean="0">
                              <a:latin typeface="Cambria Math" panose="02040503050406030204" pitchFamily="18" charset="0"/>
                              <a:ea typeface="微软雅黑" panose="020B0503020204020204" pitchFamily="34" charset="-122"/>
                            </a:rPr>
                            <m:t>𝑇</m:t>
                          </m:r>
                        </m:sup>
                        <m:e>
                          <m:func>
                            <m:funcPr>
                              <m:ctrlPr>
                                <a:rPr lang="en-US" altLang="zh-CN" sz="1600" b="0" i="1" smtClean="0">
                                  <a:latin typeface="Cambria Math" panose="02040503050406030204" pitchFamily="18" charset="0"/>
                                  <a:ea typeface="微软雅黑" panose="020B0503020204020204" pitchFamily="34" charset="-122"/>
                                </a:rPr>
                              </m:ctrlPr>
                            </m:funcPr>
                            <m:fName>
                              <m:r>
                                <m:rPr>
                                  <m:sty m:val="p"/>
                                </m:rPr>
                                <a:rPr lang="en-US" altLang="zh-CN" sz="1600" b="0" i="0" smtClean="0">
                                  <a:latin typeface="Cambria Math" panose="02040503050406030204" pitchFamily="18" charset="0"/>
                                  <a:ea typeface="微软雅黑" panose="020B0503020204020204" pitchFamily="34" charset="-122"/>
                                </a:rPr>
                                <m:t>log</m:t>
                              </m:r>
                            </m:fName>
                            <m:e>
                              <m:r>
                                <a:rPr lang="en-US" altLang="zh-CN" sz="1600" i="1">
                                  <a:latin typeface="Cambria Math" panose="02040503050406030204" pitchFamily="18" charset="0"/>
                                  <a:ea typeface="微软雅黑" panose="020B0503020204020204" pitchFamily="34" charset="-122"/>
                                </a:rPr>
                                <m:t>𝑝</m:t>
                              </m:r>
                              <m:d>
                                <m:dPr>
                                  <m:sepChr m:val="∣"/>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𝑡</m:t>
                                      </m:r>
                                    </m:sub>
                                  </m:sSub>
                                </m:e>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&lt;</m:t>
                                      </m:r>
                                      <m:r>
                                        <a:rPr lang="en-US" altLang="zh-CN" sz="1600" i="1">
                                          <a:latin typeface="Cambria Math" panose="02040503050406030204" pitchFamily="18" charset="0"/>
                                          <a:ea typeface="微软雅黑" panose="020B0503020204020204" pitchFamily="34" charset="-122"/>
                                        </a:rPr>
                                        <m:t>𝑡</m:t>
                                      </m:r>
                                    </m:sub>
                                  </m:sSub>
                                </m:e>
                              </m:d>
                              <m:r>
                                <a:rPr lang="en-US" altLang="zh-CN" sz="1600" b="0" i="1" smtClean="0">
                                  <a:latin typeface="Cambria Math" panose="02040503050406030204" pitchFamily="18" charset="0"/>
                                  <a:ea typeface="微软雅黑" panose="020B0503020204020204" pitchFamily="34" charset="-122"/>
                                </a:rPr>
                                <m:t>.</m:t>
                              </m:r>
                            </m:e>
                          </m:func>
                        </m:e>
                      </m:nary>
                    </m:oMath>
                  </m:oMathPara>
                </a14:m>
                <a:endParaRPr lang="zh-CN" altLang="en-US"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0DFB1E88-58D9-4D48-A85F-29C5E2FC93CA}"/>
                  </a:ext>
                </a:extLst>
              </p:cNvPr>
              <p:cNvSpPr txBox="1">
                <a:spLocks noRot="1" noChangeAspect="1" noMove="1" noResize="1" noEditPoints="1" noAdjustHandles="1" noChangeArrowheads="1" noChangeShapeType="1" noTextEdit="1"/>
              </p:cNvSpPr>
              <p:nvPr/>
            </p:nvSpPr>
            <p:spPr>
              <a:xfrm>
                <a:off x="324225" y="3900765"/>
                <a:ext cx="3594254" cy="1907958"/>
              </a:xfrm>
              <a:prstGeom prst="rect">
                <a:avLst/>
              </a:prstGeom>
              <a:blipFill>
                <a:blip r:embed="rId7"/>
                <a:stretch>
                  <a:fillRect l="-847" t="-9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CEB9C87-3B0E-4394-AD6F-F70ED71427BB}"/>
                  </a:ext>
                </a:extLst>
              </p:cNvPr>
              <p:cNvSpPr txBox="1"/>
              <p:nvPr/>
            </p:nvSpPr>
            <p:spPr>
              <a:xfrm>
                <a:off x="4859779" y="3900765"/>
                <a:ext cx="3655168" cy="1907958"/>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翻译任务（</a:t>
                </a:r>
                <a:r>
                  <a:rPr lang="en-US" altLang="zh-CN" sz="1600" dirty="0">
                    <a:latin typeface="微软雅黑" panose="020B0503020204020204" pitchFamily="34" charset="-122"/>
                    <a:ea typeface="微软雅黑" panose="020B0503020204020204" pitchFamily="34" charset="-122"/>
                  </a:rPr>
                  <a:t>Sequence2Sequence</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ea typeface="微软雅黑" panose="020B0503020204020204" pitchFamily="34" charset="-122"/>
                        </a:rPr>
                        <m:t>𝑃</m:t>
                      </m:r>
                      <m:d>
                        <m:dPr>
                          <m:ctrlPr>
                            <a:rPr lang="en-US" altLang="zh-CN" sz="1600" b="0" i="1" smtClean="0">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𝑋</m:t>
                          </m:r>
                        </m:e>
                      </m:d>
                      <m:r>
                        <a:rPr lang="en-US" altLang="zh-CN" sz="1600" b="0" i="1" smtClean="0">
                          <a:latin typeface="Cambria Math" panose="02040503050406030204" pitchFamily="18" charset="0"/>
                          <a:ea typeface="微软雅黑" panose="020B0503020204020204" pitchFamily="34" charset="-122"/>
                        </a:rPr>
                        <m:t>=</m:t>
                      </m:r>
                      <m:nary>
                        <m:naryPr>
                          <m:chr m:val="∏"/>
                          <m:ctrlPr>
                            <a:rPr lang="en-US" altLang="zh-CN" sz="1600" b="0" i="1" smtClean="0">
                              <a:latin typeface="Cambria Math" panose="02040503050406030204" pitchFamily="18" charset="0"/>
                              <a:ea typeface="微软雅黑" panose="020B0503020204020204" pitchFamily="34" charset="-122"/>
                            </a:rPr>
                          </m:ctrlPr>
                        </m:naryPr>
                        <m:sub>
                          <m:r>
                            <m:rPr>
                              <m:brk m:alnAt="23"/>
                            </m:rPr>
                            <a:rPr lang="en-US" altLang="zh-CN" sz="1600" b="0" i="1" smtClean="0">
                              <a:latin typeface="Cambria Math" panose="02040503050406030204" pitchFamily="18" charset="0"/>
                              <a:ea typeface="微软雅黑" panose="020B0503020204020204" pitchFamily="34" charset="-122"/>
                            </a:rPr>
                            <m:t>𝑡</m:t>
                          </m:r>
                          <m:r>
                            <a:rPr lang="en-US" altLang="zh-CN" sz="1600" b="0" i="1" smtClean="0">
                              <a:latin typeface="Cambria Math" panose="02040503050406030204" pitchFamily="18" charset="0"/>
                              <a:ea typeface="微软雅黑" panose="020B0503020204020204" pitchFamily="34" charset="-122"/>
                            </a:rPr>
                            <m:t>=1</m:t>
                          </m:r>
                        </m:sub>
                        <m:sup>
                          <m:r>
                            <a:rPr lang="en-US" altLang="zh-CN" sz="1600" b="0" i="1" smtClean="0">
                              <a:latin typeface="Cambria Math" panose="02040503050406030204" pitchFamily="18" charset="0"/>
                              <a:ea typeface="微软雅黑" panose="020B0503020204020204" pitchFamily="34" charset="-122"/>
                            </a:rPr>
                            <m:t>𝑚</m:t>
                          </m:r>
                        </m:sup>
                        <m:e>
                          <m:r>
                            <a:rPr lang="en-US" altLang="zh-CN" sz="1600" b="0" i="1" smtClean="0">
                              <a:latin typeface="Cambria Math" panose="02040503050406030204" pitchFamily="18" charset="0"/>
                              <a:ea typeface="微软雅黑" panose="020B0503020204020204" pitchFamily="34" charset="-122"/>
                            </a:rPr>
                            <m:t>𝑝</m:t>
                          </m:r>
                          <m:d>
                            <m:dPr>
                              <m:sepChr m:val="∣"/>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𝑦</m:t>
                                  </m:r>
                                </m:e>
                                <m:sub>
                                  <m:r>
                                    <a:rPr lang="en-US" altLang="zh-CN" sz="1600" b="0" i="1" smtClean="0">
                                      <a:latin typeface="Cambria Math" panose="02040503050406030204" pitchFamily="18" charset="0"/>
                                      <a:ea typeface="微软雅黑" panose="020B0503020204020204" pitchFamily="34" charset="-122"/>
                                    </a:rPr>
                                    <m:t>𝑡</m:t>
                                  </m:r>
                                </m:sub>
                              </m:sSub>
                            </m:e>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𝑦</m:t>
                                  </m:r>
                                </m:e>
                                <m:sub>
                                  <m:r>
                                    <a:rPr lang="en-US" altLang="zh-CN" sz="1600" b="0" i="1" smtClean="0">
                                      <a:latin typeface="Cambria Math" panose="02040503050406030204" pitchFamily="18" charset="0"/>
                                      <a:ea typeface="微软雅黑" panose="020B0503020204020204" pitchFamily="34" charset="-122"/>
                                    </a:rPr>
                                    <m:t>&lt;</m:t>
                                  </m:r>
                                  <m:r>
                                    <a:rPr lang="en-US" altLang="zh-CN" sz="1600" b="0" i="1" smtClean="0">
                                      <a:latin typeface="Cambria Math" panose="02040503050406030204" pitchFamily="18" charset="0"/>
                                      <a:ea typeface="微软雅黑" panose="020B0503020204020204" pitchFamily="34" charset="-122"/>
                                    </a:rPr>
                                    <m:t>𝑡</m:t>
                                  </m:r>
                                </m:sub>
                              </m:sSub>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𝑥</m:t>
                              </m:r>
                            </m:e>
                          </m:d>
                          <m:r>
                            <a:rPr lang="en-US" altLang="zh-CN" sz="1600" b="0" i="1" smtClean="0">
                              <a:latin typeface="Cambria Math" panose="02040503050406030204" pitchFamily="18" charset="0"/>
                              <a:ea typeface="微软雅黑" panose="020B0503020204020204" pitchFamily="34" charset="-122"/>
                            </a:rPr>
                            <m:t>,</m:t>
                          </m:r>
                        </m:e>
                      </m:nary>
                    </m:oMath>
                  </m:oMathPara>
                </a14:m>
                <a:endParaRPr lang="en-US" altLang="zh-CN" sz="16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ea typeface="微软雅黑" panose="020B0503020204020204" pitchFamily="34" charset="-122"/>
                        </a:rPr>
                        <m:t>𝑃</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𝑋</m:t>
                          </m:r>
                        </m:e>
                      </m:d>
                      <m:r>
                        <a:rPr lang="en-US" altLang="zh-CN" sz="1600" i="1">
                          <a:latin typeface="Cambria Math" panose="02040503050406030204" pitchFamily="18" charset="0"/>
                          <a:ea typeface="微软雅黑" panose="020B0503020204020204" pitchFamily="34" charset="-122"/>
                        </a:rPr>
                        <m:t>=</m:t>
                      </m:r>
                      <m:nary>
                        <m:naryPr>
                          <m:chr m:val="∑"/>
                          <m:ctrlPr>
                            <a:rPr lang="en-US" altLang="zh-CN" sz="1600" i="1" smtClean="0">
                              <a:latin typeface="Cambria Math" panose="02040503050406030204" pitchFamily="18" charset="0"/>
                              <a:ea typeface="微软雅黑" panose="020B0503020204020204" pitchFamily="34" charset="-122"/>
                            </a:rPr>
                          </m:ctrlPr>
                        </m:naryPr>
                        <m:sub>
                          <m:r>
                            <m:rPr>
                              <m:brk m:alnAt="23"/>
                            </m:rPr>
                            <a:rPr lang="en-US" altLang="zh-CN" sz="1600" b="0" i="1" smtClean="0">
                              <a:latin typeface="Cambria Math" panose="02040503050406030204" pitchFamily="18" charset="0"/>
                              <a:ea typeface="微软雅黑" panose="020B0503020204020204" pitchFamily="34" charset="-122"/>
                            </a:rPr>
                            <m:t>𝑡</m:t>
                          </m:r>
                          <m:r>
                            <a:rPr lang="en-US" altLang="zh-CN" sz="1600" b="0" i="1" smtClean="0">
                              <a:latin typeface="Cambria Math" panose="02040503050406030204" pitchFamily="18" charset="0"/>
                              <a:ea typeface="微软雅黑" panose="020B0503020204020204" pitchFamily="34" charset="-122"/>
                            </a:rPr>
                            <m:t>=1</m:t>
                          </m:r>
                        </m:sub>
                        <m:sup>
                          <m:r>
                            <a:rPr lang="en-US" altLang="zh-CN" sz="1600" b="0" i="1" smtClean="0">
                              <a:latin typeface="Cambria Math" panose="02040503050406030204" pitchFamily="18" charset="0"/>
                              <a:ea typeface="微软雅黑" panose="020B0503020204020204" pitchFamily="34" charset="-122"/>
                            </a:rPr>
                            <m:t>𝑚</m:t>
                          </m:r>
                        </m:sup>
                        <m:e>
                          <m:func>
                            <m:funcPr>
                              <m:ctrlPr>
                                <a:rPr lang="en-US" altLang="zh-CN" sz="1600" b="0" i="1" smtClean="0">
                                  <a:latin typeface="Cambria Math" panose="02040503050406030204" pitchFamily="18" charset="0"/>
                                  <a:ea typeface="微软雅黑" panose="020B0503020204020204" pitchFamily="34" charset="-122"/>
                                </a:rPr>
                              </m:ctrlPr>
                            </m:funcPr>
                            <m:fName>
                              <m:r>
                                <m:rPr>
                                  <m:sty m:val="p"/>
                                </m:rPr>
                                <a:rPr lang="en-US" altLang="zh-CN" sz="1600" b="0" i="0" smtClean="0">
                                  <a:latin typeface="Cambria Math" panose="02040503050406030204" pitchFamily="18" charset="0"/>
                                  <a:ea typeface="微软雅黑" panose="020B0503020204020204" pitchFamily="34" charset="-122"/>
                                </a:rPr>
                                <m:t>log</m:t>
                              </m:r>
                            </m:fName>
                            <m:e>
                              <m:r>
                                <a:rPr lang="en-US" altLang="zh-CN" sz="1600" i="1">
                                  <a:latin typeface="Cambria Math" panose="02040503050406030204" pitchFamily="18" charset="0"/>
                                  <a:ea typeface="微软雅黑" panose="020B0503020204020204" pitchFamily="34" charset="-122"/>
                                </a:rPr>
                                <m:t>𝑝</m:t>
                              </m:r>
                              <m:d>
                                <m:dPr>
                                  <m:sepChr m:val="∣"/>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𝑦</m:t>
                                      </m:r>
                                    </m:e>
                                    <m:sub>
                                      <m:r>
                                        <a:rPr lang="en-US" altLang="zh-CN" sz="1600" i="1">
                                          <a:latin typeface="Cambria Math" panose="02040503050406030204" pitchFamily="18" charset="0"/>
                                          <a:ea typeface="微软雅黑" panose="020B0503020204020204" pitchFamily="34" charset="-122"/>
                                        </a:rPr>
                                        <m:t>𝑡</m:t>
                                      </m:r>
                                    </m:sub>
                                  </m:sSub>
                                </m:e>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𝑦</m:t>
                                      </m:r>
                                    </m:e>
                                    <m:sub>
                                      <m:r>
                                        <a:rPr lang="en-US" altLang="zh-CN" sz="1600" i="1">
                                          <a:latin typeface="Cambria Math" panose="02040503050406030204" pitchFamily="18" charset="0"/>
                                          <a:ea typeface="微软雅黑" panose="020B0503020204020204" pitchFamily="34" charset="-122"/>
                                        </a:rPr>
                                        <m:t>&lt;</m:t>
                                      </m:r>
                                      <m:r>
                                        <a:rPr lang="en-US" altLang="zh-CN" sz="1600" i="1">
                                          <a:latin typeface="Cambria Math" panose="02040503050406030204" pitchFamily="18" charset="0"/>
                                          <a:ea typeface="微软雅黑" panose="020B0503020204020204" pitchFamily="34" charset="-122"/>
                                        </a:rPr>
                                        <m:t>𝑡</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e>
                              </m:d>
                              <m:r>
                                <a:rPr lang="en-US" altLang="zh-CN" sz="1600" b="0" i="1" smtClean="0">
                                  <a:latin typeface="Cambria Math" panose="02040503050406030204" pitchFamily="18" charset="0"/>
                                  <a:ea typeface="微软雅黑" panose="020B0503020204020204" pitchFamily="34" charset="-122"/>
                                </a:rPr>
                                <m:t>.</m:t>
                              </m:r>
                            </m:e>
                          </m:func>
                        </m:e>
                      </m:nary>
                    </m:oMath>
                  </m:oMathPara>
                </a14:m>
                <a:endParaRPr lang="zh-CN" altLang="en-US"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4CEB9C87-3B0E-4394-AD6F-F70ED71427BB}"/>
                  </a:ext>
                </a:extLst>
              </p:cNvPr>
              <p:cNvSpPr txBox="1">
                <a:spLocks noRot="1" noChangeAspect="1" noMove="1" noResize="1" noEditPoints="1" noAdjustHandles="1" noChangeArrowheads="1" noChangeShapeType="1" noTextEdit="1"/>
              </p:cNvSpPr>
              <p:nvPr/>
            </p:nvSpPr>
            <p:spPr>
              <a:xfrm>
                <a:off x="4859779" y="3900765"/>
                <a:ext cx="3655168" cy="1907958"/>
              </a:xfrm>
              <a:prstGeom prst="rect">
                <a:avLst/>
              </a:prstGeom>
              <a:blipFill>
                <a:blip r:embed="rId8"/>
                <a:stretch>
                  <a:fillRect l="-833" t="-958"/>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45B20AD4-4C7B-4AE7-A341-CA7802645E2C}"/>
              </a:ext>
            </a:extLst>
          </p:cNvPr>
          <p:cNvSpPr txBox="1"/>
          <p:nvPr/>
        </p:nvSpPr>
        <p:spPr>
          <a:xfrm>
            <a:off x="1590187" y="5881114"/>
            <a:ext cx="6287299" cy="369332"/>
          </a:xfrm>
          <a:prstGeom prst="rect">
            <a:avLst/>
          </a:prstGeom>
          <a:solidFill>
            <a:schemeClr val="bg1"/>
          </a:solidFill>
          <a:effectLst>
            <a:outerShdw blurRad="50800" dist="38100" dir="2700000" algn="tl" rotWithShape="0">
              <a:prstClr val="black">
                <a:alpha val="40000"/>
              </a:prstClr>
            </a:outerShdw>
          </a:effectLst>
        </p:spPr>
        <p:txBody>
          <a:bodyPr wrap="none" rtlCol="0">
            <a:spAutoFit/>
          </a:bodyPr>
          <a:lstStyle/>
          <a:p>
            <a:r>
              <a:rPr lang="zh-CN" altLang="en-US" i="1" dirty="0">
                <a:latin typeface="微软雅黑" panose="020B0503020204020204" pitchFamily="34" charset="-122"/>
                <a:ea typeface="微软雅黑" panose="020B0503020204020204" pitchFamily="34" charset="-122"/>
              </a:rPr>
              <a:t>不同于独立分布建模，词</a:t>
            </a:r>
            <a:r>
              <a:rPr lang="en-US" altLang="zh-CN" i="1" dirty="0">
                <a:latin typeface="微软雅黑" panose="020B0503020204020204" pitchFamily="34" charset="-122"/>
                <a:ea typeface="微软雅黑" panose="020B0503020204020204" pitchFamily="34" charset="-122"/>
              </a:rPr>
              <a:t>/</a:t>
            </a:r>
            <a:r>
              <a:rPr lang="zh-CN" altLang="en-US" i="1" dirty="0">
                <a:latin typeface="微软雅黑" panose="020B0503020204020204" pitchFamily="34" charset="-122"/>
                <a:ea typeface="微软雅黑" panose="020B0503020204020204" pitchFamily="34" charset="-122"/>
              </a:rPr>
              <a:t>词元</a:t>
            </a:r>
            <a:r>
              <a:rPr lang="en-US" altLang="zh-CN" i="1" dirty="0">
                <a:latin typeface="微软雅黑" panose="020B0503020204020204" pitchFamily="34" charset="-122"/>
                <a:ea typeface="微软雅黑" panose="020B0503020204020204" pitchFamily="34" charset="-122"/>
              </a:rPr>
              <a:t>/</a:t>
            </a:r>
            <a:r>
              <a:rPr lang="zh-CN" altLang="en-US" i="1" dirty="0">
                <a:latin typeface="微软雅黑" panose="020B0503020204020204" pitchFamily="34" charset="-122"/>
                <a:ea typeface="微软雅黑" panose="020B0503020204020204" pitchFamily="34" charset="-122"/>
              </a:rPr>
              <a:t>短语等输入间存在依赖关系</a:t>
            </a:r>
            <a:r>
              <a:rPr lang="en-US" altLang="zh-CN" i="1" dirty="0">
                <a:latin typeface="微软雅黑" panose="020B0503020204020204" pitchFamily="34" charset="-122"/>
                <a:ea typeface="微软雅黑" panose="020B0503020204020204" pitchFamily="34" charset="-122"/>
              </a:rPr>
              <a:t>~</a:t>
            </a:r>
            <a:endParaRPr lang="zh-CN" altLang="en-US" i="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9948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E53BA-A560-8D03-CF2E-D4ACB0B5F35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7B6FFDDE-4E10-DB84-1252-77847B527AFB}"/>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26B197E0-82EE-C0B0-F9C3-9FD399CDB755}"/>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CB5D1631-2237-E1FE-9243-1BE212FCFBDA}"/>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59CEA662-0555-A099-79E1-BB81B54ABFF3}"/>
              </a:ext>
            </a:extLst>
          </p:cNvPr>
          <p:cNvSpPr txBox="1"/>
          <p:nvPr/>
        </p:nvSpPr>
        <p:spPr>
          <a:xfrm>
            <a:off x="64849" y="789764"/>
            <a:ext cx="7634911"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语言模型的发展历程中的重要概念</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模型：</a:t>
            </a:r>
            <a:r>
              <a:rPr kumimoji="1" lang="en-US" altLang="zh-CN" dirty="0">
                <a:latin typeface="Microsoft YaHei" panose="020B0503020204020204" pitchFamily="34" charset="-122"/>
                <a:ea typeface="Microsoft YaHei" panose="020B0503020204020204" pitchFamily="34" charset="-122"/>
              </a:rPr>
              <a:t>bag of words, n-gram, ……</a:t>
            </a:r>
            <a:endParaRPr kumimoji="1" lang="zh-CN" altLang="en-US"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AC985C7B-F217-6CDD-EC7D-D8BDBF7C7AB2}"/>
              </a:ext>
            </a:extLst>
          </p:cNvPr>
          <p:cNvPicPr>
            <a:picLocks noChangeAspect="1"/>
          </p:cNvPicPr>
          <p:nvPr/>
        </p:nvPicPr>
        <p:blipFill>
          <a:blip r:embed="rId3"/>
          <a:stretch>
            <a:fillRect/>
          </a:stretch>
        </p:blipFill>
        <p:spPr>
          <a:xfrm>
            <a:off x="659885" y="1253650"/>
            <a:ext cx="2585591" cy="3107367"/>
          </a:xfrm>
          <a:prstGeom prst="rect">
            <a:avLst/>
          </a:prstGeom>
        </p:spPr>
      </p:pic>
      <p:sp>
        <p:nvSpPr>
          <p:cNvPr id="6" name="文本框 5">
            <a:extLst>
              <a:ext uri="{FF2B5EF4-FFF2-40B4-BE49-F238E27FC236}">
                <a16:creationId xmlns:a16="http://schemas.microsoft.com/office/drawing/2014/main" id="{05780B67-6A37-0AAB-DC79-1BD78F03A053}"/>
              </a:ext>
            </a:extLst>
          </p:cNvPr>
          <p:cNvSpPr txBox="1"/>
          <p:nvPr/>
        </p:nvSpPr>
        <p:spPr>
          <a:xfrm>
            <a:off x="3245476" y="1599679"/>
            <a:ext cx="5815312" cy="2536400"/>
          </a:xfrm>
          <a:prstGeom prst="rect">
            <a:avLst/>
          </a:prstGeom>
          <a:noFill/>
        </p:spPr>
        <p:txBody>
          <a:bodyPr wrap="square" rtlCol="0">
            <a:spAutoFit/>
          </a:bodyPr>
          <a:lstStyle/>
          <a:p>
            <a:pPr marL="342900" indent="-342900">
              <a:lnSpc>
                <a:spcPct val="150000"/>
              </a:lnSpc>
              <a:buAutoNum type="arabicPeriod"/>
            </a:pPr>
            <a:r>
              <a:rPr kumimoji="1" lang="zh-CN" altLang="en-US" dirty="0">
                <a:latin typeface="微软雅黑" panose="020B0503020204020204" pitchFamily="34" charset="-122"/>
                <a:ea typeface="微软雅黑" panose="020B0503020204020204" pitchFamily="34" charset="-122"/>
              </a:rPr>
              <a:t>分词（</a:t>
            </a:r>
            <a:r>
              <a:rPr kumimoji="1" lang="en-US" altLang="zh-CN" dirty="0">
                <a:latin typeface="微软雅黑" panose="020B0503020204020204" pitchFamily="34" charset="-122"/>
                <a:ea typeface="微软雅黑" panose="020B0503020204020204" pitchFamily="34" charset="-122"/>
              </a:rPr>
              <a:t>Tokenization</a:t>
            </a:r>
            <a:r>
              <a:rPr kumimoji="1" lang="zh-CN" altLang="en-US" dirty="0">
                <a:latin typeface="微软雅黑" panose="020B0503020204020204" pitchFamily="34" charset="-122"/>
                <a:ea typeface="微软雅黑" panose="020B0503020204020204" pitchFamily="34" charset="-122"/>
              </a:rPr>
              <a:t>）</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 在训练集文档上划分出单个</a:t>
            </a:r>
            <a:r>
              <a:rPr kumimoji="1" lang="zh-CN" altLang="en-US" u="sng" dirty="0">
                <a:latin typeface="微软雅黑" panose="020B0503020204020204" pitchFamily="34" charset="-122"/>
                <a:ea typeface="微软雅黑" panose="020B0503020204020204" pitchFamily="34" charset="-122"/>
              </a:rPr>
              <a:t>词</a:t>
            </a:r>
            <a:r>
              <a:rPr kumimoji="1" lang="zh-CN" altLang="en-US" dirty="0">
                <a:latin typeface="微软雅黑" panose="020B0503020204020204" pitchFamily="34" charset="-122"/>
                <a:ea typeface="微软雅黑" panose="020B0503020204020204" pitchFamily="34" charset="-122"/>
              </a:rPr>
              <a:t>或</a:t>
            </a:r>
            <a:r>
              <a:rPr kumimoji="1" lang="zh-CN" altLang="en-US" u="sng" dirty="0">
                <a:latin typeface="微软雅黑" panose="020B0503020204020204" pitchFamily="34" charset="-122"/>
                <a:ea typeface="微软雅黑" panose="020B0503020204020204" pitchFamily="34" charset="-122"/>
              </a:rPr>
              <a:t>词元</a:t>
            </a:r>
            <a:r>
              <a:rPr kumimoji="1" lang="zh-CN" altLang="en-US" dirty="0">
                <a:latin typeface="微软雅黑" panose="020B0503020204020204" pitchFamily="34" charset="-122"/>
                <a:ea typeface="微软雅黑" panose="020B0503020204020204" pitchFamily="34" charset="-122"/>
              </a:rPr>
              <a:t>的词典。</a:t>
            </a:r>
            <a:endParaRPr kumimoji="1"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kumimoji="1" lang="zh-CN" altLang="en-US" dirty="0">
                <a:latin typeface="微软雅黑" panose="020B0503020204020204" pitchFamily="34" charset="-122"/>
                <a:ea typeface="微软雅黑" panose="020B0503020204020204" pitchFamily="34" charset="-122"/>
              </a:rPr>
              <a:t>统计：统计每个词或词元出现的频率。</a:t>
            </a:r>
            <a:endParaRPr kumimoji="1" lang="en-US" altLang="zh-CN"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kumimoji="1" lang="zh-CN" altLang="en-US" dirty="0">
                <a:latin typeface="微软雅黑" panose="020B0503020204020204" pitchFamily="34" charset="-122"/>
                <a:ea typeface="微软雅黑" panose="020B0503020204020204" pitchFamily="34" charset="-122"/>
              </a:rPr>
              <a:t>向量化（</a:t>
            </a:r>
            <a:r>
              <a:rPr kumimoji="1" lang="en-US" altLang="zh-CN" dirty="0">
                <a:latin typeface="微软雅黑" panose="020B0503020204020204" pitchFamily="34" charset="-122"/>
                <a:ea typeface="微软雅黑" panose="020B0503020204020204" pitchFamily="34" charset="-122"/>
              </a:rPr>
              <a:t>Vectorization</a:t>
            </a:r>
            <a:r>
              <a:rPr kumimoji="1" lang="zh-CN" altLang="en-US" dirty="0">
                <a:latin typeface="微软雅黑" panose="020B0503020204020204" pitchFamily="34" charset="-122"/>
                <a:ea typeface="微软雅黑" panose="020B0503020204020204" pitchFamily="34" charset="-122"/>
              </a:rPr>
              <a:t>）：将输入文档表示成所有词或词元的频率向量。</a:t>
            </a:r>
            <a:endParaRPr kumimoji="1" lang="en-US" altLang="zh-CN" dirty="0">
              <a:latin typeface="微软雅黑" panose="020B0503020204020204" pitchFamily="34" charset="-122"/>
              <a:ea typeface="微软雅黑" panose="020B0503020204020204" pitchFamily="34" charset="-122"/>
            </a:endParaRPr>
          </a:p>
          <a:p>
            <a:pPr>
              <a:lnSpc>
                <a:spcPct val="150000"/>
              </a:lnSpc>
            </a:pPr>
            <a:r>
              <a:rPr kumimoji="1" lang="zh-CN" altLang="en-US" dirty="0">
                <a:latin typeface="微软雅黑" panose="020B0503020204020204" pitchFamily="34" charset="-122"/>
                <a:ea typeface="微软雅黑" panose="020B0503020204020204" pitchFamily="34" charset="-122"/>
              </a:rPr>
              <a:t>缺陷：单个词包含的信息量太少</a:t>
            </a:r>
            <a:endParaRPr kumimoji="1" lang="en-US" altLang="zh-CN" dirty="0">
              <a:latin typeface="微软雅黑" panose="020B0503020204020204" pitchFamily="34" charset="-122"/>
              <a:ea typeface="微软雅黑" panose="020B0503020204020204" pitchFamily="34" charset="-122"/>
            </a:endParaRPr>
          </a:p>
        </p:txBody>
      </p:sp>
      <p:sp>
        <p:nvSpPr>
          <p:cNvPr id="7" name="左大括号 6">
            <a:extLst>
              <a:ext uri="{FF2B5EF4-FFF2-40B4-BE49-F238E27FC236}">
                <a16:creationId xmlns:a16="http://schemas.microsoft.com/office/drawing/2014/main" id="{622041F5-DAC3-2E55-BB9E-3AB756CE697A}"/>
              </a:ext>
            </a:extLst>
          </p:cNvPr>
          <p:cNvSpPr/>
          <p:nvPr/>
        </p:nvSpPr>
        <p:spPr>
          <a:xfrm rot="5400000">
            <a:off x="2816190" y="1999055"/>
            <a:ext cx="450761" cy="5200944"/>
          </a:xfrm>
          <a:prstGeom prst="leftBrace">
            <a:avLst/>
          </a:prstGeom>
          <a:ln w="19050">
            <a:solidFill>
              <a:srgbClr val="00518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D03AB6DD-206F-ECA0-D14E-1DE40AAAD9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2902" y="4765982"/>
            <a:ext cx="4405148" cy="1881750"/>
          </a:xfrm>
          <a:prstGeom prst="rect">
            <a:avLst/>
          </a:prstGeom>
        </p:spPr>
      </p:pic>
      <p:sp>
        <p:nvSpPr>
          <p:cNvPr id="12" name="文本框 11">
            <a:extLst>
              <a:ext uri="{FF2B5EF4-FFF2-40B4-BE49-F238E27FC236}">
                <a16:creationId xmlns:a16="http://schemas.microsoft.com/office/drawing/2014/main" id="{25EB25C7-DD5E-7DEF-E40C-1054604ECC91}"/>
              </a:ext>
            </a:extLst>
          </p:cNvPr>
          <p:cNvSpPr txBox="1"/>
          <p:nvPr/>
        </p:nvSpPr>
        <p:spPr>
          <a:xfrm>
            <a:off x="5324909" y="4941514"/>
            <a:ext cx="3886200" cy="468783"/>
          </a:xfrm>
          <a:prstGeom prst="rect">
            <a:avLst/>
          </a:prstGeom>
          <a:noFill/>
        </p:spPr>
        <p:txBody>
          <a:bodyPr wrap="square">
            <a:spAutoFit/>
          </a:bodyPr>
          <a:lstStyle/>
          <a:p>
            <a:pPr>
              <a:lnSpc>
                <a:spcPct val="150000"/>
              </a:lnSpc>
            </a:pPr>
            <a:r>
              <a:rPr kumimoji="1" lang="zh-CN" altLang="en-US" dirty="0">
                <a:latin typeface="微软雅黑" panose="020B0503020204020204" pitchFamily="34" charset="-122"/>
                <a:ea typeface="微软雅黑" panose="020B0503020204020204" pitchFamily="34" charset="-122"/>
              </a:rPr>
              <a:t>随着</a:t>
            </a:r>
            <a:r>
              <a:rPr kumimoji="1" lang="en-US" altLang="zh-CN" dirty="0">
                <a:latin typeface="微软雅黑" panose="020B0503020204020204" pitchFamily="34" charset="-122"/>
                <a:ea typeface="微软雅黑" panose="020B0503020204020204" pitchFamily="34" charset="-122"/>
              </a:rPr>
              <a:t>n</a:t>
            </a:r>
            <a:r>
              <a:rPr kumimoji="1" lang="zh-CN" altLang="en-US" dirty="0">
                <a:latin typeface="微软雅黑" panose="020B0503020204020204" pitchFamily="34" charset="-122"/>
                <a:ea typeface="微软雅黑" panose="020B0503020204020204" pitchFamily="34" charset="-122"/>
              </a:rPr>
              <a:t>数量的增加使得计算量爆炸</a:t>
            </a:r>
            <a:r>
              <a:rPr kumimoji="1" lang="en-US" altLang="zh-CN" dirty="0">
                <a:latin typeface="微软雅黑" panose="020B0503020204020204" pitchFamily="34" charset="-122"/>
                <a:ea typeface="微软雅黑" panose="020B0503020204020204" pitchFamily="34" charset="-122"/>
              </a:rPr>
              <a:t>💥</a:t>
            </a:r>
          </a:p>
        </p:txBody>
      </p:sp>
      <p:sp>
        <p:nvSpPr>
          <p:cNvPr id="4" name="矩形 3">
            <a:extLst>
              <a:ext uri="{FF2B5EF4-FFF2-40B4-BE49-F238E27FC236}">
                <a16:creationId xmlns:a16="http://schemas.microsoft.com/office/drawing/2014/main" id="{A19ADA89-893C-4E74-9ED2-A35C6A6834A1}"/>
              </a:ext>
            </a:extLst>
          </p:cNvPr>
          <p:cNvSpPr/>
          <p:nvPr/>
        </p:nvSpPr>
        <p:spPr>
          <a:xfrm>
            <a:off x="3041570" y="4234654"/>
            <a:ext cx="1007007"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n-gram</a:t>
            </a:r>
            <a:endParaRPr lang="zh-CN" altLang="en-US" dirty="0"/>
          </a:p>
        </p:txBody>
      </p:sp>
    </p:spTree>
    <p:extLst>
      <p:ext uri="{BB962C8B-B14F-4D97-AF65-F5344CB8AC3E}">
        <p14:creationId xmlns:p14="http://schemas.microsoft.com/office/powerpoint/2010/main" val="4279880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E8CA-787A-98CE-6F2D-D369DF9EF171}"/>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AF85D034-C209-145B-3C76-17F75020E0C4}"/>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1C928731-6A9A-FD39-11D2-2EDFF62ECCCF}"/>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66803763-E490-4F65-9880-993CA0D6B94F}"/>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2E6A87EB-DF52-CDE2-9592-738996C0A16B}"/>
              </a:ext>
            </a:extLst>
          </p:cNvPr>
          <p:cNvSpPr txBox="1"/>
          <p:nvPr/>
        </p:nvSpPr>
        <p:spPr>
          <a:xfrm>
            <a:off x="64849" y="789764"/>
            <a:ext cx="8147743"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神经网络表示建模</a:t>
            </a:r>
            <a:r>
              <a:rPr kumimoji="1" lang="en-US" altLang="zh-CN" dirty="0">
                <a:latin typeface="Microsoft YaHei" panose="020B0503020204020204" pitchFamily="34" charset="-122"/>
                <a:ea typeface="Microsoft YaHei" panose="020B0503020204020204" pitchFamily="34" charset="-122"/>
              </a:rPr>
              <a:t>——word2vec</a:t>
            </a:r>
            <a:endParaRPr kumimoji="1" lang="zh-CN" altLang="en-US"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6FA4E17-6C1B-45A1-06FF-7E76E921353B}"/>
              </a:ext>
            </a:extLst>
          </p:cNvPr>
          <p:cNvPicPr>
            <a:picLocks noChangeAspect="1"/>
          </p:cNvPicPr>
          <p:nvPr/>
        </p:nvPicPr>
        <p:blipFill>
          <a:blip r:embed="rId3"/>
          <a:stretch>
            <a:fillRect/>
          </a:stretch>
        </p:blipFill>
        <p:spPr>
          <a:xfrm>
            <a:off x="192931" y="1370219"/>
            <a:ext cx="3584924" cy="1987041"/>
          </a:xfrm>
          <a:prstGeom prst="rect">
            <a:avLst/>
          </a:prstGeom>
        </p:spPr>
      </p:pic>
      <p:sp>
        <p:nvSpPr>
          <p:cNvPr id="4" name="文本框 3">
            <a:extLst>
              <a:ext uri="{FF2B5EF4-FFF2-40B4-BE49-F238E27FC236}">
                <a16:creationId xmlns:a16="http://schemas.microsoft.com/office/drawing/2014/main" id="{BDA9E066-B469-8756-5CD3-B3F96CE79110}"/>
              </a:ext>
            </a:extLst>
          </p:cNvPr>
          <p:cNvSpPr txBox="1"/>
          <p:nvPr/>
        </p:nvSpPr>
        <p:spPr>
          <a:xfrm>
            <a:off x="863156" y="1370219"/>
            <a:ext cx="2385883" cy="341055"/>
          </a:xfrm>
          <a:prstGeom prst="rect">
            <a:avLst/>
          </a:prstGeom>
          <a:noFill/>
        </p:spPr>
        <p:txBody>
          <a:bodyPr wrap="square">
            <a:spAutoFit/>
          </a:bodyPr>
          <a:lstStyle/>
          <a:p>
            <a:pPr>
              <a:lnSpc>
                <a:spcPct val="150000"/>
              </a:lnSpc>
            </a:pPr>
            <a:r>
              <a:rPr kumimoji="1" lang="zh-CN" altLang="en-US" sz="1200" dirty="0">
                <a:latin typeface="Microsoft YaHei" panose="020B0503020204020204" pitchFamily="34" charset="-122"/>
                <a:ea typeface="Microsoft YaHei" panose="020B0503020204020204" pitchFamily="34" charset="-122"/>
              </a:rPr>
              <a:t>稀疏表示难以包含更多的信息量！</a:t>
            </a:r>
            <a:endParaRPr kumimoji="1" lang="en-US" altLang="zh-CN" sz="1200"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1660D7CC-05ED-E975-ECEF-3572316A181E}"/>
              </a:ext>
            </a:extLst>
          </p:cNvPr>
          <p:cNvPicPr>
            <a:picLocks noChangeAspect="1"/>
          </p:cNvPicPr>
          <p:nvPr/>
        </p:nvPicPr>
        <p:blipFill>
          <a:blip r:embed="rId4"/>
          <a:srcRect l="5690" t="6903" r="11477"/>
          <a:stretch>
            <a:fillRect/>
          </a:stretch>
        </p:blipFill>
        <p:spPr>
          <a:xfrm>
            <a:off x="4448080" y="1370218"/>
            <a:ext cx="4533350" cy="2058781"/>
          </a:xfrm>
          <a:prstGeom prst="rect">
            <a:avLst/>
          </a:prstGeom>
        </p:spPr>
      </p:pic>
      <p:sp>
        <p:nvSpPr>
          <p:cNvPr id="6" name="右箭头 5">
            <a:extLst>
              <a:ext uri="{FF2B5EF4-FFF2-40B4-BE49-F238E27FC236}">
                <a16:creationId xmlns:a16="http://schemas.microsoft.com/office/drawing/2014/main" id="{92333299-5208-FF15-3350-C88B6439AF7C}"/>
              </a:ext>
            </a:extLst>
          </p:cNvPr>
          <p:cNvSpPr/>
          <p:nvPr/>
        </p:nvSpPr>
        <p:spPr>
          <a:xfrm>
            <a:off x="3861810" y="2209109"/>
            <a:ext cx="502315" cy="309259"/>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a:extLst>
              <a:ext uri="{FF2B5EF4-FFF2-40B4-BE49-F238E27FC236}">
                <a16:creationId xmlns:a16="http://schemas.microsoft.com/office/drawing/2014/main" id="{57040635-1567-669D-BD9D-A1F9DC709EA7}"/>
              </a:ext>
            </a:extLst>
          </p:cNvPr>
          <p:cNvSpPr/>
          <p:nvPr/>
        </p:nvSpPr>
        <p:spPr>
          <a:xfrm>
            <a:off x="4500664" y="1452664"/>
            <a:ext cx="732817" cy="1976335"/>
          </a:xfrm>
          <a:custGeom>
            <a:avLst/>
            <a:gdLst>
              <a:gd name="csX0" fmla="*/ 0 w 732817"/>
              <a:gd name="csY0" fmla="*/ 122139 h 1976335"/>
              <a:gd name="csX1" fmla="*/ 122139 w 732817"/>
              <a:gd name="csY1" fmla="*/ 0 h 1976335"/>
              <a:gd name="csX2" fmla="*/ 610678 w 732817"/>
              <a:gd name="csY2" fmla="*/ 0 h 1976335"/>
              <a:gd name="csX3" fmla="*/ 732817 w 732817"/>
              <a:gd name="csY3" fmla="*/ 122139 h 1976335"/>
              <a:gd name="csX4" fmla="*/ 732817 w 732817"/>
              <a:gd name="csY4" fmla="*/ 1854196 h 1976335"/>
              <a:gd name="csX5" fmla="*/ 610678 w 732817"/>
              <a:gd name="csY5" fmla="*/ 1976335 h 1976335"/>
              <a:gd name="csX6" fmla="*/ 122139 w 732817"/>
              <a:gd name="csY6" fmla="*/ 1976335 h 1976335"/>
              <a:gd name="csX7" fmla="*/ 0 w 732817"/>
              <a:gd name="csY7" fmla="*/ 1854196 h 1976335"/>
              <a:gd name="csX8" fmla="*/ 0 w 732817"/>
              <a:gd name="csY8" fmla="*/ 122139 h 19763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32817" h="1976335" extrusionOk="0">
                <a:moveTo>
                  <a:pt x="0" y="122139"/>
                </a:moveTo>
                <a:cubicBezTo>
                  <a:pt x="-6643" y="50585"/>
                  <a:pt x="47667" y="2633"/>
                  <a:pt x="122139" y="0"/>
                </a:cubicBezTo>
                <a:cubicBezTo>
                  <a:pt x="194160" y="36258"/>
                  <a:pt x="501460" y="-33619"/>
                  <a:pt x="610678" y="0"/>
                </a:cubicBezTo>
                <a:cubicBezTo>
                  <a:pt x="670684" y="7275"/>
                  <a:pt x="732595" y="55910"/>
                  <a:pt x="732817" y="122139"/>
                </a:cubicBezTo>
                <a:cubicBezTo>
                  <a:pt x="799078" y="447432"/>
                  <a:pt x="870554" y="1354665"/>
                  <a:pt x="732817" y="1854196"/>
                </a:cubicBezTo>
                <a:cubicBezTo>
                  <a:pt x="742200" y="1922765"/>
                  <a:pt x="680341" y="1971792"/>
                  <a:pt x="610678" y="1976335"/>
                </a:cubicBezTo>
                <a:cubicBezTo>
                  <a:pt x="559486" y="1975768"/>
                  <a:pt x="344426" y="2002126"/>
                  <a:pt x="122139" y="1976335"/>
                </a:cubicBezTo>
                <a:cubicBezTo>
                  <a:pt x="54370" y="1973348"/>
                  <a:pt x="-1293" y="1923449"/>
                  <a:pt x="0" y="1854196"/>
                </a:cubicBezTo>
                <a:cubicBezTo>
                  <a:pt x="-90604" y="1437452"/>
                  <a:pt x="-144216" y="956376"/>
                  <a:pt x="0" y="122139"/>
                </a:cubicBezTo>
                <a:close/>
              </a:path>
            </a:pathLst>
          </a:custGeom>
          <a:noFill/>
          <a:ln>
            <a:solidFill>
              <a:srgbClr val="C00000"/>
            </a:solidFill>
            <a:extLst>
              <a:ext uri="{C807C97D-BFC1-408E-A445-0C87EB9F89A2}">
                <ask:lineSketchStyleProps xmlns:ask="http://schemas.microsoft.com/office/drawing/2018/sketchyshapes" xmlns="" sd="1219033472">
                  <a:prstGeom prst="round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F6C18041-E56B-D108-157A-EBE584ECAFAA}"/>
              </a:ext>
            </a:extLst>
          </p:cNvPr>
          <p:cNvSpPr txBox="1"/>
          <p:nvPr/>
        </p:nvSpPr>
        <p:spPr>
          <a:xfrm>
            <a:off x="4139950" y="1171724"/>
            <a:ext cx="1454244" cy="261610"/>
          </a:xfrm>
          <a:prstGeom prst="rect">
            <a:avLst/>
          </a:prstGeom>
          <a:noFill/>
        </p:spPr>
        <p:txBody>
          <a:bodyPr wrap="none" rtlCol="0">
            <a:spAutoFit/>
          </a:bodyPr>
          <a:lstStyle/>
          <a:p>
            <a:r>
              <a:rPr kumimoji="1" lang="zh-CN" altLang="en-US" sz="1100" dirty="0">
                <a:latin typeface="Microsoft YaHei" panose="020B0503020204020204" pitchFamily="34" charset="-122"/>
                <a:ea typeface="Microsoft YaHei" panose="020B0503020204020204" pitchFamily="34" charset="-122"/>
              </a:rPr>
              <a:t>不同维度表示的主题</a:t>
            </a:r>
          </a:p>
        </p:txBody>
      </p:sp>
      <p:pic>
        <p:nvPicPr>
          <p:cNvPr id="9" name="图片 8">
            <a:extLst>
              <a:ext uri="{FF2B5EF4-FFF2-40B4-BE49-F238E27FC236}">
                <a16:creationId xmlns:a16="http://schemas.microsoft.com/office/drawing/2014/main" id="{F62226AC-F1F2-ADD7-5CF9-21D96A0FC19E}"/>
              </a:ext>
            </a:extLst>
          </p:cNvPr>
          <p:cNvPicPr>
            <a:picLocks noChangeAspect="1"/>
          </p:cNvPicPr>
          <p:nvPr/>
        </p:nvPicPr>
        <p:blipFill>
          <a:blip r:embed="rId5"/>
          <a:srcRect b="1493"/>
          <a:stretch>
            <a:fillRect/>
          </a:stretch>
        </p:blipFill>
        <p:spPr>
          <a:xfrm>
            <a:off x="192931" y="3521910"/>
            <a:ext cx="4725797" cy="3003891"/>
          </a:xfrm>
          <a:prstGeom prst="rect">
            <a:avLst/>
          </a:prstGeom>
        </p:spPr>
      </p:pic>
      <p:sp>
        <p:nvSpPr>
          <p:cNvPr id="16" name="文本框 15">
            <a:extLst>
              <a:ext uri="{FF2B5EF4-FFF2-40B4-BE49-F238E27FC236}">
                <a16:creationId xmlns:a16="http://schemas.microsoft.com/office/drawing/2014/main" id="{8E677E29-B1F8-DFE1-4648-4D64DD3BA9A2}"/>
              </a:ext>
            </a:extLst>
          </p:cNvPr>
          <p:cNvSpPr txBox="1"/>
          <p:nvPr/>
        </p:nvSpPr>
        <p:spPr>
          <a:xfrm>
            <a:off x="123217" y="4902908"/>
            <a:ext cx="842427" cy="430887"/>
          </a:xfrm>
          <a:prstGeom prst="rect">
            <a:avLst/>
          </a:prstGeom>
          <a:solidFill>
            <a:schemeClr val="bg1"/>
          </a:solidFill>
        </p:spPr>
        <p:txBody>
          <a:bodyPr wrap="square" rtlCol="0">
            <a:spAutoFit/>
          </a:bodyPr>
          <a:lstStyle/>
          <a:p>
            <a:r>
              <a:rPr kumimoji="1" lang="zh-CN" altLang="en-US" sz="1100" dirty="0">
                <a:latin typeface="Microsoft YaHei" panose="020B0503020204020204" pitchFamily="34" charset="-122"/>
                <a:ea typeface="Microsoft YaHei" panose="020B0503020204020204" pitchFamily="34" charset="-122"/>
              </a:rPr>
              <a:t>词元表示</a:t>
            </a:r>
            <a:r>
              <a:rPr kumimoji="1" lang="en-US" altLang="zh-CN" sz="1100" dirty="0">
                <a:latin typeface="Microsoft YaHei" panose="020B0503020204020204" pitchFamily="34" charset="-122"/>
                <a:ea typeface="Microsoft YaHei" panose="020B0503020204020204" pitchFamily="34" charset="-122"/>
              </a:rPr>
              <a:t>/</a:t>
            </a:r>
            <a:r>
              <a:rPr kumimoji="1" lang="zh-CN" altLang="en-US" sz="1100" dirty="0">
                <a:latin typeface="Microsoft YaHei" panose="020B0503020204020204" pitchFamily="34" charset="-122"/>
                <a:ea typeface="Microsoft YaHei" panose="020B0503020204020204" pitchFamily="34" charset="-122"/>
              </a:rPr>
              <a:t>词袋表示</a:t>
            </a:r>
          </a:p>
        </p:txBody>
      </p:sp>
      <p:sp>
        <p:nvSpPr>
          <p:cNvPr id="18" name="圆角矩形 17">
            <a:extLst>
              <a:ext uri="{FF2B5EF4-FFF2-40B4-BE49-F238E27FC236}">
                <a16:creationId xmlns:a16="http://schemas.microsoft.com/office/drawing/2014/main" id="{4FE32318-C4C4-A147-B827-D420157F687A}"/>
              </a:ext>
            </a:extLst>
          </p:cNvPr>
          <p:cNvSpPr/>
          <p:nvPr/>
        </p:nvSpPr>
        <p:spPr>
          <a:xfrm>
            <a:off x="3945851" y="3869883"/>
            <a:ext cx="972877" cy="2354491"/>
          </a:xfrm>
          <a:custGeom>
            <a:avLst/>
            <a:gdLst>
              <a:gd name="csX0" fmla="*/ 0 w 972877"/>
              <a:gd name="csY0" fmla="*/ 162149 h 2354491"/>
              <a:gd name="csX1" fmla="*/ 162149 w 972877"/>
              <a:gd name="csY1" fmla="*/ 0 h 2354491"/>
              <a:gd name="csX2" fmla="*/ 810728 w 972877"/>
              <a:gd name="csY2" fmla="*/ 0 h 2354491"/>
              <a:gd name="csX3" fmla="*/ 972877 w 972877"/>
              <a:gd name="csY3" fmla="*/ 162149 h 2354491"/>
              <a:gd name="csX4" fmla="*/ 972877 w 972877"/>
              <a:gd name="csY4" fmla="*/ 2192342 h 2354491"/>
              <a:gd name="csX5" fmla="*/ 810728 w 972877"/>
              <a:gd name="csY5" fmla="*/ 2354491 h 2354491"/>
              <a:gd name="csX6" fmla="*/ 162149 w 972877"/>
              <a:gd name="csY6" fmla="*/ 2354491 h 2354491"/>
              <a:gd name="csX7" fmla="*/ 0 w 972877"/>
              <a:gd name="csY7" fmla="*/ 2192342 h 2354491"/>
              <a:gd name="csX8" fmla="*/ 0 w 972877"/>
              <a:gd name="csY8" fmla="*/ 162149 h 2354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877" h="2354491" extrusionOk="0">
                <a:moveTo>
                  <a:pt x="0" y="162149"/>
                </a:moveTo>
                <a:cubicBezTo>
                  <a:pt x="-5354" y="69295"/>
                  <a:pt x="56389" y="6083"/>
                  <a:pt x="162149" y="0"/>
                </a:cubicBezTo>
                <a:cubicBezTo>
                  <a:pt x="392818" y="55852"/>
                  <a:pt x="729995" y="9553"/>
                  <a:pt x="810728" y="0"/>
                </a:cubicBezTo>
                <a:cubicBezTo>
                  <a:pt x="895936" y="4242"/>
                  <a:pt x="971794" y="78581"/>
                  <a:pt x="972877" y="162149"/>
                </a:cubicBezTo>
                <a:cubicBezTo>
                  <a:pt x="993064" y="1105990"/>
                  <a:pt x="1125357" y="1867366"/>
                  <a:pt x="972877" y="2192342"/>
                </a:cubicBezTo>
                <a:cubicBezTo>
                  <a:pt x="973982" y="2282025"/>
                  <a:pt x="901146" y="2352709"/>
                  <a:pt x="810728" y="2354491"/>
                </a:cubicBezTo>
                <a:cubicBezTo>
                  <a:pt x="654735" y="2409569"/>
                  <a:pt x="462083" y="2335694"/>
                  <a:pt x="162149" y="2354491"/>
                </a:cubicBezTo>
                <a:cubicBezTo>
                  <a:pt x="70874" y="2338056"/>
                  <a:pt x="-10143" y="2295990"/>
                  <a:pt x="0" y="2192342"/>
                </a:cubicBezTo>
                <a:cubicBezTo>
                  <a:pt x="-38581" y="1306326"/>
                  <a:pt x="63341" y="582271"/>
                  <a:pt x="0" y="162149"/>
                </a:cubicBezTo>
                <a:close/>
              </a:path>
            </a:pathLst>
          </a:custGeom>
          <a:noFill/>
          <a:ln>
            <a:solidFill>
              <a:srgbClr val="C00000"/>
            </a:solidFill>
            <a:extLst>
              <a:ext uri="{C807C97D-BFC1-408E-A445-0C87EB9F89A2}">
                <ask:lineSketchStyleProps xmlns:ask="http://schemas.microsoft.com/office/drawing/2018/sketchyshapes" xmlns="" sd="1219033472">
                  <a:prstGeom prst="round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D4E8A339-EA98-7074-7635-6D273DE91ED5}"/>
              </a:ext>
            </a:extLst>
          </p:cNvPr>
          <p:cNvSpPr txBox="1"/>
          <p:nvPr/>
        </p:nvSpPr>
        <p:spPr>
          <a:xfrm>
            <a:off x="4070651" y="3620146"/>
            <a:ext cx="723275" cy="276999"/>
          </a:xfrm>
          <a:prstGeom prst="rect">
            <a:avLst/>
          </a:prstGeom>
          <a:noFill/>
        </p:spPr>
        <p:txBody>
          <a:bodyPr wrap="none" rtlCol="0">
            <a:spAutoFit/>
          </a:bodyPr>
          <a:lstStyle/>
          <a:p>
            <a:r>
              <a:rPr kumimoji="1" lang="en-US" altLang="zh-CN" sz="1200" dirty="0" err="1">
                <a:latin typeface="Arial" panose="020B0604020202020204" pitchFamily="34" charset="0"/>
                <a:cs typeface="Arial" panose="020B0604020202020204" pitchFamily="34" charset="0"/>
              </a:rPr>
              <a:t>softmax</a:t>
            </a:r>
            <a:endParaRPr kumimoji="1" lang="zh-CN" altLang="en-US" sz="1200" dirty="0">
              <a:latin typeface="Arial" panose="020B0604020202020204" pitchFamily="34" charset="0"/>
              <a:cs typeface="Arial" panose="020B0604020202020204" pitchFamily="34" charset="0"/>
            </a:endParaRPr>
          </a:p>
        </p:txBody>
      </p:sp>
      <p:pic>
        <p:nvPicPr>
          <p:cNvPr id="11" name="图片 10">
            <a:extLst>
              <a:ext uri="{FF2B5EF4-FFF2-40B4-BE49-F238E27FC236}">
                <a16:creationId xmlns:a16="http://schemas.microsoft.com/office/drawing/2014/main" id="{682041F2-D038-4FB8-AC33-0BA09DAD82C9}"/>
              </a:ext>
            </a:extLst>
          </p:cNvPr>
          <p:cNvPicPr>
            <a:picLocks noChangeAspect="1"/>
          </p:cNvPicPr>
          <p:nvPr/>
        </p:nvPicPr>
        <p:blipFill>
          <a:blip r:embed="rId6"/>
          <a:stretch>
            <a:fillRect/>
          </a:stretch>
        </p:blipFill>
        <p:spPr>
          <a:xfrm>
            <a:off x="5233481" y="3555339"/>
            <a:ext cx="3562967" cy="3208999"/>
          </a:xfrm>
          <a:prstGeom prst="rect">
            <a:avLst/>
          </a:prstGeom>
        </p:spPr>
      </p:pic>
      <p:pic>
        <p:nvPicPr>
          <p:cNvPr id="10" name="图片 9">
            <a:extLst>
              <a:ext uri="{FF2B5EF4-FFF2-40B4-BE49-F238E27FC236}">
                <a16:creationId xmlns:a16="http://schemas.microsoft.com/office/drawing/2014/main" id="{171F5F27-EE9A-3C61-42C1-8043AE37BC4A}"/>
              </a:ext>
            </a:extLst>
          </p:cNvPr>
          <p:cNvPicPr>
            <a:picLocks noChangeAspect="1"/>
          </p:cNvPicPr>
          <p:nvPr/>
        </p:nvPicPr>
        <p:blipFill>
          <a:blip r:embed="rId7"/>
          <a:srcRect t="17463"/>
          <a:stretch>
            <a:fillRect/>
          </a:stretch>
        </p:blipFill>
        <p:spPr>
          <a:xfrm>
            <a:off x="3274980" y="1790965"/>
            <a:ext cx="5242783" cy="3514605"/>
          </a:xfrm>
          <a:prstGeom prst="rect">
            <a:avLst/>
          </a:prstGeom>
          <a:effectLst>
            <a:outerShdw blurRad="50800" dist="38100" dir="2700000" algn="tl" rotWithShape="0">
              <a:prstClr val="black">
                <a:alpha val="40000"/>
              </a:prstClr>
            </a:outerShdw>
          </a:effectLst>
        </p:spPr>
      </p:pic>
      <p:sp>
        <p:nvSpPr>
          <p:cNvPr id="21" name="圆角矩形 6">
            <a:extLst>
              <a:ext uri="{FF2B5EF4-FFF2-40B4-BE49-F238E27FC236}">
                <a16:creationId xmlns:a16="http://schemas.microsoft.com/office/drawing/2014/main" id="{FD6EECD3-00D0-47EA-9C55-DDCA9CC8E104}"/>
              </a:ext>
            </a:extLst>
          </p:cNvPr>
          <p:cNvSpPr/>
          <p:nvPr/>
        </p:nvSpPr>
        <p:spPr>
          <a:xfrm>
            <a:off x="1935805" y="3676730"/>
            <a:ext cx="732817" cy="2574843"/>
          </a:xfrm>
          <a:custGeom>
            <a:avLst/>
            <a:gdLst>
              <a:gd name="csX0" fmla="*/ 0 w 732817"/>
              <a:gd name="csY0" fmla="*/ 122139 h 2574843"/>
              <a:gd name="csX1" fmla="*/ 122139 w 732817"/>
              <a:gd name="csY1" fmla="*/ 0 h 2574843"/>
              <a:gd name="csX2" fmla="*/ 610678 w 732817"/>
              <a:gd name="csY2" fmla="*/ 0 h 2574843"/>
              <a:gd name="csX3" fmla="*/ 732817 w 732817"/>
              <a:gd name="csY3" fmla="*/ 122139 h 2574843"/>
              <a:gd name="csX4" fmla="*/ 732817 w 732817"/>
              <a:gd name="csY4" fmla="*/ 2452704 h 2574843"/>
              <a:gd name="csX5" fmla="*/ 610678 w 732817"/>
              <a:gd name="csY5" fmla="*/ 2574843 h 2574843"/>
              <a:gd name="csX6" fmla="*/ 122139 w 732817"/>
              <a:gd name="csY6" fmla="*/ 2574843 h 2574843"/>
              <a:gd name="csX7" fmla="*/ 0 w 732817"/>
              <a:gd name="csY7" fmla="*/ 2452704 h 2574843"/>
              <a:gd name="csX8" fmla="*/ 0 w 732817"/>
              <a:gd name="csY8" fmla="*/ 122139 h 2574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32817" h="2574843" extrusionOk="0">
                <a:moveTo>
                  <a:pt x="0" y="122139"/>
                </a:moveTo>
                <a:cubicBezTo>
                  <a:pt x="-6643" y="50585"/>
                  <a:pt x="47667" y="2633"/>
                  <a:pt x="122139" y="0"/>
                </a:cubicBezTo>
                <a:cubicBezTo>
                  <a:pt x="194160" y="36258"/>
                  <a:pt x="501460" y="-33619"/>
                  <a:pt x="610678" y="0"/>
                </a:cubicBezTo>
                <a:cubicBezTo>
                  <a:pt x="670684" y="7275"/>
                  <a:pt x="732595" y="55910"/>
                  <a:pt x="732817" y="122139"/>
                </a:cubicBezTo>
                <a:cubicBezTo>
                  <a:pt x="753004" y="408617"/>
                  <a:pt x="885297" y="1886707"/>
                  <a:pt x="732817" y="2452704"/>
                </a:cubicBezTo>
                <a:cubicBezTo>
                  <a:pt x="742200" y="2521273"/>
                  <a:pt x="680341" y="2570300"/>
                  <a:pt x="610678" y="2574843"/>
                </a:cubicBezTo>
                <a:cubicBezTo>
                  <a:pt x="559486" y="2574276"/>
                  <a:pt x="344426" y="2600634"/>
                  <a:pt x="122139" y="2574843"/>
                </a:cubicBezTo>
                <a:cubicBezTo>
                  <a:pt x="54370" y="2571856"/>
                  <a:pt x="-1293" y="2521957"/>
                  <a:pt x="0" y="2452704"/>
                </a:cubicBezTo>
                <a:cubicBezTo>
                  <a:pt x="-38581" y="2057876"/>
                  <a:pt x="63341" y="445298"/>
                  <a:pt x="0" y="122139"/>
                </a:cubicBezTo>
                <a:close/>
              </a:path>
            </a:pathLst>
          </a:custGeom>
          <a:noFill/>
          <a:ln>
            <a:solidFill>
              <a:srgbClr val="C00000"/>
            </a:solidFill>
            <a:extLst>
              <a:ext uri="{C807C97D-BFC1-408E-A445-0C87EB9F89A2}">
                <ask:lineSketchStyleProps xmlns:ask="http://schemas.microsoft.com/office/drawing/2018/sketchyshapes" xmlns="" sd="1219033472">
                  <a:prstGeom prst="round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连接符: 曲线 16">
            <a:extLst>
              <a:ext uri="{FF2B5EF4-FFF2-40B4-BE49-F238E27FC236}">
                <a16:creationId xmlns:a16="http://schemas.microsoft.com/office/drawing/2014/main" id="{800853C0-5C26-402B-B62C-760ACA24B726}"/>
              </a:ext>
            </a:extLst>
          </p:cNvPr>
          <p:cNvCxnSpPr>
            <a:cxnSpLocks/>
            <a:stCxn id="21" idx="2"/>
          </p:cNvCxnSpPr>
          <p:nvPr/>
        </p:nvCxnSpPr>
        <p:spPr>
          <a:xfrm flipV="1">
            <a:off x="2546483" y="3568384"/>
            <a:ext cx="728497" cy="108346"/>
          </a:xfrm>
          <a:prstGeom prst="curvedConnector3">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8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284427-141F-09B1-F833-354BD60C9D17}"/>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8039B8E9-B3F8-57A4-6AF5-CB6F600795D6}"/>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A79ECB7B-4068-DC81-294E-0F7FCFA9EC34}"/>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0F09100-2CAA-95A2-F89B-4B1FBD146754}"/>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FD94F415-2CBB-331B-8C34-ABDBD2FE60D8}"/>
              </a:ext>
            </a:extLst>
          </p:cNvPr>
          <p:cNvSpPr txBox="1"/>
          <p:nvPr/>
        </p:nvSpPr>
        <p:spPr>
          <a:xfrm>
            <a:off x="64849" y="789764"/>
            <a:ext cx="7920758"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神经网络表示建模</a:t>
            </a:r>
            <a:r>
              <a:rPr kumimoji="1" lang="en-US" altLang="zh-CN" dirty="0">
                <a:latin typeface="Microsoft YaHei" panose="020B0503020204020204" pitchFamily="34" charset="-122"/>
                <a:ea typeface="Microsoft YaHei" panose="020B0503020204020204" pitchFamily="34" charset="-122"/>
              </a:rPr>
              <a:t>——word2vec</a:t>
            </a:r>
            <a:endParaRPr kumimoji="1" lang="zh-CN" altLang="en-US"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EE40DA37-0B30-6C67-179F-6E989E588D97}"/>
              </a:ext>
            </a:extLst>
          </p:cNvPr>
          <p:cNvPicPr>
            <a:picLocks noChangeAspect="1"/>
          </p:cNvPicPr>
          <p:nvPr/>
        </p:nvPicPr>
        <p:blipFill>
          <a:blip r:embed="rId3" cstate="print">
            <a:extLst>
              <a:ext uri="{28A0092B-C50C-407E-A947-70E740481C1C}">
                <a14:useLocalDpi xmlns:a14="http://schemas.microsoft.com/office/drawing/2010/main" val="0"/>
              </a:ext>
            </a:extLst>
          </a:blip>
          <a:srcRect l="20776" t="10010" r="8302" b="13222"/>
          <a:stretch>
            <a:fillRect/>
          </a:stretch>
        </p:blipFill>
        <p:spPr>
          <a:xfrm>
            <a:off x="1465634" y="1752557"/>
            <a:ext cx="5168629" cy="1021565"/>
          </a:xfrm>
          <a:prstGeom prst="rect">
            <a:avLst/>
          </a:prstGeom>
        </p:spPr>
      </p:pic>
      <p:sp>
        <p:nvSpPr>
          <p:cNvPr id="6" name="文本框 5">
            <a:extLst>
              <a:ext uri="{FF2B5EF4-FFF2-40B4-BE49-F238E27FC236}">
                <a16:creationId xmlns:a16="http://schemas.microsoft.com/office/drawing/2014/main" id="{60E12485-8D38-E655-66FF-27C5D8F84817}"/>
              </a:ext>
            </a:extLst>
          </p:cNvPr>
          <p:cNvSpPr txBox="1"/>
          <p:nvPr/>
        </p:nvSpPr>
        <p:spPr>
          <a:xfrm>
            <a:off x="116733" y="1301938"/>
            <a:ext cx="3401893" cy="307777"/>
          </a:xfrm>
          <a:prstGeom prst="rect">
            <a:avLst/>
          </a:prstGeom>
          <a:noFill/>
        </p:spPr>
        <p:txBody>
          <a:bodyPr wrap="none" rtlCol="0">
            <a:spAutoFit/>
          </a:bodyPr>
          <a:lstStyle/>
          <a:p>
            <a:pPr marL="285750" indent="-285750">
              <a:buFont typeface="Wingdings" pitchFamily="2" charset="2"/>
              <a:buChar char="Ø"/>
            </a:pPr>
            <a:r>
              <a:rPr kumimoji="1" lang="zh-CN" altLang="en-US" sz="1400" i="1" dirty="0">
                <a:latin typeface="Microsoft YaHei" panose="020B0503020204020204" pitchFamily="34" charset="-122"/>
                <a:ea typeface="Microsoft YaHei" panose="020B0503020204020204" pitchFamily="34" charset="-122"/>
              </a:rPr>
              <a:t>利用</a:t>
            </a:r>
            <a:r>
              <a:rPr kumimoji="1" lang="en-US" altLang="zh-CN" sz="1400" i="1" dirty="0">
                <a:latin typeface="Microsoft YaHei" panose="020B0503020204020204" pitchFamily="34" charset="-122"/>
                <a:ea typeface="Microsoft YaHei" panose="020B0503020204020204" pitchFamily="34" charset="-122"/>
              </a:rPr>
              <a:t>similarity</a:t>
            </a:r>
            <a:r>
              <a:rPr kumimoji="1" lang="zh-CN" altLang="en-US" sz="1400" i="1" dirty="0">
                <a:latin typeface="Microsoft YaHei" panose="020B0503020204020204" pitchFamily="34" charset="-122"/>
                <a:ea typeface="Microsoft YaHei" panose="020B0503020204020204" pitchFamily="34" charset="-122"/>
              </a:rPr>
              <a:t>的思想来实现具体任务</a:t>
            </a:r>
          </a:p>
        </p:txBody>
      </p:sp>
      <p:grpSp>
        <p:nvGrpSpPr>
          <p:cNvPr id="10" name="组合 9">
            <a:extLst>
              <a:ext uri="{FF2B5EF4-FFF2-40B4-BE49-F238E27FC236}">
                <a16:creationId xmlns:a16="http://schemas.microsoft.com/office/drawing/2014/main" id="{76C58B1B-F530-BB7E-E766-D9C0328DFD9E}"/>
              </a:ext>
            </a:extLst>
          </p:cNvPr>
          <p:cNvGrpSpPr/>
          <p:nvPr/>
        </p:nvGrpSpPr>
        <p:grpSpPr>
          <a:xfrm>
            <a:off x="1638354" y="3596290"/>
            <a:ext cx="5560114" cy="2655283"/>
            <a:chOff x="1865333" y="3281464"/>
            <a:chExt cx="5560114" cy="2655283"/>
          </a:xfrm>
        </p:grpSpPr>
        <p:pic>
          <p:nvPicPr>
            <p:cNvPr id="8" name="图片 7">
              <a:extLst>
                <a:ext uri="{FF2B5EF4-FFF2-40B4-BE49-F238E27FC236}">
                  <a16:creationId xmlns:a16="http://schemas.microsoft.com/office/drawing/2014/main" id="{B702DEEA-429B-0D7F-8B9F-A40189C943A5}"/>
                </a:ext>
              </a:extLst>
            </p:cNvPr>
            <p:cNvPicPr>
              <a:picLocks noChangeAspect="1"/>
            </p:cNvPicPr>
            <p:nvPr/>
          </p:nvPicPr>
          <p:blipFill>
            <a:blip r:embed="rId4" cstate="print">
              <a:clrChange>
                <a:clrFrom>
                  <a:srgbClr val="EDEDED"/>
                </a:clrFrom>
                <a:clrTo>
                  <a:srgbClr val="EDEDED">
                    <a:alpha val="0"/>
                  </a:srgbClr>
                </a:clrTo>
              </a:clrChange>
              <a:extLst>
                <a:ext uri="{28A0092B-C50C-407E-A947-70E740481C1C}">
                  <a14:useLocalDpi xmlns:a14="http://schemas.microsoft.com/office/drawing/2010/main" val="0"/>
                </a:ext>
              </a:extLst>
            </a:blip>
            <a:srcRect l="7801" t="8056" r="1252" b="3497"/>
            <a:stretch>
              <a:fillRect/>
            </a:stretch>
          </p:blipFill>
          <p:spPr>
            <a:xfrm>
              <a:off x="1865333" y="3412675"/>
              <a:ext cx="5410164" cy="2524072"/>
            </a:xfrm>
            <a:prstGeom prst="rect">
              <a:avLst/>
            </a:prstGeom>
          </p:spPr>
        </p:pic>
        <p:sp>
          <p:nvSpPr>
            <p:cNvPr id="9" name="矩形 8">
              <a:extLst>
                <a:ext uri="{FF2B5EF4-FFF2-40B4-BE49-F238E27FC236}">
                  <a16:creationId xmlns:a16="http://schemas.microsoft.com/office/drawing/2014/main" id="{51A2B22B-390E-3223-D6DD-DAC21AC5220C}"/>
                </a:ext>
              </a:extLst>
            </p:cNvPr>
            <p:cNvSpPr/>
            <p:nvPr/>
          </p:nvSpPr>
          <p:spPr>
            <a:xfrm>
              <a:off x="6815847" y="3281464"/>
              <a:ext cx="609600" cy="11024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4" name="曲线连接符 13">
            <a:extLst>
              <a:ext uri="{FF2B5EF4-FFF2-40B4-BE49-F238E27FC236}">
                <a16:creationId xmlns:a16="http://schemas.microsoft.com/office/drawing/2014/main" id="{CC15E371-43FE-9FA2-A826-5990A7832E6D}"/>
              </a:ext>
            </a:extLst>
          </p:cNvPr>
          <p:cNvCxnSpPr>
            <a:cxnSpLocks/>
            <a:stCxn id="5" idx="2"/>
            <a:endCxn id="8" idx="0"/>
          </p:cNvCxnSpPr>
          <p:nvPr/>
        </p:nvCxnSpPr>
        <p:spPr>
          <a:xfrm rot="16200000" flipH="1">
            <a:off x="3720003" y="3104067"/>
            <a:ext cx="953379" cy="293487"/>
          </a:xfrm>
          <a:prstGeom prst="curvedConnector3">
            <a:avLst>
              <a:gd name="adj1" fmla="val 50000"/>
            </a:avLst>
          </a:prstGeom>
          <a:ln w="19050">
            <a:solidFill>
              <a:srgbClr val="00518E"/>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614A19B1-8135-4322-D10F-8CDAFE8A61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3215" y="2990008"/>
            <a:ext cx="5994400" cy="1358900"/>
          </a:xfrm>
          <a:prstGeom prst="rect">
            <a:avLst/>
          </a:prstGeom>
        </p:spPr>
      </p:pic>
      <p:pic>
        <p:nvPicPr>
          <p:cNvPr id="2" name="图片 1">
            <a:extLst>
              <a:ext uri="{FF2B5EF4-FFF2-40B4-BE49-F238E27FC236}">
                <a16:creationId xmlns:a16="http://schemas.microsoft.com/office/drawing/2014/main" id="{6753C81C-F0EA-4CD1-9BEB-8E5A95F7058A}"/>
              </a:ext>
            </a:extLst>
          </p:cNvPr>
          <p:cNvPicPr>
            <a:picLocks noChangeAspect="1"/>
          </p:cNvPicPr>
          <p:nvPr/>
        </p:nvPicPr>
        <p:blipFill>
          <a:blip r:embed="rId6"/>
          <a:stretch>
            <a:fillRect/>
          </a:stretch>
        </p:blipFill>
        <p:spPr>
          <a:xfrm>
            <a:off x="64849" y="1182625"/>
            <a:ext cx="9144000" cy="4827330"/>
          </a:xfrm>
          <a:prstGeom prst="rect">
            <a:avLst/>
          </a:prstGeom>
        </p:spPr>
      </p:pic>
    </p:spTree>
    <p:extLst>
      <p:ext uri="{BB962C8B-B14F-4D97-AF65-F5344CB8AC3E}">
        <p14:creationId xmlns:p14="http://schemas.microsoft.com/office/powerpoint/2010/main" val="392662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FC732-ACA7-4603-7DD8-7892DA245B0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E10B4061-B53A-0732-ECAA-9150D5B0210A}"/>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177F5B4-F462-F215-58D8-CF96BACAA3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6150790-6684-1A44-424C-EFDF21D39370}"/>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00EBF5CB-BD0F-C485-858A-4FD04082ADB8}"/>
              </a:ext>
            </a:extLst>
          </p:cNvPr>
          <p:cNvSpPr txBox="1"/>
          <p:nvPr/>
        </p:nvSpPr>
        <p:spPr>
          <a:xfrm>
            <a:off x="64849" y="789764"/>
            <a:ext cx="6583854"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语言模型基本架构</a:t>
            </a:r>
          </a:p>
        </p:txBody>
      </p:sp>
      <p:grpSp>
        <p:nvGrpSpPr>
          <p:cNvPr id="38" name="组合 37">
            <a:extLst>
              <a:ext uri="{FF2B5EF4-FFF2-40B4-BE49-F238E27FC236}">
                <a16:creationId xmlns:a16="http://schemas.microsoft.com/office/drawing/2014/main" id="{85DDBC47-E26E-489C-A6AA-A2785058F256}"/>
              </a:ext>
            </a:extLst>
          </p:cNvPr>
          <p:cNvGrpSpPr/>
          <p:nvPr/>
        </p:nvGrpSpPr>
        <p:grpSpPr>
          <a:xfrm>
            <a:off x="382622" y="1257874"/>
            <a:ext cx="8478418" cy="3404917"/>
            <a:chOff x="382622" y="1257874"/>
            <a:chExt cx="8478418" cy="3404917"/>
          </a:xfrm>
        </p:grpSpPr>
        <p:pic>
          <p:nvPicPr>
            <p:cNvPr id="10" name="图片 9">
              <a:extLst>
                <a:ext uri="{FF2B5EF4-FFF2-40B4-BE49-F238E27FC236}">
                  <a16:creationId xmlns:a16="http://schemas.microsoft.com/office/drawing/2014/main" id="{1175A1D6-E1C9-41B9-9EEC-196FD1068FAC}"/>
                </a:ext>
              </a:extLst>
            </p:cNvPr>
            <p:cNvPicPr>
              <a:picLocks noChangeAspect="1"/>
            </p:cNvPicPr>
            <p:nvPr/>
          </p:nvPicPr>
          <p:blipFill rotWithShape="1">
            <a:blip r:embed="rId3">
              <a:extLst>
                <a:ext uri="{28A0092B-C50C-407E-A947-70E740481C1C}">
                  <a14:useLocalDpi xmlns:a14="http://schemas.microsoft.com/office/drawing/2010/main" val="0"/>
                </a:ext>
              </a:extLst>
            </a:blip>
            <a:srcRect l="13289" r="25723" b="10902"/>
            <a:stretch/>
          </p:blipFill>
          <p:spPr>
            <a:xfrm>
              <a:off x="466928" y="1257874"/>
              <a:ext cx="2945386" cy="3404917"/>
            </a:xfrm>
            <a:prstGeom prst="rect">
              <a:avLst/>
            </a:prstGeom>
          </p:spPr>
        </p:pic>
        <p:sp>
          <p:nvSpPr>
            <p:cNvPr id="11" name="矩形: 圆角 10">
              <a:extLst>
                <a:ext uri="{FF2B5EF4-FFF2-40B4-BE49-F238E27FC236}">
                  <a16:creationId xmlns:a16="http://schemas.microsoft.com/office/drawing/2014/main" id="{8E0B8167-FF7B-4071-B989-A3D743C11399}"/>
                </a:ext>
              </a:extLst>
            </p:cNvPr>
            <p:cNvSpPr/>
            <p:nvPr/>
          </p:nvSpPr>
          <p:spPr>
            <a:xfrm>
              <a:off x="382622" y="3638145"/>
              <a:ext cx="3249038" cy="1024646"/>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783C654-7FA3-4264-B03A-913F0D57D7C3}"/>
                </a:ext>
              </a:extLst>
            </p:cNvPr>
            <p:cNvSpPr txBox="1"/>
            <p:nvPr/>
          </p:nvSpPr>
          <p:spPr>
            <a:xfrm>
              <a:off x="3631660" y="3936460"/>
              <a:ext cx="1323399" cy="523220"/>
            </a:xfrm>
            <a:prstGeom prst="rect">
              <a:avLst/>
            </a:prstGeom>
            <a:noFill/>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Word</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embedding</a:t>
              </a:r>
              <a:endParaRPr lang="zh-CN" altLang="en-US" sz="1400"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6D7FEF0D-62D8-4EC7-95AC-88BAF5FBC984}"/>
                </a:ext>
              </a:extLst>
            </p:cNvPr>
            <p:cNvSpPr/>
            <p:nvPr/>
          </p:nvSpPr>
          <p:spPr>
            <a:xfrm>
              <a:off x="382622" y="2613498"/>
              <a:ext cx="3249038" cy="647145"/>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73074D5C-C2E0-4EC7-8BB7-79DBA133E55F}"/>
                </a:ext>
              </a:extLst>
            </p:cNvPr>
            <p:cNvSpPr txBox="1"/>
            <p:nvPr/>
          </p:nvSpPr>
          <p:spPr>
            <a:xfrm>
              <a:off x="3631658" y="2774931"/>
              <a:ext cx="132339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模型架构演进</a:t>
              </a:r>
            </a:p>
          </p:txBody>
        </p:sp>
        <p:sp>
          <p:nvSpPr>
            <p:cNvPr id="19" name="矩形: 圆角 18">
              <a:extLst>
                <a:ext uri="{FF2B5EF4-FFF2-40B4-BE49-F238E27FC236}">
                  <a16:creationId xmlns:a16="http://schemas.microsoft.com/office/drawing/2014/main" id="{688A9C79-4F1A-44B3-AC62-A08325BE1B27}"/>
                </a:ext>
              </a:extLst>
            </p:cNvPr>
            <p:cNvSpPr/>
            <p:nvPr/>
          </p:nvSpPr>
          <p:spPr>
            <a:xfrm>
              <a:off x="382622" y="1664279"/>
              <a:ext cx="3249038" cy="647145"/>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文本框 19">
              <a:extLst>
                <a:ext uri="{FF2B5EF4-FFF2-40B4-BE49-F238E27FC236}">
                  <a16:creationId xmlns:a16="http://schemas.microsoft.com/office/drawing/2014/main" id="{581349D9-B827-4951-B53E-03228F825056}"/>
                </a:ext>
              </a:extLst>
            </p:cNvPr>
            <p:cNvSpPr txBox="1"/>
            <p:nvPr/>
          </p:nvSpPr>
          <p:spPr>
            <a:xfrm>
              <a:off x="3631658" y="1787798"/>
              <a:ext cx="132339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输出层</a:t>
              </a:r>
            </a:p>
          </p:txBody>
        </p:sp>
        <p:sp>
          <p:nvSpPr>
            <p:cNvPr id="13" name="左大括号 12">
              <a:extLst>
                <a:ext uri="{FF2B5EF4-FFF2-40B4-BE49-F238E27FC236}">
                  <a16:creationId xmlns:a16="http://schemas.microsoft.com/office/drawing/2014/main" id="{1CF925CE-1E8F-49E1-9EE7-37624CEAE9C3}"/>
                </a:ext>
              </a:extLst>
            </p:cNvPr>
            <p:cNvSpPr/>
            <p:nvPr/>
          </p:nvSpPr>
          <p:spPr>
            <a:xfrm>
              <a:off x="4930847" y="2393890"/>
              <a:ext cx="203627" cy="1013308"/>
            </a:xfrm>
            <a:prstGeom prst="leftBrace">
              <a:avLst>
                <a:gd name="adj1" fmla="val 8333"/>
                <a:gd name="adj2" fmla="val 5064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左大括号 21">
              <a:extLst>
                <a:ext uri="{FF2B5EF4-FFF2-40B4-BE49-F238E27FC236}">
                  <a16:creationId xmlns:a16="http://schemas.microsoft.com/office/drawing/2014/main" id="{C247F1A3-EF96-40AB-A016-1F3DBB08F970}"/>
                </a:ext>
              </a:extLst>
            </p:cNvPr>
            <p:cNvSpPr/>
            <p:nvPr/>
          </p:nvSpPr>
          <p:spPr>
            <a:xfrm>
              <a:off x="4392595" y="1411093"/>
              <a:ext cx="203627" cy="1013308"/>
            </a:xfrm>
            <a:prstGeom prst="leftBrace">
              <a:avLst>
                <a:gd name="adj1" fmla="val 8333"/>
                <a:gd name="adj2" fmla="val 5064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C15C048-1DB6-4482-A2D4-77F1DCCEDBCE}"/>
                </a:ext>
              </a:extLst>
            </p:cNvPr>
            <p:cNvSpPr txBox="1"/>
            <p:nvPr/>
          </p:nvSpPr>
          <p:spPr>
            <a:xfrm>
              <a:off x="4611941" y="1382108"/>
              <a:ext cx="1348446"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LM</a:t>
              </a:r>
              <a:r>
                <a:rPr lang="zh-CN" altLang="en-US" sz="1400" dirty="0">
                  <a:latin typeface="微软雅黑" panose="020B0503020204020204" pitchFamily="34" charset="-122"/>
                  <a:ea typeface="微软雅黑" panose="020B0503020204020204" pitchFamily="34" charset="-122"/>
                </a:rPr>
                <a:t>：语言建模</a:t>
              </a:r>
            </a:p>
          </p:txBody>
        </p:sp>
        <p:sp>
          <p:nvSpPr>
            <p:cNvPr id="24" name="文本框 23">
              <a:extLst>
                <a:ext uri="{FF2B5EF4-FFF2-40B4-BE49-F238E27FC236}">
                  <a16:creationId xmlns:a16="http://schemas.microsoft.com/office/drawing/2014/main" id="{2B0B5FA3-844C-45C9-B38F-54C91DF659BC}"/>
                </a:ext>
              </a:extLst>
            </p:cNvPr>
            <p:cNvSpPr txBox="1"/>
            <p:nvPr/>
          </p:nvSpPr>
          <p:spPr>
            <a:xfrm>
              <a:off x="4500178" y="1694932"/>
              <a:ext cx="2012089"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Seq2Seq</a:t>
              </a:r>
              <a:r>
                <a:rPr lang="zh-CN" altLang="en-US" sz="1400" dirty="0">
                  <a:latin typeface="微软雅黑" panose="020B0503020204020204" pitchFamily="34" charset="-122"/>
                  <a:ea typeface="微软雅黑" panose="020B0503020204020204" pitchFamily="34" charset="-122"/>
                </a:rPr>
                <a:t>：序列到序列</a:t>
              </a:r>
            </a:p>
          </p:txBody>
        </p:sp>
        <p:sp>
          <p:nvSpPr>
            <p:cNvPr id="25" name="文本框 24">
              <a:extLst>
                <a:ext uri="{FF2B5EF4-FFF2-40B4-BE49-F238E27FC236}">
                  <a16:creationId xmlns:a16="http://schemas.microsoft.com/office/drawing/2014/main" id="{819AD85C-86F8-4655-8FED-1E84BBB86886}"/>
                </a:ext>
              </a:extLst>
            </p:cNvPr>
            <p:cNvSpPr txBox="1"/>
            <p:nvPr/>
          </p:nvSpPr>
          <p:spPr>
            <a:xfrm>
              <a:off x="4445055" y="2009169"/>
              <a:ext cx="3999813"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Classification</a:t>
              </a:r>
              <a:r>
                <a:rPr lang="zh-CN" altLang="en-US" sz="1400" dirty="0">
                  <a:latin typeface="微软雅黑" panose="020B0503020204020204" pitchFamily="34" charset="-122"/>
                  <a:ea typeface="微软雅黑" panose="020B0503020204020204" pitchFamily="34" charset="-122"/>
                </a:rPr>
                <a:t>：其他分类或者表示等非生成任务</a:t>
              </a:r>
            </a:p>
          </p:txBody>
        </p:sp>
        <p:sp>
          <p:nvSpPr>
            <p:cNvPr id="26" name="文本框 25">
              <a:extLst>
                <a:ext uri="{FF2B5EF4-FFF2-40B4-BE49-F238E27FC236}">
                  <a16:creationId xmlns:a16="http://schemas.microsoft.com/office/drawing/2014/main" id="{B8E366C2-BF7B-4748-AE13-5B7202150067}"/>
                </a:ext>
              </a:extLst>
            </p:cNvPr>
            <p:cNvSpPr txBox="1"/>
            <p:nvPr/>
          </p:nvSpPr>
          <p:spPr>
            <a:xfrm>
              <a:off x="5157910" y="2328722"/>
              <a:ext cx="3685176"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RNN:</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LSTM,</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GRU, Bi-LSTM, </a:t>
              </a:r>
              <a:r>
                <a:rPr lang="en-US" altLang="zh-CN" sz="1400" dirty="0" err="1">
                  <a:latin typeface="微软雅黑" panose="020B0503020204020204" pitchFamily="34" charset="-122"/>
                  <a:ea typeface="微软雅黑" panose="020B0503020204020204" pitchFamily="34" charset="-122"/>
                </a:rPr>
                <a:t>StackedLSTM</a:t>
              </a:r>
              <a:endParaRPr lang="zh-CN" altLang="en-US" sz="1400"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3FF90A77-CE39-47A5-953E-F6B98A3A83F4}"/>
                </a:ext>
              </a:extLst>
            </p:cNvPr>
            <p:cNvSpPr txBox="1"/>
            <p:nvPr/>
          </p:nvSpPr>
          <p:spPr>
            <a:xfrm>
              <a:off x="5032660" y="2713443"/>
              <a:ext cx="1797415"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CNN: Dilated-CNN</a:t>
              </a:r>
              <a:endParaRPr lang="zh-CN" altLang="en-US" sz="14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C846E449-858F-4447-AFEF-E6BCA047194B}"/>
                </a:ext>
              </a:extLst>
            </p:cNvPr>
            <p:cNvSpPr txBox="1"/>
            <p:nvPr/>
          </p:nvSpPr>
          <p:spPr>
            <a:xfrm>
              <a:off x="5157910" y="3082708"/>
              <a:ext cx="3703130"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Transformer: Attention</a:t>
              </a:r>
              <a:r>
                <a:rPr lang="zh-CN" altLang="en-US" sz="1400" dirty="0">
                  <a:latin typeface="微软雅黑" panose="020B0503020204020204" pitchFamily="34" charset="-122"/>
                  <a:ea typeface="微软雅黑" panose="020B0503020204020204" pitchFamily="34" charset="-122"/>
                </a:rPr>
                <a:t>机制，</a:t>
              </a:r>
              <a:r>
                <a:rPr lang="en-US" altLang="zh-CN" sz="1400" dirty="0">
                  <a:latin typeface="微软雅黑" panose="020B0503020204020204" pitchFamily="34" charset="-122"/>
                  <a:ea typeface="微软雅黑" panose="020B0503020204020204" pitchFamily="34" charset="-122"/>
                </a:rPr>
                <a:t>Transformer</a:t>
              </a:r>
              <a:endParaRPr lang="zh-CN" altLang="en-US" sz="1400" dirty="0">
                <a:latin typeface="微软雅黑" panose="020B0503020204020204" pitchFamily="34" charset="-122"/>
                <a:ea typeface="微软雅黑" panose="020B0503020204020204" pitchFamily="34" charset="-122"/>
              </a:endParaRPr>
            </a:p>
          </p:txBody>
        </p:sp>
        <p:cxnSp>
          <p:nvCxnSpPr>
            <p:cNvPr id="21" name="直接箭头连接符 20">
              <a:extLst>
                <a:ext uri="{FF2B5EF4-FFF2-40B4-BE49-F238E27FC236}">
                  <a16:creationId xmlns:a16="http://schemas.microsoft.com/office/drawing/2014/main" id="{1D23CB02-49D8-48BE-8931-A676C3CCBC13}"/>
                </a:ext>
              </a:extLst>
            </p:cNvPr>
            <p:cNvCxnSpPr>
              <a:stCxn id="26" idx="2"/>
              <a:endCxn id="27" idx="0"/>
            </p:cNvCxnSpPr>
            <p:nvPr/>
          </p:nvCxnSpPr>
          <p:spPr>
            <a:xfrm flipH="1">
              <a:off x="5931368" y="2636499"/>
              <a:ext cx="1069130" cy="7694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B340DFD-C133-4379-9249-B3362E551A1C}"/>
                </a:ext>
              </a:extLst>
            </p:cNvPr>
            <p:cNvCxnSpPr>
              <a:cxnSpLocks/>
              <a:endCxn id="28" idx="0"/>
            </p:cNvCxnSpPr>
            <p:nvPr/>
          </p:nvCxnSpPr>
          <p:spPr>
            <a:xfrm>
              <a:off x="5931367" y="3032997"/>
              <a:ext cx="1078108" cy="4971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7661EF3E-5652-4754-ACEF-04E6AB147C4F}"/>
                </a:ext>
              </a:extLst>
            </p:cNvPr>
            <p:cNvSpPr txBox="1"/>
            <p:nvPr/>
          </p:nvSpPr>
          <p:spPr>
            <a:xfrm>
              <a:off x="6173091" y="2544098"/>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效率</a:t>
              </a:r>
            </a:p>
          </p:txBody>
        </p:sp>
        <p:sp>
          <p:nvSpPr>
            <p:cNvPr id="35" name="文本框 34">
              <a:extLst>
                <a:ext uri="{FF2B5EF4-FFF2-40B4-BE49-F238E27FC236}">
                  <a16:creationId xmlns:a16="http://schemas.microsoft.com/office/drawing/2014/main" id="{A69CBF62-9E6B-4D9D-9F31-0C6B8BB377E4}"/>
                </a:ext>
              </a:extLst>
            </p:cNvPr>
            <p:cNvSpPr txBox="1"/>
            <p:nvPr/>
          </p:nvSpPr>
          <p:spPr>
            <a:xfrm>
              <a:off x="6266045" y="2919352"/>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效果</a:t>
              </a:r>
            </a:p>
          </p:txBody>
        </p:sp>
        <p:cxnSp>
          <p:nvCxnSpPr>
            <p:cNvPr id="36" name="直接箭头连接符 35">
              <a:extLst>
                <a:ext uri="{FF2B5EF4-FFF2-40B4-BE49-F238E27FC236}">
                  <a16:creationId xmlns:a16="http://schemas.microsoft.com/office/drawing/2014/main" id="{4B9BD954-F3A5-4F7B-AC1F-2F294D2BEFDC}"/>
                </a:ext>
              </a:extLst>
            </p:cNvPr>
            <p:cNvCxnSpPr>
              <a:cxnSpLocks/>
              <a:stCxn id="26" idx="2"/>
              <a:endCxn id="28" idx="0"/>
            </p:cNvCxnSpPr>
            <p:nvPr/>
          </p:nvCxnSpPr>
          <p:spPr>
            <a:xfrm>
              <a:off x="7000498" y="2636499"/>
              <a:ext cx="8977" cy="44620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1047A07D-6F9D-425C-8E6E-BF79F768288D}"/>
                </a:ext>
              </a:extLst>
            </p:cNvPr>
            <p:cNvSpPr txBox="1"/>
            <p:nvPr/>
          </p:nvSpPr>
          <p:spPr>
            <a:xfrm>
              <a:off x="6978145" y="2728831"/>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效率</a:t>
              </a:r>
            </a:p>
          </p:txBody>
        </p:sp>
        <p:pic>
          <p:nvPicPr>
            <p:cNvPr id="40" name="图片 39">
              <a:extLst>
                <a:ext uri="{FF2B5EF4-FFF2-40B4-BE49-F238E27FC236}">
                  <a16:creationId xmlns:a16="http://schemas.microsoft.com/office/drawing/2014/main" id="{478C6E92-0667-4990-823F-6DCEE873A785}"/>
                </a:ext>
              </a:extLst>
            </p:cNvPr>
            <p:cNvPicPr>
              <a:picLocks noChangeAspect="1"/>
            </p:cNvPicPr>
            <p:nvPr/>
          </p:nvPicPr>
          <p:blipFill>
            <a:blip r:embed="rId4" cstate="print">
              <a:extLst>
                <a:ext uri="{28A0092B-C50C-407E-A947-70E740481C1C}">
                  <a14:useLocalDpi xmlns:a14="http://schemas.microsoft.com/office/drawing/2010/main" val="0"/>
                </a:ext>
              </a:extLst>
            </a:blip>
            <a:srcRect l="20776" t="10010" r="8302" b="13222"/>
            <a:stretch>
              <a:fillRect/>
            </a:stretch>
          </p:blipFill>
          <p:spPr>
            <a:xfrm>
              <a:off x="4868952" y="3866917"/>
              <a:ext cx="3922246" cy="775221"/>
            </a:xfrm>
            <a:prstGeom prst="rect">
              <a:avLst/>
            </a:prstGeom>
          </p:spPr>
        </p:pic>
      </p:grpSp>
      <p:sp>
        <p:nvSpPr>
          <p:cNvPr id="34" name="右大括号 33">
            <a:extLst>
              <a:ext uri="{FF2B5EF4-FFF2-40B4-BE49-F238E27FC236}">
                <a16:creationId xmlns:a16="http://schemas.microsoft.com/office/drawing/2014/main" id="{B4D8D390-BB7D-41CA-B12D-8E58D719D8F5}"/>
              </a:ext>
            </a:extLst>
          </p:cNvPr>
          <p:cNvSpPr/>
          <p:nvPr/>
        </p:nvSpPr>
        <p:spPr>
          <a:xfrm rot="5400000">
            <a:off x="4480982" y="778055"/>
            <a:ext cx="261917" cy="8408578"/>
          </a:xfrm>
          <a:prstGeom prst="rightBrace">
            <a:avLst>
              <a:gd name="adj1" fmla="val 8333"/>
              <a:gd name="adj2" fmla="val 50231"/>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B34BCBAE-5050-43C7-B399-34BF96BFD55E}"/>
              </a:ext>
            </a:extLst>
          </p:cNvPr>
          <p:cNvSpPr txBox="1"/>
          <p:nvPr/>
        </p:nvSpPr>
        <p:spPr>
          <a:xfrm>
            <a:off x="3412314" y="5260716"/>
            <a:ext cx="2593980"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预训练</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后训练、提示工程</a:t>
            </a:r>
          </a:p>
        </p:txBody>
      </p:sp>
    </p:spTree>
    <p:extLst>
      <p:ext uri="{BB962C8B-B14F-4D97-AF65-F5344CB8AC3E}">
        <p14:creationId xmlns:p14="http://schemas.microsoft.com/office/powerpoint/2010/main" val="1218744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FC732-ACA7-4603-7DD8-7892DA245B0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E10B4061-B53A-0732-ECAA-9150D5B0210A}"/>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177F5B4-F462-F215-58D8-CF96BACAA3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6150790-6684-1A44-424C-EFDF21D39370}"/>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00EBF5CB-BD0F-C485-858A-4FD04082ADB8}"/>
              </a:ext>
            </a:extLst>
          </p:cNvPr>
          <p:cNvSpPr txBox="1"/>
          <p:nvPr/>
        </p:nvSpPr>
        <p:spPr>
          <a:xfrm>
            <a:off x="64849" y="789764"/>
            <a:ext cx="787625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RNN</a:t>
            </a:r>
            <a:r>
              <a:rPr kumimoji="1" lang="zh-CN" altLang="en-US" dirty="0">
                <a:latin typeface="Microsoft YaHei" panose="020B0503020204020204" pitchFamily="34" charset="-122"/>
                <a:ea typeface="Microsoft YaHei" panose="020B0503020204020204" pitchFamily="34" charset="-122"/>
              </a:rPr>
              <a:t>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4B3F9A42-CF2D-6B34-0622-282F678F02CF}"/>
              </a:ext>
            </a:extLst>
          </p:cNvPr>
          <p:cNvPicPr>
            <a:picLocks noChangeAspect="1"/>
          </p:cNvPicPr>
          <p:nvPr/>
        </p:nvPicPr>
        <p:blipFill>
          <a:blip r:embed="rId3" cstate="print">
            <a:extLst>
              <a:ext uri="{28A0092B-C50C-407E-A947-70E740481C1C}">
                <a14:useLocalDpi xmlns:a14="http://schemas.microsoft.com/office/drawing/2010/main" val="0"/>
              </a:ext>
            </a:extLst>
          </a:blip>
          <a:srcRect l="10304" t="4779" r="13517"/>
          <a:stretch>
            <a:fillRect/>
          </a:stretch>
        </p:blipFill>
        <p:spPr>
          <a:xfrm>
            <a:off x="1187451" y="1510196"/>
            <a:ext cx="3039766" cy="2112747"/>
          </a:xfrm>
          <a:prstGeom prst="rect">
            <a:avLst/>
          </a:prstGeom>
        </p:spPr>
      </p:pic>
      <p:sp>
        <p:nvSpPr>
          <p:cNvPr id="5" name="文本框 4">
            <a:extLst>
              <a:ext uri="{FF2B5EF4-FFF2-40B4-BE49-F238E27FC236}">
                <a16:creationId xmlns:a16="http://schemas.microsoft.com/office/drawing/2014/main" id="{9A21AF40-C6A7-CC8F-415E-86DD608F2938}"/>
              </a:ext>
            </a:extLst>
          </p:cNvPr>
          <p:cNvSpPr txBox="1"/>
          <p:nvPr/>
        </p:nvSpPr>
        <p:spPr>
          <a:xfrm>
            <a:off x="4351506" y="1614967"/>
            <a:ext cx="4630365" cy="1670073"/>
          </a:xfrm>
          <a:prstGeom prst="rect">
            <a:avLst/>
          </a:prstGeom>
          <a:noFill/>
        </p:spPr>
        <p:txBody>
          <a:bodyPr wrap="square" rtlCol="0">
            <a:spAutoFit/>
          </a:bodyPr>
          <a:lstStyle/>
          <a:p>
            <a:pPr>
              <a:lnSpc>
                <a:spcPct val="150000"/>
              </a:lnSpc>
            </a:pPr>
            <a:r>
              <a:rPr kumimoji="1" lang="en-US" altLang="zh-CN" sz="1400" dirty="0">
                <a:latin typeface="Microsoft YaHei" panose="020B0503020204020204" pitchFamily="34" charset="-122"/>
                <a:ea typeface="Microsoft YaHei" panose="020B0503020204020204" pitchFamily="34" charset="-122"/>
              </a:rPr>
              <a:t>Beyond word embedding ……</a:t>
            </a:r>
          </a:p>
          <a:p>
            <a:pPr>
              <a:lnSpc>
                <a:spcPct val="150000"/>
              </a:lnSpc>
            </a:pPr>
            <a:r>
              <a:rPr kumimoji="1" lang="zh-CN" altLang="en-US" sz="1400" dirty="0">
                <a:latin typeface="Microsoft YaHei" panose="020B0503020204020204" pitchFamily="34" charset="-122"/>
                <a:ea typeface="Microsoft YaHei" panose="020B0503020204020204" pitchFamily="34" charset="-122"/>
              </a:rPr>
              <a:t>实际应用中不仅限于词表示，还需求有句子表示，文档表示，以及各种的任务，</a:t>
            </a:r>
            <a:r>
              <a:rPr kumimoji="1" lang="en-US" altLang="zh-CN" sz="1400" dirty="0">
                <a:latin typeface="Microsoft YaHei" panose="020B0503020204020204" pitchFamily="34" charset="-122"/>
                <a:ea typeface="Microsoft YaHei" panose="020B0503020204020204" pitchFamily="34" charset="-122"/>
              </a:rPr>
              <a:t>……</a:t>
            </a:r>
          </a:p>
          <a:p>
            <a:pPr marL="285750" indent="-285750">
              <a:lnSpc>
                <a:spcPct val="150000"/>
              </a:lnSpc>
              <a:buFont typeface="Wingdings" pitchFamily="2" charset="2"/>
              <a:buChar char="Ø"/>
            </a:pPr>
            <a:r>
              <a:rPr kumimoji="1" lang="zh-CN" altLang="en-US" sz="1400" i="1" dirty="0">
                <a:latin typeface="Microsoft YaHei" panose="020B0503020204020204" pitchFamily="34" charset="-122"/>
                <a:ea typeface="Microsoft YaHei" panose="020B0503020204020204" pitchFamily="34" charset="-122"/>
              </a:rPr>
              <a:t>需要固定处理句子的长度；</a:t>
            </a:r>
            <a:endParaRPr kumimoji="1" lang="en-US" altLang="zh-CN" sz="1400" i="1" dirty="0">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1400" i="1" dirty="0">
                <a:latin typeface="Microsoft YaHei" panose="020B0503020204020204" pitchFamily="34" charset="-122"/>
                <a:ea typeface="Microsoft YaHei" panose="020B0503020204020204" pitchFamily="34" charset="-122"/>
              </a:rPr>
              <a:t>单纯加和词表示会损失信息；</a:t>
            </a:r>
            <a:endParaRPr kumimoji="1" lang="en-US" altLang="zh-CN" sz="1400" i="1"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5293F50B-B656-02DE-BF8F-74C5AB395195}"/>
              </a:ext>
            </a:extLst>
          </p:cNvPr>
          <p:cNvPicPr>
            <a:picLocks noChangeAspect="1"/>
          </p:cNvPicPr>
          <p:nvPr/>
        </p:nvPicPr>
        <p:blipFill>
          <a:blip r:embed="rId4">
            <a:clrChange>
              <a:clrFrom>
                <a:srgbClr val="F9F9F9"/>
              </a:clrFrom>
              <a:clrTo>
                <a:srgbClr val="F9F9F9">
                  <a:alpha val="0"/>
                </a:srgbClr>
              </a:clrTo>
            </a:clrChange>
          </a:blip>
          <a:stretch>
            <a:fillRect/>
          </a:stretch>
        </p:blipFill>
        <p:spPr>
          <a:xfrm>
            <a:off x="2374901" y="3750997"/>
            <a:ext cx="5124794" cy="2002437"/>
          </a:xfrm>
          <a:prstGeom prst="rect">
            <a:avLst/>
          </a:prstGeom>
        </p:spPr>
      </p:pic>
      <p:sp>
        <p:nvSpPr>
          <p:cNvPr id="8" name="文本框 7">
            <a:extLst>
              <a:ext uri="{FF2B5EF4-FFF2-40B4-BE49-F238E27FC236}">
                <a16:creationId xmlns:a16="http://schemas.microsoft.com/office/drawing/2014/main" id="{14E0D654-414E-A640-96EE-AF58F8C76F12}"/>
              </a:ext>
            </a:extLst>
          </p:cNvPr>
          <p:cNvSpPr txBox="1"/>
          <p:nvPr/>
        </p:nvSpPr>
        <p:spPr>
          <a:xfrm>
            <a:off x="471513" y="4633847"/>
            <a:ext cx="2029723" cy="307777"/>
          </a:xfrm>
          <a:prstGeom prst="rect">
            <a:avLst/>
          </a:prstGeom>
          <a:noFill/>
        </p:spPr>
        <p:txBody>
          <a:bodyPr wrap="none" rtlCol="0">
            <a:spAutoFit/>
          </a:bodyPr>
          <a:lstStyle/>
          <a:p>
            <a:r>
              <a:rPr kumimoji="1" lang="zh-CN" altLang="en-US" sz="1400" i="1" dirty="0">
                <a:latin typeface="Microsoft YaHei" panose="020B0503020204020204" pitchFamily="34" charset="-122"/>
                <a:ea typeface="Microsoft YaHei" panose="020B0503020204020204" pitchFamily="34" charset="-122"/>
              </a:rPr>
              <a:t>用</a:t>
            </a:r>
            <a:r>
              <a:rPr kumimoji="1" lang="en-US" altLang="zh-CN" sz="1400" i="1" dirty="0">
                <a:latin typeface="Microsoft YaHei" panose="020B0503020204020204" pitchFamily="34" charset="-122"/>
                <a:ea typeface="Microsoft YaHei" panose="020B0503020204020204" pitchFamily="34" charset="-122"/>
              </a:rPr>
              <a:t>RNN</a:t>
            </a:r>
            <a:r>
              <a:rPr kumimoji="1" lang="zh-CN" altLang="en-US" sz="1400" i="1" dirty="0">
                <a:latin typeface="Microsoft YaHei" panose="020B0503020204020204" pitchFamily="34" charset="-122"/>
                <a:ea typeface="Microsoft YaHei" panose="020B0503020204020204" pitchFamily="34" charset="-122"/>
              </a:rPr>
              <a:t>做翻译任务为例</a:t>
            </a:r>
          </a:p>
        </p:txBody>
      </p:sp>
      <p:sp>
        <p:nvSpPr>
          <p:cNvPr id="12" name="文本框 11">
            <a:extLst>
              <a:ext uri="{FF2B5EF4-FFF2-40B4-BE49-F238E27FC236}">
                <a16:creationId xmlns:a16="http://schemas.microsoft.com/office/drawing/2014/main" id="{3E33BE2B-8C72-4174-9BC2-2A9B1189B518}"/>
              </a:ext>
            </a:extLst>
          </p:cNvPr>
          <p:cNvSpPr txBox="1"/>
          <p:nvPr/>
        </p:nvSpPr>
        <p:spPr>
          <a:xfrm>
            <a:off x="2266887" y="5922456"/>
            <a:ext cx="5340821" cy="584775"/>
          </a:xfrm>
          <a:prstGeom prst="rect">
            <a:avLst/>
          </a:prstGeom>
          <a:noFill/>
        </p:spPr>
        <p:txBody>
          <a:bodyPr wrap="none" rtlCol="0">
            <a:spAutoFit/>
          </a:bodyPr>
          <a:lstStyle/>
          <a:p>
            <a:pPr algn="ctr"/>
            <a:r>
              <a:rPr kumimoji="1" lang="en-US" altLang="zh-CN" sz="1600" dirty="0">
                <a:latin typeface="Microsoft YaHei" panose="020B0503020204020204" pitchFamily="34" charset="-122"/>
                <a:ea typeface="Microsoft YaHei" panose="020B0503020204020204" pitchFamily="34" charset="-122"/>
              </a:rPr>
              <a:t>Encoder: </a:t>
            </a:r>
            <a:r>
              <a:rPr kumimoji="1" lang="zh-CN" altLang="en-US" sz="1600" dirty="0">
                <a:latin typeface="Microsoft YaHei" panose="020B0503020204020204" pitchFamily="34" charset="-122"/>
                <a:ea typeface="Microsoft YaHei" panose="020B0503020204020204" pitchFamily="34" charset="-122"/>
              </a:rPr>
              <a:t>建模上下文  </a:t>
            </a:r>
            <a:r>
              <a:rPr kumimoji="1" lang="en-US" altLang="zh-CN" sz="1600" dirty="0">
                <a:latin typeface="Microsoft YaHei" panose="020B0503020204020204" pitchFamily="34" charset="-122"/>
                <a:ea typeface="Microsoft YaHei" panose="020B0503020204020204" pitchFamily="34" charset="-122"/>
              </a:rPr>
              <a:t>Decoder</a:t>
            </a:r>
            <a:r>
              <a:rPr kumimoji="1" lang="zh-CN" altLang="en-US" sz="1600" dirty="0">
                <a:latin typeface="Microsoft YaHei" panose="020B0503020204020204" pitchFamily="34" charset="-122"/>
                <a:ea typeface="Microsoft YaHei" panose="020B0503020204020204" pitchFamily="34" charset="-122"/>
              </a:rPr>
              <a:t>：建模输入和输出的关系</a:t>
            </a:r>
            <a:endParaRPr kumimoji="1" lang="en-US" altLang="zh-CN" sz="1600" dirty="0">
              <a:latin typeface="Microsoft YaHei" panose="020B0503020204020204" pitchFamily="34" charset="-122"/>
              <a:ea typeface="Microsoft YaHei" panose="020B0503020204020204" pitchFamily="34" charset="-122"/>
            </a:endParaRPr>
          </a:p>
          <a:p>
            <a:pPr algn="ctr"/>
            <a:r>
              <a:rPr kumimoji="1" lang="zh-CN" altLang="en-US" sz="1600" dirty="0">
                <a:latin typeface="Microsoft YaHei" panose="020B0503020204020204" pitchFamily="34" charset="-122"/>
                <a:ea typeface="Microsoft YaHei" panose="020B0503020204020204" pitchFamily="34" charset="-122"/>
              </a:rPr>
              <a:t>（注意区分与</a:t>
            </a:r>
            <a:r>
              <a:rPr kumimoji="1" lang="en-US" altLang="zh-CN" sz="1600" dirty="0" err="1">
                <a:latin typeface="Microsoft YaHei" panose="020B0503020204020204" pitchFamily="34" charset="-122"/>
                <a:ea typeface="Microsoft YaHei" panose="020B0503020204020204" pitchFamily="34" charset="-122"/>
              </a:rPr>
              <a:t>AutoEncoder</a:t>
            </a:r>
            <a:r>
              <a:rPr kumimoji="1" lang="zh-CN" altLang="en-US" sz="1600" dirty="0">
                <a:latin typeface="Microsoft YaHei" panose="020B0503020204020204" pitchFamily="34" charset="-122"/>
                <a:ea typeface="Microsoft YaHei" panose="020B0503020204020204" pitchFamily="34" charset="-122"/>
              </a:rPr>
              <a:t>的区别）</a:t>
            </a:r>
          </a:p>
        </p:txBody>
      </p:sp>
    </p:spTree>
    <p:extLst>
      <p:ext uri="{BB962C8B-B14F-4D97-AF65-F5344CB8AC3E}">
        <p14:creationId xmlns:p14="http://schemas.microsoft.com/office/powerpoint/2010/main" val="3576002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4FC732-ACA7-4603-7DD8-7892DA245B0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E10B4061-B53A-0732-ECAA-9150D5B0210A}"/>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177F5B4-F462-F215-58D8-CF96BACAA3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6150790-6684-1A44-424C-EFDF21D39370}"/>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00EBF5CB-BD0F-C485-858A-4FD04082ADB8}"/>
              </a:ext>
            </a:extLst>
          </p:cNvPr>
          <p:cNvSpPr txBox="1"/>
          <p:nvPr/>
        </p:nvSpPr>
        <p:spPr>
          <a:xfrm>
            <a:off x="64849" y="789764"/>
            <a:ext cx="787625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RNN</a:t>
            </a:r>
            <a:r>
              <a:rPr kumimoji="1" lang="zh-CN" altLang="en-US" dirty="0">
                <a:latin typeface="Microsoft YaHei" panose="020B0503020204020204" pitchFamily="34" charset="-122"/>
                <a:ea typeface="Microsoft YaHei" panose="020B0503020204020204" pitchFamily="34" charset="-122"/>
              </a:rPr>
              <a:t>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pic>
        <p:nvPicPr>
          <p:cNvPr id="12" name="图片 11">
            <a:extLst>
              <a:ext uri="{FF2B5EF4-FFF2-40B4-BE49-F238E27FC236}">
                <a16:creationId xmlns:a16="http://schemas.microsoft.com/office/drawing/2014/main" id="{F9742C36-32EF-4DF0-97D5-AF3EB39FE2EA}"/>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95606" y="1261873"/>
            <a:ext cx="4667371" cy="1823705"/>
          </a:xfrm>
          <a:prstGeom prst="rect">
            <a:avLst/>
          </a:prstGeom>
        </p:spPr>
      </p:pic>
      <p:sp>
        <p:nvSpPr>
          <p:cNvPr id="3" name="文本框 2">
            <a:extLst>
              <a:ext uri="{FF2B5EF4-FFF2-40B4-BE49-F238E27FC236}">
                <a16:creationId xmlns:a16="http://schemas.microsoft.com/office/drawing/2014/main" id="{182945C4-0CC1-4C99-A816-ABCFD60B5275}"/>
              </a:ext>
            </a:extLst>
          </p:cNvPr>
          <p:cNvSpPr txBox="1"/>
          <p:nvPr/>
        </p:nvSpPr>
        <p:spPr>
          <a:xfrm>
            <a:off x="4686302" y="1280241"/>
            <a:ext cx="4362092" cy="78752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基于</a:t>
            </a:r>
            <a:r>
              <a:rPr lang="en-US" altLang="zh-CN" sz="1600" dirty="0">
                <a:latin typeface="微软雅黑" panose="020B0503020204020204" pitchFamily="34" charset="-122"/>
                <a:ea typeface="微软雅黑" panose="020B0503020204020204" pitchFamily="34" charset="-122"/>
              </a:rPr>
              <a:t>NN</a:t>
            </a:r>
            <a:r>
              <a:rPr lang="zh-CN" altLang="en-US" sz="1600" dirty="0">
                <a:latin typeface="微软雅黑" panose="020B0503020204020204" pitchFamily="34" charset="-122"/>
                <a:ea typeface="微软雅黑" panose="020B0503020204020204" pitchFamily="34" charset="-122"/>
              </a:rPr>
              <a:t>设计</a:t>
            </a:r>
            <a:r>
              <a:rPr lang="en-US" altLang="zh-CN" sz="1600" dirty="0">
                <a:latin typeface="微软雅黑" panose="020B0503020204020204" pitchFamily="34" charset="-122"/>
                <a:ea typeface="微软雅黑" panose="020B0503020204020204" pitchFamily="34" charset="-122"/>
              </a:rPr>
              <a:t>Encoder-Decoder</a:t>
            </a:r>
            <a:r>
              <a:rPr lang="zh-CN" altLang="en-US" sz="1600" dirty="0">
                <a:latin typeface="微软雅黑" panose="020B0503020204020204" pitchFamily="34" charset="-122"/>
                <a:ea typeface="微软雅黑" panose="020B0503020204020204" pitchFamily="34" charset="-122"/>
              </a:rPr>
              <a:t>架构</a:t>
            </a:r>
            <a:r>
              <a:rPr lang="en-US" altLang="zh-CN" sz="16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如何将</a:t>
            </a:r>
            <a:r>
              <a:rPr lang="en-US" altLang="zh-CN" sz="1600" dirty="0">
                <a:latin typeface="微软雅黑" panose="020B0503020204020204" pitchFamily="34" charset="-122"/>
                <a:ea typeface="微软雅黑" panose="020B0503020204020204" pitchFamily="34" charset="-122"/>
              </a:rPr>
              <a:t>Encoder</a:t>
            </a:r>
            <a:r>
              <a:rPr lang="zh-CN" altLang="en-US" sz="1600" dirty="0">
                <a:latin typeface="微软雅黑" panose="020B0503020204020204" pitchFamily="34" charset="-122"/>
                <a:ea typeface="微软雅黑" panose="020B0503020204020204" pitchFamily="34" charset="-122"/>
              </a:rPr>
              <a:t>的信息传递到</a:t>
            </a:r>
            <a:r>
              <a:rPr lang="en-US" altLang="zh-CN" sz="1600" dirty="0">
                <a:latin typeface="微软雅黑" panose="020B0503020204020204" pitchFamily="34" charset="-122"/>
                <a:ea typeface="微软雅黑" panose="020B0503020204020204" pitchFamily="34" charset="-122"/>
              </a:rPr>
              <a:t>Decoder</a:t>
            </a:r>
            <a:r>
              <a:rPr lang="zh-CN" altLang="en-US" sz="1600" dirty="0">
                <a:latin typeface="微软雅黑" panose="020B0503020204020204" pitchFamily="34" charset="-122"/>
                <a:ea typeface="微软雅黑" panose="020B0503020204020204" pitchFamily="34" charset="-122"/>
              </a:rPr>
              <a:t>上？</a:t>
            </a:r>
          </a:p>
        </p:txBody>
      </p:sp>
      <p:sp>
        <p:nvSpPr>
          <p:cNvPr id="16" name="文本框 15">
            <a:extLst>
              <a:ext uri="{FF2B5EF4-FFF2-40B4-BE49-F238E27FC236}">
                <a16:creationId xmlns:a16="http://schemas.microsoft.com/office/drawing/2014/main" id="{34557BA9-6D70-4421-A459-33A0321C5700}"/>
              </a:ext>
            </a:extLst>
          </p:cNvPr>
          <p:cNvSpPr txBox="1"/>
          <p:nvPr/>
        </p:nvSpPr>
        <p:spPr>
          <a:xfrm>
            <a:off x="359165" y="3311573"/>
            <a:ext cx="5044971" cy="41819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使用</a:t>
            </a:r>
            <a:r>
              <a:rPr lang="en-US" altLang="zh-CN" sz="1600" dirty="0">
                <a:latin typeface="微软雅黑" panose="020B0503020204020204" pitchFamily="34" charset="-122"/>
                <a:ea typeface="微软雅黑" panose="020B0503020204020204" pitchFamily="34" charset="-122"/>
              </a:rPr>
              <a:t>RNN</a:t>
            </a:r>
            <a:r>
              <a:rPr lang="zh-CN" altLang="en-US" sz="1600" dirty="0">
                <a:latin typeface="微软雅黑" panose="020B0503020204020204" pitchFamily="34" charset="-122"/>
                <a:ea typeface="微软雅黑" panose="020B0503020204020204" pitchFamily="34" charset="-122"/>
              </a:rPr>
              <a:t>类结构来建模语言序列：像人阅读的顺序</a:t>
            </a:r>
          </a:p>
        </p:txBody>
      </p:sp>
      <p:pic>
        <p:nvPicPr>
          <p:cNvPr id="18" name="图片 17">
            <a:extLst>
              <a:ext uri="{FF2B5EF4-FFF2-40B4-BE49-F238E27FC236}">
                <a16:creationId xmlns:a16="http://schemas.microsoft.com/office/drawing/2014/main" id="{E5A512B1-6C93-4B04-B263-D246F767F605}"/>
              </a:ext>
            </a:extLst>
          </p:cNvPr>
          <p:cNvPicPr>
            <a:picLocks noChangeAspect="1"/>
          </p:cNvPicPr>
          <p:nvPr/>
        </p:nvPicPr>
        <p:blipFill rotWithShape="1">
          <a:blip r:embed="rId4">
            <a:extLst>
              <a:ext uri="{28A0092B-C50C-407E-A947-70E740481C1C}">
                <a14:useLocalDpi xmlns:a14="http://schemas.microsoft.com/office/drawing/2010/main" val="0"/>
              </a:ext>
            </a:extLst>
          </a:blip>
          <a:srcRect b="15920"/>
          <a:stretch/>
        </p:blipFill>
        <p:spPr>
          <a:xfrm>
            <a:off x="2138364" y="3778752"/>
            <a:ext cx="5095875" cy="1609724"/>
          </a:xfrm>
          <a:prstGeom prst="rect">
            <a:avLst/>
          </a:prstGeom>
        </p:spPr>
      </p:pic>
      <p:sp>
        <p:nvSpPr>
          <p:cNvPr id="19" name="椭圆 18">
            <a:extLst>
              <a:ext uri="{FF2B5EF4-FFF2-40B4-BE49-F238E27FC236}">
                <a16:creationId xmlns:a16="http://schemas.microsoft.com/office/drawing/2014/main" id="{F9548A29-9FFF-402A-A760-A3BA97F836D8}"/>
              </a:ext>
            </a:extLst>
          </p:cNvPr>
          <p:cNvSpPr/>
          <p:nvPr/>
        </p:nvSpPr>
        <p:spPr>
          <a:xfrm>
            <a:off x="2311400" y="4349750"/>
            <a:ext cx="768350" cy="514350"/>
          </a:xfrm>
          <a:prstGeom prst="ellipse">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43D7F33-1328-46AB-9CC6-85301EBA506B}"/>
              </a:ext>
            </a:extLst>
          </p:cNvPr>
          <p:cNvSpPr txBox="1"/>
          <p:nvPr/>
        </p:nvSpPr>
        <p:spPr>
          <a:xfrm>
            <a:off x="1181102" y="4921107"/>
            <a:ext cx="1059906" cy="369332"/>
          </a:xfrm>
          <a:prstGeom prst="rect">
            <a:avLst/>
          </a:prstGeom>
          <a:noFill/>
        </p:spPr>
        <p:txBody>
          <a:bodyPr wrap="none" rtlCol="0">
            <a:spAutoFit/>
          </a:bodyPr>
          <a:lstStyle/>
          <a:p>
            <a:r>
              <a:rPr lang="en-US" altLang="zh-CN" dirty="0"/>
              <a:t>RNN Unit</a:t>
            </a:r>
            <a:endParaRPr lang="zh-CN" altLang="en-US" dirty="0"/>
          </a:p>
        </p:txBody>
      </p:sp>
      <p:sp>
        <p:nvSpPr>
          <p:cNvPr id="24" name="椭圆 23">
            <a:extLst>
              <a:ext uri="{FF2B5EF4-FFF2-40B4-BE49-F238E27FC236}">
                <a16:creationId xmlns:a16="http://schemas.microsoft.com/office/drawing/2014/main" id="{B78A57A3-1629-4BE5-B410-ABC772DD541C}"/>
              </a:ext>
            </a:extLst>
          </p:cNvPr>
          <p:cNvSpPr/>
          <p:nvPr/>
        </p:nvSpPr>
        <p:spPr>
          <a:xfrm>
            <a:off x="3917950" y="4305138"/>
            <a:ext cx="3644899" cy="514350"/>
          </a:xfrm>
          <a:prstGeom prst="ellipse">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878A4C54-4AF6-415F-95C3-BEE9AE289CE7}"/>
              </a:ext>
            </a:extLst>
          </p:cNvPr>
          <p:cNvSpPr txBox="1"/>
          <p:nvPr/>
        </p:nvSpPr>
        <p:spPr>
          <a:xfrm>
            <a:off x="7334795" y="4819488"/>
            <a:ext cx="1822037" cy="369332"/>
          </a:xfrm>
          <a:prstGeom prst="rect">
            <a:avLst/>
          </a:prstGeom>
          <a:noFill/>
        </p:spPr>
        <p:txBody>
          <a:bodyPr wrap="none" rtlCol="0">
            <a:spAutoFit/>
          </a:bodyPr>
          <a:lstStyle/>
          <a:p>
            <a:r>
              <a:rPr lang="en-US" altLang="zh-CN" dirty="0"/>
              <a:t>RNN Architecture</a:t>
            </a:r>
            <a:endParaRPr lang="zh-CN" altLang="en-US" dirty="0"/>
          </a:p>
        </p:txBody>
      </p:sp>
      <p:cxnSp>
        <p:nvCxnSpPr>
          <p:cNvPr id="22" name="直接箭头连接符 21">
            <a:extLst>
              <a:ext uri="{FF2B5EF4-FFF2-40B4-BE49-F238E27FC236}">
                <a16:creationId xmlns:a16="http://schemas.microsoft.com/office/drawing/2014/main" id="{57707B95-E676-4698-B2BD-7866F38E6707}"/>
              </a:ext>
            </a:extLst>
          </p:cNvPr>
          <p:cNvCxnSpPr>
            <a:stCxn id="19" idx="2"/>
            <a:endCxn id="20" idx="0"/>
          </p:cNvCxnSpPr>
          <p:nvPr/>
        </p:nvCxnSpPr>
        <p:spPr>
          <a:xfrm flipH="1">
            <a:off x="1711055" y="4606925"/>
            <a:ext cx="600345" cy="31418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F48D842C-28B1-4021-9B23-FB2EB6D75852}"/>
              </a:ext>
            </a:extLst>
          </p:cNvPr>
          <p:cNvCxnSpPr>
            <a:cxnSpLocks/>
            <a:stCxn id="24" idx="6"/>
            <a:endCxn id="25" idx="0"/>
          </p:cNvCxnSpPr>
          <p:nvPr/>
        </p:nvCxnSpPr>
        <p:spPr>
          <a:xfrm>
            <a:off x="7562849" y="4562313"/>
            <a:ext cx="682965" cy="25717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464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4FC732-ACA7-4603-7DD8-7892DA245B0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E10B4061-B53A-0732-ECAA-9150D5B0210A}"/>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177F5B4-F462-F215-58D8-CF96BACAA3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6150790-6684-1A44-424C-EFDF21D39370}"/>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00EBF5CB-BD0F-C485-858A-4FD04082ADB8}"/>
              </a:ext>
            </a:extLst>
          </p:cNvPr>
          <p:cNvSpPr txBox="1"/>
          <p:nvPr/>
        </p:nvSpPr>
        <p:spPr>
          <a:xfrm>
            <a:off x="64849" y="789764"/>
            <a:ext cx="787625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RNN</a:t>
            </a:r>
            <a:r>
              <a:rPr kumimoji="1" lang="zh-CN" altLang="en-US" dirty="0">
                <a:latin typeface="Microsoft YaHei" panose="020B0503020204020204" pitchFamily="34" charset="-122"/>
                <a:ea typeface="Microsoft YaHei" panose="020B0503020204020204" pitchFamily="34" charset="-122"/>
              </a:rPr>
              <a:t>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34557BA9-6D70-4421-A459-33A0321C5700}"/>
              </a:ext>
            </a:extLst>
          </p:cNvPr>
          <p:cNvSpPr txBox="1"/>
          <p:nvPr/>
        </p:nvSpPr>
        <p:spPr>
          <a:xfrm>
            <a:off x="385290" y="1182873"/>
            <a:ext cx="6091539" cy="41819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使用</a:t>
            </a:r>
            <a:r>
              <a:rPr lang="en-US" altLang="zh-CN" sz="1600" dirty="0">
                <a:latin typeface="微软雅黑" panose="020B0503020204020204" pitchFamily="34" charset="-122"/>
                <a:ea typeface="微软雅黑" panose="020B0503020204020204" pitchFamily="34" charset="-122"/>
              </a:rPr>
              <a:t>RNN</a:t>
            </a:r>
            <a:r>
              <a:rPr lang="zh-CN" altLang="en-US" sz="1600" dirty="0">
                <a:latin typeface="微软雅黑" panose="020B0503020204020204" pitchFamily="34" charset="-122"/>
                <a:ea typeface="微软雅黑" panose="020B0503020204020204" pitchFamily="34" charset="-122"/>
              </a:rPr>
              <a:t>类结构来建模</a:t>
            </a:r>
            <a:r>
              <a:rPr lang="en-US" altLang="zh-CN" sz="1600" dirty="0">
                <a:latin typeface="微软雅黑" panose="020B0503020204020204" pitchFamily="34" charset="-122"/>
                <a:ea typeface="微软雅黑" panose="020B0503020204020204" pitchFamily="34" charset="-122"/>
              </a:rPr>
              <a:t>Encoder-Decoder</a:t>
            </a:r>
            <a:r>
              <a:rPr lang="zh-CN" altLang="en-US" sz="1600" dirty="0">
                <a:latin typeface="微软雅黑" panose="020B0503020204020204" pitchFamily="34" charset="-122"/>
                <a:ea typeface="微软雅黑" panose="020B0503020204020204" pitchFamily="34" charset="-122"/>
              </a:rPr>
              <a:t>：类似人阅读的顺序</a:t>
            </a:r>
          </a:p>
        </p:txBody>
      </p:sp>
      <p:pic>
        <p:nvPicPr>
          <p:cNvPr id="13" name="图片 12">
            <a:extLst>
              <a:ext uri="{FF2B5EF4-FFF2-40B4-BE49-F238E27FC236}">
                <a16:creationId xmlns:a16="http://schemas.microsoft.com/office/drawing/2014/main" id="{E9FA6479-0161-458D-8726-ED893D274CEA}"/>
              </a:ext>
            </a:extLst>
          </p:cNvPr>
          <p:cNvPicPr>
            <a:picLocks noChangeAspect="1"/>
          </p:cNvPicPr>
          <p:nvPr/>
        </p:nvPicPr>
        <p:blipFill>
          <a:blip r:embed="rId3"/>
          <a:stretch>
            <a:fillRect/>
          </a:stretch>
        </p:blipFill>
        <p:spPr>
          <a:xfrm>
            <a:off x="1382757" y="3415885"/>
            <a:ext cx="6817223" cy="2455493"/>
          </a:xfrm>
          <a:prstGeom prst="rect">
            <a:avLst/>
          </a:prstGeom>
        </p:spPr>
      </p:pic>
      <p:pic>
        <p:nvPicPr>
          <p:cNvPr id="18" name="图片 17">
            <a:extLst>
              <a:ext uri="{FF2B5EF4-FFF2-40B4-BE49-F238E27FC236}">
                <a16:creationId xmlns:a16="http://schemas.microsoft.com/office/drawing/2014/main" id="{E5A512B1-6C93-4B04-B263-D246F767F605}"/>
              </a:ext>
            </a:extLst>
          </p:cNvPr>
          <p:cNvPicPr>
            <a:picLocks noChangeAspect="1"/>
          </p:cNvPicPr>
          <p:nvPr/>
        </p:nvPicPr>
        <p:blipFill rotWithShape="1">
          <a:blip r:embed="rId4">
            <a:extLst>
              <a:ext uri="{28A0092B-C50C-407E-A947-70E740481C1C}">
                <a14:useLocalDpi xmlns:a14="http://schemas.microsoft.com/office/drawing/2010/main" val="0"/>
              </a:ext>
            </a:extLst>
          </a:blip>
          <a:srcRect b="15920"/>
          <a:stretch/>
        </p:blipFill>
        <p:spPr>
          <a:xfrm>
            <a:off x="1687695" y="1768115"/>
            <a:ext cx="5095875" cy="1609724"/>
          </a:xfrm>
          <a:prstGeom prst="rect">
            <a:avLst/>
          </a:prstGeom>
        </p:spPr>
      </p:pic>
      <p:sp>
        <p:nvSpPr>
          <p:cNvPr id="19" name="椭圆 18">
            <a:extLst>
              <a:ext uri="{FF2B5EF4-FFF2-40B4-BE49-F238E27FC236}">
                <a16:creationId xmlns:a16="http://schemas.microsoft.com/office/drawing/2014/main" id="{F9548A29-9FFF-402A-A760-A3BA97F836D8}"/>
              </a:ext>
            </a:extLst>
          </p:cNvPr>
          <p:cNvSpPr/>
          <p:nvPr/>
        </p:nvSpPr>
        <p:spPr>
          <a:xfrm>
            <a:off x="1860731" y="2339113"/>
            <a:ext cx="768350" cy="514350"/>
          </a:xfrm>
          <a:prstGeom prst="ellipse">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43D7F33-1328-46AB-9CC6-85301EBA506B}"/>
              </a:ext>
            </a:extLst>
          </p:cNvPr>
          <p:cNvSpPr txBox="1"/>
          <p:nvPr/>
        </p:nvSpPr>
        <p:spPr>
          <a:xfrm>
            <a:off x="730433" y="2910470"/>
            <a:ext cx="1059906" cy="369332"/>
          </a:xfrm>
          <a:prstGeom prst="rect">
            <a:avLst/>
          </a:prstGeom>
          <a:noFill/>
        </p:spPr>
        <p:txBody>
          <a:bodyPr wrap="none" rtlCol="0">
            <a:spAutoFit/>
          </a:bodyPr>
          <a:lstStyle/>
          <a:p>
            <a:r>
              <a:rPr lang="en-US" altLang="zh-CN" dirty="0"/>
              <a:t>RNN Unit</a:t>
            </a:r>
            <a:endParaRPr lang="zh-CN" altLang="en-US" dirty="0"/>
          </a:p>
        </p:txBody>
      </p:sp>
      <p:sp>
        <p:nvSpPr>
          <p:cNvPr id="24" name="椭圆 23">
            <a:extLst>
              <a:ext uri="{FF2B5EF4-FFF2-40B4-BE49-F238E27FC236}">
                <a16:creationId xmlns:a16="http://schemas.microsoft.com/office/drawing/2014/main" id="{B78A57A3-1629-4BE5-B410-ABC772DD541C}"/>
              </a:ext>
            </a:extLst>
          </p:cNvPr>
          <p:cNvSpPr/>
          <p:nvPr/>
        </p:nvSpPr>
        <p:spPr>
          <a:xfrm>
            <a:off x="3467281" y="2294501"/>
            <a:ext cx="3644899" cy="514350"/>
          </a:xfrm>
          <a:prstGeom prst="ellipse">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878A4C54-4AF6-415F-95C3-BEE9AE289CE7}"/>
              </a:ext>
            </a:extLst>
          </p:cNvPr>
          <p:cNvSpPr txBox="1"/>
          <p:nvPr/>
        </p:nvSpPr>
        <p:spPr>
          <a:xfrm>
            <a:off x="6884126" y="2808851"/>
            <a:ext cx="1822037" cy="369332"/>
          </a:xfrm>
          <a:prstGeom prst="rect">
            <a:avLst/>
          </a:prstGeom>
          <a:noFill/>
        </p:spPr>
        <p:txBody>
          <a:bodyPr wrap="none" rtlCol="0">
            <a:spAutoFit/>
          </a:bodyPr>
          <a:lstStyle/>
          <a:p>
            <a:r>
              <a:rPr lang="en-US" altLang="zh-CN" dirty="0">
                <a:solidFill>
                  <a:schemeClr val="bg1">
                    <a:lumMod val="75000"/>
                  </a:schemeClr>
                </a:solidFill>
              </a:rPr>
              <a:t>RNN Architecture</a:t>
            </a:r>
            <a:endParaRPr lang="zh-CN" altLang="en-US" dirty="0">
              <a:solidFill>
                <a:schemeClr val="bg1">
                  <a:lumMod val="75000"/>
                </a:schemeClr>
              </a:solidFill>
            </a:endParaRPr>
          </a:p>
        </p:txBody>
      </p:sp>
      <p:cxnSp>
        <p:nvCxnSpPr>
          <p:cNvPr id="22" name="直接箭头连接符 21">
            <a:extLst>
              <a:ext uri="{FF2B5EF4-FFF2-40B4-BE49-F238E27FC236}">
                <a16:creationId xmlns:a16="http://schemas.microsoft.com/office/drawing/2014/main" id="{57707B95-E676-4698-B2BD-7866F38E6707}"/>
              </a:ext>
            </a:extLst>
          </p:cNvPr>
          <p:cNvCxnSpPr>
            <a:stCxn id="19" idx="2"/>
            <a:endCxn id="20" idx="0"/>
          </p:cNvCxnSpPr>
          <p:nvPr/>
        </p:nvCxnSpPr>
        <p:spPr>
          <a:xfrm flipH="1">
            <a:off x="1260386" y="2596288"/>
            <a:ext cx="600345" cy="31418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F48D842C-28B1-4021-9B23-FB2EB6D75852}"/>
              </a:ext>
            </a:extLst>
          </p:cNvPr>
          <p:cNvCxnSpPr>
            <a:cxnSpLocks/>
            <a:stCxn id="24" idx="6"/>
            <a:endCxn id="25" idx="0"/>
          </p:cNvCxnSpPr>
          <p:nvPr/>
        </p:nvCxnSpPr>
        <p:spPr>
          <a:xfrm>
            <a:off x="7112180" y="2551676"/>
            <a:ext cx="682965" cy="257175"/>
          </a:xfrm>
          <a:prstGeom prst="straightConnector1">
            <a:avLst/>
          </a:prstGeom>
          <a:ln w="12700">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5F393F37-49D2-4088-9AC6-CD9EC175A91C}"/>
              </a:ext>
            </a:extLst>
          </p:cNvPr>
          <p:cNvSpPr txBox="1"/>
          <p:nvPr/>
        </p:nvSpPr>
        <p:spPr>
          <a:xfrm>
            <a:off x="2374901" y="5845512"/>
            <a:ext cx="524169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建模更长的序列，减轻梯度爆炸</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梯度消失的问题</a:t>
            </a:r>
          </a:p>
        </p:txBody>
      </p:sp>
    </p:spTree>
    <p:extLst>
      <p:ext uri="{BB962C8B-B14F-4D97-AF65-F5344CB8AC3E}">
        <p14:creationId xmlns:p14="http://schemas.microsoft.com/office/powerpoint/2010/main" val="427892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4FC732-ACA7-4603-7DD8-7892DA245B0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E10B4061-B53A-0732-ECAA-9150D5B0210A}"/>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177F5B4-F462-F215-58D8-CF96BACAA3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6150790-6684-1A44-424C-EFDF21D39370}"/>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00EBF5CB-BD0F-C485-858A-4FD04082ADB8}"/>
              </a:ext>
            </a:extLst>
          </p:cNvPr>
          <p:cNvSpPr txBox="1"/>
          <p:nvPr/>
        </p:nvSpPr>
        <p:spPr>
          <a:xfrm>
            <a:off x="64849" y="789764"/>
            <a:ext cx="787625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RNN</a:t>
            </a:r>
            <a:r>
              <a:rPr kumimoji="1" lang="zh-CN" altLang="en-US" dirty="0">
                <a:latin typeface="Microsoft YaHei" panose="020B0503020204020204" pitchFamily="34" charset="-122"/>
                <a:ea typeface="Microsoft YaHei" panose="020B0503020204020204" pitchFamily="34" charset="-122"/>
              </a:rPr>
              <a:t>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34557BA9-6D70-4421-A459-33A0321C5700}"/>
              </a:ext>
            </a:extLst>
          </p:cNvPr>
          <p:cNvSpPr txBox="1"/>
          <p:nvPr/>
        </p:nvSpPr>
        <p:spPr>
          <a:xfrm>
            <a:off x="385290" y="1182873"/>
            <a:ext cx="6091539" cy="41819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使用</a:t>
            </a:r>
            <a:r>
              <a:rPr lang="en-US" altLang="zh-CN" sz="1600" dirty="0">
                <a:latin typeface="微软雅黑" panose="020B0503020204020204" pitchFamily="34" charset="-122"/>
                <a:ea typeface="微软雅黑" panose="020B0503020204020204" pitchFamily="34" charset="-122"/>
              </a:rPr>
              <a:t>RNN</a:t>
            </a:r>
            <a:r>
              <a:rPr lang="zh-CN" altLang="en-US" sz="1600" dirty="0">
                <a:latin typeface="微软雅黑" panose="020B0503020204020204" pitchFamily="34" charset="-122"/>
                <a:ea typeface="微软雅黑" panose="020B0503020204020204" pitchFamily="34" charset="-122"/>
              </a:rPr>
              <a:t>类结构来建模</a:t>
            </a:r>
            <a:r>
              <a:rPr lang="en-US" altLang="zh-CN" sz="1600" dirty="0">
                <a:latin typeface="微软雅黑" panose="020B0503020204020204" pitchFamily="34" charset="-122"/>
                <a:ea typeface="微软雅黑" panose="020B0503020204020204" pitchFamily="34" charset="-122"/>
              </a:rPr>
              <a:t>Encoder-Decoder</a:t>
            </a:r>
            <a:r>
              <a:rPr lang="zh-CN" altLang="en-US" sz="1600" dirty="0">
                <a:latin typeface="微软雅黑" panose="020B0503020204020204" pitchFamily="34" charset="-122"/>
                <a:ea typeface="微软雅黑" panose="020B0503020204020204" pitchFamily="34" charset="-122"/>
              </a:rPr>
              <a:t>：类似人阅读的顺序</a:t>
            </a:r>
          </a:p>
        </p:txBody>
      </p:sp>
      <p:pic>
        <p:nvPicPr>
          <p:cNvPr id="18" name="图片 17">
            <a:extLst>
              <a:ext uri="{FF2B5EF4-FFF2-40B4-BE49-F238E27FC236}">
                <a16:creationId xmlns:a16="http://schemas.microsoft.com/office/drawing/2014/main" id="{E5A512B1-6C93-4B04-B263-D246F767F605}"/>
              </a:ext>
            </a:extLst>
          </p:cNvPr>
          <p:cNvPicPr>
            <a:picLocks noChangeAspect="1"/>
          </p:cNvPicPr>
          <p:nvPr/>
        </p:nvPicPr>
        <p:blipFill rotWithShape="1">
          <a:blip r:embed="rId3">
            <a:extLst>
              <a:ext uri="{28A0092B-C50C-407E-A947-70E740481C1C}">
                <a14:useLocalDpi xmlns:a14="http://schemas.microsoft.com/office/drawing/2010/main" val="0"/>
              </a:ext>
            </a:extLst>
          </a:blip>
          <a:srcRect b="15920"/>
          <a:stretch/>
        </p:blipFill>
        <p:spPr>
          <a:xfrm>
            <a:off x="1687695" y="1768115"/>
            <a:ext cx="5095875" cy="1609724"/>
          </a:xfrm>
          <a:prstGeom prst="rect">
            <a:avLst/>
          </a:prstGeom>
        </p:spPr>
      </p:pic>
      <p:sp>
        <p:nvSpPr>
          <p:cNvPr id="19" name="椭圆 18">
            <a:extLst>
              <a:ext uri="{FF2B5EF4-FFF2-40B4-BE49-F238E27FC236}">
                <a16:creationId xmlns:a16="http://schemas.microsoft.com/office/drawing/2014/main" id="{F9548A29-9FFF-402A-A760-A3BA97F836D8}"/>
              </a:ext>
            </a:extLst>
          </p:cNvPr>
          <p:cNvSpPr/>
          <p:nvPr/>
        </p:nvSpPr>
        <p:spPr>
          <a:xfrm>
            <a:off x="1860731" y="2339113"/>
            <a:ext cx="768350" cy="514350"/>
          </a:xfrm>
          <a:prstGeom prst="ellipse">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43D7F33-1328-46AB-9CC6-85301EBA506B}"/>
              </a:ext>
            </a:extLst>
          </p:cNvPr>
          <p:cNvSpPr txBox="1"/>
          <p:nvPr/>
        </p:nvSpPr>
        <p:spPr>
          <a:xfrm>
            <a:off x="730433" y="2910470"/>
            <a:ext cx="1059906" cy="369332"/>
          </a:xfrm>
          <a:prstGeom prst="rect">
            <a:avLst/>
          </a:prstGeom>
          <a:noFill/>
        </p:spPr>
        <p:txBody>
          <a:bodyPr wrap="none" rtlCol="0">
            <a:spAutoFit/>
          </a:bodyPr>
          <a:lstStyle/>
          <a:p>
            <a:r>
              <a:rPr lang="en-US" altLang="zh-CN" dirty="0">
                <a:solidFill>
                  <a:schemeClr val="bg1">
                    <a:lumMod val="75000"/>
                  </a:schemeClr>
                </a:solidFill>
              </a:rPr>
              <a:t>RNN Unit</a:t>
            </a:r>
            <a:endParaRPr lang="zh-CN" altLang="en-US" dirty="0">
              <a:solidFill>
                <a:schemeClr val="bg1">
                  <a:lumMod val="75000"/>
                </a:schemeClr>
              </a:solidFill>
            </a:endParaRPr>
          </a:p>
        </p:txBody>
      </p:sp>
      <p:sp>
        <p:nvSpPr>
          <p:cNvPr id="24" name="椭圆 23">
            <a:extLst>
              <a:ext uri="{FF2B5EF4-FFF2-40B4-BE49-F238E27FC236}">
                <a16:creationId xmlns:a16="http://schemas.microsoft.com/office/drawing/2014/main" id="{B78A57A3-1629-4BE5-B410-ABC772DD541C}"/>
              </a:ext>
            </a:extLst>
          </p:cNvPr>
          <p:cNvSpPr/>
          <p:nvPr/>
        </p:nvSpPr>
        <p:spPr>
          <a:xfrm>
            <a:off x="3467281" y="2294501"/>
            <a:ext cx="3644899" cy="514350"/>
          </a:xfrm>
          <a:prstGeom prst="ellipse">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878A4C54-4AF6-415F-95C3-BEE9AE289CE7}"/>
              </a:ext>
            </a:extLst>
          </p:cNvPr>
          <p:cNvSpPr txBox="1"/>
          <p:nvPr/>
        </p:nvSpPr>
        <p:spPr>
          <a:xfrm>
            <a:off x="6884126" y="2808851"/>
            <a:ext cx="1822037" cy="369332"/>
          </a:xfrm>
          <a:prstGeom prst="rect">
            <a:avLst/>
          </a:prstGeom>
          <a:noFill/>
        </p:spPr>
        <p:txBody>
          <a:bodyPr wrap="none" rtlCol="0">
            <a:spAutoFit/>
          </a:bodyPr>
          <a:lstStyle/>
          <a:p>
            <a:r>
              <a:rPr lang="en-US" altLang="zh-CN" dirty="0"/>
              <a:t>RNN Architecture</a:t>
            </a:r>
            <a:endParaRPr lang="zh-CN" altLang="en-US" dirty="0"/>
          </a:p>
        </p:txBody>
      </p:sp>
      <p:cxnSp>
        <p:nvCxnSpPr>
          <p:cNvPr id="22" name="直接箭头连接符 21">
            <a:extLst>
              <a:ext uri="{FF2B5EF4-FFF2-40B4-BE49-F238E27FC236}">
                <a16:creationId xmlns:a16="http://schemas.microsoft.com/office/drawing/2014/main" id="{57707B95-E676-4698-B2BD-7866F38E6707}"/>
              </a:ext>
            </a:extLst>
          </p:cNvPr>
          <p:cNvCxnSpPr>
            <a:stCxn id="19" idx="2"/>
            <a:endCxn id="20" idx="0"/>
          </p:cNvCxnSpPr>
          <p:nvPr/>
        </p:nvCxnSpPr>
        <p:spPr>
          <a:xfrm flipH="1">
            <a:off x="1260386" y="2596288"/>
            <a:ext cx="600345" cy="314182"/>
          </a:xfrm>
          <a:prstGeom prst="straightConnector1">
            <a:avLst/>
          </a:prstGeom>
          <a:ln w="12700">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F48D842C-28B1-4021-9B23-FB2EB6D75852}"/>
              </a:ext>
            </a:extLst>
          </p:cNvPr>
          <p:cNvCxnSpPr>
            <a:cxnSpLocks/>
            <a:stCxn id="24" idx="6"/>
            <a:endCxn id="25" idx="0"/>
          </p:cNvCxnSpPr>
          <p:nvPr/>
        </p:nvCxnSpPr>
        <p:spPr>
          <a:xfrm>
            <a:off x="7112180" y="2551676"/>
            <a:ext cx="682965" cy="257175"/>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pic>
        <p:nvPicPr>
          <p:cNvPr id="5" name="图片 4">
            <a:extLst>
              <a:ext uri="{FF2B5EF4-FFF2-40B4-BE49-F238E27FC236}">
                <a16:creationId xmlns:a16="http://schemas.microsoft.com/office/drawing/2014/main" id="{B0FE9129-032A-4911-ABD5-11E55917CEA1}"/>
              </a:ext>
            </a:extLst>
          </p:cNvPr>
          <p:cNvPicPr>
            <a:picLocks noChangeAspect="1"/>
          </p:cNvPicPr>
          <p:nvPr/>
        </p:nvPicPr>
        <p:blipFill rotWithShape="1">
          <a:blip r:embed="rId4">
            <a:extLst>
              <a:ext uri="{28A0092B-C50C-407E-A947-70E740481C1C}">
                <a14:useLocalDpi xmlns:a14="http://schemas.microsoft.com/office/drawing/2010/main" val="0"/>
              </a:ext>
            </a:extLst>
          </a:blip>
          <a:srcRect l="9935" t="5894" r="11154" b="3233"/>
          <a:stretch/>
        </p:blipFill>
        <p:spPr>
          <a:xfrm>
            <a:off x="811747" y="3578199"/>
            <a:ext cx="3423885" cy="3179658"/>
          </a:xfrm>
          <a:prstGeom prst="rect">
            <a:avLst/>
          </a:prstGeom>
        </p:spPr>
      </p:pic>
      <p:pic>
        <p:nvPicPr>
          <p:cNvPr id="7" name="图片 6">
            <a:extLst>
              <a:ext uri="{FF2B5EF4-FFF2-40B4-BE49-F238E27FC236}">
                <a16:creationId xmlns:a16="http://schemas.microsoft.com/office/drawing/2014/main" id="{E34366F9-DE73-40BF-9FE0-854BCA1F481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197" r="6173"/>
          <a:stretch/>
        </p:blipFill>
        <p:spPr>
          <a:xfrm>
            <a:off x="4700161" y="3603722"/>
            <a:ext cx="3938417" cy="3034827"/>
          </a:xfrm>
          <a:prstGeom prst="rect">
            <a:avLst/>
          </a:prstGeom>
        </p:spPr>
      </p:pic>
      <p:sp>
        <p:nvSpPr>
          <p:cNvPr id="8" name="文本框 7">
            <a:extLst>
              <a:ext uri="{FF2B5EF4-FFF2-40B4-BE49-F238E27FC236}">
                <a16:creationId xmlns:a16="http://schemas.microsoft.com/office/drawing/2014/main" id="{A6EA3804-C6DC-43AA-94EA-4DDDDF7C9D5C}"/>
              </a:ext>
            </a:extLst>
          </p:cNvPr>
          <p:cNvSpPr txBox="1"/>
          <p:nvPr/>
        </p:nvSpPr>
        <p:spPr>
          <a:xfrm>
            <a:off x="1443692" y="3331242"/>
            <a:ext cx="1933863"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Bidirectional RNN</a:t>
            </a:r>
            <a:endParaRPr lang="zh-CN" altLang="en-US" sz="16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4DB5250E-0C9C-4F64-A458-AEDE3A7524E1}"/>
              </a:ext>
            </a:extLst>
          </p:cNvPr>
          <p:cNvSpPr txBox="1"/>
          <p:nvPr/>
        </p:nvSpPr>
        <p:spPr>
          <a:xfrm>
            <a:off x="5935869" y="3382021"/>
            <a:ext cx="1474763"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Stacked RNN</a:t>
            </a:r>
            <a:endParaRPr lang="zh-CN" altLang="en-US" sz="16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2EC9D794-730B-4E54-A982-CB28E71E8F22}"/>
              </a:ext>
            </a:extLst>
          </p:cNvPr>
          <p:cNvSpPr txBox="1"/>
          <p:nvPr/>
        </p:nvSpPr>
        <p:spPr>
          <a:xfrm>
            <a:off x="3600886" y="4916323"/>
            <a:ext cx="1620957" cy="338554"/>
          </a:xfrm>
          <a:prstGeom prst="rect">
            <a:avLst/>
          </a:prstGeom>
          <a:solidFill>
            <a:schemeClr val="bg1"/>
          </a:solidFill>
          <a:effectLst>
            <a:outerShdw blurRad="50800" dist="38100" dir="2700000" algn="tl" rotWithShape="0">
              <a:prstClr val="black">
                <a:alpha val="40000"/>
              </a:prstClr>
            </a:outerShdw>
          </a:effectLst>
        </p:spPr>
        <p:txBody>
          <a:bodyPr wrap="none" rtlCol="0">
            <a:spAutoFit/>
          </a:bodyPr>
          <a:lstStyle/>
          <a:p>
            <a:r>
              <a:rPr lang="zh-CN" altLang="en-US" sz="1600" i="1" dirty="0">
                <a:latin typeface="微软雅黑" panose="020B0503020204020204" pitchFamily="34" charset="-122"/>
                <a:ea typeface="微软雅黑" panose="020B0503020204020204" pitchFamily="34" charset="-122"/>
              </a:rPr>
              <a:t>处理长序列问题</a:t>
            </a:r>
          </a:p>
        </p:txBody>
      </p:sp>
    </p:spTree>
    <p:extLst>
      <p:ext uri="{BB962C8B-B14F-4D97-AF65-F5344CB8AC3E}">
        <p14:creationId xmlns:p14="http://schemas.microsoft.com/office/powerpoint/2010/main" val="305646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FC732-ACA7-4603-7DD8-7892DA245B0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E10B4061-B53A-0732-ECAA-9150D5B0210A}"/>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177F5B4-F462-F215-58D8-CF96BACAA3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6150790-6684-1A44-424C-EFDF21D39370}"/>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00EBF5CB-BD0F-C485-858A-4FD04082ADB8}"/>
              </a:ext>
            </a:extLst>
          </p:cNvPr>
          <p:cNvSpPr txBox="1"/>
          <p:nvPr/>
        </p:nvSpPr>
        <p:spPr>
          <a:xfrm>
            <a:off x="64849" y="789764"/>
            <a:ext cx="787625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RNN</a:t>
            </a:r>
            <a:r>
              <a:rPr kumimoji="1" lang="zh-CN" altLang="en-US" dirty="0">
                <a:latin typeface="Microsoft YaHei" panose="020B0503020204020204" pitchFamily="34" charset="-122"/>
                <a:ea typeface="Microsoft YaHei" panose="020B0503020204020204" pitchFamily="34" charset="-122"/>
              </a:rPr>
              <a:t>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pic>
        <p:nvPicPr>
          <p:cNvPr id="12" name="图片 11">
            <a:extLst>
              <a:ext uri="{FF2B5EF4-FFF2-40B4-BE49-F238E27FC236}">
                <a16:creationId xmlns:a16="http://schemas.microsoft.com/office/drawing/2014/main" id="{F9742C36-32EF-4DF0-97D5-AF3EB39FE2EA}"/>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359165" y="1280241"/>
            <a:ext cx="4098535" cy="1601441"/>
          </a:xfrm>
          <a:prstGeom prst="rect">
            <a:avLst/>
          </a:prstGeom>
        </p:spPr>
      </p:pic>
      <p:sp>
        <p:nvSpPr>
          <p:cNvPr id="3" name="文本框 2">
            <a:extLst>
              <a:ext uri="{FF2B5EF4-FFF2-40B4-BE49-F238E27FC236}">
                <a16:creationId xmlns:a16="http://schemas.microsoft.com/office/drawing/2014/main" id="{182945C4-0CC1-4C99-A816-ABCFD60B5275}"/>
              </a:ext>
            </a:extLst>
          </p:cNvPr>
          <p:cNvSpPr txBox="1"/>
          <p:nvPr/>
        </p:nvSpPr>
        <p:spPr>
          <a:xfrm>
            <a:off x="4686302" y="1280241"/>
            <a:ext cx="4362092" cy="78752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基于</a:t>
            </a:r>
            <a:r>
              <a:rPr lang="en-US" altLang="zh-CN" sz="1600" dirty="0">
                <a:latin typeface="微软雅黑" panose="020B0503020204020204" pitchFamily="34" charset="-122"/>
                <a:ea typeface="微软雅黑" panose="020B0503020204020204" pitchFamily="34" charset="-122"/>
              </a:rPr>
              <a:t>NN</a:t>
            </a:r>
            <a:r>
              <a:rPr lang="zh-CN" altLang="en-US" sz="1600" dirty="0">
                <a:latin typeface="微软雅黑" panose="020B0503020204020204" pitchFamily="34" charset="-122"/>
                <a:ea typeface="微软雅黑" panose="020B0503020204020204" pitchFamily="34" charset="-122"/>
              </a:rPr>
              <a:t>设计</a:t>
            </a:r>
            <a:r>
              <a:rPr lang="en-US" altLang="zh-CN" sz="1600" dirty="0">
                <a:latin typeface="微软雅黑" panose="020B0503020204020204" pitchFamily="34" charset="-122"/>
                <a:ea typeface="微软雅黑" panose="020B0503020204020204" pitchFamily="34" charset="-122"/>
              </a:rPr>
              <a:t>Encoder-Decoder</a:t>
            </a:r>
            <a:r>
              <a:rPr lang="zh-CN" altLang="en-US" sz="1600" dirty="0">
                <a:latin typeface="微软雅黑" panose="020B0503020204020204" pitchFamily="34" charset="-122"/>
                <a:ea typeface="微软雅黑" panose="020B0503020204020204" pitchFamily="34" charset="-122"/>
              </a:rPr>
              <a:t>架构</a:t>
            </a:r>
            <a:r>
              <a:rPr lang="en-US" altLang="zh-CN" sz="16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如何将</a:t>
            </a:r>
            <a:r>
              <a:rPr lang="en-US" altLang="zh-CN" sz="1600" dirty="0">
                <a:latin typeface="微软雅黑" panose="020B0503020204020204" pitchFamily="34" charset="-122"/>
                <a:ea typeface="微软雅黑" panose="020B0503020204020204" pitchFamily="34" charset="-122"/>
              </a:rPr>
              <a:t>Encoder</a:t>
            </a:r>
            <a:r>
              <a:rPr lang="zh-CN" altLang="en-US" sz="1600" dirty="0">
                <a:latin typeface="微软雅黑" panose="020B0503020204020204" pitchFamily="34" charset="-122"/>
                <a:ea typeface="微软雅黑" panose="020B0503020204020204" pitchFamily="34" charset="-122"/>
              </a:rPr>
              <a:t>的信息传递到</a:t>
            </a:r>
            <a:r>
              <a:rPr lang="en-US" altLang="zh-CN" sz="1600" dirty="0">
                <a:latin typeface="微软雅黑" panose="020B0503020204020204" pitchFamily="34" charset="-122"/>
                <a:ea typeface="微软雅黑" panose="020B0503020204020204" pitchFamily="34" charset="-122"/>
              </a:rPr>
              <a:t>Decoder</a:t>
            </a:r>
            <a:r>
              <a:rPr lang="zh-CN" altLang="en-US" sz="1600" dirty="0">
                <a:latin typeface="微软雅黑" panose="020B0503020204020204" pitchFamily="34" charset="-122"/>
                <a:ea typeface="微软雅黑" panose="020B0503020204020204" pitchFamily="34" charset="-122"/>
              </a:rPr>
              <a:t>上？</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4557BA9-6D70-4421-A459-33A0321C5700}"/>
                  </a:ext>
                </a:extLst>
              </p:cNvPr>
              <p:cNvSpPr txBox="1"/>
              <p:nvPr/>
            </p:nvSpPr>
            <p:spPr>
              <a:xfrm>
                <a:off x="359165" y="3097401"/>
                <a:ext cx="8635377" cy="115685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Encoder </a:t>
                </a:r>
                <a:r>
                  <a:rPr lang="zh-CN" altLang="en-US" sz="1600" dirty="0">
                    <a:latin typeface="微软雅黑" panose="020B0503020204020204" pitchFamily="34" charset="-122"/>
                    <a:ea typeface="微软雅黑" panose="020B0503020204020204" pitchFamily="34" charset="-122"/>
                  </a:rPr>
                  <a:t>的最后一个时间状态</a:t>
                </a:r>
                <a14:m>
                  <m:oMath xmlns:m="http://schemas.openxmlformats.org/officeDocument/2006/math">
                    <m:sSub>
                      <m:sSubPr>
                        <m:ctrlPr>
                          <a:rPr lang="en-US" altLang="zh-CN" sz="1600" b="0" i="1" dirty="0" smtClean="0">
                            <a:latin typeface="Cambria Math" panose="02040503050406030204" pitchFamily="18" charset="0"/>
                            <a:ea typeface="微软雅黑" panose="020B0503020204020204" pitchFamily="34" charset="-122"/>
                          </a:rPr>
                        </m:ctrlPr>
                      </m:sSubPr>
                      <m:e>
                        <m:r>
                          <a:rPr lang="en-US" altLang="zh-CN" sz="1600" b="0" i="1" dirty="0" smtClean="0">
                            <a:latin typeface="Cambria Math" panose="02040503050406030204" pitchFamily="18" charset="0"/>
                            <a:ea typeface="微软雅黑" panose="020B0503020204020204" pitchFamily="34" charset="-122"/>
                          </a:rPr>
                          <m:t>h</m:t>
                        </m:r>
                      </m:e>
                      <m:sub>
                        <m:r>
                          <a:rPr lang="en-US" altLang="zh-CN" sz="1600" b="0" i="1" dirty="0" smtClean="0">
                            <a:latin typeface="Cambria Math" panose="02040503050406030204" pitchFamily="18" charset="0"/>
                            <a:ea typeface="微软雅黑" panose="020B0503020204020204" pitchFamily="34" charset="-122"/>
                          </a:rPr>
                          <m:t>𝑇</m:t>
                        </m:r>
                      </m:sub>
                    </m:sSub>
                  </m:oMath>
                </a14:m>
                <a:r>
                  <a:rPr lang="zh-CN" altLang="en-US" sz="1600" dirty="0">
                    <a:latin typeface="微软雅黑" panose="020B0503020204020204" pitchFamily="34" charset="-122"/>
                    <a:ea typeface="微软雅黑" panose="020B0503020204020204" pitchFamily="34" charset="-122"/>
                  </a:rPr>
                  <a:t>作为编码信息，通过全连接层之后进一步编码到向量</a:t>
                </a:r>
                <a14:m>
                  <m:oMath xmlns:m="http://schemas.openxmlformats.org/officeDocument/2006/math">
                    <m:r>
                      <a:rPr lang="en-US" altLang="zh-CN" sz="1600" b="0" i="1" dirty="0" smtClean="0">
                        <a:latin typeface="Cambria Math" panose="02040503050406030204" pitchFamily="18" charset="0"/>
                        <a:ea typeface="微软雅黑" panose="020B0503020204020204" pitchFamily="34" charset="-122"/>
                      </a:rPr>
                      <m:t>𝑐</m:t>
                    </m:r>
                  </m:oMath>
                </a14:m>
                <a:r>
                  <a:rPr lang="zh-CN" altLang="en-US" sz="1600" dirty="0">
                    <a:latin typeface="微软雅黑" panose="020B0503020204020204" pitchFamily="34" charset="-122"/>
                    <a:ea typeface="微软雅黑" panose="020B0503020204020204" pitchFamily="34" charset="-122"/>
                  </a:rPr>
                  <a:t>上；</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用全连接层之后的结果作为 </a:t>
                </a:r>
                <a:r>
                  <a:rPr lang="en-US" altLang="zh-CN" sz="1600" dirty="0">
                    <a:latin typeface="微软雅黑" panose="020B0503020204020204" pitchFamily="34" charset="-122"/>
                    <a:ea typeface="微软雅黑" panose="020B0503020204020204" pitchFamily="34" charset="-122"/>
                  </a:rPr>
                  <a:t>Decoder </a:t>
                </a:r>
                <a:r>
                  <a:rPr lang="zh-CN" altLang="en-US" sz="1600" dirty="0">
                    <a:latin typeface="微软雅黑" panose="020B0503020204020204" pitchFamily="34" charset="-122"/>
                    <a:ea typeface="微软雅黑" panose="020B0503020204020204" pitchFamily="34" charset="-122"/>
                  </a:rPr>
                  <a:t>隐藏层状态的初始化向量；</a:t>
                </a:r>
                <a:endParaRPr lang="en-US" altLang="zh-CN" sz="16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1600" dirty="0">
                    <a:latin typeface="微软雅黑" panose="020B0503020204020204" pitchFamily="34" charset="-122"/>
                    <a:ea typeface="微软雅黑" panose="020B0503020204020204" pitchFamily="34" charset="-122"/>
                  </a:rPr>
                  <a:t>在输出层的时候，除了用隐藏层 </a:t>
                </a:r>
                <a14:m>
                  <m:oMath xmlns:m="http://schemas.openxmlformats.org/officeDocument/2006/math">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𝑠</m:t>
                        </m:r>
                      </m:e>
                      <m:sub>
                        <m:r>
                          <a:rPr lang="en-US" altLang="zh-CN" sz="1600" b="0" i="1" smtClean="0">
                            <a:latin typeface="Cambria Math" panose="02040503050406030204" pitchFamily="18" charset="0"/>
                            <a:ea typeface="微软雅黑" panose="020B0503020204020204" pitchFamily="34" charset="-122"/>
                          </a:rPr>
                          <m:t>𝑡</m:t>
                        </m:r>
                      </m:sub>
                    </m:sSub>
                  </m:oMath>
                </a14:m>
                <a:r>
                  <a:rPr lang="zh-CN" altLang="en-US" sz="1600" dirty="0">
                    <a:latin typeface="微软雅黑" panose="020B0503020204020204" pitchFamily="34" charset="-122"/>
                    <a:ea typeface="微软雅黑" panose="020B0503020204020204" pitchFamily="34" charset="-122"/>
                  </a:rPr>
                  <a:t>和上一个单词，也用</a:t>
                </a:r>
                <a14:m>
                  <m:oMath xmlns:m="http://schemas.openxmlformats.org/officeDocument/2006/math">
                    <m:r>
                      <a:rPr lang="zh-CN" altLang="en-US" sz="1600" i="1" dirty="0" smtClean="0">
                        <a:latin typeface="Cambria Math" panose="02040503050406030204" pitchFamily="18" charset="0"/>
                        <a:ea typeface="微软雅黑" panose="020B0503020204020204" pitchFamily="34" charset="-122"/>
                      </a:rPr>
                      <m:t> </m:t>
                    </m:r>
                    <m:r>
                      <a:rPr lang="en-US" altLang="zh-CN" sz="1600" i="1" dirty="0">
                        <a:latin typeface="Cambria Math" panose="02040503050406030204" pitchFamily="18" charset="0"/>
                        <a:ea typeface="微软雅黑" panose="020B0503020204020204" pitchFamily="34" charset="-122"/>
                      </a:rPr>
                      <m:t>𝑐</m:t>
                    </m:r>
                    <m:r>
                      <a:rPr lang="en-US" altLang="zh-CN" sz="1600" i="1" dirty="0">
                        <a:latin typeface="Cambria Math" panose="02040503050406030204" pitchFamily="18" charset="0"/>
                        <a:ea typeface="微软雅黑" panose="020B0503020204020204" pitchFamily="34" charset="-122"/>
                      </a:rPr>
                      <m:t> </m:t>
                    </m:r>
                  </m:oMath>
                </a14:m>
                <a:r>
                  <a:rPr lang="zh-CN" altLang="en-US" sz="1600" dirty="0">
                    <a:latin typeface="微软雅黑" panose="020B0503020204020204" pitchFamily="34" charset="-122"/>
                    <a:ea typeface="微软雅黑" panose="020B0503020204020204" pitchFamily="34" charset="-122"/>
                  </a:rPr>
                  <a:t>同时做预测</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34557BA9-6D70-4421-A459-33A0321C5700}"/>
                  </a:ext>
                </a:extLst>
              </p:cNvPr>
              <p:cNvSpPr txBox="1">
                <a:spLocks noRot="1" noChangeAspect="1" noMove="1" noResize="1" noEditPoints="1" noAdjustHandles="1" noChangeArrowheads="1" noChangeShapeType="1" noTextEdit="1"/>
              </p:cNvSpPr>
              <p:nvPr/>
            </p:nvSpPr>
            <p:spPr>
              <a:xfrm>
                <a:off x="359165" y="3097401"/>
                <a:ext cx="8635377" cy="1156855"/>
              </a:xfrm>
              <a:prstGeom prst="rect">
                <a:avLst/>
              </a:prstGeom>
              <a:blipFill>
                <a:blip r:embed="rId4"/>
                <a:stretch>
                  <a:fillRect l="-565" b="-736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3C00480-C8CA-487C-9C9D-39C569655C71}"/>
              </a:ext>
            </a:extLst>
          </p:cNvPr>
          <p:cNvPicPr>
            <a:picLocks noChangeAspect="1"/>
          </p:cNvPicPr>
          <p:nvPr/>
        </p:nvPicPr>
        <p:blipFill>
          <a:blip r:embed="rId5"/>
          <a:stretch>
            <a:fillRect/>
          </a:stretch>
        </p:blipFill>
        <p:spPr>
          <a:xfrm>
            <a:off x="3490937" y="5660094"/>
            <a:ext cx="1933526" cy="715557"/>
          </a:xfrm>
          <a:prstGeom prst="rect">
            <a:avLst/>
          </a:prstGeom>
        </p:spPr>
      </p:pic>
      <p:cxnSp>
        <p:nvCxnSpPr>
          <p:cNvPr id="7" name="直接箭头连接符 6">
            <a:extLst>
              <a:ext uri="{FF2B5EF4-FFF2-40B4-BE49-F238E27FC236}">
                <a16:creationId xmlns:a16="http://schemas.microsoft.com/office/drawing/2014/main" id="{F628C201-3DA6-411B-9FDC-50806F1E6475}"/>
              </a:ext>
            </a:extLst>
          </p:cNvPr>
          <p:cNvCxnSpPr>
            <a:cxnSpLocks/>
            <a:stCxn id="11" idx="2"/>
          </p:cNvCxnSpPr>
          <p:nvPr/>
        </p:nvCxnSpPr>
        <p:spPr>
          <a:xfrm>
            <a:off x="4270826" y="5131212"/>
            <a:ext cx="0" cy="55212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D142AB9-B4D5-43CC-9117-698454191169}"/>
                  </a:ext>
                </a:extLst>
              </p:cNvPr>
              <p:cNvSpPr txBox="1"/>
              <p:nvPr/>
            </p:nvSpPr>
            <p:spPr>
              <a:xfrm>
                <a:off x="2760733" y="4375043"/>
                <a:ext cx="3020186" cy="75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r>
                                <a:rPr lang="en-US" altLang="zh-CN" b="0" i="1" smtClean="0">
                                  <a:latin typeface="Cambria Math" panose="02040503050406030204" pitchFamily="18" charset="0"/>
                                </a:rPr>
                                <m:t>𝜃</m:t>
                              </m:r>
                              <m:r>
                                <a:rPr lang="en-US" altLang="zh-CN" b="0" i="1" smtClean="0">
                                  <a:latin typeface="Cambria Math" panose="02040503050406030204" pitchFamily="18" charset="0"/>
                                </a:rPr>
                                <m:t>,</m:t>
                              </m:r>
                              <m:r>
                                <a:rPr lang="en-US" altLang="zh-CN" b="0" i="1" smtClean="0">
                                  <a:latin typeface="Cambria Math" panose="02040503050406030204" pitchFamily="18" charset="0"/>
                                </a:rPr>
                                <m:t>𝜙</m:t>
                              </m:r>
                            </m:lim>
                          </m:limLow>
                        </m:fName>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&lt;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𝜃</m:t>
                                  </m:r>
                                  <m:r>
                                    <a:rPr lang="en-US" altLang="zh-CN" b="0" i="1" smtClean="0">
                                      <a:latin typeface="Cambria Math" panose="02040503050406030204" pitchFamily="18" charset="0"/>
                                    </a:rPr>
                                    <m:t>,</m:t>
                                  </m:r>
                                  <m:r>
                                    <a:rPr lang="en-US" altLang="zh-CN" b="0" i="1" smtClean="0">
                                      <a:latin typeface="Cambria Math" panose="02040503050406030204" pitchFamily="18" charset="0"/>
                                    </a:rPr>
                                    <m:t>𝜙</m:t>
                                  </m:r>
                                  <m:r>
                                    <a:rPr lang="en-US" altLang="zh-CN" b="0" i="1" smtClean="0">
                                      <a:latin typeface="Cambria Math" panose="02040503050406030204" pitchFamily="18" charset="0"/>
                                    </a:rPr>
                                    <m:t>)</m:t>
                                  </m:r>
                                </m:e>
                              </m:func>
                            </m:e>
                          </m:nary>
                        </m:e>
                      </m:func>
                    </m:oMath>
                  </m:oMathPara>
                </a14:m>
                <a:endParaRPr lang="zh-CN" altLang="en-US" dirty="0"/>
              </a:p>
            </p:txBody>
          </p:sp>
        </mc:Choice>
        <mc:Fallback xmlns="">
          <p:sp>
            <p:nvSpPr>
              <p:cNvPr id="11" name="文本框 10">
                <a:extLst>
                  <a:ext uri="{FF2B5EF4-FFF2-40B4-BE49-F238E27FC236}">
                    <a16:creationId xmlns:a16="http://schemas.microsoft.com/office/drawing/2014/main" id="{2D142AB9-B4D5-43CC-9117-698454191169}"/>
                  </a:ext>
                </a:extLst>
              </p:cNvPr>
              <p:cNvSpPr txBox="1">
                <a:spLocks noRot="1" noChangeAspect="1" noMove="1" noResize="1" noEditPoints="1" noAdjustHandles="1" noChangeArrowheads="1" noChangeShapeType="1" noTextEdit="1"/>
              </p:cNvSpPr>
              <p:nvPr/>
            </p:nvSpPr>
            <p:spPr>
              <a:xfrm>
                <a:off x="2760733" y="4375043"/>
                <a:ext cx="3020186" cy="756169"/>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9200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0A03B2-BE82-AA65-9E16-AC56E92606F0}"/>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F7171686-ACC2-0762-152D-B5F5E47E8438}"/>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4A24AEFC-C4A3-F6CC-2190-10B28078E2A5}"/>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34F987C-6DD2-2E3D-C86D-790FEBD80A04}"/>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96137B79-A38B-09A2-F802-4240D8C9ACA5}"/>
              </a:ext>
            </a:extLst>
          </p:cNvPr>
          <p:cNvSpPr txBox="1"/>
          <p:nvPr/>
        </p:nvSpPr>
        <p:spPr>
          <a:xfrm>
            <a:off x="64849" y="789764"/>
            <a:ext cx="787625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RNN</a:t>
            </a:r>
            <a:r>
              <a:rPr kumimoji="1" lang="zh-CN" altLang="en-US" dirty="0">
                <a:latin typeface="Microsoft YaHei" panose="020B0503020204020204" pitchFamily="34" charset="-122"/>
                <a:ea typeface="Microsoft YaHei" panose="020B0503020204020204" pitchFamily="34" charset="-122"/>
              </a:rPr>
              <a:t>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BB7CD60D-6E1D-1639-7403-FF3EA635F3B9}"/>
              </a:ext>
            </a:extLst>
          </p:cNvPr>
          <p:cNvPicPr>
            <a:picLocks noChangeAspect="1"/>
          </p:cNvPicPr>
          <p:nvPr/>
        </p:nvPicPr>
        <p:blipFill>
          <a:blip r:embed="rId3"/>
          <a:stretch>
            <a:fillRect/>
          </a:stretch>
        </p:blipFill>
        <p:spPr>
          <a:xfrm>
            <a:off x="1605100" y="1231193"/>
            <a:ext cx="4211250" cy="1645483"/>
          </a:xfrm>
          <a:prstGeom prst="rect">
            <a:avLst/>
          </a:prstGeom>
        </p:spPr>
      </p:pic>
      <p:pic>
        <p:nvPicPr>
          <p:cNvPr id="3" name="图片 2">
            <a:extLst>
              <a:ext uri="{FF2B5EF4-FFF2-40B4-BE49-F238E27FC236}">
                <a16:creationId xmlns:a16="http://schemas.microsoft.com/office/drawing/2014/main" id="{EB0FDEE1-3581-4860-9631-A760EF672991}"/>
              </a:ext>
            </a:extLst>
          </p:cNvPr>
          <p:cNvPicPr>
            <a:picLocks noChangeAspect="1"/>
          </p:cNvPicPr>
          <p:nvPr/>
        </p:nvPicPr>
        <p:blipFill>
          <a:blip r:embed="rId4"/>
          <a:stretch>
            <a:fillRect/>
          </a:stretch>
        </p:blipFill>
        <p:spPr>
          <a:xfrm>
            <a:off x="1193258" y="3020109"/>
            <a:ext cx="5404141" cy="3534724"/>
          </a:xfrm>
          <a:prstGeom prst="rect">
            <a:avLst/>
          </a:prstGeom>
        </p:spPr>
      </p:pic>
      <p:sp>
        <p:nvSpPr>
          <p:cNvPr id="10" name="圆角矩形 9">
            <a:extLst>
              <a:ext uri="{FF2B5EF4-FFF2-40B4-BE49-F238E27FC236}">
                <a16:creationId xmlns:a16="http://schemas.microsoft.com/office/drawing/2014/main" id="{A1A54C84-2EFE-F737-2099-C20732A0311F}"/>
              </a:ext>
            </a:extLst>
          </p:cNvPr>
          <p:cNvSpPr/>
          <p:nvPr/>
        </p:nvSpPr>
        <p:spPr>
          <a:xfrm>
            <a:off x="1997412" y="3325239"/>
            <a:ext cx="1050587" cy="157264"/>
          </a:xfrm>
          <a:prstGeom prst="roundRect">
            <a:avLst/>
          </a:prstGeom>
          <a:no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曲线连接符 11">
            <a:extLst>
              <a:ext uri="{FF2B5EF4-FFF2-40B4-BE49-F238E27FC236}">
                <a16:creationId xmlns:a16="http://schemas.microsoft.com/office/drawing/2014/main" id="{6B88451A-6322-7DE4-E711-FD2B04FC45C7}"/>
              </a:ext>
            </a:extLst>
          </p:cNvPr>
          <p:cNvCxnSpPr>
            <a:stCxn id="10" idx="1"/>
          </p:cNvCxnSpPr>
          <p:nvPr/>
        </p:nvCxnSpPr>
        <p:spPr>
          <a:xfrm rot="10800000" flipH="1">
            <a:off x="1997412" y="2769141"/>
            <a:ext cx="84306" cy="634730"/>
          </a:xfrm>
          <a:prstGeom prst="curvedConnector4">
            <a:avLst>
              <a:gd name="adj1" fmla="val -271155"/>
              <a:gd name="adj2" fmla="val 56194"/>
            </a:avLst>
          </a:prstGeom>
          <a:ln w="19050">
            <a:solidFill>
              <a:srgbClr val="00518E"/>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a:extLst>
              <a:ext uri="{FF2B5EF4-FFF2-40B4-BE49-F238E27FC236}">
                <a16:creationId xmlns:a16="http://schemas.microsoft.com/office/drawing/2014/main" id="{8EA1F58A-B095-FD27-05C1-73E6418C2887}"/>
              </a:ext>
            </a:extLst>
          </p:cNvPr>
          <p:cNvCxnSpPr>
            <a:cxnSpLocks/>
            <a:stCxn id="14" idx="3"/>
          </p:cNvCxnSpPr>
          <p:nvPr/>
        </p:nvCxnSpPr>
        <p:spPr>
          <a:xfrm flipV="1">
            <a:off x="3116091" y="1459149"/>
            <a:ext cx="500879" cy="2134008"/>
          </a:xfrm>
          <a:prstGeom prst="curvedConnector2">
            <a:avLst/>
          </a:prstGeom>
          <a:ln w="19050">
            <a:solidFill>
              <a:srgbClr val="00518E"/>
            </a:solidFill>
            <a:tailEnd type="triangle"/>
          </a:ln>
        </p:spPr>
        <p:style>
          <a:lnRef idx="1">
            <a:schemeClr val="accent1"/>
          </a:lnRef>
          <a:fillRef idx="0">
            <a:schemeClr val="accent1"/>
          </a:fillRef>
          <a:effectRef idx="0">
            <a:schemeClr val="accent1"/>
          </a:effectRef>
          <a:fontRef idx="minor">
            <a:schemeClr val="tx1"/>
          </a:fontRef>
        </p:style>
      </p:cxnSp>
      <p:sp>
        <p:nvSpPr>
          <p:cNvPr id="14" name="圆角矩形 13">
            <a:extLst>
              <a:ext uri="{FF2B5EF4-FFF2-40B4-BE49-F238E27FC236}">
                <a16:creationId xmlns:a16="http://schemas.microsoft.com/office/drawing/2014/main" id="{89653FA9-39F4-61FE-7EB9-9434EB4DF1AF}"/>
              </a:ext>
            </a:extLst>
          </p:cNvPr>
          <p:cNvSpPr/>
          <p:nvPr/>
        </p:nvSpPr>
        <p:spPr>
          <a:xfrm>
            <a:off x="2065504" y="3514525"/>
            <a:ext cx="1050587" cy="157264"/>
          </a:xfrm>
          <a:prstGeom prst="roundRect">
            <a:avLst/>
          </a:prstGeom>
          <a:no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圆角矩形 16">
            <a:extLst>
              <a:ext uri="{FF2B5EF4-FFF2-40B4-BE49-F238E27FC236}">
                <a16:creationId xmlns:a16="http://schemas.microsoft.com/office/drawing/2014/main" id="{CB5EDCF9-0517-B10D-5DF2-0A079781F75A}"/>
              </a:ext>
            </a:extLst>
          </p:cNvPr>
          <p:cNvSpPr/>
          <p:nvPr/>
        </p:nvSpPr>
        <p:spPr>
          <a:xfrm>
            <a:off x="1556424" y="4087573"/>
            <a:ext cx="2060546" cy="374180"/>
          </a:xfrm>
          <a:prstGeom prst="roundRect">
            <a:avLst/>
          </a:prstGeom>
          <a:no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8" name="曲线连接符 17">
            <a:extLst>
              <a:ext uri="{FF2B5EF4-FFF2-40B4-BE49-F238E27FC236}">
                <a16:creationId xmlns:a16="http://schemas.microsoft.com/office/drawing/2014/main" id="{E40F918F-6EE8-5363-E116-5B99DA576568}"/>
              </a:ext>
            </a:extLst>
          </p:cNvPr>
          <p:cNvCxnSpPr>
            <a:cxnSpLocks/>
            <a:stCxn id="17" idx="3"/>
          </p:cNvCxnSpPr>
          <p:nvPr/>
        </p:nvCxnSpPr>
        <p:spPr>
          <a:xfrm flipV="1">
            <a:off x="3616970" y="2334638"/>
            <a:ext cx="1680369" cy="1940025"/>
          </a:xfrm>
          <a:prstGeom prst="curvedConnector2">
            <a:avLst/>
          </a:prstGeom>
          <a:ln w="19050">
            <a:solidFill>
              <a:srgbClr val="00518E"/>
            </a:solidFill>
            <a:tailEnd type="triangle"/>
          </a:ln>
        </p:spPr>
        <p:style>
          <a:lnRef idx="1">
            <a:schemeClr val="accent1"/>
          </a:lnRef>
          <a:fillRef idx="0">
            <a:schemeClr val="accent1"/>
          </a:fillRef>
          <a:effectRef idx="0">
            <a:schemeClr val="accent1"/>
          </a:effectRef>
          <a:fontRef idx="minor">
            <a:schemeClr val="tx1"/>
          </a:fontRef>
        </p:style>
      </p:cxnSp>
      <p:sp>
        <p:nvSpPr>
          <p:cNvPr id="22" name="圆角矩形 21">
            <a:extLst>
              <a:ext uri="{FF2B5EF4-FFF2-40B4-BE49-F238E27FC236}">
                <a16:creationId xmlns:a16="http://schemas.microsoft.com/office/drawing/2014/main" id="{E927EE75-5330-59BD-D6F2-D35717F67D78}"/>
              </a:ext>
            </a:extLst>
          </p:cNvPr>
          <p:cNvSpPr/>
          <p:nvPr/>
        </p:nvSpPr>
        <p:spPr>
          <a:xfrm>
            <a:off x="2496039" y="5661498"/>
            <a:ext cx="1680369" cy="214009"/>
          </a:xfrm>
          <a:prstGeom prst="roundRect">
            <a:avLst/>
          </a:prstGeom>
          <a:no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3" name="曲线连接符 22">
            <a:extLst>
              <a:ext uri="{FF2B5EF4-FFF2-40B4-BE49-F238E27FC236}">
                <a16:creationId xmlns:a16="http://schemas.microsoft.com/office/drawing/2014/main" id="{280EBB5B-FC69-52DD-4419-354D7CE5898C}"/>
              </a:ext>
            </a:extLst>
          </p:cNvPr>
          <p:cNvCxnSpPr>
            <a:cxnSpLocks/>
            <a:stCxn id="22" idx="3"/>
          </p:cNvCxnSpPr>
          <p:nvPr/>
        </p:nvCxnSpPr>
        <p:spPr>
          <a:xfrm flipV="1">
            <a:off x="4176408" y="1945532"/>
            <a:ext cx="862516" cy="3822971"/>
          </a:xfrm>
          <a:prstGeom prst="curvedConnector2">
            <a:avLst/>
          </a:prstGeom>
          <a:ln w="19050">
            <a:solidFill>
              <a:srgbClr val="00518E"/>
            </a:solidFill>
            <a:tailEnd type="triangle"/>
          </a:ln>
        </p:spPr>
        <p:style>
          <a:lnRef idx="1">
            <a:schemeClr val="accent1"/>
          </a:lnRef>
          <a:fillRef idx="0">
            <a:schemeClr val="accent1"/>
          </a:fillRef>
          <a:effectRef idx="0">
            <a:schemeClr val="accent1"/>
          </a:effectRef>
          <a:fontRef idx="minor">
            <a:schemeClr val="tx1"/>
          </a:fontRef>
        </p:style>
      </p:cxnSp>
      <p:sp>
        <p:nvSpPr>
          <p:cNvPr id="28" name="右大括号 27">
            <a:extLst>
              <a:ext uri="{FF2B5EF4-FFF2-40B4-BE49-F238E27FC236}">
                <a16:creationId xmlns:a16="http://schemas.microsoft.com/office/drawing/2014/main" id="{2B650656-AABE-D4F2-E84E-C28AE61EC572}"/>
              </a:ext>
            </a:extLst>
          </p:cNvPr>
          <p:cNvSpPr/>
          <p:nvPr/>
        </p:nvSpPr>
        <p:spPr>
          <a:xfrm>
            <a:off x="6478621" y="3832698"/>
            <a:ext cx="233464" cy="2516221"/>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CAA30FE8-4A0E-B62F-0EFE-35707DF8CD75}"/>
              </a:ext>
            </a:extLst>
          </p:cNvPr>
          <p:cNvSpPr txBox="1"/>
          <p:nvPr/>
        </p:nvSpPr>
        <p:spPr>
          <a:xfrm>
            <a:off x="6665491" y="2956489"/>
            <a:ext cx="2518638" cy="523220"/>
          </a:xfrm>
          <a:prstGeom prst="rect">
            <a:avLst/>
          </a:prstGeom>
          <a:noFill/>
        </p:spPr>
        <p:txBody>
          <a:bodyPr wrap="none" rtlCol="0">
            <a:spAutoFit/>
          </a:bodyPr>
          <a:lstStyle/>
          <a:p>
            <a:r>
              <a:rPr kumimoji="1" lang="zh-CN" altLang="en-US" sz="1400" dirty="0">
                <a:latin typeface="Microsoft YaHei" panose="020B0503020204020204" pitchFamily="34" charset="-122"/>
                <a:ea typeface="Microsoft YaHei" panose="020B0503020204020204" pitchFamily="34" charset="-122"/>
              </a:rPr>
              <a:t>建模长序列时丢掉一定的信息</a:t>
            </a:r>
            <a:endParaRPr kumimoji="1" lang="en-US" altLang="zh-CN" sz="1400" dirty="0">
              <a:latin typeface="Microsoft YaHei" panose="020B0503020204020204" pitchFamily="34" charset="-122"/>
              <a:ea typeface="Microsoft YaHei" panose="020B0503020204020204" pitchFamily="34" charset="-122"/>
            </a:endParaRPr>
          </a:p>
          <a:p>
            <a:pPr marL="285750" indent="-285750">
              <a:buFont typeface="Wingdings" pitchFamily="2" charset="2"/>
              <a:buChar char="Ø"/>
            </a:pPr>
            <a:r>
              <a:rPr kumimoji="1" lang="zh-CN" altLang="en-US" sz="1400" i="1" dirty="0">
                <a:latin typeface="Microsoft YaHei" panose="020B0503020204020204" pitchFamily="34" charset="-122"/>
                <a:ea typeface="Microsoft YaHei" panose="020B0503020204020204" pitchFamily="34" charset="-122"/>
              </a:rPr>
              <a:t>梯度消失</a:t>
            </a:r>
            <a:r>
              <a:rPr kumimoji="1" lang="en-US" altLang="zh-CN" sz="1400" i="1" dirty="0">
                <a:latin typeface="Microsoft YaHei" panose="020B0503020204020204" pitchFamily="34" charset="-122"/>
                <a:ea typeface="Microsoft YaHei" panose="020B0503020204020204" pitchFamily="34" charset="-122"/>
              </a:rPr>
              <a:t>/</a:t>
            </a:r>
            <a:r>
              <a:rPr kumimoji="1" lang="zh-CN" altLang="en-US" sz="1400" i="1" dirty="0">
                <a:latin typeface="Microsoft YaHei" panose="020B0503020204020204" pitchFamily="34" charset="-122"/>
                <a:ea typeface="Microsoft YaHei" panose="020B0503020204020204" pitchFamily="34" charset="-122"/>
              </a:rPr>
              <a:t>梯度爆炸</a:t>
            </a:r>
          </a:p>
        </p:txBody>
      </p:sp>
      <p:pic>
        <p:nvPicPr>
          <p:cNvPr id="4" name="图片 3">
            <a:extLst>
              <a:ext uri="{FF2B5EF4-FFF2-40B4-BE49-F238E27FC236}">
                <a16:creationId xmlns:a16="http://schemas.microsoft.com/office/drawing/2014/main" id="{03F80BFC-0DFB-41FF-A227-38F521A7EB65}"/>
              </a:ext>
            </a:extLst>
          </p:cNvPr>
          <p:cNvPicPr>
            <a:picLocks noChangeAspect="1"/>
          </p:cNvPicPr>
          <p:nvPr/>
        </p:nvPicPr>
        <p:blipFill rotWithShape="1">
          <a:blip r:embed="rId5"/>
          <a:srcRect r="47611"/>
          <a:stretch/>
        </p:blipFill>
        <p:spPr>
          <a:xfrm>
            <a:off x="7039687" y="3429000"/>
            <a:ext cx="1515743" cy="1544494"/>
          </a:xfrm>
          <a:prstGeom prst="rect">
            <a:avLst/>
          </a:prstGeom>
        </p:spPr>
      </p:pic>
      <p:pic>
        <p:nvPicPr>
          <p:cNvPr id="19" name="图片 18">
            <a:extLst>
              <a:ext uri="{FF2B5EF4-FFF2-40B4-BE49-F238E27FC236}">
                <a16:creationId xmlns:a16="http://schemas.microsoft.com/office/drawing/2014/main" id="{5C037C61-BAA9-42B9-B1B4-0D22B22156DF}"/>
              </a:ext>
            </a:extLst>
          </p:cNvPr>
          <p:cNvPicPr>
            <a:picLocks noChangeAspect="1"/>
          </p:cNvPicPr>
          <p:nvPr/>
        </p:nvPicPr>
        <p:blipFill rotWithShape="1">
          <a:blip r:embed="rId5"/>
          <a:srcRect l="51382" t="-1134" r="1242" b="1134"/>
          <a:stretch/>
        </p:blipFill>
        <p:spPr>
          <a:xfrm>
            <a:off x="7263319" y="5071740"/>
            <a:ext cx="1409192" cy="1587846"/>
          </a:xfrm>
          <a:prstGeom prst="rect">
            <a:avLst/>
          </a:prstGeom>
        </p:spPr>
      </p:pic>
    </p:spTree>
    <p:extLst>
      <p:ext uri="{BB962C8B-B14F-4D97-AF65-F5344CB8AC3E}">
        <p14:creationId xmlns:p14="http://schemas.microsoft.com/office/powerpoint/2010/main" val="337552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3FF35-C2CA-6E29-01D5-208379322CB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09D58823-F9E8-C647-05C0-07418CB4447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8D08F6-0A7C-4E2C-25F8-D3A90F69ACE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457B24C-D7BF-90EE-33CD-78E4A659BB39}"/>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CC17D0A0-C1F5-C24C-CB6A-62FE3C77EC95}"/>
              </a:ext>
            </a:extLst>
          </p:cNvPr>
          <p:cNvSpPr txBox="1"/>
          <p:nvPr/>
        </p:nvSpPr>
        <p:spPr>
          <a:xfrm>
            <a:off x="64849" y="789764"/>
            <a:ext cx="6583854"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注意力机制的诞生</a:t>
            </a:r>
          </a:p>
        </p:txBody>
      </p:sp>
      <p:pic>
        <p:nvPicPr>
          <p:cNvPr id="4" name="图片 3">
            <a:extLst>
              <a:ext uri="{FF2B5EF4-FFF2-40B4-BE49-F238E27FC236}">
                <a16:creationId xmlns:a16="http://schemas.microsoft.com/office/drawing/2014/main" id="{619C43A2-8B32-89CD-1B2F-6863773760A8}"/>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352173" y="1975671"/>
            <a:ext cx="3131190" cy="1720319"/>
          </a:xfrm>
          <a:prstGeom prst="rect">
            <a:avLst/>
          </a:prstGeom>
        </p:spPr>
      </p:pic>
      <p:sp>
        <p:nvSpPr>
          <p:cNvPr id="5" name="文本框 4">
            <a:extLst>
              <a:ext uri="{FF2B5EF4-FFF2-40B4-BE49-F238E27FC236}">
                <a16:creationId xmlns:a16="http://schemas.microsoft.com/office/drawing/2014/main" id="{64FAE70F-DBA6-95D7-14F2-2E2A15AC073E}"/>
              </a:ext>
            </a:extLst>
          </p:cNvPr>
          <p:cNvSpPr txBox="1"/>
          <p:nvPr/>
        </p:nvSpPr>
        <p:spPr>
          <a:xfrm>
            <a:off x="145510" y="1302529"/>
            <a:ext cx="3544516" cy="523220"/>
          </a:xfrm>
          <a:prstGeom prst="rect">
            <a:avLst/>
          </a:prstGeom>
          <a:noFill/>
        </p:spPr>
        <p:txBody>
          <a:bodyPr wrap="square" rtlCol="0">
            <a:spAutoFit/>
          </a:bodyPr>
          <a:lstStyle/>
          <a:p>
            <a:pPr marL="285750" indent="-285750">
              <a:buFont typeface="Wingdings" pitchFamily="2" charset="2"/>
              <a:buChar char="Ø"/>
            </a:pPr>
            <a:r>
              <a:rPr kumimoji="1" lang="zh-CN" altLang="en-US" sz="1400" i="1" dirty="0">
                <a:latin typeface="Microsoft YaHei" panose="020B0503020204020204" pitchFamily="34" charset="-122"/>
                <a:ea typeface="Microsoft YaHei" panose="020B0503020204020204" pitchFamily="34" charset="-122"/>
              </a:rPr>
              <a:t>在</a:t>
            </a:r>
            <a:r>
              <a:rPr kumimoji="1" lang="en-US" altLang="zh-CN" sz="1400" i="1" dirty="0">
                <a:latin typeface="Microsoft YaHei" panose="020B0503020204020204" pitchFamily="34" charset="-122"/>
                <a:ea typeface="Microsoft YaHei" panose="020B0503020204020204" pitchFamily="34" charset="-122"/>
              </a:rPr>
              <a:t>RNN-Decoder</a:t>
            </a:r>
            <a:r>
              <a:rPr kumimoji="1" lang="zh-CN" altLang="en-US" sz="1400" i="1" dirty="0">
                <a:latin typeface="Microsoft YaHei" panose="020B0503020204020204" pitchFamily="34" charset="-122"/>
                <a:ea typeface="Microsoft YaHei" panose="020B0503020204020204" pitchFamily="34" charset="-122"/>
              </a:rPr>
              <a:t>部分加入</a:t>
            </a:r>
            <a:r>
              <a:rPr kumimoji="1" lang="en-US" altLang="zh-CN" sz="1400" i="1" dirty="0">
                <a:latin typeface="Microsoft YaHei" panose="020B0503020204020204" pitchFamily="34" charset="-122"/>
                <a:ea typeface="Microsoft YaHei" panose="020B0503020204020204" pitchFamily="34" charset="-122"/>
              </a:rPr>
              <a:t>attention </a:t>
            </a:r>
            <a:r>
              <a:rPr kumimoji="1" lang="zh-CN" altLang="en-US" sz="1400" i="1" dirty="0">
                <a:latin typeface="Microsoft YaHei" panose="020B0503020204020204" pitchFamily="34" charset="-122"/>
                <a:ea typeface="Microsoft YaHei" panose="020B0503020204020204" pitchFamily="34" charset="-122"/>
              </a:rPr>
              <a:t>机制</a:t>
            </a:r>
          </a:p>
        </p:txBody>
      </p:sp>
      <p:pic>
        <p:nvPicPr>
          <p:cNvPr id="6" name="图片 5">
            <a:extLst>
              <a:ext uri="{FF2B5EF4-FFF2-40B4-BE49-F238E27FC236}">
                <a16:creationId xmlns:a16="http://schemas.microsoft.com/office/drawing/2014/main" id="{A9D84C81-0C99-7CD9-4AFD-986F168F3AAA}"/>
              </a:ext>
            </a:extLst>
          </p:cNvPr>
          <p:cNvPicPr>
            <a:picLocks noChangeAspect="1"/>
          </p:cNvPicPr>
          <p:nvPr/>
        </p:nvPicPr>
        <p:blipFill>
          <a:blip r:embed="rId4">
            <a:clrChange>
              <a:clrFrom>
                <a:srgbClr val="F9F9F9"/>
              </a:clrFrom>
              <a:clrTo>
                <a:srgbClr val="F9F9F9">
                  <a:alpha val="0"/>
                </a:srgbClr>
              </a:clrTo>
            </a:clrChange>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3816605" y="1269315"/>
            <a:ext cx="5272343" cy="4869563"/>
          </a:xfrm>
          <a:prstGeom prst="rect">
            <a:avLst/>
          </a:prstGeom>
        </p:spPr>
      </p:pic>
      <p:sp>
        <p:nvSpPr>
          <p:cNvPr id="7" name="圆角矩形 6">
            <a:extLst>
              <a:ext uri="{FF2B5EF4-FFF2-40B4-BE49-F238E27FC236}">
                <a16:creationId xmlns:a16="http://schemas.microsoft.com/office/drawing/2014/main" id="{6A305155-7B5A-0C33-CFA9-1F471A4ACBC7}"/>
              </a:ext>
            </a:extLst>
          </p:cNvPr>
          <p:cNvSpPr/>
          <p:nvPr/>
        </p:nvSpPr>
        <p:spPr>
          <a:xfrm>
            <a:off x="3975371" y="3638145"/>
            <a:ext cx="3612204" cy="1258110"/>
          </a:xfrm>
          <a:prstGeom prst="roundRect">
            <a:avLst/>
          </a:prstGeom>
          <a:no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肘形连接符 8">
            <a:extLst>
              <a:ext uri="{FF2B5EF4-FFF2-40B4-BE49-F238E27FC236}">
                <a16:creationId xmlns:a16="http://schemas.microsoft.com/office/drawing/2014/main" id="{D5651135-39D2-1E8B-DC8B-0BD19ABD36F7}"/>
              </a:ext>
            </a:extLst>
          </p:cNvPr>
          <p:cNvCxnSpPr>
            <a:endCxn id="4" idx="2"/>
          </p:cNvCxnSpPr>
          <p:nvPr/>
        </p:nvCxnSpPr>
        <p:spPr>
          <a:xfrm rot="10800000">
            <a:off x="1917769" y="3695991"/>
            <a:ext cx="2038147" cy="564725"/>
          </a:xfrm>
          <a:prstGeom prst="bentConnector2">
            <a:avLst/>
          </a:prstGeom>
          <a:ln w="19050">
            <a:solidFill>
              <a:srgbClr val="00518E"/>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EE751A89-F86D-933A-20A5-7A93E0676819}"/>
              </a:ext>
            </a:extLst>
          </p:cNvPr>
          <p:cNvPicPr>
            <a:picLocks noChangeAspect="1"/>
          </p:cNvPicPr>
          <p:nvPr/>
        </p:nvPicPr>
        <p:blipFill>
          <a:blip r:embed="rId6">
            <a:clrChange>
              <a:clrFrom>
                <a:srgbClr val="F9F9F9"/>
              </a:clrFrom>
              <a:clrTo>
                <a:srgbClr val="F9F9F9">
                  <a:alpha val="0"/>
                </a:srgbClr>
              </a:clrTo>
            </a:clrChange>
          </a:blip>
          <a:stretch>
            <a:fillRect/>
          </a:stretch>
        </p:blipFill>
        <p:spPr>
          <a:xfrm>
            <a:off x="55052" y="4297359"/>
            <a:ext cx="3785250" cy="1865610"/>
          </a:xfrm>
          <a:prstGeom prst="rect">
            <a:avLst/>
          </a:prstGeom>
        </p:spPr>
      </p:pic>
    </p:spTree>
    <p:extLst>
      <p:ext uri="{BB962C8B-B14F-4D97-AF65-F5344CB8AC3E}">
        <p14:creationId xmlns:p14="http://schemas.microsoft.com/office/powerpoint/2010/main" val="3742862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3FF35-C2CA-6E29-01D5-208379322CB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09D58823-F9E8-C647-05C0-07418CB4447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8D08F6-0A7C-4E2C-25F8-D3A90F69ACE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457B24C-D7BF-90EE-33CD-78E4A659BB39}"/>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CC17D0A0-C1F5-C24C-CB6A-62FE3C77EC95}"/>
              </a:ext>
            </a:extLst>
          </p:cNvPr>
          <p:cNvSpPr txBox="1"/>
          <p:nvPr/>
        </p:nvSpPr>
        <p:spPr>
          <a:xfrm>
            <a:off x="64849" y="789764"/>
            <a:ext cx="843852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CNN</a:t>
            </a:r>
            <a:r>
              <a:rPr kumimoji="1" lang="zh-CN" altLang="en-US" dirty="0">
                <a:latin typeface="Microsoft YaHei" panose="020B0503020204020204" pitchFamily="34" charset="-122"/>
                <a:ea typeface="Microsoft YaHei" panose="020B0503020204020204" pitchFamily="34" charset="-122"/>
              </a:rPr>
              <a:t>建模的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E711006A-7A87-4D36-B654-6BF84A15E5AA}"/>
              </a:ext>
            </a:extLst>
          </p:cNvPr>
          <p:cNvPicPr>
            <a:picLocks noChangeAspect="1"/>
          </p:cNvPicPr>
          <p:nvPr/>
        </p:nvPicPr>
        <p:blipFill rotWithShape="1">
          <a:blip r:embed="rId3"/>
          <a:srcRect l="4629"/>
          <a:stretch/>
        </p:blipFill>
        <p:spPr>
          <a:xfrm>
            <a:off x="1371600" y="1622207"/>
            <a:ext cx="5882658" cy="1762343"/>
          </a:xfrm>
          <a:prstGeom prst="rect">
            <a:avLst/>
          </a:prstGeom>
        </p:spPr>
      </p:pic>
      <p:pic>
        <p:nvPicPr>
          <p:cNvPr id="8" name="图片 7">
            <a:extLst>
              <a:ext uri="{FF2B5EF4-FFF2-40B4-BE49-F238E27FC236}">
                <a16:creationId xmlns:a16="http://schemas.microsoft.com/office/drawing/2014/main" id="{BB67FD84-8752-4A0B-8E3B-58A6F0B66C46}"/>
              </a:ext>
            </a:extLst>
          </p:cNvPr>
          <p:cNvPicPr>
            <a:picLocks noChangeAspect="1"/>
          </p:cNvPicPr>
          <p:nvPr/>
        </p:nvPicPr>
        <p:blipFill rotWithShape="1">
          <a:blip r:embed="rId4"/>
          <a:srcRect l="1928" t="2820" b="2779"/>
          <a:stretch/>
        </p:blipFill>
        <p:spPr>
          <a:xfrm>
            <a:off x="1371600" y="3552853"/>
            <a:ext cx="6136885" cy="2292350"/>
          </a:xfrm>
          <a:prstGeom prst="rect">
            <a:avLst/>
          </a:prstGeom>
        </p:spPr>
      </p:pic>
      <p:sp>
        <p:nvSpPr>
          <p:cNvPr id="11" name="文本框 10">
            <a:extLst>
              <a:ext uri="{FF2B5EF4-FFF2-40B4-BE49-F238E27FC236}">
                <a16:creationId xmlns:a16="http://schemas.microsoft.com/office/drawing/2014/main" id="{5D4F09F9-EB47-4796-BCB4-099F95A67100}"/>
              </a:ext>
            </a:extLst>
          </p:cNvPr>
          <p:cNvSpPr txBox="1"/>
          <p:nvPr/>
        </p:nvSpPr>
        <p:spPr>
          <a:xfrm>
            <a:off x="184150" y="1257689"/>
            <a:ext cx="1782860" cy="307777"/>
          </a:xfrm>
          <a:prstGeom prst="rect">
            <a:avLst/>
          </a:prstGeom>
          <a:noFill/>
        </p:spPr>
        <p:txBody>
          <a:bodyPr wrap="none" rtlCol="0">
            <a:spAutoFit/>
          </a:bodyPr>
          <a:lstStyle/>
          <a:p>
            <a:pPr marL="285750"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CNN</a:t>
            </a:r>
            <a:r>
              <a:rPr lang="zh-CN" altLang="en-US" sz="1400" dirty="0">
                <a:latin typeface="微软雅黑" panose="020B0503020204020204" pitchFamily="34" charset="-122"/>
                <a:ea typeface="微软雅黑" panose="020B0503020204020204" pitchFamily="34" charset="-122"/>
              </a:rPr>
              <a:t>传统架构：</a:t>
            </a:r>
          </a:p>
        </p:txBody>
      </p:sp>
      <p:sp>
        <p:nvSpPr>
          <p:cNvPr id="4" name="矩形: 圆角 3">
            <a:extLst>
              <a:ext uri="{FF2B5EF4-FFF2-40B4-BE49-F238E27FC236}">
                <a16:creationId xmlns:a16="http://schemas.microsoft.com/office/drawing/2014/main" id="{901485FA-A6EC-40DE-A59E-D217946172D2}"/>
              </a:ext>
            </a:extLst>
          </p:cNvPr>
          <p:cNvSpPr/>
          <p:nvPr/>
        </p:nvSpPr>
        <p:spPr>
          <a:xfrm>
            <a:off x="3314700" y="3765550"/>
            <a:ext cx="920750" cy="260569"/>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A37DFDA-7B77-4AD4-B95C-412744EE9D79}"/>
                  </a:ext>
                </a:extLst>
              </p:cNvPr>
              <p:cNvSpPr txBox="1"/>
              <p:nvPr/>
            </p:nvSpPr>
            <p:spPr>
              <a:xfrm>
                <a:off x="3053339" y="3460807"/>
                <a:ext cx="72173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计算</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h</m:t>
                        </m:r>
                      </m:e>
                      <m:sub>
                        <m:r>
                          <a:rPr lang="en-US" altLang="zh-CN" sz="1400" b="0" i="1" smtClean="0">
                            <a:latin typeface="Cambria Math" panose="02040503050406030204" pitchFamily="18" charset="0"/>
                          </a:rPr>
                          <m:t>1</m:t>
                        </m:r>
                      </m:sub>
                    </m:sSub>
                  </m:oMath>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7A37DFDA-7B77-4AD4-B95C-412744EE9D79}"/>
                  </a:ext>
                </a:extLst>
              </p:cNvPr>
              <p:cNvSpPr txBox="1">
                <a:spLocks noRot="1" noChangeAspect="1" noMove="1" noResize="1" noEditPoints="1" noAdjustHandles="1" noChangeArrowheads="1" noChangeShapeType="1" noTextEdit="1"/>
              </p:cNvSpPr>
              <p:nvPr/>
            </p:nvSpPr>
            <p:spPr>
              <a:xfrm>
                <a:off x="3053339" y="3460807"/>
                <a:ext cx="721736" cy="307777"/>
              </a:xfrm>
              <a:prstGeom prst="rect">
                <a:avLst/>
              </a:prstGeom>
              <a:blipFill>
                <a:blip r:embed="rId5"/>
                <a:stretch>
                  <a:fillRect l="-2542" t="-4000" b="-20000"/>
                </a:stretch>
              </a:blipFill>
            </p:spPr>
            <p:txBody>
              <a:bodyPr/>
              <a:lstStyle/>
              <a:p>
                <a:r>
                  <a:rPr lang="zh-CN" altLang="en-US">
                    <a:noFill/>
                  </a:rPr>
                  <a:t> </a:t>
                </a:r>
              </a:p>
            </p:txBody>
          </p:sp>
        </mc:Fallback>
      </mc:AlternateContent>
      <p:sp>
        <p:nvSpPr>
          <p:cNvPr id="12" name="矩形: 圆角 11">
            <a:extLst>
              <a:ext uri="{FF2B5EF4-FFF2-40B4-BE49-F238E27FC236}">
                <a16:creationId xmlns:a16="http://schemas.microsoft.com/office/drawing/2014/main" id="{8E87DE41-0A7C-4D16-847C-95915888828D}"/>
              </a:ext>
            </a:extLst>
          </p:cNvPr>
          <p:cNvSpPr/>
          <p:nvPr/>
        </p:nvSpPr>
        <p:spPr>
          <a:xfrm>
            <a:off x="3314700" y="3981281"/>
            <a:ext cx="920750" cy="213141"/>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6FAB46A-6DD6-4023-96FF-3755FB708E51}"/>
                  </a:ext>
                </a:extLst>
              </p:cNvPr>
              <p:cNvSpPr txBox="1"/>
              <p:nvPr/>
            </p:nvSpPr>
            <p:spPr>
              <a:xfrm>
                <a:off x="2692471" y="3827392"/>
                <a:ext cx="72173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计算</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h</m:t>
                        </m:r>
                      </m:e>
                      <m:sub>
                        <m:r>
                          <a:rPr lang="en-US" altLang="zh-CN" sz="1400" b="0" i="1" smtClean="0">
                            <a:latin typeface="Cambria Math" panose="02040503050406030204" pitchFamily="18" charset="0"/>
                          </a:rPr>
                          <m:t>2</m:t>
                        </m:r>
                      </m:sub>
                    </m:sSub>
                  </m:oMath>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D6FAB46A-6DD6-4023-96FF-3755FB708E51}"/>
                  </a:ext>
                </a:extLst>
              </p:cNvPr>
              <p:cNvSpPr txBox="1">
                <a:spLocks noRot="1" noChangeAspect="1" noMove="1" noResize="1" noEditPoints="1" noAdjustHandles="1" noChangeArrowheads="1" noChangeShapeType="1" noTextEdit="1"/>
              </p:cNvSpPr>
              <p:nvPr/>
            </p:nvSpPr>
            <p:spPr>
              <a:xfrm>
                <a:off x="2692471" y="3827392"/>
                <a:ext cx="721736" cy="307777"/>
              </a:xfrm>
              <a:prstGeom prst="rect">
                <a:avLst/>
              </a:prstGeom>
              <a:blipFill>
                <a:blip r:embed="rId6"/>
                <a:stretch>
                  <a:fillRect l="-2542"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A68ADAA-51CA-4E46-BD48-C64116B1BE72}"/>
                  </a:ext>
                </a:extLst>
              </p:cNvPr>
              <p:cNvSpPr txBox="1"/>
              <p:nvPr/>
            </p:nvSpPr>
            <p:spPr>
              <a:xfrm>
                <a:off x="4943477" y="3809459"/>
                <a:ext cx="72173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计算</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h</m:t>
                        </m:r>
                      </m:e>
                      <m:sub>
                        <m:r>
                          <a:rPr lang="en-US" altLang="zh-CN" sz="1400" b="0" i="1" smtClean="0">
                            <a:latin typeface="Cambria Math" panose="02040503050406030204" pitchFamily="18" charset="0"/>
                          </a:rPr>
                          <m:t>1</m:t>
                        </m:r>
                      </m:sub>
                    </m:sSub>
                  </m:oMath>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0A68ADAA-51CA-4E46-BD48-C64116B1BE72}"/>
                  </a:ext>
                </a:extLst>
              </p:cNvPr>
              <p:cNvSpPr txBox="1">
                <a:spLocks noRot="1" noChangeAspect="1" noMove="1" noResize="1" noEditPoints="1" noAdjustHandles="1" noChangeArrowheads="1" noChangeShapeType="1" noTextEdit="1"/>
              </p:cNvSpPr>
              <p:nvPr/>
            </p:nvSpPr>
            <p:spPr>
              <a:xfrm>
                <a:off x="4943477" y="3809459"/>
                <a:ext cx="721736" cy="307777"/>
              </a:xfrm>
              <a:prstGeom prst="rect">
                <a:avLst/>
              </a:prstGeom>
              <a:blipFill>
                <a:blip r:embed="rId5"/>
                <a:stretch>
                  <a:fillRect l="-2542"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BD8C2AF-D01F-4596-BB55-AC0839E8F04D}"/>
                  </a:ext>
                </a:extLst>
              </p:cNvPr>
              <p:cNvSpPr txBox="1"/>
              <p:nvPr/>
            </p:nvSpPr>
            <p:spPr>
              <a:xfrm>
                <a:off x="4943477" y="4519554"/>
                <a:ext cx="725904"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计算</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h</m:t>
                        </m:r>
                      </m:e>
                      <m:sub>
                        <m:r>
                          <a:rPr lang="en-US" altLang="zh-CN" sz="1400" b="0" i="1" smtClean="0">
                            <a:latin typeface="Cambria Math" panose="02040503050406030204" pitchFamily="18" charset="0"/>
                          </a:rPr>
                          <m:t>2</m:t>
                        </m:r>
                      </m:sub>
                    </m:sSub>
                  </m:oMath>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4BD8C2AF-D01F-4596-BB55-AC0839E8F04D}"/>
                  </a:ext>
                </a:extLst>
              </p:cNvPr>
              <p:cNvSpPr txBox="1">
                <a:spLocks noRot="1" noChangeAspect="1" noMove="1" noResize="1" noEditPoints="1" noAdjustHandles="1" noChangeArrowheads="1" noChangeShapeType="1" noTextEdit="1"/>
              </p:cNvSpPr>
              <p:nvPr/>
            </p:nvSpPr>
            <p:spPr>
              <a:xfrm>
                <a:off x="4943477" y="4519554"/>
                <a:ext cx="725904" cy="307777"/>
              </a:xfrm>
              <a:prstGeom prst="rect">
                <a:avLst/>
              </a:prstGeom>
              <a:blipFill>
                <a:blip r:embed="rId7"/>
                <a:stretch>
                  <a:fillRect l="-2521" t="-1961" b="-196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90272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3FF35-C2CA-6E29-01D5-208379322CB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09D58823-F9E8-C647-05C0-07418CB4447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8D08F6-0A7C-4E2C-25F8-D3A90F69ACE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457B24C-D7BF-90EE-33CD-78E4A659BB39}"/>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CC17D0A0-C1F5-C24C-CB6A-62FE3C77EC95}"/>
              </a:ext>
            </a:extLst>
          </p:cNvPr>
          <p:cNvSpPr txBox="1"/>
          <p:nvPr/>
        </p:nvSpPr>
        <p:spPr>
          <a:xfrm>
            <a:off x="64849" y="789764"/>
            <a:ext cx="843852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CNN</a:t>
            </a:r>
            <a:r>
              <a:rPr kumimoji="1" lang="zh-CN" altLang="en-US" dirty="0">
                <a:latin typeface="Microsoft YaHei" panose="020B0503020204020204" pitchFamily="34" charset="-122"/>
                <a:ea typeface="Microsoft YaHei" panose="020B0503020204020204" pitchFamily="34" charset="-122"/>
              </a:rPr>
              <a:t>建模的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97A6F7A0-7BFB-4065-AC8A-7DEC0260B841}"/>
              </a:ext>
            </a:extLst>
          </p:cNvPr>
          <p:cNvPicPr>
            <a:picLocks noChangeAspect="1"/>
          </p:cNvPicPr>
          <p:nvPr/>
        </p:nvPicPr>
        <p:blipFill rotWithShape="1">
          <a:blip r:embed="rId3"/>
          <a:srcRect l="2181" t="3385" r="2219" b="3958"/>
          <a:stretch/>
        </p:blipFill>
        <p:spPr>
          <a:xfrm>
            <a:off x="1371511" y="1521316"/>
            <a:ext cx="6114395" cy="2444750"/>
          </a:xfrm>
          <a:prstGeom prst="rect">
            <a:avLst/>
          </a:prstGeom>
        </p:spPr>
      </p:pic>
      <p:sp>
        <p:nvSpPr>
          <p:cNvPr id="5" name="矩形: 圆角 4">
            <a:extLst>
              <a:ext uri="{FF2B5EF4-FFF2-40B4-BE49-F238E27FC236}">
                <a16:creationId xmlns:a16="http://schemas.microsoft.com/office/drawing/2014/main" id="{A1556C92-B1EF-4020-9D9F-2C56492D6EB6}"/>
              </a:ext>
            </a:extLst>
          </p:cNvPr>
          <p:cNvSpPr/>
          <p:nvPr/>
        </p:nvSpPr>
        <p:spPr>
          <a:xfrm>
            <a:off x="2743111" y="1476867"/>
            <a:ext cx="2178050" cy="2781300"/>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F958EA9A-BE3E-4C7B-BFD0-75AEA541B36A}"/>
              </a:ext>
            </a:extLst>
          </p:cNvPr>
          <p:cNvSpPr txBox="1"/>
          <p:nvPr/>
        </p:nvSpPr>
        <p:spPr>
          <a:xfrm>
            <a:off x="3676561" y="4233729"/>
            <a:ext cx="2561920"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宽卷积（在边缘位置补</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97333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3FF35-C2CA-6E29-01D5-208379322CB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09D58823-F9E8-C647-05C0-07418CB4447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8D08F6-0A7C-4E2C-25F8-D3A90F69ACE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457B24C-D7BF-90EE-33CD-78E4A659BB39}"/>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CC17D0A0-C1F5-C24C-CB6A-62FE3C77EC95}"/>
              </a:ext>
            </a:extLst>
          </p:cNvPr>
          <p:cNvSpPr txBox="1"/>
          <p:nvPr/>
        </p:nvSpPr>
        <p:spPr>
          <a:xfrm>
            <a:off x="64849" y="789764"/>
            <a:ext cx="8438529"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基于</a:t>
            </a:r>
            <a:r>
              <a:rPr kumimoji="1" lang="en-US" altLang="zh-CN" dirty="0">
                <a:latin typeface="Microsoft YaHei" panose="020B0503020204020204" pitchFamily="34" charset="-122"/>
                <a:ea typeface="Microsoft YaHei" panose="020B0503020204020204" pitchFamily="34" charset="-122"/>
              </a:rPr>
              <a:t>CNN</a:t>
            </a:r>
            <a:r>
              <a:rPr kumimoji="1" lang="zh-CN" altLang="en-US" dirty="0">
                <a:latin typeface="Microsoft YaHei" panose="020B0503020204020204" pitchFamily="34" charset="-122"/>
                <a:ea typeface="Microsoft YaHei" panose="020B0503020204020204" pitchFamily="34" charset="-122"/>
              </a:rPr>
              <a:t>建模的</a:t>
            </a:r>
            <a:r>
              <a:rPr kumimoji="1" lang="en-US" altLang="zh-CN" dirty="0">
                <a:latin typeface="Microsoft YaHei" panose="020B0503020204020204" pitchFamily="34" charset="-122"/>
                <a:ea typeface="Microsoft YaHei" panose="020B0503020204020204" pitchFamily="34" charset="-122"/>
              </a:rPr>
              <a:t>Encoder-Decoder</a:t>
            </a:r>
            <a:endParaRPr kumimoji="1" lang="zh-CN" altLang="en-US" dirty="0">
              <a:latin typeface="Microsoft YaHei" panose="020B0503020204020204" pitchFamily="34" charset="-122"/>
              <a:ea typeface="Microsoft YaHei" panose="020B0503020204020204" pitchFamily="34" charset="-122"/>
            </a:endParaRPr>
          </a:p>
        </p:txBody>
      </p:sp>
      <p:sp>
        <p:nvSpPr>
          <p:cNvPr id="2" name="文本框 1">
            <a:extLst>
              <a:ext uri="{FF2B5EF4-FFF2-40B4-BE49-F238E27FC236}">
                <a16:creationId xmlns:a16="http://schemas.microsoft.com/office/drawing/2014/main" id="{42F337B0-CA64-4BB9-9361-9A73DDF975FB}"/>
              </a:ext>
            </a:extLst>
          </p:cNvPr>
          <p:cNvSpPr txBox="1"/>
          <p:nvPr/>
        </p:nvSpPr>
        <p:spPr>
          <a:xfrm>
            <a:off x="349250" y="1302529"/>
            <a:ext cx="3753463" cy="338554"/>
          </a:xfrm>
          <a:prstGeom prst="rect">
            <a:avLst/>
          </a:prstGeom>
          <a:noFill/>
        </p:spPr>
        <p:txBody>
          <a:bodyPr wrap="none" rtlCol="0">
            <a:spAutoFit/>
          </a:bodyPr>
          <a:lstStyle/>
          <a:p>
            <a:pPr marL="285750" indent="-285750">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CNN</a:t>
            </a:r>
            <a:r>
              <a:rPr lang="zh-CN" altLang="en-US" sz="1600" dirty="0">
                <a:latin typeface="微软雅黑" panose="020B0503020204020204" pitchFamily="34" charset="-122"/>
                <a:ea typeface="微软雅黑" panose="020B0503020204020204" pitchFamily="34" charset="-122"/>
              </a:rPr>
              <a:t>做</a:t>
            </a:r>
            <a:r>
              <a:rPr lang="en-US" altLang="zh-CN" sz="1600" dirty="0">
                <a:latin typeface="微软雅黑" panose="020B0503020204020204" pitchFamily="34" charset="-122"/>
                <a:ea typeface="微软雅黑" panose="020B0503020204020204" pitchFamily="34" charset="-122"/>
              </a:rPr>
              <a:t>Encoder, RNN</a:t>
            </a:r>
            <a:r>
              <a:rPr lang="zh-CN" altLang="en-US" sz="1600" dirty="0">
                <a:latin typeface="微软雅黑" panose="020B0503020204020204" pitchFamily="34" charset="-122"/>
                <a:ea typeface="微软雅黑" panose="020B0503020204020204" pitchFamily="34" charset="-122"/>
              </a:rPr>
              <a:t>做</a:t>
            </a:r>
            <a:r>
              <a:rPr lang="en-US" altLang="zh-CN" sz="1600" dirty="0">
                <a:latin typeface="微软雅黑" panose="020B0503020204020204" pitchFamily="34" charset="-122"/>
                <a:ea typeface="微软雅黑" panose="020B0503020204020204" pitchFamily="34" charset="-122"/>
              </a:rPr>
              <a:t>Decoder</a:t>
            </a:r>
            <a:r>
              <a:rPr lang="zh-CN" altLang="en-US" sz="1600" dirty="0">
                <a:latin typeface="微软雅黑" panose="020B0503020204020204" pitchFamily="34" charset="-122"/>
                <a:ea typeface="微软雅黑" panose="020B0503020204020204" pitchFamily="34" charset="-122"/>
              </a:rPr>
              <a:t>：</a:t>
            </a:r>
          </a:p>
        </p:txBody>
      </p:sp>
      <p:pic>
        <p:nvPicPr>
          <p:cNvPr id="8" name="图片 7">
            <a:extLst>
              <a:ext uri="{FF2B5EF4-FFF2-40B4-BE49-F238E27FC236}">
                <a16:creationId xmlns:a16="http://schemas.microsoft.com/office/drawing/2014/main" id="{D85F85B2-8497-45D4-B8E9-8BDC2D882CC3}"/>
              </a:ext>
            </a:extLst>
          </p:cNvPr>
          <p:cNvPicPr>
            <a:picLocks noChangeAspect="1"/>
          </p:cNvPicPr>
          <p:nvPr/>
        </p:nvPicPr>
        <p:blipFill rotWithShape="1">
          <a:blip r:embed="rId3"/>
          <a:srcRect l="2501" r="2328"/>
          <a:stretch/>
        </p:blipFill>
        <p:spPr>
          <a:xfrm>
            <a:off x="685799" y="1706724"/>
            <a:ext cx="6546851" cy="3002469"/>
          </a:xfrm>
          <a:prstGeom prst="rect">
            <a:avLst/>
          </a:prstGeom>
        </p:spPr>
      </p:pic>
      <p:sp>
        <p:nvSpPr>
          <p:cNvPr id="9" name="矩形: 圆角 8">
            <a:extLst>
              <a:ext uri="{FF2B5EF4-FFF2-40B4-BE49-F238E27FC236}">
                <a16:creationId xmlns:a16="http://schemas.microsoft.com/office/drawing/2014/main" id="{9061A468-570F-4A97-BDCD-708F44F1D140}"/>
              </a:ext>
            </a:extLst>
          </p:cNvPr>
          <p:cNvSpPr/>
          <p:nvPr/>
        </p:nvSpPr>
        <p:spPr>
          <a:xfrm>
            <a:off x="2444750" y="1706724"/>
            <a:ext cx="4787900" cy="1989504"/>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EE6E489-7226-4201-91B4-6D64139A950D}"/>
                  </a:ext>
                </a:extLst>
              </p:cNvPr>
              <p:cNvSpPr txBox="1"/>
              <p:nvPr/>
            </p:nvSpPr>
            <p:spPr>
              <a:xfrm>
                <a:off x="7201545" y="2400049"/>
                <a:ext cx="1942455"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基于</a:t>
                </a:r>
                <a:r>
                  <a:rPr lang="en-US" altLang="zh-CN" sz="1400" dirty="0">
                    <a:latin typeface="微软雅黑" panose="020B0503020204020204" pitchFamily="34" charset="-122"/>
                    <a:ea typeface="微软雅黑" panose="020B0503020204020204" pitchFamily="34" charset="-122"/>
                  </a:rPr>
                  <a:t>CNN</a:t>
                </a:r>
                <a:r>
                  <a:rPr lang="zh-CN" altLang="en-US" sz="1400" dirty="0">
                    <a:latin typeface="微软雅黑" panose="020B0503020204020204" pitchFamily="34" charset="-122"/>
                    <a:ea typeface="微软雅黑" panose="020B0503020204020204" pitchFamily="34" charset="-122"/>
                  </a:rPr>
                  <a:t>建模上下文</a:t>
                </a:r>
                <a14:m>
                  <m:oMath xmlns:m="http://schemas.openxmlformats.org/officeDocument/2006/math">
                    <m:r>
                      <a:rPr lang="en-US" altLang="zh-CN" sz="1400" b="0" i="1" smtClean="0">
                        <a:latin typeface="Cambria Math" panose="02040503050406030204" pitchFamily="18" charset="0"/>
                      </a:rPr>
                      <m:t>𝑐</m:t>
                    </m:r>
                  </m:oMath>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6EE6E489-7226-4201-91B4-6D64139A950D}"/>
                  </a:ext>
                </a:extLst>
              </p:cNvPr>
              <p:cNvSpPr txBox="1">
                <a:spLocks noRot="1" noChangeAspect="1" noMove="1" noResize="1" noEditPoints="1" noAdjustHandles="1" noChangeArrowheads="1" noChangeShapeType="1" noTextEdit="1"/>
              </p:cNvSpPr>
              <p:nvPr/>
            </p:nvSpPr>
            <p:spPr>
              <a:xfrm>
                <a:off x="7201545" y="2400049"/>
                <a:ext cx="1942455" cy="307777"/>
              </a:xfrm>
              <a:prstGeom prst="rect">
                <a:avLst/>
              </a:prstGeom>
              <a:blipFill>
                <a:blip r:embed="rId4"/>
                <a:stretch>
                  <a:fillRect l="-940" t="-4000" b="-20000"/>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37DD1893-06DE-46B4-B122-2B17289050DE}"/>
              </a:ext>
            </a:extLst>
          </p:cNvPr>
          <p:cNvPicPr>
            <a:picLocks noChangeAspect="1"/>
          </p:cNvPicPr>
          <p:nvPr/>
        </p:nvPicPr>
        <p:blipFill>
          <a:blip r:embed="rId5"/>
          <a:stretch>
            <a:fillRect/>
          </a:stretch>
        </p:blipFill>
        <p:spPr>
          <a:xfrm>
            <a:off x="1717486" y="-46037"/>
            <a:ext cx="5414210" cy="6858000"/>
          </a:xfrm>
          <a:prstGeom prst="rect">
            <a:avLst/>
          </a:prstGeom>
        </p:spPr>
      </p:pic>
    </p:spTree>
    <p:extLst>
      <p:ext uri="{BB962C8B-B14F-4D97-AF65-F5344CB8AC3E}">
        <p14:creationId xmlns:p14="http://schemas.microsoft.com/office/powerpoint/2010/main" val="86153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3FF35-C2CA-6E29-01D5-208379322CB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09D58823-F9E8-C647-05C0-07418CB4447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8D08F6-0A7C-4E2C-25F8-D3A90F69ACE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457B24C-D7BF-90EE-33CD-78E4A659BB39}"/>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CC17D0A0-C1F5-C24C-CB6A-62FE3C77EC95}"/>
              </a:ext>
            </a:extLst>
          </p:cNvPr>
          <p:cNvSpPr txBox="1"/>
          <p:nvPr/>
        </p:nvSpPr>
        <p:spPr>
          <a:xfrm>
            <a:off x="64849" y="789764"/>
            <a:ext cx="8996601" cy="646331"/>
          </a:xfrm>
          <a:prstGeom prst="rect">
            <a:avLst/>
          </a:prstGeom>
          <a:noFill/>
        </p:spPr>
        <p:txBody>
          <a:bodyPr wrap="squar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en-US" altLang="zh-CN" dirty="0">
                <a:latin typeface="Microsoft YaHei" panose="020B0503020204020204" pitchFamily="34" charset="-122"/>
                <a:ea typeface="Microsoft YaHei" panose="020B0503020204020204" pitchFamily="34" charset="-122"/>
              </a:rPr>
              <a:t>CNN</a:t>
            </a:r>
            <a:r>
              <a:rPr kumimoji="1" lang="zh-CN" altLang="en-US" dirty="0">
                <a:latin typeface="Microsoft YaHei" panose="020B0503020204020204" pitchFamily="34" charset="-122"/>
                <a:ea typeface="Microsoft YaHei" panose="020B0503020204020204" pitchFamily="34" charset="-122"/>
              </a:rPr>
              <a:t>的缺陷</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难以拥有良好的全局视野来达到长序列建模的目的。</a:t>
            </a:r>
          </a:p>
        </p:txBody>
      </p:sp>
      <p:pic>
        <p:nvPicPr>
          <p:cNvPr id="4" name="图片 3">
            <a:extLst>
              <a:ext uri="{FF2B5EF4-FFF2-40B4-BE49-F238E27FC236}">
                <a16:creationId xmlns:a16="http://schemas.microsoft.com/office/drawing/2014/main" id="{2908CD57-1A76-4B94-A7DF-C6A1B72C7427}"/>
              </a:ext>
            </a:extLst>
          </p:cNvPr>
          <p:cNvPicPr>
            <a:picLocks noChangeAspect="1"/>
          </p:cNvPicPr>
          <p:nvPr/>
        </p:nvPicPr>
        <p:blipFill>
          <a:blip r:embed="rId3"/>
          <a:stretch>
            <a:fillRect/>
          </a:stretch>
        </p:blipFill>
        <p:spPr>
          <a:xfrm>
            <a:off x="1054100" y="-178228"/>
            <a:ext cx="6730999" cy="7681530"/>
          </a:xfrm>
          <a:prstGeom prst="rect">
            <a:avLst/>
          </a:prstGeom>
        </p:spPr>
      </p:pic>
    </p:spTree>
    <p:extLst>
      <p:ext uri="{BB962C8B-B14F-4D97-AF65-F5344CB8AC3E}">
        <p14:creationId xmlns:p14="http://schemas.microsoft.com/office/powerpoint/2010/main" val="2858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F728-77E2-E72F-CE37-5606FEC0D9BF}"/>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845F7D4-452D-4288-B15F-D4BBB4A0516B}"/>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A3F7B8EC-5A43-6CBC-BDC9-E583BACEAC74}"/>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D1C5D748-16A2-B869-7A9C-9F4F0BABF174}"/>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7D425915-2A17-B6A9-DD88-11E57B10B67E}"/>
              </a:ext>
            </a:extLst>
          </p:cNvPr>
          <p:cNvSpPr txBox="1"/>
          <p:nvPr/>
        </p:nvSpPr>
        <p:spPr>
          <a:xfrm>
            <a:off x="90789" y="789764"/>
            <a:ext cx="6492483"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en-US" altLang="zh-CN" dirty="0">
                <a:latin typeface="Microsoft YaHei" panose="020B0503020204020204" pitchFamily="34" charset="-122"/>
                <a:ea typeface="Microsoft YaHei" panose="020B0503020204020204" pitchFamily="34" charset="-122"/>
              </a:rPr>
              <a:t>Transformer</a:t>
            </a:r>
            <a:r>
              <a:rPr kumimoji="1" lang="zh-CN" altLang="en-US" dirty="0">
                <a:latin typeface="Microsoft YaHei" panose="020B0503020204020204" pitchFamily="34" charset="-122"/>
                <a:ea typeface="Microsoft YaHei" panose="020B0503020204020204" pitchFamily="34" charset="-122"/>
              </a:rPr>
              <a:t>的诞生</a:t>
            </a:r>
          </a:p>
        </p:txBody>
      </p:sp>
      <p:pic>
        <p:nvPicPr>
          <p:cNvPr id="6" name="图片 5">
            <a:extLst>
              <a:ext uri="{FF2B5EF4-FFF2-40B4-BE49-F238E27FC236}">
                <a16:creationId xmlns:a16="http://schemas.microsoft.com/office/drawing/2014/main" id="{2E34383F-63FA-6CA7-0C35-0A164577C5B4}"/>
              </a:ext>
            </a:extLst>
          </p:cNvPr>
          <p:cNvPicPr>
            <a:picLocks noChangeAspect="1"/>
          </p:cNvPicPr>
          <p:nvPr/>
        </p:nvPicPr>
        <p:blipFill>
          <a:blip r:embed="rId3">
            <a:clrChange>
              <a:clrFrom>
                <a:srgbClr val="F9F9F9"/>
              </a:clrFrom>
              <a:clrTo>
                <a:srgbClr val="F9F9F9">
                  <a:alpha val="0"/>
                </a:srgbClr>
              </a:clrTo>
            </a:clrChange>
          </a:blip>
          <a:srcRect/>
          <a:stretch>
            <a:fillRect/>
          </a:stretch>
        </p:blipFill>
        <p:spPr>
          <a:xfrm>
            <a:off x="173476" y="1249049"/>
            <a:ext cx="6144645" cy="35319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右箭头 1">
            <a:extLst>
              <a:ext uri="{FF2B5EF4-FFF2-40B4-BE49-F238E27FC236}">
                <a16:creationId xmlns:a16="http://schemas.microsoft.com/office/drawing/2014/main" id="{D740A934-BE5A-7651-E8FA-DD86D037ABB1}"/>
              </a:ext>
            </a:extLst>
          </p:cNvPr>
          <p:cNvSpPr/>
          <p:nvPr/>
        </p:nvSpPr>
        <p:spPr>
          <a:xfrm>
            <a:off x="6218416" y="2211921"/>
            <a:ext cx="295144" cy="222806"/>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10128CC1-1B0F-6843-7A3D-287DD284DE30}"/>
              </a:ext>
            </a:extLst>
          </p:cNvPr>
          <p:cNvSpPr/>
          <p:nvPr/>
        </p:nvSpPr>
        <p:spPr>
          <a:xfrm>
            <a:off x="6329662" y="4219786"/>
            <a:ext cx="243305" cy="222806"/>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右箭头 6">
            <a:extLst>
              <a:ext uri="{FF2B5EF4-FFF2-40B4-BE49-F238E27FC236}">
                <a16:creationId xmlns:a16="http://schemas.microsoft.com/office/drawing/2014/main" id="{225A3E99-7417-538F-BCE1-73F07AEEFF29}"/>
              </a:ext>
            </a:extLst>
          </p:cNvPr>
          <p:cNvSpPr/>
          <p:nvPr/>
        </p:nvSpPr>
        <p:spPr>
          <a:xfrm rot="1952936">
            <a:off x="1681849" y="4779076"/>
            <a:ext cx="348001" cy="250369"/>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a:extLst>
              <a:ext uri="{FF2B5EF4-FFF2-40B4-BE49-F238E27FC236}">
                <a16:creationId xmlns:a16="http://schemas.microsoft.com/office/drawing/2014/main" id="{8055821B-78D8-23AF-2FA4-4B550D900601}"/>
              </a:ext>
            </a:extLst>
          </p:cNvPr>
          <p:cNvPicPr>
            <a:picLocks noChangeAspect="1"/>
          </p:cNvPicPr>
          <p:nvPr/>
        </p:nvPicPr>
        <p:blipFill>
          <a:blip r:embed="rId4">
            <a:clrChange>
              <a:clrFrom>
                <a:srgbClr val="F9F9F9"/>
              </a:clrFrom>
              <a:clrTo>
                <a:srgbClr val="F9F9F9">
                  <a:alpha val="0"/>
                </a:srgbClr>
              </a:clrTo>
            </a:clrChange>
          </a:blip>
          <a:srcRect l="3704" r="12713"/>
          <a:stretch>
            <a:fillRect/>
          </a:stretch>
        </p:blipFill>
        <p:spPr>
          <a:xfrm>
            <a:off x="6465693" y="1864481"/>
            <a:ext cx="2628094" cy="1036674"/>
          </a:xfrm>
          <a:prstGeom prst="rect">
            <a:avLst/>
          </a:prstGeom>
        </p:spPr>
      </p:pic>
      <p:pic>
        <p:nvPicPr>
          <p:cNvPr id="9" name="图片 8">
            <a:extLst>
              <a:ext uri="{FF2B5EF4-FFF2-40B4-BE49-F238E27FC236}">
                <a16:creationId xmlns:a16="http://schemas.microsoft.com/office/drawing/2014/main" id="{7199E6B6-684B-3E4A-29E8-B73C04B66471}"/>
              </a:ext>
            </a:extLst>
          </p:cNvPr>
          <p:cNvPicPr>
            <a:picLocks noChangeAspect="1"/>
          </p:cNvPicPr>
          <p:nvPr/>
        </p:nvPicPr>
        <p:blipFill>
          <a:blip r:embed="rId5">
            <a:clrChange>
              <a:clrFrom>
                <a:srgbClr val="F9F9F9"/>
              </a:clrFrom>
              <a:clrTo>
                <a:srgbClr val="F9F9F9">
                  <a:alpha val="0"/>
                </a:srgbClr>
              </a:clrTo>
            </a:clrChange>
          </a:blip>
          <a:stretch>
            <a:fillRect/>
          </a:stretch>
        </p:blipFill>
        <p:spPr>
          <a:xfrm>
            <a:off x="6513560" y="3890227"/>
            <a:ext cx="2302129" cy="830193"/>
          </a:xfrm>
          <a:prstGeom prst="rect">
            <a:avLst/>
          </a:prstGeom>
        </p:spPr>
      </p:pic>
      <p:pic>
        <p:nvPicPr>
          <p:cNvPr id="10" name="图片 9">
            <a:extLst>
              <a:ext uri="{FF2B5EF4-FFF2-40B4-BE49-F238E27FC236}">
                <a16:creationId xmlns:a16="http://schemas.microsoft.com/office/drawing/2014/main" id="{67776CCD-1A22-6908-9E93-713050EA0093}"/>
              </a:ext>
            </a:extLst>
          </p:cNvPr>
          <p:cNvPicPr>
            <a:picLocks noChangeAspect="1"/>
          </p:cNvPicPr>
          <p:nvPr/>
        </p:nvPicPr>
        <p:blipFill>
          <a:blip r:embed="rId6">
            <a:clrChange>
              <a:clrFrom>
                <a:srgbClr val="F9F9F9"/>
              </a:clrFrom>
              <a:clrTo>
                <a:srgbClr val="F9F9F9">
                  <a:alpha val="0"/>
                </a:srgbClr>
              </a:clrTo>
            </a:clrChange>
          </a:blip>
          <a:stretch>
            <a:fillRect/>
          </a:stretch>
        </p:blipFill>
        <p:spPr>
          <a:xfrm>
            <a:off x="3833914" y="5545679"/>
            <a:ext cx="2897627" cy="381397"/>
          </a:xfrm>
          <a:prstGeom prst="rect">
            <a:avLst/>
          </a:prstGeom>
        </p:spPr>
      </p:pic>
      <p:pic>
        <p:nvPicPr>
          <p:cNvPr id="11" name="图片 10">
            <a:extLst>
              <a:ext uri="{FF2B5EF4-FFF2-40B4-BE49-F238E27FC236}">
                <a16:creationId xmlns:a16="http://schemas.microsoft.com/office/drawing/2014/main" id="{E32263C9-02E1-D756-C144-155A0A9EA4F2}"/>
              </a:ext>
            </a:extLst>
          </p:cNvPr>
          <p:cNvPicPr>
            <a:picLocks noChangeAspect="1"/>
          </p:cNvPicPr>
          <p:nvPr/>
        </p:nvPicPr>
        <p:blipFill>
          <a:blip r:embed="rId7">
            <a:clrChange>
              <a:clrFrom>
                <a:srgbClr val="F9F9F9"/>
              </a:clrFrom>
              <a:clrTo>
                <a:srgbClr val="F9F9F9">
                  <a:alpha val="0"/>
                </a:srgbClr>
              </a:clrTo>
            </a:clrChange>
          </a:blip>
          <a:stretch>
            <a:fillRect/>
          </a:stretch>
        </p:blipFill>
        <p:spPr>
          <a:xfrm>
            <a:off x="1775972" y="5027552"/>
            <a:ext cx="1836854" cy="1692078"/>
          </a:xfrm>
          <a:prstGeom prst="rect">
            <a:avLst/>
          </a:prstGeom>
        </p:spPr>
      </p:pic>
      <p:sp>
        <p:nvSpPr>
          <p:cNvPr id="12" name="文本框 11">
            <a:extLst>
              <a:ext uri="{FF2B5EF4-FFF2-40B4-BE49-F238E27FC236}">
                <a16:creationId xmlns:a16="http://schemas.microsoft.com/office/drawing/2014/main" id="{05163598-BE4E-74BD-FF07-4687E883666F}"/>
              </a:ext>
            </a:extLst>
          </p:cNvPr>
          <p:cNvSpPr txBox="1"/>
          <p:nvPr/>
        </p:nvSpPr>
        <p:spPr>
          <a:xfrm>
            <a:off x="636236" y="4870923"/>
            <a:ext cx="1185324" cy="276999"/>
          </a:xfrm>
          <a:prstGeom prst="rect">
            <a:avLst/>
          </a:prstGeom>
          <a:noFill/>
        </p:spPr>
        <p:txBody>
          <a:bodyPr wrap="none" rtlCol="0">
            <a:spAutoFit/>
          </a:bodyPr>
          <a:lstStyle/>
          <a:p>
            <a:r>
              <a:rPr kumimoji="1" lang="en-US" altLang="zh-CN" sz="1200" b="1" i="1" dirty="0">
                <a:latin typeface="Microsoft YaHei" panose="020B0503020204020204" pitchFamily="34" charset="-122"/>
                <a:ea typeface="Microsoft YaHei" panose="020B0503020204020204" pitchFamily="34" charset="-122"/>
              </a:rPr>
              <a:t>Add &amp; Norm</a:t>
            </a:r>
            <a:endParaRPr kumimoji="1" lang="zh-CN" altLang="en-US" sz="1200" b="1" i="1" dirty="0">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C5A95590-61D5-4602-927B-F043A32841E5}"/>
              </a:ext>
            </a:extLst>
          </p:cNvPr>
          <p:cNvSpPr/>
          <p:nvPr/>
        </p:nvSpPr>
        <p:spPr>
          <a:xfrm>
            <a:off x="3486150" y="2678914"/>
            <a:ext cx="730250" cy="927100"/>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F7330B69-0169-4B55-97F2-7863AEA756E2}"/>
              </a:ext>
            </a:extLst>
          </p:cNvPr>
          <p:cNvSpPr/>
          <p:nvPr/>
        </p:nvSpPr>
        <p:spPr>
          <a:xfrm>
            <a:off x="2606780" y="2629699"/>
            <a:ext cx="730250" cy="145814"/>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42535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F728-77E2-E72F-CE37-5606FEC0D9BF}"/>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845F7D4-452D-4288-B15F-D4BBB4A0516B}"/>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A3F7B8EC-5A43-6CBC-BDC9-E583BACEAC74}"/>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D1C5D748-16A2-B869-7A9C-9F4F0BABF174}"/>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7D425915-2A17-B6A9-DD88-11E57B10B67E}"/>
              </a:ext>
            </a:extLst>
          </p:cNvPr>
          <p:cNvSpPr txBox="1"/>
          <p:nvPr/>
        </p:nvSpPr>
        <p:spPr>
          <a:xfrm>
            <a:off x="90789" y="789764"/>
            <a:ext cx="6492483"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en-US" altLang="zh-CN" dirty="0">
                <a:latin typeface="Microsoft YaHei" panose="020B0503020204020204" pitchFamily="34" charset="-122"/>
                <a:ea typeface="Microsoft YaHei" panose="020B0503020204020204" pitchFamily="34" charset="-122"/>
              </a:rPr>
              <a:t>Transformer</a:t>
            </a:r>
            <a:r>
              <a:rPr kumimoji="1" lang="zh-CN" altLang="en-US" dirty="0">
                <a:latin typeface="Microsoft YaHei" panose="020B0503020204020204" pitchFamily="34" charset="-122"/>
                <a:ea typeface="Microsoft YaHei" panose="020B0503020204020204" pitchFamily="34" charset="-122"/>
              </a:rPr>
              <a:t>的诞生</a:t>
            </a:r>
          </a:p>
        </p:txBody>
      </p:sp>
      <p:pic>
        <p:nvPicPr>
          <p:cNvPr id="6" name="图片 5">
            <a:extLst>
              <a:ext uri="{FF2B5EF4-FFF2-40B4-BE49-F238E27FC236}">
                <a16:creationId xmlns:a16="http://schemas.microsoft.com/office/drawing/2014/main" id="{2E34383F-63FA-6CA7-0C35-0A164577C5B4}"/>
              </a:ext>
            </a:extLst>
          </p:cNvPr>
          <p:cNvPicPr>
            <a:picLocks noChangeAspect="1"/>
          </p:cNvPicPr>
          <p:nvPr/>
        </p:nvPicPr>
        <p:blipFill>
          <a:blip r:embed="rId3"/>
          <a:srcRect/>
          <a:stretch>
            <a:fillRect/>
          </a:stretch>
        </p:blipFill>
        <p:spPr>
          <a:xfrm>
            <a:off x="173476" y="1249049"/>
            <a:ext cx="6144645" cy="3531921"/>
          </a:xfrm>
          <a:prstGeom prst="rect">
            <a:avLst/>
          </a:prstGeom>
        </p:spPr>
      </p:pic>
      <p:sp>
        <p:nvSpPr>
          <p:cNvPr id="2" name="右箭头 1">
            <a:extLst>
              <a:ext uri="{FF2B5EF4-FFF2-40B4-BE49-F238E27FC236}">
                <a16:creationId xmlns:a16="http://schemas.microsoft.com/office/drawing/2014/main" id="{D740A934-BE5A-7651-E8FA-DD86D037ABB1}"/>
              </a:ext>
            </a:extLst>
          </p:cNvPr>
          <p:cNvSpPr/>
          <p:nvPr/>
        </p:nvSpPr>
        <p:spPr>
          <a:xfrm>
            <a:off x="6170549" y="2204457"/>
            <a:ext cx="295144" cy="222806"/>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10128CC1-1B0F-6843-7A3D-287DD284DE30}"/>
              </a:ext>
            </a:extLst>
          </p:cNvPr>
          <p:cNvSpPr/>
          <p:nvPr/>
        </p:nvSpPr>
        <p:spPr>
          <a:xfrm>
            <a:off x="6170549" y="4058344"/>
            <a:ext cx="243305" cy="222806"/>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右箭头 6">
            <a:extLst>
              <a:ext uri="{FF2B5EF4-FFF2-40B4-BE49-F238E27FC236}">
                <a16:creationId xmlns:a16="http://schemas.microsoft.com/office/drawing/2014/main" id="{225A3E99-7417-538F-BCE1-73F07AEEFF29}"/>
              </a:ext>
            </a:extLst>
          </p:cNvPr>
          <p:cNvSpPr/>
          <p:nvPr/>
        </p:nvSpPr>
        <p:spPr>
          <a:xfrm rot="1952936">
            <a:off x="1387949" y="4630731"/>
            <a:ext cx="348001" cy="250369"/>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a:extLst>
              <a:ext uri="{FF2B5EF4-FFF2-40B4-BE49-F238E27FC236}">
                <a16:creationId xmlns:a16="http://schemas.microsoft.com/office/drawing/2014/main" id="{8055821B-78D8-23AF-2FA4-4B550D900601}"/>
              </a:ext>
            </a:extLst>
          </p:cNvPr>
          <p:cNvPicPr>
            <a:picLocks noChangeAspect="1"/>
          </p:cNvPicPr>
          <p:nvPr/>
        </p:nvPicPr>
        <p:blipFill>
          <a:blip r:embed="rId4">
            <a:clrChange>
              <a:clrFrom>
                <a:srgbClr val="F9F9F9"/>
              </a:clrFrom>
              <a:clrTo>
                <a:srgbClr val="F9F9F9">
                  <a:alpha val="0"/>
                </a:srgbClr>
              </a:clrTo>
            </a:clrChange>
          </a:blip>
          <a:srcRect l="3704" r="12713"/>
          <a:stretch>
            <a:fillRect/>
          </a:stretch>
        </p:blipFill>
        <p:spPr>
          <a:xfrm>
            <a:off x="6465693" y="1864481"/>
            <a:ext cx="2628094" cy="1036674"/>
          </a:xfrm>
          <a:prstGeom prst="rect">
            <a:avLst/>
          </a:prstGeom>
        </p:spPr>
      </p:pic>
      <p:pic>
        <p:nvPicPr>
          <p:cNvPr id="9" name="图片 8">
            <a:extLst>
              <a:ext uri="{FF2B5EF4-FFF2-40B4-BE49-F238E27FC236}">
                <a16:creationId xmlns:a16="http://schemas.microsoft.com/office/drawing/2014/main" id="{7199E6B6-684B-3E4A-29E8-B73C04B66471}"/>
              </a:ext>
            </a:extLst>
          </p:cNvPr>
          <p:cNvPicPr>
            <a:picLocks noChangeAspect="1"/>
          </p:cNvPicPr>
          <p:nvPr/>
        </p:nvPicPr>
        <p:blipFill>
          <a:blip r:embed="rId5">
            <a:clrChange>
              <a:clrFrom>
                <a:srgbClr val="F9F9F9"/>
              </a:clrFrom>
              <a:clrTo>
                <a:srgbClr val="F9F9F9">
                  <a:alpha val="0"/>
                </a:srgbClr>
              </a:clrTo>
            </a:clrChange>
          </a:blip>
          <a:stretch>
            <a:fillRect/>
          </a:stretch>
        </p:blipFill>
        <p:spPr>
          <a:xfrm>
            <a:off x="6504012" y="3950777"/>
            <a:ext cx="2302129" cy="830193"/>
          </a:xfrm>
          <a:prstGeom prst="rect">
            <a:avLst/>
          </a:prstGeom>
        </p:spPr>
      </p:pic>
      <p:pic>
        <p:nvPicPr>
          <p:cNvPr id="10" name="图片 9">
            <a:extLst>
              <a:ext uri="{FF2B5EF4-FFF2-40B4-BE49-F238E27FC236}">
                <a16:creationId xmlns:a16="http://schemas.microsoft.com/office/drawing/2014/main" id="{67776CCD-1A22-6908-9E93-713050EA0093}"/>
              </a:ext>
            </a:extLst>
          </p:cNvPr>
          <p:cNvPicPr>
            <a:picLocks noChangeAspect="1"/>
          </p:cNvPicPr>
          <p:nvPr/>
        </p:nvPicPr>
        <p:blipFill>
          <a:blip r:embed="rId6">
            <a:clrChange>
              <a:clrFrom>
                <a:srgbClr val="F9F9F9"/>
              </a:clrFrom>
              <a:clrTo>
                <a:srgbClr val="F9F9F9">
                  <a:alpha val="0"/>
                </a:srgbClr>
              </a:clrTo>
            </a:clrChange>
          </a:blip>
          <a:stretch>
            <a:fillRect/>
          </a:stretch>
        </p:blipFill>
        <p:spPr>
          <a:xfrm>
            <a:off x="3833914" y="5545679"/>
            <a:ext cx="2897627" cy="381397"/>
          </a:xfrm>
          <a:prstGeom prst="rect">
            <a:avLst/>
          </a:prstGeom>
        </p:spPr>
      </p:pic>
      <p:pic>
        <p:nvPicPr>
          <p:cNvPr id="11" name="图片 10">
            <a:extLst>
              <a:ext uri="{FF2B5EF4-FFF2-40B4-BE49-F238E27FC236}">
                <a16:creationId xmlns:a16="http://schemas.microsoft.com/office/drawing/2014/main" id="{E32263C9-02E1-D756-C144-155A0A9EA4F2}"/>
              </a:ext>
            </a:extLst>
          </p:cNvPr>
          <p:cNvPicPr>
            <a:picLocks noChangeAspect="1"/>
          </p:cNvPicPr>
          <p:nvPr/>
        </p:nvPicPr>
        <p:blipFill>
          <a:blip r:embed="rId7">
            <a:clrChange>
              <a:clrFrom>
                <a:srgbClr val="F9F9F9"/>
              </a:clrFrom>
              <a:clrTo>
                <a:srgbClr val="F9F9F9">
                  <a:alpha val="0"/>
                </a:srgbClr>
              </a:clrTo>
            </a:clrChange>
          </a:blip>
          <a:stretch>
            <a:fillRect/>
          </a:stretch>
        </p:blipFill>
        <p:spPr>
          <a:xfrm>
            <a:off x="1775972" y="5027552"/>
            <a:ext cx="1836854" cy="1692078"/>
          </a:xfrm>
          <a:prstGeom prst="rect">
            <a:avLst/>
          </a:prstGeom>
        </p:spPr>
      </p:pic>
      <p:sp>
        <p:nvSpPr>
          <p:cNvPr id="12" name="文本框 11">
            <a:extLst>
              <a:ext uri="{FF2B5EF4-FFF2-40B4-BE49-F238E27FC236}">
                <a16:creationId xmlns:a16="http://schemas.microsoft.com/office/drawing/2014/main" id="{05163598-BE4E-74BD-FF07-4687E883666F}"/>
              </a:ext>
            </a:extLst>
          </p:cNvPr>
          <p:cNvSpPr txBox="1"/>
          <p:nvPr/>
        </p:nvSpPr>
        <p:spPr>
          <a:xfrm>
            <a:off x="2151662" y="4810152"/>
            <a:ext cx="1139736" cy="276999"/>
          </a:xfrm>
          <a:prstGeom prst="rect">
            <a:avLst/>
          </a:prstGeom>
          <a:noFill/>
        </p:spPr>
        <p:txBody>
          <a:bodyPr wrap="none" rtlCol="0">
            <a:spAutoFit/>
          </a:bodyPr>
          <a:lstStyle/>
          <a:p>
            <a:r>
              <a:rPr kumimoji="1" lang="en-US" altLang="zh-CN" sz="1200" i="1" dirty="0">
                <a:latin typeface="Microsoft YaHei" panose="020B0503020204020204" pitchFamily="34" charset="-122"/>
                <a:ea typeface="Microsoft YaHei" panose="020B0503020204020204" pitchFamily="34" charset="-122"/>
              </a:rPr>
              <a:t>Add &amp; Norm</a:t>
            </a:r>
            <a:endParaRPr kumimoji="1" lang="zh-CN" altLang="en-US" sz="1200" i="1" dirty="0">
              <a:latin typeface="Microsoft YaHei" panose="020B0503020204020204" pitchFamily="34" charset="-122"/>
              <a:ea typeface="Microsoft YaHei" panose="020B0503020204020204" pitchFamily="34" charset="-122"/>
            </a:endParaRPr>
          </a:p>
        </p:txBody>
      </p:sp>
      <p:pic>
        <p:nvPicPr>
          <p:cNvPr id="13" name="图片 12">
            <a:extLst>
              <a:ext uri="{FF2B5EF4-FFF2-40B4-BE49-F238E27FC236}">
                <a16:creationId xmlns:a16="http://schemas.microsoft.com/office/drawing/2014/main" id="{C6E1B54A-46BD-A1A9-0438-5047249C90DA}"/>
              </a:ext>
            </a:extLst>
          </p:cNvPr>
          <p:cNvPicPr>
            <a:picLocks noChangeAspect="1"/>
          </p:cNvPicPr>
          <p:nvPr/>
        </p:nvPicPr>
        <p:blipFill>
          <a:blip r:embed="rId8"/>
          <a:stretch>
            <a:fillRect/>
          </a:stretch>
        </p:blipFill>
        <p:spPr>
          <a:xfrm>
            <a:off x="684215" y="1159096"/>
            <a:ext cx="7772400" cy="5328757"/>
          </a:xfrm>
          <a:prstGeom prst="rect">
            <a:avLst/>
          </a:prstGeom>
        </p:spPr>
      </p:pic>
    </p:spTree>
    <p:extLst>
      <p:ext uri="{BB962C8B-B14F-4D97-AF65-F5344CB8AC3E}">
        <p14:creationId xmlns:p14="http://schemas.microsoft.com/office/powerpoint/2010/main" val="77556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F728-77E2-E72F-CE37-5606FEC0D9BF}"/>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845F7D4-452D-4288-B15F-D4BBB4A0516B}"/>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A3F7B8EC-5A43-6CBC-BDC9-E583BACEAC74}"/>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D1C5D748-16A2-B869-7A9C-9F4F0BABF174}"/>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7D425915-2A17-B6A9-DD88-11E57B10B67E}"/>
              </a:ext>
            </a:extLst>
          </p:cNvPr>
          <p:cNvSpPr txBox="1"/>
          <p:nvPr/>
        </p:nvSpPr>
        <p:spPr>
          <a:xfrm>
            <a:off x="90789" y="789764"/>
            <a:ext cx="6492483"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en-US" altLang="zh-CN" dirty="0">
                <a:latin typeface="Microsoft YaHei" panose="020B0503020204020204" pitchFamily="34" charset="-122"/>
                <a:ea typeface="Microsoft YaHei" panose="020B0503020204020204" pitchFamily="34" charset="-122"/>
              </a:rPr>
              <a:t>Transformer</a:t>
            </a:r>
            <a:r>
              <a:rPr kumimoji="1" lang="zh-CN" altLang="en-US" dirty="0">
                <a:latin typeface="Microsoft YaHei" panose="020B0503020204020204" pitchFamily="34" charset="-122"/>
                <a:ea typeface="Microsoft YaHei" panose="020B0503020204020204" pitchFamily="34" charset="-122"/>
              </a:rPr>
              <a:t>的诞生</a:t>
            </a:r>
          </a:p>
        </p:txBody>
      </p:sp>
      <p:pic>
        <p:nvPicPr>
          <p:cNvPr id="14" name="图片 13">
            <a:extLst>
              <a:ext uri="{FF2B5EF4-FFF2-40B4-BE49-F238E27FC236}">
                <a16:creationId xmlns:a16="http://schemas.microsoft.com/office/drawing/2014/main" id="{58C5283B-FD84-477E-A8E0-0D45433A73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07" y="1343025"/>
            <a:ext cx="3693452" cy="2527706"/>
          </a:xfrm>
          <a:prstGeom prst="rect">
            <a:avLst/>
          </a:prstGeom>
        </p:spPr>
      </p:pic>
      <p:sp>
        <p:nvSpPr>
          <p:cNvPr id="15" name="箭头: 右 14">
            <a:extLst>
              <a:ext uri="{FF2B5EF4-FFF2-40B4-BE49-F238E27FC236}">
                <a16:creationId xmlns:a16="http://schemas.microsoft.com/office/drawing/2014/main" id="{14A4BA24-43A4-483E-86C9-D53AF50567CD}"/>
              </a:ext>
            </a:extLst>
          </p:cNvPr>
          <p:cNvSpPr/>
          <p:nvPr/>
        </p:nvSpPr>
        <p:spPr>
          <a:xfrm>
            <a:off x="4157903" y="2298315"/>
            <a:ext cx="338470" cy="220007"/>
          </a:xfrm>
          <a:prstGeom prst="rightArrow">
            <a:avLst/>
          </a:prstGeom>
          <a:solidFill>
            <a:srgbClr val="00518E"/>
          </a:solidFill>
          <a:ln>
            <a:solidFill>
              <a:srgbClr val="005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37A99C29-2622-4B8E-87DF-06FAF6B243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1796" y="1454506"/>
            <a:ext cx="4179417" cy="2416225"/>
          </a:xfrm>
          <a:prstGeom prst="rect">
            <a:avLst/>
          </a:prstGeom>
        </p:spPr>
      </p:pic>
      <p:sp>
        <p:nvSpPr>
          <p:cNvPr id="21" name="箭头: 右 20">
            <a:extLst>
              <a:ext uri="{FF2B5EF4-FFF2-40B4-BE49-F238E27FC236}">
                <a16:creationId xmlns:a16="http://schemas.microsoft.com/office/drawing/2014/main" id="{98BA4860-95DC-449F-8F20-4FC055F4BC28}"/>
              </a:ext>
            </a:extLst>
          </p:cNvPr>
          <p:cNvSpPr/>
          <p:nvPr/>
        </p:nvSpPr>
        <p:spPr>
          <a:xfrm rot="5400000">
            <a:off x="6991027" y="4056138"/>
            <a:ext cx="338470" cy="220007"/>
          </a:xfrm>
          <a:prstGeom prst="rightArrow">
            <a:avLst/>
          </a:prstGeom>
          <a:solidFill>
            <a:srgbClr val="00518E"/>
          </a:solidFill>
          <a:ln>
            <a:solidFill>
              <a:srgbClr val="005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8155A2FC-112D-444F-AE7C-FE622E1340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4103" y="4473519"/>
            <a:ext cx="3970296" cy="868502"/>
          </a:xfrm>
          <a:prstGeom prst="rect">
            <a:avLst/>
          </a:prstGeom>
        </p:spPr>
      </p:pic>
      <p:pic>
        <p:nvPicPr>
          <p:cNvPr id="20" name="图片 19">
            <a:extLst>
              <a:ext uri="{FF2B5EF4-FFF2-40B4-BE49-F238E27FC236}">
                <a16:creationId xmlns:a16="http://schemas.microsoft.com/office/drawing/2014/main" id="{810D3C49-8811-42F5-A1C9-23CA198CA77A}"/>
              </a:ext>
            </a:extLst>
          </p:cNvPr>
          <p:cNvPicPr>
            <a:picLocks noChangeAspect="1"/>
          </p:cNvPicPr>
          <p:nvPr/>
        </p:nvPicPr>
        <p:blipFill>
          <a:blip r:embed="rId6"/>
          <a:stretch>
            <a:fillRect/>
          </a:stretch>
        </p:blipFill>
        <p:spPr>
          <a:xfrm>
            <a:off x="47591" y="4602708"/>
            <a:ext cx="4901847" cy="1612136"/>
          </a:xfrm>
          <a:prstGeom prst="rect">
            <a:avLst/>
          </a:prstGeom>
        </p:spPr>
      </p:pic>
      <p:sp>
        <p:nvSpPr>
          <p:cNvPr id="22" name="箭头: 直角上 21">
            <a:extLst>
              <a:ext uri="{FF2B5EF4-FFF2-40B4-BE49-F238E27FC236}">
                <a16:creationId xmlns:a16="http://schemas.microsoft.com/office/drawing/2014/main" id="{F9FF2E9E-C56F-42DF-A89A-B33055E90CD0}"/>
              </a:ext>
            </a:extLst>
          </p:cNvPr>
          <p:cNvSpPr/>
          <p:nvPr/>
        </p:nvSpPr>
        <p:spPr>
          <a:xfrm rot="15767061" flipH="1">
            <a:off x="5172602" y="5386385"/>
            <a:ext cx="419386" cy="527891"/>
          </a:xfrm>
          <a:prstGeom prst="bentUpArrow">
            <a:avLst>
              <a:gd name="adj1" fmla="val 25000"/>
              <a:gd name="adj2" fmla="val 26212"/>
              <a:gd name="adj3" fmla="val 25000"/>
            </a:avLst>
          </a:prstGeom>
          <a:solidFill>
            <a:srgbClr val="00518E"/>
          </a:solidFill>
          <a:ln>
            <a:solidFill>
              <a:srgbClr val="005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4777900A-4B0E-4B8A-A04B-FE8268A9DCBE}"/>
              </a:ext>
            </a:extLst>
          </p:cNvPr>
          <p:cNvPicPr>
            <a:picLocks noChangeAspect="1"/>
          </p:cNvPicPr>
          <p:nvPr/>
        </p:nvPicPr>
        <p:blipFill>
          <a:blip r:embed="rId7"/>
          <a:stretch>
            <a:fillRect/>
          </a:stretch>
        </p:blipFill>
        <p:spPr>
          <a:xfrm>
            <a:off x="1046745" y="1417818"/>
            <a:ext cx="6899255" cy="4083407"/>
          </a:xfrm>
          <a:prstGeom prst="rect">
            <a:avLst/>
          </a:prstGeom>
        </p:spPr>
      </p:pic>
    </p:spTree>
    <p:extLst>
      <p:ext uri="{BB962C8B-B14F-4D97-AF65-F5344CB8AC3E}">
        <p14:creationId xmlns:p14="http://schemas.microsoft.com/office/powerpoint/2010/main" val="272770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3EF437-5589-189E-487D-42E0EEC81A5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6B7F1A56-F0F0-710A-9651-7E2E95B2F33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FCBC8E44-6230-5678-3E4C-C2DAAF7FA6CB}"/>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7827274-DB22-9630-A644-44262194B977}"/>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992C99A4-C10E-3C3C-C44D-2F4875C3EA8A}"/>
              </a:ext>
            </a:extLst>
          </p:cNvPr>
          <p:cNvSpPr txBox="1"/>
          <p:nvPr/>
        </p:nvSpPr>
        <p:spPr>
          <a:xfrm>
            <a:off x="90789" y="789764"/>
            <a:ext cx="6758902" cy="369332"/>
          </a:xfrm>
          <a:prstGeom prst="rect">
            <a:avLst/>
          </a:prstGeom>
          <a:noFill/>
        </p:spPr>
        <p:txBody>
          <a:bodyPr wrap="none" rtlCol="0">
            <a:spAutoFit/>
          </a:bodyPr>
          <a:lstStyle/>
          <a:p>
            <a:pPr marL="285750" indent="-285750">
              <a:buFont typeface="Wingdings" panose="05000000000000000000" pitchFamily="2" charset="2"/>
              <a:buChar char="Ø"/>
            </a:pPr>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en-US" altLang="zh-CN" dirty="0">
                <a:latin typeface="Microsoft YaHei" panose="020B0503020204020204" pitchFamily="34" charset="-122"/>
                <a:ea typeface="Microsoft YaHei" panose="020B0503020204020204" pitchFamily="34" charset="-122"/>
              </a:rPr>
              <a:t>Transformer</a:t>
            </a:r>
            <a:r>
              <a:rPr kumimoji="1" lang="zh-CN" altLang="en-US" dirty="0">
                <a:latin typeface="Microsoft YaHei" panose="020B0503020204020204" pitchFamily="34" charset="-122"/>
                <a:ea typeface="Microsoft YaHei" panose="020B0503020204020204" pitchFamily="34" charset="-122"/>
              </a:rPr>
              <a:t>的诞生</a:t>
            </a:r>
          </a:p>
        </p:txBody>
      </p:sp>
      <p:sp>
        <p:nvSpPr>
          <p:cNvPr id="3" name="文本框 2">
            <a:extLst>
              <a:ext uri="{FF2B5EF4-FFF2-40B4-BE49-F238E27FC236}">
                <a16:creationId xmlns:a16="http://schemas.microsoft.com/office/drawing/2014/main" id="{3AFB29E0-4D95-4146-A1AD-3A1351BBC7FD}"/>
              </a:ext>
            </a:extLst>
          </p:cNvPr>
          <p:cNvSpPr txBox="1"/>
          <p:nvPr/>
        </p:nvSpPr>
        <p:spPr>
          <a:xfrm>
            <a:off x="90789" y="1243340"/>
            <a:ext cx="4003147" cy="167007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Transformer</a:t>
            </a:r>
            <a:r>
              <a:rPr lang="zh-CN" altLang="en-US" sz="1400" dirty="0">
                <a:latin typeface="微软雅黑" panose="020B0503020204020204" pitchFamily="34" charset="-122"/>
                <a:ea typeface="微软雅黑" panose="020B0503020204020204" pitchFamily="34" charset="-122"/>
              </a:rPr>
              <a:t>的主要设计点：</a:t>
            </a:r>
            <a:endParaRPr lang="en-US" altLang="zh-CN" sz="14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en-US" altLang="zh-CN" sz="1400" dirty="0">
                <a:latin typeface="微软雅黑" panose="020B0503020204020204" pitchFamily="34" charset="-122"/>
                <a:ea typeface="微软雅黑" panose="020B0503020204020204" pitchFamily="34" charset="-122"/>
              </a:rPr>
              <a:t>Decoder</a:t>
            </a:r>
            <a:r>
              <a:rPr lang="zh-CN" altLang="en-US" sz="1400" dirty="0">
                <a:latin typeface="微软雅黑" panose="020B0503020204020204" pitchFamily="34" charset="-122"/>
                <a:ea typeface="微软雅黑" panose="020B0503020204020204" pitchFamily="34" charset="-122"/>
              </a:rPr>
              <a:t>中与</a:t>
            </a:r>
            <a:r>
              <a:rPr lang="en-US" altLang="zh-CN" sz="1400" dirty="0">
                <a:latin typeface="微软雅黑" panose="020B0503020204020204" pitchFamily="34" charset="-122"/>
                <a:ea typeface="微软雅黑" panose="020B0503020204020204" pitchFamily="34" charset="-122"/>
              </a:rPr>
              <a:t>Encoder</a:t>
            </a:r>
            <a:r>
              <a:rPr lang="zh-CN" altLang="en-US" sz="1400" dirty="0">
                <a:latin typeface="微软雅黑" panose="020B0503020204020204" pitchFamily="34" charset="-122"/>
                <a:ea typeface="微软雅黑" panose="020B0503020204020204" pitchFamily="34" charset="-122"/>
              </a:rPr>
              <a:t>相同层做</a:t>
            </a:r>
            <a:r>
              <a:rPr lang="en-US" altLang="zh-CN" sz="1400" dirty="0">
                <a:latin typeface="微软雅黑" panose="020B0503020204020204" pitchFamily="34" charset="-122"/>
                <a:ea typeface="微软雅黑" panose="020B0503020204020204" pitchFamily="34" charset="-122"/>
              </a:rPr>
              <a:t>attention</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en-US" altLang="zh-CN" sz="1400" dirty="0">
                <a:latin typeface="微软雅黑" panose="020B0503020204020204" pitchFamily="34" charset="-122"/>
                <a:ea typeface="微软雅黑" panose="020B0503020204020204" pitchFamily="34" charset="-122"/>
              </a:rPr>
              <a:t>Layer Normalization</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1400" dirty="0">
                <a:latin typeface="微软雅黑" panose="020B0503020204020204" pitchFamily="34" charset="-122"/>
                <a:ea typeface="微软雅黑" panose="020B0503020204020204" pitchFamily="34" charset="-122"/>
              </a:rPr>
              <a:t>层之间的</a:t>
            </a:r>
            <a:r>
              <a:rPr lang="en-US" altLang="zh-CN" sz="1400" dirty="0">
                <a:latin typeface="微软雅黑" panose="020B0503020204020204" pitchFamily="34" charset="-122"/>
                <a:ea typeface="微软雅黑" panose="020B0503020204020204" pitchFamily="34" charset="-122"/>
              </a:rPr>
              <a:t>attention</a:t>
            </a:r>
            <a:r>
              <a:rPr lang="zh-CN" altLang="en-US" sz="1400" dirty="0">
                <a:latin typeface="微软雅黑" panose="020B0503020204020204" pitchFamily="34" charset="-122"/>
                <a:ea typeface="微软雅黑" panose="020B0503020204020204" pitchFamily="34" charset="-122"/>
              </a:rPr>
              <a:t>结构；</a:t>
            </a:r>
            <a:endParaRPr lang="en-US" altLang="zh-CN" sz="1400" dirty="0">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lang="zh-CN" altLang="en-US" sz="1400" dirty="0">
                <a:latin typeface="微软雅黑" panose="020B0503020204020204" pitchFamily="34" charset="-122"/>
                <a:ea typeface="微软雅黑" panose="020B0503020204020204" pitchFamily="34" charset="-122"/>
              </a:rPr>
              <a:t>层之间的</a:t>
            </a:r>
            <a:r>
              <a:rPr lang="en-US" altLang="zh-CN" sz="1400" dirty="0">
                <a:latin typeface="微软雅黑" panose="020B0503020204020204" pitchFamily="34" charset="-122"/>
                <a:ea typeface="微软雅黑" panose="020B0503020204020204" pitchFamily="34" charset="-122"/>
              </a:rPr>
              <a:t>FFN</a:t>
            </a:r>
            <a:r>
              <a:rPr lang="zh-CN" altLang="en-US" sz="1400" dirty="0">
                <a:latin typeface="微软雅黑" panose="020B0503020204020204" pitchFamily="34" charset="-122"/>
                <a:ea typeface="微软雅黑" panose="020B0503020204020204" pitchFamily="34" charset="-122"/>
              </a:rPr>
              <a:t>全连接层；</a:t>
            </a:r>
          </a:p>
        </p:txBody>
      </p:sp>
      <p:pic>
        <p:nvPicPr>
          <p:cNvPr id="6" name="图片 5">
            <a:extLst>
              <a:ext uri="{FF2B5EF4-FFF2-40B4-BE49-F238E27FC236}">
                <a16:creationId xmlns:a16="http://schemas.microsoft.com/office/drawing/2014/main" id="{429E8CE0-4040-41A8-8CAE-C9EB330889C2}"/>
              </a:ext>
            </a:extLst>
          </p:cNvPr>
          <p:cNvPicPr>
            <a:picLocks noChangeAspect="1"/>
          </p:cNvPicPr>
          <p:nvPr/>
        </p:nvPicPr>
        <p:blipFill>
          <a:blip r:embed="rId3"/>
          <a:stretch>
            <a:fillRect/>
          </a:stretch>
        </p:blipFill>
        <p:spPr>
          <a:xfrm>
            <a:off x="4093936" y="1353027"/>
            <a:ext cx="4790685" cy="1397283"/>
          </a:xfrm>
          <a:prstGeom prst="rect">
            <a:avLst/>
          </a:prstGeom>
          <a:effectLst>
            <a:outerShdw blurRad="50800" dist="38100" dir="2700000" algn="tl" rotWithShape="0">
              <a:prstClr val="black">
                <a:alpha val="40000"/>
              </a:prstClr>
            </a:outerShdw>
          </a:effectLst>
        </p:spPr>
      </p:pic>
      <p:cxnSp>
        <p:nvCxnSpPr>
          <p:cNvPr id="9" name="连接符: 曲线 8">
            <a:extLst>
              <a:ext uri="{FF2B5EF4-FFF2-40B4-BE49-F238E27FC236}">
                <a16:creationId xmlns:a16="http://schemas.microsoft.com/office/drawing/2014/main" id="{FF42D682-09FA-49E0-8C9B-6D02B7639168}"/>
              </a:ext>
            </a:extLst>
          </p:cNvPr>
          <p:cNvCxnSpPr>
            <a:cxnSpLocks/>
            <a:endCxn id="6" idx="1"/>
          </p:cNvCxnSpPr>
          <p:nvPr/>
        </p:nvCxnSpPr>
        <p:spPr>
          <a:xfrm>
            <a:off x="3702050" y="1746250"/>
            <a:ext cx="391886" cy="305419"/>
          </a:xfrm>
          <a:prstGeom prst="curvedConnector3">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67C2C008-6C11-4791-B04F-5250DBCB0C71}"/>
              </a:ext>
            </a:extLst>
          </p:cNvPr>
          <p:cNvPicPr>
            <a:picLocks noChangeAspect="1"/>
          </p:cNvPicPr>
          <p:nvPr/>
        </p:nvPicPr>
        <p:blipFill>
          <a:blip r:embed="rId4"/>
          <a:stretch>
            <a:fillRect/>
          </a:stretch>
        </p:blipFill>
        <p:spPr>
          <a:xfrm>
            <a:off x="4007349" y="2944240"/>
            <a:ext cx="4942893" cy="1767459"/>
          </a:xfrm>
          <a:prstGeom prst="rect">
            <a:avLst/>
          </a:prstGeom>
          <a:effectLst>
            <a:outerShdw blurRad="50800" dist="38100" dir="2700000" algn="tl" rotWithShape="0">
              <a:prstClr val="black">
                <a:alpha val="40000"/>
              </a:prstClr>
            </a:outerShdw>
          </a:effectLst>
        </p:spPr>
      </p:pic>
      <p:cxnSp>
        <p:nvCxnSpPr>
          <p:cNvPr id="17" name="连接符: 曲线 16">
            <a:extLst>
              <a:ext uri="{FF2B5EF4-FFF2-40B4-BE49-F238E27FC236}">
                <a16:creationId xmlns:a16="http://schemas.microsoft.com/office/drawing/2014/main" id="{BA2D03F1-8BBB-46C5-B087-5C36B7AACB90}"/>
              </a:ext>
            </a:extLst>
          </p:cNvPr>
          <p:cNvCxnSpPr>
            <a:cxnSpLocks/>
            <a:endCxn id="11" idx="1"/>
          </p:cNvCxnSpPr>
          <p:nvPr/>
        </p:nvCxnSpPr>
        <p:spPr>
          <a:xfrm>
            <a:off x="2241553" y="2082498"/>
            <a:ext cx="1765796" cy="1745472"/>
          </a:xfrm>
          <a:prstGeom prst="curvedConnector3">
            <a:avLst>
              <a:gd name="adj1" fmla="val 50000"/>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96C49806-F72B-41AA-BDF9-53ED3AE0C046}"/>
              </a:ext>
            </a:extLst>
          </p:cNvPr>
          <p:cNvSpPr/>
          <p:nvPr/>
        </p:nvSpPr>
        <p:spPr>
          <a:xfrm>
            <a:off x="87615" y="4904666"/>
            <a:ext cx="8942086" cy="1346907"/>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nSpc>
                <a:spcPct val="150000"/>
              </a:lnSpc>
            </a:pPr>
            <a:r>
              <a:rPr lang="en-US" altLang="zh-CN" sz="1400" dirty="0">
                <a:latin typeface="微软雅黑" panose="020B0503020204020204" pitchFamily="34" charset="-122"/>
                <a:ea typeface="微软雅黑" panose="020B0503020204020204" pitchFamily="34" charset="-122"/>
              </a:rPr>
              <a:t>•  Transformer </a:t>
            </a:r>
            <a:r>
              <a:rPr lang="zh-CN" altLang="en-US" sz="1400" dirty="0">
                <a:latin typeface="微软雅黑" panose="020B0503020204020204" pitchFamily="34" charset="-122"/>
                <a:ea typeface="微软雅黑" panose="020B0503020204020204" pitchFamily="34" charset="-122"/>
              </a:rPr>
              <a:t>中大量的全连接层起了非常关键的作用，占主要因素之一；</a:t>
            </a:r>
          </a:p>
          <a:p>
            <a:pPr>
              <a:lnSpc>
                <a:spcPct val="150000"/>
              </a:lnSpc>
            </a:pPr>
            <a:r>
              <a:rPr lang="en-US" altLang="zh-CN" sz="1400" dirty="0">
                <a:latin typeface="微软雅黑" panose="020B0503020204020204" pitchFamily="34" charset="-122"/>
                <a:ea typeface="微软雅黑" panose="020B0503020204020204" pitchFamily="34" charset="-122"/>
              </a:rPr>
              <a:t>•  Residual </a:t>
            </a:r>
            <a:r>
              <a:rPr lang="zh-CN" altLang="en-US" sz="1400" dirty="0">
                <a:latin typeface="微软雅黑" panose="020B0503020204020204" pitchFamily="34" charset="-122"/>
                <a:ea typeface="微软雅黑" panose="020B0503020204020204" pitchFamily="34" charset="-122"/>
              </a:rPr>
              <a:t>连接对于三者都有很大的提升，也占主要因素之一；</a:t>
            </a:r>
          </a:p>
          <a:p>
            <a:pPr>
              <a:lnSpc>
                <a:spcPct val="150000"/>
              </a:lnSpc>
            </a:pPr>
            <a:r>
              <a:rPr lang="en-US" altLang="zh-CN" sz="1400" dirty="0">
                <a:latin typeface="微软雅黑" panose="020B0503020204020204" pitchFamily="34" charset="-122"/>
                <a:ea typeface="微软雅黑" panose="020B0503020204020204" pitchFamily="34" charset="-122"/>
              </a:rPr>
              <a:t>•  Transformer </a:t>
            </a:r>
            <a:r>
              <a:rPr lang="zh-CN" altLang="en-US" sz="1400" dirty="0">
                <a:latin typeface="微软雅黑" panose="020B0503020204020204" pitchFamily="34" charset="-122"/>
                <a:ea typeface="微软雅黑" panose="020B0503020204020204" pitchFamily="34" charset="-122"/>
              </a:rPr>
              <a:t>中的结构用于 </a:t>
            </a:r>
            <a:r>
              <a:rPr lang="en-US" altLang="zh-CN" sz="1400" dirty="0">
                <a:latin typeface="微软雅黑" panose="020B0503020204020204" pitchFamily="34" charset="-122"/>
                <a:ea typeface="微软雅黑" panose="020B0503020204020204" pitchFamily="34" charset="-122"/>
              </a:rPr>
              <a:t>Encoder </a:t>
            </a:r>
            <a:r>
              <a:rPr lang="zh-CN" altLang="en-US" sz="1400" dirty="0">
                <a:latin typeface="微软雅黑" panose="020B0503020204020204" pitchFamily="34" charset="-122"/>
                <a:ea typeface="微软雅黑" panose="020B0503020204020204" pitchFamily="34" charset="-122"/>
              </a:rPr>
              <a:t>比 </a:t>
            </a:r>
            <a:r>
              <a:rPr lang="en-US" altLang="zh-CN" sz="1400" dirty="0">
                <a:latin typeface="微软雅黑" panose="020B0503020204020204" pitchFamily="34" charset="-122"/>
                <a:ea typeface="微软雅黑" panose="020B0503020204020204" pitchFamily="34" charset="-122"/>
              </a:rPr>
              <a:t>Decoder </a:t>
            </a:r>
            <a:r>
              <a:rPr lang="zh-CN" altLang="en-US" sz="1400" dirty="0">
                <a:latin typeface="微软雅黑" panose="020B0503020204020204" pitchFamily="34" charset="-122"/>
                <a:ea typeface="微软雅黑" panose="020B0503020204020204" pitchFamily="34" charset="-122"/>
              </a:rPr>
              <a:t>更有用；</a:t>
            </a:r>
          </a:p>
          <a:p>
            <a:pPr>
              <a:lnSpc>
                <a:spcPct val="150000"/>
              </a:lnSpc>
            </a:pPr>
            <a:r>
              <a:rPr lang="en-US" altLang="zh-CN" sz="1400" dirty="0">
                <a:latin typeface="微软雅黑" panose="020B0503020204020204" pitchFamily="34" charset="-122"/>
                <a:ea typeface="微软雅黑" panose="020B0503020204020204" pitchFamily="34" charset="-122"/>
              </a:rPr>
              <a:t>•  Self-attention </a:t>
            </a:r>
            <a:r>
              <a:rPr lang="zh-CN" altLang="en-US" sz="1400" dirty="0">
                <a:latin typeface="微软雅黑" panose="020B0503020204020204" pitchFamily="34" charset="-122"/>
                <a:ea typeface="微软雅黑" panose="020B0503020204020204" pitchFamily="34" charset="-122"/>
              </a:rPr>
              <a:t>带来的全局视野和 </a:t>
            </a:r>
            <a:r>
              <a:rPr lang="en-US" altLang="zh-CN" sz="1400" dirty="0">
                <a:latin typeface="微软雅黑" panose="020B0503020204020204" pitchFamily="34" charset="-122"/>
                <a:ea typeface="微软雅黑" panose="020B0503020204020204" pitchFamily="34" charset="-122"/>
              </a:rPr>
              <a:t>Layer Normalization </a:t>
            </a:r>
            <a:r>
              <a:rPr lang="zh-CN" altLang="en-US" sz="1400" dirty="0">
                <a:latin typeface="微软雅黑" panose="020B0503020204020204" pitchFamily="34" charset="-122"/>
                <a:ea typeface="微软雅黑" panose="020B0503020204020204" pitchFamily="34" charset="-122"/>
              </a:rPr>
              <a:t>也有一定的作用，能给 </a:t>
            </a:r>
            <a:r>
              <a:rPr lang="en-US" altLang="zh-CN" sz="1400" dirty="0">
                <a:latin typeface="微软雅黑" panose="020B0503020204020204" pitchFamily="34" charset="-122"/>
                <a:ea typeface="微软雅黑" panose="020B0503020204020204" pitchFamily="34" charset="-122"/>
              </a:rPr>
              <a:t>CNN</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RNN </a:t>
            </a:r>
            <a:r>
              <a:rPr lang="zh-CN" altLang="en-US" sz="1400" dirty="0">
                <a:latin typeface="微软雅黑" panose="020B0503020204020204" pitchFamily="34" charset="-122"/>
                <a:ea typeface="微软雅黑" panose="020B0503020204020204" pitchFamily="34" charset="-122"/>
              </a:rPr>
              <a:t>带来一点提高。</a:t>
            </a:r>
          </a:p>
        </p:txBody>
      </p:sp>
      <p:sp>
        <p:nvSpPr>
          <p:cNvPr id="18" name="矩形: 圆角 17">
            <a:extLst>
              <a:ext uri="{FF2B5EF4-FFF2-40B4-BE49-F238E27FC236}">
                <a16:creationId xmlns:a16="http://schemas.microsoft.com/office/drawing/2014/main" id="{5ED46C92-D5CC-48BE-8E88-DE8E32546DEC}"/>
              </a:ext>
            </a:extLst>
          </p:cNvPr>
          <p:cNvSpPr/>
          <p:nvPr/>
        </p:nvSpPr>
        <p:spPr>
          <a:xfrm>
            <a:off x="4292600" y="3944588"/>
            <a:ext cx="4657642" cy="15087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5F543770-6286-4C92-A400-63479766F88F}"/>
              </a:ext>
            </a:extLst>
          </p:cNvPr>
          <p:cNvSpPr/>
          <p:nvPr/>
        </p:nvSpPr>
        <p:spPr>
          <a:xfrm>
            <a:off x="4292600" y="4545136"/>
            <a:ext cx="4657642" cy="15087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67273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3EF437-5589-189E-487D-42E0EEC81A5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6B7F1A56-F0F0-710A-9651-7E2E95B2F331}"/>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FCBC8E44-6230-5678-3E4C-C2DAAF7FA6CB}"/>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7827274-DB22-9630-A644-44262194B977}"/>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992C99A4-C10E-3C3C-C44D-2F4875C3EA8A}"/>
              </a:ext>
            </a:extLst>
          </p:cNvPr>
          <p:cNvSpPr txBox="1"/>
          <p:nvPr/>
        </p:nvSpPr>
        <p:spPr>
          <a:xfrm>
            <a:off x="90789" y="789764"/>
            <a:ext cx="6470361"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en-US" altLang="zh-CN" dirty="0">
                <a:latin typeface="Microsoft YaHei" panose="020B0503020204020204" pitchFamily="34" charset="-122"/>
                <a:ea typeface="Microsoft YaHei" panose="020B0503020204020204" pitchFamily="34" charset="-122"/>
              </a:rPr>
              <a:t>Transformer</a:t>
            </a:r>
            <a:r>
              <a:rPr kumimoji="1" lang="zh-CN" altLang="en-US" dirty="0">
                <a:latin typeface="Microsoft YaHei" panose="020B0503020204020204" pitchFamily="34" charset="-122"/>
                <a:ea typeface="Microsoft YaHei" panose="020B0503020204020204" pitchFamily="34" charset="-122"/>
              </a:rPr>
              <a:t>的诞生</a:t>
            </a:r>
          </a:p>
        </p:txBody>
      </p:sp>
      <p:grpSp>
        <p:nvGrpSpPr>
          <p:cNvPr id="3" name="组合 2">
            <a:extLst>
              <a:ext uri="{FF2B5EF4-FFF2-40B4-BE49-F238E27FC236}">
                <a16:creationId xmlns:a16="http://schemas.microsoft.com/office/drawing/2014/main" id="{D4CF642A-9F37-4BF8-8608-097AE11B6711}"/>
              </a:ext>
            </a:extLst>
          </p:cNvPr>
          <p:cNvGrpSpPr/>
          <p:nvPr/>
        </p:nvGrpSpPr>
        <p:grpSpPr>
          <a:xfrm>
            <a:off x="330009" y="1896675"/>
            <a:ext cx="8483982" cy="2915955"/>
            <a:chOff x="1119366" y="1353536"/>
            <a:chExt cx="7004431" cy="2183039"/>
          </a:xfrm>
        </p:grpSpPr>
        <p:pic>
          <p:nvPicPr>
            <p:cNvPr id="8" name="图片 7">
              <a:extLst>
                <a:ext uri="{FF2B5EF4-FFF2-40B4-BE49-F238E27FC236}">
                  <a16:creationId xmlns:a16="http://schemas.microsoft.com/office/drawing/2014/main" id="{2D0BE388-BE43-E91D-63AA-2DD0D8BF2463}"/>
                </a:ext>
              </a:extLst>
            </p:cNvPr>
            <p:cNvPicPr>
              <a:picLocks noChangeAspect="1"/>
            </p:cNvPicPr>
            <p:nvPr/>
          </p:nvPicPr>
          <p:blipFill>
            <a:blip r:embed="rId3" cstate="print">
              <a:extLst>
                <a:ext uri="{28A0092B-C50C-407E-A947-70E740481C1C}">
                  <a14:useLocalDpi xmlns:a14="http://schemas.microsoft.com/office/drawing/2010/main" val="0"/>
                </a:ext>
              </a:extLst>
            </a:blip>
            <a:srcRect l="23195" t="8066" r="14142" b="5741"/>
            <a:stretch>
              <a:fillRect/>
            </a:stretch>
          </p:blipFill>
          <p:spPr>
            <a:xfrm>
              <a:off x="1119366" y="1371297"/>
              <a:ext cx="2575922" cy="1740122"/>
            </a:xfrm>
            <a:prstGeom prst="rect">
              <a:avLst/>
            </a:prstGeom>
          </p:spPr>
        </p:pic>
        <p:pic>
          <p:nvPicPr>
            <p:cNvPr id="10" name="图片 9">
              <a:extLst>
                <a:ext uri="{FF2B5EF4-FFF2-40B4-BE49-F238E27FC236}">
                  <a16:creationId xmlns:a16="http://schemas.microsoft.com/office/drawing/2014/main" id="{E03E313E-1A65-9048-6D96-9AF692B689A4}"/>
                </a:ext>
              </a:extLst>
            </p:cNvPr>
            <p:cNvPicPr>
              <a:picLocks noChangeAspect="1"/>
            </p:cNvPicPr>
            <p:nvPr/>
          </p:nvPicPr>
          <p:blipFill>
            <a:blip r:embed="rId4" cstate="print">
              <a:extLst>
                <a:ext uri="{28A0092B-C50C-407E-A947-70E740481C1C}">
                  <a14:useLocalDpi xmlns:a14="http://schemas.microsoft.com/office/drawing/2010/main" val="0"/>
                </a:ext>
              </a:extLst>
            </a:blip>
            <a:srcRect t="5900" b="4001"/>
            <a:stretch>
              <a:fillRect/>
            </a:stretch>
          </p:blipFill>
          <p:spPr>
            <a:xfrm>
              <a:off x="4555890" y="1353536"/>
              <a:ext cx="3567907" cy="2183039"/>
            </a:xfrm>
            <a:prstGeom prst="rect">
              <a:avLst/>
            </a:prstGeom>
          </p:spPr>
        </p:pic>
        <p:cxnSp>
          <p:nvCxnSpPr>
            <p:cNvPr id="12" name="曲线连接符 11">
              <a:extLst>
                <a:ext uri="{FF2B5EF4-FFF2-40B4-BE49-F238E27FC236}">
                  <a16:creationId xmlns:a16="http://schemas.microsoft.com/office/drawing/2014/main" id="{5FE6839D-7045-D1AB-BCB3-B9EA77A942A8}"/>
                </a:ext>
              </a:extLst>
            </p:cNvPr>
            <p:cNvCxnSpPr>
              <a:stCxn id="8" idx="2"/>
              <a:endCxn id="10" idx="1"/>
            </p:cNvCxnSpPr>
            <p:nvPr/>
          </p:nvCxnSpPr>
          <p:spPr>
            <a:xfrm rot="5400000" flipH="1" flipV="1">
              <a:off x="3148426" y="1703956"/>
              <a:ext cx="666363" cy="2148563"/>
            </a:xfrm>
            <a:prstGeom prst="curvedConnector4">
              <a:avLst>
                <a:gd name="adj1" fmla="val -34306"/>
                <a:gd name="adj2" fmla="val 79973"/>
              </a:avLst>
            </a:prstGeom>
            <a:ln w="19050">
              <a:solidFill>
                <a:srgbClr val="00518E"/>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4843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7654E9-1220-320D-7ACF-999FD8F359A2}"/>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91E146AC-4702-6A74-AFEE-F9B6A04F2AAC}"/>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BF17A43-1819-D3AB-5499-B13D93C02A4D}"/>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8ECF0A1E-B321-38EB-4BB6-864C57589F2C}"/>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7E7E7CD1-9097-629E-8DCF-EDBF9A095098}"/>
              </a:ext>
            </a:extLst>
          </p:cNvPr>
          <p:cNvSpPr txBox="1"/>
          <p:nvPr/>
        </p:nvSpPr>
        <p:spPr>
          <a:xfrm>
            <a:off x="97274" y="753035"/>
            <a:ext cx="6987810"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注意力机制的诞生与演进</a:t>
            </a:r>
          </a:p>
        </p:txBody>
      </p:sp>
      <p:pic>
        <p:nvPicPr>
          <p:cNvPr id="2" name="图片 1">
            <a:extLst>
              <a:ext uri="{FF2B5EF4-FFF2-40B4-BE49-F238E27FC236}">
                <a16:creationId xmlns:a16="http://schemas.microsoft.com/office/drawing/2014/main" id="{239A1D13-AF59-28DD-0D86-C4B4B72649C3}"/>
              </a:ext>
            </a:extLst>
          </p:cNvPr>
          <p:cNvPicPr>
            <a:picLocks noChangeAspect="1"/>
          </p:cNvPicPr>
          <p:nvPr/>
        </p:nvPicPr>
        <p:blipFill>
          <a:blip r:embed="rId3"/>
          <a:stretch>
            <a:fillRect/>
          </a:stretch>
        </p:blipFill>
        <p:spPr>
          <a:xfrm>
            <a:off x="1714499" y="1254347"/>
            <a:ext cx="5715001" cy="1477283"/>
          </a:xfrm>
          <a:prstGeom prst="rect">
            <a:avLst/>
          </a:prstGeom>
        </p:spPr>
      </p:pic>
      <p:sp>
        <p:nvSpPr>
          <p:cNvPr id="5" name="文本框 4">
            <a:extLst>
              <a:ext uri="{FF2B5EF4-FFF2-40B4-BE49-F238E27FC236}">
                <a16:creationId xmlns:a16="http://schemas.microsoft.com/office/drawing/2014/main" id="{C5AEEA42-306F-F5B4-6169-AD5A297A2F46}"/>
              </a:ext>
            </a:extLst>
          </p:cNvPr>
          <p:cNvSpPr txBox="1"/>
          <p:nvPr/>
        </p:nvSpPr>
        <p:spPr>
          <a:xfrm>
            <a:off x="3526328" y="2731630"/>
            <a:ext cx="2339102" cy="307777"/>
          </a:xfrm>
          <a:prstGeom prst="rect">
            <a:avLst/>
          </a:prstGeom>
          <a:noFill/>
        </p:spPr>
        <p:txBody>
          <a:bodyPr wrap="none" rtlCol="0">
            <a:spAutoFit/>
          </a:bodyPr>
          <a:lstStyle/>
          <a:p>
            <a:r>
              <a:rPr kumimoji="1" lang="zh-CN" altLang="en-US" sz="1400" i="1" dirty="0">
                <a:latin typeface="Microsoft YaHei" panose="020B0503020204020204" pitchFamily="34" charset="-122"/>
                <a:ea typeface="Microsoft YaHei" panose="020B0503020204020204" pitchFamily="34" charset="-122"/>
              </a:rPr>
              <a:t>几种建模序列模型架构比较</a:t>
            </a:r>
          </a:p>
        </p:txBody>
      </p:sp>
      <p:pic>
        <p:nvPicPr>
          <p:cNvPr id="6" name="图片 5">
            <a:extLst>
              <a:ext uri="{FF2B5EF4-FFF2-40B4-BE49-F238E27FC236}">
                <a16:creationId xmlns:a16="http://schemas.microsoft.com/office/drawing/2014/main" id="{C084F57E-995E-18A8-64BF-11895B9351C9}"/>
              </a:ext>
            </a:extLst>
          </p:cNvPr>
          <p:cNvPicPr>
            <a:picLocks noChangeAspect="1"/>
          </p:cNvPicPr>
          <p:nvPr/>
        </p:nvPicPr>
        <p:blipFill>
          <a:blip r:embed="rId4"/>
          <a:stretch>
            <a:fillRect/>
          </a:stretch>
        </p:blipFill>
        <p:spPr>
          <a:xfrm>
            <a:off x="461593" y="3139275"/>
            <a:ext cx="3626187" cy="2754829"/>
          </a:xfrm>
          <a:prstGeom prst="rect">
            <a:avLst/>
          </a:prstGeom>
        </p:spPr>
      </p:pic>
      <p:pic>
        <p:nvPicPr>
          <p:cNvPr id="10" name="图片 9">
            <a:extLst>
              <a:ext uri="{FF2B5EF4-FFF2-40B4-BE49-F238E27FC236}">
                <a16:creationId xmlns:a16="http://schemas.microsoft.com/office/drawing/2014/main" id="{E8A83F88-BB3C-5187-FEAD-FA3512123184}"/>
              </a:ext>
            </a:extLst>
          </p:cNvPr>
          <p:cNvPicPr>
            <a:picLocks noChangeAspect="1"/>
          </p:cNvPicPr>
          <p:nvPr/>
        </p:nvPicPr>
        <p:blipFill>
          <a:blip r:embed="rId5"/>
          <a:stretch>
            <a:fillRect/>
          </a:stretch>
        </p:blipFill>
        <p:spPr>
          <a:xfrm>
            <a:off x="4369341" y="3139275"/>
            <a:ext cx="4296719" cy="1231987"/>
          </a:xfrm>
          <a:prstGeom prst="rect">
            <a:avLst/>
          </a:prstGeom>
        </p:spPr>
      </p:pic>
      <p:sp>
        <p:nvSpPr>
          <p:cNvPr id="11" name="文本框 10">
            <a:extLst>
              <a:ext uri="{FF2B5EF4-FFF2-40B4-BE49-F238E27FC236}">
                <a16:creationId xmlns:a16="http://schemas.microsoft.com/office/drawing/2014/main" id="{33FE9ECF-65DF-AA15-0D51-C60CB9F3DD6F}"/>
              </a:ext>
            </a:extLst>
          </p:cNvPr>
          <p:cNvSpPr txBox="1"/>
          <p:nvPr/>
        </p:nvSpPr>
        <p:spPr>
          <a:xfrm>
            <a:off x="5056222" y="3039407"/>
            <a:ext cx="1522661" cy="307777"/>
          </a:xfrm>
          <a:prstGeom prst="rect">
            <a:avLst/>
          </a:prstGeom>
          <a:noFill/>
        </p:spPr>
        <p:txBody>
          <a:bodyPr wrap="none" rtlCol="0">
            <a:spAutoFit/>
          </a:bodyPr>
          <a:lstStyle/>
          <a:p>
            <a:r>
              <a:rPr kumimoji="1" lang="en-US" altLang="zh-CN" sz="1400" i="1" dirty="0">
                <a:latin typeface="Arial" panose="020B0604020202020204" pitchFamily="34" charset="0"/>
                <a:cs typeface="Arial" panose="020B0604020202020204" pitchFamily="34" charset="0"/>
              </a:rPr>
              <a:t>Star</a:t>
            </a:r>
            <a:r>
              <a:rPr kumimoji="1" lang="zh-CN" altLang="en-US" sz="1400" i="1" dirty="0">
                <a:latin typeface="Arial" panose="020B0604020202020204" pitchFamily="34" charset="0"/>
                <a:cs typeface="Arial" panose="020B0604020202020204" pitchFamily="34" charset="0"/>
              </a:rPr>
              <a:t> </a:t>
            </a:r>
            <a:r>
              <a:rPr kumimoji="1" lang="en-US" altLang="zh-CN" sz="1400" i="1" dirty="0">
                <a:latin typeface="Arial" panose="020B0604020202020204" pitchFamily="34" charset="0"/>
                <a:cs typeface="Arial" panose="020B0604020202020204" pitchFamily="34" charset="0"/>
              </a:rPr>
              <a:t>Transformer</a:t>
            </a:r>
            <a:endParaRPr kumimoji="1" lang="zh-CN" altLang="en-US" sz="1400" i="1" dirty="0">
              <a:latin typeface="Arial" panose="020B0604020202020204" pitchFamily="34" charset="0"/>
              <a:cs typeface="Arial" panose="020B0604020202020204" pitchFamily="34" charset="0"/>
            </a:endParaRPr>
          </a:p>
        </p:txBody>
      </p:sp>
      <p:pic>
        <p:nvPicPr>
          <p:cNvPr id="12" name="图片 11">
            <a:extLst>
              <a:ext uri="{FF2B5EF4-FFF2-40B4-BE49-F238E27FC236}">
                <a16:creationId xmlns:a16="http://schemas.microsoft.com/office/drawing/2014/main" id="{BE277E7E-4B6B-8B53-2451-23C59005BFD1}"/>
              </a:ext>
            </a:extLst>
          </p:cNvPr>
          <p:cNvPicPr>
            <a:picLocks noChangeAspect="1"/>
          </p:cNvPicPr>
          <p:nvPr/>
        </p:nvPicPr>
        <p:blipFill>
          <a:blip r:embed="rId6"/>
          <a:stretch>
            <a:fillRect/>
          </a:stretch>
        </p:blipFill>
        <p:spPr>
          <a:xfrm>
            <a:off x="4777903" y="4516689"/>
            <a:ext cx="3769468" cy="1527318"/>
          </a:xfrm>
          <a:prstGeom prst="rect">
            <a:avLst/>
          </a:prstGeom>
        </p:spPr>
      </p:pic>
      <p:sp>
        <p:nvSpPr>
          <p:cNvPr id="13" name="文本框 12">
            <a:extLst>
              <a:ext uri="{FF2B5EF4-FFF2-40B4-BE49-F238E27FC236}">
                <a16:creationId xmlns:a16="http://schemas.microsoft.com/office/drawing/2014/main" id="{48AA6583-13E2-A7CB-70E4-56210FAD3371}"/>
              </a:ext>
            </a:extLst>
          </p:cNvPr>
          <p:cNvSpPr txBox="1"/>
          <p:nvPr/>
        </p:nvSpPr>
        <p:spPr>
          <a:xfrm>
            <a:off x="4342769" y="4389833"/>
            <a:ext cx="1990738" cy="307777"/>
          </a:xfrm>
          <a:prstGeom prst="rect">
            <a:avLst/>
          </a:prstGeom>
          <a:noFill/>
        </p:spPr>
        <p:txBody>
          <a:bodyPr wrap="none" rtlCol="0">
            <a:spAutoFit/>
          </a:bodyPr>
          <a:lstStyle/>
          <a:p>
            <a:r>
              <a:rPr kumimoji="1" lang="en-US" altLang="zh-CN" sz="1400" i="1" dirty="0">
                <a:latin typeface="Arial" panose="020B0604020202020204" pitchFamily="34" charset="0"/>
                <a:cs typeface="Arial" panose="020B0604020202020204" pitchFamily="34" charset="0"/>
              </a:rPr>
              <a:t>Universal</a:t>
            </a:r>
            <a:r>
              <a:rPr kumimoji="1" lang="zh-CN" altLang="en-US" sz="1400" i="1" dirty="0">
                <a:latin typeface="Arial" panose="020B0604020202020204" pitchFamily="34" charset="0"/>
                <a:cs typeface="Arial" panose="020B0604020202020204" pitchFamily="34" charset="0"/>
              </a:rPr>
              <a:t> </a:t>
            </a:r>
            <a:r>
              <a:rPr kumimoji="1" lang="en-US" altLang="zh-CN" sz="1400" i="1" dirty="0">
                <a:latin typeface="Arial" panose="020B0604020202020204" pitchFamily="34" charset="0"/>
                <a:cs typeface="Arial" panose="020B0604020202020204" pitchFamily="34" charset="0"/>
              </a:rPr>
              <a:t>Transformer</a:t>
            </a:r>
            <a:endParaRPr kumimoji="1" lang="zh-CN" altLang="en-US" sz="1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8665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7654E9-1220-320D-7ACF-999FD8F359A2}"/>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91E146AC-4702-6A74-AFEE-F9B6A04F2AAC}"/>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CBF17A43-1819-D3AB-5499-B13D93C02A4D}"/>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一、语言模型发展历程</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8ECF0A1E-B321-38EB-4BB6-864C57589F2C}"/>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 name="文本框 3">
            <a:extLst>
              <a:ext uri="{FF2B5EF4-FFF2-40B4-BE49-F238E27FC236}">
                <a16:creationId xmlns:a16="http://schemas.microsoft.com/office/drawing/2014/main" id="{7E7E7CD1-9097-629E-8DCF-EDBF9A095098}"/>
              </a:ext>
            </a:extLst>
          </p:cNvPr>
          <p:cNvSpPr txBox="1"/>
          <p:nvPr/>
        </p:nvSpPr>
        <p:spPr>
          <a:xfrm>
            <a:off x="97274" y="753035"/>
            <a:ext cx="6987810"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语言模型的发展历程中的重要模型</a:t>
            </a:r>
            <a:r>
              <a:rPr kumimoji="1" lang="en-US" altLang="zh-CN" b="1" dirty="0">
                <a:latin typeface="Microsoft YaHei" panose="020B0503020204020204" pitchFamily="34" charset="-122"/>
                <a:ea typeface="Microsoft YaHei" panose="020B0503020204020204" pitchFamily="34" charset="-122"/>
              </a:rPr>
              <a:t>/</a:t>
            </a:r>
            <a:r>
              <a:rPr kumimoji="1" lang="zh-CN" altLang="en-US" b="1" dirty="0">
                <a:latin typeface="Microsoft YaHei" panose="020B0503020204020204" pitchFamily="34" charset="-122"/>
                <a:ea typeface="Microsoft YaHei" panose="020B0503020204020204" pitchFamily="34" charset="-122"/>
              </a:rPr>
              <a:t>概念：</a:t>
            </a:r>
            <a:r>
              <a:rPr kumimoji="1" lang="zh-CN" altLang="en-US" dirty="0">
                <a:latin typeface="Microsoft YaHei" panose="020B0503020204020204" pitchFamily="34" charset="-122"/>
                <a:ea typeface="Microsoft YaHei" panose="020B0503020204020204" pitchFamily="34" charset="-122"/>
              </a:rPr>
              <a:t>注意力机制的诞生与演进</a:t>
            </a:r>
          </a:p>
        </p:txBody>
      </p:sp>
      <p:pic>
        <p:nvPicPr>
          <p:cNvPr id="2" name="图片 1">
            <a:extLst>
              <a:ext uri="{FF2B5EF4-FFF2-40B4-BE49-F238E27FC236}">
                <a16:creationId xmlns:a16="http://schemas.microsoft.com/office/drawing/2014/main" id="{239A1D13-AF59-28DD-0D86-C4B4B72649C3}"/>
              </a:ext>
            </a:extLst>
          </p:cNvPr>
          <p:cNvPicPr>
            <a:picLocks noChangeAspect="1"/>
          </p:cNvPicPr>
          <p:nvPr/>
        </p:nvPicPr>
        <p:blipFill>
          <a:blip r:embed="rId3"/>
          <a:stretch>
            <a:fillRect/>
          </a:stretch>
        </p:blipFill>
        <p:spPr>
          <a:xfrm>
            <a:off x="1714499" y="1254347"/>
            <a:ext cx="5715001" cy="1477283"/>
          </a:xfrm>
          <a:prstGeom prst="rect">
            <a:avLst/>
          </a:prstGeom>
        </p:spPr>
      </p:pic>
      <p:sp>
        <p:nvSpPr>
          <p:cNvPr id="5" name="文本框 4">
            <a:extLst>
              <a:ext uri="{FF2B5EF4-FFF2-40B4-BE49-F238E27FC236}">
                <a16:creationId xmlns:a16="http://schemas.microsoft.com/office/drawing/2014/main" id="{C5AEEA42-306F-F5B4-6169-AD5A297A2F46}"/>
              </a:ext>
            </a:extLst>
          </p:cNvPr>
          <p:cNvSpPr txBox="1"/>
          <p:nvPr/>
        </p:nvSpPr>
        <p:spPr>
          <a:xfrm>
            <a:off x="3526328" y="2731630"/>
            <a:ext cx="2339102" cy="307777"/>
          </a:xfrm>
          <a:prstGeom prst="rect">
            <a:avLst/>
          </a:prstGeom>
          <a:noFill/>
        </p:spPr>
        <p:txBody>
          <a:bodyPr wrap="none" rtlCol="0">
            <a:spAutoFit/>
          </a:bodyPr>
          <a:lstStyle/>
          <a:p>
            <a:r>
              <a:rPr kumimoji="1" lang="zh-CN" altLang="en-US" sz="1400" i="1" dirty="0">
                <a:latin typeface="Microsoft YaHei" panose="020B0503020204020204" pitchFamily="34" charset="-122"/>
                <a:ea typeface="Microsoft YaHei" panose="020B0503020204020204" pitchFamily="34" charset="-122"/>
              </a:rPr>
              <a:t>几种建模序列模型架构比较</a:t>
            </a:r>
          </a:p>
        </p:txBody>
      </p:sp>
      <p:pic>
        <p:nvPicPr>
          <p:cNvPr id="6" name="图片 5">
            <a:extLst>
              <a:ext uri="{FF2B5EF4-FFF2-40B4-BE49-F238E27FC236}">
                <a16:creationId xmlns:a16="http://schemas.microsoft.com/office/drawing/2014/main" id="{C084F57E-995E-18A8-64BF-11895B9351C9}"/>
              </a:ext>
            </a:extLst>
          </p:cNvPr>
          <p:cNvPicPr>
            <a:picLocks noChangeAspect="1"/>
          </p:cNvPicPr>
          <p:nvPr/>
        </p:nvPicPr>
        <p:blipFill>
          <a:blip r:embed="rId4"/>
          <a:stretch>
            <a:fillRect/>
          </a:stretch>
        </p:blipFill>
        <p:spPr>
          <a:xfrm>
            <a:off x="461593" y="3139275"/>
            <a:ext cx="3626187" cy="2754829"/>
          </a:xfrm>
          <a:prstGeom prst="rect">
            <a:avLst/>
          </a:prstGeom>
        </p:spPr>
      </p:pic>
      <p:pic>
        <p:nvPicPr>
          <p:cNvPr id="10" name="图片 9">
            <a:extLst>
              <a:ext uri="{FF2B5EF4-FFF2-40B4-BE49-F238E27FC236}">
                <a16:creationId xmlns:a16="http://schemas.microsoft.com/office/drawing/2014/main" id="{E8A83F88-BB3C-5187-FEAD-FA3512123184}"/>
              </a:ext>
            </a:extLst>
          </p:cNvPr>
          <p:cNvPicPr>
            <a:picLocks noChangeAspect="1"/>
          </p:cNvPicPr>
          <p:nvPr/>
        </p:nvPicPr>
        <p:blipFill>
          <a:blip r:embed="rId5"/>
          <a:stretch>
            <a:fillRect/>
          </a:stretch>
        </p:blipFill>
        <p:spPr>
          <a:xfrm>
            <a:off x="4369341" y="3139275"/>
            <a:ext cx="4296719" cy="1231987"/>
          </a:xfrm>
          <a:prstGeom prst="rect">
            <a:avLst/>
          </a:prstGeom>
        </p:spPr>
      </p:pic>
      <p:sp>
        <p:nvSpPr>
          <p:cNvPr id="11" name="文本框 10">
            <a:extLst>
              <a:ext uri="{FF2B5EF4-FFF2-40B4-BE49-F238E27FC236}">
                <a16:creationId xmlns:a16="http://schemas.microsoft.com/office/drawing/2014/main" id="{33FE9ECF-65DF-AA15-0D51-C60CB9F3DD6F}"/>
              </a:ext>
            </a:extLst>
          </p:cNvPr>
          <p:cNvSpPr txBox="1"/>
          <p:nvPr/>
        </p:nvSpPr>
        <p:spPr>
          <a:xfrm>
            <a:off x="5056222" y="3039407"/>
            <a:ext cx="1522661" cy="307777"/>
          </a:xfrm>
          <a:prstGeom prst="rect">
            <a:avLst/>
          </a:prstGeom>
          <a:noFill/>
        </p:spPr>
        <p:txBody>
          <a:bodyPr wrap="none" rtlCol="0">
            <a:spAutoFit/>
          </a:bodyPr>
          <a:lstStyle/>
          <a:p>
            <a:r>
              <a:rPr kumimoji="1" lang="en-US" altLang="zh-CN" sz="1400" i="1" dirty="0">
                <a:latin typeface="Arial" panose="020B0604020202020204" pitchFamily="34" charset="0"/>
                <a:cs typeface="Arial" panose="020B0604020202020204" pitchFamily="34" charset="0"/>
              </a:rPr>
              <a:t>Star</a:t>
            </a:r>
            <a:r>
              <a:rPr kumimoji="1" lang="zh-CN" altLang="en-US" sz="1400" i="1" dirty="0">
                <a:latin typeface="Arial" panose="020B0604020202020204" pitchFamily="34" charset="0"/>
                <a:cs typeface="Arial" panose="020B0604020202020204" pitchFamily="34" charset="0"/>
              </a:rPr>
              <a:t> </a:t>
            </a:r>
            <a:r>
              <a:rPr kumimoji="1" lang="en-US" altLang="zh-CN" sz="1400" i="1" dirty="0">
                <a:latin typeface="Arial" panose="020B0604020202020204" pitchFamily="34" charset="0"/>
                <a:cs typeface="Arial" panose="020B0604020202020204" pitchFamily="34" charset="0"/>
              </a:rPr>
              <a:t>Transformer</a:t>
            </a:r>
            <a:endParaRPr kumimoji="1" lang="zh-CN" altLang="en-US" sz="1400" i="1" dirty="0">
              <a:latin typeface="Arial" panose="020B0604020202020204" pitchFamily="34" charset="0"/>
              <a:cs typeface="Arial" panose="020B0604020202020204" pitchFamily="34" charset="0"/>
            </a:endParaRPr>
          </a:p>
        </p:txBody>
      </p:sp>
      <p:pic>
        <p:nvPicPr>
          <p:cNvPr id="12" name="图片 11">
            <a:extLst>
              <a:ext uri="{FF2B5EF4-FFF2-40B4-BE49-F238E27FC236}">
                <a16:creationId xmlns:a16="http://schemas.microsoft.com/office/drawing/2014/main" id="{BE277E7E-4B6B-8B53-2451-23C59005BFD1}"/>
              </a:ext>
            </a:extLst>
          </p:cNvPr>
          <p:cNvPicPr>
            <a:picLocks noChangeAspect="1"/>
          </p:cNvPicPr>
          <p:nvPr/>
        </p:nvPicPr>
        <p:blipFill>
          <a:blip r:embed="rId6"/>
          <a:stretch>
            <a:fillRect/>
          </a:stretch>
        </p:blipFill>
        <p:spPr>
          <a:xfrm>
            <a:off x="4777903" y="4516689"/>
            <a:ext cx="3769468" cy="1527318"/>
          </a:xfrm>
          <a:prstGeom prst="rect">
            <a:avLst/>
          </a:prstGeom>
        </p:spPr>
      </p:pic>
      <p:sp>
        <p:nvSpPr>
          <p:cNvPr id="13" name="文本框 12">
            <a:extLst>
              <a:ext uri="{FF2B5EF4-FFF2-40B4-BE49-F238E27FC236}">
                <a16:creationId xmlns:a16="http://schemas.microsoft.com/office/drawing/2014/main" id="{48AA6583-13E2-A7CB-70E4-56210FAD3371}"/>
              </a:ext>
            </a:extLst>
          </p:cNvPr>
          <p:cNvSpPr txBox="1"/>
          <p:nvPr/>
        </p:nvSpPr>
        <p:spPr>
          <a:xfrm>
            <a:off x="4342769" y="4389833"/>
            <a:ext cx="1990738" cy="307777"/>
          </a:xfrm>
          <a:prstGeom prst="rect">
            <a:avLst/>
          </a:prstGeom>
          <a:noFill/>
        </p:spPr>
        <p:txBody>
          <a:bodyPr wrap="none" rtlCol="0">
            <a:spAutoFit/>
          </a:bodyPr>
          <a:lstStyle/>
          <a:p>
            <a:r>
              <a:rPr kumimoji="1" lang="en-US" altLang="zh-CN" sz="1400" i="1" dirty="0">
                <a:latin typeface="Arial" panose="020B0604020202020204" pitchFamily="34" charset="0"/>
                <a:cs typeface="Arial" panose="020B0604020202020204" pitchFamily="34" charset="0"/>
              </a:rPr>
              <a:t>Universal</a:t>
            </a:r>
            <a:r>
              <a:rPr kumimoji="1" lang="zh-CN" altLang="en-US" sz="1400" i="1" dirty="0">
                <a:latin typeface="Arial" panose="020B0604020202020204" pitchFamily="34" charset="0"/>
                <a:cs typeface="Arial" panose="020B0604020202020204" pitchFamily="34" charset="0"/>
              </a:rPr>
              <a:t> </a:t>
            </a:r>
            <a:r>
              <a:rPr kumimoji="1" lang="en-US" altLang="zh-CN" sz="1400" i="1" dirty="0">
                <a:latin typeface="Arial" panose="020B0604020202020204" pitchFamily="34" charset="0"/>
                <a:cs typeface="Arial" panose="020B0604020202020204" pitchFamily="34" charset="0"/>
              </a:rPr>
              <a:t>Transformer</a:t>
            </a:r>
            <a:endParaRPr kumimoji="1" lang="zh-CN" altLang="en-US" sz="1400" i="1" dirty="0">
              <a:latin typeface="Arial" panose="020B0604020202020204" pitchFamily="34" charset="0"/>
              <a:cs typeface="Arial" panose="020B0604020202020204" pitchFamily="34" charset="0"/>
            </a:endParaRPr>
          </a:p>
        </p:txBody>
      </p:sp>
      <p:pic>
        <p:nvPicPr>
          <p:cNvPr id="14" name="图片 13">
            <a:extLst>
              <a:ext uri="{FF2B5EF4-FFF2-40B4-BE49-F238E27FC236}">
                <a16:creationId xmlns:a16="http://schemas.microsoft.com/office/drawing/2014/main" id="{45AA8DE2-9FD5-46FB-8AC5-C75901BF96A0}"/>
              </a:ext>
            </a:extLst>
          </p:cNvPr>
          <p:cNvPicPr>
            <a:picLocks noChangeAspect="1"/>
          </p:cNvPicPr>
          <p:nvPr/>
        </p:nvPicPr>
        <p:blipFill>
          <a:blip r:embed="rId7"/>
          <a:stretch>
            <a:fillRect/>
          </a:stretch>
        </p:blipFill>
        <p:spPr>
          <a:xfrm>
            <a:off x="8223" y="0"/>
            <a:ext cx="9135777" cy="6858000"/>
          </a:xfrm>
          <a:prstGeom prst="rect">
            <a:avLst/>
          </a:prstGeom>
        </p:spPr>
      </p:pic>
    </p:spTree>
    <p:extLst>
      <p:ext uri="{BB962C8B-B14F-4D97-AF65-F5344CB8AC3E}">
        <p14:creationId xmlns:p14="http://schemas.microsoft.com/office/powerpoint/2010/main" val="3847225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2214265"/>
            <a:ext cx="9144000" cy="1388264"/>
            <a:chOff x="-1590" y="2422529"/>
            <a:chExt cx="9145590" cy="1851019"/>
          </a:xfrm>
        </p:grpSpPr>
        <p:sp>
          <p:nvSpPr>
            <p:cNvPr id="24" name="矩形 23"/>
            <p:cNvSpPr/>
            <p:nvPr/>
          </p:nvSpPr>
          <p:spPr>
            <a:xfrm>
              <a:off x="-1590" y="2490260"/>
              <a:ext cx="9145586" cy="1713341"/>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sz="1350" dirty="0">
                <a:solidFill>
                  <a:prstClr val="white"/>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0" y="2422529"/>
              <a:ext cx="9144000" cy="1851019"/>
              <a:chOff x="0" y="2547942"/>
              <a:chExt cx="9144000" cy="1851019"/>
            </a:xfrm>
          </p:grpSpPr>
          <p:sp>
            <p:nvSpPr>
              <p:cNvPr id="5" name="Rectangle 5"/>
              <p:cNvSpPr>
                <a:spLocks noChangeArrowheads="1"/>
              </p:cNvSpPr>
              <p:nvPr/>
            </p:nvSpPr>
            <p:spPr bwMode="auto">
              <a:xfrm>
                <a:off x="0" y="2547942"/>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sp>
            <p:nvSpPr>
              <p:cNvPr id="6" name="Rectangle 5"/>
              <p:cNvSpPr>
                <a:spLocks noChangeArrowheads="1"/>
              </p:cNvSpPr>
              <p:nvPr/>
            </p:nvSpPr>
            <p:spPr bwMode="auto">
              <a:xfrm>
                <a:off x="0" y="4322761"/>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grpSp>
      </p:grpSp>
      <p:pic>
        <p:nvPicPr>
          <p:cNvPr id="3" name="图片 2"/>
          <p:cNvPicPr>
            <a:picLocks noChangeAspect="1"/>
          </p:cNvPicPr>
          <p:nvPr/>
        </p:nvPicPr>
        <p:blipFill>
          <a:blip r:embed="rId3"/>
          <a:stretch>
            <a:fillRect/>
          </a:stretch>
        </p:blipFill>
        <p:spPr>
          <a:xfrm>
            <a:off x="0" y="851743"/>
            <a:ext cx="9144000" cy="754445"/>
          </a:xfrm>
          <a:prstGeom prst="rect">
            <a:avLst/>
          </a:prstGeom>
        </p:spPr>
      </p:pic>
      <p:sp>
        <p:nvSpPr>
          <p:cNvPr id="8" name="文本框 7">
            <a:extLst>
              <a:ext uri="{FF2B5EF4-FFF2-40B4-BE49-F238E27FC236}">
                <a16:creationId xmlns:a16="http://schemas.microsoft.com/office/drawing/2014/main" id="{06E531FC-B52C-4BB5-B379-E8B6FDB5DFA7}"/>
              </a:ext>
            </a:extLst>
          </p:cNvPr>
          <p:cNvSpPr txBox="1"/>
          <p:nvPr/>
        </p:nvSpPr>
        <p:spPr>
          <a:xfrm>
            <a:off x="2786894" y="2545569"/>
            <a:ext cx="3600666" cy="769441"/>
          </a:xfrm>
          <a:prstGeom prst="rect">
            <a:avLst/>
          </a:prstGeom>
          <a:noFill/>
        </p:spPr>
        <p:txBody>
          <a:bodyPr wrap="non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NLP</a:t>
            </a:r>
            <a:r>
              <a:rPr lang="zh-CN" altLang="en-US" sz="4400" b="1" dirty="0">
                <a:solidFill>
                  <a:schemeClr val="bg1"/>
                </a:solidFill>
                <a:latin typeface="微软雅黑" panose="020B0503020204020204" pitchFamily="34" charset="-122"/>
                <a:ea typeface="微软雅黑" panose="020B0503020204020204" pitchFamily="34" charset="-122"/>
              </a:rPr>
              <a:t>技术基础</a:t>
            </a:r>
          </a:p>
        </p:txBody>
      </p:sp>
      <p:pic>
        <p:nvPicPr>
          <p:cNvPr id="9" name="图片 17">
            <a:extLst>
              <a:ext uri="{FF2B5EF4-FFF2-40B4-BE49-F238E27FC236}">
                <a16:creationId xmlns:a16="http://schemas.microsoft.com/office/drawing/2014/main" id="{4D9B7B69-685E-46B0-A2F6-C19CF2A07C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688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3A3B1-44B8-C79E-9479-C98CD905D6FA}"/>
            </a:ext>
          </a:extLst>
        </p:cNvPr>
        <p:cNvGrpSpPr/>
        <p:nvPr/>
      </p:nvGrpSpPr>
      <p:grpSpPr>
        <a:xfrm>
          <a:off x="0" y="0"/>
          <a:ext cx="0" cy="0"/>
          <a:chOff x="0" y="0"/>
          <a:chExt cx="0" cy="0"/>
        </a:xfrm>
      </p:grpSpPr>
      <p:sp>
        <p:nvSpPr>
          <p:cNvPr id="11268" name="矩形 59">
            <a:extLst>
              <a:ext uri="{FF2B5EF4-FFF2-40B4-BE49-F238E27FC236}">
                <a16:creationId xmlns:a16="http://schemas.microsoft.com/office/drawing/2014/main" id="{AA6AA092-ACFE-A486-11B7-35AD1F0D69A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二、</a:t>
            </a:r>
            <a:r>
              <a:rPr kumimoji="0" lang="en-US" altLang="zh-CN"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NLP</a:t>
            </a: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基础概念</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48EB9799-808D-62EC-1321-636F8FEF799B}"/>
              </a:ext>
            </a:extLst>
          </p:cNvPr>
          <p:cNvSpPr>
            <a:spLocks noChangeArrowheads="1"/>
          </p:cNvSpPr>
          <p:nvPr/>
        </p:nvSpPr>
        <p:spPr bwMode="auto">
          <a:xfrm flipH="1">
            <a:off x="3175" y="6749671"/>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E9B586DA-FD28-4D70-BBB1-F74E055C5611}"/>
              </a:ext>
            </a:extLst>
          </p:cNvPr>
          <p:cNvSpPr txBox="1"/>
          <p:nvPr/>
        </p:nvSpPr>
        <p:spPr>
          <a:xfrm>
            <a:off x="64849" y="789764"/>
            <a:ext cx="3185487"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基础概念与技术：</a:t>
            </a:r>
            <a:r>
              <a:rPr kumimoji="1" lang="zh-CN" altLang="en-US" dirty="0">
                <a:latin typeface="Microsoft YaHei" panose="020B0503020204020204" pitchFamily="34" charset="-122"/>
                <a:ea typeface="Microsoft YaHei" panose="020B0503020204020204" pitchFamily="34" charset="-122"/>
              </a:rPr>
              <a:t>词元与嵌入</a:t>
            </a:r>
          </a:p>
        </p:txBody>
      </p:sp>
      <p:pic>
        <p:nvPicPr>
          <p:cNvPr id="8" name="图片 7">
            <a:extLst>
              <a:ext uri="{FF2B5EF4-FFF2-40B4-BE49-F238E27FC236}">
                <a16:creationId xmlns:a16="http://schemas.microsoft.com/office/drawing/2014/main" id="{854AB08A-695D-DFF5-787F-41A0D12EFA18}"/>
              </a:ext>
            </a:extLst>
          </p:cNvPr>
          <p:cNvPicPr>
            <a:picLocks noChangeAspect="1"/>
          </p:cNvPicPr>
          <p:nvPr/>
        </p:nvPicPr>
        <p:blipFill>
          <a:blip r:embed="rId3" cstate="print">
            <a:extLst>
              <a:ext uri="{28A0092B-C50C-407E-A947-70E740481C1C}">
                <a14:useLocalDpi xmlns:a14="http://schemas.microsoft.com/office/drawing/2010/main" val="0"/>
              </a:ext>
            </a:extLst>
          </a:blip>
          <a:srcRect l="22470" t="45674" r="28122" b="21986"/>
          <a:stretch>
            <a:fillRect/>
          </a:stretch>
        </p:blipFill>
        <p:spPr>
          <a:xfrm>
            <a:off x="189365" y="1302529"/>
            <a:ext cx="3060971" cy="2217907"/>
          </a:xfrm>
          <a:prstGeom prst="rect">
            <a:avLst/>
          </a:prstGeom>
        </p:spPr>
      </p:pic>
      <p:sp>
        <p:nvSpPr>
          <p:cNvPr id="10" name="右大括号 9">
            <a:extLst>
              <a:ext uri="{FF2B5EF4-FFF2-40B4-BE49-F238E27FC236}">
                <a16:creationId xmlns:a16="http://schemas.microsoft.com/office/drawing/2014/main" id="{4E4292ED-E7A1-6CD0-9792-04DEF53634D6}"/>
              </a:ext>
            </a:extLst>
          </p:cNvPr>
          <p:cNvSpPr/>
          <p:nvPr/>
        </p:nvSpPr>
        <p:spPr>
          <a:xfrm>
            <a:off x="3250336" y="1459149"/>
            <a:ext cx="272375" cy="1199744"/>
          </a:xfrm>
          <a:prstGeom prst="rightBrace">
            <a:avLst/>
          </a:prstGeom>
          <a:ln w="19050">
            <a:solidFill>
              <a:srgbClr val="00518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3257EE57-4E85-38E7-3312-0891AE63A47F}"/>
              </a:ext>
            </a:extLst>
          </p:cNvPr>
          <p:cNvSpPr txBox="1"/>
          <p:nvPr/>
        </p:nvSpPr>
        <p:spPr>
          <a:xfrm>
            <a:off x="3590825" y="1526032"/>
            <a:ext cx="1591077" cy="1167692"/>
          </a:xfrm>
          <a:prstGeom prst="rect">
            <a:avLst/>
          </a:prstGeom>
          <a:noFill/>
        </p:spPr>
        <p:txBody>
          <a:bodyPr wrap="none" rtlCol="0">
            <a:spAutoFit/>
          </a:bodyPr>
          <a:lstStyle/>
          <a:p>
            <a:pPr marL="342900" indent="-342900">
              <a:lnSpc>
                <a:spcPct val="150000"/>
              </a:lnSpc>
              <a:buAutoNum type="arabicPeriod"/>
            </a:pPr>
            <a:r>
              <a:rPr kumimoji="1" lang="zh-CN" altLang="en-US" sz="1200" dirty="0">
                <a:latin typeface="Microsoft YaHei" panose="020B0503020204020204" pitchFamily="34" charset="-122"/>
                <a:ea typeface="Microsoft YaHei" panose="020B0503020204020204" pitchFamily="34" charset="-122"/>
              </a:rPr>
              <a:t>单个</a:t>
            </a:r>
            <a:r>
              <a:rPr kumimoji="1" lang="en-US" altLang="zh-CN" sz="1200" dirty="0">
                <a:latin typeface="Microsoft YaHei" panose="020B0503020204020204" pitchFamily="34" charset="-122"/>
                <a:ea typeface="Microsoft YaHei" panose="020B0503020204020204" pitchFamily="34" charset="-122"/>
              </a:rPr>
              <a:t>words</a:t>
            </a:r>
            <a:r>
              <a:rPr kumimoji="1" lang="zh-CN" altLang="en-US" sz="1200" dirty="0">
                <a:latin typeface="Microsoft YaHei" panose="020B0503020204020204" pitchFamily="34" charset="-122"/>
                <a:ea typeface="Microsoft YaHei" panose="020B0503020204020204" pitchFamily="34" charset="-122"/>
              </a:rPr>
              <a:t>划分</a:t>
            </a:r>
            <a:endParaRPr kumimoji="1" lang="en-US" altLang="zh-CN" sz="1200" dirty="0">
              <a:latin typeface="Microsoft YaHei" panose="020B0503020204020204" pitchFamily="34" charset="-122"/>
              <a:ea typeface="Microsoft YaHei" panose="020B0503020204020204" pitchFamily="34" charset="-122"/>
            </a:endParaRPr>
          </a:p>
          <a:p>
            <a:pPr marL="342900" indent="-342900">
              <a:lnSpc>
                <a:spcPct val="150000"/>
              </a:lnSpc>
              <a:buAutoNum type="arabicPeriod"/>
            </a:pPr>
            <a:r>
              <a:rPr kumimoji="1" lang="zh-CN" altLang="en-US" sz="1200" dirty="0">
                <a:latin typeface="Microsoft YaHei" panose="020B0503020204020204" pitchFamily="34" charset="-122"/>
                <a:ea typeface="Microsoft YaHei" panose="020B0503020204020204" pitchFamily="34" charset="-122"/>
              </a:rPr>
              <a:t>子词划分</a:t>
            </a:r>
            <a:endParaRPr kumimoji="1" lang="en-US" altLang="zh-CN" sz="1200" dirty="0">
              <a:latin typeface="Microsoft YaHei" panose="020B0503020204020204" pitchFamily="34" charset="-122"/>
              <a:ea typeface="Microsoft YaHei" panose="020B0503020204020204" pitchFamily="34" charset="-122"/>
            </a:endParaRPr>
          </a:p>
          <a:p>
            <a:pPr marL="342900" indent="-342900">
              <a:lnSpc>
                <a:spcPct val="150000"/>
              </a:lnSpc>
              <a:buAutoNum type="arabicPeriod"/>
            </a:pPr>
            <a:r>
              <a:rPr kumimoji="1" lang="zh-CN" altLang="en-US" sz="1200" dirty="0">
                <a:latin typeface="Microsoft YaHei" panose="020B0503020204020204" pitchFamily="34" charset="-122"/>
                <a:ea typeface="Microsoft YaHei" panose="020B0503020204020204" pitchFamily="34" charset="-122"/>
              </a:rPr>
              <a:t>字符级别划分</a:t>
            </a:r>
            <a:endParaRPr kumimoji="1" lang="en-US" altLang="zh-CN" sz="1200" dirty="0">
              <a:latin typeface="Microsoft YaHei" panose="020B0503020204020204" pitchFamily="34" charset="-122"/>
              <a:ea typeface="Microsoft YaHei" panose="020B0503020204020204" pitchFamily="34" charset="-122"/>
            </a:endParaRPr>
          </a:p>
          <a:p>
            <a:pPr marL="342900" indent="-342900">
              <a:lnSpc>
                <a:spcPct val="150000"/>
              </a:lnSpc>
              <a:buAutoNum type="arabicPeriod"/>
            </a:pPr>
            <a:r>
              <a:rPr kumimoji="1" lang="zh-CN" altLang="en-US" sz="1200" dirty="0">
                <a:latin typeface="Microsoft YaHei" panose="020B0503020204020204" pitchFamily="34" charset="-122"/>
                <a:ea typeface="Microsoft YaHei" panose="020B0503020204020204" pitchFamily="34" charset="-122"/>
              </a:rPr>
              <a:t>字节级别划分</a:t>
            </a:r>
          </a:p>
        </p:txBody>
      </p:sp>
      <p:pic>
        <p:nvPicPr>
          <p:cNvPr id="15" name="图片 14">
            <a:extLst>
              <a:ext uri="{FF2B5EF4-FFF2-40B4-BE49-F238E27FC236}">
                <a16:creationId xmlns:a16="http://schemas.microsoft.com/office/drawing/2014/main" id="{22C8EA1D-653E-60C7-9383-E8CCFF305606}"/>
              </a:ext>
            </a:extLst>
          </p:cNvPr>
          <p:cNvPicPr>
            <a:picLocks noChangeAspect="1"/>
          </p:cNvPicPr>
          <p:nvPr/>
        </p:nvPicPr>
        <p:blipFill>
          <a:blip r:embed="rId4" cstate="print">
            <a:extLst>
              <a:ext uri="{28A0092B-C50C-407E-A947-70E740481C1C}">
                <a14:useLocalDpi xmlns:a14="http://schemas.microsoft.com/office/drawing/2010/main" val="0"/>
              </a:ext>
            </a:extLst>
          </a:blip>
          <a:srcRect l="18390" t="15900" r="6434" b="15554"/>
          <a:stretch>
            <a:fillRect/>
          </a:stretch>
        </p:blipFill>
        <p:spPr>
          <a:xfrm>
            <a:off x="5531526" y="2171249"/>
            <a:ext cx="3274979" cy="2569823"/>
          </a:xfrm>
          <a:prstGeom prst="rect">
            <a:avLst/>
          </a:prstGeom>
        </p:spPr>
      </p:pic>
      <p:pic>
        <p:nvPicPr>
          <p:cNvPr id="1026" name="Picture 2">
            <a:extLst>
              <a:ext uri="{FF2B5EF4-FFF2-40B4-BE49-F238E27FC236}">
                <a16:creationId xmlns:a16="http://schemas.microsoft.com/office/drawing/2014/main" id="{C47DD007-BD75-CB0F-4043-592E0D13EEF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45" y="3931436"/>
            <a:ext cx="4626264" cy="2289037"/>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51614614-626E-259D-60CC-01506CA8C0B8}"/>
              </a:ext>
            </a:extLst>
          </p:cNvPr>
          <p:cNvSpPr txBox="1"/>
          <p:nvPr/>
        </p:nvSpPr>
        <p:spPr>
          <a:xfrm>
            <a:off x="0" y="3815884"/>
            <a:ext cx="1680268" cy="276999"/>
          </a:xfrm>
          <a:prstGeom prst="rect">
            <a:avLst/>
          </a:prstGeom>
          <a:noFill/>
        </p:spPr>
        <p:txBody>
          <a:bodyPr wrap="none" rtlCol="0">
            <a:spAutoFit/>
          </a:bodyPr>
          <a:lstStyle/>
          <a:p>
            <a:r>
              <a:rPr kumimoji="1" lang="en-US" altLang="zh-CN" sz="1200" i="1" dirty="0">
                <a:latin typeface="Microsoft YaHei" panose="020B0503020204020204" pitchFamily="34" charset="-122"/>
                <a:ea typeface="Microsoft YaHei" panose="020B0503020204020204" pitchFamily="34" charset="-122"/>
              </a:rPr>
              <a:t>GPT</a:t>
            </a:r>
            <a:r>
              <a:rPr kumimoji="1" lang="zh-CN" altLang="en-US" sz="1200" i="1" dirty="0">
                <a:latin typeface="Microsoft YaHei" panose="020B0503020204020204" pitchFamily="34" charset="-122"/>
                <a:ea typeface="Microsoft YaHei" panose="020B0503020204020204" pitchFamily="34" charset="-122"/>
              </a:rPr>
              <a:t>使用的</a:t>
            </a:r>
            <a:r>
              <a:rPr kumimoji="1" lang="en-US" altLang="zh-CN" sz="1200" i="1" dirty="0">
                <a:latin typeface="Microsoft YaHei" panose="020B0503020204020204" pitchFamily="34" charset="-122"/>
                <a:ea typeface="Microsoft YaHei" panose="020B0503020204020204" pitchFamily="34" charset="-122"/>
              </a:rPr>
              <a:t>BPE</a:t>
            </a:r>
            <a:r>
              <a:rPr kumimoji="1" lang="zh-CN" altLang="en-US" sz="1200" i="1" dirty="0">
                <a:latin typeface="Microsoft YaHei" panose="020B0503020204020204" pitchFamily="34" charset="-122"/>
                <a:ea typeface="Microsoft YaHei" panose="020B0503020204020204" pitchFamily="34" charset="-122"/>
              </a:rPr>
              <a:t>分词器</a:t>
            </a:r>
          </a:p>
        </p:txBody>
      </p:sp>
      <p:pic>
        <p:nvPicPr>
          <p:cNvPr id="2" name="图片 1">
            <a:extLst>
              <a:ext uri="{FF2B5EF4-FFF2-40B4-BE49-F238E27FC236}">
                <a16:creationId xmlns:a16="http://schemas.microsoft.com/office/drawing/2014/main" id="{56282009-0BD6-33A5-B229-37C5317105F2}"/>
              </a:ext>
            </a:extLst>
          </p:cNvPr>
          <p:cNvPicPr>
            <a:picLocks noChangeAspect="1"/>
          </p:cNvPicPr>
          <p:nvPr/>
        </p:nvPicPr>
        <p:blipFill>
          <a:blip r:embed="rId6">
            <a:clrChange>
              <a:clrFrom>
                <a:srgbClr val="F9F9F9"/>
              </a:clrFrom>
              <a:clrTo>
                <a:srgbClr val="F9F9F9">
                  <a:alpha val="0"/>
                </a:srgbClr>
              </a:clrTo>
            </a:clrChange>
          </a:blip>
          <a:stretch>
            <a:fillRect/>
          </a:stretch>
        </p:blipFill>
        <p:spPr>
          <a:xfrm>
            <a:off x="4758554" y="4873567"/>
            <a:ext cx="4481394" cy="1346906"/>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C932637-1EBA-42E1-A785-84F8B33E960E}"/>
                  </a:ext>
                </a:extLst>
              </p:cNvPr>
              <p:cNvSpPr txBox="1"/>
              <p:nvPr/>
            </p:nvSpPr>
            <p:spPr>
              <a:xfrm>
                <a:off x="4906038" y="964515"/>
                <a:ext cx="236955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oMath>
                  </m:oMathPara>
                </a14:m>
                <a:endParaRPr lang="zh-CN" altLang="en-US" dirty="0"/>
              </a:p>
            </p:txBody>
          </p:sp>
        </mc:Choice>
        <mc:Fallback xmlns="">
          <p:sp>
            <p:nvSpPr>
              <p:cNvPr id="13" name="文本框 12">
                <a:extLst>
                  <a:ext uri="{FF2B5EF4-FFF2-40B4-BE49-F238E27FC236}">
                    <a16:creationId xmlns:a16="http://schemas.microsoft.com/office/drawing/2014/main" id="{2C932637-1EBA-42E1-A785-84F8B33E960E}"/>
                  </a:ext>
                </a:extLst>
              </p:cNvPr>
              <p:cNvSpPr txBox="1">
                <a:spLocks noRot="1" noChangeAspect="1" noMove="1" noResize="1" noEditPoints="1" noAdjustHandles="1" noChangeArrowheads="1" noChangeShapeType="1" noTextEdit="1"/>
              </p:cNvSpPr>
              <p:nvPr/>
            </p:nvSpPr>
            <p:spPr>
              <a:xfrm>
                <a:off x="4906038" y="964515"/>
                <a:ext cx="2369558" cy="369332"/>
              </a:xfrm>
              <a:prstGeom prst="rect">
                <a:avLst/>
              </a:prstGeom>
              <a:blipFill>
                <a:blip r:embed="rId7"/>
                <a:stretch>
                  <a:fillRect b="-13115"/>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A2F135BB-6D97-4A8D-BF5A-14C414D20B49}"/>
              </a:ext>
            </a:extLst>
          </p:cNvPr>
          <p:cNvSpPr txBox="1"/>
          <p:nvPr/>
        </p:nvSpPr>
        <p:spPr>
          <a:xfrm>
            <a:off x="5455953" y="1386664"/>
            <a:ext cx="1697901"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我  来  自  中  国</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1EF369E-3AAB-4B92-BF1B-15B0270924A2}"/>
                  </a:ext>
                </a:extLst>
              </p:cNvPr>
              <p:cNvSpPr txBox="1"/>
              <p:nvPr/>
            </p:nvSpPr>
            <p:spPr>
              <a:xfrm>
                <a:off x="7110397" y="964643"/>
                <a:ext cx="205447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oMath>
                  </m:oMathPara>
                </a14:m>
                <a:endParaRPr lang="zh-CN" altLang="en-US" dirty="0"/>
              </a:p>
            </p:txBody>
          </p:sp>
        </mc:Choice>
        <mc:Fallback xmlns="">
          <p:sp>
            <p:nvSpPr>
              <p:cNvPr id="17" name="文本框 16">
                <a:extLst>
                  <a:ext uri="{FF2B5EF4-FFF2-40B4-BE49-F238E27FC236}">
                    <a16:creationId xmlns:a16="http://schemas.microsoft.com/office/drawing/2014/main" id="{21EF369E-3AAB-4B92-BF1B-15B0270924A2}"/>
                  </a:ext>
                </a:extLst>
              </p:cNvPr>
              <p:cNvSpPr txBox="1">
                <a:spLocks noRot="1" noChangeAspect="1" noMove="1" noResize="1" noEditPoints="1" noAdjustHandles="1" noChangeArrowheads="1" noChangeShapeType="1" noTextEdit="1"/>
              </p:cNvSpPr>
              <p:nvPr/>
            </p:nvSpPr>
            <p:spPr>
              <a:xfrm>
                <a:off x="7110397" y="964643"/>
                <a:ext cx="2054473" cy="369332"/>
              </a:xfrm>
              <a:prstGeom prst="rect">
                <a:avLst/>
              </a:prstGeom>
              <a:blipFill>
                <a:blip r:embed="rId8"/>
                <a:stretch>
                  <a:fillRect b="-13115"/>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0582C45D-D453-4F4B-9177-555EC0B167C6}"/>
              </a:ext>
            </a:extLst>
          </p:cNvPr>
          <p:cNvSpPr txBox="1"/>
          <p:nvPr/>
        </p:nvSpPr>
        <p:spPr>
          <a:xfrm>
            <a:off x="7624640" y="1404458"/>
            <a:ext cx="1540230"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I come from China</a:t>
            </a:r>
            <a:endParaRPr lang="zh-CN" altLang="en-US" sz="1200"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BC8190B9-7A56-41F9-93A6-7810712BB81C}"/>
              </a:ext>
            </a:extLst>
          </p:cNvPr>
          <p:cNvSpPr/>
          <p:nvPr/>
        </p:nvSpPr>
        <p:spPr>
          <a:xfrm>
            <a:off x="5455953" y="964515"/>
            <a:ext cx="432920" cy="706384"/>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309CFA8-A1DC-41CE-9D92-374B98BB647C}"/>
              </a:ext>
            </a:extLst>
          </p:cNvPr>
          <p:cNvSpPr txBox="1"/>
          <p:nvPr/>
        </p:nvSpPr>
        <p:spPr>
          <a:xfrm>
            <a:off x="5266306" y="664510"/>
            <a:ext cx="1082348"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如何分割？</a:t>
            </a:r>
          </a:p>
        </p:txBody>
      </p:sp>
      <p:sp>
        <p:nvSpPr>
          <p:cNvPr id="21" name="矩形: 圆角 20">
            <a:extLst>
              <a:ext uri="{FF2B5EF4-FFF2-40B4-BE49-F238E27FC236}">
                <a16:creationId xmlns:a16="http://schemas.microsoft.com/office/drawing/2014/main" id="{B0548B1A-AD56-4C60-9513-31ECEF174130}"/>
              </a:ext>
            </a:extLst>
          </p:cNvPr>
          <p:cNvSpPr/>
          <p:nvPr/>
        </p:nvSpPr>
        <p:spPr>
          <a:xfrm>
            <a:off x="8623351" y="964643"/>
            <a:ext cx="432920" cy="706384"/>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39364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二、</a:t>
            </a:r>
            <a:r>
              <a:rPr kumimoji="0" lang="en-US" altLang="zh-CN"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NLP</a:t>
            </a: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基础概念</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5169B9EE-A1C9-BA84-0A75-D98A633D3735}"/>
              </a:ext>
            </a:extLst>
          </p:cNvPr>
          <p:cNvSpPr txBox="1"/>
          <p:nvPr/>
        </p:nvSpPr>
        <p:spPr>
          <a:xfrm>
            <a:off x="64849" y="789764"/>
            <a:ext cx="3185487"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基础概念与技术：</a:t>
            </a:r>
            <a:r>
              <a:rPr kumimoji="1" lang="zh-CN" altLang="en-US" dirty="0">
                <a:latin typeface="Microsoft YaHei" panose="020B0503020204020204" pitchFamily="34" charset="-122"/>
                <a:ea typeface="Microsoft YaHei" panose="020B0503020204020204" pitchFamily="34" charset="-122"/>
              </a:rPr>
              <a:t>词元与嵌入</a:t>
            </a:r>
          </a:p>
        </p:txBody>
      </p:sp>
      <p:sp>
        <p:nvSpPr>
          <p:cNvPr id="16" name="文本框 15">
            <a:extLst>
              <a:ext uri="{FF2B5EF4-FFF2-40B4-BE49-F238E27FC236}">
                <a16:creationId xmlns:a16="http://schemas.microsoft.com/office/drawing/2014/main" id="{6CE68ED9-F0B9-3C06-FC7F-7DB819F9BF09}"/>
              </a:ext>
            </a:extLst>
          </p:cNvPr>
          <p:cNvSpPr txBox="1"/>
          <p:nvPr/>
        </p:nvSpPr>
        <p:spPr>
          <a:xfrm>
            <a:off x="64849" y="1187288"/>
            <a:ext cx="2317237" cy="276999"/>
          </a:xfrm>
          <a:prstGeom prst="rect">
            <a:avLst/>
          </a:prstGeom>
          <a:noFill/>
        </p:spPr>
        <p:txBody>
          <a:bodyPr wrap="none" rtlCol="0">
            <a:spAutoFit/>
          </a:bodyPr>
          <a:lstStyle/>
          <a:p>
            <a:pPr marL="171450" indent="-171450">
              <a:buFont typeface="Wingdings" panose="05000000000000000000" pitchFamily="2" charset="2"/>
              <a:buChar char="Ø"/>
            </a:pPr>
            <a:r>
              <a:rPr kumimoji="1" lang="en-US" altLang="zh-CN" sz="1200" i="1" dirty="0">
                <a:latin typeface="Microsoft YaHei" panose="020B0503020204020204" pitchFamily="34" charset="-122"/>
                <a:ea typeface="Microsoft YaHei" panose="020B0503020204020204" pitchFamily="34" charset="-122"/>
              </a:rPr>
              <a:t>Google</a:t>
            </a:r>
            <a:r>
              <a:rPr kumimoji="1" lang="zh-CN" altLang="en-US" sz="1200" i="1" dirty="0">
                <a:latin typeface="Microsoft YaHei" panose="020B0503020204020204" pitchFamily="34" charset="-122"/>
                <a:ea typeface="Microsoft YaHei" panose="020B0503020204020204" pitchFamily="34" charset="-122"/>
              </a:rPr>
              <a:t>的</a:t>
            </a:r>
            <a:r>
              <a:rPr kumimoji="1" lang="en-US" altLang="zh-CN" sz="1200" i="1" dirty="0" err="1">
                <a:latin typeface="Microsoft YaHei" panose="020B0503020204020204" pitchFamily="34" charset="-122"/>
                <a:ea typeface="Microsoft YaHei" panose="020B0503020204020204" pitchFamily="34" charset="-122"/>
              </a:rPr>
              <a:t>WordPiece</a:t>
            </a:r>
            <a:r>
              <a:rPr kumimoji="1" lang="zh-CN" altLang="en-US" sz="1200" i="1" dirty="0">
                <a:latin typeface="Microsoft YaHei" panose="020B0503020204020204" pitchFamily="34" charset="-122"/>
                <a:ea typeface="Microsoft YaHei" panose="020B0503020204020204" pitchFamily="34" charset="-122"/>
              </a:rPr>
              <a:t>分词器</a:t>
            </a:r>
          </a:p>
        </p:txBody>
      </p:sp>
      <p:sp>
        <p:nvSpPr>
          <p:cNvPr id="17" name="文本框 16">
            <a:extLst>
              <a:ext uri="{FF2B5EF4-FFF2-40B4-BE49-F238E27FC236}">
                <a16:creationId xmlns:a16="http://schemas.microsoft.com/office/drawing/2014/main" id="{CCF4D39E-1BBB-7E63-E32A-6CA793683730}"/>
              </a:ext>
            </a:extLst>
          </p:cNvPr>
          <p:cNvSpPr txBox="1"/>
          <p:nvPr/>
        </p:nvSpPr>
        <p:spPr>
          <a:xfrm>
            <a:off x="64849" y="2383172"/>
            <a:ext cx="1457450" cy="276999"/>
          </a:xfrm>
          <a:prstGeom prst="rect">
            <a:avLst/>
          </a:prstGeom>
          <a:noFill/>
        </p:spPr>
        <p:txBody>
          <a:bodyPr wrap="none" rtlCol="0">
            <a:spAutoFit/>
          </a:bodyPr>
          <a:lstStyle/>
          <a:p>
            <a:pPr marL="171450" indent="-171450">
              <a:buFont typeface="Wingdings" panose="05000000000000000000" pitchFamily="2" charset="2"/>
              <a:buChar char="Ø"/>
            </a:pPr>
            <a:r>
              <a:rPr kumimoji="1" lang="en-US" altLang="zh-CN" sz="1200" i="1" dirty="0">
                <a:latin typeface="Microsoft YaHei" panose="020B0503020204020204" pitchFamily="34" charset="-122"/>
                <a:ea typeface="Microsoft YaHei" panose="020B0503020204020204" pitchFamily="34" charset="-122"/>
              </a:rPr>
              <a:t>Unigram</a:t>
            </a:r>
            <a:r>
              <a:rPr kumimoji="1" lang="zh-CN" altLang="en-US" sz="1200" i="1" dirty="0">
                <a:latin typeface="Microsoft YaHei" panose="020B0503020204020204" pitchFamily="34" charset="-122"/>
                <a:ea typeface="Microsoft YaHei" panose="020B0503020204020204" pitchFamily="34" charset="-122"/>
              </a:rPr>
              <a:t>分词器</a:t>
            </a:r>
          </a:p>
        </p:txBody>
      </p:sp>
      <p:sp>
        <p:nvSpPr>
          <p:cNvPr id="2" name="文本框 1">
            <a:extLst>
              <a:ext uri="{FF2B5EF4-FFF2-40B4-BE49-F238E27FC236}">
                <a16:creationId xmlns:a16="http://schemas.microsoft.com/office/drawing/2014/main" id="{8E02DAB8-8DD8-4128-86BE-545A16BF9179}"/>
              </a:ext>
            </a:extLst>
          </p:cNvPr>
          <p:cNvSpPr txBox="1"/>
          <p:nvPr/>
        </p:nvSpPr>
        <p:spPr>
          <a:xfrm>
            <a:off x="226793" y="1492479"/>
            <a:ext cx="8687243" cy="890693"/>
          </a:xfrm>
          <a:prstGeom prst="rect">
            <a:avLst/>
          </a:prstGeom>
          <a:noFill/>
        </p:spPr>
        <p:txBody>
          <a:bodyPr wrap="square" rtlCol="0">
            <a:spAutoFit/>
          </a:bodyPr>
          <a:lstStyle/>
          <a:p>
            <a:pPr>
              <a:lnSpc>
                <a:spcPct val="150000"/>
              </a:lnSpc>
            </a:pPr>
            <a:r>
              <a:rPr lang="zh-CN" altLang="en-US" sz="1200" dirty="0">
                <a:latin typeface="微软雅黑" panose="020B0503020204020204" pitchFamily="34" charset="-122"/>
                <a:ea typeface="微软雅黑" panose="020B0503020204020204" pitchFamily="34" charset="-122"/>
              </a:rPr>
              <a:t>引入语言模型对</a:t>
            </a:r>
            <a:r>
              <a:rPr lang="en-US" altLang="zh-CN" sz="1200" dirty="0">
                <a:latin typeface="微软雅黑" panose="020B0503020204020204" pitchFamily="34" charset="-122"/>
                <a:ea typeface="微软雅黑" panose="020B0503020204020204" pitchFamily="34" charset="-122"/>
              </a:rPr>
              <a:t>BPE </a:t>
            </a:r>
            <a:r>
              <a:rPr lang="zh-CN" altLang="en-US" sz="1200" dirty="0">
                <a:latin typeface="微软雅黑" panose="020B0503020204020204" pitchFamily="34" charset="-122"/>
                <a:ea typeface="微软雅黑" panose="020B0503020204020204" pitchFamily="34" charset="-122"/>
              </a:rPr>
              <a:t>中的相邻字词进行打分，</a:t>
            </a:r>
            <a:r>
              <a:rPr lang="en-US" altLang="zh-CN" sz="1200" dirty="0" err="1">
                <a:latin typeface="微软雅黑" panose="020B0503020204020204" pitchFamily="34" charset="-122"/>
                <a:ea typeface="微软雅黑" panose="020B0503020204020204" pitchFamily="34" charset="-122"/>
              </a:rPr>
              <a:t>WordPiece</a:t>
            </a:r>
            <a:r>
              <a:rPr lang="zh-CN" altLang="en-US" sz="1200" dirty="0">
                <a:latin typeface="微软雅黑" panose="020B0503020204020204" pitchFamily="34" charset="-122"/>
                <a:ea typeface="微软雅黑" panose="020B0503020204020204" pitchFamily="34" charset="-122"/>
              </a:rPr>
              <a:t>每次选择合并的两个子词，通常在语料中以相邻方式同时出现。比如说 </a:t>
            </a:r>
            <a:r>
              <a:rPr lang="en-US" altLang="zh-CN" sz="1200" dirty="0">
                <a:latin typeface="微软雅黑" panose="020B0503020204020204" pitchFamily="34" charset="-122"/>
                <a:ea typeface="微软雅黑" panose="020B0503020204020204" pitchFamily="34" charset="-122"/>
              </a:rPr>
              <a:t>P(ed) </a:t>
            </a:r>
            <a:r>
              <a:rPr lang="zh-CN" altLang="en-US" sz="1200" dirty="0">
                <a:latin typeface="微软雅黑" panose="020B0503020204020204" pitchFamily="34" charset="-122"/>
                <a:ea typeface="微软雅黑" panose="020B0503020204020204" pitchFamily="34" charset="-122"/>
              </a:rPr>
              <a:t>的概率比</a:t>
            </a:r>
            <a:r>
              <a:rPr lang="en-US" altLang="zh-CN" sz="1200" dirty="0">
                <a:latin typeface="微软雅黑" panose="020B0503020204020204" pitchFamily="34" charset="-122"/>
                <a:ea typeface="微软雅黑" panose="020B0503020204020204" pitchFamily="34" charset="-122"/>
              </a:rPr>
              <a:t>P(e) + P(d)</a:t>
            </a:r>
            <a:r>
              <a:rPr lang="zh-CN" altLang="en-US" sz="1200" dirty="0">
                <a:latin typeface="微软雅黑" panose="020B0503020204020204" pitchFamily="34" charset="-122"/>
                <a:ea typeface="微软雅黑" panose="020B0503020204020204" pitchFamily="34" charset="-122"/>
              </a:rPr>
              <a:t>单独出现的概率更大，可能比他们具有最大的互信息值，也就是两子词在语言模型上具有较强的关联性。</a:t>
            </a:r>
          </a:p>
        </p:txBody>
      </p:sp>
      <p:sp>
        <p:nvSpPr>
          <p:cNvPr id="3" name="矩形 2">
            <a:extLst>
              <a:ext uri="{FF2B5EF4-FFF2-40B4-BE49-F238E27FC236}">
                <a16:creationId xmlns:a16="http://schemas.microsoft.com/office/drawing/2014/main" id="{096FE731-E2FC-4C44-943F-82339E24C3DF}"/>
              </a:ext>
            </a:extLst>
          </p:cNvPr>
          <p:cNvSpPr/>
          <p:nvPr/>
        </p:nvSpPr>
        <p:spPr>
          <a:xfrm>
            <a:off x="226793" y="2705480"/>
            <a:ext cx="8605922" cy="890693"/>
          </a:xfrm>
          <a:prstGeom prst="rect">
            <a:avLst/>
          </a:prstGeom>
        </p:spPr>
        <p:txBody>
          <a:bodyPr wrap="square">
            <a:spAutoFit/>
          </a:bodyPr>
          <a:lstStyle/>
          <a:p>
            <a:pPr>
              <a:lnSpc>
                <a:spcPct val="150000"/>
              </a:lnSpc>
            </a:pPr>
            <a:r>
              <a:rPr lang="en-US" altLang="zh-CN" sz="1200" dirty="0">
                <a:latin typeface="微软雅黑" panose="020B0503020204020204" pitchFamily="34" charset="-122"/>
                <a:ea typeface="微软雅黑" panose="020B0503020204020204" pitchFamily="34" charset="-122"/>
              </a:rPr>
              <a:t>ULM</a:t>
            </a:r>
            <a:r>
              <a:rPr lang="zh-CN" altLang="en-US" sz="1200" dirty="0">
                <a:latin typeface="微软雅黑" panose="020B0503020204020204" pitchFamily="34" charset="-122"/>
                <a:ea typeface="微软雅黑" panose="020B0503020204020204" pitchFamily="34" charset="-122"/>
              </a:rPr>
              <a:t>是另外一种</a:t>
            </a:r>
            <a:r>
              <a:rPr lang="en-US" altLang="zh-CN" sz="1200" dirty="0" err="1">
                <a:latin typeface="微软雅黑" panose="020B0503020204020204" pitchFamily="34" charset="-122"/>
                <a:ea typeface="微软雅黑" panose="020B0503020204020204" pitchFamily="34" charset="-122"/>
              </a:rPr>
              <a:t>subword</a:t>
            </a:r>
            <a:r>
              <a:rPr lang="zh-CN" altLang="en-US" sz="1200" dirty="0">
                <a:latin typeface="微软雅黑" panose="020B0503020204020204" pitchFamily="34" charset="-122"/>
                <a:ea typeface="微软雅黑" panose="020B0503020204020204" pitchFamily="34" charset="-122"/>
              </a:rPr>
              <a:t>分隔算法，它能够输出带概率的多个子词分段。它和 </a:t>
            </a:r>
            <a:r>
              <a:rPr lang="en-US" altLang="zh-CN" sz="1200" dirty="0">
                <a:latin typeface="微软雅黑" panose="020B0503020204020204" pitchFamily="34" charset="-122"/>
                <a:ea typeface="微软雅黑" panose="020B0503020204020204" pitchFamily="34" charset="-122"/>
              </a:rPr>
              <a:t>BPE </a:t>
            </a:r>
            <a:r>
              <a:rPr lang="zh-CN" altLang="en-US" sz="1200" dirty="0">
                <a:latin typeface="微软雅黑" panose="020B0503020204020204" pitchFamily="34" charset="-122"/>
                <a:ea typeface="微软雅黑" panose="020B0503020204020204" pitchFamily="34" charset="-122"/>
              </a:rPr>
              <a:t>以及 </a:t>
            </a:r>
            <a:r>
              <a:rPr lang="en-US" altLang="zh-CN" sz="1200" dirty="0" err="1">
                <a:latin typeface="微软雅黑" panose="020B0503020204020204" pitchFamily="34" charset="-122"/>
                <a:ea typeface="微软雅黑" panose="020B0503020204020204" pitchFamily="34" charset="-122"/>
              </a:rPr>
              <a:t>WordPiece</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从表面上看一个大的不同是，前两者都是初始化一个小词表，然后一个个增加到限定的词汇量，而 </a:t>
            </a:r>
            <a:r>
              <a:rPr lang="en-US" altLang="zh-CN" sz="1200" dirty="0">
                <a:latin typeface="微软雅黑" panose="020B0503020204020204" pitchFamily="34" charset="-122"/>
                <a:ea typeface="微软雅黑" panose="020B0503020204020204" pitchFamily="34" charset="-122"/>
              </a:rPr>
              <a:t>Unigram </a:t>
            </a:r>
            <a:r>
              <a:rPr lang="zh-CN" altLang="en-US" sz="1200" dirty="0">
                <a:latin typeface="微软雅黑" panose="020B0503020204020204" pitchFamily="34" charset="-122"/>
                <a:ea typeface="微软雅黑" panose="020B0503020204020204" pitchFamily="34" charset="-122"/>
              </a:rPr>
              <a:t>是先初始一个大词表，接着通过语言模型评估不断减少词表，直到限定词汇量。</a:t>
            </a:r>
          </a:p>
        </p:txBody>
      </p:sp>
      <p:sp>
        <p:nvSpPr>
          <p:cNvPr id="4" name="矩形 3">
            <a:extLst>
              <a:ext uri="{FF2B5EF4-FFF2-40B4-BE49-F238E27FC236}">
                <a16:creationId xmlns:a16="http://schemas.microsoft.com/office/drawing/2014/main" id="{2FE7AC6C-CA49-43BE-89AC-CB721B6AEB6F}"/>
              </a:ext>
            </a:extLst>
          </p:cNvPr>
          <p:cNvSpPr/>
          <p:nvPr/>
        </p:nvSpPr>
        <p:spPr>
          <a:xfrm>
            <a:off x="226793" y="3751833"/>
            <a:ext cx="5136390" cy="1998689"/>
          </a:xfrm>
          <a:prstGeom prst="rect">
            <a:avLst/>
          </a:prstGeom>
        </p:spPr>
        <p:txBody>
          <a:bodyPr wrap="square">
            <a:spAutoFit/>
          </a:bodyPr>
          <a:lstStyle/>
          <a:p>
            <a:pPr>
              <a:lnSpc>
                <a:spcPct val="150000"/>
              </a:lnSpc>
              <a:buFont typeface="+mj-lt"/>
              <a:buAutoNum type="arabicPeriod"/>
            </a:pPr>
            <a:r>
              <a:rPr lang="en-US" altLang="zh-CN" sz="1200" b="1" dirty="0">
                <a:solidFill>
                  <a:srgbClr val="191B1F"/>
                </a:solidFill>
                <a:latin typeface="微软雅黑" panose="020B0503020204020204" pitchFamily="34" charset="-122"/>
                <a:ea typeface="微软雅黑" panose="020B0503020204020204" pitchFamily="34" charset="-122"/>
              </a:rPr>
              <a:t> BPE:</a:t>
            </a:r>
            <a:r>
              <a:rPr lang="zh-CN" altLang="en-US" sz="1200" dirty="0">
                <a:solidFill>
                  <a:srgbClr val="191B1F"/>
                </a:solidFill>
                <a:latin typeface="微软雅黑" panose="020B0503020204020204" pitchFamily="34" charset="-122"/>
                <a:ea typeface="微软雅黑" panose="020B0503020204020204" pitchFamily="34" charset="-122"/>
              </a:rPr>
              <a:t> 在每次迭代中只使用出现频率来识别最佳匹配，直到达到预定义的词汇量大小。</a:t>
            </a:r>
          </a:p>
          <a:p>
            <a:pPr>
              <a:lnSpc>
                <a:spcPct val="150000"/>
              </a:lnSpc>
              <a:buFont typeface="+mj-lt"/>
              <a:buAutoNum type="arabicPeriod"/>
            </a:pPr>
            <a:r>
              <a:rPr lang="en-US" altLang="zh-CN" sz="1200" b="1" dirty="0">
                <a:solidFill>
                  <a:srgbClr val="191B1F"/>
                </a:solidFill>
                <a:latin typeface="微软雅黑" panose="020B0503020204020204" pitchFamily="34" charset="-122"/>
                <a:ea typeface="微软雅黑" panose="020B0503020204020204" pitchFamily="34" charset="-122"/>
              </a:rPr>
              <a:t> </a:t>
            </a:r>
            <a:r>
              <a:rPr lang="en-US" altLang="zh-CN" sz="1200" b="1" dirty="0" err="1">
                <a:solidFill>
                  <a:srgbClr val="191B1F"/>
                </a:solidFill>
                <a:latin typeface="微软雅黑" panose="020B0503020204020204" pitchFamily="34" charset="-122"/>
                <a:ea typeface="微软雅黑" panose="020B0503020204020204" pitchFamily="34" charset="-122"/>
              </a:rPr>
              <a:t>WordPiece</a:t>
            </a:r>
            <a:r>
              <a:rPr lang="en-US" altLang="zh-CN" sz="1200" dirty="0">
                <a:solidFill>
                  <a:srgbClr val="191B1F"/>
                </a:solidFill>
                <a:latin typeface="微软雅黑" panose="020B0503020204020204" pitchFamily="34" charset="-122"/>
                <a:ea typeface="微软雅黑" panose="020B0503020204020204" pitchFamily="34" charset="-122"/>
              </a:rPr>
              <a:t>: </a:t>
            </a:r>
            <a:r>
              <a:rPr lang="zh-CN" altLang="en-US" sz="1200" dirty="0">
                <a:solidFill>
                  <a:srgbClr val="191B1F"/>
                </a:solidFill>
                <a:latin typeface="微软雅黑" panose="020B0503020204020204" pitchFamily="34" charset="-122"/>
                <a:ea typeface="微软雅黑" panose="020B0503020204020204" pitchFamily="34" charset="-122"/>
              </a:rPr>
              <a:t>类似于</a:t>
            </a:r>
            <a:r>
              <a:rPr lang="en-US" altLang="zh-CN" sz="1200" dirty="0">
                <a:solidFill>
                  <a:srgbClr val="191B1F"/>
                </a:solidFill>
                <a:latin typeface="微软雅黑" panose="020B0503020204020204" pitchFamily="34" charset="-122"/>
                <a:ea typeface="微软雅黑" panose="020B0503020204020204" pitchFamily="34" charset="-122"/>
              </a:rPr>
              <a:t>BPE</a:t>
            </a:r>
            <a:r>
              <a:rPr lang="zh-CN" altLang="en-US" sz="1200" dirty="0">
                <a:solidFill>
                  <a:srgbClr val="191B1F"/>
                </a:solidFill>
                <a:latin typeface="微软雅黑" panose="020B0503020204020204" pitchFamily="34" charset="-122"/>
                <a:ea typeface="微软雅黑" panose="020B0503020204020204" pitchFamily="34" charset="-122"/>
              </a:rPr>
              <a:t>，使用频率出现来识别潜在的合并，但根据合并词前后分别出现的可能性概率大小，进行是否合并。</a:t>
            </a:r>
          </a:p>
          <a:p>
            <a:pPr>
              <a:lnSpc>
                <a:spcPct val="150000"/>
              </a:lnSpc>
              <a:buFont typeface="+mj-lt"/>
              <a:buAutoNum type="arabicPeriod"/>
            </a:pPr>
            <a:r>
              <a:rPr lang="en-US" altLang="zh-CN" sz="1200" b="1" dirty="0">
                <a:solidFill>
                  <a:srgbClr val="191B1F"/>
                </a:solidFill>
                <a:latin typeface="微软雅黑" panose="020B0503020204020204" pitchFamily="34" charset="-122"/>
                <a:ea typeface="微软雅黑" panose="020B0503020204020204" pitchFamily="34" charset="-122"/>
              </a:rPr>
              <a:t> Unigram</a:t>
            </a:r>
            <a:r>
              <a:rPr lang="en-US" altLang="zh-CN" sz="1200" dirty="0">
                <a:solidFill>
                  <a:srgbClr val="191B1F"/>
                </a:solidFill>
                <a:latin typeface="微软雅黑" panose="020B0503020204020204" pitchFamily="34" charset="-122"/>
                <a:ea typeface="微软雅黑" panose="020B0503020204020204" pitchFamily="34" charset="-122"/>
              </a:rPr>
              <a:t>: </a:t>
            </a:r>
            <a:r>
              <a:rPr lang="zh-CN" altLang="en-US" sz="1200" dirty="0">
                <a:solidFill>
                  <a:srgbClr val="191B1F"/>
                </a:solidFill>
                <a:latin typeface="微软雅黑" panose="020B0503020204020204" pitchFamily="34" charset="-122"/>
                <a:ea typeface="微软雅黑" panose="020B0503020204020204" pitchFamily="34" charset="-122"/>
              </a:rPr>
              <a:t>不使用频率出现的概率模型进行直接分词。相反，它使用概率模型训练 </a:t>
            </a:r>
            <a:r>
              <a:rPr lang="en-US" altLang="zh-CN" sz="1200" dirty="0">
                <a:solidFill>
                  <a:srgbClr val="191B1F"/>
                </a:solidFill>
                <a:latin typeface="微软雅黑" panose="020B0503020204020204" pitchFamily="34" charset="-122"/>
                <a:ea typeface="微软雅黑" panose="020B0503020204020204" pitchFamily="34" charset="-122"/>
              </a:rPr>
              <a:t>LM</a:t>
            </a:r>
            <a:r>
              <a:rPr lang="zh-CN" altLang="en-US" sz="1200" dirty="0">
                <a:solidFill>
                  <a:srgbClr val="191B1F"/>
                </a:solidFill>
                <a:latin typeface="微软雅黑" panose="020B0503020204020204" pitchFamily="34" charset="-122"/>
                <a:ea typeface="微软雅黑" panose="020B0503020204020204" pitchFamily="34" charset="-122"/>
              </a:rPr>
              <a:t>，移除使得最大似然概率减小最小的子词，然后进行反复计算，达到最大似然概率。</a:t>
            </a:r>
            <a:endParaRPr lang="zh-CN" altLang="en-US" sz="1200" b="0" i="0" dirty="0">
              <a:solidFill>
                <a:srgbClr val="191B1F"/>
              </a:solidFill>
              <a:effectLst/>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BE2B2F43-2F84-4FAE-87BB-652780CFA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2117" y="3733150"/>
            <a:ext cx="3518711" cy="2518423"/>
          </a:xfrm>
          <a:prstGeom prst="rect">
            <a:avLst/>
          </a:prstGeom>
        </p:spPr>
      </p:pic>
    </p:spTree>
    <p:extLst>
      <p:ext uri="{BB962C8B-B14F-4D97-AF65-F5344CB8AC3E}">
        <p14:creationId xmlns:p14="http://schemas.microsoft.com/office/powerpoint/2010/main" val="841626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二、</a:t>
            </a:r>
            <a:r>
              <a:rPr kumimoji="0" lang="en-US" altLang="zh-CN"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NLP</a:t>
            </a: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基础概念</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5169B9EE-A1C9-BA84-0A75-D98A633D3735}"/>
              </a:ext>
            </a:extLst>
          </p:cNvPr>
          <p:cNvSpPr txBox="1"/>
          <p:nvPr/>
        </p:nvSpPr>
        <p:spPr>
          <a:xfrm>
            <a:off x="64849" y="789764"/>
            <a:ext cx="3185487"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基础概念与技术：</a:t>
            </a:r>
            <a:r>
              <a:rPr kumimoji="1" lang="zh-CN" altLang="en-US" dirty="0">
                <a:latin typeface="Microsoft YaHei" panose="020B0503020204020204" pitchFamily="34" charset="-122"/>
                <a:ea typeface="Microsoft YaHei" panose="020B0503020204020204" pitchFamily="34" charset="-122"/>
              </a:rPr>
              <a:t>词元与嵌入</a:t>
            </a:r>
          </a:p>
        </p:txBody>
      </p:sp>
      <p:sp>
        <p:nvSpPr>
          <p:cNvPr id="16" name="文本框 15">
            <a:extLst>
              <a:ext uri="{FF2B5EF4-FFF2-40B4-BE49-F238E27FC236}">
                <a16:creationId xmlns:a16="http://schemas.microsoft.com/office/drawing/2014/main" id="{6CE68ED9-F0B9-3C06-FC7F-7DB819F9BF09}"/>
              </a:ext>
            </a:extLst>
          </p:cNvPr>
          <p:cNvSpPr txBox="1"/>
          <p:nvPr/>
        </p:nvSpPr>
        <p:spPr>
          <a:xfrm>
            <a:off x="64849" y="1187288"/>
            <a:ext cx="2317237" cy="276999"/>
          </a:xfrm>
          <a:prstGeom prst="rect">
            <a:avLst/>
          </a:prstGeom>
          <a:noFill/>
        </p:spPr>
        <p:txBody>
          <a:bodyPr wrap="none" rtlCol="0">
            <a:spAutoFit/>
          </a:bodyPr>
          <a:lstStyle/>
          <a:p>
            <a:pPr marL="171450" indent="-171450">
              <a:buFont typeface="Wingdings" panose="05000000000000000000" pitchFamily="2" charset="2"/>
              <a:buChar char="Ø"/>
            </a:pPr>
            <a:r>
              <a:rPr kumimoji="1" lang="en-US" altLang="zh-CN" sz="1200" i="1" dirty="0">
                <a:latin typeface="Microsoft YaHei" panose="020B0503020204020204" pitchFamily="34" charset="-122"/>
                <a:ea typeface="Microsoft YaHei" panose="020B0503020204020204" pitchFamily="34" charset="-122"/>
              </a:rPr>
              <a:t>Google</a:t>
            </a:r>
            <a:r>
              <a:rPr kumimoji="1" lang="zh-CN" altLang="en-US" sz="1200" i="1" dirty="0">
                <a:latin typeface="Microsoft YaHei" panose="020B0503020204020204" pitchFamily="34" charset="-122"/>
                <a:ea typeface="Microsoft YaHei" panose="020B0503020204020204" pitchFamily="34" charset="-122"/>
              </a:rPr>
              <a:t>的</a:t>
            </a:r>
            <a:r>
              <a:rPr kumimoji="1" lang="en-US" altLang="zh-CN" sz="1200" i="1" dirty="0" err="1">
                <a:latin typeface="Microsoft YaHei" panose="020B0503020204020204" pitchFamily="34" charset="-122"/>
                <a:ea typeface="Microsoft YaHei" panose="020B0503020204020204" pitchFamily="34" charset="-122"/>
              </a:rPr>
              <a:t>WordPiece</a:t>
            </a:r>
            <a:r>
              <a:rPr kumimoji="1" lang="zh-CN" altLang="en-US" sz="1200" i="1" dirty="0">
                <a:latin typeface="Microsoft YaHei" panose="020B0503020204020204" pitchFamily="34" charset="-122"/>
                <a:ea typeface="Microsoft YaHei" panose="020B0503020204020204" pitchFamily="34" charset="-122"/>
              </a:rPr>
              <a:t>分词器</a:t>
            </a:r>
          </a:p>
        </p:txBody>
      </p:sp>
      <p:sp>
        <p:nvSpPr>
          <p:cNvPr id="17" name="文本框 16">
            <a:extLst>
              <a:ext uri="{FF2B5EF4-FFF2-40B4-BE49-F238E27FC236}">
                <a16:creationId xmlns:a16="http://schemas.microsoft.com/office/drawing/2014/main" id="{CCF4D39E-1BBB-7E63-E32A-6CA793683730}"/>
              </a:ext>
            </a:extLst>
          </p:cNvPr>
          <p:cNvSpPr txBox="1"/>
          <p:nvPr/>
        </p:nvSpPr>
        <p:spPr>
          <a:xfrm>
            <a:off x="64849" y="2383172"/>
            <a:ext cx="1457450" cy="276999"/>
          </a:xfrm>
          <a:prstGeom prst="rect">
            <a:avLst/>
          </a:prstGeom>
          <a:noFill/>
        </p:spPr>
        <p:txBody>
          <a:bodyPr wrap="none" rtlCol="0">
            <a:spAutoFit/>
          </a:bodyPr>
          <a:lstStyle/>
          <a:p>
            <a:pPr marL="171450" indent="-171450">
              <a:buFont typeface="Wingdings" panose="05000000000000000000" pitchFamily="2" charset="2"/>
              <a:buChar char="Ø"/>
            </a:pPr>
            <a:r>
              <a:rPr kumimoji="1" lang="en-US" altLang="zh-CN" sz="1200" i="1" dirty="0">
                <a:latin typeface="Microsoft YaHei" panose="020B0503020204020204" pitchFamily="34" charset="-122"/>
                <a:ea typeface="Microsoft YaHei" panose="020B0503020204020204" pitchFamily="34" charset="-122"/>
              </a:rPr>
              <a:t>Unigram</a:t>
            </a:r>
            <a:r>
              <a:rPr kumimoji="1" lang="zh-CN" altLang="en-US" sz="1200" i="1" dirty="0">
                <a:latin typeface="Microsoft YaHei" panose="020B0503020204020204" pitchFamily="34" charset="-122"/>
                <a:ea typeface="Microsoft YaHei" panose="020B0503020204020204" pitchFamily="34" charset="-122"/>
              </a:rPr>
              <a:t>分词器</a:t>
            </a:r>
          </a:p>
        </p:txBody>
      </p:sp>
      <p:sp>
        <p:nvSpPr>
          <p:cNvPr id="2" name="文本框 1">
            <a:extLst>
              <a:ext uri="{FF2B5EF4-FFF2-40B4-BE49-F238E27FC236}">
                <a16:creationId xmlns:a16="http://schemas.microsoft.com/office/drawing/2014/main" id="{8E02DAB8-8DD8-4128-86BE-545A16BF9179}"/>
              </a:ext>
            </a:extLst>
          </p:cNvPr>
          <p:cNvSpPr txBox="1"/>
          <p:nvPr/>
        </p:nvSpPr>
        <p:spPr>
          <a:xfrm>
            <a:off x="226793" y="1492479"/>
            <a:ext cx="8687243" cy="890693"/>
          </a:xfrm>
          <a:prstGeom prst="rect">
            <a:avLst/>
          </a:prstGeom>
          <a:noFill/>
        </p:spPr>
        <p:txBody>
          <a:bodyPr wrap="square" rtlCol="0">
            <a:spAutoFit/>
          </a:bodyPr>
          <a:lstStyle/>
          <a:p>
            <a:pPr>
              <a:lnSpc>
                <a:spcPct val="150000"/>
              </a:lnSpc>
            </a:pPr>
            <a:r>
              <a:rPr lang="zh-CN" altLang="en-US" sz="1200" dirty="0">
                <a:latin typeface="微软雅黑" panose="020B0503020204020204" pitchFamily="34" charset="-122"/>
                <a:ea typeface="微软雅黑" panose="020B0503020204020204" pitchFamily="34" charset="-122"/>
              </a:rPr>
              <a:t>引入语言模型对</a:t>
            </a:r>
            <a:r>
              <a:rPr lang="en-US" altLang="zh-CN" sz="1200" dirty="0">
                <a:latin typeface="微软雅黑" panose="020B0503020204020204" pitchFamily="34" charset="-122"/>
                <a:ea typeface="微软雅黑" panose="020B0503020204020204" pitchFamily="34" charset="-122"/>
              </a:rPr>
              <a:t>BPE </a:t>
            </a:r>
            <a:r>
              <a:rPr lang="zh-CN" altLang="en-US" sz="1200" dirty="0">
                <a:latin typeface="微软雅黑" panose="020B0503020204020204" pitchFamily="34" charset="-122"/>
                <a:ea typeface="微软雅黑" panose="020B0503020204020204" pitchFamily="34" charset="-122"/>
              </a:rPr>
              <a:t>中的相邻字词进行打分，</a:t>
            </a:r>
            <a:r>
              <a:rPr lang="en-US" altLang="zh-CN" sz="1200" dirty="0" err="1">
                <a:latin typeface="微软雅黑" panose="020B0503020204020204" pitchFamily="34" charset="-122"/>
                <a:ea typeface="微软雅黑" panose="020B0503020204020204" pitchFamily="34" charset="-122"/>
              </a:rPr>
              <a:t>WordPiece</a:t>
            </a:r>
            <a:r>
              <a:rPr lang="zh-CN" altLang="en-US" sz="1200" dirty="0">
                <a:latin typeface="微软雅黑" panose="020B0503020204020204" pitchFamily="34" charset="-122"/>
                <a:ea typeface="微软雅黑" panose="020B0503020204020204" pitchFamily="34" charset="-122"/>
              </a:rPr>
              <a:t>每次选择合并的两个子词，通常在语料中以相邻方式同时出现。比如说 </a:t>
            </a:r>
            <a:r>
              <a:rPr lang="en-US" altLang="zh-CN" sz="1200" dirty="0">
                <a:latin typeface="微软雅黑" panose="020B0503020204020204" pitchFamily="34" charset="-122"/>
                <a:ea typeface="微软雅黑" panose="020B0503020204020204" pitchFamily="34" charset="-122"/>
              </a:rPr>
              <a:t>P(ed) </a:t>
            </a:r>
            <a:r>
              <a:rPr lang="zh-CN" altLang="en-US" sz="1200" dirty="0">
                <a:latin typeface="微软雅黑" panose="020B0503020204020204" pitchFamily="34" charset="-122"/>
                <a:ea typeface="微软雅黑" panose="020B0503020204020204" pitchFamily="34" charset="-122"/>
              </a:rPr>
              <a:t>的概率比</a:t>
            </a:r>
            <a:r>
              <a:rPr lang="en-US" altLang="zh-CN" sz="1200" dirty="0">
                <a:latin typeface="微软雅黑" panose="020B0503020204020204" pitchFamily="34" charset="-122"/>
                <a:ea typeface="微软雅黑" panose="020B0503020204020204" pitchFamily="34" charset="-122"/>
              </a:rPr>
              <a:t>P(e) + P(d)</a:t>
            </a:r>
            <a:r>
              <a:rPr lang="zh-CN" altLang="en-US" sz="1200" dirty="0">
                <a:latin typeface="微软雅黑" panose="020B0503020204020204" pitchFamily="34" charset="-122"/>
                <a:ea typeface="微软雅黑" panose="020B0503020204020204" pitchFamily="34" charset="-122"/>
              </a:rPr>
              <a:t>单独出现的概率更大，可能比他们具有最大的互信息值，也就是两子词在语言模型上具有较强的关联性。</a:t>
            </a:r>
          </a:p>
        </p:txBody>
      </p:sp>
      <p:sp>
        <p:nvSpPr>
          <p:cNvPr id="3" name="矩形 2">
            <a:extLst>
              <a:ext uri="{FF2B5EF4-FFF2-40B4-BE49-F238E27FC236}">
                <a16:creationId xmlns:a16="http://schemas.microsoft.com/office/drawing/2014/main" id="{096FE731-E2FC-4C44-943F-82339E24C3DF}"/>
              </a:ext>
            </a:extLst>
          </p:cNvPr>
          <p:cNvSpPr/>
          <p:nvPr/>
        </p:nvSpPr>
        <p:spPr>
          <a:xfrm>
            <a:off x="226793" y="2705480"/>
            <a:ext cx="8605922" cy="890693"/>
          </a:xfrm>
          <a:prstGeom prst="rect">
            <a:avLst/>
          </a:prstGeom>
        </p:spPr>
        <p:txBody>
          <a:bodyPr wrap="square">
            <a:spAutoFit/>
          </a:bodyPr>
          <a:lstStyle/>
          <a:p>
            <a:pPr>
              <a:lnSpc>
                <a:spcPct val="150000"/>
              </a:lnSpc>
            </a:pPr>
            <a:r>
              <a:rPr lang="en-US" altLang="zh-CN" sz="1200" dirty="0">
                <a:latin typeface="微软雅黑" panose="020B0503020204020204" pitchFamily="34" charset="-122"/>
                <a:ea typeface="微软雅黑" panose="020B0503020204020204" pitchFamily="34" charset="-122"/>
              </a:rPr>
              <a:t>ULM</a:t>
            </a:r>
            <a:r>
              <a:rPr lang="zh-CN" altLang="en-US" sz="1200" dirty="0">
                <a:latin typeface="微软雅黑" panose="020B0503020204020204" pitchFamily="34" charset="-122"/>
                <a:ea typeface="微软雅黑" panose="020B0503020204020204" pitchFamily="34" charset="-122"/>
              </a:rPr>
              <a:t>是另外一种</a:t>
            </a:r>
            <a:r>
              <a:rPr lang="en-US" altLang="zh-CN" sz="1200" dirty="0" err="1">
                <a:latin typeface="微软雅黑" panose="020B0503020204020204" pitchFamily="34" charset="-122"/>
                <a:ea typeface="微软雅黑" panose="020B0503020204020204" pitchFamily="34" charset="-122"/>
              </a:rPr>
              <a:t>subword</a:t>
            </a:r>
            <a:r>
              <a:rPr lang="zh-CN" altLang="en-US" sz="1200" dirty="0">
                <a:latin typeface="微软雅黑" panose="020B0503020204020204" pitchFamily="34" charset="-122"/>
                <a:ea typeface="微软雅黑" panose="020B0503020204020204" pitchFamily="34" charset="-122"/>
              </a:rPr>
              <a:t>分隔算法，它能够输出带概率的多个子词分段。它和 </a:t>
            </a:r>
            <a:r>
              <a:rPr lang="en-US" altLang="zh-CN" sz="1200" dirty="0">
                <a:latin typeface="微软雅黑" panose="020B0503020204020204" pitchFamily="34" charset="-122"/>
                <a:ea typeface="微软雅黑" panose="020B0503020204020204" pitchFamily="34" charset="-122"/>
              </a:rPr>
              <a:t>BPE </a:t>
            </a:r>
            <a:r>
              <a:rPr lang="zh-CN" altLang="en-US" sz="1200" dirty="0">
                <a:latin typeface="微软雅黑" panose="020B0503020204020204" pitchFamily="34" charset="-122"/>
                <a:ea typeface="微软雅黑" panose="020B0503020204020204" pitchFamily="34" charset="-122"/>
              </a:rPr>
              <a:t>以及 </a:t>
            </a:r>
            <a:r>
              <a:rPr lang="en-US" altLang="zh-CN" sz="1200" dirty="0" err="1">
                <a:latin typeface="微软雅黑" panose="020B0503020204020204" pitchFamily="34" charset="-122"/>
                <a:ea typeface="微软雅黑" panose="020B0503020204020204" pitchFamily="34" charset="-122"/>
              </a:rPr>
              <a:t>WordPiece</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从表面上看一个大的不同是，前两者都是初始化一个小词表，然后一个个增加到限定的词汇量，而 </a:t>
            </a:r>
            <a:r>
              <a:rPr lang="en-US" altLang="zh-CN" sz="1200" dirty="0">
                <a:latin typeface="微软雅黑" panose="020B0503020204020204" pitchFamily="34" charset="-122"/>
                <a:ea typeface="微软雅黑" panose="020B0503020204020204" pitchFamily="34" charset="-122"/>
              </a:rPr>
              <a:t>Unigram </a:t>
            </a:r>
            <a:r>
              <a:rPr lang="zh-CN" altLang="en-US" sz="1200" dirty="0">
                <a:latin typeface="微软雅黑" panose="020B0503020204020204" pitchFamily="34" charset="-122"/>
                <a:ea typeface="微软雅黑" panose="020B0503020204020204" pitchFamily="34" charset="-122"/>
              </a:rPr>
              <a:t>是先初始一个大词表，接着通过语言模型评估不断减少词表，直到限定词汇量。</a:t>
            </a:r>
          </a:p>
        </p:txBody>
      </p:sp>
      <p:sp>
        <p:nvSpPr>
          <p:cNvPr id="4" name="矩形 3">
            <a:extLst>
              <a:ext uri="{FF2B5EF4-FFF2-40B4-BE49-F238E27FC236}">
                <a16:creationId xmlns:a16="http://schemas.microsoft.com/office/drawing/2014/main" id="{2FE7AC6C-CA49-43BE-89AC-CB721B6AEB6F}"/>
              </a:ext>
            </a:extLst>
          </p:cNvPr>
          <p:cNvSpPr/>
          <p:nvPr/>
        </p:nvSpPr>
        <p:spPr>
          <a:xfrm>
            <a:off x="226793" y="3751833"/>
            <a:ext cx="5136390" cy="1998689"/>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nSpc>
                <a:spcPct val="150000"/>
              </a:lnSpc>
              <a:buFont typeface="+mj-lt"/>
              <a:buAutoNum type="arabicPeriod"/>
            </a:pPr>
            <a:r>
              <a:rPr lang="en-US" altLang="zh-CN" sz="1200" b="1" dirty="0">
                <a:solidFill>
                  <a:srgbClr val="191B1F"/>
                </a:solidFill>
                <a:latin typeface="微软雅黑" panose="020B0503020204020204" pitchFamily="34" charset="-122"/>
                <a:ea typeface="微软雅黑" panose="020B0503020204020204" pitchFamily="34" charset="-122"/>
              </a:rPr>
              <a:t> BPE:</a:t>
            </a:r>
            <a:r>
              <a:rPr lang="zh-CN" altLang="en-US" sz="1200" dirty="0">
                <a:solidFill>
                  <a:srgbClr val="191B1F"/>
                </a:solidFill>
                <a:latin typeface="微软雅黑" panose="020B0503020204020204" pitchFamily="34" charset="-122"/>
                <a:ea typeface="微软雅黑" panose="020B0503020204020204" pitchFamily="34" charset="-122"/>
              </a:rPr>
              <a:t> 在每次迭代中只使用出现频率来识别最佳匹配，直到达到预定义的词汇量大小。</a:t>
            </a:r>
          </a:p>
          <a:p>
            <a:pPr>
              <a:lnSpc>
                <a:spcPct val="150000"/>
              </a:lnSpc>
              <a:buFont typeface="+mj-lt"/>
              <a:buAutoNum type="arabicPeriod"/>
            </a:pPr>
            <a:r>
              <a:rPr lang="en-US" altLang="zh-CN" sz="1200" b="1" dirty="0">
                <a:solidFill>
                  <a:srgbClr val="191B1F"/>
                </a:solidFill>
                <a:latin typeface="微软雅黑" panose="020B0503020204020204" pitchFamily="34" charset="-122"/>
                <a:ea typeface="微软雅黑" panose="020B0503020204020204" pitchFamily="34" charset="-122"/>
              </a:rPr>
              <a:t> </a:t>
            </a:r>
            <a:r>
              <a:rPr lang="en-US" altLang="zh-CN" sz="1200" b="1" dirty="0" err="1">
                <a:solidFill>
                  <a:srgbClr val="191B1F"/>
                </a:solidFill>
                <a:latin typeface="微软雅黑" panose="020B0503020204020204" pitchFamily="34" charset="-122"/>
                <a:ea typeface="微软雅黑" panose="020B0503020204020204" pitchFamily="34" charset="-122"/>
              </a:rPr>
              <a:t>WordPiece</a:t>
            </a:r>
            <a:r>
              <a:rPr lang="en-US" altLang="zh-CN" sz="1200" dirty="0">
                <a:solidFill>
                  <a:srgbClr val="191B1F"/>
                </a:solidFill>
                <a:latin typeface="微软雅黑" panose="020B0503020204020204" pitchFamily="34" charset="-122"/>
                <a:ea typeface="微软雅黑" panose="020B0503020204020204" pitchFamily="34" charset="-122"/>
              </a:rPr>
              <a:t>: </a:t>
            </a:r>
            <a:r>
              <a:rPr lang="zh-CN" altLang="en-US" sz="1200" dirty="0">
                <a:solidFill>
                  <a:srgbClr val="191B1F"/>
                </a:solidFill>
                <a:latin typeface="微软雅黑" panose="020B0503020204020204" pitchFamily="34" charset="-122"/>
                <a:ea typeface="微软雅黑" panose="020B0503020204020204" pitchFamily="34" charset="-122"/>
              </a:rPr>
              <a:t>类似于</a:t>
            </a:r>
            <a:r>
              <a:rPr lang="en-US" altLang="zh-CN" sz="1200" dirty="0">
                <a:solidFill>
                  <a:srgbClr val="191B1F"/>
                </a:solidFill>
                <a:latin typeface="微软雅黑" panose="020B0503020204020204" pitchFamily="34" charset="-122"/>
                <a:ea typeface="微软雅黑" panose="020B0503020204020204" pitchFamily="34" charset="-122"/>
              </a:rPr>
              <a:t>BPE</a:t>
            </a:r>
            <a:r>
              <a:rPr lang="zh-CN" altLang="en-US" sz="1200" dirty="0">
                <a:solidFill>
                  <a:srgbClr val="191B1F"/>
                </a:solidFill>
                <a:latin typeface="微软雅黑" panose="020B0503020204020204" pitchFamily="34" charset="-122"/>
                <a:ea typeface="微软雅黑" panose="020B0503020204020204" pitchFamily="34" charset="-122"/>
              </a:rPr>
              <a:t>，使用频率出现来识别潜在的合并，但根据合并词前后分别出现的可能性概率大小，进行是否合并。</a:t>
            </a:r>
          </a:p>
          <a:p>
            <a:pPr>
              <a:lnSpc>
                <a:spcPct val="150000"/>
              </a:lnSpc>
              <a:buFont typeface="+mj-lt"/>
              <a:buAutoNum type="arabicPeriod"/>
            </a:pPr>
            <a:r>
              <a:rPr lang="en-US" altLang="zh-CN" sz="1200" b="1" dirty="0">
                <a:solidFill>
                  <a:srgbClr val="191B1F"/>
                </a:solidFill>
                <a:latin typeface="微软雅黑" panose="020B0503020204020204" pitchFamily="34" charset="-122"/>
                <a:ea typeface="微软雅黑" panose="020B0503020204020204" pitchFamily="34" charset="-122"/>
              </a:rPr>
              <a:t> Unigram</a:t>
            </a:r>
            <a:r>
              <a:rPr lang="en-US" altLang="zh-CN" sz="1200" dirty="0">
                <a:solidFill>
                  <a:srgbClr val="191B1F"/>
                </a:solidFill>
                <a:latin typeface="微软雅黑" panose="020B0503020204020204" pitchFamily="34" charset="-122"/>
                <a:ea typeface="微软雅黑" panose="020B0503020204020204" pitchFamily="34" charset="-122"/>
              </a:rPr>
              <a:t>: </a:t>
            </a:r>
            <a:r>
              <a:rPr lang="zh-CN" altLang="en-US" sz="1200" dirty="0">
                <a:solidFill>
                  <a:srgbClr val="191B1F"/>
                </a:solidFill>
                <a:latin typeface="微软雅黑" panose="020B0503020204020204" pitchFamily="34" charset="-122"/>
                <a:ea typeface="微软雅黑" panose="020B0503020204020204" pitchFamily="34" charset="-122"/>
              </a:rPr>
              <a:t>不使用频率出现的概率模型进行直接分词。相反，它使用概率模型训练 </a:t>
            </a:r>
            <a:r>
              <a:rPr lang="en-US" altLang="zh-CN" sz="1200" dirty="0">
                <a:solidFill>
                  <a:srgbClr val="191B1F"/>
                </a:solidFill>
                <a:latin typeface="微软雅黑" panose="020B0503020204020204" pitchFamily="34" charset="-122"/>
                <a:ea typeface="微软雅黑" panose="020B0503020204020204" pitchFamily="34" charset="-122"/>
              </a:rPr>
              <a:t>LM</a:t>
            </a:r>
            <a:r>
              <a:rPr lang="zh-CN" altLang="en-US" sz="1200" dirty="0">
                <a:solidFill>
                  <a:srgbClr val="191B1F"/>
                </a:solidFill>
                <a:latin typeface="微软雅黑" panose="020B0503020204020204" pitchFamily="34" charset="-122"/>
                <a:ea typeface="微软雅黑" panose="020B0503020204020204" pitchFamily="34" charset="-122"/>
              </a:rPr>
              <a:t>，移除使得最大似然概率减小最小的子词，然后进行反复计算，达到最大似然概率。</a:t>
            </a:r>
            <a:endParaRPr lang="zh-CN" altLang="en-US" sz="1200" b="0" i="0" dirty="0">
              <a:solidFill>
                <a:srgbClr val="191B1F"/>
              </a:solidFill>
              <a:effectLst/>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BE2B2F43-2F84-4FAE-87BB-652780CFA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2117" y="3733150"/>
            <a:ext cx="3518711" cy="2518423"/>
          </a:xfrm>
          <a:prstGeom prst="rect">
            <a:avLst/>
          </a:prstGeom>
        </p:spPr>
      </p:pic>
    </p:spTree>
    <p:extLst>
      <p:ext uri="{BB962C8B-B14F-4D97-AF65-F5344CB8AC3E}">
        <p14:creationId xmlns:p14="http://schemas.microsoft.com/office/powerpoint/2010/main" val="1204672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二、</a:t>
            </a:r>
            <a:r>
              <a:rPr kumimoji="0" lang="en-US" altLang="zh-CN"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NLP</a:t>
            </a: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基础概念</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5169B9EE-A1C9-BA84-0A75-D98A633D3735}"/>
              </a:ext>
            </a:extLst>
          </p:cNvPr>
          <p:cNvSpPr txBox="1"/>
          <p:nvPr/>
        </p:nvSpPr>
        <p:spPr>
          <a:xfrm>
            <a:off x="64849" y="789764"/>
            <a:ext cx="2954655"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基础概念与技术：</a:t>
            </a:r>
            <a:r>
              <a:rPr kumimoji="1" lang="zh-CN" altLang="en-US" dirty="0">
                <a:latin typeface="Microsoft YaHei" panose="020B0503020204020204" pitchFamily="34" charset="-122"/>
                <a:ea typeface="Microsoft YaHei" panose="020B0503020204020204" pitchFamily="34" charset="-122"/>
              </a:rPr>
              <a:t>位置嵌入</a:t>
            </a:r>
          </a:p>
        </p:txBody>
      </p:sp>
      <p:sp>
        <p:nvSpPr>
          <p:cNvPr id="3" name="文本框 2">
            <a:extLst>
              <a:ext uri="{FF2B5EF4-FFF2-40B4-BE49-F238E27FC236}">
                <a16:creationId xmlns:a16="http://schemas.microsoft.com/office/drawing/2014/main" id="{1D2C3038-DB34-152F-4320-1B08B84BB88C}"/>
              </a:ext>
            </a:extLst>
          </p:cNvPr>
          <p:cNvSpPr txBox="1"/>
          <p:nvPr/>
        </p:nvSpPr>
        <p:spPr>
          <a:xfrm>
            <a:off x="64849" y="1159096"/>
            <a:ext cx="8628390" cy="1156792"/>
          </a:xfrm>
          <a:prstGeom prst="rect">
            <a:avLst/>
          </a:prstGeom>
          <a:noFill/>
        </p:spPr>
        <p:txBody>
          <a:bodyPr wrap="square">
            <a:spAutoFit/>
          </a:bodyPr>
          <a:lstStyle/>
          <a:p>
            <a:pPr>
              <a:lnSpc>
                <a:spcPct val="150000"/>
              </a:lnSpc>
            </a:pPr>
            <a:r>
              <a:rPr lang="zh-CN" altLang="en-US" sz="1600" dirty="0">
                <a:latin typeface="Microsoft YaHei" panose="020B0503020204020204" pitchFamily="34" charset="-122"/>
                <a:ea typeface="Microsoft YaHei" panose="020B0503020204020204" pitchFamily="34" charset="-122"/>
              </a:rPr>
              <a:t>表示单词出现在句子中的位置。因为 Transformer 不采用 RNN 的结构，而是使用全局信息，不能利用单词的顺序信息，而这部分信息对于 NLP 来说非常重要。所以 Transformer 中使用位置 Embedding 保存单词在序列中的相对或绝对位置。</a:t>
            </a:r>
          </a:p>
        </p:txBody>
      </p:sp>
      <p:pic>
        <p:nvPicPr>
          <p:cNvPr id="6" name="图片 5">
            <a:extLst>
              <a:ext uri="{FF2B5EF4-FFF2-40B4-BE49-F238E27FC236}">
                <a16:creationId xmlns:a16="http://schemas.microsoft.com/office/drawing/2014/main" id="{5781255E-24BB-02E8-4462-258FF362E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9504" y="2516213"/>
            <a:ext cx="3134729" cy="66613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3A74053-FF07-F20A-8F57-30F858160CC0}"/>
                  </a:ext>
                </a:extLst>
              </p:cNvPr>
              <p:cNvSpPr txBox="1"/>
              <p:nvPr/>
            </p:nvSpPr>
            <p:spPr>
              <a:xfrm>
                <a:off x="4341759" y="2783683"/>
                <a:ext cx="3624948" cy="341568"/>
              </a:xfrm>
              <a:prstGeom prst="rect">
                <a:avLst/>
              </a:prstGeom>
              <a:noFill/>
            </p:spPr>
            <p:txBody>
              <a:bodyPr wrap="square">
                <a:spAutoFit/>
              </a:bodyPr>
              <a:lstStyle/>
              <a:p>
                <a:pPr>
                  <a:lnSpc>
                    <a:spcPct val="150000"/>
                  </a:lnSpc>
                </a:pPr>
                <a:r>
                  <a:rPr lang="en-US" altLang="zh-CN" sz="1200" dirty="0">
                    <a:latin typeface="Microsoft YaHei" panose="020B0503020204020204" pitchFamily="34" charset="-122"/>
                    <a:ea typeface="Microsoft YaHei" panose="020B0503020204020204" pitchFamily="34" charset="-122"/>
                  </a:rPr>
                  <a:t>		</a:t>
                </a:r>
                <a14:m>
                  <m:oMath xmlns:m="http://schemas.openxmlformats.org/officeDocument/2006/math">
                    <m:r>
                      <m:rPr>
                        <m:sty m:val="p"/>
                      </m:rPr>
                      <a:rPr lang="en-US" altLang="zh-CN" sz="1200" dirty="0" smtClean="0">
                        <a:latin typeface="Cambria Math" panose="02040503050406030204" pitchFamily="18" charset="0"/>
                        <a:ea typeface="Microsoft YaHei" panose="020B0503020204020204" pitchFamily="34" charset="-122"/>
                      </a:rPr>
                      <m:t>d</m:t>
                    </m:r>
                    <m:r>
                      <a:rPr lang="zh-CN" altLang="en-US" sz="1200" b="0" i="1" dirty="0" smtClean="0">
                        <a:latin typeface="Cambria Math" panose="02040503050406030204" pitchFamily="18" charset="0"/>
                        <a:ea typeface="Microsoft YaHei" panose="020B0503020204020204" pitchFamily="34" charset="-122"/>
                      </a:rPr>
                      <m:t> </m:t>
                    </m:r>
                    <m:r>
                      <a:rPr lang="zh-CN" altLang="en-US" sz="1200" i="1" dirty="0">
                        <a:latin typeface="Cambria Math" panose="02040503050406030204" pitchFamily="18" charset="0"/>
                        <a:ea typeface="Microsoft YaHei" panose="020B0503020204020204" pitchFamily="34" charset="-122"/>
                      </a:rPr>
                      <m:t>表示</m:t>
                    </m:r>
                    <m:r>
                      <a:rPr lang="zh-CN" altLang="en-US" sz="1200" i="1" dirty="0" smtClean="0">
                        <a:latin typeface="Cambria Math" panose="02040503050406030204" pitchFamily="18" charset="0"/>
                        <a:ea typeface="Microsoft YaHei" panose="020B0503020204020204" pitchFamily="34" charset="-122"/>
                      </a:rPr>
                      <m:t>嵌入</m:t>
                    </m:r>
                    <m:r>
                      <a:rPr lang="zh-CN" altLang="en-US" sz="1200" i="1" dirty="0">
                        <a:latin typeface="Cambria Math" panose="02040503050406030204" pitchFamily="18" charset="0"/>
                        <a:ea typeface="Microsoft YaHei" panose="020B0503020204020204" pitchFamily="34" charset="-122"/>
                      </a:rPr>
                      <m:t>维度</m:t>
                    </m:r>
                  </m:oMath>
                </a14:m>
                <a:endParaRPr lang="en-US" altLang="zh-CN" sz="1200" dirty="0">
                  <a:latin typeface="Microsoft YaHei" panose="020B0503020204020204" pitchFamily="34" charset="-122"/>
                  <a:ea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73A74053-FF07-F20A-8F57-30F858160CC0}"/>
                  </a:ext>
                </a:extLst>
              </p:cNvPr>
              <p:cNvSpPr txBox="1">
                <a:spLocks noRot="1" noChangeAspect="1" noMove="1" noResize="1" noEditPoints="1" noAdjustHandles="1" noChangeArrowheads="1" noChangeShapeType="1" noTextEdit="1"/>
              </p:cNvSpPr>
              <p:nvPr/>
            </p:nvSpPr>
            <p:spPr>
              <a:xfrm>
                <a:off x="4341759" y="2783683"/>
                <a:ext cx="3624948" cy="341568"/>
              </a:xfrm>
              <a:prstGeom prst="rect">
                <a:avLst/>
              </a:prstGeom>
              <a:blipFill>
                <a:blip r:embed="rId4"/>
                <a:stretch>
                  <a:fillRect b="-10714"/>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28860BCA-EED8-E1DC-3049-2613F02207F4}"/>
              </a:ext>
            </a:extLst>
          </p:cNvPr>
          <p:cNvPicPr>
            <a:picLocks noChangeAspect="1"/>
          </p:cNvPicPr>
          <p:nvPr/>
        </p:nvPicPr>
        <p:blipFill>
          <a:blip r:embed="rId5"/>
          <a:stretch>
            <a:fillRect/>
          </a:stretch>
        </p:blipFill>
        <p:spPr>
          <a:xfrm>
            <a:off x="2180685" y="4160597"/>
            <a:ext cx="5080943" cy="522798"/>
          </a:xfrm>
          <a:prstGeom prst="rect">
            <a:avLst/>
          </a:prstGeom>
        </p:spPr>
      </p:pic>
      <p:pic>
        <p:nvPicPr>
          <p:cNvPr id="12" name="图片 11">
            <a:extLst>
              <a:ext uri="{FF2B5EF4-FFF2-40B4-BE49-F238E27FC236}">
                <a16:creationId xmlns:a16="http://schemas.microsoft.com/office/drawing/2014/main" id="{307B49D7-F5FF-10AC-F7CC-E44B3C688FE4}"/>
              </a:ext>
            </a:extLst>
          </p:cNvPr>
          <p:cNvPicPr>
            <a:picLocks noChangeAspect="1"/>
          </p:cNvPicPr>
          <p:nvPr/>
        </p:nvPicPr>
        <p:blipFill>
          <a:blip r:embed="rId6"/>
          <a:stretch>
            <a:fillRect/>
          </a:stretch>
        </p:blipFill>
        <p:spPr>
          <a:xfrm>
            <a:off x="2842169" y="3370536"/>
            <a:ext cx="3583315" cy="666129"/>
          </a:xfrm>
          <a:prstGeom prst="rect">
            <a:avLst/>
          </a:prstGeom>
        </p:spPr>
      </p:pic>
      <p:pic>
        <p:nvPicPr>
          <p:cNvPr id="10" name="图片 9">
            <a:extLst>
              <a:ext uri="{FF2B5EF4-FFF2-40B4-BE49-F238E27FC236}">
                <a16:creationId xmlns:a16="http://schemas.microsoft.com/office/drawing/2014/main" id="{94ED4ED8-F553-0A9F-2413-D9D36F053BF7}"/>
              </a:ext>
            </a:extLst>
          </p:cNvPr>
          <p:cNvPicPr>
            <a:picLocks noChangeAspect="1"/>
          </p:cNvPicPr>
          <p:nvPr/>
        </p:nvPicPr>
        <p:blipFill>
          <a:blip r:embed="rId7" cstate="print">
            <a:extLst>
              <a:ext uri="{28A0092B-C50C-407E-A947-70E740481C1C}">
                <a14:useLocalDpi xmlns:a14="http://schemas.microsoft.com/office/drawing/2010/main" val="0"/>
              </a:ext>
            </a:extLst>
          </a:blip>
          <a:srcRect r="8782"/>
          <a:stretch>
            <a:fillRect/>
          </a:stretch>
        </p:blipFill>
        <p:spPr>
          <a:xfrm>
            <a:off x="1882372" y="2321682"/>
            <a:ext cx="5134384" cy="3377222"/>
          </a:xfrm>
          <a:prstGeom prst="rect">
            <a:avLst/>
          </a:prstGeom>
        </p:spPr>
      </p:pic>
      <p:sp>
        <p:nvSpPr>
          <p:cNvPr id="13" name="左大括号 12">
            <a:extLst>
              <a:ext uri="{FF2B5EF4-FFF2-40B4-BE49-F238E27FC236}">
                <a16:creationId xmlns:a16="http://schemas.microsoft.com/office/drawing/2014/main" id="{246A76CE-F62D-FE30-6F47-71DB8CB84C58}"/>
              </a:ext>
            </a:extLst>
          </p:cNvPr>
          <p:cNvSpPr/>
          <p:nvPr/>
        </p:nvSpPr>
        <p:spPr>
          <a:xfrm>
            <a:off x="1648496" y="3429000"/>
            <a:ext cx="367048" cy="116231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88BAE00C-9A8D-6FC6-826F-34A8B5963FB2}"/>
              </a:ext>
            </a:extLst>
          </p:cNvPr>
          <p:cNvSpPr txBox="1"/>
          <p:nvPr/>
        </p:nvSpPr>
        <p:spPr>
          <a:xfrm>
            <a:off x="251750" y="3852820"/>
            <a:ext cx="1261884" cy="307777"/>
          </a:xfrm>
          <a:prstGeom prst="rect">
            <a:avLst/>
          </a:prstGeom>
          <a:noFill/>
        </p:spPr>
        <p:txBody>
          <a:bodyPr wrap="none" rtlCol="0">
            <a:spAutoFit/>
          </a:bodyPr>
          <a:lstStyle/>
          <a:p>
            <a:r>
              <a:rPr kumimoji="1" lang="zh-CN" altLang="en-US" sz="1400" dirty="0">
                <a:latin typeface="Microsoft YaHei" panose="020B0503020204020204" pitchFamily="34" charset="-122"/>
                <a:ea typeface="Microsoft YaHei" panose="020B0503020204020204" pitchFamily="34" charset="-122"/>
              </a:rPr>
              <a:t>表示相对位置</a:t>
            </a:r>
          </a:p>
        </p:txBody>
      </p:sp>
    </p:spTree>
    <p:extLst>
      <p:ext uri="{BB962C8B-B14F-4D97-AF65-F5344CB8AC3E}">
        <p14:creationId xmlns:p14="http://schemas.microsoft.com/office/powerpoint/2010/main" val="94295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3429-2AEF-6AE0-38F1-4AD2CC5B235F}"/>
            </a:ext>
          </a:extLst>
        </p:cNvPr>
        <p:cNvGrpSpPr/>
        <p:nvPr/>
      </p:nvGrpSpPr>
      <p:grpSpPr>
        <a:xfrm>
          <a:off x="0" y="0"/>
          <a:ext cx="0" cy="0"/>
          <a:chOff x="0" y="0"/>
          <a:chExt cx="0" cy="0"/>
        </a:xfrm>
      </p:grpSpPr>
      <p:sp>
        <p:nvSpPr>
          <p:cNvPr id="11268" name="矩形 59">
            <a:extLst>
              <a:ext uri="{FF2B5EF4-FFF2-40B4-BE49-F238E27FC236}">
                <a16:creationId xmlns:a16="http://schemas.microsoft.com/office/drawing/2014/main" id="{37B36B5B-ED1D-5CCF-040D-EF64F91D3AA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二、</a:t>
            </a:r>
            <a:r>
              <a:rPr kumimoji="0" lang="en-US" altLang="zh-CN"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NLP</a:t>
            </a: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基础概念</a:t>
            </a: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340" name="矩形 3">
            <a:extLst>
              <a:ext uri="{FF2B5EF4-FFF2-40B4-BE49-F238E27FC236}">
                <a16:creationId xmlns:a16="http://schemas.microsoft.com/office/drawing/2014/main" id="{2013B203-ED59-F249-2981-86001A260288}"/>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288987BC-0AC7-BC04-D202-612CFB4DA5E5}"/>
              </a:ext>
            </a:extLst>
          </p:cNvPr>
          <p:cNvSpPr txBox="1"/>
          <p:nvPr/>
        </p:nvSpPr>
        <p:spPr>
          <a:xfrm>
            <a:off x="64849" y="789764"/>
            <a:ext cx="4108817"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基础概念与技术：</a:t>
            </a:r>
            <a:r>
              <a:rPr kumimoji="1" lang="zh-CN" altLang="en-US" dirty="0">
                <a:latin typeface="Microsoft YaHei" panose="020B0503020204020204" pitchFamily="34" charset="-122"/>
                <a:ea typeface="Microsoft YaHei" panose="020B0503020204020204" pitchFamily="34" charset="-122"/>
              </a:rPr>
              <a:t>表示模型与生成模型</a:t>
            </a:r>
          </a:p>
        </p:txBody>
      </p:sp>
      <p:pic>
        <p:nvPicPr>
          <p:cNvPr id="4" name="图片 3">
            <a:extLst>
              <a:ext uri="{FF2B5EF4-FFF2-40B4-BE49-F238E27FC236}">
                <a16:creationId xmlns:a16="http://schemas.microsoft.com/office/drawing/2014/main" id="{F6F598C5-9486-FE26-F4A3-C91C5E52A963}"/>
              </a:ext>
            </a:extLst>
          </p:cNvPr>
          <p:cNvPicPr>
            <a:picLocks noChangeAspect="1"/>
          </p:cNvPicPr>
          <p:nvPr/>
        </p:nvPicPr>
        <p:blipFill>
          <a:blip r:embed="rId3"/>
          <a:stretch>
            <a:fillRect/>
          </a:stretch>
        </p:blipFill>
        <p:spPr>
          <a:xfrm>
            <a:off x="407349" y="2866381"/>
            <a:ext cx="3877771" cy="2599623"/>
          </a:xfrm>
          <a:prstGeom prst="rect">
            <a:avLst/>
          </a:prstGeom>
        </p:spPr>
      </p:pic>
      <p:sp>
        <p:nvSpPr>
          <p:cNvPr id="5" name="文本框 4">
            <a:extLst>
              <a:ext uri="{FF2B5EF4-FFF2-40B4-BE49-F238E27FC236}">
                <a16:creationId xmlns:a16="http://schemas.microsoft.com/office/drawing/2014/main" id="{710F9366-E6BB-D851-08A9-71873A323EF8}"/>
              </a:ext>
            </a:extLst>
          </p:cNvPr>
          <p:cNvSpPr txBox="1"/>
          <p:nvPr/>
        </p:nvSpPr>
        <p:spPr>
          <a:xfrm>
            <a:off x="64849" y="1277684"/>
            <a:ext cx="4125809" cy="276999"/>
          </a:xfrm>
          <a:prstGeom prst="rect">
            <a:avLst/>
          </a:prstGeom>
          <a:noFill/>
        </p:spPr>
        <p:txBody>
          <a:bodyPr wrap="none" rtlCol="0">
            <a:spAutoFit/>
          </a:bodyPr>
          <a:lstStyle/>
          <a:p>
            <a:pPr marL="171450" indent="-171450">
              <a:buFont typeface="Wingdings" pitchFamily="2" charset="2"/>
              <a:buChar char="Ø"/>
            </a:pPr>
            <a:r>
              <a:rPr kumimoji="1" lang="zh-CN" altLang="en-US" sz="1200" i="1" dirty="0">
                <a:latin typeface="Microsoft YaHei" panose="020B0503020204020204" pitchFamily="34" charset="-122"/>
                <a:ea typeface="Microsoft YaHei" panose="020B0503020204020204" pitchFamily="34" charset="-122"/>
              </a:rPr>
              <a:t>表示模型：仅使用</a:t>
            </a:r>
            <a:r>
              <a:rPr kumimoji="1" lang="en-US" altLang="zh-CN" sz="1200" i="1" dirty="0">
                <a:latin typeface="Microsoft YaHei" panose="020B0503020204020204" pitchFamily="34" charset="-122"/>
                <a:ea typeface="Microsoft YaHei" panose="020B0503020204020204" pitchFamily="34" charset="-122"/>
              </a:rPr>
              <a:t>Transformer-</a:t>
            </a:r>
            <a:r>
              <a:rPr kumimoji="1" lang="zh-CN" altLang="en-US" sz="1200" i="1" dirty="0">
                <a:latin typeface="Microsoft YaHei" panose="020B0503020204020204" pitchFamily="34" charset="-122"/>
                <a:ea typeface="Microsoft YaHei" panose="020B0503020204020204" pitchFamily="34" charset="-122"/>
              </a:rPr>
              <a:t>编码器，代表模型</a:t>
            </a:r>
            <a:r>
              <a:rPr kumimoji="1" lang="en-US" altLang="zh-CN" sz="1200" i="1" dirty="0">
                <a:latin typeface="Microsoft YaHei" panose="020B0503020204020204" pitchFamily="34" charset="-122"/>
                <a:ea typeface="Microsoft YaHei" panose="020B0503020204020204" pitchFamily="34" charset="-122"/>
              </a:rPr>
              <a:t>BERT</a:t>
            </a:r>
            <a:endParaRPr kumimoji="1" lang="zh-CN" altLang="en-US" sz="1200" i="1" dirty="0">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B62D3CBE-9ACD-D079-DA9D-FF78787CCE08}"/>
              </a:ext>
            </a:extLst>
          </p:cNvPr>
          <p:cNvPicPr>
            <a:picLocks noChangeAspect="1"/>
          </p:cNvPicPr>
          <p:nvPr/>
        </p:nvPicPr>
        <p:blipFill>
          <a:blip r:embed="rId4" cstate="print">
            <a:extLst>
              <a:ext uri="{28A0092B-C50C-407E-A947-70E740481C1C}">
                <a14:useLocalDpi xmlns:a14="http://schemas.microsoft.com/office/drawing/2010/main" val="0"/>
              </a:ext>
            </a:extLst>
          </a:blip>
          <a:srcRect l="19312" t="52955" r="23668" b="31159"/>
          <a:stretch>
            <a:fillRect/>
          </a:stretch>
        </p:blipFill>
        <p:spPr>
          <a:xfrm>
            <a:off x="751834" y="1599771"/>
            <a:ext cx="3188802" cy="909539"/>
          </a:xfrm>
          <a:prstGeom prst="rect">
            <a:avLst/>
          </a:prstGeom>
        </p:spPr>
      </p:pic>
      <p:sp>
        <p:nvSpPr>
          <p:cNvPr id="8" name="文本框 7">
            <a:extLst>
              <a:ext uri="{FF2B5EF4-FFF2-40B4-BE49-F238E27FC236}">
                <a16:creationId xmlns:a16="http://schemas.microsoft.com/office/drawing/2014/main" id="{5B86DF20-31E3-3403-0F2B-82D0EA821894}"/>
              </a:ext>
            </a:extLst>
          </p:cNvPr>
          <p:cNvSpPr txBox="1"/>
          <p:nvPr/>
        </p:nvSpPr>
        <p:spPr>
          <a:xfrm>
            <a:off x="4515548" y="1291046"/>
            <a:ext cx="4056367" cy="276999"/>
          </a:xfrm>
          <a:prstGeom prst="rect">
            <a:avLst/>
          </a:prstGeom>
          <a:noFill/>
        </p:spPr>
        <p:txBody>
          <a:bodyPr wrap="none" rtlCol="0">
            <a:spAutoFit/>
          </a:bodyPr>
          <a:lstStyle/>
          <a:p>
            <a:pPr marL="171450" indent="-171450">
              <a:buFont typeface="Wingdings" pitchFamily="2" charset="2"/>
              <a:buChar char="Ø"/>
            </a:pPr>
            <a:r>
              <a:rPr kumimoji="1" lang="zh-CN" altLang="en-US" sz="1200" i="1" dirty="0">
                <a:latin typeface="Microsoft YaHei" panose="020B0503020204020204" pitchFamily="34" charset="-122"/>
                <a:ea typeface="Microsoft YaHei" panose="020B0503020204020204" pitchFamily="34" charset="-122"/>
              </a:rPr>
              <a:t>生成模型：仅使用</a:t>
            </a:r>
            <a:r>
              <a:rPr kumimoji="1" lang="en-US" altLang="zh-CN" sz="1200" i="1" dirty="0">
                <a:latin typeface="Microsoft YaHei" panose="020B0503020204020204" pitchFamily="34" charset="-122"/>
                <a:ea typeface="Microsoft YaHei" panose="020B0503020204020204" pitchFamily="34" charset="-122"/>
              </a:rPr>
              <a:t>Transformer-</a:t>
            </a:r>
            <a:r>
              <a:rPr kumimoji="1" lang="zh-CN" altLang="en-US" sz="1200" i="1" dirty="0">
                <a:latin typeface="Microsoft YaHei" panose="020B0503020204020204" pitchFamily="34" charset="-122"/>
                <a:ea typeface="Microsoft YaHei" panose="020B0503020204020204" pitchFamily="34" charset="-122"/>
              </a:rPr>
              <a:t>解码器，代表模型</a:t>
            </a:r>
            <a:r>
              <a:rPr kumimoji="1" lang="en-US" altLang="zh-CN" sz="1200" i="1" dirty="0">
                <a:latin typeface="Microsoft YaHei" panose="020B0503020204020204" pitchFamily="34" charset="-122"/>
                <a:ea typeface="Microsoft YaHei" panose="020B0503020204020204" pitchFamily="34" charset="-122"/>
              </a:rPr>
              <a:t>GPT</a:t>
            </a:r>
            <a:endParaRPr kumimoji="1" lang="zh-CN" altLang="en-US" sz="1200" i="1" dirty="0">
              <a:latin typeface="Microsoft YaHei" panose="020B0503020204020204" pitchFamily="34" charset="-122"/>
              <a:ea typeface="Microsoft YaHei" panose="020B0503020204020204" pitchFamily="34" charset="-122"/>
            </a:endParaRPr>
          </a:p>
        </p:txBody>
      </p:sp>
      <p:pic>
        <p:nvPicPr>
          <p:cNvPr id="10" name="图片 9">
            <a:extLst>
              <a:ext uri="{FF2B5EF4-FFF2-40B4-BE49-F238E27FC236}">
                <a16:creationId xmlns:a16="http://schemas.microsoft.com/office/drawing/2014/main" id="{66CE6C3B-A6C8-9F80-F372-ACEB94A7D1C8}"/>
              </a:ext>
            </a:extLst>
          </p:cNvPr>
          <p:cNvPicPr>
            <a:picLocks noChangeAspect="1"/>
          </p:cNvPicPr>
          <p:nvPr/>
        </p:nvPicPr>
        <p:blipFill>
          <a:blip r:embed="rId5" cstate="print">
            <a:extLst>
              <a:ext uri="{28A0092B-C50C-407E-A947-70E740481C1C}">
                <a14:useLocalDpi xmlns:a14="http://schemas.microsoft.com/office/drawing/2010/main" val="0"/>
              </a:ext>
            </a:extLst>
          </a:blip>
          <a:srcRect l="17105" t="42440" r="8300" b="34951"/>
          <a:stretch>
            <a:fillRect/>
          </a:stretch>
        </p:blipFill>
        <p:spPr>
          <a:xfrm>
            <a:off x="4515548" y="1616269"/>
            <a:ext cx="4323653" cy="893041"/>
          </a:xfrm>
          <a:prstGeom prst="rect">
            <a:avLst/>
          </a:prstGeom>
        </p:spPr>
      </p:pic>
      <p:pic>
        <p:nvPicPr>
          <p:cNvPr id="12" name="图片 11">
            <a:extLst>
              <a:ext uri="{FF2B5EF4-FFF2-40B4-BE49-F238E27FC236}">
                <a16:creationId xmlns:a16="http://schemas.microsoft.com/office/drawing/2014/main" id="{4B898932-2987-F071-D642-4B40488C865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70415" y="3320330"/>
            <a:ext cx="4283405" cy="1691723"/>
          </a:xfrm>
          <a:prstGeom prst="rect">
            <a:avLst/>
          </a:prstGeom>
        </p:spPr>
      </p:pic>
    </p:spTree>
    <p:extLst>
      <p:ext uri="{BB962C8B-B14F-4D97-AF65-F5344CB8AC3E}">
        <p14:creationId xmlns:p14="http://schemas.microsoft.com/office/powerpoint/2010/main" val="8544870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2214265"/>
            <a:ext cx="9144000" cy="1388264"/>
            <a:chOff x="-1590" y="2422529"/>
            <a:chExt cx="9145590" cy="1851019"/>
          </a:xfrm>
        </p:grpSpPr>
        <p:sp>
          <p:nvSpPr>
            <p:cNvPr id="24" name="矩形 23"/>
            <p:cNvSpPr/>
            <p:nvPr/>
          </p:nvSpPr>
          <p:spPr>
            <a:xfrm>
              <a:off x="-1590" y="2490260"/>
              <a:ext cx="9145586" cy="1713341"/>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sz="1350" dirty="0">
                <a:solidFill>
                  <a:prstClr val="white"/>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0" y="2422529"/>
              <a:ext cx="9144000" cy="1851019"/>
              <a:chOff x="0" y="2547942"/>
              <a:chExt cx="9144000" cy="1851019"/>
            </a:xfrm>
          </p:grpSpPr>
          <p:sp>
            <p:nvSpPr>
              <p:cNvPr id="5" name="Rectangle 5"/>
              <p:cNvSpPr>
                <a:spLocks noChangeArrowheads="1"/>
              </p:cNvSpPr>
              <p:nvPr/>
            </p:nvSpPr>
            <p:spPr bwMode="auto">
              <a:xfrm>
                <a:off x="0" y="2547942"/>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sp>
            <p:nvSpPr>
              <p:cNvPr id="6" name="Rectangle 5"/>
              <p:cNvSpPr>
                <a:spLocks noChangeArrowheads="1"/>
              </p:cNvSpPr>
              <p:nvPr/>
            </p:nvSpPr>
            <p:spPr bwMode="auto">
              <a:xfrm>
                <a:off x="0" y="4322761"/>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grpSp>
      </p:grpSp>
      <p:pic>
        <p:nvPicPr>
          <p:cNvPr id="3" name="图片 2"/>
          <p:cNvPicPr>
            <a:picLocks noChangeAspect="1"/>
          </p:cNvPicPr>
          <p:nvPr/>
        </p:nvPicPr>
        <p:blipFill>
          <a:blip r:embed="rId3"/>
          <a:stretch>
            <a:fillRect/>
          </a:stretch>
        </p:blipFill>
        <p:spPr>
          <a:xfrm>
            <a:off x="0" y="851743"/>
            <a:ext cx="9144000" cy="754445"/>
          </a:xfrm>
          <a:prstGeom prst="rect">
            <a:avLst/>
          </a:prstGeom>
        </p:spPr>
      </p:pic>
      <p:sp>
        <p:nvSpPr>
          <p:cNvPr id="8" name="文本框 7">
            <a:extLst>
              <a:ext uri="{FF2B5EF4-FFF2-40B4-BE49-F238E27FC236}">
                <a16:creationId xmlns:a16="http://schemas.microsoft.com/office/drawing/2014/main" id="{06E531FC-B52C-4BB5-B379-E8B6FDB5DFA7}"/>
              </a:ext>
            </a:extLst>
          </p:cNvPr>
          <p:cNvSpPr txBox="1"/>
          <p:nvPr/>
        </p:nvSpPr>
        <p:spPr>
          <a:xfrm>
            <a:off x="1612854" y="2545569"/>
            <a:ext cx="5354030" cy="769441"/>
          </a:xfrm>
          <a:prstGeom prst="rect">
            <a:avLst/>
          </a:prstGeom>
          <a:noFill/>
        </p:spPr>
        <p:txBody>
          <a:bodyPr wrap="none" rtlCol="0">
            <a:spAutoFit/>
          </a:bodyPr>
          <a:lstStyle/>
          <a:p>
            <a:r>
              <a:rPr lang="en-US" altLang="zh-CN" sz="4400" b="1" dirty="0">
                <a:solidFill>
                  <a:schemeClr val="bg1"/>
                </a:solidFill>
                <a:latin typeface="微软雅黑" panose="020B0503020204020204" pitchFamily="34" charset="-122"/>
                <a:ea typeface="微软雅黑" panose="020B0503020204020204" pitchFamily="34" charset="-122"/>
              </a:rPr>
              <a:t>Transformer</a:t>
            </a:r>
            <a:r>
              <a:rPr lang="zh-CN" altLang="en-US" sz="4400" b="1" dirty="0">
                <a:solidFill>
                  <a:schemeClr val="bg1"/>
                </a:solidFill>
                <a:latin typeface="微软雅黑" panose="020B0503020204020204" pitchFamily="34" charset="-122"/>
                <a:ea typeface="微软雅黑" panose="020B0503020204020204" pitchFamily="34" charset="-122"/>
              </a:rPr>
              <a:t>预训练</a:t>
            </a:r>
          </a:p>
        </p:txBody>
      </p:sp>
      <p:pic>
        <p:nvPicPr>
          <p:cNvPr id="9" name="图片 17">
            <a:extLst>
              <a:ext uri="{FF2B5EF4-FFF2-40B4-BE49-F238E27FC236}">
                <a16:creationId xmlns:a16="http://schemas.microsoft.com/office/drawing/2014/main" id="{4D9B7B69-685E-46B0-A2F6-C19CF2A07C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8848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三、</a:t>
            </a:r>
            <a:r>
              <a:rPr lang="en-US" altLang="zh-CN"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Transformer</a:t>
            </a: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预训练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10" name="文本框 9">
            <a:extLst>
              <a:ext uri="{FF2B5EF4-FFF2-40B4-BE49-F238E27FC236}">
                <a16:creationId xmlns:a16="http://schemas.microsoft.com/office/drawing/2014/main" id="{443E7665-B60B-A038-0E1D-8421D1A9B7B4}"/>
              </a:ext>
            </a:extLst>
          </p:cNvPr>
          <p:cNvSpPr txBox="1"/>
          <p:nvPr/>
        </p:nvSpPr>
        <p:spPr>
          <a:xfrm>
            <a:off x="52555" y="789764"/>
            <a:ext cx="3584251" cy="338554"/>
          </a:xfrm>
          <a:prstGeom prst="rect">
            <a:avLst/>
          </a:prstGeom>
          <a:noFill/>
        </p:spPr>
        <p:txBody>
          <a:bodyPr wrap="none" rtlCol="0">
            <a:spAutoFit/>
          </a:bodyPr>
          <a:lstStyle/>
          <a:p>
            <a:pPr marL="285750" indent="-285750">
              <a:buFont typeface="Wingdings" pitchFamily="2" charset="2"/>
              <a:buChar char="Ø"/>
            </a:pPr>
            <a:r>
              <a:rPr kumimoji="1" lang="en-US" altLang="zh-CN" sz="1600" b="1" dirty="0">
                <a:latin typeface="Microsoft YaHei" panose="020B0503020204020204" pitchFamily="34" charset="-122"/>
                <a:ea typeface="Microsoft YaHei" panose="020B0503020204020204" pitchFamily="34" charset="-122"/>
              </a:rPr>
              <a:t>Transformer</a:t>
            </a:r>
            <a:r>
              <a:rPr kumimoji="1" lang="zh-CN" altLang="en-US" sz="1600" b="1" dirty="0">
                <a:latin typeface="Microsoft YaHei" panose="020B0503020204020204" pitchFamily="34" charset="-122"/>
                <a:ea typeface="Microsoft YaHei" panose="020B0503020204020204" pitchFamily="34" charset="-122"/>
              </a:rPr>
              <a:t>架构回顾</a:t>
            </a:r>
            <a:r>
              <a:rPr kumimoji="1" lang="zh-CN" altLang="en-US" sz="1600" dirty="0">
                <a:latin typeface="Microsoft YaHei" panose="020B0503020204020204" pitchFamily="34" charset="-122"/>
                <a:ea typeface="Microsoft YaHei" panose="020B0503020204020204" pitchFamily="34" charset="-122"/>
              </a:rPr>
              <a:t>：任务范式</a:t>
            </a:r>
          </a:p>
        </p:txBody>
      </p:sp>
      <p:grpSp>
        <p:nvGrpSpPr>
          <p:cNvPr id="17" name="组合 16">
            <a:extLst>
              <a:ext uri="{FF2B5EF4-FFF2-40B4-BE49-F238E27FC236}">
                <a16:creationId xmlns:a16="http://schemas.microsoft.com/office/drawing/2014/main" id="{F05FDB3A-5687-41D0-BB47-CAD7076FBFEF}"/>
              </a:ext>
            </a:extLst>
          </p:cNvPr>
          <p:cNvGrpSpPr/>
          <p:nvPr/>
        </p:nvGrpSpPr>
        <p:grpSpPr>
          <a:xfrm>
            <a:off x="331206" y="1159096"/>
            <a:ext cx="8478418" cy="3404917"/>
            <a:chOff x="382622" y="1257874"/>
            <a:chExt cx="8478418" cy="3404917"/>
          </a:xfrm>
        </p:grpSpPr>
        <p:pic>
          <p:nvPicPr>
            <p:cNvPr id="23" name="图片 22">
              <a:extLst>
                <a:ext uri="{FF2B5EF4-FFF2-40B4-BE49-F238E27FC236}">
                  <a16:creationId xmlns:a16="http://schemas.microsoft.com/office/drawing/2014/main" id="{53A50F24-A7B8-44E9-BE9B-32F0D48DEAFC}"/>
                </a:ext>
              </a:extLst>
            </p:cNvPr>
            <p:cNvPicPr>
              <a:picLocks noChangeAspect="1"/>
            </p:cNvPicPr>
            <p:nvPr/>
          </p:nvPicPr>
          <p:blipFill rotWithShape="1">
            <a:blip r:embed="rId3">
              <a:extLst>
                <a:ext uri="{28A0092B-C50C-407E-A947-70E740481C1C}">
                  <a14:useLocalDpi xmlns:a14="http://schemas.microsoft.com/office/drawing/2010/main" val="0"/>
                </a:ext>
              </a:extLst>
            </a:blip>
            <a:srcRect l="13289" r="25723" b="10902"/>
            <a:stretch/>
          </p:blipFill>
          <p:spPr>
            <a:xfrm>
              <a:off x="466928" y="1257874"/>
              <a:ext cx="2945386" cy="3404917"/>
            </a:xfrm>
            <a:prstGeom prst="rect">
              <a:avLst/>
            </a:prstGeom>
          </p:spPr>
        </p:pic>
        <p:sp>
          <p:nvSpPr>
            <p:cNvPr id="24" name="矩形: 圆角 23">
              <a:extLst>
                <a:ext uri="{FF2B5EF4-FFF2-40B4-BE49-F238E27FC236}">
                  <a16:creationId xmlns:a16="http://schemas.microsoft.com/office/drawing/2014/main" id="{6D28D5AC-4EE9-48E5-99A0-49928394CC17}"/>
                </a:ext>
              </a:extLst>
            </p:cNvPr>
            <p:cNvSpPr/>
            <p:nvPr/>
          </p:nvSpPr>
          <p:spPr>
            <a:xfrm>
              <a:off x="382622" y="3638145"/>
              <a:ext cx="3249038" cy="1024646"/>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FB8D5FB0-B1D6-4C10-9383-F19671D97F84}"/>
                </a:ext>
              </a:extLst>
            </p:cNvPr>
            <p:cNvSpPr txBox="1"/>
            <p:nvPr/>
          </p:nvSpPr>
          <p:spPr>
            <a:xfrm>
              <a:off x="3631660" y="3936460"/>
              <a:ext cx="1323399" cy="523220"/>
            </a:xfrm>
            <a:prstGeom prst="rect">
              <a:avLst/>
            </a:prstGeom>
            <a:noFill/>
          </p:spPr>
          <p:txBody>
            <a:bodyPr wrap="square" rtlCol="0">
              <a:spAutoFit/>
            </a:bodyPr>
            <a:lstStyle/>
            <a:p>
              <a:r>
                <a:rPr lang="en-US" altLang="zh-CN" sz="1400" dirty="0">
                  <a:latin typeface="微软雅黑" panose="020B0503020204020204" pitchFamily="34" charset="-122"/>
                  <a:ea typeface="微软雅黑" panose="020B0503020204020204" pitchFamily="34" charset="-122"/>
                </a:rPr>
                <a:t>Word</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embedding</a:t>
              </a:r>
              <a:endParaRPr lang="zh-CN" altLang="en-US" sz="1400" dirty="0">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D3403DA3-6BF1-4AC8-831D-FD5E967C2D35}"/>
                </a:ext>
              </a:extLst>
            </p:cNvPr>
            <p:cNvSpPr/>
            <p:nvPr/>
          </p:nvSpPr>
          <p:spPr>
            <a:xfrm>
              <a:off x="382622" y="2613498"/>
              <a:ext cx="3249038" cy="647145"/>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FA7728DB-9F41-4B0F-85B9-A5B1FD17867E}"/>
                </a:ext>
              </a:extLst>
            </p:cNvPr>
            <p:cNvSpPr txBox="1"/>
            <p:nvPr/>
          </p:nvSpPr>
          <p:spPr>
            <a:xfrm>
              <a:off x="3631658" y="2774931"/>
              <a:ext cx="132339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模型架构演进</a:t>
              </a:r>
            </a:p>
          </p:txBody>
        </p:sp>
        <p:sp>
          <p:nvSpPr>
            <p:cNvPr id="28" name="矩形: 圆角 27">
              <a:extLst>
                <a:ext uri="{FF2B5EF4-FFF2-40B4-BE49-F238E27FC236}">
                  <a16:creationId xmlns:a16="http://schemas.microsoft.com/office/drawing/2014/main" id="{29E42D93-BD8A-4296-99AE-A72215E9F9FB}"/>
                </a:ext>
              </a:extLst>
            </p:cNvPr>
            <p:cNvSpPr/>
            <p:nvPr/>
          </p:nvSpPr>
          <p:spPr>
            <a:xfrm>
              <a:off x="382622" y="1664279"/>
              <a:ext cx="3249038" cy="647145"/>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50683F82-5D4C-42BD-8B73-F246F2AA9DAD}"/>
                </a:ext>
              </a:extLst>
            </p:cNvPr>
            <p:cNvSpPr txBox="1"/>
            <p:nvPr/>
          </p:nvSpPr>
          <p:spPr>
            <a:xfrm>
              <a:off x="3631658" y="1787798"/>
              <a:ext cx="1323399"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输出层</a:t>
              </a:r>
            </a:p>
          </p:txBody>
        </p:sp>
        <p:sp>
          <p:nvSpPr>
            <p:cNvPr id="30" name="左大括号 29">
              <a:extLst>
                <a:ext uri="{FF2B5EF4-FFF2-40B4-BE49-F238E27FC236}">
                  <a16:creationId xmlns:a16="http://schemas.microsoft.com/office/drawing/2014/main" id="{B76DCE4F-64B6-4581-BB09-E00123652415}"/>
                </a:ext>
              </a:extLst>
            </p:cNvPr>
            <p:cNvSpPr/>
            <p:nvPr/>
          </p:nvSpPr>
          <p:spPr>
            <a:xfrm>
              <a:off x="4930847" y="2393890"/>
              <a:ext cx="203627" cy="1013308"/>
            </a:xfrm>
            <a:prstGeom prst="leftBrace">
              <a:avLst>
                <a:gd name="adj1" fmla="val 8333"/>
                <a:gd name="adj2" fmla="val 5064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左大括号 30">
              <a:extLst>
                <a:ext uri="{FF2B5EF4-FFF2-40B4-BE49-F238E27FC236}">
                  <a16:creationId xmlns:a16="http://schemas.microsoft.com/office/drawing/2014/main" id="{8A16C60F-3FCD-415E-AA2D-A2B2C2C317F8}"/>
                </a:ext>
              </a:extLst>
            </p:cNvPr>
            <p:cNvSpPr/>
            <p:nvPr/>
          </p:nvSpPr>
          <p:spPr>
            <a:xfrm>
              <a:off x="4392595" y="1411093"/>
              <a:ext cx="203627" cy="1013308"/>
            </a:xfrm>
            <a:prstGeom prst="leftBrace">
              <a:avLst>
                <a:gd name="adj1" fmla="val 8333"/>
                <a:gd name="adj2" fmla="val 5064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E16A7034-1332-4B10-BBEF-84CF71DED4D3}"/>
                </a:ext>
              </a:extLst>
            </p:cNvPr>
            <p:cNvSpPr txBox="1"/>
            <p:nvPr/>
          </p:nvSpPr>
          <p:spPr>
            <a:xfrm>
              <a:off x="4611941" y="1382108"/>
              <a:ext cx="1348446"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LM</a:t>
              </a:r>
              <a:r>
                <a:rPr lang="zh-CN" altLang="en-US" sz="1400" dirty="0">
                  <a:latin typeface="微软雅黑" panose="020B0503020204020204" pitchFamily="34" charset="-122"/>
                  <a:ea typeface="微软雅黑" panose="020B0503020204020204" pitchFamily="34" charset="-122"/>
                </a:rPr>
                <a:t>：语言建模</a:t>
              </a:r>
            </a:p>
          </p:txBody>
        </p:sp>
        <p:sp>
          <p:nvSpPr>
            <p:cNvPr id="33" name="文本框 32">
              <a:extLst>
                <a:ext uri="{FF2B5EF4-FFF2-40B4-BE49-F238E27FC236}">
                  <a16:creationId xmlns:a16="http://schemas.microsoft.com/office/drawing/2014/main" id="{9452E4DF-E847-4A95-96BA-F883147314C0}"/>
                </a:ext>
              </a:extLst>
            </p:cNvPr>
            <p:cNvSpPr txBox="1"/>
            <p:nvPr/>
          </p:nvSpPr>
          <p:spPr>
            <a:xfrm>
              <a:off x="4500178" y="1694932"/>
              <a:ext cx="2012089"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Seq2Seq</a:t>
              </a:r>
              <a:r>
                <a:rPr lang="zh-CN" altLang="en-US" sz="1400" dirty="0">
                  <a:latin typeface="微软雅黑" panose="020B0503020204020204" pitchFamily="34" charset="-122"/>
                  <a:ea typeface="微软雅黑" panose="020B0503020204020204" pitchFamily="34" charset="-122"/>
                </a:rPr>
                <a:t>：序列到序列</a:t>
              </a:r>
            </a:p>
          </p:txBody>
        </p:sp>
        <p:sp>
          <p:nvSpPr>
            <p:cNvPr id="34" name="文本框 33">
              <a:extLst>
                <a:ext uri="{FF2B5EF4-FFF2-40B4-BE49-F238E27FC236}">
                  <a16:creationId xmlns:a16="http://schemas.microsoft.com/office/drawing/2014/main" id="{2CC47C3B-91D9-4808-9825-159B79EF3D6C}"/>
                </a:ext>
              </a:extLst>
            </p:cNvPr>
            <p:cNvSpPr txBox="1"/>
            <p:nvPr/>
          </p:nvSpPr>
          <p:spPr>
            <a:xfrm>
              <a:off x="4445055" y="2009169"/>
              <a:ext cx="3999813"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Classification</a:t>
              </a:r>
              <a:r>
                <a:rPr lang="zh-CN" altLang="en-US" sz="1400" dirty="0">
                  <a:latin typeface="微软雅黑" panose="020B0503020204020204" pitchFamily="34" charset="-122"/>
                  <a:ea typeface="微软雅黑" panose="020B0503020204020204" pitchFamily="34" charset="-122"/>
                </a:rPr>
                <a:t>：其他分类或者表示等非生成任务</a:t>
              </a:r>
            </a:p>
          </p:txBody>
        </p:sp>
        <p:sp>
          <p:nvSpPr>
            <p:cNvPr id="35" name="文本框 34">
              <a:extLst>
                <a:ext uri="{FF2B5EF4-FFF2-40B4-BE49-F238E27FC236}">
                  <a16:creationId xmlns:a16="http://schemas.microsoft.com/office/drawing/2014/main" id="{2AFF3FAC-2570-4C04-8412-715C8504EC98}"/>
                </a:ext>
              </a:extLst>
            </p:cNvPr>
            <p:cNvSpPr txBox="1"/>
            <p:nvPr/>
          </p:nvSpPr>
          <p:spPr>
            <a:xfrm>
              <a:off x="5157910" y="2328722"/>
              <a:ext cx="3685176"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RNN:</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LSTM,</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GRU, Bi-LSTM, </a:t>
              </a:r>
              <a:r>
                <a:rPr lang="en-US" altLang="zh-CN" sz="1400" dirty="0" err="1">
                  <a:latin typeface="微软雅黑" panose="020B0503020204020204" pitchFamily="34" charset="-122"/>
                  <a:ea typeface="微软雅黑" panose="020B0503020204020204" pitchFamily="34" charset="-122"/>
                </a:rPr>
                <a:t>StackedLSTM</a:t>
              </a:r>
              <a:endParaRPr lang="zh-CN" altLang="en-US" sz="1400" dirty="0">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7E3B360F-15FA-4FB3-B2F4-DCB054E534C4}"/>
                </a:ext>
              </a:extLst>
            </p:cNvPr>
            <p:cNvSpPr txBox="1"/>
            <p:nvPr/>
          </p:nvSpPr>
          <p:spPr>
            <a:xfrm>
              <a:off x="5032660" y="2713443"/>
              <a:ext cx="1797415"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CNN: Dilated-CNN</a:t>
              </a:r>
              <a:endParaRPr lang="zh-CN" altLang="en-US" sz="14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02A8B6DA-F0D6-4794-BD00-E04495FC8F7C}"/>
                </a:ext>
              </a:extLst>
            </p:cNvPr>
            <p:cNvSpPr txBox="1"/>
            <p:nvPr/>
          </p:nvSpPr>
          <p:spPr>
            <a:xfrm>
              <a:off x="5157910" y="3082708"/>
              <a:ext cx="3703130"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Transformer: Attention</a:t>
              </a:r>
              <a:r>
                <a:rPr lang="zh-CN" altLang="en-US" sz="1400" dirty="0">
                  <a:latin typeface="微软雅黑" panose="020B0503020204020204" pitchFamily="34" charset="-122"/>
                  <a:ea typeface="微软雅黑" panose="020B0503020204020204" pitchFamily="34" charset="-122"/>
                </a:rPr>
                <a:t>机制，</a:t>
              </a:r>
              <a:r>
                <a:rPr lang="en-US" altLang="zh-CN" sz="1400" dirty="0">
                  <a:latin typeface="微软雅黑" panose="020B0503020204020204" pitchFamily="34" charset="-122"/>
                  <a:ea typeface="微软雅黑" panose="020B0503020204020204" pitchFamily="34" charset="-122"/>
                </a:rPr>
                <a:t>Transformer</a:t>
              </a:r>
              <a:endParaRPr lang="zh-CN" altLang="en-US" sz="1400" dirty="0">
                <a:latin typeface="微软雅黑" panose="020B0503020204020204" pitchFamily="34" charset="-122"/>
                <a:ea typeface="微软雅黑" panose="020B0503020204020204" pitchFamily="34" charset="-122"/>
              </a:endParaRPr>
            </a:p>
          </p:txBody>
        </p:sp>
        <p:cxnSp>
          <p:nvCxnSpPr>
            <p:cNvPr id="38" name="直接箭头连接符 37">
              <a:extLst>
                <a:ext uri="{FF2B5EF4-FFF2-40B4-BE49-F238E27FC236}">
                  <a16:creationId xmlns:a16="http://schemas.microsoft.com/office/drawing/2014/main" id="{0AFF023A-A294-40BD-98D6-98C1D118144A}"/>
                </a:ext>
              </a:extLst>
            </p:cNvPr>
            <p:cNvCxnSpPr>
              <a:stCxn id="35" idx="2"/>
              <a:endCxn id="36" idx="0"/>
            </p:cNvCxnSpPr>
            <p:nvPr/>
          </p:nvCxnSpPr>
          <p:spPr>
            <a:xfrm flipH="1">
              <a:off x="5931368" y="2636499"/>
              <a:ext cx="1069130" cy="7694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2E87A1DD-E01B-4C14-B1FF-E70E76085DAE}"/>
                </a:ext>
              </a:extLst>
            </p:cNvPr>
            <p:cNvCxnSpPr>
              <a:cxnSpLocks/>
              <a:endCxn id="37" idx="0"/>
            </p:cNvCxnSpPr>
            <p:nvPr/>
          </p:nvCxnSpPr>
          <p:spPr>
            <a:xfrm>
              <a:off x="5931367" y="3032997"/>
              <a:ext cx="1078108" cy="4971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01EC4F36-5092-4A35-8B6F-F9BD6F205EE4}"/>
                </a:ext>
              </a:extLst>
            </p:cNvPr>
            <p:cNvSpPr txBox="1"/>
            <p:nvPr/>
          </p:nvSpPr>
          <p:spPr>
            <a:xfrm>
              <a:off x="6173091" y="2544098"/>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效率</a:t>
              </a:r>
            </a:p>
          </p:txBody>
        </p:sp>
        <p:sp>
          <p:nvSpPr>
            <p:cNvPr id="41" name="文本框 40">
              <a:extLst>
                <a:ext uri="{FF2B5EF4-FFF2-40B4-BE49-F238E27FC236}">
                  <a16:creationId xmlns:a16="http://schemas.microsoft.com/office/drawing/2014/main" id="{9E7B1D5A-418B-408B-A28F-C74C127B40F4}"/>
                </a:ext>
              </a:extLst>
            </p:cNvPr>
            <p:cNvSpPr txBox="1"/>
            <p:nvPr/>
          </p:nvSpPr>
          <p:spPr>
            <a:xfrm>
              <a:off x="6266045" y="2919352"/>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效果</a:t>
              </a:r>
            </a:p>
          </p:txBody>
        </p:sp>
        <p:cxnSp>
          <p:nvCxnSpPr>
            <p:cNvPr id="42" name="直接箭头连接符 41">
              <a:extLst>
                <a:ext uri="{FF2B5EF4-FFF2-40B4-BE49-F238E27FC236}">
                  <a16:creationId xmlns:a16="http://schemas.microsoft.com/office/drawing/2014/main" id="{AD4C909D-03CB-43AB-9F6A-590C73CF95AE}"/>
                </a:ext>
              </a:extLst>
            </p:cNvPr>
            <p:cNvCxnSpPr>
              <a:cxnSpLocks/>
              <a:stCxn id="35" idx="2"/>
              <a:endCxn id="37" idx="0"/>
            </p:cNvCxnSpPr>
            <p:nvPr/>
          </p:nvCxnSpPr>
          <p:spPr>
            <a:xfrm>
              <a:off x="7000498" y="2636499"/>
              <a:ext cx="8977" cy="44620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B3EA5201-803E-4007-AAA9-7C46F3F72B04}"/>
                </a:ext>
              </a:extLst>
            </p:cNvPr>
            <p:cNvSpPr txBox="1"/>
            <p:nvPr/>
          </p:nvSpPr>
          <p:spPr>
            <a:xfrm>
              <a:off x="6978145" y="2728831"/>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效率</a:t>
              </a:r>
            </a:p>
          </p:txBody>
        </p:sp>
        <p:pic>
          <p:nvPicPr>
            <p:cNvPr id="44" name="图片 43">
              <a:extLst>
                <a:ext uri="{FF2B5EF4-FFF2-40B4-BE49-F238E27FC236}">
                  <a16:creationId xmlns:a16="http://schemas.microsoft.com/office/drawing/2014/main" id="{F0BB30E9-BD95-45A9-A5DE-65067B250342}"/>
                </a:ext>
              </a:extLst>
            </p:cNvPr>
            <p:cNvPicPr>
              <a:picLocks noChangeAspect="1"/>
            </p:cNvPicPr>
            <p:nvPr/>
          </p:nvPicPr>
          <p:blipFill>
            <a:blip r:embed="rId4" cstate="print">
              <a:extLst>
                <a:ext uri="{28A0092B-C50C-407E-A947-70E740481C1C}">
                  <a14:useLocalDpi xmlns:a14="http://schemas.microsoft.com/office/drawing/2010/main" val="0"/>
                </a:ext>
              </a:extLst>
            </a:blip>
            <a:srcRect l="20776" t="10010" r="8302" b="13222"/>
            <a:stretch>
              <a:fillRect/>
            </a:stretch>
          </p:blipFill>
          <p:spPr>
            <a:xfrm>
              <a:off x="4868952" y="3866917"/>
              <a:ext cx="3922246" cy="775221"/>
            </a:xfrm>
            <a:prstGeom prst="rect">
              <a:avLst/>
            </a:prstGeom>
          </p:spPr>
        </p:pic>
      </p:grpSp>
      <p:sp>
        <p:nvSpPr>
          <p:cNvPr id="3" name="左大括号 2">
            <a:extLst>
              <a:ext uri="{FF2B5EF4-FFF2-40B4-BE49-F238E27FC236}">
                <a16:creationId xmlns:a16="http://schemas.microsoft.com/office/drawing/2014/main" id="{6D01BD46-DE4E-4C5F-9A8C-03576AD093F4}"/>
              </a:ext>
            </a:extLst>
          </p:cNvPr>
          <p:cNvSpPr/>
          <p:nvPr/>
        </p:nvSpPr>
        <p:spPr>
          <a:xfrm rot="16200000">
            <a:off x="4325906" y="628836"/>
            <a:ext cx="419176" cy="8408576"/>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3606133-3352-47A7-B54B-15737B98C63C}"/>
              </a:ext>
            </a:extLst>
          </p:cNvPr>
          <p:cNvSpPr txBox="1"/>
          <p:nvPr/>
        </p:nvSpPr>
        <p:spPr>
          <a:xfrm>
            <a:off x="2813698" y="5110178"/>
            <a:ext cx="3262432"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模型训练包含非常庞大的参数量！</a:t>
            </a:r>
          </a:p>
        </p:txBody>
      </p:sp>
      <p:pic>
        <p:nvPicPr>
          <p:cNvPr id="7" name="图片 6">
            <a:extLst>
              <a:ext uri="{FF2B5EF4-FFF2-40B4-BE49-F238E27FC236}">
                <a16:creationId xmlns:a16="http://schemas.microsoft.com/office/drawing/2014/main" id="{0F6E65C5-8A15-4542-AC3F-146CFDA27D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391368"/>
            <a:ext cx="9144000" cy="4075264"/>
          </a:xfrm>
          <a:prstGeom prst="rect">
            <a:avLst/>
          </a:prstGeom>
        </p:spPr>
      </p:pic>
    </p:spTree>
    <p:extLst>
      <p:ext uri="{BB962C8B-B14F-4D97-AF65-F5344CB8AC3E}">
        <p14:creationId xmlns:p14="http://schemas.microsoft.com/office/powerpoint/2010/main" val="68107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三、</a:t>
            </a:r>
            <a:r>
              <a:rPr lang="en-US" altLang="zh-CN"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Transformer</a:t>
            </a: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预训练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0E17BDAF-083E-E273-5E7A-7E7C0765E51B}"/>
              </a:ext>
            </a:extLst>
          </p:cNvPr>
          <p:cNvPicPr>
            <a:picLocks noChangeAspect="1"/>
          </p:cNvPicPr>
          <p:nvPr/>
        </p:nvPicPr>
        <p:blipFill>
          <a:blip r:embed="rId3">
            <a:clrChange>
              <a:clrFrom>
                <a:srgbClr val="F9F9F9"/>
              </a:clrFrom>
              <a:clrTo>
                <a:srgbClr val="F9F9F9">
                  <a:alpha val="0"/>
                </a:srgbClr>
              </a:clrTo>
            </a:clrChange>
          </a:blip>
          <a:srcRect r="9118"/>
          <a:stretch>
            <a:fillRect/>
          </a:stretch>
        </p:blipFill>
        <p:spPr>
          <a:xfrm>
            <a:off x="556218" y="1250311"/>
            <a:ext cx="2699306" cy="2995081"/>
          </a:xfrm>
          <a:prstGeom prst="rect">
            <a:avLst/>
          </a:prstGeom>
        </p:spPr>
      </p:pic>
      <p:sp>
        <p:nvSpPr>
          <p:cNvPr id="10" name="文本框 9">
            <a:extLst>
              <a:ext uri="{FF2B5EF4-FFF2-40B4-BE49-F238E27FC236}">
                <a16:creationId xmlns:a16="http://schemas.microsoft.com/office/drawing/2014/main" id="{443E7665-B60B-A038-0E1D-8421D1A9B7B4}"/>
              </a:ext>
            </a:extLst>
          </p:cNvPr>
          <p:cNvSpPr txBox="1"/>
          <p:nvPr/>
        </p:nvSpPr>
        <p:spPr>
          <a:xfrm>
            <a:off x="52555" y="789764"/>
            <a:ext cx="4728795" cy="338554"/>
          </a:xfrm>
          <a:prstGeom prst="rect">
            <a:avLst/>
          </a:prstGeom>
          <a:noFill/>
        </p:spPr>
        <p:txBody>
          <a:bodyPr wrap="none" rtlCol="0">
            <a:spAutoFit/>
          </a:bodyPr>
          <a:lstStyle/>
          <a:p>
            <a:pPr marL="285750" indent="-285750">
              <a:buFont typeface="Wingdings" pitchFamily="2" charset="2"/>
              <a:buChar char="Ø"/>
            </a:pPr>
            <a:r>
              <a:rPr kumimoji="1" lang="en-US" altLang="zh-CN" sz="1600" i="1" dirty="0">
                <a:latin typeface="Microsoft YaHei" panose="020B0503020204020204" pitchFamily="34" charset="-122"/>
                <a:ea typeface="Microsoft YaHei" panose="020B0503020204020204" pitchFamily="34" charset="-122"/>
              </a:rPr>
              <a:t>Transformer</a:t>
            </a:r>
            <a:r>
              <a:rPr kumimoji="1" lang="zh-CN" altLang="en-US" sz="1600" i="1" dirty="0">
                <a:latin typeface="Microsoft YaHei" panose="020B0503020204020204" pitchFamily="34" charset="-122"/>
                <a:ea typeface="Microsoft YaHei" panose="020B0503020204020204" pitchFamily="34" charset="-122"/>
              </a:rPr>
              <a:t>的预训练：预训练模型的基础思路</a:t>
            </a:r>
          </a:p>
        </p:txBody>
      </p:sp>
      <p:sp>
        <p:nvSpPr>
          <p:cNvPr id="14" name="文本框 13">
            <a:extLst>
              <a:ext uri="{FF2B5EF4-FFF2-40B4-BE49-F238E27FC236}">
                <a16:creationId xmlns:a16="http://schemas.microsoft.com/office/drawing/2014/main" id="{24FA0483-BF50-371A-8F1A-EC43CB0A10C7}"/>
              </a:ext>
            </a:extLst>
          </p:cNvPr>
          <p:cNvSpPr txBox="1"/>
          <p:nvPr/>
        </p:nvSpPr>
        <p:spPr>
          <a:xfrm>
            <a:off x="251418" y="4398163"/>
            <a:ext cx="3308906" cy="1670073"/>
          </a:xfrm>
          <a:prstGeom prst="rect">
            <a:avLst/>
          </a:prstGeom>
          <a:noFill/>
        </p:spPr>
        <p:txBody>
          <a:bodyPr wrap="square">
            <a:spAutoFit/>
          </a:bodyPr>
          <a:lstStyle/>
          <a:p>
            <a:pPr marL="285750" indent="-285750">
              <a:lnSpc>
                <a:spcPct val="150000"/>
              </a:lnSpc>
              <a:buFont typeface="系统字体常规体"/>
              <a:buChar char="？"/>
            </a:pPr>
            <a:r>
              <a:rPr lang="zh-CN" altLang="en-US" sz="1400" dirty="0">
                <a:latin typeface="Microsoft YaHei" panose="020B0503020204020204" pitchFamily="34" charset="-122"/>
                <a:ea typeface="Microsoft YaHei" panose="020B0503020204020204" pitchFamily="34" charset="-122"/>
              </a:rPr>
              <a:t>Transformer 本身在特征提取部分（Embedding+Hidden）参数量过大，如果只用其做某个任务的话会由于当前</a:t>
            </a:r>
            <a:r>
              <a:rPr lang="zh-CN" altLang="en-US" sz="1400" u="sng" dirty="0">
                <a:latin typeface="Microsoft YaHei" panose="020B0503020204020204" pitchFamily="34" charset="-122"/>
                <a:ea typeface="Microsoft YaHei" panose="020B0503020204020204" pitchFamily="34" charset="-122"/>
              </a:rPr>
              <a:t>数据量不够</a:t>
            </a:r>
            <a:r>
              <a:rPr lang="zh-CN" altLang="en-US" sz="1400" dirty="0">
                <a:latin typeface="Microsoft YaHei" panose="020B0503020204020204" pitchFamily="34" charset="-122"/>
                <a:ea typeface="Microsoft YaHei" panose="020B0503020204020204" pitchFamily="34" charset="-122"/>
              </a:rPr>
              <a:t>而学习不出有效的特征</a:t>
            </a:r>
          </a:p>
        </p:txBody>
      </p:sp>
      <p:sp>
        <p:nvSpPr>
          <p:cNvPr id="16" name="右箭头 15">
            <a:extLst>
              <a:ext uri="{FF2B5EF4-FFF2-40B4-BE49-F238E27FC236}">
                <a16:creationId xmlns:a16="http://schemas.microsoft.com/office/drawing/2014/main" id="{6723CD93-0F50-1395-EBEC-5642345CED54}"/>
              </a:ext>
            </a:extLst>
          </p:cNvPr>
          <p:cNvSpPr/>
          <p:nvPr/>
        </p:nvSpPr>
        <p:spPr>
          <a:xfrm>
            <a:off x="3374157" y="2533364"/>
            <a:ext cx="998463" cy="309259"/>
          </a:xfrm>
          <a:prstGeom prst="rightArrow">
            <a:avLst/>
          </a:prstGeom>
          <a:solidFill>
            <a:srgbClr val="00518E"/>
          </a:solidFill>
          <a:ln>
            <a:solidFill>
              <a:srgbClr val="0051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03DDB042-9928-4227-4597-B2369F2B5D27}"/>
              </a:ext>
            </a:extLst>
          </p:cNvPr>
          <p:cNvSpPr txBox="1"/>
          <p:nvPr/>
        </p:nvSpPr>
        <p:spPr>
          <a:xfrm>
            <a:off x="3237522" y="1983898"/>
            <a:ext cx="1316476" cy="600164"/>
          </a:xfrm>
          <a:prstGeom prst="rect">
            <a:avLst/>
          </a:prstGeom>
          <a:noFill/>
        </p:spPr>
        <p:txBody>
          <a:bodyPr wrap="square" rtlCol="0">
            <a:spAutoFit/>
          </a:bodyPr>
          <a:lstStyle/>
          <a:p>
            <a:r>
              <a:rPr kumimoji="1" lang="zh-CN" altLang="en-US" sz="1100" i="1" dirty="0">
                <a:latin typeface="Microsoft YaHei" panose="020B0503020204020204" pitchFamily="34" charset="-122"/>
                <a:ea typeface="Microsoft YaHei" panose="020B0503020204020204" pitchFamily="34" charset="-122"/>
              </a:rPr>
              <a:t>参考</a:t>
            </a:r>
            <a:r>
              <a:rPr kumimoji="1" lang="en-US" altLang="zh-CN" sz="1100" i="1" dirty="0">
                <a:latin typeface="Microsoft YaHei" panose="020B0503020204020204" pitchFamily="34" charset="-122"/>
                <a:ea typeface="Microsoft YaHei" panose="020B0503020204020204" pitchFamily="34" charset="-122"/>
              </a:rPr>
              <a:t>word2vec</a:t>
            </a:r>
            <a:r>
              <a:rPr kumimoji="1" lang="zh-CN" altLang="en-US" sz="1100" i="1" dirty="0">
                <a:latin typeface="Microsoft YaHei" panose="020B0503020204020204" pitchFamily="34" charset="-122"/>
                <a:ea typeface="Microsoft YaHei" panose="020B0503020204020204" pitchFamily="34" charset="-122"/>
              </a:rPr>
              <a:t>的预训练思路，</a:t>
            </a:r>
            <a:r>
              <a:rPr kumimoji="1" lang="zh-CN" altLang="en-US" sz="1100" i="1" u="sng" dirty="0">
                <a:latin typeface="Microsoft YaHei" panose="020B0503020204020204" pitchFamily="34" charset="-122"/>
                <a:ea typeface="Microsoft YaHei" panose="020B0503020204020204" pitchFamily="34" charset="-122"/>
              </a:rPr>
              <a:t>预训练</a:t>
            </a:r>
            <a:r>
              <a:rPr kumimoji="1" lang="en-US" altLang="zh-CN" sz="1100" i="1" u="sng" dirty="0">
                <a:latin typeface="Microsoft YaHei" panose="020B0503020204020204" pitchFamily="34" charset="-122"/>
                <a:ea typeface="Microsoft YaHei" panose="020B0503020204020204" pitchFamily="34" charset="-122"/>
              </a:rPr>
              <a:t>Embedding </a:t>
            </a:r>
            <a:r>
              <a:rPr kumimoji="1" lang="zh-CN" altLang="en-US" sz="1100" i="1" u="sng" dirty="0">
                <a:latin typeface="Microsoft YaHei" panose="020B0503020204020204" pitchFamily="34" charset="-122"/>
                <a:ea typeface="Microsoft YaHei" panose="020B0503020204020204" pitchFamily="34" charset="-122"/>
              </a:rPr>
              <a:t>层</a:t>
            </a:r>
          </a:p>
        </p:txBody>
      </p:sp>
      <p:pic>
        <p:nvPicPr>
          <p:cNvPr id="19" name="图片 18">
            <a:extLst>
              <a:ext uri="{FF2B5EF4-FFF2-40B4-BE49-F238E27FC236}">
                <a16:creationId xmlns:a16="http://schemas.microsoft.com/office/drawing/2014/main" id="{A620C9EA-DDC5-1164-1DDD-A2287B8635B2}"/>
              </a:ext>
            </a:extLst>
          </p:cNvPr>
          <p:cNvPicPr>
            <a:picLocks noChangeAspect="1"/>
          </p:cNvPicPr>
          <p:nvPr/>
        </p:nvPicPr>
        <p:blipFill>
          <a:blip r:embed="rId4"/>
          <a:stretch>
            <a:fillRect/>
          </a:stretch>
        </p:blipFill>
        <p:spPr>
          <a:xfrm>
            <a:off x="4687147" y="1189103"/>
            <a:ext cx="4312578" cy="2761861"/>
          </a:xfrm>
          <a:prstGeom prst="rect">
            <a:avLst/>
          </a:prstGeom>
        </p:spPr>
      </p:pic>
      <p:pic>
        <p:nvPicPr>
          <p:cNvPr id="15" name="图片 14">
            <a:extLst>
              <a:ext uri="{FF2B5EF4-FFF2-40B4-BE49-F238E27FC236}">
                <a16:creationId xmlns:a16="http://schemas.microsoft.com/office/drawing/2014/main" id="{5962C8CA-6F00-B62D-D0FF-E406F069F9EB}"/>
              </a:ext>
            </a:extLst>
          </p:cNvPr>
          <p:cNvPicPr>
            <a:picLocks noChangeAspect="1"/>
          </p:cNvPicPr>
          <p:nvPr/>
        </p:nvPicPr>
        <p:blipFill>
          <a:blip r:embed="rId5"/>
          <a:stretch>
            <a:fillRect/>
          </a:stretch>
        </p:blipFill>
        <p:spPr>
          <a:xfrm>
            <a:off x="4113011" y="3198072"/>
            <a:ext cx="4779571" cy="3374149"/>
          </a:xfrm>
          <a:prstGeom prst="rect">
            <a:avLst/>
          </a:prstGeom>
        </p:spPr>
      </p:pic>
      <p:pic>
        <p:nvPicPr>
          <p:cNvPr id="20" name="图片 19">
            <a:extLst>
              <a:ext uri="{FF2B5EF4-FFF2-40B4-BE49-F238E27FC236}">
                <a16:creationId xmlns:a16="http://schemas.microsoft.com/office/drawing/2014/main" id="{8327F561-A4B5-B793-FDE2-A6BAC11A52A4}"/>
              </a:ext>
            </a:extLst>
          </p:cNvPr>
          <p:cNvPicPr>
            <a:picLocks noChangeAspect="1"/>
          </p:cNvPicPr>
          <p:nvPr/>
        </p:nvPicPr>
        <p:blipFill>
          <a:blip r:embed="rId6">
            <a:clrChange>
              <a:clrFrom>
                <a:srgbClr val="F9F9F9"/>
              </a:clrFrom>
              <a:clrTo>
                <a:srgbClr val="F9F9F9">
                  <a:alpha val="0"/>
                </a:srgbClr>
              </a:clrTo>
            </a:clrChange>
          </a:blip>
          <a:stretch>
            <a:fillRect/>
          </a:stretch>
        </p:blipFill>
        <p:spPr>
          <a:xfrm>
            <a:off x="4908442" y="746244"/>
            <a:ext cx="3646251" cy="538701"/>
          </a:xfrm>
          <a:prstGeom prst="rect">
            <a:avLst/>
          </a:prstGeom>
        </p:spPr>
      </p:pic>
      <p:sp>
        <p:nvSpPr>
          <p:cNvPr id="21" name="圆角矩形 20">
            <a:extLst>
              <a:ext uri="{FF2B5EF4-FFF2-40B4-BE49-F238E27FC236}">
                <a16:creationId xmlns:a16="http://schemas.microsoft.com/office/drawing/2014/main" id="{B937CE88-F0F7-0F72-C925-42149B9D62D5}"/>
              </a:ext>
            </a:extLst>
          </p:cNvPr>
          <p:cNvSpPr/>
          <p:nvPr/>
        </p:nvSpPr>
        <p:spPr>
          <a:xfrm>
            <a:off x="4113011" y="3534383"/>
            <a:ext cx="4779571" cy="416581"/>
          </a:xfrm>
          <a:custGeom>
            <a:avLst/>
            <a:gdLst>
              <a:gd name="csX0" fmla="*/ 0 w 4779571"/>
              <a:gd name="csY0" fmla="*/ 69432 h 416581"/>
              <a:gd name="csX1" fmla="*/ 69432 w 4779571"/>
              <a:gd name="csY1" fmla="*/ 0 h 416581"/>
              <a:gd name="csX2" fmla="*/ 4710139 w 4779571"/>
              <a:gd name="csY2" fmla="*/ 0 h 416581"/>
              <a:gd name="csX3" fmla="*/ 4779571 w 4779571"/>
              <a:gd name="csY3" fmla="*/ 69432 h 416581"/>
              <a:gd name="csX4" fmla="*/ 4779571 w 4779571"/>
              <a:gd name="csY4" fmla="*/ 347149 h 416581"/>
              <a:gd name="csX5" fmla="*/ 4710139 w 4779571"/>
              <a:gd name="csY5" fmla="*/ 416581 h 416581"/>
              <a:gd name="csX6" fmla="*/ 69432 w 4779571"/>
              <a:gd name="csY6" fmla="*/ 416581 h 416581"/>
              <a:gd name="csX7" fmla="*/ 0 w 4779571"/>
              <a:gd name="csY7" fmla="*/ 347149 h 416581"/>
              <a:gd name="csX8" fmla="*/ 0 w 4779571"/>
              <a:gd name="csY8" fmla="*/ 69432 h 416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79571" h="416581" extrusionOk="0">
                <a:moveTo>
                  <a:pt x="0" y="69432"/>
                </a:moveTo>
                <a:cubicBezTo>
                  <a:pt x="-1380" y="33507"/>
                  <a:pt x="27774" y="-1367"/>
                  <a:pt x="69432" y="0"/>
                </a:cubicBezTo>
                <a:cubicBezTo>
                  <a:pt x="897337" y="-60713"/>
                  <a:pt x="2791359" y="61072"/>
                  <a:pt x="4710139" y="0"/>
                </a:cubicBezTo>
                <a:cubicBezTo>
                  <a:pt x="4745229" y="1088"/>
                  <a:pt x="4778926" y="31849"/>
                  <a:pt x="4779571" y="69432"/>
                </a:cubicBezTo>
                <a:cubicBezTo>
                  <a:pt x="4775683" y="99946"/>
                  <a:pt x="4758201" y="208900"/>
                  <a:pt x="4779571" y="347149"/>
                </a:cubicBezTo>
                <a:cubicBezTo>
                  <a:pt x="4782924" y="382308"/>
                  <a:pt x="4752676" y="416858"/>
                  <a:pt x="4710139" y="416581"/>
                </a:cubicBezTo>
                <a:cubicBezTo>
                  <a:pt x="3246847" y="342810"/>
                  <a:pt x="1731747" y="260698"/>
                  <a:pt x="69432" y="416581"/>
                </a:cubicBezTo>
                <a:cubicBezTo>
                  <a:pt x="37811" y="417556"/>
                  <a:pt x="-3296" y="383991"/>
                  <a:pt x="0" y="347149"/>
                </a:cubicBezTo>
                <a:cubicBezTo>
                  <a:pt x="14998" y="289823"/>
                  <a:pt x="20520" y="115143"/>
                  <a:pt x="0" y="69432"/>
                </a:cubicBezTo>
                <a:close/>
              </a:path>
            </a:pathLst>
          </a:custGeom>
          <a:noFill/>
          <a:ln>
            <a:solidFill>
              <a:srgbClr val="C00000"/>
            </a:solidFill>
            <a:extLst>
              <a:ext uri="{C807C97D-BFC1-408E-A445-0C87EB9F89A2}">
                <ask:lineSketchStyleProps xmlns:ask="http://schemas.microsoft.com/office/drawing/2018/sketchyshapes" xmlns="" sd="981765707">
                  <a:prstGeom prst="round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7FC362C7-044C-73CE-9140-A9B81C301FA7}"/>
              </a:ext>
            </a:extLst>
          </p:cNvPr>
          <p:cNvSpPr txBox="1"/>
          <p:nvPr/>
        </p:nvSpPr>
        <p:spPr>
          <a:xfrm>
            <a:off x="3983833" y="3280164"/>
            <a:ext cx="1107996" cy="276999"/>
          </a:xfrm>
          <a:prstGeom prst="rect">
            <a:avLst/>
          </a:prstGeom>
          <a:noFill/>
        </p:spPr>
        <p:txBody>
          <a:bodyPr wrap="none" rtlCol="0">
            <a:spAutoFit/>
          </a:bodyPr>
          <a:lstStyle/>
          <a:p>
            <a:r>
              <a:rPr kumimoji="1" lang="zh-CN" altLang="en-US" sz="1200" dirty="0">
                <a:solidFill>
                  <a:srgbClr val="C00000"/>
                </a:solidFill>
                <a:latin typeface="Microsoft YaHei" panose="020B0503020204020204" pitchFamily="34" charset="-122"/>
                <a:ea typeface="Microsoft YaHei" panose="020B0503020204020204" pitchFamily="34" charset="-122"/>
              </a:rPr>
              <a:t>下游任务微调</a:t>
            </a:r>
          </a:p>
        </p:txBody>
      </p:sp>
    </p:spTree>
    <p:extLst>
      <p:ext uri="{BB962C8B-B14F-4D97-AF65-F5344CB8AC3E}">
        <p14:creationId xmlns:p14="http://schemas.microsoft.com/office/powerpoint/2010/main" val="263608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7303E-1395-987A-196D-67EDFBDA118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B3180DC-0159-B07F-2A26-22625C3E5DA5}"/>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9D43268E-F033-3121-7DDC-064F54FAB58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三、</a:t>
            </a:r>
            <a:r>
              <a:rPr lang="en-US" altLang="zh-CN"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Transformer</a:t>
            </a: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预训练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C9685D05-4EFE-CA7B-F17C-18E76D4F3FC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5A73D388-90E7-35B8-18DA-EDECA4867D95}"/>
              </a:ext>
            </a:extLst>
          </p:cNvPr>
          <p:cNvSpPr txBox="1"/>
          <p:nvPr/>
        </p:nvSpPr>
        <p:spPr>
          <a:xfrm>
            <a:off x="52555" y="789764"/>
            <a:ext cx="5264903" cy="369332"/>
          </a:xfrm>
          <a:prstGeom prst="rect">
            <a:avLst/>
          </a:prstGeom>
          <a:noFill/>
        </p:spPr>
        <p:txBody>
          <a:bodyPr wrap="none" rtlCol="0">
            <a:spAutoFit/>
          </a:bodyPr>
          <a:lstStyle/>
          <a:p>
            <a:pPr marL="285750" indent="-285750">
              <a:buFont typeface="Wingdings" pitchFamily="2" charset="2"/>
              <a:buChar char="Ø"/>
            </a:pPr>
            <a:r>
              <a:rPr kumimoji="1" lang="en-US" altLang="zh-CN" i="1" dirty="0">
                <a:latin typeface="Microsoft YaHei" panose="020B0503020204020204" pitchFamily="34" charset="-122"/>
                <a:ea typeface="Microsoft YaHei" panose="020B0503020204020204" pitchFamily="34" charset="-122"/>
              </a:rPr>
              <a:t>Transformer</a:t>
            </a:r>
            <a:r>
              <a:rPr kumimoji="1" lang="zh-CN" altLang="en-US" i="1" dirty="0">
                <a:latin typeface="Microsoft YaHei" panose="020B0503020204020204" pitchFamily="34" charset="-122"/>
                <a:ea typeface="Microsoft YaHei" panose="020B0503020204020204" pitchFamily="34" charset="-122"/>
              </a:rPr>
              <a:t>的预训练：预训练模型的基础思路</a:t>
            </a:r>
          </a:p>
        </p:txBody>
      </p:sp>
      <p:sp>
        <p:nvSpPr>
          <p:cNvPr id="5" name="文本框 4">
            <a:extLst>
              <a:ext uri="{FF2B5EF4-FFF2-40B4-BE49-F238E27FC236}">
                <a16:creationId xmlns:a16="http://schemas.microsoft.com/office/drawing/2014/main" id="{5A900414-E99D-2E18-E8DE-C9BB86677E8A}"/>
              </a:ext>
            </a:extLst>
          </p:cNvPr>
          <p:cNvSpPr txBox="1"/>
          <p:nvPr/>
        </p:nvSpPr>
        <p:spPr>
          <a:xfrm>
            <a:off x="305762" y="1234497"/>
            <a:ext cx="8695565" cy="2120902"/>
          </a:xfrm>
          <a:prstGeom prst="rect">
            <a:avLst/>
          </a:prstGeom>
          <a:noFill/>
        </p:spPr>
        <p:txBody>
          <a:bodyPr wrap="square">
            <a:spAutoFit/>
          </a:bodyPr>
          <a:lstStyle/>
          <a:p>
            <a:pPr marL="285750" indent="-285750">
              <a:lnSpc>
                <a:spcPct val="150000"/>
              </a:lnSpc>
              <a:buFont typeface="系统字体常规体"/>
              <a:buChar char="？"/>
            </a:pPr>
            <a:r>
              <a:rPr lang="zh-CN" altLang="en-US" dirty="0">
                <a:latin typeface="Microsoft YaHei" panose="020B0503020204020204" pitchFamily="34" charset="-122"/>
                <a:ea typeface="Microsoft YaHei" panose="020B0503020204020204" pitchFamily="34" charset="-122"/>
              </a:rPr>
              <a:t>如何把预训练应用到 Transformer上；</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系统字体常规体"/>
              <a:buChar char="？"/>
            </a:pPr>
            <a:r>
              <a:rPr lang="zh-CN" altLang="en-US" dirty="0">
                <a:latin typeface="Microsoft YaHei" panose="020B0503020204020204" pitchFamily="34" charset="-122"/>
                <a:ea typeface="Microsoft YaHei" panose="020B0503020204020204" pitchFamily="34" charset="-122"/>
              </a:rPr>
              <a:t>如何保持 Embedding 和 Hidden 层结构不变把 Transformer 应用到不同的 NLP任务上；</a:t>
            </a:r>
            <a:endParaRPr lang="en-US" altLang="zh-CN" dirty="0">
              <a:latin typeface="Microsoft YaHei" panose="020B0503020204020204" pitchFamily="34" charset="-122"/>
              <a:ea typeface="Microsoft YaHei" panose="020B0503020204020204" pitchFamily="34" charset="-122"/>
            </a:endParaRPr>
          </a:p>
          <a:p>
            <a:pPr>
              <a:lnSpc>
                <a:spcPct val="150000"/>
              </a:lnSpc>
            </a:pPr>
            <a:r>
              <a:rPr lang="zh-CN" altLang="en-US" dirty="0">
                <a:latin typeface="Microsoft YaHei" panose="020B0503020204020204" pitchFamily="34" charset="-122"/>
                <a:ea typeface="Microsoft YaHei" panose="020B0503020204020204" pitchFamily="34" charset="-122"/>
              </a:rPr>
              <a:t>OpenAI 提出了一种预训练框架 Genrative Pre-Training（GPT）；</a:t>
            </a:r>
            <a:r>
              <a:rPr lang="en-US" altLang="zh-CN" dirty="0">
                <a:latin typeface="Microsoft YaHei" panose="020B0503020204020204" pitchFamily="34" charset="-122"/>
                <a:ea typeface="Microsoft YaHei" panose="020B0503020204020204" pitchFamily="34" charset="-122"/>
              </a:rPr>
              <a:t>GPT</a:t>
            </a:r>
            <a:r>
              <a:rPr lang="zh-CN" altLang="en-US" dirty="0">
                <a:latin typeface="Microsoft YaHei" panose="020B0503020204020204" pitchFamily="34" charset="-122"/>
                <a:ea typeface="Microsoft YaHei" panose="020B0503020204020204" pitchFamily="34" charset="-122"/>
              </a:rPr>
              <a:t>提出用与 Vanilla Transformer 类似的 LM 任务，即对于每一句话预测每个位置的下一个单词。</a:t>
            </a:r>
          </a:p>
        </p:txBody>
      </p:sp>
      <p:pic>
        <p:nvPicPr>
          <p:cNvPr id="6" name="图片 5">
            <a:extLst>
              <a:ext uri="{FF2B5EF4-FFF2-40B4-BE49-F238E27FC236}">
                <a16:creationId xmlns:a16="http://schemas.microsoft.com/office/drawing/2014/main" id="{5E5AE4A2-4A81-C3EE-D8C2-A3C834377F11}"/>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423494" y="3931139"/>
            <a:ext cx="2499333" cy="2003097"/>
          </a:xfrm>
          <a:prstGeom prst="rect">
            <a:avLst/>
          </a:prstGeom>
        </p:spPr>
      </p:pic>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02DA49F3-E364-B57D-CCA7-0165A4A6A9AE}"/>
                  </a:ext>
                </a:extLst>
              </p:cNvPr>
              <p:cNvSpPr txBox="1"/>
              <p:nvPr/>
            </p:nvSpPr>
            <p:spPr>
              <a:xfrm>
                <a:off x="423494" y="5937647"/>
                <a:ext cx="2526461" cy="297967"/>
              </a:xfrm>
              <a:prstGeom prst="rect">
                <a:avLst/>
              </a:prstGeom>
              <a:noFill/>
            </p:spPr>
            <p:txBody>
              <a:bodyPr wrap="none" rtlCol="0">
                <a:spAutoFit/>
              </a:bodyPr>
              <a:lstStyle/>
              <a:p>
                <a:r>
                  <a:rPr kumimoji="1" lang="zh-CN" altLang="en-US" sz="1100" dirty="0">
                    <a:latin typeface="Microsoft YaHei" panose="020B0503020204020204" pitchFamily="34" charset="-122"/>
                    <a:ea typeface="Microsoft YaHei" panose="020B0503020204020204" pitchFamily="34" charset="-122"/>
                  </a:rPr>
                  <a:t>注：</a:t>
                </a:r>
                <a14:m>
                  <m:oMath xmlns:m="http://schemas.openxmlformats.org/officeDocument/2006/math">
                    <m:sSubSup>
                      <m:sSubSupPr>
                        <m:ctrlPr>
                          <a:rPr kumimoji="1" lang="en-US" altLang="zh-CN" sz="1100" b="0" i="1" smtClean="0">
                            <a:latin typeface="Cambria Math" panose="02040503050406030204" pitchFamily="18" charset="0"/>
                          </a:rPr>
                        </m:ctrlPr>
                      </m:sSubSupPr>
                      <m:e>
                        <m:r>
                          <a:rPr kumimoji="1" lang="en-US" altLang="zh-CN" sz="1100" b="0" i="1" smtClean="0">
                            <a:latin typeface="Cambria Math" panose="02040503050406030204" pitchFamily="18" charset="0"/>
                          </a:rPr>
                          <m:t>h</m:t>
                        </m:r>
                      </m:e>
                      <m:sub>
                        <m:r>
                          <a:rPr kumimoji="1" lang="en-US" altLang="zh-CN" sz="1100" b="0" i="1" smtClean="0">
                            <a:latin typeface="Cambria Math" panose="02040503050406030204" pitchFamily="18" charset="0"/>
                          </a:rPr>
                          <m:t>𝑛</m:t>
                        </m:r>
                      </m:sub>
                      <m:sup>
                        <m:r>
                          <a:rPr kumimoji="1" lang="en-US" altLang="zh-CN" sz="1100" b="0" i="1" smtClean="0">
                            <a:latin typeface="Cambria Math" panose="02040503050406030204" pitchFamily="18" charset="0"/>
                          </a:rPr>
                          <m:t>(</m:t>
                        </m:r>
                        <m:r>
                          <a:rPr kumimoji="1" lang="en-US" altLang="zh-CN" sz="1100" b="0" i="1" smtClean="0">
                            <a:latin typeface="Cambria Math" panose="02040503050406030204" pitchFamily="18" charset="0"/>
                          </a:rPr>
                          <m:t>𝐿</m:t>
                        </m:r>
                        <m:r>
                          <a:rPr kumimoji="1" lang="en-US" altLang="zh-CN" sz="1100" b="0" i="1" smtClean="0">
                            <a:latin typeface="Cambria Math" panose="02040503050406030204" pitchFamily="18" charset="0"/>
                          </a:rPr>
                          <m:t>)</m:t>
                        </m:r>
                      </m:sup>
                    </m:sSubSup>
                  </m:oMath>
                </a14:m>
                <a:r>
                  <a:rPr kumimoji="1" lang="zh-CN" altLang="en-US" sz="1100" dirty="0">
                    <a:latin typeface="Microsoft YaHei" panose="020B0503020204020204" pitchFamily="34" charset="-122"/>
                    <a:ea typeface="Microsoft YaHei" panose="020B0503020204020204" pitchFamily="34" charset="-122"/>
                  </a:rPr>
                  <a:t>代表一个</a:t>
                </a:r>
                <a:r>
                  <a:rPr kumimoji="1" lang="en-US" altLang="zh-CN" sz="1100" dirty="0">
                    <a:latin typeface="Microsoft YaHei" panose="020B0503020204020204" pitchFamily="34" charset="-122"/>
                    <a:ea typeface="Microsoft YaHei" panose="020B0503020204020204" pitchFamily="34" charset="-122"/>
                  </a:rPr>
                  <a:t>Transformer Block.</a:t>
                </a:r>
                <a:endParaRPr kumimoji="1" lang="zh-CN" altLang="en-US" sz="1100" dirty="0">
                  <a:latin typeface="Microsoft YaHei" panose="020B0503020204020204" pitchFamily="34" charset="-122"/>
                  <a:ea typeface="Microsoft YaHei" panose="020B0503020204020204" pitchFamily="34" charset="-122"/>
                </a:endParaRPr>
              </a:p>
            </p:txBody>
          </p:sp>
        </mc:Choice>
        <mc:Fallback>
          <p:sp>
            <p:nvSpPr>
              <p:cNvPr id="7" name="文本框 6">
                <a:extLst>
                  <a:ext uri="{FF2B5EF4-FFF2-40B4-BE49-F238E27FC236}">
                    <a16:creationId xmlns:a16="http://schemas.microsoft.com/office/drawing/2014/main" id="{02DA49F3-E364-B57D-CCA7-0165A4A6A9AE}"/>
                  </a:ext>
                </a:extLst>
              </p:cNvPr>
              <p:cNvSpPr txBox="1">
                <a:spLocks noRot="1" noChangeAspect="1" noMove="1" noResize="1" noEditPoints="1" noAdjustHandles="1" noChangeArrowheads="1" noChangeShapeType="1" noTextEdit="1"/>
              </p:cNvSpPr>
              <p:nvPr/>
            </p:nvSpPr>
            <p:spPr>
              <a:xfrm>
                <a:off x="423494" y="5937647"/>
                <a:ext cx="2526461" cy="297967"/>
              </a:xfrm>
              <a:prstGeom prst="rect">
                <a:avLst/>
              </a:prstGeom>
              <a:blipFill>
                <a:blip r:embed="rId4"/>
                <a:stretch>
                  <a:fillRect b="-1224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6FBD424-3581-12ED-37D8-87754232B5FE}"/>
              </a:ext>
            </a:extLst>
          </p:cNvPr>
          <p:cNvPicPr>
            <a:picLocks noChangeAspect="1"/>
          </p:cNvPicPr>
          <p:nvPr/>
        </p:nvPicPr>
        <p:blipFill>
          <a:blip r:embed="rId5">
            <a:clrChange>
              <a:clrFrom>
                <a:srgbClr val="F9F9F9"/>
              </a:clrFrom>
              <a:clrTo>
                <a:srgbClr val="F9F9F9">
                  <a:alpha val="0"/>
                </a:srgbClr>
              </a:clrTo>
            </a:clrChange>
          </a:blip>
          <a:stretch>
            <a:fillRect/>
          </a:stretch>
        </p:blipFill>
        <p:spPr>
          <a:xfrm>
            <a:off x="3307001" y="3774308"/>
            <a:ext cx="5694327" cy="2316760"/>
          </a:xfrm>
          <a:prstGeom prst="rect">
            <a:avLst/>
          </a:prstGeom>
        </p:spPr>
      </p:pic>
      <p:sp>
        <p:nvSpPr>
          <p:cNvPr id="9" name="文本框 8">
            <a:extLst>
              <a:ext uri="{FF2B5EF4-FFF2-40B4-BE49-F238E27FC236}">
                <a16:creationId xmlns:a16="http://schemas.microsoft.com/office/drawing/2014/main" id="{9FB5DD37-D50B-7854-07DE-23FD2B781BE5}"/>
              </a:ext>
            </a:extLst>
          </p:cNvPr>
          <p:cNvSpPr txBox="1"/>
          <p:nvPr/>
        </p:nvSpPr>
        <p:spPr>
          <a:xfrm>
            <a:off x="5595366" y="6083625"/>
            <a:ext cx="1869423" cy="261610"/>
          </a:xfrm>
          <a:prstGeom prst="rect">
            <a:avLst/>
          </a:prstGeom>
          <a:noFill/>
        </p:spPr>
        <p:txBody>
          <a:bodyPr wrap="none" rtlCol="0">
            <a:spAutoFit/>
          </a:bodyPr>
          <a:lstStyle/>
          <a:p>
            <a:r>
              <a:rPr kumimoji="1" lang="zh-CN" altLang="en-US" sz="1100" dirty="0">
                <a:latin typeface="Microsoft YaHei" panose="020B0503020204020204" pitchFamily="34" charset="-122"/>
                <a:ea typeface="Microsoft YaHei" panose="020B0503020204020204" pitchFamily="34" charset="-122"/>
              </a:rPr>
              <a:t>在下游</a:t>
            </a:r>
            <a:r>
              <a:rPr kumimoji="1" lang="en-US" altLang="zh-CN" sz="1100" dirty="0">
                <a:latin typeface="Microsoft YaHei" panose="020B0503020204020204" pitchFamily="34" charset="-122"/>
                <a:ea typeface="Microsoft YaHei" panose="020B0503020204020204" pitchFamily="34" charset="-122"/>
              </a:rPr>
              <a:t>NLP</a:t>
            </a:r>
            <a:r>
              <a:rPr kumimoji="1" lang="zh-CN" altLang="en-US" sz="1100" dirty="0">
                <a:latin typeface="Microsoft YaHei" panose="020B0503020204020204" pitchFamily="34" charset="-122"/>
                <a:ea typeface="Microsoft YaHei" panose="020B0503020204020204" pitchFamily="34" charset="-122"/>
              </a:rPr>
              <a:t>任务上微调方法</a:t>
            </a:r>
          </a:p>
        </p:txBody>
      </p:sp>
    </p:spTree>
    <p:extLst>
      <p:ext uri="{BB962C8B-B14F-4D97-AF65-F5344CB8AC3E}">
        <p14:creationId xmlns:p14="http://schemas.microsoft.com/office/powerpoint/2010/main" val="3949302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07303E-1395-987A-196D-67EDFBDA118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B3180DC-0159-B07F-2A26-22625C3E5DA5}"/>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9D43268E-F033-3121-7DDC-064F54FAB58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三、</a:t>
            </a:r>
            <a:r>
              <a:rPr lang="en-US" altLang="zh-CN"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Transformer</a:t>
            </a: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预训练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C9685D05-4EFE-CA7B-F17C-18E76D4F3FC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5A73D388-90E7-35B8-18DA-EDECA4867D95}"/>
              </a:ext>
            </a:extLst>
          </p:cNvPr>
          <p:cNvSpPr txBox="1"/>
          <p:nvPr/>
        </p:nvSpPr>
        <p:spPr>
          <a:xfrm>
            <a:off x="52555" y="789764"/>
            <a:ext cx="4183005" cy="307777"/>
          </a:xfrm>
          <a:prstGeom prst="rect">
            <a:avLst/>
          </a:prstGeom>
          <a:noFill/>
        </p:spPr>
        <p:txBody>
          <a:bodyPr wrap="none" rtlCol="0">
            <a:spAutoFit/>
          </a:bodyPr>
          <a:lstStyle/>
          <a:p>
            <a:pPr marL="285750" indent="-285750">
              <a:buFont typeface="Wingdings" pitchFamily="2" charset="2"/>
              <a:buChar char="Ø"/>
            </a:pPr>
            <a:r>
              <a:rPr kumimoji="1" lang="en-US" altLang="zh-CN" sz="1400" i="1" dirty="0">
                <a:latin typeface="Microsoft YaHei" panose="020B0503020204020204" pitchFamily="34" charset="-122"/>
                <a:ea typeface="Microsoft YaHei" panose="020B0503020204020204" pitchFamily="34" charset="-122"/>
              </a:rPr>
              <a:t>Transformer</a:t>
            </a:r>
            <a:r>
              <a:rPr kumimoji="1" lang="zh-CN" altLang="en-US" sz="1400" i="1" dirty="0">
                <a:latin typeface="Microsoft YaHei" panose="020B0503020204020204" pitchFamily="34" charset="-122"/>
                <a:ea typeface="Microsoft YaHei" panose="020B0503020204020204" pitchFamily="34" charset="-122"/>
              </a:rPr>
              <a:t>的预训练：预训练模型的基础思路</a:t>
            </a:r>
          </a:p>
        </p:txBody>
      </p:sp>
      <p:sp>
        <p:nvSpPr>
          <p:cNvPr id="5" name="文本框 4">
            <a:extLst>
              <a:ext uri="{FF2B5EF4-FFF2-40B4-BE49-F238E27FC236}">
                <a16:creationId xmlns:a16="http://schemas.microsoft.com/office/drawing/2014/main" id="{5A900414-E99D-2E18-E8DE-C9BB86677E8A}"/>
              </a:ext>
            </a:extLst>
          </p:cNvPr>
          <p:cNvSpPr txBox="1"/>
          <p:nvPr/>
        </p:nvSpPr>
        <p:spPr>
          <a:xfrm>
            <a:off x="374514" y="1097541"/>
            <a:ext cx="8626814" cy="1167692"/>
          </a:xfrm>
          <a:prstGeom prst="rect">
            <a:avLst/>
          </a:prstGeom>
          <a:noFill/>
        </p:spPr>
        <p:txBody>
          <a:bodyPr wrap="square">
            <a:spAutoFit/>
          </a:bodyPr>
          <a:lstStyle/>
          <a:p>
            <a:pPr marL="285750" indent="-285750">
              <a:lnSpc>
                <a:spcPct val="150000"/>
              </a:lnSpc>
              <a:buFont typeface="系统字体常规体"/>
              <a:buChar char="？"/>
            </a:pPr>
            <a:r>
              <a:rPr lang="zh-CN" altLang="en-US" sz="1200" dirty="0">
                <a:latin typeface="Microsoft YaHei" panose="020B0503020204020204" pitchFamily="34" charset="-122"/>
                <a:ea typeface="Microsoft YaHei" panose="020B0503020204020204" pitchFamily="34" charset="-122"/>
              </a:rPr>
              <a:t>如何把预训练应用到 Transformer上；</a:t>
            </a:r>
            <a:endParaRPr lang="en-US" altLang="zh-CN" sz="1200" dirty="0">
              <a:latin typeface="Microsoft YaHei" panose="020B0503020204020204" pitchFamily="34" charset="-122"/>
              <a:ea typeface="Microsoft YaHei" panose="020B0503020204020204" pitchFamily="34" charset="-122"/>
            </a:endParaRPr>
          </a:p>
          <a:p>
            <a:pPr marL="285750" indent="-285750">
              <a:lnSpc>
                <a:spcPct val="150000"/>
              </a:lnSpc>
              <a:buFont typeface="系统字体常规体"/>
              <a:buChar char="？"/>
            </a:pPr>
            <a:r>
              <a:rPr lang="zh-CN" altLang="en-US" sz="1200" dirty="0">
                <a:latin typeface="Microsoft YaHei" panose="020B0503020204020204" pitchFamily="34" charset="-122"/>
                <a:ea typeface="Microsoft YaHei" panose="020B0503020204020204" pitchFamily="34" charset="-122"/>
              </a:rPr>
              <a:t>如何保持 Embedding 和 Hidden 层结构不变把 Transformer 应用到不同的 NLP任务上；</a:t>
            </a:r>
            <a:endParaRPr lang="en-US" altLang="zh-CN" sz="1200" dirty="0">
              <a:latin typeface="Microsoft YaHei" panose="020B0503020204020204" pitchFamily="34" charset="-122"/>
              <a:ea typeface="Microsoft YaHei" panose="020B0503020204020204" pitchFamily="34" charset="-122"/>
            </a:endParaRPr>
          </a:p>
          <a:p>
            <a:pPr>
              <a:lnSpc>
                <a:spcPct val="150000"/>
              </a:lnSpc>
            </a:pPr>
            <a:r>
              <a:rPr lang="zh-CN" altLang="en-US" sz="1200" dirty="0">
                <a:latin typeface="Microsoft YaHei" panose="020B0503020204020204" pitchFamily="34" charset="-122"/>
                <a:ea typeface="Microsoft YaHei" panose="020B0503020204020204" pitchFamily="34" charset="-122"/>
              </a:rPr>
              <a:t>OpenAI 提出了一种预训练框架 Genrative Pre-Training（GPT）；</a:t>
            </a:r>
            <a:r>
              <a:rPr lang="en-US" altLang="zh-CN" sz="1200" dirty="0">
                <a:latin typeface="Microsoft YaHei" panose="020B0503020204020204" pitchFamily="34" charset="-122"/>
                <a:ea typeface="Microsoft YaHei" panose="020B0503020204020204" pitchFamily="34" charset="-122"/>
              </a:rPr>
              <a:t>GPT</a:t>
            </a:r>
            <a:r>
              <a:rPr lang="zh-CN" altLang="en-US" sz="1200" dirty="0">
                <a:latin typeface="Microsoft YaHei" panose="020B0503020204020204" pitchFamily="34" charset="-122"/>
                <a:ea typeface="Microsoft YaHei" panose="020B0503020204020204" pitchFamily="34" charset="-122"/>
              </a:rPr>
              <a:t>提出用与 Vanilla Transformer 类似的 LM 任务，即对于每一句话预测每个位置的下一个单词。</a:t>
            </a:r>
          </a:p>
        </p:txBody>
      </p:sp>
      <p:pic>
        <p:nvPicPr>
          <p:cNvPr id="6" name="图片 5">
            <a:extLst>
              <a:ext uri="{FF2B5EF4-FFF2-40B4-BE49-F238E27FC236}">
                <a16:creationId xmlns:a16="http://schemas.microsoft.com/office/drawing/2014/main" id="{5E5AE4A2-4A81-C3EE-D8C2-A3C834377F11}"/>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377027" y="2665235"/>
            <a:ext cx="2499333" cy="2003097"/>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2DA49F3-E364-B57D-CCA7-0165A4A6A9AE}"/>
                  </a:ext>
                </a:extLst>
              </p:cNvPr>
              <p:cNvSpPr txBox="1"/>
              <p:nvPr/>
            </p:nvSpPr>
            <p:spPr>
              <a:xfrm>
                <a:off x="374514" y="4828574"/>
                <a:ext cx="2526461" cy="297967"/>
              </a:xfrm>
              <a:prstGeom prst="rect">
                <a:avLst/>
              </a:prstGeom>
              <a:noFill/>
            </p:spPr>
            <p:txBody>
              <a:bodyPr wrap="none" rtlCol="0">
                <a:spAutoFit/>
              </a:bodyPr>
              <a:lstStyle/>
              <a:p>
                <a:r>
                  <a:rPr kumimoji="1" lang="zh-CN" altLang="en-US" sz="1100" dirty="0">
                    <a:latin typeface="Microsoft YaHei" panose="020B0503020204020204" pitchFamily="34" charset="-122"/>
                    <a:ea typeface="Microsoft YaHei" panose="020B0503020204020204" pitchFamily="34" charset="-122"/>
                  </a:rPr>
                  <a:t>注：</a:t>
                </a:r>
                <a14:m>
                  <m:oMath xmlns:m="http://schemas.openxmlformats.org/officeDocument/2006/math">
                    <m:sSubSup>
                      <m:sSubSupPr>
                        <m:ctrlPr>
                          <a:rPr kumimoji="1" lang="en-US" altLang="zh-CN" sz="1100" b="0" i="1" smtClean="0">
                            <a:latin typeface="Cambria Math" panose="02040503050406030204" pitchFamily="18" charset="0"/>
                          </a:rPr>
                        </m:ctrlPr>
                      </m:sSubSupPr>
                      <m:e>
                        <m:r>
                          <a:rPr kumimoji="1" lang="en-US" altLang="zh-CN" sz="1100" b="0" i="1" smtClean="0">
                            <a:latin typeface="Cambria Math" panose="02040503050406030204" pitchFamily="18" charset="0"/>
                          </a:rPr>
                          <m:t>h</m:t>
                        </m:r>
                      </m:e>
                      <m:sub>
                        <m:r>
                          <a:rPr kumimoji="1" lang="en-US" altLang="zh-CN" sz="1100" b="0" i="1" smtClean="0">
                            <a:latin typeface="Cambria Math" panose="02040503050406030204" pitchFamily="18" charset="0"/>
                          </a:rPr>
                          <m:t>𝑛</m:t>
                        </m:r>
                      </m:sub>
                      <m:sup>
                        <m:r>
                          <a:rPr kumimoji="1" lang="en-US" altLang="zh-CN" sz="1100" b="0" i="1" smtClean="0">
                            <a:latin typeface="Cambria Math" panose="02040503050406030204" pitchFamily="18" charset="0"/>
                          </a:rPr>
                          <m:t>(</m:t>
                        </m:r>
                        <m:r>
                          <a:rPr kumimoji="1" lang="en-US" altLang="zh-CN" sz="1100" b="0" i="1" smtClean="0">
                            <a:latin typeface="Cambria Math" panose="02040503050406030204" pitchFamily="18" charset="0"/>
                          </a:rPr>
                          <m:t>𝐿</m:t>
                        </m:r>
                        <m:r>
                          <a:rPr kumimoji="1" lang="en-US" altLang="zh-CN" sz="1100" b="0" i="1" smtClean="0">
                            <a:latin typeface="Cambria Math" panose="02040503050406030204" pitchFamily="18" charset="0"/>
                          </a:rPr>
                          <m:t>)</m:t>
                        </m:r>
                      </m:sup>
                    </m:sSubSup>
                  </m:oMath>
                </a14:m>
                <a:r>
                  <a:rPr kumimoji="1" lang="zh-CN" altLang="en-US" sz="1100" dirty="0">
                    <a:latin typeface="Microsoft YaHei" panose="020B0503020204020204" pitchFamily="34" charset="-122"/>
                    <a:ea typeface="Microsoft YaHei" panose="020B0503020204020204" pitchFamily="34" charset="-122"/>
                  </a:rPr>
                  <a:t>代表一个</a:t>
                </a:r>
                <a:r>
                  <a:rPr kumimoji="1" lang="en-US" altLang="zh-CN" sz="1100" dirty="0">
                    <a:latin typeface="Microsoft YaHei" panose="020B0503020204020204" pitchFamily="34" charset="-122"/>
                    <a:ea typeface="Microsoft YaHei" panose="020B0503020204020204" pitchFamily="34" charset="-122"/>
                  </a:rPr>
                  <a:t>Transformer Block.</a:t>
                </a:r>
                <a:endParaRPr kumimoji="1" lang="zh-CN" altLang="en-US" sz="1100" dirty="0">
                  <a:latin typeface="Microsoft YaHei" panose="020B0503020204020204" pitchFamily="34" charset="-122"/>
                  <a:ea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02DA49F3-E364-B57D-CCA7-0165A4A6A9AE}"/>
                  </a:ext>
                </a:extLst>
              </p:cNvPr>
              <p:cNvSpPr txBox="1">
                <a:spLocks noRot="1" noChangeAspect="1" noMove="1" noResize="1" noEditPoints="1" noAdjustHandles="1" noChangeArrowheads="1" noChangeShapeType="1" noTextEdit="1"/>
              </p:cNvSpPr>
              <p:nvPr/>
            </p:nvSpPr>
            <p:spPr>
              <a:xfrm>
                <a:off x="374514" y="4828574"/>
                <a:ext cx="2526461" cy="297967"/>
              </a:xfrm>
              <a:prstGeom prst="rect">
                <a:avLst/>
              </a:prstGeom>
              <a:blipFill>
                <a:blip r:embed="rId4"/>
                <a:stretch>
                  <a:fillRect b="-12500"/>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6FBD424-3581-12ED-37D8-87754232B5FE}"/>
              </a:ext>
            </a:extLst>
          </p:cNvPr>
          <p:cNvPicPr>
            <a:picLocks noChangeAspect="1"/>
          </p:cNvPicPr>
          <p:nvPr/>
        </p:nvPicPr>
        <p:blipFill>
          <a:blip r:embed="rId5">
            <a:clrChange>
              <a:clrFrom>
                <a:srgbClr val="F9F9F9"/>
              </a:clrFrom>
              <a:clrTo>
                <a:srgbClr val="F9F9F9">
                  <a:alpha val="0"/>
                </a:srgbClr>
              </a:clrTo>
            </a:clrChange>
          </a:blip>
          <a:stretch>
            <a:fillRect/>
          </a:stretch>
        </p:blipFill>
        <p:spPr>
          <a:xfrm>
            <a:off x="3258021" y="2665235"/>
            <a:ext cx="5694327" cy="2316760"/>
          </a:xfrm>
          <a:prstGeom prst="rect">
            <a:avLst/>
          </a:prstGeom>
        </p:spPr>
      </p:pic>
      <p:sp>
        <p:nvSpPr>
          <p:cNvPr id="9" name="文本框 8">
            <a:extLst>
              <a:ext uri="{FF2B5EF4-FFF2-40B4-BE49-F238E27FC236}">
                <a16:creationId xmlns:a16="http://schemas.microsoft.com/office/drawing/2014/main" id="{9FB5DD37-D50B-7854-07DE-23FD2B781BE5}"/>
              </a:ext>
            </a:extLst>
          </p:cNvPr>
          <p:cNvSpPr txBox="1"/>
          <p:nvPr/>
        </p:nvSpPr>
        <p:spPr>
          <a:xfrm>
            <a:off x="5546386" y="4974552"/>
            <a:ext cx="1869423" cy="261610"/>
          </a:xfrm>
          <a:prstGeom prst="rect">
            <a:avLst/>
          </a:prstGeom>
          <a:noFill/>
        </p:spPr>
        <p:txBody>
          <a:bodyPr wrap="none" rtlCol="0">
            <a:spAutoFit/>
          </a:bodyPr>
          <a:lstStyle/>
          <a:p>
            <a:r>
              <a:rPr kumimoji="1" lang="zh-CN" altLang="en-US" sz="1100" dirty="0">
                <a:latin typeface="Microsoft YaHei" panose="020B0503020204020204" pitchFamily="34" charset="-122"/>
                <a:ea typeface="Microsoft YaHei" panose="020B0503020204020204" pitchFamily="34" charset="-122"/>
              </a:rPr>
              <a:t>在下游</a:t>
            </a:r>
            <a:r>
              <a:rPr kumimoji="1" lang="en-US" altLang="zh-CN" sz="1100" dirty="0">
                <a:latin typeface="Microsoft YaHei" panose="020B0503020204020204" pitchFamily="34" charset="-122"/>
                <a:ea typeface="Microsoft YaHei" panose="020B0503020204020204" pitchFamily="34" charset="-122"/>
              </a:rPr>
              <a:t>NLP</a:t>
            </a:r>
            <a:r>
              <a:rPr kumimoji="1" lang="zh-CN" altLang="en-US" sz="1100" dirty="0">
                <a:latin typeface="Microsoft YaHei" panose="020B0503020204020204" pitchFamily="34" charset="-122"/>
                <a:ea typeface="Microsoft YaHei" panose="020B0503020204020204" pitchFamily="34" charset="-122"/>
              </a:rPr>
              <a:t>任务上微调方法</a:t>
            </a:r>
          </a:p>
        </p:txBody>
      </p:sp>
    </p:spTree>
    <p:extLst>
      <p:ext uri="{BB962C8B-B14F-4D97-AF65-F5344CB8AC3E}">
        <p14:creationId xmlns:p14="http://schemas.microsoft.com/office/powerpoint/2010/main" val="3969537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CC917-28E4-FB2D-7FFD-3ED0EC0D43A3}"/>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DE43B0F-4765-288A-B30F-966BCC928915}"/>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B722E1-BB35-0C90-400C-E59CFE81AC59}"/>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三、</a:t>
            </a:r>
            <a:r>
              <a:rPr lang="en-US" altLang="zh-CN"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Transformer</a:t>
            </a: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预训练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94F13243-5849-6DE8-0C53-751C43F6DB4A}"/>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B7CE89F7-23FE-A2E2-F369-EC7131031301}"/>
              </a:ext>
            </a:extLst>
          </p:cNvPr>
          <p:cNvSpPr txBox="1"/>
          <p:nvPr/>
        </p:nvSpPr>
        <p:spPr>
          <a:xfrm>
            <a:off x="52555" y="789764"/>
            <a:ext cx="5793061" cy="400110"/>
          </a:xfrm>
          <a:prstGeom prst="rect">
            <a:avLst/>
          </a:prstGeom>
          <a:noFill/>
        </p:spPr>
        <p:txBody>
          <a:bodyPr wrap="none" rtlCol="0">
            <a:spAutoFit/>
          </a:bodyPr>
          <a:lstStyle/>
          <a:p>
            <a:pPr marL="285750" indent="-285750">
              <a:buFont typeface="Wingdings" pitchFamily="2" charset="2"/>
              <a:buChar char="Ø"/>
            </a:pPr>
            <a:r>
              <a:rPr kumimoji="1" lang="en-US" altLang="zh-CN" sz="2000" i="1" dirty="0">
                <a:latin typeface="Microsoft YaHei" panose="020B0503020204020204" pitchFamily="34" charset="-122"/>
                <a:ea typeface="Microsoft YaHei" panose="020B0503020204020204" pitchFamily="34" charset="-122"/>
              </a:rPr>
              <a:t>Transformer</a:t>
            </a:r>
            <a:r>
              <a:rPr kumimoji="1" lang="zh-CN" altLang="en-US" sz="2000" i="1" dirty="0">
                <a:latin typeface="Microsoft YaHei" panose="020B0503020204020204" pitchFamily="34" charset="-122"/>
                <a:ea typeface="Microsoft YaHei" panose="020B0503020204020204" pitchFamily="34" charset="-122"/>
              </a:rPr>
              <a:t>的预训练：预训练模型的基础思路</a:t>
            </a:r>
          </a:p>
        </p:txBody>
      </p:sp>
      <p:sp>
        <p:nvSpPr>
          <p:cNvPr id="3" name="文本框 2">
            <a:extLst>
              <a:ext uri="{FF2B5EF4-FFF2-40B4-BE49-F238E27FC236}">
                <a16:creationId xmlns:a16="http://schemas.microsoft.com/office/drawing/2014/main" id="{9772186D-680E-ACF4-78B3-9D08058120C7}"/>
              </a:ext>
            </a:extLst>
          </p:cNvPr>
          <p:cNvSpPr txBox="1"/>
          <p:nvPr/>
        </p:nvSpPr>
        <p:spPr>
          <a:xfrm>
            <a:off x="351042" y="1242644"/>
            <a:ext cx="8438746" cy="2536400"/>
          </a:xfrm>
          <a:prstGeom prst="rect">
            <a:avLst/>
          </a:prstGeom>
          <a:noFill/>
        </p:spPr>
        <p:txBody>
          <a:bodyPr wrap="square">
            <a:spAutoFit/>
          </a:bodyPr>
          <a:lstStyle/>
          <a:p>
            <a:pPr marL="285750" indent="-285750">
              <a:lnSpc>
                <a:spcPct val="150000"/>
              </a:lnSpc>
              <a:buFont typeface="系统字体常规体"/>
              <a:buChar char="？"/>
            </a:pPr>
            <a:r>
              <a:rPr lang="zh-CN" altLang="en-US" dirty="0">
                <a:latin typeface="Microsoft YaHei" panose="020B0503020204020204" pitchFamily="34" charset="-122"/>
                <a:ea typeface="Microsoft YaHei" panose="020B0503020204020204" pitchFamily="34" charset="-122"/>
              </a:rPr>
              <a:t>如何把预训练应用到 Transformer上；</a:t>
            </a:r>
            <a:endParaRPr lang="en-US" altLang="zh-CN" dirty="0">
              <a:latin typeface="Microsoft YaHei" panose="020B0503020204020204" pitchFamily="34" charset="-122"/>
              <a:ea typeface="Microsoft YaHei" panose="020B0503020204020204" pitchFamily="34" charset="-122"/>
            </a:endParaRPr>
          </a:p>
          <a:p>
            <a:pPr marL="285750" indent="-285750">
              <a:lnSpc>
                <a:spcPct val="150000"/>
              </a:lnSpc>
              <a:buFont typeface="系统字体常规体"/>
              <a:buChar char="？"/>
            </a:pPr>
            <a:r>
              <a:rPr lang="zh-CN" altLang="en-US" dirty="0">
                <a:latin typeface="Microsoft YaHei" panose="020B0503020204020204" pitchFamily="34" charset="-122"/>
                <a:ea typeface="Microsoft YaHei" panose="020B0503020204020204" pitchFamily="34" charset="-122"/>
              </a:rPr>
              <a:t>如何保持 Embedding 和 Hidden 层结构不变把 Transformer 应用到不同的 NLP任务上；</a:t>
            </a:r>
            <a:endParaRPr lang="en-US" altLang="zh-CN" dirty="0">
              <a:latin typeface="Microsoft YaHei" panose="020B0503020204020204" pitchFamily="34" charset="-122"/>
              <a:ea typeface="Microsoft YaHei" panose="020B0503020204020204" pitchFamily="34" charset="-122"/>
            </a:endParaRPr>
          </a:p>
          <a:p>
            <a:pPr>
              <a:lnSpc>
                <a:spcPct val="150000"/>
              </a:lnSpc>
            </a:pPr>
            <a:r>
              <a:rPr lang="en-US" altLang="zh-CN" dirty="0">
                <a:latin typeface="Microsoft YaHei" panose="020B0503020204020204" pitchFamily="34" charset="-122"/>
                <a:ea typeface="Microsoft YaHei" panose="020B0503020204020204" pitchFamily="34" charset="-122"/>
              </a:rPr>
              <a:t>Google</a:t>
            </a:r>
            <a:r>
              <a:rPr lang="zh-CN" altLang="en-US" dirty="0">
                <a:latin typeface="Microsoft YaHei" panose="020B0503020204020204" pitchFamily="34" charset="-122"/>
                <a:ea typeface="Microsoft YaHei" panose="020B0503020204020204" pitchFamily="34" charset="-122"/>
              </a:rPr>
              <a:t>提出了</a:t>
            </a:r>
            <a:r>
              <a:rPr lang="en" altLang="zh-CN" dirty="0">
                <a:latin typeface="Microsoft YaHei" panose="020B0503020204020204" pitchFamily="34" charset="-122"/>
                <a:ea typeface="Microsoft YaHei" panose="020B0503020204020204" pitchFamily="34" charset="-122"/>
              </a:rPr>
              <a:t>Bidirectional Transformers for Language Modeling</a:t>
            </a:r>
            <a:r>
              <a:rPr lang="zh-CN" altLang="en" dirty="0">
                <a:latin typeface="Microsoft YaHei" panose="020B0503020204020204" pitchFamily="34" charset="-122"/>
                <a:ea typeface="Microsoft YaHei" panose="020B0503020204020204" pitchFamily="34" charset="-122"/>
              </a:rPr>
              <a:t>（</a:t>
            </a:r>
            <a:r>
              <a:rPr lang="en" altLang="zh-CN" dirty="0">
                <a:latin typeface="Microsoft YaHei" panose="020B0503020204020204" pitchFamily="34" charset="-122"/>
                <a:ea typeface="Microsoft YaHei" panose="020B0503020204020204" pitchFamily="34" charset="-122"/>
              </a:rPr>
              <a:t>BERT</a:t>
            </a:r>
            <a:r>
              <a:rPr lang="zh-CN" altLang="e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，把预训练的 </a:t>
            </a:r>
            <a:r>
              <a:rPr lang="en" altLang="zh-CN" dirty="0">
                <a:latin typeface="Microsoft YaHei" panose="020B0503020204020204" pitchFamily="34" charset="-122"/>
                <a:ea typeface="Microsoft YaHei" panose="020B0503020204020204" pitchFamily="34" charset="-122"/>
              </a:rPr>
              <a:t>LM </a:t>
            </a:r>
            <a:r>
              <a:rPr lang="zh-CN" altLang="en-US" dirty="0">
                <a:latin typeface="Microsoft YaHei" panose="020B0503020204020204" pitchFamily="34" charset="-122"/>
                <a:ea typeface="Microsoft YaHei" panose="020B0503020204020204" pitchFamily="34" charset="-122"/>
              </a:rPr>
              <a:t>任务改成下述 </a:t>
            </a:r>
            <a:r>
              <a:rPr lang="en" altLang="zh-CN" dirty="0">
                <a:latin typeface="Microsoft YaHei" panose="020B0503020204020204" pitchFamily="34" charset="-122"/>
                <a:ea typeface="Microsoft YaHei" panose="020B0503020204020204" pitchFamily="34" charset="-122"/>
              </a:rPr>
              <a:t>Masked Language Modeling</a:t>
            </a:r>
            <a:r>
              <a:rPr lang="zh-CN" altLang="en" dirty="0">
                <a:latin typeface="Microsoft YaHei" panose="020B0503020204020204" pitchFamily="34" charset="-122"/>
                <a:ea typeface="Microsoft YaHei" panose="020B0503020204020204" pitchFamily="34" charset="-122"/>
              </a:rPr>
              <a:t>（</a:t>
            </a:r>
            <a:r>
              <a:rPr lang="en" altLang="zh-CN" dirty="0">
                <a:latin typeface="Microsoft YaHei" panose="020B0503020204020204" pitchFamily="34" charset="-122"/>
                <a:ea typeface="Microsoft YaHei" panose="020B0503020204020204" pitchFamily="34" charset="-122"/>
              </a:rPr>
              <a:t>MLM</a:t>
            </a:r>
            <a:r>
              <a:rPr lang="zh-CN" altLang="e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任务。</a:t>
            </a:r>
          </a:p>
          <a:p>
            <a:pPr>
              <a:lnSpc>
                <a:spcPct val="150000"/>
              </a:lnSpc>
            </a:pPr>
            <a:endParaRPr lang="zh-CN" altLang="en" dirty="0">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DCB6080D-89D8-4776-64C2-3378E2ED513C}"/>
              </a:ext>
            </a:extLst>
          </p:cNvPr>
          <p:cNvPicPr>
            <a:picLocks noChangeAspect="1"/>
          </p:cNvPicPr>
          <p:nvPr/>
        </p:nvPicPr>
        <p:blipFill>
          <a:blip r:embed="rId3">
            <a:clrChange>
              <a:clrFrom>
                <a:srgbClr val="F5F5F5"/>
              </a:clrFrom>
              <a:clrTo>
                <a:srgbClr val="F5F5F5">
                  <a:alpha val="0"/>
                </a:srgbClr>
              </a:clrTo>
            </a:clrChange>
          </a:blip>
          <a:srcRect l="1582" t="12648" r="1720" b="3409"/>
          <a:stretch>
            <a:fillRect/>
          </a:stretch>
        </p:blipFill>
        <p:spPr>
          <a:xfrm>
            <a:off x="706340" y="3592109"/>
            <a:ext cx="7328170" cy="1212714"/>
          </a:xfrm>
          <a:prstGeom prst="rect">
            <a:avLst/>
          </a:prstGeom>
        </p:spPr>
      </p:pic>
      <p:pic>
        <p:nvPicPr>
          <p:cNvPr id="5" name="图片 4">
            <a:extLst>
              <a:ext uri="{FF2B5EF4-FFF2-40B4-BE49-F238E27FC236}">
                <a16:creationId xmlns:a16="http://schemas.microsoft.com/office/drawing/2014/main" id="{9D148385-38D4-3996-6279-33F7FB3959A1}"/>
              </a:ext>
            </a:extLst>
          </p:cNvPr>
          <p:cNvPicPr>
            <a:picLocks noChangeAspect="1"/>
          </p:cNvPicPr>
          <p:nvPr/>
        </p:nvPicPr>
        <p:blipFill>
          <a:blip r:embed="rId4"/>
          <a:srcRect l="5256" t="1513" r="1897"/>
          <a:stretch>
            <a:fillRect/>
          </a:stretch>
        </p:blipFill>
        <p:spPr>
          <a:xfrm>
            <a:off x="1540677" y="1122367"/>
            <a:ext cx="5123234" cy="5081758"/>
          </a:xfrm>
          <a:prstGeom prst="rect">
            <a:avLst/>
          </a:prstGeom>
        </p:spPr>
      </p:pic>
    </p:spTree>
    <p:extLst>
      <p:ext uri="{BB962C8B-B14F-4D97-AF65-F5344CB8AC3E}">
        <p14:creationId xmlns:p14="http://schemas.microsoft.com/office/powerpoint/2010/main" val="277291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CC917-28E4-FB2D-7FFD-3ED0EC0D43A3}"/>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DE43B0F-4765-288A-B30F-966BCC928915}"/>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6B722E1-BB35-0C90-400C-E59CFE81AC59}"/>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三、</a:t>
            </a:r>
            <a:r>
              <a:rPr lang="en-US" altLang="zh-CN"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Transformer</a:t>
            </a: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预训练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94F13243-5849-6DE8-0C53-751C43F6DB4A}"/>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B7CE89F7-23FE-A2E2-F369-EC7131031301}"/>
              </a:ext>
            </a:extLst>
          </p:cNvPr>
          <p:cNvSpPr txBox="1"/>
          <p:nvPr/>
        </p:nvSpPr>
        <p:spPr>
          <a:xfrm>
            <a:off x="52555" y="789764"/>
            <a:ext cx="4183005" cy="307777"/>
          </a:xfrm>
          <a:prstGeom prst="rect">
            <a:avLst/>
          </a:prstGeom>
          <a:noFill/>
        </p:spPr>
        <p:txBody>
          <a:bodyPr wrap="none" rtlCol="0">
            <a:spAutoFit/>
          </a:bodyPr>
          <a:lstStyle/>
          <a:p>
            <a:pPr marL="285750" indent="-285750">
              <a:buFont typeface="Wingdings" pitchFamily="2" charset="2"/>
              <a:buChar char="Ø"/>
            </a:pPr>
            <a:r>
              <a:rPr kumimoji="1" lang="en-US" altLang="zh-CN" sz="1400" i="1" dirty="0">
                <a:latin typeface="Microsoft YaHei" panose="020B0503020204020204" pitchFamily="34" charset="-122"/>
                <a:ea typeface="Microsoft YaHei" panose="020B0503020204020204" pitchFamily="34" charset="-122"/>
              </a:rPr>
              <a:t>Transformer</a:t>
            </a:r>
            <a:r>
              <a:rPr kumimoji="1" lang="zh-CN" altLang="en-US" sz="1400" i="1" dirty="0">
                <a:latin typeface="Microsoft YaHei" panose="020B0503020204020204" pitchFamily="34" charset="-122"/>
                <a:ea typeface="Microsoft YaHei" panose="020B0503020204020204" pitchFamily="34" charset="-122"/>
              </a:rPr>
              <a:t>的预训练：预训练模型的基础思路</a:t>
            </a:r>
          </a:p>
        </p:txBody>
      </p:sp>
      <p:sp>
        <p:nvSpPr>
          <p:cNvPr id="9" name="文本框 8">
            <a:extLst>
              <a:ext uri="{FF2B5EF4-FFF2-40B4-BE49-F238E27FC236}">
                <a16:creationId xmlns:a16="http://schemas.microsoft.com/office/drawing/2014/main" id="{12E1F361-067A-44C3-A836-C40BDB066BBC}"/>
              </a:ext>
            </a:extLst>
          </p:cNvPr>
          <p:cNvSpPr txBox="1"/>
          <p:nvPr/>
        </p:nvSpPr>
        <p:spPr>
          <a:xfrm>
            <a:off x="374514" y="1097541"/>
            <a:ext cx="8438746" cy="1167692"/>
          </a:xfrm>
          <a:prstGeom prst="rect">
            <a:avLst/>
          </a:prstGeom>
          <a:noFill/>
        </p:spPr>
        <p:txBody>
          <a:bodyPr wrap="square">
            <a:spAutoFit/>
          </a:bodyPr>
          <a:lstStyle/>
          <a:p>
            <a:pPr marL="285750" indent="-285750">
              <a:lnSpc>
                <a:spcPct val="150000"/>
              </a:lnSpc>
              <a:buFont typeface="系统字体常规体"/>
              <a:buChar char="？"/>
            </a:pPr>
            <a:r>
              <a:rPr lang="zh-CN" altLang="en-US" sz="1200" dirty="0">
                <a:latin typeface="Microsoft YaHei" panose="020B0503020204020204" pitchFamily="34" charset="-122"/>
                <a:ea typeface="Microsoft YaHei" panose="020B0503020204020204" pitchFamily="34" charset="-122"/>
              </a:rPr>
              <a:t>如何把预训练应用到 Transformer上；</a:t>
            </a:r>
            <a:endParaRPr lang="en-US" altLang="zh-CN" sz="1200" dirty="0">
              <a:latin typeface="Microsoft YaHei" panose="020B0503020204020204" pitchFamily="34" charset="-122"/>
              <a:ea typeface="Microsoft YaHei" panose="020B0503020204020204" pitchFamily="34" charset="-122"/>
            </a:endParaRPr>
          </a:p>
          <a:p>
            <a:pPr marL="285750" indent="-285750">
              <a:lnSpc>
                <a:spcPct val="150000"/>
              </a:lnSpc>
              <a:buFont typeface="系统字体常规体"/>
              <a:buChar char="？"/>
            </a:pPr>
            <a:r>
              <a:rPr lang="zh-CN" altLang="en-US" sz="1200" dirty="0">
                <a:latin typeface="Microsoft YaHei" panose="020B0503020204020204" pitchFamily="34" charset="-122"/>
                <a:ea typeface="Microsoft YaHei" panose="020B0503020204020204" pitchFamily="34" charset="-122"/>
              </a:rPr>
              <a:t>如何保持 Embedding 和 Hidden 层结构不变把 Transformer 应用到不同的 NLP任务上；</a:t>
            </a:r>
            <a:endParaRPr lang="en-US" altLang="zh-CN" sz="1200" dirty="0">
              <a:latin typeface="Microsoft YaHei" panose="020B0503020204020204" pitchFamily="34" charset="-122"/>
              <a:ea typeface="Microsoft YaHei" panose="020B0503020204020204" pitchFamily="34" charset="-122"/>
            </a:endParaRPr>
          </a:p>
          <a:p>
            <a:pPr>
              <a:lnSpc>
                <a:spcPct val="150000"/>
              </a:lnSpc>
            </a:pPr>
            <a:r>
              <a:rPr lang="zh-CN" altLang="en-US" sz="1200" dirty="0">
                <a:latin typeface="Microsoft YaHei" panose="020B0503020204020204" pitchFamily="34" charset="-122"/>
                <a:ea typeface="Microsoft YaHei" panose="020B0503020204020204" pitchFamily="34" charset="-122"/>
              </a:rPr>
              <a:t>前面两种方法分别定义为：</a:t>
            </a:r>
            <a:r>
              <a:rPr lang="en-US" altLang="zh-CN" sz="1200" b="1" dirty="0">
                <a:latin typeface="Microsoft YaHei" panose="020B0503020204020204" pitchFamily="34" charset="-122"/>
                <a:ea typeface="Microsoft YaHei" panose="020B0503020204020204" pitchFamily="34" charset="-122"/>
              </a:rPr>
              <a:t>AR</a:t>
            </a:r>
            <a:r>
              <a:rPr lang="zh-CN" altLang="en-US" sz="1200" b="1" dirty="0">
                <a:latin typeface="Microsoft YaHei" panose="020B0503020204020204" pitchFamily="34" charset="-122"/>
                <a:ea typeface="Microsoft YaHei" panose="020B0503020204020204" pitchFamily="34" charset="-122"/>
              </a:rPr>
              <a:t>（自回归）</a:t>
            </a:r>
            <a:r>
              <a:rPr lang="zh-CN" altLang="en-US" sz="1200" dirty="0">
                <a:latin typeface="Microsoft YaHei" panose="020B0503020204020204" pitchFamily="34" charset="-122"/>
                <a:ea typeface="Microsoft YaHei" panose="020B0503020204020204" pitchFamily="34" charset="-122"/>
              </a:rPr>
              <a:t>和</a:t>
            </a:r>
            <a:r>
              <a:rPr lang="en-US" altLang="zh-CN" sz="1200" b="1" dirty="0">
                <a:latin typeface="Microsoft YaHei" panose="020B0503020204020204" pitchFamily="34" charset="-122"/>
                <a:ea typeface="Microsoft YaHei" panose="020B0503020204020204" pitchFamily="34" charset="-122"/>
              </a:rPr>
              <a:t>AE</a:t>
            </a:r>
            <a:r>
              <a:rPr lang="zh-CN" altLang="en-US" sz="1200" b="1" dirty="0">
                <a:latin typeface="Microsoft YaHei" panose="020B0503020204020204" pitchFamily="34" charset="-122"/>
                <a:ea typeface="Microsoft YaHei" panose="020B0503020204020204" pitchFamily="34" charset="-122"/>
              </a:rPr>
              <a:t>（类似</a:t>
            </a:r>
            <a:r>
              <a:rPr lang="en-US" altLang="zh-CN" sz="1200" b="1" dirty="0">
                <a:latin typeface="Microsoft YaHei" panose="020B0503020204020204" pitchFamily="34" charset="-122"/>
                <a:ea typeface="Microsoft YaHei" panose="020B0503020204020204" pitchFamily="34" charset="-122"/>
              </a:rPr>
              <a:t>Autoencoder</a:t>
            </a:r>
            <a:r>
              <a:rPr lang="zh-CN" altLang="en-US" sz="1200" b="1"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。结合两种预训练思路，</a:t>
            </a:r>
            <a:r>
              <a:rPr lang="en-US" altLang="zh-CN" sz="1200" dirty="0" err="1">
                <a:latin typeface="Microsoft YaHei" panose="020B0503020204020204" pitchFamily="34" charset="-122"/>
                <a:ea typeface="Microsoft YaHei" panose="020B0503020204020204" pitchFamily="34" charset="-122"/>
              </a:rPr>
              <a:t>XLNet</a:t>
            </a:r>
            <a:r>
              <a:rPr lang="zh-CN" altLang="en-US" sz="1200" dirty="0">
                <a:latin typeface="Microsoft YaHei" panose="020B0503020204020204" pitchFamily="34" charset="-122"/>
                <a:ea typeface="Microsoft YaHei" panose="020B0503020204020204" pitchFamily="34" charset="-122"/>
              </a:rPr>
              <a:t>提出了一种全新的 </a:t>
            </a:r>
            <a:r>
              <a:rPr lang="en-US" altLang="zh-CN" sz="1200" dirty="0">
                <a:latin typeface="Microsoft YaHei" panose="020B0503020204020204" pitchFamily="34" charset="-122"/>
                <a:ea typeface="Microsoft YaHei" panose="020B0503020204020204" pitchFamily="34" charset="-122"/>
              </a:rPr>
              <a:t>LM </a:t>
            </a:r>
            <a:r>
              <a:rPr lang="zh-CN" altLang="en-US" sz="1200" dirty="0">
                <a:latin typeface="Microsoft YaHei" panose="020B0503020204020204" pitchFamily="34" charset="-122"/>
                <a:ea typeface="Microsoft YaHei" panose="020B0503020204020204" pitchFamily="34" charset="-122"/>
              </a:rPr>
              <a:t>任务。打乱句子顺序进行下一个单词的预测。</a:t>
            </a:r>
            <a:endParaRPr lang="zh-CN" altLang="en" sz="1200"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5C6A26AD-0285-4D77-85BF-4703413C323B}"/>
              </a:ext>
            </a:extLst>
          </p:cNvPr>
          <p:cNvPicPr>
            <a:picLocks noChangeAspect="1"/>
          </p:cNvPicPr>
          <p:nvPr/>
        </p:nvPicPr>
        <p:blipFill>
          <a:blip r:embed="rId3"/>
          <a:stretch>
            <a:fillRect/>
          </a:stretch>
        </p:blipFill>
        <p:spPr>
          <a:xfrm>
            <a:off x="3769397" y="2098239"/>
            <a:ext cx="5192279" cy="1887454"/>
          </a:xfrm>
          <a:prstGeom prst="rect">
            <a:avLst/>
          </a:prstGeom>
        </p:spPr>
      </p:pic>
      <p:pic>
        <p:nvPicPr>
          <p:cNvPr id="7" name="图片 6">
            <a:extLst>
              <a:ext uri="{FF2B5EF4-FFF2-40B4-BE49-F238E27FC236}">
                <a16:creationId xmlns:a16="http://schemas.microsoft.com/office/drawing/2014/main" id="{0742B142-D3C4-4CC5-BD88-851E5701CB84}"/>
              </a:ext>
            </a:extLst>
          </p:cNvPr>
          <p:cNvPicPr>
            <a:picLocks noChangeAspect="1"/>
          </p:cNvPicPr>
          <p:nvPr/>
        </p:nvPicPr>
        <p:blipFill>
          <a:blip r:embed="rId4"/>
          <a:stretch>
            <a:fillRect/>
          </a:stretch>
        </p:blipFill>
        <p:spPr>
          <a:xfrm>
            <a:off x="2144057" y="4115384"/>
            <a:ext cx="5356903" cy="2249308"/>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53E8EDC-60F4-4552-9932-6EDFE8D69D2A}"/>
                  </a:ext>
                </a:extLst>
              </p:cNvPr>
              <p:cNvSpPr txBox="1"/>
              <p:nvPr/>
            </p:nvSpPr>
            <p:spPr>
              <a:xfrm>
                <a:off x="0" y="2459753"/>
                <a:ext cx="4025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oMath>
                  </m:oMathPara>
                </a14:m>
                <a:endParaRPr lang="zh-CN" altLang="en-US" dirty="0"/>
              </a:p>
            </p:txBody>
          </p:sp>
        </mc:Choice>
        <mc:Fallback xmlns="">
          <p:sp>
            <p:nvSpPr>
              <p:cNvPr id="13" name="文本框 12">
                <a:extLst>
                  <a:ext uri="{FF2B5EF4-FFF2-40B4-BE49-F238E27FC236}">
                    <a16:creationId xmlns:a16="http://schemas.microsoft.com/office/drawing/2014/main" id="{A53E8EDC-60F4-4552-9932-6EDFE8D69D2A}"/>
                  </a:ext>
                </a:extLst>
              </p:cNvPr>
              <p:cNvSpPr txBox="1">
                <a:spLocks noRot="1" noChangeAspect="1" noMove="1" noResize="1" noEditPoints="1" noAdjustHandles="1" noChangeArrowheads="1" noChangeShapeType="1" noTextEdit="1"/>
              </p:cNvSpPr>
              <p:nvPr/>
            </p:nvSpPr>
            <p:spPr>
              <a:xfrm>
                <a:off x="0" y="2459753"/>
                <a:ext cx="4025910" cy="369332"/>
              </a:xfrm>
              <a:prstGeom prst="rect">
                <a:avLst/>
              </a:prstGeom>
              <a:blipFill>
                <a:blip r:embed="rId5"/>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5165075-24FF-4DD2-9FE0-59376287C951}"/>
                  </a:ext>
                </a:extLst>
              </p:cNvPr>
              <p:cNvSpPr txBox="1"/>
              <p:nvPr/>
            </p:nvSpPr>
            <p:spPr>
              <a:xfrm>
                <a:off x="0" y="3081265"/>
                <a:ext cx="4025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85165075-24FF-4DD2-9FE0-59376287C951}"/>
                  </a:ext>
                </a:extLst>
              </p:cNvPr>
              <p:cNvSpPr txBox="1">
                <a:spLocks noRot="1" noChangeAspect="1" noMove="1" noResize="1" noEditPoints="1" noAdjustHandles="1" noChangeArrowheads="1" noChangeShapeType="1" noTextEdit="1"/>
              </p:cNvSpPr>
              <p:nvPr/>
            </p:nvSpPr>
            <p:spPr>
              <a:xfrm>
                <a:off x="0" y="3081265"/>
                <a:ext cx="4025910" cy="369332"/>
              </a:xfrm>
              <a:prstGeom prst="rect">
                <a:avLst/>
              </a:prstGeom>
              <a:blipFill>
                <a:blip r:embed="rId6"/>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94E9786-6925-4E57-9985-4AD5225F084F}"/>
                  </a:ext>
                </a:extLst>
              </p:cNvPr>
              <p:cNvSpPr txBox="1"/>
              <p:nvPr/>
            </p:nvSpPr>
            <p:spPr>
              <a:xfrm>
                <a:off x="1760813" y="3546229"/>
                <a:ext cx="6222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oMath>
                  </m:oMathPara>
                </a14:m>
                <a:endParaRPr lang="zh-CN" altLang="en-US" dirty="0"/>
              </a:p>
            </p:txBody>
          </p:sp>
        </mc:Choice>
        <mc:Fallback xmlns="">
          <p:sp>
            <p:nvSpPr>
              <p:cNvPr id="15" name="文本框 14">
                <a:extLst>
                  <a:ext uri="{FF2B5EF4-FFF2-40B4-BE49-F238E27FC236}">
                    <a16:creationId xmlns:a16="http://schemas.microsoft.com/office/drawing/2014/main" id="{794E9786-6925-4E57-9985-4AD5225F084F}"/>
                  </a:ext>
                </a:extLst>
              </p:cNvPr>
              <p:cNvSpPr txBox="1">
                <a:spLocks noRot="1" noChangeAspect="1" noMove="1" noResize="1" noEditPoints="1" noAdjustHandles="1" noChangeArrowheads="1" noChangeShapeType="1" noTextEdit="1"/>
              </p:cNvSpPr>
              <p:nvPr/>
            </p:nvSpPr>
            <p:spPr>
              <a:xfrm>
                <a:off x="1760813" y="3546229"/>
                <a:ext cx="622286" cy="369332"/>
              </a:xfrm>
              <a:prstGeom prst="rect">
                <a:avLst/>
              </a:prstGeom>
              <a:blipFill>
                <a:blip r:embed="rId7"/>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29E2AD6A-06F3-4CA8-AB70-70F301AAA469}"/>
              </a:ext>
            </a:extLst>
          </p:cNvPr>
          <p:cNvSpPr txBox="1"/>
          <p:nvPr/>
        </p:nvSpPr>
        <p:spPr>
          <a:xfrm>
            <a:off x="3526120" y="6309717"/>
            <a:ext cx="2220480"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多层</a:t>
            </a:r>
            <a:r>
              <a:rPr lang="en-US" altLang="zh-CN" sz="1600" dirty="0" err="1">
                <a:latin typeface="微软雅黑" panose="020B0503020204020204" pitchFamily="34" charset="-122"/>
                <a:ea typeface="微软雅黑" panose="020B0503020204020204" pitchFamily="34" charset="-122"/>
              </a:rPr>
              <a:t>XLNet</a:t>
            </a:r>
            <a:r>
              <a:rPr lang="zh-CN" altLang="en-US" sz="1600" dirty="0">
                <a:latin typeface="微软雅黑" panose="020B0503020204020204" pitchFamily="34" charset="-122"/>
                <a:ea typeface="微软雅黑" panose="020B0503020204020204" pitchFamily="34" charset="-122"/>
              </a:rPr>
              <a:t>预训练示意</a:t>
            </a:r>
          </a:p>
        </p:txBody>
      </p:sp>
    </p:spTree>
    <p:extLst>
      <p:ext uri="{BB962C8B-B14F-4D97-AF65-F5344CB8AC3E}">
        <p14:creationId xmlns:p14="http://schemas.microsoft.com/office/powerpoint/2010/main" val="1495512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2214265"/>
            <a:ext cx="9144000" cy="1388264"/>
            <a:chOff x="-1590" y="2422529"/>
            <a:chExt cx="9145590" cy="1851019"/>
          </a:xfrm>
        </p:grpSpPr>
        <p:sp>
          <p:nvSpPr>
            <p:cNvPr id="24" name="矩形 23"/>
            <p:cNvSpPr/>
            <p:nvPr/>
          </p:nvSpPr>
          <p:spPr>
            <a:xfrm>
              <a:off x="-1590" y="2490260"/>
              <a:ext cx="9145586" cy="1713341"/>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sz="1350" dirty="0">
                <a:solidFill>
                  <a:prstClr val="white"/>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0" y="2422529"/>
              <a:ext cx="9144000" cy="1851019"/>
              <a:chOff x="0" y="2547942"/>
              <a:chExt cx="9144000" cy="1851019"/>
            </a:xfrm>
          </p:grpSpPr>
          <p:sp>
            <p:nvSpPr>
              <p:cNvPr id="5" name="Rectangle 5"/>
              <p:cNvSpPr>
                <a:spLocks noChangeArrowheads="1"/>
              </p:cNvSpPr>
              <p:nvPr/>
            </p:nvSpPr>
            <p:spPr bwMode="auto">
              <a:xfrm>
                <a:off x="0" y="2547942"/>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sp>
            <p:nvSpPr>
              <p:cNvPr id="6" name="Rectangle 5"/>
              <p:cNvSpPr>
                <a:spLocks noChangeArrowheads="1"/>
              </p:cNvSpPr>
              <p:nvPr/>
            </p:nvSpPr>
            <p:spPr bwMode="auto">
              <a:xfrm>
                <a:off x="0" y="4322761"/>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grpSp>
      </p:grpSp>
      <p:pic>
        <p:nvPicPr>
          <p:cNvPr id="3" name="图片 2"/>
          <p:cNvPicPr>
            <a:picLocks noChangeAspect="1"/>
          </p:cNvPicPr>
          <p:nvPr/>
        </p:nvPicPr>
        <p:blipFill>
          <a:blip r:embed="rId3"/>
          <a:stretch>
            <a:fillRect/>
          </a:stretch>
        </p:blipFill>
        <p:spPr>
          <a:xfrm>
            <a:off x="0" y="851743"/>
            <a:ext cx="9144000" cy="754445"/>
          </a:xfrm>
          <a:prstGeom prst="rect">
            <a:avLst/>
          </a:prstGeom>
        </p:spPr>
      </p:pic>
      <p:sp>
        <p:nvSpPr>
          <p:cNvPr id="8" name="文本框 7">
            <a:extLst>
              <a:ext uri="{FF2B5EF4-FFF2-40B4-BE49-F238E27FC236}">
                <a16:creationId xmlns:a16="http://schemas.microsoft.com/office/drawing/2014/main" id="{06E531FC-B52C-4BB5-B379-E8B6FDB5DFA7}"/>
              </a:ext>
            </a:extLst>
          </p:cNvPr>
          <p:cNvSpPr txBox="1"/>
          <p:nvPr/>
        </p:nvSpPr>
        <p:spPr>
          <a:xfrm>
            <a:off x="2504765" y="2545569"/>
            <a:ext cx="4134465" cy="769441"/>
          </a:xfrm>
          <a:prstGeom prst="rect">
            <a:avLst/>
          </a:prstGeom>
          <a:noFill/>
        </p:spPr>
        <p:txBody>
          <a:bodyPr wrap="none"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预训练语言模型</a:t>
            </a:r>
          </a:p>
        </p:txBody>
      </p:sp>
      <p:pic>
        <p:nvPicPr>
          <p:cNvPr id="9" name="图片 17">
            <a:extLst>
              <a:ext uri="{FF2B5EF4-FFF2-40B4-BE49-F238E27FC236}">
                <a16:creationId xmlns:a16="http://schemas.microsoft.com/office/drawing/2014/main" id="{4D9B7B69-685E-46B0-A2F6-C19CF2A07C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8129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3F39-AF3D-B5A5-8F5C-5978718C319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09C1CD72-3355-56DE-BE97-0878C0669335}"/>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92C58BCA-75D3-9B07-865E-5F5899FF9D25}"/>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4058FD51-F4EF-6D0F-5B24-2C2EC75493E5}"/>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99F67582-32E5-3B0D-6327-796FF0B8596C}"/>
              </a:ext>
            </a:extLst>
          </p:cNvPr>
          <p:cNvPicPr>
            <a:picLocks noChangeAspect="1"/>
          </p:cNvPicPr>
          <p:nvPr/>
        </p:nvPicPr>
        <p:blipFill>
          <a:blip r:embed="rId3"/>
          <a:stretch>
            <a:fillRect/>
          </a:stretch>
        </p:blipFill>
        <p:spPr>
          <a:xfrm>
            <a:off x="284759" y="2268310"/>
            <a:ext cx="8547642" cy="2085625"/>
          </a:xfrm>
          <a:prstGeom prst="rect">
            <a:avLst/>
          </a:prstGeom>
          <a:ln>
            <a:noFill/>
          </a:ln>
          <a:effectLst>
            <a:outerShdw blurRad="292100" dist="139700" dir="2700000" algn="tl" rotWithShape="0">
              <a:srgbClr val="333333">
                <a:alpha val="65000"/>
              </a:srgbClr>
            </a:outerShdw>
          </a:effectLst>
        </p:spPr>
      </p:pic>
      <p:sp>
        <p:nvSpPr>
          <p:cNvPr id="3" name="矩形 2">
            <a:extLst>
              <a:ext uri="{FF2B5EF4-FFF2-40B4-BE49-F238E27FC236}">
                <a16:creationId xmlns:a16="http://schemas.microsoft.com/office/drawing/2014/main" id="{ED35BECB-AF41-AC7C-C3E6-C69CCED4A3B7}"/>
              </a:ext>
            </a:extLst>
          </p:cNvPr>
          <p:cNvSpPr/>
          <p:nvPr/>
        </p:nvSpPr>
        <p:spPr>
          <a:xfrm>
            <a:off x="4966644" y="2268310"/>
            <a:ext cx="3865757" cy="2085625"/>
          </a:xfrm>
          <a:prstGeom prst="rect">
            <a:avLst/>
          </a:prstGeom>
          <a:solidFill>
            <a:schemeClr val="bg1">
              <a:lumMod val="9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F87ABF8-45EC-63AB-350F-7CE5AD45F7CB}"/>
              </a:ext>
            </a:extLst>
          </p:cNvPr>
          <p:cNvSpPr/>
          <p:nvPr/>
        </p:nvSpPr>
        <p:spPr>
          <a:xfrm>
            <a:off x="284759" y="2268310"/>
            <a:ext cx="4681885" cy="2085625"/>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C9086A5-804F-F558-2BF1-A936553A44B4}"/>
              </a:ext>
            </a:extLst>
          </p:cNvPr>
          <p:cNvSpPr/>
          <p:nvPr/>
        </p:nvSpPr>
        <p:spPr>
          <a:xfrm>
            <a:off x="284759" y="4995112"/>
            <a:ext cx="2834499" cy="1076466"/>
          </a:xfrm>
          <a:prstGeom prst="rect">
            <a:avLst/>
          </a:prstGeom>
          <a:no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1F04F9F-57E8-1EFA-B527-7C8175A84973}"/>
              </a:ext>
            </a:extLst>
          </p:cNvPr>
          <p:cNvSpPr/>
          <p:nvPr/>
        </p:nvSpPr>
        <p:spPr>
          <a:xfrm>
            <a:off x="3796378" y="4995112"/>
            <a:ext cx="5233230" cy="1076466"/>
          </a:xfrm>
          <a:prstGeom prst="rect">
            <a:avLst/>
          </a:prstGeom>
          <a:no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 name="矩形 6">
            <a:extLst>
              <a:ext uri="{FF2B5EF4-FFF2-40B4-BE49-F238E27FC236}">
                <a16:creationId xmlns:a16="http://schemas.microsoft.com/office/drawing/2014/main" id="{2D4ACA62-6068-DA6F-D348-2A184DA1844C}"/>
              </a:ext>
            </a:extLst>
          </p:cNvPr>
          <p:cNvSpPr/>
          <p:nvPr/>
        </p:nvSpPr>
        <p:spPr>
          <a:xfrm>
            <a:off x="2586671" y="835707"/>
            <a:ext cx="4431596" cy="961947"/>
          </a:xfrm>
          <a:prstGeom prst="rect">
            <a:avLst/>
          </a:prstGeom>
          <a:no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cxnSp>
        <p:nvCxnSpPr>
          <p:cNvPr id="8" name="直接箭头连接符 10">
            <a:extLst>
              <a:ext uri="{FF2B5EF4-FFF2-40B4-BE49-F238E27FC236}">
                <a16:creationId xmlns:a16="http://schemas.microsoft.com/office/drawing/2014/main" id="{5B441A69-A46F-BE73-D8C9-CEE4AF5D837A}"/>
              </a:ext>
            </a:extLst>
          </p:cNvPr>
          <p:cNvCxnSpPr>
            <a:cxnSpLocks/>
            <a:endCxn id="7" idx="2"/>
          </p:cNvCxnSpPr>
          <p:nvPr/>
        </p:nvCxnSpPr>
        <p:spPr>
          <a:xfrm flipV="1">
            <a:off x="2625701" y="1797654"/>
            <a:ext cx="2176768" cy="6956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接箭头连接符 11">
            <a:extLst>
              <a:ext uri="{FF2B5EF4-FFF2-40B4-BE49-F238E27FC236}">
                <a16:creationId xmlns:a16="http://schemas.microsoft.com/office/drawing/2014/main" id="{A4A08851-A1E8-FEFD-3ADE-8EAD8CA9F5FE}"/>
              </a:ext>
            </a:extLst>
          </p:cNvPr>
          <p:cNvCxnSpPr>
            <a:cxnSpLocks/>
            <a:endCxn id="5" idx="0"/>
          </p:cNvCxnSpPr>
          <p:nvPr/>
        </p:nvCxnSpPr>
        <p:spPr>
          <a:xfrm flipH="1">
            <a:off x="1702009" y="4152414"/>
            <a:ext cx="884662" cy="842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接箭头连接符 15">
            <a:extLst>
              <a:ext uri="{FF2B5EF4-FFF2-40B4-BE49-F238E27FC236}">
                <a16:creationId xmlns:a16="http://schemas.microsoft.com/office/drawing/2014/main" id="{543831C3-5FFB-D240-18E0-4FFFE332DC04}"/>
              </a:ext>
            </a:extLst>
          </p:cNvPr>
          <p:cNvCxnSpPr>
            <a:cxnSpLocks/>
            <a:endCxn id="6" idx="0"/>
          </p:cNvCxnSpPr>
          <p:nvPr/>
        </p:nvCxnSpPr>
        <p:spPr>
          <a:xfrm>
            <a:off x="4286655" y="4189203"/>
            <a:ext cx="2126338" cy="8059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778D0C35-5768-80C0-9AFB-213659F40861}"/>
              </a:ext>
            </a:extLst>
          </p:cNvPr>
          <p:cNvSpPr txBox="1"/>
          <p:nvPr/>
        </p:nvSpPr>
        <p:spPr>
          <a:xfrm>
            <a:off x="1227267" y="1060311"/>
            <a:ext cx="1561984"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预训练数据</a:t>
            </a:r>
          </a:p>
        </p:txBody>
      </p:sp>
      <p:sp>
        <p:nvSpPr>
          <p:cNvPr id="12" name="文本框 11">
            <a:extLst>
              <a:ext uri="{FF2B5EF4-FFF2-40B4-BE49-F238E27FC236}">
                <a16:creationId xmlns:a16="http://schemas.microsoft.com/office/drawing/2014/main" id="{76C0EB53-92F8-B116-BEB1-6AA2A4D1DB89}"/>
              </a:ext>
            </a:extLst>
          </p:cNvPr>
          <p:cNvSpPr txBox="1"/>
          <p:nvPr/>
        </p:nvSpPr>
        <p:spPr>
          <a:xfrm>
            <a:off x="255660" y="4639925"/>
            <a:ext cx="1561984"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预训练任务</a:t>
            </a:r>
          </a:p>
        </p:txBody>
      </p:sp>
      <p:sp>
        <p:nvSpPr>
          <p:cNvPr id="13" name="文本框 12">
            <a:extLst>
              <a:ext uri="{FF2B5EF4-FFF2-40B4-BE49-F238E27FC236}">
                <a16:creationId xmlns:a16="http://schemas.microsoft.com/office/drawing/2014/main" id="{FD2A29C4-496D-7289-EEBC-2450DA8ACFAE}"/>
              </a:ext>
            </a:extLst>
          </p:cNvPr>
          <p:cNvSpPr txBox="1"/>
          <p:nvPr/>
        </p:nvSpPr>
        <p:spPr>
          <a:xfrm>
            <a:off x="3712859" y="4655610"/>
            <a:ext cx="1561984"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模型架构</a:t>
            </a:r>
          </a:p>
        </p:txBody>
      </p:sp>
      <p:sp>
        <p:nvSpPr>
          <p:cNvPr id="14" name="文本框 13">
            <a:extLst>
              <a:ext uri="{FF2B5EF4-FFF2-40B4-BE49-F238E27FC236}">
                <a16:creationId xmlns:a16="http://schemas.microsoft.com/office/drawing/2014/main" id="{733C1B0B-07F3-0103-DD2E-AE87294D0C3F}"/>
              </a:ext>
            </a:extLst>
          </p:cNvPr>
          <p:cNvSpPr txBox="1"/>
          <p:nvPr/>
        </p:nvSpPr>
        <p:spPr>
          <a:xfrm>
            <a:off x="2625701" y="1109043"/>
            <a:ext cx="902811" cy="307777"/>
          </a:xfrm>
          <a:prstGeom prst="rect">
            <a:avLst/>
          </a:prstGeom>
          <a:solidFill>
            <a:schemeClr val="bg1"/>
          </a:solidFill>
          <a:effectLst>
            <a:outerShdw blurRad="50800" dist="38100" dir="2700000" algn="tl" rotWithShape="0">
              <a:prstClr val="black">
                <a:alpha val="40000"/>
              </a:prstClr>
            </a:outerShdw>
          </a:effectLst>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数据收集</a:t>
            </a:r>
          </a:p>
        </p:txBody>
      </p:sp>
      <p:sp>
        <p:nvSpPr>
          <p:cNvPr id="15" name="文本框 14">
            <a:extLst>
              <a:ext uri="{FF2B5EF4-FFF2-40B4-BE49-F238E27FC236}">
                <a16:creationId xmlns:a16="http://schemas.microsoft.com/office/drawing/2014/main" id="{4857BCD2-85C2-212D-59A0-BE7A8B474D64}"/>
              </a:ext>
            </a:extLst>
          </p:cNvPr>
          <p:cNvSpPr txBox="1"/>
          <p:nvPr/>
        </p:nvSpPr>
        <p:spPr>
          <a:xfrm>
            <a:off x="4815369" y="1143072"/>
            <a:ext cx="723275" cy="307777"/>
          </a:xfrm>
          <a:prstGeom prst="rect">
            <a:avLst/>
          </a:prstGeom>
          <a:solidFill>
            <a:schemeClr val="bg1"/>
          </a:solidFill>
          <a:effectLst>
            <a:outerShdw blurRad="50800" dist="38100" dir="2700000" algn="tl" rotWithShape="0">
              <a:prstClr val="black">
                <a:alpha val="40000"/>
              </a:prstClr>
            </a:outerShdw>
          </a:effectLst>
        </p:spPr>
        <p:txBody>
          <a:bodyPr wrap="none" rtlCol="0">
            <a:spAutoFit/>
          </a:bodyPr>
          <a:lstStyle/>
          <a:p>
            <a:r>
              <a:rPr lang="zh-CN" altLang="en-US" sz="1400" dirty="0">
                <a:latin typeface="微软雅黑" panose="020B0503020204020204" pitchFamily="34" charset="-122"/>
                <a:ea typeface="微软雅黑" panose="020B0503020204020204" pitchFamily="34" charset="-122"/>
              </a:rPr>
              <a:t>预处理</a:t>
            </a:r>
          </a:p>
        </p:txBody>
      </p:sp>
      <p:sp>
        <p:nvSpPr>
          <p:cNvPr id="16" name="左大括号 15">
            <a:extLst>
              <a:ext uri="{FF2B5EF4-FFF2-40B4-BE49-F238E27FC236}">
                <a16:creationId xmlns:a16="http://schemas.microsoft.com/office/drawing/2014/main" id="{660777B8-E169-8BD5-C642-43CA75883340}"/>
              </a:ext>
            </a:extLst>
          </p:cNvPr>
          <p:cNvSpPr/>
          <p:nvPr/>
        </p:nvSpPr>
        <p:spPr>
          <a:xfrm>
            <a:off x="3613628" y="883128"/>
            <a:ext cx="221909" cy="86710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左大括号 16">
            <a:extLst>
              <a:ext uri="{FF2B5EF4-FFF2-40B4-BE49-F238E27FC236}">
                <a16:creationId xmlns:a16="http://schemas.microsoft.com/office/drawing/2014/main" id="{0988F1E0-3249-E9A3-825C-C1006A5C36A0}"/>
              </a:ext>
            </a:extLst>
          </p:cNvPr>
          <p:cNvSpPr/>
          <p:nvPr/>
        </p:nvSpPr>
        <p:spPr>
          <a:xfrm>
            <a:off x="5688362" y="863410"/>
            <a:ext cx="221909" cy="86710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E9D72552-B91A-0A7B-E727-6EC61688E3F9}"/>
              </a:ext>
            </a:extLst>
          </p:cNvPr>
          <p:cNvSpPr txBox="1"/>
          <p:nvPr/>
        </p:nvSpPr>
        <p:spPr>
          <a:xfrm>
            <a:off x="3814351" y="863410"/>
            <a:ext cx="646331"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数据源</a:t>
            </a:r>
          </a:p>
        </p:txBody>
      </p:sp>
      <p:sp>
        <p:nvSpPr>
          <p:cNvPr id="19" name="文本框 18">
            <a:extLst>
              <a:ext uri="{FF2B5EF4-FFF2-40B4-BE49-F238E27FC236}">
                <a16:creationId xmlns:a16="http://schemas.microsoft.com/office/drawing/2014/main" id="{0E4BFE59-6B7B-542D-1D9B-77FA922506B1}"/>
              </a:ext>
            </a:extLst>
          </p:cNvPr>
          <p:cNvSpPr txBox="1"/>
          <p:nvPr/>
        </p:nvSpPr>
        <p:spPr>
          <a:xfrm>
            <a:off x="3814350" y="1113256"/>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数据内容</a:t>
            </a:r>
          </a:p>
        </p:txBody>
      </p:sp>
      <p:sp>
        <p:nvSpPr>
          <p:cNvPr id="20" name="文本框 19">
            <a:extLst>
              <a:ext uri="{FF2B5EF4-FFF2-40B4-BE49-F238E27FC236}">
                <a16:creationId xmlns:a16="http://schemas.microsoft.com/office/drawing/2014/main" id="{A4A1018D-A46E-F859-5CB7-84E50BA16FC9}"/>
              </a:ext>
            </a:extLst>
          </p:cNvPr>
          <p:cNvSpPr txBox="1"/>
          <p:nvPr/>
        </p:nvSpPr>
        <p:spPr>
          <a:xfrm>
            <a:off x="3814350" y="1416820"/>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数据种类</a:t>
            </a:r>
          </a:p>
        </p:txBody>
      </p:sp>
      <p:sp>
        <p:nvSpPr>
          <p:cNvPr id="21" name="文本框 20">
            <a:extLst>
              <a:ext uri="{FF2B5EF4-FFF2-40B4-BE49-F238E27FC236}">
                <a16:creationId xmlns:a16="http://schemas.microsoft.com/office/drawing/2014/main" id="{F62916E4-5185-0AFB-08AE-081CD3EDF10E}"/>
              </a:ext>
            </a:extLst>
          </p:cNvPr>
          <p:cNvSpPr txBox="1"/>
          <p:nvPr/>
        </p:nvSpPr>
        <p:spPr>
          <a:xfrm>
            <a:off x="5900297" y="823728"/>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质量过滤</a:t>
            </a:r>
          </a:p>
        </p:txBody>
      </p:sp>
      <p:sp>
        <p:nvSpPr>
          <p:cNvPr id="22" name="文本框 21">
            <a:extLst>
              <a:ext uri="{FF2B5EF4-FFF2-40B4-BE49-F238E27FC236}">
                <a16:creationId xmlns:a16="http://schemas.microsoft.com/office/drawing/2014/main" id="{7B888C17-6E59-4288-5311-3DF43C7BCC3C}"/>
              </a:ext>
            </a:extLst>
          </p:cNvPr>
          <p:cNvSpPr txBox="1"/>
          <p:nvPr/>
        </p:nvSpPr>
        <p:spPr>
          <a:xfrm>
            <a:off x="5900296" y="1014704"/>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数据去重</a:t>
            </a:r>
          </a:p>
        </p:txBody>
      </p:sp>
      <p:sp>
        <p:nvSpPr>
          <p:cNvPr id="23" name="文本框 22">
            <a:extLst>
              <a:ext uri="{FF2B5EF4-FFF2-40B4-BE49-F238E27FC236}">
                <a16:creationId xmlns:a16="http://schemas.microsoft.com/office/drawing/2014/main" id="{9A823143-DC7A-E2C3-901D-40D390492F2D}"/>
              </a:ext>
            </a:extLst>
          </p:cNvPr>
          <p:cNvSpPr txBox="1"/>
          <p:nvPr/>
        </p:nvSpPr>
        <p:spPr>
          <a:xfrm>
            <a:off x="5910271" y="1248773"/>
            <a:ext cx="1107996"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隐私信息去除</a:t>
            </a:r>
          </a:p>
        </p:txBody>
      </p:sp>
      <p:sp useBgFill="1">
        <p:nvSpPr>
          <p:cNvPr id="24" name="文本框 23">
            <a:extLst>
              <a:ext uri="{FF2B5EF4-FFF2-40B4-BE49-F238E27FC236}">
                <a16:creationId xmlns:a16="http://schemas.microsoft.com/office/drawing/2014/main" id="{F438AA78-0764-E7D6-21FE-920188EA02C0}"/>
              </a:ext>
            </a:extLst>
          </p:cNvPr>
          <p:cNvSpPr txBox="1"/>
          <p:nvPr/>
        </p:nvSpPr>
        <p:spPr>
          <a:xfrm>
            <a:off x="5923296" y="1477528"/>
            <a:ext cx="492443" cy="276999"/>
          </a:xfrm>
          <a:prstGeom prst="rect">
            <a:avLst/>
          </a:prstGeom>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分词</a:t>
            </a:r>
          </a:p>
        </p:txBody>
      </p:sp>
      <p:pic>
        <p:nvPicPr>
          <p:cNvPr id="25" name="图片 24">
            <a:extLst>
              <a:ext uri="{FF2B5EF4-FFF2-40B4-BE49-F238E27FC236}">
                <a16:creationId xmlns:a16="http://schemas.microsoft.com/office/drawing/2014/main" id="{30E93B6F-CDC2-16B6-8621-786740455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892" y="5069482"/>
            <a:ext cx="2610231" cy="913581"/>
          </a:xfrm>
          <a:prstGeom prst="rect">
            <a:avLst/>
          </a:prstGeom>
          <a:effectLst>
            <a:outerShdw blurRad="50800" dist="38100" dir="2700000" algn="tl" rotWithShape="0">
              <a:prstClr val="black">
                <a:alpha val="40000"/>
              </a:prstClr>
            </a:outerShdw>
          </a:effectLst>
        </p:spPr>
      </p:pic>
      <p:pic>
        <p:nvPicPr>
          <p:cNvPr id="26" name="图片 25">
            <a:extLst>
              <a:ext uri="{FF2B5EF4-FFF2-40B4-BE49-F238E27FC236}">
                <a16:creationId xmlns:a16="http://schemas.microsoft.com/office/drawing/2014/main" id="{0E71ED8E-3EF2-E3FF-1B06-5543E29E6D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46139" y="5084871"/>
            <a:ext cx="964821" cy="867117"/>
          </a:xfrm>
          <a:prstGeom prst="rect">
            <a:avLst/>
          </a:prstGeom>
          <a:effectLst>
            <a:outerShdw blurRad="50800" dist="38100" dir="2700000" algn="tl" rotWithShape="0">
              <a:prstClr val="black">
                <a:alpha val="40000"/>
              </a:prstClr>
            </a:outerShdw>
          </a:effectLst>
        </p:spPr>
      </p:pic>
      <p:pic>
        <p:nvPicPr>
          <p:cNvPr id="27" name="图片 26">
            <a:extLst>
              <a:ext uri="{FF2B5EF4-FFF2-40B4-BE49-F238E27FC236}">
                <a16:creationId xmlns:a16="http://schemas.microsoft.com/office/drawing/2014/main" id="{8311BAF8-A2DC-AA8E-7E91-6532F87206B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31" t="61205" r="55414" b="1199"/>
          <a:stretch/>
        </p:blipFill>
        <p:spPr>
          <a:xfrm>
            <a:off x="5154066" y="5113652"/>
            <a:ext cx="1715989" cy="790759"/>
          </a:xfrm>
          <a:prstGeom prst="rect">
            <a:avLst/>
          </a:prstGeom>
          <a:effectLst>
            <a:outerShdw blurRad="50800" dist="38100" dir="2700000" algn="tl" rotWithShape="0">
              <a:prstClr val="black">
                <a:alpha val="40000"/>
              </a:prstClr>
            </a:outerShdw>
          </a:effectLst>
        </p:spPr>
      </p:pic>
      <p:pic>
        <p:nvPicPr>
          <p:cNvPr id="28" name="图片 27">
            <a:extLst>
              <a:ext uri="{FF2B5EF4-FFF2-40B4-BE49-F238E27FC236}">
                <a16:creationId xmlns:a16="http://schemas.microsoft.com/office/drawing/2014/main" id="{1CA2BD63-230C-9826-71CC-A8BA0BE49382}"/>
              </a:ext>
            </a:extLst>
          </p:cNvPr>
          <p:cNvPicPr>
            <a:picLocks noChangeAspect="1"/>
          </p:cNvPicPr>
          <p:nvPr/>
        </p:nvPicPr>
        <p:blipFill>
          <a:blip r:embed="rId7"/>
          <a:stretch>
            <a:fillRect/>
          </a:stretch>
        </p:blipFill>
        <p:spPr>
          <a:xfrm>
            <a:off x="7055819" y="5088228"/>
            <a:ext cx="1788025" cy="894835"/>
          </a:xfrm>
          <a:prstGeom prst="rect">
            <a:avLst/>
          </a:prstGeom>
          <a:effectLst>
            <a:outerShdw blurRad="50800" dist="38100" dir="2700000" algn="tl" rotWithShape="0">
              <a:prstClr val="black">
                <a:alpha val="40000"/>
              </a:prstClr>
            </a:outerShdw>
          </a:effectLst>
        </p:spPr>
      </p:pic>
      <p:sp>
        <p:nvSpPr>
          <p:cNvPr id="29" name="文本框 28">
            <a:extLst>
              <a:ext uri="{FF2B5EF4-FFF2-40B4-BE49-F238E27FC236}">
                <a16:creationId xmlns:a16="http://schemas.microsoft.com/office/drawing/2014/main" id="{3F55523F-4D53-AA81-F965-42ADD5889C18}"/>
              </a:ext>
            </a:extLst>
          </p:cNvPr>
          <p:cNvSpPr txBox="1"/>
          <p:nvPr/>
        </p:nvSpPr>
        <p:spPr>
          <a:xfrm>
            <a:off x="3829716" y="5266957"/>
            <a:ext cx="1425070" cy="369332"/>
          </a:xfrm>
          <a:prstGeom prst="rect">
            <a:avLst/>
          </a:prstGeom>
          <a:noFill/>
        </p:spPr>
        <p:txBody>
          <a:bodyPr wrap="none" rtlCol="0">
            <a:spAutoFit/>
          </a:bodyPr>
          <a:lstStyle/>
          <a:p>
            <a:r>
              <a:rPr lang="en-US" altLang="zh-CN" dirty="0"/>
              <a:t>Encoder-only</a:t>
            </a:r>
            <a:endParaRPr lang="zh-CN" altLang="en-US" dirty="0"/>
          </a:p>
        </p:txBody>
      </p:sp>
      <p:sp>
        <p:nvSpPr>
          <p:cNvPr id="30" name="文本框 29">
            <a:extLst>
              <a:ext uri="{FF2B5EF4-FFF2-40B4-BE49-F238E27FC236}">
                <a16:creationId xmlns:a16="http://schemas.microsoft.com/office/drawing/2014/main" id="{CF9EB4BF-541B-107F-7D3D-59C72B603FE4}"/>
              </a:ext>
            </a:extLst>
          </p:cNvPr>
          <p:cNvSpPr txBox="1"/>
          <p:nvPr/>
        </p:nvSpPr>
        <p:spPr>
          <a:xfrm>
            <a:off x="5368538" y="5274585"/>
            <a:ext cx="1449115" cy="369332"/>
          </a:xfrm>
          <a:prstGeom prst="rect">
            <a:avLst/>
          </a:prstGeom>
          <a:noFill/>
        </p:spPr>
        <p:txBody>
          <a:bodyPr wrap="none" rtlCol="0">
            <a:spAutoFit/>
          </a:bodyPr>
          <a:lstStyle/>
          <a:p>
            <a:r>
              <a:rPr lang="en-US" altLang="zh-CN" dirty="0"/>
              <a:t>Decoder-only</a:t>
            </a:r>
            <a:endParaRPr lang="zh-CN" altLang="en-US" dirty="0"/>
          </a:p>
        </p:txBody>
      </p:sp>
      <p:sp>
        <p:nvSpPr>
          <p:cNvPr id="31" name="文本框 30">
            <a:extLst>
              <a:ext uri="{FF2B5EF4-FFF2-40B4-BE49-F238E27FC236}">
                <a16:creationId xmlns:a16="http://schemas.microsoft.com/office/drawing/2014/main" id="{1566F3FB-2E8B-3321-21F0-0BF79D8E887C}"/>
              </a:ext>
            </a:extLst>
          </p:cNvPr>
          <p:cNvSpPr txBox="1"/>
          <p:nvPr/>
        </p:nvSpPr>
        <p:spPr>
          <a:xfrm>
            <a:off x="7084527" y="5275319"/>
            <a:ext cx="1817485" cy="369332"/>
          </a:xfrm>
          <a:prstGeom prst="rect">
            <a:avLst/>
          </a:prstGeom>
          <a:noFill/>
        </p:spPr>
        <p:txBody>
          <a:bodyPr wrap="none" rtlCol="0">
            <a:spAutoFit/>
          </a:bodyPr>
          <a:lstStyle/>
          <a:p>
            <a:r>
              <a:rPr lang="en-US" altLang="zh-CN" dirty="0"/>
              <a:t>Encoder-Decoder</a:t>
            </a:r>
            <a:endParaRPr lang="zh-CN" altLang="en-US" dirty="0"/>
          </a:p>
        </p:txBody>
      </p:sp>
    </p:spTree>
    <p:extLst>
      <p:ext uri="{BB962C8B-B14F-4D97-AF65-F5344CB8AC3E}">
        <p14:creationId xmlns:p14="http://schemas.microsoft.com/office/powerpoint/2010/main" val="3702246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3B3FE-0BE2-6137-1D28-5C62C1F8264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64C45B26-5912-433D-EB09-43EEB8E96B30}"/>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56A26F2A-9326-7AB8-C2B6-58BE397EC998}"/>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FC893E1-4620-2FFC-1FF2-64AAF4A3A921}"/>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内容占位符 2">
            <a:extLst>
              <a:ext uri="{FF2B5EF4-FFF2-40B4-BE49-F238E27FC236}">
                <a16:creationId xmlns:a16="http://schemas.microsoft.com/office/drawing/2014/main" id="{4F945576-FF13-5F17-2BFB-2E60E24A16B7}"/>
              </a:ext>
            </a:extLst>
          </p:cNvPr>
          <p:cNvSpPr txBox="1">
            <a:spLocks/>
          </p:cNvSpPr>
          <p:nvPr/>
        </p:nvSpPr>
        <p:spPr>
          <a:xfrm>
            <a:off x="72957" y="1122367"/>
            <a:ext cx="5769808" cy="4543723"/>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60000"/>
              </a:lnSpc>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Encoder-only</a:t>
            </a:r>
            <a:r>
              <a:rPr lang="zh-CN" altLang="en-US" sz="2000" b="1" dirty="0">
                <a:latin typeface="微软雅黑" panose="020B0503020204020204" pitchFamily="34" charset="-122"/>
                <a:ea typeface="微软雅黑" panose="020B0503020204020204" pitchFamily="34" charset="-122"/>
              </a:rPr>
              <a:t>流派：</a:t>
            </a:r>
            <a:r>
              <a:rPr lang="zh-CN" altLang="en-US" sz="1800" dirty="0">
                <a:latin typeface="微软雅黑" panose="020B0503020204020204" pitchFamily="34" charset="-122"/>
                <a:ea typeface="微软雅黑" panose="020B0503020204020204" pitchFamily="34" charset="-122"/>
              </a:rPr>
              <a:t>仅包含</a:t>
            </a:r>
            <a:r>
              <a:rPr lang="en-US" altLang="zh-CN" sz="1800" dirty="0">
                <a:latin typeface="微软雅黑" panose="020B0503020204020204" pitchFamily="34" charset="-122"/>
                <a:ea typeface="微软雅黑" panose="020B0503020204020204" pitchFamily="34" charset="-122"/>
              </a:rPr>
              <a:t>Transformer</a:t>
            </a:r>
            <a:r>
              <a:rPr lang="zh-CN" altLang="en-US" sz="1800" dirty="0">
                <a:latin typeface="微软雅黑" panose="020B0503020204020204" pitchFamily="34" charset="-122"/>
                <a:ea typeface="微软雅黑" panose="020B0503020204020204" pitchFamily="34" charset="-122"/>
              </a:rPr>
              <a:t>编码器（</a:t>
            </a:r>
            <a:r>
              <a:rPr lang="en-US" altLang="zh-CN" sz="1800" dirty="0">
                <a:latin typeface="微软雅黑" panose="020B0503020204020204" pitchFamily="34" charset="-122"/>
                <a:ea typeface="微软雅黑" panose="020B0503020204020204" pitchFamily="34" charset="-122"/>
              </a:rPr>
              <a:t>encoder-only</a:t>
            </a:r>
            <a:r>
              <a:rPr lang="zh-CN" altLang="en-US" sz="1800" dirty="0">
                <a:latin typeface="微软雅黑" panose="020B0503020204020204" pitchFamily="34" charset="-122"/>
                <a:ea typeface="微软雅黑" panose="020B0503020204020204" pitchFamily="34" charset="-122"/>
              </a:rPr>
              <a:t>），采用了双向自注意力机制，模型在处理输入序列时能</a:t>
            </a:r>
            <a:r>
              <a:rPr lang="zh-CN" altLang="en-US" sz="1800" b="1" dirty="0">
                <a:latin typeface="微软雅黑" panose="020B0503020204020204" pitchFamily="34" charset="-122"/>
                <a:ea typeface="微软雅黑" panose="020B0503020204020204" pitchFamily="34" charset="-122"/>
              </a:rPr>
              <a:t>考虑上下文的所有 </a:t>
            </a:r>
            <a:r>
              <a:rPr lang="en-US" altLang="zh-CN" sz="1800" b="1" dirty="0">
                <a:latin typeface="微软雅黑" panose="020B0503020204020204" pitchFamily="34" charset="-122"/>
                <a:ea typeface="微软雅黑" panose="020B0503020204020204" pitchFamily="34" charset="-122"/>
              </a:rPr>
              <a:t>token</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代表模型：</a:t>
            </a:r>
            <a:r>
              <a:rPr lang="en-US" altLang="zh-CN" sz="1800" dirty="0">
                <a:latin typeface="微软雅黑" panose="020B0503020204020204" pitchFamily="34" charset="-122"/>
                <a:ea typeface="微软雅黑" panose="020B0503020204020204" pitchFamily="34" charset="-122"/>
              </a:rPr>
              <a:t>Bert, Roberta</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lgn="l">
              <a:lnSpc>
                <a:spcPct val="160000"/>
              </a:lnSpc>
            </a:pPr>
            <a:endParaRPr lang="en-US" altLang="zh-CN" dirty="0">
              <a:latin typeface="微软雅黑" panose="020B0503020204020204" pitchFamily="34" charset="-122"/>
              <a:ea typeface="微软雅黑" panose="020B0503020204020204" pitchFamily="34" charset="-122"/>
            </a:endParaRPr>
          </a:p>
          <a:p>
            <a:pPr marL="285750" indent="-285750" algn="l">
              <a:lnSpc>
                <a:spcPct val="160000"/>
              </a:lnSpc>
              <a:buFont typeface="Wingdings" panose="05000000000000000000" pitchFamily="2" charset="2"/>
              <a:buChar char="l"/>
            </a:pPr>
            <a:r>
              <a:rPr lang="en-US" altLang="zh-CN" sz="1800" b="1" dirty="0">
                <a:latin typeface="微软雅黑" panose="020B0503020204020204" pitchFamily="34" charset="-122"/>
                <a:ea typeface="微软雅黑" panose="020B0503020204020204" pitchFamily="34" charset="-122"/>
              </a:rPr>
              <a:t>Decoder-only</a:t>
            </a:r>
            <a:r>
              <a:rPr lang="zh-CN" altLang="en-US" sz="1800" b="1" dirty="0">
                <a:latin typeface="微软雅黑" panose="020B0503020204020204" pitchFamily="34" charset="-122"/>
                <a:ea typeface="微软雅黑" panose="020B0503020204020204" pitchFamily="34" charset="-122"/>
              </a:rPr>
              <a:t>流派：</a:t>
            </a:r>
            <a:r>
              <a:rPr lang="zh-CN" altLang="en-US" sz="1800" dirty="0">
                <a:latin typeface="微软雅黑" panose="020B0503020204020204" pitchFamily="34" charset="-122"/>
                <a:ea typeface="微软雅黑" panose="020B0503020204020204" pitchFamily="34" charset="-122"/>
              </a:rPr>
              <a:t>仅包含</a:t>
            </a:r>
            <a:r>
              <a:rPr lang="en-US" altLang="zh-CN" sz="1800" dirty="0">
                <a:latin typeface="微软雅黑" panose="020B0503020204020204" pitchFamily="34" charset="-122"/>
                <a:ea typeface="微软雅黑" panose="020B0503020204020204" pitchFamily="34" charset="-122"/>
              </a:rPr>
              <a:t>Transformer</a:t>
            </a:r>
            <a:r>
              <a:rPr lang="zh-CN" altLang="en-US" sz="1800" dirty="0">
                <a:latin typeface="微软雅黑" panose="020B0503020204020204" pitchFamily="34" charset="-122"/>
                <a:ea typeface="微软雅黑" panose="020B0503020204020204" pitchFamily="34" charset="-122"/>
              </a:rPr>
              <a:t>解码器（</a:t>
            </a:r>
            <a:r>
              <a:rPr lang="en-US" altLang="zh-CN" sz="1800" dirty="0">
                <a:latin typeface="微软雅黑" panose="020B0503020204020204" pitchFamily="34" charset="-122"/>
                <a:ea typeface="微软雅黑" panose="020B0503020204020204" pitchFamily="34" charset="-122"/>
              </a:rPr>
              <a:t>decoder-only</a:t>
            </a:r>
            <a:r>
              <a:rPr lang="zh-CN" altLang="en-US" sz="1800" dirty="0">
                <a:latin typeface="微软雅黑" panose="020B0503020204020204" pitchFamily="34" charset="-122"/>
                <a:ea typeface="微软雅黑" panose="020B0503020204020204" pitchFamily="34" charset="-122"/>
              </a:rPr>
              <a:t>），采用了掩码自注意力机制，模型执行自回归（</a:t>
            </a:r>
            <a:r>
              <a:rPr lang="en-US" altLang="zh-CN" sz="1800" dirty="0">
                <a:latin typeface="微软雅黑" panose="020B0503020204020204" pitchFamily="34" charset="-122"/>
                <a:ea typeface="微软雅黑" panose="020B0503020204020204" pitchFamily="34" charset="-122"/>
              </a:rPr>
              <a:t>auto-regressive</a:t>
            </a:r>
            <a:r>
              <a:rPr lang="zh-CN" altLang="en-US" sz="1800" dirty="0">
                <a:latin typeface="微软雅黑" panose="020B0503020204020204" pitchFamily="34" charset="-122"/>
                <a:ea typeface="微软雅黑" panose="020B0503020204020204" pitchFamily="34" charset="-122"/>
              </a:rPr>
              <a:t>）形式的预测，在计算</a:t>
            </a:r>
            <a:r>
              <a:rPr lang="zh-CN" altLang="en-US" sz="1800" b="1" dirty="0">
                <a:latin typeface="微软雅黑" panose="020B0503020204020204" pitchFamily="34" charset="-122"/>
                <a:ea typeface="微软雅黑" panose="020B0503020204020204" pitchFamily="34" charset="-122"/>
              </a:rPr>
              <a:t>每个 </a:t>
            </a:r>
            <a:r>
              <a:rPr lang="en-US" altLang="zh-CN" sz="1800" b="1" dirty="0">
                <a:latin typeface="微软雅黑" panose="020B0503020204020204" pitchFamily="34" charset="-122"/>
                <a:ea typeface="微软雅黑" panose="020B0503020204020204" pitchFamily="34" charset="-122"/>
              </a:rPr>
              <a:t>token </a:t>
            </a:r>
            <a:r>
              <a:rPr lang="zh-CN" altLang="en-US" sz="1800" b="1" dirty="0">
                <a:latin typeface="微软雅黑" panose="020B0503020204020204" pitchFamily="34" charset="-122"/>
                <a:ea typeface="微软雅黑" panose="020B0503020204020204" pitchFamily="34" charset="-122"/>
              </a:rPr>
              <a:t>的注意力时后续位置是被“遮罩”起来</a:t>
            </a:r>
            <a:r>
              <a:rPr lang="zh-CN" altLang="en-US" sz="1800" dirty="0">
                <a:latin typeface="微软雅黑" panose="020B0503020204020204" pitchFamily="34" charset="-122"/>
                <a:ea typeface="微软雅黑" panose="020B0503020204020204" pitchFamily="34" charset="-122"/>
              </a:rPr>
              <a:t>的、只能使用前面位置的信息。</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代表模型</a:t>
            </a:r>
            <a:r>
              <a:rPr lang="en-US" altLang="zh-CN" sz="1800" dirty="0">
                <a:latin typeface="微软雅黑" panose="020B0503020204020204" pitchFamily="34" charset="-122"/>
                <a:ea typeface="微软雅黑" panose="020B0503020204020204" pitchFamily="34" charset="-122"/>
              </a:rPr>
              <a:t>OpenAI </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GPT</a:t>
            </a:r>
            <a:r>
              <a:rPr lang="zh-CN" altLang="en-US" sz="1800" dirty="0">
                <a:latin typeface="微软雅黑" panose="020B0503020204020204" pitchFamily="34" charset="-122"/>
                <a:ea typeface="微软雅黑" panose="020B0503020204020204" pitchFamily="34" charset="-122"/>
              </a:rPr>
              <a:t>系列，</a:t>
            </a:r>
            <a:r>
              <a:rPr lang="en-US" altLang="zh-CN" sz="1800" dirty="0">
                <a:latin typeface="微软雅黑" panose="020B0503020204020204" pitchFamily="34" charset="-122"/>
                <a:ea typeface="微软雅黑" panose="020B0503020204020204" pitchFamily="34" charset="-122"/>
              </a:rPr>
              <a:t>Meta</a:t>
            </a:r>
            <a:r>
              <a:rPr lang="zh-CN" altLang="en-US" sz="1800" dirty="0">
                <a:latin typeface="微软雅黑" panose="020B0503020204020204" pitchFamily="34" charset="-122"/>
                <a:ea typeface="微软雅黑" panose="020B0503020204020204" pitchFamily="34" charset="-122"/>
              </a:rPr>
              <a:t>的</a:t>
            </a:r>
            <a:r>
              <a:rPr lang="en-US" altLang="zh-CN" sz="1800" dirty="0">
                <a:latin typeface="微软雅黑" panose="020B0503020204020204" pitchFamily="34" charset="-122"/>
                <a:ea typeface="微软雅黑" panose="020B0503020204020204" pitchFamily="34" charset="-122"/>
              </a:rPr>
              <a:t>OPT</a:t>
            </a:r>
            <a:r>
              <a:rPr lang="zh-CN" altLang="en-US" sz="1800" dirty="0">
                <a:latin typeface="微软雅黑" panose="020B0503020204020204" pitchFamily="34" charset="-122"/>
                <a:ea typeface="微软雅黑" panose="020B0503020204020204" pitchFamily="34" charset="-122"/>
              </a:rPr>
              <a:t>系列。</a:t>
            </a:r>
            <a:endParaRPr lang="en-US" altLang="zh-CN" sz="1800" dirty="0">
              <a:latin typeface="微软雅黑" panose="020B0503020204020204" pitchFamily="34" charset="-122"/>
              <a:ea typeface="微软雅黑" panose="020B0503020204020204" pitchFamily="34" charset="-122"/>
            </a:endParaRPr>
          </a:p>
          <a:p>
            <a:pPr algn="l">
              <a:lnSpc>
                <a:spcPct val="160000"/>
              </a:lnSpc>
            </a:pPr>
            <a:endParaRPr lang="en-US" altLang="zh-CN" dirty="0">
              <a:latin typeface="微软雅黑" panose="020B0503020204020204" pitchFamily="34" charset="-122"/>
              <a:ea typeface="微软雅黑" panose="020B0503020204020204" pitchFamily="34" charset="-122"/>
            </a:endParaRPr>
          </a:p>
          <a:p>
            <a:pPr marL="342900" indent="-342900" algn="l">
              <a:lnSpc>
                <a:spcPct val="160000"/>
              </a:lnSpc>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Encoder-Decoder</a:t>
            </a:r>
            <a:r>
              <a:rPr lang="zh-CN" altLang="en-US" sz="2000" b="1" dirty="0">
                <a:latin typeface="微软雅黑" panose="020B0503020204020204" pitchFamily="34" charset="-122"/>
                <a:ea typeface="微软雅黑" panose="020B0503020204020204" pitchFamily="34" charset="-122"/>
              </a:rPr>
              <a:t>流派：</a:t>
            </a:r>
            <a:r>
              <a:rPr lang="zh-CN" altLang="en-US" sz="2000" dirty="0">
                <a:latin typeface="微软雅黑" panose="020B0503020204020204" pitchFamily="34" charset="-122"/>
                <a:ea typeface="微软雅黑" panose="020B0503020204020204" pitchFamily="34" charset="-122"/>
              </a:rPr>
              <a:t>采用序列到序列形式，同时包含了编码器和解码器模块（</a:t>
            </a:r>
            <a:r>
              <a:rPr lang="en-US" altLang="zh-CN" sz="2000" dirty="0">
                <a:latin typeface="微软雅黑" panose="020B0503020204020204" pitchFamily="34" charset="-122"/>
                <a:ea typeface="微软雅黑" panose="020B0503020204020204" pitchFamily="34" charset="-122"/>
              </a:rPr>
              <a:t>Encoder-Decoder</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代表模型</a:t>
            </a:r>
            <a:r>
              <a:rPr lang="en-US" altLang="zh-CN" sz="2000" dirty="0">
                <a:latin typeface="微软雅黑" panose="020B0503020204020204" pitchFamily="34" charset="-122"/>
                <a:ea typeface="微软雅黑" panose="020B0503020204020204" pitchFamily="34" charset="-122"/>
              </a:rPr>
              <a:t>Google</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T5</a:t>
            </a:r>
            <a:r>
              <a:rPr lang="zh-CN" altLang="en-US" sz="2000" dirty="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7FE33722-6515-F3F7-72FC-59B6593824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0696" y="662812"/>
            <a:ext cx="2420681" cy="2175547"/>
          </a:xfrm>
          <a:prstGeom prst="rect">
            <a:avLst/>
          </a:prstGeom>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54D8BADA-23BF-FD21-984E-E258B9DF7E1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31" t="61205" r="55414" b="1199"/>
          <a:stretch/>
        </p:blipFill>
        <p:spPr>
          <a:xfrm>
            <a:off x="5873015" y="2996523"/>
            <a:ext cx="3098987" cy="1428070"/>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CF2EAF03-B59D-2227-EE72-586E00AD65AB}"/>
              </a:ext>
            </a:extLst>
          </p:cNvPr>
          <p:cNvPicPr>
            <a:picLocks noChangeAspect="1"/>
          </p:cNvPicPr>
          <p:nvPr/>
        </p:nvPicPr>
        <p:blipFill>
          <a:blip r:embed="rId5"/>
          <a:stretch>
            <a:fillRect/>
          </a:stretch>
        </p:blipFill>
        <p:spPr>
          <a:xfrm>
            <a:off x="5773974" y="4832742"/>
            <a:ext cx="3297068" cy="1650051"/>
          </a:xfrm>
          <a:prstGeom prst="rect">
            <a:avLst/>
          </a:prstGeom>
          <a:effectLst>
            <a:outerShdw blurRad="50800" dist="38100" dir="2700000" algn="tl" rotWithShape="0">
              <a:prstClr val="black">
                <a:alpha val="40000"/>
              </a:prstClr>
            </a:outerShdw>
          </a:effectLst>
        </p:spPr>
      </p:pic>
      <p:sp>
        <p:nvSpPr>
          <p:cNvPr id="7" name="文本框 6">
            <a:extLst>
              <a:ext uri="{FF2B5EF4-FFF2-40B4-BE49-F238E27FC236}">
                <a16:creationId xmlns:a16="http://schemas.microsoft.com/office/drawing/2014/main" id="{AB469080-9179-D488-E610-C77C7BF1153C}"/>
              </a:ext>
            </a:extLst>
          </p:cNvPr>
          <p:cNvSpPr txBox="1"/>
          <p:nvPr/>
        </p:nvSpPr>
        <p:spPr>
          <a:xfrm>
            <a:off x="6432195" y="658211"/>
            <a:ext cx="2249182" cy="523220"/>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适合文本理解、分类、预测等任务</a:t>
            </a:r>
          </a:p>
        </p:txBody>
      </p:sp>
      <p:sp>
        <p:nvSpPr>
          <p:cNvPr id="8" name="文本框 7">
            <a:extLst>
              <a:ext uri="{FF2B5EF4-FFF2-40B4-BE49-F238E27FC236}">
                <a16:creationId xmlns:a16="http://schemas.microsoft.com/office/drawing/2014/main" id="{1E1F6EFF-263B-E5D8-72FB-4B420DE1B536}"/>
              </a:ext>
            </a:extLst>
          </p:cNvPr>
          <p:cNvSpPr txBox="1"/>
          <p:nvPr/>
        </p:nvSpPr>
        <p:spPr>
          <a:xfrm>
            <a:off x="5842765" y="2894546"/>
            <a:ext cx="358069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适合文本生成类型任务</a:t>
            </a:r>
          </a:p>
        </p:txBody>
      </p:sp>
      <p:sp>
        <p:nvSpPr>
          <p:cNvPr id="9" name="文本框 8">
            <a:extLst>
              <a:ext uri="{FF2B5EF4-FFF2-40B4-BE49-F238E27FC236}">
                <a16:creationId xmlns:a16="http://schemas.microsoft.com/office/drawing/2014/main" id="{EC0005CF-88BF-650E-9BDB-E7E504FC97EA}"/>
              </a:ext>
            </a:extLst>
          </p:cNvPr>
          <p:cNvSpPr txBox="1"/>
          <p:nvPr/>
        </p:nvSpPr>
        <p:spPr>
          <a:xfrm>
            <a:off x="5773974" y="4706137"/>
            <a:ext cx="358069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适合翻译、对话类型任务</a:t>
            </a:r>
            <a:endParaRPr lang="en-US" altLang="zh-CN"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03049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33DD-02D0-FC4C-2D29-EF02528495B6}"/>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4B6AB91-6922-1336-C494-A4DF319C1AD8}"/>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18456B5A-56D1-6F7E-65BA-86481D1BBD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607F1788-2588-6F71-8B59-1FFDBC038FC6}"/>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内容占位符 2">
            <a:extLst>
              <a:ext uri="{FF2B5EF4-FFF2-40B4-BE49-F238E27FC236}">
                <a16:creationId xmlns:a16="http://schemas.microsoft.com/office/drawing/2014/main" id="{2B431743-AF5F-7D62-6676-1DBEB8C1AC51}"/>
              </a:ext>
            </a:extLst>
          </p:cNvPr>
          <p:cNvSpPr txBox="1">
            <a:spLocks/>
          </p:cNvSpPr>
          <p:nvPr/>
        </p:nvSpPr>
        <p:spPr>
          <a:xfrm>
            <a:off x="622039" y="5756826"/>
            <a:ext cx="7671735" cy="9928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zh-CN" altLang="en-US" dirty="0">
              <a:latin typeface="Microsoft YaHei" panose="020B0503020204020204" pitchFamily="34" charset="-122"/>
              <a:ea typeface="Microsoft YaHei" panose="020B0503020204020204" pitchFamily="34" charset="-122"/>
            </a:endParaRPr>
          </a:p>
        </p:txBody>
      </p:sp>
      <p:sp>
        <p:nvSpPr>
          <p:cNvPr id="16" name="内容占位符 2">
            <a:extLst>
              <a:ext uri="{FF2B5EF4-FFF2-40B4-BE49-F238E27FC236}">
                <a16:creationId xmlns:a16="http://schemas.microsoft.com/office/drawing/2014/main" id="{7EFFBB49-972C-4A82-BD94-A15A5F4648AB}"/>
              </a:ext>
            </a:extLst>
          </p:cNvPr>
          <p:cNvSpPr txBox="1">
            <a:spLocks/>
          </p:cNvSpPr>
          <p:nvPr/>
        </p:nvSpPr>
        <p:spPr>
          <a:xfrm>
            <a:off x="465515" y="4085438"/>
            <a:ext cx="4962524" cy="186850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数据</a:t>
            </a:r>
            <a:r>
              <a:rPr lang="zh-CN" altLang="en-US" sz="1400" b="1" dirty="0">
                <a:latin typeface="微软雅黑" panose="020B0503020204020204" pitchFamily="34" charset="-122"/>
                <a:ea typeface="微软雅黑" panose="020B0503020204020204" pitchFamily="34" charset="-122"/>
              </a:rPr>
              <a:t>多</a:t>
            </a:r>
            <a:r>
              <a:rPr lang="zh-CN" altLang="en-US" sz="1400" dirty="0">
                <a:latin typeface="微软雅黑" panose="020B0503020204020204" pitchFamily="34" charset="-122"/>
                <a:ea typeface="微软雅黑" panose="020B0503020204020204" pitchFamily="34" charset="-122"/>
              </a:rPr>
              <a:t>源：书籍、网页、新闻、百科、代码等类型。</a:t>
            </a:r>
            <a:endParaRPr lang="en-US" altLang="zh-CN" sz="1400" dirty="0">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内容</a:t>
            </a:r>
            <a:r>
              <a:rPr lang="zh-CN" altLang="en-US" sz="1400" b="1" dirty="0">
                <a:latin typeface="微软雅黑" panose="020B0503020204020204" pitchFamily="34" charset="-122"/>
                <a:ea typeface="微软雅黑" panose="020B0503020204020204" pitchFamily="34" charset="-122"/>
              </a:rPr>
              <a:t>丰富</a:t>
            </a:r>
            <a:r>
              <a:rPr lang="zh-CN" altLang="en-US" sz="1400" dirty="0">
                <a:latin typeface="微软雅黑" panose="020B0503020204020204" pitchFamily="34" charset="-122"/>
                <a:ea typeface="微软雅黑" panose="020B0503020204020204" pitchFamily="34" charset="-122"/>
              </a:rPr>
              <a:t>：书籍方面有 </a:t>
            </a:r>
            <a:r>
              <a:rPr lang="en-US" altLang="zh-CN" sz="1400" dirty="0" err="1">
                <a:latin typeface="微软雅黑" panose="020B0503020204020204" pitchFamily="34" charset="-122"/>
                <a:ea typeface="微软雅黑" panose="020B0503020204020204" pitchFamily="34" charset="-122"/>
              </a:rPr>
              <a:t>BookCorpus</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Project Gutenberg</a:t>
            </a:r>
            <a:r>
              <a:rPr lang="zh-CN" altLang="en-US" sz="1400" dirty="0">
                <a:latin typeface="微软雅黑" panose="020B0503020204020204" pitchFamily="34" charset="-122"/>
                <a:ea typeface="微软雅黑" panose="020B0503020204020204" pitchFamily="34" charset="-122"/>
              </a:rPr>
              <a:t>等；代码通常来源于 </a:t>
            </a:r>
            <a:r>
              <a:rPr lang="en-US" altLang="zh-CN" sz="1400" dirty="0">
                <a:latin typeface="微软雅黑" panose="020B0503020204020204" pitchFamily="34" charset="-122"/>
                <a:ea typeface="微软雅黑" panose="020B0503020204020204" pitchFamily="34" charset="-122"/>
              </a:rPr>
              <a:t>GitHub</a:t>
            </a:r>
            <a:r>
              <a:rPr lang="zh-CN" altLang="en-US"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StackOverflow</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等平台；等等。</a:t>
            </a:r>
            <a:endParaRPr lang="en-US" altLang="zh-CN" sz="1400" dirty="0">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形式</a:t>
            </a:r>
            <a:r>
              <a:rPr lang="zh-CN" altLang="en-US" sz="1400" b="1" dirty="0">
                <a:latin typeface="微软雅黑" panose="020B0503020204020204" pitchFamily="34" charset="-122"/>
                <a:ea typeface="微软雅黑" panose="020B0503020204020204" pitchFamily="34" charset="-122"/>
              </a:rPr>
              <a:t>多</a:t>
            </a:r>
            <a:r>
              <a:rPr lang="zh-CN" altLang="en-US" sz="1400" dirty="0">
                <a:latin typeface="微软雅黑" panose="020B0503020204020204" pitchFamily="34" charset="-122"/>
                <a:ea typeface="微软雅黑" panose="020B0503020204020204" pitchFamily="34" charset="-122"/>
              </a:rPr>
              <a:t>样：文本、</a:t>
            </a:r>
            <a:r>
              <a:rPr lang="en-US" altLang="zh-CN" sz="1400" dirty="0">
                <a:latin typeface="微软雅黑" panose="020B0503020204020204" pitchFamily="34" charset="-122"/>
                <a:ea typeface="微软雅黑" panose="020B0503020204020204" pitchFamily="34" charset="-122"/>
              </a:rPr>
              <a:t>PDF</a:t>
            </a:r>
            <a:r>
              <a:rPr lang="zh-CN" altLang="en-US" sz="1400" dirty="0">
                <a:latin typeface="微软雅黑" panose="020B0503020204020204" pitchFamily="34" charset="-122"/>
                <a:ea typeface="微软雅黑" panose="020B0503020204020204" pitchFamily="34" charset="-122"/>
              </a:rPr>
              <a:t>、代码、对话、多种语言等。</a:t>
            </a:r>
          </a:p>
        </p:txBody>
      </p:sp>
      <p:pic>
        <p:nvPicPr>
          <p:cNvPr id="17" name="图片 16">
            <a:extLst>
              <a:ext uri="{FF2B5EF4-FFF2-40B4-BE49-F238E27FC236}">
                <a16:creationId xmlns:a16="http://schemas.microsoft.com/office/drawing/2014/main" id="{858050AB-6958-4565-A7AA-7B7A80F2BFD6}"/>
              </a:ext>
            </a:extLst>
          </p:cNvPr>
          <p:cNvPicPr>
            <a:picLocks noChangeAspect="1"/>
          </p:cNvPicPr>
          <p:nvPr/>
        </p:nvPicPr>
        <p:blipFill rotWithShape="1">
          <a:blip r:embed="rId3"/>
          <a:srcRect l="2131" r="1816"/>
          <a:stretch/>
        </p:blipFill>
        <p:spPr>
          <a:xfrm>
            <a:off x="0" y="775411"/>
            <a:ext cx="6436655" cy="2844090"/>
          </a:xfrm>
          <a:prstGeom prst="rect">
            <a:avLst/>
          </a:prstGeom>
        </p:spPr>
      </p:pic>
      <p:graphicFrame>
        <p:nvGraphicFramePr>
          <p:cNvPr id="18" name="图示 17">
            <a:extLst>
              <a:ext uri="{FF2B5EF4-FFF2-40B4-BE49-F238E27FC236}">
                <a16:creationId xmlns:a16="http://schemas.microsoft.com/office/drawing/2014/main" id="{5E2BEFF6-5E80-40D7-929C-7F9A549FD2B7}"/>
              </a:ext>
            </a:extLst>
          </p:cNvPr>
          <p:cNvGraphicFramePr/>
          <p:nvPr>
            <p:extLst>
              <p:ext uri="{D42A27DB-BD31-4B8C-83A1-F6EECF244321}">
                <p14:modId xmlns:p14="http://schemas.microsoft.com/office/powerpoint/2010/main" val="2378843128"/>
              </p:ext>
            </p:extLst>
          </p:nvPr>
        </p:nvGraphicFramePr>
        <p:xfrm>
          <a:off x="5271515" y="1383468"/>
          <a:ext cx="3787080" cy="47302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008749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33DD-02D0-FC4C-2D29-EF02528495B6}"/>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C4B6AB91-6922-1336-C494-A4DF319C1AD8}"/>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18456B5A-56D1-6F7E-65BA-86481D1BBD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607F1788-2588-6F71-8B59-1FFDBC038FC6}"/>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内容占位符 2">
            <a:extLst>
              <a:ext uri="{FF2B5EF4-FFF2-40B4-BE49-F238E27FC236}">
                <a16:creationId xmlns:a16="http://schemas.microsoft.com/office/drawing/2014/main" id="{2B431743-AF5F-7D62-6676-1DBEB8C1AC51}"/>
              </a:ext>
            </a:extLst>
          </p:cNvPr>
          <p:cNvSpPr txBox="1">
            <a:spLocks/>
          </p:cNvSpPr>
          <p:nvPr/>
        </p:nvSpPr>
        <p:spPr>
          <a:xfrm>
            <a:off x="622039" y="5756826"/>
            <a:ext cx="7671735" cy="9928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en-US" altLang="zh-CN" dirty="0">
              <a:latin typeface="Microsoft YaHei" panose="020B0503020204020204" pitchFamily="34" charset="-122"/>
              <a:ea typeface="Microsoft YaHei" panose="020B0503020204020204" pitchFamily="34" charset="-122"/>
            </a:endParaRPr>
          </a:p>
          <a:p>
            <a:pPr algn="l"/>
            <a:endParaRPr lang="zh-CN" altLang="en-US"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42D8D689-794D-F3AD-7AC5-FAEFBF3C02E3}"/>
              </a:ext>
            </a:extLst>
          </p:cNvPr>
          <p:cNvPicPr>
            <a:picLocks noChangeAspect="1"/>
          </p:cNvPicPr>
          <p:nvPr/>
        </p:nvPicPr>
        <p:blipFill>
          <a:blip r:embed="rId3"/>
          <a:stretch>
            <a:fillRect/>
          </a:stretch>
        </p:blipFill>
        <p:spPr>
          <a:xfrm>
            <a:off x="1639150" y="2582331"/>
            <a:ext cx="7330727" cy="1084816"/>
          </a:xfrm>
          <a:prstGeom prst="rect">
            <a:avLst/>
          </a:prstGeom>
        </p:spPr>
      </p:pic>
      <p:sp>
        <p:nvSpPr>
          <p:cNvPr id="4" name="文本框 3">
            <a:extLst>
              <a:ext uri="{FF2B5EF4-FFF2-40B4-BE49-F238E27FC236}">
                <a16:creationId xmlns:a16="http://schemas.microsoft.com/office/drawing/2014/main" id="{50CD0911-B3F0-0374-CAB0-E83B3190793E}"/>
              </a:ext>
            </a:extLst>
          </p:cNvPr>
          <p:cNvSpPr txBox="1"/>
          <p:nvPr/>
        </p:nvSpPr>
        <p:spPr>
          <a:xfrm>
            <a:off x="265889" y="3055723"/>
            <a:ext cx="1579278" cy="369332"/>
          </a:xfrm>
          <a:prstGeom prst="rect">
            <a:avLst/>
          </a:prstGeom>
          <a:noFill/>
        </p:spPr>
        <p:txBody>
          <a:bodyPr wrap="none" rtlCol="0">
            <a:spAutoFit/>
          </a:bodyPr>
          <a:lstStyle/>
          <a:p>
            <a:r>
              <a:rPr lang="en-US" altLang="zh-CN" dirty="0" err="1"/>
              <a:t>OpenAI</a:t>
            </a:r>
            <a:r>
              <a:rPr lang="zh-CN" altLang="en-US" dirty="0"/>
              <a:t>系列：</a:t>
            </a:r>
          </a:p>
        </p:txBody>
      </p:sp>
      <p:sp>
        <p:nvSpPr>
          <p:cNvPr id="5" name="文本框 4">
            <a:extLst>
              <a:ext uri="{FF2B5EF4-FFF2-40B4-BE49-F238E27FC236}">
                <a16:creationId xmlns:a16="http://schemas.microsoft.com/office/drawing/2014/main" id="{47CAE0D5-15FA-03C9-C7B0-707ED180E24C}"/>
              </a:ext>
            </a:extLst>
          </p:cNvPr>
          <p:cNvSpPr txBox="1"/>
          <p:nvPr/>
        </p:nvSpPr>
        <p:spPr>
          <a:xfrm>
            <a:off x="265889" y="4166392"/>
            <a:ext cx="1373261" cy="369332"/>
          </a:xfrm>
          <a:prstGeom prst="rect">
            <a:avLst/>
          </a:prstGeom>
          <a:noFill/>
        </p:spPr>
        <p:txBody>
          <a:bodyPr wrap="none" rtlCol="0">
            <a:spAutoFit/>
          </a:bodyPr>
          <a:lstStyle/>
          <a:p>
            <a:r>
              <a:rPr lang="en-US" altLang="zh-CN" dirty="0"/>
              <a:t>Meta</a:t>
            </a:r>
            <a:r>
              <a:rPr lang="zh-CN" altLang="en-US" dirty="0"/>
              <a:t>系列：</a:t>
            </a:r>
          </a:p>
        </p:txBody>
      </p:sp>
      <p:pic>
        <p:nvPicPr>
          <p:cNvPr id="6" name="图片 5">
            <a:extLst>
              <a:ext uri="{FF2B5EF4-FFF2-40B4-BE49-F238E27FC236}">
                <a16:creationId xmlns:a16="http://schemas.microsoft.com/office/drawing/2014/main" id="{5F958EEE-BE06-B714-7865-BB9D2244B5E4}"/>
              </a:ext>
            </a:extLst>
          </p:cNvPr>
          <p:cNvPicPr>
            <a:picLocks noChangeAspect="1"/>
          </p:cNvPicPr>
          <p:nvPr/>
        </p:nvPicPr>
        <p:blipFill>
          <a:blip r:embed="rId4"/>
          <a:stretch>
            <a:fillRect/>
          </a:stretch>
        </p:blipFill>
        <p:spPr>
          <a:xfrm>
            <a:off x="1591471" y="3635329"/>
            <a:ext cx="3087040" cy="1739909"/>
          </a:xfrm>
          <a:prstGeom prst="rect">
            <a:avLst/>
          </a:prstGeom>
        </p:spPr>
      </p:pic>
      <p:sp>
        <p:nvSpPr>
          <p:cNvPr id="7" name="文本框 6">
            <a:extLst>
              <a:ext uri="{FF2B5EF4-FFF2-40B4-BE49-F238E27FC236}">
                <a16:creationId xmlns:a16="http://schemas.microsoft.com/office/drawing/2014/main" id="{8968A232-1930-BE2C-A1D4-873BC00199A5}"/>
              </a:ext>
            </a:extLst>
          </p:cNvPr>
          <p:cNvSpPr txBox="1"/>
          <p:nvPr/>
        </p:nvSpPr>
        <p:spPr>
          <a:xfrm>
            <a:off x="4812620" y="3678615"/>
            <a:ext cx="1813317" cy="369332"/>
          </a:xfrm>
          <a:prstGeom prst="rect">
            <a:avLst/>
          </a:prstGeom>
          <a:noFill/>
        </p:spPr>
        <p:txBody>
          <a:bodyPr wrap="none" rtlCol="0">
            <a:spAutoFit/>
          </a:bodyPr>
          <a:lstStyle/>
          <a:p>
            <a:r>
              <a:rPr lang="en-US" altLang="zh-CN" dirty="0" err="1"/>
              <a:t>DeepSeek</a:t>
            </a:r>
            <a:r>
              <a:rPr lang="zh-CN" altLang="en-US" dirty="0"/>
              <a:t>系列：</a:t>
            </a:r>
          </a:p>
        </p:txBody>
      </p:sp>
      <p:pic>
        <p:nvPicPr>
          <p:cNvPr id="8" name="图片 7">
            <a:extLst>
              <a:ext uri="{FF2B5EF4-FFF2-40B4-BE49-F238E27FC236}">
                <a16:creationId xmlns:a16="http://schemas.microsoft.com/office/drawing/2014/main" id="{18790FBA-BFCA-9218-2917-2896872168A4}"/>
              </a:ext>
            </a:extLst>
          </p:cNvPr>
          <p:cNvPicPr>
            <a:picLocks noChangeAspect="1"/>
          </p:cNvPicPr>
          <p:nvPr/>
        </p:nvPicPr>
        <p:blipFill>
          <a:blip r:embed="rId5"/>
          <a:stretch>
            <a:fillRect/>
          </a:stretch>
        </p:blipFill>
        <p:spPr>
          <a:xfrm>
            <a:off x="6405009" y="3635329"/>
            <a:ext cx="1467397" cy="3129009"/>
          </a:xfrm>
          <a:prstGeom prst="rect">
            <a:avLst/>
          </a:prstGeom>
        </p:spPr>
      </p:pic>
      <p:pic>
        <p:nvPicPr>
          <p:cNvPr id="9" name="图片 8">
            <a:extLst>
              <a:ext uri="{FF2B5EF4-FFF2-40B4-BE49-F238E27FC236}">
                <a16:creationId xmlns:a16="http://schemas.microsoft.com/office/drawing/2014/main" id="{148DEB95-5693-E338-1A20-1FACED4E6E25}"/>
              </a:ext>
            </a:extLst>
          </p:cNvPr>
          <p:cNvPicPr>
            <a:picLocks noChangeAspect="1"/>
          </p:cNvPicPr>
          <p:nvPr/>
        </p:nvPicPr>
        <p:blipFill>
          <a:blip r:embed="rId6"/>
          <a:stretch>
            <a:fillRect/>
          </a:stretch>
        </p:blipFill>
        <p:spPr>
          <a:xfrm>
            <a:off x="1798730" y="5267464"/>
            <a:ext cx="3920549" cy="1231090"/>
          </a:xfrm>
          <a:prstGeom prst="rect">
            <a:avLst/>
          </a:prstGeom>
        </p:spPr>
      </p:pic>
      <p:sp>
        <p:nvSpPr>
          <p:cNvPr id="10" name="文本框 9">
            <a:extLst>
              <a:ext uri="{FF2B5EF4-FFF2-40B4-BE49-F238E27FC236}">
                <a16:creationId xmlns:a16="http://schemas.microsoft.com/office/drawing/2014/main" id="{4A9BC369-8ABE-473C-CDAC-1E4268B352F6}"/>
              </a:ext>
            </a:extLst>
          </p:cNvPr>
          <p:cNvSpPr txBox="1"/>
          <p:nvPr/>
        </p:nvSpPr>
        <p:spPr>
          <a:xfrm>
            <a:off x="271363" y="5513677"/>
            <a:ext cx="1432956" cy="369332"/>
          </a:xfrm>
          <a:prstGeom prst="rect">
            <a:avLst/>
          </a:prstGeom>
          <a:noFill/>
        </p:spPr>
        <p:txBody>
          <a:bodyPr wrap="none" rtlCol="0">
            <a:spAutoFit/>
          </a:bodyPr>
          <a:lstStyle/>
          <a:p>
            <a:r>
              <a:rPr lang="en-US" altLang="zh-CN" dirty="0" err="1"/>
              <a:t>Qwen</a:t>
            </a:r>
            <a:r>
              <a:rPr lang="zh-CN" altLang="en-US" dirty="0"/>
              <a:t>系列：</a:t>
            </a:r>
          </a:p>
        </p:txBody>
      </p:sp>
      <p:sp>
        <p:nvSpPr>
          <p:cNvPr id="11" name="文本框 10">
            <a:extLst>
              <a:ext uri="{FF2B5EF4-FFF2-40B4-BE49-F238E27FC236}">
                <a16:creationId xmlns:a16="http://schemas.microsoft.com/office/drawing/2014/main" id="{0CD08A11-D64D-8EDD-972A-1CD8D57FB1A7}"/>
              </a:ext>
            </a:extLst>
          </p:cNvPr>
          <p:cNvSpPr txBox="1"/>
          <p:nvPr/>
        </p:nvSpPr>
        <p:spPr>
          <a:xfrm>
            <a:off x="0" y="733626"/>
            <a:ext cx="4572000" cy="1993238"/>
          </a:xfrm>
          <a:prstGeom prst="rect">
            <a:avLst/>
          </a:prstGeom>
          <a:noFill/>
        </p:spPr>
        <p:txBody>
          <a:bodyPr wrap="square" rtlCol="0">
            <a:spAutoFit/>
          </a:bodyPr>
          <a:lstStyle/>
          <a:p>
            <a:pPr marL="285750" indent="-285750">
              <a:lnSpc>
                <a:spcPct val="150000"/>
              </a:lnSpc>
              <a:buFont typeface="Wingdings" pitchFamily="2" charset="2"/>
              <a:buChar char="Ø"/>
            </a:pPr>
            <a:r>
              <a:rPr kumimoji="1" lang="en-US" altLang="zh-CN" sz="1400" i="1" dirty="0">
                <a:latin typeface="Microsoft YaHei" panose="020B0503020204020204" pitchFamily="34" charset="-122"/>
                <a:ea typeface="Microsoft YaHei" panose="020B0503020204020204" pitchFamily="34" charset="-122"/>
              </a:rPr>
              <a:t>“Scaling Law”</a:t>
            </a:r>
            <a:r>
              <a:rPr kumimoji="1" lang="zh-CN" altLang="en-US" sz="1400" i="1" dirty="0">
                <a:latin typeface="Microsoft YaHei" panose="020B0503020204020204" pitchFamily="34" charset="-122"/>
                <a:ea typeface="Microsoft YaHei" panose="020B0503020204020204" pitchFamily="34" charset="-122"/>
              </a:rPr>
              <a:t>带来的智能涌现：</a:t>
            </a:r>
            <a:r>
              <a:rPr kumimoji="1" lang="en" altLang="zh-CN" sz="1400" i="1" dirty="0">
                <a:latin typeface="Microsoft YaHei" panose="020B0503020204020204" pitchFamily="34" charset="-122"/>
                <a:ea typeface="Microsoft YaHei" panose="020B0503020204020204" pitchFamily="34" charset="-122"/>
              </a:rPr>
              <a:t>GPT-3 </a:t>
            </a:r>
            <a:r>
              <a:rPr kumimoji="1" lang="zh-CN" altLang="en-US" sz="1400" i="1" dirty="0">
                <a:latin typeface="Microsoft YaHei" panose="020B0503020204020204" pitchFamily="34" charset="-122"/>
                <a:ea typeface="Microsoft YaHei" panose="020B0503020204020204" pitchFamily="34" charset="-122"/>
              </a:rPr>
              <a:t>可以通过“上下文学习”（</a:t>
            </a:r>
            <a:r>
              <a:rPr kumimoji="1" lang="en" altLang="zh-CN" sz="1400" i="1" dirty="0">
                <a:latin typeface="Microsoft YaHei" panose="020B0503020204020204" pitchFamily="34" charset="-122"/>
                <a:ea typeface="Microsoft YaHei" panose="020B0503020204020204" pitchFamily="34" charset="-122"/>
              </a:rPr>
              <a:t>In-Context Learning, ICL</a:t>
            </a:r>
            <a:r>
              <a:rPr kumimoji="1" lang="zh-CN" altLang="en" sz="1400" i="1" dirty="0">
                <a:latin typeface="Microsoft YaHei" panose="020B0503020204020204" pitchFamily="34" charset="-122"/>
                <a:ea typeface="Microsoft YaHei" panose="020B0503020204020204" pitchFamily="34" charset="-122"/>
              </a:rPr>
              <a:t>）</a:t>
            </a:r>
            <a:r>
              <a:rPr kumimoji="1" lang="zh-CN" altLang="en-US" sz="1400" i="1" dirty="0">
                <a:latin typeface="Microsoft YaHei" panose="020B0503020204020204" pitchFamily="34" charset="-122"/>
                <a:ea typeface="Microsoft YaHei" panose="020B0503020204020204" pitchFamily="34" charset="-122"/>
              </a:rPr>
              <a:t>的方 式来利用少样本数据解决下游任务，而 </a:t>
            </a:r>
            <a:r>
              <a:rPr kumimoji="1" lang="en" altLang="zh-CN" sz="1400" i="1" dirty="0">
                <a:latin typeface="Microsoft YaHei" panose="020B0503020204020204" pitchFamily="34" charset="-122"/>
                <a:ea typeface="Microsoft YaHei" panose="020B0503020204020204" pitchFamily="34" charset="-122"/>
              </a:rPr>
              <a:t>GPT-2 </a:t>
            </a:r>
            <a:r>
              <a:rPr kumimoji="1" lang="zh-CN" altLang="en-US" sz="1400" i="1" dirty="0">
                <a:latin typeface="Microsoft YaHei" panose="020B0503020204020204" pitchFamily="34" charset="-122"/>
                <a:ea typeface="Microsoft YaHei" panose="020B0503020204020204" pitchFamily="34" charset="-122"/>
              </a:rPr>
              <a:t>则不具备这一能力。这种大模型具有但小模型不具有的能力通常被称为“涌现能力” </a:t>
            </a:r>
            <a:r>
              <a:rPr kumimoji="1" lang="zh-CN" altLang="en" sz="1400" i="1" dirty="0">
                <a:latin typeface="Microsoft YaHei" panose="020B0503020204020204" pitchFamily="34" charset="-122"/>
                <a:ea typeface="Microsoft YaHei" panose="020B0503020204020204" pitchFamily="34" charset="-122"/>
              </a:rPr>
              <a:t>。</a:t>
            </a:r>
          </a:p>
          <a:p>
            <a:pPr marL="285750" indent="-285750">
              <a:lnSpc>
                <a:spcPct val="150000"/>
              </a:lnSpc>
              <a:buFont typeface="Wingdings" pitchFamily="2" charset="2"/>
              <a:buChar char="Ø"/>
            </a:pPr>
            <a:endParaRPr kumimoji="1" lang="zh-CN" altLang="en-US" sz="1400" i="1" dirty="0">
              <a:latin typeface="Microsoft YaHei" panose="020B0503020204020204" pitchFamily="34" charset="-122"/>
              <a:ea typeface="Microsoft YaHei" panose="020B0503020204020204" pitchFamily="34" charset="-122"/>
            </a:endParaRPr>
          </a:p>
        </p:txBody>
      </p:sp>
      <p:pic>
        <p:nvPicPr>
          <p:cNvPr id="13" name="图片 12">
            <a:extLst>
              <a:ext uri="{FF2B5EF4-FFF2-40B4-BE49-F238E27FC236}">
                <a16:creationId xmlns:a16="http://schemas.microsoft.com/office/drawing/2014/main" id="{6B48B7F3-D50F-AD3B-FE79-FB0B94EC1C47}"/>
              </a:ext>
            </a:extLst>
          </p:cNvPr>
          <p:cNvPicPr>
            <a:picLocks noChangeAspect="1"/>
          </p:cNvPicPr>
          <p:nvPr/>
        </p:nvPicPr>
        <p:blipFill>
          <a:blip r:embed="rId7">
            <a:extLst>
              <a:ext uri="{28A0092B-C50C-407E-A947-70E740481C1C}">
                <a14:useLocalDpi xmlns:a14="http://schemas.microsoft.com/office/drawing/2010/main" val="0"/>
              </a:ext>
            </a:extLst>
          </a:blip>
          <a:srcRect t="21556" r="9721" b="3191"/>
          <a:stretch>
            <a:fillRect/>
          </a:stretch>
        </p:blipFill>
        <p:spPr>
          <a:xfrm>
            <a:off x="4683555" y="265492"/>
            <a:ext cx="4286322" cy="2405064"/>
          </a:xfrm>
          <a:prstGeom prst="rect">
            <a:avLst/>
          </a:prstGeom>
        </p:spPr>
      </p:pic>
    </p:spTree>
    <p:extLst>
      <p:ext uri="{BB962C8B-B14F-4D97-AF65-F5344CB8AC3E}">
        <p14:creationId xmlns:p14="http://schemas.microsoft.com/office/powerpoint/2010/main" val="3524542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58540028-6921-FC7B-00BB-D3770EB2A4E4}"/>
              </a:ext>
            </a:extLst>
          </p:cNvPr>
          <p:cNvPicPr>
            <a:picLocks noChangeAspect="1"/>
          </p:cNvPicPr>
          <p:nvPr/>
        </p:nvPicPr>
        <p:blipFill rotWithShape="1">
          <a:blip r:embed="rId3"/>
          <a:srcRect l="5996" r="5145" b="9859"/>
          <a:stretch/>
        </p:blipFill>
        <p:spPr>
          <a:xfrm>
            <a:off x="100181" y="1096399"/>
            <a:ext cx="6640028" cy="1829047"/>
          </a:xfrm>
          <a:prstGeom prst="rect">
            <a:avLst/>
          </a:prstGeom>
        </p:spPr>
      </p:pic>
      <p:pic>
        <p:nvPicPr>
          <p:cNvPr id="3" name="图片 2">
            <a:extLst>
              <a:ext uri="{FF2B5EF4-FFF2-40B4-BE49-F238E27FC236}">
                <a16:creationId xmlns:a16="http://schemas.microsoft.com/office/drawing/2014/main" id="{C87D439E-4459-5313-897C-AB493CC90124}"/>
              </a:ext>
            </a:extLst>
          </p:cNvPr>
          <p:cNvPicPr>
            <a:picLocks noChangeAspect="1"/>
          </p:cNvPicPr>
          <p:nvPr/>
        </p:nvPicPr>
        <p:blipFill>
          <a:blip r:embed="rId4"/>
          <a:stretch>
            <a:fillRect/>
          </a:stretch>
        </p:blipFill>
        <p:spPr>
          <a:xfrm>
            <a:off x="6240878" y="561183"/>
            <a:ext cx="2355928" cy="785309"/>
          </a:xfrm>
          <a:prstGeom prst="rect">
            <a:avLst/>
          </a:prstGeom>
          <a:effectLst>
            <a:outerShdw blurRad="50800" dist="38100" dir="2700000" algn="tl" rotWithShape="0">
              <a:prstClr val="black">
                <a:alpha val="40000"/>
              </a:prstClr>
            </a:outerShdw>
          </a:effectLst>
        </p:spPr>
      </p:pic>
      <p:pic>
        <p:nvPicPr>
          <p:cNvPr id="4" name="图片 3">
            <a:extLst>
              <a:ext uri="{FF2B5EF4-FFF2-40B4-BE49-F238E27FC236}">
                <a16:creationId xmlns:a16="http://schemas.microsoft.com/office/drawing/2014/main" id="{11076D7B-03DB-3859-0C4C-950EFBFF55C0}"/>
              </a:ext>
            </a:extLst>
          </p:cNvPr>
          <p:cNvPicPr>
            <a:picLocks noChangeAspect="1"/>
          </p:cNvPicPr>
          <p:nvPr/>
        </p:nvPicPr>
        <p:blipFill>
          <a:blip r:embed="rId5"/>
          <a:stretch>
            <a:fillRect/>
          </a:stretch>
        </p:blipFill>
        <p:spPr>
          <a:xfrm>
            <a:off x="6605587" y="1335889"/>
            <a:ext cx="2538413" cy="752837"/>
          </a:xfrm>
          <a:prstGeom prst="rect">
            <a:avLst/>
          </a:prstGeom>
          <a:effectLst>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72E31A9A-072C-AF53-DBAF-9CEE4C787189}"/>
              </a:ext>
            </a:extLst>
          </p:cNvPr>
          <p:cNvPicPr>
            <a:picLocks noChangeAspect="1"/>
          </p:cNvPicPr>
          <p:nvPr/>
        </p:nvPicPr>
        <p:blipFill>
          <a:blip r:embed="rId6"/>
          <a:stretch>
            <a:fillRect/>
          </a:stretch>
        </p:blipFill>
        <p:spPr>
          <a:xfrm>
            <a:off x="6693116" y="2184175"/>
            <a:ext cx="2430734" cy="721175"/>
          </a:xfrm>
          <a:prstGeom prst="rect">
            <a:avLst/>
          </a:prstGeom>
          <a:effectLst>
            <a:outerShdw blurRad="50800" dist="38100" dir="2700000" algn="tl" rotWithShape="0">
              <a:prstClr val="black">
                <a:alpha val="40000"/>
              </a:prstClr>
            </a:outerShdw>
          </a:effectLst>
        </p:spPr>
      </p:pic>
      <p:sp>
        <p:nvSpPr>
          <p:cNvPr id="6" name="箭头: 右 7">
            <a:extLst>
              <a:ext uri="{FF2B5EF4-FFF2-40B4-BE49-F238E27FC236}">
                <a16:creationId xmlns:a16="http://schemas.microsoft.com/office/drawing/2014/main" id="{2FFB7144-03A5-9C5D-D506-F664D94D2032}"/>
              </a:ext>
            </a:extLst>
          </p:cNvPr>
          <p:cNvSpPr/>
          <p:nvPr/>
        </p:nvSpPr>
        <p:spPr>
          <a:xfrm rot="20231146">
            <a:off x="6349530" y="2050538"/>
            <a:ext cx="450660" cy="23696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F897968-406F-5D8F-10F2-B506E7D17710}"/>
              </a:ext>
            </a:extLst>
          </p:cNvPr>
          <p:cNvSpPr txBox="1"/>
          <p:nvPr/>
        </p:nvSpPr>
        <p:spPr>
          <a:xfrm>
            <a:off x="422861" y="3143337"/>
            <a:ext cx="858119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赋予了基座模型人类面向通用任务的能力：对话、数学问题解决、创意协作等等</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9CEC8930-CCBB-40B7-E3F2-A29245BADD4C}"/>
              </a:ext>
            </a:extLst>
          </p:cNvPr>
          <p:cNvPicPr>
            <a:picLocks noChangeAspect="1"/>
          </p:cNvPicPr>
          <p:nvPr/>
        </p:nvPicPr>
        <p:blipFill>
          <a:blip r:embed="rId7"/>
          <a:stretch>
            <a:fillRect/>
          </a:stretch>
        </p:blipFill>
        <p:spPr>
          <a:xfrm>
            <a:off x="422861" y="3587560"/>
            <a:ext cx="8118194" cy="2675997"/>
          </a:xfrm>
          <a:prstGeom prst="rect">
            <a:avLst/>
          </a:prstGeom>
        </p:spPr>
      </p:pic>
    </p:spTree>
    <p:extLst>
      <p:ext uri="{BB962C8B-B14F-4D97-AF65-F5344CB8AC3E}">
        <p14:creationId xmlns:p14="http://schemas.microsoft.com/office/powerpoint/2010/main" val="18876691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58540028-6921-FC7B-00BB-D3770EB2A4E4}"/>
              </a:ext>
            </a:extLst>
          </p:cNvPr>
          <p:cNvPicPr>
            <a:picLocks noChangeAspect="1"/>
          </p:cNvPicPr>
          <p:nvPr/>
        </p:nvPicPr>
        <p:blipFill rotWithShape="1">
          <a:blip r:embed="rId3"/>
          <a:srcRect l="5996" r="5145" b="9859"/>
          <a:stretch/>
        </p:blipFill>
        <p:spPr>
          <a:xfrm>
            <a:off x="255824" y="756578"/>
            <a:ext cx="8239666" cy="2269680"/>
          </a:xfrm>
          <a:prstGeom prst="rect">
            <a:avLst/>
          </a:prstGeom>
        </p:spPr>
      </p:pic>
      <p:pic>
        <p:nvPicPr>
          <p:cNvPr id="9" name="图片 8">
            <a:extLst>
              <a:ext uri="{FF2B5EF4-FFF2-40B4-BE49-F238E27FC236}">
                <a16:creationId xmlns:a16="http://schemas.microsoft.com/office/drawing/2014/main" id="{75DA664B-2ABF-4C6B-B7ED-5CFC102DD8AF}"/>
              </a:ext>
            </a:extLst>
          </p:cNvPr>
          <p:cNvPicPr>
            <a:picLocks noChangeAspect="1"/>
          </p:cNvPicPr>
          <p:nvPr/>
        </p:nvPicPr>
        <p:blipFill>
          <a:blip r:embed="rId4"/>
          <a:stretch>
            <a:fillRect/>
          </a:stretch>
        </p:blipFill>
        <p:spPr>
          <a:xfrm>
            <a:off x="255824" y="2755900"/>
            <a:ext cx="3847247" cy="3906087"/>
          </a:xfrm>
          <a:prstGeom prst="rect">
            <a:avLst/>
          </a:prstGeom>
        </p:spPr>
      </p:pic>
      <p:pic>
        <p:nvPicPr>
          <p:cNvPr id="11" name="图片 10">
            <a:extLst>
              <a:ext uri="{FF2B5EF4-FFF2-40B4-BE49-F238E27FC236}">
                <a16:creationId xmlns:a16="http://schemas.microsoft.com/office/drawing/2014/main" id="{8BD9904C-3BF0-461A-9160-B6D7CF4646A7}"/>
              </a:ext>
            </a:extLst>
          </p:cNvPr>
          <p:cNvPicPr>
            <a:picLocks noChangeAspect="1"/>
          </p:cNvPicPr>
          <p:nvPr/>
        </p:nvPicPr>
        <p:blipFill rotWithShape="1">
          <a:blip r:embed="rId5">
            <a:extLst>
              <a:ext uri="{28A0092B-C50C-407E-A947-70E740481C1C}">
                <a14:useLocalDpi xmlns:a14="http://schemas.microsoft.com/office/drawing/2010/main" val="0"/>
              </a:ext>
            </a:extLst>
          </a:blip>
          <a:srcRect l="4791" r="50298"/>
          <a:stretch/>
        </p:blipFill>
        <p:spPr>
          <a:xfrm>
            <a:off x="4570415" y="3226218"/>
            <a:ext cx="4106626" cy="2711450"/>
          </a:xfrm>
          <a:prstGeom prst="rect">
            <a:avLst/>
          </a:prstGeom>
        </p:spPr>
      </p:pic>
    </p:spTree>
    <p:extLst>
      <p:ext uri="{BB962C8B-B14F-4D97-AF65-F5344CB8AC3E}">
        <p14:creationId xmlns:p14="http://schemas.microsoft.com/office/powerpoint/2010/main" val="3072132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E0CC54C2-996A-4FAC-B111-5750DB9254D0}"/>
              </a:ext>
            </a:extLst>
          </p:cNvPr>
          <p:cNvSpPr txBox="1"/>
          <p:nvPr/>
        </p:nvSpPr>
        <p:spPr>
          <a:xfrm>
            <a:off x="95250" y="789764"/>
            <a:ext cx="115288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GPT-1</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81ECC145-9987-42E9-A3FB-4D7F9A379A0A}"/>
              </a:ext>
            </a:extLst>
          </p:cNvPr>
          <p:cNvSpPr txBox="1"/>
          <p:nvPr/>
        </p:nvSpPr>
        <p:spPr>
          <a:xfrm>
            <a:off x="401642" y="1206507"/>
            <a:ext cx="8626814" cy="787523"/>
          </a:xfrm>
          <a:prstGeom prst="rect">
            <a:avLst/>
          </a:prstGeom>
          <a:noFill/>
        </p:spPr>
        <p:txBody>
          <a:bodyPr wrap="square">
            <a:spAutoFit/>
          </a:bodyPr>
          <a:lstStyle/>
          <a:p>
            <a:pPr>
              <a:lnSpc>
                <a:spcPct val="150000"/>
              </a:lnSpc>
            </a:pPr>
            <a:r>
              <a:rPr lang="zh-CN" altLang="en-US" sz="1600" dirty="0">
                <a:latin typeface="Microsoft YaHei" panose="020B0503020204020204" pitchFamily="34" charset="-122"/>
                <a:ea typeface="Microsoft YaHei" panose="020B0503020204020204" pitchFamily="34" charset="-122"/>
              </a:rPr>
              <a:t>OpenAI 提出了一种预训练框架 Genrative Pre-Training（GPT）；</a:t>
            </a:r>
            <a:r>
              <a:rPr lang="en-US" altLang="zh-CN" sz="1600" dirty="0">
                <a:latin typeface="Microsoft YaHei" panose="020B0503020204020204" pitchFamily="34" charset="-122"/>
                <a:ea typeface="Microsoft YaHei" panose="020B0503020204020204" pitchFamily="34" charset="-122"/>
              </a:rPr>
              <a:t>GPT</a:t>
            </a:r>
            <a:r>
              <a:rPr lang="zh-CN" altLang="en-US" sz="1600" dirty="0">
                <a:latin typeface="Microsoft YaHei" panose="020B0503020204020204" pitchFamily="34" charset="-122"/>
                <a:ea typeface="Microsoft YaHei" panose="020B0503020204020204" pitchFamily="34" charset="-122"/>
              </a:rPr>
              <a:t>提出用与 Vanilla Transformer 类似的 LM 任务，即对于每一句话预测每个位置的下一个单词。</a:t>
            </a:r>
          </a:p>
        </p:txBody>
      </p:sp>
      <p:pic>
        <p:nvPicPr>
          <p:cNvPr id="8" name="图片 7">
            <a:extLst>
              <a:ext uri="{FF2B5EF4-FFF2-40B4-BE49-F238E27FC236}">
                <a16:creationId xmlns:a16="http://schemas.microsoft.com/office/drawing/2014/main" id="{4FB5C5C5-3676-41C0-BF53-E2BCC20C51EA}"/>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401642" y="2284128"/>
            <a:ext cx="2499333" cy="2003097"/>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34B3345-3E74-4F11-BCFC-0E9D1BF4B9C7}"/>
                  </a:ext>
                </a:extLst>
              </p:cNvPr>
              <p:cNvSpPr txBox="1"/>
              <p:nvPr/>
            </p:nvSpPr>
            <p:spPr>
              <a:xfrm>
                <a:off x="401642" y="4402889"/>
                <a:ext cx="2526461" cy="297967"/>
              </a:xfrm>
              <a:prstGeom prst="rect">
                <a:avLst/>
              </a:prstGeom>
              <a:noFill/>
            </p:spPr>
            <p:txBody>
              <a:bodyPr wrap="none" rtlCol="0">
                <a:spAutoFit/>
              </a:bodyPr>
              <a:lstStyle/>
              <a:p>
                <a:r>
                  <a:rPr kumimoji="1" lang="zh-CN" altLang="en-US" sz="1100" dirty="0">
                    <a:latin typeface="Microsoft YaHei" panose="020B0503020204020204" pitchFamily="34" charset="-122"/>
                    <a:ea typeface="Microsoft YaHei" panose="020B0503020204020204" pitchFamily="34" charset="-122"/>
                  </a:rPr>
                  <a:t>注：</a:t>
                </a:r>
                <a14:m>
                  <m:oMath xmlns:m="http://schemas.openxmlformats.org/officeDocument/2006/math">
                    <m:sSubSup>
                      <m:sSubSupPr>
                        <m:ctrlPr>
                          <a:rPr kumimoji="1" lang="en-US" altLang="zh-CN" sz="1100" b="0" i="1" smtClean="0">
                            <a:latin typeface="Cambria Math" panose="02040503050406030204" pitchFamily="18" charset="0"/>
                          </a:rPr>
                        </m:ctrlPr>
                      </m:sSubSupPr>
                      <m:e>
                        <m:r>
                          <a:rPr kumimoji="1" lang="en-US" altLang="zh-CN" sz="1100" b="0" i="1" smtClean="0">
                            <a:latin typeface="Cambria Math" panose="02040503050406030204" pitchFamily="18" charset="0"/>
                          </a:rPr>
                          <m:t>h</m:t>
                        </m:r>
                      </m:e>
                      <m:sub>
                        <m:r>
                          <a:rPr kumimoji="1" lang="en-US" altLang="zh-CN" sz="1100" b="0" i="1" smtClean="0">
                            <a:latin typeface="Cambria Math" panose="02040503050406030204" pitchFamily="18" charset="0"/>
                          </a:rPr>
                          <m:t>𝑛</m:t>
                        </m:r>
                      </m:sub>
                      <m:sup>
                        <m:r>
                          <a:rPr kumimoji="1" lang="en-US" altLang="zh-CN" sz="1100" b="0" i="1" smtClean="0">
                            <a:latin typeface="Cambria Math" panose="02040503050406030204" pitchFamily="18" charset="0"/>
                          </a:rPr>
                          <m:t>(</m:t>
                        </m:r>
                        <m:r>
                          <a:rPr kumimoji="1" lang="en-US" altLang="zh-CN" sz="1100" b="0" i="1" smtClean="0">
                            <a:latin typeface="Cambria Math" panose="02040503050406030204" pitchFamily="18" charset="0"/>
                          </a:rPr>
                          <m:t>𝐿</m:t>
                        </m:r>
                        <m:r>
                          <a:rPr kumimoji="1" lang="en-US" altLang="zh-CN" sz="1100" b="0" i="1" smtClean="0">
                            <a:latin typeface="Cambria Math" panose="02040503050406030204" pitchFamily="18" charset="0"/>
                          </a:rPr>
                          <m:t>)</m:t>
                        </m:r>
                      </m:sup>
                    </m:sSubSup>
                  </m:oMath>
                </a14:m>
                <a:r>
                  <a:rPr kumimoji="1" lang="zh-CN" altLang="en-US" sz="1100" dirty="0">
                    <a:latin typeface="Microsoft YaHei" panose="020B0503020204020204" pitchFamily="34" charset="-122"/>
                    <a:ea typeface="Microsoft YaHei" panose="020B0503020204020204" pitchFamily="34" charset="-122"/>
                  </a:rPr>
                  <a:t>代表一个</a:t>
                </a:r>
                <a:r>
                  <a:rPr kumimoji="1" lang="en-US" altLang="zh-CN" sz="1100" dirty="0">
                    <a:latin typeface="Microsoft YaHei" panose="020B0503020204020204" pitchFamily="34" charset="-122"/>
                    <a:ea typeface="Microsoft YaHei" panose="020B0503020204020204" pitchFamily="34" charset="-122"/>
                  </a:rPr>
                  <a:t>Transformer Block.</a:t>
                </a:r>
                <a:endParaRPr kumimoji="1" lang="zh-CN" altLang="en-US" sz="1100" dirty="0">
                  <a:latin typeface="Microsoft YaHei" panose="020B0503020204020204" pitchFamily="34" charset="-122"/>
                  <a:ea typeface="Microsoft YaHei" panose="020B0503020204020204" pitchFamily="34" charset="-122"/>
                </a:endParaRPr>
              </a:p>
            </p:txBody>
          </p:sp>
        </mc:Choice>
        <mc:Fallback xmlns="">
          <p:sp>
            <p:nvSpPr>
              <p:cNvPr id="9" name="文本框 8">
                <a:extLst>
                  <a:ext uri="{FF2B5EF4-FFF2-40B4-BE49-F238E27FC236}">
                    <a16:creationId xmlns:a16="http://schemas.microsoft.com/office/drawing/2014/main" id="{834B3345-3E74-4F11-BCFC-0E9D1BF4B9C7}"/>
                  </a:ext>
                </a:extLst>
              </p:cNvPr>
              <p:cNvSpPr txBox="1">
                <a:spLocks noRot="1" noChangeAspect="1" noMove="1" noResize="1" noEditPoints="1" noAdjustHandles="1" noChangeArrowheads="1" noChangeShapeType="1" noTextEdit="1"/>
              </p:cNvSpPr>
              <p:nvPr/>
            </p:nvSpPr>
            <p:spPr>
              <a:xfrm>
                <a:off x="401642" y="4402889"/>
                <a:ext cx="2526461" cy="297967"/>
              </a:xfrm>
              <a:prstGeom prst="rect">
                <a:avLst/>
              </a:prstGeom>
              <a:blipFill>
                <a:blip r:embed="rId4"/>
                <a:stretch>
                  <a:fillRect b="-12245"/>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9B1A74F7-1CFD-490F-AFFD-1237C55D957F}"/>
              </a:ext>
            </a:extLst>
          </p:cNvPr>
          <p:cNvPicPr>
            <a:picLocks noChangeAspect="1"/>
          </p:cNvPicPr>
          <p:nvPr/>
        </p:nvPicPr>
        <p:blipFill>
          <a:blip r:embed="rId5">
            <a:clrChange>
              <a:clrFrom>
                <a:srgbClr val="F9F9F9"/>
              </a:clrFrom>
              <a:clrTo>
                <a:srgbClr val="F9F9F9">
                  <a:alpha val="0"/>
                </a:srgbClr>
              </a:clrTo>
            </a:clrChange>
          </a:blip>
          <a:stretch>
            <a:fillRect/>
          </a:stretch>
        </p:blipFill>
        <p:spPr>
          <a:xfrm>
            <a:off x="3188171" y="2235113"/>
            <a:ext cx="5694327" cy="2316760"/>
          </a:xfrm>
          <a:prstGeom prst="rect">
            <a:avLst/>
          </a:prstGeom>
        </p:spPr>
      </p:pic>
    </p:spTree>
    <p:extLst>
      <p:ext uri="{BB962C8B-B14F-4D97-AF65-F5344CB8AC3E}">
        <p14:creationId xmlns:p14="http://schemas.microsoft.com/office/powerpoint/2010/main" val="24436820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 name="文本框 5">
            <a:extLst>
              <a:ext uri="{FF2B5EF4-FFF2-40B4-BE49-F238E27FC236}">
                <a16:creationId xmlns:a16="http://schemas.microsoft.com/office/drawing/2014/main" id="{7FD6D617-D4C6-40F9-8A5D-3E2933A05B10}"/>
              </a:ext>
            </a:extLst>
          </p:cNvPr>
          <p:cNvSpPr txBox="1"/>
          <p:nvPr/>
        </p:nvSpPr>
        <p:spPr>
          <a:xfrm>
            <a:off x="95250" y="789764"/>
            <a:ext cx="115288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GPT-2</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1F03D362-5448-4C82-BB82-C86B5D1A9B4B}"/>
              </a:ext>
            </a:extLst>
          </p:cNvPr>
          <p:cNvSpPr/>
          <p:nvPr/>
        </p:nvSpPr>
        <p:spPr>
          <a:xfrm>
            <a:off x="393700" y="1207185"/>
            <a:ext cx="8489950" cy="787523"/>
          </a:xfrm>
          <a:prstGeom prst="rect">
            <a:avLst/>
          </a:prstGeom>
        </p:spPr>
        <p:txBody>
          <a:bodyPr wrap="square">
            <a:spAutoFit/>
          </a:bodyPr>
          <a:lstStyle/>
          <a:p>
            <a:pPr>
              <a:lnSpc>
                <a:spcPct val="150000"/>
              </a:lnSpc>
            </a:pPr>
            <a:r>
              <a:rPr lang="en-US" altLang="zh-CN" sz="1600" dirty="0">
                <a:solidFill>
                  <a:srgbClr val="191B1F"/>
                </a:solidFill>
                <a:latin typeface="微软雅黑" panose="020B0503020204020204" pitchFamily="34" charset="-122"/>
                <a:ea typeface="微软雅黑" panose="020B0503020204020204" pitchFamily="34" charset="-122"/>
              </a:rPr>
              <a:t>2019</a:t>
            </a:r>
            <a:r>
              <a:rPr lang="zh-CN" altLang="en-US" sz="1600" dirty="0">
                <a:solidFill>
                  <a:srgbClr val="191B1F"/>
                </a:solidFill>
                <a:latin typeface="微软雅黑" panose="020B0503020204020204" pitchFamily="34" charset="-122"/>
                <a:ea typeface="微软雅黑" panose="020B0503020204020204" pitchFamily="34" charset="-122"/>
              </a:rPr>
              <a:t>年发布的</a:t>
            </a:r>
            <a:r>
              <a:rPr lang="en-US" altLang="zh-CN" sz="1600" dirty="0">
                <a:solidFill>
                  <a:srgbClr val="191B1F"/>
                </a:solidFill>
                <a:latin typeface="微软雅黑" panose="020B0503020204020204" pitchFamily="34" charset="-122"/>
                <a:ea typeface="微软雅黑" panose="020B0503020204020204" pitchFamily="34" charset="-122"/>
              </a:rPr>
              <a:t>GPT-2</a:t>
            </a:r>
            <a:r>
              <a:rPr lang="zh-CN" altLang="en-US" sz="1600" dirty="0">
                <a:solidFill>
                  <a:srgbClr val="191B1F"/>
                </a:solidFill>
                <a:latin typeface="微软雅黑" panose="020B0503020204020204" pitchFamily="34" charset="-122"/>
                <a:ea typeface="微软雅黑" panose="020B0503020204020204" pitchFamily="34" charset="-122"/>
              </a:rPr>
              <a:t>将参数量提升至</a:t>
            </a:r>
            <a:r>
              <a:rPr lang="en-US" altLang="zh-CN" sz="1600" dirty="0">
                <a:solidFill>
                  <a:srgbClr val="191B1F"/>
                </a:solidFill>
                <a:latin typeface="微软雅黑" panose="020B0503020204020204" pitchFamily="34" charset="-122"/>
                <a:ea typeface="微软雅黑" panose="020B0503020204020204" pitchFamily="34" charset="-122"/>
              </a:rPr>
              <a:t>15</a:t>
            </a:r>
            <a:r>
              <a:rPr lang="zh-CN" altLang="en-US" sz="1600" dirty="0">
                <a:solidFill>
                  <a:srgbClr val="191B1F"/>
                </a:solidFill>
                <a:latin typeface="微软雅黑" panose="020B0503020204020204" pitchFamily="34" charset="-122"/>
                <a:ea typeface="微软雅黑" panose="020B0503020204020204" pitchFamily="34" charset="-122"/>
              </a:rPr>
              <a:t>亿训练数据量扩展到</a:t>
            </a:r>
            <a:r>
              <a:rPr lang="en-US" altLang="zh-CN" sz="1600" dirty="0">
                <a:solidFill>
                  <a:srgbClr val="191B1F"/>
                </a:solidFill>
                <a:latin typeface="微软雅黑" panose="020B0503020204020204" pitchFamily="34" charset="-122"/>
                <a:ea typeface="微软雅黑" panose="020B0503020204020204" pitchFamily="34" charset="-122"/>
              </a:rPr>
              <a:t>40GB</a:t>
            </a:r>
            <a:r>
              <a:rPr lang="zh-CN" altLang="en-US" sz="1600" dirty="0">
                <a:solidFill>
                  <a:srgbClr val="191B1F"/>
                </a:solidFill>
                <a:latin typeface="微软雅黑" panose="020B0503020204020204" pitchFamily="34" charset="-122"/>
                <a:ea typeface="微软雅黑" panose="020B0503020204020204" pitchFamily="34" charset="-122"/>
              </a:rPr>
              <a:t>的</a:t>
            </a:r>
            <a:r>
              <a:rPr lang="en-US" altLang="zh-CN" sz="1600" dirty="0" err="1">
                <a:solidFill>
                  <a:srgbClr val="191B1F"/>
                </a:solidFill>
                <a:latin typeface="微软雅黑" panose="020B0503020204020204" pitchFamily="34" charset="-122"/>
                <a:ea typeface="微软雅黑" panose="020B0503020204020204" pitchFamily="34" charset="-122"/>
              </a:rPr>
              <a:t>WebText</a:t>
            </a:r>
            <a:r>
              <a:rPr lang="zh-CN" altLang="en-US" sz="1600" dirty="0">
                <a:solidFill>
                  <a:srgbClr val="191B1F"/>
                </a:solidFill>
                <a:latin typeface="微软雅黑" panose="020B0503020204020204" pitchFamily="34" charset="-122"/>
                <a:ea typeface="微软雅黑" panose="020B0503020204020204" pitchFamily="34" charset="-122"/>
              </a:rPr>
              <a:t>数据集。在</a:t>
            </a:r>
            <a:r>
              <a:rPr lang="en-US" altLang="zh-CN" sz="1600" dirty="0">
                <a:solidFill>
                  <a:srgbClr val="191B1F"/>
                </a:solidFill>
                <a:latin typeface="微软雅黑" panose="020B0503020204020204" pitchFamily="34" charset="-122"/>
                <a:ea typeface="微软雅黑" panose="020B0503020204020204" pitchFamily="34" charset="-122"/>
              </a:rPr>
              <a:t>GPT-2</a:t>
            </a:r>
            <a:r>
              <a:rPr lang="zh-CN" altLang="en-US" sz="1600" dirty="0">
                <a:solidFill>
                  <a:srgbClr val="191B1F"/>
                </a:solidFill>
                <a:latin typeface="微软雅黑" panose="020B0503020204020204" pitchFamily="34" charset="-122"/>
                <a:ea typeface="微软雅黑" panose="020B0503020204020204" pitchFamily="34" charset="-122"/>
              </a:rPr>
              <a:t>中提出通过语言建模来实现零样本任务转移的方法。</a:t>
            </a:r>
            <a:endParaRPr lang="zh-CN" altLang="en-US" sz="16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94AF1CBC-AE18-473D-BB7A-6B86BC37A72D}"/>
              </a:ext>
            </a:extLst>
          </p:cNvPr>
          <p:cNvSpPr/>
          <p:nvPr/>
        </p:nvSpPr>
        <p:spPr>
          <a:xfrm>
            <a:off x="393700" y="2042797"/>
            <a:ext cx="8489950" cy="1023742"/>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引入</a:t>
            </a:r>
            <a:r>
              <a:rPr lang="zh-CN" altLang="en-US" sz="1400" b="1" dirty="0">
                <a:solidFill>
                  <a:srgbClr val="C00000"/>
                </a:solidFill>
                <a:latin typeface="微软雅黑" panose="020B0503020204020204" pitchFamily="34" charset="-122"/>
                <a:ea typeface="微软雅黑" panose="020B0503020204020204" pitchFamily="34" charset="-122"/>
              </a:rPr>
              <a:t>零样本学习</a:t>
            </a:r>
            <a:r>
              <a:rPr lang="zh-CN" altLang="en-US" sz="1400" dirty="0">
                <a:solidFill>
                  <a:srgbClr val="191B1F"/>
                </a:solidFill>
                <a:latin typeface="微软雅黑" panose="020B0503020204020204" pitchFamily="34" charset="-122"/>
                <a:ea typeface="微软雅黑" panose="020B0503020204020204" pitchFamily="34" charset="-122"/>
              </a:rPr>
              <a:t>概念，证明大语言模型无需微调即可迁移到新任务；</a:t>
            </a:r>
          </a:p>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模型架构扩展到</a:t>
            </a:r>
            <a:r>
              <a:rPr lang="en-US" altLang="zh-CN" sz="1400" dirty="0">
                <a:solidFill>
                  <a:srgbClr val="191B1F"/>
                </a:solidFill>
                <a:latin typeface="微软雅黑" panose="020B0503020204020204" pitchFamily="34" charset="-122"/>
                <a:ea typeface="微软雅黑" panose="020B0503020204020204" pitchFamily="34" charset="-122"/>
              </a:rPr>
              <a:t>48</a:t>
            </a:r>
            <a:r>
              <a:rPr lang="zh-CN" altLang="en-US" sz="1400" dirty="0">
                <a:solidFill>
                  <a:srgbClr val="191B1F"/>
                </a:solidFill>
                <a:latin typeface="微软雅黑" panose="020B0503020204020204" pitchFamily="34" charset="-122"/>
                <a:ea typeface="微软雅黑" panose="020B0503020204020204" pitchFamily="34" charset="-122"/>
              </a:rPr>
              <a:t>层</a:t>
            </a:r>
            <a:r>
              <a:rPr lang="en-US" altLang="zh-CN" sz="1400" dirty="0" err="1">
                <a:solidFill>
                  <a:srgbClr val="191B1F"/>
                </a:solidFill>
                <a:latin typeface="微软雅黑" panose="020B0503020204020204" pitchFamily="34" charset="-122"/>
                <a:ea typeface="微软雅黑" panose="020B0503020204020204" pitchFamily="34" charset="-122"/>
              </a:rPr>
              <a:t>TransformerDecoder</a:t>
            </a:r>
            <a:r>
              <a:rPr lang="zh-CN" altLang="en-US" sz="1400" b="1" dirty="0">
                <a:solidFill>
                  <a:srgbClr val="191B1F"/>
                </a:solidFill>
                <a:latin typeface="微软雅黑" panose="020B0503020204020204" pitchFamily="34" charset="-122"/>
                <a:ea typeface="微软雅黑" panose="020B0503020204020204" pitchFamily="34" charset="-122"/>
              </a:rPr>
              <a:t>；</a:t>
            </a:r>
            <a:endParaRPr lang="zh-CN" altLang="en-US" sz="1400" dirty="0">
              <a:solidFill>
                <a:srgbClr val="191B1F"/>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验证了大规模无监督预训练的有效性，为后续模型发展提供方向。</a:t>
            </a:r>
            <a:endParaRPr lang="zh-CN" altLang="en-US" sz="1400" b="0" i="0" dirty="0">
              <a:solidFill>
                <a:srgbClr val="191B1F"/>
              </a:solidFill>
              <a:effectLst/>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1589660-D13E-4C15-84A2-7B208D7DEE7E}"/>
              </a:ext>
            </a:extLst>
          </p:cNvPr>
          <p:cNvPicPr>
            <a:picLocks noChangeAspect="1"/>
          </p:cNvPicPr>
          <p:nvPr/>
        </p:nvPicPr>
        <p:blipFill rotWithShape="1">
          <a:blip r:embed="rId3"/>
          <a:srcRect r="24861"/>
          <a:stretch/>
        </p:blipFill>
        <p:spPr>
          <a:xfrm>
            <a:off x="933450" y="3784181"/>
            <a:ext cx="6870700" cy="2618913"/>
          </a:xfrm>
          <a:prstGeom prst="rect">
            <a:avLst/>
          </a:prstGeom>
        </p:spPr>
      </p:pic>
      <p:sp>
        <p:nvSpPr>
          <p:cNvPr id="7" name="矩形 6">
            <a:extLst>
              <a:ext uri="{FF2B5EF4-FFF2-40B4-BE49-F238E27FC236}">
                <a16:creationId xmlns:a16="http://schemas.microsoft.com/office/drawing/2014/main" id="{440A9850-D638-4B46-B2A3-75F9818DFD5E}"/>
              </a:ext>
            </a:extLst>
          </p:cNvPr>
          <p:cNvSpPr/>
          <p:nvPr/>
        </p:nvSpPr>
        <p:spPr>
          <a:xfrm>
            <a:off x="393700" y="3004758"/>
            <a:ext cx="7785100" cy="70057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为了使系统能够执行多个不同的任务，甚至对于相同的输入，系统应该不仅根据输入，还根据要执行的任务进行建模。即建模</a:t>
            </a:r>
            <a:r>
              <a:rPr lang="en-US" altLang="zh-CN" sz="1400" dirty="0">
                <a:solidFill>
                  <a:srgbClr val="191B1F"/>
                </a:solidFill>
                <a:latin typeface="微软雅黑" panose="020B0503020204020204" pitchFamily="34" charset="-122"/>
                <a:ea typeface="微软雅黑" panose="020B0503020204020204" pitchFamily="34" charset="-122"/>
              </a:rPr>
              <a:t>p(</a:t>
            </a:r>
            <a:r>
              <a:rPr lang="en-US" altLang="zh-CN" sz="1400" dirty="0" err="1">
                <a:solidFill>
                  <a:srgbClr val="191B1F"/>
                </a:solidFill>
                <a:latin typeface="微软雅黑" panose="020B0503020204020204" pitchFamily="34" charset="-122"/>
                <a:ea typeface="微软雅黑" panose="020B0503020204020204" pitchFamily="34" charset="-122"/>
              </a:rPr>
              <a:t>output∣input,task</a:t>
            </a:r>
            <a:r>
              <a:rPr lang="en-US" altLang="zh-CN" sz="1400" dirty="0">
                <a:solidFill>
                  <a:srgbClr val="191B1F"/>
                </a:solidFill>
                <a:latin typeface="微软雅黑" panose="020B0503020204020204" pitchFamily="34" charset="-122"/>
                <a:ea typeface="微软雅黑" panose="020B0503020204020204" pitchFamily="34" charset="-122"/>
              </a:rPr>
              <a:t>)</a:t>
            </a:r>
            <a:endParaRPr lang="zh-CN" altLang="en-US" sz="1400" dirty="0">
              <a:solidFill>
                <a:srgbClr val="191B1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29473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960934ED-8494-462D-90F0-691616148B9F}"/>
              </a:ext>
            </a:extLst>
          </p:cNvPr>
          <p:cNvSpPr txBox="1"/>
          <p:nvPr/>
        </p:nvSpPr>
        <p:spPr>
          <a:xfrm>
            <a:off x="95250" y="789764"/>
            <a:ext cx="115288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GPT-3</a:t>
            </a:r>
            <a:endParaRPr lang="zh-CN" altLang="en-US"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894CD977-46CB-4A60-A2AD-2FA5C2BF6125}"/>
              </a:ext>
            </a:extLst>
          </p:cNvPr>
          <p:cNvSpPr/>
          <p:nvPr/>
        </p:nvSpPr>
        <p:spPr>
          <a:xfrm>
            <a:off x="392115" y="1093497"/>
            <a:ext cx="8356600" cy="787523"/>
          </a:xfrm>
          <a:prstGeom prst="rect">
            <a:avLst/>
          </a:prstGeom>
        </p:spPr>
        <p:txBody>
          <a:bodyPr wrap="square">
            <a:spAutoFit/>
          </a:bodyPr>
          <a:lstStyle/>
          <a:p>
            <a:pPr>
              <a:lnSpc>
                <a:spcPct val="150000"/>
              </a:lnSpc>
            </a:pPr>
            <a:r>
              <a:rPr lang="en-US" altLang="zh-CN" sz="1600" dirty="0">
                <a:solidFill>
                  <a:srgbClr val="191B1F"/>
                </a:solidFill>
                <a:latin typeface="微软雅黑" panose="020B0503020204020204" pitchFamily="34" charset="-122"/>
                <a:ea typeface="微软雅黑" panose="020B0503020204020204" pitchFamily="34" charset="-122"/>
              </a:rPr>
              <a:t>2020</a:t>
            </a:r>
            <a:r>
              <a:rPr lang="zh-CN" altLang="en-US" sz="1600" dirty="0">
                <a:solidFill>
                  <a:srgbClr val="191B1F"/>
                </a:solidFill>
                <a:latin typeface="微软雅黑" panose="020B0503020204020204" pitchFamily="34" charset="-122"/>
                <a:ea typeface="微软雅黑" panose="020B0503020204020204" pitchFamily="34" charset="-122"/>
              </a:rPr>
              <a:t>年发布的</a:t>
            </a:r>
            <a:r>
              <a:rPr lang="en-US" altLang="zh-CN" sz="1600" dirty="0">
                <a:solidFill>
                  <a:srgbClr val="191B1F"/>
                </a:solidFill>
                <a:latin typeface="微软雅黑" panose="020B0503020204020204" pitchFamily="34" charset="-122"/>
                <a:ea typeface="微软雅黑" panose="020B0503020204020204" pitchFamily="34" charset="-122"/>
              </a:rPr>
              <a:t>GPT-3</a:t>
            </a:r>
            <a:r>
              <a:rPr lang="zh-CN" altLang="en-US" sz="1600" dirty="0">
                <a:solidFill>
                  <a:srgbClr val="191B1F"/>
                </a:solidFill>
                <a:latin typeface="微软雅黑" panose="020B0503020204020204" pitchFamily="34" charset="-122"/>
                <a:ea typeface="微软雅黑" panose="020B0503020204020204" pitchFamily="34" charset="-122"/>
              </a:rPr>
              <a:t>实现了参数量的量级跃升，达到</a:t>
            </a:r>
            <a:r>
              <a:rPr lang="en-US" altLang="zh-CN" sz="1600" dirty="0">
                <a:solidFill>
                  <a:srgbClr val="191B1F"/>
                </a:solidFill>
                <a:latin typeface="微软雅黑" panose="020B0503020204020204" pitchFamily="34" charset="-122"/>
                <a:ea typeface="微软雅黑" panose="020B0503020204020204" pitchFamily="34" charset="-122"/>
              </a:rPr>
              <a:t>1750</a:t>
            </a:r>
            <a:r>
              <a:rPr lang="zh-CN" altLang="en-US" sz="1600" dirty="0">
                <a:solidFill>
                  <a:srgbClr val="191B1F"/>
                </a:solidFill>
                <a:latin typeface="微软雅黑" panose="020B0503020204020204" pitchFamily="34" charset="-122"/>
                <a:ea typeface="微软雅黑" panose="020B0503020204020204" pitchFamily="34" charset="-122"/>
              </a:rPr>
              <a:t>亿参数训练数据量大幅增加至</a:t>
            </a:r>
            <a:r>
              <a:rPr lang="en-US" altLang="zh-CN" sz="1600" dirty="0">
                <a:solidFill>
                  <a:srgbClr val="191B1F"/>
                </a:solidFill>
                <a:latin typeface="微软雅黑" panose="020B0503020204020204" pitchFamily="34" charset="-122"/>
                <a:ea typeface="微软雅黑" panose="020B0503020204020204" pitchFamily="34" charset="-122"/>
              </a:rPr>
              <a:t>45TB</a:t>
            </a:r>
            <a:r>
              <a:rPr lang="zh-CN" altLang="en-US" sz="1600" dirty="0">
                <a:solidFill>
                  <a:srgbClr val="191B1F"/>
                </a:solidFill>
                <a:latin typeface="微软雅黑" panose="020B0503020204020204" pitchFamily="34" charset="-122"/>
                <a:ea typeface="微软雅黑" panose="020B0503020204020204" pitchFamily="34" charset="-122"/>
              </a:rPr>
              <a:t>，数据来源包括</a:t>
            </a:r>
            <a:r>
              <a:rPr lang="en-US" altLang="zh-CN" sz="1600" dirty="0">
                <a:solidFill>
                  <a:srgbClr val="191B1F"/>
                </a:solidFill>
                <a:latin typeface="微软雅黑" panose="020B0503020204020204" pitchFamily="34" charset="-122"/>
                <a:ea typeface="微软雅黑" panose="020B0503020204020204" pitchFamily="34" charset="-122"/>
              </a:rPr>
              <a:t>Common Crawl</a:t>
            </a:r>
            <a:r>
              <a:rPr lang="zh-CN" altLang="en-US" sz="1600" dirty="0">
                <a:solidFill>
                  <a:srgbClr val="191B1F"/>
                </a:solidFill>
                <a:latin typeface="微软雅黑" panose="020B0503020204020204" pitchFamily="34" charset="-122"/>
                <a:ea typeface="微软雅黑" panose="020B0503020204020204" pitchFamily="34" charset="-122"/>
              </a:rPr>
              <a:t>、</a:t>
            </a:r>
            <a:r>
              <a:rPr lang="en-US" altLang="zh-CN" sz="1600" dirty="0" err="1">
                <a:solidFill>
                  <a:srgbClr val="191B1F"/>
                </a:solidFill>
                <a:latin typeface="微软雅黑" panose="020B0503020204020204" pitchFamily="34" charset="-122"/>
                <a:ea typeface="微软雅黑" panose="020B0503020204020204" pitchFamily="34" charset="-122"/>
              </a:rPr>
              <a:t>WebText</a:t>
            </a:r>
            <a:r>
              <a:rPr lang="zh-CN" altLang="en-US" sz="1600" dirty="0">
                <a:solidFill>
                  <a:srgbClr val="191B1F"/>
                </a:solidFill>
                <a:latin typeface="微软雅黑" panose="020B0503020204020204" pitchFamily="34" charset="-122"/>
                <a:ea typeface="微软雅黑" panose="020B0503020204020204" pitchFamily="34" charset="-122"/>
              </a:rPr>
              <a:t>、</a:t>
            </a:r>
            <a:r>
              <a:rPr lang="en-US" altLang="zh-CN" sz="1600" dirty="0">
                <a:solidFill>
                  <a:srgbClr val="191B1F"/>
                </a:solidFill>
                <a:latin typeface="微软雅黑" panose="020B0503020204020204" pitchFamily="34" charset="-122"/>
                <a:ea typeface="微软雅黑" panose="020B0503020204020204" pitchFamily="34" charset="-122"/>
              </a:rPr>
              <a:t>Wikipedia</a:t>
            </a:r>
            <a:r>
              <a:rPr lang="zh-CN" altLang="en-US" sz="1600" dirty="0">
                <a:solidFill>
                  <a:srgbClr val="191B1F"/>
                </a:solidFill>
                <a:latin typeface="微软雅黑" panose="020B0503020204020204" pitchFamily="34" charset="-122"/>
                <a:ea typeface="微软雅黑" panose="020B0503020204020204" pitchFamily="34" charset="-122"/>
              </a:rPr>
              <a:t>等。</a:t>
            </a:r>
            <a:endParaRPr lang="zh-CN" altLang="en-US" sz="16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BC3059F-817E-4797-842D-795ED98B580A}"/>
              </a:ext>
            </a:extLst>
          </p:cNvPr>
          <p:cNvSpPr/>
          <p:nvPr/>
        </p:nvSpPr>
        <p:spPr>
          <a:xfrm>
            <a:off x="474664" y="1881020"/>
            <a:ext cx="7653335" cy="152618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实证了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规模法则</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，证明参数增加直接带来能力提升；</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展示了惊人的小样本学习（</a:t>
            </a:r>
            <a:r>
              <a:rPr lang="en-US" altLang="zh-CN" sz="1600" dirty="0">
                <a:latin typeface="微软雅黑" panose="020B0503020204020204" pitchFamily="34" charset="-122"/>
                <a:ea typeface="微软雅黑" panose="020B0503020204020204" pitchFamily="34" charset="-122"/>
              </a:rPr>
              <a:t>Few-Shot Learning</a:t>
            </a:r>
            <a:r>
              <a:rPr lang="zh-CN" altLang="en-US" sz="1600" dirty="0">
                <a:latin typeface="微软雅黑" panose="020B0503020204020204" pitchFamily="34" charset="-122"/>
                <a:ea typeface="微软雅黑" panose="020B0503020204020204" pitchFamily="34" charset="-122"/>
              </a:rPr>
              <a:t>）能力；</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引入稀疏注意力机制（</a:t>
            </a:r>
            <a:r>
              <a:rPr lang="en-US" altLang="zh-CN" sz="1600" dirty="0">
                <a:latin typeface="微软雅黑" panose="020B0503020204020204" pitchFamily="34" charset="-122"/>
                <a:ea typeface="微软雅黑" panose="020B0503020204020204" pitchFamily="34" charset="-122"/>
              </a:rPr>
              <a:t>Sparse Transformer</a:t>
            </a:r>
            <a:r>
              <a:rPr lang="zh-CN" altLang="en-US" sz="1600" dirty="0">
                <a:latin typeface="微软雅黑" panose="020B0503020204020204" pitchFamily="34" charset="-122"/>
                <a:ea typeface="微软雅黑" panose="020B0503020204020204" pitchFamily="34" charset="-122"/>
              </a:rPr>
              <a:t>）处理长序列；</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开始采用</a:t>
            </a:r>
            <a:r>
              <a:rPr lang="zh-CN" altLang="en-US" sz="1600" b="1" dirty="0">
                <a:solidFill>
                  <a:srgbClr val="C00000"/>
                </a:solidFill>
                <a:latin typeface="微软雅黑" panose="020B0503020204020204" pitchFamily="34" charset="-122"/>
                <a:ea typeface="微软雅黑" panose="020B0503020204020204" pitchFamily="34" charset="-122"/>
              </a:rPr>
              <a:t>指令微调</a:t>
            </a:r>
            <a:r>
              <a:rPr lang="zh-CN" altLang="en-US" sz="1600" dirty="0">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基于人类反馈的强化学习（</a:t>
            </a:r>
            <a:r>
              <a:rPr lang="en-US" altLang="zh-CN" sz="1600" b="1" dirty="0">
                <a:solidFill>
                  <a:srgbClr val="C00000"/>
                </a:solidFill>
                <a:latin typeface="微软雅黑" panose="020B0503020204020204" pitchFamily="34" charset="-122"/>
                <a:ea typeface="微软雅黑" panose="020B0503020204020204" pitchFamily="34" charset="-122"/>
              </a:rPr>
              <a:t>RLHF</a:t>
            </a:r>
            <a:r>
              <a:rPr lang="zh-CN" altLang="en-US" sz="1600" b="1" dirty="0">
                <a:solidFill>
                  <a:srgbClr val="C00000"/>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技术；</a:t>
            </a:r>
          </a:p>
        </p:txBody>
      </p:sp>
      <p:pic>
        <p:nvPicPr>
          <p:cNvPr id="4" name="图片 3">
            <a:extLst>
              <a:ext uri="{FF2B5EF4-FFF2-40B4-BE49-F238E27FC236}">
                <a16:creationId xmlns:a16="http://schemas.microsoft.com/office/drawing/2014/main" id="{63889E2D-DFB2-46E7-8197-6FD4A957B183}"/>
              </a:ext>
            </a:extLst>
          </p:cNvPr>
          <p:cNvPicPr>
            <a:picLocks noChangeAspect="1"/>
          </p:cNvPicPr>
          <p:nvPr/>
        </p:nvPicPr>
        <p:blipFill>
          <a:blip r:embed="rId3"/>
          <a:stretch>
            <a:fillRect/>
          </a:stretch>
        </p:blipFill>
        <p:spPr>
          <a:xfrm>
            <a:off x="1428749" y="3502123"/>
            <a:ext cx="6699250" cy="2988018"/>
          </a:xfrm>
          <a:prstGeom prst="rect">
            <a:avLst/>
          </a:prstGeom>
        </p:spPr>
      </p:pic>
    </p:spTree>
    <p:extLst>
      <p:ext uri="{BB962C8B-B14F-4D97-AF65-F5344CB8AC3E}">
        <p14:creationId xmlns:p14="http://schemas.microsoft.com/office/powerpoint/2010/main" val="31855628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960934ED-8494-462D-90F0-691616148B9F}"/>
              </a:ext>
            </a:extLst>
          </p:cNvPr>
          <p:cNvSpPr txBox="1"/>
          <p:nvPr/>
        </p:nvSpPr>
        <p:spPr>
          <a:xfrm>
            <a:off x="95250" y="789764"/>
            <a:ext cx="115288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GPT-4</a:t>
            </a:r>
            <a:endParaRPr lang="zh-CN" altLang="en-US"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F3F4256-C56E-441F-93D3-E755FFBA3DA6}"/>
              </a:ext>
            </a:extLst>
          </p:cNvPr>
          <p:cNvSpPr/>
          <p:nvPr/>
        </p:nvSpPr>
        <p:spPr>
          <a:xfrm>
            <a:off x="387350" y="1122367"/>
            <a:ext cx="8483600" cy="787523"/>
          </a:xfrm>
          <a:prstGeom prst="rect">
            <a:avLst/>
          </a:prstGeom>
        </p:spPr>
        <p:txBody>
          <a:bodyPr wrap="square">
            <a:spAutoFit/>
          </a:bodyPr>
          <a:lstStyle/>
          <a:p>
            <a:pPr>
              <a:lnSpc>
                <a:spcPct val="150000"/>
              </a:lnSpc>
            </a:pPr>
            <a:r>
              <a:rPr lang="en-US" altLang="zh-CN" sz="1600" dirty="0">
                <a:solidFill>
                  <a:srgbClr val="191B1F"/>
                </a:solidFill>
                <a:latin typeface="微软雅黑" panose="020B0503020204020204" pitchFamily="34" charset="-122"/>
                <a:ea typeface="微软雅黑" panose="020B0503020204020204" pitchFamily="34" charset="-122"/>
              </a:rPr>
              <a:t>2023</a:t>
            </a:r>
            <a:r>
              <a:rPr lang="zh-CN" altLang="en-US" sz="1600" dirty="0">
                <a:solidFill>
                  <a:srgbClr val="191B1F"/>
                </a:solidFill>
                <a:latin typeface="微软雅黑" panose="020B0503020204020204" pitchFamily="34" charset="-122"/>
                <a:ea typeface="微软雅黑" panose="020B0503020204020204" pitchFamily="34" charset="-122"/>
              </a:rPr>
              <a:t>年提出的</a:t>
            </a:r>
            <a:r>
              <a:rPr lang="en-US" altLang="zh-CN" sz="1600" dirty="0">
                <a:solidFill>
                  <a:srgbClr val="191B1F"/>
                </a:solidFill>
                <a:latin typeface="微软雅黑" panose="020B0503020204020204" pitchFamily="34" charset="-122"/>
                <a:ea typeface="微软雅黑" panose="020B0503020204020204" pitchFamily="34" charset="-122"/>
              </a:rPr>
              <a:t>GPT-4</a:t>
            </a:r>
            <a:r>
              <a:rPr lang="zh-CN" altLang="en-US" sz="1600" dirty="0">
                <a:solidFill>
                  <a:srgbClr val="191B1F"/>
                </a:solidFill>
                <a:latin typeface="微软雅黑" panose="020B0503020204020204" pitchFamily="34" charset="-122"/>
                <a:ea typeface="微软雅黑" panose="020B0503020204020204" pitchFamily="34" charset="-122"/>
              </a:rPr>
              <a:t>开启了多模态时代。</a:t>
            </a:r>
            <a:r>
              <a:rPr lang="en-US" altLang="zh-CN" sz="1600" dirty="0">
                <a:solidFill>
                  <a:srgbClr val="191B1F"/>
                </a:solidFill>
                <a:latin typeface="微软雅黑" panose="020B0503020204020204" pitchFamily="34" charset="-122"/>
                <a:ea typeface="微软雅黑" panose="020B0503020204020204" pitchFamily="34" charset="-122"/>
              </a:rPr>
              <a:t>GPT-4</a:t>
            </a:r>
            <a:r>
              <a:rPr lang="zh-CN" altLang="en-US" sz="1600" dirty="0">
                <a:solidFill>
                  <a:srgbClr val="191B1F"/>
                </a:solidFill>
                <a:latin typeface="微软雅黑" panose="020B0503020204020204" pitchFamily="34" charset="-122"/>
                <a:ea typeface="微软雅黑" panose="020B0503020204020204" pitchFamily="34" charset="-122"/>
              </a:rPr>
              <a:t>的具体参数规模未公开，但业界估计在万亿级别训练数据量同样未公布，推测为百</a:t>
            </a:r>
            <a:r>
              <a:rPr lang="en-US" altLang="zh-CN" sz="1600" dirty="0">
                <a:solidFill>
                  <a:srgbClr val="191B1F"/>
                </a:solidFill>
                <a:latin typeface="微软雅黑" panose="020B0503020204020204" pitchFamily="34" charset="-122"/>
                <a:ea typeface="微软雅黑" panose="020B0503020204020204" pitchFamily="34" charset="-122"/>
              </a:rPr>
              <a:t>TB</a:t>
            </a:r>
            <a:r>
              <a:rPr lang="zh-CN" altLang="en-US" sz="1600" dirty="0">
                <a:solidFill>
                  <a:srgbClr val="191B1F"/>
                </a:solidFill>
                <a:latin typeface="微软雅黑" panose="020B0503020204020204" pitchFamily="34" charset="-122"/>
                <a:ea typeface="微软雅黑" panose="020B0503020204020204" pitchFamily="34" charset="-122"/>
              </a:rPr>
              <a:t>级别。</a:t>
            </a:r>
            <a:endParaRPr lang="zh-CN" altLang="en-US" sz="16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5A26356E-FBAD-440D-85DE-41EBE1D18344}"/>
              </a:ext>
            </a:extLst>
          </p:cNvPr>
          <p:cNvSpPr/>
          <p:nvPr/>
        </p:nvSpPr>
        <p:spPr>
          <a:xfrm>
            <a:off x="387350" y="1909890"/>
            <a:ext cx="7823200" cy="134690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成为首个真正意义上的</a:t>
            </a:r>
            <a:r>
              <a:rPr lang="zh-CN" altLang="en-US" sz="1400" b="1" dirty="0">
                <a:solidFill>
                  <a:srgbClr val="C00000"/>
                </a:solidFill>
                <a:latin typeface="微软雅黑" panose="020B0503020204020204" pitchFamily="34" charset="-122"/>
                <a:ea typeface="微软雅黑" panose="020B0503020204020204" pitchFamily="34" charset="-122"/>
              </a:rPr>
              <a:t>多模态模型</a:t>
            </a:r>
            <a:r>
              <a:rPr lang="zh-CN" altLang="en-US" sz="1400" dirty="0">
                <a:solidFill>
                  <a:srgbClr val="191B1F"/>
                </a:solidFill>
                <a:latin typeface="微软雅黑" panose="020B0503020204020204" pitchFamily="34" charset="-122"/>
                <a:ea typeface="微软雅黑" panose="020B0503020204020204" pitchFamily="34" charset="-122"/>
              </a:rPr>
              <a:t>，支持图像和文本输入；</a:t>
            </a:r>
          </a:p>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在</a:t>
            </a:r>
            <a:r>
              <a:rPr lang="zh-CN" altLang="en-US" sz="1400" b="1" dirty="0">
                <a:solidFill>
                  <a:srgbClr val="C00000"/>
                </a:solidFill>
                <a:latin typeface="微软雅黑" panose="020B0503020204020204" pitchFamily="34" charset="-122"/>
                <a:ea typeface="微软雅黑" panose="020B0503020204020204" pitchFamily="34" charset="-122"/>
              </a:rPr>
              <a:t>高级推理</a:t>
            </a:r>
            <a:r>
              <a:rPr lang="zh-CN" altLang="en-US" sz="1400" b="1" dirty="0">
                <a:solidFill>
                  <a:srgbClr val="191B1F"/>
                </a:solidFill>
                <a:latin typeface="微软雅黑" panose="020B0503020204020204" pitchFamily="34" charset="-122"/>
                <a:ea typeface="微软雅黑" panose="020B0503020204020204" pitchFamily="34" charset="-122"/>
              </a:rPr>
              <a:t>、复杂指令理解和创造性任务</a:t>
            </a:r>
            <a:r>
              <a:rPr lang="zh-CN" altLang="en-US" sz="1400" dirty="0">
                <a:solidFill>
                  <a:srgbClr val="191B1F"/>
                </a:solidFill>
                <a:latin typeface="微软雅黑" panose="020B0503020204020204" pitchFamily="34" charset="-122"/>
                <a:ea typeface="微软雅黑" panose="020B0503020204020204" pitchFamily="34" charset="-122"/>
              </a:rPr>
              <a:t>上表现突出；</a:t>
            </a:r>
          </a:p>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强化了</a:t>
            </a:r>
            <a:r>
              <a:rPr lang="zh-CN" altLang="en-US" sz="1400" b="1" dirty="0">
                <a:solidFill>
                  <a:srgbClr val="C00000"/>
                </a:solidFill>
                <a:latin typeface="微软雅黑" panose="020B0503020204020204" pitchFamily="34" charset="-122"/>
                <a:ea typeface="微软雅黑" panose="020B0503020204020204" pitchFamily="34" charset="-122"/>
              </a:rPr>
              <a:t>安全性和对齐性处理</a:t>
            </a:r>
            <a:r>
              <a:rPr lang="zh-CN" altLang="en-US" sz="1400" dirty="0">
                <a:solidFill>
                  <a:srgbClr val="191B1F"/>
                </a:solidFill>
                <a:latin typeface="微软雅黑" panose="020B0503020204020204" pitchFamily="34" charset="-122"/>
                <a:ea typeface="微软雅黑" panose="020B0503020204020204" pitchFamily="34" charset="-122"/>
              </a:rPr>
              <a:t>机制；</a:t>
            </a:r>
          </a:p>
          <a:p>
            <a:pPr marL="285750" indent="-285750">
              <a:lnSpc>
                <a:spcPct val="150000"/>
              </a:lnSpc>
              <a:buFont typeface="Arial" panose="020B0604020202020204" pitchFamily="34" charset="0"/>
              <a:buChar char="•"/>
            </a:pPr>
            <a:r>
              <a:rPr lang="zh-CN" altLang="en-US" sz="1400" dirty="0">
                <a:solidFill>
                  <a:srgbClr val="191B1F"/>
                </a:solidFill>
                <a:latin typeface="微软雅黑" panose="020B0503020204020204" pitchFamily="34" charset="-122"/>
                <a:ea typeface="微软雅黑" panose="020B0503020204020204" pitchFamily="34" charset="-122"/>
              </a:rPr>
              <a:t>架构设计更加复杂，可能引入了</a:t>
            </a:r>
            <a:r>
              <a:rPr lang="zh-CN" altLang="en-US" sz="1400" b="1" dirty="0">
                <a:solidFill>
                  <a:srgbClr val="191B1F"/>
                </a:solidFill>
                <a:latin typeface="微软雅黑" panose="020B0503020204020204" pitchFamily="34" charset="-122"/>
                <a:ea typeface="微软雅黑" panose="020B0503020204020204" pitchFamily="34" charset="-122"/>
              </a:rPr>
              <a:t>混合专家系统（</a:t>
            </a:r>
            <a:r>
              <a:rPr lang="en-US" altLang="zh-CN" sz="1400" b="1" dirty="0" err="1">
                <a:solidFill>
                  <a:srgbClr val="191B1F"/>
                </a:solidFill>
                <a:latin typeface="微软雅黑" panose="020B0503020204020204" pitchFamily="34" charset="-122"/>
                <a:ea typeface="微软雅黑" panose="020B0503020204020204" pitchFamily="34" charset="-122"/>
              </a:rPr>
              <a:t>MoE</a:t>
            </a:r>
            <a:r>
              <a:rPr lang="zh-CN" altLang="en-US" sz="1400" b="1" dirty="0">
                <a:solidFill>
                  <a:srgbClr val="191B1F"/>
                </a:solidFill>
                <a:latin typeface="微软雅黑" panose="020B0503020204020204" pitchFamily="34" charset="-122"/>
                <a:ea typeface="微软雅黑" panose="020B0503020204020204" pitchFamily="34" charset="-122"/>
              </a:rPr>
              <a:t>）</a:t>
            </a:r>
            <a:r>
              <a:rPr lang="zh-CN" altLang="en-US" sz="1400" dirty="0">
                <a:solidFill>
                  <a:srgbClr val="191B1F"/>
                </a:solidFill>
                <a:latin typeface="微软雅黑" panose="020B0503020204020204" pitchFamily="34" charset="-122"/>
                <a:ea typeface="微软雅黑" panose="020B0503020204020204" pitchFamily="34" charset="-122"/>
              </a:rPr>
              <a:t>等创新技术。</a:t>
            </a:r>
            <a:endParaRPr lang="zh-CN" altLang="en-US" sz="1400" b="0" i="0" dirty="0">
              <a:solidFill>
                <a:srgbClr val="191B1F"/>
              </a:solidFill>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41D06C63-C38D-4E1D-B831-1340A8244D03}"/>
              </a:ext>
            </a:extLst>
          </p:cNvPr>
          <p:cNvSpPr txBox="1"/>
          <p:nvPr/>
        </p:nvSpPr>
        <p:spPr>
          <a:xfrm>
            <a:off x="88900" y="3360059"/>
            <a:ext cx="115288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GPT-5</a:t>
            </a:r>
            <a:endParaRPr lang="zh-CN" altLang="en-US"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E2397BC3-C3FB-4895-8C2E-A84194121A02}"/>
              </a:ext>
            </a:extLst>
          </p:cNvPr>
          <p:cNvSpPr/>
          <p:nvPr/>
        </p:nvSpPr>
        <p:spPr>
          <a:xfrm>
            <a:off x="279400" y="3687117"/>
            <a:ext cx="8585200" cy="787523"/>
          </a:xfrm>
          <a:prstGeom prst="rect">
            <a:avLst/>
          </a:prstGeom>
        </p:spPr>
        <p:txBody>
          <a:bodyPr wrap="square">
            <a:spAutoFit/>
          </a:bodyPr>
          <a:lstStyle/>
          <a:p>
            <a:pPr>
              <a:lnSpc>
                <a:spcPct val="150000"/>
              </a:lnSpc>
            </a:pPr>
            <a:r>
              <a:rPr lang="en-US" altLang="zh-CN" sz="1600" b="1" dirty="0">
                <a:solidFill>
                  <a:srgbClr val="191B1F"/>
                </a:solidFill>
                <a:latin typeface="微软雅黑" panose="020B0503020204020204" pitchFamily="34" charset="-122"/>
                <a:ea typeface="微软雅黑" panose="020B0503020204020204" pitchFamily="34" charset="-122"/>
              </a:rPr>
              <a:t>GPT-5</a:t>
            </a:r>
            <a:r>
              <a:rPr lang="zh-CN" altLang="en-US" sz="1600" dirty="0">
                <a:solidFill>
                  <a:srgbClr val="191B1F"/>
                </a:solidFill>
                <a:latin typeface="微软雅黑" panose="020B0503020204020204" pitchFamily="34" charset="-122"/>
                <a:ea typeface="微软雅黑" panose="020B0503020204020204" pitchFamily="34" charset="-122"/>
              </a:rPr>
              <a:t> 是 </a:t>
            </a:r>
            <a:r>
              <a:rPr lang="en-US" altLang="zh-CN" sz="1600" dirty="0" err="1">
                <a:solidFill>
                  <a:srgbClr val="191B1F"/>
                </a:solidFill>
                <a:latin typeface="微软雅黑" panose="020B0503020204020204" pitchFamily="34" charset="-122"/>
                <a:ea typeface="微软雅黑" panose="020B0503020204020204" pitchFamily="34" charset="-122"/>
              </a:rPr>
              <a:t>OpenAI</a:t>
            </a:r>
            <a:r>
              <a:rPr lang="en-US" altLang="zh-CN" sz="1600" dirty="0">
                <a:solidFill>
                  <a:srgbClr val="191B1F"/>
                </a:solidFill>
                <a:latin typeface="微软雅黑" panose="020B0503020204020204" pitchFamily="34" charset="-122"/>
                <a:ea typeface="微软雅黑" panose="020B0503020204020204" pitchFamily="34" charset="-122"/>
              </a:rPr>
              <a:t> </a:t>
            </a:r>
            <a:r>
              <a:rPr lang="zh-CN" altLang="en-US" sz="1600" dirty="0">
                <a:solidFill>
                  <a:srgbClr val="191B1F"/>
                </a:solidFill>
                <a:latin typeface="微软雅黑" panose="020B0503020204020204" pitchFamily="34" charset="-122"/>
                <a:ea typeface="微软雅黑" panose="020B0503020204020204" pitchFamily="34" charset="-122"/>
              </a:rPr>
              <a:t>于 </a:t>
            </a:r>
            <a:r>
              <a:rPr lang="en-US" altLang="zh-CN" sz="1600" dirty="0">
                <a:solidFill>
                  <a:srgbClr val="191B1F"/>
                </a:solidFill>
                <a:latin typeface="微软雅黑" panose="020B0503020204020204" pitchFamily="34" charset="-122"/>
                <a:ea typeface="微软雅黑" panose="020B0503020204020204" pitchFamily="34" charset="-122"/>
              </a:rPr>
              <a:t>2025 </a:t>
            </a:r>
            <a:r>
              <a:rPr lang="zh-CN" altLang="en-US" sz="1600" dirty="0">
                <a:solidFill>
                  <a:srgbClr val="191B1F"/>
                </a:solidFill>
                <a:latin typeface="微软雅黑" panose="020B0503020204020204" pitchFamily="34" charset="-122"/>
                <a:ea typeface="微软雅黑" panose="020B0503020204020204" pitchFamily="34" charset="-122"/>
              </a:rPr>
              <a:t>年 </a:t>
            </a:r>
            <a:r>
              <a:rPr lang="en-US" altLang="zh-CN" sz="1600" dirty="0">
                <a:solidFill>
                  <a:srgbClr val="191B1F"/>
                </a:solidFill>
                <a:latin typeface="微软雅黑" panose="020B0503020204020204" pitchFamily="34" charset="-122"/>
                <a:ea typeface="微软雅黑" panose="020B0503020204020204" pitchFamily="34" charset="-122"/>
              </a:rPr>
              <a:t>8 </a:t>
            </a:r>
            <a:r>
              <a:rPr lang="zh-CN" altLang="en-US" sz="1600" dirty="0">
                <a:solidFill>
                  <a:srgbClr val="191B1F"/>
                </a:solidFill>
                <a:latin typeface="微软雅黑" panose="020B0503020204020204" pitchFamily="34" charset="-122"/>
                <a:ea typeface="微软雅黑" panose="020B0503020204020204" pitchFamily="34" charset="-122"/>
              </a:rPr>
              <a:t>月 </a:t>
            </a:r>
            <a:r>
              <a:rPr lang="en-US" altLang="zh-CN" sz="1600" dirty="0">
                <a:solidFill>
                  <a:srgbClr val="191B1F"/>
                </a:solidFill>
                <a:latin typeface="微软雅黑" panose="020B0503020204020204" pitchFamily="34" charset="-122"/>
                <a:ea typeface="微软雅黑" panose="020B0503020204020204" pitchFamily="34" charset="-122"/>
              </a:rPr>
              <a:t>7 </a:t>
            </a:r>
            <a:r>
              <a:rPr lang="zh-CN" altLang="en-US" sz="1600" dirty="0">
                <a:solidFill>
                  <a:srgbClr val="191B1F"/>
                </a:solidFill>
                <a:latin typeface="微软雅黑" panose="020B0503020204020204" pitchFamily="34" charset="-122"/>
                <a:ea typeface="微软雅黑" panose="020B0503020204020204" pitchFamily="34" charset="-122"/>
              </a:rPr>
              <a:t>日发布的最新人工智能模型，它在</a:t>
            </a:r>
            <a:r>
              <a:rPr lang="zh-CN" altLang="en-US" sz="1600" b="1" dirty="0">
                <a:solidFill>
                  <a:srgbClr val="191B1F"/>
                </a:solidFill>
                <a:latin typeface="微软雅黑" panose="020B0503020204020204" pitchFamily="34" charset="-122"/>
                <a:ea typeface="微软雅黑" panose="020B0503020204020204" pitchFamily="34" charset="-122"/>
              </a:rPr>
              <a:t>智能水平、多模态处理、指令遵循和安全性</a:t>
            </a:r>
            <a:r>
              <a:rPr lang="zh-CN" altLang="en-US" sz="1600" dirty="0">
                <a:solidFill>
                  <a:srgbClr val="191B1F"/>
                </a:solidFill>
                <a:latin typeface="微软雅黑" panose="020B0503020204020204" pitchFamily="34" charset="-122"/>
                <a:ea typeface="微软雅黑" panose="020B0503020204020204" pitchFamily="34" charset="-122"/>
              </a:rPr>
              <a:t>等方面实现了重大飞跃，为用户提供更智能、更实用的交互体验。</a:t>
            </a:r>
            <a:endParaRPr lang="zh-CN" altLang="en-US" sz="16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1819FFB3-15F8-4BAE-A365-A911BB2F5475}"/>
              </a:ext>
            </a:extLst>
          </p:cNvPr>
          <p:cNvSpPr/>
          <p:nvPr/>
        </p:nvSpPr>
        <p:spPr>
          <a:xfrm>
            <a:off x="381000" y="4490266"/>
            <a:ext cx="8483600" cy="2275688"/>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统一系统架构</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GPT-5 </a:t>
            </a:r>
            <a:r>
              <a:rPr lang="zh-CN" altLang="en-US" sz="1200" dirty="0">
                <a:latin typeface="微软雅黑" panose="020B0503020204020204" pitchFamily="34" charset="-122"/>
                <a:ea typeface="微软雅黑" panose="020B0503020204020204" pitchFamily="34" charset="-122"/>
              </a:rPr>
              <a:t>采用统一系统架构，包含智能高效的通用模型、更深入的推理模型（</a:t>
            </a:r>
            <a:r>
              <a:rPr lang="en-US" altLang="zh-CN" sz="1200" dirty="0">
                <a:latin typeface="微软雅黑" panose="020B0503020204020204" pitchFamily="34" charset="-122"/>
                <a:ea typeface="微软雅黑" panose="020B0503020204020204" pitchFamily="34" charset="-122"/>
              </a:rPr>
              <a:t>GPT-5 Thinking</a:t>
            </a:r>
            <a:r>
              <a:rPr lang="zh-CN" altLang="en-US" sz="1200" dirty="0">
                <a:latin typeface="微软雅黑" panose="020B0503020204020204" pitchFamily="34" charset="-122"/>
                <a:ea typeface="微软雅黑" panose="020B0503020204020204" pitchFamily="34" charset="-122"/>
              </a:rPr>
              <a:t>）和实时路由器，能够根据对话类型、复杂度和用户意图动态选择合适的模型。</a:t>
            </a:r>
          </a:p>
          <a:p>
            <a:pPr marL="171450" indent="-171450">
              <a:lnSpc>
                <a:spcPct val="150000"/>
              </a:lnSpc>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多模态能力</a:t>
            </a:r>
            <a:r>
              <a:rPr lang="zh-CN" altLang="en-US" sz="1200" dirty="0">
                <a:latin typeface="微软雅黑" panose="020B0503020204020204" pitchFamily="34" charset="-122"/>
                <a:ea typeface="微软雅黑" panose="020B0503020204020204" pitchFamily="34" charset="-122"/>
              </a:rPr>
              <a:t>：在视觉、视频、空间及科学推理等多模态基准测试中表现优异，能够准确处理图片及其他非文本输入，如解读图表、总结演示文稿照片等。</a:t>
            </a:r>
          </a:p>
          <a:p>
            <a:pPr marL="171450" indent="-171450">
              <a:lnSpc>
                <a:spcPct val="150000"/>
              </a:lnSpc>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指令遵循与自主工具使用</a:t>
            </a:r>
            <a:r>
              <a:rPr lang="zh-CN" altLang="en-US" sz="1200" dirty="0">
                <a:latin typeface="微软雅黑" panose="020B0503020204020204" pitchFamily="34" charset="-122"/>
                <a:ea typeface="微软雅黑" panose="020B0503020204020204" pitchFamily="34" charset="-122"/>
              </a:rPr>
              <a:t>：显著提升了指令遵循和</a:t>
            </a:r>
            <a:r>
              <a:rPr lang="zh-CN" altLang="en-US" sz="1200" b="1" dirty="0">
                <a:solidFill>
                  <a:srgbClr val="C00000"/>
                </a:solidFill>
                <a:latin typeface="微软雅黑" panose="020B0503020204020204" pitchFamily="34" charset="-122"/>
                <a:ea typeface="微软雅黑" panose="020B0503020204020204" pitchFamily="34" charset="-122"/>
              </a:rPr>
              <a:t>自主工具使用能力</a:t>
            </a:r>
            <a:r>
              <a:rPr lang="zh-CN" altLang="en-US" sz="1200" dirty="0">
                <a:latin typeface="微软雅黑" panose="020B0503020204020204" pitchFamily="34" charset="-122"/>
                <a:ea typeface="微软雅黑" panose="020B0503020204020204" pitchFamily="34" charset="-122"/>
              </a:rPr>
              <a:t>，能够可靠地执行多步骤请求、</a:t>
            </a:r>
            <a:r>
              <a:rPr lang="zh-CN" altLang="en-US" sz="1200" b="1" dirty="0">
                <a:solidFill>
                  <a:srgbClr val="C00000"/>
                </a:solidFill>
                <a:latin typeface="微软雅黑" panose="020B0503020204020204" pitchFamily="34" charset="-122"/>
                <a:ea typeface="微软雅黑" panose="020B0503020204020204" pitchFamily="34" charset="-122"/>
              </a:rPr>
              <a:t>协调不同工具</a:t>
            </a:r>
            <a:r>
              <a:rPr lang="zh-CN" altLang="en-US" sz="1200" dirty="0">
                <a:latin typeface="微软雅黑" panose="020B0503020204020204" pitchFamily="34" charset="-122"/>
                <a:ea typeface="微软雅黑" panose="020B0503020204020204" pitchFamily="34" charset="-122"/>
              </a:rPr>
              <a:t>，并适应背景信息变化。</a:t>
            </a:r>
          </a:p>
          <a:p>
            <a:pPr marL="171450" indent="-171450">
              <a:lnSpc>
                <a:spcPct val="150000"/>
              </a:lnSpc>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安全性与可靠性</a:t>
            </a:r>
            <a:r>
              <a:rPr lang="zh-CN" altLang="en-US" sz="1200" dirty="0">
                <a:latin typeface="微软雅黑" panose="020B0503020204020204" pitchFamily="34" charset="-122"/>
                <a:ea typeface="微软雅黑" panose="020B0503020204020204" pitchFamily="34" charset="-122"/>
              </a:rPr>
              <a:t>：引入“安全完成”训练方法，使模型在提供有帮助的答案的同时保持在安全边界内，</a:t>
            </a:r>
            <a:r>
              <a:rPr lang="zh-CN" altLang="en-US" sz="1200" b="1" dirty="0">
                <a:solidFill>
                  <a:srgbClr val="C00000"/>
                </a:solidFill>
                <a:latin typeface="微软雅黑" panose="020B0503020204020204" pitchFamily="34" charset="-122"/>
                <a:ea typeface="微软雅黑" panose="020B0503020204020204" pitchFamily="34" charset="-122"/>
              </a:rPr>
              <a:t>减少幻觉和阿谀奉承行为</a:t>
            </a:r>
            <a:r>
              <a:rPr lang="zh-CN" altLang="en-US" sz="1200" dirty="0">
                <a:latin typeface="微软雅黑" panose="020B0503020204020204" pitchFamily="34" charset="-122"/>
                <a:ea typeface="微软雅黑" panose="020B0503020204020204" pitchFamily="34" charset="-122"/>
              </a:rPr>
              <a:t>，提升事实准确性和诚实度。</a:t>
            </a:r>
          </a:p>
        </p:txBody>
      </p:sp>
    </p:spTree>
    <p:extLst>
      <p:ext uri="{BB962C8B-B14F-4D97-AF65-F5344CB8AC3E}">
        <p14:creationId xmlns:p14="http://schemas.microsoft.com/office/powerpoint/2010/main" val="1595432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7" name="图片 6">
            <a:extLst>
              <a:ext uri="{FF2B5EF4-FFF2-40B4-BE49-F238E27FC236}">
                <a16:creationId xmlns:a16="http://schemas.microsoft.com/office/drawing/2014/main" id="{FCDAD05C-8573-4497-A664-911FBAB6E5CA}"/>
              </a:ext>
            </a:extLst>
          </p:cNvPr>
          <p:cNvPicPr>
            <a:picLocks noChangeAspect="1"/>
          </p:cNvPicPr>
          <p:nvPr/>
        </p:nvPicPr>
        <p:blipFill>
          <a:blip r:embed="rId3"/>
          <a:stretch>
            <a:fillRect/>
          </a:stretch>
        </p:blipFill>
        <p:spPr>
          <a:xfrm>
            <a:off x="1697491" y="0"/>
            <a:ext cx="5749018" cy="6858000"/>
          </a:xfrm>
          <a:prstGeom prst="rect">
            <a:avLst/>
          </a:prstGeom>
        </p:spPr>
      </p:pic>
    </p:spTree>
    <p:extLst>
      <p:ext uri="{BB962C8B-B14F-4D97-AF65-F5344CB8AC3E}">
        <p14:creationId xmlns:p14="http://schemas.microsoft.com/office/powerpoint/2010/main" val="21129179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 name="文本框 5">
            <a:extLst>
              <a:ext uri="{FF2B5EF4-FFF2-40B4-BE49-F238E27FC236}">
                <a16:creationId xmlns:a16="http://schemas.microsoft.com/office/drawing/2014/main" id="{F5FF3603-76A7-47CE-9A51-B90ECC3E6A1C}"/>
              </a:ext>
            </a:extLst>
          </p:cNvPr>
          <p:cNvSpPr txBox="1"/>
          <p:nvPr/>
        </p:nvSpPr>
        <p:spPr>
          <a:xfrm>
            <a:off x="95250" y="789764"/>
            <a:ext cx="2113079"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err="1">
                <a:latin typeface="微软雅黑" panose="020B0503020204020204" pitchFamily="34" charset="-122"/>
                <a:ea typeface="微软雅黑" panose="020B0503020204020204" pitchFamily="34" charset="-122"/>
              </a:rPr>
              <a:t>DeepSeek</a:t>
            </a:r>
            <a:r>
              <a:rPr lang="en-US" altLang="zh-CN" dirty="0">
                <a:latin typeface="微软雅黑" panose="020B0503020204020204" pitchFamily="34" charset="-122"/>
                <a:ea typeface="微软雅黑" panose="020B0503020204020204" pitchFamily="34" charset="-122"/>
              </a:rPr>
              <a:t> LLM</a:t>
            </a:r>
            <a:endParaRPr lang="zh-CN" altLang="en-US"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643413BB-1529-433D-A354-C5B929855524}"/>
              </a:ext>
            </a:extLst>
          </p:cNvPr>
          <p:cNvSpPr/>
          <p:nvPr/>
        </p:nvSpPr>
        <p:spPr>
          <a:xfrm>
            <a:off x="393700" y="1207185"/>
            <a:ext cx="8489950" cy="2634183"/>
          </a:xfrm>
          <a:prstGeom prst="rect">
            <a:avLst/>
          </a:prstGeom>
        </p:spPr>
        <p:txBody>
          <a:bodyPr wrap="square">
            <a:spAutoFit/>
          </a:bodyPr>
          <a:lstStyle/>
          <a:p>
            <a:pPr>
              <a:lnSpc>
                <a:spcPct val="150000"/>
              </a:lnSpc>
            </a:pPr>
            <a:r>
              <a:rPr lang="zh-CN" altLang="en-US" sz="1600" dirty="0">
                <a:solidFill>
                  <a:srgbClr val="191B1F"/>
                </a:solidFill>
                <a:latin typeface="微软雅黑" panose="020B0503020204020204" pitchFamily="34" charset="-122"/>
                <a:ea typeface="微软雅黑" panose="020B0503020204020204" pitchFamily="34" charset="-122"/>
              </a:rPr>
              <a:t>在</a:t>
            </a:r>
            <a:r>
              <a:rPr lang="en-US" altLang="zh-CN" sz="1600" dirty="0">
                <a:solidFill>
                  <a:srgbClr val="191B1F"/>
                </a:solidFill>
                <a:latin typeface="微软雅黑" panose="020B0503020204020204" pitchFamily="34" charset="-122"/>
                <a:ea typeface="微软雅黑" panose="020B0503020204020204" pitchFamily="34" charset="-122"/>
              </a:rPr>
              <a:t>2024</a:t>
            </a:r>
            <a:r>
              <a:rPr lang="zh-CN" altLang="en-US" sz="1600" dirty="0">
                <a:solidFill>
                  <a:srgbClr val="191B1F"/>
                </a:solidFill>
                <a:latin typeface="微软雅黑" panose="020B0503020204020204" pitchFamily="34" charset="-122"/>
                <a:ea typeface="微软雅黑" panose="020B0503020204020204" pitchFamily="34" charset="-122"/>
              </a:rPr>
              <a:t>年</a:t>
            </a:r>
            <a:r>
              <a:rPr lang="en-US" altLang="zh-CN" sz="1600" dirty="0">
                <a:solidFill>
                  <a:srgbClr val="191B1F"/>
                </a:solidFill>
                <a:latin typeface="微软雅黑" panose="020B0503020204020204" pitchFamily="34" charset="-122"/>
                <a:ea typeface="微软雅黑" panose="020B0503020204020204" pitchFamily="34" charset="-122"/>
              </a:rPr>
              <a:t>1</a:t>
            </a:r>
            <a:r>
              <a:rPr lang="zh-CN" altLang="en-US" sz="1600" dirty="0">
                <a:solidFill>
                  <a:srgbClr val="191B1F"/>
                </a:solidFill>
                <a:latin typeface="微软雅黑" panose="020B0503020204020204" pitchFamily="34" charset="-122"/>
                <a:ea typeface="微软雅黑" panose="020B0503020204020204" pitchFamily="34" charset="-122"/>
              </a:rPr>
              <a:t>月前后的时间，基于解码器的</a:t>
            </a:r>
            <a:r>
              <a:rPr lang="en-US" altLang="zh-CN" sz="1600" dirty="0">
                <a:solidFill>
                  <a:srgbClr val="191B1F"/>
                </a:solidFill>
                <a:latin typeface="微软雅黑" panose="020B0503020204020204" pitchFamily="34" charset="-122"/>
                <a:ea typeface="微软雅黑" panose="020B0503020204020204" pitchFamily="34" charset="-122"/>
              </a:rPr>
              <a:t>Transformer</a:t>
            </a:r>
            <a:r>
              <a:rPr lang="zh-CN" altLang="en-US" sz="1600" dirty="0">
                <a:solidFill>
                  <a:srgbClr val="191B1F"/>
                </a:solidFill>
                <a:latin typeface="微软雅黑" panose="020B0503020204020204" pitchFamily="34" charset="-122"/>
                <a:ea typeface="微软雅黑" panose="020B0503020204020204" pitchFamily="34" charset="-122"/>
              </a:rPr>
              <a:t>大型语言模型（</a:t>
            </a:r>
            <a:r>
              <a:rPr lang="en-US" altLang="zh-CN" sz="1600" dirty="0">
                <a:solidFill>
                  <a:srgbClr val="191B1F"/>
                </a:solidFill>
                <a:latin typeface="微软雅黑" panose="020B0503020204020204" pitchFamily="34" charset="-122"/>
                <a:ea typeface="微软雅黑" panose="020B0503020204020204" pitchFamily="34" charset="-122"/>
              </a:rPr>
              <a:t>LLMs</a:t>
            </a:r>
            <a:r>
              <a:rPr lang="zh-CN" altLang="en-US" sz="1600" dirty="0">
                <a:solidFill>
                  <a:srgbClr val="191B1F"/>
                </a:solidFill>
                <a:latin typeface="微软雅黑" panose="020B0503020204020204" pitchFamily="34" charset="-122"/>
                <a:ea typeface="微软雅黑" panose="020B0503020204020204" pitchFamily="34" charset="-122"/>
              </a:rPr>
              <a:t>）的发展迅速，成为实现人工智能（</a:t>
            </a:r>
            <a:r>
              <a:rPr lang="en-US" altLang="zh-CN" sz="1600" dirty="0">
                <a:solidFill>
                  <a:srgbClr val="191B1F"/>
                </a:solidFill>
                <a:latin typeface="微软雅黑" panose="020B0503020204020204" pitchFamily="34" charset="-122"/>
                <a:ea typeface="微软雅黑" panose="020B0503020204020204" pitchFamily="34" charset="-122"/>
              </a:rPr>
              <a:t>AGI</a:t>
            </a:r>
            <a:r>
              <a:rPr lang="zh-CN" altLang="en-US" sz="1600" dirty="0">
                <a:solidFill>
                  <a:srgbClr val="191B1F"/>
                </a:solidFill>
                <a:latin typeface="微软雅黑" panose="020B0503020204020204" pitchFamily="34" charset="-122"/>
                <a:ea typeface="微软雅黑" panose="020B0503020204020204" pitchFamily="34" charset="-122"/>
              </a:rPr>
              <a:t>）的重要途径。尽管闭源产品如</a:t>
            </a:r>
            <a:r>
              <a:rPr lang="en-US" altLang="zh-CN" sz="1600" dirty="0" err="1">
                <a:solidFill>
                  <a:srgbClr val="191B1F"/>
                </a:solidFill>
                <a:latin typeface="微软雅黑" panose="020B0503020204020204" pitchFamily="34" charset="-122"/>
                <a:ea typeface="微软雅黑" panose="020B0503020204020204" pitchFamily="34" charset="-122"/>
              </a:rPr>
              <a:t>ChatGPT</a:t>
            </a:r>
            <a:r>
              <a:rPr lang="zh-CN" altLang="en-US" sz="1600" dirty="0">
                <a:solidFill>
                  <a:srgbClr val="191B1F"/>
                </a:solidFill>
                <a:latin typeface="微软雅黑" panose="020B0503020204020204" pitchFamily="34" charset="-122"/>
                <a:ea typeface="微软雅黑" panose="020B0503020204020204" pitchFamily="34" charset="-122"/>
              </a:rPr>
              <a:t>、</a:t>
            </a:r>
            <a:r>
              <a:rPr lang="en-US" altLang="zh-CN" sz="1600" dirty="0">
                <a:solidFill>
                  <a:srgbClr val="191B1F"/>
                </a:solidFill>
                <a:latin typeface="微软雅黑" panose="020B0503020204020204" pitchFamily="34" charset="-122"/>
                <a:ea typeface="微软雅黑" panose="020B0503020204020204" pitchFamily="34" charset="-122"/>
              </a:rPr>
              <a:t>Claude</a:t>
            </a:r>
            <a:r>
              <a:rPr lang="zh-CN" altLang="en-US" sz="1600" dirty="0">
                <a:solidFill>
                  <a:srgbClr val="191B1F"/>
                </a:solidFill>
                <a:latin typeface="微软雅黑" panose="020B0503020204020204" pitchFamily="34" charset="-122"/>
                <a:ea typeface="微软雅黑" panose="020B0503020204020204" pitchFamily="34" charset="-122"/>
              </a:rPr>
              <a:t>和</a:t>
            </a:r>
            <a:r>
              <a:rPr lang="en-US" altLang="zh-CN" sz="1600" dirty="0">
                <a:solidFill>
                  <a:srgbClr val="191B1F"/>
                </a:solidFill>
                <a:latin typeface="微软雅黑" panose="020B0503020204020204" pitchFamily="34" charset="-122"/>
                <a:ea typeface="微软雅黑" panose="020B0503020204020204" pitchFamily="34" charset="-122"/>
              </a:rPr>
              <a:t>Bard</a:t>
            </a:r>
            <a:r>
              <a:rPr lang="zh-CN" altLang="en-US" sz="1600" dirty="0">
                <a:solidFill>
                  <a:srgbClr val="191B1F"/>
                </a:solidFill>
                <a:latin typeface="微软雅黑" panose="020B0503020204020204" pitchFamily="34" charset="-122"/>
                <a:ea typeface="微软雅黑" panose="020B0503020204020204" pitchFamily="34" charset="-122"/>
              </a:rPr>
              <a:t>在计算资源和标注成本上具有优势，但开源</a:t>
            </a:r>
            <a:r>
              <a:rPr lang="en-US" altLang="zh-CN" sz="1600" dirty="0">
                <a:solidFill>
                  <a:srgbClr val="191B1F"/>
                </a:solidFill>
                <a:latin typeface="微软雅黑" panose="020B0503020204020204" pitchFamily="34" charset="-122"/>
                <a:ea typeface="微软雅黑" panose="020B0503020204020204" pitchFamily="34" charset="-122"/>
              </a:rPr>
              <a:t>LLMs</a:t>
            </a:r>
            <a:r>
              <a:rPr lang="zh-CN" altLang="en-US" sz="1600" dirty="0">
                <a:solidFill>
                  <a:srgbClr val="191B1F"/>
                </a:solidFill>
                <a:latin typeface="微软雅黑" panose="020B0503020204020204" pitchFamily="34" charset="-122"/>
                <a:ea typeface="微软雅黑" panose="020B0503020204020204" pitchFamily="34" charset="-122"/>
              </a:rPr>
              <a:t>的性能仍需提升。</a:t>
            </a:r>
            <a:endParaRPr lang="en-US" altLang="zh-CN" sz="1600" dirty="0">
              <a:solidFill>
                <a:srgbClr val="191B1F"/>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b="1" dirty="0" err="1">
                <a:latin typeface="微软雅黑" panose="020B0503020204020204" pitchFamily="34" charset="-122"/>
                <a:ea typeface="微软雅黑" panose="020B0503020204020204" pitchFamily="34" charset="-122"/>
              </a:rPr>
              <a:t>DeepSeek</a:t>
            </a:r>
            <a:r>
              <a:rPr lang="en-US" altLang="zh-CN" sz="1600" b="1" dirty="0">
                <a:latin typeface="微软雅黑" panose="020B0503020204020204" pitchFamily="34" charset="-122"/>
                <a:ea typeface="微软雅黑" panose="020B0503020204020204" pitchFamily="34" charset="-122"/>
              </a:rPr>
              <a:t> LLM</a:t>
            </a:r>
            <a:r>
              <a:rPr lang="zh-CN" altLang="en-US" sz="1600" dirty="0">
                <a:latin typeface="微软雅黑" panose="020B0503020204020204" pitchFamily="34" charset="-122"/>
                <a:ea typeface="微软雅黑" panose="020B0503020204020204" pitchFamily="34" charset="-122"/>
              </a:rPr>
              <a:t>旨在通过长期视角推动开源语言模型的发展。</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包含</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万亿</a:t>
            </a:r>
            <a:r>
              <a:rPr lang="en-US" altLang="zh-CN" sz="1600" dirty="0">
                <a:latin typeface="微软雅黑" panose="020B0503020204020204" pitchFamily="34" charset="-122"/>
                <a:ea typeface="微软雅黑" panose="020B0503020204020204" pitchFamily="34" charset="-122"/>
              </a:rPr>
              <a:t>token</a:t>
            </a:r>
            <a:r>
              <a:rPr lang="zh-CN" altLang="en-US" sz="1600" dirty="0">
                <a:latin typeface="微软雅黑" panose="020B0503020204020204" pitchFamily="34" charset="-122"/>
                <a:ea typeface="微软雅黑" panose="020B0503020204020204" pitchFamily="34" charset="-122"/>
              </a:rPr>
              <a:t>的数据集；</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err="1">
                <a:latin typeface="微软雅黑" panose="020B0503020204020204" pitchFamily="34" charset="-122"/>
                <a:ea typeface="微软雅黑" panose="020B0503020204020204" pitchFamily="34" charset="-122"/>
              </a:rPr>
              <a:t>DeepSeek</a:t>
            </a:r>
            <a:r>
              <a:rPr lang="en-US" altLang="zh-CN" sz="1600" dirty="0">
                <a:latin typeface="微软雅黑" panose="020B0503020204020204" pitchFamily="34" charset="-122"/>
                <a:ea typeface="微软雅黑" panose="020B0503020204020204" pitchFamily="34" charset="-122"/>
              </a:rPr>
              <a:t> LLM</a:t>
            </a:r>
            <a:r>
              <a:rPr lang="zh-CN" altLang="en-US" sz="1600" dirty="0">
                <a:latin typeface="微软雅黑" panose="020B0503020204020204" pitchFamily="34" charset="-122"/>
                <a:ea typeface="微软雅黑" panose="020B0503020204020204" pitchFamily="34" charset="-122"/>
              </a:rPr>
              <a:t>的微观设计主要遵循</a:t>
            </a:r>
            <a:r>
              <a:rPr lang="en-US" altLang="zh-CN" sz="1600" b="1" dirty="0" err="1">
                <a:latin typeface="微软雅黑" panose="020B0503020204020204" pitchFamily="34" charset="-122"/>
                <a:ea typeface="微软雅黑" panose="020B0503020204020204" pitchFamily="34" charset="-122"/>
              </a:rPr>
              <a:t>LLaMA</a:t>
            </a:r>
            <a:r>
              <a:rPr lang="zh-CN" altLang="en-US" sz="1600" dirty="0">
                <a:latin typeface="微软雅黑" panose="020B0503020204020204" pitchFamily="34" charset="-122"/>
                <a:ea typeface="微软雅黑" panose="020B0503020204020204" pitchFamily="34" charset="-122"/>
              </a:rPr>
              <a:t>的设计，采用</a:t>
            </a:r>
            <a:r>
              <a:rPr lang="en-US" altLang="zh-CN" sz="1600" dirty="0">
                <a:latin typeface="微软雅黑" panose="020B0503020204020204" pitchFamily="34" charset="-122"/>
                <a:ea typeface="微软雅黑" panose="020B0503020204020204" pitchFamily="34" charset="-122"/>
              </a:rPr>
              <a:t>Pre-Norm</a:t>
            </a:r>
            <a:r>
              <a:rPr lang="zh-CN" altLang="en-US" sz="1600" dirty="0">
                <a:latin typeface="微软雅黑" panose="020B0503020204020204" pitchFamily="34" charset="-122"/>
                <a:ea typeface="微软雅黑" panose="020B0503020204020204" pitchFamily="34" charset="-122"/>
              </a:rPr>
              <a:t>结构和</a:t>
            </a:r>
            <a:r>
              <a:rPr lang="en-US" altLang="zh-CN" sz="1600" dirty="0" err="1">
                <a:latin typeface="微软雅黑" panose="020B0503020204020204" pitchFamily="34" charset="-122"/>
                <a:ea typeface="微软雅黑" panose="020B0503020204020204" pitchFamily="34" charset="-122"/>
              </a:rPr>
              <a:t>RMSNorm</a:t>
            </a:r>
            <a:r>
              <a:rPr lang="zh-CN" altLang="en-US" sz="1600" dirty="0">
                <a:latin typeface="微软雅黑" panose="020B0503020204020204" pitchFamily="34" charset="-122"/>
                <a:ea typeface="微软雅黑" panose="020B0503020204020204" pitchFamily="34" charset="-122"/>
              </a:rPr>
              <a:t>函数，使用</a:t>
            </a:r>
            <a:r>
              <a:rPr lang="en-US" altLang="zh-CN" sz="1600" dirty="0" err="1">
                <a:latin typeface="微软雅黑" panose="020B0503020204020204" pitchFamily="34" charset="-122"/>
                <a:ea typeface="微软雅黑" panose="020B0503020204020204" pitchFamily="34" charset="-122"/>
              </a:rPr>
              <a:t>SwiGLU</a:t>
            </a:r>
            <a:r>
              <a:rPr lang="zh-CN" altLang="en-US" sz="1600" dirty="0">
                <a:latin typeface="微软雅黑" panose="020B0503020204020204" pitchFamily="34" charset="-122"/>
                <a:ea typeface="微软雅黑" panose="020B0503020204020204" pitchFamily="34" charset="-122"/>
              </a:rPr>
              <a:t>作为前馈网络的激活函数。</a:t>
            </a:r>
          </a:p>
        </p:txBody>
      </p:sp>
      <p:pic>
        <p:nvPicPr>
          <p:cNvPr id="4" name="图片 3">
            <a:extLst>
              <a:ext uri="{FF2B5EF4-FFF2-40B4-BE49-F238E27FC236}">
                <a16:creationId xmlns:a16="http://schemas.microsoft.com/office/drawing/2014/main" id="{5DC643DA-4FDC-42BF-80CF-3590251A4CAC}"/>
              </a:ext>
            </a:extLst>
          </p:cNvPr>
          <p:cNvPicPr>
            <a:picLocks noChangeAspect="1"/>
          </p:cNvPicPr>
          <p:nvPr/>
        </p:nvPicPr>
        <p:blipFill rotWithShape="1">
          <a:blip r:embed="rId3">
            <a:extLst>
              <a:ext uri="{28A0092B-C50C-407E-A947-70E740481C1C}">
                <a14:useLocalDpi xmlns:a14="http://schemas.microsoft.com/office/drawing/2010/main" val="0"/>
              </a:ext>
            </a:extLst>
          </a:blip>
          <a:srcRect l="2462" t="6509" r="1907" b="2127"/>
          <a:stretch/>
        </p:blipFill>
        <p:spPr>
          <a:xfrm>
            <a:off x="199747" y="4402222"/>
            <a:ext cx="8744505" cy="1460726"/>
          </a:xfrm>
          <a:prstGeom prst="rect">
            <a:avLst/>
          </a:prstGeom>
        </p:spPr>
      </p:pic>
    </p:spTree>
    <p:extLst>
      <p:ext uri="{BB962C8B-B14F-4D97-AF65-F5344CB8AC3E}">
        <p14:creationId xmlns:p14="http://schemas.microsoft.com/office/powerpoint/2010/main" val="569810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506E4E77-876D-40AA-8CD9-8C1F701E39FA}"/>
              </a:ext>
            </a:extLst>
          </p:cNvPr>
          <p:cNvSpPr txBox="1"/>
          <p:nvPr/>
        </p:nvSpPr>
        <p:spPr>
          <a:xfrm>
            <a:off x="95250" y="789764"/>
            <a:ext cx="1953483"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DeepSeek-V2</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BFF723D6-1CD3-4039-88DD-24B73F751CB0}"/>
              </a:ext>
            </a:extLst>
          </p:cNvPr>
          <p:cNvSpPr/>
          <p:nvPr/>
        </p:nvSpPr>
        <p:spPr>
          <a:xfrm>
            <a:off x="393700" y="1207185"/>
            <a:ext cx="8489950" cy="1526187"/>
          </a:xfrm>
          <a:prstGeom prst="rect">
            <a:avLst/>
          </a:prstGeom>
        </p:spPr>
        <p:txBody>
          <a:bodyPr wrap="square">
            <a:spAutoFit/>
          </a:bodyPr>
          <a:lstStyle/>
          <a:p>
            <a:pPr>
              <a:lnSpc>
                <a:spcPct val="150000"/>
              </a:lnSpc>
            </a:pPr>
            <a:r>
              <a:rPr lang="zh-CN" altLang="en-US" sz="1600" dirty="0">
                <a:solidFill>
                  <a:srgbClr val="191B1F"/>
                </a:solidFill>
                <a:latin typeface="微软雅黑" panose="020B0503020204020204" pitchFamily="34" charset="-122"/>
                <a:ea typeface="微软雅黑" panose="020B0503020204020204" pitchFamily="34" charset="-122"/>
              </a:rPr>
              <a:t>在</a:t>
            </a:r>
            <a:r>
              <a:rPr lang="en-US" altLang="zh-CN" sz="1600" dirty="0">
                <a:solidFill>
                  <a:srgbClr val="191B1F"/>
                </a:solidFill>
                <a:latin typeface="微软雅黑" panose="020B0503020204020204" pitchFamily="34" charset="-122"/>
                <a:ea typeface="微软雅黑" panose="020B0503020204020204" pitchFamily="34" charset="-122"/>
              </a:rPr>
              <a:t>2024</a:t>
            </a:r>
            <a:r>
              <a:rPr lang="zh-CN" altLang="en-US" sz="1600" dirty="0">
                <a:solidFill>
                  <a:srgbClr val="191B1F"/>
                </a:solidFill>
                <a:latin typeface="微软雅黑" panose="020B0503020204020204" pitchFamily="34" charset="-122"/>
                <a:ea typeface="微软雅黑" panose="020B0503020204020204" pitchFamily="34" charset="-122"/>
              </a:rPr>
              <a:t>年</a:t>
            </a:r>
            <a:r>
              <a:rPr lang="en-US" altLang="zh-CN" sz="1600" dirty="0">
                <a:solidFill>
                  <a:srgbClr val="191B1F"/>
                </a:solidFill>
                <a:latin typeface="微软雅黑" panose="020B0503020204020204" pitchFamily="34" charset="-122"/>
                <a:ea typeface="微软雅黑" panose="020B0503020204020204" pitchFamily="34" charset="-122"/>
              </a:rPr>
              <a:t>5</a:t>
            </a:r>
            <a:r>
              <a:rPr lang="zh-CN" altLang="en-US" sz="1600" dirty="0">
                <a:solidFill>
                  <a:srgbClr val="191B1F"/>
                </a:solidFill>
                <a:latin typeface="微软雅黑" panose="020B0503020204020204" pitchFamily="34" charset="-122"/>
                <a:ea typeface="微软雅黑" panose="020B0503020204020204" pitchFamily="34" charset="-122"/>
              </a:rPr>
              <a:t>月前后的时间，大语言模型（</a:t>
            </a:r>
            <a:r>
              <a:rPr lang="en-US" altLang="zh-CN" sz="1600" dirty="0">
                <a:solidFill>
                  <a:srgbClr val="191B1F"/>
                </a:solidFill>
                <a:latin typeface="微软雅黑" panose="020B0503020204020204" pitchFamily="34" charset="-122"/>
                <a:ea typeface="微软雅黑" panose="020B0503020204020204" pitchFamily="34" charset="-122"/>
              </a:rPr>
              <a:t>LLMs</a:t>
            </a:r>
            <a:r>
              <a:rPr lang="zh-CN" altLang="en-US" sz="1600" dirty="0">
                <a:solidFill>
                  <a:srgbClr val="191B1F"/>
                </a:solidFill>
                <a:latin typeface="微软雅黑" panose="020B0503020204020204" pitchFamily="34" charset="-122"/>
                <a:ea typeface="微软雅黑" panose="020B0503020204020204" pitchFamily="34" charset="-122"/>
              </a:rPr>
              <a:t>）的快速发展随着参数量的增加，模型的智能提升带来了更大的计算资源需求和推理吞吐量的潜在下降，限制了</a:t>
            </a:r>
            <a:r>
              <a:rPr lang="en-US" altLang="zh-CN" sz="1600" dirty="0">
                <a:solidFill>
                  <a:srgbClr val="191B1F"/>
                </a:solidFill>
                <a:latin typeface="微软雅黑" panose="020B0503020204020204" pitchFamily="34" charset="-122"/>
                <a:ea typeface="微软雅黑" panose="020B0503020204020204" pitchFamily="34" charset="-122"/>
              </a:rPr>
              <a:t>LLMs</a:t>
            </a:r>
            <a:r>
              <a:rPr lang="zh-CN" altLang="en-US" sz="1600" dirty="0">
                <a:solidFill>
                  <a:srgbClr val="191B1F"/>
                </a:solidFill>
                <a:latin typeface="微软雅黑" panose="020B0503020204020204" pitchFamily="34" charset="-122"/>
                <a:ea typeface="微软雅黑" panose="020B0503020204020204" pitchFamily="34" charset="-122"/>
              </a:rPr>
              <a:t>的广泛应用。</a:t>
            </a:r>
            <a:endParaRPr lang="en-US" altLang="zh-CN" sz="1600" dirty="0">
              <a:solidFill>
                <a:srgbClr val="191B1F"/>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solidFill>
                  <a:srgbClr val="191B1F"/>
                </a:solidFill>
                <a:latin typeface="微软雅黑" panose="020B0503020204020204" pitchFamily="34" charset="-122"/>
                <a:ea typeface="微软雅黑" panose="020B0503020204020204" pitchFamily="34" charset="-122"/>
              </a:rPr>
              <a:t>DeepSeek-V2</a:t>
            </a:r>
            <a:r>
              <a:rPr lang="zh-CN" altLang="en-US" sz="1600" dirty="0">
                <a:solidFill>
                  <a:srgbClr val="191B1F"/>
                </a:solidFill>
                <a:latin typeface="微软雅黑" panose="020B0503020204020204" pitchFamily="34" charset="-122"/>
                <a:ea typeface="微软雅黑" panose="020B0503020204020204" pitchFamily="34" charset="-122"/>
              </a:rPr>
              <a:t>主要目标是解决</a:t>
            </a:r>
            <a:r>
              <a:rPr lang="en-US" altLang="zh-CN" sz="1600" dirty="0">
                <a:solidFill>
                  <a:srgbClr val="191B1F"/>
                </a:solidFill>
                <a:latin typeface="微软雅黑" panose="020B0503020204020204" pitchFamily="34" charset="-122"/>
                <a:ea typeface="微软雅黑" panose="020B0503020204020204" pitchFamily="34" charset="-122"/>
              </a:rPr>
              <a:t>LLMs</a:t>
            </a:r>
            <a:r>
              <a:rPr lang="zh-CN" altLang="en-US" sz="1600" dirty="0">
                <a:solidFill>
                  <a:srgbClr val="191B1F"/>
                </a:solidFill>
                <a:latin typeface="微软雅黑" panose="020B0503020204020204" pitchFamily="34" charset="-122"/>
                <a:ea typeface="微软雅黑" panose="020B0503020204020204" pitchFamily="34" charset="-122"/>
              </a:rPr>
              <a:t>在训练和推理过程中资源消耗大的问题，通过创新架构（包括多头潜在注意力（</a:t>
            </a:r>
            <a:r>
              <a:rPr lang="en-US" altLang="zh-CN" sz="1600" dirty="0">
                <a:solidFill>
                  <a:srgbClr val="191B1F"/>
                </a:solidFill>
                <a:latin typeface="微软雅黑" panose="020B0503020204020204" pitchFamily="34" charset="-122"/>
                <a:ea typeface="微软雅黑" panose="020B0503020204020204" pitchFamily="34" charset="-122"/>
              </a:rPr>
              <a:t>MLA</a:t>
            </a:r>
            <a:r>
              <a:rPr lang="zh-CN" altLang="en-US" sz="1600" dirty="0">
                <a:solidFill>
                  <a:srgbClr val="191B1F"/>
                </a:solidFill>
                <a:latin typeface="微软雅黑" panose="020B0503020204020204" pitchFamily="34" charset="-122"/>
                <a:ea typeface="微软雅黑" panose="020B0503020204020204" pitchFamily="34" charset="-122"/>
              </a:rPr>
              <a:t>）和</a:t>
            </a:r>
            <a:r>
              <a:rPr lang="en-US" altLang="zh-CN" sz="1600" dirty="0" err="1">
                <a:solidFill>
                  <a:srgbClr val="191B1F"/>
                </a:solidFill>
                <a:latin typeface="微软雅黑" panose="020B0503020204020204" pitchFamily="34" charset="-122"/>
                <a:ea typeface="微软雅黑" panose="020B0503020204020204" pitchFamily="34" charset="-122"/>
              </a:rPr>
              <a:t>DeepSeekMoE</a:t>
            </a:r>
            <a:r>
              <a:rPr lang="zh-CN" altLang="en-US" sz="1600" dirty="0">
                <a:solidFill>
                  <a:srgbClr val="191B1F"/>
                </a:solidFill>
                <a:latin typeface="微软雅黑" panose="020B0503020204020204" pitchFamily="34" charset="-122"/>
                <a:ea typeface="微软雅黑" panose="020B0503020204020204" pitchFamily="34" charset="-122"/>
              </a:rPr>
              <a:t>）实现经济高效的训练和高效的推理。</a:t>
            </a:r>
            <a:endParaRPr lang="en-US" altLang="zh-CN" sz="1600" dirty="0">
              <a:solidFill>
                <a:srgbClr val="191B1F"/>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8267A903-2A93-476D-9D36-CD7C7E9E1D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45" y="3173031"/>
            <a:ext cx="7705817" cy="3554578"/>
          </a:xfrm>
          <a:prstGeom prst="rect">
            <a:avLst/>
          </a:prstGeom>
        </p:spPr>
      </p:pic>
      <p:pic>
        <p:nvPicPr>
          <p:cNvPr id="7" name="图片 6">
            <a:extLst>
              <a:ext uri="{FF2B5EF4-FFF2-40B4-BE49-F238E27FC236}">
                <a16:creationId xmlns:a16="http://schemas.microsoft.com/office/drawing/2014/main" id="{AE6047A7-3DE1-403C-B2AE-4C6B1D306B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357" y="0"/>
            <a:ext cx="8669286" cy="6858000"/>
          </a:xfrm>
          <a:prstGeom prst="rect">
            <a:avLst/>
          </a:prstGeom>
        </p:spPr>
      </p:pic>
    </p:spTree>
    <p:extLst>
      <p:ext uri="{BB962C8B-B14F-4D97-AF65-F5344CB8AC3E}">
        <p14:creationId xmlns:p14="http://schemas.microsoft.com/office/powerpoint/2010/main" val="290241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87F3BBF8-0DB9-4F96-B168-8AB6D2F91820}"/>
              </a:ext>
            </a:extLst>
          </p:cNvPr>
          <p:cNvSpPr txBox="1"/>
          <p:nvPr/>
        </p:nvSpPr>
        <p:spPr>
          <a:xfrm>
            <a:off x="95250" y="789764"/>
            <a:ext cx="1953483"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DeepSeek-V3</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E2F01CA6-EFBD-4C98-9561-ADF23F6025E5}"/>
              </a:ext>
            </a:extLst>
          </p:cNvPr>
          <p:cNvSpPr/>
          <p:nvPr/>
        </p:nvSpPr>
        <p:spPr>
          <a:xfrm>
            <a:off x="393700" y="1207185"/>
            <a:ext cx="8489950" cy="1156855"/>
          </a:xfrm>
          <a:prstGeom prst="rect">
            <a:avLst/>
          </a:prstGeom>
        </p:spPr>
        <p:txBody>
          <a:bodyPr wrap="square">
            <a:spAutoFit/>
          </a:bodyPr>
          <a:lstStyle/>
          <a:p>
            <a:pPr>
              <a:lnSpc>
                <a:spcPct val="150000"/>
              </a:lnSpc>
            </a:pPr>
            <a:r>
              <a:rPr lang="zh-CN" altLang="en-US" sz="1600" dirty="0">
                <a:solidFill>
                  <a:srgbClr val="191B1F"/>
                </a:solidFill>
                <a:latin typeface="微软雅黑" panose="020B0503020204020204" pitchFamily="34" charset="-122"/>
                <a:ea typeface="微软雅黑" panose="020B0503020204020204" pitchFamily="34" charset="-122"/>
              </a:rPr>
              <a:t>具有</a:t>
            </a:r>
            <a:r>
              <a:rPr lang="en-US" altLang="zh-CN" sz="1600" dirty="0">
                <a:solidFill>
                  <a:srgbClr val="191B1F"/>
                </a:solidFill>
                <a:latin typeface="微软雅黑" panose="020B0503020204020204" pitchFamily="34" charset="-122"/>
                <a:ea typeface="微软雅黑" panose="020B0503020204020204" pitchFamily="34" charset="-122"/>
              </a:rPr>
              <a:t>671B</a:t>
            </a:r>
            <a:r>
              <a:rPr lang="zh-CN" altLang="en-US" sz="1600" dirty="0">
                <a:solidFill>
                  <a:srgbClr val="191B1F"/>
                </a:solidFill>
                <a:latin typeface="微软雅黑" panose="020B0503020204020204" pitchFamily="34" charset="-122"/>
                <a:ea typeface="微软雅黑" panose="020B0503020204020204" pitchFamily="34" charset="-122"/>
              </a:rPr>
              <a:t>总参数的</a:t>
            </a:r>
            <a:r>
              <a:rPr lang="en-US" altLang="zh-CN" sz="1600" dirty="0" err="1">
                <a:solidFill>
                  <a:srgbClr val="191B1F"/>
                </a:solidFill>
                <a:latin typeface="微软雅黑" panose="020B0503020204020204" pitchFamily="34" charset="-122"/>
                <a:ea typeface="微软雅黑" panose="020B0503020204020204" pitchFamily="34" charset="-122"/>
              </a:rPr>
              <a:t>MoE</a:t>
            </a:r>
            <a:r>
              <a:rPr lang="zh-CN" altLang="en-US" sz="1600" dirty="0">
                <a:solidFill>
                  <a:srgbClr val="191B1F"/>
                </a:solidFill>
                <a:latin typeface="微软雅黑" panose="020B0503020204020204" pitchFamily="34" charset="-122"/>
                <a:ea typeface="微软雅黑" panose="020B0503020204020204" pitchFamily="34" charset="-122"/>
              </a:rPr>
              <a:t>语言模型，采用多头潜在注意力（</a:t>
            </a:r>
            <a:r>
              <a:rPr lang="en-US" altLang="zh-CN" sz="1600" dirty="0">
                <a:solidFill>
                  <a:srgbClr val="191B1F"/>
                </a:solidFill>
                <a:latin typeface="微软雅黑" panose="020B0503020204020204" pitchFamily="34" charset="-122"/>
                <a:ea typeface="微软雅黑" panose="020B0503020204020204" pitchFamily="34" charset="-122"/>
              </a:rPr>
              <a:t>MLA</a:t>
            </a:r>
            <a:r>
              <a:rPr lang="zh-CN" altLang="en-US" sz="1600" dirty="0">
                <a:solidFill>
                  <a:srgbClr val="191B1F"/>
                </a:solidFill>
                <a:latin typeface="微软雅黑" panose="020B0503020204020204" pitchFamily="34" charset="-122"/>
                <a:ea typeface="微软雅黑" panose="020B0503020204020204" pitchFamily="34" charset="-122"/>
              </a:rPr>
              <a:t>）和</a:t>
            </a:r>
            <a:r>
              <a:rPr lang="en-US" altLang="zh-CN" sz="1600" dirty="0" err="1">
                <a:solidFill>
                  <a:srgbClr val="191B1F"/>
                </a:solidFill>
                <a:latin typeface="微软雅黑" panose="020B0503020204020204" pitchFamily="34" charset="-122"/>
                <a:ea typeface="微软雅黑" panose="020B0503020204020204" pitchFamily="34" charset="-122"/>
              </a:rPr>
              <a:t>DeepSeekMoE</a:t>
            </a:r>
            <a:r>
              <a:rPr lang="zh-CN" altLang="en-US" sz="1600" dirty="0">
                <a:solidFill>
                  <a:srgbClr val="191B1F"/>
                </a:solidFill>
                <a:latin typeface="微软雅黑" panose="020B0503020204020204" pitchFamily="34" charset="-122"/>
                <a:ea typeface="微软雅黑" panose="020B0503020204020204" pitchFamily="34" charset="-122"/>
              </a:rPr>
              <a:t>架构（在</a:t>
            </a:r>
            <a:r>
              <a:rPr lang="en-US" altLang="zh-CN" sz="1600" dirty="0">
                <a:solidFill>
                  <a:srgbClr val="191B1F"/>
                </a:solidFill>
                <a:latin typeface="微软雅黑" panose="020B0503020204020204" pitchFamily="34" charset="-122"/>
                <a:ea typeface="微软雅黑" panose="020B0503020204020204" pitchFamily="34" charset="-122"/>
              </a:rPr>
              <a:t>DeepSeek-V2</a:t>
            </a:r>
            <a:r>
              <a:rPr lang="zh-CN" altLang="en-US" sz="1600" dirty="0">
                <a:solidFill>
                  <a:srgbClr val="191B1F"/>
                </a:solidFill>
                <a:latin typeface="微软雅黑" panose="020B0503020204020204" pitchFamily="34" charset="-122"/>
                <a:ea typeface="微软雅黑" panose="020B0503020204020204" pitchFamily="34" charset="-122"/>
              </a:rPr>
              <a:t>中已得到充分验证，展示了其在保持强大模型性能的同时实现高效训练和推理的能力），并引入无辅助损失的负载均衡策略和多令牌预测训练目标以提高性能。</a:t>
            </a:r>
            <a:endParaRPr lang="zh-CN" altLang="en-US" sz="16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26CF796-2EBE-421D-9ACE-228CEB42A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674" y="2364040"/>
            <a:ext cx="7469292" cy="4319881"/>
          </a:xfrm>
          <a:prstGeom prst="rect">
            <a:avLst/>
          </a:prstGeom>
        </p:spPr>
      </p:pic>
    </p:spTree>
    <p:extLst>
      <p:ext uri="{BB962C8B-B14F-4D97-AF65-F5344CB8AC3E}">
        <p14:creationId xmlns:p14="http://schemas.microsoft.com/office/powerpoint/2010/main" val="28747400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398FECD1-35B8-4F03-8373-321F17E06386}"/>
              </a:ext>
            </a:extLst>
          </p:cNvPr>
          <p:cNvSpPr txBox="1"/>
          <p:nvPr/>
        </p:nvSpPr>
        <p:spPr>
          <a:xfrm>
            <a:off x="95250" y="789764"/>
            <a:ext cx="1948675"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DeepSeek-R1</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255BA1D-EDF0-4401-A005-E3E6AB6E3253}"/>
              </a:ext>
            </a:extLst>
          </p:cNvPr>
          <p:cNvSpPr/>
          <p:nvPr/>
        </p:nvSpPr>
        <p:spPr>
          <a:xfrm>
            <a:off x="393700" y="1302529"/>
            <a:ext cx="8489950" cy="1526187"/>
          </a:xfrm>
          <a:prstGeom prst="rect">
            <a:avLst/>
          </a:prstGeom>
        </p:spPr>
        <p:txBody>
          <a:bodyPr wrap="square">
            <a:spAutoFit/>
          </a:bodyPr>
          <a:lstStyle/>
          <a:p>
            <a:pPr>
              <a:lnSpc>
                <a:spcPct val="150000"/>
              </a:lnSpc>
            </a:pPr>
            <a:r>
              <a:rPr lang="zh-CN" altLang="en-US" sz="1600" dirty="0">
                <a:solidFill>
                  <a:srgbClr val="191B1F"/>
                </a:solidFill>
                <a:latin typeface="微软雅黑" panose="020B0503020204020204" pitchFamily="34" charset="-122"/>
                <a:ea typeface="微软雅黑" panose="020B0503020204020204" pitchFamily="34" charset="-122"/>
              </a:rPr>
              <a:t>通过纯强化学习（</a:t>
            </a:r>
            <a:r>
              <a:rPr lang="en-US" altLang="zh-CN" sz="1600" dirty="0">
                <a:solidFill>
                  <a:srgbClr val="191B1F"/>
                </a:solidFill>
                <a:latin typeface="微软雅黑" panose="020B0503020204020204" pitchFamily="34" charset="-122"/>
                <a:ea typeface="微软雅黑" panose="020B0503020204020204" pitchFamily="34" charset="-122"/>
              </a:rPr>
              <a:t>RL</a:t>
            </a:r>
            <a:r>
              <a:rPr lang="zh-CN" altLang="en-US" sz="1600" dirty="0">
                <a:solidFill>
                  <a:srgbClr val="191B1F"/>
                </a:solidFill>
                <a:latin typeface="微软雅黑" panose="020B0503020204020204" pitchFamily="34" charset="-122"/>
                <a:ea typeface="微软雅黑" panose="020B0503020204020204" pitchFamily="34" charset="-122"/>
              </a:rPr>
              <a:t>）提升</a:t>
            </a:r>
            <a:r>
              <a:rPr lang="en-US" altLang="zh-CN" sz="1600" dirty="0">
                <a:solidFill>
                  <a:srgbClr val="191B1F"/>
                </a:solidFill>
                <a:latin typeface="微软雅黑" panose="020B0503020204020204" pitchFamily="34" charset="-122"/>
                <a:ea typeface="微软雅黑" panose="020B0503020204020204" pitchFamily="34" charset="-122"/>
              </a:rPr>
              <a:t>LLMs</a:t>
            </a:r>
            <a:r>
              <a:rPr lang="zh-CN" altLang="en-US" sz="1600" dirty="0">
                <a:solidFill>
                  <a:srgbClr val="191B1F"/>
                </a:solidFill>
                <a:latin typeface="微软雅黑" panose="020B0503020204020204" pitchFamily="34" charset="-122"/>
                <a:ea typeface="微软雅黑" panose="020B0503020204020204" pitchFamily="34" charset="-122"/>
              </a:rPr>
              <a:t>的推理能力，特别是通过</a:t>
            </a:r>
            <a:r>
              <a:rPr lang="en-US" altLang="zh-CN" sz="1600" dirty="0">
                <a:solidFill>
                  <a:srgbClr val="191B1F"/>
                </a:solidFill>
                <a:latin typeface="微软雅黑" panose="020B0503020204020204" pitchFamily="34" charset="-122"/>
                <a:ea typeface="微软雅黑" panose="020B0503020204020204" pitchFamily="34" charset="-122"/>
              </a:rPr>
              <a:t>DeepSeek-R1-Zero</a:t>
            </a:r>
            <a:r>
              <a:rPr lang="zh-CN" altLang="en-US" sz="1600" dirty="0">
                <a:solidFill>
                  <a:srgbClr val="191B1F"/>
                </a:solidFill>
                <a:latin typeface="微软雅黑" panose="020B0503020204020204" pitchFamily="34" charset="-122"/>
                <a:ea typeface="微软雅黑" panose="020B0503020204020204" pitchFamily="34" charset="-122"/>
              </a:rPr>
              <a:t>和</a:t>
            </a:r>
            <a:r>
              <a:rPr lang="en-US" altLang="zh-CN" sz="1600" dirty="0">
                <a:solidFill>
                  <a:srgbClr val="191B1F"/>
                </a:solidFill>
                <a:latin typeface="微软雅黑" panose="020B0503020204020204" pitchFamily="34" charset="-122"/>
                <a:ea typeface="微软雅黑" panose="020B0503020204020204" pitchFamily="34" charset="-122"/>
              </a:rPr>
              <a:t>DeepSeek-R1</a:t>
            </a:r>
            <a:r>
              <a:rPr lang="zh-CN" altLang="en-US" sz="1600" dirty="0">
                <a:solidFill>
                  <a:srgbClr val="191B1F"/>
                </a:solidFill>
                <a:latin typeface="微软雅黑" panose="020B0503020204020204" pitchFamily="34" charset="-122"/>
                <a:ea typeface="微软雅黑" panose="020B0503020204020204" pitchFamily="34" charset="-122"/>
              </a:rPr>
              <a:t>两个模型来实现这一目标。</a:t>
            </a:r>
            <a:r>
              <a:rPr lang="en-US" altLang="zh-CN" sz="1600" dirty="0">
                <a:solidFill>
                  <a:srgbClr val="191B1F"/>
                </a:solidFill>
                <a:latin typeface="微软雅黑" panose="020B0503020204020204" pitchFamily="34" charset="-122"/>
                <a:ea typeface="微软雅黑" panose="020B0503020204020204" pitchFamily="34" charset="-122"/>
              </a:rPr>
              <a:t>DeepSeek-R1-Zero</a:t>
            </a:r>
            <a:r>
              <a:rPr lang="zh-CN" altLang="en-US" sz="1600" dirty="0">
                <a:solidFill>
                  <a:srgbClr val="191B1F"/>
                </a:solidFill>
                <a:latin typeface="微软雅黑" panose="020B0503020204020204" pitchFamily="34" charset="-122"/>
                <a:ea typeface="微软雅黑" panose="020B0503020204020204" pitchFamily="34" charset="-122"/>
              </a:rPr>
              <a:t>是通过大规模</a:t>
            </a:r>
            <a:r>
              <a:rPr lang="en-US" altLang="zh-CN" sz="1600" dirty="0">
                <a:solidFill>
                  <a:srgbClr val="191B1F"/>
                </a:solidFill>
                <a:latin typeface="微软雅黑" panose="020B0503020204020204" pitchFamily="34" charset="-122"/>
                <a:ea typeface="微软雅黑" panose="020B0503020204020204" pitchFamily="34" charset="-122"/>
              </a:rPr>
              <a:t>RL</a:t>
            </a:r>
            <a:r>
              <a:rPr lang="zh-CN" altLang="en-US" sz="1600" dirty="0">
                <a:solidFill>
                  <a:srgbClr val="191B1F"/>
                </a:solidFill>
                <a:latin typeface="微软雅黑" panose="020B0503020204020204" pitchFamily="34" charset="-122"/>
                <a:ea typeface="微软雅黑" panose="020B0503020204020204" pitchFamily="34" charset="-122"/>
              </a:rPr>
              <a:t>训练而不依赖于监督微调（</a:t>
            </a:r>
            <a:r>
              <a:rPr lang="en-US" altLang="zh-CN" sz="1600" dirty="0">
                <a:solidFill>
                  <a:srgbClr val="191B1F"/>
                </a:solidFill>
                <a:latin typeface="微软雅黑" panose="020B0503020204020204" pitchFamily="34" charset="-122"/>
                <a:ea typeface="微软雅黑" panose="020B0503020204020204" pitchFamily="34" charset="-122"/>
              </a:rPr>
              <a:t>SFT</a:t>
            </a:r>
            <a:r>
              <a:rPr lang="zh-CN" altLang="en-US" sz="1600" dirty="0">
                <a:solidFill>
                  <a:srgbClr val="191B1F"/>
                </a:solidFill>
                <a:latin typeface="微软雅黑" panose="020B0503020204020204" pitchFamily="34" charset="-122"/>
                <a:ea typeface="微软雅黑" panose="020B0503020204020204" pitchFamily="34" charset="-122"/>
              </a:rPr>
              <a:t>）的初步模型，而</a:t>
            </a:r>
            <a:r>
              <a:rPr lang="en-US" altLang="zh-CN" sz="1600" dirty="0">
                <a:solidFill>
                  <a:srgbClr val="191B1F"/>
                </a:solidFill>
                <a:latin typeface="微软雅黑" panose="020B0503020204020204" pitchFamily="34" charset="-122"/>
                <a:ea typeface="微软雅黑" panose="020B0503020204020204" pitchFamily="34" charset="-122"/>
              </a:rPr>
              <a:t>DeepSeek-R1</a:t>
            </a:r>
            <a:r>
              <a:rPr lang="zh-CN" altLang="en-US" sz="1600" dirty="0">
                <a:solidFill>
                  <a:srgbClr val="191B1F"/>
                </a:solidFill>
                <a:latin typeface="微软雅黑" panose="020B0503020204020204" pitchFamily="34" charset="-122"/>
                <a:ea typeface="微软雅黑" panose="020B0503020204020204" pitchFamily="34" charset="-122"/>
              </a:rPr>
              <a:t>则结合了多阶段训练和冷启动数据来进一步提升性能。是首个开源思考过程的大语言模型。</a:t>
            </a:r>
            <a:endParaRPr lang="zh-CN" altLang="en-US" sz="16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B628643-3D36-4670-BFD8-921A8A6F4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707" y="2869847"/>
            <a:ext cx="7807935" cy="3853360"/>
          </a:xfrm>
          <a:prstGeom prst="rect">
            <a:avLst/>
          </a:prstGeom>
        </p:spPr>
      </p:pic>
    </p:spTree>
    <p:extLst>
      <p:ext uri="{BB962C8B-B14F-4D97-AF65-F5344CB8AC3E}">
        <p14:creationId xmlns:p14="http://schemas.microsoft.com/office/powerpoint/2010/main" val="20023199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E3AF-FEEA-BB0B-9D57-343EC069F28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1D73B3DB-6046-5093-2904-0DDAD37FAA4E}"/>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805FEE63-18D0-4071-89F5-E57321283F77}"/>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四、预训练语言模型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80DAC58A-7F15-E48D-CA31-34DE05E96D12}"/>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398FECD1-35B8-4F03-8373-321F17E06386}"/>
              </a:ext>
            </a:extLst>
          </p:cNvPr>
          <p:cNvSpPr txBox="1"/>
          <p:nvPr/>
        </p:nvSpPr>
        <p:spPr>
          <a:xfrm>
            <a:off x="95250" y="789764"/>
            <a:ext cx="1937453"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err="1">
                <a:latin typeface="微软雅黑" panose="020B0503020204020204" pitchFamily="34" charset="-122"/>
                <a:ea typeface="微软雅黑" panose="020B0503020204020204" pitchFamily="34" charset="-122"/>
              </a:rPr>
              <a:t>DeepSeek</a:t>
            </a:r>
            <a:r>
              <a:rPr lang="en-US" altLang="zh-CN" dirty="0">
                <a:latin typeface="微软雅黑" panose="020B0503020204020204" pitchFamily="34" charset="-122"/>
                <a:ea typeface="微软雅黑" panose="020B0503020204020204" pitchFamily="34" charset="-122"/>
              </a:rPr>
              <a:t>-VL</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255BA1D-EDF0-4401-A005-E3E6AB6E3253}"/>
              </a:ext>
            </a:extLst>
          </p:cNvPr>
          <p:cNvSpPr/>
          <p:nvPr/>
        </p:nvSpPr>
        <p:spPr>
          <a:xfrm>
            <a:off x="393700" y="1132719"/>
            <a:ext cx="8489950" cy="2634183"/>
          </a:xfrm>
          <a:prstGeom prst="rect">
            <a:avLst/>
          </a:prstGeom>
        </p:spPr>
        <p:txBody>
          <a:bodyPr wrap="square">
            <a:spAutoFit/>
          </a:bodyPr>
          <a:lstStyle/>
          <a:p>
            <a:pPr>
              <a:lnSpc>
                <a:spcPct val="150000"/>
              </a:lnSpc>
            </a:pPr>
            <a:r>
              <a:rPr lang="zh-CN" altLang="en-US" sz="1600" dirty="0">
                <a:solidFill>
                  <a:srgbClr val="191B1F"/>
                </a:solidFill>
                <a:latin typeface="微软雅黑" panose="020B0503020204020204" pitchFamily="34" charset="-122"/>
                <a:ea typeface="微软雅黑" panose="020B0503020204020204" pitchFamily="34" charset="-122"/>
              </a:rPr>
              <a:t>用于解决视觉语言理解问题的</a:t>
            </a:r>
            <a:r>
              <a:rPr lang="en-US" altLang="zh-CN" sz="1600" dirty="0" err="1">
                <a:solidFill>
                  <a:srgbClr val="191B1F"/>
                </a:solidFill>
                <a:latin typeface="微软雅黑" panose="020B0503020204020204" pitchFamily="34" charset="-122"/>
                <a:ea typeface="微软雅黑" panose="020B0503020204020204" pitchFamily="34" charset="-122"/>
              </a:rPr>
              <a:t>DeepSeek</a:t>
            </a:r>
            <a:r>
              <a:rPr lang="zh-CN" altLang="en-US" sz="1600" dirty="0">
                <a:solidFill>
                  <a:srgbClr val="191B1F"/>
                </a:solidFill>
                <a:latin typeface="微软雅黑" panose="020B0503020204020204" pitchFamily="34" charset="-122"/>
                <a:ea typeface="微软雅黑" panose="020B0503020204020204" pitchFamily="34" charset="-122"/>
              </a:rPr>
              <a:t>流派大语言模型。</a:t>
            </a:r>
            <a:endParaRPr lang="en-US" altLang="zh-CN" sz="1600" dirty="0">
              <a:solidFill>
                <a:srgbClr val="191B1F"/>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预训练数据来自多个公共数据源，包括</a:t>
            </a:r>
            <a:r>
              <a:rPr lang="en-US" altLang="zh-CN" sz="1600" dirty="0">
                <a:latin typeface="微软雅黑" panose="020B0503020204020204" pitchFamily="34" charset="-122"/>
                <a:ea typeface="微软雅黑" panose="020B0503020204020204" pitchFamily="34" charset="-122"/>
              </a:rPr>
              <a:t>MMC4</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Wiki</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wikihow</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Ebook</a:t>
            </a:r>
            <a:r>
              <a:rPr lang="zh-CN" altLang="en-US" sz="1600" dirty="0">
                <a:latin typeface="微软雅黑" panose="020B0503020204020204" pitchFamily="34" charset="-122"/>
                <a:ea typeface="微软雅黑" panose="020B0503020204020204" pitchFamily="34" charset="-122"/>
              </a:rPr>
              <a:t>教科书、</a:t>
            </a:r>
            <a:r>
              <a:rPr lang="en-US" altLang="zh-CN" sz="1600" dirty="0" err="1">
                <a:latin typeface="微软雅黑" panose="020B0503020204020204" pitchFamily="34" charset="-122"/>
                <a:ea typeface="微软雅黑" panose="020B0503020204020204" pitchFamily="34" charset="-122"/>
              </a:rPr>
              <a:t>Capsfusion</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TaiSu</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Detailed Caption</a:t>
            </a:r>
            <a:r>
              <a:rPr lang="zh-CN" altLang="en-US" sz="1600" dirty="0">
                <a:latin typeface="微软雅黑" panose="020B0503020204020204" pitchFamily="34" charset="-122"/>
                <a:ea typeface="微软雅黑" panose="020B0503020204020204" pitchFamily="34" charset="-122"/>
              </a:rPr>
              <a:t>等。微调数据则包括</a:t>
            </a:r>
            <a:r>
              <a:rPr lang="en-US" altLang="zh-CN" sz="1600" dirty="0">
                <a:latin typeface="微软雅黑" panose="020B0503020204020204" pitchFamily="34" charset="-122"/>
                <a:ea typeface="微软雅黑" panose="020B0503020204020204" pitchFamily="34" charset="-122"/>
              </a:rPr>
              <a:t>ShareGPT4V</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LAION-GPTV</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LVIS-Instruct4V</a:t>
            </a:r>
            <a:r>
              <a:rPr lang="zh-CN" altLang="en-US" sz="1600" dirty="0">
                <a:latin typeface="微软雅黑" panose="020B0503020204020204" pitchFamily="34" charset="-122"/>
                <a:ea typeface="微软雅黑" panose="020B0503020204020204" pitchFamily="34" charset="-122"/>
              </a:rPr>
              <a:t>等开源数据集，以及部分表格和图表数据。</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包含三个模块：混合视觉编码器、视觉适配器和大语言模型。混合视觉编码器结合了</a:t>
            </a:r>
            <a:r>
              <a:rPr lang="en-US" altLang="zh-CN" sz="1600" dirty="0">
                <a:latin typeface="微软雅黑" panose="020B0503020204020204" pitchFamily="34" charset="-122"/>
                <a:ea typeface="微软雅黑" panose="020B0503020204020204" pitchFamily="34" charset="-122"/>
              </a:rPr>
              <a:t>SAM-B</a:t>
            </a:r>
            <a:r>
              <a:rPr lang="zh-CN" altLang="en-US" sz="1600" dirty="0">
                <a:latin typeface="微软雅黑" panose="020B0503020204020204" pitchFamily="34" charset="-122"/>
                <a:ea typeface="微软雅黑" panose="020B0503020204020204" pitchFamily="34" charset="-122"/>
              </a:rPr>
              <a:t>和</a:t>
            </a:r>
            <a:r>
              <a:rPr lang="en-US" altLang="zh-CN" sz="1600" dirty="0" err="1">
                <a:latin typeface="微软雅黑" panose="020B0503020204020204" pitchFamily="34" charset="-122"/>
                <a:ea typeface="微软雅黑" panose="020B0503020204020204" pitchFamily="34" charset="-122"/>
              </a:rPr>
              <a:t>SigLIP</a:t>
            </a:r>
            <a:r>
              <a:rPr lang="en-US" altLang="zh-CN" sz="1600" dirty="0">
                <a:latin typeface="微软雅黑" panose="020B0503020204020204" pitchFamily="34" charset="-122"/>
                <a:ea typeface="微软雅黑" panose="020B0503020204020204" pitchFamily="34" charset="-122"/>
              </a:rPr>
              <a:t>-L</a:t>
            </a:r>
            <a:r>
              <a:rPr lang="zh-CN" altLang="en-US" sz="1600" dirty="0">
                <a:latin typeface="微软雅黑" panose="020B0503020204020204" pitchFamily="34" charset="-122"/>
                <a:ea typeface="微软雅黑" panose="020B0503020204020204" pitchFamily="34" charset="-122"/>
              </a:rPr>
              <a:t>两个编码器，分别处理高分辨率和低分辨率图像。视觉适配器通过两层混合</a:t>
            </a:r>
            <a:r>
              <a:rPr lang="en-US" altLang="zh-CN" sz="1600" dirty="0">
                <a:latin typeface="微软雅黑" panose="020B0503020204020204" pitchFamily="34" charset="-122"/>
                <a:ea typeface="微软雅黑" panose="020B0503020204020204" pitchFamily="34" charset="-122"/>
              </a:rPr>
              <a:t>MLP</a:t>
            </a:r>
            <a:r>
              <a:rPr lang="zh-CN" altLang="en-US" sz="1600" dirty="0">
                <a:latin typeface="微软雅黑" panose="020B0503020204020204" pitchFamily="34" charset="-122"/>
                <a:ea typeface="微软雅黑" panose="020B0503020204020204" pitchFamily="34" charset="-122"/>
              </a:rPr>
              <a:t>连接视觉编码器和</a:t>
            </a:r>
            <a:r>
              <a:rPr lang="en-US" altLang="zh-CN" sz="1600" dirty="0">
                <a:latin typeface="微软雅黑" panose="020B0503020204020204" pitchFamily="34" charset="-122"/>
                <a:ea typeface="微软雅黑" panose="020B0503020204020204" pitchFamily="34" charset="-122"/>
              </a:rPr>
              <a:t>LLM</a:t>
            </a:r>
            <a:r>
              <a:rPr lang="zh-CN" altLang="en-US" sz="1600" dirty="0">
                <a:latin typeface="微软雅黑" panose="020B0503020204020204" pitchFamily="34" charset="-122"/>
                <a:ea typeface="微软雅黑" panose="020B0503020204020204" pitchFamily="34" charset="-122"/>
              </a:rPr>
              <a:t>。大语言模型基于</a:t>
            </a:r>
            <a:r>
              <a:rPr lang="en-US" altLang="zh-CN" sz="1600" dirty="0" err="1">
                <a:latin typeface="微软雅黑" panose="020B0503020204020204" pitchFamily="34" charset="-122"/>
                <a:ea typeface="微软雅黑" panose="020B0503020204020204" pitchFamily="34" charset="-122"/>
              </a:rPr>
              <a:t>DeepSeek</a:t>
            </a:r>
            <a:r>
              <a:rPr lang="en-US" altLang="zh-CN" sz="1600" dirty="0">
                <a:latin typeface="微软雅黑" panose="020B0503020204020204" pitchFamily="34" charset="-122"/>
                <a:ea typeface="微软雅黑" panose="020B0503020204020204" pitchFamily="34" charset="-122"/>
              </a:rPr>
              <a:t> LLM</a:t>
            </a:r>
            <a:r>
              <a:rPr lang="zh-CN" altLang="en-US" sz="1600" dirty="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906F7358-D207-4A65-9F04-C74A224BB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397" y="3918608"/>
            <a:ext cx="6740556" cy="2694023"/>
          </a:xfrm>
          <a:prstGeom prst="rect">
            <a:avLst/>
          </a:prstGeom>
        </p:spPr>
      </p:pic>
    </p:spTree>
    <p:extLst>
      <p:ext uri="{BB962C8B-B14F-4D97-AF65-F5344CB8AC3E}">
        <p14:creationId xmlns:p14="http://schemas.microsoft.com/office/powerpoint/2010/main" val="4039023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2214265"/>
            <a:ext cx="9144000" cy="1388264"/>
            <a:chOff x="-1590" y="2422529"/>
            <a:chExt cx="9145590" cy="1851019"/>
          </a:xfrm>
        </p:grpSpPr>
        <p:sp>
          <p:nvSpPr>
            <p:cNvPr id="24" name="矩形 23"/>
            <p:cNvSpPr/>
            <p:nvPr/>
          </p:nvSpPr>
          <p:spPr>
            <a:xfrm>
              <a:off x="-1590" y="2490260"/>
              <a:ext cx="9145586" cy="1713341"/>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sz="1350" dirty="0">
                <a:solidFill>
                  <a:prstClr val="white"/>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0" y="2422529"/>
              <a:ext cx="9144000" cy="1851019"/>
              <a:chOff x="0" y="2547942"/>
              <a:chExt cx="9144000" cy="1851019"/>
            </a:xfrm>
          </p:grpSpPr>
          <p:sp>
            <p:nvSpPr>
              <p:cNvPr id="5" name="Rectangle 5"/>
              <p:cNvSpPr>
                <a:spLocks noChangeArrowheads="1"/>
              </p:cNvSpPr>
              <p:nvPr/>
            </p:nvSpPr>
            <p:spPr bwMode="auto">
              <a:xfrm>
                <a:off x="0" y="2547942"/>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sp>
            <p:nvSpPr>
              <p:cNvPr id="6" name="Rectangle 5"/>
              <p:cNvSpPr>
                <a:spLocks noChangeArrowheads="1"/>
              </p:cNvSpPr>
              <p:nvPr/>
            </p:nvSpPr>
            <p:spPr bwMode="auto">
              <a:xfrm>
                <a:off x="0" y="4322761"/>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grpSp>
      </p:grpSp>
      <p:pic>
        <p:nvPicPr>
          <p:cNvPr id="3" name="图片 2"/>
          <p:cNvPicPr>
            <a:picLocks noChangeAspect="1"/>
          </p:cNvPicPr>
          <p:nvPr/>
        </p:nvPicPr>
        <p:blipFill>
          <a:blip r:embed="rId3"/>
          <a:stretch>
            <a:fillRect/>
          </a:stretch>
        </p:blipFill>
        <p:spPr>
          <a:xfrm>
            <a:off x="0" y="851743"/>
            <a:ext cx="9144000" cy="754445"/>
          </a:xfrm>
          <a:prstGeom prst="rect">
            <a:avLst/>
          </a:prstGeom>
        </p:spPr>
      </p:pic>
      <p:sp>
        <p:nvSpPr>
          <p:cNvPr id="8" name="文本框 7">
            <a:extLst>
              <a:ext uri="{FF2B5EF4-FFF2-40B4-BE49-F238E27FC236}">
                <a16:creationId xmlns:a16="http://schemas.microsoft.com/office/drawing/2014/main" id="{06E531FC-B52C-4BB5-B379-E8B6FDB5DFA7}"/>
              </a:ext>
            </a:extLst>
          </p:cNvPr>
          <p:cNvSpPr txBox="1"/>
          <p:nvPr/>
        </p:nvSpPr>
        <p:spPr>
          <a:xfrm>
            <a:off x="2709126" y="2474598"/>
            <a:ext cx="4698722" cy="769441"/>
          </a:xfrm>
          <a:prstGeom prst="rect">
            <a:avLst/>
          </a:prstGeom>
          <a:noFill/>
        </p:spPr>
        <p:txBody>
          <a:bodyPr wrap="none"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语言模型的后训练</a:t>
            </a:r>
          </a:p>
        </p:txBody>
      </p:sp>
      <p:pic>
        <p:nvPicPr>
          <p:cNvPr id="9" name="图片 17">
            <a:extLst>
              <a:ext uri="{FF2B5EF4-FFF2-40B4-BE49-F238E27FC236}">
                <a16:creationId xmlns:a16="http://schemas.microsoft.com/office/drawing/2014/main" id="{4D9B7B69-685E-46B0-A2F6-C19CF2A07C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53195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95E7A0B6-1FFB-4441-A85C-D7A32C477F5C}"/>
              </a:ext>
            </a:extLst>
          </p:cNvPr>
          <p:cNvSpPr txBox="1"/>
          <p:nvPr/>
        </p:nvSpPr>
        <p:spPr>
          <a:xfrm>
            <a:off x="50800" y="731642"/>
            <a:ext cx="8516983" cy="78752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从</a:t>
            </a:r>
            <a:r>
              <a:rPr lang="en-US" altLang="zh-CN" sz="1600" dirty="0">
                <a:latin typeface="微软雅黑" panose="020B0503020204020204" pitchFamily="34" charset="-122"/>
                <a:ea typeface="微软雅黑" panose="020B0503020204020204" pitchFamily="34" charset="-122"/>
              </a:rPr>
              <a:t>GPT-2</a:t>
            </a:r>
            <a:r>
              <a:rPr lang="zh-CN" altLang="en-US" sz="1600" dirty="0">
                <a:latin typeface="微软雅黑" panose="020B0503020204020204" pitchFamily="34" charset="-122"/>
                <a:ea typeface="微软雅黑" panose="020B0503020204020204" pitchFamily="34" charset="-122"/>
              </a:rPr>
              <a:t>开始，研究者发现大模型在预训练后的</a:t>
            </a:r>
            <a:r>
              <a:rPr lang="zh-CN" altLang="en-US" sz="1600" b="1" dirty="0">
                <a:latin typeface="微软雅黑" panose="020B0503020204020204" pitchFamily="34" charset="-122"/>
                <a:ea typeface="微软雅黑" panose="020B0503020204020204" pitchFamily="34" charset="-122"/>
              </a:rPr>
              <a:t>零样本推理</a:t>
            </a:r>
            <a:r>
              <a:rPr lang="zh-CN" altLang="en-US" sz="1600" dirty="0">
                <a:latin typeface="微软雅黑" panose="020B0503020204020204" pitchFamily="34" charset="-122"/>
                <a:ea typeface="微软雅黑" panose="020B0503020204020204" pitchFamily="34" charset="-122"/>
              </a:rPr>
              <a:t>能力，</a:t>
            </a:r>
            <a:r>
              <a:rPr lang="zh-CN" altLang="en-US" sz="1600" dirty="0">
                <a:solidFill>
                  <a:srgbClr val="191B1F"/>
                </a:solidFill>
                <a:latin typeface="微软雅黑" panose="020B0503020204020204" pitchFamily="34" charset="-122"/>
                <a:ea typeface="微软雅黑" panose="020B0503020204020204" pitchFamily="34" charset="-122"/>
              </a:rPr>
              <a:t>系统应该不仅根据输入，还根据要执行的任务进行建模。即建模</a:t>
            </a:r>
            <a:r>
              <a:rPr lang="en-US" altLang="zh-CN" sz="1600" b="1" dirty="0">
                <a:solidFill>
                  <a:srgbClr val="191B1F"/>
                </a:solidFill>
                <a:latin typeface="微软雅黑" panose="020B0503020204020204" pitchFamily="34" charset="-122"/>
                <a:ea typeface="微软雅黑" panose="020B0503020204020204" pitchFamily="34" charset="-122"/>
              </a:rPr>
              <a:t>p(</a:t>
            </a:r>
            <a:r>
              <a:rPr lang="en-US" altLang="zh-CN" sz="1600" b="1" dirty="0" err="1">
                <a:solidFill>
                  <a:srgbClr val="191B1F"/>
                </a:solidFill>
                <a:latin typeface="微软雅黑" panose="020B0503020204020204" pitchFamily="34" charset="-122"/>
                <a:ea typeface="微软雅黑" panose="020B0503020204020204" pitchFamily="34" charset="-122"/>
              </a:rPr>
              <a:t>output∣input,task</a:t>
            </a:r>
            <a:r>
              <a:rPr lang="en-US" altLang="zh-CN" sz="1600" b="1" dirty="0">
                <a:solidFill>
                  <a:srgbClr val="191B1F"/>
                </a:solidFill>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a:t>
            </a:r>
          </a:p>
        </p:txBody>
      </p:sp>
      <p:sp>
        <p:nvSpPr>
          <p:cNvPr id="6" name="文本框 5">
            <a:extLst>
              <a:ext uri="{FF2B5EF4-FFF2-40B4-BE49-F238E27FC236}">
                <a16:creationId xmlns:a16="http://schemas.microsoft.com/office/drawing/2014/main" id="{11CF3B11-43E1-4030-BDC3-D7894D561EC5}"/>
              </a:ext>
            </a:extLst>
          </p:cNvPr>
          <p:cNvSpPr txBox="1"/>
          <p:nvPr/>
        </p:nvSpPr>
        <p:spPr>
          <a:xfrm>
            <a:off x="50800" y="1580957"/>
            <a:ext cx="7944804" cy="338554"/>
          </a:xfrm>
          <a:prstGeom prst="rect">
            <a:avLst/>
          </a:prstGeom>
          <a:noFill/>
        </p:spPr>
        <p:txBody>
          <a:bodyPr wrap="none" rtlCol="0">
            <a:spAutoFit/>
          </a:bodyPr>
          <a:lstStyle/>
          <a:p>
            <a:pPr marL="285750" indent="-28575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GPT-3</a:t>
            </a:r>
            <a:r>
              <a:rPr lang="zh-CN" altLang="en-US" sz="1600" dirty="0">
                <a:latin typeface="微软雅黑" panose="020B0503020204020204" pitchFamily="34" charset="-122"/>
                <a:ea typeface="微软雅黑" panose="020B0503020204020204" pitchFamily="34" charset="-122"/>
              </a:rPr>
              <a:t>展现出了基于上下文内容的</a:t>
            </a:r>
            <a:r>
              <a:rPr lang="zh-CN" altLang="en-US" sz="1600" b="1" dirty="0">
                <a:latin typeface="微软雅黑" panose="020B0503020204020204" pitchFamily="34" charset="-122"/>
                <a:ea typeface="微软雅黑" panose="020B0503020204020204" pitchFamily="34" charset="-122"/>
              </a:rPr>
              <a:t>小样本学习</a:t>
            </a:r>
            <a:r>
              <a:rPr lang="zh-CN" altLang="en-US" sz="1600" dirty="0">
                <a:latin typeface="微软雅黑" panose="020B0503020204020204" pitchFamily="34" charset="-122"/>
                <a:ea typeface="微软雅黑" panose="020B0503020204020204" pitchFamily="34" charset="-122"/>
              </a:rPr>
              <a:t>能力，并开始采用</a:t>
            </a:r>
            <a:r>
              <a:rPr lang="zh-CN" altLang="en-US" sz="1600" b="1" dirty="0">
                <a:latin typeface="微软雅黑" panose="020B0503020204020204" pitchFamily="34" charset="-122"/>
                <a:ea typeface="微软雅黑" panose="020B0503020204020204" pitchFamily="34" charset="-122"/>
              </a:rPr>
              <a:t>指令微调</a:t>
            </a:r>
            <a:r>
              <a:rPr lang="zh-CN" altLang="en-US" sz="1600" dirty="0">
                <a:latin typeface="微软雅黑" panose="020B0503020204020204" pitchFamily="34" charset="-122"/>
                <a:ea typeface="微软雅黑" panose="020B0503020204020204" pitchFamily="34" charset="-122"/>
              </a:rPr>
              <a:t>和</a:t>
            </a:r>
            <a:r>
              <a:rPr lang="en-US" altLang="zh-CN" sz="1600" b="1" dirty="0">
                <a:latin typeface="微软雅黑" panose="020B0503020204020204" pitchFamily="34" charset="-122"/>
                <a:ea typeface="微软雅黑" panose="020B0503020204020204" pitchFamily="34" charset="-122"/>
              </a:rPr>
              <a:t>RLHF</a:t>
            </a:r>
            <a:r>
              <a:rPr lang="zh-CN" altLang="en-US" sz="1600" dirty="0">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B804F423-9180-483B-856E-1DA758D322AC}"/>
              </a:ext>
            </a:extLst>
          </p:cNvPr>
          <p:cNvSpPr txBox="1"/>
          <p:nvPr/>
        </p:nvSpPr>
        <p:spPr>
          <a:xfrm>
            <a:off x="2463800" y="2063750"/>
            <a:ext cx="3825086" cy="338554"/>
          </a:xfrm>
          <a:prstGeom prst="rect">
            <a:avLst/>
          </a:prstGeom>
          <a:solidFill>
            <a:schemeClr val="bg1"/>
          </a:solidFill>
          <a:effectLst>
            <a:outerShdw blurRad="50800" dist="38100" dir="2700000" algn="tl" rotWithShape="0">
              <a:prstClr val="black">
                <a:alpha val="40000"/>
              </a:prstClr>
            </a:outerShdw>
          </a:effectLst>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至此大语言模型的</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涌现智能</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被发现</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cxnSp>
        <p:nvCxnSpPr>
          <p:cNvPr id="5" name="连接符: 曲线 4">
            <a:extLst>
              <a:ext uri="{FF2B5EF4-FFF2-40B4-BE49-F238E27FC236}">
                <a16:creationId xmlns:a16="http://schemas.microsoft.com/office/drawing/2014/main" id="{1038ACDC-9B6A-4800-AD89-78E403E42657}"/>
              </a:ext>
            </a:extLst>
          </p:cNvPr>
          <p:cNvCxnSpPr>
            <a:cxnSpLocks/>
          </p:cNvCxnSpPr>
          <p:nvPr/>
        </p:nvCxnSpPr>
        <p:spPr>
          <a:xfrm rot="16200000" flipH="1">
            <a:off x="6133017" y="1332417"/>
            <a:ext cx="351416" cy="323850"/>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连接符: 曲线 9">
            <a:extLst>
              <a:ext uri="{FF2B5EF4-FFF2-40B4-BE49-F238E27FC236}">
                <a16:creationId xmlns:a16="http://schemas.microsoft.com/office/drawing/2014/main" id="{B79631DB-F8AD-465B-87FE-FC26ABE73A0B}"/>
              </a:ext>
            </a:extLst>
          </p:cNvPr>
          <p:cNvCxnSpPr>
            <a:cxnSpLocks/>
            <a:endCxn id="6" idx="0"/>
          </p:cNvCxnSpPr>
          <p:nvPr/>
        </p:nvCxnSpPr>
        <p:spPr>
          <a:xfrm rot="10800000" flipV="1">
            <a:off x="4023202" y="1041399"/>
            <a:ext cx="701198" cy="539557"/>
          </a:xfrm>
          <a:prstGeom prst="curvedConnector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5FE7D0DE-004F-4DC1-BA93-2CBFE23E607C}"/>
              </a:ext>
            </a:extLst>
          </p:cNvPr>
          <p:cNvPicPr>
            <a:picLocks noChangeAspect="1"/>
          </p:cNvPicPr>
          <p:nvPr/>
        </p:nvPicPr>
        <p:blipFill rotWithShape="1">
          <a:blip r:embed="rId3">
            <a:extLst>
              <a:ext uri="{28A0092B-C50C-407E-A947-70E740481C1C}">
                <a14:useLocalDpi xmlns:a14="http://schemas.microsoft.com/office/drawing/2010/main" val="0"/>
              </a:ext>
            </a:extLst>
          </a:blip>
          <a:srcRect r="1094" b="955"/>
          <a:stretch/>
        </p:blipFill>
        <p:spPr>
          <a:xfrm>
            <a:off x="4794251" y="2477740"/>
            <a:ext cx="4346578" cy="4286598"/>
          </a:xfrm>
          <a:prstGeom prst="rect">
            <a:avLst/>
          </a:prstGeom>
          <a:effectLst>
            <a:outerShdw blurRad="50800" dist="38100" dir="2700000" algn="tl" rotWithShape="0">
              <a:prstClr val="black">
                <a:alpha val="40000"/>
              </a:prstClr>
            </a:outerShdw>
          </a:effectLst>
        </p:spPr>
      </p:pic>
      <p:pic>
        <p:nvPicPr>
          <p:cNvPr id="16" name="图片 15">
            <a:extLst>
              <a:ext uri="{FF2B5EF4-FFF2-40B4-BE49-F238E27FC236}">
                <a16:creationId xmlns:a16="http://schemas.microsoft.com/office/drawing/2014/main" id="{EE012FE8-FF14-4C25-BE18-DE977AEC3FA2}"/>
              </a:ext>
            </a:extLst>
          </p:cNvPr>
          <p:cNvPicPr>
            <a:picLocks noChangeAspect="1"/>
          </p:cNvPicPr>
          <p:nvPr/>
        </p:nvPicPr>
        <p:blipFill rotWithShape="1">
          <a:blip r:embed="rId4"/>
          <a:srcRect t="13166"/>
          <a:stretch/>
        </p:blipFill>
        <p:spPr>
          <a:xfrm>
            <a:off x="-61414" y="3325397"/>
            <a:ext cx="4709720" cy="22606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183524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C3000EED-184D-49F5-B940-0A75AB1CCF1E}"/>
              </a:ext>
            </a:extLst>
          </p:cNvPr>
          <p:cNvSpPr txBox="1"/>
          <p:nvPr/>
        </p:nvSpPr>
        <p:spPr>
          <a:xfrm>
            <a:off x="1671464" y="1057896"/>
            <a:ext cx="5454094" cy="1710084"/>
          </a:xfrm>
          <a:prstGeom prst="rect">
            <a:avLst/>
          </a:prstGeom>
          <a:solidFill>
            <a:schemeClr val="bg1">
              <a:lumMod val="95000"/>
            </a:schemeClr>
          </a:solidFill>
        </p:spPr>
        <p:txBody>
          <a:bodyPr wrap="square" rtlCol="0">
            <a:spAutoFit/>
          </a:bodyPr>
          <a:lstStyle/>
          <a:p>
            <a:pPr algn="ctr">
              <a:lnSpc>
                <a:spcPct val="150000"/>
              </a:lnSpc>
            </a:pPr>
            <a:r>
              <a:rPr lang="zh-CN" altLang="en-US" dirty="0">
                <a:latin typeface="微软雅黑" panose="020B0503020204020204" pitchFamily="34" charset="-122"/>
                <a:ea typeface="微软雅黑" panose="020B0503020204020204" pitchFamily="34" charset="-122"/>
              </a:rPr>
              <a:t>有监督微调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指令微调</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对基座大模型参数进行更新</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多任务模板训练技术</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赋予执行其预训练阶段</a:t>
            </a:r>
            <a:r>
              <a:rPr lang="zh-CN" altLang="en-US" b="1" dirty="0">
                <a:latin typeface="微软雅黑" panose="020B0503020204020204" pitchFamily="34" charset="-122"/>
                <a:ea typeface="微软雅黑" panose="020B0503020204020204" pitchFamily="34" charset="-122"/>
              </a:rPr>
              <a:t>未见过任务的泛化能力</a:t>
            </a:r>
            <a:endParaRPr lang="zh-CN" altLang="en-US"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4756B365-1330-4996-9D70-9F1913A12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2649" y="3179545"/>
            <a:ext cx="5671724" cy="2307455"/>
          </a:xfrm>
          <a:prstGeom prst="rect">
            <a:avLst/>
          </a:prstGeom>
        </p:spPr>
      </p:pic>
    </p:spTree>
    <p:extLst>
      <p:ext uri="{BB962C8B-B14F-4D97-AF65-F5344CB8AC3E}">
        <p14:creationId xmlns:p14="http://schemas.microsoft.com/office/powerpoint/2010/main" val="3807162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51308183-68FC-4C08-B4F6-4BC58F3D8EB6}"/>
              </a:ext>
            </a:extLst>
          </p:cNvPr>
          <p:cNvSpPr txBox="1"/>
          <p:nvPr/>
        </p:nvSpPr>
        <p:spPr>
          <a:xfrm>
            <a:off x="1698392" y="1122367"/>
            <a:ext cx="5551520" cy="1710084"/>
          </a:xfrm>
          <a:prstGeom prst="rect">
            <a:avLst/>
          </a:prstGeom>
          <a:solidFill>
            <a:schemeClr val="bg1">
              <a:lumMod val="95000"/>
            </a:schemeClr>
          </a:solidFill>
        </p:spPr>
        <p:txBody>
          <a:bodyPr wrap="none" rtlCol="0">
            <a:spAutoFit/>
          </a:bodyPr>
          <a:lstStyle/>
          <a:p>
            <a:pPr algn="ctr">
              <a:lnSpc>
                <a:spcPct val="150000"/>
              </a:lnSpc>
            </a:pPr>
            <a:r>
              <a:rPr lang="zh-CN" altLang="en-US" dirty="0">
                <a:latin typeface="微软雅黑" panose="020B0503020204020204" pitchFamily="34" charset="-122"/>
                <a:ea typeface="微软雅黑" panose="020B0503020204020204" pitchFamily="34" charset="-122"/>
              </a:rPr>
              <a:t>价值对齐</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对齐三大类人类价值观：</a:t>
            </a:r>
            <a:r>
              <a:rPr lang="zh-CN" altLang="en-US" b="1" dirty="0">
                <a:latin typeface="微软雅黑" panose="020B0503020204020204" pitchFamily="34" charset="-122"/>
                <a:ea typeface="微软雅黑" panose="020B0503020204020204" pitchFamily="34" charset="-122"/>
              </a:rPr>
              <a:t>有用性、真实性和无害性</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准备人类标注数据</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基于有监督学习或强化学习对基座大模型参数更新</a:t>
            </a:r>
          </a:p>
        </p:txBody>
      </p:sp>
      <p:pic>
        <p:nvPicPr>
          <p:cNvPr id="6" name="图片 5">
            <a:extLst>
              <a:ext uri="{FF2B5EF4-FFF2-40B4-BE49-F238E27FC236}">
                <a16:creationId xmlns:a16="http://schemas.microsoft.com/office/drawing/2014/main" id="{74DAA433-47D5-4CF9-A6B1-3D1CCFD4C7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1750" y="3179275"/>
            <a:ext cx="6781800" cy="3012714"/>
          </a:xfrm>
          <a:prstGeom prst="rect">
            <a:avLst/>
          </a:prstGeom>
        </p:spPr>
      </p:pic>
    </p:spTree>
    <p:extLst>
      <p:ext uri="{BB962C8B-B14F-4D97-AF65-F5344CB8AC3E}">
        <p14:creationId xmlns:p14="http://schemas.microsoft.com/office/powerpoint/2010/main" val="15612647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graphicFrame>
        <p:nvGraphicFramePr>
          <p:cNvPr id="2" name="图示 1">
            <a:extLst>
              <a:ext uri="{FF2B5EF4-FFF2-40B4-BE49-F238E27FC236}">
                <a16:creationId xmlns:a16="http://schemas.microsoft.com/office/drawing/2014/main" id="{F42EA447-C242-4645-B916-BF04C8FCFDB5}"/>
              </a:ext>
            </a:extLst>
          </p:cNvPr>
          <p:cNvGraphicFramePr/>
          <p:nvPr>
            <p:extLst>
              <p:ext uri="{D42A27DB-BD31-4B8C-83A1-F6EECF244321}">
                <p14:modId xmlns:p14="http://schemas.microsoft.com/office/powerpoint/2010/main" val="32663719"/>
              </p:ext>
            </p:extLst>
          </p:nvPr>
        </p:nvGraphicFramePr>
        <p:xfrm>
          <a:off x="541340" y="675372"/>
          <a:ext cx="7219950" cy="200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右大括号 2">
            <a:extLst>
              <a:ext uri="{FF2B5EF4-FFF2-40B4-BE49-F238E27FC236}">
                <a16:creationId xmlns:a16="http://schemas.microsoft.com/office/drawing/2014/main" id="{AF3BE1A6-574E-44D5-A740-1B3A98841BC6}"/>
              </a:ext>
            </a:extLst>
          </p:cNvPr>
          <p:cNvSpPr/>
          <p:nvPr/>
        </p:nvSpPr>
        <p:spPr>
          <a:xfrm rot="5400000">
            <a:off x="2026445" y="702471"/>
            <a:ext cx="317500" cy="3287710"/>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606CD4DE-3995-4707-B05E-A6482B5A4715}"/>
              </a:ext>
            </a:extLst>
          </p:cNvPr>
          <p:cNvSpPr txBox="1"/>
          <p:nvPr/>
        </p:nvSpPr>
        <p:spPr>
          <a:xfrm>
            <a:off x="1187451" y="2616201"/>
            <a:ext cx="2319866" cy="253640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输入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输出对；</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指令数据；</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对齐数据；</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人工排序数据；</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奖励模型训练数据</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t>
            </a:r>
          </a:p>
        </p:txBody>
      </p:sp>
      <p:sp>
        <p:nvSpPr>
          <p:cNvPr id="10" name="右大括号 9">
            <a:extLst>
              <a:ext uri="{FF2B5EF4-FFF2-40B4-BE49-F238E27FC236}">
                <a16:creationId xmlns:a16="http://schemas.microsoft.com/office/drawing/2014/main" id="{3392B1BA-CE27-4636-871D-32D9F8230232}"/>
              </a:ext>
            </a:extLst>
          </p:cNvPr>
          <p:cNvSpPr/>
          <p:nvPr/>
        </p:nvSpPr>
        <p:spPr>
          <a:xfrm rot="5400000">
            <a:off x="4906170" y="1561737"/>
            <a:ext cx="317500" cy="1554160"/>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FE9F9FA1-03FE-4916-8F91-75C057BFE1BB}"/>
              </a:ext>
            </a:extLst>
          </p:cNvPr>
          <p:cNvSpPr txBox="1"/>
          <p:nvPr/>
        </p:nvSpPr>
        <p:spPr>
          <a:xfrm>
            <a:off x="3932240" y="2513748"/>
            <a:ext cx="2557175" cy="458908"/>
          </a:xfrm>
          <a:prstGeom prst="rect">
            <a:avLst/>
          </a:prstGeom>
          <a:noFill/>
        </p:spPr>
        <p:txBody>
          <a:bodyPr wrap="non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参数高效微调（</a:t>
            </a:r>
            <a:r>
              <a:rPr lang="en-US" altLang="zh-CN" dirty="0">
                <a:latin typeface="微软雅黑" panose="020B0503020204020204" pitchFamily="34" charset="-122"/>
                <a:ea typeface="微软雅黑" panose="020B0503020204020204" pitchFamily="34" charset="-122"/>
              </a:rPr>
              <a:t>PEFT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12" name="右大括号 11">
            <a:extLst>
              <a:ext uri="{FF2B5EF4-FFF2-40B4-BE49-F238E27FC236}">
                <a16:creationId xmlns:a16="http://schemas.microsoft.com/office/drawing/2014/main" id="{13D486DC-9F1B-4EBA-8FCE-BDFDA904DBBD}"/>
              </a:ext>
            </a:extLst>
          </p:cNvPr>
          <p:cNvSpPr/>
          <p:nvPr/>
        </p:nvSpPr>
        <p:spPr>
          <a:xfrm rot="5400000">
            <a:off x="6911186" y="1707361"/>
            <a:ext cx="317500" cy="1277929"/>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8E1554CB-6C26-405B-A514-19BFD9421D27}"/>
              </a:ext>
            </a:extLst>
          </p:cNvPr>
          <p:cNvSpPr txBox="1"/>
          <p:nvPr/>
        </p:nvSpPr>
        <p:spPr>
          <a:xfrm>
            <a:off x="6401862" y="2557785"/>
            <a:ext cx="2089033" cy="170540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高指令遵循能力</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高效回复能力</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安全回复能力</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9067231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 name="图片 4">
            <a:extLst>
              <a:ext uri="{FF2B5EF4-FFF2-40B4-BE49-F238E27FC236}">
                <a16:creationId xmlns:a16="http://schemas.microsoft.com/office/drawing/2014/main" id="{D96DDEAD-458F-4A08-B1CC-BECBC1431B5C}"/>
              </a:ext>
            </a:extLst>
          </p:cNvPr>
          <p:cNvPicPr>
            <a:picLocks noChangeAspect="1"/>
          </p:cNvPicPr>
          <p:nvPr/>
        </p:nvPicPr>
        <p:blipFill rotWithShape="1">
          <a:blip r:embed="rId3"/>
          <a:srcRect l="2327" t="32844" r="62702" b="5191"/>
          <a:stretch/>
        </p:blipFill>
        <p:spPr>
          <a:xfrm>
            <a:off x="478849" y="1598402"/>
            <a:ext cx="3129359" cy="2510979"/>
          </a:xfrm>
          <a:prstGeom prst="rect">
            <a:avLst/>
          </a:prstGeom>
        </p:spPr>
      </p:pic>
      <p:sp>
        <p:nvSpPr>
          <p:cNvPr id="2" name="文本框 1">
            <a:extLst>
              <a:ext uri="{FF2B5EF4-FFF2-40B4-BE49-F238E27FC236}">
                <a16:creationId xmlns:a16="http://schemas.microsoft.com/office/drawing/2014/main" id="{0EC0BB49-0BE9-43C7-918D-4FF8104F64CD}"/>
              </a:ext>
            </a:extLst>
          </p:cNvPr>
          <p:cNvSpPr txBox="1"/>
          <p:nvPr/>
        </p:nvSpPr>
        <p:spPr>
          <a:xfrm>
            <a:off x="0" y="685163"/>
            <a:ext cx="8130880" cy="874407"/>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核心目标：训练</a:t>
            </a:r>
            <a:r>
              <a:rPr lang="en-US" altLang="zh-CN" dirty="0">
                <a:latin typeface="微软雅黑" panose="020B0503020204020204" pitchFamily="34" charset="-122"/>
                <a:ea typeface="微软雅黑" panose="020B0503020204020204" pitchFamily="34" charset="-122"/>
              </a:rPr>
              <a:t>LLM</a:t>
            </a:r>
            <a:r>
              <a:rPr lang="zh-CN" altLang="en-US" dirty="0">
                <a:latin typeface="微软雅黑" panose="020B0503020204020204" pitchFamily="34" charset="-122"/>
                <a:ea typeface="微软雅黑" panose="020B0503020204020204" pitchFamily="34" charset="-122"/>
              </a:rPr>
              <a:t>，使其能够理解各类人类任务指令，提高任务表现；</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核心步骤：构造指令数据集训练模型。</a:t>
            </a:r>
          </a:p>
        </p:txBody>
      </p:sp>
      <p:sp>
        <p:nvSpPr>
          <p:cNvPr id="3" name="文本框 2">
            <a:extLst>
              <a:ext uri="{FF2B5EF4-FFF2-40B4-BE49-F238E27FC236}">
                <a16:creationId xmlns:a16="http://schemas.microsoft.com/office/drawing/2014/main" id="{10DA8D46-C18E-4061-A072-7E5A6E7C74F1}"/>
              </a:ext>
            </a:extLst>
          </p:cNvPr>
          <p:cNvSpPr txBox="1"/>
          <p:nvPr/>
        </p:nvSpPr>
        <p:spPr>
          <a:xfrm>
            <a:off x="4074850" y="1770477"/>
            <a:ext cx="4628190" cy="212090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多个下游任务一起微调；</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每个下游任务包含相应的任务指令描述；</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此时的泛化性定义？</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单个任务中不同样本的泛化性？</a:t>
            </a:r>
            <a:endParaRPr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不同任务的泛化性？</a:t>
            </a:r>
          </a:p>
        </p:txBody>
      </p:sp>
      <p:pic>
        <p:nvPicPr>
          <p:cNvPr id="8" name="图片 7">
            <a:extLst>
              <a:ext uri="{FF2B5EF4-FFF2-40B4-BE49-F238E27FC236}">
                <a16:creationId xmlns:a16="http://schemas.microsoft.com/office/drawing/2014/main" id="{D819EAED-270E-4D34-99E8-2AC99E5170BB}"/>
              </a:ext>
            </a:extLst>
          </p:cNvPr>
          <p:cNvPicPr>
            <a:picLocks noChangeAspect="1"/>
          </p:cNvPicPr>
          <p:nvPr/>
        </p:nvPicPr>
        <p:blipFill rotWithShape="1">
          <a:blip r:embed="rId3"/>
          <a:srcRect l="43885" t="34265" r="1506" b="3770"/>
          <a:stretch/>
        </p:blipFill>
        <p:spPr>
          <a:xfrm>
            <a:off x="2476870" y="4181370"/>
            <a:ext cx="4886576" cy="251097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8799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210515C3-6561-4A9E-8FC8-AF401D360850}"/>
              </a:ext>
            </a:extLst>
          </p:cNvPr>
          <p:cNvPicPr>
            <a:picLocks noChangeAspect="1"/>
          </p:cNvPicPr>
          <p:nvPr/>
        </p:nvPicPr>
        <p:blipFill>
          <a:blip r:embed="rId3"/>
          <a:stretch>
            <a:fillRect/>
          </a:stretch>
        </p:blipFill>
        <p:spPr>
          <a:xfrm>
            <a:off x="72000" y="715583"/>
            <a:ext cx="9000000" cy="3047619"/>
          </a:xfrm>
          <a:prstGeom prst="rect">
            <a:avLst/>
          </a:prstGeom>
        </p:spPr>
      </p:pic>
      <p:sp>
        <p:nvSpPr>
          <p:cNvPr id="6" name="文本框 5">
            <a:extLst>
              <a:ext uri="{FF2B5EF4-FFF2-40B4-BE49-F238E27FC236}">
                <a16:creationId xmlns:a16="http://schemas.microsoft.com/office/drawing/2014/main" id="{E2CEFECE-B754-486F-A0C6-89C71AB1DF7B}"/>
              </a:ext>
            </a:extLst>
          </p:cNvPr>
          <p:cNvSpPr txBox="1"/>
          <p:nvPr/>
        </p:nvSpPr>
        <p:spPr>
          <a:xfrm>
            <a:off x="633453" y="1740838"/>
            <a:ext cx="110799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指令构造</a:t>
            </a:r>
          </a:p>
        </p:txBody>
      </p:sp>
      <p:sp>
        <p:nvSpPr>
          <p:cNvPr id="7" name="右大括号 6">
            <a:extLst>
              <a:ext uri="{FF2B5EF4-FFF2-40B4-BE49-F238E27FC236}">
                <a16:creationId xmlns:a16="http://schemas.microsoft.com/office/drawing/2014/main" id="{26386F78-CB7E-45A9-83B7-F58DD2EF0AB0}"/>
              </a:ext>
            </a:extLst>
          </p:cNvPr>
          <p:cNvSpPr/>
          <p:nvPr/>
        </p:nvSpPr>
        <p:spPr>
          <a:xfrm rot="5400000">
            <a:off x="2620378" y="1357050"/>
            <a:ext cx="355107" cy="4950808"/>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915516E-70AA-4EE1-B574-FE08AF10E302}"/>
              </a:ext>
            </a:extLst>
          </p:cNvPr>
          <p:cNvSpPr txBox="1"/>
          <p:nvPr/>
        </p:nvSpPr>
        <p:spPr>
          <a:xfrm>
            <a:off x="2068497" y="4010008"/>
            <a:ext cx="167866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输入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输出构造</a:t>
            </a:r>
          </a:p>
        </p:txBody>
      </p:sp>
      <p:pic>
        <p:nvPicPr>
          <p:cNvPr id="9" name="图片 8">
            <a:extLst>
              <a:ext uri="{FF2B5EF4-FFF2-40B4-BE49-F238E27FC236}">
                <a16:creationId xmlns:a16="http://schemas.microsoft.com/office/drawing/2014/main" id="{1FDA140E-8072-4117-973D-F76DE9C87851}"/>
              </a:ext>
            </a:extLst>
          </p:cNvPr>
          <p:cNvPicPr>
            <a:picLocks noChangeAspect="1"/>
          </p:cNvPicPr>
          <p:nvPr/>
        </p:nvPicPr>
        <p:blipFill>
          <a:blip r:embed="rId4"/>
          <a:stretch>
            <a:fillRect/>
          </a:stretch>
        </p:blipFill>
        <p:spPr>
          <a:xfrm>
            <a:off x="1737081" y="882505"/>
            <a:ext cx="5666667" cy="5323809"/>
          </a:xfrm>
          <a:prstGeom prst="rect">
            <a:avLst/>
          </a:prstGeom>
        </p:spPr>
      </p:pic>
    </p:spTree>
    <p:extLst>
      <p:ext uri="{BB962C8B-B14F-4D97-AF65-F5344CB8AC3E}">
        <p14:creationId xmlns:p14="http://schemas.microsoft.com/office/powerpoint/2010/main" val="2053269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 name="文本框 7">
            <a:extLst>
              <a:ext uri="{FF2B5EF4-FFF2-40B4-BE49-F238E27FC236}">
                <a16:creationId xmlns:a16="http://schemas.microsoft.com/office/drawing/2014/main" id="{B915516E-70AA-4EE1-B574-FE08AF10E302}"/>
              </a:ext>
            </a:extLst>
          </p:cNvPr>
          <p:cNvSpPr txBox="1"/>
          <p:nvPr/>
        </p:nvSpPr>
        <p:spPr>
          <a:xfrm>
            <a:off x="2068497" y="4010008"/>
            <a:ext cx="167866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输入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输出构造</a:t>
            </a:r>
          </a:p>
        </p:txBody>
      </p:sp>
      <p:pic>
        <p:nvPicPr>
          <p:cNvPr id="9" name="图片 8">
            <a:extLst>
              <a:ext uri="{FF2B5EF4-FFF2-40B4-BE49-F238E27FC236}">
                <a16:creationId xmlns:a16="http://schemas.microsoft.com/office/drawing/2014/main" id="{1FDA140E-8072-4117-973D-F76DE9C87851}"/>
              </a:ext>
            </a:extLst>
          </p:cNvPr>
          <p:cNvPicPr>
            <a:picLocks noChangeAspect="1"/>
          </p:cNvPicPr>
          <p:nvPr/>
        </p:nvPicPr>
        <p:blipFill>
          <a:blip r:embed="rId3"/>
          <a:stretch>
            <a:fillRect/>
          </a:stretch>
        </p:blipFill>
        <p:spPr>
          <a:xfrm>
            <a:off x="1737081" y="767095"/>
            <a:ext cx="5666667" cy="5323809"/>
          </a:xfrm>
          <a:prstGeom prst="rect">
            <a:avLst/>
          </a:prstGeom>
        </p:spPr>
      </p:pic>
      <p:sp>
        <p:nvSpPr>
          <p:cNvPr id="3" name="左大括号 2">
            <a:extLst>
              <a:ext uri="{FF2B5EF4-FFF2-40B4-BE49-F238E27FC236}">
                <a16:creationId xmlns:a16="http://schemas.microsoft.com/office/drawing/2014/main" id="{121D9A0E-BF56-4D62-B3B3-E5392B7B6E33}"/>
              </a:ext>
            </a:extLst>
          </p:cNvPr>
          <p:cNvSpPr/>
          <p:nvPr/>
        </p:nvSpPr>
        <p:spPr>
          <a:xfrm>
            <a:off x="1778527" y="1325686"/>
            <a:ext cx="248574" cy="1349406"/>
          </a:xfrm>
          <a:prstGeom prst="leftBrace">
            <a:avLst>
              <a:gd name="adj1" fmla="val 94048"/>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1" name="左大括号 10">
            <a:extLst>
              <a:ext uri="{FF2B5EF4-FFF2-40B4-BE49-F238E27FC236}">
                <a16:creationId xmlns:a16="http://schemas.microsoft.com/office/drawing/2014/main" id="{2D81A39E-FBC1-4F00-9D32-190AAE8601CB}"/>
              </a:ext>
            </a:extLst>
          </p:cNvPr>
          <p:cNvSpPr/>
          <p:nvPr/>
        </p:nvSpPr>
        <p:spPr>
          <a:xfrm rot="10800000">
            <a:off x="7155174" y="2941854"/>
            <a:ext cx="248574" cy="733501"/>
          </a:xfrm>
          <a:prstGeom prst="leftBrace">
            <a:avLst>
              <a:gd name="adj1" fmla="val 40476"/>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26B8B818-E57D-45BA-86FA-8B7DC92BC4FA}"/>
              </a:ext>
            </a:extLst>
          </p:cNvPr>
          <p:cNvSpPr txBox="1"/>
          <p:nvPr/>
        </p:nvSpPr>
        <p:spPr>
          <a:xfrm>
            <a:off x="334409" y="1626814"/>
            <a:ext cx="1444118"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指令：对一个特定任务的描述</a:t>
            </a:r>
          </a:p>
        </p:txBody>
      </p:sp>
      <p:sp>
        <p:nvSpPr>
          <p:cNvPr id="13" name="文本框 12">
            <a:extLst>
              <a:ext uri="{FF2B5EF4-FFF2-40B4-BE49-F238E27FC236}">
                <a16:creationId xmlns:a16="http://schemas.microsoft.com/office/drawing/2014/main" id="{3FF3826F-5A8F-41BB-BB34-BD2518D00025}"/>
              </a:ext>
            </a:extLst>
          </p:cNvPr>
          <p:cNvSpPr txBox="1"/>
          <p:nvPr/>
        </p:nvSpPr>
        <p:spPr>
          <a:xfrm>
            <a:off x="7403748" y="2941854"/>
            <a:ext cx="1444118"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任务上下文：补充信息</a:t>
            </a:r>
          </a:p>
        </p:txBody>
      </p:sp>
      <p:sp>
        <p:nvSpPr>
          <p:cNvPr id="14" name="左大括号 13">
            <a:extLst>
              <a:ext uri="{FF2B5EF4-FFF2-40B4-BE49-F238E27FC236}">
                <a16:creationId xmlns:a16="http://schemas.microsoft.com/office/drawing/2014/main" id="{6927FD7B-93D9-4F2A-B029-4D1D847E4AAF}"/>
              </a:ext>
            </a:extLst>
          </p:cNvPr>
          <p:cNvSpPr/>
          <p:nvPr/>
        </p:nvSpPr>
        <p:spPr>
          <a:xfrm>
            <a:off x="1953125" y="3698585"/>
            <a:ext cx="147952" cy="385716"/>
          </a:xfrm>
          <a:prstGeom prst="leftBrace">
            <a:avLst>
              <a:gd name="adj1" fmla="val 40476"/>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6D19854F-7636-4D4D-B1EF-9AFBC264A8AA}"/>
              </a:ext>
            </a:extLst>
          </p:cNvPr>
          <p:cNvSpPr txBox="1"/>
          <p:nvPr/>
        </p:nvSpPr>
        <p:spPr>
          <a:xfrm>
            <a:off x="566693" y="3588185"/>
            <a:ext cx="1444118"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基于指令和上下文内容的输出</a:t>
            </a:r>
          </a:p>
        </p:txBody>
      </p:sp>
    </p:spTree>
    <p:extLst>
      <p:ext uri="{BB962C8B-B14F-4D97-AF65-F5344CB8AC3E}">
        <p14:creationId xmlns:p14="http://schemas.microsoft.com/office/powerpoint/2010/main" val="3090147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9CFDA18F-8AF8-40BA-900A-ED0DF0A87D4A}"/>
              </a:ext>
            </a:extLst>
          </p:cNvPr>
          <p:cNvPicPr>
            <a:picLocks noChangeAspect="1"/>
          </p:cNvPicPr>
          <p:nvPr/>
        </p:nvPicPr>
        <p:blipFill>
          <a:blip r:embed="rId3"/>
          <a:stretch>
            <a:fillRect/>
          </a:stretch>
        </p:blipFill>
        <p:spPr>
          <a:xfrm>
            <a:off x="1732320" y="786382"/>
            <a:ext cx="5676190" cy="5409524"/>
          </a:xfrm>
          <a:prstGeom prst="rect">
            <a:avLst/>
          </a:prstGeom>
        </p:spPr>
      </p:pic>
    </p:spTree>
    <p:extLst>
      <p:ext uri="{BB962C8B-B14F-4D97-AF65-F5344CB8AC3E}">
        <p14:creationId xmlns:p14="http://schemas.microsoft.com/office/powerpoint/2010/main" val="10934405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2" name="图片 1">
            <a:extLst>
              <a:ext uri="{FF2B5EF4-FFF2-40B4-BE49-F238E27FC236}">
                <a16:creationId xmlns:a16="http://schemas.microsoft.com/office/drawing/2014/main" id="{9CFDA18F-8AF8-40BA-900A-ED0DF0A87D4A}"/>
              </a:ext>
            </a:extLst>
          </p:cNvPr>
          <p:cNvPicPr>
            <a:picLocks noChangeAspect="1"/>
          </p:cNvPicPr>
          <p:nvPr/>
        </p:nvPicPr>
        <p:blipFill>
          <a:blip r:embed="rId3"/>
          <a:stretch>
            <a:fillRect/>
          </a:stretch>
        </p:blipFill>
        <p:spPr>
          <a:xfrm>
            <a:off x="258626" y="866281"/>
            <a:ext cx="5676190" cy="5409524"/>
          </a:xfrm>
          <a:prstGeom prst="rect">
            <a:avLst/>
          </a:prstGeom>
        </p:spPr>
      </p:pic>
      <p:pic>
        <p:nvPicPr>
          <p:cNvPr id="3" name="图片 2">
            <a:extLst>
              <a:ext uri="{FF2B5EF4-FFF2-40B4-BE49-F238E27FC236}">
                <a16:creationId xmlns:a16="http://schemas.microsoft.com/office/drawing/2014/main" id="{125D920B-98A8-442F-9D89-6C18AB6994A9}"/>
              </a:ext>
            </a:extLst>
          </p:cNvPr>
          <p:cNvPicPr>
            <a:picLocks noChangeAspect="1"/>
          </p:cNvPicPr>
          <p:nvPr/>
        </p:nvPicPr>
        <p:blipFill>
          <a:blip r:embed="rId4"/>
          <a:stretch>
            <a:fillRect/>
          </a:stretch>
        </p:blipFill>
        <p:spPr>
          <a:xfrm>
            <a:off x="3465457" y="1667095"/>
            <a:ext cx="5533333" cy="3523809"/>
          </a:xfrm>
          <a:prstGeom prst="rect">
            <a:avLst/>
          </a:prstGeom>
        </p:spPr>
      </p:pic>
    </p:spTree>
    <p:extLst>
      <p:ext uri="{BB962C8B-B14F-4D97-AF65-F5344CB8AC3E}">
        <p14:creationId xmlns:p14="http://schemas.microsoft.com/office/powerpoint/2010/main" val="401679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7F7A8A59-E4D3-44E5-A033-204D68ED8AAE}"/>
              </a:ext>
            </a:extLst>
          </p:cNvPr>
          <p:cNvSpPr txBox="1"/>
          <p:nvPr/>
        </p:nvSpPr>
        <p:spPr>
          <a:xfrm>
            <a:off x="0" y="685163"/>
            <a:ext cx="2781531" cy="458908"/>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经典的指令种类选择：</a:t>
            </a:r>
          </a:p>
        </p:txBody>
      </p:sp>
      <p:pic>
        <p:nvPicPr>
          <p:cNvPr id="2" name="图片 1">
            <a:extLst>
              <a:ext uri="{FF2B5EF4-FFF2-40B4-BE49-F238E27FC236}">
                <a16:creationId xmlns:a16="http://schemas.microsoft.com/office/drawing/2014/main" id="{0A895054-2544-4CB4-9727-7F23F54C70C2}"/>
              </a:ext>
            </a:extLst>
          </p:cNvPr>
          <p:cNvPicPr>
            <a:picLocks noChangeAspect="1"/>
          </p:cNvPicPr>
          <p:nvPr/>
        </p:nvPicPr>
        <p:blipFill rotWithShape="1">
          <a:blip r:embed="rId3"/>
          <a:srcRect l="1746" r="1068"/>
          <a:stretch/>
        </p:blipFill>
        <p:spPr>
          <a:xfrm>
            <a:off x="159798" y="1159096"/>
            <a:ext cx="8886548" cy="3045180"/>
          </a:xfrm>
          <a:prstGeom prst="rect">
            <a:avLst/>
          </a:prstGeom>
        </p:spPr>
      </p:pic>
      <p:sp>
        <p:nvSpPr>
          <p:cNvPr id="7" name="文本框 6">
            <a:extLst>
              <a:ext uri="{FF2B5EF4-FFF2-40B4-BE49-F238E27FC236}">
                <a16:creationId xmlns:a16="http://schemas.microsoft.com/office/drawing/2014/main" id="{65E492B2-D81E-43F4-B5F1-8469CD7268F5}"/>
              </a:ext>
            </a:extLst>
          </p:cNvPr>
          <p:cNvSpPr txBox="1"/>
          <p:nvPr/>
        </p:nvSpPr>
        <p:spPr>
          <a:xfrm>
            <a:off x="-1" y="4095667"/>
            <a:ext cx="3602268" cy="458908"/>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基于大模型构造指令数据集：</a:t>
            </a:r>
          </a:p>
        </p:txBody>
      </p:sp>
      <p:pic>
        <p:nvPicPr>
          <p:cNvPr id="3" name="图片 2">
            <a:extLst>
              <a:ext uri="{FF2B5EF4-FFF2-40B4-BE49-F238E27FC236}">
                <a16:creationId xmlns:a16="http://schemas.microsoft.com/office/drawing/2014/main" id="{774C89FB-9B8F-4665-A677-0A5D8FB0A1DC}"/>
              </a:ext>
            </a:extLst>
          </p:cNvPr>
          <p:cNvPicPr>
            <a:picLocks noChangeAspect="1"/>
          </p:cNvPicPr>
          <p:nvPr/>
        </p:nvPicPr>
        <p:blipFill rotWithShape="1">
          <a:blip r:embed="rId4"/>
          <a:srcRect l="3618" t="1790"/>
          <a:stretch/>
        </p:blipFill>
        <p:spPr>
          <a:xfrm>
            <a:off x="2175028" y="4630135"/>
            <a:ext cx="4758431" cy="2015019"/>
          </a:xfrm>
          <a:prstGeom prst="rect">
            <a:avLst/>
          </a:prstGeom>
        </p:spPr>
      </p:pic>
    </p:spTree>
    <p:extLst>
      <p:ext uri="{BB962C8B-B14F-4D97-AF65-F5344CB8AC3E}">
        <p14:creationId xmlns:p14="http://schemas.microsoft.com/office/powerpoint/2010/main" val="22462773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 name="图片 4">
            <a:extLst>
              <a:ext uri="{FF2B5EF4-FFF2-40B4-BE49-F238E27FC236}">
                <a16:creationId xmlns:a16="http://schemas.microsoft.com/office/drawing/2014/main" id="{08A857E6-9239-4B0E-8E1E-A745FB155001}"/>
              </a:ext>
            </a:extLst>
          </p:cNvPr>
          <p:cNvPicPr>
            <a:picLocks noChangeAspect="1"/>
          </p:cNvPicPr>
          <p:nvPr/>
        </p:nvPicPr>
        <p:blipFill rotWithShape="1">
          <a:blip r:embed="rId3"/>
          <a:srcRect l="4128" t="3232" r="1107"/>
          <a:stretch/>
        </p:blipFill>
        <p:spPr>
          <a:xfrm>
            <a:off x="1682750" y="1159096"/>
            <a:ext cx="5806600" cy="2464125"/>
          </a:xfrm>
          <a:prstGeom prst="rect">
            <a:avLst/>
          </a:prstGeom>
        </p:spPr>
      </p:pic>
      <p:sp>
        <p:nvSpPr>
          <p:cNvPr id="6" name="文本框 5">
            <a:extLst>
              <a:ext uri="{FF2B5EF4-FFF2-40B4-BE49-F238E27FC236}">
                <a16:creationId xmlns:a16="http://schemas.microsoft.com/office/drawing/2014/main" id="{EA60385E-73B9-4A76-9975-039BEF7DD499}"/>
              </a:ext>
            </a:extLst>
          </p:cNvPr>
          <p:cNvSpPr txBox="1"/>
          <p:nvPr/>
        </p:nvSpPr>
        <p:spPr>
          <a:xfrm>
            <a:off x="0" y="609602"/>
            <a:ext cx="3602268" cy="458908"/>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基于大模型构造指令数据集：</a:t>
            </a:r>
          </a:p>
        </p:txBody>
      </p:sp>
      <p:sp>
        <p:nvSpPr>
          <p:cNvPr id="2" name="文本框 1">
            <a:extLst>
              <a:ext uri="{FF2B5EF4-FFF2-40B4-BE49-F238E27FC236}">
                <a16:creationId xmlns:a16="http://schemas.microsoft.com/office/drawing/2014/main" id="{6CF7DEAB-A11E-44DD-9EDA-9832D9C71C69}"/>
              </a:ext>
            </a:extLst>
          </p:cNvPr>
          <p:cNvSpPr txBox="1"/>
          <p:nvPr/>
        </p:nvSpPr>
        <p:spPr>
          <a:xfrm>
            <a:off x="457200" y="3787448"/>
            <a:ext cx="3961341" cy="584775"/>
          </a:xfrm>
          <a:prstGeom prst="rect">
            <a:avLst/>
          </a:prstGeom>
          <a:noFill/>
        </p:spPr>
        <p:txBody>
          <a:bodyPr wrap="non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如何为一个任务构造更多的任务样本？</a:t>
            </a:r>
            <a:endParaRPr lang="en-US" altLang="zh-CN" sz="16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面向指令微调的蒸馏方案</a:t>
            </a:r>
          </a:p>
        </p:txBody>
      </p:sp>
      <p:sp>
        <p:nvSpPr>
          <p:cNvPr id="3" name="Rectangle 1">
            <a:extLst>
              <a:ext uri="{FF2B5EF4-FFF2-40B4-BE49-F238E27FC236}">
                <a16:creationId xmlns:a16="http://schemas.microsoft.com/office/drawing/2014/main" id="{33E22193-9CD5-45BC-92BE-CE64C30C9311}"/>
              </a:ext>
            </a:extLst>
          </p:cNvPr>
          <p:cNvSpPr>
            <a:spLocks noChangeArrowheads="1"/>
          </p:cNvSpPr>
          <p:nvPr/>
        </p:nvSpPr>
        <p:spPr bwMode="auto">
          <a:xfrm>
            <a:off x="52754" y="772570"/>
            <a:ext cx="8881833" cy="5556265"/>
          </a:xfrm>
          <a:prstGeom prst="rect">
            <a:avLst/>
          </a:prstGeom>
          <a:solidFill>
            <a:srgbClr val="F6F8FA"/>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You are asked to come up with a set of 20 diverse task instructions. These task instructions will be given to a GPT model and we will evaluate the GPT model for completing the instructions.</a:t>
            </a:r>
          </a:p>
          <a:p>
            <a:pPr lvl="0" eaLnBrk="0" fontAlgn="base" hangingPunct="0">
              <a:lnSpc>
                <a:spcPct val="150000"/>
              </a:lnSpc>
              <a:spcBef>
                <a:spcPct val="0"/>
              </a:spcBef>
              <a:spcAft>
                <a:spcPct val="0"/>
              </a:spcAft>
            </a:pPr>
            <a:endParaRPr lang="en-US" altLang="zh-CN" sz="1100" dirty="0">
              <a:solidFill>
                <a:srgbClr val="1F2328"/>
              </a:solidFill>
              <a:latin typeface="微软雅黑" panose="020B0503020204020204" pitchFamily="34" charset="-122"/>
              <a:ea typeface="微软雅黑" panose="020B0503020204020204" pitchFamily="34" charset="-122"/>
            </a:endParaRP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Here are the requirements:</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1. Try not to repeat the verb for each instruction to maximize diversity.</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2. The language used for the instruction also should be diverse. For example, you should combine questions with imperative </a:t>
            </a:r>
            <a:r>
              <a:rPr lang="en-US" altLang="zh-CN" sz="1100" dirty="0" err="1">
                <a:solidFill>
                  <a:srgbClr val="1F2328"/>
                </a:solidFill>
                <a:latin typeface="微软雅黑" panose="020B0503020204020204" pitchFamily="34" charset="-122"/>
                <a:ea typeface="微软雅黑" panose="020B0503020204020204" pitchFamily="34" charset="-122"/>
              </a:rPr>
              <a:t>instrucitons</a:t>
            </a:r>
            <a:r>
              <a:rPr lang="en-US" altLang="zh-CN" sz="1100" dirty="0">
                <a:solidFill>
                  <a:srgbClr val="1F2328"/>
                </a:solidFill>
                <a:latin typeface="微软雅黑" panose="020B0503020204020204" pitchFamily="34" charset="-122"/>
                <a:ea typeface="微软雅黑" panose="020B0503020204020204" pitchFamily="34" charset="-122"/>
              </a:rPr>
              <a:t>.</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3. The type of instructions should be diverse. The list should include diverse types of tasks like open-ended generation, classification, editing, etc.</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2. A GPT language model should be able to complete the instruction. For example, do not ask the assistant to create any visual or audio output. For another example, do not ask the assistant to wake you up at 5pm or set a reminder because it cannot perform any action.</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3. The instructions should be in English.</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4. The instructions should be 1 to 2 sentences long. Either an imperative sentence or a question is permitted.</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5. You should generate an appropriate input to the instruction. The input field should contain a specific example provided for the instruction. It should involve realistic data and should not contain simple placeholders. The input should provide substantial content to make the instruction challenging but should ideally not exceed 100 words.</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6. Not all instructions require input. For example, when a instruction asks about some general information, "what is the highest peak in the world", it is not </a:t>
            </a:r>
            <a:r>
              <a:rPr lang="en-US" altLang="zh-CN" sz="1100" dirty="0" err="1">
                <a:solidFill>
                  <a:srgbClr val="1F2328"/>
                </a:solidFill>
                <a:latin typeface="微软雅黑" panose="020B0503020204020204" pitchFamily="34" charset="-122"/>
                <a:ea typeface="微软雅黑" panose="020B0503020204020204" pitchFamily="34" charset="-122"/>
              </a:rPr>
              <a:t>necssary</a:t>
            </a:r>
            <a:r>
              <a:rPr lang="en-US" altLang="zh-CN" sz="1100" dirty="0">
                <a:solidFill>
                  <a:srgbClr val="1F2328"/>
                </a:solidFill>
                <a:latin typeface="微软雅黑" panose="020B0503020204020204" pitchFamily="34" charset="-122"/>
                <a:ea typeface="微软雅黑" panose="020B0503020204020204" pitchFamily="34" charset="-122"/>
              </a:rPr>
              <a:t> to provide a specific context. In this case, we simply put "&lt;</a:t>
            </a:r>
            <a:r>
              <a:rPr lang="en-US" altLang="zh-CN" sz="1100" dirty="0" err="1">
                <a:solidFill>
                  <a:srgbClr val="1F2328"/>
                </a:solidFill>
                <a:latin typeface="微软雅黑" panose="020B0503020204020204" pitchFamily="34" charset="-122"/>
                <a:ea typeface="微软雅黑" panose="020B0503020204020204" pitchFamily="34" charset="-122"/>
              </a:rPr>
              <a:t>noinput</a:t>
            </a:r>
            <a:r>
              <a:rPr lang="en-US" altLang="zh-CN" sz="1100" dirty="0">
                <a:solidFill>
                  <a:srgbClr val="1F2328"/>
                </a:solidFill>
                <a:latin typeface="微软雅黑" panose="020B0503020204020204" pitchFamily="34" charset="-122"/>
                <a:ea typeface="微软雅黑" panose="020B0503020204020204" pitchFamily="34" charset="-122"/>
              </a:rPr>
              <a:t>&gt;" in the input field.</a:t>
            </a: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7. The output should be an appropriate response to the instruction and the input. Make sure the output is less than 100 words.</a:t>
            </a:r>
          </a:p>
          <a:p>
            <a:pPr lvl="0" eaLnBrk="0" fontAlgn="base" hangingPunct="0">
              <a:lnSpc>
                <a:spcPct val="150000"/>
              </a:lnSpc>
              <a:spcBef>
                <a:spcPct val="0"/>
              </a:spcBef>
              <a:spcAft>
                <a:spcPct val="0"/>
              </a:spcAft>
            </a:pPr>
            <a:endParaRPr lang="en-US" altLang="zh-CN" sz="1100" dirty="0">
              <a:solidFill>
                <a:srgbClr val="1F2328"/>
              </a:solidFill>
              <a:latin typeface="微软雅黑" panose="020B0503020204020204" pitchFamily="34" charset="-122"/>
              <a:ea typeface="微软雅黑" panose="020B0503020204020204" pitchFamily="34" charset="-122"/>
            </a:endParaRPr>
          </a:p>
          <a:p>
            <a:pPr lvl="0" eaLnBrk="0" fontAlgn="base" hangingPunct="0">
              <a:lnSpc>
                <a:spcPct val="150000"/>
              </a:lnSpc>
              <a:spcBef>
                <a:spcPct val="0"/>
              </a:spcBef>
              <a:spcAft>
                <a:spcPct val="0"/>
              </a:spcAft>
            </a:pPr>
            <a:r>
              <a:rPr lang="en-US" altLang="zh-CN" sz="1100" dirty="0">
                <a:solidFill>
                  <a:srgbClr val="1F2328"/>
                </a:solidFill>
                <a:latin typeface="微软雅黑" panose="020B0503020204020204" pitchFamily="34" charset="-122"/>
                <a:ea typeface="微软雅黑" panose="020B0503020204020204" pitchFamily="34" charset="-122"/>
              </a:rPr>
              <a:t>List of 20 tasks:</a:t>
            </a:r>
            <a:endParaRPr kumimoji="0" lang="zh-CN"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6C2908B0-137D-4832-8BA9-9774B021415F}"/>
              </a:ext>
            </a:extLst>
          </p:cNvPr>
          <p:cNvSpPr>
            <a:spLocks noChangeArrowheads="1"/>
          </p:cNvSpPr>
          <p:nvPr/>
        </p:nvSpPr>
        <p:spPr bwMode="auto">
          <a:xfrm>
            <a:off x="971550" y="1914978"/>
            <a:ext cx="6605954" cy="2001445"/>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zh-CN" altLang="zh-CN" sz="1100" dirty="0">
                <a:solidFill>
                  <a:srgbClr val="1F2328"/>
                </a:solidFill>
                <a:latin typeface="微软雅黑" panose="020B0503020204020204" pitchFamily="34" charset="-122"/>
                <a:ea typeface="微软雅黑" panose="020B0503020204020204" pitchFamily="34" charset="-122"/>
              </a:rPr>
              <a:t>Below is an instruction that describes a task, paired with an input that provides further context. Write a response that appropriately completes the request. </a:t>
            </a:r>
            <a:endParaRPr lang="en-US" altLang="zh-CN" sz="1100" dirty="0">
              <a:solidFill>
                <a:srgbClr val="1F2328"/>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zh-CN" sz="1100" dirty="0">
              <a:solidFill>
                <a:srgbClr val="1F2328"/>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100" dirty="0">
                <a:solidFill>
                  <a:srgbClr val="1F2328"/>
                </a:solidFill>
                <a:latin typeface="微软雅黑" panose="020B0503020204020204" pitchFamily="34" charset="-122"/>
                <a:ea typeface="微软雅黑" panose="020B0503020204020204" pitchFamily="34" charset="-122"/>
              </a:rPr>
              <a:t>### Instruction: {instruction} </a:t>
            </a:r>
            <a:endParaRPr lang="en-US" altLang="zh-CN" sz="1100" dirty="0">
              <a:solidFill>
                <a:srgbClr val="1F2328"/>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zh-CN" sz="1100" dirty="0">
              <a:solidFill>
                <a:srgbClr val="1F2328"/>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100" dirty="0">
                <a:solidFill>
                  <a:srgbClr val="1F2328"/>
                </a:solidFill>
                <a:latin typeface="微软雅黑" panose="020B0503020204020204" pitchFamily="34" charset="-122"/>
                <a:ea typeface="微软雅黑" panose="020B0503020204020204" pitchFamily="34" charset="-122"/>
              </a:rPr>
              <a:t>### Input: {input} </a:t>
            </a:r>
            <a:endParaRPr lang="en-US" altLang="zh-CN" sz="1100" dirty="0">
              <a:solidFill>
                <a:srgbClr val="1F2328"/>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zh-CN" sz="1100" dirty="0">
              <a:solidFill>
                <a:srgbClr val="1F2328"/>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100" dirty="0">
                <a:solidFill>
                  <a:srgbClr val="1F2328"/>
                </a:solidFill>
                <a:latin typeface="微软雅黑" panose="020B0503020204020204" pitchFamily="34" charset="-122"/>
                <a:ea typeface="微软雅黑" panose="020B0503020204020204" pitchFamily="34" charset="-122"/>
              </a:rPr>
              <a:t>### Response: </a:t>
            </a:r>
          </a:p>
        </p:txBody>
      </p:sp>
    </p:spTree>
    <p:extLst>
      <p:ext uri="{BB962C8B-B14F-4D97-AF65-F5344CB8AC3E}">
        <p14:creationId xmlns:p14="http://schemas.microsoft.com/office/powerpoint/2010/main" val="285098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3" name="图片 2">
            <a:extLst>
              <a:ext uri="{FF2B5EF4-FFF2-40B4-BE49-F238E27FC236}">
                <a16:creationId xmlns:a16="http://schemas.microsoft.com/office/drawing/2014/main" id="{5DAA173A-3B77-4592-8D1F-77D58A5036F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6391" y="0"/>
            <a:ext cx="7085887" cy="6858000"/>
          </a:xfrm>
          <a:prstGeom prst="rect">
            <a:avLst/>
          </a:prstGeom>
        </p:spPr>
      </p:pic>
      <p:pic>
        <p:nvPicPr>
          <p:cNvPr id="4" name="图片 3">
            <a:extLst>
              <a:ext uri="{FF2B5EF4-FFF2-40B4-BE49-F238E27FC236}">
                <a16:creationId xmlns:a16="http://schemas.microsoft.com/office/drawing/2014/main" id="{955C9263-0759-43F9-8FF3-A20C620A9E28}"/>
              </a:ext>
            </a:extLst>
          </p:cNvPr>
          <p:cNvPicPr>
            <a:picLocks noChangeAspect="1"/>
          </p:cNvPicPr>
          <p:nvPr/>
        </p:nvPicPr>
        <p:blipFill>
          <a:blip r:embed="rId4"/>
          <a:stretch>
            <a:fillRect/>
          </a:stretch>
        </p:blipFill>
        <p:spPr>
          <a:xfrm>
            <a:off x="-3172" y="2120706"/>
            <a:ext cx="9144000" cy="2514988"/>
          </a:xfrm>
          <a:prstGeom prst="rect">
            <a:avLst/>
          </a:prstGeom>
        </p:spPr>
      </p:pic>
    </p:spTree>
    <p:extLst>
      <p:ext uri="{BB962C8B-B14F-4D97-AF65-F5344CB8AC3E}">
        <p14:creationId xmlns:p14="http://schemas.microsoft.com/office/powerpoint/2010/main" val="384547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 name="图片 4">
            <a:extLst>
              <a:ext uri="{FF2B5EF4-FFF2-40B4-BE49-F238E27FC236}">
                <a16:creationId xmlns:a16="http://schemas.microsoft.com/office/drawing/2014/main" id="{D656672A-3176-4850-BECF-69FDDC9B5018}"/>
              </a:ext>
            </a:extLst>
          </p:cNvPr>
          <p:cNvPicPr>
            <a:picLocks noChangeAspect="1"/>
          </p:cNvPicPr>
          <p:nvPr/>
        </p:nvPicPr>
        <p:blipFill rotWithShape="1">
          <a:blip r:embed="rId3"/>
          <a:srcRect l="7524" t="39597" r="6292"/>
          <a:stretch/>
        </p:blipFill>
        <p:spPr>
          <a:xfrm>
            <a:off x="990600" y="1727199"/>
            <a:ext cx="7550150" cy="2235201"/>
          </a:xfrm>
          <a:prstGeom prst="rect">
            <a:avLst/>
          </a:prstGeom>
        </p:spPr>
      </p:pic>
      <p:sp>
        <p:nvSpPr>
          <p:cNvPr id="7" name="文本框 6">
            <a:extLst>
              <a:ext uri="{FF2B5EF4-FFF2-40B4-BE49-F238E27FC236}">
                <a16:creationId xmlns:a16="http://schemas.microsoft.com/office/drawing/2014/main" id="{02969F89-EAEB-4236-97A1-637970D3A6C5}"/>
              </a:ext>
            </a:extLst>
          </p:cNvPr>
          <p:cNvSpPr txBox="1"/>
          <p:nvPr/>
        </p:nvSpPr>
        <p:spPr>
          <a:xfrm>
            <a:off x="0" y="685163"/>
            <a:ext cx="6994222" cy="874407"/>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核心目标：训练</a:t>
            </a:r>
            <a:r>
              <a:rPr lang="en-US" altLang="zh-CN" dirty="0">
                <a:latin typeface="微软雅黑" panose="020B0503020204020204" pitchFamily="34" charset="-122"/>
                <a:ea typeface="微软雅黑" panose="020B0503020204020204" pitchFamily="34" charset="-122"/>
              </a:rPr>
              <a:t>LLM</a:t>
            </a:r>
            <a:r>
              <a:rPr lang="zh-CN" altLang="en-US" dirty="0">
                <a:latin typeface="微软雅黑" panose="020B0503020204020204" pitchFamily="34" charset="-122"/>
                <a:ea typeface="微软雅黑" panose="020B0503020204020204" pitchFamily="34" charset="-122"/>
              </a:rPr>
              <a:t>，使其输出内容和人类价值观对齐；</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核心步骤：</a:t>
            </a: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对输出语句进行人工打分；</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 根据分数训练模型。</a:t>
            </a:r>
          </a:p>
        </p:txBody>
      </p:sp>
      <p:pic>
        <p:nvPicPr>
          <p:cNvPr id="3" name="图片 2">
            <a:extLst>
              <a:ext uri="{FF2B5EF4-FFF2-40B4-BE49-F238E27FC236}">
                <a16:creationId xmlns:a16="http://schemas.microsoft.com/office/drawing/2014/main" id="{29680F64-DE4D-436B-8200-EC08DC275FE7}"/>
              </a:ext>
            </a:extLst>
          </p:cNvPr>
          <p:cNvPicPr>
            <a:picLocks noChangeAspect="1"/>
          </p:cNvPicPr>
          <p:nvPr/>
        </p:nvPicPr>
        <p:blipFill rotWithShape="1">
          <a:blip r:embed="rId4">
            <a:clrChange>
              <a:clrFrom>
                <a:srgbClr val="F9FAFC"/>
              </a:clrFrom>
              <a:clrTo>
                <a:srgbClr val="F9FAFC">
                  <a:alpha val="0"/>
                </a:srgbClr>
              </a:clrTo>
            </a:clrChange>
            <a:extLst>
              <a:ext uri="{28A0092B-C50C-407E-A947-70E740481C1C}">
                <a14:useLocalDpi xmlns:a14="http://schemas.microsoft.com/office/drawing/2010/main" val="0"/>
              </a:ext>
            </a:extLst>
          </a:blip>
          <a:srcRect t="28974" r="74028" b="7987"/>
          <a:stretch/>
        </p:blipFill>
        <p:spPr>
          <a:xfrm>
            <a:off x="2074710" y="3978059"/>
            <a:ext cx="1761219" cy="2654301"/>
          </a:xfrm>
          <a:prstGeom prst="rect">
            <a:avLst/>
          </a:prstGeom>
        </p:spPr>
      </p:pic>
      <p:pic>
        <p:nvPicPr>
          <p:cNvPr id="10" name="图片 9">
            <a:extLst>
              <a:ext uri="{FF2B5EF4-FFF2-40B4-BE49-F238E27FC236}">
                <a16:creationId xmlns:a16="http://schemas.microsoft.com/office/drawing/2014/main" id="{83DB368D-15FD-4912-AB8D-0530DB4BE73C}"/>
              </a:ext>
            </a:extLst>
          </p:cNvPr>
          <p:cNvPicPr>
            <a:picLocks noChangeAspect="1"/>
          </p:cNvPicPr>
          <p:nvPr/>
        </p:nvPicPr>
        <p:blipFill rotWithShape="1">
          <a:blip r:embed="rId4">
            <a:clrChange>
              <a:clrFrom>
                <a:srgbClr val="F9FAFC"/>
              </a:clrFrom>
              <a:clrTo>
                <a:srgbClr val="F9FAFC">
                  <a:alpha val="0"/>
                </a:srgbClr>
              </a:clrTo>
            </a:clrChange>
            <a:extLst>
              <a:ext uri="{28A0092B-C50C-407E-A947-70E740481C1C}">
                <a14:useLocalDpi xmlns:a14="http://schemas.microsoft.com/office/drawing/2010/main" val="0"/>
              </a:ext>
            </a:extLst>
          </a:blip>
          <a:srcRect l="73951" t="29500" r="77" b="2192"/>
          <a:stretch/>
        </p:blipFill>
        <p:spPr>
          <a:xfrm>
            <a:off x="5481789" y="3978059"/>
            <a:ext cx="1587501" cy="2592464"/>
          </a:xfrm>
          <a:prstGeom prst="rect">
            <a:avLst/>
          </a:prstGeom>
        </p:spPr>
      </p:pic>
      <p:cxnSp>
        <p:nvCxnSpPr>
          <p:cNvPr id="8" name="直接箭头连接符 7">
            <a:extLst>
              <a:ext uri="{FF2B5EF4-FFF2-40B4-BE49-F238E27FC236}">
                <a16:creationId xmlns:a16="http://schemas.microsoft.com/office/drawing/2014/main" id="{2C203A9E-658B-4F2D-9E75-ED682487014A}"/>
              </a:ext>
            </a:extLst>
          </p:cNvPr>
          <p:cNvCxnSpPr>
            <a:stCxn id="3" idx="3"/>
          </p:cNvCxnSpPr>
          <p:nvPr/>
        </p:nvCxnSpPr>
        <p:spPr>
          <a:xfrm flipV="1">
            <a:off x="3835929" y="5305209"/>
            <a:ext cx="2374371"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9" name="文本框 8">
            <a:extLst>
              <a:ext uri="{FF2B5EF4-FFF2-40B4-BE49-F238E27FC236}">
                <a16:creationId xmlns:a16="http://schemas.microsoft.com/office/drawing/2014/main" id="{D61553BC-2E2C-4E51-AAFB-0379A4846968}"/>
              </a:ext>
            </a:extLst>
          </p:cNvPr>
          <p:cNvSpPr txBox="1"/>
          <p:nvPr/>
        </p:nvSpPr>
        <p:spPr>
          <a:xfrm>
            <a:off x="3835929" y="4904959"/>
            <a:ext cx="226215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奖励模型训练成本高</a:t>
            </a:r>
          </a:p>
        </p:txBody>
      </p:sp>
    </p:spTree>
    <p:extLst>
      <p:ext uri="{BB962C8B-B14F-4D97-AF65-F5344CB8AC3E}">
        <p14:creationId xmlns:p14="http://schemas.microsoft.com/office/powerpoint/2010/main" val="17199430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内容占位符 2">
            <a:extLst>
              <a:ext uri="{FF2B5EF4-FFF2-40B4-BE49-F238E27FC236}">
                <a16:creationId xmlns:a16="http://schemas.microsoft.com/office/drawing/2014/main" id="{01A67899-1490-477B-9A05-2A9F2D7BF6AB}"/>
              </a:ext>
            </a:extLst>
          </p:cNvPr>
          <p:cNvSpPr txBox="1">
            <a:spLocks/>
          </p:cNvSpPr>
          <p:nvPr/>
        </p:nvSpPr>
        <p:spPr>
          <a:xfrm>
            <a:off x="-247650" y="772957"/>
            <a:ext cx="8401050" cy="5365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Reinforcement Learning from Human Feedback (RLHF on </a:t>
            </a:r>
            <a:r>
              <a:rPr lang="en-US" altLang="zh-CN" sz="1800" dirty="0" err="1">
                <a:latin typeface="微软雅黑" panose="020B0503020204020204" pitchFamily="34" charset="-122"/>
                <a:ea typeface="微软雅黑" panose="020B0503020204020204" pitchFamily="34" charset="-122"/>
              </a:rPr>
              <a:t>ChatGPT</a:t>
            </a:r>
            <a:r>
              <a:rPr lang="en-US" altLang="zh-CN"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181230E7-F4D0-4BE0-96F3-8B3C70CAD0C9}"/>
              </a:ext>
            </a:extLst>
          </p:cNvPr>
          <p:cNvPicPr>
            <a:picLocks noChangeAspect="1"/>
          </p:cNvPicPr>
          <p:nvPr/>
        </p:nvPicPr>
        <p:blipFill rotWithShape="1">
          <a:blip r:embed="rId3"/>
          <a:srcRect r="40459"/>
          <a:stretch/>
        </p:blipFill>
        <p:spPr>
          <a:xfrm>
            <a:off x="378177" y="1159096"/>
            <a:ext cx="5743021" cy="3647854"/>
          </a:xfrm>
          <a:prstGeom prst="rect">
            <a:avLst/>
          </a:prstGeom>
        </p:spPr>
      </p:pic>
      <p:pic>
        <p:nvPicPr>
          <p:cNvPr id="7" name="图片 6">
            <a:extLst>
              <a:ext uri="{FF2B5EF4-FFF2-40B4-BE49-F238E27FC236}">
                <a16:creationId xmlns:a16="http://schemas.microsoft.com/office/drawing/2014/main" id="{E7490050-6911-4B36-831F-E9CAF7216D44}"/>
              </a:ext>
            </a:extLst>
          </p:cNvPr>
          <p:cNvPicPr>
            <a:picLocks noChangeAspect="1"/>
          </p:cNvPicPr>
          <p:nvPr/>
        </p:nvPicPr>
        <p:blipFill>
          <a:blip r:embed="rId4"/>
          <a:stretch>
            <a:fillRect/>
          </a:stretch>
        </p:blipFill>
        <p:spPr>
          <a:xfrm>
            <a:off x="428117" y="4996025"/>
            <a:ext cx="5568944" cy="1068383"/>
          </a:xfrm>
          <a:prstGeom prst="rect">
            <a:avLst/>
          </a:prstGeom>
        </p:spPr>
      </p:pic>
      <p:cxnSp>
        <p:nvCxnSpPr>
          <p:cNvPr id="3" name="直接箭头连接符 2">
            <a:extLst>
              <a:ext uri="{FF2B5EF4-FFF2-40B4-BE49-F238E27FC236}">
                <a16:creationId xmlns:a16="http://schemas.microsoft.com/office/drawing/2014/main" id="{C807F3F9-E5FD-4FC3-BA2C-6257EDBC110A}"/>
              </a:ext>
            </a:extLst>
          </p:cNvPr>
          <p:cNvCxnSpPr/>
          <p:nvPr/>
        </p:nvCxnSpPr>
        <p:spPr>
          <a:xfrm>
            <a:off x="1327150" y="4197350"/>
            <a:ext cx="0" cy="79375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a:extLst>
              <a:ext uri="{FF2B5EF4-FFF2-40B4-BE49-F238E27FC236}">
                <a16:creationId xmlns:a16="http://schemas.microsoft.com/office/drawing/2014/main" id="{7EB0ABFA-0AF7-45DC-802A-C8934668E84A}"/>
              </a:ext>
            </a:extLst>
          </p:cNvPr>
          <p:cNvCxnSpPr>
            <a:cxnSpLocks/>
          </p:cNvCxnSpPr>
          <p:nvPr/>
        </p:nvCxnSpPr>
        <p:spPr>
          <a:xfrm flipV="1">
            <a:off x="6131075" y="1897965"/>
            <a:ext cx="615950" cy="44169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12" name="图片 11">
            <a:extLst>
              <a:ext uri="{FF2B5EF4-FFF2-40B4-BE49-F238E27FC236}">
                <a16:creationId xmlns:a16="http://schemas.microsoft.com/office/drawing/2014/main" id="{8BF8D865-A74C-4F22-A01A-7802A3CA605D}"/>
              </a:ext>
            </a:extLst>
          </p:cNvPr>
          <p:cNvPicPr>
            <a:picLocks noChangeAspect="1"/>
          </p:cNvPicPr>
          <p:nvPr/>
        </p:nvPicPr>
        <p:blipFill rotWithShape="1">
          <a:blip r:embed="rId3"/>
          <a:srcRect l="54108" t="7484" r="-521" b="77806"/>
          <a:stretch/>
        </p:blipFill>
        <p:spPr>
          <a:xfrm>
            <a:off x="5594351" y="1451749"/>
            <a:ext cx="3422650" cy="410233"/>
          </a:xfrm>
          <a:prstGeom prst="rect">
            <a:avLst/>
          </a:prstGeom>
        </p:spPr>
      </p:pic>
      <p:pic>
        <p:nvPicPr>
          <p:cNvPr id="15" name="图片 14">
            <a:extLst>
              <a:ext uri="{FF2B5EF4-FFF2-40B4-BE49-F238E27FC236}">
                <a16:creationId xmlns:a16="http://schemas.microsoft.com/office/drawing/2014/main" id="{9C8D807E-D69F-4E53-AF00-5AA9D04BC4FE}"/>
              </a:ext>
            </a:extLst>
          </p:cNvPr>
          <p:cNvPicPr>
            <a:picLocks noChangeAspect="1"/>
          </p:cNvPicPr>
          <p:nvPr/>
        </p:nvPicPr>
        <p:blipFill rotWithShape="1">
          <a:blip r:embed="rId3"/>
          <a:srcRect l="62574" t="27043" r="954" b="38838"/>
          <a:stretch/>
        </p:blipFill>
        <p:spPr>
          <a:xfrm>
            <a:off x="5997061" y="2603719"/>
            <a:ext cx="2919093" cy="1032750"/>
          </a:xfrm>
          <a:prstGeom prst="rect">
            <a:avLst/>
          </a:prstGeom>
        </p:spPr>
      </p:pic>
    </p:spTree>
    <p:extLst>
      <p:ext uri="{BB962C8B-B14F-4D97-AF65-F5344CB8AC3E}">
        <p14:creationId xmlns:p14="http://schemas.microsoft.com/office/powerpoint/2010/main" val="35578960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4" name="图片 3">
            <a:extLst>
              <a:ext uri="{FF2B5EF4-FFF2-40B4-BE49-F238E27FC236}">
                <a16:creationId xmlns:a16="http://schemas.microsoft.com/office/drawing/2014/main" id="{B01D45ED-A676-4807-B942-D4C920AC2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700" y="376426"/>
            <a:ext cx="7732112" cy="6105147"/>
          </a:xfrm>
          <a:prstGeom prst="rect">
            <a:avLst/>
          </a:prstGeom>
        </p:spPr>
      </p:pic>
    </p:spTree>
    <p:extLst>
      <p:ext uri="{BB962C8B-B14F-4D97-AF65-F5344CB8AC3E}">
        <p14:creationId xmlns:p14="http://schemas.microsoft.com/office/powerpoint/2010/main" val="39949526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4" name="图片 3">
            <a:extLst>
              <a:ext uri="{FF2B5EF4-FFF2-40B4-BE49-F238E27FC236}">
                <a16:creationId xmlns:a16="http://schemas.microsoft.com/office/drawing/2014/main" id="{E865ECA6-EA4D-4A74-A6AA-BBA3DCA5AB6D}"/>
              </a:ext>
            </a:extLst>
          </p:cNvPr>
          <p:cNvPicPr>
            <a:picLocks noChangeAspect="1"/>
          </p:cNvPicPr>
          <p:nvPr/>
        </p:nvPicPr>
        <p:blipFill rotWithShape="1">
          <a:blip r:embed="rId3">
            <a:clrChange>
              <a:clrFrom>
                <a:srgbClr val="F9FAFC"/>
              </a:clrFrom>
              <a:clrTo>
                <a:srgbClr val="F9FAFC">
                  <a:alpha val="0"/>
                </a:srgbClr>
              </a:clrTo>
            </a:clrChange>
            <a:extLst>
              <a:ext uri="{28A0092B-C50C-407E-A947-70E740481C1C}">
                <a14:useLocalDpi xmlns:a14="http://schemas.microsoft.com/office/drawing/2010/main" val="0"/>
              </a:ext>
            </a:extLst>
          </a:blip>
          <a:srcRect t="11935" b="10596"/>
          <a:stretch/>
        </p:blipFill>
        <p:spPr>
          <a:xfrm>
            <a:off x="1095375" y="2265023"/>
            <a:ext cx="6511925" cy="2880622"/>
          </a:xfrm>
          <a:prstGeom prst="rect">
            <a:avLst/>
          </a:prstGeom>
        </p:spPr>
      </p:pic>
      <p:sp>
        <p:nvSpPr>
          <p:cNvPr id="6" name="矩形 5">
            <a:extLst>
              <a:ext uri="{FF2B5EF4-FFF2-40B4-BE49-F238E27FC236}">
                <a16:creationId xmlns:a16="http://schemas.microsoft.com/office/drawing/2014/main" id="{F3210F9C-7768-4F45-9EB7-9E466DD056DB}"/>
              </a:ext>
            </a:extLst>
          </p:cNvPr>
          <p:cNvSpPr/>
          <p:nvPr/>
        </p:nvSpPr>
        <p:spPr>
          <a:xfrm>
            <a:off x="0" y="708586"/>
            <a:ext cx="8959850" cy="1156855"/>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Direct Preference Optimization (DPO):RLHF</a:t>
            </a:r>
            <a:r>
              <a:rPr lang="zh-CN" altLang="en-US" sz="1600" dirty="0">
                <a:latin typeface="微软雅黑" panose="020B0503020204020204" pitchFamily="34" charset="-122"/>
                <a:ea typeface="微软雅黑" panose="020B0503020204020204" pitchFamily="34" charset="-122"/>
              </a:rPr>
              <a:t>虽然强大，但其三阶段的复杂流程（特别是需要训练一个独立的奖励模型和使用复杂的强化学习算法）使其难以实施和调试。直接偏好优化（</a:t>
            </a:r>
            <a:r>
              <a:rPr lang="en-US" altLang="zh-CN" sz="1600" dirty="0">
                <a:latin typeface="微软雅黑" panose="020B0503020204020204" pitchFamily="34" charset="-122"/>
                <a:ea typeface="微软雅黑" panose="020B0503020204020204" pitchFamily="34" charset="-122"/>
              </a:rPr>
              <a:t>Direct Preference Optimization, DPO</a:t>
            </a:r>
            <a:r>
              <a:rPr lang="zh-CN" altLang="en-US" sz="1600" dirty="0">
                <a:latin typeface="微软雅黑" panose="020B0503020204020204" pitchFamily="34" charset="-122"/>
                <a:ea typeface="微软雅黑" panose="020B0503020204020204" pitchFamily="34" charset="-122"/>
              </a:rPr>
              <a:t>）的技术，为对齐提供了一条更简单、更直接的路径</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11925F5F-7928-420F-B8A4-596C3D49D498}"/>
              </a:ext>
            </a:extLst>
          </p:cNvPr>
          <p:cNvSpPr/>
          <p:nvPr/>
        </p:nvSpPr>
        <p:spPr>
          <a:xfrm>
            <a:off x="935017" y="5286693"/>
            <a:ext cx="3416320" cy="307777"/>
          </a:xfrm>
          <a:prstGeom prst="rect">
            <a:avLst/>
          </a:prstGeom>
        </p:spPr>
        <p:txBody>
          <a:bodyPr wrap="none">
            <a:spAutoFit/>
          </a:bodyPr>
          <a:lstStyle/>
          <a:p>
            <a:r>
              <a:rPr lang="zh-CN" altLang="en-US" sz="1400" dirty="0">
                <a:solidFill>
                  <a:srgbClr val="191B1F"/>
                </a:solidFill>
                <a:latin typeface="微软雅黑" panose="020B0503020204020204" pitchFamily="34" charset="-122"/>
                <a:ea typeface="微软雅黑" panose="020B0503020204020204" pitchFamily="34" charset="-122"/>
              </a:rPr>
              <a:t>处理“一对一”或“好与坏”的简单比较</a:t>
            </a:r>
            <a:endParaRPr lang="zh-CN" altLang="en-US" sz="1400"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99FEEECA-1B32-49A1-80D6-B48254BAD530}"/>
              </a:ext>
            </a:extLst>
          </p:cNvPr>
          <p:cNvSpPr/>
          <p:nvPr/>
        </p:nvSpPr>
        <p:spPr>
          <a:xfrm>
            <a:off x="4792665" y="5145645"/>
            <a:ext cx="3917950" cy="700576"/>
          </a:xfrm>
          <a:prstGeom prst="rect">
            <a:avLst/>
          </a:prstGeom>
        </p:spPr>
        <p:txBody>
          <a:bodyPr wrap="square">
            <a:spAutoFit/>
          </a:bodyPr>
          <a:lstStyle/>
          <a:p>
            <a:pPr>
              <a:lnSpc>
                <a:spcPct val="150000"/>
              </a:lnSpc>
            </a:pPr>
            <a:r>
              <a:rPr lang="zh-CN" altLang="en-US" sz="1400" dirty="0">
                <a:solidFill>
                  <a:srgbClr val="191B1F"/>
                </a:solidFill>
                <a:latin typeface="微软雅黑" panose="020B0503020204020204" pitchFamily="34" charset="-122"/>
                <a:ea typeface="微软雅黑" panose="020B0503020204020204" pitchFamily="34" charset="-122"/>
              </a:rPr>
              <a:t>直接利用包含多个候选回答的群组（</a:t>
            </a:r>
            <a:r>
              <a:rPr lang="en-US" altLang="zh-CN" sz="1400" dirty="0">
                <a:solidFill>
                  <a:srgbClr val="191B1F"/>
                </a:solidFill>
                <a:latin typeface="微软雅黑" panose="020B0503020204020204" pitchFamily="34" charset="-122"/>
                <a:ea typeface="微软雅黑" panose="020B0503020204020204" pitchFamily="34" charset="-122"/>
              </a:rPr>
              <a:t>Group</a:t>
            </a:r>
            <a:r>
              <a:rPr lang="zh-CN" altLang="en-US" sz="1400" dirty="0">
                <a:solidFill>
                  <a:srgbClr val="191B1F"/>
                </a:solidFill>
                <a:latin typeface="微软雅黑" panose="020B0503020204020204" pitchFamily="34" charset="-122"/>
                <a:ea typeface="微软雅黑" panose="020B0503020204020204" pitchFamily="34" charset="-122"/>
              </a:rPr>
              <a:t>）及其排序信息来进行学习</a:t>
            </a:r>
            <a:r>
              <a:rPr lang="en-US" altLang="zh-CN" sz="1400" dirty="0">
                <a:solidFill>
                  <a:srgbClr val="191B1F"/>
                </a:solidFill>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38C1E88-9BA7-4FC1-B18D-488F05981BDB}"/>
                  </a:ext>
                </a:extLst>
              </p:cNvPr>
              <p:cNvSpPr txBox="1"/>
              <p:nvPr/>
            </p:nvSpPr>
            <p:spPr>
              <a:xfrm>
                <a:off x="1876425" y="5763905"/>
                <a:ext cx="13069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&gt;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oMath>
                  </m:oMathPara>
                </a14:m>
                <a:endParaRPr lang="zh-CN" altLang="en-US" dirty="0"/>
              </a:p>
            </p:txBody>
          </p:sp>
        </mc:Choice>
        <mc:Fallback xmlns="">
          <p:sp>
            <p:nvSpPr>
              <p:cNvPr id="11" name="文本框 10">
                <a:extLst>
                  <a:ext uri="{FF2B5EF4-FFF2-40B4-BE49-F238E27FC236}">
                    <a16:creationId xmlns:a16="http://schemas.microsoft.com/office/drawing/2014/main" id="{D38C1E88-9BA7-4FC1-B18D-488F05981BDB}"/>
                  </a:ext>
                </a:extLst>
              </p:cNvPr>
              <p:cNvSpPr txBox="1">
                <a:spLocks noRot="1" noChangeAspect="1" noMove="1" noResize="1" noEditPoints="1" noAdjustHandles="1" noChangeArrowheads="1" noChangeShapeType="1" noTextEdit="1"/>
              </p:cNvSpPr>
              <p:nvPr/>
            </p:nvSpPr>
            <p:spPr>
              <a:xfrm>
                <a:off x="1876425" y="5763905"/>
                <a:ext cx="1306961" cy="276999"/>
              </a:xfrm>
              <a:prstGeom prst="rect">
                <a:avLst/>
              </a:prstGeom>
              <a:blipFill>
                <a:blip r:embed="rId4"/>
                <a:stretch>
                  <a:fillRect l="-4206" t="-4444" r="-6075"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51CF58A-9EDC-4A64-9604-0B02F6DFE9BC}"/>
                  </a:ext>
                </a:extLst>
              </p:cNvPr>
              <p:cNvSpPr txBox="1"/>
              <p:nvPr/>
            </p:nvSpPr>
            <p:spPr>
              <a:xfrm>
                <a:off x="5235575" y="5902404"/>
                <a:ext cx="28700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𝐶</m:t>
                          </m:r>
                        </m:e>
                      </m:d>
                      <m:r>
                        <a:rPr lang="en-US" altLang="zh-CN" b="0" i="1" smtClean="0">
                          <a:latin typeface="Cambria Math" panose="02040503050406030204" pitchFamily="18" charset="0"/>
                        </a:rPr>
                        <m:t>&gt;</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&gt;</m:t>
                      </m:r>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&gt;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oMath>
                  </m:oMathPara>
                </a14:m>
                <a:endParaRPr lang="zh-CN" altLang="en-US" dirty="0"/>
              </a:p>
            </p:txBody>
          </p:sp>
        </mc:Choice>
        <mc:Fallback xmlns="">
          <p:sp>
            <p:nvSpPr>
              <p:cNvPr id="15" name="文本框 14">
                <a:extLst>
                  <a:ext uri="{FF2B5EF4-FFF2-40B4-BE49-F238E27FC236}">
                    <a16:creationId xmlns:a16="http://schemas.microsoft.com/office/drawing/2014/main" id="{151CF58A-9EDC-4A64-9604-0B02F6DFE9BC}"/>
                  </a:ext>
                </a:extLst>
              </p:cNvPr>
              <p:cNvSpPr txBox="1">
                <a:spLocks noRot="1" noChangeAspect="1" noMove="1" noResize="1" noEditPoints="1" noAdjustHandles="1" noChangeArrowheads="1" noChangeShapeType="1" noTextEdit="1"/>
              </p:cNvSpPr>
              <p:nvPr/>
            </p:nvSpPr>
            <p:spPr>
              <a:xfrm>
                <a:off x="5235575" y="5902404"/>
                <a:ext cx="2870016" cy="276999"/>
              </a:xfrm>
              <a:prstGeom prst="rect">
                <a:avLst/>
              </a:prstGeom>
              <a:blipFill>
                <a:blip r:embed="rId5"/>
                <a:stretch>
                  <a:fillRect l="-1699" t="-2174" r="-2335" b="-326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3858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矩形 4">
            <a:extLst>
              <a:ext uri="{FF2B5EF4-FFF2-40B4-BE49-F238E27FC236}">
                <a16:creationId xmlns:a16="http://schemas.microsoft.com/office/drawing/2014/main" id="{7DE7AE87-AE77-428E-8B1E-05217AECE631}"/>
              </a:ext>
            </a:extLst>
          </p:cNvPr>
          <p:cNvSpPr/>
          <p:nvPr/>
        </p:nvSpPr>
        <p:spPr>
          <a:xfrm>
            <a:off x="0" y="708586"/>
            <a:ext cx="8959850" cy="787523"/>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参数高效微调（</a:t>
            </a:r>
            <a:r>
              <a:rPr lang="en-US" altLang="zh-CN" sz="1600" dirty="0">
                <a:latin typeface="微软雅黑" panose="020B0503020204020204" pitchFamily="34" charset="-122"/>
                <a:ea typeface="微软雅黑" panose="020B0503020204020204" pitchFamily="34" charset="-122"/>
              </a:rPr>
              <a:t>Parameter-Efficient Fine-Tuning, PEFT</a:t>
            </a:r>
            <a:r>
              <a:rPr lang="zh-CN" altLang="en-US" sz="1600" dirty="0">
                <a:latin typeface="微软雅黑" panose="020B0503020204020204" pitchFamily="34" charset="-122"/>
                <a:ea typeface="微软雅黑" panose="020B0503020204020204" pitchFamily="34" charset="-122"/>
              </a:rPr>
              <a:t>）：在微调时，冻结（</a:t>
            </a:r>
            <a:r>
              <a:rPr lang="en-US" altLang="zh-CN" sz="1600" dirty="0">
                <a:latin typeface="微软雅黑" panose="020B0503020204020204" pitchFamily="34" charset="-122"/>
                <a:ea typeface="微软雅黑" panose="020B0503020204020204" pitchFamily="34" charset="-122"/>
              </a:rPr>
              <a:t>freeze</a:t>
            </a:r>
            <a:r>
              <a:rPr lang="zh-CN" altLang="en-US" sz="1600" dirty="0">
                <a:latin typeface="微软雅黑" panose="020B0503020204020204" pitchFamily="34" charset="-122"/>
                <a:ea typeface="微软雅黑" panose="020B0503020204020204" pitchFamily="34" charset="-122"/>
              </a:rPr>
              <a:t>）预训练模型的绝大部分参数，只调整其中极小一部分（通常</a:t>
            </a:r>
            <a:r>
              <a:rPr lang="en-US" altLang="zh-CN" sz="1600" dirty="0">
                <a:latin typeface="微软雅黑" panose="020B0503020204020204" pitchFamily="34" charset="-122"/>
                <a:ea typeface="微软雅黑" panose="020B0503020204020204" pitchFamily="34" charset="-122"/>
              </a:rPr>
              <a:t>&lt;1%</a:t>
            </a:r>
            <a:r>
              <a:rPr lang="zh-CN" altLang="en-US" sz="1600" dirty="0">
                <a:latin typeface="微软雅黑" panose="020B0503020204020204" pitchFamily="34" charset="-122"/>
                <a:ea typeface="微软雅黑" panose="020B0503020204020204" pitchFamily="34" charset="-122"/>
              </a:rPr>
              <a:t>）的新增或指定参数。</a:t>
            </a:r>
          </a:p>
        </p:txBody>
      </p:sp>
      <p:sp>
        <p:nvSpPr>
          <p:cNvPr id="2" name="矩形 1">
            <a:extLst>
              <a:ext uri="{FF2B5EF4-FFF2-40B4-BE49-F238E27FC236}">
                <a16:creationId xmlns:a16="http://schemas.microsoft.com/office/drawing/2014/main" id="{E7988567-AD93-48B4-9E83-30D4F70A639F}"/>
              </a:ext>
            </a:extLst>
          </p:cNvPr>
          <p:cNvSpPr/>
          <p:nvPr/>
        </p:nvSpPr>
        <p:spPr>
          <a:xfrm>
            <a:off x="284165" y="1654859"/>
            <a:ext cx="8572500" cy="231640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b="1" dirty="0">
                <a:solidFill>
                  <a:srgbClr val="191B1F"/>
                </a:solidFill>
                <a:latin typeface="微软雅黑" panose="020B0503020204020204" pitchFamily="34" charset="-122"/>
                <a:ea typeface="微软雅黑" panose="020B0503020204020204" pitchFamily="34" charset="-122"/>
              </a:rPr>
              <a:t>成本可控：</a:t>
            </a:r>
            <a:r>
              <a:rPr lang="zh-CN" altLang="en-US" sz="1400" dirty="0">
                <a:solidFill>
                  <a:srgbClr val="191B1F"/>
                </a:solidFill>
                <a:latin typeface="微软雅黑" panose="020B0503020204020204" pitchFamily="34" charset="-122"/>
                <a:ea typeface="微软雅黑" panose="020B0503020204020204" pitchFamily="34" charset="-122"/>
              </a:rPr>
              <a:t> 由于只训练极少数参数，计算量和显存需求大幅下降，使得在单张甚至消费级</a:t>
            </a:r>
            <a:r>
              <a:rPr lang="en-US" altLang="zh-CN" sz="1400" dirty="0">
                <a:solidFill>
                  <a:srgbClr val="191B1F"/>
                </a:solidFill>
                <a:latin typeface="微软雅黑" panose="020B0503020204020204" pitchFamily="34" charset="-122"/>
                <a:ea typeface="微软雅黑" panose="020B0503020204020204" pitchFamily="34" charset="-122"/>
              </a:rPr>
              <a:t>GPU</a:t>
            </a:r>
            <a:r>
              <a:rPr lang="zh-CN" altLang="en-US" sz="1400" dirty="0">
                <a:solidFill>
                  <a:srgbClr val="191B1F"/>
                </a:solidFill>
                <a:latin typeface="微软雅黑" panose="020B0503020204020204" pitchFamily="34" charset="-122"/>
                <a:ea typeface="微软雅黑" panose="020B0503020204020204" pitchFamily="34" charset="-122"/>
              </a:rPr>
              <a:t>上进行微调成为可能。</a:t>
            </a:r>
            <a:endParaRPr lang="en-US" altLang="zh-CN" sz="1400" dirty="0">
              <a:solidFill>
                <a:srgbClr val="191B1F"/>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rgbClr val="191B1F"/>
                </a:solidFill>
                <a:latin typeface="微软雅黑" panose="020B0503020204020204" pitchFamily="34" charset="-122"/>
                <a:ea typeface="微软雅黑" panose="020B0503020204020204" pitchFamily="34" charset="-122"/>
              </a:rPr>
              <a:t>存储高效：</a:t>
            </a:r>
            <a:r>
              <a:rPr lang="zh-CN" altLang="en-US" sz="1400" dirty="0">
                <a:solidFill>
                  <a:srgbClr val="191B1F"/>
                </a:solidFill>
                <a:latin typeface="微软雅黑" panose="020B0503020204020204" pitchFamily="34" charset="-122"/>
                <a:ea typeface="微软雅黑" panose="020B0503020204020204" pitchFamily="34" charset="-122"/>
              </a:rPr>
              <a:t> 微调后，只需要保存那些新增的、轻量级的“适配器”参数（通常只有几十兆大小），而原始的、巨大的模型权重保持不变，可以被所有任务共享。</a:t>
            </a:r>
            <a:endParaRPr lang="en-US" altLang="zh-CN" sz="1400" dirty="0">
              <a:solidFill>
                <a:srgbClr val="191B1F"/>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rgbClr val="191B1F"/>
                </a:solidFill>
                <a:latin typeface="微软雅黑" panose="020B0503020204020204" pitchFamily="34" charset="-122"/>
                <a:ea typeface="微软雅黑" panose="020B0503020204020204" pitchFamily="34" charset="-122"/>
              </a:rPr>
              <a:t>缓解遗忘：</a:t>
            </a:r>
            <a:r>
              <a:rPr lang="zh-CN" altLang="en-US" sz="1400" dirty="0">
                <a:solidFill>
                  <a:srgbClr val="191B1F"/>
                </a:solidFill>
                <a:latin typeface="微软雅黑" panose="020B0503020204020204" pitchFamily="34" charset="-122"/>
                <a:ea typeface="微软雅黑" panose="020B0503020204020204" pitchFamily="34" charset="-122"/>
              </a:rPr>
              <a:t> 这是最关键的一点。通过冻结</a:t>
            </a:r>
            <a:r>
              <a:rPr lang="en-US" altLang="zh-CN" sz="1400" dirty="0">
                <a:solidFill>
                  <a:srgbClr val="191B1F"/>
                </a:solidFill>
                <a:latin typeface="微软雅黑" panose="020B0503020204020204" pitchFamily="34" charset="-122"/>
                <a:ea typeface="微软雅黑" panose="020B0503020204020204" pitchFamily="34" charset="-122"/>
              </a:rPr>
              <a:t>99%</a:t>
            </a:r>
            <a:r>
              <a:rPr lang="zh-CN" altLang="en-US" sz="1400" dirty="0">
                <a:solidFill>
                  <a:srgbClr val="191B1F"/>
                </a:solidFill>
                <a:latin typeface="微软雅黑" panose="020B0503020204020204" pitchFamily="34" charset="-122"/>
                <a:ea typeface="微软雅黑" panose="020B0503020204020204" pitchFamily="34" charset="-122"/>
              </a:rPr>
              <a:t>以上的原始参数，实际上是</a:t>
            </a:r>
            <a:r>
              <a:rPr lang="zh-CN" altLang="en-US" sz="1400" b="1" dirty="0">
                <a:solidFill>
                  <a:srgbClr val="191B1F"/>
                </a:solidFill>
                <a:latin typeface="微软雅黑" panose="020B0503020204020204" pitchFamily="34" charset="-122"/>
                <a:ea typeface="微软雅黑" panose="020B0503020204020204" pitchFamily="34" charset="-122"/>
              </a:rPr>
              <a:t>完整地保留了模型在预训练阶段学到的通用语言和世界知识</a:t>
            </a:r>
            <a:r>
              <a:rPr lang="zh-CN" altLang="en-US" sz="1400" dirty="0">
                <a:solidFill>
                  <a:srgbClr val="191B1F"/>
                </a:solidFill>
                <a:latin typeface="微软雅黑" panose="020B0503020204020204" pitchFamily="34" charset="-122"/>
                <a:ea typeface="微软雅黑" panose="020B0503020204020204" pitchFamily="34" charset="-122"/>
              </a:rPr>
              <a:t>。新增的“适配器”则像一个外挂模块，专门负责学习和存储新领域的专业知识。这样，模型就在“保持通识”和“学习专长”之间取得了完美的平衡。</a:t>
            </a:r>
            <a:endParaRPr lang="zh-CN" altLang="en-US" sz="1400" b="0" i="0" dirty="0">
              <a:solidFill>
                <a:srgbClr val="191B1F"/>
              </a:solidFill>
              <a:effectLst/>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C2FC165-EA8C-4E1B-9B5A-A921BB3E4A8F}"/>
              </a:ext>
            </a:extLst>
          </p:cNvPr>
          <p:cNvPicPr>
            <a:picLocks noChangeAspect="1"/>
          </p:cNvPicPr>
          <p:nvPr/>
        </p:nvPicPr>
        <p:blipFill>
          <a:blip r:embed="rId3"/>
          <a:stretch>
            <a:fillRect/>
          </a:stretch>
        </p:blipFill>
        <p:spPr>
          <a:xfrm>
            <a:off x="692150" y="4130012"/>
            <a:ext cx="8032750" cy="2440854"/>
          </a:xfrm>
          <a:prstGeom prst="rect">
            <a:avLst/>
          </a:prstGeom>
        </p:spPr>
      </p:pic>
    </p:spTree>
    <p:extLst>
      <p:ext uri="{BB962C8B-B14F-4D97-AF65-F5344CB8AC3E}">
        <p14:creationId xmlns:p14="http://schemas.microsoft.com/office/powerpoint/2010/main" val="35957079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矩形 4">
            <a:extLst>
              <a:ext uri="{FF2B5EF4-FFF2-40B4-BE49-F238E27FC236}">
                <a16:creationId xmlns:a16="http://schemas.microsoft.com/office/drawing/2014/main" id="{70125EC5-40BE-423A-A600-8C81F020B38D}"/>
              </a:ext>
            </a:extLst>
          </p:cNvPr>
          <p:cNvSpPr/>
          <p:nvPr/>
        </p:nvSpPr>
        <p:spPr>
          <a:xfrm>
            <a:off x="0" y="708586"/>
            <a:ext cx="8959850" cy="41819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经典</a:t>
            </a:r>
            <a:r>
              <a:rPr lang="en-US" altLang="zh-CN" sz="1600" dirty="0">
                <a:latin typeface="微软雅黑" panose="020B0503020204020204" pitchFamily="34" charset="-122"/>
                <a:ea typeface="微软雅黑" panose="020B0503020204020204" pitchFamily="34" charset="-122"/>
              </a:rPr>
              <a:t>PEFT</a:t>
            </a:r>
            <a:r>
              <a:rPr lang="zh-CN" altLang="en-US" sz="1600" dirty="0">
                <a:latin typeface="微软雅黑" panose="020B0503020204020204" pitchFamily="34" charset="-122"/>
                <a:ea typeface="微软雅黑" panose="020B0503020204020204" pitchFamily="34" charset="-122"/>
              </a:rPr>
              <a:t>方法：</a:t>
            </a:r>
            <a:r>
              <a:rPr lang="en-US" altLang="zh-CN" sz="1600" dirty="0" err="1">
                <a:latin typeface="微软雅黑" panose="020B0503020204020204" pitchFamily="34" charset="-122"/>
                <a:ea typeface="微软雅黑" panose="020B0503020204020204" pitchFamily="34" charset="-122"/>
              </a:rPr>
              <a:t>LoRA</a:t>
            </a:r>
            <a:r>
              <a:rPr lang="en-US" altLang="zh-CN" sz="1600" dirty="0">
                <a:latin typeface="微软雅黑" panose="020B0503020204020204" pitchFamily="34" charset="-122"/>
                <a:ea typeface="微软雅黑" panose="020B0503020204020204" pitchFamily="34" charset="-122"/>
              </a:rPr>
              <a:t> &amp; </a:t>
            </a:r>
            <a:r>
              <a:rPr lang="en-US" altLang="zh-CN" sz="1600" dirty="0" err="1">
                <a:latin typeface="微软雅黑" panose="020B0503020204020204" pitchFamily="34" charset="-122"/>
                <a:ea typeface="微软雅黑" panose="020B0503020204020204" pitchFamily="34" charset="-122"/>
              </a:rPr>
              <a:t>QLoRA</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97455D0F-B63F-4A58-B250-289424D64221}"/>
              </a:ext>
            </a:extLst>
          </p:cNvPr>
          <p:cNvPicPr>
            <a:picLocks noChangeAspect="1"/>
          </p:cNvPicPr>
          <p:nvPr/>
        </p:nvPicPr>
        <p:blipFill rotWithShape="1">
          <a:blip r:embed="rId3"/>
          <a:srcRect l="4407" t="1965" r="3409" b="2245"/>
          <a:stretch/>
        </p:blipFill>
        <p:spPr>
          <a:xfrm>
            <a:off x="4972050" y="2146109"/>
            <a:ext cx="3479800" cy="3250990"/>
          </a:xfrm>
          <a:prstGeom prst="rect">
            <a:avLst/>
          </a:prstGeom>
        </p:spPr>
      </p:pic>
      <p:sp>
        <p:nvSpPr>
          <p:cNvPr id="4" name="文本框 3">
            <a:extLst>
              <a:ext uri="{FF2B5EF4-FFF2-40B4-BE49-F238E27FC236}">
                <a16:creationId xmlns:a16="http://schemas.microsoft.com/office/drawing/2014/main" id="{96DD4804-9277-4EA9-9C0C-1CD1D585DF46}"/>
              </a:ext>
            </a:extLst>
          </p:cNvPr>
          <p:cNvSpPr txBox="1"/>
          <p:nvPr/>
        </p:nvSpPr>
        <p:spPr>
          <a:xfrm>
            <a:off x="323850" y="1122367"/>
            <a:ext cx="8731250" cy="1023742"/>
          </a:xfrm>
          <a:prstGeom prst="rect">
            <a:avLst/>
          </a:prstGeom>
          <a:noFill/>
        </p:spPr>
        <p:txBody>
          <a:bodyPr wrap="square" rtlCol="0">
            <a:spAutoFit/>
          </a:bodyPr>
          <a:lstStyle/>
          <a:p>
            <a:pPr>
              <a:lnSpc>
                <a:spcPct val="150000"/>
              </a:lnSpc>
            </a:pP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假设</a:t>
            </a:r>
            <a:r>
              <a:rPr lang="zh-CN" altLang="en-US" sz="1400" dirty="0">
                <a:latin typeface="微软雅黑" panose="020B0503020204020204" pitchFamily="34" charset="-122"/>
                <a:ea typeface="微软雅黑" panose="020B0503020204020204" pitchFamily="34" charset="-122"/>
              </a:rPr>
              <a:t>：预训练好的大模型本身已经足够强大，当它适应新任务时，其权重矩阵所需要产生的“变化量”（</a:t>
            </a:r>
            <a:r>
              <a:rPr lang="en-US" altLang="zh-CN" sz="1400" dirty="0">
                <a:latin typeface="微软雅黑" panose="020B0503020204020204" pitchFamily="34" charset="-122"/>
                <a:ea typeface="微软雅黑" panose="020B0503020204020204" pitchFamily="34" charset="-122"/>
              </a:rPr>
              <a:t>Update Matrix, ΔW</a:t>
            </a:r>
            <a:r>
              <a:rPr lang="zh-CN" altLang="en-US" sz="1400" dirty="0">
                <a:latin typeface="微软雅黑" panose="020B0503020204020204" pitchFamily="34" charset="-122"/>
                <a:ea typeface="微软雅黑" panose="020B0503020204020204" pitchFamily="34" charset="-122"/>
              </a:rPr>
              <a:t>）是“低秩”（</a:t>
            </a:r>
            <a:r>
              <a:rPr lang="en-US" altLang="zh-CN" sz="1400" dirty="0">
                <a:latin typeface="微软雅黑" panose="020B0503020204020204" pitchFamily="34" charset="-122"/>
                <a:ea typeface="微软雅黑" panose="020B0503020204020204" pitchFamily="34" charset="-122"/>
              </a:rPr>
              <a:t>Low-Rank</a:t>
            </a:r>
            <a:r>
              <a:rPr lang="zh-CN" altLang="en-US" sz="1400" dirty="0">
                <a:latin typeface="微软雅黑" panose="020B0503020204020204" pitchFamily="34" charset="-122"/>
                <a:ea typeface="微软雅黑" panose="020B0503020204020204" pitchFamily="34" charset="-122"/>
              </a:rPr>
              <a:t>）的。这意味着这个巨大的变化矩阵，可以用两个非常“瘦”的小矩阵相乘来近似表示。</a:t>
            </a:r>
          </a:p>
        </p:txBody>
      </p:sp>
      <p:sp>
        <p:nvSpPr>
          <p:cNvPr id="6" name="矩形: 圆角 5">
            <a:extLst>
              <a:ext uri="{FF2B5EF4-FFF2-40B4-BE49-F238E27FC236}">
                <a16:creationId xmlns:a16="http://schemas.microsoft.com/office/drawing/2014/main" id="{3B7059C5-4886-43D2-B578-F0819127E507}"/>
              </a:ext>
            </a:extLst>
          </p:cNvPr>
          <p:cNvSpPr/>
          <p:nvPr/>
        </p:nvSpPr>
        <p:spPr>
          <a:xfrm>
            <a:off x="6896100" y="2721135"/>
            <a:ext cx="298450" cy="40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0687EAD0-DC62-4140-9B3F-53D8D99B5C18}"/>
              </a:ext>
            </a:extLst>
          </p:cNvPr>
          <p:cNvSpPr/>
          <p:nvPr/>
        </p:nvSpPr>
        <p:spPr>
          <a:xfrm>
            <a:off x="7385050" y="2714785"/>
            <a:ext cx="298450" cy="40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8DB893EA-8763-480F-B931-C56B6941B4D2}"/>
              </a:ext>
            </a:extLst>
          </p:cNvPr>
          <p:cNvSpPr/>
          <p:nvPr/>
        </p:nvSpPr>
        <p:spPr>
          <a:xfrm>
            <a:off x="7829550" y="2721135"/>
            <a:ext cx="298450" cy="40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1CE2E854-E682-4F3F-BB19-F6AA9E5FB182}"/>
              </a:ext>
            </a:extLst>
          </p:cNvPr>
          <p:cNvSpPr/>
          <p:nvPr/>
        </p:nvSpPr>
        <p:spPr>
          <a:xfrm>
            <a:off x="4838700" y="2736879"/>
            <a:ext cx="1974850" cy="314949"/>
          </a:xfrm>
          <a:prstGeom prst="rightArrow">
            <a:avLst/>
          </a:prstGeom>
          <a:solidFill>
            <a:srgbClr val="C00000">
              <a:alpha val="63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092635B2-8893-4E0C-AE83-4B215F3A98C6}"/>
              </a:ext>
            </a:extLst>
          </p:cNvPr>
          <p:cNvPicPr>
            <a:picLocks noChangeAspect="1"/>
          </p:cNvPicPr>
          <p:nvPr/>
        </p:nvPicPr>
        <p:blipFill rotWithShape="1">
          <a:blip r:embed="rId4" cstate="print">
            <a:clrChange>
              <a:clrFrom>
                <a:srgbClr val="F6F9FD"/>
              </a:clrFrom>
              <a:clrTo>
                <a:srgbClr val="F6F9FD">
                  <a:alpha val="0"/>
                </a:srgbClr>
              </a:clrTo>
            </a:clrChange>
            <a:extLst>
              <a:ext uri="{28A0092B-C50C-407E-A947-70E740481C1C}">
                <a14:useLocalDpi xmlns:a14="http://schemas.microsoft.com/office/drawing/2010/main" val="0"/>
              </a:ext>
            </a:extLst>
          </a:blip>
          <a:srcRect l="2916" t="17415" r="4931" b="7472"/>
          <a:stretch/>
        </p:blipFill>
        <p:spPr>
          <a:xfrm>
            <a:off x="543969" y="2387335"/>
            <a:ext cx="4104231" cy="19392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文本框 11">
            <a:extLst>
              <a:ext uri="{FF2B5EF4-FFF2-40B4-BE49-F238E27FC236}">
                <a16:creationId xmlns:a16="http://schemas.microsoft.com/office/drawing/2014/main" id="{5CE625A0-3A65-41D3-8F35-8A3094EDEDF6}"/>
              </a:ext>
            </a:extLst>
          </p:cNvPr>
          <p:cNvSpPr txBox="1"/>
          <p:nvPr/>
        </p:nvSpPr>
        <p:spPr>
          <a:xfrm>
            <a:off x="442915" y="4602816"/>
            <a:ext cx="4197350" cy="787523"/>
          </a:xfrm>
          <a:prstGeom prst="rect">
            <a:avLst/>
          </a:prstGeom>
          <a:solidFill>
            <a:schemeClr val="bg1"/>
          </a:solidFill>
          <a:effectLst>
            <a:outerShdw blurRad="50800" dist="38100" dir="2700000" algn="tl" rotWithShape="0">
              <a:prstClr val="black">
                <a:alpha val="40000"/>
              </a:prstClr>
            </a:outerShdw>
          </a:effectLst>
        </p:spPr>
        <p:txBody>
          <a:bodyPr wrap="square" rtlCol="0">
            <a:spAutoFit/>
          </a:bodyPr>
          <a:lstStyle/>
          <a:p>
            <a:pPr>
              <a:lnSpc>
                <a:spcPct val="150000"/>
              </a:lnSpc>
            </a:pPr>
            <a:r>
              <a:rPr lang="zh-CN" altLang="en-US" sz="1600" i="1" dirty="0">
                <a:latin typeface="微软雅黑" panose="020B0503020204020204" pitchFamily="34" charset="-122"/>
                <a:ea typeface="微软雅黑" panose="020B0503020204020204" pitchFamily="34" charset="-122"/>
              </a:rPr>
              <a:t>更新信息存储存在冗余，可以几乎无损地将信息压缩到两个低质矩阵上</a:t>
            </a:r>
            <a:r>
              <a:rPr lang="en-US" altLang="zh-CN" sz="1600" i="1" dirty="0">
                <a:latin typeface="微软雅黑" panose="020B0503020204020204" pitchFamily="34" charset="-122"/>
                <a:ea typeface="微软雅黑" panose="020B0503020204020204" pitchFamily="34" charset="-122"/>
              </a:rPr>
              <a:t>~</a:t>
            </a:r>
            <a:endParaRPr lang="zh-CN" altLang="en-US" sz="1600" i="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CBDE1FB-D939-4B25-876C-DAB8688154D7}"/>
                  </a:ext>
                </a:extLst>
              </p:cNvPr>
              <p:cNvSpPr txBox="1"/>
              <p:nvPr/>
            </p:nvSpPr>
            <p:spPr>
              <a:xfrm>
                <a:off x="2981665" y="5759196"/>
                <a:ext cx="4212885" cy="56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𝑊</m:t>
                          </m:r>
                        </m:e>
                      </m:acc>
                      <m:r>
                        <a:rPr lang="en-US" altLang="zh-CN" b="0" i="1" smtClean="0">
                          <a:latin typeface="Cambria Math" panose="02040503050406030204" pitchFamily="18" charset="0"/>
                        </a:rPr>
                        <m:t>=</m:t>
                      </m:r>
                      <m:r>
                        <a:rPr lang="en-US" altLang="zh-CN" b="0" i="1" smtClean="0">
                          <a:highlight>
                            <a:srgbClr val="C0C0C0"/>
                          </a:highlight>
                          <a:latin typeface="Cambria Math" panose="02040503050406030204" pitchFamily="18" charset="0"/>
                        </a:rPr>
                        <m:t>𝑊</m:t>
                      </m:r>
                      <m:r>
                        <a:rPr lang="en-US" altLang="zh-CN" b="0" i="1" smtClean="0">
                          <a:latin typeface="Cambria Math" panose="02040503050406030204" pitchFamily="18" charset="0"/>
                        </a:rPr>
                        <m:t>+</m:t>
                      </m:r>
                      <m:r>
                        <m:rPr>
                          <m:sty m:val="p"/>
                        </m:rPr>
                        <a:rPr lang="en-US" altLang="zh-CN" b="0" i="0" smtClean="0">
                          <a:highlight>
                            <a:srgbClr val="FFFF00"/>
                          </a:highlight>
                          <a:latin typeface="Cambria Math" panose="02040503050406030204" pitchFamily="18" charset="0"/>
                        </a:rPr>
                        <m:t>Δ</m:t>
                      </m:r>
                      <m:r>
                        <a:rPr lang="en-US" altLang="zh-CN" b="0" i="1" smtClean="0">
                          <a:highlight>
                            <a:srgbClr val="FFFF00"/>
                          </a:highlight>
                          <a:latin typeface="Cambria Math" panose="02040503050406030204" pitchFamily="18" charset="0"/>
                        </a:rPr>
                        <m:t>𝑊</m:t>
                      </m:r>
                      <m:r>
                        <a:rPr lang="en-US" altLang="zh-CN" b="0" i="1" smtClean="0">
                          <a:latin typeface="Cambria Math" panose="02040503050406030204" pitchFamily="18" charset="0"/>
                        </a:rPr>
                        <m:t>=</m:t>
                      </m:r>
                      <m:r>
                        <a:rPr lang="en-US" altLang="zh-CN" b="0" i="1" smtClean="0">
                          <a:highlight>
                            <a:srgbClr val="C0C0C0"/>
                          </a:highlight>
                          <a:latin typeface="Cambria Math" panose="02040503050406030204" pitchFamily="18" charset="0"/>
                        </a:rPr>
                        <m:t>𝑊</m:t>
                      </m:r>
                      <m:r>
                        <a:rPr lang="en-US" altLang="zh-CN" b="0" i="1" smtClean="0">
                          <a:latin typeface="Cambria Math" panose="02040503050406030204" pitchFamily="18" charset="0"/>
                        </a:rPr>
                        <m:t>+</m:t>
                      </m:r>
                      <m:r>
                        <a:rPr lang="en-US" altLang="zh-CN" b="0" i="1" smtClean="0">
                          <a:highlight>
                            <a:srgbClr val="FFFF00"/>
                          </a:highlight>
                          <a:latin typeface="Cambria Math" panose="02040503050406030204" pitchFamily="18" charset="0"/>
                        </a:rPr>
                        <m:t>𝐴</m:t>
                      </m:r>
                      <m:sSup>
                        <m:sSupPr>
                          <m:ctrlPr>
                            <a:rPr lang="en-US" altLang="zh-CN" b="0" i="1" smtClean="0">
                              <a:highlight>
                                <a:srgbClr val="FFFF00"/>
                              </a:highlight>
                              <a:latin typeface="Cambria Math" panose="02040503050406030204" pitchFamily="18" charset="0"/>
                            </a:rPr>
                          </m:ctrlPr>
                        </m:sSupPr>
                        <m:e>
                          <m:r>
                            <a:rPr lang="en-US" altLang="zh-CN" b="0" i="1" smtClean="0">
                              <a:highlight>
                                <a:srgbClr val="FFFF00"/>
                              </a:highlight>
                              <a:latin typeface="Cambria Math" panose="02040503050406030204" pitchFamily="18" charset="0"/>
                            </a:rPr>
                            <m:t>𝐵</m:t>
                          </m:r>
                        </m:e>
                        <m:sup>
                          <m:r>
                            <a:rPr lang="en-US" altLang="zh-CN" b="0" i="1" smtClean="0">
                              <a:highlight>
                                <a:srgbClr val="FFFF00"/>
                              </a:highlight>
                              <a:latin typeface="Cambria Math" panose="02040503050406030204" pitchFamily="18" charset="0"/>
                            </a:rPr>
                            <m:t>𝑇</m:t>
                          </m:r>
                        </m:sup>
                      </m:sSup>
                      <m:r>
                        <a:rPr lang="en-US" altLang="zh-CN" b="0" i="1" smtClean="0">
                          <a:highlight>
                            <a:srgbClr val="FFFF00"/>
                          </a:highlight>
                          <a:latin typeface="Cambria Math" panose="02040503050406030204" pitchFamily="18" charset="0"/>
                        </a:rPr>
                        <m:t> </m:t>
                      </m:r>
                    </m:oMath>
                  </m:oMathPara>
                </a14:m>
                <a:endParaRPr lang="en-US" altLang="zh-CN" dirty="0">
                  <a:highlight>
                    <a:srgbClr val="FFFF00"/>
                  </a:highlight>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只训练</a:t>
                </a:r>
                <a:r>
                  <a:rPr lang="en-US" altLang="zh-CN" dirty="0" err="1">
                    <a:latin typeface="微软雅黑" panose="020B0503020204020204" pitchFamily="34" charset="-122"/>
                    <a:ea typeface="微软雅黑" panose="020B0503020204020204" pitchFamily="34" charset="-122"/>
                  </a:rPr>
                  <a:t>LoRA</a:t>
                </a:r>
                <a:r>
                  <a:rPr lang="en-US" altLang="zh-CN" dirty="0">
                    <a:latin typeface="微软雅黑" panose="020B0503020204020204" pitchFamily="34" charset="-122"/>
                    <a:ea typeface="微软雅黑" panose="020B0503020204020204" pitchFamily="34" charset="-122"/>
                  </a:rPr>
                  <a:t> – A,B</a:t>
                </a:r>
                <a:r>
                  <a:rPr lang="zh-CN" altLang="en-US" dirty="0">
                    <a:latin typeface="微软雅黑" panose="020B0503020204020204" pitchFamily="34" charset="-122"/>
                    <a:ea typeface="微软雅黑" panose="020B0503020204020204" pitchFamily="34" charset="-122"/>
                  </a:rPr>
                  <a:t>矩阵，冻结大模型参数</a:t>
                </a:r>
              </a:p>
            </p:txBody>
          </p:sp>
        </mc:Choice>
        <mc:Fallback xmlns="">
          <p:sp>
            <p:nvSpPr>
              <p:cNvPr id="13" name="文本框 12">
                <a:extLst>
                  <a:ext uri="{FF2B5EF4-FFF2-40B4-BE49-F238E27FC236}">
                    <a16:creationId xmlns:a16="http://schemas.microsoft.com/office/drawing/2014/main" id="{2CBDE1FB-D939-4B25-876C-DAB8688154D7}"/>
                  </a:ext>
                </a:extLst>
              </p:cNvPr>
              <p:cNvSpPr txBox="1">
                <a:spLocks noRot="1" noChangeAspect="1" noMove="1" noResize="1" noEditPoints="1" noAdjustHandles="1" noChangeArrowheads="1" noChangeShapeType="1" noTextEdit="1"/>
              </p:cNvSpPr>
              <p:nvPr/>
            </p:nvSpPr>
            <p:spPr>
              <a:xfrm>
                <a:off x="2981665" y="5759196"/>
                <a:ext cx="4212885" cy="561436"/>
              </a:xfrm>
              <a:prstGeom prst="rect">
                <a:avLst/>
              </a:prstGeom>
              <a:blipFill>
                <a:blip r:embed="rId5"/>
                <a:stretch>
                  <a:fillRect l="-3329" t="-9783" r="-2894" b="-23913"/>
                </a:stretch>
              </a:blipFill>
            </p:spPr>
            <p:txBody>
              <a:bodyPr/>
              <a:lstStyle/>
              <a:p>
                <a:r>
                  <a:rPr lang="zh-CN" altLang="en-US">
                    <a:noFill/>
                  </a:rPr>
                  <a:t> </a:t>
                </a:r>
              </a:p>
            </p:txBody>
          </p:sp>
        </mc:Fallback>
      </mc:AlternateContent>
      <p:sp>
        <p:nvSpPr>
          <p:cNvPr id="17" name="矩形: 圆角 16">
            <a:extLst>
              <a:ext uri="{FF2B5EF4-FFF2-40B4-BE49-F238E27FC236}">
                <a16:creationId xmlns:a16="http://schemas.microsoft.com/office/drawing/2014/main" id="{E25C5DC3-2660-4022-A096-280014D0C720}"/>
              </a:ext>
            </a:extLst>
          </p:cNvPr>
          <p:cNvSpPr/>
          <p:nvPr/>
        </p:nvSpPr>
        <p:spPr>
          <a:xfrm>
            <a:off x="5187950" y="4012667"/>
            <a:ext cx="1200150" cy="40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F8ABA4D4-B4A1-4019-9BC6-6F1F088FDAEB}"/>
              </a:ext>
            </a:extLst>
          </p:cNvPr>
          <p:cNvSpPr/>
          <p:nvPr/>
        </p:nvSpPr>
        <p:spPr>
          <a:xfrm rot="1283086">
            <a:off x="4805793" y="3746735"/>
            <a:ext cx="505408" cy="228404"/>
          </a:xfrm>
          <a:prstGeom prst="rightArrow">
            <a:avLst/>
          </a:prstGeom>
          <a:solidFill>
            <a:srgbClr val="C00000">
              <a:alpha val="63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179982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矩形 4">
            <a:extLst>
              <a:ext uri="{FF2B5EF4-FFF2-40B4-BE49-F238E27FC236}">
                <a16:creationId xmlns:a16="http://schemas.microsoft.com/office/drawing/2014/main" id="{650BA37E-EEA7-4677-92FB-02CB9ECDF0CA}"/>
              </a:ext>
            </a:extLst>
          </p:cNvPr>
          <p:cNvSpPr/>
          <p:nvPr/>
        </p:nvSpPr>
        <p:spPr>
          <a:xfrm>
            <a:off x="0" y="708586"/>
            <a:ext cx="8959850" cy="41819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经典</a:t>
            </a:r>
            <a:r>
              <a:rPr lang="en-US" altLang="zh-CN" sz="1600" dirty="0">
                <a:latin typeface="微软雅黑" panose="020B0503020204020204" pitchFamily="34" charset="-122"/>
                <a:ea typeface="微软雅黑" panose="020B0503020204020204" pitchFamily="34" charset="-122"/>
              </a:rPr>
              <a:t>PEFT</a:t>
            </a:r>
            <a:r>
              <a:rPr lang="zh-CN" altLang="en-US" sz="1600" dirty="0">
                <a:latin typeface="微软雅黑" panose="020B0503020204020204" pitchFamily="34" charset="-122"/>
                <a:ea typeface="微软雅黑" panose="020B0503020204020204" pitchFamily="34" charset="-122"/>
              </a:rPr>
              <a:t>方法：</a:t>
            </a:r>
            <a:r>
              <a:rPr lang="en-US" altLang="zh-CN" sz="1600" b="1" dirty="0" err="1">
                <a:latin typeface="微软雅黑" panose="020B0503020204020204" pitchFamily="34" charset="-122"/>
                <a:ea typeface="微软雅黑" panose="020B0503020204020204" pitchFamily="34" charset="-122"/>
              </a:rPr>
              <a:t>LoRA</a:t>
            </a:r>
            <a:r>
              <a:rPr lang="en-US" altLang="zh-CN" sz="1600" dirty="0">
                <a:latin typeface="微软雅黑" panose="020B0503020204020204" pitchFamily="34" charset="-122"/>
                <a:ea typeface="微软雅黑" panose="020B0503020204020204" pitchFamily="34" charset="-122"/>
              </a:rPr>
              <a:t> &amp; </a:t>
            </a:r>
            <a:r>
              <a:rPr lang="en-US" altLang="zh-CN" sz="1600" dirty="0" err="1">
                <a:latin typeface="微软雅黑" panose="020B0503020204020204" pitchFamily="34" charset="-122"/>
                <a:ea typeface="微软雅黑" panose="020B0503020204020204" pitchFamily="34" charset="-122"/>
              </a:rPr>
              <a:t>QLoRA</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926B669-D01A-449C-94EC-0B9566FA388F}"/>
              </a:ext>
            </a:extLst>
          </p:cNvPr>
          <p:cNvPicPr>
            <a:picLocks noChangeAspect="1"/>
          </p:cNvPicPr>
          <p:nvPr/>
        </p:nvPicPr>
        <p:blipFill>
          <a:blip r:embed="rId3"/>
          <a:stretch>
            <a:fillRect/>
          </a:stretch>
        </p:blipFill>
        <p:spPr>
          <a:xfrm>
            <a:off x="2118043" y="1287747"/>
            <a:ext cx="3137504" cy="2814353"/>
          </a:xfrm>
          <a:prstGeom prst="rect">
            <a:avLst/>
          </a:prstGeom>
        </p:spPr>
      </p:pic>
      <p:sp>
        <p:nvSpPr>
          <p:cNvPr id="6" name="文本框 5">
            <a:extLst>
              <a:ext uri="{FF2B5EF4-FFF2-40B4-BE49-F238E27FC236}">
                <a16:creationId xmlns:a16="http://schemas.microsoft.com/office/drawing/2014/main" id="{F57A66DA-AB8F-4920-ABD6-8BE91D89890D}"/>
              </a:ext>
            </a:extLst>
          </p:cNvPr>
          <p:cNvSpPr txBox="1"/>
          <p:nvPr/>
        </p:nvSpPr>
        <p:spPr>
          <a:xfrm>
            <a:off x="374650" y="2280169"/>
            <a:ext cx="1210588"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训练过程：</a:t>
            </a:r>
          </a:p>
        </p:txBody>
      </p:sp>
      <p:sp>
        <p:nvSpPr>
          <p:cNvPr id="10" name="文本框 9">
            <a:extLst>
              <a:ext uri="{FF2B5EF4-FFF2-40B4-BE49-F238E27FC236}">
                <a16:creationId xmlns:a16="http://schemas.microsoft.com/office/drawing/2014/main" id="{B3DD4042-8C91-4F63-8975-9169129CF0D0}"/>
              </a:ext>
            </a:extLst>
          </p:cNvPr>
          <p:cNvSpPr txBox="1"/>
          <p:nvPr/>
        </p:nvSpPr>
        <p:spPr>
          <a:xfrm>
            <a:off x="3780338" y="4768198"/>
            <a:ext cx="1220206"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推理过程：</a:t>
            </a:r>
          </a:p>
        </p:txBody>
      </p:sp>
      <p:cxnSp>
        <p:nvCxnSpPr>
          <p:cNvPr id="8" name="直接箭头连接符 7">
            <a:extLst>
              <a:ext uri="{FF2B5EF4-FFF2-40B4-BE49-F238E27FC236}">
                <a16:creationId xmlns:a16="http://schemas.microsoft.com/office/drawing/2014/main" id="{BF5ADF0C-C712-4F55-8A5B-4D0011395E6D}"/>
              </a:ext>
            </a:extLst>
          </p:cNvPr>
          <p:cNvCxnSpPr/>
          <p:nvPr/>
        </p:nvCxnSpPr>
        <p:spPr>
          <a:xfrm flipV="1">
            <a:off x="3346450" y="3429000"/>
            <a:ext cx="0" cy="184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E46D3B70-C925-4807-A409-457A93905CE6}"/>
              </a:ext>
            </a:extLst>
          </p:cNvPr>
          <p:cNvCxnSpPr/>
          <p:nvPr/>
        </p:nvCxnSpPr>
        <p:spPr>
          <a:xfrm flipV="1">
            <a:off x="3403600" y="1676400"/>
            <a:ext cx="0" cy="184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9148038A-8C5A-4021-BFF1-291D6AB5633A}"/>
              </a:ext>
            </a:extLst>
          </p:cNvPr>
          <p:cNvCxnSpPr/>
          <p:nvPr/>
        </p:nvCxnSpPr>
        <p:spPr>
          <a:xfrm flipV="1">
            <a:off x="4460875" y="1676400"/>
            <a:ext cx="0" cy="1841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5F498646-F083-442B-ABEA-D3FD8D1C34ED}"/>
              </a:ext>
            </a:extLst>
          </p:cNvPr>
          <p:cNvCxnSpPr/>
          <p:nvPr/>
        </p:nvCxnSpPr>
        <p:spPr>
          <a:xfrm flipV="1">
            <a:off x="4117975" y="3429000"/>
            <a:ext cx="0" cy="1841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0FDEE27-335F-47C3-8606-0329C9F3913E}"/>
                  </a:ext>
                </a:extLst>
              </p:cNvPr>
              <p:cNvSpPr txBox="1"/>
              <p:nvPr/>
            </p:nvSpPr>
            <p:spPr>
              <a:xfrm>
                <a:off x="3213100" y="1041917"/>
                <a:ext cx="11344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𝑥</m:t>
                          </m:r>
                        </m:sub>
                      </m:sSub>
                    </m:oMath>
                  </m:oMathPara>
                </a14:m>
                <a:endParaRPr lang="zh-CN" altLang="en-US" dirty="0"/>
              </a:p>
            </p:txBody>
          </p:sp>
        </mc:Choice>
        <mc:Fallback xmlns="">
          <p:sp>
            <p:nvSpPr>
              <p:cNvPr id="9" name="文本框 8">
                <a:extLst>
                  <a:ext uri="{FF2B5EF4-FFF2-40B4-BE49-F238E27FC236}">
                    <a16:creationId xmlns:a16="http://schemas.microsoft.com/office/drawing/2014/main" id="{90FDEE27-335F-47C3-8606-0329C9F3913E}"/>
                  </a:ext>
                </a:extLst>
              </p:cNvPr>
              <p:cNvSpPr txBox="1">
                <a:spLocks noRot="1" noChangeAspect="1" noMove="1" noResize="1" noEditPoints="1" noAdjustHandles="1" noChangeArrowheads="1" noChangeShapeType="1" noTextEdit="1"/>
              </p:cNvSpPr>
              <p:nvPr/>
            </p:nvSpPr>
            <p:spPr>
              <a:xfrm>
                <a:off x="3213100" y="1041917"/>
                <a:ext cx="1134477"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E6790C8-917A-4B03-969F-B409F17A6E9C}"/>
                  </a:ext>
                </a:extLst>
              </p:cNvPr>
              <p:cNvSpPr txBox="1"/>
              <p:nvPr/>
            </p:nvSpPr>
            <p:spPr>
              <a:xfrm>
                <a:off x="2103919" y="1608118"/>
                <a:ext cx="101002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𝐿𝐿𝑀</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m:oMathPara>
                </a14:m>
                <a:endParaRPr lang="zh-CN" altLang="en-US" dirty="0"/>
              </a:p>
            </p:txBody>
          </p:sp>
        </mc:Choice>
        <mc:Fallback xmlns="">
          <p:sp>
            <p:nvSpPr>
              <p:cNvPr id="17" name="文本框 16">
                <a:extLst>
                  <a:ext uri="{FF2B5EF4-FFF2-40B4-BE49-F238E27FC236}">
                    <a16:creationId xmlns:a16="http://schemas.microsoft.com/office/drawing/2014/main" id="{EE6790C8-917A-4B03-969F-B409F17A6E9C}"/>
                  </a:ext>
                </a:extLst>
              </p:cNvPr>
              <p:cNvSpPr txBox="1">
                <a:spLocks noRot="1" noChangeAspect="1" noMove="1" noResize="1" noEditPoints="1" noAdjustHandles="1" noChangeArrowheads="1" noChangeShapeType="1" noTextEdit="1"/>
              </p:cNvSpPr>
              <p:nvPr/>
            </p:nvSpPr>
            <p:spPr>
              <a:xfrm>
                <a:off x="2103919" y="1608118"/>
                <a:ext cx="1010020" cy="369332"/>
              </a:xfrm>
              <a:prstGeom prst="rect">
                <a:avLst/>
              </a:prstGeom>
              <a:blipFill>
                <a:blip r:embed="rId5"/>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FDC0232-E287-42F8-B1AD-AB3486DC43B1}"/>
                  </a:ext>
                </a:extLst>
              </p:cNvPr>
              <p:cNvSpPr txBox="1"/>
              <p:nvPr/>
            </p:nvSpPr>
            <p:spPr>
              <a:xfrm>
                <a:off x="4683126" y="1608118"/>
                <a:ext cx="7889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𝐵</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18" name="文本框 17">
                <a:extLst>
                  <a:ext uri="{FF2B5EF4-FFF2-40B4-BE49-F238E27FC236}">
                    <a16:creationId xmlns:a16="http://schemas.microsoft.com/office/drawing/2014/main" id="{0FDC0232-E287-42F8-B1AD-AB3486DC43B1}"/>
                  </a:ext>
                </a:extLst>
              </p:cNvPr>
              <p:cNvSpPr txBox="1">
                <a:spLocks noRot="1" noChangeAspect="1" noMove="1" noResize="1" noEditPoints="1" noAdjustHandles="1" noChangeArrowheads="1" noChangeShapeType="1" noTextEdit="1"/>
              </p:cNvSpPr>
              <p:nvPr/>
            </p:nvSpPr>
            <p:spPr>
              <a:xfrm>
                <a:off x="4683126" y="1608118"/>
                <a:ext cx="788934" cy="369332"/>
              </a:xfrm>
              <a:prstGeom prst="rect">
                <a:avLst/>
              </a:prstGeom>
              <a:blipFill>
                <a:blip r:embed="rId6"/>
                <a:stretch>
                  <a:fillRect/>
                </a:stretch>
              </a:blipFill>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A923457A-6F63-4787-B609-48690E6B506D}"/>
              </a:ext>
            </a:extLst>
          </p:cNvPr>
          <p:cNvCxnSpPr>
            <a:cxnSpLocks/>
          </p:cNvCxnSpPr>
          <p:nvPr/>
        </p:nvCxnSpPr>
        <p:spPr>
          <a:xfrm>
            <a:off x="4572000" y="1676400"/>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83EBCDF6-6199-461A-A789-8392D1C00F51}"/>
              </a:ext>
            </a:extLst>
          </p:cNvPr>
          <p:cNvCxnSpPr>
            <a:cxnSpLocks/>
          </p:cNvCxnSpPr>
          <p:nvPr/>
        </p:nvCxnSpPr>
        <p:spPr>
          <a:xfrm>
            <a:off x="4572000" y="2526648"/>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876511B-0D58-4966-9665-889935CA8BF1}"/>
              </a:ext>
            </a:extLst>
          </p:cNvPr>
          <p:cNvCxnSpPr>
            <a:cxnSpLocks/>
          </p:cNvCxnSpPr>
          <p:nvPr/>
        </p:nvCxnSpPr>
        <p:spPr>
          <a:xfrm>
            <a:off x="4229100" y="3429000"/>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6" name="图片 25">
            <a:extLst>
              <a:ext uri="{FF2B5EF4-FFF2-40B4-BE49-F238E27FC236}">
                <a16:creationId xmlns:a16="http://schemas.microsoft.com/office/drawing/2014/main" id="{115C0A25-2A19-4162-AA89-85F8E31E869F}"/>
              </a:ext>
            </a:extLst>
          </p:cNvPr>
          <p:cNvPicPr>
            <a:picLocks noChangeAspect="1"/>
          </p:cNvPicPr>
          <p:nvPr/>
        </p:nvPicPr>
        <p:blipFill>
          <a:blip r:embed="rId3"/>
          <a:stretch>
            <a:fillRect/>
          </a:stretch>
        </p:blipFill>
        <p:spPr>
          <a:xfrm>
            <a:off x="4915202" y="3613150"/>
            <a:ext cx="3137504" cy="2814353"/>
          </a:xfrm>
          <a:prstGeom prst="rect">
            <a:avLst/>
          </a:prstGeom>
        </p:spPr>
      </p:pic>
      <p:cxnSp>
        <p:nvCxnSpPr>
          <p:cNvPr id="27" name="直接箭头连接符 26">
            <a:extLst>
              <a:ext uri="{FF2B5EF4-FFF2-40B4-BE49-F238E27FC236}">
                <a16:creationId xmlns:a16="http://schemas.microsoft.com/office/drawing/2014/main" id="{861A635C-7758-45F1-A7C7-166406F0FD9D}"/>
              </a:ext>
            </a:extLst>
          </p:cNvPr>
          <p:cNvCxnSpPr/>
          <p:nvPr/>
        </p:nvCxnSpPr>
        <p:spPr>
          <a:xfrm flipV="1">
            <a:off x="6143609" y="5754403"/>
            <a:ext cx="0" cy="18415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20952E29-1BA9-410B-B392-AB579A722822}"/>
              </a:ext>
            </a:extLst>
          </p:cNvPr>
          <p:cNvCxnSpPr/>
          <p:nvPr/>
        </p:nvCxnSpPr>
        <p:spPr>
          <a:xfrm flipV="1">
            <a:off x="6200759" y="4001803"/>
            <a:ext cx="0" cy="18415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3DA1A521-9A10-4DE5-B052-36286E6FAA12}"/>
              </a:ext>
            </a:extLst>
          </p:cNvPr>
          <p:cNvCxnSpPr/>
          <p:nvPr/>
        </p:nvCxnSpPr>
        <p:spPr>
          <a:xfrm flipV="1">
            <a:off x="7258034" y="4001803"/>
            <a:ext cx="0" cy="18415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B712C964-5AC5-4BA6-B75F-EA761216C494}"/>
              </a:ext>
            </a:extLst>
          </p:cNvPr>
          <p:cNvCxnSpPr/>
          <p:nvPr/>
        </p:nvCxnSpPr>
        <p:spPr>
          <a:xfrm flipV="1">
            <a:off x="6915134" y="5754403"/>
            <a:ext cx="0" cy="18415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CE578CD3-0E9B-4E96-8DCD-B63D38F61E69}"/>
                  </a:ext>
                </a:extLst>
              </p:cNvPr>
              <p:cNvSpPr txBox="1"/>
              <p:nvPr/>
            </p:nvSpPr>
            <p:spPr>
              <a:xfrm>
                <a:off x="4901078" y="3933521"/>
                <a:ext cx="101002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𝐿𝐿𝑀</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m:oMathPara>
                </a14:m>
                <a:endParaRPr lang="zh-CN" altLang="en-US" dirty="0"/>
              </a:p>
            </p:txBody>
          </p:sp>
        </mc:Choice>
        <mc:Fallback xmlns="">
          <p:sp>
            <p:nvSpPr>
              <p:cNvPr id="31" name="文本框 30">
                <a:extLst>
                  <a:ext uri="{FF2B5EF4-FFF2-40B4-BE49-F238E27FC236}">
                    <a16:creationId xmlns:a16="http://schemas.microsoft.com/office/drawing/2014/main" id="{CE578CD3-0E9B-4E96-8DCD-B63D38F61E69}"/>
                  </a:ext>
                </a:extLst>
              </p:cNvPr>
              <p:cNvSpPr txBox="1">
                <a:spLocks noRot="1" noChangeAspect="1" noMove="1" noResize="1" noEditPoints="1" noAdjustHandles="1" noChangeArrowheads="1" noChangeShapeType="1" noTextEdit="1"/>
              </p:cNvSpPr>
              <p:nvPr/>
            </p:nvSpPr>
            <p:spPr>
              <a:xfrm>
                <a:off x="4901078" y="3933521"/>
                <a:ext cx="1010020" cy="369332"/>
              </a:xfrm>
              <a:prstGeom prst="rect">
                <a:avLst/>
              </a:prstGeom>
              <a:blipFill>
                <a:blip r:embed="rId7"/>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1E332AC9-11B9-403D-8DD1-C5430C14391C}"/>
                  </a:ext>
                </a:extLst>
              </p:cNvPr>
              <p:cNvSpPr txBox="1"/>
              <p:nvPr/>
            </p:nvSpPr>
            <p:spPr>
              <a:xfrm>
                <a:off x="6052773" y="3391559"/>
                <a:ext cx="11344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𝑥</m:t>
                          </m:r>
                        </m:sub>
                      </m:sSub>
                    </m:oMath>
                  </m:oMathPara>
                </a14:m>
                <a:endParaRPr lang="zh-CN" altLang="en-US" dirty="0"/>
              </a:p>
            </p:txBody>
          </p:sp>
        </mc:Choice>
        <mc:Fallback xmlns="">
          <p:sp>
            <p:nvSpPr>
              <p:cNvPr id="36" name="文本框 35">
                <a:extLst>
                  <a:ext uri="{FF2B5EF4-FFF2-40B4-BE49-F238E27FC236}">
                    <a16:creationId xmlns:a16="http://schemas.microsoft.com/office/drawing/2014/main" id="{1E332AC9-11B9-403D-8DD1-C5430C14391C}"/>
                  </a:ext>
                </a:extLst>
              </p:cNvPr>
              <p:cNvSpPr txBox="1">
                <a:spLocks noRot="1" noChangeAspect="1" noMove="1" noResize="1" noEditPoints="1" noAdjustHandles="1" noChangeArrowheads="1" noChangeShapeType="1" noTextEdit="1"/>
              </p:cNvSpPr>
              <p:nvPr/>
            </p:nvSpPr>
            <p:spPr>
              <a:xfrm>
                <a:off x="6052773" y="3391559"/>
                <a:ext cx="1134477"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528BB293-EBAD-4274-AD08-D902C523B2E8}"/>
                  </a:ext>
                </a:extLst>
              </p:cNvPr>
              <p:cNvSpPr txBox="1"/>
              <p:nvPr/>
            </p:nvSpPr>
            <p:spPr>
              <a:xfrm>
                <a:off x="7263772" y="3933521"/>
                <a:ext cx="7889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𝐵</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37" name="文本框 36">
                <a:extLst>
                  <a:ext uri="{FF2B5EF4-FFF2-40B4-BE49-F238E27FC236}">
                    <a16:creationId xmlns:a16="http://schemas.microsoft.com/office/drawing/2014/main" id="{528BB293-EBAD-4274-AD08-D902C523B2E8}"/>
                  </a:ext>
                </a:extLst>
              </p:cNvPr>
              <p:cNvSpPr txBox="1">
                <a:spLocks noRot="1" noChangeAspect="1" noMove="1" noResize="1" noEditPoints="1" noAdjustHandles="1" noChangeArrowheads="1" noChangeShapeType="1" noTextEdit="1"/>
              </p:cNvSpPr>
              <p:nvPr/>
            </p:nvSpPr>
            <p:spPr>
              <a:xfrm>
                <a:off x="7263772" y="3933521"/>
                <a:ext cx="788934" cy="369332"/>
              </a:xfrm>
              <a:prstGeom prst="rect">
                <a:avLst/>
              </a:prstGeom>
              <a:blipFill>
                <a:blip r:embed="rId9"/>
                <a:stretch>
                  <a:fillRect/>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D2FB5C80-83AD-4D4A-9986-DF283EE8E37D}"/>
              </a:ext>
            </a:extLst>
          </p:cNvPr>
          <p:cNvCxnSpPr>
            <a:cxnSpLocks/>
          </p:cNvCxnSpPr>
          <p:nvPr/>
        </p:nvCxnSpPr>
        <p:spPr>
          <a:xfrm>
            <a:off x="3505200" y="1676400"/>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6125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矩形 4">
            <a:extLst>
              <a:ext uri="{FF2B5EF4-FFF2-40B4-BE49-F238E27FC236}">
                <a16:creationId xmlns:a16="http://schemas.microsoft.com/office/drawing/2014/main" id="{650BA37E-EEA7-4677-92FB-02CB9ECDF0CA}"/>
              </a:ext>
            </a:extLst>
          </p:cNvPr>
          <p:cNvSpPr/>
          <p:nvPr/>
        </p:nvSpPr>
        <p:spPr>
          <a:xfrm>
            <a:off x="0" y="708586"/>
            <a:ext cx="8959850" cy="41819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经典</a:t>
            </a:r>
            <a:r>
              <a:rPr lang="en-US" altLang="zh-CN" sz="1600" dirty="0">
                <a:latin typeface="微软雅黑" panose="020B0503020204020204" pitchFamily="34" charset="-122"/>
                <a:ea typeface="微软雅黑" panose="020B0503020204020204" pitchFamily="34" charset="-122"/>
              </a:rPr>
              <a:t>PEFT</a:t>
            </a:r>
            <a:r>
              <a:rPr lang="zh-CN" altLang="en-US" sz="1600" dirty="0">
                <a:latin typeface="微软雅黑" panose="020B0503020204020204" pitchFamily="34" charset="-122"/>
                <a:ea typeface="微软雅黑" panose="020B0503020204020204" pitchFamily="34" charset="-122"/>
              </a:rPr>
              <a:t>方法：</a:t>
            </a:r>
            <a:r>
              <a:rPr lang="en-US" altLang="zh-CN" sz="1600" b="1" dirty="0" err="1">
                <a:latin typeface="微软雅黑" panose="020B0503020204020204" pitchFamily="34" charset="-122"/>
                <a:ea typeface="微软雅黑" panose="020B0503020204020204" pitchFamily="34" charset="-122"/>
              </a:rPr>
              <a:t>LoRA</a:t>
            </a:r>
            <a:r>
              <a:rPr lang="en-US" altLang="zh-CN" sz="1600" dirty="0">
                <a:latin typeface="微软雅黑" panose="020B0503020204020204" pitchFamily="34" charset="-122"/>
                <a:ea typeface="微软雅黑" panose="020B0503020204020204" pitchFamily="34" charset="-122"/>
              </a:rPr>
              <a:t> &amp; </a:t>
            </a:r>
            <a:r>
              <a:rPr lang="en-US" altLang="zh-CN" sz="1600" dirty="0" err="1">
                <a:latin typeface="微软雅黑" panose="020B0503020204020204" pitchFamily="34" charset="-122"/>
                <a:ea typeface="微软雅黑" panose="020B0503020204020204" pitchFamily="34" charset="-122"/>
              </a:rPr>
              <a:t>QLoRA</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926B669-D01A-449C-94EC-0B9566FA388F}"/>
              </a:ext>
            </a:extLst>
          </p:cNvPr>
          <p:cNvPicPr>
            <a:picLocks noChangeAspect="1"/>
          </p:cNvPicPr>
          <p:nvPr/>
        </p:nvPicPr>
        <p:blipFill>
          <a:blip r:embed="rId3"/>
          <a:stretch>
            <a:fillRect/>
          </a:stretch>
        </p:blipFill>
        <p:spPr>
          <a:xfrm>
            <a:off x="2118043" y="1287747"/>
            <a:ext cx="3137504" cy="2814353"/>
          </a:xfrm>
          <a:prstGeom prst="rect">
            <a:avLst/>
          </a:prstGeom>
        </p:spPr>
      </p:pic>
      <p:sp>
        <p:nvSpPr>
          <p:cNvPr id="6" name="文本框 5">
            <a:extLst>
              <a:ext uri="{FF2B5EF4-FFF2-40B4-BE49-F238E27FC236}">
                <a16:creationId xmlns:a16="http://schemas.microsoft.com/office/drawing/2014/main" id="{F57A66DA-AB8F-4920-ABD6-8BE91D89890D}"/>
              </a:ext>
            </a:extLst>
          </p:cNvPr>
          <p:cNvSpPr txBox="1"/>
          <p:nvPr/>
        </p:nvSpPr>
        <p:spPr>
          <a:xfrm>
            <a:off x="374650" y="2280169"/>
            <a:ext cx="1210588"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训练过程：</a:t>
            </a:r>
          </a:p>
        </p:txBody>
      </p:sp>
      <p:cxnSp>
        <p:nvCxnSpPr>
          <p:cNvPr id="8" name="直接箭头连接符 7">
            <a:extLst>
              <a:ext uri="{FF2B5EF4-FFF2-40B4-BE49-F238E27FC236}">
                <a16:creationId xmlns:a16="http://schemas.microsoft.com/office/drawing/2014/main" id="{BF5ADF0C-C712-4F55-8A5B-4D0011395E6D}"/>
              </a:ext>
            </a:extLst>
          </p:cNvPr>
          <p:cNvCxnSpPr/>
          <p:nvPr/>
        </p:nvCxnSpPr>
        <p:spPr>
          <a:xfrm flipV="1">
            <a:off x="3346450" y="3429000"/>
            <a:ext cx="0" cy="184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E46D3B70-C925-4807-A409-457A93905CE6}"/>
              </a:ext>
            </a:extLst>
          </p:cNvPr>
          <p:cNvCxnSpPr/>
          <p:nvPr/>
        </p:nvCxnSpPr>
        <p:spPr>
          <a:xfrm flipV="1">
            <a:off x="3403600" y="1676400"/>
            <a:ext cx="0" cy="184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9148038A-8C5A-4021-BFF1-291D6AB5633A}"/>
              </a:ext>
            </a:extLst>
          </p:cNvPr>
          <p:cNvCxnSpPr/>
          <p:nvPr/>
        </p:nvCxnSpPr>
        <p:spPr>
          <a:xfrm flipV="1">
            <a:off x="4460875" y="1676400"/>
            <a:ext cx="0" cy="1841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5F498646-F083-442B-ABEA-D3FD8D1C34ED}"/>
              </a:ext>
            </a:extLst>
          </p:cNvPr>
          <p:cNvCxnSpPr/>
          <p:nvPr/>
        </p:nvCxnSpPr>
        <p:spPr>
          <a:xfrm flipV="1">
            <a:off x="4117975" y="3429000"/>
            <a:ext cx="0" cy="1841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0FDEE27-335F-47C3-8606-0329C9F3913E}"/>
                  </a:ext>
                </a:extLst>
              </p:cNvPr>
              <p:cNvSpPr txBox="1"/>
              <p:nvPr/>
            </p:nvSpPr>
            <p:spPr>
              <a:xfrm>
                <a:off x="3213100" y="1041917"/>
                <a:ext cx="11344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𝑥</m:t>
                          </m:r>
                        </m:sub>
                      </m:sSub>
                    </m:oMath>
                  </m:oMathPara>
                </a14:m>
                <a:endParaRPr lang="zh-CN" altLang="en-US" dirty="0"/>
              </a:p>
            </p:txBody>
          </p:sp>
        </mc:Choice>
        <mc:Fallback xmlns="">
          <p:sp>
            <p:nvSpPr>
              <p:cNvPr id="9" name="文本框 8">
                <a:extLst>
                  <a:ext uri="{FF2B5EF4-FFF2-40B4-BE49-F238E27FC236}">
                    <a16:creationId xmlns:a16="http://schemas.microsoft.com/office/drawing/2014/main" id="{90FDEE27-335F-47C3-8606-0329C9F3913E}"/>
                  </a:ext>
                </a:extLst>
              </p:cNvPr>
              <p:cNvSpPr txBox="1">
                <a:spLocks noRot="1" noChangeAspect="1" noMove="1" noResize="1" noEditPoints="1" noAdjustHandles="1" noChangeArrowheads="1" noChangeShapeType="1" noTextEdit="1"/>
              </p:cNvSpPr>
              <p:nvPr/>
            </p:nvSpPr>
            <p:spPr>
              <a:xfrm>
                <a:off x="3213100" y="1041917"/>
                <a:ext cx="1134477"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E6790C8-917A-4B03-969F-B409F17A6E9C}"/>
                  </a:ext>
                </a:extLst>
              </p:cNvPr>
              <p:cNvSpPr txBox="1"/>
              <p:nvPr/>
            </p:nvSpPr>
            <p:spPr>
              <a:xfrm>
                <a:off x="2103919" y="1608118"/>
                <a:ext cx="101002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𝐿𝐿𝑀</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m:oMathPara>
                </a14:m>
                <a:endParaRPr lang="zh-CN" altLang="en-US" dirty="0"/>
              </a:p>
            </p:txBody>
          </p:sp>
        </mc:Choice>
        <mc:Fallback xmlns="">
          <p:sp>
            <p:nvSpPr>
              <p:cNvPr id="17" name="文本框 16">
                <a:extLst>
                  <a:ext uri="{FF2B5EF4-FFF2-40B4-BE49-F238E27FC236}">
                    <a16:creationId xmlns:a16="http://schemas.microsoft.com/office/drawing/2014/main" id="{EE6790C8-917A-4B03-969F-B409F17A6E9C}"/>
                  </a:ext>
                </a:extLst>
              </p:cNvPr>
              <p:cNvSpPr txBox="1">
                <a:spLocks noRot="1" noChangeAspect="1" noMove="1" noResize="1" noEditPoints="1" noAdjustHandles="1" noChangeArrowheads="1" noChangeShapeType="1" noTextEdit="1"/>
              </p:cNvSpPr>
              <p:nvPr/>
            </p:nvSpPr>
            <p:spPr>
              <a:xfrm>
                <a:off x="2103919" y="1608118"/>
                <a:ext cx="1010020" cy="369332"/>
              </a:xfrm>
              <a:prstGeom prst="rect">
                <a:avLst/>
              </a:prstGeom>
              <a:blipFill>
                <a:blip r:embed="rId5"/>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FDC0232-E287-42F8-B1AD-AB3486DC43B1}"/>
                  </a:ext>
                </a:extLst>
              </p:cNvPr>
              <p:cNvSpPr txBox="1"/>
              <p:nvPr/>
            </p:nvSpPr>
            <p:spPr>
              <a:xfrm>
                <a:off x="4683126" y="1608118"/>
                <a:ext cx="7889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𝐵</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18" name="文本框 17">
                <a:extLst>
                  <a:ext uri="{FF2B5EF4-FFF2-40B4-BE49-F238E27FC236}">
                    <a16:creationId xmlns:a16="http://schemas.microsoft.com/office/drawing/2014/main" id="{0FDC0232-E287-42F8-B1AD-AB3486DC43B1}"/>
                  </a:ext>
                </a:extLst>
              </p:cNvPr>
              <p:cNvSpPr txBox="1">
                <a:spLocks noRot="1" noChangeAspect="1" noMove="1" noResize="1" noEditPoints="1" noAdjustHandles="1" noChangeArrowheads="1" noChangeShapeType="1" noTextEdit="1"/>
              </p:cNvSpPr>
              <p:nvPr/>
            </p:nvSpPr>
            <p:spPr>
              <a:xfrm>
                <a:off x="4683126" y="1608118"/>
                <a:ext cx="788934" cy="369332"/>
              </a:xfrm>
              <a:prstGeom prst="rect">
                <a:avLst/>
              </a:prstGeom>
              <a:blipFill>
                <a:blip r:embed="rId6"/>
                <a:stretch>
                  <a:fillRect/>
                </a:stretch>
              </a:blipFill>
            </p:spPr>
            <p:txBody>
              <a:bodyPr/>
              <a:lstStyle/>
              <a:p>
                <a:r>
                  <a:rPr lang="zh-CN" altLang="en-US">
                    <a:noFill/>
                  </a:rPr>
                  <a:t> </a:t>
                </a:r>
              </a:p>
            </p:txBody>
          </p:sp>
        </mc:Fallback>
      </mc:AlternateContent>
      <p:cxnSp>
        <p:nvCxnSpPr>
          <p:cNvPr id="19" name="直接箭头连接符 18">
            <a:extLst>
              <a:ext uri="{FF2B5EF4-FFF2-40B4-BE49-F238E27FC236}">
                <a16:creationId xmlns:a16="http://schemas.microsoft.com/office/drawing/2014/main" id="{A923457A-6F63-4787-B609-48690E6B506D}"/>
              </a:ext>
            </a:extLst>
          </p:cNvPr>
          <p:cNvCxnSpPr>
            <a:cxnSpLocks/>
          </p:cNvCxnSpPr>
          <p:nvPr/>
        </p:nvCxnSpPr>
        <p:spPr>
          <a:xfrm>
            <a:off x="4572000" y="1676400"/>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83EBCDF6-6199-461A-A789-8392D1C00F51}"/>
              </a:ext>
            </a:extLst>
          </p:cNvPr>
          <p:cNvCxnSpPr>
            <a:cxnSpLocks/>
          </p:cNvCxnSpPr>
          <p:nvPr/>
        </p:nvCxnSpPr>
        <p:spPr>
          <a:xfrm>
            <a:off x="4572000" y="2526648"/>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876511B-0D58-4966-9665-889935CA8BF1}"/>
              </a:ext>
            </a:extLst>
          </p:cNvPr>
          <p:cNvCxnSpPr>
            <a:cxnSpLocks/>
          </p:cNvCxnSpPr>
          <p:nvPr/>
        </p:nvCxnSpPr>
        <p:spPr>
          <a:xfrm>
            <a:off x="4229100" y="3429000"/>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D2FB5C80-83AD-4D4A-9986-DF283EE8E37D}"/>
              </a:ext>
            </a:extLst>
          </p:cNvPr>
          <p:cNvCxnSpPr>
            <a:cxnSpLocks/>
          </p:cNvCxnSpPr>
          <p:nvPr/>
        </p:nvCxnSpPr>
        <p:spPr>
          <a:xfrm>
            <a:off x="3505200" y="1676400"/>
            <a:ext cx="0" cy="18415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4C25666-6F1F-4BCE-80A2-A8112ECD66FB}"/>
              </a:ext>
            </a:extLst>
          </p:cNvPr>
          <p:cNvPicPr>
            <a:picLocks noChangeAspect="1"/>
          </p:cNvPicPr>
          <p:nvPr/>
        </p:nvPicPr>
        <p:blipFill>
          <a:blip r:embed="rId7"/>
          <a:stretch>
            <a:fillRect/>
          </a:stretch>
        </p:blipFill>
        <p:spPr>
          <a:xfrm>
            <a:off x="385097" y="4170494"/>
            <a:ext cx="7857143" cy="2104762"/>
          </a:xfrm>
          <a:prstGeom prst="rect">
            <a:avLst/>
          </a:prstGeom>
        </p:spPr>
      </p:pic>
      <p:pic>
        <p:nvPicPr>
          <p:cNvPr id="3" name="图片 2">
            <a:extLst>
              <a:ext uri="{FF2B5EF4-FFF2-40B4-BE49-F238E27FC236}">
                <a16:creationId xmlns:a16="http://schemas.microsoft.com/office/drawing/2014/main" id="{A776B8B2-B406-41F9-844F-07078E0A1A43}"/>
              </a:ext>
            </a:extLst>
          </p:cNvPr>
          <p:cNvPicPr>
            <a:picLocks noChangeAspect="1"/>
          </p:cNvPicPr>
          <p:nvPr/>
        </p:nvPicPr>
        <p:blipFill>
          <a:blip r:embed="rId8"/>
          <a:stretch>
            <a:fillRect/>
          </a:stretch>
        </p:blipFill>
        <p:spPr>
          <a:xfrm>
            <a:off x="532303" y="1135413"/>
            <a:ext cx="7857143" cy="3666667"/>
          </a:xfrm>
          <a:prstGeom prst="rect">
            <a:avLst/>
          </a:prstGeom>
        </p:spPr>
      </p:pic>
    </p:spTree>
    <p:extLst>
      <p:ext uri="{BB962C8B-B14F-4D97-AF65-F5344CB8AC3E}">
        <p14:creationId xmlns:p14="http://schemas.microsoft.com/office/powerpoint/2010/main" val="135951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五、语言模型的后训练</a:t>
            </a: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矩形 4">
            <a:extLst>
              <a:ext uri="{FF2B5EF4-FFF2-40B4-BE49-F238E27FC236}">
                <a16:creationId xmlns:a16="http://schemas.microsoft.com/office/drawing/2014/main" id="{650BA37E-EEA7-4677-92FB-02CB9ECDF0CA}"/>
              </a:ext>
            </a:extLst>
          </p:cNvPr>
          <p:cNvSpPr/>
          <p:nvPr/>
        </p:nvSpPr>
        <p:spPr>
          <a:xfrm>
            <a:off x="0" y="708586"/>
            <a:ext cx="8959850" cy="41819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经典</a:t>
            </a:r>
            <a:r>
              <a:rPr lang="en-US" altLang="zh-CN" sz="1600" dirty="0">
                <a:latin typeface="微软雅黑" panose="020B0503020204020204" pitchFamily="34" charset="-122"/>
                <a:ea typeface="微软雅黑" panose="020B0503020204020204" pitchFamily="34" charset="-122"/>
              </a:rPr>
              <a:t>PEFT</a:t>
            </a:r>
            <a:r>
              <a:rPr lang="zh-CN" altLang="en-US" sz="1600" dirty="0">
                <a:latin typeface="微软雅黑" panose="020B0503020204020204" pitchFamily="34" charset="-122"/>
                <a:ea typeface="微软雅黑" panose="020B0503020204020204" pitchFamily="34" charset="-122"/>
              </a:rPr>
              <a:t>方法：</a:t>
            </a:r>
            <a:r>
              <a:rPr lang="en-US" altLang="zh-CN" sz="1600" dirty="0" err="1">
                <a:latin typeface="微软雅黑" panose="020B0503020204020204" pitchFamily="34" charset="-122"/>
                <a:ea typeface="微软雅黑" panose="020B0503020204020204" pitchFamily="34" charset="-122"/>
              </a:rPr>
              <a:t>LoRA</a:t>
            </a:r>
            <a:r>
              <a:rPr lang="en-US" altLang="zh-CN" sz="1600" dirty="0">
                <a:latin typeface="微软雅黑" panose="020B0503020204020204" pitchFamily="34" charset="-122"/>
                <a:ea typeface="微软雅黑" panose="020B0503020204020204" pitchFamily="34" charset="-122"/>
              </a:rPr>
              <a:t> &amp; </a:t>
            </a:r>
            <a:r>
              <a:rPr lang="en-US" altLang="zh-CN" sz="1600" b="1" dirty="0" err="1">
                <a:latin typeface="微软雅黑" panose="020B0503020204020204" pitchFamily="34" charset="-122"/>
                <a:ea typeface="微软雅黑" panose="020B0503020204020204" pitchFamily="34" charset="-122"/>
              </a:rPr>
              <a:t>QLoRA</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75F1658F-258A-4587-AE29-6BC2044D23CA}"/>
              </a:ext>
            </a:extLst>
          </p:cNvPr>
          <p:cNvSpPr/>
          <p:nvPr/>
        </p:nvSpPr>
        <p:spPr>
          <a:xfrm>
            <a:off x="336550" y="1073361"/>
            <a:ext cx="8680450" cy="1023742"/>
          </a:xfrm>
          <a:prstGeom prst="rect">
            <a:avLst/>
          </a:prstGeom>
        </p:spPr>
        <p:txBody>
          <a:bodyPr wrap="square">
            <a:spAutoFit/>
          </a:bodyPr>
          <a:lstStyle/>
          <a:p>
            <a:pPr>
              <a:lnSpc>
                <a:spcPct val="150000"/>
              </a:lnSpc>
            </a:pPr>
            <a:r>
              <a:rPr lang="zh-CN" altLang="en-US" sz="1400" dirty="0">
                <a:solidFill>
                  <a:srgbClr val="191B1F"/>
                </a:solidFill>
                <a:latin typeface="微软雅黑" panose="020B0503020204020204" pitchFamily="34" charset="-122"/>
                <a:ea typeface="微软雅黑" panose="020B0503020204020204" pitchFamily="34" charset="-122"/>
              </a:rPr>
              <a:t>为了进一步降低硬件门槛，</a:t>
            </a:r>
            <a:r>
              <a:rPr lang="zh-CN" altLang="en-US" sz="1400" i="1" dirty="0">
                <a:solidFill>
                  <a:srgbClr val="191B1F"/>
                </a:solidFill>
                <a:latin typeface="微软雅黑" panose="020B0503020204020204" pitchFamily="34" charset="-122"/>
                <a:ea typeface="微软雅黑" panose="020B0503020204020204" pitchFamily="34" charset="-122"/>
              </a:rPr>
              <a:t>量化低秩适应</a:t>
            </a:r>
            <a:r>
              <a:rPr lang="zh-CN" altLang="en-US" sz="1400" dirty="0">
                <a:solidFill>
                  <a:srgbClr val="191B1F"/>
                </a:solidFill>
                <a:latin typeface="微软雅黑" panose="020B0503020204020204" pitchFamily="34" charset="-122"/>
                <a:ea typeface="微软雅黑" panose="020B0503020204020204" pitchFamily="34" charset="-122"/>
              </a:rPr>
              <a:t>（</a:t>
            </a:r>
            <a:r>
              <a:rPr lang="en-US" altLang="zh-CN" sz="1400" dirty="0">
                <a:solidFill>
                  <a:srgbClr val="191B1F"/>
                </a:solidFill>
                <a:latin typeface="微软雅黑" panose="020B0503020204020204" pitchFamily="34" charset="-122"/>
                <a:ea typeface="微软雅黑" panose="020B0503020204020204" pitchFamily="34" charset="-122"/>
              </a:rPr>
              <a:t>Quantized Low-Rank Adaptation, </a:t>
            </a:r>
            <a:r>
              <a:rPr lang="en-US" altLang="zh-CN" sz="1400" dirty="0" err="1">
                <a:solidFill>
                  <a:srgbClr val="191B1F"/>
                </a:solidFill>
                <a:latin typeface="微软雅黑" panose="020B0503020204020204" pitchFamily="34" charset="-122"/>
                <a:ea typeface="微软雅黑" panose="020B0503020204020204" pitchFamily="34" charset="-122"/>
              </a:rPr>
              <a:t>QLoRA</a:t>
            </a:r>
            <a:r>
              <a:rPr lang="zh-CN" altLang="en-US" sz="1400" dirty="0">
                <a:solidFill>
                  <a:srgbClr val="191B1F"/>
                </a:solidFill>
                <a:latin typeface="微软雅黑" panose="020B0503020204020204" pitchFamily="34" charset="-122"/>
                <a:ea typeface="微软雅黑" panose="020B0503020204020204" pitchFamily="34" charset="-122"/>
              </a:rPr>
              <a:t>）技术被提出。它在</a:t>
            </a:r>
            <a:r>
              <a:rPr lang="en-US" altLang="zh-CN" sz="1400" dirty="0" err="1">
                <a:solidFill>
                  <a:srgbClr val="191B1F"/>
                </a:solidFill>
                <a:latin typeface="微软雅黑" panose="020B0503020204020204" pitchFamily="34" charset="-122"/>
                <a:ea typeface="微软雅黑" panose="020B0503020204020204" pitchFamily="34" charset="-122"/>
              </a:rPr>
              <a:t>LoRA</a:t>
            </a:r>
            <a:r>
              <a:rPr lang="zh-CN" altLang="en-US" sz="1400" dirty="0">
                <a:solidFill>
                  <a:srgbClr val="191B1F"/>
                </a:solidFill>
                <a:latin typeface="微软雅黑" panose="020B0503020204020204" pitchFamily="34" charset="-122"/>
                <a:ea typeface="微软雅黑" panose="020B0503020204020204" pitchFamily="34" charset="-122"/>
              </a:rPr>
              <a:t>的基础上，巧妙地结合了</a:t>
            </a:r>
            <a:r>
              <a:rPr lang="zh-CN" altLang="en-US" sz="1400" i="1" dirty="0">
                <a:solidFill>
                  <a:srgbClr val="191B1F"/>
                </a:solidFill>
                <a:latin typeface="微软雅黑" panose="020B0503020204020204" pitchFamily="34" charset="-122"/>
                <a:ea typeface="微软雅黑" panose="020B0503020204020204" pitchFamily="34" charset="-122"/>
              </a:rPr>
              <a:t>量化</a:t>
            </a:r>
            <a:r>
              <a:rPr lang="zh-CN" altLang="en-US" sz="1400" dirty="0">
                <a:solidFill>
                  <a:srgbClr val="191B1F"/>
                </a:solidFill>
                <a:latin typeface="微软雅黑" panose="020B0503020204020204" pitchFamily="34" charset="-122"/>
                <a:ea typeface="微软雅黑" panose="020B0503020204020204" pitchFamily="34" charset="-122"/>
              </a:rPr>
              <a:t>（</a:t>
            </a:r>
            <a:r>
              <a:rPr lang="en-US" altLang="zh-CN" sz="1400" dirty="0">
                <a:solidFill>
                  <a:srgbClr val="191B1F"/>
                </a:solidFill>
                <a:latin typeface="微软雅黑" panose="020B0503020204020204" pitchFamily="34" charset="-122"/>
                <a:ea typeface="微软雅黑" panose="020B0503020204020204" pitchFamily="34" charset="-122"/>
              </a:rPr>
              <a:t>Quantization</a:t>
            </a:r>
            <a:r>
              <a:rPr lang="zh-CN" altLang="en-US" sz="1400" dirty="0">
                <a:solidFill>
                  <a:srgbClr val="191B1F"/>
                </a:solidFill>
                <a:latin typeface="微软雅黑" panose="020B0503020204020204" pitchFamily="34" charset="-122"/>
                <a:ea typeface="微软雅黑" panose="020B0503020204020204" pitchFamily="34" charset="-122"/>
              </a:rPr>
              <a:t>）技术。量化是指用更低精度的数据类型（例如，从</a:t>
            </a:r>
            <a:r>
              <a:rPr lang="en-US" altLang="zh-CN" sz="1400" dirty="0">
                <a:solidFill>
                  <a:srgbClr val="191B1F"/>
                </a:solidFill>
                <a:latin typeface="微软雅黑" panose="020B0503020204020204" pitchFamily="34" charset="-122"/>
                <a:ea typeface="微软雅黑" panose="020B0503020204020204" pitchFamily="34" charset="-122"/>
              </a:rPr>
              <a:t>16</a:t>
            </a:r>
            <a:r>
              <a:rPr lang="zh-CN" altLang="en-US" sz="1400" dirty="0">
                <a:solidFill>
                  <a:srgbClr val="191B1F"/>
                </a:solidFill>
                <a:latin typeface="微软雅黑" panose="020B0503020204020204" pitchFamily="34" charset="-122"/>
                <a:ea typeface="微软雅黑" panose="020B0503020204020204" pitchFamily="34" charset="-122"/>
              </a:rPr>
              <a:t>位浮点数降为</a:t>
            </a:r>
            <a:r>
              <a:rPr lang="en-US" altLang="zh-CN" sz="1400" dirty="0">
                <a:solidFill>
                  <a:srgbClr val="191B1F"/>
                </a:solidFill>
                <a:latin typeface="微软雅黑" panose="020B0503020204020204" pitchFamily="34" charset="-122"/>
                <a:ea typeface="微软雅黑" panose="020B0503020204020204" pitchFamily="34" charset="-122"/>
              </a:rPr>
              <a:t>4</a:t>
            </a:r>
            <a:r>
              <a:rPr lang="zh-CN" altLang="en-US" sz="1400" dirty="0">
                <a:solidFill>
                  <a:srgbClr val="191B1F"/>
                </a:solidFill>
                <a:latin typeface="微软雅黑" panose="020B0503020204020204" pitchFamily="34" charset="-122"/>
                <a:ea typeface="微软雅黑" panose="020B0503020204020204" pitchFamily="34" charset="-122"/>
              </a:rPr>
              <a:t>位整数）来存储和计算模型权重，从而大幅减少显存占用。</a:t>
            </a:r>
            <a:endParaRPr lang="zh-CN" altLang="en-US" sz="14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3A5B91AB-DD09-4EEB-9270-4A89665F36D8}"/>
              </a:ext>
            </a:extLst>
          </p:cNvPr>
          <p:cNvSpPr/>
          <p:nvPr/>
        </p:nvSpPr>
        <p:spPr>
          <a:xfrm>
            <a:off x="393700" y="2165340"/>
            <a:ext cx="8382000" cy="1670073"/>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位量化加载： 将被冻结的、巨大的预训练模型权重，以极低的</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位精度加载到</a:t>
            </a:r>
            <a:r>
              <a:rPr lang="en-US" altLang="zh-CN" sz="1400" dirty="0">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显存中。这是节省显存的关键一步。</a:t>
            </a: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训练高精度适配器： </a:t>
            </a:r>
            <a:r>
              <a:rPr lang="en-US" altLang="zh-CN" sz="1400" dirty="0" err="1">
                <a:latin typeface="微软雅黑" panose="020B0503020204020204" pitchFamily="34" charset="-122"/>
                <a:ea typeface="微软雅黑" panose="020B0503020204020204" pitchFamily="34" charset="-122"/>
              </a:rPr>
              <a:t>LoRA</a:t>
            </a:r>
            <a:r>
              <a:rPr lang="zh-CN" altLang="en-US" sz="1400" dirty="0">
                <a:latin typeface="微软雅黑" panose="020B0503020204020204" pitchFamily="34" charset="-122"/>
                <a:ea typeface="微软雅黑" panose="020B0503020204020204" pitchFamily="34" charset="-122"/>
              </a:rPr>
              <a:t>的旁路适配器矩阵</a:t>
            </a: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，仍然</a:t>
            </a:r>
            <a:r>
              <a:rPr lang="zh-CN" altLang="en-US" sz="1400" b="1" dirty="0">
                <a:latin typeface="微软雅黑" panose="020B0503020204020204" pitchFamily="34" charset="-122"/>
                <a:ea typeface="微软雅黑" panose="020B0503020204020204" pitchFamily="34" charset="-122"/>
              </a:rPr>
              <a:t>保持在较高精度（例如</a:t>
            </a:r>
            <a:r>
              <a:rPr lang="en-US" altLang="zh-CN" sz="1400" b="1" dirty="0">
                <a:latin typeface="微软雅黑" panose="020B0503020204020204" pitchFamily="34" charset="-122"/>
                <a:ea typeface="微软雅黑" panose="020B0503020204020204" pitchFamily="34" charset="-122"/>
              </a:rPr>
              <a:t>16</a:t>
            </a:r>
            <a:r>
              <a:rPr lang="zh-CN" altLang="en-US" sz="1400" b="1" dirty="0">
                <a:latin typeface="微软雅黑" panose="020B0503020204020204" pitchFamily="34" charset="-122"/>
                <a:ea typeface="微软雅黑" panose="020B0503020204020204" pitchFamily="34" charset="-122"/>
              </a:rPr>
              <a:t>位）进行训练</a:t>
            </a:r>
            <a:r>
              <a:rPr lang="zh-CN" altLang="en-US" sz="14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动态反量化： </a:t>
            </a:r>
            <a:r>
              <a:rPr lang="zh-CN" altLang="en-US" sz="1400" b="1" dirty="0">
                <a:latin typeface="微软雅黑" panose="020B0503020204020204" pitchFamily="34" charset="-122"/>
                <a:ea typeface="微软雅黑" panose="020B0503020204020204" pitchFamily="34" charset="-122"/>
              </a:rPr>
              <a:t>在计算时，当梯度需要流经</a:t>
            </a:r>
            <a:r>
              <a:rPr lang="en-US" altLang="zh-CN" sz="1400" b="1" dirty="0">
                <a:latin typeface="微软雅黑" panose="020B0503020204020204" pitchFamily="34" charset="-122"/>
                <a:ea typeface="微软雅黑" panose="020B0503020204020204" pitchFamily="34" charset="-122"/>
              </a:rPr>
              <a:t>4</a:t>
            </a:r>
            <a:r>
              <a:rPr lang="zh-CN" altLang="en-US" sz="1400" b="1" dirty="0">
                <a:latin typeface="微软雅黑" panose="020B0503020204020204" pitchFamily="34" charset="-122"/>
                <a:ea typeface="微软雅黑" panose="020B0503020204020204" pitchFamily="34" charset="-122"/>
              </a:rPr>
              <a:t>位权重量子时，系统会“动态地”将这一小部分权重“反量化”回</a:t>
            </a:r>
            <a:r>
              <a:rPr lang="en-US" altLang="zh-CN" sz="1400" b="1" dirty="0">
                <a:latin typeface="微软雅黑" panose="020B0503020204020204" pitchFamily="34" charset="-122"/>
                <a:ea typeface="微软雅黑" panose="020B0503020204020204" pitchFamily="34" charset="-122"/>
              </a:rPr>
              <a:t>16</a:t>
            </a:r>
            <a:r>
              <a:rPr lang="zh-CN" altLang="en-US" sz="1400" b="1" dirty="0">
                <a:latin typeface="微软雅黑" panose="020B0503020204020204" pitchFamily="34" charset="-122"/>
                <a:ea typeface="微软雅黑" panose="020B0503020204020204" pitchFamily="34" charset="-122"/>
              </a:rPr>
              <a:t>位精度进行计算，计算完成后再释放</a:t>
            </a:r>
            <a:r>
              <a:rPr lang="zh-CN" altLang="en-US" sz="1400" dirty="0">
                <a:latin typeface="微软雅黑" panose="020B0503020204020204" pitchFamily="34" charset="-122"/>
                <a:ea typeface="微软雅黑" panose="020B0503020204020204" pitchFamily="34" charset="-122"/>
              </a:rPr>
              <a:t>。</a:t>
            </a:r>
          </a:p>
        </p:txBody>
      </p:sp>
      <p:pic>
        <p:nvPicPr>
          <p:cNvPr id="11" name="图片 10">
            <a:extLst>
              <a:ext uri="{FF2B5EF4-FFF2-40B4-BE49-F238E27FC236}">
                <a16:creationId xmlns:a16="http://schemas.microsoft.com/office/drawing/2014/main" id="{C4B3E54C-FA74-4556-8535-E3C0597AC9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148" y="4124282"/>
            <a:ext cx="6103873" cy="2305109"/>
          </a:xfrm>
          <a:prstGeom prst="rect">
            <a:avLst/>
          </a:prstGeom>
        </p:spPr>
      </p:pic>
    </p:spTree>
    <p:extLst>
      <p:ext uri="{BB962C8B-B14F-4D97-AF65-F5344CB8AC3E}">
        <p14:creationId xmlns:p14="http://schemas.microsoft.com/office/powerpoint/2010/main" val="862364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2214265"/>
            <a:ext cx="9144000" cy="1388264"/>
            <a:chOff x="-1590" y="2422529"/>
            <a:chExt cx="9145590" cy="1851019"/>
          </a:xfrm>
        </p:grpSpPr>
        <p:sp>
          <p:nvSpPr>
            <p:cNvPr id="24" name="矩形 23"/>
            <p:cNvSpPr/>
            <p:nvPr/>
          </p:nvSpPr>
          <p:spPr>
            <a:xfrm>
              <a:off x="-1590" y="2490260"/>
              <a:ext cx="9145586" cy="1713341"/>
            </a:xfrm>
            <a:prstGeom prst="rect">
              <a:avLst/>
            </a:prstGeom>
            <a:solidFill>
              <a:srgbClr val="005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sz="1350" dirty="0">
                <a:solidFill>
                  <a:prstClr val="white"/>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0" y="2422529"/>
              <a:ext cx="9144000" cy="1851019"/>
              <a:chOff x="0" y="2547942"/>
              <a:chExt cx="9144000" cy="1851019"/>
            </a:xfrm>
          </p:grpSpPr>
          <p:sp>
            <p:nvSpPr>
              <p:cNvPr id="5" name="Rectangle 5"/>
              <p:cNvSpPr>
                <a:spLocks noChangeArrowheads="1"/>
              </p:cNvSpPr>
              <p:nvPr/>
            </p:nvSpPr>
            <p:spPr bwMode="auto">
              <a:xfrm>
                <a:off x="0" y="2547942"/>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sp>
            <p:nvSpPr>
              <p:cNvPr id="6" name="Rectangle 5"/>
              <p:cNvSpPr>
                <a:spLocks noChangeArrowheads="1"/>
              </p:cNvSpPr>
              <p:nvPr/>
            </p:nvSpPr>
            <p:spPr bwMode="auto">
              <a:xfrm>
                <a:off x="0" y="4322761"/>
                <a:ext cx="9144000" cy="76200"/>
              </a:xfrm>
              <a:prstGeom prst="rect">
                <a:avLst/>
              </a:prstGeom>
              <a:solidFill>
                <a:srgbClr val="C2C2C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endParaRPr lang="zh-CN" altLang="en-US" sz="1350">
                  <a:solidFill>
                    <a:prstClr val="black"/>
                  </a:solidFill>
                  <a:latin typeface="微软雅黑" panose="020B0503020204020204" pitchFamily="34" charset="-122"/>
                  <a:ea typeface="微软雅黑" panose="020B0503020204020204" pitchFamily="34" charset="-122"/>
                </a:endParaRPr>
              </a:p>
            </p:txBody>
          </p:sp>
        </p:grpSp>
      </p:grpSp>
      <p:pic>
        <p:nvPicPr>
          <p:cNvPr id="3" name="图片 2"/>
          <p:cNvPicPr>
            <a:picLocks noChangeAspect="1"/>
          </p:cNvPicPr>
          <p:nvPr/>
        </p:nvPicPr>
        <p:blipFill>
          <a:blip r:embed="rId3"/>
          <a:stretch>
            <a:fillRect/>
          </a:stretch>
        </p:blipFill>
        <p:spPr>
          <a:xfrm>
            <a:off x="0" y="851743"/>
            <a:ext cx="9144000" cy="754445"/>
          </a:xfrm>
          <a:prstGeom prst="rect">
            <a:avLst/>
          </a:prstGeom>
        </p:spPr>
      </p:pic>
      <p:sp>
        <p:nvSpPr>
          <p:cNvPr id="8" name="文本框 7">
            <a:extLst>
              <a:ext uri="{FF2B5EF4-FFF2-40B4-BE49-F238E27FC236}">
                <a16:creationId xmlns:a16="http://schemas.microsoft.com/office/drawing/2014/main" id="{06E531FC-B52C-4BB5-B379-E8B6FDB5DFA7}"/>
              </a:ext>
            </a:extLst>
          </p:cNvPr>
          <p:cNvSpPr txBox="1"/>
          <p:nvPr/>
        </p:nvSpPr>
        <p:spPr>
          <a:xfrm>
            <a:off x="3351151" y="2494771"/>
            <a:ext cx="2441694" cy="769441"/>
          </a:xfrm>
          <a:prstGeom prst="rect">
            <a:avLst/>
          </a:prstGeom>
          <a:noFill/>
        </p:spPr>
        <p:txBody>
          <a:bodyPr wrap="none"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提示工程</a:t>
            </a:r>
          </a:p>
        </p:txBody>
      </p:sp>
      <p:pic>
        <p:nvPicPr>
          <p:cNvPr id="9" name="图片 17">
            <a:extLst>
              <a:ext uri="{FF2B5EF4-FFF2-40B4-BE49-F238E27FC236}">
                <a16:creationId xmlns:a16="http://schemas.microsoft.com/office/drawing/2014/main" id="{4D9B7B69-685E-46B0-A2F6-C19CF2A07C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630" y="62631"/>
            <a:ext cx="958243" cy="9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56344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2"/>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7D1C7601-0185-43DB-89A9-17328A94030F}"/>
              </a:ext>
            </a:extLst>
          </p:cNvPr>
          <p:cNvSpPr txBox="1"/>
          <p:nvPr/>
        </p:nvSpPr>
        <p:spPr>
          <a:xfrm>
            <a:off x="95250" y="789764"/>
            <a:ext cx="115288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GPT-3</a:t>
            </a:r>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948C72E5-B905-44EB-A0FB-706B6B5440BF}"/>
              </a:ext>
            </a:extLst>
          </p:cNvPr>
          <p:cNvSpPr/>
          <p:nvPr/>
        </p:nvSpPr>
        <p:spPr>
          <a:xfrm>
            <a:off x="392115" y="1093497"/>
            <a:ext cx="8356600" cy="787523"/>
          </a:xfrm>
          <a:prstGeom prst="rect">
            <a:avLst/>
          </a:prstGeom>
        </p:spPr>
        <p:txBody>
          <a:bodyPr wrap="square">
            <a:spAutoFit/>
          </a:bodyPr>
          <a:lstStyle/>
          <a:p>
            <a:pPr>
              <a:lnSpc>
                <a:spcPct val="150000"/>
              </a:lnSpc>
            </a:pPr>
            <a:r>
              <a:rPr lang="en-US" altLang="zh-CN" sz="1600" dirty="0">
                <a:solidFill>
                  <a:srgbClr val="191B1F"/>
                </a:solidFill>
                <a:latin typeface="微软雅黑" panose="020B0503020204020204" pitchFamily="34" charset="-122"/>
                <a:ea typeface="微软雅黑" panose="020B0503020204020204" pitchFamily="34" charset="-122"/>
              </a:rPr>
              <a:t>2020</a:t>
            </a:r>
            <a:r>
              <a:rPr lang="zh-CN" altLang="en-US" sz="1600" dirty="0">
                <a:solidFill>
                  <a:srgbClr val="191B1F"/>
                </a:solidFill>
                <a:latin typeface="微软雅黑" panose="020B0503020204020204" pitchFamily="34" charset="-122"/>
                <a:ea typeface="微软雅黑" panose="020B0503020204020204" pitchFamily="34" charset="-122"/>
              </a:rPr>
              <a:t>年发布的</a:t>
            </a:r>
            <a:r>
              <a:rPr lang="en-US" altLang="zh-CN" sz="1600" dirty="0">
                <a:solidFill>
                  <a:srgbClr val="191B1F"/>
                </a:solidFill>
                <a:latin typeface="微软雅黑" panose="020B0503020204020204" pitchFamily="34" charset="-122"/>
                <a:ea typeface="微软雅黑" panose="020B0503020204020204" pitchFamily="34" charset="-122"/>
              </a:rPr>
              <a:t>GPT-3</a:t>
            </a:r>
            <a:r>
              <a:rPr lang="zh-CN" altLang="en-US" sz="1600" dirty="0">
                <a:solidFill>
                  <a:srgbClr val="191B1F"/>
                </a:solidFill>
                <a:latin typeface="微软雅黑" panose="020B0503020204020204" pitchFamily="34" charset="-122"/>
                <a:ea typeface="微软雅黑" panose="020B0503020204020204" pitchFamily="34" charset="-122"/>
              </a:rPr>
              <a:t>实现了参数量的量级跃升，达到</a:t>
            </a:r>
            <a:r>
              <a:rPr lang="en-US" altLang="zh-CN" sz="1600" dirty="0">
                <a:solidFill>
                  <a:srgbClr val="191B1F"/>
                </a:solidFill>
                <a:latin typeface="微软雅黑" panose="020B0503020204020204" pitchFamily="34" charset="-122"/>
                <a:ea typeface="微软雅黑" panose="020B0503020204020204" pitchFamily="34" charset="-122"/>
              </a:rPr>
              <a:t>1750</a:t>
            </a:r>
            <a:r>
              <a:rPr lang="zh-CN" altLang="en-US" sz="1600" dirty="0">
                <a:solidFill>
                  <a:srgbClr val="191B1F"/>
                </a:solidFill>
                <a:latin typeface="微软雅黑" panose="020B0503020204020204" pitchFamily="34" charset="-122"/>
                <a:ea typeface="微软雅黑" panose="020B0503020204020204" pitchFamily="34" charset="-122"/>
              </a:rPr>
              <a:t>亿参数训练数据量大幅增加至</a:t>
            </a:r>
            <a:r>
              <a:rPr lang="en-US" altLang="zh-CN" sz="1600" dirty="0">
                <a:solidFill>
                  <a:srgbClr val="191B1F"/>
                </a:solidFill>
                <a:latin typeface="微软雅黑" panose="020B0503020204020204" pitchFamily="34" charset="-122"/>
                <a:ea typeface="微软雅黑" panose="020B0503020204020204" pitchFamily="34" charset="-122"/>
              </a:rPr>
              <a:t>45TB</a:t>
            </a:r>
            <a:r>
              <a:rPr lang="zh-CN" altLang="en-US" sz="1600" dirty="0">
                <a:solidFill>
                  <a:srgbClr val="191B1F"/>
                </a:solidFill>
                <a:latin typeface="微软雅黑" panose="020B0503020204020204" pitchFamily="34" charset="-122"/>
                <a:ea typeface="微软雅黑" panose="020B0503020204020204" pitchFamily="34" charset="-122"/>
              </a:rPr>
              <a:t>，数据来源包括</a:t>
            </a:r>
            <a:r>
              <a:rPr lang="en-US" altLang="zh-CN" sz="1600" dirty="0">
                <a:solidFill>
                  <a:srgbClr val="191B1F"/>
                </a:solidFill>
                <a:latin typeface="微软雅黑" panose="020B0503020204020204" pitchFamily="34" charset="-122"/>
                <a:ea typeface="微软雅黑" panose="020B0503020204020204" pitchFamily="34" charset="-122"/>
              </a:rPr>
              <a:t>Common Crawl</a:t>
            </a:r>
            <a:r>
              <a:rPr lang="zh-CN" altLang="en-US" sz="1600" dirty="0">
                <a:solidFill>
                  <a:srgbClr val="191B1F"/>
                </a:solidFill>
                <a:latin typeface="微软雅黑" panose="020B0503020204020204" pitchFamily="34" charset="-122"/>
                <a:ea typeface="微软雅黑" panose="020B0503020204020204" pitchFamily="34" charset="-122"/>
              </a:rPr>
              <a:t>、</a:t>
            </a:r>
            <a:r>
              <a:rPr lang="en-US" altLang="zh-CN" sz="1600" dirty="0" err="1">
                <a:solidFill>
                  <a:srgbClr val="191B1F"/>
                </a:solidFill>
                <a:latin typeface="微软雅黑" panose="020B0503020204020204" pitchFamily="34" charset="-122"/>
                <a:ea typeface="微软雅黑" panose="020B0503020204020204" pitchFamily="34" charset="-122"/>
              </a:rPr>
              <a:t>WebText</a:t>
            </a:r>
            <a:r>
              <a:rPr lang="zh-CN" altLang="en-US" sz="1600" dirty="0">
                <a:solidFill>
                  <a:srgbClr val="191B1F"/>
                </a:solidFill>
                <a:latin typeface="微软雅黑" panose="020B0503020204020204" pitchFamily="34" charset="-122"/>
                <a:ea typeface="微软雅黑" panose="020B0503020204020204" pitchFamily="34" charset="-122"/>
              </a:rPr>
              <a:t>、</a:t>
            </a:r>
            <a:r>
              <a:rPr lang="en-US" altLang="zh-CN" sz="1600" dirty="0">
                <a:solidFill>
                  <a:srgbClr val="191B1F"/>
                </a:solidFill>
                <a:latin typeface="微软雅黑" panose="020B0503020204020204" pitchFamily="34" charset="-122"/>
                <a:ea typeface="微软雅黑" panose="020B0503020204020204" pitchFamily="34" charset="-122"/>
              </a:rPr>
              <a:t>Wikipedia</a:t>
            </a:r>
            <a:r>
              <a:rPr lang="zh-CN" altLang="en-US" sz="1600" dirty="0">
                <a:solidFill>
                  <a:srgbClr val="191B1F"/>
                </a:solidFill>
                <a:latin typeface="微软雅黑" panose="020B0503020204020204" pitchFamily="34" charset="-122"/>
                <a:ea typeface="微软雅黑" panose="020B0503020204020204" pitchFamily="34" charset="-122"/>
              </a:rPr>
              <a:t>等。</a:t>
            </a:r>
            <a:endParaRPr lang="zh-CN" altLang="en-US" sz="16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EFA79D1-D29F-4823-A56C-DB85582B9A12}"/>
              </a:ext>
            </a:extLst>
          </p:cNvPr>
          <p:cNvSpPr/>
          <p:nvPr/>
        </p:nvSpPr>
        <p:spPr>
          <a:xfrm>
            <a:off x="474664" y="1881020"/>
            <a:ext cx="7653335" cy="152618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实证了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规模法则</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，证明参数增加直接带来能力提升；</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展示了惊人的</a:t>
            </a:r>
            <a:r>
              <a:rPr lang="zh-CN" altLang="en-US" sz="1600" b="1" dirty="0">
                <a:solidFill>
                  <a:srgbClr val="C00000"/>
                </a:solidFill>
                <a:latin typeface="微软雅黑" panose="020B0503020204020204" pitchFamily="34" charset="-122"/>
                <a:ea typeface="微软雅黑" panose="020B0503020204020204" pitchFamily="34" charset="-122"/>
              </a:rPr>
              <a:t>小样本学习（</a:t>
            </a:r>
            <a:r>
              <a:rPr lang="en-US" altLang="zh-CN" sz="1600" b="1" dirty="0">
                <a:solidFill>
                  <a:srgbClr val="C00000"/>
                </a:solidFill>
                <a:latin typeface="微软雅黑" panose="020B0503020204020204" pitchFamily="34" charset="-122"/>
                <a:ea typeface="微软雅黑" panose="020B0503020204020204" pitchFamily="34" charset="-122"/>
              </a:rPr>
              <a:t>Few-Shot Learning</a:t>
            </a:r>
            <a:r>
              <a:rPr lang="zh-CN" altLang="en-US" sz="1600" b="1" dirty="0">
                <a:solidFill>
                  <a:srgbClr val="C00000"/>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能力；</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引入稀疏注意力机制（</a:t>
            </a:r>
            <a:r>
              <a:rPr lang="en-US" altLang="zh-CN" sz="1600" dirty="0">
                <a:latin typeface="微软雅黑" panose="020B0503020204020204" pitchFamily="34" charset="-122"/>
                <a:ea typeface="微软雅黑" panose="020B0503020204020204" pitchFamily="34" charset="-122"/>
              </a:rPr>
              <a:t>Sparse Transformer</a:t>
            </a:r>
            <a:r>
              <a:rPr lang="zh-CN" altLang="en-US" sz="1600" dirty="0">
                <a:latin typeface="微软雅黑" panose="020B0503020204020204" pitchFamily="34" charset="-122"/>
                <a:ea typeface="微软雅黑" panose="020B0503020204020204" pitchFamily="34" charset="-122"/>
              </a:rPr>
              <a:t>）处理长序列；</a:t>
            </a: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开始采用指令微调和基于人类反馈的强化学习（</a:t>
            </a:r>
            <a:r>
              <a:rPr lang="en-US" altLang="zh-CN" sz="1600" dirty="0">
                <a:latin typeface="微软雅黑" panose="020B0503020204020204" pitchFamily="34" charset="-122"/>
                <a:ea typeface="微软雅黑" panose="020B0503020204020204" pitchFamily="34" charset="-122"/>
              </a:rPr>
              <a:t>RLHF</a:t>
            </a:r>
            <a:r>
              <a:rPr lang="zh-CN" altLang="en-US" sz="1600" dirty="0">
                <a:latin typeface="微软雅黑" panose="020B0503020204020204" pitchFamily="34" charset="-122"/>
                <a:ea typeface="微软雅黑" panose="020B0503020204020204" pitchFamily="34" charset="-122"/>
              </a:rPr>
              <a:t>）技术；</a:t>
            </a:r>
          </a:p>
        </p:txBody>
      </p:sp>
      <p:pic>
        <p:nvPicPr>
          <p:cNvPr id="8" name="图片 7">
            <a:extLst>
              <a:ext uri="{FF2B5EF4-FFF2-40B4-BE49-F238E27FC236}">
                <a16:creationId xmlns:a16="http://schemas.microsoft.com/office/drawing/2014/main" id="{C15ABCD9-2D85-4607-B00D-D8B7666AD3A0}"/>
              </a:ext>
            </a:extLst>
          </p:cNvPr>
          <p:cNvPicPr>
            <a:picLocks noChangeAspect="1"/>
          </p:cNvPicPr>
          <p:nvPr/>
        </p:nvPicPr>
        <p:blipFill>
          <a:blip r:embed="rId3"/>
          <a:stretch>
            <a:fillRect/>
          </a:stretch>
        </p:blipFill>
        <p:spPr>
          <a:xfrm>
            <a:off x="1428749" y="3502123"/>
            <a:ext cx="6699250" cy="2988018"/>
          </a:xfrm>
          <a:prstGeom prst="rect">
            <a:avLst/>
          </a:prstGeom>
        </p:spPr>
      </p:pic>
    </p:spTree>
    <p:extLst>
      <p:ext uri="{BB962C8B-B14F-4D97-AF65-F5344CB8AC3E}">
        <p14:creationId xmlns:p14="http://schemas.microsoft.com/office/powerpoint/2010/main" val="11301280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13DA-20CE-8DCA-E930-EB5197A80FA1}"/>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AC1D8D01-7E78-3198-06D1-79C5FED61AE5}"/>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52A8D78E-0251-2388-C565-A0ED7DA6DE4D}"/>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601AAFE0-5F39-AF80-4381-F1221F211AB6}"/>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5" name="图片 4">
            <a:extLst>
              <a:ext uri="{FF2B5EF4-FFF2-40B4-BE49-F238E27FC236}">
                <a16:creationId xmlns:a16="http://schemas.microsoft.com/office/drawing/2014/main" id="{6365EF30-ADBD-4B0D-8468-4203A6FD40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374" y="1860507"/>
            <a:ext cx="1112109" cy="1112109"/>
          </a:xfrm>
          <a:prstGeom prst="rect">
            <a:avLst/>
          </a:prstGeom>
        </p:spPr>
      </p:pic>
      <p:sp>
        <p:nvSpPr>
          <p:cNvPr id="6" name="箭头: 右 5">
            <a:extLst>
              <a:ext uri="{FF2B5EF4-FFF2-40B4-BE49-F238E27FC236}">
                <a16:creationId xmlns:a16="http://schemas.microsoft.com/office/drawing/2014/main" id="{346FF0DF-2BCD-49AF-A800-8AF1CBD0E3D2}"/>
              </a:ext>
            </a:extLst>
          </p:cNvPr>
          <p:cNvSpPr/>
          <p:nvPr/>
        </p:nvSpPr>
        <p:spPr>
          <a:xfrm>
            <a:off x="1612992" y="2252274"/>
            <a:ext cx="315097" cy="240956"/>
          </a:xfrm>
          <a:prstGeom prst="rightArrow">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E65335AB-F089-47B2-93C3-96A4E5D5EB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18603" y="1831565"/>
            <a:ext cx="545757" cy="545757"/>
          </a:xfrm>
          <a:prstGeom prst="rect">
            <a:avLst/>
          </a:prstGeom>
        </p:spPr>
      </p:pic>
      <p:pic>
        <p:nvPicPr>
          <p:cNvPr id="8" name="图片 7">
            <a:extLst>
              <a:ext uri="{FF2B5EF4-FFF2-40B4-BE49-F238E27FC236}">
                <a16:creationId xmlns:a16="http://schemas.microsoft.com/office/drawing/2014/main" id="{F9C9A08D-2E36-42A7-9DC6-40B26D6BBF89}"/>
              </a:ext>
            </a:extLst>
          </p:cNvPr>
          <p:cNvPicPr>
            <a:picLocks noChangeAspect="1"/>
          </p:cNvPicPr>
          <p:nvPr/>
        </p:nvPicPr>
        <p:blipFill rotWithShape="1">
          <a:blip r:embed="rId5">
            <a:extLst>
              <a:ext uri="{28A0092B-C50C-407E-A947-70E740481C1C}">
                <a14:useLocalDpi xmlns:a14="http://schemas.microsoft.com/office/drawing/2010/main" val="0"/>
              </a:ext>
            </a:extLst>
          </a:blip>
          <a:srcRect l="4302" t="38090" r="5484" b="36189"/>
          <a:stretch>
            <a:fillRect/>
          </a:stretch>
        </p:blipFill>
        <p:spPr>
          <a:xfrm>
            <a:off x="3092988" y="1823778"/>
            <a:ext cx="2036982" cy="580769"/>
          </a:xfrm>
          <a:prstGeom prst="rect">
            <a:avLst/>
          </a:prstGeom>
        </p:spPr>
      </p:pic>
      <p:pic>
        <p:nvPicPr>
          <p:cNvPr id="9" name="图片 8">
            <a:extLst>
              <a:ext uri="{FF2B5EF4-FFF2-40B4-BE49-F238E27FC236}">
                <a16:creationId xmlns:a16="http://schemas.microsoft.com/office/drawing/2014/main" id="{36602446-E4F2-4525-8168-66DE6A3ACA2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4971"/>
          <a:stretch>
            <a:fillRect/>
          </a:stretch>
        </p:blipFill>
        <p:spPr>
          <a:xfrm>
            <a:off x="2365057" y="2425269"/>
            <a:ext cx="1174497" cy="457200"/>
          </a:xfrm>
          <a:prstGeom prst="rect">
            <a:avLst/>
          </a:prstGeom>
        </p:spPr>
      </p:pic>
      <p:pic>
        <p:nvPicPr>
          <p:cNvPr id="10" name="图片 9">
            <a:extLst>
              <a:ext uri="{FF2B5EF4-FFF2-40B4-BE49-F238E27FC236}">
                <a16:creationId xmlns:a16="http://schemas.microsoft.com/office/drawing/2014/main" id="{03C8F799-2A19-41F4-A8B5-48224639447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10963"/>
          <a:stretch>
            <a:fillRect/>
          </a:stretch>
        </p:blipFill>
        <p:spPr>
          <a:xfrm>
            <a:off x="3688376" y="2404547"/>
            <a:ext cx="1352834" cy="457199"/>
          </a:xfrm>
          <a:prstGeom prst="rect">
            <a:avLst/>
          </a:prstGeom>
        </p:spPr>
      </p:pic>
      <p:sp>
        <p:nvSpPr>
          <p:cNvPr id="11" name="矩形: 圆角 10">
            <a:extLst>
              <a:ext uri="{FF2B5EF4-FFF2-40B4-BE49-F238E27FC236}">
                <a16:creationId xmlns:a16="http://schemas.microsoft.com/office/drawing/2014/main" id="{0D284A7D-D300-4E5E-95B4-42E8F311A32C}"/>
              </a:ext>
            </a:extLst>
          </p:cNvPr>
          <p:cNvSpPr/>
          <p:nvPr/>
        </p:nvSpPr>
        <p:spPr>
          <a:xfrm>
            <a:off x="2204420" y="1770360"/>
            <a:ext cx="3101546" cy="1204785"/>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2" name="文本框 41">
            <a:extLst>
              <a:ext uri="{FF2B5EF4-FFF2-40B4-BE49-F238E27FC236}">
                <a16:creationId xmlns:a16="http://schemas.microsoft.com/office/drawing/2014/main" id="{7C5596F8-D750-468F-84DB-44722DEC8745}"/>
              </a:ext>
            </a:extLst>
          </p:cNvPr>
          <p:cNvSpPr txBox="1"/>
          <p:nvPr/>
        </p:nvSpPr>
        <p:spPr>
          <a:xfrm>
            <a:off x="3351538" y="1495279"/>
            <a:ext cx="1082348" cy="30777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latin typeface="微软雅黑" panose="020B0503020204020204" pitchFamily="34" charset="-122"/>
                <a:ea typeface="微软雅黑" panose="020B0503020204020204" pitchFamily="34" charset="-122"/>
              </a:rPr>
              <a:t>主流大模型</a:t>
            </a:r>
          </a:p>
        </p:txBody>
      </p:sp>
      <p:sp>
        <p:nvSpPr>
          <p:cNvPr id="13" name="箭头: 右 12">
            <a:extLst>
              <a:ext uri="{FF2B5EF4-FFF2-40B4-BE49-F238E27FC236}">
                <a16:creationId xmlns:a16="http://schemas.microsoft.com/office/drawing/2014/main" id="{2E2DFE45-B2AC-4B77-A312-D0F07238C439}"/>
              </a:ext>
            </a:extLst>
          </p:cNvPr>
          <p:cNvSpPr/>
          <p:nvPr/>
        </p:nvSpPr>
        <p:spPr>
          <a:xfrm>
            <a:off x="5573163" y="2253287"/>
            <a:ext cx="315097" cy="240956"/>
          </a:xfrm>
          <a:prstGeom prst="rightArrow">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43">
            <a:extLst>
              <a:ext uri="{FF2B5EF4-FFF2-40B4-BE49-F238E27FC236}">
                <a16:creationId xmlns:a16="http://schemas.microsoft.com/office/drawing/2014/main" id="{83DB229E-530D-47D7-A605-3971642BEB5E}"/>
              </a:ext>
            </a:extLst>
          </p:cNvPr>
          <p:cNvSpPr txBox="1"/>
          <p:nvPr/>
        </p:nvSpPr>
        <p:spPr>
          <a:xfrm>
            <a:off x="-92980" y="1480735"/>
            <a:ext cx="2049857" cy="30777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latin typeface="微软雅黑" panose="020B0503020204020204" pitchFamily="34" charset="-122"/>
                <a:ea typeface="微软雅黑" panose="020B0503020204020204" pitchFamily="34" charset="-122"/>
              </a:rPr>
              <a:t>复杂文档输入</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多轮对话</a:t>
            </a:r>
          </a:p>
        </p:txBody>
      </p:sp>
      <p:pic>
        <p:nvPicPr>
          <p:cNvPr id="15" name="图片 14">
            <a:extLst>
              <a:ext uri="{FF2B5EF4-FFF2-40B4-BE49-F238E27FC236}">
                <a16:creationId xmlns:a16="http://schemas.microsoft.com/office/drawing/2014/main" id="{436767A1-B75D-4C79-B9CB-8D6F499FDCB9}"/>
              </a:ext>
            </a:extLst>
          </p:cNvPr>
          <p:cNvPicPr>
            <a:picLocks noChangeAspect="1"/>
          </p:cNvPicPr>
          <p:nvPr/>
        </p:nvPicPr>
        <p:blipFill>
          <a:blip r:embed="rId8"/>
          <a:stretch>
            <a:fillRect/>
          </a:stretch>
        </p:blipFill>
        <p:spPr>
          <a:xfrm>
            <a:off x="6112533" y="1505088"/>
            <a:ext cx="681102" cy="530543"/>
          </a:xfrm>
          <a:prstGeom prst="rect">
            <a:avLst/>
          </a:prstGeom>
        </p:spPr>
      </p:pic>
      <p:pic>
        <p:nvPicPr>
          <p:cNvPr id="16" name="图片 15">
            <a:extLst>
              <a:ext uri="{FF2B5EF4-FFF2-40B4-BE49-F238E27FC236}">
                <a16:creationId xmlns:a16="http://schemas.microsoft.com/office/drawing/2014/main" id="{5DD4042A-83F1-4E6F-B3CF-DD1ED8705F82}"/>
              </a:ext>
            </a:extLst>
          </p:cNvPr>
          <p:cNvPicPr>
            <a:picLocks noChangeAspect="1"/>
          </p:cNvPicPr>
          <p:nvPr/>
        </p:nvPicPr>
        <p:blipFill>
          <a:blip r:embed="rId9"/>
          <a:stretch>
            <a:fillRect/>
          </a:stretch>
        </p:blipFill>
        <p:spPr>
          <a:xfrm>
            <a:off x="6194534" y="2227959"/>
            <a:ext cx="530542" cy="530542"/>
          </a:xfrm>
          <a:prstGeom prst="rect">
            <a:avLst/>
          </a:prstGeom>
        </p:spPr>
      </p:pic>
      <p:sp>
        <p:nvSpPr>
          <p:cNvPr id="17" name="文本框 46">
            <a:extLst>
              <a:ext uri="{FF2B5EF4-FFF2-40B4-BE49-F238E27FC236}">
                <a16:creationId xmlns:a16="http://schemas.microsoft.com/office/drawing/2014/main" id="{4627D633-F414-4C46-863B-E46881AAC714}"/>
              </a:ext>
            </a:extLst>
          </p:cNvPr>
          <p:cNvSpPr txBox="1"/>
          <p:nvPr/>
        </p:nvSpPr>
        <p:spPr>
          <a:xfrm>
            <a:off x="6808617" y="1618390"/>
            <a:ext cx="251863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大模型回答与问题不符</a:t>
            </a:r>
          </a:p>
        </p:txBody>
      </p:sp>
      <p:sp>
        <p:nvSpPr>
          <p:cNvPr id="18" name="文本框 47">
            <a:extLst>
              <a:ext uri="{FF2B5EF4-FFF2-40B4-BE49-F238E27FC236}">
                <a16:creationId xmlns:a16="http://schemas.microsoft.com/office/drawing/2014/main" id="{FF781F4B-8B0B-4825-8515-B58EAF912800}"/>
              </a:ext>
            </a:extLst>
          </p:cNvPr>
          <p:cNvSpPr txBox="1"/>
          <p:nvPr/>
        </p:nvSpPr>
        <p:spPr>
          <a:xfrm>
            <a:off x="6808617" y="2308564"/>
            <a:ext cx="2492990"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大模型回答不尽如人意</a:t>
            </a:r>
          </a:p>
        </p:txBody>
      </p:sp>
      <p:sp>
        <p:nvSpPr>
          <p:cNvPr id="19" name="右大括号 18">
            <a:extLst>
              <a:ext uri="{FF2B5EF4-FFF2-40B4-BE49-F238E27FC236}">
                <a16:creationId xmlns:a16="http://schemas.microsoft.com/office/drawing/2014/main" id="{1127A172-42B9-4A5F-9262-F15DA23FB7CC}"/>
              </a:ext>
            </a:extLst>
          </p:cNvPr>
          <p:cNvSpPr/>
          <p:nvPr/>
        </p:nvSpPr>
        <p:spPr>
          <a:xfrm rot="5400000">
            <a:off x="4369997" y="-1151740"/>
            <a:ext cx="307778" cy="8941147"/>
          </a:xfrm>
          <a:prstGeom prst="rightBrac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20" name="文本框 49">
            <a:extLst>
              <a:ext uri="{FF2B5EF4-FFF2-40B4-BE49-F238E27FC236}">
                <a16:creationId xmlns:a16="http://schemas.microsoft.com/office/drawing/2014/main" id="{58D82745-B922-4448-ADD5-72C32A9BFD9B}"/>
              </a:ext>
            </a:extLst>
          </p:cNvPr>
          <p:cNvSpPr txBox="1"/>
          <p:nvPr/>
        </p:nvSpPr>
        <p:spPr>
          <a:xfrm>
            <a:off x="1956877" y="3565571"/>
            <a:ext cx="6503703"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随着输入的复杂化和对话轮数局的增加，以上问题愈发严重</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52BD5F84-C88C-4AAA-AD9C-6B65E1A8EDD2}"/>
              </a:ext>
            </a:extLst>
          </p:cNvPr>
          <p:cNvSpPr txBox="1"/>
          <p:nvPr/>
        </p:nvSpPr>
        <p:spPr>
          <a:xfrm>
            <a:off x="833416" y="4107703"/>
            <a:ext cx="7809354" cy="1477328"/>
          </a:xfrm>
          <a:prstGeom prst="rect">
            <a:avLst/>
          </a:prstGeom>
          <a:solidFill>
            <a:schemeClr val="bg1"/>
          </a:solidFill>
          <a:effectLst>
            <a:outerShdw blurRad="50800" dist="38100" dir="2700000" algn="tl" rotWithShape="0">
              <a:prstClr val="black">
                <a:alpha val="40000"/>
              </a:prstClr>
            </a:outerShdw>
          </a:effectLst>
        </p:spPr>
        <p:txBody>
          <a:bodyPr wrap="square" rtlCol="0">
            <a:spAutoFit/>
          </a:bodyPr>
          <a:lstStyle/>
          <a:p>
            <a:r>
              <a:rPr lang="zh-CN" altLang="en-US" b="1" dirty="0">
                <a:latin typeface="微软雅黑" panose="020B0503020204020204" pitchFamily="34" charset="-122"/>
                <a:ea typeface="微软雅黑" panose="020B0503020204020204" pitchFamily="34" charset="-122"/>
              </a:rPr>
              <a:t>一些派别的研究者认为，大模型本质上是对世界知识的压缩。其不是没有解决某些任务的能力，而是这些任务能力没有被精准地“激活”。</a:t>
            </a:r>
            <a:r>
              <a:rPr lang="zh-CN" altLang="en-US" dirty="0">
                <a:latin typeface="微软雅黑" panose="020B0503020204020204" pitchFamily="34" charset="-122"/>
                <a:ea typeface="微软雅黑" panose="020B0503020204020204" pitchFamily="34" charset="-122"/>
              </a:rPr>
              <a:t>大模型“幻觉”问题：由于大模型强大的预训练背景，其在处理复杂任务时由于无法很好地解析任务，倾向于依赖内部知识而不是上下文知识进行任务解决，从而生成与当前上下文或问题不符的回答。</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94470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75C1-5205-3784-7103-99891AAEFF83}"/>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8E49AD78-181E-056B-1923-9C58AC7B62AD}"/>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ED9D5502-6356-6572-A7AF-9B2FAA3C5555}"/>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2CABE7A8-B3F4-478A-F0DB-0DA7D4208076}"/>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 name="文本框 4">
            <a:extLst>
              <a:ext uri="{FF2B5EF4-FFF2-40B4-BE49-F238E27FC236}">
                <a16:creationId xmlns:a16="http://schemas.microsoft.com/office/drawing/2014/main" id="{6A983C4F-559F-44F2-8929-3678C1988B49}"/>
              </a:ext>
            </a:extLst>
          </p:cNvPr>
          <p:cNvSpPr txBox="1"/>
          <p:nvPr/>
        </p:nvSpPr>
        <p:spPr>
          <a:xfrm>
            <a:off x="-62077" y="736114"/>
            <a:ext cx="8533105" cy="338554"/>
          </a:xfrm>
          <a:prstGeom prst="rect">
            <a:avLst/>
          </a:prstGeom>
          <a:noFill/>
        </p:spPr>
        <p:txBody>
          <a:bodyPr wrap="none" rtlCol="0">
            <a:spAutoFit/>
          </a:bodyPr>
          <a:lstStyle/>
          <a:p>
            <a:pPr marL="342900"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大模型本质上是对世界知识的压缩，如何在海量知识压缩中激活特定知识实现特定任务？</a:t>
            </a:r>
          </a:p>
        </p:txBody>
      </p:sp>
      <p:pic>
        <p:nvPicPr>
          <p:cNvPr id="6" name="图片 5">
            <a:extLst>
              <a:ext uri="{FF2B5EF4-FFF2-40B4-BE49-F238E27FC236}">
                <a16:creationId xmlns:a16="http://schemas.microsoft.com/office/drawing/2014/main" id="{97349F79-9B44-4DA7-9AB0-23061B8961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2224" y="1254466"/>
            <a:ext cx="6705600" cy="2294273"/>
          </a:xfrm>
          <a:prstGeom prst="rect">
            <a:avLst/>
          </a:prstGeom>
        </p:spPr>
      </p:pic>
      <p:sp>
        <p:nvSpPr>
          <p:cNvPr id="7" name="矩形 6">
            <a:extLst>
              <a:ext uri="{FF2B5EF4-FFF2-40B4-BE49-F238E27FC236}">
                <a16:creationId xmlns:a16="http://schemas.microsoft.com/office/drawing/2014/main" id="{2A4E58A8-633F-44EE-8A46-013618083FDD}"/>
              </a:ext>
            </a:extLst>
          </p:cNvPr>
          <p:cNvSpPr/>
          <p:nvPr/>
        </p:nvSpPr>
        <p:spPr>
          <a:xfrm>
            <a:off x="1569131" y="1198123"/>
            <a:ext cx="2051824" cy="40011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58BDB24-8C97-4A36-8E3A-328F58CCED64}"/>
              </a:ext>
            </a:extLst>
          </p:cNvPr>
          <p:cNvSpPr/>
          <p:nvPr/>
        </p:nvSpPr>
        <p:spPr>
          <a:xfrm>
            <a:off x="2487248" y="1654575"/>
            <a:ext cx="1007327" cy="24077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4DD3BD7-CFED-4491-84B1-86B93D5609A2}"/>
              </a:ext>
            </a:extLst>
          </p:cNvPr>
          <p:cNvSpPr/>
          <p:nvPr/>
        </p:nvSpPr>
        <p:spPr>
          <a:xfrm>
            <a:off x="2091379" y="2160829"/>
            <a:ext cx="1007327" cy="24077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060F133-2B09-410B-A4D4-60C25A54CAA0}"/>
              </a:ext>
            </a:extLst>
          </p:cNvPr>
          <p:cNvSpPr/>
          <p:nvPr/>
        </p:nvSpPr>
        <p:spPr>
          <a:xfrm>
            <a:off x="1974291" y="2794828"/>
            <a:ext cx="1007327" cy="24077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42B9794-E724-4DE8-B7F3-39A92D99EE96}"/>
              </a:ext>
            </a:extLst>
          </p:cNvPr>
          <p:cNvSpPr/>
          <p:nvPr/>
        </p:nvSpPr>
        <p:spPr>
          <a:xfrm>
            <a:off x="75667" y="4132984"/>
            <a:ext cx="3039748" cy="1977483"/>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09AA597-D8A8-45B0-8A90-DF3A4E07168B}"/>
              </a:ext>
            </a:extLst>
          </p:cNvPr>
          <p:cNvSpPr/>
          <p:nvPr/>
        </p:nvSpPr>
        <p:spPr>
          <a:xfrm>
            <a:off x="3335918" y="4132984"/>
            <a:ext cx="3092168" cy="1977483"/>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矩形 12">
            <a:extLst>
              <a:ext uri="{FF2B5EF4-FFF2-40B4-BE49-F238E27FC236}">
                <a16:creationId xmlns:a16="http://schemas.microsoft.com/office/drawing/2014/main" id="{C545DE20-AC97-4769-BD18-D95AADCE690D}"/>
              </a:ext>
            </a:extLst>
          </p:cNvPr>
          <p:cNvSpPr/>
          <p:nvPr/>
        </p:nvSpPr>
        <p:spPr>
          <a:xfrm>
            <a:off x="6648589" y="4126854"/>
            <a:ext cx="2411008" cy="1977483"/>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 name="文本框 13">
            <a:extLst>
              <a:ext uri="{FF2B5EF4-FFF2-40B4-BE49-F238E27FC236}">
                <a16:creationId xmlns:a16="http://schemas.microsoft.com/office/drawing/2014/main" id="{661F5C64-3ABF-4727-BFF0-9B1F9EB04B50}"/>
              </a:ext>
            </a:extLst>
          </p:cNvPr>
          <p:cNvSpPr txBox="1"/>
          <p:nvPr/>
        </p:nvSpPr>
        <p:spPr>
          <a:xfrm>
            <a:off x="-23137" y="3750226"/>
            <a:ext cx="1210588"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上下文提示</a:t>
            </a:r>
          </a:p>
        </p:txBody>
      </p:sp>
      <p:sp>
        <p:nvSpPr>
          <p:cNvPr id="15" name="文本框 14">
            <a:extLst>
              <a:ext uri="{FF2B5EF4-FFF2-40B4-BE49-F238E27FC236}">
                <a16:creationId xmlns:a16="http://schemas.microsoft.com/office/drawing/2014/main" id="{13CD0E27-21CD-44BA-94B2-278E839DAA4E}"/>
              </a:ext>
            </a:extLst>
          </p:cNvPr>
          <p:cNvSpPr txBox="1"/>
          <p:nvPr/>
        </p:nvSpPr>
        <p:spPr>
          <a:xfrm>
            <a:off x="3226317" y="3788300"/>
            <a:ext cx="800219"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思维链</a:t>
            </a:r>
          </a:p>
        </p:txBody>
      </p:sp>
      <p:sp>
        <p:nvSpPr>
          <p:cNvPr id="16" name="文本框 15">
            <a:extLst>
              <a:ext uri="{FF2B5EF4-FFF2-40B4-BE49-F238E27FC236}">
                <a16:creationId xmlns:a16="http://schemas.microsoft.com/office/drawing/2014/main" id="{CA292C3A-A691-462C-95D4-CC8458A64F16}"/>
              </a:ext>
            </a:extLst>
          </p:cNvPr>
          <p:cNvSpPr txBox="1"/>
          <p:nvPr/>
        </p:nvSpPr>
        <p:spPr>
          <a:xfrm>
            <a:off x="6540089" y="3772950"/>
            <a:ext cx="100540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提示优化</a:t>
            </a:r>
          </a:p>
        </p:txBody>
      </p:sp>
      <p:pic>
        <p:nvPicPr>
          <p:cNvPr id="17" name="图片 16">
            <a:extLst>
              <a:ext uri="{FF2B5EF4-FFF2-40B4-BE49-F238E27FC236}">
                <a16:creationId xmlns:a16="http://schemas.microsoft.com/office/drawing/2014/main" id="{C483876B-8E44-4823-904F-5ACA54A932CB}"/>
              </a:ext>
            </a:extLst>
          </p:cNvPr>
          <p:cNvPicPr>
            <a:picLocks noChangeAspect="1"/>
          </p:cNvPicPr>
          <p:nvPr/>
        </p:nvPicPr>
        <p:blipFill rotWithShape="1">
          <a:blip r:embed="rId4">
            <a:extLst>
              <a:ext uri="{28A0092B-C50C-407E-A947-70E740481C1C}">
                <a14:useLocalDpi xmlns:a14="http://schemas.microsoft.com/office/drawing/2010/main" val="0"/>
              </a:ext>
            </a:extLst>
          </a:blip>
          <a:srcRect l="10864" t="17681" r="11183" b="58289"/>
          <a:stretch/>
        </p:blipFill>
        <p:spPr>
          <a:xfrm>
            <a:off x="75667" y="4232196"/>
            <a:ext cx="2929054" cy="710684"/>
          </a:xfrm>
          <a:prstGeom prst="rect">
            <a:avLst/>
          </a:prstGeom>
          <a:effectLst>
            <a:outerShdw blurRad="50800" dist="38100" dir="2700000" algn="tl" rotWithShape="0">
              <a:prstClr val="black">
                <a:alpha val="40000"/>
              </a:prstClr>
            </a:outerShdw>
          </a:effectLst>
        </p:spPr>
      </p:pic>
      <p:pic>
        <p:nvPicPr>
          <p:cNvPr id="18" name="图片 17">
            <a:extLst>
              <a:ext uri="{FF2B5EF4-FFF2-40B4-BE49-F238E27FC236}">
                <a16:creationId xmlns:a16="http://schemas.microsoft.com/office/drawing/2014/main" id="{F769E081-753B-48F3-9D2A-3CAE6B1EAAA5}"/>
              </a:ext>
            </a:extLst>
          </p:cNvPr>
          <p:cNvPicPr>
            <a:picLocks noChangeAspect="1"/>
          </p:cNvPicPr>
          <p:nvPr/>
        </p:nvPicPr>
        <p:blipFill rotWithShape="1">
          <a:blip r:embed="rId5">
            <a:extLst>
              <a:ext uri="{28A0092B-C50C-407E-A947-70E740481C1C}">
                <a14:useLocalDpi xmlns:a14="http://schemas.microsoft.com/office/drawing/2010/main" val="0"/>
              </a:ext>
            </a:extLst>
          </a:blip>
          <a:srcRect l="2828" t="9944" r="50278" b="36522"/>
          <a:stretch/>
        </p:blipFill>
        <p:spPr>
          <a:xfrm>
            <a:off x="84403" y="5025342"/>
            <a:ext cx="1850568" cy="1070427"/>
          </a:xfrm>
          <a:prstGeom prst="rect">
            <a:avLst/>
          </a:prstGeom>
          <a:effectLst>
            <a:outerShdw blurRad="50800" dist="38100" dir="2700000" algn="tl" rotWithShape="0">
              <a:prstClr val="black">
                <a:alpha val="40000"/>
              </a:prstClr>
            </a:outerShdw>
          </a:effectLst>
        </p:spPr>
      </p:pic>
      <p:pic>
        <p:nvPicPr>
          <p:cNvPr id="19" name="图片 18">
            <a:extLst>
              <a:ext uri="{FF2B5EF4-FFF2-40B4-BE49-F238E27FC236}">
                <a16:creationId xmlns:a16="http://schemas.microsoft.com/office/drawing/2014/main" id="{FB6E00A3-91A6-4968-B535-7BAAB03BB0DF}"/>
              </a:ext>
            </a:extLst>
          </p:cNvPr>
          <p:cNvPicPr>
            <a:picLocks noChangeAspect="1"/>
          </p:cNvPicPr>
          <p:nvPr/>
        </p:nvPicPr>
        <p:blipFill>
          <a:blip r:embed="rId6"/>
          <a:stretch>
            <a:fillRect/>
          </a:stretch>
        </p:blipFill>
        <p:spPr>
          <a:xfrm>
            <a:off x="3380146" y="4305742"/>
            <a:ext cx="2899187" cy="1523759"/>
          </a:xfrm>
          <a:prstGeom prst="rect">
            <a:avLst/>
          </a:prstGeom>
          <a:effectLst>
            <a:outerShdw blurRad="50800" dist="38100" dir="2700000" algn="tl" rotWithShape="0">
              <a:prstClr val="black">
                <a:alpha val="40000"/>
              </a:prstClr>
            </a:outerShdw>
          </a:effectLst>
        </p:spPr>
      </p:pic>
      <p:pic>
        <p:nvPicPr>
          <p:cNvPr id="20" name="图片 19">
            <a:extLst>
              <a:ext uri="{FF2B5EF4-FFF2-40B4-BE49-F238E27FC236}">
                <a16:creationId xmlns:a16="http://schemas.microsoft.com/office/drawing/2014/main" id="{35E5D3E5-B1F8-407F-89CD-98145F2E62A8}"/>
              </a:ext>
            </a:extLst>
          </p:cNvPr>
          <p:cNvPicPr>
            <a:picLocks noChangeAspect="1"/>
          </p:cNvPicPr>
          <p:nvPr/>
        </p:nvPicPr>
        <p:blipFill>
          <a:blip r:embed="rId7"/>
          <a:stretch>
            <a:fillRect/>
          </a:stretch>
        </p:blipFill>
        <p:spPr>
          <a:xfrm>
            <a:off x="6785413" y="4202610"/>
            <a:ext cx="1307827" cy="1321890"/>
          </a:xfrm>
          <a:prstGeom prst="rect">
            <a:avLst/>
          </a:prstGeom>
          <a:effectLst>
            <a:outerShdw blurRad="50800" dist="38100" dir="2700000" algn="tl" rotWithShape="0">
              <a:prstClr val="black">
                <a:alpha val="40000"/>
              </a:prstClr>
            </a:outerShdw>
          </a:effectLst>
        </p:spPr>
      </p:pic>
      <p:pic>
        <p:nvPicPr>
          <p:cNvPr id="21" name="图片 20">
            <a:extLst>
              <a:ext uri="{FF2B5EF4-FFF2-40B4-BE49-F238E27FC236}">
                <a16:creationId xmlns:a16="http://schemas.microsoft.com/office/drawing/2014/main" id="{5AA5BBBD-4E05-41FF-9DEE-55267BC51A54}"/>
              </a:ext>
            </a:extLst>
          </p:cNvPr>
          <p:cNvPicPr>
            <a:picLocks noChangeAspect="1"/>
          </p:cNvPicPr>
          <p:nvPr/>
        </p:nvPicPr>
        <p:blipFill>
          <a:blip r:embed="rId8"/>
          <a:stretch>
            <a:fillRect/>
          </a:stretch>
        </p:blipFill>
        <p:spPr>
          <a:xfrm>
            <a:off x="8142337" y="5194116"/>
            <a:ext cx="868163" cy="818835"/>
          </a:xfrm>
          <a:prstGeom prst="rect">
            <a:avLst/>
          </a:prstGeom>
          <a:effectLst>
            <a:outerShdw blurRad="50800" dist="38100" dir="2700000" algn="tl" rotWithShape="0">
              <a:prstClr val="black">
                <a:alpha val="40000"/>
              </a:prstClr>
            </a:outerShdw>
          </a:effectLst>
        </p:spPr>
      </p:pic>
      <p:sp>
        <p:nvSpPr>
          <p:cNvPr id="22" name="左大括号 21">
            <a:extLst>
              <a:ext uri="{FF2B5EF4-FFF2-40B4-BE49-F238E27FC236}">
                <a16:creationId xmlns:a16="http://schemas.microsoft.com/office/drawing/2014/main" id="{3FEEC2E5-EF10-49CB-9F88-7D5A8D20696E}"/>
              </a:ext>
            </a:extLst>
          </p:cNvPr>
          <p:cNvSpPr/>
          <p:nvPr/>
        </p:nvSpPr>
        <p:spPr>
          <a:xfrm>
            <a:off x="1145386" y="1198122"/>
            <a:ext cx="356838" cy="226863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302D830D-EC03-46D2-B6E6-4D2263E5BA00}"/>
              </a:ext>
            </a:extLst>
          </p:cNvPr>
          <p:cNvSpPr txBox="1"/>
          <p:nvPr/>
        </p:nvSpPr>
        <p:spPr>
          <a:xfrm>
            <a:off x="0" y="2147771"/>
            <a:ext cx="1346632" cy="369332"/>
          </a:xfrm>
          <a:prstGeom prst="rect">
            <a:avLst/>
          </a:prstGeom>
          <a:noFill/>
        </p:spPr>
        <p:txBody>
          <a:bodyPr wrap="square" rtlCol="0">
            <a:spAutoFit/>
          </a:bodyPr>
          <a:lstStyle/>
          <a:p>
            <a:r>
              <a:rPr lang="zh-CN" altLang="en-US" b="1" dirty="0"/>
              <a:t>提示激活</a:t>
            </a:r>
          </a:p>
        </p:txBody>
      </p:sp>
    </p:spTree>
    <p:extLst>
      <p:ext uri="{BB962C8B-B14F-4D97-AF65-F5344CB8AC3E}">
        <p14:creationId xmlns:p14="http://schemas.microsoft.com/office/powerpoint/2010/main" val="36718806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3B961-9B4C-EC0B-8D35-1F0DC6F7C53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444D1A92-F564-10AB-3DFB-1FA4369CC727}"/>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23F64790-66DA-9257-24B3-5398D4D1CCD3}"/>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43CD52B8-5A17-D855-1157-CB63C1F47D2C}"/>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pic>
        <p:nvPicPr>
          <p:cNvPr id="6" name="图片 5">
            <a:extLst>
              <a:ext uri="{FF2B5EF4-FFF2-40B4-BE49-F238E27FC236}">
                <a16:creationId xmlns:a16="http://schemas.microsoft.com/office/drawing/2014/main" id="{40D0FB65-C53E-4EF4-8356-ABA06898FC4E}"/>
              </a:ext>
            </a:extLst>
          </p:cNvPr>
          <p:cNvPicPr>
            <a:picLocks noChangeAspect="1"/>
          </p:cNvPicPr>
          <p:nvPr/>
        </p:nvPicPr>
        <p:blipFill>
          <a:blip r:embed="rId3"/>
          <a:srcRect l="5594" t="1307"/>
          <a:stretch>
            <a:fillRect/>
          </a:stretch>
        </p:blipFill>
        <p:spPr>
          <a:xfrm>
            <a:off x="6033654" y="1140934"/>
            <a:ext cx="3110346" cy="5242492"/>
          </a:xfrm>
          <a:prstGeom prst="rect">
            <a:avLst/>
          </a:prstGeom>
        </p:spPr>
      </p:pic>
      <p:sp>
        <p:nvSpPr>
          <p:cNvPr id="7" name="文本框 6">
            <a:extLst>
              <a:ext uri="{FF2B5EF4-FFF2-40B4-BE49-F238E27FC236}">
                <a16:creationId xmlns:a16="http://schemas.microsoft.com/office/drawing/2014/main" id="{753C280A-04D8-1D97-2FD3-CFC0D132526E}"/>
              </a:ext>
            </a:extLst>
          </p:cNvPr>
          <p:cNvSpPr txBox="1"/>
          <p:nvPr/>
        </p:nvSpPr>
        <p:spPr>
          <a:xfrm>
            <a:off x="83127" y="760022"/>
            <a:ext cx="6913418" cy="2127442"/>
          </a:xfrm>
          <a:prstGeom prst="rect">
            <a:avLst/>
          </a:prstGeom>
          <a:noFill/>
        </p:spPr>
        <p:txBody>
          <a:bodyPr wrap="square">
            <a:spAutoFit/>
          </a:bodyPr>
          <a:lstStyle/>
          <a:p>
            <a:pPr>
              <a:lnSpc>
                <a:spcPct val="150000"/>
              </a:lnSpc>
            </a:pPr>
            <a:r>
              <a:rPr lang="zh-CN" altLang="en-US" b="1" dirty="0">
                <a:latin typeface="Microsoft YaHei" panose="020B0503020204020204" pitchFamily="34" charset="-122"/>
                <a:ea typeface="Microsoft YaHei" panose="020B0503020204020204" pitchFamily="34" charset="-122"/>
              </a:rPr>
              <a:t>上下文学习</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I</a:t>
            </a:r>
            <a:r>
              <a:rPr lang="zh-CN" altLang="en-US" dirty="0">
                <a:latin typeface="Microsoft YaHei" panose="020B0503020204020204" pitchFamily="34" charset="-122"/>
                <a:ea typeface="Microsoft YaHei" panose="020B0503020204020204" pitchFamily="34" charset="-122"/>
              </a:rPr>
              <a:t>n Context Learning（ICL）的关键思想是从类比中学习首先，ICL 需要一些示例来形成一个演示上下文。这些示例通常是用自然语言模板编写的。然后 ICL 将查询的问题（input）和一个上下文演示（cases）连接在一起，形成带有提示的输入，并将其输入到语言模型中进行预测。</a:t>
            </a:r>
          </a:p>
        </p:txBody>
      </p:sp>
      <p:pic>
        <p:nvPicPr>
          <p:cNvPr id="11" name="图片 10">
            <a:extLst>
              <a:ext uri="{FF2B5EF4-FFF2-40B4-BE49-F238E27FC236}">
                <a16:creationId xmlns:a16="http://schemas.microsoft.com/office/drawing/2014/main" id="{6FC44230-6CF5-7CC2-B232-7DE54A37AD61}"/>
              </a:ext>
            </a:extLst>
          </p:cNvPr>
          <p:cNvPicPr>
            <a:picLocks noChangeAspect="1"/>
          </p:cNvPicPr>
          <p:nvPr/>
        </p:nvPicPr>
        <p:blipFill>
          <a:blip r:embed="rId4">
            <a:extLst>
              <a:ext uri="{28A0092B-C50C-407E-A947-70E740481C1C}">
                <a14:useLocalDpi xmlns:a14="http://schemas.microsoft.com/office/drawing/2010/main" val="0"/>
              </a:ext>
            </a:extLst>
          </a:blip>
          <a:srcRect l="5960" t="5830" r="5353" b="7400"/>
          <a:stretch>
            <a:fillRect/>
          </a:stretch>
        </p:blipFill>
        <p:spPr>
          <a:xfrm>
            <a:off x="310844" y="3379938"/>
            <a:ext cx="5495094" cy="2718040"/>
          </a:xfrm>
          <a:prstGeom prst="rect">
            <a:avLst/>
          </a:prstGeom>
        </p:spPr>
      </p:pic>
      <p:sp>
        <p:nvSpPr>
          <p:cNvPr id="12" name="圆角矩形 11">
            <a:extLst>
              <a:ext uri="{FF2B5EF4-FFF2-40B4-BE49-F238E27FC236}">
                <a16:creationId xmlns:a16="http://schemas.microsoft.com/office/drawing/2014/main" id="{37A5CF09-DA38-CD28-A3F3-B435A6E4E5F5}"/>
              </a:ext>
            </a:extLst>
          </p:cNvPr>
          <p:cNvSpPr/>
          <p:nvPr/>
        </p:nvSpPr>
        <p:spPr>
          <a:xfrm>
            <a:off x="159327" y="5036127"/>
            <a:ext cx="2078182" cy="1177637"/>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00C4960C-3F0A-A349-05C6-86C4CC0E56A7}"/>
              </a:ext>
            </a:extLst>
          </p:cNvPr>
          <p:cNvSpPr txBox="1"/>
          <p:nvPr/>
        </p:nvSpPr>
        <p:spPr>
          <a:xfrm>
            <a:off x="825813" y="6213764"/>
            <a:ext cx="723275" cy="307777"/>
          </a:xfrm>
          <a:prstGeom prst="rect">
            <a:avLst/>
          </a:prstGeom>
          <a:noFill/>
        </p:spPr>
        <p:txBody>
          <a:bodyPr wrap="none" rtlCol="0">
            <a:spAutoFit/>
          </a:bodyPr>
          <a:lstStyle/>
          <a:p>
            <a:r>
              <a:rPr kumimoji="1" lang="zh-CN" altLang="en-US" sz="1400" i="1" dirty="0">
                <a:latin typeface="Microsoft YaHei" panose="020B0503020204020204" pitchFamily="34" charset="-122"/>
                <a:ea typeface="Microsoft YaHei" panose="020B0503020204020204" pitchFamily="34" charset="-122"/>
              </a:rPr>
              <a:t>训练集</a:t>
            </a:r>
          </a:p>
        </p:txBody>
      </p:sp>
      <p:sp>
        <p:nvSpPr>
          <p:cNvPr id="14" name="圆角矩形 13">
            <a:extLst>
              <a:ext uri="{FF2B5EF4-FFF2-40B4-BE49-F238E27FC236}">
                <a16:creationId xmlns:a16="http://schemas.microsoft.com/office/drawing/2014/main" id="{A4129AC1-1402-D768-2F83-4F80A00DC4FF}"/>
              </a:ext>
            </a:extLst>
          </p:cNvPr>
          <p:cNvSpPr/>
          <p:nvPr/>
        </p:nvSpPr>
        <p:spPr>
          <a:xfrm>
            <a:off x="2154380" y="3379938"/>
            <a:ext cx="3651557" cy="1275189"/>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B64AEBC2-D943-1DB5-450D-DA0152EDD28D}"/>
              </a:ext>
            </a:extLst>
          </p:cNvPr>
          <p:cNvSpPr txBox="1"/>
          <p:nvPr/>
        </p:nvSpPr>
        <p:spPr>
          <a:xfrm>
            <a:off x="2237509" y="3130261"/>
            <a:ext cx="1441420" cy="307777"/>
          </a:xfrm>
          <a:prstGeom prst="rect">
            <a:avLst/>
          </a:prstGeom>
          <a:noFill/>
        </p:spPr>
        <p:txBody>
          <a:bodyPr wrap="none" rtlCol="0">
            <a:spAutoFit/>
          </a:bodyPr>
          <a:lstStyle/>
          <a:p>
            <a:r>
              <a:rPr kumimoji="1" lang="zh-CN" altLang="en-US" sz="1400" i="1" dirty="0">
                <a:latin typeface="Microsoft YaHei" panose="020B0503020204020204" pitchFamily="34" charset="-122"/>
                <a:ea typeface="Microsoft YaHei" panose="020B0503020204020204" pitchFamily="34" charset="-122"/>
              </a:rPr>
              <a:t>大模型提示输入</a:t>
            </a:r>
          </a:p>
        </p:txBody>
      </p:sp>
    </p:spTree>
    <p:extLst>
      <p:ext uri="{BB962C8B-B14F-4D97-AF65-F5344CB8AC3E}">
        <p14:creationId xmlns:p14="http://schemas.microsoft.com/office/powerpoint/2010/main" val="74329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3B961-9B4C-EC0B-8D35-1F0DC6F7C53D}"/>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444D1A92-F564-10AB-3DFB-1FA4369CC727}"/>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23F64790-66DA-9257-24B3-5398D4D1CCD3}"/>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43CD52B8-5A17-D855-1157-CB63C1F47D2C}"/>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1BEBEEB0-484B-2586-611E-67AD222A2EAC}"/>
              </a:ext>
            </a:extLst>
          </p:cNvPr>
          <p:cNvSpPr txBox="1"/>
          <p:nvPr/>
        </p:nvSpPr>
        <p:spPr>
          <a:xfrm>
            <a:off x="83126" y="760022"/>
            <a:ext cx="8797637" cy="458459"/>
          </a:xfrm>
          <a:prstGeom prst="rect">
            <a:avLst/>
          </a:prstGeom>
          <a:noFill/>
        </p:spPr>
        <p:txBody>
          <a:bodyPr wrap="square">
            <a:spAutoFit/>
          </a:bodyPr>
          <a:lstStyle/>
          <a:p>
            <a:pPr>
              <a:lnSpc>
                <a:spcPct val="150000"/>
              </a:lnSpc>
            </a:pPr>
            <a:r>
              <a:rPr lang="en-US" altLang="zh-CN" dirty="0">
                <a:latin typeface="Microsoft YaHei" panose="020B0503020204020204" pitchFamily="34" charset="-122"/>
                <a:ea typeface="Microsoft YaHei" panose="020B0503020204020204" pitchFamily="34" charset="-122"/>
              </a:rPr>
              <a:t>ICL</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prompting</a:t>
            </a:r>
            <a:r>
              <a:rPr lang="zh-CN" altLang="en-US" dirty="0">
                <a:latin typeface="Microsoft YaHei" panose="020B0503020204020204" pitchFamily="34" charset="-122"/>
                <a:ea typeface="Microsoft YaHei" panose="020B0503020204020204" pitchFamily="34" charset="-122"/>
              </a:rPr>
              <a:t>的关键点是什么？</a:t>
            </a:r>
            <a:r>
              <a:rPr lang="en-US" altLang="zh-CN" dirty="0">
                <a:latin typeface="Microsoft YaHei" panose="020B0503020204020204" pitchFamily="34" charset="-122"/>
                <a:ea typeface="Microsoft YaHei" panose="020B0503020204020204" pitchFamily="34" charset="-122"/>
                <a:sym typeface="Wingdings" pitchFamily="2" charset="2"/>
              </a:rPr>
              <a:t> </a:t>
            </a:r>
            <a:r>
              <a:rPr lang="zh-CN" altLang="en-US" dirty="0">
                <a:latin typeface="Microsoft YaHei" panose="020B0503020204020204" pitchFamily="34" charset="-122"/>
                <a:ea typeface="Microsoft YaHei" panose="020B0503020204020204" pitchFamily="34" charset="-122"/>
                <a:sym typeface="Wingdings" pitchFamily="2" charset="2"/>
              </a:rPr>
              <a:t>上下文样本，</a:t>
            </a:r>
            <a:r>
              <a:rPr lang="en-US" altLang="zh-CN" dirty="0">
                <a:latin typeface="Microsoft YaHei" panose="020B0503020204020204" pitchFamily="34" charset="-122"/>
                <a:ea typeface="Microsoft YaHei" panose="020B0503020204020204" pitchFamily="34" charset="-122"/>
                <a:sym typeface="Wingdings" pitchFamily="2" charset="2"/>
              </a:rPr>
              <a:t>Context Examples</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A66091E-53C8-3D27-8BE0-A9D67088EE8D}"/>
                  </a:ext>
                </a:extLst>
              </p:cNvPr>
              <p:cNvSpPr txBox="1"/>
              <p:nvPr/>
            </p:nvSpPr>
            <p:spPr>
              <a:xfrm>
                <a:off x="3018395" y="1332621"/>
                <a:ext cx="3209661" cy="276999"/>
              </a:xfrm>
              <a:prstGeom prst="rect">
                <a:avLst/>
              </a:prstGeom>
              <a:noFill/>
            </p:spPr>
            <p:txBody>
              <a:bodyPr wrap="none" lIns="0" tIns="0" rIns="0" bIns="0" rtlCol="0">
                <a:spAutoFit/>
              </a:bodyPr>
              <a:lstStyle/>
              <a:p>
                <a14:m>
                  <m:oMath xmlns:m="http://schemas.openxmlformats.org/officeDocument/2006/math">
                    <m:r>
                      <a:rPr kumimoji="1" lang="en-US" altLang="zh-CN" b="0" i="1" smtClean="0">
                        <a:latin typeface="Cambria Math" panose="02040503050406030204" pitchFamily="18" charset="0"/>
                      </a:rPr>
                      <m:t>𝑃</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𝑦</m:t>
                        </m:r>
                      </m:e>
                      <m:sub>
                        <m:r>
                          <a:rPr kumimoji="1" lang="en-US" altLang="zh-CN" b="0" i="1" smtClean="0">
                            <a:latin typeface="Cambria Math" panose="02040503050406030204" pitchFamily="18" charset="0"/>
                          </a:rPr>
                          <m:t>𝑡</m:t>
                        </m:r>
                      </m:sub>
                    </m:sSub>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&lt;</m:t>
                        </m:r>
                        <m:r>
                          <a:rPr kumimoji="1" lang="en-US" altLang="zh-CN" b="0" i="1" smtClean="0">
                            <a:latin typeface="Cambria Math" panose="02040503050406030204" pitchFamily="18" charset="0"/>
                          </a:rPr>
                          <m:t>𝑡</m:t>
                        </m:r>
                      </m:sub>
                    </m:sSub>
                    <m:r>
                      <a:rPr kumimoji="1" lang="en-US" altLang="zh-CN" b="0" i="1" smtClean="0">
                        <a:latin typeface="Cambria Math" panose="02040503050406030204" pitchFamily="18" charset="0"/>
                      </a:rPr>
                      <m:t>)</m:t>
                    </m:r>
                  </m:oMath>
                </a14:m>
                <a:r>
                  <a:rPr kumimoji="1" lang="zh-CN" altLang="en-US" dirty="0">
                    <a:latin typeface="Microsoft YaHei" panose="020B0503020204020204" pitchFamily="34" charset="-122"/>
                    <a:ea typeface="Microsoft YaHei" panose="020B0503020204020204" pitchFamily="34" charset="-122"/>
                  </a:rPr>
                  <a:t> 原有的语言建模目标</a:t>
                </a:r>
              </a:p>
            </p:txBody>
          </p:sp>
        </mc:Choice>
        <mc:Fallback xmlns="">
          <p:sp>
            <p:nvSpPr>
              <p:cNvPr id="3" name="文本框 2">
                <a:extLst>
                  <a:ext uri="{FF2B5EF4-FFF2-40B4-BE49-F238E27FC236}">
                    <a16:creationId xmlns:a16="http://schemas.microsoft.com/office/drawing/2014/main" id="{0A66091E-53C8-3D27-8BE0-A9D67088EE8D}"/>
                  </a:ext>
                </a:extLst>
              </p:cNvPr>
              <p:cNvSpPr txBox="1">
                <a:spLocks noRot="1" noChangeAspect="1" noMove="1" noResize="1" noEditPoints="1" noAdjustHandles="1" noChangeArrowheads="1" noChangeShapeType="1" noTextEdit="1"/>
              </p:cNvSpPr>
              <p:nvPr/>
            </p:nvSpPr>
            <p:spPr>
              <a:xfrm>
                <a:off x="3018395" y="1332621"/>
                <a:ext cx="3209661" cy="276999"/>
              </a:xfrm>
              <a:prstGeom prst="rect">
                <a:avLst/>
              </a:prstGeom>
              <a:blipFill>
                <a:blip r:embed="rId3"/>
                <a:stretch>
                  <a:fillRect l="-2362" t="-27273" r="-39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8928960-C597-CD25-C1F7-C2F49871DC40}"/>
                  </a:ext>
                </a:extLst>
              </p:cNvPr>
              <p:cNvSpPr txBox="1"/>
              <p:nvPr/>
            </p:nvSpPr>
            <p:spPr>
              <a:xfrm>
                <a:off x="2464212" y="1803675"/>
                <a:ext cx="4732962" cy="276999"/>
              </a:xfrm>
              <a:prstGeom prst="rect">
                <a:avLst/>
              </a:prstGeom>
              <a:noFill/>
            </p:spPr>
            <p:txBody>
              <a:bodyPr wrap="none" lIns="0" tIns="0" rIns="0" bIns="0" rtlCol="0">
                <a:spAutoFit/>
              </a:bodyPr>
              <a:lstStyle/>
              <a:p>
                <a14:m>
                  <m:oMath xmlns:m="http://schemas.openxmlformats.org/officeDocument/2006/math">
                    <m:r>
                      <a:rPr kumimoji="1" lang="en-US" altLang="zh-CN" b="0" i="1" smtClean="0">
                        <a:latin typeface="Cambria Math" panose="02040503050406030204" pitchFamily="18" charset="0"/>
                      </a:rPr>
                      <m:t>𝑃</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𝑦</m:t>
                        </m:r>
                      </m:e>
                      <m:sub>
                        <m:r>
                          <a:rPr kumimoji="1" lang="en-US" altLang="zh-CN" b="0" i="1" smtClean="0">
                            <a:latin typeface="Cambria Math" panose="02040503050406030204" pitchFamily="18" charset="0"/>
                          </a:rPr>
                          <m:t>𝑡</m:t>
                        </m:r>
                      </m:sub>
                    </m:sSub>
                    <m:r>
                      <a:rPr kumimoji="1" lang="en-US" altLang="zh-CN" b="0" i="1" smtClean="0">
                        <a:latin typeface="Cambria Math" panose="02040503050406030204" pitchFamily="18" charset="0"/>
                      </a:rPr>
                      <m:t>∣</m:t>
                    </m:r>
                    <m:r>
                      <a:rPr kumimoji="1" lang="en-US" altLang="zh-CN" b="0" i="1" smtClean="0">
                        <a:solidFill>
                          <a:srgbClr val="C00000"/>
                        </a:solidFill>
                        <a:latin typeface="Cambria Math" panose="02040503050406030204" pitchFamily="18" charset="0"/>
                      </a:rPr>
                      <m:t>𝐶</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&lt;</m:t>
                        </m:r>
                        <m:r>
                          <a:rPr kumimoji="1" lang="en-US" altLang="zh-CN" b="0" i="1" smtClean="0">
                            <a:latin typeface="Cambria Math" panose="02040503050406030204" pitchFamily="18" charset="0"/>
                          </a:rPr>
                          <m:t>𝑡</m:t>
                        </m:r>
                      </m:sub>
                    </m:sSub>
                    <m:r>
                      <a:rPr kumimoji="1" lang="en-US" altLang="zh-CN" b="0" i="1" smtClean="0">
                        <a:latin typeface="Cambria Math" panose="02040503050406030204" pitchFamily="18" charset="0"/>
                      </a:rPr>
                      <m:t>)</m:t>
                    </m:r>
                  </m:oMath>
                </a14:m>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ICL prompting </a:t>
                </a:r>
                <a:r>
                  <a:rPr kumimoji="1" lang="zh-CN" altLang="en-US" dirty="0">
                    <a:latin typeface="Microsoft YaHei" panose="020B0503020204020204" pitchFamily="34" charset="-122"/>
                    <a:ea typeface="Microsoft YaHei" panose="020B0503020204020204" pitchFamily="34" charset="-122"/>
                  </a:rPr>
                  <a:t>下语言建模目标</a:t>
                </a:r>
              </a:p>
            </p:txBody>
          </p:sp>
        </mc:Choice>
        <mc:Fallback xmlns="">
          <p:sp>
            <p:nvSpPr>
              <p:cNvPr id="4" name="文本框 3">
                <a:extLst>
                  <a:ext uri="{FF2B5EF4-FFF2-40B4-BE49-F238E27FC236}">
                    <a16:creationId xmlns:a16="http://schemas.microsoft.com/office/drawing/2014/main" id="{48928960-C597-CD25-C1F7-C2F49871DC40}"/>
                  </a:ext>
                </a:extLst>
              </p:cNvPr>
              <p:cNvSpPr txBox="1">
                <a:spLocks noRot="1" noChangeAspect="1" noMove="1" noResize="1" noEditPoints="1" noAdjustHandles="1" noChangeArrowheads="1" noChangeShapeType="1" noTextEdit="1"/>
              </p:cNvSpPr>
              <p:nvPr/>
            </p:nvSpPr>
            <p:spPr>
              <a:xfrm>
                <a:off x="2464212" y="1803675"/>
                <a:ext cx="4732962" cy="276999"/>
              </a:xfrm>
              <a:prstGeom prst="rect">
                <a:avLst/>
              </a:prstGeom>
              <a:blipFill>
                <a:blip r:embed="rId4"/>
                <a:stretch>
                  <a:fillRect l="-1604" t="-27273" r="-535" b="-50000"/>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025B37EC-6939-FC1E-75DC-575C1F7DA3C1}"/>
              </a:ext>
            </a:extLst>
          </p:cNvPr>
          <p:cNvPicPr>
            <a:picLocks noChangeAspect="1"/>
          </p:cNvPicPr>
          <p:nvPr/>
        </p:nvPicPr>
        <p:blipFill>
          <a:blip r:embed="rId5"/>
          <a:stretch>
            <a:fillRect/>
          </a:stretch>
        </p:blipFill>
        <p:spPr>
          <a:xfrm>
            <a:off x="606661" y="3061374"/>
            <a:ext cx="7750566" cy="3080353"/>
          </a:xfrm>
          <a:prstGeom prst="rect">
            <a:avLst/>
          </a:prstGeom>
          <a:effectLst>
            <a:outerShdw blurRad="50800" dist="38100" dir="2700000" algn="tl" rotWithShape="0">
              <a:prstClr val="black">
                <a:alpha val="40000"/>
              </a:prstClr>
            </a:outerShdw>
          </a:effectLst>
        </p:spPr>
      </p:pic>
      <p:sp>
        <p:nvSpPr>
          <p:cNvPr id="7" name="右大括号 6">
            <a:extLst>
              <a:ext uri="{FF2B5EF4-FFF2-40B4-BE49-F238E27FC236}">
                <a16:creationId xmlns:a16="http://schemas.microsoft.com/office/drawing/2014/main" id="{8F7CA5BC-B722-FA70-B75C-3AA37FBD9E4C}"/>
              </a:ext>
            </a:extLst>
          </p:cNvPr>
          <p:cNvSpPr/>
          <p:nvPr/>
        </p:nvSpPr>
        <p:spPr>
          <a:xfrm rot="16200000">
            <a:off x="3096815" y="434071"/>
            <a:ext cx="512618" cy="5028561"/>
          </a:xfrm>
          <a:prstGeom prst="rightBrace">
            <a:avLst>
              <a:gd name="adj1" fmla="val 52928"/>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95C6C28B-2B57-661E-8B2D-7654A1D67138}"/>
              </a:ext>
            </a:extLst>
          </p:cNvPr>
          <p:cNvSpPr txBox="1"/>
          <p:nvPr/>
        </p:nvSpPr>
        <p:spPr>
          <a:xfrm>
            <a:off x="838843" y="2376201"/>
            <a:ext cx="5493812" cy="369332"/>
          </a:xfrm>
          <a:prstGeom prst="rect">
            <a:avLst/>
          </a:prstGeom>
          <a:noFill/>
        </p:spPr>
        <p:txBody>
          <a:bodyPr wrap="none" rtlCol="0">
            <a:spAutoFit/>
          </a:bodyPr>
          <a:lstStyle/>
          <a:p>
            <a:r>
              <a:rPr kumimoji="1" lang="zh-CN" altLang="en-US" i="1" dirty="0"/>
              <a:t>如何从训练集中筛选出对生成最有效的上下文样本？</a:t>
            </a:r>
          </a:p>
        </p:txBody>
      </p:sp>
    </p:spTree>
    <p:extLst>
      <p:ext uri="{BB962C8B-B14F-4D97-AF65-F5344CB8AC3E}">
        <p14:creationId xmlns:p14="http://schemas.microsoft.com/office/powerpoint/2010/main" val="4797071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5CFC-04A5-E5BE-4170-A574D42953F3}"/>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8AC6BCC2-BC0C-E6FE-195F-1CABFD2C4CD6}"/>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5E6605E3-22A7-E65A-28C8-ABE7F1D3C57E}"/>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F91A6231-9B1D-E0FB-370A-F6F977F7E255}"/>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 name="文本框 1">
            <a:extLst>
              <a:ext uri="{FF2B5EF4-FFF2-40B4-BE49-F238E27FC236}">
                <a16:creationId xmlns:a16="http://schemas.microsoft.com/office/drawing/2014/main" id="{24F29E4A-FB35-D313-418F-63E54DB5C148}"/>
              </a:ext>
            </a:extLst>
          </p:cNvPr>
          <p:cNvSpPr txBox="1"/>
          <p:nvPr/>
        </p:nvSpPr>
        <p:spPr>
          <a:xfrm>
            <a:off x="83126" y="760022"/>
            <a:ext cx="8797637" cy="458459"/>
          </a:xfrm>
          <a:prstGeom prst="rect">
            <a:avLst/>
          </a:prstGeom>
          <a:noFill/>
        </p:spPr>
        <p:txBody>
          <a:bodyPr wrap="square">
            <a:spAutoFit/>
          </a:bodyPr>
          <a:lstStyle/>
          <a:p>
            <a:pPr>
              <a:lnSpc>
                <a:spcPct val="150000"/>
              </a:lnSpc>
            </a:pPr>
            <a:r>
              <a:rPr lang="en-US" altLang="zh-CN" dirty="0">
                <a:latin typeface="Microsoft YaHei" panose="020B0503020204020204" pitchFamily="34" charset="-122"/>
                <a:ea typeface="Microsoft YaHei" panose="020B0503020204020204" pitchFamily="34" charset="-122"/>
              </a:rPr>
              <a:t>ICL</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prompting</a:t>
            </a:r>
            <a:r>
              <a:rPr lang="zh-CN" altLang="en-US" dirty="0">
                <a:latin typeface="Microsoft YaHei" panose="020B0503020204020204" pitchFamily="34" charset="-122"/>
                <a:ea typeface="Microsoft YaHei" panose="020B0503020204020204" pitchFamily="34" charset="-122"/>
              </a:rPr>
              <a:t>的关键点是什么？</a:t>
            </a:r>
            <a:r>
              <a:rPr lang="en-US" altLang="zh-CN" dirty="0">
                <a:latin typeface="Microsoft YaHei" panose="020B0503020204020204" pitchFamily="34" charset="-122"/>
                <a:ea typeface="Microsoft YaHei" panose="020B0503020204020204" pitchFamily="34" charset="-122"/>
                <a:sym typeface="Wingdings" pitchFamily="2" charset="2"/>
              </a:rPr>
              <a:t> </a:t>
            </a:r>
            <a:r>
              <a:rPr lang="zh-CN" altLang="en-US" dirty="0">
                <a:latin typeface="Microsoft YaHei" panose="020B0503020204020204" pitchFamily="34" charset="-122"/>
                <a:ea typeface="Microsoft YaHei" panose="020B0503020204020204" pitchFamily="34" charset="-122"/>
                <a:sym typeface="Wingdings" pitchFamily="2" charset="2"/>
              </a:rPr>
              <a:t>上下文样本的形式：</a:t>
            </a:r>
            <a:r>
              <a:rPr lang="en-US" altLang="zh-CN" dirty="0">
                <a:latin typeface="Microsoft YaHei" panose="020B0503020204020204" pitchFamily="34" charset="-122"/>
                <a:ea typeface="Microsoft YaHei" panose="020B0503020204020204" pitchFamily="34" charset="-122"/>
                <a:sym typeface="Wingdings" pitchFamily="2" charset="2"/>
              </a:rPr>
              <a:t>Chain-of-Thought</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F2ABDE0-16E9-A937-45E2-8FCB890EFB66}"/>
                  </a:ext>
                </a:extLst>
              </p:cNvPr>
              <p:cNvSpPr txBox="1"/>
              <p:nvPr/>
            </p:nvSpPr>
            <p:spPr>
              <a:xfrm>
                <a:off x="3790567" y="1291149"/>
                <a:ext cx="13827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𝑃</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𝑦</m:t>
                          </m:r>
                        </m:e>
                        <m:sub>
                          <m:r>
                            <a:rPr kumimoji="1" lang="en-US" altLang="zh-CN" b="0" i="1" smtClean="0">
                              <a:latin typeface="Cambria Math" panose="02040503050406030204" pitchFamily="18" charset="0"/>
                            </a:rPr>
                            <m:t>𝑡</m:t>
                          </m:r>
                        </m:sub>
                      </m:sSub>
                      <m:r>
                        <a:rPr kumimoji="1" lang="en-US" altLang="zh-CN" b="0" i="1" smtClean="0">
                          <a:latin typeface="Cambria Math" panose="02040503050406030204" pitchFamily="18" charset="0"/>
                        </a:rPr>
                        <m:t>∣</m:t>
                      </m:r>
                      <m:r>
                        <a:rPr kumimoji="1" lang="en-US" altLang="zh-CN" b="0" i="1" smtClean="0">
                          <a:solidFill>
                            <a:srgbClr val="C00000"/>
                          </a:solidFill>
                          <a:latin typeface="Cambria Math" panose="02040503050406030204" pitchFamily="18" charset="0"/>
                        </a:rPr>
                        <m:t>𝐶</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&lt;</m:t>
                          </m:r>
                          <m:r>
                            <a:rPr kumimoji="1" lang="en-US" altLang="zh-CN" b="0" i="1" smtClean="0">
                              <a:latin typeface="Cambria Math" panose="02040503050406030204" pitchFamily="18" charset="0"/>
                            </a:rPr>
                            <m:t>𝑡</m:t>
                          </m:r>
                        </m:sub>
                      </m:sSub>
                      <m:r>
                        <a:rPr kumimoji="1" lang="en-US" altLang="zh-CN" b="0" i="1" smtClean="0">
                          <a:latin typeface="Cambria Math" panose="02040503050406030204" pitchFamily="18" charset="0"/>
                        </a:rPr>
                        <m:t>)</m:t>
                      </m:r>
                    </m:oMath>
                  </m:oMathPara>
                </a14:m>
                <a:endParaRPr kumimoji="1" lang="zh-CN" altLang="en-US" dirty="0">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7F2ABDE0-16E9-A937-45E2-8FCB890EFB66}"/>
                  </a:ext>
                </a:extLst>
              </p:cNvPr>
              <p:cNvSpPr txBox="1">
                <a:spLocks noRot="1" noChangeAspect="1" noMove="1" noResize="1" noEditPoints="1" noAdjustHandles="1" noChangeArrowheads="1" noChangeShapeType="1" noTextEdit="1"/>
              </p:cNvSpPr>
              <p:nvPr/>
            </p:nvSpPr>
            <p:spPr>
              <a:xfrm>
                <a:off x="3790567" y="1291149"/>
                <a:ext cx="1382751" cy="276999"/>
              </a:xfrm>
              <a:prstGeom prst="rect">
                <a:avLst/>
              </a:prstGeom>
              <a:blipFill>
                <a:blip r:embed="rId3"/>
                <a:stretch>
                  <a:fillRect l="-2727" r="-4545" b="-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58D518E-F8F9-F5AB-F4B8-8D803F9F3AE3}"/>
                  </a:ext>
                </a:extLst>
              </p:cNvPr>
              <p:cNvSpPr txBox="1"/>
              <p:nvPr/>
            </p:nvSpPr>
            <p:spPr>
              <a:xfrm>
                <a:off x="3650560" y="1744541"/>
                <a:ext cx="1662763" cy="2921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ea typeface="Microsoft YaHei" panose="020B0503020204020204" pitchFamily="34" charset="-122"/>
                        </a:rPr>
                        <m:t>𝐶</m:t>
                      </m:r>
                      <m:r>
                        <a:rPr kumimoji="1" lang="en-US" altLang="zh-CN" b="0" i="1" smtClean="0">
                          <a:latin typeface="Cambria Math" panose="02040503050406030204" pitchFamily="18" charset="0"/>
                          <a:ea typeface="Microsoft YaHei" panose="020B0503020204020204" pitchFamily="34" charset="-122"/>
                        </a:rPr>
                        <m:t>=</m:t>
                      </m:r>
                      <m:sSubSup>
                        <m:sSubSupPr>
                          <m:ctrlPr>
                            <a:rPr kumimoji="1" lang="en-US" altLang="zh-CN" b="0" i="1" smtClean="0">
                              <a:latin typeface="Cambria Math" panose="02040503050406030204" pitchFamily="18" charset="0"/>
                              <a:ea typeface="Microsoft YaHei" panose="020B0503020204020204" pitchFamily="34" charset="-122"/>
                            </a:rPr>
                          </m:ctrlPr>
                        </m:sSubSupPr>
                        <m:e>
                          <m:d>
                            <m:dPr>
                              <m:begChr m:val="{"/>
                              <m:endChr m:val="}"/>
                              <m:ctrlPr>
                                <a:rPr kumimoji="1" lang="en-US" altLang="zh-CN" b="0" i="1" smtClean="0">
                                  <a:latin typeface="Cambria Math" panose="02040503050406030204" pitchFamily="18" charset="0"/>
                                  <a:ea typeface="Microsoft YaHei" panose="020B0503020204020204" pitchFamily="34" charset="-122"/>
                                </a:rPr>
                              </m:ctrlPr>
                            </m:dPr>
                            <m:e>
                              <m:d>
                                <m:dPr>
                                  <m:ctrlPr>
                                    <a:rPr kumimoji="1" lang="en-US" altLang="zh-CN" b="0" i="1" smtClean="0">
                                      <a:latin typeface="Cambria Math" panose="02040503050406030204" pitchFamily="18" charset="0"/>
                                      <a:ea typeface="Microsoft YaHei" panose="020B0503020204020204" pitchFamily="34" charset="-122"/>
                                    </a:rPr>
                                  </m:ctrlPr>
                                </m:dPr>
                                <m:e>
                                  <m:sSub>
                                    <m:sSubPr>
                                      <m:ctrlPr>
                                        <a:rPr kumimoji="1" lang="en-US" altLang="zh-CN" b="0" i="1" smtClean="0">
                                          <a:latin typeface="Cambria Math" panose="02040503050406030204" pitchFamily="18" charset="0"/>
                                          <a:ea typeface="Microsoft YaHei" panose="020B0503020204020204" pitchFamily="34" charset="-122"/>
                                        </a:rPr>
                                      </m:ctrlPr>
                                    </m:sSubPr>
                                    <m:e>
                                      <m:acc>
                                        <m:accPr>
                                          <m:chr m:val="̂"/>
                                          <m:ctrlPr>
                                            <a:rPr kumimoji="1" lang="en-US" altLang="zh-CN" b="0" i="1" smtClean="0">
                                              <a:latin typeface="Cambria Math" panose="02040503050406030204" pitchFamily="18" charset="0"/>
                                              <a:ea typeface="Microsoft YaHei" panose="020B0503020204020204" pitchFamily="34" charset="-122"/>
                                            </a:rPr>
                                          </m:ctrlPr>
                                        </m:accPr>
                                        <m:e>
                                          <m:r>
                                            <a:rPr kumimoji="1" lang="en-US" altLang="zh-CN" b="0" i="1" smtClean="0">
                                              <a:latin typeface="Cambria Math" panose="02040503050406030204" pitchFamily="18" charset="0"/>
                                              <a:ea typeface="Microsoft YaHei" panose="020B0503020204020204" pitchFamily="34" charset="-122"/>
                                            </a:rPr>
                                            <m:t>𝑥</m:t>
                                          </m:r>
                                        </m:e>
                                      </m:acc>
                                    </m:e>
                                    <m:sub>
                                      <m:r>
                                        <a:rPr kumimoji="1" lang="en-US" altLang="zh-CN" b="0" i="1" smtClean="0">
                                          <a:latin typeface="Cambria Math" panose="02040503050406030204" pitchFamily="18" charset="0"/>
                                          <a:ea typeface="Microsoft YaHei" panose="020B0503020204020204" pitchFamily="34" charset="-122"/>
                                        </a:rPr>
                                        <m:t>𝑖</m:t>
                                      </m:r>
                                    </m:sub>
                                  </m:sSub>
                                  <m:r>
                                    <a:rPr kumimoji="1" lang="en-US" altLang="zh-CN" b="0" i="1" smtClean="0">
                                      <a:latin typeface="Cambria Math" panose="02040503050406030204" pitchFamily="18" charset="0"/>
                                      <a:ea typeface="Microsoft YaHei" panose="020B0503020204020204" pitchFamily="34" charset="-122"/>
                                    </a:rPr>
                                    <m:t>,</m:t>
                                  </m:r>
                                  <m:sSub>
                                    <m:sSubPr>
                                      <m:ctrlPr>
                                        <a:rPr kumimoji="1" lang="en-US" altLang="zh-CN" b="0" i="1" smtClean="0">
                                          <a:latin typeface="Cambria Math" panose="02040503050406030204" pitchFamily="18" charset="0"/>
                                          <a:ea typeface="Microsoft YaHei" panose="020B0503020204020204" pitchFamily="34" charset="-122"/>
                                        </a:rPr>
                                      </m:ctrlPr>
                                    </m:sSubPr>
                                    <m:e>
                                      <m:acc>
                                        <m:accPr>
                                          <m:chr m:val="̂"/>
                                          <m:ctrlPr>
                                            <a:rPr kumimoji="1" lang="en-US" altLang="zh-CN" b="0" i="1" smtClean="0">
                                              <a:latin typeface="Cambria Math" panose="02040503050406030204" pitchFamily="18" charset="0"/>
                                              <a:ea typeface="Microsoft YaHei" panose="020B0503020204020204" pitchFamily="34" charset="-122"/>
                                            </a:rPr>
                                          </m:ctrlPr>
                                        </m:accPr>
                                        <m:e>
                                          <m:r>
                                            <a:rPr kumimoji="1" lang="en-US" altLang="zh-CN" b="0" i="1" smtClean="0">
                                              <a:latin typeface="Cambria Math" panose="02040503050406030204" pitchFamily="18" charset="0"/>
                                              <a:ea typeface="Microsoft YaHei" panose="020B0503020204020204" pitchFamily="34" charset="-122"/>
                                            </a:rPr>
                                            <m:t>𝑦</m:t>
                                          </m:r>
                                        </m:e>
                                      </m:acc>
                                    </m:e>
                                    <m:sub>
                                      <m:r>
                                        <a:rPr kumimoji="1" lang="en-US" altLang="zh-CN" b="0" i="1" smtClean="0">
                                          <a:latin typeface="Cambria Math" panose="02040503050406030204" pitchFamily="18" charset="0"/>
                                          <a:ea typeface="Microsoft YaHei" panose="020B0503020204020204" pitchFamily="34" charset="-122"/>
                                        </a:rPr>
                                        <m:t>𝑖</m:t>
                                      </m:r>
                                    </m:sub>
                                  </m:sSub>
                                </m:e>
                              </m:d>
                            </m:e>
                          </m:d>
                        </m:e>
                        <m:sub>
                          <m:r>
                            <a:rPr kumimoji="1" lang="en-US" altLang="zh-CN" b="0" i="1" smtClean="0">
                              <a:latin typeface="Cambria Math" panose="02040503050406030204" pitchFamily="18" charset="0"/>
                              <a:ea typeface="Microsoft YaHei" panose="020B0503020204020204" pitchFamily="34" charset="-122"/>
                            </a:rPr>
                            <m:t>𝑖</m:t>
                          </m:r>
                          <m:r>
                            <a:rPr kumimoji="1" lang="en-US" altLang="zh-CN" b="0" i="1" smtClean="0">
                              <a:latin typeface="Cambria Math" panose="02040503050406030204" pitchFamily="18" charset="0"/>
                              <a:ea typeface="Microsoft YaHei" panose="020B0503020204020204" pitchFamily="34" charset="-122"/>
                            </a:rPr>
                            <m:t>=1</m:t>
                          </m:r>
                        </m:sub>
                        <m:sup>
                          <m:r>
                            <a:rPr kumimoji="1" lang="en-US" altLang="zh-CN" b="0" i="1" smtClean="0">
                              <a:latin typeface="Cambria Math" panose="02040503050406030204" pitchFamily="18" charset="0"/>
                              <a:ea typeface="Microsoft YaHei" panose="020B0503020204020204" pitchFamily="34" charset="-122"/>
                            </a:rPr>
                            <m:t>𝐾</m:t>
                          </m:r>
                          <m:r>
                            <a:rPr kumimoji="1" lang="en-US" altLang="zh-CN" b="0" i="1" smtClean="0">
                              <a:latin typeface="Cambria Math" panose="02040503050406030204" pitchFamily="18" charset="0"/>
                              <a:ea typeface="Microsoft YaHei" panose="020B0503020204020204" pitchFamily="34" charset="-122"/>
                            </a:rPr>
                            <m:t> </m:t>
                          </m:r>
                        </m:sup>
                      </m:sSubSup>
                    </m:oMath>
                  </m:oMathPara>
                </a14:m>
                <a:endParaRPr kumimoji="1" lang="zh-CN" altLang="en-US" dirty="0">
                  <a:latin typeface="Microsoft YaHei" panose="020B0503020204020204" pitchFamily="34" charset="-122"/>
                  <a:ea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358D518E-F8F9-F5AB-F4B8-8D803F9F3AE3}"/>
                  </a:ext>
                </a:extLst>
              </p:cNvPr>
              <p:cNvSpPr txBox="1">
                <a:spLocks noRot="1" noChangeAspect="1" noMove="1" noResize="1" noEditPoints="1" noAdjustHandles="1" noChangeArrowheads="1" noChangeShapeType="1" noTextEdit="1"/>
              </p:cNvSpPr>
              <p:nvPr/>
            </p:nvSpPr>
            <p:spPr>
              <a:xfrm>
                <a:off x="3650560" y="1744541"/>
                <a:ext cx="1662763" cy="292131"/>
              </a:xfrm>
              <a:prstGeom prst="rect">
                <a:avLst/>
              </a:prstGeom>
              <a:blipFill>
                <a:blip r:embed="rId4"/>
                <a:stretch>
                  <a:fillRect l="-2273" t="-12500" r="-758"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E6A0B3F-FD00-4B54-BA68-89C2B52A5DAE}"/>
                  </a:ext>
                </a:extLst>
              </p:cNvPr>
              <p:cNvSpPr txBox="1"/>
              <p:nvPr/>
            </p:nvSpPr>
            <p:spPr>
              <a:xfrm>
                <a:off x="3650560" y="2270601"/>
                <a:ext cx="1907573" cy="2921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ea typeface="Microsoft YaHei" panose="020B0503020204020204" pitchFamily="34" charset="-122"/>
                        </a:rPr>
                        <m:t>𝐶</m:t>
                      </m:r>
                      <m:r>
                        <a:rPr kumimoji="1" lang="en-US" altLang="zh-CN" b="0" i="1" smtClean="0">
                          <a:latin typeface="Cambria Math" panose="02040503050406030204" pitchFamily="18" charset="0"/>
                          <a:ea typeface="Microsoft YaHei" panose="020B0503020204020204" pitchFamily="34" charset="-122"/>
                        </a:rPr>
                        <m:t>=</m:t>
                      </m:r>
                      <m:sSubSup>
                        <m:sSubSupPr>
                          <m:ctrlPr>
                            <a:rPr kumimoji="1" lang="en-US" altLang="zh-CN" b="0" i="1" smtClean="0">
                              <a:latin typeface="Cambria Math" panose="02040503050406030204" pitchFamily="18" charset="0"/>
                              <a:ea typeface="Microsoft YaHei" panose="020B0503020204020204" pitchFamily="34" charset="-122"/>
                            </a:rPr>
                          </m:ctrlPr>
                        </m:sSubSupPr>
                        <m:e>
                          <m:d>
                            <m:dPr>
                              <m:begChr m:val="{"/>
                              <m:endChr m:val="}"/>
                              <m:ctrlPr>
                                <a:rPr kumimoji="1" lang="en-US" altLang="zh-CN" b="0" i="1" smtClean="0">
                                  <a:latin typeface="Cambria Math" panose="02040503050406030204" pitchFamily="18" charset="0"/>
                                  <a:ea typeface="Microsoft YaHei" panose="020B0503020204020204" pitchFamily="34" charset="-122"/>
                                </a:rPr>
                              </m:ctrlPr>
                            </m:dPr>
                            <m:e>
                              <m:d>
                                <m:dPr>
                                  <m:ctrlPr>
                                    <a:rPr kumimoji="1" lang="en-US" altLang="zh-CN" b="0" i="1" smtClean="0">
                                      <a:latin typeface="Cambria Math" panose="02040503050406030204" pitchFamily="18" charset="0"/>
                                      <a:ea typeface="Microsoft YaHei" panose="020B0503020204020204" pitchFamily="34" charset="-122"/>
                                    </a:rPr>
                                  </m:ctrlPr>
                                </m:dPr>
                                <m:e>
                                  <m:sSub>
                                    <m:sSubPr>
                                      <m:ctrlPr>
                                        <a:rPr kumimoji="1" lang="en-US" altLang="zh-CN" b="0" i="1" smtClean="0">
                                          <a:latin typeface="Cambria Math" panose="02040503050406030204" pitchFamily="18" charset="0"/>
                                          <a:ea typeface="Microsoft YaHei" panose="020B0503020204020204" pitchFamily="34" charset="-122"/>
                                        </a:rPr>
                                      </m:ctrlPr>
                                    </m:sSubPr>
                                    <m:e>
                                      <m:acc>
                                        <m:accPr>
                                          <m:chr m:val="̂"/>
                                          <m:ctrlPr>
                                            <a:rPr kumimoji="1" lang="en-US" altLang="zh-CN" b="0" i="1" smtClean="0">
                                              <a:latin typeface="Cambria Math" panose="02040503050406030204" pitchFamily="18" charset="0"/>
                                              <a:ea typeface="Microsoft YaHei" panose="020B0503020204020204" pitchFamily="34" charset="-122"/>
                                            </a:rPr>
                                          </m:ctrlPr>
                                        </m:accPr>
                                        <m:e>
                                          <m:r>
                                            <a:rPr kumimoji="1" lang="en-US" altLang="zh-CN" b="0" i="1" smtClean="0">
                                              <a:latin typeface="Cambria Math" panose="02040503050406030204" pitchFamily="18" charset="0"/>
                                              <a:ea typeface="Microsoft YaHei" panose="020B0503020204020204" pitchFamily="34" charset="-122"/>
                                            </a:rPr>
                                            <m:t>𝑥</m:t>
                                          </m:r>
                                        </m:e>
                                      </m:acc>
                                    </m:e>
                                    <m:sub>
                                      <m:r>
                                        <a:rPr kumimoji="1" lang="en-US" altLang="zh-CN" b="0" i="1" smtClean="0">
                                          <a:latin typeface="Cambria Math" panose="02040503050406030204" pitchFamily="18" charset="0"/>
                                          <a:ea typeface="Microsoft YaHei" panose="020B0503020204020204" pitchFamily="34" charset="-122"/>
                                        </a:rPr>
                                        <m:t>𝑖</m:t>
                                      </m:r>
                                    </m:sub>
                                  </m:sSub>
                                  <m:r>
                                    <a:rPr kumimoji="1" lang="en-US" altLang="zh-CN" b="0" i="1" smtClean="0">
                                      <a:latin typeface="Cambria Math" panose="02040503050406030204" pitchFamily="18" charset="0"/>
                                      <a:ea typeface="Microsoft YaHei" panose="020B0503020204020204" pitchFamily="34" charset="-122"/>
                                    </a:rPr>
                                    <m:t>,</m:t>
                                  </m:r>
                                  <m:sSub>
                                    <m:sSubPr>
                                      <m:ctrlPr>
                                        <a:rPr kumimoji="1" lang="en-US" altLang="zh-CN" b="0" i="1" smtClean="0">
                                          <a:solidFill>
                                            <a:srgbClr val="C00000"/>
                                          </a:solidFill>
                                          <a:latin typeface="Cambria Math" panose="02040503050406030204" pitchFamily="18" charset="0"/>
                                          <a:ea typeface="Microsoft YaHei" panose="020B0503020204020204" pitchFamily="34" charset="-122"/>
                                        </a:rPr>
                                      </m:ctrlPr>
                                    </m:sSubPr>
                                    <m:e>
                                      <m:acc>
                                        <m:accPr>
                                          <m:chr m:val="̂"/>
                                          <m:ctrlPr>
                                            <a:rPr kumimoji="1" lang="en-US" altLang="zh-CN" b="0" i="1" smtClean="0">
                                              <a:solidFill>
                                                <a:srgbClr val="C00000"/>
                                              </a:solidFill>
                                              <a:latin typeface="Cambria Math" panose="02040503050406030204" pitchFamily="18" charset="0"/>
                                              <a:ea typeface="Microsoft YaHei" panose="020B0503020204020204" pitchFamily="34" charset="-122"/>
                                            </a:rPr>
                                          </m:ctrlPr>
                                        </m:accPr>
                                        <m:e>
                                          <m:r>
                                            <a:rPr kumimoji="1" lang="en-US" altLang="zh-CN" b="0" i="1" smtClean="0">
                                              <a:solidFill>
                                                <a:srgbClr val="C00000"/>
                                              </a:solidFill>
                                              <a:latin typeface="Cambria Math" panose="02040503050406030204" pitchFamily="18" charset="0"/>
                                              <a:ea typeface="Microsoft YaHei" panose="020B0503020204020204" pitchFamily="34" charset="-122"/>
                                            </a:rPr>
                                            <m:t>𝑟</m:t>
                                          </m:r>
                                        </m:e>
                                      </m:acc>
                                    </m:e>
                                    <m:sub>
                                      <m:r>
                                        <a:rPr kumimoji="1" lang="en-US" altLang="zh-CN" b="0" i="1" smtClean="0">
                                          <a:solidFill>
                                            <a:srgbClr val="C00000"/>
                                          </a:solidFill>
                                          <a:latin typeface="Cambria Math" panose="02040503050406030204" pitchFamily="18" charset="0"/>
                                          <a:ea typeface="Microsoft YaHei" panose="020B0503020204020204" pitchFamily="34" charset="-122"/>
                                        </a:rPr>
                                        <m:t>𝑖</m:t>
                                      </m:r>
                                    </m:sub>
                                  </m:sSub>
                                  <m:r>
                                    <a:rPr kumimoji="1" lang="en-US" altLang="zh-CN" b="0" i="1" smtClean="0">
                                      <a:latin typeface="Cambria Math" panose="02040503050406030204" pitchFamily="18" charset="0"/>
                                      <a:ea typeface="Microsoft YaHei" panose="020B0503020204020204" pitchFamily="34" charset="-122"/>
                                    </a:rPr>
                                    <m:t>,</m:t>
                                  </m:r>
                                  <m:sSub>
                                    <m:sSubPr>
                                      <m:ctrlPr>
                                        <a:rPr kumimoji="1" lang="en-US" altLang="zh-CN" b="0" i="1" smtClean="0">
                                          <a:latin typeface="Cambria Math" panose="02040503050406030204" pitchFamily="18" charset="0"/>
                                          <a:ea typeface="Microsoft YaHei" panose="020B0503020204020204" pitchFamily="34" charset="-122"/>
                                        </a:rPr>
                                      </m:ctrlPr>
                                    </m:sSubPr>
                                    <m:e>
                                      <m:acc>
                                        <m:accPr>
                                          <m:chr m:val="̂"/>
                                          <m:ctrlPr>
                                            <a:rPr kumimoji="1" lang="en-US" altLang="zh-CN" b="0" i="1" smtClean="0">
                                              <a:latin typeface="Cambria Math" panose="02040503050406030204" pitchFamily="18" charset="0"/>
                                              <a:ea typeface="Microsoft YaHei" panose="020B0503020204020204" pitchFamily="34" charset="-122"/>
                                            </a:rPr>
                                          </m:ctrlPr>
                                        </m:accPr>
                                        <m:e>
                                          <m:r>
                                            <a:rPr kumimoji="1" lang="en-US" altLang="zh-CN" b="0" i="1" smtClean="0">
                                              <a:latin typeface="Cambria Math" panose="02040503050406030204" pitchFamily="18" charset="0"/>
                                              <a:ea typeface="Microsoft YaHei" panose="020B0503020204020204" pitchFamily="34" charset="-122"/>
                                            </a:rPr>
                                            <m:t>𝑦</m:t>
                                          </m:r>
                                        </m:e>
                                      </m:acc>
                                    </m:e>
                                    <m:sub>
                                      <m:r>
                                        <a:rPr kumimoji="1" lang="en-US" altLang="zh-CN" b="0" i="1" smtClean="0">
                                          <a:latin typeface="Cambria Math" panose="02040503050406030204" pitchFamily="18" charset="0"/>
                                          <a:ea typeface="Microsoft YaHei" panose="020B0503020204020204" pitchFamily="34" charset="-122"/>
                                        </a:rPr>
                                        <m:t>𝑖</m:t>
                                      </m:r>
                                    </m:sub>
                                  </m:sSub>
                                </m:e>
                              </m:d>
                            </m:e>
                          </m:d>
                        </m:e>
                        <m:sub>
                          <m:r>
                            <a:rPr kumimoji="1" lang="en-US" altLang="zh-CN" b="0" i="1" smtClean="0">
                              <a:latin typeface="Cambria Math" panose="02040503050406030204" pitchFamily="18" charset="0"/>
                              <a:ea typeface="Microsoft YaHei" panose="020B0503020204020204" pitchFamily="34" charset="-122"/>
                            </a:rPr>
                            <m:t>𝑖</m:t>
                          </m:r>
                          <m:r>
                            <a:rPr kumimoji="1" lang="en-US" altLang="zh-CN" b="0" i="1" smtClean="0">
                              <a:latin typeface="Cambria Math" panose="02040503050406030204" pitchFamily="18" charset="0"/>
                              <a:ea typeface="Microsoft YaHei" panose="020B0503020204020204" pitchFamily="34" charset="-122"/>
                            </a:rPr>
                            <m:t>=1</m:t>
                          </m:r>
                        </m:sub>
                        <m:sup>
                          <m:r>
                            <a:rPr kumimoji="1" lang="en-US" altLang="zh-CN" b="0" i="1" smtClean="0">
                              <a:latin typeface="Cambria Math" panose="02040503050406030204" pitchFamily="18" charset="0"/>
                              <a:ea typeface="Microsoft YaHei" panose="020B0503020204020204" pitchFamily="34" charset="-122"/>
                            </a:rPr>
                            <m:t>𝐾</m:t>
                          </m:r>
                          <m:r>
                            <a:rPr kumimoji="1" lang="en-US" altLang="zh-CN" b="0" i="1" smtClean="0">
                              <a:latin typeface="Cambria Math" panose="02040503050406030204" pitchFamily="18" charset="0"/>
                              <a:ea typeface="Microsoft YaHei" panose="020B0503020204020204" pitchFamily="34" charset="-122"/>
                            </a:rPr>
                            <m:t> </m:t>
                          </m:r>
                        </m:sup>
                      </m:sSubSup>
                    </m:oMath>
                  </m:oMathPara>
                </a14:m>
                <a:endParaRPr kumimoji="1" lang="zh-CN" altLang="en-US" dirty="0">
                  <a:latin typeface="Microsoft YaHei" panose="020B0503020204020204" pitchFamily="34" charset="-122"/>
                  <a:ea typeface="Microsoft YaHei" panose="020B0503020204020204" pitchFamily="34" charset="-122"/>
                </a:endParaRPr>
              </a:p>
            </p:txBody>
          </p:sp>
        </mc:Choice>
        <mc:Fallback xmlns="">
          <p:sp>
            <p:nvSpPr>
              <p:cNvPr id="9" name="文本框 8">
                <a:extLst>
                  <a:ext uri="{FF2B5EF4-FFF2-40B4-BE49-F238E27FC236}">
                    <a16:creationId xmlns:a16="http://schemas.microsoft.com/office/drawing/2014/main" id="{AE6A0B3F-FD00-4B54-BA68-89C2B52A5DAE}"/>
                  </a:ext>
                </a:extLst>
              </p:cNvPr>
              <p:cNvSpPr txBox="1">
                <a:spLocks noRot="1" noChangeAspect="1" noMove="1" noResize="1" noEditPoints="1" noAdjustHandles="1" noChangeArrowheads="1" noChangeShapeType="1" noTextEdit="1"/>
              </p:cNvSpPr>
              <p:nvPr/>
            </p:nvSpPr>
            <p:spPr>
              <a:xfrm>
                <a:off x="3650560" y="2270601"/>
                <a:ext cx="1907573" cy="292131"/>
              </a:xfrm>
              <a:prstGeom prst="rect">
                <a:avLst/>
              </a:prstGeom>
              <a:blipFill>
                <a:blip r:embed="rId5"/>
                <a:stretch>
                  <a:fillRect l="-1987" t="-12500" r="-662"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1E51B3A-BA9A-1B50-5573-884D3F88662B}"/>
                  </a:ext>
                </a:extLst>
              </p:cNvPr>
              <p:cNvSpPr txBox="1"/>
              <p:nvPr/>
            </p:nvSpPr>
            <p:spPr>
              <a:xfrm>
                <a:off x="235410" y="2811793"/>
                <a:ext cx="5521154" cy="1197572"/>
              </a:xfrm>
              <a:prstGeom prst="rect">
                <a:avLst/>
              </a:prstGeom>
              <a:noFill/>
            </p:spPr>
            <p:txBody>
              <a:bodyPr wrap="square" lIns="0" tIns="0" rIns="0" bIns="0" rtlCol="0">
                <a:spAutoFit/>
              </a:bodyPr>
              <a:lstStyle/>
              <a:p>
                <a:pPr>
                  <a:lnSpc>
                    <a:spcPct val="150000"/>
                  </a:lnSpc>
                </a:pPr>
                <a14:m>
                  <m:oMath xmlns:m="http://schemas.openxmlformats.org/officeDocument/2006/math">
                    <m:d>
                      <m:dPr>
                        <m:ctrlPr>
                          <a:rPr kumimoji="1" lang="en-US" altLang="zh-CN" i="1" smtClean="0">
                            <a:latin typeface="Cambria Math" panose="02040503050406030204" pitchFamily="18" charset="0"/>
                            <a:ea typeface="Microsoft YaHei" panose="020B0503020204020204" pitchFamily="34" charset="-122"/>
                          </a:rPr>
                        </m:ctrlPr>
                      </m:dPr>
                      <m:e>
                        <m:sSub>
                          <m:sSubPr>
                            <m:ctrlPr>
                              <a:rPr kumimoji="1" lang="en-US" altLang="zh-CN" i="1">
                                <a:latin typeface="Cambria Math" panose="02040503050406030204" pitchFamily="18" charset="0"/>
                                <a:ea typeface="Microsoft YaHei" panose="020B0503020204020204" pitchFamily="34" charset="-122"/>
                              </a:rPr>
                            </m:ctrlPr>
                          </m:sSubPr>
                          <m:e>
                            <m:acc>
                              <m:accPr>
                                <m:chr m:val="̂"/>
                                <m:ctrlPr>
                                  <a:rPr kumimoji="1" lang="en-US" altLang="zh-CN" i="1">
                                    <a:latin typeface="Cambria Math" panose="02040503050406030204" pitchFamily="18" charset="0"/>
                                    <a:ea typeface="Microsoft YaHei" panose="020B0503020204020204" pitchFamily="34" charset="-122"/>
                                  </a:rPr>
                                </m:ctrlPr>
                              </m:accPr>
                              <m:e>
                                <m:r>
                                  <a:rPr kumimoji="1" lang="en-US" altLang="zh-CN" i="1">
                                    <a:latin typeface="Cambria Math" panose="02040503050406030204" pitchFamily="18" charset="0"/>
                                    <a:ea typeface="Microsoft YaHei" panose="020B0503020204020204" pitchFamily="34" charset="-122"/>
                                  </a:rPr>
                                  <m:t>𝑥</m:t>
                                </m:r>
                              </m:e>
                            </m:acc>
                          </m:e>
                          <m:sub>
                            <m:r>
                              <a:rPr kumimoji="1" lang="en-US" altLang="zh-CN" i="1">
                                <a:latin typeface="Cambria Math" panose="02040503050406030204" pitchFamily="18" charset="0"/>
                                <a:ea typeface="Microsoft YaHei" panose="020B0503020204020204" pitchFamily="34" charset="-122"/>
                              </a:rPr>
                              <m:t>𝑖</m:t>
                            </m:r>
                          </m:sub>
                        </m:sSub>
                        <m:r>
                          <a:rPr kumimoji="1" lang="en-US" altLang="zh-CN" i="1">
                            <a:latin typeface="Cambria Math" panose="02040503050406030204" pitchFamily="18" charset="0"/>
                            <a:ea typeface="Microsoft YaHei" panose="020B0503020204020204" pitchFamily="34" charset="-122"/>
                          </a:rPr>
                          <m:t>,</m:t>
                        </m:r>
                        <m:sSub>
                          <m:sSubPr>
                            <m:ctrlPr>
                              <a:rPr kumimoji="1" lang="en-US" altLang="zh-CN" i="1">
                                <a:solidFill>
                                  <a:srgbClr val="C00000"/>
                                </a:solidFill>
                                <a:latin typeface="Cambria Math" panose="02040503050406030204" pitchFamily="18" charset="0"/>
                                <a:ea typeface="Microsoft YaHei" panose="020B0503020204020204" pitchFamily="34" charset="-122"/>
                              </a:rPr>
                            </m:ctrlPr>
                          </m:sSubPr>
                          <m:e>
                            <m:acc>
                              <m:accPr>
                                <m:chr m:val="̂"/>
                                <m:ctrlPr>
                                  <a:rPr kumimoji="1" lang="en-US" altLang="zh-CN" i="1">
                                    <a:solidFill>
                                      <a:srgbClr val="C00000"/>
                                    </a:solidFill>
                                    <a:latin typeface="Cambria Math" panose="02040503050406030204" pitchFamily="18" charset="0"/>
                                    <a:ea typeface="Microsoft YaHei" panose="020B0503020204020204" pitchFamily="34" charset="-122"/>
                                  </a:rPr>
                                </m:ctrlPr>
                              </m:accPr>
                              <m:e>
                                <m:r>
                                  <a:rPr kumimoji="1" lang="en-US" altLang="zh-CN" i="1">
                                    <a:solidFill>
                                      <a:srgbClr val="C00000"/>
                                    </a:solidFill>
                                    <a:latin typeface="Cambria Math" panose="02040503050406030204" pitchFamily="18" charset="0"/>
                                    <a:ea typeface="Microsoft YaHei" panose="020B0503020204020204" pitchFamily="34" charset="-122"/>
                                  </a:rPr>
                                  <m:t>𝑟</m:t>
                                </m:r>
                              </m:e>
                            </m:acc>
                          </m:e>
                          <m:sub>
                            <m:r>
                              <a:rPr kumimoji="1" lang="en-US" altLang="zh-CN" i="1">
                                <a:solidFill>
                                  <a:srgbClr val="C00000"/>
                                </a:solidFill>
                                <a:latin typeface="Cambria Math" panose="02040503050406030204" pitchFamily="18" charset="0"/>
                                <a:ea typeface="Microsoft YaHei" panose="020B0503020204020204" pitchFamily="34" charset="-122"/>
                              </a:rPr>
                              <m:t>𝑖</m:t>
                            </m:r>
                          </m:sub>
                        </m:sSub>
                        <m:r>
                          <a:rPr kumimoji="1" lang="en-US" altLang="zh-CN" i="1">
                            <a:latin typeface="Cambria Math" panose="02040503050406030204" pitchFamily="18" charset="0"/>
                            <a:ea typeface="Microsoft YaHei" panose="020B0503020204020204" pitchFamily="34" charset="-122"/>
                          </a:rPr>
                          <m:t>,</m:t>
                        </m:r>
                        <m:sSub>
                          <m:sSubPr>
                            <m:ctrlPr>
                              <a:rPr kumimoji="1" lang="en-US" altLang="zh-CN" i="1">
                                <a:latin typeface="Cambria Math" panose="02040503050406030204" pitchFamily="18" charset="0"/>
                                <a:ea typeface="Microsoft YaHei" panose="020B0503020204020204" pitchFamily="34" charset="-122"/>
                              </a:rPr>
                            </m:ctrlPr>
                          </m:sSubPr>
                          <m:e>
                            <m:acc>
                              <m:accPr>
                                <m:chr m:val="̂"/>
                                <m:ctrlPr>
                                  <a:rPr kumimoji="1" lang="en-US" altLang="zh-CN" i="1">
                                    <a:latin typeface="Cambria Math" panose="02040503050406030204" pitchFamily="18" charset="0"/>
                                    <a:ea typeface="Microsoft YaHei" panose="020B0503020204020204" pitchFamily="34" charset="-122"/>
                                  </a:rPr>
                                </m:ctrlPr>
                              </m:accPr>
                              <m:e>
                                <m:r>
                                  <a:rPr kumimoji="1" lang="en-US" altLang="zh-CN" i="1">
                                    <a:latin typeface="Cambria Math" panose="02040503050406030204" pitchFamily="18" charset="0"/>
                                    <a:ea typeface="Microsoft YaHei" panose="020B0503020204020204" pitchFamily="34" charset="-122"/>
                                  </a:rPr>
                                  <m:t>𝑦</m:t>
                                </m:r>
                              </m:e>
                            </m:acc>
                          </m:e>
                          <m:sub>
                            <m:r>
                              <a:rPr kumimoji="1" lang="en-US" altLang="zh-CN" i="1">
                                <a:latin typeface="Cambria Math" panose="02040503050406030204" pitchFamily="18" charset="0"/>
                                <a:ea typeface="Microsoft YaHei" panose="020B0503020204020204" pitchFamily="34" charset="-122"/>
                              </a:rPr>
                              <m:t>𝑖</m:t>
                            </m:r>
                          </m:sub>
                        </m:sSub>
                      </m:e>
                    </m:d>
                  </m:oMath>
                </a14:m>
                <a:r>
                  <a:rPr kumimoji="1" lang="en-US" altLang="zh-CN" dirty="0">
                    <a:latin typeface="Microsoft YaHei" panose="020B0503020204020204" pitchFamily="34" charset="-122"/>
                    <a:ea typeface="Microsoft YaHei" panose="020B0503020204020204" pitchFamily="34" charset="-122"/>
                  </a:rPr>
                  <a:t>=‘Let’s think step-by-step’</a:t>
                </a:r>
              </a:p>
              <a:p>
                <a:pPr>
                  <a:lnSpc>
                    <a:spcPct val="150000"/>
                  </a:lnSpc>
                </a:pPr>
                <a14:m>
                  <m:oMath xmlns:m="http://schemas.openxmlformats.org/officeDocument/2006/math">
                    <m:d>
                      <m:dPr>
                        <m:ctrlPr>
                          <a:rPr kumimoji="1" lang="en-US" altLang="zh-CN" i="1">
                            <a:latin typeface="Cambria Math" panose="02040503050406030204" pitchFamily="18" charset="0"/>
                            <a:ea typeface="Microsoft YaHei" panose="020B0503020204020204" pitchFamily="34" charset="-122"/>
                          </a:rPr>
                        </m:ctrlPr>
                      </m:dPr>
                      <m:e>
                        <m:sSub>
                          <m:sSubPr>
                            <m:ctrlPr>
                              <a:rPr kumimoji="1" lang="en-US" altLang="zh-CN" i="1">
                                <a:latin typeface="Cambria Math" panose="02040503050406030204" pitchFamily="18" charset="0"/>
                                <a:ea typeface="Microsoft YaHei" panose="020B0503020204020204" pitchFamily="34" charset="-122"/>
                              </a:rPr>
                            </m:ctrlPr>
                          </m:sSubPr>
                          <m:e>
                            <m:acc>
                              <m:accPr>
                                <m:chr m:val="̂"/>
                                <m:ctrlPr>
                                  <a:rPr kumimoji="1" lang="en-US" altLang="zh-CN" i="1">
                                    <a:latin typeface="Cambria Math" panose="02040503050406030204" pitchFamily="18" charset="0"/>
                                    <a:ea typeface="Microsoft YaHei" panose="020B0503020204020204" pitchFamily="34" charset="-122"/>
                                  </a:rPr>
                                </m:ctrlPr>
                              </m:accPr>
                              <m:e>
                                <m:r>
                                  <a:rPr kumimoji="1" lang="en-US" altLang="zh-CN" i="1">
                                    <a:latin typeface="Cambria Math" panose="02040503050406030204" pitchFamily="18" charset="0"/>
                                    <a:ea typeface="Microsoft YaHei" panose="020B0503020204020204" pitchFamily="34" charset="-122"/>
                                  </a:rPr>
                                  <m:t>𝑥</m:t>
                                </m:r>
                              </m:e>
                            </m:acc>
                          </m:e>
                          <m:sub>
                            <m:r>
                              <a:rPr kumimoji="1" lang="en-US" altLang="zh-CN" i="1">
                                <a:latin typeface="Cambria Math" panose="02040503050406030204" pitchFamily="18" charset="0"/>
                                <a:ea typeface="Microsoft YaHei" panose="020B0503020204020204" pitchFamily="34" charset="-122"/>
                              </a:rPr>
                              <m:t>𝑖</m:t>
                            </m:r>
                          </m:sub>
                        </m:sSub>
                        <m:r>
                          <a:rPr kumimoji="1" lang="en-US" altLang="zh-CN" i="1">
                            <a:latin typeface="Cambria Math" panose="02040503050406030204" pitchFamily="18" charset="0"/>
                            <a:ea typeface="Microsoft YaHei" panose="020B0503020204020204" pitchFamily="34" charset="-122"/>
                          </a:rPr>
                          <m:t>,</m:t>
                        </m:r>
                        <m:sSub>
                          <m:sSubPr>
                            <m:ctrlPr>
                              <a:rPr kumimoji="1" lang="en-US" altLang="zh-CN" i="1">
                                <a:solidFill>
                                  <a:srgbClr val="C00000"/>
                                </a:solidFill>
                                <a:latin typeface="Cambria Math" panose="02040503050406030204" pitchFamily="18" charset="0"/>
                                <a:ea typeface="Microsoft YaHei" panose="020B0503020204020204" pitchFamily="34" charset="-122"/>
                              </a:rPr>
                            </m:ctrlPr>
                          </m:sSubPr>
                          <m:e>
                            <m:acc>
                              <m:accPr>
                                <m:chr m:val="̂"/>
                                <m:ctrlPr>
                                  <a:rPr kumimoji="1" lang="en-US" altLang="zh-CN" i="1">
                                    <a:solidFill>
                                      <a:srgbClr val="C00000"/>
                                    </a:solidFill>
                                    <a:latin typeface="Cambria Math" panose="02040503050406030204" pitchFamily="18" charset="0"/>
                                    <a:ea typeface="Microsoft YaHei" panose="020B0503020204020204" pitchFamily="34" charset="-122"/>
                                  </a:rPr>
                                </m:ctrlPr>
                              </m:accPr>
                              <m:e>
                                <m:r>
                                  <a:rPr kumimoji="1" lang="en-US" altLang="zh-CN" i="1">
                                    <a:solidFill>
                                      <a:srgbClr val="C00000"/>
                                    </a:solidFill>
                                    <a:latin typeface="Cambria Math" panose="02040503050406030204" pitchFamily="18" charset="0"/>
                                    <a:ea typeface="Microsoft YaHei" panose="020B0503020204020204" pitchFamily="34" charset="-122"/>
                                  </a:rPr>
                                  <m:t>𝑟</m:t>
                                </m:r>
                              </m:e>
                            </m:acc>
                          </m:e>
                          <m:sub>
                            <m:r>
                              <a:rPr kumimoji="1" lang="en-US" altLang="zh-CN" i="1">
                                <a:solidFill>
                                  <a:srgbClr val="C00000"/>
                                </a:solidFill>
                                <a:latin typeface="Cambria Math" panose="02040503050406030204" pitchFamily="18" charset="0"/>
                                <a:ea typeface="Microsoft YaHei" panose="020B0503020204020204" pitchFamily="34" charset="-122"/>
                              </a:rPr>
                              <m:t>𝑖</m:t>
                            </m:r>
                          </m:sub>
                        </m:sSub>
                        <m:r>
                          <a:rPr kumimoji="1" lang="en-US" altLang="zh-CN" i="1">
                            <a:latin typeface="Cambria Math" panose="02040503050406030204" pitchFamily="18" charset="0"/>
                            <a:ea typeface="Microsoft YaHei" panose="020B0503020204020204" pitchFamily="34" charset="-122"/>
                          </a:rPr>
                          <m:t>,</m:t>
                        </m:r>
                        <m:sSub>
                          <m:sSubPr>
                            <m:ctrlPr>
                              <a:rPr kumimoji="1" lang="en-US" altLang="zh-CN" i="1">
                                <a:latin typeface="Cambria Math" panose="02040503050406030204" pitchFamily="18" charset="0"/>
                                <a:ea typeface="Microsoft YaHei" panose="020B0503020204020204" pitchFamily="34" charset="-122"/>
                              </a:rPr>
                            </m:ctrlPr>
                          </m:sSubPr>
                          <m:e>
                            <m:acc>
                              <m:accPr>
                                <m:chr m:val="̂"/>
                                <m:ctrlPr>
                                  <a:rPr kumimoji="1" lang="en-US" altLang="zh-CN" i="1">
                                    <a:latin typeface="Cambria Math" panose="02040503050406030204" pitchFamily="18" charset="0"/>
                                    <a:ea typeface="Microsoft YaHei" panose="020B0503020204020204" pitchFamily="34" charset="-122"/>
                                  </a:rPr>
                                </m:ctrlPr>
                              </m:accPr>
                              <m:e>
                                <m:r>
                                  <a:rPr kumimoji="1" lang="en-US" altLang="zh-CN" i="1">
                                    <a:latin typeface="Cambria Math" panose="02040503050406030204" pitchFamily="18" charset="0"/>
                                    <a:ea typeface="Microsoft YaHei" panose="020B0503020204020204" pitchFamily="34" charset="-122"/>
                                  </a:rPr>
                                  <m:t>𝑦</m:t>
                                </m:r>
                              </m:e>
                            </m:acc>
                          </m:e>
                          <m:sub>
                            <m:r>
                              <a:rPr kumimoji="1" lang="en-US" altLang="zh-CN" i="1">
                                <a:latin typeface="Cambria Math" panose="02040503050406030204" pitchFamily="18" charset="0"/>
                                <a:ea typeface="Microsoft YaHei" panose="020B0503020204020204" pitchFamily="34" charset="-122"/>
                              </a:rPr>
                              <m:t>𝑖</m:t>
                            </m:r>
                          </m:sub>
                        </m:sSub>
                      </m:e>
                    </m:d>
                  </m:oMath>
                </a14:m>
                <a:r>
                  <a:rPr kumimoji="1" lang="en-US" altLang="zh-CN" dirty="0">
                    <a:latin typeface="Microsoft YaHei" panose="020B0503020204020204" pitchFamily="34" charset="-122"/>
                    <a:ea typeface="Microsoft YaHei" panose="020B0503020204020204" pitchFamily="34" charset="-122"/>
                  </a:rPr>
                  <a:t>=:</a:t>
                </a:r>
              </a:p>
              <a:p>
                <a:pPr>
                  <a:lnSpc>
                    <a:spcPct val="150000"/>
                  </a:lnSpc>
                </a:pPr>
                <a:endParaRPr kumimoji="1" lang="zh-CN" altLang="en-US" dirty="0">
                  <a:latin typeface="Microsoft YaHei" panose="020B0503020204020204" pitchFamily="34" charset="-122"/>
                  <a:ea typeface="Microsoft YaHei" panose="020B0503020204020204" pitchFamily="34" charset="-122"/>
                </a:endParaRPr>
              </a:p>
            </p:txBody>
          </p:sp>
        </mc:Choice>
        <mc:Fallback xmlns="">
          <p:sp>
            <p:nvSpPr>
              <p:cNvPr id="10" name="文本框 9">
                <a:extLst>
                  <a:ext uri="{FF2B5EF4-FFF2-40B4-BE49-F238E27FC236}">
                    <a16:creationId xmlns:a16="http://schemas.microsoft.com/office/drawing/2014/main" id="{C1E51B3A-BA9A-1B50-5573-884D3F88662B}"/>
                  </a:ext>
                </a:extLst>
              </p:cNvPr>
              <p:cNvSpPr txBox="1">
                <a:spLocks noRot="1" noChangeAspect="1" noMove="1" noResize="1" noEditPoints="1" noAdjustHandles="1" noChangeArrowheads="1" noChangeShapeType="1" noTextEdit="1"/>
              </p:cNvSpPr>
              <p:nvPr/>
            </p:nvSpPr>
            <p:spPr>
              <a:xfrm>
                <a:off x="235410" y="2811793"/>
                <a:ext cx="5521154" cy="1197572"/>
              </a:xfrm>
              <a:prstGeom prst="rect">
                <a:avLst/>
              </a:prstGeom>
              <a:blipFill>
                <a:blip r:embed="rId6"/>
                <a:stretch>
                  <a:fillRect/>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3772729E-603B-93C6-853D-8680501B39F7}"/>
              </a:ext>
            </a:extLst>
          </p:cNvPr>
          <p:cNvPicPr>
            <a:picLocks noChangeAspect="1"/>
          </p:cNvPicPr>
          <p:nvPr/>
        </p:nvPicPr>
        <p:blipFill>
          <a:blip r:embed="rId7"/>
          <a:srcRect t="-72" b="1164"/>
          <a:stretch>
            <a:fillRect/>
          </a:stretch>
        </p:blipFill>
        <p:spPr>
          <a:xfrm>
            <a:off x="1286779" y="3532909"/>
            <a:ext cx="3418415" cy="3119617"/>
          </a:xfrm>
          <a:prstGeom prst="rect">
            <a:avLst/>
          </a:prstGeom>
        </p:spPr>
      </p:pic>
      <p:pic>
        <p:nvPicPr>
          <p:cNvPr id="12" name="图片 11">
            <a:extLst>
              <a:ext uri="{FF2B5EF4-FFF2-40B4-BE49-F238E27FC236}">
                <a16:creationId xmlns:a16="http://schemas.microsoft.com/office/drawing/2014/main" id="{C3760BBB-C1C6-EB6D-D836-CE78BA9CBBF0}"/>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5509277" y="1220321"/>
            <a:ext cx="3293626" cy="5506266"/>
          </a:xfrm>
          <a:prstGeom prst="rect">
            <a:avLst/>
          </a:prstGeom>
        </p:spPr>
      </p:pic>
    </p:spTree>
    <p:extLst>
      <p:ext uri="{BB962C8B-B14F-4D97-AF65-F5344CB8AC3E}">
        <p14:creationId xmlns:p14="http://schemas.microsoft.com/office/powerpoint/2010/main" val="12772381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78253-377D-4946-5385-F82860BC1539}"/>
            </a:ext>
          </a:extLst>
        </p:cNvPr>
        <p:cNvGrpSpPr/>
        <p:nvPr/>
      </p:nvGrpSpPr>
      <p:grpSpPr>
        <a:xfrm>
          <a:off x="0" y="0"/>
          <a:ext cx="0" cy="0"/>
          <a:chOff x="0" y="0"/>
          <a:chExt cx="0" cy="0"/>
        </a:xfrm>
      </p:grpSpPr>
      <p:sp>
        <p:nvSpPr>
          <p:cNvPr id="14338" name="Freeform 32">
            <a:extLst>
              <a:ext uri="{FF2B5EF4-FFF2-40B4-BE49-F238E27FC236}">
                <a16:creationId xmlns:a16="http://schemas.microsoft.com/office/drawing/2014/main" id="{2F05BCF1-DAA8-DE5E-F137-8D41506E9567}"/>
              </a:ext>
            </a:extLst>
          </p:cNvPr>
          <p:cNvSpPr>
            <a:spLocks noChangeArrowheads="1"/>
          </p:cNvSpPr>
          <p:nvPr/>
        </p:nvSpPr>
        <p:spPr bwMode="auto">
          <a:xfrm>
            <a:off x="1" y="512765"/>
            <a:ext cx="2374900" cy="96837"/>
          </a:xfrm>
          <a:custGeom>
            <a:avLst/>
            <a:gdLst>
              <a:gd name="T0" fmla="*/ 2147483646 w 1440"/>
              <a:gd name="T1" fmla="*/ 2147483646 h 112"/>
              <a:gd name="T2" fmla="*/ 2147483646 w 1440"/>
              <a:gd name="T3" fmla="*/ 2147483646 h 112"/>
              <a:gd name="T4" fmla="*/ 0 w 1440"/>
              <a:gd name="T5" fmla="*/ 2147483646 h 112"/>
              <a:gd name="T6" fmla="*/ 0 w 1440"/>
              <a:gd name="T7" fmla="*/ 2147483646 h 112"/>
              <a:gd name="T8" fmla="*/ 2147483646 w 1440"/>
              <a:gd name="T9" fmla="*/ 2147483646 h 112"/>
              <a:gd name="T10" fmla="*/ 2147483646 w 1440"/>
              <a:gd name="T11" fmla="*/ 0 h 112"/>
              <a:gd name="T12" fmla="*/ 2147483646 w 1440"/>
              <a:gd name="T13" fmla="*/ 2147483646 h 112"/>
              <a:gd name="T14" fmla="*/ 0 60000 65536"/>
              <a:gd name="T15" fmla="*/ 0 60000 65536"/>
              <a:gd name="T16" fmla="*/ 0 60000 65536"/>
              <a:gd name="T17" fmla="*/ 0 60000 65536"/>
              <a:gd name="T18" fmla="*/ 0 60000 65536"/>
              <a:gd name="T19" fmla="*/ 0 60000 65536"/>
              <a:gd name="T20" fmla="*/ 0 60000 65536"/>
              <a:gd name="T21" fmla="*/ 0 w 1440"/>
              <a:gd name="T22" fmla="*/ 0 h 112"/>
              <a:gd name="T23" fmla="*/ 1440 w 1440"/>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112">
                <a:moveTo>
                  <a:pt x="1440" y="1"/>
                </a:moveTo>
                <a:lnTo>
                  <a:pt x="1261" y="112"/>
                </a:lnTo>
                <a:lnTo>
                  <a:pt x="0" y="110"/>
                </a:lnTo>
                <a:lnTo>
                  <a:pt x="0" y="49"/>
                </a:lnTo>
                <a:lnTo>
                  <a:pt x="1069" y="50"/>
                </a:lnTo>
                <a:lnTo>
                  <a:pt x="1142" y="0"/>
                </a:lnTo>
                <a:lnTo>
                  <a:pt x="1440" y="1"/>
                </a:lnTo>
                <a:close/>
              </a:path>
            </a:pathLst>
          </a:custGeom>
          <a:solidFill>
            <a:srgbClr val="FFFFFF">
              <a:alpha val="29803"/>
            </a:srgbClr>
          </a:solid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68" name="矩形 59">
            <a:extLst>
              <a:ext uri="{FF2B5EF4-FFF2-40B4-BE49-F238E27FC236}">
                <a16:creationId xmlns:a16="http://schemas.microsoft.com/office/drawing/2014/main" id="{A452646D-4DE1-D620-C047-25C4D9290D59}"/>
              </a:ext>
            </a:extLst>
          </p:cNvPr>
          <p:cNvSpPr>
            <a:spLocks noChangeArrowheads="1"/>
          </p:cNvSpPr>
          <p:nvPr/>
        </p:nvSpPr>
        <p:spPr bwMode="auto">
          <a:xfrm>
            <a:off x="1" y="0"/>
            <a:ext cx="9144000" cy="646331"/>
          </a:xfrm>
          <a:prstGeom prst="rect">
            <a:avLst/>
          </a:prstGeom>
          <a:solidFill>
            <a:srgbClr val="00518E"/>
          </a:solidFill>
          <a:ln>
            <a:noFill/>
          </a:ln>
        </p:spPr>
        <p:txBody>
          <a:bodyPr>
            <a:spAutoFit/>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lvl="0">
              <a:spcBef>
                <a:spcPct val="0"/>
              </a:spcBef>
              <a:buNone/>
              <a:defRPr/>
            </a:pPr>
            <a:r>
              <a:rPr lang="zh-CN" altLang="en-US" sz="36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六、提示工程</a:t>
            </a:r>
            <a:endParaRPr lang="zh-CN" altLang="en-US" sz="28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340" name="矩形 3">
            <a:extLst>
              <a:ext uri="{FF2B5EF4-FFF2-40B4-BE49-F238E27FC236}">
                <a16:creationId xmlns:a16="http://schemas.microsoft.com/office/drawing/2014/main" id="{5F5EE086-A553-8851-6FD5-4505C0F250E8}"/>
              </a:ext>
            </a:extLst>
          </p:cNvPr>
          <p:cNvSpPr>
            <a:spLocks noChangeArrowheads="1"/>
          </p:cNvSpPr>
          <p:nvPr/>
        </p:nvSpPr>
        <p:spPr bwMode="auto">
          <a:xfrm flipH="1">
            <a:off x="3" y="6764338"/>
            <a:ext cx="9140825" cy="95251"/>
          </a:xfrm>
          <a:prstGeom prst="rect">
            <a:avLst/>
          </a:prstGeom>
          <a:gradFill rotWithShape="1">
            <a:gsLst>
              <a:gs pos="0">
                <a:srgbClr val="005D9A"/>
              </a:gs>
              <a:gs pos="100000">
                <a:srgbClr val="005D9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1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5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5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 name="文本框 2">
            <a:extLst>
              <a:ext uri="{FF2B5EF4-FFF2-40B4-BE49-F238E27FC236}">
                <a16:creationId xmlns:a16="http://schemas.microsoft.com/office/drawing/2014/main" id="{DB0A71F0-E63A-18D2-2C1A-07F5EBCD205A}"/>
              </a:ext>
            </a:extLst>
          </p:cNvPr>
          <p:cNvSpPr txBox="1"/>
          <p:nvPr/>
        </p:nvSpPr>
        <p:spPr>
          <a:xfrm>
            <a:off x="83126" y="760022"/>
            <a:ext cx="8797637" cy="458459"/>
          </a:xfrm>
          <a:prstGeom prst="rect">
            <a:avLst/>
          </a:prstGeom>
          <a:noFill/>
        </p:spPr>
        <p:txBody>
          <a:bodyPr wrap="square">
            <a:spAutoFit/>
          </a:bodyPr>
          <a:lstStyle/>
          <a:p>
            <a:pPr>
              <a:lnSpc>
                <a:spcPct val="150000"/>
              </a:lnSpc>
            </a:pPr>
            <a:r>
              <a:rPr lang="en-US" altLang="zh-CN" dirty="0">
                <a:latin typeface="Microsoft YaHei" panose="020B0503020204020204" pitchFamily="34" charset="-122"/>
                <a:ea typeface="Microsoft YaHei" panose="020B0503020204020204" pitchFamily="34" charset="-122"/>
              </a:rPr>
              <a:t>Chain-of-Thought</a:t>
            </a:r>
            <a:r>
              <a:rPr lang="zh-CN" altLang="en-US" dirty="0">
                <a:latin typeface="Microsoft YaHei" panose="020B0503020204020204" pitchFamily="34" charset="-122"/>
                <a:ea typeface="Microsoft YaHei" panose="020B0503020204020204" pitchFamily="34" charset="-122"/>
              </a:rPr>
              <a:t>的更多形式：</a:t>
            </a:r>
          </a:p>
        </p:txBody>
      </p:sp>
      <p:grpSp>
        <p:nvGrpSpPr>
          <p:cNvPr id="6" name="组合 5">
            <a:extLst>
              <a:ext uri="{FF2B5EF4-FFF2-40B4-BE49-F238E27FC236}">
                <a16:creationId xmlns:a16="http://schemas.microsoft.com/office/drawing/2014/main" id="{B5135F12-0B61-FACA-A356-AD4197042CE4}"/>
              </a:ext>
            </a:extLst>
          </p:cNvPr>
          <p:cNvGrpSpPr/>
          <p:nvPr/>
        </p:nvGrpSpPr>
        <p:grpSpPr>
          <a:xfrm>
            <a:off x="1503216" y="1332172"/>
            <a:ext cx="6262256" cy="3230891"/>
            <a:chOff x="207817" y="1332172"/>
            <a:chExt cx="6262256" cy="3230891"/>
          </a:xfrm>
        </p:grpSpPr>
        <p:pic>
          <p:nvPicPr>
            <p:cNvPr id="2" name="图片 1">
              <a:extLst>
                <a:ext uri="{FF2B5EF4-FFF2-40B4-BE49-F238E27FC236}">
                  <a16:creationId xmlns:a16="http://schemas.microsoft.com/office/drawing/2014/main" id="{FBA1E857-0E3E-F2BB-EEB3-FE37F2FDEDE5}"/>
                </a:ext>
              </a:extLst>
            </p:cNvPr>
            <p:cNvPicPr>
              <a:picLocks noChangeAspect="1"/>
            </p:cNvPicPr>
            <p:nvPr/>
          </p:nvPicPr>
          <p:blipFill>
            <a:blip r:embed="rId3"/>
            <a:srcRect l="6937" t="14055"/>
            <a:stretch>
              <a:fillRect/>
            </a:stretch>
          </p:blipFill>
          <p:spPr>
            <a:xfrm>
              <a:off x="207817" y="1332172"/>
              <a:ext cx="6241474" cy="3230891"/>
            </a:xfrm>
            <a:prstGeom prst="rect">
              <a:avLst/>
            </a:prstGeom>
          </p:spPr>
        </p:pic>
        <p:sp>
          <p:nvSpPr>
            <p:cNvPr id="4" name="矩形 3">
              <a:extLst>
                <a:ext uri="{FF2B5EF4-FFF2-40B4-BE49-F238E27FC236}">
                  <a16:creationId xmlns:a16="http://schemas.microsoft.com/office/drawing/2014/main" id="{C968DE80-3E13-2BDB-6A15-B6EA263FAF1F}"/>
                </a:ext>
              </a:extLst>
            </p:cNvPr>
            <p:cNvSpPr/>
            <p:nvPr/>
          </p:nvSpPr>
          <p:spPr>
            <a:xfrm>
              <a:off x="5936673" y="1364673"/>
              <a:ext cx="533400" cy="5541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7" name="图片 6">
            <a:extLst>
              <a:ext uri="{FF2B5EF4-FFF2-40B4-BE49-F238E27FC236}">
                <a16:creationId xmlns:a16="http://schemas.microsoft.com/office/drawing/2014/main" id="{8ABE5226-CB93-FFDB-9CA0-3C1663FD0F7D}"/>
              </a:ext>
            </a:extLst>
          </p:cNvPr>
          <p:cNvPicPr>
            <a:picLocks noChangeAspect="1"/>
          </p:cNvPicPr>
          <p:nvPr/>
        </p:nvPicPr>
        <p:blipFill>
          <a:blip r:embed="rId4"/>
          <a:stretch>
            <a:fillRect/>
          </a:stretch>
        </p:blipFill>
        <p:spPr>
          <a:xfrm>
            <a:off x="83126" y="1459457"/>
            <a:ext cx="8578847" cy="3136107"/>
          </a:xfrm>
          <a:prstGeom prst="rect">
            <a:avLst/>
          </a:prstGeom>
        </p:spPr>
      </p:pic>
      <p:sp>
        <p:nvSpPr>
          <p:cNvPr id="8" name="文本框 7">
            <a:extLst>
              <a:ext uri="{FF2B5EF4-FFF2-40B4-BE49-F238E27FC236}">
                <a16:creationId xmlns:a16="http://schemas.microsoft.com/office/drawing/2014/main" id="{71D8C6DE-5AB5-E3F2-14F4-34530A2821C5}"/>
              </a:ext>
            </a:extLst>
          </p:cNvPr>
          <p:cNvSpPr txBox="1"/>
          <p:nvPr/>
        </p:nvSpPr>
        <p:spPr>
          <a:xfrm>
            <a:off x="1794165" y="4574930"/>
            <a:ext cx="1544781" cy="523220"/>
          </a:xfrm>
          <a:prstGeom prst="rect">
            <a:avLst/>
          </a:prstGeom>
          <a:noFill/>
        </p:spPr>
        <p:txBody>
          <a:bodyPr wrap="square" rtlCol="0">
            <a:spAutoFit/>
          </a:bodyPr>
          <a:lstStyle/>
          <a:p>
            <a:r>
              <a:rPr kumimoji="1" lang="en-US" altLang="zh-CN" sz="1400" dirty="0">
                <a:latin typeface="Microsoft YaHei" panose="020B0503020204020204" pitchFamily="34" charset="-122"/>
                <a:ea typeface="Microsoft YaHei" panose="020B0503020204020204" pitchFamily="34" charset="-122"/>
              </a:rPr>
              <a:t>LLM</a:t>
            </a:r>
            <a:r>
              <a:rPr kumimoji="1" lang="zh-CN" altLang="en-US" sz="1400" dirty="0">
                <a:latin typeface="Microsoft YaHei" panose="020B0503020204020204" pitchFamily="34" charset="-122"/>
                <a:ea typeface="Microsoft YaHei" panose="020B0503020204020204" pitchFamily="34" charset="-122"/>
              </a:rPr>
              <a:t>对于一个问题前向推理多次</a:t>
            </a:r>
          </a:p>
        </p:txBody>
      </p:sp>
      <p:sp>
        <p:nvSpPr>
          <p:cNvPr id="9" name="文本框 8">
            <a:extLst>
              <a:ext uri="{FF2B5EF4-FFF2-40B4-BE49-F238E27FC236}">
                <a16:creationId xmlns:a16="http://schemas.microsoft.com/office/drawing/2014/main" id="{F13EE8E3-7A41-83CF-4943-9C798304CB13}"/>
              </a:ext>
            </a:extLst>
          </p:cNvPr>
          <p:cNvSpPr txBox="1"/>
          <p:nvPr/>
        </p:nvSpPr>
        <p:spPr>
          <a:xfrm>
            <a:off x="3694116" y="4500084"/>
            <a:ext cx="2110940" cy="954107"/>
          </a:xfrm>
          <a:prstGeom prst="rect">
            <a:avLst/>
          </a:prstGeom>
          <a:noFill/>
        </p:spPr>
        <p:txBody>
          <a:bodyPr wrap="square" rtlCol="0">
            <a:spAutoFit/>
          </a:bodyPr>
          <a:lstStyle/>
          <a:p>
            <a:r>
              <a:rPr kumimoji="1" lang="en-US" altLang="zh-CN" sz="1400" dirty="0">
                <a:latin typeface="Microsoft YaHei" panose="020B0503020204020204" pitchFamily="34" charset="-122"/>
                <a:ea typeface="Microsoft YaHei" panose="020B0503020204020204" pitchFamily="34" charset="-122"/>
              </a:rPr>
              <a:t>LLM</a:t>
            </a:r>
            <a:r>
              <a:rPr kumimoji="1" lang="zh-CN" altLang="en-US" sz="1400" dirty="0">
                <a:latin typeface="Microsoft YaHei" panose="020B0503020204020204" pitchFamily="34" charset="-122"/>
                <a:ea typeface="Microsoft YaHei" panose="020B0503020204020204" pitchFamily="34" charset="-122"/>
              </a:rPr>
              <a:t>对于一个问题或者当前推理生成多个候选</a:t>
            </a:r>
            <a:r>
              <a:rPr kumimoji="1" lang="en-US" altLang="zh-CN" sz="1400" dirty="0">
                <a:latin typeface="Microsoft YaHei" panose="020B0503020204020204" pitchFamily="34" charset="-122"/>
                <a:ea typeface="Microsoft YaHei" panose="020B0503020204020204" pitchFamily="34" charset="-122"/>
              </a:rPr>
              <a:t>thought</a:t>
            </a:r>
            <a:r>
              <a:rPr kumimoji="1" lang="zh-CN" altLang="en-US" sz="1400" dirty="0">
                <a:latin typeface="Microsoft YaHei" panose="020B0503020204020204" pitchFamily="34" charset="-122"/>
                <a:ea typeface="Microsoft YaHei" panose="020B0503020204020204" pitchFamily="34" charset="-122"/>
              </a:rPr>
              <a:t>，并基于</a:t>
            </a:r>
            <a:r>
              <a:rPr kumimoji="1" lang="en-US" altLang="zh-CN" sz="1400" dirty="0">
                <a:latin typeface="Microsoft YaHei" panose="020B0503020204020204" pitchFamily="34" charset="-122"/>
                <a:ea typeface="Microsoft YaHei" panose="020B0503020204020204" pitchFamily="34" charset="-122"/>
              </a:rPr>
              <a:t>score</a:t>
            </a:r>
            <a:r>
              <a:rPr kumimoji="1" lang="zh-CN" altLang="en-US" sz="1400" dirty="0">
                <a:latin typeface="Microsoft YaHei" panose="020B0503020204020204" pitchFamily="34" charset="-122"/>
                <a:ea typeface="Microsoft YaHei" panose="020B0503020204020204" pitchFamily="34" charset="-122"/>
              </a:rPr>
              <a:t>进行遍历。</a:t>
            </a:r>
          </a:p>
        </p:txBody>
      </p:sp>
      <p:sp>
        <p:nvSpPr>
          <p:cNvPr id="10" name="文本框 9">
            <a:extLst>
              <a:ext uri="{FF2B5EF4-FFF2-40B4-BE49-F238E27FC236}">
                <a16:creationId xmlns:a16="http://schemas.microsoft.com/office/drawing/2014/main" id="{9380B81B-8C21-041A-DCEC-3C9B5AFD0FD1}"/>
              </a:ext>
            </a:extLst>
          </p:cNvPr>
          <p:cNvSpPr txBox="1"/>
          <p:nvPr/>
        </p:nvSpPr>
        <p:spPr>
          <a:xfrm>
            <a:off x="6294365" y="4470257"/>
            <a:ext cx="2110940" cy="954107"/>
          </a:xfrm>
          <a:prstGeom prst="rect">
            <a:avLst/>
          </a:prstGeom>
          <a:noFill/>
        </p:spPr>
        <p:txBody>
          <a:bodyPr wrap="square" rtlCol="0">
            <a:spAutoFit/>
          </a:bodyPr>
          <a:lstStyle/>
          <a:p>
            <a:r>
              <a:rPr kumimoji="1" lang="en-US" altLang="zh-CN" sz="1400" dirty="0">
                <a:latin typeface="Microsoft YaHei" panose="020B0503020204020204" pitchFamily="34" charset="-122"/>
                <a:ea typeface="Microsoft YaHei" panose="020B0503020204020204" pitchFamily="34" charset="-122"/>
              </a:rPr>
              <a:t>Thought</a:t>
            </a:r>
            <a:r>
              <a:rPr kumimoji="1" lang="zh-CN" altLang="en-US" sz="1400" dirty="0">
                <a:latin typeface="Microsoft YaHei" panose="020B0503020204020204" pitchFamily="34" charset="-122"/>
                <a:ea typeface="Microsoft YaHei" panose="020B0503020204020204" pitchFamily="34" charset="-122"/>
              </a:rPr>
              <a:t>之间更复杂的依赖关系，除了扩展，还有合并和循环等其他操作。</a:t>
            </a:r>
          </a:p>
        </p:txBody>
      </p:sp>
    </p:spTree>
    <p:extLst>
      <p:ext uri="{BB962C8B-B14F-4D97-AF65-F5344CB8AC3E}">
        <p14:creationId xmlns:p14="http://schemas.microsoft.com/office/powerpoint/2010/main" val="11085101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M2MTk4YjUzOWJkMzQ3ZjVjYmRiYzdjMGMxZDhlY2EifQ=="/>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3801</TotalTime>
  <Words>6654</Words>
  <Application>Microsoft Office PowerPoint</Application>
  <PresentationFormat>全屏显示(4:3)</PresentationFormat>
  <Paragraphs>682</Paragraphs>
  <Slides>88</Slides>
  <Notes>88</Notes>
  <HiddenSlides>16</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88</vt:i4>
      </vt:variant>
    </vt:vector>
  </HeadingPairs>
  <TitlesOfParts>
    <vt:vector size="103" baseType="lpstr">
      <vt:lpstr>等线</vt:lpstr>
      <vt:lpstr>等线 Light</vt:lpstr>
      <vt:lpstr>黑体</vt:lpstr>
      <vt:lpstr>宋体</vt:lpstr>
      <vt:lpstr>Microsoft YaHei</vt:lpstr>
      <vt:lpstr>Microsoft YaHei</vt:lpstr>
      <vt:lpstr>系统字体常规体</vt:lpstr>
      <vt:lpstr>Arial</vt:lpstr>
      <vt:lpstr>Calibri</vt:lpstr>
      <vt:lpstr>Calibri Light</vt:lpstr>
      <vt:lpstr>Cambria Math</vt:lpstr>
      <vt:lpstr>Tahoma</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晓莹</dc:creator>
  <cp:lastModifiedBy>DELL</cp:lastModifiedBy>
  <cp:revision>917</cp:revision>
  <dcterms:created xsi:type="dcterms:W3CDTF">2022-04-23T10:45:00Z</dcterms:created>
  <dcterms:modified xsi:type="dcterms:W3CDTF">2026-05-12T14:12:36Z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D9FC3A47903E445DB8C4036B327B5F7B_13</vt:lpwstr>
  </property>
  <property fmtid="{D5CDD505-2E9C-101B-9397-08002B2CF9AE}" pid="3" name="KSOProductBuildVer">
    <vt:lpwstr>2052-12.1.0.16729</vt:lpwstr>
  </property>
</Properties>
</file>