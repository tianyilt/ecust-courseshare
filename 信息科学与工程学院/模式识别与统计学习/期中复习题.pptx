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oChancy" initials="C" lastIdx="1" clrIdx="0">
    <p:extLst>
      <p:ext uri="{19B8F6BF-5375-455C-9EA6-DF929625EA0E}">
        <p15:presenceInfo xmlns:p15="http://schemas.microsoft.com/office/powerpoint/2012/main" userId="S-1-5-21-3986518965-3050200376-1710878305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75" autoAdjust="0"/>
    <p:restoredTop sz="94660"/>
  </p:normalViewPr>
  <p:slideViewPr>
    <p:cSldViewPr snapToGrid="0">
      <p:cViewPr varScale="1">
        <p:scale>
          <a:sx n="68" d="100"/>
          <a:sy n="68" d="100"/>
        </p:scale>
        <p:origin x="33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88AFB1-0EF7-468F-BAD8-B8A6DB9B4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42E77B-613B-4BE2-8F06-3C0118AE8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5AD086-69B4-44B7-8A3E-2C45E86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CF3312-1D09-401C-80E9-FEDC64BE4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057215-4CC1-4B37-A24D-0AB99844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370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1A027-1BC7-4A38-B97F-6A6A45084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BD8BAB-7CC1-416F-A64B-E7B4D5F6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329E2-4DF7-495F-9B9A-3B42C07F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CF71A-101E-404C-A9AD-76DA2476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8110E3-18C8-486F-9F3B-0A68A6C0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7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DC4B6A-610E-4FBC-B175-6A77C298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38F315-61BE-49C0-A3A4-DCD8BF6B4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F450AE-95F6-4C08-9FC1-B4847452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BF66A3-87C3-4E8E-B827-9EA57BB75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FC4206-261B-4A04-9E1F-8C0A8C3F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21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156EF-920D-4666-B131-BA15E10CB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8D5419-0491-4226-A7FB-257D73457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878509-AEAA-45E3-A6F3-E713D2147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23F703-96A5-4D11-83CC-DF602F57B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2112E3-A1BA-4960-AE54-D4C42E60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BA2FDF-919F-448C-8290-7DA31393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658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0809C-BAA3-44A7-8A61-D27023E1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F83305-BFDE-4620-A4FF-FE06917D8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36C4DA-761A-402F-AA7E-0A96BB22C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128724-F278-4A6A-95B3-3A8AA1419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CADF41-C48B-4108-8B6B-E6339A9A1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D787015-0C96-463B-9129-F07743054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A50F11-D08B-45D8-8E79-0CBD9E94D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73E233-603A-48B0-BEBE-AFD81E875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8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1EAB4-BF66-4FEC-9861-9013B6AC5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702D14-BB35-4900-A68D-2895E297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BB8A09-9DD7-4303-8E22-C17C91FC6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D97F8F-CEC0-4F17-9615-DB3BEFC6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78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14D09A-A498-438D-B3F7-39ADEB55A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1624232-C431-4070-83B4-7F9E349F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32D404-8AE1-4878-B2E2-48D51239E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832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C8C79-4548-4584-A9F4-EDCC59D6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3FE4EE-8534-415F-94B6-0F9556B6C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0B9565-378B-46BF-B8BE-7231C4BC8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F87B23-6DD8-48C0-B495-DA7485E8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97E69C-A324-4B7D-9338-C6A7D0D1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E0E29-8F85-412A-950E-04B9F4A00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07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24D0F-C6A1-42E6-AA52-38F762AA1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2C0C61-1F84-410F-B077-9FBE85D5A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0BD2EC-05FC-48A0-A4EA-D723576D2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CF1849-6FDE-4ACB-A3B6-19906E3BC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6EB244-70DD-4B78-9E23-9A3D6E52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2924FF-AFD8-4F63-BC29-B1234FF9A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1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7220D-BD72-4C02-B77A-EF3F3FAD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612DB1-812A-4A8A-838F-75816E0AB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1ADBD2-D945-4ADE-AB72-2289DA8B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A283F-0BA0-47C6-B8C9-3889F46D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96107D-2D5E-42BB-ABEC-80AB42E9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55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B46ADF-CEB1-402A-BBB2-2A1A1A4C8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E42A31-712D-48CD-93EC-6DD3F12A1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69F0A1-A66D-4056-A05E-7CD55590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D1D600-9E63-4D05-A1F2-A5507B6AF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4F10C-2174-464A-908D-D7CE3A024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53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B01922-3355-4822-949B-A9AE1D6B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437587-9C59-49FE-9364-0B8969CBD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AE0FF-A614-4BC0-9A13-419D6D7EC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71C3D-AC4E-4FFC-913A-64F861B75F50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0D720C-3F1B-43A8-8B49-B9985EBB6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13A439-7C18-4682-A385-D98A8F683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2ACA0-1E43-47CC-94DA-5BB246371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95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472113A-043D-4322-BD72-59BEB219BA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b="49057"/>
          <a:stretch/>
        </p:blipFill>
        <p:spPr>
          <a:xfrm>
            <a:off x="2286540" y="1444047"/>
            <a:ext cx="7277386" cy="396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91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C89AFB6-45DE-424F-A332-BD50A652AC15}"/>
              </a:ext>
            </a:extLst>
          </p:cNvPr>
          <p:cNvSpPr/>
          <p:nvPr/>
        </p:nvSpPr>
        <p:spPr>
          <a:xfrm>
            <a:off x="961744" y="3262090"/>
            <a:ext cx="93984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线性感知机在数据是两类线性可分离时，可以保证收敛到唯一解。（</a:t>
            </a:r>
            <a:r>
              <a:rPr lang="zh-CN" altLang="zh-CN" kern="100" dirty="0">
                <a:ea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773C8A-3469-4526-8A0E-F7A5A3274F6D}"/>
              </a:ext>
            </a:extLst>
          </p:cNvPr>
          <p:cNvSpPr/>
          <p:nvPr/>
        </p:nvSpPr>
        <p:spPr>
          <a:xfrm>
            <a:off x="961744" y="4519488"/>
            <a:ext cx="8741547" cy="403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近邻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分类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给出一个线性决策边界。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C4D0E746-C677-4AEA-B82A-A57A67AC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AA794E-61A3-49B5-AE38-75C92ACB72EC}"/>
              </a:ext>
            </a:extLst>
          </p:cNvPr>
          <p:cNvSpPr/>
          <p:nvPr/>
        </p:nvSpPr>
        <p:spPr>
          <a:xfrm>
            <a:off x="961745" y="2016008"/>
            <a:ext cx="93984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 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折交叉验证中，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有先验的最佳选择。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zh-CN" kern="100" dirty="0">
                <a:ea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240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28D2082-81B2-4D80-A682-F60A44EDD7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0" t="5292" r="5627" b="2164"/>
          <a:stretch/>
        </p:blipFill>
        <p:spPr>
          <a:xfrm>
            <a:off x="5927324" y="1222809"/>
            <a:ext cx="6096000" cy="393588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59A7675-DAAA-4EF8-BD4E-C981F06DAD55}"/>
              </a:ext>
            </a:extLst>
          </p:cNvPr>
          <p:cNvSpPr/>
          <p:nvPr/>
        </p:nvSpPr>
        <p:spPr>
          <a:xfrm>
            <a:off x="935112" y="1667918"/>
            <a:ext cx="4186563" cy="1101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下列哪个方法是生成模型？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</a:t>
            </a:r>
            <a:endParaRPr lang="zh-CN" altLang="zh-CN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5000"/>
              </a:lnSpc>
              <a:buFont typeface="+mj-lt"/>
              <a:buAutoNum type="alphaUcPeriod"/>
            </a:pPr>
            <a:r>
              <a:rPr lang="zh-CN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朴素贝叶斯法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B. 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感知机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pPr lvl="1" algn="just">
              <a:lnSpc>
                <a:spcPct val="125000"/>
              </a:lnSpc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 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支持向量机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D. </a:t>
            </a:r>
            <a:r>
              <a:rPr lang="zh-CN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逻辑斯蒂回归</a:t>
            </a:r>
            <a:endParaRPr lang="zh-CN" altLang="zh-CN" sz="1400" kern="100" dirty="0">
              <a:solidFill>
                <a:srgbClr val="00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08B385-FCD6-49F3-AE23-34CEB415B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选择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EC298A0-77B6-4FAF-B471-44A88869E70F}"/>
                  </a:ext>
                </a:extLst>
              </p:cNvPr>
              <p:cNvSpPr/>
              <p:nvPr/>
            </p:nvSpPr>
            <p:spPr>
              <a:xfrm>
                <a:off x="935111" y="3117521"/>
                <a:ext cx="5376912" cy="10958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lvl="0" indent="-285750">
                  <a:lnSpc>
                    <a:spcPct val="125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 </a:t>
                </a:r>
                <a:r>
                  <a:rPr lang="pt-BR" altLang="zh-CN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r>
                  <a:rPr lang="pt-BR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pt-BR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 = sign(</a:t>
                </a:r>
                <a:r>
                  <a:rPr lang="pt-BR" altLang="zh-CN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pt-BR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pt-BR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)) 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形式的分类器，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右侧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哪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些损失函数适合于分类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？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</a:t>
                </a: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x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轴表示 </a:t>
                </a:r>
                <a:r>
                  <a:rPr lang="en-US" altLang="zh-CN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yF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yF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)),</a:t>
                </a:r>
                <a:r>
                  <a:rPr lang="en-US" altLang="zh-C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{−1, +1}</m:t>
                    </m:r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latin typeface="宋体" panose="02010600030101010101" pitchFamily="2" charset="-122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zh-CN" dirty="0">
                    <a:solidFill>
                      <a:srgbClr val="000000"/>
                    </a:solidFill>
                    <a:latin typeface="宋体" panose="02010600030101010101" pitchFamily="2" charset="-122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                            </a:t>
                </a:r>
                <a:endParaRPr lang="zh-CN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EC298A0-77B6-4FAF-B471-44A88869E7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11" y="3117521"/>
                <a:ext cx="5376912" cy="1095813"/>
              </a:xfrm>
              <a:prstGeom prst="rect">
                <a:avLst/>
              </a:prstGeom>
              <a:blipFill>
                <a:blip r:embed="rId3"/>
                <a:stretch>
                  <a:fillRect l="-680" t="-1111" r="-1020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41B5F9B5-6886-45FE-A5C4-FA4B8B56C302}"/>
              </a:ext>
            </a:extLst>
          </p:cNvPr>
          <p:cNvSpPr/>
          <p:nvPr/>
        </p:nvSpPr>
        <p:spPr>
          <a:xfrm>
            <a:off x="935111" y="4741876"/>
            <a:ext cx="6096000" cy="1788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对以下异或问题，哪些分类器可以获得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训练误差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zh-CN" dirty="0">
                <a:solidFill>
                  <a:srgbClr val="000000"/>
                </a:solidFill>
                <a:latin typeface="宋体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Aft>
                <a:spcPts val="0"/>
              </a:spcAft>
            </a:pP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Aft>
                <a:spcPts val="0"/>
              </a:spcAft>
            </a:pP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Aft>
                <a:spcPts val="0"/>
              </a:spcAft>
            </a:pP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</a:t>
            </a:r>
            <a:endParaRPr lang="zh-CN" altLang="zh-CN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3938F1-3A00-420F-87F9-82D64AE51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873" y="5285355"/>
            <a:ext cx="1433759" cy="107054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3498C81-4415-4BFA-867A-DE7B3C091B5F}"/>
              </a:ext>
            </a:extLst>
          </p:cNvPr>
          <p:cNvSpPr/>
          <p:nvPr/>
        </p:nvSpPr>
        <p:spPr>
          <a:xfrm>
            <a:off x="3028393" y="5581923"/>
            <a:ext cx="5289984" cy="755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+mj-lt"/>
              <a:buAutoNum type="alphaUcPeriod"/>
            </a:pPr>
            <a:r>
              <a:rPr lang="zh-CN" alt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朴素贝叶斯分类器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B. </a:t>
            </a:r>
            <a:r>
              <a:rPr lang="zh-CN" alt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深度为 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ID3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决策树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pPr lvl="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  3-NN</a:t>
            </a:r>
            <a:r>
              <a:rPr lang="zh-CN" alt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分类器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D. </a:t>
            </a:r>
            <a:r>
              <a:rPr lang="zh-CN" alt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感知机</a:t>
            </a:r>
            <a:endParaRPr lang="zh-CN" altLang="zh-CN" sz="1400" kern="100" dirty="0">
              <a:solidFill>
                <a:srgbClr val="00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98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8D8F32-36B8-475E-BB15-4BB32A088622}"/>
              </a:ext>
            </a:extLst>
          </p:cNvPr>
          <p:cNvSpPr/>
          <p:nvPr/>
        </p:nvSpPr>
        <p:spPr>
          <a:xfrm>
            <a:off x="904038" y="3105853"/>
            <a:ext cx="9815745" cy="409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对于一个二分类问题，假设有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个二元特征，通过朴素贝叶斯分类器进行学习需要多少个参数？</a:t>
            </a:r>
            <a:endParaRPr lang="zh-CN" altLang="zh-CN" sz="1400" kern="100" dirty="0">
              <a:solidFill>
                <a:srgbClr val="00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5">
            <a:extLst>
              <a:ext uri="{FF2B5EF4-FFF2-40B4-BE49-F238E27FC236}">
                <a16:creationId xmlns:a16="http://schemas.microsoft.com/office/drawing/2014/main" id="{EABB57FA-380B-43DF-971E-4C912C2FBB6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简答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2095EB-5D0C-4AD2-9BF1-8055347C261C}"/>
              </a:ext>
            </a:extLst>
          </p:cNvPr>
          <p:cNvSpPr/>
          <p:nvPr/>
        </p:nvSpPr>
        <p:spPr>
          <a:xfrm>
            <a:off x="904039" y="1686500"/>
            <a:ext cx="9815745" cy="409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什么是统计学习？统计学习的对象和关于研究对象的基本假设是什么？</a:t>
            </a:r>
            <a:endParaRPr lang="zh-CN" altLang="zh-CN" sz="1400" kern="100" dirty="0">
              <a:solidFill>
                <a:srgbClr val="00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BFBCA4-49EC-48C7-977B-3C387780DCB7}"/>
              </a:ext>
            </a:extLst>
          </p:cNvPr>
          <p:cNvSpPr/>
          <p:nvPr/>
        </p:nvSpPr>
        <p:spPr>
          <a:xfrm>
            <a:off x="904038" y="4416229"/>
            <a:ext cx="9753599" cy="755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已知输入训练数据集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，特征以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表示，特征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的取值以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表示，写出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CART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决策树的生成算法（不包括剪枝）。上述算法与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ID3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算法构建子节点的方式有何区别？</a:t>
            </a:r>
            <a:endParaRPr lang="zh-CN" altLang="zh-CN" sz="1400" kern="100" dirty="0">
              <a:solidFill>
                <a:srgbClr val="00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31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5">
            <a:extLst>
              <a:ext uri="{FF2B5EF4-FFF2-40B4-BE49-F238E27FC236}">
                <a16:creationId xmlns:a16="http://schemas.microsoft.com/office/drawing/2014/main" id="{EABB57FA-380B-43DF-971E-4C912C2FBB6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计算与论述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5B9899-9162-4594-84D2-25E0361B3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652" y="1287262"/>
            <a:ext cx="8193950" cy="443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8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图片 8">
            <a:extLst>
              <a:ext uri="{FF2B5EF4-FFF2-40B4-BE49-F238E27FC236}">
                <a16:creationId xmlns:a16="http://schemas.microsoft.com/office/drawing/2014/main" id="{7E63AA6E-A352-4F67-92FF-8FF29BED2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908" y="1456419"/>
            <a:ext cx="4269223" cy="3202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80B0E87-BCF9-41FA-8521-6F7F5D045953}"/>
                  </a:ext>
                </a:extLst>
              </p:cNvPr>
              <p:cNvSpPr/>
              <p:nvPr/>
            </p:nvSpPr>
            <p:spPr>
              <a:xfrm>
                <a:off x="515692" y="1416676"/>
                <a:ext cx="7145737" cy="8781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假设图中所示的原始数据集为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，标签</a:t>
                </a:r>
                <a:r>
                  <a:rPr lang="zh-CN" altLang="zh-CN" dirty="0">
                    <a:latin typeface="宋体" panose="02010600030101010101" pitchFamily="2" charset="-122"/>
                    <a:ea typeface="Times New Roman" panose="02020603050405020304" pitchFamily="18" charset="0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=−1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</a:t>
                </a:r>
                <a:r>
                  <a:rPr lang="zh-CN" altLang="zh-CN" dirty="0">
                    <a:latin typeface="宋体" panose="02010600030101010101" pitchFamily="2" charset="-122"/>
                    <a:ea typeface="Times New Roman" panose="02020603050405020304" pitchFamily="18" charset="0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的类别是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“</a:t>
                </a:r>
                <a:r>
                  <a:rPr lang="en-US" altLang="zh-CN" b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+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”</a:t>
                </a: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</a:t>
                </a:r>
                <a:r>
                  <a:rPr lang="zh-CN" altLang="zh-CN" dirty="0">
                    <a:latin typeface="宋体" panose="02010600030101010101" pitchFamily="2" charset="-122"/>
                    <a:ea typeface="Times New Roman" panose="02020603050405020304" pitchFamily="18" charset="0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的类别是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“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o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”</a:t>
                </a: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80B0E87-BCF9-41FA-8521-6F7F5D045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92" y="1416676"/>
                <a:ext cx="7145737" cy="878189"/>
              </a:xfrm>
              <a:prstGeom prst="rect">
                <a:avLst/>
              </a:prstGeom>
              <a:blipFill>
                <a:blip r:embed="rId3"/>
                <a:stretch>
                  <a:fillRect l="-597"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93B2017-0124-4F66-B239-38240DBCEE51}"/>
                  </a:ext>
                </a:extLst>
              </p:cNvPr>
              <p:cNvSpPr/>
              <p:nvPr/>
            </p:nvSpPr>
            <p:spPr>
              <a:xfrm>
                <a:off x="730414" y="2742239"/>
                <a:ext cx="6496009" cy="17129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仅考虑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2</a:t>
                </a: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维的情况，给定参数</a:t>
                </a:r>
                <a:r>
                  <a:rPr lang="zh-CN" altLang="zh-CN" dirty="0">
                    <a:latin typeface="宋体" panose="02010600030101010101" pitchFamily="2" charset="-122"/>
                    <a:ea typeface="Times New Roman" panose="02020603050405020304" pitchFamily="18" charset="0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，最小化下述风险函数：</a:t>
                </a:r>
                <a:endParaRPr lang="zh-CN" altLang="zh-CN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𝐿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ln</m:t>
                          </m:r>
                        </m:e>
                      </m:nary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93B2017-0124-4F66-B239-38240DBCEE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14" y="2742239"/>
                <a:ext cx="6496009" cy="1712905"/>
              </a:xfrm>
              <a:prstGeom prst="rect">
                <a:avLst/>
              </a:prstGeom>
              <a:blipFill>
                <a:blip r:embed="rId4"/>
                <a:stretch>
                  <a:fillRect l="-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661FD52-9E21-46CB-830E-046A98686280}"/>
                  </a:ext>
                </a:extLst>
              </p:cNvPr>
              <p:cNvSpPr/>
              <p:nvPr/>
            </p:nvSpPr>
            <p:spPr>
              <a:xfrm>
                <a:off x="730414" y="4755570"/>
                <a:ext cx="11017220" cy="14229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为正则化项（即只针对单一的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进行正则化惩罚）。对于图中的训练数据集，如果仅使用逻辑斯蒂回归进行分类，最终训练误差是多少，为什么？如果添加了正则化惩罚项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，对于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=1, 2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，随着参数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的增大，训练误差分别如何变化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？</a:t>
                </a:r>
                <a:endParaRPr lang="zh-CN" altLang="zh-CN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661FD52-9E21-46CB-830E-046A986862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14" y="4755570"/>
                <a:ext cx="11017220" cy="1422954"/>
              </a:xfrm>
              <a:prstGeom prst="rect">
                <a:avLst/>
              </a:prstGeom>
              <a:blipFill>
                <a:blip r:embed="rId5"/>
                <a:stretch>
                  <a:fillRect l="-498" r="-2546" b="-4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标题 5">
            <a:extLst>
              <a:ext uri="{FF2B5EF4-FFF2-40B4-BE49-F238E27FC236}">
                <a16:creationId xmlns:a16="http://schemas.microsoft.com/office/drawing/2014/main" id="{B8394AB5-0F29-44B6-A4FC-92E63A0BBA3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计算与论述</a:t>
            </a:r>
          </a:p>
        </p:txBody>
      </p:sp>
    </p:spTree>
    <p:extLst>
      <p:ext uri="{BB962C8B-B14F-4D97-AF65-F5344CB8AC3E}">
        <p14:creationId xmlns:p14="http://schemas.microsoft.com/office/powerpoint/2010/main" val="1081938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410</Words>
  <Application>Microsoft Office PowerPoint</Application>
  <PresentationFormat>宽屏</PresentationFormat>
  <Paragraphs>26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宋体</vt:lpstr>
      <vt:lpstr>Arial</vt:lpstr>
      <vt:lpstr>Cambria Math</vt:lpstr>
      <vt:lpstr>Times New Roman</vt:lpstr>
      <vt:lpstr>Office 主题​​</vt:lpstr>
      <vt:lpstr>PowerPoint 演示文稿</vt:lpstr>
      <vt:lpstr>判断</vt:lpstr>
      <vt:lpstr>选择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CaoChancy</dc:creator>
  <cp:lastModifiedBy>Chancy Cao</cp:lastModifiedBy>
  <cp:revision>22</cp:revision>
  <dcterms:created xsi:type="dcterms:W3CDTF">2024-10-10T07:55:04Z</dcterms:created>
  <dcterms:modified xsi:type="dcterms:W3CDTF">2025-10-22T01:43:26Z</dcterms:modified>
</cp:coreProperties>
</file>