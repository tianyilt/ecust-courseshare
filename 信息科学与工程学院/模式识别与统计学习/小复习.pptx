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75" r:id="rId3"/>
    <p:sldId id="694" r:id="rId4"/>
    <p:sldId id="276" r:id="rId5"/>
    <p:sldId id="277" r:id="rId6"/>
    <p:sldId id="278" r:id="rId7"/>
    <p:sldId id="279" r:id="rId8"/>
    <p:sldId id="280" r:id="rId9"/>
    <p:sldId id="281" r:id="rId10"/>
    <p:sldId id="695" r:id="rId11"/>
    <p:sldId id="283" r:id="rId12"/>
    <p:sldId id="643" r:id="rId13"/>
    <p:sldId id="690" r:id="rId14"/>
    <p:sldId id="284" r:id="rId15"/>
    <p:sldId id="604" r:id="rId16"/>
    <p:sldId id="622" r:id="rId17"/>
    <p:sldId id="623" r:id="rId18"/>
    <p:sldId id="692" r:id="rId19"/>
    <p:sldId id="266" r:id="rId20"/>
    <p:sldId id="267" r:id="rId21"/>
    <p:sldId id="268" r:id="rId22"/>
    <p:sldId id="272" r:id="rId23"/>
    <p:sldId id="954" r:id="rId24"/>
    <p:sldId id="955" r:id="rId25"/>
    <p:sldId id="956" r:id="rId26"/>
    <p:sldId id="957" r:id="rId27"/>
    <p:sldId id="257" r:id="rId28"/>
    <p:sldId id="258" r:id="rId29"/>
    <p:sldId id="259" r:id="rId30"/>
    <p:sldId id="260" r:id="rId31"/>
    <p:sldId id="261" r:id="rId32"/>
    <p:sldId id="262" r:id="rId33"/>
    <p:sldId id="263" r:id="rId34"/>
    <p:sldId id="264" r:id="rId35"/>
    <p:sldId id="265" r:id="rId36"/>
    <p:sldId id="958" r:id="rId37"/>
    <p:sldId id="959" r:id="rId38"/>
    <p:sldId id="960" r:id="rId39"/>
    <p:sldId id="961" r:id="rId40"/>
    <p:sldId id="962" r:id="rId41"/>
    <p:sldId id="963" r:id="rId42"/>
    <p:sldId id="964" r:id="rId43"/>
    <p:sldId id="965"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1" autoAdjust="0"/>
    <p:restoredTop sz="94660"/>
  </p:normalViewPr>
  <p:slideViewPr>
    <p:cSldViewPr snapToGrid="0">
      <p:cViewPr varScale="1">
        <p:scale>
          <a:sx n="88" d="100"/>
          <a:sy n="88" d="100"/>
        </p:scale>
        <p:origin x="82"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0BC7DA-344F-4899-A2B5-12A9596685AE}" type="datetimeFigureOut">
              <a:rPr lang="zh-CN" altLang="en-US" smtClean="0"/>
              <a:t>2025/10/21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BAC1D-FE94-47D6-B866-F2967E8A4D40}" type="slidenum">
              <a:rPr lang="zh-CN" altLang="en-US" smtClean="0"/>
              <a:t>‹#›</a:t>
            </a:fld>
            <a:endParaRPr lang="zh-CN" altLang="en-US"/>
          </a:p>
        </p:txBody>
      </p:sp>
    </p:spTree>
    <p:extLst>
      <p:ext uri="{BB962C8B-B14F-4D97-AF65-F5344CB8AC3E}">
        <p14:creationId xmlns:p14="http://schemas.microsoft.com/office/powerpoint/2010/main" val="3220091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Graph_of_a_function"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en.wikipedia.org/wiki/Binary_classifier"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3</a:t>
            </a:fld>
            <a:endParaRPr lang="zh-CN" altLang="en-US"/>
          </a:p>
        </p:txBody>
      </p:sp>
    </p:spTree>
    <p:extLst>
      <p:ext uri="{BB962C8B-B14F-4D97-AF65-F5344CB8AC3E}">
        <p14:creationId xmlns:p14="http://schemas.microsoft.com/office/powerpoint/2010/main" val="1639046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4</a:t>
            </a:fld>
            <a:endParaRPr lang="zh-CN" altLang="en-US"/>
          </a:p>
        </p:txBody>
      </p:sp>
    </p:spTree>
    <p:extLst>
      <p:ext uri="{BB962C8B-B14F-4D97-AF65-F5344CB8AC3E}">
        <p14:creationId xmlns:p14="http://schemas.microsoft.com/office/powerpoint/2010/main" val="271236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5</a:t>
            </a:fld>
            <a:endParaRPr lang="zh-CN" altLang="en-US"/>
          </a:p>
        </p:txBody>
      </p:sp>
    </p:spTree>
    <p:extLst>
      <p:ext uri="{BB962C8B-B14F-4D97-AF65-F5344CB8AC3E}">
        <p14:creationId xmlns:p14="http://schemas.microsoft.com/office/powerpoint/2010/main" val="837515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6</a:t>
            </a:fld>
            <a:endParaRPr lang="zh-CN" altLang="en-US"/>
          </a:p>
        </p:txBody>
      </p:sp>
    </p:spTree>
    <p:extLst>
      <p:ext uri="{BB962C8B-B14F-4D97-AF65-F5344CB8AC3E}">
        <p14:creationId xmlns:p14="http://schemas.microsoft.com/office/powerpoint/2010/main" val="3492282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7</a:t>
            </a:fld>
            <a:endParaRPr lang="zh-CN" altLang="en-US"/>
          </a:p>
        </p:txBody>
      </p:sp>
    </p:spTree>
    <p:extLst>
      <p:ext uri="{BB962C8B-B14F-4D97-AF65-F5344CB8AC3E}">
        <p14:creationId xmlns:p14="http://schemas.microsoft.com/office/powerpoint/2010/main" val="3133371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8</a:t>
            </a:fld>
            <a:endParaRPr lang="zh-CN" altLang="en-US"/>
          </a:p>
        </p:txBody>
      </p:sp>
    </p:spTree>
    <p:extLst>
      <p:ext uri="{BB962C8B-B14F-4D97-AF65-F5344CB8AC3E}">
        <p14:creationId xmlns:p14="http://schemas.microsoft.com/office/powerpoint/2010/main" val="2561769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B8A73D-F6C9-4D0E-809F-3C0746157447}" type="slidenum">
              <a:rPr lang="zh-CN" altLang="en-US" smtClean="0"/>
              <a:t>9</a:t>
            </a:fld>
            <a:endParaRPr lang="zh-CN" altLang="en-US"/>
          </a:p>
        </p:txBody>
      </p:sp>
    </p:spTree>
    <p:extLst>
      <p:ext uri="{BB962C8B-B14F-4D97-AF65-F5344CB8AC3E}">
        <p14:creationId xmlns:p14="http://schemas.microsoft.com/office/powerpoint/2010/main" val="2135574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fld id="{70892B5D-4C12-4694-9357-C4D47F78D8DC}" type="slidenum">
              <a:rPr lang="zh-CN" altLang="en-US" smtClean="0"/>
              <a:t>15</a:t>
            </a:fld>
            <a:endParaRPr lang="zh-CN" altLang="en-US"/>
          </a:p>
        </p:txBody>
      </p:sp>
    </p:spTree>
    <p:extLst>
      <p:ext uri="{BB962C8B-B14F-4D97-AF65-F5344CB8AC3E}">
        <p14:creationId xmlns:p14="http://schemas.microsoft.com/office/powerpoint/2010/main" val="1730772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fld id="{70892B5D-4C12-4694-9357-C4D47F78D8DC}" type="slidenum">
              <a:rPr lang="zh-CN" altLang="en-US" smtClean="0"/>
              <a:t>16</a:t>
            </a:fld>
            <a:endParaRPr lang="zh-CN" altLang="en-US"/>
          </a:p>
        </p:txBody>
      </p:sp>
    </p:spTree>
    <p:extLst>
      <p:ext uri="{BB962C8B-B14F-4D97-AF65-F5344CB8AC3E}">
        <p14:creationId xmlns:p14="http://schemas.microsoft.com/office/powerpoint/2010/main" val="3257837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b="0" i="0" kern="1200" dirty="0">
                <a:solidFill>
                  <a:schemeClr val="tx1"/>
                </a:solidFill>
                <a:effectLst/>
                <a:latin typeface="+mn-lt"/>
                <a:ea typeface="+mn-ea"/>
                <a:cs typeface="+mn-cs"/>
              </a:rPr>
              <a:t>A </a:t>
            </a:r>
            <a:r>
              <a:rPr lang="en-US" altLang="zh-CN" sz="1200" b="1" i="0" kern="1200" dirty="0">
                <a:solidFill>
                  <a:schemeClr val="tx1"/>
                </a:solidFill>
                <a:effectLst/>
                <a:latin typeface="+mn-lt"/>
                <a:ea typeface="+mn-ea"/>
                <a:cs typeface="+mn-cs"/>
              </a:rPr>
              <a:t>receiver operating characteristic curve</a:t>
            </a:r>
            <a:r>
              <a:rPr lang="en-US" altLang="zh-CN" sz="1200" b="0" i="0" kern="1200" dirty="0">
                <a:solidFill>
                  <a:schemeClr val="tx1"/>
                </a:solidFill>
                <a:effectLst/>
                <a:latin typeface="+mn-lt"/>
                <a:ea typeface="+mn-ea"/>
                <a:cs typeface="+mn-cs"/>
              </a:rPr>
              <a:t>, or </a:t>
            </a:r>
            <a:r>
              <a:rPr lang="en-US" altLang="zh-CN" sz="1200" b="1" i="0" kern="1200" dirty="0">
                <a:solidFill>
                  <a:schemeClr val="tx1"/>
                </a:solidFill>
                <a:effectLst/>
                <a:latin typeface="+mn-lt"/>
                <a:ea typeface="+mn-ea"/>
                <a:cs typeface="+mn-cs"/>
              </a:rPr>
              <a:t>ROC curve</a:t>
            </a:r>
            <a:r>
              <a:rPr lang="en-US" altLang="zh-CN" sz="1200" b="0" i="0" kern="1200" dirty="0">
                <a:solidFill>
                  <a:schemeClr val="tx1"/>
                </a:solidFill>
                <a:effectLst/>
                <a:latin typeface="+mn-lt"/>
                <a:ea typeface="+mn-ea"/>
                <a:cs typeface="+mn-cs"/>
              </a:rPr>
              <a:t>, is a </a:t>
            </a:r>
            <a:r>
              <a:rPr lang="en-US" altLang="zh-CN" sz="1200" b="0" i="0" u="none" strike="noStrike" kern="1200" dirty="0">
                <a:solidFill>
                  <a:schemeClr val="tx1"/>
                </a:solidFill>
                <a:effectLst/>
                <a:latin typeface="+mn-lt"/>
                <a:ea typeface="+mn-ea"/>
                <a:cs typeface="+mn-cs"/>
                <a:hlinkClick r:id="rId3" tooltip="Graph of a function"/>
              </a:rPr>
              <a:t>graphical plot</a:t>
            </a:r>
            <a:r>
              <a:rPr lang="en-US" altLang="zh-CN" sz="1200" b="0" i="0" kern="1200" dirty="0">
                <a:solidFill>
                  <a:schemeClr val="tx1"/>
                </a:solidFill>
                <a:effectLst/>
                <a:latin typeface="+mn-lt"/>
                <a:ea typeface="+mn-ea"/>
                <a:cs typeface="+mn-cs"/>
              </a:rPr>
              <a:t> that illustrates the diagnostic ability of a </a:t>
            </a:r>
            <a:r>
              <a:rPr lang="en-US" altLang="zh-CN" sz="1200" b="0" i="0" u="none" strike="noStrike" kern="1200" dirty="0">
                <a:solidFill>
                  <a:schemeClr val="tx1"/>
                </a:solidFill>
                <a:effectLst/>
                <a:latin typeface="+mn-lt"/>
                <a:ea typeface="+mn-ea"/>
                <a:cs typeface="+mn-cs"/>
                <a:hlinkClick r:id="rId4" tooltip="Binary classifier"/>
              </a:rPr>
              <a:t>binary classifier</a:t>
            </a:r>
            <a:r>
              <a:rPr lang="en-US" altLang="zh-CN" sz="1200" b="0" i="0" kern="1200" dirty="0">
                <a:solidFill>
                  <a:schemeClr val="tx1"/>
                </a:solidFill>
                <a:effectLst/>
                <a:latin typeface="+mn-lt"/>
                <a:ea typeface="+mn-ea"/>
                <a:cs typeface="+mn-cs"/>
              </a:rPr>
              <a:t> system as its discrimination threshold is varied. The method was originally developed for operators of military radar receivers starting in 1941, which led to its name.</a:t>
            </a:r>
            <a:endParaRPr lang="en-US" altLang="zh-CN" dirty="0"/>
          </a:p>
        </p:txBody>
      </p:sp>
      <p:sp>
        <p:nvSpPr>
          <p:cNvPr id="4" name="灯片编号占位符 3"/>
          <p:cNvSpPr>
            <a:spLocks noGrp="1"/>
          </p:cNvSpPr>
          <p:nvPr>
            <p:ph type="sldNum" sz="quarter" idx="10"/>
          </p:nvPr>
        </p:nvSpPr>
        <p:spPr/>
        <p:txBody>
          <a:bodyPr/>
          <a:lstStyle/>
          <a:p>
            <a:fld id="{70892B5D-4C12-4694-9357-C4D47F78D8DC}" type="slidenum">
              <a:rPr lang="zh-CN" altLang="en-US" smtClean="0"/>
              <a:t>17</a:t>
            </a:fld>
            <a:endParaRPr lang="zh-CN" altLang="en-US"/>
          </a:p>
        </p:txBody>
      </p:sp>
    </p:spTree>
    <p:extLst>
      <p:ext uri="{BB962C8B-B14F-4D97-AF65-F5344CB8AC3E}">
        <p14:creationId xmlns:p14="http://schemas.microsoft.com/office/powerpoint/2010/main" val="204258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8A73D-F6C9-4D0E-809F-3C0746157447}" type="slidenum">
              <a:rPr lang="zh-CN" altLang="en-US" smtClean="0"/>
              <a:t>18</a:t>
            </a:fld>
            <a:endParaRPr lang="zh-CN" altLang="en-US"/>
          </a:p>
        </p:txBody>
      </p:sp>
    </p:spTree>
    <p:extLst>
      <p:ext uri="{BB962C8B-B14F-4D97-AF65-F5344CB8AC3E}">
        <p14:creationId xmlns:p14="http://schemas.microsoft.com/office/powerpoint/2010/main" val="2318222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8A73D-F6C9-4D0E-809F-3C0746157447}" type="slidenum">
              <a:rPr lang="zh-CN" altLang="en-US" smtClean="0"/>
              <a:t>21</a:t>
            </a:fld>
            <a:endParaRPr lang="zh-CN" altLang="en-US"/>
          </a:p>
        </p:txBody>
      </p:sp>
    </p:spTree>
    <p:extLst>
      <p:ext uri="{BB962C8B-B14F-4D97-AF65-F5344CB8AC3E}">
        <p14:creationId xmlns:p14="http://schemas.microsoft.com/office/powerpoint/2010/main" val="794222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8A73D-F6C9-4D0E-809F-3C0746157447}" type="slidenum">
              <a:rPr lang="zh-CN" altLang="en-US" smtClean="0"/>
              <a:t>23</a:t>
            </a:fld>
            <a:endParaRPr lang="zh-CN" altLang="en-US"/>
          </a:p>
        </p:txBody>
      </p:sp>
    </p:spTree>
    <p:extLst>
      <p:ext uri="{BB962C8B-B14F-4D97-AF65-F5344CB8AC3E}">
        <p14:creationId xmlns:p14="http://schemas.microsoft.com/office/powerpoint/2010/main" val="11110719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8A73D-F6C9-4D0E-809F-3C0746157447}" type="slidenum">
              <a:rPr lang="zh-CN" altLang="en-US" smtClean="0"/>
              <a:t>25</a:t>
            </a:fld>
            <a:endParaRPr lang="zh-CN" altLang="en-US"/>
          </a:p>
        </p:txBody>
      </p:sp>
    </p:spTree>
    <p:extLst>
      <p:ext uri="{BB962C8B-B14F-4D97-AF65-F5344CB8AC3E}">
        <p14:creationId xmlns:p14="http://schemas.microsoft.com/office/powerpoint/2010/main" val="200527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D670D-1AE0-D946-3746-D18C5F3A747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16CDD9E-1019-7C99-3800-0CA5394E96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822F099-6C38-872B-112E-CC04919D6481}"/>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5" name="页脚占位符 4">
            <a:extLst>
              <a:ext uri="{FF2B5EF4-FFF2-40B4-BE49-F238E27FC236}">
                <a16:creationId xmlns:a16="http://schemas.microsoft.com/office/drawing/2014/main" id="{0381AD60-F96E-130D-62AF-B0FEBF42C5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4109CDA-F16C-9A2C-8456-35E368BB9F1F}"/>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2728137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B6F85-E776-39F2-F2A6-731AB54B3F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FD946A-F20E-9322-037F-158F8096971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C083CD-25EB-34F5-A625-FF3C989C7E67}"/>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5" name="页脚占位符 4">
            <a:extLst>
              <a:ext uri="{FF2B5EF4-FFF2-40B4-BE49-F238E27FC236}">
                <a16:creationId xmlns:a16="http://schemas.microsoft.com/office/drawing/2014/main" id="{B3506787-628F-3D6A-029B-41851BF3CE1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92FC0E-8EB7-DFDF-5A8F-B7EB66E17FD1}"/>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66247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42C517-6511-BACF-645E-0A1B3700D7B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43A9689-CEAB-1DDB-8A28-F1043214A7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D8DE201-D7B4-D77D-1E0B-0290F8B66B00}"/>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5" name="页脚占位符 4">
            <a:extLst>
              <a:ext uri="{FF2B5EF4-FFF2-40B4-BE49-F238E27FC236}">
                <a16:creationId xmlns:a16="http://schemas.microsoft.com/office/drawing/2014/main" id="{A347600E-EE3A-C4C3-3673-2F749E8172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51AE516-97DF-CB76-F601-74AAD843E8B8}"/>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339827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492A5-DD3F-368F-2E1C-37231E7E6F4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FDD5D1-76D3-067C-6150-53E62B4AA1D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E0AC30F-52E3-CEA7-C7EF-E2B865FB9B7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1246CD-F210-FABD-89E0-8B646E7D7EF9}"/>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6" name="页脚占位符 5">
            <a:extLst>
              <a:ext uri="{FF2B5EF4-FFF2-40B4-BE49-F238E27FC236}">
                <a16:creationId xmlns:a16="http://schemas.microsoft.com/office/drawing/2014/main" id="{76DE3445-17A0-490D-C8C8-8CE6900CE2C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1D46E9-D245-2F6C-5B47-F6CB59CD251B}"/>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1133776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AB4A9-508D-314F-9D69-21FA6B76926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84DBF3D-636A-8573-F5AA-60AF0F09D7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5BBAC16-2EDF-2B01-B82F-BDC695C7B92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0063E5-6074-C534-EB69-C9451FF662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4439571-C127-F880-F3F0-21D0056E938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6BEEA61-8ED5-3BCE-C5B2-9BA7BCC0CC10}"/>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8" name="页脚占位符 7">
            <a:extLst>
              <a:ext uri="{FF2B5EF4-FFF2-40B4-BE49-F238E27FC236}">
                <a16:creationId xmlns:a16="http://schemas.microsoft.com/office/drawing/2014/main" id="{1F2311EC-3E4A-F15C-7F81-A78BC8D54C3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83EDD2C-B518-AE0B-1DA1-8BB2C37D4A6E}"/>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141977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098C61-797D-8886-A58F-40DD0C24719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516F515-7DC0-A1FB-EE21-6B46F246DA65}"/>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4" name="页脚占位符 3">
            <a:extLst>
              <a:ext uri="{FF2B5EF4-FFF2-40B4-BE49-F238E27FC236}">
                <a16:creationId xmlns:a16="http://schemas.microsoft.com/office/drawing/2014/main" id="{3CE8CBD0-DC64-2C84-76F8-39726B162FC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E5717A7-7F56-083C-0A75-C0B4EE394BD9}"/>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2378264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6C03EE7-D55A-4E2C-43E9-3D9359A05B68}"/>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3" name="页脚占位符 2">
            <a:extLst>
              <a:ext uri="{FF2B5EF4-FFF2-40B4-BE49-F238E27FC236}">
                <a16:creationId xmlns:a16="http://schemas.microsoft.com/office/drawing/2014/main" id="{3A78AE9D-FF7B-7DD2-92DE-53570331C35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82CD067-724F-3C0E-A498-8D96CCF45C00}"/>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2784922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6EB318-2341-EE25-F23B-4F68F009C0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C1AF8DD-005E-D90E-FAA4-B82BDF427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1F771BC-875B-6E93-3913-3FE70D7E70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E9C9FC3-38D5-084B-44E1-12482EDCA9E5}"/>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6" name="页脚占位符 5">
            <a:extLst>
              <a:ext uri="{FF2B5EF4-FFF2-40B4-BE49-F238E27FC236}">
                <a16:creationId xmlns:a16="http://schemas.microsoft.com/office/drawing/2014/main" id="{4F8FE89A-4FB7-36EC-BFC1-EFAABADDFB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7F27D20-7850-F216-BCC8-570B243DEC83}"/>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3866430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E45D50-595F-9C69-760D-C2FE3ADA7D3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ED3B572-3C68-2E2F-BA89-5849189EFE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4F82ED9-D943-09A8-2A8E-FDBB6A925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37CBBAD-0484-BE9A-00A8-2F3C313BF044}"/>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6" name="页脚占位符 5">
            <a:extLst>
              <a:ext uri="{FF2B5EF4-FFF2-40B4-BE49-F238E27FC236}">
                <a16:creationId xmlns:a16="http://schemas.microsoft.com/office/drawing/2014/main" id="{69074CFC-E5CE-4BAD-28E0-9CF9817527E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5FA44B-B7A8-971F-D851-B21B18C1555C}"/>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1564364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D2361D-F8CD-96A5-86AC-D11F88DFCC3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A022B13-7035-FBE1-A27E-F055AAF3BEC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4C15DF-BB95-2D95-6A97-57E0DCF28269}"/>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5" name="页脚占位符 4">
            <a:extLst>
              <a:ext uri="{FF2B5EF4-FFF2-40B4-BE49-F238E27FC236}">
                <a16:creationId xmlns:a16="http://schemas.microsoft.com/office/drawing/2014/main" id="{694D1FEC-EBD3-F70A-ECEF-74A0A784EAE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A98C0D-0134-C135-195F-6ADB4911AE1E}"/>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898319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581EB91-1B48-C24D-8792-406B27B443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95A6AAA-9E95-7840-6CB8-E4799393BFF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D42AC9-EE0E-3A57-B485-70F279BC1239}"/>
              </a:ext>
            </a:extLst>
          </p:cNvPr>
          <p:cNvSpPr>
            <a:spLocks noGrp="1"/>
          </p:cNvSpPr>
          <p:nvPr>
            <p:ph type="dt" sz="half" idx="10"/>
          </p:nvPr>
        </p:nvSpPr>
        <p:spPr/>
        <p:txBody>
          <a:bodyPr/>
          <a:lstStyle/>
          <a:p>
            <a:fld id="{658C4449-9E9C-4B31-9D52-41204D6D8A97}" type="datetimeFigureOut">
              <a:rPr lang="zh-CN" altLang="en-US" smtClean="0"/>
              <a:t>2025/10/21</a:t>
            </a:fld>
            <a:endParaRPr lang="zh-CN" altLang="en-US"/>
          </a:p>
        </p:txBody>
      </p:sp>
      <p:sp>
        <p:nvSpPr>
          <p:cNvPr id="5" name="页脚占位符 4">
            <a:extLst>
              <a:ext uri="{FF2B5EF4-FFF2-40B4-BE49-F238E27FC236}">
                <a16:creationId xmlns:a16="http://schemas.microsoft.com/office/drawing/2014/main" id="{A833B71B-F40D-5EE5-5070-5049A1746F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AB4B9A-08B1-2F55-B69B-E247D25696C1}"/>
              </a:ext>
            </a:extLst>
          </p:cNvPr>
          <p:cNvSpPr>
            <a:spLocks noGrp="1"/>
          </p:cNvSpPr>
          <p:nvPr>
            <p:ph type="sldNum" sz="quarter" idx="12"/>
          </p:nvPr>
        </p:nvSpPr>
        <p:spPr/>
        <p:txBody>
          <a:body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1009075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25586"/>
                </a:solidFill>
                <a:latin typeface="Microsoft JhengHei"/>
                <a:cs typeface="Microsoft JhengHei"/>
              </a:defRPr>
            </a:lvl1pPr>
          </a:lstStyle>
          <a:p>
            <a:endParaRPr/>
          </a:p>
        </p:txBody>
      </p:sp>
      <p:sp>
        <p:nvSpPr>
          <p:cNvPr id="3" name="Holder 3"/>
          <p:cNvSpPr>
            <a:spLocks noGrp="1"/>
          </p:cNvSpPr>
          <p:nvPr>
            <p:ph sz="half" idx="2"/>
          </p:nvPr>
        </p:nvSpPr>
        <p:spPr>
          <a:xfrm>
            <a:off x="609601"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79"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zh-CN" altLang="en-US">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solidFill>
                  <a:prstClr val="black">
                    <a:tint val="75000"/>
                  </a:prstClr>
                </a:solidFill>
              </a:rPr>
              <a:pPr/>
              <a:t>10/21/2025</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defRPr sz="900" b="1" i="0">
                <a:solidFill>
                  <a:srgbClr val="125586"/>
                </a:solidFill>
                <a:latin typeface="Arial"/>
                <a:cs typeface="Arial"/>
              </a:defRPr>
            </a:lvl1pPr>
          </a:lstStyle>
          <a:p>
            <a:pPr marL="50959"/>
            <a:fld id="{81D60167-4931-47E6-BA6A-407CBD079E47}" type="slidenum">
              <a:rPr lang="en-US" altLang="zh-CN" smtClean="0"/>
              <a:pPr marL="50959"/>
              <a:t>‹#›</a:t>
            </a:fld>
            <a:endParaRPr lang="en-US" altLang="zh-CN" dirty="0"/>
          </a:p>
        </p:txBody>
      </p:sp>
    </p:spTree>
    <p:extLst>
      <p:ext uri="{BB962C8B-B14F-4D97-AF65-F5344CB8AC3E}">
        <p14:creationId xmlns:p14="http://schemas.microsoft.com/office/powerpoint/2010/main" val="743149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0C7A2-D213-C1B9-FEFE-9828A7EF25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2155398-F6F9-8341-1C40-AABAA6B5FB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9DA74F-CFA8-EEB5-F329-B33AB27DAC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C4449-9E9C-4B31-9D52-41204D6D8A97}" type="datetimeFigureOut">
              <a:rPr lang="zh-CN" altLang="en-US" smtClean="0"/>
              <a:t>2025/10/21</a:t>
            </a:fld>
            <a:endParaRPr lang="zh-CN" altLang="en-US"/>
          </a:p>
        </p:txBody>
      </p:sp>
      <p:sp>
        <p:nvSpPr>
          <p:cNvPr id="5" name="页脚占位符 4">
            <a:extLst>
              <a:ext uri="{FF2B5EF4-FFF2-40B4-BE49-F238E27FC236}">
                <a16:creationId xmlns:a16="http://schemas.microsoft.com/office/drawing/2014/main" id="{99F15C33-98EC-6E6A-5F29-BB15C326CB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3E14130-8C9B-6563-C6D9-94776D47C8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2FA51C-EA84-40CC-B561-81C5059B9DB4}" type="slidenum">
              <a:rPr lang="zh-CN" altLang="en-US" smtClean="0"/>
              <a:t>‹#›</a:t>
            </a:fld>
            <a:endParaRPr lang="zh-CN" altLang="en-US"/>
          </a:p>
        </p:txBody>
      </p:sp>
    </p:spTree>
    <p:extLst>
      <p:ext uri="{BB962C8B-B14F-4D97-AF65-F5344CB8AC3E}">
        <p14:creationId xmlns:p14="http://schemas.microsoft.com/office/powerpoint/2010/main" val="2056181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13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scikit-learn.org/stable/modules/generated/sklearn.model_selection.ShuffleSplit.html#sklearn.model_selection.ShuffleSplit" TargetMode="External"/><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scikit-learn.org/stable/modules/generated/sklearn.model_selection.StratifiedShuffleSplit.html#sklearn.model_selection.StratifiedShuffleSplit"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BA33DA-F3B5-F033-614A-8A139E93885F}"/>
              </a:ext>
            </a:extLst>
          </p:cNvPr>
          <p:cNvSpPr>
            <a:spLocks noGrp="1"/>
          </p:cNvSpPr>
          <p:nvPr>
            <p:ph type="ctrTitle"/>
          </p:nvPr>
        </p:nvSpPr>
        <p:spPr>
          <a:xfrm>
            <a:off x="1342768" y="1114125"/>
            <a:ext cx="9144000" cy="2387600"/>
          </a:xfrm>
        </p:spPr>
        <p:txBody>
          <a:bodyPr/>
          <a:lstStyle/>
          <a:p>
            <a:r>
              <a:rPr lang="zh-CN" altLang="en-US" b="1" dirty="0"/>
              <a:t>小 复 习</a:t>
            </a:r>
          </a:p>
        </p:txBody>
      </p:sp>
      <p:sp>
        <p:nvSpPr>
          <p:cNvPr id="3" name="文本框 2">
            <a:extLst>
              <a:ext uri="{FF2B5EF4-FFF2-40B4-BE49-F238E27FC236}">
                <a16:creationId xmlns:a16="http://schemas.microsoft.com/office/drawing/2014/main" id="{3B677718-F5E0-9C61-A2A0-1F2EF5372F16}"/>
              </a:ext>
            </a:extLst>
          </p:cNvPr>
          <p:cNvSpPr txBox="1"/>
          <p:nvPr/>
        </p:nvSpPr>
        <p:spPr>
          <a:xfrm>
            <a:off x="7668823" y="5320138"/>
            <a:ext cx="3751348" cy="830997"/>
          </a:xfrm>
          <a:prstGeom prst="rect">
            <a:avLst/>
          </a:prstGeom>
          <a:noFill/>
        </p:spPr>
        <p:txBody>
          <a:bodyPr wrap="none" rtlCol="0">
            <a:spAutoFit/>
          </a:bodyPr>
          <a:lstStyle/>
          <a:p>
            <a:pPr algn="ctr"/>
            <a:r>
              <a:rPr lang="zh-CN" altLang="en-US" sz="2400" b="1" dirty="0"/>
              <a:t>赵 海 涛</a:t>
            </a:r>
            <a:endParaRPr lang="en-US" altLang="zh-CN" sz="2400" b="1" dirty="0"/>
          </a:p>
          <a:p>
            <a:r>
              <a:rPr lang="en-US" altLang="zh-CN" sz="2400" b="1" dirty="0"/>
              <a:t>haitaozhao@ecust.edu.cn</a:t>
            </a:r>
            <a:endParaRPr lang="zh-CN" altLang="en-US" sz="2400" b="1" dirty="0"/>
          </a:p>
        </p:txBody>
      </p:sp>
    </p:spTree>
    <p:extLst>
      <p:ext uri="{BB962C8B-B14F-4D97-AF65-F5344CB8AC3E}">
        <p14:creationId xmlns:p14="http://schemas.microsoft.com/office/powerpoint/2010/main" val="95272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4A967240-A5F7-1321-D0F3-36A3B92F319E}"/>
              </a:ext>
            </a:extLst>
          </p:cNvPr>
          <p:cNvSpPr txBox="1"/>
          <p:nvPr/>
        </p:nvSpPr>
        <p:spPr>
          <a:xfrm>
            <a:off x="1819422" y="209196"/>
            <a:ext cx="6160678" cy="745629"/>
          </a:xfrm>
          <a:prstGeom prst="rect">
            <a:avLst/>
          </a:prstGeom>
        </p:spPr>
        <p:txBody>
          <a:bodyPr vert="horz" lIns="51435" tIns="25718" rIns="51435" bIns="2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solidFill>
                  <a:schemeClr val="accent1">
                    <a:lumMod val="50000"/>
                  </a:schemeClr>
                </a:solidFill>
                <a:latin typeface="+mn-ea"/>
                <a:ea typeface="+mn-ea"/>
              </a:rPr>
              <a:t>复习范围</a:t>
            </a:r>
          </a:p>
        </p:txBody>
      </p:sp>
      <p:sp>
        <p:nvSpPr>
          <p:cNvPr id="5" name="内容占位符 2">
            <a:extLst>
              <a:ext uri="{FF2B5EF4-FFF2-40B4-BE49-F238E27FC236}">
                <a16:creationId xmlns:a16="http://schemas.microsoft.com/office/drawing/2014/main" id="{09402BFD-BB8C-8F12-90C8-BB7770E4EAC2}"/>
              </a:ext>
            </a:extLst>
          </p:cNvPr>
          <p:cNvSpPr>
            <a:spLocks noGrp="1"/>
          </p:cNvSpPr>
          <p:nvPr>
            <p:ph idx="1"/>
          </p:nvPr>
        </p:nvSpPr>
        <p:spPr>
          <a:xfrm>
            <a:off x="2045110" y="1446438"/>
            <a:ext cx="4725648" cy="3802208"/>
          </a:xfrm>
        </p:spPr>
        <p:txBody>
          <a:bodyPr>
            <a:noAutofit/>
          </a:bodyPr>
          <a:lstStyle/>
          <a:p>
            <a:pPr algn="just">
              <a:lnSpc>
                <a:spcPct val="150000"/>
              </a:lnSpc>
            </a:pPr>
            <a:r>
              <a:rPr lang="zh-CN" altLang="en-US" dirty="0">
                <a:latin typeface="+mn-ea"/>
              </a:rPr>
              <a:t>统计学习的基础概念与定义</a:t>
            </a:r>
            <a:endParaRPr lang="en-US" altLang="zh-CN" dirty="0">
              <a:latin typeface="+mn-ea"/>
            </a:endParaRPr>
          </a:p>
          <a:p>
            <a:pPr algn="just">
              <a:lnSpc>
                <a:spcPct val="150000"/>
              </a:lnSpc>
            </a:pPr>
            <a:r>
              <a:rPr lang="zh-CN" altLang="en-US" dirty="0">
                <a:latin typeface="+mn-ea"/>
              </a:rPr>
              <a:t>具体统计学习方法的概念与相关定义</a:t>
            </a:r>
            <a:r>
              <a:rPr lang="en-US" altLang="zh-CN" dirty="0">
                <a:latin typeface="+mn-ea"/>
              </a:rPr>
              <a:t> (</a:t>
            </a:r>
            <a:r>
              <a:rPr lang="zh-CN" altLang="en-US" dirty="0">
                <a:latin typeface="+mn-ea"/>
              </a:rPr>
              <a:t>模型</a:t>
            </a:r>
            <a:r>
              <a:rPr lang="en-US" altLang="zh-CN" dirty="0">
                <a:latin typeface="+mn-ea"/>
              </a:rPr>
              <a:t>, </a:t>
            </a:r>
            <a:r>
              <a:rPr lang="zh-CN" altLang="en-US" dirty="0">
                <a:latin typeface="+mn-ea"/>
              </a:rPr>
              <a:t>策略</a:t>
            </a:r>
            <a:r>
              <a:rPr lang="en-US" altLang="zh-CN" dirty="0">
                <a:latin typeface="+mn-ea"/>
              </a:rPr>
              <a:t>, </a:t>
            </a:r>
            <a:r>
              <a:rPr lang="zh-CN" altLang="en-US" dirty="0">
                <a:latin typeface="+mn-ea"/>
              </a:rPr>
              <a:t>算法</a:t>
            </a:r>
            <a:r>
              <a:rPr lang="en-US" altLang="zh-CN" dirty="0">
                <a:latin typeface="+mn-ea"/>
              </a:rPr>
              <a:t>)</a:t>
            </a:r>
          </a:p>
          <a:p>
            <a:pPr>
              <a:lnSpc>
                <a:spcPct val="150000"/>
              </a:lnSpc>
            </a:pPr>
            <a:r>
              <a:rPr lang="zh-CN" altLang="en-US" dirty="0">
                <a:latin typeface="+mn-ea"/>
              </a:rPr>
              <a:t>典型推导与证明</a:t>
            </a:r>
            <a:endParaRPr lang="en-US" altLang="zh-CN" dirty="0">
              <a:latin typeface="+mn-ea"/>
            </a:endParaRPr>
          </a:p>
          <a:p>
            <a:pPr>
              <a:lnSpc>
                <a:spcPct val="150000"/>
              </a:lnSpc>
            </a:pPr>
            <a:r>
              <a:rPr lang="zh-CN" altLang="en-US" dirty="0">
                <a:latin typeface="+mn-ea"/>
              </a:rPr>
              <a:t>典型计算</a:t>
            </a:r>
            <a:endParaRPr lang="en-US" altLang="zh-CN" dirty="0">
              <a:latin typeface="+mn-ea"/>
            </a:endParaRPr>
          </a:p>
        </p:txBody>
      </p:sp>
      <p:sp>
        <p:nvSpPr>
          <p:cNvPr id="6" name="右大括号 5">
            <a:extLst>
              <a:ext uri="{FF2B5EF4-FFF2-40B4-BE49-F238E27FC236}">
                <a16:creationId xmlns:a16="http://schemas.microsoft.com/office/drawing/2014/main" id="{4A0E912C-52B5-79C2-0294-2A8E7C5180F7}"/>
              </a:ext>
            </a:extLst>
          </p:cNvPr>
          <p:cNvSpPr/>
          <p:nvPr/>
        </p:nvSpPr>
        <p:spPr>
          <a:xfrm>
            <a:off x="6770759" y="1840648"/>
            <a:ext cx="475617" cy="1462992"/>
          </a:xfrm>
          <a:prstGeom prst="rightBrace">
            <a:avLst/>
          </a:prstGeom>
          <a:ln w="28575">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sz="21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BD872E30-6DA4-8696-700B-DAEE4E11A71D}"/>
              </a:ext>
            </a:extLst>
          </p:cNvPr>
          <p:cNvSpPr txBox="1"/>
          <p:nvPr/>
        </p:nvSpPr>
        <p:spPr>
          <a:xfrm>
            <a:off x="7348039" y="2166679"/>
            <a:ext cx="3083988" cy="673005"/>
          </a:xfrm>
          <a:prstGeom prst="rect">
            <a:avLst/>
          </a:prstGeom>
          <a:noFill/>
        </p:spPr>
        <p:txBody>
          <a:bodyPr wrap="square">
            <a:spAutoFit/>
          </a:bodyPr>
          <a:lstStyle/>
          <a:p>
            <a:pPr>
              <a:lnSpc>
                <a:spcPct val="150000"/>
              </a:lnSpc>
            </a:pPr>
            <a:r>
              <a:rPr lang="zh-CN" altLang="en-US" sz="2800" dirty="0">
                <a:latin typeface="+mn-ea"/>
              </a:rPr>
              <a:t>例题、习题与样题</a:t>
            </a:r>
            <a:endParaRPr lang="en-US" altLang="zh-CN" sz="2800" dirty="0">
              <a:latin typeface="+mn-ea"/>
            </a:endParaRPr>
          </a:p>
        </p:txBody>
      </p:sp>
      <p:sp>
        <p:nvSpPr>
          <p:cNvPr id="10" name="灯片编号占位符 9">
            <a:extLst>
              <a:ext uri="{FF2B5EF4-FFF2-40B4-BE49-F238E27FC236}">
                <a16:creationId xmlns:a16="http://schemas.microsoft.com/office/drawing/2014/main" id="{0CD08E90-9786-1C09-D5F1-EB5030C076EC}"/>
              </a:ext>
            </a:extLst>
          </p:cNvPr>
          <p:cNvSpPr>
            <a:spLocks noGrp="1"/>
          </p:cNvSpPr>
          <p:nvPr>
            <p:ph type="sldNum" sz="quarter" idx="12"/>
          </p:nvPr>
        </p:nvSpPr>
        <p:spPr/>
        <p:txBody>
          <a:bodyPr/>
          <a:lstStyle/>
          <a:p>
            <a:fld id="{DA04A3ED-EE7A-4E19-90BC-E8E086817459}" type="slidenum">
              <a:rPr lang="zh-CN" altLang="en-US" smtClean="0"/>
              <a:t>2</a:t>
            </a:fld>
            <a:endParaRPr lang="zh-CN" altLang="en-US"/>
          </a:p>
        </p:txBody>
      </p:sp>
    </p:spTree>
    <p:extLst>
      <p:ext uri="{BB962C8B-B14F-4D97-AF65-F5344CB8AC3E}">
        <p14:creationId xmlns:p14="http://schemas.microsoft.com/office/powerpoint/2010/main" val="3239883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3941" y="326833"/>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8" name="内容占位符 2">
            <a:extLst>
              <a:ext uri="{FF2B5EF4-FFF2-40B4-BE49-F238E27FC236}">
                <a16:creationId xmlns:a16="http://schemas.microsoft.com/office/drawing/2014/main" id="{3B3E7C03-C092-FC9A-1E3E-0E11642CB64B}"/>
              </a:ext>
            </a:extLst>
          </p:cNvPr>
          <p:cNvSpPr>
            <a:spLocks noGrp="1"/>
          </p:cNvSpPr>
          <p:nvPr>
            <p:ph idx="1"/>
          </p:nvPr>
        </p:nvSpPr>
        <p:spPr>
          <a:xfrm>
            <a:off x="2182761" y="1509407"/>
            <a:ext cx="7628604" cy="4537433"/>
          </a:xfrm>
        </p:spPr>
        <p:txBody>
          <a:bodyPr>
            <a:noAutofit/>
          </a:bodyPr>
          <a:lstStyle/>
          <a:p>
            <a:pPr>
              <a:lnSpc>
                <a:spcPct val="125000"/>
              </a:lnSpc>
            </a:pPr>
            <a:r>
              <a:rPr lang="ja-JP" altLang="en-US" sz="2000" dirty="0">
                <a:latin typeface="等线" panose="02010600030101010101" pitchFamily="2" charset="-122"/>
                <a:ea typeface="等线" panose="02010600030101010101" pitchFamily="2" charset="-122"/>
              </a:rPr>
              <a:t>统计学习的定义</a:t>
            </a:r>
            <a:r>
              <a:rPr lang="en-US" altLang="ja-JP" sz="2000" dirty="0">
                <a:latin typeface="等线" panose="02010600030101010101" pitchFamily="2" charset="-122"/>
                <a:ea typeface="等线" panose="02010600030101010101" pitchFamily="2" charset="-122"/>
              </a:rPr>
              <a:t> (P3)</a:t>
            </a:r>
          </a:p>
          <a:p>
            <a:pPr lvl="1" algn="just">
              <a:lnSpc>
                <a:spcPct val="125000"/>
              </a:lnSpc>
            </a:pPr>
            <a:r>
              <a:rPr lang="ja-JP" altLang="en-US" sz="2000" dirty="0">
                <a:latin typeface="等线" panose="02010600030101010101" pitchFamily="2" charset="-122"/>
                <a:ea typeface="等线" panose="02010600030101010101" pitchFamily="2" charset="-122"/>
              </a:rPr>
              <a:t>统计学习或机器学习是关于计算机基于数据构建概率统计模型并运用模型对数据进行分析和预测的一门学科</a:t>
            </a:r>
            <a:endParaRPr lang="en-US" altLang="ja-JP" sz="2000" dirty="0">
              <a:latin typeface="等线" panose="02010600030101010101" pitchFamily="2" charset="-122"/>
              <a:ea typeface="等线" panose="02010600030101010101" pitchFamily="2" charset="-122"/>
            </a:endParaRPr>
          </a:p>
          <a:p>
            <a:pPr lvl="1">
              <a:lnSpc>
                <a:spcPct val="125000"/>
              </a:lnSpc>
            </a:pPr>
            <a:r>
              <a:rPr lang="ja-JP" altLang="en-US" sz="2000" dirty="0">
                <a:latin typeface="等线" panose="02010600030101010101" pitchFamily="2" charset="-122"/>
                <a:ea typeface="等线" panose="02010600030101010101" pitchFamily="2" charset="-122"/>
              </a:rPr>
              <a:t>统计学习也称统计机器学习</a:t>
            </a:r>
            <a:endParaRPr lang="en-US" altLang="zh-CN" sz="2000" dirty="0">
              <a:latin typeface="等线" panose="02010600030101010101" pitchFamily="2" charset="-122"/>
              <a:ea typeface="等线" panose="02010600030101010101" pitchFamily="2" charset="-122"/>
            </a:endParaRPr>
          </a:p>
          <a:p>
            <a:pPr>
              <a:lnSpc>
                <a:spcPct val="125000"/>
              </a:lnSpc>
            </a:pPr>
            <a:r>
              <a:rPr lang="ja-JP" altLang="en-US" sz="2000" dirty="0">
                <a:latin typeface="等线" panose="02010600030101010101" pitchFamily="2" charset="-122"/>
                <a:ea typeface="等线" panose="02010600030101010101" pitchFamily="2" charset="-122"/>
              </a:rPr>
              <a:t>统计学习的对象</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数据</a:t>
            </a:r>
            <a:r>
              <a:rPr lang="en-US" altLang="zh-CN" sz="2000" dirty="0">
                <a:latin typeface="等线" panose="02010600030101010101" pitchFamily="2" charset="-122"/>
                <a:ea typeface="等线" panose="02010600030101010101" pitchFamily="2" charset="-122"/>
              </a:rPr>
              <a:t> (P4)</a:t>
            </a:r>
            <a:endParaRPr lang="en-US" altLang="ja-JP" sz="2000" dirty="0">
              <a:latin typeface="等线" panose="02010600030101010101" pitchFamily="2" charset="-122"/>
              <a:ea typeface="等线" panose="02010600030101010101" pitchFamily="2" charset="-122"/>
            </a:endParaRPr>
          </a:p>
          <a:p>
            <a:pPr>
              <a:lnSpc>
                <a:spcPct val="125000"/>
              </a:lnSpc>
            </a:pPr>
            <a:r>
              <a:rPr lang="ja-JP" altLang="en-US" sz="2000" dirty="0">
                <a:latin typeface="等线" panose="02010600030101010101" pitchFamily="2" charset="-122"/>
                <a:ea typeface="等线" panose="02010600030101010101" pitchFamily="2" charset="-122"/>
              </a:rPr>
              <a:t>统计学习的目的</a:t>
            </a:r>
            <a:r>
              <a:rPr lang="en-US" altLang="ja-JP" sz="2000" dirty="0">
                <a:latin typeface="等线" panose="02010600030101010101" pitchFamily="2" charset="-122"/>
                <a:ea typeface="等线" panose="02010600030101010101" pitchFamily="2" charset="-122"/>
              </a:rPr>
              <a:t> (P4)</a:t>
            </a:r>
          </a:p>
          <a:p>
            <a:pPr lvl="1">
              <a:lnSpc>
                <a:spcPct val="125000"/>
              </a:lnSpc>
            </a:pPr>
            <a:r>
              <a:rPr lang="zh-CN" altLang="en-US" sz="2000" dirty="0">
                <a:latin typeface="等线" panose="02010600030101010101" pitchFamily="2" charset="-122"/>
                <a:ea typeface="等线" panose="02010600030101010101" pitchFamily="2" charset="-122"/>
              </a:rPr>
              <a:t>对数据的预测与分析</a:t>
            </a:r>
            <a:r>
              <a:rPr lang="en-US" altLang="zh-CN" sz="2000" dirty="0">
                <a:latin typeface="等线" panose="02010600030101010101" pitchFamily="2" charset="-122"/>
                <a:ea typeface="等线" panose="02010600030101010101" pitchFamily="2" charset="-122"/>
              </a:rPr>
              <a:t>, </a:t>
            </a:r>
            <a:r>
              <a:rPr lang="zh-CN" altLang="en-US" sz="2000" dirty="0">
                <a:latin typeface="等线" panose="02010600030101010101" pitchFamily="2" charset="-122"/>
                <a:ea typeface="等线" panose="02010600030101010101" pitchFamily="2" charset="-122"/>
              </a:rPr>
              <a:t>特别是未知数据的预测与分析</a:t>
            </a:r>
            <a:endParaRPr lang="en-US" altLang="zh-CN" sz="2000" dirty="0">
              <a:latin typeface="等线" panose="02010600030101010101" pitchFamily="2" charset="-122"/>
              <a:ea typeface="等线" panose="02010600030101010101" pitchFamily="2" charset="-122"/>
            </a:endParaRPr>
          </a:p>
          <a:p>
            <a:pPr lvl="1">
              <a:lnSpc>
                <a:spcPct val="125000"/>
              </a:lnSpc>
            </a:pPr>
            <a:r>
              <a:rPr lang="ja-JP" altLang="en-US" sz="2000" dirty="0">
                <a:latin typeface="等线" panose="02010600030101010101" pitchFamily="2" charset="-122"/>
                <a:ea typeface="等线" panose="02010600030101010101" pitchFamily="2" charset="-122"/>
              </a:rPr>
              <a:t>总的目标是考虑学习什么样的模型和如何学习模型</a:t>
            </a:r>
            <a:r>
              <a:rPr lang="en-US" altLang="ja-JP" sz="2000" dirty="0">
                <a:latin typeface="等线" panose="02010600030101010101" pitchFamily="2" charset="-122"/>
                <a:ea typeface="等线" panose="02010600030101010101" pitchFamily="2" charset="-122"/>
              </a:rPr>
              <a:t>, </a:t>
            </a:r>
            <a:r>
              <a:rPr lang="zh-CN" altLang="en-US" sz="2000" dirty="0">
                <a:latin typeface="等线" panose="02010600030101010101" pitchFamily="2" charset="-122"/>
                <a:ea typeface="等线" panose="02010600030101010101" pitchFamily="2" charset="-122"/>
              </a:rPr>
              <a:t>以使模型能够对数据进行准确的预测与分析</a:t>
            </a:r>
            <a:endParaRPr lang="en-US" altLang="ja-JP" sz="2000" dirty="0">
              <a:latin typeface="等线" panose="02010600030101010101" pitchFamily="2" charset="-122"/>
              <a:ea typeface="等线" panose="02010600030101010101" pitchFamily="2" charset="-122"/>
            </a:endParaRPr>
          </a:p>
        </p:txBody>
      </p:sp>
      <p:sp>
        <p:nvSpPr>
          <p:cNvPr id="7" name="标题 1">
            <a:extLst>
              <a:ext uri="{FF2B5EF4-FFF2-40B4-BE49-F238E27FC236}">
                <a16:creationId xmlns:a16="http://schemas.microsoft.com/office/drawing/2014/main" id="{91C83C81-790C-0649-3ED1-846680E27C75}"/>
              </a:ext>
            </a:extLst>
          </p:cNvPr>
          <p:cNvSpPr txBox="1"/>
          <p:nvPr/>
        </p:nvSpPr>
        <p:spPr>
          <a:xfrm>
            <a:off x="2291871" y="1951858"/>
            <a:ext cx="6229049" cy="745629"/>
          </a:xfrm>
          <a:prstGeom prst="rect">
            <a:avLst/>
          </a:prstGeom>
        </p:spPr>
        <p:txBody>
          <a:bodyPr vert="horz" lIns="51435" tIns="25718" rIns="51435" bIns="2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400" b="1" dirty="0">
              <a:solidFill>
                <a:schemeClr val="accent1">
                  <a:lumMod val="50000"/>
                </a:schemeClr>
              </a:solidFill>
              <a:latin typeface="+mn-lt"/>
              <a:ea typeface="DengXian" panose="02010600030101010101" pitchFamily="2" charset="-122"/>
            </a:endParaRPr>
          </a:p>
        </p:txBody>
      </p:sp>
      <p:sp>
        <p:nvSpPr>
          <p:cNvPr id="11" name="灯片编号占位符 10">
            <a:extLst>
              <a:ext uri="{FF2B5EF4-FFF2-40B4-BE49-F238E27FC236}">
                <a16:creationId xmlns:a16="http://schemas.microsoft.com/office/drawing/2014/main" id="{8733E6FC-6D0E-29E5-7042-84ACDF7343AD}"/>
              </a:ext>
            </a:extLst>
          </p:cNvPr>
          <p:cNvSpPr>
            <a:spLocks noGrp="1"/>
          </p:cNvSpPr>
          <p:nvPr>
            <p:ph type="sldNum" sz="quarter" idx="12"/>
          </p:nvPr>
        </p:nvSpPr>
        <p:spPr/>
        <p:txBody>
          <a:bodyPr/>
          <a:lstStyle/>
          <a:p>
            <a:fld id="{DA04A3ED-EE7A-4E19-90BC-E8E086817459}" type="slidenum">
              <a:rPr lang="zh-CN" altLang="en-US" smtClean="0"/>
              <a:t>3</a:t>
            </a:fld>
            <a:endParaRPr lang="zh-CN" altLang="en-US"/>
          </a:p>
        </p:txBody>
      </p:sp>
    </p:spTree>
    <p:extLst>
      <p:ext uri="{BB962C8B-B14F-4D97-AF65-F5344CB8AC3E}">
        <p14:creationId xmlns:p14="http://schemas.microsoft.com/office/powerpoint/2010/main" val="52815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4275" y="289091"/>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B52F054D-DB27-AA51-D4FB-A5E437B6D054}"/>
                  </a:ext>
                </a:extLst>
              </p:cNvPr>
              <p:cNvSpPr>
                <a:spLocks noGrp="1"/>
              </p:cNvSpPr>
              <p:nvPr>
                <p:ph idx="1"/>
              </p:nvPr>
            </p:nvSpPr>
            <p:spPr>
              <a:xfrm>
                <a:off x="2498622" y="1711091"/>
                <a:ext cx="6172200" cy="3912961"/>
              </a:xfrm>
            </p:spPr>
            <p:txBody>
              <a:bodyPr>
                <a:noAutofit/>
              </a:bodyPr>
              <a:lstStyle/>
              <a:p>
                <a:pPr>
                  <a:lnSpc>
                    <a:spcPct val="114000"/>
                  </a:lnSpc>
                </a:pPr>
                <a:r>
                  <a:rPr lang="ja-JP" altLang="en-US" sz="1800" dirty="0">
                    <a:latin typeface="微软雅黑" panose="020B0503020204020204" pitchFamily="34" charset="-122"/>
                    <a:ea typeface="微软雅黑" panose="020B0503020204020204" pitchFamily="34" charset="-122"/>
                  </a:rPr>
                  <a:t>统计学习的三要素</a:t>
                </a:r>
                <a:r>
                  <a:rPr lang="en-US" altLang="ja-JP" sz="1800" dirty="0">
                    <a:latin typeface="微软雅黑" panose="020B0503020204020204" pitchFamily="34" charset="-122"/>
                    <a:ea typeface="微软雅黑" panose="020B0503020204020204" pitchFamily="34" charset="-122"/>
                  </a:rPr>
                  <a:t> (P</a:t>
                </a:r>
                <a:r>
                  <a:rPr lang="en-US" altLang="zh-CN" sz="1800" dirty="0">
                    <a:latin typeface="微软雅黑" panose="020B0503020204020204" pitchFamily="34" charset="-122"/>
                    <a:ea typeface="微软雅黑" panose="020B0503020204020204" pitchFamily="34" charset="-122"/>
                  </a:rPr>
                  <a:t>15</a:t>
                </a:r>
                <a:r>
                  <a:rPr lang="en-US" altLang="ja-JP" sz="1800" dirty="0">
                    <a:latin typeface="微软雅黑" panose="020B0503020204020204" pitchFamily="34" charset="-122"/>
                    <a:ea typeface="微软雅黑" panose="020B0503020204020204" pitchFamily="34" charset="-122"/>
                  </a:rPr>
                  <a:t>)</a:t>
                </a:r>
              </a:p>
              <a:p>
                <a:pPr marL="0" indent="0" algn="ctr">
                  <a:lnSpc>
                    <a:spcPct val="114000"/>
                  </a:lnSpc>
                  <a:buNone/>
                </a:pPr>
                <a:r>
                  <a:rPr lang="ja-JP" altLang="en-US" sz="1800" dirty="0">
                    <a:latin typeface="微软雅黑" panose="020B0503020204020204" pitchFamily="34" charset="-122"/>
                    <a:ea typeface="微软雅黑" panose="020B0503020204020204" pitchFamily="34" charset="-122"/>
                  </a:rPr>
                  <a:t>方法</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模型 </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策略 </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算法</a:t>
                </a:r>
                <a:endParaRPr lang="en-US" altLang="zh-CN" sz="1800" dirty="0">
                  <a:latin typeface="微软雅黑" panose="020B0503020204020204" pitchFamily="34" charset="-122"/>
                  <a:ea typeface="微软雅黑" panose="020B0503020204020204" pitchFamily="34" charset="-122"/>
                </a:endParaRPr>
              </a:p>
              <a:p>
                <a:pPr lvl="1">
                  <a:lnSpc>
                    <a:spcPct val="114000"/>
                  </a:lnSpc>
                </a:pPr>
                <a:r>
                  <a:rPr lang="zh-CN" altLang="en-US" sz="1500" dirty="0">
                    <a:latin typeface="微软雅黑" panose="020B0503020204020204" pitchFamily="34" charset="-122"/>
                    <a:ea typeface="微软雅黑" panose="020B0503020204020204" pitchFamily="34" charset="-122"/>
                  </a:rPr>
                  <a:t>构建一种统计学习方法就是确定具体的统计学习三要素</a:t>
                </a:r>
                <a:endParaRPr lang="en-US" altLang="zh-CN" sz="1500" dirty="0">
                  <a:latin typeface="微软雅黑" panose="020B0503020204020204" pitchFamily="34" charset="-122"/>
                  <a:ea typeface="微软雅黑" panose="020B0503020204020204" pitchFamily="34" charset="-122"/>
                </a:endParaRPr>
              </a:p>
              <a:p>
                <a:pPr>
                  <a:lnSpc>
                    <a:spcPct val="114000"/>
                  </a:lnSpc>
                </a:pPr>
                <a:r>
                  <a:rPr lang="ja-JP" altLang="en-US" sz="1800" dirty="0">
                    <a:latin typeface="微软雅黑" panose="020B0503020204020204" pitchFamily="34" charset="-122"/>
                    <a:ea typeface="微软雅黑" panose="020B0503020204020204" pitchFamily="34" charset="-122"/>
                  </a:rPr>
                  <a:t>模型</a:t>
                </a:r>
                <a:r>
                  <a:rPr lang="en-US" altLang="ja-JP" sz="1800" dirty="0">
                    <a:latin typeface="微软雅黑" panose="020B0503020204020204" pitchFamily="34" charset="-122"/>
                    <a:ea typeface="微软雅黑" panose="020B0503020204020204" pitchFamily="34" charset="-122"/>
                  </a:rPr>
                  <a:t>: </a:t>
                </a:r>
                <a:r>
                  <a:rPr lang="ja-JP" altLang="en-US" sz="1800" dirty="0">
                    <a:latin typeface="微软雅黑" panose="020B0503020204020204" pitchFamily="34" charset="-122"/>
                    <a:ea typeface="微软雅黑" panose="020B0503020204020204" pitchFamily="34" charset="-122"/>
                  </a:rPr>
                  <a:t>非概率</a:t>
                </a:r>
                <a:endParaRPr lang="en-US" altLang="ja-JP" sz="1800" dirty="0">
                  <a:latin typeface="微软雅黑" panose="020B0503020204020204" pitchFamily="34" charset="-122"/>
                  <a:ea typeface="微软雅黑" panose="020B0503020204020204" pitchFamily="34" charset="-122"/>
                </a:endParaRPr>
              </a:p>
              <a:p>
                <a:pPr lvl="1">
                  <a:lnSpc>
                    <a:spcPct val="114000"/>
                  </a:lnSpc>
                </a:pPr>
                <a:r>
                  <a:rPr lang="ja-JP" altLang="en-US" sz="1500" dirty="0">
                    <a:latin typeface="微软雅黑" panose="020B0503020204020204" pitchFamily="34" charset="-122"/>
                    <a:ea typeface="微软雅黑" panose="020B0503020204020204" pitchFamily="34" charset="-122"/>
                  </a:rPr>
                  <a:t>假设空间是决策函数的集合</a:t>
                </a:r>
                <a:endParaRPr lang="en-US" altLang="ja-JP" sz="1500" dirty="0">
                  <a:latin typeface="微软雅黑" panose="020B0503020204020204" pitchFamily="34" charset="-122"/>
                  <a:ea typeface="微软雅黑" panose="020B0503020204020204" pitchFamily="34" charset="-122"/>
                </a:endParaRPr>
              </a:p>
              <a:p>
                <a:pPr lvl="1">
                  <a:lnSpc>
                    <a:spcPct val="114000"/>
                  </a:lnSpc>
                </a:pPr>
                <a14:m>
                  <m:oMath xmlns:m="http://schemas.openxmlformats.org/officeDocument/2006/math">
                    <m:r>
                      <a:rPr lang="en-US" altLang="zh-CN" sz="1500" i="1">
                        <a:latin typeface="Cambria Math" panose="02040503050406030204" pitchFamily="18" charset="0"/>
                      </a:rPr>
                      <m:t>𝐹</m:t>
                    </m:r>
                    <m:r>
                      <a:rPr lang="en-US" altLang="zh-CN" sz="1500" i="1">
                        <a:latin typeface="Cambria Math" panose="02040503050406030204" pitchFamily="18" charset="0"/>
                      </a:rPr>
                      <m:t>=</m:t>
                    </m:r>
                    <m:d>
                      <m:dPr>
                        <m:begChr m:val="{"/>
                        <m:endChr m:val="}"/>
                        <m:ctrlPr>
                          <a:rPr lang="en-US" altLang="zh-CN" sz="1500" i="1">
                            <a:latin typeface="Cambria Math" panose="02040503050406030204" pitchFamily="18" charset="0"/>
                          </a:rPr>
                        </m:ctrlPr>
                      </m:dPr>
                      <m:e>
                        <m:r>
                          <a:rPr lang="en-US" altLang="zh-CN" sz="1500" i="1">
                            <a:latin typeface="Cambria Math" panose="02040503050406030204" pitchFamily="18" charset="0"/>
                          </a:rPr>
                          <m:t>𝑓</m:t>
                        </m:r>
                      </m:e>
                      <m:e>
                        <m:r>
                          <a:rPr lang="en-US" altLang="zh-CN" sz="1500" i="1">
                            <a:latin typeface="Cambria Math" panose="02040503050406030204" pitchFamily="18" charset="0"/>
                          </a:rPr>
                          <m:t>𝑌</m:t>
                        </m:r>
                        <m:r>
                          <a:rPr lang="en-US" altLang="zh-CN" sz="1500" i="1">
                            <a:latin typeface="Cambria Math" panose="02040503050406030204" pitchFamily="18" charset="0"/>
                          </a:rPr>
                          <m:t>=</m:t>
                        </m:r>
                        <m:r>
                          <a:rPr lang="en-US" altLang="zh-CN" sz="1500" i="1">
                            <a:latin typeface="Cambria Math" panose="02040503050406030204" pitchFamily="18" charset="0"/>
                          </a:rPr>
                          <m:t>𝑓</m:t>
                        </m:r>
                        <m:d>
                          <m:dPr>
                            <m:ctrlPr>
                              <a:rPr lang="en-US" altLang="zh-CN" sz="1500" i="1">
                                <a:latin typeface="Cambria Math" panose="02040503050406030204" pitchFamily="18" charset="0"/>
                              </a:rPr>
                            </m:ctrlPr>
                          </m:dPr>
                          <m:e>
                            <m:r>
                              <a:rPr lang="en-US" altLang="zh-CN" sz="1500" i="1">
                                <a:latin typeface="Cambria Math" panose="02040503050406030204" pitchFamily="18" charset="0"/>
                              </a:rPr>
                              <m:t>𝑋</m:t>
                            </m:r>
                          </m:e>
                        </m:d>
                      </m:e>
                    </m:d>
                    <m:r>
                      <a:rPr lang="en-US" altLang="zh-CN" sz="1500">
                        <a:latin typeface="Cambria Math" panose="02040503050406030204" pitchFamily="18" charset="0"/>
                      </a:rPr>
                      <m:t>; </m:t>
                    </m:r>
                    <m:r>
                      <a:rPr lang="en-US" altLang="zh-CN" sz="1500" i="1">
                        <a:latin typeface="Cambria Math" panose="02040503050406030204" pitchFamily="18" charset="0"/>
                      </a:rPr>
                      <m:t>𝐹</m:t>
                    </m:r>
                    <m:r>
                      <a:rPr lang="en-US" altLang="zh-CN" sz="1500" i="1">
                        <a:latin typeface="Cambria Math" panose="02040503050406030204" pitchFamily="18" charset="0"/>
                      </a:rPr>
                      <m:t>={</m:t>
                    </m:r>
                    <m:r>
                      <a:rPr lang="en-US" altLang="zh-CN" sz="1500" i="1">
                        <a:latin typeface="Cambria Math" panose="02040503050406030204" pitchFamily="18" charset="0"/>
                      </a:rPr>
                      <m:t>𝑓</m:t>
                    </m:r>
                    <m:r>
                      <a:rPr lang="en-US" altLang="zh-CN" sz="1500" i="1">
                        <a:latin typeface="Cambria Math" panose="02040503050406030204" pitchFamily="18" charset="0"/>
                      </a:rPr>
                      <m:t>|</m:t>
                    </m:r>
                    <m:r>
                      <a:rPr lang="en-US" altLang="zh-CN" sz="1500" i="1">
                        <a:latin typeface="Cambria Math" panose="02040503050406030204" pitchFamily="18" charset="0"/>
                      </a:rPr>
                      <m:t>𝑌</m:t>
                    </m:r>
                    <m:r>
                      <a:rPr lang="en-US" altLang="zh-CN" sz="1500" i="1">
                        <a:latin typeface="Cambria Math" panose="02040503050406030204" pitchFamily="18" charset="0"/>
                      </a:rPr>
                      <m:t>=</m:t>
                    </m:r>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𝑓</m:t>
                        </m:r>
                      </m:e>
                      <m:sub>
                        <m:r>
                          <a:rPr lang="zh-CN" altLang="en-US" sz="1500" i="1">
                            <a:latin typeface="Cambria Math" panose="02040503050406030204" pitchFamily="18" charset="0"/>
                          </a:rPr>
                          <m:t>𝜃</m:t>
                        </m:r>
                      </m:sub>
                    </m:sSub>
                    <m:d>
                      <m:dPr>
                        <m:ctrlPr>
                          <a:rPr lang="en-US" altLang="zh-CN" sz="1500" i="1">
                            <a:latin typeface="Cambria Math" panose="02040503050406030204" pitchFamily="18" charset="0"/>
                          </a:rPr>
                        </m:ctrlPr>
                      </m:dPr>
                      <m:e>
                        <m:r>
                          <a:rPr lang="en-US" altLang="zh-CN" sz="1500" i="1">
                            <a:latin typeface="Cambria Math" panose="02040503050406030204" pitchFamily="18" charset="0"/>
                          </a:rPr>
                          <m:t>𝑋</m:t>
                        </m:r>
                      </m:e>
                    </m:d>
                    <m:r>
                      <a:rPr lang="en-US" altLang="zh-CN" sz="1500" i="1">
                        <a:latin typeface="Cambria Math" panose="02040503050406030204" pitchFamily="18" charset="0"/>
                      </a:rPr>
                      <m:t>,</m:t>
                    </m:r>
                    <m:r>
                      <a:rPr lang="zh-CN" altLang="en-US" sz="1500" i="1">
                        <a:latin typeface="Cambria Math" panose="02040503050406030204" pitchFamily="18" charset="0"/>
                      </a:rPr>
                      <m:t>𝜃</m:t>
                    </m:r>
                    <m:r>
                      <a:rPr lang="zh-CN" altLang="en-US" sz="1500" i="1">
                        <a:latin typeface="Cambria Math" panose="02040503050406030204" pitchFamily="18" charset="0"/>
                      </a:rPr>
                      <m:t>∈</m:t>
                    </m:r>
                    <m:sSup>
                      <m:sSupPr>
                        <m:ctrlPr>
                          <a:rPr lang="en-US" altLang="zh-CN" sz="1500" i="1">
                            <a:latin typeface="Cambria Math" panose="02040503050406030204" pitchFamily="18" charset="0"/>
                          </a:rPr>
                        </m:ctrlPr>
                      </m:sSupPr>
                      <m:e>
                        <m:r>
                          <a:rPr lang="en-US" altLang="zh-CN" sz="1500" i="1">
                            <a:latin typeface="Cambria Math" panose="02040503050406030204" pitchFamily="18" charset="0"/>
                          </a:rPr>
                          <m:t>𝑅</m:t>
                        </m:r>
                      </m:e>
                      <m:sup>
                        <m:r>
                          <a:rPr lang="en-US" altLang="zh-CN" sz="1500" i="1">
                            <a:latin typeface="Cambria Math" panose="02040503050406030204" pitchFamily="18" charset="0"/>
                          </a:rPr>
                          <m:t>𝑛</m:t>
                        </m:r>
                      </m:sup>
                    </m:sSup>
                    <m:r>
                      <a:rPr lang="en-US" altLang="zh-CN" sz="1500" i="1">
                        <a:latin typeface="Cambria Math" panose="02040503050406030204" pitchFamily="18" charset="0"/>
                      </a:rPr>
                      <m:t>}</m:t>
                    </m:r>
                  </m:oMath>
                </a14:m>
                <a:r>
                  <a:rPr lang="en-US" altLang="zh-CN" sz="1500" dirty="0">
                    <a:latin typeface="微软雅黑" panose="020B0503020204020204" pitchFamily="34" charset="-122"/>
                    <a:ea typeface="微软雅黑" panose="020B0503020204020204" pitchFamily="34" charset="-122"/>
                  </a:rPr>
                  <a:t> (</a:t>
                </a:r>
                <a:r>
                  <a:rPr lang="zh-CN" altLang="en-US" sz="1500" dirty="0">
                    <a:latin typeface="微软雅黑" panose="020B0503020204020204" pitchFamily="34" charset="-122"/>
                    <a:ea typeface="微软雅黑" panose="020B0503020204020204" pitchFamily="34" charset="-122"/>
                  </a:rPr>
                  <a:t>参数空间</a:t>
                </a:r>
                <a:r>
                  <a:rPr lang="en-US" altLang="zh-CN" sz="1500" dirty="0">
                    <a:latin typeface="微软雅黑" panose="020B0503020204020204" pitchFamily="34" charset="-122"/>
                    <a:ea typeface="微软雅黑" panose="020B0503020204020204" pitchFamily="34" charset="-122"/>
                  </a:rPr>
                  <a:t>)</a:t>
                </a:r>
                <a:endParaRPr lang="zh-CN" altLang="en-US" sz="1500" dirty="0">
                  <a:latin typeface="微软雅黑" panose="020B0503020204020204" pitchFamily="34" charset="-122"/>
                  <a:ea typeface="微软雅黑" panose="020B0503020204020204" pitchFamily="34" charset="-122"/>
                </a:endParaRPr>
              </a:p>
              <a:p>
                <a:pPr>
                  <a:lnSpc>
                    <a:spcPct val="114000"/>
                  </a:lnSpc>
                </a:pPr>
                <a:r>
                  <a:rPr lang="ja-JP" altLang="en-US" sz="1800" dirty="0">
                    <a:latin typeface="微软雅黑" panose="020B0503020204020204" pitchFamily="34" charset="-122"/>
                    <a:ea typeface="微软雅黑" panose="020B0503020204020204" pitchFamily="34" charset="-122"/>
                  </a:rPr>
                  <a:t>模型</a:t>
                </a:r>
                <a:r>
                  <a:rPr lang="en-US" altLang="ja-JP" sz="1800" dirty="0">
                    <a:latin typeface="微软雅黑" panose="020B0503020204020204" pitchFamily="34" charset="-122"/>
                    <a:ea typeface="微软雅黑" panose="020B0503020204020204" pitchFamily="34" charset="-122"/>
                  </a:rPr>
                  <a:t>: </a:t>
                </a:r>
                <a:r>
                  <a:rPr lang="ja-JP" altLang="en-US" sz="1800" dirty="0">
                    <a:latin typeface="微软雅黑" panose="020B0503020204020204" pitchFamily="34" charset="-122"/>
                    <a:ea typeface="微软雅黑" panose="020B0503020204020204" pitchFamily="34" charset="-122"/>
                  </a:rPr>
                  <a:t>概率</a:t>
                </a:r>
                <a:endParaRPr lang="en-US" altLang="ja-JP" sz="1800" dirty="0">
                  <a:latin typeface="微软雅黑" panose="020B0503020204020204" pitchFamily="34" charset="-122"/>
                  <a:ea typeface="微软雅黑" panose="020B0503020204020204" pitchFamily="34" charset="-122"/>
                </a:endParaRPr>
              </a:p>
              <a:p>
                <a:pPr lvl="1">
                  <a:lnSpc>
                    <a:spcPct val="114000"/>
                  </a:lnSpc>
                </a:pPr>
                <a:r>
                  <a:rPr lang="ja-JP" altLang="en-US" sz="1500" dirty="0">
                    <a:latin typeface="微软雅黑" panose="020B0503020204020204" pitchFamily="34" charset="-122"/>
                    <a:ea typeface="微软雅黑" panose="020B0503020204020204" pitchFamily="34" charset="-122"/>
                  </a:rPr>
                  <a:t>假设空间是条件概率的集合</a:t>
                </a:r>
                <a:endParaRPr lang="en-US" altLang="ja-JP" sz="1500" dirty="0">
                  <a:latin typeface="微软雅黑" panose="020B0503020204020204" pitchFamily="34" charset="-122"/>
                  <a:ea typeface="微软雅黑" panose="020B0503020204020204" pitchFamily="34" charset="-122"/>
                </a:endParaRPr>
              </a:p>
              <a:p>
                <a:pPr lvl="1">
                  <a:lnSpc>
                    <a:spcPct val="114000"/>
                  </a:lnSpc>
                </a:pPr>
                <a14:m>
                  <m:oMath xmlns:m="http://schemas.openxmlformats.org/officeDocument/2006/math">
                    <m:r>
                      <a:rPr lang="en-US" altLang="zh-CN" sz="1500" i="1">
                        <a:latin typeface="Cambria Math" panose="02040503050406030204" pitchFamily="18" charset="0"/>
                      </a:rPr>
                      <m:t>𝐹</m:t>
                    </m:r>
                    <m:r>
                      <a:rPr lang="en-US" altLang="zh-CN" sz="1500" i="1">
                        <a:latin typeface="Cambria Math" panose="02040503050406030204" pitchFamily="18" charset="0"/>
                      </a:rPr>
                      <m:t>={</m:t>
                    </m:r>
                    <m:r>
                      <a:rPr lang="en-US" altLang="zh-CN" sz="1500" i="1">
                        <a:latin typeface="Cambria Math" panose="02040503050406030204" pitchFamily="18" charset="0"/>
                      </a:rPr>
                      <m:t>𝑃</m:t>
                    </m:r>
                    <m:r>
                      <a:rPr lang="en-US" altLang="zh-CN" sz="1500" i="1">
                        <a:latin typeface="Cambria Math" panose="02040503050406030204" pitchFamily="18" charset="0"/>
                      </a:rPr>
                      <m:t>|</m:t>
                    </m:r>
                    <m:r>
                      <a:rPr lang="en-US" altLang="zh-CN" sz="1500" i="1">
                        <a:latin typeface="Cambria Math" panose="02040503050406030204" pitchFamily="18" charset="0"/>
                      </a:rPr>
                      <m:t>𝑃</m:t>
                    </m:r>
                    <m:r>
                      <a:rPr lang="en-US" altLang="zh-CN" sz="1500" i="1">
                        <a:latin typeface="Cambria Math" panose="02040503050406030204" pitchFamily="18" charset="0"/>
                      </a:rPr>
                      <m:t>(</m:t>
                    </m:r>
                    <m:r>
                      <a:rPr lang="en-US" altLang="zh-CN" sz="1500" i="1">
                        <a:latin typeface="Cambria Math" panose="02040503050406030204" pitchFamily="18" charset="0"/>
                      </a:rPr>
                      <m:t>𝑌</m:t>
                    </m:r>
                    <m:r>
                      <a:rPr lang="en-US" altLang="zh-CN" sz="1500" i="1">
                        <a:latin typeface="Cambria Math" panose="02040503050406030204" pitchFamily="18" charset="0"/>
                      </a:rPr>
                      <m:t>|</m:t>
                    </m:r>
                    <m:r>
                      <a:rPr lang="en-US" altLang="zh-CN" sz="1500" i="1">
                        <a:latin typeface="Cambria Math" panose="02040503050406030204" pitchFamily="18" charset="0"/>
                      </a:rPr>
                      <m:t>𝑋</m:t>
                    </m:r>
                    <m:r>
                      <a:rPr lang="en-US" altLang="zh-CN" sz="1500" i="1">
                        <a:latin typeface="Cambria Math" panose="02040503050406030204" pitchFamily="18" charset="0"/>
                      </a:rPr>
                      <m:t>)}</m:t>
                    </m:r>
                  </m:oMath>
                </a14:m>
                <a:r>
                  <a:rPr lang="en-US" altLang="ja-JP" sz="15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500" i="1">
                        <a:latin typeface="Cambria Math" panose="02040503050406030204" pitchFamily="18" charset="0"/>
                      </a:rPr>
                      <m:t>𝐹</m:t>
                    </m:r>
                    <m:r>
                      <a:rPr lang="en-US" altLang="zh-CN" sz="1500" i="1">
                        <a:latin typeface="Cambria Math" panose="02040503050406030204" pitchFamily="18" charset="0"/>
                      </a:rPr>
                      <m:t>=</m:t>
                    </m:r>
                    <m:d>
                      <m:dPr>
                        <m:begChr m:val="{"/>
                        <m:endChr m:val="}"/>
                        <m:ctrlPr>
                          <a:rPr lang="en-US" altLang="zh-CN" sz="1500" i="1">
                            <a:latin typeface="Cambria Math" panose="02040503050406030204" pitchFamily="18" charset="0"/>
                          </a:rPr>
                        </m:ctrlPr>
                      </m:dPr>
                      <m:e>
                        <m:r>
                          <a:rPr lang="en-US" altLang="zh-CN" sz="1500" i="1">
                            <a:latin typeface="Cambria Math" panose="02040503050406030204" pitchFamily="18" charset="0"/>
                          </a:rPr>
                          <m:t>𝑃</m:t>
                        </m:r>
                      </m:e>
                      <m:e>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𝑃</m:t>
                            </m:r>
                          </m:e>
                          <m:sub>
                            <m:r>
                              <a:rPr lang="zh-CN" altLang="en-US" sz="1500" i="1">
                                <a:latin typeface="Cambria Math" panose="02040503050406030204" pitchFamily="18" charset="0"/>
                              </a:rPr>
                              <m:t>𝜃</m:t>
                            </m:r>
                          </m:sub>
                        </m:sSub>
                        <m:d>
                          <m:dPr>
                            <m:ctrlPr>
                              <a:rPr lang="en-US" altLang="zh-CN" sz="1500" i="1">
                                <a:latin typeface="Cambria Math" panose="02040503050406030204" pitchFamily="18" charset="0"/>
                              </a:rPr>
                            </m:ctrlPr>
                          </m:dPr>
                          <m:e>
                            <m:r>
                              <a:rPr lang="en-US" altLang="zh-CN" sz="1500" i="1">
                                <a:latin typeface="Cambria Math" panose="02040503050406030204" pitchFamily="18" charset="0"/>
                              </a:rPr>
                              <m:t>𝑌</m:t>
                            </m:r>
                          </m:e>
                          <m:e>
                            <m:r>
                              <a:rPr lang="en-US" altLang="zh-CN" sz="1500" i="1">
                                <a:latin typeface="Cambria Math" panose="02040503050406030204" pitchFamily="18" charset="0"/>
                              </a:rPr>
                              <m:t>𝑋</m:t>
                            </m:r>
                          </m:e>
                        </m:d>
                        <m:r>
                          <a:rPr lang="en-US" altLang="zh-CN" sz="1500" i="1">
                            <a:latin typeface="Cambria Math" panose="02040503050406030204" pitchFamily="18" charset="0"/>
                          </a:rPr>
                          <m:t>,</m:t>
                        </m:r>
                        <m:r>
                          <a:rPr lang="zh-CN" altLang="en-US" sz="1500" i="1">
                            <a:latin typeface="Cambria Math" panose="02040503050406030204" pitchFamily="18" charset="0"/>
                          </a:rPr>
                          <m:t>𝜃</m:t>
                        </m:r>
                        <m:r>
                          <a:rPr lang="zh-CN" altLang="en-US" sz="1500" i="1">
                            <a:latin typeface="Cambria Math" panose="02040503050406030204" pitchFamily="18" charset="0"/>
                          </a:rPr>
                          <m:t>∈</m:t>
                        </m:r>
                        <m:sSup>
                          <m:sSupPr>
                            <m:ctrlPr>
                              <a:rPr lang="en-US" altLang="zh-CN" sz="1500" i="1">
                                <a:latin typeface="Cambria Math" panose="02040503050406030204" pitchFamily="18" charset="0"/>
                              </a:rPr>
                            </m:ctrlPr>
                          </m:sSupPr>
                          <m:e>
                            <m:r>
                              <a:rPr lang="en-US" altLang="zh-CN" sz="1500" i="1">
                                <a:latin typeface="Cambria Math" panose="02040503050406030204" pitchFamily="18" charset="0"/>
                              </a:rPr>
                              <m:t>𝑅</m:t>
                            </m:r>
                          </m:e>
                          <m:sup>
                            <m:r>
                              <a:rPr lang="en-US" altLang="zh-CN" sz="1500" i="1">
                                <a:latin typeface="Cambria Math" panose="02040503050406030204" pitchFamily="18" charset="0"/>
                              </a:rPr>
                              <m:t>𝑛</m:t>
                            </m:r>
                          </m:sup>
                        </m:sSup>
                      </m:e>
                    </m:d>
                  </m:oMath>
                </a14:m>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t>
                </a:r>
                <a:r>
                  <a:rPr lang="zh-CN" altLang="en-US" sz="1500" dirty="0">
                    <a:latin typeface="微软雅黑" panose="020B0503020204020204" pitchFamily="34" charset="-122"/>
                    <a:ea typeface="微软雅黑" panose="020B0503020204020204" pitchFamily="34" charset="-122"/>
                  </a:rPr>
                  <a:t>参数空间</a:t>
                </a:r>
                <a:r>
                  <a:rPr lang="en-US" altLang="zh-CN" sz="1500" dirty="0">
                    <a:latin typeface="微软雅黑" panose="020B0503020204020204" pitchFamily="34" charset="-122"/>
                    <a:ea typeface="微软雅黑" panose="020B0503020204020204" pitchFamily="34" charset="-122"/>
                  </a:rPr>
                  <a:t>)</a:t>
                </a:r>
                <a:endParaRPr lang="en-US" altLang="ja-JP" sz="1500" dirty="0">
                  <a:latin typeface="微软雅黑" panose="020B0503020204020204" pitchFamily="34" charset="-122"/>
                  <a:ea typeface="微软雅黑" panose="020B0503020204020204" pitchFamily="34" charset="-122"/>
                </a:endParaRPr>
              </a:p>
            </p:txBody>
          </p:sp>
        </mc:Choice>
        <mc:Fallback xmlns="">
          <p:sp>
            <p:nvSpPr>
              <p:cNvPr id="5" name="内容占位符 2">
                <a:extLst>
                  <a:ext uri="{FF2B5EF4-FFF2-40B4-BE49-F238E27FC236}">
                    <a16:creationId xmlns:a16="http://schemas.microsoft.com/office/drawing/2014/main" id="{B52F054D-DB27-AA51-D4FB-A5E437B6D054}"/>
                  </a:ext>
                </a:extLst>
              </p:cNvPr>
              <p:cNvSpPr>
                <a:spLocks noGrp="1" noRot="1" noChangeAspect="1" noMove="1" noResize="1" noEditPoints="1" noAdjustHandles="1" noChangeArrowheads="1" noChangeShapeType="1" noTextEdit="1"/>
              </p:cNvSpPr>
              <p:nvPr>
                <p:ph idx="1"/>
              </p:nvPr>
            </p:nvSpPr>
            <p:spPr>
              <a:xfrm>
                <a:off x="2498622" y="1711091"/>
                <a:ext cx="6172200" cy="3912961"/>
              </a:xfrm>
              <a:blipFill>
                <a:blip r:embed="rId3"/>
                <a:stretch>
                  <a:fillRect l="-692" t="-623"/>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91C83C81-790C-0649-3ED1-846680E27C75}"/>
              </a:ext>
            </a:extLst>
          </p:cNvPr>
          <p:cNvSpPr txBox="1"/>
          <p:nvPr/>
        </p:nvSpPr>
        <p:spPr>
          <a:xfrm>
            <a:off x="2291871" y="1951858"/>
            <a:ext cx="6229049" cy="745629"/>
          </a:xfrm>
          <a:prstGeom prst="rect">
            <a:avLst/>
          </a:prstGeom>
        </p:spPr>
        <p:txBody>
          <a:bodyPr vert="horz" lIns="51435" tIns="25718" rIns="51435" bIns="2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400" b="1" dirty="0">
              <a:solidFill>
                <a:schemeClr val="accent1">
                  <a:lumMod val="50000"/>
                </a:schemeClr>
              </a:solidFill>
              <a:latin typeface="+mn-lt"/>
              <a:ea typeface="DengXian" panose="02010600030101010101" pitchFamily="2" charset="-122"/>
            </a:endParaRPr>
          </a:p>
        </p:txBody>
      </p:sp>
      <p:sp>
        <p:nvSpPr>
          <p:cNvPr id="10" name="灯片编号占位符 9">
            <a:extLst>
              <a:ext uri="{FF2B5EF4-FFF2-40B4-BE49-F238E27FC236}">
                <a16:creationId xmlns:a16="http://schemas.microsoft.com/office/drawing/2014/main" id="{9300F2C5-C43E-9611-8DD8-030950B365E0}"/>
              </a:ext>
            </a:extLst>
          </p:cNvPr>
          <p:cNvSpPr>
            <a:spLocks noGrp="1"/>
          </p:cNvSpPr>
          <p:nvPr>
            <p:ph type="sldNum" sz="quarter" idx="12"/>
          </p:nvPr>
        </p:nvSpPr>
        <p:spPr/>
        <p:txBody>
          <a:bodyPr/>
          <a:lstStyle/>
          <a:p>
            <a:fld id="{DA04A3ED-EE7A-4E19-90BC-E8E086817459}" type="slidenum">
              <a:rPr lang="zh-CN" altLang="en-US" smtClean="0"/>
              <a:t>4</a:t>
            </a:fld>
            <a:endParaRPr lang="zh-CN" altLang="en-US"/>
          </a:p>
        </p:txBody>
      </p:sp>
    </p:spTree>
    <p:extLst>
      <p:ext uri="{BB962C8B-B14F-4D97-AF65-F5344CB8AC3E}">
        <p14:creationId xmlns:p14="http://schemas.microsoft.com/office/powerpoint/2010/main" val="101304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4275" y="289091"/>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7" name="标题 1">
            <a:extLst>
              <a:ext uri="{FF2B5EF4-FFF2-40B4-BE49-F238E27FC236}">
                <a16:creationId xmlns:a16="http://schemas.microsoft.com/office/drawing/2014/main" id="{91C83C81-790C-0649-3ED1-846680E27C75}"/>
              </a:ext>
            </a:extLst>
          </p:cNvPr>
          <p:cNvSpPr txBox="1"/>
          <p:nvPr/>
        </p:nvSpPr>
        <p:spPr>
          <a:xfrm>
            <a:off x="2291871" y="1951858"/>
            <a:ext cx="6229049" cy="745629"/>
          </a:xfrm>
          <a:prstGeom prst="rect">
            <a:avLst/>
          </a:prstGeom>
        </p:spPr>
        <p:txBody>
          <a:bodyPr vert="horz" lIns="51435" tIns="25718" rIns="51435" bIns="2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400" b="1" dirty="0">
              <a:solidFill>
                <a:schemeClr val="accent1">
                  <a:lumMod val="50000"/>
                </a:schemeClr>
              </a:solidFill>
              <a:latin typeface="+mn-lt"/>
              <a:ea typeface="DengXian" panose="02010600030101010101" pitchFamily="2" charset="-122"/>
            </a:endParaRP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4F589BBC-E03A-80F1-5D7A-03BB032C600D}"/>
                  </a:ext>
                </a:extLst>
              </p:cNvPr>
              <p:cNvSpPr>
                <a:spLocks noGrp="1"/>
              </p:cNvSpPr>
              <p:nvPr>
                <p:ph idx="1"/>
              </p:nvPr>
            </p:nvSpPr>
            <p:spPr>
              <a:xfrm>
                <a:off x="1941871" y="1704344"/>
                <a:ext cx="8470232" cy="3007895"/>
              </a:xfrm>
            </p:spPr>
            <p:txBody>
              <a:bodyPr>
                <a:noAutofit/>
              </a:bodyPr>
              <a:lstStyle/>
              <a:p>
                <a:pPr>
                  <a:lnSpc>
                    <a:spcPct val="114000"/>
                  </a:lnSpc>
                </a:pPr>
                <a:r>
                  <a:rPr lang="ja-JP" altLang="en-US" sz="2400" dirty="0">
                    <a:ea typeface="DengXian" panose="02010600030101010101" pitchFamily="2" charset="-122"/>
                  </a:rPr>
                  <a:t>模型</a:t>
                </a:r>
                <a:r>
                  <a:rPr lang="en-US" altLang="ja-JP" sz="2400" dirty="0">
                    <a:ea typeface="DengXian" panose="02010600030101010101" pitchFamily="2" charset="-122"/>
                  </a:rPr>
                  <a:t>: </a:t>
                </a:r>
                <a:r>
                  <a:rPr lang="ja-JP" altLang="en-US" sz="2400" dirty="0">
                    <a:ea typeface="DengXian" panose="02010600030101010101" pitchFamily="2" charset="-122"/>
                  </a:rPr>
                  <a:t>生成模型与判别模型</a:t>
                </a:r>
                <a:r>
                  <a:rPr lang="en-US" altLang="ja-JP" sz="2400" dirty="0">
                    <a:ea typeface="DengXian" panose="02010600030101010101" pitchFamily="2" charset="-122"/>
                  </a:rPr>
                  <a:t> (P27-28)</a:t>
                </a:r>
              </a:p>
              <a:p>
                <a:pPr>
                  <a:lnSpc>
                    <a:spcPct val="114000"/>
                  </a:lnSpc>
                </a:pPr>
                <a:endParaRPr lang="en-US" altLang="ja-JP" sz="2400" dirty="0">
                  <a:ea typeface="DengXian" panose="02010600030101010101" pitchFamily="2" charset="-122"/>
                </a:endParaRPr>
              </a:p>
              <a:p>
                <a:pPr>
                  <a:lnSpc>
                    <a:spcPct val="114000"/>
                  </a:lnSpc>
                </a:pPr>
                <a:r>
                  <a:rPr lang="ja-JP" altLang="en-US" sz="2400" dirty="0">
                    <a:ea typeface="DengXian" panose="02010600030101010101" pitchFamily="2" charset="-122"/>
                  </a:rPr>
                  <a:t>生成模型</a:t>
                </a:r>
                <a:r>
                  <a:rPr lang="en-US" altLang="ja-JP" sz="2400" dirty="0">
                    <a:ea typeface="DengXian" panose="02010600030101010101" pitchFamily="2" charset="-122"/>
                  </a:rPr>
                  <a:t>: </a:t>
                </a:r>
                <a:r>
                  <a:rPr lang="ja-JP" altLang="en-US" sz="2400" dirty="0">
                    <a:ea typeface="DengXian" panose="02010600030101010101" pitchFamily="2" charset="-122"/>
                  </a:rPr>
                  <a:t>由数据学习联合概率</a:t>
                </a:r>
                <a:r>
                  <a:rPr lang="zh-CN" altLang="en-US" sz="2400" dirty="0">
                    <a:ea typeface="DengXian" panose="02010600030101010101" pitchFamily="2" charset="-122"/>
                  </a:rPr>
                  <a:t> </a:t>
                </a:r>
                <a14:m>
                  <m:oMath xmlns:m="http://schemas.openxmlformats.org/officeDocument/2006/math">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𝑋</m:t>
                        </m:r>
                        <m:r>
                          <a:rPr lang="en-US" altLang="zh-CN" sz="2400" i="1">
                            <a:latin typeface="Cambria Math" panose="02040503050406030204" pitchFamily="18" charset="0"/>
                          </a:rPr>
                          <m:t>, </m:t>
                        </m:r>
                        <m:r>
                          <a:rPr lang="en-US" altLang="zh-CN" sz="2400" i="1">
                            <a:latin typeface="Cambria Math" panose="02040503050406030204" pitchFamily="18" charset="0"/>
                          </a:rPr>
                          <m:t>𝑌</m:t>
                        </m:r>
                      </m:e>
                    </m:d>
                  </m:oMath>
                </a14:m>
                <a:r>
                  <a:rPr lang="en-US" altLang="ja-JP" sz="2400" dirty="0">
                    <a:ea typeface="DengXian" panose="02010600030101010101" pitchFamily="2" charset="-122"/>
                  </a:rPr>
                  <a:t>, </a:t>
                </a:r>
                <a:r>
                  <a:rPr lang="ja-JP" altLang="en-US" sz="2400" dirty="0">
                    <a:ea typeface="DengXian" panose="02010600030101010101" pitchFamily="2" charset="-122"/>
                  </a:rPr>
                  <a:t>求得</a:t>
                </a:r>
                <a14:m>
                  <m:oMath xmlns:m="http://schemas.openxmlformats.org/officeDocument/2006/math">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𝑌</m:t>
                        </m:r>
                      </m:e>
                      <m:e>
                        <m:r>
                          <a:rPr lang="en-US" altLang="zh-CN" sz="2400" i="1">
                            <a:latin typeface="Cambria Math" panose="02040503050406030204" pitchFamily="18" charset="0"/>
                          </a:rPr>
                          <m:t>𝑋</m:t>
                        </m:r>
                      </m:e>
                    </m:d>
                  </m:oMath>
                </a14:m>
                <a:endParaRPr lang="en-US" altLang="zh-CN" sz="2400" dirty="0"/>
              </a:p>
              <a:p>
                <a:pPr>
                  <a:lnSpc>
                    <a:spcPct val="114000"/>
                  </a:lnSpc>
                </a:pPr>
                <a:endParaRPr lang="en-US" altLang="ja-JP" sz="2400" dirty="0">
                  <a:ea typeface="DengXian" panose="02010600030101010101" pitchFamily="2" charset="-122"/>
                </a:endParaRPr>
              </a:p>
              <a:p>
                <a:pPr>
                  <a:lnSpc>
                    <a:spcPct val="114000"/>
                  </a:lnSpc>
                </a:pPr>
                <a:r>
                  <a:rPr lang="ja-JP" altLang="en-US" sz="2400" dirty="0">
                    <a:ea typeface="DengXian" panose="02010600030101010101" pitchFamily="2" charset="-122"/>
                  </a:rPr>
                  <a:t>判别模型</a:t>
                </a:r>
                <a:r>
                  <a:rPr lang="en-US" altLang="ja-JP" sz="2400" dirty="0">
                    <a:ea typeface="DengXian" panose="02010600030101010101" pitchFamily="2" charset="-122"/>
                  </a:rPr>
                  <a:t>:  </a:t>
                </a:r>
                <a:r>
                  <a:rPr lang="ja-JP" altLang="en-US" sz="2400" dirty="0">
                    <a:ea typeface="DengXian" panose="02010600030101010101" pitchFamily="2" charset="-122"/>
                  </a:rPr>
                  <a:t>由数据直接学习决策函数</a:t>
                </a:r>
                <a14:m>
                  <m:oMath xmlns:m="http://schemas.openxmlformats.org/officeDocument/2006/math">
                    <m:r>
                      <a:rPr lang="en-US" altLang="zh-CN" sz="2400" i="1">
                        <a:latin typeface="Cambria Math" panose="02040503050406030204" pitchFamily="18" charset="0"/>
                      </a:rPr>
                      <m:t>𝑓</m:t>
                    </m:r>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oMath>
                </a14:m>
                <a:r>
                  <a:rPr lang="en-US" altLang="ja-JP" sz="2400" dirty="0">
                    <a:ea typeface="DengXian" panose="02010600030101010101" pitchFamily="2" charset="-122"/>
                  </a:rPr>
                  <a:t> </a:t>
                </a:r>
                <a:r>
                  <a:rPr lang="ja-JP" altLang="en-US" sz="2400" dirty="0">
                    <a:ea typeface="DengXian" panose="02010600030101010101" pitchFamily="2" charset="-122"/>
                  </a:rPr>
                  <a:t>或条件概率</a:t>
                </a:r>
                <a14:m>
                  <m:oMath xmlns:m="http://schemas.openxmlformats.org/officeDocument/2006/math">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𝑌</m:t>
                        </m:r>
                      </m:e>
                      <m:e>
                        <m:r>
                          <a:rPr lang="en-US" altLang="zh-CN" sz="2400" i="1">
                            <a:latin typeface="Cambria Math" panose="02040503050406030204" pitchFamily="18" charset="0"/>
                          </a:rPr>
                          <m:t>𝑋</m:t>
                        </m:r>
                      </m:e>
                    </m:d>
                  </m:oMath>
                </a14:m>
                <a:endParaRPr lang="en-US" altLang="ja-JP" sz="2400" dirty="0">
                  <a:ea typeface="DengXian" panose="02010600030101010101" pitchFamily="2" charset="-122"/>
                </a:endParaRPr>
              </a:p>
            </p:txBody>
          </p:sp>
        </mc:Choice>
        <mc:Fallback xmlns="">
          <p:sp>
            <p:nvSpPr>
              <p:cNvPr id="6" name="内容占位符 2">
                <a:extLst>
                  <a:ext uri="{FF2B5EF4-FFF2-40B4-BE49-F238E27FC236}">
                    <a16:creationId xmlns:a16="http://schemas.microsoft.com/office/drawing/2014/main" id="{4F589BBC-E03A-80F1-5D7A-03BB032C600D}"/>
                  </a:ext>
                </a:extLst>
              </p:cNvPr>
              <p:cNvSpPr>
                <a:spLocks noGrp="1" noRot="1" noChangeAspect="1" noMove="1" noResize="1" noEditPoints="1" noAdjustHandles="1" noChangeArrowheads="1" noChangeShapeType="1" noTextEdit="1"/>
              </p:cNvSpPr>
              <p:nvPr>
                <p:ph idx="1"/>
              </p:nvPr>
            </p:nvSpPr>
            <p:spPr>
              <a:xfrm>
                <a:off x="1941871" y="1704344"/>
                <a:ext cx="8470232" cy="3007895"/>
              </a:xfrm>
              <a:blipFill>
                <a:blip r:embed="rId3"/>
                <a:stretch>
                  <a:fillRect l="-1008" t="-609"/>
                </a:stretch>
              </a:blipFill>
            </p:spPr>
            <p:txBody>
              <a:bodyPr/>
              <a:lstStyle/>
              <a:p>
                <a:r>
                  <a:rPr lang="zh-CN" altLang="en-US">
                    <a:noFill/>
                  </a:rPr>
                  <a:t> </a:t>
                </a:r>
              </a:p>
            </p:txBody>
          </p:sp>
        </mc:Fallback>
      </mc:AlternateContent>
      <p:sp>
        <p:nvSpPr>
          <p:cNvPr id="10" name="灯片编号占位符 9">
            <a:extLst>
              <a:ext uri="{FF2B5EF4-FFF2-40B4-BE49-F238E27FC236}">
                <a16:creationId xmlns:a16="http://schemas.microsoft.com/office/drawing/2014/main" id="{48EAED62-8CB2-8A11-C9F7-E087B0CA3607}"/>
              </a:ext>
            </a:extLst>
          </p:cNvPr>
          <p:cNvSpPr>
            <a:spLocks noGrp="1"/>
          </p:cNvSpPr>
          <p:nvPr>
            <p:ph type="sldNum" sz="quarter" idx="12"/>
          </p:nvPr>
        </p:nvSpPr>
        <p:spPr/>
        <p:txBody>
          <a:bodyPr/>
          <a:lstStyle/>
          <a:p>
            <a:fld id="{DA04A3ED-EE7A-4E19-90BC-E8E086817459}" type="slidenum">
              <a:rPr lang="zh-CN" altLang="en-US" smtClean="0"/>
              <a:t>5</a:t>
            </a:fld>
            <a:endParaRPr lang="zh-CN" altLang="en-US"/>
          </a:p>
        </p:txBody>
      </p:sp>
    </p:spTree>
    <p:extLst>
      <p:ext uri="{BB962C8B-B14F-4D97-AF65-F5344CB8AC3E}">
        <p14:creationId xmlns:p14="http://schemas.microsoft.com/office/powerpoint/2010/main" val="19645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4275" y="289091"/>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7" name="标题 1">
            <a:extLst>
              <a:ext uri="{FF2B5EF4-FFF2-40B4-BE49-F238E27FC236}">
                <a16:creationId xmlns:a16="http://schemas.microsoft.com/office/drawing/2014/main" id="{91C83C81-790C-0649-3ED1-846680E27C75}"/>
              </a:ext>
            </a:extLst>
          </p:cNvPr>
          <p:cNvSpPr txBox="1"/>
          <p:nvPr/>
        </p:nvSpPr>
        <p:spPr>
          <a:xfrm>
            <a:off x="2291871" y="1951858"/>
            <a:ext cx="6229049" cy="745629"/>
          </a:xfrm>
          <a:prstGeom prst="rect">
            <a:avLst/>
          </a:prstGeom>
        </p:spPr>
        <p:txBody>
          <a:bodyPr vert="horz" lIns="51435" tIns="25718" rIns="51435" bIns="2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400" b="1" dirty="0">
              <a:solidFill>
                <a:schemeClr val="accent1">
                  <a:lumMod val="50000"/>
                </a:schemeClr>
              </a:solidFill>
              <a:latin typeface="+mn-lt"/>
              <a:ea typeface="DengXian" panose="02010600030101010101" pitchFamily="2" charset="-122"/>
            </a:endParaRP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CE51CF40-F05E-01CE-3617-06804D341FD7}"/>
                  </a:ext>
                </a:extLst>
              </p:cNvPr>
              <p:cNvSpPr>
                <a:spLocks noGrp="1"/>
              </p:cNvSpPr>
              <p:nvPr>
                <p:ph idx="1"/>
              </p:nvPr>
            </p:nvSpPr>
            <p:spPr>
              <a:xfrm>
                <a:off x="2066842" y="1469012"/>
                <a:ext cx="8601158" cy="3629862"/>
              </a:xfrm>
            </p:spPr>
            <p:txBody>
              <a:bodyPr>
                <a:normAutofit/>
              </a:bodyPr>
              <a:lstStyle/>
              <a:p>
                <a:pPr>
                  <a:lnSpc>
                    <a:spcPct val="100000"/>
                  </a:lnSpc>
                </a:pPr>
                <a:r>
                  <a:rPr lang="zh-CN" altLang="en-US" sz="2400" dirty="0"/>
                  <a:t>策略</a:t>
                </a:r>
                <a:r>
                  <a:rPr lang="en-US" altLang="zh-CN" sz="2400" dirty="0"/>
                  <a:t>: </a:t>
                </a:r>
                <a:r>
                  <a:rPr lang="zh-CN" altLang="en-US" sz="2400" dirty="0"/>
                  <a:t>损失函数与风险函数 </a:t>
                </a:r>
                <a:r>
                  <a:rPr lang="en-US" altLang="zh-CN" sz="2400" dirty="0"/>
                  <a:t>(P16-17)</a:t>
                </a:r>
              </a:p>
              <a:p>
                <a:pPr>
                  <a:lnSpc>
                    <a:spcPct val="100000"/>
                  </a:lnSpc>
                </a:pPr>
                <a:r>
                  <a:rPr lang="zh-CN" altLang="en-US" sz="2400" dirty="0"/>
                  <a:t>损失函数</a:t>
                </a:r>
                <a:r>
                  <a:rPr lang="en-US" altLang="zh-CN" sz="2400" dirty="0"/>
                  <a:t>: </a:t>
                </a:r>
                <a:r>
                  <a:rPr lang="zh-CN" altLang="en-US" sz="2400" dirty="0"/>
                  <a:t>预测错误的程度</a:t>
                </a:r>
                <a:r>
                  <a:rPr lang="en-US" altLang="zh-CN" sz="2400" dirty="0"/>
                  <a:t>, </a:t>
                </a:r>
                <a14:m>
                  <m:oMath xmlns:m="http://schemas.openxmlformats.org/officeDocument/2006/math">
                    <m:r>
                      <a:rPr lang="en-US" altLang="zh-CN" sz="2400" i="1">
                        <a:latin typeface="Cambria Math" panose="02040503050406030204" pitchFamily="18" charset="0"/>
                      </a:rPr>
                      <m:t>𝐿</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𝑌</m:t>
                        </m:r>
                        <m:r>
                          <a:rPr lang="en-US" altLang="zh-CN" sz="2400" i="1">
                            <a:latin typeface="Cambria Math" panose="02040503050406030204" pitchFamily="18" charset="0"/>
                          </a:rPr>
                          <m:t>,</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𝑋</m:t>
                            </m:r>
                          </m:e>
                        </m:d>
                      </m:e>
                    </m:d>
                  </m:oMath>
                </a14:m>
                <a:endParaRPr lang="en-US" altLang="zh-CN" sz="2400" dirty="0"/>
              </a:p>
              <a:p>
                <a:pPr>
                  <a:lnSpc>
                    <a:spcPct val="100000"/>
                  </a:lnSpc>
                </a:pPr>
                <a:r>
                  <a:rPr lang="zh-CN" altLang="en-US" sz="2400" dirty="0"/>
                  <a:t>风险函数</a:t>
                </a:r>
                <a:r>
                  <a:rPr lang="en-US" altLang="zh-CN" sz="2400" dirty="0"/>
                  <a:t>/</a:t>
                </a:r>
                <a:r>
                  <a:rPr lang="zh-CN" altLang="en-US" sz="2400" dirty="0"/>
                  <a:t>期望损失</a:t>
                </a:r>
                <a:r>
                  <a:rPr lang="en-US" altLang="zh-CN" sz="2400" dirty="0"/>
                  <a:t>, </a:t>
                </a:r>
                <a:r>
                  <a:rPr lang="zh-CN" altLang="en-US" sz="2400" dirty="0"/>
                  <a:t>损失函数的期望</a:t>
                </a:r>
                <a:endParaRPr lang="en-US" altLang="zh-CN" sz="2400" dirty="0"/>
              </a:p>
              <a:p>
                <a:pPr>
                  <a:lnSpc>
                    <a:spcPct val="100000"/>
                  </a:lnSpc>
                </a:pPr>
                <a:endParaRPr lang="en-US" altLang="zh-CN" sz="2400" dirty="0"/>
              </a:p>
              <a:p>
                <a:pPr>
                  <a:lnSpc>
                    <a:spcPct val="100000"/>
                  </a:lnSpc>
                </a:pPr>
                <a:endParaRPr lang="en-US" altLang="zh-CN" sz="2400" dirty="0"/>
              </a:p>
              <a:p>
                <a:pPr>
                  <a:lnSpc>
                    <a:spcPct val="100000"/>
                  </a:lnSpc>
                </a:pPr>
                <a:r>
                  <a:rPr lang="zh-CN" altLang="en-US" sz="2400" dirty="0"/>
                  <a:t>经验风险</a:t>
                </a:r>
                <a:endParaRPr lang="en-US" altLang="zh-CN" sz="2400" dirty="0"/>
              </a:p>
              <a:p>
                <a:pPr marL="457200" lvl="1" indent="0">
                  <a:lnSpc>
                    <a:spcPct val="100000"/>
                  </a:lnSpc>
                  <a:buNone/>
                </a:pPr>
                <a:endParaRPr lang="en-US" altLang="zh-CN" sz="2000" dirty="0"/>
              </a:p>
            </p:txBody>
          </p:sp>
        </mc:Choice>
        <mc:Fallback xmlns="">
          <p:sp>
            <p:nvSpPr>
              <p:cNvPr id="8" name="内容占位符 2">
                <a:extLst>
                  <a:ext uri="{FF2B5EF4-FFF2-40B4-BE49-F238E27FC236}">
                    <a16:creationId xmlns:a16="http://schemas.microsoft.com/office/drawing/2014/main" id="{CE51CF40-F05E-01CE-3617-06804D341FD7}"/>
                  </a:ext>
                </a:extLst>
              </p:cNvPr>
              <p:cNvSpPr>
                <a:spLocks noGrp="1" noRot="1" noChangeAspect="1" noMove="1" noResize="1" noEditPoints="1" noAdjustHandles="1" noChangeArrowheads="1" noChangeShapeType="1" noTextEdit="1"/>
              </p:cNvSpPr>
              <p:nvPr>
                <p:ph idx="1"/>
              </p:nvPr>
            </p:nvSpPr>
            <p:spPr>
              <a:xfrm>
                <a:off x="2066842" y="1469012"/>
                <a:ext cx="8601158" cy="3629862"/>
              </a:xfrm>
              <a:blipFill>
                <a:blip r:embed="rId3"/>
                <a:stretch>
                  <a:fillRect l="-921" t="-11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8F748F4-4EEE-0425-DCB6-0B2B0DE7D3B5}"/>
                  </a:ext>
                </a:extLst>
              </p:cNvPr>
              <p:cNvSpPr txBox="1"/>
              <p:nvPr/>
            </p:nvSpPr>
            <p:spPr>
              <a:xfrm>
                <a:off x="4473942" y="4640235"/>
                <a:ext cx="4079567" cy="526939"/>
              </a:xfrm>
              <a:prstGeom prst="rect">
                <a:avLst/>
              </a:prstGeom>
              <a:noFill/>
            </p:spPr>
            <p:txBody>
              <a:bodyPr wrap="square" rtlCol="0">
                <a:spAutoFit/>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𝑅</m:t>
                        </m:r>
                      </m:e>
                      <m:sub>
                        <m:r>
                          <m:rPr>
                            <m:sty m:val="p"/>
                          </m:rPr>
                          <a:rPr lang="en-US" altLang="zh-CN" sz="2000">
                            <a:latin typeface="Cambria Math" panose="02040503050406030204" pitchFamily="18" charset="0"/>
                          </a:rPr>
                          <m:t>emp</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𝑓</m:t>
                        </m:r>
                      </m:e>
                    </m:d>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𝑁</m:t>
                        </m:r>
                      </m:den>
                    </m:f>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r>
                          <a:rPr lang="en-US" altLang="zh-CN" sz="2000" i="1">
                            <a:latin typeface="Cambria Math" panose="02040503050406030204" pitchFamily="18" charset="0"/>
                          </a:rPr>
                          <m:t>𝐿</m:t>
                        </m:r>
                        <m:r>
                          <a:rPr lang="en-US" altLang="zh-CN" sz="2000" i="1">
                            <a:latin typeface="Cambria Math" panose="02040503050406030204" pitchFamily="18" charset="0"/>
                          </a:rPr>
                          <m:t>(</m:t>
                        </m:r>
                      </m:e>
                    </m:nary>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rPr>
                      <m:t>𝑓</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oMath>
                </a14:m>
                <a:endParaRPr lang="zh-CN" altLang="en-US" sz="2000" dirty="0"/>
              </a:p>
            </p:txBody>
          </p:sp>
        </mc:Choice>
        <mc:Fallback xmlns="">
          <p:sp>
            <p:nvSpPr>
              <p:cNvPr id="9" name="文本框 8">
                <a:extLst>
                  <a:ext uri="{FF2B5EF4-FFF2-40B4-BE49-F238E27FC236}">
                    <a16:creationId xmlns:a16="http://schemas.microsoft.com/office/drawing/2014/main" id="{08F748F4-4EEE-0425-DCB6-0B2B0DE7D3B5}"/>
                  </a:ext>
                </a:extLst>
              </p:cNvPr>
              <p:cNvSpPr txBox="1">
                <a:spLocks noRot="1" noChangeAspect="1" noMove="1" noResize="1" noEditPoints="1" noAdjustHandles="1" noChangeArrowheads="1" noChangeShapeType="1" noTextEdit="1"/>
              </p:cNvSpPr>
              <p:nvPr/>
            </p:nvSpPr>
            <p:spPr>
              <a:xfrm>
                <a:off x="4473942" y="4640235"/>
                <a:ext cx="4079567" cy="526939"/>
              </a:xfrm>
              <a:prstGeom prst="rect">
                <a:avLst/>
              </a:prstGeom>
              <a:blipFill>
                <a:blip r:embed="rId4"/>
                <a:stretch>
                  <a:fillRect t="-80460" b="-126437"/>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2F718ED4-1512-AA8A-830D-9E6E0CA1997B}"/>
              </a:ext>
            </a:extLst>
          </p:cNvPr>
          <p:cNvGrpSpPr/>
          <p:nvPr/>
        </p:nvGrpSpPr>
        <p:grpSpPr>
          <a:xfrm>
            <a:off x="3514552" y="3038347"/>
            <a:ext cx="6222507" cy="976549"/>
            <a:chOff x="1746511" y="4159224"/>
            <a:chExt cx="6222507" cy="976549"/>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45E321B-7EC1-B2E3-184A-792EB2F61848}"/>
                    </a:ext>
                  </a:extLst>
                </p:cNvPr>
                <p:cNvSpPr txBox="1"/>
                <p:nvPr/>
              </p:nvSpPr>
              <p:spPr>
                <a:xfrm>
                  <a:off x="1746511" y="4159224"/>
                  <a:ext cx="6222507" cy="976549"/>
                </a:xfrm>
                <a:prstGeom prst="rect">
                  <a:avLst/>
                </a:prstGeom>
                <a:no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𝑅</m:t>
                            </m:r>
                          </m:e>
                          <m:sub>
                            <m:r>
                              <m:rPr>
                                <m:sty m:val="p"/>
                              </m:rPr>
                              <a:rPr lang="en-US" altLang="zh-CN" sz="2000">
                                <a:latin typeface="Cambria Math" panose="02040503050406030204" pitchFamily="18" charset="0"/>
                              </a:rPr>
                              <m:t>exp</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𝑓</m:t>
                            </m:r>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e>
                          <m:sub>
                            <m:r>
                              <a:rPr lang="en-US" altLang="zh-CN" sz="2000" i="1">
                                <a:latin typeface="Cambria Math" panose="02040503050406030204" pitchFamily="18" charset="0"/>
                              </a:rPr>
                              <m:t>𝑃</m:t>
                            </m:r>
                          </m:sub>
                        </m:sSub>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𝑌</m:t>
                                </m:r>
                                <m:r>
                                  <a:rPr lang="en-US" altLang="zh-CN" sz="2000" i="1">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e>
                                </m:d>
                              </m:e>
                            </m:d>
                          </m:e>
                        </m:d>
                        <m:r>
                          <a:rPr lang="en-US" altLang="zh-CN" sz="2000" i="1">
                            <a:latin typeface="Cambria Math" panose="02040503050406030204" pitchFamily="18" charset="0"/>
                          </a:rPr>
                          <m:t>=</m:t>
                        </m:r>
                        <m:nary>
                          <m:naryPr>
                            <m:limLoc m:val="undOvr"/>
                            <m:subHide m:val="on"/>
                            <m:supHide m:val="on"/>
                            <m:ctrlPr>
                              <a:rPr lang="en-US" altLang="zh-CN" sz="2000" i="1">
                                <a:latin typeface="Cambria Math" panose="02040503050406030204" pitchFamily="18" charset="0"/>
                              </a:rPr>
                            </m:ctrlPr>
                          </m:naryPr>
                          <m:sub/>
                          <m:sup/>
                          <m:e>
                            <m:r>
                              <a:rPr lang="en-US" altLang="zh-CN" sz="2000" i="1">
                                <a:latin typeface="Cambria Math" panose="02040503050406030204" pitchFamily="18" charset="0"/>
                              </a:rPr>
                              <m:t>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𝑦</m:t>
                                </m:r>
                                <m:r>
                                  <a:rPr lang="en-US" altLang="zh-CN" sz="2000" i="1">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e>
                            </m:d>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r>
                                  <a:rPr lang="en-US" altLang="zh-CN" sz="2000" i="1">
                                    <a:latin typeface="Cambria Math" panose="02040503050406030204" pitchFamily="18" charset="0"/>
                                  </a:rPr>
                                  <m:t>,</m:t>
                                </m:r>
                                <m:r>
                                  <a:rPr lang="en-US" altLang="zh-CN" sz="2000" i="1">
                                    <a:latin typeface="Cambria Math" panose="02040503050406030204" pitchFamily="18" charset="0"/>
                                  </a:rPr>
                                  <m:t>𝑦</m:t>
                                </m:r>
                              </m:e>
                            </m:d>
                            <m:r>
                              <a:rPr lang="en-US" altLang="zh-CN" sz="2000" i="1">
                                <a:latin typeface="Cambria Math" panose="02040503050406030204" pitchFamily="18" charset="0"/>
                              </a:rPr>
                              <m:t>𝑑𝑥𝑑𝑦</m:t>
                            </m:r>
                          </m:e>
                        </m:nary>
                      </m:oMath>
                    </m:oMathPara>
                  </a14:m>
                  <a:endParaRPr lang="zh-CN" altLang="en-US" sz="2000" dirty="0"/>
                </a:p>
              </p:txBody>
            </p:sp>
          </mc:Choice>
          <mc:Fallback xmlns="">
            <p:sp>
              <p:nvSpPr>
                <p:cNvPr id="5" name="文本框 4">
                  <a:extLst>
                    <a:ext uri="{FF2B5EF4-FFF2-40B4-BE49-F238E27FC236}">
                      <a16:creationId xmlns:a16="http://schemas.microsoft.com/office/drawing/2014/main" id="{460E4F12-33A8-61CC-6FAD-3340703A4ECC}"/>
                    </a:ext>
                  </a:extLst>
                </p:cNvPr>
                <p:cNvSpPr txBox="1">
                  <a:spLocks noRot="1" noChangeAspect="1" noMove="1" noResize="1" noEditPoints="1" noAdjustHandles="1" noChangeArrowheads="1" noChangeShapeType="1" noTextEdit="1"/>
                </p:cNvSpPr>
                <p:nvPr/>
              </p:nvSpPr>
              <p:spPr>
                <a:xfrm>
                  <a:off x="1746511" y="4159224"/>
                  <a:ext cx="6222507" cy="976549"/>
                </a:xfrm>
                <a:prstGeom prst="rect">
                  <a:avLst/>
                </a:prstGeom>
                <a:blipFill>
                  <a:blip r:embed="rId5"/>
                  <a:stretch>
                    <a:fillRect t="-123077" b="-16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A04C456-381A-D973-A990-4C4892AF24CA}"/>
                    </a:ext>
                  </a:extLst>
                </p:cNvPr>
                <p:cNvSpPr txBox="1"/>
                <p:nvPr/>
              </p:nvSpPr>
              <p:spPr>
                <a:xfrm>
                  <a:off x="4984558" y="4719941"/>
                  <a:ext cx="822949"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𝑋</m:t>
                        </m:r>
                        <m:r>
                          <a:rPr lang="zh-CN" altLang="en-US" sz="1200">
                            <a:latin typeface="Cambria Math" panose="02040503050406030204" pitchFamily="18" charset="0"/>
                          </a:rPr>
                          <m:t> </m:t>
                        </m:r>
                        <m:r>
                          <a:rPr lang="zh-CN" altLang="en-US" sz="1200" dirty="0">
                            <a:latin typeface="Cambria Math" panose="02040503050406030204" pitchFamily="18" charset="0"/>
                          </a:rPr>
                          <m:t>× </m:t>
                        </m:r>
                        <m:r>
                          <a:rPr lang="en-US" altLang="zh-CN" sz="1200" i="1" dirty="0">
                            <a:latin typeface="Cambria Math" panose="02040503050406030204" pitchFamily="18" charset="0"/>
                          </a:rPr>
                          <m:t>𝑌</m:t>
                        </m:r>
                      </m:oMath>
                    </m:oMathPara>
                  </a14:m>
                  <a:endParaRPr lang="zh-CN" altLang="en-US" sz="1200" i="1" dirty="0">
                    <a:latin typeface="Curlz MT" pitchFamily="82" charset="0"/>
                  </a:endParaRPr>
                </a:p>
              </p:txBody>
            </p:sp>
          </mc:Choice>
          <mc:Fallback xmlns="">
            <p:sp>
              <p:nvSpPr>
                <p:cNvPr id="12" name="文本框 11">
                  <a:extLst>
                    <a:ext uri="{FF2B5EF4-FFF2-40B4-BE49-F238E27FC236}">
                      <a16:creationId xmlns:a16="http://schemas.microsoft.com/office/drawing/2014/main" id="{5A04C456-381A-D973-A990-4C4892AF24CA}"/>
                    </a:ext>
                  </a:extLst>
                </p:cNvPr>
                <p:cNvSpPr txBox="1">
                  <a:spLocks noRot="1" noChangeAspect="1" noMove="1" noResize="1" noEditPoints="1" noAdjustHandles="1" noChangeArrowheads="1" noChangeShapeType="1" noTextEdit="1"/>
                </p:cNvSpPr>
                <p:nvPr/>
              </p:nvSpPr>
              <p:spPr>
                <a:xfrm>
                  <a:off x="4984558" y="4719941"/>
                  <a:ext cx="822949" cy="276999"/>
                </a:xfrm>
                <a:prstGeom prst="rect">
                  <a:avLst/>
                </a:prstGeom>
                <a:blipFill>
                  <a:blip r:embed="rId6"/>
                  <a:stretch>
                    <a:fillRect/>
                  </a:stretch>
                </a:blipFill>
              </p:spPr>
              <p:txBody>
                <a:bodyPr/>
                <a:lstStyle/>
                <a:p>
                  <a:r>
                    <a:rPr lang="zh-CN" altLang="en-US">
                      <a:noFill/>
                    </a:rPr>
                    <a:t> </a:t>
                  </a:r>
                </a:p>
              </p:txBody>
            </p:sp>
          </mc:Fallback>
        </mc:AlternateContent>
      </p:grpSp>
      <p:sp>
        <p:nvSpPr>
          <p:cNvPr id="15" name="灯片编号占位符 14">
            <a:extLst>
              <a:ext uri="{FF2B5EF4-FFF2-40B4-BE49-F238E27FC236}">
                <a16:creationId xmlns:a16="http://schemas.microsoft.com/office/drawing/2014/main" id="{92C74995-D9D9-508A-0EC9-B73FE26874FD}"/>
              </a:ext>
            </a:extLst>
          </p:cNvPr>
          <p:cNvSpPr>
            <a:spLocks noGrp="1"/>
          </p:cNvSpPr>
          <p:nvPr>
            <p:ph type="sldNum" sz="quarter" idx="12"/>
          </p:nvPr>
        </p:nvSpPr>
        <p:spPr/>
        <p:txBody>
          <a:bodyPr/>
          <a:lstStyle/>
          <a:p>
            <a:fld id="{DA04A3ED-EE7A-4E19-90BC-E8E086817459}" type="slidenum">
              <a:rPr lang="zh-CN" altLang="en-US" smtClean="0"/>
              <a:t>6</a:t>
            </a:fld>
            <a:endParaRPr lang="zh-CN" altLang="en-US"/>
          </a:p>
        </p:txBody>
      </p:sp>
    </p:spTree>
    <p:extLst>
      <p:ext uri="{BB962C8B-B14F-4D97-AF65-F5344CB8AC3E}">
        <p14:creationId xmlns:p14="http://schemas.microsoft.com/office/powerpoint/2010/main" val="129706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4275" y="289091"/>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7" name="标题 1">
            <a:extLst>
              <a:ext uri="{FF2B5EF4-FFF2-40B4-BE49-F238E27FC236}">
                <a16:creationId xmlns:a16="http://schemas.microsoft.com/office/drawing/2014/main" id="{91C83C81-790C-0649-3ED1-846680E27C75}"/>
              </a:ext>
            </a:extLst>
          </p:cNvPr>
          <p:cNvSpPr txBox="1"/>
          <p:nvPr/>
        </p:nvSpPr>
        <p:spPr>
          <a:xfrm>
            <a:off x="2291871" y="1951858"/>
            <a:ext cx="6229049" cy="745629"/>
          </a:xfrm>
          <a:prstGeom prst="rect">
            <a:avLst/>
          </a:prstGeom>
        </p:spPr>
        <p:txBody>
          <a:bodyPr vert="horz" lIns="51435" tIns="25718" rIns="51435" bIns="2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400" b="1" dirty="0">
              <a:solidFill>
                <a:schemeClr val="accent1">
                  <a:lumMod val="50000"/>
                </a:schemeClr>
              </a:solidFill>
              <a:latin typeface="+mn-lt"/>
              <a:ea typeface="DengXian" panose="02010600030101010101" pitchFamily="2" charset="-122"/>
            </a:endParaRPr>
          </a:p>
        </p:txBody>
      </p:sp>
      <p:sp>
        <p:nvSpPr>
          <p:cNvPr id="5" name="内容占位符 2">
            <a:extLst>
              <a:ext uri="{FF2B5EF4-FFF2-40B4-BE49-F238E27FC236}">
                <a16:creationId xmlns:a16="http://schemas.microsoft.com/office/drawing/2014/main" id="{FB250041-EDC9-CA6F-9F23-839B86ABC73E}"/>
              </a:ext>
            </a:extLst>
          </p:cNvPr>
          <p:cNvSpPr>
            <a:spLocks noGrp="1"/>
          </p:cNvSpPr>
          <p:nvPr>
            <p:ph idx="1"/>
          </p:nvPr>
        </p:nvSpPr>
        <p:spPr>
          <a:xfrm>
            <a:off x="1901461" y="1442032"/>
            <a:ext cx="8343753" cy="3629862"/>
          </a:xfrm>
        </p:spPr>
        <p:txBody>
          <a:bodyPr>
            <a:normAutofit/>
          </a:bodyPr>
          <a:lstStyle/>
          <a:p>
            <a:pPr>
              <a:lnSpc>
                <a:spcPct val="100000"/>
              </a:lnSpc>
            </a:pPr>
            <a:r>
              <a:rPr lang="zh-CN" altLang="en-US" sz="2400" dirty="0"/>
              <a:t>策略</a:t>
            </a:r>
            <a:r>
              <a:rPr lang="en-US" altLang="zh-CN" sz="2400" dirty="0"/>
              <a:t>: </a:t>
            </a:r>
            <a:r>
              <a:rPr lang="zh-CN" altLang="en-US" sz="2400" dirty="0"/>
              <a:t>经验风险最小化与结构风险最小化</a:t>
            </a:r>
            <a:endParaRPr lang="en-US" altLang="zh-CN" sz="2400" dirty="0"/>
          </a:p>
          <a:p>
            <a:pPr>
              <a:lnSpc>
                <a:spcPct val="100000"/>
              </a:lnSpc>
            </a:pPr>
            <a:r>
              <a:rPr lang="zh-CN" altLang="en-US" sz="2400" dirty="0"/>
              <a:t>经验风险最小化最优模型</a:t>
            </a:r>
            <a:endParaRPr lang="en-US" altLang="zh-CN" sz="2400" dirty="0"/>
          </a:p>
          <a:p>
            <a:pPr lvl="1">
              <a:lnSpc>
                <a:spcPct val="100000"/>
              </a:lnSpc>
            </a:pPr>
            <a:endParaRPr lang="en-US" altLang="zh-CN" sz="2000" dirty="0"/>
          </a:p>
          <a:p>
            <a:pPr lvl="1">
              <a:lnSpc>
                <a:spcPct val="100000"/>
              </a:lnSpc>
            </a:pPr>
            <a:endParaRPr lang="en-US" altLang="zh-CN" sz="2000" dirty="0"/>
          </a:p>
          <a:p>
            <a:pPr lvl="1">
              <a:lnSpc>
                <a:spcPct val="100000"/>
              </a:lnSpc>
            </a:pPr>
            <a:endParaRPr lang="en-US" altLang="zh-CN" sz="2000" dirty="0"/>
          </a:p>
          <a:p>
            <a:pPr algn="just">
              <a:lnSpc>
                <a:spcPct val="100000"/>
              </a:lnSpc>
            </a:pPr>
            <a:r>
              <a:rPr lang="zh-CN" altLang="en-US" sz="2400" dirty="0"/>
              <a:t>结构风险最小化为防止过拟合提出的策略</a:t>
            </a:r>
            <a:r>
              <a:rPr lang="en-US" altLang="zh-CN" sz="2400" dirty="0"/>
              <a:t>,</a:t>
            </a:r>
            <a:r>
              <a:rPr lang="zh-CN" altLang="en-US" sz="2400" dirty="0"/>
              <a:t> 等价于正则化</a:t>
            </a:r>
            <a:r>
              <a:rPr lang="en-US" altLang="zh-CN" sz="2400" dirty="0"/>
              <a:t>, </a:t>
            </a:r>
            <a:r>
              <a:rPr lang="zh-CN" altLang="en-US" sz="2400" dirty="0"/>
              <a:t>即加入正则化项</a:t>
            </a:r>
            <a:r>
              <a:rPr lang="en-US" altLang="zh-CN" sz="2400" dirty="0"/>
              <a:t>,</a:t>
            </a:r>
            <a:r>
              <a:rPr lang="zh-CN" altLang="en-US" sz="2400" dirty="0"/>
              <a:t> 或惩罚项</a:t>
            </a:r>
            <a:endParaRPr lang="en-US" altLang="zh-CN" sz="2400" dirty="0"/>
          </a:p>
          <a:p>
            <a:pPr marL="457200" lvl="1" indent="0">
              <a:lnSpc>
                <a:spcPct val="100000"/>
              </a:lnSpc>
              <a:buNone/>
            </a:pPr>
            <a:endParaRPr lang="en-US" altLang="zh-CN" sz="2000"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9481E3D-EA47-5E97-8A50-AFCB349B3340}"/>
                  </a:ext>
                </a:extLst>
              </p:cNvPr>
              <p:cNvSpPr txBox="1"/>
              <p:nvPr/>
            </p:nvSpPr>
            <p:spPr>
              <a:xfrm>
                <a:off x="4077211" y="4470042"/>
                <a:ext cx="4599421" cy="9578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𝑅</m:t>
                          </m:r>
                        </m:e>
                        <m:sub>
                          <m:r>
                            <m:rPr>
                              <m:sty m:val="p"/>
                            </m:rPr>
                            <a:rPr lang="en-US" altLang="zh-CN" sz="2000" i="1">
                              <a:latin typeface="Cambria Math" panose="02040503050406030204" pitchFamily="18" charset="0"/>
                            </a:rPr>
                            <m:t>min</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𝑓</m:t>
                          </m:r>
                        </m:e>
                      </m:d>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𝑁</m:t>
                          </m:r>
                        </m:den>
                      </m:f>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r>
                            <a:rPr lang="en-US" altLang="zh-CN" sz="2000" i="1">
                              <a:latin typeface="Cambria Math" panose="02040503050406030204" pitchFamily="18" charset="0"/>
                            </a:rPr>
                            <m:t>𝐿</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d>
                          <m:r>
                            <a:rPr lang="en-US" altLang="zh-CN" sz="2000" i="1">
                              <a:latin typeface="Cambria Math" panose="02040503050406030204" pitchFamily="18" charset="0"/>
                            </a:rPr>
                            <m:t>)</m:t>
                          </m:r>
                        </m:e>
                      </m:nary>
                      <m:r>
                        <a:rPr lang="en-US" altLang="zh-CN" sz="2000" i="1">
                          <a:latin typeface="Cambria Math" panose="02040503050406030204" pitchFamily="18" charset="0"/>
                        </a:rPr>
                        <m:t>+</m:t>
                      </m:r>
                      <m:r>
                        <a:rPr lang="zh-CN" altLang="en-US" sz="2000" i="1" dirty="0">
                          <a:latin typeface="Cambria Math" panose="02040503050406030204" pitchFamily="18" charset="0"/>
                        </a:rPr>
                        <m:t>𝜆</m:t>
                      </m:r>
                      <m:r>
                        <a:rPr lang="en-US" altLang="zh-CN" sz="2000" i="1" dirty="0">
                          <a:latin typeface="Cambria Math" panose="02040503050406030204" pitchFamily="18" charset="0"/>
                        </a:rPr>
                        <m:t>𝐽</m:t>
                      </m:r>
                      <m:r>
                        <a:rPr lang="en-US" altLang="zh-CN" sz="2000" i="1" dirty="0">
                          <a:latin typeface="Cambria Math" panose="02040503050406030204" pitchFamily="18" charset="0"/>
                        </a:rPr>
                        <m:t>(</m:t>
                      </m:r>
                      <m:r>
                        <a:rPr lang="en-US" altLang="zh-CN" sz="2000" i="1" dirty="0">
                          <a:latin typeface="Cambria Math" panose="02040503050406030204" pitchFamily="18" charset="0"/>
                        </a:rPr>
                        <m:t>𝑓</m:t>
                      </m:r>
                      <m:r>
                        <a:rPr lang="en-US" altLang="zh-CN" sz="2000" i="1" dirty="0">
                          <a:latin typeface="Cambria Math" panose="02040503050406030204" pitchFamily="18" charset="0"/>
                        </a:rPr>
                        <m:t>)</m:t>
                      </m:r>
                    </m:oMath>
                  </m:oMathPara>
                </a14:m>
                <a:endParaRPr lang="zh-CN" altLang="en-US" sz="2000" dirty="0"/>
              </a:p>
            </p:txBody>
          </p:sp>
        </mc:Choice>
        <mc:Fallback xmlns="">
          <p:sp>
            <p:nvSpPr>
              <p:cNvPr id="6" name="文本框 5">
                <a:extLst>
                  <a:ext uri="{FF2B5EF4-FFF2-40B4-BE49-F238E27FC236}">
                    <a16:creationId xmlns:a16="http://schemas.microsoft.com/office/drawing/2014/main" id="{79481E3D-EA47-5E97-8A50-AFCB349B3340}"/>
                  </a:ext>
                </a:extLst>
              </p:cNvPr>
              <p:cNvSpPr txBox="1">
                <a:spLocks noRot="1" noChangeAspect="1" noMove="1" noResize="1" noEditPoints="1" noAdjustHandles="1" noChangeArrowheads="1" noChangeShapeType="1" noTextEdit="1"/>
              </p:cNvSpPr>
              <p:nvPr/>
            </p:nvSpPr>
            <p:spPr>
              <a:xfrm>
                <a:off x="4077211" y="4470042"/>
                <a:ext cx="4599421" cy="957826"/>
              </a:xfrm>
              <a:prstGeom prst="rect">
                <a:avLst/>
              </a:prstGeom>
              <a:blipFill>
                <a:blip r:embed="rId3"/>
                <a:stretch>
                  <a:fillRect/>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55CE1B66-CBFE-7141-4151-C25E117B7259}"/>
              </a:ext>
            </a:extLst>
          </p:cNvPr>
          <p:cNvGrpSpPr/>
          <p:nvPr/>
        </p:nvGrpSpPr>
        <p:grpSpPr>
          <a:xfrm>
            <a:off x="4905778" y="2393401"/>
            <a:ext cx="2942286" cy="957826"/>
            <a:chOff x="3224462" y="3504446"/>
            <a:chExt cx="2942286" cy="957826"/>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0ED2BFC-5231-5B0C-28B6-2F7376AA9D16}"/>
                    </a:ext>
                  </a:extLst>
                </p:cNvPr>
                <p:cNvSpPr txBox="1"/>
                <p:nvPr/>
              </p:nvSpPr>
              <p:spPr>
                <a:xfrm>
                  <a:off x="3224462" y="3504446"/>
                  <a:ext cx="2942286" cy="9578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a:latin typeface="Cambria Math" panose="02040503050406030204" pitchFamily="18" charset="0"/>
                          </a:rPr>
                          <m:t>min</m:t>
                        </m:r>
                        <m:r>
                          <a:rPr lang="zh-CN" altLang="en-US" sz="2000">
                            <a:latin typeface="Cambria Math" panose="02040503050406030204" pitchFamily="18" charset="0"/>
                          </a:rPr>
                          <m:t> </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𝑁</m:t>
                            </m:r>
                          </m:den>
                        </m:f>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r>
                              <a:rPr lang="en-US" altLang="zh-CN" sz="2000" i="1">
                                <a:latin typeface="Cambria Math" panose="02040503050406030204" pitchFamily="18" charset="0"/>
                              </a:rPr>
                              <m:t>𝐿</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d>
                            <m:r>
                              <a:rPr lang="en-US" altLang="zh-CN" sz="2000" i="1">
                                <a:latin typeface="Cambria Math" panose="02040503050406030204" pitchFamily="18" charset="0"/>
                              </a:rPr>
                              <m:t>)</m:t>
                            </m:r>
                          </m:e>
                        </m:nary>
                      </m:oMath>
                    </m:oMathPara>
                  </a14:m>
                  <a:endParaRPr lang="zh-CN" altLang="en-US" sz="2000" dirty="0"/>
                </a:p>
              </p:txBody>
            </p:sp>
          </mc:Choice>
          <mc:Fallback xmlns="">
            <p:sp>
              <p:nvSpPr>
                <p:cNvPr id="2" name="文本框 1">
                  <a:extLst>
                    <a:ext uri="{FF2B5EF4-FFF2-40B4-BE49-F238E27FC236}">
                      <a16:creationId xmlns:a16="http://schemas.microsoft.com/office/drawing/2014/main" id="{3197FB88-9449-EE7C-CF1D-4F57EF3C66D8}"/>
                    </a:ext>
                  </a:extLst>
                </p:cNvPr>
                <p:cNvSpPr txBox="1">
                  <a:spLocks noRot="1" noChangeAspect="1" noMove="1" noResize="1" noEditPoints="1" noAdjustHandles="1" noChangeArrowheads="1" noChangeShapeType="1" noTextEdit="1"/>
                </p:cNvSpPr>
                <p:nvPr/>
              </p:nvSpPr>
              <p:spPr>
                <a:xfrm>
                  <a:off x="3224462" y="3504446"/>
                  <a:ext cx="2942286" cy="957826"/>
                </a:xfrm>
                <a:prstGeom prst="rect">
                  <a:avLst/>
                </a:prstGeom>
                <a:blipFill>
                  <a:blip r:embed="rId4"/>
                  <a:stretch>
                    <a:fillRect t="-98684" b="-15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CD7DF20-5186-D717-F922-2AA3ADCD58E7}"/>
                    </a:ext>
                  </a:extLst>
                </p:cNvPr>
                <p:cNvSpPr txBox="1"/>
                <p:nvPr/>
              </p:nvSpPr>
              <p:spPr>
                <a:xfrm>
                  <a:off x="3288106" y="4091009"/>
                  <a:ext cx="822949"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𝑓</m:t>
                        </m:r>
                        <m:r>
                          <a:rPr lang="en-US" altLang="zh-CN" sz="1200" i="1">
                            <a:latin typeface="Cambria Math" panose="02040503050406030204" pitchFamily="18" charset="0"/>
                            <a:ea typeface="Cambria Math" panose="02040503050406030204" pitchFamily="18" charset="0"/>
                          </a:rPr>
                          <m:t>∈</m:t>
                        </m:r>
                        <m:r>
                          <a:rPr lang="en-US" altLang="zh-CN" sz="1200" i="1">
                            <a:latin typeface="Cambria Math" panose="02040503050406030204" pitchFamily="18" charset="0"/>
                            <a:ea typeface="Cambria Math" panose="02040503050406030204" pitchFamily="18" charset="0"/>
                          </a:rPr>
                          <m:t>𝐹</m:t>
                        </m:r>
                      </m:oMath>
                    </m:oMathPara>
                  </a14:m>
                  <a:endParaRPr lang="zh-CN" altLang="en-US" sz="1200" dirty="0"/>
                </a:p>
              </p:txBody>
            </p:sp>
          </mc:Choice>
          <mc:Fallback xmlns="">
            <p:sp>
              <p:nvSpPr>
                <p:cNvPr id="5" name="文本框 4">
                  <a:extLst>
                    <a:ext uri="{FF2B5EF4-FFF2-40B4-BE49-F238E27FC236}">
                      <a16:creationId xmlns:a16="http://schemas.microsoft.com/office/drawing/2014/main" id="{F40ACC75-7ED2-D7B1-86F9-83C0C8C140BB}"/>
                    </a:ext>
                  </a:extLst>
                </p:cNvPr>
                <p:cNvSpPr txBox="1">
                  <a:spLocks noRot="1" noChangeAspect="1" noMove="1" noResize="1" noEditPoints="1" noAdjustHandles="1" noChangeArrowheads="1" noChangeShapeType="1" noTextEdit="1"/>
                </p:cNvSpPr>
                <p:nvPr/>
              </p:nvSpPr>
              <p:spPr>
                <a:xfrm>
                  <a:off x="3288106" y="4091009"/>
                  <a:ext cx="822949" cy="276999"/>
                </a:xfrm>
                <a:prstGeom prst="rect">
                  <a:avLst/>
                </a:prstGeom>
                <a:blipFill>
                  <a:blip r:embed="rId5"/>
                  <a:stretch>
                    <a:fillRect b="-4348"/>
                  </a:stretch>
                </a:blipFill>
              </p:spPr>
              <p:txBody>
                <a:bodyPr/>
                <a:lstStyle/>
                <a:p>
                  <a:r>
                    <a:rPr lang="zh-CN" altLang="en-US">
                      <a:noFill/>
                    </a:rPr>
                    <a:t> </a:t>
                  </a:r>
                </a:p>
              </p:txBody>
            </p:sp>
          </mc:Fallback>
        </mc:AlternateContent>
      </p:grpSp>
      <p:sp>
        <p:nvSpPr>
          <p:cNvPr id="18" name="灯片编号占位符 17">
            <a:extLst>
              <a:ext uri="{FF2B5EF4-FFF2-40B4-BE49-F238E27FC236}">
                <a16:creationId xmlns:a16="http://schemas.microsoft.com/office/drawing/2014/main" id="{9D2FDD67-3D45-4CB5-209A-393B7D7E7725}"/>
              </a:ext>
            </a:extLst>
          </p:cNvPr>
          <p:cNvSpPr>
            <a:spLocks noGrp="1"/>
          </p:cNvSpPr>
          <p:nvPr>
            <p:ph type="sldNum" sz="quarter" idx="12"/>
          </p:nvPr>
        </p:nvSpPr>
        <p:spPr/>
        <p:txBody>
          <a:bodyPr/>
          <a:lstStyle/>
          <a:p>
            <a:fld id="{DA04A3ED-EE7A-4E19-90BC-E8E086817459}" type="slidenum">
              <a:rPr lang="zh-CN" altLang="en-US" smtClean="0"/>
              <a:t>7</a:t>
            </a:fld>
            <a:endParaRPr lang="zh-CN" altLang="en-US"/>
          </a:p>
        </p:txBody>
      </p:sp>
    </p:spTree>
    <p:extLst>
      <p:ext uri="{BB962C8B-B14F-4D97-AF65-F5344CB8AC3E}">
        <p14:creationId xmlns:p14="http://schemas.microsoft.com/office/powerpoint/2010/main" val="280556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4275" y="289091"/>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8" name="内容占位符 2">
            <a:extLst>
              <a:ext uri="{FF2B5EF4-FFF2-40B4-BE49-F238E27FC236}">
                <a16:creationId xmlns:a16="http://schemas.microsoft.com/office/drawing/2014/main" id="{92510E72-0B75-CCB2-AD35-F02DB51A84B4}"/>
              </a:ext>
            </a:extLst>
          </p:cNvPr>
          <p:cNvSpPr>
            <a:spLocks noGrp="1"/>
          </p:cNvSpPr>
          <p:nvPr>
            <p:ph idx="1"/>
          </p:nvPr>
        </p:nvSpPr>
        <p:spPr>
          <a:xfrm>
            <a:off x="2040194" y="1499605"/>
            <a:ext cx="8410226" cy="3858791"/>
          </a:xfrm>
        </p:spPr>
        <p:txBody>
          <a:bodyPr>
            <a:noAutofit/>
          </a:bodyPr>
          <a:lstStyle/>
          <a:p>
            <a:pPr>
              <a:lnSpc>
                <a:spcPct val="114000"/>
              </a:lnSpc>
            </a:pPr>
            <a:r>
              <a:rPr lang="ja-JP" altLang="en-US" sz="2400" dirty="0">
                <a:ea typeface="DengXian" panose="02010600030101010101" pitchFamily="2" charset="-122"/>
              </a:rPr>
              <a:t>算法</a:t>
            </a:r>
            <a:r>
              <a:rPr lang="en-US" altLang="ja-JP" sz="2400" dirty="0">
                <a:ea typeface="DengXian" panose="02010600030101010101" pitchFamily="2" charset="-122"/>
              </a:rPr>
              <a:t>: </a:t>
            </a:r>
            <a:r>
              <a:rPr lang="ja-JP" altLang="en-US" sz="2400" dirty="0">
                <a:ea typeface="DengXian" panose="02010600030101010101" pitchFamily="2" charset="-122"/>
              </a:rPr>
              <a:t>最优化</a:t>
            </a:r>
            <a:r>
              <a:rPr lang="en-US" altLang="zh-CN" sz="2400" dirty="0">
                <a:ea typeface="DengXian" panose="02010600030101010101" pitchFamily="2" charset="-122"/>
              </a:rPr>
              <a:t>; </a:t>
            </a:r>
            <a:r>
              <a:rPr lang="zh-CN" altLang="en-US" sz="2400" dirty="0">
                <a:ea typeface="DengXian" panose="02010600030101010101" pitchFamily="2" charset="-122"/>
              </a:rPr>
              <a:t>解析</a:t>
            </a:r>
            <a:r>
              <a:rPr lang="en-US" altLang="zh-CN" sz="2400" dirty="0">
                <a:ea typeface="DengXian" panose="02010600030101010101" pitchFamily="2" charset="-122"/>
              </a:rPr>
              <a:t>/</a:t>
            </a:r>
            <a:r>
              <a:rPr lang="zh-CN" altLang="en-US" sz="2400" dirty="0">
                <a:ea typeface="DengXian" panose="02010600030101010101" pitchFamily="2" charset="-122"/>
              </a:rPr>
              <a:t>迭代</a:t>
            </a:r>
            <a:endParaRPr lang="en-US" altLang="zh-CN" sz="2400" dirty="0">
              <a:ea typeface="DengXian" panose="02010600030101010101" pitchFamily="2" charset="-122"/>
            </a:endParaRPr>
          </a:p>
          <a:p>
            <a:pPr>
              <a:lnSpc>
                <a:spcPct val="114000"/>
              </a:lnSpc>
            </a:pPr>
            <a:endParaRPr lang="en-US" altLang="zh-CN" sz="2400" dirty="0">
              <a:ea typeface="DengXian" panose="02010600030101010101" pitchFamily="2" charset="-122"/>
            </a:endParaRPr>
          </a:p>
          <a:p>
            <a:pPr>
              <a:lnSpc>
                <a:spcPct val="114000"/>
              </a:lnSpc>
            </a:pPr>
            <a:r>
              <a:rPr lang="ja-JP" altLang="en-US" sz="2400" dirty="0">
                <a:ea typeface="DengXian" panose="02010600030101010101" pitchFamily="2" charset="-122"/>
              </a:rPr>
              <a:t>非概率模型</a:t>
            </a:r>
            <a:r>
              <a:rPr lang="en-US" altLang="ja-JP" sz="2400" dirty="0">
                <a:ea typeface="DengXian" panose="02010600030101010101" pitchFamily="2" charset="-122"/>
              </a:rPr>
              <a:t>: </a:t>
            </a:r>
          </a:p>
          <a:p>
            <a:pPr marL="0" indent="0">
              <a:lnSpc>
                <a:spcPct val="114000"/>
              </a:lnSpc>
              <a:buNone/>
            </a:pPr>
            <a:r>
              <a:rPr lang="zh-CN" altLang="en-US" sz="2400" dirty="0">
                <a:ea typeface="DengXian" panose="02010600030101010101" pitchFamily="2" charset="-122"/>
              </a:rPr>
              <a:t>    </a:t>
            </a:r>
            <a:r>
              <a:rPr lang="ja-JP" altLang="en-US" sz="2400" dirty="0">
                <a:ea typeface="DengXian" panose="02010600030101010101" pitchFamily="2" charset="-122"/>
              </a:rPr>
              <a:t>决策函数参数空间中损失函数的最优化</a:t>
            </a:r>
            <a:endParaRPr lang="en-US" altLang="ja-JP" sz="2400" dirty="0">
              <a:ea typeface="DengXian" panose="02010600030101010101" pitchFamily="2" charset="-122"/>
            </a:endParaRPr>
          </a:p>
          <a:p>
            <a:pPr marL="0" indent="0">
              <a:lnSpc>
                <a:spcPct val="114000"/>
              </a:lnSpc>
              <a:buNone/>
            </a:pPr>
            <a:endParaRPr lang="en-US" altLang="ja-JP" sz="2400" dirty="0">
              <a:ea typeface="DengXian" panose="02010600030101010101" pitchFamily="2" charset="-122"/>
            </a:endParaRPr>
          </a:p>
          <a:p>
            <a:pPr>
              <a:lnSpc>
                <a:spcPct val="114000"/>
              </a:lnSpc>
            </a:pPr>
            <a:r>
              <a:rPr lang="zh-CN" altLang="en-US" sz="2400" dirty="0">
                <a:ea typeface="DengXian" panose="02010600030101010101" pitchFamily="2" charset="-122"/>
              </a:rPr>
              <a:t>概率模型</a:t>
            </a:r>
            <a:r>
              <a:rPr lang="en-US" altLang="zh-CN" sz="2400" dirty="0">
                <a:ea typeface="DengXian" panose="02010600030101010101" pitchFamily="2" charset="-122"/>
              </a:rPr>
              <a:t>: </a:t>
            </a:r>
          </a:p>
          <a:p>
            <a:pPr marL="0" indent="0">
              <a:lnSpc>
                <a:spcPct val="114000"/>
              </a:lnSpc>
              <a:buNone/>
            </a:pPr>
            <a:r>
              <a:rPr lang="zh-CN" altLang="en-US" sz="2400" dirty="0">
                <a:ea typeface="DengXian" panose="02010600030101010101" pitchFamily="2" charset="-122"/>
              </a:rPr>
              <a:t>    条件概率参数空间中似然函数最大化 </a:t>
            </a:r>
            <a:r>
              <a:rPr lang="en-US" altLang="zh-CN" sz="2400" dirty="0">
                <a:ea typeface="DengXian" panose="02010600030101010101" pitchFamily="2" charset="-122"/>
              </a:rPr>
              <a:t>(</a:t>
            </a:r>
            <a:r>
              <a:rPr lang="zh-CN" altLang="en-US" sz="2400" dirty="0">
                <a:ea typeface="DengXian" panose="02010600030101010101" pitchFamily="2" charset="-122"/>
              </a:rPr>
              <a:t>判别模型</a:t>
            </a:r>
            <a:r>
              <a:rPr lang="en-US" altLang="zh-CN" sz="2400" dirty="0">
                <a:ea typeface="DengXian" panose="02010600030101010101" pitchFamily="2" charset="-122"/>
              </a:rPr>
              <a:t>)/</a:t>
            </a:r>
            <a:r>
              <a:rPr lang="zh-CN" altLang="en-US" sz="2400" dirty="0">
                <a:ea typeface="DengXian" panose="02010600030101010101" pitchFamily="2" charset="-122"/>
              </a:rPr>
              <a:t>后验概率</a:t>
            </a:r>
            <a:endParaRPr lang="en-US" altLang="zh-CN" sz="2400" dirty="0">
              <a:ea typeface="DengXian" panose="02010600030101010101" pitchFamily="2" charset="-122"/>
            </a:endParaRPr>
          </a:p>
          <a:p>
            <a:pPr marL="0" indent="0">
              <a:lnSpc>
                <a:spcPct val="114000"/>
              </a:lnSpc>
              <a:buNone/>
            </a:pPr>
            <a:r>
              <a:rPr lang="zh-CN" altLang="en-US" sz="2400" dirty="0">
                <a:ea typeface="DengXian" panose="02010600030101010101" pitchFamily="2" charset="-122"/>
              </a:rPr>
              <a:t>   最大化</a:t>
            </a:r>
            <a:r>
              <a:rPr lang="en-US" altLang="zh-CN" sz="2400" dirty="0">
                <a:ea typeface="DengXian" panose="02010600030101010101" pitchFamily="2" charset="-122"/>
              </a:rPr>
              <a:t> (</a:t>
            </a:r>
            <a:r>
              <a:rPr lang="zh-CN" altLang="en-US" sz="2400" dirty="0">
                <a:ea typeface="DengXian" panose="02010600030101010101" pitchFamily="2" charset="-122"/>
              </a:rPr>
              <a:t>生成模型</a:t>
            </a:r>
            <a:r>
              <a:rPr lang="en-US" altLang="zh-CN" sz="2400" dirty="0">
                <a:ea typeface="DengXian" panose="02010600030101010101" pitchFamily="2" charset="-122"/>
              </a:rPr>
              <a:t>); </a:t>
            </a:r>
            <a:r>
              <a:rPr lang="zh-CN" altLang="en-US" sz="2400" dirty="0">
                <a:ea typeface="DengXian" panose="02010600030101010101" pitchFamily="2" charset="-122"/>
              </a:rPr>
              <a:t>通常等价于某种损失函数下的最优化</a:t>
            </a:r>
            <a:endParaRPr lang="en-US" altLang="zh-CN" sz="2400" dirty="0">
              <a:ea typeface="DengXian" panose="02010600030101010101" pitchFamily="2" charset="-122"/>
            </a:endParaRPr>
          </a:p>
        </p:txBody>
      </p:sp>
      <p:sp>
        <p:nvSpPr>
          <p:cNvPr id="11" name="灯片编号占位符 10">
            <a:extLst>
              <a:ext uri="{FF2B5EF4-FFF2-40B4-BE49-F238E27FC236}">
                <a16:creationId xmlns:a16="http://schemas.microsoft.com/office/drawing/2014/main" id="{D74CB1B2-A25E-7E55-5BCF-810984E6CB00}"/>
              </a:ext>
            </a:extLst>
          </p:cNvPr>
          <p:cNvSpPr>
            <a:spLocks noGrp="1"/>
          </p:cNvSpPr>
          <p:nvPr>
            <p:ph type="sldNum" sz="quarter" idx="12"/>
          </p:nvPr>
        </p:nvSpPr>
        <p:spPr/>
        <p:txBody>
          <a:bodyPr/>
          <a:lstStyle/>
          <a:p>
            <a:fld id="{DA04A3ED-EE7A-4E19-90BC-E8E086817459}" type="slidenum">
              <a:rPr lang="zh-CN" altLang="en-US" smtClean="0"/>
              <a:t>8</a:t>
            </a:fld>
            <a:endParaRPr lang="zh-CN" altLang="en-US"/>
          </a:p>
        </p:txBody>
      </p:sp>
    </p:spTree>
    <p:extLst>
      <p:ext uri="{BB962C8B-B14F-4D97-AF65-F5344CB8AC3E}">
        <p14:creationId xmlns:p14="http://schemas.microsoft.com/office/powerpoint/2010/main" val="391422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4275" y="289091"/>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11" name="灯片编号占位符 10">
            <a:extLst>
              <a:ext uri="{FF2B5EF4-FFF2-40B4-BE49-F238E27FC236}">
                <a16:creationId xmlns:a16="http://schemas.microsoft.com/office/drawing/2014/main" id="{D74CB1B2-A25E-7E55-5BCF-810984E6CB00}"/>
              </a:ext>
            </a:extLst>
          </p:cNvPr>
          <p:cNvSpPr>
            <a:spLocks noGrp="1"/>
          </p:cNvSpPr>
          <p:nvPr>
            <p:ph type="sldNum" sz="quarter" idx="12"/>
          </p:nvPr>
        </p:nvSpPr>
        <p:spPr/>
        <p:txBody>
          <a:bodyPr/>
          <a:lstStyle/>
          <a:p>
            <a:fld id="{DA04A3ED-EE7A-4E19-90BC-E8E086817459}" type="slidenum">
              <a:rPr lang="zh-CN" altLang="en-US" smtClean="0"/>
              <a:t>9</a:t>
            </a:fld>
            <a:endParaRPr lang="zh-CN" altLang="en-US"/>
          </a:p>
        </p:txBody>
      </p:sp>
      <p:sp>
        <p:nvSpPr>
          <p:cNvPr id="5" name="内容占位符 2">
            <a:extLst>
              <a:ext uri="{FF2B5EF4-FFF2-40B4-BE49-F238E27FC236}">
                <a16:creationId xmlns:a16="http://schemas.microsoft.com/office/drawing/2014/main" id="{36F5763C-D315-67FB-7ADC-8923846B7263}"/>
              </a:ext>
            </a:extLst>
          </p:cNvPr>
          <p:cNvSpPr>
            <a:spLocks noGrp="1"/>
          </p:cNvSpPr>
          <p:nvPr>
            <p:ph idx="1"/>
          </p:nvPr>
        </p:nvSpPr>
        <p:spPr>
          <a:xfrm>
            <a:off x="1971368" y="1471550"/>
            <a:ext cx="8410226" cy="4207707"/>
          </a:xfrm>
        </p:spPr>
        <p:txBody>
          <a:bodyPr>
            <a:noAutofit/>
          </a:bodyPr>
          <a:lstStyle/>
          <a:p>
            <a:pPr>
              <a:lnSpc>
                <a:spcPct val="114000"/>
              </a:lnSpc>
            </a:pPr>
            <a:r>
              <a:rPr lang="ja-JP" altLang="en-US" sz="2400" dirty="0">
                <a:ea typeface="DengXian" panose="02010600030101010101" pitchFamily="2" charset="-122"/>
              </a:rPr>
              <a:t>统计学习的基本分类</a:t>
            </a:r>
            <a:r>
              <a:rPr lang="en-US" altLang="ja-JP" sz="2400" dirty="0">
                <a:ea typeface="DengXian" panose="02010600030101010101" pitchFamily="2" charset="-122"/>
              </a:rPr>
              <a:t> (P6)</a:t>
            </a:r>
          </a:p>
          <a:p>
            <a:pPr lvl="1">
              <a:lnSpc>
                <a:spcPct val="114000"/>
              </a:lnSpc>
            </a:pPr>
            <a:r>
              <a:rPr lang="ja-JP" altLang="en-US" sz="2000" dirty="0">
                <a:ea typeface="DengXian" panose="02010600030101010101" pitchFamily="2" charset="-122"/>
              </a:rPr>
              <a:t>监督学习</a:t>
            </a:r>
            <a:r>
              <a:rPr lang="zh-CN" altLang="en-US" sz="2000" dirty="0">
                <a:ea typeface="DengXian" panose="02010600030101010101" pitchFamily="2" charset="-122"/>
              </a:rPr>
              <a:t>、无监督学习、强化学习</a:t>
            </a:r>
            <a:endParaRPr lang="en-US" altLang="zh-CN" sz="2000" dirty="0">
              <a:ea typeface="DengXian" panose="02010600030101010101" pitchFamily="2" charset="-122"/>
            </a:endParaRPr>
          </a:p>
          <a:p>
            <a:pPr>
              <a:lnSpc>
                <a:spcPct val="114000"/>
              </a:lnSpc>
            </a:pPr>
            <a:r>
              <a:rPr lang="ja-JP" altLang="en-US" sz="2400" dirty="0">
                <a:ea typeface="DengXian" panose="02010600030101010101" pitchFamily="2" charset="-122"/>
              </a:rPr>
              <a:t>监督学习的定义 </a:t>
            </a:r>
            <a:r>
              <a:rPr lang="en-US" altLang="zh-CN" sz="2400" dirty="0">
                <a:ea typeface="DengXian" panose="02010600030101010101" pitchFamily="2" charset="-122"/>
              </a:rPr>
              <a:t>(P6)</a:t>
            </a:r>
            <a:endParaRPr lang="en-US" altLang="ja-JP" sz="2400" dirty="0">
              <a:ea typeface="DengXian" panose="02010600030101010101" pitchFamily="2" charset="-122"/>
            </a:endParaRPr>
          </a:p>
          <a:p>
            <a:pPr lvl="1">
              <a:lnSpc>
                <a:spcPct val="114000"/>
              </a:lnSpc>
            </a:pPr>
            <a:r>
              <a:rPr lang="ja-JP" altLang="en-US" sz="2000" dirty="0">
                <a:ea typeface="DengXian" panose="02010600030101010101" pitchFamily="2" charset="-122"/>
              </a:rPr>
              <a:t>从标注数据中学习预测模型的机器学习问题</a:t>
            </a:r>
            <a:endParaRPr lang="en-US" altLang="ja-JP" sz="2000" dirty="0">
              <a:ea typeface="DengXian" panose="02010600030101010101" pitchFamily="2" charset="-122"/>
            </a:endParaRPr>
          </a:p>
          <a:p>
            <a:pPr lvl="1">
              <a:lnSpc>
                <a:spcPct val="114000"/>
              </a:lnSpc>
            </a:pPr>
            <a:r>
              <a:rPr lang="ja-JP" altLang="en-US" sz="2000" dirty="0">
                <a:ea typeface="DengXian" panose="02010600030101010101" pitchFamily="2" charset="-122"/>
              </a:rPr>
              <a:t>本质是学习输入到输出的映射的统计规律</a:t>
            </a:r>
            <a:endParaRPr lang="en-US" altLang="ja-JP" sz="2000" dirty="0">
              <a:ea typeface="DengXian" panose="02010600030101010101" pitchFamily="2" charset="-122"/>
            </a:endParaRPr>
          </a:p>
          <a:p>
            <a:pPr>
              <a:lnSpc>
                <a:spcPct val="114000"/>
              </a:lnSpc>
            </a:pPr>
            <a:r>
              <a:rPr lang="ja-JP" altLang="en-US" sz="2400" dirty="0">
                <a:ea typeface="DengXian" panose="02010600030101010101" pitchFamily="2" charset="-122"/>
              </a:rPr>
              <a:t>监督学习的基本假设与方法</a:t>
            </a:r>
            <a:endParaRPr lang="en-US" altLang="ja-JP" sz="2400" dirty="0">
              <a:ea typeface="DengXian" panose="02010600030101010101" pitchFamily="2" charset="-122"/>
            </a:endParaRPr>
          </a:p>
          <a:p>
            <a:pPr lvl="1">
              <a:lnSpc>
                <a:spcPct val="114000"/>
              </a:lnSpc>
            </a:pPr>
            <a:r>
              <a:rPr lang="ja-JP" altLang="en-US" sz="2000" dirty="0">
                <a:ea typeface="DengXian" panose="02010600030101010101" pitchFamily="2" charset="-122"/>
              </a:rPr>
              <a:t>数据独立同分布</a:t>
            </a:r>
            <a:r>
              <a:rPr lang="en-US" altLang="ja-JP" sz="2000" dirty="0">
                <a:ea typeface="DengXian" panose="02010600030101010101" pitchFamily="2" charset="-122"/>
              </a:rPr>
              <a:t>, </a:t>
            </a:r>
            <a:r>
              <a:rPr lang="ja-JP" altLang="en-US" sz="2000" dirty="0">
                <a:ea typeface="DengXian" panose="02010600030101010101" pitchFamily="2" charset="-122"/>
              </a:rPr>
              <a:t>模型属于某个假设空间</a:t>
            </a:r>
            <a:endParaRPr lang="en-US" altLang="ja-JP" sz="2000" dirty="0">
              <a:ea typeface="DengXian" panose="02010600030101010101" pitchFamily="2" charset="-122"/>
            </a:endParaRPr>
          </a:p>
          <a:p>
            <a:pPr lvl="1">
              <a:lnSpc>
                <a:spcPct val="114000"/>
              </a:lnSpc>
            </a:pPr>
            <a:r>
              <a:rPr lang="ja-JP" altLang="en-US" sz="2000" dirty="0">
                <a:ea typeface="DengXian" panose="02010600030101010101" pitchFamily="2" charset="-122"/>
              </a:rPr>
              <a:t>应用某一评价准则</a:t>
            </a:r>
            <a:r>
              <a:rPr lang="en-US" altLang="ja-JP" sz="2000" dirty="0">
                <a:ea typeface="DengXian" panose="02010600030101010101" pitchFamily="2" charset="-122"/>
              </a:rPr>
              <a:t>, </a:t>
            </a:r>
            <a:r>
              <a:rPr lang="ja-JP" altLang="en-US" sz="2000" dirty="0">
                <a:ea typeface="DengXian" panose="02010600030101010101" pitchFamily="2" charset="-122"/>
              </a:rPr>
              <a:t>从假设空间中选择一个最优的模型</a:t>
            </a:r>
            <a:endParaRPr lang="en-US" altLang="ja-JP" sz="2000" dirty="0">
              <a:ea typeface="DengXian" panose="02010600030101010101" pitchFamily="2" charset="-122"/>
            </a:endParaRPr>
          </a:p>
          <a:p>
            <a:pPr lvl="1">
              <a:lnSpc>
                <a:spcPct val="114000"/>
              </a:lnSpc>
            </a:pPr>
            <a:r>
              <a:rPr lang="ja-JP" altLang="en-US" sz="2000" dirty="0">
                <a:ea typeface="DengXian" panose="02010600030101010101" pitchFamily="2" charset="-122"/>
              </a:rPr>
              <a:t>对已给训练数据及未知测试数据在给定评价标准意义有准确的预测</a:t>
            </a:r>
            <a:endParaRPr lang="en-US" altLang="ja-JP" sz="1600" dirty="0">
              <a:ea typeface="DengXian" panose="02010600030101010101" pitchFamily="2" charset="-122"/>
            </a:endParaRPr>
          </a:p>
        </p:txBody>
      </p:sp>
    </p:spTree>
    <p:extLst>
      <p:ext uri="{BB962C8B-B14F-4D97-AF65-F5344CB8AC3E}">
        <p14:creationId xmlns:p14="http://schemas.microsoft.com/office/powerpoint/2010/main" val="125975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6567" y="1128330"/>
            <a:ext cx="2174157" cy="533323"/>
          </a:xfrm>
        </p:spPr>
        <p:txBody>
          <a:bodyPr/>
          <a:lstStyle/>
          <a:p>
            <a:r>
              <a:rPr lang="zh-CN" altLang="en-US" dirty="0"/>
              <a:t>监督学习</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886566" y="1689720"/>
            <a:ext cx="5852670" cy="4666631"/>
          </a:xfrm>
          <a:prstGeom prst="rect">
            <a:avLst/>
          </a:prstGeom>
        </p:spPr>
      </p:pic>
      <p:sp>
        <p:nvSpPr>
          <p:cNvPr id="7" name="灯片编号占位符 6">
            <a:extLst>
              <a:ext uri="{FF2B5EF4-FFF2-40B4-BE49-F238E27FC236}">
                <a16:creationId xmlns:a16="http://schemas.microsoft.com/office/drawing/2014/main" id="{02879E96-AAD9-9EAC-E7A9-242C616F1B01}"/>
              </a:ext>
            </a:extLst>
          </p:cNvPr>
          <p:cNvSpPr>
            <a:spLocks noGrp="1"/>
          </p:cNvSpPr>
          <p:nvPr>
            <p:ph type="sldNum" sz="quarter" idx="12"/>
          </p:nvPr>
        </p:nvSpPr>
        <p:spPr/>
        <p:txBody>
          <a:bodyPr/>
          <a:lstStyle/>
          <a:p>
            <a:fld id="{DA04A3ED-EE7A-4E19-90BC-E8E086817459}" type="slidenum">
              <a:rPr lang="zh-CN" altLang="en-US" smtClean="0"/>
              <a:t>10</a:t>
            </a:fld>
            <a:endParaRPr lang="zh-CN" altLang="en-US"/>
          </a:p>
        </p:txBody>
      </p:sp>
      <p:sp>
        <p:nvSpPr>
          <p:cNvPr id="12" name="矩形 11">
            <a:extLst>
              <a:ext uri="{FF2B5EF4-FFF2-40B4-BE49-F238E27FC236}">
                <a16:creationId xmlns:a16="http://schemas.microsoft.com/office/drawing/2014/main" id="{B711A8DC-12B2-AFFE-E7D5-42D5A91A09D7}"/>
              </a:ext>
            </a:extLst>
          </p:cNvPr>
          <p:cNvSpPr/>
          <p:nvPr/>
        </p:nvSpPr>
        <p:spPr>
          <a:xfrm>
            <a:off x="7833886" y="2484590"/>
            <a:ext cx="2353529" cy="2246769"/>
          </a:xfrm>
          <a:prstGeom prst="rect">
            <a:avLst/>
          </a:prstGeom>
        </p:spPr>
        <p:txBody>
          <a:bodyPr wrap="none">
            <a:spAutoFit/>
          </a:bodyPr>
          <a:lstStyle/>
          <a:p>
            <a:pPr>
              <a:lnSpc>
                <a:spcPct val="100000"/>
              </a:lnSpc>
            </a:pPr>
            <a:r>
              <a:rPr lang="zh-CN" altLang="en-US" sz="2000" dirty="0"/>
              <a:t>分类问题</a:t>
            </a:r>
            <a:endParaRPr lang="en-US" altLang="zh-CN" sz="2000" dirty="0"/>
          </a:p>
          <a:p>
            <a:pPr>
              <a:lnSpc>
                <a:spcPct val="100000"/>
              </a:lnSpc>
            </a:pPr>
            <a:r>
              <a:rPr lang="en-US" altLang="zh-CN" sz="2000" i="1" dirty="0"/>
              <a:t>X</a:t>
            </a:r>
            <a:r>
              <a:rPr lang="en-US" altLang="zh-CN" sz="2000" dirty="0"/>
              <a:t>: </a:t>
            </a:r>
            <a:r>
              <a:rPr lang="zh-CN" altLang="en-US" sz="2000" dirty="0"/>
              <a:t>连续</a:t>
            </a:r>
            <a:r>
              <a:rPr lang="en-US" altLang="zh-CN" sz="2000" dirty="0"/>
              <a:t>/</a:t>
            </a:r>
            <a:r>
              <a:rPr lang="zh-CN" altLang="en-US" sz="2000" dirty="0"/>
              <a:t>离散值</a:t>
            </a:r>
            <a:endParaRPr lang="en-US" altLang="zh-CN" sz="2000" dirty="0"/>
          </a:p>
          <a:p>
            <a:r>
              <a:rPr lang="en-US" altLang="zh-CN" sz="2000" i="1" dirty="0"/>
              <a:t>Y</a:t>
            </a:r>
            <a:r>
              <a:rPr lang="en-US" altLang="zh-CN" sz="2000" dirty="0"/>
              <a:t>: </a:t>
            </a:r>
            <a:r>
              <a:rPr lang="zh-CN" altLang="en-US" sz="2000" dirty="0"/>
              <a:t>离散值</a:t>
            </a:r>
            <a:r>
              <a:rPr lang="en-US" altLang="zh-CN" sz="2000" dirty="0"/>
              <a:t>, </a:t>
            </a:r>
            <a:r>
              <a:rPr lang="zh-CN" altLang="en-US" sz="2000" dirty="0"/>
              <a:t>有限取值</a:t>
            </a:r>
            <a:endParaRPr lang="en-US" altLang="zh-CN" sz="2000" dirty="0"/>
          </a:p>
          <a:p>
            <a:pPr>
              <a:lnSpc>
                <a:spcPct val="100000"/>
              </a:lnSpc>
            </a:pPr>
            <a:endParaRPr lang="en-US" altLang="zh-CN" sz="2000" dirty="0"/>
          </a:p>
          <a:p>
            <a:pPr>
              <a:lnSpc>
                <a:spcPct val="100000"/>
              </a:lnSpc>
            </a:pPr>
            <a:r>
              <a:rPr lang="zh-CN" altLang="en-US" sz="2000" dirty="0"/>
              <a:t>回归问题</a:t>
            </a:r>
            <a:endParaRPr lang="en-US" altLang="zh-CN" sz="2000" dirty="0"/>
          </a:p>
          <a:p>
            <a:pPr>
              <a:lnSpc>
                <a:spcPct val="100000"/>
              </a:lnSpc>
            </a:pPr>
            <a:r>
              <a:rPr lang="en-US" altLang="zh-CN" sz="2000" i="1" dirty="0"/>
              <a:t>X</a:t>
            </a:r>
            <a:r>
              <a:rPr lang="en-US" altLang="zh-CN" sz="2000" dirty="0"/>
              <a:t>: </a:t>
            </a:r>
            <a:r>
              <a:rPr lang="zh-CN" altLang="en-US" sz="2000" dirty="0"/>
              <a:t>连续值</a:t>
            </a:r>
            <a:endParaRPr lang="en-US" altLang="zh-CN" sz="2000" dirty="0"/>
          </a:p>
          <a:p>
            <a:r>
              <a:rPr lang="en-US" altLang="zh-CN" sz="2000" i="1" dirty="0"/>
              <a:t>Y</a:t>
            </a:r>
            <a:r>
              <a:rPr lang="en-US" altLang="zh-CN" sz="2000" dirty="0"/>
              <a:t>: </a:t>
            </a:r>
            <a:r>
              <a:rPr lang="zh-CN" altLang="en-US" sz="2000" dirty="0"/>
              <a:t>连续值</a:t>
            </a:r>
            <a:r>
              <a:rPr lang="en-US" altLang="zh-CN" sz="2000" dirty="0"/>
              <a:t>, </a:t>
            </a:r>
            <a:r>
              <a:rPr lang="zh-CN" altLang="en-US" sz="2000" dirty="0"/>
              <a:t>无限取值</a:t>
            </a:r>
            <a:endParaRPr lang="en-US" altLang="zh-CN" sz="2000"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EAD8DA1-4741-D6AE-7885-06EB86896485}"/>
                  </a:ext>
                </a:extLst>
              </p:cNvPr>
              <p:cNvSpPr txBox="1"/>
              <p:nvPr/>
            </p:nvSpPr>
            <p:spPr>
              <a:xfrm>
                <a:off x="2057363" y="4865602"/>
                <a:ext cx="994899" cy="6053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𝑌</m:t>
                      </m:r>
                      <m:r>
                        <a:rPr lang="en-US" altLang="zh-CN" sz="1600" i="1">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𝑓</m:t>
                          </m:r>
                        </m:e>
                      </m:acc>
                      <m:r>
                        <a:rPr lang="en-US" altLang="zh-CN" sz="1600" i="1">
                          <a:latin typeface="Cambria Math" panose="02040503050406030204" pitchFamily="18" charset="0"/>
                        </a:rPr>
                        <m:t>(</m:t>
                      </m:r>
                      <m:r>
                        <a:rPr lang="en-US" altLang="zh-CN" sz="1600" i="1">
                          <a:latin typeface="Cambria Math" panose="02040503050406030204" pitchFamily="18" charset="0"/>
                        </a:rPr>
                        <m:t>𝑥</m:t>
                      </m:r>
                      <m:r>
                        <a:rPr lang="en-US" altLang="zh-CN" sz="1600" i="1">
                          <a:latin typeface="Cambria Math" panose="02040503050406030204" pitchFamily="18" charset="0"/>
                        </a:rPr>
                        <m:t>)</m:t>
                      </m:r>
                    </m:oMath>
                  </m:oMathPara>
                </a14:m>
                <a:endParaRPr lang="en-US" altLang="zh-CN" sz="1600" dirty="0"/>
              </a:p>
              <a:p>
                <a:pPr algn="ctr"/>
                <a14:m>
                  <m:oMathPara xmlns:m="http://schemas.openxmlformats.org/officeDocument/2006/math">
                    <m:oMathParaPr>
                      <m:jc m:val="centerGroup"/>
                    </m:oMathParaPr>
                    <m:oMath xmlns:m="http://schemas.openxmlformats.org/officeDocument/2006/math">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𝑃</m:t>
                          </m:r>
                        </m:e>
                      </m:acc>
                      <m:r>
                        <a:rPr lang="en-US" altLang="zh-CN" sz="1600" i="1">
                          <a:latin typeface="Cambria Math" panose="02040503050406030204" pitchFamily="18" charset="0"/>
                        </a:rPr>
                        <m:t>(</m:t>
                      </m:r>
                      <m:r>
                        <a:rPr lang="en-US" altLang="zh-CN" sz="1600" i="1">
                          <a:latin typeface="Cambria Math" panose="02040503050406030204" pitchFamily="18" charset="0"/>
                        </a:rPr>
                        <m:t>𝑌</m:t>
                      </m:r>
                      <m:r>
                        <a:rPr lang="en-US" altLang="zh-CN" sz="1600" i="1">
                          <a:latin typeface="Cambria Math" panose="02040503050406030204" pitchFamily="18" charset="0"/>
                        </a:rPr>
                        <m:t>|</m:t>
                      </m:r>
                      <m:r>
                        <a:rPr lang="en-US" altLang="zh-CN" sz="1600" i="1">
                          <a:latin typeface="Cambria Math" panose="02040503050406030204" pitchFamily="18" charset="0"/>
                        </a:rPr>
                        <m:t>𝑋</m:t>
                      </m:r>
                      <m:r>
                        <a:rPr lang="en-US" altLang="zh-CN" sz="1600" i="1">
                          <a:latin typeface="Cambria Math" panose="02040503050406030204" pitchFamily="18" charset="0"/>
                        </a:rPr>
                        <m:t>)</m:t>
                      </m:r>
                    </m:oMath>
                  </m:oMathPara>
                </a14:m>
                <a:endParaRPr lang="en-US" altLang="zh-CN" sz="1600" dirty="0"/>
              </a:p>
            </p:txBody>
          </p:sp>
        </mc:Choice>
        <mc:Fallback xmlns="">
          <p:sp>
            <p:nvSpPr>
              <p:cNvPr id="13" name="文本框 12">
                <a:extLst>
                  <a:ext uri="{FF2B5EF4-FFF2-40B4-BE49-F238E27FC236}">
                    <a16:creationId xmlns:a16="http://schemas.microsoft.com/office/drawing/2014/main" id="{FEAD8DA1-4741-D6AE-7885-06EB86896485}"/>
                  </a:ext>
                </a:extLst>
              </p:cNvPr>
              <p:cNvSpPr txBox="1">
                <a:spLocks noRot="1" noChangeAspect="1" noMove="1" noResize="1" noEditPoints="1" noAdjustHandles="1" noChangeArrowheads="1" noChangeShapeType="1" noTextEdit="1"/>
              </p:cNvSpPr>
              <p:nvPr/>
            </p:nvSpPr>
            <p:spPr>
              <a:xfrm>
                <a:off x="2057363" y="4865602"/>
                <a:ext cx="994899" cy="605359"/>
              </a:xfrm>
              <a:prstGeom prst="rect">
                <a:avLst/>
              </a:prstGeom>
              <a:blipFill>
                <a:blip r:embed="rId3"/>
                <a:stretch>
                  <a:fillRect b="-60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B4F72AE-7BC9-E19F-A47F-B34D60A0F82C}"/>
                  </a:ext>
                </a:extLst>
              </p:cNvPr>
              <p:cNvSpPr txBox="1"/>
              <p:nvPr/>
            </p:nvSpPr>
            <p:spPr>
              <a:xfrm>
                <a:off x="4917376" y="5571922"/>
                <a:ext cx="2978545" cy="345223"/>
              </a:xfrm>
              <a:prstGeom prst="rect">
                <a:avLst/>
              </a:prstGeom>
              <a:noFill/>
            </p:spPr>
            <p:txBody>
              <a:bodyPr wrap="square" rtlCol="0">
                <a:spAutoFit/>
              </a:bodyPr>
              <a:lstStyle/>
              <a:p>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𝑁</m:t>
                        </m:r>
                        <m:r>
                          <a:rPr lang="en-US" altLang="zh-CN" sz="1600" i="1">
                            <a:latin typeface="Cambria Math" panose="02040503050406030204" pitchFamily="18" charset="0"/>
                          </a:rPr>
                          <m:t>+1</m:t>
                        </m:r>
                      </m:sub>
                    </m:sSub>
                  </m:oMath>
                </a14:m>
                <a:r>
                  <a:rPr lang="zh-CN" altLang="en-US" sz="1600" dirty="0"/>
                  <a:t> </a:t>
                </a:r>
                <a14:m>
                  <m:oMath xmlns:m="http://schemas.openxmlformats.org/officeDocument/2006/math">
                    <m:r>
                      <a:rPr lang="en-US" altLang="zh-CN" sz="1600" i="1" dirty="0">
                        <a:latin typeface="Cambria Math" panose="02040503050406030204" pitchFamily="18" charset="0"/>
                      </a:rPr>
                      <m:t>=</m:t>
                    </m:r>
                    <m:r>
                      <m:rPr>
                        <m:sty m:val="p"/>
                      </m:rPr>
                      <a:rPr lang="en-US" altLang="zh-CN" sz="1600" dirty="0">
                        <a:latin typeface="Cambria Math" panose="02040503050406030204" pitchFamily="18" charset="0"/>
                      </a:rPr>
                      <m:t>argmax</m:t>
                    </m:r>
                    <m:r>
                      <a:rPr lang="en-US" altLang="zh-CN" sz="1600" dirty="0">
                        <a:latin typeface="Cambria Math" panose="02040503050406030204" pitchFamily="18" charset="0"/>
                      </a:rPr>
                      <m:t> </m:t>
                    </m:r>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𝑃</m:t>
                        </m:r>
                      </m:e>
                    </m:acc>
                    <m:r>
                      <a:rPr lang="en-US" altLang="zh-CN" sz="1600" i="1" dirty="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𝑁</m:t>
                        </m:r>
                        <m:r>
                          <a:rPr lang="en-US" altLang="zh-CN" sz="1600" i="1">
                            <a:latin typeface="Cambria Math" panose="02040503050406030204" pitchFamily="18" charset="0"/>
                          </a:rPr>
                          <m:t>+1</m:t>
                        </m:r>
                      </m:sub>
                    </m:sSub>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𝑁</m:t>
                        </m:r>
                        <m:r>
                          <a:rPr lang="en-US" altLang="zh-CN" sz="1600" i="1">
                            <a:latin typeface="Cambria Math" panose="02040503050406030204" pitchFamily="18" charset="0"/>
                          </a:rPr>
                          <m:t>+1</m:t>
                        </m:r>
                      </m:sub>
                    </m:sSub>
                    <m:r>
                      <a:rPr lang="en-US" altLang="zh-CN" sz="1600" i="1" dirty="0">
                        <a:latin typeface="Cambria Math" panose="02040503050406030204" pitchFamily="18" charset="0"/>
                      </a:rPr>
                      <m:t>)</m:t>
                    </m:r>
                  </m:oMath>
                </a14:m>
                <a:endParaRPr lang="zh-CN" altLang="en-US" sz="1600" dirty="0"/>
              </a:p>
            </p:txBody>
          </p:sp>
        </mc:Choice>
        <mc:Fallback xmlns="">
          <p:sp>
            <p:nvSpPr>
              <p:cNvPr id="14" name="文本框 13">
                <a:extLst>
                  <a:ext uri="{FF2B5EF4-FFF2-40B4-BE49-F238E27FC236}">
                    <a16:creationId xmlns:a16="http://schemas.microsoft.com/office/drawing/2014/main" id="{1B4F72AE-7BC9-E19F-A47F-B34D60A0F82C}"/>
                  </a:ext>
                </a:extLst>
              </p:cNvPr>
              <p:cNvSpPr txBox="1">
                <a:spLocks noRot="1" noChangeAspect="1" noMove="1" noResize="1" noEditPoints="1" noAdjustHandles="1" noChangeArrowheads="1" noChangeShapeType="1" noTextEdit="1"/>
              </p:cNvSpPr>
              <p:nvPr/>
            </p:nvSpPr>
            <p:spPr>
              <a:xfrm>
                <a:off x="4917376" y="5571922"/>
                <a:ext cx="2978545" cy="345223"/>
              </a:xfrm>
              <a:prstGeom prst="rect">
                <a:avLst/>
              </a:prstGeom>
              <a:blipFill>
                <a:blip r:embed="rId4"/>
                <a:stretch>
                  <a:fillRect t="-3509" b="-2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FBA78C7-6C41-EBF5-9306-64988CE57946}"/>
                  </a:ext>
                </a:extLst>
              </p:cNvPr>
              <p:cNvSpPr txBox="1"/>
              <p:nvPr/>
            </p:nvSpPr>
            <p:spPr>
              <a:xfrm>
                <a:off x="5672739" y="5191386"/>
                <a:ext cx="2379866" cy="3524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𝑁</m:t>
                          </m:r>
                          <m:r>
                            <a:rPr lang="en-US" altLang="zh-CN" sz="1600" i="1">
                              <a:latin typeface="Cambria Math" panose="02040503050406030204" pitchFamily="18" charset="0"/>
                            </a:rPr>
                            <m:t>+1</m:t>
                          </m:r>
                        </m:sub>
                      </m:sSub>
                      <m:r>
                        <a:rPr lang="en-US" altLang="zh-CN" sz="1600" i="1">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𝑓</m:t>
                          </m:r>
                        </m:e>
                      </m:acc>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𝑁</m:t>
                          </m:r>
                          <m:r>
                            <a:rPr lang="en-US" altLang="zh-CN" sz="1600" i="1">
                              <a:latin typeface="Cambria Math" panose="02040503050406030204" pitchFamily="18" charset="0"/>
                            </a:rPr>
                            <m:t>+1</m:t>
                          </m:r>
                        </m:sub>
                      </m:sSub>
                      <m:r>
                        <a:rPr lang="en-US" altLang="zh-CN" sz="1600" i="1" dirty="0">
                          <a:latin typeface="Cambria Math" panose="02040503050406030204" pitchFamily="18" charset="0"/>
                        </a:rPr>
                        <m:t>)</m:t>
                      </m:r>
                    </m:oMath>
                  </m:oMathPara>
                </a14:m>
                <a:endParaRPr lang="zh-CN" altLang="en-US" sz="1600" i="1" dirty="0">
                  <a:latin typeface="Cambria Math" panose="02040503050406030204" pitchFamily="18" charset="0"/>
                </a:endParaRPr>
              </a:p>
            </p:txBody>
          </p:sp>
        </mc:Choice>
        <mc:Fallback xmlns="">
          <p:sp>
            <p:nvSpPr>
              <p:cNvPr id="15" name="文本框 14">
                <a:extLst>
                  <a:ext uri="{FF2B5EF4-FFF2-40B4-BE49-F238E27FC236}">
                    <a16:creationId xmlns:a16="http://schemas.microsoft.com/office/drawing/2014/main" id="{9FBA78C7-6C41-EBF5-9306-64988CE57946}"/>
                  </a:ext>
                </a:extLst>
              </p:cNvPr>
              <p:cNvSpPr txBox="1">
                <a:spLocks noRot="1" noChangeAspect="1" noMove="1" noResize="1" noEditPoints="1" noAdjustHandles="1" noChangeArrowheads="1" noChangeShapeType="1" noTextEdit="1"/>
              </p:cNvSpPr>
              <p:nvPr/>
            </p:nvSpPr>
            <p:spPr>
              <a:xfrm>
                <a:off x="5672739" y="5191386"/>
                <a:ext cx="2379866" cy="352469"/>
              </a:xfrm>
              <a:prstGeom prst="rect">
                <a:avLst/>
              </a:prstGeom>
              <a:blipFill>
                <a:blip r:embed="rId5"/>
                <a:stretch>
                  <a:fillRect b="-14035"/>
                </a:stretch>
              </a:blipFill>
            </p:spPr>
            <p:txBody>
              <a:bodyPr/>
              <a:lstStyle/>
              <a:p>
                <a:r>
                  <a:rPr lang="zh-CN" altLang="en-US">
                    <a:noFill/>
                  </a:rPr>
                  <a:t> </a:t>
                </a:r>
              </a:p>
            </p:txBody>
          </p:sp>
        </mc:Fallback>
      </mc:AlternateContent>
      <p:sp>
        <p:nvSpPr>
          <p:cNvPr id="16" name="椭圆 15">
            <a:extLst>
              <a:ext uri="{FF2B5EF4-FFF2-40B4-BE49-F238E27FC236}">
                <a16:creationId xmlns:a16="http://schemas.microsoft.com/office/drawing/2014/main" id="{E3A62EDE-78F5-60F4-DD55-2FBD4985AB61}"/>
              </a:ext>
            </a:extLst>
          </p:cNvPr>
          <p:cNvSpPr/>
          <p:nvPr/>
        </p:nvSpPr>
        <p:spPr>
          <a:xfrm>
            <a:off x="5207454" y="3566175"/>
            <a:ext cx="888547" cy="603317"/>
          </a:xfrm>
          <a:prstGeom prst="ellipse">
            <a:avLst/>
          </a:prstGeom>
          <a:noFill/>
          <a:ln w="28575">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350"/>
          </a:p>
        </p:txBody>
      </p:sp>
      <p:sp>
        <p:nvSpPr>
          <p:cNvPr id="17" name="椭圆 16">
            <a:extLst>
              <a:ext uri="{FF2B5EF4-FFF2-40B4-BE49-F238E27FC236}">
                <a16:creationId xmlns:a16="http://schemas.microsoft.com/office/drawing/2014/main" id="{17B608C0-1930-82AC-BA2A-4B40C4D5A5B8}"/>
              </a:ext>
            </a:extLst>
          </p:cNvPr>
          <p:cNvSpPr/>
          <p:nvPr/>
        </p:nvSpPr>
        <p:spPr>
          <a:xfrm>
            <a:off x="3876851" y="4099551"/>
            <a:ext cx="1518898" cy="1277810"/>
          </a:xfrm>
          <a:prstGeom prst="ellipse">
            <a:avLst/>
          </a:prstGeom>
          <a:noFill/>
          <a:ln w="28575">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350"/>
          </a:p>
        </p:txBody>
      </p:sp>
      <p:sp>
        <p:nvSpPr>
          <p:cNvPr id="18" name="椭圆 17">
            <a:extLst>
              <a:ext uri="{FF2B5EF4-FFF2-40B4-BE49-F238E27FC236}">
                <a16:creationId xmlns:a16="http://schemas.microsoft.com/office/drawing/2014/main" id="{5CF5A0C6-0EA7-A6D4-9551-A92E914BC888}"/>
              </a:ext>
            </a:extLst>
          </p:cNvPr>
          <p:cNvSpPr/>
          <p:nvPr/>
        </p:nvSpPr>
        <p:spPr>
          <a:xfrm>
            <a:off x="2292812" y="5482349"/>
            <a:ext cx="1518899" cy="888028"/>
          </a:xfrm>
          <a:prstGeom prst="ellipse">
            <a:avLst/>
          </a:prstGeom>
          <a:noFill/>
          <a:ln w="28575">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350"/>
          </a:p>
        </p:txBody>
      </p:sp>
      <p:sp>
        <p:nvSpPr>
          <p:cNvPr id="22" name="标题 1">
            <a:extLst>
              <a:ext uri="{FF2B5EF4-FFF2-40B4-BE49-F238E27FC236}">
                <a16:creationId xmlns:a16="http://schemas.microsoft.com/office/drawing/2014/main" id="{5DDCA0F0-605F-CA36-E481-38A75045457F}"/>
              </a:ext>
            </a:extLst>
          </p:cNvPr>
          <p:cNvSpPr>
            <a:spLocks noGrp="1"/>
          </p:cNvSpPr>
          <p:nvPr>
            <p:ph type="title"/>
          </p:nvPr>
        </p:nvSpPr>
        <p:spPr>
          <a:xfrm>
            <a:off x="1729389" y="192037"/>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Tree>
    <p:extLst>
      <p:ext uri="{BB962C8B-B14F-4D97-AF65-F5344CB8AC3E}">
        <p14:creationId xmlns:p14="http://schemas.microsoft.com/office/powerpoint/2010/main" val="266859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circle(in)">
                                      <p:cBhvr>
                                        <p:cTn id="18"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1">
            <a:extLst>
              <a:ext uri="{FF2B5EF4-FFF2-40B4-BE49-F238E27FC236}">
                <a16:creationId xmlns:a16="http://schemas.microsoft.com/office/drawing/2014/main" id="{5DDCA0F0-605F-CA36-E481-38A75045457F}"/>
              </a:ext>
            </a:extLst>
          </p:cNvPr>
          <p:cNvSpPr>
            <a:spLocks noGrp="1"/>
          </p:cNvSpPr>
          <p:nvPr>
            <p:ph type="title"/>
          </p:nvPr>
        </p:nvSpPr>
        <p:spPr>
          <a:xfrm>
            <a:off x="1729389" y="192037"/>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a:t>
            </a:r>
            <a:endParaRPr lang="zh-CN" altLang="en-US" sz="3200" b="1" dirty="0">
              <a:latin typeface="+mn-ea"/>
              <a:ea typeface="+mn-ea"/>
            </a:endParaRPr>
          </a:p>
        </p:txBody>
      </p:sp>
      <p:sp>
        <p:nvSpPr>
          <p:cNvPr id="8" name="内容占位符 2">
            <a:extLst>
              <a:ext uri="{FF2B5EF4-FFF2-40B4-BE49-F238E27FC236}">
                <a16:creationId xmlns:a16="http://schemas.microsoft.com/office/drawing/2014/main" id="{3BB2EC95-2C55-A687-2819-73FC87435245}"/>
              </a:ext>
            </a:extLst>
          </p:cNvPr>
          <p:cNvSpPr>
            <a:spLocks noGrp="1"/>
          </p:cNvSpPr>
          <p:nvPr>
            <p:ph idx="1"/>
          </p:nvPr>
        </p:nvSpPr>
        <p:spPr>
          <a:xfrm>
            <a:off x="1912374" y="1431093"/>
            <a:ext cx="8229600" cy="3570034"/>
          </a:xfrm>
        </p:spPr>
        <p:txBody>
          <a:bodyPr>
            <a:noAutofit/>
          </a:bodyPr>
          <a:lstStyle/>
          <a:p>
            <a:pPr>
              <a:lnSpc>
                <a:spcPct val="114000"/>
              </a:lnSpc>
            </a:pPr>
            <a:r>
              <a:rPr lang="ja-JP" altLang="en-US" sz="2400" dirty="0">
                <a:ea typeface="DengXian" panose="02010600030101010101" pitchFamily="2" charset="-122"/>
              </a:rPr>
              <a:t>模型评估与选择</a:t>
            </a:r>
            <a:r>
              <a:rPr lang="en-US" altLang="ja-JP" sz="2400" dirty="0">
                <a:ea typeface="DengXian" panose="02010600030101010101" pitchFamily="2" charset="-122"/>
              </a:rPr>
              <a:t> (P23-24)</a:t>
            </a:r>
          </a:p>
          <a:p>
            <a:pPr>
              <a:lnSpc>
                <a:spcPct val="114000"/>
              </a:lnSpc>
            </a:pPr>
            <a:r>
              <a:rPr lang="ja-JP" altLang="en-US" sz="2400" dirty="0">
                <a:ea typeface="DengXian" panose="02010600030101010101" pitchFamily="2" charset="-122"/>
              </a:rPr>
              <a:t>过拟合现象</a:t>
            </a:r>
            <a:endParaRPr lang="en-US" altLang="ja-JP" sz="2400" dirty="0">
              <a:ea typeface="DengXian" panose="02010600030101010101" pitchFamily="2" charset="-122"/>
            </a:endParaRPr>
          </a:p>
          <a:p>
            <a:pPr>
              <a:lnSpc>
                <a:spcPct val="114000"/>
              </a:lnSpc>
            </a:pPr>
            <a:endParaRPr lang="en-US" altLang="ja-JP" sz="2400" dirty="0">
              <a:ea typeface="DengXian" panose="02010600030101010101" pitchFamily="2" charset="-122"/>
            </a:endParaRPr>
          </a:p>
          <a:p>
            <a:pPr>
              <a:lnSpc>
                <a:spcPct val="114000"/>
              </a:lnSpc>
            </a:pPr>
            <a:endParaRPr lang="en-US" altLang="ja-JP" sz="2400" dirty="0">
              <a:ea typeface="DengXian" panose="02010600030101010101" pitchFamily="2" charset="-122"/>
            </a:endParaRPr>
          </a:p>
          <a:p>
            <a:pPr>
              <a:lnSpc>
                <a:spcPct val="114000"/>
              </a:lnSpc>
            </a:pPr>
            <a:endParaRPr lang="en-US" altLang="ja-JP" sz="2400" dirty="0">
              <a:ea typeface="DengXian" panose="02010600030101010101" pitchFamily="2" charset="-122"/>
            </a:endParaRPr>
          </a:p>
          <a:p>
            <a:pPr>
              <a:lnSpc>
                <a:spcPct val="114000"/>
              </a:lnSpc>
            </a:pPr>
            <a:endParaRPr lang="en-US" altLang="ja-JP" sz="2400" dirty="0">
              <a:ea typeface="DengXian" panose="02010600030101010101" pitchFamily="2" charset="-122"/>
            </a:endParaRPr>
          </a:p>
          <a:p>
            <a:pPr>
              <a:lnSpc>
                <a:spcPct val="114000"/>
              </a:lnSpc>
            </a:pPr>
            <a:r>
              <a:rPr lang="ja-JP" altLang="en-US" sz="2400" dirty="0">
                <a:ea typeface="DengXian" panose="02010600030101010101" pitchFamily="2" charset="-122"/>
              </a:rPr>
              <a:t>泛化能力</a:t>
            </a:r>
            <a:r>
              <a:rPr lang="en-US" altLang="ja-JP" sz="2400" dirty="0">
                <a:ea typeface="DengXian" panose="02010600030101010101" pitchFamily="2" charset="-122"/>
              </a:rPr>
              <a:t> (P25)</a:t>
            </a:r>
          </a:p>
          <a:p>
            <a:pPr>
              <a:lnSpc>
                <a:spcPct val="114000"/>
              </a:lnSpc>
            </a:pPr>
            <a:endParaRPr lang="en-US" altLang="ja-JP" sz="2400" dirty="0">
              <a:ea typeface="DengXian" panose="02010600030101010101" pitchFamily="2" charset="-122"/>
            </a:endParaRPr>
          </a:p>
          <a:p>
            <a:pPr>
              <a:lnSpc>
                <a:spcPct val="114000"/>
              </a:lnSpc>
            </a:pPr>
            <a:endParaRPr lang="en-US" altLang="zh-CN" sz="2400" dirty="0">
              <a:ea typeface="DengXian" panose="02010600030101010101" pitchFamily="2"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B57452C-27E0-958C-B2FB-21E0C7E0D369}"/>
                  </a:ext>
                </a:extLst>
              </p:cNvPr>
              <p:cNvSpPr txBox="1"/>
              <p:nvPr/>
            </p:nvSpPr>
            <p:spPr>
              <a:xfrm>
                <a:off x="6526935" y="2846575"/>
                <a:ext cx="3510213" cy="9578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a:latin typeface="Cambria Math" panose="02040503050406030204" pitchFamily="18" charset="0"/>
                        </a:rPr>
                        <m:t>m</m:t>
                      </m:r>
                      <m:r>
                        <m:rPr>
                          <m:sty m:val="p"/>
                        </m:rPr>
                        <a:rPr lang="en-US" altLang="zh-CN" sz="2000">
                          <a:latin typeface="Cambria Math" panose="02040503050406030204" pitchFamily="18" charset="0"/>
                        </a:rPr>
                        <m:t>in</m:t>
                      </m:r>
                      <m:r>
                        <a:rPr lang="en-US" altLang="zh-CN" sz="2000">
                          <a:latin typeface="Cambria Math" panose="02040503050406030204" pitchFamily="18" charset="0"/>
                        </a:rPr>
                        <m:t> </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𝑁</m:t>
                          </m:r>
                        </m:den>
                      </m:f>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𝑁</m:t>
                          </m:r>
                        </m:sup>
                        <m:e>
                          <m:r>
                            <a:rPr lang="en-US" altLang="zh-CN" sz="2000" i="1">
                              <a:latin typeface="Cambria Math" panose="02040503050406030204" pitchFamily="18" charset="0"/>
                            </a:rPr>
                            <m:t>𝐿</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d>
                          <m:r>
                            <a:rPr lang="en-US" altLang="zh-CN" sz="2000" i="1">
                              <a:latin typeface="Cambria Math" panose="02040503050406030204" pitchFamily="18" charset="0"/>
                            </a:rPr>
                            <m:t>)</m:t>
                          </m:r>
                        </m:e>
                      </m:nary>
                      <m:r>
                        <a:rPr lang="en-US" altLang="zh-CN" sz="2000" i="1">
                          <a:latin typeface="Cambria Math" panose="02040503050406030204" pitchFamily="18" charset="0"/>
                        </a:rPr>
                        <m:t>+</m:t>
                      </m:r>
                      <m:r>
                        <a:rPr lang="zh-CN" altLang="en-US" sz="2000" i="1" dirty="0">
                          <a:latin typeface="Cambria Math" panose="02040503050406030204" pitchFamily="18" charset="0"/>
                        </a:rPr>
                        <m:t>𝜆</m:t>
                      </m:r>
                      <m:r>
                        <a:rPr lang="en-US" altLang="zh-CN" sz="2000" i="1" dirty="0">
                          <a:latin typeface="Cambria Math" panose="02040503050406030204" pitchFamily="18" charset="0"/>
                        </a:rPr>
                        <m:t>𝐽</m:t>
                      </m:r>
                      <m:r>
                        <a:rPr lang="en-US" altLang="zh-CN" sz="2000" i="1" dirty="0">
                          <a:latin typeface="Cambria Math" panose="02040503050406030204" pitchFamily="18" charset="0"/>
                        </a:rPr>
                        <m:t>(</m:t>
                      </m:r>
                      <m:r>
                        <a:rPr lang="en-US" altLang="zh-CN" sz="2000" i="1" dirty="0">
                          <a:latin typeface="Cambria Math" panose="02040503050406030204" pitchFamily="18" charset="0"/>
                        </a:rPr>
                        <m:t>𝑓</m:t>
                      </m:r>
                      <m:r>
                        <a:rPr lang="en-US" altLang="zh-CN" sz="2000" i="1" dirty="0">
                          <a:latin typeface="Cambria Math" panose="02040503050406030204" pitchFamily="18" charset="0"/>
                        </a:rPr>
                        <m:t>)</m:t>
                      </m:r>
                    </m:oMath>
                  </m:oMathPara>
                </a14:m>
                <a:endParaRPr lang="zh-CN" altLang="en-US" sz="2000" dirty="0"/>
              </a:p>
            </p:txBody>
          </p:sp>
        </mc:Choice>
        <mc:Fallback xmlns="">
          <p:sp>
            <p:nvSpPr>
              <p:cNvPr id="9" name="文本框 8">
                <a:extLst>
                  <a:ext uri="{FF2B5EF4-FFF2-40B4-BE49-F238E27FC236}">
                    <a16:creationId xmlns:a16="http://schemas.microsoft.com/office/drawing/2014/main" id="{8B57452C-27E0-958C-B2FB-21E0C7E0D369}"/>
                  </a:ext>
                </a:extLst>
              </p:cNvPr>
              <p:cNvSpPr txBox="1">
                <a:spLocks noRot="1" noChangeAspect="1" noMove="1" noResize="1" noEditPoints="1" noAdjustHandles="1" noChangeArrowheads="1" noChangeShapeType="1" noTextEdit="1"/>
              </p:cNvSpPr>
              <p:nvPr/>
            </p:nvSpPr>
            <p:spPr>
              <a:xfrm>
                <a:off x="6526935" y="2846575"/>
                <a:ext cx="3510213" cy="957826"/>
              </a:xfrm>
              <a:prstGeom prst="rect">
                <a:avLst/>
              </a:prstGeom>
              <a:blipFill>
                <a:blip r:embed="rId2"/>
                <a:stretch>
                  <a:fillRect/>
                </a:stretch>
              </a:blipFill>
            </p:spPr>
            <p:txBody>
              <a:bodyPr/>
              <a:lstStyle/>
              <a:p>
                <a:r>
                  <a:rPr lang="zh-CN" altLang="en-US">
                    <a:noFill/>
                  </a:rPr>
                  <a:t> </a:t>
                </a:r>
              </a:p>
            </p:txBody>
          </p:sp>
        </mc:Fallback>
      </mc:AlternateContent>
      <p:pic>
        <p:nvPicPr>
          <p:cNvPr id="10" name="图形 9">
            <a:extLst>
              <a:ext uri="{FF2B5EF4-FFF2-40B4-BE49-F238E27FC236}">
                <a16:creationId xmlns:a16="http://schemas.microsoft.com/office/drawing/2014/main" id="{FE6489B5-FA3B-323B-C1B9-73E57AE608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53154" y="2526149"/>
            <a:ext cx="3206609" cy="1930192"/>
          </a:xfrm>
          <a:prstGeom prst="rect">
            <a:avLst/>
          </a:prstGeom>
        </p:spPr>
      </p:pic>
      <p:grpSp>
        <p:nvGrpSpPr>
          <p:cNvPr id="11" name="组合 10">
            <a:extLst>
              <a:ext uri="{FF2B5EF4-FFF2-40B4-BE49-F238E27FC236}">
                <a16:creationId xmlns:a16="http://schemas.microsoft.com/office/drawing/2014/main" id="{E71DA02A-ED56-7C6D-3641-378F38F5D6AE}"/>
              </a:ext>
            </a:extLst>
          </p:cNvPr>
          <p:cNvGrpSpPr/>
          <p:nvPr/>
        </p:nvGrpSpPr>
        <p:grpSpPr>
          <a:xfrm>
            <a:off x="4141226" y="4551801"/>
            <a:ext cx="6535675" cy="899605"/>
            <a:chOff x="1961627" y="2894790"/>
            <a:chExt cx="5751563" cy="899605"/>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4EED8AA-8031-0845-9105-55B216B8638D}"/>
                    </a:ext>
                  </a:extLst>
                </p:cNvPr>
                <p:cNvSpPr txBox="1"/>
                <p:nvPr/>
              </p:nvSpPr>
              <p:spPr>
                <a:xfrm>
                  <a:off x="1961627" y="2894790"/>
                  <a:ext cx="5751563" cy="899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𝑅</m:t>
                            </m:r>
                          </m:e>
                          <m:sub>
                            <m:r>
                              <m:rPr>
                                <m:sty m:val="p"/>
                              </m:rPr>
                              <a:rPr lang="en-US" altLang="zh-CN" sz="2000">
                                <a:latin typeface="Cambria Math" panose="02040503050406030204" pitchFamily="18" charset="0"/>
                              </a:rPr>
                              <m:t>exp</m:t>
                            </m:r>
                          </m:sub>
                        </m:sSub>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𝑓</m:t>
                                </m:r>
                              </m:e>
                            </m:acc>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e>
                          <m:sub>
                            <m:r>
                              <a:rPr lang="en-US" altLang="zh-CN" sz="2000" i="1">
                                <a:latin typeface="Cambria Math" panose="02040503050406030204" pitchFamily="18" charset="0"/>
                              </a:rPr>
                              <m:t>𝑃</m:t>
                            </m:r>
                          </m:sub>
                        </m:sSub>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𝑌</m:t>
                                </m:r>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𝑓</m:t>
                                    </m:r>
                                  </m:e>
                                </m:acc>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e>
                                </m:d>
                              </m:e>
                            </m:d>
                          </m:e>
                        </m:d>
                        <m:r>
                          <a:rPr lang="en-US" altLang="zh-CN" sz="2000" i="1">
                            <a:latin typeface="Cambria Math" panose="02040503050406030204" pitchFamily="18" charset="0"/>
                          </a:rPr>
                          <m:t>=</m:t>
                        </m:r>
                        <m:nary>
                          <m:naryPr>
                            <m:limLoc m:val="undOvr"/>
                            <m:subHide m:val="on"/>
                            <m:supHide m:val="on"/>
                            <m:ctrlPr>
                              <a:rPr lang="en-US" altLang="zh-CN" sz="2000" i="1">
                                <a:latin typeface="Cambria Math" panose="02040503050406030204" pitchFamily="18" charset="0"/>
                              </a:rPr>
                            </m:ctrlPr>
                          </m:naryPr>
                          <m:sub/>
                          <m:sup/>
                          <m:e>
                            <m:r>
                              <a:rPr lang="en-US" altLang="zh-CN" sz="2000" i="1">
                                <a:latin typeface="Cambria Math" panose="02040503050406030204" pitchFamily="18" charset="0"/>
                              </a:rPr>
                              <m:t>  </m:t>
                            </m:r>
                            <m:r>
                              <a:rPr lang="en-US" altLang="zh-CN" sz="2000" i="1">
                                <a:latin typeface="Cambria Math" panose="02040503050406030204" pitchFamily="18" charset="0"/>
                              </a:rPr>
                              <m:t>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𝑦</m:t>
                                </m:r>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𝑓</m:t>
                                    </m:r>
                                  </m:e>
                                </m:acc>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e>
                            </m:d>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r>
                                  <a:rPr lang="en-US" altLang="zh-CN" sz="2000" i="1">
                                    <a:latin typeface="Cambria Math" panose="02040503050406030204" pitchFamily="18" charset="0"/>
                                  </a:rPr>
                                  <m:t>,</m:t>
                                </m:r>
                                <m:r>
                                  <a:rPr lang="en-US" altLang="zh-CN" sz="2000" i="1">
                                    <a:latin typeface="Cambria Math" panose="02040503050406030204" pitchFamily="18" charset="0"/>
                                  </a:rPr>
                                  <m:t>𝑦</m:t>
                                </m:r>
                              </m:e>
                            </m:d>
                            <m:r>
                              <a:rPr lang="en-US" altLang="zh-CN" sz="2000" i="1">
                                <a:latin typeface="Cambria Math" panose="02040503050406030204" pitchFamily="18" charset="0"/>
                              </a:rPr>
                              <m:t>𝑑𝑥𝑑𝑦</m:t>
                            </m:r>
                          </m:e>
                        </m:nary>
                      </m:oMath>
                    </m:oMathPara>
                  </a14:m>
                  <a:endParaRPr lang="zh-CN" altLang="en-US" sz="2000" dirty="0"/>
                </a:p>
              </p:txBody>
            </p:sp>
          </mc:Choice>
          <mc:Fallback xmlns="">
            <p:sp>
              <p:nvSpPr>
                <p:cNvPr id="15" name="文本框 14">
                  <a:extLst>
                    <a:ext uri="{FF2B5EF4-FFF2-40B4-BE49-F238E27FC236}">
                      <a16:creationId xmlns:a16="http://schemas.microsoft.com/office/drawing/2014/main" id="{C166C256-5DC5-7212-BC5E-50312CF1A475}"/>
                    </a:ext>
                  </a:extLst>
                </p:cNvPr>
                <p:cNvSpPr txBox="1">
                  <a:spLocks noRot="1" noChangeAspect="1" noMove="1" noResize="1" noEditPoints="1" noAdjustHandles="1" noChangeArrowheads="1" noChangeShapeType="1" noTextEdit="1"/>
                </p:cNvSpPr>
                <p:nvPr/>
              </p:nvSpPr>
              <p:spPr>
                <a:xfrm>
                  <a:off x="1961627" y="2894790"/>
                  <a:ext cx="5751563" cy="899605"/>
                </a:xfrm>
                <a:prstGeom prst="rect">
                  <a:avLst/>
                </a:prstGeom>
                <a:blipFill>
                  <a:blip r:embed="rId5"/>
                  <a:stretch>
                    <a:fillRect t="-133333" b="-186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D3ED844-17C7-77E3-AF6E-7239E043B1DE}"/>
                    </a:ext>
                  </a:extLst>
                </p:cNvPr>
                <p:cNvSpPr txBox="1"/>
                <p:nvPr/>
              </p:nvSpPr>
              <p:spPr>
                <a:xfrm>
                  <a:off x="4912636" y="3439576"/>
                  <a:ext cx="72997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𝑋</m:t>
                        </m:r>
                        <m:r>
                          <a:rPr lang="en-US" altLang="zh-CN" sz="1400" i="1">
                            <a:latin typeface="Cambria Math" panose="02040503050406030204" pitchFamily="18" charset="0"/>
                          </a:rPr>
                          <m:t> × </m:t>
                        </m:r>
                        <m:r>
                          <a:rPr lang="en-US" altLang="zh-CN" sz="1400" i="1">
                            <a:latin typeface="Cambria Math" panose="02040503050406030204" pitchFamily="18" charset="0"/>
                            <a:ea typeface="Cambria Math" panose="02040503050406030204" pitchFamily="18" charset="0"/>
                          </a:rPr>
                          <m:t>𝑌</m:t>
                        </m:r>
                      </m:oMath>
                    </m:oMathPara>
                  </a14:m>
                  <a:endParaRPr lang="zh-CN" altLang="en-US" sz="1400" dirty="0"/>
                </a:p>
              </p:txBody>
            </p:sp>
          </mc:Choice>
          <mc:Fallback xmlns="">
            <p:sp>
              <p:nvSpPr>
                <p:cNvPr id="16" name="文本框 15">
                  <a:extLst>
                    <a:ext uri="{FF2B5EF4-FFF2-40B4-BE49-F238E27FC236}">
                      <a16:creationId xmlns:a16="http://schemas.microsoft.com/office/drawing/2014/main" id="{35877D0E-7D05-45CA-D6E3-3745C92D6F61}"/>
                    </a:ext>
                  </a:extLst>
                </p:cNvPr>
                <p:cNvSpPr txBox="1">
                  <a:spLocks noRot="1" noChangeAspect="1" noMove="1" noResize="1" noEditPoints="1" noAdjustHandles="1" noChangeArrowheads="1" noChangeShapeType="1" noTextEdit="1"/>
                </p:cNvSpPr>
                <p:nvPr/>
              </p:nvSpPr>
              <p:spPr>
                <a:xfrm>
                  <a:off x="4912636" y="3439576"/>
                  <a:ext cx="729974" cy="307777"/>
                </a:xfrm>
                <a:prstGeom prst="rect">
                  <a:avLst/>
                </a:prstGeom>
                <a:blipFill>
                  <a:blip r:embed="rId6"/>
                  <a:stretch>
                    <a:fillRect b="-12000"/>
                  </a:stretch>
                </a:blipFill>
              </p:spPr>
              <p:txBody>
                <a:bodyPr/>
                <a:lstStyle/>
                <a:p>
                  <a:r>
                    <a:rPr lang="zh-CN" altLang="en-US">
                      <a:noFill/>
                    </a:rPr>
                    <a:t> </a:t>
                  </a:r>
                </a:p>
              </p:txBody>
            </p:sp>
          </mc:Fallback>
        </mc:AlternateContent>
      </p:grpSp>
      <p:sp>
        <p:nvSpPr>
          <p:cNvPr id="21" name="文本框 20">
            <a:extLst>
              <a:ext uri="{FF2B5EF4-FFF2-40B4-BE49-F238E27FC236}">
                <a16:creationId xmlns:a16="http://schemas.microsoft.com/office/drawing/2014/main" id="{5395754C-477C-9937-5772-38DD427FED68}"/>
              </a:ext>
            </a:extLst>
          </p:cNvPr>
          <p:cNvSpPr txBox="1"/>
          <p:nvPr/>
        </p:nvSpPr>
        <p:spPr>
          <a:xfrm>
            <a:off x="6460311" y="2036015"/>
            <a:ext cx="4578016" cy="490134"/>
          </a:xfrm>
          <a:prstGeom prst="rect">
            <a:avLst/>
          </a:prstGeom>
          <a:noFill/>
        </p:spPr>
        <p:txBody>
          <a:bodyPr wrap="square">
            <a:spAutoFit/>
          </a:bodyPr>
          <a:lstStyle/>
          <a:p>
            <a:pPr marL="342900" indent="-342900">
              <a:lnSpc>
                <a:spcPct val="114000"/>
              </a:lnSpc>
              <a:buFont typeface="Arial" panose="020B0604020202020204" pitchFamily="34" charset="0"/>
              <a:buChar char="•"/>
            </a:pPr>
            <a:r>
              <a:rPr lang="ja-JP" altLang="en-US" sz="2400">
                <a:ea typeface="DengXian" panose="02010600030101010101" pitchFamily="2" charset="-122"/>
              </a:rPr>
              <a:t>正则化与交叉验证</a:t>
            </a:r>
            <a:endParaRPr lang="en-US" altLang="ja-JP" sz="2400" dirty="0">
              <a:ea typeface="DengXian" panose="02010600030101010101" pitchFamily="2" charset="-122"/>
            </a:endParaRPr>
          </a:p>
        </p:txBody>
      </p:sp>
      <p:sp>
        <p:nvSpPr>
          <p:cNvPr id="23" name="灯片编号占位符 22">
            <a:extLst>
              <a:ext uri="{FF2B5EF4-FFF2-40B4-BE49-F238E27FC236}">
                <a16:creationId xmlns:a16="http://schemas.microsoft.com/office/drawing/2014/main" id="{FB9F57F8-CDDF-F73B-CA99-D7435384463F}"/>
              </a:ext>
            </a:extLst>
          </p:cNvPr>
          <p:cNvSpPr>
            <a:spLocks noGrp="1"/>
          </p:cNvSpPr>
          <p:nvPr>
            <p:ph type="sldNum" sz="quarter" idx="12"/>
          </p:nvPr>
        </p:nvSpPr>
        <p:spPr/>
        <p:txBody>
          <a:bodyPr/>
          <a:lstStyle/>
          <a:p>
            <a:fld id="{DA04A3ED-EE7A-4E19-90BC-E8E086817459}" type="slidenum">
              <a:rPr lang="zh-CN" altLang="en-US" smtClean="0"/>
              <a:t>11</a:t>
            </a:fld>
            <a:endParaRPr lang="zh-CN" altLang="en-US"/>
          </a:p>
        </p:txBody>
      </p:sp>
    </p:spTree>
    <p:extLst>
      <p:ext uri="{BB962C8B-B14F-4D97-AF65-F5344CB8AC3E}">
        <p14:creationId xmlns:p14="http://schemas.microsoft.com/office/powerpoint/2010/main" val="543255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807779" y="0"/>
            <a:ext cx="6172200" cy="85725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solidFill>
                  <a:srgbClr val="002060"/>
                </a:solidFill>
                <a:latin typeface="等线" panose="02010600030101010101" pitchFamily="2" charset="-122"/>
                <a:ea typeface="等线" panose="02010600030101010101" pitchFamily="2" charset="-122"/>
              </a:rPr>
              <a:t>如何发现</a:t>
            </a:r>
            <a:r>
              <a:rPr lang="en-US" altLang="zh-CN" sz="2400" b="1" dirty="0">
                <a:solidFill>
                  <a:srgbClr val="002060"/>
                </a:solidFill>
                <a:latin typeface="等线" panose="02010600030101010101" pitchFamily="2" charset="-122"/>
                <a:ea typeface="等线" panose="02010600030101010101" pitchFamily="2" charset="-122"/>
              </a:rPr>
              <a:t>Overfitting  </a:t>
            </a:r>
          </a:p>
        </p:txBody>
      </p:sp>
      <p:sp>
        <p:nvSpPr>
          <p:cNvPr id="4" name="矩形 3"/>
          <p:cNvSpPr/>
          <p:nvPr/>
        </p:nvSpPr>
        <p:spPr>
          <a:xfrm>
            <a:off x="2195986" y="992469"/>
            <a:ext cx="7662041" cy="3519553"/>
          </a:xfrm>
          <a:prstGeom prst="rect">
            <a:avLst/>
          </a:prstGeom>
        </p:spPr>
        <p:txBody>
          <a:bodyPr wrap="square">
            <a:spAutoFit/>
          </a:bodyPr>
          <a:lstStyle/>
          <a:p>
            <a:pPr marL="214313" indent="-214313">
              <a:lnSpc>
                <a:spcPct val="150000"/>
              </a:lnSpc>
              <a:buFont typeface="Arial" panose="020B0604020202020204" pitchFamily="34" charset="0"/>
              <a:buChar char="•"/>
            </a:pPr>
            <a:r>
              <a:rPr lang="zh-CN" altLang="en-US" sz="1500" b="1" dirty="0">
                <a:solidFill>
                  <a:srgbClr val="202122"/>
                </a:solidFill>
                <a:latin typeface="Arial" panose="020B0604020202020204" pitchFamily="34" charset="0"/>
              </a:rPr>
              <a:t>交叉验证</a:t>
            </a:r>
            <a:r>
              <a:rPr lang="zh-CN" altLang="en-US" sz="1500" dirty="0">
                <a:solidFill>
                  <a:srgbClr val="202122"/>
                </a:solidFill>
                <a:latin typeface="Arial" panose="020B0604020202020204" pitchFamily="34" charset="0"/>
              </a:rPr>
              <a:t>，有时亦称</a:t>
            </a:r>
            <a:r>
              <a:rPr lang="zh-CN" altLang="en-US" sz="1500" b="1" dirty="0">
                <a:solidFill>
                  <a:srgbClr val="202122"/>
                </a:solidFill>
                <a:latin typeface="Arial" panose="020B0604020202020204" pitchFamily="34" charset="0"/>
              </a:rPr>
              <a:t>循环估计</a:t>
            </a:r>
            <a:r>
              <a:rPr lang="zh-CN" altLang="en-US" sz="1500" dirty="0">
                <a:solidFill>
                  <a:srgbClr val="202122"/>
                </a:solidFill>
                <a:latin typeface="Arial" panose="020B0604020202020204" pitchFamily="34" charset="0"/>
              </a:rPr>
              <a:t>， 是一种统计学上将数据样本切割成较小子集的实用方法。于是可以先在一个子集上做分析，而其它子集则用来做后续对此分析的确认及验证。一开始的子集被称为</a:t>
            </a:r>
            <a:r>
              <a:rPr lang="zh-CN" altLang="en-US" sz="1500" b="1" dirty="0">
                <a:solidFill>
                  <a:srgbClr val="202122"/>
                </a:solidFill>
                <a:latin typeface="Arial" panose="020B0604020202020204" pitchFamily="34" charset="0"/>
              </a:rPr>
              <a:t>训练集</a:t>
            </a:r>
            <a:r>
              <a:rPr lang="zh-CN" altLang="en-US" sz="1500" dirty="0">
                <a:solidFill>
                  <a:srgbClr val="202122"/>
                </a:solidFill>
                <a:latin typeface="Arial" panose="020B0604020202020204" pitchFamily="34" charset="0"/>
              </a:rPr>
              <a:t>。而其它的子集则被称为</a:t>
            </a:r>
            <a:r>
              <a:rPr lang="zh-CN" altLang="en-US" sz="1500" b="1" dirty="0">
                <a:solidFill>
                  <a:srgbClr val="202122"/>
                </a:solidFill>
                <a:latin typeface="Arial" panose="020B0604020202020204" pitchFamily="34" charset="0"/>
              </a:rPr>
              <a:t>验证集</a:t>
            </a:r>
            <a:r>
              <a:rPr lang="zh-CN" altLang="en-US" sz="1500" dirty="0">
                <a:solidFill>
                  <a:srgbClr val="202122"/>
                </a:solidFill>
                <a:latin typeface="Arial" panose="020B0604020202020204" pitchFamily="34" charset="0"/>
              </a:rPr>
              <a:t>或</a:t>
            </a:r>
            <a:r>
              <a:rPr lang="zh-CN" altLang="en-US" sz="1500" b="1" dirty="0">
                <a:solidFill>
                  <a:srgbClr val="202122"/>
                </a:solidFill>
                <a:latin typeface="Arial" panose="020B0604020202020204" pitchFamily="34" charset="0"/>
              </a:rPr>
              <a:t>测试集</a:t>
            </a:r>
            <a:r>
              <a:rPr lang="zh-CN" altLang="en-US" sz="1500" dirty="0">
                <a:solidFill>
                  <a:srgbClr val="202122"/>
                </a:solidFill>
                <a:latin typeface="Arial" panose="020B0604020202020204" pitchFamily="34" charset="0"/>
              </a:rPr>
              <a:t>。交叉验证的目的，是用未用来给模型作训练的新数据，测试模型的性能，以便减少诸如过拟合和选择偏差等问题，并给出模型如何在一个独立的数据集上通用化（即，一个未知的数据集，如实际问题中的数据）</a:t>
            </a:r>
            <a:endParaRPr lang="en-US" altLang="zh-CN" sz="1500" dirty="0">
              <a:solidFill>
                <a:srgbClr val="202122"/>
              </a:solidFill>
              <a:latin typeface="Arial" panose="020B0604020202020204" pitchFamily="34" charset="0"/>
            </a:endParaRPr>
          </a:p>
          <a:p>
            <a:pPr marL="214313" indent="-214313">
              <a:lnSpc>
                <a:spcPct val="150000"/>
              </a:lnSpc>
              <a:buFont typeface="Arial" panose="020B0604020202020204" pitchFamily="34" charset="0"/>
              <a:buChar char="•"/>
            </a:pPr>
            <a:endParaRPr lang="en-US" altLang="zh-CN" sz="1500" dirty="0">
              <a:solidFill>
                <a:srgbClr val="202122"/>
              </a:solidFill>
              <a:latin typeface="Arial" panose="020B0604020202020204" pitchFamily="34" charset="0"/>
            </a:endParaRPr>
          </a:p>
          <a:p>
            <a:pPr marL="557213" lvl="1" indent="-214313">
              <a:lnSpc>
                <a:spcPct val="150000"/>
              </a:lnSpc>
              <a:buFont typeface="Arial" panose="020B0604020202020204" pitchFamily="34" charset="0"/>
              <a:buChar char="•"/>
            </a:pPr>
            <a:r>
              <a:rPr lang="en-US" altLang="zh-CN" sz="1500" b="1" dirty="0">
                <a:solidFill>
                  <a:srgbClr val="FF0000"/>
                </a:solidFill>
              </a:rPr>
              <a:t>Holdout </a:t>
            </a:r>
            <a:r>
              <a:rPr lang="zh-CN" altLang="en-US" sz="1500" b="1" dirty="0"/>
              <a:t>验证</a:t>
            </a:r>
          </a:p>
          <a:p>
            <a:pPr marL="557213" lvl="1" indent="-214313">
              <a:lnSpc>
                <a:spcPct val="150000"/>
              </a:lnSpc>
              <a:buFont typeface="Arial" panose="020B0604020202020204" pitchFamily="34" charset="0"/>
              <a:buChar char="•"/>
            </a:pPr>
            <a:r>
              <a:rPr lang="en-US" altLang="zh-CN" sz="1500" b="1" i="1" dirty="0"/>
              <a:t>k</a:t>
            </a:r>
            <a:r>
              <a:rPr lang="zh-CN" altLang="en-US" sz="1500" b="1" dirty="0"/>
              <a:t>折交叉验证</a:t>
            </a:r>
          </a:p>
          <a:p>
            <a:pPr marL="557213" lvl="1" indent="-214313">
              <a:lnSpc>
                <a:spcPct val="150000"/>
              </a:lnSpc>
              <a:buFont typeface="Arial" panose="020B0604020202020204" pitchFamily="34" charset="0"/>
              <a:buChar char="•"/>
            </a:pPr>
            <a:r>
              <a:rPr lang="zh-CN" altLang="en-US" sz="1500" b="1" dirty="0"/>
              <a:t>留一法交叉验证</a:t>
            </a:r>
          </a:p>
        </p:txBody>
      </p:sp>
    </p:spTree>
    <p:extLst>
      <p:ext uri="{BB962C8B-B14F-4D97-AF65-F5344CB8AC3E}">
        <p14:creationId xmlns:p14="http://schemas.microsoft.com/office/powerpoint/2010/main" val="1832855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679960" y="0"/>
            <a:ext cx="6172200" cy="85725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solidFill>
                  <a:srgbClr val="002060"/>
                </a:solidFill>
                <a:latin typeface="等线" panose="02010600030101010101" pitchFamily="2" charset="-122"/>
                <a:ea typeface="等线" panose="02010600030101010101" pitchFamily="2" charset="-122"/>
              </a:rPr>
              <a:t>5</a:t>
            </a:r>
            <a:r>
              <a:rPr lang="zh-CN" altLang="en-US" sz="2400" b="1" dirty="0">
                <a:solidFill>
                  <a:srgbClr val="002060"/>
                </a:solidFill>
                <a:latin typeface="等线" panose="02010600030101010101" pitchFamily="2" charset="-122"/>
                <a:ea typeface="等线" panose="02010600030101010101" pitchFamily="2" charset="-122"/>
              </a:rPr>
              <a:t>折交叉验证</a:t>
            </a:r>
            <a:r>
              <a:rPr lang="en-US" altLang="zh-CN" sz="2400" b="1" dirty="0">
                <a:solidFill>
                  <a:srgbClr val="002060"/>
                </a:solidFill>
                <a:latin typeface="等线" panose="02010600030101010101" pitchFamily="2" charset="-122"/>
                <a:ea typeface="等线" panose="02010600030101010101" pitchFamily="2" charset="-122"/>
              </a:rPr>
              <a:t>  </a:t>
            </a:r>
          </a:p>
        </p:txBody>
      </p:sp>
      <p:sp>
        <p:nvSpPr>
          <p:cNvPr id="3" name="矩形 2"/>
          <p:cNvSpPr/>
          <p:nvPr/>
        </p:nvSpPr>
        <p:spPr>
          <a:xfrm>
            <a:off x="5032251" y="561504"/>
            <a:ext cx="4572000" cy="784830"/>
          </a:xfrm>
          <a:prstGeom prst="rect">
            <a:avLst/>
          </a:prstGeom>
        </p:spPr>
        <p:txBody>
          <a:bodyPr>
            <a:spAutoFit/>
          </a:bodyPr>
          <a:lstStyle/>
          <a:p>
            <a:pPr lvl="1"/>
            <a:r>
              <a:rPr lang="zh-CN" altLang="en-US" sz="1500" b="1" dirty="0">
                <a:solidFill>
                  <a:srgbClr val="00B050"/>
                </a:solidFill>
              </a:rPr>
              <a:t>训练集 </a:t>
            </a:r>
            <a:r>
              <a:rPr lang="en-US" altLang="zh-CN" sz="1500" b="1" dirty="0">
                <a:solidFill>
                  <a:srgbClr val="00B050"/>
                </a:solidFill>
              </a:rPr>
              <a:t>training set</a:t>
            </a:r>
            <a:r>
              <a:rPr lang="zh-CN" altLang="en-US" sz="1500" b="1" dirty="0">
                <a:solidFill>
                  <a:srgbClr val="00B050"/>
                </a:solidFill>
              </a:rPr>
              <a:t>： </a:t>
            </a:r>
            <a:r>
              <a:rPr lang="en-GB" altLang="zh-CN" sz="1500" b="1" dirty="0">
                <a:solidFill>
                  <a:srgbClr val="00B050"/>
                </a:solidFill>
              </a:rPr>
              <a:t>	</a:t>
            </a:r>
            <a:r>
              <a:rPr lang="zh-CN" altLang="en-US" sz="1500" b="1" dirty="0">
                <a:solidFill>
                  <a:srgbClr val="00B050"/>
                </a:solidFill>
              </a:rPr>
              <a:t>用于训练模型</a:t>
            </a:r>
            <a:r>
              <a:rPr lang="en-US" altLang="zh-CN" sz="1500" b="1" dirty="0"/>
              <a:t>	</a:t>
            </a:r>
          </a:p>
          <a:p>
            <a:pPr lvl="1"/>
            <a:r>
              <a:rPr lang="zh-CN" altLang="en-US" sz="1500" b="1" dirty="0">
                <a:solidFill>
                  <a:srgbClr val="0070C0"/>
                </a:solidFill>
              </a:rPr>
              <a:t>验证集 </a:t>
            </a:r>
            <a:r>
              <a:rPr lang="en-US" altLang="zh-CN" sz="1500" b="1" dirty="0">
                <a:solidFill>
                  <a:srgbClr val="0070C0"/>
                </a:solidFill>
              </a:rPr>
              <a:t>validation set</a:t>
            </a:r>
            <a:r>
              <a:rPr lang="zh-CN" altLang="en-US" sz="1500" b="1" dirty="0">
                <a:solidFill>
                  <a:srgbClr val="0070C0"/>
                </a:solidFill>
              </a:rPr>
              <a:t>：</a:t>
            </a:r>
            <a:r>
              <a:rPr lang="en-US" altLang="zh-CN" sz="1500" b="1" dirty="0">
                <a:solidFill>
                  <a:srgbClr val="0070C0"/>
                </a:solidFill>
              </a:rPr>
              <a:t>	</a:t>
            </a:r>
            <a:r>
              <a:rPr lang="zh-CN" altLang="en-US" sz="1500" b="1" dirty="0">
                <a:solidFill>
                  <a:srgbClr val="0070C0"/>
                </a:solidFill>
              </a:rPr>
              <a:t>用于模型评估</a:t>
            </a:r>
            <a:endParaRPr lang="en-US" altLang="zh-CN" sz="1500" b="1" dirty="0">
              <a:solidFill>
                <a:srgbClr val="0070C0"/>
              </a:solidFill>
            </a:endParaRPr>
          </a:p>
        </p:txBody>
      </p:sp>
      <p:pic>
        <p:nvPicPr>
          <p:cNvPr id="1028" name="Picture 4">
            <a:extLst>
              <a:ext uri="{FF2B5EF4-FFF2-40B4-BE49-F238E27FC236}">
                <a16:creationId xmlns:a16="http://schemas.microsoft.com/office/drawing/2014/main" id="{29F3D64A-5F40-D4BE-6E3D-BD28B2C53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968" y="1573570"/>
            <a:ext cx="7587482" cy="4561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659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1">
            <a:extLst>
              <a:ext uri="{FF2B5EF4-FFF2-40B4-BE49-F238E27FC236}">
                <a16:creationId xmlns:a16="http://schemas.microsoft.com/office/drawing/2014/main" id="{5DDCA0F0-605F-CA36-E481-38A75045457F}"/>
              </a:ext>
            </a:extLst>
          </p:cNvPr>
          <p:cNvSpPr>
            <a:spLocks noGrp="1"/>
          </p:cNvSpPr>
          <p:nvPr>
            <p:ph type="title"/>
          </p:nvPr>
        </p:nvSpPr>
        <p:spPr>
          <a:xfrm>
            <a:off x="1729389" y="192037"/>
            <a:ext cx="7886700" cy="994172"/>
          </a:xfrm>
        </p:spPr>
        <p:txBody>
          <a:bodyPr>
            <a:normAutofit/>
          </a:bodyPr>
          <a:lstStyle/>
          <a:p>
            <a:r>
              <a:rPr lang="en-US" altLang="zh-CN" sz="3200" b="1" dirty="0">
                <a:solidFill>
                  <a:schemeClr val="accent1">
                    <a:lumMod val="50000"/>
                  </a:schemeClr>
                </a:solidFill>
                <a:latin typeface="+mn-ea"/>
                <a:ea typeface="+mn-ea"/>
              </a:rPr>
              <a:t>1. </a:t>
            </a:r>
            <a:r>
              <a:rPr lang="zh-CN" altLang="en-US" sz="3200" b="1" dirty="0">
                <a:solidFill>
                  <a:schemeClr val="accent1">
                    <a:lumMod val="50000"/>
                  </a:schemeClr>
                </a:solidFill>
                <a:latin typeface="+mn-ea"/>
                <a:ea typeface="+mn-ea"/>
              </a:rPr>
              <a:t>统计学习的基础概念与定义 </a:t>
            </a:r>
            <a:endParaRPr lang="zh-CN" altLang="en-US" sz="3200" b="1" dirty="0">
              <a:latin typeface="+mn-ea"/>
              <a:ea typeface="+mn-ea"/>
            </a:endParaRPr>
          </a:p>
        </p:txBody>
      </p:sp>
      <p:sp>
        <p:nvSpPr>
          <p:cNvPr id="4" name="内容占位符 2">
            <a:extLst>
              <a:ext uri="{FF2B5EF4-FFF2-40B4-BE49-F238E27FC236}">
                <a16:creationId xmlns:a16="http://schemas.microsoft.com/office/drawing/2014/main" id="{44E9FB43-CE25-C7E8-E701-65F55E01B2BA}"/>
              </a:ext>
            </a:extLst>
          </p:cNvPr>
          <p:cNvSpPr>
            <a:spLocks noGrp="1"/>
          </p:cNvSpPr>
          <p:nvPr>
            <p:ph idx="1"/>
          </p:nvPr>
        </p:nvSpPr>
        <p:spPr>
          <a:xfrm>
            <a:off x="2152650" y="1489049"/>
            <a:ext cx="7886700" cy="4872423"/>
          </a:xfrm>
        </p:spPr>
        <p:txBody>
          <a:bodyPr>
            <a:normAutofit/>
          </a:bodyPr>
          <a:lstStyle/>
          <a:p>
            <a:r>
              <a:rPr lang="zh-CN" altLang="en-US" sz="2000" dirty="0"/>
              <a:t>模型评估与选择</a:t>
            </a:r>
            <a:endParaRPr lang="en-US" altLang="zh-CN" sz="2000" dirty="0"/>
          </a:p>
          <a:p>
            <a:pPr lvl="1"/>
            <a:r>
              <a:rPr lang="zh-CN" altLang="en-US" sz="2000" dirty="0"/>
              <a:t>训练误差与测试误差</a:t>
            </a:r>
            <a:endParaRPr lang="en-US" altLang="zh-CN" sz="2000" dirty="0"/>
          </a:p>
          <a:p>
            <a:pPr marL="342900" lvl="1" indent="0">
              <a:buNone/>
            </a:pPr>
            <a:r>
              <a:rPr lang="en-US" altLang="zh-CN" sz="2000" b="1" i="1" dirty="0"/>
              <a:t>    </a:t>
            </a:r>
            <a:r>
              <a:rPr lang="en-US" altLang="zh-CN" sz="2000" b="1" i="1" dirty="0" err="1"/>
              <a:t>Hoeffding</a:t>
            </a:r>
            <a:r>
              <a:rPr lang="en-US" altLang="zh-CN" sz="2000" b="1" i="1" dirty="0"/>
              <a:t> inequality</a:t>
            </a:r>
          </a:p>
          <a:p>
            <a:pPr marL="342900" lvl="1" indent="0">
              <a:buNone/>
            </a:pPr>
            <a:endParaRPr lang="en-US" altLang="zh-CN" sz="2000" b="1" i="1" dirty="0"/>
          </a:p>
          <a:p>
            <a:pPr marL="342900" lvl="1" indent="0">
              <a:buNone/>
            </a:pPr>
            <a:endParaRPr lang="en-US" altLang="zh-CN" sz="2000" b="1" i="1" dirty="0"/>
          </a:p>
          <a:p>
            <a:pPr marL="342900" lvl="1" indent="0">
              <a:buNone/>
            </a:pPr>
            <a:r>
              <a:rPr lang="zh-CN" altLang="en-US" sz="1600" dirty="0">
                <a:latin typeface="等线" panose="02010600030101010101" pitchFamily="2" charset="-122"/>
                <a:ea typeface="等线" panose="02010600030101010101" pitchFamily="2" charset="-122"/>
              </a:rPr>
              <a:t> 一个盒子里有红球和白球，</a:t>
            </a:r>
            <a:r>
              <a:rPr lang="en-US" altLang="zh-CN" sz="1600" i="1" dirty="0">
                <a:latin typeface="等线" panose="02010600030101010101" pitchFamily="2" charset="-122"/>
                <a:ea typeface="等线" panose="02010600030101010101" pitchFamily="2" charset="-122"/>
              </a:rPr>
              <a:t>μ</a:t>
            </a:r>
            <a:r>
              <a:rPr lang="zh-CN" altLang="en-US" sz="1600" dirty="0">
                <a:latin typeface="等线" panose="02010600030101010101" pitchFamily="2" charset="-122"/>
                <a:ea typeface="等线" panose="02010600030101010101" pitchFamily="2" charset="-122"/>
              </a:rPr>
              <a:t>是从中选中一个红球的概率，</a:t>
            </a:r>
            <a:r>
              <a:rPr lang="en-US" altLang="zh-CN" sz="1600" i="1" dirty="0">
                <a:latin typeface="等线" panose="02010600030101010101" pitchFamily="2" charset="-122"/>
                <a:ea typeface="等线" panose="02010600030101010101" pitchFamily="2" charset="-122"/>
              </a:rPr>
              <a:t>v </a:t>
            </a:r>
            <a:r>
              <a:rPr lang="zh-CN" altLang="en-US" sz="1600" dirty="0">
                <a:latin typeface="等线" panose="02010600030101010101" pitchFamily="2" charset="-122"/>
                <a:ea typeface="等线" panose="02010600030101010101" pitchFamily="2" charset="-122"/>
              </a:rPr>
              <a:t>是一次随机取出若干球中，红球出现的比率。</a:t>
            </a:r>
            <a:endParaRPr lang="en-US" altLang="zh-CN" sz="1600" dirty="0">
              <a:latin typeface="等线" panose="02010600030101010101" pitchFamily="2" charset="-122"/>
              <a:ea typeface="等线" panose="02010600030101010101" pitchFamily="2" charset="-122"/>
            </a:endParaRPr>
          </a:p>
          <a:p>
            <a:pPr marL="342900" lvl="1" indent="0">
              <a:buNone/>
            </a:pPr>
            <a:endParaRPr lang="en-US" altLang="zh-CN" sz="1600" dirty="0">
              <a:latin typeface="等线" panose="02010600030101010101" pitchFamily="2" charset="-122"/>
              <a:ea typeface="等线" panose="02010600030101010101" pitchFamily="2" charset="-122"/>
            </a:endParaRPr>
          </a:p>
          <a:p>
            <a:pPr lvl="2"/>
            <a:r>
              <a:rPr lang="zh-CN" altLang="en-US" dirty="0"/>
              <a:t>训练误差和测试误差</a:t>
            </a:r>
            <a:endParaRPr lang="en-US" altLang="zh-CN" dirty="0"/>
          </a:p>
          <a:p>
            <a:pPr lvl="2"/>
            <a:endParaRPr lang="en-US" altLang="zh-CN" dirty="0"/>
          </a:p>
          <a:p>
            <a:pPr lvl="2"/>
            <a:endParaRPr lang="en-US" altLang="zh-CN" dirty="0"/>
          </a:p>
          <a:p>
            <a:pPr marL="685800" lvl="2" indent="0">
              <a:buNone/>
            </a:pPr>
            <a:r>
              <a:rPr lang="zh-CN" altLang="en-US" dirty="0"/>
              <a:t>一般情况下，某个假设的期望并不容易得到，随数据变化</a:t>
            </a:r>
            <a:endParaRPr lang="en-US" altLang="zh-CN" dirty="0"/>
          </a:p>
        </p:txBody>
      </p:sp>
      <p:pic>
        <p:nvPicPr>
          <p:cNvPr id="5" name="图片 4">
            <a:extLst>
              <a:ext uri="{FF2B5EF4-FFF2-40B4-BE49-F238E27FC236}">
                <a16:creationId xmlns:a16="http://schemas.microsoft.com/office/drawing/2014/main" id="{6F71CBBF-4981-CDB1-278A-6B2DDD3306C3}"/>
              </a:ext>
            </a:extLst>
          </p:cNvPr>
          <p:cNvPicPr>
            <a:picLocks noChangeAspect="1"/>
          </p:cNvPicPr>
          <p:nvPr/>
        </p:nvPicPr>
        <p:blipFill>
          <a:blip r:embed="rId2"/>
          <a:stretch>
            <a:fillRect/>
          </a:stretch>
        </p:blipFill>
        <p:spPr>
          <a:xfrm>
            <a:off x="3920766" y="2597013"/>
            <a:ext cx="2514600" cy="392906"/>
          </a:xfrm>
          <a:prstGeom prst="rect">
            <a:avLst/>
          </a:prstGeom>
        </p:spPr>
      </p:pic>
      <p:pic>
        <p:nvPicPr>
          <p:cNvPr id="6" name="图片 5">
            <a:extLst>
              <a:ext uri="{FF2B5EF4-FFF2-40B4-BE49-F238E27FC236}">
                <a16:creationId xmlns:a16="http://schemas.microsoft.com/office/drawing/2014/main" id="{25A2D8CB-77D0-BFC4-B5E5-F418BF8AC443}"/>
              </a:ext>
            </a:extLst>
          </p:cNvPr>
          <p:cNvPicPr>
            <a:picLocks noChangeAspect="1"/>
          </p:cNvPicPr>
          <p:nvPr/>
        </p:nvPicPr>
        <p:blipFill>
          <a:blip r:embed="rId3"/>
          <a:stretch>
            <a:fillRect/>
          </a:stretch>
        </p:blipFill>
        <p:spPr>
          <a:xfrm>
            <a:off x="4009258" y="4386237"/>
            <a:ext cx="3186113" cy="428625"/>
          </a:xfrm>
          <a:prstGeom prst="rect">
            <a:avLst/>
          </a:prstGeom>
        </p:spPr>
      </p:pic>
      <p:pic>
        <p:nvPicPr>
          <p:cNvPr id="7" name="图片 6">
            <a:extLst>
              <a:ext uri="{FF2B5EF4-FFF2-40B4-BE49-F238E27FC236}">
                <a16:creationId xmlns:a16="http://schemas.microsoft.com/office/drawing/2014/main" id="{63175A7A-348F-555F-F4B1-1DDDB6F4CB44}"/>
              </a:ext>
            </a:extLst>
          </p:cNvPr>
          <p:cNvPicPr>
            <a:picLocks noChangeAspect="1"/>
          </p:cNvPicPr>
          <p:nvPr/>
        </p:nvPicPr>
        <p:blipFill>
          <a:blip r:embed="rId4"/>
          <a:stretch>
            <a:fillRect/>
          </a:stretch>
        </p:blipFill>
        <p:spPr>
          <a:xfrm>
            <a:off x="3791612" y="5494202"/>
            <a:ext cx="4314933" cy="992519"/>
          </a:xfrm>
          <a:prstGeom prst="rect">
            <a:avLst/>
          </a:prstGeom>
        </p:spPr>
      </p:pic>
      <p:sp>
        <p:nvSpPr>
          <p:cNvPr id="13" name="星形: 十角 12">
            <a:extLst>
              <a:ext uri="{FF2B5EF4-FFF2-40B4-BE49-F238E27FC236}">
                <a16:creationId xmlns:a16="http://schemas.microsoft.com/office/drawing/2014/main" id="{6D506D25-EB1A-8726-422F-80208A879240}"/>
              </a:ext>
            </a:extLst>
          </p:cNvPr>
          <p:cNvSpPr/>
          <p:nvPr/>
        </p:nvSpPr>
        <p:spPr>
          <a:xfrm>
            <a:off x="8072143" y="1515465"/>
            <a:ext cx="2050803" cy="1081549"/>
          </a:xfrm>
          <a:prstGeom prst="star10">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了解即可</a:t>
            </a:r>
          </a:p>
        </p:txBody>
      </p:sp>
      <p:sp>
        <p:nvSpPr>
          <p:cNvPr id="14" name="灯片编号占位符 13">
            <a:extLst>
              <a:ext uri="{FF2B5EF4-FFF2-40B4-BE49-F238E27FC236}">
                <a16:creationId xmlns:a16="http://schemas.microsoft.com/office/drawing/2014/main" id="{58BDBB9F-FF75-D17D-ADDA-28B18C7EAB48}"/>
              </a:ext>
            </a:extLst>
          </p:cNvPr>
          <p:cNvSpPr>
            <a:spLocks noGrp="1"/>
          </p:cNvSpPr>
          <p:nvPr>
            <p:ph type="sldNum" sz="quarter" idx="12"/>
          </p:nvPr>
        </p:nvSpPr>
        <p:spPr/>
        <p:txBody>
          <a:bodyPr/>
          <a:lstStyle/>
          <a:p>
            <a:fld id="{DA04A3ED-EE7A-4E19-90BC-E8E086817459}" type="slidenum">
              <a:rPr lang="zh-CN" altLang="en-US" smtClean="0"/>
              <a:t>14</a:t>
            </a:fld>
            <a:endParaRPr lang="zh-CN" altLang="en-US"/>
          </a:p>
        </p:txBody>
      </p:sp>
    </p:spTree>
    <p:extLst>
      <p:ext uri="{BB962C8B-B14F-4D97-AF65-F5344CB8AC3E}">
        <p14:creationId xmlns:p14="http://schemas.microsoft.com/office/powerpoint/2010/main" val="2091030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59507" y="266371"/>
            <a:ext cx="6172200" cy="85725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等线" panose="02010600030101010101" pitchFamily="2" charset="-122"/>
                <a:ea typeface="等线" panose="02010600030101010101" pitchFamily="2" charset="-122"/>
              </a:rPr>
              <a:t>二分类评价指标</a:t>
            </a:r>
          </a:p>
        </p:txBody>
      </p:sp>
      <p:sp>
        <p:nvSpPr>
          <p:cNvPr id="12" name="内容占位符 2"/>
          <p:cNvSpPr>
            <a:spLocks noGrp="1"/>
          </p:cNvSpPr>
          <p:nvPr>
            <p:ph idx="1"/>
          </p:nvPr>
        </p:nvSpPr>
        <p:spPr>
          <a:xfrm>
            <a:off x="1768795" y="2826667"/>
            <a:ext cx="6318702" cy="2146742"/>
          </a:xfrm>
        </p:spPr>
        <p:txBody>
          <a:bodyPr>
            <a:normAutofit lnSpcReduction="10000"/>
          </a:bodyPr>
          <a:lstStyle/>
          <a:p>
            <a:r>
              <a:rPr lang="zh-CN" altLang="en-US" sz="2100" dirty="0">
                <a:latin typeface="等线" panose="02010600030101010101" pitchFamily="2" charset="-122"/>
                <a:ea typeface="等线" panose="02010600030101010101" pitchFamily="2" charset="-122"/>
              </a:rPr>
              <a:t>二分类评价指标</a:t>
            </a:r>
            <a:endParaRPr lang="en-US" altLang="zh-CN" sz="2100" dirty="0">
              <a:latin typeface="等线" panose="02010600030101010101" pitchFamily="2" charset="-122"/>
              <a:ea typeface="等线" panose="02010600030101010101" pitchFamily="2" charset="-122"/>
            </a:endParaRPr>
          </a:p>
          <a:p>
            <a:endParaRPr lang="en-US" altLang="zh-CN" sz="2100" dirty="0">
              <a:latin typeface="等线" panose="02010600030101010101" pitchFamily="2" charset="-122"/>
              <a:ea typeface="等线" panose="02010600030101010101" pitchFamily="2" charset="-122"/>
            </a:endParaRPr>
          </a:p>
          <a:p>
            <a:pPr lvl="1"/>
            <a:r>
              <a:rPr lang="en-US" altLang="zh-CN" sz="2100" dirty="0">
                <a:latin typeface="等线" panose="02010600030101010101" pitchFamily="2" charset="-122"/>
                <a:ea typeface="等线" panose="02010600030101010101" pitchFamily="2" charset="-122"/>
              </a:rPr>
              <a:t>TP    true positive</a:t>
            </a:r>
          </a:p>
          <a:p>
            <a:pPr lvl="1"/>
            <a:r>
              <a:rPr lang="en-US" altLang="zh-CN" sz="2100" dirty="0">
                <a:latin typeface="等线" panose="02010600030101010101" pitchFamily="2" charset="-122"/>
                <a:ea typeface="等线" panose="02010600030101010101" pitchFamily="2" charset="-122"/>
              </a:rPr>
              <a:t>FN   false negative</a:t>
            </a:r>
          </a:p>
          <a:p>
            <a:pPr lvl="1"/>
            <a:r>
              <a:rPr lang="en-US" altLang="zh-CN" sz="2100" dirty="0">
                <a:latin typeface="等线" panose="02010600030101010101" pitchFamily="2" charset="-122"/>
                <a:ea typeface="等线" panose="02010600030101010101" pitchFamily="2" charset="-122"/>
              </a:rPr>
              <a:t>FP    false positive</a:t>
            </a:r>
          </a:p>
          <a:p>
            <a:pPr lvl="1"/>
            <a:r>
              <a:rPr lang="en-US" altLang="zh-CN" sz="2100" dirty="0">
                <a:latin typeface="等线" panose="02010600030101010101" pitchFamily="2" charset="-122"/>
                <a:ea typeface="等线" panose="02010600030101010101" pitchFamily="2" charset="-122"/>
              </a:rPr>
              <a:t>TN   true  negative</a:t>
            </a:r>
          </a:p>
          <a:p>
            <a:pPr marL="0" indent="0">
              <a:buNone/>
            </a:pPr>
            <a:endParaRPr lang="en-US" altLang="zh-CN" dirty="0">
              <a:latin typeface="等线" panose="02010600030101010101" pitchFamily="2" charset="-122"/>
              <a:ea typeface="等线" panose="02010600030101010101" pitchFamily="2" charset="-122"/>
            </a:endParaRPr>
          </a:p>
        </p:txBody>
      </p:sp>
      <p:sp>
        <p:nvSpPr>
          <p:cNvPr id="17" name="内容占位符 2"/>
          <p:cNvSpPr txBox="1"/>
          <p:nvPr/>
        </p:nvSpPr>
        <p:spPr>
          <a:xfrm>
            <a:off x="5425093" y="2826668"/>
            <a:ext cx="6318702" cy="3629862"/>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100" dirty="0">
                <a:latin typeface="等线" panose="02010600030101010101" pitchFamily="2" charset="-122"/>
                <a:ea typeface="等线" panose="02010600030101010101" pitchFamily="2" charset="-122"/>
              </a:rPr>
              <a:t>精确率</a:t>
            </a:r>
            <a:endParaRPr lang="en-US" altLang="zh-CN" sz="2100" dirty="0">
              <a:latin typeface="等线" panose="02010600030101010101" pitchFamily="2" charset="-122"/>
              <a:ea typeface="等线" panose="02010600030101010101" pitchFamily="2" charset="-122"/>
            </a:endParaRPr>
          </a:p>
          <a:p>
            <a:pPr marL="0" indent="0">
              <a:buNone/>
            </a:pPr>
            <a:endParaRPr lang="en-US" altLang="zh-CN" sz="2100" dirty="0">
              <a:latin typeface="等线" panose="02010600030101010101" pitchFamily="2" charset="-122"/>
              <a:ea typeface="等线" panose="02010600030101010101" pitchFamily="2" charset="-122"/>
            </a:endParaRPr>
          </a:p>
          <a:p>
            <a:r>
              <a:rPr lang="zh-CN" altLang="en-US" sz="2100" dirty="0">
                <a:latin typeface="等线" panose="02010600030101010101" pitchFamily="2" charset="-122"/>
                <a:ea typeface="等线" panose="02010600030101010101" pitchFamily="2" charset="-122"/>
              </a:rPr>
              <a:t>召回率</a:t>
            </a:r>
            <a:endParaRPr lang="en-US" altLang="zh-CN" sz="2100" dirty="0">
              <a:latin typeface="等线" panose="02010600030101010101" pitchFamily="2" charset="-122"/>
              <a:ea typeface="等线" panose="02010600030101010101" pitchFamily="2" charset="-122"/>
            </a:endParaRPr>
          </a:p>
          <a:p>
            <a:pPr marL="0" indent="0">
              <a:buNone/>
            </a:pPr>
            <a:endParaRPr lang="en-US" altLang="zh-CN" sz="2100" dirty="0">
              <a:latin typeface="等线" panose="02010600030101010101" pitchFamily="2" charset="-122"/>
              <a:ea typeface="等线" panose="02010600030101010101" pitchFamily="2" charset="-122"/>
            </a:endParaRPr>
          </a:p>
          <a:p>
            <a:r>
              <a:rPr lang="en-US" altLang="zh-CN" sz="2100" dirty="0">
                <a:latin typeface="等线" panose="02010600030101010101" pitchFamily="2" charset="-122"/>
                <a:ea typeface="等线" panose="02010600030101010101" pitchFamily="2" charset="-122"/>
              </a:rPr>
              <a:t>F</a:t>
            </a:r>
            <a:r>
              <a:rPr lang="en-US" altLang="zh-CN" sz="2100" baseline="-25000" dirty="0">
                <a:latin typeface="等线" panose="02010600030101010101" pitchFamily="2" charset="-122"/>
                <a:ea typeface="等线" panose="02010600030101010101" pitchFamily="2" charset="-122"/>
              </a:rPr>
              <a:t>1</a:t>
            </a:r>
            <a:r>
              <a:rPr lang="ja-JP" altLang="en-US" sz="2100">
                <a:latin typeface="等线" panose="02010600030101010101" pitchFamily="2" charset="-122"/>
                <a:ea typeface="等线" panose="02010600030101010101" pitchFamily="2" charset="-122"/>
              </a:rPr>
              <a:t>值</a:t>
            </a:r>
            <a:endParaRPr lang="en-US" altLang="zh-CN" sz="2100" dirty="0">
              <a:latin typeface="等线" panose="02010600030101010101" pitchFamily="2" charset="-122"/>
              <a:ea typeface="等线" panose="02010600030101010101" pitchFamily="2" charset="-122"/>
            </a:endParaRPr>
          </a:p>
        </p:txBody>
      </p:sp>
      <p:graphicFrame>
        <p:nvGraphicFramePr>
          <p:cNvPr id="20" name="表格 19"/>
          <p:cNvGraphicFramePr>
            <a:graphicFrameLocks noGrp="1"/>
          </p:cNvGraphicFramePr>
          <p:nvPr/>
        </p:nvGraphicFramePr>
        <p:xfrm>
          <a:off x="6608191" y="1267905"/>
          <a:ext cx="2665608" cy="1090962"/>
        </p:xfrm>
        <a:graphic>
          <a:graphicData uri="http://schemas.openxmlformats.org/drawingml/2006/table">
            <a:tbl>
              <a:tblPr firstRow="1" firstCol="1" bandRow="1">
                <a:tableStyleId>{5C22544A-7EE6-4342-B048-85BDC9FD1C3A}</a:tableStyleId>
              </a:tblPr>
              <a:tblGrid>
                <a:gridCol w="804365">
                  <a:extLst>
                    <a:ext uri="{9D8B030D-6E8A-4147-A177-3AD203B41FA5}">
                      <a16:colId xmlns:a16="http://schemas.microsoft.com/office/drawing/2014/main" val="3530104396"/>
                    </a:ext>
                  </a:extLst>
                </a:gridCol>
                <a:gridCol w="930403">
                  <a:extLst>
                    <a:ext uri="{9D8B030D-6E8A-4147-A177-3AD203B41FA5}">
                      <a16:colId xmlns:a16="http://schemas.microsoft.com/office/drawing/2014/main" val="727676747"/>
                    </a:ext>
                  </a:extLst>
                </a:gridCol>
                <a:gridCol w="930840">
                  <a:extLst>
                    <a:ext uri="{9D8B030D-6E8A-4147-A177-3AD203B41FA5}">
                      <a16:colId xmlns:a16="http://schemas.microsoft.com/office/drawing/2014/main" val="972213509"/>
                    </a:ext>
                  </a:extLst>
                </a:gridCol>
              </a:tblGrid>
              <a:tr h="418370">
                <a:tc>
                  <a:txBody>
                    <a:bodyPr/>
                    <a:lstStyle/>
                    <a:p>
                      <a:pPr algn="just">
                        <a:spcAft>
                          <a:spcPts val="0"/>
                        </a:spcAft>
                      </a:pP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a:effectLst/>
                        </a:rPr>
                        <a:t>P</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N</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049074712"/>
                  </a:ext>
                </a:extLst>
              </a:tr>
              <a:tr h="336296">
                <a:tc>
                  <a:txBody>
                    <a:bodyPr/>
                    <a:lstStyle/>
                    <a:p>
                      <a:pPr algn="ctr">
                        <a:spcAft>
                          <a:spcPts val="0"/>
                        </a:spcAft>
                      </a:pPr>
                      <a:r>
                        <a:rPr lang="en-US" sz="1800" kern="100">
                          <a:effectLst/>
                        </a:rPr>
                        <a:t>T</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TP</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FP</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284900845"/>
                  </a:ext>
                </a:extLst>
              </a:tr>
              <a:tr h="336296">
                <a:tc>
                  <a:txBody>
                    <a:bodyPr/>
                    <a:lstStyle/>
                    <a:p>
                      <a:pPr algn="ctr">
                        <a:spcAft>
                          <a:spcPts val="0"/>
                        </a:spcAft>
                      </a:pPr>
                      <a:r>
                        <a:rPr lang="en-US" sz="1800" kern="100">
                          <a:effectLst/>
                        </a:rPr>
                        <a:t>F</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a:effectLst/>
                        </a:rPr>
                        <a:t>FN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TN</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98554015"/>
                  </a:ext>
                </a:extLst>
              </a:tr>
            </a:tbl>
          </a:graphicData>
        </a:graphic>
      </p:graphicFrame>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3796AF2-D7F7-411E-9EC4-6206451F832C}"/>
                  </a:ext>
                </a:extLst>
              </p:cNvPr>
              <p:cNvSpPr txBox="1"/>
              <p:nvPr/>
            </p:nvSpPr>
            <p:spPr>
              <a:xfrm>
                <a:off x="6922443" y="2702027"/>
                <a:ext cx="1417504" cy="8001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𝑃</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𝑇𝑃</m:t>
                          </m:r>
                        </m:num>
                        <m:den>
                          <m:r>
                            <a:rPr lang="en-US" altLang="zh-CN" i="1">
                              <a:latin typeface="Cambria Math" panose="02040503050406030204" pitchFamily="18" charset="0"/>
                            </a:rPr>
                            <m:t>𝑇𝑃</m:t>
                          </m:r>
                          <m:r>
                            <a:rPr lang="en-US" altLang="zh-CN" i="1">
                              <a:latin typeface="Cambria Math" panose="02040503050406030204" pitchFamily="18" charset="0"/>
                            </a:rPr>
                            <m:t>+</m:t>
                          </m:r>
                          <m:r>
                            <a:rPr lang="en-US" altLang="zh-CN" i="1">
                              <a:latin typeface="Cambria Math" panose="02040503050406030204" pitchFamily="18" charset="0"/>
                            </a:rPr>
                            <m:t>𝐹𝑃</m:t>
                          </m:r>
                        </m:den>
                      </m:f>
                    </m:oMath>
                  </m:oMathPara>
                </a14:m>
                <a:endParaRPr lang="en-US" altLang="zh-CN" dirty="0"/>
              </a:p>
              <a:p>
                <a:endParaRPr lang="en-US" altLang="zh-CN" dirty="0"/>
              </a:p>
            </p:txBody>
          </p:sp>
        </mc:Choice>
        <mc:Fallback xmlns="">
          <p:sp>
            <p:nvSpPr>
              <p:cNvPr id="10" name="文本框 9">
                <a:extLst>
                  <a:ext uri="{FF2B5EF4-FFF2-40B4-BE49-F238E27FC236}">
                    <a16:creationId xmlns:a16="http://schemas.microsoft.com/office/drawing/2014/main" id="{C3796AF2-D7F7-411E-9EC4-6206451F832C}"/>
                  </a:ext>
                </a:extLst>
              </p:cNvPr>
              <p:cNvSpPr txBox="1">
                <a:spLocks noRot="1" noChangeAspect="1" noMove="1" noResize="1" noEditPoints="1" noAdjustHandles="1" noChangeArrowheads="1" noChangeShapeType="1" noTextEdit="1"/>
              </p:cNvSpPr>
              <p:nvPr/>
            </p:nvSpPr>
            <p:spPr>
              <a:xfrm>
                <a:off x="6922443" y="2702027"/>
                <a:ext cx="1417504" cy="80015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6A7C86A-8886-4EBE-A7E6-DDBC54A1CD4F}"/>
                  </a:ext>
                </a:extLst>
              </p:cNvPr>
              <p:cNvSpPr txBox="1"/>
              <p:nvPr/>
            </p:nvSpPr>
            <p:spPr>
              <a:xfrm>
                <a:off x="6922442" y="4302857"/>
                <a:ext cx="1214756" cy="842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2</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𝑃</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𝑅</m:t>
                          </m:r>
                        </m:den>
                      </m:f>
                    </m:oMath>
                  </m:oMathPara>
                </a14:m>
                <a:endParaRPr lang="en-US" altLang="zh-CN" dirty="0"/>
              </a:p>
              <a:p>
                <a:endParaRPr lang="en-US" altLang="zh-CN" dirty="0"/>
              </a:p>
            </p:txBody>
          </p:sp>
        </mc:Choice>
        <mc:Fallback xmlns="">
          <p:sp>
            <p:nvSpPr>
              <p:cNvPr id="18" name="文本框 17">
                <a:extLst>
                  <a:ext uri="{FF2B5EF4-FFF2-40B4-BE49-F238E27FC236}">
                    <a16:creationId xmlns:a16="http://schemas.microsoft.com/office/drawing/2014/main" id="{B6A7C86A-8886-4EBE-A7E6-DDBC54A1CD4F}"/>
                  </a:ext>
                </a:extLst>
              </p:cNvPr>
              <p:cNvSpPr txBox="1">
                <a:spLocks noRot="1" noChangeAspect="1" noMove="1" noResize="1" noEditPoints="1" noAdjustHandles="1" noChangeArrowheads="1" noChangeShapeType="1" noTextEdit="1"/>
              </p:cNvSpPr>
              <p:nvPr/>
            </p:nvSpPr>
            <p:spPr>
              <a:xfrm>
                <a:off x="6922442" y="4302857"/>
                <a:ext cx="1214756" cy="84273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8F5CF6D-4AFD-46DF-940A-02C5DD195F0B}"/>
                  </a:ext>
                </a:extLst>
              </p:cNvPr>
              <p:cNvSpPr txBox="1"/>
              <p:nvPr/>
            </p:nvSpPr>
            <p:spPr>
              <a:xfrm>
                <a:off x="6947790" y="3512990"/>
                <a:ext cx="1449308" cy="8001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𝑇𝑃</m:t>
                          </m:r>
                        </m:num>
                        <m:den>
                          <m:r>
                            <a:rPr lang="en-US" altLang="zh-CN" i="1">
                              <a:latin typeface="Cambria Math" panose="02040503050406030204" pitchFamily="18" charset="0"/>
                            </a:rPr>
                            <m:t>𝑇𝑃</m:t>
                          </m:r>
                          <m:r>
                            <a:rPr lang="en-US" altLang="zh-CN" i="1">
                              <a:latin typeface="Cambria Math" panose="02040503050406030204" pitchFamily="18" charset="0"/>
                            </a:rPr>
                            <m:t>+</m:t>
                          </m:r>
                          <m:r>
                            <a:rPr lang="en-US" altLang="zh-CN" i="1">
                              <a:latin typeface="Cambria Math" panose="02040503050406030204" pitchFamily="18" charset="0"/>
                            </a:rPr>
                            <m:t>𝐹𝑁</m:t>
                          </m:r>
                        </m:den>
                      </m:f>
                    </m:oMath>
                  </m:oMathPara>
                </a14:m>
                <a:endParaRPr lang="en-US" altLang="zh-CN" dirty="0"/>
              </a:p>
              <a:p>
                <a:endParaRPr lang="en-US" altLang="zh-CN" dirty="0"/>
              </a:p>
            </p:txBody>
          </p:sp>
        </mc:Choice>
        <mc:Fallback xmlns="">
          <p:sp>
            <p:nvSpPr>
              <p:cNvPr id="19" name="文本框 18">
                <a:extLst>
                  <a:ext uri="{FF2B5EF4-FFF2-40B4-BE49-F238E27FC236}">
                    <a16:creationId xmlns:a16="http://schemas.microsoft.com/office/drawing/2014/main" id="{58F5CF6D-4AFD-46DF-940A-02C5DD195F0B}"/>
                  </a:ext>
                </a:extLst>
              </p:cNvPr>
              <p:cNvSpPr txBox="1">
                <a:spLocks noRot="1" noChangeAspect="1" noMove="1" noResize="1" noEditPoints="1" noAdjustHandles="1" noChangeArrowheads="1" noChangeShapeType="1" noTextEdit="1"/>
              </p:cNvSpPr>
              <p:nvPr/>
            </p:nvSpPr>
            <p:spPr>
              <a:xfrm>
                <a:off x="6947790" y="3512990"/>
                <a:ext cx="1449308" cy="80015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B68CF56D-0952-41F1-87BB-0329A925AE63}"/>
                  </a:ext>
                </a:extLst>
              </p:cNvPr>
              <p:cNvSpPr txBox="1"/>
              <p:nvPr/>
            </p:nvSpPr>
            <p:spPr>
              <a:xfrm>
                <a:off x="6860548" y="5172021"/>
                <a:ext cx="2211696" cy="8020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1</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𝑇𝑃</m:t>
                          </m:r>
                        </m:num>
                        <m:den>
                          <m:r>
                            <a:rPr lang="en-US" altLang="zh-CN" i="1">
                              <a:latin typeface="Cambria Math" panose="02040503050406030204" pitchFamily="18" charset="0"/>
                            </a:rPr>
                            <m:t>2</m:t>
                          </m:r>
                          <m:r>
                            <a:rPr lang="en-US" altLang="zh-CN" i="1">
                              <a:latin typeface="Cambria Math" panose="02040503050406030204" pitchFamily="18" charset="0"/>
                            </a:rPr>
                            <m:t>𝑇𝑃</m:t>
                          </m:r>
                          <m:r>
                            <a:rPr lang="en-US" altLang="zh-CN" i="1">
                              <a:latin typeface="Cambria Math" panose="02040503050406030204" pitchFamily="18" charset="0"/>
                            </a:rPr>
                            <m:t>+</m:t>
                          </m:r>
                          <m:r>
                            <a:rPr lang="en-US" altLang="zh-CN" i="1">
                              <a:latin typeface="Cambria Math" panose="02040503050406030204" pitchFamily="18" charset="0"/>
                            </a:rPr>
                            <m:t>𝐹𝑃</m:t>
                          </m:r>
                          <m:r>
                            <a:rPr lang="en-US" altLang="zh-CN" i="1">
                              <a:latin typeface="Cambria Math" panose="02040503050406030204" pitchFamily="18" charset="0"/>
                            </a:rPr>
                            <m:t>+</m:t>
                          </m:r>
                          <m:r>
                            <a:rPr lang="en-US" altLang="zh-CN" i="1">
                              <a:latin typeface="Cambria Math" panose="02040503050406030204" pitchFamily="18" charset="0"/>
                            </a:rPr>
                            <m:t>𝐹𝑁</m:t>
                          </m:r>
                        </m:den>
                      </m:f>
                    </m:oMath>
                  </m:oMathPara>
                </a14:m>
                <a:endParaRPr lang="en-US" altLang="zh-CN" dirty="0"/>
              </a:p>
              <a:p>
                <a:endParaRPr lang="en-US" altLang="zh-CN" dirty="0"/>
              </a:p>
            </p:txBody>
          </p:sp>
        </mc:Choice>
        <mc:Fallback xmlns="">
          <p:sp>
            <p:nvSpPr>
              <p:cNvPr id="21" name="文本框 20">
                <a:extLst>
                  <a:ext uri="{FF2B5EF4-FFF2-40B4-BE49-F238E27FC236}">
                    <a16:creationId xmlns:a16="http://schemas.microsoft.com/office/drawing/2014/main" id="{B68CF56D-0952-41F1-87BB-0329A925AE63}"/>
                  </a:ext>
                </a:extLst>
              </p:cNvPr>
              <p:cNvSpPr txBox="1">
                <a:spLocks noRot="1" noChangeAspect="1" noMove="1" noResize="1" noEditPoints="1" noAdjustHandles="1" noChangeArrowheads="1" noChangeShapeType="1" noTextEdit="1"/>
              </p:cNvSpPr>
              <p:nvPr/>
            </p:nvSpPr>
            <p:spPr>
              <a:xfrm>
                <a:off x="6860548" y="5172021"/>
                <a:ext cx="2211696" cy="802014"/>
              </a:xfrm>
              <a:prstGeom prst="rect">
                <a:avLst/>
              </a:prstGeom>
              <a:blipFill>
                <a:blip r:embed="rId6"/>
                <a:stretch>
                  <a:fillRect/>
                </a:stretch>
              </a:blipFill>
            </p:spPr>
            <p:txBody>
              <a:bodyPr/>
              <a:lstStyle/>
              <a:p>
                <a:r>
                  <a:rPr lang="zh-CN" altLang="en-US">
                    <a:noFill/>
                  </a:rPr>
                  <a:t> </a:t>
                </a:r>
              </a:p>
            </p:txBody>
          </p:sp>
        </mc:Fallback>
      </mc:AlternateContent>
      <p:sp>
        <p:nvSpPr>
          <p:cNvPr id="2" name="文本框 1"/>
          <p:cNvSpPr txBox="1"/>
          <p:nvPr/>
        </p:nvSpPr>
        <p:spPr>
          <a:xfrm>
            <a:off x="5150069" y="1676316"/>
            <a:ext cx="1261884" cy="415498"/>
          </a:xfrm>
          <a:prstGeom prst="rect">
            <a:avLst/>
          </a:prstGeom>
          <a:noFill/>
        </p:spPr>
        <p:txBody>
          <a:bodyPr wrap="none" rtlCol="0">
            <a:spAutoFit/>
          </a:bodyPr>
          <a:lstStyle/>
          <a:p>
            <a:r>
              <a:rPr lang="zh-CN" altLang="en-US" sz="2100" b="1" dirty="0">
                <a:solidFill>
                  <a:srgbClr val="C00000"/>
                </a:solidFill>
              </a:rPr>
              <a:t>混淆矩阵</a:t>
            </a:r>
          </a:p>
        </p:txBody>
      </p:sp>
    </p:spTree>
    <p:extLst>
      <p:ext uri="{BB962C8B-B14F-4D97-AF65-F5344CB8AC3E}">
        <p14:creationId xmlns:p14="http://schemas.microsoft.com/office/powerpoint/2010/main" val="3526340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a:stretch>
            <a:fillRect/>
          </a:stretch>
        </p:blipFill>
        <p:spPr>
          <a:xfrm>
            <a:off x="2256841" y="1133872"/>
            <a:ext cx="3216422" cy="3624974"/>
          </a:xfrm>
          <a:prstGeom prst="rect">
            <a:avLst/>
          </a:prstGeom>
        </p:spPr>
      </p:pic>
      <p:pic>
        <p:nvPicPr>
          <p:cNvPr id="19" name="图片 18"/>
          <p:cNvPicPr>
            <a:picLocks noChangeAspect="1"/>
          </p:cNvPicPr>
          <p:nvPr/>
        </p:nvPicPr>
        <p:blipFill>
          <a:blip r:embed="rId4"/>
          <a:stretch>
            <a:fillRect/>
          </a:stretch>
        </p:blipFill>
        <p:spPr>
          <a:xfrm>
            <a:off x="5607155" y="1433418"/>
            <a:ext cx="3752308" cy="4426952"/>
          </a:xfrm>
          <a:prstGeom prst="rect">
            <a:avLst/>
          </a:prstGeom>
        </p:spPr>
      </p:pic>
    </p:spTree>
    <p:extLst>
      <p:ext uri="{BB962C8B-B14F-4D97-AF65-F5344CB8AC3E}">
        <p14:creationId xmlns:p14="http://schemas.microsoft.com/office/powerpoint/2010/main" val="321156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60113" y="339883"/>
            <a:ext cx="1981633" cy="369332"/>
          </a:xfrm>
          <a:prstGeom prst="rect">
            <a:avLst/>
          </a:prstGeom>
        </p:spPr>
        <p:txBody>
          <a:bodyPr wrap="none">
            <a:spAutoFit/>
          </a:bodyPr>
          <a:lstStyle/>
          <a:p>
            <a:r>
              <a:rPr lang="en-US" altLang="zh-CN" b="1" dirty="0">
                <a:solidFill>
                  <a:schemeClr val="accent1"/>
                </a:solidFill>
                <a:ea typeface="굴림" pitchFamily="34" charset="-127"/>
              </a:rPr>
              <a:t>Confusion matrix</a:t>
            </a:r>
            <a:endParaRPr lang="zh-CN" altLang="en-US" b="1" dirty="0">
              <a:solidFill>
                <a:schemeClr val="accent1"/>
              </a:solidFill>
              <a:ea typeface="굴림" pitchFamily="34" charset="-127"/>
            </a:endParaRPr>
          </a:p>
        </p:txBody>
      </p:sp>
      <p:graphicFrame>
        <p:nvGraphicFramePr>
          <p:cNvPr id="4" name="表格 3"/>
          <p:cNvGraphicFramePr>
            <a:graphicFrameLocks noGrp="1"/>
          </p:cNvGraphicFramePr>
          <p:nvPr/>
        </p:nvGraphicFramePr>
        <p:xfrm>
          <a:off x="1823241" y="1600584"/>
          <a:ext cx="8529882" cy="1116240"/>
        </p:xfrm>
        <a:graphic>
          <a:graphicData uri="http://schemas.openxmlformats.org/drawingml/2006/table">
            <a:tbl>
              <a:tblPr firstRow="1" firstCol="1" bandRow="1">
                <a:tableStyleId>{7DF18680-E054-41AD-8BC1-D1AEF772440D}</a:tableStyleId>
              </a:tblPr>
              <a:tblGrid>
                <a:gridCol w="1248846">
                  <a:extLst>
                    <a:ext uri="{9D8B030D-6E8A-4147-A177-3AD203B41FA5}">
                      <a16:colId xmlns:a16="http://schemas.microsoft.com/office/drawing/2014/main" val="4267151644"/>
                    </a:ext>
                  </a:extLst>
                </a:gridCol>
                <a:gridCol w="606753">
                  <a:extLst>
                    <a:ext uri="{9D8B030D-6E8A-4147-A177-3AD203B41FA5}">
                      <a16:colId xmlns:a16="http://schemas.microsoft.com/office/drawing/2014/main" val="3030536846"/>
                    </a:ext>
                  </a:extLst>
                </a:gridCol>
                <a:gridCol w="606753">
                  <a:extLst>
                    <a:ext uri="{9D8B030D-6E8A-4147-A177-3AD203B41FA5}">
                      <a16:colId xmlns:a16="http://schemas.microsoft.com/office/drawing/2014/main" val="4174266627"/>
                    </a:ext>
                  </a:extLst>
                </a:gridCol>
                <a:gridCol w="606753">
                  <a:extLst>
                    <a:ext uri="{9D8B030D-6E8A-4147-A177-3AD203B41FA5}">
                      <a16:colId xmlns:a16="http://schemas.microsoft.com/office/drawing/2014/main" val="2072973224"/>
                    </a:ext>
                  </a:extLst>
                </a:gridCol>
                <a:gridCol w="606753">
                  <a:extLst>
                    <a:ext uri="{9D8B030D-6E8A-4147-A177-3AD203B41FA5}">
                      <a16:colId xmlns:a16="http://schemas.microsoft.com/office/drawing/2014/main" val="707894185"/>
                    </a:ext>
                  </a:extLst>
                </a:gridCol>
                <a:gridCol w="606753">
                  <a:extLst>
                    <a:ext uri="{9D8B030D-6E8A-4147-A177-3AD203B41FA5}">
                      <a16:colId xmlns:a16="http://schemas.microsoft.com/office/drawing/2014/main" val="676198699"/>
                    </a:ext>
                  </a:extLst>
                </a:gridCol>
                <a:gridCol w="606753">
                  <a:extLst>
                    <a:ext uri="{9D8B030D-6E8A-4147-A177-3AD203B41FA5}">
                      <a16:colId xmlns:a16="http://schemas.microsoft.com/office/drawing/2014/main" val="954429542"/>
                    </a:ext>
                  </a:extLst>
                </a:gridCol>
                <a:gridCol w="606753">
                  <a:extLst>
                    <a:ext uri="{9D8B030D-6E8A-4147-A177-3AD203B41FA5}">
                      <a16:colId xmlns:a16="http://schemas.microsoft.com/office/drawing/2014/main" val="566004709"/>
                    </a:ext>
                  </a:extLst>
                </a:gridCol>
                <a:gridCol w="606753">
                  <a:extLst>
                    <a:ext uri="{9D8B030D-6E8A-4147-A177-3AD203B41FA5}">
                      <a16:colId xmlns:a16="http://schemas.microsoft.com/office/drawing/2014/main" val="3878682163"/>
                    </a:ext>
                  </a:extLst>
                </a:gridCol>
                <a:gridCol w="606753">
                  <a:extLst>
                    <a:ext uri="{9D8B030D-6E8A-4147-A177-3AD203B41FA5}">
                      <a16:colId xmlns:a16="http://schemas.microsoft.com/office/drawing/2014/main" val="4072437609"/>
                    </a:ext>
                  </a:extLst>
                </a:gridCol>
                <a:gridCol w="606753">
                  <a:extLst>
                    <a:ext uri="{9D8B030D-6E8A-4147-A177-3AD203B41FA5}">
                      <a16:colId xmlns:a16="http://schemas.microsoft.com/office/drawing/2014/main" val="1583090054"/>
                    </a:ext>
                  </a:extLst>
                </a:gridCol>
                <a:gridCol w="606753">
                  <a:extLst>
                    <a:ext uri="{9D8B030D-6E8A-4147-A177-3AD203B41FA5}">
                      <a16:colId xmlns:a16="http://schemas.microsoft.com/office/drawing/2014/main" val="2287974234"/>
                    </a:ext>
                  </a:extLst>
                </a:gridCol>
                <a:gridCol w="606753">
                  <a:extLst>
                    <a:ext uri="{9D8B030D-6E8A-4147-A177-3AD203B41FA5}">
                      <a16:colId xmlns:a16="http://schemas.microsoft.com/office/drawing/2014/main" val="2272144902"/>
                    </a:ext>
                  </a:extLst>
                </a:gridCol>
              </a:tblGrid>
              <a:tr h="416967">
                <a:tc>
                  <a:txBody>
                    <a:bodyPr/>
                    <a:lstStyle/>
                    <a:p>
                      <a:pPr algn="ctr">
                        <a:spcAft>
                          <a:spcPts val="0"/>
                        </a:spcAft>
                      </a:pPr>
                      <a:r>
                        <a:rPr lang="en-US" altLang="zh-CN" sz="1500" kern="100" dirty="0">
                          <a:effectLst/>
                          <a:latin typeface="等线" panose="02010600030101010101" pitchFamily="2" charset="-122"/>
                          <a:ea typeface="等线" panose="02010600030101010101" pitchFamily="2" charset="-122"/>
                        </a:rPr>
                        <a:t>No.</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1</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2</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a:effectLst/>
                          <a:latin typeface="等线" panose="02010600030101010101" pitchFamily="2" charset="-122"/>
                          <a:ea typeface="等线" panose="02010600030101010101" pitchFamily="2" charset="-122"/>
                        </a:rPr>
                        <a:t>3</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a:effectLst/>
                          <a:latin typeface="等线" panose="02010600030101010101" pitchFamily="2" charset="-122"/>
                          <a:ea typeface="等线" panose="02010600030101010101" pitchFamily="2" charset="-122"/>
                        </a:rPr>
                        <a:t>4</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a:effectLst/>
                          <a:latin typeface="等线" panose="02010600030101010101" pitchFamily="2" charset="-122"/>
                          <a:ea typeface="等线" panose="02010600030101010101" pitchFamily="2" charset="-122"/>
                        </a:rPr>
                        <a:t>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a:effectLst/>
                          <a:latin typeface="等线" panose="02010600030101010101" pitchFamily="2" charset="-122"/>
                          <a:ea typeface="等线" panose="02010600030101010101" pitchFamily="2" charset="-122"/>
                        </a:rPr>
                        <a:t>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a:effectLst/>
                          <a:latin typeface="等线" panose="02010600030101010101" pitchFamily="2" charset="-122"/>
                          <a:ea typeface="等线" panose="02010600030101010101" pitchFamily="2" charset="-122"/>
                        </a:rPr>
                        <a:t>7</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a:effectLst/>
                          <a:latin typeface="等线" panose="02010600030101010101" pitchFamily="2" charset="-122"/>
                          <a:ea typeface="等线" panose="02010600030101010101" pitchFamily="2" charset="-122"/>
                        </a:rPr>
                        <a:t>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9</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10</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11</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12</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extLst>
                  <a:ext uri="{0D108BD9-81ED-4DB2-BD59-A6C34878D82A}">
                    <a16:rowId xmlns:a16="http://schemas.microsoft.com/office/drawing/2014/main" val="762646225"/>
                  </a:ext>
                </a:extLst>
              </a:tr>
              <a:tr h="282306">
                <a:tc>
                  <a:txBody>
                    <a:bodyPr/>
                    <a:lstStyle/>
                    <a:p>
                      <a:pPr algn="ctr">
                        <a:spcAft>
                          <a:spcPts val="0"/>
                        </a:spcAft>
                      </a:pPr>
                      <a:r>
                        <a:rPr lang="en-US" altLang="zh-CN" sz="1500" kern="100" dirty="0">
                          <a:effectLst/>
                          <a:latin typeface="等线" panose="02010600030101010101" pitchFamily="2" charset="-122"/>
                          <a:ea typeface="等线" panose="02010600030101010101" pitchFamily="2" charset="-122"/>
                        </a:rPr>
                        <a:t>Ground</a:t>
                      </a:r>
                      <a:r>
                        <a:rPr lang="en-US" altLang="zh-CN" sz="1500" kern="100" baseline="0" dirty="0">
                          <a:effectLst/>
                          <a:latin typeface="等线" panose="02010600030101010101" pitchFamily="2" charset="-122"/>
                          <a:ea typeface="等线" panose="02010600030101010101" pitchFamily="2" charset="-122"/>
                        </a:rPr>
                        <a:t> Truth</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P</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P</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P</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P</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F</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extLst>
                  <a:ext uri="{0D108BD9-81ED-4DB2-BD59-A6C34878D82A}">
                    <a16:rowId xmlns:a16="http://schemas.microsoft.com/office/drawing/2014/main" val="1907940720"/>
                  </a:ext>
                </a:extLst>
              </a:tr>
              <a:tr h="416967">
                <a:tc>
                  <a:txBody>
                    <a:bodyPr/>
                    <a:lstStyle/>
                    <a:p>
                      <a:pPr algn="ctr">
                        <a:spcAft>
                          <a:spcPts val="0"/>
                        </a:spcAft>
                      </a:pPr>
                      <a:r>
                        <a:rPr lang="en-US" altLang="zh-CN" sz="1500" kern="100" baseline="0" dirty="0" err="1">
                          <a:effectLst/>
                          <a:latin typeface="等线" panose="02010600030101010101" pitchFamily="2" charset="-122"/>
                          <a:ea typeface="等线" panose="02010600030101010101" pitchFamily="2" charset="-122"/>
                        </a:rPr>
                        <a:t>Tempreture</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40</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39</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38.7</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38.6</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38.3</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38.1</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37.8</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37.6</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37.4</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500" kern="100" dirty="0">
                          <a:effectLst/>
                          <a:latin typeface="等线" panose="02010600030101010101" pitchFamily="2" charset="-122"/>
                          <a:ea typeface="等线" panose="02010600030101010101" pitchFamily="2" charset="-122"/>
                        </a:rPr>
                        <a:t>37.2</a:t>
                      </a:r>
                      <a:r>
                        <a:rPr lang="zh-CN" altLang="zh-CN" sz="1500" kern="100" dirty="0">
                          <a:effectLst/>
                          <a:latin typeface="等线" panose="02010600030101010101" pitchFamily="2" charset="-122"/>
                          <a:ea typeface="等线" panose="02010600030101010101" pitchFamily="2" charset="-122"/>
                        </a:rPr>
                        <a:t>°</a:t>
                      </a:r>
                      <a:r>
                        <a:rPr lang="en-US" altLang="zh-CN" sz="1500" kern="100" dirty="0">
                          <a:effectLst/>
                          <a:latin typeface="等线" panose="02010600030101010101" pitchFamily="2" charset="-122"/>
                          <a:ea typeface="等线" panose="02010600030101010101" pitchFamily="2" charset="-122"/>
                        </a:rPr>
                        <a:t>C</a:t>
                      </a:r>
                      <a:endParaRPr lang="zh-CN" alt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sz="1500" kern="100" dirty="0">
                          <a:effectLst/>
                          <a:latin typeface="等线" panose="02010600030101010101" pitchFamily="2" charset="-122"/>
                          <a:ea typeface="等线" panose="02010600030101010101" pitchFamily="2" charset="-122"/>
                        </a:rPr>
                        <a:t>37</a:t>
                      </a:r>
                      <a:r>
                        <a:rPr lang="zh-CN" sz="1500" kern="100" dirty="0">
                          <a:effectLst/>
                          <a:latin typeface="等线" panose="02010600030101010101" pitchFamily="2" charset="-122"/>
                          <a:ea typeface="等线" panose="02010600030101010101" pitchFamily="2" charset="-122"/>
                        </a:rPr>
                        <a:t>°</a:t>
                      </a:r>
                      <a:r>
                        <a:rPr lang="en-US"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tc>
                  <a:txBody>
                    <a:bodyPr/>
                    <a:lstStyle/>
                    <a:p>
                      <a:pPr algn="just">
                        <a:spcAft>
                          <a:spcPts val="0"/>
                        </a:spcAft>
                      </a:pPr>
                      <a:r>
                        <a:rPr lang="en-US" altLang="zh-CN" sz="1500" kern="100" dirty="0">
                          <a:effectLst/>
                          <a:latin typeface="等线" panose="02010600030101010101" pitchFamily="2" charset="-122"/>
                          <a:ea typeface="等线" panose="02010600030101010101" pitchFamily="2" charset="-122"/>
                        </a:rPr>
                        <a:t>36.6</a:t>
                      </a:r>
                      <a:r>
                        <a:rPr lang="zh-CN" altLang="zh-CN" sz="1500" kern="100" dirty="0">
                          <a:effectLst/>
                          <a:latin typeface="等线" panose="02010600030101010101" pitchFamily="2" charset="-122"/>
                          <a:ea typeface="等线" panose="02010600030101010101" pitchFamily="2" charset="-122"/>
                        </a:rPr>
                        <a:t>°</a:t>
                      </a:r>
                      <a:r>
                        <a:rPr lang="en-US" altLang="zh-CN" sz="1500" kern="100" dirty="0">
                          <a:effectLst/>
                          <a:latin typeface="等线" panose="02010600030101010101" pitchFamily="2" charset="-122"/>
                          <a:ea typeface="等线" panose="02010600030101010101" pitchFamily="2" charset="-122"/>
                        </a:rPr>
                        <a:t>C</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2197" marR="22197" marT="0" marB="0" anchor="ctr"/>
                </a:tc>
                <a:extLst>
                  <a:ext uri="{0D108BD9-81ED-4DB2-BD59-A6C34878D82A}">
                    <a16:rowId xmlns:a16="http://schemas.microsoft.com/office/drawing/2014/main" val="1646444074"/>
                  </a:ext>
                </a:extLst>
              </a:tr>
            </a:tbl>
          </a:graphicData>
        </a:graphic>
      </p:graphicFrame>
      <p:sp>
        <p:nvSpPr>
          <p:cNvPr id="3" name="文本框 2"/>
          <p:cNvSpPr txBox="1"/>
          <p:nvPr/>
        </p:nvSpPr>
        <p:spPr>
          <a:xfrm>
            <a:off x="1823241" y="3351271"/>
            <a:ext cx="2409634" cy="300082"/>
          </a:xfrm>
          <a:prstGeom prst="rect">
            <a:avLst/>
          </a:prstGeom>
          <a:noFill/>
        </p:spPr>
        <p:txBody>
          <a:bodyPr wrap="none" rtlCol="0">
            <a:spAutoFit/>
          </a:bodyPr>
          <a:lstStyle/>
          <a:p>
            <a:r>
              <a:rPr lang="en-US" altLang="zh-CN" sz="1350" dirty="0" err="1"/>
              <a:t>Threshhold</a:t>
            </a:r>
            <a:r>
              <a:rPr lang="en-US" altLang="zh-CN" sz="1350" dirty="0"/>
              <a:t> parameter T= 36  </a:t>
            </a:r>
            <a:endParaRPr lang="zh-CN" altLang="en-US" sz="1350" dirty="0"/>
          </a:p>
        </p:txBody>
      </p:sp>
      <p:graphicFrame>
        <p:nvGraphicFramePr>
          <p:cNvPr id="6" name="表格 5"/>
          <p:cNvGraphicFramePr>
            <a:graphicFrameLocks noGrp="1"/>
          </p:cNvGraphicFramePr>
          <p:nvPr/>
        </p:nvGraphicFramePr>
        <p:xfrm>
          <a:off x="2083593" y="3785593"/>
          <a:ext cx="1695097" cy="1090962"/>
        </p:xfrm>
        <a:graphic>
          <a:graphicData uri="http://schemas.openxmlformats.org/drawingml/2006/table">
            <a:tbl>
              <a:tblPr firstRow="1" firstCol="1" bandRow="1">
                <a:tableStyleId>{5C22544A-7EE6-4342-B048-85BDC9FD1C3A}</a:tableStyleId>
              </a:tblPr>
              <a:tblGrid>
                <a:gridCol w="511507">
                  <a:extLst>
                    <a:ext uri="{9D8B030D-6E8A-4147-A177-3AD203B41FA5}">
                      <a16:colId xmlns:a16="http://schemas.microsoft.com/office/drawing/2014/main" val="3530104396"/>
                    </a:ext>
                  </a:extLst>
                </a:gridCol>
                <a:gridCol w="591656">
                  <a:extLst>
                    <a:ext uri="{9D8B030D-6E8A-4147-A177-3AD203B41FA5}">
                      <a16:colId xmlns:a16="http://schemas.microsoft.com/office/drawing/2014/main" val="727676747"/>
                    </a:ext>
                  </a:extLst>
                </a:gridCol>
                <a:gridCol w="591934">
                  <a:extLst>
                    <a:ext uri="{9D8B030D-6E8A-4147-A177-3AD203B41FA5}">
                      <a16:colId xmlns:a16="http://schemas.microsoft.com/office/drawing/2014/main" val="972213509"/>
                    </a:ext>
                  </a:extLst>
                </a:gridCol>
              </a:tblGrid>
              <a:tr h="418370">
                <a:tc>
                  <a:txBody>
                    <a:bodyPr/>
                    <a:lstStyle/>
                    <a:p>
                      <a:pPr algn="just">
                        <a:spcAft>
                          <a:spcPts val="0"/>
                        </a:spcAft>
                      </a:pP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P</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a:effectLst/>
                        </a:rPr>
                        <a:t>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049074712"/>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4</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284900845"/>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98554015"/>
                  </a:ext>
                </a:extLst>
              </a:tr>
            </a:tbl>
          </a:graphicData>
        </a:graphic>
      </p:graphicFrame>
      <p:sp>
        <p:nvSpPr>
          <p:cNvPr id="7" name="文本框 6"/>
          <p:cNvSpPr txBox="1"/>
          <p:nvPr/>
        </p:nvSpPr>
        <p:spPr>
          <a:xfrm>
            <a:off x="4683458" y="3352414"/>
            <a:ext cx="716863" cy="300082"/>
          </a:xfrm>
          <a:prstGeom prst="rect">
            <a:avLst/>
          </a:prstGeom>
          <a:noFill/>
        </p:spPr>
        <p:txBody>
          <a:bodyPr wrap="none" rtlCol="0">
            <a:spAutoFit/>
          </a:bodyPr>
          <a:lstStyle/>
          <a:p>
            <a:r>
              <a:rPr lang="en-US" altLang="zh-CN" sz="1350" dirty="0"/>
              <a:t>T= 38  </a:t>
            </a:r>
            <a:endParaRPr lang="zh-CN" altLang="en-US" sz="1350" dirty="0"/>
          </a:p>
        </p:txBody>
      </p:sp>
      <p:graphicFrame>
        <p:nvGraphicFramePr>
          <p:cNvPr id="8" name="表格 7"/>
          <p:cNvGraphicFramePr>
            <a:graphicFrameLocks noGrp="1"/>
          </p:cNvGraphicFramePr>
          <p:nvPr/>
        </p:nvGraphicFramePr>
        <p:xfrm>
          <a:off x="4137796" y="3785593"/>
          <a:ext cx="1695097" cy="1090962"/>
        </p:xfrm>
        <a:graphic>
          <a:graphicData uri="http://schemas.openxmlformats.org/drawingml/2006/table">
            <a:tbl>
              <a:tblPr firstRow="1" firstCol="1" bandRow="1">
                <a:tableStyleId>{5C22544A-7EE6-4342-B048-85BDC9FD1C3A}</a:tableStyleId>
              </a:tblPr>
              <a:tblGrid>
                <a:gridCol w="511507">
                  <a:extLst>
                    <a:ext uri="{9D8B030D-6E8A-4147-A177-3AD203B41FA5}">
                      <a16:colId xmlns:a16="http://schemas.microsoft.com/office/drawing/2014/main" val="3530104396"/>
                    </a:ext>
                  </a:extLst>
                </a:gridCol>
                <a:gridCol w="591656">
                  <a:extLst>
                    <a:ext uri="{9D8B030D-6E8A-4147-A177-3AD203B41FA5}">
                      <a16:colId xmlns:a16="http://schemas.microsoft.com/office/drawing/2014/main" val="727676747"/>
                    </a:ext>
                  </a:extLst>
                </a:gridCol>
                <a:gridCol w="591934">
                  <a:extLst>
                    <a:ext uri="{9D8B030D-6E8A-4147-A177-3AD203B41FA5}">
                      <a16:colId xmlns:a16="http://schemas.microsoft.com/office/drawing/2014/main" val="972213509"/>
                    </a:ext>
                  </a:extLst>
                </a:gridCol>
              </a:tblGrid>
              <a:tr h="418370">
                <a:tc>
                  <a:txBody>
                    <a:bodyPr/>
                    <a:lstStyle/>
                    <a:p>
                      <a:pPr algn="just">
                        <a:spcAft>
                          <a:spcPts val="0"/>
                        </a:spcAft>
                      </a:pP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P</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a:effectLst/>
                        </a:rPr>
                        <a:t>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049074712"/>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marL="0" algn="ctr">
                        <a:spcAft>
                          <a:spcPts val="0"/>
                        </a:spcAft>
                      </a:pPr>
                      <a:r>
                        <a:rPr lang="en-US" altLang="zh-CN" sz="1800" kern="100" dirty="0">
                          <a:solidFill>
                            <a:schemeClr val="dk1"/>
                          </a:solidFill>
                          <a:effectLst/>
                          <a:latin typeface="+mn-lt"/>
                          <a:ea typeface="+mn-ea"/>
                          <a:cs typeface="+mn-cs"/>
                        </a:rPr>
                        <a:t>3</a:t>
                      </a:r>
                      <a:endParaRPr lang="zh-CN" sz="1800" kern="100" dirty="0">
                        <a:solidFill>
                          <a:schemeClr val="dk1"/>
                        </a:solidFill>
                        <a:effectLst/>
                        <a:latin typeface="+mn-lt"/>
                        <a:ea typeface="+mn-ea"/>
                        <a:cs typeface="+mn-cs"/>
                      </a:endParaRPr>
                    </a:p>
                  </a:txBody>
                  <a:tcPr marL="24084" marR="24084" marT="0" marB="0"/>
                </a:tc>
                <a:tc>
                  <a:txBody>
                    <a:bodyPr/>
                    <a:lstStyle/>
                    <a:p>
                      <a:pPr algn="ctr">
                        <a:spcAft>
                          <a:spcPts val="0"/>
                        </a:spcAft>
                      </a:pPr>
                      <a:r>
                        <a:rPr lang="en-US" altLang="zh-CN" sz="1800" kern="100" dirty="0">
                          <a:effectLst/>
                          <a:latin typeface="+mn-lt"/>
                          <a:ea typeface="+mn-ea"/>
                          <a:cs typeface="+mn-cs"/>
                        </a:rPr>
                        <a:t>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284900845"/>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5</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98554015"/>
                  </a:ext>
                </a:extLst>
              </a:tr>
            </a:tbl>
          </a:graphicData>
        </a:graphic>
      </p:graphicFrame>
      <p:sp>
        <p:nvSpPr>
          <p:cNvPr id="9" name="文本框 8"/>
          <p:cNvSpPr txBox="1"/>
          <p:nvPr/>
        </p:nvSpPr>
        <p:spPr>
          <a:xfrm>
            <a:off x="6767331" y="3352414"/>
            <a:ext cx="798617" cy="300082"/>
          </a:xfrm>
          <a:prstGeom prst="rect">
            <a:avLst/>
          </a:prstGeom>
          <a:noFill/>
        </p:spPr>
        <p:txBody>
          <a:bodyPr wrap="none" rtlCol="0">
            <a:spAutoFit/>
          </a:bodyPr>
          <a:lstStyle/>
          <a:p>
            <a:r>
              <a:rPr lang="en-US" altLang="zh-CN" sz="1350" dirty="0"/>
              <a:t>T= 38.5 </a:t>
            </a:r>
            <a:endParaRPr lang="zh-CN" altLang="en-US" sz="1350" dirty="0"/>
          </a:p>
        </p:txBody>
      </p:sp>
      <p:graphicFrame>
        <p:nvGraphicFramePr>
          <p:cNvPr id="10" name="表格 9"/>
          <p:cNvGraphicFramePr>
            <a:graphicFrameLocks noGrp="1"/>
          </p:cNvGraphicFramePr>
          <p:nvPr/>
        </p:nvGraphicFramePr>
        <p:xfrm>
          <a:off x="6191999" y="3789020"/>
          <a:ext cx="1695097" cy="1090962"/>
        </p:xfrm>
        <a:graphic>
          <a:graphicData uri="http://schemas.openxmlformats.org/drawingml/2006/table">
            <a:tbl>
              <a:tblPr firstRow="1" firstCol="1" bandRow="1">
                <a:tableStyleId>{5C22544A-7EE6-4342-B048-85BDC9FD1C3A}</a:tableStyleId>
              </a:tblPr>
              <a:tblGrid>
                <a:gridCol w="511507">
                  <a:extLst>
                    <a:ext uri="{9D8B030D-6E8A-4147-A177-3AD203B41FA5}">
                      <a16:colId xmlns:a16="http://schemas.microsoft.com/office/drawing/2014/main" val="3530104396"/>
                    </a:ext>
                  </a:extLst>
                </a:gridCol>
                <a:gridCol w="591656">
                  <a:extLst>
                    <a:ext uri="{9D8B030D-6E8A-4147-A177-3AD203B41FA5}">
                      <a16:colId xmlns:a16="http://schemas.microsoft.com/office/drawing/2014/main" val="727676747"/>
                    </a:ext>
                  </a:extLst>
                </a:gridCol>
                <a:gridCol w="591934">
                  <a:extLst>
                    <a:ext uri="{9D8B030D-6E8A-4147-A177-3AD203B41FA5}">
                      <a16:colId xmlns:a16="http://schemas.microsoft.com/office/drawing/2014/main" val="972213509"/>
                    </a:ext>
                  </a:extLst>
                </a:gridCol>
              </a:tblGrid>
              <a:tr h="418370">
                <a:tc>
                  <a:txBody>
                    <a:bodyPr/>
                    <a:lstStyle/>
                    <a:p>
                      <a:pPr algn="just">
                        <a:spcAft>
                          <a:spcPts val="0"/>
                        </a:spcAft>
                      </a:pP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P</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a:effectLst/>
                        </a:rPr>
                        <a:t>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049074712"/>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284900845"/>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6</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98554015"/>
                  </a:ext>
                </a:extLst>
              </a:tr>
            </a:tbl>
          </a:graphicData>
        </a:graphic>
      </p:graphicFrame>
      <p:sp>
        <p:nvSpPr>
          <p:cNvPr id="11" name="文本框 10"/>
          <p:cNvSpPr txBox="1"/>
          <p:nvPr/>
        </p:nvSpPr>
        <p:spPr>
          <a:xfrm>
            <a:off x="8791864" y="3351271"/>
            <a:ext cx="846707" cy="300082"/>
          </a:xfrm>
          <a:prstGeom prst="rect">
            <a:avLst/>
          </a:prstGeom>
          <a:noFill/>
        </p:spPr>
        <p:txBody>
          <a:bodyPr wrap="none" rtlCol="0">
            <a:spAutoFit/>
          </a:bodyPr>
          <a:lstStyle/>
          <a:p>
            <a:r>
              <a:rPr lang="en-US" altLang="zh-CN" sz="1350" dirty="0"/>
              <a:t>T= 38.8  </a:t>
            </a:r>
            <a:endParaRPr lang="zh-CN" altLang="en-US" sz="1350" dirty="0"/>
          </a:p>
        </p:txBody>
      </p:sp>
      <p:graphicFrame>
        <p:nvGraphicFramePr>
          <p:cNvPr id="12" name="表格 11"/>
          <p:cNvGraphicFramePr>
            <a:graphicFrameLocks noGrp="1"/>
          </p:cNvGraphicFramePr>
          <p:nvPr/>
        </p:nvGraphicFramePr>
        <p:xfrm>
          <a:off x="8246202" y="3792859"/>
          <a:ext cx="1695097" cy="1090962"/>
        </p:xfrm>
        <a:graphic>
          <a:graphicData uri="http://schemas.openxmlformats.org/drawingml/2006/table">
            <a:tbl>
              <a:tblPr firstRow="1" firstCol="1" bandRow="1">
                <a:tableStyleId>{5C22544A-7EE6-4342-B048-85BDC9FD1C3A}</a:tableStyleId>
              </a:tblPr>
              <a:tblGrid>
                <a:gridCol w="511507">
                  <a:extLst>
                    <a:ext uri="{9D8B030D-6E8A-4147-A177-3AD203B41FA5}">
                      <a16:colId xmlns:a16="http://schemas.microsoft.com/office/drawing/2014/main" val="3530104396"/>
                    </a:ext>
                  </a:extLst>
                </a:gridCol>
                <a:gridCol w="591656">
                  <a:extLst>
                    <a:ext uri="{9D8B030D-6E8A-4147-A177-3AD203B41FA5}">
                      <a16:colId xmlns:a16="http://schemas.microsoft.com/office/drawing/2014/main" val="727676747"/>
                    </a:ext>
                  </a:extLst>
                </a:gridCol>
                <a:gridCol w="591934">
                  <a:extLst>
                    <a:ext uri="{9D8B030D-6E8A-4147-A177-3AD203B41FA5}">
                      <a16:colId xmlns:a16="http://schemas.microsoft.com/office/drawing/2014/main" val="972213509"/>
                    </a:ext>
                  </a:extLst>
                </a:gridCol>
              </a:tblGrid>
              <a:tr h="418370">
                <a:tc>
                  <a:txBody>
                    <a:bodyPr/>
                    <a:lstStyle/>
                    <a:p>
                      <a:pPr algn="just">
                        <a:spcAft>
                          <a:spcPts val="0"/>
                        </a:spcAft>
                      </a:pP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dirty="0">
                          <a:effectLst/>
                        </a:rPr>
                        <a:t>P</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sz="1800" kern="100">
                          <a:effectLst/>
                        </a:rPr>
                        <a:t>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049074712"/>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marL="0" algn="ctr">
                        <a:spcAft>
                          <a:spcPts val="0"/>
                        </a:spcAft>
                      </a:pPr>
                      <a:r>
                        <a:rPr lang="en-US" altLang="zh-CN" sz="1800" kern="100" dirty="0">
                          <a:solidFill>
                            <a:schemeClr val="dk1"/>
                          </a:solidFill>
                          <a:effectLst/>
                          <a:latin typeface="+mn-lt"/>
                          <a:ea typeface="+mn-ea"/>
                          <a:cs typeface="+mn-cs"/>
                        </a:rPr>
                        <a:t>2</a:t>
                      </a:r>
                      <a:endParaRPr lang="zh-CN" sz="1800" kern="100" dirty="0">
                        <a:solidFill>
                          <a:schemeClr val="dk1"/>
                        </a:solidFill>
                        <a:effectLst/>
                        <a:latin typeface="+mn-lt"/>
                        <a:ea typeface="+mn-ea"/>
                        <a:cs typeface="+mn-cs"/>
                      </a:endParaRPr>
                    </a:p>
                  </a:txBody>
                  <a:tcPr marL="24084" marR="24084" marT="0" marB="0"/>
                </a:tc>
                <a:tc>
                  <a:txBody>
                    <a:bodyPr/>
                    <a:lstStyle/>
                    <a:p>
                      <a:pPr algn="ctr">
                        <a:spcAft>
                          <a:spcPts val="0"/>
                        </a:spcAft>
                      </a:pPr>
                      <a:r>
                        <a:rPr lang="en-US" altLang="zh-CN" sz="1800" kern="100" dirty="0">
                          <a:effectLst/>
                          <a:latin typeface="+mn-lt"/>
                          <a:ea typeface="+mn-ea"/>
                          <a:cs typeface="+mn-cs"/>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284900845"/>
                  </a:ext>
                </a:extLst>
              </a:tr>
              <a:tr h="336296">
                <a:tc>
                  <a:txBody>
                    <a:bodyPr/>
                    <a:lstStyle/>
                    <a:p>
                      <a:pPr algn="ctr">
                        <a:spcAft>
                          <a:spcPts val="0"/>
                        </a:spcAft>
                      </a:pPr>
                      <a:r>
                        <a:rPr lang="en-US" altLang="zh-CN" sz="1800" kern="100" dirty="0">
                          <a:effectLst/>
                          <a:latin typeface="+mn-lt"/>
                          <a:ea typeface="+mn-ea"/>
                          <a:cs typeface="+mn-cs"/>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tc>
                  <a:txBody>
                    <a:bodyPr/>
                    <a:lstStyle/>
                    <a:p>
                      <a:pPr algn="ctr">
                        <a:spcAft>
                          <a:spcPts val="0"/>
                        </a:spcAft>
                      </a:pPr>
                      <a:r>
                        <a:rPr lang="en-US" altLang="zh-CN" sz="1800" kern="100" dirty="0">
                          <a:effectLst/>
                          <a:latin typeface="+mn-lt"/>
                          <a:ea typeface="+mn-ea"/>
                          <a:cs typeface="+mn-cs"/>
                        </a:rPr>
                        <a:t>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4084" marR="24084" marT="0" marB="0"/>
                </a:tc>
                <a:extLst>
                  <a:ext uri="{0D108BD9-81ED-4DB2-BD59-A6C34878D82A}">
                    <a16:rowId xmlns:a16="http://schemas.microsoft.com/office/drawing/2014/main" val="198554015"/>
                  </a:ext>
                </a:extLst>
              </a:tr>
            </a:tbl>
          </a:graphicData>
        </a:graphic>
      </p:graphicFrame>
      <p:sp>
        <p:nvSpPr>
          <p:cNvPr id="5" name="文本框 4"/>
          <p:cNvSpPr txBox="1"/>
          <p:nvPr/>
        </p:nvSpPr>
        <p:spPr>
          <a:xfrm>
            <a:off x="4580982" y="5048499"/>
            <a:ext cx="994183" cy="300082"/>
          </a:xfrm>
          <a:prstGeom prst="rect">
            <a:avLst/>
          </a:prstGeom>
          <a:noFill/>
        </p:spPr>
        <p:txBody>
          <a:bodyPr wrap="none" rtlCol="0">
            <a:spAutoFit/>
          </a:bodyPr>
          <a:lstStyle/>
          <a:p>
            <a:r>
              <a:rPr lang="en-US" altLang="zh-CN" sz="1350" dirty="0"/>
              <a:t>TPR = 0.75</a:t>
            </a:r>
            <a:endParaRPr lang="zh-CN" altLang="en-US" sz="1350" dirty="0"/>
          </a:p>
        </p:txBody>
      </p:sp>
      <p:sp>
        <p:nvSpPr>
          <p:cNvPr id="14" name="文本框 13"/>
          <p:cNvSpPr txBox="1"/>
          <p:nvPr/>
        </p:nvSpPr>
        <p:spPr>
          <a:xfrm>
            <a:off x="4592688" y="5335495"/>
            <a:ext cx="1077539" cy="300082"/>
          </a:xfrm>
          <a:prstGeom prst="rect">
            <a:avLst/>
          </a:prstGeom>
          <a:noFill/>
        </p:spPr>
        <p:txBody>
          <a:bodyPr wrap="none" rtlCol="0">
            <a:spAutoFit/>
          </a:bodyPr>
          <a:lstStyle/>
          <a:p>
            <a:r>
              <a:rPr lang="en-US" altLang="zh-CN" sz="1350" dirty="0"/>
              <a:t>FPR = 0.375</a:t>
            </a:r>
            <a:endParaRPr lang="zh-CN" altLang="en-US" sz="1350" dirty="0"/>
          </a:p>
        </p:txBody>
      </p:sp>
      <p:sp>
        <p:nvSpPr>
          <p:cNvPr id="15" name="文本框 14"/>
          <p:cNvSpPr txBox="1"/>
          <p:nvPr/>
        </p:nvSpPr>
        <p:spPr>
          <a:xfrm>
            <a:off x="2519639" y="5048499"/>
            <a:ext cx="772969" cy="300082"/>
          </a:xfrm>
          <a:prstGeom prst="rect">
            <a:avLst/>
          </a:prstGeom>
          <a:noFill/>
        </p:spPr>
        <p:txBody>
          <a:bodyPr wrap="none" rtlCol="0">
            <a:spAutoFit/>
          </a:bodyPr>
          <a:lstStyle/>
          <a:p>
            <a:r>
              <a:rPr lang="en-US" altLang="zh-CN" sz="1350" dirty="0"/>
              <a:t>TPR = 1</a:t>
            </a:r>
            <a:endParaRPr lang="zh-CN" altLang="en-US" sz="1350" dirty="0"/>
          </a:p>
        </p:txBody>
      </p:sp>
      <p:sp>
        <p:nvSpPr>
          <p:cNvPr id="16" name="文本框 15"/>
          <p:cNvSpPr txBox="1"/>
          <p:nvPr/>
        </p:nvSpPr>
        <p:spPr>
          <a:xfrm>
            <a:off x="2531346" y="5335495"/>
            <a:ext cx="764953" cy="300082"/>
          </a:xfrm>
          <a:prstGeom prst="rect">
            <a:avLst/>
          </a:prstGeom>
          <a:noFill/>
        </p:spPr>
        <p:txBody>
          <a:bodyPr wrap="none" rtlCol="0">
            <a:spAutoFit/>
          </a:bodyPr>
          <a:lstStyle/>
          <a:p>
            <a:r>
              <a:rPr lang="en-US" altLang="zh-CN" sz="1350" dirty="0"/>
              <a:t>FPR = 1</a:t>
            </a:r>
            <a:endParaRPr lang="zh-CN" altLang="en-US" sz="1350" dirty="0"/>
          </a:p>
        </p:txBody>
      </p:sp>
      <p:sp>
        <p:nvSpPr>
          <p:cNvPr id="17" name="文本框 16"/>
          <p:cNvSpPr txBox="1"/>
          <p:nvPr/>
        </p:nvSpPr>
        <p:spPr>
          <a:xfrm>
            <a:off x="6584589" y="5024299"/>
            <a:ext cx="902811" cy="300082"/>
          </a:xfrm>
          <a:prstGeom prst="rect">
            <a:avLst/>
          </a:prstGeom>
          <a:noFill/>
        </p:spPr>
        <p:txBody>
          <a:bodyPr wrap="none" rtlCol="0">
            <a:spAutoFit/>
          </a:bodyPr>
          <a:lstStyle/>
          <a:p>
            <a:r>
              <a:rPr lang="en-US" altLang="zh-CN" sz="1350" dirty="0"/>
              <a:t>TPR = 0.5</a:t>
            </a:r>
            <a:endParaRPr lang="zh-CN" altLang="en-US" sz="1350" dirty="0"/>
          </a:p>
        </p:txBody>
      </p:sp>
      <p:sp>
        <p:nvSpPr>
          <p:cNvPr id="18" name="文本框 17"/>
          <p:cNvSpPr txBox="1"/>
          <p:nvPr/>
        </p:nvSpPr>
        <p:spPr>
          <a:xfrm>
            <a:off x="6596295" y="5311295"/>
            <a:ext cx="986167" cy="300082"/>
          </a:xfrm>
          <a:prstGeom prst="rect">
            <a:avLst/>
          </a:prstGeom>
          <a:noFill/>
        </p:spPr>
        <p:txBody>
          <a:bodyPr wrap="none" rtlCol="0">
            <a:spAutoFit/>
          </a:bodyPr>
          <a:lstStyle/>
          <a:p>
            <a:r>
              <a:rPr lang="en-US" altLang="zh-CN" sz="1350" dirty="0"/>
              <a:t>FPR = 0.25</a:t>
            </a:r>
            <a:endParaRPr lang="zh-CN" altLang="en-US" sz="1350" dirty="0"/>
          </a:p>
        </p:txBody>
      </p:sp>
      <p:sp>
        <p:nvSpPr>
          <p:cNvPr id="19" name="文本框 18"/>
          <p:cNvSpPr txBox="1"/>
          <p:nvPr/>
        </p:nvSpPr>
        <p:spPr>
          <a:xfrm>
            <a:off x="8593005" y="5005430"/>
            <a:ext cx="902811" cy="300082"/>
          </a:xfrm>
          <a:prstGeom prst="rect">
            <a:avLst/>
          </a:prstGeom>
          <a:noFill/>
        </p:spPr>
        <p:txBody>
          <a:bodyPr wrap="none" rtlCol="0">
            <a:spAutoFit/>
          </a:bodyPr>
          <a:lstStyle/>
          <a:p>
            <a:r>
              <a:rPr lang="en-US" altLang="zh-CN" sz="1350" dirty="0"/>
              <a:t>TPR = 0.5</a:t>
            </a:r>
            <a:endParaRPr lang="zh-CN" altLang="en-US" sz="1350" dirty="0"/>
          </a:p>
        </p:txBody>
      </p:sp>
      <p:sp>
        <p:nvSpPr>
          <p:cNvPr id="20" name="文本框 19"/>
          <p:cNvSpPr txBox="1"/>
          <p:nvPr/>
        </p:nvSpPr>
        <p:spPr>
          <a:xfrm>
            <a:off x="8604711" y="5292426"/>
            <a:ext cx="764953" cy="300082"/>
          </a:xfrm>
          <a:prstGeom prst="rect">
            <a:avLst/>
          </a:prstGeom>
          <a:noFill/>
        </p:spPr>
        <p:txBody>
          <a:bodyPr wrap="none" rtlCol="0">
            <a:spAutoFit/>
          </a:bodyPr>
          <a:lstStyle/>
          <a:p>
            <a:r>
              <a:rPr lang="en-US" altLang="zh-CN" sz="1350" dirty="0"/>
              <a:t>FPR = 0</a:t>
            </a:r>
            <a:endParaRPr lang="zh-CN" altLang="en-US" sz="1350" dirty="0"/>
          </a:p>
        </p:txBody>
      </p:sp>
      <p:sp>
        <p:nvSpPr>
          <p:cNvPr id="13" name="文本框 12">
            <a:extLst>
              <a:ext uri="{FF2B5EF4-FFF2-40B4-BE49-F238E27FC236}">
                <a16:creationId xmlns:a16="http://schemas.microsoft.com/office/drawing/2014/main" id="{B291A1C0-B6BA-0B49-1C4A-3F099BC42D14}"/>
              </a:ext>
            </a:extLst>
          </p:cNvPr>
          <p:cNvSpPr txBox="1"/>
          <p:nvPr/>
        </p:nvSpPr>
        <p:spPr>
          <a:xfrm>
            <a:off x="1760112" y="2849800"/>
            <a:ext cx="2560316" cy="300082"/>
          </a:xfrm>
          <a:prstGeom prst="rect">
            <a:avLst/>
          </a:prstGeom>
          <a:noFill/>
        </p:spPr>
        <p:txBody>
          <a:bodyPr wrap="none" rtlCol="0">
            <a:spAutoFit/>
          </a:bodyPr>
          <a:lstStyle/>
          <a:p>
            <a:r>
              <a:rPr lang="zh-CN" altLang="en-US" sz="1350" dirty="0"/>
              <a:t>体温超过阈值判为 </a:t>
            </a:r>
            <a:r>
              <a:rPr lang="en-US" altLang="zh-CN" sz="1350" dirty="0"/>
              <a:t>+</a:t>
            </a:r>
            <a:r>
              <a:rPr lang="zh-CN" altLang="en-US" sz="1350" dirty="0"/>
              <a:t>，否则为 </a:t>
            </a:r>
            <a:r>
              <a:rPr lang="en-US" altLang="zh-CN" sz="1350" dirty="0"/>
              <a:t>-</a:t>
            </a:r>
            <a:endParaRPr lang="zh-CN" altLang="en-US" sz="1350" dirty="0"/>
          </a:p>
        </p:txBody>
      </p:sp>
    </p:spTree>
    <p:extLst>
      <p:ext uri="{BB962C8B-B14F-4D97-AF65-F5344CB8AC3E}">
        <p14:creationId xmlns:p14="http://schemas.microsoft.com/office/powerpoint/2010/main" val="3132654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8EB370-5786-C08A-20CE-46A7C305BA51}"/>
              </a:ext>
            </a:extLst>
          </p:cNvPr>
          <p:cNvSpPr>
            <a:spLocks noGrp="1"/>
          </p:cNvSpPr>
          <p:nvPr>
            <p:ph type="title"/>
          </p:nvPr>
        </p:nvSpPr>
        <p:spPr>
          <a:xfrm>
            <a:off x="3802395" y="742593"/>
            <a:ext cx="4587209" cy="2852737"/>
          </a:xfrm>
        </p:spPr>
        <p:txBody>
          <a:bodyPr/>
          <a:lstStyle/>
          <a:p>
            <a:r>
              <a:rPr lang="zh-CN" altLang="en-US" b="1" dirty="0">
                <a:solidFill>
                  <a:srgbClr val="002060"/>
                </a:solidFill>
                <a:latin typeface="+mn-ea"/>
                <a:ea typeface="+mn-ea"/>
              </a:rPr>
              <a:t>方法小复习</a:t>
            </a:r>
          </a:p>
        </p:txBody>
      </p:sp>
      <p:sp>
        <p:nvSpPr>
          <p:cNvPr id="4" name="灯片编号占位符 3">
            <a:extLst>
              <a:ext uri="{FF2B5EF4-FFF2-40B4-BE49-F238E27FC236}">
                <a16:creationId xmlns:a16="http://schemas.microsoft.com/office/drawing/2014/main" id="{45C6D1BC-B011-820E-0C97-E19D66974D0B}"/>
              </a:ext>
            </a:extLst>
          </p:cNvPr>
          <p:cNvSpPr>
            <a:spLocks noGrp="1"/>
          </p:cNvSpPr>
          <p:nvPr>
            <p:ph type="sldNum" sz="quarter" idx="12"/>
          </p:nvPr>
        </p:nvSpPr>
        <p:spPr/>
        <p:txBody>
          <a:bodyPr/>
          <a:lstStyle/>
          <a:p>
            <a:fld id="{DA04A3ED-EE7A-4E19-90BC-E8E086817459}" type="slidenum">
              <a:rPr lang="zh-CN" altLang="en-US" smtClean="0"/>
              <a:t>18</a:t>
            </a:fld>
            <a:endParaRPr lang="zh-CN" altLang="en-US"/>
          </a:p>
        </p:txBody>
      </p:sp>
    </p:spTree>
    <p:extLst>
      <p:ext uri="{BB962C8B-B14F-4D97-AF65-F5344CB8AC3E}">
        <p14:creationId xmlns:p14="http://schemas.microsoft.com/office/powerpoint/2010/main" val="952933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2754" y="276637"/>
            <a:ext cx="7886700" cy="1325563"/>
          </a:xfrm>
        </p:spPr>
        <p:txBody>
          <a:bodyPr/>
          <a:lstStyle/>
          <a:p>
            <a:r>
              <a:rPr lang="en-US" altLang="zh-CN" b="1" dirty="0"/>
              <a:t>1. </a:t>
            </a:r>
            <a:r>
              <a:rPr lang="zh-CN" altLang="en-US" b="1" dirty="0"/>
              <a:t>感知机</a:t>
            </a:r>
            <a:endParaRPr lang="zh-CN" altLang="en-US" dirty="0"/>
          </a:p>
        </p:txBody>
      </p:sp>
      <p:sp>
        <p:nvSpPr>
          <p:cNvPr id="3" name="内容占位符 2"/>
          <p:cNvSpPr>
            <a:spLocks noGrp="1"/>
          </p:cNvSpPr>
          <p:nvPr>
            <p:ph idx="1"/>
          </p:nvPr>
        </p:nvSpPr>
        <p:spPr>
          <a:xfrm>
            <a:off x="2387900" y="2246132"/>
            <a:ext cx="5915025" cy="3263504"/>
          </a:xfrm>
        </p:spPr>
        <p:txBody>
          <a:bodyPr>
            <a:normAutofit lnSpcReduction="10000"/>
          </a:bodyPr>
          <a:lstStyle/>
          <a:p>
            <a:r>
              <a:rPr lang="zh-CN" altLang="en-US" dirty="0"/>
              <a:t>感知机模型</a:t>
            </a:r>
            <a:endParaRPr lang="en-US" altLang="zh-CN" dirty="0"/>
          </a:p>
          <a:p>
            <a:endParaRPr lang="en-US" altLang="zh-CN" dirty="0"/>
          </a:p>
          <a:p>
            <a:pPr marL="0" indent="0">
              <a:buNone/>
            </a:pPr>
            <a:endParaRPr lang="en-US" altLang="zh-CN" dirty="0"/>
          </a:p>
          <a:p>
            <a:r>
              <a:rPr lang="zh-CN" altLang="en-US" dirty="0"/>
              <a:t>策略</a:t>
            </a:r>
            <a:endParaRPr lang="en-US" altLang="zh-CN" dirty="0"/>
          </a:p>
          <a:p>
            <a:endParaRPr lang="en-US" altLang="zh-CN" dirty="0"/>
          </a:p>
          <a:p>
            <a:endParaRPr lang="en-US" altLang="zh-CN" dirty="0"/>
          </a:p>
          <a:p>
            <a:r>
              <a:rPr lang="zh-CN" altLang="en-US" dirty="0"/>
              <a:t>算法</a:t>
            </a:r>
            <a:endParaRPr lang="en-US" altLang="zh-CN" dirty="0"/>
          </a:p>
        </p:txBody>
      </p:sp>
      <p:pic>
        <p:nvPicPr>
          <p:cNvPr id="2050" name="Picture 2" descr="Perceptr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3902" y="15185"/>
            <a:ext cx="4893835" cy="2311396"/>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a:extLst>
              <a:ext uri="{FF2B5EF4-FFF2-40B4-BE49-F238E27FC236}">
                <a16:creationId xmlns:a16="http://schemas.microsoft.com/office/drawing/2014/main" id="{38A8F5A2-36CD-214E-931A-DAEE7D4422E1}"/>
              </a:ext>
            </a:extLst>
          </p:cNvPr>
          <p:cNvSpPr>
            <a:spLocks noGrp="1"/>
          </p:cNvSpPr>
          <p:nvPr>
            <p:ph type="sldNum" sz="quarter" idx="12"/>
          </p:nvPr>
        </p:nvSpPr>
        <p:spPr/>
        <p:txBody>
          <a:bodyPr/>
          <a:lstStyle/>
          <a:p>
            <a:fld id="{DA04A3ED-EE7A-4E19-90BC-E8E086817459}" type="slidenum">
              <a:rPr lang="zh-CN" altLang="en-US" smtClean="0"/>
              <a:t>19</a:t>
            </a:fld>
            <a:endParaRPr lang="zh-CN" altLang="en-US"/>
          </a:p>
        </p:txBody>
      </p:sp>
    </p:spTree>
    <p:extLst>
      <p:ext uri="{BB962C8B-B14F-4D97-AF65-F5344CB8AC3E}">
        <p14:creationId xmlns:p14="http://schemas.microsoft.com/office/powerpoint/2010/main" val="1942467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 K</a:t>
            </a:r>
            <a:r>
              <a:rPr lang="zh-CN" altLang="en-US" b="1" dirty="0"/>
              <a:t>近邻分类器</a:t>
            </a:r>
            <a:endParaRPr lang="zh-CN" altLang="en-US" dirty="0"/>
          </a:p>
        </p:txBody>
      </p:sp>
      <p:sp>
        <p:nvSpPr>
          <p:cNvPr id="3" name="内容占位符 2"/>
          <p:cNvSpPr>
            <a:spLocks noGrp="1"/>
          </p:cNvSpPr>
          <p:nvPr>
            <p:ph idx="1"/>
          </p:nvPr>
        </p:nvSpPr>
        <p:spPr>
          <a:xfrm>
            <a:off x="2152651" y="2295294"/>
            <a:ext cx="5915025" cy="3263504"/>
          </a:xfrm>
        </p:spPr>
        <p:txBody>
          <a:bodyPr>
            <a:normAutofit lnSpcReduction="10000"/>
          </a:bodyPr>
          <a:lstStyle/>
          <a:p>
            <a:r>
              <a:rPr lang="zh-CN" altLang="en-US" dirty="0"/>
              <a:t>距离</a:t>
            </a:r>
            <a:endParaRPr lang="en-US" altLang="zh-CN" dirty="0"/>
          </a:p>
          <a:p>
            <a:pPr marL="0" indent="0">
              <a:buNone/>
            </a:pPr>
            <a:endParaRPr lang="en-US" altLang="zh-CN" dirty="0"/>
          </a:p>
          <a:p>
            <a:r>
              <a:rPr lang="en-US" altLang="zh-CN" dirty="0"/>
              <a:t>K</a:t>
            </a:r>
            <a:r>
              <a:rPr lang="zh-CN" altLang="en-US" dirty="0"/>
              <a:t>值的选择</a:t>
            </a:r>
            <a:endParaRPr lang="en-US" altLang="zh-CN" dirty="0"/>
          </a:p>
          <a:p>
            <a:pPr marL="0" indent="0">
              <a:buNone/>
            </a:pPr>
            <a:endParaRPr lang="en-US" altLang="zh-CN" dirty="0"/>
          </a:p>
          <a:p>
            <a:r>
              <a:rPr lang="zh-CN" altLang="en-US" dirty="0"/>
              <a:t>决策规则</a:t>
            </a:r>
            <a:endParaRPr lang="en-US" altLang="zh-CN" dirty="0"/>
          </a:p>
          <a:p>
            <a:endParaRPr lang="en-US" altLang="zh-CN" dirty="0"/>
          </a:p>
          <a:p>
            <a:r>
              <a:rPr lang="en-US" altLang="zh-CN" dirty="0">
                <a:solidFill>
                  <a:srgbClr val="C00000"/>
                </a:solidFill>
              </a:rPr>
              <a:t>**K</a:t>
            </a:r>
            <a:r>
              <a:rPr lang="zh-CN" altLang="en-US" dirty="0">
                <a:solidFill>
                  <a:srgbClr val="C00000"/>
                </a:solidFill>
              </a:rPr>
              <a:t>近邻算法平均错误概率</a:t>
            </a:r>
            <a:endParaRPr lang="en-US" altLang="zh-CN" dirty="0">
              <a:solidFill>
                <a:srgbClr val="C00000"/>
              </a:solidFill>
            </a:endParaRPr>
          </a:p>
        </p:txBody>
      </p:sp>
      <p:pic>
        <p:nvPicPr>
          <p:cNvPr id="3074" name="Picture 2" descr="K-Nearest Neighbors (KNN) Algorithm | by Afroz Chakure | DataDrivenInves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4369" y="1497741"/>
            <a:ext cx="4315163" cy="3342846"/>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a:extLst>
              <a:ext uri="{FF2B5EF4-FFF2-40B4-BE49-F238E27FC236}">
                <a16:creationId xmlns:a16="http://schemas.microsoft.com/office/drawing/2014/main" id="{FF5E2054-076A-31BC-40EE-4217BA06A146}"/>
              </a:ext>
            </a:extLst>
          </p:cNvPr>
          <p:cNvSpPr>
            <a:spLocks noGrp="1"/>
          </p:cNvSpPr>
          <p:nvPr>
            <p:ph type="sldNum" sz="quarter" idx="12"/>
          </p:nvPr>
        </p:nvSpPr>
        <p:spPr/>
        <p:txBody>
          <a:bodyPr/>
          <a:lstStyle/>
          <a:p>
            <a:fld id="{DA04A3ED-EE7A-4E19-90BC-E8E086817459}" type="slidenum">
              <a:rPr lang="zh-CN" altLang="en-US" smtClean="0"/>
              <a:t>20</a:t>
            </a:fld>
            <a:endParaRPr lang="zh-CN" altLang="en-US"/>
          </a:p>
        </p:txBody>
      </p:sp>
    </p:spTree>
    <p:extLst>
      <p:ext uri="{BB962C8B-B14F-4D97-AF65-F5344CB8AC3E}">
        <p14:creationId xmlns:p14="http://schemas.microsoft.com/office/powerpoint/2010/main" val="1138497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 </a:t>
            </a:r>
            <a:r>
              <a:rPr lang="zh-CN" altLang="en-US" b="1" dirty="0"/>
              <a:t>朴素贝叶斯分类器</a:t>
            </a:r>
            <a:endParaRPr lang="zh-CN" altLang="en-US" dirty="0"/>
          </a:p>
        </p:txBody>
      </p:sp>
      <p:sp>
        <p:nvSpPr>
          <p:cNvPr id="3" name="内容占位符 2"/>
          <p:cNvSpPr>
            <a:spLocks noGrp="1"/>
          </p:cNvSpPr>
          <p:nvPr>
            <p:ph idx="1"/>
          </p:nvPr>
        </p:nvSpPr>
        <p:spPr>
          <a:xfrm>
            <a:off x="2299408" y="1797248"/>
            <a:ext cx="6215328" cy="3263504"/>
          </a:xfrm>
        </p:spPr>
        <p:txBody>
          <a:bodyPr>
            <a:normAutofit fontScale="92500" lnSpcReduction="10000"/>
          </a:bodyPr>
          <a:lstStyle/>
          <a:p>
            <a:r>
              <a:rPr lang="zh-CN" altLang="en-US" dirty="0"/>
              <a:t>贝叶斯分类器（最小错误贝叶斯分类器）</a:t>
            </a:r>
            <a:endParaRPr lang="en-US" altLang="zh-CN" dirty="0"/>
          </a:p>
          <a:p>
            <a:endParaRPr lang="en-US" altLang="zh-CN" dirty="0"/>
          </a:p>
          <a:p>
            <a:r>
              <a:rPr lang="en-US" altLang="zh-CN" dirty="0"/>
              <a:t>Naïve Bayes</a:t>
            </a:r>
            <a:r>
              <a:rPr lang="zh-CN" altLang="en-US" dirty="0"/>
              <a:t>模型</a:t>
            </a:r>
            <a:endParaRPr lang="en-US" altLang="zh-CN" dirty="0"/>
          </a:p>
          <a:p>
            <a:pPr marL="0" indent="0">
              <a:buNone/>
            </a:pPr>
            <a:endParaRPr lang="en-US" altLang="zh-CN" dirty="0"/>
          </a:p>
          <a:p>
            <a:r>
              <a:rPr lang="zh-CN" altLang="en-US" dirty="0"/>
              <a:t>策略</a:t>
            </a:r>
            <a:endParaRPr lang="en-US" altLang="zh-CN" dirty="0"/>
          </a:p>
          <a:p>
            <a:pPr marL="0" indent="0">
              <a:buNone/>
            </a:pPr>
            <a:endParaRPr lang="en-US" altLang="zh-CN" dirty="0"/>
          </a:p>
          <a:p>
            <a:r>
              <a:rPr lang="zh-CN" altLang="en-US" dirty="0"/>
              <a:t>算法</a:t>
            </a:r>
            <a:endParaRPr lang="en-US" altLang="zh-CN" dirty="0"/>
          </a:p>
        </p:txBody>
      </p:sp>
      <p:pic>
        <p:nvPicPr>
          <p:cNvPr id="4098" name="Picture 2" descr="Data Science. Bayes theorem - Blog | luminousme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0646" y="2457384"/>
            <a:ext cx="5437637" cy="3802463"/>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a:extLst>
              <a:ext uri="{FF2B5EF4-FFF2-40B4-BE49-F238E27FC236}">
                <a16:creationId xmlns:a16="http://schemas.microsoft.com/office/drawing/2014/main" id="{80E0BFD6-81E0-59F5-3428-C59196BBFEE6}"/>
              </a:ext>
            </a:extLst>
          </p:cNvPr>
          <p:cNvSpPr>
            <a:spLocks noGrp="1"/>
          </p:cNvSpPr>
          <p:nvPr>
            <p:ph type="sldNum" sz="quarter" idx="12"/>
          </p:nvPr>
        </p:nvSpPr>
        <p:spPr/>
        <p:txBody>
          <a:bodyPr/>
          <a:lstStyle/>
          <a:p>
            <a:fld id="{DA04A3ED-EE7A-4E19-90BC-E8E086817459}" type="slidenum">
              <a:rPr lang="zh-CN" altLang="en-US" smtClean="0"/>
              <a:t>21</a:t>
            </a:fld>
            <a:endParaRPr lang="zh-CN" altLang="en-US"/>
          </a:p>
        </p:txBody>
      </p:sp>
    </p:spTree>
    <p:extLst>
      <p:ext uri="{BB962C8B-B14F-4D97-AF65-F5344CB8AC3E}">
        <p14:creationId xmlns:p14="http://schemas.microsoft.com/office/powerpoint/2010/main" val="1486802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6843" y="42466"/>
            <a:ext cx="7886700" cy="1325563"/>
          </a:xfrm>
        </p:spPr>
        <p:txBody>
          <a:bodyPr/>
          <a:lstStyle/>
          <a:p>
            <a:r>
              <a:rPr lang="en-US" altLang="zh-CN" b="1" dirty="0"/>
              <a:t>4. </a:t>
            </a:r>
            <a:r>
              <a:rPr lang="zh-CN" altLang="en-US" b="1" dirty="0">
                <a:solidFill>
                  <a:schemeClr val="bg1">
                    <a:lumMod val="75000"/>
                  </a:schemeClr>
                </a:solidFill>
              </a:rPr>
              <a:t>线性回归（最小二乘法）</a:t>
            </a:r>
            <a:endParaRPr lang="zh-CN" altLang="en-US" dirty="0">
              <a:solidFill>
                <a:schemeClr val="bg1">
                  <a:lumMod val="75000"/>
                </a:schemeClr>
              </a:solidFill>
            </a:endParaRPr>
          </a:p>
        </p:txBody>
      </p:sp>
      <p:sp>
        <p:nvSpPr>
          <p:cNvPr id="3" name="内容占位符 2"/>
          <p:cNvSpPr>
            <a:spLocks noGrp="1"/>
          </p:cNvSpPr>
          <p:nvPr>
            <p:ph idx="1"/>
          </p:nvPr>
        </p:nvSpPr>
        <p:spPr>
          <a:xfrm>
            <a:off x="2299409" y="1680842"/>
            <a:ext cx="5915025" cy="3263504"/>
          </a:xfrm>
        </p:spPr>
        <p:txBody>
          <a:bodyPr>
            <a:normAutofit lnSpcReduction="10000"/>
          </a:bodyPr>
          <a:lstStyle/>
          <a:p>
            <a:r>
              <a:rPr lang="zh-CN" altLang="en-US" dirty="0"/>
              <a:t>线性回归模型</a:t>
            </a:r>
            <a:endParaRPr lang="en-US" altLang="zh-CN" dirty="0"/>
          </a:p>
          <a:p>
            <a:endParaRPr lang="en-US" altLang="zh-CN" dirty="0"/>
          </a:p>
          <a:p>
            <a:pPr marL="0" indent="0">
              <a:buNone/>
            </a:pPr>
            <a:endParaRPr lang="en-US" altLang="zh-CN" dirty="0"/>
          </a:p>
          <a:p>
            <a:r>
              <a:rPr lang="zh-CN" altLang="en-US" dirty="0"/>
              <a:t>策略</a:t>
            </a:r>
            <a:endParaRPr lang="en-US" altLang="zh-CN" dirty="0"/>
          </a:p>
          <a:p>
            <a:endParaRPr lang="en-US" altLang="zh-CN" dirty="0"/>
          </a:p>
          <a:p>
            <a:endParaRPr lang="en-US" altLang="zh-CN" dirty="0"/>
          </a:p>
          <a:p>
            <a:r>
              <a:rPr lang="zh-CN" altLang="en-US" dirty="0"/>
              <a:t>算法</a:t>
            </a:r>
            <a:endParaRPr lang="en-US" altLang="zh-CN" dirty="0"/>
          </a:p>
        </p:txBody>
      </p:sp>
      <p:pic>
        <p:nvPicPr>
          <p:cNvPr id="5122" name="Picture 2" descr="理解梯度下降- 人工智能遇见磐创- 博客园"/>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5035" y="2227798"/>
            <a:ext cx="6436631" cy="3604515"/>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a:extLst>
              <a:ext uri="{FF2B5EF4-FFF2-40B4-BE49-F238E27FC236}">
                <a16:creationId xmlns:a16="http://schemas.microsoft.com/office/drawing/2014/main" id="{40C1B92B-02D2-1146-3AB6-3C507602E12B}"/>
              </a:ext>
            </a:extLst>
          </p:cNvPr>
          <p:cNvSpPr>
            <a:spLocks noGrp="1"/>
          </p:cNvSpPr>
          <p:nvPr>
            <p:ph type="sldNum" sz="quarter" idx="12"/>
          </p:nvPr>
        </p:nvSpPr>
        <p:spPr/>
        <p:txBody>
          <a:bodyPr/>
          <a:lstStyle/>
          <a:p>
            <a:fld id="{DA04A3ED-EE7A-4E19-90BC-E8E086817459}" type="slidenum">
              <a:rPr lang="zh-CN" altLang="en-US" smtClean="0"/>
              <a:t>22</a:t>
            </a:fld>
            <a:endParaRPr lang="zh-CN" altLang="en-US"/>
          </a:p>
        </p:txBody>
      </p:sp>
    </p:spTree>
    <p:extLst>
      <p:ext uri="{BB962C8B-B14F-4D97-AF65-F5344CB8AC3E}">
        <p14:creationId xmlns:p14="http://schemas.microsoft.com/office/powerpoint/2010/main" val="2898579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9E11F4A-ACD1-F579-9505-E0C47F780397}"/>
              </a:ext>
            </a:extLst>
          </p:cNvPr>
          <p:cNvPicPr>
            <a:picLocks noChangeAspect="1"/>
          </p:cNvPicPr>
          <p:nvPr/>
        </p:nvPicPr>
        <p:blipFill rotWithShape="1">
          <a:blip r:embed="rId3"/>
          <a:srcRect b="25631"/>
          <a:stretch/>
        </p:blipFill>
        <p:spPr>
          <a:xfrm>
            <a:off x="4741602" y="1455950"/>
            <a:ext cx="5297749" cy="4218908"/>
          </a:xfrm>
          <a:prstGeom prst="rect">
            <a:avLst/>
          </a:prstGeom>
        </p:spPr>
      </p:pic>
      <p:sp>
        <p:nvSpPr>
          <p:cNvPr id="4" name="标题 1">
            <a:extLst>
              <a:ext uri="{FF2B5EF4-FFF2-40B4-BE49-F238E27FC236}">
                <a16:creationId xmlns:a16="http://schemas.microsoft.com/office/drawing/2014/main" id="{24DAD42C-6056-53A5-D171-B3AA51B2A1E0}"/>
              </a:ext>
            </a:extLst>
          </p:cNvPr>
          <p:cNvSpPr txBox="1"/>
          <p:nvPr/>
        </p:nvSpPr>
        <p:spPr>
          <a:xfrm>
            <a:off x="1733952" y="178142"/>
            <a:ext cx="8305399"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chemeClr val="accent1">
                    <a:lumMod val="50000"/>
                  </a:schemeClr>
                </a:solidFill>
                <a:latin typeface="+mn-lt"/>
                <a:ea typeface="DengXian" panose="02010600030101010101" pitchFamily="2" charset="-122"/>
              </a:rPr>
              <a:t>统计学习方法</a:t>
            </a:r>
          </a:p>
        </p:txBody>
      </p:sp>
      <p:cxnSp>
        <p:nvCxnSpPr>
          <p:cNvPr id="8" name="直线连接符 7">
            <a:extLst>
              <a:ext uri="{FF2B5EF4-FFF2-40B4-BE49-F238E27FC236}">
                <a16:creationId xmlns:a16="http://schemas.microsoft.com/office/drawing/2014/main" id="{48EE5271-CE04-35EB-4DD1-8E13F9E8D485}"/>
              </a:ext>
            </a:extLst>
          </p:cNvPr>
          <p:cNvCxnSpPr>
            <a:cxnSpLocks/>
          </p:cNvCxnSpPr>
          <p:nvPr/>
        </p:nvCxnSpPr>
        <p:spPr>
          <a:xfrm>
            <a:off x="4558522" y="3687669"/>
            <a:ext cx="5496174"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71AF735B-CF7E-903E-5D49-2FFA8DF223C5}"/>
              </a:ext>
            </a:extLst>
          </p:cNvPr>
          <p:cNvCxnSpPr>
            <a:cxnSpLocks/>
          </p:cNvCxnSpPr>
          <p:nvPr/>
        </p:nvCxnSpPr>
        <p:spPr>
          <a:xfrm>
            <a:off x="4558522" y="5160216"/>
            <a:ext cx="5538285"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内容占位符 2">
            <a:extLst>
              <a:ext uri="{FF2B5EF4-FFF2-40B4-BE49-F238E27FC236}">
                <a16:creationId xmlns:a16="http://schemas.microsoft.com/office/drawing/2014/main" id="{75069620-E9A8-CCCA-8BFD-EAC0B772AC58}"/>
              </a:ext>
            </a:extLst>
          </p:cNvPr>
          <p:cNvSpPr>
            <a:spLocks noGrp="1"/>
          </p:cNvSpPr>
          <p:nvPr>
            <p:ph idx="1"/>
          </p:nvPr>
        </p:nvSpPr>
        <p:spPr>
          <a:xfrm>
            <a:off x="1922206" y="1575157"/>
            <a:ext cx="2270962" cy="3570034"/>
          </a:xfrm>
        </p:spPr>
        <p:txBody>
          <a:bodyPr>
            <a:noAutofit/>
          </a:bodyPr>
          <a:lstStyle/>
          <a:p>
            <a:pPr>
              <a:lnSpc>
                <a:spcPct val="114000"/>
              </a:lnSpc>
            </a:pPr>
            <a:r>
              <a:rPr lang="ja-JP" altLang="en-US" sz="2400" dirty="0">
                <a:ea typeface="DengXian" panose="02010600030101010101" pitchFamily="2" charset="-122"/>
              </a:rPr>
              <a:t>监督学习部分</a:t>
            </a:r>
            <a:endParaRPr lang="en-US" altLang="ja-JP" sz="2400" dirty="0">
              <a:ea typeface="DengXian" panose="02010600030101010101" pitchFamily="2" charset="-122"/>
            </a:endParaRPr>
          </a:p>
          <a:p>
            <a:pPr>
              <a:lnSpc>
                <a:spcPct val="114000"/>
              </a:lnSpc>
            </a:pPr>
            <a:r>
              <a:rPr lang="en-US" altLang="zh-CN" sz="2000" dirty="0">
                <a:ea typeface="DengXian" panose="02010600030101010101" pitchFamily="2" charset="-122"/>
              </a:rPr>
              <a:t>4</a:t>
            </a:r>
            <a:r>
              <a:rPr lang="zh-CN" altLang="en-US" sz="2000" dirty="0">
                <a:ea typeface="DengXian" panose="02010600030101010101" pitchFamily="2" charset="-122"/>
              </a:rPr>
              <a:t>个基础方法</a:t>
            </a:r>
            <a:r>
              <a:rPr lang="en-US" altLang="zh-CN" sz="2000" dirty="0">
                <a:ea typeface="DengXian" panose="02010600030101010101" pitchFamily="2" charset="-122"/>
              </a:rPr>
              <a:t>, 3</a:t>
            </a:r>
            <a:r>
              <a:rPr lang="zh-CN" altLang="en-US" sz="2000" dirty="0">
                <a:ea typeface="DengXian" panose="02010600030101010101" pitchFamily="2" charset="-122"/>
              </a:rPr>
              <a:t>个复杂方法</a:t>
            </a:r>
            <a:endParaRPr lang="en-US" altLang="zh-CN" sz="2000" dirty="0">
              <a:ea typeface="DengXian" panose="02010600030101010101" pitchFamily="2" charset="-122"/>
            </a:endParaRPr>
          </a:p>
          <a:p>
            <a:pPr>
              <a:lnSpc>
                <a:spcPct val="114000"/>
              </a:lnSpc>
            </a:pPr>
            <a:r>
              <a:rPr lang="en-US" altLang="zh-CN" sz="2000" dirty="0">
                <a:ea typeface="DengXian" panose="02010600030101010101" pitchFamily="2" charset="-122"/>
              </a:rPr>
              <a:t>1</a:t>
            </a:r>
            <a:r>
              <a:rPr lang="zh-CN" altLang="en-US" sz="2000" dirty="0">
                <a:ea typeface="DengXian" panose="02010600030101010101" pitchFamily="2" charset="-122"/>
              </a:rPr>
              <a:t>个生成方法</a:t>
            </a:r>
            <a:r>
              <a:rPr lang="en-US" altLang="zh-CN" sz="2000" dirty="0">
                <a:ea typeface="DengXian" panose="02010600030101010101" pitchFamily="2" charset="-122"/>
              </a:rPr>
              <a:t>, 6</a:t>
            </a:r>
            <a:r>
              <a:rPr lang="zh-CN" altLang="en-US" sz="2000" dirty="0">
                <a:ea typeface="DengXian" panose="02010600030101010101" pitchFamily="2" charset="-122"/>
              </a:rPr>
              <a:t>个判别方法</a:t>
            </a:r>
            <a:endParaRPr lang="en-US" altLang="zh-CN" sz="2000" dirty="0">
              <a:ea typeface="DengXian" panose="02010600030101010101" pitchFamily="2" charset="-122"/>
            </a:endParaRPr>
          </a:p>
          <a:p>
            <a:pPr>
              <a:lnSpc>
                <a:spcPct val="114000"/>
              </a:lnSpc>
            </a:pPr>
            <a:r>
              <a:rPr lang="en-US" altLang="zh-CN" sz="2000" dirty="0">
                <a:ea typeface="DengXian" panose="02010600030101010101" pitchFamily="2" charset="-122"/>
              </a:rPr>
              <a:t>1</a:t>
            </a:r>
            <a:r>
              <a:rPr lang="zh-CN" altLang="en-US" sz="2000" dirty="0">
                <a:ea typeface="DengXian" panose="02010600030101010101" pitchFamily="2" charset="-122"/>
              </a:rPr>
              <a:t>个单独算法 </a:t>
            </a:r>
            <a:r>
              <a:rPr lang="en-US" altLang="zh-CN" sz="2000" dirty="0">
                <a:ea typeface="DengXian" panose="02010600030101010101" pitchFamily="2" charset="-122"/>
              </a:rPr>
              <a:t>(</a:t>
            </a:r>
            <a:r>
              <a:rPr lang="zh-CN" altLang="en-US" sz="2000" dirty="0">
                <a:ea typeface="DengXian" panose="02010600030101010101" pitchFamily="2" charset="-122"/>
              </a:rPr>
              <a:t>概率模型估计</a:t>
            </a:r>
            <a:r>
              <a:rPr lang="en-US" altLang="zh-CN" sz="2000" dirty="0">
                <a:ea typeface="DengXian" panose="02010600030101010101" pitchFamily="2" charset="-122"/>
              </a:rPr>
              <a:t>)</a:t>
            </a:r>
          </a:p>
          <a:p>
            <a:pPr>
              <a:lnSpc>
                <a:spcPct val="114000"/>
              </a:lnSpc>
            </a:pPr>
            <a:r>
              <a:rPr lang="zh-CN" altLang="en-US" sz="2000" dirty="0">
                <a:ea typeface="DengXian" panose="02010600030101010101" pitchFamily="2" charset="-122"/>
              </a:rPr>
              <a:t>概率模型</a:t>
            </a:r>
            <a:r>
              <a:rPr lang="en-US" altLang="zh-CN" sz="2000" dirty="0">
                <a:ea typeface="DengXian" panose="02010600030101010101" pitchFamily="2" charset="-122"/>
              </a:rPr>
              <a:t>, </a:t>
            </a:r>
            <a:r>
              <a:rPr lang="zh-CN" altLang="en-US" sz="2000" dirty="0">
                <a:ea typeface="DengXian" panose="02010600030101010101" pitchFamily="2" charset="-122"/>
              </a:rPr>
              <a:t>非概率模型</a:t>
            </a:r>
            <a:endParaRPr lang="en-US" altLang="zh-CN" sz="2000" dirty="0">
              <a:ea typeface="DengXian" panose="02010600030101010101" pitchFamily="2" charset="-122"/>
            </a:endParaRPr>
          </a:p>
          <a:p>
            <a:pPr>
              <a:lnSpc>
                <a:spcPct val="114000"/>
              </a:lnSpc>
            </a:pPr>
            <a:endParaRPr lang="en-US" altLang="zh-CN" sz="2000" dirty="0">
              <a:ea typeface="DengXian" panose="02010600030101010101" pitchFamily="2" charset="-122"/>
            </a:endParaRPr>
          </a:p>
        </p:txBody>
      </p:sp>
      <p:sp>
        <p:nvSpPr>
          <p:cNvPr id="3" name="矩形: 圆角 2">
            <a:extLst>
              <a:ext uri="{FF2B5EF4-FFF2-40B4-BE49-F238E27FC236}">
                <a16:creationId xmlns:a16="http://schemas.microsoft.com/office/drawing/2014/main" id="{DE719CAF-9966-A84E-D486-FE1DFF16676E}"/>
              </a:ext>
            </a:extLst>
          </p:cNvPr>
          <p:cNvSpPr/>
          <p:nvPr/>
        </p:nvSpPr>
        <p:spPr>
          <a:xfrm>
            <a:off x="4558522" y="3342970"/>
            <a:ext cx="5711273" cy="1817231"/>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2781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6843" y="42466"/>
            <a:ext cx="7886700" cy="1325563"/>
          </a:xfrm>
        </p:spPr>
        <p:txBody>
          <a:bodyPr/>
          <a:lstStyle/>
          <a:p>
            <a:r>
              <a:rPr lang="en-US" altLang="zh-CN" b="1" dirty="0">
                <a:solidFill>
                  <a:schemeClr val="tx2"/>
                </a:solidFill>
              </a:rPr>
              <a:t>5. </a:t>
            </a:r>
            <a:r>
              <a:rPr lang="zh-CN" altLang="en-US" b="1" dirty="0">
                <a:solidFill>
                  <a:schemeClr val="tx2"/>
                </a:solidFill>
              </a:rPr>
              <a:t>决策树</a:t>
            </a:r>
            <a:endParaRPr lang="zh-CN" altLang="en-US" dirty="0">
              <a:solidFill>
                <a:schemeClr val="tx2"/>
              </a:solidFill>
            </a:endParaRPr>
          </a:p>
        </p:txBody>
      </p:sp>
      <p:sp>
        <p:nvSpPr>
          <p:cNvPr id="6" name="灯片编号占位符 5">
            <a:extLst>
              <a:ext uri="{FF2B5EF4-FFF2-40B4-BE49-F238E27FC236}">
                <a16:creationId xmlns:a16="http://schemas.microsoft.com/office/drawing/2014/main" id="{40C1B92B-02D2-1146-3AB6-3C507602E12B}"/>
              </a:ext>
            </a:extLst>
          </p:cNvPr>
          <p:cNvSpPr>
            <a:spLocks noGrp="1"/>
          </p:cNvSpPr>
          <p:nvPr>
            <p:ph type="sldNum" sz="quarter" idx="12"/>
          </p:nvPr>
        </p:nvSpPr>
        <p:spPr/>
        <p:txBody>
          <a:bodyPr/>
          <a:lstStyle/>
          <a:p>
            <a:fld id="{DA04A3ED-EE7A-4E19-90BC-E8E086817459}" type="slidenum">
              <a:rPr lang="zh-CN" altLang="en-US" smtClean="0"/>
              <a:t>24</a:t>
            </a:fld>
            <a:endParaRPr lang="zh-CN" altLang="en-US"/>
          </a:p>
        </p:txBody>
      </p:sp>
      <p:sp>
        <p:nvSpPr>
          <p:cNvPr id="8" name="文本框 7">
            <a:extLst>
              <a:ext uri="{FF2B5EF4-FFF2-40B4-BE49-F238E27FC236}">
                <a16:creationId xmlns:a16="http://schemas.microsoft.com/office/drawing/2014/main" id="{E5C6F0A3-8D7C-2DCD-99CB-67397E90B951}"/>
              </a:ext>
            </a:extLst>
          </p:cNvPr>
          <p:cNvSpPr txBox="1"/>
          <p:nvPr/>
        </p:nvSpPr>
        <p:spPr>
          <a:xfrm>
            <a:off x="2032512" y="1368029"/>
            <a:ext cx="7886699" cy="444897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zh-CN" altLang="en-US" sz="3200" kern="100" dirty="0">
                <a:ea typeface="DengXian" panose="02010600030101010101" pitchFamily="2" charset="-122"/>
                <a:cs typeface="Times New Roman" panose="02020603050405020304" pitchFamily="18" charset="0"/>
              </a:rPr>
              <a:t>概念：</a:t>
            </a:r>
            <a:r>
              <a:rPr lang="zh-CN" altLang="zh-CN" sz="3200" kern="100" dirty="0">
                <a:ea typeface="DengXian" panose="02010600030101010101" pitchFamily="2" charset="-122"/>
                <a:cs typeface="Times New Roman" panose="02020603050405020304" pitchFamily="18" charset="0"/>
              </a:rPr>
              <a:t>熵，信息增益、信息增益比、基尼系数</a:t>
            </a:r>
            <a:endParaRPr lang="en-US" altLang="zh-CN" sz="3200" kern="100" dirty="0">
              <a:ea typeface="DengXian"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3200" kern="100" dirty="0">
                <a:ea typeface="DengXian" panose="02010600030101010101" pitchFamily="2" charset="-122"/>
                <a:cs typeface="Times New Roman" panose="02020603050405020304" pitchFamily="18" charset="0"/>
              </a:rPr>
              <a:t>决策树的生成（如例题</a:t>
            </a:r>
            <a:r>
              <a:rPr lang="en-US" altLang="zh-CN" sz="3200" kern="100" dirty="0">
                <a:ea typeface="DengXian" panose="02010600030101010101" pitchFamily="2" charset="-122"/>
                <a:cs typeface="Times New Roman" panose="02020603050405020304" pitchFamily="18" charset="0"/>
              </a:rPr>
              <a:t>5.2</a:t>
            </a:r>
            <a:r>
              <a:rPr lang="zh-CN" altLang="en-US" sz="3200" kern="100" dirty="0">
                <a:ea typeface="DengXian" panose="02010600030101010101" pitchFamily="2" charset="-122"/>
                <a:cs typeface="Times New Roman" panose="02020603050405020304" pitchFamily="18" charset="0"/>
              </a:rPr>
              <a:t>，</a:t>
            </a:r>
            <a:r>
              <a:rPr lang="en-US" altLang="zh-CN" sz="3200" kern="100" dirty="0">
                <a:ea typeface="DengXian" panose="02010600030101010101" pitchFamily="2" charset="-122"/>
                <a:cs typeface="Times New Roman" panose="02020603050405020304" pitchFamily="18" charset="0"/>
              </a:rPr>
              <a:t>5.3</a:t>
            </a:r>
            <a:r>
              <a:rPr lang="zh-CN" altLang="en-US" sz="3200" kern="100" dirty="0">
                <a:ea typeface="DengXian" panose="02010600030101010101" pitchFamily="2" charset="-122"/>
                <a:cs typeface="Times New Roman" panose="02020603050405020304" pitchFamily="18" charset="0"/>
              </a:rPr>
              <a:t>，</a:t>
            </a:r>
            <a:r>
              <a:rPr lang="en-US" altLang="zh-CN" sz="3200" kern="100" dirty="0">
                <a:ea typeface="DengXian" panose="02010600030101010101" pitchFamily="2" charset="-122"/>
                <a:cs typeface="Times New Roman" panose="02020603050405020304" pitchFamily="18" charset="0"/>
              </a:rPr>
              <a:t>5.4</a:t>
            </a:r>
            <a:r>
              <a:rPr lang="zh-CN" altLang="en-US" sz="3200" kern="100" dirty="0">
                <a:ea typeface="DengXian" panose="02010600030101010101" pitchFamily="2" charset="-122"/>
                <a:cs typeface="Times New Roman" panose="02020603050405020304" pitchFamily="18" charset="0"/>
              </a:rPr>
              <a:t>）</a:t>
            </a:r>
            <a:endParaRPr lang="en-US" altLang="zh-CN" sz="3200" kern="100" dirty="0">
              <a:ea typeface="DengXian"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3200" kern="100" dirty="0">
                <a:ea typeface="DengXian" panose="02010600030101010101" pitchFamily="2" charset="-122"/>
                <a:cs typeface="Times New Roman" panose="02020603050405020304" pitchFamily="18" charset="0"/>
              </a:rPr>
              <a:t>习题</a:t>
            </a:r>
            <a:r>
              <a:rPr lang="en-US" altLang="zh-CN" sz="3200" kern="100" dirty="0">
                <a:ea typeface="DengXian" panose="02010600030101010101" pitchFamily="2" charset="-122"/>
                <a:cs typeface="Times New Roman" panose="02020603050405020304" pitchFamily="18" charset="0"/>
              </a:rPr>
              <a:t>5.1</a:t>
            </a:r>
            <a:r>
              <a:rPr lang="zh-CN" altLang="en-US" sz="3200" kern="100" dirty="0">
                <a:ea typeface="DengXian" panose="02010600030101010101" pitchFamily="2" charset="-122"/>
                <a:cs typeface="Times New Roman" panose="02020603050405020304" pitchFamily="18" charset="0"/>
              </a:rPr>
              <a:t>，</a:t>
            </a:r>
            <a:r>
              <a:rPr lang="en-US" altLang="zh-CN" sz="3200" kern="100" dirty="0">
                <a:ea typeface="DengXian" panose="02010600030101010101" pitchFamily="2" charset="-122"/>
                <a:cs typeface="Times New Roman" panose="02020603050405020304" pitchFamily="18" charset="0"/>
              </a:rPr>
              <a:t>5.2</a:t>
            </a:r>
          </a:p>
          <a:p>
            <a:pPr marL="342900" indent="-342900" algn="just">
              <a:lnSpc>
                <a:spcPct val="150000"/>
              </a:lnSpc>
              <a:buFont typeface="Arial" panose="020B0604020202020204" pitchFamily="34" charset="0"/>
              <a:buChar char="•"/>
            </a:pPr>
            <a:r>
              <a:rPr lang="en-US" altLang="zh-CN" sz="3200" kern="100" dirty="0">
                <a:ea typeface="DengXian" panose="02010600030101010101" pitchFamily="2" charset="-122"/>
                <a:cs typeface="Times New Roman" panose="02020603050405020304" pitchFamily="18" charset="0"/>
              </a:rPr>
              <a:t>ID3</a:t>
            </a:r>
            <a:r>
              <a:rPr lang="zh-CN" altLang="en-US" sz="3200" kern="100" dirty="0">
                <a:ea typeface="DengXian" panose="02010600030101010101" pitchFamily="2" charset="-122"/>
                <a:cs typeface="Times New Roman" panose="02020603050405020304" pitchFamily="18" charset="0"/>
              </a:rPr>
              <a:t>，</a:t>
            </a:r>
            <a:r>
              <a:rPr lang="en-US" altLang="zh-CN" sz="3200" kern="100" dirty="0">
                <a:ea typeface="DengXian" panose="02010600030101010101" pitchFamily="2" charset="-122"/>
                <a:cs typeface="Times New Roman" panose="02020603050405020304" pitchFamily="18" charset="0"/>
              </a:rPr>
              <a:t>CART</a:t>
            </a:r>
          </a:p>
          <a:p>
            <a:pPr marL="342900" indent="-342900" algn="just">
              <a:lnSpc>
                <a:spcPct val="150000"/>
              </a:lnSpc>
              <a:buFont typeface="Arial" panose="020B0604020202020204" pitchFamily="34" charset="0"/>
              <a:buChar char="•"/>
            </a:pPr>
            <a:r>
              <a:rPr lang="zh-CN" altLang="en-US" sz="3200" kern="100" dirty="0">
                <a:solidFill>
                  <a:srgbClr val="C00000"/>
                </a:solidFill>
                <a:ea typeface="DengXian" panose="02010600030101010101" pitchFamily="2" charset="-122"/>
                <a:cs typeface="Times New Roman" panose="02020603050405020304" pitchFamily="18" charset="0"/>
              </a:rPr>
              <a:t>了解</a:t>
            </a:r>
            <a:r>
              <a:rPr lang="zh-CN" altLang="en-US" sz="3200" kern="100" dirty="0">
                <a:ea typeface="DengXian" panose="02010600030101010101" pitchFamily="2" charset="-122"/>
                <a:cs typeface="Times New Roman" panose="02020603050405020304" pitchFamily="18" charset="0"/>
              </a:rPr>
              <a:t>决策树的剪枝</a:t>
            </a:r>
            <a:endParaRPr lang="zh-CN" altLang="zh-CN" sz="3200" kern="100" dirty="0">
              <a:ea typeface="DengXian"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796EBB70-D178-7DEE-231E-A4351B53C41C}"/>
              </a:ext>
            </a:extLst>
          </p:cNvPr>
          <p:cNvPicPr>
            <a:picLocks noChangeAspect="1"/>
          </p:cNvPicPr>
          <p:nvPr/>
        </p:nvPicPr>
        <p:blipFill>
          <a:blip r:embed="rId2"/>
          <a:stretch>
            <a:fillRect/>
          </a:stretch>
        </p:blipFill>
        <p:spPr>
          <a:xfrm>
            <a:off x="6361177" y="3854245"/>
            <a:ext cx="3798313" cy="2502106"/>
          </a:xfrm>
          <a:prstGeom prst="rect">
            <a:avLst/>
          </a:prstGeom>
        </p:spPr>
      </p:pic>
    </p:spTree>
    <p:extLst>
      <p:ext uri="{BB962C8B-B14F-4D97-AF65-F5344CB8AC3E}">
        <p14:creationId xmlns:p14="http://schemas.microsoft.com/office/powerpoint/2010/main" val="265948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6843" y="42466"/>
            <a:ext cx="7886700" cy="1325563"/>
          </a:xfrm>
        </p:spPr>
        <p:txBody>
          <a:bodyPr/>
          <a:lstStyle/>
          <a:p>
            <a:r>
              <a:rPr lang="en-US" altLang="zh-CN" b="1" dirty="0">
                <a:solidFill>
                  <a:schemeClr val="tx2"/>
                </a:solidFill>
              </a:rPr>
              <a:t>6. </a:t>
            </a:r>
            <a:r>
              <a:rPr lang="zh-CN" altLang="en-US" b="1" dirty="0">
                <a:solidFill>
                  <a:schemeClr val="tx2"/>
                </a:solidFill>
              </a:rPr>
              <a:t>逻辑斯蒂回归</a:t>
            </a:r>
            <a:endParaRPr lang="zh-CN" altLang="en-US" dirty="0">
              <a:solidFill>
                <a:schemeClr val="tx2"/>
              </a:solidFill>
            </a:endParaRPr>
          </a:p>
        </p:txBody>
      </p:sp>
      <p:sp>
        <p:nvSpPr>
          <p:cNvPr id="6" name="灯片编号占位符 5">
            <a:extLst>
              <a:ext uri="{FF2B5EF4-FFF2-40B4-BE49-F238E27FC236}">
                <a16:creationId xmlns:a16="http://schemas.microsoft.com/office/drawing/2014/main" id="{40C1B92B-02D2-1146-3AB6-3C507602E12B}"/>
              </a:ext>
            </a:extLst>
          </p:cNvPr>
          <p:cNvSpPr>
            <a:spLocks noGrp="1"/>
          </p:cNvSpPr>
          <p:nvPr>
            <p:ph type="sldNum" sz="quarter" idx="12"/>
          </p:nvPr>
        </p:nvSpPr>
        <p:spPr/>
        <p:txBody>
          <a:bodyPr/>
          <a:lstStyle/>
          <a:p>
            <a:fld id="{DA04A3ED-EE7A-4E19-90BC-E8E086817459}" type="slidenum">
              <a:rPr lang="zh-CN" altLang="en-US" smtClean="0"/>
              <a:t>25</a:t>
            </a:fld>
            <a:endParaRPr lang="zh-CN" altLang="en-US"/>
          </a:p>
        </p:txBody>
      </p:sp>
      <p:sp>
        <p:nvSpPr>
          <p:cNvPr id="8" name="文本框 7">
            <a:extLst>
              <a:ext uri="{FF2B5EF4-FFF2-40B4-BE49-F238E27FC236}">
                <a16:creationId xmlns:a16="http://schemas.microsoft.com/office/drawing/2014/main" id="{E5C6F0A3-8D7C-2DCD-99CB-67397E90B951}"/>
              </a:ext>
            </a:extLst>
          </p:cNvPr>
          <p:cNvSpPr txBox="1"/>
          <p:nvPr/>
        </p:nvSpPr>
        <p:spPr>
          <a:xfrm>
            <a:off x="1906844" y="1075547"/>
            <a:ext cx="8013905" cy="325807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800" dirty="0"/>
              <a:t>逻辑斯蒂回归模型的定义 </a:t>
            </a:r>
            <a:r>
              <a:rPr lang="en-US" altLang="zh-CN" sz="2800" dirty="0"/>
              <a:t>6.2</a:t>
            </a:r>
          </a:p>
          <a:p>
            <a:pPr marL="457200" indent="-457200">
              <a:lnSpc>
                <a:spcPct val="150000"/>
              </a:lnSpc>
              <a:buFont typeface="Arial" panose="020B0604020202020204" pitchFamily="34" charset="0"/>
              <a:buChar char="•"/>
            </a:pPr>
            <a:r>
              <a:rPr lang="zh-CN" altLang="en-US" sz="2800" dirty="0"/>
              <a:t>监督学习问题，二分类问题，</a:t>
            </a:r>
            <a:r>
              <a:rPr lang="zh-CN" altLang="en-US" sz="2800" dirty="0">
                <a:solidFill>
                  <a:srgbClr val="FF0000"/>
                </a:solidFill>
              </a:rPr>
              <a:t>判别模型（概率）</a:t>
            </a:r>
            <a:endParaRPr lang="en-US" altLang="zh-CN" sz="2800" dirty="0">
              <a:solidFill>
                <a:srgbClr val="FF0000"/>
              </a:solidFill>
            </a:endParaRPr>
          </a:p>
          <a:p>
            <a:pPr marL="457200" indent="-457200">
              <a:lnSpc>
                <a:spcPct val="150000"/>
              </a:lnSpc>
              <a:buFont typeface="Arial" panose="020B0604020202020204" pitchFamily="34" charset="0"/>
              <a:buChar char="•"/>
            </a:pPr>
            <a:r>
              <a:rPr lang="zh-CN" altLang="en-US" sz="2800" dirty="0"/>
              <a:t>损失函数（最大似然估计）和交叉熵的关系</a:t>
            </a:r>
            <a:r>
              <a:rPr lang="en-US" altLang="zh-CN" sz="2800" dirty="0"/>
              <a:t>P93</a:t>
            </a:r>
          </a:p>
          <a:p>
            <a:pPr marL="457200" indent="-457200">
              <a:lnSpc>
                <a:spcPct val="150000"/>
              </a:lnSpc>
              <a:buFont typeface="Arial" panose="020B0604020202020204" pitchFamily="34" charset="0"/>
              <a:buChar char="•"/>
            </a:pPr>
            <a:r>
              <a:rPr lang="zh-CN" altLang="en-US" sz="2800" dirty="0"/>
              <a:t>优化算法 （梯度下降法，二阶</a:t>
            </a:r>
            <a:r>
              <a:rPr lang="en-US" altLang="zh-CN" sz="2800" dirty="0"/>
              <a:t>Hessian</a:t>
            </a:r>
            <a:r>
              <a:rPr lang="zh-CN" altLang="en-US" sz="2800" dirty="0"/>
              <a:t>矩阵正定）习题</a:t>
            </a:r>
            <a:r>
              <a:rPr lang="en-US" altLang="zh-CN" sz="2800" dirty="0"/>
              <a:t>6.2</a:t>
            </a:r>
          </a:p>
        </p:txBody>
      </p:sp>
      <p:pic>
        <p:nvPicPr>
          <p:cNvPr id="4" name="图片 3">
            <a:extLst>
              <a:ext uri="{FF2B5EF4-FFF2-40B4-BE49-F238E27FC236}">
                <a16:creationId xmlns:a16="http://schemas.microsoft.com/office/drawing/2014/main" id="{F016236D-D7E0-4788-3BB1-8097E6F0DC12}"/>
              </a:ext>
            </a:extLst>
          </p:cNvPr>
          <p:cNvPicPr>
            <a:picLocks noChangeAspect="1"/>
          </p:cNvPicPr>
          <p:nvPr/>
        </p:nvPicPr>
        <p:blipFill>
          <a:blip r:embed="rId3"/>
          <a:stretch>
            <a:fillRect/>
          </a:stretch>
        </p:blipFill>
        <p:spPr>
          <a:xfrm>
            <a:off x="6342575" y="3843095"/>
            <a:ext cx="3858364" cy="2597496"/>
          </a:xfrm>
          <a:prstGeom prst="rect">
            <a:avLst/>
          </a:prstGeom>
        </p:spPr>
      </p:pic>
    </p:spTree>
    <p:extLst>
      <p:ext uri="{BB962C8B-B14F-4D97-AF65-F5344CB8AC3E}">
        <p14:creationId xmlns:p14="http://schemas.microsoft.com/office/powerpoint/2010/main" val="936311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BA33DA-F3B5-F033-614A-8A139E93885F}"/>
              </a:ext>
            </a:extLst>
          </p:cNvPr>
          <p:cNvSpPr>
            <a:spLocks noGrp="1"/>
          </p:cNvSpPr>
          <p:nvPr>
            <p:ph type="ctrTitle"/>
          </p:nvPr>
        </p:nvSpPr>
        <p:spPr/>
        <p:txBody>
          <a:bodyPr/>
          <a:lstStyle/>
          <a:p>
            <a:r>
              <a:rPr lang="zh-CN" altLang="en-US" b="1" dirty="0"/>
              <a:t>作业讲解</a:t>
            </a:r>
          </a:p>
        </p:txBody>
      </p:sp>
    </p:spTree>
    <p:extLst>
      <p:ext uri="{BB962C8B-B14F-4D97-AF65-F5344CB8AC3E}">
        <p14:creationId xmlns:p14="http://schemas.microsoft.com/office/powerpoint/2010/main" val="4111467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作业一</a:t>
            </a:r>
          </a:p>
        </p:txBody>
      </p:sp>
      <p:pic>
        <p:nvPicPr>
          <p:cNvPr id="1026" name="Picture 2">
            <a:extLst>
              <a:ext uri="{FF2B5EF4-FFF2-40B4-BE49-F238E27FC236}">
                <a16:creationId xmlns:a16="http://schemas.microsoft.com/office/drawing/2014/main" id="{273EBC3B-5265-BCAA-48A1-5B7D2DDC1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1752600"/>
            <a:ext cx="10039350" cy="1676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DD95E45-B60C-7EBF-DE2D-98E17876A902}"/>
                  </a:ext>
                </a:extLst>
              </p:cNvPr>
              <p:cNvSpPr txBox="1"/>
              <p:nvPr/>
            </p:nvSpPr>
            <p:spPr>
              <a:xfrm>
                <a:off x="3048897" y="3807575"/>
                <a:ext cx="6094206" cy="1980670"/>
              </a:xfrm>
              <a:prstGeom prst="rect">
                <a:avLst/>
              </a:prstGeom>
              <a:noFill/>
            </p:spPr>
            <p:txBody>
              <a:bodyPr wrap="square">
                <a:spAutoFit/>
              </a:bodyPr>
              <a:lstStyle/>
              <a:p>
                <a:pPr marL="228600" algn="just">
                  <a:lnSpc>
                    <a:spcPct val="173000"/>
                  </a:lnSpc>
                  <a:spcBef>
                    <a:spcPts val="1300"/>
                  </a:spcBef>
                  <a:spcAft>
                    <a:spcPts val="1300"/>
                  </a:spcAft>
                </a:pPr>
                <a14:m>
                  <m:oMathPara xmlns:m="http://schemas.openxmlformats.org/officeDocument/2006/math">
                    <m:oMathParaPr>
                      <m:jc m:val="centerGroup"/>
                    </m:oMathParaPr>
                    <m:oMath xmlns:m="http://schemas.openxmlformats.org/officeDocument/2006/math">
                      <m:r>
                        <a:rPr lang="en-US" altLang="zh-CN" sz="2400" i="1" kern="100" smtClean="0">
                          <a:latin typeface="Cambria Math" panose="02040503050406030204" pitchFamily="18" charset="0"/>
                        </a:rPr>
                        <m:t>𝐶</m:t>
                      </m:r>
                      <m:d>
                        <m:dPr>
                          <m:ctrlPr>
                            <a:rPr lang="en-US" altLang="zh-CN" sz="2400" i="1" kern="100" smtClean="0">
                              <a:latin typeface="Cambria Math" panose="02040503050406030204" pitchFamily="18" charset="0"/>
                            </a:rPr>
                          </m:ctrlPr>
                        </m:dPr>
                        <m:e>
                          <m:r>
                            <a:rPr lang="en-US" altLang="zh-CN" sz="2400" b="0" i="1" kern="100" smtClean="0">
                              <a:latin typeface="Cambria Math" panose="02040503050406030204" pitchFamily="18" charset="0"/>
                            </a:rPr>
                            <m:t>500</m:t>
                          </m:r>
                          <m:r>
                            <a:rPr lang="en-US" altLang="zh-CN" sz="2400" i="1" kern="100">
                              <a:latin typeface="Cambria Math" panose="02040503050406030204" pitchFamily="18" charset="0"/>
                            </a:rPr>
                            <m:t>,</m:t>
                          </m:r>
                          <m:r>
                            <a:rPr lang="en-US" altLang="zh-CN" sz="2400" b="0" i="1" kern="100" smtClean="0">
                              <a:latin typeface="Cambria Math" panose="02040503050406030204" pitchFamily="18" charset="0"/>
                            </a:rPr>
                            <m:t>350</m:t>
                          </m:r>
                        </m:e>
                      </m:d>
                      <m:r>
                        <a:rPr lang="en-US" altLang="zh-CN" sz="2400" b="0" i="1" kern="100" smtClean="0">
                          <a:latin typeface="Cambria Math" panose="02040503050406030204" pitchFamily="18" charset="0"/>
                        </a:rPr>
                        <m:t>×</m:t>
                      </m:r>
                      <m:r>
                        <a:rPr lang="en-US" altLang="zh-CN" sz="2400" i="1" kern="100" smtClean="0">
                          <a:latin typeface="Cambria Math" panose="02040503050406030204" pitchFamily="18" charset="0"/>
                        </a:rPr>
                        <m:t>𝐶</m:t>
                      </m:r>
                      <m:r>
                        <a:rPr lang="en-US" altLang="zh-CN" sz="2400" i="1" kern="100" smtClean="0">
                          <a:latin typeface="Cambria Math" panose="02040503050406030204" pitchFamily="18" charset="0"/>
                        </a:rPr>
                        <m:t>(500,350)</m:t>
                      </m:r>
                    </m:oMath>
                  </m:oMathPara>
                </a14:m>
                <a:endParaRPr lang="zh-CN" altLang="zh-CN" sz="2400" b="1" kern="100" dirty="0">
                  <a:latin typeface="等线" panose="02010600030101010101" pitchFamily="2" charset="-122"/>
                </a:endParaRPr>
              </a:p>
              <a:p>
                <a:pPr marL="228600" algn="just">
                  <a:lnSpc>
                    <a:spcPct val="173000"/>
                  </a:lnSpc>
                  <a:spcBef>
                    <a:spcPts val="1300"/>
                  </a:spcBef>
                  <a:spcAft>
                    <a:spcPts val="1300"/>
                  </a:spcAft>
                </a:pPr>
                <a14:m>
                  <m:oMathPara xmlns:m="http://schemas.openxmlformats.org/officeDocument/2006/math">
                    <m:oMathParaPr>
                      <m:jc m:val="centerGroup"/>
                    </m:oMathParaPr>
                    <m:oMath xmlns:m="http://schemas.openxmlformats.org/officeDocument/2006/math">
                      <m:r>
                        <a:rPr lang="en-US" altLang="zh-CN" sz="2400" b="0" i="1" kern="100">
                          <a:effectLst/>
                          <a:latin typeface="Cambria Math" panose="02040503050406030204" pitchFamily="18" charset="0"/>
                          <a:ea typeface="等线" panose="02010600030101010101" pitchFamily="2" charset="-122"/>
                        </a:rPr>
                        <m:t>𝐶</m:t>
                      </m:r>
                      <m:r>
                        <a:rPr lang="en-US" altLang="zh-CN" sz="2400" b="0" i="1" kern="100">
                          <a:effectLst/>
                          <a:latin typeface="Cambria Math" panose="02040503050406030204" pitchFamily="18" charset="0"/>
                          <a:ea typeface="等线" panose="02010600030101010101" pitchFamily="2" charset="-122"/>
                        </a:rPr>
                        <m:t>(1000,700)</m:t>
                      </m:r>
                    </m:oMath>
                  </m:oMathPara>
                </a14:m>
                <a:endParaRPr lang="zh-CN" altLang="zh-CN" sz="2400" b="1" kern="100" dirty="0">
                  <a:effectLst/>
                  <a:latin typeface="等线" panose="02010600030101010101" pitchFamily="2" charset="-122"/>
                  <a:ea typeface="等线" panose="02010600030101010101" pitchFamily="2" charset="-122"/>
                </a:endParaRPr>
              </a:p>
              <a:p>
                <a:pPr marL="228600" indent="266700" algn="just"/>
                <a:r>
                  <a:rPr lang="en-US" altLang="zh-CN" sz="1800" b="1" u="sng" kern="100" dirty="0">
                    <a:solidFill>
                      <a:srgbClr val="0563C1"/>
                    </a:solidFill>
                    <a:effectLst/>
                    <a:latin typeface="等线" panose="02010600030101010101" pitchFamily="2" charset="-122"/>
                    <a:ea typeface="等线" panose="02010600030101010101" pitchFamily="2" charset="-122"/>
                    <a:cs typeface="Times New Roman" panose="02020603050405020304" pitchFamily="18" charset="0"/>
                    <a:hlinkClick r:id="rId3" tooltip="sklearn.model_selection.ShuffleSplit"/>
                  </a:rPr>
                  <a:t>       </a:t>
                </a:r>
                <a:r>
                  <a:rPr lang="en-US" altLang="zh-CN" sz="1800" b="1" u="sng" kern="100" dirty="0" err="1">
                    <a:solidFill>
                      <a:srgbClr val="0563C1"/>
                    </a:solidFill>
                    <a:effectLst/>
                    <a:latin typeface="等线" panose="02010600030101010101" pitchFamily="2" charset="-122"/>
                    <a:ea typeface="等线" panose="02010600030101010101" pitchFamily="2" charset="-122"/>
                    <a:cs typeface="Times New Roman" panose="02020603050405020304" pitchFamily="18" charset="0"/>
                    <a:hlinkClick r:id="rId3" tooltip="sklearn.model_selection.ShuffleSplit"/>
                  </a:rPr>
                  <a:t>ShuffleSplit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and </a:t>
                </a:r>
                <a:r>
                  <a:rPr lang="en-US" altLang="zh-CN" sz="1800" b="1" u="sng" kern="100" dirty="0" err="1">
                    <a:solidFill>
                      <a:srgbClr val="0563C1"/>
                    </a:solidFill>
                    <a:effectLst/>
                    <a:latin typeface="等线" panose="02010600030101010101" pitchFamily="2" charset="-122"/>
                    <a:ea typeface="等线" panose="02010600030101010101" pitchFamily="2" charset="-122"/>
                    <a:cs typeface="Times New Roman" panose="02020603050405020304" pitchFamily="18" charset="0"/>
                    <a:hlinkClick r:id="rId4" tooltip="sklearn.model_selection.StratifiedShuffleSplit"/>
                  </a:rPr>
                  <a:t>StratifiedShuffleSplit</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DDD95E45-B60C-7EBF-DE2D-98E17876A902}"/>
                  </a:ext>
                </a:extLst>
              </p:cNvPr>
              <p:cNvSpPr txBox="1">
                <a:spLocks noRot="1" noChangeAspect="1" noMove="1" noResize="1" noEditPoints="1" noAdjustHandles="1" noChangeArrowheads="1" noChangeShapeType="1" noTextEdit="1"/>
              </p:cNvSpPr>
              <p:nvPr/>
            </p:nvSpPr>
            <p:spPr>
              <a:xfrm>
                <a:off x="3048897" y="3807575"/>
                <a:ext cx="6094206" cy="1980670"/>
              </a:xfrm>
              <a:prstGeom prst="rect">
                <a:avLst/>
              </a:prstGeom>
              <a:blipFill>
                <a:blip r:embed="rId5"/>
                <a:stretch>
                  <a:fillRect b="-4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736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作业一</a:t>
            </a:r>
          </a:p>
        </p:txBody>
      </p:sp>
      <p:pic>
        <p:nvPicPr>
          <p:cNvPr id="2052" name="Picture 4">
            <a:extLst>
              <a:ext uri="{FF2B5EF4-FFF2-40B4-BE49-F238E27FC236}">
                <a16:creationId xmlns:a16="http://schemas.microsoft.com/office/drawing/2014/main" id="{F89088C1-7C99-C2E1-C19A-72880D0744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1690688"/>
            <a:ext cx="10039350" cy="211455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40F42CD6-E27D-1B87-BCC1-37CEDC961BDB}"/>
              </a:ext>
            </a:extLst>
          </p:cNvPr>
          <p:cNvSpPr txBox="1"/>
          <p:nvPr/>
        </p:nvSpPr>
        <p:spPr>
          <a:xfrm>
            <a:off x="1835972" y="4098664"/>
            <a:ext cx="8520056"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t>训练集中的正负样本数是否等比例：等比例错误率为</a:t>
            </a:r>
            <a:r>
              <a:rPr lang="en-US" altLang="zh-CN" sz="2400" dirty="0"/>
              <a:t>50%</a:t>
            </a:r>
            <a:r>
              <a:rPr lang="zh-CN" altLang="en-US" sz="2400" dirty="0"/>
              <a:t>，不等比例错误率为</a:t>
            </a:r>
            <a:r>
              <a:rPr lang="en-US" altLang="zh-CN" sz="2400" dirty="0"/>
              <a:t>50%-100%</a:t>
            </a:r>
          </a:p>
          <a:p>
            <a:pPr marL="285750" indent="-285750">
              <a:buFont typeface="Arial" panose="020B0604020202020204" pitchFamily="34" charset="0"/>
              <a:buChar char="•"/>
            </a:pPr>
            <a:r>
              <a:rPr lang="zh-CN" altLang="en-US" sz="2400" dirty="0"/>
              <a:t>留一法错误率为</a:t>
            </a:r>
            <a:r>
              <a:rPr lang="en-US" altLang="zh-CN" sz="2400" dirty="0"/>
              <a:t>100%</a:t>
            </a:r>
            <a:endParaRPr lang="zh-CN" altLang="en-US" sz="2400" dirty="0"/>
          </a:p>
        </p:txBody>
      </p:sp>
    </p:spTree>
    <p:extLst>
      <p:ext uri="{BB962C8B-B14F-4D97-AF65-F5344CB8AC3E}">
        <p14:creationId xmlns:p14="http://schemas.microsoft.com/office/powerpoint/2010/main" val="130733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作业一</a:t>
            </a:r>
          </a:p>
        </p:txBody>
      </p:sp>
      <p:pic>
        <p:nvPicPr>
          <p:cNvPr id="4" name="图片 3">
            <a:extLst>
              <a:ext uri="{FF2B5EF4-FFF2-40B4-BE49-F238E27FC236}">
                <a16:creationId xmlns:a16="http://schemas.microsoft.com/office/drawing/2014/main" id="{2D31CAC0-BB68-F379-67CD-E7CB2C8F4CFE}"/>
              </a:ext>
            </a:extLst>
          </p:cNvPr>
          <p:cNvPicPr>
            <a:picLocks noChangeAspect="1"/>
          </p:cNvPicPr>
          <p:nvPr/>
        </p:nvPicPr>
        <p:blipFill>
          <a:blip r:embed="rId2"/>
          <a:stretch>
            <a:fillRect/>
          </a:stretch>
        </p:blipFill>
        <p:spPr>
          <a:xfrm>
            <a:off x="410711" y="1690688"/>
            <a:ext cx="11370577" cy="4145523"/>
          </a:xfrm>
          <a:prstGeom prst="rect">
            <a:avLst/>
          </a:prstGeom>
        </p:spPr>
      </p:pic>
      <p:pic>
        <p:nvPicPr>
          <p:cNvPr id="7" name="图片 6">
            <a:extLst>
              <a:ext uri="{FF2B5EF4-FFF2-40B4-BE49-F238E27FC236}">
                <a16:creationId xmlns:a16="http://schemas.microsoft.com/office/drawing/2014/main" id="{C58B8084-520C-0DC9-20BA-3FD1DB3C1E95}"/>
              </a:ext>
            </a:extLst>
          </p:cNvPr>
          <p:cNvPicPr>
            <a:picLocks noChangeAspect="1"/>
          </p:cNvPicPr>
          <p:nvPr/>
        </p:nvPicPr>
        <p:blipFill>
          <a:blip r:embed="rId3"/>
          <a:stretch>
            <a:fillRect/>
          </a:stretch>
        </p:blipFill>
        <p:spPr>
          <a:xfrm>
            <a:off x="6759714" y="4214931"/>
            <a:ext cx="2523809" cy="952381"/>
          </a:xfrm>
          <a:prstGeom prst="rect">
            <a:avLst/>
          </a:prstGeom>
        </p:spPr>
      </p:pic>
    </p:spTree>
    <p:extLst>
      <p:ext uri="{BB962C8B-B14F-4D97-AF65-F5344CB8AC3E}">
        <p14:creationId xmlns:p14="http://schemas.microsoft.com/office/powerpoint/2010/main" val="3307393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作业二</a:t>
            </a:r>
          </a:p>
        </p:txBody>
      </p:sp>
      <p:sp>
        <p:nvSpPr>
          <p:cNvPr id="4" name="文本框 3">
            <a:extLst>
              <a:ext uri="{FF2B5EF4-FFF2-40B4-BE49-F238E27FC236}">
                <a16:creationId xmlns:a16="http://schemas.microsoft.com/office/drawing/2014/main" id="{ECFB0DC7-2687-08CD-0E57-A87D0C34B854}"/>
              </a:ext>
            </a:extLst>
          </p:cNvPr>
          <p:cNvSpPr txBox="1"/>
          <p:nvPr/>
        </p:nvSpPr>
        <p:spPr>
          <a:xfrm>
            <a:off x="1154206" y="1518566"/>
            <a:ext cx="9883588" cy="1144031"/>
          </a:xfrm>
          <a:prstGeom prst="rect">
            <a:avLst/>
          </a:prstGeom>
          <a:noFill/>
        </p:spPr>
        <p:txBody>
          <a:bodyPr wrap="square">
            <a:spAutoFit/>
          </a:bodyPr>
          <a:lstStyle/>
          <a:p>
            <a:pPr>
              <a:lnSpc>
                <a:spcPct val="150000"/>
              </a:lnSpc>
            </a:pPr>
            <a:r>
              <a:rPr lang="en-US" altLang="zh-CN" sz="2400" b="1" i="0" dirty="0">
                <a:solidFill>
                  <a:srgbClr val="333333"/>
                </a:solidFill>
                <a:effectLst/>
                <a:latin typeface="+mn-ea"/>
              </a:rPr>
              <a:t>Minsky </a:t>
            </a:r>
            <a:r>
              <a:rPr lang="zh-CN" altLang="en-US" sz="2400" b="1" i="0" dirty="0">
                <a:solidFill>
                  <a:srgbClr val="333333"/>
                </a:solidFill>
                <a:effectLst/>
                <a:latin typeface="+mn-ea"/>
              </a:rPr>
              <a:t>与 </a:t>
            </a:r>
            <a:r>
              <a:rPr lang="en-US" altLang="zh-CN" sz="2400" b="1" i="0" dirty="0" err="1">
                <a:solidFill>
                  <a:srgbClr val="333333"/>
                </a:solidFill>
                <a:effectLst/>
                <a:latin typeface="+mn-ea"/>
              </a:rPr>
              <a:t>Papert</a:t>
            </a:r>
            <a:r>
              <a:rPr lang="en-US" altLang="zh-CN" sz="2400" b="1" i="0" dirty="0">
                <a:solidFill>
                  <a:srgbClr val="333333"/>
                </a:solidFill>
                <a:effectLst/>
                <a:latin typeface="+mn-ea"/>
              </a:rPr>
              <a:t> </a:t>
            </a:r>
            <a:r>
              <a:rPr lang="zh-CN" altLang="en-US" sz="2400" b="1" i="0" dirty="0">
                <a:solidFill>
                  <a:srgbClr val="333333"/>
                </a:solidFill>
                <a:effectLst/>
                <a:latin typeface="+mn-ea"/>
              </a:rPr>
              <a:t>指出</a:t>
            </a:r>
            <a:r>
              <a:rPr lang="en-US" altLang="zh-CN" sz="2400" b="1" i="0" dirty="0">
                <a:solidFill>
                  <a:srgbClr val="333333"/>
                </a:solidFill>
                <a:effectLst/>
                <a:latin typeface="+mn-ea"/>
              </a:rPr>
              <a:t>:</a:t>
            </a:r>
            <a:r>
              <a:rPr lang="zh-CN" altLang="en-US" sz="2400" b="1" i="0" dirty="0">
                <a:solidFill>
                  <a:srgbClr val="333333"/>
                </a:solidFill>
                <a:effectLst/>
                <a:latin typeface="+mn-ea"/>
              </a:rPr>
              <a:t>感知机因为是线性模型</a:t>
            </a:r>
            <a:r>
              <a:rPr lang="en-US" altLang="zh-CN" sz="2400" b="1" i="0" dirty="0">
                <a:solidFill>
                  <a:srgbClr val="333333"/>
                </a:solidFill>
                <a:effectLst/>
                <a:latin typeface="+mn-ea"/>
              </a:rPr>
              <a:t>,</a:t>
            </a:r>
            <a:r>
              <a:rPr lang="zh-CN" altLang="en-US" sz="2400" b="1" i="0" dirty="0">
                <a:solidFill>
                  <a:srgbClr val="333333"/>
                </a:solidFill>
                <a:effectLst/>
                <a:latin typeface="+mn-ea"/>
              </a:rPr>
              <a:t>所以不能表示复杂的函数</a:t>
            </a:r>
            <a:r>
              <a:rPr lang="en-US" altLang="zh-CN" sz="2400" b="1" i="0" dirty="0">
                <a:solidFill>
                  <a:srgbClr val="333333"/>
                </a:solidFill>
                <a:effectLst/>
                <a:latin typeface="+mn-ea"/>
              </a:rPr>
              <a:t>,</a:t>
            </a:r>
            <a:r>
              <a:rPr lang="zh-CN" altLang="en-US" sz="2400" b="1" i="0" dirty="0">
                <a:solidFill>
                  <a:srgbClr val="333333"/>
                </a:solidFill>
                <a:effectLst/>
                <a:latin typeface="+mn-ea"/>
              </a:rPr>
              <a:t>如异或 </a:t>
            </a:r>
            <a:r>
              <a:rPr lang="en-US" altLang="zh-CN" sz="2400" b="1" i="0" dirty="0">
                <a:solidFill>
                  <a:srgbClr val="333333"/>
                </a:solidFill>
                <a:effectLst/>
                <a:latin typeface="+mn-ea"/>
              </a:rPr>
              <a:t>(XOR)</a:t>
            </a:r>
            <a:r>
              <a:rPr lang="zh-CN" altLang="en-US" sz="2400" b="1" i="0" dirty="0">
                <a:solidFill>
                  <a:srgbClr val="333333"/>
                </a:solidFill>
                <a:effectLst/>
                <a:latin typeface="+mn-ea"/>
              </a:rPr>
              <a:t>。验证感知机为什么不能表示异或。</a:t>
            </a:r>
            <a:endParaRPr lang="en-US" altLang="zh-CN" sz="2400" b="1" i="0" dirty="0">
              <a:solidFill>
                <a:srgbClr val="333333"/>
              </a:solidFill>
              <a:effectLst/>
              <a:latin typeface="+mn-ea"/>
            </a:endParaRPr>
          </a:p>
        </p:txBody>
      </p:sp>
      <p:pic>
        <p:nvPicPr>
          <p:cNvPr id="7" name="图片 6">
            <a:extLst>
              <a:ext uri="{FF2B5EF4-FFF2-40B4-BE49-F238E27FC236}">
                <a16:creationId xmlns:a16="http://schemas.microsoft.com/office/drawing/2014/main" id="{BA5A2D39-7AFB-3384-FB87-B931D441085B}"/>
              </a:ext>
            </a:extLst>
          </p:cNvPr>
          <p:cNvPicPr>
            <a:picLocks noChangeAspect="1"/>
          </p:cNvPicPr>
          <p:nvPr/>
        </p:nvPicPr>
        <p:blipFill>
          <a:blip r:embed="rId2"/>
          <a:stretch>
            <a:fillRect/>
          </a:stretch>
        </p:blipFill>
        <p:spPr>
          <a:xfrm>
            <a:off x="6321498" y="3126985"/>
            <a:ext cx="3271344" cy="3243431"/>
          </a:xfrm>
          <a:prstGeom prst="rect">
            <a:avLst/>
          </a:prstGeom>
        </p:spPr>
      </p:pic>
      <p:pic>
        <p:nvPicPr>
          <p:cNvPr id="9" name="图片 8">
            <a:extLst>
              <a:ext uri="{FF2B5EF4-FFF2-40B4-BE49-F238E27FC236}">
                <a16:creationId xmlns:a16="http://schemas.microsoft.com/office/drawing/2014/main" id="{0A54CCDF-33CE-6BB8-B094-A1E9A5C601F4}"/>
              </a:ext>
            </a:extLst>
          </p:cNvPr>
          <p:cNvPicPr>
            <a:picLocks noChangeAspect="1"/>
          </p:cNvPicPr>
          <p:nvPr/>
        </p:nvPicPr>
        <p:blipFill>
          <a:blip r:embed="rId3"/>
          <a:stretch>
            <a:fillRect/>
          </a:stretch>
        </p:blipFill>
        <p:spPr>
          <a:xfrm>
            <a:off x="1814947" y="3126985"/>
            <a:ext cx="3103054" cy="3243431"/>
          </a:xfrm>
          <a:prstGeom prst="rect">
            <a:avLst/>
          </a:prstGeom>
        </p:spPr>
      </p:pic>
    </p:spTree>
    <p:extLst>
      <p:ext uri="{BB962C8B-B14F-4D97-AF65-F5344CB8AC3E}">
        <p14:creationId xmlns:p14="http://schemas.microsoft.com/office/powerpoint/2010/main" val="1913515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作业三</a:t>
            </a:r>
          </a:p>
        </p:txBody>
      </p:sp>
      <p:pic>
        <p:nvPicPr>
          <p:cNvPr id="3074" name="Picture 2">
            <a:extLst>
              <a:ext uri="{FF2B5EF4-FFF2-40B4-BE49-F238E27FC236}">
                <a16:creationId xmlns:a16="http://schemas.microsoft.com/office/drawing/2014/main" id="{8CCCF6F4-E4CE-BA83-28B5-CAF37FA23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956" y="1507808"/>
            <a:ext cx="10850088" cy="934178"/>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F885DEBC-220B-B3E9-CB42-EB9F9E362B0B}"/>
              </a:ext>
            </a:extLst>
          </p:cNvPr>
          <p:cNvPicPr>
            <a:picLocks noChangeAspect="1"/>
          </p:cNvPicPr>
          <p:nvPr/>
        </p:nvPicPr>
        <p:blipFill>
          <a:blip r:embed="rId3"/>
          <a:stretch>
            <a:fillRect/>
          </a:stretch>
        </p:blipFill>
        <p:spPr>
          <a:xfrm>
            <a:off x="956184" y="2579399"/>
            <a:ext cx="4944932" cy="3954520"/>
          </a:xfrm>
          <a:prstGeom prst="rect">
            <a:avLst/>
          </a:prstGeom>
        </p:spPr>
      </p:pic>
      <p:pic>
        <p:nvPicPr>
          <p:cNvPr id="8" name="图片 7">
            <a:extLst>
              <a:ext uri="{FF2B5EF4-FFF2-40B4-BE49-F238E27FC236}">
                <a16:creationId xmlns:a16="http://schemas.microsoft.com/office/drawing/2014/main" id="{17E3C6DA-5547-2013-550B-9BFB1C9F3D0E}"/>
              </a:ext>
            </a:extLst>
          </p:cNvPr>
          <p:cNvPicPr>
            <a:picLocks noChangeAspect="1"/>
          </p:cNvPicPr>
          <p:nvPr/>
        </p:nvPicPr>
        <p:blipFill>
          <a:blip r:embed="rId4"/>
          <a:stretch>
            <a:fillRect/>
          </a:stretch>
        </p:blipFill>
        <p:spPr>
          <a:xfrm>
            <a:off x="6172551" y="2511488"/>
            <a:ext cx="4847549" cy="4090341"/>
          </a:xfrm>
          <a:prstGeom prst="rect">
            <a:avLst/>
          </a:prstGeom>
        </p:spPr>
      </p:pic>
    </p:spTree>
    <p:extLst>
      <p:ext uri="{BB962C8B-B14F-4D97-AF65-F5344CB8AC3E}">
        <p14:creationId xmlns:p14="http://schemas.microsoft.com/office/powerpoint/2010/main" val="2979541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作业三</a:t>
            </a:r>
          </a:p>
        </p:txBody>
      </p:sp>
      <p:pic>
        <p:nvPicPr>
          <p:cNvPr id="3074" name="Picture 2">
            <a:extLst>
              <a:ext uri="{FF2B5EF4-FFF2-40B4-BE49-F238E27FC236}">
                <a16:creationId xmlns:a16="http://schemas.microsoft.com/office/drawing/2014/main" id="{8CCCF6F4-E4CE-BA83-28B5-CAF37FA23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956" y="1507808"/>
            <a:ext cx="10850088" cy="93417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6EA7A349-D98A-F73D-B7CD-8C2D1F7A6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874" y="2833371"/>
            <a:ext cx="4484433" cy="358280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A7B27502-CE58-4C1C-7100-953CD64EED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4056" y="2833370"/>
            <a:ext cx="4678070" cy="3582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652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作业三</a:t>
            </a:r>
          </a:p>
        </p:txBody>
      </p:sp>
      <p:sp>
        <p:nvSpPr>
          <p:cNvPr id="8" name="文本框 7">
            <a:extLst>
              <a:ext uri="{FF2B5EF4-FFF2-40B4-BE49-F238E27FC236}">
                <a16:creationId xmlns:a16="http://schemas.microsoft.com/office/drawing/2014/main" id="{7466252F-F96B-1BF0-EC2A-77DA843CAB34}"/>
              </a:ext>
            </a:extLst>
          </p:cNvPr>
          <p:cNvSpPr txBox="1"/>
          <p:nvPr/>
        </p:nvSpPr>
        <p:spPr>
          <a:xfrm>
            <a:off x="196327" y="1656576"/>
            <a:ext cx="6094206" cy="5201424"/>
          </a:xfrm>
          <a:prstGeom prst="rect">
            <a:avLst/>
          </a:prstGeom>
          <a:noFill/>
        </p:spPr>
        <p:txBody>
          <a:bodyPr wrap="square">
            <a:spAutoFit/>
          </a:bodyPr>
          <a:lstStyle/>
          <a:p>
            <a:pPr algn="just"/>
            <a:r>
              <a:rPr lang="en-US" altLang="zh-CN" sz="1600" kern="100" dirty="0">
                <a:effectLst/>
                <a:latin typeface="宋体" panose="02010600030101010101" pitchFamily="2" charset="-122"/>
                <a:ea typeface="等线" panose="02010600030101010101" pitchFamily="2" charset="-122"/>
                <a:cs typeface="Times New Roman" panose="02020603050405020304" pitchFamily="18" charset="0"/>
              </a:rPr>
              <a:t>1.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数据准备</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准备已标注的训练数据集，包含特征向量和对应标签。</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effectLst/>
                <a:latin typeface="宋体" panose="02010600030101010101" pitchFamily="2" charset="-122"/>
                <a:ea typeface="等线" panose="02010600030101010101" pitchFamily="2" charset="-122"/>
                <a:cs typeface="Times New Roman" panose="02020603050405020304" pitchFamily="18" charset="0"/>
              </a:rPr>
              <a:t>2.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构建</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K-D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树</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使用</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K-D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树加速最近邻搜索。</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effectLst/>
                <a:latin typeface="宋体" panose="02010600030101010101" pitchFamily="2" charset="-122"/>
                <a:ea typeface="等线" panose="02010600030101010101" pitchFamily="2" charset="-122"/>
                <a:cs typeface="Times New Roman" panose="02020603050405020304" pitchFamily="18" charset="0"/>
              </a:rPr>
              <a:t>3.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搜索最近邻</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对于每个待分类的数据点（测试样本），使用</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K-D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树进行邻居搜索，维护一个最大堆来存储</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个最近邻。</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effectLst/>
                <a:latin typeface="宋体" panose="02010600030101010101" pitchFamily="2" charset="-122"/>
                <a:ea typeface="等线" panose="02010600030101010101" pitchFamily="2" charset="-122"/>
                <a:cs typeface="Times New Roman" panose="02020603050405020304" pitchFamily="18" charset="0"/>
              </a:rPr>
              <a:t>4.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回溯查找：</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在完成搜索后，可能需要检查另一个子树是否包含比当前堆中最大元素更近的点。这是因为</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K-D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树的分割可能会导致某些点被遗漏。</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通过比较当前节点的距离和最大堆中最大值的距离，决定是否需要继续在另一个子树中搜索。</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effectLst/>
                <a:latin typeface="宋体" panose="02010600030101010101" pitchFamily="2" charset="-122"/>
                <a:ea typeface="等线" panose="02010600030101010101" pitchFamily="2" charset="-122"/>
                <a:cs typeface="Times New Roman" panose="02020603050405020304" pitchFamily="18" charset="0"/>
              </a:rPr>
              <a:t>5.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完成邻居搜索：</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一旦</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个邻居都找到，使用最大堆中的元素进行投票：</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提取最大堆中的标签，并根据出现频率选择最终预测类别。</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若使用加权投票（根据距离赋予权重），则根据距离计算加权总和。</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kern="100" dirty="0">
                <a:effectLst/>
                <a:latin typeface="宋体" panose="02010600030101010101" pitchFamily="2" charset="-122"/>
                <a:ea typeface="等线" panose="02010600030101010101" pitchFamily="2" charset="-122"/>
                <a:cs typeface="Times New Roman" panose="02020603050405020304" pitchFamily="18" charset="0"/>
              </a:rPr>
              <a:t>6.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输出预测结果：</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tabLst>
                <a:tab pos="4572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输出待分类点的预测类别。</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75F41901-31B4-0F06-9A74-A2D47221DD46}"/>
              </a:ext>
            </a:extLst>
          </p:cNvPr>
          <p:cNvSpPr txBox="1"/>
          <p:nvPr/>
        </p:nvSpPr>
        <p:spPr>
          <a:xfrm>
            <a:off x="5775064" y="221593"/>
            <a:ext cx="6094206" cy="3785652"/>
          </a:xfrm>
          <a:prstGeom prst="rect">
            <a:avLst/>
          </a:prstGeom>
          <a:noFill/>
        </p:spPr>
        <p:txBody>
          <a:bodyPr wrap="square">
            <a:spAutoFit/>
          </a:bodyPr>
          <a:lstStyle/>
          <a:p>
            <a:pPr indent="152400" algn="just"/>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第</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3</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步</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搜索最近邻</a:t>
            </a:r>
            <a:r>
              <a:rPr lang="zh-CN" altLang="en-US" sz="1600" kern="100" dirty="0">
                <a:effectLst/>
                <a:latin typeface="等线" panose="02010600030101010101" pitchFamily="2" charset="-122"/>
                <a:ea typeface="宋体" panose="02010600030101010101" pitchFamily="2" charset="-122"/>
                <a:cs typeface="Times New Roman" panose="02020603050405020304" pitchFamily="18" charset="0"/>
              </a:rPr>
              <a:t>的</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具体步骤</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mj-lt"/>
              <a:buAutoNum type="arabicParenR"/>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初始化最大堆：</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创建一个最大堆，用于存储当前找到的</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个最近邻及其距离。</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buFont typeface="+mj-lt"/>
              <a:buAutoNum type="arabicParenR"/>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从</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K-D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树中查找邻居：</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从</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K-D </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树的根节点开始，递归查找最近邻。</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对于每个节点，计算到待分类点的距离：</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371600" algn="just"/>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插入到最大堆：</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600200" lvl="3" indent="-228600" algn="just">
              <a:buSzPts val="1000"/>
              <a:buFont typeface="Wingdings" panose="05000000000000000000" pitchFamily="2" charset="2"/>
              <a:buChar char=""/>
              <a:tabLst>
                <a:tab pos="18288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如果当前最大堆的大小小于</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 K</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，则将当前节点的距离和标签插入最大堆。</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1600200" lvl="3" indent="-228600" algn="just">
              <a:buSzPts val="1000"/>
              <a:buFont typeface="Wingdings" panose="05000000000000000000" pitchFamily="2" charset="2"/>
              <a:buChar char=""/>
              <a:tabLst>
                <a:tab pos="18288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如果当前节点的距离小于最大堆中的最大值（即堆顶），则替换堆顶元素：</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2057400" lvl="4" indent="-228600" algn="just">
              <a:buFont typeface="+mj-lt"/>
              <a:buAutoNum type="alphaLcParenR"/>
              <a:tabLst>
                <a:tab pos="2286000" algn="l"/>
              </a:tabLst>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将堆顶元素（最大值）移除，插入当前节点的距离和标签。</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2057400" lvl="4" indent="-228600" algn="just">
              <a:buFont typeface="+mj-lt"/>
              <a:buAutoNum type="alphaLcParenR"/>
            </a:pP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进行</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下沉</a:t>
            </a:r>
            <a:r>
              <a:rPr lang="en-US" altLang="zh-CN" sz="16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宋体" panose="02010600030101010101" pitchFamily="2" charset="-122"/>
                <a:cs typeface="Times New Roman" panose="02020603050405020304" pitchFamily="18" charset="0"/>
              </a:rPr>
              <a:t>操作，以维护最大堆性质。</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69408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作业四</a:t>
            </a:r>
          </a:p>
        </p:txBody>
      </p:sp>
      <p:pic>
        <p:nvPicPr>
          <p:cNvPr id="7170" name="Picture 2">
            <a:extLst>
              <a:ext uri="{FF2B5EF4-FFF2-40B4-BE49-F238E27FC236}">
                <a16:creationId xmlns:a16="http://schemas.microsoft.com/office/drawing/2014/main" id="{803CDB42-AC1D-2BF9-795B-C0C633500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2677" y="714107"/>
            <a:ext cx="6149507" cy="411092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C917DA66-DBE0-CB35-4DBA-8BC26128B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3128" y="5392110"/>
            <a:ext cx="6827239" cy="751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082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作业四</a:t>
            </a:r>
          </a:p>
        </p:txBody>
      </p:sp>
      <p:sp>
        <p:nvSpPr>
          <p:cNvPr id="4" name="文本框 3">
            <a:extLst>
              <a:ext uri="{FF2B5EF4-FFF2-40B4-BE49-F238E27FC236}">
                <a16:creationId xmlns:a16="http://schemas.microsoft.com/office/drawing/2014/main" id="{D0BB1A7D-5662-646E-BB05-F8CCF89F4C8A}"/>
              </a:ext>
            </a:extLst>
          </p:cNvPr>
          <p:cNvSpPr txBox="1"/>
          <p:nvPr/>
        </p:nvSpPr>
        <p:spPr>
          <a:xfrm>
            <a:off x="838200" y="1583112"/>
            <a:ext cx="10794402" cy="954107"/>
          </a:xfrm>
          <a:prstGeom prst="rect">
            <a:avLst/>
          </a:prstGeom>
          <a:noFill/>
        </p:spPr>
        <p:txBody>
          <a:bodyPr wrap="square">
            <a:spAutoFit/>
          </a:bodyPr>
          <a:lstStyle/>
          <a:p>
            <a:r>
              <a:rPr lang="zh-CN" altLang="en-US" sz="2800" b="1" i="0" dirty="0">
                <a:solidFill>
                  <a:srgbClr val="444444"/>
                </a:solidFill>
                <a:effectLst/>
                <a:latin typeface="+mn-ea"/>
              </a:rPr>
              <a:t>朴素贝叶斯法决定分类类别时，若数据的维度非常高，则概率连乘的结果通常会非常接近于</a:t>
            </a:r>
            <a:r>
              <a:rPr lang="en-US" altLang="zh-CN" sz="2800" b="1" i="0" dirty="0">
                <a:solidFill>
                  <a:srgbClr val="444444"/>
                </a:solidFill>
                <a:effectLst/>
                <a:latin typeface="+mn-ea"/>
              </a:rPr>
              <a:t>0</a:t>
            </a:r>
            <a:r>
              <a:rPr lang="zh-CN" altLang="en-US" sz="2800" b="1" i="0" dirty="0">
                <a:solidFill>
                  <a:srgbClr val="444444"/>
                </a:solidFill>
                <a:effectLst/>
                <a:latin typeface="+mn-ea"/>
              </a:rPr>
              <a:t>从而导致下溢。试述防止下溢的可能方案。</a:t>
            </a:r>
            <a:endParaRPr lang="zh-CN" altLang="en-US" sz="2800" b="1" dirty="0">
              <a:latin typeface="+mn-ea"/>
            </a:endParaRPr>
          </a:p>
        </p:txBody>
      </p:sp>
      <p:sp>
        <p:nvSpPr>
          <p:cNvPr id="6" name="文本框 5">
            <a:extLst>
              <a:ext uri="{FF2B5EF4-FFF2-40B4-BE49-F238E27FC236}">
                <a16:creationId xmlns:a16="http://schemas.microsoft.com/office/drawing/2014/main" id="{444AEDEF-AE02-7A64-74B7-16D87C2EE9AF}"/>
              </a:ext>
            </a:extLst>
          </p:cNvPr>
          <p:cNvSpPr txBox="1"/>
          <p:nvPr/>
        </p:nvSpPr>
        <p:spPr>
          <a:xfrm>
            <a:off x="1168997" y="2754095"/>
            <a:ext cx="9854005" cy="37387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000" b="1" dirty="0"/>
              <a:t>对数变换</a:t>
            </a:r>
            <a:r>
              <a:rPr lang="zh-CN" altLang="en-US" sz="2000" dirty="0"/>
              <a:t>：将连乘变为加法。使用对数函数可以将乘法转换为加法，从而避免下溢的问题。</a:t>
            </a:r>
            <a:endParaRPr lang="en-US" altLang="zh-CN" sz="2000" dirty="0"/>
          </a:p>
          <a:p>
            <a:pPr marL="285750" indent="-285750">
              <a:lnSpc>
                <a:spcPct val="150000"/>
              </a:lnSpc>
              <a:buFont typeface="Arial" panose="020B0604020202020204" pitchFamily="34" charset="0"/>
              <a:buChar char="•"/>
            </a:pPr>
            <a:r>
              <a:rPr lang="zh-CN" altLang="en-US" sz="2000" b="1" dirty="0"/>
              <a:t>拉普拉斯平滑</a:t>
            </a:r>
            <a:r>
              <a:rPr lang="zh-CN" altLang="en-US" sz="2000" dirty="0"/>
              <a:t>（或称为加</a:t>
            </a:r>
            <a:r>
              <a:rPr lang="en-US" altLang="zh-CN" sz="2000" dirty="0"/>
              <a:t>1</a:t>
            </a:r>
            <a:r>
              <a:rPr lang="zh-CN" altLang="en-US" sz="2000" dirty="0"/>
              <a:t>平滑）：在计算条件概率时，避免出现</a:t>
            </a:r>
            <a:r>
              <a:rPr lang="en-US" altLang="zh-CN" sz="2000" dirty="0"/>
              <a:t>0</a:t>
            </a:r>
            <a:r>
              <a:rPr lang="zh-CN" altLang="en-US" sz="2000" dirty="0"/>
              <a:t>概率的情况。通过在计数中加上一个小的常数（如</a:t>
            </a:r>
            <a:r>
              <a:rPr lang="en-US" altLang="zh-CN" sz="2000" dirty="0"/>
              <a:t>1</a:t>
            </a:r>
            <a:r>
              <a:rPr lang="zh-CN" altLang="en-US" sz="2000" dirty="0"/>
              <a:t>）来确保概率不为</a:t>
            </a:r>
            <a:r>
              <a:rPr lang="en-US" altLang="zh-CN" sz="2000" dirty="0"/>
              <a:t>0</a:t>
            </a:r>
            <a:r>
              <a:rPr lang="zh-CN" altLang="en-US" sz="2000" dirty="0"/>
              <a:t>。</a:t>
            </a:r>
            <a:endParaRPr lang="en-US" altLang="zh-CN" sz="2000" dirty="0"/>
          </a:p>
          <a:p>
            <a:pPr marL="285750" indent="-285750">
              <a:lnSpc>
                <a:spcPct val="150000"/>
              </a:lnSpc>
              <a:buFont typeface="Arial" panose="020B0604020202020204" pitchFamily="34" charset="0"/>
              <a:buChar char="•"/>
            </a:pPr>
            <a:r>
              <a:rPr lang="zh-CN" altLang="en-US" sz="2000" b="1" dirty="0"/>
              <a:t>特征选择</a:t>
            </a:r>
            <a:r>
              <a:rPr lang="zh-CN" altLang="en-US" sz="2000" dirty="0"/>
              <a:t>：通过选择与分类最相关的特征来减少维度。例如，使用方差阈值、互信息等方法筛选出重要特征，剔除冗余特征。</a:t>
            </a:r>
            <a:endParaRPr lang="en-US" altLang="zh-CN" sz="2000" dirty="0"/>
          </a:p>
          <a:p>
            <a:pPr marL="285750" indent="-285750">
              <a:lnSpc>
                <a:spcPct val="150000"/>
              </a:lnSpc>
              <a:buFont typeface="Arial" panose="020B0604020202020204" pitchFamily="34" charset="0"/>
              <a:buChar char="•"/>
            </a:pPr>
            <a:r>
              <a:rPr lang="zh-CN" altLang="en-US" sz="2000" b="1" dirty="0"/>
              <a:t>降维技术</a:t>
            </a:r>
            <a:r>
              <a:rPr lang="zh-CN" altLang="en-US" sz="2000" dirty="0"/>
              <a:t>：应用主成分分析（</a:t>
            </a:r>
            <a:r>
              <a:rPr lang="en-US" altLang="zh-CN" sz="2000" dirty="0"/>
              <a:t>PCA</a:t>
            </a:r>
            <a:r>
              <a:rPr lang="zh-CN" altLang="en-US" sz="2000" dirty="0"/>
              <a:t>）、线性判别分析（</a:t>
            </a:r>
            <a:r>
              <a:rPr lang="en-US" altLang="zh-CN" sz="2000" dirty="0"/>
              <a:t>LDA</a:t>
            </a:r>
            <a:r>
              <a:rPr lang="zh-CN" altLang="en-US" sz="2000" dirty="0"/>
              <a:t>）或</a:t>
            </a:r>
            <a:r>
              <a:rPr lang="en-US" altLang="zh-CN" sz="2000" dirty="0"/>
              <a:t>t-SNE</a:t>
            </a:r>
            <a:r>
              <a:rPr lang="zh-CN" altLang="en-US" sz="2000" dirty="0"/>
              <a:t>等降维方法来降低数据的维度。</a:t>
            </a:r>
          </a:p>
        </p:txBody>
      </p:sp>
    </p:spTree>
    <p:extLst>
      <p:ext uri="{BB962C8B-B14F-4D97-AF65-F5344CB8AC3E}">
        <p14:creationId xmlns:p14="http://schemas.microsoft.com/office/powerpoint/2010/main" val="3376571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D1EE9-AD80-3A47-89AF-139DC1BB48CD}"/>
              </a:ext>
            </a:extLst>
          </p:cNvPr>
          <p:cNvSpPr>
            <a:spLocks noGrp="1"/>
          </p:cNvSpPr>
          <p:nvPr>
            <p:ph type="title"/>
          </p:nvPr>
        </p:nvSpPr>
        <p:spPr/>
        <p:txBody>
          <a:bodyPr/>
          <a:lstStyle/>
          <a:p>
            <a:r>
              <a:rPr lang="zh-CN" altLang="en-US" dirty="0"/>
              <a:t>作业五</a:t>
            </a:r>
          </a:p>
        </p:txBody>
      </p:sp>
      <p:sp>
        <p:nvSpPr>
          <p:cNvPr id="4" name="文本框 3">
            <a:extLst>
              <a:ext uri="{FF2B5EF4-FFF2-40B4-BE49-F238E27FC236}">
                <a16:creationId xmlns:a16="http://schemas.microsoft.com/office/drawing/2014/main" id="{D0BB1A7D-5662-646E-BB05-F8CCF89F4C8A}"/>
              </a:ext>
            </a:extLst>
          </p:cNvPr>
          <p:cNvSpPr txBox="1"/>
          <p:nvPr/>
        </p:nvSpPr>
        <p:spPr>
          <a:xfrm>
            <a:off x="838200" y="1583112"/>
            <a:ext cx="10794402" cy="523220"/>
          </a:xfrm>
          <a:prstGeom prst="rect">
            <a:avLst/>
          </a:prstGeom>
          <a:noFill/>
        </p:spPr>
        <p:txBody>
          <a:bodyPr wrap="square">
            <a:spAutoFit/>
          </a:bodyPr>
          <a:lstStyle/>
          <a:p>
            <a:r>
              <a:rPr lang="zh-CN" altLang="en-US" sz="2800" dirty="0"/>
              <a:t>试分析使用“最小训练误差”作为决策树划分准则的缺陷。</a:t>
            </a:r>
            <a:endParaRPr lang="zh-CN" altLang="en-US" sz="2800" b="1" dirty="0">
              <a:latin typeface="+mn-ea"/>
            </a:endParaRPr>
          </a:p>
        </p:txBody>
      </p:sp>
      <p:sp>
        <p:nvSpPr>
          <p:cNvPr id="5" name="文本框 4">
            <a:extLst>
              <a:ext uri="{FF2B5EF4-FFF2-40B4-BE49-F238E27FC236}">
                <a16:creationId xmlns:a16="http://schemas.microsoft.com/office/drawing/2014/main" id="{4F0AF9F5-F94F-A078-8C21-C31D0B0A1D46}"/>
              </a:ext>
            </a:extLst>
          </p:cNvPr>
          <p:cNvSpPr txBox="1"/>
          <p:nvPr/>
        </p:nvSpPr>
        <p:spPr>
          <a:xfrm>
            <a:off x="744070" y="2245558"/>
            <a:ext cx="11035553" cy="3970318"/>
          </a:xfrm>
          <a:prstGeom prst="rect">
            <a:avLst/>
          </a:prstGeom>
          <a:noFill/>
        </p:spPr>
        <p:txBody>
          <a:bodyPr wrap="square">
            <a:spAutoFit/>
          </a:bodyPr>
          <a:lstStyle/>
          <a:p>
            <a:r>
              <a:rPr lang="zh-CN" altLang="en-US" b="1" dirty="0"/>
              <a:t>容易过拟合</a:t>
            </a:r>
          </a:p>
          <a:p>
            <a:pPr>
              <a:buFont typeface="Arial" panose="020B0604020202020204" pitchFamily="34" charset="0"/>
              <a:buChar char="•"/>
            </a:pPr>
            <a:r>
              <a:rPr lang="zh-CN" altLang="en-US" dirty="0"/>
              <a:t>训练误差仅反映了模型在训练集上的表现，而没有考虑模型在未见数据（如测试集或验证集）上的表现。决策树如果过于追求降低训练误差，可能会构造过深或过于复杂的树，导致对训练集的高度拟合，但在测试集上表现较差，即过拟合。导致泛化性能差。</a:t>
            </a:r>
          </a:p>
          <a:p>
            <a:r>
              <a:rPr lang="en-US" altLang="zh-CN" b="1" dirty="0"/>
              <a:t>2. </a:t>
            </a:r>
            <a:r>
              <a:rPr lang="zh-CN" altLang="en-US" b="1" dirty="0"/>
              <a:t>不稳定性</a:t>
            </a:r>
          </a:p>
          <a:p>
            <a:pPr>
              <a:buFont typeface="Arial" panose="020B0604020202020204" pitchFamily="34" charset="0"/>
              <a:buChar char="•"/>
            </a:pPr>
            <a:r>
              <a:rPr lang="zh-CN" altLang="en-US" dirty="0"/>
              <a:t>决策树结构对训练数据中的噪声或小规模的扰动非常敏感。如果仅以最小训练误差为准则，一些噪声数据点可能会对树的划分产生不合理的影响，导致树的结构不稳定。</a:t>
            </a:r>
          </a:p>
          <a:p>
            <a:r>
              <a:rPr lang="en-US" altLang="zh-CN" b="1" dirty="0"/>
              <a:t>3. </a:t>
            </a:r>
            <a:r>
              <a:rPr lang="zh-CN" altLang="en-US" b="1" dirty="0"/>
              <a:t>忽略了特征的重要性</a:t>
            </a:r>
          </a:p>
          <a:p>
            <a:pPr>
              <a:buFont typeface="Arial" panose="020B0604020202020204" pitchFamily="34" charset="0"/>
              <a:buChar char="•"/>
            </a:pPr>
            <a:r>
              <a:rPr lang="zh-CN" altLang="en-US" dirty="0"/>
              <a:t>最小化训练误差不考虑不同特征对模型的贡献。即使某个特征在某个节点的划分上产生了较小的训练误差，它可能并不是对整体决策过程最重要的特征。其他划分标准（如信息增益或基尼系数）更强调特征的区分能力，而不仅仅是训练误差。</a:t>
            </a:r>
          </a:p>
          <a:p>
            <a:r>
              <a:rPr lang="en-US" altLang="zh-CN" b="1" dirty="0"/>
              <a:t>4. </a:t>
            </a:r>
            <a:r>
              <a:rPr lang="zh-CN" altLang="en-US" b="1" dirty="0"/>
              <a:t>不能有效处理不平衡数据</a:t>
            </a:r>
          </a:p>
          <a:p>
            <a:pPr>
              <a:buFont typeface="Arial" panose="020B0604020202020204" pitchFamily="34" charset="0"/>
              <a:buChar char="•"/>
            </a:pPr>
            <a:r>
              <a:rPr lang="zh-CN" altLang="en-US" dirty="0"/>
              <a:t>当数据集类别不平衡时，最小训练误差的决策准则可能会偏向多数类数据。例如，如果多数类的比例较大，决策树可能会倾向于把所有数据划分到多数类，从而最小化训练误差，但这并不能真实反映分类器的性能。</a:t>
            </a:r>
          </a:p>
        </p:txBody>
      </p:sp>
    </p:spTree>
    <p:extLst>
      <p:ext uri="{BB962C8B-B14F-4D97-AF65-F5344CB8AC3E}">
        <p14:creationId xmlns:p14="http://schemas.microsoft.com/office/powerpoint/2010/main" val="3460027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D9DA8C-8255-0CAA-01C8-0B783C2D9505}"/>
              </a:ext>
            </a:extLst>
          </p:cNvPr>
          <p:cNvSpPr>
            <a:spLocks noGrp="1"/>
          </p:cNvSpPr>
          <p:nvPr>
            <p:ph type="title"/>
          </p:nvPr>
        </p:nvSpPr>
        <p:spPr/>
        <p:txBody>
          <a:bodyPr/>
          <a:lstStyle/>
          <a:p>
            <a:r>
              <a:rPr lang="zh-CN" altLang="en-US" dirty="0"/>
              <a:t>作业五</a:t>
            </a:r>
          </a:p>
        </p:txBody>
      </p:sp>
      <p:sp>
        <p:nvSpPr>
          <p:cNvPr id="6" name="文本框 5">
            <a:extLst>
              <a:ext uri="{FF2B5EF4-FFF2-40B4-BE49-F238E27FC236}">
                <a16:creationId xmlns:a16="http://schemas.microsoft.com/office/drawing/2014/main" id="{80B9AD60-F373-6DF7-6CC4-1A220DDE4919}"/>
              </a:ext>
            </a:extLst>
          </p:cNvPr>
          <p:cNvSpPr txBox="1"/>
          <p:nvPr/>
        </p:nvSpPr>
        <p:spPr>
          <a:xfrm>
            <a:off x="957431" y="1991162"/>
            <a:ext cx="10316583" cy="4401205"/>
          </a:xfrm>
          <a:prstGeom prst="rect">
            <a:avLst/>
          </a:prstGeom>
          <a:noFill/>
        </p:spPr>
        <p:txBody>
          <a:bodyPr wrap="square">
            <a:spAutoFit/>
          </a:bodyPr>
          <a:lstStyle/>
          <a:p>
            <a:pPr algn="l"/>
            <a:r>
              <a:rPr lang="zh-CN" altLang="zh-CN" sz="2000" b="1" kern="0" dirty="0">
                <a:effectLst/>
                <a:latin typeface="+mn-ea"/>
                <a:cs typeface="宋体" panose="02010600030101010101" pitchFamily="2" charset="-122"/>
              </a:rPr>
              <a:t>初始条件：</a:t>
            </a:r>
            <a:endParaRPr lang="zh-CN" altLang="zh-CN" sz="2000" kern="100" dirty="0">
              <a:effectLst/>
              <a:latin typeface="+mn-ea"/>
              <a:cs typeface="Times New Roman" panose="02020603050405020304" pitchFamily="18" charset="0"/>
            </a:endParaRPr>
          </a:p>
          <a:p>
            <a:pPr lvl="1">
              <a:buSzPts val="1000"/>
              <a:tabLst>
                <a:tab pos="457200" algn="l"/>
              </a:tabLst>
            </a:pPr>
            <a:r>
              <a:rPr lang="zh-CN" altLang="zh-CN" sz="2000" kern="0" dirty="0">
                <a:effectLst/>
                <a:latin typeface="+mn-ea"/>
                <a:cs typeface="宋体" panose="02010600030101010101" pitchFamily="2" charset="-122"/>
              </a:rPr>
              <a:t>假设当前训练集没有冲突数据，即不存在两个样本具有相同的特征向量但类别不同。</a:t>
            </a:r>
            <a:endParaRPr lang="zh-CN" altLang="zh-CN" sz="2000" kern="100" dirty="0">
              <a:effectLst/>
              <a:latin typeface="+mn-ea"/>
              <a:cs typeface="Times New Roman" panose="02020603050405020304" pitchFamily="18" charset="0"/>
            </a:endParaRPr>
          </a:p>
          <a:p>
            <a:pPr algn="l"/>
            <a:r>
              <a:rPr lang="zh-CN" altLang="zh-CN" sz="2000" b="1" kern="0" dirty="0">
                <a:effectLst/>
                <a:latin typeface="+mn-ea"/>
                <a:cs typeface="宋体" panose="02010600030101010101" pitchFamily="2" charset="-122"/>
              </a:rPr>
              <a:t>决策树生成：</a:t>
            </a:r>
            <a:endParaRPr lang="zh-CN" altLang="zh-CN" sz="2000" kern="100" dirty="0">
              <a:effectLst/>
              <a:latin typeface="+mn-ea"/>
              <a:cs typeface="Times New Roman" panose="02020603050405020304" pitchFamily="18" charset="0"/>
            </a:endParaRPr>
          </a:p>
          <a:p>
            <a:pPr marL="742950" lvl="1" indent="-285750" algn="just">
              <a:buSzPts val="1000"/>
              <a:buFont typeface="Wingdings" panose="05000000000000000000" pitchFamily="2" charset="2"/>
              <a:buChar char="p"/>
              <a:tabLst>
                <a:tab pos="457200" algn="l"/>
              </a:tabLst>
            </a:pPr>
            <a:r>
              <a:rPr lang="zh-CN" altLang="zh-CN" sz="2000" kern="0" dirty="0">
                <a:effectLst/>
                <a:latin typeface="+mn-ea"/>
                <a:cs typeface="宋体" panose="02010600030101010101" pitchFamily="2" charset="-122"/>
              </a:rPr>
              <a:t>在决策树的构建过程中，我们选择一个特征进行划分，形成若干个子集。由于训练集中没有冲突数据，因此对于每个子集中的样本，它们的类别标签在特征划分的基础上最终可以被唯一确定。</a:t>
            </a:r>
            <a:endParaRPr lang="en-US" altLang="zh-CN" sz="2000" kern="100" dirty="0">
              <a:latin typeface="+mn-ea"/>
              <a:cs typeface="Times New Roman" panose="02020603050405020304" pitchFamily="18" charset="0"/>
            </a:endParaRPr>
          </a:p>
          <a:p>
            <a:pPr marL="742950" lvl="1" indent="-285750" algn="just">
              <a:buSzPts val="1000"/>
              <a:buFont typeface="Wingdings" panose="05000000000000000000" pitchFamily="2" charset="2"/>
              <a:buChar char="p"/>
              <a:tabLst>
                <a:tab pos="457200" algn="l"/>
              </a:tabLst>
            </a:pPr>
            <a:r>
              <a:rPr lang="zh-CN" altLang="zh-CN" sz="2000" kern="0" dirty="0">
                <a:effectLst/>
                <a:latin typeface="+mn-ea"/>
                <a:cs typeface="宋体" panose="02010600030101010101" pitchFamily="2" charset="-122"/>
              </a:rPr>
              <a:t>如果某个子集中所有样本的类别相同，则该子集不需要进一步划分，直接作为叶节点，其类别为该类别。</a:t>
            </a:r>
            <a:endParaRPr lang="en-US" altLang="zh-CN" sz="2000" kern="100" dirty="0">
              <a:latin typeface="+mn-ea"/>
              <a:cs typeface="Times New Roman" panose="02020603050405020304" pitchFamily="18" charset="0"/>
            </a:endParaRPr>
          </a:p>
          <a:p>
            <a:pPr marL="742950" lvl="1" indent="-285750" algn="just">
              <a:buSzPts val="1000"/>
              <a:buFont typeface="Wingdings" panose="05000000000000000000" pitchFamily="2" charset="2"/>
              <a:buChar char="p"/>
              <a:tabLst>
                <a:tab pos="457200" algn="l"/>
              </a:tabLst>
            </a:pPr>
            <a:r>
              <a:rPr lang="zh-CN" altLang="zh-CN" sz="2000" kern="0" dirty="0">
                <a:effectLst/>
                <a:latin typeface="+mn-ea"/>
                <a:cs typeface="宋体" panose="02010600030101010101" pitchFamily="2" charset="-122"/>
              </a:rPr>
              <a:t>如果某个子集中的样本类别不同，则必然存在一个特征可以进一步划分该子集，使得样本类别可以通过继续划分变得一致。</a:t>
            </a:r>
            <a:endParaRPr lang="zh-CN" altLang="zh-CN" sz="2000" kern="100" dirty="0">
              <a:effectLst/>
              <a:latin typeface="+mn-ea"/>
              <a:cs typeface="Times New Roman" panose="02020603050405020304" pitchFamily="18" charset="0"/>
            </a:endParaRPr>
          </a:p>
          <a:p>
            <a:pPr algn="l"/>
            <a:r>
              <a:rPr lang="zh-CN" altLang="zh-CN" sz="2000" b="1" kern="0" dirty="0">
                <a:effectLst/>
                <a:latin typeface="+mn-ea"/>
                <a:cs typeface="宋体" panose="02010600030101010101" pitchFamily="2" charset="-122"/>
              </a:rPr>
              <a:t>终止条件：</a:t>
            </a:r>
            <a:endParaRPr lang="zh-CN" altLang="zh-CN" sz="2000" kern="100" dirty="0">
              <a:effectLst/>
              <a:latin typeface="+mn-ea"/>
              <a:cs typeface="Times New Roman" panose="02020603050405020304" pitchFamily="18" charset="0"/>
            </a:endParaRPr>
          </a:p>
          <a:p>
            <a:pPr lvl="1">
              <a:buSzPts val="1000"/>
              <a:tabLst>
                <a:tab pos="457200" algn="l"/>
              </a:tabLst>
            </a:pPr>
            <a:r>
              <a:rPr lang="zh-CN" altLang="zh-CN" sz="2000" kern="0" dirty="0">
                <a:effectLst/>
                <a:latin typeface="+mn-ea"/>
                <a:cs typeface="宋体" panose="02010600030101010101" pitchFamily="2" charset="-122"/>
              </a:rPr>
              <a:t>由于训练集没有冲突数据，递归划分最终会使得每个叶节点对应的样本具有相同的特征向量和类别标签。因此，每个叶节点都是</a:t>
            </a:r>
            <a:r>
              <a:rPr lang="en-US" altLang="zh-CN" sz="2000" kern="0" dirty="0">
                <a:effectLst/>
                <a:latin typeface="+mn-ea"/>
                <a:cs typeface="宋体" panose="02010600030101010101" pitchFamily="2" charset="-122"/>
              </a:rPr>
              <a:t>“</a:t>
            </a:r>
            <a:r>
              <a:rPr lang="zh-CN" altLang="zh-CN" sz="2000" kern="0" dirty="0">
                <a:effectLst/>
                <a:latin typeface="+mn-ea"/>
                <a:cs typeface="宋体" panose="02010600030101010101" pitchFamily="2" charset="-122"/>
              </a:rPr>
              <a:t>纯</a:t>
            </a:r>
            <a:r>
              <a:rPr lang="en-US" altLang="zh-CN" sz="2000" kern="0" dirty="0">
                <a:effectLst/>
                <a:latin typeface="+mn-ea"/>
                <a:cs typeface="宋体" panose="02010600030101010101" pitchFamily="2" charset="-122"/>
              </a:rPr>
              <a:t>”</a:t>
            </a:r>
            <a:r>
              <a:rPr lang="zh-CN" altLang="zh-CN" sz="2000" kern="0" dirty="0">
                <a:effectLst/>
                <a:latin typeface="+mn-ea"/>
                <a:cs typeface="宋体" panose="02010600030101010101" pitchFamily="2" charset="-122"/>
              </a:rPr>
              <a:t>的，即没有分类错误。因此，这棵决策树能够正确地分类训练集中的每一个样本，保证训练误差为</a:t>
            </a:r>
            <a:r>
              <a:rPr lang="en-US" altLang="zh-CN" sz="2000" kern="0" dirty="0">
                <a:effectLst/>
                <a:latin typeface="+mn-ea"/>
                <a:cs typeface="宋体" panose="02010600030101010101" pitchFamily="2" charset="-122"/>
              </a:rPr>
              <a:t> 0</a:t>
            </a:r>
            <a:r>
              <a:rPr lang="zh-CN" altLang="zh-CN" sz="2000" kern="0" dirty="0">
                <a:effectLst/>
                <a:latin typeface="+mn-ea"/>
                <a:cs typeface="宋体" panose="02010600030101010101" pitchFamily="2" charset="-122"/>
              </a:rPr>
              <a:t>。</a:t>
            </a:r>
            <a:endParaRPr lang="zh-CN" altLang="zh-CN" sz="2000"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2506724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3DF928-DAE6-F823-B1A7-7136661F8A20}"/>
              </a:ext>
            </a:extLst>
          </p:cNvPr>
          <p:cNvSpPr>
            <a:spLocks noGrp="1"/>
          </p:cNvSpPr>
          <p:nvPr>
            <p:ph type="title"/>
          </p:nvPr>
        </p:nvSpPr>
        <p:spPr/>
        <p:txBody>
          <a:bodyPr/>
          <a:lstStyle/>
          <a:p>
            <a:r>
              <a:rPr lang="zh-CN" altLang="en-US" dirty="0"/>
              <a:t>作业五</a:t>
            </a:r>
          </a:p>
        </p:txBody>
      </p:sp>
      <p:pic>
        <p:nvPicPr>
          <p:cNvPr id="5" name="图片 4">
            <a:extLst>
              <a:ext uri="{FF2B5EF4-FFF2-40B4-BE49-F238E27FC236}">
                <a16:creationId xmlns:a16="http://schemas.microsoft.com/office/drawing/2014/main" id="{6F0EC729-238F-5284-DA36-9E96EC54E94F}"/>
              </a:ext>
            </a:extLst>
          </p:cNvPr>
          <p:cNvPicPr>
            <a:picLocks noChangeAspect="1"/>
          </p:cNvPicPr>
          <p:nvPr/>
        </p:nvPicPr>
        <p:blipFill>
          <a:blip r:embed="rId2"/>
          <a:stretch>
            <a:fillRect/>
          </a:stretch>
        </p:blipFill>
        <p:spPr>
          <a:xfrm>
            <a:off x="838200" y="2432254"/>
            <a:ext cx="10234109" cy="3779262"/>
          </a:xfrm>
          <a:prstGeom prst="rect">
            <a:avLst/>
          </a:prstGeom>
        </p:spPr>
      </p:pic>
      <p:pic>
        <p:nvPicPr>
          <p:cNvPr id="7" name="图片 6">
            <a:extLst>
              <a:ext uri="{FF2B5EF4-FFF2-40B4-BE49-F238E27FC236}">
                <a16:creationId xmlns:a16="http://schemas.microsoft.com/office/drawing/2014/main" id="{B230E296-4FDA-4439-B68F-88CC4FDF7EF6}"/>
              </a:ext>
            </a:extLst>
          </p:cNvPr>
          <p:cNvPicPr>
            <a:picLocks noChangeAspect="1"/>
          </p:cNvPicPr>
          <p:nvPr/>
        </p:nvPicPr>
        <p:blipFill>
          <a:blip r:embed="rId3"/>
          <a:stretch>
            <a:fillRect/>
          </a:stretch>
        </p:blipFill>
        <p:spPr>
          <a:xfrm>
            <a:off x="3716475" y="365125"/>
            <a:ext cx="7885248" cy="1807920"/>
          </a:xfrm>
          <a:prstGeom prst="rect">
            <a:avLst/>
          </a:prstGeom>
        </p:spPr>
      </p:pic>
    </p:spTree>
    <p:extLst>
      <p:ext uri="{BB962C8B-B14F-4D97-AF65-F5344CB8AC3E}">
        <p14:creationId xmlns:p14="http://schemas.microsoft.com/office/powerpoint/2010/main" val="179940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24050CF-E0C1-D7F3-D90F-6F9FBF0388B7}"/>
              </a:ext>
            </a:extLst>
          </p:cNvPr>
          <p:cNvPicPr>
            <a:picLocks noChangeAspect="1"/>
          </p:cNvPicPr>
          <p:nvPr/>
        </p:nvPicPr>
        <p:blipFill>
          <a:blip r:embed="rId2"/>
          <a:stretch>
            <a:fillRect/>
          </a:stretch>
        </p:blipFill>
        <p:spPr>
          <a:xfrm>
            <a:off x="1287705" y="720697"/>
            <a:ext cx="9774839" cy="5615556"/>
          </a:xfrm>
          <a:prstGeom prst="rect">
            <a:avLst/>
          </a:prstGeom>
        </p:spPr>
      </p:pic>
    </p:spTree>
    <p:extLst>
      <p:ext uri="{BB962C8B-B14F-4D97-AF65-F5344CB8AC3E}">
        <p14:creationId xmlns:p14="http://schemas.microsoft.com/office/powerpoint/2010/main" val="1441948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3A1F306-D783-F339-D6E6-BA5C08E8B2D9}"/>
              </a:ext>
            </a:extLst>
          </p:cNvPr>
          <p:cNvPicPr>
            <a:picLocks noChangeAspect="1"/>
          </p:cNvPicPr>
          <p:nvPr/>
        </p:nvPicPr>
        <p:blipFill>
          <a:blip r:embed="rId2"/>
          <a:stretch>
            <a:fillRect/>
          </a:stretch>
        </p:blipFill>
        <p:spPr>
          <a:xfrm>
            <a:off x="1206411" y="578196"/>
            <a:ext cx="10423656" cy="5887149"/>
          </a:xfrm>
          <a:prstGeom prst="rect">
            <a:avLst/>
          </a:prstGeom>
        </p:spPr>
      </p:pic>
    </p:spTree>
    <p:extLst>
      <p:ext uri="{BB962C8B-B14F-4D97-AF65-F5344CB8AC3E}">
        <p14:creationId xmlns:p14="http://schemas.microsoft.com/office/powerpoint/2010/main" val="1575914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DDF6800-4A5F-1ECE-605F-0387294ABC41}"/>
              </a:ext>
            </a:extLst>
          </p:cNvPr>
          <p:cNvPicPr>
            <a:picLocks noChangeAspect="1"/>
          </p:cNvPicPr>
          <p:nvPr/>
        </p:nvPicPr>
        <p:blipFill>
          <a:blip r:embed="rId2"/>
          <a:stretch>
            <a:fillRect/>
          </a:stretch>
        </p:blipFill>
        <p:spPr>
          <a:xfrm>
            <a:off x="622207" y="481012"/>
            <a:ext cx="10086975" cy="5895975"/>
          </a:xfrm>
          <a:prstGeom prst="rect">
            <a:avLst/>
          </a:prstGeom>
        </p:spPr>
      </p:pic>
      <p:pic>
        <p:nvPicPr>
          <p:cNvPr id="6" name="图片 5">
            <a:extLst>
              <a:ext uri="{FF2B5EF4-FFF2-40B4-BE49-F238E27FC236}">
                <a16:creationId xmlns:a16="http://schemas.microsoft.com/office/drawing/2014/main" id="{D53B6BC1-FD6B-D502-E765-BC064B61217A}"/>
              </a:ext>
            </a:extLst>
          </p:cNvPr>
          <p:cNvPicPr>
            <a:picLocks noChangeAspect="1"/>
          </p:cNvPicPr>
          <p:nvPr/>
        </p:nvPicPr>
        <p:blipFill>
          <a:blip r:embed="rId3"/>
          <a:stretch>
            <a:fillRect/>
          </a:stretch>
        </p:blipFill>
        <p:spPr>
          <a:xfrm>
            <a:off x="8989807" y="2284592"/>
            <a:ext cx="3101788" cy="1443234"/>
          </a:xfrm>
          <a:prstGeom prst="rect">
            <a:avLst/>
          </a:prstGeom>
        </p:spPr>
      </p:pic>
    </p:spTree>
    <p:extLst>
      <p:ext uri="{BB962C8B-B14F-4D97-AF65-F5344CB8AC3E}">
        <p14:creationId xmlns:p14="http://schemas.microsoft.com/office/powerpoint/2010/main" val="4275305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8640A0B-974D-EA3D-1597-2590979A648D}"/>
              </a:ext>
            </a:extLst>
          </p:cNvPr>
          <p:cNvPicPr>
            <a:picLocks noChangeAspect="1"/>
          </p:cNvPicPr>
          <p:nvPr/>
        </p:nvPicPr>
        <p:blipFill>
          <a:blip r:embed="rId2"/>
          <a:stretch>
            <a:fillRect/>
          </a:stretch>
        </p:blipFill>
        <p:spPr>
          <a:xfrm>
            <a:off x="1376952" y="457571"/>
            <a:ext cx="9438095" cy="5942857"/>
          </a:xfrm>
          <a:prstGeom prst="rect">
            <a:avLst/>
          </a:prstGeom>
        </p:spPr>
      </p:pic>
    </p:spTree>
    <p:extLst>
      <p:ext uri="{BB962C8B-B14F-4D97-AF65-F5344CB8AC3E}">
        <p14:creationId xmlns:p14="http://schemas.microsoft.com/office/powerpoint/2010/main" val="37270968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682DAAA-AD46-4EAE-5B27-F61DD643E09E}"/>
              </a:ext>
            </a:extLst>
          </p:cNvPr>
          <p:cNvPicPr>
            <a:picLocks noChangeAspect="1"/>
          </p:cNvPicPr>
          <p:nvPr/>
        </p:nvPicPr>
        <p:blipFill>
          <a:blip r:embed="rId2"/>
          <a:stretch>
            <a:fillRect/>
          </a:stretch>
        </p:blipFill>
        <p:spPr>
          <a:xfrm>
            <a:off x="1367639" y="0"/>
            <a:ext cx="9456722" cy="6858000"/>
          </a:xfrm>
          <a:prstGeom prst="rect">
            <a:avLst/>
          </a:prstGeom>
        </p:spPr>
      </p:pic>
    </p:spTree>
    <p:extLst>
      <p:ext uri="{BB962C8B-B14F-4D97-AF65-F5344CB8AC3E}">
        <p14:creationId xmlns:p14="http://schemas.microsoft.com/office/powerpoint/2010/main" val="404669744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1366</TotalTime>
  <Words>2487</Words>
  <Application>Microsoft Office PowerPoint</Application>
  <PresentationFormat>宽屏</PresentationFormat>
  <Paragraphs>380</Paragraphs>
  <Slides>43</Slides>
  <Notes>14</Notes>
  <HiddenSlides>5</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43</vt:i4>
      </vt:variant>
    </vt:vector>
  </HeadingPairs>
  <TitlesOfParts>
    <vt:vector size="56" baseType="lpstr">
      <vt:lpstr>굴림</vt:lpstr>
      <vt:lpstr>Microsoft JhengHei</vt:lpstr>
      <vt:lpstr>DengXian</vt:lpstr>
      <vt:lpstr>DengXian</vt:lpstr>
      <vt:lpstr>等线 Light</vt:lpstr>
      <vt:lpstr>宋体</vt:lpstr>
      <vt:lpstr>微软雅黑</vt:lpstr>
      <vt:lpstr>Arial</vt:lpstr>
      <vt:lpstr>Cambria Math</vt:lpstr>
      <vt:lpstr>Courier New</vt:lpstr>
      <vt:lpstr>Curlz MT</vt:lpstr>
      <vt:lpstr>Wingdings</vt:lpstr>
      <vt:lpstr>Office 主题​​</vt:lpstr>
      <vt:lpstr>小 复 习</vt:lpstr>
      <vt:lpstr>PowerPoint 演示文稿</vt:lpstr>
      <vt:lpstr>1. 统计学习的基础概念与定义</vt:lpstr>
      <vt:lpstr>1. 统计学习的基础概念与定义</vt:lpstr>
      <vt:lpstr>1. 统计学习的基础概念与定义</vt:lpstr>
      <vt:lpstr>1. 统计学习的基础概念与定义</vt:lpstr>
      <vt:lpstr>1. 统计学习的基础概念与定义</vt:lpstr>
      <vt:lpstr>1. 统计学习的基础概念与定义</vt:lpstr>
      <vt:lpstr>1. 统计学习的基础概念与定义</vt:lpstr>
      <vt:lpstr>1. 统计学习的基础概念与定义</vt:lpstr>
      <vt:lpstr>1. 统计学习的基础概念与定义</vt:lpstr>
      <vt:lpstr>PowerPoint 演示文稿</vt:lpstr>
      <vt:lpstr>PowerPoint 演示文稿</vt:lpstr>
      <vt:lpstr>1. 统计学习的基础概念与定义 </vt:lpstr>
      <vt:lpstr>PowerPoint 演示文稿</vt:lpstr>
      <vt:lpstr>PowerPoint 演示文稿</vt:lpstr>
      <vt:lpstr>PowerPoint 演示文稿</vt:lpstr>
      <vt:lpstr>方法小复习</vt:lpstr>
      <vt:lpstr>1. 感知机</vt:lpstr>
      <vt:lpstr>2. K近邻分类器</vt:lpstr>
      <vt:lpstr>3. 朴素贝叶斯分类器</vt:lpstr>
      <vt:lpstr>4. 线性回归（最小二乘法）</vt:lpstr>
      <vt:lpstr>PowerPoint 演示文稿</vt:lpstr>
      <vt:lpstr>5. 决策树</vt:lpstr>
      <vt:lpstr>6. 逻辑斯蒂回归</vt:lpstr>
      <vt:lpstr>作业讲解</vt:lpstr>
      <vt:lpstr>作业一</vt:lpstr>
      <vt:lpstr>作业一</vt:lpstr>
      <vt:lpstr>作业一</vt:lpstr>
      <vt:lpstr>作业二</vt:lpstr>
      <vt:lpstr>作业三</vt:lpstr>
      <vt:lpstr>作业三</vt:lpstr>
      <vt:lpstr>作业三</vt:lpstr>
      <vt:lpstr>作业四</vt:lpstr>
      <vt:lpstr>作业四</vt:lpstr>
      <vt:lpstr>作业五</vt:lpstr>
      <vt:lpstr>作业五</vt:lpstr>
      <vt:lpstr>作业五</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haitao zhao</dc:creator>
  <cp:lastModifiedBy>haitao zhao</cp:lastModifiedBy>
  <cp:revision>28</cp:revision>
  <dcterms:created xsi:type="dcterms:W3CDTF">2024-10-08T04:55:15Z</dcterms:created>
  <dcterms:modified xsi:type="dcterms:W3CDTF">2025-10-21T13:14:43Z</dcterms:modified>
</cp:coreProperties>
</file>