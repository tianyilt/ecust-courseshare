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2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7" r:id="rId2"/>
    <p:sldId id="260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73" r:id="rId19"/>
    <p:sldId id="276" r:id="rId20"/>
    <p:sldId id="274" r:id="rId21"/>
    <p:sldId id="277" r:id="rId22"/>
    <p:sldId id="278" r:id="rId23"/>
    <p:sldId id="279" r:id="rId24"/>
    <p:sldId id="304" r:id="rId25"/>
    <p:sldId id="280" r:id="rId26"/>
    <p:sldId id="281" r:id="rId27"/>
    <p:sldId id="282" r:id="rId28"/>
    <p:sldId id="283" r:id="rId29"/>
    <p:sldId id="293" r:id="rId30"/>
    <p:sldId id="294" r:id="rId31"/>
    <p:sldId id="295" r:id="rId32"/>
    <p:sldId id="296" r:id="rId33"/>
    <p:sldId id="288" r:id="rId34"/>
    <p:sldId id="289" r:id="rId35"/>
    <p:sldId id="290" r:id="rId36"/>
    <p:sldId id="291" r:id="rId37"/>
    <p:sldId id="292" r:id="rId38"/>
    <p:sldId id="297" r:id="rId39"/>
    <p:sldId id="298" r:id="rId40"/>
    <p:sldId id="299" r:id="rId41"/>
    <p:sldId id="301" r:id="rId42"/>
    <p:sldId id="302" r:id="rId43"/>
    <p:sldId id="303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B4422510-F512-4DCA-B9BD-6D59232E0704}">
          <p14:sldIdLst>
            <p14:sldId id="257"/>
            <p14:sldId id="260"/>
          </p14:sldIdLst>
        </p14:section>
        <p14:section name="项目介绍" id="{06D87148-BC66-46FD-BCCC-E0BF9960ED40}">
          <p14:sldIdLst>
            <p14:sldId id="259"/>
            <p14:sldId id="258"/>
          </p14:sldIdLst>
        </p14:section>
        <p14:section name="p1_切分音符" id="{C114F23D-D9E7-4280-BED5-E3F182C1016F}">
          <p14:sldIdLst>
            <p14:sldId id="261"/>
            <p14:sldId id="262"/>
            <p14:sldId id="263"/>
            <p14:sldId id="264"/>
          </p14:sldIdLst>
        </p14:section>
        <p14:section name="p2_单音识别" id="{F414D9DC-A2E0-439C-863C-B7705348D025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3_节奏评价" id="{179EA671-0EBA-4EC2-9570-7B05E18863A7}">
          <p14:sldIdLst>
            <p14:sldId id="275"/>
            <p14:sldId id="273"/>
          </p14:sldIdLst>
        </p14:section>
        <p14:section name="p4_整曲识别" id="{92BB80EC-BF3A-4EF9-AB6A-E0EDBC4D7B06}">
          <p14:sldIdLst>
            <p14:sldId id="276"/>
            <p14:sldId id="274"/>
            <p14:sldId id="277"/>
            <p14:sldId id="278"/>
            <p14:sldId id="279"/>
            <p14:sldId id="304"/>
            <p14:sldId id="280"/>
            <p14:sldId id="281"/>
          </p14:sldIdLst>
        </p14:section>
        <p14:section name="模型实现" id="{25580B1E-96CC-4A4E-BB6C-1773DD115550}">
          <p14:sldIdLst>
            <p14:sldId id="282"/>
            <p14:sldId id="283"/>
          </p14:sldIdLst>
        </p14:section>
        <p14:section name="2.syd" id="{9B22E301-810C-4D6D-817F-4B63E696263F}">
          <p14:sldIdLst>
            <p14:sldId id="293"/>
            <p14:sldId id="294"/>
            <p14:sldId id="295"/>
            <p14:sldId id="296"/>
          </p14:sldIdLst>
        </p14:section>
        <p14:section name="4.zhy" id="{74FABD3E-8AF3-4303-9441-0E80F7D963E6}">
          <p14:sldIdLst>
            <p14:sldId id="288"/>
            <p14:sldId id="289"/>
            <p14:sldId id="290"/>
            <p14:sldId id="291"/>
            <p14:sldId id="292"/>
          </p14:sldIdLst>
        </p14:section>
        <p14:section name="模型结果" id="{89F9F867-226D-4ADD-9196-74CD8ABB19CE}">
          <p14:sldIdLst>
            <p14:sldId id="297"/>
            <p14:sldId id="298"/>
            <p14:sldId id="299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4811" autoAdjust="0"/>
  </p:normalViewPr>
  <p:slideViewPr>
    <p:cSldViewPr snapToGrid="0">
      <p:cViewPr varScale="1">
        <p:scale>
          <a:sx n="41" d="100"/>
          <a:sy n="41" d="100"/>
        </p:scale>
        <p:origin x="1704" y="29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082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E3ED431-51A2-4045-C8F4-2E102F981C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243E47-394D-11F0-B746-C34ACA5D29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C147A-935B-4806-820E-0D222324CBE6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43DA20-BAE5-3368-D838-6CC01659FF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E2AF73-4CD8-C2EF-CED7-229391CF49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C2B583-C530-4072-86C8-88E3ED299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312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519E4-7526-4D35-BB71-57074F9E993F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9D66-38CC-46CC-88D4-D8697467A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96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大家好</a:t>
            </a:r>
            <a:r>
              <a:rPr lang="en-US" altLang="zh-CN" dirty="0"/>
              <a:t>, </a:t>
            </a:r>
            <a:r>
              <a:rPr lang="zh-CN" altLang="en-US" dirty="0"/>
              <a:t>我来介绍一下我在这次综合实践项目中的一些工作和成果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我的汇报将包含以下内容</a:t>
            </a:r>
            <a:endParaRPr lang="en-US" altLang="zh-CN" dirty="0"/>
          </a:p>
          <a:p>
            <a:r>
              <a:rPr lang="zh-CN" altLang="en-US" dirty="0"/>
              <a:t>首先我将简单总览整个项目的技术栈</a:t>
            </a:r>
            <a:endParaRPr lang="en-US" altLang="zh-CN" dirty="0"/>
          </a:p>
          <a:p>
            <a:r>
              <a:rPr lang="zh-CN" altLang="en-US" dirty="0"/>
              <a:t>然后阐述实验内容的实现方法</a:t>
            </a:r>
            <a:r>
              <a:rPr lang="en-US" altLang="zh-CN" dirty="0"/>
              <a:t>, </a:t>
            </a:r>
            <a:r>
              <a:rPr lang="zh-CN" altLang="en-US" dirty="0"/>
              <a:t>当然这其中有很多我个人的见解和特别的做法会着重说明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在完成数字信号处理方法的基础上</a:t>
            </a:r>
            <a:r>
              <a:rPr lang="en-US" altLang="zh-CN" dirty="0"/>
              <a:t>, </a:t>
            </a:r>
            <a:r>
              <a:rPr lang="zh-CN" altLang="en-US" dirty="0"/>
              <a:t>我用深度学习的方法设计了一个</a:t>
            </a:r>
            <a:r>
              <a:rPr lang="en-US" altLang="zh-CN" dirty="0"/>
              <a:t>Transformer</a:t>
            </a:r>
            <a:r>
              <a:rPr lang="zh-CN" altLang="en-US" dirty="0"/>
              <a:t>模型</a:t>
            </a:r>
            <a:endParaRPr lang="en-US" altLang="zh-CN" dirty="0"/>
          </a:p>
          <a:p>
            <a:r>
              <a:rPr lang="zh-CN" altLang="en-US" dirty="0"/>
              <a:t>我将讲解其实现原理</a:t>
            </a:r>
            <a:r>
              <a:rPr lang="en-US" altLang="zh-CN" dirty="0"/>
              <a:t>, </a:t>
            </a:r>
            <a:r>
              <a:rPr lang="zh-CN" altLang="en-US" dirty="0"/>
              <a:t>并在最后将两者的结果做对比展示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454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我们项目的目标简单来说就是实现对一段钢琴音频的音符识别</a:t>
            </a:r>
            <a:r>
              <a:rPr lang="en-US" altLang="zh-CN" dirty="0"/>
              <a:t>, </a:t>
            </a:r>
            <a:r>
              <a:rPr lang="zh-CN" altLang="en-US" dirty="0"/>
              <a:t>以及节奏评价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zh-CN" altLang="en-US" dirty="0"/>
              <a:t>要用数字信号处理的方法来实现这一目标</a:t>
            </a:r>
            <a:r>
              <a:rPr lang="en-US" altLang="zh-CN" dirty="0"/>
              <a:t>, </a:t>
            </a:r>
            <a:r>
              <a:rPr lang="zh-CN" altLang="en-US" dirty="0"/>
              <a:t>有如下技术路线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r>
              <a:rPr lang="zh-CN" altLang="en-US" dirty="0"/>
              <a:t>首先 切割出每个音符的起始和截止位置</a:t>
            </a:r>
            <a:endParaRPr lang="en-US" altLang="zh-CN" dirty="0"/>
          </a:p>
          <a:p>
            <a:r>
              <a:rPr lang="zh-CN" altLang="en-US" dirty="0"/>
              <a:t>然后 识别出每个单音的音高以及其对应的琴键</a:t>
            </a:r>
            <a:endParaRPr lang="en-US" altLang="zh-CN" dirty="0"/>
          </a:p>
          <a:p>
            <a:r>
              <a:rPr lang="zh-CN" altLang="en-US" dirty="0"/>
              <a:t>根据理想的节奏</a:t>
            </a:r>
            <a:r>
              <a:rPr lang="en-US" altLang="zh-CN" dirty="0"/>
              <a:t>, </a:t>
            </a:r>
            <a:r>
              <a:rPr lang="zh-CN" altLang="en-US" dirty="0"/>
              <a:t>对实际演奏的每个音符的音长做快慢评价</a:t>
            </a:r>
            <a:endParaRPr lang="en-US" altLang="zh-CN" dirty="0"/>
          </a:p>
          <a:p>
            <a:r>
              <a:rPr lang="zh-CN" altLang="en-US" dirty="0"/>
              <a:t>最后用瀑布流图呈现识别结果</a:t>
            </a:r>
            <a:r>
              <a:rPr lang="en-US" altLang="zh-CN" dirty="0"/>
              <a:t>, </a:t>
            </a:r>
            <a:r>
              <a:rPr lang="zh-CN" altLang="en-US" dirty="0"/>
              <a:t>当然更进一步的</a:t>
            </a:r>
            <a:r>
              <a:rPr lang="en-US" altLang="zh-CN" dirty="0"/>
              <a:t>, </a:t>
            </a:r>
            <a:r>
              <a:rPr lang="zh-CN" altLang="en-US" dirty="0"/>
              <a:t>我使用</a:t>
            </a:r>
            <a:r>
              <a:rPr lang="en-US" altLang="zh-CN" dirty="0"/>
              <a:t>React</a:t>
            </a:r>
            <a:r>
              <a:rPr lang="zh-CN" altLang="en-US" dirty="0"/>
              <a:t>前端框架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将识别结果转化为</a:t>
            </a:r>
            <a:r>
              <a:rPr lang="en-US" altLang="zh-CN" dirty="0" err="1"/>
              <a:t>abc</a:t>
            </a:r>
            <a:r>
              <a:rPr lang="zh-CN" altLang="en-US" dirty="0"/>
              <a:t>记谱法</a:t>
            </a:r>
            <a:r>
              <a:rPr lang="en-US" altLang="zh-CN" dirty="0"/>
              <a:t>, </a:t>
            </a:r>
            <a:r>
              <a:rPr lang="zh-CN" altLang="en-US" dirty="0"/>
              <a:t>最终可以导出五线谱</a:t>
            </a:r>
            <a:r>
              <a:rPr lang="en-US" altLang="zh-CN" dirty="0"/>
              <a:t>, </a:t>
            </a:r>
            <a:r>
              <a:rPr lang="zh-CN" altLang="en-US" dirty="0"/>
              <a:t>更加直观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131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那我们先从切分音符开始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所谓切分音符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060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就是要找到每个音符的 起始位置</a:t>
            </a:r>
            <a:endParaRPr lang="en-US" altLang="zh-CN" dirty="0"/>
          </a:p>
          <a:p>
            <a:r>
              <a:rPr lang="zh-CN" altLang="en-US" dirty="0"/>
              <a:t>观察音频的原始波形不难发现音符的起始位置会有一个较大的跳变</a:t>
            </a:r>
            <a:endParaRPr lang="en-US" altLang="zh-CN" dirty="0"/>
          </a:p>
          <a:p>
            <a:r>
              <a:rPr lang="zh-CN" altLang="en-US" dirty="0"/>
              <a:t>因此自然想到用 </a:t>
            </a:r>
            <a:r>
              <a:rPr lang="en-US" altLang="zh-CN" dirty="0"/>
              <a:t>peak </a:t>
            </a:r>
            <a:r>
              <a:rPr lang="zh-CN" altLang="en-US" dirty="0"/>
              <a:t>函数找到峰值位置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由于数据量过大</a:t>
            </a:r>
            <a:r>
              <a:rPr lang="en-US" altLang="zh-CN" dirty="0"/>
              <a:t>, </a:t>
            </a:r>
            <a:r>
              <a:rPr lang="zh-CN" altLang="en-US" dirty="0"/>
              <a:t>加之噪声干扰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在此之前</a:t>
            </a:r>
            <a:r>
              <a:rPr lang="en-US" altLang="zh-CN" dirty="0"/>
              <a:t>, </a:t>
            </a:r>
            <a:r>
              <a:rPr lang="zh-CN" altLang="en-US" dirty="0"/>
              <a:t>需要先对其做下采样处理</a:t>
            </a:r>
            <a:r>
              <a:rPr lang="en-US" altLang="zh-CN" dirty="0"/>
              <a:t>, </a:t>
            </a:r>
            <a:r>
              <a:rPr lang="zh-CN" altLang="en-US" dirty="0"/>
              <a:t>以及平滑滤波处理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这边就引入帧峰检测法</a:t>
            </a:r>
            <a:r>
              <a:rPr lang="en-US" altLang="zh-CN" dirty="0"/>
              <a:t>, </a:t>
            </a:r>
            <a:r>
              <a:rPr lang="zh-CN" altLang="en-US" dirty="0"/>
              <a:t>取出 </a:t>
            </a:r>
            <a:r>
              <a:rPr lang="en-US" altLang="zh-CN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Frame_Number</a:t>
            </a:r>
            <a:r>
              <a:rPr lang="en-US" altLang="zh-CN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个点</a:t>
            </a:r>
            <a:r>
              <a:rPr lang="en-US" altLang="zh-CN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取最值的差值作为这一帧的帧峰值</a:t>
            </a:r>
            <a:r>
              <a:rPr lang="en-US" altLang="zh-CN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, </a:t>
            </a:r>
            <a:endParaRPr lang="en-US" altLang="zh-CN" b="0" dirty="0">
              <a:solidFill>
                <a:srgbClr val="839496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在滤波时</a:t>
            </a:r>
            <a:r>
              <a:rPr lang="en-US" altLang="zh-CN" dirty="0"/>
              <a:t>, </a:t>
            </a:r>
            <a:r>
              <a:rPr lang="zh-CN" altLang="en-US" dirty="0"/>
              <a:t>采用中值滤波函数和三个平均滤波来平滑包络线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这一步的调参相当关键</a:t>
            </a:r>
            <a:r>
              <a:rPr lang="en-US" altLang="zh-CN" dirty="0"/>
              <a:t>, </a:t>
            </a:r>
            <a:r>
              <a:rPr lang="zh-CN" altLang="en-US" dirty="0"/>
              <a:t>因为后面一切步骤都建立在正确分音的基础之上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因此我做了大量对比实验来确保每个音阶都能正确划分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和课上给出的参数不同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我使用的帧长是 </a:t>
            </a:r>
            <a:r>
              <a:rPr lang="en-US" altLang="zh-CN" dirty="0"/>
              <a:t>256</a:t>
            </a:r>
            <a:r>
              <a:rPr lang="zh-CN" altLang="en-US" dirty="0"/>
              <a:t>点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平均滤波器的点数分别是 </a:t>
            </a:r>
            <a:r>
              <a:rPr lang="en-US" altLang="zh-CN" dirty="0"/>
              <a:t>5 / 12 / 15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实测效果良好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355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上述操作能使得包络线平滑</a:t>
            </a:r>
            <a:r>
              <a:rPr lang="en-US" altLang="zh-CN" dirty="0"/>
              <a:t>, </a:t>
            </a:r>
            <a:r>
              <a:rPr lang="zh-CN" altLang="en-US" dirty="0"/>
              <a:t>但直接使用 </a:t>
            </a:r>
            <a:r>
              <a:rPr lang="en-US" altLang="zh-CN" dirty="0"/>
              <a:t>find</a:t>
            </a:r>
            <a:r>
              <a:rPr lang="zh-CN" altLang="en-US" dirty="0"/>
              <a:t> </a:t>
            </a:r>
            <a:r>
              <a:rPr lang="en-US" altLang="zh-CN" dirty="0"/>
              <a:t>peak </a:t>
            </a:r>
            <a:r>
              <a:rPr lang="zh-CN" altLang="en-US" dirty="0"/>
              <a:t>函数还是强差人意的</a:t>
            </a:r>
            <a:endParaRPr lang="en-US" altLang="zh-CN" dirty="0"/>
          </a:p>
          <a:p>
            <a:r>
              <a:rPr lang="zh-CN" altLang="en-US" dirty="0"/>
              <a:t>因为实际演奏中每个音很难做到强度一致</a:t>
            </a:r>
            <a:r>
              <a:rPr lang="en-US" altLang="zh-CN" dirty="0"/>
              <a:t>,</a:t>
            </a:r>
            <a:r>
              <a:rPr lang="zh-CN" altLang="en-US" dirty="0"/>
              <a:t> 仅通过峰值的高度</a:t>
            </a:r>
            <a:endParaRPr lang="en-US" altLang="zh-CN" dirty="0"/>
          </a:p>
          <a:p>
            <a:r>
              <a:rPr lang="zh-CN" altLang="en-US" dirty="0"/>
              <a:t>这单一的评价标准会经常错判</a:t>
            </a:r>
            <a:r>
              <a:rPr lang="en-US" altLang="zh-CN" dirty="0"/>
              <a:t>, </a:t>
            </a:r>
            <a:r>
              <a:rPr lang="zh-CN" altLang="en-US" dirty="0"/>
              <a:t>漏判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通过观察包络线</a:t>
            </a:r>
            <a:r>
              <a:rPr lang="en-US" altLang="zh-CN" dirty="0"/>
              <a:t>, </a:t>
            </a:r>
            <a:r>
              <a:rPr lang="zh-CN" altLang="en-US" dirty="0"/>
              <a:t>我发现</a:t>
            </a:r>
            <a:r>
              <a:rPr lang="en-US" altLang="zh-CN" dirty="0"/>
              <a:t>, </a:t>
            </a:r>
            <a:r>
              <a:rPr lang="zh-CN" altLang="en-US" dirty="0"/>
              <a:t>区别与演奏音 和  其 延音 最大的不同点</a:t>
            </a:r>
            <a:endParaRPr lang="en-US" altLang="zh-CN" dirty="0"/>
          </a:p>
          <a:p>
            <a:r>
              <a:rPr lang="zh-CN" altLang="en-US" dirty="0"/>
              <a:t>在于正确的峰值 瘦而高</a:t>
            </a:r>
            <a:r>
              <a:rPr lang="en-US" altLang="zh-CN" dirty="0"/>
              <a:t>, </a:t>
            </a:r>
            <a:r>
              <a:rPr lang="zh-CN" altLang="en-US" dirty="0"/>
              <a:t>而延音相对矮胖</a:t>
            </a:r>
            <a:endParaRPr lang="en-US" altLang="zh-CN" dirty="0"/>
          </a:p>
          <a:p>
            <a:r>
              <a:rPr lang="zh-CN" altLang="en-US" dirty="0"/>
              <a:t>这启发我查找 </a:t>
            </a:r>
            <a:r>
              <a:rPr lang="en-US" altLang="zh-CN" dirty="0"/>
              <a:t>find peak </a:t>
            </a:r>
            <a:r>
              <a:rPr lang="zh-CN" altLang="en-US" dirty="0"/>
              <a:t>函数的定义</a:t>
            </a:r>
            <a:r>
              <a:rPr lang="en-US" altLang="zh-CN" dirty="0"/>
              <a:t>, </a:t>
            </a:r>
            <a:r>
              <a:rPr lang="zh-CN" altLang="en-US" dirty="0"/>
              <a:t>寻找更多评判标准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果然</a:t>
            </a:r>
            <a:r>
              <a:rPr lang="en-US" altLang="zh-CN" dirty="0"/>
              <a:t>, </a:t>
            </a:r>
            <a:r>
              <a:rPr lang="zh-CN" altLang="en-US" dirty="0"/>
              <a:t>其文档注释将我上述的主观的评判方法用参数说清楚了</a:t>
            </a:r>
            <a:endParaRPr lang="en-US" altLang="zh-CN" dirty="0"/>
          </a:p>
          <a:p>
            <a:r>
              <a:rPr lang="zh-CN" altLang="en-US" dirty="0"/>
              <a:t>除了课上提到的最小绝对高度 </a:t>
            </a:r>
            <a:r>
              <a:rPr lang="en-US" altLang="zh-CN" dirty="0"/>
              <a:t>Minimum Peak Height</a:t>
            </a:r>
          </a:p>
          <a:p>
            <a:r>
              <a:rPr lang="zh-CN" altLang="en-US" dirty="0"/>
              <a:t>和 </a:t>
            </a:r>
            <a:r>
              <a:rPr lang="en-US" altLang="zh-CN" dirty="0"/>
              <a:t>“  </a:t>
            </a:r>
            <a:r>
              <a:rPr lang="zh-CN" altLang="en-US" dirty="0"/>
              <a:t>胖瘦  </a:t>
            </a:r>
            <a:r>
              <a:rPr lang="en-US" altLang="zh-CN" dirty="0"/>
              <a:t>”  </a:t>
            </a:r>
            <a:r>
              <a:rPr lang="zh-CN" altLang="en-US" dirty="0"/>
              <a:t>最相关的就是这两个参数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WidthReference</a:t>
            </a:r>
            <a:r>
              <a:rPr lang="en-US" altLang="zh-CN" dirty="0"/>
              <a:t> </a:t>
            </a:r>
            <a:r>
              <a:rPr lang="zh-CN" altLang="en-US" dirty="0"/>
              <a:t>参数 使得峰值的两腰成为判断的参考点</a:t>
            </a:r>
            <a:endParaRPr lang="en-US" altLang="zh-CN" dirty="0"/>
          </a:p>
          <a:p>
            <a:r>
              <a:rPr lang="en-US" altLang="zh-CN" dirty="0"/>
              <a:t>Peak Prominence </a:t>
            </a:r>
            <a:r>
              <a:rPr lang="zh-CN" altLang="en-US" dirty="0"/>
              <a:t>确保两腰有足够的下降高度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在加入这两个参数后</a:t>
            </a:r>
            <a:r>
              <a:rPr lang="en-US" altLang="zh-CN" dirty="0"/>
              <a:t>, </a:t>
            </a:r>
            <a:r>
              <a:rPr lang="zh-CN" altLang="en-US" dirty="0"/>
              <a:t>识别准确度大幅提升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11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这是我对比分析的视图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一个很高效的技巧就是在找到的峰值点上做标号</a:t>
            </a:r>
            <a:endParaRPr lang="en-US" altLang="zh-CN" dirty="0"/>
          </a:p>
          <a:p>
            <a:r>
              <a:rPr lang="zh-CN" altLang="en-US" dirty="0"/>
              <a:t>这样如果识别准确</a:t>
            </a:r>
            <a:r>
              <a:rPr lang="en-US" altLang="zh-CN" dirty="0"/>
              <a:t>, </a:t>
            </a:r>
            <a:r>
              <a:rPr lang="zh-CN" altLang="en-US" dirty="0"/>
              <a:t>一个音阶中就应当正好是</a:t>
            </a:r>
            <a:r>
              <a:rPr lang="en-US" altLang="zh-CN" dirty="0"/>
              <a:t>13</a:t>
            </a:r>
            <a:r>
              <a:rPr lang="zh-CN" altLang="en-US" dirty="0"/>
              <a:t>个音符</a:t>
            </a:r>
            <a:endParaRPr lang="en-US" altLang="zh-CN" dirty="0"/>
          </a:p>
          <a:p>
            <a:r>
              <a:rPr lang="zh-CN" altLang="en-US" dirty="0"/>
              <a:t>在大量调参后</a:t>
            </a:r>
            <a:r>
              <a:rPr lang="en-US" altLang="zh-CN" dirty="0"/>
              <a:t>, </a:t>
            </a:r>
            <a:r>
              <a:rPr lang="zh-CN" altLang="en-US" dirty="0"/>
              <a:t>在低中高三个音阶上都有完美的表现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041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完成对单音的划分后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208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就需要对其进行识别了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在找到每个音符的起始位置后</a:t>
            </a:r>
            <a:r>
              <a:rPr lang="en-US" altLang="zh-CN" dirty="0"/>
              <a:t>, </a:t>
            </a:r>
            <a:r>
              <a:rPr lang="zh-CN" altLang="en-US" dirty="0"/>
              <a:t>取其音程的 </a:t>
            </a:r>
            <a:r>
              <a:rPr lang="en-US" altLang="zh-CN" dirty="0"/>
              <a:t>2 </a:t>
            </a:r>
            <a:r>
              <a:rPr lang="zh-CN" altLang="en-US" dirty="0"/>
              <a:t>分 之 </a:t>
            </a:r>
            <a:r>
              <a:rPr lang="en-US" altLang="zh-CN" dirty="0"/>
              <a:t>3 </a:t>
            </a:r>
            <a:r>
              <a:rPr lang="zh-CN" altLang="en-US" dirty="0"/>
              <a:t>来作为有效区域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实测效果最佳</a:t>
            </a:r>
            <a:r>
              <a:rPr lang="en-US" altLang="zh-CN" dirty="0"/>
              <a:t>, </a:t>
            </a:r>
            <a:r>
              <a:rPr lang="zh-CN" altLang="en-US" dirty="0"/>
              <a:t>可以减少延音的噪声干扰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对每个单音信息做快速傅里叶变换</a:t>
            </a:r>
            <a:r>
              <a:rPr lang="en-US" altLang="zh-CN" dirty="0"/>
              <a:t>, </a:t>
            </a:r>
            <a:r>
              <a:rPr lang="zh-CN" altLang="en-US" dirty="0"/>
              <a:t>从而得到频谱</a:t>
            </a:r>
            <a:endParaRPr lang="en-US" altLang="zh-CN" dirty="0"/>
          </a:p>
          <a:p>
            <a:r>
              <a:rPr lang="zh-CN" altLang="en-US" dirty="0"/>
              <a:t>由于最终我们要识别的是琴键</a:t>
            </a:r>
            <a:r>
              <a:rPr lang="en-US" altLang="zh-CN" dirty="0"/>
              <a:t>, </a:t>
            </a:r>
            <a:r>
              <a:rPr lang="zh-CN" altLang="en-US" dirty="0"/>
              <a:t>也就是音高</a:t>
            </a:r>
            <a:r>
              <a:rPr lang="en-US" altLang="zh-CN" dirty="0"/>
              <a:t>,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496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因此需要将这个频谱转化为琴键能量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这里的处理方法就是取对照表一一映射</a:t>
            </a:r>
            <a:r>
              <a:rPr lang="en-US" altLang="zh-CN" dirty="0"/>
              <a:t>, </a:t>
            </a:r>
            <a:r>
              <a:rPr lang="zh-CN" altLang="en-US" dirty="0"/>
              <a:t>不多赘述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r>
              <a:rPr lang="zh-CN" altLang="en-US" dirty="0"/>
              <a:t>为了直观呈现整个音频的转换结果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267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采用了瀑布流图</a:t>
            </a:r>
            <a:r>
              <a:rPr lang="en-US" altLang="zh-CN" dirty="0"/>
              <a:t>, </a:t>
            </a:r>
            <a:r>
              <a:rPr lang="zh-CN" altLang="en-US" dirty="0"/>
              <a:t>横坐标是音符的下标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纵坐标为</a:t>
            </a:r>
            <a:r>
              <a:rPr lang="en-US" altLang="zh-CN" dirty="0"/>
              <a:t>88</a:t>
            </a:r>
            <a:r>
              <a:rPr lang="zh-CN" altLang="en-US" dirty="0"/>
              <a:t>个琴键的键号</a:t>
            </a:r>
            <a:endParaRPr lang="en-US" altLang="zh-CN" dirty="0"/>
          </a:p>
          <a:p>
            <a:r>
              <a:rPr lang="zh-CN" altLang="en-US" dirty="0"/>
              <a:t>颜色越亮表明能量越强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接下来才是重头戏</a:t>
            </a:r>
            <a:r>
              <a:rPr lang="en-US" altLang="zh-CN" dirty="0"/>
              <a:t>, </a:t>
            </a:r>
            <a:r>
              <a:rPr lang="zh-CN" altLang="en-US" dirty="0"/>
              <a:t>我们取其中的一个音符为例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199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照常识</a:t>
            </a:r>
            <a:r>
              <a:rPr lang="en-US" altLang="zh-CN" dirty="0"/>
              <a:t>, </a:t>
            </a:r>
            <a:r>
              <a:rPr lang="zh-CN" altLang="en-US" dirty="0"/>
              <a:t>最强的音符应当就是按下的琴键</a:t>
            </a:r>
            <a:r>
              <a:rPr lang="en-US" altLang="zh-CN" dirty="0"/>
              <a:t>,</a:t>
            </a:r>
          </a:p>
          <a:p>
            <a:r>
              <a:rPr lang="zh-CN" altLang="en-US" dirty="0"/>
              <a:t>示例中的音符就符合这一规律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观察后面次强和再次强的琴键</a:t>
            </a:r>
            <a:r>
              <a:rPr lang="en-US" altLang="zh-CN" dirty="0"/>
              <a:t>, </a:t>
            </a:r>
            <a:r>
              <a:rPr lang="zh-CN" altLang="en-US" dirty="0"/>
              <a:t>分别对应</a:t>
            </a:r>
            <a:r>
              <a:rPr lang="en-US" altLang="zh-CN" dirty="0"/>
              <a:t> 12</a:t>
            </a:r>
            <a:r>
              <a:rPr lang="zh-CN" altLang="en-US" dirty="0"/>
              <a:t>音 和 </a:t>
            </a:r>
            <a:r>
              <a:rPr lang="en-US" altLang="zh-CN" dirty="0"/>
              <a:t>19</a:t>
            </a:r>
            <a:r>
              <a:rPr lang="zh-CN" altLang="en-US" dirty="0"/>
              <a:t>音</a:t>
            </a:r>
            <a:endParaRPr lang="en-US" altLang="zh-CN" dirty="0"/>
          </a:p>
          <a:p>
            <a:r>
              <a:rPr lang="zh-CN" altLang="en-US" dirty="0"/>
              <a:t>在乐理中</a:t>
            </a:r>
            <a:r>
              <a:rPr lang="en-US" altLang="zh-CN" dirty="0"/>
              <a:t>, 12</a:t>
            </a:r>
            <a:r>
              <a:rPr lang="zh-CN" altLang="en-US" dirty="0"/>
              <a:t>平均律告诉我们 本音 和 高八度泛音 是 最和谐的</a:t>
            </a:r>
            <a:endParaRPr lang="en-US" altLang="zh-CN" dirty="0"/>
          </a:p>
          <a:p>
            <a:r>
              <a:rPr lang="zh-CN" altLang="en-US" dirty="0"/>
              <a:t>其次是 </a:t>
            </a:r>
            <a:r>
              <a:rPr lang="en-US" altLang="zh-CN" dirty="0"/>
              <a:t>5</a:t>
            </a:r>
            <a:r>
              <a:rPr lang="zh-CN" altLang="en-US" dirty="0"/>
              <a:t>度音</a:t>
            </a:r>
            <a:r>
              <a:rPr lang="en-US" altLang="zh-CN" dirty="0"/>
              <a:t>, </a:t>
            </a:r>
            <a:r>
              <a:rPr lang="zh-CN" altLang="en-US" dirty="0"/>
              <a:t>这一规律在这里也很好的体现了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通过这一规律我们有了对音符的识别的判断依据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小字组的音按规律来就行了</a:t>
            </a:r>
            <a:r>
              <a:rPr lang="en-US" altLang="zh-CN" dirty="0"/>
              <a:t>,  </a:t>
            </a:r>
            <a:r>
              <a:rPr lang="zh-CN" altLang="en-US" dirty="0"/>
              <a:t>大字组的音符考虑的就多了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253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我们可以明显看到低音区有很多违反规律的现象</a:t>
            </a:r>
            <a:endParaRPr lang="en-US" altLang="zh-CN" dirty="0"/>
          </a:p>
          <a:p>
            <a:r>
              <a:rPr lang="zh-CN" altLang="en-US" dirty="0"/>
              <a:t>这就需要有特殊的判断策略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我们取其中一个音符来展开分析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749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这个音真实情况属于大字组</a:t>
            </a:r>
            <a:r>
              <a:rPr lang="en-US" altLang="zh-CN" dirty="0"/>
              <a:t>, </a:t>
            </a:r>
            <a:r>
              <a:rPr lang="zh-CN" altLang="en-US" dirty="0"/>
              <a:t>键号小于</a:t>
            </a:r>
            <a:r>
              <a:rPr lang="en-US" altLang="zh-CN" dirty="0"/>
              <a:t>40,</a:t>
            </a:r>
          </a:p>
          <a:p>
            <a:r>
              <a:rPr lang="zh-CN" altLang="en-US" dirty="0"/>
              <a:t>但检测出来的最强音却是高八度的音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根据刚才的规律我们知道</a:t>
            </a:r>
            <a:r>
              <a:rPr lang="en-US" altLang="zh-CN" dirty="0"/>
              <a:t>, </a:t>
            </a:r>
            <a:r>
              <a:rPr lang="zh-CN" altLang="en-US" dirty="0"/>
              <a:t>真实的音的</a:t>
            </a:r>
            <a:r>
              <a:rPr lang="en-US" altLang="zh-CN" dirty="0"/>
              <a:t>12</a:t>
            </a:r>
            <a:r>
              <a:rPr lang="zh-CN" altLang="en-US" dirty="0"/>
              <a:t>音和</a:t>
            </a:r>
            <a:r>
              <a:rPr lang="en-US" altLang="zh-CN" dirty="0"/>
              <a:t>19</a:t>
            </a:r>
            <a:r>
              <a:rPr lang="zh-CN" altLang="en-US" dirty="0"/>
              <a:t>音也是相对有强度的</a:t>
            </a:r>
            <a:endParaRPr lang="en-US" altLang="zh-CN" dirty="0"/>
          </a:p>
          <a:p>
            <a:r>
              <a:rPr lang="zh-CN" altLang="en-US" dirty="0"/>
              <a:t>因此我先用一个判定线</a:t>
            </a:r>
            <a:r>
              <a:rPr lang="en-US" altLang="zh-CN" dirty="0"/>
              <a:t>, </a:t>
            </a:r>
            <a:r>
              <a:rPr lang="zh-CN" altLang="en-US" dirty="0"/>
              <a:t>找出可能的候选音符</a:t>
            </a:r>
            <a:endParaRPr lang="en-US" altLang="zh-CN" dirty="0"/>
          </a:p>
          <a:p>
            <a:r>
              <a:rPr lang="zh-CN" altLang="en-US" dirty="0"/>
              <a:t>对每个候选</a:t>
            </a:r>
            <a:r>
              <a:rPr lang="en-US" altLang="zh-CN" dirty="0"/>
              <a:t>, </a:t>
            </a:r>
            <a:r>
              <a:rPr lang="zh-CN" altLang="en-US" dirty="0"/>
              <a:t>取其本音</a:t>
            </a:r>
            <a:r>
              <a:rPr lang="en-US" altLang="zh-CN" dirty="0"/>
              <a:t>/12</a:t>
            </a:r>
            <a:r>
              <a:rPr lang="zh-CN" altLang="en-US" dirty="0"/>
              <a:t>音</a:t>
            </a:r>
            <a:r>
              <a:rPr lang="en-US" altLang="zh-CN" dirty="0"/>
              <a:t>/19</a:t>
            </a:r>
            <a:r>
              <a:rPr lang="zh-CN" altLang="en-US" dirty="0"/>
              <a:t>音的强度</a:t>
            </a:r>
            <a:r>
              <a:rPr lang="en-US" altLang="zh-CN" dirty="0"/>
              <a:t>, </a:t>
            </a:r>
            <a:r>
              <a:rPr lang="zh-CN" altLang="en-US" dirty="0"/>
              <a:t>分别乘上一个权重</a:t>
            </a:r>
            <a:r>
              <a:rPr lang="en-US" altLang="zh-CN" dirty="0"/>
              <a:t>, </a:t>
            </a:r>
            <a:r>
              <a:rPr lang="zh-CN" altLang="en-US" dirty="0"/>
              <a:t>再相加</a:t>
            </a:r>
            <a:endParaRPr lang="en-US" altLang="zh-CN" dirty="0"/>
          </a:p>
          <a:p>
            <a:r>
              <a:rPr lang="zh-CN" altLang="en-US" dirty="0"/>
              <a:t>该数值可以理解为该音符的可能性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我们取这些候选中可能性最大的音符作为识别的结果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将识别结果也表示为瀑布流图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038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我们就得到了这个理想的识别结果</a:t>
            </a:r>
            <a:endParaRPr lang="en-US" altLang="zh-CN" dirty="0"/>
          </a:p>
          <a:p>
            <a:r>
              <a:rPr lang="zh-CN" altLang="en-US" dirty="0"/>
              <a:t>在一次次的对比调参之后</a:t>
            </a:r>
            <a:endParaRPr lang="en-US" altLang="zh-CN" dirty="0"/>
          </a:p>
          <a:p>
            <a:r>
              <a:rPr lang="zh-CN" altLang="en-US" dirty="0"/>
              <a:t>我的判断策略在   大字一组 </a:t>
            </a:r>
            <a:r>
              <a:rPr lang="en-US" altLang="zh-CN" dirty="0"/>
              <a:t>/ </a:t>
            </a:r>
            <a:r>
              <a:rPr lang="zh-CN" altLang="en-US" dirty="0"/>
              <a:t>小字一组 </a:t>
            </a:r>
            <a:r>
              <a:rPr lang="en-US" altLang="zh-CN" dirty="0"/>
              <a:t>/ </a:t>
            </a:r>
            <a:r>
              <a:rPr lang="zh-CN" altLang="en-US" dirty="0"/>
              <a:t>小字二组   的音阶中能做到完全正确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424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实现了最艰难的两个技术难点之后</a:t>
            </a:r>
            <a:r>
              <a:rPr lang="en-US" altLang="zh-CN" dirty="0"/>
              <a:t>, </a:t>
            </a:r>
            <a:r>
              <a:rPr lang="zh-CN" altLang="en-US" dirty="0"/>
              <a:t>节奏评价显得相对容易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2406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将每个音的实际演奏音程和理想的节奏相比较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能看到演奏者节奏的准确率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仿照音游的评价方法</a:t>
            </a:r>
            <a:r>
              <a:rPr lang="en-US" altLang="zh-CN" dirty="0"/>
              <a:t>,</a:t>
            </a:r>
          </a:p>
          <a:p>
            <a:r>
              <a:rPr lang="zh-CN" altLang="en-US" dirty="0"/>
              <a:t>我加入了</a:t>
            </a:r>
            <a:r>
              <a:rPr lang="en-US" altLang="zh-CN" dirty="0"/>
              <a:t>fast / slow , </a:t>
            </a:r>
            <a:r>
              <a:rPr lang="zh-CN" altLang="en-US" dirty="0"/>
              <a:t>显示快慢</a:t>
            </a:r>
            <a:endParaRPr lang="en-US" altLang="zh-CN" dirty="0"/>
          </a:p>
          <a:p>
            <a:r>
              <a:rPr lang="zh-CN" altLang="en-US" dirty="0"/>
              <a:t>以及</a:t>
            </a:r>
            <a:r>
              <a:rPr lang="en-US" altLang="zh-CN" dirty="0"/>
              <a:t>perfect </a:t>
            </a:r>
            <a:r>
              <a:rPr lang="zh-CN" altLang="en-US" dirty="0"/>
              <a:t>和 </a:t>
            </a:r>
            <a:r>
              <a:rPr lang="en-US" altLang="zh-CN" dirty="0"/>
              <a:t>good, </a:t>
            </a:r>
            <a:r>
              <a:rPr lang="zh-CN" altLang="en-US" dirty="0"/>
              <a:t>指出有多少音符有比较明显的偏差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我们可以看到两个偏差较大的点都落在二分音符的位置</a:t>
            </a:r>
            <a:r>
              <a:rPr lang="en-US" altLang="zh-CN" dirty="0"/>
              <a:t>, </a:t>
            </a:r>
            <a:r>
              <a:rPr lang="zh-CN" altLang="en-US" dirty="0"/>
              <a:t>这也是合乎常理的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294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整合上述所有的方法</a:t>
            </a:r>
            <a:r>
              <a:rPr lang="en-US" altLang="zh-CN" dirty="0"/>
              <a:t>, </a:t>
            </a:r>
            <a:r>
              <a:rPr lang="zh-CN" altLang="en-US" dirty="0"/>
              <a:t>就已经能实现整曲识别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868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这是音频的波形图</a:t>
            </a:r>
            <a:r>
              <a:rPr lang="en-US" altLang="zh-CN" dirty="0"/>
              <a:t>, </a:t>
            </a:r>
            <a:r>
              <a:rPr lang="zh-CN" altLang="en-US" dirty="0"/>
              <a:t>包络</a:t>
            </a:r>
            <a:r>
              <a:rPr lang="en-US" altLang="zh-CN" dirty="0"/>
              <a:t>, </a:t>
            </a:r>
            <a:r>
              <a:rPr lang="zh-CN" altLang="en-US" dirty="0"/>
              <a:t>和峰值检测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2436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这是对每个音符的琴键强度分析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7393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这是识别之前的瀑布流图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1635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在识别之后</a:t>
            </a:r>
            <a:r>
              <a:rPr lang="en-US" altLang="zh-CN" dirty="0"/>
              <a:t>,</a:t>
            </a:r>
            <a:r>
              <a:rPr lang="zh-CN" altLang="en-US" dirty="0"/>
              <a:t>可以看到清晰的旋律线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瀑布流图虽然直观</a:t>
            </a:r>
            <a:r>
              <a:rPr lang="en-US" altLang="zh-CN" dirty="0"/>
              <a:t>, </a:t>
            </a:r>
            <a:r>
              <a:rPr lang="zh-CN" altLang="en-US" dirty="0"/>
              <a:t>不过既然提取了 每个音符的 音高 和 时值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我联想到了</a:t>
            </a:r>
            <a:r>
              <a:rPr lang="en-US" altLang="zh-CN" dirty="0"/>
              <a:t>ABC</a:t>
            </a:r>
            <a:r>
              <a:rPr lang="zh-CN" altLang="en-US" dirty="0"/>
              <a:t>记谱法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9492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ABC</a:t>
            </a:r>
            <a:r>
              <a:rPr lang="zh-CN" altLang="en-US" dirty="0"/>
              <a:t>记谱法是一种曲谱表示方法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简单来说</a:t>
            </a:r>
            <a:r>
              <a:rPr lang="en-US" altLang="zh-CN" dirty="0"/>
              <a:t>, </a:t>
            </a:r>
            <a:r>
              <a:rPr lang="zh-CN" altLang="en-US" dirty="0"/>
              <a:t>就是五线谱的一种变体</a:t>
            </a:r>
            <a:r>
              <a:rPr lang="en-US" altLang="zh-CN" dirty="0"/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不同的是由于</a:t>
            </a:r>
            <a:r>
              <a:rPr lang="en-US" altLang="zh-CN" dirty="0"/>
              <a:t>ta</a:t>
            </a:r>
            <a:r>
              <a:rPr lang="zh-CN" altLang="en-US" dirty="0"/>
              <a:t>是一种文本格式</a:t>
            </a:r>
            <a:r>
              <a:rPr lang="en-US" altLang="zh-CN" dirty="0"/>
              <a:t>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因此非常适合数字化的处理手段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428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我将识别结果用</a:t>
            </a:r>
            <a:r>
              <a:rPr lang="en-US" altLang="zh-CN" dirty="0" err="1"/>
              <a:t>json</a:t>
            </a:r>
            <a:r>
              <a:rPr lang="zh-CN" altLang="en-US" dirty="0"/>
              <a:t>的格式导出</a:t>
            </a:r>
            <a:endParaRPr lang="en-US" altLang="zh-CN" dirty="0"/>
          </a:p>
          <a:p>
            <a:r>
              <a:rPr lang="zh-CN" altLang="en-US" dirty="0"/>
              <a:t>包括歌曲名称</a:t>
            </a:r>
            <a:r>
              <a:rPr lang="en-US" altLang="zh-CN" dirty="0"/>
              <a:t>,</a:t>
            </a:r>
            <a:r>
              <a:rPr lang="zh-CN" altLang="en-US" dirty="0"/>
              <a:t> 速率</a:t>
            </a:r>
            <a:r>
              <a:rPr lang="en-US" altLang="zh-CN" dirty="0"/>
              <a:t>, </a:t>
            </a:r>
            <a:r>
              <a:rPr lang="zh-CN" altLang="en-US" dirty="0"/>
              <a:t>音高列表 和 时值列表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3697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此外我还用</a:t>
            </a:r>
            <a:r>
              <a:rPr lang="en-US" altLang="zh-CN" dirty="0"/>
              <a:t>React native </a:t>
            </a:r>
            <a:r>
              <a:rPr lang="zh-CN" altLang="en-US" dirty="0"/>
              <a:t>搭建 了前端可视化平台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/>
              <a:t>Node</a:t>
            </a:r>
            <a:r>
              <a:rPr lang="zh-CN" altLang="en-US" dirty="0"/>
              <a:t>提供的库实现了转化</a:t>
            </a:r>
            <a:r>
              <a:rPr lang="en-US" altLang="zh-CN" dirty="0"/>
              <a:t>, </a:t>
            </a:r>
            <a:r>
              <a:rPr lang="zh-CN" altLang="en-US" dirty="0"/>
              <a:t>最终可以将结果转化为</a:t>
            </a:r>
            <a:r>
              <a:rPr lang="en-US" altLang="zh-CN" dirty="0"/>
              <a:t>ABC</a:t>
            </a:r>
            <a:r>
              <a:rPr lang="zh-CN" altLang="en-US" dirty="0"/>
              <a:t>谱</a:t>
            </a:r>
            <a:endParaRPr lang="en-US" altLang="zh-CN" dirty="0"/>
          </a:p>
          <a:p>
            <a:r>
              <a:rPr lang="zh-CN" altLang="en-US" dirty="0"/>
              <a:t>进而导出为五线谱和音频文件</a:t>
            </a:r>
            <a:endParaRPr lang="en-US" altLang="zh-CN" dirty="0"/>
          </a:p>
          <a:p>
            <a:r>
              <a:rPr lang="zh-CN" altLang="en-US" dirty="0"/>
              <a:t>和目标曲谱完全一致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168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那么接下来</a:t>
            </a:r>
            <a:r>
              <a:rPr lang="en-US" altLang="zh-CN" dirty="0"/>
              <a:t>, </a:t>
            </a:r>
            <a:r>
              <a:rPr lang="zh-CN" altLang="en-US" dirty="0"/>
              <a:t>我将介绍我自己原创的深度学习实现原理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8394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在将原理之前</a:t>
            </a:r>
            <a:r>
              <a:rPr lang="en-US" altLang="zh-CN" dirty="0"/>
              <a:t>, </a:t>
            </a:r>
            <a:r>
              <a:rPr lang="zh-CN" altLang="en-US" dirty="0"/>
              <a:t>我想先来聊聊</a:t>
            </a:r>
            <a:r>
              <a:rPr lang="en-US" altLang="zh-CN" dirty="0"/>
              <a:t>idea</a:t>
            </a:r>
            <a:r>
              <a:rPr lang="zh-CN" altLang="en-US" dirty="0"/>
              <a:t>的来源以及可行性</a:t>
            </a:r>
            <a:r>
              <a:rPr lang="en-US" altLang="zh-CN" dirty="0"/>
              <a:t>,</a:t>
            </a:r>
          </a:p>
          <a:p>
            <a:endParaRPr lang="en-US" altLang="zh-CN" dirty="0"/>
          </a:p>
          <a:p>
            <a:r>
              <a:rPr lang="zh-CN" altLang="en-US" dirty="0"/>
              <a:t>首先</a:t>
            </a:r>
            <a:r>
              <a:rPr lang="en-US" altLang="zh-CN" dirty="0"/>
              <a:t>, </a:t>
            </a:r>
            <a:r>
              <a:rPr lang="zh-CN" altLang="en-US" dirty="0"/>
              <a:t>市面上没有公开成型的音频识别模型</a:t>
            </a:r>
            <a:r>
              <a:rPr lang="en-US" altLang="zh-CN" dirty="0"/>
              <a:t>, </a:t>
            </a:r>
            <a:r>
              <a:rPr lang="zh-CN" altLang="en-US" dirty="0"/>
              <a:t>音乐识别技术路线绝大多数走的是信号处理方法</a:t>
            </a:r>
            <a:endParaRPr lang="en-US" altLang="zh-CN" dirty="0"/>
          </a:p>
          <a:p>
            <a:r>
              <a:rPr lang="zh-CN" altLang="en-US" dirty="0"/>
              <a:t>我的思路是先找到一个能接收音频的输入模型</a:t>
            </a:r>
            <a:r>
              <a:rPr lang="en-US" altLang="zh-CN" dirty="0"/>
              <a:t>, </a:t>
            </a:r>
            <a:r>
              <a:rPr lang="zh-CN" altLang="en-US" dirty="0"/>
              <a:t>然后在中间走一个空间映射</a:t>
            </a:r>
            <a:r>
              <a:rPr lang="en-US" altLang="zh-CN" dirty="0"/>
              <a:t>, </a:t>
            </a:r>
            <a:r>
              <a:rPr lang="zh-CN" altLang="en-US" dirty="0"/>
              <a:t>最后用文本输出模型输出</a:t>
            </a:r>
            <a:r>
              <a:rPr lang="en-US" altLang="zh-CN" dirty="0"/>
              <a:t>ABC</a:t>
            </a:r>
            <a:r>
              <a:rPr lang="zh-CN" altLang="en-US" dirty="0"/>
              <a:t>谱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输出这块比较容易想到</a:t>
            </a:r>
            <a:r>
              <a:rPr lang="en-US" altLang="zh-CN" dirty="0"/>
              <a:t>Transformer</a:t>
            </a:r>
            <a:r>
              <a:rPr lang="zh-CN" altLang="en-US" dirty="0"/>
              <a:t>模型</a:t>
            </a:r>
            <a:r>
              <a:rPr lang="en-US" altLang="zh-CN" dirty="0"/>
              <a:t>, ta</a:t>
            </a:r>
            <a:r>
              <a:rPr lang="zh-CN" altLang="en-US" dirty="0"/>
              <a:t>是一种有自我注意力机制的自然语言生成模型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在这个任务中</a:t>
            </a:r>
            <a:r>
              <a:rPr lang="en-US" altLang="zh-CN" dirty="0"/>
              <a:t>, </a:t>
            </a:r>
            <a:r>
              <a:rPr lang="zh-CN" altLang="en-US" dirty="0"/>
              <a:t>比较同意保持记谱法的合法性</a:t>
            </a:r>
            <a:endParaRPr lang="en-US" altLang="zh-CN" dirty="0"/>
          </a:p>
          <a:p>
            <a:r>
              <a:rPr lang="en-US" altLang="zh-CN" dirty="0"/>
              <a:t> </a:t>
            </a:r>
          </a:p>
          <a:p>
            <a:r>
              <a:rPr lang="en-US" altLang="zh-CN" dirty="0"/>
              <a:t>Whisper</a:t>
            </a:r>
            <a:r>
              <a:rPr lang="zh-CN" altLang="en-US" dirty="0"/>
              <a:t>模型就是一个</a:t>
            </a:r>
            <a:r>
              <a:rPr lang="en-US" altLang="zh-CN" dirty="0"/>
              <a:t>Transformer</a:t>
            </a:r>
            <a:r>
              <a:rPr lang="zh-CN" altLang="en-US" dirty="0"/>
              <a:t>模型</a:t>
            </a:r>
            <a:r>
              <a:rPr lang="en-US" altLang="zh-CN" dirty="0"/>
              <a:t>, ta</a:t>
            </a:r>
            <a:r>
              <a:rPr lang="zh-CN" altLang="en-US" dirty="0"/>
              <a:t>是用于识别人声的深度学习模型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效果是将人说话的音频转化为文字</a:t>
            </a:r>
            <a:endParaRPr lang="en-US" altLang="zh-CN" dirty="0"/>
          </a:p>
          <a:p>
            <a:r>
              <a:rPr lang="zh-CN" altLang="en-US" dirty="0"/>
              <a:t>从而实现直接的人机对话交流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人的语音语调能传递很多信息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操 操场</a:t>
            </a:r>
            <a:endParaRPr lang="en-US" altLang="zh-CN" dirty="0"/>
          </a:p>
          <a:p>
            <a:r>
              <a:rPr lang="zh-CN" altLang="en-US" dirty="0"/>
              <a:t>曹 曹操</a:t>
            </a:r>
            <a:endParaRPr lang="en-US" altLang="zh-CN" dirty="0"/>
          </a:p>
          <a:p>
            <a:r>
              <a:rPr lang="zh-CN" altLang="en-US" dirty="0"/>
              <a:t>草 草地</a:t>
            </a:r>
            <a:endParaRPr lang="en-US" altLang="zh-CN" dirty="0"/>
          </a:p>
          <a:p>
            <a:r>
              <a:rPr lang="zh-CN" altLang="en-US" dirty="0"/>
              <a:t>同一个字不同发音能被识别为不同的字</a:t>
            </a:r>
            <a:endParaRPr lang="en-US" altLang="zh-CN" dirty="0"/>
          </a:p>
          <a:p>
            <a:r>
              <a:rPr lang="zh-CN" altLang="en-US" dirty="0"/>
              <a:t>那</a:t>
            </a:r>
            <a:r>
              <a:rPr lang="en-US" altLang="zh-CN" dirty="0"/>
              <a:t>ta</a:t>
            </a:r>
            <a:r>
              <a:rPr lang="zh-CN" altLang="en-US" dirty="0"/>
              <a:t>也就具备了识别音乐的可能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因此我的主体思路是使用</a:t>
            </a:r>
            <a:r>
              <a:rPr lang="en-US" altLang="zh-CN" dirty="0"/>
              <a:t>Whisper</a:t>
            </a:r>
            <a:r>
              <a:rPr lang="zh-CN" altLang="en-US" dirty="0"/>
              <a:t>的</a:t>
            </a:r>
            <a:r>
              <a:rPr lang="en-US" altLang="zh-CN" dirty="0"/>
              <a:t>Encoder</a:t>
            </a:r>
            <a:r>
              <a:rPr lang="zh-CN" altLang="en-US" dirty="0"/>
              <a:t>作为输入</a:t>
            </a:r>
            <a:endParaRPr lang="en-US" altLang="zh-CN" dirty="0"/>
          </a:p>
          <a:p>
            <a:r>
              <a:rPr lang="zh-CN" altLang="en-US" dirty="0"/>
              <a:t>苦于没有预训练的</a:t>
            </a:r>
            <a:r>
              <a:rPr lang="en-US" altLang="zh-CN" dirty="0"/>
              <a:t>Decoder, </a:t>
            </a:r>
            <a:r>
              <a:rPr lang="zh-CN" altLang="en-US" dirty="0"/>
              <a:t>我自定义了一套</a:t>
            </a:r>
            <a:r>
              <a:rPr lang="en-US" altLang="zh-CN" dirty="0"/>
              <a:t>Token</a:t>
            </a:r>
            <a:r>
              <a:rPr lang="zh-CN" altLang="en-US" dirty="0"/>
              <a:t>库</a:t>
            </a:r>
            <a:r>
              <a:rPr lang="en-US" altLang="zh-CN" dirty="0"/>
              <a:t>, </a:t>
            </a:r>
            <a:r>
              <a:rPr lang="zh-CN" altLang="en-US" dirty="0"/>
              <a:t>来训练</a:t>
            </a:r>
            <a:r>
              <a:rPr lang="en-US" altLang="zh-CN" dirty="0"/>
              <a:t>Decoder,</a:t>
            </a:r>
          </a:p>
          <a:p>
            <a:endParaRPr lang="en-US" altLang="zh-CN" dirty="0"/>
          </a:p>
          <a:p>
            <a:r>
              <a:rPr lang="zh-CN" altLang="en-US" dirty="0"/>
              <a:t>设计好模型架构之后就是训练了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这张流程图展示的是数据的全流程</a:t>
            </a:r>
            <a:endParaRPr lang="en-US" altLang="zh-CN" dirty="0"/>
          </a:p>
          <a:p>
            <a:r>
              <a:rPr lang="zh-CN" altLang="en-US" dirty="0"/>
              <a:t>由于训练数据集是 </a:t>
            </a:r>
            <a:r>
              <a:rPr lang="en-US" altLang="zh-CN" dirty="0" err="1"/>
              <a:t>abc</a:t>
            </a:r>
            <a:r>
              <a:rPr lang="zh-CN" altLang="en-US" dirty="0"/>
              <a:t>谱 和 音频文件的对应</a:t>
            </a:r>
            <a:r>
              <a:rPr lang="en-US" altLang="zh-CN" dirty="0"/>
              <a:t>,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7421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因此还需要大量的数据处理工作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4923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我从网上爬虫了大量</a:t>
            </a:r>
            <a:r>
              <a:rPr lang="en-US" altLang="zh-CN" dirty="0" err="1"/>
              <a:t>abc</a:t>
            </a:r>
            <a:r>
              <a:rPr lang="zh-CN" altLang="en-US" dirty="0"/>
              <a:t>谱</a:t>
            </a:r>
            <a:endParaRPr lang="en-US" altLang="zh-CN" dirty="0"/>
          </a:p>
          <a:p>
            <a:r>
              <a:rPr lang="zh-CN" altLang="en-US" dirty="0"/>
              <a:t>由于缺乏现成的对应数据</a:t>
            </a:r>
            <a:r>
              <a:rPr lang="en-US" altLang="zh-CN" dirty="0"/>
              <a:t>, </a:t>
            </a:r>
            <a:r>
              <a:rPr lang="zh-CN" altLang="en-US" dirty="0"/>
              <a:t>我需要自己创造数据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这些数据未必要有韵律</a:t>
            </a:r>
            <a:r>
              <a:rPr lang="en-US" altLang="zh-CN" dirty="0"/>
              <a:t>, </a:t>
            </a:r>
            <a:r>
              <a:rPr lang="zh-CN" altLang="en-US" dirty="0"/>
              <a:t>前期主要是需要让模型接收预训练</a:t>
            </a:r>
            <a:endParaRPr lang="en-US" altLang="zh-CN" dirty="0"/>
          </a:p>
          <a:p>
            <a:r>
              <a:rPr lang="zh-CN" altLang="en-US" dirty="0"/>
              <a:t>这样</a:t>
            </a:r>
            <a:r>
              <a:rPr lang="en-US" altLang="zh-CN" dirty="0"/>
              <a:t>ta</a:t>
            </a:r>
            <a:r>
              <a:rPr lang="zh-CN" altLang="en-US" dirty="0"/>
              <a:t>的</a:t>
            </a:r>
            <a:r>
              <a:rPr lang="en-US" altLang="zh-CN" dirty="0"/>
              <a:t>Decoder</a:t>
            </a:r>
            <a:r>
              <a:rPr lang="zh-CN" altLang="en-US" dirty="0"/>
              <a:t>才能明白</a:t>
            </a:r>
            <a:r>
              <a:rPr lang="en-US" altLang="zh-CN" dirty="0"/>
              <a:t>ABC</a:t>
            </a:r>
            <a:r>
              <a:rPr lang="zh-CN" altLang="en-US" dirty="0"/>
              <a:t>谱的规则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我提出了多余的头信息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5706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为了训练的方便</a:t>
            </a:r>
            <a:r>
              <a:rPr lang="en-US" altLang="zh-CN" dirty="0"/>
              <a:t>, </a:t>
            </a:r>
            <a:r>
              <a:rPr lang="zh-CN" altLang="en-US" dirty="0"/>
              <a:t>所有的音调强制转为</a:t>
            </a:r>
            <a:r>
              <a:rPr lang="en-US" altLang="zh-CN" dirty="0"/>
              <a:t>C</a:t>
            </a:r>
            <a:r>
              <a:rPr lang="zh-CN" altLang="en-US" dirty="0"/>
              <a:t>大调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2317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ABC</a:t>
            </a:r>
            <a:r>
              <a:rPr lang="zh-CN" altLang="en-US" dirty="0"/>
              <a:t>谱有很强的鲁棒性</a:t>
            </a:r>
            <a:r>
              <a:rPr lang="en-US" altLang="zh-CN" dirty="0"/>
              <a:t>, ta</a:t>
            </a:r>
            <a:r>
              <a:rPr lang="zh-CN" altLang="en-US" dirty="0"/>
              <a:t>的节奏有很多合法的表示方法</a:t>
            </a:r>
            <a:endParaRPr lang="en-US" altLang="zh-CN" dirty="0"/>
          </a:p>
          <a:p>
            <a:r>
              <a:rPr lang="zh-CN" altLang="en-US" dirty="0"/>
              <a:t>加之不同谱子拍号不同</a:t>
            </a:r>
            <a:endParaRPr lang="en-US" altLang="zh-CN" dirty="0"/>
          </a:p>
          <a:p>
            <a:r>
              <a:rPr lang="zh-CN" altLang="en-US" dirty="0"/>
              <a:t>这对数据清洗来说是一场灾难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我的解决办法是将所有的音符时值全部转化为最小公倍数</a:t>
            </a:r>
            <a:r>
              <a:rPr lang="en-US" altLang="zh-CN" dirty="0"/>
              <a:t>192</a:t>
            </a:r>
          </a:p>
          <a:p>
            <a:r>
              <a:rPr lang="zh-CN" altLang="en-US" dirty="0"/>
              <a:t>从而归一化处理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5485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为了增强数据</a:t>
            </a:r>
            <a:r>
              <a:rPr lang="en-US" altLang="zh-CN" dirty="0"/>
              <a:t>, </a:t>
            </a:r>
            <a:r>
              <a:rPr lang="zh-CN" altLang="en-US" dirty="0"/>
              <a:t>我采用了变异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1542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随机选取其中的一些单音</a:t>
            </a:r>
            <a:r>
              <a:rPr lang="en-US" altLang="zh-CN" dirty="0"/>
              <a:t>,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9207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在合法音域随机修改</a:t>
            </a:r>
            <a:r>
              <a:rPr lang="en-US" altLang="zh-CN" dirty="0"/>
              <a:t>,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4325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由于</a:t>
            </a:r>
            <a:r>
              <a:rPr lang="en-US" altLang="zh-CN" dirty="0"/>
              <a:t>Transformer</a:t>
            </a:r>
            <a:r>
              <a:rPr lang="zh-CN" altLang="en-US" dirty="0"/>
              <a:t>模型的</a:t>
            </a:r>
            <a:r>
              <a:rPr lang="en-US" altLang="zh-CN" dirty="0"/>
              <a:t>Decoder</a:t>
            </a:r>
            <a:r>
              <a:rPr lang="zh-CN" altLang="en-US" dirty="0"/>
              <a:t>以</a:t>
            </a:r>
            <a:r>
              <a:rPr lang="en-US" altLang="zh-CN" dirty="0"/>
              <a:t>token</a:t>
            </a:r>
            <a:r>
              <a:rPr lang="zh-CN" altLang="en-US" dirty="0"/>
              <a:t>为单位输出</a:t>
            </a:r>
            <a:r>
              <a:rPr lang="en-US" altLang="zh-CN" dirty="0"/>
              <a:t>, </a:t>
            </a:r>
            <a:r>
              <a:rPr lang="zh-CN" altLang="en-US" dirty="0"/>
              <a:t>因此需要将</a:t>
            </a:r>
            <a:r>
              <a:rPr lang="en-US" altLang="zh-CN" dirty="0"/>
              <a:t>ABC</a:t>
            </a:r>
            <a:r>
              <a:rPr lang="zh-CN" altLang="en-US" dirty="0"/>
              <a:t>谱 </a:t>
            </a:r>
            <a:r>
              <a:rPr lang="en-US" altLang="zh-CN" dirty="0"/>
              <a:t>Token</a:t>
            </a:r>
            <a:r>
              <a:rPr lang="zh-CN" altLang="en-US" dirty="0"/>
              <a:t>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我将 单音 </a:t>
            </a:r>
            <a:r>
              <a:rPr lang="en-US" altLang="zh-CN" dirty="0"/>
              <a:t>/ </a:t>
            </a:r>
            <a:r>
              <a:rPr lang="zh-CN" altLang="en-US" dirty="0"/>
              <a:t>和弦 </a:t>
            </a:r>
            <a:r>
              <a:rPr lang="en-US" altLang="zh-CN" dirty="0"/>
              <a:t>/ </a:t>
            </a:r>
            <a:r>
              <a:rPr lang="zh-CN" altLang="en-US" dirty="0"/>
              <a:t>节奏 定为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4EA637-45D7-4E5C-A758-7908D3C937D7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762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我将</a:t>
            </a:r>
            <a:r>
              <a:rPr lang="en-US" altLang="zh-CN" dirty="0"/>
              <a:t>token</a:t>
            </a:r>
            <a:r>
              <a:rPr lang="zh-CN" altLang="en-US" dirty="0"/>
              <a:t>化后的谱称为 </a:t>
            </a:r>
            <a:r>
              <a:rPr lang="en-US" altLang="zh-CN" dirty="0"/>
              <a:t>Orpheus </a:t>
            </a:r>
            <a:r>
              <a:rPr lang="zh-CN" altLang="en-US" dirty="0"/>
              <a:t>谱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Abc</a:t>
            </a:r>
            <a:r>
              <a:rPr lang="zh-CN" altLang="en-US" dirty="0"/>
              <a:t>谱可以输出音频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两者结合形成数据库</a:t>
            </a:r>
            <a:r>
              <a:rPr lang="en-US" altLang="zh-CN" dirty="0"/>
              <a:t>, </a:t>
            </a:r>
            <a:r>
              <a:rPr lang="zh-CN" altLang="en-US" dirty="0"/>
              <a:t>训练模型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0637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最终我们来看一下结果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5242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 模型的跑分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这边除了常规的</a:t>
            </a:r>
            <a:r>
              <a:rPr lang="en-US" altLang="zh-CN" dirty="0"/>
              <a:t>loss</a:t>
            </a:r>
            <a:r>
              <a:rPr lang="zh-CN" altLang="en-US" dirty="0"/>
              <a:t>值</a:t>
            </a:r>
            <a:r>
              <a:rPr lang="en-US" altLang="zh-CN" dirty="0"/>
              <a:t>, </a:t>
            </a:r>
            <a:r>
              <a:rPr lang="zh-CN" altLang="en-US" dirty="0"/>
              <a:t>我采用了音频识别评价的一个特别的参考值 </a:t>
            </a:r>
            <a:r>
              <a:rPr lang="en-US" altLang="zh-CN" dirty="0" err="1"/>
              <a:t>WER</a:t>
            </a:r>
            <a:endParaRPr lang="en-US" altLang="zh-CN" dirty="0"/>
          </a:p>
          <a:p>
            <a:r>
              <a:rPr lang="zh-CN" altLang="en-US" dirty="0"/>
              <a:t>将识别结果中 多出来的音 </a:t>
            </a:r>
            <a:r>
              <a:rPr lang="en-US" altLang="zh-CN" dirty="0"/>
              <a:t>/ </a:t>
            </a:r>
            <a:r>
              <a:rPr lang="zh-CN" altLang="en-US" dirty="0"/>
              <a:t>漏掉的音 </a:t>
            </a:r>
            <a:r>
              <a:rPr lang="en-US" altLang="zh-CN" dirty="0"/>
              <a:t>/ </a:t>
            </a:r>
            <a:r>
              <a:rPr lang="zh-CN" altLang="en-US" dirty="0"/>
              <a:t>以及错位的音 取平均数算得</a:t>
            </a:r>
            <a:endParaRPr lang="en-US" altLang="zh-CN" dirty="0"/>
          </a:p>
          <a:p>
            <a:r>
              <a:rPr lang="zh-CN" altLang="en-US" dirty="0"/>
              <a:t>两者收敛效果良好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9308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1026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综上所述</a:t>
            </a:r>
            <a:endParaRPr lang="en-US" altLang="zh-CN" dirty="0"/>
          </a:p>
          <a:p>
            <a:r>
              <a:rPr lang="zh-CN" altLang="en-US" dirty="0"/>
              <a:t>数字信号处理方法更适用于</a:t>
            </a:r>
            <a:r>
              <a:rPr lang="en-US" altLang="zh-CN" dirty="0"/>
              <a:t> </a:t>
            </a:r>
            <a:r>
              <a:rPr lang="zh-CN" altLang="en-US" dirty="0"/>
              <a:t>干净的单旋律线</a:t>
            </a:r>
            <a:r>
              <a:rPr lang="en-US" altLang="zh-CN" dirty="0"/>
              <a:t>, </a:t>
            </a:r>
            <a:r>
              <a:rPr lang="zh-CN" altLang="en-US" dirty="0"/>
              <a:t>需要针对特定的音色</a:t>
            </a:r>
            <a:r>
              <a:rPr lang="en-US" altLang="zh-CN" dirty="0"/>
              <a:t>, </a:t>
            </a:r>
          </a:p>
          <a:p>
            <a:r>
              <a:rPr lang="zh-CN" altLang="en-US" dirty="0"/>
              <a:t>分析波形特点</a:t>
            </a:r>
            <a:r>
              <a:rPr lang="en-US" altLang="zh-CN" dirty="0"/>
              <a:t>, </a:t>
            </a:r>
            <a:r>
              <a:rPr lang="zh-CN" altLang="en-US" dirty="0"/>
              <a:t>配置一系列参数</a:t>
            </a:r>
            <a:r>
              <a:rPr lang="en-US" altLang="zh-CN" dirty="0"/>
              <a:t>, </a:t>
            </a:r>
            <a:r>
              <a:rPr lang="zh-CN" altLang="en-US" dirty="0"/>
              <a:t>但是结果相当精确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模型预测的方法胜在</a:t>
            </a:r>
            <a:r>
              <a:rPr lang="en-US" altLang="zh-CN" dirty="0"/>
              <a:t>: ta</a:t>
            </a:r>
            <a:r>
              <a:rPr lang="zh-CN" altLang="en-US" dirty="0"/>
              <a:t>可以用于任意音频</a:t>
            </a:r>
            <a:r>
              <a:rPr lang="en-US" altLang="zh-CN" dirty="0"/>
              <a:t>, </a:t>
            </a:r>
            <a:r>
              <a:rPr lang="zh-CN" altLang="en-US" dirty="0"/>
              <a:t>只需要微调参数即可</a:t>
            </a:r>
            <a:r>
              <a:rPr lang="en-US" altLang="zh-CN" dirty="0"/>
              <a:t>, </a:t>
            </a:r>
            <a:r>
              <a:rPr lang="zh-CN" altLang="en-US" dirty="0"/>
              <a:t>但缺点是非常不精确</a:t>
            </a:r>
            <a:r>
              <a:rPr lang="en-US" altLang="zh-CN" dirty="0"/>
              <a:t>, </a:t>
            </a:r>
            <a:r>
              <a:rPr lang="zh-CN" altLang="en-US" dirty="0"/>
              <a:t>只能识别个大概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展望这两个方法的实际使用场景</a:t>
            </a:r>
            <a:endParaRPr lang="en-US" altLang="zh-CN" dirty="0"/>
          </a:p>
          <a:p>
            <a:r>
              <a:rPr lang="zh-CN" altLang="en-US" dirty="0"/>
              <a:t>数字信号处理技术能部署在嵌入式系统中</a:t>
            </a:r>
            <a:r>
              <a:rPr lang="en-US" altLang="zh-CN" dirty="0"/>
              <a:t>, </a:t>
            </a:r>
            <a:r>
              <a:rPr lang="zh-CN" altLang="en-US" dirty="0"/>
              <a:t>算力要求低</a:t>
            </a:r>
            <a:r>
              <a:rPr lang="en-US" altLang="zh-CN" dirty="0"/>
              <a:t>, </a:t>
            </a:r>
            <a:r>
              <a:rPr lang="zh-CN" altLang="en-US" dirty="0"/>
              <a:t>即时反馈迅速</a:t>
            </a:r>
            <a:r>
              <a:rPr lang="en-US" altLang="zh-CN" dirty="0"/>
              <a:t>, </a:t>
            </a:r>
            <a:r>
              <a:rPr lang="zh-CN" altLang="en-US" dirty="0"/>
              <a:t>适合演奏者的练习中即时纠正</a:t>
            </a:r>
            <a:endParaRPr lang="en-US" altLang="zh-CN" dirty="0"/>
          </a:p>
          <a:p>
            <a:r>
              <a:rPr lang="zh-CN" altLang="en-US" dirty="0"/>
              <a:t>而深度学习模型能可以被用于对任意音频扒谱</a:t>
            </a:r>
            <a:r>
              <a:rPr lang="en-US" altLang="zh-CN" dirty="0"/>
              <a:t>, </a:t>
            </a:r>
            <a:r>
              <a:rPr lang="zh-CN" altLang="en-US" dirty="0"/>
              <a:t>成为音乐行业的有力工具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477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以上是全部内容</a:t>
            </a:r>
            <a:r>
              <a:rPr lang="en-US" altLang="zh-CN" dirty="0"/>
              <a:t>, </a:t>
            </a:r>
            <a:r>
              <a:rPr lang="zh-CN" altLang="en-US" dirty="0"/>
              <a:t>感谢大家的聆听</a:t>
            </a:r>
            <a:r>
              <a:rPr lang="en-US" altLang="zh-CN" dirty="0"/>
              <a:t>!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9D66-38CC-46CC-88D4-D8697467AE2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612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5168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Script" panose="030B0504020000000003" pitchFamily="66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578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982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140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246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233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948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833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655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149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6767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39D63F4-8569-46F9-9F85-F7A2990784E3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006FC7F-6C68-4646-9A74-46CB33299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52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microsoft.com/office/2007/relationships/media" Target="../media/media2.wav"/><Relationship Id="rId7" Type="http://schemas.openxmlformats.org/officeDocument/2006/relationships/image" Target="../media/image38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notesSlide" Target="../notesSlides/notesSlide39.xml"/><Relationship Id="rId11" Type="http://schemas.openxmlformats.org/officeDocument/2006/relationships/image" Target="../media/image42.sv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1.png"/><Relationship Id="rId4" Type="http://schemas.openxmlformats.org/officeDocument/2006/relationships/audio" Target="../media/media2.wav"/><Relationship Id="rId9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microsoft.com/office/2007/relationships/media" Target="../media/media4.wav"/><Relationship Id="rId7" Type="http://schemas.openxmlformats.org/officeDocument/2006/relationships/image" Target="../media/image44.svg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43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6.svg"/><Relationship Id="rId4" Type="http://schemas.openxmlformats.org/officeDocument/2006/relationships/audio" Target="../media/media4.wav"/><Relationship Id="rId9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6F710-8588-C60C-8E69-5BFFC7931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800" dirty="0"/>
              <a:t>数字信号处理 综合实践</a:t>
            </a:r>
            <a:br>
              <a:rPr lang="en-US" altLang="zh-CN" dirty="0"/>
            </a:br>
            <a:r>
              <a:rPr lang="zh-CN" altLang="en-US" dirty="0"/>
              <a:t>钢琴音频识别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FC8EA9-D7E9-C3F2-729B-4E4896BAC1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信工</a:t>
            </a:r>
            <a:r>
              <a:rPr lang="en-US" altLang="zh-CN" dirty="0"/>
              <a:t>223	</a:t>
            </a:r>
            <a:r>
              <a:rPr lang="zh-CN" altLang="en-US" dirty="0"/>
              <a:t>张鸿尧</a:t>
            </a:r>
            <a:r>
              <a:rPr lang="en-US" altLang="zh-CN" dirty="0"/>
              <a:t>		22012995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3076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FEC6E-9C2F-F422-045C-0820536C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79B6F-C7CB-BFBF-3285-664AEAE91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实验目标 </a:t>
            </a:r>
            <a:r>
              <a:rPr lang="en-US" altLang="zh-CN" dirty="0"/>
              <a:t>&amp; </a:t>
            </a:r>
            <a:r>
              <a:rPr lang="zh-CN" altLang="en-US" dirty="0"/>
              <a:t>技术栈</a:t>
            </a:r>
            <a:endParaRPr lang="en-US" altLang="zh-CN" dirty="0"/>
          </a:p>
          <a:p>
            <a:r>
              <a:rPr lang="zh-CN" altLang="en-US" dirty="0"/>
              <a:t>数字信号处理方法</a:t>
            </a:r>
            <a:endParaRPr lang="en-US" altLang="zh-CN" dirty="0"/>
          </a:p>
          <a:p>
            <a:pPr lvl="1"/>
            <a:r>
              <a:rPr lang="zh-CN" altLang="en-US" dirty="0"/>
              <a:t>帧峰检测法 </a:t>
            </a:r>
            <a:r>
              <a:rPr lang="en-US" altLang="zh-CN" dirty="0"/>
              <a:t>– </a:t>
            </a:r>
            <a:r>
              <a:rPr lang="zh-CN" altLang="en-US" dirty="0"/>
              <a:t>分割音符</a:t>
            </a:r>
            <a:endParaRPr lang="en-US" altLang="zh-CN" dirty="0"/>
          </a:p>
          <a:p>
            <a:pPr lvl="1"/>
            <a:r>
              <a:rPr lang="zh-CN" altLang="en-US" dirty="0"/>
              <a:t>频谱分析</a:t>
            </a:r>
            <a:r>
              <a:rPr lang="en-US" altLang="zh-CN" dirty="0"/>
              <a:t> – </a:t>
            </a:r>
            <a:r>
              <a:rPr lang="zh-CN" altLang="en-US" dirty="0"/>
              <a:t>得到琴键能量</a:t>
            </a:r>
            <a:endParaRPr lang="en-US" altLang="zh-CN" dirty="0"/>
          </a:p>
          <a:p>
            <a:pPr lvl="1"/>
            <a:r>
              <a:rPr lang="zh-CN" altLang="en-US" dirty="0"/>
              <a:t>单音识别 </a:t>
            </a:r>
            <a:r>
              <a:rPr lang="en-US" altLang="zh-CN" dirty="0"/>
              <a:t>– </a:t>
            </a:r>
            <a:r>
              <a:rPr lang="zh-CN" altLang="en-US" dirty="0"/>
              <a:t>泛音分析</a:t>
            </a:r>
            <a:endParaRPr lang="en-US" altLang="zh-CN" dirty="0"/>
          </a:p>
          <a:p>
            <a:pPr lvl="1"/>
            <a:r>
              <a:rPr lang="zh-CN" altLang="en-US" dirty="0"/>
              <a:t>节奏评价</a:t>
            </a:r>
            <a:endParaRPr lang="en-US" altLang="zh-CN" dirty="0"/>
          </a:p>
          <a:p>
            <a:pPr lvl="1"/>
            <a:r>
              <a:rPr lang="zh-CN" altLang="en-US" dirty="0"/>
              <a:t>结果导出</a:t>
            </a:r>
            <a:endParaRPr lang="en-US" altLang="zh-CN" dirty="0"/>
          </a:p>
          <a:p>
            <a:r>
              <a:rPr lang="zh-CN" altLang="en-US" dirty="0"/>
              <a:t>基于</a:t>
            </a:r>
            <a:r>
              <a:rPr lang="en-US" altLang="zh-CN" dirty="0"/>
              <a:t>Whisper</a:t>
            </a:r>
            <a:r>
              <a:rPr lang="zh-CN" altLang="en-US" dirty="0"/>
              <a:t>模型的</a:t>
            </a:r>
            <a:r>
              <a:rPr lang="en-US" altLang="zh-CN" dirty="0"/>
              <a:t>Transformer</a:t>
            </a:r>
          </a:p>
          <a:p>
            <a:pPr lvl="1"/>
            <a:r>
              <a:rPr lang="zh-CN" altLang="en-US" dirty="0"/>
              <a:t>原理概述</a:t>
            </a:r>
            <a:endParaRPr lang="en-US" altLang="zh-CN" dirty="0"/>
          </a:p>
          <a:p>
            <a:pPr lvl="1"/>
            <a:r>
              <a:rPr lang="zh-CN" altLang="en-US" dirty="0"/>
              <a:t>技术细节</a:t>
            </a:r>
            <a:endParaRPr lang="en-US" altLang="zh-CN" dirty="0"/>
          </a:p>
          <a:p>
            <a:pPr lvl="1"/>
            <a:r>
              <a:rPr lang="zh-CN" altLang="en-US" dirty="0"/>
              <a:t>结果分析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0549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72603-CC32-E062-F6B1-4A809A316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项目介绍 </a:t>
            </a:r>
            <a:r>
              <a:rPr lang="en-US" altLang="zh-CN" dirty="0"/>
              <a:t>&amp; </a:t>
            </a:r>
            <a:r>
              <a:rPr lang="zh-CN" altLang="en-US" dirty="0"/>
              <a:t>技术栈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44F56F-F7CA-EA72-FDDE-67F06AE5F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08872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8B97C-0DC5-C6FA-C10F-F33E862A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项目介绍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技术栈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58FA24-575B-3393-31AA-853C15C3B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  <a:r>
              <a:rPr lang="en-US" altLang="zh-CN" dirty="0"/>
              <a:t>:</a:t>
            </a:r>
            <a:r>
              <a:rPr lang="zh-CN" altLang="en-US" dirty="0"/>
              <a:t>实现对一段钢琴弹奏的音乐的频谱分析和旋律节奏提取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技术栈</a:t>
            </a:r>
            <a:r>
              <a:rPr lang="en-US" altLang="zh-CN" dirty="0"/>
              <a:t>: </a:t>
            </a:r>
          </a:p>
          <a:p>
            <a:pPr lvl="1"/>
            <a:r>
              <a:rPr lang="zh-CN" altLang="en-US" dirty="0"/>
              <a:t>切分音符 </a:t>
            </a:r>
            <a:r>
              <a:rPr lang="en-US" altLang="zh-CN" dirty="0"/>
              <a:t>– </a:t>
            </a:r>
            <a:r>
              <a:rPr lang="zh-CN" altLang="en-US" dirty="0"/>
              <a:t>帧峰检测法</a:t>
            </a:r>
            <a:r>
              <a:rPr lang="en-US" altLang="zh-CN" dirty="0"/>
              <a:t>, </a:t>
            </a:r>
            <a:r>
              <a:rPr lang="zh-CN" altLang="en-US" dirty="0"/>
              <a:t>滤波器</a:t>
            </a:r>
            <a:endParaRPr lang="en-US" altLang="zh-CN" dirty="0"/>
          </a:p>
          <a:p>
            <a:pPr lvl="1"/>
            <a:r>
              <a:rPr lang="zh-CN" altLang="en-US" dirty="0"/>
              <a:t>单音识别 </a:t>
            </a:r>
            <a:r>
              <a:rPr lang="en-US" altLang="zh-CN" dirty="0"/>
              <a:t>– </a:t>
            </a:r>
            <a:r>
              <a:rPr lang="zh-CN" altLang="en-US" dirty="0"/>
              <a:t>频响转琴键强度</a:t>
            </a:r>
            <a:r>
              <a:rPr lang="en-US" altLang="zh-CN" dirty="0"/>
              <a:t>,</a:t>
            </a:r>
            <a:r>
              <a:rPr lang="zh-CN" altLang="en-US" dirty="0"/>
              <a:t> 泛音分析</a:t>
            </a:r>
            <a:endParaRPr lang="en-US" altLang="zh-CN" dirty="0"/>
          </a:p>
          <a:p>
            <a:pPr lvl="1"/>
            <a:r>
              <a:rPr lang="zh-CN" altLang="en-US" dirty="0"/>
              <a:t>节奏评价 </a:t>
            </a:r>
            <a:r>
              <a:rPr lang="en-US" altLang="zh-CN" dirty="0"/>
              <a:t>– </a:t>
            </a:r>
            <a:r>
              <a:rPr lang="zh-CN" altLang="en-US" dirty="0"/>
              <a:t>音符时值分析</a:t>
            </a:r>
            <a:r>
              <a:rPr lang="en-US" altLang="zh-CN" dirty="0"/>
              <a:t>, </a:t>
            </a:r>
            <a:r>
              <a:rPr lang="zh-CN" altLang="en-US" dirty="0"/>
              <a:t>归一化处理</a:t>
            </a:r>
            <a:endParaRPr lang="en-US" altLang="zh-CN" dirty="0"/>
          </a:p>
          <a:p>
            <a:pPr lvl="1"/>
            <a:r>
              <a:rPr lang="zh-CN" altLang="en-US" dirty="0"/>
              <a:t>识别结果</a:t>
            </a:r>
            <a:r>
              <a:rPr lang="en-US" altLang="zh-CN" dirty="0"/>
              <a:t> – </a:t>
            </a:r>
            <a:r>
              <a:rPr lang="en-US" altLang="zh-CN" dirty="0" err="1"/>
              <a:t>abc</a:t>
            </a:r>
            <a:r>
              <a:rPr lang="zh-CN" altLang="en-US" dirty="0"/>
              <a:t>谱</a:t>
            </a:r>
            <a:r>
              <a:rPr lang="en-US" altLang="zh-CN" dirty="0"/>
              <a:t>, </a:t>
            </a:r>
            <a:r>
              <a:rPr lang="zh-CN" altLang="en-US" dirty="0"/>
              <a:t>前端</a:t>
            </a:r>
            <a:r>
              <a:rPr lang="en-US" altLang="zh-CN" dirty="0"/>
              <a:t>React</a:t>
            </a:r>
            <a:r>
              <a:rPr lang="zh-CN" altLang="en-US" dirty="0"/>
              <a:t>组件库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2732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74522-4470-579B-DC9F-27031071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切分音符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19AC2E-1041-7B0E-6484-9F82C0E3B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  <a:r>
              <a:rPr lang="en-US" altLang="zh-CN" dirty="0"/>
              <a:t>: </a:t>
            </a:r>
            <a:r>
              <a:rPr lang="zh-CN" altLang="en-US" dirty="0"/>
              <a:t>找到每个音符的起始位置</a:t>
            </a:r>
          </a:p>
        </p:txBody>
      </p:sp>
    </p:spTree>
    <p:extLst>
      <p:ext uri="{BB962C8B-B14F-4D97-AF65-F5344CB8AC3E}">
        <p14:creationId xmlns:p14="http://schemas.microsoft.com/office/powerpoint/2010/main" val="3206786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DA357-EBC2-C73D-1160-E1661A9F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切分音符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得到包络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C9A5496-40D9-2478-6E91-787D912A6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8738" y="773014"/>
            <a:ext cx="7315200" cy="2784579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4B2F60D-1CEE-EC13-DB56-2EB2F46CB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738" y="3984582"/>
            <a:ext cx="7315200" cy="210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611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7B8DD-D8F7-4576-0B12-E5FB4A14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切分音符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找到峰值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3B8CE60-938A-8493-5386-7EFC770E4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238" y="308175"/>
            <a:ext cx="6934200" cy="365760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467A96A-D775-1E25-E02E-8DC677687FFF}"/>
              </a:ext>
            </a:extLst>
          </p:cNvPr>
          <p:cNvSpPr txBox="1"/>
          <p:nvPr/>
        </p:nvSpPr>
        <p:spPr>
          <a:xfrm>
            <a:off x="4545367" y="4074850"/>
            <a:ext cx="58059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WidthReference</a:t>
            </a:r>
            <a:endParaRPr lang="en-US" altLang="zh-CN" b="1" dirty="0">
              <a:solidFill>
                <a:srgbClr val="83949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1" i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zh-CN" altLang="en-US" sz="2400" b="1" dirty="0"/>
              <a:t>峰值高度的一半处两点都要符合标准</a:t>
            </a:r>
            <a:endParaRPr lang="en-US" altLang="zh-CN" sz="2400" b="1" dirty="0"/>
          </a:p>
          <a:p>
            <a:r>
              <a:rPr lang="en-US" altLang="zh-CN" b="1" i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MinPeakHeight</a:t>
            </a:r>
            <a:endParaRPr lang="en-US" altLang="zh-CN" b="1" dirty="0">
              <a:solidFill>
                <a:srgbClr val="83949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1" i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zh-CN" altLang="en-US" sz="2400" b="1" dirty="0"/>
              <a:t>最小绝对高度</a:t>
            </a:r>
            <a:endParaRPr lang="en-US" altLang="zh-CN" sz="2400" b="1" dirty="0"/>
          </a:p>
          <a:p>
            <a:r>
              <a:rPr lang="en-US" altLang="zh-CN" b="1" i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MinPeakProminence</a:t>
            </a:r>
            <a:endParaRPr lang="en-US" altLang="zh-CN" b="1" dirty="0">
              <a:solidFill>
                <a:srgbClr val="83949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1" dirty="0"/>
              <a:t>	</a:t>
            </a:r>
            <a:r>
              <a:rPr lang="zh-CN" altLang="en-US" sz="2400" b="1" dirty="0"/>
              <a:t>两侧都必须有足够大的下降高度</a:t>
            </a:r>
            <a:endParaRPr lang="en-US" altLang="zh-CN" sz="2400" b="1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CA3EE72-4754-72F0-21D7-CADC4FEFEA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027" r="12730"/>
          <a:stretch/>
        </p:blipFill>
        <p:spPr>
          <a:xfrm>
            <a:off x="3549142" y="1047259"/>
            <a:ext cx="7954392" cy="217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248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A42BE-181F-BD70-3B18-C8669DCD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切分音符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参数调整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EAF481C2-6AB9-8538-D99A-BA2A1BB05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8738" y="1301544"/>
            <a:ext cx="7315200" cy="4245386"/>
          </a:xfrm>
        </p:spPr>
      </p:pic>
    </p:spTree>
    <p:extLst>
      <p:ext uri="{BB962C8B-B14F-4D97-AF65-F5344CB8AC3E}">
        <p14:creationId xmlns:p14="http://schemas.microsoft.com/office/powerpoint/2010/main" val="39225404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D49AD-547D-D877-E243-D8DCBFF84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单音识别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83CB05-7742-7673-5EB9-D135EC25F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  <a:r>
              <a:rPr lang="en-US" altLang="zh-CN" dirty="0"/>
              <a:t>: </a:t>
            </a:r>
            <a:r>
              <a:rPr lang="zh-CN" altLang="en-US" dirty="0"/>
              <a:t>通过单音频谱判断音高</a:t>
            </a:r>
          </a:p>
        </p:txBody>
      </p:sp>
    </p:spTree>
    <p:extLst>
      <p:ext uri="{BB962C8B-B14F-4D97-AF65-F5344CB8AC3E}">
        <p14:creationId xmlns:p14="http://schemas.microsoft.com/office/powerpoint/2010/main" val="14373809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C98E7-B421-5CA8-6A79-93F7ED0D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单音识别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频幅 转 </a:t>
            </a:r>
            <a:br>
              <a:rPr lang="en-US" altLang="zh-CN" dirty="0"/>
            </a:br>
            <a:r>
              <a:rPr lang="zh-CN" altLang="en-US" dirty="0"/>
              <a:t>琴键能量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2A97BDB-7C8B-49F6-41F8-09C2D2909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19647" y="1285875"/>
            <a:ext cx="2181225" cy="4276725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E65D36-A758-AF3F-8340-472FC9E0C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775" y="652326"/>
            <a:ext cx="2181225" cy="555334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C73E90F-3C3F-FACF-A958-54C7A375A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3932" y="2179329"/>
            <a:ext cx="2687782" cy="248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918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F10F2-8883-531F-EDD9-1B9CEE804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14186-E579-30AF-F33D-9779BA98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单音识别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频幅 转 </a:t>
            </a:r>
            <a:br>
              <a:rPr lang="en-US" altLang="zh-CN" dirty="0"/>
            </a:br>
            <a:r>
              <a:rPr lang="zh-CN" altLang="en-US" dirty="0"/>
              <a:t>琴键能量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775D176-5F8C-AECE-DF4A-60BB31AB1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9829" y="1285875"/>
            <a:ext cx="2181225" cy="4276725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E46C984-D1FC-A3C1-048C-FE479DC88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483" y="3805221"/>
            <a:ext cx="2687782" cy="24411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8B07837-B7CF-39A0-1F02-E18E388CB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483" y="562965"/>
            <a:ext cx="2687782" cy="248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86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74F0-5B9B-ABD3-6EF0-7F7EDC68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F2859-507A-582E-49C8-918D111BD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单音识别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频幅 转 </a:t>
            </a:r>
            <a:br>
              <a:rPr lang="en-US" altLang="zh-CN" dirty="0"/>
            </a:br>
            <a:r>
              <a:rPr lang="zh-CN" altLang="en-US" dirty="0"/>
              <a:t>琴键能量</a:t>
            </a:r>
          </a:p>
        </p:txBody>
      </p:sp>
      <p:pic>
        <p:nvPicPr>
          <p:cNvPr id="10" name="内容占位符 10">
            <a:extLst>
              <a:ext uri="{FF2B5EF4-FFF2-40B4-BE49-F238E27FC236}">
                <a16:creationId xmlns:a16="http://schemas.microsoft.com/office/drawing/2014/main" id="{04A841B4-F6EE-BD9A-97A8-21AE9F05F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01" b="33960"/>
          <a:stretch/>
        </p:blipFill>
        <p:spPr>
          <a:xfrm>
            <a:off x="3646733" y="1804235"/>
            <a:ext cx="7759210" cy="317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27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0639D-E7F3-AA90-ED07-E3381506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18D4F-51CD-A88E-4BA1-9BE0E54AB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单音识别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琴键能量</a:t>
            </a:r>
            <a:br>
              <a:rPr lang="en-US" altLang="zh-CN" dirty="0"/>
            </a:br>
            <a:r>
              <a:rPr lang="zh-CN" altLang="en-US" dirty="0"/>
              <a:t>判断音高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B20031-ABCD-BC93-0D0F-929BE542B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489" y="693470"/>
            <a:ext cx="5219700" cy="18859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868CA63-9C99-2BCE-6A27-79CBBCDE5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488" y="2791422"/>
            <a:ext cx="5219700" cy="18859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DEFB10B-AFF3-6350-632C-726626713AEF}"/>
              </a:ext>
            </a:extLst>
          </p:cNvPr>
          <p:cNvSpPr txBox="1"/>
          <p:nvPr/>
        </p:nvSpPr>
        <p:spPr>
          <a:xfrm>
            <a:off x="5509488" y="5098473"/>
            <a:ext cx="5219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真实弹奏的音高</a:t>
            </a:r>
            <a:r>
              <a:rPr lang="en-US" altLang="zh-CN" dirty="0"/>
              <a:t>: </a:t>
            </a:r>
            <a:r>
              <a:rPr lang="en-US" altLang="zh-CN" b="1" dirty="0"/>
              <a:t>		44</a:t>
            </a:r>
          </a:p>
          <a:p>
            <a:r>
              <a:rPr lang="en-US" altLang="zh-CN" dirty="0"/>
              <a:t>12</a:t>
            </a:r>
            <a:r>
              <a:rPr lang="zh-CN" altLang="en-US" dirty="0"/>
              <a:t>半音泛音</a:t>
            </a:r>
            <a:r>
              <a:rPr lang="en-US" altLang="zh-CN" dirty="0"/>
              <a:t>: </a:t>
            </a:r>
            <a:r>
              <a:rPr lang="en-US" altLang="zh-CN" b="1" dirty="0"/>
              <a:t>			56 = 44 + 12</a:t>
            </a:r>
          </a:p>
          <a:p>
            <a:r>
              <a:rPr lang="en-US" altLang="zh-CN" dirty="0"/>
              <a:t>19</a:t>
            </a:r>
            <a:r>
              <a:rPr lang="zh-CN" altLang="en-US" dirty="0"/>
              <a:t>半音泛音</a:t>
            </a:r>
            <a:r>
              <a:rPr lang="en-US" altLang="zh-CN" dirty="0"/>
              <a:t>: </a:t>
            </a:r>
            <a:r>
              <a:rPr lang="en-US" altLang="zh-CN" b="1" dirty="0"/>
              <a:t>			63 = 44 + 19</a:t>
            </a:r>
            <a:endParaRPr lang="zh-CN" altLang="en-US" b="1" dirty="0"/>
          </a:p>
        </p:txBody>
      </p:sp>
      <p:pic>
        <p:nvPicPr>
          <p:cNvPr id="13" name="内容占位符 10">
            <a:extLst>
              <a:ext uri="{FF2B5EF4-FFF2-40B4-BE49-F238E27FC236}">
                <a16:creationId xmlns:a16="http://schemas.microsoft.com/office/drawing/2014/main" id="{2E6AF187-1F5C-0819-1440-89F353135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33977" t="37642" r="59347" b="37869"/>
          <a:stretch/>
        </p:blipFill>
        <p:spPr>
          <a:xfrm>
            <a:off x="3842327" y="439975"/>
            <a:ext cx="1311564" cy="5957000"/>
          </a:xfrm>
        </p:spPr>
      </p:pic>
    </p:spTree>
    <p:extLst>
      <p:ext uri="{BB962C8B-B14F-4D97-AF65-F5344CB8AC3E}">
        <p14:creationId xmlns:p14="http://schemas.microsoft.com/office/powerpoint/2010/main" val="1079897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AF6BF-A3DB-5840-681E-C6F1BD60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27F49E-12A6-D3D6-7F70-6E0622A6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单音识别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低音区</a:t>
            </a:r>
            <a:br>
              <a:rPr lang="en-US" altLang="zh-CN" dirty="0"/>
            </a:br>
            <a:r>
              <a:rPr lang="zh-CN" altLang="en-US" dirty="0"/>
              <a:t>特别判断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80E3C8DC-468B-2201-25C2-C6F7C5A79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53064" y="-9525"/>
            <a:ext cx="5546548" cy="6867526"/>
          </a:xfrm>
        </p:spPr>
      </p:pic>
    </p:spTree>
    <p:extLst>
      <p:ext uri="{BB962C8B-B14F-4D97-AF65-F5344CB8AC3E}">
        <p14:creationId xmlns:p14="http://schemas.microsoft.com/office/powerpoint/2010/main" val="4195910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33F8F-664D-5F29-375A-B01A46D9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87EF358-7C11-2AC2-8B97-38C1B4252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488" y="693470"/>
            <a:ext cx="5219700" cy="188595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56DF8B0-42B3-D53D-A155-D22B02CB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单音识别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低音区</a:t>
            </a:r>
            <a:br>
              <a:rPr lang="en-US" altLang="zh-CN" dirty="0"/>
            </a:br>
            <a:r>
              <a:rPr lang="zh-CN" altLang="en-US" dirty="0"/>
              <a:t>特别判断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6D7D70-D0F4-E25D-1D2B-9AF4971615CD}"/>
              </a:ext>
            </a:extLst>
          </p:cNvPr>
          <p:cNvSpPr txBox="1"/>
          <p:nvPr/>
        </p:nvSpPr>
        <p:spPr>
          <a:xfrm>
            <a:off x="5509488" y="5098473"/>
            <a:ext cx="5219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高于判定线的均列为</a:t>
            </a:r>
            <a:r>
              <a:rPr lang="zh-CN" altLang="en-US" b="1" dirty="0"/>
              <a:t>候选</a:t>
            </a:r>
            <a:endParaRPr lang="en-US" altLang="zh-CN" b="1" dirty="0"/>
          </a:p>
          <a:p>
            <a:r>
              <a:rPr lang="zh-CN" altLang="en-US" dirty="0"/>
              <a:t>本音</a:t>
            </a:r>
            <a:r>
              <a:rPr lang="en-US" altLang="zh-CN" dirty="0"/>
              <a:t>/12</a:t>
            </a:r>
            <a:r>
              <a:rPr lang="zh-CN" altLang="en-US" dirty="0"/>
              <a:t>音</a:t>
            </a:r>
            <a:r>
              <a:rPr lang="en-US" altLang="zh-CN" dirty="0"/>
              <a:t>/19</a:t>
            </a:r>
            <a:r>
              <a:rPr lang="zh-CN" altLang="en-US" dirty="0"/>
              <a:t>音</a:t>
            </a:r>
            <a:r>
              <a:rPr lang="zh-CN" altLang="en-US" b="1" dirty="0"/>
              <a:t> 加权相加 </a:t>
            </a:r>
            <a:r>
              <a:rPr lang="zh-CN" altLang="en-US" dirty="0"/>
              <a:t>得出可能性</a:t>
            </a:r>
          </a:p>
        </p:txBody>
      </p:sp>
      <p:pic>
        <p:nvPicPr>
          <p:cNvPr id="13" name="内容占位符 10">
            <a:extLst>
              <a:ext uri="{FF2B5EF4-FFF2-40B4-BE49-F238E27FC236}">
                <a16:creationId xmlns:a16="http://schemas.microsoft.com/office/drawing/2014/main" id="{2846B2EE-0EB3-6A55-107C-E5D9DB677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34166" t="4949" r="59158" b="70562"/>
          <a:stretch/>
        </p:blipFill>
        <p:spPr>
          <a:xfrm>
            <a:off x="3842327" y="439975"/>
            <a:ext cx="1311564" cy="5957000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AB1EB86-332D-C7BE-23ED-FDD9C0344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488" y="2716934"/>
            <a:ext cx="521970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480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657DB-2ECC-B6CC-C0E2-3E11B877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单音识别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音阶对比</a:t>
            </a:r>
            <a:br>
              <a:rPr lang="en-US" altLang="zh-CN" dirty="0"/>
            </a:br>
            <a:r>
              <a:rPr lang="zh-CN" altLang="en-US" dirty="0"/>
              <a:t>参数调整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E52F3DB-CCF1-EA29-5C74-5281602FB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3151"/>
          <a:stretch/>
        </p:blipFill>
        <p:spPr>
          <a:xfrm>
            <a:off x="7654860" y="863600"/>
            <a:ext cx="4112267" cy="512127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9030D55-1C10-7319-BC58-0FEF0D3F2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815" y="789152"/>
            <a:ext cx="4246045" cy="526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231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D67B8-F35D-1129-B51F-78634A93E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1B2BC-8C75-284C-7337-FFE8B410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节奏评价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595831-75FD-2D70-F445-5E5126517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  <a:r>
              <a:rPr lang="en-US" altLang="zh-CN" dirty="0"/>
              <a:t>: </a:t>
            </a:r>
            <a:r>
              <a:rPr lang="zh-CN" altLang="en-US" dirty="0"/>
              <a:t>与理想值比较</a:t>
            </a:r>
            <a:r>
              <a:rPr lang="en-US" altLang="zh-CN" dirty="0"/>
              <a:t>, </a:t>
            </a:r>
            <a:r>
              <a:rPr lang="zh-CN" altLang="en-US" dirty="0"/>
              <a:t>评价演奏情况</a:t>
            </a:r>
          </a:p>
        </p:txBody>
      </p:sp>
    </p:spTree>
    <p:extLst>
      <p:ext uri="{BB962C8B-B14F-4D97-AF65-F5344CB8AC3E}">
        <p14:creationId xmlns:p14="http://schemas.microsoft.com/office/powerpoint/2010/main" val="3764005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03180-C865-7238-CA30-28CE683A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节奏评价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与理想值对比</a:t>
            </a:r>
            <a:br>
              <a:rPr lang="en-US" altLang="zh-CN" dirty="0"/>
            </a:br>
            <a:r>
              <a:rPr lang="zh-CN" altLang="en-US" dirty="0"/>
              <a:t>表现评价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38E9C91-F644-ECE2-34A3-6104AD2E7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992" t="5873" r="8189" b="9005"/>
          <a:stretch/>
        </p:blipFill>
        <p:spPr>
          <a:xfrm>
            <a:off x="3629577" y="1123837"/>
            <a:ext cx="7925428" cy="4476400"/>
          </a:xfrm>
        </p:spPr>
      </p:pic>
    </p:spTree>
    <p:extLst>
      <p:ext uri="{BB962C8B-B14F-4D97-AF65-F5344CB8AC3E}">
        <p14:creationId xmlns:p14="http://schemas.microsoft.com/office/powerpoint/2010/main" val="2539580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2B60-D978-573E-A458-D2FB61CC6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58377-1C09-65F5-5B54-E9A32DE2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整曲识别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40EC03-F8C4-CD6C-CBF9-2431CAE7D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989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12A1D-8125-6EAF-B57F-1CA69138E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整曲识别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2B396D1-8439-C2AC-1618-6C78F37C6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8738" y="1438551"/>
            <a:ext cx="7315200" cy="3971372"/>
          </a:xfrm>
        </p:spPr>
      </p:pic>
    </p:spTree>
    <p:extLst>
      <p:ext uri="{BB962C8B-B14F-4D97-AF65-F5344CB8AC3E}">
        <p14:creationId xmlns:p14="http://schemas.microsoft.com/office/powerpoint/2010/main" val="1594584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3EA0-14FE-3FAF-1C25-83DCF09A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A44E7-9056-CE6F-E41D-E57DB56A5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整曲识别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8D63482-3854-FB70-A00B-0F8C1FE22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8738" y="1438551"/>
            <a:ext cx="7315200" cy="3971372"/>
          </a:xfrm>
        </p:spPr>
      </p:pic>
    </p:spTree>
    <p:extLst>
      <p:ext uri="{BB962C8B-B14F-4D97-AF65-F5344CB8AC3E}">
        <p14:creationId xmlns:p14="http://schemas.microsoft.com/office/powerpoint/2010/main" val="1224169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39DE-A2F5-9797-7B74-3B01BB0C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CA55E-664F-9276-2637-5C4A54489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整曲识别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06D6C69-470E-966C-2DC4-5CF9A1E68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8738" y="1438551"/>
            <a:ext cx="7315200" cy="3971372"/>
          </a:xfrm>
        </p:spPr>
      </p:pic>
    </p:spTree>
    <p:extLst>
      <p:ext uri="{BB962C8B-B14F-4D97-AF65-F5344CB8AC3E}">
        <p14:creationId xmlns:p14="http://schemas.microsoft.com/office/powerpoint/2010/main" val="4376147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A5398-03D8-FCF9-7AD0-DF1638ED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7420B-38DF-24B7-D126-E9AE42A4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整曲识别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9994283-E076-661F-2177-C985C1C63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8738" y="1438551"/>
            <a:ext cx="7315200" cy="3971372"/>
          </a:xfrm>
        </p:spPr>
      </p:pic>
    </p:spTree>
    <p:extLst>
      <p:ext uri="{BB962C8B-B14F-4D97-AF65-F5344CB8AC3E}">
        <p14:creationId xmlns:p14="http://schemas.microsoft.com/office/powerpoint/2010/main" val="18470613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9055DE-9A91-97FA-B7C2-17603F47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整曲识别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ABC</a:t>
            </a:r>
            <a:r>
              <a:rPr lang="zh-CN" altLang="en-US" dirty="0"/>
              <a:t>记谱法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F17C265-2921-2065-E8CD-1AAB8D6CA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8738" y="1610346"/>
            <a:ext cx="7315200" cy="3627782"/>
          </a:xfrm>
        </p:spPr>
      </p:pic>
    </p:spTree>
    <p:extLst>
      <p:ext uri="{BB962C8B-B14F-4D97-AF65-F5344CB8AC3E}">
        <p14:creationId xmlns:p14="http://schemas.microsoft.com/office/powerpoint/2010/main" val="8599572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F495E-B749-DDD2-336C-DFB86E25A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45A37-1CA4-947D-3B79-79EA01AC1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整曲识别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9AF79490-5A8B-D31F-E4D2-3ACC43579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48175" y="2609850"/>
            <a:ext cx="3295650" cy="1628775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E7D13C5-9C17-4EAD-A122-B14E6B420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923" y="2724150"/>
            <a:ext cx="8858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20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4D1BE-413D-A6BE-CA0B-E42A162B6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857E6-DFEB-E063-6595-657BAF623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整曲识别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EC42F4A9-A2A8-F760-F5C1-1370CA7A2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48175" y="1123837"/>
            <a:ext cx="3295650" cy="1628775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23126D1-68C6-6DB1-F96A-FD75B4745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923" y="1238137"/>
            <a:ext cx="885825" cy="14097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079432B-C0F2-C291-7327-C7D86677B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283" y="3241963"/>
            <a:ext cx="8188845" cy="267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08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F56F2-6992-49CB-58D0-C97FED86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模型实现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4DE6D6-6A7C-7352-E118-2753FE84E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Whisper</a:t>
            </a:r>
            <a:r>
              <a:rPr lang="zh-CN" altLang="en-US" dirty="0"/>
              <a:t>模型的</a:t>
            </a:r>
            <a:r>
              <a:rPr lang="en-US" altLang="zh-CN" dirty="0"/>
              <a:t>Transformer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2215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BBBC8-E8AB-0268-ED2E-E7083CE7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基于</a:t>
            </a:r>
            <a:r>
              <a:rPr lang="en-US" altLang="zh-CN" sz="3200" dirty="0"/>
              <a:t>Whisper</a:t>
            </a:r>
            <a:r>
              <a:rPr lang="zh-CN" altLang="en-US" sz="3200" dirty="0"/>
              <a:t>的</a:t>
            </a:r>
            <a:r>
              <a:rPr lang="en-US" altLang="zh-CN" sz="3200" dirty="0"/>
              <a:t>Transformer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B9C3B0D-1178-D0F5-7D91-6687D9335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807" y="1132980"/>
            <a:ext cx="8193764" cy="45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98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82306-88B5-DBC5-5F14-A5529578A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Pre-processing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3913D412-0E9E-AF0D-B4F2-B6F52A42F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999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9EBFA21F-6939-2CEF-1647-A33AB0D528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340" y="1619250"/>
            <a:ext cx="3676650" cy="3619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9372C0D-D252-10C4-23E0-6AB93C06D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</a:t>
            </a:r>
            <a:br>
              <a:rPr lang="en-US" altLang="zh-CN" dirty="0"/>
            </a:br>
            <a:r>
              <a:rPr lang="en-US" altLang="zh-CN" dirty="0"/>
              <a:t>Cleansing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0000069-FB2C-B1CA-1F94-B28C0548C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657725" y="2914650"/>
            <a:ext cx="1971675" cy="1019175"/>
          </a:xfr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BC8A250-2529-49F3-09CE-EC8ECA2E4450}"/>
              </a:ext>
            </a:extLst>
          </p:cNvPr>
          <p:cNvSpPr/>
          <p:nvPr/>
        </p:nvSpPr>
        <p:spPr>
          <a:xfrm>
            <a:off x="7366340" y="1900680"/>
            <a:ext cx="3676650" cy="101397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413028-54A5-E8F2-1BDE-61053599AE92}"/>
              </a:ext>
            </a:extLst>
          </p:cNvPr>
          <p:cNvSpPr/>
          <p:nvPr/>
        </p:nvSpPr>
        <p:spPr>
          <a:xfrm>
            <a:off x="9281747" y="4936717"/>
            <a:ext cx="137556" cy="30203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74E6B20-5B15-6E7D-75C3-EEBD06D95B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527" y="2262187"/>
            <a:ext cx="3724275" cy="2324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9383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72C0D-D252-10C4-23E0-6AB93C06D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Data</a:t>
            </a:r>
            <a:br>
              <a:rPr lang="en-US" altLang="zh-CN" sz="2800" dirty="0"/>
            </a:br>
            <a:r>
              <a:rPr lang="en-US" altLang="zh-CN" sz="2800" dirty="0"/>
              <a:t>Segmentation</a:t>
            </a:r>
            <a:endParaRPr lang="zh-CN" altLang="en-US" sz="28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DDCFFE8-031B-6DD8-1CB8-7FCF4AAC7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78" y="2262187"/>
            <a:ext cx="3724275" cy="2324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5861132-500B-488B-7BDA-E6470D4A2855}"/>
              </a:ext>
            </a:extLst>
          </p:cNvPr>
          <p:cNvSpPr txBox="1"/>
          <p:nvPr/>
        </p:nvSpPr>
        <p:spPr>
          <a:xfrm>
            <a:off x="7875639" y="2502545"/>
            <a:ext cx="3823483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n-NO" altLang="zh-CN" sz="2000" dirty="0"/>
              <a:t>"G"gd/2g/2 B/2g/2d/2g/2</a:t>
            </a:r>
            <a:endParaRPr lang="zh-CN" altLang="en-US" sz="20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A6D495-62B8-C2C1-84DF-1A14BF89B236}"/>
              </a:ext>
            </a:extLst>
          </p:cNvPr>
          <p:cNvSpPr/>
          <p:nvPr/>
        </p:nvSpPr>
        <p:spPr>
          <a:xfrm>
            <a:off x="3594278" y="3067665"/>
            <a:ext cx="1567657" cy="51127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5E8642-E0B7-7219-ADF8-8C9F01387ED3}"/>
              </a:ext>
            </a:extLst>
          </p:cNvPr>
          <p:cNvSpPr txBox="1"/>
          <p:nvPr/>
        </p:nvSpPr>
        <p:spPr>
          <a:xfrm>
            <a:off x="7875639" y="2104248"/>
            <a:ext cx="108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Key = “G”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5363E6-2626-F1CD-DC4E-B77F2DF5F90E}"/>
              </a:ext>
            </a:extLst>
          </p:cNvPr>
          <p:cNvSpPr txBox="1"/>
          <p:nvPr/>
        </p:nvSpPr>
        <p:spPr>
          <a:xfrm>
            <a:off x="7875639" y="4124622"/>
            <a:ext cx="377699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altLang="zh-CN" sz="2000" dirty="0"/>
              <a:t>"C"cG/2c/2 E/2c/2G/2c/2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A9E3AA8-7C6D-5F89-C2B2-CCE6FF409309}"/>
              </a:ext>
            </a:extLst>
          </p:cNvPr>
          <p:cNvSpPr txBox="1"/>
          <p:nvPr/>
        </p:nvSpPr>
        <p:spPr>
          <a:xfrm>
            <a:off x="7875639" y="3726325"/>
            <a:ext cx="108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Key = “C”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942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72C0D-D252-10C4-23E0-6AB93C06D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Data</a:t>
            </a:r>
            <a:br>
              <a:rPr lang="en-US" altLang="zh-CN" sz="2800" dirty="0"/>
            </a:br>
            <a:r>
              <a:rPr lang="en-US" altLang="zh-CN" sz="2800" dirty="0"/>
              <a:t>Segmentation</a:t>
            </a:r>
            <a:endParaRPr lang="zh-CN" altLang="en-US" sz="28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861132-500B-488B-7BDA-E6470D4A2855}"/>
              </a:ext>
            </a:extLst>
          </p:cNvPr>
          <p:cNvSpPr txBox="1"/>
          <p:nvPr/>
        </p:nvSpPr>
        <p:spPr>
          <a:xfrm>
            <a:off x="3594278" y="2502545"/>
            <a:ext cx="160011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n-NO" altLang="zh-CN" sz="2000" dirty="0"/>
              <a:t>"D" def fed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5E8642-E0B7-7219-ADF8-8C9F01387ED3}"/>
              </a:ext>
            </a:extLst>
          </p:cNvPr>
          <p:cNvSpPr txBox="1"/>
          <p:nvPr/>
        </p:nvSpPr>
        <p:spPr>
          <a:xfrm>
            <a:off x="3594278" y="2104248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M:6</a:t>
            </a:r>
            <a:r>
              <a:rPr lang="en-US" altLang="zh-CN" dirty="0"/>
              <a:t>/8		</a:t>
            </a:r>
            <a:r>
              <a:rPr lang="en-US" altLang="zh-CN" dirty="0" err="1"/>
              <a:t>L:1</a:t>
            </a:r>
            <a:r>
              <a:rPr lang="en-US" altLang="zh-CN" dirty="0"/>
              <a:t>/8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5363E6-2626-F1CD-DC4E-B77F2DF5F90E}"/>
              </a:ext>
            </a:extLst>
          </p:cNvPr>
          <p:cNvSpPr txBox="1"/>
          <p:nvPr/>
        </p:nvSpPr>
        <p:spPr>
          <a:xfrm>
            <a:off x="3594278" y="3662958"/>
            <a:ext cx="3850734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n-NO" altLang="zh-CN" sz="2000" dirty="0"/>
              <a:t>"D" d32e32f32 f32e32d32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A9E3AA8-7C6D-5F89-C2B2-CCE6FF409309}"/>
              </a:ext>
            </a:extLst>
          </p:cNvPr>
          <p:cNvSpPr txBox="1"/>
          <p:nvPr/>
        </p:nvSpPr>
        <p:spPr>
          <a:xfrm>
            <a:off x="3594278" y="3264661"/>
            <a:ext cx="2263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M:192</a:t>
            </a:r>
            <a:r>
              <a:rPr lang="en-US" altLang="zh-CN" dirty="0"/>
              <a:t>/192	</a:t>
            </a:r>
            <a:r>
              <a:rPr lang="en-US" altLang="zh-CN" dirty="0" err="1"/>
              <a:t>L:1</a:t>
            </a:r>
            <a:r>
              <a:rPr lang="en-US" altLang="zh-CN" dirty="0"/>
              <a:t>/192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883ACF-9322-277C-5F61-2B87A52CD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629" y="2386012"/>
            <a:ext cx="3276600" cy="20859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1A6D495-62B8-C2C1-84DF-1A14BF89B236}"/>
              </a:ext>
            </a:extLst>
          </p:cNvPr>
          <p:cNvSpPr/>
          <p:nvPr/>
        </p:nvSpPr>
        <p:spPr>
          <a:xfrm>
            <a:off x="8376186" y="3146322"/>
            <a:ext cx="1475737" cy="28267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ACC710-9330-B86F-BC0F-3B3014F020D7}"/>
              </a:ext>
            </a:extLst>
          </p:cNvPr>
          <p:cNvSpPr txBox="1"/>
          <p:nvPr/>
        </p:nvSpPr>
        <p:spPr>
          <a:xfrm>
            <a:off x="3594278" y="4823371"/>
            <a:ext cx="4735592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n-NO" altLang="zh-CN" sz="2000" dirty="0"/>
              <a:t>"D" d2/3e2/3f2/3 f2/3e2/3d2/3</a:t>
            </a:r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7E7129-4EF1-7375-450C-739DC087AC98}"/>
              </a:ext>
            </a:extLst>
          </p:cNvPr>
          <p:cNvSpPr txBox="1"/>
          <p:nvPr/>
        </p:nvSpPr>
        <p:spPr>
          <a:xfrm>
            <a:off x="3594278" y="4425074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M:4</a:t>
            </a:r>
            <a:r>
              <a:rPr lang="en-US" altLang="zh-CN" dirty="0"/>
              <a:t>/4	</a:t>
            </a:r>
            <a:r>
              <a:rPr lang="en-US" altLang="zh-CN" dirty="0" err="1"/>
              <a:t>L:1</a:t>
            </a:r>
            <a:r>
              <a:rPr lang="en-US" altLang="zh-CN" dirty="0"/>
              <a:t>/4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6106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5" grpId="0" animBg="1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FE554-52E4-F7D5-6317-18CB07F8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Mutation &amp;</a:t>
            </a:r>
            <a:br>
              <a:rPr lang="en-US" altLang="zh-CN" sz="5400" dirty="0"/>
            </a:br>
            <a:r>
              <a:rPr lang="en-US" altLang="zh-CN" sz="5400" dirty="0"/>
              <a:t>Training Data Generation </a:t>
            </a:r>
            <a:endParaRPr lang="zh-CN" altLang="en-US" sz="5400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29317F0-66A5-2306-CBAE-ABEE3C4A1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0206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A4DA0-1743-448F-0781-C2056B4C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Mutation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FF4E7FA-37D8-1944-5215-B8B3F84CE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611813" y="2090737"/>
            <a:ext cx="3829050" cy="2667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4EAE92-5141-48B4-D792-79B1510B4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813" y="2109326"/>
            <a:ext cx="3829050" cy="2676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42327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A4DA0-1743-448F-0781-C2056B4C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Mutation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64EAE92-5141-48B4-D792-79B1510B4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046" y="2090928"/>
            <a:ext cx="3829050" cy="2676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6ACCF893-8A72-83E7-10E4-46FBA6D05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784741" y="2090928"/>
            <a:ext cx="3829050" cy="2667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08339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A4DA0-1743-448F-0781-C2056B4C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Orpheus’ Score</a:t>
            </a:r>
            <a:endParaRPr lang="zh-CN" altLang="en-US" sz="32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68587C2-3E88-AC62-25B5-E3761318809B}"/>
              </a:ext>
            </a:extLst>
          </p:cNvPr>
          <p:cNvGrpSpPr/>
          <p:nvPr/>
        </p:nvGrpSpPr>
        <p:grpSpPr>
          <a:xfrm>
            <a:off x="8175839" y="2090928"/>
            <a:ext cx="1775792" cy="369332"/>
            <a:chOff x="8185992" y="1995948"/>
            <a:chExt cx="1775792" cy="369332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37136FB-1F6D-CECA-DB73-604B93F78F31}"/>
                </a:ext>
              </a:extLst>
            </p:cNvPr>
            <p:cNvSpPr txBox="1"/>
            <p:nvPr/>
          </p:nvSpPr>
          <p:spPr>
            <a:xfrm>
              <a:off x="8185992" y="1995948"/>
              <a:ext cx="320922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6" name="箭头: 右 5">
              <a:extLst>
                <a:ext uri="{FF2B5EF4-FFF2-40B4-BE49-F238E27FC236}">
                  <a16:creationId xmlns:a16="http://schemas.microsoft.com/office/drawing/2014/main" id="{56AA0651-A858-B397-2A0E-EF2D54C04673}"/>
                </a:ext>
              </a:extLst>
            </p:cNvPr>
            <p:cNvSpPr/>
            <p:nvPr/>
          </p:nvSpPr>
          <p:spPr>
            <a:xfrm>
              <a:off x="8563897" y="2135771"/>
              <a:ext cx="594332" cy="89686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3958A23-260E-CECD-1C92-5106028B3FAC}"/>
                </a:ext>
              </a:extLst>
            </p:cNvPr>
            <p:cNvSpPr txBox="1"/>
            <p:nvPr/>
          </p:nvSpPr>
          <p:spPr>
            <a:xfrm>
              <a:off x="9299423" y="1995948"/>
              <a:ext cx="662361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dirty="0"/>
                <a:t>(</a:t>
              </a:r>
              <a:r>
                <a:rPr lang="en-US" altLang="zh-CN" sz="1600" dirty="0"/>
                <a:t>26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17E1079-3988-32E3-F480-FF2F2D1D4CCB}"/>
              </a:ext>
            </a:extLst>
          </p:cNvPr>
          <p:cNvGrpSpPr/>
          <p:nvPr/>
        </p:nvGrpSpPr>
        <p:grpSpPr>
          <a:xfrm>
            <a:off x="7912947" y="3239762"/>
            <a:ext cx="1959335" cy="369332"/>
            <a:chOff x="7923100" y="1995948"/>
            <a:chExt cx="1959335" cy="36933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8097268-6422-42C6-DAA7-4C2A7C36073A}"/>
                </a:ext>
              </a:extLst>
            </p:cNvPr>
            <p:cNvSpPr txBox="1"/>
            <p:nvPr/>
          </p:nvSpPr>
          <p:spPr>
            <a:xfrm>
              <a:off x="7923100" y="1995948"/>
              <a:ext cx="583814" cy="33855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“A”</a:t>
              </a:r>
              <a:endParaRPr lang="zh-CN" altLang="en-US" sz="1600" dirty="0"/>
            </a:p>
          </p:txBody>
        </p:sp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0CFA3968-B3BF-D73F-D6B5-06E090DED1CE}"/>
                </a:ext>
              </a:extLst>
            </p:cNvPr>
            <p:cNvSpPr/>
            <p:nvPr/>
          </p:nvSpPr>
          <p:spPr>
            <a:xfrm>
              <a:off x="8563897" y="2135771"/>
              <a:ext cx="594332" cy="89686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287C55C-88D0-A491-7F4A-3941E0E48FBD}"/>
                </a:ext>
              </a:extLst>
            </p:cNvPr>
            <p:cNvSpPr txBox="1"/>
            <p:nvPr/>
          </p:nvSpPr>
          <p:spPr>
            <a:xfrm>
              <a:off x="9346711" y="1995948"/>
              <a:ext cx="535724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dirty="0"/>
                <a:t>{</a:t>
              </a:r>
              <a:r>
                <a:rPr lang="en-US" altLang="zh-CN" sz="1600" dirty="0"/>
                <a:t>A</a:t>
              </a:r>
              <a:r>
                <a:rPr lang="en-US" altLang="zh-CN" dirty="0"/>
                <a:t>}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1C1F301-3F6E-77EB-8DCA-B53E09E8EE6C}"/>
              </a:ext>
            </a:extLst>
          </p:cNvPr>
          <p:cNvGrpSpPr/>
          <p:nvPr/>
        </p:nvGrpSpPr>
        <p:grpSpPr>
          <a:xfrm>
            <a:off x="7892108" y="4388596"/>
            <a:ext cx="2190969" cy="369332"/>
            <a:chOff x="7902261" y="1995948"/>
            <a:chExt cx="2190969" cy="36933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D0B00FB-AD7E-9E65-4A09-816C04384942}"/>
                </a:ext>
              </a:extLst>
            </p:cNvPr>
            <p:cNvSpPr txBox="1"/>
            <p:nvPr/>
          </p:nvSpPr>
          <p:spPr>
            <a:xfrm>
              <a:off x="7902261" y="1995948"/>
              <a:ext cx="604653" cy="33855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3/4</a:t>
              </a:r>
              <a:endParaRPr lang="zh-CN" altLang="en-US" dirty="0"/>
            </a:p>
          </p:txBody>
        </p:sp>
        <p:sp>
          <p:nvSpPr>
            <p:cNvPr id="17" name="箭头: 右 16">
              <a:extLst>
                <a:ext uri="{FF2B5EF4-FFF2-40B4-BE49-F238E27FC236}">
                  <a16:creationId xmlns:a16="http://schemas.microsoft.com/office/drawing/2014/main" id="{6530ADE4-AD5E-7054-F86B-E3F822B32B03}"/>
                </a:ext>
              </a:extLst>
            </p:cNvPr>
            <p:cNvSpPr/>
            <p:nvPr/>
          </p:nvSpPr>
          <p:spPr>
            <a:xfrm>
              <a:off x="8563897" y="2135771"/>
              <a:ext cx="594332" cy="89686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F13B30-4DE0-244B-520C-96CB8EC4F3AF}"/>
                </a:ext>
              </a:extLst>
            </p:cNvPr>
            <p:cNvSpPr txBox="1"/>
            <p:nvPr/>
          </p:nvSpPr>
          <p:spPr>
            <a:xfrm>
              <a:off x="9299423" y="1995948"/>
              <a:ext cx="793807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dirty="0"/>
                <a:t>[</a:t>
              </a:r>
              <a:r>
                <a:rPr lang="en-US" altLang="zh-CN" sz="1600" dirty="0"/>
                <a:t>3/4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</p:grp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7482D9FD-042D-C777-D474-B083605EDA17}"/>
              </a:ext>
            </a:extLst>
          </p:cNvPr>
          <p:cNvSpPr/>
          <p:nvPr/>
        </p:nvSpPr>
        <p:spPr>
          <a:xfrm>
            <a:off x="10117394" y="2090929"/>
            <a:ext cx="540973" cy="2667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257CC4-B9CA-B764-4F05-042D767CBF53}"/>
              </a:ext>
            </a:extLst>
          </p:cNvPr>
          <p:cNvSpPr txBox="1"/>
          <p:nvPr/>
        </p:nvSpPr>
        <p:spPr>
          <a:xfrm>
            <a:off x="10821695" y="3239762"/>
            <a:ext cx="766621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Token</a:t>
            </a:r>
            <a:endParaRPr lang="zh-CN" altLang="en-US" dirty="0"/>
          </a:p>
        </p:txBody>
      </p:sp>
      <p:pic>
        <p:nvPicPr>
          <p:cNvPr id="24" name="内容占位符 7">
            <a:extLst>
              <a:ext uri="{FF2B5EF4-FFF2-40B4-BE49-F238E27FC236}">
                <a16:creationId xmlns:a16="http://schemas.microsoft.com/office/drawing/2014/main" id="{ED3E0FB7-BA4F-3A47-268A-B70FEA1D9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75202" y="2090928"/>
            <a:ext cx="3829050" cy="2667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84411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A4DA0-1743-448F-0781-C2056B4C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Training Data</a:t>
            </a:r>
            <a:br>
              <a:rPr lang="en-US" altLang="zh-CN" sz="3200" dirty="0"/>
            </a:br>
            <a:r>
              <a:rPr lang="en-US" altLang="zh-CN" sz="3200" dirty="0"/>
              <a:t>Generation</a:t>
            </a:r>
            <a:endParaRPr lang="zh-CN" altLang="en-US" sz="3200" dirty="0"/>
          </a:p>
        </p:txBody>
      </p:sp>
      <p:pic>
        <p:nvPicPr>
          <p:cNvPr id="24" name="内容占位符 7">
            <a:extLst>
              <a:ext uri="{FF2B5EF4-FFF2-40B4-BE49-F238E27FC236}">
                <a16:creationId xmlns:a16="http://schemas.microsoft.com/office/drawing/2014/main" id="{ED3E0FB7-BA4F-3A47-268A-B70FEA1D9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81965" y="2792549"/>
            <a:ext cx="3829050" cy="2667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F7068278-8AD9-464B-A9EC-0C664EDDC44F}"/>
              </a:ext>
            </a:extLst>
          </p:cNvPr>
          <p:cNvGrpSpPr/>
          <p:nvPr/>
        </p:nvGrpSpPr>
        <p:grpSpPr>
          <a:xfrm>
            <a:off x="3869268" y="1526416"/>
            <a:ext cx="1775792" cy="369332"/>
            <a:chOff x="8185992" y="1995948"/>
            <a:chExt cx="1775792" cy="369332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B86E726-4C32-B9E7-E9B5-D0A9314C00EF}"/>
                </a:ext>
              </a:extLst>
            </p:cNvPr>
            <p:cNvSpPr txBox="1"/>
            <p:nvPr/>
          </p:nvSpPr>
          <p:spPr>
            <a:xfrm>
              <a:off x="8185992" y="1995948"/>
              <a:ext cx="320922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22" name="箭头: 右 21">
              <a:extLst>
                <a:ext uri="{FF2B5EF4-FFF2-40B4-BE49-F238E27FC236}">
                  <a16:creationId xmlns:a16="http://schemas.microsoft.com/office/drawing/2014/main" id="{4FB3C723-8AFE-1E48-5CC2-C142B4A6DEA8}"/>
                </a:ext>
              </a:extLst>
            </p:cNvPr>
            <p:cNvSpPr/>
            <p:nvPr/>
          </p:nvSpPr>
          <p:spPr>
            <a:xfrm>
              <a:off x="8563897" y="2135771"/>
              <a:ext cx="594332" cy="89686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B87135B-7A8B-9CFF-C465-59935EE746B2}"/>
                </a:ext>
              </a:extLst>
            </p:cNvPr>
            <p:cNvSpPr txBox="1"/>
            <p:nvPr/>
          </p:nvSpPr>
          <p:spPr>
            <a:xfrm>
              <a:off x="9299423" y="1995948"/>
              <a:ext cx="662361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dirty="0"/>
                <a:t>(</a:t>
              </a:r>
              <a:r>
                <a:rPr lang="en-US" altLang="zh-CN" sz="1600" dirty="0"/>
                <a:t>26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2C6327B-07E7-22D6-AD99-7CE0685A770E}"/>
              </a:ext>
            </a:extLst>
          </p:cNvPr>
          <p:cNvGrpSpPr/>
          <p:nvPr/>
        </p:nvGrpSpPr>
        <p:grpSpPr>
          <a:xfrm>
            <a:off x="9208629" y="1526416"/>
            <a:ext cx="2190969" cy="369332"/>
            <a:chOff x="7902261" y="1995948"/>
            <a:chExt cx="2190969" cy="36933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A95AA07-9923-8C67-51EF-B008B5D3FDDF}"/>
                </a:ext>
              </a:extLst>
            </p:cNvPr>
            <p:cNvSpPr txBox="1"/>
            <p:nvPr/>
          </p:nvSpPr>
          <p:spPr>
            <a:xfrm>
              <a:off x="7902261" y="1995948"/>
              <a:ext cx="604653" cy="33855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3/4</a:t>
              </a:r>
              <a:endParaRPr lang="zh-CN" altLang="en-US" dirty="0"/>
            </a:p>
          </p:txBody>
        </p:sp>
        <p:sp>
          <p:nvSpPr>
            <p:cNvPr id="31" name="箭头: 右 30">
              <a:extLst>
                <a:ext uri="{FF2B5EF4-FFF2-40B4-BE49-F238E27FC236}">
                  <a16:creationId xmlns:a16="http://schemas.microsoft.com/office/drawing/2014/main" id="{05203209-7EDE-F164-FC0C-69B6BDDEE5E8}"/>
                </a:ext>
              </a:extLst>
            </p:cNvPr>
            <p:cNvSpPr/>
            <p:nvPr/>
          </p:nvSpPr>
          <p:spPr>
            <a:xfrm>
              <a:off x="8563897" y="2135771"/>
              <a:ext cx="594332" cy="89686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72AEB17-28A3-4CE2-32AF-4589B947E2A6}"/>
                </a:ext>
              </a:extLst>
            </p:cNvPr>
            <p:cNvSpPr txBox="1"/>
            <p:nvPr/>
          </p:nvSpPr>
          <p:spPr>
            <a:xfrm>
              <a:off x="9299423" y="1995948"/>
              <a:ext cx="793807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dirty="0"/>
                <a:t>[</a:t>
              </a:r>
              <a:r>
                <a:rPr lang="en-US" altLang="zh-CN" sz="1600" dirty="0"/>
                <a:t>3/4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41219B1B-99F4-95C6-D71D-61FDA720B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788" y="2794000"/>
            <a:ext cx="3613458" cy="26655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F6B8B02F-F4BE-6462-628D-9136F7D79E6B}"/>
              </a:ext>
            </a:extLst>
          </p:cNvPr>
          <p:cNvGrpSpPr/>
          <p:nvPr/>
        </p:nvGrpSpPr>
        <p:grpSpPr>
          <a:xfrm>
            <a:off x="5955297" y="1526416"/>
            <a:ext cx="2943095" cy="369332"/>
            <a:chOff x="5978132" y="1526416"/>
            <a:chExt cx="2943095" cy="369332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42F7BB0-AAEB-C591-CDD4-BDF8FF9B0077}"/>
                </a:ext>
              </a:extLst>
            </p:cNvPr>
            <p:cNvGrpSpPr/>
            <p:nvPr/>
          </p:nvGrpSpPr>
          <p:grpSpPr>
            <a:xfrm>
              <a:off x="5978132" y="1526416"/>
              <a:ext cx="2055448" cy="369332"/>
              <a:chOff x="7923100" y="1995948"/>
              <a:chExt cx="2055448" cy="369332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2CE7B39-BE92-6249-98AE-E1A6923FD42F}"/>
                  </a:ext>
                </a:extLst>
              </p:cNvPr>
              <p:cNvSpPr txBox="1"/>
              <p:nvPr/>
            </p:nvSpPr>
            <p:spPr>
              <a:xfrm>
                <a:off x="7923100" y="1995948"/>
                <a:ext cx="583814" cy="33855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“A”</a:t>
                </a:r>
                <a:endParaRPr lang="zh-CN" altLang="en-US" sz="1600" dirty="0"/>
              </a:p>
            </p:txBody>
          </p:sp>
          <p:sp>
            <p:nvSpPr>
              <p:cNvPr id="27" name="箭头: 右 26">
                <a:extLst>
                  <a:ext uri="{FF2B5EF4-FFF2-40B4-BE49-F238E27FC236}">
                    <a16:creationId xmlns:a16="http://schemas.microsoft.com/office/drawing/2014/main" id="{85FFBB34-F540-4154-D5F8-DD02CBE9F4E8}"/>
                  </a:ext>
                </a:extLst>
              </p:cNvPr>
              <p:cNvSpPr/>
              <p:nvPr/>
            </p:nvSpPr>
            <p:spPr>
              <a:xfrm>
                <a:off x="8563897" y="2135771"/>
                <a:ext cx="594332" cy="89686"/>
              </a:xfrm>
              <a:prstGeom prst="rightArrow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F4B0F87-9152-FCA2-3718-95F6B30C43BB}"/>
                  </a:ext>
                </a:extLst>
              </p:cNvPr>
              <p:cNvSpPr txBox="1"/>
              <p:nvPr/>
            </p:nvSpPr>
            <p:spPr>
              <a:xfrm>
                <a:off x="9357865" y="1995948"/>
                <a:ext cx="620683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&lt;A&gt;</a:t>
                </a:r>
                <a:endParaRPr lang="zh-CN" altLang="en-US" dirty="0"/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E1716A1-7C95-5CE4-FEA3-CAB198BDF09E}"/>
                </a:ext>
              </a:extLst>
            </p:cNvPr>
            <p:cNvSpPr txBox="1"/>
            <p:nvPr/>
          </p:nvSpPr>
          <p:spPr>
            <a:xfrm>
              <a:off x="8148258" y="1526416"/>
              <a:ext cx="772969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dirty="0"/>
                <a:t>{</a:t>
              </a:r>
              <a:r>
                <a:rPr lang="en-US" altLang="zh-CN" sz="1600" dirty="0" err="1"/>
                <a:t>maj</a:t>
              </a:r>
              <a:r>
                <a:rPr lang="en-US" altLang="zh-CN" dirty="0"/>
                <a:t>}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57270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DE6C4-9ABE-EAF6-CD6B-7BDB0AC8E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结果比较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832F02-6C14-4993-ABF5-31058227F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671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D7921-73D4-6827-0AC2-FF0D1F5E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结果比较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模型数据</a:t>
            </a:r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7A538526-8C25-3531-30BE-CF5BB7EEE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284" y="710491"/>
            <a:ext cx="7315200" cy="21975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D34694-5F96-9E39-AFDB-9BACF7BFF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284" y="3575423"/>
            <a:ext cx="3457220" cy="18034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588F141-F94F-AE34-3714-AFFBB872F44A}"/>
              </a:ext>
            </a:extLst>
          </p:cNvPr>
          <p:cNvSpPr txBox="1"/>
          <p:nvPr/>
        </p:nvSpPr>
        <p:spPr>
          <a:xfrm>
            <a:off x="5131139" y="5781748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Eval</a:t>
            </a:r>
            <a:r>
              <a:rPr kumimoji="1" lang="zh-CN" altLang="en-US" dirty="0"/>
              <a:t> </a:t>
            </a:r>
            <a:r>
              <a:rPr kumimoji="1" lang="en-US" altLang="zh-CN" dirty="0"/>
              <a:t>Loss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7835E7-F50F-27E9-434E-DBEA733FE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673" y="3575423"/>
            <a:ext cx="3573811" cy="1803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1689170-4A29-BB40-74D7-6556585F2E0A}"/>
              </a:ext>
            </a:extLst>
          </p:cNvPr>
          <p:cNvSpPr txBox="1"/>
          <p:nvPr/>
        </p:nvSpPr>
        <p:spPr>
          <a:xfrm>
            <a:off x="9251577" y="5778177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WER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3505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E9B42-D1E4-57D0-62E6-CF1772528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结果比较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小星星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9DDA717-F302-385A-3F09-B33351BF4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8738" y="1292802"/>
            <a:ext cx="7315200" cy="1539042"/>
          </a:xfrm>
        </p:spPr>
      </p:pic>
      <p:pic>
        <p:nvPicPr>
          <p:cNvPr id="6" name="audio">
            <a:hlinkClick r:id="" action="ppaction://media"/>
            <a:extLst>
              <a:ext uri="{FF2B5EF4-FFF2-40B4-BE49-F238E27FC236}">
                <a16:creationId xmlns:a16="http://schemas.microsoft.com/office/drawing/2014/main" id="{E50B7B87-76D9-F59A-543D-5BDF1E74CA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663421" y="1292802"/>
            <a:ext cx="487363" cy="48736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A54886-FEE9-837B-6596-1658A29E7227}"/>
              </a:ext>
            </a:extLst>
          </p:cNvPr>
          <p:cNvSpPr txBox="1"/>
          <p:nvPr/>
        </p:nvSpPr>
        <p:spPr>
          <a:xfrm>
            <a:off x="3962400" y="1061969"/>
            <a:ext cx="286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highlight>
                  <a:srgbClr val="C0C0C0"/>
                </a:highlight>
              </a:rPr>
              <a:t>数字信号处理结果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31ED42-D604-EB7E-7CCF-35EAE1B87319}"/>
              </a:ext>
            </a:extLst>
          </p:cNvPr>
          <p:cNvSpPr txBox="1"/>
          <p:nvPr/>
        </p:nvSpPr>
        <p:spPr>
          <a:xfrm>
            <a:off x="4056062" y="3429000"/>
            <a:ext cx="286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highlight>
                  <a:srgbClr val="C0C0C0"/>
                </a:highlight>
              </a:rPr>
              <a:t>模型预测结果</a:t>
            </a:r>
          </a:p>
        </p:txBody>
      </p:sp>
      <p:pic>
        <p:nvPicPr>
          <p:cNvPr id="15" name="图形 14">
            <a:extLst>
              <a:ext uri="{FF2B5EF4-FFF2-40B4-BE49-F238E27FC236}">
                <a16:creationId xmlns:a16="http://schemas.microsoft.com/office/drawing/2014/main" id="{595D0165-9691-C524-87CA-203DD453B7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62400" y="3820272"/>
            <a:ext cx="7221538" cy="1371600"/>
          </a:xfrm>
          <a:prstGeom prst="rect">
            <a:avLst/>
          </a:prstGeom>
        </p:spPr>
      </p:pic>
      <p:pic>
        <p:nvPicPr>
          <p:cNvPr id="16" name="audio">
            <a:hlinkClick r:id="" action="ppaction://media"/>
            <a:extLst>
              <a:ext uri="{FF2B5EF4-FFF2-40B4-BE49-F238E27FC236}">
                <a16:creationId xmlns:a16="http://schemas.microsoft.com/office/drawing/2014/main" id="{BA7E9697-6288-52F8-A0B2-55BD06597F6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663420" y="365983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29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6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BC58-E9F0-1F73-E6DB-B873862C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7EF4D-C5B0-1AB0-714E-58B420FD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结果比较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晴天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2C38D0-6191-B6C6-4199-B417FFC8DFD9}"/>
              </a:ext>
            </a:extLst>
          </p:cNvPr>
          <p:cNvSpPr txBox="1"/>
          <p:nvPr/>
        </p:nvSpPr>
        <p:spPr>
          <a:xfrm>
            <a:off x="3962400" y="1061969"/>
            <a:ext cx="286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highlight>
                  <a:srgbClr val="C0C0C0"/>
                </a:highlight>
              </a:rPr>
              <a:t>数字信号处理结果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C1DD13-F3F2-A356-CE65-D14E446B3BC5}"/>
              </a:ext>
            </a:extLst>
          </p:cNvPr>
          <p:cNvSpPr txBox="1"/>
          <p:nvPr/>
        </p:nvSpPr>
        <p:spPr>
          <a:xfrm>
            <a:off x="4056062" y="3429000"/>
            <a:ext cx="286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highlight>
                  <a:srgbClr val="C0C0C0"/>
                </a:highlight>
              </a:rPr>
              <a:t>模型预测结果</a:t>
            </a:r>
          </a:p>
        </p:txBody>
      </p:sp>
      <p:pic>
        <p:nvPicPr>
          <p:cNvPr id="20" name="图形 19">
            <a:extLst>
              <a:ext uri="{FF2B5EF4-FFF2-40B4-BE49-F238E27FC236}">
                <a16:creationId xmlns:a16="http://schemas.microsoft.com/office/drawing/2014/main" id="{C0091184-60A6-5ED8-CCBE-1952A2EB48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8865" y="1214372"/>
            <a:ext cx="7315200" cy="1619250"/>
          </a:xfrm>
          <a:prstGeom prst="rect">
            <a:avLst/>
          </a:prstGeom>
        </p:spPr>
      </p:pic>
      <p:pic>
        <p:nvPicPr>
          <p:cNvPr id="23" name="audio">
            <a:hlinkClick r:id="" action="ppaction://media"/>
            <a:extLst>
              <a:ext uri="{FF2B5EF4-FFF2-40B4-BE49-F238E27FC236}">
                <a16:creationId xmlns:a16="http://schemas.microsoft.com/office/drawing/2014/main" id="{EC589236-4E45-0434-7B65-0FAC72729B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732911" y="1171762"/>
            <a:ext cx="487363" cy="487363"/>
          </a:xfrm>
          <a:prstGeom prst="rect">
            <a:avLst/>
          </a:prstGeom>
        </p:spPr>
      </p:pic>
      <p:pic>
        <p:nvPicPr>
          <p:cNvPr id="24" name="audio">
            <a:hlinkClick r:id="" action="ppaction://media"/>
            <a:extLst>
              <a:ext uri="{FF2B5EF4-FFF2-40B4-BE49-F238E27FC236}">
                <a16:creationId xmlns:a16="http://schemas.microsoft.com/office/drawing/2014/main" id="{DEB35E88-7711-8957-A5CF-9735D067C7F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732910" y="3659832"/>
            <a:ext cx="487363" cy="487363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F0E76978-DEDB-7C1C-CC45-DA08634070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58865" y="3259570"/>
            <a:ext cx="73152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35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66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40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28A2F-45CE-4B47-AC9A-D57F000B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结果分析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D7EB3E7E-17A0-5BED-2761-785E8269A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51908"/>
              </p:ext>
            </p:extLst>
          </p:nvPr>
        </p:nvGraphicFramePr>
        <p:xfrm>
          <a:off x="3868738" y="863600"/>
          <a:ext cx="7315200" cy="4299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340">
                  <a:extLst>
                    <a:ext uri="{9D8B030D-6E8A-4147-A177-3AD203B41FA5}">
                      <a16:colId xmlns:a16="http://schemas.microsoft.com/office/drawing/2014/main" val="224309085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589303617"/>
                    </a:ext>
                  </a:extLst>
                </a:gridCol>
                <a:gridCol w="1884783">
                  <a:extLst>
                    <a:ext uri="{9D8B030D-6E8A-4147-A177-3AD203B41FA5}">
                      <a16:colId xmlns:a16="http://schemas.microsoft.com/office/drawing/2014/main" val="3578781880"/>
                    </a:ext>
                  </a:extLst>
                </a:gridCol>
                <a:gridCol w="2021277">
                  <a:extLst>
                    <a:ext uri="{9D8B030D-6E8A-4147-A177-3AD203B41FA5}">
                      <a16:colId xmlns:a16="http://schemas.microsoft.com/office/drawing/2014/main" val="2362023428"/>
                    </a:ext>
                  </a:extLst>
                </a:gridCol>
              </a:tblGrid>
              <a:tr h="1058506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适用场景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准确性要求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调参维护难度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866604"/>
                  </a:ext>
                </a:extLst>
              </a:tr>
              <a:tr h="16204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数字信号</a:t>
                      </a:r>
                      <a:endParaRPr lang="en-US" altLang="zh-CN" sz="2400" dirty="0"/>
                    </a:p>
                    <a:p>
                      <a:pPr algn="ctr"/>
                      <a:r>
                        <a:rPr lang="zh-CN" altLang="en-US" sz="2400" dirty="0"/>
                        <a:t>处理方法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单一乐器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高准确性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针对特定音色需要分析调参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718110"/>
                  </a:ext>
                </a:extLst>
              </a:tr>
              <a:tr h="16204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深度学习</a:t>
                      </a:r>
                      <a:endParaRPr lang="en-US" altLang="zh-CN" sz="2400" dirty="0"/>
                    </a:p>
                    <a:p>
                      <a:pPr algn="ctr"/>
                      <a:r>
                        <a:rPr lang="zh-CN" altLang="en-US" sz="2400" dirty="0"/>
                        <a:t>模型预测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任意音频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低准确性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可以在预训练基础上微调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961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851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876F-1137-8DCE-F569-C3D0C932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28C3F-30EE-4034-4BA8-F7EF62D6B6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800" dirty="0"/>
              <a:t>数字信号处理 综合实践</a:t>
            </a:r>
            <a:br>
              <a:rPr lang="en-US" altLang="zh-CN" dirty="0"/>
            </a:br>
            <a:r>
              <a:rPr lang="zh-CN" altLang="en-US" dirty="0"/>
              <a:t>钢琴音频识别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326725-954D-5B0B-D603-0268817346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信工</a:t>
            </a:r>
            <a:r>
              <a:rPr lang="en-US" altLang="zh-CN" dirty="0"/>
              <a:t>223	</a:t>
            </a:r>
            <a:r>
              <a:rPr lang="zh-CN" altLang="en-US" dirty="0"/>
              <a:t>张鸿尧</a:t>
            </a:r>
            <a:r>
              <a:rPr lang="en-US" altLang="zh-CN" dirty="0"/>
              <a:t>		22012995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9590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Word"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8|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heme/theme1.xml><?xml version="1.0" encoding="utf-8"?>
<a:theme xmlns:a="http://schemas.openxmlformats.org/drawingml/2006/main" name="框架">
  <a:themeElements>
    <a:clrScheme name="框架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框架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框架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框架</Template>
  <TotalTime>499</TotalTime>
  <Words>2570</Words>
  <Application>Microsoft Office PowerPoint</Application>
  <PresentationFormat>宽屏</PresentationFormat>
  <Paragraphs>360</Paragraphs>
  <Slides>43</Slides>
  <Notes>41</Notes>
  <HiddenSlides>0</HiddenSlides>
  <MMClips>4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9" baseType="lpstr">
      <vt:lpstr>等线</vt:lpstr>
      <vt:lpstr>consolas</vt:lpstr>
      <vt:lpstr>Corbel</vt:lpstr>
      <vt:lpstr>Segoe Script</vt:lpstr>
      <vt:lpstr>Wingdings 2</vt:lpstr>
      <vt:lpstr>框架</vt:lpstr>
      <vt:lpstr>数字信号处理 综合实践 钢琴音频识别</vt:lpstr>
      <vt:lpstr>目录</vt:lpstr>
      <vt:lpstr>项目介绍 &amp; 技术栈 </vt:lpstr>
      <vt:lpstr>项目介绍  技术栈</vt:lpstr>
      <vt:lpstr>切分音符</vt:lpstr>
      <vt:lpstr>切分音符  得到包络</vt:lpstr>
      <vt:lpstr>切分音符  找到峰值</vt:lpstr>
      <vt:lpstr>切分音符  参数调整</vt:lpstr>
      <vt:lpstr>单音识别</vt:lpstr>
      <vt:lpstr>单音识别  频幅 转  琴键能量</vt:lpstr>
      <vt:lpstr>单音识别  频幅 转  琴键能量</vt:lpstr>
      <vt:lpstr>单音识别  频幅 转  琴键能量</vt:lpstr>
      <vt:lpstr>单音识别  琴键能量 判断音高</vt:lpstr>
      <vt:lpstr>单音识别  低音区 特别判断</vt:lpstr>
      <vt:lpstr>单音识别  低音区 特别判断</vt:lpstr>
      <vt:lpstr>单音识别  音阶对比 参数调整</vt:lpstr>
      <vt:lpstr>节奏评价</vt:lpstr>
      <vt:lpstr>节奏评价  与理想值对比 表现评价</vt:lpstr>
      <vt:lpstr>整曲识别</vt:lpstr>
      <vt:lpstr>整曲识别</vt:lpstr>
      <vt:lpstr>整曲识别</vt:lpstr>
      <vt:lpstr>整曲识别</vt:lpstr>
      <vt:lpstr>整曲识别</vt:lpstr>
      <vt:lpstr>整曲识别  ABC记谱法</vt:lpstr>
      <vt:lpstr>整曲识别</vt:lpstr>
      <vt:lpstr>整曲识别</vt:lpstr>
      <vt:lpstr>模型实现</vt:lpstr>
      <vt:lpstr>基于Whisper的Transformer</vt:lpstr>
      <vt:lpstr>Data Pre-processing</vt:lpstr>
      <vt:lpstr>Data Cleansing</vt:lpstr>
      <vt:lpstr>Data Segmentation</vt:lpstr>
      <vt:lpstr>Data Segmentation</vt:lpstr>
      <vt:lpstr>Mutation &amp; Training Data Generation </vt:lpstr>
      <vt:lpstr>Mutation</vt:lpstr>
      <vt:lpstr>Mutation</vt:lpstr>
      <vt:lpstr>Orpheus’ Score</vt:lpstr>
      <vt:lpstr>Training Data Generation</vt:lpstr>
      <vt:lpstr>结果比较</vt:lpstr>
      <vt:lpstr>结果比较  模型数据</vt:lpstr>
      <vt:lpstr>结果比较  小星星</vt:lpstr>
      <vt:lpstr>结果比较  晴天</vt:lpstr>
      <vt:lpstr>结果分析</vt:lpstr>
      <vt:lpstr>数字信号处理 综合实践 钢琴音频识别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鸿尧 张</dc:creator>
  <cp:lastModifiedBy>鸿尧 张</cp:lastModifiedBy>
  <cp:revision>7</cp:revision>
  <dcterms:created xsi:type="dcterms:W3CDTF">2024-12-11T08:32:41Z</dcterms:created>
  <dcterms:modified xsi:type="dcterms:W3CDTF">2024-12-15T16:19:23Z</dcterms:modified>
</cp:coreProperties>
</file>