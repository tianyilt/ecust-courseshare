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  <p:sldMasterId id="2147483690" r:id="rId2"/>
  </p:sldMasterIdLst>
  <p:notesMasterIdLst>
    <p:notesMasterId r:id="rId29"/>
  </p:notesMasterIdLst>
  <p:handoutMasterIdLst>
    <p:handoutMasterId r:id="rId30"/>
  </p:handoutMasterIdLst>
  <p:sldIdLst>
    <p:sldId id="256" r:id="rId3"/>
    <p:sldId id="350" r:id="rId4"/>
    <p:sldId id="439" r:id="rId5"/>
    <p:sldId id="260" r:id="rId6"/>
    <p:sldId id="328" r:id="rId7"/>
    <p:sldId id="360" r:id="rId8"/>
    <p:sldId id="329" r:id="rId9"/>
    <p:sldId id="359" r:id="rId10"/>
    <p:sldId id="351" r:id="rId11"/>
    <p:sldId id="330" r:id="rId12"/>
    <p:sldId id="336" r:id="rId13"/>
    <p:sldId id="338" r:id="rId14"/>
    <p:sldId id="337" r:id="rId15"/>
    <p:sldId id="334" r:id="rId16"/>
    <p:sldId id="290" r:id="rId17"/>
    <p:sldId id="361" r:id="rId18"/>
    <p:sldId id="362" r:id="rId19"/>
    <p:sldId id="363" r:id="rId20"/>
    <p:sldId id="407" r:id="rId21"/>
    <p:sldId id="375" r:id="rId22"/>
    <p:sldId id="354" r:id="rId23"/>
    <p:sldId id="298" r:id="rId24"/>
    <p:sldId id="358" r:id="rId25"/>
    <p:sldId id="299" r:id="rId26"/>
    <p:sldId id="372" r:id="rId27"/>
    <p:sldId id="300" r:id="rId28"/>
  </p:sldIdLst>
  <p:sldSz cx="9144000" cy="5143500" type="screen16x9"/>
  <p:notesSz cx="6791325" cy="9921875"/>
  <p:custShowLst>
    <p:custShow name="自定义放映1" id="0">
      <p:sldLst/>
    </p:custShow>
    <p:custShow name="自定义放映2" id="1">
      <p:sldLst/>
    </p:custShow>
    <p:custShow name="自定义放映3" id="2">
      <p:sldLst/>
    </p:custShow>
  </p:custShow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00"/>
    <a:srgbClr val="DFF8FD"/>
    <a:srgbClr val="C9F3FB"/>
    <a:srgbClr val="B9FFDC"/>
    <a:srgbClr val="D3FBC9"/>
    <a:srgbClr val="9BFFFF"/>
    <a:srgbClr val="A93B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11"/>
    <p:restoredTop sz="52319" autoAdjust="0"/>
  </p:normalViewPr>
  <p:slideViewPr>
    <p:cSldViewPr showGuides="1">
      <p:cViewPr varScale="1">
        <p:scale>
          <a:sx n="79" d="100"/>
          <a:sy n="79" d="100"/>
        </p:scale>
        <p:origin x="2904" y="78"/>
      </p:cViewPr>
      <p:guideLst>
        <p:guide orient="horz" pos="215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32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348" tIns="47174" rIns="94348" bIns="47174" numCol="1" anchor="t" anchorCtr="0" compatLnSpc="1"/>
          <a:lstStyle>
            <a:lvl1pPr defTabSz="942975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429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8100" y="0"/>
            <a:ext cx="29432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348" tIns="47174" rIns="94348" bIns="47174" numCol="1" anchor="t" anchorCtr="0" compatLnSpc="1"/>
          <a:lstStyle>
            <a:lvl1pPr algn="r" defTabSz="942975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429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6575"/>
            <a:ext cx="29432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348" tIns="47174" rIns="94348" bIns="47174" numCol="1" anchor="b" anchorCtr="0" compatLnSpc="1"/>
          <a:lstStyle>
            <a:lvl1pPr defTabSz="942975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429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8100" y="9426575"/>
            <a:ext cx="29432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348" tIns="47174" rIns="94348" bIns="47174" numCol="1" anchor="b" anchorCtr="0" compatLnSpc="1"/>
          <a:lstStyle/>
          <a:p>
            <a:pPr lvl="0" algn="r" defTabSz="942975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  <a:t>‹#›</a:t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364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32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348" tIns="47174" rIns="94348" bIns="47174" numCol="1" anchor="t" anchorCtr="0" compatLnSpc="1"/>
          <a:lstStyle>
            <a:lvl1pPr defTabSz="942975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429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8100" y="0"/>
            <a:ext cx="29432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348" tIns="47174" rIns="94348" bIns="47174" numCol="1" anchor="t" anchorCtr="0" compatLnSpc="1"/>
          <a:lstStyle>
            <a:lvl1pPr algn="r" defTabSz="942975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429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00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5113" cy="372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1700"/>
            <a:ext cx="4978400" cy="446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348" tIns="47174" rIns="94348" bIns="4717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单击以编辑母版文本样式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6575"/>
            <a:ext cx="29432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348" tIns="47174" rIns="94348" bIns="47174" numCol="1" anchor="b" anchorCtr="0" compatLnSpc="1"/>
          <a:lstStyle>
            <a:lvl1pPr defTabSz="942975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429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100" y="9426575"/>
            <a:ext cx="29432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348" tIns="47174" rIns="94348" bIns="47174" numCol="1" anchor="b" anchorCtr="0" compatLnSpc="1"/>
          <a:lstStyle/>
          <a:p>
            <a:pPr lvl="0" algn="r" defTabSz="942975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  <a:t>‹#›</a:t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1823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56323" name="备注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en-US" altLang="zh-CN" dirty="0" smtClean="0"/>
          </a:p>
        </p:txBody>
      </p:sp>
      <p:sp>
        <p:nvSpPr>
          <p:cNvPr id="563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8100" y="9426575"/>
            <a:ext cx="2943225" cy="495300"/>
          </a:xfrm>
          <a:prstGeom prst="rect">
            <a:avLst/>
          </a:prstGeom>
          <a:noFill/>
          <a:ln w="9525">
            <a:noFill/>
          </a:ln>
        </p:spPr>
        <p:txBody>
          <a:bodyPr lIns="94348" tIns="47174" rIns="94348" bIns="47174" anchor="b"/>
          <a:lstStyle/>
          <a:p>
            <a:pPr lvl="0" algn="r" defTabSz="942975" eaLnBrk="1" hangingPunct="1"/>
            <a:fld id="{9A0DB2DC-4C9A-4742-B13C-FB6460FD3503}" type="slidenum">
              <a:rPr lang="en-US" altLang="zh-CN" dirty="0"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4348" tIns="47174" rIns="94348" bIns="4717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8100" y="9426575"/>
            <a:ext cx="2943225" cy="495300"/>
          </a:xfrm>
          <a:prstGeom prst="rect">
            <a:avLst/>
          </a:prstGeom>
          <a:noFill/>
          <a:ln w="9525">
            <a:noFill/>
          </a:ln>
        </p:spPr>
        <p:txBody>
          <a:bodyPr lIns="94348" tIns="47174" rIns="94348" bIns="47174" anchor="b"/>
          <a:lstStyle/>
          <a:p>
            <a:pPr lvl="0" algn="r" defTabSz="942975" eaLnBrk="1" hangingPunct="1"/>
            <a:fld id="{9A0DB2DC-4C9A-4742-B13C-FB6460FD3503}" type="slidenum">
              <a:rPr lang="en-US" altLang="zh-CN" dirty="0"/>
              <a:t>2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57347" name="文本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59395" name="文本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60419" name="备注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dirty="0"/>
          </a:p>
        </p:txBody>
      </p:sp>
      <p:sp>
        <p:nvSpPr>
          <p:cNvPr id="604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8100" y="9426575"/>
            <a:ext cx="2943225" cy="495300"/>
          </a:xfrm>
          <a:prstGeom prst="rect">
            <a:avLst/>
          </a:prstGeom>
          <a:noFill/>
          <a:ln w="9525">
            <a:noFill/>
          </a:ln>
        </p:spPr>
        <p:txBody>
          <a:bodyPr lIns="94348" tIns="47174" rIns="94348" bIns="47174" anchor="b"/>
          <a:lstStyle/>
          <a:p>
            <a:pPr lvl="0" algn="r" defTabSz="942975" eaLnBrk="1" hangingPunct="1"/>
            <a:fld id="{9A0DB2DC-4C9A-4742-B13C-FB6460FD3503}" type="slidenum">
              <a:rPr lang="en-US" altLang="zh-CN" dirty="0"/>
              <a:t>5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dirty="0"/>
          </a:p>
        </p:txBody>
      </p:sp>
      <p:sp>
        <p:nvSpPr>
          <p:cNvPr id="614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8100" y="9426575"/>
            <a:ext cx="2943225" cy="495300"/>
          </a:xfrm>
          <a:prstGeom prst="rect">
            <a:avLst/>
          </a:prstGeom>
          <a:noFill/>
          <a:ln w="9525">
            <a:noFill/>
          </a:ln>
        </p:spPr>
        <p:txBody>
          <a:bodyPr lIns="94348" tIns="47174" rIns="94348" bIns="47174" anchor="b"/>
          <a:lstStyle/>
          <a:p>
            <a:pPr lvl="0" algn="r" defTabSz="942975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  <a:t>6</a:t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62467" name="备注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b="0" dirty="0"/>
          </a:p>
        </p:txBody>
      </p:sp>
      <p:sp>
        <p:nvSpPr>
          <p:cNvPr id="624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8100" y="9426575"/>
            <a:ext cx="2943225" cy="495300"/>
          </a:xfrm>
          <a:prstGeom prst="rect">
            <a:avLst/>
          </a:prstGeom>
          <a:noFill/>
          <a:ln w="9525">
            <a:noFill/>
          </a:ln>
        </p:spPr>
        <p:txBody>
          <a:bodyPr lIns="94348" tIns="47174" rIns="94348" bIns="47174" anchor="b"/>
          <a:lstStyle/>
          <a:p>
            <a:pPr lvl="0" algn="r" defTabSz="942975" eaLnBrk="1" hangingPunct="1"/>
            <a:fld id="{9A0DB2DC-4C9A-4742-B13C-FB6460FD3503}" type="slidenum">
              <a:rPr lang="en-US" altLang="zh-CN" dirty="0"/>
              <a:t>7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63491" name="备注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dirty="0"/>
          </a:p>
        </p:txBody>
      </p:sp>
      <p:sp>
        <p:nvSpPr>
          <p:cNvPr id="634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8100" y="9426575"/>
            <a:ext cx="2943225" cy="495300"/>
          </a:xfrm>
          <a:prstGeom prst="rect">
            <a:avLst/>
          </a:prstGeom>
          <a:noFill/>
          <a:ln w="9525">
            <a:noFill/>
          </a:ln>
        </p:spPr>
        <p:txBody>
          <a:bodyPr lIns="94348" tIns="47174" rIns="94348" bIns="47174" anchor="b"/>
          <a:lstStyle/>
          <a:p>
            <a:pPr lvl="0" algn="r" defTabSz="942975" eaLnBrk="1" hangingPunct="1"/>
            <a:fld id="{9A0DB2DC-4C9A-4742-B13C-FB6460FD3503}" type="slidenum">
              <a:rPr lang="en-US" altLang="zh-CN" dirty="0"/>
              <a:t>8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64515" name="文本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b="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65539" name="备注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dirty="0"/>
          </a:p>
        </p:txBody>
      </p:sp>
      <p:sp>
        <p:nvSpPr>
          <p:cNvPr id="655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8100" y="9426575"/>
            <a:ext cx="2943225" cy="495300"/>
          </a:xfrm>
          <a:prstGeom prst="rect">
            <a:avLst/>
          </a:prstGeom>
          <a:noFill/>
          <a:ln w="9525">
            <a:noFill/>
          </a:ln>
        </p:spPr>
        <p:txBody>
          <a:bodyPr lIns="94348" tIns="47174" rIns="94348" bIns="47174" anchor="b"/>
          <a:lstStyle/>
          <a:p>
            <a:pPr lvl="0" algn="r" defTabSz="942975" eaLnBrk="1" hangingPunct="1"/>
            <a:fld id="{9A0DB2DC-4C9A-4742-B13C-FB6460FD3503}" type="slidenum">
              <a:rPr lang="en-US" altLang="zh-CN" dirty="0"/>
              <a:t>10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66563" name="文本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en-US" altLang="zh-CN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67587" name="文本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b="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68611" name="备注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b="0" dirty="0"/>
          </a:p>
        </p:txBody>
      </p:sp>
      <p:sp>
        <p:nvSpPr>
          <p:cNvPr id="686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8100" y="9426575"/>
            <a:ext cx="2943225" cy="495300"/>
          </a:xfrm>
          <a:prstGeom prst="rect">
            <a:avLst/>
          </a:prstGeom>
          <a:noFill/>
          <a:ln w="9525">
            <a:noFill/>
          </a:ln>
        </p:spPr>
        <p:txBody>
          <a:bodyPr lIns="94348" tIns="47174" rIns="94348" bIns="47174" anchor="b"/>
          <a:lstStyle/>
          <a:p>
            <a:pPr lvl="0" algn="r" defTabSz="942975" eaLnBrk="1" hangingPunct="1"/>
            <a:fld id="{9A0DB2DC-4C9A-4742-B13C-FB6460FD3503}" type="slidenum">
              <a:rPr lang="en-US" altLang="zh-CN" dirty="0"/>
              <a:t>13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69635" name="备注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b="0" dirty="0"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696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8100" y="9426575"/>
            <a:ext cx="2943225" cy="495300"/>
          </a:xfrm>
          <a:prstGeom prst="rect">
            <a:avLst/>
          </a:prstGeom>
          <a:noFill/>
          <a:ln w="9525">
            <a:noFill/>
          </a:ln>
        </p:spPr>
        <p:txBody>
          <a:bodyPr lIns="94348" tIns="47174" rIns="94348" bIns="47174" anchor="b"/>
          <a:lstStyle/>
          <a:p>
            <a:pPr lvl="0" algn="r" defTabSz="942975" eaLnBrk="1" hangingPunct="1"/>
            <a:fld id="{9A0DB2DC-4C9A-4742-B13C-FB6460FD3503}" type="slidenum">
              <a:rPr lang="en-US" altLang="zh-CN" dirty="0"/>
              <a:t>14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70659" name="备注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dirty="0"/>
          </a:p>
        </p:txBody>
      </p:sp>
      <p:sp>
        <p:nvSpPr>
          <p:cNvPr id="706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8100" y="9426575"/>
            <a:ext cx="2943225" cy="495300"/>
          </a:xfrm>
          <a:prstGeom prst="rect">
            <a:avLst/>
          </a:prstGeom>
          <a:noFill/>
          <a:ln w="9525">
            <a:noFill/>
          </a:ln>
        </p:spPr>
        <p:txBody>
          <a:bodyPr lIns="94348" tIns="47174" rIns="94348" bIns="47174" anchor="b"/>
          <a:lstStyle/>
          <a:p>
            <a:pPr lvl="0" algn="r" defTabSz="942975" eaLnBrk="1" hangingPunct="1"/>
            <a:fld id="{9A0DB2DC-4C9A-4742-B13C-FB6460FD3503}" type="slidenum">
              <a:rPr lang="en-US" altLang="zh-CN" dirty="0"/>
              <a:t>15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71683" name="备注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dirty="0"/>
          </a:p>
        </p:txBody>
      </p:sp>
      <p:sp>
        <p:nvSpPr>
          <p:cNvPr id="716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8100" y="9426575"/>
            <a:ext cx="2943225" cy="495300"/>
          </a:xfrm>
          <a:prstGeom prst="rect">
            <a:avLst/>
          </a:prstGeom>
          <a:noFill/>
          <a:ln w="9525">
            <a:noFill/>
          </a:ln>
        </p:spPr>
        <p:txBody>
          <a:bodyPr lIns="94348" tIns="47174" rIns="94348" bIns="47174" anchor="b"/>
          <a:lstStyle/>
          <a:p>
            <a:pPr lvl="0" algn="r" defTabSz="942975" eaLnBrk="1" hangingPunct="1"/>
            <a:fld id="{9A0DB2DC-4C9A-4742-B13C-FB6460FD3503}" type="slidenum">
              <a:rPr lang="en-US" altLang="zh-CN" dirty="0"/>
              <a:t>16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72707" name="备注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dirty="0"/>
          </a:p>
        </p:txBody>
      </p:sp>
      <p:sp>
        <p:nvSpPr>
          <p:cNvPr id="727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8100" y="9426575"/>
            <a:ext cx="2943225" cy="495300"/>
          </a:xfrm>
          <a:prstGeom prst="rect">
            <a:avLst/>
          </a:prstGeom>
          <a:noFill/>
          <a:ln w="9525">
            <a:noFill/>
          </a:ln>
        </p:spPr>
        <p:txBody>
          <a:bodyPr lIns="94348" tIns="47174" rIns="94348" bIns="47174" anchor="b"/>
          <a:lstStyle/>
          <a:p>
            <a:pPr lvl="0" algn="r" defTabSz="942975" eaLnBrk="1" hangingPunct="1"/>
            <a:fld id="{9A0DB2DC-4C9A-4742-B13C-FB6460FD3503}" type="slidenum">
              <a:rPr lang="en-US" altLang="zh-CN" dirty="0"/>
              <a:t>17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73731" name="备注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b="0" dirty="0"/>
          </a:p>
        </p:txBody>
      </p:sp>
      <p:sp>
        <p:nvSpPr>
          <p:cNvPr id="737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8100" y="9426575"/>
            <a:ext cx="2943225" cy="495300"/>
          </a:xfrm>
          <a:prstGeom prst="rect">
            <a:avLst/>
          </a:prstGeom>
          <a:noFill/>
          <a:ln w="9525">
            <a:noFill/>
          </a:ln>
        </p:spPr>
        <p:txBody>
          <a:bodyPr lIns="94348" tIns="47174" rIns="94348" bIns="47174" anchor="b"/>
          <a:lstStyle/>
          <a:p>
            <a:pPr lvl="0" algn="r" defTabSz="942975" eaLnBrk="1" hangingPunct="1"/>
            <a:fld id="{9A0DB2DC-4C9A-4742-B13C-FB6460FD3503}" type="slidenum">
              <a:rPr lang="en-US" altLang="zh-CN" dirty="0"/>
              <a:t>18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75779" name="备注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b="0" dirty="0"/>
          </a:p>
        </p:txBody>
      </p:sp>
      <p:sp>
        <p:nvSpPr>
          <p:cNvPr id="757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8100" y="9426575"/>
            <a:ext cx="2943225" cy="495300"/>
          </a:xfrm>
          <a:prstGeom prst="rect">
            <a:avLst/>
          </a:prstGeom>
          <a:noFill/>
          <a:ln w="9525">
            <a:noFill/>
          </a:ln>
        </p:spPr>
        <p:txBody>
          <a:bodyPr lIns="94348" tIns="47174" rIns="94348" bIns="47174" anchor="b"/>
          <a:lstStyle/>
          <a:p>
            <a:pPr lvl="0" algn="r" defTabSz="942975" eaLnBrk="1" hangingPunct="1"/>
            <a:fld id="{9A0DB2DC-4C9A-4742-B13C-FB6460FD3503}" type="slidenum">
              <a:rPr lang="en-US" altLang="zh-CN" dirty="0"/>
              <a:t>19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74755" name="备注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b="0" dirty="0"/>
          </a:p>
        </p:txBody>
      </p:sp>
      <p:sp>
        <p:nvSpPr>
          <p:cNvPr id="747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8100" y="9426575"/>
            <a:ext cx="2943225" cy="495300"/>
          </a:xfrm>
          <a:prstGeom prst="rect">
            <a:avLst/>
          </a:prstGeom>
          <a:noFill/>
          <a:ln w="9525">
            <a:noFill/>
          </a:ln>
        </p:spPr>
        <p:txBody>
          <a:bodyPr lIns="94348" tIns="47174" rIns="94348" bIns="47174" anchor="b"/>
          <a:lstStyle/>
          <a:p>
            <a:pPr lvl="0" algn="r" defTabSz="942975" eaLnBrk="1" hangingPunct="1"/>
            <a:fld id="{9A0DB2DC-4C9A-4742-B13C-FB6460FD3503}" type="slidenum">
              <a:rPr lang="en-US" altLang="zh-CN" dirty="0">
                <a:solidFill>
                  <a:srgbClr val="000000"/>
                </a:solidFill>
              </a:rPr>
              <a:t>20</a:t>
            </a:fld>
            <a:endParaRPr lang="en-US" altLang="zh-CN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76803" name="备注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sz="2800" b="0" dirty="0" smtClean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68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8100" y="9426575"/>
            <a:ext cx="2943225" cy="495300"/>
          </a:xfrm>
          <a:prstGeom prst="rect">
            <a:avLst/>
          </a:prstGeom>
          <a:noFill/>
          <a:ln w="9525">
            <a:noFill/>
          </a:ln>
        </p:spPr>
        <p:txBody>
          <a:bodyPr lIns="94348" tIns="47174" rIns="94348" bIns="47174" anchor="b"/>
          <a:lstStyle/>
          <a:p>
            <a:pPr lvl="0" algn="r" defTabSz="942975" eaLnBrk="1" hangingPunct="1"/>
            <a:fld id="{9A0DB2DC-4C9A-4742-B13C-FB6460FD3503}" type="slidenum">
              <a:rPr lang="en-US" altLang="zh-CN" dirty="0"/>
              <a:t>22</a:t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8900" y="744538"/>
            <a:ext cx="6615113" cy="3721100"/>
          </a:xfrm>
        </p:spPr>
      </p:sp>
      <p:sp>
        <p:nvSpPr>
          <p:cNvPr id="77827" name="备注占位符 2"/>
          <p:cNvSpPr>
            <a:spLocks noGrp="1"/>
          </p:cNvSpPr>
          <p:nvPr>
            <p:ph type="body"/>
          </p:nvPr>
        </p:nvSpPr>
        <p:spPr/>
        <p:txBody>
          <a:bodyPr wrap="square" lIns="94348" tIns="47174" rIns="94348" bIns="47174" anchor="t"/>
          <a:lstStyle/>
          <a:p>
            <a:pPr lvl="0"/>
            <a:endParaRPr lang="zh-CN" altLang="en-US" dirty="0" smtClean="0"/>
          </a:p>
        </p:txBody>
      </p:sp>
      <p:sp>
        <p:nvSpPr>
          <p:cNvPr id="778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8100" y="9426575"/>
            <a:ext cx="2943225" cy="495300"/>
          </a:xfrm>
          <a:prstGeom prst="rect">
            <a:avLst/>
          </a:prstGeom>
          <a:noFill/>
          <a:ln w="9525">
            <a:noFill/>
          </a:ln>
        </p:spPr>
        <p:txBody>
          <a:bodyPr lIns="94348" tIns="47174" rIns="94348" bIns="47174" anchor="b"/>
          <a:lstStyle/>
          <a:p>
            <a:pPr lvl="0" algn="r" defTabSz="942975" eaLnBrk="1" hangingPunct="1"/>
            <a:fld id="{9A0DB2DC-4C9A-4742-B13C-FB6460FD3503}" type="slidenum">
              <a:rPr lang="en-US" altLang="zh-CN" dirty="0"/>
              <a:t>26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/>
          <p:nvPr/>
        </p:nvSpPr>
        <p:spPr>
          <a:xfrm>
            <a:off x="7315200" y="800100"/>
            <a:ext cx="0" cy="33718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051" name="Group 8"/>
          <p:cNvGrpSpPr/>
          <p:nvPr/>
        </p:nvGrpSpPr>
        <p:grpSpPr>
          <a:xfrm>
            <a:off x="7493001" y="2244328"/>
            <a:ext cx="1338263" cy="1641872"/>
            <a:chOff x="4704" y="1885"/>
            <a:chExt cx="843" cy="1379"/>
          </a:xfrm>
        </p:grpSpPr>
        <p:sp>
          <p:nvSpPr>
            <p:cNvPr id="42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52" name="Line 40"/>
          <p:cNvSpPr/>
          <p:nvPr/>
        </p:nvSpPr>
        <p:spPr>
          <a:xfrm>
            <a:off x="304800" y="2114550"/>
            <a:ext cx="8229600" cy="0"/>
          </a:xfrm>
          <a:prstGeom prst="line">
            <a:avLst/>
          </a:prstGeom>
          <a:ln w="63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64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350044"/>
            <a:ext cx="6781800" cy="16002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464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2287191"/>
            <a:ext cx="6248400" cy="177165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74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6300"/>
            <a:ext cx="2133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2FC947-A34A-4949-817D-66018DA17E7C}" type="datetime10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5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2133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r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89447"/>
            <a:ext cx="4038600" cy="33087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89447"/>
            <a:ext cx="4038600" cy="33087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679"/>
            <a:ext cx="2057400" cy="4506515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679"/>
            <a:ext cx="6019800" cy="4506515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1679"/>
            <a:ext cx="7543800" cy="97155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89447"/>
            <a:ext cx="4038600" cy="3308747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89447"/>
            <a:ext cx="4038600" cy="3308747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0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4686300"/>
            <a:ext cx="2133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Rectangle 5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2133600" cy="342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r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2FC947-A34A-4949-817D-66018DA17E7C}" type="datetime10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fld id="{9A0DB2DC-4C9A-4742-B13C-FB6460FD3503}" type="slidenum">
              <a:rPr lang="en-US" altLang="zh-CN" smtClean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70854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38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347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11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746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8525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288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130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0974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730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1854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442543"/>
      </p:ext>
    </p:extLst>
  </p:cSld>
  <p:clrMapOvr>
    <a:masterClrMapping/>
  </p:clrMapOvr>
  <p:hf sldNum="0"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1679"/>
            <a:ext cx="7543800" cy="97155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89447"/>
            <a:ext cx="4038600" cy="3308747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89447"/>
            <a:ext cx="4038600" cy="3308747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/>
          <p:nvPr/>
        </p:nvSpPr>
        <p:spPr>
          <a:xfrm>
            <a:off x="7962900" y="114300"/>
            <a:ext cx="0" cy="1143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91679"/>
            <a:ext cx="7543800" cy="97155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457200" y="1289447"/>
            <a:ext cx="8229600" cy="330874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541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6300"/>
            <a:ext cx="2133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541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541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21336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/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  <p:grpSp>
        <p:nvGrpSpPr>
          <p:cNvPr id="1032" name="Group 8"/>
          <p:cNvGrpSpPr/>
          <p:nvPr/>
        </p:nvGrpSpPr>
        <p:grpSpPr>
          <a:xfrm>
            <a:off x="8153401" y="114300"/>
            <a:ext cx="792163" cy="97155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9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400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430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930" indent="-31623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61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3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5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730" indent="-31623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D5795-ABC6-4AFE-A17B-DB737F69BD2D}" type="datetime10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19:52</a:t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楷体_GB2312" pitchFamily="49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dirty="0">
                <a:solidFill>
                  <a:srgbClr val="898989"/>
                </a:solidFill>
                <a:ea typeface="楷体_GB2312" pitchFamily="49" charset="-122"/>
                <a:cs typeface="+mn-cs"/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smtClean="0">
                <a:latin typeface="Arial" panose="020B0604020202020204" pitchFamily="34" charset="0"/>
              </a:r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sldNum="0"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png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/>
          </p:cNvSpPr>
          <p:nvPr>
            <p:ph type="ctrTitle"/>
          </p:nvPr>
        </p:nvSpPr>
        <p:spPr>
          <a:xfrm>
            <a:off x="467544" y="843558"/>
            <a:ext cx="8023225" cy="1343025"/>
          </a:xfrm>
        </p:spPr>
        <p:txBody>
          <a:bodyPr vert="horz" wrap="square" lIns="91440" tIns="45720" rIns="91440" bIns="45720" anchor="b"/>
          <a:lstStyle/>
          <a:p>
            <a:pPr eaLnBrk="1" hangingPunct="1">
              <a:buClrTx/>
              <a:buSzTx/>
              <a:buFontTx/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核磁共振</a:t>
            </a:r>
            <a:r>
              <a:rPr lang="zh-CN" altLang="en-US" sz="5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波谱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/>
            </a:r>
            <a:b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</a:b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101" name="Rectangle 3"/>
          <p:cNvSpPr>
            <a:spLocks noGrp="1"/>
          </p:cNvSpPr>
          <p:nvPr>
            <p:ph type="subTitle" idx="1"/>
          </p:nvPr>
        </p:nvSpPr>
        <p:spPr>
          <a:xfrm>
            <a:off x="-1016" y="2355726"/>
            <a:ext cx="9145016" cy="131445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SzPct val="70000"/>
            </a:pPr>
            <a:r>
              <a:rPr lang="zh-CN" altLang="en-US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（ </a:t>
            </a:r>
            <a:r>
              <a:rPr lang="en-US" altLang="zh-CN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Nuclear Magnetic Resonance Spectroscopy</a:t>
            </a:r>
            <a:r>
              <a:rPr lang="zh-CN" altLang="en-US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，</a:t>
            </a:r>
            <a:r>
              <a:rPr lang="en-US" altLang="zh-CN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NMR</a:t>
            </a:r>
            <a:r>
              <a:rPr lang="zh-CN" altLang="en-US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）</a:t>
            </a:r>
          </a:p>
        </p:txBody>
      </p:sp>
      <p:sp>
        <p:nvSpPr>
          <p:cNvPr id="4098" name="Rectangle 5"/>
          <p:cNvSpPr txBox="1">
            <a:spLocks noGrp="1"/>
          </p:cNvSpPr>
          <p:nvPr>
            <p:ph type="dt" sz="half" idx="10"/>
          </p:nvPr>
        </p:nvSpPr>
        <p:spPr>
          <a:xfrm>
            <a:off x="493713" y="4416029"/>
            <a:ext cx="2133600" cy="34290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4099" name="Rectangle 7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1</a:t>
            </a:fld>
            <a:endParaRPr lang="en-US" altLang="zh-CN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/>
          </p:cNvSpPr>
          <p:nvPr>
            <p:ph type="title"/>
          </p:nvPr>
        </p:nvSpPr>
        <p:spPr>
          <a:xfrm>
            <a:off x="467544" y="123478"/>
            <a:ext cx="8229600" cy="85725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 述</a:t>
            </a:r>
          </a:p>
        </p:txBody>
      </p:sp>
      <p:sp>
        <p:nvSpPr>
          <p:cNvPr id="6149" name="Rectangle 3"/>
          <p:cNvSpPr>
            <a:spLocks noGrp="1"/>
          </p:cNvSpPr>
          <p:nvPr>
            <p:ph idx="1"/>
          </p:nvPr>
        </p:nvSpPr>
        <p:spPr>
          <a:xfrm>
            <a:off x="-19040" y="1131590"/>
            <a:ext cx="8785225" cy="1472804"/>
          </a:xfrm>
        </p:spPr>
        <p:txBody>
          <a:bodyPr vert="horz" wrap="square" lIns="91440" tIns="45720" rIns="91440" bIns="45720" anchor="t"/>
          <a:lstStyle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核磁共振是指处于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外磁场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中的物质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原子核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系统受到相应频率（兆赫数量级的射频）的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电磁波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作用时，在其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磁能级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之间发生的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共振跃迁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现象。</a:t>
            </a:r>
          </a:p>
        </p:txBody>
      </p:sp>
      <p:sp>
        <p:nvSpPr>
          <p:cNvPr id="6146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614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2</a:t>
            </a:fld>
            <a:endParaRPr lang="en-US" altLang="zh-CN" sz="100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19040" y="3003798"/>
            <a:ext cx="9015413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613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33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53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73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检测电磁波被吸收的情况就可得到核磁共振波谱。根据波谱图上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共振峰的位置、强度和精细结构</a:t>
            </a:r>
            <a:r>
              <a:rPr kumimoji="0" lang="zh-CN" altLang="en-US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可以研究分子结构。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3"/>
          <p:cNvSpPr>
            <a:spLocks noGrp="1"/>
          </p:cNvSpPr>
          <p:nvPr>
            <p:ph idx="1"/>
          </p:nvPr>
        </p:nvSpPr>
        <p:spPr>
          <a:xfrm>
            <a:off x="1547664" y="1052366"/>
            <a:ext cx="7056784" cy="3391592"/>
          </a:xfrm>
        </p:spPr>
        <p:txBody>
          <a:bodyPr vert="horz" wrap="square" lIns="91440" tIns="45720" rIns="91440" bIns="45720" anchor="t"/>
          <a:lstStyle/>
          <a:p>
            <a:pPr marL="0" indent="0">
              <a:lnSpc>
                <a:spcPct val="150000"/>
              </a:lnSpc>
              <a:buClr>
                <a:schemeClr val="tx2"/>
              </a:buClr>
              <a:buSzPct val="75000"/>
              <a:buNone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r>
              <a:rPr lang="zh-CN" altLang="en-US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   核磁共振</a:t>
            </a: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波谱的</a:t>
            </a:r>
            <a:r>
              <a:rPr lang="zh-CN" altLang="en-US" sz="32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基本原理</a:t>
            </a:r>
            <a:endParaRPr lang="en-US" altLang="zh-CN" sz="3200" b="1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Clr>
                <a:schemeClr val="tx2"/>
              </a:buClr>
              <a:buSzPct val="75000"/>
              <a:buNone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</a:t>
            </a:r>
            <a:r>
              <a:rPr lang="zh-CN" altLang="en-US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   </a:t>
            </a:r>
            <a:r>
              <a:rPr lang="zh-CN" altLang="en-US" sz="32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核磁共振</a:t>
            </a: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氢</a:t>
            </a:r>
            <a:r>
              <a:rPr lang="zh-CN" altLang="en-US" sz="32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谱</a:t>
            </a:r>
            <a:endParaRPr lang="en-US" altLang="zh-CN" sz="3200" b="1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Clr>
                <a:schemeClr val="tx2"/>
              </a:buClr>
              <a:buSzPct val="75000"/>
              <a:buNone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</a:t>
            </a:r>
            <a:r>
              <a:rPr lang="zh-CN" altLang="en-US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  </a:t>
            </a:r>
            <a:r>
              <a:rPr lang="zh-CN" altLang="en-US" sz="32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核磁共振</a:t>
            </a: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碳</a:t>
            </a:r>
            <a:r>
              <a:rPr lang="zh-CN" altLang="en-US" sz="32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谱</a:t>
            </a:r>
            <a:endParaRPr lang="en-US" altLang="zh-CN" sz="3200" b="1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Clr>
                <a:schemeClr val="tx2"/>
              </a:buClr>
              <a:buSzPct val="75000"/>
              <a:buNone/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</a:t>
            </a:r>
            <a:r>
              <a:rPr lang="zh-CN" altLang="en-US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   </a:t>
            </a:r>
            <a:r>
              <a:rPr lang="zh-CN" altLang="en-US" sz="32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二维核磁共振波谱</a:t>
            </a:r>
            <a:endParaRPr lang="en-US" altLang="zh-CN" sz="3200" b="1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2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5123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3</a:t>
            </a:fld>
            <a:endParaRPr lang="en-US" altLang="zh-CN" sz="1000" dirty="0"/>
          </a:p>
        </p:txBody>
      </p:sp>
      <p:sp>
        <p:nvSpPr>
          <p:cNvPr id="2" name="矩形 1"/>
          <p:cNvSpPr/>
          <p:nvPr/>
        </p:nvSpPr>
        <p:spPr>
          <a:xfrm>
            <a:off x="3059832" y="267494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核磁共振波谱</a:t>
            </a:r>
            <a:endParaRPr lang="zh-CN" altLang="en-US" sz="3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/>
          </p:cNvSpPr>
          <p:nvPr>
            <p:ph type="title"/>
          </p:nvPr>
        </p:nvSpPr>
        <p:spPr>
          <a:xfrm>
            <a:off x="539552" y="267494"/>
            <a:ext cx="8064896" cy="64770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r>
              <a:rPr lang="zh-CN" altLang="en-US" sz="3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   核磁共振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波谱的基本原理</a:t>
            </a:r>
          </a:p>
        </p:txBody>
      </p:sp>
      <p:sp>
        <p:nvSpPr>
          <p:cNvPr id="7173" name="Rectangle 3"/>
          <p:cNvSpPr>
            <a:spLocks noGrp="1"/>
          </p:cNvSpPr>
          <p:nvPr>
            <p:ph idx="1"/>
          </p:nvPr>
        </p:nvSpPr>
        <p:spPr>
          <a:xfrm>
            <a:off x="1763713" y="1383506"/>
            <a:ext cx="6553200" cy="2914650"/>
          </a:xfrm>
        </p:spPr>
        <p:txBody>
          <a:bodyPr vert="horz" wrap="square" lIns="91440" tIns="45720" rIns="91440" bIns="45720" anchor="t"/>
          <a:lstStyle/>
          <a:p>
            <a:pPr marL="0" indent="0" algn="just" eaLnBrk="1" hangingPunct="1">
              <a:buClr>
                <a:schemeClr val="tx2"/>
              </a:buClr>
              <a:buSzPct val="75000"/>
              <a:buNone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核磁共振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现象的产生</a:t>
            </a:r>
          </a:p>
          <a:p>
            <a:pPr algn="just" eaLnBrk="1" hangingPunct="1">
              <a:buSzPct val="75000"/>
              <a:buFont typeface="Wingdings" panose="05000000000000000000" charset="0"/>
              <a:buChar char="u"/>
            </a:pP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buClr>
                <a:schemeClr val="tx2"/>
              </a:buClr>
              <a:buSzPct val="75000"/>
              <a:buNone/>
            </a:pPr>
            <a:r>
              <a:rPr lang="zh-CN" altLang="en-US" sz="32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二、化学位移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buSzPct val="75000"/>
              <a:buFont typeface="Wingdings" panose="05000000000000000000" charset="0"/>
              <a:buChar char="u"/>
            </a:pP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 eaLnBrk="1" hangingPunct="1">
              <a:buClr>
                <a:schemeClr val="tx2"/>
              </a:buClr>
              <a:buSzPct val="75000"/>
              <a:buNone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三、</a:t>
            </a:r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自旋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－自旋耦合</a:t>
            </a:r>
          </a:p>
          <a:p>
            <a:pPr eaLnBrk="1" hangingPunct="1"/>
            <a:endParaRPr lang="en-US" altLang="zh-CN" sz="3400" b="1" dirty="0">
              <a:ea typeface="楷体_GB2312" pitchFamily="49" charset="-122"/>
            </a:endParaRPr>
          </a:p>
        </p:txBody>
      </p:sp>
      <p:sp>
        <p:nvSpPr>
          <p:cNvPr id="7170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7171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4</a:t>
            </a:fld>
            <a:endParaRPr lang="en-US" altLang="zh-CN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/>
          </p:cNvSpPr>
          <p:nvPr>
            <p:ph type="title"/>
          </p:nvPr>
        </p:nvSpPr>
        <p:spPr>
          <a:xfrm>
            <a:off x="1568255" y="-164554"/>
            <a:ext cx="6332610" cy="857250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3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一、核磁共振</a:t>
            </a:r>
            <a:r>
              <a:rPr lang="zh-CN" altLang="en-US" sz="3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现象的产生</a:t>
            </a:r>
          </a:p>
        </p:txBody>
      </p:sp>
      <p:sp>
        <p:nvSpPr>
          <p:cNvPr id="8197" name="Rectangle 3"/>
          <p:cNvSpPr>
            <a:spLocks noGrp="1"/>
          </p:cNvSpPr>
          <p:nvPr>
            <p:ph type="body" sz="half" idx="1"/>
          </p:nvPr>
        </p:nvSpPr>
        <p:spPr>
          <a:xfrm>
            <a:off x="0" y="831557"/>
            <a:ext cx="8686800" cy="431483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原子核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的基本属性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200" b="1" dirty="0">
                <a:ea typeface="楷体_GB2312" pitchFamily="49" charset="-122"/>
              </a:rPr>
              <a:t>　　　　　　</a:t>
            </a:r>
          </a:p>
        </p:txBody>
      </p:sp>
      <p:graphicFrame>
        <p:nvGraphicFramePr>
          <p:cNvPr id="149508" name="Group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61204866"/>
              </p:ext>
            </p:extLst>
          </p:nvPr>
        </p:nvGraphicFramePr>
        <p:xfrm>
          <a:off x="327978" y="2858060"/>
          <a:ext cx="8640762" cy="1846935"/>
        </p:xfrm>
        <a:graphic>
          <a:graphicData uri="http://schemas.openxmlformats.org/drawingml/2006/table">
            <a:tbl>
              <a:tblPr/>
              <a:tblGrid>
                <a:gridCol w="11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4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质量数</a:t>
                      </a:r>
                    </a:p>
                  </a:txBody>
                  <a:tcPr marT="34291" marB="34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质子数</a:t>
                      </a:r>
                    </a:p>
                  </a:txBody>
                  <a:tcPr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中子数</a:t>
                      </a:r>
                    </a:p>
                  </a:txBody>
                  <a:tcPr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自旋量子数</a:t>
                      </a: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I</a:t>
                      </a:r>
                    </a:p>
                  </a:txBody>
                  <a:tcPr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典型核</a:t>
                      </a:r>
                    </a:p>
                  </a:txBody>
                  <a:tcPr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偶数</a:t>
                      </a:r>
                    </a:p>
                  </a:txBody>
                  <a:tcPr marT="34291" marB="34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偶数</a:t>
                      </a:r>
                    </a:p>
                  </a:txBody>
                  <a:tcPr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偶数</a:t>
                      </a:r>
                    </a:p>
                  </a:txBody>
                  <a:tcPr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０</a:t>
                      </a:r>
                    </a:p>
                  </a:txBody>
                  <a:tcPr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12</a:t>
                      </a: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C, </a:t>
                      </a:r>
                      <a:r>
                        <a:rPr kumimoji="0" lang="en-US" altLang="zh-CN" sz="17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16</a:t>
                      </a: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O</a:t>
                      </a:r>
                    </a:p>
                  </a:txBody>
                  <a:tcPr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2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偶数</a:t>
                      </a:r>
                    </a:p>
                  </a:txBody>
                  <a:tcPr marT="34291" marB="34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奇数</a:t>
                      </a:r>
                    </a:p>
                  </a:txBody>
                  <a:tcPr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奇数</a:t>
                      </a:r>
                    </a:p>
                  </a:txBody>
                  <a:tcPr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n/2(n=2,4,</a:t>
                      </a:r>
                      <a:r>
                        <a:rPr kumimoji="0" lang="en-US" altLang="zh-CN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楷体_GB2312" pitchFamily="49" charset="-122"/>
                        </a:rPr>
                        <a:t>…</a:t>
                      </a:r>
                      <a:r>
                        <a:rPr kumimoji="0" lang="en-US" altLang="zh-CN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)</a:t>
                      </a:r>
                    </a:p>
                  </a:txBody>
                  <a:tcPr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H,</a:t>
                      </a:r>
                      <a:r>
                        <a:rPr kumimoji="0" lang="en-US" altLang="zh-CN" sz="17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14</a:t>
                      </a: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N</a:t>
                      </a:r>
                    </a:p>
                  </a:txBody>
                  <a:tcPr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奇数</a:t>
                      </a:r>
                    </a:p>
                  </a:txBody>
                  <a:tcPr marT="34291" marB="3429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偶数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奇数</a:t>
                      </a:r>
                    </a:p>
                  </a:txBody>
                  <a:tcPr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奇数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偶数</a:t>
                      </a:r>
                    </a:p>
                  </a:txBody>
                  <a:tcPr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n/2(n=1,3,5</a:t>
                      </a: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/>
                          <a:ea typeface="楷体_GB2312" pitchFamily="49" charset="-122"/>
                        </a:rPr>
                        <a:t>…</a:t>
                      </a: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  <a:r>
                        <a:rPr kumimoji="0" lang="en-US" altLang="zh-CN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H,</a:t>
                      </a:r>
                      <a:r>
                        <a:rPr kumimoji="0" lang="en-US" altLang="zh-CN" sz="17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13</a:t>
                      </a:r>
                      <a:r>
                        <a:rPr kumimoji="0" lang="en-US" altLang="zh-CN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C,</a:t>
                      </a:r>
                      <a:r>
                        <a:rPr kumimoji="0" lang="en-US" altLang="zh-CN" sz="17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19</a:t>
                      </a:r>
                      <a:r>
                        <a:rPr kumimoji="0" lang="en-US" altLang="zh-CN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F,</a:t>
                      </a:r>
                      <a:r>
                        <a:rPr kumimoji="0" lang="en-US" altLang="zh-CN" sz="17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31</a:t>
                      </a:r>
                      <a:r>
                        <a:rPr kumimoji="0" lang="en-US" altLang="zh-CN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P,</a:t>
                      </a:r>
                      <a:r>
                        <a:rPr kumimoji="0" lang="en-US" altLang="zh-CN" sz="17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15</a:t>
                      </a:r>
                      <a:r>
                        <a:rPr kumimoji="0" lang="en-US" altLang="zh-CN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N</a:t>
                      </a:r>
                    </a:p>
                  </a:txBody>
                  <a:tcPr marT="34291" marB="3429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194" name="日期占位符 4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8195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5</a:t>
            </a:fld>
            <a:endParaRPr lang="en-US" altLang="zh-CN" sz="1000" dirty="0"/>
          </a:p>
        </p:txBody>
      </p:sp>
      <p:sp>
        <p:nvSpPr>
          <p:cNvPr id="8230" name="矩形 1"/>
          <p:cNvSpPr/>
          <p:nvPr/>
        </p:nvSpPr>
        <p:spPr>
          <a:xfrm>
            <a:off x="2682920" y="2304201"/>
            <a:ext cx="3877985" cy="4247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表１　各种核的自旋量子数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38125" y="1272540"/>
            <a:ext cx="8992870" cy="13111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）原子核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的自旋</a:t>
            </a:r>
            <a:r>
              <a:rPr lang="zh-CN" altLang="en-US" sz="2800" b="1" dirty="0">
                <a:solidFill>
                  <a:srgbClr val="C00000"/>
                </a:solidFill>
                <a:latin typeface="+mn-lt"/>
                <a:ea typeface="楷体_GB2312" pitchFamily="49" charset="-122"/>
                <a:sym typeface="+mn-ea"/>
              </a:rPr>
              <a:t>　</a:t>
            </a:r>
            <a:r>
              <a:rPr lang="zh-CN" altLang="en-US" sz="2200" b="1" dirty="0">
                <a:latin typeface="+mn-lt"/>
                <a:ea typeface="楷体_GB2312" pitchFamily="49" charset="-122"/>
                <a:sym typeface="+mn-ea"/>
              </a:rPr>
              <a:t>　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原子核的自旋运动与自旋量子数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相关，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I=0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的原子核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无自旋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运动；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I≠0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的核有自旋运动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30" grpId="0"/>
      <p:bldP spid="8230" grpId="1"/>
      <p:bldP spid="2" grpId="0"/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idx="1"/>
          </p:nvPr>
        </p:nvSpPr>
        <p:spPr>
          <a:xfrm>
            <a:off x="59055" y="1172944"/>
            <a:ext cx="8715375" cy="1480661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  <a:buSzPct val="75000"/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Ｉ＝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1/2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的原子核：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13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31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</a:p>
          <a:p>
            <a:pPr eaLnBrk="1" hangingPunct="1">
              <a:lnSpc>
                <a:spcPct val="140000"/>
              </a:lnSpc>
              <a:buFontTx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电荷均匀分布于原子核表面，是核磁共振研究的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主要对象；</a:t>
            </a:r>
          </a:p>
        </p:txBody>
      </p:sp>
      <p:sp>
        <p:nvSpPr>
          <p:cNvPr id="9219" name="Rectangle 9"/>
          <p:cNvSpPr/>
          <p:nvPr/>
        </p:nvSpPr>
        <p:spPr>
          <a:xfrm>
            <a:off x="493713" y="588169"/>
            <a:ext cx="5929828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第二、三类原子核分为两种情况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9055" y="3061144"/>
            <a:ext cx="9084945" cy="211750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40000"/>
              </a:lnSpc>
              <a:spcBef>
                <a:spcPct val="20000"/>
              </a:spcBef>
              <a:buClr>
                <a:srgbClr val="0070C0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Ｉ</a:t>
            </a:r>
            <a:r>
              <a:rPr lang="en-US" altLang="zh-CN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1/2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的原子核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40000"/>
              </a:lnSpc>
              <a:spcBef>
                <a:spcPct val="50000"/>
              </a:spcBef>
              <a:buClr>
                <a:schemeClr val="tx2"/>
              </a:buClr>
              <a:buSzPct val="70000"/>
              <a:buFontTx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电荷在原子核表面分布不均匀，共振吸收复杂，研究应用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较少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/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7</a:t>
            </a:fld>
            <a:endParaRPr lang="en-US" altLang="zh-CN" sz="1000" dirty="0"/>
          </a:p>
        </p:txBody>
      </p:sp>
      <p:sp>
        <p:nvSpPr>
          <p:cNvPr id="10244" name="Text Box 2"/>
          <p:cNvSpPr txBox="1"/>
          <p:nvPr/>
        </p:nvSpPr>
        <p:spPr>
          <a:xfrm>
            <a:off x="539751" y="735806"/>
            <a:ext cx="7345363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0245" name="Text Box 3"/>
          <p:cNvSpPr txBox="1"/>
          <p:nvPr/>
        </p:nvSpPr>
        <p:spPr>
          <a:xfrm>
            <a:off x="684213" y="1545431"/>
            <a:ext cx="72009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0246" name="Text Box 4"/>
          <p:cNvSpPr txBox="1"/>
          <p:nvPr/>
        </p:nvSpPr>
        <p:spPr>
          <a:xfrm>
            <a:off x="468313" y="303610"/>
            <a:ext cx="7777162" cy="584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）自旋角动量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</a:p>
        </p:txBody>
      </p:sp>
      <p:sp>
        <p:nvSpPr>
          <p:cNvPr id="150538" name="Text Box 10"/>
          <p:cNvSpPr txBox="1"/>
          <p:nvPr/>
        </p:nvSpPr>
        <p:spPr>
          <a:xfrm>
            <a:off x="323851" y="1720454"/>
            <a:ext cx="8640763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是一个是矢量，在直角坐标系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轴上的分量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由下式决定：</a:t>
            </a:r>
            <a:endParaRPr lang="zh-CN" altLang="en-US" sz="2400" b="1" baseline="-25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0540" name="Text Box 12"/>
          <p:cNvSpPr txBox="1"/>
          <p:nvPr/>
        </p:nvSpPr>
        <p:spPr>
          <a:xfrm>
            <a:off x="1008064" y="3418318"/>
            <a:ext cx="7272337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是原子核的磁量子数，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可取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I,I-1,I-2…-I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共取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2I+1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个不连续的值。</a:t>
            </a:r>
          </a:p>
        </p:txBody>
      </p:sp>
      <p:pic>
        <p:nvPicPr>
          <p:cNvPr id="10249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814" y="981076"/>
            <a:ext cx="2695575" cy="56435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50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340" y="2491264"/>
            <a:ext cx="1606550" cy="5543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51" name="文本框 1"/>
          <p:cNvSpPr txBox="1"/>
          <p:nvPr/>
        </p:nvSpPr>
        <p:spPr>
          <a:xfrm>
            <a:off x="6645275" y="1066800"/>
            <a:ext cx="1066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5-1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0252" name="文本框 2"/>
          <p:cNvSpPr txBox="1"/>
          <p:nvPr/>
        </p:nvSpPr>
        <p:spPr>
          <a:xfrm>
            <a:off x="6818313" y="2608660"/>
            <a:ext cx="1066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5-2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8" grpId="0"/>
      <p:bldP spid="150540" grpId="0"/>
      <p:bldP spid="10251" grpId="0"/>
      <p:bldP spid="102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11267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8</a:t>
            </a:fld>
            <a:endParaRPr lang="en-US" altLang="zh-CN" sz="1000" dirty="0"/>
          </a:p>
        </p:txBody>
      </p:sp>
      <p:sp>
        <p:nvSpPr>
          <p:cNvPr id="11268" name="Text Box 2"/>
          <p:cNvSpPr txBox="1"/>
          <p:nvPr/>
        </p:nvSpPr>
        <p:spPr>
          <a:xfrm>
            <a:off x="539751" y="735806"/>
            <a:ext cx="7345363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269" name="Text Box 3"/>
          <p:cNvSpPr txBox="1"/>
          <p:nvPr/>
        </p:nvSpPr>
        <p:spPr>
          <a:xfrm>
            <a:off x="684213" y="1545431"/>
            <a:ext cx="72009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270" name="Text Box 5"/>
          <p:cNvSpPr txBox="1"/>
          <p:nvPr/>
        </p:nvSpPr>
        <p:spPr>
          <a:xfrm>
            <a:off x="252413" y="166419"/>
            <a:ext cx="7632700" cy="113877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 </a:t>
            </a:r>
            <a:r>
              <a:rPr lang="zh-CN" altLang="en-US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原子核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的磁矩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</a:t>
            </a: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　　　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271" name="Text Box 9"/>
          <p:cNvSpPr txBox="1"/>
          <p:nvPr/>
        </p:nvSpPr>
        <p:spPr>
          <a:xfrm>
            <a:off x="2111059" y="2007096"/>
            <a:ext cx="5399087" cy="10156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4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是朗德因子；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为核所带的电荷数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为核的质量；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µ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为核磁子</a:t>
            </a:r>
            <a:endParaRPr lang="zh-CN" altLang="en-US" sz="2400" baseline="-25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7642" name="Text Box 10"/>
          <p:cNvSpPr txBox="1"/>
          <p:nvPr/>
        </p:nvSpPr>
        <p:spPr>
          <a:xfrm>
            <a:off x="695960" y="3145632"/>
            <a:ext cx="7476490" cy="95410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μ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是一个是矢量，在直角坐标系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轴上的分量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μ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由下式决定：</a:t>
            </a:r>
          </a:p>
        </p:txBody>
      </p:sp>
      <p:pic>
        <p:nvPicPr>
          <p:cNvPr id="11273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2" y="959672"/>
            <a:ext cx="7162800" cy="691039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4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3350" y="4125278"/>
            <a:ext cx="3078480" cy="35290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5" name="文本框 2"/>
          <p:cNvSpPr txBox="1"/>
          <p:nvPr/>
        </p:nvSpPr>
        <p:spPr>
          <a:xfrm>
            <a:off x="7988300" y="1247775"/>
            <a:ext cx="1068388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5-3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1276" name="文本框 3"/>
          <p:cNvSpPr txBox="1"/>
          <p:nvPr/>
        </p:nvSpPr>
        <p:spPr>
          <a:xfrm>
            <a:off x="7620000" y="4086225"/>
            <a:ext cx="1066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5-4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1" grpId="0"/>
      <p:bldP spid="197642" grpId="1"/>
      <p:bldP spid="197642" grpId="2"/>
      <p:bldP spid="11275" grpId="0"/>
      <p:bldP spid="1127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12291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9</a:t>
            </a:fld>
            <a:endParaRPr lang="en-US" altLang="zh-CN" sz="1000" dirty="0"/>
          </a:p>
        </p:txBody>
      </p:sp>
      <p:sp>
        <p:nvSpPr>
          <p:cNvPr id="12292" name="Text Box 2"/>
          <p:cNvSpPr txBox="1"/>
          <p:nvPr/>
        </p:nvSpPr>
        <p:spPr>
          <a:xfrm>
            <a:off x="539751" y="735806"/>
            <a:ext cx="7345363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293" name="Text Box 3"/>
          <p:cNvSpPr txBox="1"/>
          <p:nvPr/>
        </p:nvSpPr>
        <p:spPr>
          <a:xfrm>
            <a:off x="684213" y="1545431"/>
            <a:ext cx="7200900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294" name="Text Box 8"/>
          <p:cNvSpPr txBox="1"/>
          <p:nvPr/>
        </p:nvSpPr>
        <p:spPr>
          <a:xfrm>
            <a:off x="812449" y="852933"/>
            <a:ext cx="7777163" cy="13849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　　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原子核的旋磁比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γ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μ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为一常数，是原子核的基本属性，与核的质量、所带电荷以及朗得因子有关。</a:t>
            </a:r>
          </a:p>
        </p:txBody>
      </p:sp>
      <p:sp>
        <p:nvSpPr>
          <p:cNvPr id="12295" name="Text Box 9"/>
          <p:cNvSpPr txBox="1"/>
          <p:nvPr/>
        </p:nvSpPr>
        <p:spPr>
          <a:xfrm>
            <a:off x="404179" y="183415"/>
            <a:ext cx="7632700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4) </a:t>
            </a:r>
            <a:r>
              <a:rPr lang="zh-CN" altLang="en-US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原子核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的旋磁比</a:t>
            </a:r>
            <a:r>
              <a:rPr lang="en-US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γ</a:t>
            </a:r>
            <a:r>
              <a:rPr lang="zh-CN" altLang="en-US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　　</a:t>
            </a:r>
          </a:p>
        </p:txBody>
      </p:sp>
      <p:sp>
        <p:nvSpPr>
          <p:cNvPr id="12296" name="Text Box 4"/>
          <p:cNvSpPr txBox="1"/>
          <p:nvPr/>
        </p:nvSpPr>
        <p:spPr>
          <a:xfrm>
            <a:off x="1820863" y="3380423"/>
            <a:ext cx="6280150" cy="164352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b="1" baseline="30000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400" b="1" baseline="300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1</a:t>
            </a:r>
            <a:r>
              <a:rPr lang="en-US" altLang="zh-CN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H    </a:t>
            </a:r>
            <a:r>
              <a:rPr lang="en-US" altLang="zh-CN" sz="2400" b="1" i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</a:t>
            </a:r>
            <a:r>
              <a:rPr lang="en-US" altLang="zh-CN" sz="2400" b="1" i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26.752×10</a:t>
            </a:r>
            <a:r>
              <a:rPr lang="en-US" altLang="zh-CN" sz="2400" b="1" baseline="300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7 </a:t>
            </a:r>
            <a:r>
              <a:rPr lang="en-US" altLang="zh-CN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en-US" altLang="zh-CN" sz="2400" b="1" baseline="300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-1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·</a:t>
            </a:r>
            <a:r>
              <a:rPr lang="en-US" altLang="zh-CN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300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-1  </a:t>
            </a:r>
          </a:p>
          <a:p>
            <a:pPr>
              <a:lnSpc>
                <a:spcPct val="140000"/>
              </a:lnSpc>
            </a:pPr>
            <a:r>
              <a:rPr lang="en-US" altLang="zh-CN" sz="2400" b="1" baseline="300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  13</a:t>
            </a:r>
            <a:r>
              <a:rPr lang="en-US" altLang="zh-CN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C   </a:t>
            </a:r>
            <a:r>
              <a:rPr lang="en-US" altLang="zh-CN" sz="2400" b="1" i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 </a:t>
            </a:r>
            <a:r>
              <a:rPr lang="zh-CN" altLang="en-US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6.728×10</a:t>
            </a:r>
            <a:r>
              <a:rPr lang="en-US" altLang="zh-CN" sz="2400" b="1" baseline="300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7 </a:t>
            </a:r>
            <a:r>
              <a:rPr lang="en-US" altLang="zh-CN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T</a:t>
            </a:r>
            <a:r>
              <a:rPr lang="en-US" altLang="zh-CN" sz="2400" b="1" baseline="300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-1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·</a:t>
            </a:r>
            <a:r>
              <a:rPr lang="en-US" altLang="zh-CN" sz="24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300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-1</a:t>
            </a:r>
            <a:endParaRPr lang="en-US" altLang="zh-CN" sz="2400" b="1" dirty="0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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特斯拉，磁场强度的单位，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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</a:t>
            </a:r>
            <a:r>
              <a:rPr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sp>
        <p:nvSpPr>
          <p:cNvPr id="2" name="矩形 1"/>
          <p:cNvSpPr/>
          <p:nvPr/>
        </p:nvSpPr>
        <p:spPr>
          <a:xfrm>
            <a:off x="401956" y="2665334"/>
            <a:ext cx="8569325" cy="9541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不同的原子核的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γ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不同，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γ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越大，核的磁性越强，在核磁共振中越容易检测。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10</a:t>
            </a:fld>
            <a:endParaRPr lang="en-US" altLang="zh-CN" sz="1000" dirty="0"/>
          </a:p>
        </p:txBody>
      </p:sp>
      <p:sp>
        <p:nvSpPr>
          <p:cNvPr id="13316" name="Text Box 2"/>
          <p:cNvSpPr txBox="1"/>
          <p:nvPr/>
        </p:nvSpPr>
        <p:spPr>
          <a:xfrm>
            <a:off x="306070" y="198121"/>
            <a:ext cx="8380730" cy="178510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磁性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核在外磁场中（</a:t>
            </a:r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3200" b="1" baseline="-25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中的行为</a:t>
            </a: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　　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I≠0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的磁性核处于外磁场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中产生以下现象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sz="2800" b="1" baseline="-25000" dirty="0">
              <a:latin typeface="楷体_GB2312" pitchFamily="49" charset="-122"/>
              <a:ea typeface="楷体_GB2312" pitchFamily="49" charset="-122"/>
            </a:endParaRPr>
          </a:p>
          <a:p>
            <a:pPr lvl="1" eaLnBrk="1" hangingPunct="1">
              <a:spcBef>
                <a:spcPct val="50000"/>
              </a:spcBef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317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054" y="3874294"/>
            <a:ext cx="2508885" cy="5562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8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9" y="3114829"/>
            <a:ext cx="4067175" cy="190142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6" name="文本框 3"/>
          <p:cNvSpPr txBox="1"/>
          <p:nvPr/>
        </p:nvSpPr>
        <p:spPr>
          <a:xfrm>
            <a:off x="7647482" y="3874294"/>
            <a:ext cx="1066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5-5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0025" y="1446996"/>
            <a:ext cx="7953375" cy="1508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 algn="l">
              <a:spcBef>
                <a:spcPct val="50000"/>
              </a:spcBef>
            </a:pPr>
            <a:r>
              <a:rPr lang="en-US" altLang="zh-CN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）原子核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的进动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磁性核受到磁场力的作用围绕外磁场方向作旋转运动，同时保持本身的自转。这种运动方式称为进动或拉摩进动。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838700" y="3072443"/>
            <a:ext cx="2808782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进动频率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表示为：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6" grpId="0"/>
      <p:bldP spid="11276" grpId="1"/>
      <p:bldP spid="2" grpId="0"/>
      <p:bldP spid="3" grpId="0"/>
      <p:bldP spid="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14339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11</a:t>
            </a:fld>
            <a:endParaRPr lang="en-US" altLang="zh-CN" sz="1000" dirty="0"/>
          </a:p>
        </p:txBody>
      </p:sp>
      <p:sp>
        <p:nvSpPr>
          <p:cNvPr id="14340" name="Text Box 2"/>
          <p:cNvSpPr txBox="1"/>
          <p:nvPr/>
        </p:nvSpPr>
        <p:spPr>
          <a:xfrm>
            <a:off x="611189" y="789385"/>
            <a:ext cx="7705725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341" name="Text Box 3"/>
          <p:cNvSpPr txBox="1"/>
          <p:nvPr/>
        </p:nvSpPr>
        <p:spPr>
          <a:xfrm>
            <a:off x="48578" y="173832"/>
            <a:ext cx="8172450" cy="123110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原子核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的取向和能级分裂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　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自旋核在外磁场中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定向排列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取向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800" dirty="0">
              <a:solidFill>
                <a:srgbClr val="FF99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342" name="对象 1"/>
          <p:cNvGraphicFramePr>
            <a:graphicFrameLocks noChangeAspect="1"/>
          </p:cNvGraphicFramePr>
          <p:nvPr/>
        </p:nvGraphicFramePr>
        <p:xfrm>
          <a:off x="7801610" y="866299"/>
          <a:ext cx="1132840" cy="1664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r:id="rId4" imgW="904875" imgH="1952625" progId="ChemWindow.Document">
                  <p:embed/>
                </p:oleObj>
              </mc:Choice>
              <mc:Fallback>
                <p:oleObj r:id="rId4" imgW="904875" imgH="1952625" progId="ChemWindow.Document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801610" y="866299"/>
                        <a:ext cx="1132840" cy="166401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3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4836" y="3060621"/>
            <a:ext cx="4752975" cy="1908572"/>
          </a:xfrm>
          <a:prstGeom prst="rect">
            <a:avLst/>
          </a:prstGeom>
          <a:solidFill>
            <a:srgbClr val="EAEAEA"/>
          </a:solidFill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11506" y="1624489"/>
            <a:ext cx="7046595" cy="1384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核的取向是空间方向量子化的，取决于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磁量子数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的取值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可取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I,I-1,I-2…-I,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共取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2I+1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个不连续的值）。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2" grpId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/>
          </p:cNvSpPr>
          <p:nvPr>
            <p:ph idx="1"/>
          </p:nvPr>
        </p:nvSpPr>
        <p:spPr>
          <a:xfrm>
            <a:off x="248920" y="365760"/>
            <a:ext cx="8243570" cy="547688"/>
          </a:xfrm>
        </p:spPr>
        <p:txBody>
          <a:bodyPr vert="horz" wrap="square" lIns="91440" tIns="45720" rIns="91440" bIns="45720" anchor="t"/>
          <a:lstStyle/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处于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中磁核的能量</a:t>
            </a:r>
            <a:endParaRPr lang="zh-CN" altLang="en-US" sz="28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  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362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15363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12</a:t>
            </a:fld>
            <a:endParaRPr lang="en-US" altLang="zh-CN" sz="1000" dirty="0"/>
          </a:p>
        </p:txBody>
      </p:sp>
      <p:graphicFrame>
        <p:nvGraphicFramePr>
          <p:cNvPr id="15365" name="Object 3"/>
          <p:cNvGraphicFramePr>
            <a:graphicFrameLocks noChangeAspect="1"/>
          </p:cNvGraphicFramePr>
          <p:nvPr/>
        </p:nvGraphicFramePr>
        <p:xfrm>
          <a:off x="739140" y="2269331"/>
          <a:ext cx="7947660" cy="1151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0" r:id="rId4" imgW="2184400" imgH="635000" progId="Equation.3">
                  <p:embed/>
                </p:oleObj>
              </mc:Choice>
              <mc:Fallback>
                <p:oleObj r:id="rId4" imgW="2184400" imgH="6350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39140" y="2269331"/>
                        <a:ext cx="7947660" cy="115157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文本框 3"/>
          <p:cNvSpPr txBox="1"/>
          <p:nvPr/>
        </p:nvSpPr>
        <p:spPr>
          <a:xfrm>
            <a:off x="7939405" y="2376011"/>
            <a:ext cx="1066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5-6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0" y="1005840"/>
            <a:ext cx="8964488" cy="1212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92150" lvl="1" indent="-347980" algn="just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设</a:t>
            </a:r>
            <a:r>
              <a:rPr lang="en-US" altLang="zh-CN" sz="2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8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0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的方向与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Z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轴重合，核磁矩</a:t>
            </a:r>
            <a:r>
              <a:rPr lang="zh-CN" altLang="en-US" sz="2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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与</a:t>
            </a:r>
            <a:r>
              <a:rPr lang="en-US" altLang="zh-CN" sz="2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8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0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间的夹角为</a:t>
            </a:r>
            <a:r>
              <a:rPr lang="en-US" altLang="zh-CN" sz="2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θ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</a:t>
            </a:r>
            <a:endParaRPr lang="zh-CN" altLang="en-US" sz="28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692150" lvl="1" indent="-347980" algn="just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则磁核的能量为：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16387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13</a:t>
            </a:fld>
            <a:endParaRPr lang="en-US" altLang="zh-CN" sz="1000" dirty="0"/>
          </a:p>
        </p:txBody>
      </p:sp>
      <p:sp>
        <p:nvSpPr>
          <p:cNvPr id="16388" name="Text Box 2"/>
          <p:cNvSpPr txBox="1"/>
          <p:nvPr/>
        </p:nvSpPr>
        <p:spPr>
          <a:xfrm>
            <a:off x="611189" y="789385"/>
            <a:ext cx="7705725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389" name="Text Box 3"/>
          <p:cNvSpPr txBox="1"/>
          <p:nvPr/>
        </p:nvSpPr>
        <p:spPr>
          <a:xfrm>
            <a:off x="148873" y="185708"/>
            <a:ext cx="839470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现以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I=1/2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的核为例进行讨论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        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2800" b="1" dirty="0">
              <a:solidFill>
                <a:srgbClr val="FF99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0772" name="Text Box 4"/>
          <p:cNvSpPr txBox="1"/>
          <p:nvPr/>
        </p:nvSpPr>
        <p:spPr>
          <a:xfrm>
            <a:off x="0" y="2340170"/>
            <a:ext cx="8604250" cy="181588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          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取向为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m=-1/2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的核，磁矩方向与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方向相反，其能量为：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　　 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2800" b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-1/2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=-hmγB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/2π=hγB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/4π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</a:p>
          <a:p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2800" b="1" dirty="0">
                <a:latin typeface="Times New Roman" panose="02020603050405020304" pitchFamily="18" charset="0"/>
              </a:rPr>
              <a:t>             </a:t>
            </a:r>
            <a:endParaRPr lang="en-US" altLang="zh-CN" sz="2800" b="1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0773" name="Text Box 5"/>
          <p:cNvSpPr txBox="1"/>
          <p:nvPr/>
        </p:nvSpPr>
        <p:spPr>
          <a:xfrm>
            <a:off x="259259" y="3795886"/>
            <a:ext cx="8604250" cy="9541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磁核的两种不同取向代表两个不同的能级， 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m=+1/2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，核处于低能级，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m=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－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1/2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，核处于高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能级</a:t>
            </a:r>
            <a:r>
              <a:rPr lang="zh-CN" altLang="en-US" sz="2800" b="1" dirty="0" smtClean="0">
                <a:latin typeface="Times New Roman" panose="02020603050405020304" pitchFamily="18" charset="0"/>
              </a:rPr>
              <a:t>            </a:t>
            </a:r>
            <a:endParaRPr lang="zh-CN" altLang="en-US" sz="2800" b="1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6" name="文本框 3"/>
          <p:cNvSpPr txBox="1"/>
          <p:nvPr/>
        </p:nvSpPr>
        <p:spPr>
          <a:xfrm>
            <a:off x="7161530" y="1598771"/>
            <a:ext cx="1066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5-7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2" name="文本框 3"/>
          <p:cNvSpPr txBox="1"/>
          <p:nvPr/>
        </p:nvSpPr>
        <p:spPr>
          <a:xfrm>
            <a:off x="7250430" y="3151822"/>
            <a:ext cx="1066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5-8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3" name="矩形 2"/>
          <p:cNvSpPr/>
          <p:nvPr/>
        </p:nvSpPr>
        <p:spPr>
          <a:xfrm>
            <a:off x="469653" y="713690"/>
            <a:ext cx="8204695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取向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m=+1/2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的核，磁矩方向与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en-US" altLang="zh-CN" sz="28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方向一致，其能量为</a:t>
            </a: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28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>
              <a:spcBef>
                <a:spcPct val="500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zh-CN" altLang="en-US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＋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1/2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=-hmγB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/2π=-hγB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/4π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2" grpId="0"/>
      <p:bldP spid="160773" grpId="1"/>
      <p:bldP spid="160773" grpId="2"/>
      <p:bldP spid="11276" grpId="0"/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17411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14</a:t>
            </a:fld>
            <a:endParaRPr lang="en-US" altLang="zh-CN" sz="1000" dirty="0"/>
          </a:p>
        </p:txBody>
      </p:sp>
      <p:graphicFrame>
        <p:nvGraphicFramePr>
          <p:cNvPr id="17412" name="Object 3"/>
          <p:cNvGraphicFramePr>
            <a:graphicFrameLocks noChangeAspect="1"/>
          </p:cNvGraphicFramePr>
          <p:nvPr/>
        </p:nvGraphicFramePr>
        <p:xfrm>
          <a:off x="1866583" y="1434466"/>
          <a:ext cx="4686300" cy="888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5" r:id="rId4" imgW="1688465" imgH="393700" progId="Equation.3">
                  <p:embed/>
                </p:oleObj>
              </mc:Choice>
              <mc:Fallback>
                <p:oleObj r:id="rId4" imgW="1688465" imgH="3937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66583" y="1434466"/>
                        <a:ext cx="4686300" cy="888206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4"/>
          <p:cNvSpPr txBox="1"/>
          <p:nvPr/>
        </p:nvSpPr>
        <p:spPr>
          <a:xfrm>
            <a:off x="695325" y="2681764"/>
            <a:ext cx="8121650" cy="107721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     </a:t>
            </a:r>
            <a:r>
              <a:rPr lang="en-US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E</a:t>
            </a:r>
            <a:r>
              <a:rPr lang="zh-CN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sz="3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3200" b="1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zh-CN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成正比，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lang="en-US" altLang="zh-CN" sz="3200" b="1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3200" b="1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32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为零时，两个能级是简并的。</a:t>
            </a:r>
          </a:p>
        </p:txBody>
      </p:sp>
      <p:sp>
        <p:nvSpPr>
          <p:cNvPr id="11276" name="文本框 3"/>
          <p:cNvSpPr txBox="1"/>
          <p:nvPr/>
        </p:nvSpPr>
        <p:spPr>
          <a:xfrm>
            <a:off x="7300595" y="1757839"/>
            <a:ext cx="1066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5-8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1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18435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15</a:t>
            </a:fld>
            <a:endParaRPr lang="en-US" altLang="zh-CN" sz="1000" dirty="0"/>
          </a:p>
        </p:txBody>
      </p:sp>
      <p:sp>
        <p:nvSpPr>
          <p:cNvPr id="18436" name="Text Box 5"/>
          <p:cNvSpPr txBox="1"/>
          <p:nvPr/>
        </p:nvSpPr>
        <p:spPr>
          <a:xfrm>
            <a:off x="728664" y="162164"/>
            <a:ext cx="7488237" cy="584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en-US" altLang="zh-CN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核磁共振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产生的</a:t>
            </a: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437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5" y="3038952"/>
            <a:ext cx="4193540" cy="175307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8" name="矩形 1"/>
          <p:cNvSpPr/>
          <p:nvPr/>
        </p:nvSpPr>
        <p:spPr>
          <a:xfrm>
            <a:off x="4983798" y="2924175"/>
            <a:ext cx="2954655" cy="10156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被吸收的电磁波频率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v=⊿E/h=γB</a:t>
            </a:r>
            <a:r>
              <a:rPr lang="en-US" altLang="zh-CN" sz="24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/2π</a:t>
            </a:r>
          </a:p>
        </p:txBody>
      </p:sp>
      <p:sp>
        <p:nvSpPr>
          <p:cNvPr id="11276" name="文本框 3"/>
          <p:cNvSpPr txBox="1"/>
          <p:nvPr/>
        </p:nvSpPr>
        <p:spPr>
          <a:xfrm>
            <a:off x="7910195" y="3293745"/>
            <a:ext cx="1066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5-9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2" name="矩形 1"/>
          <p:cNvSpPr/>
          <p:nvPr/>
        </p:nvSpPr>
        <p:spPr>
          <a:xfrm>
            <a:off x="877888" y="735546"/>
            <a:ext cx="7544003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spcBef>
                <a:spcPct val="50000"/>
              </a:spcBef>
            </a:pP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原子核</a:t>
            </a:r>
            <a:r>
              <a:rPr lang="en-US" alt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自旋量子数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0" eaLnBrk="0" hangingPunct="0"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b.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外磁场   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简并的能级分裂为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2I+1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个能级，核磁能级跃迁选律为⊿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 =±1,m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为磁量子数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0" eaLnBrk="0" hangingPunct="0"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c.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电磁波    电磁波能量等于相邻磁能级的能量差</a:t>
            </a:r>
          </a:p>
          <a:p>
            <a:pPr lvl="0" eaLnBrk="0" hangingPunct="0">
              <a:spcBef>
                <a:spcPct val="50000"/>
              </a:spcBef>
            </a:pP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/>
      <p:bldP spid="11276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idx="1"/>
          </p:nvPr>
        </p:nvSpPr>
        <p:spPr>
          <a:xfrm>
            <a:off x="163195" y="364509"/>
            <a:ext cx="8280400" cy="839089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sng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讨论共振条件</a:t>
            </a:r>
            <a:r>
              <a:rPr kumimoji="0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：</a:t>
            </a:r>
            <a:endParaRPr kumimoji="0" lang="zh-CN" alt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Tx/>
              <a:buNone/>
              <a:defRPr/>
            </a:pPr>
            <a:endParaRPr kumimoji="0" lang="en-US" altLang="zh-CN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9460" name="Rectangle 6"/>
          <p:cNvSpPr/>
          <p:nvPr/>
        </p:nvSpPr>
        <p:spPr>
          <a:xfrm>
            <a:off x="250826" y="2927509"/>
            <a:ext cx="8974455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Clr>
                <a:schemeClr val="tx2"/>
              </a:buClr>
              <a:buSzPct val="75000"/>
              <a:buFont typeface="Wingdings" panose="05000000000000000000" charset="0"/>
              <a:buChar char="u"/>
            </a:pP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不同原子核</a:t>
            </a:r>
            <a:r>
              <a:rPr lang="en-US" altLang="zh-CN" sz="2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γ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不同，相同磁场强度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800" i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共振频率</a:t>
            </a:r>
            <a:r>
              <a:rPr lang="zh-CN" altLang="en-US" sz="2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不同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如：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aseline="-25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= 2.35T, 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</a:t>
            </a:r>
            <a:r>
              <a:rPr lang="en-US" altLang="zh-CN" sz="2400" baseline="30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H 100MHz, </a:t>
            </a:r>
            <a:r>
              <a:rPr lang="en-US" altLang="zh-CN" sz="2400" baseline="300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13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 25 MHz</a:t>
            </a:r>
          </a:p>
        </p:txBody>
      </p:sp>
      <p:sp>
        <p:nvSpPr>
          <p:cNvPr id="19461" name="Rectangle 7"/>
          <p:cNvSpPr/>
          <p:nvPr/>
        </p:nvSpPr>
        <p:spPr>
          <a:xfrm>
            <a:off x="250825" y="1330166"/>
            <a:ext cx="8754110" cy="137883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10000"/>
              </a:lnSpc>
              <a:buClr>
                <a:schemeClr val="tx2"/>
              </a:buClr>
              <a:buSzPct val="75000"/>
              <a:buFont typeface="Wingdings" panose="05000000000000000000" charset="0"/>
              <a:buChar char="u"/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对于同一种核，</a:t>
            </a:r>
            <a:r>
              <a:rPr lang="en-US" altLang="zh-CN" sz="2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γ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为定值，共振频率</a:t>
            </a:r>
            <a:r>
              <a:rPr lang="zh-CN" altLang="en-US" sz="2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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随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发生变化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  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1.41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 共振频率</a:t>
            </a:r>
            <a:r>
              <a:rPr lang="zh-CN" altLang="en-US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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60 MHz 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                  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 2.35 T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  共振频率 </a:t>
            </a:r>
            <a:r>
              <a:rPr lang="zh-CN" altLang="en-US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=100 MHz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3"/>
          <p:cNvSpPr txBox="1"/>
          <p:nvPr/>
        </p:nvSpPr>
        <p:spPr>
          <a:xfrm>
            <a:off x="7376795" y="448151"/>
            <a:ext cx="106680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</a:rPr>
              <a:t>5-9</a:t>
            </a:r>
            <a:r>
              <a:rPr lang="zh-CN" altLang="en-US" sz="2800" b="1" dirty="0" smtClean="0"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779912" y="448151"/>
            <a:ext cx="26773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v=⊿E/h=γB</a:t>
            </a:r>
            <a:r>
              <a:rPr lang="en-US" altLang="zh-CN" sz="28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/2π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1"/>
      <p:bldP spid="19460" grpId="2"/>
      <p:bldP spid="1946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/>
          <p:nvPr/>
        </p:nvSpPr>
        <p:spPr>
          <a:xfrm>
            <a:off x="964704" y="0"/>
            <a:ext cx="6985000" cy="496751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220000"/>
              </a:lnSpc>
            </a:pP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几种常见核磁共振波谱：</a:t>
            </a:r>
          </a:p>
          <a:p>
            <a:pPr>
              <a:lnSpc>
                <a:spcPct val="2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核磁共振氢谱：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 NMR</a:t>
            </a:r>
          </a:p>
          <a:p>
            <a:pPr>
              <a:lnSpc>
                <a:spcPct val="2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核磁共振碳谱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:   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13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 NMR</a:t>
            </a:r>
          </a:p>
          <a:p>
            <a:pPr>
              <a:lnSpc>
                <a:spcPct val="2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核磁共振氟谱：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 NMR</a:t>
            </a:r>
          </a:p>
          <a:p>
            <a:pPr>
              <a:lnSpc>
                <a:spcPct val="22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核磁共振磷谱：</a:t>
            </a:r>
            <a:r>
              <a:rPr lang="en-US" altLang="zh-CN" sz="2800" b="1" baseline="30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31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 NMR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650559" y="209550"/>
            <a:ext cx="3671887" cy="514350"/>
          </a:xfrm>
        </p:spPr>
        <p:txBody>
          <a:bodyPr vert="horz" wrap="square" lIns="91440" tIns="45720" rIns="91440" bIns="45720" anchor="b"/>
          <a:lstStyle/>
          <a:p>
            <a:pPr algn="l" defTabSz="914400" eaLnBrk="1" hangingPunct="1">
              <a:spcBef>
                <a:spcPct val="50000"/>
              </a:spcBef>
              <a:buClrTx/>
              <a:buSzTx/>
              <a:buFontTx/>
            </a:pPr>
            <a:r>
              <a:rPr lang="en-US" altLang="zh-CN" sz="3200" b="1" kern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 </a:t>
            </a:r>
            <a:r>
              <a:rPr lang="zh-CN" altLang="en-US" sz="3200" b="1" kern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弛豫</a:t>
            </a:r>
            <a:endParaRPr lang="zh-CN" altLang="en-US" sz="3200" b="1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0" y="808435"/>
            <a:ext cx="6553200" cy="1657350"/>
          </a:xfrm>
        </p:spPr>
        <p:txBody>
          <a:bodyPr vert="horz" wrap="square" lIns="91440" tIns="45720" rIns="91440" bIns="45720" anchor="t"/>
          <a:lstStyle/>
          <a:p>
            <a:pPr marL="344170" lvl="1" indent="0" eaLnBrk="1" hangingPunct="1">
              <a:lnSpc>
                <a:spcPct val="150000"/>
              </a:lnSpc>
              <a:buNone/>
            </a:pP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受激吸收和发射同时发生，且有相同的几率。如果高低能级上的粒子数相同，便观察不到净吸收信号。</a:t>
            </a:r>
          </a:p>
        </p:txBody>
      </p:sp>
      <p:grpSp>
        <p:nvGrpSpPr>
          <p:cNvPr id="21508" name="Group 4"/>
          <p:cNvGrpSpPr/>
          <p:nvPr/>
        </p:nvGrpSpPr>
        <p:grpSpPr>
          <a:xfrm>
            <a:off x="6372225" y="951310"/>
            <a:ext cx="2133600" cy="1371600"/>
            <a:chOff x="3840" y="1632"/>
            <a:chExt cx="1344" cy="1152"/>
          </a:xfrm>
        </p:grpSpPr>
        <p:sp>
          <p:nvSpPr>
            <p:cNvPr id="21513" name="Line 5"/>
            <p:cNvSpPr/>
            <p:nvPr/>
          </p:nvSpPr>
          <p:spPr>
            <a:xfrm>
              <a:off x="3840" y="1632"/>
              <a:ext cx="12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4" name="Line 6"/>
            <p:cNvSpPr/>
            <p:nvPr/>
          </p:nvSpPr>
          <p:spPr>
            <a:xfrm>
              <a:off x="3840" y="2784"/>
              <a:ext cx="13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15" name="Line 7"/>
            <p:cNvSpPr/>
            <p:nvPr/>
          </p:nvSpPr>
          <p:spPr>
            <a:xfrm flipV="1">
              <a:off x="4752" y="1632"/>
              <a:ext cx="0" cy="1152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21516" name="Line 8"/>
            <p:cNvSpPr/>
            <p:nvPr/>
          </p:nvSpPr>
          <p:spPr>
            <a:xfrm rot="10782064" flipV="1">
              <a:off x="4224" y="1632"/>
              <a:ext cx="1" cy="1152"/>
            </a:xfrm>
            <a:prstGeom prst="line">
              <a:avLst/>
            </a:prstGeom>
            <a:ln w="28575" cap="flat" cmpd="sng">
              <a:solidFill>
                <a:srgbClr val="CC3300"/>
              </a:solidFill>
              <a:prstDash val="solid"/>
              <a:headEnd type="none" w="med" len="med"/>
              <a:tailEnd type="triangle" w="med" len="lg"/>
            </a:ln>
          </p:spPr>
        </p:sp>
      </p:grpSp>
      <p:grpSp>
        <p:nvGrpSpPr>
          <p:cNvPr id="21509" name="Group 9"/>
          <p:cNvGrpSpPr/>
          <p:nvPr/>
        </p:nvGrpSpPr>
        <p:grpSpPr>
          <a:xfrm>
            <a:off x="1088529" y="2675335"/>
            <a:ext cx="7315200" cy="2071687"/>
            <a:chOff x="644" y="3361"/>
            <a:chExt cx="4608" cy="1740"/>
          </a:xfrm>
        </p:grpSpPr>
        <p:sp>
          <p:nvSpPr>
            <p:cNvPr id="21511" name="Text Box 10"/>
            <p:cNvSpPr txBox="1"/>
            <p:nvPr/>
          </p:nvSpPr>
          <p:spPr>
            <a:xfrm>
              <a:off x="644" y="4093"/>
              <a:ext cx="4608" cy="10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b="1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Boltzmann </a:t>
              </a:r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分布表明，在通常情况下低能级上的粒子数比高能级上的粒子数多。</a:t>
              </a:r>
            </a:p>
          </p:txBody>
        </p:sp>
        <p:graphicFrame>
          <p:nvGraphicFramePr>
            <p:cNvPr id="21512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6478596"/>
                </p:ext>
              </p:extLst>
            </p:nvPr>
          </p:nvGraphicFramePr>
          <p:xfrm>
            <a:off x="1779" y="3361"/>
            <a:ext cx="1536" cy="8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09" r:id="rId4" imgW="698500" imgH="381000" progId="Equation.3">
                    <p:embed/>
                  </p:oleObj>
                </mc:Choice>
                <mc:Fallback>
                  <p:oleObj r:id="rId4" imgW="698500" imgH="3810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779" y="3361"/>
                          <a:ext cx="1536" cy="823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10" name="Rectangle 12"/>
          <p:cNvSpPr/>
          <p:nvPr/>
        </p:nvSpPr>
        <p:spPr>
          <a:xfrm>
            <a:off x="395536" y="2808208"/>
            <a:ext cx="1723549" cy="738664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平衡状态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sp>
        <p:nvSpPr>
          <p:cNvPr id="14" name="文本框 3"/>
          <p:cNvSpPr txBox="1"/>
          <p:nvPr/>
        </p:nvSpPr>
        <p:spPr>
          <a:xfrm>
            <a:off x="6453592" y="2981475"/>
            <a:ext cx="1574792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</a:rPr>
              <a:t>5-10</a:t>
            </a:r>
            <a:r>
              <a:rPr lang="zh-CN" altLang="en-US" sz="2800" b="1" dirty="0" smtClean="0"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01164"/>
              </p:ext>
            </p:extLst>
          </p:nvPr>
        </p:nvGraphicFramePr>
        <p:xfrm>
          <a:off x="262112" y="523220"/>
          <a:ext cx="8580437" cy="994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4" r:id="rId4" imgW="2730500" imgH="457200" progId="Equation.3">
                  <p:embed/>
                </p:oleObj>
              </mc:Choice>
              <mc:Fallback>
                <p:oleObj r:id="rId4" imgW="2730500" imgH="4572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2112" y="523220"/>
                        <a:ext cx="8580437" cy="99417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Text Box 5"/>
          <p:cNvSpPr txBox="1"/>
          <p:nvPr/>
        </p:nvSpPr>
        <p:spPr>
          <a:xfrm>
            <a:off x="262112" y="0"/>
            <a:ext cx="9355385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 MHz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NMR</a:t>
            </a:r>
            <a:r>
              <a:rPr lang="zh-CN" altLang="zh-CN" sz="28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仪器(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0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＝</a:t>
            </a:r>
            <a:r>
              <a:rPr lang="en-US" altLang="zh-CN" sz="28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1.41T</a:t>
            </a:r>
            <a:r>
              <a:rPr lang="zh-CN" altLang="en-US" sz="28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，温度为</a:t>
            </a:r>
            <a:r>
              <a:rPr lang="en-US" altLang="zh-CN" sz="28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300K)</a:t>
            </a:r>
            <a:r>
              <a:rPr lang="zh-CN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62112" y="1787722"/>
            <a:ext cx="8748712" cy="710804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98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400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430" indent="-2921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93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613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33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53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73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</a:t>
            </a:r>
            <a:r>
              <a:rPr kumimoji="0" lang="zh-CN" altLang="en-US" sz="28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在核磁共振条件下，处于低能级的原子核数只占极微的优势。</a:t>
            </a:r>
            <a:endParaRPr kumimoji="0" lang="en-US" altLang="zh-CN" sz="320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2112" y="2815829"/>
            <a:ext cx="8424863" cy="2480679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饱和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在电磁波持续作用下原子核吸收能量不断由低能级跃迁到高能级，这个微弱</a:t>
            </a:r>
            <a:r>
              <a:rPr kumimoji="0" lang="zh-CN" altLang="en-US" sz="28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的优势很快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会消失，最后导致观察不到</a:t>
            </a: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NMR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信号。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3"/>
          <p:cNvSpPr txBox="1"/>
          <p:nvPr/>
        </p:nvSpPr>
        <p:spPr>
          <a:xfrm>
            <a:off x="437853" y="526361"/>
            <a:ext cx="8534400" cy="115807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为了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能持续检测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到核磁共振信号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，必须保持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低能级上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的原子核数目始终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多于高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能级；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31" name="Text Box 4"/>
          <p:cNvSpPr txBox="1"/>
          <p:nvPr/>
        </p:nvSpPr>
        <p:spPr>
          <a:xfrm>
            <a:off x="465709" y="2139702"/>
            <a:ext cx="8604448" cy="23329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能级上的粒子回到低能级的途径：</a:t>
            </a:r>
          </a:p>
          <a:p>
            <a:pPr marL="914400" lvl="1" indent="-457200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自发辐射</a:t>
            </a:r>
            <a:r>
              <a:rPr lang="zh-CN" altLang="en-US" sz="28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自发辐射的几率与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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E</a:t>
            </a:r>
            <a:r>
              <a:rPr lang="zh-CN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成正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比</a:t>
            </a:r>
            <a:r>
              <a:rPr lang="zh-CN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，在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NMR</a:t>
            </a:r>
            <a:r>
              <a:rPr lang="zh-CN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中很</a:t>
            </a:r>
            <a:r>
              <a:rPr lang="zh-CN" altLang="zh-CN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小</a:t>
            </a:r>
            <a:endParaRPr lang="en-US" altLang="zh-CN" sz="28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marL="914400" lvl="1" indent="-457200" eaLnBrk="1" hangingPunct="1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zh-CN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弛豫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 </a:t>
            </a: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粒子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从激发态回到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Boltzmann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平衡的过程</a:t>
            </a:r>
            <a:r>
              <a:rPr lang="zh-CN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</a:t>
            </a:r>
            <a:r>
              <a:rPr lang="zh-CN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 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>
            <a:spLocks noGrp="1"/>
          </p:cNvSpPr>
          <p:nvPr>
            <p:ph idx="1"/>
          </p:nvPr>
        </p:nvSpPr>
        <p:spPr>
          <a:xfrm>
            <a:off x="1691680" y="1707654"/>
            <a:ext cx="4392910" cy="1728731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自旋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晶格弛豫</a:t>
            </a:r>
          </a:p>
          <a:p>
            <a:pPr eaLnBrk="1" hangingPunct="1">
              <a:lnSpc>
                <a:spcPct val="120000"/>
              </a:lnSpc>
              <a:buSzPct val="75000"/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自旋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自旋弛豫</a:t>
            </a:r>
          </a:p>
          <a:p>
            <a:pPr marL="0" indent="0" eaLnBrk="1" hangingPunct="1">
              <a:buNone/>
            </a:pPr>
            <a:endParaRPr lang="en-US" altLang="zh-CN" sz="32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78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24579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21</a:t>
            </a:fld>
            <a:endParaRPr lang="en-US" altLang="zh-CN" sz="1000" dirty="0"/>
          </a:p>
        </p:txBody>
      </p:sp>
      <p:sp>
        <p:nvSpPr>
          <p:cNvPr id="24581" name="Rectangle 4"/>
          <p:cNvSpPr/>
          <p:nvPr/>
        </p:nvSpPr>
        <p:spPr>
          <a:xfrm>
            <a:off x="827089" y="681038"/>
            <a:ext cx="3877985" cy="6331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弛豫</a:t>
            </a:r>
            <a:r>
              <a:rPr lang="zh-CN" altLang="en-US" sz="3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过程分为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两类：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/>
          </p:cNvSpPr>
          <p:nvPr>
            <p:ph type="title"/>
          </p:nvPr>
        </p:nvSpPr>
        <p:spPr>
          <a:xfrm>
            <a:off x="539751" y="195262"/>
            <a:ext cx="7662863" cy="682229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自旋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晶格弛豫</a:t>
            </a:r>
          </a:p>
        </p:txBody>
      </p:sp>
      <p:sp>
        <p:nvSpPr>
          <p:cNvPr id="25605" name="Rectangle 3"/>
          <p:cNvSpPr>
            <a:spLocks noGrp="1"/>
          </p:cNvSpPr>
          <p:nvPr>
            <p:ph idx="1"/>
          </p:nvPr>
        </p:nvSpPr>
        <p:spPr>
          <a:xfrm>
            <a:off x="684214" y="1221581"/>
            <a:ext cx="8459787" cy="1458516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0000"/>
              </a:lnSpc>
              <a:buClr>
                <a:schemeClr val="tx2"/>
              </a:buClr>
              <a:buSzPct val="75000"/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自旋核与周围分子（固体的晶格，液体则是周围的同类分子或溶剂分子）交换能量的过程称为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自旋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晶格弛豫，又称为纵向弛豫。 </a:t>
            </a:r>
          </a:p>
        </p:txBody>
      </p:sp>
      <p:sp>
        <p:nvSpPr>
          <p:cNvPr id="25602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25603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22</a:t>
            </a:fld>
            <a:endParaRPr lang="en-US" altLang="zh-CN" sz="1000" dirty="0"/>
          </a:p>
        </p:txBody>
      </p:sp>
      <p:sp>
        <p:nvSpPr>
          <p:cNvPr id="56324" name="Rectangle 4"/>
          <p:cNvSpPr/>
          <p:nvPr/>
        </p:nvSpPr>
        <p:spPr>
          <a:xfrm>
            <a:off x="684213" y="3003798"/>
            <a:ext cx="8459787" cy="120622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纵向弛豫的结果是高能级的核数目减少，就整个自旋体系来说，总能量下降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build="p"/>
      <p:bldP spid="563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/>
          </p:cNvSpPr>
          <p:nvPr>
            <p:ph type="title"/>
          </p:nvPr>
        </p:nvSpPr>
        <p:spPr>
          <a:xfrm>
            <a:off x="839453" y="357504"/>
            <a:ext cx="7662862" cy="682229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自旋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晶格弛豫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2870615"/>
            <a:ext cx="8496944" cy="1620180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  <a:defRPr/>
            </a:pPr>
            <a:r>
              <a:rPr lang="zh-CN" altLang="en-US" sz="2800" kern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</a:t>
            </a:r>
            <a:r>
              <a:rPr lang="zh-CN" altLang="en-US" sz="2800" kern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液体及气体样品的</a:t>
            </a:r>
            <a:r>
              <a:rPr lang="en-US" altLang="zh-CN" sz="2800" kern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 </a:t>
            </a:r>
            <a:r>
              <a:rPr lang="zh-CN" altLang="en-US" sz="2800" kern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很小，仅几秒钟。固体</a:t>
            </a:r>
            <a:r>
              <a:rPr lang="zh-CN" altLang="en-US" sz="2800" kern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样品</a:t>
            </a:r>
            <a:r>
              <a:rPr lang="en-US" altLang="zh-CN" sz="2800" kern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T1 </a:t>
            </a:r>
            <a:r>
              <a:rPr lang="zh-CN" altLang="en-US" sz="2800" kern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很大，有的甚至需要几小时。因此测定核磁共振谱时一般多采用液体试样</a:t>
            </a:r>
            <a:r>
              <a:rPr lang="zh-CN" altLang="en-US" sz="2800" kern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6626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2662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23</a:t>
            </a:fld>
            <a:endParaRPr lang="en-US" altLang="zh-CN" sz="1000" dirty="0"/>
          </a:p>
        </p:txBody>
      </p:sp>
      <p:sp>
        <p:nvSpPr>
          <p:cNvPr id="2" name="矩形 1"/>
          <p:cNvSpPr/>
          <p:nvPr/>
        </p:nvSpPr>
        <p:spPr>
          <a:xfrm>
            <a:off x="323528" y="1227088"/>
            <a:ext cx="8496944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纵向弛豫过程所经历的时间用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8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表示， 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8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愈小、纵向弛豫过程的效率愈高，愈有利于核磁共振信号的测定。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 build="p"/>
      <p:bldP spid="28677" grpI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/>
          </p:cNvSpPr>
          <p:nvPr>
            <p:ph type="title"/>
          </p:nvPr>
        </p:nvSpPr>
        <p:spPr>
          <a:xfrm>
            <a:off x="682625" y="250032"/>
            <a:ext cx="7742238" cy="489347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自旋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自旋弛豫</a:t>
            </a:r>
          </a:p>
        </p:txBody>
      </p:sp>
      <p:sp>
        <p:nvSpPr>
          <p:cNvPr id="27653" name="Rectangle 3"/>
          <p:cNvSpPr>
            <a:spLocks noGrp="1"/>
          </p:cNvSpPr>
          <p:nvPr>
            <p:ph idx="1"/>
          </p:nvPr>
        </p:nvSpPr>
        <p:spPr>
          <a:xfrm>
            <a:off x="827088" y="1059657"/>
            <a:ext cx="8496300" cy="864394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0000"/>
              </a:lnSpc>
              <a:buClr>
                <a:schemeClr val="tx2"/>
              </a:buClr>
              <a:buSzPct val="75000"/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核与核之间进行能量交换的过程称为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自旋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自旋弛豫，也称为横向弛豫。</a:t>
            </a:r>
          </a:p>
        </p:txBody>
      </p:sp>
      <p:sp>
        <p:nvSpPr>
          <p:cNvPr id="27650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27651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24</a:t>
            </a:fld>
            <a:endParaRPr lang="en-US" altLang="zh-CN" sz="1000" dirty="0"/>
          </a:p>
        </p:txBody>
      </p:sp>
      <p:sp>
        <p:nvSpPr>
          <p:cNvPr id="57349" name="Rectangle 5"/>
          <p:cNvSpPr/>
          <p:nvPr/>
        </p:nvSpPr>
        <p:spPr>
          <a:xfrm>
            <a:off x="755650" y="2168129"/>
            <a:ext cx="8496300" cy="415885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自旋弛豫过程只是完成了同种磁核取向和进动方向的交换，各种能级的核数目不变，系统的总能量不变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对恢复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Boltzmann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平衡没有贡献。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2"/>
          <p:cNvSpPr>
            <a:spLocks noGrp="1"/>
          </p:cNvSpPr>
          <p:nvPr>
            <p:ph type="title"/>
          </p:nvPr>
        </p:nvSpPr>
        <p:spPr>
          <a:xfrm>
            <a:off x="773114" y="519113"/>
            <a:ext cx="7742237" cy="489347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自旋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自旋弛豫</a:t>
            </a:r>
          </a:p>
        </p:txBody>
      </p:sp>
      <p:sp>
        <p:nvSpPr>
          <p:cNvPr id="28674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28675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25</a:t>
            </a:fld>
            <a:endParaRPr lang="en-US" altLang="zh-CN" sz="1000" dirty="0"/>
          </a:p>
        </p:txBody>
      </p:sp>
      <p:sp>
        <p:nvSpPr>
          <p:cNvPr id="28676" name="矩形 5"/>
          <p:cNvSpPr/>
          <p:nvPr/>
        </p:nvSpPr>
        <p:spPr>
          <a:xfrm>
            <a:off x="773113" y="1333024"/>
            <a:ext cx="8208962" cy="197592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8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横向弛豫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过程所需时间以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表示，一般的气体及液体样品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秒左右。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固体及粘度大的液体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试样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很小，只有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-5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-10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-4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秒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/>
          </p:cNvSpPr>
          <p:nvPr>
            <p:ph type="title"/>
          </p:nvPr>
        </p:nvSpPr>
        <p:spPr>
          <a:xfrm>
            <a:off x="539750" y="411957"/>
            <a:ext cx="7543800" cy="559594"/>
          </a:xfrm>
        </p:spPr>
        <p:txBody>
          <a:bodyPr vert="horz" wrap="square" lIns="91440" tIns="45720" rIns="91440" bIns="45720" anchor="b"/>
          <a:lstStyle/>
          <a:p>
            <a:pPr eaLnBrk="1" hangingPunct="1"/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NMR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谱线宽度的因素</a:t>
            </a:r>
          </a:p>
        </p:txBody>
      </p:sp>
      <p:sp>
        <p:nvSpPr>
          <p:cNvPr id="29701" name="Rectangle 3"/>
          <p:cNvSpPr>
            <a:spLocks noGrp="1"/>
          </p:cNvSpPr>
          <p:nvPr>
            <p:ph idx="1"/>
          </p:nvPr>
        </p:nvSpPr>
        <p:spPr>
          <a:xfrm>
            <a:off x="685801" y="1059656"/>
            <a:ext cx="8207375" cy="64389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50000"/>
              </a:lnSpc>
              <a:buClr>
                <a:schemeClr val="tx2"/>
              </a:buClr>
              <a:buSzPct val="75000"/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核在高能级上的平均寿命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取决于横向弛豫时间。</a:t>
            </a:r>
          </a:p>
          <a:p>
            <a:pPr eaLnBrk="1" hangingPunct="1">
              <a:lnSpc>
                <a:spcPct val="150000"/>
              </a:lnSpc>
              <a:buFont typeface="Wingdings" panose="05000000000000000000" charset="0"/>
              <a:buChar char="u"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698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000" dirty="0"/>
              <a:t>19:52</a:t>
            </a:fld>
            <a:endParaRPr lang="zh-CN" altLang="en-US" sz="1000" dirty="0"/>
          </a:p>
        </p:txBody>
      </p:sp>
      <p:sp>
        <p:nvSpPr>
          <p:cNvPr id="29699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000" dirty="0"/>
              <a:t>26</a:t>
            </a:fld>
            <a:endParaRPr lang="en-US" altLang="zh-CN" sz="1000" dirty="0"/>
          </a:p>
        </p:txBody>
      </p:sp>
      <p:sp>
        <p:nvSpPr>
          <p:cNvPr id="2" name="文本框 1"/>
          <p:cNvSpPr txBox="1"/>
          <p:nvPr/>
        </p:nvSpPr>
        <p:spPr>
          <a:xfrm>
            <a:off x="685800" y="2067402"/>
            <a:ext cx="7862570" cy="2031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charset="0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谱线宽度与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成反比，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固体样品的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</a:t>
            </a:r>
            <a:r>
              <a:rPr lang="en-US" altLang="zh-CN" sz="2800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很小，所以谱线很宽。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因此，常规的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NMR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测定，需将固体样品配制成溶液后进行。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 build="p"/>
      <p:bldP spid="2" grpId="1"/>
      <p:bldP spid="2" grpId="2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1440</TotalTime>
  <Words>1479</Words>
  <Application>Microsoft Office PowerPoint</Application>
  <PresentationFormat>全屏显示(16:9)</PresentationFormat>
  <Paragraphs>201</Paragraphs>
  <Slides>26</Slides>
  <Notes>26</Notes>
  <HiddenSlides>0</HiddenSlides>
  <MMClips>0</MMClips>
  <ScaleCrop>false</ScaleCrop>
  <HeadingPairs>
    <vt:vector size="10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26</vt:i4>
      </vt:variant>
      <vt:variant>
        <vt:lpstr>自定义放映</vt:lpstr>
      </vt:variant>
      <vt:variant>
        <vt:i4>3</vt:i4>
      </vt:variant>
    </vt:vector>
  </HeadingPairs>
  <TitlesOfParts>
    <vt:vector size="41" baseType="lpstr">
      <vt:lpstr>楷体_GB2312</vt:lpstr>
      <vt:lpstr>宋体</vt:lpstr>
      <vt:lpstr>微软雅黑</vt:lpstr>
      <vt:lpstr>Arial</vt:lpstr>
      <vt:lpstr>Calibri</vt:lpstr>
      <vt:lpstr>Symbol</vt:lpstr>
      <vt:lpstr>Times New Roman</vt:lpstr>
      <vt:lpstr>Wingdings</vt:lpstr>
      <vt:lpstr>1_Network</vt:lpstr>
      <vt:lpstr>主题3</vt:lpstr>
      <vt:lpstr>ChemWindow.Document</vt:lpstr>
      <vt:lpstr>Equation.3</vt:lpstr>
      <vt:lpstr>核磁共振波谱 </vt:lpstr>
      <vt:lpstr>概 述</vt:lpstr>
      <vt:lpstr>PowerPoint 演示文稿</vt:lpstr>
      <vt:lpstr>第一节   核磁共振波谱的基本原理</vt:lpstr>
      <vt:lpstr>一、核磁共振现象的产生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 弛豫</vt:lpstr>
      <vt:lpstr>PowerPoint 演示文稿</vt:lpstr>
      <vt:lpstr>PowerPoint 演示文稿</vt:lpstr>
      <vt:lpstr>PowerPoint 演示文稿</vt:lpstr>
      <vt:lpstr>自旋-晶格弛豫</vt:lpstr>
      <vt:lpstr>自旋-晶格弛豫</vt:lpstr>
      <vt:lpstr>自旋-自旋弛豫</vt:lpstr>
      <vt:lpstr>自旋-自旋弛豫</vt:lpstr>
      <vt:lpstr>影响NMR谱线宽度的因素</vt:lpstr>
      <vt:lpstr>自定义放映1</vt:lpstr>
      <vt:lpstr>自定义放映2</vt:lpstr>
      <vt:lpstr>自定义放映3</vt:lpstr>
    </vt:vector>
  </TitlesOfParts>
  <Company>ecust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核磁共振波谱</dc:title>
  <dc:creator>csy</dc:creator>
  <cp:lastModifiedBy>Windows 用户</cp:lastModifiedBy>
  <cp:revision>534</cp:revision>
  <dcterms:created xsi:type="dcterms:W3CDTF">2002-10-20T01:24:00Z</dcterms:created>
  <dcterms:modified xsi:type="dcterms:W3CDTF">2021-11-25T11:52:45Z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