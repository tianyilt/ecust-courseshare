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 id="2147483677" r:id="rId2"/>
    <p:sldMasterId id="2147483691" r:id="rId3"/>
  </p:sldMasterIdLst>
  <p:notesMasterIdLst>
    <p:notesMasterId r:id="rId28"/>
  </p:notesMasterIdLst>
  <p:handoutMasterIdLst>
    <p:handoutMasterId r:id="rId29"/>
  </p:handoutMasterIdLst>
  <p:sldIdLst>
    <p:sldId id="371" r:id="rId4"/>
    <p:sldId id="372" r:id="rId5"/>
    <p:sldId id="312" r:id="rId6"/>
    <p:sldId id="313" r:id="rId7"/>
    <p:sldId id="314" r:id="rId8"/>
    <p:sldId id="367" r:id="rId9"/>
    <p:sldId id="370" r:id="rId10"/>
    <p:sldId id="315" r:id="rId11"/>
    <p:sldId id="369" r:id="rId12"/>
    <p:sldId id="317" r:id="rId13"/>
    <p:sldId id="356" r:id="rId14"/>
    <p:sldId id="318" r:id="rId15"/>
    <p:sldId id="319" r:id="rId16"/>
    <p:sldId id="321" r:id="rId17"/>
    <p:sldId id="322" r:id="rId18"/>
    <p:sldId id="323" r:id="rId19"/>
    <p:sldId id="324" r:id="rId20"/>
    <p:sldId id="325" r:id="rId21"/>
    <p:sldId id="326" r:id="rId22"/>
    <p:sldId id="327" r:id="rId23"/>
    <p:sldId id="373" r:id="rId24"/>
    <p:sldId id="374" r:id="rId25"/>
    <p:sldId id="375" r:id="rId26"/>
    <p:sldId id="376" r:id="rId27"/>
  </p:sldIdLst>
  <p:sldSz cx="9144000" cy="5143500" type="screen16x9"/>
  <p:notesSz cx="6791325" cy="9921875"/>
  <p:custShowLst>
    <p:custShow name="自定义放映1" id="0">
      <p:sldLst/>
    </p:custShow>
    <p:custShow name="自定义放映2" id="1">
      <p:sldLst/>
    </p:custShow>
    <p:custShow name="自定义放映3" id="2">
      <p:sldLst/>
    </p:custShow>
  </p:custShow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00"/>
    <a:srgbClr val="DFF8FD"/>
    <a:srgbClr val="C9F3FB"/>
    <a:srgbClr val="B9FFDC"/>
    <a:srgbClr val="D3FBC9"/>
    <a:srgbClr val="9BFFFF"/>
    <a:srgbClr val="A93B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11"/>
    <p:restoredTop sz="51948" autoAdjust="0"/>
  </p:normalViewPr>
  <p:slideViewPr>
    <p:cSldViewPr showGuides="1">
      <p:cViewPr varScale="1">
        <p:scale>
          <a:sx n="78" d="100"/>
          <a:sy n="78" d="100"/>
        </p:scale>
        <p:origin x="2934" y="90"/>
      </p:cViewPr>
      <p:guideLst>
        <p:guide orient="horz" pos="215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9.wmf"/><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t" anchorCtr="0" compatLnSpc="1"/>
          <a:lstStyle>
            <a:lvl1pPr defTabSz="942975">
              <a:defRPr kumimoji="1" sz="1200">
                <a:latin typeface="Times New Roman" panose="02020603050405020304" pitchFamily="18" charset="0"/>
                <a:ea typeface="宋体" panose="02010600030101010101" pitchFamily="2" charset="-122"/>
              </a:defRPr>
            </a:lvl1pPr>
          </a:lstStyle>
          <a:p>
            <a:pPr marL="0" marR="0" lvl="0" indent="0" algn="l"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48100" y="0"/>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t" anchorCtr="0" compatLnSpc="1"/>
          <a:lstStyle>
            <a:lvl1pPr algn="r" defTabSz="942975">
              <a:defRPr kumimoji="1" sz="1200">
                <a:latin typeface="Times New Roman" panose="02020603050405020304" pitchFamily="18" charset="0"/>
                <a:ea typeface="宋体" panose="02010600030101010101" pitchFamily="2" charset="-122"/>
              </a:defRPr>
            </a:lvl1pPr>
          </a:lstStyle>
          <a:p>
            <a:pPr marL="0" marR="0" lvl="0" indent="0" algn="r"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9426575"/>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b" anchorCtr="0" compatLnSpc="1"/>
          <a:lstStyle>
            <a:lvl1pPr defTabSz="942975">
              <a:defRPr kumimoji="1" sz="1200">
                <a:latin typeface="Times New Roman" panose="02020603050405020304" pitchFamily="18" charset="0"/>
                <a:ea typeface="宋体" panose="02010600030101010101" pitchFamily="2" charset="-122"/>
              </a:defRPr>
            </a:lvl1pPr>
          </a:lstStyle>
          <a:p>
            <a:pPr marL="0" marR="0" lvl="0" indent="0" algn="l"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48100" y="9426575"/>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b" anchorCtr="0" compatLnSpc="1"/>
          <a:lstStyle/>
          <a:p>
            <a:pPr lvl="0" algn="r" defTabSz="942975" eaLnBrk="1" hangingPunct="1"/>
            <a:fld id="{9A0DB2DC-4C9A-4742-B13C-FB6460FD3503}" type="slidenum">
              <a:rPr lang="en-US" altLang="zh-CN" sz="1200" dirty="0">
                <a:latin typeface="Times New Roman" panose="02020603050405020304" pitchFamily="18" charset="0"/>
              </a:rPr>
              <a:t>‹#›</a:t>
            </a:fld>
            <a:endParaRPr lang="en-US" altLang="zh-CN" sz="1200" dirty="0">
              <a:latin typeface="Times New Roman" panose="02020603050405020304" pitchFamily="18" charset="0"/>
            </a:endParaRPr>
          </a:p>
        </p:txBody>
      </p:sp>
    </p:spTree>
    <p:extLst>
      <p:ext uri="{BB962C8B-B14F-4D97-AF65-F5344CB8AC3E}">
        <p14:creationId xmlns:p14="http://schemas.microsoft.com/office/powerpoint/2010/main" val="3972364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t" anchorCtr="0" compatLnSpc="1"/>
          <a:lstStyle>
            <a:lvl1pPr defTabSz="942975">
              <a:defRPr kumimoji="1" sz="1200">
                <a:latin typeface="Times New Roman" panose="02020603050405020304" pitchFamily="18" charset="0"/>
                <a:ea typeface="宋体" panose="02010600030101010101" pitchFamily="2" charset="-122"/>
              </a:defRPr>
            </a:lvl1pPr>
          </a:lstStyle>
          <a:p>
            <a:pPr marL="0" marR="0" lvl="0" indent="0" algn="l"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48100" y="0"/>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t" anchorCtr="0" compatLnSpc="1"/>
          <a:lstStyle>
            <a:lvl1pPr algn="r" defTabSz="942975">
              <a:defRPr kumimoji="1" sz="1200">
                <a:latin typeface="Times New Roman" panose="02020603050405020304" pitchFamily="18" charset="0"/>
                <a:ea typeface="宋体" panose="02010600030101010101" pitchFamily="2" charset="-122"/>
              </a:defRPr>
            </a:lvl1pPr>
          </a:lstStyle>
          <a:p>
            <a:pPr marL="0" marR="0" lvl="0" indent="0" algn="r"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300" name="Rectangle 4"/>
          <p:cNvSpPr>
            <a:spLocks noGrp="1" noRot="1" noChangeAspect="1"/>
          </p:cNvSpPr>
          <p:nvPr>
            <p:ph type="sldImg"/>
          </p:nvPr>
        </p:nvSpPr>
        <p:spPr>
          <a:xfrm>
            <a:off x="88900" y="744538"/>
            <a:ext cx="6615113" cy="37211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06463" y="4711700"/>
            <a:ext cx="4978400" cy="4465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9426575"/>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b" anchorCtr="0" compatLnSpc="1"/>
          <a:lstStyle>
            <a:lvl1pPr defTabSz="942975">
              <a:defRPr kumimoji="1" sz="1200">
                <a:latin typeface="Times New Roman" panose="02020603050405020304" pitchFamily="18" charset="0"/>
                <a:ea typeface="宋体" panose="02010600030101010101" pitchFamily="2" charset="-122"/>
              </a:defRPr>
            </a:lvl1pPr>
          </a:lstStyle>
          <a:p>
            <a:pPr marL="0" marR="0" lvl="0" indent="0" algn="l" defTabSz="942975"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48100" y="9426575"/>
            <a:ext cx="2943225"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4348" tIns="47174" rIns="94348" bIns="47174" numCol="1" anchor="b" anchorCtr="0" compatLnSpc="1"/>
          <a:lstStyle/>
          <a:p>
            <a:pPr lvl="0" algn="r" defTabSz="942975" eaLnBrk="1" hangingPunct="1"/>
            <a:fld id="{9A0DB2DC-4C9A-4742-B13C-FB6460FD3503}" type="slidenum">
              <a:rPr lang="en-US" altLang="zh-CN" sz="1200" dirty="0">
                <a:latin typeface="Times New Roman" panose="02020603050405020304" pitchFamily="18" charset="0"/>
              </a:rPr>
              <a:t>‹#›</a:t>
            </a:fld>
            <a:endParaRPr lang="en-US" altLang="zh-CN" sz="1200" dirty="0">
              <a:latin typeface="Times New Roman" panose="02020603050405020304" pitchFamily="18" charset="0"/>
            </a:endParaRPr>
          </a:p>
        </p:txBody>
      </p:sp>
    </p:spTree>
    <p:extLst>
      <p:ext uri="{BB962C8B-B14F-4D97-AF65-F5344CB8AC3E}">
        <p14:creationId xmlns:p14="http://schemas.microsoft.com/office/powerpoint/2010/main" val="307518236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xfrm>
            <a:off x="88900" y="744538"/>
            <a:ext cx="6615113" cy="3721100"/>
          </a:xfrm>
        </p:spPr>
      </p:sp>
      <p:sp>
        <p:nvSpPr>
          <p:cNvPr id="59395" name="文本占位符 2"/>
          <p:cNvSpPr>
            <a:spLocks noGrp="1"/>
          </p:cNvSpPr>
          <p:nvPr>
            <p:ph type="body"/>
          </p:nvPr>
        </p:nvSpPr>
        <p:spPr/>
        <p:txBody>
          <a:bodyPr wrap="square" lIns="94348" tIns="47174" rIns="94348" bIns="47174" anchor="t"/>
          <a:lstStyle/>
          <a:p>
            <a:pPr lvl="0"/>
            <a:endParaRPr kumimoji="0" lang="zh-CN" altLang="zh-CN" sz="1200" b="0" i="0" u="none" strike="noStrike" kern="1200" cap="none" spc="0" normalizeH="0" baseline="0" noProof="0" dirty="0" smtClean="0">
              <a:ln>
                <a:noFill/>
              </a:ln>
              <a:solidFill>
                <a:srgbClr val="000000"/>
              </a:solidFill>
              <a:effectLst/>
              <a:uLnTx/>
              <a:uFillTx/>
              <a:latin typeface="宋体"/>
              <a:ea typeface="宋体" panose="02010600030101010101" pitchFamily="2" charset="-122"/>
              <a:cs typeface="宋体"/>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xfrm>
            <a:off x="88900" y="744538"/>
            <a:ext cx="6615113" cy="3721100"/>
          </a:xfrm>
        </p:spPr>
      </p:sp>
      <p:sp>
        <p:nvSpPr>
          <p:cNvPr id="78851" name="备注占位符 2"/>
          <p:cNvSpPr>
            <a:spLocks noGrp="1"/>
          </p:cNvSpPr>
          <p:nvPr>
            <p:ph type="body"/>
          </p:nvPr>
        </p:nvSpPr>
        <p:spPr/>
        <p:txBody>
          <a:bodyPr wrap="square" lIns="94348" tIns="47174" rIns="94348" bIns="47174" anchor="t"/>
          <a:lstStyle/>
          <a:p>
            <a:pPr lvl="0"/>
            <a:endParaRPr lang="en-US" altLang="zh-CN" sz="1200" b="0" baseline="0" dirty="0" smtClean="0">
              <a:solidFill>
                <a:srgbClr val="000000"/>
              </a:solidFill>
              <a:latin typeface="楷体_GB2312" pitchFamily="49" charset="-122"/>
              <a:ea typeface="楷体_GB2312" pitchFamily="49" charset="-122"/>
            </a:endParaRPr>
          </a:p>
        </p:txBody>
      </p:sp>
      <p:sp>
        <p:nvSpPr>
          <p:cNvPr id="78852"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defTabSz="942975"/>
            <a:fld id="{9A0DB2DC-4C9A-4742-B13C-FB6460FD3503}" type="slidenum">
              <a:rPr lang="en-US" altLang="zh-CN" dirty="0">
                <a:solidFill>
                  <a:prstClr val="black"/>
                </a:solidFill>
              </a:rPr>
              <a:pPr defTabSz="942975"/>
              <a:t>2</a:t>
            </a:fld>
            <a:endParaRPr lang="en-US" altLang="zh-CN"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xfrm>
            <a:off x="88900" y="744538"/>
            <a:ext cx="6615113" cy="3721100"/>
          </a:xfrm>
        </p:spPr>
      </p:sp>
      <p:sp>
        <p:nvSpPr>
          <p:cNvPr id="79875" name="备注占位符 2"/>
          <p:cNvSpPr>
            <a:spLocks noGrp="1"/>
          </p:cNvSpPr>
          <p:nvPr>
            <p:ph type="body"/>
          </p:nvPr>
        </p:nvSpPr>
        <p:spPr/>
        <p:txBody>
          <a:bodyPr wrap="square" lIns="94348" tIns="47174" rIns="94348" bIns="47174" anchor="t"/>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79876"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3</a:t>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xfrm>
            <a:off x="88900" y="744538"/>
            <a:ext cx="6615113" cy="3721100"/>
          </a:xfrm>
        </p:spPr>
      </p:sp>
      <p:sp>
        <p:nvSpPr>
          <p:cNvPr id="80899" name="备注占位符 2"/>
          <p:cNvSpPr>
            <a:spLocks noGrp="1"/>
          </p:cNvSpPr>
          <p:nvPr>
            <p:ph type="body"/>
          </p:nvPr>
        </p:nvSpPr>
        <p:spPr/>
        <p:txBody>
          <a:bodyPr wrap="square" lIns="94348" tIns="47174" rIns="94348" bIns="47174" anchor="t"/>
          <a:lstStyle/>
          <a:p>
            <a:pPr marL="342900" marR="0" lvl="0" indent="-342900" algn="l" defTabSz="914400" rtl="0" eaLnBrk="1" fontAlgn="base" latinLnBrk="0" hangingPunct="1">
              <a:lnSpc>
                <a:spcPct val="120000"/>
              </a:lnSpc>
              <a:spcBef>
                <a:spcPct val="20000"/>
              </a:spcBef>
              <a:spcAft>
                <a:spcPct val="0"/>
              </a:spcAft>
              <a:buClr>
                <a:srgbClr val="330066"/>
              </a:buClr>
              <a:buSzPct val="70000"/>
              <a:buFont typeface="Wingdings" panose="05000000000000000000" pitchFamily="2" charset="2"/>
              <a:buNone/>
              <a:defRPr/>
            </a:pPr>
            <a:r>
              <a:rPr lang="en-US" altLang="zh-CN" dirty="0" smtClean="0"/>
              <a:t> </a:t>
            </a:r>
          </a:p>
        </p:txBody>
      </p:sp>
      <p:sp>
        <p:nvSpPr>
          <p:cNvPr id="80900"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4</a:t>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xfrm>
            <a:off x="88900" y="744538"/>
            <a:ext cx="6615113" cy="3721100"/>
          </a:xfrm>
        </p:spPr>
      </p:sp>
      <p:sp>
        <p:nvSpPr>
          <p:cNvPr id="81923" name="备注占位符 2"/>
          <p:cNvSpPr>
            <a:spLocks noGrp="1"/>
          </p:cNvSpPr>
          <p:nvPr>
            <p:ph type="body"/>
          </p:nvPr>
        </p:nvSpPr>
        <p:spPr/>
        <p:txBody>
          <a:bodyPr wrap="square" lIns="94348" tIns="47174" rIns="94348" bIns="47174" anchor="t"/>
          <a:lstStyle/>
          <a:p>
            <a:pPr lvl="0"/>
            <a:endParaRPr lang="zh-CN" altLang="en-US" dirty="0"/>
          </a:p>
        </p:txBody>
      </p:sp>
      <p:sp>
        <p:nvSpPr>
          <p:cNvPr id="81924"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5</a:t>
            </a:fld>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xfrm>
            <a:off x="88900" y="744538"/>
            <a:ext cx="6615113" cy="3721100"/>
          </a:xfrm>
        </p:spPr>
      </p:sp>
      <p:sp>
        <p:nvSpPr>
          <p:cNvPr id="82947" name="备注占位符 2"/>
          <p:cNvSpPr>
            <a:spLocks noGrp="1"/>
          </p:cNvSpPr>
          <p:nvPr>
            <p:ph type="body"/>
          </p:nvPr>
        </p:nvSpPr>
        <p:spPr/>
        <p:txBody>
          <a:bodyPr wrap="square" lIns="94348" tIns="47174" rIns="94348" bIns="47174" anchor="t"/>
          <a:lstStyle/>
          <a:p>
            <a:pPr marL="457200" marR="0" lvl="1" indent="0" algn="l" defTabSz="914400" rtl="0" eaLnBrk="1" fontAlgn="base" latinLnBrk="0" hangingPunct="1">
              <a:lnSpc>
                <a:spcPct val="140000"/>
              </a:lnSpc>
              <a:spcBef>
                <a:spcPct val="0"/>
              </a:spcBef>
              <a:spcAft>
                <a:spcPct val="0"/>
              </a:spcAft>
              <a:buClrTx/>
              <a:buSzTx/>
              <a:buFontTx/>
              <a:buNone/>
              <a:defRPr/>
            </a:pPr>
            <a:endParaRPr lang="zh-CN" altLang="en-US" b="0" dirty="0"/>
          </a:p>
        </p:txBody>
      </p:sp>
      <p:sp>
        <p:nvSpPr>
          <p:cNvPr id="82948"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6</a:t>
            </a:fld>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xfrm>
            <a:off x="88900" y="744538"/>
            <a:ext cx="6615113" cy="3721100"/>
          </a:xfrm>
        </p:spPr>
      </p:sp>
      <p:sp>
        <p:nvSpPr>
          <p:cNvPr id="83971" name="备注占位符 2"/>
          <p:cNvSpPr>
            <a:spLocks noGrp="1"/>
          </p:cNvSpPr>
          <p:nvPr>
            <p:ph type="body"/>
          </p:nvPr>
        </p:nvSpPr>
        <p:spPr/>
        <p:txBody>
          <a:bodyPr wrap="square" lIns="94348" tIns="47174" rIns="94348" bIns="47174" anchor="t"/>
          <a:lstStyle/>
          <a:p>
            <a:pPr lvl="1" eaLnBrk="1" hangingPunct="1">
              <a:lnSpc>
                <a:spcPct val="140000"/>
              </a:lnSpc>
              <a:spcBef>
                <a:spcPct val="0"/>
              </a:spcBef>
            </a:pPr>
            <a:endParaRPr lang="zh-CN" altLang="en-US" sz="2800" b="0" dirty="0" smtClean="0">
              <a:solidFill>
                <a:srgbClr val="000000"/>
              </a:solidFill>
              <a:latin typeface="Arial" panose="020B0604020202020204" pitchFamily="34" charset="0"/>
              <a:ea typeface="楷体_GB2312" pitchFamily="49" charset="-122"/>
            </a:endParaRPr>
          </a:p>
        </p:txBody>
      </p:sp>
      <p:sp>
        <p:nvSpPr>
          <p:cNvPr id="83972"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7</a:t>
            </a:fld>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88900" y="744538"/>
            <a:ext cx="6615113" cy="3721100"/>
          </a:xfrm>
        </p:spPr>
      </p:sp>
      <p:sp>
        <p:nvSpPr>
          <p:cNvPr id="84995" name="备注占位符 2"/>
          <p:cNvSpPr>
            <a:spLocks noGrp="1"/>
          </p:cNvSpPr>
          <p:nvPr>
            <p:ph type="body"/>
          </p:nvPr>
        </p:nvSpPr>
        <p:spPr/>
        <p:txBody>
          <a:bodyPr wrap="square" lIns="94348" tIns="47174" rIns="94348" bIns="47174" anchor="t"/>
          <a:lstStyle/>
          <a:p>
            <a:pPr lvl="0"/>
            <a:endParaRPr lang="zh-CN" altLang="en-US" dirty="0"/>
          </a:p>
        </p:txBody>
      </p:sp>
      <p:sp>
        <p:nvSpPr>
          <p:cNvPr id="84996"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8</a:t>
            </a:fld>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88900" y="744538"/>
            <a:ext cx="6615113" cy="3721100"/>
          </a:xfrm>
        </p:spPr>
      </p:sp>
      <p:sp>
        <p:nvSpPr>
          <p:cNvPr id="86019" name="备注占位符 2"/>
          <p:cNvSpPr>
            <a:spLocks noGrp="1"/>
          </p:cNvSpPr>
          <p:nvPr>
            <p:ph type="body"/>
          </p:nvPr>
        </p:nvSpPr>
        <p:spPr/>
        <p:txBody>
          <a:bodyPr wrap="square" lIns="94348" tIns="47174" rIns="94348" bIns="47174" anchor="t"/>
          <a:lstStyle/>
          <a:p>
            <a:pPr lvl="0"/>
            <a:endParaRPr lang="zh-CN" altLang="en-US" dirty="0"/>
          </a:p>
        </p:txBody>
      </p:sp>
      <p:sp>
        <p:nvSpPr>
          <p:cNvPr id="86020"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9</a:t>
            </a:fld>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xfrm>
            <a:off x="88900" y="744538"/>
            <a:ext cx="6615113" cy="3721100"/>
          </a:xfrm>
        </p:spPr>
      </p:sp>
      <p:sp>
        <p:nvSpPr>
          <p:cNvPr id="88067" name="备注占位符 2"/>
          <p:cNvSpPr>
            <a:spLocks noGrp="1"/>
          </p:cNvSpPr>
          <p:nvPr>
            <p:ph type="body"/>
          </p:nvPr>
        </p:nvSpPr>
        <p:spPr/>
        <p:txBody>
          <a:bodyPr wrap="square" lIns="94348" tIns="47174" rIns="94348" bIns="47174" anchor="t"/>
          <a:lstStyle/>
          <a:p>
            <a:pPr lvl="0"/>
            <a:endParaRPr lang="zh-CN" altLang="en-US" dirty="0"/>
          </a:p>
        </p:txBody>
      </p:sp>
      <p:sp>
        <p:nvSpPr>
          <p:cNvPr id="88068"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10</a:t>
            </a:fld>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xfrm>
            <a:off x="88900" y="744538"/>
            <a:ext cx="6615113" cy="3721100"/>
          </a:xfrm>
        </p:spPr>
      </p:sp>
      <p:sp>
        <p:nvSpPr>
          <p:cNvPr id="89091" name="备注占位符 2"/>
          <p:cNvSpPr>
            <a:spLocks noGrp="1"/>
          </p:cNvSpPr>
          <p:nvPr>
            <p:ph type="body"/>
          </p:nvPr>
        </p:nvSpPr>
        <p:spPr/>
        <p:txBody>
          <a:bodyPr wrap="square" lIns="94348" tIns="47174" rIns="94348" bIns="47174" anchor="t"/>
          <a:lstStyle/>
          <a:p>
            <a:pPr lvl="0"/>
            <a:endParaRPr lang="zh-CN" altLang="en-US" b="0" dirty="0"/>
          </a:p>
        </p:txBody>
      </p:sp>
      <p:sp>
        <p:nvSpPr>
          <p:cNvPr id="89092"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11</a:t>
            </a:fld>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xfrm>
            <a:off x="88900" y="744538"/>
            <a:ext cx="6615113" cy="3721100"/>
          </a:xfrm>
        </p:spPr>
      </p:sp>
      <p:sp>
        <p:nvSpPr>
          <p:cNvPr id="90115" name="备注占位符 2"/>
          <p:cNvSpPr>
            <a:spLocks noGrp="1"/>
          </p:cNvSpPr>
          <p:nvPr>
            <p:ph type="body"/>
          </p:nvPr>
        </p:nvSpPr>
        <p:spPr/>
        <p:txBody>
          <a:bodyPr wrap="square" lIns="94348" tIns="47174" rIns="94348" bIns="47174" anchor="t"/>
          <a:lstStyle/>
          <a:p>
            <a:pPr marL="0" marR="0" lvl="0" indent="0" algn="just" defTabSz="914400" rtl="0" eaLnBrk="1" fontAlgn="base" latinLnBrk="0" hangingPunct="1">
              <a:lnSpc>
                <a:spcPct val="120000"/>
              </a:lnSpc>
              <a:spcBef>
                <a:spcPct val="20000"/>
              </a:spcBef>
              <a:spcAft>
                <a:spcPct val="0"/>
              </a:spcAft>
              <a:buClr>
                <a:srgbClr val="330066"/>
              </a:buClr>
              <a:buSzPct val="70000"/>
              <a:buFont typeface="Wingdings" panose="05000000000000000000" pitchFamily="2" charset="2"/>
              <a:buNone/>
              <a:tabLst/>
              <a:defRPr/>
            </a:pPr>
            <a:endParaRPr lang="zh-CN" altLang="en-US" b="0" dirty="0"/>
          </a:p>
        </p:txBody>
      </p:sp>
      <p:sp>
        <p:nvSpPr>
          <p:cNvPr id="90116"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12</a:t>
            </a:fld>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xfrm>
            <a:off x="88900" y="744538"/>
            <a:ext cx="6615113" cy="3721100"/>
          </a:xfrm>
        </p:spPr>
      </p:sp>
      <p:sp>
        <p:nvSpPr>
          <p:cNvPr id="91139" name="备注占位符 2"/>
          <p:cNvSpPr>
            <a:spLocks noGrp="1"/>
          </p:cNvSpPr>
          <p:nvPr>
            <p:ph type="body"/>
          </p:nvPr>
        </p:nvSpPr>
        <p:spPr/>
        <p:txBody>
          <a:bodyPr wrap="square" lIns="94348" tIns="47174" rIns="94348" bIns="47174" anchor="t"/>
          <a:lstStyle/>
          <a:p>
            <a:pPr lvl="0"/>
            <a:endParaRPr lang="zh-CN" altLang="en-US" dirty="0"/>
          </a:p>
        </p:txBody>
      </p:sp>
      <p:sp>
        <p:nvSpPr>
          <p:cNvPr id="91140"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13</a:t>
            </a:fld>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88900" y="744538"/>
            <a:ext cx="6615113" cy="3721100"/>
          </a:xfrm>
        </p:spPr>
      </p:sp>
      <p:sp>
        <p:nvSpPr>
          <p:cNvPr id="92163" name="备注占位符 2"/>
          <p:cNvSpPr>
            <a:spLocks noGrp="1"/>
          </p:cNvSpPr>
          <p:nvPr>
            <p:ph type="body"/>
          </p:nvPr>
        </p:nvSpPr>
        <p:spPr/>
        <p:txBody>
          <a:bodyPr wrap="square" lIns="94348" tIns="47174" rIns="94348" bIns="47174" anchor="t"/>
          <a:lstStyle/>
          <a:p>
            <a:pPr lvl="0"/>
            <a:endParaRPr lang="zh-CN" altLang="en-US" dirty="0"/>
          </a:p>
        </p:txBody>
      </p:sp>
      <p:sp>
        <p:nvSpPr>
          <p:cNvPr id="92164"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14</a:t>
            </a:fld>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88900" y="744538"/>
            <a:ext cx="6615113" cy="3721100"/>
          </a:xfrm>
        </p:spPr>
      </p:sp>
      <p:sp>
        <p:nvSpPr>
          <p:cNvPr id="93187" name="备注占位符 2"/>
          <p:cNvSpPr>
            <a:spLocks noGrp="1"/>
          </p:cNvSpPr>
          <p:nvPr>
            <p:ph type="body"/>
          </p:nvPr>
        </p:nvSpPr>
        <p:spPr/>
        <p:txBody>
          <a:bodyPr wrap="square" lIns="94348" tIns="47174" rIns="94348" bIns="47174" anchor="t"/>
          <a:lstStyle/>
          <a:p>
            <a:pPr lvl="0"/>
            <a:endParaRPr lang="zh-CN" altLang="en-US" dirty="0"/>
          </a:p>
        </p:txBody>
      </p:sp>
      <p:sp>
        <p:nvSpPr>
          <p:cNvPr id="93188"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15</a:t>
            </a:fld>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8900" y="744538"/>
            <a:ext cx="6615113" cy="3721100"/>
          </a:xfrm>
        </p:spPr>
      </p:sp>
      <p:sp>
        <p:nvSpPr>
          <p:cNvPr id="3" name="备注占位符 2"/>
          <p:cNvSpPr>
            <a:spLocks noGrp="1"/>
          </p:cNvSpPr>
          <p:nvPr>
            <p:ph type="body" idx="1"/>
          </p:nvPr>
        </p:nvSpPr>
        <p:spPr/>
        <p:txBody>
          <a:bodyPr/>
          <a:lstStyle/>
          <a:p>
            <a:endParaRPr lang="zh-CN" altLang="en-US" b="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xfrm>
            <a:off x="88900" y="744538"/>
            <a:ext cx="6615113" cy="3721100"/>
          </a:xfrm>
        </p:spPr>
      </p:sp>
      <p:sp>
        <p:nvSpPr>
          <p:cNvPr id="94211" name="备注占位符 2"/>
          <p:cNvSpPr>
            <a:spLocks noGrp="1"/>
          </p:cNvSpPr>
          <p:nvPr>
            <p:ph type="body"/>
          </p:nvPr>
        </p:nvSpPr>
        <p:spPr/>
        <p:txBody>
          <a:bodyPr wrap="square" lIns="94348" tIns="47174" rIns="94348" bIns="47174" anchor="t"/>
          <a:lstStyle/>
          <a:p>
            <a:pPr lvl="0"/>
            <a:endParaRPr lang="en-US" altLang="zh-CN" dirty="0"/>
          </a:p>
        </p:txBody>
      </p:sp>
      <p:sp>
        <p:nvSpPr>
          <p:cNvPr id="94212"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17</a:t>
            </a:fld>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88900" y="744538"/>
            <a:ext cx="6615113" cy="3721100"/>
          </a:xfrm>
        </p:spPr>
      </p:sp>
      <p:sp>
        <p:nvSpPr>
          <p:cNvPr id="95235" name="备注占位符 2"/>
          <p:cNvSpPr>
            <a:spLocks noGrp="1"/>
          </p:cNvSpPr>
          <p:nvPr>
            <p:ph type="body"/>
          </p:nvPr>
        </p:nvSpPr>
        <p:spPr/>
        <p:txBody>
          <a:bodyPr wrap="square" lIns="94348" tIns="47174" rIns="94348" bIns="47174" anchor="t"/>
          <a:lstStyle/>
          <a:p>
            <a:pPr lvl="0"/>
            <a:endParaRPr lang="zh-CN" altLang="en-US" dirty="0"/>
          </a:p>
        </p:txBody>
      </p:sp>
      <p:sp>
        <p:nvSpPr>
          <p:cNvPr id="95236"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18</a:t>
            </a:fld>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xfrm>
            <a:off x="88900" y="744538"/>
            <a:ext cx="6615113" cy="3721100"/>
          </a:xfrm>
        </p:spPr>
      </p:sp>
      <p:sp>
        <p:nvSpPr>
          <p:cNvPr id="96259" name="备注占位符 2"/>
          <p:cNvSpPr>
            <a:spLocks noGrp="1"/>
          </p:cNvSpPr>
          <p:nvPr>
            <p:ph type="body"/>
          </p:nvPr>
        </p:nvSpPr>
        <p:spPr/>
        <p:txBody>
          <a:bodyPr wrap="square" lIns="94348" tIns="47174" rIns="94348" bIns="47174" anchor="t"/>
          <a:lstStyle/>
          <a:p>
            <a:pPr lvl="0"/>
            <a:endParaRPr lang="en-US" altLang="zh-CN" sz="2800" b="0" dirty="0" smtClean="0">
              <a:solidFill>
                <a:srgbClr val="000000"/>
              </a:solidFill>
            </a:endParaRPr>
          </a:p>
        </p:txBody>
      </p:sp>
      <p:sp>
        <p:nvSpPr>
          <p:cNvPr id="96260"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dirty="0"/>
              <a:t>19</a:t>
            </a:fld>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xfrm>
            <a:off x="88900" y="744538"/>
            <a:ext cx="6615113" cy="3721100"/>
          </a:xfrm>
        </p:spPr>
      </p:sp>
      <p:sp>
        <p:nvSpPr>
          <p:cNvPr id="97283" name="备注占位符 2"/>
          <p:cNvSpPr>
            <a:spLocks noGrp="1"/>
          </p:cNvSpPr>
          <p:nvPr>
            <p:ph type="body"/>
          </p:nvPr>
        </p:nvSpPr>
        <p:spPr/>
        <p:txBody>
          <a:bodyPr wrap="square" lIns="94348" tIns="47174" rIns="94348" bIns="47174" anchor="t"/>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97284" name="灯片编号占位符 3"/>
          <p:cNvSpPr txBox="1">
            <a:spLocks noGrp="1"/>
          </p:cNvSpPr>
          <p:nvPr>
            <p:ph type="sldNum" sz="quarter"/>
          </p:nvPr>
        </p:nvSpPr>
        <p:spPr>
          <a:xfrm>
            <a:off x="3848100" y="9426575"/>
            <a:ext cx="2943225" cy="495300"/>
          </a:xfrm>
          <a:prstGeom prst="rect">
            <a:avLst/>
          </a:prstGeom>
          <a:noFill/>
          <a:ln w="9525">
            <a:noFill/>
          </a:ln>
        </p:spPr>
        <p:txBody>
          <a:bodyPr lIns="94348" tIns="47174" rIns="94348" bIns="47174" anchor="b"/>
          <a:lstStyle/>
          <a:p>
            <a:pPr lvl="0" algn="r" defTabSz="942975" eaLnBrk="1" hangingPunct="1"/>
            <a:fld id="{9A0DB2DC-4C9A-4742-B13C-FB6460FD3503}" type="slidenum">
              <a:rPr lang="en-US" altLang="zh-CN" sz="1200" dirty="0">
                <a:latin typeface="Times New Roman" panose="02020603050405020304" pitchFamily="18" charset="0"/>
              </a:rPr>
              <a:t>20</a:t>
            </a:fld>
            <a:endParaRPr lang="en-US" altLang="zh-CN" sz="1200"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88900" y="744538"/>
            <a:ext cx="6615113" cy="3721100"/>
          </a:xfrm>
          <a:ln/>
        </p:spPr>
      </p:sp>
      <p:sp>
        <p:nvSpPr>
          <p:cNvPr id="93187" name="备注占位符 2"/>
          <p:cNvSpPr>
            <a:spLocks noGrp="1"/>
          </p:cNvSpPr>
          <p:nvPr>
            <p:ph type="body" idx="1"/>
          </p:nvPr>
        </p:nvSpPr>
        <p:spPr>
          <a:noFill/>
        </p:spPr>
        <p:txBody>
          <a:bodyPr/>
          <a:lstStyle/>
          <a:p>
            <a:r>
              <a:rPr lang="en-US" altLang="zh-CN" dirty="0" smtClean="0"/>
              <a:t>PPt22</a:t>
            </a:r>
          </a:p>
          <a:p>
            <a:r>
              <a:rPr lang="zh-CN" altLang="en-US" dirty="0" smtClean="0"/>
              <a:t>最后核磁共振基本原理的第四部分内容核磁共振谱仪 核磁共振谱仪是检测和记录核磁共振现象的仪器，用于有机化合物结构分析的谱仪因为要检测不同化学环境磁核的化学位移以及磁核之间自旋耦合产生的精细结构，所以必须要有高的分辨率，这类仪器称为高分辨率核磁共振波谱仪。</a:t>
            </a:r>
            <a:endParaRPr lang="en-US" altLang="zh-CN" dirty="0" smtClean="0"/>
          </a:p>
          <a:p>
            <a:endParaRPr lang="en-US" altLang="zh-CN" dirty="0" smtClean="0"/>
          </a:p>
          <a:p>
            <a:r>
              <a:rPr lang="zh-CN" altLang="en-US" dirty="0" smtClean="0"/>
              <a:t>高分辨核磁共振谱仪的型号种类很多，按照产生磁场的来源可以分为永久磁铁，电磁铁和超导磁体三种，</a:t>
            </a:r>
            <a:endParaRPr lang="en-US" altLang="zh-CN" dirty="0" smtClean="0"/>
          </a:p>
          <a:p>
            <a:endParaRPr lang="en-US" altLang="zh-CN" dirty="0" smtClean="0"/>
          </a:p>
          <a:p>
            <a:r>
              <a:rPr lang="zh-CN" altLang="en-US" dirty="0" smtClean="0"/>
              <a:t>按外磁场强度不同而所需的照射频率分为： </a:t>
            </a:r>
            <a:r>
              <a:rPr lang="en-US" altLang="zh-CN" dirty="0" smtClean="0"/>
              <a:t>100 MHz</a:t>
            </a:r>
            <a:r>
              <a:rPr lang="zh-CN" altLang="en-US" dirty="0" smtClean="0"/>
              <a:t>、</a:t>
            </a:r>
            <a:r>
              <a:rPr lang="en-US" altLang="zh-CN" dirty="0" smtClean="0"/>
              <a:t>200 MHz</a:t>
            </a:r>
            <a:r>
              <a:rPr lang="zh-CN" altLang="en-US" dirty="0" smtClean="0"/>
              <a:t>、</a:t>
            </a:r>
            <a:r>
              <a:rPr lang="en-US" altLang="zh-CN" dirty="0" smtClean="0"/>
              <a:t>300 MHz</a:t>
            </a:r>
            <a:r>
              <a:rPr lang="zh-CN" altLang="en-US" dirty="0" smtClean="0"/>
              <a:t>、</a:t>
            </a:r>
            <a:r>
              <a:rPr lang="en-US" altLang="zh-CN" dirty="0" smtClean="0"/>
              <a:t>400 MHz </a:t>
            </a:r>
            <a:r>
              <a:rPr lang="zh-CN" altLang="en-US" dirty="0" smtClean="0"/>
              <a:t>、</a:t>
            </a:r>
            <a:r>
              <a:rPr lang="en-US" altLang="zh-CN" dirty="0" smtClean="0"/>
              <a:t>500 MHz</a:t>
            </a:r>
            <a:r>
              <a:rPr lang="zh-CN" altLang="en-US" dirty="0" smtClean="0"/>
              <a:t>等型号，核磁共振波谱仪的型号通常用</a:t>
            </a:r>
            <a:r>
              <a:rPr lang="en-US" altLang="zh-CN" dirty="0" smtClean="0"/>
              <a:t>1H</a:t>
            </a:r>
            <a:r>
              <a:rPr lang="zh-CN" altLang="en-US" dirty="0" smtClean="0"/>
              <a:t>的共振频率来表示</a:t>
            </a:r>
            <a:r>
              <a:rPr lang="en-US" altLang="zh-CN" dirty="0" smtClean="0"/>
              <a:t>;</a:t>
            </a:r>
          </a:p>
          <a:p>
            <a:endParaRPr lang="en-US" altLang="zh-CN" dirty="0" smtClean="0"/>
          </a:p>
          <a:p>
            <a:r>
              <a:rPr lang="zh-CN" altLang="en-US" dirty="0" smtClean="0"/>
              <a:t>但最重要的一种分类是根据射频的照射方式不同，将仪器分为连续波核磁共振谱仪和脉冲傅里叶变换核磁共振谱仪两大类。目前检测有机化合物结构的多是</a:t>
            </a:r>
            <a:r>
              <a:rPr lang="en-US" altLang="zh-CN" dirty="0" smtClean="0"/>
              <a:t>300M</a:t>
            </a:r>
            <a:r>
              <a:rPr lang="zh-CN" altLang="en-US" dirty="0" smtClean="0"/>
              <a:t>以上的脉冲傅里叶变换核磁共振谱仪，下面简单介绍一下该类仪器的原理。</a:t>
            </a:r>
          </a:p>
        </p:txBody>
      </p:sp>
      <p:sp>
        <p:nvSpPr>
          <p:cNvPr id="93188" name="灯片编号占位符 3"/>
          <p:cNvSpPr>
            <a:spLocks noGrp="1"/>
          </p:cNvSpPr>
          <p:nvPr>
            <p:ph type="sldNum" sz="quarter" idx="5"/>
          </p:nvPr>
        </p:nvSpPr>
        <p:spPr>
          <a:noFill/>
        </p:spPr>
        <p:txBody>
          <a:bodyPr/>
          <a:lstStyle>
            <a:lvl1pPr defTabSz="942975" eaLnBrk="0" hangingPunct="0">
              <a:defRPr>
                <a:solidFill>
                  <a:schemeClr val="tx1"/>
                </a:solidFill>
                <a:latin typeface="Arial" panose="020B0604020202020204" pitchFamily="34" charset="0"/>
                <a:ea typeface="宋体" panose="02010600030101010101" pitchFamily="2" charset="-122"/>
              </a:defRPr>
            </a:lvl1pPr>
            <a:lvl2pPr marL="742950" indent="-285750" defTabSz="942975" eaLnBrk="0" hangingPunct="0">
              <a:defRPr>
                <a:solidFill>
                  <a:schemeClr val="tx1"/>
                </a:solidFill>
                <a:latin typeface="Arial" panose="020B0604020202020204" pitchFamily="34" charset="0"/>
                <a:ea typeface="宋体" panose="02010600030101010101" pitchFamily="2" charset="-122"/>
              </a:defRPr>
            </a:lvl2pPr>
            <a:lvl3pPr marL="1143000" indent="-228600" defTabSz="942975" eaLnBrk="0" hangingPunct="0">
              <a:defRPr>
                <a:solidFill>
                  <a:schemeClr val="tx1"/>
                </a:solidFill>
                <a:latin typeface="Arial" panose="020B0604020202020204" pitchFamily="34" charset="0"/>
                <a:ea typeface="宋体" panose="02010600030101010101" pitchFamily="2" charset="-122"/>
              </a:defRPr>
            </a:lvl3pPr>
            <a:lvl4pPr marL="1600200" indent="-228600" defTabSz="942975" eaLnBrk="0" hangingPunct="0">
              <a:defRPr>
                <a:solidFill>
                  <a:schemeClr val="tx1"/>
                </a:solidFill>
                <a:latin typeface="Arial" panose="020B0604020202020204" pitchFamily="34" charset="0"/>
                <a:ea typeface="宋体" panose="02010600030101010101" pitchFamily="2" charset="-122"/>
              </a:defRPr>
            </a:lvl4pPr>
            <a:lvl5pPr marL="2057400" indent="-228600" defTabSz="942975" eaLnBrk="0" hangingPunct="0">
              <a:defRPr>
                <a:solidFill>
                  <a:schemeClr val="tx1"/>
                </a:solidFill>
                <a:latin typeface="Arial" panose="020B0604020202020204" pitchFamily="34" charset="0"/>
                <a:ea typeface="宋体" panose="02010600030101010101" pitchFamily="2" charset="-122"/>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53719D-5A34-4093-B1EB-FCBC10B5DDEB}" type="slidenum">
              <a:rPr lang="en-US" altLang="zh-CN">
                <a:latin typeface="Times New Roman" panose="02020603050405020304" pitchFamily="18" charset="0"/>
              </a:rPr>
              <a:pPr eaLnBrk="1" hangingPunct="1"/>
              <a:t>21</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26065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88900" y="744538"/>
            <a:ext cx="6615113" cy="37211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45959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88900" y="744538"/>
            <a:ext cx="6615113" cy="3721100"/>
          </a:xfrm>
          <a:ln/>
        </p:spPr>
      </p:sp>
      <p:sp>
        <p:nvSpPr>
          <p:cNvPr id="95235" name="备注占位符 2"/>
          <p:cNvSpPr>
            <a:spLocks noGrp="1"/>
          </p:cNvSpPr>
          <p:nvPr>
            <p:ph type="body" idx="1"/>
          </p:nvPr>
        </p:nvSpPr>
        <p:spPr>
          <a:noFill/>
        </p:spPr>
        <p:txBody>
          <a:bodyPr/>
          <a:lstStyle/>
          <a:p>
            <a:endParaRPr lang="zh-CN" altLang="en-US" sz="1200" kern="1200" dirty="0" smtClean="0">
              <a:solidFill>
                <a:schemeClr val="tx1"/>
              </a:solidFill>
              <a:latin typeface="Times New Roman" panose="02020603050405020304" pitchFamily="18" charset="0"/>
              <a:ea typeface="宋体" panose="02010600030101010101" pitchFamily="2" charset="-122"/>
              <a:cs typeface="+mn-cs"/>
            </a:endParaRPr>
          </a:p>
        </p:txBody>
      </p:sp>
      <p:sp>
        <p:nvSpPr>
          <p:cNvPr id="95236" name="灯片编号占位符 3"/>
          <p:cNvSpPr>
            <a:spLocks noGrp="1"/>
          </p:cNvSpPr>
          <p:nvPr>
            <p:ph type="sldNum" sz="quarter" idx="5"/>
          </p:nvPr>
        </p:nvSpPr>
        <p:spPr>
          <a:noFill/>
        </p:spPr>
        <p:txBody>
          <a:bodyPr/>
          <a:lstStyle>
            <a:lvl1pPr defTabSz="942975" eaLnBrk="0" hangingPunct="0">
              <a:defRPr>
                <a:solidFill>
                  <a:schemeClr val="tx1"/>
                </a:solidFill>
                <a:latin typeface="Arial" panose="020B0604020202020204" pitchFamily="34" charset="0"/>
                <a:ea typeface="宋体" panose="02010600030101010101" pitchFamily="2" charset="-122"/>
              </a:defRPr>
            </a:lvl1pPr>
            <a:lvl2pPr marL="742950" indent="-285750" defTabSz="942975" eaLnBrk="0" hangingPunct="0">
              <a:defRPr>
                <a:solidFill>
                  <a:schemeClr val="tx1"/>
                </a:solidFill>
                <a:latin typeface="Arial" panose="020B0604020202020204" pitchFamily="34" charset="0"/>
                <a:ea typeface="宋体" panose="02010600030101010101" pitchFamily="2" charset="-122"/>
              </a:defRPr>
            </a:lvl2pPr>
            <a:lvl3pPr marL="1143000" indent="-228600" defTabSz="942975" eaLnBrk="0" hangingPunct="0">
              <a:defRPr>
                <a:solidFill>
                  <a:schemeClr val="tx1"/>
                </a:solidFill>
                <a:latin typeface="Arial" panose="020B0604020202020204" pitchFamily="34" charset="0"/>
                <a:ea typeface="宋体" panose="02010600030101010101" pitchFamily="2" charset="-122"/>
              </a:defRPr>
            </a:lvl3pPr>
            <a:lvl4pPr marL="1600200" indent="-228600" defTabSz="942975" eaLnBrk="0" hangingPunct="0">
              <a:defRPr>
                <a:solidFill>
                  <a:schemeClr val="tx1"/>
                </a:solidFill>
                <a:latin typeface="Arial" panose="020B0604020202020204" pitchFamily="34" charset="0"/>
                <a:ea typeface="宋体" panose="02010600030101010101" pitchFamily="2" charset="-122"/>
              </a:defRPr>
            </a:lvl4pPr>
            <a:lvl5pPr marL="2057400" indent="-228600" defTabSz="942975" eaLnBrk="0" hangingPunct="0">
              <a:defRPr>
                <a:solidFill>
                  <a:schemeClr val="tx1"/>
                </a:solidFill>
                <a:latin typeface="Arial" panose="020B0604020202020204" pitchFamily="34" charset="0"/>
                <a:ea typeface="宋体" panose="02010600030101010101" pitchFamily="2" charset="-122"/>
              </a:defRPr>
            </a:lvl5pPr>
            <a:lvl6pPr marL="25146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429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0C84762-7429-44BB-9EF5-A6CF46AAC607}" type="slidenum">
              <a:rPr lang="en-US" altLang="zh-CN">
                <a:latin typeface="Times New Roman" panose="02020603050405020304" pitchFamily="18" charset="0"/>
              </a:rPr>
              <a:pPr eaLnBrk="1" hangingPunct="1"/>
              <a:t>23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061773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37354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E2FC947-A34A-4949-817D-66018DA17E7C}"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algn="r"/>
            <a:fld id="{9A0DB2DC-4C9A-4742-B13C-FB6460FD3503}" type="slidenum">
              <a:rPr lang="en-US" altLang="zh-CN" smtClean="0"/>
              <a:t>‹#›</a:t>
            </a:fld>
            <a:endParaRPr lang="en-US" altLang="zh-CN" dirty="0"/>
          </a:p>
        </p:txBody>
      </p:sp>
    </p:spTree>
    <p:extLst>
      <p:ext uri="{BB962C8B-B14F-4D97-AF65-F5344CB8AC3E}">
        <p14:creationId xmlns:p14="http://schemas.microsoft.com/office/powerpoint/2010/main" val="1170854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609385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123234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25201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31067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3420852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104428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60613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4286097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353273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3670185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2082442543"/>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0" name="Rectangle 4"/>
          <p:cNvSpPr>
            <a:spLocks noGrp="1" noChangeArrowheads="1"/>
          </p:cNvSpPr>
          <p:nvPr>
            <p:ph type="dt" sz="half" idx="12"/>
          </p:nvPr>
        </p:nvSpPr>
        <p:spPr bwMode="auto">
          <a:xfrm>
            <a:off x="457200" y="4686300"/>
            <a:ext cx="2133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 name="Rectangle 5"/>
          <p:cNvSpPr>
            <a:spLocks noGrp="1" noChangeArrowheads="1"/>
          </p:cNvSpPr>
          <p:nvPr>
            <p:ph type="ftr" sz="quarter" idx="13"/>
          </p:nvPr>
        </p:nvSpPr>
        <p:spPr bwMode="auto">
          <a:xfrm>
            <a:off x="3124200" y="4686300"/>
            <a:ext cx="2895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 name="Rectangle 6"/>
          <p:cNvSpPr>
            <a:spLocks noGrp="1" noChangeArrowheads="1"/>
          </p:cNvSpPr>
          <p:nvPr>
            <p:ph type="sldNum" sz="quarter" idx="4"/>
          </p:nvPr>
        </p:nvSpPr>
        <p:spPr bwMode="auto">
          <a:xfrm>
            <a:off x="6553200" y="4686300"/>
            <a:ext cx="2133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algn="r"/>
            <a:fld id="{9A0DB2DC-4C9A-4742-B13C-FB6460FD3503}" type="slidenum">
              <a:rPr lang="en-US" altLang="zh-CN" dirty="0"/>
              <a:t>‹#›</a:t>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EE2FC947-A34A-4949-817D-66018DA17E7C}"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182906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88632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976543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40742986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8"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9"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4701288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4"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5"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252921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3"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4"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0001682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7052130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56193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175134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673333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7" name="页脚占位符 6"/>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526722886"/>
      </p:ext>
    </p:extLst>
  </p:cSld>
  <p:clrMapOvr>
    <a:masterClrMapping/>
  </p:clrMapOvr>
  <p:hf sldNum="0"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a:defRPr/>
            </a:pPr>
            <a:fld id="{BBED5795-ABC6-4AFE-A17B-DB737F69BD2D}" type="datetime10">
              <a:rPr lang="zh-CN" altLang="en-US" sz="100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5"/>
          <p:cNvSpPr>
            <a:spLocks noGrp="1"/>
          </p:cNvSpPr>
          <p:nvPr>
            <p:ph type="ftr" sz="quarter" idx="11"/>
          </p:nvPr>
        </p:nvSpPr>
        <p:spPr/>
        <p:txBody>
          <a:bodyPr/>
          <a:lstStyle/>
          <a:p>
            <a:pPr>
              <a:defRPr/>
            </a:pPr>
            <a:endParaRPr lang="en-US" altLang="zh-CN" sz="1000">
              <a:solidFill>
                <a:prstClr val="black"/>
              </a:solidFill>
              <a:ea typeface="宋体" panose="02010600030101010101" pitchFamily="2" charset="-122"/>
            </a:endParaRPr>
          </a:p>
        </p:txBody>
      </p:sp>
      <p:sp>
        <p:nvSpPr>
          <p:cNvPr id="7" name="灯片编号占位符 6"/>
          <p:cNvSpPr>
            <a:spLocks noGrp="1"/>
          </p:cNvSpPr>
          <p:nvPr>
            <p:ph type="sldNum" sz="quarter" idx="12"/>
          </p:nvPr>
        </p:nvSpPr>
        <p:spPr/>
        <p:txBody>
          <a:bodyPr/>
          <a:lstStyle/>
          <a:p>
            <a:fld id="{9A0DB2DC-4C9A-4742-B13C-FB6460FD3503}" type="slidenum">
              <a:rPr lang="en-US" altLang="zh-CN"/>
              <a:pPr/>
              <a:t>‹#›</a:t>
            </a:fld>
            <a:endParaRPr lang="en-US" altLang="zh-CN"/>
          </a:p>
        </p:txBody>
      </p:sp>
    </p:spTree>
    <p:extLst>
      <p:ext uri="{BB962C8B-B14F-4D97-AF65-F5344CB8AC3E}">
        <p14:creationId xmlns:p14="http://schemas.microsoft.com/office/powerpoint/2010/main" val="25831366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EE2FC947-A34A-4949-817D-66018DA17E7C}"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150551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98418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8108696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640005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8"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9"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318653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4"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5"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4520652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3"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4"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538230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44617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4104298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5386207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2218112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7" name="页脚占位符 6"/>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4168443356"/>
      </p:ext>
    </p:extLst>
  </p:cSld>
  <p:clrMapOvr>
    <a:masterClrMapping/>
  </p:clrMapOvr>
  <p:hf sldNum="0"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a:defRPr/>
            </a:pPr>
            <a:fld id="{BBED5795-ABC6-4AFE-A17B-DB737F69BD2D}" type="datetime10">
              <a:rPr lang="zh-CN" altLang="en-US" sz="100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6" name="页脚占位符 5"/>
          <p:cNvSpPr>
            <a:spLocks noGrp="1"/>
          </p:cNvSpPr>
          <p:nvPr>
            <p:ph type="ftr" sz="quarter" idx="11"/>
          </p:nvPr>
        </p:nvSpPr>
        <p:spPr/>
        <p:txBody>
          <a:bodyPr/>
          <a:lstStyle/>
          <a:p>
            <a:pPr>
              <a:defRPr/>
            </a:pPr>
            <a:endParaRPr lang="en-US" altLang="zh-CN" sz="1000">
              <a:solidFill>
                <a:prstClr val="black"/>
              </a:solidFill>
              <a:ea typeface="宋体" panose="02010600030101010101" pitchFamily="2" charset="-122"/>
            </a:endParaRPr>
          </a:p>
        </p:txBody>
      </p:sp>
      <p:sp>
        <p:nvSpPr>
          <p:cNvPr id="7" name="灯片编号占位符 6"/>
          <p:cNvSpPr>
            <a:spLocks noGrp="1"/>
          </p:cNvSpPr>
          <p:nvPr>
            <p:ph type="sldNum" sz="quarter" idx="12"/>
          </p:nvPr>
        </p:nvSpPr>
        <p:spPr/>
        <p:txBody>
          <a:bodyPr/>
          <a:lstStyle/>
          <a:p>
            <a:fld id="{9A0DB2DC-4C9A-4742-B13C-FB6460FD3503}" type="slidenum">
              <a:rPr lang="en-US" altLang="zh-CN"/>
              <a:pPr/>
              <a:t>‹#›</a:t>
            </a:fld>
            <a:endParaRPr lang="en-US" altLang="zh-CN"/>
          </a:p>
        </p:txBody>
      </p:sp>
    </p:spTree>
    <p:extLst>
      <p:ext uri="{BB962C8B-B14F-4D97-AF65-F5344CB8AC3E}">
        <p14:creationId xmlns:p14="http://schemas.microsoft.com/office/powerpoint/2010/main" val="31875306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0" name="Rectangle 4"/>
          <p:cNvSpPr>
            <a:spLocks noGrp="1" noChangeArrowheads="1"/>
          </p:cNvSpPr>
          <p:nvPr>
            <p:ph type="dt" sz="half" idx="12"/>
          </p:nvPr>
        </p:nvSpPr>
        <p:spPr bwMode="auto">
          <a:xfrm>
            <a:off x="457200" y="4686300"/>
            <a:ext cx="2133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a:defRPr/>
            </a:pPr>
            <a:endParaRPr lang="en-US" altLang="zh-CN" sz="1000">
              <a:solidFill>
                <a:prstClr val="black"/>
              </a:solidFill>
              <a:ea typeface="宋体" panose="02010600030101010101" pitchFamily="2" charset="-122"/>
            </a:endParaRPr>
          </a:p>
        </p:txBody>
      </p:sp>
      <p:sp>
        <p:nvSpPr>
          <p:cNvPr id="41" name="Rectangle 5"/>
          <p:cNvSpPr>
            <a:spLocks noGrp="1" noChangeArrowheads="1"/>
          </p:cNvSpPr>
          <p:nvPr>
            <p:ph type="ftr" sz="quarter" idx="13"/>
          </p:nvPr>
        </p:nvSpPr>
        <p:spPr bwMode="auto">
          <a:xfrm>
            <a:off x="3124200" y="4686300"/>
            <a:ext cx="2895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a:defRPr/>
            </a:pPr>
            <a:endParaRPr lang="en-US" altLang="zh-CN" sz="1000">
              <a:solidFill>
                <a:prstClr val="black"/>
              </a:solidFill>
              <a:ea typeface="宋体" panose="02010600030101010101" pitchFamily="2" charset="-122"/>
            </a:endParaRPr>
          </a:p>
        </p:txBody>
      </p:sp>
      <p:sp>
        <p:nvSpPr>
          <p:cNvPr id="42" name="Rectangle 6"/>
          <p:cNvSpPr>
            <a:spLocks noGrp="1" noChangeArrowheads="1"/>
          </p:cNvSpPr>
          <p:nvPr>
            <p:ph type="sldNum" sz="quarter" idx="4"/>
          </p:nvPr>
        </p:nvSpPr>
        <p:spPr bwMode="auto">
          <a:xfrm>
            <a:off x="6553200" y="4686300"/>
            <a:ext cx="2133600" cy="3429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fld id="{9A0DB2DC-4C9A-4742-B13C-FB6460FD3503}" type="slidenum">
              <a:rPr lang="en-US" altLang="zh-CN"/>
              <a:pPr/>
              <a:t>‹#›</a:t>
            </a:fld>
            <a:endParaRPr lang="en-US" altLang="zh-CN"/>
          </a:p>
        </p:txBody>
      </p:sp>
    </p:spTree>
    <p:extLst>
      <p:ext uri="{BB962C8B-B14F-4D97-AF65-F5344CB8AC3E}">
        <p14:creationId xmlns:p14="http://schemas.microsoft.com/office/powerpoint/2010/main" val="1104068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2.jp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2.jp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3.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ED5795-ABC6-4AFE-A17B-DB737F69BD2D}" type="datetime10">
              <a:rPr kumimoji="0" lang="zh-CN" altLang="en-US"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19:52</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dirty="0">
                <a:solidFill>
                  <a:srgbClr val="898989"/>
                </a:solidFill>
                <a:ea typeface="楷体_GB2312" pitchFamily="49" charset="-122"/>
                <a:cs typeface="+mn-cs"/>
              </a:defRPr>
            </a:lvl1pPr>
          </a:lstStyle>
          <a:p>
            <a:pPr lvl="0" eaLnBrk="1" hangingPunct="1"/>
            <a:fld id="{9A0DB2DC-4C9A-4742-B13C-FB6460FD3503}" type="slidenum">
              <a:rPr lang="en-US" altLang="zh-CN" smtClean="0">
                <a:latin typeface="Arial" panose="020B0604020202020204" pitchFamily="34" charset="0"/>
              </a:rPr>
              <a:t>‹#›</a:t>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dirty="0">
                <a:solidFill>
                  <a:srgbClr val="898989"/>
                </a:solidFill>
                <a:ea typeface="楷体_GB2312" pitchFamily="49" charset="-122"/>
                <a:cs typeface="+mn-cs"/>
              </a:defRPr>
            </a:lvl1pPr>
          </a:lstStyle>
          <a:p>
            <a:fld id="{9A0DB2DC-4C9A-4742-B13C-FB6460FD3503}" type="slidenum">
              <a:rPr lang="en-US" altLang="zh-CN" smtClean="0"/>
              <a:pPr/>
              <a:t>‹#›</a:t>
            </a:fld>
            <a:endParaRPr lang="en-US" altLang="zh-CN"/>
          </a:p>
        </p:txBody>
      </p:sp>
    </p:spTree>
    <p:extLst>
      <p:ext uri="{BB962C8B-B14F-4D97-AF65-F5344CB8AC3E}">
        <p14:creationId xmlns:p14="http://schemas.microsoft.com/office/powerpoint/2010/main" val="35512782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19:52</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dirty="0">
                <a:solidFill>
                  <a:srgbClr val="898989"/>
                </a:solidFill>
                <a:ea typeface="楷体_GB2312" pitchFamily="49" charset="-122"/>
                <a:cs typeface="+mn-cs"/>
              </a:defRPr>
            </a:lvl1pPr>
          </a:lstStyle>
          <a:p>
            <a:fld id="{9A0DB2DC-4C9A-4742-B13C-FB6460FD3503}" type="slidenum">
              <a:rPr lang="en-US" altLang="zh-CN" smtClean="0"/>
              <a:pPr/>
              <a:t>‹#›</a:t>
            </a:fld>
            <a:endParaRPr lang="en-US" altLang="zh-CN"/>
          </a:p>
        </p:txBody>
      </p:sp>
    </p:spTree>
    <p:extLst>
      <p:ext uri="{BB962C8B-B14F-4D97-AF65-F5344CB8AC3E}">
        <p14:creationId xmlns:p14="http://schemas.microsoft.com/office/powerpoint/2010/main" val="380634905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2.png"/><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image" Target="../media/image11.png"/><Relationship Id="rId5" Type="http://schemas.openxmlformats.org/officeDocument/2006/relationships/image" Target="../media/image10.wmf"/><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7.wmf"/><Relationship Id="rId4" Type="http://schemas.openxmlformats.org/officeDocument/2006/relationships/oleObject" Target="../embeddings/oleObject10.bin"/></Relationships>
</file>

<file path=ppt/slides/_rels/slide18.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notesSlide" Target="../notesSlides/notesSlide18.xml"/><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8.wmf"/><Relationship Id="rId5" Type="http://schemas.openxmlformats.org/officeDocument/2006/relationships/oleObject" Target="../embeddings/oleObject11.bin"/><Relationship Id="rId10" Type="http://schemas.openxmlformats.org/officeDocument/2006/relationships/image" Target="../media/image17.wmf"/><Relationship Id="rId4" Type="http://schemas.openxmlformats.org/officeDocument/2006/relationships/image" Target="../media/image20.png"/><Relationship Id="rId9"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p:cNvSpPr>
          <p:nvPr>
            <p:ph type="title"/>
          </p:nvPr>
        </p:nvSpPr>
        <p:spPr>
          <a:xfrm>
            <a:off x="539552" y="267494"/>
            <a:ext cx="8064896" cy="647700"/>
          </a:xfrm>
        </p:spPr>
        <p:txBody>
          <a:bodyPr vert="horz" wrap="square" lIns="91440" tIns="45720" rIns="91440" bIns="45720" anchor="b"/>
          <a:lstStyle/>
          <a:p>
            <a:pPr eaLnBrk="1" hangingPunct="1"/>
            <a:r>
              <a:rPr lang="zh-CN" altLang="en-US" sz="3600" b="1" dirty="0">
                <a:solidFill>
                  <a:srgbClr val="0070C0"/>
                </a:solidFill>
                <a:latin typeface="微软雅黑" panose="020B0503020204020204" pitchFamily="34" charset="-122"/>
                <a:ea typeface="微软雅黑" panose="020B0503020204020204" pitchFamily="34" charset="-122"/>
              </a:rPr>
              <a:t>第一</a:t>
            </a:r>
            <a:r>
              <a:rPr lang="zh-CN" altLang="en-US" sz="3600" b="1" dirty="0" smtClean="0">
                <a:solidFill>
                  <a:srgbClr val="0070C0"/>
                </a:solidFill>
                <a:latin typeface="微软雅黑" panose="020B0503020204020204" pitchFamily="34" charset="-122"/>
                <a:ea typeface="微软雅黑" panose="020B0503020204020204" pitchFamily="34" charset="-122"/>
              </a:rPr>
              <a:t>节   核磁共振</a:t>
            </a:r>
            <a:r>
              <a:rPr lang="zh-CN" altLang="en-US" sz="3600" b="1" dirty="0">
                <a:solidFill>
                  <a:srgbClr val="0070C0"/>
                </a:solidFill>
                <a:latin typeface="微软雅黑" panose="020B0503020204020204" pitchFamily="34" charset="-122"/>
                <a:ea typeface="微软雅黑" panose="020B0503020204020204" pitchFamily="34" charset="-122"/>
              </a:rPr>
              <a:t>波谱的基本原理</a:t>
            </a:r>
          </a:p>
        </p:txBody>
      </p:sp>
      <p:sp>
        <p:nvSpPr>
          <p:cNvPr id="7173" name="Rectangle 3"/>
          <p:cNvSpPr>
            <a:spLocks noGrp="1"/>
          </p:cNvSpPr>
          <p:nvPr>
            <p:ph idx="1"/>
          </p:nvPr>
        </p:nvSpPr>
        <p:spPr>
          <a:xfrm>
            <a:off x="1763713" y="1383506"/>
            <a:ext cx="6553200" cy="2914650"/>
          </a:xfrm>
        </p:spPr>
        <p:txBody>
          <a:bodyPr vert="horz" wrap="square" lIns="91440" tIns="45720" rIns="91440" bIns="45720" anchor="t"/>
          <a:lstStyle/>
          <a:p>
            <a:pPr marL="0" indent="0" algn="just" eaLnBrk="1" hangingPunct="1">
              <a:buClr>
                <a:schemeClr val="tx2"/>
              </a:buClr>
              <a:buSzPct val="75000"/>
              <a:buNone/>
            </a:pPr>
            <a:r>
              <a:rPr lang="zh-CN" altLang="en-US" b="1" dirty="0" smtClean="0">
                <a:latin typeface="微软雅黑" panose="020B0503020204020204" pitchFamily="34" charset="-122"/>
                <a:ea typeface="微软雅黑" panose="020B0503020204020204" pitchFamily="34" charset="-122"/>
              </a:rPr>
              <a:t>一、</a:t>
            </a:r>
            <a:r>
              <a:rPr lang="zh-CN" altLang="en-US" sz="3200" b="1" dirty="0" smtClean="0">
                <a:latin typeface="微软雅黑" panose="020B0503020204020204" pitchFamily="34" charset="-122"/>
                <a:ea typeface="微软雅黑" panose="020B0503020204020204" pitchFamily="34" charset="-122"/>
              </a:rPr>
              <a:t>核磁共振</a:t>
            </a:r>
            <a:r>
              <a:rPr lang="zh-CN" altLang="en-US" sz="3200" b="1" dirty="0">
                <a:latin typeface="微软雅黑" panose="020B0503020204020204" pitchFamily="34" charset="-122"/>
                <a:ea typeface="微软雅黑" panose="020B0503020204020204" pitchFamily="34" charset="-122"/>
              </a:rPr>
              <a:t>现象的产生</a:t>
            </a:r>
          </a:p>
          <a:p>
            <a:pPr algn="just" eaLnBrk="1" hangingPunct="1">
              <a:buSzPct val="75000"/>
              <a:buFont typeface="Wingdings" panose="05000000000000000000" charset="0"/>
              <a:buChar char="u"/>
            </a:pPr>
            <a:endParaRPr lang="zh-CN" altLang="en-US" sz="3200" b="1" dirty="0">
              <a:latin typeface="微软雅黑" panose="020B0503020204020204" pitchFamily="34" charset="-122"/>
              <a:ea typeface="微软雅黑" panose="020B0503020204020204" pitchFamily="34" charset="-122"/>
            </a:endParaRPr>
          </a:p>
          <a:p>
            <a:pPr marL="0" indent="0" algn="just" eaLnBrk="1" hangingPunct="1">
              <a:buClr>
                <a:schemeClr val="tx2"/>
              </a:buClr>
              <a:buSzPct val="75000"/>
              <a:buNone/>
            </a:pPr>
            <a:r>
              <a:rPr lang="zh-CN" altLang="en-US" b="1" dirty="0" smtClean="0">
                <a:latin typeface="微软雅黑" panose="020B0503020204020204" pitchFamily="34" charset="-122"/>
                <a:ea typeface="微软雅黑" panose="020B0503020204020204" pitchFamily="34" charset="-122"/>
              </a:rPr>
              <a:t>二、</a:t>
            </a:r>
            <a:r>
              <a:rPr lang="zh-CN" altLang="en-US" sz="3200" b="1" dirty="0" smtClean="0">
                <a:latin typeface="微软雅黑" panose="020B0503020204020204" pitchFamily="34" charset="-122"/>
                <a:ea typeface="微软雅黑" panose="020B0503020204020204" pitchFamily="34" charset="-122"/>
              </a:rPr>
              <a:t>化学位移</a:t>
            </a:r>
            <a:endParaRPr lang="zh-CN" altLang="en-US" sz="3200" b="1" dirty="0">
              <a:latin typeface="微软雅黑" panose="020B0503020204020204" pitchFamily="34" charset="-122"/>
              <a:ea typeface="微软雅黑" panose="020B0503020204020204" pitchFamily="34" charset="-122"/>
            </a:endParaRPr>
          </a:p>
          <a:p>
            <a:pPr algn="just" eaLnBrk="1" hangingPunct="1">
              <a:buSzPct val="75000"/>
              <a:buFont typeface="Wingdings" panose="05000000000000000000" charset="0"/>
              <a:buChar char="u"/>
            </a:pPr>
            <a:endParaRPr lang="zh-CN" altLang="en-US" sz="3200" b="1" dirty="0">
              <a:latin typeface="微软雅黑" panose="020B0503020204020204" pitchFamily="34" charset="-122"/>
              <a:ea typeface="微软雅黑" panose="020B0503020204020204" pitchFamily="34" charset="-122"/>
            </a:endParaRPr>
          </a:p>
          <a:p>
            <a:pPr marL="0" indent="0" algn="just" eaLnBrk="1" hangingPunct="1">
              <a:buClr>
                <a:schemeClr val="tx2"/>
              </a:buClr>
              <a:buSzPct val="75000"/>
              <a:buNone/>
            </a:pPr>
            <a:r>
              <a:rPr lang="zh-CN" altLang="en-US" b="1" dirty="0" smtClean="0">
                <a:latin typeface="微软雅黑" panose="020B0503020204020204" pitchFamily="34" charset="-122"/>
                <a:ea typeface="微软雅黑" panose="020B0503020204020204" pitchFamily="34" charset="-122"/>
              </a:rPr>
              <a:t>三、</a:t>
            </a:r>
            <a:r>
              <a:rPr lang="zh-CN" altLang="en-US" sz="3200" b="1" dirty="0" smtClean="0">
                <a:latin typeface="微软雅黑" panose="020B0503020204020204" pitchFamily="34" charset="-122"/>
                <a:ea typeface="微软雅黑" panose="020B0503020204020204" pitchFamily="34" charset="-122"/>
              </a:rPr>
              <a:t>自旋</a:t>
            </a:r>
            <a:r>
              <a:rPr lang="zh-CN" altLang="en-US" sz="3200" b="1" dirty="0">
                <a:latin typeface="微软雅黑" panose="020B0503020204020204" pitchFamily="34" charset="-122"/>
                <a:ea typeface="微软雅黑" panose="020B0503020204020204" pitchFamily="34" charset="-122"/>
              </a:rPr>
              <a:t>－自旋耦合</a:t>
            </a:r>
          </a:p>
          <a:p>
            <a:pPr eaLnBrk="1" hangingPunct="1"/>
            <a:endParaRPr lang="en-US" altLang="zh-CN" sz="3400" b="1" dirty="0">
              <a:ea typeface="楷体_GB2312" pitchFamily="49" charset="-122"/>
            </a:endParaRPr>
          </a:p>
        </p:txBody>
      </p:sp>
      <p:sp>
        <p:nvSpPr>
          <p:cNvPr id="7170"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eaLnBrk="1" hangingPunct="1"/>
            <a:fld id="{BB962C8B-B14F-4D97-AF65-F5344CB8AC3E}" type="datetime10">
              <a:rPr lang="zh-CN" altLang="en-US" sz="1000" dirty="0">
                <a:solidFill>
                  <a:prstClr val="black"/>
                </a:solidFill>
              </a:rPr>
              <a:pPr eaLnBrk="1" hangingPunct="1"/>
              <a:t>19:52</a:t>
            </a:fld>
            <a:endParaRPr lang="zh-CN" altLang="en-US" sz="1000" dirty="0">
              <a:solidFill>
                <a:prstClr val="black"/>
              </a:solidFill>
            </a:endParaRPr>
          </a:p>
        </p:txBody>
      </p:sp>
      <p:sp>
        <p:nvSpPr>
          <p:cNvPr id="717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eaLnBrk="1" hangingPunct="1"/>
            <a:fld id="{9A0DB2DC-4C9A-4742-B13C-FB6460FD3503}" type="slidenum">
              <a:rPr lang="en-US" altLang="zh-CN" sz="1000" dirty="0">
                <a:solidFill>
                  <a:prstClr val="black"/>
                </a:solidFill>
              </a:rPr>
              <a:pPr algn="r" eaLnBrk="1" hangingPunct="1"/>
              <a:t>1</a:t>
            </a:fld>
            <a:endParaRPr lang="en-US" altLang="zh-CN" sz="1000" dirty="0">
              <a:solidFill>
                <a:prstClr val="black"/>
              </a:solidFill>
            </a:endParaRPr>
          </a:p>
        </p:txBody>
      </p:sp>
    </p:spTree>
    <p:extLst>
      <p:ext uri="{BB962C8B-B14F-4D97-AF65-F5344CB8AC3E}">
        <p14:creationId xmlns:p14="http://schemas.microsoft.com/office/powerpoint/2010/main" val="1841893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eaLnBrk="1" hangingPunct="1"/>
            <a:fld id="{BB962C8B-B14F-4D97-AF65-F5344CB8AC3E}" type="datetime10">
              <a:rPr lang="zh-CN" altLang="en-US" sz="1000" dirty="0">
                <a:solidFill>
                  <a:prstClr val="black"/>
                </a:solidFill>
              </a:rPr>
              <a:pPr eaLnBrk="1" hangingPunct="1"/>
              <a:t>19:52</a:t>
            </a:fld>
            <a:endParaRPr lang="zh-CN" altLang="en-US" sz="1000" dirty="0">
              <a:solidFill>
                <a:prstClr val="black"/>
              </a:solidFill>
            </a:endParaRPr>
          </a:p>
        </p:txBody>
      </p:sp>
      <p:sp>
        <p:nvSpPr>
          <p:cNvPr id="30723"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eaLnBrk="1" hangingPunct="1"/>
            <a:fld id="{9A0DB2DC-4C9A-4742-B13C-FB6460FD3503}" type="slidenum">
              <a:rPr lang="en-US" altLang="zh-CN" sz="1000" dirty="0">
                <a:solidFill>
                  <a:prstClr val="black"/>
                </a:solidFill>
              </a:rPr>
              <a:pPr algn="r" eaLnBrk="1" hangingPunct="1"/>
              <a:t>2</a:t>
            </a:fld>
            <a:endParaRPr lang="en-US" altLang="zh-CN" sz="1000" dirty="0">
              <a:solidFill>
                <a:prstClr val="black"/>
              </a:solidFill>
            </a:endParaRPr>
          </a:p>
        </p:txBody>
      </p:sp>
      <p:sp>
        <p:nvSpPr>
          <p:cNvPr id="73730" name="Rectangle 2"/>
          <p:cNvSpPr/>
          <p:nvPr/>
        </p:nvSpPr>
        <p:spPr>
          <a:xfrm>
            <a:off x="684214" y="1707357"/>
            <a:ext cx="8351837" cy="1532727"/>
          </a:xfrm>
          <a:prstGeom prst="rect">
            <a:avLst/>
          </a:prstGeom>
          <a:noFill/>
          <a:ln w="9525">
            <a:noFill/>
          </a:ln>
        </p:spPr>
        <p:txBody>
          <a:bodyPr>
            <a:spAutoFit/>
          </a:bodyPr>
          <a:lstStyle/>
          <a:p>
            <a:pPr marL="457200" indent="-457200" eaLnBrk="0" hangingPunct="0">
              <a:lnSpc>
                <a:spcPct val="130000"/>
              </a:lnSpc>
              <a:buClr>
                <a:schemeClr val="tx2"/>
              </a:buClr>
              <a:buSzPct val="75000"/>
              <a:buFont typeface="Wingdings" panose="05000000000000000000" charset="0"/>
              <a:buChar char="u"/>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原子核的共振频率只与该核的旋磁比</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γ</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及外磁场</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4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有关。假如同一种核都只在同一频率下共振，对于结构分析有何用处？</a:t>
            </a:r>
            <a:endParaRPr lang="en-US" altLang="zh-CN" sz="2800" b="1" dirty="0">
              <a:solidFill>
                <a:srgbClr val="000000"/>
              </a:solidFill>
              <a:latin typeface="楷体_GB2312" pitchFamily="49" charset="-122"/>
              <a:ea typeface="楷体_GB2312" pitchFamily="49" charset="-122"/>
            </a:endParaRPr>
          </a:p>
        </p:txBody>
      </p:sp>
      <p:graphicFrame>
        <p:nvGraphicFramePr>
          <p:cNvPr id="30725" name="Object 3"/>
          <p:cNvGraphicFramePr>
            <a:graphicFrameLocks noChangeAspect="1"/>
          </p:cNvGraphicFramePr>
          <p:nvPr/>
        </p:nvGraphicFramePr>
        <p:xfrm>
          <a:off x="2386013" y="917973"/>
          <a:ext cx="2844800" cy="645319"/>
        </p:xfrm>
        <a:graphic>
          <a:graphicData uri="http://schemas.openxmlformats.org/presentationml/2006/ole">
            <mc:AlternateContent xmlns:mc="http://schemas.openxmlformats.org/markup-compatibility/2006">
              <mc:Choice xmlns:v="urn:schemas-microsoft-com:vml" Requires="v">
                <p:oleObj spid="_x0000_s20527" r:id="rId4" imgW="698500" imgH="393700" progId="Equation.3">
                  <p:embed/>
                </p:oleObj>
              </mc:Choice>
              <mc:Fallback>
                <p:oleObj r:id="rId4" imgW="698500" imgH="393700" progId="Equation.3">
                  <p:embed/>
                  <p:pic>
                    <p:nvPicPr>
                      <p:cNvPr id="0" name=""/>
                      <p:cNvPicPr/>
                      <p:nvPr/>
                    </p:nvPicPr>
                    <p:blipFill>
                      <a:blip r:embed="rId5"/>
                      <a:stretch>
                        <a:fillRect/>
                      </a:stretch>
                    </p:blipFill>
                    <p:spPr>
                      <a:xfrm>
                        <a:off x="2386013" y="917973"/>
                        <a:ext cx="2844800" cy="645319"/>
                      </a:xfrm>
                      <a:prstGeom prst="rect">
                        <a:avLst/>
                      </a:prstGeom>
                      <a:noFill/>
                      <a:ln w="38100">
                        <a:noFill/>
                        <a:miter/>
                      </a:ln>
                    </p:spPr>
                  </p:pic>
                </p:oleObj>
              </mc:Fallback>
            </mc:AlternateContent>
          </a:graphicData>
        </a:graphic>
      </p:graphicFrame>
      <p:sp>
        <p:nvSpPr>
          <p:cNvPr id="30726" name="Rectangle 5"/>
          <p:cNvSpPr/>
          <p:nvPr/>
        </p:nvSpPr>
        <p:spPr>
          <a:xfrm>
            <a:off x="2051522" y="178240"/>
            <a:ext cx="3455988" cy="646331"/>
          </a:xfrm>
          <a:prstGeom prst="rect">
            <a:avLst/>
          </a:prstGeom>
          <a:noFill/>
          <a:ln w="9525">
            <a:noFill/>
          </a:ln>
        </p:spPr>
        <p:txBody>
          <a:bodyPr>
            <a:spAutoFit/>
          </a:bodyPr>
          <a:lstStyle/>
          <a:p>
            <a:pPr algn="ctr" eaLnBrk="0" hangingPunct="0"/>
            <a:r>
              <a:rPr lang="zh-CN" altLang="en-US" sz="3600" b="1" dirty="0" smtClean="0">
                <a:solidFill>
                  <a:schemeClr val="accent1"/>
                </a:solidFill>
                <a:latin typeface="微软雅黑" panose="020B0503020204020204" pitchFamily="34" charset="-122"/>
                <a:ea typeface="微软雅黑" panose="020B0503020204020204" pitchFamily="34" charset="-122"/>
              </a:rPr>
              <a:t>二、化学位移</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33267" y="2699861"/>
            <a:ext cx="8253730" cy="1892826"/>
          </a:xfrm>
          <a:prstGeom prst="rect">
            <a:avLst/>
          </a:prstGeom>
          <a:noFill/>
        </p:spPr>
        <p:txBody>
          <a:bodyPr wrap="square" rtlCol="0" anchor="t">
            <a:spAutoFit/>
          </a:bodyPr>
          <a:lstStyle/>
          <a:p>
            <a:pPr marL="457200" indent="-457200" eaLnBrk="0" hangingPunct="0">
              <a:lnSpc>
                <a:spcPct val="130000"/>
              </a:lnSpc>
              <a:buFont typeface="Wingdings" panose="05000000000000000000" charset="0"/>
              <a:buChar char="u"/>
            </a:pPr>
            <a:endPar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eaLnBrk="0" hangingPunct="0">
              <a:lnSpc>
                <a:spcPct val="130000"/>
              </a:lnSpc>
              <a:buClr>
                <a:schemeClr val="tx2"/>
              </a:buClr>
              <a:buSzPct val="75000"/>
              <a:buFont typeface="Wingdings" panose="05000000000000000000" charset="0"/>
              <a:buChar char="u"/>
            </a:pP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实验发现处于</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不同化学环境</a:t>
            </a:r>
            <a:r>
              <a:rPr lang="zh-CN" altLang="en-US" sz="24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的同种原子核</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有不同共振频率</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这为有机物结构分析提供了可能。</a:t>
            </a:r>
            <a:endParaRPr lang="zh-CN" altLang="en-US" sz="2800" b="1" dirty="0">
              <a:solidFill>
                <a:srgbClr val="000000"/>
              </a:solidFill>
              <a:latin typeface="楷体_GB2312" pitchFamily="49" charset="-122"/>
              <a:ea typeface="楷体_GB2312" pitchFamily="49" charset="-122"/>
            </a:endParaRPr>
          </a:p>
          <a:p>
            <a:pPr eaLnBrk="0" hangingPunct="0">
              <a:lnSpc>
                <a:spcPct val="130000"/>
              </a:lnSpc>
              <a:buFont typeface="Wingdings" panose="05000000000000000000" pitchFamily="2" charset="2"/>
              <a:buChar char="Ø"/>
            </a:pPr>
            <a:endParaRPr lang="zh-CN" altLang="en-US" dirty="0">
              <a:solidFill>
                <a:prstClr val="black"/>
              </a:solidFill>
            </a:endParaRPr>
          </a:p>
        </p:txBody>
      </p:sp>
    </p:spTree>
    <p:extLst>
      <p:ext uri="{BB962C8B-B14F-4D97-AF65-F5344CB8AC3E}">
        <p14:creationId xmlns:p14="http://schemas.microsoft.com/office/powerpoint/2010/main" val="37276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2" name="Rectangle 38"/>
          <p:cNvSpPr>
            <a:spLocks noGrp="1"/>
          </p:cNvSpPr>
          <p:nvPr>
            <p:ph type="title"/>
          </p:nvPr>
        </p:nvSpPr>
        <p:spPr>
          <a:xfrm>
            <a:off x="58738" y="17860"/>
            <a:ext cx="7543800" cy="517922"/>
          </a:xfrm>
        </p:spPr>
        <p:txBody>
          <a:bodyPr vert="horz" wrap="square" lIns="91440" tIns="45720" rIns="91440" bIns="45720" anchor="ctr"/>
          <a:lstStyle/>
          <a:p>
            <a:pPr algn="l" eaLnBrk="1" hangingPunct="1"/>
            <a:r>
              <a:rPr lang="en-US" altLang="zh-CN" sz="3200" b="1" dirty="0" smtClean="0">
                <a:solidFill>
                  <a:schemeClr val="accent1"/>
                </a:solidFill>
                <a:latin typeface="微软雅黑" panose="020B0503020204020204" pitchFamily="34" charset="-122"/>
                <a:ea typeface="微软雅黑" panose="020B0503020204020204" pitchFamily="34" charset="-122"/>
              </a:rPr>
              <a:t>1.</a:t>
            </a:r>
            <a:r>
              <a:rPr lang="zh-CN" altLang="en-US" sz="3200" b="1" dirty="0" smtClean="0">
                <a:solidFill>
                  <a:schemeClr val="accent1"/>
                </a:solidFill>
                <a:latin typeface="微软雅黑" panose="020B0503020204020204" pitchFamily="34" charset="-122"/>
                <a:ea typeface="微软雅黑" panose="020B0503020204020204" pitchFamily="34" charset="-122"/>
              </a:rPr>
              <a:t>化学位移</a:t>
            </a:r>
            <a:r>
              <a:rPr lang="zh-CN" altLang="en-US" sz="3200" b="1" dirty="0">
                <a:solidFill>
                  <a:schemeClr val="accent1"/>
                </a:solidFill>
                <a:latin typeface="微软雅黑" panose="020B0503020204020204" pitchFamily="34" charset="-122"/>
                <a:ea typeface="微软雅黑" panose="020B0503020204020204" pitchFamily="34" charset="-122"/>
              </a:rPr>
              <a:t>的产生</a:t>
            </a:r>
          </a:p>
        </p:txBody>
      </p:sp>
      <p:sp>
        <p:nvSpPr>
          <p:cNvPr id="31748" name="Rectangle 2"/>
          <p:cNvSpPr>
            <a:spLocks noGrp="1"/>
          </p:cNvSpPr>
          <p:nvPr>
            <p:ph idx="1"/>
          </p:nvPr>
        </p:nvSpPr>
        <p:spPr>
          <a:xfrm>
            <a:off x="462281" y="745332"/>
            <a:ext cx="4402137" cy="342900"/>
          </a:xfrm>
        </p:spPr>
        <p:txBody>
          <a:bodyPr vert="horz" wrap="square" lIns="91440" tIns="45720" rIns="91440" bIns="45720" anchor="t"/>
          <a:lstStyle/>
          <a:p>
            <a:pPr eaLnBrk="1" hangingPunct="1">
              <a:buClr>
                <a:schemeClr val="tx2"/>
              </a:buClr>
              <a:buSzPct val="75000"/>
              <a:buFont typeface="Wingdings" panose="05000000000000000000" charset="0"/>
              <a:buChar char="u"/>
            </a:pPr>
            <a:r>
              <a:rPr lang="en-US" altLang="zh-CN" sz="2800" b="1" dirty="0">
                <a:solidFill>
                  <a:srgbClr val="C00000"/>
                </a:solidFill>
                <a:ea typeface="楷体_GB2312" pitchFamily="49" charset="-122"/>
              </a:rPr>
              <a:t> </a:t>
            </a:r>
            <a:r>
              <a:rPr lang="zh-CN" altLang="en-US" sz="2800" b="1" dirty="0">
                <a:latin typeface="微软雅黑" panose="020B0503020204020204" pitchFamily="34" charset="-122"/>
                <a:ea typeface="微软雅黑" panose="020B0503020204020204" pitchFamily="34" charset="-122"/>
              </a:rPr>
              <a:t>裸露的核</a:t>
            </a:r>
            <a:r>
              <a:rPr lang="zh-CN" altLang="en-US" sz="2800" b="1" dirty="0">
                <a:solidFill>
                  <a:srgbClr val="C00000"/>
                </a:solidFill>
                <a:ea typeface="楷体_GB2312" pitchFamily="49" charset="-122"/>
              </a:rPr>
              <a:t>               </a:t>
            </a:r>
            <a:endParaRPr lang="zh-CN" altLang="en-US" sz="2800" dirty="0">
              <a:solidFill>
                <a:srgbClr val="C00000"/>
              </a:solidFill>
            </a:endParaRPr>
          </a:p>
        </p:txBody>
      </p:sp>
      <p:sp>
        <p:nvSpPr>
          <p:cNvPr id="31746"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3174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3</a:t>
            </a:fld>
            <a:endParaRPr lang="en-US" altLang="zh-CN" sz="1000" dirty="0"/>
          </a:p>
        </p:txBody>
      </p:sp>
      <p:graphicFrame>
        <p:nvGraphicFramePr>
          <p:cNvPr id="31749" name="Object 3"/>
          <p:cNvGraphicFramePr>
            <a:graphicFrameLocks noChangeAspect="1"/>
          </p:cNvGraphicFramePr>
          <p:nvPr>
            <p:extLst>
              <p:ext uri="{D42A27DB-BD31-4B8C-83A1-F6EECF244321}">
                <p14:modId xmlns:p14="http://schemas.microsoft.com/office/powerpoint/2010/main" val="2402179529"/>
              </p:ext>
            </p:extLst>
          </p:nvPr>
        </p:nvGraphicFramePr>
        <p:xfrm>
          <a:off x="2601715" y="887193"/>
          <a:ext cx="1824037" cy="702469"/>
        </p:xfrm>
        <a:graphic>
          <a:graphicData uri="http://schemas.openxmlformats.org/presentationml/2006/ole">
            <mc:AlternateContent xmlns:mc="http://schemas.openxmlformats.org/markup-compatibility/2006">
              <mc:Choice xmlns:v="urn:schemas-microsoft-com:vml" Requires="v">
                <p:oleObj spid="_x0000_s9571" r:id="rId4" imgW="596900" imgH="355600" progId="Equation.3">
                  <p:embed/>
                </p:oleObj>
              </mc:Choice>
              <mc:Fallback>
                <p:oleObj r:id="rId4" imgW="596900" imgH="355600" progId="Equation.3">
                  <p:embed/>
                  <p:pic>
                    <p:nvPicPr>
                      <p:cNvPr id="0" name="图片 3081"/>
                      <p:cNvPicPr/>
                      <p:nvPr/>
                    </p:nvPicPr>
                    <p:blipFill>
                      <a:blip r:embed="rId5"/>
                      <a:stretch>
                        <a:fillRect/>
                      </a:stretch>
                    </p:blipFill>
                    <p:spPr>
                      <a:xfrm>
                        <a:off x="2601715" y="887193"/>
                        <a:ext cx="1824037" cy="702469"/>
                      </a:xfrm>
                      <a:prstGeom prst="rect">
                        <a:avLst/>
                      </a:prstGeom>
                      <a:noFill/>
                      <a:ln w="38100">
                        <a:noFill/>
                        <a:miter/>
                      </a:ln>
                    </p:spPr>
                  </p:pic>
                </p:oleObj>
              </mc:Fallback>
            </mc:AlternateContent>
          </a:graphicData>
        </a:graphic>
      </p:graphicFrame>
      <p:grpSp>
        <p:nvGrpSpPr>
          <p:cNvPr id="31750" name="Group 4"/>
          <p:cNvGrpSpPr/>
          <p:nvPr/>
        </p:nvGrpSpPr>
        <p:grpSpPr>
          <a:xfrm>
            <a:off x="6629400" y="342901"/>
            <a:ext cx="1177925" cy="976313"/>
            <a:chOff x="4032" y="1104"/>
            <a:chExt cx="742" cy="820"/>
          </a:xfrm>
        </p:grpSpPr>
        <p:sp>
          <p:nvSpPr>
            <p:cNvPr id="74757" name="Oval 5"/>
            <p:cNvSpPr>
              <a:spLocks noChangeArrowheads="1"/>
            </p:cNvSpPr>
            <p:nvPr/>
          </p:nvSpPr>
          <p:spPr bwMode="auto">
            <a:xfrm>
              <a:off x="4032" y="1104"/>
              <a:ext cx="288" cy="288"/>
            </a:xfrm>
            <a:prstGeom prst="ellipse">
              <a:avLst/>
            </a:prstGeom>
            <a:gradFill rotWithShape="0">
              <a:gsLst>
                <a:gs pos="0">
                  <a:schemeClr val="hlink"/>
                </a:gs>
                <a:gs pos="100000">
                  <a:schemeClr val="hlink">
                    <a:gamma/>
                    <a:shade val="46275"/>
                    <a:invGamma/>
                  </a:schemeClr>
                </a:gs>
              </a:gsLst>
              <a:path path="shape">
                <a:fillToRect l="50000" t="50000" r="50000" b="50000"/>
              </a:path>
            </a:gradFill>
            <a:ln w="9525">
              <a:solidFill>
                <a:schemeClr val="tx1"/>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783" name="Line 6"/>
            <p:cNvSpPr/>
            <p:nvPr/>
          </p:nvSpPr>
          <p:spPr>
            <a:xfrm flipV="1">
              <a:off x="4032" y="1536"/>
              <a:ext cx="0" cy="240"/>
            </a:xfrm>
            <a:prstGeom prst="line">
              <a:avLst/>
            </a:prstGeom>
            <a:ln w="9525" cap="flat" cmpd="sng">
              <a:solidFill>
                <a:schemeClr val="tx1"/>
              </a:solidFill>
              <a:prstDash val="solid"/>
              <a:headEnd type="none" w="med" len="med"/>
              <a:tailEnd type="triangle" w="med" len="med"/>
            </a:ln>
          </p:spPr>
        </p:sp>
        <p:sp>
          <p:nvSpPr>
            <p:cNvPr id="31784" name="Line 7"/>
            <p:cNvSpPr/>
            <p:nvPr/>
          </p:nvSpPr>
          <p:spPr>
            <a:xfrm flipV="1">
              <a:off x="4224" y="1536"/>
              <a:ext cx="0" cy="240"/>
            </a:xfrm>
            <a:prstGeom prst="line">
              <a:avLst/>
            </a:prstGeom>
            <a:ln w="9525" cap="flat" cmpd="sng">
              <a:solidFill>
                <a:schemeClr val="tx1"/>
              </a:solidFill>
              <a:prstDash val="solid"/>
              <a:headEnd type="none" w="med" len="med"/>
              <a:tailEnd type="triangle" w="med" len="med"/>
            </a:ln>
          </p:spPr>
        </p:sp>
        <p:sp>
          <p:nvSpPr>
            <p:cNvPr id="31785" name="Line 8"/>
            <p:cNvSpPr/>
            <p:nvPr/>
          </p:nvSpPr>
          <p:spPr>
            <a:xfrm flipV="1">
              <a:off x="4416" y="1536"/>
              <a:ext cx="0" cy="240"/>
            </a:xfrm>
            <a:prstGeom prst="line">
              <a:avLst/>
            </a:prstGeom>
            <a:ln w="9525" cap="flat" cmpd="sng">
              <a:solidFill>
                <a:schemeClr val="tx1"/>
              </a:solidFill>
              <a:prstDash val="solid"/>
              <a:headEnd type="none" w="med" len="med"/>
              <a:tailEnd type="triangle" w="med" len="med"/>
            </a:ln>
          </p:spPr>
        </p:sp>
        <p:sp>
          <p:nvSpPr>
            <p:cNvPr id="31786" name="Rectangle 9"/>
            <p:cNvSpPr/>
            <p:nvPr/>
          </p:nvSpPr>
          <p:spPr>
            <a:xfrm>
              <a:off x="4464" y="1536"/>
              <a:ext cx="310" cy="388"/>
            </a:xfrm>
            <a:prstGeom prst="rect">
              <a:avLst/>
            </a:prstGeom>
            <a:noFill/>
            <a:ln w="9525">
              <a:noFill/>
            </a:ln>
          </p:spPr>
          <p:txBody>
            <a:bodyPr wrap="none">
              <a:spAutoFit/>
            </a:bodyPr>
            <a:lstStyle/>
            <a:p>
              <a:r>
                <a:rPr lang="en-US" altLang="zh-CN" sz="2400" b="1" i="1" dirty="0">
                  <a:latin typeface="Times New Roman" panose="02020603050405020304" pitchFamily="18" charset="0"/>
                </a:rPr>
                <a:t>B</a:t>
              </a:r>
              <a:r>
                <a:rPr lang="en-US" altLang="zh-CN" sz="2400" b="1" baseline="-25000" dirty="0">
                  <a:latin typeface="Times New Roman" panose="02020603050405020304" pitchFamily="18" charset="0"/>
                </a:rPr>
                <a:t>0</a:t>
              </a:r>
            </a:p>
          </p:txBody>
        </p:sp>
      </p:grpSp>
      <p:grpSp>
        <p:nvGrpSpPr>
          <p:cNvPr id="74762" name="Group 10"/>
          <p:cNvGrpSpPr/>
          <p:nvPr/>
        </p:nvGrpSpPr>
        <p:grpSpPr>
          <a:xfrm>
            <a:off x="462281" y="1589661"/>
            <a:ext cx="6648450" cy="2627709"/>
            <a:chOff x="768" y="1776"/>
            <a:chExt cx="4188" cy="2016"/>
          </a:xfrm>
        </p:grpSpPr>
        <p:grpSp>
          <p:nvGrpSpPr>
            <p:cNvPr id="31755" name="Group 11"/>
            <p:cNvGrpSpPr/>
            <p:nvPr/>
          </p:nvGrpSpPr>
          <p:grpSpPr>
            <a:xfrm>
              <a:off x="3696" y="1776"/>
              <a:ext cx="1260" cy="2016"/>
              <a:chOff x="3696" y="1824"/>
              <a:chExt cx="1260" cy="2016"/>
            </a:xfrm>
          </p:grpSpPr>
          <p:sp>
            <p:nvSpPr>
              <p:cNvPr id="74764" name="Oval 12"/>
              <p:cNvSpPr>
                <a:spLocks noChangeArrowheads="1"/>
              </p:cNvSpPr>
              <p:nvPr/>
            </p:nvSpPr>
            <p:spPr bwMode="auto">
              <a:xfrm>
                <a:off x="4176" y="2496"/>
                <a:ext cx="288" cy="288"/>
              </a:xfrm>
              <a:prstGeom prst="ellipse">
                <a:avLst/>
              </a:prstGeom>
              <a:gradFill rotWithShape="0">
                <a:gsLst>
                  <a:gs pos="0">
                    <a:schemeClr val="hlink"/>
                  </a:gs>
                  <a:gs pos="100000">
                    <a:schemeClr val="hlink">
                      <a:gamma/>
                      <a:shade val="46275"/>
                      <a:invGamma/>
                    </a:schemeClr>
                  </a:gs>
                </a:gsLst>
                <a:path path="shape">
                  <a:fillToRect l="50000" t="50000" r="50000" b="50000"/>
                </a:path>
              </a:gradFill>
              <a:ln w="28575">
                <a:solidFill>
                  <a:schemeClr val="tx1"/>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758" name="Oval 13"/>
              <p:cNvSpPr/>
              <p:nvPr/>
            </p:nvSpPr>
            <p:spPr>
              <a:xfrm>
                <a:off x="3792" y="2352"/>
                <a:ext cx="1056" cy="528"/>
              </a:xfrm>
              <a:prstGeom prst="ellipse">
                <a:avLst/>
              </a:prstGeom>
              <a:noFill/>
              <a:ln w="28575" cap="flat" cmpd="sng">
                <a:solidFill>
                  <a:srgbClr val="FFCC66"/>
                </a:solidFill>
                <a:prstDash val="solid"/>
                <a:headEnd type="none" w="med" len="med"/>
                <a:tailEnd type="none" w="med" len="med"/>
              </a:ln>
            </p:spPr>
            <p:txBody>
              <a:bodyPr wrap="none" anchor="ctr"/>
              <a:lstStyle/>
              <a:p>
                <a:endParaRPr lang="zh-CN" altLang="en-US" dirty="0">
                  <a:latin typeface="Arial" panose="020B0604020202020204" pitchFamily="34" charset="0"/>
                </a:endParaRPr>
              </a:p>
            </p:txBody>
          </p:sp>
          <p:sp>
            <p:nvSpPr>
              <p:cNvPr id="31759" name="Line 14"/>
              <p:cNvSpPr/>
              <p:nvPr/>
            </p:nvSpPr>
            <p:spPr>
              <a:xfrm flipV="1">
                <a:off x="3984" y="3312"/>
                <a:ext cx="0" cy="528"/>
              </a:xfrm>
              <a:prstGeom prst="line">
                <a:avLst/>
              </a:prstGeom>
              <a:ln w="28575" cap="flat" cmpd="sng">
                <a:solidFill>
                  <a:schemeClr val="tx1"/>
                </a:solidFill>
                <a:prstDash val="solid"/>
                <a:headEnd type="none" w="med" len="med"/>
                <a:tailEnd type="triangle" w="med" len="med"/>
              </a:ln>
            </p:spPr>
          </p:sp>
          <p:sp>
            <p:nvSpPr>
              <p:cNvPr id="31760" name="Line 15"/>
              <p:cNvSpPr/>
              <p:nvPr/>
            </p:nvSpPr>
            <p:spPr>
              <a:xfrm flipV="1">
                <a:off x="4176" y="3312"/>
                <a:ext cx="0" cy="528"/>
              </a:xfrm>
              <a:prstGeom prst="line">
                <a:avLst/>
              </a:prstGeom>
              <a:ln w="28575" cap="flat" cmpd="sng">
                <a:solidFill>
                  <a:schemeClr val="tx1"/>
                </a:solidFill>
                <a:prstDash val="solid"/>
                <a:headEnd type="none" w="med" len="med"/>
                <a:tailEnd type="triangle" w="med" len="med"/>
              </a:ln>
            </p:spPr>
          </p:sp>
          <p:sp>
            <p:nvSpPr>
              <p:cNvPr id="31761" name="Line 16"/>
              <p:cNvSpPr/>
              <p:nvPr/>
            </p:nvSpPr>
            <p:spPr>
              <a:xfrm flipV="1">
                <a:off x="4368" y="3312"/>
                <a:ext cx="0" cy="528"/>
              </a:xfrm>
              <a:prstGeom prst="line">
                <a:avLst/>
              </a:prstGeom>
              <a:ln w="28575" cap="flat" cmpd="sng">
                <a:solidFill>
                  <a:schemeClr val="tx1"/>
                </a:solidFill>
                <a:prstDash val="solid"/>
                <a:headEnd type="none" w="med" len="med"/>
                <a:tailEnd type="triangle" w="med" len="med"/>
              </a:ln>
            </p:spPr>
          </p:sp>
          <p:sp>
            <p:nvSpPr>
              <p:cNvPr id="31762" name="Line 17"/>
              <p:cNvSpPr/>
              <p:nvPr/>
            </p:nvSpPr>
            <p:spPr>
              <a:xfrm flipV="1">
                <a:off x="4560" y="3312"/>
                <a:ext cx="0" cy="528"/>
              </a:xfrm>
              <a:prstGeom prst="line">
                <a:avLst/>
              </a:prstGeom>
              <a:ln w="28575" cap="flat" cmpd="sng">
                <a:solidFill>
                  <a:schemeClr val="tx1"/>
                </a:solidFill>
                <a:prstDash val="solid"/>
                <a:headEnd type="none" w="med" len="med"/>
                <a:tailEnd type="triangle" w="med" len="med"/>
              </a:ln>
            </p:spPr>
          </p:sp>
          <p:grpSp>
            <p:nvGrpSpPr>
              <p:cNvPr id="31763" name="Group 18"/>
              <p:cNvGrpSpPr/>
              <p:nvPr/>
            </p:nvGrpSpPr>
            <p:grpSpPr>
              <a:xfrm rot="10756655">
                <a:off x="3696" y="2016"/>
                <a:ext cx="527" cy="1152"/>
                <a:chOff x="2592" y="2208"/>
                <a:chExt cx="336" cy="1104"/>
              </a:xfrm>
            </p:grpSpPr>
            <p:sp>
              <p:nvSpPr>
                <p:cNvPr id="31780" name="Oval 19"/>
                <p:cNvSpPr/>
                <p:nvPr/>
              </p:nvSpPr>
              <p:spPr>
                <a:xfrm>
                  <a:off x="2592" y="2208"/>
                  <a:ext cx="336" cy="1104"/>
                </a:xfrm>
                <a:prstGeom prst="ellipse">
                  <a:avLst/>
                </a:prstGeom>
                <a:noFill/>
                <a:ln w="28575" cap="flat" cmpd="sng">
                  <a:solidFill>
                    <a:srgbClr val="CC0066"/>
                  </a:solidFill>
                  <a:prstDash val="solid"/>
                  <a:headEnd type="none" w="med" len="med"/>
                  <a:tailEnd type="none" w="med" len="med"/>
                </a:ln>
              </p:spPr>
              <p:txBody>
                <a:bodyPr wrap="none" anchor="ctr"/>
                <a:lstStyle/>
                <a:p>
                  <a:endParaRPr lang="zh-CN" altLang="en-US" dirty="0">
                    <a:latin typeface="Arial" panose="020B0604020202020204" pitchFamily="34" charset="0"/>
                  </a:endParaRPr>
                </a:p>
              </p:txBody>
            </p:sp>
            <p:sp>
              <p:nvSpPr>
                <p:cNvPr id="31781" name="Oval 20"/>
                <p:cNvSpPr/>
                <p:nvPr/>
              </p:nvSpPr>
              <p:spPr>
                <a:xfrm>
                  <a:off x="2640" y="2304"/>
                  <a:ext cx="192" cy="864"/>
                </a:xfrm>
                <a:prstGeom prst="ellipse">
                  <a:avLst/>
                </a:prstGeom>
                <a:noFill/>
                <a:ln w="28575" cap="flat" cmpd="sng">
                  <a:solidFill>
                    <a:srgbClr val="CC0066"/>
                  </a:solidFill>
                  <a:prstDash val="solid"/>
                  <a:headEnd type="none" w="med" len="med"/>
                  <a:tailEnd type="none" w="med" len="med"/>
                </a:ln>
              </p:spPr>
              <p:txBody>
                <a:bodyPr wrap="none" anchor="ctr"/>
                <a:lstStyle/>
                <a:p>
                  <a:endParaRPr lang="zh-CN" altLang="en-US" dirty="0">
                    <a:latin typeface="Arial" panose="020B0604020202020204" pitchFamily="34" charset="0"/>
                  </a:endParaRPr>
                </a:p>
              </p:txBody>
            </p:sp>
          </p:grpSp>
          <p:grpSp>
            <p:nvGrpSpPr>
              <p:cNvPr id="31764" name="Group 21"/>
              <p:cNvGrpSpPr/>
              <p:nvPr/>
            </p:nvGrpSpPr>
            <p:grpSpPr>
              <a:xfrm>
                <a:off x="4416" y="2016"/>
                <a:ext cx="480" cy="1152"/>
                <a:chOff x="2592" y="2208"/>
                <a:chExt cx="336" cy="1104"/>
              </a:xfrm>
            </p:grpSpPr>
            <p:sp>
              <p:nvSpPr>
                <p:cNvPr id="31778" name="Oval 22"/>
                <p:cNvSpPr/>
                <p:nvPr/>
              </p:nvSpPr>
              <p:spPr>
                <a:xfrm>
                  <a:off x="2592" y="2208"/>
                  <a:ext cx="336" cy="1104"/>
                </a:xfrm>
                <a:prstGeom prst="ellipse">
                  <a:avLst/>
                </a:prstGeom>
                <a:noFill/>
                <a:ln w="28575" cap="flat" cmpd="sng">
                  <a:solidFill>
                    <a:srgbClr val="CC0066"/>
                  </a:solidFill>
                  <a:prstDash val="solid"/>
                  <a:headEnd type="none" w="med" len="med"/>
                  <a:tailEnd type="none" w="med" len="med"/>
                </a:ln>
              </p:spPr>
              <p:txBody>
                <a:bodyPr wrap="none" anchor="ctr"/>
                <a:lstStyle/>
                <a:p>
                  <a:endParaRPr lang="zh-CN" altLang="en-US" dirty="0">
                    <a:latin typeface="Arial" panose="020B0604020202020204" pitchFamily="34" charset="0"/>
                  </a:endParaRPr>
                </a:p>
              </p:txBody>
            </p:sp>
            <p:sp>
              <p:nvSpPr>
                <p:cNvPr id="31779" name="Oval 23"/>
                <p:cNvSpPr/>
                <p:nvPr/>
              </p:nvSpPr>
              <p:spPr>
                <a:xfrm>
                  <a:off x="2640" y="2304"/>
                  <a:ext cx="192" cy="864"/>
                </a:xfrm>
                <a:prstGeom prst="ellipse">
                  <a:avLst/>
                </a:prstGeom>
                <a:noFill/>
                <a:ln w="28575" cap="flat" cmpd="sng">
                  <a:solidFill>
                    <a:srgbClr val="CC0066"/>
                  </a:solidFill>
                  <a:prstDash val="solid"/>
                  <a:headEnd type="none" w="med" len="med"/>
                  <a:tailEnd type="none" w="med" len="med"/>
                </a:ln>
              </p:spPr>
              <p:txBody>
                <a:bodyPr wrap="none" anchor="ctr"/>
                <a:lstStyle/>
                <a:p>
                  <a:endParaRPr lang="zh-CN" altLang="en-US" dirty="0">
                    <a:latin typeface="Arial" panose="020B0604020202020204" pitchFamily="34" charset="0"/>
                  </a:endParaRPr>
                </a:p>
              </p:txBody>
            </p:sp>
          </p:grpSp>
          <p:sp>
            <p:nvSpPr>
              <p:cNvPr id="31765" name="Freeform 24"/>
              <p:cNvSpPr/>
              <p:nvPr/>
            </p:nvSpPr>
            <p:spPr>
              <a:xfrm>
                <a:off x="3888" y="1824"/>
                <a:ext cx="392" cy="1480"/>
              </a:xfrm>
              <a:custGeom>
                <a:avLst/>
                <a:gdLst/>
                <a:ahLst/>
                <a:cxnLst>
                  <a:cxn ang="0">
                    <a:pos x="144" y="0"/>
                  </a:cxn>
                  <a:cxn ang="0">
                    <a:pos x="240" y="48"/>
                  </a:cxn>
                  <a:cxn ang="0">
                    <a:pos x="288" y="144"/>
                  </a:cxn>
                  <a:cxn ang="0">
                    <a:pos x="336" y="288"/>
                  </a:cxn>
                  <a:cxn ang="0">
                    <a:pos x="384" y="528"/>
                  </a:cxn>
                  <a:cxn ang="0">
                    <a:pos x="384" y="720"/>
                  </a:cxn>
                  <a:cxn ang="0">
                    <a:pos x="336" y="1200"/>
                  </a:cxn>
                  <a:cxn ang="0">
                    <a:pos x="144" y="1440"/>
                  </a:cxn>
                  <a:cxn ang="0">
                    <a:pos x="0" y="1440"/>
                  </a:cxn>
                </a:cxnLst>
                <a:rect l="0" t="0" r="0" b="0"/>
                <a:pathLst>
                  <a:path w="392" h="1480">
                    <a:moveTo>
                      <a:pt x="144" y="0"/>
                    </a:moveTo>
                    <a:cubicBezTo>
                      <a:pt x="180" y="12"/>
                      <a:pt x="216" y="24"/>
                      <a:pt x="240" y="48"/>
                    </a:cubicBezTo>
                    <a:cubicBezTo>
                      <a:pt x="264" y="72"/>
                      <a:pt x="272" y="104"/>
                      <a:pt x="288" y="144"/>
                    </a:cubicBezTo>
                    <a:cubicBezTo>
                      <a:pt x="304" y="184"/>
                      <a:pt x="320" y="224"/>
                      <a:pt x="336" y="288"/>
                    </a:cubicBezTo>
                    <a:cubicBezTo>
                      <a:pt x="352" y="352"/>
                      <a:pt x="376" y="456"/>
                      <a:pt x="384" y="528"/>
                    </a:cubicBezTo>
                    <a:cubicBezTo>
                      <a:pt x="392" y="600"/>
                      <a:pt x="392" y="608"/>
                      <a:pt x="384" y="720"/>
                    </a:cubicBezTo>
                    <a:cubicBezTo>
                      <a:pt x="376" y="832"/>
                      <a:pt x="376" y="1080"/>
                      <a:pt x="336" y="1200"/>
                    </a:cubicBezTo>
                    <a:cubicBezTo>
                      <a:pt x="296" y="1320"/>
                      <a:pt x="200" y="1400"/>
                      <a:pt x="144" y="1440"/>
                    </a:cubicBezTo>
                    <a:cubicBezTo>
                      <a:pt x="88" y="1480"/>
                      <a:pt x="24" y="1440"/>
                      <a:pt x="0" y="1440"/>
                    </a:cubicBezTo>
                  </a:path>
                </a:pathLst>
              </a:custGeom>
              <a:noFill/>
              <a:ln w="28575" cap="flat" cmpd="sng">
                <a:solidFill>
                  <a:srgbClr val="CC0066">
                    <a:alpha val="100000"/>
                  </a:srgbClr>
                </a:solidFill>
                <a:prstDash val="solid"/>
                <a:round/>
                <a:headEnd type="none" w="med" len="med"/>
                <a:tailEnd type="none" w="med" len="med"/>
              </a:ln>
            </p:spPr>
            <p:txBody>
              <a:bodyPr/>
              <a:lstStyle/>
              <a:p>
                <a:endParaRPr lang="zh-CN" altLang="en-US"/>
              </a:p>
            </p:txBody>
          </p:sp>
          <p:sp>
            <p:nvSpPr>
              <p:cNvPr id="31766" name="Freeform 25"/>
              <p:cNvSpPr/>
              <p:nvPr/>
            </p:nvSpPr>
            <p:spPr>
              <a:xfrm rot="10768430">
                <a:off x="4320" y="1824"/>
                <a:ext cx="392" cy="1480"/>
              </a:xfrm>
              <a:custGeom>
                <a:avLst/>
                <a:gdLst/>
                <a:ahLst/>
                <a:cxnLst>
                  <a:cxn ang="0">
                    <a:pos x="144" y="0"/>
                  </a:cxn>
                  <a:cxn ang="0">
                    <a:pos x="240" y="48"/>
                  </a:cxn>
                  <a:cxn ang="0">
                    <a:pos x="288" y="144"/>
                  </a:cxn>
                  <a:cxn ang="0">
                    <a:pos x="336" y="288"/>
                  </a:cxn>
                  <a:cxn ang="0">
                    <a:pos x="384" y="528"/>
                  </a:cxn>
                  <a:cxn ang="0">
                    <a:pos x="384" y="720"/>
                  </a:cxn>
                  <a:cxn ang="0">
                    <a:pos x="336" y="1200"/>
                  </a:cxn>
                  <a:cxn ang="0">
                    <a:pos x="144" y="1440"/>
                  </a:cxn>
                  <a:cxn ang="0">
                    <a:pos x="0" y="1440"/>
                  </a:cxn>
                </a:cxnLst>
                <a:rect l="0" t="0" r="0" b="0"/>
                <a:pathLst>
                  <a:path w="392" h="1480">
                    <a:moveTo>
                      <a:pt x="144" y="0"/>
                    </a:moveTo>
                    <a:cubicBezTo>
                      <a:pt x="180" y="12"/>
                      <a:pt x="216" y="24"/>
                      <a:pt x="240" y="48"/>
                    </a:cubicBezTo>
                    <a:cubicBezTo>
                      <a:pt x="264" y="72"/>
                      <a:pt x="272" y="104"/>
                      <a:pt x="288" y="144"/>
                    </a:cubicBezTo>
                    <a:cubicBezTo>
                      <a:pt x="304" y="184"/>
                      <a:pt x="320" y="224"/>
                      <a:pt x="336" y="288"/>
                    </a:cubicBezTo>
                    <a:cubicBezTo>
                      <a:pt x="352" y="352"/>
                      <a:pt x="376" y="456"/>
                      <a:pt x="384" y="528"/>
                    </a:cubicBezTo>
                    <a:cubicBezTo>
                      <a:pt x="392" y="600"/>
                      <a:pt x="392" y="608"/>
                      <a:pt x="384" y="720"/>
                    </a:cubicBezTo>
                    <a:cubicBezTo>
                      <a:pt x="376" y="832"/>
                      <a:pt x="376" y="1080"/>
                      <a:pt x="336" y="1200"/>
                    </a:cubicBezTo>
                    <a:cubicBezTo>
                      <a:pt x="296" y="1320"/>
                      <a:pt x="200" y="1400"/>
                      <a:pt x="144" y="1440"/>
                    </a:cubicBezTo>
                    <a:cubicBezTo>
                      <a:pt x="88" y="1480"/>
                      <a:pt x="24" y="1440"/>
                      <a:pt x="0" y="1440"/>
                    </a:cubicBezTo>
                  </a:path>
                </a:pathLst>
              </a:custGeom>
              <a:noFill/>
              <a:ln w="28575" cap="flat" cmpd="sng">
                <a:solidFill>
                  <a:srgbClr val="CC0066">
                    <a:alpha val="100000"/>
                  </a:srgbClr>
                </a:solidFill>
                <a:prstDash val="solid"/>
                <a:round/>
                <a:headEnd type="none" w="med" len="med"/>
                <a:tailEnd type="none" w="med" len="med"/>
              </a:ln>
            </p:spPr>
            <p:txBody>
              <a:bodyPr/>
              <a:lstStyle/>
              <a:p>
                <a:endParaRPr lang="zh-CN" altLang="en-US"/>
              </a:p>
            </p:txBody>
          </p:sp>
          <p:sp>
            <p:nvSpPr>
              <p:cNvPr id="31767" name="Text Box 26"/>
              <p:cNvSpPr txBox="1"/>
              <p:nvPr/>
            </p:nvSpPr>
            <p:spPr>
              <a:xfrm>
                <a:off x="4646" y="3482"/>
                <a:ext cx="310" cy="354"/>
              </a:xfrm>
              <a:prstGeom prst="rect">
                <a:avLst/>
              </a:prstGeom>
              <a:noFill/>
              <a:ln w="28575">
                <a:noFill/>
              </a:ln>
            </p:spPr>
            <p:txBody>
              <a:bodyPr wrap="none">
                <a:spAutoFit/>
              </a:bodyPr>
              <a:lstStyle/>
              <a:p>
                <a:r>
                  <a:rPr lang="en-US" altLang="zh-CN" sz="2400" b="1" i="1" dirty="0">
                    <a:latin typeface="Times New Roman" panose="02020603050405020304" pitchFamily="18" charset="0"/>
                  </a:rPr>
                  <a:t>B</a:t>
                </a:r>
                <a:r>
                  <a:rPr lang="en-US" altLang="zh-CN" sz="2400" b="1" baseline="-25000" dirty="0">
                    <a:latin typeface="Times New Roman" panose="02020603050405020304" pitchFamily="18" charset="0"/>
                  </a:rPr>
                  <a:t>0</a:t>
                </a:r>
              </a:p>
            </p:txBody>
          </p:sp>
          <p:sp>
            <p:nvSpPr>
              <p:cNvPr id="31768" name="Line 27"/>
              <p:cNvSpPr/>
              <p:nvPr/>
            </p:nvSpPr>
            <p:spPr>
              <a:xfrm flipV="1">
                <a:off x="4176" y="3072"/>
                <a:ext cx="0" cy="48"/>
              </a:xfrm>
              <a:prstGeom prst="line">
                <a:avLst/>
              </a:prstGeom>
              <a:ln w="28575" cap="flat" cmpd="sng">
                <a:solidFill>
                  <a:schemeClr val="tx1"/>
                </a:solidFill>
                <a:prstDash val="solid"/>
                <a:headEnd type="none" w="med" len="med"/>
                <a:tailEnd type="none" w="med" len="med"/>
              </a:ln>
            </p:spPr>
          </p:sp>
          <p:grpSp>
            <p:nvGrpSpPr>
              <p:cNvPr id="31769" name="Group 28"/>
              <p:cNvGrpSpPr/>
              <p:nvPr/>
            </p:nvGrpSpPr>
            <p:grpSpPr>
              <a:xfrm>
                <a:off x="4080" y="2928"/>
                <a:ext cx="432" cy="192"/>
                <a:chOff x="4080" y="2928"/>
                <a:chExt cx="432" cy="192"/>
              </a:xfrm>
            </p:grpSpPr>
            <p:sp>
              <p:nvSpPr>
                <p:cNvPr id="31770" name="Line 29"/>
                <p:cNvSpPr/>
                <p:nvPr/>
              </p:nvSpPr>
              <p:spPr>
                <a:xfrm flipV="1">
                  <a:off x="4176" y="3024"/>
                  <a:ext cx="96" cy="96"/>
                </a:xfrm>
                <a:prstGeom prst="line">
                  <a:avLst/>
                </a:prstGeom>
                <a:ln w="28575" cap="flat" cmpd="sng">
                  <a:solidFill>
                    <a:srgbClr val="CC0066"/>
                  </a:solidFill>
                  <a:prstDash val="solid"/>
                  <a:headEnd type="none" w="med" len="med"/>
                  <a:tailEnd type="none" w="med" len="med"/>
                </a:ln>
              </p:spPr>
            </p:sp>
            <p:sp>
              <p:nvSpPr>
                <p:cNvPr id="31771" name="Line 30"/>
                <p:cNvSpPr/>
                <p:nvPr/>
              </p:nvSpPr>
              <p:spPr>
                <a:xfrm>
                  <a:off x="4320" y="3024"/>
                  <a:ext cx="96" cy="96"/>
                </a:xfrm>
                <a:prstGeom prst="line">
                  <a:avLst/>
                </a:prstGeom>
                <a:ln w="28575" cap="flat" cmpd="sng">
                  <a:solidFill>
                    <a:srgbClr val="CC0066"/>
                  </a:solidFill>
                  <a:prstDash val="solid"/>
                  <a:headEnd type="none" w="med" len="med"/>
                  <a:tailEnd type="none" w="med" len="med"/>
                </a:ln>
              </p:spPr>
            </p:sp>
            <p:sp>
              <p:nvSpPr>
                <p:cNvPr id="31772" name="Line 31"/>
                <p:cNvSpPr/>
                <p:nvPr/>
              </p:nvSpPr>
              <p:spPr>
                <a:xfrm flipV="1">
                  <a:off x="4416" y="2928"/>
                  <a:ext cx="0" cy="192"/>
                </a:xfrm>
                <a:prstGeom prst="line">
                  <a:avLst/>
                </a:prstGeom>
                <a:ln w="28575" cap="flat" cmpd="sng">
                  <a:solidFill>
                    <a:srgbClr val="CC0066"/>
                  </a:solidFill>
                  <a:prstDash val="solid"/>
                  <a:headEnd type="none" w="med" len="med"/>
                  <a:tailEnd type="none" w="med" len="med"/>
                </a:ln>
              </p:spPr>
            </p:sp>
            <p:sp>
              <p:nvSpPr>
                <p:cNvPr id="31773" name="Line 32"/>
                <p:cNvSpPr/>
                <p:nvPr/>
              </p:nvSpPr>
              <p:spPr>
                <a:xfrm flipV="1">
                  <a:off x="4176" y="2976"/>
                  <a:ext cx="0" cy="96"/>
                </a:xfrm>
                <a:prstGeom prst="line">
                  <a:avLst/>
                </a:prstGeom>
                <a:ln w="28575" cap="flat" cmpd="sng">
                  <a:solidFill>
                    <a:srgbClr val="CC0066"/>
                  </a:solidFill>
                  <a:prstDash val="solid"/>
                  <a:headEnd type="none" w="med" len="med"/>
                  <a:tailEnd type="none" w="med" len="med"/>
                </a:ln>
              </p:spPr>
            </p:sp>
            <p:sp>
              <p:nvSpPr>
                <p:cNvPr id="31774" name="Line 33"/>
                <p:cNvSpPr/>
                <p:nvPr/>
              </p:nvSpPr>
              <p:spPr>
                <a:xfrm flipV="1">
                  <a:off x="4512" y="2928"/>
                  <a:ext cx="0" cy="144"/>
                </a:xfrm>
                <a:prstGeom prst="line">
                  <a:avLst/>
                </a:prstGeom>
                <a:ln w="28575" cap="flat" cmpd="sng">
                  <a:solidFill>
                    <a:srgbClr val="CC0066"/>
                  </a:solidFill>
                  <a:prstDash val="solid"/>
                  <a:headEnd type="none" w="med" len="med"/>
                  <a:tailEnd type="none" w="med" len="med"/>
                </a:ln>
              </p:spPr>
            </p:sp>
            <p:sp>
              <p:nvSpPr>
                <p:cNvPr id="31775" name="Line 34"/>
                <p:cNvSpPr/>
                <p:nvPr/>
              </p:nvSpPr>
              <p:spPr>
                <a:xfrm flipH="1" flipV="1">
                  <a:off x="4416" y="3024"/>
                  <a:ext cx="96" cy="48"/>
                </a:xfrm>
                <a:prstGeom prst="line">
                  <a:avLst/>
                </a:prstGeom>
                <a:ln w="28575" cap="flat" cmpd="sng">
                  <a:solidFill>
                    <a:srgbClr val="CC0066"/>
                  </a:solidFill>
                  <a:prstDash val="solid"/>
                  <a:headEnd type="none" w="med" len="med"/>
                  <a:tailEnd type="none" w="med" len="med"/>
                </a:ln>
              </p:spPr>
            </p:sp>
            <p:sp>
              <p:nvSpPr>
                <p:cNvPr id="31776" name="Line 35"/>
                <p:cNvSpPr/>
                <p:nvPr/>
              </p:nvSpPr>
              <p:spPr>
                <a:xfrm flipV="1">
                  <a:off x="4080" y="2928"/>
                  <a:ext cx="48" cy="192"/>
                </a:xfrm>
                <a:prstGeom prst="line">
                  <a:avLst/>
                </a:prstGeom>
                <a:ln w="28575" cap="flat" cmpd="sng">
                  <a:solidFill>
                    <a:srgbClr val="CC0066"/>
                  </a:solidFill>
                  <a:prstDash val="solid"/>
                  <a:headEnd type="none" w="med" len="med"/>
                  <a:tailEnd type="none" w="med" len="med"/>
                </a:ln>
              </p:spPr>
            </p:sp>
            <p:sp>
              <p:nvSpPr>
                <p:cNvPr id="31777" name="Line 36"/>
                <p:cNvSpPr/>
                <p:nvPr/>
              </p:nvSpPr>
              <p:spPr>
                <a:xfrm flipV="1">
                  <a:off x="4080" y="3024"/>
                  <a:ext cx="144" cy="48"/>
                </a:xfrm>
                <a:prstGeom prst="line">
                  <a:avLst/>
                </a:prstGeom>
                <a:ln w="28575" cap="flat" cmpd="sng">
                  <a:solidFill>
                    <a:srgbClr val="CC0066"/>
                  </a:solidFill>
                  <a:prstDash val="solid"/>
                  <a:headEnd type="none" w="med" len="med"/>
                  <a:tailEnd type="none" w="med" len="med"/>
                </a:ln>
              </p:spPr>
            </p:sp>
          </p:grpSp>
        </p:grpSp>
        <p:sp>
          <p:nvSpPr>
            <p:cNvPr id="31756" name="Text Box 37"/>
            <p:cNvSpPr txBox="1"/>
            <p:nvPr/>
          </p:nvSpPr>
          <p:spPr>
            <a:xfrm>
              <a:off x="768" y="2016"/>
              <a:ext cx="3073" cy="968"/>
            </a:xfrm>
            <a:prstGeom prst="rect">
              <a:avLst/>
            </a:prstGeom>
            <a:noFill/>
            <a:ln w="28575">
              <a:noFill/>
            </a:ln>
          </p:spPr>
          <p:txBody>
            <a:bodyPr>
              <a:spAutoFit/>
            </a:bodyPr>
            <a:lstStyle/>
            <a:p>
              <a:pPr marL="457200" indent="-457200" eaLnBrk="0" hangingPunct="0">
                <a:buClr>
                  <a:schemeClr val="tx2"/>
                </a:buClr>
                <a:buSzPct val="75000"/>
                <a:buFont typeface="Wingdings" panose="05000000000000000000" charset="0"/>
                <a:buChar char="u"/>
              </a:pPr>
              <a:r>
                <a:rPr lang="zh-CN" altLang="en-US" sz="2800" b="1" dirty="0">
                  <a:latin typeface="微软雅黑" panose="020B0503020204020204" pitchFamily="34" charset="-122"/>
                  <a:ea typeface="微软雅黑" panose="020B0503020204020204" pitchFamily="34" charset="-122"/>
                </a:rPr>
                <a:t>核外有</a:t>
              </a:r>
              <a:r>
                <a:rPr lang="zh-CN" altLang="en-US" sz="2800" b="1" dirty="0" smtClean="0">
                  <a:latin typeface="微软雅黑" panose="020B0503020204020204" pitchFamily="34" charset="-122"/>
                  <a:ea typeface="微软雅黑" panose="020B0503020204020204" pitchFamily="34" charset="-122"/>
                </a:rPr>
                <a:t>电子云</a:t>
              </a:r>
              <a:endParaRPr lang="en-US" altLang="zh-CN" sz="2800" b="1" dirty="0">
                <a:latin typeface="微软雅黑" panose="020B0503020204020204" pitchFamily="34" charset="-122"/>
                <a:ea typeface="微软雅黑" panose="020B0503020204020204" pitchFamily="34" charset="-122"/>
              </a:endParaRPr>
            </a:p>
            <a:p>
              <a:pPr eaLnBrk="0" hangingPunct="0">
                <a:buClr>
                  <a:schemeClr val="tx2"/>
                </a:buClr>
                <a:buSzPct val="75000"/>
              </a:pPr>
              <a:r>
                <a:rPr lang="zh-CN" altLang="en-US" sz="2400" dirty="0" smtClean="0">
                  <a:latin typeface="微软雅黑" panose="020B0503020204020204" pitchFamily="34" charset="-122"/>
                  <a:ea typeface="微软雅黑" panose="020B0503020204020204" pitchFamily="34" charset="-122"/>
                  <a:cs typeface="微软雅黑" panose="020B0503020204020204" pitchFamily="34" charset="-122"/>
                </a:rPr>
                <a:t> 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原子核有屏蔽</a:t>
              </a:r>
              <a:r>
                <a:rPr lang="zh-CN" altLang="en-US" sz="2400" dirty="0" smtClean="0">
                  <a:latin typeface="微软雅黑" panose="020B0503020204020204" pitchFamily="34" charset="-122"/>
                  <a:ea typeface="微软雅黑" panose="020B0503020204020204" pitchFamily="34" charset="-122"/>
                  <a:cs typeface="微软雅黑" panose="020B0503020204020204" pitchFamily="34" charset="-122"/>
                </a:rPr>
                <a:t>作</a:t>
              </a:r>
              <a:r>
                <a:rPr lang="zh-CN" altLang="en-US" sz="2400" dirty="0" smtClean="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用</a:t>
              </a:r>
              <a:endParaRPr lang="en-US" altLang="zh-CN" sz="2400" dirty="0" smtClean="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eaLnBrk="0" hangingPunct="0">
                <a:buClr>
                  <a:schemeClr val="tx2"/>
                </a:buClr>
                <a:buSzPct val="75000"/>
              </a:pPr>
              <a:r>
                <a:rPr lang="zh-CN" altLang="en-US" sz="2400" dirty="0" smtClean="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屏蔽常数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表示屏蔽作用的大小</a:t>
              </a:r>
            </a:p>
          </p:txBody>
        </p:sp>
      </p:grpSp>
      <p:graphicFrame>
        <p:nvGraphicFramePr>
          <p:cNvPr id="74791" name="Object 39"/>
          <p:cNvGraphicFramePr>
            <a:graphicFrameLocks noChangeAspect="1"/>
          </p:cNvGraphicFramePr>
          <p:nvPr>
            <p:extLst>
              <p:ext uri="{D42A27DB-BD31-4B8C-83A1-F6EECF244321}">
                <p14:modId xmlns:p14="http://schemas.microsoft.com/office/powerpoint/2010/main" val="499932300"/>
              </p:ext>
            </p:extLst>
          </p:nvPr>
        </p:nvGraphicFramePr>
        <p:xfrm>
          <a:off x="1184077" y="4061013"/>
          <a:ext cx="3241675" cy="863204"/>
        </p:xfrm>
        <a:graphic>
          <a:graphicData uri="http://schemas.openxmlformats.org/presentationml/2006/ole">
            <mc:AlternateContent xmlns:mc="http://schemas.openxmlformats.org/markup-compatibility/2006">
              <mc:Choice xmlns:v="urn:schemas-microsoft-com:vml" Requires="v">
                <p:oleObj spid="_x0000_s9572" r:id="rId6" imgW="926465" imgH="355600" progId="Equation.3">
                  <p:embed/>
                </p:oleObj>
              </mc:Choice>
              <mc:Fallback>
                <p:oleObj r:id="rId6" imgW="926465" imgH="355600" progId="Equation.3">
                  <p:embed/>
                  <p:pic>
                    <p:nvPicPr>
                      <p:cNvPr id="0" name="图片 3082"/>
                      <p:cNvPicPr/>
                      <p:nvPr/>
                    </p:nvPicPr>
                    <p:blipFill>
                      <a:blip r:embed="rId7"/>
                      <a:stretch>
                        <a:fillRect/>
                      </a:stretch>
                    </p:blipFill>
                    <p:spPr>
                      <a:xfrm>
                        <a:off x="1184077" y="4061013"/>
                        <a:ext cx="3241675" cy="863204"/>
                      </a:xfrm>
                      <a:prstGeom prst="rect">
                        <a:avLst/>
                      </a:prstGeom>
                      <a:noFill/>
                      <a:ln w="38100">
                        <a:noFill/>
                        <a:miter/>
                      </a:ln>
                    </p:spPr>
                  </p:pic>
                </p:oleObj>
              </mc:Fallback>
            </mc:AlternateContent>
          </a:graphicData>
        </a:graphic>
      </p:graphicFrame>
      <p:sp>
        <p:nvSpPr>
          <p:cNvPr id="74792" name="Text Box 40"/>
          <p:cNvSpPr txBox="1"/>
          <p:nvPr/>
        </p:nvSpPr>
        <p:spPr>
          <a:xfrm>
            <a:off x="539552" y="3083048"/>
            <a:ext cx="5484535" cy="523220"/>
          </a:xfrm>
          <a:prstGeom prst="rect">
            <a:avLst/>
          </a:prstGeom>
          <a:noFill/>
          <a:ln w="9525">
            <a:noFill/>
          </a:ln>
        </p:spPr>
        <p:txBody>
          <a:bodyPr wrap="square">
            <a:spAutoFit/>
          </a:bodyPr>
          <a:lstStyle/>
          <a:p>
            <a:r>
              <a:rPr lang="zh-CN" altLang="en-US" sz="2400" dirty="0" smtClean="0">
                <a:latin typeface="微软雅黑" panose="020B0503020204020204" pitchFamily="34" charset="-122"/>
                <a:ea typeface="微软雅黑" panose="020B0503020204020204" pitchFamily="34" charset="-122"/>
              </a:rPr>
              <a:t>核</a:t>
            </a:r>
            <a:r>
              <a:rPr lang="zh-CN" altLang="en-US" sz="2400" dirty="0">
                <a:latin typeface="微软雅黑" panose="020B0503020204020204" pitchFamily="34" charset="-122"/>
                <a:ea typeface="微软雅黑" panose="020B0503020204020204" pitchFamily="34" charset="-122"/>
              </a:rPr>
              <a:t>实际受到的</a:t>
            </a:r>
            <a:r>
              <a:rPr lang="zh-CN" altLang="en-US" sz="2400" dirty="0" smtClean="0">
                <a:latin typeface="微软雅黑" panose="020B0503020204020204" pitchFamily="34" charset="-122"/>
                <a:ea typeface="微软雅黑" panose="020B0503020204020204" pitchFamily="34" charset="-122"/>
              </a:rPr>
              <a:t>磁场强度</a:t>
            </a:r>
            <a:r>
              <a:rPr lang="zh-CN" altLang="en-US" sz="2800" b="1" i="1" dirty="0" smtClean="0">
                <a:latin typeface="Times New Roman" panose="02020603050405020304" pitchFamily="18" charset="0"/>
              </a:rPr>
              <a:t>  </a:t>
            </a:r>
            <a:r>
              <a:rPr lang="en-US" altLang="zh-CN" sz="2800" i="1" dirty="0">
                <a:latin typeface="Times New Roman" panose="02020603050405020304" pitchFamily="18" charset="0"/>
              </a:rPr>
              <a:t>B</a:t>
            </a:r>
            <a:r>
              <a:rPr lang="en-US" altLang="zh-CN" sz="2800" i="1" baseline="-25000" dirty="0">
                <a:latin typeface="Times New Roman" panose="02020603050405020304" pitchFamily="18" charset="0"/>
              </a:rPr>
              <a:t>0</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zh-CN" altLang="en-US" sz="2800" i="1" dirty="0">
                <a:latin typeface="宋体" panose="02010600030101010101" pitchFamily="2" charset="-122"/>
                <a:sym typeface="Symbol" panose="05050102010706020507" pitchFamily="18" charset="2"/>
              </a:rPr>
              <a:t></a:t>
            </a:r>
            <a:r>
              <a:rPr lang="zh-CN" altLang="en-US" sz="2800" dirty="0">
                <a:latin typeface="Times New Roman" panose="02020603050405020304" pitchFamily="18" charset="0"/>
              </a:rPr>
              <a:t>）</a:t>
            </a:r>
          </a:p>
        </p:txBody>
      </p:sp>
      <p:sp>
        <p:nvSpPr>
          <p:cNvPr id="2" name="Text Box 40"/>
          <p:cNvSpPr txBox="1"/>
          <p:nvPr/>
        </p:nvSpPr>
        <p:spPr>
          <a:xfrm>
            <a:off x="539552" y="3719839"/>
            <a:ext cx="3886200" cy="523220"/>
          </a:xfrm>
          <a:prstGeom prst="rect">
            <a:avLst/>
          </a:prstGeom>
          <a:noFill/>
          <a:ln w="9525">
            <a:noFill/>
          </a:ln>
        </p:spPr>
        <p:txBody>
          <a:bodyPr>
            <a:spAutoFit/>
          </a:bodyPr>
          <a:lstStyle/>
          <a:p>
            <a:r>
              <a:rPr lang="zh-CN" altLang="en-US" sz="2400" b="1" dirty="0">
                <a:latin typeface="微软雅黑" panose="020B0503020204020204" pitchFamily="34" charset="-122"/>
                <a:ea typeface="微软雅黑" panose="020B0503020204020204" pitchFamily="34" charset="-122"/>
              </a:rPr>
              <a:t>核实际的</a:t>
            </a:r>
            <a:r>
              <a:rPr lang="zh-CN" altLang="en-US" sz="2400" b="1" dirty="0" smtClean="0">
                <a:latin typeface="微软雅黑" panose="020B0503020204020204" pitchFamily="34" charset="-122"/>
                <a:ea typeface="微软雅黑" panose="020B0503020204020204" pitchFamily="34" charset="-122"/>
              </a:rPr>
              <a:t>共振频率</a:t>
            </a:r>
            <a:r>
              <a:rPr lang="zh-CN" altLang="en-US" sz="2800" b="1" i="1" dirty="0" smtClean="0">
                <a:latin typeface="Times New Roman" panose="02020603050405020304" pitchFamily="18" charset="0"/>
              </a:rPr>
              <a:t>       </a:t>
            </a:r>
            <a:endParaRPr lang="zh-CN" altLang="en-US" sz="2800" b="1" dirty="0">
              <a:latin typeface="Times New Roman" panose="02020603050405020304" pitchFamily="18" charset="0"/>
            </a:endParaRPr>
          </a:p>
        </p:txBody>
      </p:sp>
      <p:sp>
        <p:nvSpPr>
          <p:cNvPr id="11276" name="文本框 3"/>
          <p:cNvSpPr txBox="1"/>
          <p:nvPr/>
        </p:nvSpPr>
        <p:spPr>
          <a:xfrm>
            <a:off x="7434581" y="4231005"/>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5-11</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762"/>
                                        </p:tgtEl>
                                        <p:attrNameLst>
                                          <p:attrName>style.visibility</p:attrName>
                                        </p:attrNameLst>
                                      </p:cBhvr>
                                      <p:to>
                                        <p:strVal val="visible"/>
                                      </p:to>
                                    </p:set>
                                    <p:animEffect transition="in" filter="blinds(horizontal)">
                                      <p:cBhvr>
                                        <p:cTn id="7" dur="500"/>
                                        <p:tgtEl>
                                          <p:spTgt spid="747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92"/>
                                        </p:tgtEl>
                                        <p:attrNameLst>
                                          <p:attrName>style.visibility</p:attrName>
                                        </p:attrNameLst>
                                      </p:cBhvr>
                                      <p:to>
                                        <p:strVal val="visible"/>
                                      </p:to>
                                    </p:set>
                                    <p:animEffect transition="in" filter="blinds(horizontal)">
                                      <p:cBhvr>
                                        <p:cTn id="12" dur="500"/>
                                        <p:tgtEl>
                                          <p:spTgt spid="7479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7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92" grpId="0"/>
      <p:bldP spid="2" grpId="0"/>
      <p:bldP spid="1127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1"/>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32771"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4</a:t>
            </a:fld>
            <a:endParaRPr lang="en-US" altLang="zh-CN" sz="1000" dirty="0"/>
          </a:p>
        </p:txBody>
      </p:sp>
      <p:sp>
        <p:nvSpPr>
          <p:cNvPr id="75778" name="Rectangle 2"/>
          <p:cNvSpPr>
            <a:spLocks noGrp="1"/>
          </p:cNvSpPr>
          <p:nvPr>
            <p:ph type="body" sz="half" idx="4294967295"/>
          </p:nvPr>
        </p:nvSpPr>
        <p:spPr>
          <a:xfrm>
            <a:off x="719138" y="1492250"/>
            <a:ext cx="8424862" cy="1511300"/>
          </a:xfrm>
        </p:spPr>
        <p:txBody>
          <a:bodyPr vert="horz" wrap="square" lIns="91440" tIns="45720" rIns="91440" bIns="45720" anchor="t"/>
          <a:lstStyle>
            <a:lvl1pPr lvl="0">
              <a:buClr>
                <a:schemeClr val="tx2"/>
              </a:buClr>
              <a:buSzPct val="70000"/>
              <a:buFont typeface="Wingdings" panose="05000000000000000000" pitchFamily="2" charset="2"/>
              <a:defRPr sz="2600"/>
            </a:lvl1pPr>
            <a:lvl2pPr lvl="1">
              <a:buClr>
                <a:schemeClr val="tx2"/>
              </a:buClr>
              <a:buSzPct val="70000"/>
              <a:buFont typeface="Wingdings" panose="05000000000000000000" pitchFamily="2" charset="2"/>
              <a:defRPr sz="2200"/>
            </a:lvl2pPr>
            <a:lvl3pPr lvl="2">
              <a:buClr>
                <a:schemeClr val="tx2"/>
              </a:buClr>
              <a:buSzPct val="70000"/>
              <a:buFont typeface="Wingdings" panose="05000000000000000000" pitchFamily="2" charset="2"/>
              <a:defRPr sz="2100"/>
            </a:lvl3pPr>
            <a:lvl4pPr lvl="3">
              <a:buClr>
                <a:schemeClr val="tx2"/>
              </a:buClr>
              <a:buSzPct val="70000"/>
              <a:buFont typeface="Wingdings" panose="05000000000000000000" pitchFamily="2" charset="2"/>
              <a:defRPr sz="1800"/>
            </a:lvl4pPr>
            <a:lvl5pPr lvl="4">
              <a:buClr>
                <a:schemeClr val="tx2"/>
              </a:buClr>
              <a:buSzPct val="70000"/>
              <a:buFont typeface="Wingdings" panose="05000000000000000000" pitchFamily="2" charset="2"/>
              <a:defRPr sz="1800"/>
            </a:lvl5pPr>
          </a:lstStyle>
          <a:p>
            <a:pPr lvl="0" eaLnBrk="1" hangingPunct="1">
              <a:lnSpc>
                <a:spcPct val="120000"/>
              </a:lnSpc>
              <a:buNone/>
            </a:pPr>
            <a:r>
              <a:rPr lang="en-US" altLang="zh-CN" sz="2800" b="1" dirty="0"/>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电子云密度和核所处的化学环境有关</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因核所处化学环境改变而引起的共振条件（核的共振频率或外磁场强度）变化的现象称为</a:t>
            </a:r>
            <a:r>
              <a:rPr lang="zh-CN" altLang="en-US" sz="2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化学位移</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 name="Rectangle 38"/>
          <p:cNvSpPr txBox="1">
            <a:spLocks noChangeArrowheads="1"/>
          </p:cNvSpPr>
          <p:nvPr/>
        </p:nvSpPr>
        <p:spPr>
          <a:xfrm>
            <a:off x="495300" y="670918"/>
            <a:ext cx="4319588" cy="517922"/>
          </a:xfrm>
          <a:prstGeom prst="rect">
            <a:avLst/>
          </a:prstGeom>
          <a:noFill/>
        </p:spPr>
        <p:txBody>
          <a:bodyPr anchor="ct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j-cs"/>
              </a:rPr>
              <a:t>化学位移的定义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animEffect transition="in" filter="blinds(horizontal)">
                                      <p:cBhvr>
                                        <p:cTn id="7" dur="500"/>
                                        <p:tgtEl>
                                          <p:spTgt spid="757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p:cNvSpPr>
          <p:nvPr>
            <p:ph idx="1"/>
          </p:nvPr>
        </p:nvSpPr>
        <p:spPr>
          <a:xfrm>
            <a:off x="42214" y="92849"/>
            <a:ext cx="8818245" cy="857250"/>
          </a:xfrm>
        </p:spPr>
        <p:txBody>
          <a:bodyPr vert="horz" wrap="square" lIns="91440" tIns="45720" rIns="91440" bIns="45720" anchor="t"/>
          <a:lstStyle/>
          <a:p>
            <a:pPr algn="just" eaLnBrk="1" hangingPunct="1">
              <a:lnSpc>
                <a:spcPct val="120000"/>
              </a:lnSpc>
              <a:buNone/>
            </a:pPr>
            <a:r>
              <a:rPr lang="en-US" altLang="zh-CN" sz="2600" b="1" dirty="0">
                <a:latin typeface="楷体_GB2312" pitchFamily="49" charset="-122"/>
                <a:ea typeface="楷体_GB2312" pitchFamily="49" charset="-122"/>
              </a:rPr>
              <a:t>   </a:t>
            </a:r>
            <a:r>
              <a:rPr lang="zh-CN" altLang="en-US" sz="3200" dirty="0">
                <a:latin typeface="微软雅黑" panose="020B0503020204020204" pitchFamily="34" charset="-122"/>
                <a:ea typeface="微软雅黑" panose="020B0503020204020204" pitchFamily="34" charset="-122"/>
                <a:cs typeface="微软雅黑" panose="020B0503020204020204" pitchFamily="34" charset="-122"/>
              </a:rPr>
              <a:t>屏蔽常数</a:t>
            </a:r>
            <a:r>
              <a:rPr lang="zh-CN" altLang="en-US" sz="3200" i="1"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32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200" dirty="0">
                <a:latin typeface="微软雅黑" panose="020B0503020204020204" pitchFamily="34" charset="-122"/>
                <a:ea typeface="微软雅黑" panose="020B0503020204020204" pitchFamily="34" charset="-122"/>
                <a:cs typeface="微软雅黑" panose="020B0503020204020204" pitchFamily="34" charset="-122"/>
              </a:rPr>
              <a:t>与原子核所处的化学环境</a:t>
            </a:r>
            <a:r>
              <a:rPr lang="zh-CN" altLang="en-US" sz="3200" dirty="0" smtClean="0">
                <a:latin typeface="微软雅黑" panose="020B0503020204020204" pitchFamily="34" charset="-122"/>
                <a:ea typeface="微软雅黑" panose="020B0503020204020204" pitchFamily="34" charset="-122"/>
                <a:cs typeface="微软雅黑" panose="020B0503020204020204" pitchFamily="34" charset="-122"/>
              </a:rPr>
              <a:t>有关：</a:t>
            </a:r>
            <a:endParaRPr lang="zh-CN" altLang="en-US" sz="3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794"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3379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5</a:t>
            </a:fld>
            <a:endParaRPr lang="en-US" altLang="zh-CN" sz="1000" dirty="0"/>
          </a:p>
        </p:txBody>
      </p:sp>
      <p:graphicFrame>
        <p:nvGraphicFramePr>
          <p:cNvPr id="33797" name="Object 3"/>
          <p:cNvGraphicFramePr>
            <a:graphicFrameLocks noChangeAspect="1"/>
          </p:cNvGraphicFramePr>
          <p:nvPr>
            <p:extLst>
              <p:ext uri="{D42A27DB-BD31-4B8C-83A1-F6EECF244321}">
                <p14:modId xmlns:p14="http://schemas.microsoft.com/office/powerpoint/2010/main" val="1780783111"/>
              </p:ext>
            </p:extLst>
          </p:nvPr>
        </p:nvGraphicFramePr>
        <p:xfrm>
          <a:off x="2094276" y="749230"/>
          <a:ext cx="4724400" cy="536972"/>
        </p:xfrm>
        <a:graphic>
          <a:graphicData uri="http://schemas.openxmlformats.org/presentationml/2006/ole">
            <mc:AlternateContent xmlns:mc="http://schemas.openxmlformats.org/markup-compatibility/2006">
              <mc:Choice xmlns:v="urn:schemas-microsoft-com:vml" Requires="v">
                <p:oleObj spid="_x0000_s10424" r:id="rId4" imgW="1205865" imgH="215900" progId="Equation.3">
                  <p:embed/>
                </p:oleObj>
              </mc:Choice>
              <mc:Fallback>
                <p:oleObj r:id="rId4" imgW="1205865" imgH="215900" progId="Equation.3">
                  <p:embed/>
                  <p:pic>
                    <p:nvPicPr>
                      <p:cNvPr id="0" name="图片 3083"/>
                      <p:cNvPicPr/>
                      <p:nvPr/>
                    </p:nvPicPr>
                    <p:blipFill>
                      <a:blip r:embed="rId5"/>
                      <a:stretch>
                        <a:fillRect/>
                      </a:stretch>
                    </p:blipFill>
                    <p:spPr>
                      <a:xfrm>
                        <a:off x="2094276" y="749230"/>
                        <a:ext cx="4724400" cy="536972"/>
                      </a:xfrm>
                      <a:prstGeom prst="rect">
                        <a:avLst/>
                      </a:prstGeom>
                      <a:noFill/>
                      <a:ln w="38100">
                        <a:noFill/>
                        <a:miter/>
                      </a:ln>
                    </p:spPr>
                  </p:pic>
                </p:oleObj>
              </mc:Fallback>
            </mc:AlternateContent>
          </a:graphicData>
        </a:graphic>
      </p:graphicFrame>
      <p:sp>
        <p:nvSpPr>
          <p:cNvPr id="76804" name="Text Box 4"/>
          <p:cNvSpPr txBox="1"/>
          <p:nvPr/>
        </p:nvSpPr>
        <p:spPr>
          <a:xfrm>
            <a:off x="345382" y="1207517"/>
            <a:ext cx="2313256" cy="496611"/>
          </a:xfrm>
          <a:prstGeom prst="rect">
            <a:avLst/>
          </a:prstGeom>
          <a:noFill/>
          <a:ln w="9525">
            <a:noFill/>
          </a:ln>
        </p:spPr>
        <p:txBody>
          <a:bodyPr wrap="square">
            <a:spAutoFit/>
          </a:bodyPr>
          <a:lstStyle/>
          <a:p>
            <a:pPr eaLnBrk="0" hangingPunct="0">
              <a:lnSpc>
                <a:spcPct val="120000"/>
              </a:lnSpc>
            </a:pPr>
            <a:r>
              <a:rPr lang="en-US" altLang="zh-CN" sz="2400" b="1" i="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b="1" i="1" baseline="-25000" dirty="0">
                <a:solidFill>
                  <a:srgbClr val="C00000"/>
                </a:solidFill>
                <a:latin typeface="微软雅黑" panose="020B0503020204020204" pitchFamily="34" charset="-122"/>
                <a:ea typeface="微软雅黑" panose="020B0503020204020204" pitchFamily="34" charset="-122"/>
              </a:rPr>
              <a:t>d</a:t>
            </a:r>
            <a:r>
              <a:rPr lang="en-US" altLang="zh-CN" sz="2400" b="1" baseline="-25000"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为</a:t>
            </a:r>
            <a:r>
              <a:rPr lang="zh-CN" altLang="en-US" sz="2400" b="1" dirty="0" smtClean="0">
                <a:solidFill>
                  <a:srgbClr val="C00000"/>
                </a:solidFill>
                <a:latin typeface="微软雅黑" panose="020B0503020204020204" pitchFamily="34" charset="-122"/>
                <a:ea typeface="微软雅黑" panose="020B0503020204020204" pitchFamily="34" charset="-122"/>
              </a:rPr>
              <a:t>抗磁屏蔽</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11276" name="文本框 3"/>
          <p:cNvSpPr txBox="1"/>
          <p:nvPr/>
        </p:nvSpPr>
        <p:spPr>
          <a:xfrm>
            <a:off x="7616150" y="782032"/>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5-12</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
        <p:nvSpPr>
          <p:cNvPr id="2" name="矩形 1"/>
          <p:cNvSpPr/>
          <p:nvPr/>
        </p:nvSpPr>
        <p:spPr>
          <a:xfrm>
            <a:off x="324100" y="2289690"/>
            <a:ext cx="2385264" cy="496611"/>
          </a:xfrm>
          <a:prstGeom prst="rect">
            <a:avLst/>
          </a:prstGeom>
        </p:spPr>
        <p:txBody>
          <a:bodyPr wrap="square">
            <a:spAutoFit/>
          </a:bodyPr>
          <a:lstStyle/>
          <a:p>
            <a:pPr lvl="0" eaLnBrk="0" hangingPunct="0">
              <a:lnSpc>
                <a:spcPct val="120000"/>
              </a:lnSpc>
            </a:pPr>
            <a:r>
              <a:rPr lang="zh-CN" altLang="en-US" sz="2400" b="1" i="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b="1" i="1" baseline="-25000" dirty="0">
                <a:solidFill>
                  <a:srgbClr val="C00000"/>
                </a:solidFill>
                <a:latin typeface="微软雅黑" panose="020B0503020204020204" pitchFamily="34" charset="-122"/>
                <a:ea typeface="微软雅黑" panose="020B0503020204020204" pitchFamily="34" charset="-122"/>
              </a:rPr>
              <a:t>p</a:t>
            </a:r>
            <a:r>
              <a:rPr lang="en-US" altLang="zh-CN" sz="2400" b="1" baseline="-25000" dirty="0">
                <a:solidFill>
                  <a:srgbClr val="C00000"/>
                </a:solidFill>
                <a:latin typeface="微软雅黑" panose="020B0503020204020204" pitchFamily="34" charset="-122"/>
                <a:ea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rPr>
              <a:t>为</a:t>
            </a:r>
            <a:r>
              <a:rPr lang="zh-CN" altLang="en-US" sz="2400" b="1" dirty="0" smtClean="0">
                <a:solidFill>
                  <a:srgbClr val="C00000"/>
                </a:solidFill>
                <a:latin typeface="微软雅黑" panose="020B0503020204020204" pitchFamily="34" charset="-122"/>
                <a:ea typeface="微软雅黑" panose="020B0503020204020204" pitchFamily="34" charset="-122"/>
              </a:rPr>
              <a:t>顺磁屏蔽</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
        <p:nvSpPr>
          <p:cNvPr id="3" name="矩形 2"/>
          <p:cNvSpPr/>
          <p:nvPr/>
        </p:nvSpPr>
        <p:spPr>
          <a:xfrm>
            <a:off x="258466" y="3585418"/>
            <a:ext cx="6599104" cy="1421928"/>
          </a:xfrm>
          <a:prstGeom prst="rect">
            <a:avLst/>
          </a:prstGeom>
        </p:spPr>
        <p:txBody>
          <a:bodyPr wrap="square">
            <a:spAutoFit/>
          </a:bodyPr>
          <a:lstStyle/>
          <a:p>
            <a:pPr lvl="0" eaLnBrk="0" hangingPunct="0">
              <a:lnSpc>
                <a:spcPct val="120000"/>
              </a:lnSpc>
            </a:pPr>
            <a:r>
              <a:rPr lang="zh-CN" altLang="en-US" sz="2400" b="1" i="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b="1" i="1" baseline="-25000" dirty="0">
                <a:solidFill>
                  <a:srgbClr val="C00000"/>
                </a:solidFill>
                <a:latin typeface="微软雅黑" panose="020B0503020204020204" pitchFamily="34" charset="-122"/>
                <a:ea typeface="微软雅黑" panose="020B0503020204020204" pitchFamily="34" charset="-122"/>
              </a:rPr>
              <a:t>a </a:t>
            </a:r>
            <a:r>
              <a:rPr lang="zh-CN" altLang="en-US" sz="2400" b="1" dirty="0">
                <a:solidFill>
                  <a:srgbClr val="C00000"/>
                </a:solidFill>
                <a:latin typeface="微软雅黑" panose="020B0503020204020204" pitchFamily="34" charset="-122"/>
                <a:ea typeface="微软雅黑" panose="020B0503020204020204" pitchFamily="34" charset="-122"/>
              </a:rPr>
              <a:t>为相邻基团的各向异性的</a:t>
            </a:r>
            <a:r>
              <a:rPr lang="zh-CN" altLang="en-US" sz="2400" b="1" dirty="0" smtClean="0">
                <a:solidFill>
                  <a:srgbClr val="C00000"/>
                </a:solidFill>
                <a:latin typeface="微软雅黑" panose="020B0503020204020204" pitchFamily="34" charset="-122"/>
                <a:ea typeface="微软雅黑" panose="020B0503020204020204" pitchFamily="34" charset="-122"/>
              </a:rPr>
              <a:t>影响</a:t>
            </a:r>
            <a:endParaRPr lang="en-US" altLang="zh-CN" sz="2400" b="1" dirty="0" smtClean="0">
              <a:solidFill>
                <a:srgbClr val="C00000"/>
              </a:solidFill>
              <a:latin typeface="微软雅黑" panose="020B0503020204020204" pitchFamily="34" charset="-122"/>
              <a:ea typeface="微软雅黑" panose="020B0503020204020204" pitchFamily="34" charset="-122"/>
            </a:endParaRPr>
          </a:p>
          <a:p>
            <a:pPr lvl="0" eaLnBrk="0" hangingPunct="0">
              <a:lnSpc>
                <a:spcPct val="120000"/>
              </a:lnSpc>
            </a:pPr>
            <a:endParaRPr lang="zh-CN" altLang="en-US" sz="2400" b="1" dirty="0">
              <a:solidFill>
                <a:srgbClr val="C00000"/>
              </a:solidFill>
              <a:latin typeface="微软雅黑" panose="020B0503020204020204" pitchFamily="34" charset="-122"/>
              <a:ea typeface="微软雅黑" panose="020B0503020204020204" pitchFamily="34" charset="-122"/>
            </a:endParaRPr>
          </a:p>
          <a:p>
            <a:pPr lvl="0" eaLnBrk="0" hangingPunct="0">
              <a:lnSpc>
                <a:spcPct val="120000"/>
              </a:lnSpc>
            </a:pPr>
            <a:r>
              <a:rPr lang="zh-CN" altLang="en-US" sz="2400" b="1" i="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b="1" i="1" baseline="-25000" dirty="0">
                <a:solidFill>
                  <a:srgbClr val="C00000"/>
                </a:solidFill>
                <a:latin typeface="微软雅黑" panose="020B0503020204020204" pitchFamily="34" charset="-122"/>
                <a:ea typeface="微软雅黑" panose="020B0503020204020204" pitchFamily="34" charset="-122"/>
              </a:rPr>
              <a:t>s </a:t>
            </a:r>
            <a:r>
              <a:rPr lang="zh-CN" altLang="en-US" sz="2400" b="1" dirty="0">
                <a:solidFill>
                  <a:srgbClr val="C00000"/>
                </a:solidFill>
                <a:latin typeface="微软雅黑" panose="020B0503020204020204" pitchFamily="34" charset="-122"/>
                <a:ea typeface="微软雅黑" panose="020B0503020204020204" pitchFamily="34" charset="-122"/>
              </a:rPr>
              <a:t>为溶剂、介质等其他因素的</a:t>
            </a:r>
            <a:r>
              <a:rPr lang="zh-CN" altLang="en-US" sz="2400" b="1" dirty="0" smtClean="0">
                <a:solidFill>
                  <a:srgbClr val="C00000"/>
                </a:solidFill>
                <a:latin typeface="微软雅黑" panose="020B0503020204020204" pitchFamily="34" charset="-122"/>
                <a:ea typeface="微软雅黑" panose="020B0503020204020204" pitchFamily="34" charset="-122"/>
              </a:rPr>
              <a:t>影响</a:t>
            </a:r>
            <a:endParaRPr lang="zh-CN" altLang="en-US" sz="2400" b="1" dirty="0">
              <a:solidFill>
                <a:srgbClr val="C00000"/>
              </a:solidFill>
              <a:latin typeface="楷体_GB2312" pitchFamily="49" charset="-122"/>
              <a:ea typeface="楷体_GB2312" pitchFamily="49" charset="-122"/>
            </a:endParaRPr>
          </a:p>
        </p:txBody>
      </p:sp>
      <p:sp>
        <p:nvSpPr>
          <p:cNvPr id="4" name="矩形 3"/>
          <p:cNvSpPr/>
          <p:nvPr/>
        </p:nvSpPr>
        <p:spPr>
          <a:xfrm>
            <a:off x="2919001" y="1218872"/>
            <a:ext cx="6032182" cy="978729"/>
          </a:xfrm>
          <a:prstGeom prst="rect">
            <a:avLst/>
          </a:prstGeom>
        </p:spPr>
        <p:txBody>
          <a:bodyPr wrap="square">
            <a:spAutoFit/>
          </a:bodyPr>
          <a:lstStyle/>
          <a:p>
            <a:pPr lvl="0" eaLnBrk="0" hangingPunct="0">
              <a:lnSpc>
                <a:spcPct val="120000"/>
              </a:lnSpc>
            </a:pPr>
            <a:r>
              <a:rPr lang="zh-CN" altLang="en-US" sz="2400" dirty="0">
                <a:solidFill>
                  <a:srgbClr val="000000"/>
                </a:solidFill>
                <a:latin typeface="微软雅黑" panose="020B0503020204020204" pitchFamily="34" charset="-122"/>
                <a:ea typeface="微软雅黑" panose="020B0503020204020204" pitchFamily="34" charset="-122"/>
              </a:rPr>
              <a:t>是球形对称的</a:t>
            </a:r>
            <a:r>
              <a:rPr lang="en-US" altLang="zh-CN" sz="2400" i="1" dirty="0">
                <a:solidFill>
                  <a:srgbClr val="000000"/>
                </a:solidFill>
                <a:latin typeface="微软雅黑" panose="020B0503020204020204" pitchFamily="34" charset="-122"/>
                <a:ea typeface="微软雅黑" panose="020B0503020204020204" pitchFamily="34" charset="-122"/>
              </a:rPr>
              <a:t>s </a:t>
            </a:r>
            <a:r>
              <a:rPr lang="zh-CN" altLang="en-US" sz="2400" dirty="0">
                <a:solidFill>
                  <a:srgbClr val="000000"/>
                </a:solidFill>
                <a:latin typeface="微软雅黑" panose="020B0503020204020204" pitchFamily="34" charset="-122"/>
                <a:ea typeface="微软雅黑" panose="020B0503020204020204" pitchFamily="34" charset="-122"/>
              </a:rPr>
              <a:t>电子在外磁场感应下产生的对抗性磁场。对</a:t>
            </a:r>
            <a:r>
              <a:rPr lang="en-US" altLang="zh-CN" sz="2400" baseline="30000" dirty="0">
                <a:solidFill>
                  <a:srgbClr val="000000"/>
                </a:solidFill>
                <a:latin typeface="微软雅黑" panose="020B0503020204020204" pitchFamily="34" charset="-122"/>
                <a:ea typeface="微软雅黑" panose="020B0503020204020204" pitchFamily="34" charset="-122"/>
              </a:rPr>
              <a:t>1</a:t>
            </a:r>
            <a:r>
              <a:rPr lang="en-US" altLang="zh-CN" sz="2400" dirty="0">
                <a:solidFill>
                  <a:srgbClr val="000000"/>
                </a:solidFill>
                <a:latin typeface="微软雅黑" panose="020B0503020204020204" pitchFamily="34" charset="-122"/>
                <a:ea typeface="微软雅黑" panose="020B0503020204020204" pitchFamily="34" charset="-122"/>
              </a:rPr>
              <a:t>H</a:t>
            </a:r>
            <a:r>
              <a:rPr lang="zh-CN" altLang="zh-CN" sz="2400" dirty="0">
                <a:solidFill>
                  <a:srgbClr val="000000"/>
                </a:solidFill>
                <a:latin typeface="微软雅黑" panose="020B0503020204020204" pitchFamily="34" charset="-122"/>
                <a:ea typeface="微软雅黑" panose="020B0503020204020204" pitchFamily="34" charset="-122"/>
              </a:rPr>
              <a:t>的影响最大。</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矩形 4"/>
          <p:cNvSpPr/>
          <p:nvPr/>
        </p:nvSpPr>
        <p:spPr>
          <a:xfrm>
            <a:off x="2925153" y="2163490"/>
            <a:ext cx="6286093" cy="1421928"/>
          </a:xfrm>
          <a:prstGeom prst="rect">
            <a:avLst/>
          </a:prstGeom>
        </p:spPr>
        <p:txBody>
          <a:bodyPr wrap="square">
            <a:spAutoFit/>
          </a:bodyPr>
          <a:lstStyle/>
          <a:p>
            <a:pPr lvl="0" eaLnBrk="0" hangingPunct="0">
              <a:lnSpc>
                <a:spcPct val="120000"/>
              </a:lnSpc>
            </a:pPr>
            <a:r>
              <a:rPr lang="zh-CN" altLang="en-US" sz="2400" dirty="0">
                <a:solidFill>
                  <a:srgbClr val="000000"/>
                </a:solidFill>
                <a:latin typeface="微软雅黑" panose="020B0503020204020204" pitchFamily="34" charset="-122"/>
                <a:ea typeface="微软雅黑" panose="020B0503020204020204" pitchFamily="34" charset="-122"/>
              </a:rPr>
              <a:t>是核外非球形对称的电子云产生的屏蔽作用。它与抗磁屏蔽产生的磁场方向相反，起到增强外磁场的作用。对除</a:t>
            </a:r>
            <a:r>
              <a:rPr lang="en-US" altLang="zh-CN" sz="2400" baseline="30000" dirty="0">
                <a:solidFill>
                  <a:srgbClr val="000000"/>
                </a:solidFill>
                <a:latin typeface="微软雅黑" panose="020B0503020204020204" pitchFamily="34" charset="-122"/>
                <a:ea typeface="微软雅黑" panose="020B0503020204020204" pitchFamily="34" charset="-122"/>
              </a:rPr>
              <a:t>1</a:t>
            </a:r>
            <a:r>
              <a:rPr lang="en-US" altLang="zh-CN" sz="2400" dirty="0">
                <a:solidFill>
                  <a:srgbClr val="000000"/>
                </a:solidFill>
                <a:latin typeface="微软雅黑" panose="020B0503020204020204" pitchFamily="34" charset="-122"/>
                <a:ea typeface="微软雅黑" panose="020B0503020204020204" pitchFamily="34" charset="-122"/>
              </a:rPr>
              <a:t>H</a:t>
            </a:r>
            <a:r>
              <a:rPr lang="zh-CN" altLang="en-US" sz="2400" dirty="0">
                <a:solidFill>
                  <a:srgbClr val="000000"/>
                </a:solidFill>
                <a:latin typeface="微软雅黑" panose="020B0503020204020204" pitchFamily="34" charset="-122"/>
                <a:ea typeface="微软雅黑" panose="020B0503020204020204" pitchFamily="34" charset="-122"/>
              </a:rPr>
              <a:t>之外的核影响较大。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250825" y="7144"/>
            <a:ext cx="7772400" cy="620316"/>
          </a:xfrm>
        </p:spPr>
        <p:txBody>
          <a:bodyPr vert="horz" wrap="square" lIns="91440" tIns="45720" rIns="91440" bIns="45720" anchor="b"/>
          <a:lstStyle/>
          <a:p>
            <a:pPr algn="l" eaLnBrk="1" hangingPunct="1"/>
            <a:r>
              <a:rPr lang="en-US" altLang="zh-CN" sz="3200" b="1" dirty="0" smtClean="0">
                <a:solidFill>
                  <a:srgbClr val="0070C0"/>
                </a:solidFill>
                <a:latin typeface="微软雅黑" panose="020B0503020204020204" pitchFamily="34" charset="-122"/>
                <a:ea typeface="微软雅黑" panose="020B0503020204020204" pitchFamily="34" charset="-122"/>
              </a:rPr>
              <a:t>2.</a:t>
            </a:r>
            <a:r>
              <a:rPr lang="zh-CN" altLang="en-US" sz="3200" b="1" dirty="0" smtClean="0">
                <a:solidFill>
                  <a:srgbClr val="0070C0"/>
                </a:solidFill>
                <a:latin typeface="微软雅黑" panose="020B0503020204020204" pitchFamily="34" charset="-122"/>
                <a:ea typeface="微软雅黑" panose="020B0503020204020204" pitchFamily="34" charset="-122"/>
              </a:rPr>
              <a:t>化学位移</a:t>
            </a:r>
            <a:r>
              <a:rPr lang="zh-CN" altLang="en-US" sz="3200" b="1" dirty="0">
                <a:solidFill>
                  <a:srgbClr val="0070C0"/>
                </a:solidFill>
                <a:latin typeface="微软雅黑" panose="020B0503020204020204" pitchFamily="34" charset="-122"/>
                <a:ea typeface="微软雅黑" panose="020B0503020204020204" pitchFamily="34" charset="-122"/>
              </a:rPr>
              <a:t>的表示方法</a:t>
            </a:r>
          </a:p>
        </p:txBody>
      </p:sp>
      <p:sp>
        <p:nvSpPr>
          <p:cNvPr id="34820" name="Rectangle 4"/>
          <p:cNvSpPr/>
          <p:nvPr/>
        </p:nvSpPr>
        <p:spPr>
          <a:xfrm>
            <a:off x="408941" y="941071"/>
            <a:ext cx="8579485" cy="630237"/>
          </a:xfrm>
          <a:prstGeom prst="rect">
            <a:avLst/>
          </a:prstGeom>
          <a:noFill/>
          <a:ln w="9525">
            <a:noFill/>
          </a:ln>
        </p:spPr>
        <p:txBody>
          <a:bodyPr wrap="square">
            <a:spAutoFit/>
          </a:bodyPr>
          <a:lstStyle/>
          <a:p>
            <a:pPr marL="914400" lvl="1" indent="-457200" eaLnBrk="1" hangingPunct="1">
              <a:lnSpc>
                <a:spcPct val="140000"/>
              </a:lnSpc>
              <a:buClr>
                <a:schemeClr val="tx2"/>
              </a:buClr>
              <a:buSzPct val="75000"/>
              <a:buFont typeface="Wingdings" panose="05000000000000000000" charset="0"/>
              <a:buChar char="u"/>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屏蔽作用引起的共振条件差别很</a:t>
            </a:r>
            <a:r>
              <a:rPr lang="zh-CN" altLang="en-US" sz="2800" b="1" dirty="0" smtClean="0">
                <a:latin typeface="微软雅黑" panose="020B0503020204020204" pitchFamily="34" charset="-122"/>
                <a:ea typeface="微软雅黑" panose="020B0503020204020204" pitchFamily="34" charset="-122"/>
                <a:cs typeface="微软雅黑" panose="020B0503020204020204" pitchFamily="34" charset="-122"/>
              </a:rPr>
              <a:t>小</a:t>
            </a:r>
            <a:r>
              <a:rPr lang="zh-CN" altLang="en-US" sz="2400" b="1" dirty="0" smtClean="0">
                <a:solidFill>
                  <a:srgbClr val="CC0066"/>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408940" y="3435846"/>
            <a:ext cx="8387715" cy="1298817"/>
          </a:xfrm>
          <a:prstGeom prst="rect">
            <a:avLst/>
          </a:prstGeom>
          <a:noFill/>
        </p:spPr>
        <p:txBody>
          <a:bodyPr wrap="square" rtlCol="0" anchor="t">
            <a:spAutoFit/>
          </a:bodyPr>
          <a:lstStyle/>
          <a:p>
            <a:pPr marL="914400" lvl="1" indent="-457200" algn="l">
              <a:lnSpc>
                <a:spcPct val="140000"/>
              </a:lnSpc>
              <a:buClr>
                <a:schemeClr val="tx2"/>
              </a:buClr>
              <a:buSzPct val="75000"/>
              <a:buFont typeface="Wingdings" panose="05000000000000000000" charset="0"/>
              <a:buChar char="u"/>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共振频率与外磁场强度有关</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不同仪器测定结果难以</a:t>
            </a:r>
            <a:r>
              <a:rPr lang="zh-CN" altLang="en-US" sz="28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比较</a:t>
            </a:r>
            <a:endParaRPr lang="zh-CN" altLang="en-US" b="1" dirty="0"/>
          </a:p>
        </p:txBody>
      </p:sp>
      <p:sp>
        <p:nvSpPr>
          <p:cNvPr id="3" name="矩形 2"/>
          <p:cNvSpPr/>
          <p:nvPr/>
        </p:nvSpPr>
        <p:spPr>
          <a:xfrm>
            <a:off x="860377" y="1491292"/>
            <a:ext cx="7969070" cy="2160591"/>
          </a:xfrm>
          <a:prstGeom prst="rect">
            <a:avLst/>
          </a:prstGeom>
        </p:spPr>
        <p:txBody>
          <a:bodyPr wrap="square">
            <a:spAutoFit/>
          </a:bodyPr>
          <a:lstStyle/>
          <a:p>
            <a:pPr lvl="1">
              <a:lnSpc>
                <a:spcPct val="140000"/>
              </a:lnSpc>
            </a:pPr>
            <a:r>
              <a:rPr lang="en-US" altLang="zh-CN" sz="2400" dirty="0" smtClean="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 100 </a:t>
            </a:r>
            <a:r>
              <a:rPr lang="en-US" altLang="zh-CN" sz="24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MHz</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仪器中，不同化学环境的</a:t>
            </a:r>
            <a:r>
              <a:rPr lang="en-US" altLang="zh-CN" sz="2400"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的共振频率差别在</a:t>
            </a:r>
            <a:r>
              <a:rPr lang="en-US" altLang="zh-CN" sz="24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1500Hz</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范围内，</a:t>
            </a:r>
            <a:r>
              <a:rPr lang="zh-CN" altLang="en-US"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难以精确测量；</a:t>
            </a:r>
            <a:endParaRPr lang="en-US"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pPr>
            <a:r>
              <a:rPr lang="zh-CN" altLang="en-US" sz="2400" dirty="0">
                <a:solidFill>
                  <a:srgbClr val="CC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标准物质</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作为基准，测定样品和标准物质的共振频率之差。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p:cNvPicPr>
          <p:nvPr/>
        </p:nvPicPr>
        <p:blipFill>
          <a:blip r:embed="rId3"/>
          <a:stretch>
            <a:fillRect/>
          </a:stretch>
        </p:blipFill>
        <p:spPr>
          <a:xfrm>
            <a:off x="1399858" y="442913"/>
            <a:ext cx="6343650" cy="4257675"/>
          </a:xfrm>
          <a:prstGeom prst="rect">
            <a:avLst/>
          </a:prstGeom>
          <a:noFill/>
          <a:ln w="9525">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p:cNvSpPr>
          <p:nvPr>
            <p:ph type="title"/>
          </p:nvPr>
        </p:nvSpPr>
        <p:spPr>
          <a:xfrm>
            <a:off x="395288" y="0"/>
            <a:ext cx="7543800" cy="842963"/>
          </a:xfrm>
        </p:spPr>
        <p:txBody>
          <a:bodyPr vert="horz" wrap="square" lIns="91440" tIns="45720" rIns="91440" bIns="45720" anchor="b"/>
          <a:lstStyle/>
          <a:p>
            <a:pPr eaLnBrk="1" hangingPunct="1"/>
            <a:r>
              <a:rPr lang="zh-CN" altLang="en-US" sz="3200" b="1" dirty="0">
                <a:solidFill>
                  <a:srgbClr val="C00000"/>
                </a:solidFill>
                <a:latin typeface="微软雅黑" panose="020B0503020204020204" pitchFamily="34" charset="-122"/>
                <a:ea typeface="微软雅黑" panose="020B0503020204020204" pitchFamily="34" charset="-122"/>
              </a:rPr>
              <a:t>化学位移的表示方法</a:t>
            </a:r>
            <a:r>
              <a:rPr lang="en-US" altLang="zh-CN" sz="3200" b="1" dirty="0">
                <a:solidFill>
                  <a:srgbClr val="C00000"/>
                </a:solidFill>
                <a:latin typeface="微软雅黑" panose="020B0503020204020204" pitchFamily="34" charset="-122"/>
                <a:ea typeface="微软雅黑" panose="020B0503020204020204" pitchFamily="34" charset="-122"/>
              </a:rPr>
              <a:t>-</a:t>
            </a:r>
            <a:r>
              <a:rPr lang="zh-CN" altLang="en-US" sz="3200" b="1" dirty="0">
                <a:solidFill>
                  <a:srgbClr val="C00000"/>
                </a:solidFill>
                <a:latin typeface="微软雅黑" panose="020B0503020204020204" pitchFamily="34" charset="-122"/>
                <a:ea typeface="微软雅黑" panose="020B0503020204020204" pitchFamily="34" charset="-122"/>
              </a:rPr>
              <a:t>位移常数</a:t>
            </a:r>
            <a:r>
              <a:rPr lang="el-GR" altLang="zh-CN" sz="3200" b="1" i="1" dirty="0">
                <a:solidFill>
                  <a:srgbClr val="C00000"/>
                </a:solidFill>
                <a:latin typeface="微软雅黑" panose="020B0503020204020204" pitchFamily="34" charset="-122"/>
                <a:ea typeface="微软雅黑" panose="020B0503020204020204" pitchFamily="34" charset="-122"/>
              </a:rPr>
              <a:t>δ</a:t>
            </a:r>
          </a:p>
        </p:txBody>
      </p:sp>
      <p:graphicFrame>
        <p:nvGraphicFramePr>
          <p:cNvPr id="36869" name="Object 3"/>
          <p:cNvGraphicFramePr>
            <a:graphicFrameLocks noGrp="1" noChangeAspect="1"/>
          </p:cNvGraphicFramePr>
          <p:nvPr>
            <p:ph idx="1"/>
          </p:nvPr>
        </p:nvGraphicFramePr>
        <p:xfrm>
          <a:off x="2381250" y="1549400"/>
          <a:ext cx="4581525" cy="828675"/>
        </p:xfrm>
        <a:graphic>
          <a:graphicData uri="http://schemas.openxmlformats.org/presentationml/2006/ole">
            <mc:AlternateContent xmlns:mc="http://schemas.openxmlformats.org/markup-compatibility/2006">
              <mc:Choice xmlns:v="urn:schemas-microsoft-com:vml" Requires="v">
                <p:oleObj spid="_x0000_s12641" r:id="rId4" imgW="2387600" imgH="431800" progId="Equation.3">
                  <p:embed/>
                </p:oleObj>
              </mc:Choice>
              <mc:Fallback>
                <p:oleObj r:id="rId4" imgW="2387600" imgH="431800" progId="Equation.3">
                  <p:embed/>
                  <p:pic>
                    <p:nvPicPr>
                      <p:cNvPr id="0" name="图片 3085"/>
                      <p:cNvPicPr/>
                      <p:nvPr/>
                    </p:nvPicPr>
                    <p:blipFill>
                      <a:blip r:embed="rId5"/>
                      <a:srcRect/>
                      <a:stretch>
                        <a:fillRect/>
                      </a:stretch>
                    </p:blipFill>
                    <p:spPr>
                      <a:xfrm>
                        <a:off x="2381250" y="1549400"/>
                        <a:ext cx="4581525" cy="828675"/>
                      </a:xfrm>
                      <a:prstGeom prst="rect">
                        <a:avLst/>
                      </a:prstGeom>
                      <a:noFill/>
                      <a:ln w="38100">
                        <a:miter/>
                      </a:ln>
                    </p:spPr>
                  </p:pic>
                </p:oleObj>
              </mc:Fallback>
            </mc:AlternateContent>
          </a:graphicData>
        </a:graphic>
      </p:graphicFrame>
      <p:sp>
        <p:nvSpPr>
          <p:cNvPr id="36866"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3686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8</a:t>
            </a:fld>
            <a:endParaRPr lang="en-US" altLang="zh-CN" sz="1000" dirty="0"/>
          </a:p>
        </p:txBody>
      </p:sp>
      <p:graphicFrame>
        <p:nvGraphicFramePr>
          <p:cNvPr id="36870" name="Object 4"/>
          <p:cNvGraphicFramePr>
            <a:graphicFrameLocks noChangeAspect="1"/>
          </p:cNvGraphicFramePr>
          <p:nvPr>
            <p:extLst>
              <p:ext uri="{D42A27DB-BD31-4B8C-83A1-F6EECF244321}">
                <p14:modId xmlns:p14="http://schemas.microsoft.com/office/powerpoint/2010/main" val="3793350026"/>
              </p:ext>
            </p:extLst>
          </p:nvPr>
        </p:nvGraphicFramePr>
        <p:xfrm>
          <a:off x="1835696" y="3067348"/>
          <a:ext cx="3951288" cy="745331"/>
        </p:xfrm>
        <a:graphic>
          <a:graphicData uri="http://schemas.openxmlformats.org/presentationml/2006/ole">
            <mc:AlternateContent xmlns:mc="http://schemas.openxmlformats.org/markup-compatibility/2006">
              <mc:Choice xmlns:v="urn:schemas-microsoft-com:vml" Requires="v">
                <p:oleObj spid="_x0000_s12642" r:id="rId6" imgW="1282700" imgH="431800" progId="Equation.3">
                  <p:embed/>
                </p:oleObj>
              </mc:Choice>
              <mc:Fallback>
                <p:oleObj r:id="rId6" imgW="1282700" imgH="431800" progId="Equation.3">
                  <p:embed/>
                  <p:pic>
                    <p:nvPicPr>
                      <p:cNvPr id="0" name="图片 3086"/>
                      <p:cNvPicPr/>
                      <p:nvPr/>
                    </p:nvPicPr>
                    <p:blipFill>
                      <a:blip r:embed="rId7"/>
                      <a:stretch>
                        <a:fillRect/>
                      </a:stretch>
                    </p:blipFill>
                    <p:spPr>
                      <a:xfrm>
                        <a:off x="1835696" y="3067348"/>
                        <a:ext cx="3951288" cy="745331"/>
                      </a:xfrm>
                      <a:prstGeom prst="rect">
                        <a:avLst/>
                      </a:prstGeom>
                      <a:noFill/>
                      <a:ln w="38100">
                        <a:noFill/>
                        <a:miter/>
                      </a:ln>
                    </p:spPr>
                  </p:pic>
                </p:oleObj>
              </mc:Fallback>
            </mc:AlternateContent>
          </a:graphicData>
        </a:graphic>
      </p:graphicFrame>
      <p:sp>
        <p:nvSpPr>
          <p:cNvPr id="36871" name="Rectangle 5"/>
          <p:cNvSpPr/>
          <p:nvPr/>
        </p:nvSpPr>
        <p:spPr>
          <a:xfrm>
            <a:off x="1258888" y="1128712"/>
            <a:ext cx="2339102" cy="523220"/>
          </a:xfrm>
          <a:prstGeom prst="rect">
            <a:avLst/>
          </a:prstGeom>
          <a:noFill/>
          <a:ln w="9525">
            <a:noFill/>
          </a:ln>
        </p:spPr>
        <p:txBody>
          <a:bodyPr wrap="none">
            <a:spAutoFit/>
          </a:bodyPr>
          <a:lstStyle/>
          <a:p>
            <a:pPr eaLnBrk="0" hangingPunct="0"/>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扫频式仪器：</a:t>
            </a:r>
          </a:p>
        </p:txBody>
      </p:sp>
      <p:sp>
        <p:nvSpPr>
          <p:cNvPr id="36872" name="Rectangle 6"/>
          <p:cNvSpPr/>
          <p:nvPr/>
        </p:nvSpPr>
        <p:spPr>
          <a:xfrm>
            <a:off x="1258888" y="2448401"/>
            <a:ext cx="2339102" cy="523220"/>
          </a:xfrm>
          <a:prstGeom prst="rect">
            <a:avLst/>
          </a:prstGeom>
          <a:noFill/>
          <a:ln w="9525">
            <a:noFill/>
          </a:ln>
        </p:spPr>
        <p:txBody>
          <a:bodyPr wrap="none">
            <a:spAutoFit/>
          </a:bodyPr>
          <a:lstStyle/>
          <a:p>
            <a:pPr eaLnBrk="0" hangingPunct="0"/>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扫场式仪器：</a:t>
            </a:r>
          </a:p>
        </p:txBody>
      </p:sp>
      <p:sp>
        <p:nvSpPr>
          <p:cNvPr id="11276" name="文本框 3"/>
          <p:cNvSpPr txBox="1"/>
          <p:nvPr/>
        </p:nvSpPr>
        <p:spPr>
          <a:xfrm>
            <a:off x="7724776" y="1696402"/>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5-13</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
        <p:nvSpPr>
          <p:cNvPr id="2" name="文本框 3"/>
          <p:cNvSpPr txBox="1"/>
          <p:nvPr/>
        </p:nvSpPr>
        <p:spPr>
          <a:xfrm>
            <a:off x="7724776" y="3289459"/>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5-14</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7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p:bldP spid="36872" grpId="0"/>
      <p:bldP spid="11276"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4"/>
          <p:cNvSpPr txBox="1"/>
          <p:nvPr/>
        </p:nvSpPr>
        <p:spPr>
          <a:xfrm>
            <a:off x="395289" y="250032"/>
            <a:ext cx="6192837" cy="584775"/>
          </a:xfrm>
          <a:prstGeom prst="rect">
            <a:avLst/>
          </a:prstGeom>
          <a:noFill/>
          <a:ln w="9525">
            <a:noFill/>
          </a:ln>
        </p:spPr>
        <p:txBody>
          <a:bodyPr>
            <a:spAutoFit/>
          </a:bodyPr>
          <a:lstStyle/>
          <a:p>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rPr>
              <a:t>1,2.2-</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三氯丙烷中甲基为例：</a:t>
            </a:r>
          </a:p>
        </p:txBody>
      </p:sp>
      <p:grpSp>
        <p:nvGrpSpPr>
          <p:cNvPr id="37891" name="Group 5"/>
          <p:cNvGrpSpPr/>
          <p:nvPr/>
        </p:nvGrpSpPr>
        <p:grpSpPr>
          <a:xfrm>
            <a:off x="1113155" y="2427685"/>
            <a:ext cx="5303838" cy="552450"/>
            <a:chOff x="672" y="1847"/>
            <a:chExt cx="3341" cy="464"/>
          </a:xfrm>
        </p:grpSpPr>
        <p:graphicFrame>
          <p:nvGraphicFramePr>
            <p:cNvPr id="37896" name="Object 6"/>
            <p:cNvGraphicFramePr>
              <a:graphicFrameLocks noChangeAspect="1"/>
            </p:cNvGraphicFramePr>
            <p:nvPr/>
          </p:nvGraphicFramePr>
          <p:xfrm>
            <a:off x="3810" y="1847"/>
            <a:ext cx="203" cy="335"/>
          </p:xfrm>
          <a:graphic>
            <a:graphicData uri="http://schemas.openxmlformats.org/presentationml/2006/ole">
              <mc:AlternateContent xmlns:mc="http://schemas.openxmlformats.org/markup-compatibility/2006">
                <mc:Choice xmlns:v="urn:schemas-microsoft-com:vml" Requires="v">
                  <p:oleObj spid="_x0000_s13492" r:id="rId4" imgW="114300" imgH="177800" progId="Equation.DSMT4">
                    <p:embed/>
                  </p:oleObj>
                </mc:Choice>
                <mc:Fallback>
                  <p:oleObj r:id="rId4" imgW="114300" imgH="177800" progId="Equation.DSMT4">
                    <p:embed/>
                    <p:pic>
                      <p:nvPicPr>
                        <p:cNvPr id="0" name="图片 3087"/>
                        <p:cNvPicPr/>
                        <p:nvPr/>
                      </p:nvPicPr>
                      <p:blipFill>
                        <a:blip r:embed="rId5"/>
                        <a:stretch>
                          <a:fillRect/>
                        </a:stretch>
                      </p:blipFill>
                      <p:spPr>
                        <a:xfrm>
                          <a:off x="3810" y="1847"/>
                          <a:ext cx="203" cy="335"/>
                        </a:xfrm>
                        <a:prstGeom prst="rect">
                          <a:avLst/>
                        </a:prstGeom>
                        <a:noFill/>
                        <a:ln w="38100">
                          <a:noFill/>
                          <a:miter/>
                        </a:ln>
                      </p:spPr>
                    </p:pic>
                  </p:oleObj>
                </mc:Fallback>
              </mc:AlternateContent>
            </a:graphicData>
          </a:graphic>
        </p:graphicFrame>
        <p:sp>
          <p:nvSpPr>
            <p:cNvPr id="37897" name="Text Box 7"/>
            <p:cNvSpPr txBox="1"/>
            <p:nvPr/>
          </p:nvSpPr>
          <p:spPr>
            <a:xfrm>
              <a:off x="672" y="1872"/>
              <a:ext cx="1968" cy="439"/>
            </a:xfrm>
            <a:prstGeom prst="rect">
              <a:avLst/>
            </a:prstGeom>
            <a:noFill/>
            <a:ln w="9525">
              <a:noFill/>
            </a:ln>
          </p:spPr>
          <p:txBody>
            <a:bodyPr>
              <a:spAutoFit/>
            </a:bodyPr>
            <a:lstStyle/>
            <a:p>
              <a:endParaRPr lang="zh-CN" altLang="zh-CN" sz="2800" b="1" dirty="0">
                <a:solidFill>
                  <a:srgbClr val="A50021"/>
                </a:solidFill>
                <a:latin typeface="楷体_GB2312" pitchFamily="49" charset="-122"/>
                <a:ea typeface="楷体_GB2312" pitchFamily="49" charset="-122"/>
              </a:endParaRPr>
            </a:p>
          </p:txBody>
        </p:sp>
      </p:grpSp>
      <p:sp>
        <p:nvSpPr>
          <p:cNvPr id="37892" name="Rectangle 8"/>
          <p:cNvSpPr/>
          <p:nvPr/>
        </p:nvSpPr>
        <p:spPr>
          <a:xfrm>
            <a:off x="684214" y="1105763"/>
            <a:ext cx="3270447" cy="523220"/>
          </a:xfrm>
          <a:prstGeom prst="rect">
            <a:avLst/>
          </a:prstGeom>
          <a:noFill/>
          <a:ln w="9525">
            <a:noFill/>
          </a:ln>
        </p:spPr>
        <p:txBody>
          <a:bodyPr wrap="none">
            <a:spAutoFit/>
          </a:bodyPr>
          <a:lstStyle/>
          <a:p>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60MHz</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仪器中：</a:t>
            </a:r>
          </a:p>
        </p:txBody>
      </p:sp>
      <p:pic>
        <p:nvPicPr>
          <p:cNvPr id="37894" name="Picture 12"/>
          <p:cNvPicPr>
            <a:picLocks noGrp="1" noChangeAspect="1"/>
          </p:cNvPicPr>
          <p:nvPr>
            <p:ph sz="quarter" idx="2"/>
          </p:nvPr>
        </p:nvPicPr>
        <p:blipFill>
          <a:blip r:embed="rId6"/>
          <a:srcRect/>
          <a:stretch>
            <a:fillRect/>
          </a:stretch>
        </p:blipFill>
        <p:spPr>
          <a:xfrm>
            <a:off x="2675255" y="1777366"/>
            <a:ext cx="3505200" cy="680085"/>
          </a:xfrm>
        </p:spPr>
      </p:pic>
      <p:pic>
        <p:nvPicPr>
          <p:cNvPr id="37895" name="Picture 14"/>
          <p:cNvPicPr>
            <a:picLocks noGrp="1" noChangeAspect="1"/>
          </p:cNvPicPr>
          <p:nvPr>
            <p:ph sz="quarter" idx="3"/>
          </p:nvPr>
        </p:nvPicPr>
        <p:blipFill>
          <a:blip r:embed="rId7"/>
          <a:srcRect/>
          <a:stretch>
            <a:fillRect/>
          </a:stretch>
        </p:blipFill>
        <p:spPr>
          <a:xfrm>
            <a:off x="2843808" y="3435846"/>
            <a:ext cx="3521075" cy="700088"/>
          </a:xfrm>
        </p:spPr>
      </p:pic>
      <p:sp>
        <p:nvSpPr>
          <p:cNvPr id="2" name="Rectangle 8"/>
          <p:cNvSpPr/>
          <p:nvPr/>
        </p:nvSpPr>
        <p:spPr>
          <a:xfrm>
            <a:off x="684213" y="2718525"/>
            <a:ext cx="3491661" cy="523220"/>
          </a:xfrm>
          <a:prstGeom prst="rect">
            <a:avLst/>
          </a:prstGeom>
          <a:noFill/>
          <a:ln w="9525">
            <a:noFill/>
          </a:ln>
        </p:spPr>
        <p:txBody>
          <a:bodyPr wrap="none">
            <a:spAutoFit/>
          </a:bodyPr>
          <a:lstStyle/>
          <a:p>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100MHz</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仪器中</a:t>
            </a:r>
            <a:r>
              <a:rPr lang="zh-CN" altLang="en-US" sz="2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p:cNvSpPr>
          <p:nvPr>
            <p:ph type="title"/>
          </p:nvPr>
        </p:nvSpPr>
        <p:spPr>
          <a:xfrm>
            <a:off x="389028" y="141481"/>
            <a:ext cx="8626415" cy="478631"/>
          </a:xfrm>
        </p:spPr>
        <p:txBody>
          <a:bodyPr vert="horz" wrap="square" lIns="91440" tIns="45720" rIns="91440" bIns="45720" anchor="b"/>
          <a:lstStyle/>
          <a:p>
            <a:pPr eaLnBrk="1" hangingPunct="1"/>
            <a:r>
              <a:rPr lang="zh-CN" altLang="en-US" sz="3200" b="1" dirty="0" smtClean="0">
                <a:solidFill>
                  <a:srgbClr val="C00000"/>
                </a:solidFill>
                <a:latin typeface="微软雅黑" panose="020B0503020204020204" pitchFamily="34" charset="-122"/>
                <a:ea typeface="微软雅黑" panose="020B0503020204020204" pitchFamily="34" charset="-122"/>
              </a:rPr>
              <a:t>四甲基硅烷</a:t>
            </a:r>
            <a:r>
              <a:rPr lang="zh-CN" altLang="en-US" sz="3200" b="1" dirty="0">
                <a:solidFill>
                  <a:srgbClr val="C00000"/>
                </a:solidFill>
                <a:latin typeface="微软雅黑" panose="020B0503020204020204" pitchFamily="34" charset="-122"/>
                <a:ea typeface="微软雅黑" panose="020B0503020204020204" pitchFamily="34" charset="-122"/>
              </a:rPr>
              <a:t>（</a:t>
            </a:r>
            <a:r>
              <a:rPr lang="en-US" altLang="zh-CN" sz="3200" b="1" dirty="0" smtClean="0">
                <a:solidFill>
                  <a:srgbClr val="C00000"/>
                </a:solidFill>
                <a:latin typeface="微软雅黑" panose="020B0503020204020204" pitchFamily="34" charset="-122"/>
                <a:ea typeface="微软雅黑" panose="020B0503020204020204" pitchFamily="34" charset="-122"/>
              </a:rPr>
              <a:t>TMS</a:t>
            </a:r>
            <a:r>
              <a:rPr lang="zh-CN" altLang="en-US" sz="3200" b="1" dirty="0" smtClean="0">
                <a:solidFill>
                  <a:srgbClr val="C00000"/>
                </a:solidFill>
                <a:latin typeface="微软雅黑" panose="020B0503020204020204" pitchFamily="34" charset="-122"/>
                <a:ea typeface="微软雅黑" panose="020B0503020204020204" pitchFamily="34" charset="-122"/>
              </a:rPr>
              <a:t>作为</a:t>
            </a:r>
            <a:r>
              <a:rPr lang="zh-CN" altLang="en-US" sz="3200" b="1" dirty="0">
                <a:solidFill>
                  <a:srgbClr val="C00000"/>
                </a:solidFill>
                <a:latin typeface="微软雅黑" panose="020B0503020204020204" pitchFamily="34" charset="-122"/>
                <a:ea typeface="微软雅黑" panose="020B0503020204020204" pitchFamily="34" charset="-122"/>
              </a:rPr>
              <a:t>标准物的优点）</a:t>
            </a:r>
          </a:p>
        </p:txBody>
      </p:sp>
      <p:sp>
        <p:nvSpPr>
          <p:cNvPr id="39938"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39939"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10</a:t>
            </a:fld>
            <a:endParaRPr lang="en-US" altLang="zh-CN" sz="1000" dirty="0"/>
          </a:p>
        </p:txBody>
      </p:sp>
      <p:sp>
        <p:nvSpPr>
          <p:cNvPr id="79875" name="Text Box 3"/>
          <p:cNvSpPr txBox="1"/>
          <p:nvPr/>
        </p:nvSpPr>
        <p:spPr>
          <a:xfrm>
            <a:off x="395536" y="642392"/>
            <a:ext cx="7993063" cy="2966966"/>
          </a:xfrm>
          <a:prstGeom prst="rect">
            <a:avLst/>
          </a:prstGeom>
          <a:noFill/>
          <a:ln w="9525">
            <a:noFill/>
          </a:ln>
        </p:spPr>
        <p:txBody>
          <a:bodyPr>
            <a:spAutoFit/>
          </a:bodyPr>
          <a:lstStyle/>
          <a:p>
            <a:pPr marL="457200" indent="-457200" eaLnBrk="0" hangingPunct="0">
              <a:lnSpc>
                <a:spcPct val="110000"/>
              </a:lnSpc>
              <a:buClr>
                <a:srgbClr val="002060"/>
              </a:buClr>
              <a:buSzPct val="75000"/>
              <a:buFont typeface="Wingdings" panose="05000000000000000000" pitchFamily="2" charset="2"/>
              <a:buChar char="u"/>
            </a:pPr>
            <a:r>
              <a:rPr lang="en-US" altLang="zh-CN" sz="2800" b="1" dirty="0">
                <a:latin typeface="楷体_GB2312" pitchFamily="49" charset="-122"/>
                <a:ea typeface="楷体_GB2312" pitchFamily="49" charset="-122"/>
              </a:rPr>
              <a:t> </a:t>
            </a:r>
            <a:r>
              <a:rPr lang="zh-CN" altLang="en-US" sz="2400" dirty="0">
                <a:latin typeface="微软雅黑" panose="020B0503020204020204" pitchFamily="34" charset="-122"/>
                <a:ea typeface="微软雅黑" panose="020B0503020204020204" pitchFamily="34" charset="-122"/>
              </a:rPr>
              <a:t>化学性质不</a:t>
            </a:r>
            <a:r>
              <a:rPr lang="zh-CN" altLang="en-US" sz="2400" dirty="0" smtClean="0">
                <a:latin typeface="微软雅黑" panose="020B0503020204020204" pitchFamily="34" charset="-122"/>
                <a:ea typeface="微软雅黑" panose="020B0503020204020204" pitchFamily="34" charset="-122"/>
              </a:rPr>
              <a:t>活泼</a:t>
            </a:r>
            <a:endParaRPr lang="en-US" altLang="zh-CN" sz="2400" dirty="0">
              <a:latin typeface="微软雅黑" panose="020B0503020204020204" pitchFamily="34" charset="-122"/>
              <a:ea typeface="微软雅黑" panose="020B0503020204020204" pitchFamily="34" charset="-122"/>
            </a:endParaRPr>
          </a:p>
          <a:p>
            <a:pPr eaLnBrk="0" hangingPunct="0">
              <a:lnSpc>
                <a:spcPct val="110000"/>
              </a:lnSpc>
              <a:buClr>
                <a:srgbClr val="F547DC"/>
              </a:buClr>
              <a:buFont typeface="Wingdings" panose="05000000000000000000" pitchFamily="2" charset="2"/>
              <a:buChar char="v"/>
            </a:pPr>
            <a:endParaRPr lang="zh-CN" altLang="en-US" sz="2400" dirty="0">
              <a:latin typeface="微软雅黑" panose="020B0503020204020204" pitchFamily="34" charset="-122"/>
              <a:ea typeface="微软雅黑" panose="020B0503020204020204" pitchFamily="34" charset="-122"/>
            </a:endParaRPr>
          </a:p>
          <a:p>
            <a:pPr marL="342900" indent="-342900" eaLnBrk="0" hangingPunct="0">
              <a:lnSpc>
                <a:spcPct val="110000"/>
              </a:lnSpc>
              <a:buClr>
                <a:srgbClr val="002060"/>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  四</a:t>
            </a:r>
            <a:r>
              <a:rPr lang="zh-CN" altLang="en-US" sz="2400" dirty="0">
                <a:latin typeface="微软雅黑" panose="020B0503020204020204" pitchFamily="34" charset="-122"/>
                <a:ea typeface="微软雅黑" panose="020B0503020204020204" pitchFamily="34" charset="-122"/>
              </a:rPr>
              <a:t>个甲基化学环境相同</a:t>
            </a:r>
            <a:endParaRPr lang="en-US" altLang="zh-CN" sz="2400" dirty="0">
              <a:latin typeface="微软雅黑" panose="020B0503020204020204" pitchFamily="34" charset="-122"/>
              <a:ea typeface="微软雅黑" panose="020B0503020204020204" pitchFamily="34" charset="-122"/>
            </a:endParaRPr>
          </a:p>
          <a:p>
            <a:pPr eaLnBrk="0" hangingPunct="0">
              <a:lnSpc>
                <a:spcPct val="110000"/>
              </a:lnSpc>
              <a:buClr>
                <a:srgbClr val="F547DC"/>
              </a:buClr>
              <a:buFont typeface="Wingdings" panose="05000000000000000000" pitchFamily="2" charset="2"/>
              <a:buChar char="v"/>
            </a:pPr>
            <a:endParaRPr lang="zh-CN" altLang="en-US" sz="2400" dirty="0">
              <a:latin typeface="微软雅黑" panose="020B0503020204020204" pitchFamily="34" charset="-122"/>
              <a:ea typeface="微软雅黑" panose="020B0503020204020204" pitchFamily="34" charset="-122"/>
            </a:endParaRPr>
          </a:p>
          <a:p>
            <a:pPr marL="342900" lvl="0" indent="-342900">
              <a:buClr>
                <a:srgbClr val="002060"/>
              </a:buClr>
              <a:buSzPct val="75000"/>
              <a:buFont typeface="Wingdings" panose="05000000000000000000" pitchFamily="2" charset="2"/>
              <a:buChar char="u"/>
            </a:pPr>
            <a:r>
              <a:rPr lang="zh-CN" altLang="en-US" sz="2400" dirty="0" smtClean="0"/>
              <a:t>   </a:t>
            </a:r>
            <a:r>
              <a:rPr lang="zh-CN" altLang="en-US" sz="2400" dirty="0" smtClean="0">
                <a:latin typeface="微软雅黑" panose="020B0503020204020204" pitchFamily="34" charset="-122"/>
                <a:ea typeface="微软雅黑" panose="020B0503020204020204" pitchFamily="34" charset="-122"/>
              </a:rPr>
              <a:t>与</a:t>
            </a:r>
            <a:r>
              <a:rPr lang="zh-CN" altLang="en-US" sz="2400" dirty="0">
                <a:latin typeface="微软雅黑" panose="020B0503020204020204" pitchFamily="34" charset="-122"/>
                <a:ea typeface="微软雅黑" panose="020B0503020204020204" pitchFamily="34" charset="-122"/>
              </a:rPr>
              <a:t>绝大部分样品信号之间不会产生重叠干扰</a:t>
            </a:r>
            <a:endParaRPr lang="en-US" altLang="zh-CN" sz="2400" dirty="0">
              <a:latin typeface="微软雅黑" panose="020B0503020204020204" pitchFamily="34" charset="-122"/>
              <a:ea typeface="微软雅黑" panose="020B0503020204020204" pitchFamily="34" charset="-122"/>
            </a:endParaRPr>
          </a:p>
          <a:p>
            <a:pPr eaLnBrk="0" hangingPunct="0">
              <a:lnSpc>
                <a:spcPct val="110000"/>
              </a:lnSpc>
              <a:buClr>
                <a:srgbClr val="F547DC"/>
              </a:buClr>
            </a:pPr>
            <a:endParaRPr lang="zh-CN" altLang="en-US" sz="2400" dirty="0">
              <a:latin typeface="微软雅黑" panose="020B0503020204020204" pitchFamily="34" charset="-122"/>
              <a:ea typeface="微软雅黑" panose="020B0503020204020204" pitchFamily="34" charset="-122"/>
            </a:endParaRPr>
          </a:p>
          <a:p>
            <a:pPr marL="342900" indent="-342900" eaLnBrk="0" hangingPunct="0">
              <a:lnSpc>
                <a:spcPct val="110000"/>
              </a:lnSpc>
              <a:buClr>
                <a:srgbClr val="002060"/>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  沸点</a:t>
            </a:r>
            <a:r>
              <a:rPr lang="zh-CN" altLang="en-US" sz="2400" dirty="0">
                <a:latin typeface="微软雅黑" panose="020B0503020204020204" pitchFamily="34" charset="-122"/>
                <a:ea typeface="微软雅黑" panose="020B0503020204020204" pitchFamily="34" charset="-122"/>
              </a:rPr>
              <a:t>很低（</a:t>
            </a:r>
            <a:r>
              <a:rPr lang="en-US" altLang="zh-CN" sz="2400" dirty="0">
                <a:latin typeface="微软雅黑" panose="020B0503020204020204" pitchFamily="34" charset="-122"/>
                <a:ea typeface="微软雅黑" panose="020B0503020204020204" pitchFamily="34" charset="-122"/>
              </a:rPr>
              <a:t>27℃)</a:t>
            </a:r>
            <a:endParaRPr lang="zh-CN" altLang="en-US" sz="2400" dirty="0">
              <a:latin typeface="微软雅黑" panose="020B0503020204020204" pitchFamily="34" charset="-122"/>
              <a:ea typeface="微软雅黑" panose="020B0503020204020204" pitchFamily="34" charset="-122"/>
            </a:endParaRPr>
          </a:p>
        </p:txBody>
      </p:sp>
      <p:sp>
        <p:nvSpPr>
          <p:cNvPr id="3" name="矩形 2"/>
          <p:cNvSpPr/>
          <p:nvPr/>
        </p:nvSpPr>
        <p:spPr>
          <a:xfrm>
            <a:off x="558056" y="4037698"/>
            <a:ext cx="7992691" cy="954107"/>
          </a:xfrm>
          <a:prstGeom prst="rect">
            <a:avLst/>
          </a:prstGeom>
          <a:noFill/>
          <a:ln w="9525">
            <a:noFill/>
          </a:ln>
        </p:spPr>
        <p:txBody>
          <a:bodyPr wrap="square">
            <a:spAutoFit/>
          </a:bodyPr>
          <a:lstStyle/>
          <a:p>
            <a:r>
              <a:rPr lang="en-US" altLang="zh-CN" b="1" dirty="0">
                <a:latin typeface="楷体_GB2312" pitchFamily="49" charset="-122"/>
                <a:ea typeface="楷体_GB2312" pitchFamily="49" charset="-122"/>
              </a:rPr>
              <a:t> </a:t>
            </a:r>
            <a:r>
              <a:rPr lang="zh-CN" altLang="en-US" sz="2800" b="1" dirty="0">
                <a:solidFill>
                  <a:srgbClr val="C00000"/>
                </a:solidFill>
                <a:latin typeface="微软雅黑" panose="020B0503020204020204" pitchFamily="34" charset="-122"/>
                <a:ea typeface="微软雅黑" panose="020B0503020204020204" pitchFamily="34" charset="-122"/>
              </a:rPr>
              <a:t>注意：</a:t>
            </a:r>
            <a:r>
              <a:rPr lang="en-US" altLang="zh-CN" sz="2800" b="1" dirty="0">
                <a:latin typeface="微软雅黑" panose="020B0503020204020204" pitchFamily="34" charset="-122"/>
                <a:ea typeface="微软雅黑" panose="020B0503020204020204" pitchFamily="34" charset="-122"/>
              </a:rPr>
              <a:t>TMS</a:t>
            </a:r>
            <a:r>
              <a:rPr lang="zh-CN" altLang="en-US" sz="2800" b="1" dirty="0">
                <a:latin typeface="微软雅黑" panose="020B0503020204020204" pitchFamily="34" charset="-122"/>
                <a:ea typeface="微软雅黑" panose="020B0503020204020204" pitchFamily="34" charset="-122"/>
              </a:rPr>
              <a:t>是非极性溶剂，不溶于水</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不适用于以重水为溶剂的样品。</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1"/>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0963"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11</a:t>
            </a:fld>
            <a:endParaRPr lang="en-US" altLang="zh-CN" sz="1000" dirty="0"/>
          </a:p>
        </p:txBody>
      </p:sp>
      <p:sp>
        <p:nvSpPr>
          <p:cNvPr id="40964" name="Rectangle 2"/>
          <p:cNvSpPr/>
          <p:nvPr/>
        </p:nvSpPr>
        <p:spPr>
          <a:xfrm>
            <a:off x="1683688" y="4029912"/>
            <a:ext cx="6337300" cy="461665"/>
          </a:xfrm>
          <a:prstGeom prst="rect">
            <a:avLst/>
          </a:prstGeom>
          <a:noFill/>
          <a:ln w="9525">
            <a:noFill/>
          </a:ln>
        </p:spPr>
        <p:txBody>
          <a:bodyPr>
            <a:spAutoFit/>
          </a:bodyPr>
          <a:lstStyle/>
          <a:p>
            <a:pPr>
              <a:spcBef>
                <a:spcPct val="50000"/>
              </a:spcBef>
            </a:pPr>
            <a:r>
              <a:rPr lang="en-US" altLang="zh-CN" sz="2400" b="1" dirty="0">
                <a:latin typeface="微软雅黑" panose="020B0503020204020204" pitchFamily="34" charset="-122"/>
                <a:ea typeface="微软雅黑" panose="020B0503020204020204" pitchFamily="34" charset="-122"/>
              </a:rPr>
              <a:t>2,2-</a:t>
            </a:r>
            <a:r>
              <a:rPr lang="zh-CN" altLang="en-US" sz="2400" b="1" dirty="0">
                <a:latin typeface="微软雅黑" panose="020B0503020204020204" pitchFamily="34" charset="-122"/>
                <a:ea typeface="微软雅黑" panose="020B0503020204020204" pitchFamily="34" charset="-122"/>
              </a:rPr>
              <a:t>二甲基</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硅戊烷</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磺酸钠</a:t>
            </a:r>
            <a:r>
              <a:rPr lang="en-US" altLang="zh-CN" sz="2400" b="1" dirty="0">
                <a:latin typeface="微软雅黑" panose="020B0503020204020204" pitchFamily="34" charset="-122"/>
                <a:ea typeface="微软雅黑" panose="020B0503020204020204" pitchFamily="34" charset="-122"/>
              </a:rPr>
              <a:t>(DSS</a:t>
            </a:r>
            <a:r>
              <a:rPr lang="en-US" altLang="zh-CN"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40965" name="Object 4"/>
          <p:cNvGraphicFramePr>
            <a:graphicFrameLocks noChangeAspect="1"/>
          </p:cNvGraphicFramePr>
          <p:nvPr>
            <p:extLst>
              <p:ext uri="{D42A27DB-BD31-4B8C-83A1-F6EECF244321}">
                <p14:modId xmlns:p14="http://schemas.microsoft.com/office/powerpoint/2010/main" val="1291765694"/>
              </p:ext>
            </p:extLst>
          </p:nvPr>
        </p:nvGraphicFramePr>
        <p:xfrm>
          <a:off x="2411761" y="2085696"/>
          <a:ext cx="5221287" cy="1475185"/>
        </p:xfrm>
        <a:graphic>
          <a:graphicData uri="http://schemas.openxmlformats.org/presentationml/2006/ole">
            <mc:AlternateContent xmlns:mc="http://schemas.openxmlformats.org/markup-compatibility/2006">
              <mc:Choice xmlns:v="urn:schemas-microsoft-com:vml" Requires="v">
                <p:oleObj spid="_x0000_s16513" r:id="rId4" imgW="4978400" imgH="1676400" progId="ChemDraw.Document.6.0">
                  <p:embed/>
                </p:oleObj>
              </mc:Choice>
              <mc:Fallback>
                <p:oleObj r:id="rId4" imgW="4978400" imgH="1676400" progId="ChemDraw.Document.6.0">
                  <p:embed/>
                  <p:pic>
                    <p:nvPicPr>
                      <p:cNvPr id="0" name="图片 3089"/>
                      <p:cNvPicPr/>
                      <p:nvPr/>
                    </p:nvPicPr>
                    <p:blipFill>
                      <a:blip r:embed="rId5">
                        <a:clrChange>
                          <a:clrFrom>
                            <a:srgbClr val="000000"/>
                          </a:clrFrom>
                          <a:clrTo>
                            <a:srgbClr val="000000"/>
                          </a:clrTo>
                        </a:clrChange>
                      </a:blip>
                      <a:stretch>
                        <a:fillRect/>
                      </a:stretch>
                    </p:blipFill>
                    <p:spPr>
                      <a:xfrm>
                        <a:off x="2411761" y="2085696"/>
                        <a:ext cx="5221287" cy="1475185"/>
                      </a:xfrm>
                      <a:prstGeom prst="rect">
                        <a:avLst/>
                      </a:prstGeom>
                      <a:noFill/>
                      <a:ln w="38100">
                        <a:noFill/>
                        <a:miter/>
                      </a:ln>
                    </p:spPr>
                  </p:pic>
                </p:oleObj>
              </mc:Fallback>
            </mc:AlternateContent>
          </a:graphicData>
        </a:graphic>
      </p:graphicFrame>
      <p:sp>
        <p:nvSpPr>
          <p:cNvPr id="40966" name="Rectangle 5"/>
          <p:cNvSpPr/>
          <p:nvPr/>
        </p:nvSpPr>
        <p:spPr>
          <a:xfrm>
            <a:off x="179388" y="357504"/>
            <a:ext cx="8713092" cy="1458516"/>
          </a:xfrm>
          <a:prstGeom prst="rect">
            <a:avLst/>
          </a:prstGeom>
          <a:noFill/>
          <a:ln w="9525">
            <a:noFill/>
          </a:ln>
        </p:spPr>
        <p:txBody>
          <a:bodyPr/>
          <a:lstStyle/>
          <a:p>
            <a:pPr marL="342900" indent="-342900" algn="just">
              <a:lnSpc>
                <a:spcPct val="120000"/>
              </a:lnSpc>
              <a:spcBef>
                <a:spcPct val="20000"/>
              </a:spcBef>
              <a:buClr>
                <a:schemeClr val="tx2"/>
              </a:buClr>
              <a:buSzPct val="70000"/>
            </a:pPr>
            <a:r>
              <a:rPr lang="zh-CN" altLang="en-US" sz="3200" b="1" dirty="0">
                <a:solidFill>
                  <a:srgbClr val="C00000"/>
                </a:solidFill>
                <a:latin typeface="微软雅黑" panose="020B0503020204020204" pitchFamily="34" charset="-122"/>
                <a:ea typeface="微软雅黑" panose="020B0503020204020204" pitchFamily="34" charset="-122"/>
              </a:rPr>
              <a:t>对于强极性，必须用重水为溶剂的样品</a:t>
            </a:r>
            <a:endParaRPr lang="en-US" altLang="zh-CN" sz="3200" b="1" dirty="0">
              <a:solidFill>
                <a:srgbClr val="C00000"/>
              </a:solidFill>
              <a:latin typeface="微软雅黑" panose="020B0503020204020204" pitchFamily="34" charset="-122"/>
              <a:ea typeface="微软雅黑" panose="020B0503020204020204" pitchFamily="34" charset="-122"/>
            </a:endParaRPr>
          </a:p>
          <a:p>
            <a:pPr lvl="0">
              <a:spcBef>
                <a:spcPct val="50000"/>
              </a:spcBef>
            </a:pPr>
            <a:r>
              <a:rPr lang="en-US" altLang="zh-CN" sz="2800" b="1" dirty="0">
                <a:latin typeface="楷体_GB2312" pitchFamily="49" charset="-122"/>
                <a:ea typeface="楷体_GB2312" pitchFamily="49" charset="-122"/>
              </a:rPr>
              <a:t>   </a:t>
            </a:r>
            <a:r>
              <a:rPr lang="zh-CN" altLang="en-US" sz="2400" dirty="0" smtClean="0">
                <a:latin typeface="微软雅黑" panose="020B0503020204020204" pitchFamily="34" charset="-122"/>
                <a:ea typeface="微软雅黑" panose="020B0503020204020204" pitchFamily="34" charset="-122"/>
              </a:rPr>
              <a:t>可用</a:t>
            </a:r>
            <a:r>
              <a:rPr lang="en-US" altLang="zh-CN" sz="2400" dirty="0" smtClean="0">
                <a:latin typeface="微软雅黑" panose="020B0503020204020204" pitchFamily="34" charset="-122"/>
                <a:ea typeface="微软雅黑" panose="020B0503020204020204" pitchFamily="34" charset="-122"/>
              </a:rPr>
              <a:t>DSS</a:t>
            </a:r>
            <a:r>
              <a:rPr lang="en-US" altLang="zh-CN" sz="2400" dirty="0">
                <a:latin typeface="微软雅黑" panose="020B0503020204020204" pitchFamily="34" charset="-122"/>
                <a:ea typeface="微软雅黑" panose="020B0503020204020204" pitchFamily="34" charset="-122"/>
              </a:rPr>
              <a:t>[</a:t>
            </a:r>
            <a:r>
              <a:rPr lang="en-US" altLang="zh-CN" sz="2400" dirty="0" smtClean="0">
                <a:solidFill>
                  <a:srgbClr val="000000"/>
                </a:solidFill>
                <a:latin typeface="微软雅黑" panose="020B0503020204020204" pitchFamily="34" charset="-122"/>
                <a:ea typeface="微软雅黑" panose="020B0503020204020204" pitchFamily="34" charset="-122"/>
              </a:rPr>
              <a:t>2,2-</a:t>
            </a:r>
            <a:r>
              <a:rPr lang="zh-CN" altLang="en-US" sz="2400" dirty="0">
                <a:solidFill>
                  <a:srgbClr val="000000"/>
                </a:solidFill>
                <a:latin typeface="微软雅黑" panose="020B0503020204020204" pitchFamily="34" charset="-122"/>
                <a:ea typeface="微软雅黑" panose="020B0503020204020204" pitchFamily="34" charset="-122"/>
              </a:rPr>
              <a:t>二甲基</a:t>
            </a:r>
            <a:r>
              <a:rPr lang="en-US" altLang="zh-CN" sz="2400" dirty="0">
                <a:solidFill>
                  <a:srgbClr val="000000"/>
                </a:solidFill>
                <a:latin typeface="微软雅黑" panose="020B0503020204020204" pitchFamily="34" charset="-122"/>
                <a:ea typeface="微软雅黑" panose="020B0503020204020204" pitchFamily="34" charset="-122"/>
              </a:rPr>
              <a:t>-2-</a:t>
            </a:r>
            <a:r>
              <a:rPr lang="zh-CN" altLang="en-US" sz="2400" dirty="0">
                <a:solidFill>
                  <a:srgbClr val="000000"/>
                </a:solidFill>
                <a:latin typeface="微软雅黑" panose="020B0503020204020204" pitchFamily="34" charset="-122"/>
                <a:ea typeface="微软雅黑" panose="020B0503020204020204" pitchFamily="34" charset="-122"/>
              </a:rPr>
              <a:t>硅戊烷</a:t>
            </a:r>
            <a:r>
              <a:rPr lang="en-US" altLang="zh-CN" sz="2400" dirty="0">
                <a:solidFill>
                  <a:srgbClr val="000000"/>
                </a:solidFill>
                <a:latin typeface="微软雅黑" panose="020B0503020204020204" pitchFamily="34" charset="-122"/>
                <a:ea typeface="微软雅黑" panose="020B0503020204020204" pitchFamily="34" charset="-122"/>
              </a:rPr>
              <a:t>-5-</a:t>
            </a:r>
            <a:r>
              <a:rPr lang="zh-CN" altLang="en-US" sz="2400" dirty="0">
                <a:solidFill>
                  <a:srgbClr val="000000"/>
                </a:solidFill>
                <a:latin typeface="微软雅黑" panose="020B0503020204020204" pitchFamily="34" charset="-122"/>
                <a:ea typeface="微软雅黑" panose="020B0503020204020204" pitchFamily="34" charset="-122"/>
              </a:rPr>
              <a:t>磺酸</a:t>
            </a:r>
            <a:r>
              <a:rPr lang="zh-CN" altLang="en-US" sz="2400" dirty="0" smtClean="0">
                <a:solidFill>
                  <a:srgbClr val="000000"/>
                </a:solidFill>
                <a:latin typeface="微软雅黑" panose="020B0503020204020204" pitchFamily="34" charset="-122"/>
                <a:ea typeface="微软雅黑" panose="020B0503020204020204" pitchFamily="34" charset="-122"/>
              </a:rPr>
              <a:t>钠</a:t>
            </a:r>
            <a:r>
              <a:rPr lang="en-US" altLang="zh-CN" sz="2400" dirty="0" smtClean="0">
                <a:solidFill>
                  <a:srgbClr val="000000"/>
                </a:solidFill>
                <a:latin typeface="微软雅黑" panose="020B0503020204020204" pitchFamily="34" charset="-122"/>
                <a:ea typeface="微软雅黑" panose="020B0503020204020204" pitchFamily="34" charset="-122"/>
              </a:rPr>
              <a:t>]</a:t>
            </a:r>
            <a:r>
              <a:rPr lang="zh-CN" altLang="en-US" sz="2400" dirty="0" smtClean="0">
                <a:solidFill>
                  <a:srgbClr val="000000"/>
                </a:solidFill>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TSP[3-</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三甲基硅基</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丙酸钠</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，叔丁醇</a:t>
            </a:r>
            <a:r>
              <a:rPr lang="zh-CN" altLang="en-US" sz="2400" dirty="0">
                <a:latin typeface="微软雅黑" panose="020B0503020204020204" pitchFamily="34" charset="-122"/>
                <a:ea typeface="微软雅黑" panose="020B0503020204020204" pitchFamily="34" charset="-122"/>
              </a:rPr>
              <a:t>，丙醇等，使用时注意将其吸收峰与样品吸收峰区分开。</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p:cNvSpPr>
          <p:nvPr>
            <p:ph idx="1"/>
          </p:nvPr>
        </p:nvSpPr>
        <p:spPr>
          <a:xfrm>
            <a:off x="684213" y="406004"/>
            <a:ext cx="7848600" cy="1782365"/>
          </a:xfrm>
        </p:spPr>
        <p:txBody>
          <a:bodyPr vert="horz" wrap="square" lIns="91440" tIns="45720" rIns="91440" bIns="45720" anchor="t"/>
          <a:lstStyle/>
          <a:p>
            <a:pPr marL="0" indent="0" algn="just" eaLnBrk="1" hangingPunct="1">
              <a:lnSpc>
                <a:spcPct val="120000"/>
              </a:lnSpc>
              <a:buNone/>
            </a:pPr>
            <a:r>
              <a:rPr lang="zh-CN" altLang="en-US" sz="2800" b="1" dirty="0">
                <a:latin typeface="微软雅黑" panose="020B0503020204020204" pitchFamily="34" charset="-122"/>
                <a:ea typeface="微软雅黑" panose="020B0503020204020204" pitchFamily="34" charset="-122"/>
              </a:rPr>
              <a:t>在</a:t>
            </a:r>
            <a:r>
              <a:rPr lang="en-US" altLang="zh-CN" sz="2800" b="1" baseline="30000" dirty="0">
                <a:latin typeface="微软雅黑" panose="020B0503020204020204" pitchFamily="34" charset="-122"/>
                <a:ea typeface="微软雅黑" panose="020B0503020204020204" pitchFamily="34" charset="-122"/>
              </a:rPr>
              <a:t>1</a:t>
            </a:r>
            <a:r>
              <a:rPr lang="en-US" altLang="zh-CN" sz="2800" b="1" dirty="0">
                <a:latin typeface="微软雅黑" panose="020B0503020204020204" pitchFamily="34" charset="-122"/>
                <a:ea typeface="微软雅黑" panose="020B0503020204020204" pitchFamily="34" charset="-122"/>
              </a:rPr>
              <a:t>H</a:t>
            </a:r>
            <a:r>
              <a:rPr lang="zh-CN" altLang="en-US" sz="2800" b="1" dirty="0">
                <a:latin typeface="微软雅黑" panose="020B0503020204020204" pitchFamily="34" charset="-122"/>
                <a:ea typeface="微软雅黑" panose="020B0503020204020204" pitchFamily="34" charset="-122"/>
              </a:rPr>
              <a:t>和</a:t>
            </a:r>
            <a:r>
              <a:rPr lang="en-US" altLang="zh-CN" sz="2800" b="1" baseline="30000" dirty="0">
                <a:latin typeface="微软雅黑" panose="020B0503020204020204" pitchFamily="34" charset="-122"/>
                <a:ea typeface="微软雅黑" panose="020B0503020204020204" pitchFamily="34" charset="-122"/>
              </a:rPr>
              <a:t>13</a:t>
            </a:r>
            <a:r>
              <a:rPr lang="en-US" altLang="zh-CN" sz="2800" b="1" dirty="0">
                <a:latin typeface="微软雅黑" panose="020B0503020204020204" pitchFamily="34" charset="-122"/>
                <a:ea typeface="微软雅黑" panose="020B0503020204020204" pitchFamily="34" charset="-122"/>
              </a:rPr>
              <a:t>C</a:t>
            </a:r>
            <a:r>
              <a:rPr lang="zh-CN" altLang="en-US" sz="2800" b="1" dirty="0">
                <a:latin typeface="微软雅黑" panose="020B0503020204020204" pitchFamily="34" charset="-122"/>
                <a:ea typeface="微软雅黑" panose="020B0503020204020204" pitchFamily="34" charset="-122"/>
              </a:rPr>
              <a:t>谱中规定</a:t>
            </a:r>
            <a:r>
              <a:rPr lang="zh-CN" altLang="en-US" sz="2800" b="1" dirty="0">
                <a:solidFill>
                  <a:srgbClr val="C00000"/>
                </a:solidFill>
                <a:latin typeface="微软雅黑" panose="020B0503020204020204" pitchFamily="34" charset="-122"/>
                <a:ea typeface="微软雅黑" panose="020B0503020204020204" pitchFamily="34" charset="-122"/>
              </a:rPr>
              <a:t>标准物</a:t>
            </a:r>
            <a:r>
              <a:rPr lang="en-US" altLang="zh-CN" sz="2800" b="1" dirty="0">
                <a:solidFill>
                  <a:srgbClr val="C00000"/>
                </a:solidFill>
                <a:latin typeface="微软雅黑" panose="020B0503020204020204" pitchFamily="34" charset="-122"/>
                <a:ea typeface="微软雅黑" panose="020B0503020204020204" pitchFamily="34" charset="-122"/>
              </a:rPr>
              <a:t>TMS</a:t>
            </a:r>
            <a:r>
              <a:rPr lang="zh-CN" altLang="en-US" sz="2800" b="1" dirty="0">
                <a:solidFill>
                  <a:srgbClr val="C00000"/>
                </a:solidFill>
                <a:latin typeface="微软雅黑" panose="020B0503020204020204" pitchFamily="34" charset="-122"/>
                <a:ea typeface="微软雅黑" panose="020B0503020204020204" pitchFamily="34" charset="-122"/>
              </a:rPr>
              <a:t>的化学位移值</a:t>
            </a:r>
            <a:r>
              <a:rPr lang="zh-CN" altLang="en-US" sz="2800" b="1" i="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800" b="1" dirty="0">
                <a:solidFill>
                  <a:srgbClr val="C00000"/>
                </a:solidFill>
                <a:latin typeface="微软雅黑" panose="020B0503020204020204" pitchFamily="34" charset="-122"/>
                <a:ea typeface="微软雅黑" panose="020B0503020204020204" pitchFamily="34" charset="-122"/>
              </a:rPr>
              <a:t>=0</a:t>
            </a:r>
            <a:r>
              <a:rPr lang="zh-CN" altLang="en-US" sz="2800" b="1" dirty="0">
                <a:solidFill>
                  <a:srgbClr val="C00000"/>
                </a:solidFill>
                <a:latin typeface="微软雅黑" panose="020B0503020204020204" pitchFamily="34" charset="-122"/>
                <a:ea typeface="微软雅黑" panose="020B0503020204020204" pitchFamily="34" charset="-122"/>
              </a:rPr>
              <a:t>，位于图谱的右边</a:t>
            </a:r>
            <a:r>
              <a:rPr lang="zh-CN" altLang="en-US" sz="2800" b="1" dirty="0">
                <a:latin typeface="微软雅黑" panose="020B0503020204020204" pitchFamily="34" charset="-122"/>
                <a:ea typeface="微软雅黑" panose="020B0503020204020204" pitchFamily="34" charset="-122"/>
              </a:rPr>
              <a:t>。在它的左边</a:t>
            </a:r>
            <a:r>
              <a:rPr lang="zh-CN" altLang="en-US" sz="2800" b="1"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800" b="1" dirty="0">
                <a:latin typeface="微软雅黑" panose="020B0503020204020204" pitchFamily="34" charset="-122"/>
                <a:ea typeface="微软雅黑" panose="020B0503020204020204" pitchFamily="34" charset="-122"/>
              </a:rPr>
              <a:t>为正值，在它的右边</a:t>
            </a:r>
            <a:r>
              <a:rPr lang="zh-CN" altLang="en-US" sz="2800" b="1"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800" b="1" dirty="0">
                <a:latin typeface="微软雅黑" panose="020B0503020204020204" pitchFamily="34" charset="-122"/>
                <a:ea typeface="微软雅黑" panose="020B0503020204020204" pitchFamily="34" charset="-122"/>
              </a:rPr>
              <a:t>为负值，绝大部分有机物中的氢核或碳核的</a:t>
            </a:r>
            <a:r>
              <a:rPr lang="zh-CN" altLang="en-US" sz="2800" b="1"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800" b="1" dirty="0">
                <a:latin typeface="微软雅黑" panose="020B0503020204020204" pitchFamily="34" charset="-122"/>
                <a:ea typeface="微软雅黑" panose="020B0503020204020204" pitchFamily="34" charset="-122"/>
              </a:rPr>
              <a:t>是正值。</a:t>
            </a:r>
          </a:p>
        </p:txBody>
      </p:sp>
      <p:sp>
        <p:nvSpPr>
          <p:cNvPr id="41986"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198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12</a:t>
            </a:fld>
            <a:endParaRPr lang="en-US" altLang="zh-CN" sz="1000" dirty="0"/>
          </a:p>
        </p:txBody>
      </p:sp>
      <p:pic>
        <p:nvPicPr>
          <p:cNvPr id="5" name="Picture 3"/>
          <p:cNvPicPr>
            <a:picLocks noChangeAspect="1"/>
          </p:cNvPicPr>
          <p:nvPr/>
        </p:nvPicPr>
        <p:blipFill>
          <a:blip r:embed="rId4"/>
          <a:stretch>
            <a:fillRect/>
          </a:stretch>
        </p:blipFill>
        <p:spPr>
          <a:xfrm>
            <a:off x="2378498" y="2571750"/>
            <a:ext cx="4537075" cy="2034779"/>
          </a:xfrm>
          <a:prstGeom prst="rect">
            <a:avLst/>
          </a:prstGeom>
          <a:noFill/>
          <a:ln w="9525">
            <a:noFill/>
          </a:ln>
        </p:spPr>
      </p:pic>
      <p:graphicFrame>
        <p:nvGraphicFramePr>
          <p:cNvPr id="2" name="对象 1"/>
          <p:cNvGraphicFramePr>
            <a:graphicFrameLocks noChangeAspect="1"/>
          </p:cNvGraphicFramePr>
          <p:nvPr>
            <p:extLst>
              <p:ext uri="{D42A27DB-BD31-4B8C-83A1-F6EECF244321}">
                <p14:modId xmlns:p14="http://schemas.microsoft.com/office/powerpoint/2010/main" val="2607727616"/>
              </p:ext>
            </p:extLst>
          </p:nvPr>
        </p:nvGraphicFramePr>
        <p:xfrm>
          <a:off x="2349948" y="4606529"/>
          <a:ext cx="4392612" cy="334566"/>
        </p:xfrm>
        <a:graphic>
          <a:graphicData uri="http://schemas.openxmlformats.org/presentationml/2006/ole">
            <mc:AlternateContent xmlns:mc="http://schemas.openxmlformats.org/markup-compatibility/2006">
              <mc:Choice xmlns:v="urn:schemas-microsoft-com:vml" Requires="v">
                <p:oleObj spid="_x0000_s17536" r:id="rId5" imgW="3362325" imgH="342900" progId="ChemWindow.Document">
                  <p:embed/>
                </p:oleObj>
              </mc:Choice>
              <mc:Fallback>
                <p:oleObj r:id="rId5" imgW="3362325" imgH="342900" progId="ChemWindow.Document">
                  <p:embed/>
                  <p:pic>
                    <p:nvPicPr>
                      <p:cNvPr id="0" name="图片 3090"/>
                      <p:cNvPicPr/>
                      <p:nvPr/>
                    </p:nvPicPr>
                    <p:blipFill>
                      <a:blip r:embed="rId6"/>
                      <a:stretch>
                        <a:fillRect/>
                      </a:stretch>
                    </p:blipFill>
                    <p:spPr>
                      <a:xfrm>
                        <a:off x="2349948" y="4606529"/>
                        <a:ext cx="4392612" cy="334566"/>
                      </a:xfrm>
                      <a:prstGeom prst="rect">
                        <a:avLst/>
                      </a:prstGeom>
                      <a:solidFill>
                        <a:srgbClr val="3366FF"/>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p:cNvSpPr>
          <p:nvPr>
            <p:ph type="title"/>
          </p:nvPr>
        </p:nvSpPr>
        <p:spPr>
          <a:xfrm>
            <a:off x="395288" y="303610"/>
            <a:ext cx="7543800" cy="647700"/>
          </a:xfrm>
        </p:spPr>
        <p:txBody>
          <a:bodyPr vert="horz" wrap="square" lIns="91440" tIns="45720" rIns="91440" bIns="45720" anchor="b"/>
          <a:lstStyle/>
          <a:p>
            <a:pPr algn="l" eaLnBrk="1" hangingPunct="1"/>
            <a:r>
              <a:rPr lang="en-US" altLang="zh-CN" sz="3200" b="1" dirty="0" smtClean="0">
                <a:solidFill>
                  <a:schemeClr val="accent1"/>
                </a:solidFill>
                <a:latin typeface="微软雅黑" panose="020B0503020204020204" pitchFamily="34" charset="-122"/>
                <a:ea typeface="微软雅黑" panose="020B0503020204020204" pitchFamily="34" charset="-122"/>
              </a:rPr>
              <a:t>3.</a:t>
            </a:r>
            <a:r>
              <a:rPr lang="zh-CN" altLang="en-US" sz="3200" b="1" dirty="0" smtClean="0">
                <a:solidFill>
                  <a:schemeClr val="accent1"/>
                </a:solidFill>
                <a:latin typeface="微软雅黑" panose="020B0503020204020204" pitchFamily="34" charset="-122"/>
                <a:ea typeface="微软雅黑" panose="020B0503020204020204" pitchFamily="34" charset="-122"/>
              </a:rPr>
              <a:t>化学位移</a:t>
            </a:r>
            <a:r>
              <a:rPr lang="zh-CN" altLang="en-US" sz="3200" b="1" dirty="0">
                <a:solidFill>
                  <a:schemeClr val="accent1"/>
                </a:solidFill>
                <a:latin typeface="微软雅黑" panose="020B0503020204020204" pitchFamily="34" charset="-122"/>
                <a:ea typeface="微软雅黑" panose="020B0503020204020204" pitchFamily="34" charset="-122"/>
              </a:rPr>
              <a:t>的测定</a:t>
            </a:r>
          </a:p>
        </p:txBody>
      </p:sp>
      <p:sp>
        <p:nvSpPr>
          <p:cNvPr id="43013" name="Rectangle 3"/>
          <p:cNvSpPr>
            <a:spLocks noGrp="1"/>
          </p:cNvSpPr>
          <p:nvPr>
            <p:ph idx="1"/>
          </p:nvPr>
        </p:nvSpPr>
        <p:spPr>
          <a:xfrm>
            <a:off x="436563" y="1168004"/>
            <a:ext cx="8712200" cy="1944290"/>
          </a:xfrm>
        </p:spPr>
        <p:txBody>
          <a:bodyPr vert="horz" wrap="square" lIns="91440" tIns="45720" rIns="91440" bIns="45720" anchor="t"/>
          <a:lstStyle/>
          <a:p>
            <a:pPr algn="just" eaLnBrk="1" hangingPunct="1">
              <a:lnSpc>
                <a:spcPct val="120000"/>
              </a:lnSpc>
              <a:buClr>
                <a:schemeClr val="tx2"/>
              </a:buClr>
              <a:buSzPct val="75000"/>
              <a:buFont typeface="Wingdings" panose="05000000000000000000" pitchFamily="2" charset="2"/>
              <a:buChar char="u"/>
            </a:pPr>
            <a:r>
              <a:rPr lang="zh-CN" altLang="en-US" sz="2800" dirty="0" smtClean="0">
                <a:latin typeface="微软雅黑" panose="020B0503020204020204" pitchFamily="34" charset="-122"/>
                <a:ea typeface="微软雅黑" panose="020B0503020204020204" pitchFamily="34" charset="-122"/>
              </a:rPr>
              <a:t> </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标准物</a:t>
            </a:r>
            <a:r>
              <a:rPr lang="zh-CN"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作为</a:t>
            </a:r>
            <a:r>
              <a:rPr lang="zh-CN" altLang="zh-CN" sz="2800" dirty="0">
                <a:latin typeface="Times New Roman" panose="02020603050405020304" pitchFamily="18" charset="0"/>
                <a:ea typeface="微软雅黑" panose="020B0503020204020204" pitchFamily="34" charset="-122"/>
                <a:cs typeface="Times New Roman" panose="02020603050405020304" pitchFamily="18" charset="0"/>
              </a:rPr>
              <a:t>内标物</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和样品一起溶解于合适的溶剂中</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buFont typeface="Wingdings" panose="05000000000000000000" pitchFamily="2" charset="2"/>
              <a:buChar char="u"/>
            </a:pP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buClr>
                <a:schemeClr val="tx2"/>
              </a:buClr>
              <a:buSzPct val="75000"/>
              <a:buFont typeface="Wingdings" panose="05000000000000000000" pitchFamily="2" charset="2"/>
              <a:buChar char="u"/>
            </a:pP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baseline="30000" dirty="0"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800" baseline="30000" dirty="0">
                <a:latin typeface="Times New Roman" panose="02020603050405020304" pitchFamily="18" charset="0"/>
                <a:ea typeface="微软雅黑" panose="020B0503020204020204" pitchFamily="34" charset="-122"/>
                <a:cs typeface="Times New Roman" panose="02020603050405020304" pitchFamily="18" charset="0"/>
              </a:rPr>
              <a:t>13</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测定一般使用氘代溶剂。如氘代氯仿（</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CDCl</a:t>
            </a:r>
            <a:r>
              <a:rPr lang="en-US" altLang="zh-CN" sz="28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）、氘代丙酮（</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CD</a:t>
            </a:r>
            <a:r>
              <a:rPr lang="en-US" altLang="zh-CN" sz="28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COCD</a:t>
            </a:r>
            <a:r>
              <a:rPr lang="en-US" altLang="zh-CN" sz="28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）、氘代甲醇（</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CD</a:t>
            </a:r>
            <a:r>
              <a:rPr lang="en-US" altLang="zh-CN" sz="28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OD</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）、重水（</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8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）等。</a:t>
            </a:r>
          </a:p>
          <a:p>
            <a:pPr algn="just" eaLnBrk="1" hangingPunct="1">
              <a:lnSpc>
                <a:spcPct val="120000"/>
              </a:lnSpc>
            </a:pPr>
            <a:endParaRPr lang="en-US" altLang="zh-CN" sz="2800" b="1" dirty="0">
              <a:latin typeface="Times New Roman" panose="02020603050405020304" pitchFamily="18" charset="0"/>
              <a:ea typeface="楷体_GB2312" pitchFamily="49" charset="-122"/>
              <a:cs typeface="Times New Roman" panose="02020603050405020304" pitchFamily="18" charset="0"/>
            </a:endParaRPr>
          </a:p>
        </p:txBody>
      </p:sp>
      <p:sp>
        <p:nvSpPr>
          <p:cNvPr id="43010"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301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13</a:t>
            </a:fld>
            <a:endParaRPr lang="en-US" altLang="zh-CN" sz="1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p:cNvSpPr>
          <p:nvPr>
            <p:ph idx="1"/>
          </p:nvPr>
        </p:nvSpPr>
        <p:spPr>
          <a:xfrm>
            <a:off x="539552" y="411510"/>
            <a:ext cx="9650413" cy="540544"/>
          </a:xfrm>
        </p:spPr>
        <p:txBody>
          <a:bodyPr vert="horz" wrap="square" lIns="91440" tIns="45720" rIns="91440" bIns="45720" anchor="t"/>
          <a:lstStyle/>
          <a:p>
            <a:pPr eaLnBrk="1" hangingPunct="1">
              <a:lnSpc>
                <a:spcPct val="120000"/>
              </a:lnSpc>
              <a:buNone/>
            </a:pPr>
            <a:r>
              <a:rPr lang="zh-CN" altLang="en-US" sz="3200" b="1" dirty="0">
                <a:solidFill>
                  <a:srgbClr val="C00000"/>
                </a:solidFill>
                <a:latin typeface="微软雅黑" panose="020B0503020204020204" pitchFamily="34" charset="-122"/>
                <a:ea typeface="微软雅黑" panose="020B0503020204020204" pitchFamily="34" charset="-122"/>
              </a:rPr>
              <a:t>测定化学位移的两种方法</a:t>
            </a:r>
          </a:p>
        </p:txBody>
      </p:sp>
      <p:sp>
        <p:nvSpPr>
          <p:cNvPr id="44034"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403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14</a:t>
            </a:fld>
            <a:endParaRPr lang="en-US" altLang="zh-CN" sz="1000" dirty="0"/>
          </a:p>
        </p:txBody>
      </p:sp>
      <p:sp>
        <p:nvSpPr>
          <p:cNvPr id="5" name="Rectangle 2"/>
          <p:cNvSpPr txBox="1">
            <a:spLocks noChangeArrowheads="1"/>
          </p:cNvSpPr>
          <p:nvPr/>
        </p:nvSpPr>
        <p:spPr bwMode="auto">
          <a:xfrm>
            <a:off x="0" y="1383618"/>
            <a:ext cx="8892480" cy="972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R="0" lvl="1" algn="l" defTabSz="914400" rtl="0" eaLnBrk="1" fontAlgn="base" latinLnBrk="0" hangingPunct="1">
              <a:lnSpc>
                <a:spcPct val="120000"/>
              </a:lnSpc>
              <a:spcBef>
                <a:spcPct val="20000"/>
              </a:spcBef>
              <a:spcAft>
                <a:spcPct val="0"/>
              </a:spcAft>
              <a:buClr>
                <a:schemeClr val="tx2"/>
              </a:buClr>
              <a:buSzPct val="75000"/>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扫场：</a:t>
            </a: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固定照射的电磁波频率</a:t>
            </a:r>
            <a:r>
              <a:rPr kumimoji="0" lang="zh-CN" altLang="en-US" sz="280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，连续改变磁场</a:t>
            </a:r>
            <a:endParaRPr kumimoji="0" lang="en-US" altLang="zh-CN"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endParaRPr>
          </a:p>
          <a:p>
            <a:pPr marL="344170" marR="0" lvl="1" indent="0" algn="l" defTabSz="914400" rtl="0" eaLnBrk="1" fontAlgn="base" latinLnBrk="0" hangingPunct="1">
              <a:lnSpc>
                <a:spcPct val="120000"/>
              </a:lnSpc>
              <a:spcBef>
                <a:spcPct val="20000"/>
              </a:spcBef>
              <a:spcAft>
                <a:spcPct val="0"/>
              </a:spcAft>
              <a:buClr>
                <a:schemeClr val="accent2"/>
              </a:buClr>
              <a:buSzPct val="70000"/>
              <a:buNone/>
              <a:defRPr/>
            </a:pP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强度</a:t>
            </a:r>
            <a:r>
              <a:rPr kumimoji="0" lang="en-US" altLang="zh-CN" sz="280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B</a:t>
            </a:r>
            <a:r>
              <a:rPr kumimoji="0" lang="en-US" altLang="zh-CN" sz="2800" i="1" u="none" strike="noStrike" kern="0" cap="none" spc="0" normalizeH="0" baseline="-25000" noProof="0" dirty="0" smtClean="0">
                <a:ln>
                  <a:noFill/>
                </a:ln>
                <a:solidFill>
                  <a:schemeClr val="tx1"/>
                </a:solidFill>
                <a:effectLst/>
                <a:uLnTx/>
                <a:uFillTx/>
                <a:latin typeface="微软雅黑" panose="020B0503020204020204" pitchFamily="34" charset="-122"/>
                <a:ea typeface="微软雅黑" panose="020B0503020204020204" pitchFamily="34" charset="-122"/>
              </a:rPr>
              <a:t>0</a:t>
            </a:r>
            <a:endPar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6" name="Rectangle 2"/>
          <p:cNvSpPr txBox="1">
            <a:spLocks noChangeArrowheads="1"/>
          </p:cNvSpPr>
          <p:nvPr/>
        </p:nvSpPr>
        <p:spPr bwMode="auto">
          <a:xfrm>
            <a:off x="0" y="2916363"/>
            <a:ext cx="8839137"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R="0" lvl="1" algn="l" defTabSz="914400" rtl="0" eaLnBrk="1" fontAlgn="base" latinLnBrk="0" hangingPunct="1">
              <a:lnSpc>
                <a:spcPct val="120000"/>
              </a:lnSpc>
              <a:spcBef>
                <a:spcPct val="20000"/>
              </a:spcBef>
              <a:spcAft>
                <a:spcPct val="0"/>
              </a:spcAft>
              <a:buClr>
                <a:schemeClr val="tx2"/>
              </a:buClr>
              <a:buSzPct val="75000"/>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扫频：</a:t>
            </a: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固定磁场强度</a:t>
            </a:r>
            <a:r>
              <a:rPr kumimoji="0" lang="en-US" altLang="zh-CN" sz="280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B</a:t>
            </a:r>
            <a:r>
              <a:rPr kumimoji="0" lang="en-US" altLang="zh-CN" sz="2800" i="1" u="none" strike="noStrike" kern="0" cap="none" spc="0" normalizeH="0" baseline="-25000" noProof="0" dirty="0" smtClean="0">
                <a:ln>
                  <a:noFill/>
                </a:ln>
                <a:solidFill>
                  <a:schemeClr val="tx1"/>
                </a:solidFill>
                <a:effectLst/>
                <a:uLnTx/>
                <a:uFillTx/>
                <a:latin typeface="微软雅黑" panose="020B0503020204020204" pitchFamily="34" charset="-122"/>
                <a:ea typeface="微软雅黑" panose="020B0503020204020204" pitchFamily="34" charset="-122"/>
              </a:rPr>
              <a:t>0 </a:t>
            </a: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而改变照射频率</a:t>
            </a:r>
            <a:r>
              <a:rPr kumimoji="0" lang="zh-CN" altLang="en-US" sz="280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r>
              <a:rPr kumimoji="0" lang="zh-CN" altLang="en-US" sz="280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sz="2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p:cNvSpPr>
          <p:nvPr>
            <p:ph type="title"/>
          </p:nvPr>
        </p:nvSpPr>
        <p:spPr>
          <a:xfrm>
            <a:off x="2346644" y="195486"/>
            <a:ext cx="4457604" cy="582215"/>
          </a:xfrm>
        </p:spPr>
        <p:txBody>
          <a:bodyPr vert="horz" wrap="square" lIns="91440" tIns="45720" rIns="91440" bIns="45720" anchor="b"/>
          <a:lstStyle/>
          <a:p>
            <a:pPr algn="l" eaLnBrk="1" hangingPunct="1"/>
            <a:r>
              <a:rPr lang="zh-CN" altLang="en-US" sz="3600" b="1" dirty="0" smtClean="0">
                <a:solidFill>
                  <a:srgbClr val="0070C0"/>
                </a:solidFill>
                <a:latin typeface="微软雅黑" panose="020B0503020204020204" pitchFamily="34" charset="-122"/>
                <a:ea typeface="微软雅黑" panose="020B0503020204020204" pitchFamily="34" charset="-122"/>
              </a:rPr>
              <a:t>三、自旋</a:t>
            </a:r>
            <a:r>
              <a:rPr lang="zh-CN" altLang="en-US" sz="3600" b="1" dirty="0">
                <a:solidFill>
                  <a:srgbClr val="0070C0"/>
                </a:solidFill>
                <a:latin typeface="微软雅黑" panose="020B0503020204020204" pitchFamily="34" charset="-122"/>
                <a:ea typeface="微软雅黑" panose="020B0503020204020204" pitchFamily="34" charset="-122"/>
              </a:rPr>
              <a:t>－自旋耦合</a:t>
            </a:r>
          </a:p>
        </p:txBody>
      </p:sp>
      <p:sp>
        <p:nvSpPr>
          <p:cNvPr id="45058"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5059"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15</a:t>
            </a:fld>
            <a:endParaRPr lang="en-US" altLang="zh-CN" sz="1000" dirty="0"/>
          </a:p>
        </p:txBody>
      </p:sp>
      <p:sp>
        <p:nvSpPr>
          <p:cNvPr id="45061" name="Rectangle 3"/>
          <p:cNvSpPr/>
          <p:nvPr/>
        </p:nvSpPr>
        <p:spPr>
          <a:xfrm>
            <a:off x="3182144" y="4638019"/>
            <a:ext cx="3398838" cy="461665"/>
          </a:xfrm>
          <a:prstGeom prst="rect">
            <a:avLst/>
          </a:prstGeom>
          <a:noFill/>
          <a:ln w="9525">
            <a:noFill/>
          </a:ln>
        </p:spPr>
        <p:txBody>
          <a:bodyPr>
            <a:spAutoFit/>
          </a:bodyPr>
          <a:lstStyle/>
          <a:p>
            <a:pPr eaLnBrk="0" hangingPunct="0"/>
            <a:r>
              <a:rPr lang="zh-CN" altLang="en-US" sz="2400" b="1" dirty="0">
                <a:latin typeface="微软雅黑" panose="020B0503020204020204" pitchFamily="34" charset="-122"/>
                <a:ea typeface="微软雅黑" panose="020B0503020204020204" pitchFamily="34" charset="-122"/>
              </a:rPr>
              <a:t>乙醇的核磁共振氢谱</a:t>
            </a:r>
          </a:p>
        </p:txBody>
      </p:sp>
      <p:grpSp>
        <p:nvGrpSpPr>
          <p:cNvPr id="45062" name="Group 4"/>
          <p:cNvGrpSpPr/>
          <p:nvPr/>
        </p:nvGrpSpPr>
        <p:grpSpPr>
          <a:xfrm>
            <a:off x="1263650" y="742617"/>
            <a:ext cx="7235825" cy="1679972"/>
            <a:chOff x="864" y="1296"/>
            <a:chExt cx="4558" cy="1411"/>
          </a:xfrm>
        </p:grpSpPr>
        <p:pic>
          <p:nvPicPr>
            <p:cNvPr id="45066" name="Picture 5"/>
            <p:cNvPicPr>
              <a:picLocks noChangeAspect="1"/>
            </p:cNvPicPr>
            <p:nvPr/>
          </p:nvPicPr>
          <p:blipFill>
            <a:blip r:embed="rId3"/>
            <a:srcRect b="50461"/>
            <a:stretch>
              <a:fillRect/>
            </a:stretch>
          </p:blipFill>
          <p:spPr>
            <a:xfrm>
              <a:off x="864" y="1296"/>
              <a:ext cx="4558" cy="1411"/>
            </a:xfrm>
            <a:prstGeom prst="rect">
              <a:avLst/>
            </a:prstGeom>
            <a:noFill/>
            <a:ln w="9525">
              <a:noFill/>
            </a:ln>
          </p:spPr>
        </p:pic>
        <p:sp>
          <p:nvSpPr>
            <p:cNvPr id="45067" name="Text Box 6"/>
            <p:cNvSpPr txBox="1"/>
            <p:nvPr/>
          </p:nvSpPr>
          <p:spPr>
            <a:xfrm>
              <a:off x="1104" y="1344"/>
              <a:ext cx="892" cy="388"/>
            </a:xfrm>
            <a:prstGeom prst="rect">
              <a:avLst/>
            </a:prstGeom>
            <a:solidFill>
              <a:schemeClr val="bg1"/>
            </a:solidFill>
            <a:ln w="9525">
              <a:noFill/>
            </a:ln>
          </p:spPr>
          <p:txBody>
            <a:bodyPr wrap="none">
              <a:spAutoFit/>
            </a:bodyPr>
            <a:lstStyle/>
            <a:p>
              <a:pPr eaLnBrk="0" hangingPunct="0"/>
              <a:r>
                <a:rPr lang="zh-CN" altLang="en-US" sz="2400" b="1" dirty="0">
                  <a:solidFill>
                    <a:srgbClr val="C00000"/>
                  </a:solidFill>
                  <a:latin typeface="微软雅黑" panose="020B0503020204020204" pitchFamily="34" charset="-122"/>
                  <a:ea typeface="微软雅黑" panose="020B0503020204020204" pitchFamily="34" charset="-122"/>
                </a:rPr>
                <a:t>低分辨率</a:t>
              </a:r>
            </a:p>
          </p:txBody>
        </p:sp>
      </p:grpSp>
      <p:grpSp>
        <p:nvGrpSpPr>
          <p:cNvPr id="46087" name="Group 7"/>
          <p:cNvGrpSpPr/>
          <p:nvPr/>
        </p:nvGrpSpPr>
        <p:grpSpPr>
          <a:xfrm>
            <a:off x="1270008" y="2535375"/>
            <a:ext cx="7239000" cy="1709738"/>
            <a:chOff x="864" y="2688"/>
            <a:chExt cx="4560" cy="1436"/>
          </a:xfrm>
        </p:grpSpPr>
        <p:pic>
          <p:nvPicPr>
            <p:cNvPr id="45064" name="Picture 8"/>
            <p:cNvPicPr>
              <a:picLocks noChangeAspect="1"/>
            </p:cNvPicPr>
            <p:nvPr/>
          </p:nvPicPr>
          <p:blipFill>
            <a:blip r:embed="rId3"/>
            <a:srcRect t="49539"/>
            <a:stretch>
              <a:fillRect/>
            </a:stretch>
          </p:blipFill>
          <p:spPr>
            <a:xfrm>
              <a:off x="864" y="2688"/>
              <a:ext cx="4560" cy="1436"/>
            </a:xfrm>
            <a:prstGeom prst="rect">
              <a:avLst/>
            </a:prstGeom>
            <a:noFill/>
            <a:ln w="9525">
              <a:noFill/>
            </a:ln>
          </p:spPr>
        </p:pic>
        <p:sp>
          <p:nvSpPr>
            <p:cNvPr id="45065" name="Text Box 9"/>
            <p:cNvSpPr txBox="1"/>
            <p:nvPr/>
          </p:nvSpPr>
          <p:spPr>
            <a:xfrm>
              <a:off x="1194" y="2688"/>
              <a:ext cx="892" cy="388"/>
            </a:xfrm>
            <a:prstGeom prst="rect">
              <a:avLst/>
            </a:prstGeom>
            <a:solidFill>
              <a:schemeClr val="bg1"/>
            </a:solidFill>
            <a:ln w="9525">
              <a:noFill/>
            </a:ln>
          </p:spPr>
          <p:txBody>
            <a:bodyPr wrap="none">
              <a:spAutoFit/>
            </a:bodyPr>
            <a:lstStyle/>
            <a:p>
              <a:pPr eaLnBrk="0" hangingPunct="0"/>
              <a:r>
                <a:rPr lang="zh-CN" altLang="en-US" sz="2400" b="1" dirty="0">
                  <a:solidFill>
                    <a:srgbClr val="C00000"/>
                  </a:solidFill>
                  <a:latin typeface="微软雅黑" panose="020B0503020204020204" pitchFamily="34" charset="-122"/>
                  <a:ea typeface="微软雅黑" panose="020B0503020204020204" pitchFamily="34" charset="-122"/>
                </a:rPr>
                <a:t>高分辨率</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p:cNvSpPr>
          <p:nvPr>
            <p:ph type="title"/>
          </p:nvPr>
        </p:nvSpPr>
        <p:spPr>
          <a:xfrm>
            <a:off x="539552" y="519522"/>
            <a:ext cx="3168352" cy="582216"/>
          </a:xfrm>
        </p:spPr>
        <p:txBody>
          <a:bodyPr vert="horz" wrap="square" lIns="91440" tIns="45720" rIns="91440" bIns="45720" anchor="b"/>
          <a:lstStyle/>
          <a:p>
            <a:pPr eaLnBrk="1" hangingPunct="1"/>
            <a:r>
              <a:rPr lang="zh-CN" altLang="en-US" sz="3200" b="1" dirty="0">
                <a:solidFill>
                  <a:srgbClr val="C00000"/>
                </a:solidFill>
                <a:latin typeface="微软雅黑" panose="020B0503020204020204" pitchFamily="34" charset="-122"/>
                <a:ea typeface="微软雅黑" panose="020B0503020204020204" pitchFamily="34" charset="-122"/>
              </a:rPr>
              <a:t>自旋－自旋耦合</a:t>
            </a:r>
          </a:p>
        </p:txBody>
      </p:sp>
      <p:sp>
        <p:nvSpPr>
          <p:cNvPr id="46084" name="Rectangle 2"/>
          <p:cNvSpPr>
            <a:spLocks noGrp="1"/>
          </p:cNvSpPr>
          <p:nvPr>
            <p:ph idx="1"/>
          </p:nvPr>
        </p:nvSpPr>
        <p:spPr>
          <a:xfrm>
            <a:off x="427039" y="1491854"/>
            <a:ext cx="8715375" cy="1350169"/>
          </a:xfrm>
        </p:spPr>
        <p:txBody>
          <a:bodyPr vert="horz" wrap="square" lIns="91440" tIns="45720" rIns="91440" bIns="45720" anchor="t"/>
          <a:lstStyle/>
          <a:p>
            <a:pPr marL="0" indent="0" eaLnBrk="1" hangingPunct="1">
              <a:lnSpc>
                <a:spcPct val="120000"/>
              </a:lnSpc>
              <a:buNone/>
            </a:pPr>
            <a:r>
              <a:rPr lang="zh-CN" altLang="en-US" sz="2800" b="1"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磁核之间的相互干扰称为</a:t>
            </a:r>
            <a:r>
              <a:rPr lang="zh-CN" altLang="en-US" sz="2800" dirty="0">
                <a:solidFill>
                  <a:srgbClr val="C00000"/>
                </a:solidFill>
                <a:latin typeface="微软雅黑" panose="020B0503020204020204" pitchFamily="34" charset="-122"/>
                <a:ea typeface="微软雅黑" panose="020B0503020204020204" pitchFamily="34" charset="-122"/>
              </a:rPr>
              <a:t>自旋</a:t>
            </a:r>
            <a:r>
              <a:rPr lang="en-US" altLang="zh-CN" sz="2800" dirty="0">
                <a:solidFill>
                  <a:srgbClr val="C00000"/>
                </a:solidFill>
                <a:latin typeface="微软雅黑" panose="020B0503020204020204" pitchFamily="34" charset="-122"/>
                <a:ea typeface="微软雅黑" panose="020B0503020204020204" pitchFamily="34" charset="-122"/>
              </a:rPr>
              <a:t>-</a:t>
            </a:r>
            <a:r>
              <a:rPr lang="zh-CN" altLang="en-US" sz="2800" dirty="0">
                <a:solidFill>
                  <a:srgbClr val="C00000"/>
                </a:solidFill>
                <a:latin typeface="微软雅黑" panose="020B0503020204020204" pitchFamily="34" charset="-122"/>
                <a:ea typeface="微软雅黑" panose="020B0503020204020204" pitchFamily="34" charset="-122"/>
              </a:rPr>
              <a:t>自旋耦合</a:t>
            </a:r>
            <a:r>
              <a:rPr lang="zh-CN" altLang="en-US" sz="2800" dirty="0">
                <a:latin typeface="微软雅黑" panose="020B0503020204020204" pitchFamily="34" charset="-122"/>
                <a:ea typeface="微软雅黑" panose="020B0503020204020204" pitchFamily="34" charset="-122"/>
              </a:rPr>
              <a:t>，由自旋耦合产生的多重谱峰现象称为</a:t>
            </a:r>
            <a:r>
              <a:rPr lang="zh-CN" altLang="en-US" sz="2800" dirty="0">
                <a:solidFill>
                  <a:srgbClr val="C00000"/>
                </a:solidFill>
                <a:latin typeface="微软雅黑" panose="020B0503020204020204" pitchFamily="34" charset="-122"/>
                <a:ea typeface="微软雅黑" panose="020B0503020204020204" pitchFamily="34" charset="-122"/>
              </a:rPr>
              <a:t>自旋裂分</a:t>
            </a:r>
            <a:r>
              <a:rPr lang="zh-CN" altLang="en-US" sz="2800" dirty="0">
                <a:latin typeface="微软雅黑" panose="020B0503020204020204" pitchFamily="34" charset="-122"/>
                <a:ea typeface="微软雅黑" panose="020B0503020204020204" pitchFamily="34" charset="-122"/>
              </a:rPr>
              <a:t>。耦合是裂分的原因，裂分是耦合的结果</a:t>
            </a:r>
            <a:r>
              <a:rPr lang="zh-CN" altLang="en-US" sz="2800" b="1" dirty="0">
                <a:latin typeface="微软雅黑" panose="020B0503020204020204" pitchFamily="34" charset="-122"/>
                <a:ea typeface="微软雅黑" panose="020B0503020204020204" pitchFamily="34" charset="-122"/>
              </a:rPr>
              <a:t>。</a:t>
            </a:r>
          </a:p>
        </p:txBody>
      </p:sp>
      <p:sp>
        <p:nvSpPr>
          <p:cNvPr id="46082"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6083"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16</a:t>
            </a:fld>
            <a:endParaRPr lang="en-US" altLang="zh-CN" sz="1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p:cNvSpPr>
          <p:nvPr>
            <p:ph type="title"/>
          </p:nvPr>
        </p:nvSpPr>
        <p:spPr>
          <a:xfrm>
            <a:off x="456193" y="267494"/>
            <a:ext cx="3827775" cy="517922"/>
          </a:xfrm>
        </p:spPr>
        <p:txBody>
          <a:bodyPr vert="horz" wrap="square" lIns="91440" tIns="45720" rIns="91440" bIns="45720" anchor="b"/>
          <a:lstStyle/>
          <a:p>
            <a:pPr algn="l" eaLnBrk="1" hangingPunct="1"/>
            <a:r>
              <a:rPr lang="en-US" altLang="zh-CN" sz="3200" b="1" dirty="0" smtClean="0">
                <a:solidFill>
                  <a:srgbClr val="0070C0"/>
                </a:solidFill>
                <a:latin typeface="微软雅黑" panose="020B0503020204020204" pitchFamily="34" charset="-122"/>
                <a:ea typeface="微软雅黑" panose="020B0503020204020204" pitchFamily="34" charset="-122"/>
              </a:rPr>
              <a:t>1.</a:t>
            </a:r>
            <a:r>
              <a:rPr lang="zh-CN" altLang="en-US" sz="3200" b="1" dirty="0" smtClean="0">
                <a:solidFill>
                  <a:srgbClr val="0070C0"/>
                </a:solidFill>
                <a:latin typeface="微软雅黑" panose="020B0503020204020204" pitchFamily="34" charset="-122"/>
                <a:ea typeface="微软雅黑" panose="020B0503020204020204" pitchFamily="34" charset="-122"/>
              </a:rPr>
              <a:t>自旋</a:t>
            </a:r>
            <a:r>
              <a:rPr lang="zh-CN" altLang="en-US" sz="3200" b="1" dirty="0">
                <a:solidFill>
                  <a:srgbClr val="0070C0"/>
                </a:solidFill>
                <a:latin typeface="微软雅黑" panose="020B0503020204020204" pitchFamily="34" charset="-122"/>
                <a:ea typeface="微软雅黑" panose="020B0503020204020204" pitchFamily="34" charset="-122"/>
              </a:rPr>
              <a:t>耦合的原理</a:t>
            </a:r>
          </a:p>
        </p:txBody>
      </p:sp>
      <p:sp>
        <p:nvSpPr>
          <p:cNvPr id="47106"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710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17</a:t>
            </a:fld>
            <a:endParaRPr lang="en-US" altLang="zh-CN" sz="1000" dirty="0"/>
          </a:p>
        </p:txBody>
      </p:sp>
      <p:sp>
        <p:nvSpPr>
          <p:cNvPr id="47109" name="Text Box 3"/>
          <p:cNvSpPr txBox="1"/>
          <p:nvPr/>
        </p:nvSpPr>
        <p:spPr>
          <a:xfrm>
            <a:off x="1660525" y="2072879"/>
            <a:ext cx="184731" cy="461665"/>
          </a:xfrm>
          <a:prstGeom prst="rect">
            <a:avLst/>
          </a:prstGeom>
          <a:noFill/>
          <a:ln w="9525">
            <a:noFill/>
          </a:ln>
        </p:spPr>
        <p:txBody>
          <a:bodyPr wrap="none">
            <a:spAutoFit/>
          </a:bodyPr>
          <a:lstStyle/>
          <a:p>
            <a:endParaRPr lang="zh-CN" altLang="zh-CN" sz="2400" dirty="0">
              <a:latin typeface="Times New Roman" panose="02020603050405020304" pitchFamily="18" charset="0"/>
            </a:endParaRPr>
          </a:p>
        </p:txBody>
      </p:sp>
      <p:sp>
        <p:nvSpPr>
          <p:cNvPr id="2" name="Text Box 4"/>
          <p:cNvSpPr txBox="1"/>
          <p:nvPr/>
        </p:nvSpPr>
        <p:spPr>
          <a:xfrm>
            <a:off x="523217" y="2269086"/>
            <a:ext cx="6264857" cy="523220"/>
          </a:xfrm>
          <a:prstGeom prst="rect">
            <a:avLst/>
          </a:prstGeom>
          <a:noFill/>
          <a:ln w="9525">
            <a:noFill/>
          </a:ln>
        </p:spPr>
        <p:txBody>
          <a:bodyPr wrap="none">
            <a:spAutoFit/>
          </a:bodyPr>
          <a:lstStyle/>
          <a:p>
            <a:r>
              <a:rPr lang="en-US" altLang="zh-CN" sz="2800" b="1" dirty="0">
                <a:latin typeface="微软雅黑" panose="020B0503020204020204" pitchFamily="34" charset="-122"/>
                <a:ea typeface="微软雅黑" panose="020B0503020204020204" pitchFamily="34" charset="-122"/>
              </a:rPr>
              <a:t>A</a:t>
            </a:r>
            <a:r>
              <a:rPr lang="zh-CN" altLang="en-US" sz="2800" b="1" dirty="0">
                <a:latin typeface="微软雅黑" panose="020B0503020204020204" pitchFamily="34" charset="-122"/>
                <a:ea typeface="微软雅黑" panose="020B0503020204020204" pitchFamily="34" charset="-122"/>
              </a:rPr>
              <a:t>核邻近有一个</a:t>
            </a:r>
            <a:r>
              <a:rPr lang="en-US" altLang="zh-CN" sz="2800" b="1" dirty="0">
                <a:latin typeface="微软雅黑" panose="020B0503020204020204" pitchFamily="34" charset="-122"/>
                <a:ea typeface="微软雅黑" panose="020B0503020204020204" pitchFamily="34" charset="-122"/>
              </a:rPr>
              <a:t>X</a:t>
            </a:r>
            <a:r>
              <a:rPr lang="zh-CN" altLang="zh-CN" sz="2800" b="1" dirty="0">
                <a:latin typeface="微软雅黑" panose="020B0503020204020204" pitchFamily="34" charset="-122"/>
                <a:ea typeface="微软雅黑" panose="020B0503020204020204" pitchFamily="34" charset="-122"/>
              </a:rPr>
              <a:t>核(</a:t>
            </a:r>
            <a:r>
              <a:rPr lang="zh-CN" altLang="en-US" sz="2800" b="1" dirty="0">
                <a:latin typeface="微软雅黑" panose="020B0503020204020204" pitchFamily="34" charset="-122"/>
                <a:ea typeface="微软雅黑" panose="020B0503020204020204" pitchFamily="34" charset="-122"/>
              </a:rPr>
              <a:t>自旋量子数为</a:t>
            </a:r>
            <a:r>
              <a:rPr lang="en-US" altLang="zh-CN" sz="2800" b="1" dirty="0">
                <a:latin typeface="微软雅黑" panose="020B0503020204020204" pitchFamily="34" charset="-122"/>
                <a:ea typeface="微软雅黑" panose="020B0503020204020204" pitchFamily="34" charset="-122"/>
              </a:rPr>
              <a:t>1/2</a:t>
            </a:r>
            <a:r>
              <a:rPr lang="zh-CN" altLang="zh-CN" sz="2800" b="1"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p:txBody>
      </p:sp>
      <p:grpSp>
        <p:nvGrpSpPr>
          <p:cNvPr id="87050" name="Group 10"/>
          <p:cNvGrpSpPr/>
          <p:nvPr/>
        </p:nvGrpSpPr>
        <p:grpSpPr>
          <a:xfrm>
            <a:off x="539553" y="1187742"/>
            <a:ext cx="7269225" cy="865585"/>
            <a:chOff x="1142" y="1031"/>
            <a:chExt cx="4566" cy="727"/>
          </a:xfrm>
        </p:grpSpPr>
        <p:graphicFrame>
          <p:nvGraphicFramePr>
            <p:cNvPr id="47113" name="Object 11"/>
            <p:cNvGraphicFramePr>
              <a:graphicFrameLocks noChangeAspect="1"/>
            </p:cNvGraphicFramePr>
            <p:nvPr>
              <p:extLst>
                <p:ext uri="{D42A27DB-BD31-4B8C-83A1-F6EECF244321}">
                  <p14:modId xmlns:p14="http://schemas.microsoft.com/office/powerpoint/2010/main" val="2624329775"/>
                </p:ext>
              </p:extLst>
            </p:nvPr>
          </p:nvGraphicFramePr>
          <p:xfrm>
            <a:off x="3539" y="1031"/>
            <a:ext cx="2169" cy="727"/>
          </p:xfrm>
          <a:graphic>
            <a:graphicData uri="http://schemas.openxmlformats.org/presentationml/2006/ole">
              <mc:AlternateContent xmlns:mc="http://schemas.openxmlformats.org/markup-compatibility/2006">
                <mc:Choice xmlns:v="urn:schemas-microsoft-com:vml" Requires="v">
                  <p:oleObj spid="_x0000_s18559" r:id="rId4" imgW="1205865" imgH="406400" progId="Equation.3">
                    <p:embed/>
                  </p:oleObj>
                </mc:Choice>
                <mc:Fallback>
                  <p:oleObj r:id="rId4" imgW="1205865" imgH="406400" progId="Equation.3">
                    <p:embed/>
                    <p:pic>
                      <p:nvPicPr>
                        <p:cNvPr id="0" name="图片 3091"/>
                        <p:cNvPicPr/>
                        <p:nvPr/>
                      </p:nvPicPr>
                      <p:blipFill>
                        <a:blip r:embed="rId5"/>
                        <a:stretch>
                          <a:fillRect/>
                        </a:stretch>
                      </p:blipFill>
                      <p:spPr>
                        <a:xfrm>
                          <a:off x="3539" y="1031"/>
                          <a:ext cx="2169" cy="727"/>
                        </a:xfrm>
                        <a:prstGeom prst="rect">
                          <a:avLst/>
                        </a:prstGeom>
                        <a:noFill/>
                        <a:ln w="38100">
                          <a:noFill/>
                          <a:miter/>
                        </a:ln>
                      </p:spPr>
                    </p:pic>
                  </p:oleObj>
                </mc:Fallback>
              </mc:AlternateContent>
            </a:graphicData>
          </a:graphic>
        </p:graphicFrame>
        <p:sp>
          <p:nvSpPr>
            <p:cNvPr id="47114" name="Text Box 12"/>
            <p:cNvSpPr txBox="1"/>
            <p:nvPr/>
          </p:nvSpPr>
          <p:spPr>
            <a:xfrm>
              <a:off x="1142" y="1180"/>
              <a:ext cx="2517" cy="439"/>
            </a:xfrm>
            <a:prstGeom prst="rect">
              <a:avLst/>
            </a:prstGeom>
            <a:noFill/>
            <a:ln w="9525">
              <a:noFill/>
            </a:ln>
          </p:spPr>
          <p:txBody>
            <a:bodyPr wrap="none">
              <a:spAutoFit/>
            </a:bodyPr>
            <a:lstStyle/>
            <a:p>
              <a:r>
                <a:rPr lang="en-US" altLang="zh-CN" sz="2800" b="1" dirty="0">
                  <a:latin typeface="微软雅黑" panose="020B0503020204020204" pitchFamily="34" charset="-122"/>
                  <a:ea typeface="微软雅黑" panose="020B0503020204020204" pitchFamily="34" charset="-122"/>
                </a:rPr>
                <a:t>A</a:t>
              </a:r>
              <a:r>
                <a:rPr lang="zh-CN" altLang="en-US" sz="2800" b="1" dirty="0">
                  <a:latin typeface="微软雅黑" panose="020B0503020204020204" pitchFamily="34" charset="-122"/>
                  <a:ea typeface="微软雅黑" panose="020B0503020204020204" pitchFamily="34" charset="-122"/>
                </a:rPr>
                <a:t>核   </a:t>
              </a:r>
              <a:r>
                <a:rPr lang="zh-CN" altLang="en-US" sz="2800" b="1" dirty="0" smtClean="0">
                  <a:latin typeface="微软雅黑" panose="020B0503020204020204" pitchFamily="34" charset="-122"/>
                  <a:ea typeface="微软雅黑" panose="020B0503020204020204" pitchFamily="34" charset="-122"/>
                </a:rPr>
                <a:t>邻近没有自旋核：</a:t>
              </a:r>
              <a:endParaRPr lang="zh-CN" altLang="en-US" sz="2800" b="1" dirty="0">
                <a:latin typeface="微软雅黑" panose="020B0503020204020204" pitchFamily="34" charset="-122"/>
                <a:ea typeface="微软雅黑" panose="020B0503020204020204" pitchFamily="34" charset="-122"/>
              </a:endParaRPr>
            </a:p>
          </p:txBody>
        </p:sp>
      </p:grpSp>
      <p:sp>
        <p:nvSpPr>
          <p:cNvPr id="87053" name="Text Box 13"/>
          <p:cNvSpPr txBox="1"/>
          <p:nvPr/>
        </p:nvSpPr>
        <p:spPr>
          <a:xfrm>
            <a:off x="1660525" y="2841781"/>
            <a:ext cx="6477000" cy="1902059"/>
          </a:xfrm>
          <a:prstGeom prst="rect">
            <a:avLst/>
          </a:prstGeom>
          <a:noFill/>
          <a:ln w="9525">
            <a:noFill/>
          </a:ln>
        </p:spPr>
        <p:txBody>
          <a:bodyPr>
            <a:spAutoFit/>
          </a:bodyPr>
          <a:lstStyle/>
          <a:p>
            <a:pPr eaLnBrk="0" hangingPunct="0">
              <a:lnSpc>
                <a:spcPct val="140000"/>
              </a:lnSpc>
            </a:pP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a:t>
            </a:r>
            <a:r>
              <a:rPr lang="zh-CN" altLang="zh-CN" sz="2800" dirty="0">
                <a:latin typeface="微软雅黑" panose="020B0503020204020204" pitchFamily="34" charset="-122"/>
                <a:ea typeface="微软雅黑" panose="020B0503020204020204" pitchFamily="34" charset="-122"/>
                <a:sym typeface="Symbol" panose="05050102010706020507" pitchFamily="18" charset="2"/>
              </a:rPr>
              <a:t>核相应受到的</a:t>
            </a:r>
            <a:r>
              <a:rPr lang="zh-CN" altLang="zh-CN" sz="2800" dirty="0" smtClean="0">
                <a:latin typeface="微软雅黑" panose="020B0503020204020204" pitchFamily="34" charset="-122"/>
                <a:ea typeface="微软雅黑" panose="020B0503020204020204" pitchFamily="34" charset="-122"/>
                <a:sym typeface="Symbol" panose="05050102010706020507" pitchFamily="18" charset="2"/>
              </a:rPr>
              <a:t>磁场强度</a:t>
            </a:r>
            <a:r>
              <a:rPr lang="zh-CN" altLang="en-US" sz="2800" dirty="0" smtClean="0">
                <a:latin typeface="微软雅黑" panose="020B0503020204020204" pitchFamily="34" charset="-122"/>
                <a:ea typeface="微软雅黑" panose="020B0503020204020204" pitchFamily="34" charset="-122"/>
                <a:sym typeface="Symbol" panose="05050102010706020507" pitchFamily="18" charset="2"/>
              </a:rPr>
              <a:t>：</a:t>
            </a:r>
            <a:endParaRPr lang="zh-CN" altLang="zh-CN" sz="2800" dirty="0">
              <a:solidFill>
                <a:srgbClr val="CC0066"/>
              </a:solidFill>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40000"/>
              </a:lnSpc>
            </a:pPr>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800" b="1" i="1" dirty="0">
                <a:latin typeface="微软雅黑" panose="020B0503020204020204" pitchFamily="34" charset="-122"/>
                <a:ea typeface="微软雅黑" panose="020B0503020204020204" pitchFamily="34" charset="-122"/>
              </a:rPr>
              <a:t> </a:t>
            </a:r>
            <a:r>
              <a:rPr lang="en-US" altLang="zh-CN" sz="2800" b="1" i="1" dirty="0">
                <a:latin typeface="微软雅黑" panose="020B0503020204020204" pitchFamily="34" charset="-122"/>
                <a:ea typeface="微软雅黑" panose="020B0503020204020204" pitchFamily="34" charset="-122"/>
              </a:rPr>
              <a:t>B</a:t>
            </a:r>
            <a:r>
              <a:rPr lang="en-US" altLang="zh-CN" sz="2800" b="1" i="1" baseline="-25000" dirty="0">
                <a:latin typeface="微软雅黑" panose="020B0503020204020204" pitchFamily="34" charset="-122"/>
                <a:ea typeface="微软雅黑" panose="020B0503020204020204" pitchFamily="34" charset="-122"/>
              </a:rPr>
              <a:t>0</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800" b="1" i="1" dirty="0">
                <a:latin typeface="微软雅黑" panose="020B0503020204020204" pitchFamily="34" charset="-122"/>
                <a:ea typeface="微软雅黑" panose="020B0503020204020204" pitchFamily="34" charset="-122"/>
              </a:rPr>
              <a:t>B</a:t>
            </a:r>
            <a:r>
              <a:rPr lang="en-US" altLang="zh-CN" sz="28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800" b="1" dirty="0">
                <a:latin typeface="微软雅黑" panose="020B0503020204020204" pitchFamily="34" charset="-122"/>
                <a:ea typeface="微软雅黑" panose="020B0503020204020204" pitchFamily="34" charset="-122"/>
              </a:rPr>
              <a:t>      	</a:t>
            </a:r>
          </a:p>
          <a:p>
            <a:pPr eaLnBrk="0" hangingPunct="0">
              <a:lnSpc>
                <a:spcPct val="140000"/>
              </a:lnSpc>
            </a:pPr>
            <a:r>
              <a:rPr lang="en-US" altLang="zh-CN" sz="2800"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800" b="1" i="1" dirty="0">
                <a:latin typeface="微软雅黑" panose="020B0503020204020204" pitchFamily="34" charset="-122"/>
                <a:ea typeface="微软雅黑" panose="020B0503020204020204" pitchFamily="34" charset="-122"/>
              </a:rPr>
              <a:t> B</a:t>
            </a:r>
            <a:r>
              <a:rPr lang="en-US" altLang="zh-CN" sz="2800" b="1" i="1" baseline="-25000" dirty="0">
                <a:latin typeface="微软雅黑" panose="020B0503020204020204" pitchFamily="34" charset="-122"/>
                <a:ea typeface="微软雅黑" panose="020B0503020204020204" pitchFamily="34" charset="-122"/>
              </a:rPr>
              <a:t>0</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800" b="1" dirty="0">
                <a:latin typeface="微软雅黑" panose="020B0503020204020204" pitchFamily="34" charset="-122"/>
                <a:ea typeface="微软雅黑" panose="020B0503020204020204" pitchFamily="34" charset="-122"/>
              </a:rPr>
              <a:t>B</a:t>
            </a:r>
            <a:r>
              <a:rPr lang="en-US" altLang="zh-CN" sz="28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800" b="1" dirty="0">
                <a:latin typeface="微软雅黑" panose="020B0503020204020204" pitchFamily="34" charset="-122"/>
                <a:ea typeface="微软雅黑" panose="020B0503020204020204" pitchFamily="34" charset="-122"/>
              </a:rPr>
              <a:t>     	  </a:t>
            </a:r>
            <a:r>
              <a:rPr lang="en-US" altLang="zh-CN" sz="2800" b="1" dirty="0">
                <a:latin typeface="Times New Roman" panose="02020603050405020304" pitchFamily="18" charset="0"/>
              </a:rPr>
              <a:t> </a:t>
            </a:r>
          </a:p>
        </p:txBody>
      </p:sp>
      <p:sp>
        <p:nvSpPr>
          <p:cNvPr id="12" name="文本框 3"/>
          <p:cNvSpPr txBox="1"/>
          <p:nvPr/>
        </p:nvSpPr>
        <p:spPr>
          <a:xfrm>
            <a:off x="7776156" y="1347048"/>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5-15</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
        <p:nvSpPr>
          <p:cNvPr id="13" name="文本框 3"/>
          <p:cNvSpPr txBox="1"/>
          <p:nvPr/>
        </p:nvSpPr>
        <p:spPr>
          <a:xfrm>
            <a:off x="7776155" y="3385419"/>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5-16</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7053"/>
                                        </p:tgtEl>
                                        <p:attrNameLst>
                                          <p:attrName>style.visibility</p:attrName>
                                        </p:attrNameLst>
                                      </p:cBhvr>
                                      <p:to>
                                        <p:strVal val="visible"/>
                                      </p:to>
                                    </p:set>
                                    <p:animEffect transition="in" filter="fade">
                                      <p:cBhvr>
                                        <p:cTn id="17" dur="500"/>
                                        <p:tgtEl>
                                          <p:spTgt spid="8705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7053"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813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18</a:t>
            </a:fld>
            <a:endParaRPr lang="en-US" altLang="zh-CN" sz="1000" dirty="0"/>
          </a:p>
        </p:txBody>
      </p:sp>
      <p:pic>
        <p:nvPicPr>
          <p:cNvPr id="48132" name="Picture 2"/>
          <p:cNvPicPr>
            <a:picLocks noChangeAspect="1"/>
          </p:cNvPicPr>
          <p:nvPr/>
        </p:nvPicPr>
        <p:blipFill>
          <a:blip r:embed="rId4"/>
          <a:srcRect l="6818" t="5695" r="5682" b="3203"/>
          <a:stretch>
            <a:fillRect/>
          </a:stretch>
        </p:blipFill>
        <p:spPr>
          <a:xfrm>
            <a:off x="1368425" y="14288"/>
            <a:ext cx="6553200" cy="2159794"/>
          </a:xfrm>
          <a:prstGeom prst="rect">
            <a:avLst/>
          </a:prstGeom>
          <a:noFill/>
          <a:ln w="9525">
            <a:noFill/>
          </a:ln>
        </p:spPr>
      </p:pic>
      <p:sp>
        <p:nvSpPr>
          <p:cNvPr id="48133" name="Rectangle 3"/>
          <p:cNvSpPr/>
          <p:nvPr/>
        </p:nvSpPr>
        <p:spPr>
          <a:xfrm>
            <a:off x="2268539" y="2110979"/>
            <a:ext cx="6256337" cy="461665"/>
          </a:xfrm>
          <a:prstGeom prst="rect">
            <a:avLst/>
          </a:prstGeom>
          <a:noFill/>
          <a:ln w="9525">
            <a:noFill/>
          </a:ln>
        </p:spPr>
        <p:txBody>
          <a:bodyPr>
            <a:spAutoFit/>
          </a:bodyPr>
          <a:lstStyle/>
          <a:p>
            <a:pPr eaLnBrk="0" hangingPunct="0"/>
            <a:r>
              <a:rPr lang="en-US" altLang="zh-CN" sz="2400" b="1" dirty="0">
                <a:solidFill>
                  <a:srgbClr val="C00000"/>
                </a:solidFill>
                <a:latin typeface="微软雅黑" panose="020B0503020204020204" pitchFamily="34" charset="-122"/>
                <a:ea typeface="微软雅黑" panose="020B0503020204020204" pitchFamily="34" charset="-122"/>
              </a:rPr>
              <a:t>A</a:t>
            </a:r>
            <a:r>
              <a:rPr lang="zh-CN" altLang="en-US" sz="2400" b="1" dirty="0">
                <a:solidFill>
                  <a:srgbClr val="C00000"/>
                </a:solidFill>
                <a:latin typeface="微软雅黑" panose="020B0503020204020204" pitchFamily="34" charset="-122"/>
                <a:ea typeface="微软雅黑" panose="020B0503020204020204" pitchFamily="34" charset="-122"/>
              </a:rPr>
              <a:t>核邻近有一个</a:t>
            </a:r>
            <a:r>
              <a:rPr lang="en-US" altLang="zh-CN" sz="2400" b="1" dirty="0">
                <a:solidFill>
                  <a:srgbClr val="C00000"/>
                </a:solidFill>
                <a:latin typeface="微软雅黑" panose="020B0503020204020204" pitchFamily="34" charset="-122"/>
                <a:ea typeface="微软雅黑" panose="020B0503020204020204" pitchFamily="34" charset="-122"/>
              </a:rPr>
              <a:t>X</a:t>
            </a:r>
            <a:r>
              <a:rPr lang="zh-CN" altLang="zh-CN" sz="2400" b="1" dirty="0">
                <a:solidFill>
                  <a:srgbClr val="C00000"/>
                </a:solidFill>
                <a:latin typeface="微软雅黑" panose="020B0503020204020204" pitchFamily="34" charset="-122"/>
                <a:ea typeface="微软雅黑" panose="020B0503020204020204" pitchFamily="34" charset="-122"/>
              </a:rPr>
              <a:t>核</a:t>
            </a:r>
            <a:r>
              <a:rPr lang="zh-CN" altLang="en-US" sz="2400" b="1" dirty="0">
                <a:solidFill>
                  <a:srgbClr val="C00000"/>
                </a:solidFill>
                <a:latin typeface="微软雅黑" panose="020B0503020204020204" pitchFamily="34" charset="-122"/>
                <a:ea typeface="微软雅黑" panose="020B0503020204020204" pitchFamily="34" charset="-122"/>
              </a:rPr>
              <a:t>时的实际峰形</a:t>
            </a:r>
          </a:p>
        </p:txBody>
      </p:sp>
      <p:graphicFrame>
        <p:nvGraphicFramePr>
          <p:cNvPr id="48134" name="Object 11"/>
          <p:cNvGraphicFramePr>
            <a:graphicFrameLocks noChangeAspect="1"/>
          </p:cNvGraphicFramePr>
          <p:nvPr/>
        </p:nvGraphicFramePr>
        <p:xfrm>
          <a:off x="250825" y="3436144"/>
          <a:ext cx="4108450" cy="594122"/>
        </p:xfrm>
        <a:graphic>
          <a:graphicData uri="http://schemas.openxmlformats.org/presentationml/2006/ole">
            <mc:AlternateContent xmlns:mc="http://schemas.openxmlformats.org/markup-compatibility/2006">
              <mc:Choice xmlns:v="urn:schemas-microsoft-com:vml" Requires="v">
                <p:oleObj spid="_x0000_s19832" r:id="rId5" imgW="1739900" imgH="406400" progId="Equation.3">
                  <p:embed/>
                </p:oleObj>
              </mc:Choice>
              <mc:Fallback>
                <p:oleObj r:id="rId5" imgW="1739900" imgH="406400" progId="Equation.3">
                  <p:embed/>
                  <p:pic>
                    <p:nvPicPr>
                      <p:cNvPr id="0" name="图片 3092"/>
                      <p:cNvPicPr/>
                      <p:nvPr/>
                    </p:nvPicPr>
                    <p:blipFill>
                      <a:blip r:embed="rId6"/>
                      <a:stretch>
                        <a:fillRect/>
                      </a:stretch>
                    </p:blipFill>
                    <p:spPr>
                      <a:xfrm>
                        <a:off x="250825" y="3436144"/>
                        <a:ext cx="4108450" cy="594122"/>
                      </a:xfrm>
                      <a:prstGeom prst="rect">
                        <a:avLst/>
                      </a:prstGeom>
                      <a:noFill/>
                      <a:ln w="38100">
                        <a:noFill/>
                        <a:miter/>
                      </a:ln>
                    </p:spPr>
                  </p:pic>
                </p:oleObj>
              </mc:Fallback>
            </mc:AlternateContent>
          </a:graphicData>
        </a:graphic>
      </p:graphicFrame>
      <p:graphicFrame>
        <p:nvGraphicFramePr>
          <p:cNvPr id="48135" name="对象 1"/>
          <p:cNvGraphicFramePr>
            <a:graphicFrameLocks noChangeAspect="1"/>
          </p:cNvGraphicFramePr>
          <p:nvPr/>
        </p:nvGraphicFramePr>
        <p:xfrm>
          <a:off x="4645025" y="3327798"/>
          <a:ext cx="4032250" cy="701278"/>
        </p:xfrm>
        <a:graphic>
          <a:graphicData uri="http://schemas.openxmlformats.org/presentationml/2006/ole">
            <mc:AlternateContent xmlns:mc="http://schemas.openxmlformats.org/markup-compatibility/2006">
              <mc:Choice xmlns:v="urn:schemas-microsoft-com:vml" Requires="v">
                <p:oleObj spid="_x0000_s19833" r:id="rId7" imgW="1739900" imgH="406400" progId="Equation.3">
                  <p:embed/>
                </p:oleObj>
              </mc:Choice>
              <mc:Fallback>
                <p:oleObj r:id="rId7" imgW="1739900" imgH="406400" progId="Equation.3">
                  <p:embed/>
                  <p:pic>
                    <p:nvPicPr>
                      <p:cNvPr id="0" name="图片 3093"/>
                      <p:cNvPicPr/>
                      <p:nvPr/>
                    </p:nvPicPr>
                    <p:blipFill>
                      <a:blip r:embed="rId8"/>
                      <a:stretch>
                        <a:fillRect/>
                      </a:stretch>
                    </p:blipFill>
                    <p:spPr>
                      <a:xfrm>
                        <a:off x="4645025" y="3327798"/>
                        <a:ext cx="4032250" cy="701278"/>
                      </a:xfrm>
                      <a:prstGeom prst="rect">
                        <a:avLst/>
                      </a:prstGeom>
                      <a:noFill/>
                      <a:ln w="38100">
                        <a:noFill/>
                        <a:miter/>
                      </a:ln>
                    </p:spPr>
                  </p:pic>
                </p:oleObj>
              </mc:Fallback>
            </mc:AlternateContent>
          </a:graphicData>
        </a:graphic>
      </p:graphicFrame>
      <p:graphicFrame>
        <p:nvGraphicFramePr>
          <p:cNvPr id="48136" name="Object 11"/>
          <p:cNvGraphicFramePr>
            <a:graphicFrameLocks noChangeAspect="1"/>
          </p:cNvGraphicFramePr>
          <p:nvPr/>
        </p:nvGraphicFramePr>
        <p:xfrm>
          <a:off x="3241675" y="2500313"/>
          <a:ext cx="2806700" cy="703660"/>
        </p:xfrm>
        <a:graphic>
          <a:graphicData uri="http://schemas.openxmlformats.org/presentationml/2006/ole">
            <mc:AlternateContent xmlns:mc="http://schemas.openxmlformats.org/markup-compatibility/2006">
              <mc:Choice xmlns:v="urn:schemas-microsoft-com:vml" Requires="v">
                <p:oleObj spid="_x0000_s19834" r:id="rId9" imgW="1205865" imgH="406400" progId="Equation.3">
                  <p:embed/>
                </p:oleObj>
              </mc:Choice>
              <mc:Fallback>
                <p:oleObj r:id="rId9" imgW="1205865" imgH="406400" progId="Equation.3">
                  <p:embed/>
                  <p:pic>
                    <p:nvPicPr>
                      <p:cNvPr id="0" name="图片 3094"/>
                      <p:cNvPicPr/>
                      <p:nvPr/>
                    </p:nvPicPr>
                    <p:blipFill>
                      <a:blip r:embed="rId10"/>
                      <a:stretch>
                        <a:fillRect/>
                      </a:stretch>
                    </p:blipFill>
                    <p:spPr>
                      <a:xfrm>
                        <a:off x="3241675" y="2500313"/>
                        <a:ext cx="2806700" cy="703660"/>
                      </a:xfrm>
                      <a:prstGeom prst="rect">
                        <a:avLst/>
                      </a:prstGeom>
                      <a:noFill/>
                      <a:ln w="38100">
                        <a:noFill/>
                        <a:miter/>
                      </a:ln>
                    </p:spPr>
                  </p:pic>
                </p:oleObj>
              </mc:Fallback>
            </mc:AlternateContent>
          </a:graphicData>
        </a:graphic>
      </p:graphicFrame>
      <p:sp>
        <p:nvSpPr>
          <p:cNvPr id="9" name="文本框 3"/>
          <p:cNvSpPr txBox="1"/>
          <p:nvPr/>
        </p:nvSpPr>
        <p:spPr>
          <a:xfrm>
            <a:off x="7253923" y="2679762"/>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5-15</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
        <p:nvSpPr>
          <p:cNvPr id="10" name="文本框 3"/>
          <p:cNvSpPr txBox="1"/>
          <p:nvPr/>
        </p:nvSpPr>
        <p:spPr>
          <a:xfrm>
            <a:off x="4061301" y="4191930"/>
            <a:ext cx="1335405" cy="523220"/>
          </a:xfrm>
          <a:prstGeom prst="rect">
            <a:avLst/>
          </a:prstGeom>
          <a:noFill/>
          <a:ln w="9525">
            <a:noFill/>
          </a:ln>
        </p:spPr>
        <p:txBody>
          <a:bodyPr wrap="square">
            <a:spAutoFit/>
          </a:bodyPr>
          <a:lstStyle/>
          <a:p>
            <a:r>
              <a:rPr lang="zh-CN" altLang="en-US" sz="2800" b="1" dirty="0">
                <a:latin typeface="Times New Roman" panose="02020603050405020304" pitchFamily="18" charset="0"/>
              </a:rPr>
              <a:t>（</a:t>
            </a:r>
            <a:r>
              <a:rPr lang="en-US" altLang="zh-CN" sz="2800" b="1" dirty="0" smtClean="0">
                <a:latin typeface="Times New Roman" panose="02020603050405020304" pitchFamily="18" charset="0"/>
              </a:rPr>
              <a:t>5-17</a:t>
            </a:r>
            <a:r>
              <a:rPr lang="zh-CN" altLang="en-US" sz="2800" b="1" dirty="0" smtClean="0">
                <a:latin typeface="Times New Roman" panose="02020603050405020304" pitchFamily="18" charset="0"/>
              </a:rPr>
              <a:t>）</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p:cNvSpPr>
          <p:nvPr>
            <p:ph type="title"/>
          </p:nvPr>
        </p:nvSpPr>
        <p:spPr>
          <a:xfrm>
            <a:off x="622300" y="22604"/>
            <a:ext cx="7302500" cy="608409"/>
          </a:xfrm>
        </p:spPr>
        <p:txBody>
          <a:bodyPr vert="horz" wrap="square" lIns="91440" tIns="45720" rIns="91440" bIns="45720" anchor="b"/>
          <a:lstStyle/>
          <a:p>
            <a:pPr eaLnBrk="1" hangingPunct="1"/>
            <a:r>
              <a:rPr lang="zh-CN" altLang="en-US" sz="3200" dirty="0">
                <a:solidFill>
                  <a:schemeClr val="tx1"/>
                </a:solidFill>
                <a:latin typeface="微软雅黑" panose="020B0503020204020204" pitchFamily="34" charset="-122"/>
                <a:ea typeface="微软雅黑" panose="020B0503020204020204" pitchFamily="34" charset="-122"/>
              </a:rPr>
              <a:t>如果相邻有两个相同的自旋核</a:t>
            </a:r>
            <a:r>
              <a:rPr lang="en-US" altLang="zh-CN" sz="3200" dirty="0">
                <a:solidFill>
                  <a:schemeClr val="tx1"/>
                </a:solidFill>
                <a:latin typeface="微软雅黑" panose="020B0503020204020204" pitchFamily="34" charset="-122"/>
                <a:ea typeface="微软雅黑" panose="020B0503020204020204" pitchFamily="34" charset="-122"/>
              </a:rPr>
              <a:t>X</a:t>
            </a:r>
            <a:r>
              <a:rPr lang="en-US" altLang="zh-CN" sz="3200" baseline="-25000" dirty="0">
                <a:solidFill>
                  <a:schemeClr val="tx1"/>
                </a:solidFill>
                <a:latin typeface="微软雅黑" panose="020B0503020204020204" pitchFamily="34" charset="-122"/>
                <a:ea typeface="微软雅黑" panose="020B0503020204020204" pitchFamily="34" charset="-122"/>
              </a:rPr>
              <a:t>1</a:t>
            </a:r>
            <a:r>
              <a:rPr lang="zh-CN" altLang="zh-CN" sz="3200" dirty="0">
                <a:solidFill>
                  <a:schemeClr val="tx1"/>
                </a:solidFill>
                <a:latin typeface="微软雅黑" panose="020B0503020204020204" pitchFamily="34" charset="-122"/>
                <a:ea typeface="微软雅黑" panose="020B0503020204020204" pitchFamily="34" charset="-122"/>
              </a:rPr>
              <a:t>和</a:t>
            </a:r>
            <a:r>
              <a:rPr lang="en-US" altLang="zh-CN" sz="3200" dirty="0">
                <a:solidFill>
                  <a:schemeClr val="tx1"/>
                </a:solidFill>
                <a:latin typeface="微软雅黑" panose="020B0503020204020204" pitchFamily="34" charset="-122"/>
                <a:ea typeface="微软雅黑" panose="020B0503020204020204" pitchFamily="34" charset="-122"/>
              </a:rPr>
              <a:t>X</a:t>
            </a:r>
            <a:r>
              <a:rPr lang="en-US" altLang="zh-CN" sz="3200" baseline="-25000" dirty="0">
                <a:solidFill>
                  <a:schemeClr val="tx1"/>
                </a:solidFill>
                <a:latin typeface="微软雅黑" panose="020B0503020204020204" pitchFamily="34" charset="-122"/>
                <a:ea typeface="微软雅黑" panose="020B0503020204020204" pitchFamily="34" charset="-122"/>
              </a:rPr>
              <a:t>2</a:t>
            </a:r>
            <a:endParaRPr lang="en-US" altLang="zh-CN" sz="3200" dirty="0">
              <a:solidFill>
                <a:schemeClr val="tx1"/>
              </a:solidFill>
              <a:latin typeface="微软雅黑" panose="020B0503020204020204" pitchFamily="34" charset="-122"/>
              <a:ea typeface="微软雅黑" panose="020B0503020204020204" pitchFamily="34" charset="-122"/>
            </a:endParaRPr>
          </a:p>
        </p:txBody>
      </p:sp>
      <p:sp>
        <p:nvSpPr>
          <p:cNvPr id="49154"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4915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19</a:t>
            </a:fld>
            <a:endParaRPr lang="en-US" altLang="zh-CN" sz="1000" dirty="0"/>
          </a:p>
        </p:txBody>
      </p:sp>
      <p:grpSp>
        <p:nvGrpSpPr>
          <p:cNvPr id="89091" name="Group 3"/>
          <p:cNvGrpSpPr/>
          <p:nvPr/>
        </p:nvGrpSpPr>
        <p:grpSpPr>
          <a:xfrm>
            <a:off x="1981200" y="857250"/>
            <a:ext cx="3698876" cy="1459707"/>
            <a:chOff x="470" y="1226"/>
            <a:chExt cx="2330" cy="1226"/>
          </a:xfrm>
        </p:grpSpPr>
        <p:grpSp>
          <p:nvGrpSpPr>
            <p:cNvPr id="49160" name="Group 4"/>
            <p:cNvGrpSpPr/>
            <p:nvPr/>
          </p:nvGrpSpPr>
          <p:grpSpPr>
            <a:xfrm>
              <a:off x="816" y="1248"/>
              <a:ext cx="1984" cy="1204"/>
              <a:chOff x="816" y="1248"/>
              <a:chExt cx="1984" cy="1204"/>
            </a:xfrm>
          </p:grpSpPr>
          <p:sp>
            <p:nvSpPr>
              <p:cNvPr id="49163" name="Line 5"/>
              <p:cNvSpPr/>
              <p:nvPr/>
            </p:nvSpPr>
            <p:spPr>
              <a:xfrm flipV="1">
                <a:off x="1104" y="1248"/>
                <a:ext cx="0" cy="240"/>
              </a:xfrm>
              <a:prstGeom prst="line">
                <a:avLst/>
              </a:prstGeom>
              <a:ln w="28575" cap="flat" cmpd="sng">
                <a:solidFill>
                  <a:schemeClr val="tx1"/>
                </a:solidFill>
                <a:prstDash val="solid"/>
                <a:headEnd type="none" w="med" len="med"/>
                <a:tailEnd type="triangle" w="med" len="lg"/>
              </a:ln>
            </p:spPr>
          </p:sp>
          <p:sp>
            <p:nvSpPr>
              <p:cNvPr id="49164" name="Line 6"/>
              <p:cNvSpPr/>
              <p:nvPr/>
            </p:nvSpPr>
            <p:spPr>
              <a:xfrm flipV="1">
                <a:off x="1584" y="1248"/>
                <a:ext cx="0" cy="240"/>
              </a:xfrm>
              <a:prstGeom prst="line">
                <a:avLst/>
              </a:prstGeom>
              <a:ln w="28575" cap="flat" cmpd="sng">
                <a:solidFill>
                  <a:schemeClr val="tx1"/>
                </a:solidFill>
                <a:prstDash val="solid"/>
                <a:headEnd type="none" w="med" len="med"/>
                <a:tailEnd type="triangle" w="med" len="lg"/>
              </a:ln>
            </p:spPr>
          </p:sp>
          <p:sp>
            <p:nvSpPr>
              <p:cNvPr id="49165" name="Line 7"/>
              <p:cNvSpPr/>
              <p:nvPr/>
            </p:nvSpPr>
            <p:spPr>
              <a:xfrm flipV="1">
                <a:off x="1104" y="1632"/>
                <a:ext cx="0" cy="240"/>
              </a:xfrm>
              <a:prstGeom prst="line">
                <a:avLst/>
              </a:prstGeom>
              <a:ln w="28575" cap="flat" cmpd="sng">
                <a:solidFill>
                  <a:schemeClr val="tx1"/>
                </a:solidFill>
                <a:prstDash val="solid"/>
                <a:headEnd type="none" w="med" len="med"/>
                <a:tailEnd type="triangle" w="med" len="lg"/>
              </a:ln>
            </p:spPr>
          </p:sp>
          <p:sp>
            <p:nvSpPr>
              <p:cNvPr id="49166" name="Line 8"/>
              <p:cNvSpPr/>
              <p:nvPr/>
            </p:nvSpPr>
            <p:spPr>
              <a:xfrm flipV="1">
                <a:off x="2016" y="1632"/>
                <a:ext cx="0" cy="240"/>
              </a:xfrm>
              <a:prstGeom prst="line">
                <a:avLst/>
              </a:prstGeom>
              <a:ln w="28575" cap="flat" cmpd="sng">
                <a:solidFill>
                  <a:schemeClr val="tx1"/>
                </a:solidFill>
                <a:prstDash val="solid"/>
                <a:headEnd type="none" w="med" len="med"/>
                <a:tailEnd type="triangle" w="med" len="lg"/>
              </a:ln>
            </p:spPr>
          </p:sp>
          <p:sp>
            <p:nvSpPr>
              <p:cNvPr id="49167" name="Line 9"/>
              <p:cNvSpPr/>
              <p:nvPr/>
            </p:nvSpPr>
            <p:spPr>
              <a:xfrm rot="10684489" flipV="1">
                <a:off x="2016" y="1248"/>
                <a:ext cx="1" cy="240"/>
              </a:xfrm>
              <a:prstGeom prst="line">
                <a:avLst/>
              </a:prstGeom>
              <a:ln w="28575" cap="flat" cmpd="sng">
                <a:solidFill>
                  <a:schemeClr val="tx1"/>
                </a:solidFill>
                <a:prstDash val="solid"/>
                <a:headEnd type="none" w="med" len="med"/>
                <a:tailEnd type="triangle" w="med" len="lg"/>
              </a:ln>
            </p:spPr>
          </p:sp>
          <p:sp>
            <p:nvSpPr>
              <p:cNvPr id="49168" name="Line 10"/>
              <p:cNvSpPr/>
              <p:nvPr/>
            </p:nvSpPr>
            <p:spPr>
              <a:xfrm rot="10684489" flipV="1">
                <a:off x="2400" y="1248"/>
                <a:ext cx="1" cy="240"/>
              </a:xfrm>
              <a:prstGeom prst="line">
                <a:avLst/>
              </a:prstGeom>
              <a:ln w="28575" cap="flat" cmpd="sng">
                <a:solidFill>
                  <a:schemeClr val="tx1"/>
                </a:solidFill>
                <a:prstDash val="solid"/>
                <a:headEnd type="none" w="med" len="med"/>
                <a:tailEnd type="triangle" w="med" len="lg"/>
              </a:ln>
            </p:spPr>
          </p:sp>
          <p:sp>
            <p:nvSpPr>
              <p:cNvPr id="49169" name="Line 11"/>
              <p:cNvSpPr/>
              <p:nvPr/>
            </p:nvSpPr>
            <p:spPr>
              <a:xfrm rot="10684489" flipV="1">
                <a:off x="1584" y="1632"/>
                <a:ext cx="1" cy="240"/>
              </a:xfrm>
              <a:prstGeom prst="line">
                <a:avLst/>
              </a:prstGeom>
              <a:ln w="28575" cap="flat" cmpd="sng">
                <a:solidFill>
                  <a:schemeClr val="tx1"/>
                </a:solidFill>
                <a:prstDash val="solid"/>
                <a:headEnd type="none" w="med" len="med"/>
                <a:tailEnd type="triangle" w="med" len="lg"/>
              </a:ln>
            </p:spPr>
          </p:sp>
          <p:sp>
            <p:nvSpPr>
              <p:cNvPr id="49170" name="Line 12"/>
              <p:cNvSpPr/>
              <p:nvPr/>
            </p:nvSpPr>
            <p:spPr>
              <a:xfrm rot="10684489" flipV="1">
                <a:off x="2400" y="1632"/>
                <a:ext cx="1" cy="240"/>
              </a:xfrm>
              <a:prstGeom prst="line">
                <a:avLst/>
              </a:prstGeom>
              <a:ln w="28575" cap="flat" cmpd="sng">
                <a:solidFill>
                  <a:schemeClr val="tx1"/>
                </a:solidFill>
                <a:prstDash val="solid"/>
                <a:headEnd type="none" w="med" len="med"/>
                <a:tailEnd type="triangle" w="med" len="lg"/>
              </a:ln>
            </p:spPr>
          </p:sp>
          <p:sp>
            <p:nvSpPr>
              <p:cNvPr id="49171" name="Text Box 13"/>
              <p:cNvSpPr txBox="1"/>
              <p:nvPr/>
            </p:nvSpPr>
            <p:spPr>
              <a:xfrm>
                <a:off x="816" y="2064"/>
                <a:ext cx="1984" cy="388"/>
              </a:xfrm>
              <a:prstGeom prst="rect">
                <a:avLst/>
              </a:prstGeom>
              <a:noFill/>
              <a:ln w="9525">
                <a:noFill/>
              </a:ln>
            </p:spPr>
            <p:txBody>
              <a:bodyPr wrap="none">
                <a:spAutoFit/>
              </a:bodyPr>
              <a:lstStyle/>
              <a:p>
                <a:r>
                  <a:rPr lang="en-US" altLang="zh-CN" sz="2400" b="1" dirty="0">
                    <a:latin typeface="Times New Roman" panose="02020603050405020304" pitchFamily="18" charset="0"/>
                  </a:rPr>
                  <a:t>+2</a:t>
                </a:r>
                <a:r>
                  <a:rPr lang="en-US" altLang="zh-CN" sz="2400" b="1" dirty="0">
                    <a:latin typeface="Times New Roman" panose="02020603050405020304" pitchFamily="18" charset="0"/>
                    <a:sym typeface="Symbol" panose="05050102010706020507" pitchFamily="18" charset="2"/>
                  </a:rPr>
                  <a:t>B     0      0   </a:t>
                </a:r>
                <a:r>
                  <a:rPr lang="zh-CN" altLang="en-US"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2B</a:t>
                </a:r>
                <a:endParaRPr lang="en-US" altLang="zh-CN" sz="2400" b="1" dirty="0">
                  <a:latin typeface="Times New Roman" panose="02020603050405020304" pitchFamily="18" charset="0"/>
                </a:endParaRPr>
              </a:p>
            </p:txBody>
          </p:sp>
        </p:grpSp>
        <p:sp>
          <p:nvSpPr>
            <p:cNvPr id="49161" name="Text Box 14"/>
            <p:cNvSpPr txBox="1"/>
            <p:nvPr/>
          </p:nvSpPr>
          <p:spPr>
            <a:xfrm>
              <a:off x="470" y="1226"/>
              <a:ext cx="321" cy="388"/>
            </a:xfrm>
            <a:prstGeom prst="rect">
              <a:avLst/>
            </a:prstGeom>
            <a:noFill/>
            <a:ln w="9525">
              <a:noFill/>
            </a:ln>
          </p:spPr>
          <p:txBody>
            <a:bodyPr wrap="none">
              <a:spAutoFit/>
            </a:bodyPr>
            <a:lstStyle/>
            <a:p>
              <a:r>
                <a:rPr lang="en-US" altLang="zh-CN" sz="2400" b="1" dirty="0">
                  <a:latin typeface="Times New Roman" panose="02020603050405020304" pitchFamily="18" charset="0"/>
                  <a:ea typeface="楷体_GB2312" pitchFamily="49" charset="-122"/>
                </a:rPr>
                <a:t>X</a:t>
              </a:r>
              <a:r>
                <a:rPr lang="en-US" altLang="zh-CN" sz="2400" b="1" baseline="-25000" dirty="0">
                  <a:latin typeface="Times New Roman" panose="02020603050405020304" pitchFamily="18" charset="0"/>
                  <a:ea typeface="楷体_GB2312" pitchFamily="49" charset="-122"/>
                </a:rPr>
                <a:t>1</a:t>
              </a:r>
            </a:p>
          </p:txBody>
        </p:sp>
        <p:sp>
          <p:nvSpPr>
            <p:cNvPr id="49162" name="Text Box 15"/>
            <p:cNvSpPr txBox="1"/>
            <p:nvPr/>
          </p:nvSpPr>
          <p:spPr>
            <a:xfrm>
              <a:off x="480" y="1632"/>
              <a:ext cx="321" cy="388"/>
            </a:xfrm>
            <a:prstGeom prst="rect">
              <a:avLst/>
            </a:prstGeom>
            <a:noFill/>
            <a:ln w="9525">
              <a:noFill/>
            </a:ln>
          </p:spPr>
          <p:txBody>
            <a:bodyPr wrap="none">
              <a:spAutoFit/>
            </a:bodyPr>
            <a:lstStyle/>
            <a:p>
              <a:r>
                <a:rPr lang="en-US" altLang="zh-CN" sz="2400" b="1" dirty="0">
                  <a:latin typeface="Times New Roman" panose="02020603050405020304" pitchFamily="18" charset="0"/>
                  <a:ea typeface="楷体_GB2312" pitchFamily="49" charset="-122"/>
                </a:rPr>
                <a:t>X</a:t>
              </a:r>
              <a:r>
                <a:rPr lang="en-US" altLang="zh-CN" sz="2400" b="1" baseline="-25000" dirty="0">
                  <a:latin typeface="Times New Roman" panose="02020603050405020304" pitchFamily="18" charset="0"/>
                  <a:ea typeface="楷体_GB2312" pitchFamily="49" charset="-122"/>
                </a:rPr>
                <a:t>2</a:t>
              </a:r>
            </a:p>
          </p:txBody>
        </p:sp>
      </p:grpSp>
      <p:sp>
        <p:nvSpPr>
          <p:cNvPr id="89104" name="Text Box 16"/>
          <p:cNvSpPr txBox="1"/>
          <p:nvPr/>
        </p:nvSpPr>
        <p:spPr>
          <a:xfrm>
            <a:off x="974330" y="2087149"/>
            <a:ext cx="7116762" cy="2505301"/>
          </a:xfrm>
          <a:prstGeom prst="rect">
            <a:avLst/>
          </a:prstGeom>
          <a:noFill/>
          <a:ln w="9525">
            <a:noFill/>
          </a:ln>
        </p:spPr>
        <p:txBody>
          <a:bodyPr wrap="square">
            <a:spAutoFit/>
          </a:bodyPr>
          <a:lstStyle/>
          <a:p>
            <a:pPr eaLnBrk="0" hangingPunct="0">
              <a:lnSpc>
                <a:spcPct val="140000"/>
              </a:lnSpc>
            </a:pPr>
            <a:r>
              <a:rPr lang="en-US" altLang="zh-CN" sz="2800" dirty="0">
                <a:latin typeface="微软雅黑" panose="020B0503020204020204" pitchFamily="34" charset="-122"/>
                <a:ea typeface="微软雅黑" panose="020B0503020204020204" pitchFamily="34" charset="-122"/>
                <a:sym typeface="Symbol" panose="05050102010706020507" pitchFamily="18" charset="2"/>
              </a:rPr>
              <a:t>A</a:t>
            </a:r>
            <a:r>
              <a:rPr lang="zh-CN" altLang="zh-CN" sz="2800" dirty="0">
                <a:latin typeface="微软雅黑" panose="020B0503020204020204" pitchFamily="34" charset="-122"/>
                <a:ea typeface="微软雅黑" panose="020B0503020204020204" pitchFamily="34" charset="-122"/>
                <a:sym typeface="Symbol" panose="05050102010706020507" pitchFamily="18" charset="2"/>
              </a:rPr>
              <a:t>核相应</a:t>
            </a:r>
            <a:r>
              <a:rPr lang="zh-CN" altLang="zh-CN" sz="2800" dirty="0" smtClean="0">
                <a:latin typeface="微软雅黑" panose="020B0503020204020204" pitchFamily="34" charset="-122"/>
                <a:ea typeface="微软雅黑" panose="020B0503020204020204" pitchFamily="34" charset="-122"/>
                <a:sym typeface="Symbol" panose="05050102010706020507" pitchFamily="18" charset="2"/>
              </a:rPr>
              <a:t>受到</a:t>
            </a:r>
            <a:r>
              <a:rPr lang="zh-CN" altLang="en-US" sz="2800" dirty="0" smtClean="0">
                <a:latin typeface="微软雅黑" panose="020B0503020204020204" pitchFamily="34" charset="-122"/>
                <a:ea typeface="微软雅黑" panose="020B0503020204020204" pitchFamily="34" charset="-122"/>
                <a:sym typeface="Symbol" panose="05050102010706020507" pitchFamily="18" charset="2"/>
              </a:rPr>
              <a:t>三种</a:t>
            </a:r>
            <a:r>
              <a:rPr lang="zh-CN" altLang="zh-CN" sz="2800" dirty="0" smtClean="0">
                <a:latin typeface="微软雅黑" panose="020B0503020204020204" pitchFamily="34" charset="-122"/>
                <a:ea typeface="微软雅黑" panose="020B0503020204020204" pitchFamily="34" charset="-122"/>
                <a:sym typeface="Symbol" panose="05050102010706020507" pitchFamily="18" charset="2"/>
              </a:rPr>
              <a:t>磁场强度</a:t>
            </a:r>
            <a:r>
              <a:rPr lang="zh-CN" altLang="en-US" sz="2800" dirty="0" smtClean="0">
                <a:latin typeface="微软雅黑" panose="020B0503020204020204" pitchFamily="34" charset="-122"/>
                <a:ea typeface="微软雅黑" panose="020B0503020204020204" pitchFamily="34" charset="-122"/>
                <a:sym typeface="Symbol" panose="05050102010706020507" pitchFamily="18" charset="2"/>
              </a:rPr>
              <a:t>的作用</a:t>
            </a:r>
            <a:r>
              <a:rPr lang="zh-CN" altLang="zh-CN" sz="2800" dirty="0" smtClean="0">
                <a:latin typeface="微软雅黑" panose="020B0503020204020204" pitchFamily="34" charset="-122"/>
                <a:ea typeface="微软雅黑" panose="020B0503020204020204" pitchFamily="34" charset="-122"/>
                <a:sym typeface="Symbol" panose="05050102010706020507" pitchFamily="18" charset="2"/>
              </a:rPr>
              <a:t>：</a:t>
            </a:r>
            <a:endParaRPr lang="zh-CN" altLang="zh-CN" sz="2800" dirty="0">
              <a:latin typeface="微软雅黑" panose="020B0503020204020204" pitchFamily="34" charset="-122"/>
              <a:ea typeface="微软雅黑" panose="020B0503020204020204" pitchFamily="34" charset="-122"/>
              <a:sym typeface="Symbol" panose="05050102010706020507" pitchFamily="18" charset="2"/>
            </a:endParaRPr>
          </a:p>
          <a:p>
            <a:pPr eaLnBrk="0" hangingPunct="0">
              <a:lnSpc>
                <a:spcPct val="140000"/>
              </a:lnSpc>
            </a:pPr>
            <a:r>
              <a:rPr lang="zh-CN" altLang="en-US" sz="2800" b="1" dirty="0">
                <a:latin typeface="Times New Roman" panose="02020603050405020304" pitchFamily="18" charset="0"/>
                <a:sym typeface="Symbol" panose="05050102010706020507" pitchFamily="18" charset="2"/>
              </a:rPr>
              <a:t>           </a:t>
            </a: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B</a:t>
            </a:r>
            <a:r>
              <a:rPr lang="en-US" altLang="zh-CN" sz="2800" b="1" i="1" baseline="-25000" dirty="0">
                <a:latin typeface="Times New Roman" panose="02020603050405020304" pitchFamily="18" charset="0"/>
              </a:rPr>
              <a:t>0</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a:t>
            </a:r>
            <a:r>
              <a:rPr lang="zh-CN" altLang="en-US"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2</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B</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1	</a:t>
            </a:r>
          </a:p>
          <a:p>
            <a:pPr eaLnBrk="0" hangingPunct="0">
              <a:lnSpc>
                <a:spcPct val="140000"/>
              </a:lnSpc>
            </a:pPr>
            <a:r>
              <a:rPr lang="en-US" altLang="zh-CN" sz="2800" b="1" i="1" dirty="0">
                <a:latin typeface="Times New Roman" panose="02020603050405020304" pitchFamily="18" charset="0"/>
              </a:rPr>
              <a:t>           B</a:t>
            </a:r>
            <a:r>
              <a:rPr lang="en-US" altLang="zh-CN" sz="2800" b="1" i="1" baseline="-25000" dirty="0">
                <a:latin typeface="Times New Roman" panose="02020603050405020304" pitchFamily="18" charset="0"/>
              </a:rPr>
              <a:t>0</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a:t>
            </a:r>
            <a:r>
              <a:rPr lang="zh-CN" altLang="en-US"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2	</a:t>
            </a:r>
          </a:p>
          <a:p>
            <a:pPr eaLnBrk="0" hangingPunct="0">
              <a:lnSpc>
                <a:spcPct val="140000"/>
              </a:lnSpc>
            </a:pPr>
            <a:r>
              <a:rPr lang="en-US" altLang="zh-CN"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rPr>
              <a:t> B</a:t>
            </a:r>
            <a:r>
              <a:rPr lang="en-US" altLang="zh-CN" sz="2800" b="1" i="1" baseline="-25000" dirty="0">
                <a:latin typeface="Times New Roman" panose="02020603050405020304" pitchFamily="18" charset="0"/>
              </a:rPr>
              <a:t>0</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a:t>
            </a:r>
            <a:r>
              <a:rPr lang="zh-CN" altLang="en-US"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2</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B</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1	   </a:t>
            </a:r>
          </a:p>
        </p:txBody>
      </p:sp>
      <p:sp>
        <p:nvSpPr>
          <p:cNvPr id="49159" name="Rectangle 17"/>
          <p:cNvSpPr/>
          <p:nvPr/>
        </p:nvSpPr>
        <p:spPr>
          <a:xfrm>
            <a:off x="896542" y="4519106"/>
            <a:ext cx="7272337" cy="584775"/>
          </a:xfrm>
          <a:prstGeom prst="rect">
            <a:avLst/>
          </a:prstGeom>
          <a:noFill/>
          <a:ln w="9525">
            <a:noFill/>
          </a:ln>
        </p:spPr>
        <p:txBody>
          <a:bodyPr>
            <a:spAutoFit/>
          </a:bodyPr>
          <a:lstStyle/>
          <a:p>
            <a:pPr eaLnBrk="0" hangingPunct="0"/>
            <a:r>
              <a:rPr lang="zh-CN" altLang="en-US" sz="3200" b="1" dirty="0">
                <a:solidFill>
                  <a:srgbClr val="C00000"/>
                </a:solidFill>
                <a:latin typeface="微软雅黑" panose="020B0503020204020204" pitchFamily="34" charset="-122"/>
                <a:ea typeface="微软雅黑" panose="020B0503020204020204" pitchFamily="34" charset="-122"/>
              </a:rPr>
              <a:t>实际峰形：强度比为</a:t>
            </a:r>
            <a:r>
              <a:rPr lang="en-US" altLang="zh-CN" sz="3200" b="1" dirty="0">
                <a:solidFill>
                  <a:srgbClr val="C00000"/>
                </a:solidFill>
                <a:latin typeface="微软雅黑" panose="020B0503020204020204" pitchFamily="34" charset="-122"/>
                <a:ea typeface="微软雅黑" panose="020B0503020204020204" pitchFamily="34" charset="-122"/>
              </a:rPr>
              <a:t>1</a:t>
            </a:r>
            <a:r>
              <a:rPr lang="zh-CN" altLang="en-US" sz="3200" b="1" dirty="0">
                <a:solidFill>
                  <a:srgbClr val="C00000"/>
                </a:solidFill>
                <a:latin typeface="微软雅黑" panose="020B0503020204020204" pitchFamily="34" charset="-122"/>
                <a:ea typeface="微软雅黑" panose="020B0503020204020204" pitchFamily="34" charset="-122"/>
              </a:rPr>
              <a:t>：</a:t>
            </a:r>
            <a:r>
              <a:rPr lang="en-US" altLang="zh-CN" sz="3200" b="1" dirty="0">
                <a:solidFill>
                  <a:srgbClr val="C00000"/>
                </a:solidFill>
                <a:latin typeface="微软雅黑" panose="020B0503020204020204" pitchFamily="34" charset="-122"/>
                <a:ea typeface="微软雅黑" panose="020B0503020204020204" pitchFamily="34" charset="-122"/>
              </a:rPr>
              <a:t>2</a:t>
            </a:r>
            <a:r>
              <a:rPr lang="zh-CN" altLang="en-US" sz="3200" b="1" dirty="0">
                <a:solidFill>
                  <a:srgbClr val="C00000"/>
                </a:solidFill>
                <a:latin typeface="微软雅黑" panose="020B0503020204020204" pitchFamily="34" charset="-122"/>
                <a:ea typeface="微软雅黑" panose="020B0503020204020204" pitchFamily="34" charset="-122"/>
              </a:rPr>
              <a:t>：</a:t>
            </a:r>
            <a:r>
              <a:rPr lang="en-US" altLang="zh-CN" sz="3200" b="1" dirty="0">
                <a:solidFill>
                  <a:srgbClr val="C00000"/>
                </a:solidFill>
                <a:latin typeface="微软雅黑" panose="020B0503020204020204" pitchFamily="34" charset="-122"/>
                <a:ea typeface="微软雅黑" panose="020B0503020204020204" pitchFamily="34" charset="-122"/>
              </a:rPr>
              <a:t>1</a:t>
            </a:r>
            <a:r>
              <a:rPr lang="zh-CN" altLang="en-US" sz="3200" b="1" dirty="0">
                <a:solidFill>
                  <a:srgbClr val="C00000"/>
                </a:solidFill>
                <a:latin typeface="微软雅黑" panose="020B0503020204020204" pitchFamily="34" charset="-122"/>
                <a:ea typeface="微软雅黑" panose="020B0503020204020204" pitchFamily="34" charset="-122"/>
              </a:rPr>
              <a:t>的三重峰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9104"/>
                                        </p:tgtEl>
                                        <p:attrNameLst>
                                          <p:attrName>style.visibility</p:attrName>
                                        </p:attrNameLst>
                                      </p:cBhvr>
                                      <p:to>
                                        <p:strVal val="visible"/>
                                      </p:to>
                                    </p:set>
                                    <p:anim calcmode="lin" valueType="num">
                                      <p:cBhvr additive="base">
                                        <p:cTn id="7" dur="500" fill="hold"/>
                                        <p:tgtEl>
                                          <p:spTgt spid="89104"/>
                                        </p:tgtEl>
                                        <p:attrNameLst>
                                          <p:attrName>ppt_x</p:attrName>
                                        </p:attrNameLst>
                                      </p:cBhvr>
                                      <p:tavLst>
                                        <p:tav tm="0">
                                          <p:val>
                                            <p:strVal val="#ppt_x"/>
                                          </p:val>
                                        </p:tav>
                                        <p:tav tm="100000">
                                          <p:val>
                                            <p:strVal val="#ppt_x"/>
                                          </p:val>
                                        </p:tav>
                                      </p:tavLst>
                                    </p:anim>
                                    <p:anim calcmode="lin" valueType="num">
                                      <p:cBhvr additive="base">
                                        <p:cTn id="8" dur="500" fill="hold"/>
                                        <p:tgtEl>
                                          <p:spTgt spid="891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9"/>
                                        </p:tgtEl>
                                        <p:attrNameLst>
                                          <p:attrName>style.visibility</p:attrName>
                                        </p:attrNameLst>
                                      </p:cBhvr>
                                      <p:to>
                                        <p:strVal val="visible"/>
                                      </p:to>
                                    </p:set>
                                    <p:anim calcmode="lin" valueType="num">
                                      <p:cBhvr additive="base">
                                        <p:cTn id="13" dur="500" fill="hold"/>
                                        <p:tgtEl>
                                          <p:spTgt spid="49159"/>
                                        </p:tgtEl>
                                        <p:attrNameLst>
                                          <p:attrName>ppt_x</p:attrName>
                                        </p:attrNameLst>
                                      </p:cBhvr>
                                      <p:tavLst>
                                        <p:tav tm="0">
                                          <p:val>
                                            <p:strVal val="#ppt_x"/>
                                          </p:val>
                                        </p:tav>
                                        <p:tav tm="100000">
                                          <p:val>
                                            <p:strVal val="#ppt_x"/>
                                          </p:val>
                                        </p:tav>
                                      </p:tavLst>
                                    </p:anim>
                                    <p:anim calcmode="lin" valueType="num">
                                      <p:cBhvr additive="base">
                                        <p:cTn id="14" dur="500" fill="hold"/>
                                        <p:tgtEl>
                                          <p:spTgt spid="491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4" grpId="0"/>
      <p:bldP spid="491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p:cNvSpPr>
          <p:nvPr>
            <p:ph type="title"/>
          </p:nvPr>
        </p:nvSpPr>
        <p:spPr>
          <a:xfrm>
            <a:off x="395536" y="123478"/>
            <a:ext cx="5976664" cy="647700"/>
          </a:xfrm>
        </p:spPr>
        <p:txBody>
          <a:bodyPr vert="horz" wrap="square" lIns="91440" tIns="45720" rIns="91440" bIns="45720" anchor="b"/>
          <a:lstStyle/>
          <a:p>
            <a:pPr algn="l" eaLnBrk="1" hangingPunct="1"/>
            <a:r>
              <a:rPr lang="en-US" altLang="zh-CN" sz="3200" b="1" dirty="0" smtClean="0">
                <a:solidFill>
                  <a:srgbClr val="0070C0"/>
                </a:solidFill>
                <a:latin typeface="微软雅黑" panose="020B0503020204020204" pitchFamily="34" charset="-122"/>
                <a:ea typeface="微软雅黑" panose="020B0503020204020204" pitchFamily="34" charset="-122"/>
              </a:rPr>
              <a:t>2.</a:t>
            </a:r>
            <a:r>
              <a:rPr lang="zh-CN" altLang="en-US" sz="3200" b="1" dirty="0" smtClean="0">
                <a:solidFill>
                  <a:srgbClr val="0070C0"/>
                </a:solidFill>
                <a:latin typeface="微软雅黑" panose="020B0503020204020204" pitchFamily="34" charset="-122"/>
                <a:ea typeface="微软雅黑" panose="020B0503020204020204" pitchFamily="34" charset="-122"/>
              </a:rPr>
              <a:t>耦合</a:t>
            </a:r>
            <a:r>
              <a:rPr lang="zh-CN" altLang="en-US" sz="3200" b="1" dirty="0">
                <a:solidFill>
                  <a:srgbClr val="0070C0"/>
                </a:solidFill>
                <a:latin typeface="微软雅黑" panose="020B0503020204020204" pitchFamily="34" charset="-122"/>
                <a:ea typeface="微软雅黑" panose="020B0503020204020204" pitchFamily="34" charset="-122"/>
              </a:rPr>
              <a:t>常数 </a:t>
            </a:r>
            <a:r>
              <a:rPr lang="en-US" altLang="zh-CN" sz="3200" b="1" i="1" dirty="0">
                <a:solidFill>
                  <a:srgbClr val="0070C0"/>
                </a:solidFill>
                <a:latin typeface="微软雅黑" panose="020B0503020204020204" pitchFamily="34" charset="-122"/>
                <a:ea typeface="微软雅黑" panose="020B0503020204020204" pitchFamily="34" charset="-122"/>
              </a:rPr>
              <a:t>J</a:t>
            </a:r>
          </a:p>
        </p:txBody>
      </p:sp>
      <p:sp>
        <p:nvSpPr>
          <p:cNvPr id="2" name="Rectangle 3"/>
          <p:cNvSpPr>
            <a:spLocks noGrp="1"/>
          </p:cNvSpPr>
          <p:nvPr>
            <p:ph idx="1"/>
          </p:nvPr>
        </p:nvSpPr>
        <p:spPr>
          <a:xfrm>
            <a:off x="384451" y="771550"/>
            <a:ext cx="7897813" cy="1008112"/>
          </a:xfrm>
        </p:spPr>
        <p:txBody>
          <a:bodyPr vert="horz" wrap="square" lIns="91440" tIns="45720" rIns="91440" bIns="45720" anchor="t"/>
          <a:lstStyle/>
          <a:p>
            <a:pPr lvl="1" eaLnBrk="1" hangingPunct="1">
              <a:lnSpc>
                <a:spcPct val="120000"/>
              </a:lnSpc>
              <a:buClr>
                <a:schemeClr val="tx2"/>
              </a:buClr>
              <a:buSzPct val="75000"/>
              <a:buFont typeface="Wingdings" panose="05000000000000000000" pitchFamily="2" charset="2"/>
              <a:buChar char="u"/>
            </a:pP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表示耦合的磁核之间相互干扰程度的大小，以赫兹</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Hz</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为</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单位；</a:t>
            </a:r>
            <a:endPar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178"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fld id="{BB962C8B-B14F-4D97-AF65-F5344CB8AC3E}" type="datetime10">
              <a:rPr lang="zh-CN" altLang="en-US" sz="1000" dirty="0"/>
              <a:t>19:52</a:t>
            </a:fld>
            <a:endParaRPr lang="zh-CN" altLang="en-US" sz="1000" dirty="0"/>
          </a:p>
        </p:txBody>
      </p:sp>
      <p:sp>
        <p:nvSpPr>
          <p:cNvPr id="50179"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000" dirty="0"/>
              <a:t>20</a:t>
            </a:fld>
            <a:endParaRPr lang="en-US" altLang="zh-CN" sz="1000" dirty="0"/>
          </a:p>
        </p:txBody>
      </p:sp>
      <p:sp>
        <p:nvSpPr>
          <p:cNvPr id="3" name="矩形 2"/>
          <p:cNvSpPr/>
          <p:nvPr/>
        </p:nvSpPr>
        <p:spPr>
          <a:xfrm>
            <a:off x="300910" y="1779662"/>
            <a:ext cx="7655466" cy="1126462"/>
          </a:xfrm>
          <a:prstGeom prst="rect">
            <a:avLst/>
          </a:prstGeom>
        </p:spPr>
        <p:txBody>
          <a:bodyPr wrap="square">
            <a:spAutoFit/>
          </a:bodyPr>
          <a:lstStyle/>
          <a:p>
            <a:pPr marL="742950" lvl="1" indent="-285750">
              <a:lnSpc>
                <a:spcPct val="120000"/>
              </a:lnSpc>
              <a:spcBef>
                <a:spcPct val="20000"/>
              </a:spcBef>
              <a:buClr>
                <a:srgbClr val="1F497D"/>
              </a:buClr>
              <a:buSzPct val="75000"/>
              <a:buFont typeface="Wingdings" panose="05000000000000000000" pitchFamily="2" charset="2"/>
              <a:buChar char="u"/>
            </a:pPr>
            <a:r>
              <a:rPr lang="en-US" altLang="zh-CN"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与外加磁场无关，而与两个核之间相隔的化学键数目和种类有关</a:t>
            </a:r>
            <a:r>
              <a:rPr lang="zh-CN" altLang="en-US" sz="2800" dirty="0" smtClean="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dirty="0" smtClean="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p>
        </p:txBody>
      </p:sp>
      <p:sp>
        <p:nvSpPr>
          <p:cNvPr id="4" name="矩形 3"/>
          <p:cNvSpPr/>
          <p:nvPr/>
        </p:nvSpPr>
        <p:spPr>
          <a:xfrm>
            <a:off x="300910" y="2752835"/>
            <a:ext cx="6975648" cy="997196"/>
          </a:xfrm>
          <a:prstGeom prst="rect">
            <a:avLst/>
          </a:prstGeom>
        </p:spPr>
        <p:txBody>
          <a:bodyPr wrap="square">
            <a:spAutoFit/>
          </a:bodyPr>
          <a:lstStyle/>
          <a:p>
            <a:pPr marL="742950" lvl="1" indent="-285750">
              <a:lnSpc>
                <a:spcPct val="120000"/>
              </a:lnSpc>
              <a:spcBef>
                <a:spcPct val="20000"/>
              </a:spcBef>
              <a:buClr>
                <a:srgbClr val="1F497D"/>
              </a:buClr>
              <a:buSzPct val="75000"/>
              <a:buFont typeface="Wingdings" panose="05000000000000000000" pitchFamily="2" charset="2"/>
              <a:buChar char="u"/>
            </a:pP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800"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8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8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zh-CN"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等</a:t>
            </a: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表示；</a:t>
            </a:r>
            <a:endParaRPr lang="en-US" altLang="zh-CN"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nSpc>
                <a:spcPct val="120000"/>
              </a:lnSpc>
              <a:spcBef>
                <a:spcPct val="20000"/>
              </a:spcBef>
              <a:buClr>
                <a:srgbClr val="1F497D"/>
              </a:buClr>
              <a:buSzPct val="75000"/>
              <a:buFont typeface="Wingdings" panose="05000000000000000000" pitchFamily="2" charset="2"/>
              <a:buChar char="u"/>
            </a:pPr>
            <a:endParaRPr lang="zh-CN" altLang="en-US" dirty="0">
              <a:solidFill>
                <a:prstClr val="black"/>
              </a:solidFill>
            </a:endParaRPr>
          </a:p>
        </p:txBody>
      </p:sp>
      <p:sp>
        <p:nvSpPr>
          <p:cNvPr id="5" name="矩形 4"/>
          <p:cNvSpPr/>
          <p:nvPr/>
        </p:nvSpPr>
        <p:spPr>
          <a:xfrm>
            <a:off x="300910" y="3582706"/>
            <a:ext cx="8064896" cy="1126462"/>
          </a:xfrm>
          <a:prstGeom prst="rect">
            <a:avLst/>
          </a:prstGeom>
        </p:spPr>
        <p:txBody>
          <a:bodyPr wrap="square">
            <a:spAutoFit/>
          </a:bodyPr>
          <a:lstStyle/>
          <a:p>
            <a:pPr marL="742950" lvl="1" indent="-285750">
              <a:lnSpc>
                <a:spcPct val="120000"/>
              </a:lnSpc>
              <a:spcBef>
                <a:spcPct val="20000"/>
              </a:spcBef>
              <a:buClr>
                <a:srgbClr val="1F497D"/>
              </a:buClr>
              <a:buSzPct val="75000"/>
              <a:buFont typeface="Wingdings" panose="05000000000000000000" pitchFamily="2" charset="2"/>
              <a:buChar char="u"/>
            </a:pPr>
            <a:r>
              <a:rPr lang="en-US" altLang="zh-CN" sz="28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J </a:t>
            </a: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的大小与化学键的性质以及立体化学因素等有关</a:t>
            </a:r>
            <a:r>
              <a:rPr lang="en-US" altLang="zh-CN"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是核磁共振提供的重要参数之一</a:t>
            </a:r>
            <a:r>
              <a:rPr lang="zh-CN" altLang="en-US" sz="2800" dirty="0">
                <a:solidFill>
                  <a:prstClr val="black"/>
                </a:solidFill>
                <a:latin typeface="微软雅黑" panose="020B0503020204020204" pitchFamily="34" charset="-122"/>
                <a:ea typeface="微软雅黑" panose="020B0503020204020204" pitchFamily="34" charset="-122"/>
              </a:rPr>
              <a:t>。</a:t>
            </a:r>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灯片编号占位符 3"/>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199" indent="-214308" eaLnBrk="0" hangingPunct="0">
              <a:defRPr>
                <a:solidFill>
                  <a:schemeClr val="tx1"/>
                </a:solidFill>
                <a:latin typeface="Arial" panose="020B0604020202020204" pitchFamily="34" charset="0"/>
                <a:ea typeface="宋体" panose="02010600030101010101" pitchFamily="2" charset="-122"/>
              </a:defRPr>
            </a:lvl2pPr>
            <a:lvl3pPr marL="857229" indent="-171446" eaLnBrk="0" hangingPunct="0">
              <a:defRPr>
                <a:solidFill>
                  <a:schemeClr val="tx1"/>
                </a:solidFill>
                <a:latin typeface="Arial" panose="020B0604020202020204" pitchFamily="34" charset="0"/>
                <a:ea typeface="宋体" panose="02010600030101010101" pitchFamily="2" charset="-122"/>
              </a:defRPr>
            </a:lvl3pPr>
            <a:lvl4pPr marL="1200121" indent="-171446" eaLnBrk="0" hangingPunct="0">
              <a:defRPr>
                <a:solidFill>
                  <a:schemeClr val="tx1"/>
                </a:solidFill>
                <a:latin typeface="Arial" panose="020B0604020202020204" pitchFamily="34" charset="0"/>
                <a:ea typeface="宋体" panose="02010600030101010101" pitchFamily="2" charset="-122"/>
              </a:defRPr>
            </a:lvl4pPr>
            <a:lvl5pPr marL="1543012" indent="-171446" eaLnBrk="0" hangingPunct="0">
              <a:defRPr>
                <a:solidFill>
                  <a:schemeClr val="tx1"/>
                </a:solidFill>
                <a:latin typeface="Arial" panose="020B0604020202020204" pitchFamily="34" charset="0"/>
                <a:ea typeface="宋体" panose="02010600030101010101" pitchFamily="2" charset="-122"/>
              </a:defRPr>
            </a:lvl5pPr>
            <a:lvl6pPr marL="1885904"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795"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686"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578"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1F5823-06E0-4884-B59E-AAF4414C84FE}" type="slidenum">
              <a:rPr lang="en-US" altLang="zh-CN"/>
              <a:pPr eaLnBrk="1" hangingPunct="1"/>
              <a:t>21</a:t>
            </a:fld>
            <a:endParaRPr lang="en-US" altLang="zh-CN"/>
          </a:p>
        </p:txBody>
      </p:sp>
      <p:sp>
        <p:nvSpPr>
          <p:cNvPr id="51204" name="Rectangle 2"/>
          <p:cNvSpPr>
            <a:spLocks noGrp="1" noChangeArrowheads="1"/>
          </p:cNvSpPr>
          <p:nvPr>
            <p:ph type="title" idx="4294967295"/>
          </p:nvPr>
        </p:nvSpPr>
        <p:spPr>
          <a:xfrm>
            <a:off x="-440107" y="182810"/>
            <a:ext cx="5657850" cy="667941"/>
          </a:xfrm>
        </p:spPr>
        <p:txBody>
          <a:bodyPr/>
          <a:lstStyle/>
          <a:p>
            <a:pPr eaLnBrk="1" hangingPunct="1"/>
            <a:r>
              <a:rPr lang="en-US" altLang="zh-CN" sz="3200" b="1" dirty="0">
                <a:solidFill>
                  <a:srgbClr val="0070C0"/>
                </a:solidFill>
                <a:latin typeface="微软雅黑" panose="020B0503020204020204" pitchFamily="34" charset="-122"/>
                <a:ea typeface="微软雅黑" panose="020B0503020204020204" pitchFamily="34" charset="-122"/>
                <a:cs typeface="+mn-cs"/>
              </a:rPr>
              <a:t>4</a:t>
            </a:r>
            <a:r>
              <a:rPr lang="zh-CN" altLang="en-US" sz="3200" b="1" dirty="0">
                <a:solidFill>
                  <a:srgbClr val="0070C0"/>
                </a:solidFill>
                <a:latin typeface="微软雅黑" panose="020B0503020204020204" pitchFamily="34" charset="-122"/>
                <a:ea typeface="微软雅黑" panose="020B0503020204020204" pitchFamily="34" charset="-122"/>
                <a:cs typeface="+mn-cs"/>
              </a:rPr>
              <a:t>、核磁共振谱仪简介</a:t>
            </a:r>
          </a:p>
        </p:txBody>
      </p:sp>
      <p:sp>
        <p:nvSpPr>
          <p:cNvPr id="162819" name="Rectangle 3"/>
          <p:cNvSpPr>
            <a:spLocks noChangeArrowheads="1"/>
          </p:cNvSpPr>
          <p:nvPr/>
        </p:nvSpPr>
        <p:spPr bwMode="auto">
          <a:xfrm>
            <a:off x="683568" y="726282"/>
            <a:ext cx="6690123" cy="771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Font typeface="Wingdings" panose="05000000000000000000" pitchFamily="2" charset="2"/>
              <a:buNone/>
            </a:pPr>
            <a:endParaRPr kumimoji="1" lang="zh-CN" altLang="en-US" sz="2100" b="1" dirty="0">
              <a:solidFill>
                <a:srgbClr val="FF0000"/>
              </a:solidFill>
              <a:latin typeface="Times New Roman" panose="02020603050405020304" pitchFamily="18" charset="0"/>
              <a:ea typeface="楷体_GB2312" pitchFamily="49" charset="-122"/>
            </a:endParaRPr>
          </a:p>
          <a:p>
            <a:pPr eaLnBrk="1" hangingPunct="1">
              <a:lnSpc>
                <a:spcPct val="90000"/>
              </a:lnSpc>
              <a:spcBef>
                <a:spcPct val="20000"/>
              </a:spcBef>
              <a:buFont typeface="Wingdings" panose="05000000000000000000" pitchFamily="2" charset="2"/>
              <a:buNone/>
            </a:pPr>
            <a:r>
              <a:rPr kumimoji="1" lang="en-US" altLang="zh-CN" sz="2800" b="1" dirty="0">
                <a:solidFill>
                  <a:srgbClr val="C00000"/>
                </a:solidFill>
                <a:latin typeface="微软雅黑" panose="020B0503020204020204" pitchFamily="34" charset="-122"/>
                <a:ea typeface="微软雅黑" panose="020B0503020204020204" pitchFamily="34" charset="-122"/>
              </a:rPr>
              <a:t>1</a:t>
            </a:r>
            <a:r>
              <a:rPr kumimoji="1" lang="zh-CN" altLang="en-US" sz="2800" b="1" dirty="0">
                <a:solidFill>
                  <a:srgbClr val="C00000"/>
                </a:solidFill>
                <a:latin typeface="微软雅黑" panose="020B0503020204020204" pitchFamily="34" charset="-122"/>
                <a:ea typeface="微软雅黑" panose="020B0503020204020204" pitchFamily="34" charset="-122"/>
              </a:rPr>
              <a:t>）核磁共振仪的分类：</a:t>
            </a:r>
          </a:p>
        </p:txBody>
      </p:sp>
      <p:sp>
        <p:nvSpPr>
          <p:cNvPr id="162821" name="Rectangle 5"/>
          <p:cNvSpPr>
            <a:spLocks noChangeArrowheads="1"/>
          </p:cNvSpPr>
          <p:nvPr/>
        </p:nvSpPr>
        <p:spPr bwMode="auto">
          <a:xfrm>
            <a:off x="863080" y="1635646"/>
            <a:ext cx="8280920" cy="702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eaLnBrk="1" hangingPunct="1">
              <a:lnSpc>
                <a:spcPct val="90000"/>
              </a:lnSpc>
              <a:spcBef>
                <a:spcPct val="20000"/>
              </a:spcBef>
            </a:pPr>
            <a:r>
              <a:rPr kumimoji="1" lang="zh-CN" altLang="en-US" sz="2400" b="1" dirty="0">
                <a:solidFill>
                  <a:srgbClr val="0070C0"/>
                </a:solidFill>
                <a:latin typeface="微软雅黑" panose="020B0503020204020204" pitchFamily="34" charset="-122"/>
                <a:ea typeface="微软雅黑" panose="020B0503020204020204" pitchFamily="34" charset="-122"/>
              </a:rPr>
              <a:t>按磁场的来源：</a:t>
            </a:r>
            <a:r>
              <a:rPr kumimoji="1" lang="zh-CN" altLang="en-US" sz="2400" dirty="0">
                <a:latin typeface="微软雅黑" panose="020B0503020204020204" pitchFamily="34" charset="-122"/>
                <a:ea typeface="微软雅黑" panose="020B0503020204020204" pitchFamily="34" charset="-122"/>
              </a:rPr>
              <a:t>分为永久磁铁、电磁铁和超导磁体；</a:t>
            </a:r>
          </a:p>
        </p:txBody>
      </p:sp>
      <p:sp>
        <p:nvSpPr>
          <p:cNvPr id="162822" name="Rectangle 6"/>
          <p:cNvSpPr>
            <a:spLocks noChangeArrowheads="1"/>
          </p:cNvSpPr>
          <p:nvPr/>
        </p:nvSpPr>
        <p:spPr bwMode="auto">
          <a:xfrm>
            <a:off x="838336" y="3598381"/>
            <a:ext cx="7848464" cy="566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lvl="1" indent="0" eaLnBrk="1" hangingPunct="1">
              <a:lnSpc>
                <a:spcPct val="90000"/>
              </a:lnSpc>
              <a:spcBef>
                <a:spcPct val="20000"/>
              </a:spcBef>
            </a:pPr>
            <a:r>
              <a:rPr kumimoji="1" lang="zh-CN" altLang="en-US" sz="2400" b="1" dirty="0">
                <a:solidFill>
                  <a:srgbClr val="0070C0"/>
                </a:solidFill>
                <a:latin typeface="微软雅黑" panose="020B0503020204020204" pitchFamily="34" charset="-122"/>
                <a:ea typeface="微软雅黑" panose="020B0503020204020204" pitchFamily="34" charset="-122"/>
              </a:rPr>
              <a:t>根据射频的照射方式：</a:t>
            </a:r>
            <a:r>
              <a:rPr kumimoji="1" lang="zh-CN" altLang="en-US" sz="2400" dirty="0">
                <a:latin typeface="微软雅黑" panose="020B0503020204020204" pitchFamily="34" charset="-122"/>
                <a:ea typeface="微软雅黑" panose="020B0503020204020204" pitchFamily="34" charset="-122"/>
              </a:rPr>
              <a:t>分为连续波核磁共振谱仪和脉冲傅里叶变换核磁共振谱仪。</a:t>
            </a:r>
          </a:p>
        </p:txBody>
      </p:sp>
      <p:sp>
        <p:nvSpPr>
          <p:cNvPr id="2" name="矩形 1"/>
          <p:cNvSpPr/>
          <p:nvPr/>
        </p:nvSpPr>
        <p:spPr>
          <a:xfrm>
            <a:off x="863081" y="2282428"/>
            <a:ext cx="7988699" cy="1089529"/>
          </a:xfrm>
          <a:prstGeom prst="rect">
            <a:avLst/>
          </a:prstGeom>
        </p:spPr>
        <p:txBody>
          <a:bodyPr wrap="square">
            <a:spAutoFit/>
          </a:bodyPr>
          <a:lstStyle/>
          <a:p>
            <a:pPr lvl="1">
              <a:lnSpc>
                <a:spcPct val="90000"/>
              </a:lnSpc>
              <a:spcBef>
                <a:spcPct val="20000"/>
              </a:spcBef>
            </a:pPr>
            <a:r>
              <a:rPr kumimoji="1" lang="zh-CN" altLang="en-US" sz="24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按</a:t>
            </a:r>
            <a:r>
              <a:rPr kumimoji="1" lang="zh-CN" altLang="en-US" sz="2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外磁场强度不同而所需的照射频率分为</a:t>
            </a:r>
            <a:r>
              <a:rPr kumimoji="1" lang="zh-CN" altLang="en-US" sz="2400" b="1" dirty="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dirty="0" smtClean="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100 </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MHz</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200 MHz</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300 MHz</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400 MHz </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500 MHz</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等型号，</a:t>
            </a:r>
            <a:r>
              <a:rPr kumimoji="1" lang="zh-CN" altLang="en-US" sz="2400" dirty="0" smtClean="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核磁共振谱仪</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的型号通常</a:t>
            </a:r>
            <a:r>
              <a:rPr kumimoji="1" lang="zh-CN" altLang="en-US" sz="2400" dirty="0" smtClean="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用</a:t>
            </a:r>
            <a:r>
              <a:rPr kumimoji="1" lang="en-US" altLang="zh-CN" sz="2400" baseline="300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2400" u="sng"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H</a:t>
            </a:r>
            <a:r>
              <a:rPr kumimoji="1" lang="zh-CN" altLang="en-US" sz="2400" u="sng"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的共振频率</a:t>
            </a:r>
            <a:r>
              <a:rPr kumimoji="1"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来表示</a:t>
            </a:r>
            <a:r>
              <a:rPr kumimoji="1"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8194" name="Picture 2" descr="https://ss3.bdstatic.com/70cFv8Sh_Q1YnxGkpoWK1HF6hhy/it/u=2363049173,1236080704&amp;fm=26&amp;gp=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7319" y="141875"/>
            <a:ext cx="920093" cy="128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40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p:bldP spid="162821" grpId="0"/>
      <p:bldP spid="162822"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灯片编号占位符 3"/>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199" indent="-214308" eaLnBrk="0" hangingPunct="0">
              <a:defRPr>
                <a:solidFill>
                  <a:schemeClr val="tx1"/>
                </a:solidFill>
                <a:latin typeface="Arial" panose="020B0604020202020204" pitchFamily="34" charset="0"/>
                <a:ea typeface="宋体" panose="02010600030101010101" pitchFamily="2" charset="-122"/>
              </a:defRPr>
            </a:lvl2pPr>
            <a:lvl3pPr marL="857229" indent="-171446" eaLnBrk="0" hangingPunct="0">
              <a:defRPr>
                <a:solidFill>
                  <a:schemeClr val="tx1"/>
                </a:solidFill>
                <a:latin typeface="Arial" panose="020B0604020202020204" pitchFamily="34" charset="0"/>
                <a:ea typeface="宋体" panose="02010600030101010101" pitchFamily="2" charset="-122"/>
              </a:defRPr>
            </a:lvl3pPr>
            <a:lvl4pPr marL="1200121" indent="-171446" eaLnBrk="0" hangingPunct="0">
              <a:defRPr>
                <a:solidFill>
                  <a:schemeClr val="tx1"/>
                </a:solidFill>
                <a:latin typeface="Arial" panose="020B0604020202020204" pitchFamily="34" charset="0"/>
                <a:ea typeface="宋体" panose="02010600030101010101" pitchFamily="2" charset="-122"/>
              </a:defRPr>
            </a:lvl4pPr>
            <a:lvl5pPr marL="1543012" indent="-171446" eaLnBrk="0" hangingPunct="0">
              <a:defRPr>
                <a:solidFill>
                  <a:schemeClr val="tx1"/>
                </a:solidFill>
                <a:latin typeface="Arial" panose="020B0604020202020204" pitchFamily="34" charset="0"/>
                <a:ea typeface="宋体" panose="02010600030101010101" pitchFamily="2" charset="-122"/>
              </a:defRPr>
            </a:lvl5pPr>
            <a:lvl6pPr marL="1885904"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795"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686"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578"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8F88216-B287-40D3-BE1D-272F4C92AF6E}" type="slidenum">
              <a:rPr lang="en-US" altLang="zh-CN"/>
              <a:pPr eaLnBrk="1" hangingPunct="1"/>
              <a:t>22</a:t>
            </a:fld>
            <a:endParaRPr lang="en-US" altLang="zh-CN"/>
          </a:p>
        </p:txBody>
      </p:sp>
      <p:sp>
        <p:nvSpPr>
          <p:cNvPr id="53253" name="Rectangle 2"/>
          <p:cNvSpPr>
            <a:spLocks noChangeArrowheads="1"/>
          </p:cNvSpPr>
          <p:nvPr/>
        </p:nvSpPr>
        <p:spPr bwMode="auto">
          <a:xfrm>
            <a:off x="814725" y="247650"/>
            <a:ext cx="7162465" cy="85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C00000"/>
                </a:solidFill>
                <a:latin typeface="微软雅黑" panose="020B0503020204020204" pitchFamily="34" charset="-122"/>
                <a:ea typeface="微软雅黑" panose="020B0503020204020204" pitchFamily="34" charset="-122"/>
              </a:rPr>
              <a:t>2</a:t>
            </a:r>
            <a:r>
              <a:rPr lang="zh-CN" altLang="en-US" sz="2800" b="1" dirty="0">
                <a:solidFill>
                  <a:srgbClr val="C00000"/>
                </a:solidFill>
                <a:latin typeface="微软雅黑" panose="020B0503020204020204" pitchFamily="34" charset="-122"/>
                <a:ea typeface="微软雅黑" panose="020B0503020204020204" pitchFamily="34" charset="-122"/>
              </a:rPr>
              <a:t>）脉冲傅里叶变换核磁共振谱仪工作原理</a:t>
            </a:r>
            <a:endParaRPr lang="en-US" altLang="zh-CN" sz="2800" b="1" dirty="0">
              <a:solidFill>
                <a:srgbClr val="C0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814725" y="1563638"/>
            <a:ext cx="7645707" cy="2618977"/>
          </a:xfrm>
          <a:prstGeom prst="rect">
            <a:avLst/>
          </a:prstGeom>
        </p:spPr>
      </p:pic>
      <p:pic>
        <p:nvPicPr>
          <p:cNvPr id="7170" name="Picture 2" descr="https://ss0.bdstatic.com/70cFuHSh_Q1YnxGkpoWK1HF6hhy/it/u=937425934,1259081406&amp;fm=26&amp;gp=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916" y="3160910"/>
            <a:ext cx="1480442" cy="148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54814"/>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1"/>
          <p:cNvSpPr>
            <a:spLocks noGrp="1"/>
          </p:cNvSpPr>
          <p:nvPr>
            <p:ph type="dt" sz="quarter" idx="10"/>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199" indent="-214308" eaLnBrk="0" hangingPunct="0">
              <a:defRPr>
                <a:solidFill>
                  <a:schemeClr val="tx1"/>
                </a:solidFill>
                <a:latin typeface="Arial" panose="020B0604020202020204" pitchFamily="34" charset="0"/>
                <a:ea typeface="宋体" panose="02010600030101010101" pitchFamily="2" charset="-122"/>
              </a:defRPr>
            </a:lvl2pPr>
            <a:lvl3pPr marL="857229" indent="-171446" eaLnBrk="0" hangingPunct="0">
              <a:defRPr>
                <a:solidFill>
                  <a:schemeClr val="tx1"/>
                </a:solidFill>
                <a:latin typeface="Arial" panose="020B0604020202020204" pitchFamily="34" charset="0"/>
                <a:ea typeface="宋体" panose="02010600030101010101" pitchFamily="2" charset="-122"/>
              </a:defRPr>
            </a:lvl3pPr>
            <a:lvl4pPr marL="1200121" indent="-171446" eaLnBrk="0" hangingPunct="0">
              <a:defRPr>
                <a:solidFill>
                  <a:schemeClr val="tx1"/>
                </a:solidFill>
                <a:latin typeface="Arial" panose="020B0604020202020204" pitchFamily="34" charset="0"/>
                <a:ea typeface="宋体" panose="02010600030101010101" pitchFamily="2" charset="-122"/>
              </a:defRPr>
            </a:lvl4pPr>
            <a:lvl5pPr marL="1543012" indent="-171446" eaLnBrk="0" hangingPunct="0">
              <a:defRPr>
                <a:solidFill>
                  <a:schemeClr val="tx1"/>
                </a:solidFill>
                <a:latin typeface="Arial" panose="020B0604020202020204" pitchFamily="34" charset="0"/>
                <a:ea typeface="宋体" panose="02010600030101010101" pitchFamily="2" charset="-122"/>
              </a:defRPr>
            </a:lvl5pPr>
            <a:lvl6pPr marL="1885904"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795"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686"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578"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8F2723-5515-4D53-A974-B02960635373}" type="datetime10">
              <a:rPr lang="zh-CN" altLang="en-US" smtClean="0"/>
              <a:pPr eaLnBrk="1" hangingPunct="1"/>
              <a:t>19:52</a:t>
            </a:fld>
            <a:endParaRPr lang="en-US" altLang="zh-CN" smtClean="0"/>
          </a:p>
        </p:txBody>
      </p:sp>
      <p:sp>
        <p:nvSpPr>
          <p:cNvPr id="54275" name="灯片编号占位符 3"/>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557199" indent="-214308" eaLnBrk="0" hangingPunct="0">
              <a:defRPr>
                <a:solidFill>
                  <a:schemeClr val="tx1"/>
                </a:solidFill>
                <a:latin typeface="Arial" panose="020B0604020202020204" pitchFamily="34" charset="0"/>
                <a:ea typeface="宋体" panose="02010600030101010101" pitchFamily="2" charset="-122"/>
              </a:defRPr>
            </a:lvl2pPr>
            <a:lvl3pPr marL="857229" indent="-171446" eaLnBrk="0" hangingPunct="0">
              <a:defRPr>
                <a:solidFill>
                  <a:schemeClr val="tx1"/>
                </a:solidFill>
                <a:latin typeface="Arial" panose="020B0604020202020204" pitchFamily="34" charset="0"/>
                <a:ea typeface="宋体" panose="02010600030101010101" pitchFamily="2" charset="-122"/>
              </a:defRPr>
            </a:lvl3pPr>
            <a:lvl4pPr marL="1200121" indent="-171446" eaLnBrk="0" hangingPunct="0">
              <a:defRPr>
                <a:solidFill>
                  <a:schemeClr val="tx1"/>
                </a:solidFill>
                <a:latin typeface="Arial" panose="020B0604020202020204" pitchFamily="34" charset="0"/>
                <a:ea typeface="宋体" panose="02010600030101010101" pitchFamily="2" charset="-122"/>
              </a:defRPr>
            </a:lvl4pPr>
            <a:lvl5pPr marL="1543012" indent="-171446" eaLnBrk="0" hangingPunct="0">
              <a:defRPr>
                <a:solidFill>
                  <a:schemeClr val="tx1"/>
                </a:solidFill>
                <a:latin typeface="Arial" panose="020B0604020202020204" pitchFamily="34" charset="0"/>
                <a:ea typeface="宋体" panose="02010600030101010101" pitchFamily="2" charset="-122"/>
              </a:defRPr>
            </a:lvl5pPr>
            <a:lvl6pPr marL="1885904"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228795"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2571686"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914578" indent="-171446"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AC7BBDB-40E8-4D91-A08A-CC0E2FD6F584}" type="slidenum">
              <a:rPr lang="en-US" altLang="zh-CN"/>
              <a:pPr eaLnBrk="1" hangingPunct="1"/>
              <a:t>23</a:t>
            </a:fld>
            <a:endParaRPr lang="en-US" altLang="zh-CN"/>
          </a:p>
        </p:txBody>
      </p:sp>
      <p:sp>
        <p:nvSpPr>
          <p:cNvPr id="54276" name="Rectangle 3"/>
          <p:cNvSpPr>
            <a:spLocks noChangeArrowheads="1"/>
          </p:cNvSpPr>
          <p:nvPr/>
        </p:nvSpPr>
        <p:spPr bwMode="auto">
          <a:xfrm>
            <a:off x="1187624" y="1563638"/>
            <a:ext cx="6867995"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SzPct val="70000"/>
              <a:buFont typeface="Wingdings" panose="05000000000000000000" pitchFamily="2" charset="2"/>
              <a:buNone/>
            </a:pPr>
            <a:endParaRPr lang="en-US" altLang="zh-CN" b="1" dirty="0"/>
          </a:p>
          <a:p>
            <a:pPr>
              <a:lnSpc>
                <a:spcPct val="120000"/>
              </a:lnSpc>
              <a:buClr>
                <a:schemeClr val="tx2"/>
              </a:buClr>
              <a:buSzPct val="70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 扫描速度</a:t>
            </a:r>
            <a:r>
              <a:rPr lang="zh-CN" altLang="en-US" sz="2400" dirty="0" smtClean="0">
                <a:latin typeface="微软雅黑" panose="020B0503020204020204" pitchFamily="34" charset="-122"/>
                <a:ea typeface="微软雅黑" panose="020B0503020204020204" pitchFamily="34" charset="-122"/>
              </a:rPr>
              <a:t>快</a:t>
            </a:r>
            <a:endParaRPr lang="en-US" altLang="zh-CN" sz="2400" dirty="0" smtClean="0">
              <a:latin typeface="微软雅黑" panose="020B0503020204020204" pitchFamily="34" charset="-122"/>
              <a:ea typeface="微软雅黑" panose="020B0503020204020204" pitchFamily="34" charset="-122"/>
            </a:endParaRPr>
          </a:p>
          <a:p>
            <a:pPr>
              <a:lnSpc>
                <a:spcPct val="120000"/>
              </a:lnSpc>
              <a:buClr>
                <a:schemeClr val="tx2"/>
              </a:buClr>
              <a:buSzPct val="70000"/>
              <a:buFont typeface="Wingdings" panose="05000000000000000000" pitchFamily="2" charset="2"/>
              <a:buChar char="u"/>
            </a:pPr>
            <a:endParaRPr lang="en-US" altLang="zh-CN" sz="2400" dirty="0" smtClean="0">
              <a:latin typeface="微软雅黑" panose="020B0503020204020204" pitchFamily="34" charset="-122"/>
              <a:ea typeface="微软雅黑" panose="020B0503020204020204" pitchFamily="34" charset="-122"/>
            </a:endParaRPr>
          </a:p>
          <a:p>
            <a:pPr>
              <a:lnSpc>
                <a:spcPct val="120000"/>
              </a:lnSpc>
              <a:buClr>
                <a:schemeClr val="tx2"/>
              </a:buClr>
              <a:buSzPct val="70000"/>
              <a:buFont typeface="Wingdings" panose="05000000000000000000" pitchFamily="2" charset="2"/>
              <a:buChar char="u"/>
            </a:pPr>
            <a:r>
              <a:rPr lang="zh-CN" altLang="en-US" sz="2400" dirty="0" smtClean="0">
                <a:latin typeface="微软雅黑" panose="020B0503020204020204" pitchFamily="34" charset="-122"/>
                <a:ea typeface="微软雅黑" panose="020B0503020204020204" pitchFamily="34" charset="-122"/>
              </a:rPr>
              <a:t> 不仅</a:t>
            </a:r>
            <a:r>
              <a:rPr lang="zh-CN" altLang="en-US" sz="2400" dirty="0">
                <a:latin typeface="微软雅黑" panose="020B0503020204020204" pitchFamily="34" charset="-122"/>
                <a:ea typeface="微软雅黑" panose="020B0503020204020204" pitchFamily="34" charset="-122"/>
              </a:rPr>
              <a:t>改善</a:t>
            </a:r>
            <a:r>
              <a:rPr lang="en-US" altLang="zh-CN" sz="2400" baseline="30000" dirty="0">
                <a:latin typeface="微软雅黑" panose="020B0503020204020204" pitchFamily="34" charset="-122"/>
                <a:ea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rPr>
              <a:t>H</a:t>
            </a:r>
            <a:r>
              <a:rPr lang="zh-CN" altLang="en-US" sz="2400" dirty="0">
                <a:latin typeface="微软雅黑" panose="020B0503020204020204" pitchFamily="34" charset="-122"/>
                <a:ea typeface="微软雅黑" panose="020B0503020204020204" pitchFamily="34" charset="-122"/>
              </a:rPr>
              <a:t>等天然丰度高的核种的谱图质量，而且使天然丰度小、绝对灵敏度低的同位素核的核磁共振测定得以实现。</a:t>
            </a:r>
            <a:endParaRPr lang="en-US" altLang="zh-CN" sz="2400" dirty="0">
              <a:latin typeface="微软雅黑" panose="020B0503020204020204" pitchFamily="34" charset="-122"/>
              <a:ea typeface="微软雅黑" panose="020B0503020204020204" pitchFamily="34" charset="-122"/>
            </a:endParaRPr>
          </a:p>
          <a:p>
            <a:pPr>
              <a:lnSpc>
                <a:spcPct val="120000"/>
              </a:lnSpc>
              <a:buClr>
                <a:schemeClr val="tx2"/>
              </a:buClr>
              <a:buSzPct val="700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endParaRPr>
          </a:p>
          <a:p>
            <a:pPr>
              <a:lnSpc>
                <a:spcPct val="120000"/>
              </a:lnSpc>
              <a:buClr>
                <a:schemeClr val="tx2"/>
              </a:buClr>
              <a:buSzPct val="70000"/>
              <a:buFont typeface="Wingdings" panose="05000000000000000000" pitchFamily="2" charset="2"/>
              <a:buChar char="u"/>
            </a:pPr>
            <a:endParaRPr lang="zh-CN" altLang="en-US" sz="2400" dirty="0">
              <a:latin typeface="微软雅黑" panose="020B0503020204020204" pitchFamily="34" charset="-122"/>
              <a:ea typeface="微软雅黑" panose="020B0503020204020204" pitchFamily="34" charset="-122"/>
            </a:endParaRPr>
          </a:p>
        </p:txBody>
      </p:sp>
      <p:sp>
        <p:nvSpPr>
          <p:cNvPr id="54277" name="Rectangle 2"/>
          <p:cNvSpPr>
            <a:spLocks noChangeArrowheads="1"/>
          </p:cNvSpPr>
          <p:nvPr/>
        </p:nvSpPr>
        <p:spPr bwMode="auto">
          <a:xfrm>
            <a:off x="971600" y="706387"/>
            <a:ext cx="6408712" cy="85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C00000"/>
                </a:solidFill>
                <a:latin typeface="微软雅黑" panose="020B0503020204020204" pitchFamily="34" charset="-122"/>
                <a:ea typeface="微软雅黑" panose="020B0503020204020204" pitchFamily="34" charset="-122"/>
              </a:rPr>
              <a:t>3</a:t>
            </a:r>
            <a:r>
              <a:rPr lang="zh-CN" altLang="en-US" sz="2800" b="1" dirty="0">
                <a:solidFill>
                  <a:srgbClr val="C00000"/>
                </a:solidFill>
                <a:latin typeface="微软雅黑" panose="020B0503020204020204" pitchFamily="34" charset="-122"/>
                <a:ea typeface="微软雅黑" panose="020B0503020204020204" pitchFamily="34" charset="-122"/>
              </a:rPr>
              <a:t>）脉冲傅里叶变换核磁共振谱仪特点</a:t>
            </a:r>
            <a:endParaRPr lang="en-US" altLang="zh-CN" sz="28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596521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defTabSz="914377">
              <a:defRPr/>
            </a:pPr>
            <a:fld id="{BBED5795-ABC6-4AFE-A17B-DB737F69BD2D}" type="datetime10">
              <a:rPr lang="zh-CN" altLang="en-US" sz="1000" smtClean="0">
                <a:solidFill>
                  <a:schemeClr val="tx1"/>
                </a:solidFill>
                <a:ea typeface="宋体" panose="02010600030101010101" pitchFamily="2" charset="-122"/>
              </a:rPr>
              <a:pPr defTabSz="914377">
                <a:defRPr/>
              </a:pPr>
              <a:t>19:52</a:t>
            </a:fld>
            <a:endParaRPr lang="en-US" altLang="zh-CN" sz="1000">
              <a:solidFill>
                <a:schemeClr val="tx1"/>
              </a:solidFill>
              <a:ea typeface="宋体" panose="02010600030101010101" pitchFamily="2"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1139757"/>
            <a:ext cx="6624736" cy="2800146"/>
          </a:xfrm>
          <a:prstGeom prst="rect">
            <a:avLst/>
          </a:prstGeom>
        </p:spPr>
      </p:pic>
      <p:sp>
        <p:nvSpPr>
          <p:cNvPr id="4" name="Rectangle 2"/>
          <p:cNvSpPr>
            <a:spLocks noChangeArrowheads="1"/>
          </p:cNvSpPr>
          <p:nvPr/>
        </p:nvSpPr>
        <p:spPr bwMode="auto">
          <a:xfrm>
            <a:off x="755576" y="130323"/>
            <a:ext cx="6408712" cy="85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smtClean="0">
                <a:solidFill>
                  <a:srgbClr val="C00000"/>
                </a:solidFill>
                <a:latin typeface="微软雅黑" panose="020B0503020204020204" pitchFamily="34" charset="-122"/>
                <a:ea typeface="微软雅黑" panose="020B0503020204020204" pitchFamily="34" charset="-122"/>
              </a:rPr>
              <a:t>4</a:t>
            </a:r>
            <a:r>
              <a:rPr lang="zh-CN" altLang="en-US" sz="2800" b="1" dirty="0" smtClean="0">
                <a:solidFill>
                  <a:srgbClr val="C00000"/>
                </a:solidFill>
                <a:latin typeface="微软雅黑" panose="020B0503020204020204" pitchFamily="34" charset="-122"/>
                <a:ea typeface="微软雅黑" panose="020B0503020204020204" pitchFamily="34" charset="-122"/>
              </a:rPr>
              <a:t>）核磁共振谱仪发展历程</a:t>
            </a:r>
            <a:endParaRPr lang="en-US" altLang="zh-CN" sz="28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454958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主题3</Template>
  <TotalTime>1248</TotalTime>
  <Words>1335</Words>
  <Application>Microsoft Office PowerPoint</Application>
  <PresentationFormat>全屏显示(16:9)</PresentationFormat>
  <Paragraphs>177</Paragraphs>
  <Slides>24</Slides>
  <Notes>24</Notes>
  <HiddenSlides>0</HiddenSlides>
  <MMClips>0</MMClips>
  <ScaleCrop>false</ScaleCrop>
  <HeadingPairs>
    <vt:vector size="10" baseType="variant">
      <vt:variant>
        <vt:lpstr>已用的字体</vt:lpstr>
      </vt:variant>
      <vt:variant>
        <vt:i4>8</vt:i4>
      </vt:variant>
      <vt:variant>
        <vt:lpstr>主题</vt:lpstr>
      </vt:variant>
      <vt:variant>
        <vt:i4>3</vt:i4>
      </vt:variant>
      <vt:variant>
        <vt:lpstr>嵌入 OLE 服务器</vt:lpstr>
      </vt:variant>
      <vt:variant>
        <vt:i4>4</vt:i4>
      </vt:variant>
      <vt:variant>
        <vt:lpstr>幻灯片标题</vt:lpstr>
      </vt:variant>
      <vt:variant>
        <vt:i4>24</vt:i4>
      </vt:variant>
      <vt:variant>
        <vt:lpstr>自定义放映</vt:lpstr>
      </vt:variant>
      <vt:variant>
        <vt:i4>3</vt:i4>
      </vt:variant>
    </vt:vector>
  </HeadingPairs>
  <TitlesOfParts>
    <vt:vector size="42" baseType="lpstr">
      <vt:lpstr>楷体_GB2312</vt:lpstr>
      <vt:lpstr>宋体</vt:lpstr>
      <vt:lpstr>微软雅黑</vt:lpstr>
      <vt:lpstr>Arial</vt:lpstr>
      <vt:lpstr>Calibri</vt:lpstr>
      <vt:lpstr>Symbol</vt:lpstr>
      <vt:lpstr>Times New Roman</vt:lpstr>
      <vt:lpstr>Wingdings</vt:lpstr>
      <vt:lpstr>主题3</vt:lpstr>
      <vt:lpstr>1_主题3</vt:lpstr>
      <vt:lpstr>2_主题3</vt:lpstr>
      <vt:lpstr>Equation.3</vt:lpstr>
      <vt:lpstr>Equation.DSMT4</vt:lpstr>
      <vt:lpstr>ChemDraw.Document.6.0</vt:lpstr>
      <vt:lpstr>ChemWindow.Document</vt:lpstr>
      <vt:lpstr>第一节   核磁共振波谱的基本原理</vt:lpstr>
      <vt:lpstr>PowerPoint 演示文稿</vt:lpstr>
      <vt:lpstr>1.化学位移的产生</vt:lpstr>
      <vt:lpstr>PowerPoint 演示文稿</vt:lpstr>
      <vt:lpstr>PowerPoint 演示文稿</vt:lpstr>
      <vt:lpstr>2.化学位移的表示方法</vt:lpstr>
      <vt:lpstr>PowerPoint 演示文稿</vt:lpstr>
      <vt:lpstr>化学位移的表示方法-位移常数δ</vt:lpstr>
      <vt:lpstr>PowerPoint 演示文稿</vt:lpstr>
      <vt:lpstr>四甲基硅烷（TMS作为标准物的优点）</vt:lpstr>
      <vt:lpstr>PowerPoint 演示文稿</vt:lpstr>
      <vt:lpstr>PowerPoint 演示文稿</vt:lpstr>
      <vt:lpstr>3.化学位移的测定</vt:lpstr>
      <vt:lpstr>PowerPoint 演示文稿</vt:lpstr>
      <vt:lpstr>三、自旋－自旋耦合</vt:lpstr>
      <vt:lpstr>自旋－自旋耦合</vt:lpstr>
      <vt:lpstr>1.自旋耦合的原理</vt:lpstr>
      <vt:lpstr>PowerPoint 演示文稿</vt:lpstr>
      <vt:lpstr>如果相邻有两个相同的自旋核X1和X2</vt:lpstr>
      <vt:lpstr>2.耦合常数 J</vt:lpstr>
      <vt:lpstr>4、核磁共振谱仪简介</vt:lpstr>
      <vt:lpstr>PowerPoint 演示文稿</vt:lpstr>
      <vt:lpstr>PowerPoint 演示文稿</vt:lpstr>
      <vt:lpstr>PowerPoint 演示文稿</vt:lpstr>
      <vt:lpstr>自定义放映1</vt:lpstr>
      <vt:lpstr>自定义放映2</vt:lpstr>
      <vt:lpstr>自定义放映3</vt:lpstr>
    </vt:vector>
  </TitlesOfParts>
  <Company>ecust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核磁共振波谱</dc:title>
  <dc:creator>csy</dc:creator>
  <cp:lastModifiedBy>Windows 用户</cp:lastModifiedBy>
  <cp:revision>554</cp:revision>
  <dcterms:created xsi:type="dcterms:W3CDTF">2002-10-20T01:24:00Z</dcterms:created>
  <dcterms:modified xsi:type="dcterms:W3CDTF">2021-11-25T11:53:10Z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