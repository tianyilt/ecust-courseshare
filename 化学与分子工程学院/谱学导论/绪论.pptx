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3" r:id="rId1"/>
  </p:sldMasterIdLst>
  <p:notesMasterIdLst>
    <p:notesMasterId r:id="rId14"/>
  </p:notesMasterIdLst>
  <p:sldIdLst>
    <p:sldId id="269" r:id="rId2"/>
    <p:sldId id="283" r:id="rId3"/>
    <p:sldId id="292" r:id="rId4"/>
    <p:sldId id="280" r:id="rId5"/>
    <p:sldId id="299" r:id="rId6"/>
    <p:sldId id="300" r:id="rId7"/>
    <p:sldId id="305" r:id="rId8"/>
    <p:sldId id="270" r:id="rId9"/>
    <p:sldId id="265" r:id="rId10"/>
    <p:sldId id="266" r:id="rId11"/>
    <p:sldId id="277" r:id="rId12"/>
    <p:sldId id="307" r:id="rId13"/>
  </p:sldIdLst>
  <p:sldSz cx="6858000" cy="51435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98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50021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1076" autoAdjust="0"/>
  </p:normalViewPr>
  <p:slideViewPr>
    <p:cSldViewPr showGuides="1">
      <p:cViewPr varScale="1">
        <p:scale>
          <a:sx n="95" d="100"/>
          <a:sy n="95" d="100"/>
        </p:scale>
        <p:origin x="1776" y="67"/>
      </p:cViewPr>
      <p:guideLst>
        <p:guide orient="horz" pos="1598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44" name="Rectangle 4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12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</a:p>
        </p:txBody>
      </p:sp>
      <p:sp>
        <p:nvSpPr>
          <p:cNvPr id="112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2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 algn="r" eaLnBrk="1" hangingPunct="1"/>
            <a:fld id="{9A0DB2DC-4C9A-4742-B13C-FB6460FD3503}" type="slidenum">
              <a:rPr lang="en-US" altLang="zh-CN" sz="1200" dirty="0"/>
              <a:t>‹#›</a:t>
            </a:fld>
            <a:endParaRPr lang="en-US" altLang="zh-CN" sz="1200" dirty="0"/>
          </a:p>
        </p:txBody>
      </p:sp>
    </p:spTree>
    <p:extLst>
      <p:ext uri="{BB962C8B-B14F-4D97-AF65-F5344CB8AC3E}">
        <p14:creationId xmlns:p14="http://schemas.microsoft.com/office/powerpoint/2010/main" val="128154442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>
              <a:solidFill>
                <a:srgbClr val="A50021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b="0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841772"/>
            <a:ext cx="58293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2701528"/>
            <a:ext cx="51435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783">
              <a:defRPr/>
            </a:pPr>
            <a:endParaRPr lang="en-US" altLang="zh-CN" sz="75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783">
              <a:defRPr/>
            </a:pPr>
            <a:endParaRPr lang="en-US" altLang="zh-CN" sz="75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9A0DB2DC-4C9A-4742-B13C-FB6460FD3503}" type="slidenum">
              <a:rPr lang="en-US" altLang="zh-CN" smtClean="0"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810734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783">
              <a:defRPr/>
            </a:pPr>
            <a:endParaRPr lang="en-US" altLang="zh-CN" sz="75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783">
              <a:defRPr/>
            </a:pPr>
            <a:endParaRPr lang="en-US" altLang="zh-CN" sz="75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US" altLang="zh-CN" smtClean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9354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1282305"/>
            <a:ext cx="5915025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3442099"/>
            <a:ext cx="5915025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783">
              <a:defRPr/>
            </a:pPr>
            <a:endParaRPr lang="en-US" altLang="zh-CN" sz="75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783">
              <a:defRPr/>
            </a:pPr>
            <a:endParaRPr lang="en-US" altLang="zh-CN" sz="75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US" altLang="zh-CN" smtClean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7242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1369219"/>
            <a:ext cx="2914650" cy="3263504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1369219"/>
            <a:ext cx="2914650" cy="3263504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783">
              <a:defRPr/>
            </a:pPr>
            <a:endParaRPr lang="en-US" altLang="zh-CN" sz="75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783">
              <a:defRPr/>
            </a:pPr>
            <a:endParaRPr lang="en-US" altLang="zh-CN" sz="75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US" altLang="zh-CN" smtClean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1947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273845"/>
            <a:ext cx="5915025" cy="99417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1260872"/>
            <a:ext cx="2901255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1878806"/>
            <a:ext cx="2901255" cy="2763441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1260872"/>
            <a:ext cx="2915543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1878806"/>
            <a:ext cx="2915543" cy="2763441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783">
              <a:defRPr/>
            </a:pPr>
            <a:endParaRPr lang="en-US" altLang="zh-CN" sz="75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783">
              <a:defRPr/>
            </a:pPr>
            <a:endParaRPr lang="en-US" altLang="zh-CN" sz="75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US" altLang="zh-CN" smtClean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8186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783">
              <a:defRPr/>
            </a:pPr>
            <a:endParaRPr lang="en-US" altLang="zh-CN" sz="75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783">
              <a:defRPr/>
            </a:pPr>
            <a:endParaRPr lang="en-US" altLang="zh-CN" sz="75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US" altLang="zh-CN" smtClean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1275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783">
              <a:defRPr/>
            </a:pPr>
            <a:endParaRPr lang="en-US" altLang="zh-CN" sz="75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783">
              <a:defRPr/>
            </a:pPr>
            <a:endParaRPr lang="en-US" altLang="zh-CN" sz="75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US" altLang="zh-CN" smtClean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27329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342900"/>
            <a:ext cx="2211884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740570"/>
            <a:ext cx="3471863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1543050"/>
            <a:ext cx="2211884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783">
              <a:defRPr/>
            </a:pPr>
            <a:endParaRPr lang="en-US" altLang="zh-CN" sz="75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783">
              <a:defRPr/>
            </a:pPr>
            <a:endParaRPr lang="en-US" altLang="zh-CN" sz="75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US" altLang="zh-CN" smtClean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2447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342900"/>
            <a:ext cx="2211884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740570"/>
            <a:ext cx="3471863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1543050"/>
            <a:ext cx="2211884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783">
              <a:defRPr/>
            </a:pPr>
            <a:endParaRPr lang="en-US" altLang="zh-CN" sz="75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783">
              <a:defRPr/>
            </a:pPr>
            <a:endParaRPr lang="en-US" altLang="zh-CN" sz="75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US" altLang="zh-CN" smtClean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7490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783">
              <a:defRPr/>
            </a:pPr>
            <a:endParaRPr lang="en-US" altLang="zh-CN" sz="75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783">
              <a:defRPr/>
            </a:pPr>
            <a:endParaRPr lang="en-US" altLang="zh-CN" sz="75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US" altLang="zh-CN" smtClean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41980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273844"/>
            <a:ext cx="1478756" cy="4358879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273844"/>
            <a:ext cx="4350544" cy="4358879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783">
              <a:defRPr/>
            </a:pPr>
            <a:endParaRPr lang="en-US" altLang="zh-CN" sz="75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783">
              <a:defRPr/>
            </a:pPr>
            <a:endParaRPr lang="en-US" altLang="zh-CN" sz="75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US" altLang="zh-CN" smtClean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5302607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273845"/>
            <a:ext cx="5915025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1369219"/>
            <a:ext cx="5915025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4767264"/>
            <a:ext cx="15430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85783">
              <a:defRPr/>
            </a:pPr>
            <a:endParaRPr lang="en-US" altLang="zh-CN" sz="75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4767264"/>
            <a:ext cx="231457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85783">
              <a:defRPr/>
            </a:pPr>
            <a:endParaRPr lang="en-US" altLang="zh-CN" sz="75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4767264"/>
            <a:ext cx="15430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 eaLnBrk="1" hangingPunct="1"/>
            <a:fld id="{9A0DB2DC-4C9A-4742-B13C-FB6460FD3503}" type="slidenum">
              <a:rPr lang="en-US" altLang="zh-CN" smtClean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7730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wmf"/><Relationship Id="rId4" Type="http://schemas.openxmlformats.org/officeDocument/2006/relationships/oleObject" Target="../embeddings/oleObject1.bin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6"/>
          <p:cNvSpPr txBox="1">
            <a:spLocks noGrp="1"/>
          </p:cNvSpPr>
          <p:nvPr/>
        </p:nvSpPr>
        <p:spPr>
          <a:xfrm>
            <a:off x="342900" y="4157663"/>
            <a:ext cx="1600200" cy="257175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9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987425" indent="-2940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281430" indent="-2921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59893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 eaLnBrk="1" hangingPunct="1">
              <a:spcBef>
                <a:spcPct val="0"/>
              </a:spcBef>
              <a:buClrTx/>
              <a:buSzPct val="100000"/>
              <a:buNone/>
            </a:pPr>
            <a:fld id="{BB962C8B-B14F-4D97-AF65-F5344CB8AC3E}" type="datetime10">
              <a:rPr lang="zh-CN" altLang="en-US" sz="900" dirty="0"/>
              <a:pPr marL="0" indent="0" eaLnBrk="1" hangingPunct="1">
                <a:spcBef>
                  <a:spcPct val="0"/>
                </a:spcBef>
                <a:buClrTx/>
                <a:buSzPct val="100000"/>
                <a:buNone/>
              </a:pPr>
              <a:t>10:03</a:t>
            </a:fld>
            <a:endParaRPr lang="zh-CN" altLang="en-US" sz="900" dirty="0"/>
          </a:p>
        </p:txBody>
      </p:sp>
      <p:sp>
        <p:nvSpPr>
          <p:cNvPr id="3075" name="Rectangle 18"/>
          <p:cNvSpPr txBox="1">
            <a:spLocks noGrp="1"/>
          </p:cNvSpPr>
          <p:nvPr/>
        </p:nvSpPr>
        <p:spPr>
          <a:xfrm>
            <a:off x="4914900" y="4157663"/>
            <a:ext cx="1600200" cy="257175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9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987425" indent="-2940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281430" indent="-2921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59893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 algn="r" eaLnBrk="1" hangingPunct="1">
              <a:spcBef>
                <a:spcPct val="0"/>
              </a:spcBef>
              <a:buClrTx/>
              <a:buSzPct val="100000"/>
              <a:buNone/>
            </a:pPr>
            <a:fld id="{9A0DB2DC-4C9A-4742-B13C-FB6460FD3503}" type="slidenum">
              <a:rPr lang="en-US" altLang="zh-CN" sz="900" dirty="0">
                <a:latin typeface="Arial Black" panose="020B0A04020102020204" pitchFamily="34" charset="0"/>
              </a:rPr>
              <a:pPr marL="0" indent="0" algn="r" eaLnBrk="1" hangingPunct="1">
                <a:spcBef>
                  <a:spcPct val="0"/>
                </a:spcBef>
                <a:buClrTx/>
                <a:buSzPct val="100000"/>
                <a:buNone/>
              </a:pPr>
              <a:t>1</a:t>
            </a:fld>
            <a:endParaRPr lang="en-US" altLang="zh-CN" sz="900" dirty="0">
              <a:latin typeface="Arial Black" panose="020B0A04020102020204" pitchFamily="34" charset="0"/>
            </a:endParaRPr>
          </a:p>
        </p:txBody>
      </p:sp>
      <p:sp>
        <p:nvSpPr>
          <p:cNvPr id="3077" name="Rectangle 3"/>
          <p:cNvSpPr/>
          <p:nvPr/>
        </p:nvSpPr>
        <p:spPr>
          <a:xfrm>
            <a:off x="890718" y="2875783"/>
            <a:ext cx="3943350" cy="507831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9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987425" indent="-2940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281430" indent="-2921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59893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 algn="ctr" eaLnBrk="1" hangingPunct="1">
              <a:spcBef>
                <a:spcPct val="0"/>
              </a:spcBef>
              <a:buClrTx/>
              <a:buSzPct val="100000"/>
              <a:buNone/>
            </a:pPr>
            <a:r>
              <a:rPr lang="zh-CN" altLang="zh-CN" sz="27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华东理工大学</a:t>
            </a:r>
            <a:endParaRPr lang="zh-CN" altLang="en-US" sz="2700" b="1" dirty="0">
              <a:solidFill>
                <a:srgbClr val="0070C0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143000" y="1113589"/>
            <a:ext cx="509431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谱 学 导 论</a:t>
            </a:r>
          </a:p>
        </p:txBody>
      </p:sp>
      <p:sp>
        <p:nvSpPr>
          <p:cNvPr id="4" name="矩形 3"/>
          <p:cNvSpPr/>
          <p:nvPr/>
        </p:nvSpPr>
        <p:spPr>
          <a:xfrm>
            <a:off x="4564811" y="2875783"/>
            <a:ext cx="877163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buSzPct val="100000"/>
            </a:pPr>
            <a:r>
              <a:rPr lang="zh-CN" altLang="en-US" sz="27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夏玮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548680" y="1059582"/>
            <a:ext cx="5940660" cy="27699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7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谱  </a:t>
            </a:r>
            <a:r>
              <a:rPr lang="zh-CN" altLang="en-US" sz="27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用各种形式的电磁波（含光、电、磁、微波、射频，甚至电子束）照射被测对象，作用以后电磁波强度和频率的关系构成谱。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7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谱学   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研究谱和物质内部结构之间关系的学科就是谱学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2"/>
          <p:cNvSpPr txBox="1"/>
          <p:nvPr/>
        </p:nvSpPr>
        <p:spPr>
          <a:xfrm>
            <a:off x="163760" y="661951"/>
            <a:ext cx="6547485" cy="3681777"/>
          </a:xfrm>
          <a:prstGeom prst="rect">
            <a:avLst/>
          </a:prstGeom>
          <a:noFill/>
          <a:ln w="76200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9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987425" indent="-2940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281430" indent="-2921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59893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 eaLnBrk="1" hangingPunct="1">
              <a:lnSpc>
                <a:spcPct val="125000"/>
              </a:lnSpc>
              <a:spcBef>
                <a:spcPct val="50000"/>
              </a:spcBef>
              <a:buClrTx/>
              <a:buSzPct val="100000"/>
              <a:buNone/>
            </a:pPr>
            <a:r>
              <a:rPr lang="zh-CN" altLang="en-US" sz="2700" b="1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本课程内容</a:t>
            </a:r>
            <a:r>
              <a:rPr lang="en-US" altLang="zh-CN" sz="2400" b="1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各种探测微观结构的谱学方法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)</a:t>
            </a:r>
            <a:endParaRPr lang="en-US" altLang="zh-CN" sz="2400" b="1" dirty="0">
              <a:solidFill>
                <a:srgbClr val="CC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ct val="125000"/>
              </a:lnSpc>
              <a:spcBef>
                <a:spcPct val="50000"/>
              </a:spcBef>
              <a:buClrTx/>
              <a:buSzPct val="100000"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         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紫外可见吸收光谱（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UV)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ct val="125000"/>
              </a:lnSpc>
              <a:spcBef>
                <a:spcPct val="50000"/>
              </a:spcBef>
              <a:buClrTx/>
              <a:buSzPct val="100000"/>
              <a:buNone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红外吸收光谱</a:t>
            </a:r>
            <a:r>
              <a:rPr lang="en-US" altLang="zh-CN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(IR)</a:t>
            </a:r>
            <a:r>
              <a:rPr lang="zh-CN" altLang="en-US" sz="1800" dirty="0">
                <a:solidFill>
                  <a:srgbClr val="6699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ct val="125000"/>
              </a:lnSpc>
              <a:spcBef>
                <a:spcPct val="50000"/>
              </a:spcBef>
              <a:buClrTx/>
              <a:buSzPct val="100000"/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拉曼光谱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(IR, Raman </a:t>
            </a:r>
            <a:r>
              <a:rPr 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ct val="125000"/>
              </a:lnSpc>
              <a:spcBef>
                <a:spcPct val="50000"/>
              </a:spcBef>
              <a:buClrTx/>
              <a:buSzPct val="100000"/>
              <a:buNone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质谱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(MS)</a:t>
            </a:r>
          </a:p>
          <a:p>
            <a:pPr marL="0" indent="0" eaLnBrk="1" hangingPunct="1">
              <a:lnSpc>
                <a:spcPct val="125000"/>
              </a:lnSpc>
              <a:spcBef>
                <a:spcPct val="50000"/>
              </a:spcBef>
              <a:buClrTx/>
              <a:buSzPct val="100000"/>
              <a:buNone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核磁共振波谱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(NMR)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ct val="125000"/>
              </a:lnSpc>
              <a:spcBef>
                <a:spcPct val="50000"/>
              </a:spcBef>
              <a:buClrTx/>
              <a:buSzPct val="100000"/>
              <a:buNone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有机</a:t>
            </a:r>
            <a:r>
              <a:rPr lang="zh-CN" altLang="en-US" sz="1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波谱综合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解析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    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3627" y="1090727"/>
            <a:ext cx="118813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7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吗 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70843" y="12984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4860" y="705281"/>
            <a:ext cx="2102513" cy="1255639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2726925" y="2126669"/>
            <a:ext cx="417841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17-</a:t>
            </a:r>
            <a:r>
              <a:rPr lang="zh-CN" alt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甲基</a:t>
            </a:r>
            <a:r>
              <a:rPr lang="en-US" altLang="zh-CN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-4</a:t>
            </a:r>
            <a:r>
              <a:rPr lang="zh-CN" alt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5α-</a:t>
            </a:r>
            <a:r>
              <a:rPr lang="zh-CN" alt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环氧</a:t>
            </a:r>
            <a:r>
              <a:rPr lang="en-US" altLang="zh-CN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-7</a:t>
            </a:r>
            <a:r>
              <a:rPr lang="zh-CN" alt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8-</a:t>
            </a:r>
            <a:r>
              <a:rPr lang="zh-CN" alt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二脱氢吗啡喃</a:t>
            </a:r>
            <a:r>
              <a:rPr lang="en-US" altLang="zh-CN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-3</a:t>
            </a:r>
            <a:r>
              <a:rPr lang="zh-CN" alt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6α-</a:t>
            </a:r>
            <a:r>
              <a:rPr lang="zh-CN" alt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二醇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8932" y="2463741"/>
            <a:ext cx="448249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1806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年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首次从鸦片提取分离得到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1847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年     推定出分子式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1926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年     推测出结构式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1952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年     完成全合成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671142" y="2687149"/>
            <a:ext cx="2089208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7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强效镇痛药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2122087" y="3597869"/>
            <a:ext cx="300228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700" b="1" dirty="0">
                <a:latin typeface="华文隶书" panose="02010800040101010101" charset="-122"/>
                <a:ea typeface="华文隶书" panose="02010800040101010101" charset="-122"/>
              </a:rPr>
              <a:t>漫长的一个多世纪</a:t>
            </a:r>
            <a:r>
              <a:rPr lang="zh-CN" altLang="en-US" sz="2400" b="1" dirty="0">
                <a:latin typeface="华文隶书" panose="02010800040101010101" charset="-122"/>
                <a:ea typeface="华文隶书" panose="02010800040101010101" charset="-122"/>
              </a:rPr>
              <a:t>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84705" y="675223"/>
            <a:ext cx="664792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700" b="1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传统的化学分析方法</a:t>
            </a:r>
            <a:endParaRPr lang="zh-CN" altLang="en-US" sz="27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/>
              <a:t>     </a:t>
            </a:r>
            <a:r>
              <a:rPr lang="zh-CN" altLang="en-US" dirty="0" smtClean="0"/>
              <a:t>    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566266" y="3581987"/>
            <a:ext cx="610028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缺点：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周期长，实验操作相当复杂，样品用量很大，无法测定某些化合物的精细结构</a:t>
            </a:r>
          </a:p>
        </p:txBody>
      </p:sp>
      <p:sp>
        <p:nvSpPr>
          <p:cNvPr id="5" name="矩形 4"/>
          <p:cNvSpPr/>
          <p:nvPr/>
        </p:nvSpPr>
        <p:spPr>
          <a:xfrm>
            <a:off x="566265" y="1194602"/>
            <a:ext cx="5995087" cy="263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sz="21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取代和降解</a:t>
            </a:r>
            <a:endParaRPr lang="en-US" altLang="zh-CN" sz="21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/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/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取代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------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用已知基团取代分子中某些原子或基团，通过产物分析结构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/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例：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</a:t>
            </a:r>
            <a:r>
              <a:rPr lang="en-US" altLang="zh-CN" baseline="-25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CH</a:t>
            </a:r>
            <a:r>
              <a:rPr lang="en-US" altLang="zh-CN" baseline="-25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      CH</a:t>
            </a:r>
            <a:r>
              <a:rPr lang="en-US" altLang="zh-CN" baseline="-25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</a:t>
            </a:r>
            <a:r>
              <a:rPr lang="en-US" altLang="zh-CN" baseline="-25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CHCl</a:t>
            </a:r>
            <a:r>
              <a:rPr lang="en-US" altLang="zh-CN" baseline="-25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CCl</a:t>
            </a:r>
            <a:r>
              <a:rPr lang="en-US" altLang="zh-CN" baseline="-25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</a:p>
          <a:p>
            <a:pPr lvl="0"/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/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降解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------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将分子分解成碎片，从碎片分析结构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/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例：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CaCO</a:t>
            </a:r>
            <a:r>
              <a:rPr lang="en-US" altLang="zh-CN" baseline="-25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CO</a:t>
            </a:r>
            <a:r>
              <a:rPr lang="en-US" altLang="zh-CN" baseline="-25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+</a:t>
            </a:r>
            <a:r>
              <a:rPr lang="en-US" altLang="zh-CN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CaO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/>
            <a:r>
              <a:rPr lang="zh-CN" altLang="en-US" dirty="0" smtClean="0">
                <a:solidFill>
                  <a:srgbClr val="000000"/>
                </a:solidFill>
              </a:rPr>
              <a:t>        </a:t>
            </a:r>
            <a:endParaRPr lang="zh-CN" altLang="en-US" dirty="0">
              <a:solidFill>
                <a:srgbClr val="000000"/>
              </a:solidFill>
            </a:endParaRPr>
          </a:p>
        </p:txBody>
      </p:sp>
      <p:sp>
        <p:nvSpPr>
          <p:cNvPr id="7" name="右箭头 6"/>
          <p:cNvSpPr/>
          <p:nvPr/>
        </p:nvSpPr>
        <p:spPr>
          <a:xfrm>
            <a:off x="1535016" y="2396028"/>
            <a:ext cx="324036" cy="136303"/>
          </a:xfrm>
          <a:prstGeom prst="right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右箭头 8"/>
          <p:cNvSpPr/>
          <p:nvPr/>
        </p:nvSpPr>
        <p:spPr>
          <a:xfrm>
            <a:off x="2618910" y="2420026"/>
            <a:ext cx="324036" cy="136303"/>
          </a:xfrm>
          <a:prstGeom prst="right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右箭头 9"/>
          <p:cNvSpPr/>
          <p:nvPr/>
        </p:nvSpPr>
        <p:spPr>
          <a:xfrm>
            <a:off x="3705628" y="2396028"/>
            <a:ext cx="324036" cy="136303"/>
          </a:xfrm>
          <a:prstGeom prst="right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右箭头 10"/>
          <p:cNvSpPr/>
          <p:nvPr/>
        </p:nvSpPr>
        <p:spPr>
          <a:xfrm>
            <a:off x="4725144" y="2420025"/>
            <a:ext cx="324036" cy="136303"/>
          </a:xfrm>
          <a:prstGeom prst="right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右箭头 12"/>
          <p:cNvSpPr/>
          <p:nvPr/>
        </p:nvSpPr>
        <p:spPr>
          <a:xfrm>
            <a:off x="1859052" y="3273832"/>
            <a:ext cx="324036" cy="136303"/>
          </a:xfrm>
          <a:prstGeom prst="right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50658" y="789552"/>
            <a:ext cx="626469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700" b="1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谱学方法</a:t>
            </a:r>
          </a:p>
          <a:p>
            <a:r>
              <a:rPr lang="zh-CN" altLang="en-US" sz="2400" b="1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dirty="0">
                <a:sym typeface="+mn-ea"/>
              </a:rPr>
              <a:t>      </a:t>
            </a:r>
          </a:p>
          <a:p>
            <a:pPr marL="257168" indent="-257168">
              <a:buFont typeface="Wingdings" panose="05000000000000000000" charset="0"/>
              <a:buChar char="u"/>
            </a:pPr>
            <a:r>
              <a:rPr lang="zh-CN" altLang="en-US" dirty="0">
                <a:sym typeface="+mn-ea"/>
              </a:rPr>
              <a:t> </a:t>
            </a:r>
            <a:r>
              <a:rPr lang="zh-CN" altLang="en-US" sz="2100" b="1" dirty="0">
                <a:sym typeface="+mn-ea"/>
              </a:rPr>
              <a:t> 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快速、灵敏、准确、重复性好、测试时只需要微量样品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57168" indent="-257168">
              <a:buFont typeface="Wingdings" panose="05000000000000000000" charset="0"/>
              <a:buChar char="u"/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57168" indent="-257168">
              <a:buFont typeface="Wingdings" panose="05000000000000000000" charset="0"/>
              <a:buChar char="u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有机化合物结构鉴定最普及、最可靠、最有效的手段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57168" indent="-257168">
              <a:buFont typeface="Wingdings" panose="05000000000000000000" charset="0"/>
              <a:buChar char="u"/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57168" indent="-257168">
              <a:buFont typeface="Wingdings" panose="05000000000000000000" charset="0"/>
              <a:buChar char="u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广泛应用于化学、药物化学、环境科学、材料学、生物化学等各个领域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/>
          </a:p>
          <a:p>
            <a:r>
              <a:rPr lang="zh-CN" altLang="en-US" dirty="0"/>
              <a:t>        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3"/>
          <p:cNvSpPr txBox="1"/>
          <p:nvPr/>
        </p:nvSpPr>
        <p:spPr>
          <a:xfrm>
            <a:off x="18245" y="1203301"/>
            <a:ext cx="6981825" cy="3096644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457189" indent="-457189" eaLnBrk="0" hangingPunct="0">
              <a:lnSpc>
                <a:spcPct val="17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b="1" dirty="0">
                <a:latin typeface="Tahoma" panose="020B0604030504040204" pitchFamily="34" charset="0"/>
                <a:ea typeface="楷体_GB2312" pitchFamily="49" charset="-122"/>
              </a:rPr>
              <a:t>     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UV</a:t>
            </a: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推测化合物有何种生色团，共轭体系类型和大小</a:t>
            </a: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；</a:t>
            </a:r>
          </a:p>
          <a:p>
            <a:pPr marL="457189" indent="-457189" eaLnBrk="0" hangingPunct="0">
              <a:lnSpc>
                <a:spcPct val="17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IR</a:t>
            </a: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提供官能团的信息； </a:t>
            </a:r>
          </a:p>
          <a:p>
            <a:pPr marL="457189" indent="-457189" eaLnBrk="0" hangingPunct="0">
              <a:lnSpc>
                <a:spcPct val="17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MS</a:t>
            </a: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确定化合物的相对分子质量、分子式等 ；</a:t>
            </a:r>
          </a:p>
          <a:p>
            <a:pPr marL="457189" indent="-457189" eaLnBrk="0" hangingPunct="0">
              <a:lnSpc>
                <a:spcPct val="17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</a:t>
            </a:r>
            <a:r>
              <a:rPr lang="en-US" altLang="zh-CN" b="1" baseline="30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H-NMR</a:t>
            </a: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提供氢原子数目、含氢官能团类型及连接顺序；</a:t>
            </a:r>
          </a:p>
          <a:p>
            <a:pPr marL="457189" indent="-457189" eaLnBrk="0" hangingPunct="0">
              <a:lnSpc>
                <a:spcPct val="17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</a:t>
            </a:r>
            <a:r>
              <a:rPr lang="en-US" altLang="zh-CN" b="1" baseline="30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13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C-NMR</a:t>
            </a: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提供碳原子数目、类型；</a:t>
            </a:r>
          </a:p>
          <a:p>
            <a:pPr marL="457189" indent="-457189" eaLnBrk="0" hangingPunct="0">
              <a:lnSpc>
                <a:spcPct val="17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2D-NMR：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提供结构单元的连接顺序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等信息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808820" y="764721"/>
            <a:ext cx="3570208" cy="4616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2400" b="1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各种谱学方法提供的信息</a:t>
            </a:r>
            <a:endParaRPr lang="zh-CN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2"/>
          <p:cNvSpPr txBox="1"/>
          <p:nvPr/>
        </p:nvSpPr>
        <p:spPr>
          <a:xfrm>
            <a:off x="566683" y="1356422"/>
            <a:ext cx="5616903" cy="2631490"/>
          </a:xfrm>
          <a:prstGeom prst="rect">
            <a:avLst/>
          </a:prstGeom>
          <a:noFill/>
          <a:ln w="76200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9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987425" indent="-2940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281430" indent="-2921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59893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 eaLnBrk="1" hangingPunct="1">
              <a:spcBef>
                <a:spcPct val="50000"/>
              </a:spcBef>
              <a:buClrTx/>
              <a:buSzPct val="100000"/>
              <a:buNone/>
            </a:pPr>
            <a:r>
              <a:rPr lang="zh-CN" altLang="en-US" sz="2700" b="1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课程定位</a:t>
            </a:r>
          </a:p>
          <a:p>
            <a:pPr marL="0" indent="0" eaLnBrk="1" hangingPunct="1">
              <a:lnSpc>
                <a:spcPct val="12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700" b="1" dirty="0">
                <a:solidFill>
                  <a:srgbClr val="FFCCCC"/>
                </a:solidFill>
                <a:latin typeface="Times New Roman" panose="02020603050405020304" pitchFamily="18" charset="0"/>
              </a:rPr>
              <a:t>     </a:t>
            </a: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有机化合物结构分析有关的谱学方法，包括</a:t>
            </a:r>
            <a:r>
              <a:rPr lang="zh-CN" altLang="en-US" sz="2100" b="1" u="sng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基本原理</a:t>
            </a:r>
            <a:r>
              <a:rPr lang="zh-CN" altLang="en-US" sz="2100" b="1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100" b="1" u="sng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各类化合物图谱特征</a:t>
            </a:r>
            <a:r>
              <a:rPr lang="zh-CN" altLang="en-US" sz="2100" b="1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100" b="1" u="sng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谱图解析和应用</a:t>
            </a: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，定位于本科生对于谱学方法</a:t>
            </a:r>
            <a:r>
              <a:rPr lang="zh-CN" altLang="en-US" sz="2100" b="1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全面</a:t>
            </a: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但又是</a:t>
            </a:r>
            <a:r>
              <a:rPr lang="zh-CN" altLang="en-US" sz="2100" b="1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一般</a:t>
            </a: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的了解。</a:t>
            </a:r>
          </a:p>
          <a:p>
            <a:pPr marL="0" indent="0" eaLnBrk="1" hangingPunct="1">
              <a:lnSpc>
                <a:spcPct val="120000"/>
              </a:lnSpc>
              <a:spcBef>
                <a:spcPct val="10000"/>
              </a:spcBef>
              <a:buClrTx/>
              <a:buSzPct val="100000"/>
              <a:buNone/>
            </a:pPr>
            <a:endParaRPr lang="zh-CN" altLang="en-US" sz="2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2"/>
          <p:cNvSpPr txBox="1"/>
          <p:nvPr/>
        </p:nvSpPr>
        <p:spPr>
          <a:xfrm>
            <a:off x="1052537" y="1815337"/>
            <a:ext cx="4457700" cy="461665"/>
          </a:xfrm>
          <a:prstGeom prst="rect">
            <a:avLst/>
          </a:prstGeom>
          <a:noFill/>
          <a:ln w="762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9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987425" indent="-2940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281430" indent="-2921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59893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 algn="ctr" eaLnBrk="1" hangingPunct="1">
              <a:spcBef>
                <a:spcPct val="50000"/>
              </a:spcBef>
              <a:buClrTx/>
              <a:buSzPct val="100000"/>
              <a:buNone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波谱解析法</a:t>
            </a:r>
          </a:p>
        </p:txBody>
      </p:sp>
      <p:sp>
        <p:nvSpPr>
          <p:cNvPr id="7171" name="Text Box 3"/>
          <p:cNvSpPr txBox="1"/>
          <p:nvPr/>
        </p:nvSpPr>
        <p:spPr>
          <a:xfrm>
            <a:off x="1624037" y="2527725"/>
            <a:ext cx="3314700" cy="369332"/>
          </a:xfrm>
          <a:prstGeom prst="rect">
            <a:avLst/>
          </a:prstGeom>
          <a:noFill/>
          <a:ln w="762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9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987425" indent="-2940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281430" indent="-2921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59893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 algn="ctr" eaLnBrk="1" hangingPunct="1">
              <a:spcBef>
                <a:spcPct val="50000"/>
              </a:spcBef>
              <a:buClrTx/>
              <a:buSzPct val="100000"/>
              <a:buNone/>
            </a:pPr>
            <a:r>
              <a:rPr lang="zh-CN" altLang="en-US" sz="1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潘铁英等主编</a:t>
            </a:r>
          </a:p>
        </p:txBody>
      </p:sp>
      <p:sp>
        <p:nvSpPr>
          <p:cNvPr id="7172" name="Text Box 4"/>
          <p:cNvSpPr txBox="1"/>
          <p:nvPr/>
        </p:nvSpPr>
        <p:spPr>
          <a:xfrm>
            <a:off x="1729976" y="3398503"/>
            <a:ext cx="3200400" cy="369332"/>
          </a:xfrm>
          <a:prstGeom prst="rect">
            <a:avLst/>
          </a:prstGeom>
          <a:noFill/>
          <a:ln w="762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9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987425" indent="-2940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281430" indent="-2921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59893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 algn="ctr" eaLnBrk="1" hangingPunct="1">
              <a:spcBef>
                <a:spcPct val="50000"/>
              </a:spcBef>
              <a:buClrTx/>
              <a:buSzPct val="100000"/>
              <a:buNone/>
            </a:pPr>
            <a:r>
              <a:rPr lang="zh-CN" altLang="en-US" sz="1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华东理工大学出版社</a:t>
            </a:r>
          </a:p>
        </p:txBody>
      </p:sp>
      <p:sp>
        <p:nvSpPr>
          <p:cNvPr id="2" name="矩形 1"/>
          <p:cNvSpPr/>
          <p:nvPr/>
        </p:nvSpPr>
        <p:spPr>
          <a:xfrm>
            <a:off x="512677" y="1134334"/>
            <a:ext cx="877163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zh-CN" altLang="en-US" sz="2700" b="1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教材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94" name="Object 4"/>
          <p:cNvGraphicFramePr>
            <a:graphicFrameLocks noChangeAspect="1"/>
          </p:cNvGraphicFramePr>
          <p:nvPr/>
        </p:nvGraphicFramePr>
        <p:xfrm>
          <a:off x="4832751" y="3814763"/>
          <a:ext cx="1119188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5" r:id="rId4" imgW="629920" imgH="643890" progId="MS_ClipArt_Gallery.2">
                  <p:embed/>
                </p:oleObj>
              </mc:Choice>
              <mc:Fallback>
                <p:oleObj r:id="rId4" imgW="629920" imgH="643890" progId="MS_ClipArt_Gallery.2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832751" y="3814763"/>
                        <a:ext cx="1119188" cy="685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6" name="Text Box 7"/>
          <p:cNvSpPr txBox="1"/>
          <p:nvPr/>
        </p:nvSpPr>
        <p:spPr>
          <a:xfrm>
            <a:off x="365574" y="2571751"/>
            <a:ext cx="6093335" cy="784830"/>
          </a:xfrm>
          <a:prstGeom prst="rect">
            <a:avLst/>
          </a:prstGeom>
          <a:noFill/>
          <a:ln w="762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9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987425" indent="-2940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281430" indent="-2921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59893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 eaLnBrk="1" hangingPunct="1">
              <a:spcBef>
                <a:spcPct val="50000"/>
              </a:spcBef>
              <a:buClrTx/>
              <a:buSzPct val="100000"/>
              <a:buNone/>
            </a:pPr>
            <a:r>
              <a:rPr lang="en-US" altLang="zh-CN" sz="1800" b="1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《</a:t>
            </a:r>
            <a:r>
              <a:rPr lang="zh-CN" altLang="en-US" sz="1800" b="1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有机化合物的波谱解析 </a:t>
            </a:r>
            <a:r>
              <a:rPr lang="en-US" altLang="zh-CN" sz="1800" b="1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》</a:t>
            </a:r>
          </a:p>
          <a:p>
            <a:pPr marL="0" indent="0" eaLnBrk="1" hangingPunct="1">
              <a:spcBef>
                <a:spcPct val="50000"/>
              </a:spcBef>
              <a:buClrTx/>
              <a:buSzPct val="100000"/>
              <a:buNone/>
            </a:pP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药明康德新药开发有限公司分析部译 华东理工大学出版社</a:t>
            </a:r>
          </a:p>
        </p:txBody>
      </p:sp>
      <p:sp>
        <p:nvSpPr>
          <p:cNvPr id="8197" name="Text Box 8"/>
          <p:cNvSpPr txBox="1"/>
          <p:nvPr/>
        </p:nvSpPr>
        <p:spPr>
          <a:xfrm>
            <a:off x="365575" y="1795853"/>
            <a:ext cx="5832872" cy="646331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9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987425" indent="-2940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281430" indent="-2921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59893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 eaLnBrk="1" hangingPunct="1">
              <a:spcBef>
                <a:spcPct val="0"/>
              </a:spcBef>
              <a:buClrTx/>
              <a:buSzPct val="100000"/>
              <a:buNone/>
            </a:pPr>
            <a:r>
              <a:rPr lang="en-US" altLang="zh-CN" sz="1800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1800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有机化合物结构鉴定与有机波谱学</a:t>
            </a:r>
            <a:r>
              <a:rPr lang="en-US" altLang="zh-CN" sz="1800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</a:p>
          <a:p>
            <a:pPr marL="0" indent="0" eaLnBrk="1" hangingPunct="1">
              <a:spcBef>
                <a:spcPct val="0"/>
              </a:spcBef>
              <a:buClrTx/>
              <a:buSzPct val="100000"/>
              <a:buNone/>
            </a:pPr>
            <a:r>
              <a:rPr lang="en-US" altLang="zh-CN" sz="1800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宁永成编著   科学出版社</a:t>
            </a:r>
            <a:endParaRPr lang="en-US" altLang="zh-CN" sz="1800" dirty="0">
              <a:solidFill>
                <a:srgbClr val="99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50661" y="931951"/>
            <a:ext cx="1569660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zh-CN" altLang="en-US" sz="2700" b="1" dirty="0" smtClean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参考书目</a:t>
            </a:r>
            <a:endParaRPr lang="zh-CN" altLang="en-US" sz="2700" b="1" dirty="0">
              <a:solidFill>
                <a:srgbClr val="A5002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0688" y="2193709"/>
            <a:ext cx="6156684" cy="891099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925" b="1" dirty="0">
                <a:latin typeface="+mj-lt"/>
                <a:ea typeface="+mj-ea"/>
                <a:cs typeface="+mj-cs"/>
              </a:rPr>
              <a:t>     </a:t>
            </a:r>
            <a:r>
              <a:rPr lang="zh-CN" altLang="en-US" sz="2100" b="1" dirty="0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在掌握各位谱学方法基本原理的基础上，</a:t>
            </a:r>
            <a:r>
              <a:rPr lang="zh-CN" altLang="en-US" sz="2100" b="1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多读谱，多练习</a:t>
            </a:r>
          </a:p>
        </p:txBody>
      </p:sp>
      <p:sp>
        <p:nvSpPr>
          <p:cNvPr id="5" name="矩形 4"/>
          <p:cNvSpPr/>
          <p:nvPr/>
        </p:nvSpPr>
        <p:spPr>
          <a:xfrm>
            <a:off x="350660" y="1174837"/>
            <a:ext cx="5032147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0" hangingPunct="0">
              <a:spcBef>
                <a:spcPct val="20000"/>
              </a:spcBef>
              <a:buClr>
                <a:srgbClr val="330066"/>
              </a:buClr>
              <a:buSzPct val="70000"/>
            </a:pPr>
            <a:r>
              <a:rPr lang="zh-CN" altLang="en-US" sz="270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如何培养和提高识谱、解谱能力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/>
          <p:nvPr/>
        </p:nvSpPr>
        <p:spPr>
          <a:xfrm>
            <a:off x="1467204" y="2826714"/>
            <a:ext cx="5202156" cy="404516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9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987425" indent="-2940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281430" indent="-2921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59893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 eaLnBrk="1" hangingPunct="1">
              <a:spcBef>
                <a:spcPct val="0"/>
              </a:spcBef>
              <a:buClrTx/>
              <a:buSzPct val="100000"/>
              <a:buNone/>
            </a:pPr>
            <a:r>
              <a:rPr lang="zh-CN" altLang="en-US" sz="1800" b="1" dirty="0">
                <a:solidFill>
                  <a:srgbClr val="C00000"/>
                </a:solidFill>
                <a:latin typeface="+mn-ea"/>
              </a:rPr>
              <a:t> 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平时：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考勤、作业、期中测验、课堂练习等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19" name="矩形 4"/>
          <p:cNvSpPr/>
          <p:nvPr/>
        </p:nvSpPr>
        <p:spPr>
          <a:xfrm>
            <a:off x="1509713" y="2322584"/>
            <a:ext cx="1467068" cy="40011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9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987425" indent="-2940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281430" indent="-2921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59893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 eaLnBrk="1" hangingPunct="1">
              <a:spcBef>
                <a:spcPct val="0"/>
              </a:spcBef>
              <a:buClrTx/>
              <a:buSzPct val="100000"/>
              <a:buNone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考试：</a:t>
            </a:r>
            <a:r>
              <a:rPr lang="zh-CN" altLang="en-US" sz="2000" b="1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闭卷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左大括号 6"/>
          <p:cNvSpPr/>
          <p:nvPr/>
        </p:nvSpPr>
        <p:spPr bwMode="auto">
          <a:xfrm>
            <a:off x="1448991" y="2618674"/>
            <a:ext cx="121444" cy="445592"/>
          </a:xfrm>
          <a:prstGeom prst="leftBrace">
            <a:avLst>
              <a:gd name="adj1" fmla="val 59314"/>
              <a:gd name="adj2" fmla="val 50000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wrap="none" lIns="50625" tIns="26325" rIns="50625" bIns="26325" anchor="ctr"/>
          <a:lstStyle/>
          <a:p>
            <a:pPr defTabSz="514350">
              <a:defRPr/>
            </a:pPr>
            <a:endParaRPr lang="zh-CN" altLang="en-US" sz="1013" dirty="0">
              <a:solidFill>
                <a:srgbClr val="FF0000"/>
              </a:solidFill>
              <a:ea typeface="华文细黑" panose="02010600040101010101" pitchFamily="2" charset="-122"/>
            </a:endParaRPr>
          </a:p>
        </p:txBody>
      </p:sp>
      <p:sp>
        <p:nvSpPr>
          <p:cNvPr id="9221" name="Rectangle 3"/>
          <p:cNvSpPr/>
          <p:nvPr/>
        </p:nvSpPr>
        <p:spPr>
          <a:xfrm>
            <a:off x="1052736" y="1347614"/>
            <a:ext cx="6768751" cy="46628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9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987425" indent="-2940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281430" indent="-2921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59893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 eaLnBrk="1" hangingPunct="1">
              <a:lnSpc>
                <a:spcPct val="110000"/>
              </a:lnSpc>
              <a:spcBef>
                <a:spcPct val="50000"/>
              </a:spcBef>
              <a:buClrTx/>
              <a:buSzPct val="100000"/>
              <a:buNone/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课程评分标准：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考试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70%+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平时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30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%</a:t>
            </a:r>
            <a:endParaRPr lang="zh-CN" altLang="en-US" sz="24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7532644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主题1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1155</TotalTime>
  <Words>485</Words>
  <Application>Microsoft Office PowerPoint</Application>
  <PresentationFormat>自定义</PresentationFormat>
  <Paragraphs>67</Paragraphs>
  <Slides>12</Slides>
  <Notes>11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9" baseType="lpstr">
      <vt:lpstr>等线</vt:lpstr>
      <vt:lpstr>等线 Light</vt:lpstr>
      <vt:lpstr>黑体</vt:lpstr>
      <vt:lpstr>华文隶书</vt:lpstr>
      <vt:lpstr>华文细黑</vt:lpstr>
      <vt:lpstr>楷体_GB2312</vt:lpstr>
      <vt:lpstr>宋体</vt:lpstr>
      <vt:lpstr>微软雅黑</vt:lpstr>
      <vt:lpstr>Arial</vt:lpstr>
      <vt:lpstr>Arial Black</vt:lpstr>
      <vt:lpstr>Calibri</vt:lpstr>
      <vt:lpstr>Calibri Light</vt:lpstr>
      <vt:lpstr>Tahoma</vt:lpstr>
      <vt:lpstr>Times New Roman</vt:lpstr>
      <vt:lpstr>Wingdings</vt:lpstr>
      <vt:lpstr>主题1</vt:lpstr>
      <vt:lpstr>MS_ClipArt_Gallery.2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sss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LeeHome</dc:creator>
  <cp:lastModifiedBy>Windows 用户</cp:lastModifiedBy>
  <cp:revision>151</cp:revision>
  <dcterms:created xsi:type="dcterms:W3CDTF">2011-01-20T15:27:00Z</dcterms:created>
  <dcterms:modified xsi:type="dcterms:W3CDTF">2022-10-17T02:04:09Z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2052-11.1.0.8976</vt:lpwstr>
  </property>
</Properties>
</file>