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3"/>
  </p:notesMasterIdLst>
  <p:sldIdLst>
    <p:sldId id="333" r:id="rId3"/>
    <p:sldId id="334" r:id="rId4"/>
    <p:sldId id="307" r:id="rId5"/>
    <p:sldId id="308" r:id="rId6"/>
    <p:sldId id="310" r:id="rId7"/>
    <p:sldId id="311" r:id="rId8"/>
    <p:sldId id="312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335" r:id="rId17"/>
    <p:sldId id="322" r:id="rId18"/>
    <p:sldId id="324" r:id="rId19"/>
    <p:sldId id="325" r:id="rId20"/>
    <p:sldId id="327" r:id="rId21"/>
    <p:sldId id="328" r:id="rId22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12" autoAdjust="0"/>
    <p:restoredTop sz="74265" autoAdjust="0"/>
  </p:normalViewPr>
  <p:slideViewPr>
    <p:cSldViewPr>
      <p:cViewPr varScale="1">
        <p:scale>
          <a:sx n="71" d="100"/>
          <a:sy n="71" d="100"/>
        </p:scale>
        <p:origin x="1608" y="6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ADF724-74A1-4033-9A27-1B1B1AFF474A}" type="datetimeFigureOut">
              <a:rPr lang="zh-CN" altLang="en-US" smtClean="0"/>
              <a:t>2020/12/8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0D20E2-0712-49D3-94A0-13E1910CF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7540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59395" name="文本占位符 2"/>
          <p:cNvSpPr>
            <a:spLocks noGrp="1"/>
          </p:cNvSpPr>
          <p:nvPr>
            <p:ph type="body"/>
          </p:nvPr>
        </p:nvSpPr>
        <p:spPr/>
        <p:txBody>
          <a:bodyPr wrap="square" lIns="94348" tIns="47174" rIns="94348" bIns="47174" anchor="t"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0066"/>
              </a:buClr>
              <a:buSzPct val="75000"/>
              <a:buFont typeface="Wingdings" panose="05000000000000000000" charset="0"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0D20E2-0712-49D3-94A0-13E1910CF589}" type="slidenum">
              <a:rPr lang="zh-CN" altLang="en-US" smtClean="0">
                <a:solidFill>
                  <a:prstClr val="black"/>
                </a:solidFill>
              </a:rPr>
              <a:t>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0D20E2-0712-49D3-94A0-13E1910CF589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US" altLang="zh-CN" b="0" dirty="0" smtClean="0"/>
          </a:p>
        </p:txBody>
      </p:sp>
      <p:sp>
        <p:nvSpPr>
          <p:cNvPr id="890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fld id="{3114A7DC-9CE3-43E5-89E9-EA27889EF0A3}" type="slidenum">
              <a:rPr lang="zh-CN" altLang="en-US" sz="1200"/>
              <a:t>4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0D20E2-0712-49D3-94A0-13E1910CF589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b="0" dirty="0" smtClean="0"/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fld id="{85540235-80B2-47D1-ABD3-720874E3B50A}" type="slidenum">
              <a:rPr lang="zh-CN" altLang="en-US" sz="1200"/>
              <a:t>6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0D20E2-0712-49D3-94A0-13E1910CF589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0" lang="zh-CN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0D20E2-0712-49D3-94A0-13E1910CF589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0D20E2-0712-49D3-94A0-13E1910CF589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b="0" dirty="0" smtClean="0"/>
          </a:p>
        </p:txBody>
      </p:sp>
      <p:sp>
        <p:nvSpPr>
          <p:cNvPr id="9830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fld id="{F0166D08-70D6-4957-A403-3A9268D9A09F}" type="slidenum">
              <a:rPr lang="zh-CN" altLang="en-US" sz="1200"/>
              <a:t>10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b="0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b="0" dirty="0" smtClean="0"/>
          </a:p>
        </p:txBody>
      </p:sp>
      <p:sp>
        <p:nvSpPr>
          <p:cNvPr id="10240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fld id="{1EE3B206-14D8-444E-AE02-923B5BF4D64E}" type="slidenum">
              <a:rPr lang="zh-CN" altLang="en-US" sz="1200"/>
              <a:t>13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0D20E2-0712-49D3-94A0-13E1910CF589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b="0" dirty="0">
              <a:solidFill>
                <a:prstClr val="black"/>
              </a:solidFill>
              <a:latin typeface="Times New Roman" panose="02020603050405020304" pitchFamily="18" charset="0"/>
              <a:ea typeface="楷体_GB2312" pitchFamily="49" charset="-122"/>
              <a:sym typeface="+mn-ea"/>
            </a:endParaRPr>
          </a:p>
        </p:txBody>
      </p:sp>
      <p:sp>
        <p:nvSpPr>
          <p:cNvPr id="1126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fld id="{D4F2AFBA-8B34-4242-A333-7C6E98552ED6}" type="slidenum">
              <a:rPr lang="zh-CN" altLang="en-US" sz="1200"/>
              <a:t>19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0D20E2-0712-49D3-94A0-13E1910CF589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109D65-BA14-4B3E-A743-C3C96287718C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47B641-2F9E-4CA3-B5FD-34FB285D17A3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B4A742-F11C-426A-BD04-3370D3B87EB1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41CE17-179F-4E02-B1FB-DB36007272F0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319837-60C4-4330-93A8-E0EDF8ADD694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4A97A6-B05B-474F-B131-D8800E6DEA9A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5D42C1-5DDB-4575-9C80-BD2D11086A99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8BA6F7-D49F-4FFA-9394-14CD5170E98B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4B75B-DEBA-414A-996D-198E07769608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ACAEB8-330B-4993-99EF-7443D24F0B77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5CF940-2A2B-4E9D-AD7E-CF2D65BBBDB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85900"/>
            <a:ext cx="3810000" cy="1485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086100"/>
            <a:ext cx="3810000" cy="1485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b="1">
              <a:solidFill>
                <a:prstClr val="black">
                  <a:tint val="75000"/>
                </a:prstClr>
              </a:solidFill>
              <a:ea typeface="楷体_GB2312" pitchFamily="49" charset="-122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b="1">
              <a:solidFill>
                <a:prstClr val="black">
                  <a:tint val="75000"/>
                </a:prstClr>
              </a:solidFill>
              <a:ea typeface="楷体_GB2312" pitchFamily="49" charset="-122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3988371A-EBCC-4FEC-BE25-087DFB62CF7F}" type="slidenum">
              <a:rPr kumimoji="1" lang="en-US" altLang="zh-CN" b="1" smtClean="0">
                <a:ea typeface="楷体_GB2312" pitchFamily="49" charset="-122"/>
              </a:rPr>
              <a:t>‹#›</a:t>
            </a:fld>
            <a:endParaRPr kumimoji="1" lang="en-US" altLang="zh-CN" b="1">
              <a:ea typeface="楷体_GB2312" pitchFamily="49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2"/>
          <p:cNvSpPr/>
          <p:nvPr/>
        </p:nvSpPr>
        <p:spPr>
          <a:xfrm>
            <a:off x="7315200" y="800100"/>
            <a:ext cx="0" cy="33718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051" name="Group 8"/>
          <p:cNvGrpSpPr/>
          <p:nvPr/>
        </p:nvGrpSpPr>
        <p:grpSpPr>
          <a:xfrm>
            <a:off x="7493001" y="2244328"/>
            <a:ext cx="1338263" cy="1641872"/>
            <a:chOff x="4704" y="1885"/>
            <a:chExt cx="843" cy="1379"/>
          </a:xfrm>
        </p:grpSpPr>
        <p:sp>
          <p:nvSpPr>
            <p:cNvPr id="42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43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44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45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46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47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48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49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50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51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52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53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54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55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56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57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58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59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60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61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62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63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64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65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66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67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68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69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70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71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72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</p:grpSp>
      <p:sp>
        <p:nvSpPr>
          <p:cNvPr id="2052" name="Line 40"/>
          <p:cNvSpPr/>
          <p:nvPr/>
        </p:nvSpPr>
        <p:spPr>
          <a:xfrm>
            <a:off x="304800" y="2114550"/>
            <a:ext cx="8229600" cy="0"/>
          </a:xfrm>
          <a:prstGeom prst="line">
            <a:avLst/>
          </a:prstGeom>
          <a:ln w="63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64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350044"/>
            <a:ext cx="6781800" cy="16002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14643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2287191"/>
            <a:ext cx="6248400" cy="177165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74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6300"/>
            <a:ext cx="2133600" cy="342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>
              <a:defRPr/>
            </a:pPr>
            <a:fld id="{EE2FC947-A34A-4949-817D-66018DA17E7C}" type="datetime10">
              <a:rPr lang="zh-CN" altLang="en-US">
                <a:solidFill>
                  <a:srgbClr val="000000"/>
                </a:solidFill>
              </a:rPr>
              <a:t>21:40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5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6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6300"/>
            <a:ext cx="2133600" cy="342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ED5795-ABC6-4AFE-A17B-DB737F69BD2D}" type="datetime10">
              <a:rPr lang="zh-CN" altLang="en-US">
                <a:solidFill>
                  <a:srgbClr val="000000"/>
                </a:solidFill>
              </a:rPr>
              <a:t>21:40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ED5795-ABC6-4AFE-A17B-DB737F69BD2D}" type="datetime10">
              <a:rPr lang="zh-CN" altLang="en-US">
                <a:solidFill>
                  <a:srgbClr val="000000"/>
                </a:solidFill>
              </a:rPr>
              <a:t>21:40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89447"/>
            <a:ext cx="4038600" cy="33087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89447"/>
            <a:ext cx="4038600" cy="33087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ED5795-ABC6-4AFE-A17B-DB737F69BD2D}" type="datetime10">
              <a:rPr lang="zh-CN" altLang="en-US">
                <a:solidFill>
                  <a:srgbClr val="000000"/>
                </a:solidFill>
              </a:rPr>
              <a:t>21:40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ED5795-ABC6-4AFE-A17B-DB737F69BD2D}" type="datetime10">
              <a:rPr lang="zh-CN" altLang="en-US">
                <a:solidFill>
                  <a:srgbClr val="000000"/>
                </a:solidFill>
              </a:rPr>
              <a:t>21:40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ED5795-ABC6-4AFE-A17B-DB737F69BD2D}" type="datetime10">
              <a:rPr lang="zh-CN" altLang="en-US">
                <a:solidFill>
                  <a:srgbClr val="000000"/>
                </a:solidFill>
              </a:rPr>
              <a:t>21:40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ED5795-ABC6-4AFE-A17B-DB737F69BD2D}" type="datetime10">
              <a:rPr lang="zh-CN" altLang="en-US">
                <a:solidFill>
                  <a:srgbClr val="000000"/>
                </a:solidFill>
              </a:rPr>
              <a:t>21:40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ED5795-ABC6-4AFE-A17B-DB737F69BD2D}" type="datetime10">
              <a:rPr lang="zh-CN" altLang="en-US">
                <a:solidFill>
                  <a:srgbClr val="000000"/>
                </a:solidFill>
              </a:rPr>
              <a:t>21:40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ED5795-ABC6-4AFE-A17B-DB737F69BD2D}" type="datetime10">
              <a:rPr lang="zh-CN" altLang="en-US">
                <a:solidFill>
                  <a:srgbClr val="000000"/>
                </a:solidFill>
              </a:rPr>
              <a:t>21:40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ED5795-ABC6-4AFE-A17B-DB737F69BD2D}" type="datetime10">
              <a:rPr lang="zh-CN" altLang="en-US">
                <a:solidFill>
                  <a:srgbClr val="000000"/>
                </a:solidFill>
              </a:rPr>
              <a:t>21:40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91679"/>
            <a:ext cx="2057400" cy="4506515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91679"/>
            <a:ext cx="6019800" cy="4506515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ED5795-ABC6-4AFE-A17B-DB737F69BD2D}" type="datetime10">
              <a:rPr lang="zh-CN" altLang="en-US">
                <a:solidFill>
                  <a:srgbClr val="000000"/>
                </a:solidFill>
              </a:rPr>
              <a:t>21:40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91679"/>
            <a:ext cx="7543800" cy="97155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89447"/>
            <a:ext cx="4038600" cy="3308747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89447"/>
            <a:ext cx="4038600" cy="3308747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ED5795-ABC6-4AFE-A17B-DB737F69BD2D}" type="datetime10">
              <a:rPr lang="zh-CN" altLang="en-US">
                <a:solidFill>
                  <a:srgbClr val="000000"/>
                </a:solidFill>
              </a:rPr>
              <a:t>21:40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85900"/>
            <a:ext cx="3810000" cy="14859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086100"/>
            <a:ext cx="3810000" cy="14859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0" name="Rectangle 4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457200" y="4686300"/>
            <a:ext cx="2133600" cy="342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1" name="Rectangle 5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6300"/>
            <a:ext cx="2133600" cy="342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楷体_GB2312" pitchFamily="49" charset="-122"/>
                <a:cs typeface="+mn-cs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b="1">
              <a:solidFill>
                <a:prstClr val="black">
                  <a:tint val="75000"/>
                </a:prstClr>
              </a:solidFill>
              <a:ea typeface="楷体_GB2312" pitchFamily="49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楷体_GB2312" pitchFamily="49" charset="-122"/>
                <a:cs typeface="+mn-cs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b="1">
              <a:solidFill>
                <a:prstClr val="black">
                  <a:tint val="75000"/>
                </a:prstClr>
              </a:solidFill>
              <a:ea typeface="楷体_GB2312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dirty="0">
                <a:solidFill>
                  <a:srgbClr val="898989"/>
                </a:solidFill>
                <a:ea typeface="楷体_GB2312" pitchFamily="49" charset="-122"/>
                <a:cs typeface="+mn-cs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3988371A-EBCC-4FEC-BE25-087DFB62CF7F}" type="slidenum">
              <a:rPr kumimoji="1" lang="en-US" altLang="zh-CN" b="1" smtClean="0">
                <a:ea typeface="楷体_GB2312" pitchFamily="49" charset="-122"/>
              </a:rPr>
              <a:t>‹#›</a:t>
            </a:fld>
            <a:endParaRPr kumimoji="1" lang="en-US" altLang="zh-CN" b="1">
              <a:ea typeface="楷体_GB2312" pitchFamily="49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/>
          <p:nvPr/>
        </p:nvSpPr>
        <p:spPr>
          <a:xfrm>
            <a:off x="7962900" y="114300"/>
            <a:ext cx="0" cy="1143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91679"/>
            <a:ext cx="7543800" cy="97155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/>
          </p:nvPr>
        </p:nvSpPr>
        <p:spPr>
          <a:xfrm>
            <a:off x="457200" y="1289447"/>
            <a:ext cx="8229600" cy="330874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4541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6300"/>
            <a:ext cx="21336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000"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BED5795-ABC6-4AFE-A17B-DB737F69BD2D}" type="datetime10">
              <a:rPr lang="zh-CN" altLang="en-US">
                <a:solidFill>
                  <a:srgbClr val="000000"/>
                </a:solidFill>
              </a:rPr>
              <a:t>21:40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454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454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6300"/>
            <a:ext cx="21336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  <p:grpSp>
        <p:nvGrpSpPr>
          <p:cNvPr id="1032" name="Group 8"/>
          <p:cNvGrpSpPr/>
          <p:nvPr/>
        </p:nvGrpSpPr>
        <p:grpSpPr>
          <a:xfrm>
            <a:off x="8153401" y="114300"/>
            <a:ext cx="792163" cy="97155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9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>
          <a:solidFill>
            <a:schemeClr val="tx1"/>
          </a:solidFill>
          <a:latin typeface="+mn-lt"/>
          <a:ea typeface="+mn-ea"/>
        </a:defRPr>
      </a:lvl2pPr>
      <a:lvl3pPr marL="987425" indent="-29400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>
          <a:solidFill>
            <a:schemeClr val="tx1"/>
          </a:solidFill>
          <a:latin typeface="+mn-lt"/>
          <a:ea typeface="+mn-ea"/>
        </a:defRPr>
      </a:lvl3pPr>
      <a:lvl4pPr marL="1281430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4pPr>
      <a:lvl5pPr marL="1598930" indent="-31623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056130" indent="-31623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13330" indent="-31623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2970530" indent="-31623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427730" indent="-31623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eaLnBrk="1" hangingPunct="1"/>
            <a:fld id="{BB962C8B-B14F-4D97-AF65-F5344CB8AC3E}" type="datetime10">
              <a:rPr lang="zh-CN" altLang="en-US" sz="1000" dirty="0">
                <a:solidFill>
                  <a:srgbClr val="000000"/>
                </a:solidFill>
              </a:rPr>
              <a:t>21:40</a:t>
            </a:fld>
            <a:endParaRPr lang="zh-CN" altLang="en-US" sz="1000" dirty="0">
              <a:solidFill>
                <a:srgbClr val="000000"/>
              </a:solidFill>
            </a:endParaRPr>
          </a:p>
        </p:txBody>
      </p:sp>
      <p:sp>
        <p:nvSpPr>
          <p:cNvPr id="7171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algn="r" eaLnBrk="1" hangingPunct="1"/>
            <a:fld id="{9A0DB2DC-4C9A-4742-B13C-FB6460FD3503}" type="slidenum">
              <a:rPr lang="en-US" altLang="zh-CN" sz="1000" dirty="0">
                <a:solidFill>
                  <a:srgbClr val="000000"/>
                </a:solidFill>
              </a:rPr>
              <a:t>1</a:t>
            </a:fld>
            <a:endParaRPr lang="en-US" altLang="zh-CN" sz="1000" dirty="0">
              <a:solidFill>
                <a:srgbClr val="000000"/>
              </a:solidFill>
            </a:endParaRPr>
          </a:p>
        </p:txBody>
      </p:sp>
      <p:sp>
        <p:nvSpPr>
          <p:cNvPr id="7172" name="Rectangle 2"/>
          <p:cNvSpPr>
            <a:spLocks noGrp="1"/>
          </p:cNvSpPr>
          <p:nvPr>
            <p:ph type="title"/>
          </p:nvPr>
        </p:nvSpPr>
        <p:spPr>
          <a:xfrm>
            <a:off x="1331640" y="195486"/>
            <a:ext cx="6084664" cy="647700"/>
          </a:xfrm>
        </p:spPr>
        <p:txBody>
          <a:bodyPr vert="horz" wrap="square" lIns="91440" tIns="45720" rIns="91440" bIns="45720" anchor="b"/>
          <a:lstStyle/>
          <a:p>
            <a:pPr eaLnBrk="1" hangingPunct="1"/>
            <a:r>
              <a:rPr lang="zh-CN" altLang="en-US" sz="3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</a:t>
            </a:r>
            <a:r>
              <a:rPr lang="zh-CN" altLang="en-US" sz="3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 核磁共振氢谱</a:t>
            </a:r>
          </a:p>
        </p:txBody>
      </p:sp>
      <p:sp>
        <p:nvSpPr>
          <p:cNvPr id="7173" name="Rectangle 3"/>
          <p:cNvSpPr>
            <a:spLocks noGrp="1"/>
          </p:cNvSpPr>
          <p:nvPr>
            <p:ph idx="1"/>
          </p:nvPr>
        </p:nvSpPr>
        <p:spPr>
          <a:xfrm>
            <a:off x="1763688" y="915566"/>
            <a:ext cx="7128767" cy="3672408"/>
          </a:xfrm>
        </p:spPr>
        <p:txBody>
          <a:bodyPr vert="horz" wrap="square" lIns="91440" tIns="45720" rIns="91440" bIns="45720" anchor="t"/>
          <a:lstStyle/>
          <a:p>
            <a:pPr marL="0" indent="0" algn="just" eaLnBrk="1" hangingPunct="1">
              <a:lnSpc>
                <a:spcPct val="120000"/>
              </a:lnSpc>
              <a:buSzPct val="75000"/>
              <a:buNone/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一、 核磁共振氢谱概述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eaLnBrk="1" hangingPunct="1">
              <a:lnSpc>
                <a:spcPct val="120000"/>
              </a:lnSpc>
              <a:buSzPct val="75000"/>
              <a:buNone/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二、</a:t>
            </a:r>
            <a:r>
              <a:rPr lang="en-US" altLang="zh-CN" sz="2800" b="1" baseline="30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8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的化学位移</a:t>
            </a:r>
            <a:endParaRPr lang="en-US" altLang="zh-CN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eaLnBrk="1" hangingPunct="1">
              <a:lnSpc>
                <a:spcPct val="120000"/>
              </a:lnSpc>
              <a:buSzPct val="75000"/>
              <a:buNone/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三、耦合作用的一般规则和一级谱图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eaLnBrk="1" hangingPunct="1">
              <a:lnSpc>
                <a:spcPct val="120000"/>
              </a:lnSpc>
              <a:buSzPct val="75000"/>
              <a:buNone/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四、常见官能团的氢谱特征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eaLnBrk="1" hangingPunct="1">
              <a:lnSpc>
                <a:spcPct val="120000"/>
              </a:lnSpc>
              <a:buSzPct val="75000"/>
              <a:buNone/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五、 一级谱图的解析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eaLnBrk="1" hangingPunct="1">
              <a:lnSpc>
                <a:spcPct val="120000"/>
              </a:lnSpc>
              <a:buSzPct val="75000"/>
              <a:buNone/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六、核磁共振的特殊实验技术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ChangeArrowheads="1"/>
          </p:cNvSpPr>
          <p:nvPr/>
        </p:nvSpPr>
        <p:spPr bwMode="auto">
          <a:xfrm>
            <a:off x="1475656" y="532591"/>
            <a:ext cx="6400800" cy="3335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990033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32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四、常见</a:t>
            </a:r>
            <a:r>
              <a:rPr kumimoji="1" lang="zh-CN" altLang="en-US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官能团的氢谱</a:t>
            </a:r>
            <a:r>
              <a:rPr kumimoji="1" lang="zh-CN" altLang="en-US" sz="32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endParaRPr kumimoji="1" lang="en-US" altLang="zh-CN" sz="32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kumimoji="1" lang="zh-CN" altLang="en-US" sz="32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kumimoji="1" lang="en-US" altLang="zh-CN" sz="28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1.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取代苯环</a:t>
            </a:r>
            <a:endParaRPr kumimoji="1" lang="en-US" altLang="zh-CN" sz="28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8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2.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取代杂芳环</a:t>
            </a:r>
            <a:endParaRPr kumimoji="1" lang="en-US" altLang="zh-CN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8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3.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</a:t>
            </a:r>
            <a:r>
              <a:rPr kumimoji="1"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取代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乙烯</a:t>
            </a:r>
            <a:endParaRPr kumimoji="1" lang="en-US" altLang="zh-CN" sz="28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8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4.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</a:t>
            </a:r>
            <a:r>
              <a:rPr kumimoji="1"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构长链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烷基</a:t>
            </a:r>
            <a:endParaRPr kumimoji="1" lang="zh-CN" altLang="en-US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ChangeArrowheads="1"/>
          </p:cNvSpPr>
          <p:nvPr/>
        </p:nvSpPr>
        <p:spPr bwMode="auto">
          <a:xfrm>
            <a:off x="381000" y="514350"/>
            <a:ext cx="6400800" cy="491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32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kumimoji="1" lang="zh-CN" altLang="en-US" sz="32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取代</a:t>
            </a:r>
            <a:r>
              <a:rPr kumimoji="1" lang="zh-CN" altLang="en-US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苯环</a:t>
            </a:r>
          </a:p>
        </p:txBody>
      </p:sp>
      <p:sp>
        <p:nvSpPr>
          <p:cNvPr id="87043" name="Rectangle 3"/>
          <p:cNvSpPr>
            <a:spLocks noChangeArrowheads="1"/>
          </p:cNvSpPr>
          <p:nvPr/>
        </p:nvSpPr>
        <p:spPr bwMode="auto">
          <a:xfrm>
            <a:off x="838200" y="1383618"/>
            <a:ext cx="7696200" cy="2160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kumimoji="1"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苯环的氢谱比较复杂，可表现为高级谱图或一级谱图，谱峰也会出现重叠，应根据实际得到的谱图具体分析。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/>
          <p:cNvSpPr>
            <a:spLocks noChangeArrowheads="1"/>
          </p:cNvSpPr>
          <p:nvPr/>
        </p:nvSpPr>
        <p:spPr bwMode="auto">
          <a:xfrm>
            <a:off x="317500" y="1697355"/>
            <a:ext cx="8763000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342900" indent="-3429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4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第一类取代基：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使邻、间、对位氢的</a:t>
            </a:r>
            <a:r>
              <a:rPr kumimoji="1"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δ</a:t>
            </a:r>
            <a:r>
              <a:rPr kumimoji="1"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值位移均不大的基团。属于第一类取代基的有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R-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RCH=CH-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RC≡C-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-Br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</a:p>
        </p:txBody>
      </p:sp>
      <p:sp>
        <p:nvSpPr>
          <p:cNvPr id="64516" name="Rectangle 4"/>
          <p:cNvSpPr>
            <a:spLocks noChangeArrowheads="1"/>
          </p:cNvSpPr>
          <p:nvPr/>
        </p:nvSpPr>
        <p:spPr bwMode="auto">
          <a:xfrm>
            <a:off x="306559" y="335933"/>
            <a:ext cx="838200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800" b="1" dirty="0" smtClean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 smtClean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）单</a:t>
            </a:r>
            <a:r>
              <a:rPr lang="zh-CN" altLang="en-US" sz="28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取代苯：  </a:t>
            </a:r>
            <a:endParaRPr lang="en-US" altLang="zh-CN" sz="2800" b="1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b="1" dirty="0">
                <a:solidFill>
                  <a:srgbClr val="CC0000"/>
                </a:solidFill>
                <a:ea typeface="楷体_GB2312" pitchFamily="49" charset="-122"/>
              </a:rPr>
              <a:t>    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srgbClr val="000099"/>
                </a:solidFill>
                <a:ea typeface="楷体_GB2312" pitchFamily="49" charset="-122"/>
              </a:rPr>
              <a:t>    </a:t>
            </a:r>
            <a:r>
              <a:rPr lang="zh-CN" altLang="en-US" sz="2400" b="1" dirty="0" smtClean="0">
                <a:solidFill>
                  <a:srgbClr val="000099"/>
                </a:solidFill>
                <a:ea typeface="楷体_GB2312" pitchFamily="49" charset="-122"/>
              </a:rPr>
              <a:t>                               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积分比例容易判断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2400" b="1" u="sng" dirty="0">
              <a:solidFill>
                <a:srgbClr val="000099"/>
              </a:solidFill>
              <a:ea typeface="楷体_GB2312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75656" y="3780233"/>
            <a:ext cx="73888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5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 </a:t>
            </a:r>
            <a:r>
              <a:rPr kumimoji="1"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δ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值差别不大，峰组几乎重叠，貌似单峰。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6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914400"/>
            <a:ext cx="6897688" cy="334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ChangeArrowheads="1"/>
          </p:cNvSpPr>
          <p:nvPr/>
        </p:nvSpPr>
        <p:spPr bwMode="auto">
          <a:xfrm>
            <a:off x="609600" y="457201"/>
            <a:ext cx="8534400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第二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类取代基：</a:t>
            </a:r>
            <a:r>
              <a:rPr lang="zh-CN" altLang="en-US" sz="2400" u="sng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强活化取代基，含饱和杂原子的基团   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OH,OR,NH</a:t>
            </a:r>
            <a:r>
              <a:rPr lang="en-US" altLang="zh-CN" sz="240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,NHR,NR</a:t>
            </a:r>
            <a:r>
              <a:rPr lang="en-US" altLang="zh-CN" sz="240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92163" name="Rectangle 3"/>
          <p:cNvSpPr>
            <a:spLocks noChangeArrowheads="1"/>
          </p:cNvSpPr>
          <p:nvPr/>
        </p:nvSpPr>
        <p:spPr bwMode="auto">
          <a:xfrm>
            <a:off x="446212" y="1568891"/>
            <a:ext cx="835488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75000"/>
              <a:buFont typeface="Wingdings" panose="05000000000000000000" pitchFamily="2" charset="2"/>
              <a:buChar char="u"/>
            </a:pPr>
            <a:r>
              <a:rPr lang="en-US" altLang="zh-CN" sz="2400" b="1" dirty="0">
                <a:solidFill>
                  <a:prstClr val="black"/>
                </a:solidFill>
                <a:ea typeface="楷体_GB2312" pitchFamily="49" charset="-122"/>
              </a:rPr>
              <a:t>  </a:t>
            </a:r>
            <a:r>
              <a:rPr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饱和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杂原子的未成键电子对和苯环的离域</a:t>
            </a:r>
            <a:r>
              <a:rPr lang="el-GR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π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电子形成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p-</a:t>
            </a:r>
            <a:r>
              <a:rPr lang="el-GR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π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共轭，苯环电子密度增大，氢出现高场位移，对邻、对位氢影响</a:t>
            </a:r>
            <a:r>
              <a:rPr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较大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r>
              <a:rPr lang="en-US" altLang="zh-CN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46212" y="3434017"/>
            <a:ext cx="85182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谱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峰分成两组：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较高场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邻、对位三个氢的峰组；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较低场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的间位二氢峰组。间位氢两侧都有氢，显示</a:t>
            </a:r>
            <a:r>
              <a:rPr lang="en-US" altLang="zh-CN" sz="240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引起的三重峰。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3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1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1" y="1485900"/>
            <a:ext cx="8228013" cy="208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ChangeArrowheads="1"/>
          </p:cNvSpPr>
          <p:nvPr/>
        </p:nvSpPr>
        <p:spPr bwMode="auto">
          <a:xfrm>
            <a:off x="539552" y="457201"/>
            <a:ext cx="8496944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类取代基：</a:t>
            </a:r>
            <a:r>
              <a:rPr lang="zh-CN" altLang="en-US" sz="240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强钝化取代基，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含有不饱和杂原子的基团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sz="2400" u="sng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CHO,COR,COOR,CONHR,COOH,NO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95235" name="Rectangle 3"/>
          <p:cNvSpPr>
            <a:spLocks noChangeArrowheads="1"/>
          </p:cNvSpPr>
          <p:nvPr/>
        </p:nvSpPr>
        <p:spPr bwMode="auto">
          <a:xfrm>
            <a:off x="762000" y="1428750"/>
            <a:ext cx="78486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75000"/>
              <a:buFont typeface="Wingdings" panose="05000000000000000000" pitchFamily="2" charset="2"/>
              <a:buChar char="u"/>
            </a:pPr>
            <a:r>
              <a:rPr lang="en-US" altLang="zh-CN" sz="2400" b="1" dirty="0">
                <a:solidFill>
                  <a:srgbClr val="000099"/>
                </a:solidFill>
                <a:ea typeface="楷体_GB2312" pitchFamily="49" charset="-122"/>
              </a:rPr>
              <a:t> 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苯形成更大的共轭体系，由于杂原子的电负性，苯环电子密度降低。苯环上剩余五个氢都向低场位移，而邻位二氢移得最多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97321" y="3183076"/>
            <a:ext cx="7848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通过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氢谱苯环区域相对低场处，邻位氢由于</a:t>
            </a:r>
            <a:r>
              <a:rPr lang="en-US" altLang="zh-CN" sz="2400" baseline="30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耦合显示的双峰，判断第三类取代基的存在。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5" grpId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5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476" y="1005576"/>
            <a:ext cx="6238875" cy="2521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4455" y="3003798"/>
            <a:ext cx="7162800" cy="1803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283" name="Rectangle 3"/>
          <p:cNvSpPr>
            <a:spLocks noChangeArrowheads="1"/>
          </p:cNvSpPr>
          <p:nvPr/>
        </p:nvSpPr>
        <p:spPr bwMode="auto">
          <a:xfrm>
            <a:off x="533401" y="195591"/>
            <a:ext cx="23070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 smtClean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 smtClean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）二</a:t>
            </a:r>
            <a:r>
              <a:rPr lang="zh-CN" altLang="en-US" sz="28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取代苯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97284" name="Rectangle 4"/>
          <p:cNvSpPr>
            <a:spLocks noChangeArrowheads="1"/>
          </p:cNvSpPr>
          <p:nvPr/>
        </p:nvSpPr>
        <p:spPr bwMode="auto">
          <a:xfrm>
            <a:off x="810061" y="1485531"/>
            <a:ext cx="787876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谱图特点：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构成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AA’BB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’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体系，当两个取代基差别较大时 ，粗看左右对称的四重峰，中间一对峰强，外面一对峰弱。</a:t>
            </a:r>
          </a:p>
        </p:txBody>
      </p:sp>
      <p:sp>
        <p:nvSpPr>
          <p:cNvPr id="97285" name="Rectangle 6"/>
          <p:cNvSpPr>
            <a:spLocks noChangeArrowheads="1"/>
          </p:cNvSpPr>
          <p:nvPr/>
        </p:nvSpPr>
        <p:spPr bwMode="auto">
          <a:xfrm>
            <a:off x="833369" y="968205"/>
            <a:ext cx="23391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u="sng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对位二取代苯：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3642" y="2393053"/>
            <a:ext cx="970756" cy="614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ChangeArrowheads="1"/>
          </p:cNvSpPr>
          <p:nvPr/>
        </p:nvSpPr>
        <p:spPr bwMode="auto">
          <a:xfrm>
            <a:off x="433247" y="302274"/>
            <a:ext cx="8382000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当对位取代苯中，两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个取代基性质接近时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，两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对峰</a:t>
            </a:r>
            <a:r>
              <a:rPr lang="en-US" altLang="zh-CN" sz="2400" i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δ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值相差不大，外侧二峰强度很低，甚至表现为单峰 。</a:t>
            </a:r>
          </a:p>
        </p:txBody>
      </p:sp>
      <p:pic>
        <p:nvPicPr>
          <p:cNvPr id="9933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713" y="1995686"/>
            <a:ext cx="7620000" cy="1983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ChangeArrowheads="1"/>
          </p:cNvSpPr>
          <p:nvPr/>
        </p:nvSpPr>
        <p:spPr bwMode="auto">
          <a:xfrm>
            <a:off x="395536" y="214535"/>
            <a:ext cx="26981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u="sng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间位二取代苯：</a:t>
            </a:r>
          </a:p>
        </p:txBody>
      </p:sp>
      <p:pic>
        <p:nvPicPr>
          <p:cNvPr id="10035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9803" y="1978324"/>
            <a:ext cx="5694965" cy="2960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356" name="Rectangle 3"/>
          <p:cNvSpPr>
            <a:spLocks noChangeArrowheads="1"/>
          </p:cNvSpPr>
          <p:nvPr/>
        </p:nvSpPr>
        <p:spPr bwMode="auto">
          <a:xfrm>
            <a:off x="719138" y="742950"/>
            <a:ext cx="817334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两个取代基不同时，谱图比较复杂，但两个取代基中间的隔离氢因无</a:t>
            </a:r>
            <a:r>
              <a:rPr lang="en-US" altLang="zh-CN" sz="2400" baseline="30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耦合，经常显示粗略的单峰。当该单峰未与别的峰组重叠时，由此可以判断间位取代基的存在。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2360" y="3273828"/>
            <a:ext cx="1331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化合物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ChangeArrowheads="1"/>
          </p:cNvSpPr>
          <p:nvPr/>
        </p:nvSpPr>
        <p:spPr bwMode="auto">
          <a:xfrm>
            <a:off x="681303" y="203843"/>
            <a:ext cx="26981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u="sng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邻位二取代苯：</a:t>
            </a:r>
          </a:p>
        </p:txBody>
      </p:sp>
      <p:sp>
        <p:nvSpPr>
          <p:cNvPr id="101379" name="Rectangle 3"/>
          <p:cNvSpPr>
            <a:spLocks noChangeArrowheads="1"/>
          </p:cNvSpPr>
          <p:nvPr/>
        </p:nvSpPr>
        <p:spPr bwMode="auto">
          <a:xfrm>
            <a:off x="914400" y="967132"/>
            <a:ext cx="8229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相同基团取代，构成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AA’BB’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体系，其谱图</a:t>
            </a:r>
            <a:r>
              <a:rPr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左右对称</a:t>
            </a:r>
            <a:r>
              <a:rPr lang="en-US" altLang="zh-CN" sz="2400" dirty="0" smtClean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</a:t>
            </a:r>
            <a:endParaRPr lang="zh-CN" altLang="en-US" sz="2400" dirty="0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0138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0172" y="1831033"/>
            <a:ext cx="6296025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1381" name="TextBox 1"/>
          <p:cNvSpPr txBox="1">
            <a:spLocks noChangeArrowheads="1"/>
          </p:cNvSpPr>
          <p:nvPr/>
        </p:nvSpPr>
        <p:spPr bwMode="auto">
          <a:xfrm>
            <a:off x="3810000" y="4114801"/>
            <a:ext cx="2133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990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邻二氯苯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9" grpId="0"/>
      <p:bldP spid="10138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ChangeArrowheads="1"/>
          </p:cNvSpPr>
          <p:nvPr/>
        </p:nvSpPr>
        <p:spPr bwMode="auto">
          <a:xfrm>
            <a:off x="685800" y="164417"/>
            <a:ext cx="26981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u="sng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邻位二取代苯：</a:t>
            </a:r>
          </a:p>
        </p:txBody>
      </p:sp>
      <p:sp>
        <p:nvSpPr>
          <p:cNvPr id="103427" name="Rectangle 3"/>
          <p:cNvSpPr>
            <a:spLocks noChangeArrowheads="1"/>
          </p:cNvSpPr>
          <p:nvPr/>
        </p:nvSpPr>
        <p:spPr bwMode="auto">
          <a:xfrm>
            <a:off x="769623" y="727248"/>
            <a:ext cx="822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两个取代基不同时，谱图比较复杂，若表现为一级谱图，则谱图大为简化。</a:t>
            </a:r>
          </a:p>
        </p:txBody>
      </p:sp>
      <p:pic>
        <p:nvPicPr>
          <p:cNvPr id="1034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558245"/>
            <a:ext cx="5867400" cy="3184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812360" y="3273828"/>
            <a:ext cx="1331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化合物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ChangeArrowheads="1"/>
          </p:cNvSpPr>
          <p:nvPr/>
        </p:nvSpPr>
        <p:spPr bwMode="auto">
          <a:xfrm>
            <a:off x="533401" y="195591"/>
            <a:ext cx="24144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 smtClean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dirty="0" smtClean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800" b="1" dirty="0" smtClean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多取代苯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04451" name="Rectangle 3"/>
          <p:cNvSpPr>
            <a:spLocks noChangeArrowheads="1"/>
          </p:cNvSpPr>
          <p:nvPr/>
        </p:nvSpPr>
        <p:spPr bwMode="auto">
          <a:xfrm>
            <a:off x="1619672" y="869375"/>
            <a:ext cx="59779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多取代苯因苯环上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减少，谱图相对较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</a:t>
            </a:r>
            <a:endParaRPr lang="zh-CN" altLang="en-US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44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485901"/>
            <a:ext cx="6781800" cy="2994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292975" y="2085696"/>
            <a:ext cx="1331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化合物</a:t>
            </a:r>
            <a:r>
              <a:rPr lang="en-US" altLang="zh-CN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endParaRPr lang="zh-CN" altLang="en-US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3"/>
          <p:cNvSpPr>
            <a:spLocks noChangeArrowheads="1"/>
          </p:cNvSpPr>
          <p:nvPr/>
        </p:nvSpPr>
        <p:spPr bwMode="auto">
          <a:xfrm>
            <a:off x="539552" y="771550"/>
            <a:ext cx="7772400" cy="3847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综上所述，</a:t>
            </a:r>
            <a:r>
              <a:rPr lang="zh-CN" alt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对于取代苯环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谱图分析要点：</a:t>
            </a:r>
            <a:endParaRPr lang="en-US" altLang="zh-CN" sz="2800" b="1" dirty="0">
              <a:solidFill>
                <a:srgbClr val="0070C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24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取代基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分为三类，它们对其邻位、间位、对位氢的化学位移影响</a:t>
            </a:r>
            <a:r>
              <a:rPr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不同</a:t>
            </a:r>
            <a:r>
              <a:rPr lang="en-US" altLang="zh-CN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75000"/>
              <a:buFont typeface="Wingdings" panose="05000000000000000000" pitchFamily="2" charset="2"/>
              <a:buChar char="u"/>
            </a:pPr>
            <a:endParaRPr lang="en-US" altLang="zh-CN" sz="2400" dirty="0" smtClean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75000"/>
              <a:buFont typeface="Wingdings" panose="05000000000000000000" pitchFamily="2" charset="2"/>
              <a:buChar char="u"/>
            </a:pPr>
            <a:r>
              <a:rPr lang="en-US" altLang="zh-CN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苯环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上剩余氢之间的化学位移相差越大，或所有</a:t>
            </a:r>
            <a:r>
              <a:rPr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核磁共振谱仪的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频率越高，其谱图可近似按一级谱图</a:t>
            </a:r>
            <a:r>
              <a:rPr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分析</a:t>
            </a:r>
            <a:r>
              <a:rPr lang="en-US" altLang="zh-CN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75000"/>
              <a:buFont typeface="Wingdings" panose="05000000000000000000" pitchFamily="2" charset="2"/>
              <a:buChar char="u"/>
            </a:pPr>
            <a:endParaRPr lang="en-US" altLang="zh-CN" sz="2400" dirty="0" smtClean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按一级谱分析时，</a:t>
            </a:r>
            <a:r>
              <a:rPr lang="en-US" altLang="zh-CN" sz="240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起主要作用。所讨论的氢主要被邻碳氢分裂。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3"/>
          <p:cNvSpPr>
            <a:spLocks noChangeArrowheads="1"/>
          </p:cNvSpPr>
          <p:nvPr/>
        </p:nvSpPr>
        <p:spPr bwMode="auto">
          <a:xfrm>
            <a:off x="758708" y="1149612"/>
            <a:ext cx="778815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杂芳环中相对杂原子不同位置的氢有较大的化学位移数值的差别；</a:t>
            </a:r>
            <a:endParaRPr lang="en-US" altLang="zh-CN" sz="2400" dirty="0" smtClean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40227" y="390224"/>
            <a:ext cx="26629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取代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的杂芳环</a:t>
            </a:r>
            <a:endParaRPr lang="en-US" altLang="zh-CN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16966" y="2211710"/>
            <a:ext cx="6858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杂芳环的氢谱一般为一级谱，可用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n+1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规律</a:t>
            </a:r>
            <a:r>
              <a:rPr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16966" y="3075684"/>
            <a:ext cx="84270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杂芳环内</a:t>
            </a:r>
            <a:r>
              <a:rPr lang="en-US" altLang="zh-CN" sz="240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相对于杂原子的位置有所不同，比如吡啶环，</a:t>
            </a:r>
            <a:r>
              <a:rPr lang="el-GR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α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氢和</a:t>
            </a:r>
            <a:r>
              <a:rPr lang="el-GR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β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氢之间的耦合常数较小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l-GR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β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氢和</a:t>
            </a:r>
            <a:r>
              <a:rPr lang="el-GR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γ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-H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之间的数值较大。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6" grpId="0"/>
      <p:bldP spid="3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7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28650"/>
            <a:ext cx="8305800" cy="4015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9571" name="Object 5"/>
          <p:cNvGraphicFramePr>
            <a:graphicFrameLocks noChangeAspect="1"/>
          </p:cNvGraphicFramePr>
          <p:nvPr/>
        </p:nvGraphicFramePr>
        <p:xfrm>
          <a:off x="3200400" y="1085850"/>
          <a:ext cx="1335088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18" name="Document" r:id="rId5" imgW="952500" imgH="1085850" progId="ChemWindow.Document">
                  <p:embed/>
                </p:oleObj>
              </mc:Choice>
              <mc:Fallback>
                <p:oleObj name="Document" r:id="rId5" imgW="952500" imgH="1085850" progId="ChemWindow.Document">
                  <p:embed/>
                  <p:pic>
                    <p:nvPicPr>
                      <p:cNvPr id="0" name="图片 61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085850"/>
                        <a:ext cx="1335088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72" name="Rectangle 6"/>
          <p:cNvSpPr>
            <a:spLocks noChangeArrowheads="1"/>
          </p:cNvSpPr>
          <p:nvPr/>
        </p:nvSpPr>
        <p:spPr bwMode="auto">
          <a:xfrm>
            <a:off x="3200401" y="2457450"/>
            <a:ext cx="1888659" cy="461665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baseline="30000">
                <a:solidFill>
                  <a:srgbClr val="000099"/>
                </a:solidFill>
                <a:latin typeface="Times New Roman" panose="02020603050405020304" pitchFamily="18" charset="0"/>
              </a:rPr>
              <a:t>3</a:t>
            </a:r>
            <a:r>
              <a:rPr kumimoji="1" lang="en-US" altLang="zh-CN" sz="2400" b="1" i="1">
                <a:solidFill>
                  <a:srgbClr val="000099"/>
                </a:solidFill>
                <a:latin typeface="Times New Roman" panose="02020603050405020304" pitchFamily="18" charset="0"/>
              </a:rPr>
              <a:t>J</a:t>
            </a:r>
            <a:r>
              <a:rPr kumimoji="1" lang="en-US" altLang="zh-CN" sz="2400" b="1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de</a:t>
            </a:r>
            <a:r>
              <a:rPr kumimoji="1" lang="en-US" altLang="zh-CN" sz="2400" b="1">
                <a:solidFill>
                  <a:srgbClr val="000099"/>
                </a:solidFill>
                <a:latin typeface="Times New Roman" panose="02020603050405020304" pitchFamily="18" charset="0"/>
              </a:rPr>
              <a:t> = 4.14Hz</a:t>
            </a:r>
          </a:p>
        </p:txBody>
      </p:sp>
      <p:sp>
        <p:nvSpPr>
          <p:cNvPr id="109573" name="Rectangle 7"/>
          <p:cNvSpPr>
            <a:spLocks noChangeArrowheads="1"/>
          </p:cNvSpPr>
          <p:nvPr/>
        </p:nvSpPr>
        <p:spPr bwMode="auto">
          <a:xfrm>
            <a:off x="3200401" y="2800350"/>
            <a:ext cx="1888659" cy="461665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baseline="30000">
                <a:solidFill>
                  <a:srgbClr val="000099"/>
                </a:solidFill>
                <a:latin typeface="Times New Roman" panose="02020603050405020304" pitchFamily="18" charset="0"/>
              </a:rPr>
              <a:t>3</a:t>
            </a:r>
            <a:r>
              <a:rPr kumimoji="1" lang="en-US" altLang="zh-CN" sz="2400" b="1" i="1">
                <a:solidFill>
                  <a:srgbClr val="000099"/>
                </a:solidFill>
                <a:latin typeface="Times New Roman" panose="02020603050405020304" pitchFamily="18" charset="0"/>
              </a:rPr>
              <a:t>J</a:t>
            </a:r>
            <a:r>
              <a:rPr kumimoji="1" lang="en-US" altLang="zh-CN" sz="2400" b="1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dc</a:t>
            </a:r>
            <a:r>
              <a:rPr kumimoji="1" lang="en-US" altLang="zh-CN" sz="2400" b="1">
                <a:solidFill>
                  <a:srgbClr val="000099"/>
                </a:solidFill>
                <a:latin typeface="Times New Roman" panose="02020603050405020304" pitchFamily="18" charset="0"/>
              </a:rPr>
              <a:t> = 7.80Hz</a:t>
            </a:r>
          </a:p>
        </p:txBody>
      </p:sp>
      <p:sp>
        <p:nvSpPr>
          <p:cNvPr id="109574" name="Rectangle 8"/>
          <p:cNvSpPr>
            <a:spLocks noChangeArrowheads="1"/>
          </p:cNvSpPr>
          <p:nvPr/>
        </p:nvSpPr>
        <p:spPr bwMode="auto">
          <a:xfrm flipH="1">
            <a:off x="1981200" y="2228850"/>
            <a:ext cx="1092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99"/>
                </a:solidFill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109575" name="Rectangle 10"/>
          <p:cNvSpPr>
            <a:spLocks noChangeArrowheads="1"/>
          </p:cNvSpPr>
          <p:nvPr/>
        </p:nvSpPr>
        <p:spPr bwMode="auto">
          <a:xfrm flipH="1">
            <a:off x="1676400" y="2228850"/>
            <a:ext cx="1092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99"/>
                </a:solidFill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109576" name="Rectangle 11"/>
          <p:cNvSpPr>
            <a:spLocks noChangeArrowheads="1"/>
          </p:cNvSpPr>
          <p:nvPr/>
        </p:nvSpPr>
        <p:spPr bwMode="auto">
          <a:xfrm flipH="1">
            <a:off x="1066800" y="2171700"/>
            <a:ext cx="609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99"/>
                </a:solidFill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109577" name="Rectangle 12"/>
          <p:cNvSpPr>
            <a:spLocks noChangeArrowheads="1"/>
          </p:cNvSpPr>
          <p:nvPr/>
        </p:nvSpPr>
        <p:spPr bwMode="auto">
          <a:xfrm>
            <a:off x="3200400" y="685800"/>
            <a:ext cx="990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rgbClr val="000099"/>
                </a:solidFill>
                <a:latin typeface="Times New Roman" panose="02020603050405020304" pitchFamily="18" charset="0"/>
              </a:rPr>
              <a:t>400Mz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0" y="408801"/>
            <a:ext cx="1331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化合物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3"/>
          <p:cNvSpPr>
            <a:spLocks noChangeArrowheads="1"/>
          </p:cNvSpPr>
          <p:nvPr/>
        </p:nvSpPr>
        <p:spPr bwMode="auto">
          <a:xfrm>
            <a:off x="389607" y="-4592"/>
            <a:ext cx="777240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取代乙烯</a:t>
            </a:r>
            <a:endParaRPr lang="en-US" altLang="zh-CN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2400" b="1" dirty="0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单取代乙烯烯键上的氢之间存在顺式耦合、反式耦合和同碳耦合，同取代的烷基还有邻碳耦合和长程耦合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b="1" dirty="0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296794" y="3025958"/>
            <a:ext cx="224183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H’ :</a:t>
            </a:r>
            <a:r>
              <a:rPr lang="en-US" altLang="zh-CN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d*d*t(12</a:t>
            </a:r>
            <a:r>
              <a:rPr lang="zh-CN" alt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重峰）</a:t>
            </a:r>
            <a:endParaRPr lang="en-US" altLang="zh-CN" b="1" dirty="0" smtClean="0">
              <a:solidFill>
                <a:srgbClr val="0070C0"/>
              </a:solidFill>
              <a:latin typeface="Times New Roman" panose="02020603050405020304" pitchFamily="18" charset="0"/>
              <a:ea typeface="楷体_GB2312" pitchFamily="49" charset="-122"/>
              <a:sym typeface="+mn-ea"/>
            </a:endParaRPr>
          </a:p>
          <a:p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 </a:t>
            </a:r>
            <a:r>
              <a:rPr lang="en-US" altLang="zh-CN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     </a:t>
            </a:r>
            <a:r>
              <a:rPr lang="zh-CN" alt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反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式</a:t>
            </a:r>
            <a:r>
              <a:rPr lang="zh-CN" alt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耦合（</a:t>
            </a:r>
            <a:r>
              <a:rPr lang="en-US" altLang="zh-CN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H’’</a:t>
            </a:r>
            <a:r>
              <a:rPr lang="zh-CN" alt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）</a:t>
            </a:r>
            <a:endParaRPr lang="en-US" altLang="zh-CN" b="1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49" charset="-122"/>
              <a:sym typeface="+mn-ea"/>
            </a:endParaRPr>
          </a:p>
          <a:p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      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顺式</a:t>
            </a:r>
            <a:r>
              <a:rPr lang="zh-CN" alt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耦合</a:t>
            </a:r>
            <a:r>
              <a:rPr lang="en-US" altLang="zh-CN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(H’’’)</a:t>
            </a:r>
            <a:endParaRPr lang="en-US" altLang="zh-CN" b="1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49" charset="-122"/>
              <a:sym typeface="+mn-ea"/>
            </a:endParaRPr>
          </a:p>
          <a:p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     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邻碳</a:t>
            </a:r>
            <a:r>
              <a:rPr lang="zh-CN" alt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耦合</a:t>
            </a:r>
            <a:r>
              <a:rPr lang="en-US" altLang="zh-CN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(CH</a:t>
            </a:r>
            <a:r>
              <a:rPr lang="en-US" altLang="zh-CN" b="1" baseline="-25000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2</a:t>
            </a:r>
            <a:r>
              <a:rPr lang="en-US" altLang="zh-CN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)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44630" y="1688927"/>
            <a:ext cx="346921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H’’:</a:t>
            </a: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粗略的</a:t>
            </a:r>
            <a:r>
              <a:rPr lang="zh-CN" alt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双峰</a:t>
            </a:r>
            <a:endParaRPr lang="en-US" altLang="zh-CN" b="1" dirty="0" smtClean="0">
              <a:solidFill>
                <a:srgbClr val="0070C0"/>
              </a:solidFill>
              <a:latin typeface="Times New Roman" panose="02020603050405020304" pitchFamily="18" charset="0"/>
              <a:ea typeface="楷体_GB2312" pitchFamily="49" charset="-122"/>
              <a:sym typeface="+mn-ea"/>
            </a:endParaRPr>
          </a:p>
          <a:p>
            <a:r>
              <a:rPr lang="en-US" altLang="zh-CN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       </a:t>
            </a:r>
            <a:r>
              <a:rPr lang="zh-CN" alt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反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式</a:t>
            </a:r>
            <a:r>
              <a:rPr lang="zh-CN" alt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耦合（</a:t>
            </a:r>
            <a:r>
              <a:rPr lang="en-US" altLang="zh-CN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H’  </a:t>
            </a:r>
            <a:r>
              <a:rPr lang="zh-CN" alt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主要耦合）</a:t>
            </a:r>
            <a:endParaRPr lang="en-US" altLang="zh-CN" b="1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49" charset="-122"/>
              <a:sym typeface="+mn-ea"/>
            </a:endParaRPr>
          </a:p>
          <a:p>
            <a:r>
              <a:rPr lang="zh-CN" alt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       同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碳</a:t>
            </a:r>
            <a:r>
              <a:rPr lang="zh-CN" alt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耦合</a:t>
            </a:r>
            <a:r>
              <a:rPr lang="en-US" altLang="zh-CN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(H’’’    </a:t>
            </a:r>
            <a:r>
              <a:rPr lang="zh-CN" alt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耦合常数小</a:t>
            </a:r>
            <a:r>
              <a:rPr lang="en-US" altLang="zh-CN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)</a:t>
            </a:r>
            <a:endParaRPr lang="en-US" altLang="zh-CN" b="1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49" charset="-122"/>
              <a:sym typeface="+mn-ea"/>
            </a:endParaRPr>
          </a:p>
          <a:p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     </a:t>
            </a:r>
            <a:r>
              <a:rPr lang="en-US" altLang="zh-CN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  </a:t>
            </a:r>
            <a:r>
              <a:rPr lang="zh-CN" alt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远程耦合</a:t>
            </a:r>
            <a:r>
              <a:rPr lang="en-US" altLang="zh-CN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(CH</a:t>
            </a:r>
            <a:r>
              <a:rPr lang="en-US" altLang="zh-CN" b="1" baseline="-25000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2    </a:t>
            </a:r>
            <a:r>
              <a:rPr lang="zh-CN" alt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耦合常数小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) 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5426332" y="3291830"/>
            <a:ext cx="347986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H’’’</a:t>
            </a: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粗略的</a:t>
            </a:r>
            <a:r>
              <a:rPr lang="zh-CN" alt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双峰</a:t>
            </a:r>
            <a:endParaRPr lang="en-US" altLang="zh-CN" b="1" dirty="0" smtClean="0">
              <a:solidFill>
                <a:srgbClr val="0070C0"/>
              </a:solidFill>
              <a:latin typeface="Times New Roman" panose="02020603050405020304" pitchFamily="18" charset="0"/>
              <a:ea typeface="楷体_GB2312" pitchFamily="49" charset="-122"/>
              <a:sym typeface="+mn-ea"/>
            </a:endParaRPr>
          </a:p>
          <a:p>
            <a:r>
              <a:rPr lang="en-US" altLang="zh-CN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        </a:t>
            </a:r>
            <a:r>
              <a:rPr lang="zh-CN" alt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顺式耦合（</a:t>
            </a:r>
            <a:r>
              <a:rPr lang="en-US" altLang="zh-CN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H’   </a:t>
            </a:r>
            <a:r>
              <a:rPr lang="zh-CN" alt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主要耦合）</a:t>
            </a:r>
            <a:endParaRPr lang="en-US" altLang="zh-CN" b="1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49" charset="-122"/>
              <a:sym typeface="+mn-ea"/>
            </a:endParaRPr>
          </a:p>
          <a:p>
            <a:r>
              <a:rPr lang="zh-CN" alt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        同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碳</a:t>
            </a:r>
            <a:r>
              <a:rPr lang="zh-CN" alt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耦合  </a:t>
            </a:r>
            <a:r>
              <a:rPr lang="en-US" altLang="zh-CN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(H’’   </a:t>
            </a:r>
            <a:r>
              <a:rPr lang="zh-CN" alt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耦合常数小</a:t>
            </a:r>
            <a:r>
              <a:rPr lang="en-US" altLang="zh-CN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)</a:t>
            </a:r>
            <a:endParaRPr lang="en-US" altLang="zh-CN" b="1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49" charset="-122"/>
              <a:sym typeface="+mn-ea"/>
            </a:endParaRPr>
          </a:p>
          <a:p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   </a:t>
            </a:r>
            <a:r>
              <a:rPr lang="en-US" altLang="zh-CN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     </a:t>
            </a:r>
            <a:r>
              <a:rPr lang="zh-CN" alt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远程耦合  </a:t>
            </a:r>
            <a:r>
              <a:rPr lang="en-US" altLang="zh-CN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(CH</a:t>
            </a:r>
            <a:r>
              <a:rPr lang="en-US" altLang="zh-CN" b="1" baseline="-25000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2  </a:t>
            </a:r>
            <a:r>
              <a:rPr lang="zh-CN" alt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耦合常数小</a:t>
            </a:r>
            <a:r>
              <a:rPr lang="en-US" altLang="zh-CN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)</a:t>
            </a:r>
            <a:endParaRPr lang="zh-CN" altLang="en-US" dirty="0">
              <a:solidFill>
                <a:srgbClr val="0070C0"/>
              </a:solidFill>
            </a:endParaRPr>
          </a:p>
        </p:txBody>
      </p:sp>
      <p:pic>
        <p:nvPicPr>
          <p:cNvPr id="7170" name="Picture 2" descr="C:\Users\xiawei\Desktop\微信图片_2019102716062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0862" y="1590774"/>
            <a:ext cx="3795528" cy="1435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3"/>
          <p:cNvSpPr>
            <a:spLocks noChangeArrowheads="1"/>
          </p:cNvSpPr>
          <p:nvPr/>
        </p:nvSpPr>
        <p:spPr bwMode="auto">
          <a:xfrm>
            <a:off x="656622" y="335003"/>
            <a:ext cx="8305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构长链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烷基</a:t>
            </a:r>
            <a:endParaRPr lang="en-US" altLang="zh-CN" sz="2400" dirty="0">
              <a:solidFill>
                <a:srgbClr val="0070C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24860" y="1203598"/>
            <a:ext cx="79693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饱和长碳链是常见的结构单元，通式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X-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CH</a:t>
            </a:r>
            <a:r>
              <a:rPr lang="en-US" altLang="zh-CN" sz="240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sz="240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-CH</a:t>
            </a:r>
            <a:r>
              <a:rPr lang="en-US" altLang="zh-CN" sz="240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en-US" altLang="zh-CN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X-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l-GR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α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位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CH</a:t>
            </a:r>
            <a:r>
              <a:rPr lang="en-US" altLang="zh-CN" sz="2400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的谱峰移向低场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l-GR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β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位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CH</a:t>
            </a:r>
            <a:r>
              <a:rPr lang="en-US" altLang="zh-CN" sz="2400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的谱峰也移向低场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，但移动距离较前者小得</a:t>
            </a:r>
            <a:r>
              <a:rPr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多；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24860" y="2665838"/>
            <a:ext cx="7632848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位数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更高的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CH</a:t>
            </a:r>
            <a:r>
              <a:rPr lang="en-US" altLang="zh-CN" sz="24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化学位移很相近，在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δ1.19-1.25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处形成一个粗略的单峰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24860" y="3829902"/>
            <a:ext cx="72941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长链烷基中连接取代基的亚甲基显示三重峰。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主题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主题3</Template>
  <TotalTime>46</TotalTime>
  <Words>1010</Words>
  <Application>Microsoft Office PowerPoint</Application>
  <PresentationFormat>全屏显示(16:9)</PresentationFormat>
  <Paragraphs>95</Paragraphs>
  <Slides>20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楷体_GB2312</vt:lpstr>
      <vt:lpstr>宋体</vt:lpstr>
      <vt:lpstr>微软雅黑</vt:lpstr>
      <vt:lpstr>Arial</vt:lpstr>
      <vt:lpstr>Calibri</vt:lpstr>
      <vt:lpstr>Symbol</vt:lpstr>
      <vt:lpstr>Times New Roman</vt:lpstr>
      <vt:lpstr>Wingdings</vt:lpstr>
      <vt:lpstr>主题3</vt:lpstr>
      <vt:lpstr>Network</vt:lpstr>
      <vt:lpstr>Document</vt:lpstr>
      <vt:lpstr>        第二节 核磁共振氢谱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xiawei</dc:creator>
  <cp:lastModifiedBy>xw</cp:lastModifiedBy>
  <cp:revision>197</cp:revision>
  <dcterms:created xsi:type="dcterms:W3CDTF">2019-07-19T02:05:00Z</dcterms:created>
  <dcterms:modified xsi:type="dcterms:W3CDTF">2020-12-08T13:42:19Z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2052-11.1.0.9175</vt:lpwstr>
  </property>
</Properties>
</file>