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4"/>
  </p:notesMasterIdLst>
  <p:sldIdLst>
    <p:sldId id="309" r:id="rId3"/>
    <p:sldId id="307" r:id="rId4"/>
    <p:sldId id="284" r:id="rId5"/>
    <p:sldId id="285" r:id="rId6"/>
    <p:sldId id="286" r:id="rId7"/>
    <p:sldId id="287" r:id="rId8"/>
    <p:sldId id="288" r:id="rId9"/>
    <p:sldId id="289" r:id="rId10"/>
    <p:sldId id="291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5" r:id="rId2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12" autoAdjust="0"/>
    <p:restoredTop sz="65492" autoAdjust="0"/>
  </p:normalViewPr>
  <p:slideViewPr>
    <p:cSldViewPr>
      <p:cViewPr varScale="1">
        <p:scale>
          <a:sx n="99" d="100"/>
          <a:sy n="99" d="100"/>
        </p:scale>
        <p:origin x="230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DF724-74A1-4033-9A27-1B1B1AFF474A}" type="datetimeFigureOut">
              <a:rPr lang="zh-CN" altLang="en-US" smtClean="0"/>
              <a:t>2021/11/28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D20E2-0712-49D3-94A0-13E1910CF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5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DF8C0-17DD-4DBC-B7C5-4C0273D8B586}" type="slidenum">
              <a:rPr lang="en-US" altLang="zh-CN" smtClean="0">
                <a:solidFill>
                  <a:prstClr val="black"/>
                </a:solidFill>
              </a:rPr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A63E9F92-2E5B-4473-9D0C-EE32473D629D}" type="slidenum">
              <a:rPr lang="zh-CN" altLang="en-US" sz="1200"/>
              <a:t>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fld id="{87B65C57-C707-4C35-ABD5-A731DDDCD3A6}" type="slidenum">
              <a:rPr lang="en-US" altLang="zh-CN" sz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fld>
            <a:endParaRPr lang="en-US" altLang="zh-CN" sz="12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z="1000" b="0" i="0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88E141EB-5C6D-4433-AE33-5D881E80EB6B}" type="slidenum">
              <a:rPr lang="zh-CN" altLang="en-US" sz="1200"/>
              <a:t>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 smtClean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D76C4914-E99B-4AA8-828F-D2706B58CA39}" type="slidenum">
              <a:rPr lang="zh-CN" altLang="en-US" sz="1200"/>
              <a:t>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i="0" dirty="0" smtClean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F17D16A7-84AE-4C43-AC23-860DC7E72FB3}" type="slidenum">
              <a:rPr lang="zh-CN" altLang="en-US" sz="1200"/>
              <a:t>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b="0" dirty="0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7D178F42-B028-49D6-8D72-512D42AB95C8}" type="slidenum">
              <a:rPr lang="zh-CN" altLang="en-US" sz="1200"/>
              <a:t>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25854C09-1715-4941-8F38-0C87B2216580}" type="slidenum">
              <a:rPr lang="zh-CN" altLang="en-US" sz="1200"/>
              <a:t>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F3531A26-B46E-4974-81C9-4C02CC85712F}" type="slidenum">
              <a:rPr lang="zh-CN" altLang="en-US" sz="1200"/>
              <a:t>16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 smtClean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D0CB1153-8D0D-4915-BD7C-2C950891C77A}" type="slidenum">
              <a:rPr lang="zh-CN" altLang="en-US" sz="1200"/>
              <a:t>17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F0D451E9-81CD-4837-810B-98D45AE86E4A}" type="slidenum">
              <a:rPr lang="zh-CN" altLang="en-US" sz="1200"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en-US" altLang="zh-CN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09D65-BA14-4B3E-A743-C3C9628771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47B641-2F9E-4CA3-B5FD-34FB285D17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4A742-F11C-426A-BD04-3370D3B87EB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1CE17-179F-4E02-B1FB-DB36007272F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19837-60C4-4330-93A8-E0EDF8ADD6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A97A6-B05B-474F-B131-D8800E6DEA9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D42C1-5DDB-4575-9C80-BD2D11086A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BA6F7-D49F-4FFA-9394-14CD5170E98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4B75B-DEBA-414A-996D-198E0776960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ACAEB8-330B-4993-99EF-7443D24F0B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CF940-2A2B-4E9D-AD7E-CF2D65BBBDB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E7A725-4B6F-49D7-BB63-AE842C09CCB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3C846-A35D-4CF4-BB64-940886B41938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34E47-7534-4487-9034-63BA8F81EDDE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6216E-A222-4D6D-A040-A8F177D1EEF8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C8897-4F6F-4C59-B4B0-FF7C6E4A4396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43F2B-289E-4224-B070-8A7A319E6AA1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C7BEA-A4D1-462E-AB33-5ACB28670F47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D913E-F85A-4459-9DC9-4AF136757053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90410-28BC-4C56-9666-DEA4B53B9559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D2A69-9C1F-47A0-AAA8-5D5E8EFABBDB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A9C15-53C6-4B57-8B55-158F6379D487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94FC3-5DF1-484C-BB42-113CFC3EEC48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5102D-FB31-4F68-8A78-2734378BED3C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1A15E-2C44-4622-8706-C3CE827CE15C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42CE-9AD3-44B0-9E0D-FFAC5490541B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6DB63-90CE-4211-B62C-76742A3E7626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83A93-0765-4FE6-9E73-422C68D7719A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7470E-FC75-4255-A1B4-1DACF65C5E6C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D2356-BE1B-41EB-B1EE-DB9582C8153E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D660A-D142-46D2-839B-8F388E3015D1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FAC00-AD94-458D-AF08-DEF906379373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0CFD-1F17-4639-80A4-1B688CF359D6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621F7-4129-49BA-A397-DFC65A83FD42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8EFEA9-1034-49A5-B74D-6D2CB09FBF20}" type="datetime10">
              <a:rPr lang="zh-CN" altLang="en-US" smtClean="0">
                <a:solidFill>
                  <a:srgbClr val="000000"/>
                </a:solidFill>
              </a:rPr>
              <a:t>20:35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0D6D96-1BC0-4F11-BD3A-8585BE0D52AF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988371A-EBCC-4FEC-BE25-087DFB62CF7F}" type="slidenum">
              <a:rPr kumimoji="1" lang="en-US" altLang="zh-CN" b="1">
                <a:ea typeface="楷体_GB2312" pitchFamily="49" charset="-122"/>
              </a:rPr>
              <a:t>‹#›</a:t>
            </a:fld>
            <a:endParaRPr kumimoji="1" lang="en-US" altLang="zh-CN" b="1"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dirty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988371A-EBCC-4FEC-BE25-087DFB62CF7F}" type="slidenum">
              <a:rPr kumimoji="1" lang="en-US" altLang="zh-CN" b="1" smtClean="0"/>
              <a:t>‹#›</a:t>
            </a:fld>
            <a:endParaRPr kumimoji="1" lang="en-US" altLang="zh-CN"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png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29.wmf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50032"/>
            <a:ext cx="8748711" cy="840581"/>
          </a:xfrm>
        </p:spPr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三、耦合</a:t>
            </a:r>
            <a:r>
              <a:rPr lang="zh-CN" altLang="en-US" sz="36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作用的一般规则和一级谱图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1619250" y="1383506"/>
            <a:ext cx="7129214" cy="2988444"/>
          </a:xfrm>
        </p:spPr>
        <p:txBody>
          <a:bodyPr/>
          <a:lstStyle/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核的等价性</a:t>
            </a:r>
            <a:endParaRPr lang="en-US" altLang="zh-CN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耦合作用的一般规则</a:t>
            </a:r>
            <a:endParaRPr lang="en-US" altLang="zh-CN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影响耦合常数的因素</a:t>
            </a:r>
            <a:endParaRPr lang="en-US" altLang="zh-CN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质子与其他核的耦合</a:t>
            </a:r>
            <a:endParaRPr lang="en-US" altLang="zh-CN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4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dirty="0" smtClean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49492"/>
            <a:ext cx="7772400" cy="857250"/>
          </a:xfrm>
        </p:spPr>
        <p:txBody>
          <a:bodyPr/>
          <a:lstStyle/>
          <a:p>
            <a:pPr marL="342900" lvl="0" indent="-342900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 sz="3200" b="1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3200" b="1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3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耦合常数的因素</a:t>
            </a:r>
            <a:endParaRPr lang="en-US" altLang="zh-CN" sz="3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569404" y="1059582"/>
            <a:ext cx="8077200" cy="106014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影响因素：核之间相隔的</a:t>
            </a:r>
            <a:r>
              <a:rPr lang="zh-CN" altLang="en-US" sz="24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化学键数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电子云密度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空间相对位置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等有关。</a:t>
            </a:r>
            <a:endParaRPr lang="en-US" altLang="zh-CN" sz="2400" b="1" dirty="0" smtClean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1681" y="2317682"/>
            <a:ext cx="792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有机物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结构解析的重要依据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例如确定相互耦合的核组；构型分析（比如顺反异构）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544" y="3518011"/>
            <a:ext cx="8280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核之间间隔的距离常将耦合分为</a:t>
            </a:r>
            <a:r>
              <a:rPr lang="zh-CN" altLang="en-US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同碳耦合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400" b="1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H-C-H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zh-CN" altLang="en-US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邻碳耦合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400" b="1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H-C-C-H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zh-CN" altLang="en-US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远程耦合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b="1" dirty="0" smtClean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            </a:t>
            </a:r>
            <a:endParaRPr lang="en-US" altLang="zh-CN" sz="2400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14300"/>
            <a:ext cx="8229600" cy="790575"/>
          </a:xfrm>
        </p:spPr>
        <p:txBody>
          <a:bodyPr/>
          <a:lstStyle/>
          <a:p>
            <a:pPr algn="l" eaLnBrk="1" hangingPunct="1"/>
            <a:r>
              <a:rPr lang="en-US" altLang="zh-CN" sz="3200" b="1" dirty="0" smtClean="0"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1) 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同碳质子耦合常数（</a:t>
            </a:r>
            <a:r>
              <a:rPr lang="en-US" altLang="zh-CN" sz="2800" b="1" baseline="30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 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4275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6553200" y="4686300"/>
            <a:ext cx="19050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DB14BD5-B0BF-4F8F-98E3-1350B02D30B2}" type="datetime10">
              <a:rPr lang="zh-CN" altLang="en-US" sz="1400" b="0" smtClean="0">
                <a:solidFill>
                  <a:prstClr val="black"/>
                </a:solidFill>
                <a:latin typeface="Arial" panose="020B0604020202020204" pitchFamily="34" charset="0"/>
              </a:rPr>
              <a:t>20:35</a:t>
            </a:fld>
            <a:endParaRPr lang="en-US" altLang="zh-CN" sz="1400" b="0" smtClean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427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4686300"/>
            <a:ext cx="28956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B971BB81-E57E-4797-B32F-2DD2615C47AD}" type="slidenum">
              <a:rPr lang="en-US" altLang="zh-CN" sz="1400" b="0">
                <a:solidFill>
                  <a:prstClr val="black"/>
                </a:solidFill>
                <a:latin typeface="Arial Black" panose="020B0A04020102020204" pitchFamily="34" charset="0"/>
              </a:rPr>
              <a:t>3</a:t>
            </a:fld>
            <a:endParaRPr lang="en-US" altLang="zh-CN" sz="1400" b="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54277" name="Rectangle 7"/>
          <p:cNvSpPr>
            <a:spLocks noChangeArrowheads="1"/>
          </p:cNvSpPr>
          <p:nvPr/>
        </p:nvSpPr>
        <p:spPr bwMode="auto">
          <a:xfrm>
            <a:off x="107731" y="735546"/>
            <a:ext cx="87849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连接在同一个碳原子上的两个磁不价质子之间的耦合常数 ；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一般为负值，变化范围大。总体上同碳质子耦合种类较少。</a:t>
            </a:r>
          </a:p>
        </p:txBody>
      </p:sp>
      <p:pic>
        <p:nvPicPr>
          <p:cNvPr id="54278" name="Picture 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824" y="2063613"/>
            <a:ext cx="7239000" cy="301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71800" y="1663503"/>
            <a:ext cx="3096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常见的同碳耦合常数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8"/>
          <p:cNvSpPr>
            <a:spLocks noChangeArrowheads="1"/>
          </p:cNvSpPr>
          <p:nvPr/>
        </p:nvSpPr>
        <p:spPr bwMode="auto">
          <a:xfrm>
            <a:off x="609600" y="571500"/>
            <a:ext cx="8153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de 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= -16.5Hz</a:t>
            </a:r>
            <a:r>
              <a:rPr kumimoji="1" lang="zh-CN" altLang="en-US" sz="2400" b="1">
                <a:solidFill>
                  <a:srgbClr val="000099"/>
                </a:solidFill>
                <a:latin typeface="Times New Roman" panose="02020603050405020304" pitchFamily="18" charset="0"/>
              </a:rPr>
              <a:t>； </a:t>
            </a: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bc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 = -18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Hz</a:t>
            </a:r>
            <a:r>
              <a:rPr kumimoji="1" lang="zh-CN" altLang="en-US" sz="2400" b="1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cf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 = 5.5Hz; </a:t>
            </a: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bf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 = 9Hz</a:t>
            </a:r>
            <a:endParaRPr kumimoji="1" lang="en-US" altLang="zh-CN" sz="2400" b="1" baseline="-25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632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28" y="1023218"/>
            <a:ext cx="7523163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9540" y="2731377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ChangeArrowheads="1"/>
          </p:cNvSpPr>
          <p:nvPr/>
        </p:nvSpPr>
        <p:spPr bwMode="auto">
          <a:xfrm>
            <a:off x="563386" y="-2374"/>
            <a:ext cx="8458200" cy="193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2)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邻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碳质子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耦合常数（</a:t>
            </a:r>
            <a:r>
              <a:rPr kumimoji="1" lang="en-US" altLang="zh-CN" sz="28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相邻碳原子上两个质子（</a:t>
            </a:r>
            <a:r>
              <a:rPr kumimoji="1"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Ha—C—C—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Hb</a:t>
            </a:r>
            <a:r>
              <a:rPr kumimoji="1"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）之间的耦合常数</a:t>
            </a:r>
            <a:r>
              <a:rPr kumimoji="1"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；</a:t>
            </a:r>
            <a:r>
              <a:rPr kumimoji="1" lang="zh-CN" altLang="en-US" sz="24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是氢谱中是最常见和最重要的一种耦合常数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1" lang="zh-CN" altLang="en-US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371" name="Rectangle 6"/>
          <p:cNvSpPr>
            <a:spLocks noChangeArrowheads="1"/>
          </p:cNvSpPr>
          <p:nvPr/>
        </p:nvSpPr>
        <p:spPr bwMode="auto">
          <a:xfrm>
            <a:off x="670992" y="3172291"/>
            <a:ext cx="9338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372" name="Rectangle 7"/>
          <p:cNvSpPr>
            <a:spLocks noChangeArrowheads="1"/>
          </p:cNvSpPr>
          <p:nvPr/>
        </p:nvSpPr>
        <p:spPr bwMode="auto">
          <a:xfrm>
            <a:off x="2592016" y="3710024"/>
            <a:ext cx="15215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CH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CH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OH</a:t>
            </a:r>
          </a:p>
        </p:txBody>
      </p:sp>
      <p:sp>
        <p:nvSpPr>
          <p:cNvPr id="58373" name="Rectangle 8"/>
          <p:cNvSpPr>
            <a:spLocks noChangeArrowheads="1"/>
          </p:cNvSpPr>
          <p:nvPr/>
        </p:nvSpPr>
        <p:spPr bwMode="auto">
          <a:xfrm>
            <a:off x="2819400" y="325755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8374" name="Rectangle 9"/>
          <p:cNvSpPr>
            <a:spLocks noChangeArrowheads="1"/>
          </p:cNvSpPr>
          <p:nvPr/>
        </p:nvSpPr>
        <p:spPr bwMode="auto">
          <a:xfrm>
            <a:off x="3352801" y="3257550"/>
            <a:ext cx="4302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8375" name="Rectangle 10"/>
          <p:cNvSpPr>
            <a:spLocks noChangeArrowheads="1"/>
          </p:cNvSpPr>
          <p:nvPr/>
        </p:nvSpPr>
        <p:spPr bwMode="auto">
          <a:xfrm>
            <a:off x="4800600" y="3429000"/>
            <a:ext cx="1811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ab 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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7 Hz</a:t>
            </a:r>
          </a:p>
        </p:txBody>
      </p:sp>
      <p:pic>
        <p:nvPicPr>
          <p:cNvPr id="5837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307" y="4198441"/>
            <a:ext cx="19812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7" name="Rectangle 13"/>
          <p:cNvSpPr>
            <a:spLocks noChangeArrowheads="1"/>
          </p:cNvSpPr>
          <p:nvPr/>
        </p:nvSpPr>
        <p:spPr bwMode="auto">
          <a:xfrm>
            <a:off x="4876800" y="4114800"/>
            <a:ext cx="17171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ac = 6.8Hz</a:t>
            </a:r>
          </a:p>
        </p:txBody>
      </p:sp>
      <p:sp>
        <p:nvSpPr>
          <p:cNvPr id="58378" name="Rectangle 14"/>
          <p:cNvSpPr>
            <a:spLocks noChangeArrowheads="1"/>
          </p:cNvSpPr>
          <p:nvPr/>
        </p:nvSpPr>
        <p:spPr bwMode="auto">
          <a:xfrm>
            <a:off x="4876801" y="4514850"/>
            <a:ext cx="1734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1" lang="en-US" altLang="zh-CN" sz="24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bc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= 6.7Hz</a:t>
            </a:r>
          </a:p>
        </p:txBody>
      </p:sp>
      <p:sp>
        <p:nvSpPr>
          <p:cNvPr id="2" name="矩形 1"/>
          <p:cNvSpPr/>
          <p:nvPr/>
        </p:nvSpPr>
        <p:spPr>
          <a:xfrm>
            <a:off x="433771" y="1824230"/>
            <a:ext cx="8458200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1" lang="en-US" altLang="zh-CN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杂化体系：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zh-CN" altLang="en-US" sz="2400" b="1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单键能自由旋转时</a:t>
            </a:r>
            <a:r>
              <a:rPr kumimoji="1" lang="en-US" altLang="zh-CN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 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 Hz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（常见于饱和脂肪族化合物中</a:t>
            </a:r>
            <a:r>
              <a:rPr kumimoji="1" lang="zh-CN" altLang="en-US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/>
      <p:bldP spid="58372" grpId="0"/>
      <p:bldP spid="58373" grpId="0"/>
      <p:bldP spid="58374" grpId="0"/>
      <p:bldP spid="58375" grpId="0"/>
      <p:bldP spid="58377" grpId="0"/>
      <p:bldP spid="58378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ChangeArrowheads="1"/>
          </p:cNvSpPr>
          <p:nvPr/>
        </p:nvSpPr>
        <p:spPr bwMode="auto">
          <a:xfrm>
            <a:off x="0" y="85733"/>
            <a:ext cx="83058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800100" lvl="1" indent="-3429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构象固定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b="1" baseline="30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是两面角</a:t>
            </a:r>
            <a:r>
              <a:rPr kumimoji="1" lang="zh-CN" altLang="en-US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kumimoji="1" lang="zh-CN" altLang="en-US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cos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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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       </a:t>
            </a:r>
            <a:r>
              <a:rPr kumimoji="1" lang="en-US" altLang="zh-CN" sz="2400"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Karplus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cos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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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           </a:t>
            </a:r>
          </a:p>
          <a:p>
            <a:pPr lvl="1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时的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值；</a:t>
            </a:r>
            <a:r>
              <a:rPr kumimoji="1" lang="zh-CN" altLang="en-US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lvl="1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时的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值，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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   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为常数。</a:t>
            </a:r>
          </a:p>
        </p:txBody>
      </p:sp>
      <p:pic>
        <p:nvPicPr>
          <p:cNvPr id="6041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180209"/>
            <a:ext cx="2943225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503" y="2684185"/>
            <a:ext cx="4067600" cy="228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95486"/>
            <a:ext cx="8763000" cy="44350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400" b="1" u="sng" dirty="0" smtClean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乙烯型的 </a:t>
            </a:r>
            <a:r>
              <a:rPr lang="en-US" altLang="zh-CN" sz="2400" b="1" u="sng" baseline="30000" dirty="0" smtClean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i="1" u="sng" dirty="0" smtClean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: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2467" name="Picture 3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1894" y="1491630"/>
            <a:ext cx="5257800" cy="1058466"/>
          </a:xfrm>
          <a:noFill/>
        </p:spPr>
      </p:pic>
      <p:sp>
        <p:nvSpPr>
          <p:cNvPr id="62468" name="Rectangle 24"/>
          <p:cNvSpPr>
            <a:spLocks noChangeArrowheads="1"/>
          </p:cNvSpPr>
          <p:nvPr/>
        </p:nvSpPr>
        <p:spPr bwMode="auto">
          <a:xfrm>
            <a:off x="609600" y="2686050"/>
            <a:ext cx="6400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baseline="30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b="1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顺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 baseline="30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 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均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随取代基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的电负性增加而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减小</a:t>
            </a:r>
            <a:endParaRPr kumimoji="1"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469" name="Rectangle 29"/>
          <p:cNvSpPr>
            <a:spLocks noChangeArrowheads="1"/>
          </p:cNvSpPr>
          <p:nvPr/>
        </p:nvSpPr>
        <p:spPr bwMode="auto">
          <a:xfrm>
            <a:off x="762000" y="4457700"/>
            <a:ext cx="838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根据耦合常数的大小可以判断烯烃取代类型以及归属各质子</a:t>
            </a:r>
          </a:p>
        </p:txBody>
      </p:sp>
      <p:pic>
        <p:nvPicPr>
          <p:cNvPr id="62470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144622"/>
            <a:ext cx="6172200" cy="1127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53616" y="588963"/>
            <a:ext cx="8712968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顺位两个质子</a:t>
            </a:r>
            <a:r>
              <a:rPr lang="zh-CN" altLang="en-US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；反位两个质子</a:t>
            </a:r>
            <a:r>
              <a:rPr lang="zh-CN" altLang="en-US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。所以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baseline="30000" dirty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i="1" dirty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 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</a:t>
            </a:r>
            <a:r>
              <a:rPr lang="en-US" altLang="zh-CN" sz="2400" b="1" baseline="30000" dirty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i="1" dirty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顺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/>
      <p:bldP spid="62469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6" descr="未命名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43" y="631999"/>
            <a:ext cx="8458200" cy="3915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Rectangle 7"/>
          <p:cNvSpPr>
            <a:spLocks noChangeArrowheads="1"/>
          </p:cNvSpPr>
          <p:nvPr/>
        </p:nvSpPr>
        <p:spPr bwMode="auto">
          <a:xfrm>
            <a:off x="5105401" y="1257301"/>
            <a:ext cx="11240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99"/>
                </a:solidFill>
                <a:latin typeface="Times New Roman" panose="02020603050405020304" pitchFamily="18" charset="0"/>
              </a:rPr>
              <a:t>500MHz</a:t>
            </a:r>
          </a:p>
        </p:txBody>
      </p:sp>
      <p:sp>
        <p:nvSpPr>
          <p:cNvPr id="187400" name="Rectangle 8"/>
          <p:cNvSpPr>
            <a:spLocks noChangeArrowheads="1"/>
          </p:cNvSpPr>
          <p:nvPr/>
        </p:nvSpPr>
        <p:spPr bwMode="auto">
          <a:xfrm>
            <a:off x="4876801" y="1714500"/>
            <a:ext cx="21371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baseline="30000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solidFill>
                  <a:srgbClr val="CC0000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ge</a:t>
            </a:r>
            <a:r>
              <a:rPr kumimoji="1"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&gt; </a:t>
            </a:r>
            <a:r>
              <a:rPr kumimoji="1" lang="en-US" altLang="zh-CN" sz="2400" b="1" baseline="30000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solidFill>
                  <a:srgbClr val="CC0000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ef</a:t>
            </a:r>
            <a:r>
              <a:rPr kumimoji="1"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&gt; </a:t>
            </a:r>
            <a:r>
              <a:rPr kumimoji="1" lang="en-US" altLang="zh-CN" sz="2400" b="1" baseline="30000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srgbClr val="CC0000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gf</a:t>
            </a:r>
          </a:p>
        </p:txBody>
      </p:sp>
      <p:sp>
        <p:nvSpPr>
          <p:cNvPr id="64517" name="Rectangle 9"/>
          <p:cNvSpPr>
            <a:spLocks noChangeArrowheads="1"/>
          </p:cNvSpPr>
          <p:nvPr/>
        </p:nvSpPr>
        <p:spPr bwMode="auto">
          <a:xfrm>
            <a:off x="369843" y="170334"/>
            <a:ext cx="41857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利用耦合常数归属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烯烃质子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64518" name="Rectangle 10"/>
          <p:cNvSpPr>
            <a:spLocks noChangeArrowheads="1"/>
          </p:cNvSpPr>
          <p:nvPr/>
        </p:nvSpPr>
        <p:spPr bwMode="auto">
          <a:xfrm>
            <a:off x="4953000" y="2228850"/>
            <a:ext cx="19736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1" lang="zh-CN" altLang="en-US" sz="24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反 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&gt; </a:t>
            </a: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1" lang="zh-CN" altLang="en-US" sz="24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顺 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&gt; </a:t>
            </a: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60500" y="631999"/>
            <a:ext cx="156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53850" y="2632672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g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7744" y="2589982"/>
            <a:ext cx="292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e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30623" y="2589982"/>
            <a:ext cx="42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f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704638"/>
            <a:ext cx="8153400" cy="4220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2743201" y="1314451"/>
            <a:ext cx="11240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99"/>
                </a:solidFill>
                <a:latin typeface="Times New Roman" panose="02020603050405020304" pitchFamily="18" charset="0"/>
              </a:rPr>
              <a:t>400MHz</a:t>
            </a:r>
          </a:p>
        </p:txBody>
      </p:sp>
      <p:graphicFrame>
        <p:nvGraphicFramePr>
          <p:cNvPr id="67588" name="Object 5"/>
          <p:cNvGraphicFramePr>
            <a:graphicFrameLocks noChangeAspect="1"/>
          </p:cNvGraphicFramePr>
          <p:nvPr/>
        </p:nvGraphicFramePr>
        <p:xfrm>
          <a:off x="2743200" y="1586113"/>
          <a:ext cx="3200400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" name="CS ChemDraw Drawing" r:id="rId5" imgW="1606550" imgH="877570" progId="ChemDraw.Document.6.0">
                  <p:embed/>
                </p:oleObj>
              </mc:Choice>
              <mc:Fallback>
                <p:oleObj name="CS ChemDraw Drawing" r:id="rId5" imgW="1606550" imgH="877570" progId="ChemDraw.Document.6.0">
                  <p:embed/>
                  <p:pic>
                    <p:nvPicPr>
                      <p:cNvPr id="0" name="图片 20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586113"/>
                        <a:ext cx="3200400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5" name="Rectangle 9"/>
          <p:cNvSpPr>
            <a:spLocks noChangeArrowheads="1"/>
          </p:cNvSpPr>
          <p:nvPr/>
        </p:nvSpPr>
        <p:spPr bwMode="auto">
          <a:xfrm>
            <a:off x="2438401" y="2914650"/>
            <a:ext cx="2226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baseline="3000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>
                <a:solidFill>
                  <a:srgbClr val="CC0000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CC0000"/>
                </a:solidFill>
                <a:latin typeface="Times New Roman" panose="02020603050405020304" pitchFamily="18" charset="0"/>
              </a:rPr>
              <a:t>ac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anose="02020603050405020304" pitchFamily="18" charset="0"/>
              </a:rPr>
              <a:t> &gt; </a:t>
            </a:r>
            <a:r>
              <a:rPr kumimoji="1" lang="en-US" altLang="zh-CN" sz="2400" b="1" baseline="3000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>
                <a:solidFill>
                  <a:srgbClr val="CC0000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CC0000"/>
                </a:solidFill>
                <a:latin typeface="Times New Roman" panose="02020603050405020304" pitchFamily="18" charset="0"/>
              </a:rPr>
              <a:t>ab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anose="02020603050405020304" pitchFamily="18" charset="0"/>
              </a:rPr>
              <a:t> &gt; </a:t>
            </a:r>
            <a:r>
              <a:rPr kumimoji="1" lang="en-US" altLang="zh-CN" sz="2400" b="1" baseline="3000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solidFill>
                  <a:srgbClr val="CC0000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CC0000"/>
                </a:solidFill>
                <a:latin typeface="Times New Roman" panose="02020603050405020304" pitchFamily="18" charset="0"/>
              </a:rPr>
              <a:t>bc</a:t>
            </a:r>
          </a:p>
        </p:txBody>
      </p:sp>
      <p:sp>
        <p:nvSpPr>
          <p:cNvPr id="67590" name="Rectangle 10"/>
          <p:cNvSpPr>
            <a:spLocks noChangeArrowheads="1"/>
          </p:cNvSpPr>
          <p:nvPr/>
        </p:nvSpPr>
        <p:spPr bwMode="auto">
          <a:xfrm>
            <a:off x="533400" y="171450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归属烯烃质子：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4168" y="2085696"/>
            <a:ext cx="156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60032" y="2914650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</a:rPr>
              <a:t>a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84168" y="2350834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</a:rPr>
              <a:t>c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59112" y="227036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</a:rPr>
              <a:t>b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/>
          <p:cNvSpPr>
            <a:spLocks noChangeArrowheads="1"/>
          </p:cNvSpPr>
          <p:nvPr/>
        </p:nvSpPr>
        <p:spPr bwMode="auto">
          <a:xfrm>
            <a:off x="457200" y="677280"/>
            <a:ext cx="8458200" cy="726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3)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远程耦合常数</a:t>
            </a:r>
            <a:endParaRPr kumimoji="1"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9552" y="1812242"/>
            <a:ext cx="8604448" cy="197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间隔</a:t>
            </a:r>
            <a:r>
              <a:rPr kumimoji="1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四根或四根以上化学键的两质子之间的耦合</a:t>
            </a:r>
            <a:r>
              <a:rPr kumimoji="1"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常数；</a:t>
            </a:r>
            <a:endParaRPr kumimoji="1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耦合作用较小，一般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kumimoji="1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0 ~ 3Hz</a:t>
            </a:r>
            <a:r>
              <a:rPr kumimoji="1"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</a:t>
            </a:r>
            <a:r>
              <a:rPr kumimoji="1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耦合作用在烯烃、炔烃和芳香烃中比较</a:t>
            </a:r>
            <a:r>
              <a:rPr kumimoji="1"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普遍。</a:t>
            </a:r>
            <a:endParaRPr kumimoji="1"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6"/>
          <p:cNvSpPr>
            <a:spLocks noChangeArrowheads="1"/>
          </p:cNvSpPr>
          <p:nvPr/>
        </p:nvSpPr>
        <p:spPr bwMode="auto">
          <a:xfrm>
            <a:off x="914400" y="424191"/>
            <a:ext cx="40847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a.</a:t>
            </a:r>
            <a:r>
              <a:rPr lang="zh-CN" altLang="en-US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烯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丙位和高烯丙位耦合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278732"/>
            <a:ext cx="4493430" cy="2373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87824" y="4191930"/>
            <a:ext cx="1189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36096" y="4191930"/>
            <a:ext cx="1397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5750"/>
            <a:ext cx="845820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0"/>
            <a:ext cx="2971800" cy="1408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1128" name="Rectangle 8"/>
          <p:cNvSpPr>
            <a:spLocks noChangeArrowheads="1"/>
          </p:cNvSpPr>
          <p:nvPr/>
        </p:nvSpPr>
        <p:spPr bwMode="auto">
          <a:xfrm>
            <a:off x="2743200" y="2057400"/>
            <a:ext cx="3209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1129" name="Rectangle 9"/>
          <p:cNvSpPr>
            <a:spLocks noChangeArrowheads="1"/>
          </p:cNvSpPr>
          <p:nvPr/>
        </p:nvSpPr>
        <p:spPr bwMode="auto">
          <a:xfrm>
            <a:off x="1447800" y="102870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8264" y="147251"/>
            <a:ext cx="156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020" y="1343661"/>
            <a:ext cx="4191000" cy="2603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7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6676" y="4352925"/>
            <a:ext cx="3362325" cy="627460"/>
          </a:xfrm>
        </p:spPr>
      </p:pic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735580"/>
            <a:ext cx="40386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" y="436880"/>
            <a:ext cx="20193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0"/>
            <a:ext cx="2971800" cy="1408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53"/>
          <p:cNvSpPr>
            <a:spLocks noChangeArrowheads="1"/>
          </p:cNvSpPr>
          <p:nvPr/>
        </p:nvSpPr>
        <p:spPr bwMode="auto">
          <a:xfrm>
            <a:off x="726502" y="302580"/>
            <a:ext cx="60057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芳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环和杂芳环上</a:t>
            </a:r>
            <a:r>
              <a:rPr lang="zh-CN" altLang="en-US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质子的远程耦合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731" name="Rectangle 54"/>
          <p:cNvSpPr>
            <a:spLocks noChangeArrowheads="1"/>
          </p:cNvSpPr>
          <p:nvPr/>
        </p:nvSpPr>
        <p:spPr bwMode="auto">
          <a:xfrm>
            <a:off x="1295400" y="825800"/>
            <a:ext cx="6781800" cy="24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苯环上及杂环上质子的耦合：</a:t>
            </a:r>
          </a:p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邻位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质子的耦合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耦合）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邻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 ~ 10 Hz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</a:p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间位质子的耦合（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耦合）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间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1~ 3 Hz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</a:p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对位质子的耦合（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耦合）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~ 1 Hz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</a:p>
        </p:txBody>
      </p:sp>
      <p:pic>
        <p:nvPicPr>
          <p:cNvPr id="73732" name="Picture 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493" y="3382956"/>
            <a:ext cx="6551613" cy="1350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28650"/>
            <a:ext cx="7239000" cy="319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5" name="Rectangle 5"/>
          <p:cNvSpPr>
            <a:spLocks noChangeArrowheads="1"/>
          </p:cNvSpPr>
          <p:nvPr/>
        </p:nvSpPr>
        <p:spPr bwMode="auto">
          <a:xfrm>
            <a:off x="4800600" y="914400"/>
            <a:ext cx="1842171" cy="46166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baseline="3000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ab  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≈ 2.4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8264" y="1857732"/>
            <a:ext cx="156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19672" y="91440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83768" y="116720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ChangeArrowheads="1"/>
          </p:cNvSpPr>
          <p:nvPr/>
        </p:nvSpPr>
        <p:spPr bwMode="auto">
          <a:xfrm>
            <a:off x="3733800" y="4057650"/>
            <a:ext cx="2226892" cy="46166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baseline="30000" dirty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bc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 &gt; </a:t>
            </a:r>
            <a:r>
              <a:rPr kumimoji="1" lang="en-US" altLang="zh-CN" sz="2400" b="1" baseline="30000" dirty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ab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 &gt; </a:t>
            </a:r>
            <a:r>
              <a:rPr kumimoji="1" lang="en-US" altLang="zh-CN" sz="2400" b="1" baseline="30000" dirty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  <a:r>
              <a:rPr kumimoji="1" lang="en-US" altLang="zh-CN" sz="24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ac</a:t>
            </a:r>
          </a:p>
        </p:txBody>
      </p:sp>
      <p:pic>
        <p:nvPicPr>
          <p:cNvPr id="7577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571500"/>
            <a:ext cx="6276975" cy="310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599977" y="1378896"/>
            <a:ext cx="8515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b(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dd</a:t>
            </a: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053779" y="1035996"/>
            <a:ext cx="6799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c(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483769" y="1028700"/>
            <a:ext cx="6799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a(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8264" y="147251"/>
            <a:ext cx="156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6"/>
          <p:cNvSpPr>
            <a:spLocks noChangeArrowheads="1"/>
          </p:cNvSpPr>
          <p:nvPr/>
        </p:nvSpPr>
        <p:spPr bwMode="auto">
          <a:xfrm>
            <a:off x="762000" y="309891"/>
            <a:ext cx="37112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800" b="1" dirty="0" smtClean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折线</a:t>
            </a:r>
            <a:r>
              <a:rPr lang="zh-CN" altLang="en-US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型耦合（了解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7" name="Rectangle 8"/>
          <p:cNvSpPr>
            <a:spLocks noChangeArrowheads="1"/>
          </p:cNvSpPr>
          <p:nvPr/>
        </p:nvSpPr>
        <p:spPr bwMode="auto">
          <a:xfrm>
            <a:off x="0" y="1974384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990033"/>
              </a:solidFill>
              <a:ea typeface="楷体_GB2312" pitchFamily="49" charset="-122"/>
            </a:endParaRPr>
          </a:p>
        </p:txBody>
      </p:sp>
      <p:sp>
        <p:nvSpPr>
          <p:cNvPr id="77828" name="Rectangle 10"/>
          <p:cNvSpPr>
            <a:spLocks noChangeArrowheads="1"/>
          </p:cNvSpPr>
          <p:nvPr/>
        </p:nvSpPr>
        <p:spPr bwMode="auto">
          <a:xfrm>
            <a:off x="0" y="187080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990033"/>
              </a:solidFill>
              <a:ea typeface="楷体_GB2312" pitchFamily="49" charset="-122"/>
            </a:endParaRPr>
          </a:p>
        </p:txBody>
      </p:sp>
      <p:graphicFrame>
        <p:nvGraphicFramePr>
          <p:cNvPr id="77829" name="Object 9"/>
          <p:cNvGraphicFramePr>
            <a:graphicFrameLocks noChangeAspect="1"/>
          </p:cNvGraphicFramePr>
          <p:nvPr/>
        </p:nvGraphicFramePr>
        <p:xfrm>
          <a:off x="1905000" y="2571750"/>
          <a:ext cx="5334000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r:id="rId4" imgW="3695700" imgH="1447800" progId="Unknown">
                  <p:embed/>
                </p:oleObj>
              </mc:Choice>
              <mc:Fallback>
                <p:oleObj r:id="rId4" imgW="3695700" imgH="1447800" progId="Unknown">
                  <p:embed/>
                  <p:pic>
                    <p:nvPicPr>
                      <p:cNvPr id="0" name="图片 30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71750"/>
                        <a:ext cx="5334000" cy="157162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7830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028700"/>
            <a:ext cx="7993063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1" name="Rectangle 13"/>
          <p:cNvSpPr>
            <a:spLocks noChangeArrowheads="1"/>
          </p:cNvSpPr>
          <p:nvPr/>
        </p:nvSpPr>
        <p:spPr bwMode="auto">
          <a:xfrm>
            <a:off x="6172200" y="2743200"/>
            <a:ext cx="98135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Ha, </a:t>
            </a:r>
            <a:r>
              <a:rPr lang="en-US" altLang="zh-CN" sz="2000" b="1" dirty="0" err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Hb</a:t>
            </a:r>
            <a:endParaRPr lang="en-US" altLang="zh-CN" sz="2000" b="1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无耦合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1"/>
          <p:cNvSpPr>
            <a:spLocks noChangeArrowheads="1"/>
          </p:cNvSpPr>
          <p:nvPr/>
        </p:nvSpPr>
        <p:spPr bwMode="auto">
          <a:xfrm>
            <a:off x="1043608" y="1158317"/>
            <a:ext cx="6986736" cy="22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32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虽然理论上讲有远程耦合，但耦合常数很小时不会清楚地表现出谱峰的裂分，仅仅显得稍微“胖”一点。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508097" y="0"/>
            <a:ext cx="8382000" cy="1155018"/>
          </a:xfrm>
        </p:spPr>
        <p:txBody>
          <a:bodyPr/>
          <a:lstStyle/>
          <a:p>
            <a:pPr eaLnBrk="1" hangingPunct="1">
              <a:lnSpc>
                <a:spcPct val="170000"/>
              </a:lnSpc>
              <a:buFontTx/>
              <a:buNone/>
            </a:pP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质子与其他核的耦合（了解）</a:t>
            </a:r>
            <a:endParaRPr lang="en-US" altLang="zh-CN" sz="28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70000"/>
              </a:lnSpc>
              <a:buFontTx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≠0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的核，能与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发生耦合作用，使谱峰发生裂分。</a:t>
            </a:r>
          </a:p>
          <a:p>
            <a:pPr marL="0" indent="0" eaLnBrk="1" hangingPunct="1">
              <a:lnSpc>
                <a:spcPct val="170000"/>
              </a:lnSpc>
              <a:buSzPct val="80000"/>
              <a:buNone/>
            </a:pPr>
            <a:endParaRPr lang="zh-CN" altLang="en-US" sz="24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9552" y="1480337"/>
            <a:ext cx="7971650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en-US" altLang="zh-CN" sz="2400" b="1" baseline="30000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 </a:t>
            </a:r>
            <a:r>
              <a:rPr lang="zh-CN" altLang="en-US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baseline="30000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的耦合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主要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出现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在氘代溶剂中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耦合作用很小，裂分峰数符合</a:t>
            </a:r>
            <a:r>
              <a:rPr lang="en-US" altLang="zh-CN" sz="24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2nI+1 (</a:t>
            </a:r>
            <a:r>
              <a:rPr lang="en-US" altLang="zh-CN" sz="2400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1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规律。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SzPct val="80000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CD</a:t>
            </a:r>
            <a:r>
              <a:rPr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COCD</a:t>
            </a:r>
            <a:r>
              <a:rPr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(δ2.05, 5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重峰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COCD</a:t>
            </a:r>
            <a:r>
              <a:rPr lang="en-US" altLang="zh-CN" sz="2400" baseline="-250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en-US" altLang="zh-CN" sz="2400" baseline="-250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4686" y="2754532"/>
            <a:ext cx="82603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en-US" altLang="zh-CN" sz="2400" b="1" baseline="30000" dirty="0" smtClean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13</a:t>
            </a:r>
            <a:r>
              <a:rPr lang="en-US" altLang="zh-CN" sz="2400" b="1" dirty="0" smtClean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baseline="30000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的耦合</a:t>
            </a: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一般情况下不考虑，因</a:t>
            </a:r>
            <a:r>
              <a:rPr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13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天然丰度仅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％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左右。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4686" y="3795886"/>
            <a:ext cx="8260382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en-US" altLang="zh-CN" sz="2400" b="1" baseline="30000" dirty="0" smtClean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14</a:t>
            </a:r>
            <a:r>
              <a:rPr lang="en-US" altLang="zh-CN" sz="2400" b="1" dirty="0" smtClean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 smtClean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baseline="30000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的耦合</a:t>
            </a: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aseline="30000" dirty="0"/>
              <a:t>14</a:t>
            </a:r>
            <a:r>
              <a:rPr lang="en-US" altLang="zh-CN" sz="2400" dirty="0"/>
              <a:t>N</a:t>
            </a:r>
            <a:r>
              <a:rPr lang="zh-CN" altLang="en-US" sz="2400" dirty="0"/>
              <a:t>自旋量子数为</a:t>
            </a:r>
            <a:r>
              <a:rPr lang="en-US" altLang="zh-CN" sz="2400" dirty="0"/>
              <a:t>1</a:t>
            </a:r>
            <a:r>
              <a:rPr lang="zh-CN" altLang="en-US" sz="2400" dirty="0"/>
              <a:t>，有电四级弛豫，与</a:t>
            </a:r>
            <a:r>
              <a:rPr lang="en-US" altLang="zh-CN" sz="2400" dirty="0"/>
              <a:t>H1</a:t>
            </a:r>
            <a:r>
              <a:rPr lang="zh-CN" altLang="en-US" sz="2400" dirty="0"/>
              <a:t>的耦合比较</a:t>
            </a:r>
            <a:r>
              <a:rPr lang="zh-CN" altLang="en-US" sz="2400" dirty="0" smtClean="0"/>
              <a:t>复杂。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6"/>
          <p:cNvSpPr>
            <a:spLocks noChangeArrowheads="1"/>
          </p:cNvSpPr>
          <p:nvPr/>
        </p:nvSpPr>
        <p:spPr bwMode="auto">
          <a:xfrm>
            <a:off x="179512" y="139053"/>
            <a:ext cx="8202488" cy="405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9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1" lang="en-US" altLang="zh-CN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的耦合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kumimoji="1" lang="zh-CN" altLang="en-US" sz="2400" baseline="3000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=1/2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，对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的耦合符合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n+1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规律；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之间的耦合较强，可传递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2-5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根化学键；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的耦合相对较弱。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在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HNMR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谱中，表现出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的耦合裂分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FNMR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PNMR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谱中，同样表现出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的耦合裂分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4" name="Object 2"/>
          <p:cNvGraphicFramePr>
            <a:graphicFrameLocks noChangeAspect="1"/>
          </p:cNvGraphicFramePr>
          <p:nvPr/>
        </p:nvGraphicFramePr>
        <p:xfrm>
          <a:off x="7380312" y="195486"/>
          <a:ext cx="1524000" cy="540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4" name="CS ChemDraw Drawing" r:id="rId4" imgW="773430" imgH="367665" progId="ChemDraw.Document.6.0">
                  <p:embed/>
                </p:oleObj>
              </mc:Choice>
              <mc:Fallback>
                <p:oleObj name="CS ChemDraw Drawing" r:id="rId4" imgW="773430" imgH="367665" progId="ChemDraw.Document.6.0">
                  <p:embed/>
                  <p:pic>
                    <p:nvPicPr>
                      <p:cNvPr id="0" name="图片 4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195486"/>
                        <a:ext cx="1524000" cy="540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5004048" y="3813888"/>
          <a:ext cx="1295400" cy="45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5" name="CS ChemDraw Drawing" r:id="rId6" imgW="490855" imgH="229235" progId="ChemDraw.Document.6.0">
                  <p:embed/>
                </p:oleObj>
              </mc:Choice>
              <mc:Fallback>
                <p:oleObj name="CS ChemDraw Drawing" r:id="rId6" imgW="490855" imgH="229235" progId="ChemDraw.Document.6.0">
                  <p:embed/>
                  <p:pic>
                    <p:nvPicPr>
                      <p:cNvPr id="0" name="图片 4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3813888"/>
                        <a:ext cx="1295400" cy="456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6" name="Object 4"/>
          <p:cNvGraphicFramePr>
            <a:graphicFrameLocks noChangeAspect="1"/>
          </p:cNvGraphicFramePr>
          <p:nvPr/>
        </p:nvGraphicFramePr>
        <p:xfrm>
          <a:off x="5076056" y="4461960"/>
          <a:ext cx="1447800" cy="444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6" name="CS ChemDraw Drawing" r:id="rId8" imgW="561975" imgH="231140" progId="ChemDraw.Document.6.0">
                  <p:embed/>
                </p:oleObj>
              </mc:Choice>
              <mc:Fallback>
                <p:oleObj name="CS ChemDraw Drawing" r:id="rId8" imgW="561975" imgH="231140" progId="ChemDraw.Document.6.0">
                  <p:embed/>
                  <p:pic>
                    <p:nvPicPr>
                      <p:cNvPr id="0" name="图片 4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4461960"/>
                        <a:ext cx="1447800" cy="444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7" name="Object 5"/>
          <p:cNvGraphicFramePr>
            <a:graphicFrameLocks noChangeAspect="1"/>
          </p:cNvGraphicFramePr>
          <p:nvPr/>
        </p:nvGraphicFramePr>
        <p:xfrm>
          <a:off x="1763689" y="3435846"/>
          <a:ext cx="14255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7" name="CS ChemDraw Drawing" r:id="rId10" imgW="600075" imgH="608965" progId="ChemDraw.Document.6.0">
                  <p:embed/>
                </p:oleObj>
              </mc:Choice>
              <mc:Fallback>
                <p:oleObj name="CS ChemDraw Drawing" r:id="rId10" imgW="600075" imgH="608965" progId="ChemDraw.Document.6.0">
                  <p:embed/>
                  <p:pic>
                    <p:nvPicPr>
                      <p:cNvPr id="0" name="图片 41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9" y="3435846"/>
                        <a:ext cx="142557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1835696" y="4623978"/>
          <a:ext cx="1143000" cy="388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8" name="CS ChemDraw Drawing" r:id="rId12" imgW="506730" imgH="230505" progId="ChemDraw.Document.6.0">
                  <p:embed/>
                </p:oleObj>
              </mc:Choice>
              <mc:Fallback>
                <p:oleObj name="CS ChemDraw Drawing" r:id="rId12" imgW="506730" imgH="230505" progId="ChemDraw.Document.6.0">
                  <p:embed/>
                  <p:pic>
                    <p:nvPicPr>
                      <p:cNvPr id="0" name="图片 4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623978"/>
                        <a:ext cx="1143000" cy="388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5113" y="627534"/>
          <a:ext cx="7315200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9" name="CS ChemDraw Drawing" r:id="rId14" imgW="5452745" imgH="2719070" progId="ChemDraw.Document.6.0">
                  <p:embed/>
                </p:oleObj>
              </mc:Choice>
              <mc:Fallback>
                <p:oleObj name="CS ChemDraw Drawing" r:id="rId14" imgW="5452745" imgH="2719070" progId="ChemDraw.Document.6.0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3" y="627534"/>
                        <a:ext cx="7315200" cy="285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15616" y="154563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a(d*q)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580112" y="78955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b(d*t)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870</Words>
  <Application>Microsoft Office PowerPoint</Application>
  <PresentationFormat>全屏显示(16:9)</PresentationFormat>
  <Paragraphs>114</Paragraphs>
  <Slides>21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楷体_GB2312</vt:lpstr>
      <vt:lpstr>宋体</vt:lpstr>
      <vt:lpstr>微软雅黑</vt:lpstr>
      <vt:lpstr>Arial</vt:lpstr>
      <vt:lpstr>Arial Black</vt:lpstr>
      <vt:lpstr>Calibri</vt:lpstr>
      <vt:lpstr>Symbol</vt:lpstr>
      <vt:lpstr>Times New Roman</vt:lpstr>
      <vt:lpstr>Wingdings</vt:lpstr>
      <vt:lpstr>1_Office 主题​​</vt:lpstr>
      <vt:lpstr>1_主题3</vt:lpstr>
      <vt:lpstr>CS ChemDraw Drawing</vt:lpstr>
      <vt:lpstr>Unknown</vt:lpstr>
      <vt:lpstr>三、耦合作用的一般规则和一级谱图</vt:lpstr>
      <vt:lpstr>3.影响耦合常数的因素</vt:lpstr>
      <vt:lpstr> 1) 同碳质子耦合常数（2J 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xiawei</dc:creator>
  <cp:lastModifiedBy>Windows 用户</cp:lastModifiedBy>
  <cp:revision>221</cp:revision>
  <dcterms:created xsi:type="dcterms:W3CDTF">2019-07-19T02:05:00Z</dcterms:created>
  <dcterms:modified xsi:type="dcterms:W3CDTF">2021-11-28T12:35:54Z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