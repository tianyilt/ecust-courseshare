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5" r:id="rId3"/>
  </p:sldMasterIdLst>
  <p:notesMasterIdLst>
    <p:notesMasterId r:id="rId32"/>
  </p:notesMasterIdLst>
  <p:sldIdLst>
    <p:sldId id="332" r:id="rId4"/>
    <p:sldId id="334" r:id="rId5"/>
    <p:sldId id="335" r:id="rId6"/>
    <p:sldId id="336" r:id="rId7"/>
    <p:sldId id="337" r:id="rId8"/>
    <p:sldId id="338" r:id="rId9"/>
    <p:sldId id="339" r:id="rId10"/>
    <p:sldId id="333" r:id="rId11"/>
    <p:sldId id="330" r:id="rId12"/>
    <p:sldId id="258" r:id="rId13"/>
    <p:sldId id="259" r:id="rId14"/>
    <p:sldId id="260" r:id="rId15"/>
    <p:sldId id="261" r:id="rId16"/>
    <p:sldId id="265" r:id="rId17"/>
    <p:sldId id="266" r:id="rId18"/>
    <p:sldId id="267" r:id="rId19"/>
    <p:sldId id="268" r:id="rId20"/>
    <p:sldId id="331" r:id="rId21"/>
    <p:sldId id="269" r:id="rId22"/>
    <p:sldId id="270" r:id="rId23"/>
    <p:sldId id="271" r:id="rId24"/>
    <p:sldId id="272" r:id="rId25"/>
    <p:sldId id="274" r:id="rId26"/>
    <p:sldId id="276" r:id="rId27"/>
    <p:sldId id="277" r:id="rId28"/>
    <p:sldId id="278" r:id="rId29"/>
    <p:sldId id="279" r:id="rId30"/>
    <p:sldId id="280" r:id="rId3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419" autoAdjust="0"/>
  </p:normalViewPr>
  <p:slideViewPr>
    <p:cSldViewPr>
      <p:cViewPr varScale="1">
        <p:scale>
          <a:sx n="100" d="100"/>
          <a:sy n="100" d="100"/>
        </p:scale>
        <p:origin x="191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DF724-74A1-4033-9A27-1B1B1AFF474A}" type="datetimeFigureOut">
              <a:rPr lang="zh-CN" altLang="en-US" smtClean="0"/>
              <a:t>2021/11/28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D20E2-0712-49D3-94A0-13E1910CF5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016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9395" name="文本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5000"/>
              <a:buFont typeface="Wingdings" panose="05000000000000000000" charset="0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DF8C0-17DD-4DBC-B7C5-4C0273D8B586}" type="slidenum">
              <a:rPr lang="en-US" altLang="zh-CN" smtClean="0">
                <a:solidFill>
                  <a:prstClr val="black"/>
                </a:solidFill>
              </a:rPr>
              <a:t>8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z="2200" b="0" dirty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439EA544-D7A7-40E0-BC53-D7BD2B4C3FE8}" type="slidenum">
              <a:rPr lang="zh-CN" altLang="en-US" sz="1200"/>
              <a:t>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defRPr/>
            </a:pPr>
            <a:endParaRPr lang="en-US" altLang="zh-CN" dirty="0" smtClean="0">
              <a:solidFill>
                <a:srgbClr val="000000"/>
              </a:solidFill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7F51FFC8-E7F1-4895-B552-6D37FD4D07D3}" type="slidenum">
              <a:rPr lang="zh-CN" altLang="en-US" sz="1200"/>
              <a:t>10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altLang="zh-CN" sz="2400" b="0" dirty="0" smtClean="0">
              <a:solidFill>
                <a:srgbClr val="99003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3A228685-6911-4890-9F25-F80AD1F74970}" type="slidenum">
              <a:rPr lang="zh-CN" altLang="en-US" sz="1200"/>
              <a:t>11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A8A80BFA-CFD0-46A9-A923-72E03DB26CEB}" type="slidenum">
              <a:rPr lang="zh-CN" altLang="en-US" sz="1200"/>
              <a:t>12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D4FC8B86-A0DB-4DB5-A284-1295D4849404}" type="slidenum">
              <a:rPr lang="zh-CN" altLang="en-US" sz="1200"/>
              <a:t>13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lnSpc>
                <a:spcPct val="140000"/>
              </a:lnSpc>
              <a:spcBef>
                <a:spcPct val="0"/>
              </a:spcBef>
            </a:pPr>
            <a:endParaRPr lang="zh-CN" altLang="en-US" b="0" dirty="0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47C8FFA7-A817-4BA0-88C0-8CA7F1123B0C}" type="slidenum">
              <a:rPr lang="zh-CN" altLang="en-US" sz="1200"/>
              <a:t>14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1E663DE7-A7A3-4EF6-836D-BD4F62EC1F72}" type="slidenum">
              <a:rPr lang="zh-CN" altLang="en-US" sz="1200"/>
              <a:t>15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08201D7C-5B9B-48DF-8C42-DE1E5EE446C0}" type="slidenum">
              <a:rPr lang="zh-CN" altLang="en-US" sz="1200"/>
              <a:t>16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D20E2-0712-49D3-94A0-13E1910CF589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DF8C0-17DD-4DBC-B7C5-4C0273D8B586}" type="slidenum">
              <a:rPr lang="en-US" altLang="zh-CN" smtClean="0">
                <a:solidFill>
                  <a:prstClr val="black"/>
                </a:solidFill>
              </a:rPr>
              <a:t>18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59E28BD3-1253-4321-BD36-6623EC2FB032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19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algn="just" eaLnBrk="1" hangingPunct="1">
              <a:lnSpc>
                <a:spcPct val="120000"/>
              </a:lnSpc>
            </a:pPr>
            <a:endParaRPr lang="en-US" altLang="zh-CN" b="1" dirty="0" smtClean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i="0" dirty="0" smtClean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ED49AFF6-3C10-4CAC-B541-A204A9762088}" type="slidenum">
              <a:rPr lang="zh-CN" altLang="en-US" sz="1200"/>
              <a:t>20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 smtClean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67B89F38-10B2-4CF9-B8F6-9625F79BF08A}" type="slidenum">
              <a:rPr lang="zh-CN" altLang="en-US" sz="1200"/>
              <a:t>21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b="0" dirty="0" smtClean="0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57EA6EC8-6A2D-4076-8059-A6A6FE62BA78}" type="slidenum">
              <a:rPr lang="zh-CN" altLang="en-US" sz="1200"/>
              <a:t>22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endParaRPr lang="zh-CN" altLang="en-US" dirty="0" smtClean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6D44EB51-D639-43B0-ABD7-205F54EADD4F}" type="slidenum">
              <a:rPr lang="zh-CN" altLang="en-US" sz="1200"/>
              <a:t>23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A960849F-073C-4F5C-B8FA-8D4FC73F103A}" type="slidenum">
              <a:rPr lang="zh-CN" altLang="en-US" sz="1200"/>
              <a:t>24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 smtClean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BFD2F9B5-8813-4C3A-9A45-450974834B68}" type="slidenum">
              <a:rPr lang="zh-CN" altLang="en-US" sz="1200"/>
              <a:t>25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2C5FC278-2B80-47A3-B444-E4F0A190D090}" type="slidenum">
              <a:rPr lang="zh-CN" altLang="en-US" sz="1200"/>
              <a:t>26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 smtClean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7C13B3C3-C150-467C-B3C9-D7091C539A03}" type="slidenum">
              <a:rPr lang="zh-CN" altLang="en-US" sz="1200"/>
              <a:t>27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b="0" dirty="0" smtClean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fld id="{D35C36B3-80C1-4347-AB9E-7750DDEE4466}" type="slidenum">
              <a:rPr lang="zh-CN" altLang="en-US" sz="1200"/>
              <a:t>28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09D65-BA14-4B3E-A743-C3C9628771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47B641-2F9E-4CA3-B5FD-34FB285D17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4A742-F11C-426A-BD04-3370D3B87EB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1CE17-179F-4E02-B1FB-DB36007272F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19837-60C4-4330-93A8-E0EDF8ADD6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A97A6-B05B-474F-B131-D8800E6DEA9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D42C1-5DDB-4575-9C80-BD2D11086A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BA6F7-D49F-4FFA-9394-14CD5170E98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4B75B-DEBA-414A-996D-198E0776960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ACAEB8-330B-4993-99EF-7443D24F0B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CF940-2A2B-4E9D-AD7E-CF2D65BBBDB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0CFC13-1529-489B-AB8D-E79279377EB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E7A725-4B6F-49D7-BB63-AE842C09CCB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3C846-A35D-4CF4-BB64-940886B41938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34E47-7534-4487-9034-63BA8F81EDDE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6216E-A222-4D6D-A040-A8F177D1EEF8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C8897-4F6F-4C59-B4B0-FF7C6E4A4396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43F2B-289E-4224-B070-8A7A319E6AA1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C7BEA-A4D1-462E-AB33-5ACB28670F47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D913E-F85A-4459-9DC9-4AF136757053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90410-28BC-4C56-9666-DEA4B53B9559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D2A69-9C1F-47A0-AAA8-5D5E8EFABBDB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A9C15-53C6-4B57-8B55-158F6379D487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94FC3-5DF1-484C-BB42-113CFC3EEC48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5102D-FB31-4F68-8A78-2734378BED3C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1A15E-2C44-4622-8706-C3CE827CE15C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42CE-9AD3-44B0-9E0D-FFAC5490541B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6DB63-90CE-4211-B62C-76742A3E7626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83A93-0765-4FE6-9E73-422C68D7719A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7470E-FC75-4255-A1B4-1DACF65C5E6C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D2356-BE1B-41EB-B1EE-DB9582C8153E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D660A-D142-46D2-839B-8F388E3015D1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FAC00-AD94-458D-AF08-DEF906379373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0CFD-1F17-4639-80A4-1B688CF359D6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621F7-4129-49BA-A397-DFC65A83FD42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8EFEA9-1034-49A5-B74D-6D2CB09FBF20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0D6D96-1BC0-4F11-BD3A-8585BE0D52AF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/>
          <p:nvPr/>
        </p:nvSpPr>
        <p:spPr>
          <a:xfrm>
            <a:off x="7315200" y="800100"/>
            <a:ext cx="0" cy="3371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51" name="Group 8"/>
          <p:cNvGrpSpPr/>
          <p:nvPr/>
        </p:nvGrpSpPr>
        <p:grpSpPr>
          <a:xfrm>
            <a:off x="7493001" y="2244328"/>
            <a:ext cx="1338263" cy="1641872"/>
            <a:chOff x="4704" y="1885"/>
            <a:chExt cx="843" cy="1379"/>
          </a:xfrm>
        </p:grpSpPr>
        <p:sp>
          <p:nvSpPr>
            <p:cNvPr id="42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3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4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5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6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8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49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0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1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2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3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6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7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8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59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0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1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2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3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4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5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6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7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8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69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0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1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72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2052" name="Line 40"/>
          <p:cNvSpPr/>
          <p:nvPr/>
        </p:nvSpPr>
        <p:spPr>
          <a:xfrm>
            <a:off x="304800" y="211455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350044"/>
            <a:ext cx="6781800" cy="16002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2287191"/>
            <a:ext cx="6248400" cy="177165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7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fld id="{EE2FC947-A34A-4949-817D-66018DA17E7C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679"/>
            <a:ext cx="2057400" cy="450651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679"/>
            <a:ext cx="6019800" cy="450651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0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1" name="Rectangle 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988371A-EBCC-4FEC-BE25-087DFB62CF7F}" type="slidenum">
              <a:rPr kumimoji="1" lang="en-US" altLang="zh-CN" b="1">
                <a:ea typeface="楷体_GB2312" pitchFamily="49" charset="-122"/>
              </a:rPr>
              <a:t>‹#›</a:t>
            </a:fld>
            <a:endParaRPr kumimoji="1" lang="en-US" altLang="zh-CN" b="1"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b="1">
              <a:solidFill>
                <a:prstClr val="black">
                  <a:tint val="75000"/>
                </a:prstClr>
              </a:solidFill>
              <a:ea typeface="楷体_GB2312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dirty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988371A-EBCC-4FEC-BE25-087DFB62CF7F}" type="slidenum">
              <a:rPr kumimoji="1" lang="en-US" altLang="zh-CN" b="1" smtClean="0">
                <a:ea typeface="楷体_GB2312" pitchFamily="49" charset="-122"/>
              </a:rPr>
              <a:t>‹#›</a:t>
            </a:fld>
            <a:endParaRPr kumimoji="1" lang="en-US" altLang="zh-CN" b="1"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/>
          <p:nvPr/>
        </p:nvSpPr>
        <p:spPr>
          <a:xfrm>
            <a:off x="7962900" y="114300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457200" y="1289447"/>
            <a:ext cx="8229600" cy="330874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ED5795-ABC6-4AFE-A17B-DB737F69BD2D}" type="datetime10">
              <a:rPr lang="zh-CN" altLang="en-US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5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grpSp>
        <p:nvGrpSpPr>
          <p:cNvPr id="1032" name="Group 8"/>
          <p:cNvGrpSpPr/>
          <p:nvPr/>
        </p:nvGrpSpPr>
        <p:grpSpPr>
          <a:xfrm>
            <a:off x="8153401" y="114300"/>
            <a:ext cx="792163" cy="97155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eaLnBrk="1" hangingPunct="1"/>
            <a:fld id="{BB962C8B-B14F-4D97-AF65-F5344CB8AC3E}" type="datetime10">
              <a:rPr lang="zh-CN" altLang="en-US" sz="1000" dirty="0">
                <a:solidFill>
                  <a:srgbClr val="000000"/>
                </a:solidFill>
              </a:rPr>
              <a:t>20:31</a:t>
            </a:fld>
            <a:endParaRPr lang="zh-CN" altLang="en-US" sz="1000" dirty="0">
              <a:solidFill>
                <a:srgbClr val="000000"/>
              </a:solidFill>
            </a:endParaRPr>
          </a:p>
        </p:txBody>
      </p:sp>
      <p:sp>
        <p:nvSpPr>
          <p:cNvPr id="717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algn="r" eaLnBrk="1" hangingPunct="1"/>
            <a:fld id="{9A0DB2DC-4C9A-4742-B13C-FB6460FD3503}" type="slidenum">
              <a:rPr lang="en-US" altLang="zh-CN" sz="1000" dirty="0">
                <a:solidFill>
                  <a:srgbClr val="000000"/>
                </a:solidFill>
              </a:rPr>
              <a:t>1</a:t>
            </a:fld>
            <a:endParaRPr lang="en-US" altLang="zh-CN" sz="1000" dirty="0">
              <a:solidFill>
                <a:srgbClr val="000000"/>
              </a:solidFill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1331640" y="195486"/>
            <a:ext cx="6084664" cy="6477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en-US" sz="3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 核磁共振氢谱</a:t>
            </a:r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>
          <a:xfrm>
            <a:off x="1763688" y="1275606"/>
            <a:ext cx="7128767" cy="3312368"/>
          </a:xfrm>
        </p:spPr>
        <p:txBody>
          <a:bodyPr vert="horz" wrap="square" lIns="91440" tIns="45720" rIns="91440" bIns="45720" anchor="t"/>
          <a:lstStyle/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 核磁共振氢谱概述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2400" b="1" baseline="30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的化学位移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三、耦合作用的一般规则和一级谱图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四、常见官能团的氢谱特征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五、 一级谱图的解析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SzPct val="75000"/>
              <a:buNone/>
            </a:pPr>
            <a:r>
              <a:rPr lang="zh-CN" altLang="en-US" sz="2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六、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核磁共振的特殊实验技术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059582"/>
            <a:ext cx="6182596" cy="257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5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t>20:32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87574"/>
            <a:ext cx="8060089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9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t>20:32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699542"/>
            <a:ext cx="6252361" cy="272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85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t>20:33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3" y="987574"/>
            <a:ext cx="6046424" cy="265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79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t>20:34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87574"/>
            <a:ext cx="6721394" cy="250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15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ED5795-ABC6-4AFE-A17B-DB737F69BD2D}" type="datetime10">
              <a:rPr lang="zh-CN" altLang="en-US" smtClean="0">
                <a:solidFill>
                  <a:srgbClr val="000000"/>
                </a:solidFill>
              </a:rPr>
              <a:t>20:34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131590"/>
            <a:ext cx="6337538" cy="247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1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50032"/>
            <a:ext cx="8748711" cy="840581"/>
          </a:xfrm>
        </p:spPr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三、耦合</a:t>
            </a:r>
            <a:r>
              <a:rPr lang="zh-CN" altLang="en-US" sz="36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作用的一般规则和一级谱图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1619250" y="1383506"/>
            <a:ext cx="7129214" cy="2988444"/>
          </a:xfrm>
        </p:spPr>
        <p:txBody>
          <a:bodyPr/>
          <a:lstStyle/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核的等价性</a:t>
            </a:r>
            <a:endParaRPr lang="en-US" altLang="zh-CN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耦合作用的一般规则</a:t>
            </a:r>
            <a:endParaRPr lang="en-US" altLang="zh-CN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影响耦合常数的因素</a:t>
            </a:r>
            <a:endParaRPr lang="en-US" altLang="zh-CN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质子与其他核的耦合</a:t>
            </a:r>
            <a:endParaRPr lang="en-US" altLang="zh-CN" b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4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dirty="0" smtClean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69797" y="699542"/>
            <a:ext cx="9144000" cy="144016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化学等价</a:t>
            </a: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化学位移等价</a:t>
            </a: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</a:t>
            </a:r>
          </a:p>
          <a:p>
            <a:pPr marL="609600" indent="-609600" algn="just" eaLnBrk="1" hangingPunct="1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分子中处于相同化学环境的相同原子或基团是化学等价的</a:t>
            </a:r>
          </a:p>
        </p:txBody>
      </p:sp>
      <p:sp>
        <p:nvSpPr>
          <p:cNvPr id="3075" name="Rectangle 16"/>
          <p:cNvSpPr>
            <a:spLocks noChangeArrowheads="1"/>
          </p:cNvSpPr>
          <p:nvPr/>
        </p:nvSpPr>
        <p:spPr bwMode="auto">
          <a:xfrm>
            <a:off x="10620" y="72156"/>
            <a:ext cx="3886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kumimoji="1"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</a:t>
            </a:r>
            <a:r>
              <a:rPr kumimoji="1"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的等价性</a:t>
            </a:r>
          </a:p>
        </p:txBody>
      </p:sp>
      <p:sp>
        <p:nvSpPr>
          <p:cNvPr id="2" name="矩形 1"/>
          <p:cNvSpPr/>
          <p:nvPr/>
        </p:nvSpPr>
        <p:spPr>
          <a:xfrm>
            <a:off x="611560" y="1985288"/>
            <a:ext cx="8280920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base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化学环境相同：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</a:t>
            </a:r>
            <a:r>
              <a:rPr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相同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436" y="2779352"/>
            <a:ext cx="8295801" cy="197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等价的判断：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对称性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75000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通过对称性操作看两原子或基团能否相互交换，分为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两种：对称轴互换、对称面互换。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ChangeArrowheads="1"/>
          </p:cNvSpPr>
          <p:nvPr/>
        </p:nvSpPr>
        <p:spPr bwMode="auto">
          <a:xfrm>
            <a:off x="683568" y="899546"/>
            <a:ext cx="7620000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两个原子或基团能通过对称轴互换，则它们在任何溶剂中都是化学等价的。 </a:t>
            </a:r>
          </a:p>
        </p:txBody>
      </p:sp>
      <p:pic>
        <p:nvPicPr>
          <p:cNvPr id="512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463" y="1923678"/>
            <a:ext cx="4953000" cy="1977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837" y="4127373"/>
            <a:ext cx="3438525" cy="1021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4770" name="Line 18"/>
          <p:cNvSpPr>
            <a:spLocks noChangeShapeType="1"/>
          </p:cNvSpPr>
          <p:nvPr/>
        </p:nvSpPr>
        <p:spPr bwMode="auto">
          <a:xfrm>
            <a:off x="3707904" y="4127372"/>
            <a:ext cx="0" cy="9715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990033"/>
              </a:solidFill>
              <a:ea typeface="楷体_GB2312" pitchFamily="49" charset="-122"/>
            </a:endParaRPr>
          </a:p>
        </p:txBody>
      </p:sp>
      <p:sp>
        <p:nvSpPr>
          <p:cNvPr id="74769" name="Line 17"/>
          <p:cNvSpPr>
            <a:spLocks noChangeShapeType="1"/>
          </p:cNvSpPr>
          <p:nvPr/>
        </p:nvSpPr>
        <p:spPr bwMode="auto">
          <a:xfrm>
            <a:off x="5514042" y="4177379"/>
            <a:ext cx="0" cy="9715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990033"/>
              </a:solidFill>
              <a:ea typeface="楷体_GB2312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9552" y="249492"/>
            <a:ext cx="2351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对称轴互换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70" grpId="0" animBg="1"/>
      <p:bldP spid="7476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904302" y="519566"/>
            <a:ext cx="794723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假如有一个平面能把一个分子切成两部分，一部分正好是另一部分的镜像，这个平面即是该分子的对称面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844930" y="3764023"/>
            <a:ext cx="8299070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对称面可互换位置的两个质子或相同基团，在非手性溶剂中是化学等价的，而在手性溶剂中不再是化学等价的 </a:t>
            </a:r>
          </a:p>
        </p:txBody>
      </p:sp>
      <p:pic>
        <p:nvPicPr>
          <p:cNvPr id="717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436" y="2207920"/>
            <a:ext cx="2057400" cy="1379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998" y="1761230"/>
            <a:ext cx="1493838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3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919583"/>
            <a:ext cx="3124200" cy="1569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95536" y="25205"/>
            <a:ext cx="2351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对称面互换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4"/>
          <p:cNvSpPr txBox="1">
            <a:spLocks noGrp="1"/>
          </p:cNvSpPr>
          <p:nvPr/>
        </p:nvSpPr>
        <p:spPr bwMode="auto"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5B3FD1BC-7EAA-4D0B-BD0D-402325F4A545}" type="slidenum">
              <a:rPr kumimoji="1" lang="en-US" altLang="zh-CN" sz="1200" b="1">
                <a:solidFill>
                  <a:prstClr val="black"/>
                </a:solidFill>
                <a:latin typeface="Arial Black" panose="020B0A04020102020204" pitchFamily="34" charset="0"/>
              </a:rPr>
              <a:t>12</a:t>
            </a:fld>
            <a:endParaRPr kumimoji="1" lang="en-US" altLang="zh-CN" sz="1200" b="1">
              <a:solidFill>
                <a:prstClr val="black"/>
              </a:solidFill>
              <a:latin typeface="Arial Black" panose="020B0A04020102020204" pitchFamily="34" charset="0"/>
            </a:endParaRPr>
          </a:p>
        </p:txBody>
      </p:sp>
      <p:sp>
        <p:nvSpPr>
          <p:cNvPr id="9219" name="日期占位符 5"/>
          <p:cNvSpPr txBox="1">
            <a:spLocks noGrp="1"/>
          </p:cNvSpPr>
          <p:nvPr/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F79EAEB-A0E6-4912-9D6B-FF008924912A}" type="datetime10">
              <a:rPr kumimoji="1" lang="zh-CN" altLang="en-US" sz="1200" b="1">
                <a:solidFill>
                  <a:prstClr val="black"/>
                </a:solidFill>
                <a:latin typeface="Arial" panose="020B0604020202020204" pitchFamily="34" charset="0"/>
              </a:rPr>
              <a:t>20:31</a:t>
            </a:fld>
            <a:endParaRPr kumimoji="1" lang="en-US" altLang="zh-CN" sz="1200" b="1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3"/>
          <p:cNvSpPr txBox="1">
            <a:spLocks noChangeArrowheads="1"/>
          </p:cNvSpPr>
          <p:nvPr/>
        </p:nvSpPr>
        <p:spPr bwMode="auto">
          <a:xfrm>
            <a:off x="1" y="804863"/>
            <a:ext cx="9143999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914400" lvl="1" indent="-4572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甲基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上的三个氢或饱和碳上三个相同基团化学等价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kumimoji="1"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874" y="38565"/>
            <a:ext cx="56364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关于化学等价有</a:t>
            </a:r>
            <a:r>
              <a:rPr kumimoji="1"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以下一般规律</a:t>
            </a:r>
            <a:r>
              <a:rPr kumimoji="1" lang="en-US" altLang="zh-CN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kumimoji="1"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914" y="2193708"/>
            <a:ext cx="2634687" cy="91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588" y="3289517"/>
            <a:ext cx="6758012" cy="1548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0" y="1358097"/>
            <a:ext cx="8243888" cy="55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914400" lvl="1" indent="-4572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手性碳直接相连的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kumimoji="1"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上两个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1"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化学</a:t>
            </a:r>
            <a:r>
              <a:rPr kumimoji="1" lang="zh-CN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不等价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kumimoji="1" lang="zh-CN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3200" y="2523486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10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71500" y="228600"/>
            <a:ext cx="8572500" cy="938994"/>
          </a:xfrm>
        </p:spPr>
        <p:txBody>
          <a:bodyPr/>
          <a:lstStyle/>
          <a:p>
            <a:pPr marL="342900" indent="-342900" algn="l" eaLnBrk="1" hangingPunct="1">
              <a:lnSpc>
                <a:spcPct val="15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固定环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en-US" altLang="zh-CN" sz="2400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上的两个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或是固定环上连接在同一碳上的两个相同基团，通常不是化学等价的。例如，环己烷在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-89</a:t>
            </a:r>
            <a:r>
              <a:rPr lang="en-US" altLang="zh-CN" sz="2400" baseline="300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测定。 </a:t>
            </a:r>
          </a:p>
        </p:txBody>
      </p:sp>
      <p:sp>
        <p:nvSpPr>
          <p:cNvPr id="11267" name="Rectangle 6"/>
          <p:cNvSpPr>
            <a:spLocks noChangeArrowheads="1"/>
          </p:cNvSpPr>
          <p:nvPr/>
        </p:nvSpPr>
        <p:spPr bwMode="auto">
          <a:xfrm>
            <a:off x="304800" y="2178922"/>
            <a:ext cx="655320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99"/>
                </a:solidFill>
                <a:latin typeface="Times New Roman" panose="02020603050405020304" pitchFamily="18" charset="0"/>
              </a:rPr>
              <a:t>       </a:t>
            </a:r>
          </a:p>
        </p:txBody>
      </p:sp>
      <p:sp>
        <p:nvSpPr>
          <p:cNvPr id="11268" name="Rectangle 8"/>
          <p:cNvSpPr>
            <a:spLocks noChangeArrowheads="1"/>
          </p:cNvSpPr>
          <p:nvPr/>
        </p:nvSpPr>
        <p:spPr bwMode="auto">
          <a:xfrm>
            <a:off x="0" y="202439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990033"/>
              </a:solidFill>
              <a:ea typeface="楷体_GB2312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39552" y="2024390"/>
            <a:ext cx="8305800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342900" indent="-342900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当单键不能快速旋转时，同一原子上的两个氢或两个相同基团不是化学等价的。</a:t>
            </a:r>
          </a:p>
        </p:txBody>
      </p:sp>
      <p:pic>
        <p:nvPicPr>
          <p:cNvPr id="7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624" y="3593307"/>
            <a:ext cx="5438775" cy="1135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418306" y="439392"/>
            <a:ext cx="8546182" cy="172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等价：</a:t>
            </a:r>
          </a:p>
          <a:p>
            <a:pPr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不仅化学位移相同，而且还以相同的耦合常数与分子中的其他任意一个核耦合。化学不等价的核一定是磁不等价的核 </a:t>
            </a:r>
            <a:r>
              <a:rPr kumimoji="1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3461345" y="4120045"/>
            <a:ext cx="24601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 smtClean="0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1,1-</a:t>
            </a:r>
            <a:r>
              <a:rPr kumimoji="1" lang="zh-CN" altLang="en-US" sz="2400" b="1" dirty="0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二氟乙烯</a:t>
            </a:r>
          </a:p>
        </p:txBody>
      </p:sp>
      <p:pic>
        <p:nvPicPr>
          <p:cNvPr id="1026" name="Picture 2" descr="C:\Users\xiawei\Desktop\微信图片_2019102716063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376" y="2169096"/>
            <a:ext cx="3315599" cy="178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ChangeArrowheads="1"/>
          </p:cNvSpPr>
          <p:nvPr/>
        </p:nvSpPr>
        <p:spPr bwMode="auto">
          <a:xfrm>
            <a:off x="512525" y="411510"/>
            <a:ext cx="8623300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CH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3H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2H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既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化学等价又磁等价</a:t>
            </a:r>
          </a:p>
        </p:txBody>
      </p:sp>
      <p:pic>
        <p:nvPicPr>
          <p:cNvPr id="2048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361" y="1977684"/>
            <a:ext cx="6858000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141965" y="3543858"/>
            <a:ext cx="7128792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800" b="1" dirty="0" smtClean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C-C</a:t>
            </a:r>
            <a:r>
              <a:rPr kumimoji="1" lang="zh-CN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单键的快速旋转可以平均两组核之间的耦合常数，构成磁等价核。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2"/>
          <p:cNvSpPr>
            <a:spLocks noChangeArrowheads="1"/>
          </p:cNvSpPr>
          <p:nvPr/>
        </p:nvSpPr>
        <p:spPr bwMode="auto">
          <a:xfrm>
            <a:off x="2346875" y="1921547"/>
            <a:ext cx="5257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a’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b’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化学等价、磁不等价 </a:t>
            </a:r>
            <a:endParaRPr lang="en-US" altLang="zh-CN" sz="2400" b="1" dirty="0" smtClean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  </a:t>
            </a:r>
            <a:r>
              <a:rPr lang="en-US" altLang="zh-CN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a’,b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a,b’  </a:t>
            </a:r>
            <a:r>
              <a:rPr lang="en-US" altLang="zh-CN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a’,b’</a:t>
            </a:r>
          </a:p>
        </p:txBody>
      </p:sp>
      <p:sp>
        <p:nvSpPr>
          <p:cNvPr id="22531" name="Rectangle 13"/>
          <p:cNvSpPr>
            <a:spLocks noChangeArrowheads="1"/>
          </p:cNvSpPr>
          <p:nvPr/>
        </p:nvSpPr>
        <p:spPr bwMode="auto">
          <a:xfrm>
            <a:off x="3962400" y="3371850"/>
            <a:ext cx="4426024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a’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化学等价、且磁等价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4</a:t>
            </a:r>
            <a:r>
              <a:rPr lang="en-US" altLang="zh-CN" sz="24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a’,b</a:t>
            </a:r>
          </a:p>
        </p:txBody>
      </p:sp>
      <p:pic>
        <p:nvPicPr>
          <p:cNvPr id="22532" name="Picture 21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0576" y="2989660"/>
            <a:ext cx="1901825" cy="1485900"/>
          </a:xfrm>
          <a:noFill/>
        </p:spPr>
      </p:pic>
      <p:pic>
        <p:nvPicPr>
          <p:cNvPr id="22533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14350"/>
            <a:ext cx="4267200" cy="1434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  <p:bldP spid="22530" grpId="1" animBg="1"/>
      <p:bldP spid="225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67595"/>
            <a:ext cx="8382000" cy="1944216"/>
          </a:xfrm>
        </p:spPr>
        <p:txBody>
          <a:bodyPr rtlCol="0">
            <a:normAutofit fontScale="85000" lnSpcReduction="10000"/>
          </a:bodyPr>
          <a:lstStyle/>
          <a:p>
            <a:pPr marL="0" indent="0" eaLnBrk="1" fontAlgn="auto" hangingPunct="1">
              <a:lnSpc>
                <a:spcPct val="170000"/>
              </a:lnSpc>
              <a:spcAft>
                <a:spcPts val="0"/>
              </a:spcAft>
              <a:buFontTx/>
              <a:buNone/>
              <a:defRPr/>
            </a:pPr>
            <a:r>
              <a:rPr lang="zh-CN" altLang="en-US" sz="2800" b="1" dirty="0" smtClean="0">
                <a:solidFill>
                  <a:srgbClr val="99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b="1" dirty="0" smtClean="0">
                <a:solidFill>
                  <a:srgbClr val="99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磁等价核虽然有自旋耦合，但不会产生裂分，   如：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8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8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OH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8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磁等价，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之间有自旋耦合，但不会裂分，其裂分由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8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引起。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-324544" y="339502"/>
            <a:ext cx="6769000" cy="840581"/>
          </a:xfrm>
        </p:spPr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200" b="1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耦合</a:t>
            </a:r>
            <a:r>
              <a:rPr lang="zh-CN" altLang="en-US" sz="32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作用的一般</a:t>
            </a:r>
            <a:r>
              <a:rPr lang="zh-CN" altLang="en-US" sz="3200" b="1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endParaRPr lang="zh-CN" altLang="en-US" sz="3200" b="1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1763688" y="1707654"/>
            <a:ext cx="6248400" cy="1728304"/>
          </a:xfrm>
        </p:spPr>
        <p:txBody>
          <a:bodyPr/>
          <a:lstStyle/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自旋体系的分类和命名规则</a:t>
            </a: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2) 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核磁共振氢谱图的分类</a:t>
            </a:r>
            <a:endParaRPr lang="en-US" altLang="zh-CN" sz="2800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3) 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耦合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作用的一般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规则</a:t>
            </a:r>
            <a:endParaRPr lang="en-US" altLang="zh-CN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47" name="日期占位符 5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2BF329-E78C-4B60-8510-0731FB23E453}" type="datetime10">
              <a:rPr lang="zh-CN" altLang="en-US" smtClean="0">
                <a:solidFill>
                  <a:srgbClr val="000000"/>
                </a:solidFill>
              </a:rPr>
              <a:t>20:31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614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41BF12-4D47-4499-8EFF-10B1E141B022}" type="slidenum">
              <a:rPr lang="en-US" altLang="zh-CN" smtClean="0">
                <a:solidFill>
                  <a:srgbClr val="000000"/>
                </a:solidFill>
                <a:latin typeface="Arial Black" panose="020B0A04020102020204" pitchFamily="34" charset="0"/>
              </a:rPr>
              <a:t>18</a:t>
            </a:fld>
            <a:endParaRPr lang="en-US" altLang="zh-CN" smtClean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7494"/>
            <a:ext cx="6630987" cy="459581"/>
          </a:xfrm>
        </p:spPr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）自旋体系的分类和命名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844153"/>
            <a:ext cx="8388350" cy="431453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相互耦合的核组成的体系称为自旋体系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4" name="Text Box 11"/>
          <p:cNvSpPr txBox="1">
            <a:spLocks noChangeArrowheads="1"/>
          </p:cNvSpPr>
          <p:nvPr/>
        </p:nvSpPr>
        <p:spPr bwMode="auto">
          <a:xfrm>
            <a:off x="764710" y="4569972"/>
            <a:ext cx="83908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根据体系中自旋核的个数分二旋体系、三旋体系等类型。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605" name="Picture 1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683544"/>
            <a:ext cx="7848600" cy="2359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Rectangle 13"/>
          <p:cNvSpPr>
            <a:spLocks noChangeArrowheads="1"/>
          </p:cNvSpPr>
          <p:nvPr/>
        </p:nvSpPr>
        <p:spPr bwMode="auto">
          <a:xfrm>
            <a:off x="900113" y="2107407"/>
            <a:ext cx="2736850" cy="15656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prstClr val="black"/>
              </a:solidFill>
              <a:latin typeface="Comic Sans MS" panose="030F0702030302020204" pitchFamily="66" charset="0"/>
            </a:endParaRPr>
          </a:p>
        </p:txBody>
      </p:sp>
      <p:sp>
        <p:nvSpPr>
          <p:cNvPr id="25607" name="Rectangle 14"/>
          <p:cNvSpPr>
            <a:spLocks noChangeArrowheads="1"/>
          </p:cNvSpPr>
          <p:nvPr/>
        </p:nvSpPr>
        <p:spPr bwMode="auto">
          <a:xfrm>
            <a:off x="4427538" y="2516981"/>
            <a:ext cx="1727200" cy="757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prstClr val="black"/>
              </a:solidFill>
              <a:latin typeface="Comic Sans MS" panose="030F0702030302020204" pitchFamily="66" charset="0"/>
            </a:endParaRPr>
          </a:p>
        </p:txBody>
      </p:sp>
      <p:sp>
        <p:nvSpPr>
          <p:cNvPr id="25608" name="Rectangle 15"/>
          <p:cNvSpPr>
            <a:spLocks noChangeArrowheads="1"/>
          </p:cNvSpPr>
          <p:nvPr/>
        </p:nvSpPr>
        <p:spPr bwMode="auto">
          <a:xfrm>
            <a:off x="6877050" y="2484835"/>
            <a:ext cx="1727200" cy="757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prstClr val="black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94199" y="4063025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化合物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4710" y="1309355"/>
            <a:ext cx="8280721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体系内部的核相互耦合，而不与体系外的任何核耦合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  <p:bldP spid="25606" grpId="0" animBg="1"/>
      <p:bldP spid="25607" grpId="0" animBg="1"/>
      <p:bldP spid="25608" grpId="0" animBg="1"/>
      <p:bldP spid="9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03648" y="267494"/>
            <a:ext cx="6264275" cy="640556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自旋体系命名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555526"/>
            <a:ext cx="8497639" cy="1619585"/>
          </a:xfrm>
        </p:spPr>
        <p:txBody>
          <a:bodyPr/>
          <a:lstStyle/>
          <a:p>
            <a:pPr lvl="1" algn="just" eaLnBrk="1" hangingPunct="1">
              <a:buClr>
                <a:schemeClr val="tx1"/>
              </a:buClr>
            </a:pPr>
            <a:endParaRPr lang="en-US" altLang="zh-CN" sz="2400" b="1" i="1" dirty="0" smtClean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lvl="1" algn="just" eaLnBrk="1" hangingPunct="1"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化学位移相同的核构成一个核组，以一个英文字母表示，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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值不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同的核组用不同的英文字母表示，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值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相差大的核组选择字母表中相距远的字母，例如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AMX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值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相近的核组用邻近的字母，如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等；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652" name="Group 4"/>
          <p:cNvGrpSpPr/>
          <p:nvPr/>
        </p:nvGrpSpPr>
        <p:grpSpPr bwMode="auto">
          <a:xfrm>
            <a:off x="1382835" y="4168111"/>
            <a:ext cx="7259642" cy="702469"/>
            <a:chOff x="-57" y="-27"/>
            <a:chExt cx="4573" cy="590"/>
          </a:xfrm>
        </p:grpSpPr>
        <p:grpSp>
          <p:nvGrpSpPr>
            <p:cNvPr id="27653" name="Group 5"/>
            <p:cNvGrpSpPr/>
            <p:nvPr/>
          </p:nvGrpSpPr>
          <p:grpSpPr bwMode="auto">
            <a:xfrm>
              <a:off x="-57" y="-27"/>
              <a:ext cx="4573" cy="590"/>
              <a:chOff x="-57" y="-27"/>
              <a:chExt cx="4573" cy="590"/>
            </a:xfrm>
          </p:grpSpPr>
          <p:sp>
            <p:nvSpPr>
              <p:cNvPr id="27655" name="Text Box 8"/>
              <p:cNvSpPr txBox="1">
                <a:spLocks noChangeArrowheads="1"/>
              </p:cNvSpPr>
              <p:nvPr/>
            </p:nvSpPr>
            <p:spPr bwMode="auto">
              <a:xfrm>
                <a:off x="-57" y="103"/>
                <a:ext cx="4573" cy="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例如            </a:t>
                </a:r>
                <a:r>
                  <a:rPr kumimoji="1" lang="zh-CN" altLang="en-US" sz="2800" b="1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可以</a:t>
                </a:r>
                <a:r>
                  <a:rPr kumimoji="1" lang="zh-CN" altLang="en-US" sz="28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命名为</a:t>
                </a:r>
                <a:r>
                  <a:rPr kumimoji="1" lang="en-US" altLang="zh-CN" sz="28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zh-CN" sz="2800" b="1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1" lang="en-US" altLang="zh-CN" sz="28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MM′XX′</a:t>
                </a:r>
                <a:r>
                  <a:rPr kumimoji="1" lang="zh-CN" altLang="en-US" sz="2800" b="1" dirty="0">
                    <a:solidFill>
                      <a:prstClr val="black"/>
                    </a:solidFill>
                    <a:latin typeface="楷体_GB2312" pitchFamily="49" charset="-122"/>
                    <a:ea typeface="楷体_GB2312" pitchFamily="49" charset="-122"/>
                  </a:rPr>
                  <a:t>。</a:t>
                </a:r>
              </a:p>
            </p:txBody>
          </p:sp>
          <p:pic>
            <p:nvPicPr>
              <p:cNvPr id="27656" name="Picture 1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" y="-27"/>
                <a:ext cx="1248" cy="5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654" name="Rectangle 18"/>
            <p:cNvSpPr>
              <a:spLocks noChangeArrowheads="1"/>
            </p:cNvSpPr>
            <p:nvPr/>
          </p:nvSpPr>
          <p:spPr bwMode="auto">
            <a:xfrm>
              <a:off x="558" y="-26"/>
              <a:ext cx="1270" cy="589"/>
            </a:xfrm>
            <a:prstGeom prst="rect">
              <a:avLst/>
            </a:prstGeom>
            <a:noFill/>
            <a:ln w="9525">
              <a:solidFill>
                <a:srgbClr val="339966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 b="1">
                <a:solidFill>
                  <a:prstClr val="black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-29732" y="2741302"/>
            <a:ext cx="9217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 fontAlgn="base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核组内磁等价核的数目用数字标注在英文字母的右下角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3369178"/>
            <a:ext cx="69983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核组内磁不等价的核，则加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′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以示区别。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762000" y="971550"/>
            <a:ext cx="8229600" cy="2968352"/>
          </a:xfrm>
        </p:spPr>
        <p:txBody>
          <a:bodyPr/>
          <a:lstStyle/>
          <a:p>
            <a:pPr algn="l" eaLnBrk="1" hangingPunct="1">
              <a:lnSpc>
                <a:spcPct val="170000"/>
              </a:lnSpc>
            </a:pPr>
            <a:r>
              <a:rPr lang="zh-CN" altLang="en-US" sz="2400" b="1" u="sng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一级谱图</a:t>
            </a:r>
            <a:endParaRPr lang="zh-CN" altLang="en-US" sz="24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 eaLnBrk="1" hangingPunct="1">
              <a:lnSpc>
                <a:spcPct val="170000"/>
              </a:lnSpc>
            </a:pPr>
            <a:r>
              <a:rPr lang="en-US" altLang="zh-CN" sz="2400" b="1" dirty="0" smtClean="0">
                <a:solidFill>
                  <a:prstClr val="black"/>
                </a:solidFill>
                <a:ea typeface="楷体_GB2312" pitchFamily="49" charset="-122"/>
              </a:rPr>
              <a:t>                  </a:t>
            </a:r>
            <a:endParaRPr lang="en-US" altLang="zh-CN" sz="2800" b="1" u="sng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70000"/>
              </a:lnSpc>
            </a:pPr>
            <a:endParaRPr lang="en-US" altLang="zh-CN" sz="2800" b="1" u="sng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70000"/>
              </a:lnSpc>
            </a:pPr>
            <a:r>
              <a:rPr lang="zh-CN" altLang="en-US" sz="2400" b="1" u="sng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</a:t>
            </a:r>
            <a:r>
              <a:rPr lang="zh-CN" altLang="en-US" sz="2400" b="1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谱图</a:t>
            </a:r>
          </a:p>
          <a:p>
            <a:pPr algn="l" eaLnBrk="1" hangingPunct="1">
              <a:lnSpc>
                <a:spcPct val="17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699" name="Rectangle 2"/>
          <p:cNvSpPr txBox="1">
            <a:spLocks noChangeArrowheads="1"/>
          </p:cNvSpPr>
          <p:nvPr/>
        </p:nvSpPr>
        <p:spPr bwMode="auto">
          <a:xfrm>
            <a:off x="323528" y="383382"/>
            <a:ext cx="6630987" cy="45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）核磁共振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氢谱图的分类</a:t>
            </a:r>
          </a:p>
        </p:txBody>
      </p:sp>
      <p:sp>
        <p:nvSpPr>
          <p:cNvPr id="2" name="矩形 1"/>
          <p:cNvSpPr/>
          <p:nvPr/>
        </p:nvSpPr>
        <p:spPr>
          <a:xfrm>
            <a:off x="2295275" y="1779662"/>
            <a:ext cx="5742384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υ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 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 6</a:t>
            </a:r>
          </a:p>
          <a:p>
            <a:pPr lvl="0" fontAlgn="base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一核组的核是磁等价的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245265" y="3939902"/>
            <a:ext cx="6912768" cy="72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不能同时满足产生一级谱的条件产生高级谱图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914400"/>
            <a:ext cx="8458200" cy="125730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130000"/>
              </a:lnSpc>
              <a:spcAft>
                <a:spcPts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 smtClean="0">
                <a:ea typeface="楷体_GB2312" pitchFamily="49" charset="-122"/>
              </a:rPr>
              <a:t>  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一组磁等价的核与相邻碳上的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个磁等价的核</a:t>
            </a:r>
            <a:r>
              <a:rPr lang="zh-CN" altLang="en-US" sz="2400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合，这组核的谱峰将被分裂为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2nI+1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个峰。质子</a:t>
            </a:r>
            <a:r>
              <a:rPr lang="en-US" altLang="zh-CN" sz="24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＝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1/2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，裂分峰数目为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</a:t>
            </a:r>
            <a:r>
              <a:rPr lang="zh-CN" altLang="en-US" sz="2400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通常称为“</a:t>
            </a:r>
            <a:r>
              <a:rPr lang="en-US" altLang="zh-CN" sz="2400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n+1 </a:t>
            </a:r>
            <a:r>
              <a:rPr lang="zh-CN" altLang="en-US" sz="2400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”规律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pic>
        <p:nvPicPr>
          <p:cNvPr id="3174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171700"/>
            <a:ext cx="6019800" cy="2868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23527" y="249492"/>
            <a:ext cx="410400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lnSpc>
                <a:spcPct val="130000"/>
              </a:lnSpc>
              <a:spcBef>
                <a:spcPct val="20000"/>
              </a:spcBef>
              <a:defRPr/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）耦合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作用的一般规则 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457200" y="800100"/>
            <a:ext cx="82296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如某组核既与一组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个磁等价的核耦合，又与另一组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个磁等价的核耦合，且两种耦合常数不同，则裂分峰数目为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+1)(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+1)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。（实际因谱峰部分重叠，小于计算值）。若耦合常数相同或很接近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在脂肪族化合物中很普遍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，则显示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m+n+1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重峰。</a:t>
            </a:r>
          </a:p>
          <a:p>
            <a:pPr marL="34290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990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ChangeArrowheads="1"/>
          </p:cNvSpPr>
          <p:nvPr/>
        </p:nvSpPr>
        <p:spPr bwMode="auto">
          <a:xfrm>
            <a:off x="695279" y="138440"/>
            <a:ext cx="3200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99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例：烯烃的裂分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862771"/>
            <a:ext cx="4981575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62871"/>
            <a:ext cx="6210300" cy="964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79" y="2606594"/>
            <a:ext cx="6381750" cy="112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731723"/>
            <a:ext cx="689610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2" name="Rectangle 4"/>
          <p:cNvSpPr>
            <a:spLocks noChangeArrowheads="1"/>
          </p:cNvSpPr>
          <p:nvPr/>
        </p:nvSpPr>
        <p:spPr bwMode="auto">
          <a:xfrm>
            <a:off x="7010401" y="3829050"/>
            <a:ext cx="1300356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dd</a:t>
            </a:r>
            <a:r>
              <a:rPr kumimoji="1" lang="zh-CN" altLang="en-US" sz="2400" b="1">
                <a:solidFill>
                  <a:srgbClr val="000099"/>
                </a:solidFill>
                <a:latin typeface="Times New Roman" panose="02020603050405020304" pitchFamily="18" charset="0"/>
              </a:rPr>
              <a:t>峰型</a:t>
            </a:r>
            <a:r>
              <a:rPr kumimoji="1" lang="zh-CN" altLang="en-US" sz="240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2529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485900"/>
            <a:ext cx="2143125" cy="2207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Rectangle 7"/>
          <p:cNvSpPr>
            <a:spLocks noChangeArrowheads="1"/>
          </p:cNvSpPr>
          <p:nvPr/>
        </p:nvSpPr>
        <p:spPr bwMode="auto">
          <a:xfrm>
            <a:off x="624129" y="313354"/>
            <a:ext cx="68467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思考：化合物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Hb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Hc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如何裂分？</a:t>
            </a:r>
          </a:p>
        </p:txBody>
      </p:sp>
      <p:sp>
        <p:nvSpPr>
          <p:cNvPr id="252938" name="Rectangle 10"/>
          <p:cNvSpPr>
            <a:spLocks noChangeArrowheads="1"/>
          </p:cNvSpPr>
          <p:nvPr/>
        </p:nvSpPr>
        <p:spPr bwMode="auto">
          <a:xfrm>
            <a:off x="6781800" y="1085850"/>
            <a:ext cx="16433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70C0"/>
                </a:solidFill>
                <a:ea typeface="楷体_GB2312" pitchFamily="49" charset="-122"/>
              </a:rPr>
              <a:t>Hc</a:t>
            </a:r>
            <a:r>
              <a:rPr kumimoji="1" lang="zh-CN" altLang="en-US" sz="2800" b="1" dirty="0">
                <a:solidFill>
                  <a:srgbClr val="0070C0"/>
                </a:solidFill>
                <a:ea typeface="楷体_GB2312" pitchFamily="49" charset="-122"/>
              </a:rPr>
              <a:t>的裂分</a:t>
            </a:r>
          </a:p>
        </p:txBody>
      </p:sp>
      <p:pic>
        <p:nvPicPr>
          <p:cNvPr id="40966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494381"/>
            <a:ext cx="2695575" cy="1778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2" grpId="0"/>
      <p:bldP spid="2529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339502"/>
            <a:ext cx="9134475" cy="11430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裂分峰的相对强度比近似为二项式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a+b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aseline="30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展开式的系数（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为相邻磁等价核的个数），各裂分峰之间的间距相等且对称分布 。</a:t>
            </a:r>
          </a:p>
        </p:txBody>
      </p:sp>
      <p:pic>
        <p:nvPicPr>
          <p:cNvPr id="4301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600450"/>
            <a:ext cx="1828800" cy="1063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371850"/>
            <a:ext cx="17716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486151"/>
            <a:ext cx="2438400" cy="125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57350"/>
            <a:ext cx="5257800" cy="1656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ChangeArrowheads="1"/>
          </p:cNvSpPr>
          <p:nvPr/>
        </p:nvSpPr>
        <p:spPr bwMode="auto">
          <a:xfrm>
            <a:off x="297129" y="222742"/>
            <a:ext cx="8610600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裂分峰组的中心是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该组磁核的化学位移</a:t>
            </a:r>
            <a:r>
              <a:rPr kumimoji="1"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</a:t>
            </a:r>
            <a:r>
              <a:rPr kumimoji="1"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相邻两峰之间的裂距反映</a:t>
            </a:r>
            <a:r>
              <a:rPr kumimoji="1"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耦合常数</a:t>
            </a:r>
            <a:r>
              <a:rPr kumimoji="1" lang="en-US" altLang="zh-CN" sz="2400" i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kumimoji="1"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r>
              <a:rPr kumimoji="1"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(Hz)</a:t>
            </a:r>
            <a:r>
              <a:rPr kumimoji="1"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05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15" y="1942215"/>
            <a:ext cx="1981200" cy="1151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860" y="1483693"/>
            <a:ext cx="2038350" cy="157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1585419"/>
            <a:ext cx="2667000" cy="1368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Line 9"/>
          <p:cNvSpPr>
            <a:spLocks noChangeShapeType="1"/>
          </p:cNvSpPr>
          <p:nvPr/>
        </p:nvSpPr>
        <p:spPr bwMode="auto">
          <a:xfrm flipV="1">
            <a:off x="1524000" y="3093550"/>
            <a:ext cx="0" cy="571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990033"/>
              </a:solidFill>
              <a:ea typeface="楷体_GB2312" pitchFamily="49" charset="-122"/>
            </a:endParaRPr>
          </a:p>
        </p:txBody>
      </p:sp>
      <p:sp>
        <p:nvSpPr>
          <p:cNvPr id="45063" name="Line 10"/>
          <p:cNvSpPr>
            <a:spLocks noChangeShapeType="1"/>
          </p:cNvSpPr>
          <p:nvPr/>
        </p:nvSpPr>
        <p:spPr bwMode="auto">
          <a:xfrm flipV="1">
            <a:off x="4030061" y="3153104"/>
            <a:ext cx="0" cy="571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990033"/>
              </a:solidFill>
              <a:ea typeface="楷体_GB2312" pitchFamily="49" charset="-122"/>
            </a:endParaRPr>
          </a:p>
        </p:txBody>
      </p:sp>
      <p:sp>
        <p:nvSpPr>
          <p:cNvPr id="45064" name="Line 11"/>
          <p:cNvSpPr>
            <a:spLocks noChangeShapeType="1"/>
          </p:cNvSpPr>
          <p:nvPr/>
        </p:nvSpPr>
        <p:spPr bwMode="auto">
          <a:xfrm flipV="1">
            <a:off x="7010400" y="2961084"/>
            <a:ext cx="0" cy="571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990033"/>
              </a:solidFill>
              <a:ea typeface="楷体_GB2312" pitchFamily="49" charset="-122"/>
            </a:endParaRPr>
          </a:p>
        </p:txBody>
      </p:sp>
      <p:sp>
        <p:nvSpPr>
          <p:cNvPr id="45065" name="Rectangle 12"/>
          <p:cNvSpPr>
            <a:spLocks noChangeArrowheads="1"/>
          </p:cNvSpPr>
          <p:nvPr/>
        </p:nvSpPr>
        <p:spPr bwMode="auto">
          <a:xfrm>
            <a:off x="1295400" y="366505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b="1" i="1" dirty="0">
                <a:solidFill>
                  <a:srgbClr val="000099"/>
                </a:solidFill>
                <a:ea typeface="楷体_GB2312" pitchFamily="49" charset="-122"/>
                <a:sym typeface="Symbol" panose="05050102010706020507" pitchFamily="18" charset="2"/>
              </a:rPr>
              <a:t>δ</a:t>
            </a:r>
          </a:p>
        </p:txBody>
      </p:sp>
      <p:sp>
        <p:nvSpPr>
          <p:cNvPr id="45066" name="Rectangle 13"/>
          <p:cNvSpPr>
            <a:spLocks noChangeArrowheads="1"/>
          </p:cNvSpPr>
          <p:nvPr/>
        </p:nvSpPr>
        <p:spPr bwMode="auto">
          <a:xfrm>
            <a:off x="3823686" y="37499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b="1" i="1" dirty="0">
                <a:solidFill>
                  <a:srgbClr val="000099"/>
                </a:solidFill>
                <a:ea typeface="楷体_GB2312" pitchFamily="49" charset="-122"/>
                <a:sym typeface="Symbol" panose="05050102010706020507" pitchFamily="18" charset="2"/>
              </a:rPr>
              <a:t>δ</a:t>
            </a:r>
          </a:p>
        </p:txBody>
      </p:sp>
      <p:sp>
        <p:nvSpPr>
          <p:cNvPr id="45067" name="Rectangle 14"/>
          <p:cNvSpPr>
            <a:spLocks noChangeArrowheads="1"/>
          </p:cNvSpPr>
          <p:nvPr/>
        </p:nvSpPr>
        <p:spPr bwMode="auto">
          <a:xfrm>
            <a:off x="6804025" y="3612458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b="1" i="1" dirty="0">
                <a:solidFill>
                  <a:srgbClr val="000099"/>
                </a:solidFill>
                <a:ea typeface="楷体_GB2312" pitchFamily="49" charset="-122"/>
                <a:sym typeface="Symbol" panose="05050102010706020507" pitchFamily="18" charset="2"/>
              </a:rPr>
              <a:t>δ</a:t>
            </a:r>
          </a:p>
        </p:txBody>
      </p:sp>
      <p:sp>
        <p:nvSpPr>
          <p:cNvPr id="2" name="矩形 1"/>
          <p:cNvSpPr/>
          <p:nvPr/>
        </p:nvSpPr>
        <p:spPr>
          <a:xfrm>
            <a:off x="507172" y="3931631"/>
            <a:ext cx="8190514" cy="691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9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磁等价的核相互之间有耦合作用，但没有谱线裂分现象。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ChangeArrowheads="1"/>
          </p:cNvSpPr>
          <p:nvPr/>
        </p:nvSpPr>
        <p:spPr bwMode="auto">
          <a:xfrm>
            <a:off x="661164" y="1113588"/>
            <a:ext cx="848283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en-US" altLang="zh-CN" sz="2400" b="1" dirty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 smtClean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kumimoji="1"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活泼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氢因快速交换与其它氢核之间无耦合裂分现象。若不发生交换或是交换缓慢时，也会与其它氢核发生耦合裂</a:t>
            </a:r>
            <a:r>
              <a:rPr kumimoji="1"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07" name="Rectangle 5"/>
          <p:cNvSpPr>
            <a:spLocks noChangeArrowheads="1"/>
          </p:cNvSpPr>
          <p:nvPr/>
        </p:nvSpPr>
        <p:spPr bwMode="auto">
          <a:xfrm>
            <a:off x="3275856" y="446771"/>
            <a:ext cx="17281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    意</a:t>
            </a:r>
          </a:p>
        </p:txBody>
      </p:sp>
      <p:sp>
        <p:nvSpPr>
          <p:cNvPr id="2" name="矩形 1"/>
          <p:cNvSpPr/>
          <p:nvPr/>
        </p:nvSpPr>
        <p:spPr>
          <a:xfrm>
            <a:off x="661164" y="2570274"/>
            <a:ext cx="8231315" cy="72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SzPct val="75000"/>
              <a:buFont typeface="Wingdings" panose="05000000000000000000" pitchFamily="2" charset="2"/>
              <a:buChar char="u"/>
            </a:pPr>
            <a:r>
              <a:rPr kumimoji="1"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耦合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作用的一般规则不适用高级谱图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1102</Words>
  <Application>Microsoft Office PowerPoint</Application>
  <PresentationFormat>全屏显示(16:9)</PresentationFormat>
  <Paragraphs>116</Paragraphs>
  <Slides>28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楷体</vt:lpstr>
      <vt:lpstr>楷体_GB2312</vt:lpstr>
      <vt:lpstr>宋体</vt:lpstr>
      <vt:lpstr>微软雅黑</vt:lpstr>
      <vt:lpstr>Arial</vt:lpstr>
      <vt:lpstr>Arial Black</vt:lpstr>
      <vt:lpstr>Calibri</vt:lpstr>
      <vt:lpstr>Comic Sans MS</vt:lpstr>
      <vt:lpstr>Symbol</vt:lpstr>
      <vt:lpstr>Times New Roman</vt:lpstr>
      <vt:lpstr>Wingdings</vt:lpstr>
      <vt:lpstr>1_Office 主题​​</vt:lpstr>
      <vt:lpstr>主题3</vt:lpstr>
      <vt:lpstr>Network</vt:lpstr>
      <vt:lpstr>        第二节 核磁共振氢谱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三、耦合作用的一般规则和一级谱图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2.耦合作用的一般规则</vt:lpstr>
      <vt:lpstr>1）自旋体系的分类和命名</vt:lpstr>
      <vt:lpstr>自旋体系命名规则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xiawei</dc:creator>
  <cp:lastModifiedBy>Windows 用户</cp:lastModifiedBy>
  <cp:revision>199</cp:revision>
  <dcterms:created xsi:type="dcterms:W3CDTF">2019-07-19T02:05:00Z</dcterms:created>
  <dcterms:modified xsi:type="dcterms:W3CDTF">2021-11-28T12:35:28Z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