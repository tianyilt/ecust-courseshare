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ctiveX/activeX1.xml" ContentType="application/vnd.ms-office.activeX+xml"/>
  <Override PartName="/ppt/activeX/activeX1.bin" ContentType="application/vnd.ms-office.activeX"/>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3" r:id="rId1"/>
  </p:sldMasterIdLst>
  <p:notesMasterIdLst>
    <p:notesMasterId r:id="rId72"/>
  </p:notesMasterIdLst>
  <p:sldIdLst>
    <p:sldId id="392" r:id="rId2"/>
    <p:sldId id="412" r:id="rId3"/>
    <p:sldId id="265" r:id="rId4"/>
    <p:sldId id="270" r:id="rId5"/>
    <p:sldId id="267" r:id="rId6"/>
    <p:sldId id="324" r:id="rId7"/>
    <p:sldId id="411" r:id="rId8"/>
    <p:sldId id="261" r:id="rId9"/>
    <p:sldId id="274" r:id="rId10"/>
    <p:sldId id="273" r:id="rId11"/>
    <p:sldId id="292" r:id="rId12"/>
    <p:sldId id="272" r:id="rId13"/>
    <p:sldId id="323" r:id="rId14"/>
    <p:sldId id="311" r:id="rId15"/>
    <p:sldId id="276" r:id="rId16"/>
    <p:sldId id="285" r:id="rId17"/>
    <p:sldId id="325" r:id="rId18"/>
    <p:sldId id="326" r:id="rId19"/>
    <p:sldId id="401" r:id="rId20"/>
    <p:sldId id="402" r:id="rId21"/>
    <p:sldId id="403" r:id="rId22"/>
    <p:sldId id="404" r:id="rId23"/>
    <p:sldId id="405" r:id="rId24"/>
    <p:sldId id="406" r:id="rId25"/>
    <p:sldId id="407" r:id="rId26"/>
    <p:sldId id="408" r:id="rId27"/>
    <p:sldId id="409" r:id="rId28"/>
    <p:sldId id="410" r:id="rId29"/>
    <p:sldId id="400" r:id="rId30"/>
    <p:sldId id="394" r:id="rId31"/>
    <p:sldId id="395" r:id="rId32"/>
    <p:sldId id="396" r:id="rId33"/>
    <p:sldId id="397" r:id="rId34"/>
    <p:sldId id="398" r:id="rId35"/>
    <p:sldId id="399" r:id="rId36"/>
    <p:sldId id="343" r:id="rId37"/>
    <p:sldId id="344" r:id="rId38"/>
    <p:sldId id="345" r:id="rId39"/>
    <p:sldId id="346" r:id="rId40"/>
    <p:sldId id="347" r:id="rId41"/>
    <p:sldId id="413" r:id="rId42"/>
    <p:sldId id="414" r:id="rId43"/>
    <p:sldId id="415" r:id="rId44"/>
    <p:sldId id="416" r:id="rId45"/>
    <p:sldId id="417" r:id="rId46"/>
    <p:sldId id="418" r:id="rId47"/>
    <p:sldId id="419" r:id="rId48"/>
    <p:sldId id="420" r:id="rId49"/>
    <p:sldId id="421" r:id="rId50"/>
    <p:sldId id="422" r:id="rId51"/>
    <p:sldId id="423" r:id="rId52"/>
    <p:sldId id="424" r:id="rId53"/>
    <p:sldId id="425" r:id="rId54"/>
    <p:sldId id="426" r:id="rId55"/>
    <p:sldId id="427" r:id="rId56"/>
    <p:sldId id="428" r:id="rId57"/>
    <p:sldId id="429" r:id="rId58"/>
    <p:sldId id="430" r:id="rId59"/>
    <p:sldId id="431" r:id="rId60"/>
    <p:sldId id="432" r:id="rId61"/>
    <p:sldId id="433" r:id="rId62"/>
    <p:sldId id="434" r:id="rId63"/>
    <p:sldId id="435" r:id="rId64"/>
    <p:sldId id="436" r:id="rId65"/>
    <p:sldId id="437" r:id="rId66"/>
    <p:sldId id="438" r:id="rId67"/>
    <p:sldId id="439" r:id="rId68"/>
    <p:sldId id="440" r:id="rId69"/>
    <p:sldId id="443" r:id="rId70"/>
    <p:sldId id="442" r:id="rId71"/>
  </p:sldIdLst>
  <p:sldSz cx="9144000" cy="6858000" type="screen4x3"/>
  <p:notesSz cx="6858000" cy="9144000"/>
  <p:custShowLst>
    <p:custShow name="自定义放映 1" id="0">
      <p:sldLst>
        <p:sld r:id="rId9"/>
        <p:sld r:id="rId11"/>
        <p:sld r:id="rId10"/>
        <p:sld r:id="rId13"/>
        <p:sld r:id="rId16"/>
      </p:sldLst>
    </p:custShow>
    <p:custShow name="自定义放映 2" id="1">
      <p:sldLst>
        <p:sld r:id="rId17"/>
      </p:sldLst>
    </p:custShow>
    <p:custShow name="自定义放映 3" id="2">
      <p:sldLst/>
    </p:custShow>
    <p:custShow name="自定义放映 4" id="3">
      <p:sldLst/>
    </p:custShow>
  </p:custShowLst>
  <p:defaultTextStyle>
    <a:defPPr>
      <a:defRPr lang="zh-CN"/>
    </a:defPPr>
    <a:lvl1pPr algn="l" rtl="0" fontAlgn="base">
      <a:lnSpc>
        <a:spcPct val="125000"/>
      </a:lnSpc>
      <a:spcBef>
        <a:spcPct val="0"/>
      </a:spcBef>
      <a:spcAft>
        <a:spcPct val="0"/>
      </a:spcAft>
      <a:defRPr kumimoji="1" sz="2800" b="1" kern="1200">
        <a:solidFill>
          <a:schemeClr val="tx1"/>
        </a:solidFill>
        <a:latin typeface="楷体_GB2312" pitchFamily="49" charset="-122"/>
        <a:ea typeface="楷体_GB2312" pitchFamily="49" charset="-122"/>
        <a:cs typeface="+mn-cs"/>
      </a:defRPr>
    </a:lvl1pPr>
    <a:lvl2pPr marL="457200" algn="l" rtl="0" fontAlgn="base">
      <a:lnSpc>
        <a:spcPct val="125000"/>
      </a:lnSpc>
      <a:spcBef>
        <a:spcPct val="0"/>
      </a:spcBef>
      <a:spcAft>
        <a:spcPct val="0"/>
      </a:spcAft>
      <a:defRPr kumimoji="1" sz="2800" b="1" kern="1200">
        <a:solidFill>
          <a:schemeClr val="tx1"/>
        </a:solidFill>
        <a:latin typeface="楷体_GB2312" pitchFamily="49" charset="-122"/>
        <a:ea typeface="楷体_GB2312" pitchFamily="49" charset="-122"/>
        <a:cs typeface="+mn-cs"/>
      </a:defRPr>
    </a:lvl2pPr>
    <a:lvl3pPr marL="914400" algn="l" rtl="0" fontAlgn="base">
      <a:lnSpc>
        <a:spcPct val="125000"/>
      </a:lnSpc>
      <a:spcBef>
        <a:spcPct val="0"/>
      </a:spcBef>
      <a:spcAft>
        <a:spcPct val="0"/>
      </a:spcAft>
      <a:defRPr kumimoji="1" sz="2800" b="1" kern="1200">
        <a:solidFill>
          <a:schemeClr val="tx1"/>
        </a:solidFill>
        <a:latin typeface="楷体_GB2312" pitchFamily="49" charset="-122"/>
        <a:ea typeface="楷体_GB2312" pitchFamily="49" charset="-122"/>
        <a:cs typeface="+mn-cs"/>
      </a:defRPr>
    </a:lvl3pPr>
    <a:lvl4pPr marL="1371600" algn="l" rtl="0" fontAlgn="base">
      <a:lnSpc>
        <a:spcPct val="125000"/>
      </a:lnSpc>
      <a:spcBef>
        <a:spcPct val="0"/>
      </a:spcBef>
      <a:spcAft>
        <a:spcPct val="0"/>
      </a:spcAft>
      <a:defRPr kumimoji="1" sz="2800" b="1" kern="1200">
        <a:solidFill>
          <a:schemeClr val="tx1"/>
        </a:solidFill>
        <a:latin typeface="楷体_GB2312" pitchFamily="49" charset="-122"/>
        <a:ea typeface="楷体_GB2312" pitchFamily="49" charset="-122"/>
        <a:cs typeface="+mn-cs"/>
      </a:defRPr>
    </a:lvl4pPr>
    <a:lvl5pPr marL="1828800" algn="l" rtl="0" fontAlgn="base">
      <a:lnSpc>
        <a:spcPct val="125000"/>
      </a:lnSpc>
      <a:spcBef>
        <a:spcPct val="0"/>
      </a:spcBef>
      <a:spcAft>
        <a:spcPct val="0"/>
      </a:spcAft>
      <a:defRPr kumimoji="1" sz="2800" b="1" kern="1200">
        <a:solidFill>
          <a:schemeClr val="tx1"/>
        </a:solidFill>
        <a:latin typeface="楷体_GB2312" pitchFamily="49" charset="-122"/>
        <a:ea typeface="楷体_GB2312" pitchFamily="49" charset="-122"/>
        <a:cs typeface="+mn-cs"/>
      </a:defRPr>
    </a:lvl5pPr>
    <a:lvl6pPr marL="2286000" algn="l" defTabSz="914400" rtl="0" eaLnBrk="1" latinLnBrk="0" hangingPunct="1">
      <a:defRPr kumimoji="1" sz="2800" b="1" kern="1200">
        <a:solidFill>
          <a:schemeClr val="tx1"/>
        </a:solidFill>
        <a:latin typeface="楷体_GB2312" pitchFamily="49" charset="-122"/>
        <a:ea typeface="楷体_GB2312" pitchFamily="49" charset="-122"/>
        <a:cs typeface="+mn-cs"/>
      </a:defRPr>
    </a:lvl6pPr>
    <a:lvl7pPr marL="2743200" algn="l" defTabSz="914400" rtl="0" eaLnBrk="1" latinLnBrk="0" hangingPunct="1">
      <a:defRPr kumimoji="1" sz="2800" b="1" kern="1200">
        <a:solidFill>
          <a:schemeClr val="tx1"/>
        </a:solidFill>
        <a:latin typeface="楷体_GB2312" pitchFamily="49" charset="-122"/>
        <a:ea typeface="楷体_GB2312" pitchFamily="49" charset="-122"/>
        <a:cs typeface="+mn-cs"/>
      </a:defRPr>
    </a:lvl7pPr>
    <a:lvl8pPr marL="3200400" algn="l" defTabSz="914400" rtl="0" eaLnBrk="1" latinLnBrk="0" hangingPunct="1">
      <a:defRPr kumimoji="1" sz="2800" b="1" kern="1200">
        <a:solidFill>
          <a:schemeClr val="tx1"/>
        </a:solidFill>
        <a:latin typeface="楷体_GB2312" pitchFamily="49" charset="-122"/>
        <a:ea typeface="楷体_GB2312" pitchFamily="49" charset="-122"/>
        <a:cs typeface="+mn-cs"/>
      </a:defRPr>
    </a:lvl8pPr>
    <a:lvl9pPr marL="3657600" algn="l" defTabSz="914400" rtl="0" eaLnBrk="1" latinLnBrk="0" hangingPunct="1">
      <a:defRPr kumimoji="1" sz="2800" b="1" kern="1200">
        <a:solidFill>
          <a:schemeClr val="tx1"/>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906BA"/>
    <a:srgbClr val="FF0000"/>
    <a:srgbClr val="CC00CC"/>
    <a:srgbClr val="FFFFCC"/>
    <a:srgbClr val="DBD8F0"/>
    <a:srgbClr val="CFD1F1"/>
    <a:srgbClr val="D4D6F0"/>
    <a:srgbClr val="C8C3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26" autoAdjust="0"/>
    <p:restoredTop sz="87826" autoAdjust="0"/>
  </p:normalViewPr>
  <p:slideViewPr>
    <p:cSldViewPr>
      <p:cViewPr varScale="1">
        <p:scale>
          <a:sx n="64" d="100"/>
          <a:sy n="64" d="100"/>
        </p:scale>
        <p:origin x="1488" y="48"/>
      </p:cViewPr>
      <p:guideLst>
        <p:guide orient="horz" pos="2160"/>
        <p:guide pos="2880"/>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1926"/>
    </p:cViewPr>
  </p:sorterViewPr>
  <p:notesViewPr>
    <p:cSldViewPr>
      <p:cViewPr varScale="1">
        <p:scale>
          <a:sx n="40" d="100"/>
          <a:sy n="40" d="100"/>
        </p:scale>
        <p:origin x="-148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defRPr sz="1200"/>
            </a:lvl1pPr>
          </a:lstStyle>
          <a:p>
            <a:pPr>
              <a:defRPr/>
            </a:pPr>
            <a:endParaRPr lang="en-US" altLang="zh-CN"/>
          </a:p>
        </p:txBody>
      </p:sp>
      <p:sp>
        <p:nvSpPr>
          <p:cNvPr id="6041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lvl1pPr algn="r">
              <a:defRPr sz="1200"/>
            </a:lvl1pPr>
          </a:lstStyle>
          <a:p>
            <a:pPr>
              <a:defRPr/>
            </a:pPr>
            <a:endParaRPr lang="en-US" altLang="zh-CN"/>
          </a:p>
        </p:txBody>
      </p:sp>
      <p:sp>
        <p:nvSpPr>
          <p:cNvPr id="788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p:cNvSpPr>
            <a:spLocks noGrp="1" noChangeArrowheads="1"/>
          </p:cNvSpPr>
          <p:nvPr>
            <p:ph type="body" sz="quarter" idx="3"/>
          </p:nvPr>
        </p:nvSpPr>
        <p:spPr bwMode="auto">
          <a:xfrm>
            <a:off x="914400" y="4343400"/>
            <a:ext cx="5029200" cy="1227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042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defRPr sz="1200"/>
            </a:lvl1pPr>
          </a:lstStyle>
          <a:p>
            <a:pPr>
              <a:defRPr/>
            </a:pPr>
            <a:endParaRPr lang="en-US" altLang="zh-CN"/>
          </a:p>
        </p:txBody>
      </p:sp>
      <p:sp>
        <p:nvSpPr>
          <p:cNvPr id="60423" name="Rectangle 7"/>
          <p:cNvSpPr>
            <a:spLocks noGrp="1" noChangeArrowheads="1"/>
          </p:cNvSpPr>
          <p:nvPr>
            <p:ph type="sldNum" sz="quarter" idx="5"/>
          </p:nvPr>
        </p:nvSpPr>
        <p:spPr bwMode="auto">
          <a:xfrm>
            <a:off x="3886200" y="8823325"/>
            <a:ext cx="2971800" cy="32067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spAutoFit/>
          </a:bodyPr>
          <a:lstStyle>
            <a:lvl1pPr algn="r">
              <a:defRPr sz="1200"/>
            </a:lvl1pPr>
          </a:lstStyle>
          <a:p>
            <a:pPr>
              <a:defRPr/>
            </a:pPr>
            <a:fld id="{B88742C3-F8FC-48E3-AF21-4DD9FDC7EF91}" type="slidenum">
              <a:rPr lang="en-US" altLang="zh-CN"/>
              <a:pPr>
                <a:defRPr/>
              </a:pPr>
              <a:t>‹#›</a:t>
            </a:fld>
            <a:endParaRPr lang="en-US" altLang="zh-CN"/>
          </a:p>
        </p:txBody>
      </p:sp>
    </p:spTree>
    <p:extLst>
      <p:ext uri="{BB962C8B-B14F-4D97-AF65-F5344CB8AC3E}">
        <p14:creationId xmlns:p14="http://schemas.microsoft.com/office/powerpoint/2010/main" val="29698746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417EB179-41AB-44C5-B6CD-BDE705FE5807}" type="slidenum">
              <a:rPr lang="en-US" altLang="zh-CN" sz="1200" smtClean="0"/>
              <a:pPr eaLnBrk="1" hangingPunct="1"/>
              <a:t>1</a:t>
            </a:fld>
            <a:endParaRPr lang="en-US" altLang="zh-CN" sz="1200" smtClean="0"/>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914400" y="4343400"/>
            <a:ext cx="5029200" cy="877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1863E69B-36CE-4AC3-87B9-E6F5712BA6C1}" type="slidenum">
              <a:rPr lang="en-US" altLang="zh-CN" sz="1200" smtClean="0"/>
              <a:pPr eaLnBrk="1" hangingPunct="1"/>
              <a:t>2</a:t>
            </a:fld>
            <a:endParaRPr lang="en-US" altLang="zh-CN" sz="1200" smtClean="0"/>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xfrm>
            <a:off x="927100" y="3994150"/>
            <a:ext cx="5102225" cy="8874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094F1E31-DD92-4271-9045-E779EC04B593}" type="slidenum">
              <a:rPr lang="en-US" altLang="zh-CN" sz="1200" smtClean="0"/>
              <a:pPr eaLnBrk="1" hangingPunct="1"/>
              <a:t>4</a:t>
            </a:fld>
            <a:endParaRPr lang="en-US" altLang="zh-CN" sz="1200" smtClean="0"/>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xfrm>
            <a:off x="914400" y="4343400"/>
            <a:ext cx="50292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82913B98-99A6-4AB8-A569-03211EA37B02}" type="slidenum">
              <a:rPr lang="en-US" altLang="zh-CN" sz="1200" smtClean="0">
                <a:latin typeface="Times New Roman" pitchFamily="18" charset="0"/>
                <a:ea typeface="宋体" pitchFamily="2" charset="-122"/>
              </a:rPr>
              <a:pPr eaLnBrk="1" hangingPunct="1"/>
              <a:t>6</a:t>
            </a:fld>
            <a:endParaRPr lang="en-US" altLang="zh-CN" sz="1200" smtClean="0">
              <a:latin typeface="Times New Roman" pitchFamily="18" charset="0"/>
              <a:ea typeface="宋体" pitchFamily="2" charset="-122"/>
            </a:endParaRPr>
          </a:p>
        </p:txBody>
      </p:sp>
      <p:sp>
        <p:nvSpPr>
          <p:cNvPr id="82947" name="Rectangle 2"/>
          <p:cNvSpPr>
            <a:spLocks noGrp="1" noRot="1" noChangeAspect="1" noChangeArrowheads="1" noTextEdit="1"/>
          </p:cNvSpPr>
          <p:nvPr>
            <p:ph type="sldImg"/>
          </p:nvPr>
        </p:nvSpPr>
        <p:spPr>
          <a:xfrm>
            <a:off x="287338" y="695325"/>
            <a:ext cx="6286500" cy="4714875"/>
          </a:xfrm>
          <a:ln/>
        </p:spPr>
      </p:sp>
      <p:sp>
        <p:nvSpPr>
          <p:cNvPr id="82948" name="Rectangle 3"/>
          <p:cNvSpPr>
            <a:spLocks noGrp="1" noChangeArrowheads="1"/>
          </p:cNvSpPr>
          <p:nvPr>
            <p:ph type="body" idx="1"/>
          </p:nvPr>
        </p:nvSpPr>
        <p:spPr>
          <a:xfrm>
            <a:off x="914400" y="4343400"/>
            <a:ext cx="5029200" cy="1495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b="1" smtClean="0">
                <a:solidFill>
                  <a:srgbClr val="000000"/>
                </a:solidFill>
              </a:rPr>
              <a:t>离子源</a:t>
            </a:r>
            <a:r>
              <a:rPr lang="en-US" altLang="zh-CN" b="1" smtClean="0">
                <a:solidFill>
                  <a:srgbClr val="000000"/>
                </a:solidFill>
              </a:rPr>
              <a:t>---</a:t>
            </a:r>
            <a:r>
              <a:rPr lang="zh-CN" altLang="en-US" b="1" smtClean="0">
                <a:solidFill>
                  <a:srgbClr val="000000"/>
                </a:solidFill>
              </a:rPr>
              <a:t>分子电离碎裂离子的生成；</a:t>
            </a:r>
          </a:p>
          <a:p>
            <a:pPr eaLnBrk="1" hangingPunct="1">
              <a:spcBef>
                <a:spcPct val="0"/>
              </a:spcBef>
            </a:pPr>
            <a:r>
              <a:rPr lang="zh-CN" altLang="en-US" b="1" smtClean="0">
                <a:solidFill>
                  <a:srgbClr val="000000"/>
                </a:solidFill>
              </a:rPr>
              <a:t>质量分析器</a:t>
            </a:r>
            <a:r>
              <a:rPr lang="en-US" altLang="zh-CN" b="1" smtClean="0">
                <a:solidFill>
                  <a:srgbClr val="000000"/>
                </a:solidFill>
              </a:rPr>
              <a:t>----</a:t>
            </a:r>
            <a:r>
              <a:rPr lang="zh-CN" altLang="en-US" b="1" smtClean="0">
                <a:solidFill>
                  <a:srgbClr val="000000"/>
                </a:solidFill>
              </a:rPr>
              <a:t>离子按</a:t>
            </a:r>
            <a:r>
              <a:rPr lang="en-US" altLang="zh-CN" b="1" i="1" smtClean="0">
                <a:solidFill>
                  <a:srgbClr val="000000"/>
                </a:solidFill>
              </a:rPr>
              <a:t>m/z</a:t>
            </a:r>
            <a:r>
              <a:rPr lang="zh-CN" altLang="en-US" b="1" smtClean="0">
                <a:solidFill>
                  <a:srgbClr val="000000"/>
                </a:solidFill>
              </a:rPr>
              <a:t>分离</a:t>
            </a:r>
          </a:p>
          <a:p>
            <a:pPr eaLnBrk="1" hangingPunct="1">
              <a:spcBef>
                <a:spcPct val="0"/>
              </a:spcBef>
            </a:pPr>
            <a:r>
              <a:rPr lang="zh-CN" altLang="en-US" b="1" smtClean="0"/>
              <a:t>傅立叶变换离子回旋共振分析器（</a:t>
            </a:r>
            <a:r>
              <a:rPr lang="en-US" altLang="zh-CN" b="1" smtClean="0"/>
              <a:t>Fourier transform ion cyclotron resonance analyzer, FTICR</a:t>
            </a:r>
            <a:r>
              <a:rPr lang="zh-CN" altLang="en-US" b="1" smtClean="0"/>
              <a:t>）</a:t>
            </a:r>
            <a:r>
              <a:rPr lang="zh-CN" altLang="en-US" smtClean="0"/>
              <a:t> </a:t>
            </a:r>
          </a:p>
          <a:p>
            <a:pPr eaLnBrk="1" hangingPunct="1">
              <a:spcBef>
                <a:spcPct val="0"/>
              </a:spcBef>
            </a:pPr>
            <a:r>
              <a:rPr lang="zh-CN" altLang="en-US" sz="900" b="1" smtClean="0">
                <a:solidFill>
                  <a:srgbClr val="000000"/>
                </a:solidFill>
              </a:rPr>
              <a:t>大气压光学电离源（ </a:t>
            </a:r>
            <a:r>
              <a:rPr lang="en-US" altLang="zh-CN" sz="900" b="1" smtClean="0">
                <a:solidFill>
                  <a:srgbClr val="000000"/>
                </a:solidFill>
              </a:rPr>
              <a:t>Atmospheric pressure photoionization, APPI</a:t>
            </a:r>
            <a:r>
              <a:rPr lang="zh-CN" altLang="en-US" sz="900" b="1" smtClean="0">
                <a:solidFill>
                  <a:srgbClr val="000000"/>
                </a:solidFill>
              </a:rPr>
              <a:t>）</a:t>
            </a:r>
            <a:endParaRPr lang="zh-CN" altLang="en-US" smtClean="0">
              <a:solidFill>
                <a:srgbClr val="000000"/>
              </a:solidFill>
            </a:endParaRPr>
          </a:p>
          <a:p>
            <a:pPr algn="ctr" eaLnBrk="1" hangingPunct="1">
              <a:lnSpc>
                <a:spcPct val="80000"/>
              </a:lnSpc>
              <a:spcBef>
                <a:spcPct val="0"/>
              </a:spcBef>
            </a:pPr>
            <a:endParaRPr lang="zh-CN" altLang="en-US" b="1" smtClean="0">
              <a:solidFill>
                <a:srgbClr val="000000"/>
              </a:solidFill>
            </a:endParaRPr>
          </a:p>
          <a:p>
            <a:pPr eaLnBrk="1" hangingPunct="1">
              <a:spcBef>
                <a:spcPct val="0"/>
              </a:spcBef>
            </a:pPr>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91F47EA2-1D9D-46EC-9D9F-9619822154B4}" type="slidenum">
              <a:rPr lang="en-US" altLang="zh-CN" sz="1200" smtClean="0"/>
              <a:pPr eaLnBrk="1" hangingPunct="1"/>
              <a:t>16</a:t>
            </a:fld>
            <a:endParaRPr lang="en-US" altLang="zh-CN" sz="1200" smtClean="0"/>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xfrm>
            <a:off x="914400" y="4343400"/>
            <a:ext cx="5029200" cy="2746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b="1"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FCA0492D-6083-4771-8667-A3029839CC2F}" type="slidenum">
              <a:rPr lang="en-US" altLang="zh-CN" sz="1200" smtClean="0"/>
              <a:pPr eaLnBrk="1" hangingPunct="1"/>
              <a:t>17</a:t>
            </a:fld>
            <a:endParaRPr lang="en-US" altLang="zh-CN" sz="1200" smtClean="0"/>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xfrm>
            <a:off x="914400" y="4343400"/>
            <a:ext cx="5029200" cy="1473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34A9387E-19A2-4ACB-99DE-AD28AE112CD2}" type="slidenum">
              <a:rPr lang="en-US" altLang="zh-CN" sz="1200" smtClean="0">
                <a:latin typeface="Arial" pitchFamily="34" charset="0"/>
                <a:ea typeface="宋体" pitchFamily="2" charset="-122"/>
              </a:rPr>
              <a:pPr eaLnBrk="1" hangingPunct="1"/>
              <a:t>23</a:t>
            </a:fld>
            <a:endParaRPr lang="en-US" altLang="zh-CN" sz="1200" smtClean="0">
              <a:latin typeface="Arial" pitchFamily="34" charset="0"/>
              <a:ea typeface="宋体" pitchFamily="2" charset="-122"/>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smtClean="0">
                <a:latin typeface="Arial" pitchFamily="34" charset="0"/>
              </a:rPr>
              <a:t>电喷雾离子源（</a:t>
            </a:r>
            <a:r>
              <a:rPr lang="en-US" altLang="zh-CN" b="1" smtClean="0">
                <a:latin typeface="Arial" pitchFamily="34" charset="0"/>
              </a:rPr>
              <a:t>ESI</a:t>
            </a:r>
            <a:r>
              <a:rPr lang="zh-CN" altLang="en-US" b="1" smtClean="0">
                <a:latin typeface="Arial" pitchFamily="34" charset="0"/>
              </a:rPr>
              <a:t>）</a:t>
            </a:r>
            <a:r>
              <a:rPr lang="zh-CN" altLang="en-US" b="1" smtClean="0">
                <a:solidFill>
                  <a:srgbClr val="000000"/>
                </a:solidFill>
                <a:latin typeface="Arial" pitchFamily="34" charset="0"/>
              </a:rPr>
              <a:t>容易形成多电荷离子。</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D7E1B91D-FE1C-439A-B1ED-E72E447496AE}" type="slidenum">
              <a:rPr lang="en-US" altLang="zh-CN" sz="1200" smtClean="0">
                <a:latin typeface="Arial" pitchFamily="34" charset="0"/>
                <a:ea typeface="宋体" pitchFamily="2" charset="-122"/>
              </a:rPr>
              <a:pPr eaLnBrk="1" hangingPunct="1"/>
              <a:t>25</a:t>
            </a:fld>
            <a:endParaRPr lang="en-US" altLang="zh-CN" sz="1200" smtClean="0">
              <a:latin typeface="Arial" pitchFamily="34" charset="0"/>
              <a:ea typeface="宋体" pitchFamily="2" charset="-122"/>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88068" name="灯片编号占位符 3"/>
          <p:cNvSpPr>
            <a:spLocks noGrp="1"/>
          </p:cNvSpPr>
          <p:nvPr>
            <p:ph type="sldNum" sz="quarter" idx="5"/>
          </p:nvPr>
        </p:nvSpPr>
        <p:spPr>
          <a:xfrm>
            <a:off x="3886200" y="8801100"/>
            <a:ext cx="2971800" cy="34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DA89D99F-0E15-4776-AD12-5880E3D3B399}" type="slidenum">
              <a:rPr lang="zh-CN" altLang="en-US" sz="1300" smtClean="0">
                <a:latin typeface="Times New Roman" pitchFamily="18" charset="0"/>
                <a:ea typeface="宋体" pitchFamily="2" charset="-122"/>
              </a:rPr>
              <a:pPr eaLnBrk="1" hangingPunct="1"/>
              <a:t>26</a:t>
            </a:fld>
            <a:endParaRPr lang="en-US" altLang="zh-CN" sz="1300" smtClean="0">
              <a:latin typeface="Times New Roman" pitchFamily="18"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p>
        </p:txBody>
      </p:sp>
      <p:sp>
        <p:nvSpPr>
          <p:cNvPr id="89092" name="灯片编号占位符 3"/>
          <p:cNvSpPr>
            <a:spLocks noGrp="1"/>
          </p:cNvSpPr>
          <p:nvPr>
            <p:ph type="sldNum" sz="quarter" idx="5"/>
          </p:nvPr>
        </p:nvSpPr>
        <p:spPr>
          <a:xfrm>
            <a:off x="3886200" y="8801100"/>
            <a:ext cx="2971800" cy="3429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FA585155-2C84-451C-8551-1B67D8054203}" type="slidenum">
              <a:rPr lang="zh-CN" altLang="en-US" sz="1300" smtClean="0">
                <a:latin typeface="Times New Roman" pitchFamily="18" charset="0"/>
                <a:ea typeface="宋体" pitchFamily="2" charset="-122"/>
              </a:rPr>
              <a:pPr eaLnBrk="1" hangingPunct="1"/>
              <a:t>27</a:t>
            </a:fld>
            <a:endParaRPr lang="en-US" altLang="zh-CN" sz="1300" smtClean="0">
              <a:latin typeface="Times New Roman" pitchFamily="18" charset="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EE90F04A-6547-4866-8067-2BB6AAD4AD08}" type="slidenum">
              <a:rPr lang="en-US" altLang="zh-CN" sz="1200" smtClean="0">
                <a:latin typeface="Arial" pitchFamily="34" charset="0"/>
                <a:ea typeface="宋体" pitchFamily="2" charset="-122"/>
              </a:rPr>
              <a:pPr eaLnBrk="1" hangingPunct="1"/>
              <a:t>28</a:t>
            </a:fld>
            <a:endParaRPr lang="en-US" altLang="zh-CN" sz="1200" smtClean="0">
              <a:latin typeface="Arial" pitchFamily="34" charset="0"/>
              <a:ea typeface="宋体" pitchFamily="2" charset="-122"/>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xfrm>
            <a:off x="914400" y="4343400"/>
            <a:ext cx="5029200" cy="517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smtClean="0">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201CF2D9-4116-47E0-82A5-5DA4CA8A60A5}" type="slidenum">
              <a:rPr lang="en-US" altLang="zh-CN" sz="1200" smtClean="0">
                <a:latin typeface="Arial" pitchFamily="34" charset="0"/>
                <a:ea typeface="宋体" pitchFamily="2" charset="-122"/>
              </a:rPr>
              <a:pPr eaLnBrk="1" hangingPunct="1"/>
              <a:t>32</a:t>
            </a:fld>
            <a:endParaRPr lang="en-US" altLang="zh-CN" sz="1200" smtClean="0">
              <a:latin typeface="Arial" pitchFamily="34" charset="0"/>
              <a:ea typeface="宋体" pitchFamily="2" charset="-122"/>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xfrm>
            <a:off x="914400" y="4343400"/>
            <a:ext cx="5029200" cy="292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300" b="1" smtClean="0"/>
              <a:t>－</a:t>
            </a:r>
            <a:r>
              <a:rPr lang="en-US" altLang="zh-CN" sz="1300" b="1" i="1" smtClean="0"/>
              <a:t>n</a:t>
            </a:r>
            <a:r>
              <a:rPr lang="en-US" altLang="zh-CN" sz="1300" b="1" baseline="-30000" smtClean="0"/>
              <a:t>1</a:t>
            </a:r>
            <a:r>
              <a:rPr lang="en-US" altLang="zh-CN" sz="1300" b="1" i="1" smtClean="0"/>
              <a:t> n</a:t>
            </a:r>
            <a:r>
              <a:rPr lang="en-US" altLang="zh-CN" sz="1300" b="1" baseline="-30000" smtClean="0"/>
              <a:t>3 </a:t>
            </a:r>
            <a:r>
              <a:rPr lang="en-US" altLang="zh-CN" sz="1300" b="1" i="1" smtClean="0"/>
              <a:t>n</a:t>
            </a:r>
            <a:r>
              <a:rPr lang="en-US" altLang="zh-CN" sz="1300" b="1" baseline="-30000" smtClean="0"/>
              <a:t>4</a:t>
            </a:r>
            <a:r>
              <a:rPr lang="zh-CN" altLang="en-US" sz="1300" b="1" smtClean="0"/>
              <a:t>分别为分子中一价、三价和四价原子的数目。</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56A30C55-8E98-4EFA-98B0-A35A54F738B9}" type="slidenum">
              <a:rPr lang="en-US" altLang="zh-CN" sz="1200" smtClean="0">
                <a:latin typeface="Arial" pitchFamily="34" charset="0"/>
                <a:ea typeface="宋体" pitchFamily="2" charset="-122"/>
              </a:rPr>
              <a:pPr eaLnBrk="1" hangingPunct="1"/>
              <a:t>33</a:t>
            </a:fld>
            <a:endParaRPr lang="en-US" altLang="zh-CN" sz="1200" smtClean="0">
              <a:latin typeface="Arial" pitchFamily="34" charset="0"/>
              <a:ea typeface="宋体" pitchFamily="2" charset="-122"/>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xfrm>
            <a:off x="914400" y="4343400"/>
            <a:ext cx="5029200" cy="4619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itchFamily="34" charset="0"/>
              </a:rPr>
              <a:t>常见元素的最丰同位素其质量和化合价间有一个巧合，除氮外，或者均为偶数，或均为奇数。</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DA4BBCE3-810F-4900-B365-1CCECC1C7077}" type="slidenum">
              <a:rPr lang="en-US" altLang="zh-CN" sz="1200" smtClean="0">
                <a:latin typeface="Arial" pitchFamily="34" charset="0"/>
                <a:ea typeface="宋体" pitchFamily="2" charset="-122"/>
              </a:rPr>
              <a:pPr eaLnBrk="1" hangingPunct="1"/>
              <a:t>35</a:t>
            </a:fld>
            <a:endParaRPr lang="en-US" altLang="zh-CN" sz="1200" smtClean="0">
              <a:latin typeface="Arial" pitchFamily="34" charset="0"/>
              <a:ea typeface="宋体" pitchFamily="2" charset="-122"/>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itchFamily="34" charset="0"/>
              </a:rPr>
              <a:t>没有一个合理元素组成的基团符合上述质量数，并能从分子离子中丢失。</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48F2F90D-C0D0-42FB-BD32-2071C1AF69D9}" type="slidenum">
              <a:rPr lang="en-US" altLang="zh-CN" sz="1200" smtClean="0">
                <a:latin typeface="Arial" pitchFamily="34" charset="0"/>
                <a:ea typeface="宋体" pitchFamily="2" charset="-122"/>
              </a:rPr>
              <a:pPr eaLnBrk="1" hangingPunct="1"/>
              <a:t>36</a:t>
            </a:fld>
            <a:endParaRPr lang="en-US" altLang="zh-CN" sz="1200" smtClean="0">
              <a:latin typeface="Arial" pitchFamily="34" charset="0"/>
              <a:ea typeface="宋体" pitchFamily="2" charset="-122"/>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t>114</a:t>
            </a:r>
            <a:r>
              <a:rPr lang="zh-CN" altLang="en-US" smtClean="0"/>
              <a:t>与最靠近的</a:t>
            </a:r>
            <a:r>
              <a:rPr lang="en-US" altLang="zh-CN" smtClean="0"/>
              <a:t>101</a:t>
            </a:r>
            <a:r>
              <a:rPr lang="zh-CN" altLang="en-US" smtClean="0"/>
              <a:t>的差值为</a:t>
            </a:r>
            <a:r>
              <a:rPr lang="en-US" altLang="zh-CN" smtClean="0"/>
              <a:t>13</a:t>
            </a:r>
            <a:r>
              <a:rPr lang="zh-CN" altLang="en-US" smtClean="0"/>
              <a:t>，不合理，故非分子离子峰。</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48F12141-C6F0-460B-B8E8-A966CB830CEC}" type="slidenum">
              <a:rPr lang="en-US" altLang="zh-CN" sz="1200" smtClean="0">
                <a:latin typeface="Arial" pitchFamily="34" charset="0"/>
                <a:ea typeface="宋体" pitchFamily="2" charset="-122"/>
              </a:rPr>
              <a:pPr eaLnBrk="1" hangingPunct="1"/>
              <a:t>37</a:t>
            </a:fld>
            <a:endParaRPr lang="en-US" altLang="zh-CN" sz="1200" smtClean="0">
              <a:latin typeface="Arial" pitchFamily="34" charset="0"/>
              <a:ea typeface="宋体" pitchFamily="2" charset="-122"/>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95883735-E148-4E7C-8A21-776A0970D1E7}" type="slidenum">
              <a:rPr lang="en-US" altLang="zh-CN" sz="1200" smtClean="0">
                <a:latin typeface="Arial" pitchFamily="34" charset="0"/>
                <a:ea typeface="宋体" pitchFamily="2" charset="-122"/>
              </a:rPr>
              <a:pPr eaLnBrk="1" hangingPunct="1"/>
              <a:t>40</a:t>
            </a:fld>
            <a:endParaRPr lang="en-US" altLang="zh-CN" sz="1200" smtClean="0">
              <a:latin typeface="Arial" pitchFamily="34" charset="0"/>
              <a:ea typeface="宋体" pitchFamily="2" charset="-122"/>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b="1" smtClean="0">
                <a:latin typeface="楷体_GB2312" pitchFamily="49" charset="-122"/>
                <a:ea typeface="楷体_GB2312" pitchFamily="49" charset="-122"/>
              </a:rPr>
              <a:t>场解吸电离法（</a:t>
            </a:r>
            <a:r>
              <a:rPr lang="en-US" altLang="zh-CN" b="1" smtClean="0">
                <a:latin typeface="楷体_GB2312" pitchFamily="49" charset="-122"/>
                <a:ea typeface="楷体_GB2312" pitchFamily="49" charset="-122"/>
              </a:rPr>
              <a:t>FD</a:t>
            </a:r>
            <a:r>
              <a:rPr lang="zh-CN" altLang="en-US" b="1" smtClean="0">
                <a:latin typeface="楷体_GB2312" pitchFamily="49" charset="-122"/>
                <a:ea typeface="楷体_GB2312" pitchFamily="49" charset="-122"/>
              </a:rP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noChangeArrowheads="1"/>
          </p:cNvSpPr>
          <p:nvPr/>
        </p:nvSpPr>
        <p:spPr bwMode="auto">
          <a:xfrm>
            <a:off x="3940175" y="7988300"/>
            <a:ext cx="30146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fld id="{C41EA12B-11BD-4428-83A7-A03585B805C5}" type="slidenum">
              <a:rPr lang="en-US" altLang="zh-CN" sz="1200">
                <a:latin typeface="Arial" pitchFamily="34" charset="0"/>
                <a:ea typeface="宋体" pitchFamily="2" charset="-122"/>
              </a:rPr>
              <a:pPr algn="r" eaLnBrk="1" hangingPunct="1"/>
              <a:t>51</a:t>
            </a:fld>
            <a:endParaRPr lang="en-US" altLang="zh-CN" sz="1200">
              <a:latin typeface="Arial" pitchFamily="34" charset="0"/>
              <a:ea typeface="宋体" pitchFamily="2" charset="-122"/>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itchFamily="34" charset="0"/>
              </a:rPr>
              <a:t>62-</a:t>
            </a:r>
            <a:r>
              <a:rPr lang="zh-CN" altLang="en-US" smtClean="0">
                <a:latin typeface="Arial" pitchFamily="34" charset="0"/>
              </a:rPr>
              <a:t>重排离子峰。</a:t>
            </a:r>
            <a:r>
              <a:rPr lang="en-US" altLang="zh-CN" smtClean="0">
                <a:latin typeface="Arial" pitchFamily="34" charset="0"/>
              </a:rPr>
              <a:t>75-</a:t>
            </a:r>
            <a:r>
              <a:rPr lang="zh-CN" altLang="en-US" smtClean="0">
                <a:latin typeface="Arial" pitchFamily="34" charset="0"/>
              </a:rPr>
              <a:t>失去</a:t>
            </a:r>
            <a:r>
              <a:rPr lang="en-US" altLang="zh-CN" smtClean="0">
                <a:latin typeface="Arial" pitchFamily="34" charset="0"/>
              </a:rPr>
              <a:t>1</a:t>
            </a:r>
            <a:r>
              <a:rPr lang="zh-CN" altLang="en-US" smtClean="0">
                <a:latin typeface="Arial" pitchFamily="34" charset="0"/>
              </a:rPr>
              <a:t>个甲基。</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248646A2-E70A-4EA9-81AF-9A7DE58F9C76}" type="slidenum">
              <a:rPr lang="en-US" altLang="zh-CN" sz="1200" smtClean="0">
                <a:latin typeface="Arial" pitchFamily="34" charset="0"/>
                <a:ea typeface="宋体" pitchFamily="2" charset="-122"/>
              </a:rPr>
              <a:pPr eaLnBrk="1" hangingPunct="1"/>
              <a:t>53</a:t>
            </a:fld>
            <a:endParaRPr lang="en-US" altLang="zh-CN" sz="1200" smtClean="0">
              <a:latin typeface="Arial" pitchFamily="34" charset="0"/>
              <a:ea typeface="宋体" pitchFamily="2" charset="-122"/>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smtClean="0">
                <a:latin typeface="Arial" pitchFamily="34" charset="0"/>
              </a:rPr>
              <a:t>62-</a:t>
            </a:r>
            <a:r>
              <a:rPr lang="zh-CN" altLang="en-US" smtClean="0">
                <a:latin typeface="Arial" pitchFamily="34" charset="0"/>
              </a:rPr>
              <a:t>重排离子峰。</a:t>
            </a:r>
            <a:r>
              <a:rPr lang="en-US" altLang="zh-CN" smtClean="0">
                <a:latin typeface="Arial" pitchFamily="34" charset="0"/>
              </a:rPr>
              <a:t>75-</a:t>
            </a:r>
            <a:r>
              <a:rPr lang="zh-CN" altLang="en-US" smtClean="0">
                <a:latin typeface="Arial" pitchFamily="34" charset="0"/>
              </a:rPr>
              <a:t>失去</a:t>
            </a:r>
            <a:r>
              <a:rPr lang="en-US" altLang="zh-CN" smtClean="0">
                <a:latin typeface="Arial" pitchFamily="34" charset="0"/>
              </a:rPr>
              <a:t>1</a:t>
            </a:r>
            <a:r>
              <a:rPr lang="zh-CN" altLang="en-US" smtClean="0">
                <a:latin typeface="Arial" pitchFamily="34" charset="0"/>
              </a:rPr>
              <a:t>个甲基。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2500" eaLnBrk="0" hangingPunct="0">
              <a:defRPr kumimoji="1" sz="2800" b="1">
                <a:solidFill>
                  <a:schemeClr val="tx1"/>
                </a:solidFill>
                <a:latin typeface="楷体_GB2312" pitchFamily="49" charset="-122"/>
                <a:ea typeface="楷体_GB2312" pitchFamily="49" charset="-122"/>
              </a:defRPr>
            </a:lvl1pPr>
            <a:lvl2pPr marL="742950" indent="-285750" defTabSz="952500" eaLnBrk="0" hangingPunct="0">
              <a:defRPr kumimoji="1" sz="2800" b="1">
                <a:solidFill>
                  <a:schemeClr val="tx1"/>
                </a:solidFill>
                <a:latin typeface="楷体_GB2312" pitchFamily="49" charset="-122"/>
                <a:ea typeface="楷体_GB2312" pitchFamily="49" charset="-122"/>
              </a:defRPr>
            </a:lvl2pPr>
            <a:lvl3pPr marL="1143000" indent="-228600" defTabSz="952500" eaLnBrk="0" hangingPunct="0">
              <a:defRPr kumimoji="1" sz="2800" b="1">
                <a:solidFill>
                  <a:schemeClr val="tx1"/>
                </a:solidFill>
                <a:latin typeface="楷体_GB2312" pitchFamily="49" charset="-122"/>
                <a:ea typeface="楷体_GB2312" pitchFamily="49" charset="-122"/>
              </a:defRPr>
            </a:lvl3pPr>
            <a:lvl4pPr marL="1600200" indent="-228600" defTabSz="952500" eaLnBrk="0" hangingPunct="0">
              <a:defRPr kumimoji="1" sz="2800" b="1">
                <a:solidFill>
                  <a:schemeClr val="tx1"/>
                </a:solidFill>
                <a:latin typeface="楷体_GB2312" pitchFamily="49" charset="-122"/>
                <a:ea typeface="楷体_GB2312" pitchFamily="49" charset="-122"/>
              </a:defRPr>
            </a:lvl4pPr>
            <a:lvl5pPr marL="2057400" indent="-228600" defTabSz="952500" eaLnBrk="0" hangingPunct="0">
              <a:defRPr kumimoji="1" sz="2800" b="1">
                <a:solidFill>
                  <a:schemeClr val="tx1"/>
                </a:solidFill>
                <a:latin typeface="楷体_GB2312" pitchFamily="49" charset="-122"/>
                <a:ea typeface="楷体_GB2312" pitchFamily="49" charset="-122"/>
              </a:defRPr>
            </a:lvl5pPr>
            <a:lvl6pPr marL="25146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9525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8231364D-3B60-48A3-B880-4A1110E5B8CC}" type="slidenum">
              <a:rPr lang="en-US" altLang="zh-CN" sz="1200" smtClean="0">
                <a:latin typeface="Arial" pitchFamily="34" charset="0"/>
                <a:ea typeface="宋体" pitchFamily="2" charset="-122"/>
              </a:rPr>
              <a:pPr eaLnBrk="1" hangingPunct="1"/>
              <a:t>57</a:t>
            </a:fld>
            <a:endParaRPr lang="en-US" altLang="zh-CN" sz="1200" smtClean="0">
              <a:latin typeface="Arial" pitchFamily="34" charset="0"/>
              <a:ea typeface="宋体" pitchFamily="2" charset="-122"/>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xfrm>
            <a:off x="914400" y="4343400"/>
            <a:ext cx="5029200" cy="276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0CAB3E28-1574-4852-A881-31568178579C}" type="datetime1">
              <a:rPr lang="zh-CN" altLang="en-US"/>
              <a:pPr>
                <a:defRPr/>
              </a:pPr>
              <a:t>2020/10/21</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DE09F283-092D-4E8D-81F9-743E120A6D6F}" type="slidenum">
              <a:rPr lang="en-US" altLang="zh-CN"/>
              <a:pPr>
                <a:defRPr/>
              </a:pPr>
              <a:t>‹#›</a:t>
            </a:fld>
            <a:endParaRPr lang="en-US" altLang="zh-CN"/>
          </a:p>
        </p:txBody>
      </p:sp>
    </p:spTree>
    <p:extLst>
      <p:ext uri="{BB962C8B-B14F-4D97-AF65-F5344CB8AC3E}">
        <p14:creationId xmlns:p14="http://schemas.microsoft.com/office/powerpoint/2010/main" val="29243891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0ECF5CA-9924-4970-9F86-270ABCD77D9A}" type="datetime1">
              <a:rPr lang="zh-CN" altLang="en-US"/>
              <a:pPr>
                <a:defRPr/>
              </a:pPr>
              <a:t>2020/10/21</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EDF643CC-230D-4283-B149-67AA17F1BB71}" type="slidenum">
              <a:rPr lang="en-US" altLang="zh-CN"/>
              <a:pPr>
                <a:defRPr/>
              </a:pPr>
              <a:t>‹#›</a:t>
            </a:fld>
            <a:endParaRPr lang="en-US" altLang="zh-CN" sz="1400"/>
          </a:p>
        </p:txBody>
      </p:sp>
    </p:spTree>
    <p:extLst>
      <p:ext uri="{BB962C8B-B14F-4D97-AF65-F5344CB8AC3E}">
        <p14:creationId xmlns:p14="http://schemas.microsoft.com/office/powerpoint/2010/main" val="4034272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A4200EFC-3418-4B37-9AA5-A687D83A0283}" type="datetime1">
              <a:rPr lang="zh-CN" altLang="en-US"/>
              <a:pPr>
                <a:defRPr/>
              </a:pPr>
              <a:t>2020/10/21</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D6E8108-8C2D-4395-AE95-8E273F4DA845}" type="slidenum">
              <a:rPr lang="en-US" altLang="zh-CN"/>
              <a:pPr>
                <a:defRPr/>
              </a:pPr>
              <a:t>‹#›</a:t>
            </a:fld>
            <a:endParaRPr lang="en-US" altLang="zh-CN" sz="1400"/>
          </a:p>
        </p:txBody>
      </p:sp>
    </p:spTree>
    <p:extLst>
      <p:ext uri="{BB962C8B-B14F-4D97-AF65-F5344CB8AC3E}">
        <p14:creationId xmlns:p14="http://schemas.microsoft.com/office/powerpoint/2010/main" val="4059124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D46727AD-63B4-44B8-A085-B59AF077367F}" type="datetime1">
              <a:rPr lang="zh-CN" altLang="en-US"/>
              <a:pPr>
                <a:defRPr/>
              </a:pPr>
              <a:t>2020/10/21</a:t>
            </a:fld>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481150F1-AA3E-4FE9-BBD8-50C6877376BF}" type="slidenum">
              <a:rPr lang="en-US" altLang="zh-CN"/>
              <a:pPr>
                <a:defRPr/>
              </a:pPr>
              <a:t>‹#›</a:t>
            </a:fld>
            <a:endParaRPr lang="en-US" altLang="zh-CN" sz="1400"/>
          </a:p>
        </p:txBody>
      </p:sp>
    </p:spTree>
    <p:extLst>
      <p:ext uri="{BB962C8B-B14F-4D97-AF65-F5344CB8AC3E}">
        <p14:creationId xmlns:p14="http://schemas.microsoft.com/office/powerpoint/2010/main" val="1163659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7B898889-1E1D-4BDE-AA71-05F9A5EB348D}" type="datetime1">
              <a:rPr lang="zh-CN" altLang="en-US"/>
              <a:pPr>
                <a:defRPr/>
              </a:pPr>
              <a:t>2020/10/21</a:t>
            </a:fld>
            <a:endParaRPr lang="en-US" altLang="zh-CN"/>
          </a:p>
        </p:txBody>
      </p:sp>
      <p:sp>
        <p:nvSpPr>
          <p:cNvPr id="8" name="页脚占位符 4"/>
          <p:cNvSpPr>
            <a:spLocks noGrp="1"/>
          </p:cNvSpPr>
          <p:nvPr>
            <p:ph type="ftr" sz="quarter" idx="11"/>
          </p:nvPr>
        </p:nvSpPr>
        <p:spPr/>
        <p:txBody>
          <a:bodyPr/>
          <a:lstStyle>
            <a:lvl1pPr>
              <a:defRPr/>
            </a:lvl1pPr>
          </a:lstStyle>
          <a:p>
            <a:pPr>
              <a:defRPr/>
            </a:pPr>
            <a:endParaRPr lang="en-US" altLang="zh-CN"/>
          </a:p>
        </p:txBody>
      </p:sp>
      <p:sp>
        <p:nvSpPr>
          <p:cNvPr id="9" name="灯片编号占位符 5"/>
          <p:cNvSpPr>
            <a:spLocks noGrp="1"/>
          </p:cNvSpPr>
          <p:nvPr>
            <p:ph type="sldNum" sz="quarter" idx="12"/>
          </p:nvPr>
        </p:nvSpPr>
        <p:spPr/>
        <p:txBody>
          <a:bodyPr/>
          <a:lstStyle>
            <a:lvl1pPr>
              <a:defRPr/>
            </a:lvl1pPr>
          </a:lstStyle>
          <a:p>
            <a:pPr>
              <a:defRPr/>
            </a:pPr>
            <a:fld id="{73D89768-5E2C-4192-ACBC-7849EDC7C8C0}" type="slidenum">
              <a:rPr lang="en-US" altLang="zh-CN"/>
              <a:pPr>
                <a:defRPr/>
              </a:pPr>
              <a:t>‹#›</a:t>
            </a:fld>
            <a:endParaRPr lang="en-US" altLang="zh-CN" sz="1400"/>
          </a:p>
        </p:txBody>
      </p:sp>
    </p:spTree>
    <p:extLst>
      <p:ext uri="{BB962C8B-B14F-4D97-AF65-F5344CB8AC3E}">
        <p14:creationId xmlns:p14="http://schemas.microsoft.com/office/powerpoint/2010/main" val="22778973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275F0122-B715-42F1-9C11-F66FD71F7F62}" type="datetime1">
              <a:rPr lang="zh-CN" altLang="en-US"/>
              <a:pPr>
                <a:defRPr/>
              </a:pPr>
              <a:t>2020/10/21</a:t>
            </a:fld>
            <a:endParaRPr lang="en-US" altLang="zh-CN"/>
          </a:p>
        </p:txBody>
      </p:sp>
      <p:sp>
        <p:nvSpPr>
          <p:cNvPr id="4" name="页脚占位符 4"/>
          <p:cNvSpPr>
            <a:spLocks noGrp="1"/>
          </p:cNvSpPr>
          <p:nvPr>
            <p:ph type="ftr" sz="quarter" idx="11"/>
          </p:nvPr>
        </p:nvSpPr>
        <p:spPr/>
        <p:txBody>
          <a:bodyPr/>
          <a:lstStyle>
            <a:lvl1pPr>
              <a:defRPr/>
            </a:lvl1pPr>
          </a:lstStyle>
          <a:p>
            <a:pPr>
              <a:defRPr/>
            </a:pPr>
            <a:endParaRPr lang="en-US" altLang="zh-CN"/>
          </a:p>
        </p:txBody>
      </p:sp>
      <p:sp>
        <p:nvSpPr>
          <p:cNvPr id="5" name="灯片编号占位符 5"/>
          <p:cNvSpPr>
            <a:spLocks noGrp="1"/>
          </p:cNvSpPr>
          <p:nvPr>
            <p:ph type="sldNum" sz="quarter" idx="12"/>
          </p:nvPr>
        </p:nvSpPr>
        <p:spPr/>
        <p:txBody>
          <a:bodyPr/>
          <a:lstStyle>
            <a:lvl1pPr>
              <a:defRPr/>
            </a:lvl1pPr>
          </a:lstStyle>
          <a:p>
            <a:pPr>
              <a:defRPr/>
            </a:pPr>
            <a:fld id="{D2B73A62-666B-4256-804A-98BD6E69B295}" type="slidenum">
              <a:rPr lang="en-US" altLang="zh-CN"/>
              <a:pPr>
                <a:defRPr/>
              </a:pPr>
              <a:t>‹#›</a:t>
            </a:fld>
            <a:endParaRPr lang="en-US" altLang="zh-CN" sz="1400"/>
          </a:p>
        </p:txBody>
      </p:sp>
    </p:spTree>
    <p:extLst>
      <p:ext uri="{BB962C8B-B14F-4D97-AF65-F5344CB8AC3E}">
        <p14:creationId xmlns:p14="http://schemas.microsoft.com/office/powerpoint/2010/main" val="958650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0BF62E21-CEB0-40A2-8D24-4EE14819CDDA}" type="datetime1">
              <a:rPr lang="zh-CN" altLang="en-US"/>
              <a:pPr>
                <a:defRPr/>
              </a:pPr>
              <a:t>2020/10/21</a:t>
            </a:fld>
            <a:endParaRPr lang="en-US" altLang="zh-CN"/>
          </a:p>
        </p:txBody>
      </p:sp>
      <p:sp>
        <p:nvSpPr>
          <p:cNvPr id="3" name="页脚占位符 4"/>
          <p:cNvSpPr>
            <a:spLocks noGrp="1"/>
          </p:cNvSpPr>
          <p:nvPr>
            <p:ph type="ftr" sz="quarter" idx="11"/>
          </p:nvPr>
        </p:nvSpPr>
        <p:spPr/>
        <p:txBody>
          <a:bodyPr/>
          <a:lstStyle>
            <a:lvl1pPr>
              <a:defRPr/>
            </a:lvl1pPr>
          </a:lstStyle>
          <a:p>
            <a:pPr>
              <a:defRPr/>
            </a:pPr>
            <a:endParaRPr lang="en-US" altLang="zh-CN"/>
          </a:p>
        </p:txBody>
      </p:sp>
      <p:sp>
        <p:nvSpPr>
          <p:cNvPr id="4" name="灯片编号占位符 5"/>
          <p:cNvSpPr>
            <a:spLocks noGrp="1"/>
          </p:cNvSpPr>
          <p:nvPr>
            <p:ph type="sldNum" sz="quarter" idx="12"/>
          </p:nvPr>
        </p:nvSpPr>
        <p:spPr/>
        <p:txBody>
          <a:bodyPr/>
          <a:lstStyle>
            <a:lvl1pPr>
              <a:defRPr/>
            </a:lvl1pPr>
          </a:lstStyle>
          <a:p>
            <a:pPr>
              <a:defRPr/>
            </a:pPr>
            <a:fld id="{BFD538FC-FD05-4071-8E9D-60C04393B95F}" type="slidenum">
              <a:rPr lang="en-US" altLang="zh-CN"/>
              <a:pPr>
                <a:defRPr/>
              </a:pPr>
              <a:t>‹#›</a:t>
            </a:fld>
            <a:endParaRPr lang="en-US" altLang="zh-CN" sz="1400"/>
          </a:p>
        </p:txBody>
      </p:sp>
    </p:spTree>
    <p:extLst>
      <p:ext uri="{BB962C8B-B14F-4D97-AF65-F5344CB8AC3E}">
        <p14:creationId xmlns:p14="http://schemas.microsoft.com/office/powerpoint/2010/main" val="3649629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BD25D23-A65B-4EE3-8AC8-6093E2ADD336}" type="datetime1">
              <a:rPr lang="zh-CN" altLang="en-US"/>
              <a:pPr>
                <a:defRPr/>
              </a:pPr>
              <a:t>2020/10/21</a:t>
            </a:fld>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972ED599-1644-49C3-A7F2-C2EB68C8303F}" type="slidenum">
              <a:rPr lang="en-US" altLang="zh-CN"/>
              <a:pPr>
                <a:defRPr/>
              </a:pPr>
              <a:t>‹#›</a:t>
            </a:fld>
            <a:endParaRPr lang="en-US" altLang="zh-CN" sz="1400"/>
          </a:p>
        </p:txBody>
      </p:sp>
    </p:spTree>
    <p:extLst>
      <p:ext uri="{BB962C8B-B14F-4D97-AF65-F5344CB8AC3E}">
        <p14:creationId xmlns:p14="http://schemas.microsoft.com/office/powerpoint/2010/main" val="2771054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DF5B0B8-4F60-48A9-8FC5-F9C40B4479DE}" type="datetime1">
              <a:rPr lang="zh-CN" altLang="en-US"/>
              <a:pPr>
                <a:defRPr/>
              </a:pPr>
              <a:t>2020/10/21</a:t>
            </a:fld>
            <a:endParaRPr lang="en-US" altLang="zh-CN"/>
          </a:p>
        </p:txBody>
      </p:sp>
      <p:sp>
        <p:nvSpPr>
          <p:cNvPr id="6" name="页脚占位符 4"/>
          <p:cNvSpPr>
            <a:spLocks noGrp="1"/>
          </p:cNvSpPr>
          <p:nvPr>
            <p:ph type="ftr" sz="quarter" idx="11"/>
          </p:nvPr>
        </p:nvSpPr>
        <p:spPr/>
        <p:txBody>
          <a:bodyPr/>
          <a:lstStyle>
            <a:lvl1pPr>
              <a:defRPr/>
            </a:lvl1pPr>
          </a:lstStyle>
          <a:p>
            <a:pPr>
              <a:defRPr/>
            </a:pPr>
            <a:endParaRPr lang="en-US" altLang="zh-CN"/>
          </a:p>
        </p:txBody>
      </p:sp>
      <p:sp>
        <p:nvSpPr>
          <p:cNvPr id="7" name="灯片编号占位符 5"/>
          <p:cNvSpPr>
            <a:spLocks noGrp="1"/>
          </p:cNvSpPr>
          <p:nvPr>
            <p:ph type="sldNum" sz="quarter" idx="12"/>
          </p:nvPr>
        </p:nvSpPr>
        <p:spPr/>
        <p:txBody>
          <a:bodyPr/>
          <a:lstStyle>
            <a:lvl1pPr>
              <a:defRPr/>
            </a:lvl1pPr>
          </a:lstStyle>
          <a:p>
            <a:pPr>
              <a:defRPr/>
            </a:pPr>
            <a:fld id="{0AE6C55F-5A67-43F6-9F36-5332B0A82D8A}" type="slidenum">
              <a:rPr lang="en-US" altLang="zh-CN"/>
              <a:pPr>
                <a:defRPr/>
              </a:pPr>
              <a:t>‹#›</a:t>
            </a:fld>
            <a:endParaRPr lang="en-US" altLang="zh-CN" sz="1400"/>
          </a:p>
        </p:txBody>
      </p:sp>
    </p:spTree>
    <p:extLst>
      <p:ext uri="{BB962C8B-B14F-4D97-AF65-F5344CB8AC3E}">
        <p14:creationId xmlns:p14="http://schemas.microsoft.com/office/powerpoint/2010/main" val="210124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3DE93AF-7844-4BFB-98B4-0AA9A9D1C8E3}" type="datetime1">
              <a:rPr lang="zh-CN" altLang="en-US"/>
              <a:pPr>
                <a:defRPr/>
              </a:pPr>
              <a:t>2020/10/21</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BE722A20-5B2F-4699-BB04-25777EF09A2A}" type="slidenum">
              <a:rPr lang="en-US" altLang="zh-CN"/>
              <a:pPr>
                <a:defRPr/>
              </a:pPr>
              <a:t>‹#›</a:t>
            </a:fld>
            <a:endParaRPr lang="en-US" altLang="zh-CN" sz="1400"/>
          </a:p>
        </p:txBody>
      </p:sp>
    </p:spTree>
    <p:extLst>
      <p:ext uri="{BB962C8B-B14F-4D97-AF65-F5344CB8AC3E}">
        <p14:creationId xmlns:p14="http://schemas.microsoft.com/office/powerpoint/2010/main" val="107576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93B7E0D-5ECD-4BBB-93C2-F08D7E3E8EBE}" type="datetime1">
              <a:rPr lang="zh-CN" altLang="en-US"/>
              <a:pPr>
                <a:defRPr/>
              </a:pPr>
              <a:t>2020/10/21</a:t>
            </a:fld>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AD58E7A7-6DD5-4161-98E3-C175DF179836}" type="slidenum">
              <a:rPr lang="en-US" altLang="zh-CN"/>
              <a:pPr>
                <a:defRPr/>
              </a:pPr>
              <a:t>‹#›</a:t>
            </a:fld>
            <a:endParaRPr lang="en-US" altLang="zh-CN" sz="1400"/>
          </a:p>
        </p:txBody>
      </p:sp>
    </p:spTree>
    <p:extLst>
      <p:ext uri="{BB962C8B-B14F-4D97-AF65-F5344CB8AC3E}">
        <p14:creationId xmlns:p14="http://schemas.microsoft.com/office/powerpoint/2010/main" val="259005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2051"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4A6437E-569F-4A27-94AA-29900BDD2CE2}" type="datetime1">
              <a:rPr lang="zh-CN" altLang="en-US"/>
              <a:pPr>
                <a:defRPr/>
              </a:pPr>
              <a:t>2020/10/21</a:t>
            </a:fld>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724EAF12-E6FA-4111-93FA-65360635D586}" type="slidenum">
              <a:rPr lang="en-US" altLang="zh-CN"/>
              <a:pPr>
                <a:defRPr/>
              </a:pPr>
              <a:t>‹#›</a:t>
            </a:fld>
            <a:endParaRPr lang="en-US" altLang="zh-CN" sz="1400"/>
          </a:p>
        </p:txBody>
      </p:sp>
    </p:spTree>
  </p:cSld>
  <p:clrMap bg1="lt1" tx1="dk1" bg2="lt2" tx2="dk2" accent1="accent1" accent2="accent2" accent3="accent3" accent4="accent4" accent5="accent5" accent6="accent6" hlink="hlink" folHlink="folHlink"/>
  <p:sldLayoutIdLst>
    <p:sldLayoutId id="2147483924" r:id="rId1"/>
    <p:sldLayoutId id="2147483914" r:id="rId2"/>
    <p:sldLayoutId id="2147483915" r:id="rId3"/>
    <p:sldLayoutId id="2147483916" r:id="rId4"/>
    <p:sldLayoutId id="2147483917" r:id="rId5"/>
    <p:sldLayoutId id="2147483918" r:id="rId6"/>
    <p:sldLayoutId id="2147483919" r:id="rId7"/>
    <p:sldLayoutId id="2147483920" r:id="rId8"/>
    <p:sldLayoutId id="2147483921" r:id="rId9"/>
    <p:sldLayoutId id="2147483922" r:id="rId10"/>
    <p:sldLayoutId id="2147483923" r:id="rId11"/>
  </p:sldLayoutIdLst>
  <p:hf hdr="0" ft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wmf"/><Relationship Id="rId2" Type="http://schemas.openxmlformats.org/officeDocument/2006/relationships/control" Target="../activeX/activeX1.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notesSlide" Target="../notesSlides/notesSlide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9.wmf"/><Relationship Id="rId4" Type="http://schemas.openxmlformats.org/officeDocument/2006/relationships/oleObject" Target="../embeddings/oleObject4.bin"/></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hyperlink" Target="&#19978;&#35838;/&#35889;&#23398;&#23548;&#35770;/&#36136;&#35889;&#26032;/&#36136;&#35889;3&#65293;5.ppt#-1,22,&#31532;&#20116;&#33410;  &#21516;&#20301;&#32032;&#31163;&#23376;&#30340;&#21033;&#29992; &#21644;&#20998;&#23376;&#24335;&#30340;&#25512;&#23548;"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hyperlink" Target="&#19978;&#35838;/&#35889;&#23398;&#23548;&#35770;/&#36136;&#35889;&#26032;/&#36136;&#35889;3&#65293;5.ppt#-1,22,&#31532;&#20116;&#33410;  &#21516;&#20301;&#32032;&#31163;&#23376;&#30340;&#21033;&#29992; &#21644;&#20998;&#23376;&#24335;&#30340;&#25512;&#23548;"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1079"/>
          <p:cNvSpPr>
            <a:spLocks noGrp="1" noChangeArrowheads="1"/>
          </p:cNvSpPr>
          <p:nvPr>
            <p:ph type="title"/>
          </p:nvPr>
        </p:nvSpPr>
        <p:spPr>
          <a:xfrm>
            <a:off x="611188" y="2276475"/>
            <a:ext cx="7772400" cy="790575"/>
          </a:xfrm>
        </p:spPr>
        <p:txBody>
          <a:bodyPr/>
          <a:lstStyle/>
          <a:p>
            <a:pPr eaLnBrk="1" hangingPunct="1"/>
            <a:r>
              <a:rPr lang="zh-CN" altLang="en-US" sz="6600" b="1" smtClean="0">
                <a:latin typeface="微软雅黑" pitchFamily="34" charset="-122"/>
                <a:ea typeface="微软雅黑" pitchFamily="34" charset="-122"/>
              </a:rPr>
              <a:t>有机质谱</a:t>
            </a:r>
          </a:p>
        </p:txBody>
      </p:sp>
      <p:sp>
        <p:nvSpPr>
          <p:cNvPr id="4" name="日期占位符 3"/>
          <p:cNvSpPr>
            <a:spLocks noGrp="1"/>
          </p:cNvSpPr>
          <p:nvPr>
            <p:ph type="dt" sz="quarter" idx="10"/>
          </p:nvPr>
        </p:nvSpPr>
        <p:spPr/>
        <p:txBody>
          <a:bodyPr/>
          <a:lstStyle/>
          <a:p>
            <a:pPr>
              <a:defRPr/>
            </a:pPr>
            <a:fld id="{AC125186-76C8-4E2B-B40D-FDFAEBBCEE54}" type="datetime1">
              <a:rPr lang="zh-CN" altLang="en-US"/>
              <a:pPr>
                <a:defRPr/>
              </a:pPr>
              <a:t>2020/10/21</a:t>
            </a:fld>
            <a:endParaRPr lang="en-US" altLang="zh-CN"/>
          </a:p>
        </p:txBody>
      </p:sp>
      <p:sp>
        <p:nvSpPr>
          <p:cNvPr id="6" name="灯片编号占位符 5"/>
          <p:cNvSpPr>
            <a:spLocks noGrp="1"/>
          </p:cNvSpPr>
          <p:nvPr>
            <p:ph type="sldNum" sz="quarter" idx="12"/>
          </p:nvPr>
        </p:nvSpPr>
        <p:spPr/>
        <p:txBody>
          <a:bodyPr/>
          <a:lstStyle/>
          <a:p>
            <a:pPr>
              <a:defRPr/>
            </a:pPr>
            <a:fld id="{1DD1D878-9348-4F2E-A4D2-21F87BB4E5E5}" type="slidenum">
              <a:rPr lang="en-US" altLang="zh-CN"/>
              <a:pPr>
                <a:defRPr/>
              </a:pPr>
              <a:t>1</a:t>
            </a:fld>
            <a:endParaRPr lang="en-US" altLang="zh-CN" sz="140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C125186-76C8-4E2B-B40D-FDFAEBBCEE54}" type="datetime1">
              <a:rPr lang="zh-CN" altLang="en-US"/>
              <a:pPr>
                <a:defRPr/>
              </a:pPr>
              <a:t>2020/10/21</a:t>
            </a:fld>
            <a:endParaRPr lang="en-US" altLang="zh-CN"/>
          </a:p>
        </p:txBody>
      </p:sp>
      <p:sp>
        <p:nvSpPr>
          <p:cNvPr id="921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buFont typeface="Arial" pitchFamily="34" charset="0"/>
              <a:buNone/>
            </a:pPr>
            <a:fld id="{B8D8315B-2810-42A7-81B8-09FA8084FCF5}" type="slidenum">
              <a:rPr lang="en-US" altLang="zh-CN" sz="2400" smtClean="0">
                <a:solidFill>
                  <a:schemeClr val="tx2"/>
                </a:solidFill>
                <a:latin typeface="Times New Roman" pitchFamily="18" charset="0"/>
                <a:ea typeface="宋体" pitchFamily="2" charset="-122"/>
              </a:rPr>
              <a:pPr eaLnBrk="1" hangingPunct="1">
                <a:lnSpc>
                  <a:spcPct val="100000"/>
                </a:lnSpc>
                <a:buFont typeface="Arial" pitchFamily="34" charset="0"/>
                <a:buNone/>
              </a:pPr>
              <a:t>2</a:t>
            </a:fld>
            <a:endParaRPr lang="en-US" altLang="zh-CN" sz="1400" smtClean="0">
              <a:solidFill>
                <a:schemeClr val="tx2"/>
              </a:solidFill>
              <a:latin typeface="Times New Roman" pitchFamily="18" charset="0"/>
              <a:ea typeface="宋体" pitchFamily="2" charset="-122"/>
            </a:endParaRPr>
          </a:p>
        </p:txBody>
      </p:sp>
      <p:sp>
        <p:nvSpPr>
          <p:cNvPr id="9220" name="Rectangle 1027"/>
          <p:cNvSpPr>
            <a:spLocks noGrp="1" noChangeArrowheads="1"/>
          </p:cNvSpPr>
          <p:nvPr>
            <p:ph type="body" idx="1"/>
          </p:nvPr>
        </p:nvSpPr>
        <p:spPr>
          <a:xfrm>
            <a:off x="2339975" y="836613"/>
            <a:ext cx="4319588" cy="792162"/>
          </a:xfrm>
        </p:spPr>
        <p:txBody>
          <a:bodyPr/>
          <a:lstStyle/>
          <a:p>
            <a:pPr marL="0" indent="0" eaLnBrk="1" hangingPunct="1">
              <a:lnSpc>
                <a:spcPct val="115000"/>
              </a:lnSpc>
              <a:buFont typeface="Arial" pitchFamily="34" charset="0"/>
              <a:buNone/>
            </a:pPr>
            <a:r>
              <a:rPr lang="zh-CN" altLang="en-US" b="1" smtClean="0">
                <a:solidFill>
                  <a:srgbClr val="000000"/>
                </a:solidFill>
                <a:latin typeface="微软雅黑" pitchFamily="34" charset="-122"/>
                <a:ea typeface="微软雅黑" pitchFamily="34" charset="-122"/>
              </a:rPr>
              <a:t>质谱法的应用和特点</a:t>
            </a:r>
          </a:p>
        </p:txBody>
      </p:sp>
      <p:sp>
        <p:nvSpPr>
          <p:cNvPr id="9221" name="Rectangle 1027"/>
          <p:cNvSpPr txBox="1">
            <a:spLocks noChangeArrowheads="1"/>
          </p:cNvSpPr>
          <p:nvPr/>
        </p:nvSpPr>
        <p:spPr bwMode="auto">
          <a:xfrm>
            <a:off x="323850" y="1628775"/>
            <a:ext cx="8640763"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ts val="750"/>
              </a:spcBef>
              <a:buFont typeface="Wingdings" pitchFamily="2" charset="2"/>
              <a:buChar char="u"/>
            </a:pPr>
            <a:r>
              <a:rPr lang="zh-CN" altLang="en-US" sz="3200">
                <a:solidFill>
                  <a:srgbClr val="000000"/>
                </a:solidFill>
                <a:latin typeface="Times New Roman" pitchFamily="18" charset="0"/>
                <a:cs typeface="Times New Roman" pitchFamily="18" charset="0"/>
              </a:rPr>
              <a:t>测定有机物的</a:t>
            </a:r>
            <a:r>
              <a:rPr lang="zh-CN" altLang="en-US" sz="3200">
                <a:solidFill>
                  <a:srgbClr val="C00000"/>
                </a:solidFill>
                <a:latin typeface="Times New Roman" pitchFamily="18" charset="0"/>
                <a:cs typeface="Times New Roman" pitchFamily="18" charset="0"/>
              </a:rPr>
              <a:t>准确分子量</a:t>
            </a:r>
            <a:endParaRPr lang="en-US" altLang="zh-CN" sz="3200">
              <a:solidFill>
                <a:srgbClr val="C00000"/>
              </a:solidFill>
              <a:latin typeface="Times New Roman" pitchFamily="18" charset="0"/>
              <a:cs typeface="Times New Roman" pitchFamily="18" charset="0"/>
            </a:endParaRPr>
          </a:p>
          <a:p>
            <a:pPr eaLnBrk="1" hangingPunct="1">
              <a:lnSpc>
                <a:spcPct val="115000"/>
              </a:lnSpc>
              <a:spcBef>
                <a:spcPts val="750"/>
              </a:spcBef>
              <a:buFont typeface="Wingdings" pitchFamily="2" charset="2"/>
              <a:buChar char="u"/>
            </a:pPr>
            <a:r>
              <a:rPr lang="en-US" altLang="zh-CN" sz="3200">
                <a:solidFill>
                  <a:srgbClr val="000000"/>
                </a:solidFill>
                <a:latin typeface="Times New Roman" pitchFamily="18" charset="0"/>
                <a:cs typeface="Times New Roman" pitchFamily="18" charset="0"/>
              </a:rPr>
              <a:t> </a:t>
            </a:r>
            <a:r>
              <a:rPr lang="zh-CN" altLang="en-US" sz="3200">
                <a:solidFill>
                  <a:srgbClr val="000000"/>
                </a:solidFill>
                <a:latin typeface="Times New Roman" pitchFamily="18" charset="0"/>
                <a:cs typeface="Times New Roman" pitchFamily="18" charset="0"/>
              </a:rPr>
              <a:t>提供</a:t>
            </a:r>
            <a:r>
              <a:rPr lang="zh-CN" altLang="en-US" sz="3200">
                <a:solidFill>
                  <a:srgbClr val="C00000"/>
                </a:solidFill>
                <a:latin typeface="Times New Roman" pitchFamily="18" charset="0"/>
                <a:cs typeface="Times New Roman" pitchFamily="18" charset="0"/>
              </a:rPr>
              <a:t>分子式</a:t>
            </a:r>
            <a:r>
              <a:rPr lang="zh-CN" altLang="en-US" sz="3200">
                <a:solidFill>
                  <a:srgbClr val="000000"/>
                </a:solidFill>
                <a:latin typeface="Times New Roman" pitchFamily="18" charset="0"/>
                <a:cs typeface="Times New Roman" pitchFamily="18" charset="0"/>
              </a:rPr>
              <a:t>和其他结构信息</a:t>
            </a:r>
            <a:endParaRPr lang="en-US" altLang="zh-CN" sz="3200">
              <a:solidFill>
                <a:srgbClr val="000000"/>
              </a:solidFill>
              <a:latin typeface="Times New Roman" pitchFamily="18" charset="0"/>
              <a:cs typeface="Times New Roman" pitchFamily="18" charset="0"/>
            </a:endParaRPr>
          </a:p>
          <a:p>
            <a:pPr eaLnBrk="1" hangingPunct="1">
              <a:lnSpc>
                <a:spcPct val="115000"/>
              </a:lnSpc>
              <a:spcBef>
                <a:spcPts val="750"/>
              </a:spcBef>
              <a:buFont typeface="Wingdings" pitchFamily="2" charset="2"/>
              <a:buChar char="u"/>
            </a:pPr>
            <a:r>
              <a:rPr lang="en-US" altLang="zh-CN" sz="3200">
                <a:solidFill>
                  <a:srgbClr val="000000"/>
                </a:solidFill>
                <a:latin typeface="Times New Roman" pitchFamily="18" charset="0"/>
                <a:cs typeface="Times New Roman" pitchFamily="18" charset="0"/>
              </a:rPr>
              <a:t> GC</a:t>
            </a:r>
            <a:r>
              <a:rPr lang="zh-CN" altLang="en-US" sz="3200">
                <a:solidFill>
                  <a:srgbClr val="000000"/>
                </a:solidFill>
                <a:latin typeface="Times New Roman" pitchFamily="18" charset="0"/>
                <a:cs typeface="Times New Roman" pitchFamily="18" charset="0"/>
              </a:rPr>
              <a:t>－</a:t>
            </a:r>
            <a:r>
              <a:rPr lang="en-US" altLang="zh-CN" sz="3200">
                <a:solidFill>
                  <a:srgbClr val="000000"/>
                </a:solidFill>
                <a:latin typeface="Times New Roman" pitchFamily="18" charset="0"/>
                <a:cs typeface="Times New Roman" pitchFamily="18" charset="0"/>
              </a:rPr>
              <a:t>MS</a:t>
            </a:r>
            <a:r>
              <a:rPr lang="zh-CN" altLang="en-US" sz="3200">
                <a:solidFill>
                  <a:srgbClr val="000000"/>
                </a:solidFill>
                <a:latin typeface="Times New Roman" pitchFamily="18" charset="0"/>
                <a:cs typeface="Times New Roman" pitchFamily="18" charset="0"/>
              </a:rPr>
              <a:t>，</a:t>
            </a:r>
            <a:r>
              <a:rPr lang="en-US" altLang="zh-CN" sz="3200">
                <a:solidFill>
                  <a:srgbClr val="000000"/>
                </a:solidFill>
                <a:latin typeface="Times New Roman" pitchFamily="18" charset="0"/>
                <a:cs typeface="Times New Roman" pitchFamily="18" charset="0"/>
              </a:rPr>
              <a:t>LC</a:t>
            </a:r>
            <a:r>
              <a:rPr lang="zh-CN" altLang="en-US" sz="3200">
                <a:solidFill>
                  <a:srgbClr val="000000"/>
                </a:solidFill>
                <a:latin typeface="Times New Roman" pitchFamily="18" charset="0"/>
                <a:cs typeface="Times New Roman" pitchFamily="18" charset="0"/>
              </a:rPr>
              <a:t>－</a:t>
            </a:r>
            <a:r>
              <a:rPr lang="en-US" altLang="zh-CN" sz="3200">
                <a:solidFill>
                  <a:srgbClr val="000000"/>
                </a:solidFill>
                <a:latin typeface="Times New Roman" pitchFamily="18" charset="0"/>
                <a:cs typeface="Times New Roman" pitchFamily="18" charset="0"/>
              </a:rPr>
              <a:t>MS</a:t>
            </a:r>
            <a:r>
              <a:rPr lang="zh-CN" altLang="zh-CN" sz="3200">
                <a:solidFill>
                  <a:srgbClr val="000000"/>
                </a:solidFill>
                <a:latin typeface="Times New Roman" pitchFamily="18" charset="0"/>
                <a:cs typeface="Times New Roman" pitchFamily="18" charset="0"/>
              </a:rPr>
              <a:t>联用</a:t>
            </a:r>
            <a:r>
              <a:rPr lang="en-US" altLang="zh-CN" sz="3200">
                <a:solidFill>
                  <a:srgbClr val="000000"/>
                </a:solidFill>
                <a:latin typeface="Times New Roman" pitchFamily="18" charset="0"/>
                <a:cs typeface="Times New Roman" pitchFamily="18" charset="0"/>
              </a:rPr>
              <a:t>----</a:t>
            </a:r>
            <a:r>
              <a:rPr lang="zh-CN" altLang="en-US" sz="3200">
                <a:solidFill>
                  <a:srgbClr val="000000"/>
                </a:solidFill>
                <a:latin typeface="Times New Roman" pitchFamily="18" charset="0"/>
                <a:cs typeface="Times New Roman" pitchFamily="18" charset="0"/>
              </a:rPr>
              <a:t>分离和定性鉴定</a:t>
            </a:r>
            <a:endParaRPr lang="en-US" altLang="zh-CN" sz="3200">
              <a:solidFill>
                <a:srgbClr val="000000"/>
              </a:solidFill>
              <a:latin typeface="Times New Roman" pitchFamily="18" charset="0"/>
              <a:cs typeface="Times New Roman" pitchFamily="18" charset="0"/>
            </a:endParaRPr>
          </a:p>
          <a:p>
            <a:pPr eaLnBrk="1" hangingPunct="1">
              <a:lnSpc>
                <a:spcPct val="115000"/>
              </a:lnSpc>
              <a:spcBef>
                <a:spcPts val="750"/>
              </a:spcBef>
              <a:buFont typeface="Wingdings" pitchFamily="2" charset="2"/>
              <a:buChar char="u"/>
            </a:pPr>
            <a:r>
              <a:rPr lang="en-US" altLang="zh-CN" sz="3200">
                <a:solidFill>
                  <a:srgbClr val="000000"/>
                </a:solidFill>
                <a:latin typeface="Times New Roman" pitchFamily="18" charset="0"/>
                <a:cs typeface="Times New Roman" pitchFamily="18" charset="0"/>
              </a:rPr>
              <a:t> </a:t>
            </a:r>
            <a:r>
              <a:rPr lang="zh-CN" altLang="en-US" sz="3200">
                <a:solidFill>
                  <a:srgbClr val="000000"/>
                </a:solidFill>
                <a:latin typeface="Times New Roman" pitchFamily="18" charset="0"/>
                <a:cs typeface="Times New Roman" pitchFamily="18" charset="0"/>
              </a:rPr>
              <a:t>“软电离”技术</a:t>
            </a:r>
            <a:r>
              <a:rPr lang="en-US" altLang="zh-CN" sz="3200">
                <a:solidFill>
                  <a:srgbClr val="000000"/>
                </a:solidFill>
                <a:latin typeface="Times New Roman" pitchFamily="18" charset="0"/>
                <a:cs typeface="Times New Roman" pitchFamily="18" charset="0"/>
              </a:rPr>
              <a:t>------</a:t>
            </a:r>
            <a:r>
              <a:rPr lang="zh-CN" altLang="en-US" sz="3200">
                <a:solidFill>
                  <a:srgbClr val="000000"/>
                </a:solidFill>
                <a:latin typeface="Times New Roman" pitchFamily="18" charset="0"/>
                <a:cs typeface="Times New Roman" pitchFamily="18" charset="0"/>
              </a:rPr>
              <a:t>测定生物大分子的分子量以及蛋白质中氨基酸序列</a:t>
            </a:r>
            <a:endParaRPr lang="en-US" altLang="zh-CN" sz="3200">
              <a:solidFill>
                <a:srgbClr val="000000"/>
              </a:solidFill>
              <a:latin typeface="Times New Roman" pitchFamily="18" charset="0"/>
              <a:cs typeface="Times New Roman" pitchFamily="18" charset="0"/>
            </a:endParaRPr>
          </a:p>
          <a:p>
            <a:pPr eaLnBrk="1" hangingPunct="1">
              <a:lnSpc>
                <a:spcPct val="115000"/>
              </a:lnSpc>
              <a:spcBef>
                <a:spcPts val="750"/>
              </a:spcBef>
              <a:buFont typeface="Wingdings" pitchFamily="2" charset="2"/>
              <a:buChar char="u"/>
            </a:pPr>
            <a:r>
              <a:rPr lang="en-US" altLang="zh-CN" sz="3200">
                <a:solidFill>
                  <a:srgbClr val="000000"/>
                </a:solidFill>
                <a:latin typeface="Times New Roman" pitchFamily="18" charset="0"/>
                <a:cs typeface="Times New Roman" pitchFamily="18" charset="0"/>
              </a:rPr>
              <a:t> </a:t>
            </a:r>
            <a:r>
              <a:rPr lang="zh-CN" altLang="en-US" sz="3200">
                <a:solidFill>
                  <a:srgbClr val="000000"/>
                </a:solidFill>
                <a:latin typeface="Times New Roman" pitchFamily="18" charset="0"/>
                <a:cs typeface="Times New Roman" pitchFamily="18" charset="0"/>
              </a:rPr>
              <a:t>灵敏度高</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日期占位符 1"/>
          <p:cNvSpPr>
            <a:spLocks noGrp="1"/>
          </p:cNvSpPr>
          <p:nvPr>
            <p:ph type="dt" sz="quarter" idx="10"/>
          </p:nvPr>
        </p:nvSpPr>
        <p:spPr/>
        <p:txBody>
          <a:bodyPr/>
          <a:lstStyle/>
          <a:p>
            <a:pPr>
              <a:defRPr/>
            </a:pPr>
            <a:fld id="{D3D15793-EFA3-4A26-A2A1-F15FA8A6BE3B}" type="datetime1">
              <a:rPr lang="zh-CN" altLang="en-US"/>
              <a:pPr>
                <a:defRPr/>
              </a:pPr>
              <a:t>2020/10/21</a:t>
            </a:fld>
            <a:endParaRPr lang="en-US" altLang="zh-CN"/>
          </a:p>
        </p:txBody>
      </p:sp>
      <p:sp>
        <p:nvSpPr>
          <p:cNvPr id="13" name="灯片编号占位符 3"/>
          <p:cNvSpPr>
            <a:spLocks noGrp="1"/>
          </p:cNvSpPr>
          <p:nvPr>
            <p:ph type="sldNum" sz="quarter" idx="12"/>
          </p:nvPr>
        </p:nvSpPr>
        <p:spPr/>
        <p:txBody>
          <a:bodyPr/>
          <a:lstStyle/>
          <a:p>
            <a:pPr>
              <a:defRPr/>
            </a:pPr>
            <a:fld id="{6EF35BE2-89AF-42EA-A1F2-B3DB951EA65A}" type="slidenum">
              <a:rPr lang="en-US" altLang="zh-CN"/>
              <a:pPr>
                <a:defRPr/>
              </a:pPr>
              <a:t>3</a:t>
            </a:fld>
            <a:endParaRPr lang="en-US" altLang="zh-CN" sz="1400"/>
          </a:p>
        </p:txBody>
      </p:sp>
      <p:sp>
        <p:nvSpPr>
          <p:cNvPr id="10244" name="Rectangle 17"/>
          <p:cNvSpPr>
            <a:spLocks noGrp="1" noChangeArrowheads="1"/>
          </p:cNvSpPr>
          <p:nvPr>
            <p:ph type="title" idx="4294967295"/>
          </p:nvPr>
        </p:nvSpPr>
        <p:spPr>
          <a:xfrm>
            <a:off x="0" y="914400"/>
            <a:ext cx="2362200" cy="533400"/>
          </a:xfrm>
        </p:spPr>
        <p:txBody>
          <a:bodyPr/>
          <a:lstStyle/>
          <a:p>
            <a:pPr eaLnBrk="1" hangingPunct="1"/>
            <a:r>
              <a:rPr lang="zh-CN" altLang="en-US" sz="3200" b="1" smtClean="0">
                <a:latin typeface="微软雅黑" pitchFamily="34" charset="-122"/>
                <a:ea typeface="微软雅黑" pitchFamily="34" charset="-122"/>
              </a:rPr>
              <a:t>什么是质谱</a:t>
            </a:r>
          </a:p>
        </p:txBody>
      </p:sp>
      <p:sp>
        <p:nvSpPr>
          <p:cNvPr id="10245" name="Text Box 5"/>
          <p:cNvSpPr txBox="1">
            <a:spLocks noChangeArrowheads="1"/>
          </p:cNvSpPr>
          <p:nvPr/>
        </p:nvSpPr>
        <p:spPr bwMode="auto">
          <a:xfrm>
            <a:off x="395288" y="1773238"/>
            <a:ext cx="8458200" cy="317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en-US" altLang="zh-CN"/>
              <a:t>    </a:t>
            </a:r>
            <a:r>
              <a:rPr lang="zh-CN" altLang="en-US" sz="3200">
                <a:solidFill>
                  <a:srgbClr val="000000"/>
                </a:solidFill>
              </a:rPr>
              <a:t>以某种方式使有机分子</a:t>
            </a:r>
            <a:r>
              <a:rPr lang="zh-CN" altLang="en-US" sz="3200">
                <a:solidFill>
                  <a:srgbClr val="FF0000"/>
                </a:solidFill>
              </a:rPr>
              <a:t>电离、碎裂</a:t>
            </a:r>
            <a:r>
              <a:rPr lang="zh-CN" altLang="en-US" sz="3200">
                <a:solidFill>
                  <a:srgbClr val="000000"/>
                </a:solidFill>
              </a:rPr>
              <a:t>，然后按质荷比（</a:t>
            </a:r>
            <a:r>
              <a:rPr lang="en-US" altLang="zh-CN" sz="3200" i="1">
                <a:solidFill>
                  <a:srgbClr val="000000"/>
                </a:solidFill>
                <a:latin typeface="Times New Roman" pitchFamily="18" charset="0"/>
              </a:rPr>
              <a:t>m/z</a:t>
            </a:r>
            <a:r>
              <a:rPr lang="zh-CN" altLang="en-US" sz="3200">
                <a:solidFill>
                  <a:srgbClr val="000000"/>
                </a:solidFill>
              </a:rPr>
              <a:t>）大小将生成的各种离子</a:t>
            </a:r>
            <a:r>
              <a:rPr lang="zh-CN" altLang="en-US" sz="3200">
                <a:solidFill>
                  <a:srgbClr val="FF0000"/>
                </a:solidFill>
              </a:rPr>
              <a:t>分离</a:t>
            </a:r>
            <a:r>
              <a:rPr lang="zh-CN" altLang="en-US" sz="3200">
                <a:solidFill>
                  <a:srgbClr val="000000"/>
                </a:solidFill>
              </a:rPr>
              <a:t>，</a:t>
            </a:r>
            <a:r>
              <a:rPr lang="zh-CN" altLang="en-US" sz="3200">
                <a:solidFill>
                  <a:srgbClr val="FF0000"/>
                </a:solidFill>
              </a:rPr>
              <a:t>检测其强度</a:t>
            </a:r>
            <a:r>
              <a:rPr lang="zh-CN" altLang="en-US" sz="3200">
                <a:solidFill>
                  <a:srgbClr val="000000"/>
                </a:solidFill>
              </a:rPr>
              <a:t>，并依次排列成谱图的形式，这种研究物质的方法叫做质谱（</a:t>
            </a:r>
            <a:r>
              <a:rPr lang="en-US" altLang="zh-CN" sz="3200">
                <a:solidFill>
                  <a:srgbClr val="000000"/>
                </a:solidFill>
                <a:latin typeface="Times New Roman" pitchFamily="18" charset="0"/>
              </a:rPr>
              <a:t>Mass Spectrometry,</a:t>
            </a:r>
            <a:r>
              <a:rPr lang="en-US" altLang="zh-CN" sz="3200">
                <a:solidFill>
                  <a:srgbClr val="000000"/>
                </a:solidFill>
              </a:rPr>
              <a:t> MS</a:t>
            </a:r>
            <a:r>
              <a:rPr lang="zh-CN" altLang="en-US" sz="3200">
                <a:solidFill>
                  <a:srgbClr val="000000"/>
                </a:solidFill>
              </a:rPr>
              <a:t>）。</a:t>
            </a:r>
          </a:p>
        </p:txBody>
      </p:sp>
      <p:sp>
        <p:nvSpPr>
          <p:cNvPr id="10246" name="Text Box 12"/>
          <p:cNvSpPr txBox="1">
            <a:spLocks noChangeArrowheads="1"/>
          </p:cNvSpPr>
          <p:nvPr/>
        </p:nvSpPr>
        <p:spPr bwMode="auto">
          <a:xfrm>
            <a:off x="1508125" y="5430838"/>
            <a:ext cx="2530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endParaRPr lang="zh-CN" altLang="zh-CN" sz="2400" b="0"/>
          </a:p>
        </p:txBody>
      </p:sp>
      <p:sp>
        <p:nvSpPr>
          <p:cNvPr id="10247" name="文本框 12"/>
          <p:cNvSpPr txBox="1">
            <a:spLocks noChangeArrowheads="1"/>
          </p:cNvSpPr>
          <p:nvPr/>
        </p:nvSpPr>
        <p:spPr bwMode="auto">
          <a:xfrm>
            <a:off x="2773363" y="115888"/>
            <a:ext cx="3024187"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4000">
                <a:latin typeface="微软雅黑" pitchFamily="34" charset="-122"/>
                <a:ea typeface="微软雅黑" pitchFamily="34" charset="-122"/>
              </a:rPr>
              <a:t>第一节 概述</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title"/>
          </p:nvPr>
        </p:nvSpPr>
        <p:spPr>
          <a:xfrm>
            <a:off x="179388" y="476250"/>
            <a:ext cx="4899025" cy="533400"/>
          </a:xfrm>
        </p:spPr>
        <p:txBody>
          <a:bodyPr/>
          <a:lstStyle/>
          <a:p>
            <a:pPr eaLnBrk="1" hangingPunct="1"/>
            <a:r>
              <a:rPr lang="zh-CN" altLang="en-US" sz="2800" b="1" smtClean="0">
                <a:latin typeface="微软雅黑" pitchFamily="34" charset="-122"/>
                <a:ea typeface="微软雅黑" pitchFamily="34" charset="-122"/>
              </a:rPr>
              <a:t>质谱的表示方法</a:t>
            </a:r>
            <a:r>
              <a:rPr lang="en-US" altLang="zh-CN" sz="2800" b="1" smtClean="0">
                <a:latin typeface="微软雅黑" pitchFamily="34" charset="-122"/>
                <a:ea typeface="微软雅黑" pitchFamily="34" charset="-122"/>
              </a:rPr>
              <a:t>1-</a:t>
            </a:r>
            <a:r>
              <a:rPr lang="zh-CN" altLang="en-US" sz="2800" b="1" smtClean="0">
                <a:latin typeface="微软雅黑" pitchFamily="34" charset="-122"/>
                <a:ea typeface="微软雅黑" pitchFamily="34" charset="-122"/>
              </a:rPr>
              <a:t>质谱图</a:t>
            </a:r>
            <a:endParaRPr lang="en-US" altLang="zh-CN" sz="2800" b="1" smtClean="0">
              <a:latin typeface="微软雅黑" pitchFamily="34" charset="-122"/>
              <a:ea typeface="微软雅黑" pitchFamily="34" charset="-122"/>
            </a:endParaRPr>
          </a:p>
        </p:txBody>
      </p:sp>
      <p:sp>
        <p:nvSpPr>
          <p:cNvPr id="7" name="日期占位符 3"/>
          <p:cNvSpPr>
            <a:spLocks noGrp="1"/>
          </p:cNvSpPr>
          <p:nvPr>
            <p:ph type="dt" sz="quarter" idx="10"/>
          </p:nvPr>
        </p:nvSpPr>
        <p:spPr/>
        <p:txBody>
          <a:bodyPr/>
          <a:lstStyle/>
          <a:p>
            <a:pPr>
              <a:defRPr/>
            </a:pPr>
            <a:fld id="{DFDC5577-F8A6-40B4-AF22-0482E4B75FB1}" type="datetime1">
              <a:rPr lang="zh-CN" altLang="en-US"/>
              <a:pPr>
                <a:defRPr/>
              </a:pPr>
              <a:t>2020/10/21</a:t>
            </a:fld>
            <a:endParaRPr lang="en-US" altLang="zh-CN"/>
          </a:p>
        </p:txBody>
      </p:sp>
      <p:sp>
        <p:nvSpPr>
          <p:cNvPr id="9" name="灯片编号占位符 5"/>
          <p:cNvSpPr>
            <a:spLocks noGrp="1"/>
          </p:cNvSpPr>
          <p:nvPr>
            <p:ph type="sldNum" sz="quarter" idx="12"/>
          </p:nvPr>
        </p:nvSpPr>
        <p:spPr/>
        <p:txBody>
          <a:bodyPr/>
          <a:lstStyle/>
          <a:p>
            <a:pPr>
              <a:defRPr/>
            </a:pPr>
            <a:fld id="{4001A312-372E-4EAB-BECE-F3BC82821DE1}" type="slidenum">
              <a:rPr lang="en-US" altLang="zh-CN"/>
              <a:pPr>
                <a:defRPr/>
              </a:pPr>
              <a:t>4</a:t>
            </a:fld>
            <a:endParaRPr lang="en-US" altLang="zh-CN" sz="1400"/>
          </a:p>
        </p:txBody>
      </p:sp>
      <p:sp>
        <p:nvSpPr>
          <p:cNvPr id="11269" name="Text Box 2"/>
          <p:cNvSpPr txBox="1">
            <a:spLocks noChangeArrowheads="1"/>
          </p:cNvSpPr>
          <p:nvPr/>
        </p:nvSpPr>
        <p:spPr bwMode="auto">
          <a:xfrm>
            <a:off x="2803525" y="2459038"/>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endParaRPr lang="zh-CN" altLang="zh-CN" sz="2400" b="0">
              <a:latin typeface="Times New Roman" pitchFamily="18" charset="0"/>
              <a:ea typeface="宋体" pitchFamily="2" charset="-122"/>
            </a:endParaRPr>
          </a:p>
        </p:txBody>
      </p:sp>
      <p:pic>
        <p:nvPicPr>
          <p:cNvPr id="11270" name="Picture 3" descr="B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71600"/>
            <a:ext cx="81534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1" name="Text Box 5"/>
          <p:cNvSpPr txBox="1">
            <a:spLocks noChangeArrowheads="1"/>
          </p:cNvSpPr>
          <p:nvPr/>
        </p:nvSpPr>
        <p:spPr bwMode="auto">
          <a:xfrm>
            <a:off x="2895600" y="5943600"/>
            <a:ext cx="4113213"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ct val="20000"/>
              </a:spcBef>
              <a:buClr>
                <a:schemeClr val="bg2"/>
              </a:buClr>
              <a:buFont typeface="Monotype Sorts" pitchFamily="2" charset="2"/>
              <a:buNone/>
            </a:pPr>
            <a:r>
              <a:rPr lang="zh-CN" altLang="en-US">
                <a:solidFill>
                  <a:srgbClr val="990000"/>
                </a:solidFill>
              </a:rPr>
              <a:t>正戊烷的电子轰击质谱图</a:t>
            </a:r>
          </a:p>
        </p:txBody>
      </p:sp>
      <p:sp>
        <p:nvSpPr>
          <p:cNvPr id="11272" name="Text Box 6"/>
          <p:cNvSpPr txBox="1">
            <a:spLocks noChangeArrowheads="1"/>
          </p:cNvSpPr>
          <p:nvPr/>
        </p:nvSpPr>
        <p:spPr bwMode="auto">
          <a:xfrm>
            <a:off x="5394325" y="1846263"/>
            <a:ext cx="133826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2400">
                <a:solidFill>
                  <a:srgbClr val="990000"/>
                </a:solidFill>
              </a:rPr>
              <a:t>基峰</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1"/>
          <p:cNvSpPr>
            <a:spLocks noGrp="1"/>
          </p:cNvSpPr>
          <p:nvPr>
            <p:ph type="dt" sz="quarter" idx="10"/>
          </p:nvPr>
        </p:nvSpPr>
        <p:spPr/>
        <p:txBody>
          <a:bodyPr/>
          <a:lstStyle/>
          <a:p>
            <a:pPr>
              <a:defRPr/>
            </a:pPr>
            <a:fld id="{DEF0F024-0863-4660-BBEA-8328FD27F5A0}" type="datetime1">
              <a:rPr lang="zh-CN" altLang="en-US"/>
              <a:pPr>
                <a:defRPr/>
              </a:pPr>
              <a:t>2020/10/21</a:t>
            </a:fld>
            <a:endParaRPr lang="en-US" altLang="zh-CN"/>
          </a:p>
        </p:txBody>
      </p:sp>
      <p:sp>
        <p:nvSpPr>
          <p:cNvPr id="8" name="灯片编号占位符 3"/>
          <p:cNvSpPr>
            <a:spLocks noGrp="1"/>
          </p:cNvSpPr>
          <p:nvPr>
            <p:ph type="sldNum" sz="quarter" idx="12"/>
          </p:nvPr>
        </p:nvSpPr>
        <p:spPr/>
        <p:txBody>
          <a:bodyPr/>
          <a:lstStyle/>
          <a:p>
            <a:pPr>
              <a:defRPr/>
            </a:pPr>
            <a:fld id="{ACF54FFB-525A-4B2F-A59E-AE4CB8B5F897}" type="slidenum">
              <a:rPr lang="en-US" altLang="zh-CN"/>
              <a:pPr>
                <a:defRPr/>
              </a:pPr>
              <a:t>5</a:t>
            </a:fld>
            <a:endParaRPr lang="en-US" altLang="zh-CN" sz="1400"/>
          </a:p>
        </p:txBody>
      </p:sp>
      <p:sp>
        <p:nvSpPr>
          <p:cNvPr id="12292" name="Rectangle 15"/>
          <p:cNvSpPr>
            <a:spLocks noGrp="1" noChangeArrowheads="1"/>
          </p:cNvSpPr>
          <p:nvPr>
            <p:ph type="title" idx="4294967295"/>
          </p:nvPr>
        </p:nvSpPr>
        <p:spPr>
          <a:xfrm>
            <a:off x="1371600" y="1371600"/>
            <a:ext cx="7772400" cy="685800"/>
          </a:xfrm>
        </p:spPr>
        <p:txBody>
          <a:bodyPr/>
          <a:lstStyle/>
          <a:p>
            <a:pPr eaLnBrk="1" hangingPunct="1"/>
            <a:r>
              <a:rPr lang="zh-CN" altLang="en-US" sz="2800" b="1" smtClean="0">
                <a:latin typeface="楷体_GB2312" pitchFamily="49" charset="-122"/>
                <a:ea typeface="楷体_GB2312" pitchFamily="49" charset="-122"/>
              </a:rPr>
              <a:t>正戊烷的电子轰击质谱表</a:t>
            </a:r>
          </a:p>
        </p:txBody>
      </p:sp>
      <p:sp>
        <p:nvSpPr>
          <p:cNvPr id="12293" name="Text Box 2"/>
          <p:cNvSpPr txBox="1">
            <a:spLocks noChangeArrowheads="1"/>
          </p:cNvSpPr>
          <p:nvPr/>
        </p:nvSpPr>
        <p:spPr bwMode="auto">
          <a:xfrm>
            <a:off x="452438" y="261938"/>
            <a:ext cx="44672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ct val="20000"/>
              </a:spcBef>
              <a:buClr>
                <a:schemeClr val="bg2"/>
              </a:buClr>
              <a:buFont typeface="Monotype Sorts" pitchFamily="2" charset="2"/>
              <a:buNone/>
            </a:pPr>
            <a:r>
              <a:rPr lang="zh-CN" altLang="en-US">
                <a:latin typeface="微软雅黑" pitchFamily="34" charset="-122"/>
                <a:ea typeface="微软雅黑" pitchFamily="34" charset="-122"/>
              </a:rPr>
              <a:t>质谱表示方法</a:t>
            </a:r>
            <a:r>
              <a:rPr lang="en-US" altLang="zh-CN">
                <a:latin typeface="微软雅黑" pitchFamily="34" charset="-122"/>
                <a:ea typeface="微软雅黑" pitchFamily="34" charset="-122"/>
              </a:rPr>
              <a:t>2-</a:t>
            </a:r>
            <a:r>
              <a:rPr lang="zh-CN" altLang="en-US">
                <a:latin typeface="微软雅黑" pitchFamily="34" charset="-122"/>
                <a:ea typeface="微软雅黑" pitchFamily="34" charset="-122"/>
              </a:rPr>
              <a:t>质谱表格</a:t>
            </a:r>
            <a:endParaRPr lang="en-US" altLang="zh-CN">
              <a:latin typeface="微软雅黑" pitchFamily="34" charset="-122"/>
              <a:ea typeface="微软雅黑" pitchFamily="34" charset="-122"/>
            </a:endParaRPr>
          </a:p>
        </p:txBody>
      </p:sp>
      <p:graphicFrame>
        <p:nvGraphicFramePr>
          <p:cNvPr id="12294" name="Object 7"/>
          <p:cNvGraphicFramePr>
            <a:graphicFrameLocks noChangeAspect="1"/>
          </p:cNvGraphicFramePr>
          <p:nvPr/>
        </p:nvGraphicFramePr>
        <p:xfrm>
          <a:off x="1543050" y="1890713"/>
          <a:ext cx="5467350" cy="3632200"/>
        </p:xfrm>
        <a:graphic>
          <a:graphicData uri="http://schemas.openxmlformats.org/presentationml/2006/ole">
            <mc:AlternateContent xmlns:mc="http://schemas.openxmlformats.org/markup-compatibility/2006">
              <mc:Choice xmlns:v="urn:schemas-microsoft-com:vml" Requires="v">
                <p:oleObj spid="_x0000_s12310" name="Document" r:id="rId3" imgW="6190488" imgH="4114800" progId="Word.Document.8">
                  <p:embed/>
                </p:oleObj>
              </mc:Choice>
              <mc:Fallback>
                <p:oleObj name="Document" r:id="rId3" imgW="6190488" imgH="4114800" progId="Word.Document.8">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1890713"/>
                        <a:ext cx="5467350" cy="363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Object 12"/>
          <p:cNvGraphicFramePr>
            <a:graphicFrameLocks noChangeAspect="1"/>
          </p:cNvGraphicFramePr>
          <p:nvPr/>
        </p:nvGraphicFramePr>
        <p:xfrm>
          <a:off x="1452563" y="2205038"/>
          <a:ext cx="6934200" cy="4476750"/>
        </p:xfrm>
        <a:graphic>
          <a:graphicData uri="http://schemas.openxmlformats.org/presentationml/2006/ole">
            <mc:AlternateContent xmlns:mc="http://schemas.openxmlformats.org/markup-compatibility/2006">
              <mc:Choice xmlns:v="urn:schemas-microsoft-com:vml" Requires="v">
                <p:oleObj spid="_x0000_s12311" name="Document" r:id="rId5" imgW="7406640" imgH="4864608" progId="Word.Document.8">
                  <p:embed/>
                </p:oleObj>
              </mc:Choice>
              <mc:Fallback>
                <p:oleObj name="Document" r:id="rId5" imgW="7406640" imgH="4864608" progId="Word.Document.8">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2563" y="2205038"/>
                        <a:ext cx="6934200" cy="447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日期占位符 3"/>
          <p:cNvSpPr>
            <a:spLocks noGrp="1"/>
          </p:cNvSpPr>
          <p:nvPr>
            <p:ph type="dt" sz="quarter" idx="10"/>
          </p:nvPr>
        </p:nvSpPr>
        <p:spPr>
          <a:xfrm>
            <a:off x="1173163" y="6265863"/>
            <a:ext cx="1905000" cy="457200"/>
          </a:xfrm>
        </p:spPr>
        <p:txBody>
          <a:bodyPr anchor="t"/>
          <a:lstStyle/>
          <a:p>
            <a:pPr>
              <a:spcBef>
                <a:spcPct val="50000"/>
              </a:spcBef>
              <a:defRPr/>
            </a:pPr>
            <a:fld id="{86CCE68A-A484-476F-B881-3DC666DB9487}" type="datetime1">
              <a:rPr lang="zh-CN" altLang="en-US"/>
              <a:pPr>
                <a:spcBef>
                  <a:spcPct val="50000"/>
                </a:spcBef>
                <a:defRPr/>
              </a:pPr>
              <a:t>2020/10/21</a:t>
            </a:fld>
            <a:endParaRPr lang="en-US" altLang="zh-CN"/>
          </a:p>
        </p:txBody>
      </p:sp>
      <p:sp>
        <p:nvSpPr>
          <p:cNvPr id="49" name="灯片编号占位符 5"/>
          <p:cNvSpPr>
            <a:spLocks noGrp="1"/>
          </p:cNvSpPr>
          <p:nvPr>
            <p:ph type="sldNum" sz="quarter" idx="12"/>
          </p:nvPr>
        </p:nvSpPr>
        <p:spPr>
          <a:xfrm>
            <a:off x="7010400" y="6248400"/>
            <a:ext cx="1905000" cy="457200"/>
          </a:xfrm>
        </p:spPr>
        <p:txBody>
          <a:bodyPr anchor="t"/>
          <a:lstStyle/>
          <a:p>
            <a:pPr>
              <a:spcBef>
                <a:spcPct val="50000"/>
              </a:spcBef>
              <a:defRPr/>
            </a:pPr>
            <a:fld id="{62B0D354-F812-4B92-84BE-7631F4A0054D}" type="slidenum">
              <a:rPr lang="en-US" altLang="zh-CN"/>
              <a:pPr>
                <a:spcBef>
                  <a:spcPct val="50000"/>
                </a:spcBef>
                <a:defRPr/>
              </a:pPr>
              <a:t>6</a:t>
            </a:fld>
            <a:endParaRPr lang="en-US" altLang="zh-CN"/>
          </a:p>
        </p:txBody>
      </p:sp>
      <p:grpSp>
        <p:nvGrpSpPr>
          <p:cNvPr id="13316" name="Group 2"/>
          <p:cNvGrpSpPr>
            <a:grpSpLocks/>
          </p:cNvGrpSpPr>
          <p:nvPr/>
        </p:nvGrpSpPr>
        <p:grpSpPr bwMode="auto">
          <a:xfrm>
            <a:off x="0" y="6176963"/>
            <a:ext cx="25400" cy="74612"/>
            <a:chOff x="5" y="4309"/>
            <a:chExt cx="16" cy="16"/>
          </a:xfrm>
        </p:grpSpPr>
        <p:sp>
          <p:nvSpPr>
            <p:cNvPr id="13353" name="AutoShape 3"/>
            <p:cNvSpPr>
              <a:spLocks noChangeArrowheads="1"/>
            </p:cNvSpPr>
            <p:nvPr/>
          </p:nvSpPr>
          <p:spPr bwMode="auto">
            <a:xfrm>
              <a:off x="5" y="4309"/>
              <a:ext cx="16" cy="16"/>
            </a:xfrm>
            <a:prstGeom prst="roundRect">
              <a:avLst>
                <a:gd name="adj" fmla="val 1248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sp>
          <p:nvSpPr>
            <p:cNvPr id="13354" name="AutoShape 4"/>
            <p:cNvSpPr>
              <a:spLocks noChangeArrowheads="1"/>
            </p:cNvSpPr>
            <p:nvPr/>
          </p:nvSpPr>
          <p:spPr bwMode="auto">
            <a:xfrm>
              <a:off x="5" y="4309"/>
              <a:ext cx="16" cy="16"/>
            </a:xfrm>
            <a:prstGeom prst="roundRect">
              <a:avLst>
                <a:gd name="adj" fmla="val 12486"/>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p>
          </p:txBody>
        </p:sp>
      </p:grpSp>
      <p:sp>
        <p:nvSpPr>
          <p:cNvPr id="13317" name="Rectangle 5"/>
          <p:cNvSpPr>
            <a:spLocks noChangeArrowheads="1"/>
          </p:cNvSpPr>
          <p:nvPr/>
        </p:nvSpPr>
        <p:spPr bwMode="auto">
          <a:xfrm>
            <a:off x="163513" y="3051175"/>
            <a:ext cx="1400175" cy="906463"/>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18" name="Rectangle 6"/>
          <p:cNvSpPr>
            <a:spLocks noChangeArrowheads="1"/>
          </p:cNvSpPr>
          <p:nvPr/>
        </p:nvSpPr>
        <p:spPr bwMode="auto">
          <a:xfrm>
            <a:off x="1874838" y="3084513"/>
            <a:ext cx="1222375" cy="906462"/>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19" name="Rectangle 7"/>
          <p:cNvSpPr>
            <a:spLocks noChangeArrowheads="1"/>
          </p:cNvSpPr>
          <p:nvPr/>
        </p:nvSpPr>
        <p:spPr bwMode="auto">
          <a:xfrm>
            <a:off x="3506788" y="3071813"/>
            <a:ext cx="1387475" cy="906462"/>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20" name="Rectangle 8"/>
          <p:cNvSpPr>
            <a:spLocks noChangeArrowheads="1"/>
          </p:cNvSpPr>
          <p:nvPr/>
        </p:nvSpPr>
        <p:spPr bwMode="auto">
          <a:xfrm>
            <a:off x="5400675" y="3071813"/>
            <a:ext cx="1222375" cy="906462"/>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21" name="Rectangle 9"/>
          <p:cNvSpPr>
            <a:spLocks noChangeArrowheads="1"/>
          </p:cNvSpPr>
          <p:nvPr/>
        </p:nvSpPr>
        <p:spPr bwMode="auto">
          <a:xfrm>
            <a:off x="6967538" y="3022600"/>
            <a:ext cx="1866900" cy="906463"/>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22" name="Rectangle 10"/>
          <p:cNvSpPr>
            <a:spLocks noChangeArrowheads="1"/>
          </p:cNvSpPr>
          <p:nvPr/>
        </p:nvSpPr>
        <p:spPr bwMode="auto">
          <a:xfrm>
            <a:off x="163513" y="3260725"/>
            <a:ext cx="142398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kumimoji="0" lang="zh-CN" altLang="en-US" sz="2400"/>
              <a:t>进样系统</a:t>
            </a:r>
          </a:p>
        </p:txBody>
      </p:sp>
      <p:sp>
        <p:nvSpPr>
          <p:cNvPr id="13323" name="Rectangle 11"/>
          <p:cNvSpPr>
            <a:spLocks noChangeArrowheads="1"/>
          </p:cNvSpPr>
          <p:nvPr/>
        </p:nvSpPr>
        <p:spPr bwMode="auto">
          <a:xfrm>
            <a:off x="1909763" y="3227388"/>
            <a:ext cx="1114425"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kumimoji="0" lang="zh-CN" altLang="en-US" sz="2400"/>
              <a:t>离子源</a:t>
            </a:r>
            <a:endParaRPr kumimoji="0" lang="zh-CN" altLang="en-US" sz="2400" i="1">
              <a:latin typeface="Helvetica" pitchFamily="34" charset="0"/>
            </a:endParaRPr>
          </a:p>
        </p:txBody>
      </p:sp>
      <p:sp>
        <p:nvSpPr>
          <p:cNvPr id="13324" name="Rectangle 12"/>
          <p:cNvSpPr>
            <a:spLocks noChangeArrowheads="1"/>
          </p:cNvSpPr>
          <p:nvPr/>
        </p:nvSpPr>
        <p:spPr bwMode="auto">
          <a:xfrm>
            <a:off x="3443288" y="3016250"/>
            <a:ext cx="1703387" cy="101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kumimoji="0" lang="zh-CN" altLang="en-US" sz="2400"/>
              <a:t>质量</a:t>
            </a:r>
          </a:p>
          <a:p>
            <a:pPr algn="ctr" eaLnBrk="0" hangingPunct="0"/>
            <a:r>
              <a:rPr kumimoji="0" lang="zh-CN" altLang="en-US" sz="2400"/>
              <a:t>分析器</a:t>
            </a:r>
          </a:p>
        </p:txBody>
      </p:sp>
      <p:sp>
        <p:nvSpPr>
          <p:cNvPr id="13325" name="Rectangle 13"/>
          <p:cNvSpPr>
            <a:spLocks noChangeArrowheads="1"/>
          </p:cNvSpPr>
          <p:nvPr/>
        </p:nvSpPr>
        <p:spPr bwMode="auto">
          <a:xfrm>
            <a:off x="5424488" y="3260725"/>
            <a:ext cx="1112837"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eaLnBrk="0" hangingPunct="0"/>
            <a:r>
              <a:rPr kumimoji="0" lang="zh-CN" altLang="en-US" sz="2400"/>
              <a:t>检测器</a:t>
            </a:r>
          </a:p>
        </p:txBody>
      </p:sp>
      <p:sp>
        <p:nvSpPr>
          <p:cNvPr id="13326" name="Rectangle 14"/>
          <p:cNvSpPr>
            <a:spLocks noChangeArrowheads="1"/>
          </p:cNvSpPr>
          <p:nvPr/>
        </p:nvSpPr>
        <p:spPr bwMode="auto">
          <a:xfrm>
            <a:off x="6748463" y="3067050"/>
            <a:ext cx="197961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0" hangingPunct="0"/>
            <a:r>
              <a:rPr kumimoji="0" lang="zh-CN" altLang="en-US" sz="2400"/>
              <a:t>数据处理</a:t>
            </a:r>
          </a:p>
          <a:p>
            <a:pPr algn="ctr" eaLnBrk="0" hangingPunct="0"/>
            <a:r>
              <a:rPr kumimoji="0" lang="zh-CN" altLang="en-US" sz="2400"/>
              <a:t>及分析</a:t>
            </a:r>
            <a:endParaRPr kumimoji="0" lang="zh-CN" altLang="en-US" sz="2400" i="1">
              <a:latin typeface="Helvetica" pitchFamily="34" charset="0"/>
            </a:endParaRPr>
          </a:p>
        </p:txBody>
      </p:sp>
      <p:sp>
        <p:nvSpPr>
          <p:cNvPr id="13327" name="Line 15"/>
          <p:cNvSpPr>
            <a:spLocks noChangeShapeType="1"/>
          </p:cNvSpPr>
          <p:nvPr/>
        </p:nvSpPr>
        <p:spPr bwMode="auto">
          <a:xfrm flipV="1">
            <a:off x="1587500" y="3495675"/>
            <a:ext cx="274638" cy="9525"/>
          </a:xfrm>
          <a:prstGeom prst="line">
            <a:avLst/>
          </a:prstGeom>
          <a:noFill/>
          <a:ln w="57150" cmpd="tri">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8" name="Line 16"/>
          <p:cNvSpPr>
            <a:spLocks noChangeShapeType="1"/>
          </p:cNvSpPr>
          <p:nvPr/>
        </p:nvSpPr>
        <p:spPr bwMode="auto">
          <a:xfrm>
            <a:off x="3097213" y="3468688"/>
            <a:ext cx="346075" cy="0"/>
          </a:xfrm>
          <a:prstGeom prst="line">
            <a:avLst/>
          </a:prstGeom>
          <a:noFill/>
          <a:ln w="57150" cmpd="tri">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29" name="Line 17"/>
          <p:cNvSpPr>
            <a:spLocks noChangeShapeType="1"/>
          </p:cNvSpPr>
          <p:nvPr/>
        </p:nvSpPr>
        <p:spPr bwMode="auto">
          <a:xfrm>
            <a:off x="5081588" y="3509963"/>
            <a:ext cx="342900" cy="0"/>
          </a:xfrm>
          <a:prstGeom prst="line">
            <a:avLst/>
          </a:prstGeom>
          <a:noFill/>
          <a:ln w="57150" cmpd="tri">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0" name="Line 18"/>
          <p:cNvSpPr>
            <a:spLocks noChangeShapeType="1"/>
          </p:cNvSpPr>
          <p:nvPr/>
        </p:nvSpPr>
        <p:spPr bwMode="auto">
          <a:xfrm>
            <a:off x="6623050" y="3495675"/>
            <a:ext cx="344488" cy="0"/>
          </a:xfrm>
          <a:prstGeom prst="line">
            <a:avLst/>
          </a:prstGeom>
          <a:noFill/>
          <a:ln w="57150" cmpd="tri">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1" name="Line 19"/>
          <p:cNvSpPr>
            <a:spLocks noChangeShapeType="1"/>
          </p:cNvSpPr>
          <p:nvPr/>
        </p:nvSpPr>
        <p:spPr bwMode="auto">
          <a:xfrm flipV="1">
            <a:off x="3033713" y="2463800"/>
            <a:ext cx="0" cy="5540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2" name="Line 20"/>
          <p:cNvSpPr>
            <a:spLocks noChangeShapeType="1"/>
          </p:cNvSpPr>
          <p:nvPr/>
        </p:nvSpPr>
        <p:spPr bwMode="auto">
          <a:xfrm flipV="1">
            <a:off x="4489450" y="2463800"/>
            <a:ext cx="0" cy="5540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3" name="Line 21"/>
          <p:cNvSpPr>
            <a:spLocks noChangeShapeType="1"/>
          </p:cNvSpPr>
          <p:nvPr/>
        </p:nvSpPr>
        <p:spPr bwMode="auto">
          <a:xfrm flipV="1">
            <a:off x="4627563" y="2463800"/>
            <a:ext cx="0" cy="5540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4" name="Line 22"/>
          <p:cNvSpPr>
            <a:spLocks noChangeShapeType="1"/>
          </p:cNvSpPr>
          <p:nvPr/>
        </p:nvSpPr>
        <p:spPr bwMode="auto">
          <a:xfrm flipV="1">
            <a:off x="6151563" y="2463800"/>
            <a:ext cx="0" cy="554038"/>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5" name="Line 23"/>
          <p:cNvSpPr>
            <a:spLocks noChangeShapeType="1"/>
          </p:cNvSpPr>
          <p:nvPr/>
        </p:nvSpPr>
        <p:spPr bwMode="auto">
          <a:xfrm flipV="1">
            <a:off x="6289675" y="2346325"/>
            <a:ext cx="0" cy="6731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6" name="Line 24"/>
          <p:cNvSpPr>
            <a:spLocks noChangeShapeType="1"/>
          </p:cNvSpPr>
          <p:nvPr/>
        </p:nvSpPr>
        <p:spPr bwMode="auto">
          <a:xfrm>
            <a:off x="3035300" y="2463800"/>
            <a:ext cx="145415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7" name="Line 25"/>
          <p:cNvSpPr>
            <a:spLocks noChangeShapeType="1"/>
          </p:cNvSpPr>
          <p:nvPr/>
        </p:nvSpPr>
        <p:spPr bwMode="auto">
          <a:xfrm>
            <a:off x="4629150" y="2463800"/>
            <a:ext cx="1522413"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8" name="Line 26"/>
          <p:cNvSpPr>
            <a:spLocks noChangeShapeType="1"/>
          </p:cNvSpPr>
          <p:nvPr/>
        </p:nvSpPr>
        <p:spPr bwMode="auto">
          <a:xfrm flipV="1">
            <a:off x="2895600" y="2346325"/>
            <a:ext cx="0" cy="673100"/>
          </a:xfrm>
          <a:prstGeom prst="line">
            <a:avLst/>
          </a:prstGeom>
          <a:noFill/>
          <a:ln w="254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39" name="Line 27"/>
          <p:cNvSpPr>
            <a:spLocks noChangeShapeType="1"/>
          </p:cNvSpPr>
          <p:nvPr/>
        </p:nvSpPr>
        <p:spPr bwMode="auto">
          <a:xfrm>
            <a:off x="2897188" y="2344738"/>
            <a:ext cx="15224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0" name="Line 28"/>
          <p:cNvSpPr>
            <a:spLocks noChangeShapeType="1"/>
          </p:cNvSpPr>
          <p:nvPr/>
        </p:nvSpPr>
        <p:spPr bwMode="auto">
          <a:xfrm>
            <a:off x="4699000" y="2344738"/>
            <a:ext cx="1590675"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1" name="Line 29"/>
          <p:cNvSpPr>
            <a:spLocks noChangeShapeType="1"/>
          </p:cNvSpPr>
          <p:nvPr/>
        </p:nvSpPr>
        <p:spPr bwMode="auto">
          <a:xfrm flipV="1">
            <a:off x="4419600" y="2185988"/>
            <a:ext cx="0" cy="158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2" name="Line 30"/>
          <p:cNvSpPr>
            <a:spLocks noChangeShapeType="1"/>
          </p:cNvSpPr>
          <p:nvPr/>
        </p:nvSpPr>
        <p:spPr bwMode="auto">
          <a:xfrm flipV="1">
            <a:off x="4697413" y="2185988"/>
            <a:ext cx="0" cy="15875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43" name="Rectangle 31"/>
          <p:cNvSpPr>
            <a:spLocks noChangeArrowheads="1"/>
          </p:cNvSpPr>
          <p:nvPr/>
        </p:nvSpPr>
        <p:spPr bwMode="auto">
          <a:xfrm>
            <a:off x="2914650" y="1757363"/>
            <a:ext cx="3313113" cy="428625"/>
          </a:xfrm>
          <a:prstGeom prst="rect">
            <a:avLst/>
          </a:prstGeom>
          <a:solidFill>
            <a:srgbClr val="99CCFF"/>
          </a:solidFill>
          <a:ln w="12700">
            <a:solidFill>
              <a:schemeClr val="tx1"/>
            </a:solidFill>
            <a:miter lim="800000"/>
            <a:headEnd/>
            <a:tailEnd/>
          </a:ln>
        </p:spPr>
        <p:txBody>
          <a:bodyPr wrap="none" anchor="ctr"/>
          <a:lstStyle/>
          <a:p>
            <a:endParaRPr lang="zh-CN" altLang="en-US"/>
          </a:p>
        </p:txBody>
      </p:sp>
      <p:sp>
        <p:nvSpPr>
          <p:cNvPr id="13344" name="Rectangle 32"/>
          <p:cNvSpPr>
            <a:spLocks noChangeArrowheads="1"/>
          </p:cNvSpPr>
          <p:nvPr/>
        </p:nvSpPr>
        <p:spPr bwMode="auto">
          <a:xfrm>
            <a:off x="3621088" y="1727200"/>
            <a:ext cx="1733550"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ctr" eaLnBrk="0" hangingPunct="0"/>
            <a:r>
              <a:rPr kumimoji="0" lang="zh-CN" altLang="en-US" sz="2400"/>
              <a:t>高真空系统</a:t>
            </a:r>
          </a:p>
        </p:txBody>
      </p:sp>
      <p:sp>
        <p:nvSpPr>
          <p:cNvPr id="13345" name="Line 45"/>
          <p:cNvSpPr>
            <a:spLocks noChangeShapeType="1"/>
          </p:cNvSpPr>
          <p:nvPr/>
        </p:nvSpPr>
        <p:spPr bwMode="auto">
          <a:xfrm>
            <a:off x="762000" y="1143000"/>
            <a:ext cx="7543800" cy="0"/>
          </a:xfrm>
          <a:prstGeom prst="line">
            <a:avLst/>
          </a:prstGeom>
          <a:noFill/>
          <a:ln w="15875">
            <a:solidFill>
              <a:srgbClr val="F67B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250" name="Text Box 46"/>
          <p:cNvSpPr txBox="1">
            <a:spLocks noChangeArrowheads="1"/>
          </p:cNvSpPr>
          <p:nvPr/>
        </p:nvSpPr>
        <p:spPr bwMode="auto">
          <a:xfrm>
            <a:off x="152400" y="431800"/>
            <a:ext cx="8534400" cy="711200"/>
          </a:xfrm>
          <a:prstGeom prst="rect">
            <a:avLst/>
          </a:prstGeom>
          <a:noFill/>
          <a:ln>
            <a:noFill/>
          </a:ln>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50000"/>
              </a:spcBef>
              <a:defRPr/>
            </a:pPr>
            <a:r>
              <a:rPr kumimoji="0" lang="zh-CN" altLang="en-US" sz="3600" dirty="0" smtClean="0">
                <a:solidFill>
                  <a:schemeClr val="tx1">
                    <a:lumMod val="50000"/>
                  </a:schemeClr>
                </a:solidFill>
                <a:latin typeface="Arial" charset="0"/>
              </a:rPr>
              <a:t>质谱仪</a:t>
            </a:r>
          </a:p>
        </p:txBody>
      </p:sp>
      <p:grpSp>
        <p:nvGrpSpPr>
          <p:cNvPr id="13347" name="Group 6"/>
          <p:cNvGrpSpPr>
            <a:grpSpLocks/>
          </p:cNvGrpSpPr>
          <p:nvPr/>
        </p:nvGrpSpPr>
        <p:grpSpPr bwMode="auto">
          <a:xfrm>
            <a:off x="871538" y="4292600"/>
            <a:ext cx="6196012" cy="1206500"/>
            <a:chOff x="1154" y="1684"/>
            <a:chExt cx="3499" cy="760"/>
          </a:xfrm>
        </p:grpSpPr>
        <p:sp>
          <p:nvSpPr>
            <p:cNvPr id="13348" name="Text Box 7"/>
            <p:cNvSpPr txBox="1">
              <a:spLocks noChangeArrowheads="1"/>
            </p:cNvSpPr>
            <p:nvPr/>
          </p:nvSpPr>
          <p:spPr bwMode="auto">
            <a:xfrm>
              <a:off x="1154" y="1684"/>
              <a:ext cx="1152" cy="760"/>
            </a:xfrm>
            <a:prstGeom prst="rect">
              <a:avLst/>
            </a:prstGeom>
            <a:noFill/>
            <a:ln w="19050">
              <a:solidFill>
                <a:srgbClr val="0000D8"/>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ctr" eaLnBrk="1" hangingPunct="1">
                <a:lnSpc>
                  <a:spcPct val="100000"/>
                </a:lnSpc>
              </a:pPr>
              <a:r>
                <a:rPr lang="zh-CN" altLang="en-US" sz="2400"/>
                <a:t>分子的电离</a:t>
              </a:r>
            </a:p>
            <a:p>
              <a:pPr algn="ctr" eaLnBrk="1" hangingPunct="1">
                <a:lnSpc>
                  <a:spcPct val="100000"/>
                </a:lnSpc>
              </a:pPr>
              <a:r>
                <a:rPr lang="zh-CN" altLang="en-US" sz="2400"/>
                <a:t>和碎裂</a:t>
              </a:r>
            </a:p>
            <a:p>
              <a:pPr algn="ctr" eaLnBrk="1" hangingPunct="1">
                <a:lnSpc>
                  <a:spcPct val="100000"/>
                </a:lnSpc>
              </a:pPr>
              <a:r>
                <a:rPr lang="zh-CN" altLang="en-US" sz="2400"/>
                <a:t>（离子生成）</a:t>
              </a:r>
            </a:p>
          </p:txBody>
        </p:sp>
        <p:sp>
          <p:nvSpPr>
            <p:cNvPr id="13349" name="Text Box 8"/>
            <p:cNvSpPr txBox="1">
              <a:spLocks noChangeArrowheads="1"/>
            </p:cNvSpPr>
            <p:nvPr/>
          </p:nvSpPr>
          <p:spPr bwMode="auto">
            <a:xfrm>
              <a:off x="2600" y="1778"/>
              <a:ext cx="980" cy="530"/>
            </a:xfrm>
            <a:prstGeom prst="rect">
              <a:avLst/>
            </a:prstGeom>
            <a:noFill/>
            <a:ln w="19050">
              <a:solidFill>
                <a:srgbClr val="0000D8"/>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ctr" eaLnBrk="1" hangingPunct="1">
                <a:lnSpc>
                  <a:spcPct val="100000"/>
                </a:lnSpc>
              </a:pPr>
              <a:r>
                <a:rPr lang="zh-CN" altLang="en-US" sz="2400"/>
                <a:t>离子按</a:t>
              </a:r>
            </a:p>
            <a:p>
              <a:pPr algn="ctr" eaLnBrk="1" hangingPunct="1">
                <a:lnSpc>
                  <a:spcPct val="100000"/>
                </a:lnSpc>
              </a:pPr>
              <a:r>
                <a:rPr lang="zh-CN" altLang="en-US" sz="2400"/>
                <a:t>质荷比分离</a:t>
              </a:r>
            </a:p>
          </p:txBody>
        </p:sp>
        <p:sp>
          <p:nvSpPr>
            <p:cNvPr id="13350" name="Text Box 9"/>
            <p:cNvSpPr txBox="1">
              <a:spLocks noChangeArrowheads="1"/>
            </p:cNvSpPr>
            <p:nvPr/>
          </p:nvSpPr>
          <p:spPr bwMode="auto">
            <a:xfrm>
              <a:off x="3846" y="1778"/>
              <a:ext cx="807" cy="530"/>
            </a:xfrm>
            <a:prstGeom prst="rect">
              <a:avLst/>
            </a:prstGeom>
            <a:noFill/>
            <a:ln w="19050">
              <a:solidFill>
                <a:srgbClr val="0000D8"/>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ctr" eaLnBrk="1" hangingPunct="1">
                <a:lnSpc>
                  <a:spcPct val="100000"/>
                </a:lnSpc>
              </a:pPr>
              <a:r>
                <a:rPr lang="zh-CN" altLang="en-US" sz="2400"/>
                <a:t>离子的</a:t>
              </a:r>
            </a:p>
            <a:p>
              <a:pPr algn="ctr" eaLnBrk="1" hangingPunct="1">
                <a:lnSpc>
                  <a:spcPct val="100000"/>
                </a:lnSpc>
              </a:pPr>
              <a:r>
                <a:rPr lang="zh-CN" altLang="en-US" sz="2400"/>
                <a:t>检测记录</a:t>
              </a:r>
            </a:p>
          </p:txBody>
        </p:sp>
        <p:sp>
          <p:nvSpPr>
            <p:cNvPr id="13351" name="Line 10"/>
            <p:cNvSpPr>
              <a:spLocks noChangeShapeType="1"/>
            </p:cNvSpPr>
            <p:nvPr/>
          </p:nvSpPr>
          <p:spPr bwMode="auto">
            <a:xfrm>
              <a:off x="2306" y="2064"/>
              <a:ext cx="238" cy="0"/>
            </a:xfrm>
            <a:prstGeom prst="line">
              <a:avLst/>
            </a:prstGeom>
            <a:noFill/>
            <a:ln w="19050">
              <a:solidFill>
                <a:srgbClr val="0000D8"/>
              </a:solidFill>
              <a:round/>
              <a:headEnd/>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13352" name="Line 11"/>
            <p:cNvSpPr>
              <a:spLocks noChangeShapeType="1"/>
            </p:cNvSpPr>
            <p:nvPr/>
          </p:nvSpPr>
          <p:spPr bwMode="auto">
            <a:xfrm>
              <a:off x="3581" y="2045"/>
              <a:ext cx="216" cy="0"/>
            </a:xfrm>
            <a:prstGeom prst="line">
              <a:avLst/>
            </a:prstGeom>
            <a:noFill/>
            <a:ln w="19050">
              <a:solidFill>
                <a:srgbClr val="0000D8"/>
              </a:solidFill>
              <a:round/>
              <a:headEnd/>
              <a:tailEnd type="triangle" w="med" len="lg"/>
            </a:ln>
            <a:extLst>
              <a:ext uri="{909E8E84-426E-40DD-AFC4-6F175D3DCCD1}">
                <a14:hiddenFill xmlns:a14="http://schemas.microsoft.com/office/drawing/2010/main">
                  <a:noFill/>
                </a14:hiddenFill>
              </a:ext>
            </a:extLst>
          </p:spPr>
          <p:txBody>
            <a:bodyPr anchor="ctr">
              <a:spAutoFit/>
            </a:bodyPr>
            <a:lstStyle/>
            <a:p>
              <a:endParaRPr lang="zh-CN" altLang="en-US"/>
            </a:p>
          </p:txBody>
        </p:sp>
      </p:grpSp>
    </p:spTree>
  </p:cSld>
  <p:clrMapOvr>
    <a:masterClrMapping/>
  </p:clrMapOvr>
  <p:transition>
    <p:randomBar dir="ver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quarter" idx="10"/>
          </p:nvPr>
        </p:nvSpPr>
        <p:spPr/>
        <p:txBody>
          <a:bodyPr/>
          <a:lstStyle/>
          <a:p>
            <a:pPr>
              <a:defRPr/>
            </a:pPr>
            <a:fld id="{AAA9CAD7-6D28-4231-84BD-FFA70746A9C9}" type="datetime1">
              <a:rPr lang="zh-CN" altLang="en-US"/>
              <a:pPr>
                <a:defRPr/>
              </a:pPr>
              <a:t>2020/10/21</a:t>
            </a:fld>
            <a:endParaRPr lang="en-US" altLang="zh-CN"/>
          </a:p>
        </p:txBody>
      </p:sp>
      <p:sp>
        <p:nvSpPr>
          <p:cNvPr id="1433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buFont typeface="Arial" pitchFamily="34" charset="0"/>
              <a:buNone/>
            </a:pPr>
            <a:fld id="{20A67DD5-E98D-4427-A6B5-E8B0FB985B10}" type="slidenum">
              <a:rPr lang="en-US" altLang="zh-CN" sz="2400" smtClean="0">
                <a:solidFill>
                  <a:schemeClr val="tx2"/>
                </a:solidFill>
                <a:latin typeface="Times New Roman" pitchFamily="18" charset="0"/>
                <a:ea typeface="宋体" pitchFamily="2" charset="-122"/>
              </a:rPr>
              <a:pPr eaLnBrk="1" hangingPunct="1">
                <a:lnSpc>
                  <a:spcPct val="100000"/>
                </a:lnSpc>
                <a:buFont typeface="Arial" pitchFamily="34" charset="0"/>
                <a:buNone/>
              </a:pPr>
              <a:t>7</a:t>
            </a:fld>
            <a:endParaRPr lang="en-US" altLang="zh-CN" sz="1400" smtClean="0">
              <a:solidFill>
                <a:schemeClr val="tx2"/>
              </a:solidFill>
              <a:latin typeface="Times New Roman" pitchFamily="18" charset="0"/>
              <a:ea typeface="宋体" pitchFamily="2" charset="-122"/>
            </a:endParaRPr>
          </a:p>
        </p:txBody>
      </p:sp>
      <p:sp>
        <p:nvSpPr>
          <p:cNvPr id="14340" name="Rectangle 2050"/>
          <p:cNvSpPr>
            <a:spLocks noGrp="1" noChangeArrowheads="1"/>
          </p:cNvSpPr>
          <p:nvPr>
            <p:ph type="title"/>
          </p:nvPr>
        </p:nvSpPr>
        <p:spPr>
          <a:xfrm>
            <a:off x="900113" y="930275"/>
            <a:ext cx="6934200" cy="838200"/>
          </a:xfrm>
        </p:spPr>
        <p:txBody>
          <a:bodyPr/>
          <a:lstStyle/>
          <a:p>
            <a:pPr eaLnBrk="1" hangingPunct="1"/>
            <a:r>
              <a:rPr lang="en-US" altLang="zh-CN" sz="3600" b="1" smtClean="0">
                <a:solidFill>
                  <a:srgbClr val="0000B6"/>
                </a:solidFill>
                <a:latin typeface="宋体" pitchFamily="2" charset="-122"/>
              </a:rPr>
              <a:t> </a:t>
            </a:r>
            <a:r>
              <a:rPr lang="zh-CN" altLang="en-US" sz="4000" b="1" smtClean="0">
                <a:latin typeface="微软雅黑" pitchFamily="34" charset="-122"/>
                <a:ea typeface="微软雅黑" pitchFamily="34" charset="-122"/>
              </a:rPr>
              <a:t>第二节 质谱的基本原理</a:t>
            </a:r>
          </a:p>
        </p:txBody>
      </p:sp>
      <p:sp>
        <p:nvSpPr>
          <p:cNvPr id="14341" name="Rectangle 2051"/>
          <p:cNvSpPr>
            <a:spLocks noGrp="1" noChangeArrowheads="1"/>
          </p:cNvSpPr>
          <p:nvPr>
            <p:ph type="body" idx="1"/>
          </p:nvPr>
        </p:nvSpPr>
        <p:spPr>
          <a:xfrm>
            <a:off x="1352550" y="2276475"/>
            <a:ext cx="7162800" cy="3276600"/>
          </a:xfrm>
        </p:spPr>
        <p:txBody>
          <a:bodyPr/>
          <a:lstStyle/>
          <a:p>
            <a:pPr marL="0" indent="0" eaLnBrk="1" hangingPunct="1">
              <a:lnSpc>
                <a:spcPct val="150000"/>
              </a:lnSpc>
              <a:buClr>
                <a:srgbClr val="CC00CC"/>
              </a:buClr>
              <a:buFont typeface="Arial" pitchFamily="34" charset="0"/>
              <a:buNone/>
            </a:pPr>
            <a:r>
              <a:rPr lang="zh-CN" altLang="en-US" b="1" smtClean="0">
                <a:latin typeface="微软雅黑" pitchFamily="34" charset="-122"/>
                <a:ea typeface="微软雅黑" pitchFamily="34" charset="-122"/>
              </a:rPr>
              <a:t>一、样品的电离</a:t>
            </a:r>
            <a:r>
              <a:rPr lang="en-US" altLang="zh-CN" b="1" smtClean="0">
                <a:latin typeface="微软雅黑" pitchFamily="34" charset="-122"/>
                <a:ea typeface="微软雅黑" pitchFamily="34" charset="-122"/>
              </a:rPr>
              <a:t>---</a:t>
            </a:r>
            <a:r>
              <a:rPr lang="zh-CN" altLang="en-US" b="1" smtClean="0">
                <a:latin typeface="微软雅黑" pitchFamily="34" charset="-122"/>
                <a:ea typeface="微软雅黑" pitchFamily="34" charset="-122"/>
              </a:rPr>
              <a:t>电离方式</a:t>
            </a:r>
          </a:p>
          <a:p>
            <a:pPr marL="0" indent="0" eaLnBrk="1" hangingPunct="1">
              <a:lnSpc>
                <a:spcPct val="150000"/>
              </a:lnSpc>
              <a:buClr>
                <a:srgbClr val="CC00CC"/>
              </a:buClr>
              <a:buFont typeface="Arial" pitchFamily="34" charset="0"/>
              <a:buNone/>
            </a:pPr>
            <a:r>
              <a:rPr lang="zh-CN" altLang="en-US" b="1" smtClean="0">
                <a:latin typeface="微软雅黑" pitchFamily="34" charset="-122"/>
                <a:ea typeface="微软雅黑" pitchFamily="34" charset="-122"/>
              </a:rPr>
              <a:t>二、离子的分离</a:t>
            </a:r>
            <a:endParaRPr lang="en-US" altLang="zh-CN" b="1" smtClean="0">
              <a:latin typeface="微软雅黑" pitchFamily="34" charset="-122"/>
              <a:ea typeface="微软雅黑" pitchFamily="34" charset="-122"/>
            </a:endParaRPr>
          </a:p>
          <a:p>
            <a:pPr marL="0" indent="0" eaLnBrk="1" hangingPunct="1">
              <a:lnSpc>
                <a:spcPct val="150000"/>
              </a:lnSpc>
              <a:buClr>
                <a:srgbClr val="CC00CC"/>
              </a:buClr>
              <a:buFont typeface="Arial" pitchFamily="34" charset="0"/>
              <a:buNone/>
            </a:pPr>
            <a:r>
              <a:rPr lang="zh-CN" altLang="en-US" b="1" smtClean="0">
                <a:latin typeface="微软雅黑" pitchFamily="34" charset="-122"/>
                <a:ea typeface="微软雅黑" pitchFamily="34" charset="-122"/>
              </a:rPr>
              <a:t>三、离子的检测</a:t>
            </a:r>
          </a:p>
        </p:txBody>
      </p:sp>
    </p:spTree>
  </p:cSld>
  <p:clrMapOvr>
    <a:masterClrMapping/>
  </p:clrMapOvr>
  <p:transition spd="slow"/>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11"/>
          <p:cNvSpPr>
            <a:spLocks noGrp="1" noChangeArrowheads="1"/>
          </p:cNvSpPr>
          <p:nvPr>
            <p:ph type="title"/>
          </p:nvPr>
        </p:nvSpPr>
        <p:spPr>
          <a:xfrm>
            <a:off x="1752600" y="838200"/>
            <a:ext cx="5181600" cy="762000"/>
          </a:xfrm>
        </p:spPr>
        <p:txBody>
          <a:bodyPr/>
          <a:lstStyle/>
          <a:p>
            <a:pPr eaLnBrk="1" hangingPunct="1"/>
            <a:r>
              <a:rPr lang="zh-CN" altLang="en-US" sz="3600" b="1" smtClean="0">
                <a:latin typeface="微软雅黑" pitchFamily="34" charset="-122"/>
                <a:ea typeface="微软雅黑" pitchFamily="34" charset="-122"/>
              </a:rPr>
              <a:t>样品的电离</a:t>
            </a:r>
          </a:p>
        </p:txBody>
      </p:sp>
      <p:sp>
        <p:nvSpPr>
          <p:cNvPr id="15363" name="Rectangle 12"/>
          <p:cNvSpPr>
            <a:spLocks noGrp="1" noChangeArrowheads="1"/>
          </p:cNvSpPr>
          <p:nvPr>
            <p:ph idx="1"/>
          </p:nvPr>
        </p:nvSpPr>
        <p:spPr>
          <a:xfrm>
            <a:off x="539750" y="1752600"/>
            <a:ext cx="8299450" cy="4464050"/>
          </a:xfrm>
        </p:spPr>
        <p:txBody>
          <a:bodyPr/>
          <a:lstStyle/>
          <a:p>
            <a:pPr eaLnBrk="1" hangingPunct="1">
              <a:lnSpc>
                <a:spcPct val="115000"/>
              </a:lnSpc>
              <a:buClr>
                <a:schemeClr val="bg2"/>
              </a:buClr>
              <a:buFont typeface="Monotype Sorts" pitchFamily="2" charset="2"/>
              <a:buNone/>
            </a:pPr>
            <a:r>
              <a:rPr lang="en-US" altLang="zh-CN" b="1" smtClean="0">
                <a:solidFill>
                  <a:srgbClr val="C00000"/>
                </a:solidFill>
              </a:rPr>
              <a:t>  </a:t>
            </a:r>
            <a:r>
              <a:rPr lang="zh-CN" altLang="en-US" b="1" smtClean="0"/>
              <a:t>电子轰击电离法（</a:t>
            </a:r>
            <a:r>
              <a:rPr lang="en-US" altLang="zh-CN" b="1" smtClean="0"/>
              <a:t>Electron Impact, EI</a:t>
            </a:r>
            <a:r>
              <a:rPr lang="zh-CN" altLang="en-US" b="1" smtClean="0"/>
              <a:t>）</a:t>
            </a:r>
            <a:r>
              <a:rPr lang="zh-CN" altLang="en-US" smtClean="0"/>
              <a:t>       </a:t>
            </a:r>
          </a:p>
          <a:p>
            <a:pPr eaLnBrk="1" hangingPunct="1">
              <a:lnSpc>
                <a:spcPct val="150000"/>
              </a:lnSpc>
              <a:buClr>
                <a:schemeClr val="bg2"/>
              </a:buClr>
              <a:buFont typeface="Monotype Sorts" pitchFamily="2" charset="2"/>
              <a:buNone/>
            </a:pPr>
            <a:r>
              <a:rPr lang="zh-CN" altLang="en-US" smtClean="0"/>
              <a:t>         </a:t>
            </a:r>
            <a:r>
              <a:rPr lang="zh-CN" altLang="en-US" b="1" smtClean="0">
                <a:solidFill>
                  <a:srgbClr val="000000"/>
                </a:solidFill>
                <a:ea typeface="楷体_GB2312" pitchFamily="49" charset="-122"/>
              </a:rPr>
              <a:t>利用一定能量的电子与</a:t>
            </a:r>
            <a:r>
              <a:rPr lang="zh-CN" altLang="en-US" b="1" smtClean="0">
                <a:solidFill>
                  <a:srgbClr val="FF0000"/>
                </a:solidFill>
                <a:ea typeface="楷体_GB2312" pitchFamily="49" charset="-122"/>
              </a:rPr>
              <a:t>气相</a:t>
            </a:r>
            <a:r>
              <a:rPr lang="zh-CN" altLang="en-US" b="1" smtClean="0">
                <a:solidFill>
                  <a:srgbClr val="000000"/>
                </a:solidFill>
                <a:ea typeface="楷体_GB2312" pitchFamily="49" charset="-122"/>
              </a:rPr>
              <a:t>中的样品分子相互作用（“轰击”），使分子失去价电子电离成分子离子，当分子离子具有的剩余能量大于其某些化学键的键能时，分子离子便发生碎裂，生成碎片离子</a:t>
            </a:r>
            <a:r>
              <a:rPr lang="zh-CN" altLang="en-US" smtClean="0">
                <a:solidFill>
                  <a:srgbClr val="000000"/>
                </a:solidFill>
              </a:rPr>
              <a:t>。</a:t>
            </a:r>
          </a:p>
          <a:p>
            <a:pPr eaLnBrk="1" hangingPunct="1">
              <a:buFont typeface="Wingdings" pitchFamily="2" charset="2"/>
              <a:buNone/>
            </a:pPr>
            <a:endParaRPr lang="en-US" altLang="zh-CN" smtClean="0">
              <a:solidFill>
                <a:srgbClr val="000000"/>
              </a:solidFill>
            </a:endParaRPr>
          </a:p>
        </p:txBody>
      </p:sp>
      <p:sp>
        <p:nvSpPr>
          <p:cNvPr id="4" name="日期占位符 3"/>
          <p:cNvSpPr>
            <a:spLocks noGrp="1"/>
          </p:cNvSpPr>
          <p:nvPr>
            <p:ph type="dt" sz="quarter" idx="10"/>
          </p:nvPr>
        </p:nvSpPr>
        <p:spPr/>
        <p:txBody>
          <a:bodyPr/>
          <a:lstStyle/>
          <a:p>
            <a:pPr>
              <a:defRPr/>
            </a:pPr>
            <a:fld id="{69228A7C-A9D3-478D-921B-CD311B88DA1A}" type="datetime1">
              <a:rPr lang="zh-CN" altLang="en-US"/>
              <a:pPr>
                <a:defRPr/>
              </a:pPr>
              <a:t>2020/10/21</a:t>
            </a:fld>
            <a:endParaRPr lang="en-US" altLang="zh-CN"/>
          </a:p>
        </p:txBody>
      </p:sp>
      <p:sp>
        <p:nvSpPr>
          <p:cNvPr id="6" name="灯片编号占位符 5"/>
          <p:cNvSpPr>
            <a:spLocks noGrp="1"/>
          </p:cNvSpPr>
          <p:nvPr>
            <p:ph type="sldNum" sz="quarter" idx="12"/>
          </p:nvPr>
        </p:nvSpPr>
        <p:spPr/>
        <p:txBody>
          <a:bodyPr/>
          <a:lstStyle/>
          <a:p>
            <a:pPr>
              <a:defRPr/>
            </a:pPr>
            <a:fld id="{C7187231-1097-4FEB-8D74-CF888435F3F4}" type="slidenum">
              <a:rPr lang="en-US" altLang="zh-CN"/>
              <a:pPr>
                <a:defRPr/>
              </a:pPr>
              <a:t>8</a:t>
            </a:fld>
            <a:endParaRPr lang="en-US" altLang="zh-CN" sz="140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
          <p:cNvSpPr>
            <a:spLocks noGrp="1" noChangeArrowheads="1"/>
          </p:cNvSpPr>
          <p:nvPr>
            <p:ph type="title"/>
          </p:nvPr>
        </p:nvSpPr>
        <p:spPr>
          <a:xfrm>
            <a:off x="2268538" y="476250"/>
            <a:ext cx="3505200" cy="685800"/>
          </a:xfrm>
        </p:spPr>
        <p:txBody>
          <a:bodyPr/>
          <a:lstStyle/>
          <a:p>
            <a:pPr eaLnBrk="1" hangingPunct="1"/>
            <a:r>
              <a:rPr lang="zh-CN" altLang="en-US" sz="3200" b="1" smtClean="0">
                <a:latin typeface="微软雅黑" pitchFamily="34" charset="-122"/>
                <a:ea typeface="微软雅黑" pitchFamily="34" charset="-122"/>
              </a:rPr>
              <a:t>轰击电子的能量</a:t>
            </a:r>
          </a:p>
        </p:txBody>
      </p:sp>
      <p:sp>
        <p:nvSpPr>
          <p:cNvPr id="5" name="日期占位符 3"/>
          <p:cNvSpPr>
            <a:spLocks noGrp="1"/>
          </p:cNvSpPr>
          <p:nvPr>
            <p:ph type="dt" sz="quarter" idx="10"/>
          </p:nvPr>
        </p:nvSpPr>
        <p:spPr/>
        <p:txBody>
          <a:bodyPr/>
          <a:lstStyle/>
          <a:p>
            <a:pPr>
              <a:defRPr/>
            </a:pPr>
            <a:fld id="{FCC70B13-6BB0-49AA-B3ED-BCAC003B4AB6}" type="datetime1">
              <a:rPr lang="zh-CN" altLang="en-US"/>
              <a:pPr>
                <a:defRPr/>
              </a:pPr>
              <a:t>2020/10/21</a:t>
            </a:fld>
            <a:endParaRPr lang="en-US" altLang="zh-CN"/>
          </a:p>
        </p:txBody>
      </p:sp>
      <p:sp>
        <p:nvSpPr>
          <p:cNvPr id="7" name="灯片编号占位符 5"/>
          <p:cNvSpPr>
            <a:spLocks noGrp="1"/>
          </p:cNvSpPr>
          <p:nvPr>
            <p:ph type="sldNum" sz="quarter" idx="12"/>
          </p:nvPr>
        </p:nvSpPr>
        <p:spPr/>
        <p:txBody>
          <a:bodyPr/>
          <a:lstStyle/>
          <a:p>
            <a:pPr>
              <a:defRPr/>
            </a:pPr>
            <a:fld id="{B98F7F27-193B-4807-89B1-C8236B308FCD}" type="slidenum">
              <a:rPr lang="en-US" altLang="zh-CN"/>
              <a:pPr>
                <a:defRPr/>
              </a:pPr>
              <a:t>9</a:t>
            </a:fld>
            <a:endParaRPr lang="en-US" altLang="zh-CN" sz="1400"/>
          </a:p>
        </p:txBody>
      </p:sp>
      <p:sp>
        <p:nvSpPr>
          <p:cNvPr id="10244" name="Text Box 9"/>
          <p:cNvSpPr txBox="1">
            <a:spLocks noChangeArrowheads="1"/>
          </p:cNvSpPr>
          <p:nvPr/>
        </p:nvSpPr>
        <p:spPr bwMode="auto">
          <a:xfrm>
            <a:off x="4859338" y="1557338"/>
            <a:ext cx="4033837" cy="4445000"/>
          </a:xfrm>
          <a:prstGeom prst="rect">
            <a:avLst/>
          </a:prstGeom>
          <a:noFill/>
          <a:ln>
            <a:noFill/>
          </a:ln>
          <a:extLst/>
        </p:spPr>
        <p:txBody>
          <a:bodyPr>
            <a:spAutoFit/>
          </a:bodyPr>
          <a:lstStyle>
            <a:lvl1pPr>
              <a:defRPr kumimoji="1" sz="3200">
                <a:solidFill>
                  <a:schemeClr val="tx1"/>
                </a:solidFill>
                <a:latin typeface="Times New Roman" pitchFamily="18" charset="0"/>
                <a:ea typeface="宋体" pitchFamily="2" charset="-122"/>
              </a:defRPr>
            </a:lvl1pPr>
            <a:lvl2pPr marL="742950" indent="-285750">
              <a:defRPr kumimoji="1" sz="2800">
                <a:solidFill>
                  <a:schemeClr val="tx1"/>
                </a:solidFill>
                <a:latin typeface="Times New Roman" pitchFamily="18" charset="0"/>
                <a:ea typeface="宋体" pitchFamily="2" charset="-122"/>
              </a:defRPr>
            </a:lvl2pPr>
            <a:lvl3pPr marL="1143000">
              <a:defRPr kumimoji="1" sz="2400">
                <a:solidFill>
                  <a:schemeClr val="tx1"/>
                </a:solidFill>
                <a:latin typeface="Times New Roman" pitchFamily="18" charset="0"/>
                <a:ea typeface="宋体" pitchFamily="2" charset="-122"/>
              </a:defRPr>
            </a:lvl3pPr>
            <a:lvl4pPr marL="1600200">
              <a:defRPr kumimoji="1" sz="2000">
                <a:solidFill>
                  <a:schemeClr val="tx1"/>
                </a:solidFill>
                <a:latin typeface="Times New Roman" pitchFamily="18" charset="0"/>
                <a:ea typeface="宋体" pitchFamily="2" charset="-122"/>
              </a:defRPr>
            </a:lvl4pPr>
            <a:lvl5pPr>
              <a:defRPr kumimoji="1" sz="2000">
                <a:solidFill>
                  <a:schemeClr val="tx1"/>
                </a:solidFill>
                <a:latin typeface="Times New Roman" pitchFamily="18" charset="0"/>
                <a:ea typeface="宋体" pitchFamily="2" charset="-122"/>
              </a:defRPr>
            </a:lvl5pPr>
            <a:lvl6pPr eaLnBrk="0" hangingPunct="0">
              <a:defRPr kumimoji="1" sz="2000">
                <a:solidFill>
                  <a:schemeClr val="tx1"/>
                </a:solidFill>
                <a:latin typeface="Times New Roman" pitchFamily="18" charset="0"/>
                <a:ea typeface="宋体" pitchFamily="2" charset="-122"/>
              </a:defRPr>
            </a:lvl6pPr>
            <a:lvl7pPr eaLnBrk="0" hangingPunct="0">
              <a:defRPr kumimoji="1" sz="2000">
                <a:solidFill>
                  <a:schemeClr val="tx1"/>
                </a:solidFill>
                <a:latin typeface="Times New Roman" pitchFamily="18" charset="0"/>
                <a:ea typeface="宋体" pitchFamily="2" charset="-122"/>
              </a:defRPr>
            </a:lvl7pPr>
            <a:lvl8pPr eaLnBrk="0" hangingPunct="0">
              <a:defRPr kumimoji="1" sz="2000">
                <a:solidFill>
                  <a:schemeClr val="tx1"/>
                </a:solidFill>
                <a:latin typeface="Times New Roman" pitchFamily="18" charset="0"/>
                <a:ea typeface="宋体" pitchFamily="2" charset="-122"/>
              </a:defRPr>
            </a:lvl8pPr>
            <a:lvl9pPr eaLnBrk="0" hangingPunct="0">
              <a:defRPr kumimoji="1" sz="2000">
                <a:solidFill>
                  <a:schemeClr val="tx1"/>
                </a:solidFill>
                <a:latin typeface="Times New Roman" pitchFamily="18" charset="0"/>
                <a:ea typeface="宋体" pitchFamily="2" charset="-122"/>
              </a:defRPr>
            </a:lvl9pPr>
          </a:lstStyle>
          <a:p>
            <a:pPr>
              <a:spcBef>
                <a:spcPct val="20000"/>
              </a:spcBef>
              <a:buClr>
                <a:schemeClr val="bg2"/>
              </a:buClr>
              <a:buFont typeface="Monotype Sorts" pitchFamily="2" charset="2"/>
              <a:buNone/>
              <a:defRPr/>
            </a:pPr>
            <a:r>
              <a:rPr lang="en-US" altLang="zh-CN" sz="2800" dirty="0" smtClean="0">
                <a:latin typeface="楷体_GB2312" pitchFamily="49" charset="-122"/>
                <a:ea typeface="楷体_GB2312" pitchFamily="49" charset="-122"/>
              </a:rPr>
              <a:t>  </a:t>
            </a:r>
            <a:r>
              <a:rPr lang="zh-CN" altLang="en-US" sz="2800" dirty="0" smtClean="0">
                <a:solidFill>
                  <a:schemeClr val="tx1">
                    <a:lumMod val="50000"/>
                  </a:schemeClr>
                </a:solidFill>
                <a:latin typeface="楷体_GB2312" pitchFamily="49" charset="-122"/>
                <a:ea typeface="楷体_GB2312" pitchFamily="49" charset="-122"/>
              </a:rPr>
              <a:t>大部分有机物的电离电位为 </a:t>
            </a:r>
            <a:r>
              <a:rPr lang="en-US" altLang="zh-CN" sz="2800" dirty="0" smtClean="0">
                <a:solidFill>
                  <a:schemeClr val="tx1">
                    <a:lumMod val="50000"/>
                  </a:schemeClr>
                </a:solidFill>
                <a:latin typeface="楷体_GB2312" pitchFamily="49" charset="-122"/>
                <a:ea typeface="楷体_GB2312" pitchFamily="49" charset="-122"/>
              </a:rPr>
              <a:t>10</a:t>
            </a:r>
            <a:r>
              <a:rPr lang="en-US" altLang="zh-CN" sz="2800" dirty="0" smtClean="0">
                <a:solidFill>
                  <a:schemeClr val="tx1">
                    <a:lumMod val="50000"/>
                  </a:schemeClr>
                </a:solidFill>
                <a:latin typeface="楷体_GB2312" pitchFamily="49" charset="-122"/>
                <a:ea typeface="楷体_GB2312" pitchFamily="49" charset="-122"/>
                <a:sym typeface="Symbol" pitchFamily="18" charset="2"/>
              </a:rPr>
              <a:t>3eV</a:t>
            </a:r>
            <a:r>
              <a:rPr lang="zh-CN" altLang="en-US" sz="2800" dirty="0" smtClean="0">
                <a:solidFill>
                  <a:schemeClr val="tx1">
                    <a:lumMod val="50000"/>
                  </a:schemeClr>
                </a:solidFill>
                <a:latin typeface="楷体_GB2312" pitchFamily="49" charset="-122"/>
                <a:ea typeface="楷体_GB2312" pitchFamily="49" charset="-122"/>
                <a:sym typeface="Symbol" pitchFamily="18" charset="2"/>
              </a:rPr>
              <a:t>，</a:t>
            </a:r>
          </a:p>
          <a:p>
            <a:pPr>
              <a:spcBef>
                <a:spcPct val="20000"/>
              </a:spcBef>
              <a:buClr>
                <a:schemeClr val="bg2"/>
              </a:buClr>
              <a:buFont typeface="Monotype Sorts" pitchFamily="2" charset="2"/>
              <a:buNone/>
              <a:defRPr/>
            </a:pPr>
            <a:r>
              <a:rPr lang="zh-CN" altLang="zh-CN" sz="2800" dirty="0" smtClean="0">
                <a:solidFill>
                  <a:schemeClr val="tx1">
                    <a:lumMod val="50000"/>
                  </a:schemeClr>
                </a:solidFill>
                <a:latin typeface="楷体_GB2312" pitchFamily="49" charset="-122"/>
                <a:ea typeface="楷体_GB2312" pitchFamily="49" charset="-122"/>
                <a:sym typeface="Symbol" pitchFamily="18" charset="2"/>
              </a:rPr>
              <a:t>如：甲烷为</a:t>
            </a:r>
            <a:r>
              <a:rPr lang="en-US" altLang="zh-CN" sz="2800" dirty="0" smtClean="0">
                <a:solidFill>
                  <a:schemeClr val="tx1">
                    <a:lumMod val="50000"/>
                  </a:schemeClr>
                </a:solidFill>
                <a:latin typeface="楷体_GB2312" pitchFamily="49" charset="-122"/>
                <a:ea typeface="楷体_GB2312" pitchFamily="49" charset="-122"/>
                <a:sym typeface="Symbol" pitchFamily="18" charset="2"/>
              </a:rPr>
              <a:t>13.1eV</a:t>
            </a:r>
          </a:p>
          <a:p>
            <a:pPr>
              <a:defRPr/>
            </a:pPr>
            <a:r>
              <a:rPr lang="zh-CN" altLang="en-US" sz="2800" dirty="0" smtClean="0">
                <a:solidFill>
                  <a:schemeClr val="tx1">
                    <a:lumMod val="50000"/>
                  </a:schemeClr>
                </a:solidFill>
                <a:latin typeface="楷体_GB2312" pitchFamily="49" charset="-122"/>
                <a:ea typeface="楷体_GB2312" pitchFamily="49" charset="-122"/>
                <a:sym typeface="Symbol" pitchFamily="18" charset="2"/>
              </a:rPr>
              <a:t>苯为</a:t>
            </a:r>
            <a:r>
              <a:rPr lang="en-US" altLang="zh-CN" sz="2800" dirty="0" smtClean="0">
                <a:solidFill>
                  <a:schemeClr val="tx1">
                    <a:lumMod val="50000"/>
                  </a:schemeClr>
                </a:solidFill>
                <a:latin typeface="楷体_GB2312" pitchFamily="49" charset="-122"/>
                <a:ea typeface="楷体_GB2312" pitchFamily="49" charset="-122"/>
                <a:sym typeface="Symbol" pitchFamily="18" charset="2"/>
              </a:rPr>
              <a:t>9.24eV</a:t>
            </a:r>
            <a:r>
              <a:rPr lang="zh-CN" altLang="zh-CN" sz="2800" dirty="0" smtClean="0">
                <a:latin typeface="楷体_GB2312" pitchFamily="49" charset="-122"/>
                <a:ea typeface="楷体_GB2312" pitchFamily="49" charset="-122"/>
              </a:rPr>
              <a:t> 。</a:t>
            </a:r>
            <a:endParaRPr lang="en-US" altLang="zh-CN" sz="2800" dirty="0" smtClean="0">
              <a:solidFill>
                <a:schemeClr val="tx1">
                  <a:lumMod val="50000"/>
                </a:schemeClr>
              </a:solidFill>
              <a:latin typeface="楷体_GB2312" pitchFamily="49" charset="-122"/>
              <a:ea typeface="楷体_GB2312" pitchFamily="49" charset="-122"/>
            </a:endParaRPr>
          </a:p>
          <a:p>
            <a:pPr>
              <a:defRPr/>
            </a:pPr>
            <a:r>
              <a:rPr lang="en-US" altLang="zh-CN" sz="2800" dirty="0" smtClean="0">
                <a:solidFill>
                  <a:schemeClr val="tx1">
                    <a:lumMod val="50000"/>
                  </a:schemeClr>
                </a:solidFill>
                <a:latin typeface="楷体_GB2312" pitchFamily="49" charset="-122"/>
                <a:ea typeface="楷体_GB2312" pitchFamily="49" charset="-122"/>
              </a:rPr>
              <a:t>  </a:t>
            </a:r>
            <a:r>
              <a:rPr lang="zh-CN" altLang="en-US" sz="2800" dirty="0" smtClean="0">
                <a:solidFill>
                  <a:schemeClr val="tx1">
                    <a:lumMod val="50000"/>
                  </a:schemeClr>
                </a:solidFill>
                <a:latin typeface="楷体_GB2312" pitchFamily="49" charset="-122"/>
                <a:ea typeface="楷体_GB2312" pitchFamily="49" charset="-122"/>
              </a:rPr>
              <a:t>常规</a:t>
            </a:r>
            <a:r>
              <a:rPr lang="en-US" altLang="zh-CN" sz="2800" dirty="0" smtClean="0">
                <a:solidFill>
                  <a:schemeClr val="tx1">
                    <a:lumMod val="50000"/>
                  </a:schemeClr>
                </a:solidFill>
                <a:latin typeface="楷体_GB2312" pitchFamily="49" charset="-122"/>
                <a:ea typeface="楷体_GB2312" pitchFamily="49" charset="-122"/>
              </a:rPr>
              <a:t>EI</a:t>
            </a:r>
            <a:r>
              <a:rPr lang="zh-CN" altLang="en-US" sz="2800" dirty="0" smtClean="0">
                <a:solidFill>
                  <a:schemeClr val="tx1">
                    <a:lumMod val="50000"/>
                  </a:schemeClr>
                </a:solidFill>
                <a:latin typeface="楷体_GB2312" pitchFamily="49" charset="-122"/>
                <a:ea typeface="楷体_GB2312" pitchFamily="49" charset="-122"/>
              </a:rPr>
              <a:t>源采用</a:t>
            </a:r>
            <a:r>
              <a:rPr lang="en-US" altLang="zh-CN" sz="2800" dirty="0" smtClean="0">
                <a:solidFill>
                  <a:srgbClr val="FF0000"/>
                </a:solidFill>
                <a:latin typeface="楷体_GB2312" pitchFamily="49" charset="-122"/>
                <a:ea typeface="楷体_GB2312" pitchFamily="49" charset="-122"/>
              </a:rPr>
              <a:t>70eV</a:t>
            </a:r>
            <a:r>
              <a:rPr lang="zh-CN" altLang="en-US" sz="2800" dirty="0" smtClean="0">
                <a:solidFill>
                  <a:srgbClr val="FF0000"/>
                </a:solidFill>
                <a:latin typeface="楷体_GB2312" pitchFamily="49" charset="-122"/>
                <a:ea typeface="楷体_GB2312" pitchFamily="49" charset="-122"/>
              </a:rPr>
              <a:t>的</a:t>
            </a:r>
            <a:r>
              <a:rPr lang="zh-CN" altLang="en-US" sz="2800" dirty="0" smtClean="0">
                <a:solidFill>
                  <a:schemeClr val="tx1">
                    <a:lumMod val="50000"/>
                  </a:schemeClr>
                </a:solidFill>
                <a:latin typeface="楷体_GB2312" pitchFamily="49" charset="-122"/>
                <a:ea typeface="楷体_GB2312" pitchFamily="49" charset="-122"/>
              </a:rPr>
              <a:t>轰击电子，</a:t>
            </a:r>
            <a:r>
              <a:rPr lang="zh-CN" altLang="zh-CN" sz="2800" dirty="0" smtClean="0">
                <a:solidFill>
                  <a:schemeClr val="tx1">
                    <a:lumMod val="50000"/>
                  </a:schemeClr>
                </a:solidFill>
                <a:latin typeface="楷体_GB2312" pitchFamily="49" charset="-122"/>
                <a:ea typeface="楷体_GB2312" pitchFamily="49" charset="-122"/>
              </a:rPr>
              <a:t>所以分子离子有较多剩余能量，能产生丰富的碎片离子</a:t>
            </a:r>
            <a:r>
              <a:rPr lang="zh-CN" altLang="zh-CN" sz="2800" dirty="0" smtClean="0">
                <a:latin typeface="楷体_GB2312" pitchFamily="49" charset="-122"/>
                <a:ea typeface="楷体_GB2312" pitchFamily="49" charset="-122"/>
              </a:rPr>
              <a:t>。</a:t>
            </a:r>
            <a:endParaRPr lang="zh-CN" altLang="en-US" sz="2800" dirty="0" smtClean="0">
              <a:latin typeface="楷体_GB2312" pitchFamily="49" charset="-122"/>
              <a:ea typeface="楷体_GB2312" pitchFamily="49" charset="-122"/>
            </a:endParaRPr>
          </a:p>
        </p:txBody>
      </p:sp>
      <p:pic>
        <p:nvPicPr>
          <p:cNvPr id="16390"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628775"/>
            <a:ext cx="43624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3"/>
          <p:cNvSpPr>
            <a:spLocks noGrp="1" noChangeArrowheads="1"/>
          </p:cNvSpPr>
          <p:nvPr>
            <p:ph type="title"/>
          </p:nvPr>
        </p:nvSpPr>
        <p:spPr>
          <a:xfrm>
            <a:off x="619125" y="620713"/>
            <a:ext cx="7772400" cy="838200"/>
          </a:xfrm>
        </p:spPr>
        <p:txBody>
          <a:bodyPr/>
          <a:lstStyle/>
          <a:p>
            <a:pPr eaLnBrk="1" hangingPunct="1"/>
            <a:r>
              <a:rPr lang="zh-CN" altLang="en-US" sz="3200" b="1" smtClean="0">
                <a:latin typeface="微软雅黑" pitchFamily="34" charset="-122"/>
                <a:ea typeface="微软雅黑" pitchFamily="34" charset="-122"/>
              </a:rPr>
              <a:t>有机分子电离、碎裂示意图</a:t>
            </a:r>
          </a:p>
        </p:txBody>
      </p:sp>
      <p:sp>
        <p:nvSpPr>
          <p:cNvPr id="26" name="日期占位符 3"/>
          <p:cNvSpPr>
            <a:spLocks noGrp="1"/>
          </p:cNvSpPr>
          <p:nvPr>
            <p:ph type="dt" sz="quarter" idx="10"/>
          </p:nvPr>
        </p:nvSpPr>
        <p:spPr/>
        <p:txBody>
          <a:bodyPr/>
          <a:lstStyle/>
          <a:p>
            <a:pPr>
              <a:defRPr/>
            </a:pPr>
            <a:fld id="{609B6087-C455-4164-B57B-9EA935C77536}" type="datetime1">
              <a:rPr lang="zh-CN" altLang="en-US"/>
              <a:pPr>
                <a:defRPr/>
              </a:pPr>
              <a:t>2020/10/21</a:t>
            </a:fld>
            <a:endParaRPr lang="en-US" altLang="zh-CN"/>
          </a:p>
        </p:txBody>
      </p:sp>
      <p:sp>
        <p:nvSpPr>
          <p:cNvPr id="28" name="灯片编号占位符 5"/>
          <p:cNvSpPr>
            <a:spLocks noGrp="1"/>
          </p:cNvSpPr>
          <p:nvPr>
            <p:ph type="sldNum" sz="quarter" idx="12"/>
          </p:nvPr>
        </p:nvSpPr>
        <p:spPr/>
        <p:txBody>
          <a:bodyPr/>
          <a:lstStyle/>
          <a:p>
            <a:pPr>
              <a:defRPr/>
            </a:pPr>
            <a:fld id="{2A96AA61-0103-4F56-A498-210F29A935CA}" type="slidenum">
              <a:rPr lang="en-US" altLang="zh-CN"/>
              <a:pPr>
                <a:defRPr/>
              </a:pPr>
              <a:t>10</a:t>
            </a:fld>
            <a:endParaRPr lang="en-US" altLang="zh-CN" sz="1400"/>
          </a:p>
        </p:txBody>
      </p:sp>
      <p:sp>
        <p:nvSpPr>
          <p:cNvPr id="17413" name="Text Box 4"/>
          <p:cNvSpPr txBox="1">
            <a:spLocks noChangeArrowheads="1"/>
          </p:cNvSpPr>
          <p:nvPr/>
        </p:nvSpPr>
        <p:spPr bwMode="auto">
          <a:xfrm>
            <a:off x="1066800" y="3200400"/>
            <a:ext cx="26352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ct val="20000"/>
              </a:spcBef>
              <a:buClr>
                <a:schemeClr val="bg2"/>
              </a:buClr>
              <a:buFont typeface="Monotype Sorts" pitchFamily="2" charset="2"/>
              <a:buNone/>
            </a:pPr>
            <a:r>
              <a:rPr lang="en-US" altLang="zh-CN" sz="2400">
                <a:latin typeface="Times New Roman" pitchFamily="18" charset="0"/>
              </a:rPr>
              <a:t>     ABCD  </a:t>
            </a:r>
            <a:r>
              <a:rPr lang="zh-CN" altLang="en-US" sz="2400">
                <a:latin typeface="Times New Roman" pitchFamily="18" charset="0"/>
              </a:rPr>
              <a:t>＋  </a:t>
            </a:r>
            <a:r>
              <a:rPr lang="en-US" altLang="zh-CN" sz="2400">
                <a:latin typeface="Times New Roman" pitchFamily="18" charset="0"/>
              </a:rPr>
              <a:t>e </a:t>
            </a:r>
          </a:p>
          <a:p>
            <a:pPr eaLnBrk="1" hangingPunct="1">
              <a:lnSpc>
                <a:spcPct val="115000"/>
              </a:lnSpc>
              <a:spcBef>
                <a:spcPct val="20000"/>
              </a:spcBef>
              <a:buClr>
                <a:schemeClr val="bg2"/>
              </a:buClr>
              <a:buFont typeface="Monotype Sorts" pitchFamily="2" charset="2"/>
              <a:buNone/>
            </a:pPr>
            <a:r>
              <a:rPr lang="en-US" altLang="zh-CN" sz="2400">
                <a:latin typeface="Times New Roman" pitchFamily="18" charset="0"/>
              </a:rPr>
              <a:t>(</a:t>
            </a:r>
            <a:r>
              <a:rPr lang="zh-CN" altLang="en-US" sz="2400">
                <a:solidFill>
                  <a:srgbClr val="990000"/>
                </a:solidFill>
                <a:latin typeface="Times New Roman" pitchFamily="18" charset="0"/>
              </a:rPr>
              <a:t>气态分子</a:t>
            </a:r>
            <a:r>
              <a:rPr lang="en-US" altLang="zh-CN" sz="2400">
                <a:latin typeface="Times New Roman" pitchFamily="18" charset="0"/>
              </a:rPr>
              <a:t>)  (</a:t>
            </a:r>
            <a:r>
              <a:rPr lang="en-US" altLang="zh-CN" sz="2400">
                <a:solidFill>
                  <a:srgbClr val="990000"/>
                </a:solidFill>
                <a:latin typeface="Times New Roman" pitchFamily="18" charset="0"/>
              </a:rPr>
              <a:t>70eV</a:t>
            </a:r>
            <a:r>
              <a:rPr lang="en-US" altLang="zh-CN" sz="2400">
                <a:latin typeface="Times New Roman" pitchFamily="18" charset="0"/>
              </a:rPr>
              <a:t>)</a:t>
            </a:r>
          </a:p>
        </p:txBody>
      </p:sp>
      <p:grpSp>
        <p:nvGrpSpPr>
          <p:cNvPr id="2" name="Group 35"/>
          <p:cNvGrpSpPr>
            <a:grpSpLocks/>
          </p:cNvGrpSpPr>
          <p:nvPr/>
        </p:nvGrpSpPr>
        <p:grpSpPr bwMode="auto">
          <a:xfrm>
            <a:off x="3505200" y="2133600"/>
            <a:ext cx="5148263" cy="3052763"/>
            <a:chOff x="2208" y="1344"/>
            <a:chExt cx="3243" cy="1923"/>
          </a:xfrm>
        </p:grpSpPr>
        <p:sp>
          <p:nvSpPr>
            <p:cNvPr id="17415" name="Text Box 25"/>
            <p:cNvSpPr txBox="1">
              <a:spLocks noChangeArrowheads="1"/>
            </p:cNvSpPr>
            <p:nvPr/>
          </p:nvSpPr>
          <p:spPr bwMode="auto">
            <a:xfrm>
              <a:off x="4896" y="1713"/>
              <a:ext cx="55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ea typeface="宋体" pitchFamily="2" charset="-122"/>
                </a:rPr>
                <a:t>A</a:t>
              </a:r>
              <a:r>
                <a:rPr lang="en-US" altLang="zh-CN" sz="2000" baseline="30000">
                  <a:latin typeface="Times New Roman" pitchFamily="18" charset="0"/>
                  <a:ea typeface="宋体" pitchFamily="2" charset="-122"/>
                </a:rPr>
                <a:t>+ </a:t>
              </a:r>
              <a:r>
                <a:rPr lang="en-US" altLang="zh-CN" sz="2000">
                  <a:latin typeface="Times New Roman" pitchFamily="18" charset="0"/>
                  <a:ea typeface="宋体" pitchFamily="2" charset="-122"/>
                </a:rPr>
                <a:t>+ B</a:t>
              </a:r>
            </a:p>
          </p:txBody>
        </p:sp>
        <p:grpSp>
          <p:nvGrpSpPr>
            <p:cNvPr id="17416" name="Group 32"/>
            <p:cNvGrpSpPr>
              <a:grpSpLocks/>
            </p:cNvGrpSpPr>
            <p:nvPr/>
          </p:nvGrpSpPr>
          <p:grpSpPr bwMode="auto">
            <a:xfrm>
              <a:off x="2208" y="1344"/>
              <a:ext cx="3078" cy="1923"/>
              <a:chOff x="2208" y="1082"/>
              <a:chExt cx="3078" cy="1923"/>
            </a:xfrm>
          </p:grpSpPr>
          <p:sp>
            <p:nvSpPr>
              <p:cNvPr id="17417" name="Text Box 6"/>
              <p:cNvSpPr txBox="1">
                <a:spLocks noChangeArrowheads="1"/>
              </p:cNvSpPr>
              <p:nvPr/>
            </p:nvSpPr>
            <p:spPr bwMode="auto">
              <a:xfrm>
                <a:off x="2640" y="1741"/>
                <a:ext cx="106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ct val="20000"/>
                  </a:spcBef>
                  <a:buClr>
                    <a:schemeClr val="bg2"/>
                  </a:buClr>
                  <a:buFont typeface="Monotype Sorts" pitchFamily="2" charset="2"/>
                  <a:buNone/>
                </a:pPr>
                <a:r>
                  <a:rPr lang="en-US" altLang="zh-CN" sz="2400">
                    <a:latin typeface="Times New Roman" pitchFamily="18" charset="0"/>
                  </a:rPr>
                  <a:t>   ABCD</a:t>
                </a:r>
                <a:r>
                  <a:rPr lang="en-US" altLang="zh-CN" sz="2400" baseline="30000">
                    <a:latin typeface="Times New Roman" pitchFamily="18" charset="0"/>
                  </a:rPr>
                  <a:t>+ ·</a:t>
                </a:r>
                <a:r>
                  <a:rPr lang="en-US" altLang="zh-CN" sz="2400">
                    <a:latin typeface="Times New Roman" pitchFamily="18" charset="0"/>
                  </a:rPr>
                  <a:t> </a:t>
                </a:r>
              </a:p>
              <a:p>
                <a:pPr eaLnBrk="1" hangingPunct="1">
                  <a:lnSpc>
                    <a:spcPct val="115000"/>
                  </a:lnSpc>
                  <a:spcBef>
                    <a:spcPct val="20000"/>
                  </a:spcBef>
                  <a:buClr>
                    <a:schemeClr val="bg2"/>
                  </a:buClr>
                  <a:buFont typeface="Monotype Sorts" pitchFamily="2" charset="2"/>
                  <a:buNone/>
                </a:pPr>
                <a:r>
                  <a:rPr lang="en-US" altLang="zh-CN" sz="2400">
                    <a:latin typeface="Times New Roman" pitchFamily="18" charset="0"/>
                  </a:rPr>
                  <a:t> (</a:t>
                </a:r>
                <a:r>
                  <a:rPr lang="zh-CN" altLang="en-US" sz="2400">
                    <a:latin typeface="Times New Roman" pitchFamily="18" charset="0"/>
                  </a:rPr>
                  <a:t>分子离子</a:t>
                </a:r>
                <a:r>
                  <a:rPr lang="en-US" altLang="zh-CN" sz="2400">
                    <a:latin typeface="Times New Roman" pitchFamily="18" charset="0"/>
                  </a:rPr>
                  <a:t>)</a:t>
                </a:r>
              </a:p>
            </p:txBody>
          </p:sp>
          <p:sp>
            <p:nvSpPr>
              <p:cNvPr id="17418" name="Rectangle 8"/>
              <p:cNvSpPr>
                <a:spLocks noChangeArrowheads="1"/>
              </p:cNvSpPr>
              <p:nvPr/>
            </p:nvSpPr>
            <p:spPr bwMode="auto">
              <a:xfrm>
                <a:off x="2208" y="1645"/>
                <a:ext cx="491"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15000"/>
                  </a:lnSpc>
                  <a:spcBef>
                    <a:spcPct val="20000"/>
                  </a:spcBef>
                  <a:buClr>
                    <a:schemeClr val="bg2"/>
                  </a:buClr>
                  <a:buFont typeface="Monotype Sorts" pitchFamily="2" charset="2"/>
                  <a:buNone/>
                </a:pPr>
                <a:r>
                  <a:rPr lang="zh-CN" altLang="en-US" sz="2400">
                    <a:latin typeface="Times New Roman" pitchFamily="18" charset="0"/>
                  </a:rPr>
                  <a:t>－</a:t>
                </a:r>
                <a:r>
                  <a:rPr lang="en-US" altLang="zh-CN" sz="2400">
                    <a:latin typeface="Times New Roman" pitchFamily="18" charset="0"/>
                  </a:rPr>
                  <a:t>2e</a:t>
                </a:r>
              </a:p>
            </p:txBody>
          </p:sp>
          <p:sp>
            <p:nvSpPr>
              <p:cNvPr id="17419" name="Line 12"/>
              <p:cNvSpPr>
                <a:spLocks noChangeShapeType="1"/>
              </p:cNvSpPr>
              <p:nvPr/>
            </p:nvSpPr>
            <p:spPr bwMode="auto">
              <a:xfrm>
                <a:off x="2208" y="1968"/>
                <a:ext cx="48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0" name="Line 13"/>
              <p:cNvSpPr>
                <a:spLocks noChangeShapeType="1"/>
              </p:cNvSpPr>
              <p:nvPr/>
            </p:nvSpPr>
            <p:spPr bwMode="auto">
              <a:xfrm>
                <a:off x="3696" y="1248"/>
                <a:ext cx="0" cy="1584"/>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1" name="Line 14"/>
              <p:cNvSpPr>
                <a:spLocks noChangeShapeType="1"/>
              </p:cNvSpPr>
              <p:nvPr/>
            </p:nvSpPr>
            <p:spPr bwMode="auto">
              <a:xfrm>
                <a:off x="3696" y="1248"/>
                <a:ext cx="28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2" name="Line 15"/>
              <p:cNvSpPr>
                <a:spLocks noChangeShapeType="1"/>
              </p:cNvSpPr>
              <p:nvPr/>
            </p:nvSpPr>
            <p:spPr bwMode="auto">
              <a:xfrm>
                <a:off x="3696" y="1968"/>
                <a:ext cx="28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3" name="Line 16"/>
              <p:cNvSpPr>
                <a:spLocks noChangeShapeType="1"/>
              </p:cNvSpPr>
              <p:nvPr/>
            </p:nvSpPr>
            <p:spPr bwMode="auto">
              <a:xfrm>
                <a:off x="3696" y="2256"/>
                <a:ext cx="28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4" name="Line 17"/>
              <p:cNvSpPr>
                <a:spLocks noChangeShapeType="1"/>
              </p:cNvSpPr>
              <p:nvPr/>
            </p:nvSpPr>
            <p:spPr bwMode="auto">
              <a:xfrm>
                <a:off x="3696" y="2592"/>
                <a:ext cx="288"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5" name="Text Box 18"/>
              <p:cNvSpPr txBox="1">
                <a:spLocks noChangeArrowheads="1"/>
              </p:cNvSpPr>
              <p:nvPr/>
            </p:nvSpPr>
            <p:spPr bwMode="auto">
              <a:xfrm>
                <a:off x="4022" y="1082"/>
                <a:ext cx="10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a:latin typeface="Times New Roman" pitchFamily="18" charset="0"/>
                    <a:ea typeface="宋体" pitchFamily="2" charset="-122"/>
                  </a:rPr>
                  <a:t>ABC</a:t>
                </a:r>
                <a:r>
                  <a:rPr lang="en-US" altLang="zh-CN" sz="2400" baseline="30000">
                    <a:latin typeface="Times New Roman" pitchFamily="18" charset="0"/>
                    <a:ea typeface="宋体" pitchFamily="2" charset="-122"/>
                  </a:rPr>
                  <a:t>+ </a:t>
                </a:r>
                <a:r>
                  <a:rPr lang="en-US" altLang="zh-CN" sz="2400">
                    <a:latin typeface="Times New Roman" pitchFamily="18" charset="0"/>
                    <a:ea typeface="宋体" pitchFamily="2" charset="-122"/>
                  </a:rPr>
                  <a:t>+ D </a:t>
                </a:r>
                <a:r>
                  <a:rPr lang="en-US" altLang="zh-CN" sz="2400" baseline="30000">
                    <a:latin typeface="Times New Roman" pitchFamily="18" charset="0"/>
                    <a:ea typeface="宋体" pitchFamily="2" charset="-122"/>
                  </a:rPr>
                  <a:t>·</a:t>
                </a:r>
              </a:p>
            </p:txBody>
          </p:sp>
          <p:sp>
            <p:nvSpPr>
              <p:cNvPr id="17426" name="Line 19"/>
              <p:cNvSpPr>
                <a:spLocks noChangeShapeType="1"/>
              </p:cNvSpPr>
              <p:nvPr/>
            </p:nvSpPr>
            <p:spPr bwMode="auto">
              <a:xfrm>
                <a:off x="4224" y="1344"/>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27" name="Line 21"/>
              <p:cNvSpPr>
                <a:spLocks noChangeShapeType="1"/>
              </p:cNvSpPr>
              <p:nvPr/>
            </p:nvSpPr>
            <p:spPr bwMode="auto">
              <a:xfrm>
                <a:off x="4224" y="1440"/>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28" name="Text Box 22"/>
              <p:cNvSpPr txBox="1">
                <a:spLocks noChangeArrowheads="1"/>
              </p:cNvSpPr>
              <p:nvPr/>
            </p:nvSpPr>
            <p:spPr bwMode="auto">
              <a:xfrm>
                <a:off x="4502" y="1274"/>
                <a:ext cx="7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a:latin typeface="Times New Roman" pitchFamily="18" charset="0"/>
                    <a:ea typeface="宋体" pitchFamily="2" charset="-122"/>
                  </a:rPr>
                  <a:t>AB</a:t>
                </a:r>
                <a:r>
                  <a:rPr lang="en-US" altLang="zh-CN" sz="2400" baseline="30000">
                    <a:latin typeface="Times New Roman" pitchFamily="18" charset="0"/>
                    <a:ea typeface="宋体" pitchFamily="2" charset="-122"/>
                  </a:rPr>
                  <a:t>+ </a:t>
                </a:r>
                <a:r>
                  <a:rPr lang="en-US" altLang="zh-CN" sz="2400">
                    <a:latin typeface="Times New Roman" pitchFamily="18" charset="0"/>
                    <a:ea typeface="宋体" pitchFamily="2" charset="-122"/>
                  </a:rPr>
                  <a:t>+ C</a:t>
                </a:r>
              </a:p>
            </p:txBody>
          </p:sp>
          <p:sp>
            <p:nvSpPr>
              <p:cNvPr id="17429" name="Line 23"/>
              <p:cNvSpPr>
                <a:spLocks noChangeShapeType="1"/>
              </p:cNvSpPr>
              <p:nvPr/>
            </p:nvSpPr>
            <p:spPr bwMode="auto">
              <a:xfrm>
                <a:off x="4656" y="1488"/>
                <a:ext cx="0" cy="96"/>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7430" name="Line 24"/>
              <p:cNvSpPr>
                <a:spLocks noChangeShapeType="1"/>
              </p:cNvSpPr>
              <p:nvPr/>
            </p:nvSpPr>
            <p:spPr bwMode="auto">
              <a:xfrm>
                <a:off x="4656" y="1584"/>
                <a:ext cx="24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7431" name="Text Box 26"/>
              <p:cNvSpPr txBox="1">
                <a:spLocks noChangeArrowheads="1"/>
              </p:cNvSpPr>
              <p:nvPr/>
            </p:nvSpPr>
            <p:spPr bwMode="auto">
              <a:xfrm>
                <a:off x="3974" y="1802"/>
                <a:ext cx="10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a:latin typeface="Times New Roman" pitchFamily="18" charset="0"/>
                    <a:ea typeface="宋体" pitchFamily="2" charset="-122"/>
                  </a:rPr>
                  <a:t>ABC </a:t>
                </a:r>
                <a:r>
                  <a:rPr lang="en-US" altLang="zh-CN" sz="2400" baseline="30000">
                    <a:latin typeface="Times New Roman" pitchFamily="18" charset="0"/>
                    <a:ea typeface="宋体" pitchFamily="2" charset="-122"/>
                  </a:rPr>
                  <a:t>· </a:t>
                </a:r>
                <a:r>
                  <a:rPr lang="en-US" altLang="zh-CN" sz="2400">
                    <a:latin typeface="Times New Roman" pitchFamily="18" charset="0"/>
                    <a:ea typeface="宋体" pitchFamily="2" charset="-122"/>
                  </a:rPr>
                  <a:t>+ D</a:t>
                </a:r>
                <a:r>
                  <a:rPr lang="en-US" altLang="zh-CN" sz="2400" baseline="30000">
                    <a:latin typeface="Times New Roman" pitchFamily="18" charset="0"/>
                    <a:ea typeface="宋体" pitchFamily="2" charset="-122"/>
                  </a:rPr>
                  <a:t>+</a:t>
                </a:r>
              </a:p>
            </p:txBody>
          </p:sp>
          <p:sp>
            <p:nvSpPr>
              <p:cNvPr id="17432" name="Text Box 27"/>
              <p:cNvSpPr txBox="1">
                <a:spLocks noChangeArrowheads="1"/>
              </p:cNvSpPr>
              <p:nvPr/>
            </p:nvSpPr>
            <p:spPr bwMode="auto">
              <a:xfrm>
                <a:off x="3974" y="2090"/>
                <a:ext cx="9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a:latin typeface="Times New Roman" pitchFamily="18" charset="0"/>
                    <a:ea typeface="宋体" pitchFamily="2" charset="-122"/>
                  </a:rPr>
                  <a:t>AB</a:t>
                </a:r>
                <a:r>
                  <a:rPr lang="en-US" altLang="zh-CN" sz="2400" baseline="30000">
                    <a:latin typeface="Times New Roman" pitchFamily="18" charset="0"/>
                    <a:ea typeface="宋体" pitchFamily="2" charset="-122"/>
                  </a:rPr>
                  <a:t>+</a:t>
                </a:r>
                <a:r>
                  <a:rPr lang="en-US" altLang="zh-CN" sz="2400">
                    <a:latin typeface="Times New Roman" pitchFamily="18" charset="0"/>
                    <a:ea typeface="宋体" pitchFamily="2" charset="-122"/>
                  </a:rPr>
                  <a:t>+CD</a:t>
                </a:r>
                <a:r>
                  <a:rPr lang="en-US" altLang="zh-CN" sz="2400" baseline="30000">
                    <a:latin typeface="Times New Roman" pitchFamily="18" charset="0"/>
                    <a:ea typeface="宋体" pitchFamily="2" charset="-122"/>
                  </a:rPr>
                  <a:t> ·</a:t>
                </a:r>
              </a:p>
            </p:txBody>
          </p:sp>
          <p:sp>
            <p:nvSpPr>
              <p:cNvPr id="17433" name="Text Box 28"/>
              <p:cNvSpPr txBox="1">
                <a:spLocks noChangeArrowheads="1"/>
              </p:cNvSpPr>
              <p:nvPr/>
            </p:nvSpPr>
            <p:spPr bwMode="auto">
              <a:xfrm>
                <a:off x="4022" y="2426"/>
                <a:ext cx="9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a:latin typeface="Times New Roman" pitchFamily="18" charset="0"/>
                    <a:ea typeface="宋体" pitchFamily="2" charset="-122"/>
                  </a:rPr>
                  <a:t>AD</a:t>
                </a:r>
                <a:r>
                  <a:rPr lang="en-US" altLang="zh-CN" sz="2400" baseline="30000">
                    <a:latin typeface="Times New Roman" pitchFamily="18" charset="0"/>
                    <a:ea typeface="宋体" pitchFamily="2" charset="-122"/>
                  </a:rPr>
                  <a:t>+ ·</a:t>
                </a:r>
                <a:r>
                  <a:rPr lang="en-US" altLang="zh-CN" sz="2400">
                    <a:latin typeface="Times New Roman" pitchFamily="18" charset="0"/>
                    <a:ea typeface="宋体" pitchFamily="2" charset="-122"/>
                  </a:rPr>
                  <a:t> +BC</a:t>
                </a:r>
              </a:p>
            </p:txBody>
          </p:sp>
          <p:sp>
            <p:nvSpPr>
              <p:cNvPr id="17434" name="Text Box 30"/>
              <p:cNvSpPr txBox="1">
                <a:spLocks noChangeArrowheads="1"/>
              </p:cNvSpPr>
              <p:nvPr/>
            </p:nvSpPr>
            <p:spPr bwMode="auto">
              <a:xfrm>
                <a:off x="4121" y="2755"/>
                <a:ext cx="34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400" b="0">
                    <a:latin typeface="Times New Roman" pitchFamily="18" charset="0"/>
                    <a:ea typeface="宋体" pitchFamily="2" charset="-122"/>
                  </a:rPr>
                  <a:t>…</a:t>
                </a:r>
              </a:p>
            </p:txBody>
          </p:sp>
          <p:sp>
            <p:nvSpPr>
              <p:cNvPr id="17435" name="Line 31"/>
              <p:cNvSpPr>
                <a:spLocks noChangeShapeType="1"/>
              </p:cNvSpPr>
              <p:nvPr/>
            </p:nvSpPr>
            <p:spPr bwMode="auto">
              <a:xfrm>
                <a:off x="3552" y="1968"/>
                <a:ext cx="144"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1"/>
          <p:cNvSpPr>
            <a:spLocks noGrp="1"/>
          </p:cNvSpPr>
          <p:nvPr>
            <p:ph type="dt" sz="quarter" idx="10"/>
          </p:nvPr>
        </p:nvSpPr>
        <p:spPr/>
        <p:txBody>
          <a:bodyPr/>
          <a:lstStyle/>
          <a:p>
            <a:pPr>
              <a:defRPr/>
            </a:pPr>
            <a:fld id="{C7FD5D3D-40B9-4EBE-9E3F-575DEA9ECCAE}" type="datetime1">
              <a:rPr lang="zh-CN" altLang="en-US"/>
              <a:pPr>
                <a:defRPr/>
              </a:pPr>
              <a:t>2020/10/21</a:t>
            </a:fld>
            <a:endParaRPr lang="en-US" altLang="zh-CN"/>
          </a:p>
        </p:txBody>
      </p:sp>
      <p:sp>
        <p:nvSpPr>
          <p:cNvPr id="7" name="灯片编号占位符 3"/>
          <p:cNvSpPr>
            <a:spLocks noGrp="1"/>
          </p:cNvSpPr>
          <p:nvPr>
            <p:ph type="sldNum" sz="quarter" idx="12"/>
          </p:nvPr>
        </p:nvSpPr>
        <p:spPr/>
        <p:txBody>
          <a:bodyPr/>
          <a:lstStyle/>
          <a:p>
            <a:pPr>
              <a:defRPr/>
            </a:pPr>
            <a:fld id="{1C94D633-9ED0-4954-A70B-D6AC1FD260B1}" type="slidenum">
              <a:rPr lang="en-US" altLang="zh-CN"/>
              <a:pPr>
                <a:defRPr/>
              </a:pPr>
              <a:t>11</a:t>
            </a:fld>
            <a:endParaRPr lang="en-US" altLang="zh-CN" sz="1400"/>
          </a:p>
        </p:txBody>
      </p:sp>
      <p:sp>
        <p:nvSpPr>
          <p:cNvPr id="18436" name="Rectangle 2"/>
          <p:cNvSpPr>
            <a:spLocks noChangeArrowheads="1"/>
          </p:cNvSpPr>
          <p:nvPr/>
        </p:nvSpPr>
        <p:spPr bwMode="auto">
          <a:xfrm>
            <a:off x="365125" y="1125538"/>
            <a:ext cx="8763000" cy="416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30000"/>
              </a:lnSpc>
              <a:spcBef>
                <a:spcPct val="50000"/>
              </a:spcBef>
              <a:buClr>
                <a:srgbClr val="CC00CC"/>
              </a:buClr>
              <a:buFont typeface="Wingdings" pitchFamily="2" charset="2"/>
              <a:buNone/>
            </a:pPr>
            <a:r>
              <a:rPr lang="zh-CN" altLang="en-US" sz="3200">
                <a:latin typeface="微软雅黑" pitchFamily="34" charset="-122"/>
                <a:ea typeface="微软雅黑" pitchFamily="34" charset="-122"/>
              </a:rPr>
              <a:t>重排离子</a:t>
            </a:r>
          </a:p>
          <a:p>
            <a:pPr>
              <a:lnSpc>
                <a:spcPct val="130000"/>
              </a:lnSpc>
              <a:spcBef>
                <a:spcPct val="50000"/>
              </a:spcBef>
              <a:buClr>
                <a:srgbClr val="CC00CC"/>
              </a:buClr>
              <a:buFont typeface="Wingdings" pitchFamily="2" charset="2"/>
              <a:buNone/>
            </a:pPr>
            <a:r>
              <a:rPr lang="zh-CN" altLang="en-US" sz="2400"/>
              <a:t>    </a:t>
            </a:r>
            <a:r>
              <a:rPr lang="zh-CN" altLang="en-US" sz="2400">
                <a:solidFill>
                  <a:srgbClr val="000000"/>
                </a:solidFill>
              </a:rPr>
              <a:t>离子碎裂过程中还可能</a:t>
            </a:r>
            <a:r>
              <a:rPr lang="zh-CN" altLang="en-US" sz="2400">
                <a:solidFill>
                  <a:srgbClr val="FF0000"/>
                </a:solidFill>
              </a:rPr>
              <a:t>发生原子连接次序的变化</a:t>
            </a:r>
            <a:r>
              <a:rPr lang="zh-CN" altLang="en-US" sz="2400">
                <a:solidFill>
                  <a:srgbClr val="000000"/>
                </a:solidFill>
              </a:rPr>
              <a:t>，即在断键的同时还有新化学键的生成，如</a:t>
            </a:r>
            <a:r>
              <a:rPr lang="en-US" altLang="zh-CN" sz="2400">
                <a:solidFill>
                  <a:srgbClr val="000000"/>
                </a:solidFill>
                <a:latin typeface="Times New Roman" pitchFamily="18" charset="0"/>
              </a:rPr>
              <a:t>ABCD</a:t>
            </a:r>
            <a:r>
              <a:rPr lang="en-US" altLang="zh-CN" sz="2400" baseline="30000">
                <a:solidFill>
                  <a:srgbClr val="000000"/>
                </a:solidFill>
                <a:latin typeface="Times New Roman" pitchFamily="18" charset="0"/>
              </a:rPr>
              <a:t>+      </a:t>
            </a:r>
            <a:r>
              <a:rPr lang="en-US" altLang="zh-CN" sz="2400">
                <a:solidFill>
                  <a:srgbClr val="000000"/>
                </a:solidFill>
                <a:latin typeface="Times New Roman" pitchFamily="18" charset="0"/>
                <a:ea typeface="宋体" pitchFamily="2" charset="-122"/>
              </a:rPr>
              <a:t>AD</a:t>
            </a:r>
            <a:r>
              <a:rPr lang="en-US" altLang="zh-CN" sz="2400" baseline="30000">
                <a:solidFill>
                  <a:srgbClr val="000000"/>
                </a:solidFill>
                <a:latin typeface="Times New Roman" pitchFamily="18" charset="0"/>
                <a:ea typeface="宋体" pitchFamily="2" charset="-122"/>
              </a:rPr>
              <a:t>+ ·</a:t>
            </a:r>
            <a:r>
              <a:rPr lang="en-US" altLang="zh-CN" sz="2400">
                <a:solidFill>
                  <a:srgbClr val="000000"/>
                </a:solidFill>
                <a:latin typeface="Times New Roman" pitchFamily="18" charset="0"/>
                <a:ea typeface="宋体" pitchFamily="2" charset="-122"/>
              </a:rPr>
              <a:t> +BC</a:t>
            </a:r>
            <a:r>
              <a:rPr lang="zh-CN" altLang="en-US" sz="2400">
                <a:solidFill>
                  <a:srgbClr val="000000"/>
                </a:solidFill>
                <a:latin typeface="Times New Roman" pitchFamily="18" charset="0"/>
                <a:ea typeface="宋体" pitchFamily="2" charset="-122"/>
              </a:rPr>
              <a:t>中的</a:t>
            </a:r>
            <a:r>
              <a:rPr lang="en-US" altLang="zh-CN" sz="2400">
                <a:solidFill>
                  <a:srgbClr val="000000"/>
                </a:solidFill>
                <a:latin typeface="Times New Roman" pitchFamily="18" charset="0"/>
                <a:ea typeface="宋体" pitchFamily="2" charset="-122"/>
              </a:rPr>
              <a:t>AD</a:t>
            </a:r>
            <a:r>
              <a:rPr lang="en-US" altLang="zh-CN" sz="2400" baseline="30000">
                <a:solidFill>
                  <a:srgbClr val="000000"/>
                </a:solidFill>
                <a:latin typeface="Times New Roman" pitchFamily="18" charset="0"/>
                <a:ea typeface="宋体" pitchFamily="2" charset="-122"/>
              </a:rPr>
              <a:t>+ ·</a:t>
            </a:r>
          </a:p>
          <a:p>
            <a:pPr>
              <a:lnSpc>
                <a:spcPct val="130000"/>
              </a:lnSpc>
              <a:spcBef>
                <a:spcPct val="50000"/>
              </a:spcBef>
              <a:buClr>
                <a:srgbClr val="CC00CC"/>
              </a:buClr>
              <a:buFont typeface="Wingdings" pitchFamily="2" charset="2"/>
              <a:buNone/>
            </a:pPr>
            <a:r>
              <a:rPr lang="zh-CN" altLang="en-US" sz="2400">
                <a:solidFill>
                  <a:srgbClr val="000000"/>
                </a:solidFill>
                <a:latin typeface="Times New Roman" pitchFamily="18" charset="0"/>
              </a:rPr>
              <a:t>就是重排离子。</a:t>
            </a:r>
          </a:p>
          <a:p>
            <a:pPr>
              <a:lnSpc>
                <a:spcPct val="130000"/>
              </a:lnSpc>
              <a:spcBef>
                <a:spcPct val="50000"/>
              </a:spcBef>
              <a:buClr>
                <a:srgbClr val="CC00CC"/>
              </a:buClr>
              <a:buFont typeface="Wingdings 3" pitchFamily="18" charset="2"/>
              <a:buChar char="p"/>
            </a:pPr>
            <a:r>
              <a:rPr lang="zh-CN" altLang="en-US" sz="2400">
                <a:solidFill>
                  <a:srgbClr val="C00000"/>
                </a:solidFill>
              </a:rPr>
              <a:t>注意：</a:t>
            </a:r>
            <a:r>
              <a:rPr lang="zh-CN" altLang="en-US" sz="2400">
                <a:solidFill>
                  <a:srgbClr val="000000"/>
                </a:solidFill>
              </a:rPr>
              <a:t>如果分子中含有较多弱键，过高的剩余能量将导致分子离子大部分甚至全部断裂，</a:t>
            </a:r>
            <a:r>
              <a:rPr lang="zh-CN" altLang="en-US" sz="2400">
                <a:solidFill>
                  <a:srgbClr val="FF0000"/>
                </a:solidFill>
              </a:rPr>
              <a:t>质谱图上将不出现分子离子峰</a:t>
            </a:r>
            <a:r>
              <a:rPr lang="zh-CN" altLang="en-US" sz="2400">
                <a:solidFill>
                  <a:srgbClr val="000000"/>
                </a:solidFill>
              </a:rPr>
              <a:t>，给化合物分子量测定来了困难</a:t>
            </a:r>
            <a:r>
              <a:rPr lang="en-US" altLang="zh-CN" sz="2400">
                <a:solidFill>
                  <a:srgbClr val="000000"/>
                </a:solidFill>
              </a:rPr>
              <a:t>.</a:t>
            </a:r>
            <a:endParaRPr lang="en-US" altLang="zh-CN">
              <a:solidFill>
                <a:srgbClr val="000000"/>
              </a:solidFill>
            </a:endParaRPr>
          </a:p>
        </p:txBody>
      </p:sp>
      <p:sp>
        <p:nvSpPr>
          <p:cNvPr id="18437" name="Line 3"/>
          <p:cNvSpPr>
            <a:spLocks noChangeShapeType="1"/>
          </p:cNvSpPr>
          <p:nvPr/>
        </p:nvSpPr>
        <p:spPr bwMode="auto">
          <a:xfrm>
            <a:off x="6019800" y="2438400"/>
            <a:ext cx="2286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spAutoFit/>
          </a:bodyPr>
          <a:lstStyle/>
          <a:p>
            <a:endParaRPr lang="zh-CN" altLang="en-US"/>
          </a:p>
        </p:txBody>
      </p:sp>
      <p:sp>
        <p:nvSpPr>
          <p:cNvPr id="18438" name="Line 5"/>
          <p:cNvSpPr>
            <a:spLocks noChangeShapeType="1"/>
          </p:cNvSpPr>
          <p:nvPr/>
        </p:nvSpPr>
        <p:spPr bwMode="auto">
          <a:xfrm>
            <a:off x="6057900" y="2681288"/>
            <a:ext cx="304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title"/>
          </p:nvPr>
        </p:nvSpPr>
        <p:spPr>
          <a:xfrm>
            <a:off x="611188" y="908050"/>
            <a:ext cx="2362200" cy="685800"/>
          </a:xfrm>
        </p:spPr>
        <p:txBody>
          <a:bodyPr/>
          <a:lstStyle/>
          <a:p>
            <a:pPr eaLnBrk="1" hangingPunct="1"/>
            <a:r>
              <a:rPr lang="en-US" altLang="zh-CN" sz="3200" b="1" smtClean="0">
                <a:latin typeface="微软雅黑" pitchFamily="34" charset="-122"/>
                <a:ea typeface="微软雅黑" pitchFamily="34" charset="-122"/>
                <a:cs typeface="Times New Roman" pitchFamily="18" charset="0"/>
              </a:rPr>
              <a:t>  EI</a:t>
            </a:r>
            <a:r>
              <a:rPr lang="zh-CN" altLang="zh-CN" sz="3200" b="1" smtClean="0">
                <a:latin typeface="微软雅黑" pitchFamily="34" charset="-122"/>
                <a:ea typeface="微软雅黑" pitchFamily="34" charset="-122"/>
                <a:cs typeface="Times New Roman" pitchFamily="18" charset="0"/>
              </a:rPr>
              <a:t>的</a:t>
            </a:r>
            <a:r>
              <a:rPr lang="zh-CN" altLang="en-US" sz="3200" b="1" smtClean="0">
                <a:latin typeface="微软雅黑" pitchFamily="34" charset="-122"/>
                <a:ea typeface="微软雅黑" pitchFamily="34" charset="-122"/>
                <a:cs typeface="Times New Roman" pitchFamily="18" charset="0"/>
              </a:rPr>
              <a:t>特点</a:t>
            </a:r>
          </a:p>
        </p:txBody>
      </p:sp>
      <p:sp>
        <p:nvSpPr>
          <p:cNvPr id="4" name="日期占位符 3"/>
          <p:cNvSpPr>
            <a:spLocks noGrp="1"/>
          </p:cNvSpPr>
          <p:nvPr>
            <p:ph type="dt" sz="quarter" idx="10"/>
          </p:nvPr>
        </p:nvSpPr>
        <p:spPr/>
        <p:txBody>
          <a:bodyPr/>
          <a:lstStyle/>
          <a:p>
            <a:pPr>
              <a:defRPr/>
            </a:pPr>
            <a:fld id="{BC9E7275-6444-42D4-ACC3-51DE184A9970}" type="datetime1">
              <a:rPr lang="zh-CN" altLang="en-US"/>
              <a:pPr>
                <a:defRPr/>
              </a:pPr>
              <a:t>2020/10/21</a:t>
            </a:fld>
            <a:endParaRPr lang="en-US" altLang="zh-CN"/>
          </a:p>
        </p:txBody>
      </p:sp>
      <p:sp>
        <p:nvSpPr>
          <p:cNvPr id="6" name="灯片编号占位符 5"/>
          <p:cNvSpPr>
            <a:spLocks noGrp="1"/>
          </p:cNvSpPr>
          <p:nvPr>
            <p:ph type="sldNum" sz="quarter" idx="12"/>
          </p:nvPr>
        </p:nvSpPr>
        <p:spPr/>
        <p:txBody>
          <a:bodyPr/>
          <a:lstStyle/>
          <a:p>
            <a:pPr>
              <a:defRPr/>
            </a:pPr>
            <a:fld id="{DD044984-9F41-4F33-A13B-560FA97FCDAD}" type="slidenum">
              <a:rPr lang="en-US" altLang="zh-CN"/>
              <a:pPr>
                <a:defRPr/>
              </a:pPr>
              <a:t>12</a:t>
            </a:fld>
            <a:endParaRPr lang="en-US" altLang="zh-CN" sz="1400"/>
          </a:p>
        </p:txBody>
      </p:sp>
      <p:sp>
        <p:nvSpPr>
          <p:cNvPr id="19461" name="Text Box 4"/>
          <p:cNvSpPr txBox="1">
            <a:spLocks noChangeArrowheads="1"/>
          </p:cNvSpPr>
          <p:nvPr/>
        </p:nvSpPr>
        <p:spPr bwMode="auto">
          <a:xfrm>
            <a:off x="468313" y="1752600"/>
            <a:ext cx="8447087"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30000"/>
              </a:lnSpc>
              <a:spcBef>
                <a:spcPct val="20000"/>
              </a:spcBef>
              <a:buClr>
                <a:srgbClr val="CC00CC"/>
              </a:buClr>
              <a:buFont typeface="Wingdings" pitchFamily="2" charset="2"/>
              <a:buChar char="v"/>
            </a:pPr>
            <a:r>
              <a:rPr lang="zh-CN" altLang="en-US">
                <a:solidFill>
                  <a:srgbClr val="000000"/>
                </a:solidFill>
              </a:rPr>
              <a:t>方法成熟，是经典、常规的有机物电离方法。已积累了数万张标准谱图；</a:t>
            </a:r>
          </a:p>
          <a:p>
            <a:pPr algn="just" eaLnBrk="1" hangingPunct="1">
              <a:lnSpc>
                <a:spcPct val="130000"/>
              </a:lnSpc>
              <a:buClr>
                <a:srgbClr val="CC00CC"/>
              </a:buClr>
              <a:buFont typeface="Wingdings" pitchFamily="2" charset="2"/>
              <a:buChar char="v"/>
            </a:pPr>
            <a:r>
              <a:rPr lang="zh-CN" altLang="en-US">
                <a:solidFill>
                  <a:srgbClr val="000000"/>
                </a:solidFill>
              </a:rPr>
              <a:t>碎片离子提供丰富的结构信息；</a:t>
            </a:r>
          </a:p>
          <a:p>
            <a:pPr algn="just" eaLnBrk="1" hangingPunct="1">
              <a:lnSpc>
                <a:spcPct val="130000"/>
              </a:lnSpc>
              <a:buClr>
                <a:srgbClr val="CC00CC"/>
              </a:buClr>
              <a:buFont typeface="Wingdings" pitchFamily="2" charset="2"/>
              <a:buChar char="v"/>
            </a:pPr>
            <a:r>
              <a:rPr lang="zh-CN" altLang="en-US">
                <a:solidFill>
                  <a:srgbClr val="000000"/>
                </a:solidFill>
              </a:rPr>
              <a:t>灵敏度高，能检测纳克（</a:t>
            </a:r>
            <a:r>
              <a:rPr lang="en-US" altLang="zh-CN">
                <a:solidFill>
                  <a:srgbClr val="000000"/>
                </a:solidFill>
              </a:rPr>
              <a:t>ng</a:t>
            </a:r>
            <a:r>
              <a:rPr lang="zh-CN" altLang="en-US">
                <a:solidFill>
                  <a:srgbClr val="000000"/>
                </a:solidFill>
              </a:rPr>
              <a:t>）级样品；</a:t>
            </a:r>
          </a:p>
          <a:p>
            <a:pPr algn="just" eaLnBrk="1" hangingPunct="1">
              <a:lnSpc>
                <a:spcPct val="130000"/>
              </a:lnSpc>
              <a:buClr>
                <a:srgbClr val="CC00CC"/>
              </a:buClr>
              <a:buFont typeface="Wingdings" pitchFamily="2" charset="2"/>
              <a:buChar char="v"/>
            </a:pPr>
            <a:r>
              <a:rPr lang="zh-CN" altLang="en-US">
                <a:solidFill>
                  <a:srgbClr val="000000"/>
                </a:solidFill>
              </a:rPr>
              <a:t>相对其他质谱电离技术，重复性好；</a:t>
            </a:r>
          </a:p>
          <a:p>
            <a:pPr algn="just" eaLnBrk="1" hangingPunct="1">
              <a:lnSpc>
                <a:spcPct val="130000"/>
              </a:lnSpc>
              <a:buClr>
                <a:srgbClr val="CC00CC"/>
              </a:buClr>
              <a:buFont typeface="Wingdings" pitchFamily="2" charset="2"/>
              <a:buChar char="v"/>
            </a:pPr>
            <a:r>
              <a:rPr lang="zh-CN" altLang="en-US">
                <a:solidFill>
                  <a:srgbClr val="000000"/>
                </a:solidFill>
              </a:rPr>
              <a:t>离子源的结构简单，操作方便，是商品质谱计的基本配置。</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txBox="1">
            <a:spLocks noGrp="1"/>
          </p:cNvSpPr>
          <p:nvPr/>
        </p:nvSpPr>
        <p:spPr bwMode="auto">
          <a:xfrm>
            <a:off x="1066800" y="6413500"/>
            <a:ext cx="1905000" cy="457200"/>
          </a:xfrm>
          <a:prstGeom prst="rect">
            <a:avLst/>
          </a:prstGeom>
          <a:noFill/>
          <a:ln>
            <a:miter lim="800000"/>
            <a:headEnd/>
            <a:tailEnd/>
          </a:ln>
        </p:spPr>
        <p:txBody>
          <a:bodyPr anchor="b"/>
          <a:lstStyle/>
          <a:p>
            <a:pPr>
              <a:lnSpc>
                <a:spcPct val="100000"/>
              </a:lnSpc>
              <a:defRPr/>
            </a:pPr>
            <a:fld id="{BC9E7275-6444-42D4-ACC3-51DE184A9970}" type="datetime1">
              <a:rPr kumimoji="0" lang="zh-CN" altLang="en-US" sz="1400" b="0">
                <a:solidFill>
                  <a:schemeClr val="tx2"/>
                </a:solidFill>
                <a:latin typeface="+mn-lt"/>
                <a:ea typeface="+mn-ea"/>
              </a:rPr>
              <a:pPr>
                <a:lnSpc>
                  <a:spcPct val="100000"/>
                </a:lnSpc>
                <a:defRPr/>
              </a:pPr>
              <a:t>2020/10/21</a:t>
            </a:fld>
            <a:endParaRPr kumimoji="0" lang="en-US" altLang="zh-CN" sz="1400" b="0">
              <a:solidFill>
                <a:schemeClr val="tx2"/>
              </a:solidFill>
              <a:latin typeface="+mn-lt"/>
              <a:ea typeface="+mn-ea"/>
            </a:endParaRPr>
          </a:p>
        </p:txBody>
      </p:sp>
      <p:sp>
        <p:nvSpPr>
          <p:cNvPr id="6" name="灯片编号占位符 5"/>
          <p:cNvSpPr txBox="1">
            <a:spLocks noGrp="1"/>
          </p:cNvSpPr>
          <p:nvPr/>
        </p:nvSpPr>
        <p:spPr bwMode="auto">
          <a:xfrm>
            <a:off x="8229600" y="6413500"/>
            <a:ext cx="914400" cy="457200"/>
          </a:xfrm>
          <a:prstGeom prst="rect">
            <a:avLst/>
          </a:prstGeom>
          <a:noFill/>
          <a:ln>
            <a:miter lim="800000"/>
            <a:headEnd/>
            <a:tailEnd/>
          </a:ln>
        </p:spPr>
        <p:txBody>
          <a:bodyPr anchor="b"/>
          <a:lstStyle/>
          <a:p>
            <a:pPr algn="r">
              <a:lnSpc>
                <a:spcPct val="100000"/>
              </a:lnSpc>
              <a:defRPr/>
            </a:pPr>
            <a:fld id="{9994EDB5-0AED-49F2-9698-243E51A1A8E4}" type="slidenum">
              <a:rPr kumimoji="0" lang="en-US" altLang="zh-CN" sz="2400" b="0">
                <a:solidFill>
                  <a:schemeClr val="tx2"/>
                </a:solidFill>
                <a:latin typeface="+mn-lt"/>
                <a:ea typeface="+mn-ea"/>
              </a:rPr>
              <a:pPr algn="r">
                <a:lnSpc>
                  <a:spcPct val="100000"/>
                </a:lnSpc>
                <a:defRPr/>
              </a:pPr>
              <a:t>13</a:t>
            </a:fld>
            <a:endParaRPr kumimoji="0" lang="en-US" altLang="zh-CN" sz="1400" b="0">
              <a:solidFill>
                <a:schemeClr val="tx2"/>
              </a:solidFill>
              <a:latin typeface="+mn-lt"/>
              <a:ea typeface="+mn-ea"/>
            </a:endParaRPr>
          </a:p>
        </p:txBody>
      </p:sp>
      <p:sp>
        <p:nvSpPr>
          <p:cNvPr id="20484" name="Text Box 4"/>
          <p:cNvSpPr txBox="1">
            <a:spLocks noChangeArrowheads="1"/>
          </p:cNvSpPr>
          <p:nvPr/>
        </p:nvSpPr>
        <p:spPr bwMode="auto">
          <a:xfrm>
            <a:off x="900113" y="1773238"/>
            <a:ext cx="7681912" cy="377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30000"/>
              </a:lnSpc>
              <a:spcBef>
                <a:spcPct val="20000"/>
              </a:spcBef>
              <a:buClr>
                <a:srgbClr val="CC00CC"/>
              </a:buClr>
              <a:buFont typeface="Wingdings" pitchFamily="2" charset="2"/>
              <a:buChar char="v"/>
            </a:pPr>
            <a:endParaRPr lang="zh-CN" altLang="en-US" sz="2400">
              <a:solidFill>
                <a:srgbClr val="000000"/>
              </a:solidFill>
            </a:endParaRPr>
          </a:p>
          <a:p>
            <a:pPr algn="just" eaLnBrk="1" hangingPunct="1">
              <a:lnSpc>
                <a:spcPct val="130000"/>
              </a:lnSpc>
              <a:buClr>
                <a:srgbClr val="CC00CC"/>
              </a:buClr>
              <a:buFont typeface="Wingdings" pitchFamily="2" charset="2"/>
              <a:buChar char="v"/>
            </a:pPr>
            <a:r>
              <a:rPr lang="en-US" altLang="zh-CN" sz="3200">
                <a:solidFill>
                  <a:srgbClr val="000000"/>
                </a:solidFill>
              </a:rPr>
              <a:t>70eV</a:t>
            </a:r>
            <a:r>
              <a:rPr lang="zh-CN" altLang="en-US" sz="3200">
                <a:solidFill>
                  <a:srgbClr val="000000"/>
                </a:solidFill>
              </a:rPr>
              <a:t>轰击能量使部分化合物分子离子峰信号太弱或不出现；</a:t>
            </a:r>
            <a:endParaRPr lang="en-US" altLang="zh-CN" sz="3200">
              <a:solidFill>
                <a:srgbClr val="000000"/>
              </a:solidFill>
            </a:endParaRPr>
          </a:p>
          <a:p>
            <a:pPr algn="just" eaLnBrk="1" hangingPunct="1">
              <a:lnSpc>
                <a:spcPct val="130000"/>
              </a:lnSpc>
              <a:buClr>
                <a:srgbClr val="CC00CC"/>
              </a:buClr>
              <a:buFont typeface="Wingdings" pitchFamily="2" charset="2"/>
              <a:buChar char="v"/>
            </a:pPr>
            <a:endParaRPr lang="zh-CN" altLang="en-US" sz="3200">
              <a:solidFill>
                <a:srgbClr val="000000"/>
              </a:solidFill>
            </a:endParaRPr>
          </a:p>
          <a:p>
            <a:pPr algn="just" eaLnBrk="1" hangingPunct="1">
              <a:lnSpc>
                <a:spcPct val="130000"/>
              </a:lnSpc>
              <a:buClr>
                <a:srgbClr val="CC00CC"/>
              </a:buClr>
              <a:buFont typeface="Wingdings" pitchFamily="2" charset="2"/>
              <a:buChar char="v"/>
            </a:pPr>
            <a:r>
              <a:rPr lang="zh-CN" altLang="en-US" sz="3200">
                <a:solidFill>
                  <a:srgbClr val="000000"/>
                </a:solidFill>
              </a:rPr>
              <a:t> 要求样品先气化然后才能电离，限制了应用范围。</a:t>
            </a:r>
          </a:p>
        </p:txBody>
      </p:sp>
      <p:sp>
        <p:nvSpPr>
          <p:cNvPr id="20485" name="Rectangle 7"/>
          <p:cNvSpPr>
            <a:spLocks noGrp="1" noChangeArrowheads="1"/>
          </p:cNvSpPr>
          <p:nvPr>
            <p:ph type="title" idx="4294967295"/>
          </p:nvPr>
        </p:nvSpPr>
        <p:spPr>
          <a:xfrm>
            <a:off x="292100" y="1196975"/>
            <a:ext cx="3454400" cy="685800"/>
          </a:xfrm>
        </p:spPr>
        <p:txBody>
          <a:bodyPr/>
          <a:lstStyle/>
          <a:p>
            <a:pPr eaLnBrk="1" hangingPunct="1"/>
            <a:r>
              <a:rPr lang="en-US" altLang="zh-CN" sz="3200" b="1" smtClean="0">
                <a:solidFill>
                  <a:srgbClr val="C00000"/>
                </a:solidFill>
                <a:latin typeface="Times New Roman" pitchFamily="18" charset="0"/>
                <a:cs typeface="Times New Roman" pitchFamily="18" charset="0"/>
              </a:rPr>
              <a:t>  </a:t>
            </a:r>
            <a:r>
              <a:rPr lang="en-US" altLang="zh-CN" sz="3200" b="1" smtClean="0">
                <a:latin typeface="微软雅黑" pitchFamily="34" charset="-122"/>
                <a:ea typeface="微软雅黑" pitchFamily="34" charset="-122"/>
                <a:cs typeface="Times New Roman" pitchFamily="18" charset="0"/>
              </a:rPr>
              <a:t>EI</a:t>
            </a:r>
            <a:r>
              <a:rPr lang="zh-CN" altLang="zh-CN" sz="3200" b="1" smtClean="0">
                <a:latin typeface="微软雅黑" pitchFamily="34" charset="-122"/>
                <a:ea typeface="微软雅黑" pitchFamily="34" charset="-122"/>
                <a:cs typeface="Times New Roman" pitchFamily="18" charset="0"/>
              </a:rPr>
              <a:t>的</a:t>
            </a:r>
            <a:r>
              <a:rPr lang="zh-CN" altLang="en-US" sz="3200" b="1" smtClean="0">
                <a:latin typeface="微软雅黑" pitchFamily="34" charset="-122"/>
                <a:ea typeface="微软雅黑" pitchFamily="34" charset="-122"/>
                <a:cs typeface="Times New Roman" pitchFamily="18" charset="0"/>
              </a:rPr>
              <a:t>不足之处</a:t>
            </a:r>
            <a:endParaRPr lang="zh-CN" altLang="en-US" sz="3200" b="1" smtClean="0">
              <a:solidFill>
                <a:srgbClr val="C00000"/>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4213" y="1196975"/>
            <a:ext cx="8229600" cy="865188"/>
          </a:xfrm>
        </p:spPr>
        <p:txBody>
          <a:bodyPr/>
          <a:lstStyle/>
          <a:p>
            <a:pPr eaLnBrk="1" hangingPunct="1"/>
            <a:r>
              <a:rPr lang="zh-CN" altLang="en-US" sz="3800" b="1" smtClean="0">
                <a:latin typeface="微软雅黑" pitchFamily="34" charset="-122"/>
                <a:ea typeface="微软雅黑" pitchFamily="34" charset="-122"/>
              </a:rPr>
              <a:t>软电离方法</a:t>
            </a:r>
          </a:p>
        </p:txBody>
      </p:sp>
      <p:sp>
        <p:nvSpPr>
          <p:cNvPr id="17" name="日期占位符 3"/>
          <p:cNvSpPr>
            <a:spLocks noGrp="1"/>
          </p:cNvSpPr>
          <p:nvPr>
            <p:ph type="dt" sz="quarter" idx="10"/>
          </p:nvPr>
        </p:nvSpPr>
        <p:spPr/>
        <p:txBody>
          <a:bodyPr/>
          <a:lstStyle/>
          <a:p>
            <a:pPr>
              <a:defRPr/>
            </a:pPr>
            <a:fld id="{C1BB6227-8C83-419C-B599-893648E9BBDD}" type="datetime1">
              <a:rPr lang="zh-CN" altLang="en-US"/>
              <a:pPr>
                <a:defRPr/>
              </a:pPr>
              <a:t>2020/10/21</a:t>
            </a:fld>
            <a:endParaRPr lang="en-US" altLang="zh-CN"/>
          </a:p>
        </p:txBody>
      </p:sp>
      <p:sp>
        <p:nvSpPr>
          <p:cNvPr id="19" name="灯片编号占位符 5"/>
          <p:cNvSpPr>
            <a:spLocks noGrp="1"/>
          </p:cNvSpPr>
          <p:nvPr>
            <p:ph type="sldNum" sz="quarter" idx="12"/>
          </p:nvPr>
        </p:nvSpPr>
        <p:spPr/>
        <p:txBody>
          <a:bodyPr/>
          <a:lstStyle/>
          <a:p>
            <a:pPr>
              <a:defRPr/>
            </a:pPr>
            <a:fld id="{A80DAA94-C4CD-4848-AAAB-74499DACC67F}" type="slidenum">
              <a:rPr lang="en-US" altLang="zh-CN"/>
              <a:pPr>
                <a:defRPr/>
              </a:pPr>
              <a:t>14</a:t>
            </a:fld>
            <a:endParaRPr lang="en-US" altLang="zh-CN" sz="1400"/>
          </a:p>
        </p:txBody>
      </p:sp>
      <p:sp>
        <p:nvSpPr>
          <p:cNvPr id="21509" name="Line 4"/>
          <p:cNvSpPr>
            <a:spLocks noChangeShapeType="1"/>
          </p:cNvSpPr>
          <p:nvPr/>
        </p:nvSpPr>
        <p:spPr bwMode="auto">
          <a:xfrm>
            <a:off x="1187450" y="981075"/>
            <a:ext cx="7543800" cy="0"/>
          </a:xfrm>
          <a:prstGeom prst="line">
            <a:avLst/>
          </a:prstGeom>
          <a:noFill/>
          <a:ln w="15875">
            <a:solidFill>
              <a:srgbClr val="F67B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10" name="Rectangle 7"/>
          <p:cNvSpPr>
            <a:spLocks noChangeArrowheads="1"/>
          </p:cNvSpPr>
          <p:nvPr/>
        </p:nvSpPr>
        <p:spPr bwMode="auto">
          <a:xfrm>
            <a:off x="1619250" y="2205038"/>
            <a:ext cx="670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化学电离法</a:t>
            </a:r>
            <a:endParaRPr lang="en-US" altLang="zh-CN">
              <a:solidFill>
                <a:srgbClr val="000000"/>
              </a:solidFill>
              <a:latin typeface="Times New Roman" pitchFamily="18" charset="0"/>
              <a:ea typeface="宋体" pitchFamily="2" charset="-122"/>
            </a:endParaRPr>
          </a:p>
        </p:txBody>
      </p:sp>
      <p:sp>
        <p:nvSpPr>
          <p:cNvPr id="21511" name="Rectangle 8"/>
          <p:cNvSpPr>
            <a:spLocks noChangeArrowheads="1"/>
          </p:cNvSpPr>
          <p:nvPr/>
        </p:nvSpPr>
        <p:spPr bwMode="auto">
          <a:xfrm>
            <a:off x="1619250" y="34290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快原子轰击法和二次离子质谱法</a:t>
            </a:r>
            <a:endParaRPr lang="en-US" altLang="zh-CN">
              <a:solidFill>
                <a:srgbClr val="000000"/>
              </a:solidFill>
              <a:latin typeface="Times New Roman" pitchFamily="18" charset="0"/>
              <a:ea typeface="宋体" pitchFamily="2" charset="-122"/>
            </a:endParaRPr>
          </a:p>
        </p:txBody>
      </p:sp>
      <p:sp>
        <p:nvSpPr>
          <p:cNvPr id="21512" name="Rectangle 9"/>
          <p:cNvSpPr>
            <a:spLocks noChangeArrowheads="1"/>
          </p:cNvSpPr>
          <p:nvPr/>
        </p:nvSpPr>
        <p:spPr bwMode="auto">
          <a:xfrm>
            <a:off x="1619250" y="4292600"/>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电喷雾电离法</a:t>
            </a:r>
            <a:endParaRPr lang="en-US" altLang="zh-CN">
              <a:solidFill>
                <a:srgbClr val="000000"/>
              </a:solidFill>
              <a:latin typeface="Times New Roman" pitchFamily="18" charset="0"/>
              <a:ea typeface="宋体" pitchFamily="2" charset="-122"/>
            </a:endParaRPr>
          </a:p>
        </p:txBody>
      </p:sp>
      <p:sp>
        <p:nvSpPr>
          <p:cNvPr id="21513" name="Rectangle 10"/>
          <p:cNvSpPr>
            <a:spLocks noChangeArrowheads="1"/>
          </p:cNvSpPr>
          <p:nvPr/>
        </p:nvSpPr>
        <p:spPr bwMode="auto">
          <a:xfrm>
            <a:off x="1619250" y="3860800"/>
            <a:ext cx="861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基质辅助激光解析电离法</a:t>
            </a:r>
            <a:endParaRPr lang="en-US" altLang="zh-CN">
              <a:solidFill>
                <a:srgbClr val="000000"/>
              </a:solidFill>
              <a:latin typeface="Times New Roman" pitchFamily="18" charset="0"/>
              <a:ea typeface="宋体" pitchFamily="2" charset="-122"/>
            </a:endParaRPr>
          </a:p>
        </p:txBody>
      </p:sp>
      <p:sp>
        <p:nvSpPr>
          <p:cNvPr id="21514" name="Rectangle 11"/>
          <p:cNvSpPr>
            <a:spLocks noChangeArrowheads="1"/>
          </p:cNvSpPr>
          <p:nvPr/>
        </p:nvSpPr>
        <p:spPr bwMode="auto">
          <a:xfrm>
            <a:off x="1619250" y="2997200"/>
            <a:ext cx="861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场解析电离法</a:t>
            </a:r>
          </a:p>
        </p:txBody>
      </p:sp>
      <p:sp>
        <p:nvSpPr>
          <p:cNvPr id="21515" name="AutoShape 14"/>
          <p:cNvSpPr>
            <a:spLocks/>
          </p:cNvSpPr>
          <p:nvPr/>
        </p:nvSpPr>
        <p:spPr bwMode="auto">
          <a:xfrm>
            <a:off x="539750" y="2636838"/>
            <a:ext cx="360363" cy="3313112"/>
          </a:xfrm>
          <a:prstGeom prst="leftBrace">
            <a:avLst>
              <a:gd name="adj1" fmla="val 76615"/>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spAutoFit/>
          </a:bodyPr>
          <a:lstStyle/>
          <a:p>
            <a:endParaRPr lang="zh-CN" altLang="en-US"/>
          </a:p>
        </p:txBody>
      </p:sp>
      <p:sp>
        <p:nvSpPr>
          <p:cNvPr id="21516" name="Rectangle 11"/>
          <p:cNvSpPr>
            <a:spLocks noChangeArrowheads="1"/>
          </p:cNvSpPr>
          <p:nvPr/>
        </p:nvSpPr>
        <p:spPr bwMode="auto">
          <a:xfrm>
            <a:off x="1619250" y="2636838"/>
            <a:ext cx="8610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90000"/>
              </a:lnSpc>
              <a:spcBef>
                <a:spcPct val="20000"/>
              </a:spcBef>
              <a:buClr>
                <a:srgbClr val="A50021"/>
              </a:buClr>
              <a:buSzPct val="75000"/>
              <a:buFont typeface="Wingdings" pitchFamily="2" charset="2"/>
              <a:buChar char="n"/>
            </a:pPr>
            <a:r>
              <a:rPr lang="zh-CN" altLang="en-US">
                <a:solidFill>
                  <a:srgbClr val="000000"/>
                </a:solidFill>
                <a:latin typeface="Times New Roman" pitchFamily="18" charset="0"/>
                <a:ea typeface="宋体" pitchFamily="2" charset="-122"/>
              </a:rPr>
              <a:t>场致电离法</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title"/>
          </p:nvPr>
        </p:nvSpPr>
        <p:spPr>
          <a:xfrm>
            <a:off x="533400" y="838200"/>
            <a:ext cx="3657600" cy="609600"/>
          </a:xfrm>
        </p:spPr>
        <p:txBody>
          <a:bodyPr/>
          <a:lstStyle/>
          <a:p>
            <a:pPr eaLnBrk="1" hangingPunct="1"/>
            <a:r>
              <a:rPr lang="zh-CN" altLang="en-US" sz="3200" b="1" smtClean="0">
                <a:latin typeface="微软雅黑" pitchFamily="34" charset="-122"/>
                <a:ea typeface="微软雅黑" pitchFamily="34" charset="-122"/>
              </a:rPr>
              <a:t>软电离技术的特点</a:t>
            </a:r>
            <a:endParaRPr lang="zh-CN" altLang="en-US" sz="3200" b="1" smtClean="0">
              <a:solidFill>
                <a:srgbClr val="0000B6"/>
              </a:solidFill>
              <a:latin typeface="楷体_GB2312" pitchFamily="49" charset="-122"/>
              <a:ea typeface="楷体_GB2312" pitchFamily="49" charset="-122"/>
            </a:endParaRPr>
          </a:p>
        </p:txBody>
      </p:sp>
      <p:sp>
        <p:nvSpPr>
          <p:cNvPr id="8" name="日期占位符 3"/>
          <p:cNvSpPr>
            <a:spLocks noGrp="1"/>
          </p:cNvSpPr>
          <p:nvPr>
            <p:ph type="dt" sz="quarter" idx="10"/>
          </p:nvPr>
        </p:nvSpPr>
        <p:spPr/>
        <p:txBody>
          <a:bodyPr/>
          <a:lstStyle/>
          <a:p>
            <a:pPr>
              <a:defRPr/>
            </a:pPr>
            <a:fld id="{442F7951-8B09-4F10-98B8-E44A454A195B}" type="datetime1">
              <a:rPr lang="zh-CN" altLang="en-US"/>
              <a:pPr>
                <a:defRPr/>
              </a:pPr>
              <a:t>2020/10/21</a:t>
            </a:fld>
            <a:endParaRPr lang="en-US" altLang="zh-CN"/>
          </a:p>
        </p:txBody>
      </p:sp>
      <p:sp>
        <p:nvSpPr>
          <p:cNvPr id="10" name="灯片编号占位符 5"/>
          <p:cNvSpPr>
            <a:spLocks noGrp="1"/>
          </p:cNvSpPr>
          <p:nvPr>
            <p:ph type="sldNum" sz="quarter" idx="12"/>
          </p:nvPr>
        </p:nvSpPr>
        <p:spPr/>
        <p:txBody>
          <a:bodyPr/>
          <a:lstStyle/>
          <a:p>
            <a:pPr>
              <a:defRPr/>
            </a:pPr>
            <a:fld id="{673ABE45-58C6-4380-BE09-907021B64448}" type="slidenum">
              <a:rPr lang="en-US" altLang="zh-CN"/>
              <a:pPr>
                <a:defRPr/>
              </a:pPr>
              <a:t>15</a:t>
            </a:fld>
            <a:endParaRPr lang="en-US" altLang="zh-CN" sz="1400"/>
          </a:p>
        </p:txBody>
      </p:sp>
      <p:grpSp>
        <p:nvGrpSpPr>
          <p:cNvPr id="22533" name="Group 8"/>
          <p:cNvGrpSpPr>
            <a:grpSpLocks/>
          </p:cNvGrpSpPr>
          <p:nvPr/>
        </p:nvGrpSpPr>
        <p:grpSpPr bwMode="auto">
          <a:xfrm>
            <a:off x="457200" y="3563938"/>
            <a:ext cx="8686800" cy="3294062"/>
            <a:chOff x="720" y="2016"/>
            <a:chExt cx="4800" cy="2075"/>
          </a:xfrm>
        </p:grpSpPr>
        <p:pic>
          <p:nvPicPr>
            <p:cNvPr id="225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 y="2016"/>
              <a:ext cx="4800" cy="1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Text Box 6"/>
            <p:cNvSpPr txBox="1">
              <a:spLocks noChangeArrowheads="1"/>
            </p:cNvSpPr>
            <p:nvPr/>
          </p:nvSpPr>
          <p:spPr bwMode="auto">
            <a:xfrm>
              <a:off x="1968" y="3768"/>
              <a:ext cx="2152"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5000"/>
                </a:lnSpc>
                <a:spcBef>
                  <a:spcPct val="20000"/>
                </a:spcBef>
                <a:buClr>
                  <a:schemeClr val="bg2"/>
                </a:buClr>
                <a:buFont typeface="Monotype Sorts" pitchFamily="2" charset="2"/>
                <a:buNone/>
              </a:pPr>
              <a:r>
                <a:rPr lang="zh-CN" altLang="en-US" sz="2400">
                  <a:solidFill>
                    <a:srgbClr val="990000"/>
                  </a:solidFill>
                  <a:latin typeface="Times New Roman" pitchFamily="18" charset="0"/>
                  <a:ea typeface="宋体" pitchFamily="2" charset="-122"/>
                </a:rPr>
                <a:t>脯氨酸的</a:t>
              </a:r>
              <a:r>
                <a:rPr lang="en-US" altLang="zh-CN" sz="2400">
                  <a:solidFill>
                    <a:srgbClr val="990000"/>
                  </a:solidFill>
                  <a:latin typeface="Times New Roman" pitchFamily="18" charset="0"/>
                  <a:ea typeface="宋体" pitchFamily="2" charset="-122"/>
                </a:rPr>
                <a:t>EIMS</a:t>
              </a:r>
              <a:r>
                <a:rPr lang="zh-CN" altLang="zh-CN" sz="2400">
                  <a:solidFill>
                    <a:srgbClr val="990000"/>
                  </a:solidFill>
                  <a:latin typeface="Times New Roman" pitchFamily="18" charset="0"/>
                  <a:ea typeface="宋体" pitchFamily="2" charset="-122"/>
                </a:rPr>
                <a:t>和</a:t>
              </a:r>
              <a:r>
                <a:rPr lang="en-US" altLang="zh-CN" sz="2400">
                  <a:solidFill>
                    <a:srgbClr val="990000"/>
                  </a:solidFill>
                  <a:latin typeface="Times New Roman" pitchFamily="18" charset="0"/>
                  <a:ea typeface="宋体" pitchFamily="2" charset="-122"/>
                </a:rPr>
                <a:t>CIMS</a:t>
              </a:r>
              <a:r>
                <a:rPr lang="zh-CN" altLang="zh-CN" sz="2400">
                  <a:solidFill>
                    <a:srgbClr val="990000"/>
                  </a:solidFill>
                  <a:latin typeface="Times New Roman" pitchFamily="18" charset="0"/>
                  <a:ea typeface="宋体" pitchFamily="2" charset="-122"/>
                </a:rPr>
                <a:t>比较</a:t>
              </a:r>
              <a:endParaRPr lang="zh-CN" altLang="en-US" sz="2000">
                <a:solidFill>
                  <a:srgbClr val="CC0000"/>
                </a:solidFill>
                <a:latin typeface="Times New Roman" pitchFamily="18" charset="0"/>
                <a:ea typeface="宋体" pitchFamily="2" charset="-122"/>
              </a:endParaRPr>
            </a:p>
          </p:txBody>
        </p:sp>
      </p:grpSp>
      <p:sp>
        <p:nvSpPr>
          <p:cNvPr id="22534" name="Text Box 7"/>
          <p:cNvSpPr txBox="1">
            <a:spLocks noChangeArrowheads="1"/>
          </p:cNvSpPr>
          <p:nvPr/>
        </p:nvSpPr>
        <p:spPr bwMode="auto">
          <a:xfrm>
            <a:off x="609600" y="1447800"/>
            <a:ext cx="8305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buClr>
                <a:srgbClr val="CC00CC"/>
              </a:buClr>
              <a:buFont typeface="Wingdings" pitchFamily="2" charset="2"/>
              <a:buChar char="v"/>
            </a:pPr>
            <a:r>
              <a:rPr lang="en-US" altLang="zh-CN" sz="2400"/>
              <a:t> </a:t>
            </a:r>
            <a:r>
              <a:rPr lang="zh-CN" altLang="en-US" sz="2400">
                <a:solidFill>
                  <a:srgbClr val="000000"/>
                </a:solidFill>
              </a:rPr>
              <a:t>用温和的、低能量的方式使分子电离，实现分子量测定的目的，如</a:t>
            </a:r>
            <a:r>
              <a:rPr lang="en-US" altLang="zh-CN" sz="2400">
                <a:solidFill>
                  <a:srgbClr val="000000"/>
                </a:solidFill>
                <a:latin typeface="Times New Roman" pitchFamily="18" charset="0"/>
              </a:rPr>
              <a:t>CI</a:t>
            </a:r>
            <a:r>
              <a:rPr lang="zh-CN" altLang="en-US" sz="2400">
                <a:solidFill>
                  <a:srgbClr val="000000"/>
                </a:solidFill>
              </a:rPr>
              <a:t>。</a:t>
            </a:r>
            <a:endParaRPr lang="en-US" altLang="zh-CN" sz="2400">
              <a:solidFill>
                <a:srgbClr val="000000"/>
              </a:solidFill>
            </a:endParaRPr>
          </a:p>
          <a:p>
            <a:pPr eaLnBrk="1" hangingPunct="1">
              <a:lnSpc>
                <a:spcPct val="100000"/>
              </a:lnSpc>
              <a:buClr>
                <a:srgbClr val="CC00CC"/>
              </a:buClr>
              <a:buFont typeface="Wingdings" pitchFamily="2" charset="2"/>
              <a:buChar char="v"/>
            </a:pPr>
            <a:endParaRPr lang="zh-CN" altLang="en-US" sz="2400">
              <a:solidFill>
                <a:srgbClr val="000000"/>
              </a:solidFill>
            </a:endParaRPr>
          </a:p>
          <a:p>
            <a:pPr eaLnBrk="1" hangingPunct="1">
              <a:lnSpc>
                <a:spcPct val="100000"/>
              </a:lnSpc>
              <a:buClr>
                <a:srgbClr val="CC00CC"/>
              </a:buClr>
              <a:buFont typeface="Wingdings" pitchFamily="2" charset="2"/>
              <a:buChar char="v"/>
            </a:pPr>
            <a:r>
              <a:rPr lang="zh-CN" altLang="en-US" sz="2400">
                <a:solidFill>
                  <a:srgbClr val="000000"/>
                </a:solidFill>
              </a:rPr>
              <a:t> 使液、固样品不经气化直接电离，解决难挥发、热不稳定样品的测定，如</a:t>
            </a:r>
            <a:r>
              <a:rPr lang="en-US" altLang="zh-CN" sz="2400">
                <a:solidFill>
                  <a:srgbClr val="000000"/>
                </a:solidFill>
                <a:latin typeface="Times New Roman" pitchFamily="18" charset="0"/>
              </a:rPr>
              <a:t>FAB</a:t>
            </a:r>
            <a:r>
              <a:rPr lang="zh-CN" altLang="zh-CN" sz="2400">
                <a:solidFill>
                  <a:srgbClr val="000000"/>
                </a:solidFill>
              </a:rPr>
              <a:t>等。</a:t>
            </a:r>
            <a:endParaRPr lang="zh-CN" altLang="en-US" sz="2400">
              <a:solidFill>
                <a:srgbClr val="000000"/>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066800" y="838200"/>
            <a:ext cx="7010400" cy="838200"/>
          </a:xfrm>
        </p:spPr>
        <p:txBody>
          <a:bodyPr/>
          <a:lstStyle/>
          <a:p>
            <a:pPr eaLnBrk="1" hangingPunct="1"/>
            <a:r>
              <a:rPr lang="zh-CN" altLang="en-US" sz="3600" b="1" smtClean="0">
                <a:latin typeface="微软雅黑" pitchFamily="34" charset="-122"/>
                <a:ea typeface="微软雅黑" pitchFamily="34" charset="-122"/>
              </a:rPr>
              <a:t>离子的分离原理</a:t>
            </a:r>
          </a:p>
        </p:txBody>
      </p:sp>
      <p:sp>
        <p:nvSpPr>
          <p:cNvPr id="23555" name="Rectangle 3"/>
          <p:cNvSpPr>
            <a:spLocks noGrp="1" noChangeArrowheads="1"/>
          </p:cNvSpPr>
          <p:nvPr>
            <p:ph idx="1"/>
          </p:nvPr>
        </p:nvSpPr>
        <p:spPr>
          <a:xfrm>
            <a:off x="611188" y="1981200"/>
            <a:ext cx="7416800" cy="4114800"/>
          </a:xfrm>
        </p:spPr>
        <p:txBody>
          <a:bodyPr/>
          <a:lstStyle/>
          <a:p>
            <a:pPr eaLnBrk="1" hangingPunct="1"/>
            <a:r>
              <a:rPr lang="zh-CN" altLang="en-US" sz="2800" b="1" smtClean="0">
                <a:solidFill>
                  <a:srgbClr val="000000"/>
                </a:solidFill>
                <a:latin typeface="楷体_GB2312" pitchFamily="49" charset="-122"/>
                <a:ea typeface="楷体_GB2312" pitchFamily="49" charset="-122"/>
              </a:rPr>
              <a:t>离子的分离是按质荷比在质量分析器进行的。</a:t>
            </a:r>
          </a:p>
          <a:p>
            <a:pPr eaLnBrk="1" hangingPunct="1"/>
            <a:r>
              <a:rPr lang="zh-CN" altLang="en-US" sz="2800" b="1" smtClean="0">
                <a:solidFill>
                  <a:srgbClr val="0000B6"/>
                </a:solidFill>
                <a:latin typeface="楷体_GB2312" pitchFamily="49" charset="-122"/>
                <a:ea typeface="楷体_GB2312" pitchFamily="49" charset="-122"/>
              </a:rPr>
              <a:t>常用的质量分析器：</a:t>
            </a:r>
            <a:r>
              <a:rPr lang="zh-CN" altLang="en-US" sz="2800" b="1" smtClean="0">
                <a:latin typeface="楷体_GB2312" pitchFamily="49" charset="-122"/>
                <a:ea typeface="楷体_GB2312" pitchFamily="49" charset="-122"/>
              </a:rPr>
              <a:t> </a:t>
            </a:r>
          </a:p>
          <a:p>
            <a:pPr lvl="1" eaLnBrk="1" hangingPunct="1"/>
            <a:r>
              <a:rPr lang="zh-CN" altLang="en-US" b="1" smtClean="0">
                <a:solidFill>
                  <a:srgbClr val="000000"/>
                </a:solidFill>
                <a:latin typeface="楷体_GB2312" pitchFamily="49" charset="-122"/>
                <a:ea typeface="楷体_GB2312" pitchFamily="49" charset="-122"/>
              </a:rPr>
              <a:t>磁偏转质量分析器 </a:t>
            </a:r>
          </a:p>
          <a:p>
            <a:pPr lvl="1" eaLnBrk="1" hangingPunct="1"/>
            <a:r>
              <a:rPr lang="zh-CN" altLang="en-US" b="1" smtClean="0">
                <a:solidFill>
                  <a:srgbClr val="000000"/>
                </a:solidFill>
                <a:latin typeface="楷体_GB2312" pitchFamily="49" charset="-122"/>
                <a:ea typeface="楷体_GB2312" pitchFamily="49" charset="-122"/>
              </a:rPr>
              <a:t>四极质量分析器 </a:t>
            </a:r>
          </a:p>
          <a:p>
            <a:pPr lvl="1" eaLnBrk="1" hangingPunct="1"/>
            <a:r>
              <a:rPr lang="zh-CN" altLang="en-US" b="1" smtClean="0">
                <a:solidFill>
                  <a:srgbClr val="000000"/>
                </a:solidFill>
                <a:latin typeface="楷体_GB2312" pitchFamily="49" charset="-122"/>
                <a:ea typeface="楷体_GB2312" pitchFamily="49" charset="-122"/>
              </a:rPr>
              <a:t>离子阱质量分析器 </a:t>
            </a:r>
          </a:p>
          <a:p>
            <a:pPr lvl="1" eaLnBrk="1" hangingPunct="1"/>
            <a:r>
              <a:rPr lang="zh-CN" altLang="en-US" b="1" smtClean="0">
                <a:solidFill>
                  <a:srgbClr val="000000"/>
                </a:solidFill>
                <a:latin typeface="楷体_GB2312" pitchFamily="49" charset="-122"/>
                <a:ea typeface="楷体_GB2312" pitchFamily="49" charset="-122"/>
              </a:rPr>
              <a:t>飞行时间质量分析器</a:t>
            </a:r>
            <a:endParaRPr lang="en-US" altLang="zh-CN" b="1" smtClean="0">
              <a:solidFill>
                <a:srgbClr val="000000"/>
              </a:solidFill>
              <a:latin typeface="楷体_GB2312" pitchFamily="49" charset="-122"/>
              <a:ea typeface="楷体_GB2312" pitchFamily="49" charset="-122"/>
            </a:endParaRPr>
          </a:p>
          <a:p>
            <a:pPr lvl="1" eaLnBrk="1" hangingPunct="1"/>
            <a:r>
              <a:rPr lang="zh-CN" altLang="en-US" b="1" smtClean="0">
                <a:solidFill>
                  <a:srgbClr val="000000"/>
                </a:solidFill>
                <a:latin typeface="楷体_GB2312" pitchFamily="49" charset="-122"/>
                <a:ea typeface="楷体_GB2312" pitchFamily="49" charset="-122"/>
              </a:rPr>
              <a:t>傅里叶变换质量分析器</a:t>
            </a:r>
          </a:p>
        </p:txBody>
      </p:sp>
      <p:sp>
        <p:nvSpPr>
          <p:cNvPr id="4" name="日期占位符 3"/>
          <p:cNvSpPr>
            <a:spLocks noGrp="1"/>
          </p:cNvSpPr>
          <p:nvPr>
            <p:ph type="dt" sz="quarter" idx="10"/>
          </p:nvPr>
        </p:nvSpPr>
        <p:spPr/>
        <p:txBody>
          <a:bodyPr/>
          <a:lstStyle/>
          <a:p>
            <a:pPr>
              <a:defRPr/>
            </a:pPr>
            <a:fld id="{3D426CE2-6E77-4180-B9EE-A370448130F9}" type="datetime1">
              <a:rPr lang="zh-CN" altLang="en-US"/>
              <a:pPr>
                <a:defRPr/>
              </a:pPr>
              <a:t>2020/10/21</a:t>
            </a:fld>
            <a:endParaRPr lang="en-US" altLang="zh-CN"/>
          </a:p>
        </p:txBody>
      </p:sp>
      <p:sp>
        <p:nvSpPr>
          <p:cNvPr id="6" name="灯片编号占位符 5"/>
          <p:cNvSpPr>
            <a:spLocks noGrp="1"/>
          </p:cNvSpPr>
          <p:nvPr>
            <p:ph type="sldNum" sz="quarter" idx="12"/>
          </p:nvPr>
        </p:nvSpPr>
        <p:spPr/>
        <p:txBody>
          <a:bodyPr/>
          <a:lstStyle/>
          <a:p>
            <a:pPr>
              <a:defRPr/>
            </a:pPr>
            <a:fld id="{069464DF-AA46-4B17-B7B0-6B3C2FE95815}" type="slidenum">
              <a:rPr lang="en-US" altLang="zh-CN"/>
              <a:pPr>
                <a:defRPr/>
              </a:pPr>
              <a:t>16</a:t>
            </a:fld>
            <a:endParaRPr lang="en-US" altLang="zh-CN" sz="140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日期占位符 3"/>
          <p:cNvSpPr>
            <a:spLocks noGrp="1"/>
          </p:cNvSpPr>
          <p:nvPr>
            <p:ph type="dt" sz="quarter" idx="10"/>
          </p:nvPr>
        </p:nvSpPr>
        <p:spPr>
          <a:xfrm>
            <a:off x="1173163" y="6265863"/>
            <a:ext cx="1905000" cy="457200"/>
          </a:xfrm>
        </p:spPr>
        <p:txBody>
          <a:bodyPr anchor="t"/>
          <a:lstStyle/>
          <a:p>
            <a:pPr>
              <a:spcBef>
                <a:spcPct val="50000"/>
              </a:spcBef>
              <a:defRPr/>
            </a:pPr>
            <a:fld id="{90B1A906-316B-4116-9C4C-A779F2CC5B5E}" type="datetime1">
              <a:rPr lang="zh-CN" altLang="en-US"/>
              <a:pPr>
                <a:spcBef>
                  <a:spcPct val="50000"/>
                </a:spcBef>
                <a:defRPr/>
              </a:pPr>
              <a:t>2020/10/21</a:t>
            </a:fld>
            <a:endParaRPr lang="en-US" altLang="zh-CN"/>
          </a:p>
        </p:txBody>
      </p:sp>
      <p:sp>
        <p:nvSpPr>
          <p:cNvPr id="17" name="灯片编号占位符 5"/>
          <p:cNvSpPr>
            <a:spLocks noGrp="1"/>
          </p:cNvSpPr>
          <p:nvPr>
            <p:ph type="sldNum" sz="quarter" idx="12"/>
          </p:nvPr>
        </p:nvSpPr>
        <p:spPr>
          <a:xfrm>
            <a:off x="7010400" y="6248400"/>
            <a:ext cx="1905000" cy="457200"/>
          </a:xfrm>
        </p:spPr>
        <p:txBody>
          <a:bodyPr anchor="t"/>
          <a:lstStyle/>
          <a:p>
            <a:pPr>
              <a:spcBef>
                <a:spcPct val="50000"/>
              </a:spcBef>
              <a:defRPr/>
            </a:pPr>
            <a:fld id="{A51A1691-0F93-4F18-A9A6-91A743366112}" type="slidenum">
              <a:rPr lang="en-US" altLang="zh-CN"/>
              <a:pPr>
                <a:spcBef>
                  <a:spcPct val="50000"/>
                </a:spcBef>
                <a:defRPr/>
              </a:pPr>
              <a:t>17</a:t>
            </a:fld>
            <a:endParaRPr lang="en-US" altLang="zh-CN" dirty="0"/>
          </a:p>
        </p:txBody>
      </p:sp>
      <p:sp>
        <p:nvSpPr>
          <p:cNvPr id="1029" name="Rectangle 3"/>
          <p:cNvSpPr>
            <a:spLocks noGrp="1" noChangeArrowheads="1"/>
          </p:cNvSpPr>
          <p:nvPr>
            <p:ph type="title" idx="4294967295"/>
          </p:nvPr>
        </p:nvSpPr>
        <p:spPr>
          <a:xfrm>
            <a:off x="971550" y="404813"/>
            <a:ext cx="7772400" cy="646112"/>
          </a:xfrm>
        </p:spPr>
        <p:txBody>
          <a:bodyPr/>
          <a:lstStyle/>
          <a:p>
            <a:pPr eaLnBrk="1" hangingPunct="1"/>
            <a:r>
              <a:rPr lang="zh-CN" altLang="en-US" sz="3200" b="1" smtClean="0">
                <a:solidFill>
                  <a:srgbClr val="A50021"/>
                </a:solidFill>
                <a:latin typeface="Arial" pitchFamily="34" charset="0"/>
              </a:rPr>
              <a:t>飞行时间质量分析器</a:t>
            </a:r>
            <a:r>
              <a:rPr lang="en-US" altLang="zh-CN" sz="3200" b="1" smtClean="0">
                <a:solidFill>
                  <a:srgbClr val="A50021"/>
                </a:solidFill>
                <a:latin typeface="Arial" pitchFamily="34" charset="0"/>
              </a:rPr>
              <a:t>(TOF)</a:t>
            </a:r>
            <a:r>
              <a:rPr lang="en-US" altLang="zh-CN" smtClean="0"/>
              <a:t> </a:t>
            </a:r>
          </a:p>
        </p:txBody>
      </p:sp>
      <p:sp>
        <p:nvSpPr>
          <p:cNvPr id="1030" name="Line 4"/>
          <p:cNvSpPr>
            <a:spLocks noChangeShapeType="1"/>
          </p:cNvSpPr>
          <p:nvPr/>
        </p:nvSpPr>
        <p:spPr bwMode="auto">
          <a:xfrm>
            <a:off x="755650" y="1125538"/>
            <a:ext cx="7543800" cy="0"/>
          </a:xfrm>
          <a:prstGeom prst="line">
            <a:avLst/>
          </a:prstGeom>
          <a:noFill/>
          <a:ln w="15875">
            <a:solidFill>
              <a:srgbClr val="F67B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31" name="AutoShape 17"/>
          <p:cNvSpPr>
            <a:spLocks noChangeArrowheads="1"/>
          </p:cNvSpPr>
          <p:nvPr/>
        </p:nvSpPr>
        <p:spPr bwMode="auto">
          <a:xfrm>
            <a:off x="5003800" y="1196975"/>
            <a:ext cx="3671888" cy="1439863"/>
          </a:xfrm>
          <a:prstGeom prst="wedgeRoundRectCallout">
            <a:avLst>
              <a:gd name="adj1" fmla="val -43750"/>
              <a:gd name="adj2" fmla="val 70000"/>
              <a:gd name="adj3"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a:p>
        </p:txBody>
      </p:sp>
      <p:sp>
        <p:nvSpPr>
          <p:cNvPr id="1032" name="Text Box 22"/>
          <p:cNvSpPr txBox="1">
            <a:spLocks noChangeArrowheads="1"/>
          </p:cNvSpPr>
          <p:nvPr/>
        </p:nvSpPr>
        <p:spPr bwMode="auto">
          <a:xfrm>
            <a:off x="5219700" y="5084763"/>
            <a:ext cx="3024188"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spcBef>
                <a:spcPct val="50000"/>
              </a:spcBef>
            </a:pPr>
            <a:endParaRPr lang="zh-CN" altLang="zh-CN"/>
          </a:p>
        </p:txBody>
      </p:sp>
      <p:grpSp>
        <p:nvGrpSpPr>
          <p:cNvPr id="1034" name="Group 25"/>
          <p:cNvGrpSpPr>
            <a:grpSpLocks/>
          </p:cNvGrpSpPr>
          <p:nvPr/>
        </p:nvGrpSpPr>
        <p:grpSpPr bwMode="auto">
          <a:xfrm>
            <a:off x="-109538" y="4681538"/>
            <a:ext cx="6480176" cy="2028825"/>
            <a:chOff x="975" y="3064"/>
            <a:chExt cx="4082" cy="1278"/>
          </a:xfrm>
        </p:grpSpPr>
        <p:graphicFrame>
          <p:nvGraphicFramePr>
            <p:cNvPr id="1036" name="Object 3"/>
            <p:cNvGraphicFramePr>
              <a:graphicFrameLocks noChangeAspect="1"/>
            </p:cNvGraphicFramePr>
            <p:nvPr/>
          </p:nvGraphicFramePr>
          <p:xfrm>
            <a:off x="1292" y="3064"/>
            <a:ext cx="1951" cy="374"/>
          </p:xfrm>
          <a:graphic>
            <a:graphicData uri="http://schemas.openxmlformats.org/presentationml/2006/ole">
              <mc:AlternateContent xmlns:mc="http://schemas.openxmlformats.org/markup-compatibility/2006">
                <mc:Choice xmlns:v="urn:schemas-microsoft-com:vml" Requires="v">
                  <p:oleObj spid="_x0000_s1049" name="公式" r:id="rId5" imgW="1853396" imgH="355446" progId="Equation.3">
                    <p:embed/>
                  </p:oleObj>
                </mc:Choice>
                <mc:Fallback>
                  <p:oleObj name="公式" r:id="rId5" imgW="1853396" imgH="35544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 y="3064"/>
                          <a:ext cx="1951" cy="374"/>
                        </a:xfrm>
                        <a:prstGeom prst="rect">
                          <a:avLst/>
                        </a:prstGeom>
                        <a:solidFill>
                          <a:srgbClr val="DBD8F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7" name="Text Box 24"/>
            <p:cNvSpPr txBox="1">
              <a:spLocks noChangeArrowheads="1"/>
            </p:cNvSpPr>
            <p:nvPr/>
          </p:nvSpPr>
          <p:spPr bwMode="auto">
            <a:xfrm>
              <a:off x="975" y="3516"/>
              <a:ext cx="4082" cy="826"/>
            </a:xfrm>
            <a:prstGeom prst="rect">
              <a:avLst/>
            </a:prstGeom>
            <a:noFill/>
            <a:ln w="12700">
              <a:solidFill>
                <a:srgbClr val="CC99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spcBef>
                  <a:spcPct val="50000"/>
                </a:spcBef>
              </a:pPr>
              <a:r>
                <a:rPr lang="zh-CN" altLang="en-US">
                  <a:solidFill>
                    <a:srgbClr val="000000"/>
                  </a:solidFill>
                </a:rPr>
                <a:t>离子从离子源到检测器的飞行</a:t>
              </a:r>
              <a:endParaRPr lang="en-US" altLang="zh-CN">
                <a:solidFill>
                  <a:srgbClr val="000000"/>
                </a:solidFill>
              </a:endParaRPr>
            </a:p>
            <a:p>
              <a:pPr eaLnBrk="1" hangingPunct="1">
                <a:spcBef>
                  <a:spcPct val="50000"/>
                </a:spcBef>
              </a:pPr>
              <a:r>
                <a:rPr lang="zh-CN" altLang="en-US">
                  <a:solidFill>
                    <a:srgbClr val="000000"/>
                  </a:solidFill>
                </a:rPr>
                <a:t>时间与其质荷比的平方根成正比</a:t>
              </a:r>
            </a:p>
          </p:txBody>
        </p:sp>
      </p:grpSp>
      <p:sp>
        <p:nvSpPr>
          <p:cNvPr id="2" name="矩形 11"/>
          <p:cNvSpPr>
            <a:spLocks noChangeArrowheads="1"/>
          </p:cNvSpPr>
          <p:nvPr/>
        </p:nvSpPr>
        <p:spPr bwMode="auto">
          <a:xfrm>
            <a:off x="5000625" y="1214438"/>
            <a:ext cx="4143375" cy="271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t>     在栅级上加负脉冲电压，正离子同时被引出，在加速级上加负高压</a:t>
            </a:r>
            <a:r>
              <a:rPr lang="en-US" altLang="zh-CN"/>
              <a:t>V</a:t>
            </a:r>
            <a:r>
              <a:rPr lang="zh-CN" altLang="en-US"/>
              <a:t>，离子被加速获得动能。</a:t>
            </a:r>
            <a:r>
              <a:rPr lang="en-US" altLang="zh-CN">
                <a:solidFill>
                  <a:srgbClr val="FF0000"/>
                </a:solidFill>
              </a:rPr>
              <a:t> </a:t>
            </a:r>
            <a:r>
              <a:rPr lang="zh-CN" altLang="en-US">
                <a:solidFill>
                  <a:srgbClr val="000000"/>
                </a:solidFill>
              </a:rPr>
              <a:t>     </a:t>
            </a:r>
            <a:endParaRPr lang="zh-CN" altLang="en-US"/>
          </a:p>
          <a:p>
            <a:endParaRPr lang="en-US" altLang="zh-CN"/>
          </a:p>
        </p:txBody>
      </p:sp>
      <p:sp>
        <p:nvSpPr>
          <p:cNvPr id="13" name="矩形 11"/>
          <p:cNvSpPr>
            <a:spLocks noChangeArrowheads="1"/>
          </p:cNvSpPr>
          <p:nvPr/>
        </p:nvSpPr>
        <p:spPr bwMode="auto">
          <a:xfrm>
            <a:off x="5003800" y="3446463"/>
            <a:ext cx="4143375" cy="386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a:solidFill>
                  <a:srgbClr val="FF0000"/>
                </a:solidFill>
              </a:rPr>
              <a:t>获得相同能量的离子在无场的空间漂移，不同质量的离子速度不同，经过同一距离后到达检测器的时间不同，从而得到分</a:t>
            </a:r>
            <a:endParaRPr lang="en-US" altLang="zh-CN">
              <a:solidFill>
                <a:srgbClr val="FF0000"/>
              </a:solidFill>
            </a:endParaRPr>
          </a:p>
          <a:p>
            <a:r>
              <a:rPr lang="zh-CN" altLang="en-US">
                <a:solidFill>
                  <a:srgbClr val="FF0000"/>
                </a:solidFill>
              </a:rPr>
              <a:t>离。</a:t>
            </a:r>
            <a:r>
              <a:rPr lang="zh-CN" altLang="en-US">
                <a:solidFill>
                  <a:srgbClr val="000000"/>
                </a:solidFill>
              </a:rPr>
              <a:t> </a:t>
            </a:r>
            <a:endParaRPr lang="zh-CN" altLang="en-US"/>
          </a:p>
          <a:p>
            <a:endParaRPr lang="en-US" altLang="zh-CN"/>
          </a:p>
        </p:txBody>
      </p:sp>
    </p:spTree>
    <p:controls>
      <mc:AlternateContent xmlns:mc="http://schemas.openxmlformats.org/markup-compatibility/2006">
        <mc:Choice xmlns:v="urn:schemas-microsoft-com:vml" Requires="v">
          <p:control spid="1050" name="ShockwaveFlash2" r:id="rId2" imgW="4343400" imgH="3124080"/>
        </mc:Choice>
        <mc:Fallback>
          <p:control name="ShockwaveFlash2" r:id="rId2" imgW="4343400" imgH="3124080">
            <p:pic>
              <p:nvPicPr>
                <p:cNvPr id="3" name="ShockwaveFlash2"/>
                <p:cNvPicPr preferRelativeResize="0">
                  <a:picLocks noChangeArrowheads="1" noChangeShapeType="1"/>
                </p:cNvPicPr>
                <p:nvPr/>
              </p:nvPicPr>
              <p:blipFill>
                <a:blip r:embed="rId7"/>
                <a:srcRect/>
                <a:stretch>
                  <a:fillRect/>
                </a:stretch>
              </p:blipFill>
              <p:spPr bwMode="auto">
                <a:xfrm>
                  <a:off x="539750" y="1557338"/>
                  <a:ext cx="4343400" cy="31242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1000"/>
                                        <p:tgtEl>
                                          <p:spTgt spid="13"/>
                                        </p:tgtEl>
                                      </p:cBhvr>
                                    </p:animEffect>
                                    <p:anim calcmode="lin" valueType="num">
                                      <p:cBhvr>
                                        <p:cTn id="12" dur="1000" fill="hold"/>
                                        <p:tgtEl>
                                          <p:spTgt spid="13"/>
                                        </p:tgtEl>
                                        <p:attrNameLst>
                                          <p:attrName>ppt_x</p:attrName>
                                        </p:attrNameLst>
                                      </p:cBhvr>
                                      <p:tavLst>
                                        <p:tav tm="0">
                                          <p:val>
                                            <p:strVal val="#ppt_x"/>
                                          </p:val>
                                        </p:tav>
                                        <p:tav tm="100000">
                                          <p:val>
                                            <p:strVal val="#ppt_x"/>
                                          </p:val>
                                        </p:tav>
                                      </p:tavLst>
                                    </p:anim>
                                    <p:anim calcmode="lin" valueType="num">
                                      <p:cBhvr>
                                        <p:cTn id="1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idx="4294967295"/>
          </p:nvPr>
        </p:nvSpPr>
        <p:spPr/>
        <p:txBody>
          <a:bodyPr/>
          <a:lstStyle/>
          <a:p>
            <a:pPr eaLnBrk="1" hangingPunct="1"/>
            <a:r>
              <a:rPr lang="zh-CN" altLang="en-US" sz="3200" b="1" smtClean="0">
                <a:solidFill>
                  <a:srgbClr val="C00000"/>
                </a:solidFill>
                <a:ea typeface="楷体_GB2312" pitchFamily="49" charset="-122"/>
              </a:rPr>
              <a:t>飞行时间质谱分析器特点</a:t>
            </a:r>
          </a:p>
        </p:txBody>
      </p:sp>
      <p:sp>
        <p:nvSpPr>
          <p:cNvPr id="24579" name="内容占位符 2"/>
          <p:cNvSpPr>
            <a:spLocks noGrp="1"/>
          </p:cNvSpPr>
          <p:nvPr>
            <p:ph idx="4294967295"/>
          </p:nvPr>
        </p:nvSpPr>
        <p:spPr/>
        <p:txBody>
          <a:bodyPr/>
          <a:lstStyle/>
          <a:p>
            <a:pPr eaLnBrk="1" hangingPunct="1"/>
            <a:r>
              <a:rPr lang="zh-CN" altLang="en-US" sz="2800" b="1" smtClean="0">
                <a:ea typeface="楷体_GB2312" pitchFamily="49" charset="-122"/>
              </a:rPr>
              <a:t>质量分析器不需磁场、电场，只需直线漂移的空间，仪器结构比较简单；</a:t>
            </a:r>
            <a:endParaRPr lang="en-US" altLang="zh-CN" sz="2800" b="1" smtClean="0">
              <a:ea typeface="楷体_GB2312" pitchFamily="49" charset="-122"/>
            </a:endParaRPr>
          </a:p>
          <a:p>
            <a:pPr eaLnBrk="1" hangingPunct="1"/>
            <a:r>
              <a:rPr lang="zh-CN" altLang="en-US" sz="2800" b="1" smtClean="0">
                <a:ea typeface="楷体_GB2312" pitchFamily="49" charset="-122"/>
              </a:rPr>
              <a:t>扫描速度快，适合和色谱联用；</a:t>
            </a:r>
            <a:endParaRPr lang="en-US" altLang="zh-CN" sz="2800" b="1" smtClean="0">
              <a:ea typeface="楷体_GB2312" pitchFamily="49" charset="-122"/>
            </a:endParaRPr>
          </a:p>
          <a:p>
            <a:pPr eaLnBrk="1" hangingPunct="1"/>
            <a:r>
              <a:rPr lang="zh-CN" altLang="en-US" sz="2800" b="1" smtClean="0">
                <a:ea typeface="楷体_GB2312" pitchFamily="49" charset="-122"/>
              </a:rPr>
              <a:t>可测量的质量范围取决于飞行时间，实际测定离子质荷比没有上限，特别适合生物大分子的测定。</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B733D7BC-A85C-4B16-A44E-714E200C1B7E}"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25603"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FAAFC193-0A54-4041-B3EC-38EEB9949035}" type="slidenum">
              <a:rPr lang="en-US" altLang="zh-CN" sz="1200" smtClean="0">
                <a:latin typeface="Verdana" pitchFamily="34" charset="0"/>
                <a:ea typeface="宋体" pitchFamily="2" charset="-122"/>
              </a:rPr>
              <a:pPr eaLnBrk="1" hangingPunct="1">
                <a:lnSpc>
                  <a:spcPct val="100000"/>
                </a:lnSpc>
              </a:pPr>
              <a:t>19</a:t>
            </a:fld>
            <a:endParaRPr lang="en-US" altLang="zh-CN" sz="1200" smtClean="0">
              <a:latin typeface="Verdana" pitchFamily="34" charset="0"/>
              <a:ea typeface="宋体" pitchFamily="2" charset="-122"/>
            </a:endParaRPr>
          </a:p>
        </p:txBody>
      </p:sp>
      <p:sp>
        <p:nvSpPr>
          <p:cNvPr id="25604" name="Rectangle 2"/>
          <p:cNvSpPr>
            <a:spLocks noGrp="1" noChangeArrowheads="1"/>
          </p:cNvSpPr>
          <p:nvPr>
            <p:ph type="title"/>
          </p:nvPr>
        </p:nvSpPr>
        <p:spPr/>
        <p:txBody>
          <a:bodyPr/>
          <a:lstStyle/>
          <a:p>
            <a:pPr eaLnBrk="1" hangingPunct="1"/>
            <a:r>
              <a:rPr lang="zh-CN" altLang="en-US" sz="4000" b="1" smtClean="0">
                <a:latin typeface="微软雅黑" pitchFamily="34" charset="-122"/>
                <a:ea typeface="微软雅黑" pitchFamily="34" charset="-122"/>
              </a:rPr>
              <a:t>第三节  质谱中的各种离子</a:t>
            </a:r>
          </a:p>
        </p:txBody>
      </p:sp>
      <p:sp>
        <p:nvSpPr>
          <p:cNvPr id="6149" name="Rectangle 3"/>
          <p:cNvSpPr>
            <a:spLocks noGrp="1" noChangeArrowheads="1"/>
          </p:cNvSpPr>
          <p:nvPr>
            <p:ph type="body" idx="1"/>
          </p:nvPr>
        </p:nvSpPr>
        <p:spPr>
          <a:xfrm>
            <a:off x="2339975" y="1690688"/>
            <a:ext cx="5457825" cy="3898900"/>
          </a:xfrm>
        </p:spPr>
        <p:txBody>
          <a:bodyPr/>
          <a:lstStyle/>
          <a:p>
            <a:pPr eaLnBrk="1" hangingPunct="1">
              <a:defRPr/>
            </a:pPr>
            <a:r>
              <a:rPr lang="zh-CN" altLang="en-US" b="1" dirty="0" smtClean="0">
                <a:latin typeface="+mn-ea"/>
              </a:rPr>
              <a:t>分子离子</a:t>
            </a:r>
          </a:p>
          <a:p>
            <a:pPr eaLnBrk="1" hangingPunct="1">
              <a:defRPr/>
            </a:pPr>
            <a:r>
              <a:rPr lang="zh-CN" altLang="en-US" b="1" dirty="0" smtClean="0">
                <a:latin typeface="+mn-ea"/>
              </a:rPr>
              <a:t>碎片离子</a:t>
            </a:r>
          </a:p>
          <a:p>
            <a:pPr eaLnBrk="1" hangingPunct="1">
              <a:defRPr/>
            </a:pPr>
            <a:r>
              <a:rPr lang="zh-CN" altLang="en-US" b="1" dirty="0" smtClean="0">
                <a:latin typeface="+mn-ea"/>
              </a:rPr>
              <a:t>同位素离子</a:t>
            </a:r>
          </a:p>
          <a:p>
            <a:pPr eaLnBrk="1" hangingPunct="1">
              <a:defRPr/>
            </a:pPr>
            <a:r>
              <a:rPr lang="zh-CN" altLang="en-US" b="1" dirty="0" smtClean="0">
                <a:latin typeface="+mn-ea"/>
              </a:rPr>
              <a:t>多电荷离子</a:t>
            </a:r>
          </a:p>
          <a:p>
            <a:pPr eaLnBrk="1" hangingPunct="1">
              <a:defRPr/>
            </a:pPr>
            <a:r>
              <a:rPr lang="zh-CN" altLang="en-US" b="1" dirty="0" smtClean="0">
                <a:latin typeface="+mn-ea"/>
              </a:rPr>
              <a:t>负离子</a:t>
            </a:r>
          </a:p>
          <a:p>
            <a:pPr eaLnBrk="1" hangingPunct="1">
              <a:defRPr/>
            </a:pPr>
            <a:r>
              <a:rPr lang="zh-CN" altLang="en-US" b="1" dirty="0" smtClean="0">
                <a:latin typeface="+mn-ea"/>
              </a:rPr>
              <a:t>离子－分子反应产生的离子</a:t>
            </a:r>
          </a:p>
          <a:p>
            <a:pPr eaLnBrk="1" hangingPunct="1">
              <a:defRPr/>
            </a:pPr>
            <a:r>
              <a:rPr lang="zh-CN" altLang="en-US" b="1" dirty="0" smtClean="0">
                <a:latin typeface="+mn-ea"/>
              </a:rPr>
              <a:t>亚稳离子</a:t>
            </a:r>
          </a:p>
        </p:txBody>
      </p:sp>
    </p:spTree>
  </p:cSld>
  <p:clrMapOvr>
    <a:masterClrMapping/>
  </p:clrMapOvr>
  <p:transition spd="slow"/>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3FA1E93F-99D3-479C-966E-0A17A849D5F6}"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2662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A3C24650-408E-4BCC-849D-211AA2151D63}" type="slidenum">
              <a:rPr lang="en-US" altLang="zh-CN" sz="1200" smtClean="0">
                <a:latin typeface="Verdana" pitchFamily="34" charset="0"/>
                <a:ea typeface="宋体" pitchFamily="2" charset="-122"/>
              </a:rPr>
              <a:pPr eaLnBrk="1" hangingPunct="1">
                <a:lnSpc>
                  <a:spcPct val="100000"/>
                </a:lnSpc>
              </a:pPr>
              <a:t>20</a:t>
            </a:fld>
            <a:endParaRPr lang="en-US" altLang="zh-CN" sz="1200" smtClean="0">
              <a:latin typeface="Verdana" pitchFamily="34" charset="0"/>
              <a:ea typeface="宋体" pitchFamily="2" charset="-122"/>
            </a:endParaRPr>
          </a:p>
        </p:txBody>
      </p:sp>
      <p:sp>
        <p:nvSpPr>
          <p:cNvPr id="26628" name="Rectangle 2"/>
          <p:cNvSpPr>
            <a:spLocks noGrp="1" noChangeArrowheads="1"/>
          </p:cNvSpPr>
          <p:nvPr>
            <p:ph type="title"/>
          </p:nvPr>
        </p:nvSpPr>
        <p:spPr>
          <a:xfrm>
            <a:off x="606425" y="274638"/>
            <a:ext cx="6319838" cy="1327150"/>
          </a:xfrm>
        </p:spPr>
        <p:txBody>
          <a:bodyPr/>
          <a:lstStyle/>
          <a:p>
            <a:pPr eaLnBrk="1" hangingPunct="1"/>
            <a:r>
              <a:rPr lang="zh-CN" altLang="en-US" sz="4000" b="1" smtClean="0">
                <a:latin typeface="Times New Roman" pitchFamily="18" charset="0"/>
                <a:ea typeface="微软雅黑" pitchFamily="34" charset="-122"/>
                <a:cs typeface="Times New Roman" pitchFamily="18" charset="0"/>
              </a:rPr>
              <a:t>一、分子离子（</a:t>
            </a:r>
            <a:r>
              <a:rPr lang="en-US" altLang="zh-CN" sz="4000" b="1" smtClean="0">
                <a:latin typeface="Times New Roman" pitchFamily="18" charset="0"/>
                <a:ea typeface="微软雅黑" pitchFamily="34" charset="-122"/>
                <a:cs typeface="Times New Roman" pitchFamily="18" charset="0"/>
              </a:rPr>
              <a:t>M </a:t>
            </a:r>
            <a:r>
              <a:rPr lang="en-US" altLang="zh-CN" sz="4000" b="1" baseline="30000" smtClean="0">
                <a:latin typeface="Times New Roman" pitchFamily="18" charset="0"/>
                <a:ea typeface="微软雅黑" pitchFamily="34" charset="-122"/>
                <a:cs typeface="Times New Roman" pitchFamily="18" charset="0"/>
              </a:rPr>
              <a:t>+ ·</a:t>
            </a:r>
            <a:r>
              <a:rPr lang="zh-CN" altLang="en-US" sz="4000" b="1" smtClean="0">
                <a:latin typeface="Times New Roman" pitchFamily="18" charset="0"/>
                <a:ea typeface="微软雅黑" pitchFamily="34" charset="-122"/>
                <a:cs typeface="Times New Roman" pitchFamily="18" charset="0"/>
              </a:rPr>
              <a:t>）</a:t>
            </a:r>
          </a:p>
        </p:txBody>
      </p:sp>
      <p:sp>
        <p:nvSpPr>
          <p:cNvPr id="26629" name="Rectangle 3"/>
          <p:cNvSpPr>
            <a:spLocks noGrp="1" noChangeArrowheads="1"/>
          </p:cNvSpPr>
          <p:nvPr>
            <p:ph type="body" idx="1"/>
          </p:nvPr>
        </p:nvSpPr>
        <p:spPr>
          <a:xfrm>
            <a:off x="250825" y="1773238"/>
            <a:ext cx="8893175" cy="3671887"/>
          </a:xfrm>
        </p:spPr>
        <p:txBody>
          <a:bodyPr/>
          <a:lstStyle/>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是分子失去一个价电子而生成的离子；是</a:t>
            </a:r>
            <a:r>
              <a:rPr lang="zh-CN" altLang="en-US" sz="3200" b="1" smtClean="0">
                <a:solidFill>
                  <a:srgbClr val="0000CC"/>
                </a:solidFill>
                <a:latin typeface="微软雅黑" pitchFamily="34" charset="-122"/>
                <a:ea typeface="微软雅黑" pitchFamily="34" charset="-122"/>
                <a:cs typeface="Times New Roman" pitchFamily="18" charset="0"/>
              </a:rPr>
              <a:t>奇电子离子</a:t>
            </a:r>
            <a:r>
              <a:rPr lang="zh-CN" altLang="en-US" sz="3200" b="1" smtClean="0">
                <a:latin typeface="Times New Roman" pitchFamily="18" charset="0"/>
                <a:cs typeface="Times New Roman" pitchFamily="18" charset="0"/>
              </a:rPr>
              <a:t>；</a:t>
            </a:r>
            <a:endParaRPr lang="en-US" altLang="zh-CN" sz="3200" b="1" smtClean="0">
              <a:latin typeface="Times New Roman" pitchFamily="18" charset="0"/>
              <a:cs typeface="Times New Roman" pitchFamily="18" charset="0"/>
            </a:endParaRP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最重要的一种离子，其</a:t>
            </a:r>
            <a:r>
              <a:rPr lang="zh-CN" altLang="en-US" sz="3200" b="1" smtClean="0">
                <a:solidFill>
                  <a:srgbClr val="0000CC"/>
                </a:solidFill>
                <a:latin typeface="微软雅黑" pitchFamily="34" charset="-122"/>
                <a:ea typeface="微软雅黑" pitchFamily="34" charset="-122"/>
              </a:rPr>
              <a:t>质荷比为分子量</a:t>
            </a:r>
            <a:r>
              <a:rPr lang="zh-CN" altLang="en-US" sz="3200" b="1" smtClean="0">
                <a:latin typeface="Times New Roman" pitchFamily="18" charset="0"/>
                <a:cs typeface="Times New Roman" pitchFamily="18" charset="0"/>
              </a:rPr>
              <a:t>；</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注意：有些化合物质谱上不出现分子离子峰</a:t>
            </a:r>
            <a:r>
              <a:rPr lang="en-US" altLang="zh-CN" sz="3200" b="1" smtClean="0">
                <a:latin typeface="Times New Roman" pitchFamily="18" charset="0"/>
                <a:cs typeface="Times New Roman" pitchFamily="18" charset="0"/>
              </a:rPr>
              <a:t>M</a:t>
            </a:r>
            <a:r>
              <a:rPr lang="en-US" altLang="zh-CN" sz="3200" b="1" baseline="30000" smtClean="0">
                <a:latin typeface="Times New Roman" pitchFamily="18" charset="0"/>
                <a:cs typeface="Times New Roman" pitchFamily="18" charset="0"/>
              </a:rPr>
              <a:t>+·</a:t>
            </a:r>
            <a:endParaRPr lang="zh-CN" altLang="en-US" sz="3200" b="1" smtClean="0">
              <a:latin typeface="Times New Roman" pitchFamily="18" charset="0"/>
              <a:cs typeface="Times New Roman" pitchFamily="18" charset="0"/>
            </a:endParaRPr>
          </a:p>
        </p:txBody>
      </p:sp>
    </p:spTree>
  </p:cSld>
  <p:clrMapOvr>
    <a:masterClrMapping/>
  </p:clrMapOvr>
  <p:transition spd="slow"/>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0"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30FD23BF-F6D0-449C-9044-1C65F47E65EF}"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2765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0D60F707-4E69-4CB8-8491-42CD91E841C2}" type="slidenum">
              <a:rPr lang="en-US" altLang="zh-CN" sz="1200" smtClean="0">
                <a:latin typeface="Verdana" pitchFamily="34" charset="0"/>
                <a:ea typeface="宋体" pitchFamily="2" charset="-122"/>
              </a:rPr>
              <a:pPr eaLnBrk="1" hangingPunct="1">
                <a:lnSpc>
                  <a:spcPct val="100000"/>
                </a:lnSpc>
              </a:pPr>
              <a:t>21</a:t>
            </a:fld>
            <a:endParaRPr lang="en-US" altLang="zh-CN" sz="1200" smtClean="0">
              <a:latin typeface="Verdana" pitchFamily="34" charset="0"/>
              <a:ea typeface="宋体" pitchFamily="2" charset="-122"/>
            </a:endParaRPr>
          </a:p>
        </p:txBody>
      </p:sp>
      <p:sp>
        <p:nvSpPr>
          <p:cNvPr id="27652" name="Rectangle 2"/>
          <p:cNvSpPr>
            <a:spLocks noGrp="1" noChangeArrowheads="1"/>
          </p:cNvSpPr>
          <p:nvPr>
            <p:ph type="title"/>
          </p:nvPr>
        </p:nvSpPr>
        <p:spPr/>
        <p:txBody>
          <a:bodyPr/>
          <a:lstStyle/>
          <a:p>
            <a:pPr eaLnBrk="1" hangingPunct="1"/>
            <a:r>
              <a:rPr lang="zh-CN" altLang="en-US" sz="4000" b="1" smtClean="0">
                <a:latin typeface="微软雅黑" pitchFamily="34" charset="-122"/>
                <a:ea typeface="微软雅黑" pitchFamily="34" charset="-122"/>
              </a:rPr>
              <a:t>二、碎片离子</a:t>
            </a:r>
          </a:p>
        </p:txBody>
      </p:sp>
      <p:sp>
        <p:nvSpPr>
          <p:cNvPr id="27653" name="Rectangle 3"/>
          <p:cNvSpPr>
            <a:spLocks noGrp="1" noChangeArrowheads="1"/>
          </p:cNvSpPr>
          <p:nvPr>
            <p:ph type="body" idx="1"/>
          </p:nvPr>
        </p:nvSpPr>
        <p:spPr>
          <a:xfrm>
            <a:off x="323850" y="1690688"/>
            <a:ext cx="7272338" cy="2305050"/>
          </a:xfrm>
        </p:spPr>
        <p:txBody>
          <a:bodyPr/>
          <a:lstStyle/>
          <a:p>
            <a:pPr marL="0" lvl="1" indent="0" eaLnBrk="1" hangingPunct="1">
              <a:lnSpc>
                <a:spcPct val="150000"/>
              </a:lnSpc>
              <a:spcBef>
                <a:spcPct val="0"/>
              </a:spcBef>
              <a:buClr>
                <a:srgbClr val="FF00FF"/>
              </a:buClr>
              <a:buFont typeface="Wingdings" pitchFamily="2" charset="2"/>
              <a:buChar char="v"/>
            </a:pPr>
            <a:r>
              <a:rPr lang="en-US" altLang="zh-CN" sz="3000" b="1" smtClean="0">
                <a:latin typeface="楷体_GB2312" pitchFamily="49" charset="-122"/>
                <a:ea typeface="楷体_GB2312" pitchFamily="49" charset="-122"/>
              </a:rPr>
              <a:t> </a:t>
            </a:r>
            <a:r>
              <a:rPr lang="zh-CN" altLang="en-US" sz="3200" b="1" smtClean="0">
                <a:latin typeface="Times New Roman" pitchFamily="18" charset="0"/>
                <a:cs typeface="Times New Roman" pitchFamily="18" charset="0"/>
              </a:rPr>
              <a:t>由</a:t>
            </a:r>
            <a:r>
              <a:rPr lang="en-US" altLang="zh-CN" sz="3200" b="1" smtClean="0">
                <a:latin typeface="Times New Roman" pitchFamily="18" charset="0"/>
                <a:cs typeface="Times New Roman" pitchFamily="18" charset="0"/>
              </a:rPr>
              <a:t>M</a:t>
            </a:r>
            <a:r>
              <a:rPr lang="en-US" altLang="zh-CN" sz="3200" b="1" baseline="30000" smtClean="0">
                <a:latin typeface="Times New Roman" pitchFamily="18" charset="0"/>
                <a:cs typeface="Times New Roman" pitchFamily="18" charset="0"/>
              </a:rPr>
              <a:t>+ ·</a:t>
            </a:r>
            <a:r>
              <a:rPr lang="zh-CN" altLang="en-US" sz="3200" b="1" smtClean="0">
                <a:latin typeface="Times New Roman" pitchFamily="18" charset="0"/>
                <a:cs typeface="Times New Roman" pitchFamily="18" charset="0"/>
              </a:rPr>
              <a:t>或碎片离子碎裂产生；</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数量多，并提供丰富的结构信息；</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通过裂解机理对其进行研究。</a:t>
            </a:r>
          </a:p>
        </p:txBody>
      </p:sp>
    </p:spTree>
  </p:cSld>
  <p:clrMapOvr>
    <a:masterClrMapping/>
  </p:clrMapOvr>
  <p:transition spd="slow"/>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AD9452BF-55F9-4413-B41A-71CA8E4DC906}"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28675"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2A18F8D6-0E56-40B5-9CEB-9CEA57FB8E7C}" type="slidenum">
              <a:rPr lang="en-US" altLang="zh-CN" sz="1200" smtClean="0">
                <a:latin typeface="Verdana" pitchFamily="34" charset="0"/>
                <a:ea typeface="宋体" pitchFamily="2" charset="-122"/>
              </a:rPr>
              <a:pPr eaLnBrk="1" hangingPunct="1">
                <a:lnSpc>
                  <a:spcPct val="100000"/>
                </a:lnSpc>
              </a:pPr>
              <a:t>22</a:t>
            </a:fld>
            <a:endParaRPr lang="en-US" altLang="zh-CN" sz="1200" smtClean="0">
              <a:latin typeface="Verdana" pitchFamily="34" charset="0"/>
              <a:ea typeface="宋体" pitchFamily="2" charset="-122"/>
            </a:endParaRPr>
          </a:p>
        </p:txBody>
      </p:sp>
      <p:sp>
        <p:nvSpPr>
          <p:cNvPr id="28676" name="Rectangle 2"/>
          <p:cNvSpPr>
            <a:spLocks noGrp="1" noChangeArrowheads="1"/>
          </p:cNvSpPr>
          <p:nvPr>
            <p:ph type="title"/>
          </p:nvPr>
        </p:nvSpPr>
        <p:spPr>
          <a:xfrm>
            <a:off x="385763" y="230188"/>
            <a:ext cx="4140200" cy="730250"/>
          </a:xfrm>
        </p:spPr>
        <p:txBody>
          <a:bodyPr/>
          <a:lstStyle/>
          <a:p>
            <a:pPr eaLnBrk="1" hangingPunct="1"/>
            <a:r>
              <a:rPr lang="zh-CN" altLang="en-US" sz="4000" b="1" smtClean="0">
                <a:latin typeface="微软雅黑" pitchFamily="34" charset="-122"/>
                <a:ea typeface="微软雅黑" pitchFamily="34" charset="-122"/>
              </a:rPr>
              <a:t>三、同位素离子</a:t>
            </a:r>
            <a:endParaRPr lang="zh-CN" altLang="en-US" sz="4000" smtClean="0">
              <a:latin typeface="微软雅黑" pitchFamily="34" charset="-122"/>
              <a:ea typeface="微软雅黑" pitchFamily="34" charset="-122"/>
            </a:endParaRPr>
          </a:p>
        </p:txBody>
      </p:sp>
      <p:sp>
        <p:nvSpPr>
          <p:cNvPr id="9221" name="Rectangle 3"/>
          <p:cNvSpPr>
            <a:spLocks noGrp="1" noChangeArrowheads="1"/>
          </p:cNvSpPr>
          <p:nvPr>
            <p:ph type="body" idx="1"/>
          </p:nvPr>
        </p:nvSpPr>
        <p:spPr>
          <a:xfrm>
            <a:off x="385763" y="981075"/>
            <a:ext cx="5554662" cy="719138"/>
          </a:xfrm>
        </p:spPr>
        <p:txBody>
          <a:body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b="1" dirty="0" smtClean="0">
                <a:latin typeface="Times New Roman" panose="02020603050405020304" pitchFamily="18" charset="0"/>
                <a:ea typeface="+mj-ea"/>
                <a:cs typeface="Times New Roman" panose="02020603050405020304" pitchFamily="18" charset="0"/>
              </a:rPr>
              <a:t>由元素的稳定天然同位素产生</a:t>
            </a:r>
            <a:r>
              <a:rPr lang="en-US" altLang="zh-CN" b="1" dirty="0" smtClean="0">
                <a:latin typeface="Times New Roman" panose="02020603050405020304" pitchFamily="18" charset="0"/>
                <a:ea typeface="+mj-ea"/>
                <a:cs typeface="Times New Roman" panose="02020603050405020304" pitchFamily="18" charset="0"/>
              </a:rPr>
              <a:t>;</a:t>
            </a:r>
          </a:p>
        </p:txBody>
      </p:sp>
      <p:sp>
        <p:nvSpPr>
          <p:cNvPr id="6" name="Rectangle 3"/>
          <p:cNvSpPr txBox="1">
            <a:spLocks noChangeArrowheads="1"/>
          </p:cNvSpPr>
          <p:nvPr/>
        </p:nvSpPr>
        <p:spPr bwMode="auto">
          <a:xfrm>
            <a:off x="385763" y="1628775"/>
            <a:ext cx="8507412"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dirty="0" smtClean="0">
                <a:latin typeface="Times New Roman" panose="02020603050405020304" pitchFamily="18" charset="0"/>
                <a:ea typeface="+mj-ea"/>
                <a:cs typeface="Times New Roman" panose="02020603050405020304" pitchFamily="18" charset="0"/>
              </a:rPr>
              <a:t>分子离子和碎片离子是以元素最大丰度的同位素质量</a:t>
            </a:r>
            <a:r>
              <a:rPr lang="zh-CN" altLang="en-US" dirty="0">
                <a:latin typeface="Times New Roman" panose="02020603050405020304" pitchFamily="18" charset="0"/>
                <a:ea typeface="+mj-ea"/>
                <a:cs typeface="Times New Roman" panose="02020603050405020304" pitchFamily="18" charset="0"/>
              </a:rPr>
              <a:t>进行</a:t>
            </a:r>
            <a:r>
              <a:rPr lang="zh-CN" altLang="en-US" dirty="0" smtClean="0">
                <a:latin typeface="Times New Roman" panose="02020603050405020304" pitchFamily="18" charset="0"/>
                <a:ea typeface="+mj-ea"/>
                <a:cs typeface="Times New Roman" panose="02020603050405020304" pitchFamily="18" charset="0"/>
              </a:rPr>
              <a:t>计算，其他同位素组成的离子称为同位素离子</a:t>
            </a:r>
            <a:r>
              <a:rPr lang="en-US" altLang="zh-CN" dirty="0" smtClean="0">
                <a:latin typeface="Times New Roman" panose="02020603050405020304" pitchFamily="18" charset="0"/>
                <a:ea typeface="+mj-ea"/>
                <a:cs typeface="Times New Roman" panose="02020603050405020304" pitchFamily="18" charset="0"/>
              </a:rPr>
              <a:t>;</a:t>
            </a:r>
          </a:p>
        </p:txBody>
      </p:sp>
      <p:sp>
        <p:nvSpPr>
          <p:cNvPr id="7" name="Rectangle 3"/>
          <p:cNvSpPr txBox="1">
            <a:spLocks noChangeArrowheads="1"/>
          </p:cNvSpPr>
          <p:nvPr/>
        </p:nvSpPr>
        <p:spPr bwMode="auto">
          <a:xfrm>
            <a:off x="385763" y="2997200"/>
            <a:ext cx="8507412"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dirty="0" smtClean="0">
                <a:latin typeface="Times New Roman" panose="02020603050405020304" pitchFamily="18" charset="0"/>
                <a:ea typeface="+mj-ea"/>
                <a:cs typeface="Times New Roman" panose="02020603050405020304" pitchFamily="18" charset="0"/>
              </a:rPr>
              <a:t>常见元素中，最大丰度的同位素是质量最小的，在质谱图中同位素离子</a:t>
            </a:r>
            <a:r>
              <a:rPr lang="zh-CN" altLang="en-US" dirty="0" smtClean="0">
                <a:latin typeface="Times New Roman" panose="02020603050405020304" pitchFamily="18" charset="0"/>
                <a:ea typeface="+mj-ea"/>
                <a:cs typeface="Times New Roman" panose="02020603050405020304" pitchFamily="18" charset="0"/>
              </a:rPr>
              <a:t>的</a:t>
            </a:r>
            <a:r>
              <a:rPr lang="zh-CN" altLang="en-US" dirty="0" smtClean="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质荷比</a:t>
            </a:r>
            <a:r>
              <a:rPr lang="zh-CN" altLang="en-US" dirty="0" smtClean="0">
                <a:latin typeface="Times New Roman" panose="02020603050405020304" pitchFamily="18" charset="0"/>
                <a:ea typeface="+mj-ea"/>
                <a:cs typeface="Times New Roman" panose="02020603050405020304" pitchFamily="18" charset="0"/>
              </a:rPr>
              <a:t>比</a:t>
            </a:r>
            <a:r>
              <a:rPr lang="zh-CN" altLang="en-US" dirty="0" smtClean="0">
                <a:latin typeface="Times New Roman" panose="02020603050405020304" pitchFamily="18" charset="0"/>
                <a:ea typeface="+mj-ea"/>
                <a:cs typeface="Times New Roman" panose="02020603050405020304" pitchFamily="18" charset="0"/>
              </a:rPr>
              <a:t>相应的分子离子或碎片离子峰的</a:t>
            </a:r>
            <a:r>
              <a:rPr lang="zh-CN" altLang="en-US" dirty="0" smtClean="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大</a:t>
            </a:r>
            <a:r>
              <a:rPr lang="en-US" altLang="zh-CN" dirty="0" smtClean="0">
                <a:latin typeface="Times New Roman" panose="02020603050405020304" pitchFamily="18" charset="0"/>
                <a:ea typeface="+mj-ea"/>
                <a:cs typeface="Times New Roman" panose="02020603050405020304" pitchFamily="18" charset="0"/>
              </a:rPr>
              <a:t>;</a:t>
            </a:r>
          </a:p>
        </p:txBody>
      </p:sp>
      <p:sp>
        <p:nvSpPr>
          <p:cNvPr id="8" name="Rectangle 3"/>
          <p:cNvSpPr txBox="1">
            <a:spLocks noChangeArrowheads="1"/>
          </p:cNvSpPr>
          <p:nvPr/>
        </p:nvSpPr>
        <p:spPr bwMode="auto">
          <a:xfrm>
            <a:off x="385763" y="4913313"/>
            <a:ext cx="8507412"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dirty="0" smtClean="0">
                <a:latin typeface="Times New Roman" panose="02020603050405020304" pitchFamily="18" charset="0"/>
                <a:ea typeface="+mj-ea"/>
                <a:cs typeface="Times New Roman" panose="02020603050405020304" pitchFamily="18" charset="0"/>
              </a:rPr>
              <a:t>通过测定同位素离子峰与分子离子峰的相对强度</a:t>
            </a:r>
            <a:r>
              <a:rPr lang="zh-CN" altLang="en-US" dirty="0" smtClean="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推算分子式</a:t>
            </a:r>
            <a:r>
              <a:rPr lang="zh-CN" altLang="en-US" dirty="0" smtClean="0">
                <a:latin typeface="Times New Roman" panose="02020603050405020304" pitchFamily="18" charset="0"/>
                <a:ea typeface="+mj-ea"/>
                <a:cs typeface="Times New Roman" panose="02020603050405020304" pitchFamily="18" charset="0"/>
              </a:rPr>
              <a:t>。</a:t>
            </a:r>
            <a:endParaRPr lang="en-US" altLang="zh-CN" dirty="0" smtClean="0">
              <a:latin typeface="Times New Roman" panose="02020603050405020304" pitchFamily="18" charset="0"/>
              <a:ea typeface="+mj-ea"/>
              <a:cs typeface="Times New Roman" panose="02020603050405020304" pitchFamily="18" charset="0"/>
            </a:endParaRPr>
          </a:p>
        </p:txBody>
      </p:sp>
      <p:sp>
        <p:nvSpPr>
          <p:cNvPr id="28681" name="文本框 1"/>
          <p:cNvSpPr txBox="1">
            <a:spLocks noChangeArrowheads="1"/>
          </p:cNvSpPr>
          <p:nvPr/>
        </p:nvSpPr>
        <p:spPr bwMode="auto">
          <a:xfrm>
            <a:off x="6600825" y="592138"/>
            <a:ext cx="16287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en-US" altLang="zh-CN" sz="2400" baseline="30000">
                <a:latin typeface="Times New Roman" pitchFamily="18" charset="0"/>
                <a:ea typeface="宋体" pitchFamily="2" charset="-122"/>
              </a:rPr>
              <a:t>12</a:t>
            </a:r>
            <a:r>
              <a:rPr lang="en-US" altLang="zh-CN" sz="2400">
                <a:latin typeface="Times New Roman" pitchFamily="18" charset="0"/>
                <a:ea typeface="宋体" pitchFamily="2" charset="-122"/>
              </a:rPr>
              <a:t>C</a:t>
            </a:r>
            <a:r>
              <a:rPr lang="zh-CN" altLang="en-US" sz="2400">
                <a:latin typeface="Times New Roman" pitchFamily="18" charset="0"/>
                <a:ea typeface="宋体" pitchFamily="2" charset="-122"/>
              </a:rPr>
              <a:t>，</a:t>
            </a:r>
            <a:r>
              <a:rPr lang="en-US" altLang="zh-CN" sz="2400" baseline="30000">
                <a:latin typeface="Times New Roman" pitchFamily="18" charset="0"/>
                <a:ea typeface="宋体" pitchFamily="2" charset="-122"/>
              </a:rPr>
              <a:t>13</a:t>
            </a:r>
            <a:r>
              <a:rPr lang="en-US" altLang="zh-CN" sz="2400">
                <a:latin typeface="Times New Roman" pitchFamily="18" charset="0"/>
                <a:ea typeface="宋体" pitchFamily="2" charset="-122"/>
              </a:rPr>
              <a:t>C</a:t>
            </a:r>
          </a:p>
          <a:p>
            <a:pPr eaLnBrk="1" hangingPunct="1"/>
            <a:r>
              <a:rPr lang="en-US" altLang="zh-CN" sz="2400" baseline="30000">
                <a:latin typeface="Times New Roman" pitchFamily="18" charset="0"/>
                <a:ea typeface="宋体" pitchFamily="2" charset="-122"/>
              </a:rPr>
              <a:t>1</a:t>
            </a:r>
            <a:r>
              <a:rPr lang="en-US" altLang="zh-CN" sz="2400">
                <a:latin typeface="Times New Roman" pitchFamily="18" charset="0"/>
                <a:ea typeface="宋体" pitchFamily="2" charset="-122"/>
              </a:rPr>
              <a:t>H</a:t>
            </a:r>
            <a:r>
              <a:rPr lang="zh-CN" altLang="en-US" sz="2400">
                <a:latin typeface="Times New Roman" pitchFamily="18" charset="0"/>
                <a:ea typeface="宋体" pitchFamily="2" charset="-122"/>
              </a:rPr>
              <a:t>，</a:t>
            </a:r>
            <a:r>
              <a:rPr lang="en-US" altLang="zh-CN" sz="2400" baseline="30000">
                <a:latin typeface="Times New Roman" pitchFamily="18" charset="0"/>
                <a:ea typeface="宋体" pitchFamily="2" charset="-122"/>
              </a:rPr>
              <a:t>2</a:t>
            </a:r>
            <a:r>
              <a:rPr lang="en-US" altLang="zh-CN" sz="2400">
                <a:latin typeface="Times New Roman" pitchFamily="18" charset="0"/>
                <a:ea typeface="宋体" pitchFamily="2" charset="-122"/>
              </a:rPr>
              <a:t>H</a:t>
            </a:r>
            <a:endParaRPr lang="zh-CN" altLang="en-US" sz="2400">
              <a:latin typeface="Times New Roman" pitchFamily="18" charset="0"/>
              <a:ea typeface="宋体" pitchFamily="2"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ppt_x</p:attrName>
                                        </p:attrNameLst>
                                      </p:cBhvr>
                                      <p:tavLst>
                                        <p:tav tm="0">
                                          <p:val>
                                            <p:strVal val="#ppt_x"/>
                                          </p:val>
                                        </p:tav>
                                        <p:tav tm="100000">
                                          <p:val>
                                            <p:strVal val="#ppt_x"/>
                                          </p:val>
                                        </p:tav>
                                      </p:tavLst>
                                    </p:anim>
                                    <p:anim calcmode="lin" valueType="num">
                                      <p:cBhvr additive="base">
                                        <p:cTn id="2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1" grpId="0" build="p"/>
      <p:bldP spid="6"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413CB19-AB08-4CF3-9FDE-D216577CE43A}"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2969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6C33F89B-8C77-4C60-BD71-8EB1DF23AF17}" type="slidenum">
              <a:rPr lang="en-US" altLang="zh-CN" sz="1200" smtClean="0">
                <a:latin typeface="Verdana" pitchFamily="34" charset="0"/>
                <a:ea typeface="宋体" pitchFamily="2" charset="-122"/>
              </a:rPr>
              <a:pPr eaLnBrk="1" hangingPunct="1">
                <a:lnSpc>
                  <a:spcPct val="100000"/>
                </a:lnSpc>
              </a:pPr>
              <a:t>23</a:t>
            </a:fld>
            <a:endParaRPr lang="en-US" altLang="zh-CN" sz="1200" smtClean="0">
              <a:latin typeface="Verdana" pitchFamily="34" charset="0"/>
              <a:ea typeface="宋体" pitchFamily="2" charset="-122"/>
            </a:endParaRPr>
          </a:p>
        </p:txBody>
      </p:sp>
      <p:sp>
        <p:nvSpPr>
          <p:cNvPr id="29700" name="Rectangle 2"/>
          <p:cNvSpPr>
            <a:spLocks noGrp="1" noChangeArrowheads="1"/>
          </p:cNvSpPr>
          <p:nvPr>
            <p:ph type="title"/>
          </p:nvPr>
        </p:nvSpPr>
        <p:spPr>
          <a:xfrm>
            <a:off x="628650" y="365125"/>
            <a:ext cx="3943350" cy="1325563"/>
          </a:xfrm>
        </p:spPr>
        <p:txBody>
          <a:bodyPr/>
          <a:lstStyle/>
          <a:p>
            <a:pPr eaLnBrk="1" hangingPunct="1"/>
            <a:r>
              <a:rPr lang="zh-CN" altLang="en-US" sz="4000" b="1" smtClean="0">
                <a:latin typeface="微软雅黑" pitchFamily="34" charset="-122"/>
                <a:ea typeface="微软雅黑" pitchFamily="34" charset="-122"/>
              </a:rPr>
              <a:t>四、多电荷离子</a:t>
            </a:r>
          </a:p>
        </p:txBody>
      </p:sp>
      <p:sp>
        <p:nvSpPr>
          <p:cNvPr id="29701" name="Rectangle 3"/>
          <p:cNvSpPr>
            <a:spLocks noGrp="1" noChangeArrowheads="1"/>
          </p:cNvSpPr>
          <p:nvPr>
            <p:ph type="body" idx="1"/>
          </p:nvPr>
        </p:nvSpPr>
        <p:spPr>
          <a:xfrm>
            <a:off x="179388" y="1690688"/>
            <a:ext cx="8820150" cy="2827337"/>
          </a:xfrm>
        </p:spPr>
        <p:txBody>
          <a:bodyPr/>
          <a:lstStyle/>
          <a:p>
            <a:pPr marL="0" lvl="1" indent="0" eaLnBrk="1" hangingPunct="1">
              <a:lnSpc>
                <a:spcPct val="150000"/>
              </a:lnSpc>
              <a:spcBef>
                <a:spcPct val="0"/>
              </a:spcBef>
              <a:buClr>
                <a:srgbClr val="FF00FF"/>
              </a:buClr>
              <a:buFont typeface="Wingdings" pitchFamily="2" charset="2"/>
              <a:buChar char="v"/>
            </a:pPr>
            <a:r>
              <a:rPr lang="en-US" altLang="zh-CN" sz="3000" b="1" smtClean="0">
                <a:latin typeface="楷体_GB2312" pitchFamily="49" charset="-122"/>
                <a:ea typeface="楷体_GB2312" pitchFamily="49" charset="-122"/>
              </a:rPr>
              <a:t> </a:t>
            </a:r>
            <a:r>
              <a:rPr lang="zh-CN" altLang="en-US" sz="3200" b="1" smtClean="0">
                <a:latin typeface="Times New Roman" pitchFamily="18" charset="0"/>
                <a:cs typeface="Times New Roman" pitchFamily="18" charset="0"/>
              </a:rPr>
              <a:t>由分子</a:t>
            </a:r>
            <a:r>
              <a:rPr lang="zh-CN" altLang="en-US" sz="3200" b="1" smtClean="0">
                <a:solidFill>
                  <a:srgbClr val="0000CC"/>
                </a:solidFill>
                <a:latin typeface="微软雅黑" pitchFamily="34" charset="-122"/>
                <a:ea typeface="微软雅黑" pitchFamily="34" charset="-122"/>
                <a:cs typeface="Times New Roman" pitchFamily="18" charset="0"/>
              </a:rPr>
              <a:t>丢失两个或两个以上的电子</a:t>
            </a:r>
            <a:r>
              <a:rPr lang="zh-CN" altLang="en-US" sz="3200" b="1" smtClean="0">
                <a:latin typeface="Times New Roman" pitchFamily="18" charset="0"/>
                <a:cs typeface="Times New Roman" pitchFamily="18" charset="0"/>
              </a:rPr>
              <a:t>而生成，即</a:t>
            </a:r>
            <a:r>
              <a:rPr lang="en-US" altLang="zh-CN" sz="3200" b="1" i="1" smtClean="0">
                <a:latin typeface="Times New Roman" pitchFamily="18" charset="0"/>
                <a:cs typeface="Times New Roman" pitchFamily="18" charset="0"/>
              </a:rPr>
              <a:t>Z</a:t>
            </a:r>
            <a:r>
              <a:rPr lang="en-US" altLang="zh-CN" sz="3200" b="1" smtClean="0">
                <a:latin typeface="Times New Roman" pitchFamily="18" charset="0"/>
                <a:cs typeface="Times New Roman" pitchFamily="18" charset="0"/>
              </a:rPr>
              <a:t>≥2</a:t>
            </a:r>
            <a:r>
              <a:rPr lang="zh-CN" altLang="en-US" sz="3200" b="1" smtClean="0">
                <a:latin typeface="Times New Roman" pitchFamily="18" charset="0"/>
                <a:cs typeface="Times New Roman" pitchFamily="18" charset="0"/>
              </a:rPr>
              <a:t>；</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只有稳定结构才能生成。</a:t>
            </a:r>
          </a:p>
          <a:p>
            <a:pPr marL="0" lvl="1" indent="0" eaLnBrk="1" hangingPunct="1">
              <a:lnSpc>
                <a:spcPct val="150000"/>
              </a:lnSpc>
              <a:spcBef>
                <a:spcPct val="0"/>
              </a:spcBef>
              <a:buClr>
                <a:srgbClr val="FF00FF"/>
              </a:buClr>
              <a:buFont typeface="Wingdings" pitchFamily="2" charset="2"/>
              <a:buNone/>
            </a:pPr>
            <a:r>
              <a:rPr lang="zh-CN" altLang="en-US" sz="3200" b="1" smtClean="0">
                <a:latin typeface="Times New Roman" pitchFamily="18" charset="0"/>
                <a:cs typeface="Times New Roman" pitchFamily="18" charset="0"/>
              </a:rPr>
              <a:t>如苯分子的双电荷离子</a:t>
            </a:r>
            <a:r>
              <a:rPr lang="en-US" altLang="zh-CN" sz="3200" b="1" i="1" smtClean="0">
                <a:latin typeface="Times New Roman" pitchFamily="18" charset="0"/>
                <a:cs typeface="Times New Roman" pitchFamily="18" charset="0"/>
              </a:rPr>
              <a:t>m/z</a:t>
            </a:r>
            <a:r>
              <a:rPr lang="en-US" altLang="zh-CN" sz="3200" b="1" smtClean="0">
                <a:latin typeface="Times New Roman" pitchFamily="18" charset="0"/>
                <a:cs typeface="Times New Roman" pitchFamily="18" charset="0"/>
              </a:rPr>
              <a:t>39</a:t>
            </a:r>
            <a:r>
              <a:rPr lang="zh-CN" altLang="en-US" sz="3200" b="1" smtClean="0">
                <a:latin typeface="Times New Roman" pitchFamily="18" charset="0"/>
                <a:cs typeface="Times New Roman" pitchFamily="18" charset="0"/>
              </a:rPr>
              <a:t>。</a:t>
            </a:r>
          </a:p>
        </p:txBody>
      </p:sp>
    </p:spTree>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1BFD735-111C-4781-BB2F-914E4BA19F40}"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072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122BEA5D-8B8C-4564-933A-D7AD2B338EB0}" type="slidenum">
              <a:rPr lang="en-US" altLang="zh-CN" sz="1200" smtClean="0">
                <a:latin typeface="Verdana" pitchFamily="34" charset="0"/>
                <a:ea typeface="宋体" pitchFamily="2" charset="-122"/>
              </a:rPr>
              <a:pPr eaLnBrk="1" hangingPunct="1">
                <a:lnSpc>
                  <a:spcPct val="100000"/>
                </a:lnSpc>
              </a:pPr>
              <a:t>24</a:t>
            </a:fld>
            <a:endParaRPr lang="en-US" altLang="zh-CN" sz="1200" smtClean="0">
              <a:latin typeface="Verdana" pitchFamily="34" charset="0"/>
              <a:ea typeface="宋体" pitchFamily="2" charset="-122"/>
            </a:endParaRPr>
          </a:p>
        </p:txBody>
      </p:sp>
      <p:sp>
        <p:nvSpPr>
          <p:cNvPr id="12292" name="Rectangle 2"/>
          <p:cNvSpPr>
            <a:spLocks noChangeArrowheads="1"/>
          </p:cNvSpPr>
          <p:nvPr/>
        </p:nvSpPr>
        <p:spPr bwMode="auto">
          <a:xfrm>
            <a:off x="247650" y="1673225"/>
            <a:ext cx="8496300" cy="442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marL="0" lvl="1">
              <a:lnSpc>
                <a:spcPct val="150000"/>
              </a:lnSpc>
              <a:spcBef>
                <a:spcPct val="0"/>
              </a:spcBef>
              <a:buFontTx/>
              <a:buNone/>
              <a:defRPr/>
            </a:pPr>
            <a:r>
              <a:rPr lang="zh-CN" altLang="en-US" sz="3200" dirty="0" smtClean="0">
                <a:latin typeface="楷体_GB2312" pitchFamily="49" charset="-122"/>
              </a:rPr>
              <a:t>   </a:t>
            </a:r>
            <a:r>
              <a:rPr lang="zh-CN" altLang="en-US" sz="3200" dirty="0" smtClean="0">
                <a:latin typeface="Times New Roman" panose="02020603050405020304" pitchFamily="18" charset="0"/>
                <a:ea typeface="+mn-ea"/>
                <a:cs typeface="Times New Roman" panose="02020603050405020304" pitchFamily="18" charset="0"/>
              </a:rPr>
              <a:t>离子源局部浓度过大时，发生离子</a:t>
            </a:r>
            <a:r>
              <a:rPr lang="en-US" altLang="zh-CN" sz="3200" dirty="0" smtClean="0">
                <a:latin typeface="Times New Roman" panose="02020603050405020304" pitchFamily="18" charset="0"/>
                <a:ea typeface="+mn-ea"/>
                <a:cs typeface="Times New Roman" panose="02020603050405020304" pitchFamily="18" charset="0"/>
              </a:rPr>
              <a:t>-</a:t>
            </a:r>
            <a:r>
              <a:rPr lang="zh-CN" altLang="en-US" sz="3200" dirty="0" smtClean="0">
                <a:latin typeface="Times New Roman" panose="02020603050405020304" pitchFamily="18" charset="0"/>
                <a:ea typeface="+mn-ea"/>
                <a:cs typeface="Times New Roman" panose="02020603050405020304" pitchFamily="18" charset="0"/>
              </a:rPr>
              <a:t>分子碰撞，生成一个</a:t>
            </a:r>
            <a:r>
              <a:rPr lang="zh-CN" altLang="en-US" sz="3200" dirty="0" smtClean="0">
                <a:solidFill>
                  <a:srgbClr val="0000CC"/>
                </a:solidFill>
                <a:latin typeface="微软雅黑" panose="020B0503020204020204" pitchFamily="34" charset="-122"/>
                <a:ea typeface="微软雅黑" panose="020B0503020204020204" pitchFamily="34" charset="-122"/>
                <a:cs typeface="Times New Roman" panose="02020603050405020304" pitchFamily="18" charset="0"/>
              </a:rPr>
              <a:t>比分子离子更大质量的离子</a:t>
            </a:r>
            <a:r>
              <a:rPr lang="zh-CN" altLang="en-US" sz="3200" dirty="0" smtClean="0">
                <a:latin typeface="Times New Roman" panose="02020603050405020304" pitchFamily="18" charset="0"/>
                <a:ea typeface="+mn-ea"/>
                <a:cs typeface="Times New Roman" panose="02020603050405020304" pitchFamily="18" charset="0"/>
              </a:rPr>
              <a:t>，这个离子称为离子</a:t>
            </a:r>
            <a:r>
              <a:rPr lang="en-US" altLang="zh-CN" sz="3200" dirty="0" smtClean="0">
                <a:latin typeface="Times New Roman" panose="02020603050405020304" pitchFamily="18" charset="0"/>
                <a:ea typeface="+mn-ea"/>
                <a:cs typeface="Times New Roman" panose="02020603050405020304" pitchFamily="18" charset="0"/>
              </a:rPr>
              <a:t>-</a:t>
            </a:r>
            <a:r>
              <a:rPr lang="zh-CN" altLang="en-US" sz="3200" dirty="0" smtClean="0">
                <a:latin typeface="Times New Roman" panose="02020603050405020304" pitchFamily="18" charset="0"/>
                <a:ea typeface="+mn-ea"/>
                <a:cs typeface="Times New Roman" panose="02020603050405020304" pitchFamily="18" charset="0"/>
              </a:rPr>
              <a:t>分子反应生成的离子。</a:t>
            </a:r>
          </a:p>
          <a:p>
            <a:pPr marL="0" lvl="1">
              <a:lnSpc>
                <a:spcPct val="150000"/>
              </a:lnSpc>
              <a:spcBef>
                <a:spcPct val="20000"/>
              </a:spcBef>
              <a:buClr>
                <a:srgbClr val="FF00FF"/>
              </a:buClr>
              <a:buSzPct val="95000"/>
              <a:buFont typeface="Wingdings" panose="05000000000000000000" pitchFamily="2" charset="2"/>
              <a:buNone/>
              <a:defRPr/>
            </a:pPr>
            <a:r>
              <a:rPr lang="zh-CN" altLang="en-US" sz="3200" dirty="0" smtClean="0">
                <a:latin typeface="Times New Roman" panose="02020603050405020304" pitchFamily="18" charset="0"/>
                <a:ea typeface="+mn-ea"/>
                <a:cs typeface="Times New Roman" panose="02020603050405020304" pitchFamily="18" charset="0"/>
              </a:rPr>
              <a:t>      在</a:t>
            </a:r>
            <a:r>
              <a:rPr lang="en-US" altLang="zh-CN" sz="3200" dirty="0" smtClean="0">
                <a:latin typeface="Times New Roman" panose="02020603050405020304" pitchFamily="18" charset="0"/>
                <a:ea typeface="+mn-ea"/>
                <a:cs typeface="Times New Roman" panose="02020603050405020304" pitchFamily="18" charset="0"/>
              </a:rPr>
              <a:t>EI</a:t>
            </a:r>
            <a:r>
              <a:rPr lang="zh-CN" altLang="zh-CN" sz="3200" dirty="0" smtClean="0">
                <a:latin typeface="Times New Roman" panose="02020603050405020304" pitchFamily="18" charset="0"/>
                <a:ea typeface="+mn-ea"/>
                <a:cs typeface="Times New Roman" panose="02020603050405020304" pitchFamily="18" charset="0"/>
              </a:rPr>
              <a:t>时，应避免这类离子的产生；而</a:t>
            </a:r>
            <a:r>
              <a:rPr lang="en-US" altLang="zh-CN" sz="3200" dirty="0" smtClean="0">
                <a:latin typeface="Times New Roman" panose="02020603050405020304" pitchFamily="18" charset="0"/>
                <a:ea typeface="+mn-ea"/>
                <a:cs typeface="Times New Roman" panose="02020603050405020304" pitchFamily="18" charset="0"/>
              </a:rPr>
              <a:t>CI-MS</a:t>
            </a:r>
            <a:r>
              <a:rPr lang="zh-CN" altLang="zh-CN" sz="3200" dirty="0" smtClean="0">
                <a:latin typeface="Times New Roman" panose="02020603050405020304" pitchFamily="18" charset="0"/>
                <a:ea typeface="+mn-ea"/>
                <a:cs typeface="Times New Roman" panose="02020603050405020304" pitchFamily="18" charset="0"/>
              </a:rPr>
              <a:t>正是利用离子</a:t>
            </a:r>
            <a:r>
              <a:rPr lang="en-US" altLang="zh-CN" sz="3200" dirty="0" smtClean="0">
                <a:latin typeface="Times New Roman" panose="02020603050405020304" pitchFamily="18" charset="0"/>
                <a:ea typeface="+mn-ea"/>
                <a:cs typeface="Times New Roman" panose="02020603050405020304" pitchFamily="18" charset="0"/>
              </a:rPr>
              <a:t>-</a:t>
            </a:r>
            <a:r>
              <a:rPr lang="zh-CN" altLang="en-US" sz="3200" dirty="0" smtClean="0">
                <a:latin typeface="Times New Roman" panose="02020603050405020304" pitchFamily="18" charset="0"/>
                <a:ea typeface="+mn-ea"/>
                <a:cs typeface="Times New Roman" panose="02020603050405020304" pitchFamily="18" charset="0"/>
              </a:rPr>
              <a:t>分子反应使样品分子电离。</a:t>
            </a:r>
          </a:p>
          <a:p>
            <a:pPr lvl="1">
              <a:lnSpc>
                <a:spcPct val="125000"/>
              </a:lnSpc>
              <a:spcBef>
                <a:spcPct val="0"/>
              </a:spcBef>
              <a:buFontTx/>
              <a:buNone/>
              <a:defRPr/>
            </a:pPr>
            <a:endParaRPr lang="en-US" altLang="zh-CN" dirty="0" smtClean="0">
              <a:latin typeface="楷体_GB2312" pitchFamily="49" charset="-122"/>
            </a:endParaRPr>
          </a:p>
        </p:txBody>
      </p:sp>
      <p:sp>
        <p:nvSpPr>
          <p:cNvPr id="30725" name="Rectangle 3"/>
          <p:cNvSpPr>
            <a:spLocks noChangeArrowheads="1"/>
          </p:cNvSpPr>
          <p:nvPr/>
        </p:nvSpPr>
        <p:spPr bwMode="auto">
          <a:xfrm>
            <a:off x="247650" y="260350"/>
            <a:ext cx="7165975"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100000"/>
              </a:lnSpc>
            </a:pPr>
            <a:r>
              <a:rPr lang="zh-CN" altLang="en-US" sz="4000">
                <a:latin typeface="微软雅黑" pitchFamily="34" charset="-122"/>
                <a:ea typeface="微软雅黑" pitchFamily="34" charset="-122"/>
              </a:rPr>
              <a:t>五、离子</a:t>
            </a:r>
            <a:r>
              <a:rPr lang="en-US" altLang="zh-CN" sz="4000">
                <a:latin typeface="微软雅黑" pitchFamily="34" charset="-122"/>
                <a:ea typeface="微软雅黑" pitchFamily="34" charset="-122"/>
              </a:rPr>
              <a:t>-</a:t>
            </a:r>
            <a:r>
              <a:rPr lang="zh-CN" altLang="en-US" sz="4000">
                <a:latin typeface="微软雅黑" pitchFamily="34" charset="-122"/>
                <a:ea typeface="微软雅黑" pitchFamily="34" charset="-122"/>
              </a:rPr>
              <a:t>分子反应生成的离子</a:t>
            </a:r>
          </a:p>
        </p:txBody>
      </p:sp>
    </p:spTree>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B1AACE1A-170F-4B5F-8E5A-175190923C35}"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174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75E40FFC-ACF8-4864-9565-41EF4DD7F83F}" type="slidenum">
              <a:rPr lang="en-US" altLang="zh-CN" sz="1200" smtClean="0">
                <a:latin typeface="Verdana" pitchFamily="34" charset="0"/>
                <a:ea typeface="宋体" pitchFamily="2" charset="-122"/>
              </a:rPr>
              <a:pPr eaLnBrk="1" hangingPunct="1">
                <a:lnSpc>
                  <a:spcPct val="100000"/>
                </a:lnSpc>
              </a:pPr>
              <a:t>25</a:t>
            </a:fld>
            <a:endParaRPr lang="en-US" altLang="zh-CN" sz="1200" smtClean="0">
              <a:latin typeface="Verdana" pitchFamily="34" charset="0"/>
              <a:ea typeface="宋体" pitchFamily="2" charset="-122"/>
            </a:endParaRPr>
          </a:p>
        </p:txBody>
      </p:sp>
      <p:sp>
        <p:nvSpPr>
          <p:cNvPr id="31748" name="Rectangle 2"/>
          <p:cNvSpPr>
            <a:spLocks noGrp="1" noChangeArrowheads="1"/>
          </p:cNvSpPr>
          <p:nvPr>
            <p:ph type="title"/>
          </p:nvPr>
        </p:nvSpPr>
        <p:spPr>
          <a:xfrm>
            <a:off x="261938" y="0"/>
            <a:ext cx="2790825" cy="1325563"/>
          </a:xfrm>
        </p:spPr>
        <p:txBody>
          <a:bodyPr/>
          <a:lstStyle/>
          <a:p>
            <a:pPr eaLnBrk="1" hangingPunct="1"/>
            <a:r>
              <a:rPr lang="zh-CN" altLang="en-US" sz="4000" b="1" smtClean="0">
                <a:latin typeface="微软雅黑" pitchFamily="34" charset="-122"/>
                <a:ea typeface="微软雅黑" pitchFamily="34" charset="-122"/>
              </a:rPr>
              <a:t>六、负离子</a:t>
            </a:r>
          </a:p>
        </p:txBody>
      </p:sp>
      <p:sp>
        <p:nvSpPr>
          <p:cNvPr id="31749" name="Rectangle 3"/>
          <p:cNvSpPr>
            <a:spLocks noGrp="1" noChangeArrowheads="1"/>
          </p:cNvSpPr>
          <p:nvPr>
            <p:ph type="body" idx="1"/>
          </p:nvPr>
        </p:nvSpPr>
        <p:spPr>
          <a:xfrm>
            <a:off x="71438" y="1196975"/>
            <a:ext cx="8964612" cy="4608513"/>
          </a:xfrm>
        </p:spPr>
        <p:txBody>
          <a:bodyPr/>
          <a:lstStyle/>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带</a:t>
            </a:r>
            <a:r>
              <a:rPr lang="zh-CN" altLang="en-US" sz="3200" b="1" smtClean="0">
                <a:solidFill>
                  <a:srgbClr val="0000CC"/>
                </a:solidFill>
                <a:latin typeface="微软雅黑" pitchFamily="34" charset="-122"/>
                <a:ea typeface="微软雅黑" pitchFamily="34" charset="-122"/>
                <a:cs typeface="Times New Roman" pitchFamily="18" charset="0"/>
              </a:rPr>
              <a:t>负电荷的离子</a:t>
            </a:r>
            <a:r>
              <a:rPr lang="zh-CN" altLang="en-US" sz="3200" b="1" smtClean="0">
                <a:latin typeface="Times New Roman" pitchFamily="18" charset="0"/>
                <a:cs typeface="Times New Roman" pitchFamily="18" charset="0"/>
              </a:rPr>
              <a:t>：通过电子捕获及形成离子对等机理产生；</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在</a:t>
            </a:r>
            <a:r>
              <a:rPr lang="en-US" altLang="zh-CN" sz="3200" b="1" smtClean="0">
                <a:latin typeface="Times New Roman" pitchFamily="18" charset="0"/>
                <a:cs typeface="Times New Roman" pitchFamily="18" charset="0"/>
              </a:rPr>
              <a:t>EI</a:t>
            </a:r>
            <a:r>
              <a:rPr lang="zh-CN" altLang="zh-CN" sz="3200" b="1" smtClean="0">
                <a:latin typeface="Times New Roman" pitchFamily="18" charset="0"/>
                <a:cs typeface="Times New Roman" pitchFamily="18" charset="0"/>
              </a:rPr>
              <a:t>时</a:t>
            </a:r>
            <a:r>
              <a:rPr lang="zh-CN" altLang="en-US" sz="3200" b="1" smtClean="0">
                <a:latin typeface="Times New Roman" pitchFamily="18" charset="0"/>
                <a:cs typeface="Times New Roman" pitchFamily="18" charset="0"/>
              </a:rPr>
              <a:t>，负离子的</a:t>
            </a:r>
            <a:r>
              <a:rPr lang="zh-CN" altLang="en-US" sz="3200" b="1" smtClean="0">
                <a:solidFill>
                  <a:srgbClr val="0000CC"/>
                </a:solidFill>
                <a:latin typeface="微软雅黑" pitchFamily="34" charset="-122"/>
                <a:ea typeface="微软雅黑" pitchFamily="34" charset="-122"/>
              </a:rPr>
              <a:t>产率很低</a:t>
            </a:r>
            <a:r>
              <a:rPr lang="zh-CN" altLang="en-US" sz="3200" b="1" smtClean="0">
                <a:latin typeface="Times New Roman" pitchFamily="18" charset="0"/>
                <a:cs typeface="Times New Roman" pitchFamily="18" charset="0"/>
              </a:rPr>
              <a:t>（</a:t>
            </a:r>
            <a:r>
              <a:rPr lang="zh-CN" altLang="en-US" sz="3200" b="1" smtClean="0">
                <a:latin typeface="Times New Roman" pitchFamily="18" charset="0"/>
                <a:cs typeface="Times New Roman" pitchFamily="18" charset="0"/>
                <a:sym typeface="Symbol" pitchFamily="18" charset="2"/>
              </a:rPr>
              <a:t></a:t>
            </a:r>
            <a:r>
              <a:rPr lang="zh-CN" altLang="en-US" sz="3200" b="1" smtClean="0">
                <a:latin typeface="Times New Roman" pitchFamily="18" charset="0"/>
                <a:cs typeface="Times New Roman" pitchFamily="18" charset="0"/>
              </a:rPr>
              <a:t>正离子的</a:t>
            </a:r>
            <a:r>
              <a:rPr lang="en-US" altLang="zh-CN" sz="3200" b="1" smtClean="0">
                <a:latin typeface="Times New Roman" pitchFamily="18" charset="0"/>
                <a:cs typeface="Times New Roman" pitchFamily="18" charset="0"/>
              </a:rPr>
              <a:t>10</a:t>
            </a:r>
            <a:r>
              <a:rPr lang="zh-CN" altLang="en-US" sz="3200" b="1" baseline="30000" smtClean="0">
                <a:latin typeface="Times New Roman" pitchFamily="18" charset="0"/>
                <a:cs typeface="Times New Roman" pitchFamily="18" charset="0"/>
              </a:rPr>
              <a:t>－</a:t>
            </a:r>
            <a:r>
              <a:rPr lang="en-US" altLang="zh-CN" sz="3200" b="1" baseline="30000" smtClean="0">
                <a:latin typeface="Times New Roman" pitchFamily="18" charset="0"/>
                <a:cs typeface="Times New Roman" pitchFamily="18" charset="0"/>
              </a:rPr>
              <a:t>4</a:t>
            </a:r>
            <a:r>
              <a:rPr lang="zh-CN" altLang="en-US" sz="3200" b="1" smtClean="0">
                <a:latin typeface="Times New Roman" pitchFamily="18" charset="0"/>
                <a:cs typeface="Times New Roman" pitchFamily="18" charset="0"/>
              </a:rPr>
              <a:t>），常规质谱研究正离子；</a:t>
            </a:r>
          </a:p>
          <a:p>
            <a:pPr marL="0" lvl="1" indent="0" eaLnBrk="1" hangingPunct="1">
              <a:lnSpc>
                <a:spcPct val="150000"/>
              </a:lnSpc>
              <a:spcBef>
                <a:spcPct val="0"/>
              </a:spcBef>
              <a:buClr>
                <a:srgbClr val="FF00FF"/>
              </a:buClr>
              <a:buFont typeface="Wingdings" pitchFamily="2" charset="2"/>
              <a:buChar char="v"/>
            </a:pPr>
            <a:r>
              <a:rPr lang="zh-CN" altLang="en-US" sz="3200" b="1" smtClean="0">
                <a:latin typeface="Times New Roman" pitchFamily="18" charset="0"/>
                <a:cs typeface="Times New Roman" pitchFamily="18" charset="0"/>
              </a:rPr>
              <a:t> 在</a:t>
            </a:r>
            <a:r>
              <a:rPr lang="en-US" altLang="zh-CN" sz="3200" b="1" smtClean="0">
                <a:latin typeface="Times New Roman" pitchFamily="18" charset="0"/>
                <a:cs typeface="Times New Roman" pitchFamily="18" charset="0"/>
              </a:rPr>
              <a:t>CI-MS</a:t>
            </a:r>
            <a:r>
              <a:rPr lang="zh-CN" altLang="zh-CN" sz="3200" b="1" smtClean="0">
                <a:latin typeface="Times New Roman" pitchFamily="18" charset="0"/>
                <a:cs typeface="Times New Roman" pitchFamily="18" charset="0"/>
              </a:rPr>
              <a:t>中，含电负性原子的化合物负离子产率很高，具有高选择性，可以利用</a:t>
            </a:r>
            <a:r>
              <a:rPr lang="zh-CN" altLang="en-US" sz="3200" b="1" smtClean="0">
                <a:latin typeface="Times New Roman" pitchFamily="18" charset="0"/>
                <a:cs typeface="Times New Roman" pitchFamily="18" charset="0"/>
              </a:rPr>
              <a:t>。</a:t>
            </a:r>
          </a:p>
        </p:txBody>
      </p:sp>
    </p:spTree>
  </p:cSld>
  <p:clrMapOvr>
    <a:masterClrMapping/>
  </p:clrMapOvr>
  <p:transition spd="slow"/>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97248B5-BA30-4910-8A99-D4931F1CCDBB}"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277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FC081A4A-2846-41F8-8F19-F0876BD0B98F}" type="slidenum">
              <a:rPr lang="en-US" altLang="zh-CN" sz="1200" smtClean="0">
                <a:latin typeface="Verdana" pitchFamily="34" charset="0"/>
                <a:ea typeface="宋体" pitchFamily="2" charset="-122"/>
              </a:rPr>
              <a:pPr eaLnBrk="1" hangingPunct="1">
                <a:lnSpc>
                  <a:spcPct val="100000"/>
                </a:lnSpc>
              </a:pPr>
              <a:t>26</a:t>
            </a:fld>
            <a:endParaRPr lang="en-US" altLang="zh-CN" sz="1200" smtClean="0">
              <a:latin typeface="Verdana" pitchFamily="34" charset="0"/>
              <a:ea typeface="宋体" pitchFamily="2" charset="-122"/>
            </a:endParaRPr>
          </a:p>
        </p:txBody>
      </p:sp>
      <p:sp>
        <p:nvSpPr>
          <p:cNvPr id="32772" name="Rectangle 2"/>
          <p:cNvSpPr>
            <a:spLocks noGrp="1" noChangeArrowheads="1"/>
          </p:cNvSpPr>
          <p:nvPr>
            <p:ph type="title"/>
          </p:nvPr>
        </p:nvSpPr>
        <p:spPr>
          <a:xfrm>
            <a:off x="530225" y="0"/>
            <a:ext cx="3511550" cy="1325563"/>
          </a:xfrm>
        </p:spPr>
        <p:txBody>
          <a:bodyPr/>
          <a:lstStyle/>
          <a:p>
            <a:pPr eaLnBrk="1" hangingPunct="1"/>
            <a:r>
              <a:rPr lang="zh-CN" altLang="en-US" sz="4000" b="1" smtClean="0">
                <a:latin typeface="微软雅黑" pitchFamily="34" charset="-122"/>
                <a:ea typeface="微软雅黑" pitchFamily="34" charset="-122"/>
              </a:rPr>
              <a:t>七、亚稳离子</a:t>
            </a:r>
          </a:p>
        </p:txBody>
      </p:sp>
      <p:sp>
        <p:nvSpPr>
          <p:cNvPr id="15365" name="Rectangle 3"/>
          <p:cNvSpPr>
            <a:spLocks noGrp="1" noChangeArrowheads="1"/>
          </p:cNvSpPr>
          <p:nvPr>
            <p:ph type="body" idx="1"/>
          </p:nvPr>
        </p:nvSpPr>
        <p:spPr>
          <a:xfrm>
            <a:off x="323850" y="1325563"/>
            <a:ext cx="8569325" cy="3759200"/>
          </a:xfrm>
        </p:spPr>
        <p:txBody>
          <a:body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b="1" dirty="0" smtClean="0">
                <a:latin typeface="+mn-ea"/>
              </a:rPr>
              <a:t> 在离子源到检测器的</a:t>
            </a:r>
            <a:r>
              <a:rPr lang="zh-CN" altLang="en-US" sz="3200" b="1" dirty="0" smtClean="0">
                <a:solidFill>
                  <a:srgbClr val="0000CC"/>
                </a:solidFill>
                <a:latin typeface="微软雅黑" panose="020B0503020204020204" pitchFamily="34" charset="-122"/>
                <a:ea typeface="微软雅黑" panose="020B0503020204020204" pitchFamily="34" charset="-122"/>
              </a:rPr>
              <a:t>运动过程中发生裂解</a:t>
            </a:r>
            <a:r>
              <a:rPr lang="zh-CN" altLang="en-US" sz="3200" b="1" dirty="0" smtClean="0">
                <a:latin typeface="+mn-ea"/>
              </a:rPr>
              <a:t>而生成的离子；</a:t>
            </a:r>
          </a:p>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b="1" dirty="0" smtClean="0">
                <a:latin typeface="+mn-ea"/>
              </a:rPr>
              <a:t> 是研究质谱裂解机理的重要手段</a:t>
            </a:r>
            <a:r>
              <a:rPr lang="en-US" altLang="zh-CN" sz="3200" b="1" dirty="0" smtClean="0">
                <a:latin typeface="+mn-ea"/>
              </a:rPr>
              <a:t>—</a:t>
            </a:r>
            <a:r>
              <a:rPr lang="zh-CN" altLang="en-US" sz="3200" b="1" dirty="0" smtClean="0">
                <a:solidFill>
                  <a:srgbClr val="0000CC"/>
                </a:solidFill>
                <a:latin typeface="微软雅黑" panose="020B0503020204020204" pitchFamily="34" charset="-122"/>
                <a:ea typeface="微软雅黑" panose="020B0503020204020204" pitchFamily="34" charset="-122"/>
              </a:rPr>
              <a:t>了解母离子和子离子之间的关系</a:t>
            </a:r>
            <a:r>
              <a:rPr lang="zh-CN" altLang="en-US" sz="3200" b="1" dirty="0" smtClean="0">
                <a:latin typeface="+mn-ea"/>
              </a:rPr>
              <a:t>；</a:t>
            </a:r>
          </a:p>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b="1" dirty="0" smtClean="0">
                <a:latin typeface="+mn-ea"/>
              </a:rPr>
              <a:t> 需用特殊实验技术获得</a:t>
            </a:r>
          </a:p>
        </p:txBody>
      </p:sp>
    </p:spTree>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0766CB7E-A317-4C63-9EED-E49F9D68D3A3}"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379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4ECDAC6-4B7D-434D-888A-EC38AB8040C7}" type="slidenum">
              <a:rPr lang="en-US" altLang="zh-CN" sz="1200" smtClean="0">
                <a:latin typeface="Verdana" pitchFamily="34" charset="0"/>
                <a:ea typeface="宋体" pitchFamily="2" charset="-122"/>
              </a:rPr>
              <a:pPr eaLnBrk="1" hangingPunct="1">
                <a:lnSpc>
                  <a:spcPct val="100000"/>
                </a:lnSpc>
              </a:pPr>
              <a:t>27</a:t>
            </a:fld>
            <a:endParaRPr lang="en-US" altLang="zh-CN" sz="1200" smtClean="0">
              <a:latin typeface="Verdana" pitchFamily="34" charset="0"/>
              <a:ea typeface="宋体" pitchFamily="2" charset="-122"/>
            </a:endParaRPr>
          </a:p>
        </p:txBody>
      </p:sp>
      <p:pic>
        <p:nvPicPr>
          <p:cNvPr id="33796" name="Picture 3" descr="B4-1"/>
          <p:cNvPicPr>
            <a:picLocks noChangeAspect="1" noChangeArrowheads="1"/>
          </p:cNvPicPr>
          <p:nvPr/>
        </p:nvPicPr>
        <p:blipFill>
          <a:blip r:embed="rId3">
            <a:extLst>
              <a:ext uri="{28A0092B-C50C-407E-A947-70E740481C1C}">
                <a14:useLocalDpi xmlns:a14="http://schemas.microsoft.com/office/drawing/2010/main" val="0"/>
              </a:ext>
            </a:extLst>
          </a:blip>
          <a:srcRect r="2960"/>
          <a:stretch>
            <a:fillRect/>
          </a:stretch>
        </p:blipFill>
        <p:spPr bwMode="auto">
          <a:xfrm>
            <a:off x="163513" y="1916113"/>
            <a:ext cx="880110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Text Box 4"/>
          <p:cNvSpPr txBox="1">
            <a:spLocks noChangeArrowheads="1"/>
          </p:cNvSpPr>
          <p:nvPr/>
        </p:nvSpPr>
        <p:spPr bwMode="auto">
          <a:xfrm>
            <a:off x="2484438" y="5661025"/>
            <a:ext cx="42481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00000"/>
              </a:lnSpc>
              <a:spcBef>
                <a:spcPct val="0"/>
              </a:spcBef>
              <a:buFontTx/>
              <a:buNone/>
              <a:defRPr/>
            </a:pPr>
            <a:r>
              <a:rPr lang="zh-CN" altLang="en-US" sz="3200" dirty="0" smtClean="0">
                <a:latin typeface="Times New Roman" panose="02020603050405020304" pitchFamily="18" charset="0"/>
                <a:ea typeface="+mn-ea"/>
                <a:cs typeface="Times New Roman" panose="02020603050405020304" pitchFamily="18" charset="0"/>
              </a:rPr>
              <a:t>正戊烷的 </a:t>
            </a:r>
            <a:r>
              <a:rPr lang="en-US" altLang="zh-CN" sz="3200" dirty="0" smtClean="0">
                <a:latin typeface="Times New Roman" panose="02020603050405020304" pitchFamily="18" charset="0"/>
                <a:ea typeface="+mn-ea"/>
                <a:cs typeface="Times New Roman" panose="02020603050405020304" pitchFamily="18" charset="0"/>
              </a:rPr>
              <a:t>EI-MS </a:t>
            </a:r>
            <a:r>
              <a:rPr lang="zh-CN" altLang="en-US" sz="3200" dirty="0" smtClean="0">
                <a:latin typeface="Times New Roman" panose="02020603050405020304" pitchFamily="18" charset="0"/>
                <a:ea typeface="+mn-ea"/>
                <a:cs typeface="Times New Roman" panose="02020603050405020304" pitchFamily="18" charset="0"/>
              </a:rPr>
              <a:t>谱</a:t>
            </a:r>
          </a:p>
        </p:txBody>
      </p:sp>
      <p:sp>
        <p:nvSpPr>
          <p:cNvPr id="16390" name="Text Box 5"/>
          <p:cNvSpPr txBox="1">
            <a:spLocks noChangeArrowheads="1"/>
          </p:cNvSpPr>
          <p:nvPr/>
        </p:nvSpPr>
        <p:spPr bwMode="auto">
          <a:xfrm>
            <a:off x="107950" y="252413"/>
            <a:ext cx="8893175"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50000"/>
              </a:lnSpc>
              <a:spcBef>
                <a:spcPct val="0"/>
              </a:spcBef>
              <a:buFontTx/>
              <a:buNone/>
              <a:defRPr/>
            </a:pPr>
            <a:r>
              <a:rPr lang="zh-CN" altLang="en-US" sz="3200" dirty="0" smtClean="0">
                <a:latin typeface="Times New Roman" panose="02020603050405020304" pitchFamily="18" charset="0"/>
                <a:ea typeface="+mn-ea"/>
                <a:cs typeface="Times New Roman" panose="02020603050405020304" pitchFamily="18" charset="0"/>
              </a:rPr>
              <a:t>常规的</a:t>
            </a:r>
            <a:r>
              <a:rPr lang="en-US" altLang="zh-CN" sz="3200" dirty="0" smtClean="0">
                <a:latin typeface="Times New Roman" panose="02020603050405020304" pitchFamily="18" charset="0"/>
                <a:ea typeface="+mn-ea"/>
                <a:cs typeface="Times New Roman" panose="02020603050405020304" pitchFamily="18" charset="0"/>
              </a:rPr>
              <a:t>EI</a:t>
            </a:r>
            <a:r>
              <a:rPr lang="zh-CN" altLang="en-US" sz="3200" dirty="0" smtClean="0">
                <a:latin typeface="Times New Roman" panose="02020603050405020304" pitchFamily="18" charset="0"/>
                <a:ea typeface="+mn-ea"/>
                <a:cs typeface="Times New Roman" panose="02020603050405020304" pitchFamily="18" charset="0"/>
              </a:rPr>
              <a:t>谱图中见到的只有三种</a:t>
            </a:r>
            <a:r>
              <a:rPr lang="en-US" altLang="zh-CN" sz="3200" dirty="0" smtClean="0">
                <a:latin typeface="Times New Roman" panose="02020603050405020304" pitchFamily="18" charset="0"/>
                <a:ea typeface="+mn-ea"/>
                <a:cs typeface="Times New Roman" panose="02020603050405020304" pitchFamily="18" charset="0"/>
              </a:rPr>
              <a:t>—</a:t>
            </a:r>
            <a:r>
              <a:rPr lang="zh-CN" altLang="en-US" sz="3200" dirty="0" smtClean="0">
                <a:solidFill>
                  <a:srgbClr val="0000CC"/>
                </a:solidFill>
                <a:latin typeface="微软雅黑" panose="020B0503020204020204" pitchFamily="34" charset="-122"/>
                <a:ea typeface="微软雅黑" panose="020B0503020204020204" pitchFamily="34" charset="-122"/>
              </a:rPr>
              <a:t>分子离子、碎片离子和同位素离子</a:t>
            </a:r>
            <a:r>
              <a:rPr lang="zh-CN" altLang="en-US" sz="3200" dirty="0" smtClean="0">
                <a:latin typeface="微软雅黑" panose="020B0503020204020204" pitchFamily="34" charset="-122"/>
                <a:ea typeface="微软雅黑" panose="020B0503020204020204" pitchFamily="34" charset="-122"/>
              </a:rPr>
              <a:t>。</a:t>
            </a:r>
          </a:p>
        </p:txBody>
      </p:sp>
      <p:sp>
        <p:nvSpPr>
          <p:cNvPr id="33799" name="Oval 6"/>
          <p:cNvSpPr>
            <a:spLocks noChangeArrowheads="1"/>
          </p:cNvSpPr>
          <p:nvPr/>
        </p:nvSpPr>
        <p:spPr bwMode="auto">
          <a:xfrm>
            <a:off x="8154988" y="4365625"/>
            <a:ext cx="719137" cy="503238"/>
          </a:xfrm>
          <a:prstGeom prst="ellipse">
            <a:avLst/>
          </a:prstGeom>
          <a:noFill/>
          <a:ln w="38100" cap="sq">
            <a:solidFill>
              <a:srgbClr val="0000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pPr>
            <a:endParaRPr lang="zh-CN" altLang="en-US" sz="1800">
              <a:latin typeface="Verdana" pitchFamily="34" charset="0"/>
            </a:endParaRPr>
          </a:p>
        </p:txBody>
      </p:sp>
    </p:spTree>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5E9E6616-EEAC-4EBA-8AC7-8358A398D92A}"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481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9AE7C443-8CC1-41A2-A180-A268EA3CEA3A}" type="slidenum">
              <a:rPr lang="en-US" altLang="zh-CN" sz="1200" smtClean="0">
                <a:latin typeface="Verdana" pitchFamily="34" charset="0"/>
                <a:ea typeface="宋体" pitchFamily="2" charset="-122"/>
              </a:rPr>
              <a:pPr eaLnBrk="1" hangingPunct="1">
                <a:lnSpc>
                  <a:spcPct val="100000"/>
                </a:lnSpc>
              </a:pPr>
              <a:t>28</a:t>
            </a:fld>
            <a:endParaRPr lang="en-US" altLang="zh-CN" sz="1200" smtClean="0">
              <a:latin typeface="Verdana" pitchFamily="34" charset="0"/>
              <a:ea typeface="宋体" pitchFamily="2" charset="-122"/>
            </a:endParaRPr>
          </a:p>
        </p:txBody>
      </p:sp>
      <p:pic>
        <p:nvPicPr>
          <p:cNvPr id="3482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5575"/>
            <a:ext cx="8350250" cy="442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1" name="Text Box 3"/>
          <p:cNvSpPr txBox="1">
            <a:spLocks noChangeArrowheads="1"/>
          </p:cNvSpPr>
          <p:nvPr/>
        </p:nvSpPr>
        <p:spPr bwMode="auto">
          <a:xfrm>
            <a:off x="2051050" y="4814888"/>
            <a:ext cx="51847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sz="3200">
                <a:latin typeface="Times New Roman" pitchFamily="18" charset="0"/>
              </a:rPr>
              <a:t>2</a:t>
            </a:r>
            <a:r>
              <a:rPr lang="zh-CN" altLang="en-US" sz="3200">
                <a:latin typeface="Times New Roman" pitchFamily="18" charset="0"/>
              </a:rPr>
              <a:t>，</a:t>
            </a:r>
            <a:r>
              <a:rPr lang="en-US" altLang="zh-CN" sz="3200">
                <a:latin typeface="Times New Roman" pitchFamily="18" charset="0"/>
              </a:rPr>
              <a:t>2-</a:t>
            </a:r>
            <a:r>
              <a:rPr lang="zh-CN" altLang="en-US" sz="3200">
                <a:latin typeface="Times New Roman" pitchFamily="18" charset="0"/>
              </a:rPr>
              <a:t>二甲基丙烷的</a:t>
            </a:r>
            <a:r>
              <a:rPr lang="en-US" altLang="zh-CN" sz="3200">
                <a:latin typeface="Times New Roman" pitchFamily="18" charset="0"/>
              </a:rPr>
              <a:t>EI-MS</a:t>
            </a:r>
          </a:p>
        </p:txBody>
      </p:sp>
      <p:sp>
        <p:nvSpPr>
          <p:cNvPr id="34822" name="Oval 4"/>
          <p:cNvSpPr>
            <a:spLocks noChangeArrowheads="1"/>
          </p:cNvSpPr>
          <p:nvPr/>
        </p:nvSpPr>
        <p:spPr bwMode="auto">
          <a:xfrm>
            <a:off x="7453313" y="3357563"/>
            <a:ext cx="719137" cy="431800"/>
          </a:xfrm>
          <a:prstGeom prst="ellipse">
            <a:avLst/>
          </a:prstGeom>
          <a:noFill/>
          <a:ln w="254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pPr>
            <a:endParaRPr lang="zh-CN" altLang="en-US" sz="1800">
              <a:latin typeface="Verdana" pitchFamily="34" charset="0"/>
            </a:endParaRPr>
          </a:p>
        </p:txBody>
      </p:sp>
      <p:sp>
        <p:nvSpPr>
          <p:cNvPr id="34823" name="文本框 1"/>
          <p:cNvSpPr txBox="1">
            <a:spLocks noChangeArrowheads="1"/>
          </p:cNvSpPr>
          <p:nvPr/>
        </p:nvSpPr>
        <p:spPr bwMode="auto">
          <a:xfrm>
            <a:off x="7069138" y="2432050"/>
            <a:ext cx="1660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en-US" altLang="zh-CN" sz="2400">
                <a:solidFill>
                  <a:srgbClr val="FF0000"/>
                </a:solidFill>
                <a:latin typeface="Times New Roman" pitchFamily="18" charset="0"/>
                <a:ea typeface="宋体" pitchFamily="2" charset="-122"/>
              </a:rPr>
              <a:t>M</a:t>
            </a:r>
            <a:r>
              <a:rPr lang="en-US" altLang="zh-CN" sz="2400" baseline="30000">
                <a:solidFill>
                  <a:srgbClr val="FF0000"/>
                </a:solidFill>
                <a:latin typeface="Times New Roman" pitchFamily="18" charset="0"/>
                <a:ea typeface="宋体" pitchFamily="2" charset="-122"/>
              </a:rPr>
              <a:t>+</a:t>
            </a:r>
            <a:r>
              <a:rPr lang="en-US" altLang="zh-CN" sz="2400" baseline="30000">
                <a:solidFill>
                  <a:srgbClr val="FF0000"/>
                </a:solidFill>
                <a:latin typeface="Times New Roman" pitchFamily="18" charset="0"/>
                <a:ea typeface="宋体" pitchFamily="2" charset="-122"/>
                <a:sym typeface="Symbol" pitchFamily="18" charset="2"/>
              </a:rPr>
              <a:t></a:t>
            </a:r>
            <a:r>
              <a:rPr lang="en-US" altLang="zh-CN" sz="2400">
                <a:solidFill>
                  <a:srgbClr val="FF0000"/>
                </a:solidFill>
                <a:latin typeface="Times New Roman" pitchFamily="18" charset="0"/>
                <a:ea typeface="宋体" pitchFamily="2" charset="-122"/>
              </a:rPr>
              <a:t> missing</a:t>
            </a:r>
            <a:endParaRPr lang="zh-CN" altLang="en-US" sz="2400">
              <a:solidFill>
                <a:srgbClr val="FF0000"/>
              </a:solidFill>
              <a:latin typeface="Times New Roman" pitchFamily="18" charset="0"/>
              <a:ea typeface="宋体" pitchFamily="2" charset="-122"/>
            </a:endParaRPr>
          </a:p>
        </p:txBody>
      </p:sp>
    </p:spTree>
  </p:cSld>
  <p:clrMapOvr>
    <a:masterClrMapping/>
  </p:clrMapOvr>
  <p:transition spd="slow"/>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5"/>
          <p:cNvSpPr>
            <a:spLocks noChangeArrowheads="1"/>
          </p:cNvSpPr>
          <p:nvPr/>
        </p:nvSpPr>
        <p:spPr bwMode="auto">
          <a:xfrm>
            <a:off x="71438" y="1484313"/>
            <a:ext cx="8893175" cy="378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lang="zh-CN" altLang="en-US" sz="3200">
                <a:solidFill>
                  <a:srgbClr val="0000CC"/>
                </a:solidFill>
                <a:latin typeface="微软雅黑" pitchFamily="34" charset="-122"/>
                <a:ea typeface="微软雅黑" pitchFamily="34" charset="-122"/>
                <a:cs typeface="Times New Roman" pitchFamily="18" charset="0"/>
              </a:rPr>
              <a:t>质荷比最高的离子不一定是分子离子</a:t>
            </a:r>
            <a:r>
              <a:rPr lang="zh-CN" altLang="en-US" sz="3200">
                <a:solidFill>
                  <a:srgbClr val="000099"/>
                </a:solidFill>
                <a:latin typeface="Times New Roman" pitchFamily="18" charset="0"/>
                <a:ea typeface="微软雅黑" pitchFamily="34" charset="-122"/>
                <a:cs typeface="Times New Roman" pitchFamily="18" charset="0"/>
              </a:rPr>
              <a:t>，</a:t>
            </a:r>
            <a:r>
              <a:rPr lang="zh-CN" altLang="en-US" sz="3200">
                <a:latin typeface="Times New Roman" pitchFamily="18" charset="0"/>
                <a:ea typeface="微软雅黑" pitchFamily="34" charset="-122"/>
                <a:cs typeface="Times New Roman" pitchFamily="18" charset="0"/>
              </a:rPr>
              <a:t>因为：</a:t>
            </a:r>
          </a:p>
          <a:p>
            <a:pPr>
              <a:lnSpc>
                <a:spcPct val="150000"/>
              </a:lnSpc>
            </a:pPr>
            <a:r>
              <a:rPr lang="zh-CN" altLang="en-US" sz="3200">
                <a:latin typeface="Times New Roman" pitchFamily="18" charset="0"/>
                <a:ea typeface="微软雅黑" pitchFamily="34" charset="-122"/>
                <a:cs typeface="Times New Roman" pitchFamily="18" charset="0"/>
              </a:rPr>
              <a:t> </a:t>
            </a:r>
            <a:r>
              <a:rPr lang="en-US" altLang="zh-CN" sz="3200">
                <a:latin typeface="Times New Roman" pitchFamily="18" charset="0"/>
                <a:ea typeface="微软雅黑" pitchFamily="34" charset="-122"/>
                <a:cs typeface="Times New Roman" pitchFamily="18" charset="0"/>
              </a:rPr>
              <a:t>a. </a:t>
            </a:r>
            <a:r>
              <a:rPr lang="zh-CN" altLang="en-US" sz="3200">
                <a:latin typeface="Times New Roman" pitchFamily="18" charset="0"/>
                <a:ea typeface="微软雅黑" pitchFamily="34" charset="-122"/>
                <a:cs typeface="Times New Roman" pitchFamily="18" charset="0"/>
              </a:rPr>
              <a:t>同位素离子的影响</a:t>
            </a:r>
          </a:p>
          <a:p>
            <a:pPr>
              <a:lnSpc>
                <a:spcPct val="150000"/>
              </a:lnSpc>
            </a:pPr>
            <a:r>
              <a:rPr lang="zh-CN" altLang="en-US" sz="3200">
                <a:latin typeface="Times New Roman" pitchFamily="18" charset="0"/>
                <a:ea typeface="微软雅黑" pitchFamily="34" charset="-122"/>
                <a:cs typeface="Times New Roman" pitchFamily="18" charset="0"/>
              </a:rPr>
              <a:t> </a:t>
            </a:r>
            <a:r>
              <a:rPr lang="en-US" altLang="zh-CN" sz="3200">
                <a:latin typeface="Times New Roman" pitchFamily="18" charset="0"/>
                <a:ea typeface="微软雅黑" pitchFamily="34" charset="-122"/>
                <a:cs typeface="Times New Roman" pitchFamily="18" charset="0"/>
              </a:rPr>
              <a:t>b. </a:t>
            </a:r>
            <a:r>
              <a:rPr lang="zh-CN" altLang="en-US" sz="3200">
                <a:solidFill>
                  <a:srgbClr val="0000CC"/>
                </a:solidFill>
                <a:latin typeface="微软雅黑" pitchFamily="34" charset="-122"/>
                <a:ea typeface="微软雅黑" pitchFamily="34" charset="-122"/>
                <a:cs typeface="Times New Roman" pitchFamily="18" charset="0"/>
              </a:rPr>
              <a:t>分子离子不稳定</a:t>
            </a:r>
            <a:r>
              <a:rPr lang="zh-CN" altLang="en-US" sz="3200">
                <a:latin typeface="Times New Roman" pitchFamily="18" charset="0"/>
                <a:ea typeface="微软雅黑" pitchFamily="34" charset="-122"/>
                <a:cs typeface="Times New Roman" pitchFamily="18" charset="0"/>
              </a:rPr>
              <a:t>，在质谱中不出现分子离子峰</a:t>
            </a:r>
          </a:p>
          <a:p>
            <a:pPr>
              <a:lnSpc>
                <a:spcPct val="150000"/>
              </a:lnSpc>
            </a:pPr>
            <a:r>
              <a:rPr lang="zh-CN" altLang="en-US" sz="3200">
                <a:latin typeface="Times New Roman" pitchFamily="18" charset="0"/>
                <a:ea typeface="微软雅黑" pitchFamily="34" charset="-122"/>
                <a:cs typeface="Times New Roman" pitchFamily="18" charset="0"/>
              </a:rPr>
              <a:t> </a:t>
            </a:r>
            <a:r>
              <a:rPr lang="en-US" altLang="zh-CN" sz="3200">
                <a:latin typeface="Times New Roman" pitchFamily="18" charset="0"/>
                <a:ea typeface="微软雅黑" pitchFamily="34" charset="-122"/>
                <a:cs typeface="Times New Roman" pitchFamily="18" charset="0"/>
              </a:rPr>
              <a:t>c.</a:t>
            </a:r>
            <a:r>
              <a:rPr lang="zh-CN" altLang="en-US" sz="3200">
                <a:latin typeface="Times New Roman" pitchFamily="18" charset="0"/>
                <a:ea typeface="微软雅黑" pitchFamily="34" charset="-122"/>
                <a:cs typeface="Times New Roman" pitchFamily="18" charset="0"/>
              </a:rPr>
              <a:t> 离子</a:t>
            </a:r>
            <a:r>
              <a:rPr lang="en-US" altLang="zh-CN" sz="3200">
                <a:latin typeface="Times New Roman" pitchFamily="18" charset="0"/>
                <a:ea typeface="微软雅黑" pitchFamily="34" charset="-122"/>
                <a:cs typeface="Times New Roman" pitchFamily="18" charset="0"/>
              </a:rPr>
              <a:t>-</a:t>
            </a:r>
            <a:r>
              <a:rPr lang="zh-CN" altLang="en-US" sz="3200">
                <a:latin typeface="Times New Roman" pitchFamily="18" charset="0"/>
                <a:ea typeface="微软雅黑" pitchFamily="34" charset="-122"/>
                <a:cs typeface="Times New Roman" pitchFamily="18" charset="0"/>
              </a:rPr>
              <a:t>分子反应生成离子的影响</a:t>
            </a:r>
            <a:endParaRPr lang="en-US" altLang="zh-CN" sz="3200">
              <a:latin typeface="Times New Roman" pitchFamily="18" charset="0"/>
              <a:ea typeface="微软雅黑" pitchFamily="34" charset="-122"/>
              <a:cs typeface="Times New Roman" pitchFamily="18" charset="0"/>
            </a:endParaRPr>
          </a:p>
          <a:p>
            <a:pPr>
              <a:lnSpc>
                <a:spcPct val="150000"/>
              </a:lnSpc>
            </a:pPr>
            <a:r>
              <a:rPr lang="zh-CN" altLang="en-US" sz="3200">
                <a:latin typeface="Times New Roman" pitchFamily="18" charset="0"/>
                <a:ea typeface="微软雅黑" pitchFamily="34" charset="-122"/>
                <a:cs typeface="Times New Roman" pitchFamily="18" charset="0"/>
              </a:rPr>
              <a:t> </a:t>
            </a:r>
            <a:r>
              <a:rPr lang="en-US" altLang="zh-CN" sz="3200">
                <a:latin typeface="Times New Roman" pitchFamily="18" charset="0"/>
                <a:ea typeface="微软雅黑" pitchFamily="34" charset="-122"/>
                <a:cs typeface="Times New Roman" pitchFamily="18" charset="0"/>
              </a:rPr>
              <a:t>d.</a:t>
            </a:r>
            <a:r>
              <a:rPr lang="zh-CN" altLang="en-US" sz="3200">
                <a:latin typeface="Times New Roman" pitchFamily="18" charset="0"/>
                <a:ea typeface="微软雅黑" pitchFamily="34" charset="-122"/>
                <a:cs typeface="Times New Roman" pitchFamily="18" charset="0"/>
              </a:rPr>
              <a:t> 样品混入高质量的杂质而产生高质量的离子峰</a:t>
            </a:r>
          </a:p>
        </p:txBody>
      </p:sp>
      <p:sp>
        <p:nvSpPr>
          <p:cNvPr id="35843" name="Rectangle 2"/>
          <p:cNvSpPr>
            <a:spLocks noChangeArrowheads="1"/>
          </p:cNvSpPr>
          <p:nvPr/>
        </p:nvSpPr>
        <p:spPr bwMode="auto">
          <a:xfrm>
            <a:off x="395288" y="333375"/>
            <a:ext cx="81375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100000"/>
              </a:lnSpc>
            </a:pPr>
            <a:r>
              <a:rPr lang="zh-CN" altLang="en-US" sz="4000">
                <a:latin typeface="微软雅黑" pitchFamily="34" charset="-122"/>
                <a:ea typeface="微软雅黑" pitchFamily="34" charset="-122"/>
              </a:rPr>
              <a:t>第四节  分子离子峰和分子量的确定</a:t>
            </a:r>
          </a:p>
        </p:txBody>
      </p:sp>
    </p:spTree>
  </p:cSld>
  <p:clrMapOvr>
    <a:masterClrMapping/>
  </p:clrMapOvr>
  <p:transition spd="slow"/>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13AF9E1-FFD4-44E6-AD2E-9EBCE3AA8650}"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686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7572411-CF8A-424D-9F3E-77A7D487CC8B}" type="slidenum">
              <a:rPr lang="en-US" altLang="zh-CN" sz="1200" smtClean="0">
                <a:latin typeface="Verdana" pitchFamily="34" charset="0"/>
                <a:ea typeface="宋体" pitchFamily="2" charset="-122"/>
              </a:rPr>
              <a:pPr eaLnBrk="1" hangingPunct="1">
                <a:lnSpc>
                  <a:spcPct val="100000"/>
                </a:lnSpc>
              </a:pPr>
              <a:t>30</a:t>
            </a:fld>
            <a:endParaRPr lang="en-US" altLang="zh-CN" sz="1200" smtClean="0">
              <a:latin typeface="Verdana" pitchFamily="34" charset="0"/>
              <a:ea typeface="宋体" pitchFamily="2" charset="-122"/>
            </a:endParaRPr>
          </a:p>
        </p:txBody>
      </p:sp>
      <p:sp>
        <p:nvSpPr>
          <p:cNvPr id="36868" name="Rectangle 2"/>
          <p:cNvSpPr>
            <a:spLocks noGrp="1" noChangeArrowheads="1"/>
          </p:cNvSpPr>
          <p:nvPr>
            <p:ph type="body" idx="1"/>
          </p:nvPr>
        </p:nvSpPr>
        <p:spPr>
          <a:xfrm>
            <a:off x="107950" y="188913"/>
            <a:ext cx="5832475" cy="936625"/>
          </a:xfrm>
        </p:spPr>
        <p:txBody>
          <a:bodyPr/>
          <a:lstStyle/>
          <a:p>
            <a:pPr indent="0" eaLnBrk="1" hangingPunct="1">
              <a:lnSpc>
                <a:spcPct val="150000"/>
              </a:lnSpc>
              <a:buFont typeface="Wingdings" pitchFamily="2" charset="2"/>
              <a:buNone/>
            </a:pPr>
            <a:r>
              <a:rPr lang="zh-CN" altLang="en-US" sz="4000" b="1" smtClean="0">
                <a:latin typeface="微软雅黑" pitchFamily="34" charset="-122"/>
                <a:ea typeface="微软雅黑" pitchFamily="34" charset="-122"/>
              </a:rPr>
              <a:t> 分子离子峰的判别</a:t>
            </a:r>
          </a:p>
        </p:txBody>
      </p:sp>
      <p:sp>
        <p:nvSpPr>
          <p:cNvPr id="36869" name="Rectangle 2"/>
          <p:cNvSpPr txBox="1">
            <a:spLocks noChangeArrowheads="1"/>
          </p:cNvSpPr>
          <p:nvPr/>
        </p:nvSpPr>
        <p:spPr bwMode="auto">
          <a:xfrm>
            <a:off x="123825" y="1320800"/>
            <a:ext cx="8856663"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ts val="750"/>
              </a:spcBef>
              <a:buFont typeface="Wingdings" pitchFamily="2" charset="2"/>
              <a:buNone/>
            </a:pPr>
            <a:r>
              <a:rPr lang="zh-CN" altLang="en-US" sz="3200">
                <a:latin typeface="Calibri" pitchFamily="34" charset="0"/>
              </a:rPr>
              <a:t>        解析时假设谱图中</a:t>
            </a:r>
            <a:r>
              <a:rPr lang="zh-CN" altLang="en-US" sz="3200">
                <a:solidFill>
                  <a:srgbClr val="0000CC"/>
                </a:solidFill>
                <a:latin typeface="微软雅黑" pitchFamily="34" charset="-122"/>
                <a:ea typeface="微软雅黑" pitchFamily="34" charset="-122"/>
              </a:rPr>
              <a:t>最高质荷比的离子</a:t>
            </a:r>
            <a:r>
              <a:rPr lang="zh-CN" altLang="en-US" sz="3200">
                <a:latin typeface="Calibri" pitchFamily="34" charset="0"/>
              </a:rPr>
              <a:t>为分子离子（不考虑同位素离子及离子分子反应生成的离子），然后用判别标准一一衡量，如果不符合任一标准肯定不是分子离子，如果都符合，则它</a:t>
            </a:r>
            <a:r>
              <a:rPr lang="zh-CN" altLang="en-US" sz="3200">
                <a:solidFill>
                  <a:srgbClr val="FF0000"/>
                </a:solidFill>
                <a:latin typeface="Calibri" pitchFamily="34" charset="0"/>
              </a:rPr>
              <a:t>可能</a:t>
            </a:r>
            <a:r>
              <a:rPr lang="zh-CN" altLang="en-US" sz="3200">
                <a:latin typeface="Calibri" pitchFamily="34" charset="0"/>
              </a:rPr>
              <a:t>是分子离子。</a:t>
            </a:r>
            <a:r>
              <a:rPr lang="zh-CN" altLang="en-US">
                <a:latin typeface="Calibri" pitchFamily="34" charset="0"/>
              </a:rPr>
              <a:t>　　</a:t>
            </a:r>
          </a:p>
        </p:txBody>
      </p:sp>
    </p:spTree>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90"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9F9AD63-7AC2-4BB6-8AC4-9C2F4DE07083}"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789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F32742F5-606F-4730-B727-E4721B2DD3D4}" type="slidenum">
              <a:rPr lang="en-US" altLang="zh-CN" sz="1200" smtClean="0">
                <a:latin typeface="Verdana" pitchFamily="34" charset="0"/>
                <a:ea typeface="宋体" pitchFamily="2" charset="-122"/>
              </a:rPr>
              <a:pPr eaLnBrk="1" hangingPunct="1">
                <a:lnSpc>
                  <a:spcPct val="100000"/>
                </a:lnSpc>
              </a:pPr>
              <a:t>31</a:t>
            </a:fld>
            <a:endParaRPr lang="en-US" altLang="zh-CN" sz="1200" smtClean="0">
              <a:latin typeface="Verdana" pitchFamily="34" charset="0"/>
              <a:ea typeface="宋体" pitchFamily="2" charset="-122"/>
            </a:endParaRPr>
          </a:p>
        </p:txBody>
      </p:sp>
      <p:sp>
        <p:nvSpPr>
          <p:cNvPr id="37892" name="Rectangle 2"/>
          <p:cNvSpPr>
            <a:spLocks noGrp="1" noChangeArrowheads="1"/>
          </p:cNvSpPr>
          <p:nvPr>
            <p:ph type="body" idx="1"/>
          </p:nvPr>
        </p:nvSpPr>
        <p:spPr>
          <a:xfrm>
            <a:off x="323850" y="260350"/>
            <a:ext cx="5543550" cy="865188"/>
          </a:xfrm>
        </p:spPr>
        <p:txBody>
          <a:bodyPr/>
          <a:lstStyle/>
          <a:p>
            <a:pPr marL="0" indent="0" eaLnBrk="1" hangingPunct="1">
              <a:lnSpc>
                <a:spcPct val="125000"/>
              </a:lnSpc>
              <a:buFont typeface="Arial" pitchFamily="34" charset="0"/>
              <a:buNone/>
            </a:pPr>
            <a:r>
              <a:rPr lang="zh-CN" altLang="en-US" sz="4000" b="1" smtClean="0">
                <a:latin typeface="微软雅黑" pitchFamily="34" charset="-122"/>
                <a:ea typeface="微软雅黑" pitchFamily="34" charset="-122"/>
              </a:rPr>
              <a:t>分子离子峰的判别标准</a:t>
            </a:r>
          </a:p>
        </p:txBody>
      </p:sp>
      <p:sp>
        <p:nvSpPr>
          <p:cNvPr id="5" name="Rectangle 2"/>
          <p:cNvSpPr txBox="1">
            <a:spLocks noChangeArrowheads="1"/>
          </p:cNvSpPr>
          <p:nvPr/>
        </p:nvSpPr>
        <p:spPr bwMode="auto">
          <a:xfrm>
            <a:off x="628650" y="1557338"/>
            <a:ext cx="7620000"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dirty="0" smtClean="0">
                <a:latin typeface="+mn-ea"/>
              </a:rPr>
              <a:t>必须是一个奇电子离子；</a:t>
            </a:r>
          </a:p>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dirty="0" smtClean="0">
                <a:latin typeface="+mn-ea"/>
              </a:rPr>
              <a:t>质荷比的奇偶性必须符合氮规则；</a:t>
            </a:r>
          </a:p>
          <a:p>
            <a:pPr marL="0" lvl="1" indent="0" eaLnBrk="1" hangingPunct="1">
              <a:lnSpc>
                <a:spcPct val="150000"/>
              </a:lnSpc>
              <a:spcBef>
                <a:spcPts val="0"/>
              </a:spcBef>
              <a:buClr>
                <a:srgbClr val="FF00FF"/>
              </a:buClr>
              <a:buFont typeface="Wingdings" panose="05000000000000000000" pitchFamily="2" charset="2"/>
              <a:buChar char="v"/>
              <a:defRPr/>
            </a:pPr>
            <a:r>
              <a:rPr lang="zh-CN" altLang="en-US" sz="3200" dirty="0" smtClean="0">
                <a:latin typeface="+mn-ea"/>
              </a:rPr>
              <a:t>有合理的中性丢失；</a:t>
            </a:r>
          </a:p>
        </p:txBody>
      </p:sp>
    </p:spTree>
  </p:cSld>
  <p:clrMapOvr>
    <a:masterClrMapping/>
  </p:clrMapOvr>
  <p:transition spd="slow"/>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307CF6B9-D80D-4579-B57A-CD18C99AE0B9}"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8915"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5AD1E81B-6F81-49EC-8472-4C33A6BC62A1}" type="slidenum">
              <a:rPr lang="en-US" altLang="zh-CN" sz="1200" smtClean="0">
                <a:latin typeface="Verdana" pitchFamily="34" charset="0"/>
                <a:ea typeface="宋体" pitchFamily="2" charset="-122"/>
              </a:rPr>
              <a:pPr eaLnBrk="1" hangingPunct="1">
                <a:lnSpc>
                  <a:spcPct val="100000"/>
                </a:lnSpc>
              </a:pPr>
              <a:t>32</a:t>
            </a:fld>
            <a:endParaRPr lang="en-US" altLang="zh-CN" sz="1200" smtClean="0">
              <a:latin typeface="Verdana" pitchFamily="34" charset="0"/>
              <a:ea typeface="宋体" pitchFamily="2" charset="-122"/>
            </a:endParaRPr>
          </a:p>
        </p:txBody>
      </p:sp>
      <p:sp>
        <p:nvSpPr>
          <p:cNvPr id="22532" name="Rectangle 2"/>
          <p:cNvSpPr>
            <a:spLocks noGrp="1" noChangeArrowheads="1"/>
          </p:cNvSpPr>
          <p:nvPr>
            <p:ph type="title"/>
          </p:nvPr>
        </p:nvSpPr>
        <p:spPr>
          <a:xfrm>
            <a:off x="228600" y="188913"/>
            <a:ext cx="4914900" cy="1216025"/>
          </a:xfrm>
        </p:spPr>
        <p:txBody>
          <a:bodyPr/>
          <a:lstStyle/>
          <a:p>
            <a:pPr eaLnBrk="1" hangingPunct="1">
              <a:defRPr/>
            </a:pPr>
            <a:r>
              <a:rPr lang="en-US" altLang="zh-CN" sz="3600" b="1" dirty="0" smtClean="0">
                <a:latin typeface="+mj-ea"/>
              </a:rPr>
              <a:t>1</a:t>
            </a:r>
            <a:r>
              <a:rPr lang="zh-CN" altLang="en-US" sz="3600" b="1" dirty="0" smtClean="0">
                <a:latin typeface="+mj-ea"/>
              </a:rPr>
              <a:t>、奇电子离子的判别</a:t>
            </a:r>
          </a:p>
        </p:txBody>
      </p:sp>
      <p:sp>
        <p:nvSpPr>
          <p:cNvPr id="38917" name="Rectangle 3"/>
          <p:cNvSpPr>
            <a:spLocks noGrp="1" noChangeArrowheads="1"/>
          </p:cNvSpPr>
          <p:nvPr>
            <p:ph type="body" idx="1"/>
          </p:nvPr>
        </p:nvSpPr>
        <p:spPr>
          <a:xfrm>
            <a:off x="107950" y="1500188"/>
            <a:ext cx="8785225" cy="3729037"/>
          </a:xfrm>
        </p:spPr>
        <p:txBody>
          <a:bodyPr/>
          <a:lstStyle/>
          <a:p>
            <a:pPr marL="0" indent="0" eaLnBrk="1" hangingPunct="1">
              <a:lnSpc>
                <a:spcPct val="150000"/>
              </a:lnSpc>
              <a:spcBef>
                <a:spcPct val="0"/>
              </a:spcBef>
              <a:buClr>
                <a:srgbClr val="FF00FF"/>
              </a:buClr>
              <a:buFont typeface="Wingdings" pitchFamily="2" charset="2"/>
              <a:buChar char="v"/>
            </a:pPr>
            <a:r>
              <a:rPr lang="zh-CN" altLang="en-US" b="1" smtClean="0">
                <a:ea typeface="楷体_GB2312" pitchFamily="49" charset="-122"/>
              </a:rPr>
              <a:t>当元素组成已知时，可用不饱和度（环加双键数）公式判别。</a:t>
            </a:r>
          </a:p>
          <a:p>
            <a:pPr marL="0" indent="0" eaLnBrk="1" hangingPunct="1">
              <a:lnSpc>
                <a:spcPct val="150000"/>
              </a:lnSpc>
              <a:spcBef>
                <a:spcPct val="0"/>
              </a:spcBef>
              <a:buClr>
                <a:srgbClr val="FF00FF"/>
              </a:buClr>
              <a:buFont typeface="Wingdings" pitchFamily="2" charset="2"/>
              <a:buChar char="v"/>
            </a:pPr>
            <a:r>
              <a:rPr lang="zh-CN" altLang="en-US" b="1" smtClean="0">
                <a:ea typeface="楷体_GB2312" pitchFamily="49" charset="-122"/>
              </a:rPr>
              <a:t>环加双键公式：  </a:t>
            </a:r>
            <a:r>
              <a:rPr lang="en-US" altLang="zh-CN" b="1" i="1" smtClean="0">
                <a:latin typeface="Times New Roman" pitchFamily="18" charset="0"/>
              </a:rPr>
              <a:t>f</a:t>
            </a:r>
            <a:r>
              <a:rPr lang="en-US" altLang="zh-CN" b="1" smtClean="0">
                <a:latin typeface="Times New Roman" pitchFamily="18" charset="0"/>
              </a:rPr>
              <a:t> </a:t>
            </a:r>
            <a:r>
              <a:rPr lang="zh-CN" altLang="en-US" b="1" smtClean="0">
                <a:latin typeface="Times New Roman" pitchFamily="18" charset="0"/>
              </a:rPr>
              <a:t>＝ </a:t>
            </a:r>
            <a:r>
              <a:rPr lang="en-US" altLang="zh-CN" b="1" smtClean="0">
                <a:latin typeface="Times New Roman" pitchFamily="18" charset="0"/>
              </a:rPr>
              <a:t>1</a:t>
            </a:r>
            <a:r>
              <a:rPr lang="zh-CN" altLang="en-US" b="1" smtClean="0">
                <a:latin typeface="Times New Roman" pitchFamily="18" charset="0"/>
              </a:rPr>
              <a:t>＋</a:t>
            </a:r>
            <a:r>
              <a:rPr lang="en-US" altLang="zh-CN" b="1" i="1" smtClean="0">
                <a:latin typeface="Times New Roman" pitchFamily="18" charset="0"/>
              </a:rPr>
              <a:t>n</a:t>
            </a:r>
            <a:r>
              <a:rPr lang="en-US" altLang="zh-CN" b="1" baseline="-30000" smtClean="0">
                <a:latin typeface="Times New Roman" pitchFamily="18" charset="0"/>
              </a:rPr>
              <a:t>4</a:t>
            </a:r>
            <a:r>
              <a:rPr lang="zh-CN" altLang="en-US" b="1" smtClean="0">
                <a:latin typeface="Times New Roman" pitchFamily="18" charset="0"/>
              </a:rPr>
              <a:t>＋</a:t>
            </a:r>
            <a:r>
              <a:rPr lang="en-US" altLang="zh-CN" b="1" smtClean="0">
                <a:latin typeface="Times New Roman" pitchFamily="18" charset="0"/>
              </a:rPr>
              <a:t>1/2</a:t>
            </a:r>
            <a:r>
              <a:rPr lang="zh-CN" altLang="en-US" b="1" smtClean="0">
                <a:latin typeface="Times New Roman" pitchFamily="18" charset="0"/>
              </a:rPr>
              <a:t>（</a:t>
            </a:r>
            <a:r>
              <a:rPr lang="en-US" altLang="zh-CN" b="1" i="1" smtClean="0">
                <a:latin typeface="Times New Roman" pitchFamily="18" charset="0"/>
              </a:rPr>
              <a:t>n</a:t>
            </a:r>
            <a:r>
              <a:rPr lang="en-US" altLang="zh-CN" b="1" baseline="-30000" smtClean="0">
                <a:latin typeface="Times New Roman" pitchFamily="18" charset="0"/>
              </a:rPr>
              <a:t>3</a:t>
            </a:r>
            <a:r>
              <a:rPr lang="zh-CN" altLang="en-US" b="1" smtClean="0">
                <a:latin typeface="Times New Roman" pitchFamily="18" charset="0"/>
              </a:rPr>
              <a:t>－</a:t>
            </a:r>
            <a:r>
              <a:rPr lang="en-US" altLang="zh-CN" b="1" i="1" smtClean="0">
                <a:latin typeface="Times New Roman" pitchFamily="18" charset="0"/>
              </a:rPr>
              <a:t>n</a:t>
            </a:r>
            <a:r>
              <a:rPr lang="en-US" altLang="zh-CN" b="1" baseline="-30000" smtClean="0">
                <a:latin typeface="Times New Roman" pitchFamily="18" charset="0"/>
              </a:rPr>
              <a:t>1</a:t>
            </a:r>
            <a:r>
              <a:rPr lang="zh-CN" altLang="en-US" b="1" smtClean="0">
                <a:latin typeface="Times New Roman" pitchFamily="18" charset="0"/>
              </a:rPr>
              <a:t>）</a:t>
            </a:r>
          </a:p>
          <a:p>
            <a:pPr marL="0" indent="0" eaLnBrk="1" hangingPunct="1">
              <a:lnSpc>
                <a:spcPct val="150000"/>
              </a:lnSpc>
              <a:spcBef>
                <a:spcPct val="0"/>
              </a:spcBef>
              <a:buFont typeface="Wingdings" pitchFamily="2" charset="2"/>
              <a:buNone/>
            </a:pPr>
            <a:r>
              <a:rPr lang="zh-CN" altLang="en-US" b="1" smtClean="0">
                <a:ea typeface="楷体_GB2312" pitchFamily="49" charset="-122"/>
              </a:rPr>
              <a:t>        如果计算值为整数，则该离子为奇电子离子，计算值为半整数时则为偶电子离子。</a:t>
            </a:r>
          </a:p>
        </p:txBody>
      </p:sp>
    </p:spTree>
  </p:cSld>
  <p:clrMapOvr>
    <a:masterClrMapping/>
  </p:clrMapOvr>
  <p:transition spd="slow"/>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1FC6D1C6-C845-40FA-8B05-D5D46B66A643}"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3993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D8A63194-296C-480F-9C6E-F2DF311B85E9}" type="slidenum">
              <a:rPr lang="en-US" altLang="zh-CN" sz="1200" smtClean="0">
                <a:latin typeface="Verdana" pitchFamily="34" charset="0"/>
                <a:ea typeface="宋体" pitchFamily="2" charset="-122"/>
              </a:rPr>
              <a:pPr eaLnBrk="1" hangingPunct="1">
                <a:lnSpc>
                  <a:spcPct val="100000"/>
                </a:lnSpc>
              </a:pPr>
              <a:t>33</a:t>
            </a:fld>
            <a:endParaRPr lang="en-US" altLang="zh-CN" sz="1200" smtClean="0">
              <a:latin typeface="Verdana" pitchFamily="34" charset="0"/>
              <a:ea typeface="宋体" pitchFamily="2" charset="-122"/>
            </a:endParaRPr>
          </a:p>
        </p:txBody>
      </p:sp>
      <p:sp>
        <p:nvSpPr>
          <p:cNvPr id="24580" name="Rectangle 2"/>
          <p:cNvSpPr>
            <a:spLocks noGrp="1" noChangeArrowheads="1"/>
          </p:cNvSpPr>
          <p:nvPr>
            <p:ph type="title"/>
          </p:nvPr>
        </p:nvSpPr>
        <p:spPr>
          <a:xfrm>
            <a:off x="395288" y="260350"/>
            <a:ext cx="3090862" cy="730250"/>
          </a:xfrm>
        </p:spPr>
        <p:txBody>
          <a:bodyPr/>
          <a:lstStyle/>
          <a:p>
            <a:pPr eaLnBrk="1" hangingPunct="1">
              <a:defRPr/>
            </a:pPr>
            <a:r>
              <a:rPr lang="en-US" altLang="zh-CN" sz="3600" b="1" dirty="0" smtClean="0">
                <a:solidFill>
                  <a:srgbClr val="2C2CB0"/>
                </a:solidFill>
                <a:latin typeface="Times New Roman" panose="02020603050405020304" pitchFamily="18" charset="0"/>
                <a:ea typeface="+mn-ea"/>
                <a:cs typeface="Times New Roman" panose="02020603050405020304" pitchFamily="18" charset="0"/>
              </a:rPr>
              <a:t>2</a:t>
            </a:r>
            <a:r>
              <a:rPr lang="zh-CN" altLang="en-US" sz="3600" b="1" dirty="0" smtClean="0">
                <a:solidFill>
                  <a:srgbClr val="2C2CB0"/>
                </a:solidFill>
                <a:latin typeface="Times New Roman" panose="02020603050405020304" pitchFamily="18" charset="0"/>
                <a:ea typeface="+mn-ea"/>
                <a:cs typeface="Times New Roman" panose="02020603050405020304" pitchFamily="18" charset="0"/>
              </a:rPr>
              <a:t>、氮数规则</a:t>
            </a:r>
            <a:endParaRPr lang="zh-CN" altLang="en-US" sz="3600" b="1" dirty="0" smtClean="0">
              <a:latin typeface="Times New Roman" panose="02020603050405020304" pitchFamily="18" charset="0"/>
              <a:ea typeface="+mn-ea"/>
              <a:cs typeface="Times New Roman" panose="02020603050405020304" pitchFamily="18" charset="0"/>
            </a:endParaRPr>
          </a:p>
        </p:txBody>
      </p:sp>
      <p:sp>
        <p:nvSpPr>
          <p:cNvPr id="39941" name="Rectangle 3"/>
          <p:cNvSpPr>
            <a:spLocks noGrp="1" noChangeArrowheads="1"/>
          </p:cNvSpPr>
          <p:nvPr>
            <p:ph type="body" idx="1"/>
          </p:nvPr>
        </p:nvSpPr>
        <p:spPr>
          <a:xfrm>
            <a:off x="0" y="981075"/>
            <a:ext cx="9144000" cy="2232025"/>
          </a:xfrm>
        </p:spPr>
        <p:txBody>
          <a:bodyPr/>
          <a:lstStyle/>
          <a:p>
            <a:pPr marL="0" indent="0" eaLnBrk="1" hangingPunct="1">
              <a:lnSpc>
                <a:spcPct val="150000"/>
              </a:lnSpc>
              <a:spcBef>
                <a:spcPct val="0"/>
              </a:spcBef>
              <a:buClr>
                <a:srgbClr val="FF00FF"/>
              </a:buClr>
              <a:buFont typeface="Wingdings" pitchFamily="2" charset="2"/>
              <a:buChar char="v"/>
            </a:pPr>
            <a:r>
              <a:rPr lang="zh-CN" altLang="en-US" b="1" smtClean="0">
                <a:ea typeface="楷体_GB2312" pitchFamily="49" charset="-122"/>
              </a:rPr>
              <a:t>某化合物中若含零或</a:t>
            </a:r>
            <a:r>
              <a:rPr lang="zh-CN" altLang="en-US" b="1" smtClean="0">
                <a:latin typeface="微软雅黑" pitchFamily="34" charset="-122"/>
                <a:ea typeface="微软雅黑" pitchFamily="34" charset="-122"/>
              </a:rPr>
              <a:t>偶数个氮原子</a:t>
            </a:r>
            <a:r>
              <a:rPr lang="zh-CN" altLang="en-US" b="1" smtClean="0">
                <a:ea typeface="楷体_GB2312" pitchFamily="49" charset="-122"/>
              </a:rPr>
              <a:t>，其分子离子的</a:t>
            </a:r>
            <a:r>
              <a:rPr lang="zh-CN" altLang="en-US" b="1" smtClean="0">
                <a:latin typeface="微软雅黑" pitchFamily="34" charset="-122"/>
                <a:ea typeface="微软雅黑" pitchFamily="34" charset="-122"/>
              </a:rPr>
              <a:t>质量一定是偶数</a:t>
            </a:r>
            <a:r>
              <a:rPr lang="zh-CN" altLang="en-US" b="1" smtClean="0">
                <a:ea typeface="楷体_GB2312" pitchFamily="49" charset="-122"/>
              </a:rPr>
              <a:t>；若分子中含</a:t>
            </a:r>
            <a:r>
              <a:rPr lang="zh-CN" altLang="en-US" b="1" smtClean="0">
                <a:latin typeface="微软雅黑" pitchFamily="34" charset="-122"/>
                <a:ea typeface="微软雅黑" pitchFamily="34" charset="-122"/>
              </a:rPr>
              <a:t>奇数个氮原子</a:t>
            </a:r>
            <a:r>
              <a:rPr lang="zh-CN" altLang="en-US" b="1" smtClean="0">
                <a:ea typeface="楷体_GB2312" pitchFamily="49" charset="-122"/>
              </a:rPr>
              <a:t>，则其分子离子的</a:t>
            </a:r>
            <a:r>
              <a:rPr lang="zh-CN" altLang="en-US" b="1" smtClean="0">
                <a:latin typeface="微软雅黑" pitchFamily="34" charset="-122"/>
                <a:ea typeface="微软雅黑" pitchFamily="34" charset="-122"/>
              </a:rPr>
              <a:t>质量一定是奇数</a:t>
            </a:r>
            <a:r>
              <a:rPr lang="zh-CN" altLang="en-US" b="1" smtClean="0">
                <a:ea typeface="楷体_GB2312" pitchFamily="49" charset="-122"/>
              </a:rPr>
              <a:t>。</a:t>
            </a:r>
          </a:p>
        </p:txBody>
      </p:sp>
      <p:sp>
        <p:nvSpPr>
          <p:cNvPr id="39942" name="Text Box 5"/>
          <p:cNvSpPr txBox="1">
            <a:spLocks noChangeArrowheads="1"/>
          </p:cNvSpPr>
          <p:nvPr/>
        </p:nvSpPr>
        <p:spPr bwMode="auto">
          <a:xfrm>
            <a:off x="71438" y="4797425"/>
            <a:ext cx="8893175"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sz="3000">
                <a:latin typeface="Times New Roman" pitchFamily="18" charset="0"/>
              </a:rPr>
              <a:t>        常见元素的最丰同位素其质量和化合价间有一个巧合，除氮外，或者均为偶数，或均为奇数。</a:t>
            </a:r>
          </a:p>
        </p:txBody>
      </p:sp>
      <p:sp>
        <p:nvSpPr>
          <p:cNvPr id="39943" name="Rectangle 3"/>
          <p:cNvSpPr txBox="1">
            <a:spLocks noChangeArrowheads="1"/>
          </p:cNvSpPr>
          <p:nvPr/>
        </p:nvSpPr>
        <p:spPr bwMode="auto">
          <a:xfrm>
            <a:off x="71438" y="3273425"/>
            <a:ext cx="7885112"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Clr>
                <a:srgbClr val="FF00FF"/>
              </a:buClr>
              <a:buFont typeface="Wingdings" pitchFamily="2" charset="2"/>
              <a:buChar char="v"/>
            </a:pPr>
            <a:r>
              <a:rPr lang="zh-CN" altLang="en-US" sz="3200">
                <a:latin typeface="Calibri" pitchFamily="34" charset="0"/>
              </a:rPr>
              <a:t>例如：</a:t>
            </a:r>
            <a:r>
              <a:rPr lang="en-US" altLang="zh-CN" sz="3200">
                <a:latin typeface="Times New Roman" pitchFamily="18" charset="0"/>
              </a:rPr>
              <a:t>CH</a:t>
            </a:r>
            <a:r>
              <a:rPr lang="en-US" altLang="zh-CN" sz="3200" baseline="-25000">
                <a:latin typeface="Times New Roman" pitchFamily="18" charset="0"/>
              </a:rPr>
              <a:t>4</a:t>
            </a:r>
            <a:r>
              <a:rPr lang="en-US" altLang="zh-CN" sz="3200">
                <a:latin typeface="Times New Roman" pitchFamily="18" charset="0"/>
              </a:rPr>
              <a:t>   C</a:t>
            </a:r>
            <a:r>
              <a:rPr lang="en-US" altLang="zh-CN" sz="3200" baseline="-25000">
                <a:latin typeface="Times New Roman" pitchFamily="18" charset="0"/>
              </a:rPr>
              <a:t>2</a:t>
            </a:r>
            <a:r>
              <a:rPr lang="en-US" altLang="zh-CN" sz="3200">
                <a:latin typeface="Times New Roman" pitchFamily="18" charset="0"/>
              </a:rPr>
              <a:t>H</a:t>
            </a:r>
            <a:r>
              <a:rPr lang="en-US" altLang="zh-CN" sz="3200" baseline="-25000">
                <a:latin typeface="Times New Roman" pitchFamily="18" charset="0"/>
              </a:rPr>
              <a:t>5</a:t>
            </a:r>
            <a:r>
              <a:rPr lang="en-US" altLang="zh-CN" sz="3200">
                <a:latin typeface="Times New Roman" pitchFamily="18" charset="0"/>
              </a:rPr>
              <a:t>OH   H</a:t>
            </a:r>
            <a:r>
              <a:rPr lang="en-US" altLang="zh-CN" sz="3200" baseline="-25000">
                <a:latin typeface="Times New Roman" pitchFamily="18" charset="0"/>
              </a:rPr>
              <a:t>2</a:t>
            </a:r>
            <a:r>
              <a:rPr lang="en-US" altLang="zh-CN" sz="3200">
                <a:latin typeface="Times New Roman" pitchFamily="18" charset="0"/>
              </a:rPr>
              <a:t>NCH</a:t>
            </a:r>
            <a:r>
              <a:rPr lang="en-US" altLang="zh-CN" sz="3200" baseline="-25000">
                <a:latin typeface="Times New Roman" pitchFamily="18" charset="0"/>
              </a:rPr>
              <a:t>2</a:t>
            </a:r>
            <a:r>
              <a:rPr lang="en-US" altLang="zh-CN" sz="3200">
                <a:latin typeface="Times New Roman" pitchFamily="18" charset="0"/>
              </a:rPr>
              <a:t>CH</a:t>
            </a:r>
            <a:r>
              <a:rPr lang="en-US" altLang="zh-CN" sz="3200" baseline="-25000">
                <a:latin typeface="Times New Roman" pitchFamily="18" charset="0"/>
              </a:rPr>
              <a:t>2</a:t>
            </a:r>
            <a:r>
              <a:rPr lang="en-US" altLang="zh-CN" sz="3200">
                <a:latin typeface="Times New Roman" pitchFamily="18" charset="0"/>
              </a:rPr>
              <a:t>NH</a:t>
            </a:r>
            <a:r>
              <a:rPr lang="en-US" altLang="zh-CN" sz="3200" baseline="-25000">
                <a:latin typeface="Times New Roman" pitchFamily="18" charset="0"/>
              </a:rPr>
              <a:t>2</a:t>
            </a:r>
          </a:p>
          <a:p>
            <a:pPr eaLnBrk="1" hangingPunct="1">
              <a:lnSpc>
                <a:spcPct val="150000"/>
              </a:lnSpc>
              <a:buClr>
                <a:srgbClr val="FF00FF"/>
              </a:buClr>
              <a:buFont typeface="Wingdings" pitchFamily="2" charset="2"/>
              <a:buNone/>
            </a:pPr>
            <a:r>
              <a:rPr lang="en-US" altLang="zh-CN" sz="3200">
                <a:latin typeface="Times New Roman" pitchFamily="18" charset="0"/>
              </a:rPr>
              <a:t>    C</a:t>
            </a:r>
            <a:r>
              <a:rPr lang="en-US" altLang="zh-CN" sz="3200" baseline="-25000">
                <a:latin typeface="Times New Roman" pitchFamily="18" charset="0"/>
              </a:rPr>
              <a:t>6</a:t>
            </a:r>
            <a:r>
              <a:rPr lang="en-US" altLang="zh-CN" sz="3200">
                <a:latin typeface="Times New Roman" pitchFamily="18" charset="0"/>
              </a:rPr>
              <a:t>H</a:t>
            </a:r>
            <a:r>
              <a:rPr lang="en-US" altLang="zh-CN" sz="3200" baseline="-25000">
                <a:latin typeface="Times New Roman" pitchFamily="18" charset="0"/>
              </a:rPr>
              <a:t>5</a:t>
            </a:r>
            <a:r>
              <a:rPr lang="en-US" altLang="zh-CN" sz="3200">
                <a:latin typeface="Times New Roman" pitchFamily="18" charset="0"/>
              </a:rPr>
              <a:t>Cl   NH</a:t>
            </a:r>
            <a:r>
              <a:rPr lang="en-US" altLang="zh-CN" sz="3200" baseline="-25000">
                <a:latin typeface="Times New Roman" pitchFamily="18" charset="0"/>
              </a:rPr>
              <a:t>3</a:t>
            </a:r>
            <a:r>
              <a:rPr lang="en-US" altLang="zh-CN" sz="3200">
                <a:latin typeface="Times New Roman" pitchFamily="18" charset="0"/>
              </a:rPr>
              <a:t>   C</a:t>
            </a:r>
            <a:r>
              <a:rPr lang="en-US" altLang="zh-CN" sz="3200" baseline="-25000">
                <a:latin typeface="Times New Roman" pitchFamily="18" charset="0"/>
              </a:rPr>
              <a:t>6</a:t>
            </a:r>
            <a:r>
              <a:rPr lang="en-US" altLang="zh-CN" sz="3200">
                <a:latin typeface="Times New Roman" pitchFamily="18" charset="0"/>
              </a:rPr>
              <a:t>H</a:t>
            </a:r>
            <a:r>
              <a:rPr lang="en-US" altLang="zh-CN" sz="3200" baseline="-25000">
                <a:latin typeface="Times New Roman" pitchFamily="18" charset="0"/>
              </a:rPr>
              <a:t>5</a:t>
            </a:r>
            <a:r>
              <a:rPr lang="en-US" altLang="zh-CN" sz="3200">
                <a:latin typeface="Times New Roman" pitchFamily="18" charset="0"/>
              </a:rPr>
              <a:t>NH</a:t>
            </a:r>
            <a:r>
              <a:rPr lang="en-US" altLang="zh-CN" sz="3200" baseline="-25000">
                <a:latin typeface="Times New Roman" pitchFamily="18" charset="0"/>
              </a:rPr>
              <a:t>2</a:t>
            </a:r>
            <a:r>
              <a:rPr lang="en-US" altLang="zh-CN" sz="3200">
                <a:latin typeface="Times New Roman" pitchFamily="18" charset="0"/>
              </a:rPr>
              <a:t>     CH</a:t>
            </a:r>
            <a:r>
              <a:rPr lang="en-US" altLang="zh-CN" sz="3200" baseline="-25000">
                <a:latin typeface="Times New Roman" pitchFamily="18" charset="0"/>
              </a:rPr>
              <a:t>3</a:t>
            </a:r>
            <a:r>
              <a:rPr lang="en-US" altLang="zh-CN" sz="3200">
                <a:latin typeface="Times New Roman" pitchFamily="18" charset="0"/>
              </a:rPr>
              <a:t>SH</a:t>
            </a:r>
            <a:r>
              <a:rPr lang="zh-CN" altLang="en-US" sz="3200">
                <a:latin typeface="Calibri" pitchFamily="34" charset="0"/>
              </a:rPr>
              <a:t>等。</a:t>
            </a:r>
          </a:p>
        </p:txBody>
      </p:sp>
    </p:spTree>
  </p:cSld>
  <p:clrMapOvr>
    <a:masterClrMapping/>
  </p:clrMapOvr>
  <p:transition spd="slow"/>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ChangeArrowheads="1"/>
          </p:cNvSpPr>
          <p:nvPr/>
        </p:nvSpPr>
        <p:spPr bwMode="auto">
          <a:xfrm>
            <a:off x="1331913" y="1200150"/>
            <a:ext cx="2519362" cy="345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80000"/>
              </a:lnSpc>
            </a:pP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2</a:t>
            </a:r>
            <a:r>
              <a:rPr lang="en-US" altLang="zh-CN">
                <a:latin typeface="Times New Roman" pitchFamily="18" charset="0"/>
                <a:cs typeface="Times New Roman" pitchFamily="18" charset="0"/>
              </a:rPr>
              <a:t>H</a:t>
            </a:r>
            <a:r>
              <a:rPr lang="en-US" altLang="zh-CN" baseline="-25000">
                <a:latin typeface="Times New Roman" pitchFamily="18" charset="0"/>
                <a:cs typeface="Times New Roman" pitchFamily="18" charset="0"/>
              </a:rPr>
              <a:t>4</a:t>
            </a:r>
            <a:r>
              <a:rPr lang="en-US" altLang="zh-CN" baseline="30000">
                <a:latin typeface="Times New Roman" pitchFamily="18" charset="0"/>
                <a:cs typeface="Times New Roman" pitchFamily="18" charset="0"/>
              </a:rPr>
              <a:t>+</a:t>
            </a:r>
            <a:endParaRPr lang="en-US" altLang="zh-CN">
              <a:latin typeface="Times New Roman" pitchFamily="18" charset="0"/>
              <a:cs typeface="Times New Roman" pitchFamily="18" charset="0"/>
            </a:endParaRPr>
          </a:p>
          <a:p>
            <a:pPr>
              <a:lnSpc>
                <a:spcPct val="150000"/>
              </a:lnSpc>
            </a:pP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3</a:t>
            </a:r>
            <a:r>
              <a:rPr lang="en-US" altLang="zh-CN">
                <a:latin typeface="Times New Roman" pitchFamily="18" charset="0"/>
                <a:cs typeface="Times New Roman" pitchFamily="18" charset="0"/>
              </a:rPr>
              <a:t>H</a:t>
            </a:r>
            <a:r>
              <a:rPr lang="en-US" altLang="zh-CN" baseline="-25000">
                <a:latin typeface="Times New Roman" pitchFamily="18" charset="0"/>
                <a:cs typeface="Times New Roman" pitchFamily="18" charset="0"/>
              </a:rPr>
              <a:t>7</a:t>
            </a:r>
            <a:r>
              <a:rPr lang="en-US" altLang="zh-CN">
                <a:latin typeface="Times New Roman" pitchFamily="18" charset="0"/>
                <a:cs typeface="Times New Roman" pitchFamily="18" charset="0"/>
              </a:rPr>
              <a:t>O</a:t>
            </a:r>
            <a:r>
              <a:rPr lang="en-US" altLang="zh-CN" baseline="30000">
                <a:latin typeface="Times New Roman" pitchFamily="18" charset="0"/>
                <a:cs typeface="Times New Roman" pitchFamily="18" charset="0"/>
              </a:rPr>
              <a:t>+</a:t>
            </a:r>
            <a:endParaRPr lang="en-US" altLang="zh-CN">
              <a:latin typeface="Times New Roman" pitchFamily="18" charset="0"/>
              <a:cs typeface="Times New Roman" pitchFamily="18" charset="0"/>
            </a:endParaRPr>
          </a:p>
          <a:p>
            <a:pPr>
              <a:lnSpc>
                <a:spcPct val="150000"/>
              </a:lnSpc>
            </a:pP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4</a:t>
            </a:r>
            <a:r>
              <a:rPr lang="en-US" altLang="zh-CN">
                <a:latin typeface="Times New Roman" pitchFamily="18" charset="0"/>
                <a:cs typeface="Times New Roman" pitchFamily="18" charset="0"/>
              </a:rPr>
              <a:t>H</a:t>
            </a:r>
            <a:r>
              <a:rPr lang="en-US" altLang="zh-CN" baseline="-25000">
                <a:latin typeface="Times New Roman" pitchFamily="18" charset="0"/>
                <a:cs typeface="Times New Roman" pitchFamily="18" charset="0"/>
              </a:rPr>
              <a:t>9</a:t>
            </a:r>
            <a:r>
              <a:rPr lang="en-US" altLang="zh-CN">
                <a:latin typeface="Times New Roman" pitchFamily="18" charset="0"/>
                <a:cs typeface="Times New Roman" pitchFamily="18" charset="0"/>
              </a:rPr>
              <a:t>N</a:t>
            </a:r>
            <a:r>
              <a:rPr lang="en-US" altLang="zh-CN" baseline="30000">
                <a:latin typeface="Times New Roman" pitchFamily="18" charset="0"/>
                <a:cs typeface="Times New Roman" pitchFamily="18" charset="0"/>
              </a:rPr>
              <a:t>+</a:t>
            </a:r>
            <a:endParaRPr lang="en-US" altLang="zh-CN">
              <a:latin typeface="Times New Roman" pitchFamily="18" charset="0"/>
              <a:cs typeface="Times New Roman" pitchFamily="18" charset="0"/>
            </a:endParaRPr>
          </a:p>
          <a:p>
            <a:pPr>
              <a:lnSpc>
                <a:spcPct val="150000"/>
              </a:lnSpc>
            </a:pP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4</a:t>
            </a:r>
            <a:r>
              <a:rPr lang="en-US" altLang="zh-CN">
                <a:latin typeface="Times New Roman" pitchFamily="18" charset="0"/>
                <a:cs typeface="Times New Roman" pitchFamily="18" charset="0"/>
              </a:rPr>
              <a:t>H</a:t>
            </a:r>
            <a:r>
              <a:rPr lang="en-US" altLang="zh-CN" baseline="-25000">
                <a:latin typeface="Times New Roman" pitchFamily="18" charset="0"/>
                <a:cs typeface="Times New Roman" pitchFamily="18" charset="0"/>
              </a:rPr>
              <a:t>8</a:t>
            </a:r>
            <a:r>
              <a:rPr lang="en-US" altLang="zh-CN">
                <a:latin typeface="Times New Roman" pitchFamily="18" charset="0"/>
                <a:cs typeface="Times New Roman" pitchFamily="18" charset="0"/>
              </a:rPr>
              <a:t>NO</a:t>
            </a:r>
            <a:r>
              <a:rPr lang="en-US" altLang="zh-CN" baseline="30000">
                <a:latin typeface="Times New Roman" pitchFamily="18" charset="0"/>
                <a:cs typeface="Times New Roman" pitchFamily="18" charset="0"/>
              </a:rPr>
              <a:t>+</a:t>
            </a:r>
            <a:endParaRPr lang="en-US" altLang="zh-CN">
              <a:latin typeface="Times New Roman" pitchFamily="18" charset="0"/>
              <a:cs typeface="Times New Roman" pitchFamily="18" charset="0"/>
            </a:endParaRPr>
          </a:p>
          <a:p>
            <a:pPr>
              <a:lnSpc>
                <a:spcPct val="150000"/>
              </a:lnSpc>
            </a:pP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7</a:t>
            </a:r>
            <a:r>
              <a:rPr lang="en-US" altLang="zh-CN">
                <a:latin typeface="Times New Roman" pitchFamily="18" charset="0"/>
                <a:cs typeface="Times New Roman" pitchFamily="18" charset="0"/>
              </a:rPr>
              <a:t>H</a:t>
            </a:r>
            <a:r>
              <a:rPr lang="en-US" altLang="zh-CN" baseline="-25000">
                <a:latin typeface="Times New Roman" pitchFamily="18" charset="0"/>
                <a:cs typeface="Times New Roman" pitchFamily="18" charset="0"/>
              </a:rPr>
              <a:t>5</a:t>
            </a:r>
            <a:r>
              <a:rPr lang="en-US" altLang="zh-CN">
                <a:latin typeface="Times New Roman" pitchFamily="18" charset="0"/>
                <a:cs typeface="Times New Roman" pitchFamily="18" charset="0"/>
              </a:rPr>
              <a:t>ClBr</a:t>
            </a:r>
            <a:r>
              <a:rPr lang="en-US" altLang="zh-CN" baseline="30000">
                <a:latin typeface="Times New Roman" pitchFamily="18" charset="0"/>
                <a:cs typeface="Times New Roman" pitchFamily="18" charset="0"/>
              </a:rPr>
              <a:t>+</a:t>
            </a:r>
            <a:endParaRPr lang="en-US" altLang="zh-CN">
              <a:latin typeface="Times New Roman" pitchFamily="18" charset="0"/>
              <a:cs typeface="Times New Roman" pitchFamily="18" charset="0"/>
            </a:endParaRPr>
          </a:p>
        </p:txBody>
      </p:sp>
      <p:sp>
        <p:nvSpPr>
          <p:cNvPr id="351237" name="Rectangle 5"/>
          <p:cNvSpPr>
            <a:spLocks noChangeArrowheads="1"/>
          </p:cNvSpPr>
          <p:nvPr/>
        </p:nvSpPr>
        <p:spPr bwMode="auto">
          <a:xfrm>
            <a:off x="4500563" y="1303338"/>
            <a:ext cx="2297112" cy="392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pP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m/z = 28</a:t>
            </a:r>
            <a:r>
              <a:rPr lang="zh-CN" altLang="en-US">
                <a:latin typeface="Times New Roman" pitchFamily="18" charset="0"/>
                <a:cs typeface="Times New Roman" pitchFamily="18" charset="0"/>
              </a:rPr>
              <a:t>）</a:t>
            </a:r>
          </a:p>
          <a:p>
            <a:pPr>
              <a:lnSpc>
                <a:spcPct val="150000"/>
              </a:lnSpc>
            </a:pPr>
            <a:r>
              <a:rPr lang="zh-CN" altLang="en-US">
                <a:latin typeface="Times New Roman" pitchFamily="18" charset="0"/>
                <a:cs typeface="Times New Roman" pitchFamily="18" charset="0"/>
              </a:rPr>
              <a:t> （</a:t>
            </a:r>
            <a:r>
              <a:rPr lang="en-US" altLang="zh-CN">
                <a:latin typeface="Times New Roman" pitchFamily="18" charset="0"/>
                <a:cs typeface="Times New Roman" pitchFamily="18" charset="0"/>
              </a:rPr>
              <a:t>m/z = 59</a:t>
            </a:r>
            <a:r>
              <a:rPr lang="zh-CN" altLang="en-US">
                <a:latin typeface="Times New Roman" pitchFamily="18" charset="0"/>
                <a:cs typeface="Times New Roman" pitchFamily="18" charset="0"/>
              </a:rPr>
              <a:t>）</a:t>
            </a:r>
          </a:p>
          <a:p>
            <a:pPr>
              <a:lnSpc>
                <a:spcPct val="150000"/>
              </a:lnSpc>
            </a:pPr>
            <a:r>
              <a:rPr lang="zh-CN" altLang="en-US">
                <a:latin typeface="Times New Roman" pitchFamily="18" charset="0"/>
                <a:cs typeface="Times New Roman" pitchFamily="18" charset="0"/>
              </a:rPr>
              <a:t>   </a:t>
            </a:r>
            <a:r>
              <a:rPr lang="en-US" altLang="zh-CN">
                <a:latin typeface="Times New Roman" pitchFamily="18" charset="0"/>
                <a:cs typeface="Times New Roman" pitchFamily="18" charset="0"/>
              </a:rPr>
              <a:t>(m/z = 71) </a:t>
            </a:r>
          </a:p>
          <a:p>
            <a:pPr>
              <a:lnSpc>
                <a:spcPct val="150000"/>
              </a:lnSpc>
            </a:pPr>
            <a:r>
              <a:rPr lang="en-US" altLang="zh-CN">
                <a:latin typeface="Times New Roman" pitchFamily="18" charset="0"/>
                <a:cs typeface="Times New Roman" pitchFamily="18" charset="0"/>
              </a:rPr>
              <a:t>   (m/z = 86)</a:t>
            </a:r>
          </a:p>
          <a:p>
            <a:pPr>
              <a:lnSpc>
                <a:spcPct val="150000"/>
              </a:lnSpc>
            </a:pPr>
            <a:r>
              <a:rPr lang="en-US" altLang="zh-CN">
                <a:latin typeface="Times New Roman" pitchFamily="18" charset="0"/>
                <a:cs typeface="Times New Roman" pitchFamily="18" charset="0"/>
              </a:rPr>
              <a:t>    (m/z = 203)</a:t>
            </a:r>
          </a:p>
          <a:p>
            <a:pPr>
              <a:lnSpc>
                <a:spcPct val="160000"/>
              </a:lnSpc>
            </a:pPr>
            <a:endParaRPr lang="en-US" altLang="zh-CN">
              <a:solidFill>
                <a:srgbClr val="000099"/>
              </a:solidFill>
              <a:latin typeface="Times New Roman" pitchFamily="18" charset="0"/>
              <a:cs typeface="Times New Roman" pitchFamily="18" charset="0"/>
            </a:endParaRPr>
          </a:p>
        </p:txBody>
      </p:sp>
      <p:sp>
        <p:nvSpPr>
          <p:cNvPr id="4" name="Rectangle 4"/>
          <p:cNvSpPr>
            <a:spLocks noChangeArrowheads="1"/>
          </p:cNvSpPr>
          <p:nvPr/>
        </p:nvSpPr>
        <p:spPr bwMode="auto">
          <a:xfrm>
            <a:off x="323850" y="49213"/>
            <a:ext cx="7632700" cy="979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80000"/>
              </a:lnSpc>
              <a:spcBef>
                <a:spcPct val="0"/>
              </a:spcBef>
              <a:buFontTx/>
              <a:buNone/>
              <a:defRPr/>
            </a:pPr>
            <a:r>
              <a:rPr lang="zh-CN" altLang="en-US" sz="3200" dirty="0" smtClean="0">
                <a:latin typeface="+mn-ea"/>
                <a:ea typeface="+mn-ea"/>
              </a:rPr>
              <a:t>判断下列离子哪些不可能是分子离子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1237"/>
                                        </p:tgtEl>
                                        <p:attrNameLst>
                                          <p:attrName>style.visibility</p:attrName>
                                        </p:attrNameLst>
                                      </p:cBhvr>
                                      <p:to>
                                        <p:strVal val="visible"/>
                                      </p:to>
                                    </p:set>
                                    <p:animEffect transition="in" filter="blinds(horizontal)">
                                      <p:cBhvr>
                                        <p:cTn id="7" dur="500"/>
                                        <p:tgtEl>
                                          <p:spTgt spid="3512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7"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9513F130-B8C4-4E59-9357-A489388D1DC2}"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4198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98CF417C-533C-4932-826E-8A48F6DA698E}" type="slidenum">
              <a:rPr lang="en-US" altLang="zh-CN" sz="1200" smtClean="0">
                <a:latin typeface="Verdana" pitchFamily="34" charset="0"/>
                <a:ea typeface="宋体" pitchFamily="2" charset="-122"/>
              </a:rPr>
              <a:pPr eaLnBrk="1" hangingPunct="1">
                <a:lnSpc>
                  <a:spcPct val="100000"/>
                </a:lnSpc>
              </a:pPr>
              <a:t>35</a:t>
            </a:fld>
            <a:endParaRPr lang="en-US" altLang="zh-CN" sz="1200" smtClean="0">
              <a:latin typeface="Verdana" pitchFamily="34" charset="0"/>
              <a:ea typeface="宋体" pitchFamily="2" charset="-122"/>
            </a:endParaRPr>
          </a:p>
        </p:txBody>
      </p:sp>
      <p:sp>
        <p:nvSpPr>
          <p:cNvPr id="27652" name="Rectangle 2"/>
          <p:cNvSpPr>
            <a:spLocks noGrp="1" noChangeArrowheads="1"/>
          </p:cNvSpPr>
          <p:nvPr>
            <p:ph type="title"/>
          </p:nvPr>
        </p:nvSpPr>
        <p:spPr>
          <a:xfrm>
            <a:off x="250825" y="44450"/>
            <a:ext cx="4465638" cy="1143000"/>
          </a:xfrm>
        </p:spPr>
        <p:txBody>
          <a:bodyPr/>
          <a:lstStyle/>
          <a:p>
            <a:pPr eaLnBrk="1" hangingPunct="1">
              <a:defRPr/>
            </a:pPr>
            <a:r>
              <a:rPr lang="en-US" altLang="zh-CN" sz="3600" b="1" dirty="0" smtClean="0">
                <a:solidFill>
                  <a:srgbClr val="2C2CB0"/>
                </a:solidFill>
                <a:latin typeface="Times New Roman" panose="02020603050405020304" pitchFamily="18" charset="0"/>
                <a:ea typeface="+mn-ea"/>
                <a:cs typeface="Times New Roman" panose="02020603050405020304" pitchFamily="18" charset="0"/>
              </a:rPr>
              <a:t>3</a:t>
            </a:r>
            <a:r>
              <a:rPr lang="zh-CN" altLang="en-US" sz="3600" b="1" dirty="0" smtClean="0">
                <a:solidFill>
                  <a:srgbClr val="2C2CB0"/>
                </a:solidFill>
                <a:latin typeface="Times New Roman" panose="02020603050405020304" pitchFamily="18" charset="0"/>
                <a:ea typeface="+mn-ea"/>
                <a:cs typeface="Times New Roman" panose="02020603050405020304" pitchFamily="18" charset="0"/>
              </a:rPr>
              <a:t>、合理的中性丢失</a:t>
            </a:r>
          </a:p>
        </p:txBody>
      </p:sp>
      <p:sp>
        <p:nvSpPr>
          <p:cNvPr id="41989" name="Rectangle 3"/>
          <p:cNvSpPr>
            <a:spLocks noGrp="1" noChangeArrowheads="1"/>
          </p:cNvSpPr>
          <p:nvPr>
            <p:ph type="body" idx="1"/>
          </p:nvPr>
        </p:nvSpPr>
        <p:spPr>
          <a:xfrm>
            <a:off x="234950" y="1052513"/>
            <a:ext cx="8785225" cy="2305050"/>
          </a:xfrm>
        </p:spPr>
        <p:txBody>
          <a:bodyPr/>
          <a:lstStyle/>
          <a:p>
            <a:pPr marL="0" indent="0" eaLnBrk="1" hangingPunct="1">
              <a:lnSpc>
                <a:spcPct val="150000"/>
              </a:lnSpc>
              <a:spcBef>
                <a:spcPct val="0"/>
              </a:spcBef>
              <a:buClr>
                <a:srgbClr val="FF00FF"/>
              </a:buClr>
              <a:buFont typeface="Wingdings" pitchFamily="2" charset="2"/>
              <a:buChar char="v"/>
            </a:pPr>
            <a:r>
              <a:rPr lang="zh-CN" altLang="en-US" b="1" smtClean="0">
                <a:latin typeface="Times New Roman" pitchFamily="18" charset="0"/>
                <a:cs typeface="Times New Roman" pitchFamily="18" charset="0"/>
              </a:rPr>
              <a:t>分子离子与最靠近它的高质量碎片离子之间有</a:t>
            </a:r>
            <a:r>
              <a:rPr lang="zh-CN" altLang="en-US" b="1" smtClean="0">
                <a:solidFill>
                  <a:srgbClr val="0000CC"/>
                </a:solidFill>
                <a:latin typeface="微软雅黑" pitchFamily="34" charset="-122"/>
                <a:ea typeface="微软雅黑" pitchFamily="34" charset="-122"/>
                <a:cs typeface="Times New Roman" pitchFamily="18" charset="0"/>
              </a:rPr>
              <a:t>合理的质量差</a:t>
            </a:r>
            <a:r>
              <a:rPr lang="zh-CN" altLang="en-US" b="1" smtClean="0">
                <a:latin typeface="Times New Roman" pitchFamily="18" charset="0"/>
                <a:cs typeface="Times New Roman" pitchFamily="18" charset="0"/>
              </a:rPr>
              <a:t>，质量差在</a:t>
            </a:r>
            <a:r>
              <a:rPr lang="en-US" altLang="zh-CN" b="1" smtClean="0">
                <a:solidFill>
                  <a:srgbClr val="0000CC"/>
                </a:solidFill>
                <a:latin typeface="Times New Roman" pitchFamily="18" charset="0"/>
                <a:cs typeface="Times New Roman" pitchFamily="18" charset="0"/>
              </a:rPr>
              <a:t>4~14</a:t>
            </a:r>
            <a:r>
              <a:rPr lang="zh-CN" altLang="en-US" b="1" smtClean="0">
                <a:solidFill>
                  <a:srgbClr val="0000CC"/>
                </a:solidFill>
                <a:latin typeface="Times New Roman" pitchFamily="18" charset="0"/>
                <a:cs typeface="Times New Roman" pitchFamily="18" charset="0"/>
              </a:rPr>
              <a:t>，</a:t>
            </a:r>
            <a:r>
              <a:rPr lang="en-US" altLang="zh-CN" b="1" smtClean="0">
                <a:solidFill>
                  <a:srgbClr val="0000CC"/>
                </a:solidFill>
                <a:latin typeface="Times New Roman" pitchFamily="18" charset="0"/>
                <a:cs typeface="Times New Roman" pitchFamily="18" charset="0"/>
              </a:rPr>
              <a:t>21~25</a:t>
            </a:r>
            <a:r>
              <a:rPr lang="zh-CN" altLang="en-US" b="1" smtClean="0">
                <a:latin typeface="Times New Roman" pitchFamily="18" charset="0"/>
                <a:cs typeface="Times New Roman" pitchFamily="18" charset="0"/>
              </a:rPr>
              <a:t>的区域内，则不合理，</a:t>
            </a:r>
            <a:r>
              <a:rPr lang="zh-CN" altLang="en-US" b="1" smtClean="0"/>
              <a:t>也即不是分子离子峰。</a:t>
            </a:r>
            <a:endParaRPr lang="zh-CN" altLang="en-US" b="1" smtClean="0">
              <a:latin typeface="Times New Roman" pitchFamily="18" charset="0"/>
            </a:endParaRPr>
          </a:p>
        </p:txBody>
      </p:sp>
      <p:graphicFrame>
        <p:nvGraphicFramePr>
          <p:cNvPr id="7" name="Object 7"/>
          <p:cNvGraphicFramePr>
            <a:graphicFrameLocks noChangeAspect="1"/>
          </p:cNvGraphicFramePr>
          <p:nvPr/>
        </p:nvGraphicFramePr>
        <p:xfrm>
          <a:off x="1047750" y="3808413"/>
          <a:ext cx="2667000" cy="492125"/>
        </p:xfrm>
        <a:graphic>
          <a:graphicData uri="http://schemas.openxmlformats.org/presentationml/2006/ole">
            <mc:AlternateContent xmlns:mc="http://schemas.openxmlformats.org/markup-compatibility/2006">
              <mc:Choice xmlns:v="urn:schemas-microsoft-com:vml" Requires="v">
                <p:oleObj spid="_x0000_s42007" name="Document" r:id="rId4" imgW="1857375" imgH="342900" progId="ChemWindow.Document">
                  <p:embed/>
                </p:oleObj>
              </mc:Choice>
              <mc:Fallback>
                <p:oleObj name="Document" r:id="rId4" imgW="1857375" imgH="342900" progId="ChemWindow.Document">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7750" y="3808413"/>
                        <a:ext cx="2667000" cy="4921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Object 8"/>
          <p:cNvGraphicFramePr>
            <a:graphicFrameLocks noChangeAspect="1"/>
          </p:cNvGraphicFramePr>
          <p:nvPr/>
        </p:nvGraphicFramePr>
        <p:xfrm>
          <a:off x="4530725" y="3789363"/>
          <a:ext cx="2971800" cy="441325"/>
        </p:xfrm>
        <a:graphic>
          <a:graphicData uri="http://schemas.openxmlformats.org/presentationml/2006/ole">
            <mc:AlternateContent xmlns:mc="http://schemas.openxmlformats.org/markup-compatibility/2006">
              <mc:Choice xmlns:v="urn:schemas-microsoft-com:vml" Requires="v">
                <p:oleObj spid="_x0000_s42008" name="Document" r:id="rId6" imgW="1924050" imgH="285750" progId="ChemWindow.Document">
                  <p:embed/>
                </p:oleObj>
              </mc:Choice>
              <mc:Fallback>
                <p:oleObj name="Document" r:id="rId6" imgW="1924050" imgH="285750" progId="ChemWindow.Document">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30725" y="3789363"/>
                        <a:ext cx="2971800" cy="441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Rectangle 9"/>
          <p:cNvSpPr>
            <a:spLocks noChangeArrowheads="1"/>
          </p:cNvSpPr>
          <p:nvPr/>
        </p:nvSpPr>
        <p:spPr bwMode="auto">
          <a:xfrm>
            <a:off x="90488" y="4581525"/>
            <a:ext cx="8959850" cy="166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60000"/>
              </a:lnSpc>
              <a:spcBef>
                <a:spcPct val="20000"/>
              </a:spcBef>
              <a:buFontTx/>
              <a:buNone/>
              <a:defRPr/>
            </a:pPr>
            <a:r>
              <a:rPr lang="zh-CN" altLang="en-US" sz="3200" dirty="0" smtClean="0">
                <a:solidFill>
                  <a:srgbClr val="000099"/>
                </a:solidFill>
                <a:latin typeface="Times New Roman" panose="02020603050405020304" pitchFamily="18" charset="0"/>
                <a:ea typeface="+mn-ea"/>
                <a:cs typeface="Times New Roman" panose="02020603050405020304" pitchFamily="18" charset="0"/>
              </a:rPr>
              <a:t>        </a:t>
            </a:r>
            <a:r>
              <a:rPr lang="zh-CN" altLang="en-US" sz="3200" dirty="0" smtClean="0">
                <a:latin typeface="Times New Roman" panose="02020603050405020304" pitchFamily="18" charset="0"/>
                <a:ea typeface="+mn-ea"/>
                <a:cs typeface="Times New Roman" panose="02020603050405020304" pitchFamily="18" charset="0"/>
              </a:rPr>
              <a:t>若质量差</a:t>
            </a:r>
            <a:r>
              <a:rPr lang="en-US" altLang="zh-CN" sz="3200" dirty="0" smtClean="0">
                <a:latin typeface="Times New Roman" panose="02020603050405020304" pitchFamily="18" charset="0"/>
                <a:ea typeface="+mn-ea"/>
                <a:cs typeface="Times New Roman" panose="02020603050405020304" pitchFamily="18" charset="0"/>
              </a:rPr>
              <a:t>14</a:t>
            </a:r>
            <a:r>
              <a:rPr lang="zh-CN" altLang="en-US" sz="3200" dirty="0" smtClean="0">
                <a:latin typeface="Times New Roman" panose="02020603050405020304" pitchFamily="18" charset="0"/>
                <a:ea typeface="+mn-ea"/>
                <a:cs typeface="Times New Roman" panose="02020603050405020304" pitchFamily="18" charset="0"/>
              </a:rPr>
              <a:t>，则分子离子须丢失一个</a:t>
            </a:r>
            <a:r>
              <a:rPr lang="en-US" altLang="zh-CN" sz="3200" dirty="0" smtClean="0">
                <a:latin typeface="Times New Roman" panose="02020603050405020304" pitchFamily="18" charset="0"/>
                <a:ea typeface="+mn-ea"/>
                <a:cs typeface="Times New Roman" panose="02020603050405020304" pitchFamily="18" charset="0"/>
              </a:rPr>
              <a:t>-CH</a:t>
            </a:r>
            <a:r>
              <a:rPr lang="en-US" altLang="zh-CN" sz="3200" baseline="-25000" dirty="0" smtClean="0">
                <a:latin typeface="Times New Roman" panose="02020603050405020304" pitchFamily="18" charset="0"/>
                <a:ea typeface="+mn-ea"/>
                <a:cs typeface="Times New Roman" panose="02020603050405020304" pitchFamily="18" charset="0"/>
              </a:rPr>
              <a:t>2</a:t>
            </a:r>
            <a:r>
              <a:rPr lang="en-US" altLang="zh-CN" sz="3200" dirty="0" smtClean="0">
                <a:latin typeface="Times New Roman" panose="02020603050405020304" pitchFamily="18" charset="0"/>
                <a:ea typeface="+mn-ea"/>
                <a:cs typeface="Times New Roman" panose="02020603050405020304" pitchFamily="18" charset="0"/>
              </a:rPr>
              <a:t>-</a:t>
            </a:r>
            <a:r>
              <a:rPr lang="zh-CN" altLang="en-US" sz="3200" dirty="0" smtClean="0">
                <a:latin typeface="Times New Roman" panose="02020603050405020304" pitchFamily="18" charset="0"/>
                <a:ea typeface="+mn-ea"/>
                <a:cs typeface="Times New Roman" panose="02020603050405020304" pitchFamily="18" charset="0"/>
              </a:rPr>
              <a:t>基团，不可能！</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blinds(horizontal)">
                                      <p:cBhvr>
                                        <p:cTn id="1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p:cNvSpPr>
            <a:spLocks noGrp="1" noChangeArrowheads="1"/>
          </p:cNvSpPr>
          <p:nvPr>
            <p:ph type="title"/>
          </p:nvPr>
        </p:nvSpPr>
        <p:spPr>
          <a:xfrm>
            <a:off x="1476375" y="420688"/>
            <a:ext cx="4464050" cy="915987"/>
          </a:xfrm>
        </p:spPr>
        <p:txBody>
          <a:bodyPr/>
          <a:lstStyle/>
          <a:p>
            <a:pPr eaLnBrk="1" hangingPunct="1"/>
            <a:r>
              <a:rPr lang="zh-CN" altLang="en-US" sz="2900" b="1" smtClean="0"/>
              <a:t>例  题已知化合物不含氮</a:t>
            </a:r>
          </a:p>
        </p:txBody>
      </p:sp>
      <p:sp>
        <p:nvSpPr>
          <p:cNvPr id="43011"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9811DCB7-3A62-4302-A691-F1DF101017DD}" type="datetime10">
              <a:rPr lang="zh-CN" altLang="en-US" sz="1200" smtClean="0">
                <a:latin typeface="Verdana" pitchFamily="34" charset="0"/>
                <a:ea typeface="宋体" pitchFamily="2" charset="-122"/>
              </a:rPr>
              <a:pPr eaLnBrk="1" hangingPunct="1"/>
              <a:t>20:02</a:t>
            </a:fld>
            <a:endParaRPr lang="en-US" altLang="zh-CN" sz="1200" smtClean="0">
              <a:latin typeface="Verdana" pitchFamily="34" charset="0"/>
              <a:ea typeface="宋体" pitchFamily="2" charset="-122"/>
            </a:endParaRPr>
          </a:p>
        </p:txBody>
      </p:sp>
      <p:sp>
        <p:nvSpPr>
          <p:cNvPr id="4301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F99AC757-61E4-4A12-B08D-3F800A6CEF48}" type="slidenum">
              <a:rPr lang="en-US" altLang="zh-CN" sz="1200" smtClean="0">
                <a:latin typeface="Verdana" pitchFamily="34" charset="0"/>
                <a:ea typeface="宋体" pitchFamily="2" charset="-122"/>
              </a:rPr>
              <a:pPr eaLnBrk="1" hangingPunct="1"/>
              <a:t>36</a:t>
            </a:fld>
            <a:endParaRPr lang="en-US" altLang="zh-CN" sz="1200" smtClean="0">
              <a:latin typeface="Verdana" pitchFamily="34" charset="0"/>
              <a:ea typeface="宋体" pitchFamily="2" charset="-122"/>
            </a:endParaRPr>
          </a:p>
        </p:txBody>
      </p:sp>
      <p:pic>
        <p:nvPicPr>
          <p:cNvPr id="430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1700213"/>
            <a:ext cx="7620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ext Box 4"/>
          <p:cNvSpPr txBox="1">
            <a:spLocks noChangeArrowheads="1"/>
          </p:cNvSpPr>
          <p:nvPr/>
        </p:nvSpPr>
        <p:spPr bwMode="auto">
          <a:xfrm>
            <a:off x="3048000" y="5715000"/>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spcBef>
                <a:spcPct val="50000"/>
              </a:spcBef>
            </a:pPr>
            <a:r>
              <a:rPr lang="en-US" altLang="zh-CN">
                <a:latin typeface="Times New Roman" pitchFamily="18" charset="0"/>
                <a:ea typeface="宋体" pitchFamily="2" charset="-122"/>
              </a:rPr>
              <a:t>m/z 114</a:t>
            </a:r>
            <a:r>
              <a:rPr lang="zh-CN" altLang="en-US">
                <a:latin typeface="Times New Roman" pitchFamily="18" charset="0"/>
                <a:ea typeface="宋体" pitchFamily="2" charset="-122"/>
              </a:rPr>
              <a:t>肯定不是分子离子峰</a:t>
            </a:r>
          </a:p>
        </p:txBody>
      </p:sp>
      <p:sp>
        <p:nvSpPr>
          <p:cNvPr id="43015" name="Oval 5"/>
          <p:cNvSpPr>
            <a:spLocks noChangeArrowheads="1"/>
          </p:cNvSpPr>
          <p:nvPr/>
        </p:nvSpPr>
        <p:spPr bwMode="auto">
          <a:xfrm>
            <a:off x="6516688" y="4149725"/>
            <a:ext cx="503237" cy="504825"/>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animEffect transition="in" filter="blinds(horizontal)">
                                      <p:cBhvr>
                                        <p:cTn id="7" dur="500"/>
                                        <p:tgtEl>
                                          <p:spTgt spid="25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3AD50FE8-504A-43E8-9614-EE19853E058A}" type="datetime10">
              <a:rPr lang="zh-CN" altLang="en-US" sz="1200" smtClean="0">
                <a:latin typeface="Verdana" pitchFamily="34" charset="0"/>
                <a:ea typeface="宋体" pitchFamily="2" charset="-122"/>
              </a:rPr>
              <a:pPr eaLnBrk="1" hangingPunct="1"/>
              <a:t>20:02</a:t>
            </a:fld>
            <a:endParaRPr lang="en-US" altLang="zh-CN" sz="1200" smtClean="0">
              <a:latin typeface="Verdana" pitchFamily="34" charset="0"/>
              <a:ea typeface="宋体" pitchFamily="2" charset="-122"/>
            </a:endParaRPr>
          </a:p>
        </p:txBody>
      </p:sp>
      <p:sp>
        <p:nvSpPr>
          <p:cNvPr id="4403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11AD011F-2920-4396-9B97-044FE46A89A6}" type="slidenum">
              <a:rPr lang="en-US" altLang="zh-CN" sz="1200" smtClean="0">
                <a:latin typeface="Verdana" pitchFamily="34" charset="0"/>
                <a:ea typeface="宋体" pitchFamily="2" charset="-122"/>
              </a:rPr>
              <a:pPr eaLnBrk="1" hangingPunct="1"/>
              <a:t>37</a:t>
            </a:fld>
            <a:endParaRPr lang="en-US" altLang="zh-CN" sz="1200" smtClean="0">
              <a:latin typeface="Verdana" pitchFamily="34" charset="0"/>
              <a:ea typeface="宋体" pitchFamily="2" charset="-122"/>
            </a:endParaRPr>
          </a:p>
        </p:txBody>
      </p:sp>
      <p:pic>
        <p:nvPicPr>
          <p:cNvPr id="440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60350"/>
            <a:ext cx="77724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3"/>
          <p:cNvSpPr txBox="1">
            <a:spLocks noChangeArrowheads="1"/>
          </p:cNvSpPr>
          <p:nvPr/>
        </p:nvSpPr>
        <p:spPr bwMode="auto">
          <a:xfrm>
            <a:off x="107950" y="4149725"/>
            <a:ext cx="903605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a:latin typeface="Times New Roman" pitchFamily="18" charset="0"/>
                <a:cs typeface="Times New Roman" pitchFamily="18" charset="0"/>
              </a:rPr>
              <a:t>m/z 84-69=15</a:t>
            </a:r>
          </a:p>
          <a:p>
            <a:pPr eaLnBrk="1" hangingPunct="1">
              <a:lnSpc>
                <a:spcPct val="100000"/>
              </a:lnSpc>
              <a:spcBef>
                <a:spcPct val="50000"/>
              </a:spcBef>
            </a:pPr>
            <a:r>
              <a:rPr lang="en-US" altLang="zh-CN">
                <a:latin typeface="Times New Roman" pitchFamily="18" charset="0"/>
                <a:cs typeface="Times New Roman" pitchFamily="18" charset="0"/>
              </a:rPr>
              <a:t>       84-46=28 </a:t>
            </a:r>
            <a:r>
              <a:rPr lang="zh-CN" altLang="en-US">
                <a:latin typeface="Times New Roman" pitchFamily="18" charset="0"/>
                <a:cs typeface="Times New Roman" pitchFamily="18" charset="0"/>
              </a:rPr>
              <a:t>符合分子离子峰的判断标准</a:t>
            </a:r>
            <a:endParaRPr lang="en-US" altLang="zh-CN">
              <a:latin typeface="Times New Roman" pitchFamily="18" charset="0"/>
              <a:cs typeface="Times New Roman" pitchFamily="18" charset="0"/>
            </a:endParaRPr>
          </a:p>
          <a:p>
            <a:pPr eaLnBrk="1" hangingPunct="1">
              <a:lnSpc>
                <a:spcPct val="100000"/>
              </a:lnSpc>
              <a:spcBef>
                <a:spcPct val="50000"/>
              </a:spcBef>
              <a:buFont typeface="Arial" pitchFamily="34" charset="0"/>
              <a:buNone/>
            </a:pPr>
            <a:r>
              <a:rPr lang="zh-CN" altLang="en-US">
                <a:latin typeface="Times New Roman" pitchFamily="18" charset="0"/>
                <a:cs typeface="Times New Roman" pitchFamily="18" charset="0"/>
              </a:rPr>
              <a:t>但该图是己醇的质谱，</a:t>
            </a:r>
            <a:r>
              <a:rPr lang="en-US" altLang="zh-CN">
                <a:latin typeface="Times New Roman" pitchFamily="18" charset="0"/>
                <a:cs typeface="Times New Roman" pitchFamily="18" charset="0"/>
              </a:rPr>
              <a:t>84</a:t>
            </a:r>
            <a:r>
              <a:rPr lang="zh-CN" altLang="en-US">
                <a:latin typeface="Times New Roman" pitchFamily="18" charset="0"/>
                <a:cs typeface="Times New Roman" pitchFamily="18" charset="0"/>
              </a:rPr>
              <a:t>不是分子离子峰</a:t>
            </a:r>
          </a:p>
          <a:p>
            <a:pPr eaLnBrk="1" hangingPunct="1">
              <a:lnSpc>
                <a:spcPct val="100000"/>
              </a:lnSpc>
              <a:spcBef>
                <a:spcPct val="50000"/>
              </a:spcBef>
            </a:pPr>
            <a:r>
              <a:rPr lang="en-US" altLang="zh-CN">
                <a:latin typeface="Times New Roman" pitchFamily="18" charset="0"/>
                <a:cs typeface="Times New Roman" pitchFamily="18" charset="0"/>
              </a:rPr>
              <a:t>84=M-18 </a:t>
            </a:r>
            <a:r>
              <a:rPr lang="zh-CN" altLang="en-US">
                <a:latin typeface="Times New Roman" pitchFamily="18" charset="0"/>
                <a:cs typeface="Times New Roman" pitchFamily="18" charset="0"/>
              </a:rPr>
              <a:t>（脱去一分子水）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17563" y="304800"/>
            <a:ext cx="7758112" cy="1216025"/>
          </a:xfrm>
        </p:spPr>
        <p:txBody>
          <a:bodyPr/>
          <a:lstStyle/>
          <a:p>
            <a:pPr eaLnBrk="1" hangingPunct="1"/>
            <a:r>
              <a:rPr lang="zh-CN" altLang="en-US" sz="4000" b="1" smtClean="0">
                <a:solidFill>
                  <a:srgbClr val="2C2CB0"/>
                </a:solidFill>
              </a:rPr>
              <a:t>丰度与化合物类型匹配</a:t>
            </a:r>
          </a:p>
        </p:txBody>
      </p:sp>
      <p:sp>
        <p:nvSpPr>
          <p:cNvPr id="45059" name="Rectangle 3"/>
          <p:cNvSpPr>
            <a:spLocks noGrp="1" noChangeArrowheads="1"/>
          </p:cNvSpPr>
          <p:nvPr>
            <p:ph idx="1"/>
          </p:nvPr>
        </p:nvSpPr>
        <p:spPr>
          <a:xfrm>
            <a:off x="611188" y="1916113"/>
            <a:ext cx="7593012" cy="4114800"/>
          </a:xfrm>
        </p:spPr>
        <p:txBody>
          <a:bodyPr/>
          <a:lstStyle/>
          <a:p>
            <a:pPr eaLnBrk="1" hangingPunct="1">
              <a:lnSpc>
                <a:spcPct val="120000"/>
              </a:lnSpc>
              <a:buClr>
                <a:srgbClr val="FF00FF"/>
              </a:buClr>
              <a:buFont typeface="Wingdings" pitchFamily="2" charset="2"/>
              <a:buChar char="v"/>
            </a:pPr>
            <a:r>
              <a:rPr lang="en-US" altLang="zh-CN" b="1" smtClean="0">
                <a:ea typeface="楷体_GB2312" pitchFamily="49" charset="-122"/>
              </a:rPr>
              <a:t> </a:t>
            </a:r>
            <a:r>
              <a:rPr lang="zh-CN" altLang="en-US" b="1" smtClean="0">
                <a:ea typeface="楷体_GB2312" pitchFamily="49" charset="-122"/>
              </a:rPr>
              <a:t>分子离子的丰度主要取决于它的稳定性。</a:t>
            </a:r>
          </a:p>
          <a:p>
            <a:pPr eaLnBrk="1" hangingPunct="1">
              <a:lnSpc>
                <a:spcPct val="120000"/>
              </a:lnSpc>
              <a:buClr>
                <a:srgbClr val="FF00FF"/>
              </a:buClr>
              <a:buFont typeface="Wingdings" pitchFamily="2" charset="2"/>
              <a:buChar char="v"/>
            </a:pPr>
            <a:r>
              <a:rPr lang="zh-CN" altLang="en-US" b="1" smtClean="0">
                <a:ea typeface="楷体_GB2312" pitchFamily="49" charset="-122"/>
              </a:rPr>
              <a:t>各类有机物分子离子稳定性顺序如下：</a:t>
            </a:r>
          </a:p>
          <a:p>
            <a:pPr eaLnBrk="1" hangingPunct="1">
              <a:lnSpc>
                <a:spcPct val="110000"/>
              </a:lnSpc>
              <a:buClr>
                <a:srgbClr val="FF00FF"/>
              </a:buClr>
              <a:buFont typeface="Wingdings" pitchFamily="2" charset="2"/>
              <a:buNone/>
            </a:pPr>
            <a:r>
              <a:rPr lang="zh-CN" altLang="en-US" b="1" smtClean="0">
                <a:ea typeface="楷体_GB2312" pitchFamily="49" charset="-122"/>
              </a:rPr>
              <a:t>  芳香族化合物、共轭烯烃、脂环化合物、硫醚、直链烃、硫醇、酮、胺、酯、醚、羧酸、支链烃和醇。 </a:t>
            </a:r>
          </a:p>
          <a:p>
            <a:pPr eaLnBrk="1" hangingPunct="1"/>
            <a:endParaRPr lang="en-US" altLang="zh-CN" smtClean="0"/>
          </a:p>
        </p:txBody>
      </p:sp>
      <p:sp>
        <p:nvSpPr>
          <p:cNvPr id="45060"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94BD9013-CE79-4FC6-B1D6-9F3E18B11457}" type="datetime10">
              <a:rPr lang="zh-CN" altLang="en-US" sz="1200" smtClean="0">
                <a:latin typeface="Verdana" pitchFamily="34" charset="0"/>
                <a:ea typeface="宋体" pitchFamily="2" charset="-122"/>
              </a:rPr>
              <a:pPr eaLnBrk="1" hangingPunct="1"/>
              <a:t>20:02</a:t>
            </a:fld>
            <a:endParaRPr lang="en-US" altLang="zh-CN" sz="1200" smtClean="0">
              <a:latin typeface="Verdana" pitchFamily="34" charset="0"/>
              <a:ea typeface="宋体" pitchFamily="2" charset="-122"/>
            </a:endParaRPr>
          </a:p>
        </p:txBody>
      </p:sp>
      <p:sp>
        <p:nvSpPr>
          <p:cNvPr id="4506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467BBC93-D491-40D2-AAE4-3708A63372DC}" type="slidenum">
              <a:rPr lang="en-US" altLang="zh-CN" sz="1200" smtClean="0">
                <a:latin typeface="Verdana" pitchFamily="34" charset="0"/>
                <a:ea typeface="宋体" pitchFamily="2" charset="-122"/>
              </a:rPr>
              <a:pPr eaLnBrk="1" hangingPunct="1"/>
              <a:t>38</a:t>
            </a:fld>
            <a:endParaRPr lang="en-US" altLang="zh-CN" sz="1200" smtClean="0">
              <a:latin typeface="Verdana" pitchFamily="34" charset="0"/>
              <a:ea typeface="宋体" pitchFamily="2" charset="-122"/>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2"/>
          <p:cNvSpPr>
            <a:spLocks noGrp="1" noChangeArrowheads="1"/>
          </p:cNvSpPr>
          <p:nvPr>
            <p:ph type="title"/>
          </p:nvPr>
        </p:nvSpPr>
        <p:spPr>
          <a:xfrm>
            <a:off x="836613" y="385763"/>
            <a:ext cx="7767637" cy="812800"/>
          </a:xfrm>
        </p:spPr>
        <p:txBody>
          <a:bodyPr/>
          <a:lstStyle/>
          <a:p>
            <a:pPr eaLnBrk="1" hangingPunct="1"/>
            <a:r>
              <a:rPr lang="zh-CN" altLang="en-US" sz="3000" b="1" smtClean="0"/>
              <a:t>一些典型化合物分子离子峰的相对强度</a:t>
            </a:r>
            <a:br>
              <a:rPr lang="zh-CN" altLang="en-US" sz="3000" b="1" smtClean="0"/>
            </a:br>
            <a:r>
              <a:rPr lang="zh-CN" altLang="en-US" sz="3000" b="1" smtClean="0"/>
              <a:t>（</a:t>
            </a:r>
            <a:r>
              <a:rPr lang="en-US" altLang="zh-CN" sz="3000" b="1" smtClean="0">
                <a:latin typeface="Times New Roman" pitchFamily="18" charset="0"/>
              </a:rPr>
              <a:t>M=130</a:t>
            </a:r>
            <a:r>
              <a:rPr lang="zh-CN" altLang="en-US" sz="3000" b="1" smtClean="0"/>
              <a:t>左右）</a:t>
            </a:r>
            <a:endParaRPr lang="zh-CN" altLang="en-US" sz="3000" smtClean="0"/>
          </a:p>
        </p:txBody>
      </p:sp>
      <p:sp>
        <p:nvSpPr>
          <p:cNvPr id="46083"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2EE89896-6E08-4A28-AD15-931DD8A1A8E8}" type="datetime10">
              <a:rPr lang="zh-CN" altLang="en-US" sz="1200" smtClean="0">
                <a:latin typeface="Verdana" pitchFamily="34" charset="0"/>
                <a:ea typeface="宋体" pitchFamily="2" charset="-122"/>
              </a:rPr>
              <a:pPr eaLnBrk="1" hangingPunct="1"/>
              <a:t>20:02</a:t>
            </a:fld>
            <a:endParaRPr lang="en-US" altLang="zh-CN" sz="1200" smtClean="0">
              <a:latin typeface="Verdana" pitchFamily="34" charset="0"/>
              <a:ea typeface="宋体" pitchFamily="2" charset="-122"/>
            </a:endParaRPr>
          </a:p>
        </p:txBody>
      </p:sp>
      <p:sp>
        <p:nvSpPr>
          <p:cNvPr id="46084"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E506E812-C3C1-4541-88A7-52213C6A60CD}" type="slidenum">
              <a:rPr lang="en-US" altLang="zh-CN" sz="1200" smtClean="0">
                <a:latin typeface="Verdana" pitchFamily="34" charset="0"/>
                <a:ea typeface="宋体" pitchFamily="2" charset="-122"/>
              </a:rPr>
              <a:pPr eaLnBrk="1" hangingPunct="1"/>
              <a:t>39</a:t>
            </a:fld>
            <a:endParaRPr lang="en-US" altLang="zh-CN" sz="1200" smtClean="0">
              <a:latin typeface="Verdana" pitchFamily="34" charset="0"/>
              <a:ea typeface="宋体" pitchFamily="2" charset="-122"/>
            </a:endParaRPr>
          </a:p>
        </p:txBody>
      </p:sp>
      <p:sp>
        <p:nvSpPr>
          <p:cNvPr id="46085" name="Rectangle 2"/>
          <p:cNvSpPr>
            <a:spLocks noChangeArrowheads="1"/>
          </p:cNvSpPr>
          <p:nvPr/>
        </p:nvSpPr>
        <p:spPr bwMode="auto">
          <a:xfrm>
            <a:off x="2438400" y="762000"/>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p>
            <a:pPr algn="ctr"/>
            <a:r>
              <a:rPr lang="en-US" altLang="zh-CN" sz="2400">
                <a:solidFill>
                  <a:schemeClr val="accent2"/>
                </a:solidFill>
                <a:latin typeface="Times New Roman" pitchFamily="18" charset="0"/>
              </a:rPr>
              <a:t>  </a:t>
            </a:r>
          </a:p>
        </p:txBody>
      </p:sp>
      <p:grpSp>
        <p:nvGrpSpPr>
          <p:cNvPr id="46086" name="Group 3"/>
          <p:cNvGrpSpPr>
            <a:grpSpLocks/>
          </p:cNvGrpSpPr>
          <p:nvPr/>
        </p:nvGrpSpPr>
        <p:grpSpPr bwMode="auto">
          <a:xfrm>
            <a:off x="466725" y="1220788"/>
            <a:ext cx="8047038" cy="4953000"/>
            <a:chOff x="-3" y="381"/>
            <a:chExt cx="3430" cy="3078"/>
          </a:xfrm>
        </p:grpSpPr>
        <p:grpSp>
          <p:nvGrpSpPr>
            <p:cNvPr id="46087" name="Group 4"/>
            <p:cNvGrpSpPr>
              <a:grpSpLocks/>
            </p:cNvGrpSpPr>
            <p:nvPr/>
          </p:nvGrpSpPr>
          <p:grpSpPr bwMode="auto">
            <a:xfrm>
              <a:off x="0" y="384"/>
              <a:ext cx="3424" cy="3072"/>
              <a:chOff x="0" y="384"/>
              <a:chExt cx="3424" cy="3072"/>
            </a:xfrm>
          </p:grpSpPr>
          <p:grpSp>
            <p:nvGrpSpPr>
              <p:cNvPr id="46089" name="Group 5"/>
              <p:cNvGrpSpPr>
                <a:grpSpLocks/>
              </p:cNvGrpSpPr>
              <p:nvPr/>
            </p:nvGrpSpPr>
            <p:grpSpPr bwMode="auto">
              <a:xfrm>
                <a:off x="0" y="384"/>
                <a:ext cx="832" cy="384"/>
                <a:chOff x="0" y="384"/>
                <a:chExt cx="832" cy="384"/>
              </a:xfrm>
            </p:grpSpPr>
            <p:sp>
              <p:nvSpPr>
                <p:cNvPr id="46183" name="Rectangle 6"/>
                <p:cNvSpPr>
                  <a:spLocks noChangeArrowheads="1"/>
                </p:cNvSpPr>
                <p:nvPr/>
              </p:nvSpPr>
              <p:spPr bwMode="auto">
                <a:xfrm>
                  <a:off x="43" y="384"/>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化合物名称</a:t>
                  </a:r>
                </a:p>
                <a:p>
                  <a:pPr algn="ctr" eaLnBrk="0" hangingPunct="0"/>
                  <a:endParaRPr lang="en-US" altLang="zh-CN" sz="2000">
                    <a:latin typeface="Times New Roman" pitchFamily="18" charset="0"/>
                  </a:endParaRPr>
                </a:p>
              </p:txBody>
            </p:sp>
            <p:sp>
              <p:nvSpPr>
                <p:cNvPr id="46184" name="Rectangle 7"/>
                <p:cNvSpPr>
                  <a:spLocks noChangeArrowheads="1"/>
                </p:cNvSpPr>
                <p:nvPr/>
              </p:nvSpPr>
              <p:spPr bwMode="auto">
                <a:xfrm>
                  <a:off x="0" y="384"/>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0" name="Group 8"/>
              <p:cNvGrpSpPr>
                <a:grpSpLocks/>
              </p:cNvGrpSpPr>
              <p:nvPr/>
            </p:nvGrpSpPr>
            <p:grpSpPr bwMode="auto">
              <a:xfrm>
                <a:off x="832" y="384"/>
                <a:ext cx="859" cy="384"/>
                <a:chOff x="832" y="384"/>
                <a:chExt cx="859" cy="384"/>
              </a:xfrm>
            </p:grpSpPr>
            <p:sp>
              <p:nvSpPr>
                <p:cNvPr id="46181" name="Rectangle 9"/>
                <p:cNvSpPr>
                  <a:spLocks noChangeArrowheads="1"/>
                </p:cNvSpPr>
                <p:nvPr/>
              </p:nvSpPr>
              <p:spPr bwMode="auto">
                <a:xfrm>
                  <a:off x="875" y="384"/>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M</a:t>
                  </a:r>
                  <a:r>
                    <a:rPr lang="en-US" altLang="zh-CN" sz="2000" baseline="30000">
                      <a:latin typeface="Times New Roman" pitchFamily="18" charset="0"/>
                    </a:rPr>
                    <a:t>+·</a:t>
                  </a:r>
                  <a:r>
                    <a:rPr lang="zh-CN" altLang="en-US" sz="2000">
                      <a:latin typeface="Times New Roman" pitchFamily="18" charset="0"/>
                    </a:rPr>
                    <a:t>相对强度 </a:t>
                  </a:r>
                  <a:r>
                    <a:rPr lang="en-US" altLang="zh-CN" sz="2000">
                      <a:latin typeface="Times New Roman" pitchFamily="18" charset="0"/>
                    </a:rPr>
                    <a:t>/%</a:t>
                  </a:r>
                </a:p>
                <a:p>
                  <a:pPr algn="ctr" eaLnBrk="0" hangingPunct="0"/>
                  <a:endParaRPr lang="en-US" altLang="zh-CN" sz="2000">
                    <a:latin typeface="Times New Roman" pitchFamily="18" charset="0"/>
                  </a:endParaRPr>
                </a:p>
              </p:txBody>
            </p:sp>
            <p:sp>
              <p:nvSpPr>
                <p:cNvPr id="46182" name="Rectangle 10"/>
                <p:cNvSpPr>
                  <a:spLocks noChangeArrowheads="1"/>
                </p:cNvSpPr>
                <p:nvPr/>
              </p:nvSpPr>
              <p:spPr bwMode="auto">
                <a:xfrm>
                  <a:off x="832" y="384"/>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1" name="Group 11"/>
              <p:cNvGrpSpPr>
                <a:grpSpLocks/>
              </p:cNvGrpSpPr>
              <p:nvPr/>
            </p:nvGrpSpPr>
            <p:grpSpPr bwMode="auto">
              <a:xfrm>
                <a:off x="1691" y="384"/>
                <a:ext cx="874" cy="384"/>
                <a:chOff x="1691" y="384"/>
                <a:chExt cx="874" cy="384"/>
              </a:xfrm>
            </p:grpSpPr>
            <p:sp>
              <p:nvSpPr>
                <p:cNvPr id="46179" name="Rectangle 12"/>
                <p:cNvSpPr>
                  <a:spLocks noChangeArrowheads="1"/>
                </p:cNvSpPr>
                <p:nvPr/>
              </p:nvSpPr>
              <p:spPr bwMode="auto">
                <a:xfrm>
                  <a:off x="1734" y="384"/>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化合物名称</a:t>
                  </a:r>
                </a:p>
                <a:p>
                  <a:pPr algn="ctr" eaLnBrk="0" hangingPunct="0"/>
                  <a:endParaRPr lang="en-US" altLang="zh-CN" sz="2000">
                    <a:latin typeface="Times New Roman" pitchFamily="18" charset="0"/>
                  </a:endParaRPr>
                </a:p>
              </p:txBody>
            </p:sp>
            <p:sp>
              <p:nvSpPr>
                <p:cNvPr id="46180" name="Rectangle 13"/>
                <p:cNvSpPr>
                  <a:spLocks noChangeArrowheads="1"/>
                </p:cNvSpPr>
                <p:nvPr/>
              </p:nvSpPr>
              <p:spPr bwMode="auto">
                <a:xfrm>
                  <a:off x="1691" y="384"/>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2" name="Group 14"/>
              <p:cNvGrpSpPr>
                <a:grpSpLocks/>
              </p:cNvGrpSpPr>
              <p:nvPr/>
            </p:nvGrpSpPr>
            <p:grpSpPr bwMode="auto">
              <a:xfrm>
                <a:off x="2565" y="384"/>
                <a:ext cx="859" cy="384"/>
                <a:chOff x="2565" y="384"/>
                <a:chExt cx="859" cy="384"/>
              </a:xfrm>
            </p:grpSpPr>
            <p:sp>
              <p:nvSpPr>
                <p:cNvPr id="46177" name="Rectangle 15"/>
                <p:cNvSpPr>
                  <a:spLocks noChangeArrowheads="1"/>
                </p:cNvSpPr>
                <p:nvPr/>
              </p:nvSpPr>
              <p:spPr bwMode="auto">
                <a:xfrm>
                  <a:off x="2608" y="384"/>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M</a:t>
                  </a:r>
                  <a:r>
                    <a:rPr lang="en-US" altLang="zh-CN" sz="2000" baseline="30000">
                      <a:latin typeface="Times New Roman" pitchFamily="18" charset="0"/>
                    </a:rPr>
                    <a:t>+·</a:t>
                  </a:r>
                  <a:r>
                    <a:rPr lang="zh-CN" altLang="en-US" sz="2000">
                      <a:latin typeface="Times New Roman" pitchFamily="18" charset="0"/>
                    </a:rPr>
                    <a:t>相对强度 </a:t>
                  </a:r>
                  <a:r>
                    <a:rPr lang="en-US" altLang="zh-CN" sz="2000">
                      <a:latin typeface="Times New Roman" pitchFamily="18" charset="0"/>
                    </a:rPr>
                    <a:t>/%</a:t>
                  </a:r>
                </a:p>
                <a:p>
                  <a:pPr algn="ctr" eaLnBrk="0" hangingPunct="0"/>
                  <a:endParaRPr lang="en-US" altLang="zh-CN" sz="2000">
                    <a:latin typeface="Times New Roman" pitchFamily="18" charset="0"/>
                  </a:endParaRPr>
                </a:p>
              </p:txBody>
            </p:sp>
            <p:sp>
              <p:nvSpPr>
                <p:cNvPr id="46178" name="Rectangle 16"/>
                <p:cNvSpPr>
                  <a:spLocks noChangeArrowheads="1"/>
                </p:cNvSpPr>
                <p:nvPr/>
              </p:nvSpPr>
              <p:spPr bwMode="auto">
                <a:xfrm>
                  <a:off x="2565" y="384"/>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3" name="Group 17"/>
              <p:cNvGrpSpPr>
                <a:grpSpLocks/>
              </p:cNvGrpSpPr>
              <p:nvPr/>
            </p:nvGrpSpPr>
            <p:grpSpPr bwMode="auto">
              <a:xfrm>
                <a:off x="0" y="768"/>
                <a:ext cx="832" cy="384"/>
                <a:chOff x="0" y="768"/>
                <a:chExt cx="832" cy="384"/>
              </a:xfrm>
            </p:grpSpPr>
            <p:sp>
              <p:nvSpPr>
                <p:cNvPr id="46175" name="Rectangle 18"/>
                <p:cNvSpPr>
                  <a:spLocks noChangeArrowheads="1"/>
                </p:cNvSpPr>
                <p:nvPr/>
              </p:nvSpPr>
              <p:spPr bwMode="auto">
                <a:xfrm>
                  <a:off x="43" y="768"/>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萘、喹啉</a:t>
                  </a:r>
                </a:p>
                <a:p>
                  <a:pPr algn="ctr" eaLnBrk="0" hangingPunct="0"/>
                  <a:endParaRPr lang="en-US" altLang="zh-CN" sz="2000">
                    <a:latin typeface="Times New Roman" pitchFamily="18" charset="0"/>
                  </a:endParaRPr>
                </a:p>
              </p:txBody>
            </p:sp>
            <p:sp>
              <p:nvSpPr>
                <p:cNvPr id="46176" name="Rectangle 19"/>
                <p:cNvSpPr>
                  <a:spLocks noChangeArrowheads="1"/>
                </p:cNvSpPr>
                <p:nvPr/>
              </p:nvSpPr>
              <p:spPr bwMode="auto">
                <a:xfrm>
                  <a:off x="0" y="768"/>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4" name="Group 20"/>
              <p:cNvGrpSpPr>
                <a:grpSpLocks/>
              </p:cNvGrpSpPr>
              <p:nvPr/>
            </p:nvGrpSpPr>
            <p:grpSpPr bwMode="auto">
              <a:xfrm>
                <a:off x="832" y="768"/>
                <a:ext cx="859" cy="384"/>
                <a:chOff x="832" y="768"/>
                <a:chExt cx="859" cy="384"/>
              </a:xfrm>
            </p:grpSpPr>
            <p:sp>
              <p:nvSpPr>
                <p:cNvPr id="46173" name="Rectangle 21"/>
                <p:cNvSpPr>
                  <a:spLocks noChangeArrowheads="1"/>
                </p:cNvSpPr>
                <p:nvPr/>
              </p:nvSpPr>
              <p:spPr bwMode="auto">
                <a:xfrm>
                  <a:off x="875" y="768"/>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100</a:t>
                  </a:r>
                </a:p>
                <a:p>
                  <a:pPr algn="ctr" eaLnBrk="0" hangingPunct="0"/>
                  <a:endParaRPr lang="en-US" altLang="zh-CN" sz="2000">
                    <a:latin typeface="Times New Roman" pitchFamily="18" charset="0"/>
                  </a:endParaRPr>
                </a:p>
              </p:txBody>
            </p:sp>
            <p:sp>
              <p:nvSpPr>
                <p:cNvPr id="46174" name="Rectangle 22"/>
                <p:cNvSpPr>
                  <a:spLocks noChangeArrowheads="1"/>
                </p:cNvSpPr>
                <p:nvPr/>
              </p:nvSpPr>
              <p:spPr bwMode="auto">
                <a:xfrm>
                  <a:off x="832" y="768"/>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5" name="Group 23"/>
              <p:cNvGrpSpPr>
                <a:grpSpLocks/>
              </p:cNvGrpSpPr>
              <p:nvPr/>
            </p:nvGrpSpPr>
            <p:grpSpPr bwMode="auto">
              <a:xfrm>
                <a:off x="1691" y="768"/>
                <a:ext cx="874" cy="384"/>
                <a:chOff x="1691" y="768"/>
                <a:chExt cx="874" cy="384"/>
              </a:xfrm>
            </p:grpSpPr>
            <p:sp>
              <p:nvSpPr>
                <p:cNvPr id="46171" name="Rectangle 24"/>
                <p:cNvSpPr>
                  <a:spLocks noChangeArrowheads="1"/>
                </p:cNvSpPr>
                <p:nvPr/>
              </p:nvSpPr>
              <p:spPr bwMode="auto">
                <a:xfrm>
                  <a:off x="1734" y="768"/>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正</a:t>
                  </a:r>
                  <a:r>
                    <a:rPr lang="en-US" altLang="zh-CN" sz="2000">
                      <a:latin typeface="Times New Roman" pitchFamily="18" charset="0"/>
                    </a:rPr>
                    <a:t>-</a:t>
                  </a:r>
                  <a:r>
                    <a:rPr lang="zh-CN" altLang="en-US" sz="2000">
                      <a:latin typeface="Times New Roman" pitchFamily="18" charset="0"/>
                    </a:rPr>
                    <a:t>壬 烷</a:t>
                  </a:r>
                </a:p>
                <a:p>
                  <a:pPr algn="ctr" eaLnBrk="0" hangingPunct="0"/>
                  <a:endParaRPr lang="en-US" altLang="zh-CN" sz="2000">
                    <a:latin typeface="Times New Roman" pitchFamily="18" charset="0"/>
                  </a:endParaRPr>
                </a:p>
              </p:txBody>
            </p:sp>
            <p:sp>
              <p:nvSpPr>
                <p:cNvPr id="46172" name="Rectangle 25"/>
                <p:cNvSpPr>
                  <a:spLocks noChangeArrowheads="1"/>
                </p:cNvSpPr>
                <p:nvPr/>
              </p:nvSpPr>
              <p:spPr bwMode="auto">
                <a:xfrm>
                  <a:off x="1691" y="768"/>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6" name="Group 26"/>
              <p:cNvGrpSpPr>
                <a:grpSpLocks/>
              </p:cNvGrpSpPr>
              <p:nvPr/>
            </p:nvGrpSpPr>
            <p:grpSpPr bwMode="auto">
              <a:xfrm>
                <a:off x="2565" y="768"/>
                <a:ext cx="859" cy="384"/>
                <a:chOff x="2565" y="768"/>
                <a:chExt cx="859" cy="384"/>
              </a:xfrm>
            </p:grpSpPr>
            <p:sp>
              <p:nvSpPr>
                <p:cNvPr id="46169" name="Rectangle 27"/>
                <p:cNvSpPr>
                  <a:spLocks noChangeArrowheads="1"/>
                </p:cNvSpPr>
                <p:nvPr/>
              </p:nvSpPr>
              <p:spPr bwMode="auto">
                <a:xfrm>
                  <a:off x="2608" y="768"/>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6</a:t>
                  </a:r>
                </a:p>
                <a:p>
                  <a:pPr algn="ctr" eaLnBrk="0" hangingPunct="0"/>
                  <a:endParaRPr lang="en-US" altLang="zh-CN" sz="2000">
                    <a:latin typeface="Times New Roman" pitchFamily="18" charset="0"/>
                  </a:endParaRPr>
                </a:p>
              </p:txBody>
            </p:sp>
            <p:sp>
              <p:nvSpPr>
                <p:cNvPr id="46170" name="Rectangle 28"/>
                <p:cNvSpPr>
                  <a:spLocks noChangeArrowheads="1"/>
                </p:cNvSpPr>
                <p:nvPr/>
              </p:nvSpPr>
              <p:spPr bwMode="auto">
                <a:xfrm>
                  <a:off x="2565" y="768"/>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7" name="Group 29"/>
              <p:cNvGrpSpPr>
                <a:grpSpLocks/>
              </p:cNvGrpSpPr>
              <p:nvPr/>
            </p:nvGrpSpPr>
            <p:grpSpPr bwMode="auto">
              <a:xfrm>
                <a:off x="0" y="1152"/>
                <a:ext cx="832" cy="384"/>
                <a:chOff x="0" y="1152"/>
                <a:chExt cx="832" cy="384"/>
              </a:xfrm>
            </p:grpSpPr>
            <p:sp>
              <p:nvSpPr>
                <p:cNvPr id="46167" name="Rectangle 30"/>
                <p:cNvSpPr>
                  <a:spLocks noChangeArrowheads="1"/>
                </p:cNvSpPr>
                <p:nvPr/>
              </p:nvSpPr>
              <p:spPr bwMode="auto">
                <a:xfrm>
                  <a:off x="43" y="1152"/>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四 氢 萘</a:t>
                  </a:r>
                </a:p>
                <a:p>
                  <a:pPr algn="ctr" eaLnBrk="0" hangingPunct="0"/>
                  <a:endParaRPr lang="en-US" altLang="zh-CN" sz="2000">
                    <a:latin typeface="Times New Roman" pitchFamily="18" charset="0"/>
                  </a:endParaRPr>
                </a:p>
              </p:txBody>
            </p:sp>
            <p:sp>
              <p:nvSpPr>
                <p:cNvPr id="46168" name="Rectangle 31"/>
                <p:cNvSpPr>
                  <a:spLocks noChangeArrowheads="1"/>
                </p:cNvSpPr>
                <p:nvPr/>
              </p:nvSpPr>
              <p:spPr bwMode="auto">
                <a:xfrm>
                  <a:off x="0" y="1152"/>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8" name="Group 32"/>
              <p:cNvGrpSpPr>
                <a:grpSpLocks/>
              </p:cNvGrpSpPr>
              <p:nvPr/>
            </p:nvGrpSpPr>
            <p:grpSpPr bwMode="auto">
              <a:xfrm>
                <a:off x="832" y="1152"/>
                <a:ext cx="859" cy="384"/>
                <a:chOff x="832" y="1152"/>
                <a:chExt cx="859" cy="384"/>
              </a:xfrm>
            </p:grpSpPr>
            <p:sp>
              <p:nvSpPr>
                <p:cNvPr id="46165" name="Rectangle 33"/>
                <p:cNvSpPr>
                  <a:spLocks noChangeArrowheads="1"/>
                </p:cNvSpPr>
                <p:nvPr/>
              </p:nvSpPr>
              <p:spPr bwMode="auto">
                <a:xfrm>
                  <a:off x="875" y="1152"/>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90</a:t>
                  </a:r>
                </a:p>
                <a:p>
                  <a:pPr algn="ctr" eaLnBrk="0" hangingPunct="0"/>
                  <a:endParaRPr lang="en-US" altLang="zh-CN" sz="2000">
                    <a:latin typeface="Times New Roman" pitchFamily="18" charset="0"/>
                  </a:endParaRPr>
                </a:p>
              </p:txBody>
            </p:sp>
            <p:sp>
              <p:nvSpPr>
                <p:cNvPr id="46166" name="Rectangle 34"/>
                <p:cNvSpPr>
                  <a:spLocks noChangeArrowheads="1"/>
                </p:cNvSpPr>
                <p:nvPr/>
              </p:nvSpPr>
              <p:spPr bwMode="auto">
                <a:xfrm>
                  <a:off x="832" y="1152"/>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099" name="Group 35"/>
              <p:cNvGrpSpPr>
                <a:grpSpLocks/>
              </p:cNvGrpSpPr>
              <p:nvPr/>
            </p:nvGrpSpPr>
            <p:grpSpPr bwMode="auto">
              <a:xfrm>
                <a:off x="1691" y="1152"/>
                <a:ext cx="874" cy="384"/>
                <a:chOff x="1691" y="1152"/>
                <a:chExt cx="874" cy="384"/>
              </a:xfrm>
            </p:grpSpPr>
            <p:sp>
              <p:nvSpPr>
                <p:cNvPr id="46163" name="Rectangle 36"/>
                <p:cNvSpPr>
                  <a:spLocks noChangeArrowheads="1"/>
                </p:cNvSpPr>
                <p:nvPr/>
              </p:nvSpPr>
              <p:spPr bwMode="auto">
                <a:xfrm>
                  <a:off x="1734" y="1152"/>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3-</a:t>
                  </a:r>
                  <a:r>
                    <a:rPr lang="zh-CN" altLang="en-US" sz="2000">
                      <a:latin typeface="Times New Roman" pitchFamily="18" charset="0"/>
                    </a:rPr>
                    <a:t>乙基</a:t>
                  </a:r>
                  <a:r>
                    <a:rPr lang="en-US" altLang="zh-CN" sz="2000">
                      <a:latin typeface="Times New Roman" pitchFamily="18" charset="0"/>
                    </a:rPr>
                    <a:t>-</a:t>
                  </a:r>
                  <a:r>
                    <a:rPr lang="zh-CN" altLang="en-US" sz="2000">
                      <a:latin typeface="Times New Roman" pitchFamily="18" charset="0"/>
                    </a:rPr>
                    <a:t>庚烷</a:t>
                  </a:r>
                </a:p>
              </p:txBody>
            </p:sp>
            <p:sp>
              <p:nvSpPr>
                <p:cNvPr id="46164" name="Rectangle 37"/>
                <p:cNvSpPr>
                  <a:spLocks noChangeArrowheads="1"/>
                </p:cNvSpPr>
                <p:nvPr/>
              </p:nvSpPr>
              <p:spPr bwMode="auto">
                <a:xfrm>
                  <a:off x="1691" y="1152"/>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0" name="Group 38"/>
              <p:cNvGrpSpPr>
                <a:grpSpLocks/>
              </p:cNvGrpSpPr>
              <p:nvPr/>
            </p:nvGrpSpPr>
            <p:grpSpPr bwMode="auto">
              <a:xfrm>
                <a:off x="2565" y="1152"/>
                <a:ext cx="859" cy="384"/>
                <a:chOff x="2565" y="1152"/>
                <a:chExt cx="859" cy="384"/>
              </a:xfrm>
            </p:grpSpPr>
            <p:sp>
              <p:nvSpPr>
                <p:cNvPr id="46161" name="Rectangle 39"/>
                <p:cNvSpPr>
                  <a:spLocks noChangeArrowheads="1"/>
                </p:cNvSpPr>
                <p:nvPr/>
              </p:nvSpPr>
              <p:spPr bwMode="auto">
                <a:xfrm>
                  <a:off x="2608" y="1152"/>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1</a:t>
                  </a:r>
                </a:p>
                <a:p>
                  <a:pPr algn="ctr" eaLnBrk="0" hangingPunct="0"/>
                  <a:endParaRPr lang="en-US" altLang="zh-CN" sz="2000">
                    <a:latin typeface="Times New Roman" pitchFamily="18" charset="0"/>
                  </a:endParaRPr>
                </a:p>
              </p:txBody>
            </p:sp>
            <p:sp>
              <p:nvSpPr>
                <p:cNvPr id="46162" name="Rectangle 40"/>
                <p:cNvSpPr>
                  <a:spLocks noChangeArrowheads="1"/>
                </p:cNvSpPr>
                <p:nvPr/>
              </p:nvSpPr>
              <p:spPr bwMode="auto">
                <a:xfrm>
                  <a:off x="2565" y="1152"/>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1" name="Group 41"/>
              <p:cNvGrpSpPr>
                <a:grpSpLocks/>
              </p:cNvGrpSpPr>
              <p:nvPr/>
            </p:nvGrpSpPr>
            <p:grpSpPr bwMode="auto">
              <a:xfrm>
                <a:off x="0" y="1536"/>
                <a:ext cx="832" cy="384"/>
                <a:chOff x="0" y="1536"/>
                <a:chExt cx="832" cy="384"/>
              </a:xfrm>
            </p:grpSpPr>
            <p:sp>
              <p:nvSpPr>
                <p:cNvPr id="46159" name="Rectangle 42"/>
                <p:cNvSpPr>
                  <a:spLocks noChangeArrowheads="1"/>
                </p:cNvSpPr>
                <p:nvPr/>
              </p:nvSpPr>
              <p:spPr bwMode="auto">
                <a:xfrm>
                  <a:off x="43" y="1536"/>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甲基己基硫醚</a:t>
                  </a:r>
                </a:p>
                <a:p>
                  <a:pPr algn="ctr" eaLnBrk="0" hangingPunct="0"/>
                  <a:endParaRPr lang="en-US" altLang="zh-CN">
                    <a:latin typeface="Times New Roman" pitchFamily="18" charset="0"/>
                  </a:endParaRPr>
                </a:p>
              </p:txBody>
            </p:sp>
            <p:sp>
              <p:nvSpPr>
                <p:cNvPr id="46160" name="Rectangle 43"/>
                <p:cNvSpPr>
                  <a:spLocks noChangeArrowheads="1"/>
                </p:cNvSpPr>
                <p:nvPr/>
              </p:nvSpPr>
              <p:spPr bwMode="auto">
                <a:xfrm>
                  <a:off x="0" y="1536"/>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2" name="Group 44"/>
              <p:cNvGrpSpPr>
                <a:grpSpLocks/>
              </p:cNvGrpSpPr>
              <p:nvPr/>
            </p:nvGrpSpPr>
            <p:grpSpPr bwMode="auto">
              <a:xfrm>
                <a:off x="832" y="1536"/>
                <a:ext cx="859" cy="384"/>
                <a:chOff x="832" y="1536"/>
                <a:chExt cx="859" cy="384"/>
              </a:xfrm>
            </p:grpSpPr>
            <p:sp>
              <p:nvSpPr>
                <p:cNvPr id="46157" name="Rectangle 45"/>
                <p:cNvSpPr>
                  <a:spLocks noChangeArrowheads="1"/>
                </p:cNvSpPr>
                <p:nvPr/>
              </p:nvSpPr>
              <p:spPr bwMode="auto">
                <a:xfrm>
                  <a:off x="875" y="1536"/>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45</a:t>
                  </a:r>
                </a:p>
                <a:p>
                  <a:pPr algn="ctr" eaLnBrk="0" hangingPunct="0"/>
                  <a:endParaRPr lang="en-US" altLang="zh-CN" sz="2000">
                    <a:latin typeface="Times New Roman" pitchFamily="18" charset="0"/>
                  </a:endParaRPr>
                </a:p>
              </p:txBody>
            </p:sp>
            <p:sp>
              <p:nvSpPr>
                <p:cNvPr id="46158" name="Rectangle 46"/>
                <p:cNvSpPr>
                  <a:spLocks noChangeArrowheads="1"/>
                </p:cNvSpPr>
                <p:nvPr/>
              </p:nvSpPr>
              <p:spPr bwMode="auto">
                <a:xfrm>
                  <a:off x="832" y="1536"/>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3" name="Group 47"/>
              <p:cNvGrpSpPr>
                <a:grpSpLocks/>
              </p:cNvGrpSpPr>
              <p:nvPr/>
            </p:nvGrpSpPr>
            <p:grpSpPr bwMode="auto">
              <a:xfrm>
                <a:off x="1691" y="1536"/>
                <a:ext cx="874" cy="384"/>
                <a:chOff x="1691" y="1536"/>
                <a:chExt cx="874" cy="384"/>
              </a:xfrm>
            </p:grpSpPr>
            <p:sp>
              <p:nvSpPr>
                <p:cNvPr id="46155" name="Rectangle 48"/>
                <p:cNvSpPr>
                  <a:spLocks noChangeArrowheads="1"/>
                </p:cNvSpPr>
                <p:nvPr/>
              </p:nvSpPr>
              <p:spPr bwMode="auto">
                <a:xfrm>
                  <a:off x="1734" y="1536"/>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二 丁 胺</a:t>
                  </a:r>
                </a:p>
                <a:p>
                  <a:pPr algn="ctr" eaLnBrk="0" hangingPunct="0"/>
                  <a:endParaRPr lang="en-US" altLang="zh-CN" sz="2000">
                    <a:latin typeface="Times New Roman" pitchFamily="18" charset="0"/>
                  </a:endParaRPr>
                </a:p>
              </p:txBody>
            </p:sp>
            <p:sp>
              <p:nvSpPr>
                <p:cNvPr id="46156" name="Rectangle 49"/>
                <p:cNvSpPr>
                  <a:spLocks noChangeArrowheads="1"/>
                </p:cNvSpPr>
                <p:nvPr/>
              </p:nvSpPr>
              <p:spPr bwMode="auto">
                <a:xfrm>
                  <a:off x="1691" y="1536"/>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4" name="Group 50"/>
              <p:cNvGrpSpPr>
                <a:grpSpLocks/>
              </p:cNvGrpSpPr>
              <p:nvPr/>
            </p:nvGrpSpPr>
            <p:grpSpPr bwMode="auto">
              <a:xfrm>
                <a:off x="2565" y="1536"/>
                <a:ext cx="859" cy="384"/>
                <a:chOff x="2565" y="1536"/>
                <a:chExt cx="859" cy="384"/>
              </a:xfrm>
            </p:grpSpPr>
            <p:sp>
              <p:nvSpPr>
                <p:cNvPr id="46153" name="Rectangle 51"/>
                <p:cNvSpPr>
                  <a:spLocks noChangeArrowheads="1"/>
                </p:cNvSpPr>
                <p:nvPr/>
              </p:nvSpPr>
              <p:spPr bwMode="auto">
                <a:xfrm>
                  <a:off x="2608" y="1536"/>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11</a:t>
                  </a:r>
                </a:p>
                <a:p>
                  <a:pPr algn="ctr" eaLnBrk="0" hangingPunct="0"/>
                  <a:endParaRPr lang="en-US" altLang="zh-CN" sz="2000">
                    <a:latin typeface="Times New Roman" pitchFamily="18" charset="0"/>
                  </a:endParaRPr>
                </a:p>
              </p:txBody>
            </p:sp>
            <p:sp>
              <p:nvSpPr>
                <p:cNvPr id="46154" name="Rectangle 52"/>
                <p:cNvSpPr>
                  <a:spLocks noChangeArrowheads="1"/>
                </p:cNvSpPr>
                <p:nvPr/>
              </p:nvSpPr>
              <p:spPr bwMode="auto">
                <a:xfrm>
                  <a:off x="2565" y="1536"/>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5" name="Group 53"/>
              <p:cNvGrpSpPr>
                <a:grpSpLocks/>
              </p:cNvGrpSpPr>
              <p:nvPr/>
            </p:nvGrpSpPr>
            <p:grpSpPr bwMode="auto">
              <a:xfrm>
                <a:off x="0" y="1920"/>
                <a:ext cx="832" cy="443"/>
                <a:chOff x="0" y="1920"/>
                <a:chExt cx="832" cy="443"/>
              </a:xfrm>
            </p:grpSpPr>
            <p:sp>
              <p:nvSpPr>
                <p:cNvPr id="46151" name="Rectangle 54"/>
                <p:cNvSpPr>
                  <a:spLocks noChangeArrowheads="1"/>
                </p:cNvSpPr>
                <p:nvPr/>
              </p:nvSpPr>
              <p:spPr bwMode="auto">
                <a:xfrm>
                  <a:off x="58" y="1979"/>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4</a:t>
                  </a:r>
                  <a:r>
                    <a:rPr lang="zh-CN" altLang="en-US" sz="2000">
                      <a:latin typeface="Times New Roman" pitchFamily="18" charset="0"/>
                    </a:rPr>
                    <a:t>－壬 烯</a:t>
                  </a:r>
                </a:p>
                <a:p>
                  <a:pPr algn="ctr" eaLnBrk="0" hangingPunct="0"/>
                  <a:endParaRPr lang="en-US" altLang="zh-CN" sz="2000">
                    <a:latin typeface="Times New Roman" pitchFamily="18" charset="0"/>
                  </a:endParaRPr>
                </a:p>
              </p:txBody>
            </p:sp>
            <p:sp>
              <p:nvSpPr>
                <p:cNvPr id="46152" name="Rectangle 55"/>
                <p:cNvSpPr>
                  <a:spLocks noChangeArrowheads="1"/>
                </p:cNvSpPr>
                <p:nvPr/>
              </p:nvSpPr>
              <p:spPr bwMode="auto">
                <a:xfrm>
                  <a:off x="0" y="1920"/>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6" name="Group 56"/>
              <p:cNvGrpSpPr>
                <a:grpSpLocks/>
              </p:cNvGrpSpPr>
              <p:nvPr/>
            </p:nvGrpSpPr>
            <p:grpSpPr bwMode="auto">
              <a:xfrm>
                <a:off x="832" y="1920"/>
                <a:ext cx="859" cy="384"/>
                <a:chOff x="832" y="1920"/>
                <a:chExt cx="859" cy="384"/>
              </a:xfrm>
            </p:grpSpPr>
            <p:sp>
              <p:nvSpPr>
                <p:cNvPr id="46149" name="Rectangle 57"/>
                <p:cNvSpPr>
                  <a:spLocks noChangeArrowheads="1"/>
                </p:cNvSpPr>
                <p:nvPr/>
              </p:nvSpPr>
              <p:spPr bwMode="auto">
                <a:xfrm>
                  <a:off x="875" y="1920"/>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20</a:t>
                  </a:r>
                </a:p>
                <a:p>
                  <a:pPr algn="ctr" eaLnBrk="0" hangingPunct="0"/>
                  <a:endParaRPr lang="en-US" altLang="zh-CN" sz="2000">
                    <a:latin typeface="Times New Roman" pitchFamily="18" charset="0"/>
                  </a:endParaRPr>
                </a:p>
              </p:txBody>
            </p:sp>
            <p:sp>
              <p:nvSpPr>
                <p:cNvPr id="46150" name="Rectangle 58"/>
                <p:cNvSpPr>
                  <a:spLocks noChangeArrowheads="1"/>
                </p:cNvSpPr>
                <p:nvPr/>
              </p:nvSpPr>
              <p:spPr bwMode="auto">
                <a:xfrm>
                  <a:off x="832" y="1920"/>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7" name="Group 59"/>
              <p:cNvGrpSpPr>
                <a:grpSpLocks/>
              </p:cNvGrpSpPr>
              <p:nvPr/>
            </p:nvGrpSpPr>
            <p:grpSpPr bwMode="auto">
              <a:xfrm>
                <a:off x="1691" y="1920"/>
                <a:ext cx="874" cy="384"/>
                <a:chOff x="1691" y="1920"/>
                <a:chExt cx="874" cy="384"/>
              </a:xfrm>
            </p:grpSpPr>
            <p:sp>
              <p:nvSpPr>
                <p:cNvPr id="46147" name="Rectangle 60"/>
                <p:cNvSpPr>
                  <a:spLocks noChangeArrowheads="1"/>
                </p:cNvSpPr>
                <p:nvPr/>
              </p:nvSpPr>
              <p:spPr bwMode="auto">
                <a:xfrm>
                  <a:off x="1734" y="1920"/>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辛 胺</a:t>
                  </a:r>
                </a:p>
                <a:p>
                  <a:pPr algn="ctr" eaLnBrk="0" hangingPunct="0"/>
                  <a:endParaRPr lang="en-US" altLang="zh-CN" sz="2000">
                    <a:latin typeface="Times New Roman" pitchFamily="18" charset="0"/>
                  </a:endParaRPr>
                </a:p>
              </p:txBody>
            </p:sp>
            <p:sp>
              <p:nvSpPr>
                <p:cNvPr id="46148" name="Rectangle 61"/>
                <p:cNvSpPr>
                  <a:spLocks noChangeArrowheads="1"/>
                </p:cNvSpPr>
                <p:nvPr/>
              </p:nvSpPr>
              <p:spPr bwMode="auto">
                <a:xfrm>
                  <a:off x="1691" y="1920"/>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8" name="Group 62"/>
              <p:cNvGrpSpPr>
                <a:grpSpLocks/>
              </p:cNvGrpSpPr>
              <p:nvPr/>
            </p:nvGrpSpPr>
            <p:grpSpPr bwMode="auto">
              <a:xfrm>
                <a:off x="2565" y="1920"/>
                <a:ext cx="859" cy="384"/>
                <a:chOff x="2565" y="1920"/>
                <a:chExt cx="859" cy="384"/>
              </a:xfrm>
            </p:grpSpPr>
            <p:sp>
              <p:nvSpPr>
                <p:cNvPr id="46145" name="Rectangle 63"/>
                <p:cNvSpPr>
                  <a:spLocks noChangeArrowheads="1"/>
                </p:cNvSpPr>
                <p:nvPr/>
              </p:nvSpPr>
              <p:spPr bwMode="auto">
                <a:xfrm>
                  <a:off x="2608" y="1920"/>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0.5</a:t>
                  </a:r>
                </a:p>
                <a:p>
                  <a:pPr algn="ctr" eaLnBrk="0" hangingPunct="0"/>
                  <a:endParaRPr lang="en-US" altLang="zh-CN" sz="2000">
                    <a:latin typeface="Times New Roman" pitchFamily="18" charset="0"/>
                  </a:endParaRPr>
                </a:p>
              </p:txBody>
            </p:sp>
            <p:sp>
              <p:nvSpPr>
                <p:cNvPr id="46146" name="Rectangle 64"/>
                <p:cNvSpPr>
                  <a:spLocks noChangeArrowheads="1"/>
                </p:cNvSpPr>
                <p:nvPr/>
              </p:nvSpPr>
              <p:spPr bwMode="auto">
                <a:xfrm>
                  <a:off x="2565" y="1920"/>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09" name="Group 65"/>
              <p:cNvGrpSpPr>
                <a:grpSpLocks/>
              </p:cNvGrpSpPr>
              <p:nvPr/>
            </p:nvGrpSpPr>
            <p:grpSpPr bwMode="auto">
              <a:xfrm>
                <a:off x="0" y="2304"/>
                <a:ext cx="832" cy="384"/>
                <a:chOff x="0" y="2304"/>
                <a:chExt cx="832" cy="384"/>
              </a:xfrm>
            </p:grpSpPr>
            <p:sp>
              <p:nvSpPr>
                <p:cNvPr id="46143" name="Rectangle 66"/>
                <p:cNvSpPr>
                  <a:spLocks noChangeArrowheads="1"/>
                </p:cNvSpPr>
                <p:nvPr/>
              </p:nvSpPr>
              <p:spPr bwMode="auto">
                <a:xfrm>
                  <a:off x="43" y="2304"/>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3</a:t>
                  </a:r>
                  <a:r>
                    <a:rPr lang="zh-CN" altLang="en-US" sz="2000">
                      <a:latin typeface="Times New Roman" pitchFamily="18" charset="0"/>
                    </a:rPr>
                    <a:t>－辛 酮</a:t>
                  </a:r>
                </a:p>
                <a:p>
                  <a:pPr algn="ctr" eaLnBrk="0" hangingPunct="0"/>
                  <a:endParaRPr lang="en-US" altLang="zh-CN" sz="2000">
                    <a:latin typeface="Times New Roman" pitchFamily="18" charset="0"/>
                  </a:endParaRPr>
                </a:p>
              </p:txBody>
            </p:sp>
            <p:sp>
              <p:nvSpPr>
                <p:cNvPr id="46144" name="Rectangle 67"/>
                <p:cNvSpPr>
                  <a:spLocks noChangeArrowheads="1"/>
                </p:cNvSpPr>
                <p:nvPr/>
              </p:nvSpPr>
              <p:spPr bwMode="auto">
                <a:xfrm>
                  <a:off x="0" y="2304"/>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0" name="Group 68"/>
              <p:cNvGrpSpPr>
                <a:grpSpLocks/>
              </p:cNvGrpSpPr>
              <p:nvPr/>
            </p:nvGrpSpPr>
            <p:grpSpPr bwMode="auto">
              <a:xfrm>
                <a:off x="832" y="2304"/>
                <a:ext cx="859" cy="384"/>
                <a:chOff x="832" y="2304"/>
                <a:chExt cx="859" cy="384"/>
              </a:xfrm>
            </p:grpSpPr>
            <p:sp>
              <p:nvSpPr>
                <p:cNvPr id="46141" name="Rectangle 69"/>
                <p:cNvSpPr>
                  <a:spLocks noChangeArrowheads="1"/>
                </p:cNvSpPr>
                <p:nvPr/>
              </p:nvSpPr>
              <p:spPr bwMode="auto">
                <a:xfrm>
                  <a:off x="875" y="2304"/>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8</a:t>
                  </a:r>
                </a:p>
                <a:p>
                  <a:pPr algn="ctr" eaLnBrk="0" hangingPunct="0"/>
                  <a:endParaRPr lang="en-US" altLang="zh-CN" sz="2000">
                    <a:latin typeface="Times New Roman" pitchFamily="18" charset="0"/>
                  </a:endParaRPr>
                </a:p>
              </p:txBody>
            </p:sp>
            <p:sp>
              <p:nvSpPr>
                <p:cNvPr id="46142" name="Rectangle 70"/>
                <p:cNvSpPr>
                  <a:spLocks noChangeArrowheads="1"/>
                </p:cNvSpPr>
                <p:nvPr/>
              </p:nvSpPr>
              <p:spPr bwMode="auto">
                <a:xfrm>
                  <a:off x="832" y="2304"/>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1" name="Group 71"/>
              <p:cNvGrpSpPr>
                <a:grpSpLocks/>
              </p:cNvGrpSpPr>
              <p:nvPr/>
            </p:nvGrpSpPr>
            <p:grpSpPr bwMode="auto">
              <a:xfrm>
                <a:off x="1691" y="2304"/>
                <a:ext cx="874" cy="384"/>
                <a:chOff x="1691" y="2304"/>
                <a:chExt cx="874" cy="384"/>
              </a:xfrm>
            </p:grpSpPr>
            <p:sp>
              <p:nvSpPr>
                <p:cNvPr id="46139" name="Rectangle 72"/>
                <p:cNvSpPr>
                  <a:spLocks noChangeArrowheads="1"/>
                </p:cNvSpPr>
                <p:nvPr/>
              </p:nvSpPr>
              <p:spPr bwMode="auto">
                <a:xfrm>
                  <a:off x="1734" y="2304"/>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庚 酸</a:t>
                  </a:r>
                </a:p>
                <a:p>
                  <a:pPr algn="ctr" eaLnBrk="0" hangingPunct="0"/>
                  <a:endParaRPr lang="en-US" altLang="zh-CN" sz="2000">
                    <a:latin typeface="Times New Roman" pitchFamily="18" charset="0"/>
                  </a:endParaRPr>
                </a:p>
              </p:txBody>
            </p:sp>
            <p:sp>
              <p:nvSpPr>
                <p:cNvPr id="46140" name="Rectangle 73"/>
                <p:cNvSpPr>
                  <a:spLocks noChangeArrowheads="1"/>
                </p:cNvSpPr>
                <p:nvPr/>
              </p:nvSpPr>
              <p:spPr bwMode="auto">
                <a:xfrm>
                  <a:off x="1691" y="2304"/>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2" name="Group 74"/>
              <p:cNvGrpSpPr>
                <a:grpSpLocks/>
              </p:cNvGrpSpPr>
              <p:nvPr/>
            </p:nvGrpSpPr>
            <p:grpSpPr bwMode="auto">
              <a:xfrm>
                <a:off x="2565" y="2304"/>
                <a:ext cx="859" cy="384"/>
                <a:chOff x="2565" y="2304"/>
                <a:chExt cx="859" cy="384"/>
              </a:xfrm>
            </p:grpSpPr>
            <p:sp>
              <p:nvSpPr>
                <p:cNvPr id="46137" name="Rectangle 75"/>
                <p:cNvSpPr>
                  <a:spLocks noChangeArrowheads="1"/>
                </p:cNvSpPr>
                <p:nvPr/>
              </p:nvSpPr>
              <p:spPr bwMode="auto">
                <a:xfrm>
                  <a:off x="2608" y="2304"/>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0.5</a:t>
                  </a:r>
                </a:p>
                <a:p>
                  <a:pPr algn="ctr" eaLnBrk="0" hangingPunct="0"/>
                  <a:endParaRPr lang="en-US" altLang="zh-CN" sz="2000">
                    <a:latin typeface="Times New Roman" pitchFamily="18" charset="0"/>
                  </a:endParaRPr>
                </a:p>
              </p:txBody>
            </p:sp>
            <p:sp>
              <p:nvSpPr>
                <p:cNvPr id="46138" name="Rectangle 76"/>
                <p:cNvSpPr>
                  <a:spLocks noChangeArrowheads="1"/>
                </p:cNvSpPr>
                <p:nvPr/>
              </p:nvSpPr>
              <p:spPr bwMode="auto">
                <a:xfrm>
                  <a:off x="2565" y="2304"/>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3" name="Group 77"/>
              <p:cNvGrpSpPr>
                <a:grpSpLocks/>
              </p:cNvGrpSpPr>
              <p:nvPr/>
            </p:nvGrpSpPr>
            <p:grpSpPr bwMode="auto">
              <a:xfrm>
                <a:off x="0" y="2688"/>
                <a:ext cx="832" cy="384"/>
                <a:chOff x="0" y="2688"/>
                <a:chExt cx="832" cy="384"/>
              </a:xfrm>
            </p:grpSpPr>
            <p:sp>
              <p:nvSpPr>
                <p:cNvPr id="46135" name="Rectangle 78"/>
                <p:cNvSpPr>
                  <a:spLocks noChangeArrowheads="1"/>
                </p:cNvSpPr>
                <p:nvPr/>
              </p:nvSpPr>
              <p:spPr bwMode="auto">
                <a:xfrm>
                  <a:off x="43" y="2688"/>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2</a:t>
                  </a:r>
                  <a:r>
                    <a:rPr lang="zh-CN" altLang="en-US" sz="2000">
                      <a:latin typeface="Times New Roman" pitchFamily="18" charset="0"/>
                    </a:rPr>
                    <a:t>－辛 酮</a:t>
                  </a:r>
                </a:p>
                <a:p>
                  <a:pPr algn="ctr" eaLnBrk="0" hangingPunct="0"/>
                  <a:endParaRPr lang="en-US" altLang="zh-CN" sz="2000">
                    <a:latin typeface="Times New Roman" pitchFamily="18" charset="0"/>
                  </a:endParaRPr>
                </a:p>
              </p:txBody>
            </p:sp>
            <p:sp>
              <p:nvSpPr>
                <p:cNvPr id="46136" name="Rectangle 79"/>
                <p:cNvSpPr>
                  <a:spLocks noChangeArrowheads="1"/>
                </p:cNvSpPr>
                <p:nvPr/>
              </p:nvSpPr>
              <p:spPr bwMode="auto">
                <a:xfrm>
                  <a:off x="0" y="2688"/>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4" name="Group 80"/>
              <p:cNvGrpSpPr>
                <a:grpSpLocks/>
              </p:cNvGrpSpPr>
              <p:nvPr/>
            </p:nvGrpSpPr>
            <p:grpSpPr bwMode="auto">
              <a:xfrm>
                <a:off x="832" y="2688"/>
                <a:ext cx="859" cy="384"/>
                <a:chOff x="832" y="2688"/>
                <a:chExt cx="859" cy="384"/>
              </a:xfrm>
            </p:grpSpPr>
            <p:sp>
              <p:nvSpPr>
                <p:cNvPr id="46133" name="Rectangle 81"/>
                <p:cNvSpPr>
                  <a:spLocks noChangeArrowheads="1"/>
                </p:cNvSpPr>
                <p:nvPr/>
              </p:nvSpPr>
              <p:spPr bwMode="auto">
                <a:xfrm>
                  <a:off x="875" y="2688"/>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3</a:t>
                  </a:r>
                </a:p>
                <a:p>
                  <a:pPr algn="ctr" eaLnBrk="0" hangingPunct="0"/>
                  <a:endParaRPr lang="en-US" altLang="zh-CN" sz="2000">
                    <a:latin typeface="Times New Roman" pitchFamily="18" charset="0"/>
                  </a:endParaRPr>
                </a:p>
              </p:txBody>
            </p:sp>
            <p:sp>
              <p:nvSpPr>
                <p:cNvPr id="46134" name="Rectangle 82"/>
                <p:cNvSpPr>
                  <a:spLocks noChangeArrowheads="1"/>
                </p:cNvSpPr>
                <p:nvPr/>
              </p:nvSpPr>
              <p:spPr bwMode="auto">
                <a:xfrm>
                  <a:off x="832" y="2688"/>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5" name="Group 83"/>
              <p:cNvGrpSpPr>
                <a:grpSpLocks/>
              </p:cNvGrpSpPr>
              <p:nvPr/>
            </p:nvGrpSpPr>
            <p:grpSpPr bwMode="auto">
              <a:xfrm>
                <a:off x="1691" y="2688"/>
                <a:ext cx="874" cy="384"/>
                <a:chOff x="1691" y="2688"/>
                <a:chExt cx="874" cy="384"/>
              </a:xfrm>
            </p:grpSpPr>
            <p:sp>
              <p:nvSpPr>
                <p:cNvPr id="46131" name="Rectangle 84"/>
                <p:cNvSpPr>
                  <a:spLocks noChangeArrowheads="1"/>
                </p:cNvSpPr>
                <p:nvPr/>
              </p:nvSpPr>
              <p:spPr bwMode="auto">
                <a:xfrm>
                  <a:off x="1734" y="2688"/>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辛 醇</a:t>
                  </a:r>
                </a:p>
                <a:p>
                  <a:pPr algn="ctr" eaLnBrk="0" hangingPunct="0"/>
                  <a:endParaRPr lang="en-US" altLang="zh-CN" sz="2000">
                    <a:latin typeface="Times New Roman" pitchFamily="18" charset="0"/>
                  </a:endParaRPr>
                </a:p>
              </p:txBody>
            </p:sp>
            <p:sp>
              <p:nvSpPr>
                <p:cNvPr id="46132" name="Rectangle 85"/>
                <p:cNvSpPr>
                  <a:spLocks noChangeArrowheads="1"/>
                </p:cNvSpPr>
                <p:nvPr/>
              </p:nvSpPr>
              <p:spPr bwMode="auto">
                <a:xfrm>
                  <a:off x="1691" y="2688"/>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6" name="Group 86"/>
              <p:cNvGrpSpPr>
                <a:grpSpLocks/>
              </p:cNvGrpSpPr>
              <p:nvPr/>
            </p:nvGrpSpPr>
            <p:grpSpPr bwMode="auto">
              <a:xfrm>
                <a:off x="2565" y="2688"/>
                <a:ext cx="859" cy="384"/>
                <a:chOff x="2565" y="2688"/>
                <a:chExt cx="859" cy="384"/>
              </a:xfrm>
            </p:grpSpPr>
            <p:sp>
              <p:nvSpPr>
                <p:cNvPr id="46129" name="Rectangle 87"/>
                <p:cNvSpPr>
                  <a:spLocks noChangeArrowheads="1"/>
                </p:cNvSpPr>
                <p:nvPr/>
              </p:nvSpPr>
              <p:spPr bwMode="auto">
                <a:xfrm>
                  <a:off x="2608" y="2688"/>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0.1</a:t>
                  </a:r>
                </a:p>
                <a:p>
                  <a:pPr algn="ctr" eaLnBrk="0" hangingPunct="0"/>
                  <a:endParaRPr lang="en-US" altLang="zh-CN" sz="2000">
                    <a:latin typeface="Times New Roman" pitchFamily="18" charset="0"/>
                  </a:endParaRPr>
                </a:p>
              </p:txBody>
            </p:sp>
            <p:sp>
              <p:nvSpPr>
                <p:cNvPr id="46130" name="Rectangle 88"/>
                <p:cNvSpPr>
                  <a:spLocks noChangeArrowheads="1"/>
                </p:cNvSpPr>
                <p:nvPr/>
              </p:nvSpPr>
              <p:spPr bwMode="auto">
                <a:xfrm>
                  <a:off x="2565" y="2688"/>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7" name="Group 89"/>
              <p:cNvGrpSpPr>
                <a:grpSpLocks/>
              </p:cNvGrpSpPr>
              <p:nvPr/>
            </p:nvGrpSpPr>
            <p:grpSpPr bwMode="auto">
              <a:xfrm>
                <a:off x="0" y="3072"/>
                <a:ext cx="832" cy="384"/>
                <a:chOff x="0" y="3072"/>
                <a:chExt cx="832" cy="384"/>
              </a:xfrm>
            </p:grpSpPr>
            <p:sp>
              <p:nvSpPr>
                <p:cNvPr id="46127" name="Rectangle 90"/>
                <p:cNvSpPr>
                  <a:spLocks noChangeArrowheads="1"/>
                </p:cNvSpPr>
                <p:nvPr/>
              </p:nvSpPr>
              <p:spPr bwMode="auto">
                <a:xfrm>
                  <a:off x="43" y="3072"/>
                  <a:ext cx="74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二 丁 醚</a:t>
                  </a:r>
                </a:p>
                <a:p>
                  <a:pPr algn="ctr" eaLnBrk="0" hangingPunct="0"/>
                  <a:endParaRPr lang="en-US" altLang="zh-CN" sz="2000">
                    <a:latin typeface="Times New Roman" pitchFamily="18" charset="0"/>
                  </a:endParaRPr>
                </a:p>
              </p:txBody>
            </p:sp>
            <p:sp>
              <p:nvSpPr>
                <p:cNvPr id="46128" name="Rectangle 91"/>
                <p:cNvSpPr>
                  <a:spLocks noChangeArrowheads="1"/>
                </p:cNvSpPr>
                <p:nvPr/>
              </p:nvSpPr>
              <p:spPr bwMode="auto">
                <a:xfrm>
                  <a:off x="0" y="3072"/>
                  <a:ext cx="83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8" name="Group 92"/>
              <p:cNvGrpSpPr>
                <a:grpSpLocks/>
              </p:cNvGrpSpPr>
              <p:nvPr/>
            </p:nvGrpSpPr>
            <p:grpSpPr bwMode="auto">
              <a:xfrm>
                <a:off x="832" y="3072"/>
                <a:ext cx="859" cy="384"/>
                <a:chOff x="832" y="3072"/>
                <a:chExt cx="859" cy="384"/>
              </a:xfrm>
            </p:grpSpPr>
            <p:sp>
              <p:nvSpPr>
                <p:cNvPr id="46125" name="Rectangle 93"/>
                <p:cNvSpPr>
                  <a:spLocks noChangeArrowheads="1"/>
                </p:cNvSpPr>
                <p:nvPr/>
              </p:nvSpPr>
              <p:spPr bwMode="auto">
                <a:xfrm>
                  <a:off x="875" y="3072"/>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2</a:t>
                  </a:r>
                </a:p>
                <a:p>
                  <a:pPr algn="ctr" eaLnBrk="0" hangingPunct="0"/>
                  <a:endParaRPr lang="en-US" altLang="zh-CN" sz="2000">
                    <a:latin typeface="Times New Roman" pitchFamily="18" charset="0"/>
                  </a:endParaRPr>
                </a:p>
              </p:txBody>
            </p:sp>
            <p:sp>
              <p:nvSpPr>
                <p:cNvPr id="46126" name="Rectangle 94"/>
                <p:cNvSpPr>
                  <a:spLocks noChangeArrowheads="1"/>
                </p:cNvSpPr>
                <p:nvPr/>
              </p:nvSpPr>
              <p:spPr bwMode="auto">
                <a:xfrm>
                  <a:off x="832" y="3072"/>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19" name="Group 95"/>
              <p:cNvGrpSpPr>
                <a:grpSpLocks/>
              </p:cNvGrpSpPr>
              <p:nvPr/>
            </p:nvGrpSpPr>
            <p:grpSpPr bwMode="auto">
              <a:xfrm>
                <a:off x="1691" y="3072"/>
                <a:ext cx="874" cy="384"/>
                <a:chOff x="1691" y="3072"/>
                <a:chExt cx="874" cy="384"/>
              </a:xfrm>
            </p:grpSpPr>
            <p:sp>
              <p:nvSpPr>
                <p:cNvPr id="46123" name="Rectangle 96"/>
                <p:cNvSpPr>
                  <a:spLocks noChangeArrowheads="1"/>
                </p:cNvSpPr>
                <p:nvPr/>
              </p:nvSpPr>
              <p:spPr bwMode="auto">
                <a:xfrm>
                  <a:off x="1734" y="3072"/>
                  <a:ext cx="788"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zh-CN" altLang="en-US" sz="2000">
                      <a:latin typeface="Times New Roman" pitchFamily="18" charset="0"/>
                    </a:rPr>
                    <a:t>缩 乙 醛</a:t>
                  </a:r>
                </a:p>
                <a:p>
                  <a:pPr algn="ctr" eaLnBrk="0" hangingPunct="0"/>
                  <a:endParaRPr lang="en-US" altLang="zh-CN" sz="2000">
                    <a:latin typeface="Times New Roman" pitchFamily="18" charset="0"/>
                  </a:endParaRPr>
                </a:p>
              </p:txBody>
            </p:sp>
            <p:sp>
              <p:nvSpPr>
                <p:cNvPr id="46124" name="Rectangle 97"/>
                <p:cNvSpPr>
                  <a:spLocks noChangeArrowheads="1"/>
                </p:cNvSpPr>
                <p:nvPr/>
              </p:nvSpPr>
              <p:spPr bwMode="auto">
                <a:xfrm>
                  <a:off x="1691" y="3072"/>
                  <a:ext cx="874"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nvGrpSpPr>
              <p:cNvPr id="46120" name="Group 98"/>
              <p:cNvGrpSpPr>
                <a:grpSpLocks/>
              </p:cNvGrpSpPr>
              <p:nvPr/>
            </p:nvGrpSpPr>
            <p:grpSpPr bwMode="auto">
              <a:xfrm>
                <a:off x="2565" y="3072"/>
                <a:ext cx="859" cy="384"/>
                <a:chOff x="2565" y="3072"/>
                <a:chExt cx="859" cy="384"/>
              </a:xfrm>
            </p:grpSpPr>
            <p:sp>
              <p:nvSpPr>
                <p:cNvPr id="46121" name="Rectangle 99"/>
                <p:cNvSpPr>
                  <a:spLocks noChangeArrowheads="1"/>
                </p:cNvSpPr>
                <p:nvPr/>
              </p:nvSpPr>
              <p:spPr bwMode="auto">
                <a:xfrm>
                  <a:off x="2608" y="3072"/>
                  <a:ext cx="773"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r>
                    <a:rPr lang="en-US" altLang="zh-CN" sz="2000">
                      <a:latin typeface="Times New Roman" pitchFamily="18" charset="0"/>
                    </a:rPr>
                    <a:t>0</a:t>
                  </a:r>
                </a:p>
                <a:p>
                  <a:pPr algn="ctr" eaLnBrk="0" hangingPunct="0"/>
                  <a:endParaRPr lang="en-US" altLang="zh-CN" sz="2000">
                    <a:latin typeface="Times New Roman" pitchFamily="18" charset="0"/>
                  </a:endParaRPr>
                </a:p>
              </p:txBody>
            </p:sp>
            <p:sp>
              <p:nvSpPr>
                <p:cNvPr id="46122" name="Rectangle 100"/>
                <p:cNvSpPr>
                  <a:spLocks noChangeArrowheads="1"/>
                </p:cNvSpPr>
                <p:nvPr/>
              </p:nvSpPr>
              <p:spPr bwMode="auto">
                <a:xfrm>
                  <a:off x="2565" y="3072"/>
                  <a:ext cx="85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grpSp>
        <p:sp>
          <p:nvSpPr>
            <p:cNvPr id="46088" name="Rectangle 101"/>
            <p:cNvSpPr>
              <a:spLocks noChangeArrowheads="1"/>
            </p:cNvSpPr>
            <p:nvPr/>
          </p:nvSpPr>
          <p:spPr bwMode="auto">
            <a:xfrm>
              <a:off x="-3" y="381"/>
              <a:ext cx="3430" cy="3078"/>
            </a:xfrm>
            <a:prstGeom prst="rect">
              <a:avLst/>
            </a:prstGeom>
            <a:noFill/>
            <a:ln w="9525"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1908175" y="576263"/>
            <a:ext cx="4927600" cy="1052512"/>
          </a:xfrm>
        </p:spPr>
        <p:txBody>
          <a:bodyPr/>
          <a:lstStyle/>
          <a:p>
            <a:pPr eaLnBrk="1" hangingPunct="1"/>
            <a:r>
              <a:rPr lang="zh-CN" altLang="en-US" sz="3600" b="1" smtClean="0">
                <a:latin typeface="微软雅黑" pitchFamily="34" charset="-122"/>
                <a:ea typeface="微软雅黑" pitchFamily="34" charset="-122"/>
              </a:rPr>
              <a:t>测定分子量的辅助方法</a:t>
            </a:r>
          </a:p>
        </p:txBody>
      </p:sp>
      <p:sp>
        <p:nvSpPr>
          <p:cNvPr id="30723" name="Rectangle 3"/>
          <p:cNvSpPr>
            <a:spLocks noGrp="1" noChangeArrowheads="1"/>
          </p:cNvSpPr>
          <p:nvPr>
            <p:ph idx="1"/>
          </p:nvPr>
        </p:nvSpPr>
        <p:spPr>
          <a:xfrm>
            <a:off x="827088" y="3933825"/>
            <a:ext cx="7848600" cy="935038"/>
          </a:xfrm>
        </p:spPr>
        <p:txBody>
          <a:bodyPr/>
          <a:lstStyle/>
          <a:p>
            <a:pPr eaLnBrk="1" hangingPunct="1">
              <a:lnSpc>
                <a:spcPct val="130000"/>
              </a:lnSpc>
              <a:buClr>
                <a:srgbClr val="FF00FF"/>
              </a:buClr>
              <a:buFont typeface="Wingdings" pitchFamily="2" charset="2"/>
              <a:buChar char="v"/>
            </a:pPr>
            <a:r>
              <a:rPr lang="zh-CN" altLang="en-US" b="1" smtClean="0">
                <a:ea typeface="楷体_GB2312" pitchFamily="49" charset="-122"/>
              </a:rPr>
              <a:t>降低轰击电子能量  减少分子离子的碎裂。</a:t>
            </a:r>
          </a:p>
        </p:txBody>
      </p:sp>
      <p:sp>
        <p:nvSpPr>
          <p:cNvPr id="4710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13523A16-2BE1-402B-A314-F0319594B3D6}" type="datetime10">
              <a:rPr lang="zh-CN" altLang="en-US" sz="1200" smtClean="0">
                <a:latin typeface="Verdana" pitchFamily="34" charset="0"/>
                <a:ea typeface="宋体" pitchFamily="2" charset="-122"/>
              </a:rPr>
              <a:pPr eaLnBrk="1" hangingPunct="1"/>
              <a:t>20:02</a:t>
            </a:fld>
            <a:endParaRPr lang="en-US" altLang="zh-CN" sz="1200" smtClean="0">
              <a:latin typeface="Verdana" pitchFamily="34" charset="0"/>
              <a:ea typeface="宋体" pitchFamily="2" charset="-122"/>
            </a:endParaRPr>
          </a:p>
        </p:txBody>
      </p:sp>
      <p:sp>
        <p:nvSpPr>
          <p:cNvPr id="4710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149BA5CB-4491-4A1B-B278-52CCF4C4E7B7}" type="slidenum">
              <a:rPr lang="en-US" altLang="zh-CN" sz="1200" smtClean="0">
                <a:latin typeface="Verdana" pitchFamily="34" charset="0"/>
                <a:ea typeface="宋体" pitchFamily="2" charset="-122"/>
              </a:rPr>
              <a:pPr eaLnBrk="1" hangingPunct="1"/>
              <a:t>40</a:t>
            </a:fld>
            <a:endParaRPr lang="en-US" altLang="zh-CN" sz="1200" smtClean="0">
              <a:latin typeface="Verdana" pitchFamily="34" charset="0"/>
              <a:ea typeface="宋体" pitchFamily="2" charset="-122"/>
            </a:endParaRPr>
          </a:p>
        </p:txBody>
      </p:sp>
      <p:sp>
        <p:nvSpPr>
          <p:cNvPr id="2" name="Rectangle 3"/>
          <p:cNvSpPr>
            <a:spLocks noChangeArrowheads="1"/>
          </p:cNvSpPr>
          <p:nvPr/>
        </p:nvSpPr>
        <p:spPr bwMode="auto">
          <a:xfrm>
            <a:off x="755650" y="1628775"/>
            <a:ext cx="7777163"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lnSpc>
                <a:spcPct val="130000"/>
              </a:lnSpc>
              <a:spcBef>
                <a:spcPct val="20000"/>
              </a:spcBef>
              <a:buClr>
                <a:srgbClr val="FF00FF"/>
              </a:buClr>
              <a:buFont typeface="Wingdings" pitchFamily="2" charset="2"/>
              <a:buChar char="v"/>
            </a:pPr>
            <a:r>
              <a:rPr lang="zh-CN" altLang="en-US" sz="3000"/>
              <a:t>制备衍生物：甲基化、酰化、三甲基硅烷化等将醇转化为醚、酯和三甲基硅醚；酯化法将羧酸转变为酯。作用：改善样品的挥发性和稳定性。</a:t>
            </a:r>
            <a:endParaRPr lang="en-US" altLang="zh-CN" sz="3000"/>
          </a:p>
        </p:txBody>
      </p:sp>
      <p:sp>
        <p:nvSpPr>
          <p:cNvPr id="3" name="Rectangle 3"/>
          <p:cNvSpPr>
            <a:spLocks noChangeArrowheads="1"/>
          </p:cNvSpPr>
          <p:nvPr/>
        </p:nvSpPr>
        <p:spPr bwMode="auto">
          <a:xfrm>
            <a:off x="827088" y="4292600"/>
            <a:ext cx="784860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lnSpc>
                <a:spcPct val="130000"/>
              </a:lnSpc>
              <a:spcBef>
                <a:spcPct val="20000"/>
              </a:spcBef>
              <a:buClr>
                <a:srgbClr val="FF00FF"/>
              </a:buClr>
              <a:buFont typeface="Wingdings" pitchFamily="2" charset="2"/>
              <a:buNone/>
            </a:pPr>
            <a:endParaRPr lang="zh-CN" altLang="en-US" sz="3000"/>
          </a:p>
          <a:p>
            <a:pPr marL="469900" indent="-469900">
              <a:lnSpc>
                <a:spcPct val="130000"/>
              </a:lnSpc>
              <a:spcBef>
                <a:spcPct val="20000"/>
              </a:spcBef>
              <a:buClr>
                <a:srgbClr val="FF00FF"/>
              </a:buClr>
              <a:buFont typeface="Wingdings" pitchFamily="2" charset="2"/>
              <a:buChar char="v"/>
            </a:pPr>
            <a:r>
              <a:rPr lang="zh-CN" altLang="en-US" sz="3000"/>
              <a:t>使用</a:t>
            </a:r>
            <a:r>
              <a:rPr lang="zh-CN" altLang="en-US" sz="3000">
                <a:latin typeface="Arial" pitchFamily="34" charset="0"/>
              </a:rPr>
              <a:t>“</a:t>
            </a:r>
            <a:r>
              <a:rPr lang="zh-CN" altLang="en-US" sz="3000"/>
              <a:t>软电离</a:t>
            </a:r>
            <a:r>
              <a:rPr lang="zh-CN" altLang="en-US" sz="3000">
                <a:latin typeface="Arial" pitchFamily="34" charset="0"/>
              </a:rPr>
              <a:t>”</a:t>
            </a:r>
            <a:r>
              <a:rPr lang="zh-CN" altLang="en-US" sz="3000"/>
              <a:t>技术  。在条件允许时，这是最有效的办法。</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3">
                                            <p:txEl>
                                              <p:pRg st="0" end="0"/>
                                            </p:txEl>
                                          </p:spTgt>
                                        </p:tgtEl>
                                        <p:attrNameLst>
                                          <p:attrName>style.visibility</p:attrName>
                                        </p:attrNameLst>
                                      </p:cBhvr>
                                      <p:to>
                                        <p:strVal val="visible"/>
                                      </p:to>
                                    </p:set>
                                    <p:animEffect transition="in" filter="blinds(horizontal)">
                                      <p:cBhvr>
                                        <p:cTn id="12" dur="500"/>
                                        <p:tgtEl>
                                          <p:spTgt spid="3072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build="p"/>
      <p:bldP spid="2" grpId="0"/>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9996BE83-21EB-4EF1-9410-AA0FFEFDAA3E}"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4813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7B10AFBA-9D9E-4CF8-BB2C-C9047115B834}" type="slidenum">
              <a:rPr lang="en-US" altLang="zh-CN" sz="1200" smtClean="0">
                <a:latin typeface="Verdana" pitchFamily="34" charset="0"/>
                <a:ea typeface="宋体" pitchFamily="2" charset="-122"/>
              </a:rPr>
              <a:pPr eaLnBrk="1" hangingPunct="1">
                <a:lnSpc>
                  <a:spcPct val="100000"/>
                </a:lnSpc>
              </a:pPr>
              <a:t>41</a:t>
            </a:fld>
            <a:endParaRPr lang="en-US" altLang="zh-CN" sz="1200" smtClean="0">
              <a:latin typeface="Verdana" pitchFamily="34" charset="0"/>
              <a:ea typeface="宋体" pitchFamily="2" charset="-122"/>
            </a:endParaRPr>
          </a:p>
        </p:txBody>
      </p:sp>
      <p:sp>
        <p:nvSpPr>
          <p:cNvPr id="38916" name="Rectangle 2"/>
          <p:cNvSpPr>
            <a:spLocks noChangeArrowheads="1"/>
          </p:cNvSpPr>
          <p:nvPr/>
        </p:nvSpPr>
        <p:spPr bwMode="auto">
          <a:xfrm>
            <a:off x="1116013" y="2205038"/>
            <a:ext cx="712787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25000"/>
              </a:lnSpc>
              <a:spcBef>
                <a:spcPct val="0"/>
              </a:spcBef>
              <a:buFontTx/>
              <a:buNone/>
              <a:defRPr/>
            </a:pPr>
            <a:r>
              <a:rPr lang="zh-CN" altLang="en-US" sz="3200" dirty="0" smtClean="0">
                <a:latin typeface="+mn-ea"/>
                <a:ea typeface="+mn-ea"/>
              </a:rPr>
              <a:t>一、用分子离子及其同位素离子丰度比</a:t>
            </a:r>
          </a:p>
          <a:p>
            <a:pPr>
              <a:lnSpc>
                <a:spcPct val="125000"/>
              </a:lnSpc>
              <a:spcBef>
                <a:spcPct val="0"/>
              </a:spcBef>
              <a:buFontTx/>
              <a:buChar char="•"/>
              <a:defRPr/>
            </a:pPr>
            <a:endParaRPr lang="zh-CN" altLang="en-US" sz="3200" dirty="0" smtClean="0">
              <a:latin typeface="+mn-ea"/>
              <a:ea typeface="+mn-ea"/>
            </a:endParaRPr>
          </a:p>
          <a:p>
            <a:pPr>
              <a:lnSpc>
                <a:spcPct val="125000"/>
              </a:lnSpc>
              <a:spcBef>
                <a:spcPct val="0"/>
              </a:spcBef>
              <a:buClr>
                <a:srgbClr val="CC00CC"/>
              </a:buClr>
              <a:buFont typeface="Arial" panose="020B0604020202020204" pitchFamily="34" charset="0"/>
              <a:buNone/>
              <a:defRPr/>
            </a:pPr>
            <a:r>
              <a:rPr lang="zh-CN" altLang="en-US" sz="3200" dirty="0" smtClean="0">
                <a:latin typeface="+mn-ea"/>
                <a:ea typeface="+mn-ea"/>
              </a:rPr>
              <a:t>二、利用高分辨质谱测定精确分子量</a:t>
            </a:r>
          </a:p>
        </p:txBody>
      </p:sp>
      <p:sp>
        <p:nvSpPr>
          <p:cNvPr id="48133" name="Rectangle 2"/>
          <p:cNvSpPr>
            <a:spLocks noChangeArrowheads="1"/>
          </p:cNvSpPr>
          <p:nvPr/>
        </p:nvSpPr>
        <p:spPr bwMode="auto">
          <a:xfrm>
            <a:off x="1547813" y="382588"/>
            <a:ext cx="5400675"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nSpc>
                <a:spcPct val="100000"/>
              </a:lnSpc>
            </a:pPr>
            <a:r>
              <a:rPr lang="zh-CN" altLang="en-US" sz="4000">
                <a:latin typeface="微软雅黑" pitchFamily="34" charset="-122"/>
                <a:ea typeface="微软雅黑" pitchFamily="34" charset="-122"/>
              </a:rPr>
              <a:t>第五节  分子式的确定</a:t>
            </a:r>
            <a:endParaRPr lang="en-US" altLang="zh-CN" sz="4000">
              <a:latin typeface="微软雅黑" pitchFamily="34" charset="-122"/>
              <a:ea typeface="微软雅黑" pitchFamily="34" charset="-122"/>
            </a:endParaRPr>
          </a:p>
        </p:txBody>
      </p:sp>
    </p:spTree>
  </p:cSld>
  <p:clrMapOvr>
    <a:masterClrMapping/>
  </p:clrMapOvr>
  <p:transition spd="slow"/>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107950" y="242888"/>
            <a:ext cx="8820150" cy="955675"/>
          </a:xfrm>
        </p:spPr>
        <p:txBody>
          <a:bodyPr/>
          <a:lstStyle/>
          <a:p>
            <a:pPr marL="0" indent="0">
              <a:buFont typeface="Arial" pitchFamily="34" charset="0"/>
              <a:buNone/>
            </a:pPr>
            <a:r>
              <a:rPr kumimoji="1" lang="zh-CN" altLang="en-US" sz="4000" b="1" smtClean="0">
                <a:latin typeface="微软雅黑" pitchFamily="34" charset="-122"/>
                <a:ea typeface="微软雅黑" pitchFamily="34" charset="-122"/>
              </a:rPr>
              <a:t>一、用分子离子及其同位素离子丰度比</a:t>
            </a:r>
          </a:p>
        </p:txBody>
      </p:sp>
      <p:grpSp>
        <p:nvGrpSpPr>
          <p:cNvPr id="49155" name="组合 4"/>
          <p:cNvGrpSpPr>
            <a:grpSpLocks/>
          </p:cNvGrpSpPr>
          <p:nvPr/>
        </p:nvGrpSpPr>
        <p:grpSpPr bwMode="auto">
          <a:xfrm>
            <a:off x="852488" y="1628775"/>
            <a:ext cx="7397750" cy="4975225"/>
            <a:chOff x="853008" y="1700808"/>
            <a:chExt cx="7397601" cy="4975225"/>
          </a:xfrm>
        </p:grpSpPr>
        <p:sp>
          <p:nvSpPr>
            <p:cNvPr id="4" name="圆角矩形 3"/>
            <p:cNvSpPr/>
            <p:nvPr/>
          </p:nvSpPr>
          <p:spPr>
            <a:xfrm>
              <a:off x="853008" y="2942233"/>
              <a:ext cx="4919563" cy="417513"/>
            </a:xfrm>
            <a:prstGeom prst="round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圆角矩形 2"/>
            <p:cNvSpPr/>
            <p:nvPr/>
          </p:nvSpPr>
          <p:spPr>
            <a:xfrm>
              <a:off x="910157" y="4602758"/>
              <a:ext cx="7327752" cy="827088"/>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4" name="圆角矩形 223"/>
            <p:cNvSpPr/>
            <p:nvPr/>
          </p:nvSpPr>
          <p:spPr>
            <a:xfrm>
              <a:off x="910157" y="4190008"/>
              <a:ext cx="7340452" cy="414338"/>
            </a:xfrm>
            <a:prstGeom prst="roundRect">
              <a:avLst/>
            </a:prstGeom>
            <a:solidFill>
              <a:srgbClr val="FFC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圆角矩形 1"/>
            <p:cNvSpPr/>
            <p:nvPr/>
          </p:nvSpPr>
          <p:spPr>
            <a:xfrm>
              <a:off x="859358" y="2529483"/>
              <a:ext cx="4913213" cy="412750"/>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49161" name="Group 4"/>
            <p:cNvGrpSpPr>
              <a:grpSpLocks/>
            </p:cNvGrpSpPr>
            <p:nvPr/>
          </p:nvGrpSpPr>
          <p:grpSpPr bwMode="auto">
            <a:xfrm>
              <a:off x="853008" y="1700808"/>
              <a:ext cx="7391400" cy="4975225"/>
              <a:chOff x="-3" y="381"/>
              <a:chExt cx="3576" cy="4614"/>
            </a:xfrm>
          </p:grpSpPr>
          <p:grpSp>
            <p:nvGrpSpPr>
              <p:cNvPr id="49162" name="Group 5"/>
              <p:cNvGrpSpPr>
                <a:grpSpLocks/>
              </p:cNvGrpSpPr>
              <p:nvPr/>
            </p:nvGrpSpPr>
            <p:grpSpPr bwMode="auto">
              <a:xfrm>
                <a:off x="0" y="384"/>
                <a:ext cx="3570" cy="4608"/>
                <a:chOff x="0" y="384"/>
                <a:chExt cx="3570" cy="4608"/>
              </a:xfrm>
            </p:grpSpPr>
            <p:grpSp>
              <p:nvGrpSpPr>
                <p:cNvPr id="49164" name="Group 6"/>
                <p:cNvGrpSpPr>
                  <a:grpSpLocks/>
                </p:cNvGrpSpPr>
                <p:nvPr/>
              </p:nvGrpSpPr>
              <p:grpSpPr bwMode="auto">
                <a:xfrm>
                  <a:off x="0" y="384"/>
                  <a:ext cx="595" cy="384"/>
                  <a:chOff x="0" y="384"/>
                  <a:chExt cx="595" cy="384"/>
                </a:xfrm>
              </p:grpSpPr>
              <p:sp>
                <p:nvSpPr>
                  <p:cNvPr id="49378" name="Rectangle 7"/>
                  <p:cNvSpPr>
                    <a:spLocks noChangeArrowheads="1"/>
                  </p:cNvSpPr>
                  <p:nvPr/>
                </p:nvSpPr>
                <p:spPr bwMode="auto">
                  <a:xfrm>
                    <a:off x="43"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元  素</a:t>
                    </a:r>
                  </a:p>
                  <a:p>
                    <a:pPr algn="ctr">
                      <a:lnSpc>
                        <a:spcPct val="100000"/>
                      </a:lnSpc>
                    </a:pPr>
                    <a:endParaRPr lang="en-US" altLang="zh-CN" sz="1800">
                      <a:latin typeface="Times New Roman" pitchFamily="18" charset="0"/>
                    </a:endParaRPr>
                  </a:p>
                </p:txBody>
              </p:sp>
              <p:sp>
                <p:nvSpPr>
                  <p:cNvPr id="49379" name="Rectangle 8"/>
                  <p:cNvSpPr>
                    <a:spLocks noChangeArrowheads="1"/>
                  </p:cNvSpPr>
                  <p:nvPr/>
                </p:nvSpPr>
                <p:spPr bwMode="auto">
                  <a:xfrm>
                    <a:off x="0"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65" name="Group 9"/>
                <p:cNvGrpSpPr>
                  <a:grpSpLocks/>
                </p:cNvGrpSpPr>
                <p:nvPr/>
              </p:nvGrpSpPr>
              <p:grpSpPr bwMode="auto">
                <a:xfrm>
                  <a:off x="595" y="384"/>
                  <a:ext cx="595" cy="384"/>
                  <a:chOff x="595" y="384"/>
                  <a:chExt cx="595" cy="384"/>
                </a:xfrm>
              </p:grpSpPr>
              <p:sp>
                <p:nvSpPr>
                  <p:cNvPr id="49376" name="Rectangle 10"/>
                  <p:cNvSpPr>
                    <a:spLocks noChangeArrowheads="1"/>
                  </p:cNvSpPr>
                  <p:nvPr/>
                </p:nvSpPr>
                <p:spPr bwMode="auto">
                  <a:xfrm>
                    <a:off x="638"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丰度 </a:t>
                    </a: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77" name="Rectangle 11"/>
                  <p:cNvSpPr>
                    <a:spLocks noChangeArrowheads="1"/>
                  </p:cNvSpPr>
                  <p:nvPr/>
                </p:nvSpPr>
                <p:spPr bwMode="auto">
                  <a:xfrm>
                    <a:off x="595"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66" name="Group 12"/>
                <p:cNvGrpSpPr>
                  <a:grpSpLocks/>
                </p:cNvGrpSpPr>
                <p:nvPr/>
              </p:nvGrpSpPr>
              <p:grpSpPr bwMode="auto">
                <a:xfrm>
                  <a:off x="1190" y="384"/>
                  <a:ext cx="595" cy="384"/>
                  <a:chOff x="1190" y="384"/>
                  <a:chExt cx="595" cy="384"/>
                </a:xfrm>
              </p:grpSpPr>
              <p:sp>
                <p:nvSpPr>
                  <p:cNvPr id="49374" name="Rectangle 13"/>
                  <p:cNvSpPr>
                    <a:spLocks noChangeArrowheads="1"/>
                  </p:cNvSpPr>
                  <p:nvPr/>
                </p:nvSpPr>
                <p:spPr bwMode="auto">
                  <a:xfrm>
                    <a:off x="1233"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元  素</a:t>
                    </a:r>
                  </a:p>
                  <a:p>
                    <a:pPr algn="ctr">
                      <a:lnSpc>
                        <a:spcPct val="100000"/>
                      </a:lnSpc>
                    </a:pPr>
                    <a:endParaRPr lang="en-US" altLang="zh-CN" sz="1800">
                      <a:latin typeface="Times New Roman" pitchFamily="18" charset="0"/>
                    </a:endParaRPr>
                  </a:p>
                </p:txBody>
              </p:sp>
              <p:sp>
                <p:nvSpPr>
                  <p:cNvPr id="49375" name="Rectangle 14"/>
                  <p:cNvSpPr>
                    <a:spLocks noChangeArrowheads="1"/>
                  </p:cNvSpPr>
                  <p:nvPr/>
                </p:nvSpPr>
                <p:spPr bwMode="auto">
                  <a:xfrm>
                    <a:off x="1190"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67" name="Group 15"/>
                <p:cNvGrpSpPr>
                  <a:grpSpLocks/>
                </p:cNvGrpSpPr>
                <p:nvPr/>
              </p:nvGrpSpPr>
              <p:grpSpPr bwMode="auto">
                <a:xfrm>
                  <a:off x="1785" y="384"/>
                  <a:ext cx="595" cy="384"/>
                  <a:chOff x="1785" y="384"/>
                  <a:chExt cx="595" cy="384"/>
                </a:xfrm>
              </p:grpSpPr>
              <p:sp>
                <p:nvSpPr>
                  <p:cNvPr id="49372" name="Rectangle 16"/>
                  <p:cNvSpPr>
                    <a:spLocks noChangeArrowheads="1"/>
                  </p:cNvSpPr>
                  <p:nvPr/>
                </p:nvSpPr>
                <p:spPr bwMode="auto">
                  <a:xfrm>
                    <a:off x="1828"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丰度 </a:t>
                    </a: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73" name="Rectangle 17"/>
                  <p:cNvSpPr>
                    <a:spLocks noChangeArrowheads="1"/>
                  </p:cNvSpPr>
                  <p:nvPr/>
                </p:nvSpPr>
                <p:spPr bwMode="auto">
                  <a:xfrm>
                    <a:off x="1785"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68" name="Group 18"/>
                <p:cNvGrpSpPr>
                  <a:grpSpLocks/>
                </p:cNvGrpSpPr>
                <p:nvPr/>
              </p:nvGrpSpPr>
              <p:grpSpPr bwMode="auto">
                <a:xfrm>
                  <a:off x="2380" y="384"/>
                  <a:ext cx="595" cy="384"/>
                  <a:chOff x="2380" y="384"/>
                  <a:chExt cx="595" cy="384"/>
                </a:xfrm>
              </p:grpSpPr>
              <p:sp>
                <p:nvSpPr>
                  <p:cNvPr id="49370" name="Rectangle 19"/>
                  <p:cNvSpPr>
                    <a:spLocks noChangeArrowheads="1"/>
                  </p:cNvSpPr>
                  <p:nvPr/>
                </p:nvSpPr>
                <p:spPr bwMode="auto">
                  <a:xfrm>
                    <a:off x="2423"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元  素</a:t>
                    </a:r>
                  </a:p>
                  <a:p>
                    <a:pPr algn="ctr">
                      <a:lnSpc>
                        <a:spcPct val="100000"/>
                      </a:lnSpc>
                    </a:pPr>
                    <a:endParaRPr lang="en-US" altLang="zh-CN" sz="1800">
                      <a:latin typeface="Times New Roman" pitchFamily="18" charset="0"/>
                    </a:endParaRPr>
                  </a:p>
                </p:txBody>
              </p:sp>
              <p:sp>
                <p:nvSpPr>
                  <p:cNvPr id="49371" name="Rectangle 20"/>
                  <p:cNvSpPr>
                    <a:spLocks noChangeArrowheads="1"/>
                  </p:cNvSpPr>
                  <p:nvPr/>
                </p:nvSpPr>
                <p:spPr bwMode="auto">
                  <a:xfrm>
                    <a:off x="2380"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69" name="Group 21"/>
                <p:cNvGrpSpPr>
                  <a:grpSpLocks/>
                </p:cNvGrpSpPr>
                <p:nvPr/>
              </p:nvGrpSpPr>
              <p:grpSpPr bwMode="auto">
                <a:xfrm>
                  <a:off x="2975" y="384"/>
                  <a:ext cx="595" cy="384"/>
                  <a:chOff x="2975" y="384"/>
                  <a:chExt cx="595" cy="384"/>
                </a:xfrm>
              </p:grpSpPr>
              <p:sp>
                <p:nvSpPr>
                  <p:cNvPr id="49368" name="Rectangle 22"/>
                  <p:cNvSpPr>
                    <a:spLocks noChangeArrowheads="1"/>
                  </p:cNvSpPr>
                  <p:nvPr/>
                </p:nvSpPr>
                <p:spPr bwMode="auto">
                  <a:xfrm>
                    <a:off x="3018" y="38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zh-CN" altLang="en-US" sz="1800">
                        <a:latin typeface="Times New Roman" pitchFamily="18" charset="0"/>
                      </a:rPr>
                      <a:t>丰度 </a:t>
                    </a: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69" name="Rectangle 23"/>
                  <p:cNvSpPr>
                    <a:spLocks noChangeArrowheads="1"/>
                  </p:cNvSpPr>
                  <p:nvPr/>
                </p:nvSpPr>
                <p:spPr bwMode="auto">
                  <a:xfrm>
                    <a:off x="2975" y="38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0" name="Group 24"/>
                <p:cNvGrpSpPr>
                  <a:grpSpLocks/>
                </p:cNvGrpSpPr>
                <p:nvPr/>
              </p:nvGrpSpPr>
              <p:grpSpPr bwMode="auto">
                <a:xfrm>
                  <a:off x="0" y="768"/>
                  <a:ext cx="595" cy="384"/>
                  <a:chOff x="0" y="768"/>
                  <a:chExt cx="595" cy="384"/>
                </a:xfrm>
              </p:grpSpPr>
              <p:sp>
                <p:nvSpPr>
                  <p:cNvPr id="49366" name="Rectangle 25"/>
                  <p:cNvSpPr>
                    <a:spLocks noChangeArrowheads="1"/>
                  </p:cNvSpPr>
                  <p:nvPr/>
                </p:nvSpPr>
                <p:spPr bwMode="auto">
                  <a:xfrm>
                    <a:off x="43"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a:t>
                    </a:r>
                    <a:r>
                      <a:rPr lang="en-US" altLang="zh-CN" sz="1800">
                        <a:latin typeface="Times New Roman" pitchFamily="18" charset="0"/>
                      </a:rPr>
                      <a:t>H</a:t>
                    </a:r>
                  </a:p>
                  <a:p>
                    <a:pPr algn="ctr">
                      <a:lnSpc>
                        <a:spcPct val="100000"/>
                      </a:lnSpc>
                    </a:pPr>
                    <a:endParaRPr lang="en-US" altLang="zh-CN" sz="1800">
                      <a:latin typeface="Times New Roman" pitchFamily="18" charset="0"/>
                    </a:endParaRPr>
                  </a:p>
                </p:txBody>
              </p:sp>
              <p:sp>
                <p:nvSpPr>
                  <p:cNvPr id="49367" name="Rectangle 26"/>
                  <p:cNvSpPr>
                    <a:spLocks noChangeArrowheads="1"/>
                  </p:cNvSpPr>
                  <p:nvPr/>
                </p:nvSpPr>
                <p:spPr bwMode="auto">
                  <a:xfrm>
                    <a:off x="0"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1" name="Group 27"/>
                <p:cNvGrpSpPr>
                  <a:grpSpLocks/>
                </p:cNvGrpSpPr>
                <p:nvPr/>
              </p:nvGrpSpPr>
              <p:grpSpPr bwMode="auto">
                <a:xfrm>
                  <a:off x="595" y="768"/>
                  <a:ext cx="595" cy="384"/>
                  <a:chOff x="595" y="768"/>
                  <a:chExt cx="595" cy="384"/>
                </a:xfrm>
              </p:grpSpPr>
              <p:sp>
                <p:nvSpPr>
                  <p:cNvPr id="49364" name="Rectangle 28"/>
                  <p:cNvSpPr>
                    <a:spLocks noChangeArrowheads="1"/>
                  </p:cNvSpPr>
                  <p:nvPr/>
                </p:nvSpPr>
                <p:spPr bwMode="auto">
                  <a:xfrm>
                    <a:off x="638"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65" name="Rectangle 29"/>
                  <p:cNvSpPr>
                    <a:spLocks noChangeArrowheads="1"/>
                  </p:cNvSpPr>
                  <p:nvPr/>
                </p:nvSpPr>
                <p:spPr bwMode="auto">
                  <a:xfrm>
                    <a:off x="595"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2" name="Group 30"/>
                <p:cNvGrpSpPr>
                  <a:grpSpLocks/>
                </p:cNvGrpSpPr>
                <p:nvPr/>
              </p:nvGrpSpPr>
              <p:grpSpPr bwMode="auto">
                <a:xfrm>
                  <a:off x="1190" y="768"/>
                  <a:ext cx="595" cy="384"/>
                  <a:chOff x="1190" y="768"/>
                  <a:chExt cx="595" cy="384"/>
                </a:xfrm>
              </p:grpSpPr>
              <p:sp>
                <p:nvSpPr>
                  <p:cNvPr id="49362" name="Rectangle 31"/>
                  <p:cNvSpPr>
                    <a:spLocks noChangeArrowheads="1"/>
                  </p:cNvSpPr>
                  <p:nvPr/>
                </p:nvSpPr>
                <p:spPr bwMode="auto">
                  <a:xfrm>
                    <a:off x="1233"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2</a:t>
                    </a:r>
                    <a:r>
                      <a:rPr lang="en-US" altLang="zh-CN" sz="1800">
                        <a:latin typeface="Times New Roman" pitchFamily="18" charset="0"/>
                      </a:rPr>
                      <a:t>H</a:t>
                    </a:r>
                  </a:p>
                  <a:p>
                    <a:pPr algn="ctr">
                      <a:lnSpc>
                        <a:spcPct val="100000"/>
                      </a:lnSpc>
                    </a:pPr>
                    <a:endParaRPr lang="en-US" altLang="zh-CN" sz="1800">
                      <a:latin typeface="Times New Roman" pitchFamily="18" charset="0"/>
                    </a:endParaRPr>
                  </a:p>
                </p:txBody>
              </p:sp>
              <p:sp>
                <p:nvSpPr>
                  <p:cNvPr id="49363" name="Rectangle 32"/>
                  <p:cNvSpPr>
                    <a:spLocks noChangeArrowheads="1"/>
                  </p:cNvSpPr>
                  <p:nvPr/>
                </p:nvSpPr>
                <p:spPr bwMode="auto">
                  <a:xfrm>
                    <a:off x="1190"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3" name="Group 33"/>
                <p:cNvGrpSpPr>
                  <a:grpSpLocks/>
                </p:cNvGrpSpPr>
                <p:nvPr/>
              </p:nvGrpSpPr>
              <p:grpSpPr bwMode="auto">
                <a:xfrm>
                  <a:off x="1785" y="768"/>
                  <a:ext cx="595" cy="384"/>
                  <a:chOff x="1785" y="768"/>
                  <a:chExt cx="595" cy="384"/>
                </a:xfrm>
              </p:grpSpPr>
              <p:sp>
                <p:nvSpPr>
                  <p:cNvPr id="49360" name="Rectangle 34"/>
                  <p:cNvSpPr>
                    <a:spLocks noChangeArrowheads="1"/>
                  </p:cNvSpPr>
                  <p:nvPr/>
                </p:nvSpPr>
                <p:spPr bwMode="auto">
                  <a:xfrm>
                    <a:off x="1828"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0.015</a:t>
                    </a:r>
                  </a:p>
                  <a:p>
                    <a:pPr algn="just">
                      <a:lnSpc>
                        <a:spcPct val="100000"/>
                      </a:lnSpc>
                    </a:pPr>
                    <a:endParaRPr lang="en-US" altLang="zh-CN" sz="1800">
                      <a:latin typeface="Times New Roman" pitchFamily="18" charset="0"/>
                    </a:endParaRPr>
                  </a:p>
                </p:txBody>
              </p:sp>
              <p:sp>
                <p:nvSpPr>
                  <p:cNvPr id="49361" name="Rectangle 35"/>
                  <p:cNvSpPr>
                    <a:spLocks noChangeArrowheads="1"/>
                  </p:cNvSpPr>
                  <p:nvPr/>
                </p:nvSpPr>
                <p:spPr bwMode="auto">
                  <a:xfrm>
                    <a:off x="1785"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4" name="Group 36"/>
                <p:cNvGrpSpPr>
                  <a:grpSpLocks/>
                </p:cNvGrpSpPr>
                <p:nvPr/>
              </p:nvGrpSpPr>
              <p:grpSpPr bwMode="auto">
                <a:xfrm>
                  <a:off x="2380" y="768"/>
                  <a:ext cx="595" cy="384"/>
                  <a:chOff x="2380" y="768"/>
                  <a:chExt cx="595" cy="384"/>
                </a:xfrm>
              </p:grpSpPr>
              <p:sp>
                <p:nvSpPr>
                  <p:cNvPr id="49358" name="Rectangle 37"/>
                  <p:cNvSpPr>
                    <a:spLocks noChangeArrowheads="1"/>
                  </p:cNvSpPr>
                  <p:nvPr/>
                </p:nvSpPr>
                <p:spPr bwMode="auto">
                  <a:xfrm>
                    <a:off x="2423"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59" name="Rectangle 38"/>
                  <p:cNvSpPr>
                    <a:spLocks noChangeArrowheads="1"/>
                  </p:cNvSpPr>
                  <p:nvPr/>
                </p:nvSpPr>
                <p:spPr bwMode="auto">
                  <a:xfrm>
                    <a:off x="2380"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5" name="Group 39"/>
                <p:cNvGrpSpPr>
                  <a:grpSpLocks/>
                </p:cNvGrpSpPr>
                <p:nvPr/>
              </p:nvGrpSpPr>
              <p:grpSpPr bwMode="auto">
                <a:xfrm>
                  <a:off x="2975" y="768"/>
                  <a:ext cx="595" cy="384"/>
                  <a:chOff x="2975" y="768"/>
                  <a:chExt cx="595" cy="384"/>
                </a:xfrm>
              </p:grpSpPr>
              <p:sp>
                <p:nvSpPr>
                  <p:cNvPr id="49356" name="Rectangle 40"/>
                  <p:cNvSpPr>
                    <a:spLocks noChangeArrowheads="1"/>
                  </p:cNvSpPr>
                  <p:nvPr/>
                </p:nvSpPr>
                <p:spPr bwMode="auto">
                  <a:xfrm>
                    <a:off x="3018" y="76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57" name="Rectangle 41"/>
                  <p:cNvSpPr>
                    <a:spLocks noChangeArrowheads="1"/>
                  </p:cNvSpPr>
                  <p:nvPr/>
                </p:nvSpPr>
                <p:spPr bwMode="auto">
                  <a:xfrm>
                    <a:off x="2975" y="76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6" name="Group 42"/>
                <p:cNvGrpSpPr>
                  <a:grpSpLocks/>
                </p:cNvGrpSpPr>
                <p:nvPr/>
              </p:nvGrpSpPr>
              <p:grpSpPr bwMode="auto">
                <a:xfrm>
                  <a:off x="0" y="1152"/>
                  <a:ext cx="595" cy="384"/>
                  <a:chOff x="0" y="1152"/>
                  <a:chExt cx="595" cy="384"/>
                </a:xfrm>
              </p:grpSpPr>
              <p:sp>
                <p:nvSpPr>
                  <p:cNvPr id="49354" name="Rectangle 43"/>
                  <p:cNvSpPr>
                    <a:spLocks noChangeArrowheads="1"/>
                  </p:cNvSpPr>
                  <p:nvPr/>
                </p:nvSpPr>
                <p:spPr bwMode="auto">
                  <a:xfrm>
                    <a:off x="43"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12</a:t>
                    </a:r>
                    <a:r>
                      <a:rPr lang="en-US" altLang="zh-CN" sz="1800">
                        <a:latin typeface="Times New Roman" pitchFamily="18" charset="0"/>
                      </a:rPr>
                      <a:t>C</a:t>
                    </a:r>
                  </a:p>
                  <a:p>
                    <a:pPr algn="ctr">
                      <a:lnSpc>
                        <a:spcPct val="100000"/>
                      </a:lnSpc>
                    </a:pPr>
                    <a:endParaRPr lang="en-US" altLang="zh-CN" sz="1800">
                      <a:latin typeface="Times New Roman" pitchFamily="18" charset="0"/>
                    </a:endParaRPr>
                  </a:p>
                </p:txBody>
              </p:sp>
              <p:sp>
                <p:nvSpPr>
                  <p:cNvPr id="49355" name="Rectangle 44"/>
                  <p:cNvSpPr>
                    <a:spLocks noChangeArrowheads="1"/>
                  </p:cNvSpPr>
                  <p:nvPr/>
                </p:nvSpPr>
                <p:spPr bwMode="auto">
                  <a:xfrm>
                    <a:off x="0"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7" name="Group 45"/>
                <p:cNvGrpSpPr>
                  <a:grpSpLocks/>
                </p:cNvGrpSpPr>
                <p:nvPr/>
              </p:nvGrpSpPr>
              <p:grpSpPr bwMode="auto">
                <a:xfrm>
                  <a:off x="595" y="1152"/>
                  <a:ext cx="595" cy="384"/>
                  <a:chOff x="595" y="1152"/>
                  <a:chExt cx="595" cy="384"/>
                </a:xfrm>
              </p:grpSpPr>
              <p:sp>
                <p:nvSpPr>
                  <p:cNvPr id="49352" name="Rectangle 46"/>
                  <p:cNvSpPr>
                    <a:spLocks noChangeArrowheads="1"/>
                  </p:cNvSpPr>
                  <p:nvPr/>
                </p:nvSpPr>
                <p:spPr bwMode="auto">
                  <a:xfrm>
                    <a:off x="638"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53" name="Rectangle 47"/>
                  <p:cNvSpPr>
                    <a:spLocks noChangeArrowheads="1"/>
                  </p:cNvSpPr>
                  <p:nvPr/>
                </p:nvSpPr>
                <p:spPr bwMode="auto">
                  <a:xfrm>
                    <a:off x="595"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8" name="Group 48"/>
                <p:cNvGrpSpPr>
                  <a:grpSpLocks/>
                </p:cNvGrpSpPr>
                <p:nvPr/>
              </p:nvGrpSpPr>
              <p:grpSpPr bwMode="auto">
                <a:xfrm>
                  <a:off x="1190" y="1152"/>
                  <a:ext cx="595" cy="384"/>
                  <a:chOff x="1190" y="1152"/>
                  <a:chExt cx="595" cy="384"/>
                </a:xfrm>
              </p:grpSpPr>
              <p:sp>
                <p:nvSpPr>
                  <p:cNvPr id="49350" name="Rectangle 49"/>
                  <p:cNvSpPr>
                    <a:spLocks noChangeArrowheads="1"/>
                  </p:cNvSpPr>
                  <p:nvPr/>
                </p:nvSpPr>
                <p:spPr bwMode="auto">
                  <a:xfrm>
                    <a:off x="1233"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13</a:t>
                    </a:r>
                    <a:r>
                      <a:rPr lang="en-US" altLang="zh-CN" sz="1800">
                        <a:latin typeface="Times New Roman" pitchFamily="18" charset="0"/>
                      </a:rPr>
                      <a:t>C</a:t>
                    </a:r>
                  </a:p>
                  <a:p>
                    <a:pPr algn="ctr">
                      <a:lnSpc>
                        <a:spcPct val="100000"/>
                      </a:lnSpc>
                    </a:pPr>
                    <a:endParaRPr lang="en-US" altLang="zh-CN" sz="1800">
                      <a:latin typeface="Times New Roman" pitchFamily="18" charset="0"/>
                    </a:endParaRPr>
                  </a:p>
                </p:txBody>
              </p:sp>
              <p:sp>
                <p:nvSpPr>
                  <p:cNvPr id="49351" name="Rectangle 50"/>
                  <p:cNvSpPr>
                    <a:spLocks noChangeArrowheads="1"/>
                  </p:cNvSpPr>
                  <p:nvPr/>
                </p:nvSpPr>
                <p:spPr bwMode="auto">
                  <a:xfrm>
                    <a:off x="1190"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79" name="Group 51"/>
                <p:cNvGrpSpPr>
                  <a:grpSpLocks/>
                </p:cNvGrpSpPr>
                <p:nvPr/>
              </p:nvGrpSpPr>
              <p:grpSpPr bwMode="auto">
                <a:xfrm>
                  <a:off x="1785" y="1152"/>
                  <a:ext cx="595" cy="384"/>
                  <a:chOff x="1785" y="1152"/>
                  <a:chExt cx="595" cy="384"/>
                </a:xfrm>
              </p:grpSpPr>
              <p:sp>
                <p:nvSpPr>
                  <p:cNvPr id="49348" name="Rectangle 52"/>
                  <p:cNvSpPr>
                    <a:spLocks noChangeArrowheads="1"/>
                  </p:cNvSpPr>
                  <p:nvPr/>
                </p:nvSpPr>
                <p:spPr bwMode="auto">
                  <a:xfrm>
                    <a:off x="1828"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1.1</a:t>
                    </a:r>
                  </a:p>
                  <a:p>
                    <a:pPr algn="just">
                      <a:lnSpc>
                        <a:spcPct val="100000"/>
                      </a:lnSpc>
                    </a:pPr>
                    <a:endParaRPr lang="en-US" altLang="zh-CN" sz="1800">
                      <a:latin typeface="Times New Roman" pitchFamily="18" charset="0"/>
                    </a:endParaRPr>
                  </a:p>
                </p:txBody>
              </p:sp>
              <p:sp>
                <p:nvSpPr>
                  <p:cNvPr id="49349" name="Rectangle 53"/>
                  <p:cNvSpPr>
                    <a:spLocks noChangeArrowheads="1"/>
                  </p:cNvSpPr>
                  <p:nvPr/>
                </p:nvSpPr>
                <p:spPr bwMode="auto">
                  <a:xfrm>
                    <a:off x="1785"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0" name="Group 54"/>
                <p:cNvGrpSpPr>
                  <a:grpSpLocks/>
                </p:cNvGrpSpPr>
                <p:nvPr/>
              </p:nvGrpSpPr>
              <p:grpSpPr bwMode="auto">
                <a:xfrm>
                  <a:off x="2380" y="1152"/>
                  <a:ext cx="595" cy="384"/>
                  <a:chOff x="2380" y="1152"/>
                  <a:chExt cx="595" cy="384"/>
                </a:xfrm>
              </p:grpSpPr>
              <p:sp>
                <p:nvSpPr>
                  <p:cNvPr id="49346" name="Rectangle 55"/>
                  <p:cNvSpPr>
                    <a:spLocks noChangeArrowheads="1"/>
                  </p:cNvSpPr>
                  <p:nvPr/>
                </p:nvSpPr>
                <p:spPr bwMode="auto">
                  <a:xfrm>
                    <a:off x="2423"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47" name="Rectangle 56"/>
                  <p:cNvSpPr>
                    <a:spLocks noChangeArrowheads="1"/>
                  </p:cNvSpPr>
                  <p:nvPr/>
                </p:nvSpPr>
                <p:spPr bwMode="auto">
                  <a:xfrm>
                    <a:off x="2380"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1" name="Group 57"/>
                <p:cNvGrpSpPr>
                  <a:grpSpLocks/>
                </p:cNvGrpSpPr>
                <p:nvPr/>
              </p:nvGrpSpPr>
              <p:grpSpPr bwMode="auto">
                <a:xfrm>
                  <a:off x="2975" y="1152"/>
                  <a:ext cx="595" cy="384"/>
                  <a:chOff x="2975" y="1152"/>
                  <a:chExt cx="595" cy="384"/>
                </a:xfrm>
              </p:grpSpPr>
              <p:sp>
                <p:nvSpPr>
                  <p:cNvPr id="49344" name="Rectangle 58"/>
                  <p:cNvSpPr>
                    <a:spLocks noChangeArrowheads="1"/>
                  </p:cNvSpPr>
                  <p:nvPr/>
                </p:nvSpPr>
                <p:spPr bwMode="auto">
                  <a:xfrm>
                    <a:off x="3018" y="115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45" name="Rectangle 59"/>
                  <p:cNvSpPr>
                    <a:spLocks noChangeArrowheads="1"/>
                  </p:cNvSpPr>
                  <p:nvPr/>
                </p:nvSpPr>
                <p:spPr bwMode="auto">
                  <a:xfrm>
                    <a:off x="2975" y="115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2" name="Group 60"/>
                <p:cNvGrpSpPr>
                  <a:grpSpLocks/>
                </p:cNvGrpSpPr>
                <p:nvPr/>
              </p:nvGrpSpPr>
              <p:grpSpPr bwMode="auto">
                <a:xfrm>
                  <a:off x="0" y="1536"/>
                  <a:ext cx="595" cy="384"/>
                  <a:chOff x="0" y="1536"/>
                  <a:chExt cx="595" cy="384"/>
                </a:xfrm>
              </p:grpSpPr>
              <p:sp>
                <p:nvSpPr>
                  <p:cNvPr id="49342" name="Rectangle 61"/>
                  <p:cNvSpPr>
                    <a:spLocks noChangeArrowheads="1"/>
                  </p:cNvSpPr>
                  <p:nvPr/>
                </p:nvSpPr>
                <p:spPr bwMode="auto">
                  <a:xfrm>
                    <a:off x="43"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14</a:t>
                    </a:r>
                    <a:r>
                      <a:rPr lang="en-US" altLang="zh-CN" sz="1800">
                        <a:latin typeface="Times New Roman" pitchFamily="18" charset="0"/>
                      </a:rPr>
                      <a:t>N</a:t>
                    </a:r>
                  </a:p>
                  <a:p>
                    <a:pPr algn="ctr">
                      <a:lnSpc>
                        <a:spcPct val="100000"/>
                      </a:lnSpc>
                    </a:pPr>
                    <a:endParaRPr lang="en-US" altLang="zh-CN" sz="1800">
                      <a:latin typeface="Times New Roman" pitchFamily="18" charset="0"/>
                    </a:endParaRPr>
                  </a:p>
                </p:txBody>
              </p:sp>
              <p:sp>
                <p:nvSpPr>
                  <p:cNvPr id="49343" name="Rectangle 62"/>
                  <p:cNvSpPr>
                    <a:spLocks noChangeArrowheads="1"/>
                  </p:cNvSpPr>
                  <p:nvPr/>
                </p:nvSpPr>
                <p:spPr bwMode="auto">
                  <a:xfrm>
                    <a:off x="0"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3" name="Group 63"/>
                <p:cNvGrpSpPr>
                  <a:grpSpLocks/>
                </p:cNvGrpSpPr>
                <p:nvPr/>
              </p:nvGrpSpPr>
              <p:grpSpPr bwMode="auto">
                <a:xfrm>
                  <a:off x="595" y="1536"/>
                  <a:ext cx="595" cy="384"/>
                  <a:chOff x="595" y="1536"/>
                  <a:chExt cx="595" cy="384"/>
                </a:xfrm>
              </p:grpSpPr>
              <p:sp>
                <p:nvSpPr>
                  <p:cNvPr id="49340" name="Rectangle 64"/>
                  <p:cNvSpPr>
                    <a:spLocks noChangeArrowheads="1"/>
                  </p:cNvSpPr>
                  <p:nvPr/>
                </p:nvSpPr>
                <p:spPr bwMode="auto">
                  <a:xfrm>
                    <a:off x="638"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41" name="Rectangle 65"/>
                  <p:cNvSpPr>
                    <a:spLocks noChangeArrowheads="1"/>
                  </p:cNvSpPr>
                  <p:nvPr/>
                </p:nvSpPr>
                <p:spPr bwMode="auto">
                  <a:xfrm>
                    <a:off x="595"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4" name="Group 66"/>
                <p:cNvGrpSpPr>
                  <a:grpSpLocks/>
                </p:cNvGrpSpPr>
                <p:nvPr/>
              </p:nvGrpSpPr>
              <p:grpSpPr bwMode="auto">
                <a:xfrm>
                  <a:off x="1190" y="1536"/>
                  <a:ext cx="595" cy="384"/>
                  <a:chOff x="1190" y="1536"/>
                  <a:chExt cx="595" cy="384"/>
                </a:xfrm>
              </p:grpSpPr>
              <p:sp>
                <p:nvSpPr>
                  <p:cNvPr id="49338" name="Rectangle 67"/>
                  <p:cNvSpPr>
                    <a:spLocks noChangeArrowheads="1"/>
                  </p:cNvSpPr>
                  <p:nvPr/>
                </p:nvSpPr>
                <p:spPr bwMode="auto">
                  <a:xfrm>
                    <a:off x="1233"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15</a:t>
                    </a:r>
                    <a:r>
                      <a:rPr lang="en-US" altLang="zh-CN" sz="1800">
                        <a:latin typeface="Times New Roman" pitchFamily="18" charset="0"/>
                      </a:rPr>
                      <a:t>N</a:t>
                    </a:r>
                  </a:p>
                  <a:p>
                    <a:pPr algn="ctr">
                      <a:lnSpc>
                        <a:spcPct val="100000"/>
                      </a:lnSpc>
                    </a:pPr>
                    <a:endParaRPr lang="en-US" altLang="zh-CN" sz="1800">
                      <a:latin typeface="Times New Roman" pitchFamily="18" charset="0"/>
                    </a:endParaRPr>
                  </a:p>
                </p:txBody>
              </p:sp>
              <p:sp>
                <p:nvSpPr>
                  <p:cNvPr id="49339" name="Rectangle 68"/>
                  <p:cNvSpPr>
                    <a:spLocks noChangeArrowheads="1"/>
                  </p:cNvSpPr>
                  <p:nvPr/>
                </p:nvSpPr>
                <p:spPr bwMode="auto">
                  <a:xfrm>
                    <a:off x="1190"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5" name="Group 69"/>
                <p:cNvGrpSpPr>
                  <a:grpSpLocks/>
                </p:cNvGrpSpPr>
                <p:nvPr/>
              </p:nvGrpSpPr>
              <p:grpSpPr bwMode="auto">
                <a:xfrm>
                  <a:off x="1785" y="1536"/>
                  <a:ext cx="595" cy="384"/>
                  <a:chOff x="1785" y="1536"/>
                  <a:chExt cx="595" cy="384"/>
                </a:xfrm>
              </p:grpSpPr>
              <p:sp>
                <p:nvSpPr>
                  <p:cNvPr id="49336" name="Rectangle 70"/>
                  <p:cNvSpPr>
                    <a:spLocks noChangeArrowheads="1"/>
                  </p:cNvSpPr>
                  <p:nvPr/>
                </p:nvSpPr>
                <p:spPr bwMode="auto">
                  <a:xfrm>
                    <a:off x="1828"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0.36</a:t>
                    </a:r>
                  </a:p>
                  <a:p>
                    <a:pPr algn="just">
                      <a:lnSpc>
                        <a:spcPct val="100000"/>
                      </a:lnSpc>
                    </a:pPr>
                    <a:endParaRPr lang="en-US" altLang="zh-CN" sz="1800">
                      <a:latin typeface="Times New Roman" pitchFamily="18" charset="0"/>
                    </a:endParaRPr>
                  </a:p>
                </p:txBody>
              </p:sp>
              <p:sp>
                <p:nvSpPr>
                  <p:cNvPr id="49337" name="Rectangle 71"/>
                  <p:cNvSpPr>
                    <a:spLocks noChangeArrowheads="1"/>
                  </p:cNvSpPr>
                  <p:nvPr/>
                </p:nvSpPr>
                <p:spPr bwMode="auto">
                  <a:xfrm>
                    <a:off x="1785"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6" name="Group 72"/>
                <p:cNvGrpSpPr>
                  <a:grpSpLocks/>
                </p:cNvGrpSpPr>
                <p:nvPr/>
              </p:nvGrpSpPr>
              <p:grpSpPr bwMode="auto">
                <a:xfrm>
                  <a:off x="2380" y="1536"/>
                  <a:ext cx="595" cy="384"/>
                  <a:chOff x="2380" y="1536"/>
                  <a:chExt cx="595" cy="384"/>
                </a:xfrm>
              </p:grpSpPr>
              <p:sp>
                <p:nvSpPr>
                  <p:cNvPr id="49334" name="Rectangle 73"/>
                  <p:cNvSpPr>
                    <a:spLocks noChangeArrowheads="1"/>
                  </p:cNvSpPr>
                  <p:nvPr/>
                </p:nvSpPr>
                <p:spPr bwMode="auto">
                  <a:xfrm>
                    <a:off x="2423"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35" name="Rectangle 74"/>
                  <p:cNvSpPr>
                    <a:spLocks noChangeArrowheads="1"/>
                  </p:cNvSpPr>
                  <p:nvPr/>
                </p:nvSpPr>
                <p:spPr bwMode="auto">
                  <a:xfrm>
                    <a:off x="2380"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7" name="Group 75"/>
                <p:cNvGrpSpPr>
                  <a:grpSpLocks/>
                </p:cNvGrpSpPr>
                <p:nvPr/>
              </p:nvGrpSpPr>
              <p:grpSpPr bwMode="auto">
                <a:xfrm>
                  <a:off x="2975" y="1536"/>
                  <a:ext cx="595" cy="384"/>
                  <a:chOff x="2975" y="1536"/>
                  <a:chExt cx="595" cy="384"/>
                </a:xfrm>
              </p:grpSpPr>
              <p:sp>
                <p:nvSpPr>
                  <p:cNvPr id="49332" name="Rectangle 76"/>
                  <p:cNvSpPr>
                    <a:spLocks noChangeArrowheads="1"/>
                  </p:cNvSpPr>
                  <p:nvPr/>
                </p:nvSpPr>
                <p:spPr bwMode="auto">
                  <a:xfrm>
                    <a:off x="3018" y="153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333" name="Rectangle 77"/>
                  <p:cNvSpPr>
                    <a:spLocks noChangeArrowheads="1"/>
                  </p:cNvSpPr>
                  <p:nvPr/>
                </p:nvSpPr>
                <p:spPr bwMode="auto">
                  <a:xfrm>
                    <a:off x="2975" y="153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8" name="Group 78"/>
                <p:cNvGrpSpPr>
                  <a:grpSpLocks/>
                </p:cNvGrpSpPr>
                <p:nvPr/>
              </p:nvGrpSpPr>
              <p:grpSpPr bwMode="auto">
                <a:xfrm>
                  <a:off x="0" y="1920"/>
                  <a:ext cx="595" cy="384"/>
                  <a:chOff x="0" y="1920"/>
                  <a:chExt cx="595" cy="384"/>
                </a:xfrm>
              </p:grpSpPr>
              <p:sp>
                <p:nvSpPr>
                  <p:cNvPr id="49330" name="Rectangle 79"/>
                  <p:cNvSpPr>
                    <a:spLocks noChangeArrowheads="1"/>
                  </p:cNvSpPr>
                  <p:nvPr/>
                </p:nvSpPr>
                <p:spPr bwMode="auto">
                  <a:xfrm>
                    <a:off x="43"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16</a:t>
                    </a:r>
                    <a:r>
                      <a:rPr lang="en-US" altLang="zh-CN" sz="1800">
                        <a:latin typeface="Times New Roman" pitchFamily="18" charset="0"/>
                      </a:rPr>
                      <a:t>O</a:t>
                    </a:r>
                  </a:p>
                  <a:p>
                    <a:pPr algn="ctr">
                      <a:lnSpc>
                        <a:spcPct val="100000"/>
                      </a:lnSpc>
                    </a:pPr>
                    <a:endParaRPr lang="en-US" altLang="zh-CN" sz="1800">
                      <a:latin typeface="Times New Roman" pitchFamily="18" charset="0"/>
                    </a:endParaRPr>
                  </a:p>
                </p:txBody>
              </p:sp>
              <p:sp>
                <p:nvSpPr>
                  <p:cNvPr id="49331" name="Rectangle 80"/>
                  <p:cNvSpPr>
                    <a:spLocks noChangeArrowheads="1"/>
                  </p:cNvSpPr>
                  <p:nvPr/>
                </p:nvSpPr>
                <p:spPr bwMode="auto">
                  <a:xfrm>
                    <a:off x="0"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89" name="Group 81"/>
                <p:cNvGrpSpPr>
                  <a:grpSpLocks/>
                </p:cNvGrpSpPr>
                <p:nvPr/>
              </p:nvGrpSpPr>
              <p:grpSpPr bwMode="auto">
                <a:xfrm>
                  <a:off x="595" y="1920"/>
                  <a:ext cx="595" cy="384"/>
                  <a:chOff x="595" y="1920"/>
                  <a:chExt cx="595" cy="384"/>
                </a:xfrm>
              </p:grpSpPr>
              <p:sp>
                <p:nvSpPr>
                  <p:cNvPr id="49328" name="Rectangle 82"/>
                  <p:cNvSpPr>
                    <a:spLocks noChangeArrowheads="1"/>
                  </p:cNvSpPr>
                  <p:nvPr/>
                </p:nvSpPr>
                <p:spPr bwMode="auto">
                  <a:xfrm>
                    <a:off x="638"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29" name="Rectangle 83"/>
                  <p:cNvSpPr>
                    <a:spLocks noChangeArrowheads="1"/>
                  </p:cNvSpPr>
                  <p:nvPr/>
                </p:nvSpPr>
                <p:spPr bwMode="auto">
                  <a:xfrm>
                    <a:off x="595"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0" name="Group 84"/>
                <p:cNvGrpSpPr>
                  <a:grpSpLocks/>
                </p:cNvGrpSpPr>
                <p:nvPr/>
              </p:nvGrpSpPr>
              <p:grpSpPr bwMode="auto">
                <a:xfrm>
                  <a:off x="1190" y="1920"/>
                  <a:ext cx="595" cy="384"/>
                  <a:chOff x="1190" y="1920"/>
                  <a:chExt cx="595" cy="384"/>
                </a:xfrm>
              </p:grpSpPr>
              <p:sp>
                <p:nvSpPr>
                  <p:cNvPr id="49326" name="Rectangle 85"/>
                  <p:cNvSpPr>
                    <a:spLocks noChangeArrowheads="1"/>
                  </p:cNvSpPr>
                  <p:nvPr/>
                </p:nvSpPr>
                <p:spPr bwMode="auto">
                  <a:xfrm>
                    <a:off x="1233"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17</a:t>
                    </a:r>
                    <a:r>
                      <a:rPr lang="en-US" altLang="zh-CN" sz="1800">
                        <a:latin typeface="Times New Roman" pitchFamily="18" charset="0"/>
                      </a:rPr>
                      <a:t>O</a:t>
                    </a:r>
                  </a:p>
                  <a:p>
                    <a:pPr algn="ctr">
                      <a:lnSpc>
                        <a:spcPct val="100000"/>
                      </a:lnSpc>
                    </a:pPr>
                    <a:endParaRPr lang="en-US" altLang="zh-CN" sz="1800">
                      <a:latin typeface="Times New Roman" pitchFamily="18" charset="0"/>
                    </a:endParaRPr>
                  </a:p>
                </p:txBody>
              </p:sp>
              <p:sp>
                <p:nvSpPr>
                  <p:cNvPr id="49327" name="Rectangle 86"/>
                  <p:cNvSpPr>
                    <a:spLocks noChangeArrowheads="1"/>
                  </p:cNvSpPr>
                  <p:nvPr/>
                </p:nvSpPr>
                <p:spPr bwMode="auto">
                  <a:xfrm>
                    <a:off x="1190"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1" name="Group 87"/>
                <p:cNvGrpSpPr>
                  <a:grpSpLocks/>
                </p:cNvGrpSpPr>
                <p:nvPr/>
              </p:nvGrpSpPr>
              <p:grpSpPr bwMode="auto">
                <a:xfrm>
                  <a:off x="1785" y="1920"/>
                  <a:ext cx="595" cy="384"/>
                  <a:chOff x="1785" y="1920"/>
                  <a:chExt cx="595" cy="384"/>
                </a:xfrm>
              </p:grpSpPr>
              <p:sp>
                <p:nvSpPr>
                  <p:cNvPr id="49324" name="Rectangle 88"/>
                  <p:cNvSpPr>
                    <a:spLocks noChangeArrowheads="1"/>
                  </p:cNvSpPr>
                  <p:nvPr/>
                </p:nvSpPr>
                <p:spPr bwMode="auto">
                  <a:xfrm>
                    <a:off x="1828"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0.04</a:t>
                    </a:r>
                  </a:p>
                  <a:p>
                    <a:pPr algn="just">
                      <a:lnSpc>
                        <a:spcPct val="100000"/>
                      </a:lnSpc>
                    </a:pPr>
                    <a:endParaRPr lang="en-US" altLang="zh-CN" sz="1800">
                      <a:latin typeface="Times New Roman" pitchFamily="18" charset="0"/>
                    </a:endParaRPr>
                  </a:p>
                </p:txBody>
              </p:sp>
              <p:sp>
                <p:nvSpPr>
                  <p:cNvPr id="49325" name="Rectangle 89"/>
                  <p:cNvSpPr>
                    <a:spLocks noChangeArrowheads="1"/>
                  </p:cNvSpPr>
                  <p:nvPr/>
                </p:nvSpPr>
                <p:spPr bwMode="auto">
                  <a:xfrm>
                    <a:off x="1785"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2" name="Group 90"/>
                <p:cNvGrpSpPr>
                  <a:grpSpLocks/>
                </p:cNvGrpSpPr>
                <p:nvPr/>
              </p:nvGrpSpPr>
              <p:grpSpPr bwMode="auto">
                <a:xfrm>
                  <a:off x="2380" y="1920"/>
                  <a:ext cx="595" cy="384"/>
                  <a:chOff x="2380" y="1920"/>
                  <a:chExt cx="595" cy="384"/>
                </a:xfrm>
              </p:grpSpPr>
              <p:sp>
                <p:nvSpPr>
                  <p:cNvPr id="49322" name="Rectangle 91"/>
                  <p:cNvSpPr>
                    <a:spLocks noChangeArrowheads="1"/>
                  </p:cNvSpPr>
                  <p:nvPr/>
                </p:nvSpPr>
                <p:spPr bwMode="auto">
                  <a:xfrm>
                    <a:off x="2423"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18</a:t>
                    </a:r>
                    <a:r>
                      <a:rPr lang="en-US" altLang="zh-CN" sz="1800">
                        <a:latin typeface="Times New Roman" pitchFamily="18" charset="0"/>
                      </a:rPr>
                      <a:t>O</a:t>
                    </a:r>
                  </a:p>
                  <a:p>
                    <a:pPr algn="ctr">
                      <a:lnSpc>
                        <a:spcPct val="100000"/>
                      </a:lnSpc>
                    </a:pPr>
                    <a:endParaRPr lang="en-US" altLang="zh-CN" sz="1800">
                      <a:latin typeface="Times New Roman" pitchFamily="18" charset="0"/>
                    </a:endParaRPr>
                  </a:p>
                </p:txBody>
              </p:sp>
              <p:sp>
                <p:nvSpPr>
                  <p:cNvPr id="49323" name="Rectangle 92"/>
                  <p:cNvSpPr>
                    <a:spLocks noChangeArrowheads="1"/>
                  </p:cNvSpPr>
                  <p:nvPr/>
                </p:nvSpPr>
                <p:spPr bwMode="auto">
                  <a:xfrm>
                    <a:off x="2380"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3" name="Group 93"/>
                <p:cNvGrpSpPr>
                  <a:grpSpLocks/>
                </p:cNvGrpSpPr>
                <p:nvPr/>
              </p:nvGrpSpPr>
              <p:grpSpPr bwMode="auto">
                <a:xfrm>
                  <a:off x="2975" y="1920"/>
                  <a:ext cx="595" cy="384"/>
                  <a:chOff x="2975" y="1920"/>
                  <a:chExt cx="595" cy="384"/>
                </a:xfrm>
              </p:grpSpPr>
              <p:sp>
                <p:nvSpPr>
                  <p:cNvPr id="49320" name="Rectangle 94"/>
                  <p:cNvSpPr>
                    <a:spLocks noChangeArrowheads="1"/>
                  </p:cNvSpPr>
                  <p:nvPr/>
                </p:nvSpPr>
                <p:spPr bwMode="auto">
                  <a:xfrm>
                    <a:off x="3018" y="192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0.2</a:t>
                    </a:r>
                  </a:p>
                  <a:p>
                    <a:pPr algn="just">
                      <a:lnSpc>
                        <a:spcPct val="100000"/>
                      </a:lnSpc>
                    </a:pPr>
                    <a:endParaRPr lang="en-US" altLang="zh-CN" sz="1800">
                      <a:latin typeface="Times New Roman" pitchFamily="18" charset="0"/>
                    </a:endParaRPr>
                  </a:p>
                </p:txBody>
              </p:sp>
              <p:sp>
                <p:nvSpPr>
                  <p:cNvPr id="49321" name="Rectangle 95"/>
                  <p:cNvSpPr>
                    <a:spLocks noChangeArrowheads="1"/>
                  </p:cNvSpPr>
                  <p:nvPr/>
                </p:nvSpPr>
                <p:spPr bwMode="auto">
                  <a:xfrm>
                    <a:off x="2975" y="192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4" name="Group 96"/>
                <p:cNvGrpSpPr>
                  <a:grpSpLocks/>
                </p:cNvGrpSpPr>
                <p:nvPr/>
              </p:nvGrpSpPr>
              <p:grpSpPr bwMode="auto">
                <a:xfrm>
                  <a:off x="0" y="2304"/>
                  <a:ext cx="595" cy="384"/>
                  <a:chOff x="0" y="2304"/>
                  <a:chExt cx="595" cy="384"/>
                </a:xfrm>
              </p:grpSpPr>
              <p:sp>
                <p:nvSpPr>
                  <p:cNvPr id="49318" name="Rectangle 97"/>
                  <p:cNvSpPr>
                    <a:spLocks noChangeArrowheads="1"/>
                  </p:cNvSpPr>
                  <p:nvPr/>
                </p:nvSpPr>
                <p:spPr bwMode="auto">
                  <a:xfrm>
                    <a:off x="43"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28</a:t>
                    </a:r>
                    <a:r>
                      <a:rPr lang="en-US" altLang="zh-CN" sz="1800">
                        <a:latin typeface="Times New Roman" pitchFamily="18" charset="0"/>
                      </a:rPr>
                      <a:t>Si</a:t>
                    </a:r>
                  </a:p>
                  <a:p>
                    <a:pPr algn="ctr">
                      <a:lnSpc>
                        <a:spcPct val="100000"/>
                      </a:lnSpc>
                    </a:pPr>
                    <a:endParaRPr lang="en-US" altLang="zh-CN" sz="1800">
                      <a:latin typeface="Times New Roman" pitchFamily="18" charset="0"/>
                    </a:endParaRPr>
                  </a:p>
                </p:txBody>
              </p:sp>
              <p:sp>
                <p:nvSpPr>
                  <p:cNvPr id="49319" name="Rectangle 98"/>
                  <p:cNvSpPr>
                    <a:spLocks noChangeArrowheads="1"/>
                  </p:cNvSpPr>
                  <p:nvPr/>
                </p:nvSpPr>
                <p:spPr bwMode="auto">
                  <a:xfrm>
                    <a:off x="0"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5" name="Group 99"/>
                <p:cNvGrpSpPr>
                  <a:grpSpLocks/>
                </p:cNvGrpSpPr>
                <p:nvPr/>
              </p:nvGrpSpPr>
              <p:grpSpPr bwMode="auto">
                <a:xfrm>
                  <a:off x="595" y="2304"/>
                  <a:ext cx="595" cy="384"/>
                  <a:chOff x="595" y="2304"/>
                  <a:chExt cx="595" cy="384"/>
                </a:xfrm>
              </p:grpSpPr>
              <p:sp>
                <p:nvSpPr>
                  <p:cNvPr id="49316" name="Rectangle 100"/>
                  <p:cNvSpPr>
                    <a:spLocks noChangeArrowheads="1"/>
                  </p:cNvSpPr>
                  <p:nvPr/>
                </p:nvSpPr>
                <p:spPr bwMode="auto">
                  <a:xfrm>
                    <a:off x="638"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17" name="Rectangle 101"/>
                  <p:cNvSpPr>
                    <a:spLocks noChangeArrowheads="1"/>
                  </p:cNvSpPr>
                  <p:nvPr/>
                </p:nvSpPr>
                <p:spPr bwMode="auto">
                  <a:xfrm>
                    <a:off x="595"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6" name="Group 102"/>
                <p:cNvGrpSpPr>
                  <a:grpSpLocks/>
                </p:cNvGrpSpPr>
                <p:nvPr/>
              </p:nvGrpSpPr>
              <p:grpSpPr bwMode="auto">
                <a:xfrm>
                  <a:off x="1190" y="2304"/>
                  <a:ext cx="595" cy="384"/>
                  <a:chOff x="1190" y="2304"/>
                  <a:chExt cx="595" cy="384"/>
                </a:xfrm>
              </p:grpSpPr>
              <p:sp>
                <p:nvSpPr>
                  <p:cNvPr id="49314" name="Rectangle 103"/>
                  <p:cNvSpPr>
                    <a:spLocks noChangeArrowheads="1"/>
                  </p:cNvSpPr>
                  <p:nvPr/>
                </p:nvSpPr>
                <p:spPr bwMode="auto">
                  <a:xfrm>
                    <a:off x="1233"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29</a:t>
                    </a:r>
                    <a:r>
                      <a:rPr lang="en-US" altLang="zh-CN" sz="1800">
                        <a:latin typeface="Times New Roman" pitchFamily="18" charset="0"/>
                      </a:rPr>
                      <a:t>Si</a:t>
                    </a:r>
                  </a:p>
                  <a:p>
                    <a:pPr algn="ctr">
                      <a:lnSpc>
                        <a:spcPct val="100000"/>
                      </a:lnSpc>
                    </a:pPr>
                    <a:endParaRPr lang="en-US" altLang="zh-CN" sz="1800">
                      <a:latin typeface="Times New Roman" pitchFamily="18" charset="0"/>
                    </a:endParaRPr>
                  </a:p>
                </p:txBody>
              </p:sp>
              <p:sp>
                <p:nvSpPr>
                  <p:cNvPr id="49315" name="Rectangle 104"/>
                  <p:cNvSpPr>
                    <a:spLocks noChangeArrowheads="1"/>
                  </p:cNvSpPr>
                  <p:nvPr/>
                </p:nvSpPr>
                <p:spPr bwMode="auto">
                  <a:xfrm>
                    <a:off x="1190"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7" name="Group 105"/>
                <p:cNvGrpSpPr>
                  <a:grpSpLocks/>
                </p:cNvGrpSpPr>
                <p:nvPr/>
              </p:nvGrpSpPr>
              <p:grpSpPr bwMode="auto">
                <a:xfrm>
                  <a:off x="1785" y="2304"/>
                  <a:ext cx="595" cy="384"/>
                  <a:chOff x="1785" y="2304"/>
                  <a:chExt cx="595" cy="384"/>
                </a:xfrm>
              </p:grpSpPr>
              <p:sp>
                <p:nvSpPr>
                  <p:cNvPr id="49312" name="Rectangle 106"/>
                  <p:cNvSpPr>
                    <a:spLocks noChangeArrowheads="1"/>
                  </p:cNvSpPr>
                  <p:nvPr/>
                </p:nvSpPr>
                <p:spPr bwMode="auto">
                  <a:xfrm>
                    <a:off x="1828"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5.1</a:t>
                    </a:r>
                  </a:p>
                  <a:p>
                    <a:pPr algn="just">
                      <a:lnSpc>
                        <a:spcPct val="100000"/>
                      </a:lnSpc>
                    </a:pPr>
                    <a:endParaRPr lang="en-US" altLang="zh-CN" sz="1800">
                      <a:latin typeface="Times New Roman" pitchFamily="18" charset="0"/>
                    </a:endParaRPr>
                  </a:p>
                </p:txBody>
              </p:sp>
              <p:sp>
                <p:nvSpPr>
                  <p:cNvPr id="49313" name="Rectangle 107"/>
                  <p:cNvSpPr>
                    <a:spLocks noChangeArrowheads="1"/>
                  </p:cNvSpPr>
                  <p:nvPr/>
                </p:nvSpPr>
                <p:spPr bwMode="auto">
                  <a:xfrm>
                    <a:off x="1785"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8" name="Group 108"/>
                <p:cNvGrpSpPr>
                  <a:grpSpLocks/>
                </p:cNvGrpSpPr>
                <p:nvPr/>
              </p:nvGrpSpPr>
              <p:grpSpPr bwMode="auto">
                <a:xfrm>
                  <a:off x="2380" y="2304"/>
                  <a:ext cx="595" cy="384"/>
                  <a:chOff x="2380" y="2304"/>
                  <a:chExt cx="595" cy="384"/>
                </a:xfrm>
              </p:grpSpPr>
              <p:sp>
                <p:nvSpPr>
                  <p:cNvPr id="49310" name="Rectangle 109"/>
                  <p:cNvSpPr>
                    <a:spLocks noChangeArrowheads="1"/>
                  </p:cNvSpPr>
                  <p:nvPr/>
                </p:nvSpPr>
                <p:spPr bwMode="auto">
                  <a:xfrm>
                    <a:off x="2423"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30</a:t>
                    </a:r>
                    <a:r>
                      <a:rPr lang="en-US" altLang="zh-CN" sz="1800">
                        <a:latin typeface="Times New Roman" pitchFamily="18" charset="0"/>
                      </a:rPr>
                      <a:t>Si</a:t>
                    </a:r>
                  </a:p>
                  <a:p>
                    <a:pPr algn="ctr">
                      <a:lnSpc>
                        <a:spcPct val="100000"/>
                      </a:lnSpc>
                    </a:pPr>
                    <a:endParaRPr lang="en-US" altLang="zh-CN" sz="1800">
                      <a:latin typeface="Times New Roman" pitchFamily="18" charset="0"/>
                    </a:endParaRPr>
                  </a:p>
                </p:txBody>
              </p:sp>
              <p:sp>
                <p:nvSpPr>
                  <p:cNvPr id="49311" name="Rectangle 110"/>
                  <p:cNvSpPr>
                    <a:spLocks noChangeArrowheads="1"/>
                  </p:cNvSpPr>
                  <p:nvPr/>
                </p:nvSpPr>
                <p:spPr bwMode="auto">
                  <a:xfrm>
                    <a:off x="2380"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199" name="Group 111"/>
                <p:cNvGrpSpPr>
                  <a:grpSpLocks/>
                </p:cNvGrpSpPr>
                <p:nvPr/>
              </p:nvGrpSpPr>
              <p:grpSpPr bwMode="auto">
                <a:xfrm>
                  <a:off x="2975" y="2304"/>
                  <a:ext cx="595" cy="384"/>
                  <a:chOff x="2975" y="2304"/>
                  <a:chExt cx="595" cy="384"/>
                </a:xfrm>
              </p:grpSpPr>
              <p:sp>
                <p:nvSpPr>
                  <p:cNvPr id="49308" name="Rectangle 112"/>
                  <p:cNvSpPr>
                    <a:spLocks noChangeArrowheads="1"/>
                  </p:cNvSpPr>
                  <p:nvPr/>
                </p:nvSpPr>
                <p:spPr bwMode="auto">
                  <a:xfrm>
                    <a:off x="3018" y="230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3.4</a:t>
                    </a:r>
                  </a:p>
                  <a:p>
                    <a:pPr algn="just">
                      <a:lnSpc>
                        <a:spcPct val="100000"/>
                      </a:lnSpc>
                    </a:pPr>
                    <a:endParaRPr lang="en-US" altLang="zh-CN" sz="1800">
                      <a:latin typeface="Times New Roman" pitchFamily="18" charset="0"/>
                    </a:endParaRPr>
                  </a:p>
                </p:txBody>
              </p:sp>
              <p:sp>
                <p:nvSpPr>
                  <p:cNvPr id="49309" name="Rectangle 113"/>
                  <p:cNvSpPr>
                    <a:spLocks noChangeArrowheads="1"/>
                  </p:cNvSpPr>
                  <p:nvPr/>
                </p:nvSpPr>
                <p:spPr bwMode="auto">
                  <a:xfrm>
                    <a:off x="2975" y="230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0" name="Group 114"/>
                <p:cNvGrpSpPr>
                  <a:grpSpLocks/>
                </p:cNvGrpSpPr>
                <p:nvPr/>
              </p:nvGrpSpPr>
              <p:grpSpPr bwMode="auto">
                <a:xfrm>
                  <a:off x="0" y="2688"/>
                  <a:ext cx="595" cy="384"/>
                  <a:chOff x="0" y="2688"/>
                  <a:chExt cx="595" cy="384"/>
                </a:xfrm>
              </p:grpSpPr>
              <p:sp>
                <p:nvSpPr>
                  <p:cNvPr id="49306" name="Rectangle 115"/>
                  <p:cNvSpPr>
                    <a:spLocks noChangeArrowheads="1"/>
                  </p:cNvSpPr>
                  <p:nvPr/>
                </p:nvSpPr>
                <p:spPr bwMode="auto">
                  <a:xfrm>
                    <a:off x="43"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32</a:t>
                    </a:r>
                    <a:r>
                      <a:rPr lang="en-US" altLang="zh-CN" sz="1800">
                        <a:latin typeface="Times New Roman" pitchFamily="18" charset="0"/>
                      </a:rPr>
                      <a:t>S</a:t>
                    </a:r>
                  </a:p>
                  <a:p>
                    <a:pPr algn="ctr">
                      <a:lnSpc>
                        <a:spcPct val="100000"/>
                      </a:lnSpc>
                    </a:pPr>
                    <a:endParaRPr lang="en-US" altLang="zh-CN" sz="1800">
                      <a:latin typeface="Times New Roman" pitchFamily="18" charset="0"/>
                    </a:endParaRPr>
                  </a:p>
                </p:txBody>
              </p:sp>
              <p:sp>
                <p:nvSpPr>
                  <p:cNvPr id="49307" name="Rectangle 116"/>
                  <p:cNvSpPr>
                    <a:spLocks noChangeArrowheads="1"/>
                  </p:cNvSpPr>
                  <p:nvPr/>
                </p:nvSpPr>
                <p:spPr bwMode="auto">
                  <a:xfrm>
                    <a:off x="0"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1" name="Group 117"/>
                <p:cNvGrpSpPr>
                  <a:grpSpLocks/>
                </p:cNvGrpSpPr>
                <p:nvPr/>
              </p:nvGrpSpPr>
              <p:grpSpPr bwMode="auto">
                <a:xfrm>
                  <a:off x="595" y="2688"/>
                  <a:ext cx="595" cy="384"/>
                  <a:chOff x="595" y="2688"/>
                  <a:chExt cx="595" cy="384"/>
                </a:xfrm>
              </p:grpSpPr>
              <p:sp>
                <p:nvSpPr>
                  <p:cNvPr id="49304" name="Rectangle 118"/>
                  <p:cNvSpPr>
                    <a:spLocks noChangeArrowheads="1"/>
                  </p:cNvSpPr>
                  <p:nvPr/>
                </p:nvSpPr>
                <p:spPr bwMode="auto">
                  <a:xfrm>
                    <a:off x="638"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305" name="Rectangle 119"/>
                  <p:cNvSpPr>
                    <a:spLocks noChangeArrowheads="1"/>
                  </p:cNvSpPr>
                  <p:nvPr/>
                </p:nvSpPr>
                <p:spPr bwMode="auto">
                  <a:xfrm>
                    <a:off x="595"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2" name="Group 120"/>
                <p:cNvGrpSpPr>
                  <a:grpSpLocks/>
                </p:cNvGrpSpPr>
                <p:nvPr/>
              </p:nvGrpSpPr>
              <p:grpSpPr bwMode="auto">
                <a:xfrm>
                  <a:off x="1190" y="2688"/>
                  <a:ext cx="595" cy="384"/>
                  <a:chOff x="1190" y="2688"/>
                  <a:chExt cx="595" cy="384"/>
                </a:xfrm>
              </p:grpSpPr>
              <p:sp>
                <p:nvSpPr>
                  <p:cNvPr id="49302" name="Rectangle 121"/>
                  <p:cNvSpPr>
                    <a:spLocks noChangeArrowheads="1"/>
                  </p:cNvSpPr>
                  <p:nvPr/>
                </p:nvSpPr>
                <p:spPr bwMode="auto">
                  <a:xfrm>
                    <a:off x="1233"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33</a:t>
                    </a:r>
                    <a:r>
                      <a:rPr lang="en-US" altLang="zh-CN" sz="1800">
                        <a:latin typeface="Times New Roman" pitchFamily="18" charset="0"/>
                      </a:rPr>
                      <a:t>S</a:t>
                    </a:r>
                  </a:p>
                  <a:p>
                    <a:pPr algn="ctr">
                      <a:lnSpc>
                        <a:spcPct val="100000"/>
                      </a:lnSpc>
                    </a:pPr>
                    <a:endParaRPr lang="en-US" altLang="zh-CN" sz="1800">
                      <a:latin typeface="Times New Roman" pitchFamily="18" charset="0"/>
                    </a:endParaRPr>
                  </a:p>
                </p:txBody>
              </p:sp>
              <p:sp>
                <p:nvSpPr>
                  <p:cNvPr id="49303" name="Rectangle 122"/>
                  <p:cNvSpPr>
                    <a:spLocks noChangeArrowheads="1"/>
                  </p:cNvSpPr>
                  <p:nvPr/>
                </p:nvSpPr>
                <p:spPr bwMode="auto">
                  <a:xfrm>
                    <a:off x="1190"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3" name="Group 123"/>
                <p:cNvGrpSpPr>
                  <a:grpSpLocks/>
                </p:cNvGrpSpPr>
                <p:nvPr/>
              </p:nvGrpSpPr>
              <p:grpSpPr bwMode="auto">
                <a:xfrm>
                  <a:off x="1785" y="2688"/>
                  <a:ext cx="595" cy="384"/>
                  <a:chOff x="1785" y="2688"/>
                  <a:chExt cx="595" cy="384"/>
                </a:xfrm>
              </p:grpSpPr>
              <p:sp>
                <p:nvSpPr>
                  <p:cNvPr id="49300" name="Rectangle 124"/>
                  <p:cNvSpPr>
                    <a:spLocks noChangeArrowheads="1"/>
                  </p:cNvSpPr>
                  <p:nvPr/>
                </p:nvSpPr>
                <p:spPr bwMode="auto">
                  <a:xfrm>
                    <a:off x="1828"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0.8</a:t>
                    </a:r>
                  </a:p>
                  <a:p>
                    <a:pPr algn="just">
                      <a:lnSpc>
                        <a:spcPct val="100000"/>
                      </a:lnSpc>
                    </a:pPr>
                    <a:endParaRPr lang="en-US" altLang="zh-CN" sz="1800">
                      <a:latin typeface="Times New Roman" pitchFamily="18" charset="0"/>
                    </a:endParaRPr>
                  </a:p>
                </p:txBody>
              </p:sp>
              <p:sp>
                <p:nvSpPr>
                  <p:cNvPr id="49301" name="Rectangle 125"/>
                  <p:cNvSpPr>
                    <a:spLocks noChangeArrowheads="1"/>
                  </p:cNvSpPr>
                  <p:nvPr/>
                </p:nvSpPr>
                <p:spPr bwMode="auto">
                  <a:xfrm>
                    <a:off x="1785"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4" name="Group 126"/>
                <p:cNvGrpSpPr>
                  <a:grpSpLocks/>
                </p:cNvGrpSpPr>
                <p:nvPr/>
              </p:nvGrpSpPr>
              <p:grpSpPr bwMode="auto">
                <a:xfrm>
                  <a:off x="2380" y="2688"/>
                  <a:ext cx="595" cy="384"/>
                  <a:chOff x="2380" y="2688"/>
                  <a:chExt cx="595" cy="384"/>
                </a:xfrm>
              </p:grpSpPr>
              <p:sp>
                <p:nvSpPr>
                  <p:cNvPr id="49298" name="Rectangle 127"/>
                  <p:cNvSpPr>
                    <a:spLocks noChangeArrowheads="1"/>
                  </p:cNvSpPr>
                  <p:nvPr/>
                </p:nvSpPr>
                <p:spPr bwMode="auto">
                  <a:xfrm>
                    <a:off x="2423"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34</a:t>
                    </a:r>
                    <a:r>
                      <a:rPr lang="en-US" altLang="zh-CN" sz="1800">
                        <a:latin typeface="Times New Roman" pitchFamily="18" charset="0"/>
                      </a:rPr>
                      <a:t>S</a:t>
                    </a:r>
                  </a:p>
                  <a:p>
                    <a:pPr algn="ctr">
                      <a:lnSpc>
                        <a:spcPct val="100000"/>
                      </a:lnSpc>
                    </a:pPr>
                    <a:endParaRPr lang="en-US" altLang="zh-CN" sz="1800">
                      <a:latin typeface="Times New Roman" pitchFamily="18" charset="0"/>
                    </a:endParaRPr>
                  </a:p>
                </p:txBody>
              </p:sp>
              <p:sp>
                <p:nvSpPr>
                  <p:cNvPr id="49299" name="Rectangle 128"/>
                  <p:cNvSpPr>
                    <a:spLocks noChangeArrowheads="1"/>
                  </p:cNvSpPr>
                  <p:nvPr/>
                </p:nvSpPr>
                <p:spPr bwMode="auto">
                  <a:xfrm>
                    <a:off x="2380"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5" name="Group 129"/>
                <p:cNvGrpSpPr>
                  <a:grpSpLocks/>
                </p:cNvGrpSpPr>
                <p:nvPr/>
              </p:nvGrpSpPr>
              <p:grpSpPr bwMode="auto">
                <a:xfrm>
                  <a:off x="2975" y="2688"/>
                  <a:ext cx="595" cy="384"/>
                  <a:chOff x="2975" y="2688"/>
                  <a:chExt cx="595" cy="384"/>
                </a:xfrm>
              </p:grpSpPr>
              <p:sp>
                <p:nvSpPr>
                  <p:cNvPr id="49296" name="Rectangle 130"/>
                  <p:cNvSpPr>
                    <a:spLocks noChangeArrowheads="1"/>
                  </p:cNvSpPr>
                  <p:nvPr/>
                </p:nvSpPr>
                <p:spPr bwMode="auto">
                  <a:xfrm>
                    <a:off x="3018" y="268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4.4</a:t>
                    </a:r>
                  </a:p>
                  <a:p>
                    <a:pPr algn="just">
                      <a:lnSpc>
                        <a:spcPct val="100000"/>
                      </a:lnSpc>
                    </a:pPr>
                    <a:endParaRPr lang="en-US" altLang="zh-CN" sz="1800">
                      <a:latin typeface="Times New Roman" pitchFamily="18" charset="0"/>
                    </a:endParaRPr>
                  </a:p>
                </p:txBody>
              </p:sp>
              <p:sp>
                <p:nvSpPr>
                  <p:cNvPr id="49297" name="Rectangle 131"/>
                  <p:cNvSpPr>
                    <a:spLocks noChangeArrowheads="1"/>
                  </p:cNvSpPr>
                  <p:nvPr/>
                </p:nvSpPr>
                <p:spPr bwMode="auto">
                  <a:xfrm>
                    <a:off x="2975" y="268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6" name="Group 132"/>
                <p:cNvGrpSpPr>
                  <a:grpSpLocks/>
                </p:cNvGrpSpPr>
                <p:nvPr/>
              </p:nvGrpSpPr>
              <p:grpSpPr bwMode="auto">
                <a:xfrm>
                  <a:off x="0" y="3072"/>
                  <a:ext cx="595" cy="384"/>
                  <a:chOff x="0" y="3072"/>
                  <a:chExt cx="595" cy="384"/>
                </a:xfrm>
              </p:grpSpPr>
              <p:sp>
                <p:nvSpPr>
                  <p:cNvPr id="49294" name="Rectangle 133"/>
                  <p:cNvSpPr>
                    <a:spLocks noChangeArrowheads="1"/>
                  </p:cNvSpPr>
                  <p:nvPr/>
                </p:nvSpPr>
                <p:spPr bwMode="auto">
                  <a:xfrm>
                    <a:off x="43"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35</a:t>
                    </a:r>
                    <a:r>
                      <a:rPr lang="en-US" altLang="zh-CN" sz="1800">
                        <a:latin typeface="Times New Roman" pitchFamily="18" charset="0"/>
                      </a:rPr>
                      <a:t>Cl</a:t>
                    </a:r>
                  </a:p>
                  <a:p>
                    <a:pPr algn="ctr">
                      <a:lnSpc>
                        <a:spcPct val="100000"/>
                      </a:lnSpc>
                    </a:pPr>
                    <a:endParaRPr lang="en-US" altLang="zh-CN" sz="1800">
                      <a:latin typeface="Times New Roman" pitchFamily="18" charset="0"/>
                    </a:endParaRPr>
                  </a:p>
                </p:txBody>
              </p:sp>
              <p:sp>
                <p:nvSpPr>
                  <p:cNvPr id="49295" name="Rectangle 134"/>
                  <p:cNvSpPr>
                    <a:spLocks noChangeArrowheads="1"/>
                  </p:cNvSpPr>
                  <p:nvPr/>
                </p:nvSpPr>
                <p:spPr bwMode="auto">
                  <a:xfrm>
                    <a:off x="0"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7" name="Group 135"/>
                <p:cNvGrpSpPr>
                  <a:grpSpLocks/>
                </p:cNvGrpSpPr>
                <p:nvPr/>
              </p:nvGrpSpPr>
              <p:grpSpPr bwMode="auto">
                <a:xfrm>
                  <a:off x="595" y="3072"/>
                  <a:ext cx="595" cy="384"/>
                  <a:chOff x="595" y="3072"/>
                  <a:chExt cx="595" cy="384"/>
                </a:xfrm>
              </p:grpSpPr>
              <p:sp>
                <p:nvSpPr>
                  <p:cNvPr id="49292" name="Rectangle 136"/>
                  <p:cNvSpPr>
                    <a:spLocks noChangeArrowheads="1"/>
                  </p:cNvSpPr>
                  <p:nvPr/>
                </p:nvSpPr>
                <p:spPr bwMode="auto">
                  <a:xfrm>
                    <a:off x="638"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293" name="Rectangle 137"/>
                  <p:cNvSpPr>
                    <a:spLocks noChangeArrowheads="1"/>
                  </p:cNvSpPr>
                  <p:nvPr/>
                </p:nvSpPr>
                <p:spPr bwMode="auto">
                  <a:xfrm>
                    <a:off x="595"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8" name="Group 138"/>
                <p:cNvGrpSpPr>
                  <a:grpSpLocks/>
                </p:cNvGrpSpPr>
                <p:nvPr/>
              </p:nvGrpSpPr>
              <p:grpSpPr bwMode="auto">
                <a:xfrm>
                  <a:off x="1190" y="3072"/>
                  <a:ext cx="595" cy="384"/>
                  <a:chOff x="1190" y="3072"/>
                  <a:chExt cx="595" cy="384"/>
                </a:xfrm>
              </p:grpSpPr>
              <p:sp>
                <p:nvSpPr>
                  <p:cNvPr id="49290" name="Rectangle 139"/>
                  <p:cNvSpPr>
                    <a:spLocks noChangeArrowheads="1"/>
                  </p:cNvSpPr>
                  <p:nvPr/>
                </p:nvSpPr>
                <p:spPr bwMode="auto">
                  <a:xfrm>
                    <a:off x="1233"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91" name="Rectangle 140"/>
                  <p:cNvSpPr>
                    <a:spLocks noChangeArrowheads="1"/>
                  </p:cNvSpPr>
                  <p:nvPr/>
                </p:nvSpPr>
                <p:spPr bwMode="auto">
                  <a:xfrm>
                    <a:off x="1190"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09" name="Group 141"/>
                <p:cNvGrpSpPr>
                  <a:grpSpLocks/>
                </p:cNvGrpSpPr>
                <p:nvPr/>
              </p:nvGrpSpPr>
              <p:grpSpPr bwMode="auto">
                <a:xfrm>
                  <a:off x="1785" y="3072"/>
                  <a:ext cx="595" cy="384"/>
                  <a:chOff x="1785" y="3072"/>
                  <a:chExt cx="595" cy="384"/>
                </a:xfrm>
              </p:grpSpPr>
              <p:sp>
                <p:nvSpPr>
                  <p:cNvPr id="49288" name="Rectangle 142"/>
                  <p:cNvSpPr>
                    <a:spLocks noChangeArrowheads="1"/>
                  </p:cNvSpPr>
                  <p:nvPr/>
                </p:nvSpPr>
                <p:spPr bwMode="auto">
                  <a:xfrm>
                    <a:off x="1828"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89" name="Rectangle 143"/>
                  <p:cNvSpPr>
                    <a:spLocks noChangeArrowheads="1"/>
                  </p:cNvSpPr>
                  <p:nvPr/>
                </p:nvSpPr>
                <p:spPr bwMode="auto">
                  <a:xfrm>
                    <a:off x="1785"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0" name="Group 144"/>
                <p:cNvGrpSpPr>
                  <a:grpSpLocks/>
                </p:cNvGrpSpPr>
                <p:nvPr/>
              </p:nvGrpSpPr>
              <p:grpSpPr bwMode="auto">
                <a:xfrm>
                  <a:off x="2380" y="3072"/>
                  <a:ext cx="595" cy="384"/>
                  <a:chOff x="2380" y="3072"/>
                  <a:chExt cx="595" cy="384"/>
                </a:xfrm>
              </p:grpSpPr>
              <p:sp>
                <p:nvSpPr>
                  <p:cNvPr id="49286" name="Rectangle 145"/>
                  <p:cNvSpPr>
                    <a:spLocks noChangeArrowheads="1"/>
                  </p:cNvSpPr>
                  <p:nvPr/>
                </p:nvSpPr>
                <p:spPr bwMode="auto">
                  <a:xfrm>
                    <a:off x="2423"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37</a:t>
                    </a:r>
                    <a:r>
                      <a:rPr lang="en-US" altLang="zh-CN" sz="1800">
                        <a:latin typeface="Times New Roman" pitchFamily="18" charset="0"/>
                      </a:rPr>
                      <a:t>Cl</a:t>
                    </a:r>
                  </a:p>
                  <a:p>
                    <a:pPr algn="ctr">
                      <a:lnSpc>
                        <a:spcPct val="100000"/>
                      </a:lnSpc>
                    </a:pPr>
                    <a:endParaRPr lang="en-US" altLang="zh-CN" sz="1800">
                      <a:latin typeface="Times New Roman" pitchFamily="18" charset="0"/>
                    </a:endParaRPr>
                  </a:p>
                </p:txBody>
              </p:sp>
              <p:sp>
                <p:nvSpPr>
                  <p:cNvPr id="49287" name="Rectangle 146"/>
                  <p:cNvSpPr>
                    <a:spLocks noChangeArrowheads="1"/>
                  </p:cNvSpPr>
                  <p:nvPr/>
                </p:nvSpPr>
                <p:spPr bwMode="auto">
                  <a:xfrm>
                    <a:off x="2380"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1" name="Group 147"/>
                <p:cNvGrpSpPr>
                  <a:grpSpLocks/>
                </p:cNvGrpSpPr>
                <p:nvPr/>
              </p:nvGrpSpPr>
              <p:grpSpPr bwMode="auto">
                <a:xfrm>
                  <a:off x="2975" y="3072"/>
                  <a:ext cx="595" cy="384"/>
                  <a:chOff x="2975" y="3072"/>
                  <a:chExt cx="595" cy="384"/>
                </a:xfrm>
              </p:grpSpPr>
              <p:sp>
                <p:nvSpPr>
                  <p:cNvPr id="49284" name="Rectangle 148"/>
                  <p:cNvSpPr>
                    <a:spLocks noChangeArrowheads="1"/>
                  </p:cNvSpPr>
                  <p:nvPr/>
                </p:nvSpPr>
                <p:spPr bwMode="auto">
                  <a:xfrm>
                    <a:off x="3018" y="3072"/>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32.5</a:t>
                    </a:r>
                  </a:p>
                  <a:p>
                    <a:pPr algn="just">
                      <a:lnSpc>
                        <a:spcPct val="100000"/>
                      </a:lnSpc>
                    </a:pPr>
                    <a:endParaRPr lang="en-US" altLang="zh-CN" sz="1800">
                      <a:latin typeface="Times New Roman" pitchFamily="18" charset="0"/>
                    </a:endParaRPr>
                  </a:p>
                </p:txBody>
              </p:sp>
              <p:sp>
                <p:nvSpPr>
                  <p:cNvPr id="49285" name="Rectangle 149"/>
                  <p:cNvSpPr>
                    <a:spLocks noChangeArrowheads="1"/>
                  </p:cNvSpPr>
                  <p:nvPr/>
                </p:nvSpPr>
                <p:spPr bwMode="auto">
                  <a:xfrm>
                    <a:off x="2975" y="3072"/>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2" name="Group 150"/>
                <p:cNvGrpSpPr>
                  <a:grpSpLocks/>
                </p:cNvGrpSpPr>
                <p:nvPr/>
              </p:nvGrpSpPr>
              <p:grpSpPr bwMode="auto">
                <a:xfrm>
                  <a:off x="0" y="3456"/>
                  <a:ext cx="595" cy="384"/>
                  <a:chOff x="0" y="3456"/>
                  <a:chExt cx="595" cy="384"/>
                </a:xfrm>
              </p:grpSpPr>
              <p:sp>
                <p:nvSpPr>
                  <p:cNvPr id="49282" name="Rectangle 151"/>
                  <p:cNvSpPr>
                    <a:spLocks noChangeArrowheads="1"/>
                  </p:cNvSpPr>
                  <p:nvPr/>
                </p:nvSpPr>
                <p:spPr bwMode="auto">
                  <a:xfrm>
                    <a:off x="43"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79</a:t>
                    </a:r>
                    <a:r>
                      <a:rPr lang="en-US" altLang="zh-CN" sz="1800">
                        <a:latin typeface="Times New Roman" pitchFamily="18" charset="0"/>
                      </a:rPr>
                      <a:t>Br</a:t>
                    </a:r>
                  </a:p>
                  <a:p>
                    <a:pPr algn="ctr">
                      <a:lnSpc>
                        <a:spcPct val="100000"/>
                      </a:lnSpc>
                    </a:pPr>
                    <a:endParaRPr lang="en-US" altLang="zh-CN" sz="1800">
                      <a:latin typeface="Times New Roman" pitchFamily="18" charset="0"/>
                    </a:endParaRPr>
                  </a:p>
                </p:txBody>
              </p:sp>
              <p:sp>
                <p:nvSpPr>
                  <p:cNvPr id="49283" name="Rectangle 152"/>
                  <p:cNvSpPr>
                    <a:spLocks noChangeArrowheads="1"/>
                  </p:cNvSpPr>
                  <p:nvPr/>
                </p:nvSpPr>
                <p:spPr bwMode="auto">
                  <a:xfrm>
                    <a:off x="0"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3" name="Group 153"/>
                <p:cNvGrpSpPr>
                  <a:grpSpLocks/>
                </p:cNvGrpSpPr>
                <p:nvPr/>
              </p:nvGrpSpPr>
              <p:grpSpPr bwMode="auto">
                <a:xfrm>
                  <a:off x="595" y="3456"/>
                  <a:ext cx="595" cy="384"/>
                  <a:chOff x="595" y="3456"/>
                  <a:chExt cx="595" cy="384"/>
                </a:xfrm>
              </p:grpSpPr>
              <p:sp>
                <p:nvSpPr>
                  <p:cNvPr id="49280" name="Rectangle 154"/>
                  <p:cNvSpPr>
                    <a:spLocks noChangeArrowheads="1"/>
                  </p:cNvSpPr>
                  <p:nvPr/>
                </p:nvSpPr>
                <p:spPr bwMode="auto">
                  <a:xfrm>
                    <a:off x="638"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281" name="Rectangle 155"/>
                  <p:cNvSpPr>
                    <a:spLocks noChangeArrowheads="1"/>
                  </p:cNvSpPr>
                  <p:nvPr/>
                </p:nvSpPr>
                <p:spPr bwMode="auto">
                  <a:xfrm>
                    <a:off x="595"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4" name="Group 156"/>
                <p:cNvGrpSpPr>
                  <a:grpSpLocks/>
                </p:cNvGrpSpPr>
                <p:nvPr/>
              </p:nvGrpSpPr>
              <p:grpSpPr bwMode="auto">
                <a:xfrm>
                  <a:off x="1190" y="3456"/>
                  <a:ext cx="595" cy="384"/>
                  <a:chOff x="1190" y="3456"/>
                  <a:chExt cx="595" cy="384"/>
                </a:xfrm>
              </p:grpSpPr>
              <p:sp>
                <p:nvSpPr>
                  <p:cNvPr id="49278" name="Rectangle 157"/>
                  <p:cNvSpPr>
                    <a:spLocks noChangeArrowheads="1"/>
                  </p:cNvSpPr>
                  <p:nvPr/>
                </p:nvSpPr>
                <p:spPr bwMode="auto">
                  <a:xfrm>
                    <a:off x="1233"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79" name="Rectangle 158"/>
                  <p:cNvSpPr>
                    <a:spLocks noChangeArrowheads="1"/>
                  </p:cNvSpPr>
                  <p:nvPr/>
                </p:nvSpPr>
                <p:spPr bwMode="auto">
                  <a:xfrm>
                    <a:off x="1190"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5" name="Group 159"/>
                <p:cNvGrpSpPr>
                  <a:grpSpLocks/>
                </p:cNvGrpSpPr>
                <p:nvPr/>
              </p:nvGrpSpPr>
              <p:grpSpPr bwMode="auto">
                <a:xfrm>
                  <a:off x="1785" y="3456"/>
                  <a:ext cx="595" cy="384"/>
                  <a:chOff x="1785" y="3456"/>
                  <a:chExt cx="595" cy="384"/>
                </a:xfrm>
              </p:grpSpPr>
              <p:sp>
                <p:nvSpPr>
                  <p:cNvPr id="49276" name="Rectangle 160"/>
                  <p:cNvSpPr>
                    <a:spLocks noChangeArrowheads="1"/>
                  </p:cNvSpPr>
                  <p:nvPr/>
                </p:nvSpPr>
                <p:spPr bwMode="auto">
                  <a:xfrm>
                    <a:off x="1828"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77" name="Rectangle 161"/>
                  <p:cNvSpPr>
                    <a:spLocks noChangeArrowheads="1"/>
                  </p:cNvSpPr>
                  <p:nvPr/>
                </p:nvSpPr>
                <p:spPr bwMode="auto">
                  <a:xfrm>
                    <a:off x="1785"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6" name="Group 162"/>
                <p:cNvGrpSpPr>
                  <a:grpSpLocks/>
                </p:cNvGrpSpPr>
                <p:nvPr/>
              </p:nvGrpSpPr>
              <p:grpSpPr bwMode="auto">
                <a:xfrm>
                  <a:off x="2380" y="3456"/>
                  <a:ext cx="595" cy="384"/>
                  <a:chOff x="2380" y="3456"/>
                  <a:chExt cx="595" cy="384"/>
                </a:xfrm>
              </p:grpSpPr>
              <p:sp>
                <p:nvSpPr>
                  <p:cNvPr id="49274" name="Rectangle 163"/>
                  <p:cNvSpPr>
                    <a:spLocks noChangeArrowheads="1"/>
                  </p:cNvSpPr>
                  <p:nvPr/>
                </p:nvSpPr>
                <p:spPr bwMode="auto">
                  <a:xfrm>
                    <a:off x="2423"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81</a:t>
                    </a:r>
                    <a:r>
                      <a:rPr lang="en-US" altLang="zh-CN" sz="1800">
                        <a:latin typeface="Times New Roman" pitchFamily="18" charset="0"/>
                      </a:rPr>
                      <a:t>Br</a:t>
                    </a:r>
                  </a:p>
                  <a:p>
                    <a:pPr algn="ctr">
                      <a:lnSpc>
                        <a:spcPct val="100000"/>
                      </a:lnSpc>
                    </a:pPr>
                    <a:endParaRPr lang="en-US" altLang="zh-CN" sz="1800">
                      <a:latin typeface="Times New Roman" pitchFamily="18" charset="0"/>
                    </a:endParaRPr>
                  </a:p>
                </p:txBody>
              </p:sp>
              <p:sp>
                <p:nvSpPr>
                  <p:cNvPr id="49275" name="Rectangle 164"/>
                  <p:cNvSpPr>
                    <a:spLocks noChangeArrowheads="1"/>
                  </p:cNvSpPr>
                  <p:nvPr/>
                </p:nvSpPr>
                <p:spPr bwMode="auto">
                  <a:xfrm>
                    <a:off x="2380"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7" name="Group 165"/>
                <p:cNvGrpSpPr>
                  <a:grpSpLocks/>
                </p:cNvGrpSpPr>
                <p:nvPr/>
              </p:nvGrpSpPr>
              <p:grpSpPr bwMode="auto">
                <a:xfrm>
                  <a:off x="2975" y="3456"/>
                  <a:ext cx="595" cy="384"/>
                  <a:chOff x="2975" y="3456"/>
                  <a:chExt cx="595" cy="384"/>
                </a:xfrm>
              </p:grpSpPr>
              <p:sp>
                <p:nvSpPr>
                  <p:cNvPr id="49272" name="Rectangle 166"/>
                  <p:cNvSpPr>
                    <a:spLocks noChangeArrowheads="1"/>
                  </p:cNvSpPr>
                  <p:nvPr/>
                </p:nvSpPr>
                <p:spPr bwMode="auto">
                  <a:xfrm>
                    <a:off x="3018" y="3456"/>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just">
                      <a:lnSpc>
                        <a:spcPct val="100000"/>
                      </a:lnSpc>
                    </a:pPr>
                    <a:r>
                      <a:rPr lang="en-US" altLang="zh-CN" sz="1800">
                        <a:latin typeface="Times New Roman" pitchFamily="18" charset="0"/>
                      </a:rPr>
                      <a:t>  98</a:t>
                    </a:r>
                  </a:p>
                  <a:p>
                    <a:pPr algn="just">
                      <a:lnSpc>
                        <a:spcPct val="100000"/>
                      </a:lnSpc>
                    </a:pPr>
                    <a:endParaRPr lang="en-US" altLang="zh-CN" sz="1800">
                      <a:latin typeface="Times New Roman" pitchFamily="18" charset="0"/>
                    </a:endParaRPr>
                  </a:p>
                </p:txBody>
              </p:sp>
              <p:sp>
                <p:nvSpPr>
                  <p:cNvPr id="49273" name="Rectangle 167"/>
                  <p:cNvSpPr>
                    <a:spLocks noChangeArrowheads="1"/>
                  </p:cNvSpPr>
                  <p:nvPr/>
                </p:nvSpPr>
                <p:spPr bwMode="auto">
                  <a:xfrm>
                    <a:off x="2975" y="3456"/>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8" name="Group 168"/>
                <p:cNvGrpSpPr>
                  <a:grpSpLocks/>
                </p:cNvGrpSpPr>
                <p:nvPr/>
              </p:nvGrpSpPr>
              <p:grpSpPr bwMode="auto">
                <a:xfrm>
                  <a:off x="0" y="3840"/>
                  <a:ext cx="595" cy="384"/>
                  <a:chOff x="0" y="3840"/>
                  <a:chExt cx="595" cy="384"/>
                </a:xfrm>
              </p:grpSpPr>
              <p:sp>
                <p:nvSpPr>
                  <p:cNvPr id="49270" name="Rectangle 169"/>
                  <p:cNvSpPr>
                    <a:spLocks noChangeArrowheads="1"/>
                  </p:cNvSpPr>
                  <p:nvPr/>
                </p:nvSpPr>
                <p:spPr bwMode="auto">
                  <a:xfrm>
                    <a:off x="43"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19</a:t>
                    </a:r>
                    <a:r>
                      <a:rPr lang="en-US" altLang="zh-CN" sz="1800">
                        <a:latin typeface="Times New Roman" pitchFamily="18" charset="0"/>
                      </a:rPr>
                      <a:t>F</a:t>
                    </a:r>
                  </a:p>
                  <a:p>
                    <a:pPr algn="ctr">
                      <a:lnSpc>
                        <a:spcPct val="100000"/>
                      </a:lnSpc>
                    </a:pPr>
                    <a:endParaRPr lang="en-US" altLang="zh-CN" sz="1800">
                      <a:latin typeface="Times New Roman" pitchFamily="18" charset="0"/>
                    </a:endParaRPr>
                  </a:p>
                </p:txBody>
              </p:sp>
              <p:sp>
                <p:nvSpPr>
                  <p:cNvPr id="49271" name="Rectangle 170"/>
                  <p:cNvSpPr>
                    <a:spLocks noChangeArrowheads="1"/>
                  </p:cNvSpPr>
                  <p:nvPr/>
                </p:nvSpPr>
                <p:spPr bwMode="auto">
                  <a:xfrm>
                    <a:off x="0"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19" name="Group 171"/>
                <p:cNvGrpSpPr>
                  <a:grpSpLocks/>
                </p:cNvGrpSpPr>
                <p:nvPr/>
              </p:nvGrpSpPr>
              <p:grpSpPr bwMode="auto">
                <a:xfrm>
                  <a:off x="595" y="3840"/>
                  <a:ext cx="595" cy="384"/>
                  <a:chOff x="595" y="3840"/>
                  <a:chExt cx="595" cy="384"/>
                </a:xfrm>
              </p:grpSpPr>
              <p:sp>
                <p:nvSpPr>
                  <p:cNvPr id="49268" name="Rectangle 172"/>
                  <p:cNvSpPr>
                    <a:spLocks noChangeArrowheads="1"/>
                  </p:cNvSpPr>
                  <p:nvPr/>
                </p:nvSpPr>
                <p:spPr bwMode="auto">
                  <a:xfrm>
                    <a:off x="638"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269" name="Rectangle 173"/>
                  <p:cNvSpPr>
                    <a:spLocks noChangeArrowheads="1"/>
                  </p:cNvSpPr>
                  <p:nvPr/>
                </p:nvSpPr>
                <p:spPr bwMode="auto">
                  <a:xfrm>
                    <a:off x="595"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0" name="Group 174"/>
                <p:cNvGrpSpPr>
                  <a:grpSpLocks/>
                </p:cNvGrpSpPr>
                <p:nvPr/>
              </p:nvGrpSpPr>
              <p:grpSpPr bwMode="auto">
                <a:xfrm>
                  <a:off x="1190" y="3840"/>
                  <a:ext cx="595" cy="384"/>
                  <a:chOff x="1190" y="3840"/>
                  <a:chExt cx="595" cy="384"/>
                </a:xfrm>
              </p:grpSpPr>
              <p:sp>
                <p:nvSpPr>
                  <p:cNvPr id="49266" name="Rectangle 175"/>
                  <p:cNvSpPr>
                    <a:spLocks noChangeArrowheads="1"/>
                  </p:cNvSpPr>
                  <p:nvPr/>
                </p:nvSpPr>
                <p:spPr bwMode="auto">
                  <a:xfrm>
                    <a:off x="1233"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67" name="Rectangle 176"/>
                  <p:cNvSpPr>
                    <a:spLocks noChangeArrowheads="1"/>
                  </p:cNvSpPr>
                  <p:nvPr/>
                </p:nvSpPr>
                <p:spPr bwMode="auto">
                  <a:xfrm>
                    <a:off x="1190"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1" name="Group 177"/>
                <p:cNvGrpSpPr>
                  <a:grpSpLocks/>
                </p:cNvGrpSpPr>
                <p:nvPr/>
              </p:nvGrpSpPr>
              <p:grpSpPr bwMode="auto">
                <a:xfrm>
                  <a:off x="1785" y="3840"/>
                  <a:ext cx="595" cy="384"/>
                  <a:chOff x="1785" y="3840"/>
                  <a:chExt cx="595" cy="384"/>
                </a:xfrm>
              </p:grpSpPr>
              <p:sp>
                <p:nvSpPr>
                  <p:cNvPr id="49264" name="Rectangle 178"/>
                  <p:cNvSpPr>
                    <a:spLocks noChangeArrowheads="1"/>
                  </p:cNvSpPr>
                  <p:nvPr/>
                </p:nvSpPr>
                <p:spPr bwMode="auto">
                  <a:xfrm>
                    <a:off x="1828"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65" name="Rectangle 179"/>
                  <p:cNvSpPr>
                    <a:spLocks noChangeArrowheads="1"/>
                  </p:cNvSpPr>
                  <p:nvPr/>
                </p:nvSpPr>
                <p:spPr bwMode="auto">
                  <a:xfrm>
                    <a:off x="1785"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2" name="Group 180"/>
                <p:cNvGrpSpPr>
                  <a:grpSpLocks/>
                </p:cNvGrpSpPr>
                <p:nvPr/>
              </p:nvGrpSpPr>
              <p:grpSpPr bwMode="auto">
                <a:xfrm>
                  <a:off x="2380" y="3840"/>
                  <a:ext cx="595" cy="384"/>
                  <a:chOff x="2380" y="3840"/>
                  <a:chExt cx="595" cy="384"/>
                </a:xfrm>
              </p:grpSpPr>
              <p:sp>
                <p:nvSpPr>
                  <p:cNvPr id="49262" name="Rectangle 181"/>
                  <p:cNvSpPr>
                    <a:spLocks noChangeArrowheads="1"/>
                  </p:cNvSpPr>
                  <p:nvPr/>
                </p:nvSpPr>
                <p:spPr bwMode="auto">
                  <a:xfrm>
                    <a:off x="2423"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63" name="Rectangle 182"/>
                  <p:cNvSpPr>
                    <a:spLocks noChangeArrowheads="1"/>
                  </p:cNvSpPr>
                  <p:nvPr/>
                </p:nvSpPr>
                <p:spPr bwMode="auto">
                  <a:xfrm>
                    <a:off x="2380"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3" name="Group 183"/>
                <p:cNvGrpSpPr>
                  <a:grpSpLocks/>
                </p:cNvGrpSpPr>
                <p:nvPr/>
              </p:nvGrpSpPr>
              <p:grpSpPr bwMode="auto">
                <a:xfrm>
                  <a:off x="2975" y="3840"/>
                  <a:ext cx="595" cy="384"/>
                  <a:chOff x="2975" y="3840"/>
                  <a:chExt cx="595" cy="384"/>
                </a:xfrm>
              </p:grpSpPr>
              <p:sp>
                <p:nvSpPr>
                  <p:cNvPr id="49260" name="Rectangle 184"/>
                  <p:cNvSpPr>
                    <a:spLocks noChangeArrowheads="1"/>
                  </p:cNvSpPr>
                  <p:nvPr/>
                </p:nvSpPr>
                <p:spPr bwMode="auto">
                  <a:xfrm>
                    <a:off x="3018" y="3840"/>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61" name="Rectangle 185"/>
                  <p:cNvSpPr>
                    <a:spLocks noChangeArrowheads="1"/>
                  </p:cNvSpPr>
                  <p:nvPr/>
                </p:nvSpPr>
                <p:spPr bwMode="auto">
                  <a:xfrm>
                    <a:off x="2975" y="3840"/>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4" name="Group 186"/>
                <p:cNvGrpSpPr>
                  <a:grpSpLocks/>
                </p:cNvGrpSpPr>
                <p:nvPr/>
              </p:nvGrpSpPr>
              <p:grpSpPr bwMode="auto">
                <a:xfrm>
                  <a:off x="0" y="4224"/>
                  <a:ext cx="595" cy="384"/>
                  <a:chOff x="0" y="4224"/>
                  <a:chExt cx="595" cy="384"/>
                </a:xfrm>
              </p:grpSpPr>
              <p:sp>
                <p:nvSpPr>
                  <p:cNvPr id="49258" name="Rectangle 187"/>
                  <p:cNvSpPr>
                    <a:spLocks noChangeArrowheads="1"/>
                  </p:cNvSpPr>
                  <p:nvPr/>
                </p:nvSpPr>
                <p:spPr bwMode="auto">
                  <a:xfrm>
                    <a:off x="43"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31</a:t>
                    </a:r>
                    <a:r>
                      <a:rPr lang="en-US" altLang="zh-CN" sz="1800">
                        <a:latin typeface="Times New Roman" pitchFamily="18" charset="0"/>
                      </a:rPr>
                      <a:t>P</a:t>
                    </a:r>
                  </a:p>
                  <a:p>
                    <a:pPr algn="ctr">
                      <a:lnSpc>
                        <a:spcPct val="100000"/>
                      </a:lnSpc>
                    </a:pPr>
                    <a:endParaRPr lang="en-US" altLang="zh-CN" sz="1800">
                      <a:latin typeface="Times New Roman" pitchFamily="18" charset="0"/>
                    </a:endParaRPr>
                  </a:p>
                </p:txBody>
              </p:sp>
              <p:sp>
                <p:nvSpPr>
                  <p:cNvPr id="49259" name="Rectangle 188"/>
                  <p:cNvSpPr>
                    <a:spLocks noChangeArrowheads="1"/>
                  </p:cNvSpPr>
                  <p:nvPr/>
                </p:nvSpPr>
                <p:spPr bwMode="auto">
                  <a:xfrm>
                    <a:off x="0"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5" name="Group 189"/>
                <p:cNvGrpSpPr>
                  <a:grpSpLocks/>
                </p:cNvGrpSpPr>
                <p:nvPr/>
              </p:nvGrpSpPr>
              <p:grpSpPr bwMode="auto">
                <a:xfrm>
                  <a:off x="595" y="4224"/>
                  <a:ext cx="595" cy="384"/>
                  <a:chOff x="595" y="4224"/>
                  <a:chExt cx="595" cy="384"/>
                </a:xfrm>
              </p:grpSpPr>
              <p:sp>
                <p:nvSpPr>
                  <p:cNvPr id="49256" name="Rectangle 190"/>
                  <p:cNvSpPr>
                    <a:spLocks noChangeArrowheads="1"/>
                  </p:cNvSpPr>
                  <p:nvPr/>
                </p:nvSpPr>
                <p:spPr bwMode="auto">
                  <a:xfrm>
                    <a:off x="638"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257" name="Rectangle 191"/>
                  <p:cNvSpPr>
                    <a:spLocks noChangeArrowheads="1"/>
                  </p:cNvSpPr>
                  <p:nvPr/>
                </p:nvSpPr>
                <p:spPr bwMode="auto">
                  <a:xfrm>
                    <a:off x="595"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6" name="Group 192"/>
                <p:cNvGrpSpPr>
                  <a:grpSpLocks/>
                </p:cNvGrpSpPr>
                <p:nvPr/>
              </p:nvGrpSpPr>
              <p:grpSpPr bwMode="auto">
                <a:xfrm>
                  <a:off x="1190" y="4224"/>
                  <a:ext cx="595" cy="384"/>
                  <a:chOff x="1190" y="4224"/>
                  <a:chExt cx="595" cy="384"/>
                </a:xfrm>
              </p:grpSpPr>
              <p:sp>
                <p:nvSpPr>
                  <p:cNvPr id="49254" name="Rectangle 193"/>
                  <p:cNvSpPr>
                    <a:spLocks noChangeArrowheads="1"/>
                  </p:cNvSpPr>
                  <p:nvPr/>
                </p:nvSpPr>
                <p:spPr bwMode="auto">
                  <a:xfrm>
                    <a:off x="1233"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55" name="Rectangle 194"/>
                  <p:cNvSpPr>
                    <a:spLocks noChangeArrowheads="1"/>
                  </p:cNvSpPr>
                  <p:nvPr/>
                </p:nvSpPr>
                <p:spPr bwMode="auto">
                  <a:xfrm>
                    <a:off x="1190"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7" name="Group 195"/>
                <p:cNvGrpSpPr>
                  <a:grpSpLocks/>
                </p:cNvGrpSpPr>
                <p:nvPr/>
              </p:nvGrpSpPr>
              <p:grpSpPr bwMode="auto">
                <a:xfrm>
                  <a:off x="1785" y="4224"/>
                  <a:ext cx="595" cy="384"/>
                  <a:chOff x="1785" y="4224"/>
                  <a:chExt cx="595" cy="384"/>
                </a:xfrm>
              </p:grpSpPr>
              <p:sp>
                <p:nvSpPr>
                  <p:cNvPr id="49252" name="Rectangle 196"/>
                  <p:cNvSpPr>
                    <a:spLocks noChangeArrowheads="1"/>
                  </p:cNvSpPr>
                  <p:nvPr/>
                </p:nvSpPr>
                <p:spPr bwMode="auto">
                  <a:xfrm>
                    <a:off x="1828"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53" name="Rectangle 197"/>
                  <p:cNvSpPr>
                    <a:spLocks noChangeArrowheads="1"/>
                  </p:cNvSpPr>
                  <p:nvPr/>
                </p:nvSpPr>
                <p:spPr bwMode="auto">
                  <a:xfrm>
                    <a:off x="1785"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8" name="Group 198"/>
                <p:cNvGrpSpPr>
                  <a:grpSpLocks/>
                </p:cNvGrpSpPr>
                <p:nvPr/>
              </p:nvGrpSpPr>
              <p:grpSpPr bwMode="auto">
                <a:xfrm>
                  <a:off x="2380" y="4224"/>
                  <a:ext cx="595" cy="384"/>
                  <a:chOff x="2380" y="4224"/>
                  <a:chExt cx="595" cy="384"/>
                </a:xfrm>
              </p:grpSpPr>
              <p:sp>
                <p:nvSpPr>
                  <p:cNvPr id="49250" name="Rectangle 199"/>
                  <p:cNvSpPr>
                    <a:spLocks noChangeArrowheads="1"/>
                  </p:cNvSpPr>
                  <p:nvPr/>
                </p:nvSpPr>
                <p:spPr bwMode="auto">
                  <a:xfrm>
                    <a:off x="2423"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51" name="Rectangle 200"/>
                  <p:cNvSpPr>
                    <a:spLocks noChangeArrowheads="1"/>
                  </p:cNvSpPr>
                  <p:nvPr/>
                </p:nvSpPr>
                <p:spPr bwMode="auto">
                  <a:xfrm>
                    <a:off x="2380"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29" name="Group 201"/>
                <p:cNvGrpSpPr>
                  <a:grpSpLocks/>
                </p:cNvGrpSpPr>
                <p:nvPr/>
              </p:nvGrpSpPr>
              <p:grpSpPr bwMode="auto">
                <a:xfrm>
                  <a:off x="2975" y="4224"/>
                  <a:ext cx="595" cy="384"/>
                  <a:chOff x="2975" y="4224"/>
                  <a:chExt cx="595" cy="384"/>
                </a:xfrm>
              </p:grpSpPr>
              <p:sp>
                <p:nvSpPr>
                  <p:cNvPr id="49248" name="Rectangle 202"/>
                  <p:cNvSpPr>
                    <a:spLocks noChangeArrowheads="1"/>
                  </p:cNvSpPr>
                  <p:nvPr/>
                </p:nvSpPr>
                <p:spPr bwMode="auto">
                  <a:xfrm>
                    <a:off x="3018" y="4224"/>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49" name="Rectangle 203"/>
                  <p:cNvSpPr>
                    <a:spLocks noChangeArrowheads="1"/>
                  </p:cNvSpPr>
                  <p:nvPr/>
                </p:nvSpPr>
                <p:spPr bwMode="auto">
                  <a:xfrm>
                    <a:off x="2975" y="4224"/>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0" name="Group 204"/>
                <p:cNvGrpSpPr>
                  <a:grpSpLocks/>
                </p:cNvGrpSpPr>
                <p:nvPr/>
              </p:nvGrpSpPr>
              <p:grpSpPr bwMode="auto">
                <a:xfrm>
                  <a:off x="0" y="4608"/>
                  <a:ext cx="595" cy="384"/>
                  <a:chOff x="0" y="4608"/>
                  <a:chExt cx="595" cy="384"/>
                </a:xfrm>
              </p:grpSpPr>
              <p:sp>
                <p:nvSpPr>
                  <p:cNvPr id="49246" name="Rectangle 205"/>
                  <p:cNvSpPr>
                    <a:spLocks noChangeArrowheads="1"/>
                  </p:cNvSpPr>
                  <p:nvPr/>
                </p:nvSpPr>
                <p:spPr bwMode="auto">
                  <a:xfrm>
                    <a:off x="43"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baseline="30000">
                        <a:latin typeface="Times New Roman" pitchFamily="18" charset="0"/>
                      </a:rPr>
                      <a:t>127</a:t>
                    </a:r>
                    <a:r>
                      <a:rPr lang="en-US" altLang="zh-CN" sz="1800">
                        <a:latin typeface="Times New Roman" pitchFamily="18" charset="0"/>
                      </a:rPr>
                      <a:t>I</a:t>
                    </a:r>
                  </a:p>
                  <a:p>
                    <a:pPr algn="ctr">
                      <a:lnSpc>
                        <a:spcPct val="100000"/>
                      </a:lnSpc>
                    </a:pPr>
                    <a:endParaRPr lang="en-US" altLang="zh-CN" sz="1800">
                      <a:latin typeface="Times New Roman" pitchFamily="18" charset="0"/>
                    </a:endParaRPr>
                  </a:p>
                </p:txBody>
              </p:sp>
              <p:sp>
                <p:nvSpPr>
                  <p:cNvPr id="49247" name="Rectangle 206"/>
                  <p:cNvSpPr>
                    <a:spLocks noChangeArrowheads="1"/>
                  </p:cNvSpPr>
                  <p:nvPr/>
                </p:nvSpPr>
                <p:spPr bwMode="auto">
                  <a:xfrm>
                    <a:off x="0"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1" name="Group 207"/>
                <p:cNvGrpSpPr>
                  <a:grpSpLocks/>
                </p:cNvGrpSpPr>
                <p:nvPr/>
              </p:nvGrpSpPr>
              <p:grpSpPr bwMode="auto">
                <a:xfrm>
                  <a:off x="595" y="4608"/>
                  <a:ext cx="595" cy="384"/>
                  <a:chOff x="595" y="4608"/>
                  <a:chExt cx="595" cy="384"/>
                </a:xfrm>
              </p:grpSpPr>
              <p:sp>
                <p:nvSpPr>
                  <p:cNvPr id="49244" name="Rectangle 208"/>
                  <p:cNvSpPr>
                    <a:spLocks noChangeArrowheads="1"/>
                  </p:cNvSpPr>
                  <p:nvPr/>
                </p:nvSpPr>
                <p:spPr bwMode="auto">
                  <a:xfrm>
                    <a:off x="638"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100</a:t>
                    </a:r>
                  </a:p>
                  <a:p>
                    <a:pPr algn="ctr">
                      <a:lnSpc>
                        <a:spcPct val="100000"/>
                      </a:lnSpc>
                    </a:pPr>
                    <a:endParaRPr lang="en-US" altLang="zh-CN" sz="1800">
                      <a:latin typeface="Times New Roman" pitchFamily="18" charset="0"/>
                    </a:endParaRPr>
                  </a:p>
                </p:txBody>
              </p:sp>
              <p:sp>
                <p:nvSpPr>
                  <p:cNvPr id="49245" name="Rectangle 209"/>
                  <p:cNvSpPr>
                    <a:spLocks noChangeArrowheads="1"/>
                  </p:cNvSpPr>
                  <p:nvPr/>
                </p:nvSpPr>
                <p:spPr bwMode="auto">
                  <a:xfrm>
                    <a:off x="595"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2" name="Group 210"/>
                <p:cNvGrpSpPr>
                  <a:grpSpLocks/>
                </p:cNvGrpSpPr>
                <p:nvPr/>
              </p:nvGrpSpPr>
              <p:grpSpPr bwMode="auto">
                <a:xfrm>
                  <a:off x="1190" y="4608"/>
                  <a:ext cx="595" cy="384"/>
                  <a:chOff x="1190" y="4608"/>
                  <a:chExt cx="595" cy="384"/>
                </a:xfrm>
              </p:grpSpPr>
              <p:sp>
                <p:nvSpPr>
                  <p:cNvPr id="49242" name="Rectangle 211"/>
                  <p:cNvSpPr>
                    <a:spLocks noChangeArrowheads="1"/>
                  </p:cNvSpPr>
                  <p:nvPr/>
                </p:nvSpPr>
                <p:spPr bwMode="auto">
                  <a:xfrm>
                    <a:off x="1233"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43" name="Rectangle 212"/>
                  <p:cNvSpPr>
                    <a:spLocks noChangeArrowheads="1"/>
                  </p:cNvSpPr>
                  <p:nvPr/>
                </p:nvSpPr>
                <p:spPr bwMode="auto">
                  <a:xfrm>
                    <a:off x="1190"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3" name="Group 213"/>
                <p:cNvGrpSpPr>
                  <a:grpSpLocks/>
                </p:cNvGrpSpPr>
                <p:nvPr/>
              </p:nvGrpSpPr>
              <p:grpSpPr bwMode="auto">
                <a:xfrm>
                  <a:off x="1785" y="4608"/>
                  <a:ext cx="595" cy="384"/>
                  <a:chOff x="1785" y="4608"/>
                  <a:chExt cx="595" cy="384"/>
                </a:xfrm>
              </p:grpSpPr>
              <p:sp>
                <p:nvSpPr>
                  <p:cNvPr id="49240" name="Rectangle 214"/>
                  <p:cNvSpPr>
                    <a:spLocks noChangeArrowheads="1"/>
                  </p:cNvSpPr>
                  <p:nvPr/>
                </p:nvSpPr>
                <p:spPr bwMode="auto">
                  <a:xfrm>
                    <a:off x="1828"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41" name="Rectangle 215"/>
                  <p:cNvSpPr>
                    <a:spLocks noChangeArrowheads="1"/>
                  </p:cNvSpPr>
                  <p:nvPr/>
                </p:nvSpPr>
                <p:spPr bwMode="auto">
                  <a:xfrm>
                    <a:off x="1785"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4" name="Group 216"/>
                <p:cNvGrpSpPr>
                  <a:grpSpLocks/>
                </p:cNvGrpSpPr>
                <p:nvPr/>
              </p:nvGrpSpPr>
              <p:grpSpPr bwMode="auto">
                <a:xfrm>
                  <a:off x="2380" y="4608"/>
                  <a:ext cx="595" cy="384"/>
                  <a:chOff x="2380" y="4608"/>
                  <a:chExt cx="595" cy="384"/>
                </a:xfrm>
              </p:grpSpPr>
              <p:sp>
                <p:nvSpPr>
                  <p:cNvPr id="49238" name="Rectangle 217"/>
                  <p:cNvSpPr>
                    <a:spLocks noChangeArrowheads="1"/>
                  </p:cNvSpPr>
                  <p:nvPr/>
                </p:nvSpPr>
                <p:spPr bwMode="auto">
                  <a:xfrm>
                    <a:off x="2423"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39" name="Rectangle 218"/>
                  <p:cNvSpPr>
                    <a:spLocks noChangeArrowheads="1"/>
                  </p:cNvSpPr>
                  <p:nvPr/>
                </p:nvSpPr>
                <p:spPr bwMode="auto">
                  <a:xfrm>
                    <a:off x="2380"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nvGrpSpPr>
                <p:cNvPr id="49235" name="Group 219"/>
                <p:cNvGrpSpPr>
                  <a:grpSpLocks/>
                </p:cNvGrpSpPr>
                <p:nvPr/>
              </p:nvGrpSpPr>
              <p:grpSpPr bwMode="auto">
                <a:xfrm>
                  <a:off x="2975" y="4608"/>
                  <a:ext cx="595" cy="384"/>
                  <a:chOff x="2975" y="4608"/>
                  <a:chExt cx="595" cy="384"/>
                </a:xfrm>
              </p:grpSpPr>
              <p:sp>
                <p:nvSpPr>
                  <p:cNvPr id="49236" name="Rectangle 220"/>
                  <p:cNvSpPr>
                    <a:spLocks noChangeArrowheads="1"/>
                  </p:cNvSpPr>
                  <p:nvPr/>
                </p:nvSpPr>
                <p:spPr bwMode="auto">
                  <a:xfrm>
                    <a:off x="3018" y="4608"/>
                    <a:ext cx="509"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p>
                    <a:pPr algn="ctr">
                      <a:lnSpc>
                        <a:spcPct val="100000"/>
                      </a:lnSpc>
                    </a:pPr>
                    <a:r>
                      <a:rPr lang="en-US" altLang="zh-CN" sz="1800">
                        <a:latin typeface="Times New Roman" pitchFamily="18" charset="0"/>
                      </a:rPr>
                      <a:t> </a:t>
                    </a:r>
                  </a:p>
                  <a:p>
                    <a:pPr algn="ctr">
                      <a:lnSpc>
                        <a:spcPct val="100000"/>
                      </a:lnSpc>
                    </a:pPr>
                    <a:endParaRPr lang="en-US" altLang="zh-CN" sz="1800">
                      <a:latin typeface="Times New Roman" pitchFamily="18" charset="0"/>
                    </a:endParaRPr>
                  </a:p>
                </p:txBody>
              </p:sp>
              <p:sp>
                <p:nvSpPr>
                  <p:cNvPr id="49237" name="Rectangle 221"/>
                  <p:cNvSpPr>
                    <a:spLocks noChangeArrowheads="1"/>
                  </p:cNvSpPr>
                  <p:nvPr/>
                </p:nvSpPr>
                <p:spPr bwMode="auto">
                  <a:xfrm>
                    <a:off x="2975" y="4608"/>
                    <a:ext cx="59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sp>
            <p:nvSpPr>
              <p:cNvPr id="49163" name="Rectangle 222"/>
              <p:cNvSpPr>
                <a:spLocks noChangeArrowheads="1"/>
              </p:cNvSpPr>
              <p:nvPr/>
            </p:nvSpPr>
            <p:spPr bwMode="auto">
              <a:xfrm>
                <a:off x="-3" y="381"/>
                <a:ext cx="3576" cy="4614"/>
              </a:xfrm>
              <a:prstGeom prst="rect">
                <a:avLst/>
              </a:prstGeom>
              <a:noFill/>
              <a:ln w="9525"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p>
                <a:pPr>
                  <a:lnSpc>
                    <a:spcPct val="100000"/>
                  </a:lnSpc>
                </a:pPr>
                <a:endParaRPr lang="zh-CN" altLang="en-US" sz="1800">
                  <a:latin typeface="Verdana" pitchFamily="34" charset="0"/>
                </a:endParaRPr>
              </a:p>
            </p:txBody>
          </p:sp>
        </p:grpSp>
      </p:grpSp>
      <p:sp>
        <p:nvSpPr>
          <p:cNvPr id="49156" name="Text Box 3"/>
          <p:cNvSpPr txBox="1">
            <a:spLocks noChangeArrowheads="1"/>
          </p:cNvSpPr>
          <p:nvPr/>
        </p:nvSpPr>
        <p:spPr bwMode="auto">
          <a:xfrm>
            <a:off x="1509713" y="908050"/>
            <a:ext cx="60166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zh-CN" altLang="en-US" sz="3200">
                <a:solidFill>
                  <a:srgbClr val="0000CC"/>
                </a:solidFill>
                <a:latin typeface="Times New Roman" pitchFamily="18" charset="0"/>
              </a:rPr>
              <a:t>有机物中常见元素的同位素丰度</a:t>
            </a:r>
            <a:endParaRPr lang="zh-CN" altLang="en-US" sz="3200">
              <a:solidFill>
                <a:srgbClr val="0000CC"/>
              </a:solidFill>
              <a:latin typeface="Verdana" pitchFamily="34" charset="0"/>
            </a:endParaRPr>
          </a:p>
        </p:txBody>
      </p:sp>
    </p:spTree>
  </p:cSld>
  <p:clrMapOvr>
    <a:masterClrMapping/>
  </p:clrMapOvr>
  <p:transition spd="slow"/>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907AB62-9FC3-4F92-998F-F78016B59952}"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5017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A41A3274-8E7F-4887-B26E-51D2910920CA}" type="slidenum">
              <a:rPr lang="en-US" altLang="zh-CN" sz="1200" smtClean="0">
                <a:latin typeface="Verdana" pitchFamily="34" charset="0"/>
                <a:ea typeface="宋体" pitchFamily="2" charset="-122"/>
              </a:rPr>
              <a:pPr eaLnBrk="1" hangingPunct="1">
                <a:lnSpc>
                  <a:spcPct val="100000"/>
                </a:lnSpc>
              </a:pPr>
              <a:t>43</a:t>
            </a:fld>
            <a:endParaRPr lang="en-US" altLang="zh-CN" sz="1200" smtClean="0">
              <a:latin typeface="Verdana" pitchFamily="34" charset="0"/>
              <a:ea typeface="宋体" pitchFamily="2" charset="-122"/>
            </a:endParaRPr>
          </a:p>
        </p:txBody>
      </p:sp>
      <p:sp>
        <p:nvSpPr>
          <p:cNvPr id="50180" name="Rectangle 3"/>
          <p:cNvSpPr>
            <a:spLocks noGrp="1" noChangeArrowheads="1"/>
          </p:cNvSpPr>
          <p:nvPr>
            <p:ph type="body" idx="1"/>
          </p:nvPr>
        </p:nvSpPr>
        <p:spPr>
          <a:xfrm>
            <a:off x="71438" y="1341438"/>
            <a:ext cx="8964612" cy="4032250"/>
          </a:xfrm>
        </p:spPr>
        <p:txBody>
          <a:bodyPr/>
          <a:lstStyle/>
          <a:p>
            <a:pPr indent="0" eaLnBrk="1" hangingPunct="1">
              <a:lnSpc>
                <a:spcPct val="150000"/>
              </a:lnSpc>
              <a:buClr>
                <a:srgbClr val="FF00FF"/>
              </a:buClr>
              <a:buFont typeface="Wingdings" pitchFamily="2" charset="2"/>
              <a:buChar char="v"/>
            </a:pPr>
            <a:r>
              <a:rPr lang="en-US" altLang="zh-CN" b="1" smtClean="0">
                <a:solidFill>
                  <a:srgbClr val="CC0099"/>
                </a:solidFill>
                <a:latin typeface="Times New Roman" pitchFamily="18" charset="0"/>
                <a:ea typeface="楷体_GB2312" pitchFamily="49" charset="-122"/>
              </a:rPr>
              <a:t>A</a:t>
            </a:r>
            <a:r>
              <a:rPr lang="zh-CN" altLang="zh-CN" b="1" smtClean="0">
                <a:solidFill>
                  <a:srgbClr val="CC0099"/>
                </a:solidFill>
                <a:latin typeface="Times New Roman" pitchFamily="18" charset="0"/>
                <a:ea typeface="楷体_GB2312" pitchFamily="49" charset="-122"/>
              </a:rPr>
              <a:t>类</a:t>
            </a:r>
            <a:r>
              <a:rPr lang="en-US" altLang="zh-CN" b="1" smtClean="0">
                <a:latin typeface="Times New Roman" pitchFamily="18" charset="0"/>
                <a:ea typeface="楷体_GB2312" pitchFamily="49" charset="-122"/>
              </a:rPr>
              <a:t>:</a:t>
            </a:r>
            <a:r>
              <a:rPr lang="zh-CN" altLang="zh-CN" b="1" smtClean="0">
                <a:latin typeface="Times New Roman" pitchFamily="18" charset="0"/>
                <a:ea typeface="楷体_GB2312" pitchFamily="49" charset="-122"/>
              </a:rPr>
              <a:t>即</a:t>
            </a:r>
            <a:r>
              <a:rPr lang="zh-CN" altLang="en-US" b="1" smtClean="0">
                <a:latin typeface="Times New Roman" pitchFamily="18" charset="0"/>
                <a:ea typeface="楷体_GB2312" pitchFamily="49" charset="-122"/>
              </a:rPr>
              <a:t>单同位素，如</a:t>
            </a:r>
            <a:r>
              <a:rPr lang="en-US" altLang="zh-CN" b="1" smtClean="0">
                <a:solidFill>
                  <a:srgbClr val="0000CC"/>
                </a:solidFill>
                <a:latin typeface="Times New Roman" pitchFamily="18" charset="0"/>
                <a:ea typeface="楷体_GB2312" pitchFamily="49" charset="-122"/>
              </a:rPr>
              <a:t>F</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P</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I</a:t>
            </a:r>
          </a:p>
          <a:p>
            <a:pPr indent="0" eaLnBrk="1" hangingPunct="1">
              <a:lnSpc>
                <a:spcPct val="150000"/>
              </a:lnSpc>
              <a:buClr>
                <a:srgbClr val="FF00FF"/>
              </a:buClr>
              <a:buFont typeface="Wingdings" pitchFamily="2" charset="2"/>
              <a:buChar char="v"/>
            </a:pPr>
            <a:r>
              <a:rPr lang="en-US" altLang="zh-CN" b="1" smtClean="0">
                <a:solidFill>
                  <a:srgbClr val="CC0099"/>
                </a:solidFill>
                <a:latin typeface="Times New Roman" pitchFamily="18" charset="0"/>
                <a:ea typeface="楷体_GB2312" pitchFamily="49" charset="-122"/>
              </a:rPr>
              <a:t>A</a:t>
            </a:r>
            <a:r>
              <a:rPr lang="zh-CN" altLang="en-US" b="1" smtClean="0">
                <a:solidFill>
                  <a:srgbClr val="CC0099"/>
                </a:solidFill>
                <a:latin typeface="Times New Roman" pitchFamily="18" charset="0"/>
                <a:ea typeface="楷体_GB2312" pitchFamily="49" charset="-122"/>
              </a:rPr>
              <a:t>＋</a:t>
            </a:r>
            <a:r>
              <a:rPr lang="en-US" altLang="zh-CN" b="1" smtClean="0">
                <a:solidFill>
                  <a:srgbClr val="CC0099"/>
                </a:solidFill>
                <a:latin typeface="Times New Roman" pitchFamily="18" charset="0"/>
                <a:ea typeface="楷体_GB2312" pitchFamily="49" charset="-122"/>
              </a:rPr>
              <a:t>1</a:t>
            </a:r>
            <a:r>
              <a:rPr lang="zh-CN" altLang="zh-CN" b="1" smtClean="0">
                <a:solidFill>
                  <a:srgbClr val="CC0099"/>
                </a:solidFill>
                <a:latin typeface="Times New Roman" pitchFamily="18" charset="0"/>
                <a:ea typeface="楷体_GB2312" pitchFamily="49" charset="-122"/>
              </a:rPr>
              <a:t>类</a:t>
            </a:r>
            <a:r>
              <a:rPr lang="en-US" altLang="zh-CN" b="1" smtClean="0">
                <a:latin typeface="Times New Roman" pitchFamily="18" charset="0"/>
                <a:ea typeface="楷体_GB2312" pitchFamily="49" charset="-122"/>
              </a:rPr>
              <a:t>:</a:t>
            </a:r>
            <a:r>
              <a:rPr lang="zh-CN" altLang="en-US" b="1" smtClean="0">
                <a:latin typeface="Times New Roman" pitchFamily="18" charset="0"/>
                <a:ea typeface="楷体_GB2312" pitchFamily="49" charset="-122"/>
              </a:rPr>
              <a:t>丰度小的</a:t>
            </a:r>
            <a:r>
              <a:rPr lang="zh-CN" altLang="zh-CN" b="1" smtClean="0">
                <a:latin typeface="Times New Roman" pitchFamily="18" charset="0"/>
                <a:ea typeface="楷体_GB2312" pitchFamily="49" charset="-122"/>
              </a:rPr>
              <a:t>同位素</a:t>
            </a:r>
            <a:r>
              <a:rPr lang="zh-CN" altLang="en-US" b="1" smtClean="0">
                <a:latin typeface="Times New Roman" pitchFamily="18" charset="0"/>
                <a:ea typeface="楷体_GB2312" pitchFamily="49" charset="-122"/>
              </a:rPr>
              <a:t>比最丰富的同位素重一个质量单位</a:t>
            </a:r>
            <a:r>
              <a:rPr lang="zh-CN" altLang="zh-CN" b="1" smtClean="0">
                <a:latin typeface="Times New Roman" pitchFamily="18" charset="0"/>
                <a:ea typeface="楷体_GB2312" pitchFamily="49" charset="-122"/>
              </a:rPr>
              <a:t>，如</a:t>
            </a:r>
            <a:r>
              <a:rPr lang="en-US" altLang="zh-CN" b="1" smtClean="0">
                <a:solidFill>
                  <a:srgbClr val="0000CC"/>
                </a:solidFill>
                <a:latin typeface="Times New Roman" pitchFamily="18" charset="0"/>
                <a:ea typeface="楷体_GB2312" pitchFamily="49" charset="-122"/>
              </a:rPr>
              <a:t>C</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N</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H</a:t>
            </a:r>
          </a:p>
          <a:p>
            <a:pPr indent="0" eaLnBrk="1" hangingPunct="1">
              <a:lnSpc>
                <a:spcPct val="150000"/>
              </a:lnSpc>
              <a:buClr>
                <a:srgbClr val="FF00FF"/>
              </a:buClr>
              <a:buFont typeface="Wingdings" pitchFamily="2" charset="2"/>
              <a:buChar char="v"/>
            </a:pPr>
            <a:r>
              <a:rPr lang="en-US" altLang="zh-CN" b="1" smtClean="0">
                <a:solidFill>
                  <a:srgbClr val="CC0099"/>
                </a:solidFill>
                <a:latin typeface="Times New Roman" pitchFamily="18" charset="0"/>
                <a:ea typeface="楷体_GB2312" pitchFamily="49" charset="-122"/>
              </a:rPr>
              <a:t>A</a:t>
            </a:r>
            <a:r>
              <a:rPr lang="zh-CN" altLang="en-US" b="1" smtClean="0">
                <a:solidFill>
                  <a:srgbClr val="CC0099"/>
                </a:solidFill>
                <a:latin typeface="Times New Roman" pitchFamily="18" charset="0"/>
                <a:ea typeface="楷体_GB2312" pitchFamily="49" charset="-122"/>
              </a:rPr>
              <a:t>＋</a:t>
            </a:r>
            <a:r>
              <a:rPr lang="en-US" altLang="zh-CN" b="1" smtClean="0">
                <a:solidFill>
                  <a:srgbClr val="CC0099"/>
                </a:solidFill>
                <a:latin typeface="Times New Roman" pitchFamily="18" charset="0"/>
                <a:ea typeface="楷体_GB2312" pitchFamily="49" charset="-122"/>
              </a:rPr>
              <a:t>2</a:t>
            </a:r>
            <a:r>
              <a:rPr lang="zh-CN" altLang="zh-CN" b="1" smtClean="0">
                <a:solidFill>
                  <a:srgbClr val="CC0099"/>
                </a:solidFill>
                <a:latin typeface="Times New Roman" pitchFamily="18" charset="0"/>
                <a:ea typeface="楷体_GB2312" pitchFamily="49" charset="-122"/>
              </a:rPr>
              <a:t>类</a:t>
            </a:r>
            <a:r>
              <a:rPr lang="en-US" altLang="zh-CN" b="1" smtClean="0">
                <a:latin typeface="Times New Roman" pitchFamily="18" charset="0"/>
                <a:ea typeface="楷体_GB2312" pitchFamily="49" charset="-122"/>
              </a:rPr>
              <a:t>:</a:t>
            </a:r>
            <a:r>
              <a:rPr lang="zh-CN" altLang="en-US" b="1" smtClean="0">
                <a:latin typeface="Times New Roman" pitchFamily="18" charset="0"/>
                <a:ea typeface="楷体_GB2312" pitchFamily="49" charset="-122"/>
              </a:rPr>
              <a:t>有一个比最丰富的同位素大两个质量单位</a:t>
            </a:r>
            <a:r>
              <a:rPr lang="zh-CN" altLang="zh-CN" b="1" smtClean="0">
                <a:latin typeface="Times New Roman" pitchFamily="18" charset="0"/>
                <a:ea typeface="楷体_GB2312" pitchFamily="49" charset="-122"/>
              </a:rPr>
              <a:t>的同位素，如</a:t>
            </a:r>
            <a:r>
              <a:rPr lang="en-US" altLang="zh-CN" b="1" smtClean="0">
                <a:solidFill>
                  <a:srgbClr val="0000CC"/>
                </a:solidFill>
                <a:latin typeface="Times New Roman" pitchFamily="18" charset="0"/>
                <a:ea typeface="楷体_GB2312" pitchFamily="49" charset="-122"/>
              </a:rPr>
              <a:t>Cl</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Br</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S</a:t>
            </a:r>
            <a:r>
              <a:rPr lang="zh-CN" altLang="en-US" b="1" smtClean="0">
                <a:solidFill>
                  <a:srgbClr val="0000CC"/>
                </a:solidFill>
                <a:latin typeface="Times New Roman" pitchFamily="18" charset="0"/>
                <a:ea typeface="楷体_GB2312" pitchFamily="49" charset="-122"/>
              </a:rPr>
              <a:t>、</a:t>
            </a:r>
            <a:r>
              <a:rPr lang="en-US" altLang="zh-CN" b="1" smtClean="0">
                <a:solidFill>
                  <a:srgbClr val="0000CC"/>
                </a:solidFill>
                <a:latin typeface="Times New Roman" pitchFamily="18" charset="0"/>
                <a:ea typeface="楷体_GB2312" pitchFamily="49" charset="-122"/>
              </a:rPr>
              <a:t>Si</a:t>
            </a:r>
            <a:r>
              <a:rPr lang="zh-CN" altLang="en-US" b="1" smtClean="0">
                <a:latin typeface="Times New Roman" pitchFamily="18" charset="0"/>
                <a:ea typeface="楷体_GB2312" pitchFamily="49" charset="-122"/>
              </a:rPr>
              <a:t>等。</a:t>
            </a:r>
          </a:p>
        </p:txBody>
      </p:sp>
      <p:sp>
        <p:nvSpPr>
          <p:cNvPr id="50181" name="Rectangle 3"/>
          <p:cNvSpPr txBox="1">
            <a:spLocks noChangeArrowheads="1"/>
          </p:cNvSpPr>
          <p:nvPr/>
        </p:nvSpPr>
        <p:spPr bwMode="auto">
          <a:xfrm>
            <a:off x="133350" y="234950"/>
            <a:ext cx="5903913" cy="1106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ts val="750"/>
              </a:spcBef>
              <a:buClr>
                <a:srgbClr val="FF00FF"/>
              </a:buClr>
              <a:buFont typeface="Arial" pitchFamily="34" charset="0"/>
              <a:buNone/>
            </a:pPr>
            <a:r>
              <a:rPr lang="zh-CN" altLang="en-US" sz="3200">
                <a:latin typeface="微软雅黑" pitchFamily="34" charset="-122"/>
                <a:ea typeface="微软雅黑" pitchFamily="34" charset="-122"/>
              </a:rPr>
              <a:t>按同位素组成特点分为三类</a:t>
            </a:r>
            <a:endParaRPr lang="en-US" altLang="zh-CN" sz="3200">
              <a:latin typeface="微软雅黑" pitchFamily="34" charset="-122"/>
              <a:ea typeface="微软雅黑" pitchFamily="34" charset="-122"/>
            </a:endParaRPr>
          </a:p>
        </p:txBody>
      </p:sp>
    </p:spTree>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Rectangle 3"/>
          <p:cNvSpPr>
            <a:spLocks noGrp="1" noChangeArrowheads="1"/>
          </p:cNvSpPr>
          <p:nvPr>
            <p:ph type="body" idx="1"/>
          </p:nvPr>
        </p:nvSpPr>
        <p:spPr>
          <a:xfrm>
            <a:off x="179388" y="3816350"/>
            <a:ext cx="8839200" cy="2925763"/>
          </a:xfrm>
        </p:spPr>
        <p:txBody>
          <a:bodyPr/>
          <a:lstStyle/>
          <a:p>
            <a:pPr marL="0" indent="0">
              <a:lnSpc>
                <a:spcPct val="150000"/>
              </a:lnSpc>
              <a:spcBef>
                <a:spcPct val="0"/>
              </a:spcBef>
              <a:buFont typeface="Arial" pitchFamily="34" charset="0"/>
              <a:buNone/>
            </a:pPr>
            <a:r>
              <a:rPr lang="en-US" altLang="zh-CN" b="1" dirty="0" smtClean="0">
                <a:latin typeface="Times New Roman" pitchFamily="18" charset="0"/>
                <a:ea typeface="楷体_GB2312" pitchFamily="49" charset="-122"/>
              </a:rPr>
              <a:t>        M+1,M+2</a:t>
            </a:r>
            <a:r>
              <a:rPr lang="zh-CN" altLang="en-US" b="1" dirty="0" smtClean="0">
                <a:latin typeface="Times New Roman" pitchFamily="18" charset="0"/>
                <a:ea typeface="楷体_GB2312" pitchFamily="49" charset="-122"/>
              </a:rPr>
              <a:t>等</a:t>
            </a:r>
            <a:r>
              <a:rPr lang="zh-CN" altLang="en-US" b="1" dirty="0" smtClean="0">
                <a:latin typeface="微软雅黑" pitchFamily="34" charset="-122"/>
                <a:ea typeface="微软雅黑" pitchFamily="34" charset="-122"/>
              </a:rPr>
              <a:t>同位素离子峰的强度</a:t>
            </a:r>
            <a:r>
              <a:rPr lang="zh-CN" altLang="en-US" b="1" dirty="0" smtClean="0">
                <a:latin typeface="Times New Roman" pitchFamily="18" charset="0"/>
                <a:ea typeface="楷体_GB2312" pitchFamily="49" charset="-122"/>
              </a:rPr>
              <a:t>取决于分子</a:t>
            </a:r>
            <a:r>
              <a:rPr lang="zh-CN" altLang="en-US" b="1" dirty="0" smtClean="0">
                <a:latin typeface="Times New Roman" pitchFamily="18" charset="0"/>
                <a:ea typeface="楷体_GB2312" pitchFamily="49" charset="-122"/>
              </a:rPr>
              <a:t>中</a:t>
            </a:r>
            <a:r>
              <a:rPr lang="zh-CN" altLang="en-US" b="1" dirty="0">
                <a:latin typeface="微软雅黑" pitchFamily="34" charset="-122"/>
                <a:ea typeface="微软雅黑" pitchFamily="34" charset="-122"/>
              </a:rPr>
              <a:t>元素种类和同位素原子的数目</a:t>
            </a:r>
            <a:r>
              <a:rPr lang="zh-CN" altLang="en-US" b="1" dirty="0" smtClean="0">
                <a:latin typeface="Times New Roman" pitchFamily="18" charset="0"/>
                <a:ea typeface="楷体_GB2312" pitchFamily="49" charset="-122"/>
              </a:rPr>
              <a:t>，</a:t>
            </a:r>
            <a:r>
              <a:rPr lang="zh-CN" altLang="en-US" b="1" dirty="0" smtClean="0">
                <a:latin typeface="Times New Roman" pitchFamily="18" charset="0"/>
                <a:ea typeface="楷体_GB2312" pitchFamily="49" charset="-122"/>
              </a:rPr>
              <a:t>可以通过同位素离子和分子离子的相对强度比来推导分子式。</a:t>
            </a:r>
          </a:p>
        </p:txBody>
      </p:sp>
      <p:sp>
        <p:nvSpPr>
          <p:cNvPr id="51203" name="Rectangle 4"/>
          <p:cNvSpPr>
            <a:spLocks noChangeArrowheads="1"/>
          </p:cNvSpPr>
          <p:nvPr/>
        </p:nvSpPr>
        <p:spPr bwMode="auto">
          <a:xfrm>
            <a:off x="179388" y="44450"/>
            <a:ext cx="8964612"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buClr>
                <a:schemeClr val="accent2"/>
              </a:buClr>
              <a:buFont typeface="Arial" pitchFamily="34" charset="0"/>
              <a:buNone/>
            </a:pPr>
            <a:r>
              <a:rPr lang="zh-CN" altLang="en-US" sz="3200">
                <a:latin typeface="Times New Roman" pitchFamily="18" charset="0"/>
              </a:rPr>
              <a:t>        在有机分子的质谱图中，</a:t>
            </a:r>
            <a:r>
              <a:rPr lang="en-US" altLang="zh-CN" sz="3200">
                <a:latin typeface="Times New Roman" pitchFamily="18" charset="0"/>
              </a:rPr>
              <a:t>M+1, M+2</a:t>
            </a:r>
            <a:r>
              <a:rPr lang="zh-CN" altLang="en-US" sz="3200">
                <a:latin typeface="Times New Roman" pitchFamily="18" charset="0"/>
              </a:rPr>
              <a:t>等同位素离子峰总伴随着分子离子峰一同出现</a:t>
            </a:r>
            <a:r>
              <a:rPr lang="en-US" altLang="en-US" sz="3200">
                <a:latin typeface="Times New Roman" pitchFamily="18" charset="0"/>
              </a:rPr>
              <a:t>。</a:t>
            </a:r>
            <a:r>
              <a:rPr lang="en-US" altLang="zh-CN" sz="3200">
                <a:solidFill>
                  <a:srgbClr val="0000CC"/>
                </a:solidFill>
                <a:latin typeface="Times New Roman" pitchFamily="18" charset="0"/>
              </a:rPr>
              <a:t>M+1</a:t>
            </a:r>
            <a:r>
              <a:rPr lang="zh-CN" altLang="en-US" sz="3200">
                <a:solidFill>
                  <a:srgbClr val="0000CC"/>
                </a:solidFill>
                <a:latin typeface="Times New Roman" pitchFamily="18" charset="0"/>
              </a:rPr>
              <a:t>峰</a:t>
            </a:r>
            <a:r>
              <a:rPr lang="zh-CN" altLang="en-US" sz="3200">
                <a:latin typeface="Times New Roman" pitchFamily="18" charset="0"/>
              </a:rPr>
              <a:t>是由于分子中含有一个</a:t>
            </a:r>
            <a:r>
              <a:rPr lang="en-US" altLang="zh-CN" sz="3200">
                <a:solidFill>
                  <a:srgbClr val="0000CC"/>
                </a:solidFill>
                <a:latin typeface="Times New Roman" pitchFamily="18" charset="0"/>
              </a:rPr>
              <a:t>A+1</a:t>
            </a:r>
            <a:r>
              <a:rPr lang="zh-CN" altLang="en-US" sz="3200">
                <a:solidFill>
                  <a:srgbClr val="0000CC"/>
                </a:solidFill>
                <a:latin typeface="Times New Roman" pitchFamily="18" charset="0"/>
              </a:rPr>
              <a:t>类元素</a:t>
            </a:r>
            <a:r>
              <a:rPr lang="zh-CN" altLang="en-US" sz="3200">
                <a:latin typeface="Times New Roman" pitchFamily="18" charset="0"/>
              </a:rPr>
              <a:t>的重同位素</a:t>
            </a:r>
            <a:r>
              <a:rPr lang="en-US" altLang="zh-CN" sz="3200">
                <a:latin typeface="Times New Roman" pitchFamily="18" charset="0"/>
              </a:rPr>
              <a:t>;</a:t>
            </a:r>
            <a:r>
              <a:rPr lang="en-US" altLang="zh-CN" sz="3200">
                <a:solidFill>
                  <a:srgbClr val="FF3300"/>
                </a:solidFill>
                <a:latin typeface="Times New Roman" pitchFamily="18" charset="0"/>
              </a:rPr>
              <a:t>M+2</a:t>
            </a:r>
            <a:r>
              <a:rPr lang="zh-CN" altLang="en-US" sz="3200">
                <a:solidFill>
                  <a:srgbClr val="FF3300"/>
                </a:solidFill>
                <a:latin typeface="Times New Roman" pitchFamily="18" charset="0"/>
              </a:rPr>
              <a:t>峰</a:t>
            </a:r>
            <a:r>
              <a:rPr lang="zh-CN" altLang="en-US" sz="3200">
                <a:latin typeface="Times New Roman" pitchFamily="18" charset="0"/>
              </a:rPr>
              <a:t>是由于含有一个</a:t>
            </a:r>
            <a:r>
              <a:rPr lang="en-US" altLang="zh-CN" sz="3200">
                <a:solidFill>
                  <a:srgbClr val="FF3300"/>
                </a:solidFill>
                <a:latin typeface="Times New Roman" pitchFamily="18" charset="0"/>
              </a:rPr>
              <a:t>A+2</a:t>
            </a:r>
            <a:r>
              <a:rPr lang="zh-CN" altLang="en-US" sz="3200">
                <a:solidFill>
                  <a:srgbClr val="FF3300"/>
                </a:solidFill>
                <a:latin typeface="Times New Roman" pitchFamily="18" charset="0"/>
              </a:rPr>
              <a:t>类元素</a:t>
            </a:r>
            <a:r>
              <a:rPr lang="zh-CN" altLang="en-US" sz="3200">
                <a:latin typeface="Times New Roman" pitchFamily="18" charset="0"/>
              </a:rPr>
              <a:t>的重同位素或含有两个</a:t>
            </a:r>
            <a:r>
              <a:rPr lang="en-US" altLang="zh-CN" sz="3200">
                <a:latin typeface="Times New Roman" pitchFamily="18" charset="0"/>
              </a:rPr>
              <a:t>A+1</a:t>
            </a:r>
            <a:r>
              <a:rPr lang="zh-CN" altLang="en-US" sz="3200">
                <a:latin typeface="Times New Roman" pitchFamily="18" charset="0"/>
              </a:rPr>
              <a:t>类元素的重同位素。</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5235">
                                            <p:txEl>
                                              <p:pRg st="0" end="0"/>
                                            </p:txEl>
                                          </p:spTgt>
                                        </p:tgtEl>
                                        <p:attrNameLst>
                                          <p:attrName>style.visibility</p:attrName>
                                        </p:attrNameLst>
                                      </p:cBhvr>
                                      <p:to>
                                        <p:strVal val="visible"/>
                                      </p:to>
                                    </p:set>
                                    <p:animEffect transition="in" filter="blinds(horizontal)">
                                      <p:cBhvr>
                                        <p:cTn id="7" dur="500"/>
                                        <p:tgtEl>
                                          <p:spTgt spid="9523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noChangeArrowheads="1"/>
          </p:cNvSpPr>
          <p:nvPr>
            <p:ph type="body" idx="1"/>
          </p:nvPr>
        </p:nvSpPr>
        <p:spPr>
          <a:xfrm>
            <a:off x="468313" y="620713"/>
            <a:ext cx="8207375" cy="4351337"/>
          </a:xfrm>
        </p:spPr>
        <p:txBody>
          <a:bodyPr/>
          <a:lstStyle/>
          <a:p>
            <a:pPr marL="0" indent="0">
              <a:lnSpc>
                <a:spcPct val="150000"/>
              </a:lnSpc>
              <a:spcBef>
                <a:spcPct val="0"/>
              </a:spcBef>
              <a:buFont typeface="Arial" pitchFamily="34" charset="0"/>
              <a:buNone/>
            </a:pPr>
            <a:r>
              <a:rPr lang="en-US" altLang="zh-CN" b="1" smtClean="0">
                <a:latin typeface="Times New Roman" pitchFamily="18" charset="0"/>
                <a:cs typeface="Times New Roman" pitchFamily="18" charset="0"/>
              </a:rPr>
              <a:t>1</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Cl</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Br</a:t>
            </a:r>
            <a:r>
              <a:rPr lang="zh-CN" altLang="en-US" b="1" smtClean="0">
                <a:latin typeface="Times New Roman" pitchFamily="18" charset="0"/>
                <a:cs typeface="Times New Roman" pitchFamily="18" charset="0"/>
              </a:rPr>
              <a:t>元素的识别和原子数目确定</a:t>
            </a:r>
          </a:p>
          <a:p>
            <a:pPr marL="0" indent="0">
              <a:lnSpc>
                <a:spcPct val="150000"/>
              </a:lnSpc>
              <a:spcBef>
                <a:spcPct val="0"/>
              </a:spcBef>
              <a:buFont typeface="Arial" pitchFamily="34" charset="0"/>
              <a:buNone/>
            </a:pPr>
            <a:r>
              <a:rPr lang="en-US" altLang="zh-CN" b="1" smtClean="0">
                <a:latin typeface="Times New Roman" pitchFamily="18" charset="0"/>
                <a:cs typeface="Times New Roman" pitchFamily="18" charset="0"/>
              </a:rPr>
              <a:t>2</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S</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Si</a:t>
            </a:r>
            <a:r>
              <a:rPr lang="zh-CN" altLang="en-US" b="1" smtClean="0">
                <a:latin typeface="Times New Roman" pitchFamily="18" charset="0"/>
                <a:cs typeface="Times New Roman" pitchFamily="18" charset="0"/>
              </a:rPr>
              <a:t>元素的识别和原子数目确定</a:t>
            </a:r>
          </a:p>
          <a:p>
            <a:pPr marL="0" indent="0">
              <a:lnSpc>
                <a:spcPct val="150000"/>
              </a:lnSpc>
              <a:spcBef>
                <a:spcPct val="0"/>
              </a:spcBef>
              <a:buFont typeface="Arial" pitchFamily="34" charset="0"/>
              <a:buNone/>
            </a:pPr>
            <a:r>
              <a:rPr lang="en-US" altLang="zh-CN" b="1" smtClean="0">
                <a:latin typeface="Times New Roman" pitchFamily="18" charset="0"/>
                <a:cs typeface="Times New Roman" pitchFamily="18" charset="0"/>
              </a:rPr>
              <a:t>3</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C</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H</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O</a:t>
            </a:r>
            <a:r>
              <a:rPr lang="zh-CN" altLang="en-US" b="1" smtClean="0">
                <a:latin typeface="Times New Roman" pitchFamily="18" charset="0"/>
                <a:cs typeface="Times New Roman" pitchFamily="18" charset="0"/>
              </a:rPr>
              <a:t>、</a:t>
            </a:r>
            <a:r>
              <a:rPr lang="en-US" altLang="zh-CN" b="1" smtClean="0">
                <a:latin typeface="Times New Roman" pitchFamily="18" charset="0"/>
                <a:cs typeface="Times New Roman" pitchFamily="18" charset="0"/>
              </a:rPr>
              <a:t>N</a:t>
            </a:r>
            <a:r>
              <a:rPr lang="zh-CN" altLang="en-US" b="1" smtClean="0">
                <a:latin typeface="Times New Roman" pitchFamily="18" charset="0"/>
                <a:cs typeface="Times New Roman" pitchFamily="18" charset="0"/>
              </a:rPr>
              <a:t>元素的识别和原子数目确定</a:t>
            </a:r>
          </a:p>
          <a:p>
            <a:pPr marL="0" indent="0">
              <a:lnSpc>
                <a:spcPct val="150000"/>
              </a:lnSpc>
              <a:spcBef>
                <a:spcPct val="0"/>
              </a:spcBef>
              <a:buFont typeface="Arial" pitchFamily="34" charset="0"/>
              <a:buNone/>
            </a:pPr>
            <a:r>
              <a:rPr lang="en-US" altLang="zh-CN" b="1" smtClean="0">
                <a:latin typeface="Times New Roman" pitchFamily="18" charset="0"/>
                <a:cs typeface="Times New Roman" pitchFamily="18" charset="0"/>
              </a:rPr>
              <a:t>4</a:t>
            </a:r>
            <a:r>
              <a:rPr lang="zh-CN" altLang="en-US" b="1" smtClean="0">
                <a:latin typeface="Times New Roman" pitchFamily="18" charset="0"/>
                <a:cs typeface="Times New Roman" pitchFamily="18" charset="0"/>
              </a:rPr>
              <a:t>、单同位素的识别</a:t>
            </a:r>
          </a:p>
          <a:p>
            <a:pPr marL="0" indent="0">
              <a:lnSpc>
                <a:spcPct val="150000"/>
              </a:lnSpc>
              <a:spcBef>
                <a:spcPct val="0"/>
              </a:spcBef>
              <a:buFont typeface="Arial" pitchFamily="34" charset="0"/>
              <a:buNone/>
            </a:pPr>
            <a:r>
              <a:rPr lang="en-US" altLang="zh-CN" b="1" smtClean="0">
                <a:latin typeface="Times New Roman" pitchFamily="18" charset="0"/>
                <a:cs typeface="Times New Roman" pitchFamily="18" charset="0"/>
              </a:rPr>
              <a:t>5</a:t>
            </a:r>
            <a:r>
              <a:rPr lang="zh-CN" altLang="en-US" b="1" smtClean="0">
                <a:latin typeface="Times New Roman" pitchFamily="18" charset="0"/>
                <a:cs typeface="Times New Roman" pitchFamily="18" charset="0"/>
              </a:rPr>
              <a:t>、干扰问题</a:t>
            </a:r>
            <a:endParaRPr lang="zh-CN" altLang="en-US" b="1" smtClean="0">
              <a:latin typeface="Times New Roman" pitchFamily="18" charset="0"/>
              <a:cs typeface="Times New Roman" pitchFamily="18" charset="0"/>
              <a:hlinkClick r:id="" action="ppaction://noaction"/>
            </a:endParaRPr>
          </a:p>
        </p:txBody>
      </p:sp>
    </p:spTree>
  </p:cSld>
  <p:clrMapOvr>
    <a:masterClrMapping/>
  </p:clrMapOvr>
  <p:transition spd="slow"/>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FD4CBF5-E190-4C21-BF54-58D7806B9CEE}" type="slidenum">
              <a:rPr lang="en-US" altLang="zh-CN" sz="1200" smtClean="0">
                <a:latin typeface="Verdana" pitchFamily="34" charset="0"/>
                <a:ea typeface="宋体" pitchFamily="2" charset="-122"/>
              </a:rPr>
              <a:pPr eaLnBrk="1" hangingPunct="1">
                <a:lnSpc>
                  <a:spcPct val="100000"/>
                </a:lnSpc>
              </a:pPr>
              <a:t>46</a:t>
            </a:fld>
            <a:endParaRPr lang="en-US" altLang="zh-CN" sz="1200" smtClean="0">
              <a:latin typeface="Verdana" pitchFamily="34" charset="0"/>
              <a:ea typeface="宋体" pitchFamily="2" charset="-122"/>
            </a:endParaRPr>
          </a:p>
        </p:txBody>
      </p:sp>
      <p:sp>
        <p:nvSpPr>
          <p:cNvPr id="53251" name="Text Box 2"/>
          <p:cNvSpPr txBox="1">
            <a:spLocks noChangeArrowheads="1"/>
          </p:cNvSpPr>
          <p:nvPr/>
        </p:nvSpPr>
        <p:spPr bwMode="auto">
          <a:xfrm>
            <a:off x="192088" y="1038225"/>
            <a:ext cx="8796337"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Font typeface="Arial" pitchFamily="34" charset="0"/>
              <a:buNone/>
            </a:pPr>
            <a:r>
              <a:rPr lang="en-US" altLang="zh-CN" sz="3200">
                <a:latin typeface="Times New Roman" pitchFamily="18" charset="0"/>
                <a:cs typeface="Times New Roman" pitchFamily="18" charset="0"/>
              </a:rPr>
              <a:t>        Cl</a:t>
            </a:r>
            <a:r>
              <a:rPr lang="zh-CN" altLang="en-US" sz="3200">
                <a:latin typeface="Times New Roman" pitchFamily="18" charset="0"/>
                <a:cs typeface="Times New Roman" pitchFamily="18" charset="0"/>
              </a:rPr>
              <a:t>、</a:t>
            </a:r>
            <a:r>
              <a:rPr lang="en-US" altLang="zh-CN" sz="3200">
                <a:latin typeface="Times New Roman" pitchFamily="18" charset="0"/>
                <a:cs typeface="Times New Roman" pitchFamily="18" charset="0"/>
              </a:rPr>
              <a:t>Br</a:t>
            </a:r>
            <a:r>
              <a:rPr lang="zh-CN" altLang="zh-CN" sz="3200">
                <a:latin typeface="Times New Roman" pitchFamily="18" charset="0"/>
                <a:cs typeface="Times New Roman" pitchFamily="18" charset="0"/>
              </a:rPr>
              <a:t>是</a:t>
            </a:r>
            <a:r>
              <a:rPr lang="en-US" altLang="zh-CN" sz="3200">
                <a:solidFill>
                  <a:srgbClr val="FF0000"/>
                </a:solidFill>
                <a:latin typeface="Times New Roman" pitchFamily="18" charset="0"/>
                <a:cs typeface="Times New Roman" pitchFamily="18" charset="0"/>
              </a:rPr>
              <a:t>A</a:t>
            </a:r>
            <a:r>
              <a:rPr lang="zh-CN" altLang="en-US" sz="3200">
                <a:solidFill>
                  <a:srgbClr val="FF0000"/>
                </a:solidFill>
                <a:latin typeface="Times New Roman" pitchFamily="18" charset="0"/>
                <a:cs typeface="Times New Roman" pitchFamily="18" charset="0"/>
              </a:rPr>
              <a:t>＋</a:t>
            </a:r>
            <a:r>
              <a:rPr lang="en-US" altLang="zh-CN" sz="3200">
                <a:solidFill>
                  <a:srgbClr val="FF0000"/>
                </a:solidFill>
                <a:latin typeface="Times New Roman" pitchFamily="18" charset="0"/>
                <a:cs typeface="Times New Roman" pitchFamily="18" charset="0"/>
              </a:rPr>
              <a:t>2</a:t>
            </a:r>
            <a:r>
              <a:rPr lang="zh-CN" altLang="zh-CN" sz="3200">
                <a:latin typeface="Times New Roman" pitchFamily="18" charset="0"/>
                <a:cs typeface="Times New Roman" pitchFamily="18" charset="0"/>
              </a:rPr>
              <a:t>类</a:t>
            </a:r>
            <a:r>
              <a:rPr lang="zh-CN" altLang="en-US" sz="3200">
                <a:latin typeface="Times New Roman" pitchFamily="18" charset="0"/>
                <a:cs typeface="Times New Roman" pitchFamily="18" charset="0"/>
              </a:rPr>
              <a:t>元</a:t>
            </a:r>
            <a:r>
              <a:rPr lang="zh-CN" altLang="zh-CN" sz="3200">
                <a:latin typeface="Times New Roman" pitchFamily="18" charset="0"/>
                <a:cs typeface="Times New Roman" pitchFamily="18" charset="0"/>
              </a:rPr>
              <a:t>素，且</a:t>
            </a:r>
            <a:r>
              <a:rPr lang="zh-CN" altLang="en-US" sz="3200">
                <a:latin typeface="Times New Roman" pitchFamily="18" charset="0"/>
                <a:cs typeface="Times New Roman" pitchFamily="18" charset="0"/>
              </a:rPr>
              <a:t>重</a:t>
            </a:r>
            <a:r>
              <a:rPr lang="zh-CN" altLang="zh-CN" sz="3200">
                <a:latin typeface="Times New Roman" pitchFamily="18" charset="0"/>
                <a:cs typeface="Times New Roman" pitchFamily="18" charset="0"/>
              </a:rPr>
              <a:t>同位素丰度特别大</a:t>
            </a:r>
            <a:r>
              <a:rPr lang="zh-CN" altLang="zh-CN" sz="3200">
                <a:cs typeface="Times New Roman" pitchFamily="18" charset="0"/>
              </a:rPr>
              <a:t>，利用分子离子区域的离子峰形判断</a:t>
            </a:r>
            <a:r>
              <a:rPr lang="zh-CN" altLang="zh-CN" sz="3200">
                <a:latin typeface="Times New Roman" pitchFamily="18" charset="0"/>
                <a:cs typeface="Times New Roman" pitchFamily="18" charset="0"/>
              </a:rPr>
              <a:t>。</a:t>
            </a:r>
            <a:endParaRPr lang="en-US" altLang="zh-CN" sz="3200">
              <a:latin typeface="Times New Roman" pitchFamily="18" charset="0"/>
              <a:cs typeface="Times New Roman" pitchFamily="18" charset="0"/>
            </a:endParaRPr>
          </a:p>
        </p:txBody>
      </p:sp>
      <p:grpSp>
        <p:nvGrpSpPr>
          <p:cNvPr id="2" name="Group 3"/>
          <p:cNvGrpSpPr>
            <a:grpSpLocks/>
          </p:cNvGrpSpPr>
          <p:nvPr/>
        </p:nvGrpSpPr>
        <p:grpSpPr bwMode="auto">
          <a:xfrm>
            <a:off x="5487988" y="3933825"/>
            <a:ext cx="3332162" cy="2116138"/>
            <a:chOff x="1296" y="3024"/>
            <a:chExt cx="1344" cy="1008"/>
          </a:xfrm>
        </p:grpSpPr>
        <p:sp>
          <p:nvSpPr>
            <p:cNvPr id="53257" name="Text Box 4"/>
            <p:cNvSpPr txBox="1">
              <a:spLocks noChangeArrowheads="1"/>
            </p:cNvSpPr>
            <p:nvPr/>
          </p:nvSpPr>
          <p:spPr bwMode="auto">
            <a:xfrm>
              <a:off x="1632" y="3024"/>
              <a:ext cx="37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rPr>
                <a:t>50(3)</a:t>
              </a:r>
            </a:p>
          </p:txBody>
        </p:sp>
        <p:grpSp>
          <p:nvGrpSpPr>
            <p:cNvPr id="53258" name="Group 5"/>
            <p:cNvGrpSpPr>
              <a:grpSpLocks/>
            </p:cNvGrpSpPr>
            <p:nvPr/>
          </p:nvGrpSpPr>
          <p:grpSpPr bwMode="auto">
            <a:xfrm>
              <a:off x="1296" y="3120"/>
              <a:ext cx="1344" cy="912"/>
              <a:chOff x="1296" y="3120"/>
              <a:chExt cx="1344" cy="912"/>
            </a:xfrm>
          </p:grpSpPr>
          <p:grpSp>
            <p:nvGrpSpPr>
              <p:cNvPr id="53259" name="Group 6"/>
              <p:cNvGrpSpPr>
                <a:grpSpLocks/>
              </p:cNvGrpSpPr>
              <p:nvPr/>
            </p:nvGrpSpPr>
            <p:grpSpPr bwMode="auto">
              <a:xfrm>
                <a:off x="1296" y="3120"/>
                <a:ext cx="1344" cy="912"/>
                <a:chOff x="1344" y="1872"/>
                <a:chExt cx="1344" cy="912"/>
              </a:xfrm>
            </p:grpSpPr>
            <p:sp>
              <p:nvSpPr>
                <p:cNvPr id="53262" name="Line 7"/>
                <p:cNvSpPr>
                  <a:spLocks noChangeShapeType="1"/>
                </p:cNvSpPr>
                <p:nvPr/>
              </p:nvSpPr>
              <p:spPr bwMode="auto">
                <a:xfrm>
                  <a:off x="1344" y="2784"/>
                  <a:ext cx="1344"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3" name="Line 8"/>
                <p:cNvSpPr>
                  <a:spLocks noChangeShapeType="1"/>
                </p:cNvSpPr>
                <p:nvPr/>
              </p:nvSpPr>
              <p:spPr bwMode="auto">
                <a:xfrm flipV="1">
                  <a:off x="1680" y="1872"/>
                  <a:ext cx="0" cy="912"/>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4" name="Line 9"/>
                <p:cNvSpPr>
                  <a:spLocks noChangeShapeType="1"/>
                </p:cNvSpPr>
                <p:nvPr/>
              </p:nvSpPr>
              <p:spPr bwMode="auto">
                <a:xfrm flipV="1">
                  <a:off x="1872" y="2496"/>
                  <a:ext cx="0" cy="288"/>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5" name="Line 10"/>
                <p:cNvSpPr>
                  <a:spLocks noChangeShapeType="1"/>
                </p:cNvSpPr>
                <p:nvPr/>
              </p:nvSpPr>
              <p:spPr bwMode="auto">
                <a:xfrm flipV="1">
                  <a:off x="1776" y="2688"/>
                  <a:ext cx="0" cy="96"/>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6" name="Line 11"/>
                <p:cNvSpPr>
                  <a:spLocks noChangeShapeType="1"/>
                </p:cNvSpPr>
                <p:nvPr/>
              </p:nvSpPr>
              <p:spPr bwMode="auto">
                <a:xfrm>
                  <a:off x="2016" y="2784"/>
                  <a:ext cx="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3267" name="Line 12"/>
                <p:cNvSpPr>
                  <a:spLocks noChangeShapeType="1"/>
                </p:cNvSpPr>
                <p:nvPr/>
              </p:nvSpPr>
              <p:spPr bwMode="auto">
                <a:xfrm flipH="1">
                  <a:off x="1968" y="2736"/>
                  <a:ext cx="0" cy="48"/>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3260" name="Text Box 13"/>
              <p:cNvSpPr txBox="1">
                <a:spLocks noChangeArrowheads="1"/>
              </p:cNvSpPr>
              <p:nvPr/>
            </p:nvSpPr>
            <p:spPr bwMode="auto">
              <a:xfrm>
                <a:off x="2205" y="3157"/>
                <a:ext cx="9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endParaRPr lang="zh-CN" altLang="zh-CN" sz="2400">
                  <a:latin typeface="Times New Roman" pitchFamily="18" charset="0"/>
                </a:endParaRPr>
              </a:p>
            </p:txBody>
          </p:sp>
          <p:sp>
            <p:nvSpPr>
              <p:cNvPr id="53261" name="Text Box 14"/>
              <p:cNvSpPr txBox="1">
                <a:spLocks noChangeArrowheads="1"/>
              </p:cNvSpPr>
              <p:nvPr/>
            </p:nvSpPr>
            <p:spPr bwMode="auto">
              <a:xfrm>
                <a:off x="1776" y="3553"/>
                <a:ext cx="37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rPr>
                  <a:t>52(1)</a:t>
                </a:r>
              </a:p>
            </p:txBody>
          </p:sp>
        </p:grpSp>
      </p:grpSp>
      <p:sp>
        <p:nvSpPr>
          <p:cNvPr id="53253" name="Rectangle 15"/>
          <p:cNvSpPr>
            <a:spLocks noGrp="1" noChangeArrowheads="1"/>
          </p:cNvSpPr>
          <p:nvPr>
            <p:ph type="title"/>
          </p:nvPr>
        </p:nvSpPr>
        <p:spPr>
          <a:xfrm>
            <a:off x="241300" y="234950"/>
            <a:ext cx="8264525" cy="893763"/>
          </a:xfrm>
        </p:spPr>
        <p:txBody>
          <a:bodyPr/>
          <a:lstStyle/>
          <a:p>
            <a:pPr eaLnBrk="1" hangingPunct="1"/>
            <a:r>
              <a:rPr lang="en-US" altLang="zh-CN" sz="3600" b="1" smtClean="0">
                <a:solidFill>
                  <a:srgbClr val="0000CC"/>
                </a:solidFill>
                <a:latin typeface="Times New Roman" pitchFamily="18" charset="0"/>
                <a:cs typeface="Times New Roman" pitchFamily="18" charset="0"/>
              </a:rPr>
              <a:t>1</a:t>
            </a:r>
            <a:r>
              <a:rPr lang="zh-CN" altLang="en-US" sz="3600" b="1" smtClean="0">
                <a:solidFill>
                  <a:srgbClr val="0000CC"/>
                </a:solidFill>
                <a:latin typeface="Times New Roman" pitchFamily="18" charset="0"/>
                <a:cs typeface="Times New Roman" pitchFamily="18" charset="0"/>
              </a:rPr>
              <a:t>、</a:t>
            </a:r>
            <a:r>
              <a:rPr lang="en-US" altLang="zh-CN" sz="3600" b="1" smtClean="0">
                <a:solidFill>
                  <a:srgbClr val="0000CC"/>
                </a:solidFill>
                <a:latin typeface="Times New Roman" pitchFamily="18" charset="0"/>
                <a:cs typeface="Times New Roman" pitchFamily="18" charset="0"/>
              </a:rPr>
              <a:t>Cl</a:t>
            </a:r>
            <a:r>
              <a:rPr lang="zh-CN" altLang="en-US" sz="3600" b="1" smtClean="0">
                <a:solidFill>
                  <a:srgbClr val="0000CC"/>
                </a:solidFill>
                <a:latin typeface="Times New Roman" pitchFamily="18" charset="0"/>
                <a:cs typeface="Times New Roman" pitchFamily="18" charset="0"/>
              </a:rPr>
              <a:t>、</a:t>
            </a:r>
            <a:r>
              <a:rPr lang="en-US" altLang="zh-CN" sz="3600" b="1" smtClean="0">
                <a:solidFill>
                  <a:srgbClr val="0000CC"/>
                </a:solidFill>
                <a:latin typeface="Times New Roman" pitchFamily="18" charset="0"/>
                <a:cs typeface="Times New Roman" pitchFamily="18" charset="0"/>
              </a:rPr>
              <a:t>Br</a:t>
            </a:r>
            <a:r>
              <a:rPr lang="zh-CN" altLang="en-US" sz="3600" b="1" smtClean="0">
                <a:solidFill>
                  <a:srgbClr val="0000CC"/>
                </a:solidFill>
                <a:latin typeface="Times New Roman" pitchFamily="18" charset="0"/>
                <a:cs typeface="Times New Roman" pitchFamily="18" charset="0"/>
              </a:rPr>
              <a:t>元素的识别和原子数目确定</a:t>
            </a:r>
          </a:p>
        </p:txBody>
      </p:sp>
      <p:sp>
        <p:nvSpPr>
          <p:cNvPr id="35856" name="Text Box 16"/>
          <p:cNvSpPr txBox="1">
            <a:spLocks noChangeArrowheads="1"/>
          </p:cNvSpPr>
          <p:nvPr/>
        </p:nvSpPr>
        <p:spPr bwMode="auto">
          <a:xfrm>
            <a:off x="487363" y="3525838"/>
            <a:ext cx="5019675"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20000"/>
              </a:lnSpc>
              <a:buFont typeface="Arial" pitchFamily="34" charset="0"/>
              <a:buNone/>
            </a:pPr>
            <a:r>
              <a:rPr lang="zh-CN" altLang="en-US" sz="3200">
                <a:latin typeface="Times New Roman" pitchFamily="18" charset="0"/>
                <a:cs typeface="Times New Roman" pitchFamily="18" charset="0"/>
              </a:rPr>
              <a:t>分子中含一个</a:t>
            </a:r>
            <a:r>
              <a:rPr lang="en-US" altLang="zh-CN" sz="3200">
                <a:latin typeface="Times New Roman" pitchFamily="18" charset="0"/>
                <a:cs typeface="Times New Roman" pitchFamily="18" charset="0"/>
              </a:rPr>
              <a:t>Cl</a:t>
            </a:r>
            <a:r>
              <a:rPr lang="zh-CN" altLang="en-US" sz="3200">
                <a:latin typeface="Times New Roman" pitchFamily="18" charset="0"/>
                <a:cs typeface="Times New Roman" pitchFamily="18" charset="0"/>
              </a:rPr>
              <a:t>原子</a:t>
            </a:r>
            <a:endParaRPr lang="zh-CN" altLang="en-US" sz="3200">
              <a:cs typeface="Times New Roman" pitchFamily="18" charset="0"/>
            </a:endParaRPr>
          </a:p>
          <a:p>
            <a:pPr eaLnBrk="1" hangingPunct="1">
              <a:lnSpc>
                <a:spcPct val="120000"/>
              </a:lnSpc>
            </a:pPr>
            <a:r>
              <a:rPr lang="zh-CN" altLang="en-US" sz="3200">
                <a:cs typeface="Times New Roman" pitchFamily="18" charset="0"/>
              </a:rPr>
              <a:t>     </a:t>
            </a:r>
            <a:r>
              <a:rPr lang="en-US" altLang="zh-CN" sz="3200">
                <a:latin typeface="Times New Roman" pitchFamily="18" charset="0"/>
                <a:cs typeface="Times New Roman" pitchFamily="18" charset="0"/>
              </a:rPr>
              <a:t>CH</a:t>
            </a:r>
            <a:r>
              <a:rPr lang="en-US" altLang="zh-CN" sz="3200" baseline="-25000">
                <a:latin typeface="Times New Roman" pitchFamily="18" charset="0"/>
                <a:cs typeface="Times New Roman" pitchFamily="18" charset="0"/>
              </a:rPr>
              <a:t>3</a:t>
            </a:r>
            <a:r>
              <a:rPr lang="en-US" altLang="zh-CN" sz="3200" baseline="30000">
                <a:latin typeface="Times New Roman" pitchFamily="18" charset="0"/>
                <a:cs typeface="Times New Roman" pitchFamily="18" charset="0"/>
              </a:rPr>
              <a:t>35</a:t>
            </a:r>
            <a:r>
              <a:rPr lang="en-US" altLang="zh-CN" sz="3200">
                <a:latin typeface="Times New Roman" pitchFamily="18" charset="0"/>
                <a:cs typeface="Times New Roman" pitchFamily="18" charset="0"/>
              </a:rPr>
              <a:t>Cl     CH</a:t>
            </a:r>
            <a:r>
              <a:rPr lang="en-US" altLang="zh-CN" sz="3200" baseline="-25000">
                <a:latin typeface="Times New Roman" pitchFamily="18" charset="0"/>
                <a:cs typeface="Times New Roman" pitchFamily="18" charset="0"/>
              </a:rPr>
              <a:t>3</a:t>
            </a:r>
            <a:r>
              <a:rPr lang="en-US" altLang="zh-CN" sz="3200" baseline="30000">
                <a:latin typeface="Times New Roman" pitchFamily="18" charset="0"/>
                <a:cs typeface="Times New Roman" pitchFamily="18" charset="0"/>
              </a:rPr>
              <a:t>37</a:t>
            </a:r>
            <a:r>
              <a:rPr lang="en-US" altLang="zh-CN" sz="3200">
                <a:latin typeface="Times New Roman" pitchFamily="18" charset="0"/>
                <a:cs typeface="Times New Roman" pitchFamily="18" charset="0"/>
              </a:rPr>
              <a:t>Cl</a:t>
            </a:r>
          </a:p>
          <a:p>
            <a:pPr eaLnBrk="1" hangingPunct="1">
              <a:lnSpc>
                <a:spcPct val="120000"/>
              </a:lnSpc>
            </a:pPr>
            <a:endParaRPr lang="en-US" altLang="zh-CN" sz="3200">
              <a:latin typeface="Times New Roman" pitchFamily="18" charset="0"/>
              <a:cs typeface="Times New Roman" pitchFamily="18" charset="0"/>
            </a:endParaRPr>
          </a:p>
          <a:p>
            <a:pPr eaLnBrk="1" hangingPunct="1">
              <a:lnSpc>
                <a:spcPct val="120000"/>
              </a:lnSpc>
            </a:pPr>
            <a:r>
              <a:rPr lang="en-US" altLang="zh-CN" sz="3200">
                <a:latin typeface="Times New Roman" pitchFamily="18" charset="0"/>
                <a:cs typeface="Times New Roman" pitchFamily="18" charset="0"/>
              </a:rPr>
              <a:t>m/z          50              52</a:t>
            </a:r>
          </a:p>
          <a:p>
            <a:pPr eaLnBrk="1" hangingPunct="1">
              <a:lnSpc>
                <a:spcPct val="120000"/>
              </a:lnSpc>
            </a:pPr>
            <a:r>
              <a:rPr lang="zh-CN" altLang="zh-CN" sz="3200">
                <a:cs typeface="Times New Roman" pitchFamily="18" charset="0"/>
              </a:rPr>
              <a:t>丰度比  </a:t>
            </a:r>
            <a:r>
              <a:rPr lang="en-US" altLang="zh-CN" sz="3200">
                <a:cs typeface="Times New Roman" pitchFamily="18" charset="0"/>
              </a:rPr>
              <a:t> </a:t>
            </a:r>
            <a:r>
              <a:rPr lang="en-US" altLang="zh-CN" sz="3200">
                <a:solidFill>
                  <a:srgbClr val="0000CC"/>
                </a:solidFill>
                <a:latin typeface="Times New Roman" pitchFamily="18" charset="0"/>
                <a:cs typeface="Times New Roman" pitchFamily="18" charset="0"/>
                <a:sym typeface="Symbol" pitchFamily="18" charset="2"/>
              </a:rPr>
              <a:t>3      </a:t>
            </a:r>
            <a:r>
              <a:rPr lang="en-US" altLang="zh-CN" sz="3200">
                <a:solidFill>
                  <a:srgbClr val="0000CC"/>
                </a:solidFill>
                <a:latin typeface="Times New Roman" pitchFamily="18" charset="0"/>
                <a:cs typeface="Times New Roman" pitchFamily="18" charset="0"/>
              </a:rPr>
              <a:t>:        1</a:t>
            </a:r>
          </a:p>
        </p:txBody>
      </p:sp>
      <p:sp>
        <p:nvSpPr>
          <p:cNvPr id="19" name="Text Box 2"/>
          <p:cNvSpPr txBox="1">
            <a:spLocks noChangeArrowheads="1"/>
          </p:cNvSpPr>
          <p:nvPr/>
        </p:nvSpPr>
        <p:spPr bwMode="auto">
          <a:xfrm>
            <a:off x="827088" y="2579688"/>
            <a:ext cx="5876925"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50000"/>
              </a:lnSpc>
              <a:spcBef>
                <a:spcPct val="0"/>
              </a:spcBef>
              <a:buFont typeface="Arial" panose="020B0604020202020204" pitchFamily="34" charset="0"/>
              <a:buNone/>
              <a:defRPr/>
            </a:pPr>
            <a:r>
              <a:rPr lang="zh-CN" altLang="en-US" sz="3200" dirty="0" smtClean="0">
                <a:latin typeface="Times New Roman" panose="02020603050405020304" pitchFamily="18" charset="0"/>
                <a:ea typeface="+mn-ea"/>
                <a:cs typeface="Times New Roman" panose="02020603050405020304" pitchFamily="18" charset="0"/>
              </a:rPr>
              <a:t>以</a:t>
            </a:r>
            <a:r>
              <a:rPr lang="en-US" altLang="zh-CN" sz="3200" dirty="0" smtClean="0">
                <a:latin typeface="Times New Roman" panose="02020603050405020304" pitchFamily="18" charset="0"/>
                <a:ea typeface="+mn-ea"/>
                <a:cs typeface="Times New Roman" panose="02020603050405020304" pitchFamily="18" charset="0"/>
              </a:rPr>
              <a:t>Cl</a:t>
            </a:r>
            <a:r>
              <a:rPr lang="zh-CN" altLang="en-US" sz="3200" dirty="0" smtClean="0">
                <a:latin typeface="Times New Roman" panose="02020603050405020304" pitchFamily="18" charset="0"/>
                <a:ea typeface="+mn-ea"/>
                <a:cs typeface="Times New Roman" panose="02020603050405020304" pitchFamily="18" charset="0"/>
              </a:rPr>
              <a:t>为例    </a:t>
            </a:r>
            <a:r>
              <a:rPr lang="en-US" altLang="zh-CN" sz="3200" baseline="30000" dirty="0" smtClean="0">
                <a:solidFill>
                  <a:srgbClr val="0000CC"/>
                </a:solidFill>
                <a:latin typeface="Times New Roman" panose="02020603050405020304" pitchFamily="18" charset="0"/>
              </a:rPr>
              <a:t>35</a:t>
            </a:r>
            <a:r>
              <a:rPr lang="en-US" altLang="zh-CN" sz="3200" dirty="0" smtClean="0">
                <a:solidFill>
                  <a:srgbClr val="0000CC"/>
                </a:solidFill>
                <a:latin typeface="Times New Roman" panose="02020603050405020304" pitchFamily="18" charset="0"/>
              </a:rPr>
              <a:t>Cl : </a:t>
            </a:r>
            <a:r>
              <a:rPr lang="en-US" altLang="zh-CN" sz="3200" baseline="30000" dirty="0" smtClean="0">
                <a:solidFill>
                  <a:srgbClr val="0000CC"/>
                </a:solidFill>
                <a:latin typeface="Times New Roman" panose="02020603050405020304" pitchFamily="18" charset="0"/>
              </a:rPr>
              <a:t>37</a:t>
            </a:r>
            <a:r>
              <a:rPr lang="en-US" altLang="zh-CN" sz="3200" dirty="0" smtClean="0">
                <a:solidFill>
                  <a:srgbClr val="0000CC"/>
                </a:solidFill>
                <a:latin typeface="Times New Roman" panose="02020603050405020304" pitchFamily="18" charset="0"/>
              </a:rPr>
              <a:t>Cl </a:t>
            </a:r>
            <a:r>
              <a:rPr lang="en-US" altLang="zh-CN" sz="3200" dirty="0" smtClean="0">
                <a:solidFill>
                  <a:srgbClr val="0000CC"/>
                </a:solidFill>
                <a:latin typeface="Times New Roman" panose="02020603050405020304" pitchFamily="18" charset="0"/>
                <a:sym typeface="Symbol" panose="05050102010706020507" pitchFamily="18" charset="2"/>
              </a:rPr>
              <a:t> 3 </a:t>
            </a:r>
            <a:r>
              <a:rPr lang="en-US" altLang="zh-CN" sz="3200" dirty="0" smtClean="0">
                <a:solidFill>
                  <a:srgbClr val="0000CC"/>
                </a:solidFill>
                <a:latin typeface="Times New Roman" panose="02020603050405020304" pitchFamily="18" charset="0"/>
              </a:rPr>
              <a:t>: 1</a:t>
            </a:r>
          </a:p>
        </p:txBody>
      </p:sp>
      <p:sp>
        <p:nvSpPr>
          <p:cNvPr id="53256" name="Text Box 2"/>
          <p:cNvSpPr txBox="1">
            <a:spLocks noChangeArrowheads="1"/>
          </p:cNvSpPr>
          <p:nvPr/>
        </p:nvSpPr>
        <p:spPr bwMode="auto">
          <a:xfrm>
            <a:off x="2127250" y="4581525"/>
            <a:ext cx="27733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Font typeface="Arial" pitchFamily="34" charset="0"/>
              <a:buNone/>
            </a:pPr>
            <a:r>
              <a:rPr lang="en-US" altLang="zh-CN" sz="3200">
                <a:solidFill>
                  <a:srgbClr val="0000CC"/>
                </a:solidFill>
                <a:latin typeface="Times New Roman" pitchFamily="18" charset="0"/>
              </a:rPr>
              <a:t>M            M+2</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56"/>
                                        </p:tgtEl>
                                        <p:attrNameLst>
                                          <p:attrName>style.visibility</p:attrName>
                                        </p:attrNameLst>
                                      </p:cBhvr>
                                      <p:to>
                                        <p:strVal val="visible"/>
                                      </p:to>
                                    </p:set>
                                    <p:animEffect transition="in" filter="blinds(horizontal)">
                                      <p:cBhvr>
                                        <p:cTn id="7" dur="500"/>
                                        <p:tgtEl>
                                          <p:spTgt spid="358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1800EF36-3EAE-4D40-BDD2-CB755AB8FEA4}"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5427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0E352EC-0E56-4CFF-94EB-6D09C4942C0A}" type="slidenum">
              <a:rPr lang="en-US" altLang="zh-CN" sz="1200" smtClean="0">
                <a:latin typeface="Verdana" pitchFamily="34" charset="0"/>
                <a:ea typeface="宋体" pitchFamily="2" charset="-122"/>
              </a:rPr>
              <a:pPr eaLnBrk="1" hangingPunct="1">
                <a:lnSpc>
                  <a:spcPct val="100000"/>
                </a:lnSpc>
              </a:pPr>
              <a:t>47</a:t>
            </a:fld>
            <a:endParaRPr lang="en-US" altLang="zh-CN" sz="1200" smtClean="0">
              <a:latin typeface="Verdana" pitchFamily="34" charset="0"/>
              <a:ea typeface="宋体" pitchFamily="2" charset="-122"/>
            </a:endParaRPr>
          </a:p>
        </p:txBody>
      </p:sp>
      <p:sp>
        <p:nvSpPr>
          <p:cNvPr id="54276" name="Text Box 2"/>
          <p:cNvSpPr txBox="1">
            <a:spLocks noChangeArrowheads="1"/>
          </p:cNvSpPr>
          <p:nvPr/>
        </p:nvSpPr>
        <p:spPr bwMode="auto">
          <a:xfrm>
            <a:off x="369888" y="268288"/>
            <a:ext cx="6578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buFont typeface="Arial" pitchFamily="34" charset="0"/>
              <a:buNone/>
            </a:pPr>
            <a:r>
              <a:rPr lang="zh-CN" altLang="en-US" sz="3200">
                <a:latin typeface="Times New Roman" pitchFamily="18" charset="0"/>
                <a:cs typeface="Times New Roman" pitchFamily="18" charset="0"/>
              </a:rPr>
              <a:t>分子含二个</a:t>
            </a:r>
            <a:r>
              <a:rPr lang="en-US" altLang="zh-CN" sz="3200">
                <a:latin typeface="Times New Roman" pitchFamily="18" charset="0"/>
                <a:cs typeface="Times New Roman" pitchFamily="18" charset="0"/>
              </a:rPr>
              <a:t>Cl</a:t>
            </a:r>
            <a:r>
              <a:rPr lang="zh-CN" altLang="en-US" sz="3200">
                <a:latin typeface="Times New Roman" pitchFamily="18" charset="0"/>
                <a:cs typeface="Times New Roman" pitchFamily="18" charset="0"/>
              </a:rPr>
              <a:t>原子，如</a:t>
            </a:r>
            <a:r>
              <a:rPr lang="en-US" altLang="zh-CN" sz="3200">
                <a:solidFill>
                  <a:srgbClr val="0000CC"/>
                </a:solidFill>
                <a:latin typeface="Times New Roman" pitchFamily="18" charset="0"/>
                <a:cs typeface="Times New Roman" pitchFamily="18" charset="0"/>
              </a:rPr>
              <a:t>CH</a:t>
            </a:r>
            <a:r>
              <a:rPr lang="en-US" altLang="zh-CN" sz="3200" baseline="-25000">
                <a:solidFill>
                  <a:srgbClr val="0000CC"/>
                </a:solidFill>
                <a:latin typeface="Times New Roman" pitchFamily="18" charset="0"/>
                <a:cs typeface="Times New Roman" pitchFamily="18" charset="0"/>
              </a:rPr>
              <a:t>2</a:t>
            </a:r>
            <a:r>
              <a:rPr lang="en-US" altLang="zh-CN" sz="3200">
                <a:solidFill>
                  <a:srgbClr val="0000CC"/>
                </a:solidFill>
                <a:latin typeface="Times New Roman" pitchFamily="18" charset="0"/>
                <a:cs typeface="Times New Roman" pitchFamily="18" charset="0"/>
              </a:rPr>
              <a:t>Cl</a:t>
            </a:r>
            <a:r>
              <a:rPr lang="en-US" altLang="zh-CN" sz="3200" baseline="30000">
                <a:solidFill>
                  <a:srgbClr val="0000CC"/>
                </a:solidFill>
                <a:latin typeface="Times New Roman" pitchFamily="18" charset="0"/>
                <a:cs typeface="Times New Roman" pitchFamily="18" charset="0"/>
              </a:rPr>
              <a:t>1</a:t>
            </a:r>
            <a:r>
              <a:rPr lang="en-US" altLang="zh-CN" sz="3200">
                <a:solidFill>
                  <a:srgbClr val="0000CC"/>
                </a:solidFill>
                <a:latin typeface="Times New Roman" pitchFamily="18" charset="0"/>
                <a:cs typeface="Times New Roman" pitchFamily="18" charset="0"/>
              </a:rPr>
              <a:t>Cl</a:t>
            </a:r>
            <a:r>
              <a:rPr lang="en-US" altLang="zh-CN" sz="3200" baseline="30000">
                <a:solidFill>
                  <a:srgbClr val="0000CC"/>
                </a:solidFill>
                <a:latin typeface="Times New Roman" pitchFamily="18" charset="0"/>
                <a:cs typeface="Times New Roman" pitchFamily="18" charset="0"/>
              </a:rPr>
              <a:t>2</a:t>
            </a:r>
            <a:endParaRPr lang="zh-CN" altLang="en-US" sz="3200" baseline="30000">
              <a:solidFill>
                <a:srgbClr val="0000CC"/>
              </a:solidFill>
              <a:latin typeface="Times New Roman" pitchFamily="18" charset="0"/>
              <a:cs typeface="Times New Roman" pitchFamily="18" charset="0"/>
            </a:endParaRPr>
          </a:p>
        </p:txBody>
      </p:sp>
      <p:grpSp>
        <p:nvGrpSpPr>
          <p:cNvPr id="2" name="Group 3"/>
          <p:cNvGrpSpPr>
            <a:grpSpLocks/>
          </p:cNvGrpSpPr>
          <p:nvPr/>
        </p:nvGrpSpPr>
        <p:grpSpPr bwMode="auto">
          <a:xfrm>
            <a:off x="3635375" y="4387850"/>
            <a:ext cx="2822575" cy="2203450"/>
            <a:chOff x="3552" y="2976"/>
            <a:chExt cx="1344" cy="1008"/>
          </a:xfrm>
        </p:grpSpPr>
        <p:sp>
          <p:nvSpPr>
            <p:cNvPr id="54281" name="Text Box 4"/>
            <p:cNvSpPr txBox="1">
              <a:spLocks noChangeArrowheads="1"/>
            </p:cNvSpPr>
            <p:nvPr/>
          </p:nvSpPr>
          <p:spPr bwMode="auto">
            <a:xfrm>
              <a:off x="3936" y="2976"/>
              <a:ext cx="415"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rPr>
                <a:t>84(9)</a:t>
              </a:r>
            </a:p>
          </p:txBody>
        </p:sp>
        <p:grpSp>
          <p:nvGrpSpPr>
            <p:cNvPr id="54282" name="Group 5"/>
            <p:cNvGrpSpPr>
              <a:grpSpLocks/>
            </p:cNvGrpSpPr>
            <p:nvPr/>
          </p:nvGrpSpPr>
          <p:grpSpPr bwMode="auto">
            <a:xfrm>
              <a:off x="3552" y="3072"/>
              <a:ext cx="1344" cy="912"/>
              <a:chOff x="3552" y="3072"/>
              <a:chExt cx="1344" cy="912"/>
            </a:xfrm>
          </p:grpSpPr>
          <p:grpSp>
            <p:nvGrpSpPr>
              <p:cNvPr id="54283" name="Group 6"/>
              <p:cNvGrpSpPr>
                <a:grpSpLocks/>
              </p:cNvGrpSpPr>
              <p:nvPr/>
            </p:nvGrpSpPr>
            <p:grpSpPr bwMode="auto">
              <a:xfrm>
                <a:off x="3552" y="3072"/>
                <a:ext cx="1344" cy="912"/>
                <a:chOff x="3600" y="1824"/>
                <a:chExt cx="1344" cy="912"/>
              </a:xfrm>
            </p:grpSpPr>
            <p:sp>
              <p:nvSpPr>
                <p:cNvPr id="54287" name="Line 7"/>
                <p:cNvSpPr>
                  <a:spLocks noChangeShapeType="1"/>
                </p:cNvSpPr>
                <p:nvPr/>
              </p:nvSpPr>
              <p:spPr bwMode="auto">
                <a:xfrm>
                  <a:off x="3600" y="2736"/>
                  <a:ext cx="1344"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8" name="Line 8"/>
                <p:cNvSpPr>
                  <a:spLocks noChangeShapeType="1"/>
                </p:cNvSpPr>
                <p:nvPr/>
              </p:nvSpPr>
              <p:spPr bwMode="auto">
                <a:xfrm flipV="1">
                  <a:off x="3984" y="1824"/>
                  <a:ext cx="0" cy="912"/>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89" name="Line 9"/>
                <p:cNvSpPr>
                  <a:spLocks noChangeShapeType="1"/>
                </p:cNvSpPr>
                <p:nvPr/>
              </p:nvSpPr>
              <p:spPr bwMode="auto">
                <a:xfrm flipV="1">
                  <a:off x="4176" y="2112"/>
                  <a:ext cx="0" cy="624"/>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0" name="Line 10"/>
                <p:cNvSpPr>
                  <a:spLocks noChangeShapeType="1"/>
                </p:cNvSpPr>
                <p:nvPr/>
              </p:nvSpPr>
              <p:spPr bwMode="auto">
                <a:xfrm flipV="1">
                  <a:off x="4368" y="2592"/>
                  <a:ext cx="0" cy="144"/>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1" name="Line 11"/>
                <p:cNvSpPr>
                  <a:spLocks noChangeShapeType="1"/>
                </p:cNvSpPr>
                <p:nvPr/>
              </p:nvSpPr>
              <p:spPr bwMode="auto">
                <a:xfrm flipV="1">
                  <a:off x="4080" y="2592"/>
                  <a:ext cx="0" cy="144"/>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2" name="Line 12"/>
                <p:cNvSpPr>
                  <a:spLocks noChangeShapeType="1"/>
                </p:cNvSpPr>
                <p:nvPr/>
              </p:nvSpPr>
              <p:spPr bwMode="auto">
                <a:xfrm flipV="1">
                  <a:off x="4272" y="2688"/>
                  <a:ext cx="0" cy="48"/>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3" name="Line 13"/>
                <p:cNvSpPr>
                  <a:spLocks noChangeShapeType="1"/>
                </p:cNvSpPr>
                <p:nvPr/>
              </p:nvSpPr>
              <p:spPr bwMode="auto">
                <a:xfrm>
                  <a:off x="4464" y="2736"/>
                  <a:ext cx="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4294" name="Line 14"/>
                <p:cNvSpPr>
                  <a:spLocks noChangeShapeType="1"/>
                </p:cNvSpPr>
                <p:nvPr/>
              </p:nvSpPr>
              <p:spPr bwMode="auto">
                <a:xfrm>
                  <a:off x="4464" y="2736"/>
                  <a:ext cx="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54284" name="Text Box 15"/>
              <p:cNvSpPr txBox="1">
                <a:spLocks noChangeArrowheads="1"/>
              </p:cNvSpPr>
              <p:nvPr/>
            </p:nvSpPr>
            <p:spPr bwMode="auto">
              <a:xfrm>
                <a:off x="4512" y="3107"/>
                <a:ext cx="104"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endParaRPr lang="zh-CN" altLang="zh-CN" sz="2400">
                  <a:latin typeface="Times New Roman" pitchFamily="18" charset="0"/>
                </a:endParaRPr>
              </a:p>
            </p:txBody>
          </p:sp>
          <p:sp>
            <p:nvSpPr>
              <p:cNvPr id="54285" name="Text Box 16"/>
              <p:cNvSpPr txBox="1">
                <a:spLocks noChangeArrowheads="1"/>
              </p:cNvSpPr>
              <p:nvPr/>
            </p:nvSpPr>
            <p:spPr bwMode="auto">
              <a:xfrm>
                <a:off x="4320" y="3648"/>
                <a:ext cx="41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rPr>
                  <a:t>88(1)</a:t>
                </a:r>
              </a:p>
            </p:txBody>
          </p:sp>
          <p:sp>
            <p:nvSpPr>
              <p:cNvPr id="54286" name="Text Box 17"/>
              <p:cNvSpPr txBox="1">
                <a:spLocks noChangeArrowheads="1"/>
              </p:cNvSpPr>
              <p:nvPr/>
            </p:nvSpPr>
            <p:spPr bwMode="auto">
              <a:xfrm>
                <a:off x="4128" y="3216"/>
                <a:ext cx="415"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2000">
                    <a:latin typeface="Times New Roman" pitchFamily="18" charset="0"/>
                  </a:rPr>
                  <a:t>86(6)</a:t>
                </a:r>
              </a:p>
            </p:txBody>
          </p:sp>
        </p:grpSp>
      </p:grpSp>
      <p:sp>
        <p:nvSpPr>
          <p:cNvPr id="36882" name="Text Box 18"/>
          <p:cNvSpPr txBox="1">
            <a:spLocks noChangeArrowheads="1"/>
          </p:cNvSpPr>
          <p:nvPr/>
        </p:nvSpPr>
        <p:spPr bwMode="auto">
          <a:xfrm>
            <a:off x="727075" y="3149600"/>
            <a:ext cx="80295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zh-CN" altLang="en-US">
                <a:latin typeface="Times New Roman" pitchFamily="18" charset="0"/>
              </a:rPr>
              <a:t>                      </a:t>
            </a:r>
            <a:r>
              <a:rPr lang="en-US" altLang="zh-CN">
                <a:latin typeface="Times New Roman" pitchFamily="18" charset="0"/>
              </a:rPr>
              <a:t>M</a:t>
            </a:r>
            <a:r>
              <a:rPr lang="en-US" altLang="zh-CN">
                <a:solidFill>
                  <a:srgbClr val="0000CC"/>
                </a:solidFill>
                <a:latin typeface="Times New Roman" pitchFamily="18" charset="0"/>
              </a:rPr>
              <a:t>             M+2         M+2          </a:t>
            </a:r>
            <a:r>
              <a:rPr lang="en-US" altLang="zh-CN">
                <a:solidFill>
                  <a:srgbClr val="CC0099"/>
                </a:solidFill>
                <a:latin typeface="Times New Roman" pitchFamily="18" charset="0"/>
              </a:rPr>
              <a:t>M+4</a:t>
            </a:r>
          </a:p>
          <a:p>
            <a:pPr eaLnBrk="1" hangingPunct="1">
              <a:lnSpc>
                <a:spcPct val="100000"/>
              </a:lnSpc>
            </a:pPr>
            <a:r>
              <a:rPr lang="zh-CN" altLang="en-US">
                <a:latin typeface="Times New Roman" pitchFamily="18" charset="0"/>
              </a:rPr>
              <a:t>丰度比</a:t>
            </a:r>
            <a:r>
              <a:rPr lang="en-US" altLang="zh-CN" baseline="-25000">
                <a:latin typeface="宋体" pitchFamily="2" charset="-122"/>
              </a:rPr>
              <a:t>      </a:t>
            </a:r>
            <a:r>
              <a:rPr lang="en-US" altLang="zh-CN">
                <a:latin typeface="Times New Roman" pitchFamily="18" charset="0"/>
              </a:rPr>
              <a:t>(3×3)        </a:t>
            </a:r>
            <a:r>
              <a:rPr lang="en-US" altLang="zh-CN">
                <a:solidFill>
                  <a:srgbClr val="0000CC"/>
                </a:solidFill>
                <a:latin typeface="Times New Roman" pitchFamily="18" charset="0"/>
              </a:rPr>
              <a:t>(1×3)      (3×1)       </a:t>
            </a:r>
            <a:r>
              <a:rPr lang="en-US" altLang="zh-CN">
                <a:solidFill>
                  <a:srgbClr val="CC0099"/>
                </a:solidFill>
                <a:latin typeface="Times New Roman" pitchFamily="18" charset="0"/>
              </a:rPr>
              <a:t>(1×1)</a:t>
            </a:r>
            <a:endParaRPr lang="en-US" altLang="zh-CN" sz="2400">
              <a:solidFill>
                <a:srgbClr val="CC0099"/>
              </a:solidFill>
              <a:latin typeface="Times New Roman" pitchFamily="18" charset="0"/>
            </a:endParaRPr>
          </a:p>
        </p:txBody>
      </p:sp>
      <p:sp>
        <p:nvSpPr>
          <p:cNvPr id="31766" name="Text Box 2"/>
          <p:cNvSpPr txBox="1">
            <a:spLocks noChangeArrowheads="1"/>
          </p:cNvSpPr>
          <p:nvPr/>
        </p:nvSpPr>
        <p:spPr bwMode="auto">
          <a:xfrm>
            <a:off x="157163" y="1169988"/>
            <a:ext cx="856932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3200">
                <a:latin typeface="Times New Roman" pitchFamily="18" charset="0"/>
              </a:rPr>
              <a:t>1</a:t>
            </a:r>
            <a:r>
              <a:rPr lang="en-US" altLang="zh-CN" sz="3200" baseline="30000">
                <a:latin typeface="Times New Roman" pitchFamily="18" charset="0"/>
              </a:rPr>
              <a:t>#</a:t>
            </a:r>
            <a:r>
              <a:rPr lang="en-US" altLang="zh-CN" sz="3200">
                <a:latin typeface="Times New Roman" pitchFamily="18" charset="0"/>
              </a:rPr>
              <a:t>Cl</a:t>
            </a:r>
            <a:r>
              <a:rPr lang="zh-CN" altLang="en-US" sz="3200">
                <a:latin typeface="Times New Roman" pitchFamily="18" charset="0"/>
              </a:rPr>
              <a:t>原子     </a:t>
            </a:r>
            <a:r>
              <a:rPr lang="en-US" altLang="zh-CN" sz="3200">
                <a:latin typeface="Times New Roman" pitchFamily="18" charset="0"/>
              </a:rPr>
              <a:t>35</a:t>
            </a:r>
            <a:r>
              <a:rPr lang="zh-CN" altLang="en-US" sz="3200">
                <a:latin typeface="Times New Roman" pitchFamily="18" charset="0"/>
              </a:rPr>
              <a:t>（</a:t>
            </a:r>
            <a:r>
              <a:rPr lang="en-US" altLang="zh-CN" sz="3200">
                <a:latin typeface="Times New Roman" pitchFamily="18" charset="0"/>
              </a:rPr>
              <a:t>3</a:t>
            </a:r>
            <a:r>
              <a:rPr lang="zh-CN" altLang="en-US" sz="3200">
                <a:latin typeface="Times New Roman" pitchFamily="18" charset="0"/>
              </a:rPr>
              <a:t>）   </a:t>
            </a:r>
            <a:r>
              <a:rPr lang="en-US" altLang="zh-CN" sz="3200">
                <a:solidFill>
                  <a:srgbClr val="0000CC"/>
                </a:solidFill>
                <a:latin typeface="Times New Roman" pitchFamily="18" charset="0"/>
              </a:rPr>
              <a:t>37</a:t>
            </a:r>
            <a:r>
              <a:rPr lang="zh-CN" altLang="en-US" sz="3200">
                <a:solidFill>
                  <a:srgbClr val="0000CC"/>
                </a:solidFill>
                <a:latin typeface="Times New Roman" pitchFamily="18" charset="0"/>
              </a:rPr>
              <a:t>（</a:t>
            </a:r>
            <a:r>
              <a:rPr lang="en-US" altLang="zh-CN" sz="3200">
                <a:solidFill>
                  <a:srgbClr val="0000CC"/>
                </a:solidFill>
                <a:latin typeface="Times New Roman" pitchFamily="18" charset="0"/>
              </a:rPr>
              <a:t>1</a:t>
            </a:r>
            <a:r>
              <a:rPr lang="zh-CN" altLang="en-US" sz="3200">
                <a:solidFill>
                  <a:srgbClr val="0000CC"/>
                </a:solidFill>
                <a:latin typeface="Times New Roman" pitchFamily="18" charset="0"/>
              </a:rPr>
              <a:t>）   </a:t>
            </a:r>
            <a:r>
              <a:rPr lang="en-US" altLang="zh-CN" sz="3200">
                <a:latin typeface="Times New Roman" pitchFamily="18" charset="0"/>
              </a:rPr>
              <a:t>35</a:t>
            </a:r>
            <a:r>
              <a:rPr lang="zh-CN" altLang="en-US" sz="3200">
                <a:latin typeface="Times New Roman" pitchFamily="18" charset="0"/>
              </a:rPr>
              <a:t>（</a:t>
            </a:r>
            <a:r>
              <a:rPr lang="en-US" altLang="zh-CN" sz="3200">
                <a:latin typeface="Times New Roman" pitchFamily="18" charset="0"/>
              </a:rPr>
              <a:t>3</a:t>
            </a:r>
            <a:r>
              <a:rPr lang="zh-CN" altLang="en-US" sz="3200">
                <a:latin typeface="Times New Roman" pitchFamily="18" charset="0"/>
              </a:rPr>
              <a:t>）</a:t>
            </a:r>
            <a:r>
              <a:rPr lang="zh-CN" altLang="en-US" sz="3200">
                <a:solidFill>
                  <a:srgbClr val="0000CC"/>
                </a:solidFill>
                <a:latin typeface="Times New Roman" pitchFamily="18" charset="0"/>
              </a:rPr>
              <a:t> 	</a:t>
            </a:r>
            <a:r>
              <a:rPr lang="en-US" altLang="zh-CN" sz="3200">
                <a:solidFill>
                  <a:srgbClr val="0000CC"/>
                </a:solidFill>
                <a:latin typeface="Times New Roman" pitchFamily="18" charset="0"/>
              </a:rPr>
              <a:t>37</a:t>
            </a:r>
            <a:r>
              <a:rPr lang="zh-CN" altLang="en-US" sz="3200">
                <a:solidFill>
                  <a:srgbClr val="0000CC"/>
                </a:solidFill>
                <a:latin typeface="Times New Roman" pitchFamily="18" charset="0"/>
              </a:rPr>
              <a:t>（</a:t>
            </a:r>
            <a:r>
              <a:rPr lang="en-US" altLang="zh-CN" sz="3200">
                <a:solidFill>
                  <a:srgbClr val="0000CC"/>
                </a:solidFill>
                <a:latin typeface="Times New Roman" pitchFamily="18" charset="0"/>
              </a:rPr>
              <a:t>1</a:t>
            </a:r>
            <a:r>
              <a:rPr lang="zh-CN" altLang="en-US" sz="3200">
                <a:solidFill>
                  <a:srgbClr val="0000CC"/>
                </a:solidFill>
                <a:latin typeface="Times New Roman" pitchFamily="18" charset="0"/>
              </a:rPr>
              <a:t>）</a:t>
            </a:r>
          </a:p>
          <a:p>
            <a:pPr eaLnBrk="1" hangingPunct="1">
              <a:lnSpc>
                <a:spcPct val="150000"/>
              </a:lnSpc>
            </a:pPr>
            <a:r>
              <a:rPr lang="en-US" altLang="zh-CN" sz="3200">
                <a:latin typeface="Times New Roman" pitchFamily="18" charset="0"/>
              </a:rPr>
              <a:t>2</a:t>
            </a:r>
            <a:r>
              <a:rPr lang="en-US" altLang="zh-CN" sz="3200" baseline="30000">
                <a:latin typeface="Times New Roman" pitchFamily="18" charset="0"/>
              </a:rPr>
              <a:t>#</a:t>
            </a:r>
            <a:r>
              <a:rPr lang="en-US" altLang="zh-CN" sz="3200">
                <a:latin typeface="Times New Roman" pitchFamily="18" charset="0"/>
              </a:rPr>
              <a:t>Cl</a:t>
            </a:r>
            <a:r>
              <a:rPr lang="zh-CN" altLang="en-US" sz="3200">
                <a:latin typeface="Times New Roman" pitchFamily="18" charset="0"/>
              </a:rPr>
              <a:t>原子     </a:t>
            </a:r>
            <a:r>
              <a:rPr lang="en-US" altLang="zh-CN" sz="3200">
                <a:latin typeface="Times New Roman" pitchFamily="18" charset="0"/>
              </a:rPr>
              <a:t>35</a:t>
            </a:r>
            <a:r>
              <a:rPr lang="zh-CN" altLang="en-US" sz="3200">
                <a:latin typeface="Times New Roman" pitchFamily="18" charset="0"/>
              </a:rPr>
              <a:t>（</a:t>
            </a:r>
            <a:r>
              <a:rPr lang="en-US" altLang="zh-CN" sz="3200">
                <a:latin typeface="Times New Roman" pitchFamily="18" charset="0"/>
              </a:rPr>
              <a:t>3</a:t>
            </a:r>
            <a:r>
              <a:rPr lang="zh-CN" altLang="en-US" sz="3200">
                <a:latin typeface="Times New Roman" pitchFamily="18" charset="0"/>
              </a:rPr>
              <a:t>）	  </a:t>
            </a:r>
            <a:r>
              <a:rPr lang="en-US" altLang="zh-CN" sz="3200">
                <a:latin typeface="Times New Roman" pitchFamily="18" charset="0"/>
              </a:rPr>
              <a:t>35</a:t>
            </a:r>
            <a:r>
              <a:rPr lang="zh-CN" altLang="en-US" sz="3200">
                <a:latin typeface="Times New Roman" pitchFamily="18" charset="0"/>
              </a:rPr>
              <a:t>（</a:t>
            </a:r>
            <a:r>
              <a:rPr lang="en-US" altLang="zh-CN" sz="3200">
                <a:latin typeface="Times New Roman" pitchFamily="18" charset="0"/>
              </a:rPr>
              <a:t>3</a:t>
            </a:r>
            <a:r>
              <a:rPr lang="zh-CN" altLang="en-US" sz="3200">
                <a:latin typeface="Times New Roman" pitchFamily="18" charset="0"/>
              </a:rPr>
              <a:t>）</a:t>
            </a:r>
            <a:r>
              <a:rPr lang="zh-CN" altLang="en-US" sz="3200">
                <a:solidFill>
                  <a:srgbClr val="0000CC"/>
                </a:solidFill>
                <a:latin typeface="Times New Roman" pitchFamily="18" charset="0"/>
              </a:rPr>
              <a:t>   </a:t>
            </a:r>
            <a:r>
              <a:rPr lang="en-US" altLang="zh-CN" sz="3200">
                <a:solidFill>
                  <a:srgbClr val="0000CC"/>
                </a:solidFill>
                <a:latin typeface="Times New Roman" pitchFamily="18" charset="0"/>
              </a:rPr>
              <a:t>37</a:t>
            </a:r>
            <a:r>
              <a:rPr lang="zh-CN" altLang="en-US" sz="3200">
                <a:solidFill>
                  <a:srgbClr val="0000CC"/>
                </a:solidFill>
                <a:latin typeface="Times New Roman" pitchFamily="18" charset="0"/>
              </a:rPr>
              <a:t>（</a:t>
            </a:r>
            <a:r>
              <a:rPr lang="en-US" altLang="zh-CN" sz="3200">
                <a:solidFill>
                  <a:srgbClr val="0000CC"/>
                </a:solidFill>
                <a:latin typeface="Times New Roman" pitchFamily="18" charset="0"/>
              </a:rPr>
              <a:t>1</a:t>
            </a:r>
            <a:r>
              <a:rPr lang="zh-CN" altLang="en-US" sz="3200">
                <a:solidFill>
                  <a:srgbClr val="0000CC"/>
                </a:solidFill>
                <a:latin typeface="Times New Roman" pitchFamily="18" charset="0"/>
              </a:rPr>
              <a:t>）</a:t>
            </a:r>
            <a:r>
              <a:rPr lang="zh-CN" altLang="en-US" sz="3200">
                <a:latin typeface="Times New Roman" pitchFamily="18" charset="0"/>
              </a:rPr>
              <a:t>	</a:t>
            </a:r>
            <a:r>
              <a:rPr lang="en-US" altLang="zh-CN" sz="3200">
                <a:solidFill>
                  <a:srgbClr val="0000CC"/>
                </a:solidFill>
                <a:latin typeface="Times New Roman" pitchFamily="18" charset="0"/>
              </a:rPr>
              <a:t>37</a:t>
            </a:r>
            <a:r>
              <a:rPr lang="zh-CN" altLang="en-US" sz="3200">
                <a:solidFill>
                  <a:srgbClr val="0000CC"/>
                </a:solidFill>
                <a:latin typeface="Times New Roman" pitchFamily="18" charset="0"/>
              </a:rPr>
              <a:t>（</a:t>
            </a:r>
            <a:r>
              <a:rPr lang="en-US" altLang="zh-CN" sz="3200">
                <a:solidFill>
                  <a:srgbClr val="0000CC"/>
                </a:solidFill>
                <a:latin typeface="Times New Roman" pitchFamily="18" charset="0"/>
              </a:rPr>
              <a:t>1</a:t>
            </a:r>
            <a:r>
              <a:rPr lang="zh-CN" altLang="en-US" sz="3200">
                <a:solidFill>
                  <a:srgbClr val="0000CC"/>
                </a:solidFill>
                <a:latin typeface="Times New Roman" pitchFamily="18" charset="0"/>
              </a:rPr>
              <a:t>）</a:t>
            </a:r>
          </a:p>
        </p:txBody>
      </p:sp>
      <p:sp>
        <p:nvSpPr>
          <p:cNvPr id="22" name="Text Box 18"/>
          <p:cNvSpPr txBox="1">
            <a:spLocks noChangeArrowheads="1"/>
          </p:cNvSpPr>
          <p:nvPr/>
        </p:nvSpPr>
        <p:spPr bwMode="auto">
          <a:xfrm>
            <a:off x="546100" y="2565400"/>
            <a:ext cx="7986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zh-CN" altLang="en-US" sz="3200">
                <a:latin typeface="Times New Roman" pitchFamily="18" charset="0"/>
              </a:rPr>
              <a:t>分子量         </a:t>
            </a:r>
            <a:r>
              <a:rPr lang="en-US" altLang="zh-CN" sz="3200">
                <a:latin typeface="Times New Roman" pitchFamily="18" charset="0"/>
              </a:rPr>
              <a:t>84             </a:t>
            </a:r>
            <a:r>
              <a:rPr lang="en-US" altLang="zh-CN" sz="3200">
                <a:solidFill>
                  <a:srgbClr val="0000CC"/>
                </a:solidFill>
                <a:latin typeface="Times New Roman" pitchFamily="18" charset="0"/>
              </a:rPr>
              <a:t>86            86            </a:t>
            </a:r>
            <a:r>
              <a:rPr lang="en-US" altLang="zh-CN" sz="3200">
                <a:solidFill>
                  <a:srgbClr val="CC0099"/>
                </a:solidFill>
                <a:latin typeface="Times New Roman" pitchFamily="18" charset="0"/>
              </a:rPr>
              <a:t>88</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766"/>
                                        </p:tgtEl>
                                        <p:attrNameLst>
                                          <p:attrName>style.visibility</p:attrName>
                                        </p:attrNameLst>
                                      </p:cBhvr>
                                      <p:to>
                                        <p:strVal val="visible"/>
                                      </p:to>
                                    </p:set>
                                    <p:animEffect transition="in" filter="blinds(horizontal)">
                                      <p:cBhvr>
                                        <p:cTn id="7" dur="500"/>
                                        <p:tgtEl>
                                          <p:spTgt spid="317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blinds(horizontal)">
                                      <p:cBhvr>
                                        <p:cTn id="12" dur="500"/>
                                        <p:tgtEl>
                                          <p:spTgt spid="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6882"/>
                                        </p:tgtEl>
                                        <p:attrNameLst>
                                          <p:attrName>style.visibility</p:attrName>
                                        </p:attrNameLst>
                                      </p:cBhvr>
                                      <p:to>
                                        <p:strVal val="visible"/>
                                      </p:to>
                                    </p:set>
                                    <p:animEffect transition="in" filter="blinds(horizontal)">
                                      <p:cBhvr>
                                        <p:cTn id="17" dur="500"/>
                                        <p:tgtEl>
                                          <p:spTgt spid="368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2" grpId="0"/>
      <p:bldP spid="31766" grpId="0"/>
      <p:bldP spid="22"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7C4CC0C7-272F-41FF-97EE-61F7A7CC36FE}"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5529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E4400DE-9EA9-4E15-B6D9-55BD559AA2E1}" type="slidenum">
              <a:rPr lang="en-US" altLang="zh-CN" sz="1200" smtClean="0">
                <a:latin typeface="Verdana" pitchFamily="34" charset="0"/>
                <a:ea typeface="宋体" pitchFamily="2" charset="-122"/>
              </a:rPr>
              <a:pPr eaLnBrk="1" hangingPunct="1">
                <a:lnSpc>
                  <a:spcPct val="100000"/>
                </a:lnSpc>
              </a:pPr>
              <a:t>48</a:t>
            </a:fld>
            <a:endParaRPr lang="en-US" altLang="zh-CN" sz="1200" smtClean="0">
              <a:latin typeface="Verdana" pitchFamily="34" charset="0"/>
              <a:ea typeface="宋体" pitchFamily="2" charset="-122"/>
            </a:endParaRPr>
          </a:p>
        </p:txBody>
      </p:sp>
      <p:sp>
        <p:nvSpPr>
          <p:cNvPr id="46085" name="Rectangle 3"/>
          <p:cNvSpPr>
            <a:spLocks noGrp="1" noChangeArrowheads="1"/>
          </p:cNvSpPr>
          <p:nvPr>
            <p:ph type="body" idx="1"/>
          </p:nvPr>
        </p:nvSpPr>
        <p:spPr>
          <a:xfrm>
            <a:off x="1657350" y="4060825"/>
            <a:ext cx="5630863" cy="2420938"/>
          </a:xfrm>
        </p:spPr>
        <p:txBody>
          <a:bodyPr/>
          <a:lstStyle/>
          <a:p>
            <a:pPr marL="0" indent="0" eaLnBrk="1" hangingPunct="1">
              <a:lnSpc>
                <a:spcPct val="150000"/>
              </a:lnSpc>
              <a:spcBef>
                <a:spcPts val="0"/>
              </a:spcBef>
              <a:buClr>
                <a:srgbClr val="FF00FF"/>
              </a:buClr>
              <a:buFont typeface="Arial" pitchFamily="34" charset="0"/>
              <a:buNone/>
              <a:defRPr/>
            </a:pPr>
            <a:r>
              <a:rPr lang="en-US" altLang="zh-CN" b="1" dirty="0" smtClean="0">
                <a:latin typeface="Times New Roman" panose="02020603050405020304" pitchFamily="18" charset="0"/>
                <a:ea typeface="+mj-ea"/>
                <a:cs typeface="Times New Roman" panose="02020603050405020304" pitchFamily="18" charset="0"/>
              </a:rPr>
              <a:t>        </a:t>
            </a:r>
            <a:r>
              <a:rPr lang="zh-CN" altLang="en-US" b="1" dirty="0" smtClean="0">
                <a:latin typeface="Times New Roman" panose="02020603050405020304" pitchFamily="18" charset="0"/>
                <a:ea typeface="+mj-ea"/>
                <a:cs typeface="Times New Roman" panose="02020603050405020304" pitchFamily="18" charset="0"/>
              </a:rPr>
              <a:t>当分子中</a:t>
            </a:r>
            <a:r>
              <a:rPr lang="zh-CN" altLang="zh-CN" b="1" dirty="0" smtClean="0">
                <a:latin typeface="Times New Roman" panose="02020603050405020304" pitchFamily="18" charset="0"/>
                <a:ea typeface="+mj-ea"/>
                <a:cs typeface="Times New Roman" panose="02020603050405020304" pitchFamily="18" charset="0"/>
              </a:rPr>
              <a:t>含两个氯时</a:t>
            </a:r>
            <a:endParaRPr lang="en-US" altLang="zh-CN" b="1" dirty="0" smtClean="0">
              <a:latin typeface="Times New Roman" panose="02020603050405020304" pitchFamily="18" charset="0"/>
              <a:ea typeface="+mj-ea"/>
              <a:cs typeface="Times New Roman" panose="02020603050405020304" pitchFamily="18" charset="0"/>
            </a:endParaRPr>
          </a:p>
          <a:p>
            <a:pPr eaLnBrk="1" hangingPunct="1">
              <a:lnSpc>
                <a:spcPct val="150000"/>
              </a:lnSpc>
              <a:spcBef>
                <a:spcPts val="0"/>
              </a:spcBef>
              <a:buClr>
                <a:srgbClr val="FF00FF"/>
              </a:buClr>
              <a:buFont typeface="Wingdings" panose="05000000000000000000" pitchFamily="2" charset="2"/>
              <a:buNone/>
              <a:defRPr/>
            </a:pPr>
            <a:r>
              <a:rPr lang="zh-CN" altLang="en-US" b="1" dirty="0" smtClean="0">
                <a:solidFill>
                  <a:srgbClr val="990000"/>
                </a:solidFill>
                <a:latin typeface="Times New Roman" panose="02020603050405020304" pitchFamily="18" charset="0"/>
                <a:ea typeface="+mj-ea"/>
                <a:cs typeface="Times New Roman" panose="02020603050405020304" pitchFamily="18" charset="0"/>
              </a:rPr>
              <a:t>  </a:t>
            </a:r>
            <a:r>
              <a:rPr lang="en-US" altLang="zh-CN" b="1" dirty="0" smtClean="0">
                <a:latin typeface="Times New Roman" panose="02020603050405020304" pitchFamily="18" charset="0"/>
                <a:ea typeface="+mj-ea"/>
                <a:cs typeface="Times New Roman" panose="02020603050405020304" pitchFamily="18" charset="0"/>
              </a:rPr>
              <a:t>(</a:t>
            </a:r>
            <a:r>
              <a:rPr lang="en-US" altLang="zh-CN" b="1" dirty="0" err="1" smtClean="0">
                <a:latin typeface="Times New Roman" panose="02020603050405020304" pitchFamily="18" charset="0"/>
                <a:ea typeface="+mj-ea"/>
                <a:cs typeface="Times New Roman" panose="02020603050405020304" pitchFamily="18" charset="0"/>
              </a:rPr>
              <a:t>a+b</a:t>
            </a:r>
            <a:r>
              <a:rPr lang="en-US" altLang="zh-CN" b="1" dirty="0" smtClean="0">
                <a:latin typeface="Times New Roman" panose="02020603050405020304" pitchFamily="18" charset="0"/>
                <a:ea typeface="+mj-ea"/>
                <a:cs typeface="Times New Roman" panose="02020603050405020304" pitchFamily="18" charset="0"/>
              </a:rPr>
              <a:t>)</a:t>
            </a:r>
            <a:r>
              <a:rPr lang="en-US" altLang="zh-CN" b="1" baseline="30000" dirty="0" smtClean="0">
                <a:latin typeface="Times New Roman" panose="02020603050405020304" pitchFamily="18" charset="0"/>
                <a:ea typeface="+mj-ea"/>
                <a:cs typeface="Times New Roman" panose="02020603050405020304" pitchFamily="18" charset="0"/>
              </a:rPr>
              <a:t>n</a:t>
            </a:r>
            <a:r>
              <a:rPr lang="en-US" altLang="zh-CN" b="1" dirty="0" smtClean="0">
                <a:latin typeface="Times New Roman" panose="02020603050405020304" pitchFamily="18" charset="0"/>
                <a:ea typeface="+mj-ea"/>
                <a:cs typeface="Times New Roman" panose="02020603050405020304" pitchFamily="18" charset="0"/>
              </a:rPr>
              <a:t>= (3+1)</a:t>
            </a:r>
            <a:r>
              <a:rPr lang="en-US" altLang="zh-CN" b="1" baseline="30000" dirty="0" smtClean="0">
                <a:latin typeface="Times New Roman" panose="02020603050405020304" pitchFamily="18" charset="0"/>
                <a:ea typeface="+mj-ea"/>
                <a:cs typeface="Times New Roman" panose="02020603050405020304" pitchFamily="18" charset="0"/>
              </a:rPr>
              <a:t>2</a:t>
            </a:r>
            <a:r>
              <a:rPr lang="en-US" altLang="zh-CN" b="1" dirty="0" smtClean="0">
                <a:latin typeface="Times New Roman" panose="02020603050405020304" pitchFamily="18" charset="0"/>
                <a:ea typeface="+mj-ea"/>
                <a:cs typeface="Times New Roman" panose="02020603050405020304" pitchFamily="18" charset="0"/>
              </a:rPr>
              <a:t>=3</a:t>
            </a:r>
            <a:r>
              <a:rPr lang="en-US" altLang="zh-CN" b="1" baseline="30000" dirty="0" smtClean="0">
                <a:latin typeface="Times New Roman" panose="02020603050405020304" pitchFamily="18" charset="0"/>
                <a:ea typeface="+mj-ea"/>
                <a:cs typeface="Times New Roman" panose="02020603050405020304" pitchFamily="18" charset="0"/>
              </a:rPr>
              <a:t>2</a:t>
            </a:r>
            <a:r>
              <a:rPr lang="en-US" altLang="zh-CN" b="1" dirty="0" smtClean="0">
                <a:latin typeface="Times New Roman" panose="02020603050405020304" pitchFamily="18" charset="0"/>
                <a:ea typeface="+mj-ea"/>
                <a:cs typeface="Times New Roman" panose="02020603050405020304" pitchFamily="18" charset="0"/>
              </a:rPr>
              <a:t>+2</a:t>
            </a:r>
            <a:r>
              <a:rPr lang="en-US" altLang="zh-CN" b="1" dirty="0" smtClean="0">
                <a:latin typeface="Times New Roman" panose="02020603050405020304" pitchFamily="18" charset="0"/>
                <a:ea typeface="+mj-ea"/>
                <a:cs typeface="Times New Roman" panose="02020603050405020304" pitchFamily="18" charset="0"/>
                <a:sym typeface="Symbol" panose="05050102010706020507" pitchFamily="18" charset="2"/>
              </a:rPr>
              <a:t></a:t>
            </a:r>
            <a:r>
              <a:rPr lang="en-US" altLang="zh-CN" b="1" dirty="0" smtClean="0">
                <a:latin typeface="Times New Roman" panose="02020603050405020304" pitchFamily="18" charset="0"/>
                <a:ea typeface="+mj-ea"/>
                <a:cs typeface="Times New Roman" panose="02020603050405020304" pitchFamily="18" charset="0"/>
              </a:rPr>
              <a:t>3+1 </a:t>
            </a:r>
          </a:p>
          <a:p>
            <a:pPr eaLnBrk="1" hangingPunct="1">
              <a:lnSpc>
                <a:spcPct val="150000"/>
              </a:lnSpc>
              <a:spcBef>
                <a:spcPts val="0"/>
              </a:spcBef>
              <a:buClr>
                <a:srgbClr val="FF00FF"/>
              </a:buClr>
              <a:buFont typeface="Wingdings" panose="05000000000000000000" pitchFamily="2" charset="2"/>
              <a:buNone/>
              <a:defRPr/>
            </a:pPr>
            <a:r>
              <a:rPr lang="zh-CN" altLang="en-US" b="1" dirty="0" smtClean="0">
                <a:latin typeface="Times New Roman" panose="02020603050405020304" pitchFamily="18" charset="0"/>
                <a:ea typeface="+mj-ea"/>
                <a:cs typeface="Times New Roman" panose="02020603050405020304" pitchFamily="18" charset="0"/>
              </a:rPr>
              <a:t>即 </a:t>
            </a:r>
            <a:r>
              <a:rPr lang="en-US" altLang="zh-CN" b="1" dirty="0">
                <a:latin typeface="Times New Roman" panose="02020603050405020304" pitchFamily="18" charset="0"/>
                <a:cs typeface="Times New Roman" panose="02020603050405020304" pitchFamily="18" charset="0"/>
              </a:rPr>
              <a:t>M:</a:t>
            </a:r>
            <a:r>
              <a:rPr lang="en-US" altLang="zh-CN" b="1" dirty="0">
                <a:latin typeface="Times New Roman" panose="02020603050405020304" pitchFamily="18" charset="0"/>
                <a:cs typeface="Times New Roman" panose="02020603050405020304" pitchFamily="18" charset="0"/>
                <a:sym typeface="Wingdings" panose="05000000000000000000" pitchFamily="2" charset="2"/>
              </a:rPr>
              <a:t>(</a:t>
            </a:r>
            <a:r>
              <a:rPr lang="en-US" altLang="zh-CN" b="1" dirty="0">
                <a:latin typeface="Times New Roman" panose="02020603050405020304" pitchFamily="18" charset="0"/>
                <a:cs typeface="Times New Roman" panose="02020603050405020304" pitchFamily="18" charset="0"/>
              </a:rPr>
              <a:t>M+2):(M+4) </a:t>
            </a:r>
            <a:r>
              <a:rPr lang="en-US" altLang="zh-CN" b="1" dirty="0" smtClean="0">
                <a:latin typeface="Times New Roman" panose="02020603050405020304" pitchFamily="18" charset="0"/>
                <a:cs typeface="Times New Roman" panose="02020603050405020304" pitchFamily="18" charset="0"/>
              </a:rPr>
              <a:t>=</a:t>
            </a:r>
            <a:r>
              <a:rPr lang="en-US" altLang="zh-CN" b="1" dirty="0" smtClean="0">
                <a:latin typeface="Times New Roman" panose="02020603050405020304" pitchFamily="18" charset="0"/>
                <a:ea typeface="+mj-ea"/>
                <a:cs typeface="Times New Roman" panose="02020603050405020304" pitchFamily="18" charset="0"/>
              </a:rPr>
              <a:t>9</a:t>
            </a:r>
            <a:r>
              <a:rPr lang="zh-CN" altLang="en-US" b="1" dirty="0" smtClean="0">
                <a:latin typeface="Times New Roman" panose="02020603050405020304" pitchFamily="18" charset="0"/>
                <a:ea typeface="+mj-ea"/>
                <a:cs typeface="Times New Roman" panose="02020603050405020304" pitchFamily="18" charset="0"/>
              </a:rPr>
              <a:t>：</a:t>
            </a:r>
            <a:r>
              <a:rPr lang="en-US" altLang="zh-CN" b="1" dirty="0" smtClean="0">
                <a:latin typeface="Times New Roman" panose="02020603050405020304" pitchFamily="18" charset="0"/>
                <a:ea typeface="+mj-ea"/>
                <a:cs typeface="Times New Roman" panose="02020603050405020304" pitchFamily="18" charset="0"/>
              </a:rPr>
              <a:t>6</a:t>
            </a:r>
            <a:r>
              <a:rPr lang="zh-CN" altLang="en-US" b="1" dirty="0" smtClean="0">
                <a:latin typeface="Times New Roman" panose="02020603050405020304" pitchFamily="18" charset="0"/>
                <a:ea typeface="+mj-ea"/>
                <a:cs typeface="Times New Roman" panose="02020603050405020304" pitchFamily="18" charset="0"/>
              </a:rPr>
              <a:t>：</a:t>
            </a:r>
            <a:r>
              <a:rPr lang="en-US" altLang="zh-CN" b="1" dirty="0" smtClean="0">
                <a:latin typeface="Times New Roman" panose="02020603050405020304" pitchFamily="18" charset="0"/>
                <a:ea typeface="+mj-ea"/>
                <a:cs typeface="Times New Roman" panose="02020603050405020304" pitchFamily="18" charset="0"/>
              </a:rPr>
              <a:t>1</a:t>
            </a:r>
            <a:endParaRPr lang="zh-CN" altLang="zh-CN" b="1" dirty="0" smtClean="0">
              <a:latin typeface="Times New Roman" panose="02020603050405020304" pitchFamily="18" charset="0"/>
              <a:ea typeface="+mj-ea"/>
              <a:cs typeface="Times New Roman" panose="02020603050405020304" pitchFamily="18" charset="0"/>
            </a:endParaRPr>
          </a:p>
        </p:txBody>
      </p:sp>
      <p:sp>
        <p:nvSpPr>
          <p:cNvPr id="7" name="Rectangle 3"/>
          <p:cNvSpPr txBox="1">
            <a:spLocks noChangeArrowheads="1"/>
          </p:cNvSpPr>
          <p:nvPr/>
        </p:nvSpPr>
        <p:spPr bwMode="auto">
          <a:xfrm>
            <a:off x="1331913" y="3211513"/>
            <a:ext cx="5507037"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lnSpc>
                <a:spcPct val="150000"/>
              </a:lnSpc>
              <a:spcBef>
                <a:spcPts val="0"/>
              </a:spcBef>
              <a:buClr>
                <a:srgbClr val="FF00FF"/>
              </a:buClr>
              <a:buFont typeface="Arial" panose="020B0604020202020204" pitchFamily="34" charset="0"/>
              <a:buNone/>
              <a:defRPr/>
            </a:pPr>
            <a:r>
              <a:rPr lang="zh-CN" altLang="en-US" sz="3200" dirty="0">
                <a:latin typeface="Times New Roman" panose="02020603050405020304" pitchFamily="18" charset="0"/>
                <a:ea typeface="+mj-ea"/>
                <a:cs typeface="Times New Roman" panose="02020603050405020304" pitchFamily="18" charset="0"/>
              </a:rPr>
              <a:t> </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Cl</a:t>
            </a:r>
            <a:r>
              <a:rPr lang="zh-CN" altLang="en-US"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a</a:t>
            </a:r>
            <a:r>
              <a:rPr lang="zh-CN" altLang="en-US" sz="3200" dirty="0" smtClean="0">
                <a:solidFill>
                  <a:srgbClr val="0000CC"/>
                </a:solidFill>
                <a:latin typeface="Times New Roman" panose="02020603050405020304" pitchFamily="18" charset="0"/>
                <a:ea typeface="+mj-ea"/>
                <a:cs typeface="Times New Roman" panose="02020603050405020304" pitchFamily="18" charset="0"/>
                <a:sym typeface="Symbol" panose="05050102010706020507" pitchFamily="18" charset="2"/>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3</a:t>
            </a:r>
            <a:r>
              <a:rPr lang="zh-CN" altLang="en-US"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b</a:t>
            </a:r>
            <a:r>
              <a:rPr lang="zh-CN" altLang="en-US" sz="3200" dirty="0" smtClean="0">
                <a:solidFill>
                  <a:srgbClr val="0000CC"/>
                </a:solidFill>
                <a:latin typeface="Times New Roman" panose="02020603050405020304" pitchFamily="18" charset="0"/>
                <a:ea typeface="+mj-ea"/>
                <a:cs typeface="Times New Roman" panose="02020603050405020304" pitchFamily="18" charset="0"/>
                <a:sym typeface="Symbol" panose="05050102010706020507" pitchFamily="18" charset="2"/>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1</a:t>
            </a:r>
            <a:r>
              <a:rPr lang="zh-CN" altLang="en-US"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Br</a:t>
            </a:r>
            <a:r>
              <a:rPr lang="zh-CN" altLang="en-US"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a</a:t>
            </a:r>
            <a:r>
              <a:rPr lang="zh-CN" altLang="en-US" sz="3200" dirty="0" smtClean="0">
                <a:solidFill>
                  <a:srgbClr val="0000CC"/>
                </a:solidFill>
                <a:latin typeface="Times New Roman" panose="02020603050405020304" pitchFamily="18" charset="0"/>
                <a:ea typeface="+mj-ea"/>
                <a:cs typeface="Times New Roman" panose="02020603050405020304" pitchFamily="18" charset="0"/>
                <a:sym typeface="Symbol" panose="05050102010706020507" pitchFamily="18" charset="2"/>
              </a:rPr>
              <a:t></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b=1</a:t>
            </a:r>
            <a:endParaRPr lang="zh-CN" altLang="en-US" sz="3200" dirty="0" smtClean="0">
              <a:solidFill>
                <a:srgbClr val="0000CC"/>
              </a:solidFill>
              <a:latin typeface="Times New Roman" panose="02020603050405020304" pitchFamily="18" charset="0"/>
              <a:ea typeface="+mj-ea"/>
              <a:cs typeface="Times New Roman" panose="02020603050405020304" pitchFamily="18" charset="0"/>
            </a:endParaRPr>
          </a:p>
        </p:txBody>
      </p:sp>
      <p:sp>
        <p:nvSpPr>
          <p:cNvPr id="8" name="Rectangle 3"/>
          <p:cNvSpPr txBox="1">
            <a:spLocks noChangeArrowheads="1"/>
          </p:cNvSpPr>
          <p:nvPr/>
        </p:nvSpPr>
        <p:spPr bwMode="auto">
          <a:xfrm>
            <a:off x="0" y="188913"/>
            <a:ext cx="9072563"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eaLnBrk="1" hangingPunct="1">
              <a:lnSpc>
                <a:spcPct val="150000"/>
              </a:lnSpc>
              <a:spcBef>
                <a:spcPts val="0"/>
              </a:spcBef>
              <a:buClr>
                <a:srgbClr val="FF00FF"/>
              </a:buClr>
              <a:buFont typeface="Arial" panose="020B0604020202020204" pitchFamily="34" charset="0"/>
              <a:buNone/>
              <a:defRPr/>
            </a:pPr>
            <a:r>
              <a:rPr lang="zh-CN" altLang="en-US" sz="3200" dirty="0" smtClean="0">
                <a:latin typeface="Times New Roman" panose="02020603050405020304" pitchFamily="18" charset="0"/>
                <a:ea typeface="+mj-ea"/>
                <a:cs typeface="Times New Roman" panose="02020603050405020304" pitchFamily="18" charset="0"/>
              </a:rPr>
              <a:t>        含多个</a:t>
            </a:r>
            <a:r>
              <a:rPr lang="en-US" altLang="zh-CN" sz="3200" dirty="0" smtClean="0">
                <a:latin typeface="Times New Roman" panose="02020603050405020304" pitchFamily="18" charset="0"/>
                <a:ea typeface="+mj-ea"/>
                <a:cs typeface="Times New Roman" panose="02020603050405020304" pitchFamily="18" charset="0"/>
              </a:rPr>
              <a:t>Cl</a:t>
            </a:r>
            <a:r>
              <a:rPr lang="zh-CN" altLang="en-US" sz="3200" dirty="0" smtClean="0">
                <a:latin typeface="Times New Roman" panose="02020603050405020304" pitchFamily="18" charset="0"/>
                <a:ea typeface="+mj-ea"/>
                <a:cs typeface="Times New Roman" panose="02020603050405020304" pitchFamily="18" charset="0"/>
              </a:rPr>
              <a:t>或</a:t>
            </a:r>
            <a:r>
              <a:rPr lang="en-US" altLang="zh-CN" sz="3200" dirty="0" smtClean="0">
                <a:latin typeface="Times New Roman" panose="02020603050405020304" pitchFamily="18" charset="0"/>
                <a:ea typeface="+mj-ea"/>
                <a:cs typeface="Times New Roman" panose="02020603050405020304" pitchFamily="18" charset="0"/>
              </a:rPr>
              <a:t>Br</a:t>
            </a:r>
            <a:r>
              <a:rPr lang="zh-CN" altLang="en-US" sz="3200" dirty="0" smtClean="0">
                <a:latin typeface="Times New Roman" panose="02020603050405020304" pitchFamily="18" charset="0"/>
                <a:ea typeface="+mj-ea"/>
                <a:cs typeface="Times New Roman" panose="02020603050405020304" pitchFamily="18" charset="0"/>
              </a:rPr>
              <a:t>原子化合物</a:t>
            </a:r>
            <a:r>
              <a:rPr lang="en-US" altLang="zh-CN" sz="3200" dirty="0" smtClean="0">
                <a:latin typeface="Times New Roman" panose="02020603050405020304" pitchFamily="18" charset="0"/>
                <a:ea typeface="+mj-ea"/>
                <a:cs typeface="Times New Roman" panose="02020603050405020304" pitchFamily="18" charset="0"/>
              </a:rPr>
              <a:t>,</a:t>
            </a:r>
            <a:r>
              <a:rPr lang="zh-CN" altLang="en-US" sz="3200" dirty="0" smtClean="0">
                <a:latin typeface="Times New Roman" panose="02020603050405020304" pitchFamily="18" charset="0"/>
                <a:ea typeface="+mj-ea"/>
                <a:cs typeface="Times New Roman" panose="02020603050405020304" pitchFamily="18" charset="0"/>
              </a:rPr>
              <a:t>其</a:t>
            </a:r>
            <a:r>
              <a:rPr lang="en-US" altLang="zh-CN" sz="3200" dirty="0" smtClean="0">
                <a:latin typeface="Times New Roman" panose="02020603050405020304" pitchFamily="18" charset="0"/>
                <a:ea typeface="+mj-ea"/>
                <a:cs typeface="Times New Roman" panose="02020603050405020304" pitchFamily="18" charset="0"/>
              </a:rPr>
              <a:t>M:</a:t>
            </a:r>
            <a:r>
              <a:rPr lang="en-US" altLang="zh-CN" sz="3200" dirty="0" smtClean="0">
                <a:latin typeface="Times New Roman" panose="02020603050405020304" pitchFamily="18" charset="0"/>
                <a:ea typeface="+mj-ea"/>
                <a:cs typeface="Times New Roman" panose="02020603050405020304" pitchFamily="18" charset="0"/>
                <a:sym typeface="Wingdings" panose="05000000000000000000" pitchFamily="2" charset="2"/>
              </a:rPr>
              <a:t>(</a:t>
            </a:r>
            <a:r>
              <a:rPr lang="en-US" altLang="zh-CN" sz="3200" dirty="0" smtClean="0">
                <a:latin typeface="Times New Roman" panose="02020603050405020304" pitchFamily="18" charset="0"/>
                <a:ea typeface="+mj-ea"/>
                <a:cs typeface="Times New Roman" panose="02020603050405020304" pitchFamily="18" charset="0"/>
              </a:rPr>
              <a:t>M+2):(M+4)</a:t>
            </a:r>
            <a:r>
              <a:rPr lang="zh-CN" altLang="en-US" sz="3200" dirty="0" smtClean="0">
                <a:latin typeface="Times New Roman" panose="02020603050405020304" pitchFamily="18" charset="0"/>
                <a:ea typeface="+mj-ea"/>
                <a:cs typeface="Times New Roman" panose="02020603050405020304" pitchFamily="18" charset="0"/>
              </a:rPr>
              <a:t>等的离子相对丰度比可用</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dirty="0" err="1" smtClean="0">
                <a:solidFill>
                  <a:srgbClr val="0000CC"/>
                </a:solidFill>
                <a:latin typeface="Times New Roman" panose="02020603050405020304" pitchFamily="18" charset="0"/>
                <a:ea typeface="+mj-ea"/>
                <a:cs typeface="Times New Roman" panose="02020603050405020304" pitchFamily="18" charset="0"/>
              </a:rPr>
              <a:t>a+b</a:t>
            </a:r>
            <a:r>
              <a:rPr lang="en-US" altLang="zh-CN" sz="3200" dirty="0" smtClean="0">
                <a:solidFill>
                  <a:srgbClr val="0000CC"/>
                </a:solidFill>
                <a:latin typeface="Times New Roman" panose="02020603050405020304" pitchFamily="18" charset="0"/>
                <a:ea typeface="+mj-ea"/>
                <a:cs typeface="Times New Roman" panose="02020603050405020304" pitchFamily="18" charset="0"/>
              </a:rPr>
              <a:t>)</a:t>
            </a:r>
            <a:r>
              <a:rPr lang="en-US" altLang="zh-CN" sz="3200" baseline="30000" dirty="0" smtClean="0">
                <a:solidFill>
                  <a:srgbClr val="0000CC"/>
                </a:solidFill>
                <a:latin typeface="Times New Roman" panose="02020603050405020304" pitchFamily="18" charset="0"/>
                <a:ea typeface="+mj-ea"/>
                <a:cs typeface="Times New Roman" panose="02020603050405020304" pitchFamily="18" charset="0"/>
              </a:rPr>
              <a:t>n</a:t>
            </a:r>
            <a:r>
              <a:rPr lang="zh-CN" altLang="en-US" sz="3200" dirty="0" smtClean="0">
                <a:latin typeface="Times New Roman" panose="02020603050405020304" pitchFamily="18" charset="0"/>
                <a:ea typeface="+mj-ea"/>
                <a:cs typeface="Times New Roman" panose="02020603050405020304" pitchFamily="18" charset="0"/>
              </a:rPr>
              <a:t>展开式计算，其中</a:t>
            </a:r>
            <a:endParaRPr lang="en-US" altLang="zh-CN" sz="3200" dirty="0" smtClean="0">
              <a:latin typeface="Times New Roman" panose="02020603050405020304" pitchFamily="18" charset="0"/>
              <a:ea typeface="+mj-ea"/>
              <a:cs typeface="Times New Roman" panose="02020603050405020304" pitchFamily="18" charset="0"/>
            </a:endParaRPr>
          </a:p>
          <a:p>
            <a:pPr marL="0" indent="0" eaLnBrk="1" hangingPunct="1">
              <a:lnSpc>
                <a:spcPct val="150000"/>
              </a:lnSpc>
              <a:spcBef>
                <a:spcPts val="0"/>
              </a:spcBef>
              <a:buClr>
                <a:srgbClr val="FF00FF"/>
              </a:buClr>
              <a:buFont typeface="Arial" panose="020B0604020202020204" pitchFamily="34" charset="0"/>
              <a:buNone/>
              <a:defRPr/>
            </a:pPr>
            <a:r>
              <a:rPr lang="en-US" altLang="zh-CN" sz="3200" dirty="0" smtClean="0">
                <a:latin typeface="Times New Roman" panose="02020603050405020304" pitchFamily="18" charset="0"/>
                <a:ea typeface="+mj-ea"/>
                <a:cs typeface="Times New Roman" panose="02020603050405020304" pitchFamily="18" charset="0"/>
              </a:rPr>
              <a:t>a</a:t>
            </a:r>
            <a:r>
              <a:rPr lang="zh-CN" altLang="en-US" sz="3200" dirty="0" smtClean="0">
                <a:latin typeface="Times New Roman" panose="02020603050405020304" pitchFamily="18" charset="0"/>
                <a:ea typeface="+mj-ea"/>
                <a:cs typeface="Times New Roman" panose="02020603050405020304" pitchFamily="18" charset="0"/>
              </a:rPr>
              <a:t>为同位素</a:t>
            </a:r>
            <a:r>
              <a:rPr lang="en-US" altLang="zh-CN" sz="3200" dirty="0" smtClean="0">
                <a:latin typeface="Times New Roman" panose="02020603050405020304" pitchFamily="18" charset="0"/>
                <a:ea typeface="+mj-ea"/>
                <a:cs typeface="Times New Roman" panose="02020603050405020304" pitchFamily="18" charset="0"/>
              </a:rPr>
              <a:t>A</a:t>
            </a:r>
            <a:r>
              <a:rPr lang="zh-CN" altLang="zh-CN" sz="3200" dirty="0" smtClean="0">
                <a:latin typeface="Times New Roman" panose="02020603050405020304" pitchFamily="18" charset="0"/>
                <a:ea typeface="+mj-ea"/>
                <a:cs typeface="Times New Roman" panose="02020603050405020304" pitchFamily="18" charset="0"/>
              </a:rPr>
              <a:t>的丰度</a:t>
            </a:r>
            <a:r>
              <a:rPr lang="zh-CN" altLang="en-US" sz="3200" dirty="0" smtClean="0">
                <a:latin typeface="Times New Roman" panose="02020603050405020304" pitchFamily="18" charset="0"/>
                <a:ea typeface="+mj-ea"/>
                <a:cs typeface="Times New Roman" panose="02020603050405020304" pitchFamily="18" charset="0"/>
              </a:rPr>
              <a:t>；</a:t>
            </a:r>
            <a:r>
              <a:rPr lang="en-US" altLang="zh-CN" sz="3200" dirty="0" smtClean="0">
                <a:latin typeface="Times New Roman" panose="02020603050405020304" pitchFamily="18" charset="0"/>
                <a:ea typeface="+mj-ea"/>
                <a:cs typeface="Times New Roman" panose="02020603050405020304" pitchFamily="18" charset="0"/>
              </a:rPr>
              <a:t>b</a:t>
            </a:r>
            <a:r>
              <a:rPr lang="zh-CN" altLang="en-US" sz="3200" dirty="0" smtClean="0">
                <a:latin typeface="Times New Roman" panose="02020603050405020304" pitchFamily="18" charset="0"/>
                <a:ea typeface="+mj-ea"/>
                <a:cs typeface="Times New Roman" panose="02020603050405020304" pitchFamily="18" charset="0"/>
              </a:rPr>
              <a:t>为同位素</a:t>
            </a:r>
            <a:r>
              <a:rPr lang="en-US" altLang="zh-CN" sz="3200" dirty="0" smtClean="0">
                <a:latin typeface="Times New Roman" panose="02020603050405020304" pitchFamily="18" charset="0"/>
                <a:ea typeface="+mj-ea"/>
                <a:cs typeface="Times New Roman" panose="02020603050405020304" pitchFamily="18" charset="0"/>
              </a:rPr>
              <a:t>A</a:t>
            </a:r>
            <a:r>
              <a:rPr lang="zh-CN" altLang="en-US" sz="3200" dirty="0" smtClean="0">
                <a:latin typeface="Times New Roman" panose="02020603050405020304" pitchFamily="18" charset="0"/>
                <a:ea typeface="+mj-ea"/>
                <a:cs typeface="Times New Roman" panose="02020603050405020304" pitchFamily="18" charset="0"/>
              </a:rPr>
              <a:t>＋</a:t>
            </a:r>
            <a:r>
              <a:rPr lang="en-US" altLang="zh-CN" sz="3200" dirty="0" smtClean="0">
                <a:latin typeface="Times New Roman" panose="02020603050405020304" pitchFamily="18" charset="0"/>
                <a:ea typeface="+mj-ea"/>
                <a:cs typeface="Times New Roman" panose="02020603050405020304" pitchFamily="18" charset="0"/>
              </a:rPr>
              <a:t>2</a:t>
            </a:r>
            <a:r>
              <a:rPr lang="zh-CN" altLang="zh-CN" sz="3200" dirty="0" smtClean="0">
                <a:latin typeface="Times New Roman" panose="02020603050405020304" pitchFamily="18" charset="0"/>
                <a:ea typeface="+mj-ea"/>
                <a:cs typeface="Times New Roman" panose="02020603050405020304" pitchFamily="18" charset="0"/>
              </a:rPr>
              <a:t>的丰度</a:t>
            </a:r>
            <a:r>
              <a:rPr lang="zh-CN" altLang="en-US" sz="3200" dirty="0" smtClean="0">
                <a:latin typeface="Times New Roman" panose="02020603050405020304" pitchFamily="18" charset="0"/>
                <a:ea typeface="+mj-ea"/>
                <a:cs typeface="Times New Roman" panose="02020603050405020304" pitchFamily="18" charset="0"/>
              </a:rPr>
              <a:t>；</a:t>
            </a:r>
            <a:r>
              <a:rPr lang="en-US" altLang="zh-CN" sz="3200" dirty="0" smtClean="0">
                <a:latin typeface="Times New Roman" panose="02020603050405020304" pitchFamily="18" charset="0"/>
                <a:ea typeface="+mj-ea"/>
                <a:cs typeface="Times New Roman" panose="02020603050405020304" pitchFamily="18" charset="0"/>
              </a:rPr>
              <a:t>n</a:t>
            </a:r>
            <a:r>
              <a:rPr lang="zh-CN" altLang="en-US" sz="3200" dirty="0" smtClean="0">
                <a:latin typeface="Times New Roman" panose="02020603050405020304" pitchFamily="18" charset="0"/>
                <a:ea typeface="+mj-ea"/>
                <a:cs typeface="Times New Roman" panose="02020603050405020304" pitchFamily="18" charset="0"/>
              </a:rPr>
              <a:t>为离子中</a:t>
            </a:r>
            <a:r>
              <a:rPr lang="en-US" altLang="zh-CN" sz="3200" dirty="0" smtClean="0">
                <a:latin typeface="Times New Roman" panose="02020603050405020304" pitchFamily="18" charset="0"/>
                <a:ea typeface="+mj-ea"/>
                <a:cs typeface="Times New Roman" panose="02020603050405020304" pitchFamily="18" charset="0"/>
              </a:rPr>
              <a:t>Cl</a:t>
            </a:r>
            <a:r>
              <a:rPr lang="zh-CN" altLang="en-US" sz="3200" dirty="0" smtClean="0">
                <a:latin typeface="Times New Roman" panose="02020603050405020304" pitchFamily="18" charset="0"/>
                <a:ea typeface="+mj-ea"/>
                <a:cs typeface="Times New Roman" panose="02020603050405020304" pitchFamily="18" charset="0"/>
              </a:rPr>
              <a:t>或</a:t>
            </a:r>
            <a:r>
              <a:rPr lang="en-US" altLang="zh-CN" sz="3200" dirty="0" smtClean="0">
                <a:latin typeface="Times New Roman" panose="02020603050405020304" pitchFamily="18" charset="0"/>
                <a:ea typeface="+mj-ea"/>
                <a:cs typeface="Times New Roman" panose="02020603050405020304" pitchFamily="18" charset="0"/>
              </a:rPr>
              <a:t>Br</a:t>
            </a:r>
            <a:r>
              <a:rPr lang="zh-CN" altLang="zh-CN" sz="3200" dirty="0" smtClean="0">
                <a:latin typeface="Times New Roman" panose="02020603050405020304" pitchFamily="18" charset="0"/>
                <a:ea typeface="+mj-ea"/>
                <a:cs typeface="Times New Roman" panose="02020603050405020304" pitchFamily="18" charset="0"/>
              </a:rPr>
              <a:t>的个数。</a:t>
            </a:r>
            <a:endParaRPr lang="en-US" altLang="zh-CN" sz="3200" dirty="0" smtClean="0">
              <a:latin typeface="Times New Roman" panose="02020603050405020304" pitchFamily="18" charset="0"/>
              <a:ea typeface="+mj-ea"/>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A6F276F0-D1B9-4D71-AD0B-3FFB0C3824B1}"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5632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54E7419C-8A86-4769-BE4B-90DDDCC45B5C}" type="slidenum">
              <a:rPr lang="en-US" altLang="zh-CN" sz="1200" smtClean="0">
                <a:latin typeface="Verdana" pitchFamily="34" charset="0"/>
                <a:ea typeface="宋体" pitchFamily="2" charset="-122"/>
              </a:rPr>
              <a:pPr eaLnBrk="1" hangingPunct="1">
                <a:lnSpc>
                  <a:spcPct val="100000"/>
                </a:lnSpc>
              </a:pPr>
              <a:t>49</a:t>
            </a:fld>
            <a:endParaRPr lang="en-US" altLang="zh-CN" sz="1200" smtClean="0">
              <a:latin typeface="Verdana" pitchFamily="34" charset="0"/>
              <a:ea typeface="宋体" pitchFamily="2" charset="-122"/>
            </a:endParaRPr>
          </a:p>
        </p:txBody>
      </p:sp>
      <p:graphicFrame>
        <p:nvGraphicFramePr>
          <p:cNvPr id="94317" name="Group 109"/>
          <p:cNvGraphicFramePr>
            <a:graphicFrameLocks noGrp="1"/>
          </p:cNvGraphicFramePr>
          <p:nvPr/>
        </p:nvGraphicFramePr>
        <p:xfrm>
          <a:off x="1187450" y="404813"/>
          <a:ext cx="6553200" cy="3168651"/>
        </p:xfrm>
        <a:graphic>
          <a:graphicData uri="http://schemas.openxmlformats.org/drawingml/2006/table">
            <a:tbl>
              <a:tblPr/>
              <a:tblGrid>
                <a:gridCol w="1606550">
                  <a:extLst>
                    <a:ext uri="{9D8B030D-6E8A-4147-A177-3AD203B41FA5}">
                      <a16:colId xmlns:a16="http://schemas.microsoft.com/office/drawing/2014/main" val="20000"/>
                    </a:ext>
                  </a:extLst>
                </a:gridCol>
                <a:gridCol w="1873250">
                  <a:extLst>
                    <a:ext uri="{9D8B030D-6E8A-4147-A177-3AD203B41FA5}">
                      <a16:colId xmlns:a16="http://schemas.microsoft.com/office/drawing/2014/main" val="20001"/>
                    </a:ext>
                  </a:extLst>
                </a:gridCol>
                <a:gridCol w="1557338">
                  <a:extLst>
                    <a:ext uri="{9D8B030D-6E8A-4147-A177-3AD203B41FA5}">
                      <a16:colId xmlns:a16="http://schemas.microsoft.com/office/drawing/2014/main" val="20002"/>
                    </a:ext>
                  </a:extLst>
                </a:gridCol>
                <a:gridCol w="1516062">
                  <a:extLst>
                    <a:ext uri="{9D8B030D-6E8A-4147-A177-3AD203B41FA5}">
                      <a16:colId xmlns:a16="http://schemas.microsoft.com/office/drawing/2014/main" val="20003"/>
                    </a:ext>
                  </a:extLst>
                </a:gridCol>
              </a:tblGrid>
              <a:tr h="766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 Cl</a:t>
                      </a:r>
                      <a:r>
                        <a:rPr kumimoji="0" lang="zh-CN" altLang="en-US"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个数</a:t>
                      </a:r>
                      <a:endParaRPr kumimoji="0" lang="zh-CN" altLang="en-US"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峰形</a:t>
                      </a:r>
                      <a:endParaRPr kumimoji="0" lang="zh-CN" altLang="en-US"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Br</a:t>
                      </a:r>
                      <a:r>
                        <a:rPr kumimoji="0" lang="zh-CN" altLang="en-US"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个数</a:t>
                      </a:r>
                      <a:endParaRPr kumimoji="0" lang="zh-CN" altLang="en-US"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峰形</a:t>
                      </a:r>
                      <a:endParaRPr kumimoji="0" lang="zh-CN" altLang="en-US"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63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667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9:6:1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15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27:27:9:1</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en-US" altLang="zh-CN" sz="2600" b="0" i="0" u="none" strike="noStrike" cap="none" normalizeH="0" baseline="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1:3:3:1</a:t>
                      </a:r>
                      <a:endParaRPr kumimoji="0" lang="en-US" altLang="zh-CN" sz="2600" b="0" i="0" u="none" strike="noStrike" cap="none" normalizeH="0" baseline="0" dirty="0" smtClean="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56351" name="Text Box 110"/>
          <p:cNvSpPr txBox="1">
            <a:spLocks noChangeArrowheads="1"/>
          </p:cNvSpPr>
          <p:nvPr/>
        </p:nvSpPr>
        <p:spPr bwMode="auto">
          <a:xfrm>
            <a:off x="617538" y="3933825"/>
            <a:ext cx="7991475"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Clr>
                <a:srgbClr val="FF00FF"/>
              </a:buClr>
              <a:buFont typeface="Arial" pitchFamily="34" charset="0"/>
              <a:buNone/>
            </a:pPr>
            <a:r>
              <a:rPr lang="zh-CN" altLang="en-US">
                <a:latin typeface="Times New Roman" pitchFamily="18" charset="0"/>
                <a:ea typeface="宋体" pitchFamily="2" charset="-122"/>
                <a:cs typeface="Times New Roman" pitchFamily="18" charset="0"/>
              </a:rPr>
              <a:t>当分子中</a:t>
            </a:r>
            <a:r>
              <a:rPr lang="zh-CN" altLang="zh-CN">
                <a:latin typeface="Times New Roman" pitchFamily="18" charset="0"/>
                <a:ea typeface="宋体" pitchFamily="2" charset="-122"/>
                <a:cs typeface="Times New Roman" pitchFamily="18" charset="0"/>
              </a:rPr>
              <a:t>同时含有</a:t>
            </a:r>
            <a:r>
              <a:rPr lang="en-US" altLang="zh-CN">
                <a:latin typeface="Times New Roman" pitchFamily="18" charset="0"/>
                <a:ea typeface="宋体" pitchFamily="2" charset="-122"/>
                <a:cs typeface="Times New Roman" pitchFamily="18" charset="0"/>
              </a:rPr>
              <a:t>Cl</a:t>
            </a:r>
            <a:r>
              <a:rPr lang="zh-CN" altLang="en-US">
                <a:latin typeface="Times New Roman" pitchFamily="18" charset="0"/>
                <a:ea typeface="宋体" pitchFamily="2" charset="-122"/>
                <a:cs typeface="Times New Roman" pitchFamily="18" charset="0"/>
              </a:rPr>
              <a:t>或</a:t>
            </a:r>
            <a:r>
              <a:rPr lang="en-US" altLang="zh-CN">
                <a:latin typeface="Times New Roman" pitchFamily="18" charset="0"/>
                <a:ea typeface="宋体" pitchFamily="2" charset="-122"/>
                <a:cs typeface="Times New Roman" pitchFamily="18" charset="0"/>
              </a:rPr>
              <a:t>Br,</a:t>
            </a:r>
            <a:r>
              <a:rPr lang="zh-CN" altLang="en-US">
                <a:latin typeface="Times New Roman" pitchFamily="18" charset="0"/>
                <a:ea typeface="宋体" pitchFamily="2" charset="-122"/>
                <a:cs typeface="Times New Roman" pitchFamily="18" charset="0"/>
              </a:rPr>
              <a:t>则用</a:t>
            </a:r>
            <a:r>
              <a:rPr lang="en-US" altLang="zh-CN">
                <a:solidFill>
                  <a:srgbClr val="0000CC"/>
                </a:solidFill>
                <a:latin typeface="Times New Roman" pitchFamily="18" charset="0"/>
                <a:ea typeface="宋体" pitchFamily="2" charset="-122"/>
                <a:cs typeface="Times New Roman" pitchFamily="18" charset="0"/>
              </a:rPr>
              <a:t>(a+b)</a:t>
            </a:r>
            <a:r>
              <a:rPr lang="en-US" altLang="zh-CN" baseline="30000">
                <a:solidFill>
                  <a:srgbClr val="0000CC"/>
                </a:solidFill>
                <a:latin typeface="Times New Roman" pitchFamily="18" charset="0"/>
                <a:ea typeface="宋体" pitchFamily="2" charset="-122"/>
                <a:cs typeface="Times New Roman" pitchFamily="18" charset="0"/>
              </a:rPr>
              <a:t>n</a:t>
            </a:r>
            <a:r>
              <a:rPr lang="en-US" altLang="zh-CN">
                <a:solidFill>
                  <a:srgbClr val="0000CC"/>
                </a:solidFill>
                <a:latin typeface="Times New Roman" pitchFamily="18" charset="0"/>
                <a:ea typeface="宋体" pitchFamily="2" charset="-122"/>
                <a:cs typeface="Times New Roman" pitchFamily="18" charset="0"/>
              </a:rPr>
              <a:t>(c+d)</a:t>
            </a:r>
            <a:r>
              <a:rPr lang="en-US" altLang="zh-CN" baseline="30000">
                <a:solidFill>
                  <a:srgbClr val="0000CC"/>
                </a:solidFill>
                <a:latin typeface="Times New Roman" pitchFamily="18" charset="0"/>
                <a:ea typeface="宋体" pitchFamily="2" charset="-122"/>
                <a:cs typeface="Times New Roman" pitchFamily="18" charset="0"/>
              </a:rPr>
              <a:t>m</a:t>
            </a:r>
            <a:endParaRPr lang="zh-CN" altLang="en-US">
              <a:solidFill>
                <a:srgbClr val="0000CC"/>
              </a:solidFill>
              <a:latin typeface="Times New Roman" pitchFamily="18" charset="0"/>
              <a:ea typeface="宋体" pitchFamily="2" charset="-122"/>
              <a:cs typeface="Times New Roman" pitchFamily="18" charset="0"/>
            </a:endParaRPr>
          </a:p>
          <a:p>
            <a:pPr eaLnBrk="1" hangingPunct="1">
              <a:lnSpc>
                <a:spcPct val="150000"/>
              </a:lnSpc>
              <a:buClr>
                <a:srgbClr val="FF00FF"/>
              </a:buClr>
              <a:buFont typeface="Wingdings" pitchFamily="2" charset="2"/>
              <a:buNone/>
            </a:pPr>
            <a:r>
              <a:rPr lang="zh-CN" altLang="zh-CN">
                <a:latin typeface="Times New Roman" pitchFamily="18" charset="0"/>
                <a:ea typeface="宋体" pitchFamily="2" charset="-122"/>
                <a:cs typeface="Times New Roman" pitchFamily="18" charset="0"/>
              </a:rPr>
              <a:t>其中， </a:t>
            </a:r>
            <a:r>
              <a:rPr lang="en-US" altLang="zh-CN">
                <a:latin typeface="Times New Roman" pitchFamily="18" charset="0"/>
                <a:ea typeface="宋体" pitchFamily="2" charset="-122"/>
                <a:cs typeface="Times New Roman" pitchFamily="18" charset="0"/>
              </a:rPr>
              <a:t>a</a:t>
            </a:r>
            <a:r>
              <a:rPr lang="zh-CN" altLang="en-US">
                <a:latin typeface="Times New Roman" pitchFamily="18" charset="0"/>
                <a:ea typeface="宋体" pitchFamily="2" charset="-122"/>
                <a:cs typeface="Times New Roman" pitchFamily="18" charset="0"/>
              </a:rPr>
              <a:t>、</a:t>
            </a:r>
            <a:r>
              <a:rPr lang="en-US" altLang="zh-CN">
                <a:latin typeface="Times New Roman" pitchFamily="18" charset="0"/>
                <a:ea typeface="宋体" pitchFamily="2" charset="-122"/>
                <a:cs typeface="Times New Roman" pitchFamily="18" charset="0"/>
              </a:rPr>
              <a:t>b</a:t>
            </a:r>
            <a:r>
              <a:rPr lang="zh-CN" altLang="en-US">
                <a:latin typeface="Times New Roman" pitchFamily="18" charset="0"/>
                <a:ea typeface="宋体" pitchFamily="2" charset="-122"/>
                <a:cs typeface="Times New Roman" pitchFamily="18" charset="0"/>
              </a:rPr>
              <a:t>为</a:t>
            </a:r>
            <a:r>
              <a:rPr lang="zh-CN" altLang="zh-CN">
                <a:latin typeface="Times New Roman" pitchFamily="18" charset="0"/>
                <a:ea typeface="宋体" pitchFamily="2" charset="-122"/>
                <a:cs typeface="Times New Roman" pitchFamily="18" charset="0"/>
              </a:rPr>
              <a:t>氯的</a:t>
            </a:r>
            <a:r>
              <a:rPr lang="zh-CN" altLang="en-US">
                <a:latin typeface="Times New Roman" pitchFamily="18" charset="0"/>
                <a:ea typeface="宋体" pitchFamily="2" charset="-122"/>
                <a:cs typeface="Times New Roman" pitchFamily="18" charset="0"/>
              </a:rPr>
              <a:t>同位素</a:t>
            </a:r>
            <a:r>
              <a:rPr lang="zh-CN" altLang="zh-CN">
                <a:latin typeface="Times New Roman" pitchFamily="18" charset="0"/>
                <a:ea typeface="宋体" pitchFamily="2" charset="-122"/>
                <a:cs typeface="Times New Roman" pitchFamily="18" charset="0"/>
              </a:rPr>
              <a:t>丰度，</a:t>
            </a:r>
            <a:r>
              <a:rPr lang="en-US" altLang="zh-CN">
                <a:latin typeface="Times New Roman" pitchFamily="18" charset="0"/>
                <a:ea typeface="宋体" pitchFamily="2" charset="-122"/>
                <a:cs typeface="Times New Roman" pitchFamily="18" charset="0"/>
              </a:rPr>
              <a:t>c</a:t>
            </a:r>
            <a:r>
              <a:rPr lang="zh-CN" altLang="en-US">
                <a:latin typeface="Times New Roman" pitchFamily="18" charset="0"/>
                <a:ea typeface="宋体" pitchFamily="2" charset="-122"/>
                <a:cs typeface="Times New Roman" pitchFamily="18" charset="0"/>
              </a:rPr>
              <a:t>、</a:t>
            </a:r>
            <a:r>
              <a:rPr lang="en-US" altLang="zh-CN">
                <a:latin typeface="Times New Roman" pitchFamily="18" charset="0"/>
                <a:ea typeface="宋体" pitchFamily="2" charset="-122"/>
                <a:cs typeface="Times New Roman" pitchFamily="18" charset="0"/>
              </a:rPr>
              <a:t>d</a:t>
            </a:r>
            <a:r>
              <a:rPr lang="zh-CN" altLang="en-US">
                <a:latin typeface="Times New Roman" pitchFamily="18" charset="0"/>
                <a:ea typeface="宋体" pitchFamily="2" charset="-122"/>
                <a:cs typeface="Times New Roman" pitchFamily="18" charset="0"/>
              </a:rPr>
              <a:t>为溴</a:t>
            </a:r>
            <a:r>
              <a:rPr lang="zh-CN" altLang="zh-CN">
                <a:latin typeface="Times New Roman" pitchFamily="18" charset="0"/>
                <a:ea typeface="宋体" pitchFamily="2" charset="-122"/>
                <a:cs typeface="Times New Roman" pitchFamily="18" charset="0"/>
              </a:rPr>
              <a:t>的</a:t>
            </a:r>
            <a:r>
              <a:rPr lang="zh-CN" altLang="en-US">
                <a:latin typeface="Times New Roman" pitchFamily="18" charset="0"/>
                <a:ea typeface="宋体" pitchFamily="2" charset="-122"/>
                <a:cs typeface="Times New Roman" pitchFamily="18" charset="0"/>
              </a:rPr>
              <a:t>同位素</a:t>
            </a:r>
            <a:r>
              <a:rPr lang="zh-CN" altLang="zh-CN">
                <a:latin typeface="Times New Roman" pitchFamily="18" charset="0"/>
                <a:ea typeface="宋体" pitchFamily="2" charset="-122"/>
                <a:cs typeface="Times New Roman" pitchFamily="18" charset="0"/>
              </a:rPr>
              <a:t>丰度，</a:t>
            </a:r>
            <a:r>
              <a:rPr lang="zh-CN" altLang="en-US">
                <a:latin typeface="Times New Roman" pitchFamily="18" charset="0"/>
                <a:ea typeface="宋体" pitchFamily="2" charset="-122"/>
                <a:cs typeface="Times New Roman" pitchFamily="18" charset="0"/>
              </a:rPr>
              <a:t> 即 </a:t>
            </a:r>
            <a:r>
              <a:rPr lang="en-US" altLang="zh-CN">
                <a:solidFill>
                  <a:srgbClr val="0000CC"/>
                </a:solidFill>
                <a:latin typeface="Times New Roman" pitchFamily="18" charset="0"/>
                <a:ea typeface="宋体" pitchFamily="2" charset="-122"/>
                <a:cs typeface="Times New Roman" pitchFamily="18" charset="0"/>
              </a:rPr>
              <a:t>a</a:t>
            </a:r>
            <a:r>
              <a:rPr lang="zh-CN" altLang="en-US">
                <a:solidFill>
                  <a:srgbClr val="0000CC"/>
                </a:solidFill>
                <a:latin typeface="Times New Roman" pitchFamily="18" charset="0"/>
                <a:ea typeface="宋体" pitchFamily="2" charset="-122"/>
                <a:cs typeface="Times New Roman" pitchFamily="18" charset="0"/>
                <a:sym typeface="Symbol" pitchFamily="18" charset="2"/>
              </a:rPr>
              <a:t></a:t>
            </a:r>
            <a:r>
              <a:rPr lang="en-US" altLang="zh-CN">
                <a:solidFill>
                  <a:srgbClr val="0000CC"/>
                </a:solidFill>
                <a:latin typeface="Times New Roman" pitchFamily="18" charset="0"/>
                <a:ea typeface="宋体" pitchFamily="2" charset="-122"/>
                <a:cs typeface="Times New Roman" pitchFamily="18" charset="0"/>
              </a:rPr>
              <a:t>3</a:t>
            </a:r>
            <a:r>
              <a:rPr lang="zh-CN" altLang="en-US">
                <a:solidFill>
                  <a:srgbClr val="0000CC"/>
                </a:solidFill>
                <a:latin typeface="Times New Roman" pitchFamily="18" charset="0"/>
                <a:ea typeface="宋体" pitchFamily="2" charset="-122"/>
                <a:cs typeface="Times New Roman" pitchFamily="18" charset="0"/>
              </a:rPr>
              <a:t>，</a:t>
            </a:r>
            <a:r>
              <a:rPr lang="en-US" altLang="zh-CN">
                <a:solidFill>
                  <a:srgbClr val="0000CC"/>
                </a:solidFill>
                <a:latin typeface="Times New Roman" pitchFamily="18" charset="0"/>
                <a:ea typeface="宋体" pitchFamily="2" charset="-122"/>
                <a:cs typeface="Times New Roman" pitchFamily="18" charset="0"/>
              </a:rPr>
              <a:t>b</a:t>
            </a:r>
            <a:r>
              <a:rPr lang="zh-CN" altLang="en-US">
                <a:solidFill>
                  <a:srgbClr val="0000CC"/>
                </a:solidFill>
                <a:latin typeface="Times New Roman" pitchFamily="18" charset="0"/>
                <a:ea typeface="宋体" pitchFamily="2" charset="-122"/>
                <a:cs typeface="Times New Roman" pitchFamily="18" charset="0"/>
                <a:sym typeface="Symbol" pitchFamily="18" charset="2"/>
              </a:rPr>
              <a:t></a:t>
            </a:r>
            <a:r>
              <a:rPr lang="en-US" altLang="zh-CN">
                <a:solidFill>
                  <a:srgbClr val="0000CC"/>
                </a:solidFill>
                <a:latin typeface="Times New Roman" pitchFamily="18" charset="0"/>
                <a:ea typeface="宋体" pitchFamily="2" charset="-122"/>
                <a:cs typeface="Times New Roman" pitchFamily="18" charset="0"/>
              </a:rPr>
              <a:t>1</a:t>
            </a:r>
            <a:r>
              <a:rPr lang="zh-CN" altLang="en-US">
                <a:solidFill>
                  <a:srgbClr val="0000CC"/>
                </a:solidFill>
                <a:latin typeface="Times New Roman" pitchFamily="18" charset="0"/>
                <a:ea typeface="宋体" pitchFamily="2" charset="-122"/>
                <a:cs typeface="Times New Roman" pitchFamily="18" charset="0"/>
              </a:rPr>
              <a:t>，</a:t>
            </a:r>
            <a:r>
              <a:rPr lang="en-US" altLang="zh-CN">
                <a:solidFill>
                  <a:srgbClr val="0000CC"/>
                </a:solidFill>
                <a:latin typeface="Times New Roman" pitchFamily="18" charset="0"/>
                <a:ea typeface="宋体" pitchFamily="2" charset="-122"/>
                <a:cs typeface="Times New Roman" pitchFamily="18" charset="0"/>
              </a:rPr>
              <a:t>c</a:t>
            </a:r>
            <a:r>
              <a:rPr lang="zh-CN" altLang="en-US">
                <a:solidFill>
                  <a:srgbClr val="0000CC"/>
                </a:solidFill>
                <a:latin typeface="Times New Roman" pitchFamily="18" charset="0"/>
                <a:ea typeface="宋体" pitchFamily="2" charset="-122"/>
                <a:cs typeface="Times New Roman" pitchFamily="18" charset="0"/>
                <a:sym typeface="Symbol" pitchFamily="18" charset="2"/>
              </a:rPr>
              <a:t></a:t>
            </a:r>
            <a:r>
              <a:rPr lang="en-US" altLang="zh-CN">
                <a:solidFill>
                  <a:srgbClr val="0000CC"/>
                </a:solidFill>
                <a:latin typeface="Times New Roman" pitchFamily="18" charset="0"/>
                <a:ea typeface="宋体" pitchFamily="2" charset="-122"/>
                <a:cs typeface="Times New Roman" pitchFamily="18" charset="0"/>
              </a:rPr>
              <a:t>d=1</a:t>
            </a:r>
            <a:endParaRPr lang="zh-CN" altLang="en-US" sz="1800">
              <a:solidFill>
                <a:srgbClr val="0000CC"/>
              </a:solidFill>
              <a:latin typeface="Times New Roman" pitchFamily="18" charset="0"/>
              <a:ea typeface="宋体" pitchFamily="2" charset="-122"/>
              <a:cs typeface="Times New Roman" pitchFamily="18" charset="0"/>
            </a:endParaRPr>
          </a:p>
        </p:txBody>
      </p:sp>
    </p:spTree>
  </p:cSld>
  <p:clrMapOvr>
    <a:masterClrMapping/>
  </p:clrMapOvr>
  <p:transition spd="slow"/>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7C5FA226-3777-4DA2-B4F3-DDF456CE0C20}"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5734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5E57D81B-DC5E-4AC0-A283-61B27215D77F}" type="slidenum">
              <a:rPr lang="en-US" altLang="zh-CN" sz="1200" smtClean="0">
                <a:latin typeface="Verdana" pitchFamily="34" charset="0"/>
                <a:ea typeface="宋体" pitchFamily="2" charset="-122"/>
              </a:rPr>
              <a:pPr eaLnBrk="1" hangingPunct="1">
                <a:lnSpc>
                  <a:spcPct val="100000"/>
                </a:lnSpc>
              </a:pPr>
              <a:t>50</a:t>
            </a:fld>
            <a:endParaRPr lang="en-US" altLang="zh-CN" sz="1200" smtClean="0">
              <a:latin typeface="Verdana" pitchFamily="34" charset="0"/>
              <a:ea typeface="宋体" pitchFamily="2" charset="-122"/>
            </a:endParaRPr>
          </a:p>
        </p:txBody>
      </p:sp>
      <p:sp>
        <p:nvSpPr>
          <p:cNvPr id="48132" name="Rectangle 2"/>
          <p:cNvSpPr>
            <a:spLocks noChangeArrowheads="1"/>
          </p:cNvSpPr>
          <p:nvPr/>
        </p:nvSpPr>
        <p:spPr bwMode="auto">
          <a:xfrm>
            <a:off x="323850" y="404813"/>
            <a:ext cx="8191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00000"/>
              </a:lnSpc>
              <a:spcBef>
                <a:spcPct val="0"/>
              </a:spcBef>
              <a:buFontTx/>
              <a:buNone/>
              <a:defRPr/>
            </a:pPr>
            <a:r>
              <a:rPr lang="en-US" altLang="zh-CN" sz="3600" dirty="0" smtClean="0">
                <a:solidFill>
                  <a:srgbClr val="0000B6"/>
                </a:solidFill>
                <a:latin typeface="Times New Roman" panose="02020603050405020304" pitchFamily="18" charset="0"/>
                <a:ea typeface="+mn-ea"/>
                <a:cs typeface="Times New Roman" panose="02020603050405020304" pitchFamily="18" charset="0"/>
              </a:rPr>
              <a:t>2</a:t>
            </a:r>
            <a:r>
              <a:rPr lang="zh-CN" altLang="en-US" sz="3600" dirty="0" smtClean="0">
                <a:solidFill>
                  <a:srgbClr val="0000B6"/>
                </a:solidFill>
                <a:latin typeface="Times New Roman" panose="02020603050405020304" pitchFamily="18" charset="0"/>
                <a:ea typeface="+mn-ea"/>
                <a:cs typeface="Times New Roman" panose="02020603050405020304" pitchFamily="18" charset="0"/>
              </a:rPr>
              <a:t>、分子中</a:t>
            </a:r>
            <a:r>
              <a:rPr lang="en-US" altLang="zh-CN" sz="3600" dirty="0" smtClean="0">
                <a:solidFill>
                  <a:srgbClr val="0000B6"/>
                </a:solidFill>
                <a:latin typeface="Times New Roman" panose="02020603050405020304" pitchFamily="18" charset="0"/>
                <a:ea typeface="+mn-ea"/>
                <a:cs typeface="Times New Roman" panose="02020603050405020304" pitchFamily="18" charset="0"/>
              </a:rPr>
              <a:t>S</a:t>
            </a:r>
            <a:r>
              <a:rPr lang="zh-CN" altLang="en-US" sz="3600" dirty="0" smtClean="0">
                <a:solidFill>
                  <a:srgbClr val="0000B6"/>
                </a:solidFill>
                <a:latin typeface="Times New Roman" panose="02020603050405020304" pitchFamily="18" charset="0"/>
                <a:ea typeface="+mn-ea"/>
                <a:cs typeface="Times New Roman" panose="02020603050405020304" pitchFamily="18" charset="0"/>
              </a:rPr>
              <a:t>、</a:t>
            </a:r>
            <a:r>
              <a:rPr lang="en-US" altLang="zh-CN" sz="3600" dirty="0" smtClean="0">
                <a:solidFill>
                  <a:srgbClr val="0000B6"/>
                </a:solidFill>
                <a:latin typeface="Times New Roman" panose="02020603050405020304" pitchFamily="18" charset="0"/>
                <a:ea typeface="+mn-ea"/>
                <a:cs typeface="Times New Roman" panose="02020603050405020304" pitchFamily="18" charset="0"/>
              </a:rPr>
              <a:t>Si</a:t>
            </a:r>
            <a:r>
              <a:rPr lang="zh-CN" altLang="en-US" sz="3600" dirty="0" smtClean="0">
                <a:solidFill>
                  <a:srgbClr val="0000B6"/>
                </a:solidFill>
                <a:latin typeface="Times New Roman" panose="02020603050405020304" pitchFamily="18" charset="0"/>
                <a:ea typeface="+mn-ea"/>
                <a:cs typeface="Times New Roman" panose="02020603050405020304" pitchFamily="18" charset="0"/>
              </a:rPr>
              <a:t>元素的识别和数量确定</a:t>
            </a:r>
          </a:p>
        </p:txBody>
      </p:sp>
      <p:sp>
        <p:nvSpPr>
          <p:cNvPr id="35845" name="Text Box 3"/>
          <p:cNvSpPr txBox="1">
            <a:spLocks noChangeArrowheads="1"/>
          </p:cNvSpPr>
          <p:nvPr/>
        </p:nvSpPr>
        <p:spPr bwMode="auto">
          <a:xfrm>
            <a:off x="323850" y="1196975"/>
            <a:ext cx="838835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cs typeface="Times New Roman" pitchFamily="18" charset="0"/>
              </a:rPr>
              <a:t>         S</a:t>
            </a:r>
            <a:r>
              <a:rPr lang="zh-CN" altLang="en-US" sz="3200">
                <a:latin typeface="Times New Roman" pitchFamily="18" charset="0"/>
                <a:cs typeface="Times New Roman" pitchFamily="18" charset="0"/>
              </a:rPr>
              <a:t>、</a:t>
            </a:r>
            <a:r>
              <a:rPr lang="en-US" altLang="zh-CN" sz="3200">
                <a:latin typeface="Times New Roman" pitchFamily="18" charset="0"/>
                <a:cs typeface="Times New Roman" pitchFamily="18" charset="0"/>
              </a:rPr>
              <a:t>Si</a:t>
            </a:r>
            <a:r>
              <a:rPr lang="zh-CN" altLang="en-US" sz="3200">
                <a:latin typeface="Times New Roman" pitchFamily="18" charset="0"/>
                <a:cs typeface="Times New Roman" pitchFamily="18" charset="0"/>
              </a:rPr>
              <a:t>也是</a:t>
            </a:r>
            <a:r>
              <a:rPr lang="en-US" altLang="zh-CN" sz="3200">
                <a:latin typeface="Times New Roman" pitchFamily="18" charset="0"/>
                <a:cs typeface="Times New Roman" pitchFamily="18" charset="0"/>
              </a:rPr>
              <a:t>A+2</a:t>
            </a:r>
            <a:r>
              <a:rPr lang="zh-CN" altLang="en-US" sz="3200">
                <a:latin typeface="Times New Roman" pitchFamily="18" charset="0"/>
                <a:cs typeface="Times New Roman" pitchFamily="18" charset="0"/>
              </a:rPr>
              <a:t>类元素</a:t>
            </a:r>
            <a:endParaRPr lang="en-US" altLang="zh-CN" sz="3200">
              <a:latin typeface="Times New Roman" pitchFamily="18" charset="0"/>
              <a:cs typeface="Times New Roman" pitchFamily="18" charset="0"/>
            </a:endParaRPr>
          </a:p>
          <a:p>
            <a:pPr eaLnBrk="1" hangingPunct="1">
              <a:lnSpc>
                <a:spcPct val="150000"/>
              </a:lnSpc>
            </a:pPr>
            <a:r>
              <a:rPr lang="en-US" altLang="zh-CN" sz="3200" baseline="30000">
                <a:latin typeface="Times New Roman" pitchFamily="18" charset="0"/>
                <a:cs typeface="Times New Roman" pitchFamily="18" charset="0"/>
              </a:rPr>
              <a:t>              34</a:t>
            </a:r>
            <a:r>
              <a:rPr lang="en-US" altLang="zh-CN" sz="3200">
                <a:latin typeface="Times New Roman" pitchFamily="18" charset="0"/>
                <a:cs typeface="Times New Roman" pitchFamily="18" charset="0"/>
              </a:rPr>
              <a:t>S(4.4%)</a:t>
            </a:r>
            <a:r>
              <a:rPr lang="zh-CN" altLang="en-US" sz="3200">
                <a:latin typeface="Times New Roman" pitchFamily="18" charset="0"/>
                <a:cs typeface="Times New Roman" pitchFamily="18" charset="0"/>
              </a:rPr>
              <a:t>， </a:t>
            </a:r>
            <a:r>
              <a:rPr lang="en-US" altLang="zh-CN" sz="3200" baseline="30000">
                <a:latin typeface="Times New Roman" pitchFamily="18" charset="0"/>
                <a:cs typeface="Times New Roman" pitchFamily="18" charset="0"/>
              </a:rPr>
              <a:t>30</a:t>
            </a:r>
            <a:r>
              <a:rPr lang="en-US" altLang="zh-CN" sz="3200">
                <a:latin typeface="Times New Roman" pitchFamily="18" charset="0"/>
                <a:cs typeface="Times New Roman" pitchFamily="18" charset="0"/>
              </a:rPr>
              <a:t>Si(3.4%)</a:t>
            </a:r>
          </a:p>
          <a:p>
            <a:pPr eaLnBrk="1" hangingPunct="1">
              <a:lnSpc>
                <a:spcPct val="150000"/>
              </a:lnSpc>
            </a:pPr>
            <a:r>
              <a:rPr lang="zh-CN" altLang="en-US" sz="3200">
                <a:latin typeface="Times New Roman" pitchFamily="18" charset="0"/>
                <a:cs typeface="Times New Roman" pitchFamily="18" charset="0"/>
              </a:rPr>
              <a:t> 如果谱图中出现明显的</a:t>
            </a:r>
            <a:r>
              <a:rPr lang="en-US" altLang="zh-CN" sz="3200">
                <a:latin typeface="Times New Roman" pitchFamily="18" charset="0"/>
                <a:cs typeface="Times New Roman" pitchFamily="18" charset="0"/>
              </a:rPr>
              <a:t>M+2</a:t>
            </a:r>
            <a:r>
              <a:rPr lang="zh-CN" altLang="en-US" sz="3200">
                <a:latin typeface="Times New Roman" pitchFamily="18" charset="0"/>
                <a:cs typeface="Times New Roman" pitchFamily="18" charset="0"/>
              </a:rPr>
              <a:t>峰，但</a:t>
            </a:r>
            <a:r>
              <a:rPr lang="en-US" altLang="zh-CN" sz="3200">
                <a:latin typeface="Times New Roman" pitchFamily="18" charset="0"/>
                <a:cs typeface="Times New Roman" pitchFamily="18" charset="0"/>
              </a:rPr>
              <a:t>(M+2):M</a:t>
            </a:r>
            <a:r>
              <a:rPr lang="zh-CN" altLang="en-US" sz="3200">
                <a:latin typeface="Times New Roman" pitchFamily="18" charset="0"/>
                <a:cs typeface="Times New Roman" pitchFamily="18" charset="0"/>
              </a:rPr>
              <a:t>的丰度比远小于</a:t>
            </a:r>
            <a:r>
              <a:rPr lang="en-US" altLang="zh-CN" sz="3200">
                <a:latin typeface="Times New Roman" pitchFamily="18" charset="0"/>
                <a:cs typeface="Times New Roman" pitchFamily="18" charset="0"/>
              </a:rPr>
              <a:t>1</a:t>
            </a:r>
            <a:r>
              <a:rPr lang="zh-CN" altLang="en-US" sz="3200">
                <a:latin typeface="Times New Roman" pitchFamily="18" charset="0"/>
                <a:cs typeface="Times New Roman" pitchFamily="18" charset="0"/>
              </a:rPr>
              <a:t>：</a:t>
            </a:r>
            <a:r>
              <a:rPr lang="en-US" altLang="zh-CN" sz="3200">
                <a:latin typeface="Times New Roman" pitchFamily="18" charset="0"/>
                <a:cs typeface="Times New Roman" pitchFamily="18" charset="0"/>
              </a:rPr>
              <a:t>3</a:t>
            </a:r>
            <a:r>
              <a:rPr lang="zh-CN" altLang="en-US" sz="3200">
                <a:latin typeface="Times New Roman" pitchFamily="18" charset="0"/>
                <a:cs typeface="Times New Roman" pitchFamily="18" charset="0"/>
              </a:rPr>
              <a:t>，分子中可能有硫或硅原子。</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linds(horizontal)">
                                      <p:cBhvr>
                                        <p:cTn id="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txBox="1">
            <a:spLocks noGrp="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146BB3A-1FDA-4E80-8E4C-F0FC1B8C4B0E}" type="datetime10">
              <a:rPr lang="zh-CN" altLang="en-US" sz="1200">
                <a:latin typeface="Verdana" pitchFamily="34" charset="0"/>
              </a:rPr>
              <a:pPr eaLnBrk="1" hangingPunct="1">
                <a:lnSpc>
                  <a:spcPct val="100000"/>
                </a:lnSpc>
              </a:pPr>
              <a:t>20:02</a:t>
            </a:fld>
            <a:endParaRPr lang="en-US" altLang="zh-CN" sz="1200">
              <a:latin typeface="Verdana" pitchFamily="34" charset="0"/>
            </a:endParaRPr>
          </a:p>
        </p:txBody>
      </p:sp>
      <p:sp>
        <p:nvSpPr>
          <p:cNvPr id="58371" name="灯片编号占位符 5"/>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1077F058-8B97-4BE1-A2A7-4E76E7FEFD9E}" type="slidenum">
              <a:rPr lang="en-US" altLang="zh-CN" sz="1200">
                <a:latin typeface="Verdana" pitchFamily="34" charset="0"/>
              </a:rPr>
              <a:pPr algn="r" eaLnBrk="1" hangingPunct="1">
                <a:lnSpc>
                  <a:spcPct val="100000"/>
                </a:lnSpc>
              </a:pPr>
              <a:t>51</a:t>
            </a:fld>
            <a:endParaRPr lang="en-US" altLang="zh-CN" sz="1200">
              <a:latin typeface="Verdana" pitchFamily="34" charset="0"/>
            </a:endParaRPr>
          </a:p>
        </p:txBody>
      </p:sp>
      <p:sp>
        <p:nvSpPr>
          <p:cNvPr id="58372" name="Text Box 6"/>
          <p:cNvSpPr txBox="1">
            <a:spLocks noChangeArrowheads="1"/>
          </p:cNvSpPr>
          <p:nvPr/>
        </p:nvSpPr>
        <p:spPr bwMode="auto">
          <a:xfrm>
            <a:off x="7956550" y="6165850"/>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sz="2400">
                <a:latin typeface="Times New Roman" pitchFamily="18" charset="0"/>
                <a:hlinkClick r:id="rId3" action="ppaction://hlinkpres?slideindex=22&amp;slidetitle=第五节  同位素离子的利用 和分子式的推导"/>
              </a:rPr>
              <a:t>返回</a:t>
            </a:r>
            <a:endParaRPr lang="zh-CN" altLang="en-US" sz="2400">
              <a:latin typeface="Times New Roman" pitchFamily="18" charset="0"/>
            </a:endParaRPr>
          </a:p>
        </p:txBody>
      </p:sp>
      <p:sp>
        <p:nvSpPr>
          <p:cNvPr id="58373" name="Oval 7"/>
          <p:cNvSpPr>
            <a:spLocks noChangeArrowheads="1"/>
          </p:cNvSpPr>
          <p:nvPr/>
        </p:nvSpPr>
        <p:spPr bwMode="auto">
          <a:xfrm rot="1504048">
            <a:off x="5724525" y="3573463"/>
            <a:ext cx="363538" cy="211137"/>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pPr>
            <a:endParaRPr lang="zh-CN" altLang="en-US" sz="1800">
              <a:latin typeface="Verdana" pitchFamily="34" charset="0"/>
            </a:endParaRPr>
          </a:p>
        </p:txBody>
      </p:sp>
      <p:sp>
        <p:nvSpPr>
          <p:cNvPr id="58374" name="Oval 9"/>
          <p:cNvSpPr>
            <a:spLocks noChangeArrowheads="1"/>
          </p:cNvSpPr>
          <p:nvPr/>
        </p:nvSpPr>
        <p:spPr bwMode="auto">
          <a:xfrm rot="1504048">
            <a:off x="6732588" y="3500438"/>
            <a:ext cx="647700" cy="215900"/>
          </a:xfrm>
          <a:prstGeom prst="ellipse">
            <a:avLst/>
          </a:prstGeom>
          <a:noFill/>
          <a:ln w="12700" cap="sq">
            <a:solidFill>
              <a:schemeClr val="accent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pPr>
              <a:lnSpc>
                <a:spcPct val="100000"/>
              </a:lnSpc>
            </a:pPr>
            <a:endParaRPr lang="zh-CN" altLang="en-US" sz="1800">
              <a:latin typeface="Verdana" pitchFamily="34" charset="0"/>
            </a:endParaRPr>
          </a:p>
        </p:txBody>
      </p:sp>
      <p:grpSp>
        <p:nvGrpSpPr>
          <p:cNvPr id="58375" name="Group 15"/>
          <p:cNvGrpSpPr>
            <a:grpSpLocks/>
          </p:cNvGrpSpPr>
          <p:nvPr/>
        </p:nvGrpSpPr>
        <p:grpSpPr bwMode="auto">
          <a:xfrm>
            <a:off x="539750" y="692150"/>
            <a:ext cx="8424863" cy="4852988"/>
            <a:chOff x="295" y="73"/>
            <a:chExt cx="5307" cy="3057"/>
          </a:xfrm>
        </p:grpSpPr>
        <p:grpSp>
          <p:nvGrpSpPr>
            <p:cNvPr id="58377" name="Group 3"/>
            <p:cNvGrpSpPr>
              <a:grpSpLocks/>
            </p:cNvGrpSpPr>
            <p:nvPr/>
          </p:nvGrpSpPr>
          <p:grpSpPr bwMode="auto">
            <a:xfrm>
              <a:off x="295" y="73"/>
              <a:ext cx="4848" cy="3057"/>
              <a:chOff x="1104" y="1968"/>
              <a:chExt cx="4272" cy="2133"/>
            </a:xfrm>
          </p:grpSpPr>
          <p:pic>
            <p:nvPicPr>
              <p:cNvPr id="58383" name="Picture 4" descr="B4-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1968"/>
                <a:ext cx="4272" cy="1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67" name="Text Box 5"/>
              <p:cNvSpPr txBox="1">
                <a:spLocks noChangeArrowheads="1"/>
              </p:cNvSpPr>
              <p:nvPr/>
            </p:nvSpPr>
            <p:spPr bwMode="auto">
              <a:xfrm>
                <a:off x="2384" y="3871"/>
                <a:ext cx="1929"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0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二乙基硫醚的</a:t>
                </a:r>
                <a:r>
                  <a:rPr lang="en-US" altLang="zh-CN" sz="2800" dirty="0" smtClean="0">
                    <a:latin typeface="Times New Roman" panose="02020603050405020304" pitchFamily="18" charset="0"/>
                    <a:ea typeface="+mn-ea"/>
                    <a:cs typeface="Times New Roman" panose="02020603050405020304" pitchFamily="18" charset="0"/>
                  </a:rPr>
                  <a:t>EI-MS </a:t>
                </a:r>
              </a:p>
            </p:txBody>
          </p:sp>
        </p:grpSp>
        <p:sp>
          <p:nvSpPr>
            <p:cNvPr id="58378" name="Text Box 10"/>
            <p:cNvSpPr txBox="1">
              <a:spLocks noChangeArrowheads="1"/>
            </p:cNvSpPr>
            <p:nvPr/>
          </p:nvSpPr>
          <p:spPr bwMode="auto">
            <a:xfrm>
              <a:off x="4558" y="572"/>
              <a:ext cx="49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sz="2400">
                  <a:latin typeface="Times New Roman" pitchFamily="18" charset="0"/>
                </a:rPr>
                <a:t>M</a:t>
              </a:r>
              <a:r>
                <a:rPr lang="en-US" altLang="zh-CN" sz="2400" baseline="30000">
                  <a:latin typeface="Times New Roman" pitchFamily="18" charset="0"/>
                </a:rPr>
                <a:t>+</a:t>
              </a:r>
              <a:r>
                <a:rPr lang="en-US" altLang="zh-CN" sz="2400" baseline="30000">
                  <a:latin typeface="Times New Roman" pitchFamily="18" charset="0"/>
                  <a:sym typeface="Symbol" pitchFamily="18" charset="2"/>
                </a:rPr>
                <a:t></a:t>
              </a:r>
              <a:endParaRPr lang="en-US" altLang="zh-CN" sz="2400" baseline="30000">
                <a:latin typeface="Times New Roman" pitchFamily="18" charset="0"/>
              </a:endParaRPr>
            </a:p>
          </p:txBody>
        </p:sp>
        <p:grpSp>
          <p:nvGrpSpPr>
            <p:cNvPr id="58379" name="Group 14"/>
            <p:cNvGrpSpPr>
              <a:grpSpLocks/>
            </p:cNvGrpSpPr>
            <p:nvPr/>
          </p:nvGrpSpPr>
          <p:grpSpPr bwMode="auto">
            <a:xfrm>
              <a:off x="2109" y="108"/>
              <a:ext cx="908" cy="435"/>
              <a:chOff x="2109" y="108"/>
              <a:chExt cx="908" cy="435"/>
            </a:xfrm>
          </p:grpSpPr>
          <p:sp>
            <p:nvSpPr>
              <p:cNvPr id="58381" name="Text Box 11"/>
              <p:cNvSpPr txBox="1">
                <a:spLocks noChangeArrowheads="1"/>
              </p:cNvSpPr>
              <p:nvPr/>
            </p:nvSpPr>
            <p:spPr bwMode="auto">
              <a:xfrm>
                <a:off x="2109" y="255"/>
                <a:ext cx="9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sz="2400">
                    <a:latin typeface="Times New Roman" pitchFamily="18" charset="0"/>
                  </a:rPr>
                  <a:t>CH</a:t>
                </a:r>
                <a:r>
                  <a:rPr lang="en-US" altLang="zh-CN" sz="2400" baseline="-25000">
                    <a:latin typeface="Times New Roman" pitchFamily="18" charset="0"/>
                  </a:rPr>
                  <a:t>2</a:t>
                </a:r>
                <a:r>
                  <a:rPr lang="en-US" altLang="zh-CN" sz="2400">
                    <a:latin typeface="Times New Roman" pitchFamily="18" charset="0"/>
                  </a:rPr>
                  <a:t>=SH</a:t>
                </a:r>
              </a:p>
            </p:txBody>
          </p:sp>
          <p:sp>
            <p:nvSpPr>
              <p:cNvPr id="58382" name="Text Box 12"/>
              <p:cNvSpPr txBox="1">
                <a:spLocks noChangeArrowheads="1"/>
              </p:cNvSpPr>
              <p:nvPr/>
            </p:nvSpPr>
            <p:spPr bwMode="auto">
              <a:xfrm>
                <a:off x="2532" y="108"/>
                <a:ext cx="27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sz="2400">
                    <a:latin typeface="Times New Roman" pitchFamily="18" charset="0"/>
                    <a:sym typeface="Symbol" pitchFamily="18" charset="2"/>
                  </a:rPr>
                  <a:t></a:t>
                </a:r>
                <a:r>
                  <a:rPr lang="en-US" altLang="zh-CN" sz="2400">
                    <a:latin typeface="Times New Roman" pitchFamily="18" charset="0"/>
                  </a:rPr>
                  <a:t>+</a:t>
                </a:r>
              </a:p>
            </p:txBody>
          </p:sp>
        </p:grpSp>
        <p:sp>
          <p:nvSpPr>
            <p:cNvPr id="58380" name="Text Box 10"/>
            <p:cNvSpPr txBox="1">
              <a:spLocks noChangeArrowheads="1"/>
            </p:cNvSpPr>
            <p:nvPr/>
          </p:nvSpPr>
          <p:spPr bwMode="auto">
            <a:xfrm>
              <a:off x="4876" y="1427"/>
              <a:ext cx="7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sz="2400">
                  <a:latin typeface="Times New Roman" pitchFamily="18" charset="0"/>
                </a:rPr>
                <a:t>(M+2)</a:t>
              </a:r>
              <a:r>
                <a:rPr lang="en-US" altLang="zh-CN" sz="2400" baseline="30000">
                  <a:latin typeface="Times New Roman" pitchFamily="18" charset="0"/>
                </a:rPr>
                <a:t>+</a:t>
              </a:r>
              <a:r>
                <a:rPr lang="en-US" altLang="zh-CN" sz="2400" baseline="30000">
                  <a:latin typeface="Times New Roman" pitchFamily="18" charset="0"/>
                  <a:sym typeface="Symbol" pitchFamily="18" charset="2"/>
                </a:rPr>
                <a:t></a:t>
              </a:r>
              <a:endParaRPr lang="en-US" altLang="zh-CN" sz="2400" baseline="30000">
                <a:latin typeface="Times New Roman" pitchFamily="18" charset="0"/>
              </a:endParaRPr>
            </a:p>
          </p:txBody>
        </p:sp>
      </p:grpSp>
      <p:cxnSp>
        <p:nvCxnSpPr>
          <p:cNvPr id="3" name="直接箭头连接符 2"/>
          <p:cNvCxnSpPr/>
          <p:nvPr/>
        </p:nvCxnSpPr>
        <p:spPr>
          <a:xfrm flipH="1">
            <a:off x="7812088" y="3284538"/>
            <a:ext cx="423862" cy="631825"/>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1"/>
          <p:cNvSpPr txBox="1">
            <a:spLocks noGrp="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1D55676-39F3-4E35-975B-0B5C347000CC}" type="datetime10">
              <a:rPr lang="zh-CN" altLang="en-US" sz="1200">
                <a:latin typeface="Verdana" pitchFamily="34" charset="0"/>
              </a:rPr>
              <a:pPr eaLnBrk="1" hangingPunct="1">
                <a:lnSpc>
                  <a:spcPct val="100000"/>
                </a:lnSpc>
              </a:pPr>
              <a:t>20:02</a:t>
            </a:fld>
            <a:endParaRPr lang="en-US" altLang="zh-CN" sz="1200">
              <a:latin typeface="Verdana" pitchFamily="34" charset="0"/>
            </a:endParaRPr>
          </a:p>
        </p:txBody>
      </p:sp>
      <p:sp>
        <p:nvSpPr>
          <p:cNvPr id="59395" name="灯片编号占位符 3"/>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788EE0DC-E347-432F-8AB9-A822A5F9DFF4}" type="slidenum">
              <a:rPr lang="en-US" altLang="zh-CN" sz="1200">
                <a:latin typeface="Verdana" pitchFamily="34" charset="0"/>
              </a:rPr>
              <a:pPr algn="r" eaLnBrk="1" hangingPunct="1">
                <a:lnSpc>
                  <a:spcPct val="100000"/>
                </a:lnSpc>
              </a:pPr>
              <a:t>52</a:t>
            </a:fld>
            <a:endParaRPr lang="en-US" altLang="zh-CN" sz="1200">
              <a:latin typeface="Verdana" pitchFamily="34" charset="0"/>
            </a:endParaRPr>
          </a:p>
        </p:txBody>
      </p:sp>
      <p:sp>
        <p:nvSpPr>
          <p:cNvPr id="59396" name="Rectangle 2"/>
          <p:cNvSpPr>
            <a:spLocks noChangeArrowheads="1"/>
          </p:cNvSpPr>
          <p:nvPr/>
        </p:nvSpPr>
        <p:spPr bwMode="auto">
          <a:xfrm>
            <a:off x="11113" y="333375"/>
            <a:ext cx="799306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ctr"/>
          <a:lstStyle/>
          <a:p>
            <a:pPr algn="ctr">
              <a:lnSpc>
                <a:spcPct val="100000"/>
              </a:lnSpc>
            </a:pPr>
            <a:r>
              <a:rPr lang="en-US" altLang="zh-CN" sz="3600">
                <a:solidFill>
                  <a:srgbClr val="0000B6"/>
                </a:solidFill>
                <a:latin typeface="Times New Roman" pitchFamily="18" charset="0"/>
                <a:cs typeface="Times New Roman" pitchFamily="18" charset="0"/>
              </a:rPr>
              <a:t>2</a:t>
            </a:r>
            <a:r>
              <a:rPr lang="zh-CN" altLang="en-US" sz="3600">
                <a:solidFill>
                  <a:srgbClr val="0000B6"/>
                </a:solidFill>
                <a:latin typeface="Times New Roman" pitchFamily="18" charset="0"/>
                <a:cs typeface="Times New Roman" pitchFamily="18" charset="0"/>
              </a:rPr>
              <a:t>、分子中</a:t>
            </a:r>
            <a:r>
              <a:rPr lang="en-US" altLang="zh-CN" sz="3600">
                <a:solidFill>
                  <a:srgbClr val="0000B6"/>
                </a:solidFill>
                <a:latin typeface="Times New Roman" pitchFamily="18" charset="0"/>
                <a:cs typeface="Times New Roman" pitchFamily="18" charset="0"/>
              </a:rPr>
              <a:t>S</a:t>
            </a:r>
            <a:r>
              <a:rPr lang="zh-CN" altLang="en-US" sz="3600">
                <a:solidFill>
                  <a:srgbClr val="0000B6"/>
                </a:solidFill>
                <a:latin typeface="Times New Roman" pitchFamily="18" charset="0"/>
                <a:cs typeface="Times New Roman" pitchFamily="18" charset="0"/>
              </a:rPr>
              <a:t>、</a:t>
            </a:r>
            <a:r>
              <a:rPr lang="en-US" altLang="zh-CN" sz="3600">
                <a:solidFill>
                  <a:srgbClr val="0000B6"/>
                </a:solidFill>
                <a:latin typeface="Times New Roman" pitchFamily="18" charset="0"/>
                <a:cs typeface="Times New Roman" pitchFamily="18" charset="0"/>
              </a:rPr>
              <a:t>Si</a:t>
            </a:r>
            <a:r>
              <a:rPr lang="zh-CN" altLang="en-US" sz="3600">
                <a:solidFill>
                  <a:srgbClr val="0000B6"/>
                </a:solidFill>
                <a:latin typeface="Times New Roman" pitchFamily="18" charset="0"/>
                <a:cs typeface="Times New Roman" pitchFamily="18" charset="0"/>
              </a:rPr>
              <a:t>元素的识别和数量确定</a:t>
            </a:r>
          </a:p>
        </p:txBody>
      </p:sp>
      <p:sp>
        <p:nvSpPr>
          <p:cNvPr id="59397" name="Text Box 3"/>
          <p:cNvSpPr txBox="1">
            <a:spLocks noChangeArrowheads="1"/>
          </p:cNvSpPr>
          <p:nvPr/>
        </p:nvSpPr>
        <p:spPr bwMode="auto">
          <a:xfrm>
            <a:off x="620713" y="4978400"/>
            <a:ext cx="7629525" cy="738188"/>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ea typeface="微软雅黑" pitchFamily="34" charset="-122"/>
                <a:cs typeface="Times New Roman" pitchFamily="18" charset="0"/>
              </a:rPr>
              <a:t>含</a:t>
            </a:r>
            <a:r>
              <a:rPr lang="en-US" altLang="zh-CN">
                <a:latin typeface="Times New Roman" pitchFamily="18" charset="0"/>
                <a:ea typeface="微软雅黑" pitchFamily="34" charset="-122"/>
                <a:cs typeface="Times New Roman" pitchFamily="18" charset="0"/>
              </a:rPr>
              <a:t>S</a:t>
            </a:r>
            <a:r>
              <a:rPr lang="zh-CN" altLang="en-US">
                <a:latin typeface="Times New Roman" pitchFamily="18" charset="0"/>
                <a:ea typeface="微软雅黑" pitchFamily="34" charset="-122"/>
                <a:cs typeface="Times New Roman" pitchFamily="18" charset="0"/>
              </a:rPr>
              <a:t>、</a:t>
            </a:r>
            <a:r>
              <a:rPr lang="en-US" altLang="zh-CN">
                <a:latin typeface="Times New Roman" pitchFamily="18" charset="0"/>
                <a:ea typeface="微软雅黑" pitchFamily="34" charset="-122"/>
                <a:cs typeface="Times New Roman" pitchFamily="18" charset="0"/>
              </a:rPr>
              <a:t>Si</a:t>
            </a:r>
            <a:r>
              <a:rPr lang="zh-CN" altLang="en-US">
                <a:latin typeface="Times New Roman" pitchFamily="18" charset="0"/>
                <a:ea typeface="微软雅黑" pitchFamily="34" charset="-122"/>
                <a:cs typeface="Times New Roman" pitchFamily="18" charset="0"/>
              </a:rPr>
              <a:t>元素的化合物，一般只考虑</a:t>
            </a:r>
            <a:r>
              <a:rPr lang="en-US" altLang="zh-CN">
                <a:latin typeface="Times New Roman" pitchFamily="18" charset="0"/>
                <a:ea typeface="微软雅黑" pitchFamily="34" charset="-122"/>
                <a:cs typeface="Times New Roman" pitchFamily="18" charset="0"/>
              </a:rPr>
              <a:t>M+2</a:t>
            </a:r>
            <a:r>
              <a:rPr lang="zh-CN" altLang="en-US">
                <a:latin typeface="Times New Roman" pitchFamily="18" charset="0"/>
                <a:ea typeface="微软雅黑" pitchFamily="34" charset="-122"/>
                <a:cs typeface="Times New Roman" pitchFamily="18" charset="0"/>
              </a:rPr>
              <a:t>的强度</a:t>
            </a:r>
          </a:p>
        </p:txBody>
      </p:sp>
      <p:sp>
        <p:nvSpPr>
          <p:cNvPr id="6" name="Text Box 3"/>
          <p:cNvSpPr txBox="1">
            <a:spLocks noChangeArrowheads="1"/>
          </p:cNvSpPr>
          <p:nvPr/>
        </p:nvSpPr>
        <p:spPr bwMode="auto">
          <a:xfrm>
            <a:off x="323850" y="1208088"/>
            <a:ext cx="856932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5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        含</a:t>
            </a:r>
            <a:r>
              <a:rPr lang="en-US" altLang="zh-CN" sz="2800" dirty="0" smtClean="0">
                <a:latin typeface="Times New Roman" panose="02020603050405020304" pitchFamily="18" charset="0"/>
                <a:ea typeface="+mn-ea"/>
                <a:cs typeface="Times New Roman" panose="02020603050405020304" pitchFamily="18" charset="0"/>
              </a:rPr>
              <a:t>S</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Si</a:t>
            </a:r>
            <a:r>
              <a:rPr lang="zh-CN" altLang="en-US" sz="2800" dirty="0" smtClean="0">
                <a:latin typeface="Times New Roman" panose="02020603050405020304" pitchFamily="18" charset="0"/>
                <a:ea typeface="+mn-ea"/>
                <a:cs typeface="Times New Roman" panose="02020603050405020304" pitchFamily="18" charset="0"/>
              </a:rPr>
              <a:t>元素的化合物中</a:t>
            </a:r>
            <a:r>
              <a:rPr lang="en-US" altLang="zh-CN" sz="2800" dirty="0" smtClean="0">
                <a:latin typeface="Times New Roman" panose="02020603050405020304" pitchFamily="18" charset="0"/>
                <a:ea typeface="+mn-ea"/>
                <a:cs typeface="Times New Roman" panose="02020603050405020304" pitchFamily="18" charset="0"/>
              </a:rPr>
              <a:t>M</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M+2</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M+4</a:t>
            </a:r>
            <a:r>
              <a:rPr lang="zh-CN" altLang="en-US" sz="2800" dirty="0" smtClean="0">
                <a:latin typeface="Times New Roman" panose="02020603050405020304" pitchFamily="18" charset="0"/>
                <a:ea typeface="+mn-ea"/>
                <a:cs typeface="Times New Roman" panose="02020603050405020304" pitchFamily="18" charset="0"/>
              </a:rPr>
              <a:t>峰的丰度</a:t>
            </a:r>
            <a:endParaRPr lang="en-US" altLang="zh-CN" sz="2800" dirty="0" smtClean="0">
              <a:latin typeface="Times New Roman" panose="02020603050405020304" pitchFamily="18" charset="0"/>
              <a:ea typeface="+mn-ea"/>
              <a:cs typeface="Times New Roman" panose="02020603050405020304" pitchFamily="18" charset="0"/>
            </a:endParaRPr>
          </a:p>
          <a:p>
            <a:pPr>
              <a:lnSpc>
                <a:spcPct val="15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由</a:t>
            </a:r>
            <a:r>
              <a:rPr lang="en-US" altLang="zh-CN" sz="2800" dirty="0" smtClean="0">
                <a:solidFill>
                  <a:srgbClr val="0000CC"/>
                </a:solidFill>
                <a:latin typeface="Times New Roman" panose="02020603050405020304" pitchFamily="18" charset="0"/>
                <a:ea typeface="+mn-ea"/>
                <a:cs typeface="Times New Roman" panose="02020603050405020304" pitchFamily="18" charset="0"/>
              </a:rPr>
              <a:t>(</a:t>
            </a:r>
            <a:r>
              <a:rPr lang="en-US" altLang="zh-CN" sz="2800" dirty="0" err="1" smtClean="0">
                <a:solidFill>
                  <a:srgbClr val="0000CC"/>
                </a:solidFill>
                <a:latin typeface="Times New Roman" panose="02020603050405020304" pitchFamily="18" charset="0"/>
                <a:ea typeface="+mn-ea"/>
                <a:cs typeface="Times New Roman" panose="02020603050405020304" pitchFamily="18" charset="0"/>
              </a:rPr>
              <a:t>a+b</a:t>
            </a:r>
            <a:r>
              <a:rPr lang="en-US" altLang="zh-CN" sz="2800" dirty="0" smtClean="0">
                <a:solidFill>
                  <a:srgbClr val="0000CC"/>
                </a:solidFill>
                <a:latin typeface="Times New Roman" panose="02020603050405020304" pitchFamily="18" charset="0"/>
                <a:ea typeface="+mn-ea"/>
                <a:cs typeface="Times New Roman" panose="02020603050405020304" pitchFamily="18" charset="0"/>
              </a:rPr>
              <a:t>)</a:t>
            </a:r>
            <a:r>
              <a:rPr lang="en-US" altLang="zh-CN" sz="2800" baseline="30000" dirty="0" smtClean="0">
                <a:solidFill>
                  <a:srgbClr val="0000CC"/>
                </a:solidFill>
                <a:latin typeface="Times New Roman" panose="02020603050405020304" pitchFamily="18" charset="0"/>
                <a:ea typeface="+mn-ea"/>
                <a:cs typeface="Times New Roman" panose="02020603050405020304" pitchFamily="18" charset="0"/>
              </a:rPr>
              <a:t>n</a:t>
            </a:r>
            <a:r>
              <a:rPr lang="zh-CN" altLang="en-US" sz="2800" dirty="0" smtClean="0">
                <a:latin typeface="Times New Roman" panose="02020603050405020304" pitchFamily="18" charset="0"/>
                <a:ea typeface="+mn-ea"/>
                <a:cs typeface="Times New Roman" panose="02020603050405020304" pitchFamily="18" charset="0"/>
              </a:rPr>
              <a:t>展开式计算确定，其中</a:t>
            </a:r>
            <a:r>
              <a:rPr lang="en-US" altLang="zh-CN" sz="2800" dirty="0" smtClean="0">
                <a:latin typeface="Times New Roman" panose="02020603050405020304" pitchFamily="18" charset="0"/>
                <a:ea typeface="+mn-ea"/>
                <a:cs typeface="Times New Roman" panose="02020603050405020304" pitchFamily="18" charset="0"/>
              </a:rPr>
              <a:t>a=100</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b=4.4</a:t>
            </a:r>
          </a:p>
          <a:p>
            <a:pPr>
              <a:lnSpc>
                <a:spcPct val="15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含两个</a:t>
            </a:r>
            <a:r>
              <a:rPr lang="en-US" altLang="zh-CN" sz="2800" dirty="0" smtClean="0">
                <a:latin typeface="Times New Roman" panose="02020603050405020304" pitchFamily="18" charset="0"/>
                <a:ea typeface="+mn-ea"/>
                <a:cs typeface="Times New Roman" panose="02020603050405020304" pitchFamily="18" charset="0"/>
              </a:rPr>
              <a:t>S</a:t>
            </a:r>
            <a:r>
              <a:rPr lang="zh-CN" altLang="en-US" sz="2800" dirty="0" smtClean="0">
                <a:latin typeface="Times New Roman" panose="02020603050405020304" pitchFamily="18" charset="0"/>
                <a:ea typeface="+mn-ea"/>
                <a:cs typeface="Times New Roman" panose="02020603050405020304" pitchFamily="18" charset="0"/>
              </a:rPr>
              <a:t>时，</a:t>
            </a:r>
            <a:r>
              <a:rPr lang="en-US" altLang="zh-CN" sz="2800" dirty="0" smtClean="0">
                <a:latin typeface="Times New Roman" panose="02020603050405020304" pitchFamily="18" charset="0"/>
                <a:ea typeface="+mn-ea"/>
                <a:cs typeface="Times New Roman" panose="02020603050405020304" pitchFamily="18" charset="0"/>
              </a:rPr>
              <a:t>(100+4.4)</a:t>
            </a:r>
            <a:r>
              <a:rPr lang="en-US" altLang="zh-CN" sz="2800" baseline="30000" dirty="0" smtClean="0">
                <a:latin typeface="Times New Roman" panose="02020603050405020304" pitchFamily="18" charset="0"/>
                <a:ea typeface="+mn-ea"/>
                <a:cs typeface="Times New Roman" panose="02020603050405020304" pitchFamily="18" charset="0"/>
              </a:rPr>
              <a:t>2 </a:t>
            </a:r>
          </a:p>
          <a:p>
            <a:pPr>
              <a:lnSpc>
                <a:spcPct val="150000"/>
              </a:lnSpc>
              <a:spcBef>
                <a:spcPct val="0"/>
              </a:spcBef>
              <a:buFontTx/>
              <a:buNone/>
              <a:defRPr/>
            </a:pPr>
            <a:r>
              <a:rPr lang="en-US" altLang="zh-CN" sz="2800" dirty="0" smtClean="0">
                <a:latin typeface="Times New Roman" panose="02020603050405020304" pitchFamily="18" charset="0"/>
                <a:ea typeface="+mn-ea"/>
                <a:cs typeface="Times New Roman" panose="02020603050405020304" pitchFamily="18" charset="0"/>
              </a:rPr>
              <a:t>[M]</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[M+2]</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solidFill>
                  <a:srgbClr val="0000CC"/>
                </a:solidFill>
                <a:latin typeface="Times New Roman" panose="02020603050405020304" pitchFamily="18" charset="0"/>
                <a:ea typeface="+mn-ea"/>
                <a:cs typeface="Times New Roman" panose="02020603050405020304" pitchFamily="18" charset="0"/>
              </a:rPr>
              <a:t>[M+4]</a:t>
            </a:r>
            <a:r>
              <a:rPr lang="en-US" altLang="zh-CN" sz="2800" dirty="0" smtClean="0">
                <a:latin typeface="Times New Roman" panose="02020603050405020304" pitchFamily="18" charset="0"/>
                <a:ea typeface="+mn-ea"/>
                <a:cs typeface="Times New Roman" panose="02020603050405020304" pitchFamily="18" charset="0"/>
              </a:rPr>
              <a:t>=100</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latin typeface="Times New Roman" panose="02020603050405020304" pitchFamily="18" charset="0"/>
                <a:ea typeface="+mn-ea"/>
                <a:cs typeface="Times New Roman" panose="02020603050405020304" pitchFamily="18" charset="0"/>
              </a:rPr>
              <a:t>8.8</a:t>
            </a:r>
            <a:r>
              <a:rPr lang="zh-CN" altLang="en-US" sz="2800" dirty="0" smtClean="0">
                <a:latin typeface="Times New Roman" panose="02020603050405020304" pitchFamily="18" charset="0"/>
                <a:ea typeface="+mn-ea"/>
                <a:cs typeface="Times New Roman" panose="02020603050405020304" pitchFamily="18" charset="0"/>
              </a:rPr>
              <a:t>：</a:t>
            </a:r>
            <a:r>
              <a:rPr lang="en-US" altLang="zh-CN" sz="2800" dirty="0" smtClean="0">
                <a:solidFill>
                  <a:srgbClr val="0000CC"/>
                </a:solidFill>
                <a:latin typeface="Times New Roman" panose="02020603050405020304" pitchFamily="18" charset="0"/>
                <a:ea typeface="+mn-ea"/>
                <a:cs typeface="Times New Roman" panose="02020603050405020304" pitchFamily="18" charset="0"/>
              </a:rPr>
              <a:t>0.19</a:t>
            </a:r>
          </a:p>
          <a:p>
            <a:pPr>
              <a:lnSpc>
                <a:spcPct val="15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即</a:t>
            </a:r>
            <a:r>
              <a:rPr lang="en-US" altLang="zh-CN" sz="2800" dirty="0" smtClean="0">
                <a:latin typeface="Times New Roman" panose="02020603050405020304" pitchFamily="18" charset="0"/>
                <a:ea typeface="+mn-ea"/>
                <a:cs typeface="Times New Roman" panose="02020603050405020304" pitchFamily="18" charset="0"/>
              </a:rPr>
              <a:t>[M+4]:[M] </a:t>
            </a:r>
            <a:r>
              <a:rPr lang="zh-CN" altLang="en-US" sz="2800" dirty="0" smtClean="0">
                <a:latin typeface="Times New Roman" panose="02020603050405020304" pitchFamily="18" charset="0"/>
                <a:ea typeface="+mn-ea"/>
                <a:cs typeface="Times New Roman" panose="02020603050405020304" pitchFamily="18" charset="0"/>
                <a:sym typeface="Symbol" panose="05050102010706020507" pitchFamily="18" charset="2"/>
              </a:rPr>
              <a:t> </a:t>
            </a:r>
            <a:r>
              <a:rPr lang="en-US" altLang="zh-CN" sz="2800" dirty="0" smtClean="0">
                <a:latin typeface="Times New Roman" panose="02020603050405020304" pitchFamily="18" charset="0"/>
                <a:ea typeface="+mn-ea"/>
                <a:cs typeface="Times New Roman" panose="02020603050405020304" pitchFamily="18" charset="0"/>
              </a:rPr>
              <a:t>0.19%</a:t>
            </a:r>
            <a:r>
              <a:rPr lang="zh-CN" altLang="en-US" sz="2800" dirty="0" smtClean="0">
                <a:latin typeface="Times New Roman" panose="02020603050405020304" pitchFamily="18" charset="0"/>
                <a:ea typeface="+mn-ea"/>
                <a:cs typeface="Times New Roman" panose="02020603050405020304" pitchFamily="18" charset="0"/>
              </a:rPr>
              <a:t>，可以忽略</a:t>
            </a:r>
            <a:endParaRPr lang="en-US" altLang="zh-CN" sz="2800" dirty="0" smtClean="0">
              <a:latin typeface="Times New Roman" panose="02020603050405020304" pitchFamily="18" charset="0"/>
              <a:ea typeface="+mn-ea"/>
              <a:cs typeface="Times New Roman" panose="02020603050405020304" pitchFamily="18" charset="0"/>
            </a:endParaRPr>
          </a:p>
        </p:txBody>
      </p:sp>
    </p:spTree>
  </p:cSld>
  <p:clrMapOvr>
    <a:masterClrMapping/>
  </p:clrMapOvr>
  <p:transition spd="slow"/>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F5FD342-6102-468E-AE39-62EB2E1EB047}"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0419"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58225E53-632F-41A5-AEEF-22E3840A7654}" type="slidenum">
              <a:rPr lang="en-US" altLang="zh-CN" sz="1200" smtClean="0">
                <a:latin typeface="Verdana" pitchFamily="34" charset="0"/>
                <a:ea typeface="宋体" pitchFamily="2" charset="-122"/>
              </a:rPr>
              <a:pPr eaLnBrk="1" hangingPunct="1">
                <a:lnSpc>
                  <a:spcPct val="100000"/>
                </a:lnSpc>
              </a:pPr>
              <a:t>53</a:t>
            </a:fld>
            <a:endParaRPr lang="en-US" altLang="zh-CN" sz="1200" smtClean="0">
              <a:latin typeface="Verdana" pitchFamily="34" charset="0"/>
              <a:ea typeface="宋体" pitchFamily="2" charset="-122"/>
            </a:endParaRPr>
          </a:p>
        </p:txBody>
      </p:sp>
      <p:sp>
        <p:nvSpPr>
          <p:cNvPr id="60420" name="Text Box 2"/>
          <p:cNvSpPr txBox="1">
            <a:spLocks noChangeArrowheads="1"/>
          </p:cNvSpPr>
          <p:nvPr/>
        </p:nvSpPr>
        <p:spPr bwMode="auto">
          <a:xfrm>
            <a:off x="1858963" y="1482725"/>
            <a:ext cx="5400675" cy="2220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cs typeface="Times New Roman" pitchFamily="18" charset="0"/>
              </a:rPr>
              <a:t>n</a:t>
            </a:r>
            <a:r>
              <a:rPr lang="en-US" altLang="zh-CN" sz="3200" baseline="-25000">
                <a:latin typeface="Times New Roman" pitchFamily="18" charset="0"/>
                <a:cs typeface="Times New Roman" pitchFamily="18" charset="0"/>
              </a:rPr>
              <a:t>S</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([M+2] /[M])÷0.044</a:t>
            </a:r>
            <a:r>
              <a:rPr lang="zh-CN" altLang="en-US" sz="3200">
                <a:latin typeface="Times New Roman" pitchFamily="18" charset="0"/>
                <a:cs typeface="Times New Roman" pitchFamily="18" charset="0"/>
              </a:rPr>
              <a:t>            </a:t>
            </a:r>
          </a:p>
          <a:p>
            <a:pPr eaLnBrk="1" hangingPunct="1">
              <a:lnSpc>
                <a:spcPct val="150000"/>
              </a:lnSpc>
            </a:pPr>
            <a:r>
              <a:rPr lang="en-US" altLang="zh-CN" sz="3200">
                <a:latin typeface="Times New Roman" pitchFamily="18" charset="0"/>
                <a:cs typeface="Times New Roman" pitchFamily="18" charset="0"/>
              </a:rPr>
              <a:t>n</a:t>
            </a:r>
            <a:r>
              <a:rPr lang="en-US" altLang="zh-CN" sz="3200" baseline="-25000">
                <a:latin typeface="Times New Roman" pitchFamily="18" charset="0"/>
                <a:cs typeface="Times New Roman" pitchFamily="18" charset="0"/>
              </a:rPr>
              <a:t>Si</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([M+2] /[M])÷0.034</a:t>
            </a:r>
            <a:r>
              <a:rPr lang="zh-CN" altLang="en-US" sz="3200">
                <a:latin typeface="Times New Roman" pitchFamily="18" charset="0"/>
                <a:cs typeface="Times New Roman" pitchFamily="18" charset="0"/>
              </a:rPr>
              <a:t>            </a:t>
            </a:r>
          </a:p>
          <a:p>
            <a:pPr eaLnBrk="1" hangingPunct="1">
              <a:lnSpc>
                <a:spcPct val="150000"/>
              </a:lnSpc>
            </a:pPr>
            <a:r>
              <a:rPr lang="zh-CN" altLang="en-US" sz="3200">
                <a:solidFill>
                  <a:srgbClr val="0000CC"/>
                </a:solidFill>
                <a:latin typeface="微软雅黑" pitchFamily="34" charset="-122"/>
                <a:ea typeface="微软雅黑" pitchFamily="34" charset="-122"/>
                <a:cs typeface="Times New Roman" pitchFamily="18" charset="0"/>
              </a:rPr>
              <a:t>（取整数） </a:t>
            </a:r>
          </a:p>
        </p:txBody>
      </p:sp>
      <p:sp>
        <p:nvSpPr>
          <p:cNvPr id="60421" name="Text Box 6"/>
          <p:cNvSpPr txBox="1">
            <a:spLocks noChangeArrowheads="1"/>
          </p:cNvSpPr>
          <p:nvPr/>
        </p:nvSpPr>
        <p:spPr bwMode="auto">
          <a:xfrm>
            <a:off x="7956550" y="6165850"/>
            <a:ext cx="86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sz="2400">
                <a:latin typeface="Times New Roman" pitchFamily="18" charset="0"/>
                <a:hlinkClick r:id="rId3" action="ppaction://hlinkpres?slideindex=22&amp;slidetitle=第五节  同位素离子的利用 和分子式的推导"/>
              </a:rPr>
              <a:t>返回</a:t>
            </a:r>
            <a:endParaRPr lang="zh-CN" altLang="en-US" sz="2400">
              <a:latin typeface="Times New Roman" pitchFamily="18" charset="0"/>
            </a:endParaRPr>
          </a:p>
        </p:txBody>
      </p:sp>
      <p:sp>
        <p:nvSpPr>
          <p:cNvPr id="60422" name="文本框 1"/>
          <p:cNvSpPr txBox="1">
            <a:spLocks noChangeArrowheads="1"/>
          </p:cNvSpPr>
          <p:nvPr/>
        </p:nvSpPr>
        <p:spPr bwMode="auto">
          <a:xfrm>
            <a:off x="628650" y="404813"/>
            <a:ext cx="12065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zh-CN" altLang="en-US" sz="3600">
                <a:latin typeface="微软雅黑" pitchFamily="34" charset="-122"/>
                <a:ea typeface="微软雅黑" pitchFamily="34" charset="-122"/>
              </a:rPr>
              <a:t>因此</a:t>
            </a:r>
          </a:p>
        </p:txBody>
      </p:sp>
    </p:spTree>
  </p:cSld>
  <p:clrMapOvr>
    <a:masterClrMapping/>
  </p:clrMapOvr>
  <p:transition spd="slow"/>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C2CCDCDD-E4C3-44A7-A51D-B778F90E1852}"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144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068C7C10-FCC6-41F4-B2AA-9D94B2755AC5}" type="slidenum">
              <a:rPr lang="en-US" altLang="zh-CN" sz="1200" smtClean="0">
                <a:latin typeface="Verdana" pitchFamily="34" charset="0"/>
                <a:ea typeface="宋体" pitchFamily="2" charset="-122"/>
              </a:rPr>
              <a:pPr eaLnBrk="1" hangingPunct="1">
                <a:lnSpc>
                  <a:spcPct val="100000"/>
                </a:lnSpc>
              </a:pPr>
              <a:t>54</a:t>
            </a:fld>
            <a:endParaRPr lang="en-US" altLang="zh-CN" sz="1200" smtClean="0">
              <a:latin typeface="Verdana" pitchFamily="34" charset="0"/>
              <a:ea typeface="宋体" pitchFamily="2" charset="-122"/>
            </a:endParaRPr>
          </a:p>
        </p:txBody>
      </p:sp>
      <p:sp>
        <p:nvSpPr>
          <p:cNvPr id="54276" name="Rectangle 2"/>
          <p:cNvSpPr>
            <a:spLocks noChangeArrowheads="1"/>
          </p:cNvSpPr>
          <p:nvPr/>
        </p:nvSpPr>
        <p:spPr bwMode="auto">
          <a:xfrm>
            <a:off x="295275" y="188913"/>
            <a:ext cx="61928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25000"/>
              </a:lnSpc>
              <a:spcBef>
                <a:spcPct val="0"/>
              </a:spcBef>
              <a:buFontTx/>
              <a:buNone/>
              <a:defRPr/>
            </a:pPr>
            <a:r>
              <a:rPr lang="en-US" altLang="zh-CN" sz="3600" dirty="0" smtClean="0">
                <a:solidFill>
                  <a:srgbClr val="0000CC"/>
                </a:solidFill>
                <a:latin typeface="Times New Roman" panose="02020603050405020304" pitchFamily="18" charset="0"/>
                <a:ea typeface="+mn-ea"/>
                <a:cs typeface="Times New Roman" panose="02020603050405020304" pitchFamily="18" charset="0"/>
              </a:rPr>
              <a:t>3</a:t>
            </a:r>
            <a:r>
              <a:rPr lang="zh-CN" altLang="en-US" sz="3600" dirty="0" smtClean="0">
                <a:solidFill>
                  <a:srgbClr val="0000CC"/>
                </a:solidFill>
                <a:latin typeface="Times New Roman" panose="02020603050405020304" pitchFamily="18" charset="0"/>
                <a:ea typeface="+mn-ea"/>
                <a:cs typeface="Times New Roman" panose="02020603050405020304" pitchFamily="18" charset="0"/>
              </a:rPr>
              <a:t>、分子中碳原子数目的确定</a:t>
            </a:r>
            <a:r>
              <a:rPr lang="zh-CN" altLang="en-US" sz="2800" dirty="0" smtClean="0">
                <a:latin typeface="楷体_GB2312" pitchFamily="49" charset="-122"/>
              </a:rPr>
              <a:t>　</a:t>
            </a:r>
          </a:p>
        </p:txBody>
      </p:sp>
      <p:sp>
        <p:nvSpPr>
          <p:cNvPr id="38918" name="Rectangle 2"/>
          <p:cNvSpPr>
            <a:spLocks noChangeArrowheads="1"/>
          </p:cNvSpPr>
          <p:nvPr/>
        </p:nvSpPr>
        <p:spPr bwMode="auto">
          <a:xfrm>
            <a:off x="295275" y="2708275"/>
            <a:ext cx="8669338"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itchFamily="34" charset="0"/>
              <a:buChar char="•"/>
              <a:defRPr sz="2100">
                <a:solidFill>
                  <a:schemeClr val="tx1"/>
                </a:solidFill>
                <a:latin typeface="Calibri" pitchFamily="34" charset="0"/>
              </a:defRPr>
            </a:lvl1pPr>
            <a:lvl2pPr marL="514350" indent="-171450">
              <a:lnSpc>
                <a:spcPct val="90000"/>
              </a:lnSpc>
              <a:spcBef>
                <a:spcPts val="375"/>
              </a:spcBef>
              <a:buFont typeface="Arial" pitchFamily="34" charset="0"/>
              <a:buChar char="•"/>
              <a:defRPr>
                <a:solidFill>
                  <a:schemeClr val="tx1"/>
                </a:solidFill>
                <a:latin typeface="Calibri" pitchFamily="34" charset="0"/>
              </a:defRPr>
            </a:lvl2pPr>
            <a:lvl3pPr marL="1143000" indent="-228600">
              <a:lnSpc>
                <a:spcPct val="90000"/>
              </a:lnSpc>
              <a:spcBef>
                <a:spcPts val="375"/>
              </a:spcBef>
              <a:buFont typeface="Arial" pitchFamily="34" charset="0"/>
              <a:buChar char="•"/>
              <a:defRPr sz="1500">
                <a:solidFill>
                  <a:schemeClr val="tx1"/>
                </a:solidFill>
                <a:latin typeface="Calibri" pitchFamily="34" charset="0"/>
              </a:defRPr>
            </a:lvl3pPr>
            <a:lvl4pPr marL="1600200" indent="-228600">
              <a:lnSpc>
                <a:spcPct val="90000"/>
              </a:lnSpc>
              <a:spcBef>
                <a:spcPts val="375"/>
              </a:spcBef>
              <a:buFont typeface="Arial" pitchFamily="34" charset="0"/>
              <a:buChar char="•"/>
              <a:defRPr sz="1300">
                <a:solidFill>
                  <a:schemeClr val="tx1"/>
                </a:solidFill>
                <a:latin typeface="Calibri" pitchFamily="34" charset="0"/>
              </a:defRPr>
            </a:lvl4pPr>
            <a:lvl5pPr marL="2057400" indent="-228600">
              <a:lnSpc>
                <a:spcPct val="90000"/>
              </a:lnSpc>
              <a:spcBef>
                <a:spcPts val="375"/>
              </a:spcBef>
              <a:buFont typeface="Arial" pitchFamily="34" charset="0"/>
              <a:buChar char="•"/>
              <a:defRPr sz="1300">
                <a:solidFill>
                  <a:schemeClr val="tx1"/>
                </a:solidFill>
                <a:latin typeface="Calibri" pitchFamily="34" charset="0"/>
              </a:defRPr>
            </a:lvl5pPr>
            <a:lvl6pPr marL="25146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defRPr>
            </a:lvl6pPr>
            <a:lvl7pPr marL="29718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defRPr>
            </a:lvl7pPr>
            <a:lvl8pPr marL="34290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defRPr>
            </a:lvl8pPr>
            <a:lvl9pPr marL="3886200" indent="-228600" eaLnBrk="0" fontAlgn="base" hangingPunct="0">
              <a:lnSpc>
                <a:spcPct val="90000"/>
              </a:lnSpc>
              <a:spcBef>
                <a:spcPts val="375"/>
              </a:spcBef>
              <a:spcAft>
                <a:spcPct val="0"/>
              </a:spcAft>
              <a:buFont typeface="Arial" pitchFamily="34" charset="0"/>
              <a:buChar char="•"/>
              <a:defRPr sz="1300">
                <a:solidFill>
                  <a:schemeClr val="tx1"/>
                </a:solidFill>
                <a:latin typeface="Calibri" pitchFamily="34" charset="0"/>
              </a:defRPr>
            </a:lvl9pPr>
          </a:lstStyle>
          <a:p>
            <a:pPr marL="457200" indent="-457200">
              <a:lnSpc>
                <a:spcPct val="150000"/>
              </a:lnSpc>
              <a:spcBef>
                <a:spcPct val="0"/>
              </a:spcBef>
              <a:buFont typeface="Wingdings" panose="05000000000000000000" pitchFamily="2" charset="2"/>
              <a:buChar char="Ø"/>
              <a:defRPr/>
            </a:pPr>
            <a:r>
              <a:rPr lang="zh-CN" altLang="en-US" sz="3200" dirty="0" smtClean="0">
                <a:latin typeface="Times New Roman" pitchFamily="18" charset="0"/>
                <a:cs typeface="Times New Roman" pitchFamily="18" charset="0"/>
              </a:rPr>
              <a:t> 其他</a:t>
            </a:r>
            <a:r>
              <a:rPr lang="en-US" altLang="zh-CN" sz="3200" dirty="0" smtClean="0">
                <a:latin typeface="Times New Roman" pitchFamily="18" charset="0"/>
                <a:cs typeface="Times New Roman" pitchFamily="18" charset="0"/>
              </a:rPr>
              <a:t>A+1</a:t>
            </a:r>
            <a:r>
              <a:rPr lang="zh-CN" altLang="en-US" sz="3200" dirty="0" smtClean="0">
                <a:latin typeface="Times New Roman" pitchFamily="18" charset="0"/>
                <a:cs typeface="Times New Roman" pitchFamily="18" charset="0"/>
              </a:rPr>
              <a:t>元素也对</a:t>
            </a:r>
            <a:r>
              <a:rPr lang="en-US" altLang="zh-CN" sz="3200" dirty="0" smtClean="0">
                <a:latin typeface="Times New Roman" pitchFamily="18" charset="0"/>
                <a:cs typeface="Times New Roman" pitchFamily="18" charset="0"/>
              </a:rPr>
              <a:t>[M+1]</a:t>
            </a:r>
            <a:r>
              <a:rPr lang="zh-CN" altLang="en-US" sz="3200" dirty="0" smtClean="0">
                <a:latin typeface="Times New Roman" pitchFamily="18" charset="0"/>
                <a:cs typeface="Times New Roman" pitchFamily="18" charset="0"/>
              </a:rPr>
              <a:t>有贡献</a:t>
            </a:r>
            <a:endParaRPr lang="en-US" altLang="zh-CN" sz="3200" dirty="0" smtClean="0">
              <a:latin typeface="Times New Roman" pitchFamily="18" charset="0"/>
              <a:cs typeface="Times New Roman" pitchFamily="18" charset="0"/>
            </a:endParaRPr>
          </a:p>
          <a:p>
            <a:pPr>
              <a:lnSpc>
                <a:spcPct val="150000"/>
              </a:lnSpc>
              <a:spcBef>
                <a:spcPct val="0"/>
              </a:spcBef>
              <a:buFontTx/>
              <a:buNone/>
              <a:defRPr/>
            </a:pPr>
            <a:r>
              <a:rPr lang="zh-CN" altLang="en-US" sz="3200" dirty="0" smtClean="0">
                <a:latin typeface="Times New Roman" pitchFamily="18" charset="0"/>
                <a:cs typeface="Times New Roman" pitchFamily="18" charset="0"/>
              </a:rPr>
              <a:t>如</a:t>
            </a:r>
            <a:r>
              <a:rPr lang="en-US" altLang="zh-CN" sz="3200" dirty="0" smtClean="0">
                <a:latin typeface="Times New Roman" pitchFamily="18" charset="0"/>
                <a:cs typeface="Times New Roman" pitchFamily="18" charset="0"/>
              </a:rPr>
              <a:t>H (</a:t>
            </a:r>
            <a:r>
              <a:rPr lang="en-US" altLang="zh-CN" sz="3200" baseline="30000" dirty="0" smtClean="0">
                <a:latin typeface="Times New Roman" pitchFamily="18" charset="0"/>
                <a:cs typeface="Times New Roman" pitchFamily="18" charset="0"/>
              </a:rPr>
              <a:t>2</a:t>
            </a:r>
            <a:r>
              <a:rPr lang="en-US" altLang="zh-CN" sz="3200" dirty="0" smtClean="0">
                <a:latin typeface="Times New Roman" pitchFamily="18" charset="0"/>
                <a:cs typeface="Times New Roman" pitchFamily="18" charset="0"/>
              </a:rPr>
              <a:t>H 0.015%)</a:t>
            </a:r>
            <a:r>
              <a:rPr lang="zh-CN" altLang="en-US" sz="3200" dirty="0" smtClean="0">
                <a:latin typeface="Times New Roman" pitchFamily="18" charset="0"/>
                <a:cs typeface="Times New Roman" pitchFamily="18" charset="0"/>
              </a:rPr>
              <a:t>，</a:t>
            </a:r>
            <a:r>
              <a:rPr lang="en-US" altLang="zh-CN" sz="3200" dirty="0" smtClean="0">
                <a:latin typeface="Times New Roman" pitchFamily="18" charset="0"/>
                <a:cs typeface="Times New Roman" pitchFamily="18" charset="0"/>
              </a:rPr>
              <a:t>N(</a:t>
            </a:r>
            <a:r>
              <a:rPr lang="en-US" altLang="zh-CN" sz="3200" baseline="30000" dirty="0" smtClean="0">
                <a:latin typeface="Times New Roman" pitchFamily="18" charset="0"/>
                <a:cs typeface="Times New Roman" pitchFamily="18" charset="0"/>
              </a:rPr>
              <a:t>15</a:t>
            </a:r>
            <a:r>
              <a:rPr lang="en-US" altLang="zh-CN" sz="3200" dirty="0" smtClean="0">
                <a:latin typeface="Times New Roman" pitchFamily="18" charset="0"/>
                <a:cs typeface="Times New Roman" pitchFamily="18" charset="0"/>
              </a:rPr>
              <a:t>N 0.36%)</a:t>
            </a:r>
          </a:p>
          <a:p>
            <a:pPr marL="457200" indent="-457200">
              <a:lnSpc>
                <a:spcPct val="150000"/>
              </a:lnSpc>
              <a:spcBef>
                <a:spcPct val="0"/>
              </a:spcBef>
              <a:buFont typeface="Wingdings" panose="05000000000000000000" pitchFamily="2" charset="2"/>
              <a:buChar char="Ø"/>
              <a:defRPr/>
            </a:pPr>
            <a:r>
              <a:rPr lang="en-US" altLang="zh-CN" sz="3200" dirty="0" smtClean="0">
                <a:latin typeface="Times New Roman" pitchFamily="18" charset="0"/>
                <a:cs typeface="Times New Roman" pitchFamily="18" charset="0"/>
              </a:rPr>
              <a:t> A+2</a:t>
            </a:r>
            <a:r>
              <a:rPr lang="zh-CN" altLang="en-US" sz="3200" dirty="0" smtClean="0">
                <a:latin typeface="Times New Roman" pitchFamily="18" charset="0"/>
                <a:cs typeface="Times New Roman" pitchFamily="18" charset="0"/>
              </a:rPr>
              <a:t>类元素中</a:t>
            </a:r>
            <a:r>
              <a:rPr lang="zh-CN" altLang="en-US" sz="3200" dirty="0" smtClean="0">
                <a:solidFill>
                  <a:srgbClr val="3906BA"/>
                </a:solidFill>
                <a:latin typeface="Times New Roman" pitchFamily="18" charset="0"/>
                <a:cs typeface="Times New Roman" pitchFamily="18" charset="0"/>
              </a:rPr>
              <a:t>氧</a:t>
            </a:r>
            <a:r>
              <a:rPr lang="en-US" altLang="zh-CN" sz="3200" dirty="0" smtClean="0">
                <a:solidFill>
                  <a:srgbClr val="3906BA"/>
                </a:solidFill>
                <a:latin typeface="Times New Roman" pitchFamily="18" charset="0"/>
                <a:cs typeface="Times New Roman" pitchFamily="18" charset="0"/>
              </a:rPr>
              <a:t>(</a:t>
            </a:r>
            <a:r>
              <a:rPr lang="en-US" altLang="zh-CN" sz="3200" baseline="30000" dirty="0" smtClean="0">
                <a:solidFill>
                  <a:srgbClr val="3906BA"/>
                </a:solidFill>
                <a:latin typeface="Times New Roman" pitchFamily="18" charset="0"/>
                <a:cs typeface="Times New Roman" pitchFamily="18" charset="0"/>
              </a:rPr>
              <a:t>17</a:t>
            </a:r>
            <a:r>
              <a:rPr lang="en-US" altLang="zh-CN" sz="3200" dirty="0" smtClean="0">
                <a:solidFill>
                  <a:srgbClr val="3906BA"/>
                </a:solidFill>
                <a:latin typeface="Times New Roman" pitchFamily="18" charset="0"/>
                <a:cs typeface="Times New Roman" pitchFamily="18" charset="0"/>
              </a:rPr>
              <a:t>O 0.04%)</a:t>
            </a:r>
            <a:r>
              <a:rPr lang="zh-CN" altLang="en-US" sz="3200" dirty="0" smtClean="0">
                <a:solidFill>
                  <a:srgbClr val="0000CC"/>
                </a:solidFill>
                <a:latin typeface="Times New Roman" pitchFamily="18" charset="0"/>
                <a:cs typeface="Times New Roman" pitchFamily="18" charset="0"/>
              </a:rPr>
              <a:t>，硫</a:t>
            </a:r>
            <a:r>
              <a:rPr lang="en-US" altLang="zh-CN" sz="3200" dirty="0" smtClean="0">
                <a:solidFill>
                  <a:srgbClr val="0000CC"/>
                </a:solidFill>
                <a:latin typeface="Times New Roman" pitchFamily="18" charset="0"/>
                <a:cs typeface="Times New Roman" pitchFamily="18" charset="0"/>
              </a:rPr>
              <a:t>(</a:t>
            </a:r>
            <a:r>
              <a:rPr lang="en-US" altLang="zh-CN" sz="3200" baseline="30000" dirty="0" smtClean="0">
                <a:solidFill>
                  <a:srgbClr val="0000CC"/>
                </a:solidFill>
                <a:latin typeface="Times New Roman" pitchFamily="18" charset="0"/>
                <a:cs typeface="Times New Roman" pitchFamily="18" charset="0"/>
              </a:rPr>
              <a:t>33</a:t>
            </a:r>
            <a:r>
              <a:rPr lang="en-US" altLang="zh-CN" sz="3200" dirty="0" smtClean="0">
                <a:solidFill>
                  <a:srgbClr val="0000CC"/>
                </a:solidFill>
                <a:latin typeface="Times New Roman" pitchFamily="18" charset="0"/>
                <a:cs typeface="Times New Roman" pitchFamily="18" charset="0"/>
              </a:rPr>
              <a:t>S 0.8%)</a:t>
            </a:r>
            <a:r>
              <a:rPr lang="zh-CN" altLang="en-US" sz="3200" dirty="0" smtClean="0">
                <a:solidFill>
                  <a:srgbClr val="0000CC"/>
                </a:solidFill>
                <a:latin typeface="Times New Roman" pitchFamily="18" charset="0"/>
                <a:cs typeface="Times New Roman" pitchFamily="18" charset="0"/>
              </a:rPr>
              <a:t>，硅</a:t>
            </a:r>
            <a:r>
              <a:rPr lang="en-US" altLang="zh-CN" sz="3200" dirty="0" smtClean="0">
                <a:solidFill>
                  <a:srgbClr val="0000CC"/>
                </a:solidFill>
                <a:latin typeface="Times New Roman" pitchFamily="18" charset="0"/>
                <a:cs typeface="Times New Roman" pitchFamily="18" charset="0"/>
              </a:rPr>
              <a:t>(</a:t>
            </a:r>
            <a:r>
              <a:rPr lang="en-US" altLang="zh-CN" sz="3200" baseline="30000" dirty="0" smtClean="0">
                <a:solidFill>
                  <a:srgbClr val="0000CC"/>
                </a:solidFill>
                <a:latin typeface="Times New Roman" pitchFamily="18" charset="0"/>
                <a:cs typeface="Times New Roman" pitchFamily="18" charset="0"/>
              </a:rPr>
              <a:t>29</a:t>
            </a:r>
            <a:r>
              <a:rPr lang="en-US" altLang="zh-CN" sz="3200" dirty="0" smtClean="0">
                <a:solidFill>
                  <a:srgbClr val="0000CC"/>
                </a:solidFill>
                <a:latin typeface="Times New Roman" pitchFamily="18" charset="0"/>
                <a:cs typeface="Times New Roman" pitchFamily="18" charset="0"/>
              </a:rPr>
              <a:t>Si 5.1%</a:t>
            </a:r>
            <a:r>
              <a:rPr lang="zh-CN" altLang="en-US" sz="3200" dirty="0" smtClean="0">
                <a:solidFill>
                  <a:srgbClr val="0000CC"/>
                </a:solidFill>
                <a:latin typeface="Times New Roman" pitchFamily="18" charset="0"/>
                <a:cs typeface="Times New Roman" pitchFamily="18" charset="0"/>
              </a:rPr>
              <a:t>）</a:t>
            </a:r>
            <a:r>
              <a:rPr lang="zh-CN" altLang="en-US" sz="3200" dirty="0" smtClean="0">
                <a:latin typeface="Times New Roman" pitchFamily="18" charset="0"/>
                <a:cs typeface="Times New Roman" pitchFamily="18" charset="0"/>
              </a:rPr>
              <a:t>对</a:t>
            </a:r>
            <a:r>
              <a:rPr lang="en-US" altLang="zh-CN" sz="3200" dirty="0" smtClean="0">
                <a:latin typeface="Times New Roman" pitchFamily="18" charset="0"/>
                <a:cs typeface="Times New Roman" pitchFamily="18" charset="0"/>
              </a:rPr>
              <a:t>[M+1]</a:t>
            </a:r>
            <a:r>
              <a:rPr lang="zh-CN" altLang="en-US" sz="3200" dirty="0" smtClean="0">
                <a:latin typeface="Times New Roman" pitchFamily="18" charset="0"/>
                <a:cs typeface="Times New Roman" pitchFamily="18" charset="0"/>
              </a:rPr>
              <a:t>也有贡献</a:t>
            </a:r>
            <a:endParaRPr lang="en-US" altLang="zh-CN" sz="3200" dirty="0">
              <a:latin typeface="Times New Roman" pitchFamily="18" charset="0"/>
              <a:cs typeface="Times New Roman" pitchFamily="18" charset="0"/>
            </a:endParaRPr>
          </a:p>
        </p:txBody>
      </p:sp>
      <p:sp>
        <p:nvSpPr>
          <p:cNvPr id="61446" name="Text Box 2"/>
          <p:cNvSpPr txBox="1">
            <a:spLocks noChangeArrowheads="1"/>
          </p:cNvSpPr>
          <p:nvPr/>
        </p:nvSpPr>
        <p:spPr bwMode="auto">
          <a:xfrm>
            <a:off x="1100138" y="985838"/>
            <a:ext cx="7415212" cy="156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sz="3200">
                <a:latin typeface="Times New Roman" pitchFamily="18" charset="0"/>
                <a:cs typeface="Times New Roman" pitchFamily="18" charset="0"/>
              </a:rPr>
              <a:t>分子中最大碳原子数</a:t>
            </a:r>
            <a:endParaRPr lang="en-US" altLang="zh-CN" sz="3200">
              <a:latin typeface="Times New Roman" pitchFamily="18" charset="0"/>
              <a:cs typeface="Times New Roman" pitchFamily="18" charset="0"/>
            </a:endParaRPr>
          </a:p>
          <a:p>
            <a:pPr eaLnBrk="1" hangingPunct="1">
              <a:lnSpc>
                <a:spcPct val="150000"/>
              </a:lnSpc>
            </a:pPr>
            <a:r>
              <a:rPr lang="en-US" altLang="zh-CN" sz="3200">
                <a:latin typeface="Times New Roman" pitchFamily="18" charset="0"/>
                <a:cs typeface="Times New Roman" pitchFamily="18" charset="0"/>
              </a:rPr>
              <a:t>n</a:t>
            </a:r>
            <a:r>
              <a:rPr lang="en-US" altLang="zh-CN" sz="3200" baseline="-25000">
                <a:latin typeface="Times New Roman" pitchFamily="18" charset="0"/>
                <a:cs typeface="Times New Roman" pitchFamily="18" charset="0"/>
              </a:rPr>
              <a:t>C</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a:t>
            </a: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([M+1] /[M])÷0.011</a:t>
            </a:r>
            <a:r>
              <a:rPr lang="zh-CN" altLang="en-US" sz="3200">
                <a:latin typeface="Times New Roman" pitchFamily="18" charset="0"/>
                <a:cs typeface="Times New Roman" pitchFamily="18" charset="0"/>
              </a:rPr>
              <a:t>     </a:t>
            </a:r>
            <a:r>
              <a:rPr lang="zh-CN" altLang="en-US" sz="3200">
                <a:solidFill>
                  <a:srgbClr val="0000CC"/>
                </a:solidFill>
                <a:latin typeface="微软雅黑" pitchFamily="34" charset="-122"/>
                <a:ea typeface="微软雅黑" pitchFamily="34" charset="-122"/>
                <a:cs typeface="Times New Roman" pitchFamily="18" charset="0"/>
              </a:rPr>
              <a:t>（取整数）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8918"/>
                                        </p:tgtEl>
                                        <p:attrNameLst>
                                          <p:attrName>style.visibility</p:attrName>
                                        </p:attrNameLst>
                                      </p:cBhvr>
                                      <p:to>
                                        <p:strVal val="visible"/>
                                      </p:to>
                                    </p:set>
                                    <p:animEffect transition="in" filter="blinds(horizontal)">
                                      <p:cBhvr>
                                        <p:cTn id="7" dur="500"/>
                                        <p:tgtEl>
                                          <p:spTgt spid="38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7EA907E6-07FE-4A8C-BD64-43267077E37C}"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246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86FDF3E-E583-4B56-ADB6-E0E1B8790BE1}" type="slidenum">
              <a:rPr lang="en-US" altLang="zh-CN" sz="1200" smtClean="0">
                <a:latin typeface="Verdana" pitchFamily="34" charset="0"/>
                <a:ea typeface="宋体" pitchFamily="2" charset="-122"/>
              </a:rPr>
              <a:pPr eaLnBrk="1" hangingPunct="1">
                <a:lnSpc>
                  <a:spcPct val="100000"/>
                </a:lnSpc>
              </a:pPr>
              <a:t>55</a:t>
            </a:fld>
            <a:endParaRPr lang="en-US" altLang="zh-CN" sz="1200" smtClean="0">
              <a:latin typeface="Verdana" pitchFamily="34" charset="0"/>
              <a:ea typeface="宋体" pitchFamily="2" charset="-122"/>
            </a:endParaRPr>
          </a:p>
        </p:txBody>
      </p:sp>
      <p:sp>
        <p:nvSpPr>
          <p:cNvPr id="5" name="Rectangle 2"/>
          <p:cNvSpPr>
            <a:spLocks noChangeArrowheads="1"/>
          </p:cNvSpPr>
          <p:nvPr/>
        </p:nvSpPr>
        <p:spPr bwMode="auto">
          <a:xfrm>
            <a:off x="468313" y="1341438"/>
            <a:ext cx="82804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marL="457200" indent="-457200">
              <a:lnSpc>
                <a:spcPct val="125000"/>
              </a:lnSpc>
              <a:spcBef>
                <a:spcPct val="0"/>
              </a:spcBef>
              <a:buFont typeface="Wingdings" panose="05000000000000000000" pitchFamily="2" charset="2"/>
              <a:buChar char="Ø"/>
              <a:defRPr/>
            </a:pPr>
            <a:r>
              <a:rPr lang="zh-CN" altLang="en-US" sz="3200" dirty="0" smtClean="0">
                <a:latin typeface="Times New Roman" panose="02020603050405020304" pitchFamily="18" charset="0"/>
                <a:ea typeface="+mn-ea"/>
                <a:cs typeface="Times New Roman" panose="02020603050405020304" pitchFamily="18" charset="0"/>
              </a:rPr>
              <a:t>确定是否含有</a:t>
            </a:r>
            <a:r>
              <a:rPr lang="en-US" altLang="zh-CN" sz="3200" dirty="0" smtClean="0">
                <a:latin typeface="Times New Roman" panose="02020603050405020304" pitchFamily="18" charset="0"/>
                <a:ea typeface="+mn-ea"/>
                <a:cs typeface="Times New Roman" panose="02020603050405020304" pitchFamily="18" charset="0"/>
              </a:rPr>
              <a:t>A+2</a:t>
            </a:r>
            <a:r>
              <a:rPr lang="zh-CN" altLang="en-US" sz="3200" dirty="0" smtClean="0">
                <a:latin typeface="Times New Roman" panose="02020603050405020304" pitchFamily="18" charset="0"/>
                <a:ea typeface="+mn-ea"/>
                <a:cs typeface="Times New Roman" panose="02020603050405020304" pitchFamily="18" charset="0"/>
              </a:rPr>
              <a:t>类元素，</a:t>
            </a:r>
            <a:r>
              <a:rPr lang="zh-CN" altLang="en-US" sz="3200" dirty="0" smtClean="0"/>
              <a:t>如果</a:t>
            </a:r>
            <a:r>
              <a:rPr lang="zh-CN" altLang="en-US" sz="3200" dirty="0"/>
              <a:t>排除，</a:t>
            </a:r>
            <a:r>
              <a:rPr lang="en-US" altLang="zh-CN" sz="3200" dirty="0">
                <a:solidFill>
                  <a:srgbClr val="C00000"/>
                </a:solidFill>
              </a:rPr>
              <a:t>[M+1]</a:t>
            </a:r>
            <a:r>
              <a:rPr lang="zh-CN" altLang="en-US" sz="3200" dirty="0">
                <a:solidFill>
                  <a:srgbClr val="C00000"/>
                </a:solidFill>
              </a:rPr>
              <a:t>主要来自</a:t>
            </a:r>
            <a:r>
              <a:rPr lang="en-US" altLang="zh-CN" sz="3200" baseline="30000" dirty="0">
                <a:solidFill>
                  <a:srgbClr val="C00000"/>
                </a:solidFill>
              </a:rPr>
              <a:t>13</a:t>
            </a:r>
            <a:r>
              <a:rPr lang="en-US" altLang="zh-CN" sz="3200" dirty="0">
                <a:solidFill>
                  <a:srgbClr val="C00000"/>
                </a:solidFill>
              </a:rPr>
              <a:t>C(1.1%)</a:t>
            </a:r>
            <a:r>
              <a:rPr lang="zh-CN" altLang="en-US" sz="3200" dirty="0">
                <a:solidFill>
                  <a:srgbClr val="C00000"/>
                </a:solidFill>
              </a:rPr>
              <a:t>和</a:t>
            </a:r>
            <a:r>
              <a:rPr lang="en-US" altLang="zh-CN" sz="3200" baseline="30000" dirty="0">
                <a:solidFill>
                  <a:srgbClr val="C00000"/>
                </a:solidFill>
              </a:rPr>
              <a:t>15</a:t>
            </a:r>
            <a:r>
              <a:rPr lang="en-US" altLang="zh-CN" sz="3200" dirty="0">
                <a:solidFill>
                  <a:srgbClr val="C00000"/>
                </a:solidFill>
              </a:rPr>
              <a:t>N(0.36%)</a:t>
            </a:r>
            <a:endParaRPr lang="en-US" altLang="zh-CN" sz="3200" dirty="0" smtClean="0">
              <a:latin typeface="Times New Roman" panose="02020603050405020304" pitchFamily="18" charset="0"/>
              <a:ea typeface="+mn-ea"/>
              <a:cs typeface="Times New Roman" panose="02020603050405020304" pitchFamily="18" charset="0"/>
            </a:endParaRPr>
          </a:p>
        </p:txBody>
      </p:sp>
      <p:sp>
        <p:nvSpPr>
          <p:cNvPr id="6" name="Rectangle 2"/>
          <p:cNvSpPr>
            <a:spLocks noChangeArrowheads="1"/>
          </p:cNvSpPr>
          <p:nvPr/>
        </p:nvSpPr>
        <p:spPr bwMode="auto">
          <a:xfrm>
            <a:off x="392113" y="3251200"/>
            <a:ext cx="8424862" cy="186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marL="457200" indent="-457200">
              <a:buFont typeface="Wingdings" panose="05000000000000000000" pitchFamily="2" charset="2"/>
              <a:buChar char="Ø"/>
              <a:defRPr/>
            </a:pPr>
            <a:r>
              <a:rPr lang="zh-CN" altLang="en-US" sz="3200" dirty="0">
                <a:latin typeface="Times New Roman" panose="02020603050405020304" pitchFamily="18" charset="0"/>
                <a:ea typeface="+mn-ea"/>
                <a:cs typeface="Times New Roman" panose="02020603050405020304" pitchFamily="18" charset="0"/>
              </a:rPr>
              <a:t>可以先把氮看作</a:t>
            </a:r>
            <a:r>
              <a:rPr lang="en-US" altLang="zh-CN" sz="3200" dirty="0">
                <a:latin typeface="Times New Roman" panose="02020603050405020304" pitchFamily="18" charset="0"/>
                <a:ea typeface="+mn-ea"/>
                <a:cs typeface="Times New Roman" panose="02020603050405020304" pitchFamily="18" charset="0"/>
              </a:rPr>
              <a:t>A</a:t>
            </a:r>
            <a:r>
              <a:rPr lang="zh-CN" altLang="en-US" sz="3200" dirty="0">
                <a:latin typeface="Times New Roman" panose="02020603050405020304" pitchFamily="18" charset="0"/>
                <a:ea typeface="+mn-ea"/>
                <a:cs typeface="Times New Roman" panose="02020603050405020304" pitchFamily="18" charset="0"/>
              </a:rPr>
              <a:t>类元素，用上述公式计算分子中碳原子数的上限，然后通过分子量和碳原子的总原子量之差额估计其他元素的原子数（</a:t>
            </a:r>
            <a:r>
              <a:rPr lang="en-US" altLang="zh-CN" sz="3200" dirty="0">
                <a:latin typeface="Times New Roman" panose="02020603050405020304" pitchFamily="18" charset="0"/>
                <a:ea typeface="+mn-ea"/>
                <a:cs typeface="Times New Roman" panose="02020603050405020304" pitchFamily="18" charset="0"/>
              </a:rPr>
              <a:t>N</a:t>
            </a:r>
            <a:r>
              <a:rPr lang="zh-CN" altLang="en-US" sz="3200" dirty="0">
                <a:latin typeface="Times New Roman" panose="02020603050405020304" pitchFamily="18" charset="0"/>
                <a:ea typeface="+mn-ea"/>
                <a:cs typeface="Times New Roman" panose="02020603050405020304" pitchFamily="18" charset="0"/>
              </a:rPr>
              <a:t>，</a:t>
            </a:r>
            <a:r>
              <a:rPr lang="en-US" altLang="zh-CN" sz="3200" dirty="0">
                <a:latin typeface="Times New Roman" panose="02020603050405020304" pitchFamily="18" charset="0"/>
                <a:ea typeface="+mn-ea"/>
                <a:cs typeface="Times New Roman" panose="02020603050405020304" pitchFamily="18" charset="0"/>
              </a:rPr>
              <a:t>H</a:t>
            </a:r>
            <a:r>
              <a:rPr lang="zh-CN" altLang="en-US" sz="3200" dirty="0">
                <a:latin typeface="Times New Roman" panose="02020603050405020304" pitchFamily="18" charset="0"/>
                <a:ea typeface="+mn-ea"/>
                <a:cs typeface="Times New Roman" panose="02020603050405020304" pitchFamily="18" charset="0"/>
              </a:rPr>
              <a:t>，</a:t>
            </a:r>
            <a:r>
              <a:rPr lang="en-US" altLang="zh-CN" sz="3200" dirty="0">
                <a:latin typeface="Times New Roman" panose="02020603050405020304" pitchFamily="18" charset="0"/>
                <a:ea typeface="+mn-ea"/>
                <a:cs typeface="Times New Roman" panose="02020603050405020304" pitchFamily="18" charset="0"/>
              </a:rPr>
              <a:t>O)</a:t>
            </a:r>
            <a:r>
              <a:rPr lang="zh-CN" altLang="en-US" sz="3200" dirty="0">
                <a:latin typeface="Times New Roman" panose="02020603050405020304" pitchFamily="18" charset="0"/>
                <a:ea typeface="+mn-ea"/>
                <a:cs typeface="Times New Roman" panose="02020603050405020304" pitchFamily="18" charset="0"/>
              </a:rPr>
              <a:t>。</a:t>
            </a:r>
          </a:p>
        </p:txBody>
      </p:sp>
    </p:spTree>
  </p:cSld>
  <p:clrMapOvr>
    <a:masterClrMapping/>
  </p:clrMapOvr>
  <p:transition spd="slow"/>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3FED4CDD-78B2-41AF-9327-6885EFC58271}"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349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1170B9BF-980D-492B-AE3E-11EB512666B0}" type="slidenum">
              <a:rPr lang="en-US" altLang="zh-CN" sz="1200" smtClean="0">
                <a:latin typeface="Verdana" pitchFamily="34" charset="0"/>
                <a:ea typeface="宋体" pitchFamily="2" charset="-122"/>
              </a:rPr>
              <a:pPr eaLnBrk="1" hangingPunct="1">
                <a:lnSpc>
                  <a:spcPct val="100000"/>
                </a:lnSpc>
              </a:pPr>
              <a:t>56</a:t>
            </a:fld>
            <a:endParaRPr lang="en-US" altLang="zh-CN" sz="1200" smtClean="0">
              <a:latin typeface="Verdana" pitchFamily="34" charset="0"/>
              <a:ea typeface="宋体" pitchFamily="2" charset="-122"/>
            </a:endParaRPr>
          </a:p>
        </p:txBody>
      </p:sp>
      <p:sp>
        <p:nvSpPr>
          <p:cNvPr id="63492" name="Text Box 3"/>
          <p:cNvSpPr txBox="1">
            <a:spLocks noChangeArrowheads="1"/>
          </p:cNvSpPr>
          <p:nvPr/>
        </p:nvSpPr>
        <p:spPr bwMode="auto">
          <a:xfrm>
            <a:off x="317500" y="1196975"/>
            <a:ext cx="8567738"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sz="3200">
                <a:latin typeface="Times New Roman" pitchFamily="18" charset="0"/>
                <a:cs typeface="Times New Roman" pitchFamily="18" charset="0"/>
              </a:rPr>
              <a:t>        </a:t>
            </a:r>
            <a:r>
              <a:rPr lang="en-US" altLang="zh-CN" sz="3200">
                <a:latin typeface="Times New Roman" pitchFamily="18" charset="0"/>
                <a:cs typeface="Times New Roman" pitchFamily="18" charset="0"/>
              </a:rPr>
              <a:t>A</a:t>
            </a:r>
            <a:r>
              <a:rPr lang="zh-CN" altLang="en-US" sz="3200">
                <a:latin typeface="Times New Roman" pitchFamily="18" charset="0"/>
                <a:cs typeface="Times New Roman" pitchFamily="18" charset="0"/>
              </a:rPr>
              <a:t>类元素对同位素峰没有贡献。但如果由同位素丰度法确定各元素的原子质量总和与分子量之间有大的差值表明</a:t>
            </a:r>
            <a:r>
              <a:rPr lang="en-US" altLang="zh-CN" sz="3200">
                <a:latin typeface="Times New Roman" pitchFamily="18" charset="0"/>
                <a:cs typeface="Times New Roman" pitchFamily="18" charset="0"/>
              </a:rPr>
              <a:t>A</a:t>
            </a:r>
            <a:r>
              <a:rPr lang="zh-CN" altLang="en-US" sz="3200">
                <a:latin typeface="Times New Roman" pitchFamily="18" charset="0"/>
                <a:cs typeface="Times New Roman" pitchFamily="18" charset="0"/>
              </a:rPr>
              <a:t>类元素的存在。</a:t>
            </a:r>
            <a:endParaRPr lang="en-US" altLang="zh-CN" sz="2400">
              <a:latin typeface="Times New Roman" pitchFamily="18" charset="0"/>
              <a:cs typeface="Times New Roman" pitchFamily="18" charset="0"/>
            </a:endParaRPr>
          </a:p>
        </p:txBody>
      </p:sp>
      <p:sp>
        <p:nvSpPr>
          <p:cNvPr id="56325" name="Rectangle 4"/>
          <p:cNvSpPr>
            <a:spLocks noGrp="1" noChangeArrowheads="1"/>
          </p:cNvSpPr>
          <p:nvPr>
            <p:ph type="title"/>
          </p:nvPr>
        </p:nvSpPr>
        <p:spPr>
          <a:xfrm>
            <a:off x="325438" y="396875"/>
            <a:ext cx="4283075" cy="730250"/>
          </a:xfrm>
        </p:spPr>
        <p:txBody>
          <a:bodyPr/>
          <a:lstStyle/>
          <a:p>
            <a:pPr eaLnBrk="1" hangingPunct="1">
              <a:defRPr/>
            </a:pPr>
            <a:r>
              <a:rPr lang="en-US" altLang="zh-CN" sz="3600" b="1" dirty="0" smtClean="0">
                <a:solidFill>
                  <a:srgbClr val="0000B6"/>
                </a:solidFill>
                <a:latin typeface="Times New Roman" panose="02020603050405020304" pitchFamily="18" charset="0"/>
                <a:ea typeface="+mn-ea"/>
                <a:cs typeface="Times New Roman" panose="02020603050405020304" pitchFamily="18" charset="0"/>
              </a:rPr>
              <a:t>4</a:t>
            </a:r>
            <a:r>
              <a:rPr lang="zh-CN" altLang="en-US" sz="3600" b="1" dirty="0" smtClean="0">
                <a:solidFill>
                  <a:srgbClr val="0000B6"/>
                </a:solidFill>
                <a:latin typeface="Times New Roman" panose="02020603050405020304" pitchFamily="18" charset="0"/>
                <a:ea typeface="+mn-ea"/>
                <a:cs typeface="Times New Roman" panose="02020603050405020304" pitchFamily="18" charset="0"/>
              </a:rPr>
              <a:t>、</a:t>
            </a:r>
            <a:r>
              <a:rPr lang="en-US" altLang="zh-CN" sz="3600" b="1" dirty="0" smtClean="0">
                <a:solidFill>
                  <a:srgbClr val="0000B6"/>
                </a:solidFill>
                <a:latin typeface="Times New Roman" panose="02020603050405020304" pitchFamily="18" charset="0"/>
                <a:ea typeface="+mn-ea"/>
                <a:cs typeface="Times New Roman" panose="02020603050405020304" pitchFamily="18" charset="0"/>
              </a:rPr>
              <a:t>A</a:t>
            </a:r>
            <a:r>
              <a:rPr lang="zh-CN" altLang="en-US" sz="3600" b="1" dirty="0" smtClean="0">
                <a:solidFill>
                  <a:srgbClr val="0000B6"/>
                </a:solidFill>
                <a:latin typeface="Times New Roman" panose="02020603050405020304" pitchFamily="18" charset="0"/>
                <a:ea typeface="+mn-ea"/>
                <a:cs typeface="Times New Roman" panose="02020603050405020304" pitchFamily="18" charset="0"/>
              </a:rPr>
              <a:t>类元素的识别</a:t>
            </a:r>
          </a:p>
        </p:txBody>
      </p:sp>
      <p:sp>
        <p:nvSpPr>
          <p:cNvPr id="63494" name="Text Box 2"/>
          <p:cNvSpPr txBox="1">
            <a:spLocks noChangeArrowheads="1"/>
          </p:cNvSpPr>
          <p:nvPr/>
        </p:nvSpPr>
        <p:spPr bwMode="auto">
          <a:xfrm>
            <a:off x="1263650" y="4464050"/>
            <a:ext cx="4833938"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若</a:t>
            </a:r>
            <a:r>
              <a:rPr lang="en-US" altLang="zh-CN">
                <a:latin typeface="Times New Roman" pitchFamily="18" charset="0"/>
              </a:rPr>
              <a:t>[M] : [M</a:t>
            </a:r>
            <a:r>
              <a:rPr lang="zh-CN" altLang="en-US">
                <a:latin typeface="Times New Roman" pitchFamily="18" charset="0"/>
              </a:rPr>
              <a:t>＋</a:t>
            </a:r>
            <a:r>
              <a:rPr lang="en-US" altLang="zh-CN">
                <a:latin typeface="Times New Roman" pitchFamily="18" charset="0"/>
              </a:rPr>
              <a:t>1]</a:t>
            </a:r>
            <a:r>
              <a:rPr lang="zh-CN" altLang="en-US">
                <a:latin typeface="Times New Roman" pitchFamily="18" charset="0"/>
              </a:rPr>
              <a:t>为 </a:t>
            </a:r>
            <a:r>
              <a:rPr lang="en-US" altLang="zh-CN">
                <a:solidFill>
                  <a:srgbClr val="0000CC"/>
                </a:solidFill>
                <a:latin typeface="Times New Roman" pitchFamily="18" charset="0"/>
              </a:rPr>
              <a:t>100 : 11 </a:t>
            </a:r>
          </a:p>
          <a:p>
            <a:pPr eaLnBrk="1" hangingPunct="1">
              <a:lnSpc>
                <a:spcPct val="150000"/>
              </a:lnSpc>
            </a:pPr>
            <a:r>
              <a:rPr lang="en-US" altLang="zh-CN">
                <a:solidFill>
                  <a:srgbClr val="0000CC"/>
                </a:solidFill>
                <a:latin typeface="Times New Roman" pitchFamily="18" charset="0"/>
              </a:rPr>
              <a:t>    </a:t>
            </a:r>
            <a:r>
              <a:rPr lang="en-US" altLang="zh-CN">
                <a:latin typeface="Times New Roman" pitchFamily="18" charset="0"/>
              </a:rPr>
              <a:t>[M] : [M</a:t>
            </a:r>
            <a:r>
              <a:rPr lang="zh-CN" altLang="en-US">
                <a:latin typeface="Times New Roman" pitchFamily="18" charset="0"/>
              </a:rPr>
              <a:t>＋</a:t>
            </a:r>
            <a:r>
              <a:rPr lang="en-US" altLang="zh-CN">
                <a:latin typeface="Times New Roman" pitchFamily="18" charset="0"/>
              </a:rPr>
              <a:t>1]</a:t>
            </a:r>
            <a:r>
              <a:rPr lang="zh-CN" altLang="en-US">
                <a:latin typeface="Times New Roman" pitchFamily="18" charset="0"/>
              </a:rPr>
              <a:t>为 </a:t>
            </a:r>
            <a:r>
              <a:rPr lang="en-US" altLang="zh-CN">
                <a:solidFill>
                  <a:srgbClr val="FF0000"/>
                </a:solidFill>
                <a:latin typeface="Times New Roman" pitchFamily="18" charset="0"/>
              </a:rPr>
              <a:t>100 : 1.1</a:t>
            </a:r>
          </a:p>
        </p:txBody>
      </p:sp>
      <p:sp>
        <p:nvSpPr>
          <p:cNvPr id="63495" name="Text Box 2"/>
          <p:cNvSpPr txBox="1">
            <a:spLocks noChangeArrowheads="1"/>
          </p:cNvSpPr>
          <p:nvPr/>
        </p:nvSpPr>
        <p:spPr bwMode="auto">
          <a:xfrm>
            <a:off x="6113463" y="4437063"/>
            <a:ext cx="1338262"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a:solidFill>
                  <a:srgbClr val="0000CC"/>
                </a:solidFill>
                <a:latin typeface="Times New Roman" pitchFamily="18" charset="0"/>
              </a:rPr>
              <a:t>C</a:t>
            </a:r>
            <a:r>
              <a:rPr lang="en-US" altLang="zh-CN" baseline="-30000">
                <a:solidFill>
                  <a:srgbClr val="0000CC"/>
                </a:solidFill>
                <a:latin typeface="Times New Roman" pitchFamily="18" charset="0"/>
              </a:rPr>
              <a:t>10</a:t>
            </a:r>
            <a:r>
              <a:rPr lang="en-US" altLang="zh-CN">
                <a:solidFill>
                  <a:srgbClr val="0000CC"/>
                </a:solidFill>
                <a:latin typeface="Times New Roman" pitchFamily="18" charset="0"/>
              </a:rPr>
              <a:t>H</a:t>
            </a:r>
            <a:r>
              <a:rPr lang="en-US" altLang="zh-CN" baseline="-30000">
                <a:solidFill>
                  <a:srgbClr val="0000CC"/>
                </a:solidFill>
                <a:latin typeface="Times New Roman" pitchFamily="18" charset="0"/>
              </a:rPr>
              <a:t>22</a:t>
            </a:r>
            <a:r>
              <a:rPr lang="en-US" altLang="zh-CN">
                <a:solidFill>
                  <a:srgbClr val="0000CC"/>
                </a:solidFill>
                <a:latin typeface="Times New Roman" pitchFamily="18" charset="0"/>
              </a:rPr>
              <a:t> </a:t>
            </a:r>
          </a:p>
        </p:txBody>
      </p:sp>
      <p:sp>
        <p:nvSpPr>
          <p:cNvPr id="63496" name="Text Box 2"/>
          <p:cNvSpPr txBox="1">
            <a:spLocks noChangeArrowheads="1"/>
          </p:cNvSpPr>
          <p:nvPr/>
        </p:nvSpPr>
        <p:spPr bwMode="auto">
          <a:xfrm>
            <a:off x="6184900" y="5157788"/>
            <a:ext cx="1339850" cy="6604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a:latin typeface="Times New Roman" pitchFamily="18" charset="0"/>
              </a:rPr>
              <a:t>CH</a:t>
            </a:r>
            <a:r>
              <a:rPr lang="en-US" altLang="zh-CN" baseline="-30000">
                <a:latin typeface="Times New Roman" pitchFamily="18" charset="0"/>
              </a:rPr>
              <a:t>3</a:t>
            </a:r>
            <a:r>
              <a:rPr lang="en-US" altLang="zh-CN">
                <a:latin typeface="Times New Roman" pitchFamily="18" charset="0"/>
              </a:rPr>
              <a:t>I </a:t>
            </a:r>
          </a:p>
        </p:txBody>
      </p:sp>
      <p:sp>
        <p:nvSpPr>
          <p:cNvPr id="63497" name="Text Box 2"/>
          <p:cNvSpPr txBox="1">
            <a:spLocks noChangeArrowheads="1"/>
          </p:cNvSpPr>
          <p:nvPr/>
        </p:nvSpPr>
        <p:spPr bwMode="auto">
          <a:xfrm>
            <a:off x="1187450" y="3644900"/>
            <a:ext cx="4832350"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a:latin typeface="Times New Roman" pitchFamily="18" charset="0"/>
              </a:rPr>
              <a:t>     M=142</a:t>
            </a:r>
            <a:r>
              <a:rPr lang="zh-CN" altLang="en-US">
                <a:latin typeface="Times New Roman" pitchFamily="18" charset="0"/>
              </a:rPr>
              <a:t>的分子离子峰</a:t>
            </a:r>
            <a:endParaRPr lang="en-US" altLang="zh-CN">
              <a:latin typeface="Times New Roman" pitchFamily="18" charset="0"/>
            </a:endParaRPr>
          </a:p>
        </p:txBody>
      </p:sp>
    </p:spTree>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D8A5749A-B18C-46C8-A4C3-8A511CCECFBA}"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4515"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043292F6-0305-4B9E-9715-5602AFDA29DF}" type="slidenum">
              <a:rPr lang="en-US" altLang="zh-CN" sz="1200" smtClean="0">
                <a:latin typeface="Verdana" pitchFamily="34" charset="0"/>
                <a:ea typeface="宋体" pitchFamily="2" charset="-122"/>
              </a:rPr>
              <a:pPr eaLnBrk="1" hangingPunct="1">
                <a:lnSpc>
                  <a:spcPct val="100000"/>
                </a:lnSpc>
              </a:pPr>
              <a:t>57</a:t>
            </a:fld>
            <a:endParaRPr lang="en-US" altLang="zh-CN" sz="1200" smtClean="0">
              <a:latin typeface="Verdana" pitchFamily="34" charset="0"/>
              <a:ea typeface="宋体" pitchFamily="2" charset="-122"/>
            </a:endParaRPr>
          </a:p>
        </p:txBody>
      </p:sp>
      <p:sp>
        <p:nvSpPr>
          <p:cNvPr id="64516" name="Text Box 2"/>
          <p:cNvSpPr txBox="1">
            <a:spLocks noChangeArrowheads="1"/>
          </p:cNvSpPr>
          <p:nvPr/>
        </p:nvSpPr>
        <p:spPr bwMode="auto">
          <a:xfrm>
            <a:off x="971550" y="2565400"/>
            <a:ext cx="72009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r>
              <a:rPr lang="en-US" altLang="zh-CN" sz="3200">
                <a:latin typeface="Times New Roman" pitchFamily="18" charset="0"/>
              </a:rPr>
              <a:t>1.          </a:t>
            </a:r>
            <a:r>
              <a:rPr lang="en-US" altLang="zh-CN" sz="3200" i="1">
                <a:latin typeface="Times New Roman" pitchFamily="18" charset="0"/>
              </a:rPr>
              <a:t>  m/z                 </a:t>
            </a:r>
            <a:r>
              <a:rPr lang="zh-CN" altLang="en-US" sz="3200">
                <a:latin typeface="Times New Roman" pitchFamily="18" charset="0"/>
              </a:rPr>
              <a:t>相对强度（ </a:t>
            </a:r>
            <a:r>
              <a:rPr lang="en-US" altLang="zh-CN" sz="3200">
                <a:latin typeface="Times New Roman" pitchFamily="18" charset="0"/>
              </a:rPr>
              <a:t>%</a:t>
            </a:r>
            <a:r>
              <a:rPr lang="zh-CN" altLang="en-US" sz="3200">
                <a:latin typeface="Times New Roman" pitchFamily="18" charset="0"/>
              </a:rPr>
              <a:t>）</a:t>
            </a:r>
          </a:p>
          <a:p>
            <a:pPr eaLnBrk="1" hangingPunct="1">
              <a:lnSpc>
                <a:spcPct val="100000"/>
              </a:lnSpc>
            </a:pPr>
            <a:r>
              <a:rPr lang="zh-CN" altLang="en-US" sz="3200">
                <a:latin typeface="Times New Roman" pitchFamily="18" charset="0"/>
              </a:rPr>
              <a:t>           </a:t>
            </a:r>
            <a:r>
              <a:rPr lang="en-US" altLang="zh-CN" sz="3200">
                <a:latin typeface="Times New Roman" pitchFamily="18" charset="0"/>
              </a:rPr>
              <a:t>132( M</a:t>
            </a:r>
            <a:r>
              <a:rPr lang="en-US" altLang="zh-CN" sz="3200" baseline="30000">
                <a:latin typeface="Times New Roman" pitchFamily="18" charset="0"/>
              </a:rPr>
              <a:t>+· </a:t>
            </a:r>
            <a:r>
              <a:rPr lang="en-US" altLang="zh-CN" sz="3200">
                <a:latin typeface="Times New Roman" pitchFamily="18" charset="0"/>
              </a:rPr>
              <a:t>)          100</a:t>
            </a:r>
          </a:p>
          <a:p>
            <a:pPr eaLnBrk="1" hangingPunct="1">
              <a:lnSpc>
                <a:spcPct val="100000"/>
              </a:lnSpc>
            </a:pPr>
            <a:r>
              <a:rPr lang="en-US" altLang="zh-CN" sz="3200">
                <a:latin typeface="Times New Roman" pitchFamily="18" charset="0"/>
              </a:rPr>
              <a:t>           133                     9.9</a:t>
            </a:r>
          </a:p>
          <a:p>
            <a:pPr eaLnBrk="1" hangingPunct="1">
              <a:lnSpc>
                <a:spcPct val="100000"/>
              </a:lnSpc>
            </a:pPr>
            <a:r>
              <a:rPr lang="en-US" altLang="zh-CN" sz="3200">
                <a:latin typeface="Times New Roman" pitchFamily="18" charset="0"/>
              </a:rPr>
              <a:t>           134                     0.7</a:t>
            </a:r>
          </a:p>
        </p:txBody>
      </p:sp>
      <p:sp>
        <p:nvSpPr>
          <p:cNvPr id="58373" name="Rectangle 3"/>
          <p:cNvSpPr>
            <a:spLocks noGrp="1" noChangeArrowheads="1"/>
          </p:cNvSpPr>
          <p:nvPr>
            <p:ph type="title"/>
          </p:nvPr>
        </p:nvSpPr>
        <p:spPr>
          <a:xfrm>
            <a:off x="250825" y="549275"/>
            <a:ext cx="8713788" cy="1295400"/>
          </a:xfrm>
        </p:spPr>
        <p:txBody>
          <a:bodyPr/>
          <a:lstStyle/>
          <a:p>
            <a:pPr eaLnBrk="1" hangingPunct="1">
              <a:lnSpc>
                <a:spcPct val="150000"/>
              </a:lnSpc>
              <a:defRPr/>
            </a:pPr>
            <a:r>
              <a:rPr lang="zh-CN" altLang="en-US" sz="3200" b="1" dirty="0" smtClean="0">
                <a:latin typeface="+mj-ea"/>
              </a:rPr>
              <a:t>例</a:t>
            </a:r>
            <a:r>
              <a:rPr lang="en-US" altLang="zh-CN" sz="3200" b="1" dirty="0" smtClean="0">
                <a:latin typeface="+mj-ea"/>
              </a:rPr>
              <a:t> </a:t>
            </a:r>
            <a:r>
              <a:rPr lang="zh-CN" altLang="en-US" sz="3200" b="1" dirty="0" smtClean="0">
                <a:latin typeface="+mj-ea"/>
              </a:rPr>
              <a:t>试根据化合物质谱分子离子区域的离子质荷比和强度推导化合物的分子式。</a:t>
            </a:r>
          </a:p>
        </p:txBody>
      </p:sp>
    </p:spTree>
  </p:cSld>
  <p:clrMapOvr>
    <a:masterClrMapping/>
  </p:clrMapOvr>
  <p:transition spd="slow"/>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4"/>
          <p:cNvSpPr txBox="1">
            <a:spLocks noChangeArrowheads="1"/>
          </p:cNvSpPr>
          <p:nvPr/>
        </p:nvSpPr>
        <p:spPr bwMode="auto">
          <a:xfrm>
            <a:off x="179388" y="2735263"/>
            <a:ext cx="82296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rPr>
              <a:t>C</a:t>
            </a:r>
            <a:r>
              <a:rPr lang="zh-CN" altLang="en-US" sz="3200">
                <a:latin typeface="Times New Roman" pitchFamily="18" charset="0"/>
              </a:rPr>
              <a:t>、若分子中含</a:t>
            </a:r>
            <a:r>
              <a:rPr lang="en-US" altLang="zh-CN" sz="3200">
                <a:latin typeface="Times New Roman" pitchFamily="18" charset="0"/>
              </a:rPr>
              <a:t>9</a:t>
            </a:r>
            <a:r>
              <a:rPr lang="zh-CN" altLang="en-US" sz="3200">
                <a:latin typeface="Times New Roman" pitchFamily="18" charset="0"/>
              </a:rPr>
              <a:t>个碳，原子量总和余</a:t>
            </a:r>
            <a:r>
              <a:rPr lang="en-US" altLang="zh-CN" sz="3200">
                <a:latin typeface="Times New Roman" pitchFamily="18" charset="0"/>
              </a:rPr>
              <a:t>24 </a:t>
            </a:r>
          </a:p>
          <a:p>
            <a:pPr eaLnBrk="1" hangingPunct="1">
              <a:lnSpc>
                <a:spcPct val="150000"/>
              </a:lnSpc>
            </a:pPr>
            <a:r>
              <a:rPr lang="zh-CN" altLang="en-US" sz="3200">
                <a:latin typeface="Times New Roman" pitchFamily="18" charset="0"/>
              </a:rPr>
              <a:t>       可能的分子式</a:t>
            </a:r>
            <a:r>
              <a:rPr lang="en-US" altLang="zh-CN" sz="3200">
                <a:latin typeface="Times New Roman" pitchFamily="18" charset="0"/>
              </a:rPr>
              <a:t>:</a:t>
            </a:r>
          </a:p>
          <a:p>
            <a:pPr eaLnBrk="1" hangingPunct="1">
              <a:lnSpc>
                <a:spcPct val="150000"/>
              </a:lnSpc>
            </a:pPr>
            <a:r>
              <a:rPr lang="en-US" altLang="zh-CN" sz="3200">
                <a:latin typeface="Times New Roman" pitchFamily="18" charset="0"/>
              </a:rPr>
              <a:t>        C</a:t>
            </a:r>
            <a:r>
              <a:rPr lang="en-US" altLang="zh-CN" sz="3200" baseline="-25000">
                <a:latin typeface="Times New Roman" pitchFamily="18" charset="0"/>
              </a:rPr>
              <a:t>9</a:t>
            </a:r>
            <a:r>
              <a:rPr lang="en-US" altLang="zh-CN" sz="3200">
                <a:latin typeface="Times New Roman" pitchFamily="18" charset="0"/>
              </a:rPr>
              <a:t>H</a:t>
            </a:r>
            <a:r>
              <a:rPr lang="en-US" altLang="zh-CN" sz="3200" baseline="-25000">
                <a:latin typeface="Times New Roman" pitchFamily="18" charset="0"/>
              </a:rPr>
              <a:t>24</a:t>
            </a:r>
            <a:r>
              <a:rPr lang="en-US" altLang="zh-CN" sz="3200">
                <a:latin typeface="Times New Roman" pitchFamily="18" charset="0"/>
              </a:rPr>
              <a:t>          C</a:t>
            </a:r>
            <a:r>
              <a:rPr lang="en-US" altLang="zh-CN" sz="3200" baseline="-25000">
                <a:latin typeface="Times New Roman" pitchFamily="18" charset="0"/>
              </a:rPr>
              <a:t>9</a:t>
            </a:r>
            <a:r>
              <a:rPr lang="en-US" altLang="zh-CN" sz="3200">
                <a:latin typeface="Times New Roman" pitchFamily="18" charset="0"/>
              </a:rPr>
              <a:t>H</a:t>
            </a:r>
            <a:r>
              <a:rPr lang="en-US" altLang="zh-CN" sz="3200" baseline="-25000">
                <a:latin typeface="Times New Roman" pitchFamily="18" charset="0"/>
              </a:rPr>
              <a:t>10</a:t>
            </a:r>
            <a:r>
              <a:rPr lang="en-US" altLang="zh-CN" sz="3200">
                <a:latin typeface="Times New Roman" pitchFamily="18" charset="0"/>
              </a:rPr>
              <a:t>N           </a:t>
            </a:r>
            <a:r>
              <a:rPr lang="en-US" altLang="zh-CN" sz="3200">
                <a:solidFill>
                  <a:srgbClr val="0000CC"/>
                </a:solidFill>
                <a:latin typeface="Times New Roman" pitchFamily="18" charset="0"/>
              </a:rPr>
              <a:t> C</a:t>
            </a:r>
            <a:r>
              <a:rPr lang="en-US" altLang="zh-CN" sz="3200" baseline="-25000">
                <a:solidFill>
                  <a:srgbClr val="0000CC"/>
                </a:solidFill>
                <a:latin typeface="Times New Roman" pitchFamily="18" charset="0"/>
              </a:rPr>
              <a:t>9</a:t>
            </a:r>
            <a:r>
              <a:rPr lang="en-US" altLang="zh-CN" sz="3200">
                <a:solidFill>
                  <a:srgbClr val="0000CC"/>
                </a:solidFill>
                <a:latin typeface="Times New Roman" pitchFamily="18" charset="0"/>
              </a:rPr>
              <a:t>H</a:t>
            </a:r>
            <a:r>
              <a:rPr lang="en-US" altLang="zh-CN" sz="3200" baseline="-25000">
                <a:solidFill>
                  <a:srgbClr val="0000CC"/>
                </a:solidFill>
                <a:latin typeface="Times New Roman" pitchFamily="18" charset="0"/>
              </a:rPr>
              <a:t>8</a:t>
            </a:r>
            <a:r>
              <a:rPr lang="en-US" altLang="zh-CN" sz="3200">
                <a:solidFill>
                  <a:srgbClr val="0000CC"/>
                </a:solidFill>
                <a:latin typeface="Times New Roman" pitchFamily="18" charset="0"/>
              </a:rPr>
              <a:t>O</a:t>
            </a:r>
          </a:p>
        </p:txBody>
      </p:sp>
      <p:sp>
        <p:nvSpPr>
          <p:cNvPr id="65539" name="Text Box 4"/>
          <p:cNvSpPr txBox="1">
            <a:spLocks noChangeArrowheads="1"/>
          </p:cNvSpPr>
          <p:nvPr/>
        </p:nvSpPr>
        <p:spPr bwMode="auto">
          <a:xfrm>
            <a:off x="107950" y="80963"/>
            <a:ext cx="8640763"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rPr>
              <a:t>A</a:t>
            </a:r>
            <a:r>
              <a:rPr lang="zh-CN" altLang="en-US" sz="3200">
                <a:latin typeface="Times New Roman" pitchFamily="18" charset="0"/>
              </a:rPr>
              <a:t>、</a:t>
            </a:r>
            <a:r>
              <a:rPr lang="en-US" altLang="zh-CN" sz="3200">
                <a:latin typeface="Times New Roman" pitchFamily="18" charset="0"/>
              </a:rPr>
              <a:t>(M+2)/M=0.7:100</a:t>
            </a:r>
          </a:p>
          <a:p>
            <a:pPr eaLnBrk="1" hangingPunct="1">
              <a:lnSpc>
                <a:spcPct val="150000"/>
              </a:lnSpc>
            </a:pPr>
            <a:r>
              <a:rPr lang="en-US" altLang="zh-CN" sz="3200">
                <a:latin typeface="Times New Roman" pitchFamily="18" charset="0"/>
              </a:rPr>
              <a:t>    </a:t>
            </a:r>
            <a:r>
              <a:rPr lang="zh-CN" altLang="en-US" sz="3200">
                <a:latin typeface="Times New Roman" pitchFamily="18" charset="0"/>
              </a:rPr>
              <a:t>故分子中不含</a:t>
            </a:r>
            <a:r>
              <a:rPr lang="en-US" altLang="zh-CN" sz="3200">
                <a:latin typeface="Times New Roman" pitchFamily="18" charset="0"/>
              </a:rPr>
              <a:t>Cl</a:t>
            </a:r>
            <a:r>
              <a:rPr lang="zh-CN" altLang="en-US" sz="3200">
                <a:latin typeface="Times New Roman" pitchFamily="18" charset="0"/>
              </a:rPr>
              <a:t>、</a:t>
            </a:r>
            <a:r>
              <a:rPr lang="en-US" altLang="zh-CN" sz="3200">
                <a:latin typeface="Times New Roman" pitchFamily="18" charset="0"/>
              </a:rPr>
              <a:t>Br</a:t>
            </a:r>
            <a:r>
              <a:rPr lang="zh-CN" altLang="en-US" sz="3200">
                <a:latin typeface="Times New Roman" pitchFamily="18" charset="0"/>
              </a:rPr>
              <a:t>、</a:t>
            </a:r>
            <a:r>
              <a:rPr lang="en-US" altLang="zh-CN" sz="3200">
                <a:latin typeface="Times New Roman" pitchFamily="18" charset="0"/>
              </a:rPr>
              <a:t>S</a:t>
            </a:r>
            <a:r>
              <a:rPr lang="zh-CN" altLang="en-US" sz="3200">
                <a:latin typeface="Times New Roman" pitchFamily="18" charset="0"/>
              </a:rPr>
              <a:t>、</a:t>
            </a:r>
            <a:r>
              <a:rPr lang="en-US" altLang="zh-CN" sz="3200">
                <a:latin typeface="Times New Roman" pitchFamily="18" charset="0"/>
              </a:rPr>
              <a:t>Si</a:t>
            </a:r>
            <a:r>
              <a:rPr lang="zh-CN" altLang="en-US" sz="3200">
                <a:latin typeface="Times New Roman" pitchFamily="18" charset="0"/>
              </a:rPr>
              <a:t>等</a:t>
            </a:r>
            <a:r>
              <a:rPr lang="en-US" altLang="zh-CN" sz="3200">
                <a:latin typeface="Times New Roman" pitchFamily="18" charset="0"/>
              </a:rPr>
              <a:t>A+2</a:t>
            </a:r>
            <a:r>
              <a:rPr lang="zh-CN" altLang="en-US" sz="3200">
                <a:latin typeface="Times New Roman" pitchFamily="18" charset="0"/>
              </a:rPr>
              <a:t>类元素。</a:t>
            </a:r>
          </a:p>
        </p:txBody>
      </p:sp>
      <p:sp>
        <p:nvSpPr>
          <p:cNvPr id="65540" name="Text Box 4"/>
          <p:cNvSpPr txBox="1">
            <a:spLocks noChangeArrowheads="1"/>
          </p:cNvSpPr>
          <p:nvPr/>
        </p:nvSpPr>
        <p:spPr bwMode="auto">
          <a:xfrm>
            <a:off x="179388" y="1806575"/>
            <a:ext cx="7023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rPr>
              <a:t>B</a:t>
            </a:r>
            <a:r>
              <a:rPr lang="zh-CN" altLang="en-US" sz="3200">
                <a:latin typeface="Times New Roman" pitchFamily="18" charset="0"/>
              </a:rPr>
              <a:t>、</a:t>
            </a:r>
            <a:r>
              <a:rPr lang="en-US" altLang="zh-CN" sz="3200">
                <a:latin typeface="Times New Roman" pitchFamily="18" charset="0"/>
              </a:rPr>
              <a:t>C</a:t>
            </a:r>
            <a:r>
              <a:rPr lang="zh-CN" altLang="en-US" sz="3200">
                <a:latin typeface="Times New Roman" pitchFamily="18" charset="0"/>
              </a:rPr>
              <a:t>原子数上限：</a:t>
            </a:r>
            <a:r>
              <a:rPr lang="en-US" altLang="zh-CN" sz="3200">
                <a:latin typeface="Times New Roman" pitchFamily="18" charset="0"/>
              </a:rPr>
              <a:t>M+1/M÷1.1%=9</a:t>
            </a:r>
          </a:p>
        </p:txBody>
      </p:sp>
    </p:spTree>
  </p:cSld>
  <p:clrMapOvr>
    <a:masterClrMapping/>
  </p:clrMapOvr>
  <p:transition spd="slow"/>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CD648900-0218-4E8C-9813-8D5AC9176553}"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6563"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86A1CD5F-F0C9-4D36-BFDA-5DFC82D488AE}" type="slidenum">
              <a:rPr lang="en-US" altLang="zh-CN" sz="1200" smtClean="0">
                <a:latin typeface="Verdana" pitchFamily="34" charset="0"/>
                <a:ea typeface="宋体" pitchFamily="2" charset="-122"/>
              </a:rPr>
              <a:pPr eaLnBrk="1" hangingPunct="1">
                <a:lnSpc>
                  <a:spcPct val="100000"/>
                </a:lnSpc>
              </a:pPr>
              <a:t>59</a:t>
            </a:fld>
            <a:endParaRPr lang="en-US" altLang="zh-CN" sz="1200" smtClean="0">
              <a:latin typeface="Verdana" pitchFamily="34" charset="0"/>
              <a:ea typeface="宋体" pitchFamily="2" charset="-122"/>
            </a:endParaRPr>
          </a:p>
        </p:txBody>
      </p:sp>
      <p:sp>
        <p:nvSpPr>
          <p:cNvPr id="66564" name="Text Box 2"/>
          <p:cNvSpPr>
            <a:spLocks noGrp="1" noChangeArrowheads="1"/>
          </p:cNvSpPr>
          <p:nvPr>
            <p:ph type="body" idx="1"/>
          </p:nvPr>
        </p:nvSpPr>
        <p:spPr>
          <a:xfrm>
            <a:off x="1116013" y="908050"/>
            <a:ext cx="6551612" cy="3168650"/>
          </a:xfrm>
          <a:noFill/>
        </p:spPr>
        <p:txBody>
          <a:bodyPr/>
          <a:lstStyle/>
          <a:p>
            <a:pPr eaLnBrk="1" hangingPunct="1">
              <a:lnSpc>
                <a:spcPct val="80000"/>
              </a:lnSpc>
              <a:buFont typeface="Wingdings" pitchFamily="2" charset="2"/>
              <a:buNone/>
            </a:pPr>
            <a:r>
              <a:rPr lang="en-US" altLang="zh-CN" b="1" smtClean="0">
                <a:latin typeface="Times New Roman" pitchFamily="18" charset="0"/>
              </a:rPr>
              <a:t>2.       </a:t>
            </a:r>
            <a:r>
              <a:rPr lang="en-US" altLang="zh-CN" b="1" i="1" smtClean="0">
                <a:latin typeface="Times New Roman" pitchFamily="18" charset="0"/>
              </a:rPr>
              <a:t> m/z                  </a:t>
            </a:r>
            <a:r>
              <a:rPr lang="zh-CN" altLang="en-US" b="1" smtClean="0">
                <a:latin typeface="Times New Roman" pitchFamily="18" charset="0"/>
              </a:rPr>
              <a:t>相对强度（ </a:t>
            </a:r>
            <a:r>
              <a:rPr lang="en-US" altLang="zh-CN" b="1" smtClean="0">
                <a:latin typeface="Times New Roman" pitchFamily="18" charset="0"/>
              </a:rPr>
              <a:t>%</a:t>
            </a:r>
            <a:r>
              <a:rPr lang="zh-CN" altLang="en-US" b="1" smtClean="0">
                <a:latin typeface="Times New Roman" pitchFamily="18" charset="0"/>
              </a:rPr>
              <a:t>）</a:t>
            </a:r>
          </a:p>
          <a:p>
            <a:pPr eaLnBrk="1" hangingPunct="1">
              <a:lnSpc>
                <a:spcPct val="80000"/>
              </a:lnSpc>
              <a:buFont typeface="Wingdings" pitchFamily="2" charset="2"/>
              <a:buNone/>
            </a:pPr>
            <a:r>
              <a:rPr lang="zh-CN" altLang="en-US" b="1" smtClean="0">
                <a:latin typeface="Times New Roman" pitchFamily="18" charset="0"/>
              </a:rPr>
              <a:t>          </a:t>
            </a:r>
            <a:r>
              <a:rPr lang="en-US" altLang="zh-CN" b="1" smtClean="0">
                <a:latin typeface="Times New Roman" pitchFamily="18" charset="0"/>
              </a:rPr>
              <a:t>140</a:t>
            </a:r>
            <a:r>
              <a:rPr lang="zh-CN" altLang="en-US" b="1" smtClean="0">
                <a:latin typeface="Times New Roman" pitchFamily="18" charset="0"/>
              </a:rPr>
              <a:t>（</a:t>
            </a:r>
            <a:r>
              <a:rPr lang="en-US" altLang="zh-CN" b="1" smtClean="0">
                <a:latin typeface="Times New Roman" pitchFamily="18" charset="0"/>
              </a:rPr>
              <a:t>M+·</a:t>
            </a:r>
            <a:r>
              <a:rPr lang="zh-CN" altLang="en-US" b="1" smtClean="0">
                <a:latin typeface="Times New Roman" pitchFamily="18" charset="0"/>
              </a:rPr>
              <a:t>）     </a:t>
            </a:r>
            <a:r>
              <a:rPr lang="en-US" altLang="zh-CN" b="1" smtClean="0">
                <a:latin typeface="Times New Roman" pitchFamily="18" charset="0"/>
              </a:rPr>
              <a:t>100</a:t>
            </a:r>
          </a:p>
          <a:p>
            <a:pPr eaLnBrk="1" hangingPunct="1">
              <a:lnSpc>
                <a:spcPct val="80000"/>
              </a:lnSpc>
              <a:buFont typeface="Wingdings" pitchFamily="2" charset="2"/>
              <a:buNone/>
            </a:pPr>
            <a:r>
              <a:rPr lang="en-US" altLang="zh-CN" b="1" smtClean="0">
                <a:latin typeface="Times New Roman" pitchFamily="18" charset="0"/>
              </a:rPr>
              <a:t>          141                     10</a:t>
            </a:r>
          </a:p>
          <a:p>
            <a:pPr eaLnBrk="1" hangingPunct="1">
              <a:lnSpc>
                <a:spcPct val="80000"/>
              </a:lnSpc>
              <a:buFont typeface="Wingdings" pitchFamily="2" charset="2"/>
              <a:buNone/>
            </a:pPr>
            <a:r>
              <a:rPr lang="en-US" altLang="zh-CN" b="1" smtClean="0">
                <a:latin typeface="Times New Roman" pitchFamily="18" charset="0"/>
              </a:rPr>
              <a:t>          142                    4.8</a:t>
            </a:r>
            <a:endParaRPr lang="en-US" altLang="zh-CN" b="1" smtClean="0">
              <a:solidFill>
                <a:srgbClr val="FF3399"/>
              </a:solidFill>
              <a:latin typeface="Times New Roman" pitchFamily="18" charset="0"/>
            </a:endParaRPr>
          </a:p>
          <a:p>
            <a:pPr eaLnBrk="1" hangingPunct="1">
              <a:lnSpc>
                <a:spcPct val="80000"/>
              </a:lnSpc>
              <a:buFont typeface="Wingdings" pitchFamily="2" charset="2"/>
              <a:buNone/>
            </a:pPr>
            <a:r>
              <a:rPr lang="en-US" altLang="zh-CN" b="1" smtClean="0">
                <a:latin typeface="Times New Roman" pitchFamily="18" charset="0"/>
              </a:rPr>
              <a:t>          143                     0.4</a:t>
            </a:r>
          </a:p>
        </p:txBody>
      </p:sp>
    </p:spTree>
  </p:cSld>
  <p:clrMapOvr>
    <a:masterClrMapping/>
  </p:clrMapOvr>
  <p:transition spd="slow"/>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DEF58FB6-E593-4F8B-A445-6175ADDEC056}" type="slidenum">
              <a:rPr lang="en-US" altLang="zh-CN" sz="1200">
                <a:latin typeface="Verdana" pitchFamily="34" charset="0"/>
              </a:rPr>
              <a:pPr algn="r" eaLnBrk="1" hangingPunct="1">
                <a:lnSpc>
                  <a:spcPct val="100000"/>
                </a:lnSpc>
              </a:pPr>
              <a:t>60</a:t>
            </a:fld>
            <a:endParaRPr lang="en-US" altLang="zh-CN" sz="1200">
              <a:latin typeface="Verdana" pitchFamily="34" charset="0"/>
            </a:endParaRPr>
          </a:p>
        </p:txBody>
      </p:sp>
      <p:sp>
        <p:nvSpPr>
          <p:cNvPr id="67587" name="Text Box 2"/>
          <p:cNvSpPr>
            <a:spLocks noGrp="1" noChangeArrowheads="1"/>
          </p:cNvSpPr>
          <p:nvPr>
            <p:ph type="body" idx="4294967295"/>
          </p:nvPr>
        </p:nvSpPr>
        <p:spPr>
          <a:xfrm>
            <a:off x="179388" y="38100"/>
            <a:ext cx="7632700" cy="798513"/>
          </a:xfrm>
          <a:noFill/>
        </p:spPr>
        <p:txBody>
          <a:bodyPr/>
          <a:lstStyle/>
          <a:p>
            <a:pPr marL="0" indent="0" eaLnBrk="1" hangingPunct="1">
              <a:lnSpc>
                <a:spcPct val="150000"/>
              </a:lnSpc>
              <a:spcBef>
                <a:spcPct val="0"/>
              </a:spcBef>
              <a:buFont typeface="Wingdings" pitchFamily="2" charset="2"/>
              <a:buNone/>
            </a:pPr>
            <a:r>
              <a:rPr lang="en-US" altLang="zh-CN" b="1" smtClean="0">
                <a:latin typeface="Times New Roman" pitchFamily="18" charset="0"/>
              </a:rPr>
              <a:t>A</a:t>
            </a:r>
            <a:r>
              <a:rPr lang="zh-CN" altLang="en-US" b="1" smtClean="0">
                <a:latin typeface="Times New Roman" pitchFamily="18" charset="0"/>
              </a:rPr>
              <a:t>、</a:t>
            </a:r>
            <a:r>
              <a:rPr lang="en-US" altLang="zh-CN" b="1" smtClean="0">
                <a:latin typeface="Times New Roman" pitchFamily="18" charset="0"/>
              </a:rPr>
              <a:t>M+2/M=1.2/25=4.8/100, </a:t>
            </a:r>
            <a:r>
              <a:rPr lang="zh-CN" altLang="en-US" b="1" smtClean="0">
                <a:latin typeface="Times New Roman" pitchFamily="18" charset="0"/>
              </a:rPr>
              <a:t>推断含</a:t>
            </a:r>
            <a:r>
              <a:rPr lang="en-US" altLang="zh-CN" b="1" smtClean="0">
                <a:latin typeface="Times New Roman" pitchFamily="18" charset="0"/>
              </a:rPr>
              <a:t>1</a:t>
            </a:r>
            <a:r>
              <a:rPr lang="zh-CN" altLang="en-US" b="1" smtClean="0">
                <a:latin typeface="Times New Roman" pitchFamily="18" charset="0"/>
              </a:rPr>
              <a:t>个</a:t>
            </a:r>
            <a:r>
              <a:rPr lang="en-US" altLang="zh-CN" b="1" smtClean="0">
                <a:latin typeface="Times New Roman" pitchFamily="18" charset="0"/>
              </a:rPr>
              <a:t>S</a:t>
            </a:r>
            <a:endParaRPr lang="zh-CN" altLang="en-US" b="1" smtClean="0">
              <a:latin typeface="Times New Roman" pitchFamily="18" charset="0"/>
            </a:endParaRPr>
          </a:p>
        </p:txBody>
      </p:sp>
      <p:sp>
        <p:nvSpPr>
          <p:cNvPr id="67588" name="Text Box 2"/>
          <p:cNvSpPr txBox="1">
            <a:spLocks noChangeArrowheads="1"/>
          </p:cNvSpPr>
          <p:nvPr/>
        </p:nvSpPr>
        <p:spPr bwMode="auto">
          <a:xfrm>
            <a:off x="179388" y="747713"/>
            <a:ext cx="7945437" cy="160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Font typeface="Wingdings" pitchFamily="2" charset="2"/>
              <a:buNone/>
            </a:pPr>
            <a:r>
              <a:rPr lang="en-US" altLang="zh-CN" sz="3200">
                <a:latin typeface="Times New Roman" pitchFamily="18" charset="0"/>
              </a:rPr>
              <a:t>B</a:t>
            </a:r>
            <a:r>
              <a:rPr lang="zh-CN" altLang="en-US" sz="3200">
                <a:latin typeface="Times New Roman" pitchFamily="18" charset="0"/>
              </a:rPr>
              <a:t>、扣除</a:t>
            </a:r>
            <a:r>
              <a:rPr lang="en-US" altLang="zh-CN" sz="3200" baseline="30000">
                <a:latin typeface="Times New Roman" pitchFamily="18" charset="0"/>
              </a:rPr>
              <a:t>33</a:t>
            </a:r>
            <a:r>
              <a:rPr lang="en-US" altLang="zh-CN" sz="3200">
                <a:latin typeface="Times New Roman" pitchFamily="18" charset="0"/>
              </a:rPr>
              <a:t>S</a:t>
            </a:r>
            <a:r>
              <a:rPr lang="zh-CN" altLang="en-US" sz="3200">
                <a:latin typeface="Times New Roman" pitchFamily="18" charset="0"/>
              </a:rPr>
              <a:t>对</a:t>
            </a:r>
            <a:r>
              <a:rPr lang="en-US" altLang="zh-CN" sz="3200">
                <a:latin typeface="Times New Roman" pitchFamily="18" charset="0"/>
              </a:rPr>
              <a:t>M+1</a:t>
            </a:r>
            <a:r>
              <a:rPr lang="zh-CN" altLang="en-US" sz="3200">
                <a:latin typeface="Times New Roman" pitchFamily="18" charset="0"/>
              </a:rPr>
              <a:t>的贡献， </a:t>
            </a:r>
            <a:r>
              <a:rPr lang="en-US" altLang="zh-CN" sz="3200">
                <a:latin typeface="Times New Roman" pitchFamily="18" charset="0"/>
              </a:rPr>
              <a:t>C</a:t>
            </a:r>
            <a:r>
              <a:rPr lang="zh-CN" altLang="en-US" sz="3200">
                <a:latin typeface="Times New Roman" pitchFamily="18" charset="0"/>
              </a:rPr>
              <a:t>原子上限数 </a:t>
            </a:r>
            <a:endParaRPr lang="en-US" altLang="zh-CN" sz="3200">
              <a:latin typeface="Times New Roman" pitchFamily="18" charset="0"/>
            </a:endParaRPr>
          </a:p>
          <a:p>
            <a:pPr eaLnBrk="1" hangingPunct="1">
              <a:lnSpc>
                <a:spcPct val="150000"/>
              </a:lnSpc>
              <a:buFont typeface="Wingdings" pitchFamily="2" charset="2"/>
              <a:buNone/>
            </a:pPr>
            <a:r>
              <a:rPr lang="en-US" altLang="zh-CN" sz="3200">
                <a:latin typeface="Times New Roman" pitchFamily="18" charset="0"/>
              </a:rPr>
              <a:t>        (M+1/M -0.8%)÷1.1%≈8</a:t>
            </a:r>
          </a:p>
        </p:txBody>
      </p:sp>
      <p:sp>
        <p:nvSpPr>
          <p:cNvPr id="67589" name="Text Box 2"/>
          <p:cNvSpPr txBox="1">
            <a:spLocks noChangeArrowheads="1"/>
          </p:cNvSpPr>
          <p:nvPr/>
        </p:nvSpPr>
        <p:spPr bwMode="auto">
          <a:xfrm>
            <a:off x="179388" y="2205038"/>
            <a:ext cx="8856662"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Font typeface="Wingdings" pitchFamily="2" charset="2"/>
              <a:buNone/>
            </a:pPr>
            <a:r>
              <a:rPr lang="en-US" altLang="zh-CN" sz="3200">
                <a:latin typeface="Times New Roman" pitchFamily="18" charset="0"/>
              </a:rPr>
              <a:t>C</a:t>
            </a:r>
            <a:r>
              <a:rPr lang="zh-CN" altLang="en-US" sz="3200">
                <a:latin typeface="Times New Roman" pitchFamily="18" charset="0"/>
              </a:rPr>
              <a:t>、分子剩余质量：</a:t>
            </a:r>
            <a:r>
              <a:rPr lang="en-US" altLang="zh-CN" sz="3200">
                <a:latin typeface="Times New Roman" pitchFamily="18" charset="0"/>
              </a:rPr>
              <a:t>140-32-12×8=12</a:t>
            </a:r>
            <a:r>
              <a:rPr lang="zh-CN" altLang="en-US" sz="3200">
                <a:latin typeface="Times New Roman" pitchFamily="18" charset="0"/>
              </a:rPr>
              <a:t>，故分子中不可能含</a:t>
            </a:r>
            <a:r>
              <a:rPr lang="en-US" altLang="zh-CN" sz="3200">
                <a:latin typeface="Times New Roman" pitchFamily="18" charset="0"/>
              </a:rPr>
              <a:t>N</a:t>
            </a:r>
            <a:r>
              <a:rPr lang="zh-CN" altLang="en-US" sz="3200">
                <a:latin typeface="Times New Roman" pitchFamily="18" charset="0"/>
              </a:rPr>
              <a:t>、</a:t>
            </a:r>
            <a:r>
              <a:rPr lang="en-US" altLang="zh-CN" sz="3200">
                <a:latin typeface="Times New Roman" pitchFamily="18" charset="0"/>
              </a:rPr>
              <a:t>O</a:t>
            </a:r>
            <a:r>
              <a:rPr lang="zh-CN" altLang="en-US" sz="3200">
                <a:latin typeface="Times New Roman" pitchFamily="18" charset="0"/>
              </a:rPr>
              <a:t>原子，推出分子式：</a:t>
            </a:r>
            <a:r>
              <a:rPr lang="en-US" altLang="zh-CN" sz="3200">
                <a:solidFill>
                  <a:srgbClr val="0000CC"/>
                </a:solidFill>
                <a:latin typeface="Times New Roman" pitchFamily="18" charset="0"/>
              </a:rPr>
              <a:t>C</a:t>
            </a:r>
            <a:r>
              <a:rPr lang="en-US" altLang="zh-CN" sz="3200" baseline="-25000">
                <a:solidFill>
                  <a:srgbClr val="0000CC"/>
                </a:solidFill>
                <a:latin typeface="Times New Roman" pitchFamily="18" charset="0"/>
              </a:rPr>
              <a:t>8</a:t>
            </a:r>
            <a:r>
              <a:rPr lang="en-US" altLang="zh-CN" sz="3200">
                <a:solidFill>
                  <a:srgbClr val="0000CC"/>
                </a:solidFill>
                <a:latin typeface="Times New Roman" pitchFamily="18" charset="0"/>
              </a:rPr>
              <a:t>H</a:t>
            </a:r>
            <a:r>
              <a:rPr lang="en-US" altLang="zh-CN" sz="3200" baseline="-25000">
                <a:solidFill>
                  <a:srgbClr val="0000CC"/>
                </a:solidFill>
                <a:latin typeface="Times New Roman" pitchFamily="18" charset="0"/>
              </a:rPr>
              <a:t>12</a:t>
            </a:r>
            <a:r>
              <a:rPr lang="en-US" altLang="zh-CN" sz="3200">
                <a:solidFill>
                  <a:srgbClr val="0000CC"/>
                </a:solidFill>
                <a:latin typeface="Times New Roman" pitchFamily="18" charset="0"/>
              </a:rPr>
              <a:t>S</a:t>
            </a:r>
            <a:endParaRPr lang="zh-CN" altLang="en-US" sz="3200">
              <a:latin typeface="Times New Roman" pitchFamily="18" charset="0"/>
            </a:endParaRPr>
          </a:p>
        </p:txBody>
      </p:sp>
      <p:sp>
        <p:nvSpPr>
          <p:cNvPr id="67590" name="Text Box 2"/>
          <p:cNvSpPr txBox="1">
            <a:spLocks noChangeArrowheads="1"/>
          </p:cNvSpPr>
          <p:nvPr/>
        </p:nvSpPr>
        <p:spPr bwMode="auto">
          <a:xfrm>
            <a:off x="179388" y="3709988"/>
            <a:ext cx="8856662" cy="288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685800" eaLnBrk="0" hangingPunct="0">
              <a:defRPr kumimoji="1" sz="2800" b="1">
                <a:solidFill>
                  <a:schemeClr val="tx1"/>
                </a:solidFill>
                <a:latin typeface="楷体_GB2312" pitchFamily="49" charset="-122"/>
                <a:ea typeface="楷体_GB2312" pitchFamily="49" charset="-122"/>
              </a:defRPr>
            </a:lvl1pPr>
            <a:lvl2pPr marL="742950" indent="-285750" defTabSz="685800" eaLnBrk="0" hangingPunct="0">
              <a:defRPr kumimoji="1" sz="2800" b="1">
                <a:solidFill>
                  <a:schemeClr val="tx1"/>
                </a:solidFill>
                <a:latin typeface="楷体_GB2312" pitchFamily="49" charset="-122"/>
                <a:ea typeface="楷体_GB2312" pitchFamily="49" charset="-122"/>
              </a:defRPr>
            </a:lvl2pPr>
            <a:lvl3pPr marL="1143000" indent="-228600" defTabSz="685800" eaLnBrk="0" hangingPunct="0">
              <a:defRPr kumimoji="1" sz="2800" b="1">
                <a:solidFill>
                  <a:schemeClr val="tx1"/>
                </a:solidFill>
                <a:latin typeface="楷体_GB2312" pitchFamily="49" charset="-122"/>
                <a:ea typeface="楷体_GB2312" pitchFamily="49" charset="-122"/>
              </a:defRPr>
            </a:lvl3pPr>
            <a:lvl4pPr marL="1600200" indent="-228600" defTabSz="685800" eaLnBrk="0" hangingPunct="0">
              <a:defRPr kumimoji="1" sz="2800" b="1">
                <a:solidFill>
                  <a:schemeClr val="tx1"/>
                </a:solidFill>
                <a:latin typeface="楷体_GB2312" pitchFamily="49" charset="-122"/>
                <a:ea typeface="楷体_GB2312" pitchFamily="49" charset="-122"/>
              </a:defRPr>
            </a:lvl4pPr>
            <a:lvl5pPr marL="2057400" indent="-228600" defTabSz="685800" eaLnBrk="0" hangingPunct="0">
              <a:defRPr kumimoji="1" sz="2800" b="1">
                <a:solidFill>
                  <a:schemeClr val="tx1"/>
                </a:solidFill>
                <a:latin typeface="楷体_GB2312" pitchFamily="49" charset="-122"/>
                <a:ea typeface="楷体_GB2312" pitchFamily="49" charset="-122"/>
              </a:defRPr>
            </a:lvl5pPr>
            <a:lvl6pPr marL="25146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defTabSz="6858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buFont typeface="Wingdings" pitchFamily="2" charset="2"/>
              <a:buNone/>
            </a:pPr>
            <a:r>
              <a:rPr lang="en-US" altLang="zh-CN" sz="3200">
                <a:latin typeface="Times New Roman" pitchFamily="18" charset="0"/>
              </a:rPr>
              <a:t>D</a:t>
            </a:r>
            <a:r>
              <a:rPr lang="zh-CN" altLang="en-US" sz="3200">
                <a:latin typeface="Times New Roman" pitchFamily="18" charset="0"/>
              </a:rPr>
              <a:t>、若只含</a:t>
            </a:r>
            <a:r>
              <a:rPr lang="en-US" altLang="zh-CN" sz="3200">
                <a:latin typeface="Times New Roman" pitchFamily="18" charset="0"/>
              </a:rPr>
              <a:t>7</a:t>
            </a:r>
            <a:r>
              <a:rPr lang="zh-CN" altLang="en-US" sz="3200">
                <a:latin typeface="Times New Roman" pitchFamily="18" charset="0"/>
              </a:rPr>
              <a:t>个</a:t>
            </a:r>
            <a:r>
              <a:rPr lang="en-US" altLang="zh-CN" sz="3200">
                <a:latin typeface="Times New Roman" pitchFamily="18" charset="0"/>
              </a:rPr>
              <a:t>C</a:t>
            </a:r>
            <a:r>
              <a:rPr lang="zh-CN" altLang="en-US" sz="3200">
                <a:latin typeface="Times New Roman" pitchFamily="18" charset="0"/>
              </a:rPr>
              <a:t>原子，可以组合为如下分子式：</a:t>
            </a:r>
            <a:endParaRPr lang="en-US" altLang="zh-CN" sz="3200">
              <a:latin typeface="Times New Roman" pitchFamily="18" charset="0"/>
            </a:endParaRPr>
          </a:p>
          <a:p>
            <a:pPr eaLnBrk="1" hangingPunct="1">
              <a:lnSpc>
                <a:spcPct val="150000"/>
              </a:lnSpc>
              <a:buFont typeface="Wingdings" pitchFamily="2" charset="2"/>
              <a:buNone/>
            </a:pPr>
            <a:r>
              <a:rPr lang="zh-CN" altLang="en-US" sz="3200">
                <a:latin typeface="Times New Roman" pitchFamily="18" charset="0"/>
              </a:rPr>
              <a:t>  </a:t>
            </a:r>
            <a:r>
              <a:rPr lang="en-US" altLang="zh-CN" sz="3200">
                <a:latin typeface="Times New Roman" pitchFamily="18" charset="0"/>
              </a:rPr>
              <a:t>      C</a:t>
            </a:r>
            <a:r>
              <a:rPr lang="en-US" altLang="zh-CN" sz="3200" baseline="-25000">
                <a:latin typeface="Times New Roman" pitchFamily="18" charset="0"/>
              </a:rPr>
              <a:t>7</a:t>
            </a:r>
            <a:r>
              <a:rPr lang="en-US" altLang="zh-CN" sz="3200">
                <a:latin typeface="Times New Roman" pitchFamily="18" charset="0"/>
              </a:rPr>
              <a:t>H</a:t>
            </a:r>
            <a:r>
              <a:rPr lang="en-US" altLang="zh-CN" sz="3200" baseline="-25000">
                <a:latin typeface="Times New Roman" pitchFamily="18" charset="0"/>
              </a:rPr>
              <a:t>24</a:t>
            </a:r>
            <a:r>
              <a:rPr lang="en-US" altLang="zh-CN" sz="3200">
                <a:latin typeface="Times New Roman" pitchFamily="18" charset="0"/>
              </a:rPr>
              <a:t>S      </a:t>
            </a:r>
            <a:r>
              <a:rPr lang="en-US" altLang="zh-CN" sz="3200">
                <a:solidFill>
                  <a:srgbClr val="0000CC"/>
                </a:solidFill>
                <a:latin typeface="Times New Roman" pitchFamily="18" charset="0"/>
              </a:rPr>
              <a:t>C</a:t>
            </a:r>
            <a:r>
              <a:rPr lang="en-US" altLang="zh-CN" sz="3200" baseline="-25000">
                <a:solidFill>
                  <a:srgbClr val="0000CC"/>
                </a:solidFill>
                <a:latin typeface="Times New Roman" pitchFamily="18" charset="0"/>
              </a:rPr>
              <a:t>7</a:t>
            </a:r>
            <a:r>
              <a:rPr lang="en-US" altLang="zh-CN" sz="3200">
                <a:solidFill>
                  <a:srgbClr val="0000CC"/>
                </a:solidFill>
                <a:latin typeface="Times New Roman" pitchFamily="18" charset="0"/>
              </a:rPr>
              <a:t>H</a:t>
            </a:r>
            <a:r>
              <a:rPr lang="en-US" altLang="zh-CN" sz="3200" baseline="-25000">
                <a:solidFill>
                  <a:srgbClr val="0000CC"/>
                </a:solidFill>
                <a:latin typeface="Times New Roman" pitchFamily="18" charset="0"/>
              </a:rPr>
              <a:t>8</a:t>
            </a:r>
            <a:r>
              <a:rPr lang="en-US" altLang="zh-CN" sz="3200">
                <a:solidFill>
                  <a:srgbClr val="0000CC"/>
                </a:solidFill>
                <a:latin typeface="Times New Roman" pitchFamily="18" charset="0"/>
              </a:rPr>
              <a:t>OS</a:t>
            </a:r>
            <a:r>
              <a:rPr lang="en-US" altLang="zh-CN" sz="3200">
                <a:latin typeface="Times New Roman" pitchFamily="18" charset="0"/>
              </a:rPr>
              <a:t>       C</a:t>
            </a:r>
            <a:r>
              <a:rPr lang="en-US" altLang="zh-CN" sz="3200" baseline="-25000">
                <a:latin typeface="Times New Roman" pitchFamily="18" charset="0"/>
              </a:rPr>
              <a:t>7</a:t>
            </a:r>
            <a:r>
              <a:rPr lang="en-US" altLang="zh-CN" sz="3200">
                <a:latin typeface="Times New Roman" pitchFamily="18" charset="0"/>
              </a:rPr>
              <a:t>H</a:t>
            </a:r>
            <a:r>
              <a:rPr lang="en-US" altLang="zh-CN" sz="3200" baseline="-25000">
                <a:latin typeface="Times New Roman" pitchFamily="18" charset="0"/>
              </a:rPr>
              <a:t>10</a:t>
            </a:r>
            <a:r>
              <a:rPr lang="en-US" altLang="zh-CN" sz="3200">
                <a:latin typeface="Times New Roman" pitchFamily="18" charset="0"/>
              </a:rPr>
              <a:t>NS</a:t>
            </a:r>
          </a:p>
          <a:p>
            <a:pPr eaLnBrk="1" hangingPunct="1">
              <a:lnSpc>
                <a:spcPct val="150000"/>
              </a:lnSpc>
              <a:buFont typeface="Wingdings" pitchFamily="2" charset="2"/>
              <a:buNone/>
            </a:pPr>
            <a:r>
              <a:rPr lang="en-US" altLang="zh-CN" sz="3200">
                <a:latin typeface="Times New Roman" pitchFamily="18" charset="0"/>
              </a:rPr>
              <a:t>      </a:t>
            </a:r>
            <a:r>
              <a:rPr lang="zh-CN" altLang="en-US" sz="3200">
                <a:latin typeface="Times New Roman" pitchFamily="18" charset="0"/>
              </a:rPr>
              <a:t>其中</a:t>
            </a:r>
            <a:r>
              <a:rPr lang="en-US" altLang="zh-CN" sz="3200">
                <a:latin typeface="Times New Roman" pitchFamily="18" charset="0"/>
              </a:rPr>
              <a:t>b</a:t>
            </a:r>
            <a:r>
              <a:rPr lang="zh-CN" altLang="en-US" sz="3200">
                <a:latin typeface="Times New Roman" pitchFamily="18" charset="0"/>
              </a:rPr>
              <a:t>为合理的分子式。根据碎片离子可进一步确定分子式及结构式。</a:t>
            </a:r>
          </a:p>
        </p:txBody>
      </p:sp>
    </p:spTree>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F0086469-C8CC-476F-A7E1-5822B6D9F8AC}"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8611"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361348B-6A19-4D61-A23A-FFCA166C2A27}" type="slidenum">
              <a:rPr lang="en-US" altLang="zh-CN" sz="1200" smtClean="0">
                <a:latin typeface="Verdana" pitchFamily="34" charset="0"/>
                <a:ea typeface="宋体" pitchFamily="2" charset="-122"/>
              </a:rPr>
              <a:pPr eaLnBrk="1" hangingPunct="1">
                <a:lnSpc>
                  <a:spcPct val="100000"/>
                </a:lnSpc>
              </a:pPr>
              <a:t>61</a:t>
            </a:fld>
            <a:endParaRPr lang="en-US" altLang="zh-CN" sz="1200" smtClean="0">
              <a:latin typeface="Verdana" pitchFamily="34" charset="0"/>
              <a:ea typeface="宋体" pitchFamily="2" charset="-122"/>
            </a:endParaRPr>
          </a:p>
        </p:txBody>
      </p:sp>
      <p:sp>
        <p:nvSpPr>
          <p:cNvPr id="68612" name="Text Box 2"/>
          <p:cNvSpPr txBox="1">
            <a:spLocks noChangeArrowheads="1"/>
          </p:cNvSpPr>
          <p:nvPr/>
        </p:nvSpPr>
        <p:spPr bwMode="auto">
          <a:xfrm>
            <a:off x="0" y="115888"/>
            <a:ext cx="913606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sz="3200">
                <a:latin typeface="Times New Roman" pitchFamily="18" charset="0"/>
              </a:rPr>
              <a:t>例</a:t>
            </a:r>
            <a:r>
              <a:rPr lang="en-US" altLang="zh-CN" sz="3200">
                <a:latin typeface="Times New Roman" pitchFamily="18" charset="0"/>
              </a:rPr>
              <a:t>3</a:t>
            </a:r>
            <a:r>
              <a:rPr lang="zh-CN" altLang="en-US" sz="3200">
                <a:latin typeface="Times New Roman" pitchFamily="18" charset="0"/>
              </a:rPr>
              <a:t> 化合物 </a:t>
            </a:r>
            <a:r>
              <a:rPr lang="en-US" altLang="zh-CN" sz="3200">
                <a:latin typeface="Times New Roman" pitchFamily="18" charset="0"/>
              </a:rPr>
              <a:t>A </a:t>
            </a:r>
            <a:r>
              <a:rPr lang="zh-CN" altLang="en-US" sz="3200">
                <a:latin typeface="Times New Roman" pitchFamily="18" charset="0"/>
              </a:rPr>
              <a:t>的质谱数据及图如下，推导其分子式</a:t>
            </a:r>
          </a:p>
        </p:txBody>
      </p:sp>
      <p:pic>
        <p:nvPicPr>
          <p:cNvPr id="68613" name="Picture 3" descr="质谱图５"/>
          <p:cNvPicPr>
            <a:picLocks noChangeAspect="1" noChangeArrowheads="1"/>
          </p:cNvPicPr>
          <p:nvPr/>
        </p:nvPicPr>
        <p:blipFill>
          <a:blip r:embed="rId2">
            <a:extLst>
              <a:ext uri="{28A0092B-C50C-407E-A947-70E740481C1C}">
                <a14:useLocalDpi xmlns:a14="http://schemas.microsoft.com/office/drawing/2010/main" val="0"/>
              </a:ext>
            </a:extLst>
          </a:blip>
          <a:srcRect l="1697" t="5089" r="3561"/>
          <a:stretch>
            <a:fillRect/>
          </a:stretch>
        </p:blipFill>
        <p:spPr bwMode="auto">
          <a:xfrm>
            <a:off x="395288" y="692150"/>
            <a:ext cx="8064500"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4" descr="质谱图４"/>
          <p:cNvPicPr>
            <a:picLocks noChangeAspect="1" noChangeArrowheads="1"/>
          </p:cNvPicPr>
          <p:nvPr/>
        </p:nvPicPr>
        <p:blipFill>
          <a:blip r:embed="rId3">
            <a:extLst>
              <a:ext uri="{28A0092B-C50C-407E-A947-70E740481C1C}">
                <a14:useLocalDpi xmlns:a14="http://schemas.microsoft.com/office/drawing/2010/main" val="0"/>
              </a:ext>
            </a:extLst>
          </a:blip>
          <a:srcRect t="3528" b="15549"/>
          <a:stretch>
            <a:fillRect/>
          </a:stretch>
        </p:blipFill>
        <p:spPr bwMode="auto">
          <a:xfrm>
            <a:off x="179388" y="3544888"/>
            <a:ext cx="4392612" cy="3313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D1B818FC-DAC3-42B2-BB7A-C202BC702778}"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69635"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F5919743-70AF-4C76-B884-9969DFD3A0D8}" type="slidenum">
              <a:rPr lang="en-US" altLang="zh-CN" sz="1200" smtClean="0">
                <a:latin typeface="Verdana" pitchFamily="34" charset="0"/>
                <a:ea typeface="宋体" pitchFamily="2" charset="-122"/>
              </a:rPr>
              <a:pPr eaLnBrk="1" hangingPunct="1">
                <a:lnSpc>
                  <a:spcPct val="100000"/>
                </a:lnSpc>
              </a:pPr>
              <a:t>62</a:t>
            </a:fld>
            <a:endParaRPr lang="en-US" altLang="zh-CN" sz="1200" smtClean="0">
              <a:latin typeface="Verdana" pitchFamily="34" charset="0"/>
              <a:ea typeface="宋体" pitchFamily="2" charset="-122"/>
            </a:endParaRPr>
          </a:p>
        </p:txBody>
      </p:sp>
      <p:pic>
        <p:nvPicPr>
          <p:cNvPr id="69636" name="Picture 2" descr="质谱图４"/>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115888"/>
            <a:ext cx="4392613"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7" name="Text Box 3"/>
          <p:cNvSpPr txBox="1">
            <a:spLocks noChangeArrowheads="1"/>
          </p:cNvSpPr>
          <p:nvPr/>
        </p:nvSpPr>
        <p:spPr bwMode="auto">
          <a:xfrm>
            <a:off x="4460875" y="249238"/>
            <a:ext cx="46482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a:latin typeface="Times New Roman" pitchFamily="18" charset="0"/>
              </a:rPr>
              <a:t>解：设 </a:t>
            </a:r>
            <a:r>
              <a:rPr lang="en-US" altLang="zh-CN">
                <a:latin typeface="Times New Roman" pitchFamily="18" charset="0"/>
              </a:rPr>
              <a:t>m/z 73</a:t>
            </a:r>
            <a:r>
              <a:rPr lang="zh-CN" altLang="en-US">
                <a:latin typeface="Times New Roman" pitchFamily="18" charset="0"/>
              </a:rPr>
              <a:t>为 </a:t>
            </a:r>
            <a:r>
              <a:rPr lang="en-US" altLang="zh-CN">
                <a:latin typeface="Times New Roman" pitchFamily="18" charset="0"/>
              </a:rPr>
              <a:t>M</a:t>
            </a:r>
            <a:r>
              <a:rPr lang="en-US" altLang="zh-CN" baseline="30000">
                <a:latin typeface="Times New Roman" pitchFamily="18" charset="0"/>
              </a:rPr>
              <a:t>+.</a:t>
            </a:r>
          </a:p>
          <a:p>
            <a:pPr eaLnBrk="1" hangingPunct="1">
              <a:lnSpc>
                <a:spcPct val="100000"/>
              </a:lnSpc>
              <a:spcBef>
                <a:spcPct val="50000"/>
              </a:spcBef>
            </a:pPr>
            <a:r>
              <a:rPr lang="en-US" altLang="zh-CN">
                <a:latin typeface="Times New Roman" pitchFamily="18" charset="0"/>
              </a:rPr>
              <a:t>         73-58=15</a:t>
            </a:r>
            <a:r>
              <a:rPr lang="zh-CN" altLang="en-US">
                <a:latin typeface="Times New Roman" pitchFamily="18" charset="0"/>
              </a:rPr>
              <a:t> 为合理丢失峰</a:t>
            </a:r>
            <a:endParaRPr lang="en-US" altLang="zh-CN">
              <a:latin typeface="Times New Roman" pitchFamily="18" charset="0"/>
            </a:endParaRPr>
          </a:p>
          <a:p>
            <a:pPr eaLnBrk="1" hangingPunct="1">
              <a:lnSpc>
                <a:spcPct val="100000"/>
              </a:lnSpc>
              <a:spcBef>
                <a:spcPct val="50000"/>
              </a:spcBef>
            </a:pPr>
            <a:r>
              <a:rPr lang="en-US" altLang="zh-CN">
                <a:latin typeface="Times New Roman" pitchFamily="18" charset="0"/>
              </a:rPr>
              <a:t>           (.CH</a:t>
            </a:r>
            <a:r>
              <a:rPr lang="en-US" altLang="zh-CN" baseline="-25000">
                <a:latin typeface="Times New Roman" pitchFamily="18" charset="0"/>
              </a:rPr>
              <a:t>3</a:t>
            </a:r>
            <a:r>
              <a:rPr lang="en-US" altLang="zh-CN">
                <a:latin typeface="Times New Roman" pitchFamily="18" charset="0"/>
              </a:rPr>
              <a:t>)</a:t>
            </a:r>
          </a:p>
          <a:p>
            <a:pPr eaLnBrk="1" hangingPunct="1">
              <a:lnSpc>
                <a:spcPct val="100000"/>
              </a:lnSpc>
              <a:spcBef>
                <a:spcPct val="50000"/>
              </a:spcBef>
              <a:buFont typeface="Arial" pitchFamily="34" charset="0"/>
              <a:buNone/>
            </a:pPr>
            <a:r>
              <a:rPr lang="zh-CN" altLang="en-US">
                <a:latin typeface="Times New Roman" pitchFamily="18" charset="0"/>
              </a:rPr>
              <a:t>        故 </a:t>
            </a:r>
            <a:r>
              <a:rPr lang="en-US" altLang="zh-CN">
                <a:latin typeface="Times New Roman" pitchFamily="18" charset="0"/>
              </a:rPr>
              <a:t>M</a:t>
            </a:r>
            <a:r>
              <a:rPr lang="en-US" altLang="zh-CN" baseline="30000">
                <a:latin typeface="Times New Roman" pitchFamily="18" charset="0"/>
              </a:rPr>
              <a:t>+. </a:t>
            </a:r>
            <a:r>
              <a:rPr lang="en-US" altLang="zh-CN">
                <a:latin typeface="Times New Roman" pitchFamily="18" charset="0"/>
              </a:rPr>
              <a:t>= 73</a:t>
            </a:r>
            <a:r>
              <a:rPr lang="zh-CN" altLang="en-US">
                <a:latin typeface="Times New Roman" pitchFamily="18" charset="0"/>
              </a:rPr>
              <a:t>，</a:t>
            </a:r>
            <a:r>
              <a:rPr lang="en-US" altLang="zh-CN">
                <a:latin typeface="Times New Roman" pitchFamily="18" charset="0"/>
              </a:rPr>
              <a:t>M+1 = 74</a:t>
            </a:r>
          </a:p>
          <a:p>
            <a:pPr eaLnBrk="1" hangingPunct="1">
              <a:lnSpc>
                <a:spcPct val="150000"/>
              </a:lnSpc>
            </a:pPr>
            <a:r>
              <a:rPr lang="zh-CN" altLang="en-US">
                <a:latin typeface="Times New Roman" pitchFamily="18" charset="0"/>
              </a:rPr>
              <a:t>        因 </a:t>
            </a:r>
            <a:r>
              <a:rPr lang="en-US" altLang="zh-CN">
                <a:latin typeface="Times New Roman" pitchFamily="18" charset="0"/>
              </a:rPr>
              <a:t>M</a:t>
            </a:r>
            <a:r>
              <a:rPr lang="en-US" altLang="zh-CN" baseline="30000">
                <a:latin typeface="Times New Roman" pitchFamily="18" charset="0"/>
              </a:rPr>
              <a:t>+. </a:t>
            </a:r>
            <a:r>
              <a:rPr lang="zh-CN" altLang="en-US">
                <a:latin typeface="Times New Roman" pitchFamily="18" charset="0"/>
              </a:rPr>
              <a:t>的 </a:t>
            </a:r>
            <a:r>
              <a:rPr lang="en-US" altLang="zh-CN">
                <a:latin typeface="Times New Roman" pitchFamily="18" charset="0"/>
              </a:rPr>
              <a:t>m/z </a:t>
            </a:r>
            <a:r>
              <a:rPr lang="zh-CN" altLang="en-US">
                <a:latin typeface="Times New Roman" pitchFamily="18" charset="0"/>
              </a:rPr>
              <a:t>为奇数</a:t>
            </a:r>
            <a:endParaRPr lang="en-US" altLang="zh-CN">
              <a:latin typeface="Times New Roman" pitchFamily="18" charset="0"/>
            </a:endParaRPr>
          </a:p>
        </p:txBody>
      </p:sp>
      <p:sp>
        <p:nvSpPr>
          <p:cNvPr id="69638" name="Text Box 4"/>
          <p:cNvSpPr txBox="1">
            <a:spLocks noChangeArrowheads="1"/>
          </p:cNvSpPr>
          <p:nvPr/>
        </p:nvSpPr>
        <p:spPr bwMode="auto">
          <a:xfrm>
            <a:off x="0" y="4267200"/>
            <a:ext cx="914400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a:latin typeface="Times New Roman" pitchFamily="18" charset="0"/>
              </a:rPr>
              <a:t>    </a:t>
            </a:r>
            <a:r>
              <a:rPr lang="en-US" altLang="zh-CN">
                <a:latin typeface="Times New Roman" pitchFamily="18" charset="0"/>
                <a:cs typeface="Times New Roman" pitchFamily="18" charset="0"/>
              </a:rPr>
              <a:t>n</a:t>
            </a:r>
            <a:r>
              <a:rPr lang="en-US" altLang="zh-CN" baseline="-25000">
                <a:latin typeface="Times New Roman" pitchFamily="18" charset="0"/>
                <a:cs typeface="Times New Roman" pitchFamily="18" charset="0"/>
              </a:rPr>
              <a:t>C</a:t>
            </a:r>
            <a:r>
              <a:rPr lang="en-US" altLang="zh-CN">
                <a:latin typeface="Times New Roman" pitchFamily="18" charset="0"/>
                <a:cs typeface="Times New Roman" pitchFamily="18" charset="0"/>
              </a:rPr>
              <a:t> = (1.9/31*100-0.36)/1.1</a:t>
            </a:r>
            <a:r>
              <a:rPr lang="zh-CN" altLang="en-US">
                <a:latin typeface="Times New Roman" pitchFamily="18" charset="0"/>
                <a:cs typeface="Times New Roman" pitchFamily="18" charset="0"/>
              </a:rPr>
              <a:t>≌ </a:t>
            </a:r>
            <a:r>
              <a:rPr lang="en-US" altLang="zh-CN">
                <a:latin typeface="Times New Roman" pitchFamily="18" charset="0"/>
                <a:cs typeface="Times New Roman" pitchFamily="18" charset="0"/>
              </a:rPr>
              <a:t>5</a:t>
            </a:r>
            <a:r>
              <a:rPr lang="zh-CN" altLang="en-US">
                <a:latin typeface="Times New Roman" pitchFamily="18" charset="0"/>
                <a:cs typeface="Times New Roman" pitchFamily="18" charset="0"/>
              </a:rPr>
              <a:t>，若为</a:t>
            </a:r>
            <a:r>
              <a:rPr lang="en-US" altLang="zh-CN">
                <a:latin typeface="Times New Roman" pitchFamily="18" charset="0"/>
                <a:cs typeface="Times New Roman" pitchFamily="18" charset="0"/>
              </a:rPr>
              <a:t>5</a:t>
            </a:r>
            <a:r>
              <a:rPr lang="zh-CN" altLang="en-US">
                <a:latin typeface="Times New Roman" pitchFamily="18" charset="0"/>
                <a:cs typeface="Times New Roman" pitchFamily="18" charset="0"/>
              </a:rPr>
              <a:t>，则分子式为</a:t>
            </a:r>
            <a:r>
              <a:rPr lang="en-US" altLang="zh-CN">
                <a:latin typeface="Times New Roman" pitchFamily="18" charset="0"/>
                <a:cs typeface="Times New Roman" pitchFamily="18" charset="0"/>
              </a:rPr>
              <a:t>C</a:t>
            </a:r>
            <a:r>
              <a:rPr lang="en-US" altLang="zh-CN" baseline="-25000">
                <a:latin typeface="Times New Roman" pitchFamily="18" charset="0"/>
                <a:cs typeface="Times New Roman" pitchFamily="18" charset="0"/>
              </a:rPr>
              <a:t>5</a:t>
            </a:r>
            <a:r>
              <a:rPr lang="en-US" altLang="zh-CN">
                <a:latin typeface="Times New Roman" pitchFamily="18" charset="0"/>
                <a:cs typeface="Times New Roman" pitchFamily="18" charset="0"/>
              </a:rPr>
              <a:t>N</a:t>
            </a:r>
            <a:r>
              <a:rPr lang="zh-CN" altLang="en-US">
                <a:latin typeface="Times New Roman" pitchFamily="18" charset="0"/>
                <a:cs typeface="Times New Roman" pitchFamily="18" charset="0"/>
              </a:rPr>
              <a:t>，</a:t>
            </a:r>
          </a:p>
          <a:p>
            <a:pPr eaLnBrk="1" hangingPunct="1">
              <a:lnSpc>
                <a:spcPct val="100000"/>
              </a:lnSpc>
              <a:spcBef>
                <a:spcPct val="50000"/>
              </a:spcBef>
            </a:pPr>
            <a:r>
              <a:rPr lang="en-US" altLang="zh-CN">
                <a:latin typeface="Times New Roman" pitchFamily="18" charset="0"/>
                <a:cs typeface="Times New Roman" pitchFamily="18" charset="0"/>
              </a:rPr>
              <a:t>M</a:t>
            </a:r>
            <a:r>
              <a:rPr lang="en-US" altLang="zh-CN">
                <a:latin typeface="Times New Roman" pitchFamily="18" charset="0"/>
                <a:cs typeface="Times New Roman" pitchFamily="18" charset="0"/>
                <a:sym typeface="Symbol" pitchFamily="18" charset="2"/>
              </a:rPr>
              <a:t></a:t>
            </a:r>
            <a:r>
              <a:rPr lang="en-US" altLang="zh-CN">
                <a:latin typeface="Times New Roman" pitchFamily="18" charset="0"/>
                <a:cs typeface="Times New Roman" pitchFamily="18" charset="0"/>
              </a:rPr>
              <a:t>73</a:t>
            </a:r>
            <a:r>
              <a:rPr lang="zh-CN" altLang="en-US">
                <a:latin typeface="Times New Roman" pitchFamily="18" charset="0"/>
                <a:cs typeface="Times New Roman" pitchFamily="18" charset="0"/>
              </a:rPr>
              <a:t>，不合理；若</a:t>
            </a:r>
            <a:r>
              <a:rPr lang="en-US" altLang="zh-CN">
                <a:latin typeface="Times New Roman" pitchFamily="18" charset="0"/>
                <a:cs typeface="Times New Roman" pitchFamily="18" charset="0"/>
              </a:rPr>
              <a:t>n</a:t>
            </a:r>
            <a:r>
              <a:rPr lang="en-US" altLang="zh-CN" baseline="-25000">
                <a:latin typeface="Times New Roman" pitchFamily="18" charset="0"/>
                <a:cs typeface="Times New Roman" pitchFamily="18" charset="0"/>
              </a:rPr>
              <a:t>C</a:t>
            </a:r>
            <a:r>
              <a:rPr lang="zh-CN" altLang="en-US">
                <a:latin typeface="Times New Roman" pitchFamily="18" charset="0"/>
                <a:cs typeface="Times New Roman" pitchFamily="18" charset="0"/>
              </a:rPr>
              <a:t>为</a:t>
            </a:r>
            <a:r>
              <a:rPr lang="en-US" altLang="zh-CN">
                <a:latin typeface="Times New Roman" pitchFamily="18" charset="0"/>
                <a:cs typeface="Times New Roman" pitchFamily="18" charset="0"/>
              </a:rPr>
              <a:t>4</a:t>
            </a:r>
            <a:r>
              <a:rPr lang="zh-CN" altLang="en-US">
                <a:latin typeface="Times New Roman" pitchFamily="18" charset="0"/>
                <a:cs typeface="Times New Roman" pitchFamily="18" charset="0"/>
              </a:rPr>
              <a:t>，</a:t>
            </a:r>
            <a:endParaRPr lang="en-US" altLang="zh-CN">
              <a:latin typeface="Times New Roman" pitchFamily="18" charset="0"/>
              <a:cs typeface="Times New Roman" pitchFamily="18" charset="0"/>
            </a:endParaRPr>
          </a:p>
          <a:p>
            <a:pPr eaLnBrk="1" hangingPunct="1">
              <a:lnSpc>
                <a:spcPct val="100000"/>
              </a:lnSpc>
              <a:spcBef>
                <a:spcPct val="50000"/>
              </a:spcBef>
            </a:pPr>
            <a:r>
              <a:rPr lang="zh-CN" altLang="en-US">
                <a:latin typeface="Times New Roman" pitchFamily="18" charset="0"/>
                <a:cs typeface="Times New Roman" pitchFamily="18" charset="0"/>
              </a:rPr>
              <a:t>则</a:t>
            </a:r>
            <a:r>
              <a:rPr lang="en-US" altLang="zh-CN">
                <a:latin typeface="Times New Roman" pitchFamily="18" charset="0"/>
                <a:cs typeface="Times New Roman" pitchFamily="18" charset="0"/>
              </a:rPr>
              <a:t>73</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14</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12×4</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11</a:t>
            </a:r>
            <a:r>
              <a:rPr lang="zh-CN" altLang="en-US">
                <a:latin typeface="Times New Roman" pitchFamily="18" charset="0"/>
                <a:cs typeface="Times New Roman" pitchFamily="18" charset="0"/>
              </a:rPr>
              <a:t>，可能的分子式为 </a:t>
            </a:r>
            <a:r>
              <a:rPr lang="en-US" altLang="zh-CN">
                <a:solidFill>
                  <a:srgbClr val="0000CC"/>
                </a:solidFill>
                <a:latin typeface="Times New Roman" pitchFamily="18" charset="0"/>
                <a:cs typeface="Times New Roman" pitchFamily="18" charset="0"/>
              </a:rPr>
              <a:t>C</a:t>
            </a:r>
            <a:r>
              <a:rPr lang="en-US" altLang="zh-CN" baseline="-25000">
                <a:solidFill>
                  <a:srgbClr val="0000CC"/>
                </a:solidFill>
                <a:latin typeface="Times New Roman" pitchFamily="18" charset="0"/>
                <a:cs typeface="Times New Roman" pitchFamily="18" charset="0"/>
              </a:rPr>
              <a:t>4</a:t>
            </a:r>
            <a:r>
              <a:rPr lang="en-US" altLang="zh-CN">
                <a:solidFill>
                  <a:srgbClr val="0000CC"/>
                </a:solidFill>
                <a:latin typeface="Times New Roman" pitchFamily="18" charset="0"/>
                <a:cs typeface="Times New Roman" pitchFamily="18" charset="0"/>
              </a:rPr>
              <a:t>H</a:t>
            </a:r>
            <a:r>
              <a:rPr lang="en-US" altLang="zh-CN" baseline="-25000">
                <a:solidFill>
                  <a:srgbClr val="0000CC"/>
                </a:solidFill>
                <a:latin typeface="Times New Roman" pitchFamily="18" charset="0"/>
                <a:cs typeface="Times New Roman" pitchFamily="18" charset="0"/>
              </a:rPr>
              <a:t>11</a:t>
            </a:r>
            <a:r>
              <a:rPr lang="en-US" altLang="zh-CN">
                <a:solidFill>
                  <a:srgbClr val="0000CC"/>
                </a:solidFill>
                <a:latin typeface="Times New Roman" pitchFamily="18" charset="0"/>
                <a:cs typeface="Times New Roman" pitchFamily="18" charset="0"/>
              </a:rPr>
              <a:t>N</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Ω</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0</a:t>
            </a:r>
          </a:p>
          <a:p>
            <a:pPr eaLnBrk="1" hangingPunct="1">
              <a:lnSpc>
                <a:spcPct val="100000"/>
              </a:lnSpc>
              <a:spcBef>
                <a:spcPct val="50000"/>
              </a:spcBef>
            </a:pPr>
            <a:r>
              <a:rPr lang="zh-CN" altLang="en-US">
                <a:latin typeface="Times New Roman" pitchFamily="18" charset="0"/>
                <a:cs typeface="Times New Roman" pitchFamily="18" charset="0"/>
              </a:rPr>
              <a:t>合理！</a:t>
            </a:r>
          </a:p>
        </p:txBody>
      </p:sp>
      <p:sp>
        <p:nvSpPr>
          <p:cNvPr id="69639" name="Text Box 3"/>
          <p:cNvSpPr txBox="1">
            <a:spLocks noChangeArrowheads="1"/>
          </p:cNvSpPr>
          <p:nvPr/>
        </p:nvSpPr>
        <p:spPr bwMode="auto">
          <a:xfrm>
            <a:off x="5618163" y="3429000"/>
            <a:ext cx="2305050" cy="584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sz="3200">
                <a:latin typeface="Times New Roman" pitchFamily="18" charset="0"/>
              </a:rPr>
              <a:t>有奇数个氮</a:t>
            </a: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D33BDCAC-7112-4E42-8BB1-7A859A77E069}"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7065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D1A2375-91A5-4D1F-A09E-CA3053D945E1}" type="slidenum">
              <a:rPr lang="en-US" altLang="zh-CN" sz="1200" smtClean="0">
                <a:latin typeface="Verdana" pitchFamily="34" charset="0"/>
                <a:ea typeface="宋体" pitchFamily="2" charset="-122"/>
              </a:rPr>
              <a:pPr eaLnBrk="1" hangingPunct="1">
                <a:lnSpc>
                  <a:spcPct val="100000"/>
                </a:lnSpc>
              </a:pPr>
              <a:t>63</a:t>
            </a:fld>
            <a:endParaRPr lang="en-US" altLang="zh-CN" sz="1200" smtClean="0">
              <a:latin typeface="Verdana" pitchFamily="34" charset="0"/>
              <a:ea typeface="宋体" pitchFamily="2" charset="-122"/>
            </a:endParaRPr>
          </a:p>
        </p:txBody>
      </p:sp>
      <p:pic>
        <p:nvPicPr>
          <p:cNvPr id="70660" name="Picture 4" descr="质谱图８"/>
          <p:cNvPicPr>
            <a:picLocks noChangeAspect="1" noChangeArrowheads="1"/>
          </p:cNvPicPr>
          <p:nvPr/>
        </p:nvPicPr>
        <p:blipFill>
          <a:blip r:embed="rId2">
            <a:extLst>
              <a:ext uri="{28A0092B-C50C-407E-A947-70E740481C1C}">
                <a14:useLocalDpi xmlns:a14="http://schemas.microsoft.com/office/drawing/2010/main" val="0"/>
              </a:ext>
            </a:extLst>
          </a:blip>
          <a:srcRect t="8511" b="4221"/>
          <a:stretch>
            <a:fillRect/>
          </a:stretch>
        </p:blipFill>
        <p:spPr bwMode="auto">
          <a:xfrm>
            <a:off x="395288" y="908050"/>
            <a:ext cx="8153400" cy="312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1" name="Picture 5"/>
          <p:cNvPicPr>
            <a:picLocks noChangeAspect="1" noChangeArrowheads="1"/>
          </p:cNvPicPr>
          <p:nvPr/>
        </p:nvPicPr>
        <p:blipFill>
          <a:blip r:embed="rId3">
            <a:extLst>
              <a:ext uri="{28A0092B-C50C-407E-A947-70E740481C1C}">
                <a14:useLocalDpi xmlns:a14="http://schemas.microsoft.com/office/drawing/2010/main" val="0"/>
              </a:ext>
            </a:extLst>
          </a:blip>
          <a:srcRect t="2454" r="2702" b="18294"/>
          <a:stretch>
            <a:fillRect/>
          </a:stretch>
        </p:blipFill>
        <p:spPr bwMode="auto">
          <a:xfrm>
            <a:off x="1187450" y="4076700"/>
            <a:ext cx="411480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2" name="Text Box 6"/>
          <p:cNvSpPr txBox="1">
            <a:spLocks noChangeArrowheads="1"/>
          </p:cNvSpPr>
          <p:nvPr/>
        </p:nvSpPr>
        <p:spPr bwMode="auto">
          <a:xfrm>
            <a:off x="395288" y="333375"/>
            <a:ext cx="8281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zh-CN" altLang="en-US"/>
              <a:t>练习</a:t>
            </a:r>
            <a:r>
              <a:rPr lang="en-US" altLang="zh-CN"/>
              <a:t>1 </a:t>
            </a:r>
            <a:r>
              <a:rPr lang="zh-CN" altLang="en-US"/>
              <a:t>化合物的质谱数据及图如下，推导其分子式</a:t>
            </a:r>
          </a:p>
        </p:txBody>
      </p:sp>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B913AE3B-06AF-4ECB-914E-A67605F9921A}"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71683"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4AFC1EA6-CB7E-4CD1-B25B-BE62833E4846}" type="slidenum">
              <a:rPr lang="en-US" altLang="zh-CN" sz="1200" smtClean="0">
                <a:latin typeface="Verdana" pitchFamily="34" charset="0"/>
                <a:ea typeface="宋体" pitchFamily="2" charset="-122"/>
              </a:rPr>
              <a:pPr eaLnBrk="1" hangingPunct="1">
                <a:lnSpc>
                  <a:spcPct val="100000"/>
                </a:lnSpc>
              </a:pPr>
              <a:t>64</a:t>
            </a:fld>
            <a:endParaRPr lang="en-US" altLang="zh-CN" sz="1200" smtClean="0">
              <a:latin typeface="Verdana" pitchFamily="34" charset="0"/>
              <a:ea typeface="宋体" pitchFamily="2" charset="-122"/>
            </a:endParaRPr>
          </a:p>
        </p:txBody>
      </p:sp>
      <p:pic>
        <p:nvPicPr>
          <p:cNvPr id="71684" name="Picture 2" descr="质谱图９"/>
          <p:cNvPicPr>
            <a:picLocks noChangeAspect="1" noChangeArrowheads="1"/>
          </p:cNvPicPr>
          <p:nvPr/>
        </p:nvPicPr>
        <p:blipFill>
          <a:blip r:embed="rId2">
            <a:extLst>
              <a:ext uri="{28A0092B-C50C-407E-A947-70E740481C1C}">
                <a14:useLocalDpi xmlns:a14="http://schemas.microsoft.com/office/drawing/2010/main" val="0"/>
              </a:ext>
            </a:extLst>
          </a:blip>
          <a:srcRect b="16583"/>
          <a:stretch>
            <a:fillRect/>
          </a:stretch>
        </p:blipFill>
        <p:spPr bwMode="auto">
          <a:xfrm>
            <a:off x="4667250" y="260350"/>
            <a:ext cx="4476750" cy="274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Text Box 3"/>
          <p:cNvSpPr txBox="1">
            <a:spLocks noChangeArrowheads="1"/>
          </p:cNvSpPr>
          <p:nvPr/>
        </p:nvSpPr>
        <p:spPr bwMode="auto">
          <a:xfrm>
            <a:off x="107950" y="115888"/>
            <a:ext cx="4679950"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ct val="50000"/>
              </a:spcBef>
            </a:pPr>
            <a:r>
              <a:rPr lang="en-US" altLang="zh-CN">
                <a:latin typeface="Times New Roman" pitchFamily="18" charset="0"/>
              </a:rPr>
              <a:t> </a:t>
            </a:r>
            <a:r>
              <a:rPr lang="zh-CN" altLang="en-US" sz="2500">
                <a:latin typeface="Times New Roman" pitchFamily="18" charset="0"/>
              </a:rPr>
              <a:t>解：</a:t>
            </a:r>
            <a:r>
              <a:rPr lang="en-US" altLang="zh-CN" sz="2500">
                <a:latin typeface="Times New Roman" pitchFamily="18" charset="0"/>
              </a:rPr>
              <a:t>m/z 164 </a:t>
            </a:r>
            <a:r>
              <a:rPr lang="zh-CN" altLang="en-US" sz="2500">
                <a:latin typeface="Times New Roman" pitchFamily="18" charset="0"/>
              </a:rPr>
              <a:t>与 </a:t>
            </a:r>
            <a:r>
              <a:rPr lang="en-US" altLang="zh-CN" sz="2500">
                <a:latin typeface="Times New Roman" pitchFamily="18" charset="0"/>
              </a:rPr>
              <a:t>166</a:t>
            </a:r>
            <a:r>
              <a:rPr lang="zh-CN" altLang="en-US" sz="2500">
                <a:latin typeface="Times New Roman" pitchFamily="18" charset="0"/>
              </a:rPr>
              <a:t>，</a:t>
            </a:r>
            <a:r>
              <a:rPr lang="en-US" altLang="zh-CN" sz="2500">
                <a:latin typeface="Times New Roman" pitchFamily="18" charset="0"/>
              </a:rPr>
              <a:t>135 </a:t>
            </a:r>
            <a:r>
              <a:rPr lang="zh-CN" altLang="en-US" sz="2500">
                <a:latin typeface="Times New Roman" pitchFamily="18" charset="0"/>
              </a:rPr>
              <a:t>与 </a:t>
            </a:r>
            <a:r>
              <a:rPr lang="en-US" altLang="zh-CN" sz="2500">
                <a:latin typeface="Times New Roman" pitchFamily="18" charset="0"/>
              </a:rPr>
              <a:t>137 </a:t>
            </a:r>
            <a:r>
              <a:rPr lang="zh-CN" altLang="en-US" sz="2500">
                <a:latin typeface="Times New Roman" pitchFamily="18" charset="0"/>
              </a:rPr>
              <a:t>的相对强度之比均近似为</a:t>
            </a:r>
            <a:r>
              <a:rPr lang="en-US" altLang="zh-CN" sz="2500">
                <a:latin typeface="Times New Roman" pitchFamily="18" charset="0"/>
              </a:rPr>
              <a:t>1</a:t>
            </a:r>
            <a:r>
              <a:rPr lang="zh-CN" altLang="en-US" sz="2500">
                <a:latin typeface="Times New Roman" pitchFamily="18" charset="0"/>
              </a:rPr>
              <a:t>：</a:t>
            </a:r>
            <a:r>
              <a:rPr lang="en-US" altLang="zh-CN" sz="2500">
                <a:latin typeface="Times New Roman" pitchFamily="18" charset="0"/>
              </a:rPr>
              <a:t>1</a:t>
            </a:r>
          </a:p>
          <a:p>
            <a:pPr eaLnBrk="1" hangingPunct="1">
              <a:lnSpc>
                <a:spcPct val="150000"/>
              </a:lnSpc>
            </a:pPr>
            <a:r>
              <a:rPr lang="en-US" altLang="zh-CN" sz="2500">
                <a:latin typeface="Times New Roman" pitchFamily="18" charset="0"/>
              </a:rPr>
              <a:t>   164 –</a:t>
            </a:r>
            <a:r>
              <a:rPr lang="zh-CN" altLang="en-US" sz="2500">
                <a:latin typeface="Times New Roman" pitchFamily="18" charset="0"/>
              </a:rPr>
              <a:t> </a:t>
            </a:r>
            <a:r>
              <a:rPr lang="en-US" altLang="zh-CN" sz="2500">
                <a:latin typeface="Times New Roman" pitchFamily="18" charset="0"/>
              </a:rPr>
              <a:t>135 = 29</a:t>
            </a:r>
          </a:p>
          <a:p>
            <a:pPr eaLnBrk="1" hangingPunct="1">
              <a:lnSpc>
                <a:spcPct val="150000"/>
              </a:lnSpc>
            </a:pPr>
            <a:r>
              <a:rPr lang="en-US" altLang="zh-CN" sz="2500">
                <a:latin typeface="Times New Roman" pitchFamily="18" charset="0"/>
              </a:rPr>
              <a:t>   164 -</a:t>
            </a:r>
            <a:r>
              <a:rPr lang="zh-CN" altLang="en-US" sz="2500">
                <a:latin typeface="Times New Roman" pitchFamily="18" charset="0"/>
              </a:rPr>
              <a:t> </a:t>
            </a:r>
            <a:r>
              <a:rPr lang="en-US" altLang="zh-CN" sz="2500">
                <a:latin typeface="Times New Roman" pitchFamily="18" charset="0"/>
              </a:rPr>
              <a:t>85 =79</a:t>
            </a:r>
            <a:r>
              <a:rPr lang="zh-CN" altLang="en-US" sz="2500">
                <a:latin typeface="Times New Roman" pitchFamily="18" charset="0"/>
              </a:rPr>
              <a:t>，合理</a:t>
            </a:r>
            <a:endParaRPr lang="en-US" altLang="zh-CN" sz="2500">
              <a:latin typeface="Times New Roman" pitchFamily="18" charset="0"/>
            </a:endParaRPr>
          </a:p>
          <a:p>
            <a:pPr eaLnBrk="1" hangingPunct="1">
              <a:lnSpc>
                <a:spcPct val="150000"/>
              </a:lnSpc>
              <a:spcBef>
                <a:spcPct val="50000"/>
              </a:spcBef>
            </a:pPr>
            <a:r>
              <a:rPr lang="zh-CN" altLang="en-US" sz="2500">
                <a:latin typeface="Times New Roman" pitchFamily="18" charset="0"/>
              </a:rPr>
              <a:t>  故  </a:t>
            </a:r>
            <a:r>
              <a:rPr lang="en-US" altLang="zh-CN" sz="2500">
                <a:latin typeface="Times New Roman" pitchFamily="18" charset="0"/>
              </a:rPr>
              <a:t>M=164</a:t>
            </a:r>
            <a:r>
              <a:rPr lang="zh-CN" altLang="en-US" sz="2500">
                <a:latin typeface="Times New Roman" pitchFamily="18" charset="0"/>
              </a:rPr>
              <a:t>，合理。</a:t>
            </a:r>
            <a:endParaRPr lang="zh-CN" altLang="en-US" sz="2500">
              <a:latin typeface="Verdana" pitchFamily="34" charset="0"/>
            </a:endParaRPr>
          </a:p>
        </p:txBody>
      </p:sp>
      <p:sp>
        <p:nvSpPr>
          <p:cNvPr id="71686" name="Text Box 4"/>
          <p:cNvSpPr txBox="1">
            <a:spLocks noChangeArrowheads="1"/>
          </p:cNvSpPr>
          <p:nvPr/>
        </p:nvSpPr>
        <p:spPr bwMode="auto">
          <a:xfrm>
            <a:off x="328613" y="4508500"/>
            <a:ext cx="8456612"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a:latin typeface="Times New Roman" pitchFamily="18" charset="0"/>
                <a:ea typeface="微软雅黑" pitchFamily="34" charset="-122"/>
                <a:cs typeface="Times New Roman" pitchFamily="18" charset="0"/>
              </a:rPr>
              <a:t>C</a:t>
            </a:r>
            <a:r>
              <a:rPr lang="zh-CN" altLang="en-US">
                <a:latin typeface="Times New Roman" pitchFamily="18" charset="0"/>
                <a:ea typeface="微软雅黑" pitchFamily="34" charset="-122"/>
                <a:cs typeface="Times New Roman" pitchFamily="18" charset="0"/>
              </a:rPr>
              <a:t>原子数上限</a:t>
            </a:r>
            <a:r>
              <a:rPr lang="zh-CN" altLang="en-US">
                <a:latin typeface="Verdana" pitchFamily="34" charset="0"/>
                <a:ea typeface="微软雅黑" pitchFamily="34" charset="-122"/>
                <a:cs typeface="Times New Roman" pitchFamily="18" charset="0"/>
              </a:rPr>
              <a:t>：</a:t>
            </a:r>
            <a:r>
              <a:rPr lang="en-US" altLang="zh-CN">
                <a:latin typeface="Times New Roman" pitchFamily="18" charset="0"/>
                <a:ea typeface="微软雅黑" pitchFamily="34" charset="-122"/>
                <a:cs typeface="Times New Roman" pitchFamily="18" charset="0"/>
              </a:rPr>
              <a:t>(M+1/M )÷1.1%≈6,</a:t>
            </a:r>
          </a:p>
          <a:p>
            <a:pPr eaLnBrk="1" hangingPunct="1">
              <a:lnSpc>
                <a:spcPct val="100000"/>
              </a:lnSpc>
              <a:spcBef>
                <a:spcPct val="50000"/>
              </a:spcBef>
            </a:pPr>
            <a:r>
              <a:rPr lang="zh-CN" altLang="en-US">
                <a:latin typeface="Times New Roman" pitchFamily="18" charset="0"/>
                <a:ea typeface="微软雅黑" pitchFamily="34" charset="-122"/>
                <a:cs typeface="Times New Roman" pitchFamily="18" charset="0"/>
              </a:rPr>
              <a:t>若为 </a:t>
            </a:r>
            <a:r>
              <a:rPr lang="en-US" altLang="zh-CN">
                <a:latin typeface="Times New Roman" pitchFamily="18" charset="0"/>
                <a:ea typeface="微软雅黑" pitchFamily="34" charset="-122"/>
                <a:cs typeface="Times New Roman" pitchFamily="18" charset="0"/>
              </a:rPr>
              <a:t>6 </a:t>
            </a:r>
            <a:r>
              <a:rPr lang="zh-CN" altLang="en-US">
                <a:latin typeface="Times New Roman" pitchFamily="18" charset="0"/>
                <a:ea typeface="微软雅黑" pitchFamily="34" charset="-122"/>
                <a:cs typeface="Times New Roman" pitchFamily="18" charset="0"/>
              </a:rPr>
              <a:t>，则</a:t>
            </a:r>
            <a:r>
              <a:rPr lang="en-US" altLang="zh-CN">
                <a:latin typeface="Times New Roman" pitchFamily="18" charset="0"/>
                <a:ea typeface="微软雅黑" pitchFamily="34" charset="-122"/>
                <a:cs typeface="Times New Roman" pitchFamily="18" charset="0"/>
              </a:rPr>
              <a:t>85</a:t>
            </a:r>
            <a:r>
              <a:rPr lang="zh-CN" altLang="en-US">
                <a:latin typeface="Times New Roman" pitchFamily="18" charset="0"/>
                <a:ea typeface="微软雅黑" pitchFamily="34" charset="-122"/>
                <a:cs typeface="Times New Roman" pitchFamily="18" charset="0"/>
              </a:rPr>
              <a:t>－</a:t>
            </a:r>
            <a:r>
              <a:rPr lang="en-US" altLang="zh-CN">
                <a:latin typeface="Times New Roman" pitchFamily="18" charset="0"/>
                <a:ea typeface="微软雅黑" pitchFamily="34" charset="-122"/>
                <a:cs typeface="Times New Roman" pitchFamily="18" charset="0"/>
              </a:rPr>
              <a:t>12×6</a:t>
            </a:r>
            <a:r>
              <a:rPr lang="zh-CN" altLang="en-US">
                <a:latin typeface="Times New Roman" pitchFamily="18" charset="0"/>
                <a:ea typeface="微软雅黑" pitchFamily="34" charset="-122"/>
                <a:cs typeface="Times New Roman" pitchFamily="18" charset="0"/>
              </a:rPr>
              <a:t>＝</a:t>
            </a:r>
            <a:r>
              <a:rPr lang="en-US" altLang="zh-CN">
                <a:latin typeface="Times New Roman" pitchFamily="18" charset="0"/>
                <a:ea typeface="微软雅黑" pitchFamily="34" charset="-122"/>
                <a:cs typeface="Times New Roman" pitchFamily="18" charset="0"/>
              </a:rPr>
              <a:t>13</a:t>
            </a:r>
            <a:r>
              <a:rPr lang="zh-CN" altLang="en-US">
                <a:latin typeface="Times New Roman" pitchFamily="18" charset="0"/>
                <a:ea typeface="微软雅黑" pitchFamily="34" charset="-122"/>
                <a:cs typeface="Times New Roman" pitchFamily="18" charset="0"/>
              </a:rPr>
              <a:t>，可能的分子式为</a:t>
            </a:r>
            <a:r>
              <a:rPr lang="en-US" altLang="zh-CN">
                <a:solidFill>
                  <a:srgbClr val="0000CC"/>
                </a:solidFill>
                <a:latin typeface="Times New Roman" pitchFamily="18" charset="0"/>
                <a:ea typeface="微软雅黑" pitchFamily="34" charset="-122"/>
                <a:cs typeface="Times New Roman" pitchFamily="18" charset="0"/>
              </a:rPr>
              <a:t>C</a:t>
            </a:r>
            <a:r>
              <a:rPr lang="en-US" altLang="zh-CN" baseline="-25000">
                <a:solidFill>
                  <a:srgbClr val="0000CC"/>
                </a:solidFill>
                <a:latin typeface="Times New Roman" pitchFamily="18" charset="0"/>
                <a:ea typeface="微软雅黑" pitchFamily="34" charset="-122"/>
                <a:cs typeface="Times New Roman" pitchFamily="18" charset="0"/>
              </a:rPr>
              <a:t>6</a:t>
            </a:r>
            <a:r>
              <a:rPr lang="en-US" altLang="zh-CN">
                <a:solidFill>
                  <a:srgbClr val="0000CC"/>
                </a:solidFill>
                <a:latin typeface="Times New Roman" pitchFamily="18" charset="0"/>
                <a:ea typeface="微软雅黑" pitchFamily="34" charset="-122"/>
                <a:cs typeface="Times New Roman" pitchFamily="18" charset="0"/>
              </a:rPr>
              <a:t>H</a:t>
            </a:r>
            <a:r>
              <a:rPr lang="en-US" altLang="zh-CN" baseline="-25000">
                <a:solidFill>
                  <a:srgbClr val="0000CC"/>
                </a:solidFill>
                <a:latin typeface="Times New Roman" pitchFamily="18" charset="0"/>
                <a:ea typeface="微软雅黑" pitchFamily="34" charset="-122"/>
                <a:cs typeface="Times New Roman" pitchFamily="18" charset="0"/>
              </a:rPr>
              <a:t>13</a:t>
            </a:r>
            <a:r>
              <a:rPr lang="en-US" altLang="zh-CN">
                <a:solidFill>
                  <a:srgbClr val="0000CC"/>
                </a:solidFill>
                <a:latin typeface="Times New Roman" pitchFamily="18" charset="0"/>
                <a:ea typeface="微软雅黑" pitchFamily="34" charset="-122"/>
                <a:cs typeface="Times New Roman" pitchFamily="18" charset="0"/>
              </a:rPr>
              <a:t>Br</a:t>
            </a:r>
            <a:r>
              <a:rPr lang="zh-CN" altLang="en-US">
                <a:latin typeface="Times New Roman" pitchFamily="18" charset="0"/>
                <a:ea typeface="微软雅黑" pitchFamily="34" charset="-122"/>
                <a:cs typeface="Times New Roman" pitchFamily="18" charset="0"/>
              </a:rPr>
              <a:t>，</a:t>
            </a:r>
          </a:p>
          <a:p>
            <a:pPr eaLnBrk="1" hangingPunct="1">
              <a:lnSpc>
                <a:spcPct val="100000"/>
              </a:lnSpc>
              <a:spcBef>
                <a:spcPct val="50000"/>
              </a:spcBef>
            </a:pPr>
            <a:r>
              <a:rPr lang="zh-CN" altLang="en-US">
                <a:latin typeface="Times New Roman" pitchFamily="18" charset="0"/>
                <a:ea typeface="微软雅黑" pitchFamily="34" charset="-122"/>
                <a:cs typeface="Times New Roman" pitchFamily="18" charset="0"/>
              </a:rPr>
              <a:t> </a:t>
            </a:r>
            <a:r>
              <a:rPr lang="en-US" altLang="zh-CN">
                <a:latin typeface="Times New Roman" pitchFamily="18" charset="0"/>
                <a:ea typeface="微软雅黑" pitchFamily="34" charset="-122"/>
                <a:cs typeface="Times New Roman" pitchFamily="18" charset="0"/>
              </a:rPr>
              <a:t>Ω</a:t>
            </a:r>
            <a:r>
              <a:rPr lang="zh-CN" altLang="en-US">
                <a:latin typeface="Times New Roman" pitchFamily="18" charset="0"/>
                <a:ea typeface="微软雅黑" pitchFamily="34" charset="-122"/>
                <a:cs typeface="Times New Roman" pitchFamily="18" charset="0"/>
              </a:rPr>
              <a:t>＝</a:t>
            </a:r>
            <a:r>
              <a:rPr lang="en-US" altLang="zh-CN">
                <a:latin typeface="Times New Roman" pitchFamily="18" charset="0"/>
                <a:ea typeface="微软雅黑" pitchFamily="34" charset="-122"/>
                <a:cs typeface="Times New Roman" pitchFamily="18" charset="0"/>
              </a:rPr>
              <a:t>0</a:t>
            </a:r>
            <a:r>
              <a:rPr lang="zh-CN" altLang="en-US">
                <a:latin typeface="Times New Roman" pitchFamily="18" charset="0"/>
                <a:ea typeface="微软雅黑" pitchFamily="34" charset="-122"/>
                <a:cs typeface="Times New Roman" pitchFamily="18" charset="0"/>
              </a:rPr>
              <a:t>，合理。</a:t>
            </a:r>
          </a:p>
        </p:txBody>
      </p:sp>
      <p:sp>
        <p:nvSpPr>
          <p:cNvPr id="71687" name="Text Box 3"/>
          <p:cNvSpPr txBox="1">
            <a:spLocks noChangeArrowheads="1"/>
          </p:cNvSpPr>
          <p:nvPr/>
        </p:nvSpPr>
        <p:spPr bwMode="auto">
          <a:xfrm>
            <a:off x="179388" y="3411538"/>
            <a:ext cx="8605837" cy="8318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ct val="50000"/>
              </a:spcBef>
            </a:pPr>
            <a:r>
              <a:rPr lang="zh-CN" altLang="en-US" sz="3200">
                <a:latin typeface="Verdana" pitchFamily="34" charset="0"/>
              </a:rPr>
              <a:t>分子中含有一个溴原子，不含氮或含偶数个氮</a:t>
            </a:r>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1"/>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6E958A97-15C0-4E7C-A9BF-DDDF00504E89}" type="datetime10">
              <a:rPr lang="zh-CN" altLang="en-US" sz="1200" smtClean="0">
                <a:latin typeface="Verdana" pitchFamily="34" charset="0"/>
              </a:rPr>
              <a:pPr eaLnBrk="1" hangingPunct="1">
                <a:lnSpc>
                  <a:spcPct val="100000"/>
                </a:lnSpc>
              </a:pPr>
              <a:t>20:02</a:t>
            </a:fld>
            <a:endParaRPr lang="en-US" altLang="zh-CN" sz="1200" smtClean="0">
              <a:latin typeface="Verdana" pitchFamily="34" charset="0"/>
            </a:endParaRPr>
          </a:p>
        </p:txBody>
      </p:sp>
      <p:sp>
        <p:nvSpPr>
          <p:cNvPr id="72707"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ACDCF1A7-9133-494D-A8B5-9057E8E6A859}" type="slidenum">
              <a:rPr lang="en-US" altLang="zh-CN" sz="1200" smtClean="0">
                <a:latin typeface="Verdana" pitchFamily="34" charset="0"/>
                <a:ea typeface="宋体" pitchFamily="2" charset="-122"/>
              </a:rPr>
              <a:pPr eaLnBrk="1" hangingPunct="1">
                <a:lnSpc>
                  <a:spcPct val="100000"/>
                </a:lnSpc>
              </a:pPr>
              <a:t>65</a:t>
            </a:fld>
            <a:endParaRPr lang="en-US" altLang="zh-CN" sz="1200" smtClean="0">
              <a:latin typeface="Verdana" pitchFamily="34" charset="0"/>
              <a:ea typeface="宋体" pitchFamily="2" charset="-122"/>
            </a:endParaRPr>
          </a:p>
        </p:txBody>
      </p:sp>
      <p:sp>
        <p:nvSpPr>
          <p:cNvPr id="72708" name="Text Box 2"/>
          <p:cNvSpPr txBox="1">
            <a:spLocks noChangeArrowheads="1"/>
          </p:cNvSpPr>
          <p:nvPr/>
        </p:nvSpPr>
        <p:spPr bwMode="auto">
          <a:xfrm>
            <a:off x="250825" y="260350"/>
            <a:ext cx="8686800"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碳原子数若为 </a:t>
            </a:r>
            <a:r>
              <a:rPr lang="en-US" altLang="zh-CN">
                <a:latin typeface="Times New Roman" pitchFamily="18" charset="0"/>
              </a:rPr>
              <a:t>5</a:t>
            </a:r>
            <a:r>
              <a:rPr lang="zh-CN" altLang="en-US">
                <a:latin typeface="Times New Roman" pitchFamily="18" charset="0"/>
              </a:rPr>
              <a:t>，则</a:t>
            </a:r>
            <a:r>
              <a:rPr lang="en-US" altLang="zh-CN">
                <a:latin typeface="Times New Roman" pitchFamily="18" charset="0"/>
              </a:rPr>
              <a:t>85</a:t>
            </a:r>
            <a:r>
              <a:rPr lang="zh-CN" altLang="en-US">
                <a:latin typeface="Times New Roman" pitchFamily="18" charset="0"/>
              </a:rPr>
              <a:t>－</a:t>
            </a:r>
            <a:r>
              <a:rPr lang="en-US" altLang="zh-CN">
                <a:latin typeface="Times New Roman" pitchFamily="18" charset="0"/>
              </a:rPr>
              <a:t>12×5</a:t>
            </a:r>
            <a:r>
              <a:rPr lang="zh-CN" altLang="en-US">
                <a:latin typeface="Times New Roman" pitchFamily="18" charset="0"/>
              </a:rPr>
              <a:t>＝</a:t>
            </a:r>
            <a:r>
              <a:rPr lang="en-US" altLang="zh-CN">
                <a:latin typeface="Times New Roman" pitchFamily="18" charset="0"/>
              </a:rPr>
              <a:t>25</a:t>
            </a:r>
            <a:r>
              <a:rPr lang="zh-CN" altLang="en-US">
                <a:latin typeface="Times New Roman" pitchFamily="18" charset="0"/>
              </a:rPr>
              <a:t>，不含氧分子式为 </a:t>
            </a:r>
            <a:r>
              <a:rPr lang="en-US" altLang="zh-CN">
                <a:latin typeface="Times New Roman" pitchFamily="18" charset="0"/>
              </a:rPr>
              <a:t>C</a:t>
            </a:r>
            <a:r>
              <a:rPr lang="en-US" altLang="zh-CN" baseline="-25000">
                <a:latin typeface="Times New Roman" pitchFamily="18" charset="0"/>
              </a:rPr>
              <a:t>5</a:t>
            </a:r>
            <a:r>
              <a:rPr lang="en-US" altLang="zh-CN">
                <a:latin typeface="Times New Roman" pitchFamily="18" charset="0"/>
              </a:rPr>
              <a:t>H</a:t>
            </a:r>
            <a:r>
              <a:rPr lang="en-US" altLang="zh-CN" baseline="-25000">
                <a:latin typeface="Times New Roman" pitchFamily="18" charset="0"/>
              </a:rPr>
              <a:t>25</a:t>
            </a:r>
            <a:r>
              <a:rPr lang="en-US" altLang="zh-CN">
                <a:latin typeface="Times New Roman" pitchFamily="18" charset="0"/>
              </a:rPr>
              <a:t>Br</a:t>
            </a:r>
            <a:r>
              <a:rPr lang="zh-CN" altLang="en-US">
                <a:latin typeface="Times New Roman" pitchFamily="18" charset="0"/>
              </a:rPr>
              <a:t>， </a:t>
            </a:r>
            <a:r>
              <a:rPr lang="en-US" altLang="zh-CN">
                <a:latin typeface="Times New Roman" pitchFamily="18" charset="0"/>
                <a:cs typeface="Times New Roman" pitchFamily="18" charset="0"/>
              </a:rPr>
              <a:t>Ω</a:t>
            </a:r>
            <a:r>
              <a:rPr lang="zh-CN" altLang="en-US">
                <a:latin typeface="Times New Roman" pitchFamily="18" charset="0"/>
                <a:cs typeface="Times New Roman" pitchFamily="18" charset="0"/>
              </a:rPr>
              <a:t>＜</a:t>
            </a:r>
            <a:r>
              <a:rPr lang="en-US" altLang="zh-CN">
                <a:latin typeface="Times New Roman" pitchFamily="18" charset="0"/>
                <a:cs typeface="Times New Roman" pitchFamily="18" charset="0"/>
              </a:rPr>
              <a:t>0</a:t>
            </a:r>
            <a:r>
              <a:rPr lang="zh-CN" altLang="en-US">
                <a:latin typeface="Times New Roman" pitchFamily="18" charset="0"/>
              </a:rPr>
              <a:t>，不合理。</a:t>
            </a:r>
          </a:p>
        </p:txBody>
      </p:sp>
      <p:sp>
        <p:nvSpPr>
          <p:cNvPr id="72709" name="Text Box 2"/>
          <p:cNvSpPr txBox="1">
            <a:spLocks noChangeArrowheads="1"/>
          </p:cNvSpPr>
          <p:nvPr/>
        </p:nvSpPr>
        <p:spPr bwMode="auto">
          <a:xfrm>
            <a:off x="268288" y="1768475"/>
            <a:ext cx="6189662"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ct val="50000"/>
              </a:spcBef>
            </a:pPr>
            <a:r>
              <a:rPr lang="zh-CN" altLang="en-US">
                <a:latin typeface="Times New Roman" pitchFamily="18" charset="0"/>
              </a:rPr>
              <a:t>若含有一个氧，其分子式为</a:t>
            </a:r>
          </a:p>
          <a:p>
            <a:pPr eaLnBrk="1" hangingPunct="1">
              <a:lnSpc>
                <a:spcPct val="150000"/>
              </a:lnSpc>
              <a:spcBef>
                <a:spcPct val="50000"/>
              </a:spcBef>
            </a:pPr>
            <a:r>
              <a:rPr lang="zh-CN" altLang="en-US">
                <a:latin typeface="Times New Roman" pitchFamily="18" charset="0"/>
              </a:rPr>
              <a:t> </a:t>
            </a:r>
            <a:r>
              <a:rPr lang="en-US" altLang="zh-CN">
                <a:solidFill>
                  <a:srgbClr val="0000CC"/>
                </a:solidFill>
                <a:latin typeface="Times New Roman" pitchFamily="18" charset="0"/>
              </a:rPr>
              <a:t>C</a:t>
            </a:r>
            <a:r>
              <a:rPr lang="en-US" altLang="zh-CN" baseline="-25000">
                <a:solidFill>
                  <a:srgbClr val="0000CC"/>
                </a:solidFill>
                <a:latin typeface="Times New Roman" pitchFamily="18" charset="0"/>
              </a:rPr>
              <a:t>5</a:t>
            </a:r>
            <a:r>
              <a:rPr lang="en-US" altLang="zh-CN">
                <a:solidFill>
                  <a:srgbClr val="0000CC"/>
                </a:solidFill>
                <a:latin typeface="Times New Roman" pitchFamily="18" charset="0"/>
              </a:rPr>
              <a:t>H</a:t>
            </a:r>
            <a:r>
              <a:rPr lang="en-US" altLang="zh-CN" baseline="-25000">
                <a:solidFill>
                  <a:srgbClr val="0000CC"/>
                </a:solidFill>
                <a:latin typeface="Times New Roman" pitchFamily="18" charset="0"/>
              </a:rPr>
              <a:t>9</a:t>
            </a:r>
            <a:r>
              <a:rPr lang="en-US" altLang="zh-CN">
                <a:solidFill>
                  <a:srgbClr val="0000CC"/>
                </a:solidFill>
                <a:latin typeface="Times New Roman" pitchFamily="18" charset="0"/>
              </a:rPr>
              <a:t>OBr</a:t>
            </a:r>
            <a:r>
              <a:rPr lang="zh-CN" altLang="en-US">
                <a:latin typeface="Times New Roman" pitchFamily="18" charset="0"/>
              </a:rPr>
              <a:t>， </a:t>
            </a:r>
            <a:r>
              <a:rPr lang="en-US" altLang="zh-CN">
                <a:latin typeface="Times New Roman" pitchFamily="18" charset="0"/>
              </a:rPr>
              <a:t>Ω</a:t>
            </a:r>
            <a:r>
              <a:rPr lang="zh-CN" altLang="en-US">
                <a:latin typeface="Times New Roman" pitchFamily="18" charset="0"/>
              </a:rPr>
              <a:t>＝</a:t>
            </a:r>
            <a:r>
              <a:rPr lang="en-US" altLang="zh-CN">
                <a:latin typeface="Times New Roman" pitchFamily="18" charset="0"/>
              </a:rPr>
              <a:t>1</a:t>
            </a:r>
            <a:r>
              <a:rPr lang="zh-CN" altLang="en-US">
                <a:latin typeface="Times New Roman" pitchFamily="18" charset="0"/>
              </a:rPr>
              <a:t>，合理。</a:t>
            </a:r>
          </a:p>
        </p:txBody>
      </p:sp>
      <p:sp>
        <p:nvSpPr>
          <p:cNvPr id="72710" name="Text Box 2"/>
          <p:cNvSpPr txBox="1">
            <a:spLocks noChangeArrowheads="1"/>
          </p:cNvSpPr>
          <p:nvPr/>
        </p:nvSpPr>
        <p:spPr bwMode="auto">
          <a:xfrm>
            <a:off x="268288" y="3573463"/>
            <a:ext cx="7486650" cy="149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ct val="50000"/>
              </a:spcBef>
            </a:pPr>
            <a:r>
              <a:rPr lang="zh-CN" altLang="en-US" sz="2600">
                <a:latin typeface="Times New Roman" pitchFamily="18" charset="0"/>
              </a:rPr>
              <a:t>可能分子式为 </a:t>
            </a:r>
            <a:r>
              <a:rPr lang="en-US" altLang="zh-CN" sz="2600">
                <a:latin typeface="Times New Roman" pitchFamily="18" charset="0"/>
              </a:rPr>
              <a:t>C</a:t>
            </a:r>
            <a:r>
              <a:rPr lang="en-US" altLang="zh-CN" sz="2600" baseline="-25000">
                <a:latin typeface="Times New Roman" pitchFamily="18" charset="0"/>
              </a:rPr>
              <a:t>6</a:t>
            </a:r>
            <a:r>
              <a:rPr lang="en-US" altLang="zh-CN" sz="2600">
                <a:latin typeface="Times New Roman" pitchFamily="18" charset="0"/>
              </a:rPr>
              <a:t>H</a:t>
            </a:r>
            <a:r>
              <a:rPr lang="en-US" altLang="zh-CN" sz="2600" baseline="-25000">
                <a:latin typeface="Times New Roman" pitchFamily="18" charset="0"/>
              </a:rPr>
              <a:t>13</a:t>
            </a:r>
            <a:r>
              <a:rPr lang="en-US" altLang="zh-CN" sz="2600">
                <a:latin typeface="Times New Roman" pitchFamily="18" charset="0"/>
              </a:rPr>
              <a:t>Br  </a:t>
            </a:r>
            <a:r>
              <a:rPr lang="zh-CN" altLang="en-US" sz="2600">
                <a:latin typeface="Times New Roman" pitchFamily="18" charset="0"/>
              </a:rPr>
              <a:t>或 </a:t>
            </a:r>
            <a:r>
              <a:rPr lang="en-US" altLang="zh-CN" sz="2600">
                <a:latin typeface="Times New Roman" pitchFamily="18" charset="0"/>
              </a:rPr>
              <a:t>C</a:t>
            </a:r>
            <a:r>
              <a:rPr lang="en-US" altLang="zh-CN" sz="2600" baseline="-25000">
                <a:latin typeface="Times New Roman" pitchFamily="18" charset="0"/>
              </a:rPr>
              <a:t>5</a:t>
            </a:r>
            <a:r>
              <a:rPr lang="en-US" altLang="zh-CN" sz="2600">
                <a:latin typeface="Times New Roman" pitchFamily="18" charset="0"/>
              </a:rPr>
              <a:t>H</a:t>
            </a:r>
            <a:r>
              <a:rPr lang="en-US" altLang="zh-CN" sz="2600" baseline="-25000">
                <a:latin typeface="Times New Roman" pitchFamily="18" charset="0"/>
              </a:rPr>
              <a:t>9</a:t>
            </a:r>
            <a:r>
              <a:rPr lang="en-US" altLang="zh-CN" sz="2600">
                <a:latin typeface="Times New Roman" pitchFamily="18" charset="0"/>
              </a:rPr>
              <a:t>OBr </a:t>
            </a:r>
          </a:p>
          <a:p>
            <a:pPr eaLnBrk="1" hangingPunct="1">
              <a:lnSpc>
                <a:spcPct val="150000"/>
              </a:lnSpc>
              <a:spcBef>
                <a:spcPct val="50000"/>
              </a:spcBef>
            </a:pPr>
            <a:r>
              <a:rPr lang="zh-CN" altLang="en-US" sz="2600">
                <a:latin typeface="Times New Roman" pitchFamily="18" charset="0"/>
              </a:rPr>
              <a:t>由图中的碎片离子可判断其分子式为</a:t>
            </a:r>
            <a:endParaRPr lang="en-US" altLang="zh-CN" sz="2600">
              <a:solidFill>
                <a:srgbClr val="0000CC"/>
              </a:solidFill>
              <a:latin typeface="Times New Roman" pitchFamily="18" charset="0"/>
            </a:endParaRPr>
          </a:p>
        </p:txBody>
      </p:sp>
      <p:sp>
        <p:nvSpPr>
          <p:cNvPr id="72711" name="Text Box 2"/>
          <p:cNvSpPr txBox="1">
            <a:spLocks noChangeArrowheads="1"/>
          </p:cNvSpPr>
          <p:nvPr/>
        </p:nvSpPr>
        <p:spPr bwMode="auto">
          <a:xfrm>
            <a:off x="5943600" y="4319588"/>
            <a:ext cx="1584325" cy="620712"/>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spcBef>
                <a:spcPct val="50000"/>
              </a:spcBef>
            </a:pPr>
            <a:r>
              <a:rPr lang="en-US" altLang="zh-CN" sz="2600">
                <a:latin typeface="Times New Roman" pitchFamily="18" charset="0"/>
              </a:rPr>
              <a:t>C</a:t>
            </a:r>
            <a:r>
              <a:rPr lang="en-US" altLang="zh-CN" sz="2600" baseline="-25000">
                <a:latin typeface="Times New Roman" pitchFamily="18" charset="0"/>
              </a:rPr>
              <a:t>6</a:t>
            </a:r>
            <a:r>
              <a:rPr lang="en-US" altLang="zh-CN" sz="2600">
                <a:latin typeface="Times New Roman" pitchFamily="18" charset="0"/>
              </a:rPr>
              <a:t>H</a:t>
            </a:r>
            <a:r>
              <a:rPr lang="en-US" altLang="zh-CN" sz="2600" baseline="-25000">
                <a:latin typeface="Times New Roman" pitchFamily="18" charset="0"/>
              </a:rPr>
              <a:t>13</a:t>
            </a:r>
            <a:r>
              <a:rPr lang="en-US" altLang="zh-CN" sz="2600">
                <a:latin typeface="Times New Roman" pitchFamily="18" charset="0"/>
              </a:rPr>
              <a:t>Br </a:t>
            </a:r>
          </a:p>
        </p:txBody>
      </p:sp>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1"/>
          <p:cNvSpPr txBox="1">
            <a:spLocks noGrp="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3488EB48-9BAD-4D3E-8259-B6EEC21AD5A2}" type="datetime10">
              <a:rPr lang="zh-CN" altLang="en-US" sz="1200">
                <a:latin typeface="Verdana" pitchFamily="34" charset="0"/>
              </a:rPr>
              <a:pPr eaLnBrk="1" hangingPunct="1">
                <a:lnSpc>
                  <a:spcPct val="100000"/>
                </a:lnSpc>
              </a:pPr>
              <a:t>20:02</a:t>
            </a:fld>
            <a:endParaRPr lang="en-US" altLang="zh-CN" sz="1200">
              <a:latin typeface="Verdana" pitchFamily="34" charset="0"/>
            </a:endParaRPr>
          </a:p>
        </p:txBody>
      </p:sp>
      <p:sp>
        <p:nvSpPr>
          <p:cNvPr id="73731" name="灯片编号占位符 3"/>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E6CD2D5A-07C7-4D76-A534-05BE60897978}" type="slidenum">
              <a:rPr lang="en-US" altLang="zh-CN" sz="1200">
                <a:latin typeface="Verdana" pitchFamily="34" charset="0"/>
              </a:rPr>
              <a:pPr algn="r" eaLnBrk="1" hangingPunct="1">
                <a:lnSpc>
                  <a:spcPct val="100000"/>
                </a:lnSpc>
              </a:pPr>
              <a:t>66</a:t>
            </a:fld>
            <a:endParaRPr lang="en-US" altLang="zh-CN" sz="1200">
              <a:latin typeface="Verdana" pitchFamily="34" charset="0"/>
            </a:endParaRPr>
          </a:p>
        </p:txBody>
      </p:sp>
      <p:pic>
        <p:nvPicPr>
          <p:cNvPr id="73732" name="Picture 2" descr="质谱图７"/>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88913"/>
            <a:ext cx="4275138" cy="392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Text Box 3"/>
          <p:cNvSpPr txBox="1">
            <a:spLocks noChangeArrowheads="1"/>
          </p:cNvSpPr>
          <p:nvPr/>
        </p:nvSpPr>
        <p:spPr bwMode="auto">
          <a:xfrm>
            <a:off x="0" y="381000"/>
            <a:ext cx="4800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spcBef>
                <a:spcPct val="50000"/>
              </a:spcBef>
            </a:pPr>
            <a:r>
              <a:rPr lang="en-US" altLang="zh-CN">
                <a:latin typeface="Times New Roman" pitchFamily="18" charset="0"/>
              </a:rPr>
              <a:t> </a:t>
            </a:r>
          </a:p>
        </p:txBody>
      </p:sp>
      <p:sp>
        <p:nvSpPr>
          <p:cNvPr id="73734" name="Text Box 4"/>
          <p:cNvSpPr txBox="1">
            <a:spLocks noChangeArrowheads="1"/>
          </p:cNvSpPr>
          <p:nvPr/>
        </p:nvSpPr>
        <p:spPr bwMode="auto">
          <a:xfrm>
            <a:off x="228600" y="304800"/>
            <a:ext cx="457200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sz="3200">
                <a:latin typeface="Times New Roman" pitchFamily="18" charset="0"/>
              </a:rPr>
              <a:t>解</a:t>
            </a:r>
            <a:r>
              <a:rPr lang="zh-CN" altLang="en-US" sz="3200">
                <a:latin typeface="Times New Roman" pitchFamily="18" charset="0"/>
                <a:sym typeface="Wingdings" pitchFamily="2" charset="2"/>
              </a:rPr>
              <a:t>  </a:t>
            </a:r>
            <a:r>
              <a:rPr lang="en-US" altLang="zh-CN" sz="3200">
                <a:latin typeface="Times New Roman" pitchFamily="18" charset="0"/>
                <a:sym typeface="Wingdings" pitchFamily="2" charset="2"/>
              </a:rPr>
              <a:t>RI</a:t>
            </a:r>
            <a:r>
              <a:rPr lang="en-US" altLang="zh-CN" sz="3200" baseline="-25000">
                <a:latin typeface="Times New Roman" pitchFamily="18" charset="0"/>
                <a:sym typeface="Wingdings" pitchFamily="2" charset="2"/>
              </a:rPr>
              <a:t>98</a:t>
            </a:r>
            <a:r>
              <a:rPr lang="en-US" altLang="zh-CN" sz="3200">
                <a:latin typeface="Times New Roman" pitchFamily="18" charset="0"/>
                <a:sym typeface="Wingdings" pitchFamily="2" charset="2"/>
              </a:rPr>
              <a:t>/RI</a:t>
            </a:r>
            <a:r>
              <a:rPr lang="en-US" altLang="zh-CN" sz="3200" baseline="-25000">
                <a:latin typeface="Times New Roman" pitchFamily="18" charset="0"/>
              </a:rPr>
              <a:t>97</a:t>
            </a:r>
            <a:r>
              <a:rPr lang="en-US" altLang="zh-CN" sz="3200">
                <a:latin typeface="Times New Roman" pitchFamily="18" charset="0"/>
              </a:rPr>
              <a:t> =0.56,</a:t>
            </a:r>
            <a:r>
              <a:rPr lang="zh-CN" altLang="en-US" sz="3200">
                <a:latin typeface="Times New Roman" pitchFamily="18" charset="0"/>
              </a:rPr>
              <a:t>所以</a:t>
            </a:r>
            <a:r>
              <a:rPr lang="en-US" altLang="zh-CN" sz="3200">
                <a:latin typeface="Times New Roman" pitchFamily="18" charset="0"/>
              </a:rPr>
              <a:t>97</a:t>
            </a:r>
            <a:r>
              <a:rPr lang="zh-CN" altLang="en-US" sz="3200">
                <a:latin typeface="Times New Roman" pitchFamily="18" charset="0"/>
              </a:rPr>
              <a:t>不是分子离子峰。</a:t>
            </a:r>
            <a:endParaRPr lang="en-US" altLang="zh-CN" sz="3200">
              <a:latin typeface="Times New Roman" pitchFamily="18" charset="0"/>
            </a:endParaRPr>
          </a:p>
          <a:p>
            <a:pPr eaLnBrk="1" hangingPunct="1">
              <a:lnSpc>
                <a:spcPct val="150000"/>
              </a:lnSpc>
            </a:pPr>
            <a:r>
              <a:rPr lang="zh-CN" altLang="en-US" sz="3200">
                <a:latin typeface="Times New Roman" pitchFamily="18" charset="0"/>
              </a:rPr>
              <a:t>  假设</a:t>
            </a:r>
            <a:r>
              <a:rPr lang="en-US" altLang="zh-CN" sz="3200">
                <a:latin typeface="Times New Roman" pitchFamily="18" charset="0"/>
              </a:rPr>
              <a:t>M=98</a:t>
            </a:r>
          </a:p>
        </p:txBody>
      </p:sp>
      <p:sp>
        <p:nvSpPr>
          <p:cNvPr id="73735" name="Text Box 5"/>
          <p:cNvSpPr txBox="1">
            <a:spLocks noChangeArrowheads="1"/>
          </p:cNvSpPr>
          <p:nvPr/>
        </p:nvSpPr>
        <p:spPr bwMode="auto">
          <a:xfrm>
            <a:off x="6084888" y="574675"/>
            <a:ext cx="20701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1600">
                <a:latin typeface="Times New Roman" pitchFamily="18" charset="0"/>
              </a:rPr>
              <a:t>m/z 97</a:t>
            </a:r>
            <a:r>
              <a:rPr lang="zh-CN" altLang="en-US" sz="1600">
                <a:latin typeface="Times New Roman" pitchFamily="18" charset="0"/>
              </a:rPr>
              <a:t>（</a:t>
            </a:r>
            <a:r>
              <a:rPr lang="en-US" altLang="zh-CN" sz="1600">
                <a:latin typeface="Times New Roman" pitchFamily="18" charset="0"/>
              </a:rPr>
              <a:t>100</a:t>
            </a:r>
            <a:r>
              <a:rPr lang="zh-CN" altLang="en-US" sz="1600">
                <a:latin typeface="Times New Roman" pitchFamily="18" charset="0"/>
              </a:rPr>
              <a:t>）</a:t>
            </a:r>
            <a:r>
              <a:rPr lang="en-US" altLang="zh-CN" sz="1600">
                <a:latin typeface="Times New Roman" pitchFamily="18" charset="0"/>
              </a:rPr>
              <a:t>98 (56)</a:t>
            </a:r>
          </a:p>
          <a:p>
            <a:pPr eaLnBrk="1" hangingPunct="1">
              <a:lnSpc>
                <a:spcPct val="150000"/>
              </a:lnSpc>
            </a:pPr>
            <a:r>
              <a:rPr lang="en-US" altLang="zh-CN" sz="1600">
                <a:latin typeface="Times New Roman" pitchFamily="18" charset="0"/>
              </a:rPr>
              <a:t> 99 (7.6) 100 (2.4)</a:t>
            </a:r>
          </a:p>
        </p:txBody>
      </p:sp>
      <p:sp>
        <p:nvSpPr>
          <p:cNvPr id="73736" name="矩形 1"/>
          <p:cNvSpPr>
            <a:spLocks noChangeArrowheads="1"/>
          </p:cNvSpPr>
          <p:nvPr/>
        </p:nvSpPr>
        <p:spPr bwMode="auto">
          <a:xfrm>
            <a:off x="1403350" y="5084763"/>
            <a:ext cx="453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a:latin typeface="Times New Roman" pitchFamily="18" charset="0"/>
                <a:ea typeface="宋体" pitchFamily="2" charset="-122"/>
              </a:rPr>
              <a:t>RI (M+2) / RI (M)×100=4.3</a:t>
            </a:r>
            <a:endParaRPr lang="zh-CN" altLang="en-US">
              <a:latin typeface="Times New Roman" pitchFamily="18" charset="0"/>
              <a:ea typeface="宋体" pitchFamily="2" charset="-122"/>
            </a:endParaRPr>
          </a:p>
        </p:txBody>
      </p:sp>
      <p:sp>
        <p:nvSpPr>
          <p:cNvPr id="73737" name="矩形 2"/>
          <p:cNvSpPr>
            <a:spLocks noChangeArrowheads="1"/>
          </p:cNvSpPr>
          <p:nvPr/>
        </p:nvSpPr>
        <p:spPr bwMode="auto">
          <a:xfrm>
            <a:off x="1403350" y="5783263"/>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a:latin typeface="Times New Roman" pitchFamily="18" charset="0"/>
                <a:ea typeface="宋体" pitchFamily="2" charset="-122"/>
              </a:rPr>
              <a:t>判断化合物中含有一个硫原子</a:t>
            </a:r>
          </a:p>
        </p:txBody>
      </p:sp>
      <p:sp>
        <p:nvSpPr>
          <p:cNvPr id="10" name="Text Box 5"/>
          <p:cNvSpPr txBox="1">
            <a:spLocks noChangeArrowheads="1"/>
          </p:cNvSpPr>
          <p:nvPr/>
        </p:nvSpPr>
        <p:spPr bwMode="auto">
          <a:xfrm>
            <a:off x="528638" y="3005138"/>
            <a:ext cx="41402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由     </a:t>
            </a:r>
            <a:r>
              <a:rPr lang="en-US" altLang="zh-CN">
                <a:latin typeface="Times New Roman" pitchFamily="18" charset="0"/>
              </a:rPr>
              <a:t>m/z 98 (56) M</a:t>
            </a:r>
            <a:r>
              <a:rPr lang="en-US" altLang="zh-CN" baseline="30000">
                <a:latin typeface="Times New Roman" pitchFamily="18" charset="0"/>
              </a:rPr>
              <a:t>+.</a:t>
            </a:r>
            <a:r>
              <a:rPr lang="en-US" altLang="zh-CN">
                <a:latin typeface="Times New Roman" pitchFamily="18" charset="0"/>
              </a:rPr>
              <a:t> </a:t>
            </a:r>
          </a:p>
          <a:p>
            <a:pPr eaLnBrk="1" hangingPunct="1">
              <a:lnSpc>
                <a:spcPct val="150000"/>
              </a:lnSpc>
            </a:pPr>
            <a:r>
              <a:rPr lang="en-US" altLang="zh-CN">
                <a:latin typeface="Times New Roman" pitchFamily="18" charset="0"/>
              </a:rPr>
              <a:t>                99 (7.6) (M+1) </a:t>
            </a:r>
          </a:p>
          <a:p>
            <a:pPr eaLnBrk="1" hangingPunct="1">
              <a:lnSpc>
                <a:spcPct val="150000"/>
              </a:lnSpc>
            </a:pPr>
            <a:r>
              <a:rPr lang="en-US" altLang="zh-CN">
                <a:latin typeface="Times New Roman" pitchFamily="18" charset="0"/>
              </a:rPr>
              <a:t>                100 (2.4) (M+2)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3734"/>
                                        </p:tgtEl>
                                        <p:attrNameLst>
                                          <p:attrName>style.visibility</p:attrName>
                                        </p:attrNameLst>
                                      </p:cBhvr>
                                      <p:to>
                                        <p:strVal val="visible"/>
                                      </p:to>
                                    </p:set>
                                    <p:anim calcmode="lin" valueType="num">
                                      <p:cBhvr additive="base">
                                        <p:cTn id="7" dur="500" fill="hold"/>
                                        <p:tgtEl>
                                          <p:spTgt spid="73734"/>
                                        </p:tgtEl>
                                        <p:attrNameLst>
                                          <p:attrName>ppt_x</p:attrName>
                                        </p:attrNameLst>
                                      </p:cBhvr>
                                      <p:tavLst>
                                        <p:tav tm="0">
                                          <p:val>
                                            <p:strVal val="#ppt_x"/>
                                          </p:val>
                                        </p:tav>
                                        <p:tav tm="100000">
                                          <p:val>
                                            <p:strVal val="#ppt_x"/>
                                          </p:val>
                                        </p:tav>
                                      </p:tavLst>
                                    </p:anim>
                                    <p:anim calcmode="lin" valueType="num">
                                      <p:cBhvr additive="base">
                                        <p:cTn id="8" dur="500" fill="hold"/>
                                        <p:tgtEl>
                                          <p:spTgt spid="7373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3735"/>
                                        </p:tgtEl>
                                        <p:attrNameLst>
                                          <p:attrName>style.visibility</p:attrName>
                                        </p:attrNameLst>
                                      </p:cBhvr>
                                      <p:to>
                                        <p:strVal val="visible"/>
                                      </p:to>
                                    </p:set>
                                    <p:anim calcmode="lin" valueType="num">
                                      <p:cBhvr additive="base">
                                        <p:cTn id="13" dur="500" fill="hold"/>
                                        <p:tgtEl>
                                          <p:spTgt spid="73735"/>
                                        </p:tgtEl>
                                        <p:attrNameLst>
                                          <p:attrName>ppt_x</p:attrName>
                                        </p:attrNameLst>
                                      </p:cBhvr>
                                      <p:tavLst>
                                        <p:tav tm="0">
                                          <p:val>
                                            <p:strVal val="#ppt_x"/>
                                          </p:val>
                                        </p:tav>
                                        <p:tav tm="100000">
                                          <p:val>
                                            <p:strVal val="#ppt_x"/>
                                          </p:val>
                                        </p:tav>
                                      </p:tavLst>
                                    </p:anim>
                                    <p:anim calcmode="lin" valueType="num">
                                      <p:cBhvr additive="base">
                                        <p:cTn id="14" dur="500" fill="hold"/>
                                        <p:tgtEl>
                                          <p:spTgt spid="73735"/>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3736"/>
                                        </p:tgtEl>
                                        <p:attrNameLst>
                                          <p:attrName>style.visibility</p:attrName>
                                        </p:attrNameLst>
                                      </p:cBhvr>
                                      <p:to>
                                        <p:strVal val="visible"/>
                                      </p:to>
                                    </p:set>
                                    <p:anim calcmode="lin" valueType="num">
                                      <p:cBhvr additive="base">
                                        <p:cTn id="19" dur="500" fill="hold"/>
                                        <p:tgtEl>
                                          <p:spTgt spid="73736"/>
                                        </p:tgtEl>
                                        <p:attrNameLst>
                                          <p:attrName>ppt_x</p:attrName>
                                        </p:attrNameLst>
                                      </p:cBhvr>
                                      <p:tavLst>
                                        <p:tav tm="0">
                                          <p:val>
                                            <p:strVal val="#ppt_x"/>
                                          </p:val>
                                        </p:tav>
                                        <p:tav tm="100000">
                                          <p:val>
                                            <p:strVal val="#ppt_x"/>
                                          </p:val>
                                        </p:tav>
                                      </p:tavLst>
                                    </p:anim>
                                    <p:anim calcmode="lin" valueType="num">
                                      <p:cBhvr additive="base">
                                        <p:cTn id="20" dur="500" fill="hold"/>
                                        <p:tgtEl>
                                          <p:spTgt spid="7373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3737"/>
                                        </p:tgtEl>
                                        <p:attrNameLst>
                                          <p:attrName>style.visibility</p:attrName>
                                        </p:attrNameLst>
                                      </p:cBhvr>
                                      <p:to>
                                        <p:strVal val="visible"/>
                                      </p:to>
                                    </p:set>
                                    <p:anim calcmode="lin" valueType="num">
                                      <p:cBhvr additive="base">
                                        <p:cTn id="25" dur="500" fill="hold"/>
                                        <p:tgtEl>
                                          <p:spTgt spid="73737"/>
                                        </p:tgtEl>
                                        <p:attrNameLst>
                                          <p:attrName>ppt_x</p:attrName>
                                        </p:attrNameLst>
                                      </p:cBhvr>
                                      <p:tavLst>
                                        <p:tav tm="0">
                                          <p:val>
                                            <p:strVal val="#ppt_x"/>
                                          </p:val>
                                        </p:tav>
                                        <p:tav tm="100000">
                                          <p:val>
                                            <p:strVal val="#ppt_x"/>
                                          </p:val>
                                        </p:tav>
                                      </p:tavLst>
                                    </p:anim>
                                    <p:anim calcmode="lin" valueType="num">
                                      <p:cBhvr additive="base">
                                        <p:cTn id="26" dur="500" fill="hold"/>
                                        <p:tgtEl>
                                          <p:spTgt spid="7373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4" grpId="0"/>
      <p:bldP spid="73735" grpId="0"/>
      <p:bldP spid="73736" grpId="0"/>
      <p:bldP spid="73737" grpId="0"/>
      <p:bldP spid="1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1"/>
          <p:cNvSpPr txBox="1">
            <a:spLocks noGrp="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00000"/>
              </a:lnSpc>
            </a:pPr>
            <a:fld id="{E8F2E624-EB4D-4A6D-B1BD-509598D85D8A}" type="datetime10">
              <a:rPr lang="zh-CN" altLang="en-US" sz="1200">
                <a:latin typeface="Verdana" pitchFamily="34" charset="0"/>
              </a:rPr>
              <a:pPr eaLnBrk="1" hangingPunct="1">
                <a:lnSpc>
                  <a:spcPct val="100000"/>
                </a:lnSpc>
              </a:pPr>
              <a:t>20:02</a:t>
            </a:fld>
            <a:endParaRPr lang="en-US" altLang="zh-CN" sz="1200">
              <a:latin typeface="Verdana" pitchFamily="34" charset="0"/>
            </a:endParaRPr>
          </a:p>
        </p:txBody>
      </p:sp>
      <p:sp>
        <p:nvSpPr>
          <p:cNvPr id="74755" name="灯片编号占位符 3"/>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95F3FE30-F9D4-455E-B0E6-F3580E12A92B}" type="slidenum">
              <a:rPr lang="en-US" altLang="zh-CN" sz="1200">
                <a:latin typeface="Verdana" pitchFamily="34" charset="0"/>
              </a:rPr>
              <a:pPr algn="r" eaLnBrk="1" hangingPunct="1">
                <a:lnSpc>
                  <a:spcPct val="100000"/>
                </a:lnSpc>
              </a:pPr>
              <a:t>67</a:t>
            </a:fld>
            <a:endParaRPr lang="en-US" altLang="zh-CN" sz="1200">
              <a:latin typeface="Verdana" pitchFamily="34" charset="0"/>
            </a:endParaRPr>
          </a:p>
        </p:txBody>
      </p:sp>
      <p:sp>
        <p:nvSpPr>
          <p:cNvPr id="74756" name="Text Box 2"/>
          <p:cNvSpPr txBox="1">
            <a:spLocks noChangeArrowheads="1"/>
          </p:cNvSpPr>
          <p:nvPr/>
        </p:nvSpPr>
        <p:spPr bwMode="auto">
          <a:xfrm>
            <a:off x="-9525" y="44450"/>
            <a:ext cx="9144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a:latin typeface="Times New Roman" pitchFamily="18" charset="0"/>
              </a:rPr>
              <a:t>         98</a:t>
            </a:r>
            <a:r>
              <a:rPr lang="zh-CN" altLang="en-US">
                <a:latin typeface="Times New Roman" pitchFamily="18" charset="0"/>
              </a:rPr>
              <a:t>－</a:t>
            </a:r>
            <a:r>
              <a:rPr lang="en-US" altLang="zh-CN">
                <a:latin typeface="Times New Roman" pitchFamily="18" charset="0"/>
              </a:rPr>
              <a:t>32</a:t>
            </a:r>
            <a:r>
              <a:rPr lang="zh-CN" altLang="en-US">
                <a:latin typeface="Times New Roman" pitchFamily="18" charset="0"/>
              </a:rPr>
              <a:t>＝</a:t>
            </a:r>
            <a:r>
              <a:rPr lang="en-US" altLang="zh-CN">
                <a:latin typeface="Times New Roman" pitchFamily="18" charset="0"/>
              </a:rPr>
              <a:t>66</a:t>
            </a:r>
            <a:r>
              <a:rPr lang="zh-CN" altLang="en-US">
                <a:latin typeface="Times New Roman" pitchFamily="18" charset="0"/>
              </a:rPr>
              <a:t>，</a:t>
            </a:r>
            <a:r>
              <a:rPr lang="en-US" altLang="zh-CN">
                <a:latin typeface="Times New Roman" pitchFamily="18" charset="0"/>
              </a:rPr>
              <a:t>66÷12</a:t>
            </a:r>
            <a:r>
              <a:rPr lang="zh-CN" altLang="en-US">
                <a:latin typeface="Times New Roman" pitchFamily="18" charset="0"/>
              </a:rPr>
              <a:t>＝</a:t>
            </a:r>
            <a:r>
              <a:rPr lang="en-US" altLang="zh-CN">
                <a:latin typeface="Times New Roman" pitchFamily="18" charset="0"/>
              </a:rPr>
              <a:t>5.5</a:t>
            </a:r>
            <a:r>
              <a:rPr lang="zh-CN" altLang="en-US">
                <a:latin typeface="Times New Roman" pitchFamily="18" charset="0"/>
              </a:rPr>
              <a:t>，因此碳原子数目小于等于 </a:t>
            </a:r>
            <a:r>
              <a:rPr lang="en-US" altLang="zh-CN">
                <a:latin typeface="Times New Roman" pitchFamily="18" charset="0"/>
              </a:rPr>
              <a:t>5</a:t>
            </a:r>
            <a:r>
              <a:rPr lang="zh-CN" altLang="en-US">
                <a:latin typeface="Times New Roman" pitchFamily="18" charset="0"/>
              </a:rPr>
              <a:t>；若为 </a:t>
            </a:r>
            <a:r>
              <a:rPr lang="en-US" altLang="zh-CN">
                <a:latin typeface="Times New Roman" pitchFamily="18" charset="0"/>
              </a:rPr>
              <a:t>5</a:t>
            </a:r>
            <a:r>
              <a:rPr lang="zh-CN" altLang="en-US">
                <a:latin typeface="Times New Roman" pitchFamily="18" charset="0"/>
              </a:rPr>
              <a:t>，</a:t>
            </a:r>
            <a:r>
              <a:rPr lang="en-US" altLang="zh-CN">
                <a:latin typeface="Times New Roman" pitchFamily="18" charset="0"/>
              </a:rPr>
              <a:t>66</a:t>
            </a:r>
            <a:r>
              <a:rPr lang="zh-CN" altLang="en-US">
                <a:latin typeface="Times New Roman" pitchFamily="18" charset="0"/>
              </a:rPr>
              <a:t>－</a:t>
            </a:r>
            <a:r>
              <a:rPr lang="en-US" altLang="zh-CN">
                <a:latin typeface="Times New Roman" pitchFamily="18" charset="0"/>
              </a:rPr>
              <a:t>12×5</a:t>
            </a:r>
            <a:r>
              <a:rPr lang="zh-CN" altLang="en-US">
                <a:latin typeface="Times New Roman" pitchFamily="18" charset="0"/>
              </a:rPr>
              <a:t>＝</a:t>
            </a:r>
            <a:r>
              <a:rPr lang="en-US" altLang="zh-CN">
                <a:latin typeface="Times New Roman" pitchFamily="18" charset="0"/>
              </a:rPr>
              <a:t>6</a:t>
            </a:r>
            <a:r>
              <a:rPr lang="zh-CN" altLang="en-US">
                <a:latin typeface="Times New Roman" pitchFamily="18" charset="0"/>
              </a:rPr>
              <a:t>，可能分子式为 </a:t>
            </a:r>
            <a:r>
              <a:rPr lang="en-US" altLang="zh-CN">
                <a:latin typeface="Times New Roman" pitchFamily="18" charset="0"/>
              </a:rPr>
              <a:t>C</a:t>
            </a:r>
            <a:r>
              <a:rPr lang="en-US" altLang="zh-CN" baseline="-25000">
                <a:latin typeface="Times New Roman" pitchFamily="18" charset="0"/>
              </a:rPr>
              <a:t>5</a:t>
            </a:r>
            <a:r>
              <a:rPr lang="en-US" altLang="zh-CN">
                <a:latin typeface="Times New Roman" pitchFamily="18" charset="0"/>
              </a:rPr>
              <a:t>H</a:t>
            </a:r>
            <a:r>
              <a:rPr lang="en-US" altLang="zh-CN" baseline="-25000">
                <a:latin typeface="Times New Roman" pitchFamily="18" charset="0"/>
              </a:rPr>
              <a:t>6</a:t>
            </a:r>
            <a:r>
              <a:rPr lang="en-US" altLang="zh-CN">
                <a:latin typeface="Times New Roman" pitchFamily="18" charset="0"/>
              </a:rPr>
              <a:t>S</a:t>
            </a:r>
            <a:r>
              <a:rPr lang="zh-CN" altLang="en-US">
                <a:latin typeface="Times New Roman" pitchFamily="18" charset="0"/>
              </a:rPr>
              <a:t>，</a:t>
            </a:r>
            <a:r>
              <a:rPr lang="en-US" altLang="zh-CN">
                <a:latin typeface="Times New Roman" pitchFamily="18" charset="0"/>
                <a:cs typeface="Times New Roman" pitchFamily="18" charset="0"/>
              </a:rPr>
              <a:t>Ω</a:t>
            </a:r>
            <a:r>
              <a:rPr lang="zh-CN" altLang="en-US">
                <a:latin typeface="Times New Roman" pitchFamily="18" charset="0"/>
              </a:rPr>
              <a:t>＝</a:t>
            </a:r>
            <a:r>
              <a:rPr lang="en-US" altLang="zh-CN">
                <a:latin typeface="Times New Roman" pitchFamily="18" charset="0"/>
              </a:rPr>
              <a:t>3</a:t>
            </a:r>
            <a:r>
              <a:rPr lang="zh-CN" altLang="en-US">
                <a:latin typeface="Times New Roman" pitchFamily="18" charset="0"/>
              </a:rPr>
              <a:t>，合理。</a:t>
            </a:r>
          </a:p>
        </p:txBody>
      </p:sp>
      <p:sp>
        <p:nvSpPr>
          <p:cNvPr id="74757" name="Text Box 2"/>
          <p:cNvSpPr txBox="1">
            <a:spLocks noChangeArrowheads="1"/>
          </p:cNvSpPr>
          <p:nvPr/>
        </p:nvSpPr>
        <p:spPr bwMode="auto">
          <a:xfrm>
            <a:off x="827088" y="4891088"/>
            <a:ext cx="615791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所以化合物 </a:t>
            </a:r>
            <a:r>
              <a:rPr lang="en-US" altLang="zh-CN">
                <a:latin typeface="Times New Roman" pitchFamily="18" charset="0"/>
              </a:rPr>
              <a:t>B </a:t>
            </a:r>
            <a:r>
              <a:rPr lang="zh-CN" altLang="en-US">
                <a:latin typeface="Times New Roman" pitchFamily="18" charset="0"/>
              </a:rPr>
              <a:t>的分子式可能为 ：</a:t>
            </a:r>
          </a:p>
          <a:p>
            <a:pPr eaLnBrk="1" hangingPunct="1">
              <a:lnSpc>
                <a:spcPct val="100000"/>
              </a:lnSpc>
              <a:spcBef>
                <a:spcPct val="50000"/>
              </a:spcBef>
            </a:pPr>
            <a:r>
              <a:rPr lang="zh-CN" altLang="en-US" sz="2400">
                <a:latin typeface="Times New Roman" pitchFamily="18" charset="0"/>
              </a:rPr>
              <a:t>                                       </a:t>
            </a:r>
            <a:r>
              <a:rPr lang="en-US" altLang="zh-CN">
                <a:latin typeface="Times New Roman" pitchFamily="18" charset="0"/>
              </a:rPr>
              <a:t>C</a:t>
            </a:r>
            <a:r>
              <a:rPr lang="en-US" altLang="zh-CN" baseline="-25000">
                <a:latin typeface="Times New Roman" pitchFamily="18" charset="0"/>
              </a:rPr>
              <a:t>5</a:t>
            </a:r>
            <a:r>
              <a:rPr lang="en-US" altLang="zh-CN">
                <a:latin typeface="Times New Roman" pitchFamily="18" charset="0"/>
              </a:rPr>
              <a:t>H</a:t>
            </a:r>
            <a:r>
              <a:rPr lang="en-US" altLang="zh-CN" baseline="-25000">
                <a:latin typeface="Times New Roman" pitchFamily="18" charset="0"/>
              </a:rPr>
              <a:t>6</a:t>
            </a:r>
            <a:r>
              <a:rPr lang="en-US" altLang="zh-CN">
                <a:latin typeface="Times New Roman" pitchFamily="18" charset="0"/>
              </a:rPr>
              <a:t>S  </a:t>
            </a:r>
            <a:r>
              <a:rPr lang="zh-CN" altLang="en-US">
                <a:latin typeface="Times New Roman" pitchFamily="18" charset="0"/>
              </a:rPr>
              <a:t>或 </a:t>
            </a:r>
            <a:r>
              <a:rPr lang="en-US" altLang="zh-CN">
                <a:latin typeface="Times New Roman" pitchFamily="18" charset="0"/>
              </a:rPr>
              <a:t>C</a:t>
            </a:r>
            <a:r>
              <a:rPr lang="en-US" altLang="zh-CN" baseline="-25000">
                <a:latin typeface="Times New Roman" pitchFamily="18" charset="0"/>
              </a:rPr>
              <a:t>4</a:t>
            </a:r>
            <a:r>
              <a:rPr lang="en-US" altLang="zh-CN">
                <a:latin typeface="Times New Roman" pitchFamily="18" charset="0"/>
              </a:rPr>
              <a:t>H</a:t>
            </a:r>
            <a:r>
              <a:rPr lang="en-US" altLang="zh-CN" baseline="-25000">
                <a:latin typeface="Times New Roman" pitchFamily="18" charset="0"/>
              </a:rPr>
              <a:t>2</a:t>
            </a:r>
            <a:r>
              <a:rPr lang="en-US" altLang="zh-CN">
                <a:latin typeface="Times New Roman" pitchFamily="18" charset="0"/>
              </a:rPr>
              <a:t>OS</a:t>
            </a:r>
          </a:p>
        </p:txBody>
      </p:sp>
      <p:sp>
        <p:nvSpPr>
          <p:cNvPr id="74758" name="Text Box 2"/>
          <p:cNvSpPr txBox="1">
            <a:spLocks noChangeArrowheads="1"/>
          </p:cNvSpPr>
          <p:nvPr/>
        </p:nvSpPr>
        <p:spPr bwMode="auto">
          <a:xfrm>
            <a:off x="34925" y="1971675"/>
            <a:ext cx="9007475" cy="138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        若为</a:t>
            </a:r>
            <a:r>
              <a:rPr lang="en-US" altLang="zh-CN">
                <a:latin typeface="Times New Roman" pitchFamily="18" charset="0"/>
              </a:rPr>
              <a:t>4</a:t>
            </a:r>
            <a:r>
              <a:rPr lang="zh-CN" altLang="en-US">
                <a:latin typeface="Times New Roman" pitchFamily="18" charset="0"/>
              </a:rPr>
              <a:t>，</a:t>
            </a:r>
            <a:r>
              <a:rPr lang="en-US" altLang="zh-CN">
                <a:latin typeface="Times New Roman" pitchFamily="18" charset="0"/>
              </a:rPr>
              <a:t>66</a:t>
            </a:r>
            <a:r>
              <a:rPr lang="zh-CN" altLang="en-US">
                <a:latin typeface="Times New Roman" pitchFamily="18" charset="0"/>
              </a:rPr>
              <a:t>－</a:t>
            </a:r>
            <a:r>
              <a:rPr lang="en-US" altLang="zh-CN">
                <a:latin typeface="Times New Roman" pitchFamily="18" charset="0"/>
              </a:rPr>
              <a:t>12×4</a:t>
            </a:r>
            <a:r>
              <a:rPr lang="zh-CN" altLang="en-US">
                <a:latin typeface="Times New Roman" pitchFamily="18" charset="0"/>
              </a:rPr>
              <a:t>＝</a:t>
            </a:r>
            <a:r>
              <a:rPr lang="en-US" altLang="zh-CN">
                <a:latin typeface="Times New Roman" pitchFamily="18" charset="0"/>
              </a:rPr>
              <a:t>18</a:t>
            </a:r>
            <a:r>
              <a:rPr lang="zh-CN" altLang="en-US">
                <a:latin typeface="Times New Roman" pitchFamily="18" charset="0"/>
              </a:rPr>
              <a:t>，此时分子式假设为 </a:t>
            </a:r>
            <a:r>
              <a:rPr lang="en-US" altLang="zh-CN">
                <a:latin typeface="Times New Roman" pitchFamily="18" charset="0"/>
              </a:rPr>
              <a:t>C</a:t>
            </a:r>
            <a:r>
              <a:rPr lang="en-US" altLang="zh-CN" baseline="-25000">
                <a:latin typeface="Times New Roman" pitchFamily="18" charset="0"/>
              </a:rPr>
              <a:t>4</a:t>
            </a:r>
            <a:r>
              <a:rPr lang="en-US" altLang="zh-CN">
                <a:latin typeface="Times New Roman" pitchFamily="18" charset="0"/>
              </a:rPr>
              <a:t>H</a:t>
            </a:r>
            <a:r>
              <a:rPr lang="en-US" altLang="zh-CN" baseline="-25000">
                <a:latin typeface="Times New Roman" pitchFamily="18" charset="0"/>
              </a:rPr>
              <a:t>18</a:t>
            </a:r>
            <a:r>
              <a:rPr lang="en-US" altLang="zh-CN">
                <a:latin typeface="Times New Roman" pitchFamily="18" charset="0"/>
              </a:rPr>
              <a:t>S</a:t>
            </a:r>
            <a:r>
              <a:rPr lang="zh-CN" altLang="en-US">
                <a:latin typeface="Times New Roman" pitchFamily="18" charset="0"/>
              </a:rPr>
              <a:t>， </a:t>
            </a:r>
            <a:r>
              <a:rPr lang="en-US" altLang="zh-CN">
                <a:latin typeface="Times New Roman" pitchFamily="18" charset="0"/>
              </a:rPr>
              <a:t>Ω</a:t>
            </a:r>
            <a:r>
              <a:rPr lang="zh-CN" altLang="en-US">
                <a:latin typeface="Times New Roman" pitchFamily="18" charset="0"/>
              </a:rPr>
              <a:t>＝－</a:t>
            </a:r>
            <a:r>
              <a:rPr lang="en-US" altLang="zh-CN">
                <a:latin typeface="Times New Roman" pitchFamily="18" charset="0"/>
              </a:rPr>
              <a:t>4</a:t>
            </a:r>
            <a:r>
              <a:rPr lang="zh-CN" altLang="en-US">
                <a:latin typeface="Times New Roman" pitchFamily="18" charset="0"/>
              </a:rPr>
              <a:t>，不合理；</a:t>
            </a:r>
          </a:p>
        </p:txBody>
      </p:sp>
      <p:sp>
        <p:nvSpPr>
          <p:cNvPr id="74759" name="Text Box 2"/>
          <p:cNvSpPr txBox="1">
            <a:spLocks noChangeArrowheads="1"/>
          </p:cNvSpPr>
          <p:nvPr/>
        </p:nvSpPr>
        <p:spPr bwMode="auto">
          <a:xfrm>
            <a:off x="107950" y="3357563"/>
            <a:ext cx="8712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zh-CN" altLang="en-US">
                <a:latin typeface="Times New Roman" pitchFamily="18" charset="0"/>
              </a:rPr>
              <a:t>        假设分子中含有一个氧，此时分子式为 </a:t>
            </a:r>
            <a:r>
              <a:rPr lang="en-US" altLang="zh-CN">
                <a:latin typeface="Times New Roman" pitchFamily="18" charset="0"/>
              </a:rPr>
              <a:t>C</a:t>
            </a:r>
            <a:r>
              <a:rPr lang="en-US" altLang="zh-CN" baseline="-25000">
                <a:latin typeface="Times New Roman" pitchFamily="18" charset="0"/>
              </a:rPr>
              <a:t>4</a:t>
            </a:r>
            <a:r>
              <a:rPr lang="en-US" altLang="zh-CN">
                <a:latin typeface="Times New Roman" pitchFamily="18" charset="0"/>
              </a:rPr>
              <a:t>H</a:t>
            </a:r>
            <a:r>
              <a:rPr lang="en-US" altLang="zh-CN" baseline="-25000">
                <a:latin typeface="Times New Roman" pitchFamily="18" charset="0"/>
              </a:rPr>
              <a:t>2</a:t>
            </a:r>
            <a:r>
              <a:rPr lang="en-US" altLang="zh-CN">
                <a:latin typeface="Times New Roman" pitchFamily="18" charset="0"/>
              </a:rPr>
              <a:t>OS</a:t>
            </a:r>
            <a:r>
              <a:rPr lang="zh-CN" altLang="en-US">
                <a:latin typeface="Times New Roman" pitchFamily="18" charset="0"/>
              </a:rPr>
              <a:t>，</a:t>
            </a:r>
            <a:r>
              <a:rPr lang="en-US" altLang="zh-CN">
                <a:latin typeface="Times New Roman" pitchFamily="18" charset="0"/>
              </a:rPr>
              <a:t>Ω</a:t>
            </a:r>
            <a:r>
              <a:rPr lang="zh-CN" altLang="en-US">
                <a:latin typeface="Times New Roman" pitchFamily="18" charset="0"/>
              </a:rPr>
              <a:t>＝</a:t>
            </a:r>
            <a:r>
              <a:rPr lang="en-US" altLang="zh-CN">
                <a:latin typeface="Times New Roman" pitchFamily="18" charset="0"/>
              </a:rPr>
              <a:t>4 </a:t>
            </a:r>
            <a:r>
              <a:rPr lang="zh-CN" altLang="en-US">
                <a:latin typeface="Times New Roman" pitchFamily="18" charset="0"/>
              </a:rPr>
              <a:t>，合理。</a:t>
            </a: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灯片编号占位符 5"/>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08D8425B-E310-4419-B53F-F89F7F990522}" type="slidenum">
              <a:rPr lang="en-US" altLang="zh-CN" sz="1200">
                <a:latin typeface="Verdana" pitchFamily="34" charset="0"/>
              </a:rPr>
              <a:pPr algn="r" eaLnBrk="1" hangingPunct="1">
                <a:lnSpc>
                  <a:spcPct val="100000"/>
                </a:lnSpc>
              </a:pPr>
              <a:t>68</a:t>
            </a:fld>
            <a:endParaRPr lang="en-US" altLang="zh-CN" sz="1200">
              <a:latin typeface="Verdana" pitchFamily="34" charset="0"/>
            </a:endParaRPr>
          </a:p>
        </p:txBody>
      </p:sp>
      <p:sp>
        <p:nvSpPr>
          <p:cNvPr id="75779" name="Text Box 2"/>
          <p:cNvSpPr txBox="1">
            <a:spLocks noChangeArrowheads="1"/>
          </p:cNvSpPr>
          <p:nvPr/>
        </p:nvSpPr>
        <p:spPr bwMode="auto">
          <a:xfrm>
            <a:off x="1676400" y="1295400"/>
            <a:ext cx="723900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10000"/>
              </a:lnSpc>
            </a:pPr>
            <a:r>
              <a:rPr lang="en-US" altLang="zh-CN"/>
              <a:t>    </a:t>
            </a:r>
          </a:p>
        </p:txBody>
      </p:sp>
      <p:sp>
        <p:nvSpPr>
          <p:cNvPr id="75780" name="Rectangle 3"/>
          <p:cNvSpPr>
            <a:spLocks noGrp="1" noChangeArrowheads="1"/>
          </p:cNvSpPr>
          <p:nvPr>
            <p:ph type="title" idx="4294967295"/>
          </p:nvPr>
        </p:nvSpPr>
        <p:spPr>
          <a:xfrm>
            <a:off x="539750" y="115888"/>
            <a:ext cx="3384550" cy="565150"/>
          </a:xfrm>
        </p:spPr>
        <p:txBody>
          <a:bodyPr/>
          <a:lstStyle/>
          <a:p>
            <a:pPr eaLnBrk="1" hangingPunct="1"/>
            <a:r>
              <a:rPr lang="en-US" altLang="zh-CN" sz="3600" b="1" smtClean="0">
                <a:solidFill>
                  <a:srgbClr val="0000B6"/>
                </a:solidFill>
                <a:latin typeface="Times New Roman" pitchFamily="18" charset="0"/>
                <a:cs typeface="Times New Roman" pitchFamily="18" charset="0"/>
              </a:rPr>
              <a:t>5</a:t>
            </a:r>
            <a:r>
              <a:rPr lang="zh-CN" altLang="en-US" sz="3600" b="1" smtClean="0">
                <a:solidFill>
                  <a:srgbClr val="0000B6"/>
                </a:solidFill>
                <a:cs typeface="Times New Roman" pitchFamily="18" charset="0"/>
              </a:rPr>
              <a:t>、干扰问题</a:t>
            </a:r>
          </a:p>
        </p:txBody>
      </p:sp>
      <p:sp>
        <p:nvSpPr>
          <p:cNvPr id="75781" name="Rectangle 4"/>
          <p:cNvSpPr>
            <a:spLocks noGrp="1" noChangeArrowheads="1"/>
          </p:cNvSpPr>
          <p:nvPr>
            <p:ph type="body" idx="4294967295"/>
          </p:nvPr>
        </p:nvSpPr>
        <p:spPr>
          <a:xfrm>
            <a:off x="120650" y="765175"/>
            <a:ext cx="8915400" cy="5256213"/>
          </a:xfrm>
        </p:spPr>
        <p:txBody>
          <a:bodyPr/>
          <a:lstStyle/>
          <a:p>
            <a:pPr marL="0" indent="0" eaLnBrk="1" hangingPunct="1">
              <a:lnSpc>
                <a:spcPct val="150000"/>
              </a:lnSpc>
              <a:spcBef>
                <a:spcPct val="0"/>
              </a:spcBef>
              <a:buClr>
                <a:srgbClr val="FF00FF"/>
              </a:buClr>
              <a:buFont typeface="Wingdings" pitchFamily="2" charset="2"/>
              <a:buNone/>
            </a:pPr>
            <a:r>
              <a:rPr lang="zh-CN" altLang="en-US" b="1" smtClean="0">
                <a:latin typeface="Times New Roman" pitchFamily="18" charset="0"/>
                <a:ea typeface="楷体_GB2312" pitchFamily="49" charset="-122"/>
              </a:rPr>
              <a:t>        下列几种情况因误差较大，不宜采用同位素丰度法推测分子式：</a:t>
            </a:r>
          </a:p>
          <a:p>
            <a:pPr marL="0" indent="0" eaLnBrk="1" hangingPunct="1">
              <a:lnSpc>
                <a:spcPct val="150000"/>
              </a:lnSpc>
              <a:spcBef>
                <a:spcPct val="0"/>
              </a:spcBef>
              <a:buClr>
                <a:srgbClr val="FF00FF"/>
              </a:buClr>
              <a:buFont typeface="Wingdings" pitchFamily="2" charset="2"/>
              <a:buChar char="v"/>
            </a:pPr>
            <a:r>
              <a:rPr lang="zh-CN" altLang="en-US" b="1" smtClean="0">
                <a:latin typeface="Times New Roman" pitchFamily="18" charset="0"/>
                <a:ea typeface="楷体_GB2312" pitchFamily="49" charset="-122"/>
              </a:rPr>
              <a:t> </a:t>
            </a:r>
            <a:r>
              <a:rPr lang="zh-CN" altLang="en-US" b="1" smtClean="0">
                <a:latin typeface="微软雅黑" pitchFamily="34" charset="-122"/>
                <a:ea typeface="微软雅黑" pitchFamily="34" charset="-122"/>
              </a:rPr>
              <a:t>分子离子峰的丰度很低</a:t>
            </a:r>
            <a:endParaRPr lang="zh-CN" altLang="en-US" b="1" smtClean="0">
              <a:latin typeface="Times New Roman" pitchFamily="18" charset="0"/>
              <a:ea typeface="楷体_GB2312" pitchFamily="49" charset="-122"/>
            </a:endParaRPr>
          </a:p>
          <a:p>
            <a:pPr marL="0" indent="0" eaLnBrk="1" hangingPunct="1">
              <a:lnSpc>
                <a:spcPct val="150000"/>
              </a:lnSpc>
              <a:spcBef>
                <a:spcPct val="0"/>
              </a:spcBef>
              <a:buClr>
                <a:srgbClr val="FF00FF"/>
              </a:buClr>
              <a:buFont typeface="Wingdings" pitchFamily="2" charset="2"/>
              <a:buChar char="v"/>
            </a:pPr>
            <a:r>
              <a:rPr lang="zh-CN" altLang="en-US" b="1" smtClean="0">
                <a:latin typeface="Times New Roman" pitchFamily="18" charset="0"/>
                <a:ea typeface="楷体_GB2312" pitchFamily="49" charset="-122"/>
              </a:rPr>
              <a:t> </a:t>
            </a:r>
            <a:r>
              <a:rPr lang="zh-CN" altLang="en-US" b="1" smtClean="0">
                <a:latin typeface="微软雅黑" pitchFamily="34" charset="-122"/>
                <a:ea typeface="微软雅黑" pitchFamily="34" charset="-122"/>
              </a:rPr>
              <a:t>由于离子</a:t>
            </a:r>
            <a:r>
              <a:rPr lang="en-US" altLang="zh-CN" b="1" smtClean="0">
                <a:latin typeface="微软雅黑" pitchFamily="34" charset="-122"/>
                <a:ea typeface="微软雅黑" pitchFamily="34" charset="-122"/>
              </a:rPr>
              <a:t>-</a:t>
            </a:r>
            <a:r>
              <a:rPr lang="zh-CN" altLang="en-US" b="1" smtClean="0">
                <a:latin typeface="微软雅黑" pitchFamily="34" charset="-122"/>
                <a:ea typeface="微软雅黑" pitchFamily="34" charset="-122"/>
              </a:rPr>
              <a:t>分子反应而生成</a:t>
            </a:r>
            <a:r>
              <a:rPr lang="en-US" altLang="zh-CN" b="1" smtClean="0">
                <a:latin typeface="微软雅黑" pitchFamily="34" charset="-122"/>
                <a:ea typeface="微软雅黑" pitchFamily="34" charset="-122"/>
              </a:rPr>
              <a:t>[M</a:t>
            </a:r>
            <a:r>
              <a:rPr lang="zh-CN" altLang="en-US" b="1" smtClean="0">
                <a:latin typeface="微软雅黑" pitchFamily="34" charset="-122"/>
                <a:ea typeface="微软雅黑" pitchFamily="34" charset="-122"/>
              </a:rPr>
              <a:t>＋</a:t>
            </a:r>
            <a:r>
              <a:rPr lang="en-US" altLang="zh-CN" b="1" smtClean="0">
                <a:latin typeface="微软雅黑" pitchFamily="34" charset="-122"/>
                <a:ea typeface="微软雅黑" pitchFamily="34" charset="-122"/>
              </a:rPr>
              <a:t>H] </a:t>
            </a:r>
            <a:r>
              <a:rPr lang="zh-CN" altLang="en-US" b="1" smtClean="0">
                <a:latin typeface="微软雅黑" pitchFamily="34" charset="-122"/>
                <a:ea typeface="微软雅黑" pitchFamily="34" charset="-122"/>
              </a:rPr>
              <a:t>离子，使</a:t>
            </a:r>
            <a:r>
              <a:rPr lang="en-US" altLang="zh-CN" b="1" smtClean="0">
                <a:latin typeface="微软雅黑" pitchFamily="34" charset="-122"/>
                <a:ea typeface="微软雅黑" pitchFamily="34" charset="-122"/>
              </a:rPr>
              <a:t>[M</a:t>
            </a:r>
            <a:r>
              <a:rPr lang="zh-CN" altLang="en-US" b="1" smtClean="0">
                <a:latin typeface="微软雅黑" pitchFamily="34" charset="-122"/>
                <a:ea typeface="微软雅黑" pitchFamily="34" charset="-122"/>
              </a:rPr>
              <a:t>＋</a:t>
            </a:r>
            <a:r>
              <a:rPr lang="en-US" altLang="zh-CN" b="1" smtClean="0">
                <a:latin typeface="微软雅黑" pitchFamily="34" charset="-122"/>
                <a:ea typeface="微软雅黑" pitchFamily="34" charset="-122"/>
              </a:rPr>
              <a:t>1] </a:t>
            </a:r>
            <a:r>
              <a:rPr lang="zh-CN" altLang="en-US" b="1" smtClean="0">
                <a:latin typeface="微软雅黑" pitchFamily="34" charset="-122"/>
                <a:ea typeface="微软雅黑" pitchFamily="34" charset="-122"/>
              </a:rPr>
              <a:t>峰丰度变大</a:t>
            </a:r>
            <a:endParaRPr lang="en-US" altLang="zh-CN" b="1" smtClean="0">
              <a:solidFill>
                <a:schemeClr val="accent2"/>
              </a:solidFill>
              <a:latin typeface="Times New Roman" pitchFamily="18" charset="0"/>
              <a:ea typeface="楷体_GB2312" pitchFamily="49" charset="-122"/>
            </a:endParaRPr>
          </a:p>
          <a:p>
            <a:pPr marL="0" indent="0" eaLnBrk="1" hangingPunct="1">
              <a:lnSpc>
                <a:spcPct val="150000"/>
              </a:lnSpc>
              <a:spcBef>
                <a:spcPct val="0"/>
              </a:spcBef>
              <a:buClr>
                <a:srgbClr val="FF00FF"/>
              </a:buClr>
              <a:buFont typeface="Wingdings" pitchFamily="2" charset="2"/>
              <a:buChar char="v"/>
            </a:pPr>
            <a:r>
              <a:rPr lang="en-US" altLang="zh-CN" b="1" smtClean="0">
                <a:latin typeface="Times New Roman" pitchFamily="18" charset="0"/>
                <a:ea typeface="楷体_GB2312" pitchFamily="49" charset="-122"/>
              </a:rPr>
              <a:t> </a:t>
            </a:r>
            <a:r>
              <a:rPr lang="zh-CN" altLang="en-US" b="1" smtClean="0">
                <a:latin typeface="微软雅黑" pitchFamily="34" charset="-122"/>
                <a:ea typeface="微软雅黑" pitchFamily="34" charset="-122"/>
              </a:rPr>
              <a:t>分子量大于</a:t>
            </a:r>
            <a:r>
              <a:rPr lang="en-US" altLang="zh-CN" b="1" smtClean="0">
                <a:latin typeface="微软雅黑" pitchFamily="34" charset="-122"/>
                <a:ea typeface="微软雅黑" pitchFamily="34" charset="-122"/>
              </a:rPr>
              <a:t>300</a:t>
            </a:r>
            <a:r>
              <a:rPr lang="zh-CN" altLang="en-US" b="1" smtClean="0">
                <a:latin typeface="Times New Roman" pitchFamily="18" charset="0"/>
                <a:ea typeface="楷体_GB2312" pitchFamily="49" charset="-122"/>
              </a:rPr>
              <a:t>。分子量增大，对</a:t>
            </a:r>
            <a:r>
              <a:rPr lang="en-US" altLang="zh-CN" b="1" smtClean="0">
                <a:latin typeface="Times New Roman" pitchFamily="18" charset="0"/>
                <a:ea typeface="楷体_GB2312" pitchFamily="49" charset="-122"/>
              </a:rPr>
              <a:t>[M</a:t>
            </a:r>
            <a:r>
              <a:rPr lang="zh-CN" altLang="en-US" b="1" smtClean="0">
                <a:latin typeface="Times New Roman" pitchFamily="18" charset="0"/>
                <a:ea typeface="楷体_GB2312" pitchFamily="49" charset="-122"/>
              </a:rPr>
              <a:t>＋</a:t>
            </a:r>
            <a:r>
              <a:rPr lang="en-US" altLang="zh-CN" b="1" smtClean="0">
                <a:latin typeface="Times New Roman" pitchFamily="18" charset="0"/>
                <a:ea typeface="楷体_GB2312" pitchFamily="49" charset="-122"/>
              </a:rPr>
              <a:t>1]</a:t>
            </a:r>
            <a:r>
              <a:rPr lang="zh-CN" altLang="en-US" b="1" smtClean="0">
                <a:latin typeface="Times New Roman" pitchFamily="18" charset="0"/>
                <a:ea typeface="楷体_GB2312" pitchFamily="49" charset="-122"/>
              </a:rPr>
              <a:t>和</a:t>
            </a:r>
            <a:r>
              <a:rPr lang="en-US" altLang="zh-CN" b="1" smtClean="0">
                <a:latin typeface="Times New Roman" pitchFamily="18" charset="0"/>
                <a:ea typeface="楷体_GB2312" pitchFamily="49" charset="-122"/>
              </a:rPr>
              <a:t>[M</a:t>
            </a:r>
            <a:r>
              <a:rPr lang="zh-CN" altLang="en-US" b="1" smtClean="0">
                <a:latin typeface="Times New Roman" pitchFamily="18" charset="0"/>
                <a:ea typeface="楷体_GB2312" pitchFamily="49" charset="-122"/>
              </a:rPr>
              <a:t>＋</a:t>
            </a:r>
            <a:r>
              <a:rPr lang="en-US" altLang="zh-CN" b="1" smtClean="0">
                <a:latin typeface="Times New Roman" pitchFamily="18" charset="0"/>
                <a:ea typeface="楷体_GB2312" pitchFamily="49" charset="-122"/>
              </a:rPr>
              <a:t>2]</a:t>
            </a:r>
            <a:r>
              <a:rPr lang="zh-CN" altLang="en-US" b="1" smtClean="0">
                <a:latin typeface="Times New Roman" pitchFamily="18" charset="0"/>
                <a:ea typeface="楷体_GB2312" pitchFamily="49" charset="-122"/>
              </a:rPr>
              <a:t>有贡献的可能组合很多，不能忽视。</a:t>
            </a: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6802" name="日期占位符 3"/>
          <p:cNvSpPr txBox="1">
            <a:spLocks noGrp="1"/>
          </p:cNvSpPr>
          <p:nvPr/>
        </p:nvSpPr>
        <p:spPr bwMode="auto">
          <a:xfrm>
            <a:off x="6096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fld id="{4DF90295-55CC-4FFC-808B-3B22AB4EBBF5}" type="datetime10">
              <a:rPr lang="zh-CN" altLang="en-US" sz="1200">
                <a:latin typeface="Verdana" pitchFamily="34" charset="0"/>
                <a:ea typeface="宋体" pitchFamily="2" charset="-122"/>
              </a:rPr>
              <a:pPr eaLnBrk="1" hangingPunct="1"/>
              <a:t>20:02</a:t>
            </a:fld>
            <a:endParaRPr lang="en-US" altLang="zh-CN" sz="1200">
              <a:latin typeface="Verdana" pitchFamily="34" charset="0"/>
              <a:ea typeface="宋体" pitchFamily="2" charset="-122"/>
            </a:endParaRPr>
          </a:p>
        </p:txBody>
      </p:sp>
      <p:sp>
        <p:nvSpPr>
          <p:cNvPr id="76803" name="灯片编号占位符 5"/>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fld id="{8923FC52-C121-4C56-839E-781DD3F0A9E2}" type="slidenum">
              <a:rPr lang="en-US" altLang="zh-CN" sz="1200">
                <a:latin typeface="Verdana" pitchFamily="34" charset="0"/>
                <a:ea typeface="宋体" pitchFamily="2" charset="-122"/>
              </a:rPr>
              <a:pPr algn="r" eaLnBrk="1" hangingPunct="1"/>
              <a:t>69</a:t>
            </a:fld>
            <a:endParaRPr lang="en-US" altLang="zh-CN" sz="1200">
              <a:latin typeface="Verdana" pitchFamily="34" charset="0"/>
              <a:ea typeface="宋体" pitchFamily="2" charset="-122"/>
            </a:endParaRPr>
          </a:p>
        </p:txBody>
      </p:sp>
      <p:sp>
        <p:nvSpPr>
          <p:cNvPr id="76804" name="Text Box 2"/>
          <p:cNvSpPr txBox="1">
            <a:spLocks noChangeArrowheads="1"/>
          </p:cNvSpPr>
          <p:nvPr/>
        </p:nvSpPr>
        <p:spPr bwMode="auto">
          <a:xfrm>
            <a:off x="1965325" y="4724400"/>
            <a:ext cx="3806825" cy="62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r>
              <a:rPr lang="en-US" altLang="zh-CN">
                <a:latin typeface="Times New Roman" pitchFamily="18" charset="0"/>
                <a:ea typeface="宋体" pitchFamily="2" charset="-122"/>
              </a:rPr>
              <a:t>      </a:t>
            </a:r>
            <a:endParaRPr lang="en-US" altLang="zh-CN">
              <a:latin typeface="宋体" pitchFamily="2" charset="-122"/>
              <a:ea typeface="宋体" pitchFamily="2" charset="-122"/>
            </a:endParaRPr>
          </a:p>
        </p:txBody>
      </p:sp>
      <p:sp>
        <p:nvSpPr>
          <p:cNvPr id="49156" name="Rectangle 4"/>
          <p:cNvSpPr>
            <a:spLocks noGrp="1" noChangeArrowheads="1"/>
          </p:cNvSpPr>
          <p:nvPr>
            <p:ph type="body" idx="4294967295"/>
          </p:nvPr>
        </p:nvSpPr>
        <p:spPr>
          <a:xfrm>
            <a:off x="1116013" y="2205038"/>
            <a:ext cx="8208962" cy="1655762"/>
          </a:xfrm>
        </p:spPr>
        <p:txBody>
          <a:bodyPr/>
          <a:lstStyle/>
          <a:p>
            <a:pPr eaLnBrk="1" hangingPunct="1">
              <a:lnSpc>
                <a:spcPct val="125000"/>
              </a:lnSpc>
              <a:buFont typeface="Wingdings" pitchFamily="2" charset="2"/>
              <a:buNone/>
            </a:pPr>
            <a:r>
              <a:rPr lang="en-US" altLang="zh-CN" b="1" baseline="30000" smtClean="0"/>
              <a:t>      </a:t>
            </a:r>
            <a:r>
              <a:rPr lang="en-US" altLang="zh-CN" b="1" baseline="30000" smtClean="0">
                <a:latin typeface="Times New Roman" pitchFamily="18" charset="0"/>
                <a:ea typeface="楷体_GB2312" pitchFamily="49" charset="-122"/>
              </a:rPr>
              <a:t>12</a:t>
            </a:r>
            <a:r>
              <a:rPr lang="en-US" altLang="zh-CN" b="1" smtClean="0">
                <a:latin typeface="Times New Roman" pitchFamily="18" charset="0"/>
                <a:ea typeface="楷体_GB2312" pitchFamily="49" charset="-122"/>
              </a:rPr>
              <a:t>C  12.00000000</a:t>
            </a:r>
            <a:r>
              <a:rPr lang="zh-CN" altLang="en-US" b="1" smtClean="0">
                <a:latin typeface="Times New Roman" pitchFamily="18" charset="0"/>
                <a:ea typeface="楷体_GB2312" pitchFamily="49" charset="-122"/>
              </a:rPr>
              <a:t>， </a:t>
            </a:r>
            <a:r>
              <a:rPr lang="en-US" altLang="zh-CN" b="1" baseline="30000" smtClean="0">
                <a:latin typeface="Times New Roman" pitchFamily="18" charset="0"/>
                <a:ea typeface="楷体_GB2312" pitchFamily="49" charset="-122"/>
              </a:rPr>
              <a:t>1</a:t>
            </a:r>
            <a:r>
              <a:rPr lang="en-US" altLang="zh-CN" b="1" smtClean="0">
                <a:latin typeface="Times New Roman" pitchFamily="18" charset="0"/>
                <a:ea typeface="楷体_GB2312" pitchFamily="49" charset="-122"/>
              </a:rPr>
              <a:t>H   1.00782506</a:t>
            </a:r>
            <a:r>
              <a:rPr lang="zh-CN" altLang="en-US" b="1" smtClean="0">
                <a:latin typeface="Times New Roman" pitchFamily="18" charset="0"/>
                <a:ea typeface="楷体_GB2312" pitchFamily="49" charset="-122"/>
              </a:rPr>
              <a:t>， </a:t>
            </a:r>
          </a:p>
          <a:p>
            <a:pPr eaLnBrk="1" hangingPunct="1">
              <a:lnSpc>
                <a:spcPct val="125000"/>
              </a:lnSpc>
              <a:buFont typeface="Wingdings" pitchFamily="2" charset="2"/>
              <a:buNone/>
            </a:pPr>
            <a:r>
              <a:rPr lang="zh-CN" altLang="en-US" b="1" smtClean="0">
                <a:latin typeface="Times New Roman" pitchFamily="18" charset="0"/>
                <a:ea typeface="楷体_GB2312" pitchFamily="49" charset="-122"/>
              </a:rPr>
              <a:t>     </a:t>
            </a:r>
            <a:r>
              <a:rPr lang="en-US" altLang="zh-CN" b="1" baseline="30000" smtClean="0">
                <a:latin typeface="Times New Roman" pitchFamily="18" charset="0"/>
                <a:ea typeface="楷体_GB2312" pitchFamily="49" charset="-122"/>
              </a:rPr>
              <a:t>14</a:t>
            </a:r>
            <a:r>
              <a:rPr lang="en-US" altLang="zh-CN" b="1" smtClean="0">
                <a:latin typeface="Times New Roman" pitchFamily="18" charset="0"/>
                <a:ea typeface="楷体_GB2312" pitchFamily="49" charset="-122"/>
              </a:rPr>
              <a:t>N  14.00307407</a:t>
            </a:r>
            <a:r>
              <a:rPr lang="zh-CN" altLang="en-US" b="1" smtClean="0">
                <a:latin typeface="Times New Roman" pitchFamily="18" charset="0"/>
                <a:ea typeface="楷体_GB2312" pitchFamily="49" charset="-122"/>
              </a:rPr>
              <a:t>， </a:t>
            </a:r>
            <a:r>
              <a:rPr lang="en-US" altLang="zh-CN" b="1" baseline="30000" smtClean="0">
                <a:latin typeface="Times New Roman" pitchFamily="18" charset="0"/>
                <a:ea typeface="楷体_GB2312" pitchFamily="49" charset="-122"/>
              </a:rPr>
              <a:t>16</a:t>
            </a:r>
            <a:r>
              <a:rPr lang="en-US" altLang="zh-CN" b="1" smtClean="0">
                <a:latin typeface="Times New Roman" pitchFamily="18" charset="0"/>
                <a:ea typeface="楷体_GB2312" pitchFamily="49" charset="-122"/>
              </a:rPr>
              <a:t>O   15.9949147</a:t>
            </a:r>
          </a:p>
        </p:txBody>
      </p:sp>
      <p:sp>
        <p:nvSpPr>
          <p:cNvPr id="2" name="Rectangle 4"/>
          <p:cNvSpPr>
            <a:spLocks noChangeArrowheads="1"/>
          </p:cNvSpPr>
          <p:nvPr/>
        </p:nvSpPr>
        <p:spPr bwMode="auto">
          <a:xfrm>
            <a:off x="566738" y="1125538"/>
            <a:ext cx="8208962"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spcBef>
                <a:spcPct val="20000"/>
              </a:spcBef>
              <a:buClr>
                <a:schemeClr val="accent2"/>
              </a:buClr>
              <a:buFont typeface="Wingdings" pitchFamily="2" charset="2"/>
              <a:buNone/>
            </a:pPr>
            <a:r>
              <a:rPr lang="zh-CN" altLang="en-US" sz="3000">
                <a:latin typeface="Times New Roman" pitchFamily="18" charset="0"/>
              </a:rPr>
              <a:t>       除了</a:t>
            </a:r>
            <a:r>
              <a:rPr lang="en-US" altLang="zh-CN" sz="3000" baseline="30000">
                <a:latin typeface="Times New Roman" pitchFamily="18" charset="0"/>
              </a:rPr>
              <a:t>12</a:t>
            </a:r>
            <a:r>
              <a:rPr lang="en-US" altLang="zh-CN" sz="3000">
                <a:latin typeface="Times New Roman" pitchFamily="18" charset="0"/>
              </a:rPr>
              <a:t>C</a:t>
            </a:r>
            <a:r>
              <a:rPr lang="zh-CN" altLang="en-US" sz="3000">
                <a:latin typeface="Times New Roman" pitchFamily="18" charset="0"/>
              </a:rPr>
              <a:t>外</a:t>
            </a:r>
            <a:r>
              <a:rPr lang="en-US" altLang="zh-CN" sz="3000">
                <a:latin typeface="Times New Roman" pitchFamily="18" charset="0"/>
              </a:rPr>
              <a:t>,</a:t>
            </a:r>
            <a:r>
              <a:rPr lang="zh-CN" altLang="en-US" sz="3000">
                <a:latin typeface="Times New Roman" pitchFamily="18" charset="0"/>
              </a:rPr>
              <a:t>其它同位素原子量并不正好等于整数，都具有唯一的、特征的“质量亏损</a:t>
            </a:r>
            <a:r>
              <a:rPr lang="en-US" altLang="zh-CN" sz="3000">
                <a:latin typeface="Times New Roman" pitchFamily="18" charset="0"/>
              </a:rPr>
              <a:t>”</a:t>
            </a:r>
            <a:r>
              <a:rPr lang="zh-CN" altLang="en-US" sz="3000">
                <a:latin typeface="Times New Roman" pitchFamily="18" charset="0"/>
              </a:rPr>
              <a:t>。</a:t>
            </a:r>
            <a:endParaRPr lang="zh-CN" altLang="en-US" sz="3000"/>
          </a:p>
        </p:txBody>
      </p:sp>
      <p:sp>
        <p:nvSpPr>
          <p:cNvPr id="76807" name="Rectangle 4"/>
          <p:cNvSpPr>
            <a:spLocks noChangeArrowheads="1"/>
          </p:cNvSpPr>
          <p:nvPr/>
        </p:nvSpPr>
        <p:spPr bwMode="auto">
          <a:xfrm>
            <a:off x="684213" y="3860800"/>
            <a:ext cx="8208962"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spcBef>
                <a:spcPct val="20000"/>
              </a:spcBef>
              <a:buClr>
                <a:schemeClr val="accent2"/>
              </a:buClr>
              <a:buFont typeface="Wingdings" pitchFamily="2" charset="2"/>
              <a:buNone/>
            </a:pPr>
            <a:r>
              <a:rPr lang="zh-CN" altLang="en-US" sz="3000">
                <a:solidFill>
                  <a:srgbClr val="990000"/>
                </a:solidFill>
                <a:latin typeface="Times New Roman" pitchFamily="18" charset="0"/>
              </a:rPr>
              <a:t>不同同位素原子组合可能有相同的整数质量，而小数点后的尾数不同。</a:t>
            </a:r>
          </a:p>
        </p:txBody>
      </p:sp>
      <p:sp>
        <p:nvSpPr>
          <p:cNvPr id="76808" name="Rectangle 4"/>
          <p:cNvSpPr>
            <a:spLocks noChangeArrowheads="1"/>
          </p:cNvSpPr>
          <p:nvPr/>
        </p:nvSpPr>
        <p:spPr bwMode="auto">
          <a:xfrm>
            <a:off x="935038" y="4984750"/>
            <a:ext cx="8208962" cy="187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69900" indent="-469900">
              <a:spcBef>
                <a:spcPct val="20000"/>
              </a:spcBef>
              <a:buClr>
                <a:schemeClr val="accent2"/>
              </a:buClr>
              <a:buFont typeface="Wingdings" pitchFamily="2" charset="2"/>
              <a:buNone/>
            </a:pPr>
            <a:r>
              <a:rPr lang="zh-CN" altLang="en-US" sz="3000">
                <a:latin typeface="Times New Roman" pitchFamily="18" charset="0"/>
              </a:rPr>
              <a:t>例如：</a:t>
            </a:r>
          </a:p>
          <a:p>
            <a:pPr marL="469900" indent="-469900">
              <a:spcBef>
                <a:spcPct val="20000"/>
              </a:spcBef>
              <a:buClr>
                <a:schemeClr val="accent2"/>
              </a:buClr>
              <a:buFont typeface="Wingdings" pitchFamily="2" charset="2"/>
              <a:buNone/>
            </a:pPr>
            <a:r>
              <a:rPr lang="zh-CN" altLang="en-US" sz="3000">
                <a:latin typeface="Times New Roman" pitchFamily="18" charset="0"/>
              </a:rPr>
              <a:t>    </a:t>
            </a:r>
            <a:r>
              <a:rPr lang="en-US" altLang="zh-CN" sz="3000">
                <a:latin typeface="Times New Roman" pitchFamily="18" charset="0"/>
              </a:rPr>
              <a:t>N</a:t>
            </a:r>
            <a:r>
              <a:rPr lang="en-US" altLang="zh-CN" sz="3000" baseline="-25000">
                <a:latin typeface="Times New Roman" pitchFamily="18" charset="0"/>
              </a:rPr>
              <a:t>2</a:t>
            </a:r>
            <a:r>
              <a:rPr lang="zh-CN" altLang="en-US" sz="3000">
                <a:latin typeface="Times New Roman" pitchFamily="18" charset="0"/>
              </a:rPr>
              <a:t>＝</a:t>
            </a:r>
            <a:r>
              <a:rPr lang="en-US" altLang="zh-CN" sz="3000">
                <a:latin typeface="Times New Roman" pitchFamily="18" charset="0"/>
              </a:rPr>
              <a:t>28.00614814     CO</a:t>
            </a:r>
            <a:r>
              <a:rPr lang="zh-CN" altLang="en-US" sz="3000">
                <a:latin typeface="Times New Roman" pitchFamily="18" charset="0"/>
              </a:rPr>
              <a:t>＝</a:t>
            </a:r>
            <a:r>
              <a:rPr lang="en-US" altLang="zh-CN" sz="3000">
                <a:latin typeface="Times New Roman" pitchFamily="18" charset="0"/>
              </a:rPr>
              <a:t>27.99491475                         C</a:t>
            </a:r>
            <a:r>
              <a:rPr lang="en-US" altLang="zh-CN" sz="3000" baseline="-25000">
                <a:latin typeface="Times New Roman" pitchFamily="18" charset="0"/>
              </a:rPr>
              <a:t>2</a:t>
            </a:r>
            <a:r>
              <a:rPr lang="en-US" altLang="zh-CN" sz="3000">
                <a:latin typeface="Times New Roman" pitchFamily="18" charset="0"/>
              </a:rPr>
              <a:t>H</a:t>
            </a:r>
            <a:r>
              <a:rPr lang="en-US" altLang="zh-CN" sz="3000" baseline="-25000">
                <a:latin typeface="Times New Roman" pitchFamily="18" charset="0"/>
              </a:rPr>
              <a:t>4</a:t>
            </a:r>
            <a:r>
              <a:rPr lang="zh-CN" altLang="en-US" sz="3000">
                <a:latin typeface="Times New Roman" pitchFamily="18" charset="0"/>
              </a:rPr>
              <a:t>＝</a:t>
            </a:r>
            <a:r>
              <a:rPr lang="en-US" altLang="zh-CN" sz="3000">
                <a:latin typeface="Times New Roman" pitchFamily="18" charset="0"/>
              </a:rPr>
              <a:t>28.03130024</a:t>
            </a:r>
          </a:p>
        </p:txBody>
      </p:sp>
      <p:sp>
        <p:nvSpPr>
          <p:cNvPr id="76809" name="Rectangle 3"/>
          <p:cNvSpPr txBox="1">
            <a:spLocks noChangeArrowheads="1"/>
          </p:cNvSpPr>
          <p:nvPr/>
        </p:nvSpPr>
        <p:spPr bwMode="auto">
          <a:xfrm>
            <a:off x="376238" y="358775"/>
            <a:ext cx="7867650" cy="5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ctr" eaLnBrk="1" hangingPunct="1">
              <a:lnSpc>
                <a:spcPct val="100000"/>
              </a:lnSpc>
            </a:pPr>
            <a:r>
              <a:rPr kumimoji="0" lang="zh-CN" altLang="en-US" sz="4000">
                <a:latin typeface="微软雅黑" pitchFamily="34" charset="-122"/>
                <a:ea typeface="微软雅黑" pitchFamily="34" charset="-122"/>
                <a:cs typeface="Times New Roman" pitchFamily="18" charset="0"/>
              </a:rPr>
              <a:t>二、高分辨质谱测定离子精确质量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156">
                                            <p:txEl>
                                              <p:pRg st="0" end="0"/>
                                            </p:txEl>
                                          </p:spTgt>
                                        </p:tgtEl>
                                        <p:attrNameLst>
                                          <p:attrName>style.visibility</p:attrName>
                                        </p:attrNameLst>
                                      </p:cBhvr>
                                      <p:to>
                                        <p:strVal val="visible"/>
                                      </p:to>
                                    </p:set>
                                    <p:animEffect transition="in" filter="blinds(horizontal)">
                                      <p:cBhvr>
                                        <p:cTn id="12" dur="500"/>
                                        <p:tgtEl>
                                          <p:spTgt spid="4915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156">
                                            <p:txEl>
                                              <p:pRg st="1" end="1"/>
                                            </p:txEl>
                                          </p:spTgt>
                                        </p:tgtEl>
                                        <p:attrNameLst>
                                          <p:attrName>style.visibility</p:attrName>
                                        </p:attrNameLst>
                                      </p:cBhvr>
                                      <p:to>
                                        <p:strVal val="visible"/>
                                      </p:to>
                                    </p:set>
                                    <p:animEffect transition="in" filter="blinds(horizontal)">
                                      <p:cBhvr>
                                        <p:cTn id="17" dur="500"/>
                                        <p:tgtEl>
                                          <p:spTgt spid="491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P spid="2"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3"/>
          <p:cNvSpPr txBox="1">
            <a:spLocks noGrp="1"/>
          </p:cNvSpPr>
          <p:nvPr/>
        </p:nvSpPr>
        <p:spPr bwMode="auto">
          <a:xfrm>
            <a:off x="6553200" y="6245225"/>
            <a:ext cx="19812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algn="r" eaLnBrk="1" hangingPunct="1">
              <a:lnSpc>
                <a:spcPct val="100000"/>
              </a:lnSpc>
            </a:pPr>
            <a:fld id="{1BCF47DD-BA20-40B6-BB9A-37B3FD9D20A0}" type="slidenum">
              <a:rPr lang="en-US" altLang="zh-CN" sz="1200">
                <a:latin typeface="Verdana" pitchFamily="34" charset="0"/>
              </a:rPr>
              <a:pPr algn="r" eaLnBrk="1" hangingPunct="1">
                <a:lnSpc>
                  <a:spcPct val="100000"/>
                </a:lnSpc>
              </a:pPr>
              <a:t>70</a:t>
            </a:fld>
            <a:endParaRPr lang="en-US" altLang="zh-CN" sz="1200">
              <a:latin typeface="Verdana" pitchFamily="34" charset="0"/>
            </a:endParaRPr>
          </a:p>
        </p:txBody>
      </p:sp>
      <p:sp>
        <p:nvSpPr>
          <p:cNvPr id="77827" name="Rectangle 3"/>
          <p:cNvSpPr>
            <a:spLocks noChangeArrowheads="1"/>
          </p:cNvSpPr>
          <p:nvPr/>
        </p:nvSpPr>
        <p:spPr bwMode="auto">
          <a:xfrm>
            <a:off x="109538" y="44450"/>
            <a:ext cx="88900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a:latin typeface="Times New Roman" pitchFamily="18" charset="0"/>
                <a:cs typeface="Times New Roman" pitchFamily="18" charset="0"/>
              </a:rPr>
              <a:t>例：用高分辨质谱测得样品分子离子峰的质量数为</a:t>
            </a:r>
            <a:r>
              <a:rPr lang="en-US" altLang="zh-CN">
                <a:latin typeface="Times New Roman" pitchFamily="18" charset="0"/>
                <a:cs typeface="Times New Roman" pitchFamily="18" charset="0"/>
              </a:rPr>
              <a:t>150.</a:t>
            </a:r>
            <a:r>
              <a:rPr lang="en-US" altLang="zh-CN">
                <a:solidFill>
                  <a:srgbClr val="0000CC"/>
                </a:solidFill>
                <a:latin typeface="Times New Roman" pitchFamily="18" charset="0"/>
                <a:cs typeface="Times New Roman" pitchFamily="18" charset="0"/>
              </a:rPr>
              <a:t>1045</a:t>
            </a:r>
            <a:r>
              <a:rPr lang="zh-CN" altLang="en-US">
                <a:latin typeface="Times New Roman" pitchFamily="18" charset="0"/>
                <a:cs typeface="Times New Roman" pitchFamily="18" charset="0"/>
              </a:rPr>
              <a:t>。这个化合物的红外谱上出现明显的羰基吸收峰</a:t>
            </a:r>
            <a:r>
              <a:rPr lang="en-US" altLang="zh-CN">
                <a:latin typeface="Times New Roman" pitchFamily="18" charset="0"/>
                <a:cs typeface="Times New Roman" pitchFamily="18" charset="0"/>
              </a:rPr>
              <a:t>(</a:t>
            </a:r>
            <a:r>
              <a:rPr lang="en-US" altLang="zh-CN">
                <a:solidFill>
                  <a:srgbClr val="FF0000"/>
                </a:solidFill>
                <a:latin typeface="Times New Roman" pitchFamily="18" charset="0"/>
                <a:cs typeface="Times New Roman" pitchFamily="18" charset="0"/>
              </a:rPr>
              <a:t>1730cm</a:t>
            </a:r>
            <a:r>
              <a:rPr lang="en-US" altLang="zh-CN" baseline="30000">
                <a:solidFill>
                  <a:srgbClr val="FF0000"/>
                </a:solidFill>
                <a:latin typeface="Times New Roman" pitchFamily="18" charset="0"/>
                <a:cs typeface="Times New Roman" pitchFamily="18" charset="0"/>
              </a:rPr>
              <a:t>-1</a:t>
            </a:r>
            <a:r>
              <a:rPr lang="en-US" altLang="zh-CN">
                <a:latin typeface="Times New Roman" pitchFamily="18" charset="0"/>
                <a:cs typeface="Times New Roman" pitchFamily="18" charset="0"/>
              </a:rPr>
              <a:t>)</a:t>
            </a:r>
            <a:r>
              <a:rPr lang="zh-CN" altLang="en-US">
                <a:latin typeface="Times New Roman" pitchFamily="18" charset="0"/>
                <a:cs typeface="Times New Roman" pitchFamily="18" charset="0"/>
              </a:rPr>
              <a:t>，求它的分子式。</a:t>
            </a:r>
          </a:p>
        </p:txBody>
      </p:sp>
      <p:sp>
        <p:nvSpPr>
          <p:cNvPr id="93189" name="Rectangle 3"/>
          <p:cNvSpPr>
            <a:spLocks noChangeArrowheads="1"/>
          </p:cNvSpPr>
          <p:nvPr/>
        </p:nvSpPr>
        <p:spPr bwMode="auto">
          <a:xfrm>
            <a:off x="109538" y="2133600"/>
            <a:ext cx="8999537" cy="461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defRPr>
            </a:lvl9pPr>
          </a:lstStyle>
          <a:p>
            <a:pPr>
              <a:lnSpc>
                <a:spcPct val="150000"/>
              </a:lnSpc>
              <a:spcBef>
                <a:spcPct val="0"/>
              </a:spcBef>
              <a:buFontTx/>
              <a:buNone/>
              <a:defRPr/>
            </a:pPr>
            <a:r>
              <a:rPr lang="zh-CN" altLang="en-US" sz="2800" dirty="0" smtClean="0">
                <a:latin typeface="Times New Roman" panose="02020603050405020304" pitchFamily="18" charset="0"/>
                <a:ea typeface="+mn-ea"/>
                <a:cs typeface="Times New Roman" panose="02020603050405020304" pitchFamily="18" charset="0"/>
              </a:rPr>
              <a:t>解：高分辨质谱的误差为</a:t>
            </a:r>
            <a:r>
              <a:rPr lang="en-US" altLang="zh-CN" sz="2800" dirty="0" smtClean="0">
                <a:latin typeface="Times New Roman" panose="02020603050405020304" pitchFamily="18" charset="0"/>
                <a:ea typeface="+mn-ea"/>
                <a:cs typeface="Times New Roman" panose="02020603050405020304" pitchFamily="18" charset="0"/>
              </a:rPr>
              <a:t>±0.006</a:t>
            </a:r>
            <a:r>
              <a:rPr lang="zh-CN" altLang="en-US" sz="2800" dirty="0" smtClean="0">
                <a:latin typeface="Times New Roman" panose="02020603050405020304" pitchFamily="18" charset="0"/>
                <a:ea typeface="+mn-ea"/>
                <a:cs typeface="Times New Roman" panose="02020603050405020304" pitchFamily="18" charset="0"/>
              </a:rPr>
              <a:t>，小数部分的波动范围将在</a:t>
            </a:r>
            <a:r>
              <a:rPr lang="en-US" altLang="zh-CN" sz="2800" dirty="0" smtClean="0">
                <a:latin typeface="Times New Roman" panose="02020603050405020304" pitchFamily="18" charset="0"/>
                <a:ea typeface="+mn-ea"/>
                <a:cs typeface="Times New Roman" panose="02020603050405020304" pitchFamily="18" charset="0"/>
              </a:rPr>
              <a:t>0.0985~0.1105</a:t>
            </a:r>
            <a:r>
              <a:rPr lang="zh-CN" altLang="en-US" sz="2800" dirty="0" smtClean="0">
                <a:latin typeface="Times New Roman" panose="02020603050405020304" pitchFamily="18" charset="0"/>
                <a:ea typeface="+mn-ea"/>
                <a:cs typeface="Times New Roman" panose="02020603050405020304" pitchFamily="18" charset="0"/>
              </a:rPr>
              <a:t>之间。通过计算机检索，质量数为</a:t>
            </a:r>
            <a:r>
              <a:rPr lang="en-US" altLang="zh-CN" sz="2800" dirty="0" smtClean="0">
                <a:latin typeface="Times New Roman" panose="02020603050405020304" pitchFamily="18" charset="0"/>
                <a:ea typeface="+mn-ea"/>
                <a:cs typeface="Times New Roman" panose="02020603050405020304" pitchFamily="18" charset="0"/>
              </a:rPr>
              <a:t>150</a:t>
            </a:r>
            <a:r>
              <a:rPr lang="zh-CN" altLang="en-US" sz="2800" dirty="0" smtClean="0">
                <a:latin typeface="Times New Roman" panose="02020603050405020304" pitchFamily="18" charset="0"/>
                <a:ea typeface="+mn-ea"/>
                <a:cs typeface="Times New Roman" panose="02020603050405020304" pitchFamily="18" charset="0"/>
              </a:rPr>
              <a:t>，小数部分在这个范围的式子有以下</a:t>
            </a:r>
            <a:r>
              <a:rPr lang="en-US" altLang="zh-CN" sz="2800" dirty="0" smtClean="0">
                <a:latin typeface="Times New Roman" panose="02020603050405020304" pitchFamily="18" charset="0"/>
                <a:ea typeface="+mn-ea"/>
                <a:cs typeface="Times New Roman" panose="02020603050405020304" pitchFamily="18" charset="0"/>
              </a:rPr>
              <a:t>4</a:t>
            </a:r>
            <a:r>
              <a:rPr lang="zh-CN" altLang="en-US" sz="2800" dirty="0" smtClean="0">
                <a:latin typeface="Times New Roman" panose="02020603050405020304" pitchFamily="18" charset="0"/>
                <a:ea typeface="+mn-ea"/>
                <a:cs typeface="Times New Roman" panose="02020603050405020304" pitchFamily="18" charset="0"/>
              </a:rPr>
              <a:t>个：</a:t>
            </a:r>
          </a:p>
          <a:p>
            <a:pPr>
              <a:lnSpc>
                <a:spcPct val="150000"/>
              </a:lnSpc>
              <a:spcBef>
                <a:spcPct val="0"/>
              </a:spcBef>
              <a:buFontTx/>
              <a:buNone/>
              <a:defRPr/>
            </a:pPr>
            <a:r>
              <a:rPr lang="en-US" altLang="zh-CN" sz="2800" dirty="0" smtClean="0">
                <a:latin typeface="Times New Roman" panose="02020603050405020304" pitchFamily="18" charset="0"/>
                <a:ea typeface="+mn-ea"/>
                <a:cs typeface="Times New Roman" panose="02020603050405020304" pitchFamily="18" charset="0"/>
              </a:rPr>
              <a:t>C</a:t>
            </a:r>
            <a:r>
              <a:rPr lang="en-US" altLang="zh-CN" sz="2800" baseline="-25000" dirty="0" smtClean="0">
                <a:latin typeface="Times New Roman" panose="02020603050405020304" pitchFamily="18" charset="0"/>
                <a:ea typeface="+mn-ea"/>
                <a:cs typeface="Times New Roman" panose="02020603050405020304" pitchFamily="18" charset="0"/>
              </a:rPr>
              <a:t>3</a:t>
            </a:r>
            <a:r>
              <a:rPr lang="en-US" altLang="zh-CN" sz="2800" dirty="0" smtClean="0">
                <a:latin typeface="Times New Roman" panose="02020603050405020304" pitchFamily="18" charset="0"/>
                <a:ea typeface="+mn-ea"/>
                <a:cs typeface="Times New Roman" panose="02020603050405020304" pitchFamily="18" charset="0"/>
              </a:rPr>
              <a:t>H</a:t>
            </a:r>
            <a:r>
              <a:rPr lang="en-US" altLang="zh-CN" sz="2800" baseline="-25000" dirty="0" smtClean="0">
                <a:latin typeface="Times New Roman" panose="02020603050405020304" pitchFamily="18" charset="0"/>
                <a:ea typeface="+mn-ea"/>
                <a:cs typeface="Times New Roman" panose="02020603050405020304" pitchFamily="18" charset="0"/>
              </a:rPr>
              <a:t>12</a:t>
            </a:r>
            <a:r>
              <a:rPr lang="en-US" altLang="zh-CN" sz="2800" dirty="0" smtClean="0">
                <a:latin typeface="Times New Roman" panose="02020603050405020304" pitchFamily="18" charset="0"/>
                <a:ea typeface="+mn-ea"/>
                <a:cs typeface="Times New Roman" panose="02020603050405020304" pitchFamily="18" charset="0"/>
              </a:rPr>
              <a:t>N</a:t>
            </a:r>
            <a:r>
              <a:rPr lang="en-US" altLang="zh-CN" sz="2800" baseline="-25000" dirty="0" smtClean="0">
                <a:latin typeface="Times New Roman" panose="02020603050405020304" pitchFamily="18" charset="0"/>
                <a:ea typeface="+mn-ea"/>
                <a:cs typeface="Times New Roman" panose="02020603050405020304" pitchFamily="18" charset="0"/>
              </a:rPr>
              <a:t>5</a:t>
            </a:r>
            <a:r>
              <a:rPr lang="en-US" altLang="zh-CN" sz="2800" dirty="0" smtClean="0">
                <a:latin typeface="Times New Roman" panose="02020603050405020304" pitchFamily="18" charset="0"/>
                <a:ea typeface="+mn-ea"/>
                <a:cs typeface="Times New Roman" panose="02020603050405020304" pitchFamily="18" charset="0"/>
              </a:rPr>
              <a:t>O</a:t>
            </a:r>
            <a:r>
              <a:rPr lang="en-US" altLang="zh-CN" sz="2800" baseline="-25000" dirty="0" smtClean="0">
                <a:latin typeface="Times New Roman" panose="02020603050405020304" pitchFamily="18" charset="0"/>
                <a:ea typeface="+mn-ea"/>
                <a:cs typeface="Times New Roman" panose="02020603050405020304" pitchFamily="18" charset="0"/>
              </a:rPr>
              <a:t>2</a:t>
            </a:r>
            <a:r>
              <a:rPr lang="en-US" altLang="zh-CN" sz="2800" dirty="0" smtClean="0">
                <a:latin typeface="Times New Roman" panose="02020603050405020304" pitchFamily="18" charset="0"/>
                <a:ea typeface="+mn-ea"/>
                <a:cs typeface="Times New Roman" panose="02020603050405020304" pitchFamily="18" charset="0"/>
              </a:rPr>
              <a:t>           150.099093</a:t>
            </a:r>
          </a:p>
          <a:p>
            <a:pPr>
              <a:lnSpc>
                <a:spcPct val="150000"/>
              </a:lnSpc>
              <a:spcBef>
                <a:spcPct val="0"/>
              </a:spcBef>
              <a:buFontTx/>
              <a:buNone/>
              <a:defRPr/>
            </a:pPr>
            <a:r>
              <a:rPr lang="en-US" altLang="zh-CN" sz="2800" dirty="0" smtClean="0">
                <a:latin typeface="Times New Roman" panose="02020603050405020304" pitchFamily="18" charset="0"/>
                <a:ea typeface="+mn-ea"/>
                <a:cs typeface="Times New Roman" panose="02020603050405020304" pitchFamily="18" charset="0"/>
              </a:rPr>
              <a:t>C</a:t>
            </a:r>
            <a:r>
              <a:rPr lang="en-US" altLang="zh-CN" sz="2800" baseline="-25000" dirty="0" smtClean="0">
                <a:latin typeface="Times New Roman" panose="02020603050405020304" pitchFamily="18" charset="0"/>
                <a:ea typeface="+mn-ea"/>
                <a:cs typeface="Times New Roman" panose="02020603050405020304" pitchFamily="18" charset="0"/>
              </a:rPr>
              <a:t>5</a:t>
            </a:r>
            <a:r>
              <a:rPr lang="en-US" altLang="zh-CN" sz="2800" dirty="0" smtClean="0">
                <a:latin typeface="Times New Roman" panose="02020603050405020304" pitchFamily="18" charset="0"/>
                <a:ea typeface="+mn-ea"/>
                <a:cs typeface="Times New Roman" panose="02020603050405020304" pitchFamily="18" charset="0"/>
              </a:rPr>
              <a:t>H</a:t>
            </a:r>
            <a:r>
              <a:rPr lang="en-US" altLang="zh-CN" sz="2800" baseline="-25000" dirty="0" smtClean="0">
                <a:latin typeface="Times New Roman" panose="02020603050405020304" pitchFamily="18" charset="0"/>
                <a:ea typeface="+mn-ea"/>
                <a:cs typeface="Times New Roman" panose="02020603050405020304" pitchFamily="18" charset="0"/>
              </a:rPr>
              <a:t>14</a:t>
            </a:r>
            <a:r>
              <a:rPr lang="en-US" altLang="zh-CN" sz="2800" dirty="0" smtClean="0">
                <a:latin typeface="Times New Roman" panose="02020603050405020304" pitchFamily="18" charset="0"/>
                <a:ea typeface="+mn-ea"/>
                <a:cs typeface="Times New Roman" panose="02020603050405020304" pitchFamily="18" charset="0"/>
              </a:rPr>
              <a:t>N</a:t>
            </a:r>
            <a:r>
              <a:rPr lang="en-US" altLang="zh-CN" sz="2800" baseline="-25000" dirty="0" smtClean="0">
                <a:latin typeface="Times New Roman" panose="02020603050405020304" pitchFamily="18" charset="0"/>
                <a:ea typeface="+mn-ea"/>
                <a:cs typeface="Times New Roman" panose="02020603050405020304" pitchFamily="18" charset="0"/>
              </a:rPr>
              <a:t>2</a:t>
            </a:r>
            <a:r>
              <a:rPr lang="en-US" altLang="zh-CN" sz="2800" dirty="0" smtClean="0">
                <a:latin typeface="Times New Roman" panose="02020603050405020304" pitchFamily="18" charset="0"/>
                <a:ea typeface="+mn-ea"/>
                <a:cs typeface="Times New Roman" panose="02020603050405020304" pitchFamily="18" charset="0"/>
              </a:rPr>
              <a:t>O</a:t>
            </a:r>
            <a:r>
              <a:rPr lang="en-US" altLang="zh-CN" sz="2800" baseline="-25000" dirty="0" smtClean="0">
                <a:latin typeface="Times New Roman" panose="02020603050405020304" pitchFamily="18" charset="0"/>
                <a:ea typeface="+mn-ea"/>
                <a:cs typeface="Times New Roman" panose="02020603050405020304" pitchFamily="18" charset="0"/>
              </a:rPr>
              <a:t>3</a:t>
            </a:r>
            <a:r>
              <a:rPr lang="en-US" altLang="zh-CN" sz="2800" dirty="0" smtClean="0">
                <a:latin typeface="Times New Roman" panose="02020603050405020304" pitchFamily="18" charset="0"/>
                <a:ea typeface="+mn-ea"/>
                <a:cs typeface="Times New Roman" panose="02020603050405020304" pitchFamily="18" charset="0"/>
              </a:rPr>
              <a:t>           150.100435</a:t>
            </a:r>
          </a:p>
          <a:p>
            <a:pPr>
              <a:lnSpc>
                <a:spcPct val="150000"/>
              </a:lnSpc>
              <a:spcBef>
                <a:spcPct val="0"/>
              </a:spcBef>
              <a:buFontTx/>
              <a:buNone/>
              <a:defRPr/>
            </a:pPr>
            <a:r>
              <a:rPr lang="en-US" altLang="zh-CN" sz="2800" dirty="0" smtClean="0">
                <a:latin typeface="Times New Roman" panose="02020603050405020304" pitchFamily="18" charset="0"/>
                <a:ea typeface="+mn-ea"/>
                <a:cs typeface="Times New Roman" panose="02020603050405020304" pitchFamily="18" charset="0"/>
              </a:rPr>
              <a:t>C</a:t>
            </a:r>
            <a:r>
              <a:rPr lang="en-US" altLang="zh-CN" sz="2800" baseline="-25000" dirty="0" smtClean="0">
                <a:latin typeface="Times New Roman" panose="02020603050405020304" pitchFamily="18" charset="0"/>
                <a:ea typeface="+mn-ea"/>
                <a:cs typeface="Times New Roman" panose="02020603050405020304" pitchFamily="18" charset="0"/>
              </a:rPr>
              <a:t>8</a:t>
            </a:r>
            <a:r>
              <a:rPr lang="en-US" altLang="zh-CN" sz="2800" dirty="0" smtClean="0">
                <a:latin typeface="Times New Roman" panose="02020603050405020304" pitchFamily="18" charset="0"/>
                <a:ea typeface="+mn-ea"/>
                <a:cs typeface="Times New Roman" panose="02020603050405020304" pitchFamily="18" charset="0"/>
              </a:rPr>
              <a:t>H</a:t>
            </a:r>
            <a:r>
              <a:rPr lang="en-US" altLang="zh-CN" sz="2800" baseline="-25000" dirty="0" smtClean="0">
                <a:latin typeface="Times New Roman" panose="02020603050405020304" pitchFamily="18" charset="0"/>
                <a:ea typeface="+mn-ea"/>
                <a:cs typeface="Times New Roman" panose="02020603050405020304" pitchFamily="18" charset="0"/>
              </a:rPr>
              <a:t>12</a:t>
            </a:r>
            <a:r>
              <a:rPr lang="en-US" altLang="zh-CN" sz="2800" dirty="0" smtClean="0">
                <a:latin typeface="Times New Roman" panose="02020603050405020304" pitchFamily="18" charset="0"/>
                <a:ea typeface="+mn-ea"/>
                <a:cs typeface="Times New Roman" panose="02020603050405020304" pitchFamily="18" charset="0"/>
              </a:rPr>
              <a:t>N</a:t>
            </a:r>
            <a:r>
              <a:rPr lang="en-US" altLang="zh-CN" sz="2800" baseline="-25000" dirty="0" smtClean="0">
                <a:latin typeface="Times New Roman" panose="02020603050405020304" pitchFamily="18" charset="0"/>
                <a:ea typeface="+mn-ea"/>
                <a:cs typeface="Times New Roman" panose="02020603050405020304" pitchFamily="18" charset="0"/>
              </a:rPr>
              <a:t>3</a:t>
            </a:r>
            <a:r>
              <a:rPr lang="en-US" altLang="zh-CN" sz="2800" dirty="0" smtClean="0">
                <a:latin typeface="Times New Roman" panose="02020603050405020304" pitchFamily="18" charset="0"/>
                <a:ea typeface="+mn-ea"/>
                <a:cs typeface="Times New Roman" panose="02020603050405020304" pitchFamily="18" charset="0"/>
              </a:rPr>
              <a:t>               150.103117</a:t>
            </a:r>
          </a:p>
          <a:p>
            <a:pPr>
              <a:lnSpc>
                <a:spcPct val="150000"/>
              </a:lnSpc>
              <a:spcBef>
                <a:spcPct val="0"/>
              </a:spcBef>
              <a:buFontTx/>
              <a:buNone/>
              <a:defRPr/>
            </a:pPr>
            <a:r>
              <a:rPr lang="en-US" altLang="zh-CN" sz="2800" dirty="0" smtClean="0">
                <a:latin typeface="Times New Roman" panose="02020603050405020304" pitchFamily="18" charset="0"/>
                <a:ea typeface="+mn-ea"/>
                <a:cs typeface="Times New Roman" panose="02020603050405020304" pitchFamily="18" charset="0"/>
              </a:rPr>
              <a:t>C</a:t>
            </a:r>
            <a:r>
              <a:rPr lang="en-US" altLang="zh-CN" sz="2800" baseline="-25000" dirty="0" smtClean="0">
                <a:latin typeface="Times New Roman" panose="02020603050405020304" pitchFamily="18" charset="0"/>
                <a:ea typeface="+mn-ea"/>
                <a:cs typeface="Times New Roman" panose="02020603050405020304" pitchFamily="18" charset="0"/>
              </a:rPr>
              <a:t>10</a:t>
            </a:r>
            <a:r>
              <a:rPr lang="en-US" altLang="zh-CN" sz="2800" dirty="0" smtClean="0">
                <a:latin typeface="Times New Roman" panose="02020603050405020304" pitchFamily="18" charset="0"/>
                <a:ea typeface="+mn-ea"/>
                <a:cs typeface="Times New Roman" panose="02020603050405020304" pitchFamily="18" charset="0"/>
              </a:rPr>
              <a:t>H</a:t>
            </a:r>
            <a:r>
              <a:rPr lang="en-US" altLang="zh-CN" sz="2800" baseline="-25000" dirty="0" smtClean="0">
                <a:latin typeface="Times New Roman" panose="02020603050405020304" pitchFamily="18" charset="0"/>
                <a:ea typeface="+mn-ea"/>
                <a:cs typeface="Times New Roman" panose="02020603050405020304" pitchFamily="18" charset="0"/>
              </a:rPr>
              <a:t>14</a:t>
            </a:r>
            <a:r>
              <a:rPr lang="en-US" altLang="zh-CN" sz="2800" dirty="0" smtClean="0">
                <a:latin typeface="Times New Roman" panose="02020603050405020304" pitchFamily="18" charset="0"/>
                <a:ea typeface="+mn-ea"/>
                <a:cs typeface="Times New Roman" panose="02020603050405020304" pitchFamily="18" charset="0"/>
              </a:rPr>
              <a:t>O               150.104459</a:t>
            </a:r>
          </a:p>
        </p:txBody>
      </p:sp>
      <p:grpSp>
        <p:nvGrpSpPr>
          <p:cNvPr id="7" name="组合 6"/>
          <p:cNvGrpSpPr>
            <a:grpSpLocks/>
          </p:cNvGrpSpPr>
          <p:nvPr/>
        </p:nvGrpSpPr>
        <p:grpSpPr bwMode="auto">
          <a:xfrm>
            <a:off x="109538" y="4413250"/>
            <a:ext cx="1870075" cy="1454150"/>
            <a:chOff x="109165" y="4412726"/>
            <a:chExt cx="1870547" cy="1453931"/>
          </a:xfrm>
        </p:grpSpPr>
        <p:cxnSp>
          <p:nvCxnSpPr>
            <p:cNvPr id="3" name="直接连接符 2"/>
            <p:cNvCxnSpPr/>
            <p:nvPr/>
          </p:nvCxnSpPr>
          <p:spPr>
            <a:xfrm flipV="1">
              <a:off x="252076" y="4436535"/>
              <a:ext cx="1727636" cy="215867"/>
            </a:xfrm>
            <a:prstGeom prst="line">
              <a:avLst/>
            </a:prstGeom>
            <a:ln w="254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09165" y="5638091"/>
              <a:ext cx="1586312" cy="215867"/>
            </a:xfrm>
            <a:prstGeom prst="line">
              <a:avLst/>
            </a:prstGeom>
            <a:ln w="25400">
              <a:solidFill>
                <a:srgbClr val="FF330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52076" y="4412726"/>
              <a:ext cx="1584725" cy="23967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9165" y="5626981"/>
              <a:ext cx="1586312" cy="23967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文本框 8"/>
          <p:cNvSpPr txBox="1">
            <a:spLocks noChangeArrowheads="1"/>
          </p:cNvSpPr>
          <p:nvPr/>
        </p:nvSpPr>
        <p:spPr bwMode="auto">
          <a:xfrm>
            <a:off x="5651500" y="4508500"/>
            <a:ext cx="1873250" cy="8318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b="1">
                <a:solidFill>
                  <a:schemeClr val="tx1"/>
                </a:solidFill>
                <a:latin typeface="楷体_GB2312" pitchFamily="49" charset="-122"/>
                <a:ea typeface="楷体_GB2312" pitchFamily="49" charset="-122"/>
              </a:defRPr>
            </a:lvl1pPr>
            <a:lvl2pPr marL="742950" indent="-285750" eaLnBrk="0" hangingPunct="0">
              <a:defRPr kumimoji="1" sz="2800" b="1">
                <a:solidFill>
                  <a:schemeClr val="tx1"/>
                </a:solidFill>
                <a:latin typeface="楷体_GB2312" pitchFamily="49" charset="-122"/>
                <a:ea typeface="楷体_GB2312" pitchFamily="49" charset="-122"/>
              </a:defRPr>
            </a:lvl2pPr>
            <a:lvl3pPr marL="1143000" indent="-228600" eaLnBrk="0" hangingPunct="0">
              <a:defRPr kumimoji="1" sz="2800" b="1">
                <a:solidFill>
                  <a:schemeClr val="tx1"/>
                </a:solidFill>
                <a:latin typeface="楷体_GB2312" pitchFamily="49" charset="-122"/>
                <a:ea typeface="楷体_GB2312" pitchFamily="49" charset="-122"/>
              </a:defRPr>
            </a:lvl3pPr>
            <a:lvl4pPr marL="1600200" indent="-228600" eaLnBrk="0" hangingPunct="0">
              <a:defRPr kumimoji="1" sz="2800" b="1">
                <a:solidFill>
                  <a:schemeClr val="tx1"/>
                </a:solidFill>
                <a:latin typeface="楷体_GB2312" pitchFamily="49" charset="-122"/>
                <a:ea typeface="楷体_GB2312" pitchFamily="49" charset="-122"/>
              </a:defRPr>
            </a:lvl4pPr>
            <a:lvl5pPr marL="2057400" indent="-228600" eaLnBrk="0" hangingPunct="0">
              <a:defRPr kumimoji="1" sz="2800" b="1">
                <a:solidFill>
                  <a:schemeClr val="tx1"/>
                </a:solidFill>
                <a:latin typeface="楷体_GB2312" pitchFamily="49" charset="-122"/>
                <a:ea typeface="楷体_GB2312" pitchFamily="49" charset="-122"/>
              </a:defRPr>
            </a:lvl5pPr>
            <a:lvl6pPr marL="25146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6pPr>
            <a:lvl7pPr marL="29718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7pPr>
            <a:lvl8pPr marL="34290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8pPr>
            <a:lvl9pPr marL="3886200" indent="-228600" eaLnBrk="0" fontAlgn="base" hangingPunct="0">
              <a:lnSpc>
                <a:spcPct val="125000"/>
              </a:lnSpc>
              <a:spcBef>
                <a:spcPct val="0"/>
              </a:spcBef>
              <a:spcAft>
                <a:spcPct val="0"/>
              </a:spcAft>
              <a:defRPr kumimoji="1" sz="2800" b="1">
                <a:solidFill>
                  <a:schemeClr val="tx1"/>
                </a:solidFill>
                <a:latin typeface="楷体_GB2312" pitchFamily="49" charset="-122"/>
                <a:ea typeface="楷体_GB2312" pitchFamily="49" charset="-122"/>
              </a:defRPr>
            </a:lvl9pPr>
          </a:lstStyle>
          <a:p>
            <a:pPr eaLnBrk="1" hangingPunct="1">
              <a:lnSpc>
                <a:spcPct val="150000"/>
              </a:lnSpc>
            </a:pPr>
            <a:r>
              <a:rPr lang="en-US" altLang="zh-CN" sz="3200">
                <a:latin typeface="Times New Roman" pitchFamily="18" charset="0"/>
                <a:ea typeface="宋体" pitchFamily="2" charset="-122"/>
                <a:cs typeface="Times New Roman" pitchFamily="18" charset="0"/>
              </a:rPr>
              <a:t>C</a:t>
            </a:r>
            <a:r>
              <a:rPr lang="en-US" altLang="zh-CN" sz="3200" baseline="-25000">
                <a:latin typeface="Times New Roman" pitchFamily="18" charset="0"/>
                <a:ea typeface="宋体" pitchFamily="2" charset="-122"/>
                <a:cs typeface="Times New Roman" pitchFamily="18" charset="0"/>
              </a:rPr>
              <a:t>10</a:t>
            </a:r>
            <a:r>
              <a:rPr lang="en-US" altLang="zh-CN" sz="3200">
                <a:latin typeface="Times New Roman" pitchFamily="18" charset="0"/>
                <a:ea typeface="宋体" pitchFamily="2" charset="-122"/>
                <a:cs typeface="Times New Roman" pitchFamily="18" charset="0"/>
              </a:rPr>
              <a:t>H</a:t>
            </a:r>
            <a:r>
              <a:rPr lang="en-US" altLang="zh-CN" sz="3200" baseline="-25000">
                <a:latin typeface="Times New Roman" pitchFamily="18" charset="0"/>
                <a:ea typeface="宋体" pitchFamily="2" charset="-122"/>
                <a:cs typeface="Times New Roman" pitchFamily="18" charset="0"/>
              </a:rPr>
              <a:t>14</a:t>
            </a:r>
            <a:r>
              <a:rPr lang="en-US" altLang="zh-CN" sz="3200">
                <a:latin typeface="Times New Roman" pitchFamily="18" charset="0"/>
                <a:ea typeface="宋体" pitchFamily="2" charset="-122"/>
                <a:cs typeface="Times New Roman" pitchFamily="18" charset="0"/>
              </a:rPr>
              <a:t>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189"/>
                                        </p:tgtEl>
                                        <p:attrNameLst>
                                          <p:attrName>style.visibility</p:attrName>
                                        </p:attrNameLst>
                                      </p:cBhvr>
                                      <p:to>
                                        <p:strVal val="visible"/>
                                      </p:to>
                                    </p:set>
                                    <p:animEffect transition="in" filter="blinds(horizontal)">
                                      <p:cBhvr>
                                        <p:cTn id="7" dur="500"/>
                                        <p:tgtEl>
                                          <p:spTgt spid="9318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 calcmode="lin" valueType="num">
                                      <p:cBhvr additive="base">
                                        <p:cTn id="18" dur="500" fill="hold"/>
                                        <p:tgtEl>
                                          <p:spTgt spid="9"/>
                                        </p:tgtEl>
                                        <p:attrNameLst>
                                          <p:attrName>ppt_x</p:attrName>
                                        </p:attrNameLst>
                                      </p:cBhvr>
                                      <p:tavLst>
                                        <p:tav tm="0">
                                          <p:val>
                                            <p:strVal val="#ppt_x"/>
                                          </p:val>
                                        </p:tav>
                                        <p:tav tm="100000">
                                          <p:val>
                                            <p:strVal val="#ppt_x"/>
                                          </p:val>
                                        </p:tav>
                                      </p:tavLst>
                                    </p:anim>
                                    <p:anim calcmode="lin" valueType="num">
                                      <p:cBhvr additive="base">
                                        <p:cTn id="19"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9" grpId="0"/>
      <p:bldP spid="9"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Essential</Template>
  <TotalTime>5289</TotalTime>
  <Words>4205</Words>
  <Application>Microsoft Office PowerPoint</Application>
  <PresentationFormat>全屏显示(4:3)</PresentationFormat>
  <Paragraphs>636</Paragraphs>
  <Slides>70</Slides>
  <Notes>20</Notes>
  <HiddenSlides>0</HiddenSlides>
  <MMClips>0</MMClips>
  <ScaleCrop>false</ScaleCrop>
  <HeadingPairs>
    <vt:vector size="10"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70</vt:i4>
      </vt:variant>
      <vt:variant>
        <vt:lpstr>自定义放映</vt:lpstr>
      </vt:variant>
      <vt:variant>
        <vt:i4>4</vt:i4>
      </vt:variant>
    </vt:vector>
  </HeadingPairs>
  <TitlesOfParts>
    <vt:vector size="89" baseType="lpstr">
      <vt:lpstr>Monotype Sorts</vt:lpstr>
      <vt:lpstr>楷体_GB2312</vt:lpstr>
      <vt:lpstr>宋体</vt:lpstr>
      <vt:lpstr>微软雅黑</vt:lpstr>
      <vt:lpstr>Arial</vt:lpstr>
      <vt:lpstr>Calibri</vt:lpstr>
      <vt:lpstr>Helvetica</vt:lpstr>
      <vt:lpstr>Symbol</vt:lpstr>
      <vt:lpstr>Times New Roman</vt:lpstr>
      <vt:lpstr>Verdana</vt:lpstr>
      <vt:lpstr>Wingdings</vt:lpstr>
      <vt:lpstr>Wingdings 3</vt:lpstr>
      <vt:lpstr>Office 主题​​</vt:lpstr>
      <vt:lpstr>Document</vt:lpstr>
      <vt:lpstr>公式</vt:lpstr>
      <vt:lpstr>有机质谱</vt:lpstr>
      <vt:lpstr>PowerPoint 演示文稿</vt:lpstr>
      <vt:lpstr>什么是质谱</vt:lpstr>
      <vt:lpstr>质谱的表示方法1-质谱图</vt:lpstr>
      <vt:lpstr>正戊烷的电子轰击质谱表</vt:lpstr>
      <vt:lpstr>PowerPoint 演示文稿</vt:lpstr>
      <vt:lpstr> 第二节 质谱的基本原理</vt:lpstr>
      <vt:lpstr>样品的电离</vt:lpstr>
      <vt:lpstr>轰击电子的能量</vt:lpstr>
      <vt:lpstr>有机分子电离、碎裂示意图</vt:lpstr>
      <vt:lpstr>PowerPoint 演示文稿</vt:lpstr>
      <vt:lpstr>  EI的特点</vt:lpstr>
      <vt:lpstr>  EI的不足之处</vt:lpstr>
      <vt:lpstr>软电离方法</vt:lpstr>
      <vt:lpstr>软电离技术的特点</vt:lpstr>
      <vt:lpstr>离子的分离原理</vt:lpstr>
      <vt:lpstr>飞行时间质量分析器(TOF) </vt:lpstr>
      <vt:lpstr>飞行时间质谱分析器特点</vt:lpstr>
      <vt:lpstr>第三节  质谱中的各种离子</vt:lpstr>
      <vt:lpstr>一、分子离子（M + ·）</vt:lpstr>
      <vt:lpstr>二、碎片离子</vt:lpstr>
      <vt:lpstr>三、同位素离子</vt:lpstr>
      <vt:lpstr>四、多电荷离子</vt:lpstr>
      <vt:lpstr>PowerPoint 演示文稿</vt:lpstr>
      <vt:lpstr>六、负离子</vt:lpstr>
      <vt:lpstr>七、亚稳离子</vt:lpstr>
      <vt:lpstr>PowerPoint 演示文稿</vt:lpstr>
      <vt:lpstr>PowerPoint 演示文稿</vt:lpstr>
      <vt:lpstr>PowerPoint 演示文稿</vt:lpstr>
      <vt:lpstr>PowerPoint 演示文稿</vt:lpstr>
      <vt:lpstr>PowerPoint 演示文稿</vt:lpstr>
      <vt:lpstr>1、奇电子离子的判别</vt:lpstr>
      <vt:lpstr>2、氮数规则</vt:lpstr>
      <vt:lpstr>PowerPoint 演示文稿</vt:lpstr>
      <vt:lpstr>3、合理的中性丢失</vt:lpstr>
      <vt:lpstr>例  题已知化合物不含氮</vt:lpstr>
      <vt:lpstr>PowerPoint 演示文稿</vt:lpstr>
      <vt:lpstr>丰度与化合物类型匹配</vt:lpstr>
      <vt:lpstr>一些典型化合物分子离子峰的相对强度 （M=130左右）</vt:lpstr>
      <vt:lpstr>测定分子量的辅助方法</vt:lpstr>
      <vt:lpstr>PowerPoint 演示文稿</vt:lpstr>
      <vt:lpstr>PowerPoint 演示文稿</vt:lpstr>
      <vt:lpstr>PowerPoint 演示文稿</vt:lpstr>
      <vt:lpstr>PowerPoint 演示文稿</vt:lpstr>
      <vt:lpstr>PowerPoint 演示文稿</vt:lpstr>
      <vt:lpstr>1、Cl、Br元素的识别和原子数目确定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4、A类元素的识别</vt:lpstr>
      <vt:lpstr>例 试根据化合物质谱分子离子区域的离子质荷比和强度推导化合物的分子式。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5、干扰问题</vt:lpstr>
      <vt:lpstr>PowerPoint 演示文稿</vt:lpstr>
      <vt:lpstr>PowerPoint 演示文稿</vt:lpstr>
      <vt:lpstr>自定义放映 1</vt:lpstr>
      <vt:lpstr>自定义放映 2</vt:lpstr>
      <vt:lpstr>自定义放映 3</vt:lpstr>
      <vt:lpstr>自定义放映 4</vt:lpstr>
    </vt:vector>
  </TitlesOfParts>
  <Company>analysis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csy</dc:creator>
  <cp:lastModifiedBy>xw</cp:lastModifiedBy>
  <cp:revision>219</cp:revision>
  <dcterms:created xsi:type="dcterms:W3CDTF">2002-08-29T02:52:21Z</dcterms:created>
  <dcterms:modified xsi:type="dcterms:W3CDTF">2020-10-21T13:04:01Z</dcterms:modified>
</cp:coreProperties>
</file>